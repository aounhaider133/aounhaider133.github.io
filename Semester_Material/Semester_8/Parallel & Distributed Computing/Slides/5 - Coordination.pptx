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6" r:id="rId2"/>
  </p:sldMasterIdLst>
  <p:notesMasterIdLst>
    <p:notesMasterId r:id="rId97"/>
  </p:notesMasterIdLst>
  <p:sldIdLst>
    <p:sldId id="351" r:id="rId3"/>
    <p:sldId id="257" r:id="rId4"/>
    <p:sldId id="258" r:id="rId5"/>
    <p:sldId id="259" r:id="rId6"/>
    <p:sldId id="260"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44" r:id="rId70"/>
    <p:sldId id="345" r:id="rId71"/>
    <p:sldId id="346" r:id="rId72"/>
    <p:sldId id="347" r:id="rId73"/>
    <p:sldId id="348" r:id="rId74"/>
    <p:sldId id="349" r:id="rId75"/>
    <p:sldId id="350" r:id="rId76"/>
    <p:sldId id="333" r:id="rId77"/>
    <p:sldId id="334" r:id="rId78"/>
    <p:sldId id="335" r:id="rId79"/>
    <p:sldId id="336" r:id="rId80"/>
    <p:sldId id="337" r:id="rId81"/>
    <p:sldId id="338" r:id="rId82"/>
    <p:sldId id="339" r:id="rId83"/>
    <p:sldId id="340" r:id="rId84"/>
    <p:sldId id="341" r:id="rId85"/>
    <p:sldId id="342" r:id="rId86"/>
    <p:sldId id="343" r:id="rId87"/>
    <p:sldId id="324" r:id="rId88"/>
    <p:sldId id="325" r:id="rId89"/>
    <p:sldId id="326" r:id="rId90"/>
    <p:sldId id="327" r:id="rId91"/>
    <p:sldId id="328" r:id="rId92"/>
    <p:sldId id="329" r:id="rId93"/>
    <p:sldId id="330" r:id="rId94"/>
    <p:sldId id="331" r:id="rId95"/>
    <p:sldId id="332" r:id="rId96"/>
  </p:sldIdLst>
  <p:sldSz cx="4610100" cy="3460750"/>
  <p:notesSz cx="4610100" cy="34607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p:cViewPr varScale="1">
        <p:scale>
          <a:sx n="158" d="100"/>
          <a:sy n="158" d="100"/>
        </p:scale>
        <p:origin x="1704" y="12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notesMaster" Target="notesMasters/notesMaster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presProps" Target="presProps.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1997075" cy="1730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611438" y="0"/>
            <a:ext cx="1997075" cy="173038"/>
          </a:xfrm>
          <a:prstGeom prst="rect">
            <a:avLst/>
          </a:prstGeom>
        </p:spPr>
        <p:txBody>
          <a:bodyPr vert="horz" lIns="91440" tIns="45720" rIns="91440" bIns="45720" rtlCol="0"/>
          <a:lstStyle>
            <a:lvl1pPr algn="r">
              <a:defRPr sz="1200"/>
            </a:lvl1pPr>
          </a:lstStyle>
          <a:p>
            <a:fld id="{638F369A-66B9-4B3C-89BC-13416A35B1D8}" type="datetimeFigureOut">
              <a:rPr lang="en-US" smtClean="0"/>
              <a:t>1/28/2025</a:t>
            </a:fld>
            <a:endParaRPr lang="en-US"/>
          </a:p>
        </p:txBody>
      </p:sp>
      <p:sp>
        <p:nvSpPr>
          <p:cNvPr id="4" name="Slide Image Placeholder 3"/>
          <p:cNvSpPr>
            <a:spLocks noGrp="1" noRot="1" noChangeAspect="1"/>
          </p:cNvSpPr>
          <p:nvPr>
            <p:ph type="sldImg" idx="2"/>
          </p:nvPr>
        </p:nvSpPr>
        <p:spPr>
          <a:xfrm>
            <a:off x="1527175" y="433388"/>
            <a:ext cx="1555750" cy="1166812"/>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460375" y="1665288"/>
            <a:ext cx="3689350" cy="136366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3287713"/>
            <a:ext cx="1997075" cy="17303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611438" y="3287713"/>
            <a:ext cx="1997075" cy="173037"/>
          </a:xfrm>
          <a:prstGeom prst="rect">
            <a:avLst/>
          </a:prstGeom>
        </p:spPr>
        <p:txBody>
          <a:bodyPr vert="horz" lIns="91440" tIns="45720" rIns="91440" bIns="45720" rtlCol="0" anchor="b"/>
          <a:lstStyle>
            <a:lvl1pPr algn="r">
              <a:defRPr sz="1200"/>
            </a:lvl1pPr>
          </a:lstStyle>
          <a:p>
            <a:fld id="{E5EA4153-14AC-47EC-9E9F-88C831BE00BE}" type="slidenum">
              <a:rPr lang="en-US" smtClean="0"/>
              <a:t>‹#›</a:t>
            </a:fld>
            <a:endParaRPr lang="en-US"/>
          </a:p>
        </p:txBody>
      </p:sp>
    </p:spTree>
    <p:extLst>
      <p:ext uri="{BB962C8B-B14F-4D97-AF65-F5344CB8AC3E}">
        <p14:creationId xmlns:p14="http://schemas.microsoft.com/office/powerpoint/2010/main" val="25409790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Machine 1 is running process P1 with time unit of 6, P2 with 8 and P3 with 10. It means all processes are running at different pace. </a:t>
            </a:r>
            <a:r>
              <a:rPr lang="en-US" dirty="0" err="1"/>
              <a:t>Lampart</a:t>
            </a:r>
            <a:r>
              <a:rPr lang="en-US" dirty="0"/>
              <a:t> clock adjust this timer by following the approach of choosing maximum value among value of sender and value of receiver (current timestamp).</a:t>
            </a:r>
          </a:p>
        </p:txBody>
      </p:sp>
      <p:sp>
        <p:nvSpPr>
          <p:cNvPr id="4" name="Slide Number Placeholder 3"/>
          <p:cNvSpPr>
            <a:spLocks noGrp="1"/>
          </p:cNvSpPr>
          <p:nvPr>
            <p:ph type="sldNum" sz="quarter" idx="5"/>
          </p:nvPr>
        </p:nvSpPr>
        <p:spPr/>
        <p:txBody>
          <a:bodyPr/>
          <a:lstStyle/>
          <a:p>
            <a:fld id="{E5EA4153-14AC-47EC-9E9F-88C831BE00BE}" type="slidenum">
              <a:rPr lang="en-US" smtClean="0"/>
              <a:t>13</a:t>
            </a:fld>
            <a:endParaRPr lang="en-US"/>
          </a:p>
        </p:txBody>
      </p:sp>
    </p:spTree>
    <p:extLst>
      <p:ext uri="{BB962C8B-B14F-4D97-AF65-F5344CB8AC3E}">
        <p14:creationId xmlns:p14="http://schemas.microsoft.com/office/powerpoint/2010/main" val="35972523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banking company has replicated its account database in San Francisco and New York to increase response time. Now problem with order in which updated are performed due to same data replicated to different geographical locations.</a:t>
            </a:r>
          </a:p>
        </p:txBody>
      </p:sp>
      <p:sp>
        <p:nvSpPr>
          <p:cNvPr id="4" name="Slide Number Placeholder 3"/>
          <p:cNvSpPr>
            <a:spLocks noGrp="1"/>
          </p:cNvSpPr>
          <p:nvPr>
            <p:ph type="sldNum" sz="quarter" idx="5"/>
          </p:nvPr>
        </p:nvSpPr>
        <p:spPr/>
        <p:txBody>
          <a:bodyPr/>
          <a:lstStyle/>
          <a:p>
            <a:fld id="{E5EA4153-14AC-47EC-9E9F-88C831BE00BE}" type="slidenum">
              <a:rPr lang="en-US" smtClean="0"/>
              <a:t>15</a:t>
            </a:fld>
            <a:endParaRPr lang="en-US"/>
          </a:p>
        </p:txBody>
      </p:sp>
    </p:spTree>
    <p:extLst>
      <p:ext uri="{BB962C8B-B14F-4D97-AF65-F5344CB8AC3E}">
        <p14:creationId xmlns:p14="http://schemas.microsoft.com/office/powerpoint/2010/main" val="1754910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Causality: </a:t>
            </a:r>
            <a:r>
              <a:rPr lang="en-US" dirty="0"/>
              <a:t>One event depends on other, like P1 must execute before P2</a:t>
            </a:r>
          </a:p>
        </p:txBody>
      </p:sp>
      <p:sp>
        <p:nvSpPr>
          <p:cNvPr id="4" name="Slide Number Placeholder 3"/>
          <p:cNvSpPr>
            <a:spLocks noGrp="1"/>
          </p:cNvSpPr>
          <p:nvPr>
            <p:ph type="sldNum" sz="quarter" idx="5"/>
          </p:nvPr>
        </p:nvSpPr>
        <p:spPr/>
        <p:txBody>
          <a:bodyPr/>
          <a:lstStyle/>
          <a:p>
            <a:fld id="{E5EA4153-14AC-47EC-9E9F-88C831BE00BE}" type="slidenum">
              <a:rPr lang="en-US" smtClean="0"/>
              <a:t>24</a:t>
            </a:fld>
            <a:endParaRPr lang="en-US"/>
          </a:p>
        </p:txBody>
      </p:sp>
    </p:spTree>
    <p:extLst>
      <p:ext uri="{BB962C8B-B14F-4D97-AF65-F5344CB8AC3E}">
        <p14:creationId xmlns:p14="http://schemas.microsoft.com/office/powerpoint/2010/main" val="39587146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P1 is casually dependent on P2 because P1 is ‘1’ and P2 is now ‘3’ from </a:t>
            </a:r>
            <a:r>
              <a:rPr lang="en-US"/>
              <a:t>‘2'</a:t>
            </a:r>
            <a:endParaRPr lang="en-US" dirty="0"/>
          </a:p>
        </p:txBody>
      </p:sp>
      <p:sp>
        <p:nvSpPr>
          <p:cNvPr id="4" name="Slide Number Placeholder 3"/>
          <p:cNvSpPr>
            <a:spLocks noGrp="1"/>
          </p:cNvSpPr>
          <p:nvPr>
            <p:ph type="sldNum" sz="quarter" idx="5"/>
          </p:nvPr>
        </p:nvSpPr>
        <p:spPr/>
        <p:txBody>
          <a:bodyPr/>
          <a:lstStyle/>
          <a:p>
            <a:fld id="{E5EA4153-14AC-47EC-9E9F-88C831BE00BE}" type="slidenum">
              <a:rPr lang="en-US" smtClean="0"/>
              <a:t>30</a:t>
            </a:fld>
            <a:endParaRPr lang="en-US"/>
          </a:p>
        </p:txBody>
      </p:sp>
    </p:spTree>
    <p:extLst>
      <p:ext uri="{BB962C8B-B14F-4D97-AF65-F5344CB8AC3E}">
        <p14:creationId xmlns:p14="http://schemas.microsoft.com/office/powerpoint/2010/main" val="15540512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EA4153-14AC-47EC-9E9F-88C831BE00BE}" type="slidenum">
              <a:rPr lang="en-US" smtClean="0"/>
              <a:t>31</a:t>
            </a:fld>
            <a:endParaRPr lang="en-US"/>
          </a:p>
        </p:txBody>
      </p:sp>
    </p:spTree>
    <p:extLst>
      <p:ext uri="{BB962C8B-B14F-4D97-AF65-F5344CB8AC3E}">
        <p14:creationId xmlns:p14="http://schemas.microsoft.com/office/powerpoint/2010/main" val="25052534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spc="-10" dirty="0">
                <a:solidFill>
                  <a:srgbClr val="3333B2"/>
                </a:solidFill>
                <a:latin typeface="Arial"/>
                <a:cs typeface="Arial"/>
              </a:rPr>
              <a:t>Rendezvous = A common meeting point</a:t>
            </a:r>
            <a:endParaRPr lang="en-US" dirty="0"/>
          </a:p>
        </p:txBody>
      </p:sp>
      <p:sp>
        <p:nvSpPr>
          <p:cNvPr id="4" name="Slide Number Placeholder 3"/>
          <p:cNvSpPr>
            <a:spLocks noGrp="1"/>
          </p:cNvSpPr>
          <p:nvPr>
            <p:ph type="sldNum" sz="quarter" idx="5"/>
          </p:nvPr>
        </p:nvSpPr>
        <p:spPr/>
        <p:txBody>
          <a:bodyPr/>
          <a:lstStyle/>
          <a:p>
            <a:fld id="{E5EA4153-14AC-47EC-9E9F-88C831BE00BE}" type="slidenum">
              <a:rPr lang="en-US" smtClean="0"/>
              <a:t>77</a:t>
            </a:fld>
            <a:endParaRPr lang="en-US"/>
          </a:p>
        </p:txBody>
      </p:sp>
    </p:spTree>
    <p:extLst>
      <p:ext uri="{BB962C8B-B14F-4D97-AF65-F5344CB8AC3E}">
        <p14:creationId xmlns:p14="http://schemas.microsoft.com/office/powerpoint/2010/main" val="38762685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45757" y="1072832"/>
            <a:ext cx="3918585" cy="726757"/>
          </a:xfrm>
          <a:prstGeom prst="rect">
            <a:avLst/>
          </a:prstGeom>
        </p:spPr>
        <p:txBody>
          <a:bodyPr wrap="square" lIns="0" tIns="0" rIns="0" bIns="0">
            <a:spAutoFit/>
          </a:bodyPr>
          <a:lstStyle>
            <a:lvl1pPr>
              <a:defRPr sz="1200" b="0" i="0">
                <a:solidFill>
                  <a:srgbClr val="3333B2"/>
                </a:solidFill>
                <a:latin typeface="Arial"/>
                <a:cs typeface="Arial"/>
              </a:defRPr>
            </a:lvl1pPr>
          </a:lstStyle>
          <a:p>
            <a:endParaRPr/>
          </a:p>
        </p:txBody>
      </p:sp>
      <p:sp>
        <p:nvSpPr>
          <p:cNvPr id="3" name="Holder 3"/>
          <p:cNvSpPr>
            <a:spLocks noGrp="1"/>
          </p:cNvSpPr>
          <p:nvPr>
            <p:ph type="subTitle" idx="4"/>
          </p:nvPr>
        </p:nvSpPr>
        <p:spPr>
          <a:xfrm>
            <a:off x="691515" y="1938020"/>
            <a:ext cx="3227070" cy="865187"/>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1/27/2025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7" name="bg object 17"/>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200" b="0" i="0">
                <a:solidFill>
                  <a:srgbClr val="3333B2"/>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1/27/2025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200" b="0" i="0">
                <a:solidFill>
                  <a:srgbClr val="3333B2"/>
                </a:solidFill>
                <a:latin typeface="Arial"/>
                <a:cs typeface="Arial"/>
              </a:defRPr>
            </a:lvl1pPr>
          </a:lstStyle>
          <a:p>
            <a:endParaRPr/>
          </a:p>
        </p:txBody>
      </p:sp>
      <p:sp>
        <p:nvSpPr>
          <p:cNvPr id="3" name="Holder 3"/>
          <p:cNvSpPr>
            <a:spLocks noGrp="1"/>
          </p:cNvSpPr>
          <p:nvPr>
            <p:ph sz="half" idx="2"/>
          </p:nvPr>
        </p:nvSpPr>
        <p:spPr>
          <a:xfrm>
            <a:off x="230505" y="795972"/>
            <a:ext cx="2005393" cy="2284095"/>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2374201" y="795972"/>
            <a:ext cx="2005393" cy="2284095"/>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1/27/2025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200" b="0" i="0">
                <a:solidFill>
                  <a:srgbClr val="3333B2"/>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1/27/2025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1/27/2025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45757" y="1072832"/>
            <a:ext cx="3918585" cy="726757"/>
          </a:xfrm>
          <a:prstGeom prst="rect">
            <a:avLst/>
          </a:prstGeom>
        </p:spPr>
        <p:txBody>
          <a:bodyPr wrap="square" lIns="0" tIns="0" rIns="0" bIns="0">
            <a:spAutoFit/>
          </a:bodyPr>
          <a:lstStyle>
            <a:lvl1pPr>
              <a:defRPr sz="1200" b="0" i="0">
                <a:solidFill>
                  <a:srgbClr val="3333B2"/>
                </a:solidFill>
                <a:latin typeface="Arial"/>
                <a:cs typeface="Arial"/>
              </a:defRPr>
            </a:lvl1pPr>
          </a:lstStyle>
          <a:p>
            <a:endParaRPr/>
          </a:p>
        </p:txBody>
      </p:sp>
      <p:sp>
        <p:nvSpPr>
          <p:cNvPr id="3" name="Holder 3"/>
          <p:cNvSpPr>
            <a:spLocks noGrp="1"/>
          </p:cNvSpPr>
          <p:nvPr>
            <p:ph type="subTitle" idx="4"/>
          </p:nvPr>
        </p:nvSpPr>
        <p:spPr>
          <a:xfrm>
            <a:off x="691515" y="1938020"/>
            <a:ext cx="3227070" cy="865187"/>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1/27/2025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9944998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7" name="bg object 17"/>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200" b="0" i="0">
                <a:solidFill>
                  <a:srgbClr val="3333B2"/>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1/27/2025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41655122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200" b="0" i="0">
                <a:solidFill>
                  <a:srgbClr val="3333B2"/>
                </a:solidFill>
                <a:latin typeface="Arial"/>
                <a:cs typeface="Arial"/>
              </a:defRPr>
            </a:lvl1pPr>
          </a:lstStyle>
          <a:p>
            <a:endParaRPr/>
          </a:p>
        </p:txBody>
      </p:sp>
      <p:sp>
        <p:nvSpPr>
          <p:cNvPr id="3" name="Holder 3"/>
          <p:cNvSpPr>
            <a:spLocks noGrp="1"/>
          </p:cNvSpPr>
          <p:nvPr>
            <p:ph sz="half" idx="2"/>
          </p:nvPr>
        </p:nvSpPr>
        <p:spPr>
          <a:xfrm>
            <a:off x="230505" y="795972"/>
            <a:ext cx="2005393" cy="2284095"/>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2374201" y="795972"/>
            <a:ext cx="2005393" cy="2284095"/>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1/27/2025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555574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200" b="0" i="0">
                <a:solidFill>
                  <a:srgbClr val="3333B2"/>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1/27/2025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8990137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1/27/2025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84839517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theme" Target="../theme/theme2.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2" name="Holder 2"/>
          <p:cNvSpPr>
            <a:spLocks noGrp="1"/>
          </p:cNvSpPr>
          <p:nvPr>
            <p:ph type="title"/>
          </p:nvPr>
        </p:nvSpPr>
        <p:spPr>
          <a:xfrm>
            <a:off x="95300" y="197711"/>
            <a:ext cx="3590290" cy="207645"/>
          </a:xfrm>
          <a:prstGeom prst="rect">
            <a:avLst/>
          </a:prstGeom>
        </p:spPr>
        <p:txBody>
          <a:bodyPr wrap="square" lIns="0" tIns="0" rIns="0" bIns="0">
            <a:spAutoFit/>
          </a:bodyPr>
          <a:lstStyle>
            <a:lvl1pPr>
              <a:defRPr sz="1200" b="0" i="0">
                <a:solidFill>
                  <a:srgbClr val="3333B2"/>
                </a:solidFill>
                <a:latin typeface="Arial"/>
                <a:cs typeface="Arial"/>
              </a:defRPr>
            </a:lvl1pPr>
          </a:lstStyle>
          <a:p>
            <a:endParaRPr/>
          </a:p>
        </p:txBody>
      </p:sp>
      <p:sp>
        <p:nvSpPr>
          <p:cNvPr id="3" name="Holder 3"/>
          <p:cNvSpPr>
            <a:spLocks noGrp="1"/>
          </p:cNvSpPr>
          <p:nvPr>
            <p:ph type="body" idx="1"/>
          </p:nvPr>
        </p:nvSpPr>
        <p:spPr>
          <a:xfrm>
            <a:off x="230505" y="795972"/>
            <a:ext cx="4149090" cy="2284095"/>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1567434" y="3218497"/>
            <a:ext cx="1475232" cy="173037"/>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230505" y="3218497"/>
            <a:ext cx="1060323" cy="17303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1/27/2025</a:t>
            </a:fld>
            <a:endParaRPr lang="en-US"/>
          </a:p>
        </p:txBody>
      </p:sp>
      <p:sp>
        <p:nvSpPr>
          <p:cNvPr id="6" name="Holder 6"/>
          <p:cNvSpPr>
            <a:spLocks noGrp="1"/>
          </p:cNvSpPr>
          <p:nvPr>
            <p:ph type="sldNum" sz="quarter" idx="7"/>
          </p:nvPr>
        </p:nvSpPr>
        <p:spPr>
          <a:xfrm>
            <a:off x="3319272" y="3218497"/>
            <a:ext cx="1060323" cy="173037"/>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2" name="Holder 2"/>
          <p:cNvSpPr>
            <a:spLocks noGrp="1"/>
          </p:cNvSpPr>
          <p:nvPr>
            <p:ph type="title"/>
          </p:nvPr>
        </p:nvSpPr>
        <p:spPr>
          <a:xfrm>
            <a:off x="95300" y="197711"/>
            <a:ext cx="2451100" cy="207645"/>
          </a:xfrm>
          <a:prstGeom prst="rect">
            <a:avLst/>
          </a:prstGeom>
        </p:spPr>
        <p:txBody>
          <a:bodyPr wrap="square" lIns="0" tIns="0" rIns="0" bIns="0">
            <a:spAutoFit/>
          </a:bodyPr>
          <a:lstStyle>
            <a:lvl1pPr>
              <a:defRPr sz="1200" b="0" i="0">
                <a:solidFill>
                  <a:srgbClr val="3333B2"/>
                </a:solidFill>
                <a:latin typeface="Arial"/>
                <a:cs typeface="Arial"/>
              </a:defRPr>
            </a:lvl1pPr>
          </a:lstStyle>
          <a:p>
            <a:endParaRPr/>
          </a:p>
        </p:txBody>
      </p:sp>
      <p:sp>
        <p:nvSpPr>
          <p:cNvPr id="3" name="Holder 3"/>
          <p:cNvSpPr>
            <a:spLocks noGrp="1"/>
          </p:cNvSpPr>
          <p:nvPr>
            <p:ph type="body" idx="1"/>
          </p:nvPr>
        </p:nvSpPr>
        <p:spPr>
          <a:xfrm>
            <a:off x="230505" y="795972"/>
            <a:ext cx="4149090" cy="2284095"/>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1567434" y="3218497"/>
            <a:ext cx="1475232" cy="173037"/>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230505" y="3218497"/>
            <a:ext cx="1060323" cy="17303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1/27/2025</a:t>
            </a:fld>
            <a:endParaRPr lang="en-US"/>
          </a:p>
        </p:txBody>
      </p:sp>
      <p:sp>
        <p:nvSpPr>
          <p:cNvPr id="6" name="Holder 6"/>
          <p:cNvSpPr>
            <a:spLocks noGrp="1"/>
          </p:cNvSpPr>
          <p:nvPr>
            <p:ph type="sldNum" sz="quarter" idx="7"/>
          </p:nvPr>
        </p:nvSpPr>
        <p:spPr>
          <a:xfrm>
            <a:off x="3319272" y="3218497"/>
            <a:ext cx="1060323" cy="173037"/>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053739261"/>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slide" Target="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slide" Target="slide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slide" Target="slide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2.xml"/><Relationship Id="rId1" Type="http://schemas.openxmlformats.org/officeDocument/2006/relationships/slideLayout" Target="../slideLayouts/slideLayout5.xml"/><Relationship Id="rId5" Type="http://schemas.openxmlformats.org/officeDocument/2006/relationships/image" Target="../media/image5.png"/><Relationship Id="rId4" Type="http://schemas.openxmlformats.org/officeDocument/2006/relationships/slide" Target="slide3.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slide" Target="slide3.xml"/></Relationships>
</file>

<file path=ppt/slides/_rels/slide7.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slide" Target="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slide" Target="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slide" Target="slide2.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slide" Target="slide2.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slide" Target="slide2.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slide" Target="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xml"/><Relationship Id="rId1" Type="http://schemas.openxmlformats.org/officeDocument/2006/relationships/slideLayout" Target="../slideLayouts/slideLayout5.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slide" Target="slide7.xml"/></Relationships>
</file>

<file path=ppt/slides/_rels/slide14.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slide" Target="slide2.xml"/><Relationship Id="rId1" Type="http://schemas.openxmlformats.org/officeDocument/2006/relationships/slideLayout" Target="../slideLayouts/slideLayout5.xml"/><Relationship Id="rId4" Type="http://schemas.openxmlformats.org/officeDocument/2006/relationships/image" Target="../media/image9.jpg"/></Relationships>
</file>

<file path=ppt/slides/_rels/slide1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xml"/><Relationship Id="rId1" Type="http://schemas.openxmlformats.org/officeDocument/2006/relationships/slideLayout" Target="../slideLayouts/slideLayout5.xml"/><Relationship Id="rId5" Type="http://schemas.openxmlformats.org/officeDocument/2006/relationships/image" Target="../media/image10.jpg"/><Relationship Id="rId4" Type="http://schemas.openxmlformats.org/officeDocument/2006/relationships/slide" Target="slide7.xml"/></Relationships>
</file>

<file path=ppt/slides/_rels/slide16.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slide" Target="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slide" Target="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slide" Target="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slide" Target="slide2.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slide" Target="slide2.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slide" Target="slide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slide" Target="slide2.xml"/><Relationship Id="rId1" Type="http://schemas.openxmlformats.org/officeDocument/2006/relationships/slideLayout" Target="../slideLayouts/slideLayout5.xml"/><Relationship Id="rId5" Type="http://schemas.openxmlformats.org/officeDocument/2006/relationships/slide" Target="slide22.xml"/><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slide" Target="slide2.xml"/><Relationship Id="rId1" Type="http://schemas.openxmlformats.org/officeDocument/2006/relationships/slideLayout" Target="../slideLayouts/slideLayout5.xml"/><Relationship Id="rId5" Type="http://schemas.openxmlformats.org/officeDocument/2006/relationships/slide" Target="slide22.xml"/><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3.xml"/><Relationship Id="rId1" Type="http://schemas.openxmlformats.org/officeDocument/2006/relationships/slideLayout" Target="../slideLayouts/slideLayout5.xml"/><Relationship Id="rId5" Type="http://schemas.openxmlformats.org/officeDocument/2006/relationships/slide" Target="slide22.xml"/><Relationship Id="rId4" Type="http://schemas.openxmlformats.org/officeDocument/2006/relationships/slide" Target="slide7.xml"/></Relationships>
</file>

<file path=ppt/slides/_rels/slide25.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slide" Target="slide2.xml"/><Relationship Id="rId1" Type="http://schemas.openxmlformats.org/officeDocument/2006/relationships/slideLayout" Target="../slideLayouts/slideLayout5.xml"/><Relationship Id="rId4" Type="http://schemas.openxmlformats.org/officeDocument/2006/relationships/slide" Target="slide22.xml"/></Relationships>
</file>

<file path=ppt/slides/_rels/slide26.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slide" Target="slide2.xml"/><Relationship Id="rId1" Type="http://schemas.openxmlformats.org/officeDocument/2006/relationships/slideLayout" Target="../slideLayouts/slideLayout5.xml"/><Relationship Id="rId6" Type="http://schemas.openxmlformats.org/officeDocument/2006/relationships/slide" Target="slide22.xml"/><Relationship Id="rId5" Type="http://schemas.openxmlformats.org/officeDocument/2006/relationships/image" Target="../media/image13.png"/><Relationship Id="rId4" Type="http://schemas.openxmlformats.org/officeDocument/2006/relationships/image" Target="../media/image12.png"/></Relationships>
</file>

<file path=ppt/slides/_rels/slide27.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slide" Target="slide22.xml"/></Relationships>
</file>

<file path=ppt/slides/_rels/slide28.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slide" Target="slide22.xml"/></Relationships>
</file>

<file path=ppt/slides/_rels/slide29.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slide" Target="slide2.xml"/><Relationship Id="rId1" Type="http://schemas.openxmlformats.org/officeDocument/2006/relationships/slideLayout" Target="../slideLayouts/slideLayout5.xml"/><Relationship Id="rId5" Type="http://schemas.openxmlformats.org/officeDocument/2006/relationships/slide" Target="slide22.xml"/><Relationship Id="rId4" Type="http://schemas.openxmlformats.org/officeDocument/2006/relationships/image" Target="../media/image14.png"/></Relationships>
</file>

<file path=ppt/slides/_rels/slide3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slide" Target="slide22.xml"/><Relationship Id="rId5" Type="http://schemas.openxmlformats.org/officeDocument/2006/relationships/image" Target="../media/image14.png"/><Relationship Id="rId4" Type="http://schemas.openxmlformats.org/officeDocument/2006/relationships/slide" Target="slide7.xml"/></Relationships>
</file>

<file path=ppt/slides/_rels/slide3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slide" Target="slide31.xml"/></Relationships>
</file>

<file path=ppt/slides/_rels/slide32.xml.rels><?xml version="1.0" encoding="UTF-8" standalone="yes"?>
<Relationships xmlns="http://schemas.openxmlformats.org/package/2006/relationships"><Relationship Id="rId3" Type="http://schemas.openxmlformats.org/officeDocument/2006/relationships/slide" Target="slide31.xml"/><Relationship Id="rId7" Type="http://schemas.openxmlformats.org/officeDocument/2006/relationships/slide" Target="slide32.xml"/><Relationship Id="rId2" Type="http://schemas.openxmlformats.org/officeDocument/2006/relationships/slide" Target="slide2.xml"/><Relationship Id="rId1" Type="http://schemas.openxmlformats.org/officeDocument/2006/relationships/slideLayout" Target="../slideLayouts/slideLayout5.xml"/><Relationship Id="rId6" Type="http://schemas.openxmlformats.org/officeDocument/2006/relationships/image" Target="../media/image17.png"/><Relationship Id="rId5" Type="http://schemas.openxmlformats.org/officeDocument/2006/relationships/image" Target="../media/image16.jpg"/><Relationship Id="rId4" Type="http://schemas.openxmlformats.org/officeDocument/2006/relationships/image" Target="../media/image15.jpg"/></Relationships>
</file>

<file path=ppt/slides/_rels/slide33.xml.rels><?xml version="1.0" encoding="UTF-8" standalone="yes"?>
<Relationships xmlns="http://schemas.openxmlformats.org/package/2006/relationships"><Relationship Id="rId3" Type="http://schemas.openxmlformats.org/officeDocument/2006/relationships/slide" Target="slide31.xml"/><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slide" Target="slide33.xml"/></Relationships>
</file>

<file path=ppt/slides/_rels/slide34.xml.rels><?xml version="1.0" encoding="UTF-8" standalone="yes"?>
<Relationships xmlns="http://schemas.openxmlformats.org/package/2006/relationships"><Relationship Id="rId3" Type="http://schemas.openxmlformats.org/officeDocument/2006/relationships/slide" Target="slide31.xml"/><Relationship Id="rId7" Type="http://schemas.openxmlformats.org/officeDocument/2006/relationships/slide" Target="slide33.xml"/><Relationship Id="rId2" Type="http://schemas.openxmlformats.org/officeDocument/2006/relationships/slide" Target="slide2.xml"/><Relationship Id="rId1" Type="http://schemas.openxmlformats.org/officeDocument/2006/relationships/slideLayout" Target="../slideLayouts/slideLayout5.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35.xml.rels><?xml version="1.0" encoding="UTF-8" standalone="yes"?>
<Relationships xmlns="http://schemas.openxmlformats.org/package/2006/relationships"><Relationship Id="rId3" Type="http://schemas.openxmlformats.org/officeDocument/2006/relationships/slide" Target="slide31.xml"/><Relationship Id="rId2" Type="http://schemas.openxmlformats.org/officeDocument/2006/relationships/slide" Target="slide2.xml"/><Relationship Id="rId1" Type="http://schemas.openxmlformats.org/officeDocument/2006/relationships/slideLayout" Target="../slideLayouts/slideLayout2.xml"/><Relationship Id="rId5" Type="http://schemas.openxmlformats.org/officeDocument/2006/relationships/slide" Target="slide35.xml"/><Relationship Id="rId4" Type="http://schemas.openxmlformats.org/officeDocument/2006/relationships/image" Target="../media/image21.png"/></Relationships>
</file>

<file path=ppt/slides/_rels/slide36.xml.rels><?xml version="1.0" encoding="UTF-8" standalone="yes"?>
<Relationships xmlns="http://schemas.openxmlformats.org/package/2006/relationships"><Relationship Id="rId3" Type="http://schemas.openxmlformats.org/officeDocument/2006/relationships/slide" Target="slide31.xml"/><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slide" Target="slide36.xml"/></Relationships>
</file>

<file path=ppt/slides/_rels/slide37.xml.rels><?xml version="1.0" encoding="UTF-8" standalone="yes"?>
<Relationships xmlns="http://schemas.openxmlformats.org/package/2006/relationships"><Relationship Id="rId3" Type="http://schemas.openxmlformats.org/officeDocument/2006/relationships/slide" Target="slide31.xml"/><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slide" Target="slide36.xml"/></Relationships>
</file>

<file path=ppt/slides/_rels/slide38.xml.rels><?xml version="1.0" encoding="UTF-8" standalone="yes"?>
<Relationships xmlns="http://schemas.openxmlformats.org/package/2006/relationships"><Relationship Id="rId3" Type="http://schemas.openxmlformats.org/officeDocument/2006/relationships/slide" Target="slide31.xml"/><Relationship Id="rId2" Type="http://schemas.openxmlformats.org/officeDocument/2006/relationships/slide" Target="slide2.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slide" Target="slide36.xml"/></Relationships>
</file>

<file path=ppt/slides/_rels/slide39.xml.rels><?xml version="1.0" encoding="UTF-8" standalone="yes"?>
<Relationships xmlns="http://schemas.openxmlformats.org/package/2006/relationships"><Relationship Id="rId3" Type="http://schemas.openxmlformats.org/officeDocument/2006/relationships/slide" Target="slide31.xml"/><Relationship Id="rId2" Type="http://schemas.openxmlformats.org/officeDocument/2006/relationships/slide" Target="slide2.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slide" Target="slide36.xml"/></Relationships>
</file>

<file path=ppt/slides/_rels/slide40.xml.rels><?xml version="1.0" encoding="UTF-8" standalone="yes"?>
<Relationships xmlns="http://schemas.openxmlformats.org/package/2006/relationships"><Relationship Id="rId3" Type="http://schemas.openxmlformats.org/officeDocument/2006/relationships/slide" Target="slide31.xml"/><Relationship Id="rId2" Type="http://schemas.openxmlformats.org/officeDocument/2006/relationships/slide" Target="slide2.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slide" Target="slide36.xml"/></Relationships>
</file>

<file path=ppt/slides/_rels/slide41.xml.rels><?xml version="1.0" encoding="UTF-8" standalone="yes"?>
<Relationships xmlns="http://schemas.openxmlformats.org/package/2006/relationships"><Relationship Id="rId3" Type="http://schemas.openxmlformats.org/officeDocument/2006/relationships/slide" Target="slide31.xml"/><Relationship Id="rId2" Type="http://schemas.openxmlformats.org/officeDocument/2006/relationships/slide" Target="slide2.xml"/><Relationship Id="rId1" Type="http://schemas.openxmlformats.org/officeDocument/2006/relationships/slideLayout" Target="../slideLayouts/slideLayout5.xml"/><Relationship Id="rId4" Type="http://schemas.openxmlformats.org/officeDocument/2006/relationships/slide" Target="slide36.xml"/></Relationships>
</file>

<file path=ppt/slides/_rels/slide42.xml.rels><?xml version="1.0" encoding="UTF-8" standalone="yes"?>
<Relationships xmlns="http://schemas.openxmlformats.org/package/2006/relationships"><Relationship Id="rId3" Type="http://schemas.openxmlformats.org/officeDocument/2006/relationships/slide" Target="slide31.xml"/><Relationship Id="rId2" Type="http://schemas.openxmlformats.org/officeDocument/2006/relationships/slide" Target="slide2.xml"/><Relationship Id="rId1" Type="http://schemas.openxmlformats.org/officeDocument/2006/relationships/slideLayout" Target="../slideLayouts/slideLayout5.xml"/><Relationship Id="rId4" Type="http://schemas.openxmlformats.org/officeDocument/2006/relationships/slide" Target="slide36.xml"/></Relationships>
</file>

<file path=ppt/slides/_rels/slide43.xml.rels><?xml version="1.0" encoding="UTF-8" standalone="yes"?>
<Relationships xmlns="http://schemas.openxmlformats.org/package/2006/relationships"><Relationship Id="rId3" Type="http://schemas.openxmlformats.org/officeDocument/2006/relationships/slide" Target="slide31.xml"/><Relationship Id="rId2" Type="http://schemas.openxmlformats.org/officeDocument/2006/relationships/slide" Target="slide2.xml"/><Relationship Id="rId1" Type="http://schemas.openxmlformats.org/officeDocument/2006/relationships/slideLayout" Target="../slideLayouts/slideLayout5.xml"/><Relationship Id="rId4" Type="http://schemas.openxmlformats.org/officeDocument/2006/relationships/slide" Target="slide36.xml"/></Relationships>
</file>

<file path=ppt/slides/_rels/slide44.xml.rels><?xml version="1.0" encoding="UTF-8" standalone="yes"?>
<Relationships xmlns="http://schemas.openxmlformats.org/package/2006/relationships"><Relationship Id="rId3" Type="http://schemas.openxmlformats.org/officeDocument/2006/relationships/slide" Target="slide31.xml"/><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slide" Target="slide44.xml"/></Relationships>
</file>

<file path=ppt/slides/_rels/slide45.xml.rels><?xml version="1.0" encoding="UTF-8" standalone="yes"?>
<Relationships xmlns="http://schemas.openxmlformats.org/package/2006/relationships"><Relationship Id="rId3" Type="http://schemas.openxmlformats.org/officeDocument/2006/relationships/slide" Target="slide31.xml"/><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slide" Target="slide44.xml"/></Relationships>
</file>

<file path=ppt/slides/_rels/slide46.xml.rels><?xml version="1.0" encoding="UTF-8" standalone="yes"?>
<Relationships xmlns="http://schemas.openxmlformats.org/package/2006/relationships"><Relationship Id="rId3" Type="http://schemas.openxmlformats.org/officeDocument/2006/relationships/slide" Target="slide31.xml"/><Relationship Id="rId2" Type="http://schemas.openxmlformats.org/officeDocument/2006/relationships/slide" Target="slide2.xml"/><Relationship Id="rId1" Type="http://schemas.openxmlformats.org/officeDocument/2006/relationships/slideLayout" Target="../slideLayouts/slideLayout5.xml"/><Relationship Id="rId5" Type="http://schemas.openxmlformats.org/officeDocument/2006/relationships/slide" Target="slide44.xml"/><Relationship Id="rId4" Type="http://schemas.openxmlformats.org/officeDocument/2006/relationships/image" Target="../media/image23.png"/></Relationships>
</file>

<file path=ppt/slides/_rels/slide47.xml.rels><?xml version="1.0" encoding="UTF-8" standalone="yes"?>
<Relationships xmlns="http://schemas.openxmlformats.org/package/2006/relationships"><Relationship Id="rId3" Type="http://schemas.openxmlformats.org/officeDocument/2006/relationships/slide" Target="slide31.xml"/><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slide" Target="slide44.xml"/></Relationships>
</file>

<file path=ppt/slides/_rels/slide48.xml.rels><?xml version="1.0" encoding="UTF-8" standalone="yes"?>
<Relationships xmlns="http://schemas.openxmlformats.org/package/2006/relationships"><Relationship Id="rId3" Type="http://schemas.openxmlformats.org/officeDocument/2006/relationships/slide" Target="slide48.xml"/><Relationship Id="rId2" Type="http://schemas.openxmlformats.org/officeDocument/2006/relationships/slide" Target="slide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slide" Target="slide48.xml"/><Relationship Id="rId2" Type="http://schemas.openxmlformats.org/officeDocument/2006/relationships/slide" Target="slide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slide" Target="slide48.xml"/><Relationship Id="rId2" Type="http://schemas.openxmlformats.org/officeDocument/2006/relationships/slide" Target="slide2.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3" Type="http://schemas.openxmlformats.org/officeDocument/2006/relationships/slide" Target="slide48.xml"/><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slide" Target="slide51.xml"/></Relationships>
</file>

<file path=ppt/slides/_rels/slide52.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slide" Target="slide48.xml"/><Relationship Id="rId7" Type="http://schemas.openxmlformats.org/officeDocument/2006/relationships/image" Target="../media/image27.png"/><Relationship Id="rId2" Type="http://schemas.openxmlformats.org/officeDocument/2006/relationships/slide" Target="slide2.xml"/><Relationship Id="rId1" Type="http://schemas.openxmlformats.org/officeDocument/2006/relationships/slideLayout" Target="../slideLayouts/slideLayout5.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 Id="rId9" Type="http://schemas.openxmlformats.org/officeDocument/2006/relationships/slide" Target="slide51.xml"/></Relationships>
</file>

<file path=ppt/slides/_rels/slide53.xml.rels><?xml version="1.0" encoding="UTF-8" standalone="yes"?>
<Relationships xmlns="http://schemas.openxmlformats.org/package/2006/relationships"><Relationship Id="rId3" Type="http://schemas.openxmlformats.org/officeDocument/2006/relationships/slide" Target="slide48.xml"/><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slide" Target="slide53.xml"/></Relationships>
</file>

<file path=ppt/slides/_rels/slide54.xml.rels><?xml version="1.0" encoding="UTF-8" standalone="yes"?>
<Relationships xmlns="http://schemas.openxmlformats.org/package/2006/relationships"><Relationship Id="rId3" Type="http://schemas.openxmlformats.org/officeDocument/2006/relationships/slide" Target="slide48.xml"/><Relationship Id="rId2" Type="http://schemas.openxmlformats.org/officeDocument/2006/relationships/slide" Target="slide2.xml"/><Relationship Id="rId1" Type="http://schemas.openxmlformats.org/officeDocument/2006/relationships/slideLayout" Target="../slideLayouts/slideLayout5.xml"/><Relationship Id="rId5" Type="http://schemas.openxmlformats.org/officeDocument/2006/relationships/slide" Target="slide53.xml"/><Relationship Id="rId4" Type="http://schemas.openxmlformats.org/officeDocument/2006/relationships/image" Target="../media/image29.png"/></Relationships>
</file>

<file path=ppt/slides/_rels/slide55.xml.rels><?xml version="1.0" encoding="UTF-8" standalone="yes"?>
<Relationships xmlns="http://schemas.openxmlformats.org/package/2006/relationships"><Relationship Id="rId3" Type="http://schemas.openxmlformats.org/officeDocument/2006/relationships/slide" Target="slide48.xml"/><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slide" Target="slide55.xml"/></Relationships>
</file>

<file path=ppt/slides/_rels/slide56.xml.rels><?xml version="1.0" encoding="UTF-8" standalone="yes"?>
<Relationships xmlns="http://schemas.openxmlformats.org/package/2006/relationships"><Relationship Id="rId3" Type="http://schemas.openxmlformats.org/officeDocument/2006/relationships/slide" Target="slide48.xml"/><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slide" Target="slide55.xml"/></Relationships>
</file>

<file path=ppt/slides/_rels/slide57.xml.rels><?xml version="1.0" encoding="UTF-8" standalone="yes"?>
<Relationships xmlns="http://schemas.openxmlformats.org/package/2006/relationships"><Relationship Id="rId3" Type="http://schemas.openxmlformats.org/officeDocument/2006/relationships/slide" Target="slide48.xml"/><Relationship Id="rId2" Type="http://schemas.openxmlformats.org/officeDocument/2006/relationships/slide" Target="slide2.xml"/><Relationship Id="rId1" Type="http://schemas.openxmlformats.org/officeDocument/2006/relationships/slideLayout" Target="../slideLayouts/slideLayout5.xml"/><Relationship Id="rId4" Type="http://schemas.openxmlformats.org/officeDocument/2006/relationships/slide" Target="slide57.xml"/></Relationships>
</file>

<file path=ppt/slides/_rels/slide58.xml.rels><?xml version="1.0" encoding="UTF-8" standalone="yes"?>
<Relationships xmlns="http://schemas.openxmlformats.org/package/2006/relationships"><Relationship Id="rId3" Type="http://schemas.openxmlformats.org/officeDocument/2006/relationships/slide" Target="slide48.xml"/><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slide" Target="slide57.xml"/></Relationships>
</file>

<file path=ppt/slides/_rels/slide59.xml.rels><?xml version="1.0" encoding="UTF-8" standalone="yes"?>
<Relationships xmlns="http://schemas.openxmlformats.org/package/2006/relationships"><Relationship Id="rId3" Type="http://schemas.openxmlformats.org/officeDocument/2006/relationships/slide" Target="slide48.xml"/><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slide" Target="slide57.xml"/></Relationships>
</file>

<file path=ppt/slides/_rels/slide60.xml.rels><?xml version="1.0" encoding="UTF-8" standalone="yes"?>
<Relationships xmlns="http://schemas.openxmlformats.org/package/2006/relationships"><Relationship Id="rId3" Type="http://schemas.openxmlformats.org/officeDocument/2006/relationships/slide" Target="slide48.xml"/><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slide" Target="slide60.xml"/></Relationships>
</file>

<file path=ppt/slides/_rels/slide61.xml.rels><?xml version="1.0" encoding="UTF-8" standalone="yes"?>
<Relationships xmlns="http://schemas.openxmlformats.org/package/2006/relationships"><Relationship Id="rId3" Type="http://schemas.openxmlformats.org/officeDocument/2006/relationships/slide" Target="slide48.xml"/><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slide" Target="slide60.xml"/></Relationships>
</file>

<file path=ppt/slides/_rels/slide62.xml.rels><?xml version="1.0" encoding="UTF-8" standalone="yes"?>
<Relationships xmlns="http://schemas.openxmlformats.org/package/2006/relationships"><Relationship Id="rId3" Type="http://schemas.openxmlformats.org/officeDocument/2006/relationships/slide" Target="slide48.xml"/><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slide" Target="slide60.xml"/></Relationships>
</file>

<file path=ppt/slides/_rels/slide63.xml.rels><?xml version="1.0" encoding="UTF-8" standalone="yes"?>
<Relationships xmlns="http://schemas.openxmlformats.org/package/2006/relationships"><Relationship Id="rId3" Type="http://schemas.openxmlformats.org/officeDocument/2006/relationships/slide" Target="slide48.xml"/><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slide" Target="slide60.xml"/></Relationships>
</file>

<file path=ppt/slides/_rels/slide64.xml.rels><?xml version="1.0" encoding="UTF-8" standalone="yes"?>
<Relationships xmlns="http://schemas.openxmlformats.org/package/2006/relationships"><Relationship Id="rId3" Type="http://schemas.openxmlformats.org/officeDocument/2006/relationships/slide" Target="slide48.xml"/><Relationship Id="rId2" Type="http://schemas.openxmlformats.org/officeDocument/2006/relationships/slide" Target="slide2.xml"/><Relationship Id="rId1" Type="http://schemas.openxmlformats.org/officeDocument/2006/relationships/slideLayout" Target="../slideLayouts/slideLayout5.xml"/><Relationship Id="rId4" Type="http://schemas.openxmlformats.org/officeDocument/2006/relationships/slide" Target="slide60.xml"/></Relationships>
</file>

<file path=ppt/slides/_rels/slide65.xml.rels><?xml version="1.0" encoding="UTF-8" standalone="yes"?>
<Relationships xmlns="http://schemas.openxmlformats.org/package/2006/relationships"><Relationship Id="rId3" Type="http://schemas.openxmlformats.org/officeDocument/2006/relationships/slide" Target="slide48.xml"/><Relationship Id="rId2" Type="http://schemas.openxmlformats.org/officeDocument/2006/relationships/slide" Target="slide2.xml"/><Relationship Id="rId1" Type="http://schemas.openxmlformats.org/officeDocument/2006/relationships/slideLayout" Target="../slideLayouts/slideLayout5.xml"/><Relationship Id="rId6" Type="http://schemas.openxmlformats.org/officeDocument/2006/relationships/slide" Target="slide65.xml"/><Relationship Id="rId5" Type="http://schemas.openxmlformats.org/officeDocument/2006/relationships/image" Target="../media/image31.jpg"/><Relationship Id="rId4" Type="http://schemas.openxmlformats.org/officeDocument/2006/relationships/image" Target="../media/image30.png"/></Relationships>
</file>

<file path=ppt/slides/_rels/slide66.xml.rels><?xml version="1.0" encoding="UTF-8" standalone="yes"?>
<Relationships xmlns="http://schemas.openxmlformats.org/package/2006/relationships"><Relationship Id="rId3" Type="http://schemas.openxmlformats.org/officeDocument/2006/relationships/slide" Target="slide48.xml"/><Relationship Id="rId2" Type="http://schemas.openxmlformats.org/officeDocument/2006/relationships/slide" Target="slide2.xml"/><Relationship Id="rId1" Type="http://schemas.openxmlformats.org/officeDocument/2006/relationships/slideLayout" Target="../slideLayouts/slideLayout5.xml"/><Relationship Id="rId6" Type="http://schemas.openxmlformats.org/officeDocument/2006/relationships/slide" Target="slide65.xml"/><Relationship Id="rId5" Type="http://schemas.openxmlformats.org/officeDocument/2006/relationships/image" Target="../media/image33.png"/><Relationship Id="rId4" Type="http://schemas.openxmlformats.org/officeDocument/2006/relationships/image" Target="../media/image32.png"/></Relationships>
</file>

<file path=ppt/slides/_rels/slide67.xml.rels><?xml version="1.0" encoding="UTF-8" standalone="yes"?>
<Relationships xmlns="http://schemas.openxmlformats.org/package/2006/relationships"><Relationship Id="rId3" Type="http://schemas.openxmlformats.org/officeDocument/2006/relationships/slide" Target="slide48.xml"/><Relationship Id="rId2" Type="http://schemas.openxmlformats.org/officeDocument/2006/relationships/slide" Target="slide2.xml"/><Relationship Id="rId1" Type="http://schemas.openxmlformats.org/officeDocument/2006/relationships/slideLayout" Target="../slideLayouts/slideLayout5.xml"/><Relationship Id="rId6" Type="http://schemas.openxmlformats.org/officeDocument/2006/relationships/slide" Target="slide65.xml"/><Relationship Id="rId5" Type="http://schemas.openxmlformats.org/officeDocument/2006/relationships/image" Target="../media/image35.png"/><Relationship Id="rId4" Type="http://schemas.openxmlformats.org/officeDocument/2006/relationships/image" Target="../media/image34.png"/></Relationships>
</file>

<file path=ppt/slides/_rels/slide68.xml.rels><?xml version="1.0" encoding="UTF-8" standalone="yes"?>
<Relationships xmlns="http://schemas.openxmlformats.org/package/2006/relationships"><Relationship Id="rId3" Type="http://schemas.openxmlformats.org/officeDocument/2006/relationships/slide" Target="slide68.xml"/><Relationship Id="rId2" Type="http://schemas.openxmlformats.org/officeDocument/2006/relationships/slide" Target="slide2.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slide" Target="slide68.xml"/><Relationship Id="rId2" Type="http://schemas.openxmlformats.org/officeDocument/2006/relationships/slide" Target="slide2.xml"/><Relationship Id="rId1" Type="http://schemas.openxmlformats.org/officeDocument/2006/relationships/slideLayout" Target="../slideLayouts/slideLayout5.xml"/><Relationship Id="rId6" Type="http://schemas.openxmlformats.org/officeDocument/2006/relationships/image" Target="../media/image37.png"/><Relationship Id="rId5" Type="http://schemas.openxmlformats.org/officeDocument/2006/relationships/slide" Target="slide69.xml"/><Relationship Id="rId4" Type="http://schemas.openxmlformats.org/officeDocument/2006/relationships/image" Target="../media/image36.png"/></Relationships>
</file>

<file path=ppt/slides/_rels/slide70.xml.rels><?xml version="1.0" encoding="UTF-8" standalone="yes"?>
<Relationships xmlns="http://schemas.openxmlformats.org/package/2006/relationships"><Relationship Id="rId3" Type="http://schemas.openxmlformats.org/officeDocument/2006/relationships/slide" Target="slide68.xml"/><Relationship Id="rId2" Type="http://schemas.openxmlformats.org/officeDocument/2006/relationships/slide" Target="slide2.xml"/><Relationship Id="rId1" Type="http://schemas.openxmlformats.org/officeDocument/2006/relationships/slideLayout" Target="../slideLayouts/slideLayout5.xml"/><Relationship Id="rId5" Type="http://schemas.openxmlformats.org/officeDocument/2006/relationships/image" Target="../media/image38.png"/><Relationship Id="rId4" Type="http://schemas.openxmlformats.org/officeDocument/2006/relationships/slide" Target="slide69.xml"/></Relationships>
</file>

<file path=ppt/slides/_rels/slide71.xml.rels><?xml version="1.0" encoding="UTF-8" standalone="yes"?>
<Relationships xmlns="http://schemas.openxmlformats.org/package/2006/relationships"><Relationship Id="rId3" Type="http://schemas.openxmlformats.org/officeDocument/2006/relationships/slide" Target="slide68.xml"/><Relationship Id="rId2" Type="http://schemas.openxmlformats.org/officeDocument/2006/relationships/slide" Target="slide2.xml"/><Relationship Id="rId1" Type="http://schemas.openxmlformats.org/officeDocument/2006/relationships/slideLayout" Target="../slideLayouts/slideLayout5.xml"/><Relationship Id="rId4" Type="http://schemas.openxmlformats.org/officeDocument/2006/relationships/slide" Target="slide71.xml"/></Relationships>
</file>

<file path=ppt/slides/_rels/slide72.xml.rels><?xml version="1.0" encoding="UTF-8" standalone="yes"?>
<Relationships xmlns="http://schemas.openxmlformats.org/package/2006/relationships"><Relationship Id="rId3" Type="http://schemas.openxmlformats.org/officeDocument/2006/relationships/slide" Target="slide68.xml"/><Relationship Id="rId2" Type="http://schemas.openxmlformats.org/officeDocument/2006/relationships/slide" Target="slide2.xml"/><Relationship Id="rId1" Type="http://schemas.openxmlformats.org/officeDocument/2006/relationships/slideLayout" Target="../slideLayouts/slideLayout5.xml"/><Relationship Id="rId6" Type="http://schemas.openxmlformats.org/officeDocument/2006/relationships/image" Target="../media/image40.png"/><Relationship Id="rId5" Type="http://schemas.openxmlformats.org/officeDocument/2006/relationships/slide" Target="slide72.xml"/><Relationship Id="rId4" Type="http://schemas.openxmlformats.org/officeDocument/2006/relationships/image" Target="../media/image39.png"/></Relationships>
</file>

<file path=ppt/slides/_rels/slide73.xml.rels><?xml version="1.0" encoding="UTF-8" standalone="yes"?>
<Relationships xmlns="http://schemas.openxmlformats.org/package/2006/relationships"><Relationship Id="rId3" Type="http://schemas.openxmlformats.org/officeDocument/2006/relationships/slide" Target="slide68.xml"/><Relationship Id="rId2" Type="http://schemas.openxmlformats.org/officeDocument/2006/relationships/slide" Target="slide2.xml"/><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slide" Target="slide72.xml"/></Relationships>
</file>

<file path=ppt/slides/_rels/slide74.xml.rels><?xml version="1.0" encoding="UTF-8" standalone="yes"?>
<Relationships xmlns="http://schemas.openxmlformats.org/package/2006/relationships"><Relationship Id="rId3" Type="http://schemas.openxmlformats.org/officeDocument/2006/relationships/slide" Target="slide68.xml"/><Relationship Id="rId2" Type="http://schemas.openxmlformats.org/officeDocument/2006/relationships/slide" Target="slide2.xml"/><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slide" Target="slide72.xml"/></Relationships>
</file>

<file path=ppt/slides/_rels/slide75.xml.rels><?xml version="1.0" encoding="UTF-8" standalone="yes"?>
<Relationships xmlns="http://schemas.openxmlformats.org/package/2006/relationships"><Relationship Id="rId3" Type="http://schemas.openxmlformats.org/officeDocument/2006/relationships/slide" Target="slide75.xml"/><Relationship Id="rId2" Type="http://schemas.openxmlformats.org/officeDocument/2006/relationships/slide" Target="slide2.xml"/><Relationship Id="rId1" Type="http://schemas.openxmlformats.org/officeDocument/2006/relationships/slideLayout" Target="../slideLayouts/slideLayout5.xml"/><Relationship Id="rId4" Type="http://schemas.openxmlformats.org/officeDocument/2006/relationships/image" Target="../media/image43.png"/></Relationships>
</file>

<file path=ppt/slides/_rels/slide76.xml.rels><?xml version="1.0" encoding="UTF-8" standalone="yes"?>
<Relationships xmlns="http://schemas.openxmlformats.org/package/2006/relationships"><Relationship Id="rId3" Type="http://schemas.openxmlformats.org/officeDocument/2006/relationships/slide" Target="slide75.xml"/><Relationship Id="rId2" Type="http://schemas.openxmlformats.org/officeDocument/2006/relationships/slide" Target="slide2.xml"/><Relationship Id="rId1" Type="http://schemas.openxmlformats.org/officeDocument/2006/relationships/slideLayout" Target="../slideLayouts/slideLayout5.xml"/><Relationship Id="rId4" Type="http://schemas.openxmlformats.org/officeDocument/2006/relationships/image" Target="../media/image43.png"/></Relationships>
</file>

<file path=ppt/slides/_rels/slide7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slide" Target="slide77.xml"/><Relationship Id="rId4" Type="http://schemas.openxmlformats.org/officeDocument/2006/relationships/slide" Target="slide75.xml"/></Relationships>
</file>

<file path=ppt/slides/_rels/slide78.xml.rels><?xml version="1.0" encoding="UTF-8" standalone="yes"?>
<Relationships xmlns="http://schemas.openxmlformats.org/package/2006/relationships"><Relationship Id="rId3" Type="http://schemas.openxmlformats.org/officeDocument/2006/relationships/slide" Target="slide75.xml"/><Relationship Id="rId2" Type="http://schemas.openxmlformats.org/officeDocument/2006/relationships/slide" Target="slide2.xml"/><Relationship Id="rId1" Type="http://schemas.openxmlformats.org/officeDocument/2006/relationships/slideLayout" Target="../slideLayouts/slideLayout5.xml"/><Relationship Id="rId6" Type="http://schemas.openxmlformats.org/officeDocument/2006/relationships/slide" Target="slide77.xml"/><Relationship Id="rId5" Type="http://schemas.openxmlformats.org/officeDocument/2006/relationships/image" Target="../media/image45.jpg"/><Relationship Id="rId4" Type="http://schemas.openxmlformats.org/officeDocument/2006/relationships/image" Target="../media/image44.jpg"/></Relationships>
</file>

<file path=ppt/slides/_rels/slide79.xml.rels><?xml version="1.0" encoding="UTF-8" standalone="yes"?>
<Relationships xmlns="http://schemas.openxmlformats.org/package/2006/relationships"><Relationship Id="rId3" Type="http://schemas.openxmlformats.org/officeDocument/2006/relationships/slide" Target="slide75.xml"/><Relationship Id="rId2" Type="http://schemas.openxmlformats.org/officeDocument/2006/relationships/slide" Target="slide2.xml"/><Relationship Id="rId1" Type="http://schemas.openxmlformats.org/officeDocument/2006/relationships/slideLayout" Target="../slideLayouts/slideLayout5.xml"/><Relationship Id="rId6" Type="http://schemas.openxmlformats.org/officeDocument/2006/relationships/slide" Target="slide77.xml"/><Relationship Id="rId5" Type="http://schemas.openxmlformats.org/officeDocument/2006/relationships/image" Target="../media/image45.jpg"/><Relationship Id="rId4" Type="http://schemas.openxmlformats.org/officeDocument/2006/relationships/image" Target="../media/image44.jpg"/></Relationships>
</file>

<file path=ppt/slides/_rels/slide80.xml.rels><?xml version="1.0" encoding="UTF-8" standalone="yes"?>
<Relationships xmlns="http://schemas.openxmlformats.org/package/2006/relationships"><Relationship Id="rId3" Type="http://schemas.openxmlformats.org/officeDocument/2006/relationships/slide" Target="slide75.xml"/><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slide" Target="slide77.xml"/></Relationships>
</file>

<file path=ppt/slides/_rels/slide81.xml.rels><?xml version="1.0" encoding="UTF-8" standalone="yes"?>
<Relationships xmlns="http://schemas.openxmlformats.org/package/2006/relationships"><Relationship Id="rId3" Type="http://schemas.openxmlformats.org/officeDocument/2006/relationships/slide" Target="slide75.xml"/><Relationship Id="rId2" Type="http://schemas.openxmlformats.org/officeDocument/2006/relationships/slide" Target="slide2.xml"/><Relationship Id="rId1" Type="http://schemas.openxmlformats.org/officeDocument/2006/relationships/slideLayout" Target="../slideLayouts/slideLayout2.xml"/><Relationship Id="rId5" Type="http://schemas.openxmlformats.org/officeDocument/2006/relationships/image" Target="../media/image46.png"/><Relationship Id="rId4" Type="http://schemas.openxmlformats.org/officeDocument/2006/relationships/slide" Target="slide77.xml"/></Relationships>
</file>

<file path=ppt/slides/_rels/slide82.xml.rels><?xml version="1.0" encoding="UTF-8" standalone="yes"?>
<Relationships xmlns="http://schemas.openxmlformats.org/package/2006/relationships"><Relationship Id="rId3" Type="http://schemas.openxmlformats.org/officeDocument/2006/relationships/slide" Target="slide75.xml"/><Relationship Id="rId2" Type="http://schemas.openxmlformats.org/officeDocument/2006/relationships/slide" Target="slide2.xml"/><Relationship Id="rId1" Type="http://schemas.openxmlformats.org/officeDocument/2006/relationships/slideLayout" Target="../slideLayouts/slideLayout5.xml"/><Relationship Id="rId6" Type="http://schemas.openxmlformats.org/officeDocument/2006/relationships/image" Target="../media/image48.png"/><Relationship Id="rId5" Type="http://schemas.openxmlformats.org/officeDocument/2006/relationships/slide" Target="slide77.xml"/><Relationship Id="rId4" Type="http://schemas.openxmlformats.org/officeDocument/2006/relationships/image" Target="../media/image47.png"/></Relationships>
</file>

<file path=ppt/slides/_rels/slide83.xml.rels><?xml version="1.0" encoding="UTF-8" standalone="yes"?>
<Relationships xmlns="http://schemas.openxmlformats.org/package/2006/relationships"><Relationship Id="rId3" Type="http://schemas.openxmlformats.org/officeDocument/2006/relationships/slide" Target="slide75.xml"/><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slide" Target="slide83.xml"/></Relationships>
</file>

<file path=ppt/slides/_rels/slide84.xml.rels><?xml version="1.0" encoding="UTF-8" standalone="yes"?>
<Relationships xmlns="http://schemas.openxmlformats.org/package/2006/relationships"><Relationship Id="rId3" Type="http://schemas.openxmlformats.org/officeDocument/2006/relationships/slide" Target="slide75.xml"/><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slide" Target="slide83.xml"/></Relationships>
</file>

<file path=ppt/slides/_rels/slide85.xml.rels><?xml version="1.0" encoding="UTF-8" standalone="yes"?>
<Relationships xmlns="http://schemas.openxmlformats.org/package/2006/relationships"><Relationship Id="rId3" Type="http://schemas.openxmlformats.org/officeDocument/2006/relationships/slide" Target="slide75.xml"/><Relationship Id="rId2" Type="http://schemas.openxmlformats.org/officeDocument/2006/relationships/slide" Target="slide2.xml"/><Relationship Id="rId1" Type="http://schemas.openxmlformats.org/officeDocument/2006/relationships/slideLayout" Target="../slideLayouts/slideLayout2.xml"/><Relationship Id="rId5" Type="http://schemas.openxmlformats.org/officeDocument/2006/relationships/slide" Target="slide83.xml"/><Relationship Id="rId4" Type="http://schemas.openxmlformats.org/officeDocument/2006/relationships/image" Target="../media/image49.png"/></Relationships>
</file>

<file path=ppt/slides/_rels/slide86.xml.rels><?xml version="1.0" encoding="UTF-8" standalone="yes"?>
<Relationships xmlns="http://schemas.openxmlformats.org/package/2006/relationships"><Relationship Id="rId3" Type="http://schemas.openxmlformats.org/officeDocument/2006/relationships/slide" Target="slide86.xml"/><Relationship Id="rId2" Type="http://schemas.openxmlformats.org/officeDocument/2006/relationships/slide" Target="slide2.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slide" Target="slide86.xml"/><Relationship Id="rId2" Type="http://schemas.openxmlformats.org/officeDocument/2006/relationships/slide" Target="slide2.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slide" Target="slide86.xml"/><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slide" Target="slide88.xml"/></Relationships>
</file>

<file path=ppt/slides/_rels/slide89.xml.rels><?xml version="1.0" encoding="UTF-8" standalone="yes"?>
<Relationships xmlns="http://schemas.openxmlformats.org/package/2006/relationships"><Relationship Id="rId3" Type="http://schemas.openxmlformats.org/officeDocument/2006/relationships/slide" Target="slide86.xml"/><Relationship Id="rId2" Type="http://schemas.openxmlformats.org/officeDocument/2006/relationships/slide" Target="slide2.xml"/><Relationship Id="rId1" Type="http://schemas.openxmlformats.org/officeDocument/2006/relationships/slideLayout" Target="../slideLayouts/slideLayout2.xml"/><Relationship Id="rId5" Type="http://schemas.openxmlformats.org/officeDocument/2006/relationships/slide" Target="slide89.xml"/><Relationship Id="rId4" Type="http://schemas.openxmlformats.org/officeDocument/2006/relationships/image" Target="../media/image50.png"/></Relationships>
</file>

<file path=ppt/slides/_rels/slide90.xml.rels><?xml version="1.0" encoding="UTF-8" standalone="yes"?>
<Relationships xmlns="http://schemas.openxmlformats.org/package/2006/relationships"><Relationship Id="rId3" Type="http://schemas.openxmlformats.org/officeDocument/2006/relationships/slide" Target="slide86.xml"/><Relationship Id="rId7" Type="http://schemas.openxmlformats.org/officeDocument/2006/relationships/slide" Target="slide89.xml"/><Relationship Id="rId2" Type="http://schemas.openxmlformats.org/officeDocument/2006/relationships/slide" Target="slide2.xml"/><Relationship Id="rId1" Type="http://schemas.openxmlformats.org/officeDocument/2006/relationships/slideLayout" Target="../slideLayouts/slideLayout2.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91.xml.rels><?xml version="1.0" encoding="UTF-8" standalone="yes"?>
<Relationships xmlns="http://schemas.openxmlformats.org/package/2006/relationships"><Relationship Id="rId3" Type="http://schemas.openxmlformats.org/officeDocument/2006/relationships/slide" Target="slide86.xml"/><Relationship Id="rId2" Type="http://schemas.openxmlformats.org/officeDocument/2006/relationships/slide" Target="slide2.xml"/><Relationship Id="rId1" Type="http://schemas.openxmlformats.org/officeDocument/2006/relationships/slideLayout" Target="../slideLayouts/slideLayout5.xml"/><Relationship Id="rId4" Type="http://schemas.openxmlformats.org/officeDocument/2006/relationships/slide" Target="slide89.xml"/></Relationships>
</file>

<file path=ppt/slides/_rels/slide92.xml.rels><?xml version="1.0" encoding="UTF-8" standalone="yes"?>
<Relationships xmlns="http://schemas.openxmlformats.org/package/2006/relationships"><Relationship Id="rId3" Type="http://schemas.openxmlformats.org/officeDocument/2006/relationships/slide" Target="slide86.xml"/><Relationship Id="rId2" Type="http://schemas.openxmlformats.org/officeDocument/2006/relationships/slide" Target="slide2.xml"/><Relationship Id="rId1" Type="http://schemas.openxmlformats.org/officeDocument/2006/relationships/slideLayout" Target="../slideLayouts/slideLayout2.xml"/><Relationship Id="rId5" Type="http://schemas.openxmlformats.org/officeDocument/2006/relationships/slide" Target="slide92.xml"/><Relationship Id="rId4" Type="http://schemas.openxmlformats.org/officeDocument/2006/relationships/image" Target="../media/image54.png"/></Relationships>
</file>

<file path=ppt/slides/_rels/slide93.xml.rels><?xml version="1.0" encoding="UTF-8" standalone="yes"?>
<Relationships xmlns="http://schemas.openxmlformats.org/package/2006/relationships"><Relationship Id="rId3" Type="http://schemas.openxmlformats.org/officeDocument/2006/relationships/slide" Target="slide86.xml"/><Relationship Id="rId7" Type="http://schemas.openxmlformats.org/officeDocument/2006/relationships/slide" Target="slide92.xml"/><Relationship Id="rId2" Type="http://schemas.openxmlformats.org/officeDocument/2006/relationships/slide" Target="slide2.xml"/><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94.xml.rels><?xml version="1.0" encoding="UTF-8" standalone="yes"?>
<Relationships xmlns="http://schemas.openxmlformats.org/package/2006/relationships"><Relationship Id="rId3" Type="http://schemas.openxmlformats.org/officeDocument/2006/relationships/slide" Target="slide86.xml"/><Relationship Id="rId7" Type="http://schemas.openxmlformats.org/officeDocument/2006/relationships/slide" Target="slide92.xml"/><Relationship Id="rId2" Type="http://schemas.openxmlformats.org/officeDocument/2006/relationships/slide" Target="slide2.xml"/><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4459" y="1196975"/>
            <a:ext cx="2819400" cy="573234"/>
          </a:xfrm>
          <a:prstGeom prst="rect">
            <a:avLst/>
          </a:prstGeom>
        </p:spPr>
        <p:txBody>
          <a:bodyPr vert="horz" wrap="square" lIns="0" tIns="140970" rIns="0" bIns="0" rtlCol="0">
            <a:spAutoFit/>
          </a:bodyPr>
          <a:lstStyle/>
          <a:p>
            <a:pPr marL="0" marR="0" lvl="0" indent="0" algn="ctr" defTabSz="914400" eaLnBrk="1" fontAlgn="auto" latinLnBrk="0" hangingPunct="1">
              <a:lnSpc>
                <a:spcPct val="100000"/>
              </a:lnSpc>
              <a:spcBef>
                <a:spcPts val="1110"/>
              </a:spcBef>
              <a:spcAft>
                <a:spcPts val="0"/>
              </a:spcAft>
              <a:buClrTx/>
              <a:buSzTx/>
              <a:buFontTx/>
              <a:buNone/>
              <a:tabLst/>
              <a:defRPr/>
            </a:pPr>
            <a:r>
              <a:rPr kumimoji="0" lang="en-US" sz="1400" b="1" i="0" u="none" strike="noStrike" kern="0" cap="none" spc="0" normalizeH="0" baseline="0" noProof="0" dirty="0">
                <a:ln>
                  <a:noFill/>
                </a:ln>
                <a:solidFill>
                  <a:srgbClr val="3333B2"/>
                </a:solidFill>
                <a:effectLst/>
                <a:uLnTx/>
                <a:uFillTx/>
                <a:latin typeface="Arial"/>
                <a:cs typeface="Arial"/>
              </a:rPr>
              <a:t>CSC334 - Parallel &amp; </a:t>
            </a:r>
            <a:r>
              <a:rPr kumimoji="0" sz="1400" b="1" i="0" u="none" strike="noStrike" kern="0" cap="none" spc="0" normalizeH="0" baseline="0" noProof="0" dirty="0">
                <a:ln>
                  <a:noFill/>
                </a:ln>
                <a:solidFill>
                  <a:srgbClr val="3333B2"/>
                </a:solidFill>
                <a:effectLst/>
                <a:uLnTx/>
                <a:uFillTx/>
                <a:latin typeface="Arial"/>
                <a:cs typeface="Arial"/>
              </a:rPr>
              <a:t>Distributed</a:t>
            </a:r>
            <a:r>
              <a:rPr kumimoji="0" sz="1400" b="1" i="0" u="none" strike="noStrike" kern="0" cap="none" spc="120" normalizeH="0" baseline="0" noProof="0" dirty="0">
                <a:ln>
                  <a:noFill/>
                </a:ln>
                <a:solidFill>
                  <a:srgbClr val="3333B2"/>
                </a:solidFill>
                <a:effectLst/>
                <a:uLnTx/>
                <a:uFillTx/>
                <a:latin typeface="Arial"/>
                <a:cs typeface="Arial"/>
              </a:rPr>
              <a:t> </a:t>
            </a:r>
            <a:r>
              <a:rPr kumimoji="0" lang="en-US" sz="1400" b="1" i="0" u="none" strike="noStrike" kern="0" cap="none" spc="-10" normalizeH="0" baseline="0" noProof="0" dirty="0">
                <a:ln>
                  <a:noFill/>
                </a:ln>
                <a:solidFill>
                  <a:srgbClr val="3333B2"/>
                </a:solidFill>
                <a:effectLst/>
                <a:uLnTx/>
                <a:uFillTx/>
                <a:latin typeface="Arial"/>
                <a:cs typeface="Arial"/>
              </a:rPr>
              <a:t>Computing</a:t>
            </a:r>
            <a:endParaRPr kumimoji="0" sz="1400" b="0" i="0" u="none" strike="noStrike" kern="0" cap="none" spc="0" normalizeH="0" baseline="0" noProof="0" dirty="0">
              <a:ln>
                <a:noFill/>
              </a:ln>
              <a:solidFill>
                <a:sysClr val="windowText" lastClr="000000"/>
              </a:solidFill>
              <a:effectLst/>
              <a:uLnTx/>
              <a:uFillTx/>
              <a:latin typeface="Arial"/>
              <a:cs typeface="Arial"/>
            </a:endParaRPr>
          </a:p>
        </p:txBody>
      </p:sp>
      <p:sp>
        <p:nvSpPr>
          <p:cNvPr id="3" name="object 3"/>
          <p:cNvSpPr txBox="1"/>
          <p:nvPr/>
        </p:nvSpPr>
        <p:spPr>
          <a:xfrm>
            <a:off x="894459" y="2720975"/>
            <a:ext cx="3048000" cy="232756"/>
          </a:xfrm>
          <a:prstGeom prst="rect">
            <a:avLst/>
          </a:prstGeom>
        </p:spPr>
        <p:txBody>
          <a:bodyPr vert="horz" wrap="square" lIns="0" tIns="17145" rIns="0" bIns="0" rtlCol="0">
            <a:spAutoFit/>
          </a:bodyPr>
          <a:lstStyle/>
          <a:p>
            <a:pPr marL="12700" marR="0" lvl="0" indent="0" algn="l" defTabSz="914400" eaLnBrk="1" fontAlgn="auto" latinLnBrk="0" hangingPunct="1">
              <a:lnSpc>
                <a:spcPct val="100000"/>
              </a:lnSpc>
              <a:spcBef>
                <a:spcPts val="135"/>
              </a:spcBef>
              <a:spcAft>
                <a:spcPts val="0"/>
              </a:spcAft>
              <a:buClrTx/>
              <a:buSzTx/>
              <a:buFontTx/>
              <a:buNone/>
              <a:tabLst/>
              <a:defRPr/>
            </a:pPr>
            <a:r>
              <a:rPr kumimoji="0" lang="en-US" sz="1400" b="0" i="0" u="none" strike="noStrike" kern="0" cap="none" spc="0" normalizeH="0" baseline="0" noProof="0" dirty="0">
                <a:ln>
                  <a:noFill/>
                </a:ln>
                <a:solidFill>
                  <a:sysClr val="windowText" lastClr="000000"/>
                </a:solidFill>
                <a:effectLst/>
                <a:uLnTx/>
                <a:uFillTx/>
                <a:latin typeface="Arial"/>
                <a:cs typeface="Arial"/>
              </a:rPr>
              <a:t>Mr. Aoun Haider, Ms. Muntaha Amjad</a:t>
            </a:r>
          </a:p>
        </p:txBody>
      </p:sp>
      <p:pic>
        <p:nvPicPr>
          <p:cNvPr id="5" name="Picture 4">
            <a:extLst>
              <a:ext uri="{FF2B5EF4-FFF2-40B4-BE49-F238E27FC236}">
                <a16:creationId xmlns:a16="http://schemas.microsoft.com/office/drawing/2014/main" id="{5E8DB585-3963-CA43-FDEC-0C7B8A8CDD4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71650" y="206375"/>
            <a:ext cx="866509" cy="865384"/>
          </a:xfrm>
          <a:prstGeom prst="rect">
            <a:avLst/>
          </a:prstGeom>
        </p:spPr>
      </p:pic>
      <p:sp>
        <p:nvSpPr>
          <p:cNvPr id="4" name="object 2">
            <a:extLst>
              <a:ext uri="{FF2B5EF4-FFF2-40B4-BE49-F238E27FC236}">
                <a16:creationId xmlns:a16="http://schemas.microsoft.com/office/drawing/2014/main" id="{9E91E2BF-A6A0-AC80-E93D-ED3E8CF1D086}"/>
              </a:ext>
            </a:extLst>
          </p:cNvPr>
          <p:cNvSpPr txBox="1"/>
          <p:nvPr/>
        </p:nvSpPr>
        <p:spPr>
          <a:xfrm>
            <a:off x="1446463" y="1933968"/>
            <a:ext cx="1943991" cy="311624"/>
          </a:xfrm>
          <a:prstGeom prst="rect">
            <a:avLst/>
          </a:prstGeom>
        </p:spPr>
        <p:txBody>
          <a:bodyPr vert="horz" wrap="square" lIns="0" tIns="140970" rIns="0" bIns="0" rtlCol="0">
            <a:spAutoFit/>
          </a:bodyPr>
          <a:lstStyle/>
          <a:p>
            <a:pPr marL="0" marR="0" lvl="0" indent="0" algn="ctr" defTabSz="914400" eaLnBrk="1" fontAlgn="auto" latinLnBrk="0" hangingPunct="1">
              <a:lnSpc>
                <a:spcPct val="100000"/>
              </a:lnSpc>
              <a:spcBef>
                <a:spcPts val="1110"/>
              </a:spcBef>
              <a:spcAft>
                <a:spcPts val="0"/>
              </a:spcAft>
              <a:buClrTx/>
              <a:buSzTx/>
              <a:buFontTx/>
              <a:buNone/>
              <a:tabLst/>
              <a:defRPr/>
            </a:pPr>
            <a:r>
              <a:rPr kumimoji="0" lang="en-US" sz="1100" b="1" i="1" u="none" strike="noStrike" kern="0" cap="none" spc="0" normalizeH="0" baseline="0" noProof="0" dirty="0">
                <a:ln>
                  <a:noFill/>
                </a:ln>
                <a:solidFill>
                  <a:srgbClr val="EEECE1">
                    <a:lumMod val="50000"/>
                  </a:srgbClr>
                </a:solidFill>
                <a:effectLst/>
                <a:uLnTx/>
                <a:uFillTx/>
                <a:latin typeface="Arial"/>
                <a:cs typeface="Arial"/>
              </a:rPr>
              <a:t>Chapter 5: Coordination</a:t>
            </a:r>
            <a:endParaRPr kumimoji="0" sz="1100" b="0" i="1" u="none" strike="noStrike" kern="0" cap="none" spc="0" normalizeH="0" baseline="0" noProof="0" dirty="0">
              <a:ln>
                <a:noFill/>
              </a:ln>
              <a:solidFill>
                <a:srgbClr val="EEECE1">
                  <a:lumMod val="50000"/>
                </a:srgbClr>
              </a:solidFill>
              <a:effectLst/>
              <a:uLnTx/>
              <a:uFillTx/>
              <a:latin typeface="Arial"/>
              <a:cs typeface="Arial"/>
            </a:endParaRPr>
          </a:p>
        </p:txBody>
      </p:sp>
    </p:spTree>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874135" algn="l"/>
              </a:tabLst>
            </a:pPr>
            <a:r>
              <a:rPr sz="500" spc="-10" dirty="0">
                <a:latin typeface="Arial"/>
                <a:cs typeface="Arial"/>
                <a:hlinkClick r:id="rId2" action="ppaction://hlinksldjump"/>
              </a:rPr>
              <a:t>Coordination</a:t>
            </a:r>
            <a:r>
              <a:rPr sz="500" dirty="0">
                <a:latin typeface="Arial"/>
                <a:cs typeface="Arial"/>
              </a:rPr>
              <a:t>	</a:t>
            </a:r>
            <a:r>
              <a:rPr sz="500" dirty="0">
                <a:solidFill>
                  <a:srgbClr val="FFFFFF"/>
                </a:solidFill>
                <a:latin typeface="Arial"/>
                <a:cs typeface="Arial"/>
                <a:hlinkClick r:id="rId2" action="ppaction://hlinksldjump"/>
              </a:rPr>
              <a:t>Clock</a:t>
            </a:r>
            <a:r>
              <a:rPr sz="500" spc="-30" dirty="0">
                <a:solidFill>
                  <a:srgbClr val="FFFFFF"/>
                </a:solidFill>
                <a:latin typeface="Arial"/>
                <a:cs typeface="Arial"/>
                <a:hlinkClick r:id="rId2" action="ppaction://hlinksldjump"/>
              </a:rPr>
              <a:t> </a:t>
            </a:r>
            <a:r>
              <a:rPr sz="500" spc="-10" dirty="0">
                <a:solidFill>
                  <a:srgbClr val="FFFFFF"/>
                </a:solidFill>
                <a:latin typeface="Arial"/>
                <a:cs typeface="Arial"/>
                <a:hlinkClick r:id="rId2" action="ppaction://hlinksldjump"/>
              </a:rPr>
              <a:t>synchronization</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0" dirty="0"/>
              <a:t>Physical clocks</a:t>
            </a:r>
          </a:p>
        </p:txBody>
      </p:sp>
      <p:sp>
        <p:nvSpPr>
          <p:cNvPr id="4" name="object 4"/>
          <p:cNvSpPr txBox="1"/>
          <p:nvPr/>
        </p:nvSpPr>
        <p:spPr>
          <a:xfrm>
            <a:off x="321894" y="499307"/>
            <a:ext cx="3950970" cy="2225040"/>
          </a:xfrm>
          <a:prstGeom prst="rect">
            <a:avLst/>
          </a:prstGeom>
        </p:spPr>
        <p:txBody>
          <a:bodyPr vert="horz" wrap="square" lIns="0" tIns="27305" rIns="0" bIns="0" rtlCol="0">
            <a:spAutoFit/>
          </a:bodyPr>
          <a:lstStyle/>
          <a:p>
            <a:pPr marL="38100">
              <a:lnSpc>
                <a:spcPct val="100000"/>
              </a:lnSpc>
              <a:spcBef>
                <a:spcPts val="215"/>
              </a:spcBef>
            </a:pPr>
            <a:r>
              <a:rPr sz="1000" spc="-10" dirty="0">
                <a:solidFill>
                  <a:srgbClr val="C80000"/>
                </a:solidFill>
                <a:latin typeface="Arial"/>
                <a:cs typeface="Arial"/>
              </a:rPr>
              <a:t>Problem</a:t>
            </a:r>
            <a:endParaRPr sz="1000">
              <a:latin typeface="Arial"/>
              <a:cs typeface="Arial"/>
            </a:endParaRPr>
          </a:p>
          <a:p>
            <a:pPr marL="38100">
              <a:lnSpc>
                <a:spcPct val="100000"/>
              </a:lnSpc>
              <a:spcBef>
                <a:spcPts val="105"/>
              </a:spcBef>
            </a:pPr>
            <a:r>
              <a:rPr sz="900" dirty="0">
                <a:latin typeface="Arial"/>
                <a:cs typeface="Arial"/>
              </a:rPr>
              <a:t>Sometimes</a:t>
            </a:r>
            <a:r>
              <a:rPr sz="900" spc="-30" dirty="0">
                <a:latin typeface="Arial"/>
                <a:cs typeface="Arial"/>
              </a:rPr>
              <a:t> </a:t>
            </a:r>
            <a:r>
              <a:rPr sz="900" dirty="0">
                <a:latin typeface="Arial"/>
                <a:cs typeface="Arial"/>
              </a:rPr>
              <a:t>we</a:t>
            </a:r>
            <a:r>
              <a:rPr sz="900" spc="-30" dirty="0">
                <a:latin typeface="Arial"/>
                <a:cs typeface="Arial"/>
              </a:rPr>
              <a:t> </a:t>
            </a:r>
            <a:r>
              <a:rPr sz="900" dirty="0">
                <a:latin typeface="Arial"/>
                <a:cs typeface="Arial"/>
              </a:rPr>
              <a:t>simply</a:t>
            </a:r>
            <a:r>
              <a:rPr sz="900" spc="-30" dirty="0">
                <a:latin typeface="Arial"/>
                <a:cs typeface="Arial"/>
              </a:rPr>
              <a:t> </a:t>
            </a:r>
            <a:r>
              <a:rPr sz="900" dirty="0">
                <a:latin typeface="Arial"/>
                <a:cs typeface="Arial"/>
              </a:rPr>
              <a:t>need</a:t>
            </a:r>
            <a:r>
              <a:rPr sz="900" spc="-30" dirty="0">
                <a:latin typeface="Arial"/>
                <a:cs typeface="Arial"/>
              </a:rPr>
              <a:t> </a:t>
            </a:r>
            <a:r>
              <a:rPr sz="900" dirty="0">
                <a:latin typeface="Arial"/>
                <a:cs typeface="Arial"/>
              </a:rPr>
              <a:t>the</a:t>
            </a:r>
            <a:r>
              <a:rPr sz="900" spc="-30" dirty="0">
                <a:latin typeface="Arial"/>
                <a:cs typeface="Arial"/>
              </a:rPr>
              <a:t> </a:t>
            </a:r>
            <a:r>
              <a:rPr sz="900" dirty="0">
                <a:latin typeface="Arial"/>
                <a:cs typeface="Arial"/>
              </a:rPr>
              <a:t>exact</a:t>
            </a:r>
            <a:r>
              <a:rPr sz="900" spc="-30" dirty="0">
                <a:latin typeface="Arial"/>
                <a:cs typeface="Arial"/>
              </a:rPr>
              <a:t> </a:t>
            </a:r>
            <a:r>
              <a:rPr sz="900" dirty="0">
                <a:latin typeface="Arial"/>
                <a:cs typeface="Arial"/>
              </a:rPr>
              <a:t>time,</a:t>
            </a:r>
            <a:r>
              <a:rPr sz="900" spc="-30" dirty="0">
                <a:latin typeface="Arial"/>
                <a:cs typeface="Arial"/>
              </a:rPr>
              <a:t> </a:t>
            </a:r>
            <a:r>
              <a:rPr sz="900" dirty="0">
                <a:latin typeface="Arial"/>
                <a:cs typeface="Arial"/>
              </a:rPr>
              <a:t>not</a:t>
            </a:r>
            <a:r>
              <a:rPr sz="900" spc="-30" dirty="0">
                <a:latin typeface="Arial"/>
                <a:cs typeface="Arial"/>
              </a:rPr>
              <a:t> </a:t>
            </a:r>
            <a:r>
              <a:rPr sz="900" dirty="0">
                <a:latin typeface="Arial"/>
                <a:cs typeface="Arial"/>
              </a:rPr>
              <a:t>just</a:t>
            </a:r>
            <a:r>
              <a:rPr sz="900" spc="-30" dirty="0">
                <a:latin typeface="Arial"/>
                <a:cs typeface="Arial"/>
              </a:rPr>
              <a:t> </a:t>
            </a:r>
            <a:r>
              <a:rPr sz="900" dirty="0">
                <a:latin typeface="Arial"/>
                <a:cs typeface="Arial"/>
              </a:rPr>
              <a:t>an</a:t>
            </a:r>
            <a:r>
              <a:rPr sz="900" spc="-30" dirty="0">
                <a:latin typeface="Arial"/>
                <a:cs typeface="Arial"/>
              </a:rPr>
              <a:t> </a:t>
            </a:r>
            <a:r>
              <a:rPr sz="900" spc="-10" dirty="0">
                <a:latin typeface="Arial"/>
                <a:cs typeface="Arial"/>
              </a:rPr>
              <a:t>ordering.</a:t>
            </a:r>
            <a:endParaRPr sz="900">
              <a:latin typeface="Arial"/>
              <a:cs typeface="Arial"/>
            </a:endParaRPr>
          </a:p>
          <a:p>
            <a:pPr marL="38100">
              <a:lnSpc>
                <a:spcPct val="100000"/>
              </a:lnSpc>
              <a:spcBef>
                <a:spcPts val="815"/>
              </a:spcBef>
            </a:pPr>
            <a:r>
              <a:rPr sz="1000" dirty="0">
                <a:solidFill>
                  <a:srgbClr val="3333B2"/>
                </a:solidFill>
                <a:latin typeface="Arial"/>
                <a:cs typeface="Arial"/>
              </a:rPr>
              <a:t>Solution:</a:t>
            </a:r>
            <a:r>
              <a:rPr sz="1000" spc="30" dirty="0">
                <a:solidFill>
                  <a:srgbClr val="3333B2"/>
                </a:solidFill>
                <a:latin typeface="Arial"/>
                <a:cs typeface="Arial"/>
              </a:rPr>
              <a:t> </a:t>
            </a:r>
            <a:r>
              <a:rPr sz="1000" spc="-10" dirty="0">
                <a:solidFill>
                  <a:srgbClr val="3333B2"/>
                </a:solidFill>
                <a:latin typeface="Arial"/>
                <a:cs typeface="Arial"/>
              </a:rPr>
              <a:t>Universal</a:t>
            </a:r>
            <a:r>
              <a:rPr sz="1000" spc="-25" dirty="0">
                <a:solidFill>
                  <a:srgbClr val="3333B2"/>
                </a:solidFill>
                <a:latin typeface="Arial"/>
                <a:cs typeface="Arial"/>
              </a:rPr>
              <a:t> </a:t>
            </a:r>
            <a:r>
              <a:rPr sz="1000" dirty="0">
                <a:solidFill>
                  <a:srgbClr val="3333B2"/>
                </a:solidFill>
                <a:latin typeface="Arial"/>
                <a:cs typeface="Arial"/>
              </a:rPr>
              <a:t>Coordinated</a:t>
            </a:r>
            <a:r>
              <a:rPr sz="1000" spc="-30" dirty="0">
                <a:solidFill>
                  <a:srgbClr val="3333B2"/>
                </a:solidFill>
                <a:latin typeface="Arial"/>
                <a:cs typeface="Arial"/>
              </a:rPr>
              <a:t> </a:t>
            </a:r>
            <a:r>
              <a:rPr sz="1000" dirty="0">
                <a:solidFill>
                  <a:srgbClr val="3333B2"/>
                </a:solidFill>
                <a:latin typeface="Arial"/>
                <a:cs typeface="Arial"/>
              </a:rPr>
              <a:t>Time</a:t>
            </a:r>
            <a:r>
              <a:rPr sz="1000" spc="-25" dirty="0">
                <a:solidFill>
                  <a:srgbClr val="3333B2"/>
                </a:solidFill>
                <a:latin typeface="Arial"/>
                <a:cs typeface="Arial"/>
              </a:rPr>
              <a:t> </a:t>
            </a:r>
            <a:r>
              <a:rPr sz="1000" spc="-10" dirty="0">
                <a:solidFill>
                  <a:srgbClr val="3333B2"/>
                </a:solidFill>
                <a:latin typeface="Arial"/>
                <a:cs typeface="Arial"/>
              </a:rPr>
              <a:t>(UTC)</a:t>
            </a:r>
            <a:endParaRPr sz="1000">
              <a:latin typeface="Arial"/>
              <a:cs typeface="Arial"/>
            </a:endParaRPr>
          </a:p>
          <a:p>
            <a:pPr marL="287020" marR="78105" indent="-116839">
              <a:lnSpc>
                <a:spcPct val="111600"/>
              </a:lnSpc>
              <a:spcBef>
                <a:spcPts val="570"/>
              </a:spcBef>
              <a:buClr>
                <a:srgbClr val="3333B2"/>
              </a:buClr>
              <a:buFont typeface="Menlo"/>
              <a:buChar char="•"/>
              <a:tabLst>
                <a:tab pos="291465" algn="l"/>
              </a:tabLst>
            </a:pPr>
            <a:r>
              <a:rPr sz="900" dirty="0">
                <a:latin typeface="Arial"/>
                <a:cs typeface="Arial"/>
              </a:rPr>
              <a:t>Based</a:t>
            </a:r>
            <a:r>
              <a:rPr sz="900" spc="-30" dirty="0">
                <a:latin typeface="Arial"/>
                <a:cs typeface="Arial"/>
              </a:rPr>
              <a:t> </a:t>
            </a:r>
            <a:r>
              <a:rPr sz="900" dirty="0">
                <a:latin typeface="Arial"/>
                <a:cs typeface="Arial"/>
              </a:rPr>
              <a:t>on</a:t>
            </a:r>
            <a:r>
              <a:rPr sz="900" spc="-25" dirty="0">
                <a:latin typeface="Arial"/>
                <a:cs typeface="Arial"/>
              </a:rPr>
              <a:t> </a:t>
            </a:r>
            <a:r>
              <a:rPr sz="900" dirty="0">
                <a:latin typeface="Arial"/>
                <a:cs typeface="Arial"/>
              </a:rPr>
              <a:t>the</a:t>
            </a:r>
            <a:r>
              <a:rPr sz="900" spc="-25" dirty="0">
                <a:latin typeface="Arial"/>
                <a:cs typeface="Arial"/>
              </a:rPr>
              <a:t> </a:t>
            </a:r>
            <a:r>
              <a:rPr sz="900" dirty="0">
                <a:latin typeface="Arial"/>
                <a:cs typeface="Arial"/>
              </a:rPr>
              <a:t>number</a:t>
            </a:r>
            <a:r>
              <a:rPr sz="900" spc="-25" dirty="0">
                <a:latin typeface="Arial"/>
                <a:cs typeface="Arial"/>
              </a:rPr>
              <a:t> </a:t>
            </a:r>
            <a:r>
              <a:rPr sz="900" dirty="0">
                <a:latin typeface="Arial"/>
                <a:cs typeface="Arial"/>
              </a:rPr>
              <a:t>of</a:t>
            </a:r>
            <a:r>
              <a:rPr sz="900" spc="-30" dirty="0">
                <a:latin typeface="Arial"/>
                <a:cs typeface="Arial"/>
              </a:rPr>
              <a:t> </a:t>
            </a:r>
            <a:r>
              <a:rPr sz="900" dirty="0">
                <a:latin typeface="Arial"/>
                <a:cs typeface="Arial"/>
              </a:rPr>
              <a:t>transitions</a:t>
            </a:r>
            <a:r>
              <a:rPr sz="900" spc="-25" dirty="0">
                <a:latin typeface="Arial"/>
                <a:cs typeface="Arial"/>
              </a:rPr>
              <a:t> </a:t>
            </a:r>
            <a:r>
              <a:rPr sz="900" dirty="0">
                <a:latin typeface="Arial"/>
                <a:cs typeface="Arial"/>
              </a:rPr>
              <a:t>per</a:t>
            </a:r>
            <a:r>
              <a:rPr sz="900" spc="-25" dirty="0">
                <a:latin typeface="Arial"/>
                <a:cs typeface="Arial"/>
              </a:rPr>
              <a:t> </a:t>
            </a:r>
            <a:r>
              <a:rPr sz="900" dirty="0">
                <a:latin typeface="Arial"/>
                <a:cs typeface="Arial"/>
              </a:rPr>
              <a:t>second</a:t>
            </a:r>
            <a:r>
              <a:rPr sz="900" spc="-25" dirty="0">
                <a:latin typeface="Arial"/>
                <a:cs typeface="Arial"/>
              </a:rPr>
              <a:t> </a:t>
            </a:r>
            <a:r>
              <a:rPr sz="900" dirty="0">
                <a:latin typeface="Arial"/>
                <a:cs typeface="Arial"/>
              </a:rPr>
              <a:t>of</a:t>
            </a:r>
            <a:r>
              <a:rPr sz="900" spc="-25" dirty="0">
                <a:latin typeface="Arial"/>
                <a:cs typeface="Arial"/>
              </a:rPr>
              <a:t> </a:t>
            </a:r>
            <a:r>
              <a:rPr sz="900" dirty="0">
                <a:latin typeface="Arial"/>
                <a:cs typeface="Arial"/>
              </a:rPr>
              <a:t>the</a:t>
            </a:r>
            <a:r>
              <a:rPr sz="900" spc="-30" dirty="0">
                <a:latin typeface="Arial"/>
                <a:cs typeface="Arial"/>
              </a:rPr>
              <a:t> </a:t>
            </a:r>
            <a:r>
              <a:rPr sz="900" dirty="0">
                <a:latin typeface="Arial"/>
                <a:cs typeface="Arial"/>
              </a:rPr>
              <a:t>cesium</a:t>
            </a:r>
            <a:r>
              <a:rPr sz="900" spc="-25" dirty="0">
                <a:latin typeface="Arial"/>
                <a:cs typeface="Arial"/>
              </a:rPr>
              <a:t> </a:t>
            </a:r>
            <a:r>
              <a:rPr sz="900" dirty="0">
                <a:latin typeface="Arial"/>
                <a:cs typeface="Arial"/>
              </a:rPr>
              <a:t>133</a:t>
            </a:r>
            <a:r>
              <a:rPr sz="900" spc="-25" dirty="0">
                <a:latin typeface="Arial"/>
                <a:cs typeface="Arial"/>
              </a:rPr>
              <a:t> </a:t>
            </a:r>
            <a:r>
              <a:rPr sz="900" spc="-20" dirty="0">
                <a:latin typeface="Arial"/>
                <a:cs typeface="Arial"/>
              </a:rPr>
              <a:t>atom </a:t>
            </a:r>
            <a:r>
              <a:rPr sz="900" dirty="0">
                <a:latin typeface="Arial"/>
                <a:cs typeface="Arial"/>
              </a:rPr>
              <a:t>(pretty</a:t>
            </a:r>
            <a:r>
              <a:rPr sz="900" spc="-35" dirty="0">
                <a:latin typeface="Arial"/>
                <a:cs typeface="Arial"/>
              </a:rPr>
              <a:t> </a:t>
            </a:r>
            <a:r>
              <a:rPr sz="900" spc="-10" dirty="0">
                <a:latin typeface="Arial"/>
                <a:cs typeface="Arial"/>
              </a:rPr>
              <a:t>accurate).</a:t>
            </a:r>
            <a:endParaRPr sz="900">
              <a:latin typeface="Arial"/>
              <a:cs typeface="Arial"/>
            </a:endParaRPr>
          </a:p>
          <a:p>
            <a:pPr marL="290830" marR="259079" indent="-120650">
              <a:lnSpc>
                <a:spcPct val="111600"/>
              </a:lnSpc>
              <a:buClr>
                <a:srgbClr val="3333B2"/>
              </a:buClr>
              <a:buFont typeface="Menlo"/>
              <a:buChar char="•"/>
              <a:tabLst>
                <a:tab pos="287655" algn="l"/>
              </a:tabLst>
            </a:pPr>
            <a:r>
              <a:rPr sz="900" dirty="0">
                <a:latin typeface="Arial"/>
                <a:cs typeface="Arial"/>
              </a:rPr>
              <a:t>At</a:t>
            </a:r>
            <a:r>
              <a:rPr sz="900" spc="-25" dirty="0">
                <a:latin typeface="Arial"/>
                <a:cs typeface="Arial"/>
              </a:rPr>
              <a:t> </a:t>
            </a:r>
            <a:r>
              <a:rPr sz="900" dirty="0">
                <a:latin typeface="Arial"/>
                <a:cs typeface="Arial"/>
              </a:rPr>
              <a:t>present,</a:t>
            </a:r>
            <a:r>
              <a:rPr sz="900" spc="-20" dirty="0">
                <a:latin typeface="Arial"/>
                <a:cs typeface="Arial"/>
              </a:rPr>
              <a:t> </a:t>
            </a:r>
            <a:r>
              <a:rPr sz="900" dirty="0">
                <a:latin typeface="Arial"/>
                <a:cs typeface="Arial"/>
              </a:rPr>
              <a:t>the</a:t>
            </a:r>
            <a:r>
              <a:rPr sz="900" spc="-20" dirty="0">
                <a:latin typeface="Arial"/>
                <a:cs typeface="Arial"/>
              </a:rPr>
              <a:t> </a:t>
            </a:r>
            <a:r>
              <a:rPr sz="900" dirty="0">
                <a:latin typeface="Arial"/>
                <a:cs typeface="Arial"/>
              </a:rPr>
              <a:t>real</a:t>
            </a:r>
            <a:r>
              <a:rPr sz="900" spc="-25" dirty="0">
                <a:latin typeface="Arial"/>
                <a:cs typeface="Arial"/>
              </a:rPr>
              <a:t> </a:t>
            </a:r>
            <a:r>
              <a:rPr sz="900" dirty="0">
                <a:latin typeface="Arial"/>
                <a:cs typeface="Arial"/>
              </a:rPr>
              <a:t>time</a:t>
            </a:r>
            <a:r>
              <a:rPr sz="900" spc="-20" dirty="0">
                <a:latin typeface="Arial"/>
                <a:cs typeface="Arial"/>
              </a:rPr>
              <a:t> </a:t>
            </a:r>
            <a:r>
              <a:rPr sz="900" dirty="0">
                <a:latin typeface="Arial"/>
                <a:cs typeface="Arial"/>
              </a:rPr>
              <a:t>is</a:t>
            </a:r>
            <a:r>
              <a:rPr sz="900" spc="-20" dirty="0">
                <a:latin typeface="Arial"/>
                <a:cs typeface="Arial"/>
              </a:rPr>
              <a:t> </a:t>
            </a:r>
            <a:r>
              <a:rPr sz="900" dirty="0">
                <a:latin typeface="Arial"/>
                <a:cs typeface="Arial"/>
              </a:rPr>
              <a:t>taken</a:t>
            </a:r>
            <a:r>
              <a:rPr sz="900" spc="-20" dirty="0">
                <a:latin typeface="Arial"/>
                <a:cs typeface="Arial"/>
              </a:rPr>
              <a:t> </a:t>
            </a:r>
            <a:r>
              <a:rPr sz="900" dirty="0">
                <a:latin typeface="Arial"/>
                <a:cs typeface="Arial"/>
              </a:rPr>
              <a:t>as</a:t>
            </a:r>
            <a:r>
              <a:rPr sz="900" spc="-25" dirty="0">
                <a:latin typeface="Arial"/>
                <a:cs typeface="Arial"/>
              </a:rPr>
              <a:t> </a:t>
            </a:r>
            <a:r>
              <a:rPr sz="900" dirty="0">
                <a:latin typeface="Arial"/>
                <a:cs typeface="Arial"/>
              </a:rPr>
              <a:t>the</a:t>
            </a:r>
            <a:r>
              <a:rPr sz="900" spc="-20" dirty="0">
                <a:latin typeface="Arial"/>
                <a:cs typeface="Arial"/>
              </a:rPr>
              <a:t> </a:t>
            </a:r>
            <a:r>
              <a:rPr sz="900" spc="-10" dirty="0">
                <a:latin typeface="Arial"/>
                <a:cs typeface="Arial"/>
              </a:rPr>
              <a:t>average</a:t>
            </a:r>
            <a:r>
              <a:rPr sz="900" spc="-20" dirty="0">
                <a:latin typeface="Arial"/>
                <a:cs typeface="Arial"/>
              </a:rPr>
              <a:t> </a:t>
            </a:r>
            <a:r>
              <a:rPr sz="900" dirty="0">
                <a:latin typeface="Arial"/>
                <a:cs typeface="Arial"/>
              </a:rPr>
              <a:t>of</a:t>
            </a:r>
            <a:r>
              <a:rPr sz="900" spc="-25" dirty="0">
                <a:latin typeface="Arial"/>
                <a:cs typeface="Arial"/>
              </a:rPr>
              <a:t> </a:t>
            </a:r>
            <a:r>
              <a:rPr sz="900" dirty="0">
                <a:latin typeface="Arial"/>
                <a:cs typeface="Arial"/>
              </a:rPr>
              <a:t>some</a:t>
            </a:r>
            <a:r>
              <a:rPr sz="900" spc="-20" dirty="0">
                <a:latin typeface="Arial"/>
                <a:cs typeface="Arial"/>
              </a:rPr>
              <a:t> </a:t>
            </a:r>
            <a:r>
              <a:rPr sz="900" dirty="0">
                <a:latin typeface="Arial"/>
                <a:cs typeface="Arial"/>
              </a:rPr>
              <a:t>50</a:t>
            </a:r>
            <a:r>
              <a:rPr sz="900" spc="-20" dirty="0">
                <a:latin typeface="Arial"/>
                <a:cs typeface="Arial"/>
              </a:rPr>
              <a:t> </a:t>
            </a:r>
            <a:r>
              <a:rPr sz="900" spc="-10" dirty="0">
                <a:latin typeface="Arial"/>
                <a:cs typeface="Arial"/>
              </a:rPr>
              <a:t>cesium </a:t>
            </a:r>
            <a:r>
              <a:rPr sz="900" dirty="0">
                <a:latin typeface="Arial"/>
                <a:cs typeface="Arial"/>
              </a:rPr>
              <a:t>clocks</a:t>
            </a:r>
            <a:r>
              <a:rPr sz="900" spc="-35" dirty="0">
                <a:latin typeface="Arial"/>
                <a:cs typeface="Arial"/>
              </a:rPr>
              <a:t> </a:t>
            </a:r>
            <a:r>
              <a:rPr sz="900" dirty="0">
                <a:latin typeface="Arial"/>
                <a:cs typeface="Arial"/>
              </a:rPr>
              <a:t>around</a:t>
            </a:r>
            <a:r>
              <a:rPr sz="900" spc="-35" dirty="0">
                <a:latin typeface="Arial"/>
                <a:cs typeface="Arial"/>
              </a:rPr>
              <a:t> </a:t>
            </a:r>
            <a:r>
              <a:rPr sz="900" dirty="0">
                <a:latin typeface="Arial"/>
                <a:cs typeface="Arial"/>
              </a:rPr>
              <a:t>the</a:t>
            </a:r>
            <a:r>
              <a:rPr sz="900" spc="-35" dirty="0">
                <a:latin typeface="Arial"/>
                <a:cs typeface="Arial"/>
              </a:rPr>
              <a:t> </a:t>
            </a:r>
            <a:r>
              <a:rPr sz="900" spc="-10" dirty="0">
                <a:latin typeface="Arial"/>
                <a:cs typeface="Arial"/>
              </a:rPr>
              <a:t>world.</a:t>
            </a:r>
            <a:endParaRPr sz="900">
              <a:latin typeface="Arial"/>
              <a:cs typeface="Arial"/>
            </a:endParaRPr>
          </a:p>
          <a:p>
            <a:pPr marL="290830" marR="34925" indent="-120650">
              <a:lnSpc>
                <a:spcPct val="111600"/>
              </a:lnSpc>
              <a:buClr>
                <a:srgbClr val="3333B2"/>
              </a:buClr>
              <a:buFont typeface="Menlo"/>
              <a:buChar char="•"/>
              <a:tabLst>
                <a:tab pos="291465" algn="l"/>
              </a:tabLst>
            </a:pPr>
            <a:r>
              <a:rPr sz="900" dirty="0">
                <a:latin typeface="Arial"/>
                <a:cs typeface="Arial"/>
              </a:rPr>
              <a:t>Introduces</a:t>
            </a:r>
            <a:r>
              <a:rPr sz="900" spc="-30" dirty="0">
                <a:latin typeface="Arial"/>
                <a:cs typeface="Arial"/>
              </a:rPr>
              <a:t> </a:t>
            </a:r>
            <a:r>
              <a:rPr sz="900" dirty="0">
                <a:latin typeface="Arial"/>
                <a:cs typeface="Arial"/>
              </a:rPr>
              <a:t>a</a:t>
            </a:r>
            <a:r>
              <a:rPr sz="900" spc="-30" dirty="0">
                <a:latin typeface="Arial"/>
                <a:cs typeface="Arial"/>
              </a:rPr>
              <a:t> </a:t>
            </a:r>
            <a:r>
              <a:rPr sz="900" dirty="0">
                <a:latin typeface="Arial"/>
                <a:cs typeface="Arial"/>
              </a:rPr>
              <a:t>leap</a:t>
            </a:r>
            <a:r>
              <a:rPr sz="900" spc="-25" dirty="0">
                <a:latin typeface="Arial"/>
                <a:cs typeface="Arial"/>
              </a:rPr>
              <a:t> </a:t>
            </a:r>
            <a:r>
              <a:rPr sz="900" dirty="0">
                <a:latin typeface="Arial"/>
                <a:cs typeface="Arial"/>
              </a:rPr>
              <a:t>second</a:t>
            </a:r>
            <a:r>
              <a:rPr sz="900" spc="-30" dirty="0">
                <a:latin typeface="Arial"/>
                <a:cs typeface="Arial"/>
              </a:rPr>
              <a:t> </a:t>
            </a:r>
            <a:r>
              <a:rPr sz="900" dirty="0">
                <a:latin typeface="Arial"/>
                <a:cs typeface="Arial"/>
              </a:rPr>
              <a:t>from</a:t>
            </a:r>
            <a:r>
              <a:rPr sz="900" spc="-25" dirty="0">
                <a:latin typeface="Arial"/>
                <a:cs typeface="Arial"/>
              </a:rPr>
              <a:t> </a:t>
            </a:r>
            <a:r>
              <a:rPr sz="900" dirty="0">
                <a:latin typeface="Arial"/>
                <a:cs typeface="Arial"/>
              </a:rPr>
              <a:t>time</a:t>
            </a:r>
            <a:r>
              <a:rPr sz="900" spc="-30"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time</a:t>
            </a:r>
            <a:r>
              <a:rPr sz="900" spc="-30"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compensate</a:t>
            </a:r>
            <a:r>
              <a:rPr sz="900" spc="-30" dirty="0">
                <a:latin typeface="Arial"/>
                <a:cs typeface="Arial"/>
              </a:rPr>
              <a:t> </a:t>
            </a:r>
            <a:r>
              <a:rPr sz="900" dirty="0">
                <a:latin typeface="Arial"/>
                <a:cs typeface="Arial"/>
              </a:rPr>
              <a:t>that</a:t>
            </a:r>
            <a:r>
              <a:rPr sz="900" spc="-30" dirty="0">
                <a:latin typeface="Arial"/>
                <a:cs typeface="Arial"/>
              </a:rPr>
              <a:t> </a:t>
            </a:r>
            <a:r>
              <a:rPr sz="900" dirty="0">
                <a:latin typeface="Arial"/>
                <a:cs typeface="Arial"/>
              </a:rPr>
              <a:t>days</a:t>
            </a:r>
            <a:r>
              <a:rPr sz="900" spc="-25" dirty="0">
                <a:latin typeface="Arial"/>
                <a:cs typeface="Arial"/>
              </a:rPr>
              <a:t> are </a:t>
            </a:r>
            <a:r>
              <a:rPr sz="900" dirty="0">
                <a:latin typeface="Arial"/>
                <a:cs typeface="Arial"/>
              </a:rPr>
              <a:t>getting</a:t>
            </a:r>
            <a:r>
              <a:rPr sz="900" spc="-35" dirty="0">
                <a:latin typeface="Arial"/>
                <a:cs typeface="Arial"/>
              </a:rPr>
              <a:t> </a:t>
            </a:r>
            <a:r>
              <a:rPr sz="900" spc="-10" dirty="0">
                <a:latin typeface="Arial"/>
                <a:cs typeface="Arial"/>
              </a:rPr>
              <a:t>longer.</a:t>
            </a:r>
            <a:endParaRPr sz="900">
              <a:latin typeface="Arial"/>
              <a:cs typeface="Arial"/>
            </a:endParaRPr>
          </a:p>
          <a:p>
            <a:pPr>
              <a:lnSpc>
                <a:spcPct val="100000"/>
              </a:lnSpc>
              <a:spcBef>
                <a:spcPts val="30"/>
              </a:spcBef>
            </a:pPr>
            <a:endParaRPr sz="1200">
              <a:latin typeface="Arial"/>
              <a:cs typeface="Arial"/>
            </a:endParaRPr>
          </a:p>
          <a:p>
            <a:pPr marL="38100">
              <a:lnSpc>
                <a:spcPct val="100000"/>
              </a:lnSpc>
            </a:pPr>
            <a:r>
              <a:rPr sz="1000" spc="-20" dirty="0">
                <a:solidFill>
                  <a:srgbClr val="3333B2"/>
                </a:solidFill>
                <a:latin typeface="Arial"/>
                <a:cs typeface="Arial"/>
              </a:rPr>
              <a:t>Note</a:t>
            </a:r>
            <a:endParaRPr sz="1000">
              <a:latin typeface="Arial"/>
              <a:cs typeface="Arial"/>
            </a:endParaRPr>
          </a:p>
          <a:p>
            <a:pPr marL="38100" marR="17780">
              <a:lnSpc>
                <a:spcPts val="1210"/>
              </a:lnSpc>
              <a:spcBef>
                <a:spcPts val="35"/>
              </a:spcBef>
            </a:pPr>
            <a:r>
              <a:rPr sz="900" dirty="0">
                <a:latin typeface="Arial"/>
                <a:cs typeface="Arial"/>
              </a:rPr>
              <a:t>UTC</a:t>
            </a:r>
            <a:r>
              <a:rPr sz="900" spc="-35" dirty="0">
                <a:latin typeface="Arial"/>
                <a:cs typeface="Arial"/>
              </a:rPr>
              <a:t> </a:t>
            </a:r>
            <a:r>
              <a:rPr sz="900" dirty="0">
                <a:latin typeface="Arial"/>
                <a:cs typeface="Arial"/>
              </a:rPr>
              <a:t>is</a:t>
            </a:r>
            <a:r>
              <a:rPr sz="900" spc="-30" dirty="0">
                <a:latin typeface="Arial"/>
                <a:cs typeface="Arial"/>
              </a:rPr>
              <a:t> </a:t>
            </a:r>
            <a:r>
              <a:rPr sz="900" spc="-10" dirty="0">
                <a:solidFill>
                  <a:srgbClr val="3333B2"/>
                </a:solidFill>
                <a:latin typeface="Arial"/>
                <a:cs typeface="Arial"/>
              </a:rPr>
              <a:t>broadcast</a:t>
            </a:r>
            <a:r>
              <a:rPr sz="900" spc="-30" dirty="0">
                <a:solidFill>
                  <a:srgbClr val="3333B2"/>
                </a:solidFill>
                <a:latin typeface="Arial"/>
                <a:cs typeface="Arial"/>
              </a:rPr>
              <a:t> </a:t>
            </a:r>
            <a:r>
              <a:rPr sz="900" spc="-10" dirty="0">
                <a:latin typeface="Arial"/>
                <a:cs typeface="Arial"/>
              </a:rPr>
              <a:t>through</a:t>
            </a:r>
            <a:r>
              <a:rPr sz="900" spc="-30" dirty="0">
                <a:latin typeface="Arial"/>
                <a:cs typeface="Arial"/>
              </a:rPr>
              <a:t> </a:t>
            </a:r>
            <a:r>
              <a:rPr sz="900" spc="-10" dirty="0">
                <a:latin typeface="Arial"/>
                <a:cs typeface="Arial"/>
              </a:rPr>
              <a:t>short-</a:t>
            </a:r>
            <a:r>
              <a:rPr sz="900" spc="-25" dirty="0">
                <a:latin typeface="Arial"/>
                <a:cs typeface="Arial"/>
              </a:rPr>
              <a:t>wave</a:t>
            </a:r>
            <a:r>
              <a:rPr sz="900" spc="-30" dirty="0">
                <a:latin typeface="Arial"/>
                <a:cs typeface="Arial"/>
              </a:rPr>
              <a:t> </a:t>
            </a:r>
            <a:r>
              <a:rPr sz="900" spc="-10" dirty="0">
                <a:latin typeface="Arial"/>
                <a:cs typeface="Arial"/>
              </a:rPr>
              <a:t>radio</a:t>
            </a:r>
            <a:r>
              <a:rPr sz="900" spc="-30" dirty="0">
                <a:latin typeface="Arial"/>
                <a:cs typeface="Arial"/>
              </a:rPr>
              <a:t> </a:t>
            </a:r>
            <a:r>
              <a:rPr sz="900" dirty="0">
                <a:latin typeface="Arial"/>
                <a:cs typeface="Arial"/>
              </a:rPr>
              <a:t>and</a:t>
            </a:r>
            <a:r>
              <a:rPr sz="900" spc="-30" dirty="0">
                <a:latin typeface="Arial"/>
                <a:cs typeface="Arial"/>
              </a:rPr>
              <a:t> </a:t>
            </a:r>
            <a:r>
              <a:rPr sz="900" spc="-10" dirty="0">
                <a:latin typeface="Arial"/>
                <a:cs typeface="Arial"/>
              </a:rPr>
              <a:t>satellite.</a:t>
            </a:r>
            <a:r>
              <a:rPr sz="900" spc="20" dirty="0">
                <a:latin typeface="Arial"/>
                <a:cs typeface="Arial"/>
              </a:rPr>
              <a:t> </a:t>
            </a:r>
            <a:r>
              <a:rPr sz="900" spc="-10" dirty="0">
                <a:latin typeface="Arial"/>
                <a:cs typeface="Arial"/>
              </a:rPr>
              <a:t>Satellites</a:t>
            </a:r>
            <a:r>
              <a:rPr sz="900" spc="-30" dirty="0">
                <a:latin typeface="Arial"/>
                <a:cs typeface="Arial"/>
              </a:rPr>
              <a:t> </a:t>
            </a:r>
            <a:r>
              <a:rPr sz="900" dirty="0">
                <a:latin typeface="Arial"/>
                <a:cs typeface="Arial"/>
              </a:rPr>
              <a:t>can</a:t>
            </a:r>
            <a:r>
              <a:rPr sz="900" spc="-30" dirty="0">
                <a:latin typeface="Arial"/>
                <a:cs typeface="Arial"/>
              </a:rPr>
              <a:t> </a:t>
            </a:r>
            <a:r>
              <a:rPr sz="900" spc="-10" dirty="0">
                <a:latin typeface="Arial"/>
                <a:cs typeface="Arial"/>
              </a:rPr>
              <a:t>give</a:t>
            </a:r>
            <a:r>
              <a:rPr sz="900" spc="-30" dirty="0">
                <a:latin typeface="Arial"/>
                <a:cs typeface="Arial"/>
              </a:rPr>
              <a:t> </a:t>
            </a:r>
            <a:r>
              <a:rPr sz="900" spc="-25" dirty="0">
                <a:latin typeface="Arial"/>
                <a:cs typeface="Arial"/>
              </a:rPr>
              <a:t>an </a:t>
            </a:r>
            <a:r>
              <a:rPr sz="900" dirty="0">
                <a:latin typeface="Arial"/>
                <a:cs typeface="Arial"/>
              </a:rPr>
              <a:t>accuracy</a:t>
            </a:r>
            <a:r>
              <a:rPr sz="900" spc="15" dirty="0">
                <a:latin typeface="Arial"/>
                <a:cs typeface="Arial"/>
              </a:rPr>
              <a:t> </a:t>
            </a:r>
            <a:r>
              <a:rPr sz="900" dirty="0">
                <a:latin typeface="Arial"/>
                <a:cs typeface="Arial"/>
              </a:rPr>
              <a:t>of</a:t>
            </a:r>
            <a:r>
              <a:rPr sz="900" spc="20" dirty="0">
                <a:latin typeface="Arial"/>
                <a:cs typeface="Arial"/>
              </a:rPr>
              <a:t> </a:t>
            </a:r>
            <a:r>
              <a:rPr sz="900" dirty="0">
                <a:latin typeface="Arial"/>
                <a:cs typeface="Arial"/>
              </a:rPr>
              <a:t>about</a:t>
            </a:r>
            <a:r>
              <a:rPr sz="900" spc="20" dirty="0">
                <a:latin typeface="Arial"/>
                <a:cs typeface="Arial"/>
              </a:rPr>
              <a:t> </a:t>
            </a:r>
            <a:r>
              <a:rPr sz="900" i="1" dirty="0">
                <a:latin typeface="Menlo"/>
                <a:cs typeface="Menlo"/>
              </a:rPr>
              <a:t>±</a:t>
            </a:r>
            <a:r>
              <a:rPr sz="900" dirty="0">
                <a:latin typeface="Arial"/>
                <a:cs typeface="Arial"/>
              </a:rPr>
              <a:t>0</a:t>
            </a:r>
            <a:r>
              <a:rPr sz="900" i="1" dirty="0">
                <a:latin typeface="STIX Two Text"/>
                <a:cs typeface="STIX Two Text"/>
              </a:rPr>
              <a:t>.</a:t>
            </a:r>
            <a:r>
              <a:rPr sz="900" dirty="0">
                <a:latin typeface="Arial"/>
                <a:cs typeface="Arial"/>
              </a:rPr>
              <a:t>5</a:t>
            </a:r>
            <a:r>
              <a:rPr sz="900" spc="20" dirty="0">
                <a:latin typeface="Arial"/>
                <a:cs typeface="Arial"/>
              </a:rPr>
              <a:t> </a:t>
            </a:r>
            <a:r>
              <a:rPr sz="900" spc="-25" dirty="0">
                <a:latin typeface="Arial"/>
                <a:cs typeface="Arial"/>
              </a:rPr>
              <a:t>ms.</a:t>
            </a:r>
            <a:endParaRPr sz="900">
              <a:latin typeface="Arial"/>
              <a:cs typeface="Arial"/>
            </a:endParaRPr>
          </a:p>
        </p:txBody>
      </p:sp>
      <p:sp>
        <p:nvSpPr>
          <p:cNvPr id="5" name="object 5"/>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6" name="object 6"/>
          <p:cNvSpPr txBox="1"/>
          <p:nvPr/>
        </p:nvSpPr>
        <p:spPr>
          <a:xfrm>
            <a:off x="53467" y="3346954"/>
            <a:ext cx="451484"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Physical</a:t>
            </a:r>
            <a:r>
              <a:rPr sz="500" spc="40" dirty="0">
                <a:latin typeface="Arial"/>
                <a:cs typeface="Arial"/>
                <a:hlinkClick r:id="rId2" action="ppaction://hlinksldjump"/>
              </a:rPr>
              <a:t> </a:t>
            </a:r>
            <a:r>
              <a:rPr sz="500" spc="-10" dirty="0">
                <a:latin typeface="Arial"/>
                <a:cs typeface="Arial"/>
                <a:hlinkClick r:id="rId2" action="ppaction://hlinksldjump"/>
              </a:rPr>
              <a:t>clocks</a:t>
            </a:r>
            <a:endParaRPr sz="500">
              <a:latin typeface="Arial"/>
              <a:cs typeface="Arial"/>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874135" algn="l"/>
              </a:tabLst>
            </a:pPr>
            <a:r>
              <a:rPr sz="500" spc="-10" dirty="0">
                <a:latin typeface="Arial"/>
                <a:cs typeface="Arial"/>
                <a:hlinkClick r:id="rId2" action="ppaction://hlinksldjump"/>
              </a:rPr>
              <a:t>Coordination</a:t>
            </a:r>
            <a:r>
              <a:rPr sz="500" dirty="0">
                <a:latin typeface="Arial"/>
                <a:cs typeface="Arial"/>
              </a:rPr>
              <a:t>	</a:t>
            </a:r>
            <a:r>
              <a:rPr sz="500" dirty="0">
                <a:solidFill>
                  <a:srgbClr val="FFFFFF"/>
                </a:solidFill>
                <a:latin typeface="Arial"/>
                <a:cs typeface="Arial"/>
                <a:hlinkClick r:id="rId2" action="ppaction://hlinksldjump"/>
              </a:rPr>
              <a:t>Clock</a:t>
            </a:r>
            <a:r>
              <a:rPr sz="500" spc="-30" dirty="0">
                <a:solidFill>
                  <a:srgbClr val="FFFFFF"/>
                </a:solidFill>
                <a:latin typeface="Arial"/>
                <a:cs typeface="Arial"/>
                <a:hlinkClick r:id="rId2" action="ppaction://hlinksldjump"/>
              </a:rPr>
              <a:t> </a:t>
            </a:r>
            <a:r>
              <a:rPr sz="500" spc="-10" dirty="0">
                <a:solidFill>
                  <a:srgbClr val="FFFFFF"/>
                </a:solidFill>
                <a:latin typeface="Arial"/>
                <a:cs typeface="Arial"/>
                <a:hlinkClick r:id="rId2" action="ppaction://hlinksldjump"/>
              </a:rPr>
              <a:t>synchronization</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Clock</a:t>
            </a:r>
            <a:r>
              <a:rPr spc="-70" dirty="0"/>
              <a:t> </a:t>
            </a:r>
            <a:r>
              <a:rPr spc="-10" dirty="0"/>
              <a:t>synchronization</a:t>
            </a:r>
          </a:p>
        </p:txBody>
      </p:sp>
      <p:sp>
        <p:nvSpPr>
          <p:cNvPr id="4" name="object 4"/>
          <p:cNvSpPr txBox="1"/>
          <p:nvPr/>
        </p:nvSpPr>
        <p:spPr>
          <a:xfrm>
            <a:off x="309194" y="499476"/>
            <a:ext cx="3832225" cy="2487295"/>
          </a:xfrm>
          <a:prstGeom prst="rect">
            <a:avLst/>
          </a:prstGeom>
        </p:spPr>
        <p:txBody>
          <a:bodyPr vert="horz" wrap="square" lIns="0" tIns="27305" rIns="0" bIns="0" rtlCol="0">
            <a:spAutoFit/>
          </a:bodyPr>
          <a:lstStyle/>
          <a:p>
            <a:pPr marL="50800">
              <a:lnSpc>
                <a:spcPct val="100000"/>
              </a:lnSpc>
              <a:spcBef>
                <a:spcPts val="215"/>
              </a:spcBef>
            </a:pPr>
            <a:r>
              <a:rPr sz="1000" spc="-10" dirty="0">
                <a:solidFill>
                  <a:srgbClr val="3333B2"/>
                </a:solidFill>
                <a:latin typeface="Arial"/>
                <a:cs typeface="Arial"/>
              </a:rPr>
              <a:t>Precision</a:t>
            </a:r>
            <a:endParaRPr sz="1000">
              <a:latin typeface="Arial"/>
              <a:cs typeface="Arial"/>
            </a:endParaRPr>
          </a:p>
          <a:p>
            <a:pPr marL="46355" marR="30480">
              <a:lnSpc>
                <a:spcPts val="1210"/>
              </a:lnSpc>
              <a:spcBef>
                <a:spcPts val="35"/>
              </a:spcBef>
            </a:pPr>
            <a:r>
              <a:rPr sz="900" dirty="0">
                <a:latin typeface="Arial"/>
                <a:cs typeface="Arial"/>
              </a:rPr>
              <a:t>The</a:t>
            </a:r>
            <a:r>
              <a:rPr sz="900" spc="-25" dirty="0">
                <a:latin typeface="Arial"/>
                <a:cs typeface="Arial"/>
              </a:rPr>
              <a:t> </a:t>
            </a:r>
            <a:r>
              <a:rPr sz="900" dirty="0">
                <a:latin typeface="Arial"/>
                <a:cs typeface="Arial"/>
              </a:rPr>
              <a:t>goal</a:t>
            </a:r>
            <a:r>
              <a:rPr sz="900" spc="-25" dirty="0">
                <a:latin typeface="Arial"/>
                <a:cs typeface="Arial"/>
              </a:rPr>
              <a:t> </a:t>
            </a:r>
            <a:r>
              <a:rPr sz="900" dirty="0">
                <a:latin typeface="Arial"/>
                <a:cs typeface="Arial"/>
              </a:rPr>
              <a:t>is</a:t>
            </a:r>
            <a:r>
              <a:rPr sz="900" spc="-25"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keep</a:t>
            </a:r>
            <a:r>
              <a:rPr sz="900" spc="-25" dirty="0">
                <a:latin typeface="Arial"/>
                <a:cs typeface="Arial"/>
              </a:rPr>
              <a:t> </a:t>
            </a:r>
            <a:r>
              <a:rPr sz="900" dirty="0">
                <a:latin typeface="Arial"/>
                <a:cs typeface="Arial"/>
              </a:rPr>
              <a:t>the</a:t>
            </a:r>
            <a:r>
              <a:rPr sz="900" spc="-25" dirty="0">
                <a:latin typeface="Arial"/>
                <a:cs typeface="Arial"/>
              </a:rPr>
              <a:t> </a:t>
            </a:r>
            <a:r>
              <a:rPr sz="900" spc="-10" dirty="0">
                <a:latin typeface="Arial"/>
                <a:cs typeface="Arial"/>
              </a:rPr>
              <a:t>deviation</a:t>
            </a:r>
            <a:r>
              <a:rPr sz="900" spc="-25" dirty="0">
                <a:latin typeface="Arial"/>
                <a:cs typeface="Arial"/>
              </a:rPr>
              <a:t> </a:t>
            </a:r>
            <a:r>
              <a:rPr sz="900" dirty="0">
                <a:solidFill>
                  <a:srgbClr val="3333B2"/>
                </a:solidFill>
                <a:latin typeface="Arial"/>
                <a:cs typeface="Arial"/>
              </a:rPr>
              <a:t>between</a:t>
            </a:r>
            <a:r>
              <a:rPr sz="900" spc="-20" dirty="0">
                <a:solidFill>
                  <a:srgbClr val="3333B2"/>
                </a:solidFill>
                <a:latin typeface="Arial"/>
                <a:cs typeface="Arial"/>
              </a:rPr>
              <a:t> </a:t>
            </a:r>
            <a:r>
              <a:rPr sz="900" dirty="0">
                <a:solidFill>
                  <a:srgbClr val="3333B2"/>
                </a:solidFill>
                <a:latin typeface="Arial"/>
                <a:cs typeface="Arial"/>
              </a:rPr>
              <a:t>two</a:t>
            </a:r>
            <a:r>
              <a:rPr sz="900" spc="-25" dirty="0">
                <a:solidFill>
                  <a:srgbClr val="3333B2"/>
                </a:solidFill>
                <a:latin typeface="Arial"/>
                <a:cs typeface="Arial"/>
              </a:rPr>
              <a:t> </a:t>
            </a:r>
            <a:r>
              <a:rPr sz="900" dirty="0">
                <a:solidFill>
                  <a:srgbClr val="3333B2"/>
                </a:solidFill>
                <a:latin typeface="Arial"/>
                <a:cs typeface="Arial"/>
              </a:rPr>
              <a:t>clocks</a:t>
            </a:r>
            <a:r>
              <a:rPr sz="900" spc="-25" dirty="0">
                <a:solidFill>
                  <a:srgbClr val="3333B2"/>
                </a:solidFill>
                <a:latin typeface="Arial"/>
                <a:cs typeface="Arial"/>
              </a:rPr>
              <a:t> </a:t>
            </a:r>
            <a:r>
              <a:rPr sz="900" dirty="0">
                <a:solidFill>
                  <a:srgbClr val="3333B2"/>
                </a:solidFill>
                <a:latin typeface="Arial"/>
                <a:cs typeface="Arial"/>
              </a:rPr>
              <a:t>on</a:t>
            </a:r>
            <a:r>
              <a:rPr sz="900" spc="-25" dirty="0">
                <a:solidFill>
                  <a:srgbClr val="3333B2"/>
                </a:solidFill>
                <a:latin typeface="Arial"/>
                <a:cs typeface="Arial"/>
              </a:rPr>
              <a:t> </a:t>
            </a:r>
            <a:r>
              <a:rPr sz="900" dirty="0">
                <a:solidFill>
                  <a:srgbClr val="3333B2"/>
                </a:solidFill>
                <a:latin typeface="Arial"/>
                <a:cs typeface="Arial"/>
              </a:rPr>
              <a:t>any</a:t>
            </a:r>
            <a:r>
              <a:rPr sz="900" spc="-25" dirty="0">
                <a:solidFill>
                  <a:srgbClr val="3333B2"/>
                </a:solidFill>
                <a:latin typeface="Arial"/>
                <a:cs typeface="Arial"/>
              </a:rPr>
              <a:t> </a:t>
            </a:r>
            <a:r>
              <a:rPr sz="900" dirty="0">
                <a:solidFill>
                  <a:srgbClr val="3333B2"/>
                </a:solidFill>
                <a:latin typeface="Arial"/>
                <a:cs typeface="Arial"/>
              </a:rPr>
              <a:t>two</a:t>
            </a:r>
            <a:r>
              <a:rPr sz="900" spc="-25" dirty="0">
                <a:solidFill>
                  <a:srgbClr val="3333B2"/>
                </a:solidFill>
                <a:latin typeface="Arial"/>
                <a:cs typeface="Arial"/>
              </a:rPr>
              <a:t> </a:t>
            </a:r>
            <a:r>
              <a:rPr sz="900" spc="-10" dirty="0">
                <a:solidFill>
                  <a:srgbClr val="3333B2"/>
                </a:solidFill>
                <a:latin typeface="Arial"/>
                <a:cs typeface="Arial"/>
              </a:rPr>
              <a:t>machines </a:t>
            </a:r>
            <a:r>
              <a:rPr sz="900" dirty="0">
                <a:latin typeface="Arial"/>
                <a:cs typeface="Arial"/>
              </a:rPr>
              <a:t>within</a:t>
            </a:r>
            <a:r>
              <a:rPr sz="900" spc="-30" dirty="0">
                <a:latin typeface="Arial"/>
                <a:cs typeface="Arial"/>
              </a:rPr>
              <a:t> </a:t>
            </a:r>
            <a:r>
              <a:rPr sz="900" dirty="0">
                <a:latin typeface="Arial"/>
                <a:cs typeface="Arial"/>
              </a:rPr>
              <a:t>a</a:t>
            </a:r>
            <a:r>
              <a:rPr sz="900" spc="-30" dirty="0">
                <a:latin typeface="Arial"/>
                <a:cs typeface="Arial"/>
              </a:rPr>
              <a:t> </a:t>
            </a:r>
            <a:r>
              <a:rPr sz="900" dirty="0">
                <a:latin typeface="Arial"/>
                <a:cs typeface="Arial"/>
              </a:rPr>
              <a:t>specified</a:t>
            </a:r>
            <a:r>
              <a:rPr sz="900" spc="-30" dirty="0">
                <a:latin typeface="Arial"/>
                <a:cs typeface="Arial"/>
              </a:rPr>
              <a:t> </a:t>
            </a:r>
            <a:r>
              <a:rPr sz="900" dirty="0">
                <a:latin typeface="Arial"/>
                <a:cs typeface="Arial"/>
              </a:rPr>
              <a:t>bound,</a:t>
            </a:r>
            <a:r>
              <a:rPr sz="900" spc="-30" dirty="0">
                <a:latin typeface="Arial"/>
                <a:cs typeface="Arial"/>
              </a:rPr>
              <a:t> </a:t>
            </a:r>
            <a:r>
              <a:rPr sz="900" dirty="0">
                <a:latin typeface="Arial"/>
                <a:cs typeface="Arial"/>
              </a:rPr>
              <a:t>known</a:t>
            </a:r>
            <a:r>
              <a:rPr sz="900" spc="-25" dirty="0">
                <a:latin typeface="Arial"/>
                <a:cs typeface="Arial"/>
              </a:rPr>
              <a:t> </a:t>
            </a:r>
            <a:r>
              <a:rPr sz="900" dirty="0">
                <a:latin typeface="Arial"/>
                <a:cs typeface="Arial"/>
              </a:rPr>
              <a:t>as</a:t>
            </a:r>
            <a:r>
              <a:rPr sz="900" spc="-30" dirty="0">
                <a:latin typeface="Arial"/>
                <a:cs typeface="Arial"/>
              </a:rPr>
              <a:t> </a:t>
            </a:r>
            <a:r>
              <a:rPr sz="900" dirty="0">
                <a:latin typeface="Arial"/>
                <a:cs typeface="Arial"/>
              </a:rPr>
              <a:t>the</a:t>
            </a:r>
            <a:r>
              <a:rPr sz="900" spc="-30" dirty="0">
                <a:latin typeface="Arial"/>
                <a:cs typeface="Arial"/>
              </a:rPr>
              <a:t> </a:t>
            </a:r>
            <a:r>
              <a:rPr sz="900" dirty="0">
                <a:solidFill>
                  <a:srgbClr val="C80000"/>
                </a:solidFill>
                <a:latin typeface="Arial"/>
                <a:cs typeface="Arial"/>
              </a:rPr>
              <a:t>precision</a:t>
            </a:r>
            <a:r>
              <a:rPr sz="900" spc="-30" dirty="0">
                <a:solidFill>
                  <a:srgbClr val="C80000"/>
                </a:solidFill>
                <a:latin typeface="Arial"/>
                <a:cs typeface="Arial"/>
              </a:rPr>
              <a:t> </a:t>
            </a:r>
            <a:r>
              <a:rPr sz="900" i="1" spc="-25" dirty="0">
                <a:latin typeface="Arial"/>
                <a:cs typeface="Arial"/>
              </a:rPr>
              <a:t>π</a:t>
            </a:r>
            <a:r>
              <a:rPr sz="900" spc="-25" dirty="0">
                <a:latin typeface="Arial"/>
                <a:cs typeface="Arial"/>
              </a:rPr>
              <a:t>:</a:t>
            </a:r>
            <a:endParaRPr sz="900">
              <a:latin typeface="Arial"/>
              <a:cs typeface="Arial"/>
            </a:endParaRPr>
          </a:p>
          <a:p>
            <a:pPr marL="147955" algn="ctr">
              <a:lnSpc>
                <a:spcPct val="100000"/>
              </a:lnSpc>
              <a:spcBef>
                <a:spcPts val="905"/>
              </a:spcBef>
            </a:pPr>
            <a:r>
              <a:rPr sz="900" i="1" dirty="0">
                <a:latin typeface="Menlo"/>
                <a:cs typeface="Menlo"/>
              </a:rPr>
              <a:t>∀</a:t>
            </a:r>
            <a:r>
              <a:rPr sz="900" i="1" dirty="0">
                <a:latin typeface="Arial"/>
                <a:cs typeface="Arial"/>
              </a:rPr>
              <a:t>t</a:t>
            </a:r>
            <a:r>
              <a:rPr sz="900" i="1" dirty="0">
                <a:latin typeface="STIX Two Text"/>
                <a:cs typeface="STIX Two Text"/>
              </a:rPr>
              <a:t>,</a:t>
            </a:r>
            <a:r>
              <a:rPr sz="900" i="1" spc="-95" dirty="0">
                <a:latin typeface="STIX Two Text"/>
                <a:cs typeface="STIX Two Text"/>
              </a:rPr>
              <a:t> </a:t>
            </a:r>
            <a:r>
              <a:rPr sz="900" i="1" dirty="0">
                <a:latin typeface="Menlo"/>
                <a:cs typeface="Menlo"/>
              </a:rPr>
              <a:t>∀</a:t>
            </a:r>
            <a:r>
              <a:rPr sz="900" i="1" dirty="0">
                <a:latin typeface="Arial"/>
                <a:cs typeface="Arial"/>
              </a:rPr>
              <a:t>p</a:t>
            </a:r>
            <a:r>
              <a:rPr sz="900" i="1" dirty="0">
                <a:latin typeface="STIX Two Text"/>
                <a:cs typeface="STIX Two Text"/>
              </a:rPr>
              <a:t>,</a:t>
            </a:r>
            <a:r>
              <a:rPr sz="900" i="1" spc="-90" dirty="0">
                <a:latin typeface="STIX Two Text"/>
                <a:cs typeface="STIX Two Text"/>
              </a:rPr>
              <a:t> </a:t>
            </a:r>
            <a:r>
              <a:rPr sz="900" i="1" dirty="0">
                <a:latin typeface="Arial"/>
                <a:cs typeface="Arial"/>
              </a:rPr>
              <a:t>q</a:t>
            </a:r>
            <a:r>
              <a:rPr sz="900" i="1" spc="25" dirty="0">
                <a:latin typeface="Arial"/>
                <a:cs typeface="Arial"/>
              </a:rPr>
              <a:t> </a:t>
            </a:r>
            <a:r>
              <a:rPr sz="900" dirty="0">
                <a:latin typeface="Arial"/>
                <a:cs typeface="Arial"/>
              </a:rPr>
              <a:t>:</a:t>
            </a:r>
            <a:r>
              <a:rPr sz="900" spc="-25" dirty="0">
                <a:latin typeface="Arial"/>
                <a:cs typeface="Arial"/>
              </a:rPr>
              <a:t> </a:t>
            </a:r>
            <a:r>
              <a:rPr sz="900" i="1" spc="-110" dirty="0">
                <a:latin typeface="Menlo"/>
                <a:cs typeface="Menlo"/>
              </a:rPr>
              <a:t>|</a:t>
            </a:r>
            <a:r>
              <a:rPr sz="900" i="1" spc="-110" dirty="0">
                <a:latin typeface="Arial"/>
                <a:cs typeface="Arial"/>
              </a:rPr>
              <a:t>C</a:t>
            </a:r>
            <a:r>
              <a:rPr sz="1050" i="1" spc="-165" baseline="-11904" dirty="0">
                <a:latin typeface="Arial"/>
                <a:cs typeface="Arial"/>
              </a:rPr>
              <a:t>p</a:t>
            </a:r>
            <a:r>
              <a:rPr sz="1050" i="1" spc="-179" baseline="-11904" dirty="0">
                <a:latin typeface="Arial"/>
                <a:cs typeface="Arial"/>
              </a:rPr>
              <a:t> </a:t>
            </a:r>
            <a:r>
              <a:rPr sz="900" dirty="0">
                <a:latin typeface="Arial"/>
                <a:cs typeface="Arial"/>
              </a:rPr>
              <a:t>(</a:t>
            </a:r>
            <a:r>
              <a:rPr sz="900" i="1" dirty="0">
                <a:latin typeface="Arial"/>
                <a:cs typeface="Arial"/>
              </a:rPr>
              <a:t>t</a:t>
            </a:r>
            <a:r>
              <a:rPr sz="900" i="1" spc="-160" dirty="0">
                <a:latin typeface="Arial"/>
                <a:cs typeface="Arial"/>
              </a:rPr>
              <a:t> </a:t>
            </a:r>
            <a:r>
              <a:rPr sz="900" spc="55" dirty="0">
                <a:latin typeface="Arial"/>
                <a:cs typeface="Arial"/>
              </a:rPr>
              <a:t>)</a:t>
            </a:r>
            <a:r>
              <a:rPr sz="900" spc="-105" dirty="0">
                <a:latin typeface="Arial"/>
                <a:cs typeface="Arial"/>
              </a:rPr>
              <a:t> </a:t>
            </a:r>
            <a:r>
              <a:rPr sz="900" i="1" spc="85" dirty="0">
                <a:latin typeface="Menlo"/>
                <a:cs typeface="Menlo"/>
              </a:rPr>
              <a:t>−</a:t>
            </a:r>
            <a:r>
              <a:rPr sz="900" i="1" spc="85" dirty="0">
                <a:latin typeface="Arial"/>
                <a:cs typeface="Arial"/>
              </a:rPr>
              <a:t>C</a:t>
            </a:r>
            <a:r>
              <a:rPr sz="1050" i="1" spc="127" baseline="-11904" dirty="0">
                <a:latin typeface="Arial"/>
                <a:cs typeface="Arial"/>
              </a:rPr>
              <a:t>q</a:t>
            </a:r>
            <a:r>
              <a:rPr sz="1050" i="1" spc="-150" baseline="-11904" dirty="0">
                <a:latin typeface="Arial"/>
                <a:cs typeface="Arial"/>
              </a:rPr>
              <a:t> </a:t>
            </a:r>
            <a:r>
              <a:rPr sz="900" dirty="0">
                <a:latin typeface="Arial"/>
                <a:cs typeface="Arial"/>
              </a:rPr>
              <a:t>(</a:t>
            </a:r>
            <a:r>
              <a:rPr sz="900" i="1" dirty="0">
                <a:latin typeface="Arial"/>
                <a:cs typeface="Arial"/>
              </a:rPr>
              <a:t>t</a:t>
            </a:r>
            <a:r>
              <a:rPr sz="900" i="1" spc="-160" dirty="0">
                <a:latin typeface="Arial"/>
                <a:cs typeface="Arial"/>
              </a:rPr>
              <a:t> </a:t>
            </a:r>
            <a:r>
              <a:rPr sz="900" spc="-130" dirty="0">
                <a:latin typeface="Arial"/>
                <a:cs typeface="Arial"/>
              </a:rPr>
              <a:t>)</a:t>
            </a:r>
            <a:r>
              <a:rPr sz="900" i="1" spc="-130" dirty="0">
                <a:latin typeface="Menlo"/>
                <a:cs typeface="Menlo"/>
              </a:rPr>
              <a:t>|</a:t>
            </a:r>
            <a:r>
              <a:rPr sz="900" i="1" spc="-315" dirty="0">
                <a:latin typeface="Menlo"/>
                <a:cs typeface="Menlo"/>
              </a:rPr>
              <a:t> </a:t>
            </a:r>
            <a:r>
              <a:rPr sz="900" i="1" spc="150" dirty="0">
                <a:latin typeface="Menlo"/>
                <a:cs typeface="Menlo"/>
              </a:rPr>
              <a:t>≤</a:t>
            </a:r>
            <a:r>
              <a:rPr sz="900" i="1" spc="-315" dirty="0">
                <a:latin typeface="Menlo"/>
                <a:cs typeface="Menlo"/>
              </a:rPr>
              <a:t> </a:t>
            </a:r>
            <a:r>
              <a:rPr sz="900" i="1" spc="-50" dirty="0">
                <a:latin typeface="Arial"/>
                <a:cs typeface="Arial"/>
              </a:rPr>
              <a:t>π</a:t>
            </a:r>
            <a:endParaRPr sz="900">
              <a:latin typeface="Arial"/>
              <a:cs typeface="Arial"/>
            </a:endParaRPr>
          </a:p>
          <a:p>
            <a:pPr marL="46355">
              <a:lnSpc>
                <a:spcPct val="100000"/>
              </a:lnSpc>
              <a:spcBef>
                <a:spcPts val="975"/>
              </a:spcBef>
            </a:pPr>
            <a:r>
              <a:rPr sz="900" dirty="0">
                <a:latin typeface="Arial"/>
                <a:cs typeface="Arial"/>
              </a:rPr>
              <a:t>with</a:t>
            </a:r>
            <a:r>
              <a:rPr sz="900" spc="-30" dirty="0">
                <a:latin typeface="Arial"/>
                <a:cs typeface="Arial"/>
              </a:rPr>
              <a:t> </a:t>
            </a:r>
            <a:r>
              <a:rPr sz="900" i="1" spc="-10" dirty="0">
                <a:latin typeface="Arial"/>
                <a:cs typeface="Arial"/>
              </a:rPr>
              <a:t>C</a:t>
            </a:r>
            <a:r>
              <a:rPr sz="1050" i="1" spc="-15" baseline="-11904" dirty="0">
                <a:latin typeface="Arial"/>
                <a:cs typeface="Arial"/>
              </a:rPr>
              <a:t>p</a:t>
            </a:r>
            <a:r>
              <a:rPr sz="1050" i="1" spc="-195" baseline="-11904" dirty="0">
                <a:latin typeface="Arial"/>
                <a:cs typeface="Arial"/>
              </a:rPr>
              <a:t> </a:t>
            </a:r>
            <a:r>
              <a:rPr sz="900" dirty="0">
                <a:latin typeface="Arial"/>
                <a:cs typeface="Arial"/>
              </a:rPr>
              <a:t>(</a:t>
            </a:r>
            <a:r>
              <a:rPr sz="900" i="1" dirty="0">
                <a:latin typeface="Arial"/>
                <a:cs typeface="Arial"/>
              </a:rPr>
              <a:t>t</a:t>
            </a:r>
            <a:r>
              <a:rPr sz="900" i="1" spc="-170" dirty="0">
                <a:latin typeface="Arial"/>
                <a:cs typeface="Arial"/>
              </a:rPr>
              <a:t> </a:t>
            </a:r>
            <a:r>
              <a:rPr sz="900" spc="55" dirty="0">
                <a:latin typeface="Arial"/>
                <a:cs typeface="Arial"/>
              </a:rPr>
              <a:t>)</a:t>
            </a:r>
            <a:r>
              <a:rPr sz="900" spc="-15" dirty="0">
                <a:latin typeface="Arial"/>
                <a:cs typeface="Arial"/>
              </a:rPr>
              <a:t> </a:t>
            </a:r>
            <a:r>
              <a:rPr sz="900" dirty="0">
                <a:latin typeface="Arial"/>
                <a:cs typeface="Arial"/>
              </a:rPr>
              <a:t>the</a:t>
            </a:r>
            <a:r>
              <a:rPr sz="900" spc="-15" dirty="0">
                <a:latin typeface="Arial"/>
                <a:cs typeface="Arial"/>
              </a:rPr>
              <a:t> </a:t>
            </a:r>
            <a:r>
              <a:rPr sz="900" dirty="0">
                <a:solidFill>
                  <a:srgbClr val="3333B2"/>
                </a:solidFill>
                <a:latin typeface="Arial"/>
                <a:cs typeface="Arial"/>
              </a:rPr>
              <a:t>computed</a:t>
            </a:r>
            <a:r>
              <a:rPr sz="900" spc="-15" dirty="0">
                <a:solidFill>
                  <a:srgbClr val="3333B2"/>
                </a:solidFill>
                <a:latin typeface="Arial"/>
                <a:cs typeface="Arial"/>
              </a:rPr>
              <a:t> </a:t>
            </a:r>
            <a:r>
              <a:rPr sz="900" dirty="0">
                <a:latin typeface="Arial"/>
                <a:cs typeface="Arial"/>
              </a:rPr>
              <a:t>clock</a:t>
            </a:r>
            <a:r>
              <a:rPr sz="900" spc="-15" dirty="0">
                <a:latin typeface="Arial"/>
                <a:cs typeface="Arial"/>
              </a:rPr>
              <a:t> </a:t>
            </a:r>
            <a:r>
              <a:rPr sz="900" dirty="0">
                <a:latin typeface="Arial"/>
                <a:cs typeface="Arial"/>
              </a:rPr>
              <a:t>time</a:t>
            </a:r>
            <a:r>
              <a:rPr sz="900" spc="-20" dirty="0">
                <a:latin typeface="Arial"/>
                <a:cs typeface="Arial"/>
              </a:rPr>
              <a:t> </a:t>
            </a:r>
            <a:r>
              <a:rPr sz="900" dirty="0">
                <a:latin typeface="Arial"/>
                <a:cs typeface="Arial"/>
              </a:rPr>
              <a:t>of</a:t>
            </a:r>
            <a:r>
              <a:rPr sz="900" spc="-15" dirty="0">
                <a:latin typeface="Arial"/>
                <a:cs typeface="Arial"/>
              </a:rPr>
              <a:t> </a:t>
            </a:r>
            <a:r>
              <a:rPr sz="900" dirty="0">
                <a:latin typeface="Arial"/>
                <a:cs typeface="Arial"/>
              </a:rPr>
              <a:t>machine</a:t>
            </a:r>
            <a:r>
              <a:rPr sz="900" spc="-15" dirty="0">
                <a:latin typeface="Arial"/>
                <a:cs typeface="Arial"/>
              </a:rPr>
              <a:t> </a:t>
            </a:r>
            <a:r>
              <a:rPr sz="900" i="1" dirty="0">
                <a:latin typeface="Arial"/>
                <a:cs typeface="Arial"/>
              </a:rPr>
              <a:t>p</a:t>
            </a:r>
            <a:r>
              <a:rPr sz="900" i="1" spc="10" dirty="0">
                <a:latin typeface="Arial"/>
                <a:cs typeface="Arial"/>
              </a:rPr>
              <a:t> </a:t>
            </a:r>
            <a:r>
              <a:rPr sz="900" dirty="0">
                <a:latin typeface="Arial"/>
                <a:cs typeface="Arial"/>
              </a:rPr>
              <a:t>at</a:t>
            </a:r>
            <a:r>
              <a:rPr sz="900" spc="-15" dirty="0">
                <a:latin typeface="Arial"/>
                <a:cs typeface="Arial"/>
              </a:rPr>
              <a:t> </a:t>
            </a:r>
            <a:r>
              <a:rPr sz="900" dirty="0">
                <a:solidFill>
                  <a:srgbClr val="3333B2"/>
                </a:solidFill>
                <a:latin typeface="Arial"/>
                <a:cs typeface="Arial"/>
              </a:rPr>
              <a:t>UTC</a:t>
            </a:r>
            <a:r>
              <a:rPr sz="900" spc="-20" dirty="0">
                <a:solidFill>
                  <a:srgbClr val="3333B2"/>
                </a:solidFill>
                <a:latin typeface="Arial"/>
                <a:cs typeface="Arial"/>
              </a:rPr>
              <a:t> </a:t>
            </a:r>
            <a:r>
              <a:rPr sz="900" dirty="0">
                <a:solidFill>
                  <a:srgbClr val="3333B2"/>
                </a:solidFill>
                <a:latin typeface="Arial"/>
                <a:cs typeface="Arial"/>
              </a:rPr>
              <a:t>time</a:t>
            </a:r>
            <a:r>
              <a:rPr sz="900" spc="-15" dirty="0">
                <a:solidFill>
                  <a:srgbClr val="3333B2"/>
                </a:solidFill>
                <a:latin typeface="Arial"/>
                <a:cs typeface="Arial"/>
              </a:rPr>
              <a:t> </a:t>
            </a:r>
            <a:r>
              <a:rPr sz="900" i="1" spc="-10" dirty="0">
                <a:latin typeface="Arial"/>
                <a:cs typeface="Arial"/>
              </a:rPr>
              <a:t>t</a:t>
            </a:r>
            <a:r>
              <a:rPr sz="900" i="1" spc="-170" dirty="0">
                <a:latin typeface="Arial"/>
                <a:cs typeface="Arial"/>
              </a:rPr>
              <a:t> </a:t>
            </a:r>
            <a:r>
              <a:rPr sz="900" spc="-50" dirty="0">
                <a:latin typeface="Arial"/>
                <a:cs typeface="Arial"/>
              </a:rPr>
              <a:t>.</a:t>
            </a:r>
            <a:endParaRPr sz="900">
              <a:latin typeface="Arial"/>
              <a:cs typeface="Arial"/>
            </a:endParaRPr>
          </a:p>
          <a:p>
            <a:pPr marL="46355">
              <a:lnSpc>
                <a:spcPct val="100000"/>
              </a:lnSpc>
              <a:spcBef>
                <a:spcPts val="810"/>
              </a:spcBef>
            </a:pPr>
            <a:r>
              <a:rPr sz="1000" spc="-10" dirty="0">
                <a:solidFill>
                  <a:srgbClr val="3333B2"/>
                </a:solidFill>
                <a:latin typeface="Arial"/>
                <a:cs typeface="Arial"/>
              </a:rPr>
              <a:t>Accuracy</a:t>
            </a:r>
            <a:endParaRPr sz="1000">
              <a:latin typeface="Arial"/>
              <a:cs typeface="Arial"/>
            </a:endParaRPr>
          </a:p>
          <a:p>
            <a:pPr marL="50800">
              <a:lnSpc>
                <a:spcPct val="100000"/>
              </a:lnSpc>
              <a:spcBef>
                <a:spcPts val="305"/>
              </a:spcBef>
            </a:pPr>
            <a:r>
              <a:rPr sz="900" dirty="0">
                <a:latin typeface="Arial"/>
                <a:cs typeface="Arial"/>
              </a:rPr>
              <a:t>In</a:t>
            </a:r>
            <a:r>
              <a:rPr sz="900" spc="-30" dirty="0">
                <a:latin typeface="Arial"/>
                <a:cs typeface="Arial"/>
              </a:rPr>
              <a:t> </a:t>
            </a:r>
            <a:r>
              <a:rPr sz="900" dirty="0">
                <a:latin typeface="Arial"/>
                <a:cs typeface="Arial"/>
              </a:rPr>
              <a:t>the</a:t>
            </a:r>
            <a:r>
              <a:rPr sz="900" spc="-25" dirty="0">
                <a:latin typeface="Arial"/>
                <a:cs typeface="Arial"/>
              </a:rPr>
              <a:t> </a:t>
            </a:r>
            <a:r>
              <a:rPr sz="900" dirty="0">
                <a:latin typeface="Arial"/>
                <a:cs typeface="Arial"/>
              </a:rPr>
              <a:t>case</a:t>
            </a:r>
            <a:r>
              <a:rPr sz="900" spc="-25" dirty="0">
                <a:latin typeface="Arial"/>
                <a:cs typeface="Arial"/>
              </a:rPr>
              <a:t> </a:t>
            </a:r>
            <a:r>
              <a:rPr sz="900" dirty="0">
                <a:latin typeface="Arial"/>
                <a:cs typeface="Arial"/>
              </a:rPr>
              <a:t>of</a:t>
            </a:r>
            <a:r>
              <a:rPr sz="900" spc="-25" dirty="0">
                <a:latin typeface="Arial"/>
                <a:cs typeface="Arial"/>
              </a:rPr>
              <a:t> </a:t>
            </a:r>
            <a:r>
              <a:rPr sz="900" dirty="0">
                <a:solidFill>
                  <a:srgbClr val="C80000"/>
                </a:solidFill>
                <a:latin typeface="Arial"/>
                <a:cs typeface="Arial"/>
              </a:rPr>
              <a:t>accuracy</a:t>
            </a:r>
            <a:r>
              <a:rPr sz="900" dirty="0">
                <a:latin typeface="Arial"/>
                <a:cs typeface="Arial"/>
              </a:rPr>
              <a:t>,</a:t>
            </a:r>
            <a:r>
              <a:rPr sz="900" spc="-25" dirty="0">
                <a:latin typeface="Arial"/>
                <a:cs typeface="Arial"/>
              </a:rPr>
              <a:t> </a:t>
            </a:r>
            <a:r>
              <a:rPr sz="900" dirty="0">
                <a:latin typeface="Arial"/>
                <a:cs typeface="Arial"/>
              </a:rPr>
              <a:t>we</a:t>
            </a:r>
            <a:r>
              <a:rPr sz="900" spc="-30" dirty="0">
                <a:latin typeface="Arial"/>
                <a:cs typeface="Arial"/>
              </a:rPr>
              <a:t> </a:t>
            </a:r>
            <a:r>
              <a:rPr sz="900" dirty="0">
                <a:latin typeface="Arial"/>
                <a:cs typeface="Arial"/>
              </a:rPr>
              <a:t>aim</a:t>
            </a:r>
            <a:r>
              <a:rPr sz="900" spc="-25"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keep</a:t>
            </a:r>
            <a:r>
              <a:rPr sz="900" spc="-25" dirty="0">
                <a:latin typeface="Arial"/>
                <a:cs typeface="Arial"/>
              </a:rPr>
              <a:t> </a:t>
            </a:r>
            <a:r>
              <a:rPr sz="900" dirty="0">
                <a:latin typeface="Arial"/>
                <a:cs typeface="Arial"/>
              </a:rPr>
              <a:t>the</a:t>
            </a:r>
            <a:r>
              <a:rPr sz="900" spc="-30" dirty="0">
                <a:latin typeface="Arial"/>
                <a:cs typeface="Arial"/>
              </a:rPr>
              <a:t> </a:t>
            </a:r>
            <a:r>
              <a:rPr sz="900" dirty="0">
                <a:latin typeface="Arial"/>
                <a:cs typeface="Arial"/>
              </a:rPr>
              <a:t>clock</a:t>
            </a:r>
            <a:r>
              <a:rPr sz="900" spc="-25" dirty="0">
                <a:latin typeface="Arial"/>
                <a:cs typeface="Arial"/>
              </a:rPr>
              <a:t> </a:t>
            </a:r>
            <a:r>
              <a:rPr sz="900" dirty="0">
                <a:latin typeface="Arial"/>
                <a:cs typeface="Arial"/>
              </a:rPr>
              <a:t>bound</a:t>
            </a:r>
            <a:r>
              <a:rPr sz="900" spc="-25"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a</a:t>
            </a:r>
            <a:r>
              <a:rPr sz="900" spc="-25" dirty="0">
                <a:latin typeface="Arial"/>
                <a:cs typeface="Arial"/>
              </a:rPr>
              <a:t> </a:t>
            </a:r>
            <a:r>
              <a:rPr sz="900" dirty="0">
                <a:latin typeface="Arial"/>
                <a:cs typeface="Arial"/>
              </a:rPr>
              <a:t>value</a:t>
            </a:r>
            <a:r>
              <a:rPr sz="900" spc="-30" dirty="0">
                <a:latin typeface="Arial"/>
                <a:cs typeface="Arial"/>
              </a:rPr>
              <a:t> </a:t>
            </a:r>
            <a:r>
              <a:rPr sz="900" i="1" spc="30" dirty="0">
                <a:latin typeface="Arial"/>
                <a:cs typeface="Arial"/>
              </a:rPr>
              <a:t>α</a:t>
            </a:r>
            <a:r>
              <a:rPr sz="900" spc="30" dirty="0">
                <a:latin typeface="Arial"/>
                <a:cs typeface="Arial"/>
              </a:rPr>
              <a:t>:</a:t>
            </a:r>
            <a:endParaRPr sz="900">
              <a:latin typeface="Arial"/>
              <a:cs typeface="Arial"/>
            </a:endParaRPr>
          </a:p>
          <a:p>
            <a:pPr marL="147955" algn="ctr">
              <a:lnSpc>
                <a:spcPct val="100000"/>
              </a:lnSpc>
              <a:spcBef>
                <a:spcPts val="969"/>
              </a:spcBef>
            </a:pPr>
            <a:r>
              <a:rPr sz="900" i="1" dirty="0">
                <a:latin typeface="Menlo"/>
                <a:cs typeface="Menlo"/>
              </a:rPr>
              <a:t>∀</a:t>
            </a:r>
            <a:r>
              <a:rPr sz="900" i="1" dirty="0">
                <a:latin typeface="Arial"/>
                <a:cs typeface="Arial"/>
              </a:rPr>
              <a:t>t</a:t>
            </a:r>
            <a:r>
              <a:rPr sz="900" i="1" dirty="0">
                <a:latin typeface="STIX Two Text"/>
                <a:cs typeface="STIX Two Text"/>
              </a:rPr>
              <a:t>,</a:t>
            </a:r>
            <a:r>
              <a:rPr sz="900" i="1" spc="-90" dirty="0">
                <a:latin typeface="STIX Two Text"/>
                <a:cs typeface="STIX Two Text"/>
              </a:rPr>
              <a:t> </a:t>
            </a:r>
            <a:r>
              <a:rPr sz="900" i="1" spc="-30" dirty="0">
                <a:latin typeface="Menlo"/>
                <a:cs typeface="Menlo"/>
              </a:rPr>
              <a:t>∀</a:t>
            </a:r>
            <a:r>
              <a:rPr sz="900" i="1" spc="-30" dirty="0">
                <a:latin typeface="Arial"/>
                <a:cs typeface="Arial"/>
              </a:rPr>
              <a:t>p</a:t>
            </a:r>
            <a:r>
              <a:rPr sz="900" i="1" spc="5" dirty="0">
                <a:latin typeface="Arial"/>
                <a:cs typeface="Arial"/>
              </a:rPr>
              <a:t> </a:t>
            </a:r>
            <a:r>
              <a:rPr sz="900" dirty="0">
                <a:latin typeface="Arial"/>
                <a:cs typeface="Arial"/>
              </a:rPr>
              <a:t>:</a:t>
            </a:r>
            <a:r>
              <a:rPr sz="900" spc="-20" dirty="0">
                <a:latin typeface="Arial"/>
                <a:cs typeface="Arial"/>
              </a:rPr>
              <a:t> </a:t>
            </a:r>
            <a:r>
              <a:rPr sz="900" i="1" spc="-110" dirty="0">
                <a:latin typeface="Menlo"/>
                <a:cs typeface="Menlo"/>
              </a:rPr>
              <a:t>|</a:t>
            </a:r>
            <a:r>
              <a:rPr sz="900" i="1" spc="-110" dirty="0">
                <a:latin typeface="Arial"/>
                <a:cs typeface="Arial"/>
              </a:rPr>
              <a:t>C</a:t>
            </a:r>
            <a:r>
              <a:rPr sz="1050" i="1" spc="-165" baseline="-11904" dirty="0">
                <a:latin typeface="Arial"/>
                <a:cs typeface="Arial"/>
              </a:rPr>
              <a:t>p</a:t>
            </a:r>
            <a:r>
              <a:rPr sz="1050" i="1" spc="-179" baseline="-11904" dirty="0">
                <a:latin typeface="Arial"/>
                <a:cs typeface="Arial"/>
              </a:rPr>
              <a:t> </a:t>
            </a:r>
            <a:r>
              <a:rPr sz="900" dirty="0">
                <a:latin typeface="Arial"/>
                <a:cs typeface="Arial"/>
              </a:rPr>
              <a:t>(</a:t>
            </a:r>
            <a:r>
              <a:rPr sz="900" i="1" dirty="0">
                <a:latin typeface="Arial"/>
                <a:cs typeface="Arial"/>
              </a:rPr>
              <a:t>t</a:t>
            </a:r>
            <a:r>
              <a:rPr sz="900" i="1" spc="-155" dirty="0">
                <a:latin typeface="Arial"/>
                <a:cs typeface="Arial"/>
              </a:rPr>
              <a:t> </a:t>
            </a:r>
            <a:r>
              <a:rPr sz="900" spc="55" dirty="0">
                <a:latin typeface="Arial"/>
                <a:cs typeface="Arial"/>
              </a:rPr>
              <a:t>)</a:t>
            </a:r>
            <a:r>
              <a:rPr sz="900" spc="-105" dirty="0">
                <a:latin typeface="Arial"/>
                <a:cs typeface="Arial"/>
              </a:rPr>
              <a:t> </a:t>
            </a:r>
            <a:r>
              <a:rPr sz="900" i="1" dirty="0">
                <a:latin typeface="Menlo"/>
                <a:cs typeface="Menlo"/>
              </a:rPr>
              <a:t>−</a:t>
            </a:r>
            <a:r>
              <a:rPr sz="900" i="1" dirty="0">
                <a:latin typeface="Arial"/>
                <a:cs typeface="Arial"/>
              </a:rPr>
              <a:t>t</a:t>
            </a:r>
            <a:r>
              <a:rPr sz="900" i="1" dirty="0">
                <a:latin typeface="Menlo"/>
                <a:cs typeface="Menlo"/>
              </a:rPr>
              <a:t>|</a:t>
            </a:r>
            <a:r>
              <a:rPr sz="900" i="1" spc="-310" dirty="0">
                <a:latin typeface="Menlo"/>
                <a:cs typeface="Menlo"/>
              </a:rPr>
              <a:t> </a:t>
            </a:r>
            <a:r>
              <a:rPr sz="900" i="1" spc="150" dirty="0">
                <a:latin typeface="Menlo"/>
                <a:cs typeface="Menlo"/>
              </a:rPr>
              <a:t>≤</a:t>
            </a:r>
            <a:r>
              <a:rPr sz="900" i="1" spc="-310" dirty="0">
                <a:latin typeface="Menlo"/>
                <a:cs typeface="Menlo"/>
              </a:rPr>
              <a:t> </a:t>
            </a:r>
            <a:r>
              <a:rPr sz="900" i="1" dirty="0">
                <a:latin typeface="Arial"/>
                <a:cs typeface="Arial"/>
              </a:rPr>
              <a:t>α</a:t>
            </a:r>
            <a:endParaRPr sz="900">
              <a:latin typeface="Arial"/>
              <a:cs typeface="Arial"/>
            </a:endParaRPr>
          </a:p>
          <a:p>
            <a:pPr>
              <a:lnSpc>
                <a:spcPct val="100000"/>
              </a:lnSpc>
              <a:spcBef>
                <a:spcPts val="40"/>
              </a:spcBef>
            </a:pPr>
            <a:endParaRPr sz="1650">
              <a:latin typeface="Arial"/>
              <a:cs typeface="Arial"/>
            </a:endParaRPr>
          </a:p>
          <a:p>
            <a:pPr marL="50800">
              <a:lnSpc>
                <a:spcPct val="100000"/>
              </a:lnSpc>
            </a:pPr>
            <a:r>
              <a:rPr sz="1000" spc="-10" dirty="0">
                <a:solidFill>
                  <a:srgbClr val="C80000"/>
                </a:solidFill>
                <a:latin typeface="Arial"/>
                <a:cs typeface="Arial"/>
              </a:rPr>
              <a:t>Synchronization</a:t>
            </a:r>
            <a:endParaRPr sz="1000">
              <a:latin typeface="Arial"/>
              <a:cs typeface="Arial"/>
            </a:endParaRPr>
          </a:p>
          <a:p>
            <a:pPr marL="303530" indent="-120650">
              <a:lnSpc>
                <a:spcPct val="100000"/>
              </a:lnSpc>
              <a:spcBef>
                <a:spcPts val="700"/>
              </a:spcBef>
              <a:buClr>
                <a:srgbClr val="3333B2"/>
              </a:buClr>
              <a:buFont typeface="Menlo"/>
              <a:buChar char="•"/>
              <a:tabLst>
                <a:tab pos="304165" algn="l"/>
              </a:tabLst>
            </a:pPr>
            <a:r>
              <a:rPr sz="900" dirty="0">
                <a:solidFill>
                  <a:srgbClr val="C80000"/>
                </a:solidFill>
                <a:latin typeface="Arial"/>
                <a:cs typeface="Arial"/>
              </a:rPr>
              <a:t>Internal</a:t>
            </a:r>
            <a:r>
              <a:rPr sz="900" spc="-45" dirty="0">
                <a:solidFill>
                  <a:srgbClr val="C80000"/>
                </a:solidFill>
                <a:latin typeface="Arial"/>
                <a:cs typeface="Arial"/>
              </a:rPr>
              <a:t> </a:t>
            </a:r>
            <a:r>
              <a:rPr sz="900" dirty="0">
                <a:solidFill>
                  <a:srgbClr val="C80000"/>
                </a:solidFill>
                <a:latin typeface="Arial"/>
                <a:cs typeface="Arial"/>
              </a:rPr>
              <a:t>synchronization</a:t>
            </a:r>
            <a:r>
              <a:rPr sz="900" dirty="0">
                <a:latin typeface="Arial"/>
                <a:cs typeface="Arial"/>
              </a:rPr>
              <a:t>:</a:t>
            </a:r>
            <a:r>
              <a:rPr sz="900" spc="10" dirty="0">
                <a:latin typeface="Arial"/>
                <a:cs typeface="Arial"/>
              </a:rPr>
              <a:t> </a:t>
            </a:r>
            <a:r>
              <a:rPr sz="900" dirty="0">
                <a:latin typeface="Arial"/>
                <a:cs typeface="Arial"/>
              </a:rPr>
              <a:t>keep</a:t>
            </a:r>
            <a:r>
              <a:rPr sz="900" spc="-45" dirty="0">
                <a:latin typeface="Arial"/>
                <a:cs typeface="Arial"/>
              </a:rPr>
              <a:t> </a:t>
            </a:r>
            <a:r>
              <a:rPr sz="900" dirty="0">
                <a:latin typeface="Arial"/>
                <a:cs typeface="Arial"/>
              </a:rPr>
              <a:t>clocks</a:t>
            </a:r>
            <a:r>
              <a:rPr sz="900" spc="-40" dirty="0">
                <a:latin typeface="Arial"/>
                <a:cs typeface="Arial"/>
              </a:rPr>
              <a:t> </a:t>
            </a:r>
            <a:r>
              <a:rPr sz="900" spc="-10" dirty="0">
                <a:solidFill>
                  <a:srgbClr val="3333B2"/>
                </a:solidFill>
                <a:latin typeface="Arial"/>
                <a:cs typeface="Arial"/>
              </a:rPr>
              <a:t>precise</a:t>
            </a:r>
            <a:endParaRPr sz="900">
              <a:latin typeface="Arial"/>
              <a:cs typeface="Arial"/>
            </a:endParaRPr>
          </a:p>
          <a:p>
            <a:pPr marL="303530" indent="-120650">
              <a:lnSpc>
                <a:spcPct val="100000"/>
              </a:lnSpc>
              <a:spcBef>
                <a:spcPts val="125"/>
              </a:spcBef>
              <a:buClr>
                <a:srgbClr val="3333B2"/>
              </a:buClr>
              <a:buFont typeface="Menlo"/>
              <a:buChar char="•"/>
              <a:tabLst>
                <a:tab pos="304165" algn="l"/>
              </a:tabLst>
            </a:pPr>
            <a:r>
              <a:rPr sz="900" dirty="0">
                <a:solidFill>
                  <a:srgbClr val="C80000"/>
                </a:solidFill>
                <a:latin typeface="Arial"/>
                <a:cs typeface="Arial"/>
              </a:rPr>
              <a:t>External</a:t>
            </a:r>
            <a:r>
              <a:rPr sz="900" spc="-45" dirty="0">
                <a:solidFill>
                  <a:srgbClr val="C80000"/>
                </a:solidFill>
                <a:latin typeface="Arial"/>
                <a:cs typeface="Arial"/>
              </a:rPr>
              <a:t> </a:t>
            </a:r>
            <a:r>
              <a:rPr sz="900" dirty="0">
                <a:solidFill>
                  <a:srgbClr val="C80000"/>
                </a:solidFill>
                <a:latin typeface="Arial"/>
                <a:cs typeface="Arial"/>
              </a:rPr>
              <a:t>synchronization</a:t>
            </a:r>
            <a:r>
              <a:rPr sz="900" dirty="0">
                <a:latin typeface="Arial"/>
                <a:cs typeface="Arial"/>
              </a:rPr>
              <a:t>:</a:t>
            </a:r>
            <a:r>
              <a:rPr sz="900" spc="5" dirty="0">
                <a:latin typeface="Arial"/>
                <a:cs typeface="Arial"/>
              </a:rPr>
              <a:t> </a:t>
            </a:r>
            <a:r>
              <a:rPr sz="900" dirty="0">
                <a:latin typeface="Arial"/>
                <a:cs typeface="Arial"/>
              </a:rPr>
              <a:t>keep</a:t>
            </a:r>
            <a:r>
              <a:rPr sz="900" spc="-40" dirty="0">
                <a:latin typeface="Arial"/>
                <a:cs typeface="Arial"/>
              </a:rPr>
              <a:t> </a:t>
            </a:r>
            <a:r>
              <a:rPr sz="900" dirty="0">
                <a:latin typeface="Arial"/>
                <a:cs typeface="Arial"/>
              </a:rPr>
              <a:t>clocks</a:t>
            </a:r>
            <a:r>
              <a:rPr sz="900" spc="-45" dirty="0">
                <a:latin typeface="Arial"/>
                <a:cs typeface="Arial"/>
              </a:rPr>
              <a:t> </a:t>
            </a:r>
            <a:r>
              <a:rPr sz="900" spc="-10" dirty="0">
                <a:solidFill>
                  <a:srgbClr val="3333B2"/>
                </a:solidFill>
                <a:latin typeface="Arial"/>
                <a:cs typeface="Arial"/>
              </a:rPr>
              <a:t>accurate</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94996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3" action="ppaction://hlinksldjump"/>
              </a:rPr>
              <a:t>Clock</a:t>
            </a:r>
            <a:r>
              <a:rPr sz="500" spc="40" dirty="0">
                <a:latin typeface="Arial"/>
                <a:cs typeface="Arial"/>
                <a:hlinkClick r:id="rId3" action="ppaction://hlinksldjump"/>
              </a:rPr>
              <a:t> </a:t>
            </a:r>
            <a:r>
              <a:rPr sz="500" spc="-10" dirty="0">
                <a:latin typeface="Arial"/>
                <a:cs typeface="Arial"/>
                <a:hlinkClick r:id="rId3" action="ppaction://hlinksldjump"/>
              </a:rPr>
              <a:t>synchronization</a:t>
            </a:r>
            <a:r>
              <a:rPr sz="500" spc="40" dirty="0">
                <a:latin typeface="Arial"/>
                <a:cs typeface="Arial"/>
                <a:hlinkClick r:id="rId3" action="ppaction://hlinksldjump"/>
              </a:rPr>
              <a:t> </a:t>
            </a:r>
            <a:r>
              <a:rPr sz="500" spc="-10" dirty="0">
                <a:latin typeface="Arial"/>
                <a:cs typeface="Arial"/>
                <a:hlinkClick r:id="rId3" action="ppaction://hlinksldjump"/>
              </a:rPr>
              <a:t>algorithms</a:t>
            </a:r>
            <a:endParaRPr sz="500">
              <a:latin typeface="Arial"/>
              <a:cs typeface="Arial"/>
            </a:endParaRP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874135" algn="l"/>
              </a:tabLst>
            </a:pPr>
            <a:r>
              <a:rPr sz="500" spc="-10" dirty="0">
                <a:latin typeface="Arial"/>
                <a:cs typeface="Arial"/>
                <a:hlinkClick r:id="rId2" action="ppaction://hlinksldjump"/>
              </a:rPr>
              <a:t>Coordination</a:t>
            </a:r>
            <a:r>
              <a:rPr sz="500" dirty="0">
                <a:latin typeface="Arial"/>
                <a:cs typeface="Arial"/>
              </a:rPr>
              <a:t>	</a:t>
            </a:r>
            <a:r>
              <a:rPr sz="500" dirty="0">
                <a:solidFill>
                  <a:srgbClr val="FFFFFF"/>
                </a:solidFill>
                <a:latin typeface="Arial"/>
                <a:cs typeface="Arial"/>
                <a:hlinkClick r:id="rId2" action="ppaction://hlinksldjump"/>
              </a:rPr>
              <a:t>Clock</a:t>
            </a:r>
            <a:r>
              <a:rPr sz="500" spc="-30" dirty="0">
                <a:solidFill>
                  <a:srgbClr val="FFFFFF"/>
                </a:solidFill>
                <a:latin typeface="Arial"/>
                <a:cs typeface="Arial"/>
                <a:hlinkClick r:id="rId2" action="ppaction://hlinksldjump"/>
              </a:rPr>
              <a:t> </a:t>
            </a:r>
            <a:r>
              <a:rPr sz="500" spc="-10" dirty="0">
                <a:solidFill>
                  <a:srgbClr val="FFFFFF"/>
                </a:solidFill>
                <a:latin typeface="Arial"/>
                <a:cs typeface="Arial"/>
                <a:hlinkClick r:id="rId2" action="ppaction://hlinksldjump"/>
              </a:rPr>
              <a:t>synchronization</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Clock</a:t>
            </a:r>
            <a:r>
              <a:rPr spc="-70" dirty="0"/>
              <a:t> </a:t>
            </a:r>
            <a:r>
              <a:rPr spc="-10" dirty="0"/>
              <a:t>drift</a:t>
            </a:r>
          </a:p>
        </p:txBody>
      </p:sp>
      <p:sp>
        <p:nvSpPr>
          <p:cNvPr id="4" name="object 4"/>
          <p:cNvSpPr txBox="1"/>
          <p:nvPr/>
        </p:nvSpPr>
        <p:spPr>
          <a:xfrm>
            <a:off x="334594" y="514774"/>
            <a:ext cx="3867150" cy="709295"/>
          </a:xfrm>
          <a:prstGeom prst="rect">
            <a:avLst/>
          </a:prstGeom>
        </p:spPr>
        <p:txBody>
          <a:bodyPr vert="horz" wrap="square" lIns="0" tIns="12065" rIns="0" bIns="0" rtlCol="0">
            <a:spAutoFit/>
          </a:bodyPr>
          <a:lstStyle/>
          <a:p>
            <a:pPr marL="25400">
              <a:lnSpc>
                <a:spcPct val="100000"/>
              </a:lnSpc>
              <a:spcBef>
                <a:spcPts val="95"/>
              </a:spcBef>
            </a:pPr>
            <a:r>
              <a:rPr sz="1000" dirty="0">
                <a:solidFill>
                  <a:srgbClr val="3333B2"/>
                </a:solidFill>
                <a:latin typeface="Arial"/>
                <a:cs typeface="Arial"/>
              </a:rPr>
              <a:t>Clock</a:t>
            </a:r>
            <a:r>
              <a:rPr sz="1000" spc="-60" dirty="0">
                <a:solidFill>
                  <a:srgbClr val="3333B2"/>
                </a:solidFill>
                <a:latin typeface="Arial"/>
                <a:cs typeface="Arial"/>
              </a:rPr>
              <a:t> </a:t>
            </a:r>
            <a:r>
              <a:rPr sz="1000" spc="-10" dirty="0">
                <a:solidFill>
                  <a:srgbClr val="3333B2"/>
                </a:solidFill>
                <a:latin typeface="Arial"/>
                <a:cs typeface="Arial"/>
              </a:rPr>
              <a:t>specifications</a:t>
            </a:r>
            <a:endParaRPr sz="1000">
              <a:latin typeface="Arial"/>
              <a:cs typeface="Arial"/>
            </a:endParaRPr>
          </a:p>
          <a:p>
            <a:pPr marL="274320" indent="-116839">
              <a:lnSpc>
                <a:spcPct val="100000"/>
              </a:lnSpc>
              <a:spcBef>
                <a:spcPts val="695"/>
              </a:spcBef>
              <a:buClr>
                <a:srgbClr val="3333B2"/>
              </a:buClr>
              <a:buFont typeface="Menlo"/>
              <a:buChar char="•"/>
              <a:tabLst>
                <a:tab pos="274955" algn="l"/>
              </a:tabLst>
            </a:pPr>
            <a:r>
              <a:rPr sz="900" dirty="0">
                <a:latin typeface="Arial"/>
                <a:cs typeface="Arial"/>
              </a:rPr>
              <a:t>A</a:t>
            </a:r>
            <a:r>
              <a:rPr sz="900" spc="-35" dirty="0">
                <a:latin typeface="Arial"/>
                <a:cs typeface="Arial"/>
              </a:rPr>
              <a:t> </a:t>
            </a:r>
            <a:r>
              <a:rPr sz="900" dirty="0">
                <a:latin typeface="Arial"/>
                <a:cs typeface="Arial"/>
              </a:rPr>
              <a:t>clock</a:t>
            </a:r>
            <a:r>
              <a:rPr sz="900" spc="-30" dirty="0">
                <a:latin typeface="Arial"/>
                <a:cs typeface="Arial"/>
              </a:rPr>
              <a:t> </a:t>
            </a:r>
            <a:r>
              <a:rPr sz="900" dirty="0">
                <a:latin typeface="Arial"/>
                <a:cs typeface="Arial"/>
              </a:rPr>
              <a:t>comes</a:t>
            </a:r>
            <a:r>
              <a:rPr sz="900" spc="-30" dirty="0">
                <a:latin typeface="Arial"/>
                <a:cs typeface="Arial"/>
              </a:rPr>
              <a:t> </a:t>
            </a:r>
            <a:r>
              <a:rPr sz="900" dirty="0">
                <a:latin typeface="Arial"/>
                <a:cs typeface="Arial"/>
              </a:rPr>
              <a:t>specified</a:t>
            </a:r>
            <a:r>
              <a:rPr sz="900" spc="-30" dirty="0">
                <a:latin typeface="Arial"/>
                <a:cs typeface="Arial"/>
              </a:rPr>
              <a:t> </a:t>
            </a:r>
            <a:r>
              <a:rPr sz="900" dirty="0">
                <a:latin typeface="Arial"/>
                <a:cs typeface="Arial"/>
              </a:rPr>
              <a:t>with</a:t>
            </a:r>
            <a:r>
              <a:rPr sz="900" spc="-30" dirty="0">
                <a:latin typeface="Arial"/>
                <a:cs typeface="Arial"/>
              </a:rPr>
              <a:t> </a:t>
            </a:r>
            <a:r>
              <a:rPr sz="900" dirty="0">
                <a:latin typeface="Arial"/>
                <a:cs typeface="Arial"/>
              </a:rPr>
              <a:t>its</a:t>
            </a:r>
            <a:r>
              <a:rPr sz="900" spc="-30" dirty="0">
                <a:latin typeface="Arial"/>
                <a:cs typeface="Arial"/>
              </a:rPr>
              <a:t> </a:t>
            </a:r>
            <a:r>
              <a:rPr sz="900" dirty="0">
                <a:solidFill>
                  <a:srgbClr val="C80000"/>
                </a:solidFill>
                <a:latin typeface="Arial"/>
                <a:cs typeface="Arial"/>
              </a:rPr>
              <a:t>maximum</a:t>
            </a:r>
            <a:r>
              <a:rPr sz="900" spc="-30" dirty="0">
                <a:solidFill>
                  <a:srgbClr val="C80000"/>
                </a:solidFill>
                <a:latin typeface="Arial"/>
                <a:cs typeface="Arial"/>
              </a:rPr>
              <a:t> </a:t>
            </a:r>
            <a:r>
              <a:rPr sz="900" dirty="0">
                <a:solidFill>
                  <a:srgbClr val="C80000"/>
                </a:solidFill>
                <a:latin typeface="Arial"/>
                <a:cs typeface="Arial"/>
              </a:rPr>
              <a:t>clock</a:t>
            </a:r>
            <a:r>
              <a:rPr sz="900" spc="-30" dirty="0">
                <a:solidFill>
                  <a:srgbClr val="C80000"/>
                </a:solidFill>
                <a:latin typeface="Arial"/>
                <a:cs typeface="Arial"/>
              </a:rPr>
              <a:t> </a:t>
            </a:r>
            <a:r>
              <a:rPr sz="900" dirty="0">
                <a:solidFill>
                  <a:srgbClr val="C80000"/>
                </a:solidFill>
                <a:latin typeface="Arial"/>
                <a:cs typeface="Arial"/>
              </a:rPr>
              <a:t>drift</a:t>
            </a:r>
            <a:r>
              <a:rPr sz="900" spc="-30" dirty="0">
                <a:solidFill>
                  <a:srgbClr val="C80000"/>
                </a:solidFill>
                <a:latin typeface="Arial"/>
                <a:cs typeface="Arial"/>
              </a:rPr>
              <a:t> </a:t>
            </a:r>
            <a:r>
              <a:rPr sz="900" dirty="0">
                <a:solidFill>
                  <a:srgbClr val="C80000"/>
                </a:solidFill>
                <a:latin typeface="Arial"/>
                <a:cs typeface="Arial"/>
              </a:rPr>
              <a:t>rate</a:t>
            </a:r>
            <a:r>
              <a:rPr sz="900" spc="-30" dirty="0">
                <a:solidFill>
                  <a:srgbClr val="C80000"/>
                </a:solidFill>
                <a:latin typeface="Arial"/>
                <a:cs typeface="Arial"/>
              </a:rPr>
              <a:t> </a:t>
            </a:r>
            <a:r>
              <a:rPr sz="900" i="1" spc="-25" dirty="0">
                <a:latin typeface="Arial"/>
                <a:cs typeface="Arial"/>
              </a:rPr>
              <a:t>ρ</a:t>
            </a:r>
            <a:r>
              <a:rPr sz="900" spc="-25" dirty="0">
                <a:latin typeface="Arial"/>
                <a:cs typeface="Arial"/>
              </a:rPr>
              <a:t>.</a:t>
            </a:r>
            <a:endParaRPr sz="900">
              <a:latin typeface="Arial"/>
              <a:cs typeface="Arial"/>
            </a:endParaRPr>
          </a:p>
          <a:p>
            <a:pPr marL="278130" indent="-120650">
              <a:lnSpc>
                <a:spcPct val="100000"/>
              </a:lnSpc>
              <a:spcBef>
                <a:spcPts val="125"/>
              </a:spcBef>
              <a:buClr>
                <a:srgbClr val="3333B2"/>
              </a:buClr>
              <a:buFont typeface="Menlo"/>
              <a:buChar char="•"/>
              <a:tabLst>
                <a:tab pos="278765" algn="l"/>
              </a:tabLst>
            </a:pPr>
            <a:r>
              <a:rPr sz="900" i="1" spc="-10" dirty="0">
                <a:latin typeface="Arial"/>
                <a:cs typeface="Arial"/>
              </a:rPr>
              <a:t>F</a:t>
            </a:r>
            <a:r>
              <a:rPr sz="900" i="1" spc="-140" dirty="0">
                <a:latin typeface="Arial"/>
                <a:cs typeface="Arial"/>
              </a:rPr>
              <a:t> </a:t>
            </a:r>
            <a:r>
              <a:rPr sz="900" dirty="0">
                <a:latin typeface="Arial"/>
                <a:cs typeface="Arial"/>
              </a:rPr>
              <a:t>(</a:t>
            </a:r>
            <a:r>
              <a:rPr sz="900" i="1" dirty="0">
                <a:latin typeface="Arial"/>
                <a:cs typeface="Arial"/>
              </a:rPr>
              <a:t>t</a:t>
            </a:r>
            <a:r>
              <a:rPr sz="900" i="1" spc="-170" dirty="0">
                <a:latin typeface="Arial"/>
                <a:cs typeface="Arial"/>
              </a:rPr>
              <a:t> </a:t>
            </a:r>
            <a:r>
              <a:rPr sz="900" spc="55" dirty="0">
                <a:latin typeface="Arial"/>
                <a:cs typeface="Arial"/>
              </a:rPr>
              <a:t>)</a:t>
            </a:r>
            <a:r>
              <a:rPr sz="900" spc="-40" dirty="0">
                <a:latin typeface="Arial"/>
                <a:cs typeface="Arial"/>
              </a:rPr>
              <a:t> </a:t>
            </a:r>
            <a:r>
              <a:rPr sz="900" dirty="0">
                <a:latin typeface="Arial"/>
                <a:cs typeface="Arial"/>
              </a:rPr>
              <a:t>denotes</a:t>
            </a:r>
            <a:r>
              <a:rPr sz="900" spc="-20" dirty="0">
                <a:latin typeface="Arial"/>
                <a:cs typeface="Arial"/>
              </a:rPr>
              <a:t> </a:t>
            </a:r>
            <a:r>
              <a:rPr sz="900" dirty="0">
                <a:latin typeface="Arial"/>
                <a:cs typeface="Arial"/>
              </a:rPr>
              <a:t>oscillator</a:t>
            </a:r>
            <a:r>
              <a:rPr sz="900" spc="-20" dirty="0">
                <a:latin typeface="Arial"/>
                <a:cs typeface="Arial"/>
              </a:rPr>
              <a:t> </a:t>
            </a:r>
            <a:r>
              <a:rPr sz="900" dirty="0">
                <a:latin typeface="Arial"/>
                <a:cs typeface="Arial"/>
              </a:rPr>
              <a:t>frequency</a:t>
            </a:r>
            <a:r>
              <a:rPr sz="900" spc="-25" dirty="0">
                <a:latin typeface="Arial"/>
                <a:cs typeface="Arial"/>
              </a:rPr>
              <a:t> </a:t>
            </a:r>
            <a:r>
              <a:rPr sz="900" dirty="0">
                <a:latin typeface="Arial"/>
                <a:cs typeface="Arial"/>
              </a:rPr>
              <a:t>of</a:t>
            </a:r>
            <a:r>
              <a:rPr sz="900" spc="-20" dirty="0">
                <a:latin typeface="Arial"/>
                <a:cs typeface="Arial"/>
              </a:rPr>
              <a:t> </a:t>
            </a:r>
            <a:r>
              <a:rPr sz="900" dirty="0">
                <a:latin typeface="Arial"/>
                <a:cs typeface="Arial"/>
              </a:rPr>
              <a:t>the</a:t>
            </a:r>
            <a:r>
              <a:rPr sz="900" spc="-25" dirty="0">
                <a:latin typeface="Arial"/>
                <a:cs typeface="Arial"/>
              </a:rPr>
              <a:t> </a:t>
            </a:r>
            <a:r>
              <a:rPr sz="900" dirty="0">
                <a:latin typeface="Arial"/>
                <a:cs typeface="Arial"/>
              </a:rPr>
              <a:t>hardware</a:t>
            </a:r>
            <a:r>
              <a:rPr sz="900" spc="-20" dirty="0">
                <a:latin typeface="Arial"/>
                <a:cs typeface="Arial"/>
              </a:rPr>
              <a:t> </a:t>
            </a:r>
            <a:r>
              <a:rPr sz="900" dirty="0">
                <a:latin typeface="Arial"/>
                <a:cs typeface="Arial"/>
              </a:rPr>
              <a:t>clock</a:t>
            </a:r>
            <a:r>
              <a:rPr sz="900" spc="-20" dirty="0">
                <a:latin typeface="Arial"/>
                <a:cs typeface="Arial"/>
              </a:rPr>
              <a:t> </a:t>
            </a:r>
            <a:r>
              <a:rPr sz="900" dirty="0">
                <a:latin typeface="Arial"/>
                <a:cs typeface="Arial"/>
              </a:rPr>
              <a:t>at</a:t>
            </a:r>
            <a:r>
              <a:rPr sz="900" spc="-25" dirty="0">
                <a:latin typeface="Arial"/>
                <a:cs typeface="Arial"/>
              </a:rPr>
              <a:t> </a:t>
            </a:r>
            <a:r>
              <a:rPr sz="900" dirty="0">
                <a:latin typeface="Arial"/>
                <a:cs typeface="Arial"/>
              </a:rPr>
              <a:t>time</a:t>
            </a:r>
            <a:r>
              <a:rPr sz="900" spc="-20" dirty="0">
                <a:latin typeface="Arial"/>
                <a:cs typeface="Arial"/>
              </a:rPr>
              <a:t> </a:t>
            </a:r>
            <a:r>
              <a:rPr sz="900" i="1" spc="-50" dirty="0">
                <a:latin typeface="Arial"/>
                <a:cs typeface="Arial"/>
              </a:rPr>
              <a:t>t</a:t>
            </a:r>
            <a:endParaRPr sz="900">
              <a:latin typeface="Arial"/>
              <a:cs typeface="Arial"/>
            </a:endParaRPr>
          </a:p>
          <a:p>
            <a:pPr marL="278130" indent="-120650">
              <a:lnSpc>
                <a:spcPct val="100000"/>
              </a:lnSpc>
              <a:spcBef>
                <a:spcPts val="125"/>
              </a:spcBef>
              <a:buClr>
                <a:srgbClr val="3333B2"/>
              </a:buClr>
              <a:buFont typeface="Menlo"/>
              <a:buChar char="•"/>
              <a:tabLst>
                <a:tab pos="278765" algn="l"/>
              </a:tabLst>
            </a:pPr>
            <a:r>
              <a:rPr sz="900" i="1" dirty="0">
                <a:latin typeface="Arial"/>
                <a:cs typeface="Arial"/>
              </a:rPr>
              <a:t>F</a:t>
            </a:r>
            <a:r>
              <a:rPr sz="900" i="1" spc="70" dirty="0">
                <a:latin typeface="Arial"/>
                <a:cs typeface="Arial"/>
              </a:rPr>
              <a:t> </a:t>
            </a:r>
            <a:r>
              <a:rPr sz="900" dirty="0">
                <a:latin typeface="Arial"/>
                <a:cs typeface="Arial"/>
              </a:rPr>
              <a:t>is</a:t>
            </a:r>
            <a:r>
              <a:rPr sz="900" spc="-20" dirty="0">
                <a:latin typeface="Arial"/>
                <a:cs typeface="Arial"/>
              </a:rPr>
              <a:t> </a:t>
            </a:r>
            <a:r>
              <a:rPr sz="900" dirty="0">
                <a:latin typeface="Arial"/>
                <a:cs typeface="Arial"/>
              </a:rPr>
              <a:t>the</a:t>
            </a:r>
            <a:r>
              <a:rPr sz="900" spc="-25" dirty="0">
                <a:latin typeface="Arial"/>
                <a:cs typeface="Arial"/>
              </a:rPr>
              <a:t> </a:t>
            </a:r>
            <a:r>
              <a:rPr sz="900" spc="-10" dirty="0">
                <a:latin typeface="Arial"/>
                <a:cs typeface="Arial"/>
              </a:rPr>
              <a:t>clock’s</a:t>
            </a:r>
            <a:r>
              <a:rPr sz="900" spc="-20" dirty="0">
                <a:latin typeface="Arial"/>
                <a:cs typeface="Arial"/>
              </a:rPr>
              <a:t> </a:t>
            </a:r>
            <a:r>
              <a:rPr sz="900" dirty="0">
                <a:latin typeface="Arial"/>
                <a:cs typeface="Arial"/>
              </a:rPr>
              <a:t>ideal</a:t>
            </a:r>
            <a:r>
              <a:rPr sz="900" spc="-20" dirty="0">
                <a:latin typeface="Arial"/>
                <a:cs typeface="Arial"/>
              </a:rPr>
              <a:t> </a:t>
            </a:r>
            <a:r>
              <a:rPr sz="900" dirty="0">
                <a:latin typeface="Arial"/>
                <a:cs typeface="Arial"/>
              </a:rPr>
              <a:t>(constant)</a:t>
            </a:r>
            <a:r>
              <a:rPr sz="900" spc="-20" dirty="0">
                <a:latin typeface="Arial"/>
                <a:cs typeface="Arial"/>
              </a:rPr>
              <a:t> </a:t>
            </a:r>
            <a:r>
              <a:rPr sz="900" dirty="0">
                <a:latin typeface="Arial"/>
                <a:cs typeface="Arial"/>
              </a:rPr>
              <a:t>frequency</a:t>
            </a:r>
            <a:r>
              <a:rPr sz="900" spc="-20" dirty="0">
                <a:latin typeface="Arial"/>
                <a:cs typeface="Arial"/>
              </a:rPr>
              <a:t> </a:t>
            </a:r>
            <a:r>
              <a:rPr sz="900" i="1" spc="350" dirty="0">
                <a:latin typeface="Menlo"/>
                <a:cs typeface="Menlo"/>
              </a:rPr>
              <a:t>⇒</a:t>
            </a:r>
            <a:r>
              <a:rPr sz="900" i="1" spc="-295" dirty="0">
                <a:latin typeface="Menlo"/>
                <a:cs typeface="Menlo"/>
              </a:rPr>
              <a:t> </a:t>
            </a:r>
            <a:r>
              <a:rPr sz="900" dirty="0">
                <a:latin typeface="Arial"/>
                <a:cs typeface="Arial"/>
              </a:rPr>
              <a:t>living</a:t>
            </a:r>
            <a:r>
              <a:rPr sz="900" spc="-20" dirty="0">
                <a:latin typeface="Arial"/>
                <a:cs typeface="Arial"/>
              </a:rPr>
              <a:t> </a:t>
            </a:r>
            <a:r>
              <a:rPr sz="900" dirty="0">
                <a:latin typeface="Arial"/>
                <a:cs typeface="Arial"/>
              </a:rPr>
              <a:t>up</a:t>
            </a:r>
            <a:r>
              <a:rPr sz="900" spc="-25" dirty="0">
                <a:latin typeface="Arial"/>
                <a:cs typeface="Arial"/>
              </a:rPr>
              <a:t> </a:t>
            </a:r>
            <a:r>
              <a:rPr sz="900" dirty="0">
                <a:latin typeface="Arial"/>
                <a:cs typeface="Arial"/>
              </a:rPr>
              <a:t>to</a:t>
            </a:r>
            <a:r>
              <a:rPr sz="900" spc="-20" dirty="0">
                <a:latin typeface="Arial"/>
                <a:cs typeface="Arial"/>
              </a:rPr>
              <a:t> </a:t>
            </a:r>
            <a:r>
              <a:rPr sz="900" spc="-10" dirty="0">
                <a:latin typeface="Arial"/>
                <a:cs typeface="Arial"/>
              </a:rPr>
              <a:t>specifications:</a:t>
            </a:r>
            <a:endParaRPr sz="900">
              <a:latin typeface="Arial"/>
              <a:cs typeface="Arial"/>
            </a:endParaRPr>
          </a:p>
        </p:txBody>
      </p:sp>
      <p:sp>
        <p:nvSpPr>
          <p:cNvPr id="5" name="object 5"/>
          <p:cNvSpPr txBox="1"/>
          <p:nvPr/>
        </p:nvSpPr>
        <p:spPr>
          <a:xfrm>
            <a:off x="2402293" y="1292410"/>
            <a:ext cx="242570" cy="162560"/>
          </a:xfrm>
          <a:prstGeom prst="rect">
            <a:avLst/>
          </a:prstGeom>
        </p:spPr>
        <p:txBody>
          <a:bodyPr vert="horz" wrap="square" lIns="0" tIns="12065" rIns="0" bIns="0" rtlCol="0">
            <a:spAutoFit/>
          </a:bodyPr>
          <a:lstStyle/>
          <a:p>
            <a:pPr marL="12700">
              <a:lnSpc>
                <a:spcPct val="100000"/>
              </a:lnSpc>
              <a:spcBef>
                <a:spcPts val="95"/>
              </a:spcBef>
            </a:pPr>
            <a:r>
              <a:rPr sz="900" i="1" spc="-10" dirty="0">
                <a:latin typeface="Arial"/>
                <a:cs typeface="Arial"/>
              </a:rPr>
              <a:t>F</a:t>
            </a:r>
            <a:r>
              <a:rPr sz="900" i="1" spc="-110" dirty="0">
                <a:latin typeface="Arial"/>
                <a:cs typeface="Arial"/>
              </a:rPr>
              <a:t> </a:t>
            </a:r>
            <a:r>
              <a:rPr sz="900" dirty="0">
                <a:latin typeface="Arial"/>
                <a:cs typeface="Arial"/>
              </a:rPr>
              <a:t>(</a:t>
            </a:r>
            <a:r>
              <a:rPr sz="900" i="1" dirty="0">
                <a:latin typeface="Arial"/>
                <a:cs typeface="Arial"/>
              </a:rPr>
              <a:t>t</a:t>
            </a:r>
            <a:r>
              <a:rPr sz="900" i="1" spc="-145" dirty="0">
                <a:latin typeface="Arial"/>
                <a:cs typeface="Arial"/>
              </a:rPr>
              <a:t> </a:t>
            </a:r>
            <a:r>
              <a:rPr sz="900" spc="5" dirty="0">
                <a:latin typeface="Arial"/>
                <a:cs typeface="Arial"/>
              </a:rPr>
              <a:t>)</a:t>
            </a:r>
            <a:endParaRPr sz="900">
              <a:latin typeface="Arial"/>
              <a:cs typeface="Arial"/>
            </a:endParaRPr>
          </a:p>
        </p:txBody>
      </p:sp>
      <p:sp>
        <p:nvSpPr>
          <p:cNvPr id="6" name="object 6"/>
          <p:cNvSpPr/>
          <p:nvPr/>
        </p:nvSpPr>
        <p:spPr>
          <a:xfrm>
            <a:off x="2414993" y="1467599"/>
            <a:ext cx="217170" cy="0"/>
          </a:xfrm>
          <a:custGeom>
            <a:avLst/>
            <a:gdLst/>
            <a:ahLst/>
            <a:cxnLst/>
            <a:rect l="l" t="t" r="r" b="b"/>
            <a:pathLst>
              <a:path w="217169">
                <a:moveTo>
                  <a:pt x="0" y="0"/>
                </a:moveTo>
                <a:lnTo>
                  <a:pt x="216738" y="0"/>
                </a:lnTo>
              </a:path>
            </a:pathLst>
          </a:custGeom>
          <a:ln w="4559">
            <a:solidFill>
              <a:srgbClr val="000000"/>
            </a:solidFill>
          </a:ln>
        </p:spPr>
        <p:txBody>
          <a:bodyPr wrap="square" lIns="0" tIns="0" rIns="0" bIns="0" rtlCol="0"/>
          <a:lstStyle/>
          <a:p>
            <a:endParaRPr/>
          </a:p>
        </p:txBody>
      </p:sp>
      <p:sp>
        <p:nvSpPr>
          <p:cNvPr id="7" name="object 7"/>
          <p:cNvSpPr txBox="1"/>
          <p:nvPr/>
        </p:nvSpPr>
        <p:spPr>
          <a:xfrm>
            <a:off x="2468752" y="1447617"/>
            <a:ext cx="95250" cy="162560"/>
          </a:xfrm>
          <a:prstGeom prst="rect">
            <a:avLst/>
          </a:prstGeom>
        </p:spPr>
        <p:txBody>
          <a:bodyPr vert="horz" wrap="square" lIns="0" tIns="12065" rIns="0" bIns="0" rtlCol="0">
            <a:spAutoFit/>
          </a:bodyPr>
          <a:lstStyle/>
          <a:p>
            <a:pPr marL="12700">
              <a:lnSpc>
                <a:spcPct val="100000"/>
              </a:lnSpc>
              <a:spcBef>
                <a:spcPts val="95"/>
              </a:spcBef>
            </a:pPr>
            <a:r>
              <a:rPr sz="900" i="1" spc="-5" dirty="0">
                <a:latin typeface="Arial"/>
                <a:cs typeface="Arial"/>
              </a:rPr>
              <a:t>F</a:t>
            </a:r>
            <a:endParaRPr sz="900">
              <a:latin typeface="Arial"/>
              <a:cs typeface="Arial"/>
            </a:endParaRPr>
          </a:p>
        </p:txBody>
      </p:sp>
      <p:sp>
        <p:nvSpPr>
          <p:cNvPr id="8" name="object 8"/>
          <p:cNvSpPr txBox="1"/>
          <p:nvPr/>
        </p:nvSpPr>
        <p:spPr>
          <a:xfrm>
            <a:off x="1713382" y="1369499"/>
            <a:ext cx="1434465" cy="162560"/>
          </a:xfrm>
          <a:prstGeom prst="rect">
            <a:avLst/>
          </a:prstGeom>
        </p:spPr>
        <p:txBody>
          <a:bodyPr vert="horz" wrap="square" lIns="0" tIns="12065" rIns="0" bIns="0" rtlCol="0">
            <a:spAutoFit/>
          </a:bodyPr>
          <a:lstStyle/>
          <a:p>
            <a:pPr marL="12700">
              <a:lnSpc>
                <a:spcPct val="100000"/>
              </a:lnSpc>
              <a:spcBef>
                <a:spcPts val="95"/>
              </a:spcBef>
              <a:tabLst>
                <a:tab pos="958215" algn="l"/>
              </a:tabLst>
            </a:pPr>
            <a:r>
              <a:rPr sz="900" i="1" dirty="0">
                <a:latin typeface="Menlo"/>
                <a:cs typeface="Menlo"/>
              </a:rPr>
              <a:t>∀</a:t>
            </a:r>
            <a:r>
              <a:rPr sz="900" i="1" dirty="0">
                <a:latin typeface="Arial"/>
                <a:cs typeface="Arial"/>
              </a:rPr>
              <a:t>t</a:t>
            </a:r>
            <a:r>
              <a:rPr sz="900" i="1" spc="30" dirty="0">
                <a:latin typeface="Arial"/>
                <a:cs typeface="Arial"/>
              </a:rPr>
              <a:t> </a:t>
            </a:r>
            <a:r>
              <a:rPr sz="900" dirty="0">
                <a:latin typeface="Arial"/>
                <a:cs typeface="Arial"/>
              </a:rPr>
              <a:t>:</a:t>
            </a:r>
            <a:r>
              <a:rPr sz="900" spc="-50" dirty="0">
                <a:latin typeface="Arial"/>
                <a:cs typeface="Arial"/>
              </a:rPr>
              <a:t> </a:t>
            </a:r>
            <a:r>
              <a:rPr sz="900" dirty="0">
                <a:latin typeface="Arial"/>
                <a:cs typeface="Arial"/>
              </a:rPr>
              <a:t>(1</a:t>
            </a:r>
            <a:r>
              <a:rPr sz="900" spc="-130" dirty="0">
                <a:latin typeface="Arial"/>
                <a:cs typeface="Arial"/>
              </a:rPr>
              <a:t> </a:t>
            </a:r>
            <a:r>
              <a:rPr sz="900" i="1" spc="120" dirty="0">
                <a:latin typeface="Menlo"/>
                <a:cs typeface="Menlo"/>
              </a:rPr>
              <a:t>−</a:t>
            </a:r>
            <a:r>
              <a:rPr sz="900" i="1" spc="120" dirty="0">
                <a:latin typeface="Arial"/>
                <a:cs typeface="Arial"/>
              </a:rPr>
              <a:t>ρ</a:t>
            </a:r>
            <a:r>
              <a:rPr sz="900" spc="120" dirty="0">
                <a:latin typeface="Arial"/>
                <a:cs typeface="Arial"/>
              </a:rPr>
              <a:t>)</a:t>
            </a:r>
            <a:r>
              <a:rPr sz="900" spc="-50" dirty="0">
                <a:latin typeface="Arial"/>
                <a:cs typeface="Arial"/>
              </a:rPr>
              <a:t> </a:t>
            </a:r>
            <a:r>
              <a:rPr sz="900" i="1" spc="100" dirty="0">
                <a:latin typeface="Menlo"/>
                <a:cs typeface="Menlo"/>
              </a:rPr>
              <a:t>≤</a:t>
            </a:r>
            <a:r>
              <a:rPr sz="900" i="1" dirty="0">
                <a:latin typeface="Menlo"/>
                <a:cs typeface="Menlo"/>
              </a:rPr>
              <a:t>	</a:t>
            </a:r>
            <a:r>
              <a:rPr sz="900" i="1" spc="150" dirty="0">
                <a:latin typeface="Menlo"/>
                <a:cs typeface="Menlo"/>
              </a:rPr>
              <a:t>≤</a:t>
            </a:r>
            <a:r>
              <a:rPr sz="900" i="1" spc="-320" dirty="0">
                <a:latin typeface="Menlo"/>
                <a:cs typeface="Menlo"/>
              </a:rPr>
              <a:t> </a:t>
            </a:r>
            <a:r>
              <a:rPr sz="900" dirty="0">
                <a:latin typeface="Arial"/>
                <a:cs typeface="Arial"/>
              </a:rPr>
              <a:t>(1</a:t>
            </a:r>
            <a:r>
              <a:rPr sz="900" spc="-114" dirty="0">
                <a:latin typeface="Arial"/>
                <a:cs typeface="Arial"/>
              </a:rPr>
              <a:t> </a:t>
            </a:r>
            <a:r>
              <a:rPr sz="900" spc="185" dirty="0">
                <a:latin typeface="Arial"/>
                <a:cs typeface="Arial"/>
              </a:rPr>
              <a:t>+</a:t>
            </a:r>
            <a:r>
              <a:rPr sz="900" spc="-114" dirty="0">
                <a:latin typeface="Arial"/>
                <a:cs typeface="Arial"/>
              </a:rPr>
              <a:t> </a:t>
            </a:r>
            <a:r>
              <a:rPr sz="900" i="1" spc="25" dirty="0">
                <a:latin typeface="Arial"/>
                <a:cs typeface="Arial"/>
              </a:rPr>
              <a:t>ρ</a:t>
            </a:r>
            <a:r>
              <a:rPr sz="900" spc="25" dirty="0">
                <a:latin typeface="Arial"/>
                <a:cs typeface="Arial"/>
              </a:rPr>
              <a:t>)</a:t>
            </a:r>
            <a:endParaRPr sz="900">
              <a:latin typeface="Arial"/>
              <a:cs typeface="Arial"/>
            </a:endParaRPr>
          </a:p>
        </p:txBody>
      </p:sp>
      <p:sp>
        <p:nvSpPr>
          <p:cNvPr id="9" name="object 9"/>
          <p:cNvSpPr txBox="1"/>
          <p:nvPr/>
        </p:nvSpPr>
        <p:spPr>
          <a:xfrm>
            <a:off x="292100" y="1813964"/>
            <a:ext cx="1979930" cy="649605"/>
          </a:xfrm>
          <a:prstGeom prst="rect">
            <a:avLst/>
          </a:prstGeom>
        </p:spPr>
        <p:txBody>
          <a:bodyPr vert="horz" wrap="square" lIns="0" tIns="27305" rIns="0" bIns="0" rtlCol="0">
            <a:spAutoFit/>
          </a:bodyPr>
          <a:lstStyle/>
          <a:p>
            <a:pPr marL="12700">
              <a:lnSpc>
                <a:spcPct val="100000"/>
              </a:lnSpc>
              <a:spcBef>
                <a:spcPts val="215"/>
              </a:spcBef>
            </a:pPr>
            <a:r>
              <a:rPr sz="1000" spc="-10" dirty="0">
                <a:solidFill>
                  <a:srgbClr val="3333B2"/>
                </a:solidFill>
                <a:latin typeface="Arial"/>
                <a:cs typeface="Arial"/>
              </a:rPr>
              <a:t>Observation</a:t>
            </a:r>
            <a:endParaRPr sz="1000" dirty="0">
              <a:latin typeface="Arial"/>
              <a:cs typeface="Arial"/>
            </a:endParaRPr>
          </a:p>
          <a:p>
            <a:pPr marL="12700" marR="5080" algn="just">
              <a:lnSpc>
                <a:spcPts val="1210"/>
              </a:lnSpc>
              <a:spcBef>
                <a:spcPts val="35"/>
              </a:spcBef>
            </a:pPr>
            <a:r>
              <a:rPr sz="900" dirty="0">
                <a:latin typeface="Arial"/>
                <a:cs typeface="Arial"/>
              </a:rPr>
              <a:t>By</a:t>
            </a:r>
            <a:r>
              <a:rPr sz="900" spc="-30" dirty="0">
                <a:latin typeface="Arial"/>
                <a:cs typeface="Arial"/>
              </a:rPr>
              <a:t> </a:t>
            </a:r>
            <a:r>
              <a:rPr sz="900" spc="-10" dirty="0">
                <a:latin typeface="Arial"/>
                <a:cs typeface="Arial"/>
              </a:rPr>
              <a:t>using</a:t>
            </a:r>
            <a:r>
              <a:rPr sz="900" spc="-30" dirty="0">
                <a:latin typeface="Arial"/>
                <a:cs typeface="Arial"/>
              </a:rPr>
              <a:t> </a:t>
            </a:r>
            <a:r>
              <a:rPr sz="900" spc="-20" dirty="0">
                <a:latin typeface="Arial"/>
                <a:cs typeface="Arial"/>
              </a:rPr>
              <a:t>hardware</a:t>
            </a:r>
            <a:r>
              <a:rPr sz="900" spc="-25" dirty="0">
                <a:latin typeface="Arial"/>
                <a:cs typeface="Arial"/>
              </a:rPr>
              <a:t> </a:t>
            </a:r>
            <a:r>
              <a:rPr lang="en-US" sz="900" spc="-10" dirty="0">
                <a:latin typeface="Arial"/>
                <a:cs typeface="Arial"/>
              </a:rPr>
              <a:t>interrupts</a:t>
            </a:r>
            <a:r>
              <a:rPr sz="900" spc="-30" dirty="0">
                <a:latin typeface="Arial"/>
                <a:cs typeface="Arial"/>
              </a:rPr>
              <a:t> </a:t>
            </a:r>
            <a:r>
              <a:rPr sz="900" spc="-10" dirty="0">
                <a:latin typeface="Arial"/>
                <a:cs typeface="Arial"/>
              </a:rPr>
              <a:t>we</a:t>
            </a:r>
            <a:r>
              <a:rPr sz="900" spc="-30" dirty="0">
                <a:latin typeface="Arial"/>
                <a:cs typeface="Arial"/>
              </a:rPr>
              <a:t> </a:t>
            </a:r>
            <a:r>
              <a:rPr sz="900" spc="-10" dirty="0">
                <a:latin typeface="Arial"/>
                <a:cs typeface="Arial"/>
              </a:rPr>
              <a:t>couple </a:t>
            </a:r>
            <a:r>
              <a:rPr sz="900" dirty="0">
                <a:latin typeface="Arial"/>
                <a:cs typeface="Arial"/>
              </a:rPr>
              <a:t>a</a:t>
            </a:r>
            <a:r>
              <a:rPr sz="900" spc="-35" dirty="0">
                <a:latin typeface="Arial"/>
                <a:cs typeface="Arial"/>
              </a:rPr>
              <a:t> </a:t>
            </a:r>
            <a:r>
              <a:rPr sz="900" dirty="0">
                <a:latin typeface="Arial"/>
                <a:cs typeface="Arial"/>
              </a:rPr>
              <a:t>software</a:t>
            </a:r>
            <a:r>
              <a:rPr sz="900" spc="-35" dirty="0">
                <a:latin typeface="Arial"/>
                <a:cs typeface="Arial"/>
              </a:rPr>
              <a:t> </a:t>
            </a:r>
            <a:r>
              <a:rPr sz="900" dirty="0">
                <a:latin typeface="Arial"/>
                <a:cs typeface="Arial"/>
              </a:rPr>
              <a:t>clock</a:t>
            </a:r>
            <a:r>
              <a:rPr sz="900" spc="-30" dirty="0">
                <a:latin typeface="Arial"/>
                <a:cs typeface="Arial"/>
              </a:rPr>
              <a:t> </a:t>
            </a:r>
            <a:r>
              <a:rPr sz="900" dirty="0">
                <a:latin typeface="Arial"/>
                <a:cs typeface="Arial"/>
              </a:rPr>
              <a:t>to</a:t>
            </a:r>
            <a:r>
              <a:rPr sz="900" spc="-35" dirty="0">
                <a:latin typeface="Arial"/>
                <a:cs typeface="Arial"/>
              </a:rPr>
              <a:t> </a:t>
            </a:r>
            <a:r>
              <a:rPr sz="900" dirty="0">
                <a:latin typeface="Arial"/>
                <a:cs typeface="Arial"/>
              </a:rPr>
              <a:t>the</a:t>
            </a:r>
            <a:r>
              <a:rPr sz="900" spc="-30" dirty="0">
                <a:latin typeface="Arial"/>
                <a:cs typeface="Arial"/>
              </a:rPr>
              <a:t> </a:t>
            </a:r>
            <a:r>
              <a:rPr sz="900" dirty="0">
                <a:latin typeface="Arial"/>
                <a:cs typeface="Arial"/>
              </a:rPr>
              <a:t>hardware</a:t>
            </a:r>
            <a:r>
              <a:rPr sz="900" spc="-35" dirty="0">
                <a:latin typeface="Arial"/>
                <a:cs typeface="Arial"/>
              </a:rPr>
              <a:t> </a:t>
            </a:r>
            <a:r>
              <a:rPr sz="900" spc="-10" dirty="0">
                <a:latin typeface="Arial"/>
                <a:cs typeface="Arial"/>
              </a:rPr>
              <a:t>clock, </a:t>
            </a:r>
            <a:r>
              <a:rPr sz="900" dirty="0">
                <a:latin typeface="Arial"/>
                <a:cs typeface="Arial"/>
              </a:rPr>
              <a:t>and</a:t>
            </a:r>
            <a:r>
              <a:rPr sz="900" spc="-25" dirty="0">
                <a:latin typeface="Arial"/>
                <a:cs typeface="Arial"/>
              </a:rPr>
              <a:t> </a:t>
            </a:r>
            <a:r>
              <a:rPr sz="900" dirty="0">
                <a:latin typeface="Arial"/>
                <a:cs typeface="Arial"/>
              </a:rPr>
              <a:t>thus</a:t>
            </a:r>
            <a:r>
              <a:rPr sz="900" spc="-20" dirty="0">
                <a:latin typeface="Arial"/>
                <a:cs typeface="Arial"/>
              </a:rPr>
              <a:t> </a:t>
            </a:r>
            <a:r>
              <a:rPr sz="900" dirty="0">
                <a:latin typeface="Arial"/>
                <a:cs typeface="Arial"/>
              </a:rPr>
              <a:t>also</a:t>
            </a:r>
            <a:r>
              <a:rPr sz="900" spc="-25" dirty="0">
                <a:latin typeface="Arial"/>
                <a:cs typeface="Arial"/>
              </a:rPr>
              <a:t> </a:t>
            </a:r>
            <a:r>
              <a:rPr sz="900" dirty="0">
                <a:latin typeface="Arial"/>
                <a:cs typeface="Arial"/>
              </a:rPr>
              <a:t>its</a:t>
            </a:r>
            <a:r>
              <a:rPr sz="900" spc="-20" dirty="0">
                <a:latin typeface="Arial"/>
                <a:cs typeface="Arial"/>
              </a:rPr>
              <a:t> </a:t>
            </a:r>
            <a:r>
              <a:rPr sz="900" dirty="0">
                <a:latin typeface="Arial"/>
                <a:cs typeface="Arial"/>
              </a:rPr>
              <a:t>clock</a:t>
            </a:r>
            <a:r>
              <a:rPr sz="900" spc="-25" dirty="0">
                <a:latin typeface="Arial"/>
                <a:cs typeface="Arial"/>
              </a:rPr>
              <a:t> </a:t>
            </a:r>
            <a:r>
              <a:rPr sz="900" dirty="0">
                <a:latin typeface="Arial"/>
                <a:cs typeface="Arial"/>
              </a:rPr>
              <a:t>drift</a:t>
            </a:r>
            <a:r>
              <a:rPr sz="900" spc="-20" dirty="0">
                <a:latin typeface="Arial"/>
                <a:cs typeface="Arial"/>
              </a:rPr>
              <a:t> rate:</a:t>
            </a:r>
            <a:endParaRPr sz="900" dirty="0">
              <a:latin typeface="Arial"/>
              <a:cs typeface="Arial"/>
            </a:endParaRPr>
          </a:p>
        </p:txBody>
      </p:sp>
      <p:sp>
        <p:nvSpPr>
          <p:cNvPr id="24" name="object 24"/>
          <p:cNvSpPr txBox="1"/>
          <p:nvPr/>
        </p:nvSpPr>
        <p:spPr>
          <a:xfrm>
            <a:off x="2540914" y="1828436"/>
            <a:ext cx="1424305" cy="177800"/>
          </a:xfrm>
          <a:prstGeom prst="rect">
            <a:avLst/>
          </a:prstGeom>
        </p:spPr>
        <p:txBody>
          <a:bodyPr vert="horz" wrap="square" lIns="0" tIns="12065" rIns="0" bIns="0" rtlCol="0">
            <a:spAutoFit/>
          </a:bodyPr>
          <a:lstStyle/>
          <a:p>
            <a:pPr marL="12700">
              <a:lnSpc>
                <a:spcPct val="100000"/>
              </a:lnSpc>
              <a:spcBef>
                <a:spcPts val="95"/>
              </a:spcBef>
            </a:pPr>
            <a:r>
              <a:rPr sz="1000" spc="-10" dirty="0">
                <a:solidFill>
                  <a:srgbClr val="3333B2"/>
                </a:solidFill>
                <a:latin typeface="Arial"/>
                <a:cs typeface="Arial"/>
              </a:rPr>
              <a:t>Fast,</a:t>
            </a:r>
            <a:r>
              <a:rPr sz="1000" spc="-50" dirty="0">
                <a:solidFill>
                  <a:srgbClr val="3333B2"/>
                </a:solidFill>
                <a:latin typeface="Arial"/>
                <a:cs typeface="Arial"/>
              </a:rPr>
              <a:t> </a:t>
            </a:r>
            <a:r>
              <a:rPr sz="1000" dirty="0">
                <a:solidFill>
                  <a:srgbClr val="3333B2"/>
                </a:solidFill>
                <a:latin typeface="Arial"/>
                <a:cs typeface="Arial"/>
              </a:rPr>
              <a:t>perfect,</a:t>
            </a:r>
            <a:r>
              <a:rPr sz="1000" spc="-45" dirty="0">
                <a:solidFill>
                  <a:srgbClr val="3333B2"/>
                </a:solidFill>
                <a:latin typeface="Arial"/>
                <a:cs typeface="Arial"/>
              </a:rPr>
              <a:t> </a:t>
            </a:r>
            <a:r>
              <a:rPr sz="1000" dirty="0">
                <a:solidFill>
                  <a:srgbClr val="3333B2"/>
                </a:solidFill>
                <a:latin typeface="Arial"/>
                <a:cs typeface="Arial"/>
              </a:rPr>
              <a:t>slow</a:t>
            </a:r>
            <a:r>
              <a:rPr sz="1000" spc="-45" dirty="0">
                <a:solidFill>
                  <a:srgbClr val="3333B2"/>
                </a:solidFill>
                <a:latin typeface="Arial"/>
                <a:cs typeface="Arial"/>
              </a:rPr>
              <a:t> </a:t>
            </a:r>
            <a:r>
              <a:rPr sz="1000" spc="-10" dirty="0">
                <a:solidFill>
                  <a:srgbClr val="3333B2"/>
                </a:solidFill>
                <a:latin typeface="Arial"/>
                <a:cs typeface="Arial"/>
              </a:rPr>
              <a:t>clocks</a:t>
            </a:r>
            <a:endParaRPr sz="1000">
              <a:latin typeface="Arial"/>
              <a:cs typeface="Arial"/>
            </a:endParaRPr>
          </a:p>
        </p:txBody>
      </p:sp>
      <p:pic>
        <p:nvPicPr>
          <p:cNvPr id="25" name="object 25"/>
          <p:cNvPicPr/>
          <p:nvPr/>
        </p:nvPicPr>
        <p:blipFill>
          <a:blip r:embed="rId3" cstate="print"/>
          <a:stretch>
            <a:fillRect/>
          </a:stretch>
        </p:blipFill>
        <p:spPr>
          <a:xfrm>
            <a:off x="2605333" y="2105634"/>
            <a:ext cx="1649441" cy="1131813"/>
          </a:xfrm>
          <a:prstGeom prst="rect">
            <a:avLst/>
          </a:prstGeom>
        </p:spPr>
      </p:pic>
      <p:grpSp>
        <p:nvGrpSpPr>
          <p:cNvPr id="26" name="object 26"/>
          <p:cNvGrpSpPr/>
          <p:nvPr/>
        </p:nvGrpSpPr>
        <p:grpSpPr>
          <a:xfrm>
            <a:off x="0" y="3348469"/>
            <a:ext cx="4608195" cy="107950"/>
            <a:chOff x="0" y="3348469"/>
            <a:chExt cx="4608195" cy="107950"/>
          </a:xfrm>
        </p:grpSpPr>
        <p:sp>
          <p:nvSpPr>
            <p:cNvPr id="27" name="object 2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28" name="object 2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29" name="object 29"/>
          <p:cNvSpPr txBox="1"/>
          <p:nvPr/>
        </p:nvSpPr>
        <p:spPr>
          <a:xfrm>
            <a:off x="53467" y="3349927"/>
            <a:ext cx="94996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Clock</a:t>
            </a:r>
            <a:r>
              <a:rPr sz="500" spc="40" dirty="0">
                <a:latin typeface="Arial"/>
                <a:cs typeface="Arial"/>
                <a:hlinkClick r:id="rId4" action="ppaction://hlinksldjump"/>
              </a:rPr>
              <a:t> </a:t>
            </a:r>
            <a:r>
              <a:rPr sz="500" spc="-10" dirty="0">
                <a:latin typeface="Arial"/>
                <a:cs typeface="Arial"/>
                <a:hlinkClick r:id="rId4" action="ppaction://hlinksldjump"/>
              </a:rPr>
              <a:t>synchronization</a:t>
            </a:r>
            <a:r>
              <a:rPr sz="500" spc="40" dirty="0">
                <a:latin typeface="Arial"/>
                <a:cs typeface="Arial"/>
                <a:hlinkClick r:id="rId4" action="ppaction://hlinksldjump"/>
              </a:rPr>
              <a:t> </a:t>
            </a:r>
            <a:r>
              <a:rPr sz="500" spc="-10" dirty="0">
                <a:latin typeface="Arial"/>
                <a:cs typeface="Arial"/>
                <a:hlinkClick r:id="rId4" action="ppaction://hlinksldjump"/>
              </a:rPr>
              <a:t>algorithms</a:t>
            </a:r>
            <a:endParaRPr sz="500">
              <a:latin typeface="Arial"/>
              <a:cs typeface="Arial"/>
            </a:endParaRPr>
          </a:p>
        </p:txBody>
      </p:sp>
      <p:pic>
        <p:nvPicPr>
          <p:cNvPr id="30" name="Picture 29">
            <a:extLst>
              <a:ext uri="{FF2B5EF4-FFF2-40B4-BE49-F238E27FC236}">
                <a16:creationId xmlns:a16="http://schemas.microsoft.com/office/drawing/2014/main" id="{20B8689B-1B29-E7BD-D3FF-6CCF84E01F9E}"/>
              </a:ext>
            </a:extLst>
          </p:cNvPr>
          <p:cNvPicPr>
            <a:picLocks noChangeAspect="1"/>
          </p:cNvPicPr>
          <p:nvPr/>
        </p:nvPicPr>
        <p:blipFill>
          <a:blip r:embed="rId5"/>
          <a:stretch>
            <a:fillRect/>
          </a:stretch>
        </p:blipFill>
        <p:spPr>
          <a:xfrm>
            <a:off x="292100" y="2463569"/>
            <a:ext cx="1965237" cy="727239"/>
          </a:xfrm>
          <a:prstGeom prst="rect">
            <a:avLst/>
          </a:prstGeom>
        </p:spPr>
      </p:pic>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8417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Coordination</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915168" y="-1515"/>
            <a:ext cx="63944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2" action="ppaction://hlinksldjump"/>
              </a:rPr>
              <a:t>Clock</a:t>
            </a:r>
            <a:r>
              <a:rPr sz="500" spc="-30" dirty="0">
                <a:solidFill>
                  <a:srgbClr val="FFFFFF"/>
                </a:solidFill>
                <a:latin typeface="Arial"/>
                <a:cs typeface="Arial"/>
                <a:hlinkClick r:id="rId2" action="ppaction://hlinksldjump"/>
              </a:rPr>
              <a:t> </a:t>
            </a:r>
            <a:r>
              <a:rPr sz="500" spc="-10" dirty="0">
                <a:solidFill>
                  <a:srgbClr val="FFFFFF"/>
                </a:solidFill>
                <a:latin typeface="Arial"/>
                <a:cs typeface="Arial"/>
                <a:hlinkClick r:id="rId2" action="ppaction://hlinksldjump"/>
              </a:rPr>
              <a:t>synchronization</a:t>
            </a:r>
            <a:endParaRPr sz="500">
              <a:latin typeface="Arial"/>
              <a:cs typeface="Arial"/>
            </a:endParaRPr>
          </a:p>
        </p:txBody>
      </p:sp>
      <p:sp>
        <p:nvSpPr>
          <p:cNvPr id="5" name="object 5"/>
          <p:cNvSpPr txBox="1"/>
          <p:nvPr/>
        </p:nvSpPr>
        <p:spPr>
          <a:xfrm>
            <a:off x="95300" y="197711"/>
            <a:ext cx="2641600" cy="48196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Detecting</a:t>
            </a:r>
            <a:r>
              <a:rPr sz="1200" spc="-50" dirty="0">
                <a:solidFill>
                  <a:srgbClr val="3333B2"/>
                </a:solidFill>
                <a:latin typeface="Arial"/>
                <a:cs typeface="Arial"/>
              </a:rPr>
              <a:t> </a:t>
            </a:r>
            <a:r>
              <a:rPr sz="1200" dirty="0">
                <a:solidFill>
                  <a:srgbClr val="3333B2"/>
                </a:solidFill>
                <a:latin typeface="Arial"/>
                <a:cs typeface="Arial"/>
              </a:rPr>
              <a:t>and</a:t>
            </a:r>
            <a:r>
              <a:rPr sz="1200" spc="-45" dirty="0">
                <a:solidFill>
                  <a:srgbClr val="3333B2"/>
                </a:solidFill>
                <a:latin typeface="Arial"/>
                <a:cs typeface="Arial"/>
              </a:rPr>
              <a:t> </a:t>
            </a:r>
            <a:r>
              <a:rPr sz="1200" dirty="0">
                <a:solidFill>
                  <a:srgbClr val="3333B2"/>
                </a:solidFill>
                <a:latin typeface="Arial"/>
                <a:cs typeface="Arial"/>
              </a:rPr>
              <a:t>adjusting</a:t>
            </a:r>
            <a:r>
              <a:rPr sz="1200" spc="-45" dirty="0">
                <a:solidFill>
                  <a:srgbClr val="3333B2"/>
                </a:solidFill>
                <a:latin typeface="Arial"/>
                <a:cs typeface="Arial"/>
              </a:rPr>
              <a:t> </a:t>
            </a:r>
            <a:r>
              <a:rPr sz="1200" dirty="0">
                <a:solidFill>
                  <a:srgbClr val="3333B2"/>
                </a:solidFill>
                <a:latin typeface="Arial"/>
                <a:cs typeface="Arial"/>
              </a:rPr>
              <a:t>incorrect</a:t>
            </a:r>
            <a:r>
              <a:rPr sz="1200" spc="-45" dirty="0">
                <a:solidFill>
                  <a:srgbClr val="3333B2"/>
                </a:solidFill>
                <a:latin typeface="Arial"/>
                <a:cs typeface="Arial"/>
              </a:rPr>
              <a:t> </a:t>
            </a:r>
            <a:r>
              <a:rPr sz="1200" spc="-10" dirty="0">
                <a:solidFill>
                  <a:srgbClr val="3333B2"/>
                </a:solidFill>
                <a:latin typeface="Arial"/>
                <a:cs typeface="Arial"/>
              </a:rPr>
              <a:t>times</a:t>
            </a:r>
            <a:endParaRPr sz="1200">
              <a:latin typeface="Arial"/>
              <a:cs typeface="Arial"/>
            </a:endParaRPr>
          </a:p>
          <a:p>
            <a:pPr marL="264160">
              <a:lnSpc>
                <a:spcPct val="100000"/>
              </a:lnSpc>
              <a:spcBef>
                <a:spcPts val="960"/>
              </a:spcBef>
            </a:pPr>
            <a:r>
              <a:rPr sz="1000" dirty="0">
                <a:solidFill>
                  <a:srgbClr val="3333B2"/>
                </a:solidFill>
                <a:latin typeface="Arial"/>
                <a:cs typeface="Arial"/>
              </a:rPr>
              <a:t>Getting</a:t>
            </a:r>
            <a:r>
              <a:rPr sz="1000" spc="-30" dirty="0">
                <a:solidFill>
                  <a:srgbClr val="3333B2"/>
                </a:solidFill>
                <a:latin typeface="Arial"/>
                <a:cs typeface="Arial"/>
              </a:rPr>
              <a:t> </a:t>
            </a:r>
            <a:r>
              <a:rPr sz="1000" dirty="0">
                <a:solidFill>
                  <a:srgbClr val="3333B2"/>
                </a:solidFill>
                <a:latin typeface="Arial"/>
                <a:cs typeface="Arial"/>
              </a:rPr>
              <a:t>the</a:t>
            </a:r>
            <a:r>
              <a:rPr sz="1000" spc="-25" dirty="0">
                <a:solidFill>
                  <a:srgbClr val="3333B2"/>
                </a:solidFill>
                <a:latin typeface="Arial"/>
                <a:cs typeface="Arial"/>
              </a:rPr>
              <a:t> </a:t>
            </a:r>
            <a:r>
              <a:rPr sz="1000" dirty="0">
                <a:solidFill>
                  <a:srgbClr val="3333B2"/>
                </a:solidFill>
                <a:latin typeface="Arial"/>
                <a:cs typeface="Arial"/>
              </a:rPr>
              <a:t>current</a:t>
            </a:r>
            <a:r>
              <a:rPr sz="1000" spc="-25" dirty="0">
                <a:solidFill>
                  <a:srgbClr val="3333B2"/>
                </a:solidFill>
                <a:latin typeface="Arial"/>
                <a:cs typeface="Arial"/>
              </a:rPr>
              <a:t> </a:t>
            </a:r>
            <a:r>
              <a:rPr sz="1000" dirty="0">
                <a:solidFill>
                  <a:srgbClr val="3333B2"/>
                </a:solidFill>
                <a:latin typeface="Arial"/>
                <a:cs typeface="Arial"/>
              </a:rPr>
              <a:t>time</a:t>
            </a:r>
            <a:r>
              <a:rPr sz="1000" spc="-25" dirty="0">
                <a:solidFill>
                  <a:srgbClr val="3333B2"/>
                </a:solidFill>
                <a:latin typeface="Arial"/>
                <a:cs typeface="Arial"/>
              </a:rPr>
              <a:t> </a:t>
            </a:r>
            <a:r>
              <a:rPr sz="1000" dirty="0">
                <a:solidFill>
                  <a:srgbClr val="3333B2"/>
                </a:solidFill>
                <a:latin typeface="Arial"/>
                <a:cs typeface="Arial"/>
              </a:rPr>
              <a:t>from</a:t>
            </a:r>
            <a:r>
              <a:rPr sz="1000" spc="-25" dirty="0">
                <a:solidFill>
                  <a:srgbClr val="3333B2"/>
                </a:solidFill>
                <a:latin typeface="Arial"/>
                <a:cs typeface="Arial"/>
              </a:rPr>
              <a:t> </a:t>
            </a:r>
            <a:r>
              <a:rPr sz="1000" dirty="0">
                <a:solidFill>
                  <a:srgbClr val="3333B2"/>
                </a:solidFill>
                <a:latin typeface="Arial"/>
                <a:cs typeface="Arial"/>
              </a:rPr>
              <a:t>a</a:t>
            </a:r>
            <a:r>
              <a:rPr sz="1000" spc="-25" dirty="0">
                <a:solidFill>
                  <a:srgbClr val="3333B2"/>
                </a:solidFill>
                <a:latin typeface="Arial"/>
                <a:cs typeface="Arial"/>
              </a:rPr>
              <a:t> </a:t>
            </a:r>
            <a:r>
              <a:rPr sz="1000" spc="-10" dirty="0">
                <a:solidFill>
                  <a:srgbClr val="3333B2"/>
                </a:solidFill>
                <a:latin typeface="Arial"/>
                <a:cs typeface="Arial"/>
              </a:rPr>
              <a:t>timeserver</a:t>
            </a:r>
            <a:endParaRPr sz="1000">
              <a:latin typeface="Arial"/>
              <a:cs typeface="Arial"/>
            </a:endParaRPr>
          </a:p>
        </p:txBody>
      </p:sp>
      <p:pic>
        <p:nvPicPr>
          <p:cNvPr id="6" name="object 6"/>
          <p:cNvPicPr/>
          <p:nvPr/>
        </p:nvPicPr>
        <p:blipFill>
          <a:blip r:embed="rId3" cstate="print"/>
          <a:stretch>
            <a:fillRect/>
          </a:stretch>
        </p:blipFill>
        <p:spPr>
          <a:xfrm>
            <a:off x="1318031" y="813090"/>
            <a:ext cx="2007428" cy="955960"/>
          </a:xfrm>
          <a:prstGeom prst="rect">
            <a:avLst/>
          </a:prstGeom>
        </p:spPr>
      </p:pic>
      <p:grpSp>
        <p:nvGrpSpPr>
          <p:cNvPr id="8" name="object 8"/>
          <p:cNvGrpSpPr/>
          <p:nvPr/>
        </p:nvGrpSpPr>
        <p:grpSpPr>
          <a:xfrm>
            <a:off x="0" y="3348469"/>
            <a:ext cx="4608195" cy="107950"/>
            <a:chOff x="0" y="3348469"/>
            <a:chExt cx="4608195" cy="107950"/>
          </a:xfrm>
        </p:grpSpPr>
        <p:sp>
          <p:nvSpPr>
            <p:cNvPr id="9" name="object 9"/>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0" name="object 10"/>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1" name="object 11"/>
          <p:cNvSpPr txBox="1"/>
          <p:nvPr/>
        </p:nvSpPr>
        <p:spPr>
          <a:xfrm>
            <a:off x="53467" y="3349927"/>
            <a:ext cx="94996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Clock</a:t>
            </a:r>
            <a:r>
              <a:rPr sz="500" spc="40" dirty="0">
                <a:latin typeface="Arial"/>
                <a:cs typeface="Arial"/>
                <a:hlinkClick r:id="rId4" action="ppaction://hlinksldjump"/>
              </a:rPr>
              <a:t> </a:t>
            </a:r>
            <a:r>
              <a:rPr sz="500" spc="-10" dirty="0">
                <a:latin typeface="Arial"/>
                <a:cs typeface="Arial"/>
                <a:hlinkClick r:id="rId4" action="ppaction://hlinksldjump"/>
              </a:rPr>
              <a:t>synchronization</a:t>
            </a:r>
            <a:r>
              <a:rPr sz="500" spc="40" dirty="0">
                <a:latin typeface="Arial"/>
                <a:cs typeface="Arial"/>
                <a:hlinkClick r:id="rId4" action="ppaction://hlinksldjump"/>
              </a:rPr>
              <a:t> </a:t>
            </a:r>
            <a:r>
              <a:rPr sz="500" spc="-10" dirty="0">
                <a:latin typeface="Arial"/>
                <a:cs typeface="Arial"/>
                <a:hlinkClick r:id="rId4" action="ppaction://hlinksldjump"/>
              </a:rPr>
              <a:t>algorithms</a:t>
            </a:r>
            <a:endParaRPr sz="500">
              <a:latin typeface="Arial"/>
              <a:cs typeface="Arial"/>
            </a:endParaRPr>
          </a:p>
        </p:txBody>
      </p:sp>
      <p:pic>
        <p:nvPicPr>
          <p:cNvPr id="13" name="Picture 12">
            <a:extLst>
              <a:ext uri="{FF2B5EF4-FFF2-40B4-BE49-F238E27FC236}">
                <a16:creationId xmlns:a16="http://schemas.microsoft.com/office/drawing/2014/main" id="{5E76813B-1EB6-2C6C-1F22-B2ED8D0C1931}"/>
              </a:ext>
            </a:extLst>
          </p:cNvPr>
          <p:cNvPicPr>
            <a:picLocks noChangeAspect="1"/>
          </p:cNvPicPr>
          <p:nvPr/>
        </p:nvPicPr>
        <p:blipFill>
          <a:blip r:embed="rId5"/>
          <a:stretch>
            <a:fillRect/>
          </a:stretch>
        </p:blipFill>
        <p:spPr>
          <a:xfrm>
            <a:off x="342758" y="1801440"/>
            <a:ext cx="4211855" cy="1507899"/>
          </a:xfrm>
          <a:prstGeom prst="rect">
            <a:avLst/>
          </a:prstGeom>
        </p:spPr>
      </p:pic>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874135" algn="l"/>
              </a:tabLst>
            </a:pPr>
            <a:r>
              <a:rPr sz="500" spc="-10" dirty="0">
                <a:latin typeface="Arial"/>
                <a:cs typeface="Arial"/>
                <a:hlinkClick r:id="rId2" action="ppaction://hlinksldjump"/>
              </a:rPr>
              <a:t>Coordination</a:t>
            </a:r>
            <a:r>
              <a:rPr sz="500" dirty="0">
                <a:latin typeface="Arial"/>
                <a:cs typeface="Arial"/>
              </a:rPr>
              <a:t>	</a:t>
            </a:r>
            <a:r>
              <a:rPr sz="500" dirty="0">
                <a:solidFill>
                  <a:srgbClr val="FFFFFF"/>
                </a:solidFill>
                <a:latin typeface="Arial"/>
                <a:cs typeface="Arial"/>
                <a:hlinkClick r:id="rId2" action="ppaction://hlinksldjump"/>
              </a:rPr>
              <a:t>Clock</a:t>
            </a:r>
            <a:r>
              <a:rPr sz="500" spc="-30" dirty="0">
                <a:solidFill>
                  <a:srgbClr val="FFFFFF"/>
                </a:solidFill>
                <a:latin typeface="Arial"/>
                <a:cs typeface="Arial"/>
                <a:hlinkClick r:id="rId2" action="ppaction://hlinksldjump"/>
              </a:rPr>
              <a:t> </a:t>
            </a:r>
            <a:r>
              <a:rPr sz="500" spc="-10" dirty="0">
                <a:solidFill>
                  <a:srgbClr val="FFFFFF"/>
                </a:solidFill>
                <a:latin typeface="Arial"/>
                <a:cs typeface="Arial"/>
                <a:hlinkClick r:id="rId2" action="ppaction://hlinksldjump"/>
              </a:rPr>
              <a:t>synchronization</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0" dirty="0"/>
              <a:t>Reference</a:t>
            </a:r>
            <a:r>
              <a:rPr spc="-35" dirty="0"/>
              <a:t> </a:t>
            </a:r>
            <a:r>
              <a:rPr dirty="0"/>
              <a:t>broadcast</a:t>
            </a:r>
            <a:r>
              <a:rPr spc="-35" dirty="0"/>
              <a:t> </a:t>
            </a:r>
            <a:r>
              <a:rPr spc="-10" dirty="0"/>
              <a:t>synchronization</a:t>
            </a:r>
          </a:p>
        </p:txBody>
      </p:sp>
      <p:sp>
        <p:nvSpPr>
          <p:cNvPr id="4" name="object 4"/>
          <p:cNvSpPr txBox="1"/>
          <p:nvPr/>
        </p:nvSpPr>
        <p:spPr>
          <a:xfrm>
            <a:off x="279400" y="443244"/>
            <a:ext cx="3832225" cy="1296670"/>
          </a:xfrm>
          <a:prstGeom prst="rect">
            <a:avLst/>
          </a:prstGeom>
        </p:spPr>
        <p:txBody>
          <a:bodyPr vert="horz" wrap="square" lIns="0" tIns="83820" rIns="0" bIns="0" rtlCol="0">
            <a:spAutoFit/>
          </a:bodyPr>
          <a:lstStyle/>
          <a:p>
            <a:pPr marL="80010">
              <a:lnSpc>
                <a:spcPct val="100000"/>
              </a:lnSpc>
              <a:spcBef>
                <a:spcPts val="660"/>
              </a:spcBef>
            </a:pPr>
            <a:r>
              <a:rPr sz="1000" spc="-10" dirty="0">
                <a:solidFill>
                  <a:srgbClr val="3333B2"/>
                </a:solidFill>
                <a:latin typeface="Arial"/>
                <a:cs typeface="Arial"/>
              </a:rPr>
              <a:t>Essence</a:t>
            </a:r>
            <a:endParaRPr sz="1000">
              <a:latin typeface="Arial"/>
              <a:cs typeface="Arial"/>
            </a:endParaRPr>
          </a:p>
          <a:p>
            <a:pPr marL="329565" indent="-116839">
              <a:lnSpc>
                <a:spcPct val="100000"/>
              </a:lnSpc>
              <a:spcBef>
                <a:spcPts val="500"/>
              </a:spcBef>
              <a:buClr>
                <a:srgbClr val="3333B2"/>
              </a:buClr>
              <a:buFont typeface="Menlo"/>
              <a:buChar char="•"/>
              <a:tabLst>
                <a:tab pos="330200" algn="l"/>
              </a:tabLst>
            </a:pPr>
            <a:r>
              <a:rPr sz="900" dirty="0">
                <a:latin typeface="Arial"/>
                <a:cs typeface="Arial"/>
              </a:rPr>
              <a:t>A</a:t>
            </a:r>
            <a:r>
              <a:rPr sz="900" spc="-40" dirty="0">
                <a:latin typeface="Arial"/>
                <a:cs typeface="Arial"/>
              </a:rPr>
              <a:t> </a:t>
            </a:r>
            <a:r>
              <a:rPr sz="900" dirty="0">
                <a:latin typeface="Arial"/>
                <a:cs typeface="Arial"/>
              </a:rPr>
              <a:t>node</a:t>
            </a:r>
            <a:r>
              <a:rPr sz="900" spc="-20" dirty="0">
                <a:latin typeface="Arial"/>
                <a:cs typeface="Arial"/>
              </a:rPr>
              <a:t> </a:t>
            </a:r>
            <a:r>
              <a:rPr sz="900" dirty="0">
                <a:latin typeface="Arial"/>
                <a:cs typeface="Arial"/>
              </a:rPr>
              <a:t>broadcasts</a:t>
            </a:r>
            <a:r>
              <a:rPr sz="900" spc="-20" dirty="0">
                <a:latin typeface="Arial"/>
                <a:cs typeface="Arial"/>
              </a:rPr>
              <a:t> </a:t>
            </a:r>
            <a:r>
              <a:rPr sz="900" dirty="0">
                <a:latin typeface="Arial"/>
                <a:cs typeface="Arial"/>
              </a:rPr>
              <a:t>a</a:t>
            </a:r>
            <a:r>
              <a:rPr sz="900" spc="-20" dirty="0">
                <a:latin typeface="Arial"/>
                <a:cs typeface="Arial"/>
              </a:rPr>
              <a:t> </a:t>
            </a:r>
            <a:r>
              <a:rPr sz="900" spc="-10" dirty="0">
                <a:latin typeface="Arial"/>
                <a:cs typeface="Arial"/>
              </a:rPr>
              <a:t>reference</a:t>
            </a:r>
            <a:r>
              <a:rPr sz="900" spc="-20" dirty="0">
                <a:latin typeface="Arial"/>
                <a:cs typeface="Arial"/>
              </a:rPr>
              <a:t> </a:t>
            </a:r>
            <a:r>
              <a:rPr sz="900" dirty="0">
                <a:latin typeface="Arial"/>
                <a:cs typeface="Arial"/>
              </a:rPr>
              <a:t>message</a:t>
            </a:r>
            <a:r>
              <a:rPr sz="900" spc="-20" dirty="0">
                <a:latin typeface="Arial"/>
                <a:cs typeface="Arial"/>
              </a:rPr>
              <a:t> </a:t>
            </a:r>
            <a:r>
              <a:rPr sz="900" i="1" dirty="0">
                <a:latin typeface="Arial"/>
                <a:cs typeface="Arial"/>
              </a:rPr>
              <a:t>m </a:t>
            </a:r>
            <a:r>
              <a:rPr sz="900" i="1" spc="350" dirty="0">
                <a:latin typeface="Menlo"/>
                <a:cs typeface="Menlo"/>
              </a:rPr>
              <a:t>⇒</a:t>
            </a:r>
            <a:r>
              <a:rPr sz="900" i="1" spc="-295" dirty="0">
                <a:latin typeface="Menlo"/>
                <a:cs typeface="Menlo"/>
              </a:rPr>
              <a:t> </a:t>
            </a:r>
            <a:r>
              <a:rPr sz="900" dirty="0">
                <a:latin typeface="Arial"/>
                <a:cs typeface="Arial"/>
              </a:rPr>
              <a:t>each</a:t>
            </a:r>
            <a:r>
              <a:rPr sz="900" spc="-20" dirty="0">
                <a:latin typeface="Arial"/>
                <a:cs typeface="Arial"/>
              </a:rPr>
              <a:t> </a:t>
            </a:r>
            <a:r>
              <a:rPr sz="900" dirty="0">
                <a:latin typeface="Arial"/>
                <a:cs typeface="Arial"/>
              </a:rPr>
              <a:t>receiving</a:t>
            </a:r>
            <a:r>
              <a:rPr sz="900" spc="-25" dirty="0">
                <a:latin typeface="Arial"/>
                <a:cs typeface="Arial"/>
              </a:rPr>
              <a:t> </a:t>
            </a:r>
            <a:r>
              <a:rPr sz="900" dirty="0">
                <a:latin typeface="Arial"/>
                <a:cs typeface="Arial"/>
              </a:rPr>
              <a:t>node</a:t>
            </a:r>
            <a:r>
              <a:rPr sz="900" spc="-20" dirty="0">
                <a:latin typeface="Arial"/>
                <a:cs typeface="Arial"/>
              </a:rPr>
              <a:t> </a:t>
            </a:r>
            <a:r>
              <a:rPr sz="900" i="1" spc="-50" dirty="0">
                <a:latin typeface="Arial"/>
                <a:cs typeface="Arial"/>
              </a:rPr>
              <a:t>p</a:t>
            </a:r>
            <a:endParaRPr sz="900">
              <a:latin typeface="Arial"/>
              <a:cs typeface="Arial"/>
            </a:endParaRPr>
          </a:p>
          <a:p>
            <a:pPr marL="333375">
              <a:lnSpc>
                <a:spcPct val="100000"/>
              </a:lnSpc>
              <a:spcBef>
                <a:spcPts val="125"/>
              </a:spcBef>
            </a:pPr>
            <a:r>
              <a:rPr sz="900" dirty="0">
                <a:latin typeface="Arial"/>
                <a:cs typeface="Arial"/>
              </a:rPr>
              <a:t>records</a:t>
            </a:r>
            <a:r>
              <a:rPr sz="900" spc="-10" dirty="0">
                <a:latin typeface="Arial"/>
                <a:cs typeface="Arial"/>
              </a:rPr>
              <a:t> </a:t>
            </a:r>
            <a:r>
              <a:rPr sz="900" dirty="0">
                <a:latin typeface="Arial"/>
                <a:cs typeface="Arial"/>
              </a:rPr>
              <a:t>the</a:t>
            </a:r>
            <a:r>
              <a:rPr sz="900" spc="-10" dirty="0">
                <a:latin typeface="Arial"/>
                <a:cs typeface="Arial"/>
              </a:rPr>
              <a:t> </a:t>
            </a:r>
            <a:r>
              <a:rPr sz="900" dirty="0">
                <a:latin typeface="Arial"/>
                <a:cs typeface="Arial"/>
              </a:rPr>
              <a:t>time</a:t>
            </a:r>
            <a:r>
              <a:rPr sz="900" spc="-10" dirty="0">
                <a:latin typeface="Arial"/>
                <a:cs typeface="Arial"/>
              </a:rPr>
              <a:t> </a:t>
            </a:r>
            <a:r>
              <a:rPr sz="900" i="1" dirty="0">
                <a:latin typeface="Arial"/>
                <a:cs typeface="Arial"/>
              </a:rPr>
              <a:t>T</a:t>
            </a:r>
            <a:r>
              <a:rPr sz="1050" i="1" baseline="-11904" dirty="0">
                <a:latin typeface="Arial"/>
                <a:cs typeface="Arial"/>
              </a:rPr>
              <a:t>p</a:t>
            </a:r>
            <a:r>
              <a:rPr sz="1050" i="1" baseline="-11904" dirty="0">
                <a:latin typeface="STIX Two Text"/>
                <a:cs typeface="STIX Two Text"/>
              </a:rPr>
              <a:t>,</a:t>
            </a:r>
            <a:r>
              <a:rPr sz="1050" i="1" baseline="-11904" dirty="0">
                <a:latin typeface="Arial"/>
                <a:cs typeface="Arial"/>
              </a:rPr>
              <a:t>m</a:t>
            </a:r>
            <a:r>
              <a:rPr sz="1050" i="1" spc="150" baseline="-11904" dirty="0">
                <a:latin typeface="Arial"/>
                <a:cs typeface="Arial"/>
              </a:rPr>
              <a:t> </a:t>
            </a:r>
            <a:r>
              <a:rPr sz="900" dirty="0">
                <a:latin typeface="Arial"/>
                <a:cs typeface="Arial"/>
              </a:rPr>
              <a:t>that</a:t>
            </a:r>
            <a:r>
              <a:rPr sz="900" spc="-5" dirty="0">
                <a:latin typeface="Arial"/>
                <a:cs typeface="Arial"/>
              </a:rPr>
              <a:t> </a:t>
            </a:r>
            <a:r>
              <a:rPr sz="900" dirty="0">
                <a:latin typeface="Arial"/>
                <a:cs typeface="Arial"/>
              </a:rPr>
              <a:t>it</a:t>
            </a:r>
            <a:r>
              <a:rPr sz="900" spc="-10" dirty="0">
                <a:latin typeface="Arial"/>
                <a:cs typeface="Arial"/>
              </a:rPr>
              <a:t> received </a:t>
            </a:r>
            <a:r>
              <a:rPr sz="900" i="1" spc="-25" dirty="0">
                <a:latin typeface="Arial"/>
                <a:cs typeface="Arial"/>
              </a:rPr>
              <a:t>m</a:t>
            </a:r>
            <a:r>
              <a:rPr sz="900" spc="-25" dirty="0">
                <a:latin typeface="Arial"/>
                <a:cs typeface="Arial"/>
              </a:rPr>
              <a:t>.</a:t>
            </a:r>
            <a:endParaRPr sz="900">
              <a:latin typeface="Arial"/>
              <a:cs typeface="Arial"/>
            </a:endParaRPr>
          </a:p>
          <a:p>
            <a:pPr marL="333375" indent="-120650">
              <a:lnSpc>
                <a:spcPct val="100000"/>
              </a:lnSpc>
              <a:spcBef>
                <a:spcPts val="125"/>
              </a:spcBef>
              <a:buFont typeface="Menlo"/>
              <a:buChar char="•"/>
              <a:tabLst>
                <a:tab pos="334010" algn="l"/>
              </a:tabLst>
            </a:pPr>
            <a:r>
              <a:rPr sz="900" dirty="0">
                <a:solidFill>
                  <a:srgbClr val="3333B2"/>
                </a:solidFill>
                <a:latin typeface="Arial"/>
                <a:cs typeface="Arial"/>
              </a:rPr>
              <a:t>Note</a:t>
            </a:r>
            <a:r>
              <a:rPr sz="900" dirty="0">
                <a:latin typeface="Arial"/>
                <a:cs typeface="Arial"/>
              </a:rPr>
              <a:t>:</a:t>
            </a:r>
            <a:r>
              <a:rPr sz="900" spc="35" dirty="0">
                <a:latin typeface="Arial"/>
                <a:cs typeface="Arial"/>
              </a:rPr>
              <a:t> </a:t>
            </a:r>
            <a:r>
              <a:rPr sz="900" i="1" dirty="0">
                <a:latin typeface="Arial"/>
                <a:cs typeface="Arial"/>
              </a:rPr>
              <a:t>T</a:t>
            </a:r>
            <a:r>
              <a:rPr sz="1050" i="1" baseline="-11904" dirty="0">
                <a:latin typeface="Arial"/>
                <a:cs typeface="Arial"/>
              </a:rPr>
              <a:t>p</a:t>
            </a:r>
            <a:r>
              <a:rPr sz="1050" i="1" baseline="-11904" dirty="0">
                <a:latin typeface="STIX Two Text"/>
                <a:cs typeface="STIX Two Text"/>
              </a:rPr>
              <a:t>,</a:t>
            </a:r>
            <a:r>
              <a:rPr sz="1050" i="1" baseline="-11904" dirty="0">
                <a:latin typeface="Arial"/>
                <a:cs typeface="Arial"/>
              </a:rPr>
              <a:t>m</a:t>
            </a:r>
            <a:r>
              <a:rPr sz="1050" i="1" spc="142" baseline="-11904" dirty="0">
                <a:latin typeface="Arial"/>
                <a:cs typeface="Arial"/>
              </a:rPr>
              <a:t> </a:t>
            </a:r>
            <a:r>
              <a:rPr sz="900" dirty="0">
                <a:latin typeface="Arial"/>
                <a:cs typeface="Arial"/>
              </a:rPr>
              <a:t>is</a:t>
            </a:r>
            <a:r>
              <a:rPr sz="900" spc="-15" dirty="0">
                <a:latin typeface="Arial"/>
                <a:cs typeface="Arial"/>
              </a:rPr>
              <a:t> </a:t>
            </a:r>
            <a:r>
              <a:rPr sz="900" dirty="0">
                <a:latin typeface="Arial"/>
                <a:cs typeface="Arial"/>
              </a:rPr>
              <a:t>read</a:t>
            </a:r>
            <a:r>
              <a:rPr sz="900" spc="-15" dirty="0">
                <a:latin typeface="Arial"/>
                <a:cs typeface="Arial"/>
              </a:rPr>
              <a:t> </a:t>
            </a:r>
            <a:r>
              <a:rPr sz="900" dirty="0">
                <a:latin typeface="Arial"/>
                <a:cs typeface="Arial"/>
              </a:rPr>
              <a:t>from</a:t>
            </a:r>
            <a:r>
              <a:rPr sz="900" spc="-20" dirty="0">
                <a:latin typeface="Arial"/>
                <a:cs typeface="Arial"/>
              </a:rPr>
              <a:t> </a:t>
            </a:r>
            <a:r>
              <a:rPr sz="900" i="1" dirty="0">
                <a:latin typeface="Arial"/>
                <a:cs typeface="Arial"/>
              </a:rPr>
              <a:t>p</a:t>
            </a:r>
            <a:r>
              <a:rPr sz="900" dirty="0">
                <a:latin typeface="Arial"/>
                <a:cs typeface="Arial"/>
              </a:rPr>
              <a:t>’s</a:t>
            </a:r>
            <a:r>
              <a:rPr sz="900" spc="-15" dirty="0">
                <a:latin typeface="Arial"/>
                <a:cs typeface="Arial"/>
              </a:rPr>
              <a:t> </a:t>
            </a:r>
            <a:r>
              <a:rPr sz="900" dirty="0">
                <a:latin typeface="Arial"/>
                <a:cs typeface="Arial"/>
              </a:rPr>
              <a:t>local</a:t>
            </a:r>
            <a:r>
              <a:rPr sz="900" spc="-20" dirty="0">
                <a:latin typeface="Arial"/>
                <a:cs typeface="Arial"/>
              </a:rPr>
              <a:t> </a:t>
            </a:r>
            <a:r>
              <a:rPr sz="900" spc="-10" dirty="0">
                <a:latin typeface="Arial"/>
                <a:cs typeface="Arial"/>
              </a:rPr>
              <a:t>clock.</a:t>
            </a:r>
            <a:endParaRPr sz="900">
              <a:latin typeface="Arial"/>
              <a:cs typeface="Arial"/>
            </a:endParaRPr>
          </a:p>
          <a:p>
            <a:pPr>
              <a:lnSpc>
                <a:spcPct val="100000"/>
              </a:lnSpc>
              <a:spcBef>
                <a:spcPts val="45"/>
              </a:spcBef>
            </a:pPr>
            <a:endParaRPr sz="1400">
              <a:latin typeface="Arial"/>
              <a:cs typeface="Arial"/>
            </a:endParaRPr>
          </a:p>
          <a:p>
            <a:pPr marL="25400" marR="17780">
              <a:lnSpc>
                <a:spcPct val="108400"/>
              </a:lnSpc>
              <a:tabLst>
                <a:tab pos="2273935" algn="l"/>
              </a:tabLst>
            </a:pPr>
            <a:r>
              <a:rPr sz="1000" spc="-10" dirty="0">
                <a:solidFill>
                  <a:srgbClr val="3333B2"/>
                </a:solidFill>
                <a:latin typeface="Arial"/>
                <a:cs typeface="Arial"/>
              </a:rPr>
              <a:t>Problem:</a:t>
            </a:r>
            <a:r>
              <a:rPr sz="1000" spc="10" dirty="0">
                <a:solidFill>
                  <a:srgbClr val="3333B2"/>
                </a:solidFill>
                <a:latin typeface="Arial"/>
                <a:cs typeface="Arial"/>
              </a:rPr>
              <a:t> </a:t>
            </a:r>
            <a:r>
              <a:rPr sz="1000" spc="-20" dirty="0">
                <a:solidFill>
                  <a:srgbClr val="3333B2"/>
                </a:solidFill>
                <a:latin typeface="Arial"/>
                <a:cs typeface="Arial"/>
              </a:rPr>
              <a:t>averaging</a:t>
            </a:r>
            <a:r>
              <a:rPr sz="1000" spc="-40" dirty="0">
                <a:solidFill>
                  <a:srgbClr val="3333B2"/>
                </a:solidFill>
                <a:latin typeface="Arial"/>
                <a:cs typeface="Arial"/>
              </a:rPr>
              <a:t> </a:t>
            </a:r>
            <a:r>
              <a:rPr sz="1000" dirty="0">
                <a:solidFill>
                  <a:srgbClr val="3333B2"/>
                </a:solidFill>
                <a:latin typeface="Arial"/>
                <a:cs typeface="Arial"/>
              </a:rPr>
              <a:t>will</a:t>
            </a:r>
            <a:r>
              <a:rPr sz="1000" spc="-40" dirty="0">
                <a:solidFill>
                  <a:srgbClr val="3333B2"/>
                </a:solidFill>
                <a:latin typeface="Arial"/>
                <a:cs typeface="Arial"/>
              </a:rPr>
              <a:t> </a:t>
            </a:r>
            <a:r>
              <a:rPr sz="1000" dirty="0">
                <a:solidFill>
                  <a:srgbClr val="3333B2"/>
                </a:solidFill>
                <a:latin typeface="Arial"/>
                <a:cs typeface="Arial"/>
              </a:rPr>
              <a:t>not</a:t>
            </a:r>
            <a:r>
              <a:rPr sz="1000" spc="-45" dirty="0">
                <a:solidFill>
                  <a:srgbClr val="3333B2"/>
                </a:solidFill>
                <a:latin typeface="Arial"/>
                <a:cs typeface="Arial"/>
              </a:rPr>
              <a:t> </a:t>
            </a:r>
            <a:r>
              <a:rPr sz="1000" spc="-10" dirty="0">
                <a:solidFill>
                  <a:srgbClr val="3333B2"/>
                </a:solidFill>
                <a:latin typeface="Arial"/>
                <a:cs typeface="Arial"/>
              </a:rPr>
              <a:t>capture</a:t>
            </a:r>
            <a:r>
              <a:rPr sz="1000" dirty="0">
                <a:solidFill>
                  <a:srgbClr val="3333B2"/>
                </a:solidFill>
                <a:latin typeface="Arial"/>
                <a:cs typeface="Arial"/>
              </a:rPr>
              <a:t>	RBS</a:t>
            </a:r>
            <a:r>
              <a:rPr sz="1000" spc="-40" dirty="0">
                <a:solidFill>
                  <a:srgbClr val="3333B2"/>
                </a:solidFill>
                <a:latin typeface="Arial"/>
                <a:cs typeface="Arial"/>
              </a:rPr>
              <a:t> </a:t>
            </a:r>
            <a:r>
              <a:rPr sz="1000" dirty="0">
                <a:solidFill>
                  <a:srgbClr val="3333B2"/>
                </a:solidFill>
                <a:latin typeface="Arial"/>
                <a:cs typeface="Arial"/>
              </a:rPr>
              <a:t>minimizes</a:t>
            </a:r>
            <a:r>
              <a:rPr sz="1000" spc="-40" dirty="0">
                <a:solidFill>
                  <a:srgbClr val="3333B2"/>
                </a:solidFill>
                <a:latin typeface="Arial"/>
                <a:cs typeface="Arial"/>
              </a:rPr>
              <a:t> </a:t>
            </a:r>
            <a:r>
              <a:rPr sz="1000" dirty="0">
                <a:solidFill>
                  <a:srgbClr val="3333B2"/>
                </a:solidFill>
                <a:latin typeface="Arial"/>
                <a:cs typeface="Arial"/>
              </a:rPr>
              <a:t>critical</a:t>
            </a:r>
            <a:r>
              <a:rPr sz="1000" spc="-35" dirty="0">
                <a:solidFill>
                  <a:srgbClr val="3333B2"/>
                </a:solidFill>
                <a:latin typeface="Arial"/>
                <a:cs typeface="Arial"/>
              </a:rPr>
              <a:t> </a:t>
            </a:r>
            <a:r>
              <a:rPr sz="1000" spc="-20" dirty="0">
                <a:solidFill>
                  <a:srgbClr val="3333B2"/>
                </a:solidFill>
                <a:latin typeface="Arial"/>
                <a:cs typeface="Arial"/>
              </a:rPr>
              <a:t>path </a:t>
            </a:r>
            <a:r>
              <a:rPr sz="1000" dirty="0">
                <a:solidFill>
                  <a:srgbClr val="3333B2"/>
                </a:solidFill>
                <a:latin typeface="Arial"/>
                <a:cs typeface="Arial"/>
              </a:rPr>
              <a:t>drift</a:t>
            </a:r>
            <a:r>
              <a:rPr sz="1000" spc="-30" dirty="0">
                <a:solidFill>
                  <a:srgbClr val="3333B2"/>
                </a:solidFill>
                <a:latin typeface="Arial"/>
                <a:cs typeface="Arial"/>
              </a:rPr>
              <a:t> </a:t>
            </a:r>
            <a:r>
              <a:rPr sz="1000" i="1" spc="390" dirty="0">
                <a:solidFill>
                  <a:srgbClr val="3333B2"/>
                </a:solidFill>
                <a:latin typeface="Menlo"/>
                <a:cs typeface="Menlo"/>
              </a:rPr>
              <a:t>⇒</a:t>
            </a:r>
            <a:r>
              <a:rPr sz="1000" i="1" spc="-330" dirty="0">
                <a:solidFill>
                  <a:srgbClr val="3333B2"/>
                </a:solidFill>
                <a:latin typeface="Menlo"/>
                <a:cs typeface="Menlo"/>
              </a:rPr>
              <a:t> </a:t>
            </a:r>
            <a:r>
              <a:rPr sz="1000" dirty="0">
                <a:solidFill>
                  <a:srgbClr val="3333B2"/>
                </a:solidFill>
                <a:latin typeface="Arial"/>
                <a:cs typeface="Arial"/>
              </a:rPr>
              <a:t>use</a:t>
            </a:r>
            <a:r>
              <a:rPr sz="1000" spc="-15" dirty="0">
                <a:solidFill>
                  <a:srgbClr val="3333B2"/>
                </a:solidFill>
                <a:latin typeface="Arial"/>
                <a:cs typeface="Arial"/>
              </a:rPr>
              <a:t> </a:t>
            </a:r>
            <a:r>
              <a:rPr sz="1000" dirty="0">
                <a:solidFill>
                  <a:srgbClr val="3333B2"/>
                </a:solidFill>
                <a:latin typeface="Arial"/>
                <a:cs typeface="Arial"/>
              </a:rPr>
              <a:t>linear</a:t>
            </a:r>
            <a:r>
              <a:rPr sz="1000" spc="-20" dirty="0">
                <a:solidFill>
                  <a:srgbClr val="3333B2"/>
                </a:solidFill>
                <a:latin typeface="Arial"/>
                <a:cs typeface="Arial"/>
              </a:rPr>
              <a:t> </a:t>
            </a:r>
            <a:r>
              <a:rPr sz="1000" spc="-10" dirty="0">
                <a:solidFill>
                  <a:srgbClr val="3333B2"/>
                </a:solidFill>
                <a:latin typeface="Arial"/>
                <a:cs typeface="Arial"/>
              </a:rPr>
              <a:t>regression</a:t>
            </a:r>
            <a:endParaRPr sz="1000">
              <a:latin typeface="Arial"/>
              <a:cs typeface="Arial"/>
            </a:endParaRPr>
          </a:p>
        </p:txBody>
      </p:sp>
      <p:sp>
        <p:nvSpPr>
          <p:cNvPr id="5" name="object 5"/>
          <p:cNvSpPr txBox="1"/>
          <p:nvPr/>
        </p:nvSpPr>
        <p:spPr>
          <a:xfrm>
            <a:off x="355371" y="2019549"/>
            <a:ext cx="1212215" cy="162560"/>
          </a:xfrm>
          <a:prstGeom prst="rect">
            <a:avLst/>
          </a:prstGeom>
        </p:spPr>
        <p:txBody>
          <a:bodyPr vert="horz" wrap="square" lIns="0" tIns="12065" rIns="0" bIns="0" rtlCol="0">
            <a:spAutoFit/>
          </a:bodyPr>
          <a:lstStyle/>
          <a:p>
            <a:pPr marL="12700">
              <a:lnSpc>
                <a:spcPct val="100000"/>
              </a:lnSpc>
              <a:spcBef>
                <a:spcPts val="95"/>
              </a:spcBef>
              <a:tabLst>
                <a:tab pos="398145" algn="l"/>
              </a:tabLst>
            </a:pPr>
            <a:r>
              <a:rPr sz="900" spc="-25" dirty="0">
                <a:latin typeface="Arial"/>
                <a:cs typeface="Arial"/>
              </a:rPr>
              <a:t>NO:</a:t>
            </a:r>
            <a:r>
              <a:rPr sz="900" dirty="0">
                <a:latin typeface="Arial"/>
                <a:cs typeface="Arial"/>
              </a:rPr>
              <a:t>	</a:t>
            </a:r>
            <a:r>
              <a:rPr sz="900" i="1" dirty="0">
                <a:latin typeface="Arial"/>
                <a:cs typeface="Arial"/>
              </a:rPr>
              <a:t>Offset</a:t>
            </a:r>
            <a:r>
              <a:rPr sz="900" dirty="0">
                <a:latin typeface="Arial"/>
                <a:cs typeface="Arial"/>
              </a:rPr>
              <a:t>[</a:t>
            </a:r>
            <a:r>
              <a:rPr sz="900" i="1" dirty="0">
                <a:latin typeface="Arial"/>
                <a:cs typeface="Arial"/>
              </a:rPr>
              <a:t>p</a:t>
            </a:r>
            <a:r>
              <a:rPr sz="900" i="1" dirty="0">
                <a:latin typeface="STIX Two Text"/>
                <a:cs typeface="STIX Two Text"/>
              </a:rPr>
              <a:t>,</a:t>
            </a:r>
            <a:r>
              <a:rPr sz="900" i="1" spc="-70" dirty="0">
                <a:latin typeface="STIX Two Text"/>
                <a:cs typeface="STIX Two Text"/>
              </a:rPr>
              <a:t> </a:t>
            </a:r>
            <a:r>
              <a:rPr sz="900" i="1" dirty="0">
                <a:latin typeface="Arial"/>
                <a:cs typeface="Arial"/>
              </a:rPr>
              <a:t>q</a:t>
            </a:r>
            <a:r>
              <a:rPr sz="900" dirty="0">
                <a:latin typeface="Arial"/>
                <a:cs typeface="Arial"/>
              </a:rPr>
              <a:t>](</a:t>
            </a:r>
            <a:r>
              <a:rPr sz="900" i="1" dirty="0">
                <a:latin typeface="Arial"/>
                <a:cs typeface="Arial"/>
              </a:rPr>
              <a:t>t</a:t>
            </a:r>
            <a:r>
              <a:rPr sz="900" i="1" spc="-135" dirty="0">
                <a:latin typeface="Arial"/>
                <a:cs typeface="Arial"/>
              </a:rPr>
              <a:t> </a:t>
            </a:r>
            <a:r>
              <a:rPr sz="900" spc="55" dirty="0">
                <a:latin typeface="Arial"/>
                <a:cs typeface="Arial"/>
              </a:rPr>
              <a:t>)</a:t>
            </a:r>
            <a:r>
              <a:rPr sz="900" spc="20" dirty="0">
                <a:latin typeface="Arial"/>
                <a:cs typeface="Arial"/>
              </a:rPr>
              <a:t> </a:t>
            </a:r>
            <a:r>
              <a:rPr sz="900" spc="135" dirty="0">
                <a:latin typeface="Arial"/>
                <a:cs typeface="Arial"/>
              </a:rPr>
              <a:t>=</a:t>
            </a:r>
            <a:endParaRPr sz="900">
              <a:latin typeface="Arial"/>
              <a:cs typeface="Arial"/>
            </a:endParaRPr>
          </a:p>
        </p:txBody>
      </p:sp>
      <p:sp>
        <p:nvSpPr>
          <p:cNvPr id="6" name="object 6"/>
          <p:cNvSpPr txBox="1"/>
          <p:nvPr/>
        </p:nvSpPr>
        <p:spPr>
          <a:xfrm>
            <a:off x="1582496" y="1987667"/>
            <a:ext cx="88900" cy="132080"/>
          </a:xfrm>
          <a:prstGeom prst="rect">
            <a:avLst/>
          </a:prstGeom>
        </p:spPr>
        <p:txBody>
          <a:bodyPr vert="horz" wrap="square" lIns="0" tIns="12065" rIns="0" bIns="0" rtlCol="0">
            <a:spAutoFit/>
          </a:bodyPr>
          <a:lstStyle/>
          <a:p>
            <a:pPr marL="12700">
              <a:lnSpc>
                <a:spcPct val="100000"/>
              </a:lnSpc>
              <a:spcBef>
                <a:spcPts val="95"/>
              </a:spcBef>
            </a:pPr>
            <a:r>
              <a:rPr sz="700" spc="-5" dirty="0">
                <a:latin typeface="Times New Roman"/>
                <a:cs typeface="Times New Roman"/>
              </a:rPr>
              <a:t>∑</a:t>
            </a:r>
            <a:endParaRPr sz="700">
              <a:latin typeface="Times New Roman"/>
              <a:cs typeface="Times New Roman"/>
            </a:endParaRPr>
          </a:p>
        </p:txBody>
      </p:sp>
      <p:sp>
        <p:nvSpPr>
          <p:cNvPr id="7" name="object 7"/>
          <p:cNvSpPr txBox="1"/>
          <p:nvPr/>
        </p:nvSpPr>
        <p:spPr>
          <a:xfrm>
            <a:off x="1645653" y="1970782"/>
            <a:ext cx="151130" cy="161290"/>
          </a:xfrm>
          <a:prstGeom prst="rect">
            <a:avLst/>
          </a:prstGeom>
        </p:spPr>
        <p:txBody>
          <a:bodyPr vert="horz" wrap="square" lIns="0" tIns="12065" rIns="0" bIns="0" rtlCol="0">
            <a:spAutoFit/>
          </a:bodyPr>
          <a:lstStyle/>
          <a:p>
            <a:pPr marL="12700">
              <a:lnSpc>
                <a:spcPts val="535"/>
              </a:lnSpc>
              <a:spcBef>
                <a:spcPts val="95"/>
              </a:spcBef>
            </a:pPr>
            <a:r>
              <a:rPr sz="500" i="1" spc="-5" dirty="0">
                <a:latin typeface="Arial"/>
                <a:cs typeface="Arial"/>
              </a:rPr>
              <a:t>M</a:t>
            </a:r>
            <a:endParaRPr sz="500">
              <a:latin typeface="Arial"/>
              <a:cs typeface="Arial"/>
            </a:endParaRPr>
          </a:p>
          <a:p>
            <a:pPr marL="12700">
              <a:lnSpc>
                <a:spcPts val="535"/>
              </a:lnSpc>
            </a:pPr>
            <a:r>
              <a:rPr sz="500" i="1" spc="-10" dirty="0">
                <a:latin typeface="Arial"/>
                <a:cs typeface="Arial"/>
              </a:rPr>
              <a:t>k</a:t>
            </a:r>
            <a:r>
              <a:rPr sz="500" i="1" spc="-85" dirty="0">
                <a:latin typeface="Arial"/>
                <a:cs typeface="Arial"/>
              </a:rPr>
              <a:t> </a:t>
            </a:r>
            <a:r>
              <a:rPr sz="500" spc="30" dirty="0">
                <a:latin typeface="Arial"/>
                <a:cs typeface="Arial"/>
              </a:rPr>
              <a:t>=1</a:t>
            </a:r>
            <a:endParaRPr sz="500">
              <a:latin typeface="Arial"/>
              <a:cs typeface="Arial"/>
            </a:endParaRPr>
          </a:p>
        </p:txBody>
      </p:sp>
      <p:sp>
        <p:nvSpPr>
          <p:cNvPr id="8" name="object 8"/>
          <p:cNvSpPr txBox="1"/>
          <p:nvPr/>
        </p:nvSpPr>
        <p:spPr>
          <a:xfrm>
            <a:off x="1868093" y="2021671"/>
            <a:ext cx="334645" cy="101600"/>
          </a:xfrm>
          <a:prstGeom prst="rect">
            <a:avLst/>
          </a:prstGeom>
        </p:spPr>
        <p:txBody>
          <a:bodyPr vert="horz" wrap="square" lIns="0" tIns="12065" rIns="0" bIns="0" rtlCol="0">
            <a:spAutoFit/>
          </a:bodyPr>
          <a:lstStyle/>
          <a:p>
            <a:pPr marL="12700">
              <a:lnSpc>
                <a:spcPct val="100000"/>
              </a:lnSpc>
              <a:spcBef>
                <a:spcPts val="95"/>
              </a:spcBef>
              <a:tabLst>
                <a:tab pos="234315" algn="l"/>
              </a:tabLst>
            </a:pPr>
            <a:r>
              <a:rPr sz="500" i="1" spc="-25" dirty="0">
                <a:latin typeface="Arial"/>
                <a:cs typeface="Arial"/>
              </a:rPr>
              <a:t>p</a:t>
            </a:r>
            <a:r>
              <a:rPr sz="500" i="1" spc="-25" dirty="0">
                <a:latin typeface="STIX Two Text"/>
                <a:cs typeface="STIX Two Text"/>
              </a:rPr>
              <a:t>,</a:t>
            </a:r>
            <a:r>
              <a:rPr sz="500" i="1" spc="-25" dirty="0">
                <a:latin typeface="Arial"/>
                <a:cs typeface="Arial"/>
              </a:rPr>
              <a:t>k</a:t>
            </a:r>
            <a:r>
              <a:rPr sz="500" i="1" dirty="0">
                <a:latin typeface="Arial"/>
                <a:cs typeface="Arial"/>
              </a:rPr>
              <a:t>	</a:t>
            </a:r>
            <a:r>
              <a:rPr sz="500" i="1" spc="-25" dirty="0">
                <a:latin typeface="Arial"/>
                <a:cs typeface="Arial"/>
              </a:rPr>
              <a:t>q</a:t>
            </a:r>
            <a:r>
              <a:rPr sz="500" i="1" spc="-25" dirty="0">
                <a:latin typeface="STIX Two Text"/>
                <a:cs typeface="STIX Two Text"/>
              </a:rPr>
              <a:t>,</a:t>
            </a:r>
            <a:r>
              <a:rPr sz="500" i="1" spc="-25" dirty="0">
                <a:latin typeface="Arial"/>
                <a:cs typeface="Arial"/>
              </a:rPr>
              <a:t>k</a:t>
            </a:r>
            <a:endParaRPr sz="500">
              <a:latin typeface="Arial"/>
              <a:cs typeface="Arial"/>
            </a:endParaRPr>
          </a:p>
        </p:txBody>
      </p:sp>
      <p:sp>
        <p:nvSpPr>
          <p:cNvPr id="9" name="object 9"/>
          <p:cNvSpPr txBox="1"/>
          <p:nvPr/>
        </p:nvSpPr>
        <p:spPr>
          <a:xfrm>
            <a:off x="1777390" y="1981126"/>
            <a:ext cx="474980" cy="132080"/>
          </a:xfrm>
          <a:prstGeom prst="rect">
            <a:avLst/>
          </a:prstGeom>
        </p:spPr>
        <p:txBody>
          <a:bodyPr vert="horz" wrap="square" lIns="0" tIns="12065" rIns="0" bIns="0" rtlCol="0">
            <a:spAutoFit/>
          </a:bodyPr>
          <a:lstStyle/>
          <a:p>
            <a:pPr marL="12700">
              <a:lnSpc>
                <a:spcPct val="100000"/>
              </a:lnSpc>
              <a:spcBef>
                <a:spcPts val="95"/>
              </a:spcBef>
            </a:pPr>
            <a:r>
              <a:rPr sz="700" dirty="0">
                <a:latin typeface="Arial"/>
                <a:cs typeface="Arial"/>
              </a:rPr>
              <a:t>(</a:t>
            </a:r>
            <a:r>
              <a:rPr sz="700" i="1" dirty="0">
                <a:latin typeface="Arial"/>
                <a:cs typeface="Arial"/>
              </a:rPr>
              <a:t>T</a:t>
            </a:r>
            <a:r>
              <a:rPr sz="700" i="1" spc="200" dirty="0">
                <a:latin typeface="Arial"/>
                <a:cs typeface="Arial"/>
              </a:rPr>
              <a:t>  </a:t>
            </a:r>
            <a:r>
              <a:rPr sz="700" i="1" spc="55" dirty="0">
                <a:latin typeface="Menlo"/>
                <a:cs typeface="Menlo"/>
              </a:rPr>
              <a:t>−</a:t>
            </a:r>
            <a:r>
              <a:rPr sz="700" i="1" spc="55" dirty="0">
                <a:latin typeface="Arial"/>
                <a:cs typeface="Arial"/>
              </a:rPr>
              <a:t>T</a:t>
            </a:r>
            <a:r>
              <a:rPr sz="700" i="1" spc="210" dirty="0">
                <a:latin typeface="Arial"/>
                <a:cs typeface="Arial"/>
              </a:rPr>
              <a:t>  </a:t>
            </a:r>
            <a:r>
              <a:rPr sz="700" dirty="0">
                <a:latin typeface="Arial"/>
                <a:cs typeface="Arial"/>
              </a:rPr>
              <a:t>)</a:t>
            </a:r>
            <a:endParaRPr sz="700">
              <a:latin typeface="Arial"/>
              <a:cs typeface="Arial"/>
            </a:endParaRPr>
          </a:p>
        </p:txBody>
      </p:sp>
      <p:sp>
        <p:nvSpPr>
          <p:cNvPr id="10" name="object 10"/>
          <p:cNvSpPr/>
          <p:nvPr/>
        </p:nvSpPr>
        <p:spPr>
          <a:xfrm>
            <a:off x="1595196" y="2117661"/>
            <a:ext cx="644525" cy="0"/>
          </a:xfrm>
          <a:custGeom>
            <a:avLst/>
            <a:gdLst/>
            <a:ahLst/>
            <a:cxnLst/>
            <a:rect l="l" t="t" r="r" b="b"/>
            <a:pathLst>
              <a:path w="644525">
                <a:moveTo>
                  <a:pt x="0" y="0"/>
                </a:moveTo>
                <a:lnTo>
                  <a:pt x="643928" y="0"/>
                </a:lnTo>
              </a:path>
            </a:pathLst>
          </a:custGeom>
          <a:ln w="4559">
            <a:solidFill>
              <a:srgbClr val="000000"/>
            </a:solidFill>
          </a:ln>
        </p:spPr>
        <p:txBody>
          <a:bodyPr wrap="square" lIns="0" tIns="0" rIns="0" bIns="0" rtlCol="0"/>
          <a:lstStyle/>
          <a:p>
            <a:endParaRPr/>
          </a:p>
        </p:txBody>
      </p:sp>
      <p:sp>
        <p:nvSpPr>
          <p:cNvPr id="11" name="object 11"/>
          <p:cNvSpPr txBox="1"/>
          <p:nvPr/>
        </p:nvSpPr>
        <p:spPr>
          <a:xfrm>
            <a:off x="1863991" y="2087209"/>
            <a:ext cx="99695" cy="132080"/>
          </a:xfrm>
          <a:prstGeom prst="rect">
            <a:avLst/>
          </a:prstGeom>
        </p:spPr>
        <p:txBody>
          <a:bodyPr vert="horz" wrap="square" lIns="0" tIns="12065" rIns="0" bIns="0" rtlCol="0">
            <a:spAutoFit/>
          </a:bodyPr>
          <a:lstStyle/>
          <a:p>
            <a:pPr marL="12700">
              <a:lnSpc>
                <a:spcPct val="100000"/>
              </a:lnSpc>
              <a:spcBef>
                <a:spcPts val="95"/>
              </a:spcBef>
            </a:pPr>
            <a:r>
              <a:rPr sz="700" i="1" spc="-5" dirty="0">
                <a:latin typeface="Arial"/>
                <a:cs typeface="Arial"/>
              </a:rPr>
              <a:t>M</a:t>
            </a:r>
            <a:endParaRPr sz="700">
              <a:latin typeface="Arial"/>
              <a:cs typeface="Arial"/>
            </a:endParaRPr>
          </a:p>
        </p:txBody>
      </p:sp>
      <p:sp>
        <p:nvSpPr>
          <p:cNvPr id="12" name="object 12"/>
          <p:cNvSpPr txBox="1"/>
          <p:nvPr/>
        </p:nvSpPr>
        <p:spPr>
          <a:xfrm>
            <a:off x="355371" y="2203267"/>
            <a:ext cx="1546225" cy="162560"/>
          </a:xfrm>
          <a:prstGeom prst="rect">
            <a:avLst/>
          </a:prstGeom>
        </p:spPr>
        <p:txBody>
          <a:bodyPr vert="horz" wrap="square" lIns="0" tIns="12065" rIns="0" bIns="0" rtlCol="0">
            <a:spAutoFit/>
          </a:bodyPr>
          <a:lstStyle/>
          <a:p>
            <a:pPr marL="12700">
              <a:lnSpc>
                <a:spcPct val="100000"/>
              </a:lnSpc>
              <a:spcBef>
                <a:spcPts val="95"/>
              </a:spcBef>
            </a:pPr>
            <a:r>
              <a:rPr sz="900" dirty="0">
                <a:latin typeface="Arial"/>
                <a:cs typeface="Arial"/>
              </a:rPr>
              <a:t>YES:</a:t>
            </a:r>
            <a:r>
              <a:rPr sz="900" spc="285" dirty="0">
                <a:latin typeface="Arial"/>
                <a:cs typeface="Arial"/>
              </a:rPr>
              <a:t>  </a:t>
            </a:r>
            <a:r>
              <a:rPr sz="900" i="1" dirty="0">
                <a:latin typeface="Arial"/>
                <a:cs typeface="Arial"/>
              </a:rPr>
              <a:t>Offset</a:t>
            </a:r>
            <a:r>
              <a:rPr sz="900" dirty="0">
                <a:latin typeface="Arial"/>
                <a:cs typeface="Arial"/>
              </a:rPr>
              <a:t>[</a:t>
            </a:r>
            <a:r>
              <a:rPr sz="900" i="1" dirty="0">
                <a:latin typeface="Arial"/>
                <a:cs typeface="Arial"/>
              </a:rPr>
              <a:t>p</a:t>
            </a:r>
            <a:r>
              <a:rPr sz="900" i="1" dirty="0">
                <a:latin typeface="STIX Two Text"/>
                <a:cs typeface="STIX Two Text"/>
              </a:rPr>
              <a:t>,</a:t>
            </a:r>
            <a:r>
              <a:rPr sz="900" i="1" spc="-100" dirty="0">
                <a:latin typeface="STIX Two Text"/>
                <a:cs typeface="STIX Two Text"/>
              </a:rPr>
              <a:t> </a:t>
            </a:r>
            <a:r>
              <a:rPr sz="900" i="1" dirty="0">
                <a:latin typeface="Arial"/>
                <a:cs typeface="Arial"/>
              </a:rPr>
              <a:t>q</a:t>
            </a:r>
            <a:r>
              <a:rPr sz="900" dirty="0">
                <a:latin typeface="Arial"/>
                <a:cs typeface="Arial"/>
              </a:rPr>
              <a:t>](</a:t>
            </a:r>
            <a:r>
              <a:rPr sz="900" i="1" dirty="0">
                <a:latin typeface="Arial"/>
                <a:cs typeface="Arial"/>
              </a:rPr>
              <a:t>t</a:t>
            </a:r>
            <a:r>
              <a:rPr sz="900" i="1" spc="-165" dirty="0">
                <a:latin typeface="Arial"/>
                <a:cs typeface="Arial"/>
              </a:rPr>
              <a:t> </a:t>
            </a:r>
            <a:r>
              <a:rPr sz="900" spc="55" dirty="0">
                <a:latin typeface="Arial"/>
                <a:cs typeface="Arial"/>
              </a:rPr>
              <a:t>)</a:t>
            </a:r>
            <a:r>
              <a:rPr sz="900" spc="-40" dirty="0">
                <a:latin typeface="Arial"/>
                <a:cs typeface="Arial"/>
              </a:rPr>
              <a:t> </a:t>
            </a:r>
            <a:r>
              <a:rPr sz="900" spc="185" dirty="0">
                <a:latin typeface="Arial"/>
                <a:cs typeface="Arial"/>
              </a:rPr>
              <a:t>=</a:t>
            </a:r>
            <a:r>
              <a:rPr sz="900" spc="-40" dirty="0">
                <a:latin typeface="Arial"/>
                <a:cs typeface="Arial"/>
              </a:rPr>
              <a:t> </a:t>
            </a:r>
            <a:r>
              <a:rPr sz="900" i="1" spc="55" dirty="0">
                <a:latin typeface="Arial"/>
                <a:cs typeface="Arial"/>
              </a:rPr>
              <a:t>αt</a:t>
            </a:r>
            <a:r>
              <a:rPr sz="900" i="1" spc="-30" dirty="0">
                <a:latin typeface="Arial"/>
                <a:cs typeface="Arial"/>
              </a:rPr>
              <a:t> </a:t>
            </a:r>
            <a:r>
              <a:rPr sz="900" spc="185" dirty="0">
                <a:latin typeface="Arial"/>
                <a:cs typeface="Arial"/>
              </a:rPr>
              <a:t>+</a:t>
            </a:r>
            <a:r>
              <a:rPr sz="900" spc="-120" dirty="0">
                <a:latin typeface="Arial"/>
                <a:cs typeface="Arial"/>
              </a:rPr>
              <a:t> </a:t>
            </a:r>
            <a:r>
              <a:rPr sz="900" i="1" spc="-50" dirty="0">
                <a:latin typeface="Arial"/>
                <a:cs typeface="Arial"/>
              </a:rPr>
              <a:t>β</a:t>
            </a:r>
            <a:endParaRPr sz="900">
              <a:latin typeface="Arial"/>
              <a:cs typeface="Arial"/>
            </a:endParaRPr>
          </a:p>
        </p:txBody>
      </p:sp>
      <p:pic>
        <p:nvPicPr>
          <p:cNvPr id="13" name="object 13"/>
          <p:cNvPicPr/>
          <p:nvPr/>
        </p:nvPicPr>
        <p:blipFill>
          <a:blip r:embed="rId3" cstate="print"/>
          <a:stretch>
            <a:fillRect/>
          </a:stretch>
        </p:blipFill>
        <p:spPr>
          <a:xfrm>
            <a:off x="2556144" y="1828972"/>
            <a:ext cx="1867488" cy="1286423"/>
          </a:xfrm>
          <a:prstGeom prst="rect">
            <a:avLst/>
          </a:prstGeom>
        </p:spPr>
      </p:pic>
      <p:grpSp>
        <p:nvGrpSpPr>
          <p:cNvPr id="14" name="object 14"/>
          <p:cNvGrpSpPr/>
          <p:nvPr/>
        </p:nvGrpSpPr>
        <p:grpSpPr>
          <a:xfrm>
            <a:off x="0" y="3348469"/>
            <a:ext cx="4608195" cy="107950"/>
            <a:chOff x="0" y="3348469"/>
            <a:chExt cx="4608195" cy="107950"/>
          </a:xfrm>
        </p:grpSpPr>
        <p:sp>
          <p:nvSpPr>
            <p:cNvPr id="15" name="object 15"/>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6" name="object 16"/>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7" name="object 17"/>
          <p:cNvSpPr txBox="1"/>
          <p:nvPr/>
        </p:nvSpPr>
        <p:spPr>
          <a:xfrm>
            <a:off x="53467" y="3349927"/>
            <a:ext cx="94996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Clock</a:t>
            </a:r>
            <a:r>
              <a:rPr sz="500" spc="40" dirty="0">
                <a:latin typeface="Arial"/>
                <a:cs typeface="Arial"/>
                <a:hlinkClick r:id="rId4" action="ppaction://hlinksldjump"/>
              </a:rPr>
              <a:t> </a:t>
            </a:r>
            <a:r>
              <a:rPr sz="500" spc="-10" dirty="0">
                <a:latin typeface="Arial"/>
                <a:cs typeface="Arial"/>
                <a:hlinkClick r:id="rId4" action="ppaction://hlinksldjump"/>
              </a:rPr>
              <a:t>synchronization</a:t>
            </a:r>
            <a:r>
              <a:rPr sz="500" spc="40" dirty="0">
                <a:latin typeface="Arial"/>
                <a:cs typeface="Arial"/>
                <a:hlinkClick r:id="rId4" action="ppaction://hlinksldjump"/>
              </a:rPr>
              <a:t> </a:t>
            </a:r>
            <a:r>
              <a:rPr sz="500" spc="-10" dirty="0">
                <a:latin typeface="Arial"/>
                <a:cs typeface="Arial"/>
                <a:hlinkClick r:id="rId4" action="ppaction://hlinksldjump"/>
              </a:rPr>
              <a:t>algorithms</a:t>
            </a:r>
            <a:endParaRPr sz="500">
              <a:latin typeface="Arial"/>
              <a:cs typeface="Arial"/>
            </a:endParaRP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4095750" algn="l"/>
              </a:tabLst>
            </a:pPr>
            <a:r>
              <a:rPr sz="500" spc="-10" dirty="0">
                <a:latin typeface="Arial"/>
                <a:cs typeface="Arial"/>
                <a:hlinkClick r:id="rId2" action="ppaction://hlinksldjump"/>
              </a:rPr>
              <a:t>Coordination</a:t>
            </a:r>
            <a:r>
              <a:rPr sz="500" dirty="0">
                <a:latin typeface="Arial"/>
                <a:cs typeface="Arial"/>
              </a:rPr>
              <a:t>	</a:t>
            </a:r>
            <a:r>
              <a:rPr sz="500" dirty="0">
                <a:solidFill>
                  <a:srgbClr val="FFFFFF"/>
                </a:solidFill>
                <a:latin typeface="Arial"/>
                <a:cs typeface="Arial"/>
                <a:hlinkClick r:id="rId3" action="ppaction://hlinksldjump"/>
              </a:rPr>
              <a:t>Logical</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clocks</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The</a:t>
            </a:r>
            <a:r>
              <a:rPr spc="-40" dirty="0"/>
              <a:t> </a:t>
            </a:r>
            <a:r>
              <a:rPr spc="-10" dirty="0"/>
              <a:t>Happened-</a:t>
            </a:r>
            <a:r>
              <a:rPr dirty="0"/>
              <a:t>before</a:t>
            </a:r>
            <a:r>
              <a:rPr spc="-35" dirty="0"/>
              <a:t> </a:t>
            </a:r>
            <a:r>
              <a:rPr spc="-10" dirty="0"/>
              <a:t>relationship</a:t>
            </a:r>
          </a:p>
        </p:txBody>
      </p:sp>
      <p:sp>
        <p:nvSpPr>
          <p:cNvPr id="4" name="object 4"/>
          <p:cNvSpPr txBox="1"/>
          <p:nvPr/>
        </p:nvSpPr>
        <p:spPr>
          <a:xfrm>
            <a:off x="341947" y="499476"/>
            <a:ext cx="3924300" cy="649605"/>
          </a:xfrm>
          <a:prstGeom prst="rect">
            <a:avLst/>
          </a:prstGeom>
        </p:spPr>
        <p:txBody>
          <a:bodyPr vert="horz" wrap="square" lIns="0" tIns="27305" rIns="0" bIns="0" rtlCol="0">
            <a:spAutoFit/>
          </a:bodyPr>
          <a:lstStyle/>
          <a:p>
            <a:pPr marL="17780">
              <a:lnSpc>
                <a:spcPct val="100000"/>
              </a:lnSpc>
              <a:spcBef>
                <a:spcPts val="215"/>
              </a:spcBef>
            </a:pPr>
            <a:r>
              <a:rPr sz="1000" spc="-10" dirty="0">
                <a:solidFill>
                  <a:srgbClr val="C80000"/>
                </a:solidFill>
                <a:latin typeface="Arial"/>
                <a:cs typeface="Arial"/>
              </a:rPr>
              <a:t>Issue</a:t>
            </a:r>
            <a:endParaRPr sz="1000">
              <a:latin typeface="Arial"/>
              <a:cs typeface="Arial"/>
            </a:endParaRPr>
          </a:p>
          <a:p>
            <a:pPr marL="17780" marR="5080" indent="-5715">
              <a:lnSpc>
                <a:spcPts val="1210"/>
              </a:lnSpc>
              <a:spcBef>
                <a:spcPts val="35"/>
              </a:spcBef>
            </a:pPr>
            <a:r>
              <a:rPr sz="900" dirty="0">
                <a:latin typeface="Arial"/>
                <a:cs typeface="Arial"/>
              </a:rPr>
              <a:t>What</a:t>
            </a:r>
            <a:r>
              <a:rPr sz="900" spc="-25" dirty="0">
                <a:latin typeface="Arial"/>
                <a:cs typeface="Arial"/>
              </a:rPr>
              <a:t> </a:t>
            </a:r>
            <a:r>
              <a:rPr sz="900" dirty="0">
                <a:latin typeface="Arial"/>
                <a:cs typeface="Arial"/>
              </a:rPr>
              <a:t>usually</a:t>
            </a:r>
            <a:r>
              <a:rPr sz="900" spc="-20" dirty="0">
                <a:latin typeface="Arial"/>
                <a:cs typeface="Arial"/>
              </a:rPr>
              <a:t> </a:t>
            </a:r>
            <a:r>
              <a:rPr sz="900" dirty="0">
                <a:latin typeface="Arial"/>
                <a:cs typeface="Arial"/>
              </a:rPr>
              <a:t>matters</a:t>
            </a:r>
            <a:r>
              <a:rPr sz="900" spc="-25" dirty="0">
                <a:latin typeface="Arial"/>
                <a:cs typeface="Arial"/>
              </a:rPr>
              <a:t> </a:t>
            </a:r>
            <a:r>
              <a:rPr sz="900" dirty="0">
                <a:latin typeface="Arial"/>
                <a:cs typeface="Arial"/>
              </a:rPr>
              <a:t>is</a:t>
            </a:r>
            <a:r>
              <a:rPr sz="900" spc="-20" dirty="0">
                <a:latin typeface="Arial"/>
                <a:cs typeface="Arial"/>
              </a:rPr>
              <a:t> </a:t>
            </a:r>
            <a:r>
              <a:rPr sz="900" dirty="0">
                <a:latin typeface="Arial"/>
                <a:cs typeface="Arial"/>
              </a:rPr>
              <a:t>not</a:t>
            </a:r>
            <a:r>
              <a:rPr sz="900" spc="-20" dirty="0">
                <a:latin typeface="Arial"/>
                <a:cs typeface="Arial"/>
              </a:rPr>
              <a:t> </a:t>
            </a:r>
            <a:r>
              <a:rPr sz="900" dirty="0">
                <a:latin typeface="Arial"/>
                <a:cs typeface="Arial"/>
              </a:rPr>
              <a:t>that</a:t>
            </a:r>
            <a:r>
              <a:rPr sz="900" spc="-25" dirty="0">
                <a:latin typeface="Arial"/>
                <a:cs typeface="Arial"/>
              </a:rPr>
              <a:t> </a:t>
            </a:r>
            <a:r>
              <a:rPr sz="900" dirty="0">
                <a:latin typeface="Arial"/>
                <a:cs typeface="Arial"/>
              </a:rPr>
              <a:t>all</a:t>
            </a:r>
            <a:r>
              <a:rPr sz="900" spc="-20" dirty="0">
                <a:latin typeface="Arial"/>
                <a:cs typeface="Arial"/>
              </a:rPr>
              <a:t> </a:t>
            </a:r>
            <a:r>
              <a:rPr sz="900" dirty="0">
                <a:latin typeface="Arial"/>
                <a:cs typeface="Arial"/>
              </a:rPr>
              <a:t>processes</a:t>
            </a:r>
            <a:r>
              <a:rPr sz="900" spc="-20" dirty="0">
                <a:latin typeface="Arial"/>
                <a:cs typeface="Arial"/>
              </a:rPr>
              <a:t> </a:t>
            </a:r>
            <a:r>
              <a:rPr sz="900" dirty="0">
                <a:latin typeface="Arial"/>
                <a:cs typeface="Arial"/>
              </a:rPr>
              <a:t>agree</a:t>
            </a:r>
            <a:r>
              <a:rPr sz="900" spc="-25" dirty="0">
                <a:latin typeface="Arial"/>
                <a:cs typeface="Arial"/>
              </a:rPr>
              <a:t> </a:t>
            </a:r>
            <a:r>
              <a:rPr sz="900" dirty="0">
                <a:latin typeface="Arial"/>
                <a:cs typeface="Arial"/>
              </a:rPr>
              <a:t>on</a:t>
            </a:r>
            <a:r>
              <a:rPr sz="900" spc="-20" dirty="0">
                <a:latin typeface="Arial"/>
                <a:cs typeface="Arial"/>
              </a:rPr>
              <a:t> </a:t>
            </a:r>
            <a:r>
              <a:rPr sz="900" spc="-10" dirty="0">
                <a:latin typeface="Arial"/>
                <a:cs typeface="Arial"/>
              </a:rPr>
              <a:t>exactly</a:t>
            </a:r>
            <a:r>
              <a:rPr sz="900" spc="-20" dirty="0">
                <a:latin typeface="Arial"/>
                <a:cs typeface="Arial"/>
              </a:rPr>
              <a:t> </a:t>
            </a:r>
            <a:r>
              <a:rPr sz="900" dirty="0">
                <a:latin typeface="Arial"/>
                <a:cs typeface="Arial"/>
              </a:rPr>
              <a:t>what</a:t>
            </a:r>
            <a:r>
              <a:rPr sz="900" spc="-25" dirty="0">
                <a:latin typeface="Arial"/>
                <a:cs typeface="Arial"/>
              </a:rPr>
              <a:t> </a:t>
            </a:r>
            <a:r>
              <a:rPr sz="900" dirty="0">
                <a:latin typeface="Arial"/>
                <a:cs typeface="Arial"/>
              </a:rPr>
              <a:t>time</a:t>
            </a:r>
            <a:r>
              <a:rPr sz="900" spc="-20" dirty="0">
                <a:latin typeface="Arial"/>
                <a:cs typeface="Arial"/>
              </a:rPr>
              <a:t> </a:t>
            </a:r>
            <a:r>
              <a:rPr sz="900" dirty="0">
                <a:latin typeface="Arial"/>
                <a:cs typeface="Arial"/>
              </a:rPr>
              <a:t>it</a:t>
            </a:r>
            <a:r>
              <a:rPr sz="900" spc="-20" dirty="0">
                <a:latin typeface="Arial"/>
                <a:cs typeface="Arial"/>
              </a:rPr>
              <a:t> </a:t>
            </a:r>
            <a:r>
              <a:rPr sz="900" spc="-25" dirty="0">
                <a:latin typeface="Arial"/>
                <a:cs typeface="Arial"/>
              </a:rPr>
              <a:t>is, </a:t>
            </a:r>
            <a:r>
              <a:rPr sz="900" dirty="0">
                <a:latin typeface="Arial"/>
                <a:cs typeface="Arial"/>
              </a:rPr>
              <a:t>but</a:t>
            </a:r>
            <a:r>
              <a:rPr sz="900" spc="-30" dirty="0">
                <a:latin typeface="Arial"/>
                <a:cs typeface="Arial"/>
              </a:rPr>
              <a:t> </a:t>
            </a:r>
            <a:r>
              <a:rPr sz="900" dirty="0">
                <a:latin typeface="Arial"/>
                <a:cs typeface="Arial"/>
              </a:rPr>
              <a:t>that</a:t>
            </a:r>
            <a:r>
              <a:rPr sz="900" spc="-25" dirty="0">
                <a:latin typeface="Arial"/>
                <a:cs typeface="Arial"/>
              </a:rPr>
              <a:t> </a:t>
            </a:r>
            <a:r>
              <a:rPr sz="900" dirty="0">
                <a:latin typeface="Arial"/>
                <a:cs typeface="Arial"/>
              </a:rPr>
              <a:t>they</a:t>
            </a:r>
            <a:r>
              <a:rPr sz="900" spc="-25" dirty="0">
                <a:latin typeface="Arial"/>
                <a:cs typeface="Arial"/>
              </a:rPr>
              <a:t> </a:t>
            </a:r>
            <a:r>
              <a:rPr sz="900" dirty="0">
                <a:latin typeface="Arial"/>
                <a:cs typeface="Arial"/>
              </a:rPr>
              <a:t>agree</a:t>
            </a:r>
            <a:r>
              <a:rPr sz="900" spc="-25" dirty="0">
                <a:latin typeface="Arial"/>
                <a:cs typeface="Arial"/>
              </a:rPr>
              <a:t> </a:t>
            </a:r>
            <a:r>
              <a:rPr sz="900" dirty="0">
                <a:latin typeface="Arial"/>
                <a:cs typeface="Arial"/>
              </a:rPr>
              <a:t>on</a:t>
            </a:r>
            <a:r>
              <a:rPr sz="900" spc="-30" dirty="0">
                <a:latin typeface="Arial"/>
                <a:cs typeface="Arial"/>
              </a:rPr>
              <a:t> </a:t>
            </a:r>
            <a:r>
              <a:rPr sz="900" dirty="0">
                <a:latin typeface="Arial"/>
                <a:cs typeface="Arial"/>
              </a:rPr>
              <a:t>the</a:t>
            </a:r>
            <a:r>
              <a:rPr sz="900" spc="-25" dirty="0">
                <a:latin typeface="Arial"/>
                <a:cs typeface="Arial"/>
              </a:rPr>
              <a:t> </a:t>
            </a:r>
            <a:r>
              <a:rPr sz="900" dirty="0">
                <a:solidFill>
                  <a:srgbClr val="C80000"/>
                </a:solidFill>
                <a:latin typeface="Arial"/>
                <a:cs typeface="Arial"/>
              </a:rPr>
              <a:t>order</a:t>
            </a:r>
            <a:r>
              <a:rPr sz="900" spc="-25" dirty="0">
                <a:solidFill>
                  <a:srgbClr val="C80000"/>
                </a:solidFill>
                <a:latin typeface="Arial"/>
                <a:cs typeface="Arial"/>
              </a:rPr>
              <a:t> </a:t>
            </a:r>
            <a:r>
              <a:rPr sz="900" dirty="0">
                <a:solidFill>
                  <a:srgbClr val="C80000"/>
                </a:solidFill>
                <a:latin typeface="Arial"/>
                <a:cs typeface="Arial"/>
              </a:rPr>
              <a:t>in</a:t>
            </a:r>
            <a:r>
              <a:rPr sz="900" spc="-25" dirty="0">
                <a:solidFill>
                  <a:srgbClr val="C80000"/>
                </a:solidFill>
                <a:latin typeface="Arial"/>
                <a:cs typeface="Arial"/>
              </a:rPr>
              <a:t> </a:t>
            </a:r>
            <a:r>
              <a:rPr sz="900" dirty="0">
                <a:solidFill>
                  <a:srgbClr val="C80000"/>
                </a:solidFill>
                <a:latin typeface="Arial"/>
                <a:cs typeface="Arial"/>
              </a:rPr>
              <a:t>which</a:t>
            </a:r>
            <a:r>
              <a:rPr sz="900" spc="-30" dirty="0">
                <a:solidFill>
                  <a:srgbClr val="C80000"/>
                </a:solidFill>
                <a:latin typeface="Arial"/>
                <a:cs typeface="Arial"/>
              </a:rPr>
              <a:t> </a:t>
            </a:r>
            <a:r>
              <a:rPr sz="900" spc="-10" dirty="0">
                <a:solidFill>
                  <a:srgbClr val="C80000"/>
                </a:solidFill>
                <a:latin typeface="Arial"/>
                <a:cs typeface="Arial"/>
              </a:rPr>
              <a:t>events</a:t>
            </a:r>
            <a:r>
              <a:rPr sz="900" spc="-25" dirty="0">
                <a:solidFill>
                  <a:srgbClr val="C80000"/>
                </a:solidFill>
                <a:latin typeface="Arial"/>
                <a:cs typeface="Arial"/>
              </a:rPr>
              <a:t> </a:t>
            </a:r>
            <a:r>
              <a:rPr sz="900" dirty="0">
                <a:solidFill>
                  <a:srgbClr val="C80000"/>
                </a:solidFill>
                <a:latin typeface="Arial"/>
                <a:cs typeface="Arial"/>
              </a:rPr>
              <a:t>occur</a:t>
            </a:r>
            <a:r>
              <a:rPr sz="900" dirty="0">
                <a:latin typeface="Arial"/>
                <a:cs typeface="Arial"/>
              </a:rPr>
              <a:t>.</a:t>
            </a:r>
            <a:r>
              <a:rPr sz="900" spc="30" dirty="0">
                <a:latin typeface="Arial"/>
                <a:cs typeface="Arial"/>
              </a:rPr>
              <a:t> </a:t>
            </a:r>
            <a:r>
              <a:rPr sz="900" dirty="0">
                <a:solidFill>
                  <a:srgbClr val="3333B2"/>
                </a:solidFill>
                <a:latin typeface="Arial"/>
                <a:cs typeface="Arial"/>
              </a:rPr>
              <a:t>Requires</a:t>
            </a:r>
            <a:r>
              <a:rPr sz="900" spc="-30" dirty="0">
                <a:solidFill>
                  <a:srgbClr val="3333B2"/>
                </a:solidFill>
                <a:latin typeface="Arial"/>
                <a:cs typeface="Arial"/>
              </a:rPr>
              <a:t> </a:t>
            </a:r>
            <a:r>
              <a:rPr sz="900" dirty="0">
                <a:solidFill>
                  <a:srgbClr val="3333B2"/>
                </a:solidFill>
                <a:latin typeface="Arial"/>
                <a:cs typeface="Arial"/>
              </a:rPr>
              <a:t>a</a:t>
            </a:r>
            <a:r>
              <a:rPr sz="900" spc="-25" dirty="0">
                <a:solidFill>
                  <a:srgbClr val="3333B2"/>
                </a:solidFill>
                <a:latin typeface="Arial"/>
                <a:cs typeface="Arial"/>
              </a:rPr>
              <a:t> </a:t>
            </a:r>
            <a:r>
              <a:rPr sz="900" dirty="0">
                <a:solidFill>
                  <a:srgbClr val="3333B2"/>
                </a:solidFill>
                <a:latin typeface="Arial"/>
                <a:cs typeface="Arial"/>
              </a:rPr>
              <a:t>notion</a:t>
            </a:r>
            <a:r>
              <a:rPr sz="900" spc="-25" dirty="0">
                <a:solidFill>
                  <a:srgbClr val="3333B2"/>
                </a:solidFill>
                <a:latin typeface="Arial"/>
                <a:cs typeface="Arial"/>
              </a:rPr>
              <a:t> of </a:t>
            </a:r>
            <a:r>
              <a:rPr sz="900" spc="-10" dirty="0">
                <a:solidFill>
                  <a:srgbClr val="3333B2"/>
                </a:solidFill>
                <a:latin typeface="Arial"/>
                <a:cs typeface="Arial"/>
              </a:rPr>
              <a:t>ordering</a:t>
            </a:r>
            <a:r>
              <a:rPr sz="900" spc="-10" dirty="0">
                <a:latin typeface="Arial"/>
                <a:cs typeface="Arial"/>
              </a:rPr>
              <a:t>.</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691515"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3" action="ppaction://hlinksldjump"/>
              </a:rPr>
              <a:t>Lamport’s</a:t>
            </a:r>
            <a:r>
              <a:rPr sz="500" spc="15" dirty="0">
                <a:latin typeface="Arial"/>
                <a:cs typeface="Arial"/>
                <a:hlinkClick r:id="rId3" action="ppaction://hlinksldjump"/>
              </a:rPr>
              <a:t> </a:t>
            </a:r>
            <a:r>
              <a:rPr sz="500" dirty="0">
                <a:latin typeface="Arial"/>
                <a:cs typeface="Arial"/>
                <a:hlinkClick r:id="rId3" action="ppaction://hlinksldjump"/>
              </a:rPr>
              <a:t>logical</a:t>
            </a:r>
            <a:r>
              <a:rPr sz="500" spc="15" dirty="0">
                <a:latin typeface="Arial"/>
                <a:cs typeface="Arial"/>
                <a:hlinkClick r:id="rId3" action="ppaction://hlinksldjump"/>
              </a:rPr>
              <a:t> </a:t>
            </a:r>
            <a:r>
              <a:rPr sz="500" spc="-10" dirty="0">
                <a:latin typeface="Arial"/>
                <a:cs typeface="Arial"/>
                <a:hlinkClick r:id="rId3" action="ppaction://hlinksldjump"/>
              </a:rPr>
              <a:t>clocks</a:t>
            </a:r>
            <a:endParaRPr sz="500">
              <a:latin typeface="Arial"/>
              <a:cs typeface="Arial"/>
            </a:endParaRP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4095750" algn="l"/>
              </a:tabLst>
            </a:pPr>
            <a:r>
              <a:rPr sz="500" spc="-10" dirty="0">
                <a:latin typeface="Arial"/>
                <a:cs typeface="Arial"/>
                <a:hlinkClick r:id="rId2" action="ppaction://hlinksldjump"/>
              </a:rPr>
              <a:t>Coordination</a:t>
            </a:r>
            <a:r>
              <a:rPr sz="500" dirty="0">
                <a:latin typeface="Arial"/>
                <a:cs typeface="Arial"/>
              </a:rPr>
              <a:t>	</a:t>
            </a:r>
            <a:r>
              <a:rPr sz="500" dirty="0">
                <a:solidFill>
                  <a:srgbClr val="FFFFFF"/>
                </a:solidFill>
                <a:latin typeface="Arial"/>
                <a:cs typeface="Arial"/>
                <a:hlinkClick r:id="rId3" action="ppaction://hlinksldjump"/>
              </a:rPr>
              <a:t>Logical</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clocks</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The</a:t>
            </a:r>
            <a:r>
              <a:rPr spc="-40" dirty="0"/>
              <a:t> </a:t>
            </a:r>
            <a:r>
              <a:rPr spc="-10" dirty="0"/>
              <a:t>Happened-</a:t>
            </a:r>
            <a:r>
              <a:rPr dirty="0"/>
              <a:t>before</a:t>
            </a:r>
            <a:r>
              <a:rPr spc="-35" dirty="0"/>
              <a:t> </a:t>
            </a:r>
            <a:r>
              <a:rPr spc="-10" dirty="0"/>
              <a:t>relationship</a:t>
            </a:r>
          </a:p>
        </p:txBody>
      </p:sp>
      <p:sp>
        <p:nvSpPr>
          <p:cNvPr id="4" name="object 4"/>
          <p:cNvSpPr txBox="1"/>
          <p:nvPr/>
        </p:nvSpPr>
        <p:spPr>
          <a:xfrm>
            <a:off x="316547" y="499476"/>
            <a:ext cx="3975100" cy="2369185"/>
          </a:xfrm>
          <a:prstGeom prst="rect">
            <a:avLst/>
          </a:prstGeom>
        </p:spPr>
        <p:txBody>
          <a:bodyPr vert="horz" wrap="square" lIns="0" tIns="27305" rIns="0" bIns="0" rtlCol="0">
            <a:spAutoFit/>
          </a:bodyPr>
          <a:lstStyle/>
          <a:p>
            <a:pPr marL="43180">
              <a:lnSpc>
                <a:spcPct val="100000"/>
              </a:lnSpc>
              <a:spcBef>
                <a:spcPts val="215"/>
              </a:spcBef>
            </a:pPr>
            <a:r>
              <a:rPr sz="1000" spc="-10" dirty="0">
                <a:solidFill>
                  <a:srgbClr val="C80000"/>
                </a:solidFill>
                <a:latin typeface="Arial"/>
                <a:cs typeface="Arial"/>
              </a:rPr>
              <a:t>Issue</a:t>
            </a:r>
            <a:endParaRPr sz="1000" dirty="0">
              <a:latin typeface="Arial"/>
              <a:cs typeface="Arial"/>
            </a:endParaRPr>
          </a:p>
          <a:p>
            <a:pPr marL="43180" marR="30480" indent="-5715">
              <a:lnSpc>
                <a:spcPts val="1210"/>
              </a:lnSpc>
              <a:spcBef>
                <a:spcPts val="35"/>
              </a:spcBef>
            </a:pPr>
            <a:r>
              <a:rPr sz="900" dirty="0">
                <a:latin typeface="Arial"/>
                <a:cs typeface="Arial"/>
              </a:rPr>
              <a:t>What</a:t>
            </a:r>
            <a:r>
              <a:rPr sz="900" spc="-25" dirty="0">
                <a:latin typeface="Arial"/>
                <a:cs typeface="Arial"/>
              </a:rPr>
              <a:t> </a:t>
            </a:r>
            <a:r>
              <a:rPr sz="900" dirty="0">
                <a:latin typeface="Arial"/>
                <a:cs typeface="Arial"/>
              </a:rPr>
              <a:t>usually</a:t>
            </a:r>
            <a:r>
              <a:rPr sz="900" spc="-20" dirty="0">
                <a:latin typeface="Arial"/>
                <a:cs typeface="Arial"/>
              </a:rPr>
              <a:t> </a:t>
            </a:r>
            <a:r>
              <a:rPr sz="900" dirty="0">
                <a:latin typeface="Arial"/>
                <a:cs typeface="Arial"/>
              </a:rPr>
              <a:t>matters</a:t>
            </a:r>
            <a:r>
              <a:rPr sz="900" spc="-25" dirty="0">
                <a:latin typeface="Arial"/>
                <a:cs typeface="Arial"/>
              </a:rPr>
              <a:t> </a:t>
            </a:r>
            <a:r>
              <a:rPr sz="900" dirty="0">
                <a:latin typeface="Arial"/>
                <a:cs typeface="Arial"/>
              </a:rPr>
              <a:t>is</a:t>
            </a:r>
            <a:r>
              <a:rPr sz="900" spc="-20" dirty="0">
                <a:latin typeface="Arial"/>
                <a:cs typeface="Arial"/>
              </a:rPr>
              <a:t> </a:t>
            </a:r>
            <a:r>
              <a:rPr sz="900" dirty="0">
                <a:latin typeface="Arial"/>
                <a:cs typeface="Arial"/>
              </a:rPr>
              <a:t>not</a:t>
            </a:r>
            <a:r>
              <a:rPr sz="900" spc="-20" dirty="0">
                <a:latin typeface="Arial"/>
                <a:cs typeface="Arial"/>
              </a:rPr>
              <a:t> </a:t>
            </a:r>
            <a:r>
              <a:rPr sz="900" dirty="0">
                <a:latin typeface="Arial"/>
                <a:cs typeface="Arial"/>
              </a:rPr>
              <a:t>that</a:t>
            </a:r>
            <a:r>
              <a:rPr sz="900" spc="-25" dirty="0">
                <a:latin typeface="Arial"/>
                <a:cs typeface="Arial"/>
              </a:rPr>
              <a:t> </a:t>
            </a:r>
            <a:r>
              <a:rPr sz="900" dirty="0">
                <a:latin typeface="Arial"/>
                <a:cs typeface="Arial"/>
              </a:rPr>
              <a:t>all</a:t>
            </a:r>
            <a:r>
              <a:rPr sz="900" spc="-20" dirty="0">
                <a:latin typeface="Arial"/>
                <a:cs typeface="Arial"/>
              </a:rPr>
              <a:t> </a:t>
            </a:r>
            <a:r>
              <a:rPr sz="900" dirty="0">
                <a:latin typeface="Arial"/>
                <a:cs typeface="Arial"/>
              </a:rPr>
              <a:t>processes</a:t>
            </a:r>
            <a:r>
              <a:rPr sz="900" spc="-20" dirty="0">
                <a:latin typeface="Arial"/>
                <a:cs typeface="Arial"/>
              </a:rPr>
              <a:t> </a:t>
            </a:r>
            <a:r>
              <a:rPr sz="900" dirty="0">
                <a:latin typeface="Arial"/>
                <a:cs typeface="Arial"/>
              </a:rPr>
              <a:t>agree</a:t>
            </a:r>
            <a:r>
              <a:rPr sz="900" spc="-25" dirty="0">
                <a:latin typeface="Arial"/>
                <a:cs typeface="Arial"/>
              </a:rPr>
              <a:t> </a:t>
            </a:r>
            <a:r>
              <a:rPr sz="900" dirty="0">
                <a:latin typeface="Arial"/>
                <a:cs typeface="Arial"/>
              </a:rPr>
              <a:t>on</a:t>
            </a:r>
            <a:r>
              <a:rPr sz="900" spc="-20" dirty="0">
                <a:latin typeface="Arial"/>
                <a:cs typeface="Arial"/>
              </a:rPr>
              <a:t> </a:t>
            </a:r>
            <a:r>
              <a:rPr sz="900" spc="-10" dirty="0">
                <a:latin typeface="Arial"/>
                <a:cs typeface="Arial"/>
              </a:rPr>
              <a:t>exactly</a:t>
            </a:r>
            <a:r>
              <a:rPr sz="900" spc="-20" dirty="0">
                <a:latin typeface="Arial"/>
                <a:cs typeface="Arial"/>
              </a:rPr>
              <a:t> </a:t>
            </a:r>
            <a:r>
              <a:rPr sz="900" dirty="0">
                <a:latin typeface="Arial"/>
                <a:cs typeface="Arial"/>
              </a:rPr>
              <a:t>what</a:t>
            </a:r>
            <a:r>
              <a:rPr sz="900" spc="-25" dirty="0">
                <a:latin typeface="Arial"/>
                <a:cs typeface="Arial"/>
              </a:rPr>
              <a:t> </a:t>
            </a:r>
            <a:r>
              <a:rPr sz="900" dirty="0">
                <a:latin typeface="Arial"/>
                <a:cs typeface="Arial"/>
              </a:rPr>
              <a:t>time</a:t>
            </a:r>
            <a:r>
              <a:rPr sz="900" spc="-20" dirty="0">
                <a:latin typeface="Arial"/>
                <a:cs typeface="Arial"/>
              </a:rPr>
              <a:t> </a:t>
            </a:r>
            <a:r>
              <a:rPr sz="900" dirty="0">
                <a:latin typeface="Arial"/>
                <a:cs typeface="Arial"/>
              </a:rPr>
              <a:t>it</a:t>
            </a:r>
            <a:r>
              <a:rPr sz="900" spc="-20" dirty="0">
                <a:latin typeface="Arial"/>
                <a:cs typeface="Arial"/>
              </a:rPr>
              <a:t> </a:t>
            </a:r>
            <a:r>
              <a:rPr sz="900" spc="-25" dirty="0">
                <a:latin typeface="Arial"/>
                <a:cs typeface="Arial"/>
              </a:rPr>
              <a:t>is, </a:t>
            </a:r>
            <a:r>
              <a:rPr sz="900" dirty="0">
                <a:latin typeface="Arial"/>
                <a:cs typeface="Arial"/>
              </a:rPr>
              <a:t>but</a:t>
            </a:r>
            <a:r>
              <a:rPr sz="900" spc="-30" dirty="0">
                <a:latin typeface="Arial"/>
                <a:cs typeface="Arial"/>
              </a:rPr>
              <a:t> </a:t>
            </a:r>
            <a:r>
              <a:rPr sz="900" dirty="0">
                <a:latin typeface="Arial"/>
                <a:cs typeface="Arial"/>
              </a:rPr>
              <a:t>that</a:t>
            </a:r>
            <a:r>
              <a:rPr sz="900" spc="-25" dirty="0">
                <a:latin typeface="Arial"/>
                <a:cs typeface="Arial"/>
              </a:rPr>
              <a:t> </a:t>
            </a:r>
            <a:r>
              <a:rPr sz="900" dirty="0">
                <a:latin typeface="Arial"/>
                <a:cs typeface="Arial"/>
              </a:rPr>
              <a:t>they</a:t>
            </a:r>
            <a:r>
              <a:rPr sz="900" spc="-25" dirty="0">
                <a:latin typeface="Arial"/>
                <a:cs typeface="Arial"/>
              </a:rPr>
              <a:t> </a:t>
            </a:r>
            <a:r>
              <a:rPr sz="900" dirty="0">
                <a:latin typeface="Arial"/>
                <a:cs typeface="Arial"/>
              </a:rPr>
              <a:t>agree</a:t>
            </a:r>
            <a:r>
              <a:rPr sz="900" spc="-25" dirty="0">
                <a:latin typeface="Arial"/>
                <a:cs typeface="Arial"/>
              </a:rPr>
              <a:t> </a:t>
            </a:r>
            <a:r>
              <a:rPr sz="900" dirty="0">
                <a:latin typeface="Arial"/>
                <a:cs typeface="Arial"/>
              </a:rPr>
              <a:t>on</a:t>
            </a:r>
            <a:r>
              <a:rPr sz="900" spc="-30" dirty="0">
                <a:latin typeface="Arial"/>
                <a:cs typeface="Arial"/>
              </a:rPr>
              <a:t> </a:t>
            </a:r>
            <a:r>
              <a:rPr sz="900" dirty="0">
                <a:latin typeface="Arial"/>
                <a:cs typeface="Arial"/>
              </a:rPr>
              <a:t>the</a:t>
            </a:r>
            <a:r>
              <a:rPr sz="900" spc="-25" dirty="0">
                <a:latin typeface="Arial"/>
                <a:cs typeface="Arial"/>
              </a:rPr>
              <a:t> </a:t>
            </a:r>
            <a:r>
              <a:rPr sz="900" dirty="0">
                <a:solidFill>
                  <a:srgbClr val="C80000"/>
                </a:solidFill>
                <a:latin typeface="Arial"/>
                <a:cs typeface="Arial"/>
              </a:rPr>
              <a:t>order</a:t>
            </a:r>
            <a:r>
              <a:rPr sz="900" spc="-25" dirty="0">
                <a:solidFill>
                  <a:srgbClr val="C80000"/>
                </a:solidFill>
                <a:latin typeface="Arial"/>
                <a:cs typeface="Arial"/>
              </a:rPr>
              <a:t> </a:t>
            </a:r>
            <a:r>
              <a:rPr sz="900" dirty="0">
                <a:solidFill>
                  <a:srgbClr val="C80000"/>
                </a:solidFill>
                <a:latin typeface="Arial"/>
                <a:cs typeface="Arial"/>
              </a:rPr>
              <a:t>in</a:t>
            </a:r>
            <a:r>
              <a:rPr sz="900" spc="-25" dirty="0">
                <a:solidFill>
                  <a:srgbClr val="C80000"/>
                </a:solidFill>
                <a:latin typeface="Arial"/>
                <a:cs typeface="Arial"/>
              </a:rPr>
              <a:t> </a:t>
            </a:r>
            <a:r>
              <a:rPr sz="900" dirty="0">
                <a:solidFill>
                  <a:srgbClr val="C80000"/>
                </a:solidFill>
                <a:latin typeface="Arial"/>
                <a:cs typeface="Arial"/>
              </a:rPr>
              <a:t>which</a:t>
            </a:r>
            <a:r>
              <a:rPr sz="900" spc="-30" dirty="0">
                <a:solidFill>
                  <a:srgbClr val="C80000"/>
                </a:solidFill>
                <a:latin typeface="Arial"/>
                <a:cs typeface="Arial"/>
              </a:rPr>
              <a:t> </a:t>
            </a:r>
            <a:r>
              <a:rPr sz="900" spc="-10" dirty="0">
                <a:solidFill>
                  <a:srgbClr val="C80000"/>
                </a:solidFill>
                <a:latin typeface="Arial"/>
                <a:cs typeface="Arial"/>
              </a:rPr>
              <a:t>events</a:t>
            </a:r>
            <a:r>
              <a:rPr sz="900" spc="-25" dirty="0">
                <a:solidFill>
                  <a:srgbClr val="C80000"/>
                </a:solidFill>
                <a:latin typeface="Arial"/>
                <a:cs typeface="Arial"/>
              </a:rPr>
              <a:t> </a:t>
            </a:r>
            <a:r>
              <a:rPr sz="900" dirty="0">
                <a:solidFill>
                  <a:srgbClr val="C80000"/>
                </a:solidFill>
                <a:latin typeface="Arial"/>
                <a:cs typeface="Arial"/>
              </a:rPr>
              <a:t>occur</a:t>
            </a:r>
            <a:r>
              <a:rPr sz="900" dirty="0">
                <a:latin typeface="Arial"/>
                <a:cs typeface="Arial"/>
              </a:rPr>
              <a:t>.</a:t>
            </a:r>
            <a:r>
              <a:rPr sz="900" spc="30" dirty="0">
                <a:latin typeface="Arial"/>
                <a:cs typeface="Arial"/>
              </a:rPr>
              <a:t> </a:t>
            </a:r>
            <a:r>
              <a:rPr sz="900" dirty="0">
                <a:solidFill>
                  <a:srgbClr val="3333B2"/>
                </a:solidFill>
                <a:latin typeface="Arial"/>
                <a:cs typeface="Arial"/>
              </a:rPr>
              <a:t>Requires</a:t>
            </a:r>
            <a:r>
              <a:rPr sz="900" spc="-30" dirty="0">
                <a:solidFill>
                  <a:srgbClr val="3333B2"/>
                </a:solidFill>
                <a:latin typeface="Arial"/>
                <a:cs typeface="Arial"/>
              </a:rPr>
              <a:t> </a:t>
            </a:r>
            <a:r>
              <a:rPr sz="900" dirty="0">
                <a:solidFill>
                  <a:srgbClr val="3333B2"/>
                </a:solidFill>
                <a:latin typeface="Arial"/>
                <a:cs typeface="Arial"/>
              </a:rPr>
              <a:t>a</a:t>
            </a:r>
            <a:r>
              <a:rPr sz="900" spc="-25" dirty="0">
                <a:solidFill>
                  <a:srgbClr val="3333B2"/>
                </a:solidFill>
                <a:latin typeface="Arial"/>
                <a:cs typeface="Arial"/>
              </a:rPr>
              <a:t> </a:t>
            </a:r>
            <a:r>
              <a:rPr sz="900" dirty="0">
                <a:solidFill>
                  <a:srgbClr val="3333B2"/>
                </a:solidFill>
                <a:latin typeface="Arial"/>
                <a:cs typeface="Arial"/>
              </a:rPr>
              <a:t>notion</a:t>
            </a:r>
            <a:r>
              <a:rPr sz="900" spc="-25" dirty="0">
                <a:solidFill>
                  <a:srgbClr val="3333B2"/>
                </a:solidFill>
                <a:latin typeface="Arial"/>
                <a:cs typeface="Arial"/>
              </a:rPr>
              <a:t> of </a:t>
            </a:r>
            <a:r>
              <a:rPr sz="900" spc="-10" dirty="0">
                <a:solidFill>
                  <a:srgbClr val="3333B2"/>
                </a:solidFill>
                <a:latin typeface="Arial"/>
                <a:cs typeface="Arial"/>
              </a:rPr>
              <a:t>ordering</a:t>
            </a:r>
            <a:r>
              <a:rPr sz="900" spc="-10" dirty="0">
                <a:latin typeface="Arial"/>
                <a:cs typeface="Arial"/>
              </a:rPr>
              <a:t>.</a:t>
            </a:r>
            <a:endParaRPr sz="900" dirty="0">
              <a:latin typeface="Arial"/>
              <a:cs typeface="Arial"/>
            </a:endParaRPr>
          </a:p>
          <a:p>
            <a:pPr marL="39370">
              <a:lnSpc>
                <a:spcPct val="100000"/>
              </a:lnSpc>
              <a:spcBef>
                <a:spcPts val="745"/>
              </a:spcBef>
            </a:pPr>
            <a:r>
              <a:rPr sz="1000" dirty="0">
                <a:solidFill>
                  <a:srgbClr val="3333B2"/>
                </a:solidFill>
                <a:latin typeface="Arial"/>
                <a:cs typeface="Arial"/>
              </a:rPr>
              <a:t>The</a:t>
            </a:r>
            <a:r>
              <a:rPr sz="1000" spc="-25" dirty="0">
                <a:solidFill>
                  <a:srgbClr val="3333B2"/>
                </a:solidFill>
                <a:latin typeface="Arial"/>
                <a:cs typeface="Arial"/>
              </a:rPr>
              <a:t> </a:t>
            </a:r>
            <a:r>
              <a:rPr sz="1000" spc="-10" dirty="0">
                <a:solidFill>
                  <a:srgbClr val="C80000"/>
                </a:solidFill>
                <a:latin typeface="Arial"/>
                <a:cs typeface="Arial"/>
              </a:rPr>
              <a:t>happened-</a:t>
            </a:r>
            <a:r>
              <a:rPr sz="1000" dirty="0">
                <a:solidFill>
                  <a:srgbClr val="C80000"/>
                </a:solidFill>
                <a:latin typeface="Arial"/>
                <a:cs typeface="Arial"/>
              </a:rPr>
              <a:t>before</a:t>
            </a:r>
            <a:r>
              <a:rPr sz="1000" spc="-20" dirty="0">
                <a:solidFill>
                  <a:srgbClr val="C80000"/>
                </a:solidFill>
                <a:latin typeface="Arial"/>
                <a:cs typeface="Arial"/>
              </a:rPr>
              <a:t> </a:t>
            </a:r>
            <a:r>
              <a:rPr sz="1000" spc="-10" dirty="0">
                <a:solidFill>
                  <a:srgbClr val="3333B2"/>
                </a:solidFill>
                <a:latin typeface="Arial"/>
                <a:cs typeface="Arial"/>
              </a:rPr>
              <a:t>relation</a:t>
            </a:r>
            <a:endParaRPr sz="1000" dirty="0">
              <a:latin typeface="Arial"/>
              <a:cs typeface="Arial"/>
            </a:endParaRPr>
          </a:p>
          <a:p>
            <a:pPr marL="295910" marR="181610" indent="-120650">
              <a:lnSpc>
                <a:spcPct val="111600"/>
              </a:lnSpc>
              <a:spcBef>
                <a:spcPts val="565"/>
              </a:spcBef>
              <a:buClr>
                <a:srgbClr val="3333B2"/>
              </a:buClr>
              <a:buFont typeface="Menlo"/>
              <a:buChar char="•"/>
              <a:tabLst>
                <a:tab pos="296545" algn="l"/>
              </a:tabLst>
            </a:pPr>
            <a:r>
              <a:rPr sz="900" dirty="0">
                <a:latin typeface="Arial"/>
                <a:cs typeface="Arial"/>
              </a:rPr>
              <a:t>If</a:t>
            </a:r>
            <a:r>
              <a:rPr sz="900" spc="-25" dirty="0">
                <a:latin typeface="Arial"/>
                <a:cs typeface="Arial"/>
              </a:rPr>
              <a:t> </a:t>
            </a:r>
            <a:r>
              <a:rPr sz="900" i="1" dirty="0">
                <a:latin typeface="Arial"/>
                <a:cs typeface="Arial"/>
              </a:rPr>
              <a:t>a</a:t>
            </a:r>
            <a:r>
              <a:rPr sz="900" i="1" spc="-20" dirty="0">
                <a:latin typeface="Arial"/>
                <a:cs typeface="Arial"/>
              </a:rPr>
              <a:t> </a:t>
            </a:r>
            <a:r>
              <a:rPr sz="900" dirty="0">
                <a:latin typeface="Arial"/>
                <a:cs typeface="Arial"/>
              </a:rPr>
              <a:t>and</a:t>
            </a:r>
            <a:r>
              <a:rPr sz="900" spc="-25" dirty="0">
                <a:latin typeface="Arial"/>
                <a:cs typeface="Arial"/>
              </a:rPr>
              <a:t> </a:t>
            </a:r>
            <a:r>
              <a:rPr sz="900" i="1" dirty="0">
                <a:latin typeface="Arial"/>
                <a:cs typeface="Arial"/>
              </a:rPr>
              <a:t>b </a:t>
            </a:r>
            <a:r>
              <a:rPr sz="900" dirty="0">
                <a:latin typeface="Arial"/>
                <a:cs typeface="Arial"/>
              </a:rPr>
              <a:t>are</a:t>
            </a:r>
            <a:r>
              <a:rPr sz="900" spc="-25" dirty="0">
                <a:latin typeface="Arial"/>
                <a:cs typeface="Arial"/>
              </a:rPr>
              <a:t> </a:t>
            </a:r>
            <a:r>
              <a:rPr sz="900" dirty="0">
                <a:latin typeface="Arial"/>
                <a:cs typeface="Arial"/>
              </a:rPr>
              <a:t>two</a:t>
            </a:r>
            <a:r>
              <a:rPr sz="900" spc="-20" dirty="0">
                <a:latin typeface="Arial"/>
                <a:cs typeface="Arial"/>
              </a:rPr>
              <a:t> </a:t>
            </a:r>
            <a:r>
              <a:rPr sz="900" spc="-10" dirty="0">
                <a:latin typeface="Arial"/>
                <a:cs typeface="Arial"/>
              </a:rPr>
              <a:t>events</a:t>
            </a:r>
            <a:r>
              <a:rPr sz="900" spc="-25" dirty="0">
                <a:latin typeface="Arial"/>
                <a:cs typeface="Arial"/>
              </a:rPr>
              <a:t> </a:t>
            </a:r>
            <a:r>
              <a:rPr sz="900" dirty="0">
                <a:latin typeface="Arial"/>
                <a:cs typeface="Arial"/>
              </a:rPr>
              <a:t>in</a:t>
            </a:r>
            <a:r>
              <a:rPr sz="900" spc="-25" dirty="0">
                <a:latin typeface="Arial"/>
                <a:cs typeface="Arial"/>
              </a:rPr>
              <a:t> </a:t>
            </a:r>
            <a:r>
              <a:rPr sz="900" dirty="0">
                <a:latin typeface="Arial"/>
                <a:cs typeface="Arial"/>
              </a:rPr>
              <a:t>the</a:t>
            </a:r>
            <a:r>
              <a:rPr sz="900" spc="-20" dirty="0">
                <a:latin typeface="Arial"/>
                <a:cs typeface="Arial"/>
              </a:rPr>
              <a:t> </a:t>
            </a:r>
            <a:r>
              <a:rPr sz="900" dirty="0">
                <a:latin typeface="Arial"/>
                <a:cs typeface="Arial"/>
              </a:rPr>
              <a:t>same</a:t>
            </a:r>
            <a:r>
              <a:rPr sz="900" spc="-25" dirty="0">
                <a:latin typeface="Arial"/>
                <a:cs typeface="Arial"/>
              </a:rPr>
              <a:t> </a:t>
            </a:r>
            <a:r>
              <a:rPr sz="900" dirty="0">
                <a:latin typeface="Arial"/>
                <a:cs typeface="Arial"/>
              </a:rPr>
              <a:t>process,</a:t>
            </a:r>
            <a:r>
              <a:rPr sz="900" spc="-25" dirty="0">
                <a:latin typeface="Arial"/>
                <a:cs typeface="Arial"/>
              </a:rPr>
              <a:t> </a:t>
            </a:r>
            <a:r>
              <a:rPr sz="900" dirty="0">
                <a:latin typeface="Arial"/>
                <a:cs typeface="Arial"/>
              </a:rPr>
              <a:t>and</a:t>
            </a:r>
            <a:r>
              <a:rPr sz="900" spc="-25" dirty="0">
                <a:latin typeface="Arial"/>
                <a:cs typeface="Arial"/>
              </a:rPr>
              <a:t> </a:t>
            </a:r>
            <a:r>
              <a:rPr sz="900" i="1" dirty="0">
                <a:latin typeface="Arial"/>
                <a:cs typeface="Arial"/>
              </a:rPr>
              <a:t>a</a:t>
            </a:r>
            <a:r>
              <a:rPr sz="900" i="1" spc="-15" dirty="0">
                <a:latin typeface="Arial"/>
                <a:cs typeface="Arial"/>
              </a:rPr>
              <a:t> </a:t>
            </a:r>
            <a:r>
              <a:rPr sz="900" dirty="0">
                <a:latin typeface="Arial"/>
                <a:cs typeface="Arial"/>
              </a:rPr>
              <a:t>comes</a:t>
            </a:r>
            <a:r>
              <a:rPr sz="900" spc="-25" dirty="0">
                <a:latin typeface="Arial"/>
                <a:cs typeface="Arial"/>
              </a:rPr>
              <a:t> </a:t>
            </a:r>
            <a:r>
              <a:rPr sz="900" dirty="0">
                <a:latin typeface="Arial"/>
                <a:cs typeface="Arial"/>
              </a:rPr>
              <a:t>before</a:t>
            </a:r>
            <a:r>
              <a:rPr sz="900" spc="-25" dirty="0">
                <a:latin typeface="Arial"/>
                <a:cs typeface="Arial"/>
              </a:rPr>
              <a:t> </a:t>
            </a:r>
            <a:r>
              <a:rPr sz="900" i="1" spc="-25" dirty="0">
                <a:latin typeface="Arial"/>
                <a:cs typeface="Arial"/>
              </a:rPr>
              <a:t>b</a:t>
            </a:r>
            <a:r>
              <a:rPr sz="900" spc="-25" dirty="0">
                <a:latin typeface="Arial"/>
                <a:cs typeface="Arial"/>
              </a:rPr>
              <a:t>, </a:t>
            </a:r>
            <a:r>
              <a:rPr sz="900" dirty="0">
                <a:latin typeface="Arial"/>
                <a:cs typeface="Arial"/>
              </a:rPr>
              <a:t>then</a:t>
            </a:r>
            <a:r>
              <a:rPr sz="900" spc="-20" dirty="0">
                <a:latin typeface="Arial"/>
                <a:cs typeface="Arial"/>
              </a:rPr>
              <a:t> </a:t>
            </a:r>
            <a:r>
              <a:rPr sz="900" i="1" dirty="0">
                <a:latin typeface="Arial"/>
                <a:cs typeface="Arial"/>
              </a:rPr>
              <a:t>a</a:t>
            </a:r>
            <a:r>
              <a:rPr sz="900" i="1" spc="-60" dirty="0">
                <a:latin typeface="Arial"/>
                <a:cs typeface="Arial"/>
              </a:rPr>
              <a:t> </a:t>
            </a:r>
            <a:r>
              <a:rPr sz="900" i="1" spc="350" dirty="0">
                <a:latin typeface="Menlo"/>
                <a:cs typeface="Menlo"/>
              </a:rPr>
              <a:t>→</a:t>
            </a:r>
            <a:r>
              <a:rPr sz="900" i="1" spc="-345" dirty="0">
                <a:latin typeface="Menlo"/>
                <a:cs typeface="Menlo"/>
              </a:rPr>
              <a:t> </a:t>
            </a:r>
            <a:r>
              <a:rPr sz="900" i="1" spc="-25" dirty="0">
                <a:latin typeface="Arial"/>
                <a:cs typeface="Arial"/>
              </a:rPr>
              <a:t>b</a:t>
            </a:r>
            <a:r>
              <a:rPr sz="900" spc="-25" dirty="0">
                <a:latin typeface="Arial"/>
                <a:cs typeface="Arial"/>
              </a:rPr>
              <a:t>.</a:t>
            </a:r>
            <a:endParaRPr sz="900" dirty="0">
              <a:latin typeface="Arial"/>
              <a:cs typeface="Arial"/>
            </a:endParaRPr>
          </a:p>
          <a:p>
            <a:pPr marL="295910" marR="163830" indent="-120650">
              <a:lnSpc>
                <a:spcPct val="111600"/>
              </a:lnSpc>
              <a:buClr>
                <a:srgbClr val="3333B2"/>
              </a:buClr>
              <a:buFont typeface="Menlo"/>
              <a:buChar char="•"/>
              <a:tabLst>
                <a:tab pos="296545" algn="l"/>
              </a:tabLst>
            </a:pPr>
            <a:r>
              <a:rPr sz="900" dirty="0">
                <a:latin typeface="Arial"/>
                <a:cs typeface="Arial"/>
              </a:rPr>
              <a:t>If</a:t>
            </a:r>
            <a:r>
              <a:rPr sz="900" spc="-20" dirty="0">
                <a:latin typeface="Arial"/>
                <a:cs typeface="Arial"/>
              </a:rPr>
              <a:t> </a:t>
            </a:r>
            <a:r>
              <a:rPr sz="900" i="1" dirty="0">
                <a:latin typeface="Arial"/>
                <a:cs typeface="Arial"/>
              </a:rPr>
              <a:t>a</a:t>
            </a:r>
            <a:r>
              <a:rPr sz="900" i="1" spc="-15" dirty="0">
                <a:latin typeface="Arial"/>
                <a:cs typeface="Arial"/>
              </a:rPr>
              <a:t> </a:t>
            </a:r>
            <a:r>
              <a:rPr sz="900" dirty="0">
                <a:latin typeface="Arial"/>
                <a:cs typeface="Arial"/>
              </a:rPr>
              <a:t>is</a:t>
            </a:r>
            <a:r>
              <a:rPr sz="900" spc="-20" dirty="0">
                <a:latin typeface="Arial"/>
                <a:cs typeface="Arial"/>
              </a:rPr>
              <a:t> </a:t>
            </a:r>
            <a:r>
              <a:rPr sz="900" dirty="0">
                <a:latin typeface="Arial"/>
                <a:cs typeface="Arial"/>
              </a:rPr>
              <a:t>the</a:t>
            </a:r>
            <a:r>
              <a:rPr sz="900" spc="-20" dirty="0">
                <a:latin typeface="Arial"/>
                <a:cs typeface="Arial"/>
              </a:rPr>
              <a:t> </a:t>
            </a:r>
            <a:r>
              <a:rPr sz="900" dirty="0">
                <a:latin typeface="Arial"/>
                <a:cs typeface="Arial"/>
              </a:rPr>
              <a:t>sending</a:t>
            </a:r>
            <a:r>
              <a:rPr sz="900" spc="-20" dirty="0">
                <a:latin typeface="Arial"/>
                <a:cs typeface="Arial"/>
              </a:rPr>
              <a:t> </a:t>
            </a:r>
            <a:r>
              <a:rPr sz="900" dirty="0">
                <a:latin typeface="Arial"/>
                <a:cs typeface="Arial"/>
              </a:rPr>
              <a:t>of</a:t>
            </a:r>
            <a:r>
              <a:rPr sz="900" spc="-20" dirty="0">
                <a:latin typeface="Arial"/>
                <a:cs typeface="Arial"/>
              </a:rPr>
              <a:t> </a:t>
            </a:r>
            <a:r>
              <a:rPr sz="900" dirty="0">
                <a:latin typeface="Arial"/>
                <a:cs typeface="Arial"/>
              </a:rPr>
              <a:t>a</a:t>
            </a:r>
            <a:r>
              <a:rPr sz="900" spc="-20" dirty="0">
                <a:latin typeface="Arial"/>
                <a:cs typeface="Arial"/>
              </a:rPr>
              <a:t> </a:t>
            </a:r>
            <a:r>
              <a:rPr sz="900" dirty="0">
                <a:latin typeface="Arial"/>
                <a:cs typeface="Arial"/>
              </a:rPr>
              <a:t>message,</a:t>
            </a:r>
            <a:r>
              <a:rPr sz="900" spc="-15" dirty="0">
                <a:latin typeface="Arial"/>
                <a:cs typeface="Arial"/>
              </a:rPr>
              <a:t> </a:t>
            </a:r>
            <a:r>
              <a:rPr sz="900" dirty="0">
                <a:latin typeface="Arial"/>
                <a:cs typeface="Arial"/>
              </a:rPr>
              <a:t>and</a:t>
            </a:r>
            <a:r>
              <a:rPr sz="900" spc="-20" dirty="0">
                <a:latin typeface="Arial"/>
                <a:cs typeface="Arial"/>
              </a:rPr>
              <a:t> </a:t>
            </a:r>
            <a:r>
              <a:rPr sz="900" i="1" dirty="0">
                <a:latin typeface="Arial"/>
                <a:cs typeface="Arial"/>
              </a:rPr>
              <a:t>b</a:t>
            </a:r>
            <a:r>
              <a:rPr sz="900" i="1" spc="5" dirty="0">
                <a:latin typeface="Arial"/>
                <a:cs typeface="Arial"/>
              </a:rPr>
              <a:t> </a:t>
            </a:r>
            <a:r>
              <a:rPr sz="900" dirty="0">
                <a:latin typeface="Arial"/>
                <a:cs typeface="Arial"/>
              </a:rPr>
              <a:t>is</a:t>
            </a:r>
            <a:r>
              <a:rPr sz="900" spc="-20" dirty="0">
                <a:latin typeface="Arial"/>
                <a:cs typeface="Arial"/>
              </a:rPr>
              <a:t> </a:t>
            </a:r>
            <a:r>
              <a:rPr sz="900" dirty="0">
                <a:latin typeface="Arial"/>
                <a:cs typeface="Arial"/>
              </a:rPr>
              <a:t>the</a:t>
            </a:r>
            <a:r>
              <a:rPr sz="900" spc="-20" dirty="0">
                <a:latin typeface="Arial"/>
                <a:cs typeface="Arial"/>
              </a:rPr>
              <a:t> </a:t>
            </a:r>
            <a:r>
              <a:rPr sz="900" dirty="0">
                <a:latin typeface="Arial"/>
                <a:cs typeface="Arial"/>
              </a:rPr>
              <a:t>receipt</a:t>
            </a:r>
            <a:r>
              <a:rPr sz="900" spc="-20" dirty="0">
                <a:latin typeface="Arial"/>
                <a:cs typeface="Arial"/>
              </a:rPr>
              <a:t> </a:t>
            </a:r>
            <a:r>
              <a:rPr sz="900" dirty="0">
                <a:latin typeface="Arial"/>
                <a:cs typeface="Arial"/>
              </a:rPr>
              <a:t>of</a:t>
            </a:r>
            <a:r>
              <a:rPr sz="900" spc="-20" dirty="0">
                <a:latin typeface="Arial"/>
                <a:cs typeface="Arial"/>
              </a:rPr>
              <a:t> </a:t>
            </a:r>
            <a:r>
              <a:rPr sz="900" dirty="0">
                <a:latin typeface="Arial"/>
                <a:cs typeface="Arial"/>
              </a:rPr>
              <a:t>that</a:t>
            </a:r>
            <a:r>
              <a:rPr sz="900" spc="-20" dirty="0">
                <a:latin typeface="Arial"/>
                <a:cs typeface="Arial"/>
              </a:rPr>
              <a:t> </a:t>
            </a:r>
            <a:r>
              <a:rPr sz="900" spc="-10" dirty="0">
                <a:latin typeface="Arial"/>
                <a:cs typeface="Arial"/>
              </a:rPr>
              <a:t>message, </a:t>
            </a:r>
            <a:r>
              <a:rPr sz="900" dirty="0">
                <a:latin typeface="Arial"/>
                <a:cs typeface="Arial"/>
              </a:rPr>
              <a:t>then</a:t>
            </a:r>
            <a:r>
              <a:rPr sz="900" spc="-20" dirty="0">
                <a:latin typeface="Arial"/>
                <a:cs typeface="Arial"/>
              </a:rPr>
              <a:t> </a:t>
            </a:r>
            <a:r>
              <a:rPr sz="900" i="1" dirty="0">
                <a:latin typeface="Arial"/>
                <a:cs typeface="Arial"/>
              </a:rPr>
              <a:t>a</a:t>
            </a:r>
            <a:r>
              <a:rPr sz="900" i="1" spc="-60" dirty="0">
                <a:latin typeface="Arial"/>
                <a:cs typeface="Arial"/>
              </a:rPr>
              <a:t> </a:t>
            </a:r>
            <a:r>
              <a:rPr sz="900" i="1" spc="350" dirty="0">
                <a:latin typeface="Menlo"/>
                <a:cs typeface="Menlo"/>
              </a:rPr>
              <a:t>→</a:t>
            </a:r>
            <a:r>
              <a:rPr sz="900" i="1" spc="-345" dirty="0">
                <a:latin typeface="Menlo"/>
                <a:cs typeface="Menlo"/>
              </a:rPr>
              <a:t> </a:t>
            </a:r>
            <a:r>
              <a:rPr sz="900" i="1" spc="-50" dirty="0">
                <a:latin typeface="Arial"/>
                <a:cs typeface="Arial"/>
              </a:rPr>
              <a:t>b</a:t>
            </a:r>
            <a:endParaRPr sz="900" dirty="0">
              <a:latin typeface="Arial"/>
              <a:cs typeface="Arial"/>
            </a:endParaRPr>
          </a:p>
          <a:p>
            <a:pPr marL="295910" indent="-120650">
              <a:lnSpc>
                <a:spcPct val="100000"/>
              </a:lnSpc>
              <a:spcBef>
                <a:spcPts val="125"/>
              </a:spcBef>
              <a:buClr>
                <a:srgbClr val="3333B2"/>
              </a:buClr>
              <a:buFont typeface="Menlo"/>
              <a:buChar char="•"/>
              <a:tabLst>
                <a:tab pos="296545" algn="l"/>
              </a:tabLst>
            </a:pPr>
            <a:r>
              <a:rPr sz="900" dirty="0">
                <a:latin typeface="Arial"/>
                <a:cs typeface="Arial"/>
              </a:rPr>
              <a:t>If</a:t>
            </a:r>
            <a:r>
              <a:rPr sz="900" spc="-10" dirty="0">
                <a:latin typeface="Arial"/>
                <a:cs typeface="Arial"/>
              </a:rPr>
              <a:t> </a:t>
            </a:r>
            <a:r>
              <a:rPr sz="900" i="1" dirty="0">
                <a:latin typeface="Arial"/>
                <a:cs typeface="Arial"/>
              </a:rPr>
              <a:t>a</a:t>
            </a:r>
            <a:r>
              <a:rPr sz="900" i="1" spc="-55" dirty="0">
                <a:latin typeface="Arial"/>
                <a:cs typeface="Arial"/>
              </a:rPr>
              <a:t> </a:t>
            </a:r>
            <a:r>
              <a:rPr sz="900" i="1" spc="350" dirty="0">
                <a:latin typeface="Menlo"/>
                <a:cs typeface="Menlo"/>
              </a:rPr>
              <a:t>→</a:t>
            </a:r>
            <a:r>
              <a:rPr sz="900" i="1" spc="-345" dirty="0">
                <a:latin typeface="Menlo"/>
                <a:cs typeface="Menlo"/>
              </a:rPr>
              <a:t> </a:t>
            </a:r>
            <a:r>
              <a:rPr sz="900" i="1" dirty="0">
                <a:latin typeface="Arial"/>
                <a:cs typeface="Arial"/>
              </a:rPr>
              <a:t>b</a:t>
            </a:r>
            <a:r>
              <a:rPr sz="900" i="1" spc="20" dirty="0">
                <a:latin typeface="Arial"/>
                <a:cs typeface="Arial"/>
              </a:rPr>
              <a:t> </a:t>
            </a:r>
            <a:r>
              <a:rPr sz="900" dirty="0">
                <a:latin typeface="Arial"/>
                <a:cs typeface="Arial"/>
              </a:rPr>
              <a:t>and</a:t>
            </a:r>
            <a:r>
              <a:rPr sz="900" spc="-5" dirty="0">
                <a:latin typeface="Arial"/>
                <a:cs typeface="Arial"/>
              </a:rPr>
              <a:t> </a:t>
            </a:r>
            <a:r>
              <a:rPr sz="900" i="1" dirty="0">
                <a:latin typeface="Arial"/>
                <a:cs typeface="Arial"/>
              </a:rPr>
              <a:t>b</a:t>
            </a:r>
            <a:r>
              <a:rPr sz="900" i="1" spc="-30" dirty="0">
                <a:latin typeface="Arial"/>
                <a:cs typeface="Arial"/>
              </a:rPr>
              <a:t> </a:t>
            </a:r>
            <a:r>
              <a:rPr sz="900" i="1" spc="350" dirty="0">
                <a:latin typeface="Menlo"/>
                <a:cs typeface="Menlo"/>
              </a:rPr>
              <a:t>→</a:t>
            </a:r>
            <a:r>
              <a:rPr sz="900" i="1" spc="-345" dirty="0">
                <a:latin typeface="Menlo"/>
                <a:cs typeface="Menlo"/>
              </a:rPr>
              <a:t> </a:t>
            </a:r>
            <a:r>
              <a:rPr sz="900" i="1" dirty="0">
                <a:latin typeface="Arial"/>
                <a:cs typeface="Arial"/>
              </a:rPr>
              <a:t>c</a:t>
            </a:r>
            <a:r>
              <a:rPr sz="900" dirty="0">
                <a:latin typeface="Arial"/>
                <a:cs typeface="Arial"/>
              </a:rPr>
              <a:t>,</a:t>
            </a:r>
            <a:r>
              <a:rPr sz="900" spc="-10" dirty="0">
                <a:latin typeface="Arial"/>
                <a:cs typeface="Arial"/>
              </a:rPr>
              <a:t> </a:t>
            </a:r>
            <a:r>
              <a:rPr sz="900" dirty="0">
                <a:latin typeface="Arial"/>
                <a:cs typeface="Arial"/>
              </a:rPr>
              <a:t>then</a:t>
            </a:r>
            <a:r>
              <a:rPr sz="900" spc="-5" dirty="0">
                <a:latin typeface="Arial"/>
                <a:cs typeface="Arial"/>
              </a:rPr>
              <a:t> </a:t>
            </a:r>
            <a:r>
              <a:rPr sz="900" i="1" dirty="0">
                <a:latin typeface="Arial"/>
                <a:cs typeface="Arial"/>
              </a:rPr>
              <a:t>a</a:t>
            </a:r>
            <a:r>
              <a:rPr sz="900" i="1" spc="-50" dirty="0">
                <a:latin typeface="Arial"/>
                <a:cs typeface="Arial"/>
              </a:rPr>
              <a:t> </a:t>
            </a:r>
            <a:r>
              <a:rPr sz="900" i="1" spc="350" dirty="0">
                <a:latin typeface="Menlo"/>
                <a:cs typeface="Menlo"/>
              </a:rPr>
              <a:t>→</a:t>
            </a:r>
            <a:r>
              <a:rPr sz="900" i="1" spc="-345" dirty="0">
                <a:latin typeface="Menlo"/>
                <a:cs typeface="Menlo"/>
              </a:rPr>
              <a:t> </a:t>
            </a:r>
            <a:r>
              <a:rPr sz="900" i="1" spc="-50" dirty="0">
                <a:latin typeface="Arial"/>
                <a:cs typeface="Arial"/>
              </a:rPr>
              <a:t>c</a:t>
            </a:r>
            <a:r>
              <a:rPr lang="en-US" sz="900" i="1" spc="-50" dirty="0">
                <a:latin typeface="Arial"/>
                <a:cs typeface="Arial"/>
              </a:rPr>
              <a:t> </a:t>
            </a:r>
            <a:r>
              <a:rPr lang="en-US" sz="900" spc="-50" dirty="0">
                <a:latin typeface="Arial"/>
                <a:cs typeface="Arial"/>
              </a:rPr>
              <a:t>(Transitive)</a:t>
            </a:r>
            <a:endParaRPr sz="900" dirty="0">
              <a:latin typeface="Arial"/>
              <a:cs typeface="Arial"/>
            </a:endParaRPr>
          </a:p>
          <a:p>
            <a:pPr>
              <a:lnSpc>
                <a:spcPct val="100000"/>
              </a:lnSpc>
              <a:spcBef>
                <a:spcPts val="20"/>
              </a:spcBef>
            </a:pPr>
            <a:endParaRPr sz="1150" dirty="0">
              <a:latin typeface="Arial"/>
              <a:cs typeface="Arial"/>
            </a:endParaRPr>
          </a:p>
          <a:p>
            <a:pPr marL="43180">
              <a:lnSpc>
                <a:spcPct val="100000"/>
              </a:lnSpc>
              <a:spcBef>
                <a:spcPts val="5"/>
              </a:spcBef>
            </a:pPr>
            <a:r>
              <a:rPr sz="1000" spc="-20" dirty="0">
                <a:solidFill>
                  <a:srgbClr val="C80000"/>
                </a:solidFill>
                <a:latin typeface="Arial"/>
                <a:cs typeface="Arial"/>
              </a:rPr>
              <a:t>Note</a:t>
            </a:r>
            <a:endParaRPr sz="1000" dirty="0">
              <a:latin typeface="Arial"/>
              <a:cs typeface="Arial"/>
            </a:endParaRPr>
          </a:p>
          <a:p>
            <a:pPr marL="43180" marR="281305" indent="-3810">
              <a:lnSpc>
                <a:spcPts val="1210"/>
              </a:lnSpc>
              <a:spcBef>
                <a:spcPts val="35"/>
              </a:spcBef>
            </a:pPr>
            <a:r>
              <a:rPr sz="900" dirty="0">
                <a:latin typeface="Arial"/>
                <a:cs typeface="Arial"/>
              </a:rPr>
              <a:t>This</a:t>
            </a:r>
            <a:r>
              <a:rPr sz="900" spc="-20" dirty="0">
                <a:latin typeface="Arial"/>
                <a:cs typeface="Arial"/>
              </a:rPr>
              <a:t> </a:t>
            </a:r>
            <a:r>
              <a:rPr sz="900" dirty="0">
                <a:latin typeface="Arial"/>
                <a:cs typeface="Arial"/>
              </a:rPr>
              <a:t>introduces</a:t>
            </a:r>
            <a:r>
              <a:rPr sz="900" spc="-20" dirty="0">
                <a:latin typeface="Arial"/>
                <a:cs typeface="Arial"/>
              </a:rPr>
              <a:t> </a:t>
            </a:r>
            <a:r>
              <a:rPr sz="900" dirty="0">
                <a:latin typeface="Arial"/>
                <a:cs typeface="Arial"/>
              </a:rPr>
              <a:t>a</a:t>
            </a:r>
            <a:r>
              <a:rPr sz="900" spc="-20" dirty="0">
                <a:latin typeface="Arial"/>
                <a:cs typeface="Arial"/>
              </a:rPr>
              <a:t> </a:t>
            </a:r>
            <a:r>
              <a:rPr sz="900" dirty="0">
                <a:solidFill>
                  <a:srgbClr val="3333B2"/>
                </a:solidFill>
                <a:latin typeface="Arial"/>
                <a:cs typeface="Arial"/>
              </a:rPr>
              <a:t>partial</a:t>
            </a:r>
            <a:r>
              <a:rPr sz="900" spc="-20" dirty="0">
                <a:solidFill>
                  <a:srgbClr val="3333B2"/>
                </a:solidFill>
                <a:latin typeface="Arial"/>
                <a:cs typeface="Arial"/>
              </a:rPr>
              <a:t> </a:t>
            </a:r>
            <a:r>
              <a:rPr sz="900" dirty="0">
                <a:solidFill>
                  <a:srgbClr val="3333B2"/>
                </a:solidFill>
                <a:latin typeface="Arial"/>
                <a:cs typeface="Arial"/>
              </a:rPr>
              <a:t>ordering</a:t>
            </a:r>
            <a:r>
              <a:rPr sz="900" spc="-20" dirty="0">
                <a:solidFill>
                  <a:srgbClr val="3333B2"/>
                </a:solidFill>
                <a:latin typeface="Arial"/>
                <a:cs typeface="Arial"/>
              </a:rPr>
              <a:t> </a:t>
            </a:r>
            <a:r>
              <a:rPr sz="900" dirty="0">
                <a:solidFill>
                  <a:srgbClr val="3333B2"/>
                </a:solidFill>
                <a:latin typeface="Arial"/>
                <a:cs typeface="Arial"/>
              </a:rPr>
              <a:t>of</a:t>
            </a:r>
            <a:r>
              <a:rPr sz="900" spc="-20" dirty="0">
                <a:solidFill>
                  <a:srgbClr val="3333B2"/>
                </a:solidFill>
                <a:latin typeface="Arial"/>
                <a:cs typeface="Arial"/>
              </a:rPr>
              <a:t> </a:t>
            </a:r>
            <a:r>
              <a:rPr sz="900" spc="-10" dirty="0">
                <a:solidFill>
                  <a:srgbClr val="3333B2"/>
                </a:solidFill>
                <a:latin typeface="Arial"/>
                <a:cs typeface="Arial"/>
              </a:rPr>
              <a:t>events</a:t>
            </a:r>
            <a:r>
              <a:rPr sz="900" spc="-20" dirty="0">
                <a:solidFill>
                  <a:srgbClr val="3333B2"/>
                </a:solidFill>
                <a:latin typeface="Arial"/>
                <a:cs typeface="Arial"/>
              </a:rPr>
              <a:t> </a:t>
            </a:r>
            <a:r>
              <a:rPr sz="900" dirty="0">
                <a:latin typeface="Arial"/>
                <a:cs typeface="Arial"/>
              </a:rPr>
              <a:t>in</a:t>
            </a:r>
            <a:r>
              <a:rPr sz="900" spc="-20" dirty="0">
                <a:latin typeface="Arial"/>
                <a:cs typeface="Arial"/>
              </a:rPr>
              <a:t> </a:t>
            </a:r>
            <a:r>
              <a:rPr sz="900" dirty="0">
                <a:latin typeface="Arial"/>
                <a:cs typeface="Arial"/>
              </a:rPr>
              <a:t>a</a:t>
            </a:r>
            <a:r>
              <a:rPr sz="900" spc="-20" dirty="0">
                <a:latin typeface="Arial"/>
                <a:cs typeface="Arial"/>
              </a:rPr>
              <a:t> </a:t>
            </a:r>
            <a:r>
              <a:rPr sz="900" dirty="0">
                <a:latin typeface="Arial"/>
                <a:cs typeface="Arial"/>
              </a:rPr>
              <a:t>system</a:t>
            </a:r>
            <a:r>
              <a:rPr sz="900" spc="-20" dirty="0">
                <a:latin typeface="Arial"/>
                <a:cs typeface="Arial"/>
              </a:rPr>
              <a:t> </a:t>
            </a:r>
            <a:r>
              <a:rPr sz="900" dirty="0">
                <a:latin typeface="Arial"/>
                <a:cs typeface="Arial"/>
              </a:rPr>
              <a:t>with</a:t>
            </a:r>
            <a:r>
              <a:rPr sz="900" spc="-20" dirty="0">
                <a:latin typeface="Arial"/>
                <a:cs typeface="Arial"/>
              </a:rPr>
              <a:t> </a:t>
            </a:r>
            <a:r>
              <a:rPr sz="900" spc="-10" dirty="0">
                <a:latin typeface="Arial"/>
                <a:cs typeface="Arial"/>
              </a:rPr>
              <a:t>concurrently </a:t>
            </a:r>
            <a:r>
              <a:rPr sz="900" dirty="0">
                <a:latin typeface="Arial"/>
                <a:cs typeface="Arial"/>
              </a:rPr>
              <a:t>operating</a:t>
            </a:r>
            <a:r>
              <a:rPr sz="900" spc="-55" dirty="0">
                <a:latin typeface="Arial"/>
                <a:cs typeface="Arial"/>
              </a:rPr>
              <a:t> </a:t>
            </a:r>
            <a:r>
              <a:rPr sz="900" spc="-10" dirty="0">
                <a:latin typeface="Arial"/>
                <a:cs typeface="Arial"/>
              </a:rPr>
              <a:t>processes.</a:t>
            </a:r>
            <a:endParaRPr sz="900" dirty="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691515"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3" action="ppaction://hlinksldjump"/>
              </a:rPr>
              <a:t>Lamport’s</a:t>
            </a:r>
            <a:r>
              <a:rPr sz="500" spc="15" dirty="0">
                <a:latin typeface="Arial"/>
                <a:cs typeface="Arial"/>
                <a:hlinkClick r:id="rId3" action="ppaction://hlinksldjump"/>
              </a:rPr>
              <a:t> </a:t>
            </a:r>
            <a:r>
              <a:rPr sz="500" dirty="0">
                <a:latin typeface="Arial"/>
                <a:cs typeface="Arial"/>
                <a:hlinkClick r:id="rId3" action="ppaction://hlinksldjump"/>
              </a:rPr>
              <a:t>logical</a:t>
            </a:r>
            <a:r>
              <a:rPr sz="500" spc="15" dirty="0">
                <a:latin typeface="Arial"/>
                <a:cs typeface="Arial"/>
                <a:hlinkClick r:id="rId3" action="ppaction://hlinksldjump"/>
              </a:rPr>
              <a:t> </a:t>
            </a:r>
            <a:r>
              <a:rPr sz="500" spc="-10" dirty="0">
                <a:latin typeface="Arial"/>
                <a:cs typeface="Arial"/>
                <a:hlinkClick r:id="rId3" action="ppaction://hlinksldjump"/>
              </a:rPr>
              <a:t>clocks</a:t>
            </a:r>
            <a:endParaRPr sz="500">
              <a:latin typeface="Arial"/>
              <a:cs typeface="Arial"/>
            </a:endParaRP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8417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Coordination</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136644" y="-1515"/>
            <a:ext cx="41846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Logical</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clocks</a:t>
            </a:r>
            <a:endParaRPr sz="500">
              <a:latin typeface="Arial"/>
              <a:cs typeface="Arial"/>
            </a:endParaRPr>
          </a:p>
        </p:txBody>
      </p:sp>
      <p:sp>
        <p:nvSpPr>
          <p:cNvPr id="5" name="object 5"/>
          <p:cNvSpPr txBox="1"/>
          <p:nvPr/>
        </p:nvSpPr>
        <p:spPr>
          <a:xfrm>
            <a:off x="95300" y="197711"/>
            <a:ext cx="4118610" cy="79819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Logical</a:t>
            </a:r>
            <a:r>
              <a:rPr sz="1200" spc="-45" dirty="0">
                <a:solidFill>
                  <a:srgbClr val="3333B2"/>
                </a:solidFill>
                <a:latin typeface="Arial"/>
                <a:cs typeface="Arial"/>
              </a:rPr>
              <a:t> </a:t>
            </a:r>
            <a:r>
              <a:rPr sz="1200" spc="-10" dirty="0">
                <a:solidFill>
                  <a:srgbClr val="3333B2"/>
                </a:solidFill>
                <a:latin typeface="Arial"/>
                <a:cs typeface="Arial"/>
              </a:rPr>
              <a:t>clocks</a:t>
            </a:r>
            <a:endParaRPr sz="1200">
              <a:latin typeface="Arial"/>
              <a:cs typeface="Arial"/>
            </a:endParaRPr>
          </a:p>
          <a:p>
            <a:pPr marL="264160">
              <a:lnSpc>
                <a:spcPct val="100000"/>
              </a:lnSpc>
              <a:spcBef>
                <a:spcPts val="1055"/>
              </a:spcBef>
            </a:pPr>
            <a:r>
              <a:rPr sz="1000" spc="-10" dirty="0">
                <a:solidFill>
                  <a:srgbClr val="C80000"/>
                </a:solidFill>
                <a:latin typeface="Arial"/>
                <a:cs typeface="Arial"/>
              </a:rPr>
              <a:t>Problem</a:t>
            </a:r>
            <a:endParaRPr sz="1000">
              <a:latin typeface="Arial"/>
              <a:cs typeface="Arial"/>
            </a:endParaRPr>
          </a:p>
          <a:p>
            <a:pPr marL="260350" marR="5080" indent="3810">
              <a:lnSpc>
                <a:spcPts val="1210"/>
              </a:lnSpc>
              <a:spcBef>
                <a:spcPts val="40"/>
              </a:spcBef>
            </a:pPr>
            <a:r>
              <a:rPr sz="900" dirty="0">
                <a:latin typeface="Arial"/>
                <a:cs typeface="Arial"/>
              </a:rPr>
              <a:t>How</a:t>
            </a:r>
            <a:r>
              <a:rPr sz="900" spc="-30" dirty="0">
                <a:latin typeface="Arial"/>
                <a:cs typeface="Arial"/>
              </a:rPr>
              <a:t> </a:t>
            </a:r>
            <a:r>
              <a:rPr sz="900" dirty="0">
                <a:latin typeface="Arial"/>
                <a:cs typeface="Arial"/>
              </a:rPr>
              <a:t>do</a:t>
            </a:r>
            <a:r>
              <a:rPr sz="900" spc="-25" dirty="0">
                <a:latin typeface="Arial"/>
                <a:cs typeface="Arial"/>
              </a:rPr>
              <a:t> </a:t>
            </a:r>
            <a:r>
              <a:rPr sz="900" dirty="0">
                <a:latin typeface="Arial"/>
                <a:cs typeface="Arial"/>
              </a:rPr>
              <a:t>we</a:t>
            </a:r>
            <a:r>
              <a:rPr sz="900" spc="-25" dirty="0">
                <a:latin typeface="Arial"/>
                <a:cs typeface="Arial"/>
              </a:rPr>
              <a:t> </a:t>
            </a:r>
            <a:r>
              <a:rPr sz="900" dirty="0">
                <a:latin typeface="Arial"/>
                <a:cs typeface="Arial"/>
              </a:rPr>
              <a:t>maintain</a:t>
            </a:r>
            <a:r>
              <a:rPr sz="900" spc="-25" dirty="0">
                <a:latin typeface="Arial"/>
                <a:cs typeface="Arial"/>
              </a:rPr>
              <a:t> </a:t>
            </a:r>
            <a:r>
              <a:rPr sz="900" dirty="0">
                <a:latin typeface="Arial"/>
                <a:cs typeface="Arial"/>
              </a:rPr>
              <a:t>a</a:t>
            </a:r>
            <a:r>
              <a:rPr sz="900" spc="-25" dirty="0">
                <a:latin typeface="Arial"/>
                <a:cs typeface="Arial"/>
              </a:rPr>
              <a:t> </a:t>
            </a:r>
            <a:r>
              <a:rPr sz="900" dirty="0">
                <a:latin typeface="Arial"/>
                <a:cs typeface="Arial"/>
              </a:rPr>
              <a:t>global</a:t>
            </a:r>
            <a:r>
              <a:rPr sz="900" spc="-25" dirty="0">
                <a:latin typeface="Arial"/>
                <a:cs typeface="Arial"/>
              </a:rPr>
              <a:t> </a:t>
            </a:r>
            <a:r>
              <a:rPr sz="900" dirty="0">
                <a:latin typeface="Arial"/>
                <a:cs typeface="Arial"/>
              </a:rPr>
              <a:t>view</a:t>
            </a:r>
            <a:r>
              <a:rPr sz="900" spc="-25" dirty="0">
                <a:latin typeface="Arial"/>
                <a:cs typeface="Arial"/>
              </a:rPr>
              <a:t> </a:t>
            </a:r>
            <a:r>
              <a:rPr sz="900" dirty="0">
                <a:latin typeface="Arial"/>
                <a:cs typeface="Arial"/>
              </a:rPr>
              <a:t>of</a:t>
            </a:r>
            <a:r>
              <a:rPr sz="900" spc="-25" dirty="0">
                <a:latin typeface="Arial"/>
                <a:cs typeface="Arial"/>
              </a:rPr>
              <a:t> </a:t>
            </a:r>
            <a:r>
              <a:rPr sz="900" dirty="0">
                <a:latin typeface="Arial"/>
                <a:cs typeface="Arial"/>
              </a:rPr>
              <a:t>the</a:t>
            </a:r>
            <a:r>
              <a:rPr sz="900" spc="-25" dirty="0">
                <a:latin typeface="Arial"/>
                <a:cs typeface="Arial"/>
              </a:rPr>
              <a:t> </a:t>
            </a:r>
            <a:r>
              <a:rPr sz="900" spc="-10" dirty="0">
                <a:latin typeface="Arial"/>
                <a:cs typeface="Arial"/>
              </a:rPr>
              <a:t>system’s</a:t>
            </a:r>
            <a:r>
              <a:rPr sz="900" spc="-25" dirty="0">
                <a:latin typeface="Arial"/>
                <a:cs typeface="Arial"/>
              </a:rPr>
              <a:t> </a:t>
            </a:r>
            <a:r>
              <a:rPr sz="900" dirty="0">
                <a:latin typeface="Arial"/>
                <a:cs typeface="Arial"/>
              </a:rPr>
              <a:t>behavior</a:t>
            </a:r>
            <a:r>
              <a:rPr sz="900" spc="-25" dirty="0">
                <a:latin typeface="Arial"/>
                <a:cs typeface="Arial"/>
              </a:rPr>
              <a:t> </a:t>
            </a:r>
            <a:r>
              <a:rPr sz="900" dirty="0">
                <a:latin typeface="Arial"/>
                <a:cs typeface="Arial"/>
              </a:rPr>
              <a:t>that</a:t>
            </a:r>
            <a:r>
              <a:rPr sz="900" spc="-25" dirty="0">
                <a:latin typeface="Arial"/>
                <a:cs typeface="Arial"/>
              </a:rPr>
              <a:t> </a:t>
            </a:r>
            <a:r>
              <a:rPr sz="900" dirty="0">
                <a:latin typeface="Arial"/>
                <a:cs typeface="Arial"/>
              </a:rPr>
              <a:t>is</a:t>
            </a:r>
            <a:r>
              <a:rPr sz="900" spc="-25" dirty="0">
                <a:latin typeface="Arial"/>
                <a:cs typeface="Arial"/>
              </a:rPr>
              <a:t> </a:t>
            </a:r>
            <a:r>
              <a:rPr sz="900" spc="-10" dirty="0">
                <a:latin typeface="Arial"/>
                <a:cs typeface="Arial"/>
              </a:rPr>
              <a:t>consistent </a:t>
            </a:r>
            <a:r>
              <a:rPr sz="900" dirty="0">
                <a:latin typeface="Arial"/>
                <a:cs typeface="Arial"/>
              </a:rPr>
              <a:t>with</a:t>
            </a:r>
            <a:r>
              <a:rPr sz="900" spc="-20" dirty="0">
                <a:latin typeface="Arial"/>
                <a:cs typeface="Arial"/>
              </a:rPr>
              <a:t> </a:t>
            </a:r>
            <a:r>
              <a:rPr sz="900" dirty="0">
                <a:latin typeface="Arial"/>
                <a:cs typeface="Arial"/>
              </a:rPr>
              <a:t>the</a:t>
            </a:r>
            <a:r>
              <a:rPr sz="900" spc="-15" dirty="0">
                <a:latin typeface="Arial"/>
                <a:cs typeface="Arial"/>
              </a:rPr>
              <a:t> </a:t>
            </a:r>
            <a:r>
              <a:rPr sz="900" spc="-10" dirty="0">
                <a:latin typeface="Arial"/>
                <a:cs typeface="Arial"/>
              </a:rPr>
              <a:t>happened-</a:t>
            </a:r>
            <a:r>
              <a:rPr sz="900" dirty="0">
                <a:latin typeface="Arial"/>
                <a:cs typeface="Arial"/>
              </a:rPr>
              <a:t>before</a:t>
            </a:r>
            <a:r>
              <a:rPr sz="900" spc="-20" dirty="0">
                <a:latin typeface="Arial"/>
                <a:cs typeface="Arial"/>
              </a:rPr>
              <a:t> </a:t>
            </a:r>
            <a:r>
              <a:rPr sz="900" spc="-10" dirty="0">
                <a:latin typeface="Arial"/>
                <a:cs typeface="Arial"/>
              </a:rPr>
              <a:t>relation?</a:t>
            </a:r>
            <a:endParaRPr sz="900">
              <a:latin typeface="Arial"/>
              <a:cs typeface="Arial"/>
            </a:endParaRPr>
          </a:p>
        </p:txBody>
      </p:sp>
      <p:grpSp>
        <p:nvGrpSpPr>
          <p:cNvPr id="6" name="object 6"/>
          <p:cNvGrpSpPr/>
          <p:nvPr/>
        </p:nvGrpSpPr>
        <p:grpSpPr>
          <a:xfrm>
            <a:off x="0" y="3348469"/>
            <a:ext cx="4608195" cy="107950"/>
            <a:chOff x="0" y="3348469"/>
            <a:chExt cx="4608195" cy="107950"/>
          </a:xfrm>
        </p:grpSpPr>
        <p:sp>
          <p:nvSpPr>
            <p:cNvPr id="7" name="object 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9" name="object 9"/>
          <p:cNvSpPr txBox="1"/>
          <p:nvPr/>
        </p:nvSpPr>
        <p:spPr>
          <a:xfrm>
            <a:off x="53467" y="3349927"/>
            <a:ext cx="691515"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3" action="ppaction://hlinksldjump"/>
              </a:rPr>
              <a:t>Lamport’s</a:t>
            </a:r>
            <a:r>
              <a:rPr sz="500" spc="15" dirty="0">
                <a:latin typeface="Arial"/>
                <a:cs typeface="Arial"/>
                <a:hlinkClick r:id="rId3" action="ppaction://hlinksldjump"/>
              </a:rPr>
              <a:t> </a:t>
            </a:r>
            <a:r>
              <a:rPr sz="500" dirty="0">
                <a:latin typeface="Arial"/>
                <a:cs typeface="Arial"/>
                <a:hlinkClick r:id="rId3" action="ppaction://hlinksldjump"/>
              </a:rPr>
              <a:t>logical</a:t>
            </a:r>
            <a:r>
              <a:rPr sz="500" spc="15" dirty="0">
                <a:latin typeface="Arial"/>
                <a:cs typeface="Arial"/>
                <a:hlinkClick r:id="rId3" action="ppaction://hlinksldjump"/>
              </a:rPr>
              <a:t> </a:t>
            </a:r>
            <a:r>
              <a:rPr sz="500" spc="-10" dirty="0">
                <a:latin typeface="Arial"/>
                <a:cs typeface="Arial"/>
                <a:hlinkClick r:id="rId3" action="ppaction://hlinksldjump"/>
              </a:rPr>
              <a:t>clocks</a:t>
            </a:r>
            <a:endParaRPr sz="500">
              <a:latin typeface="Arial"/>
              <a:cs typeface="Arial"/>
            </a:endParaRP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8417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Coordination</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136644" y="-1515"/>
            <a:ext cx="41846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Logical</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clocks</a:t>
            </a:r>
            <a:endParaRPr sz="500">
              <a:latin typeface="Arial"/>
              <a:cs typeface="Arial"/>
            </a:endParaRPr>
          </a:p>
        </p:txBody>
      </p:sp>
      <p:sp>
        <p:nvSpPr>
          <p:cNvPr id="5" name="object 5"/>
          <p:cNvSpPr txBox="1"/>
          <p:nvPr/>
        </p:nvSpPr>
        <p:spPr>
          <a:xfrm>
            <a:off x="95300" y="197711"/>
            <a:ext cx="4118610" cy="1897380"/>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Logical</a:t>
            </a:r>
            <a:r>
              <a:rPr sz="1200" spc="-45" dirty="0">
                <a:solidFill>
                  <a:srgbClr val="3333B2"/>
                </a:solidFill>
                <a:latin typeface="Arial"/>
                <a:cs typeface="Arial"/>
              </a:rPr>
              <a:t> </a:t>
            </a:r>
            <a:r>
              <a:rPr sz="1200" spc="-10" dirty="0">
                <a:solidFill>
                  <a:srgbClr val="3333B2"/>
                </a:solidFill>
                <a:latin typeface="Arial"/>
                <a:cs typeface="Arial"/>
              </a:rPr>
              <a:t>clocks</a:t>
            </a:r>
            <a:endParaRPr sz="1200">
              <a:latin typeface="Arial"/>
              <a:cs typeface="Arial"/>
            </a:endParaRPr>
          </a:p>
          <a:p>
            <a:pPr marL="264160">
              <a:lnSpc>
                <a:spcPct val="100000"/>
              </a:lnSpc>
              <a:spcBef>
                <a:spcPts val="1055"/>
              </a:spcBef>
            </a:pPr>
            <a:r>
              <a:rPr sz="1000" spc="-10" dirty="0">
                <a:solidFill>
                  <a:srgbClr val="C80000"/>
                </a:solidFill>
                <a:latin typeface="Arial"/>
                <a:cs typeface="Arial"/>
              </a:rPr>
              <a:t>Problem</a:t>
            </a:r>
            <a:endParaRPr sz="1000">
              <a:latin typeface="Arial"/>
              <a:cs typeface="Arial"/>
            </a:endParaRPr>
          </a:p>
          <a:p>
            <a:pPr marL="260350" marR="5080" indent="3810">
              <a:lnSpc>
                <a:spcPts val="1210"/>
              </a:lnSpc>
              <a:spcBef>
                <a:spcPts val="40"/>
              </a:spcBef>
            </a:pPr>
            <a:r>
              <a:rPr sz="900" dirty="0">
                <a:latin typeface="Arial"/>
                <a:cs typeface="Arial"/>
              </a:rPr>
              <a:t>How</a:t>
            </a:r>
            <a:r>
              <a:rPr sz="900" spc="-30" dirty="0">
                <a:latin typeface="Arial"/>
                <a:cs typeface="Arial"/>
              </a:rPr>
              <a:t> </a:t>
            </a:r>
            <a:r>
              <a:rPr sz="900" dirty="0">
                <a:latin typeface="Arial"/>
                <a:cs typeface="Arial"/>
              </a:rPr>
              <a:t>do</a:t>
            </a:r>
            <a:r>
              <a:rPr sz="900" spc="-25" dirty="0">
                <a:latin typeface="Arial"/>
                <a:cs typeface="Arial"/>
              </a:rPr>
              <a:t> </a:t>
            </a:r>
            <a:r>
              <a:rPr sz="900" dirty="0">
                <a:latin typeface="Arial"/>
                <a:cs typeface="Arial"/>
              </a:rPr>
              <a:t>we</a:t>
            </a:r>
            <a:r>
              <a:rPr sz="900" spc="-25" dirty="0">
                <a:latin typeface="Arial"/>
                <a:cs typeface="Arial"/>
              </a:rPr>
              <a:t> </a:t>
            </a:r>
            <a:r>
              <a:rPr sz="900" dirty="0">
                <a:latin typeface="Arial"/>
                <a:cs typeface="Arial"/>
              </a:rPr>
              <a:t>maintain</a:t>
            </a:r>
            <a:r>
              <a:rPr sz="900" spc="-25" dirty="0">
                <a:latin typeface="Arial"/>
                <a:cs typeface="Arial"/>
              </a:rPr>
              <a:t> </a:t>
            </a:r>
            <a:r>
              <a:rPr sz="900" dirty="0">
                <a:latin typeface="Arial"/>
                <a:cs typeface="Arial"/>
              </a:rPr>
              <a:t>a</a:t>
            </a:r>
            <a:r>
              <a:rPr sz="900" spc="-25" dirty="0">
                <a:latin typeface="Arial"/>
                <a:cs typeface="Arial"/>
              </a:rPr>
              <a:t> </a:t>
            </a:r>
            <a:r>
              <a:rPr sz="900" dirty="0">
                <a:latin typeface="Arial"/>
                <a:cs typeface="Arial"/>
              </a:rPr>
              <a:t>global</a:t>
            </a:r>
            <a:r>
              <a:rPr sz="900" spc="-25" dirty="0">
                <a:latin typeface="Arial"/>
                <a:cs typeface="Arial"/>
              </a:rPr>
              <a:t> </a:t>
            </a:r>
            <a:r>
              <a:rPr sz="900" dirty="0">
                <a:latin typeface="Arial"/>
                <a:cs typeface="Arial"/>
              </a:rPr>
              <a:t>view</a:t>
            </a:r>
            <a:r>
              <a:rPr sz="900" spc="-25" dirty="0">
                <a:latin typeface="Arial"/>
                <a:cs typeface="Arial"/>
              </a:rPr>
              <a:t> </a:t>
            </a:r>
            <a:r>
              <a:rPr sz="900" dirty="0">
                <a:latin typeface="Arial"/>
                <a:cs typeface="Arial"/>
              </a:rPr>
              <a:t>of</a:t>
            </a:r>
            <a:r>
              <a:rPr sz="900" spc="-25" dirty="0">
                <a:latin typeface="Arial"/>
                <a:cs typeface="Arial"/>
              </a:rPr>
              <a:t> </a:t>
            </a:r>
            <a:r>
              <a:rPr sz="900" dirty="0">
                <a:latin typeface="Arial"/>
                <a:cs typeface="Arial"/>
              </a:rPr>
              <a:t>the</a:t>
            </a:r>
            <a:r>
              <a:rPr sz="900" spc="-25" dirty="0">
                <a:latin typeface="Arial"/>
                <a:cs typeface="Arial"/>
              </a:rPr>
              <a:t> </a:t>
            </a:r>
            <a:r>
              <a:rPr sz="900" spc="-10" dirty="0">
                <a:latin typeface="Arial"/>
                <a:cs typeface="Arial"/>
              </a:rPr>
              <a:t>system’s</a:t>
            </a:r>
            <a:r>
              <a:rPr sz="900" spc="-25" dirty="0">
                <a:latin typeface="Arial"/>
                <a:cs typeface="Arial"/>
              </a:rPr>
              <a:t> </a:t>
            </a:r>
            <a:r>
              <a:rPr sz="900" dirty="0">
                <a:latin typeface="Arial"/>
                <a:cs typeface="Arial"/>
              </a:rPr>
              <a:t>behavior</a:t>
            </a:r>
            <a:r>
              <a:rPr sz="900" spc="-25" dirty="0">
                <a:latin typeface="Arial"/>
                <a:cs typeface="Arial"/>
              </a:rPr>
              <a:t> </a:t>
            </a:r>
            <a:r>
              <a:rPr sz="900" dirty="0">
                <a:latin typeface="Arial"/>
                <a:cs typeface="Arial"/>
              </a:rPr>
              <a:t>that</a:t>
            </a:r>
            <a:r>
              <a:rPr sz="900" spc="-25" dirty="0">
                <a:latin typeface="Arial"/>
                <a:cs typeface="Arial"/>
              </a:rPr>
              <a:t> </a:t>
            </a:r>
            <a:r>
              <a:rPr sz="900" dirty="0">
                <a:latin typeface="Arial"/>
                <a:cs typeface="Arial"/>
              </a:rPr>
              <a:t>is</a:t>
            </a:r>
            <a:r>
              <a:rPr sz="900" spc="-25" dirty="0">
                <a:latin typeface="Arial"/>
                <a:cs typeface="Arial"/>
              </a:rPr>
              <a:t> </a:t>
            </a:r>
            <a:r>
              <a:rPr sz="900" spc="-10" dirty="0">
                <a:latin typeface="Arial"/>
                <a:cs typeface="Arial"/>
              </a:rPr>
              <a:t>consistent </a:t>
            </a:r>
            <a:r>
              <a:rPr sz="900" dirty="0">
                <a:latin typeface="Arial"/>
                <a:cs typeface="Arial"/>
              </a:rPr>
              <a:t>with</a:t>
            </a:r>
            <a:r>
              <a:rPr sz="900" spc="-20" dirty="0">
                <a:latin typeface="Arial"/>
                <a:cs typeface="Arial"/>
              </a:rPr>
              <a:t> </a:t>
            </a:r>
            <a:r>
              <a:rPr sz="900" dirty="0">
                <a:latin typeface="Arial"/>
                <a:cs typeface="Arial"/>
              </a:rPr>
              <a:t>the</a:t>
            </a:r>
            <a:r>
              <a:rPr sz="900" spc="-15" dirty="0">
                <a:latin typeface="Arial"/>
                <a:cs typeface="Arial"/>
              </a:rPr>
              <a:t> </a:t>
            </a:r>
            <a:r>
              <a:rPr sz="900" spc="-10" dirty="0">
                <a:latin typeface="Arial"/>
                <a:cs typeface="Arial"/>
              </a:rPr>
              <a:t>happened-</a:t>
            </a:r>
            <a:r>
              <a:rPr sz="900" dirty="0">
                <a:latin typeface="Arial"/>
                <a:cs typeface="Arial"/>
              </a:rPr>
              <a:t>before</a:t>
            </a:r>
            <a:r>
              <a:rPr sz="900" spc="-20" dirty="0">
                <a:latin typeface="Arial"/>
                <a:cs typeface="Arial"/>
              </a:rPr>
              <a:t> </a:t>
            </a:r>
            <a:r>
              <a:rPr sz="900" spc="-10" dirty="0">
                <a:latin typeface="Arial"/>
                <a:cs typeface="Arial"/>
              </a:rPr>
              <a:t>relation?</a:t>
            </a:r>
            <a:endParaRPr sz="900">
              <a:latin typeface="Arial"/>
              <a:cs typeface="Arial"/>
            </a:endParaRPr>
          </a:p>
          <a:p>
            <a:pPr marL="264160" marR="234950" indent="-4445">
              <a:lnSpc>
                <a:spcPct val="109600"/>
              </a:lnSpc>
              <a:spcBef>
                <a:spcPts val="565"/>
              </a:spcBef>
            </a:pPr>
            <a:r>
              <a:rPr sz="1000" dirty="0">
                <a:solidFill>
                  <a:srgbClr val="3333B2"/>
                </a:solidFill>
                <a:latin typeface="Arial"/>
                <a:cs typeface="Arial"/>
              </a:rPr>
              <a:t>Attach</a:t>
            </a:r>
            <a:r>
              <a:rPr sz="1000" spc="-10" dirty="0">
                <a:solidFill>
                  <a:srgbClr val="3333B2"/>
                </a:solidFill>
                <a:latin typeface="Arial"/>
                <a:cs typeface="Arial"/>
              </a:rPr>
              <a:t> </a:t>
            </a:r>
            <a:r>
              <a:rPr sz="1000" dirty="0">
                <a:solidFill>
                  <a:srgbClr val="3333B2"/>
                </a:solidFill>
                <a:latin typeface="Arial"/>
                <a:cs typeface="Arial"/>
              </a:rPr>
              <a:t>a</a:t>
            </a:r>
            <a:r>
              <a:rPr sz="1000" spc="-5" dirty="0">
                <a:solidFill>
                  <a:srgbClr val="3333B2"/>
                </a:solidFill>
                <a:latin typeface="Arial"/>
                <a:cs typeface="Arial"/>
              </a:rPr>
              <a:t> </a:t>
            </a:r>
            <a:r>
              <a:rPr sz="1000" dirty="0">
                <a:solidFill>
                  <a:srgbClr val="3333B2"/>
                </a:solidFill>
                <a:latin typeface="Arial"/>
                <a:cs typeface="Arial"/>
              </a:rPr>
              <a:t>timestamp</a:t>
            </a:r>
            <a:r>
              <a:rPr sz="1000" spc="-5" dirty="0">
                <a:solidFill>
                  <a:srgbClr val="3333B2"/>
                </a:solidFill>
                <a:latin typeface="Arial"/>
                <a:cs typeface="Arial"/>
              </a:rPr>
              <a:t> </a:t>
            </a:r>
            <a:r>
              <a:rPr sz="1000" i="1" dirty="0">
                <a:solidFill>
                  <a:srgbClr val="3333B2"/>
                </a:solidFill>
                <a:latin typeface="Arial"/>
                <a:cs typeface="Arial"/>
              </a:rPr>
              <a:t>C</a:t>
            </a:r>
            <a:r>
              <a:rPr sz="1000" dirty="0">
                <a:solidFill>
                  <a:srgbClr val="3333B2"/>
                </a:solidFill>
                <a:latin typeface="Arial"/>
                <a:cs typeface="Arial"/>
              </a:rPr>
              <a:t>(</a:t>
            </a:r>
            <a:r>
              <a:rPr sz="1000" i="1" dirty="0">
                <a:solidFill>
                  <a:srgbClr val="3333B2"/>
                </a:solidFill>
                <a:latin typeface="Arial"/>
                <a:cs typeface="Arial"/>
              </a:rPr>
              <a:t>e</a:t>
            </a:r>
            <a:r>
              <a:rPr sz="1000" dirty="0">
                <a:solidFill>
                  <a:srgbClr val="3333B2"/>
                </a:solidFill>
                <a:latin typeface="Arial"/>
                <a:cs typeface="Arial"/>
              </a:rPr>
              <a:t>)</a:t>
            </a:r>
            <a:r>
              <a:rPr sz="1000" spc="-5" dirty="0">
                <a:solidFill>
                  <a:srgbClr val="3333B2"/>
                </a:solidFill>
                <a:latin typeface="Arial"/>
                <a:cs typeface="Arial"/>
              </a:rPr>
              <a:t> </a:t>
            </a:r>
            <a:r>
              <a:rPr sz="1000" dirty="0">
                <a:solidFill>
                  <a:srgbClr val="3333B2"/>
                </a:solidFill>
                <a:latin typeface="Arial"/>
                <a:cs typeface="Arial"/>
              </a:rPr>
              <a:t>to</a:t>
            </a:r>
            <a:r>
              <a:rPr sz="1000" spc="-5" dirty="0">
                <a:solidFill>
                  <a:srgbClr val="3333B2"/>
                </a:solidFill>
                <a:latin typeface="Arial"/>
                <a:cs typeface="Arial"/>
              </a:rPr>
              <a:t> </a:t>
            </a:r>
            <a:r>
              <a:rPr sz="1000" dirty="0">
                <a:solidFill>
                  <a:srgbClr val="3333B2"/>
                </a:solidFill>
                <a:latin typeface="Arial"/>
                <a:cs typeface="Arial"/>
              </a:rPr>
              <a:t>each</a:t>
            </a:r>
            <a:r>
              <a:rPr sz="1000" spc="-10" dirty="0">
                <a:solidFill>
                  <a:srgbClr val="3333B2"/>
                </a:solidFill>
                <a:latin typeface="Arial"/>
                <a:cs typeface="Arial"/>
              </a:rPr>
              <a:t> event</a:t>
            </a:r>
            <a:r>
              <a:rPr sz="1000" spc="-5" dirty="0">
                <a:solidFill>
                  <a:srgbClr val="3333B2"/>
                </a:solidFill>
                <a:latin typeface="Arial"/>
                <a:cs typeface="Arial"/>
              </a:rPr>
              <a:t> </a:t>
            </a:r>
            <a:r>
              <a:rPr sz="1000" i="1" dirty="0">
                <a:solidFill>
                  <a:srgbClr val="3333B2"/>
                </a:solidFill>
                <a:latin typeface="Arial"/>
                <a:cs typeface="Arial"/>
              </a:rPr>
              <a:t>e</a:t>
            </a:r>
            <a:r>
              <a:rPr sz="1000" dirty="0">
                <a:solidFill>
                  <a:srgbClr val="3333B2"/>
                </a:solidFill>
                <a:latin typeface="Arial"/>
                <a:cs typeface="Arial"/>
              </a:rPr>
              <a:t>,</a:t>
            </a:r>
            <a:r>
              <a:rPr sz="1000" spc="-5" dirty="0">
                <a:solidFill>
                  <a:srgbClr val="3333B2"/>
                </a:solidFill>
                <a:latin typeface="Arial"/>
                <a:cs typeface="Arial"/>
              </a:rPr>
              <a:t> </a:t>
            </a:r>
            <a:r>
              <a:rPr sz="1000" dirty="0">
                <a:solidFill>
                  <a:srgbClr val="3333B2"/>
                </a:solidFill>
                <a:latin typeface="Arial"/>
                <a:cs typeface="Arial"/>
              </a:rPr>
              <a:t>satisfying</a:t>
            </a:r>
            <a:r>
              <a:rPr sz="1000" spc="-5" dirty="0">
                <a:solidFill>
                  <a:srgbClr val="3333B2"/>
                </a:solidFill>
                <a:latin typeface="Arial"/>
                <a:cs typeface="Arial"/>
              </a:rPr>
              <a:t> </a:t>
            </a:r>
            <a:r>
              <a:rPr sz="1000" dirty="0">
                <a:solidFill>
                  <a:srgbClr val="3333B2"/>
                </a:solidFill>
                <a:latin typeface="Arial"/>
                <a:cs typeface="Arial"/>
              </a:rPr>
              <a:t>the</a:t>
            </a:r>
            <a:r>
              <a:rPr sz="1000" spc="-5" dirty="0">
                <a:solidFill>
                  <a:srgbClr val="3333B2"/>
                </a:solidFill>
                <a:latin typeface="Arial"/>
                <a:cs typeface="Arial"/>
              </a:rPr>
              <a:t> </a:t>
            </a:r>
            <a:r>
              <a:rPr sz="1000" spc="-10" dirty="0">
                <a:solidFill>
                  <a:srgbClr val="3333B2"/>
                </a:solidFill>
                <a:latin typeface="Arial"/>
                <a:cs typeface="Arial"/>
              </a:rPr>
              <a:t>following properties:</a:t>
            </a:r>
            <a:endParaRPr sz="1000">
              <a:latin typeface="Arial"/>
              <a:cs typeface="Arial"/>
            </a:endParaRPr>
          </a:p>
          <a:p>
            <a:pPr marL="517525" marR="260350" indent="-202565">
              <a:lnSpc>
                <a:spcPct val="111600"/>
              </a:lnSpc>
              <a:spcBef>
                <a:spcPts val="570"/>
              </a:spcBef>
            </a:pPr>
            <a:r>
              <a:rPr sz="900" dirty="0">
                <a:solidFill>
                  <a:srgbClr val="3333B2"/>
                </a:solidFill>
                <a:latin typeface="Arial"/>
                <a:cs typeface="Arial"/>
              </a:rPr>
              <a:t>P1</a:t>
            </a:r>
            <a:r>
              <a:rPr sz="900" spc="210" dirty="0">
                <a:solidFill>
                  <a:srgbClr val="3333B2"/>
                </a:solidFill>
                <a:latin typeface="Arial"/>
                <a:cs typeface="Arial"/>
              </a:rPr>
              <a:t> </a:t>
            </a:r>
            <a:r>
              <a:rPr sz="900" dirty="0">
                <a:latin typeface="Arial"/>
                <a:cs typeface="Arial"/>
              </a:rPr>
              <a:t>If</a:t>
            </a:r>
            <a:r>
              <a:rPr sz="900" spc="-20" dirty="0">
                <a:latin typeface="Arial"/>
                <a:cs typeface="Arial"/>
              </a:rPr>
              <a:t> </a:t>
            </a:r>
            <a:r>
              <a:rPr sz="900" i="1" dirty="0">
                <a:latin typeface="Arial"/>
                <a:cs typeface="Arial"/>
              </a:rPr>
              <a:t>a</a:t>
            </a:r>
            <a:r>
              <a:rPr sz="900" i="1" spc="-10" dirty="0">
                <a:latin typeface="Arial"/>
                <a:cs typeface="Arial"/>
              </a:rPr>
              <a:t> </a:t>
            </a:r>
            <a:r>
              <a:rPr sz="900" dirty="0">
                <a:latin typeface="Arial"/>
                <a:cs typeface="Arial"/>
              </a:rPr>
              <a:t>and</a:t>
            </a:r>
            <a:r>
              <a:rPr sz="900" spc="-20" dirty="0">
                <a:latin typeface="Arial"/>
                <a:cs typeface="Arial"/>
              </a:rPr>
              <a:t> </a:t>
            </a:r>
            <a:r>
              <a:rPr sz="900" i="1" dirty="0">
                <a:latin typeface="Arial"/>
                <a:cs typeface="Arial"/>
              </a:rPr>
              <a:t>b</a:t>
            </a:r>
            <a:r>
              <a:rPr sz="900" i="1" spc="10" dirty="0">
                <a:latin typeface="Arial"/>
                <a:cs typeface="Arial"/>
              </a:rPr>
              <a:t> </a:t>
            </a:r>
            <a:r>
              <a:rPr sz="900" dirty="0">
                <a:latin typeface="Arial"/>
                <a:cs typeface="Arial"/>
              </a:rPr>
              <a:t>are</a:t>
            </a:r>
            <a:r>
              <a:rPr sz="900" spc="-20" dirty="0">
                <a:latin typeface="Arial"/>
                <a:cs typeface="Arial"/>
              </a:rPr>
              <a:t> </a:t>
            </a:r>
            <a:r>
              <a:rPr sz="900" dirty="0">
                <a:latin typeface="Arial"/>
                <a:cs typeface="Arial"/>
              </a:rPr>
              <a:t>two</a:t>
            </a:r>
            <a:r>
              <a:rPr sz="900" spc="-15" dirty="0">
                <a:latin typeface="Arial"/>
                <a:cs typeface="Arial"/>
              </a:rPr>
              <a:t> </a:t>
            </a:r>
            <a:r>
              <a:rPr sz="900" spc="-10" dirty="0">
                <a:latin typeface="Arial"/>
                <a:cs typeface="Arial"/>
              </a:rPr>
              <a:t>events</a:t>
            </a:r>
            <a:r>
              <a:rPr sz="900" spc="-15" dirty="0">
                <a:latin typeface="Arial"/>
                <a:cs typeface="Arial"/>
              </a:rPr>
              <a:t> </a:t>
            </a:r>
            <a:r>
              <a:rPr sz="900" dirty="0">
                <a:latin typeface="Arial"/>
                <a:cs typeface="Arial"/>
              </a:rPr>
              <a:t>in</a:t>
            </a:r>
            <a:r>
              <a:rPr sz="900" spc="-20" dirty="0">
                <a:latin typeface="Arial"/>
                <a:cs typeface="Arial"/>
              </a:rPr>
              <a:t> </a:t>
            </a:r>
            <a:r>
              <a:rPr sz="900" dirty="0">
                <a:latin typeface="Arial"/>
                <a:cs typeface="Arial"/>
              </a:rPr>
              <a:t>the</a:t>
            </a:r>
            <a:r>
              <a:rPr sz="900" spc="-15" dirty="0">
                <a:latin typeface="Arial"/>
                <a:cs typeface="Arial"/>
              </a:rPr>
              <a:t> </a:t>
            </a:r>
            <a:r>
              <a:rPr sz="900" dirty="0">
                <a:latin typeface="Arial"/>
                <a:cs typeface="Arial"/>
              </a:rPr>
              <a:t>same</a:t>
            </a:r>
            <a:r>
              <a:rPr sz="900" spc="-20" dirty="0">
                <a:latin typeface="Arial"/>
                <a:cs typeface="Arial"/>
              </a:rPr>
              <a:t> </a:t>
            </a:r>
            <a:r>
              <a:rPr sz="900" dirty="0">
                <a:latin typeface="Arial"/>
                <a:cs typeface="Arial"/>
              </a:rPr>
              <a:t>process,</a:t>
            </a:r>
            <a:r>
              <a:rPr sz="900" spc="-15" dirty="0">
                <a:latin typeface="Arial"/>
                <a:cs typeface="Arial"/>
              </a:rPr>
              <a:t> </a:t>
            </a:r>
            <a:r>
              <a:rPr sz="900" dirty="0">
                <a:latin typeface="Arial"/>
                <a:cs typeface="Arial"/>
              </a:rPr>
              <a:t>and</a:t>
            </a:r>
            <a:r>
              <a:rPr sz="900" spc="-15" dirty="0">
                <a:latin typeface="Arial"/>
                <a:cs typeface="Arial"/>
              </a:rPr>
              <a:t> </a:t>
            </a:r>
            <a:r>
              <a:rPr sz="900" i="1" dirty="0">
                <a:latin typeface="Arial"/>
                <a:cs typeface="Arial"/>
              </a:rPr>
              <a:t>a</a:t>
            </a:r>
            <a:r>
              <a:rPr sz="900" i="1" spc="-60" dirty="0">
                <a:latin typeface="Arial"/>
                <a:cs typeface="Arial"/>
              </a:rPr>
              <a:t> </a:t>
            </a:r>
            <a:r>
              <a:rPr sz="900" i="1" spc="350" dirty="0">
                <a:latin typeface="Menlo"/>
                <a:cs typeface="Menlo"/>
              </a:rPr>
              <a:t>→</a:t>
            </a:r>
            <a:r>
              <a:rPr sz="900" i="1" spc="-345" dirty="0">
                <a:latin typeface="Menlo"/>
                <a:cs typeface="Menlo"/>
              </a:rPr>
              <a:t> </a:t>
            </a:r>
            <a:r>
              <a:rPr sz="900" i="1" dirty="0">
                <a:latin typeface="Arial"/>
                <a:cs typeface="Arial"/>
              </a:rPr>
              <a:t>b</a:t>
            </a:r>
            <a:r>
              <a:rPr sz="900" dirty="0">
                <a:latin typeface="Arial"/>
                <a:cs typeface="Arial"/>
              </a:rPr>
              <a:t>,</a:t>
            </a:r>
            <a:r>
              <a:rPr sz="900" spc="-20" dirty="0">
                <a:latin typeface="Arial"/>
                <a:cs typeface="Arial"/>
              </a:rPr>
              <a:t> </a:t>
            </a:r>
            <a:r>
              <a:rPr sz="900" dirty="0">
                <a:latin typeface="Arial"/>
                <a:cs typeface="Arial"/>
              </a:rPr>
              <a:t>then</a:t>
            </a:r>
            <a:r>
              <a:rPr sz="900" spc="-15" dirty="0">
                <a:latin typeface="Arial"/>
                <a:cs typeface="Arial"/>
              </a:rPr>
              <a:t> </a:t>
            </a:r>
            <a:r>
              <a:rPr sz="900" spc="-25" dirty="0">
                <a:latin typeface="Arial"/>
                <a:cs typeface="Arial"/>
              </a:rPr>
              <a:t>we </a:t>
            </a:r>
            <a:r>
              <a:rPr sz="900" dirty="0">
                <a:latin typeface="Arial"/>
                <a:cs typeface="Arial"/>
              </a:rPr>
              <a:t>demand</a:t>
            </a:r>
            <a:r>
              <a:rPr sz="900" spc="25" dirty="0">
                <a:latin typeface="Arial"/>
                <a:cs typeface="Arial"/>
              </a:rPr>
              <a:t> </a:t>
            </a:r>
            <a:r>
              <a:rPr sz="900" dirty="0">
                <a:latin typeface="Arial"/>
                <a:cs typeface="Arial"/>
              </a:rPr>
              <a:t>that</a:t>
            </a:r>
            <a:r>
              <a:rPr sz="900" spc="20" dirty="0">
                <a:latin typeface="Arial"/>
                <a:cs typeface="Arial"/>
              </a:rPr>
              <a:t> </a:t>
            </a:r>
            <a:r>
              <a:rPr sz="900" i="1" dirty="0">
                <a:latin typeface="Arial"/>
                <a:cs typeface="Arial"/>
              </a:rPr>
              <a:t>C</a:t>
            </a:r>
            <a:r>
              <a:rPr sz="900" dirty="0">
                <a:latin typeface="Arial"/>
                <a:cs typeface="Arial"/>
              </a:rPr>
              <a:t>(</a:t>
            </a:r>
            <a:r>
              <a:rPr sz="900" i="1" dirty="0">
                <a:latin typeface="Arial"/>
                <a:cs typeface="Arial"/>
              </a:rPr>
              <a:t>a</a:t>
            </a:r>
            <a:r>
              <a:rPr sz="900" dirty="0">
                <a:latin typeface="Arial"/>
                <a:cs typeface="Arial"/>
              </a:rPr>
              <a:t>)</a:t>
            </a:r>
            <a:r>
              <a:rPr sz="900" spc="-30" dirty="0">
                <a:latin typeface="Arial"/>
                <a:cs typeface="Arial"/>
              </a:rPr>
              <a:t> </a:t>
            </a:r>
            <a:r>
              <a:rPr sz="900" i="1" spc="60" dirty="0">
                <a:latin typeface="STIX Two Text"/>
                <a:cs typeface="STIX Two Text"/>
              </a:rPr>
              <a:t>&lt;</a:t>
            </a:r>
            <a:r>
              <a:rPr sz="900" i="1" spc="20" dirty="0">
                <a:latin typeface="STIX Two Text"/>
                <a:cs typeface="STIX Two Text"/>
              </a:rPr>
              <a:t> </a:t>
            </a:r>
            <a:r>
              <a:rPr sz="900" i="1" spc="-20" dirty="0">
                <a:latin typeface="Arial"/>
                <a:cs typeface="Arial"/>
              </a:rPr>
              <a:t>C</a:t>
            </a:r>
            <a:r>
              <a:rPr sz="900" spc="-20" dirty="0">
                <a:latin typeface="Arial"/>
                <a:cs typeface="Arial"/>
              </a:rPr>
              <a:t>(</a:t>
            </a:r>
            <a:r>
              <a:rPr sz="900" i="1" spc="-20" dirty="0">
                <a:latin typeface="Arial"/>
                <a:cs typeface="Arial"/>
              </a:rPr>
              <a:t>b</a:t>
            </a:r>
            <a:r>
              <a:rPr sz="900" spc="-20" dirty="0">
                <a:latin typeface="Arial"/>
                <a:cs typeface="Arial"/>
              </a:rPr>
              <a:t>).</a:t>
            </a:r>
            <a:endParaRPr sz="900">
              <a:latin typeface="Arial"/>
              <a:cs typeface="Arial"/>
            </a:endParaRPr>
          </a:p>
          <a:p>
            <a:pPr marL="517525" marR="111760" indent="-202565">
              <a:lnSpc>
                <a:spcPct val="111600"/>
              </a:lnSpc>
            </a:pPr>
            <a:r>
              <a:rPr sz="900" dirty="0">
                <a:solidFill>
                  <a:srgbClr val="3333B2"/>
                </a:solidFill>
                <a:latin typeface="Arial"/>
                <a:cs typeface="Arial"/>
              </a:rPr>
              <a:t>P2</a:t>
            </a:r>
            <a:r>
              <a:rPr sz="900" spc="215" dirty="0">
                <a:solidFill>
                  <a:srgbClr val="3333B2"/>
                </a:solidFill>
                <a:latin typeface="Arial"/>
                <a:cs typeface="Arial"/>
              </a:rPr>
              <a:t> </a:t>
            </a:r>
            <a:r>
              <a:rPr sz="900" dirty="0">
                <a:latin typeface="Arial"/>
                <a:cs typeface="Arial"/>
              </a:rPr>
              <a:t>If</a:t>
            </a:r>
            <a:r>
              <a:rPr sz="900" spc="-20" dirty="0">
                <a:latin typeface="Arial"/>
                <a:cs typeface="Arial"/>
              </a:rPr>
              <a:t> </a:t>
            </a:r>
            <a:r>
              <a:rPr sz="900" i="1" dirty="0">
                <a:latin typeface="Arial"/>
                <a:cs typeface="Arial"/>
              </a:rPr>
              <a:t>a</a:t>
            </a:r>
            <a:r>
              <a:rPr sz="900" i="1" spc="-15" dirty="0">
                <a:latin typeface="Arial"/>
                <a:cs typeface="Arial"/>
              </a:rPr>
              <a:t> </a:t>
            </a:r>
            <a:r>
              <a:rPr sz="900" dirty="0">
                <a:latin typeface="Arial"/>
                <a:cs typeface="Arial"/>
              </a:rPr>
              <a:t>corresponds</a:t>
            </a:r>
            <a:r>
              <a:rPr sz="900" spc="-20" dirty="0">
                <a:latin typeface="Arial"/>
                <a:cs typeface="Arial"/>
              </a:rPr>
              <a:t> </a:t>
            </a:r>
            <a:r>
              <a:rPr sz="900" dirty="0">
                <a:latin typeface="Arial"/>
                <a:cs typeface="Arial"/>
              </a:rPr>
              <a:t>to</a:t>
            </a:r>
            <a:r>
              <a:rPr sz="900" spc="-15" dirty="0">
                <a:latin typeface="Arial"/>
                <a:cs typeface="Arial"/>
              </a:rPr>
              <a:t> </a:t>
            </a:r>
            <a:r>
              <a:rPr sz="900" dirty="0">
                <a:latin typeface="Arial"/>
                <a:cs typeface="Arial"/>
              </a:rPr>
              <a:t>sending</a:t>
            </a:r>
            <a:r>
              <a:rPr sz="900" spc="-20" dirty="0">
                <a:latin typeface="Arial"/>
                <a:cs typeface="Arial"/>
              </a:rPr>
              <a:t> </a:t>
            </a:r>
            <a:r>
              <a:rPr sz="900" dirty="0">
                <a:latin typeface="Arial"/>
                <a:cs typeface="Arial"/>
              </a:rPr>
              <a:t>a</a:t>
            </a:r>
            <a:r>
              <a:rPr sz="900" spc="-20" dirty="0">
                <a:latin typeface="Arial"/>
                <a:cs typeface="Arial"/>
              </a:rPr>
              <a:t> </a:t>
            </a:r>
            <a:r>
              <a:rPr sz="900" dirty="0">
                <a:latin typeface="Arial"/>
                <a:cs typeface="Arial"/>
              </a:rPr>
              <a:t>message</a:t>
            </a:r>
            <a:r>
              <a:rPr sz="900" spc="-20" dirty="0">
                <a:latin typeface="Arial"/>
                <a:cs typeface="Arial"/>
              </a:rPr>
              <a:t> </a:t>
            </a:r>
            <a:r>
              <a:rPr sz="900" i="1" dirty="0">
                <a:latin typeface="Arial"/>
                <a:cs typeface="Arial"/>
              </a:rPr>
              <a:t>m</a:t>
            </a:r>
            <a:r>
              <a:rPr sz="900" dirty="0">
                <a:latin typeface="Arial"/>
                <a:cs typeface="Arial"/>
              </a:rPr>
              <a:t>,</a:t>
            </a:r>
            <a:r>
              <a:rPr sz="900" spc="-20" dirty="0">
                <a:latin typeface="Arial"/>
                <a:cs typeface="Arial"/>
              </a:rPr>
              <a:t> </a:t>
            </a:r>
            <a:r>
              <a:rPr sz="900" dirty="0">
                <a:latin typeface="Arial"/>
                <a:cs typeface="Arial"/>
              </a:rPr>
              <a:t>and</a:t>
            </a:r>
            <a:r>
              <a:rPr sz="900" spc="-15" dirty="0">
                <a:latin typeface="Arial"/>
                <a:cs typeface="Arial"/>
              </a:rPr>
              <a:t> </a:t>
            </a:r>
            <a:r>
              <a:rPr sz="900" i="1" dirty="0">
                <a:latin typeface="Arial"/>
                <a:cs typeface="Arial"/>
              </a:rPr>
              <a:t>b</a:t>
            </a:r>
            <a:r>
              <a:rPr sz="900" i="1" spc="5" dirty="0">
                <a:latin typeface="Arial"/>
                <a:cs typeface="Arial"/>
              </a:rPr>
              <a:t> </a:t>
            </a:r>
            <a:r>
              <a:rPr sz="900" dirty="0">
                <a:latin typeface="Arial"/>
                <a:cs typeface="Arial"/>
              </a:rPr>
              <a:t>to</a:t>
            </a:r>
            <a:r>
              <a:rPr sz="900" spc="-20" dirty="0">
                <a:latin typeface="Arial"/>
                <a:cs typeface="Arial"/>
              </a:rPr>
              <a:t> </a:t>
            </a:r>
            <a:r>
              <a:rPr sz="900" dirty="0">
                <a:latin typeface="Arial"/>
                <a:cs typeface="Arial"/>
              </a:rPr>
              <a:t>the</a:t>
            </a:r>
            <a:r>
              <a:rPr sz="900" spc="-20" dirty="0">
                <a:latin typeface="Arial"/>
                <a:cs typeface="Arial"/>
              </a:rPr>
              <a:t> </a:t>
            </a:r>
            <a:r>
              <a:rPr sz="900" dirty="0">
                <a:latin typeface="Arial"/>
                <a:cs typeface="Arial"/>
              </a:rPr>
              <a:t>receipt</a:t>
            </a:r>
            <a:r>
              <a:rPr sz="900" spc="-20" dirty="0">
                <a:latin typeface="Arial"/>
                <a:cs typeface="Arial"/>
              </a:rPr>
              <a:t> </a:t>
            </a:r>
            <a:r>
              <a:rPr sz="900" dirty="0">
                <a:latin typeface="Arial"/>
                <a:cs typeface="Arial"/>
              </a:rPr>
              <a:t>of</a:t>
            </a:r>
            <a:r>
              <a:rPr sz="900" spc="-20" dirty="0">
                <a:latin typeface="Arial"/>
                <a:cs typeface="Arial"/>
              </a:rPr>
              <a:t> that </a:t>
            </a:r>
            <a:r>
              <a:rPr sz="900" dirty="0">
                <a:latin typeface="Arial"/>
                <a:cs typeface="Arial"/>
              </a:rPr>
              <a:t>message,</a:t>
            </a:r>
            <a:r>
              <a:rPr sz="900" spc="5" dirty="0">
                <a:latin typeface="Arial"/>
                <a:cs typeface="Arial"/>
              </a:rPr>
              <a:t> </a:t>
            </a:r>
            <a:r>
              <a:rPr sz="900" dirty="0">
                <a:latin typeface="Arial"/>
                <a:cs typeface="Arial"/>
              </a:rPr>
              <a:t>then</a:t>
            </a:r>
            <a:r>
              <a:rPr sz="900" spc="10" dirty="0">
                <a:latin typeface="Arial"/>
                <a:cs typeface="Arial"/>
              </a:rPr>
              <a:t> </a:t>
            </a:r>
            <a:r>
              <a:rPr sz="900" dirty="0">
                <a:latin typeface="Arial"/>
                <a:cs typeface="Arial"/>
              </a:rPr>
              <a:t>also</a:t>
            </a:r>
            <a:r>
              <a:rPr sz="900" spc="10" dirty="0">
                <a:latin typeface="Arial"/>
                <a:cs typeface="Arial"/>
              </a:rPr>
              <a:t> </a:t>
            </a:r>
            <a:r>
              <a:rPr sz="900" i="1" dirty="0">
                <a:latin typeface="Arial"/>
                <a:cs typeface="Arial"/>
              </a:rPr>
              <a:t>C</a:t>
            </a:r>
            <a:r>
              <a:rPr sz="900" dirty="0">
                <a:latin typeface="Arial"/>
                <a:cs typeface="Arial"/>
              </a:rPr>
              <a:t>(</a:t>
            </a:r>
            <a:r>
              <a:rPr sz="900" i="1" dirty="0">
                <a:latin typeface="Arial"/>
                <a:cs typeface="Arial"/>
              </a:rPr>
              <a:t>a</a:t>
            </a:r>
            <a:r>
              <a:rPr sz="900" dirty="0">
                <a:latin typeface="Arial"/>
                <a:cs typeface="Arial"/>
              </a:rPr>
              <a:t>)</a:t>
            </a:r>
            <a:r>
              <a:rPr sz="900" spc="-40" dirty="0">
                <a:latin typeface="Arial"/>
                <a:cs typeface="Arial"/>
              </a:rPr>
              <a:t> </a:t>
            </a:r>
            <a:r>
              <a:rPr sz="900" i="1" spc="60" dirty="0">
                <a:latin typeface="STIX Two Text"/>
                <a:cs typeface="STIX Two Text"/>
              </a:rPr>
              <a:t>&lt;</a:t>
            </a:r>
            <a:r>
              <a:rPr sz="900" i="1" spc="5" dirty="0">
                <a:latin typeface="STIX Two Text"/>
                <a:cs typeface="STIX Two Text"/>
              </a:rPr>
              <a:t> </a:t>
            </a:r>
            <a:r>
              <a:rPr sz="900" i="1" spc="-20" dirty="0">
                <a:latin typeface="Arial"/>
                <a:cs typeface="Arial"/>
              </a:rPr>
              <a:t>C</a:t>
            </a:r>
            <a:r>
              <a:rPr sz="900" spc="-20" dirty="0">
                <a:latin typeface="Arial"/>
                <a:cs typeface="Arial"/>
              </a:rPr>
              <a:t>(</a:t>
            </a:r>
            <a:r>
              <a:rPr sz="900" i="1" spc="-20" dirty="0">
                <a:latin typeface="Arial"/>
                <a:cs typeface="Arial"/>
              </a:rPr>
              <a:t>b</a:t>
            </a:r>
            <a:r>
              <a:rPr sz="900" spc="-20" dirty="0">
                <a:latin typeface="Arial"/>
                <a:cs typeface="Arial"/>
              </a:rPr>
              <a:t>).</a:t>
            </a:r>
            <a:endParaRPr sz="900">
              <a:latin typeface="Arial"/>
              <a:cs typeface="Arial"/>
            </a:endParaRPr>
          </a:p>
        </p:txBody>
      </p:sp>
      <p:grpSp>
        <p:nvGrpSpPr>
          <p:cNvPr id="6" name="object 6"/>
          <p:cNvGrpSpPr/>
          <p:nvPr/>
        </p:nvGrpSpPr>
        <p:grpSpPr>
          <a:xfrm>
            <a:off x="0" y="3348469"/>
            <a:ext cx="4608195" cy="107950"/>
            <a:chOff x="0" y="3348469"/>
            <a:chExt cx="4608195" cy="107950"/>
          </a:xfrm>
        </p:grpSpPr>
        <p:sp>
          <p:nvSpPr>
            <p:cNvPr id="7" name="object 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9" name="object 9"/>
          <p:cNvSpPr txBox="1"/>
          <p:nvPr/>
        </p:nvSpPr>
        <p:spPr>
          <a:xfrm>
            <a:off x="53467" y="3349927"/>
            <a:ext cx="691515"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3" action="ppaction://hlinksldjump"/>
              </a:rPr>
              <a:t>Lamport’s</a:t>
            </a:r>
            <a:r>
              <a:rPr sz="500" spc="15" dirty="0">
                <a:latin typeface="Arial"/>
                <a:cs typeface="Arial"/>
                <a:hlinkClick r:id="rId3" action="ppaction://hlinksldjump"/>
              </a:rPr>
              <a:t> </a:t>
            </a:r>
            <a:r>
              <a:rPr sz="500" dirty="0">
                <a:latin typeface="Arial"/>
                <a:cs typeface="Arial"/>
                <a:hlinkClick r:id="rId3" action="ppaction://hlinksldjump"/>
              </a:rPr>
              <a:t>logical</a:t>
            </a:r>
            <a:r>
              <a:rPr sz="500" spc="15" dirty="0">
                <a:latin typeface="Arial"/>
                <a:cs typeface="Arial"/>
                <a:hlinkClick r:id="rId3" action="ppaction://hlinksldjump"/>
              </a:rPr>
              <a:t> </a:t>
            </a:r>
            <a:r>
              <a:rPr sz="500" spc="-10" dirty="0">
                <a:latin typeface="Arial"/>
                <a:cs typeface="Arial"/>
                <a:hlinkClick r:id="rId3" action="ppaction://hlinksldjump"/>
              </a:rPr>
              <a:t>clocks</a:t>
            </a:r>
            <a:endParaRPr sz="500">
              <a:latin typeface="Arial"/>
              <a:cs typeface="Arial"/>
            </a:endParaRP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8417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Coordination</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136644" y="-1515"/>
            <a:ext cx="41846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Logical</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clocks</a:t>
            </a:r>
            <a:endParaRPr sz="500">
              <a:latin typeface="Arial"/>
              <a:cs typeface="Arial"/>
            </a:endParaRPr>
          </a:p>
        </p:txBody>
      </p:sp>
      <p:sp>
        <p:nvSpPr>
          <p:cNvPr id="5" name="object 5"/>
          <p:cNvSpPr txBox="1"/>
          <p:nvPr/>
        </p:nvSpPr>
        <p:spPr>
          <a:xfrm>
            <a:off x="95300" y="197711"/>
            <a:ext cx="4118610" cy="253555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Logical</a:t>
            </a:r>
            <a:r>
              <a:rPr sz="1200" spc="-45" dirty="0">
                <a:solidFill>
                  <a:srgbClr val="3333B2"/>
                </a:solidFill>
                <a:latin typeface="Arial"/>
                <a:cs typeface="Arial"/>
              </a:rPr>
              <a:t> </a:t>
            </a:r>
            <a:r>
              <a:rPr sz="1200" spc="-10" dirty="0">
                <a:solidFill>
                  <a:srgbClr val="3333B2"/>
                </a:solidFill>
                <a:latin typeface="Arial"/>
                <a:cs typeface="Arial"/>
              </a:rPr>
              <a:t>clocks</a:t>
            </a:r>
            <a:endParaRPr sz="1200">
              <a:latin typeface="Arial"/>
              <a:cs typeface="Arial"/>
            </a:endParaRPr>
          </a:p>
          <a:p>
            <a:pPr marL="264160">
              <a:lnSpc>
                <a:spcPct val="100000"/>
              </a:lnSpc>
              <a:spcBef>
                <a:spcPts val="1055"/>
              </a:spcBef>
            </a:pPr>
            <a:r>
              <a:rPr sz="1000" spc="-10" dirty="0">
                <a:solidFill>
                  <a:srgbClr val="C80000"/>
                </a:solidFill>
                <a:latin typeface="Arial"/>
                <a:cs typeface="Arial"/>
              </a:rPr>
              <a:t>Problem</a:t>
            </a:r>
            <a:endParaRPr sz="1000">
              <a:latin typeface="Arial"/>
              <a:cs typeface="Arial"/>
            </a:endParaRPr>
          </a:p>
          <a:p>
            <a:pPr marL="260350" marR="5080" indent="3810">
              <a:lnSpc>
                <a:spcPts val="1210"/>
              </a:lnSpc>
              <a:spcBef>
                <a:spcPts val="40"/>
              </a:spcBef>
            </a:pPr>
            <a:r>
              <a:rPr sz="900" dirty="0">
                <a:latin typeface="Arial"/>
                <a:cs typeface="Arial"/>
              </a:rPr>
              <a:t>How</a:t>
            </a:r>
            <a:r>
              <a:rPr sz="900" spc="-30" dirty="0">
                <a:latin typeface="Arial"/>
                <a:cs typeface="Arial"/>
              </a:rPr>
              <a:t> </a:t>
            </a:r>
            <a:r>
              <a:rPr sz="900" dirty="0">
                <a:latin typeface="Arial"/>
                <a:cs typeface="Arial"/>
              </a:rPr>
              <a:t>do</a:t>
            </a:r>
            <a:r>
              <a:rPr sz="900" spc="-25" dirty="0">
                <a:latin typeface="Arial"/>
                <a:cs typeface="Arial"/>
              </a:rPr>
              <a:t> </a:t>
            </a:r>
            <a:r>
              <a:rPr sz="900" dirty="0">
                <a:latin typeface="Arial"/>
                <a:cs typeface="Arial"/>
              </a:rPr>
              <a:t>we</a:t>
            </a:r>
            <a:r>
              <a:rPr sz="900" spc="-25" dirty="0">
                <a:latin typeface="Arial"/>
                <a:cs typeface="Arial"/>
              </a:rPr>
              <a:t> </a:t>
            </a:r>
            <a:r>
              <a:rPr sz="900" dirty="0">
                <a:latin typeface="Arial"/>
                <a:cs typeface="Arial"/>
              </a:rPr>
              <a:t>maintain</a:t>
            </a:r>
            <a:r>
              <a:rPr sz="900" spc="-25" dirty="0">
                <a:latin typeface="Arial"/>
                <a:cs typeface="Arial"/>
              </a:rPr>
              <a:t> </a:t>
            </a:r>
            <a:r>
              <a:rPr sz="900" dirty="0">
                <a:latin typeface="Arial"/>
                <a:cs typeface="Arial"/>
              </a:rPr>
              <a:t>a</a:t>
            </a:r>
            <a:r>
              <a:rPr sz="900" spc="-25" dirty="0">
                <a:latin typeface="Arial"/>
                <a:cs typeface="Arial"/>
              </a:rPr>
              <a:t> </a:t>
            </a:r>
            <a:r>
              <a:rPr sz="900" dirty="0">
                <a:latin typeface="Arial"/>
                <a:cs typeface="Arial"/>
              </a:rPr>
              <a:t>global</a:t>
            </a:r>
            <a:r>
              <a:rPr sz="900" spc="-25" dirty="0">
                <a:latin typeface="Arial"/>
                <a:cs typeface="Arial"/>
              </a:rPr>
              <a:t> </a:t>
            </a:r>
            <a:r>
              <a:rPr sz="900" dirty="0">
                <a:latin typeface="Arial"/>
                <a:cs typeface="Arial"/>
              </a:rPr>
              <a:t>view</a:t>
            </a:r>
            <a:r>
              <a:rPr sz="900" spc="-25" dirty="0">
                <a:latin typeface="Arial"/>
                <a:cs typeface="Arial"/>
              </a:rPr>
              <a:t> </a:t>
            </a:r>
            <a:r>
              <a:rPr sz="900" dirty="0">
                <a:latin typeface="Arial"/>
                <a:cs typeface="Arial"/>
              </a:rPr>
              <a:t>of</a:t>
            </a:r>
            <a:r>
              <a:rPr sz="900" spc="-25" dirty="0">
                <a:latin typeface="Arial"/>
                <a:cs typeface="Arial"/>
              </a:rPr>
              <a:t> </a:t>
            </a:r>
            <a:r>
              <a:rPr sz="900" dirty="0">
                <a:latin typeface="Arial"/>
                <a:cs typeface="Arial"/>
              </a:rPr>
              <a:t>the</a:t>
            </a:r>
            <a:r>
              <a:rPr sz="900" spc="-25" dirty="0">
                <a:latin typeface="Arial"/>
                <a:cs typeface="Arial"/>
              </a:rPr>
              <a:t> </a:t>
            </a:r>
            <a:r>
              <a:rPr sz="900" spc="-10" dirty="0">
                <a:latin typeface="Arial"/>
                <a:cs typeface="Arial"/>
              </a:rPr>
              <a:t>system’s</a:t>
            </a:r>
            <a:r>
              <a:rPr sz="900" spc="-25" dirty="0">
                <a:latin typeface="Arial"/>
                <a:cs typeface="Arial"/>
              </a:rPr>
              <a:t> </a:t>
            </a:r>
            <a:r>
              <a:rPr sz="900" dirty="0">
                <a:latin typeface="Arial"/>
                <a:cs typeface="Arial"/>
              </a:rPr>
              <a:t>behavior</a:t>
            </a:r>
            <a:r>
              <a:rPr sz="900" spc="-25" dirty="0">
                <a:latin typeface="Arial"/>
                <a:cs typeface="Arial"/>
              </a:rPr>
              <a:t> </a:t>
            </a:r>
            <a:r>
              <a:rPr sz="900" dirty="0">
                <a:latin typeface="Arial"/>
                <a:cs typeface="Arial"/>
              </a:rPr>
              <a:t>that</a:t>
            </a:r>
            <a:r>
              <a:rPr sz="900" spc="-25" dirty="0">
                <a:latin typeface="Arial"/>
                <a:cs typeface="Arial"/>
              </a:rPr>
              <a:t> </a:t>
            </a:r>
            <a:r>
              <a:rPr sz="900" dirty="0">
                <a:latin typeface="Arial"/>
                <a:cs typeface="Arial"/>
              </a:rPr>
              <a:t>is</a:t>
            </a:r>
            <a:r>
              <a:rPr sz="900" spc="-25" dirty="0">
                <a:latin typeface="Arial"/>
                <a:cs typeface="Arial"/>
              </a:rPr>
              <a:t> </a:t>
            </a:r>
            <a:r>
              <a:rPr sz="900" spc="-10" dirty="0">
                <a:latin typeface="Arial"/>
                <a:cs typeface="Arial"/>
              </a:rPr>
              <a:t>consistent </a:t>
            </a:r>
            <a:r>
              <a:rPr sz="900" dirty="0">
                <a:latin typeface="Arial"/>
                <a:cs typeface="Arial"/>
              </a:rPr>
              <a:t>with</a:t>
            </a:r>
            <a:r>
              <a:rPr sz="900" spc="-20" dirty="0">
                <a:latin typeface="Arial"/>
                <a:cs typeface="Arial"/>
              </a:rPr>
              <a:t> </a:t>
            </a:r>
            <a:r>
              <a:rPr sz="900" dirty="0">
                <a:latin typeface="Arial"/>
                <a:cs typeface="Arial"/>
              </a:rPr>
              <a:t>the</a:t>
            </a:r>
            <a:r>
              <a:rPr sz="900" spc="-15" dirty="0">
                <a:latin typeface="Arial"/>
                <a:cs typeface="Arial"/>
              </a:rPr>
              <a:t> </a:t>
            </a:r>
            <a:r>
              <a:rPr sz="900" spc="-10" dirty="0">
                <a:latin typeface="Arial"/>
                <a:cs typeface="Arial"/>
              </a:rPr>
              <a:t>happened-</a:t>
            </a:r>
            <a:r>
              <a:rPr sz="900" dirty="0">
                <a:latin typeface="Arial"/>
                <a:cs typeface="Arial"/>
              </a:rPr>
              <a:t>before</a:t>
            </a:r>
            <a:r>
              <a:rPr sz="900" spc="-20" dirty="0">
                <a:latin typeface="Arial"/>
                <a:cs typeface="Arial"/>
              </a:rPr>
              <a:t> </a:t>
            </a:r>
            <a:r>
              <a:rPr sz="900" spc="-10" dirty="0">
                <a:latin typeface="Arial"/>
                <a:cs typeface="Arial"/>
              </a:rPr>
              <a:t>relation?</a:t>
            </a:r>
            <a:endParaRPr sz="900">
              <a:latin typeface="Arial"/>
              <a:cs typeface="Arial"/>
            </a:endParaRPr>
          </a:p>
          <a:p>
            <a:pPr marL="264160" marR="234950" indent="-4445">
              <a:lnSpc>
                <a:spcPct val="109600"/>
              </a:lnSpc>
              <a:spcBef>
                <a:spcPts val="565"/>
              </a:spcBef>
            </a:pPr>
            <a:r>
              <a:rPr sz="1000" dirty="0">
                <a:solidFill>
                  <a:srgbClr val="3333B2"/>
                </a:solidFill>
                <a:latin typeface="Arial"/>
                <a:cs typeface="Arial"/>
              </a:rPr>
              <a:t>Attach</a:t>
            </a:r>
            <a:r>
              <a:rPr sz="1000" spc="-10" dirty="0">
                <a:solidFill>
                  <a:srgbClr val="3333B2"/>
                </a:solidFill>
                <a:latin typeface="Arial"/>
                <a:cs typeface="Arial"/>
              </a:rPr>
              <a:t> </a:t>
            </a:r>
            <a:r>
              <a:rPr sz="1000" dirty="0">
                <a:solidFill>
                  <a:srgbClr val="3333B2"/>
                </a:solidFill>
                <a:latin typeface="Arial"/>
                <a:cs typeface="Arial"/>
              </a:rPr>
              <a:t>a</a:t>
            </a:r>
            <a:r>
              <a:rPr sz="1000" spc="-5" dirty="0">
                <a:solidFill>
                  <a:srgbClr val="3333B2"/>
                </a:solidFill>
                <a:latin typeface="Arial"/>
                <a:cs typeface="Arial"/>
              </a:rPr>
              <a:t> </a:t>
            </a:r>
            <a:r>
              <a:rPr sz="1000" dirty="0">
                <a:solidFill>
                  <a:srgbClr val="3333B2"/>
                </a:solidFill>
                <a:latin typeface="Arial"/>
                <a:cs typeface="Arial"/>
              </a:rPr>
              <a:t>timestamp</a:t>
            </a:r>
            <a:r>
              <a:rPr sz="1000" spc="-5" dirty="0">
                <a:solidFill>
                  <a:srgbClr val="3333B2"/>
                </a:solidFill>
                <a:latin typeface="Arial"/>
                <a:cs typeface="Arial"/>
              </a:rPr>
              <a:t> </a:t>
            </a:r>
            <a:r>
              <a:rPr sz="1000" i="1" dirty="0">
                <a:solidFill>
                  <a:srgbClr val="3333B2"/>
                </a:solidFill>
                <a:latin typeface="Arial"/>
                <a:cs typeface="Arial"/>
              </a:rPr>
              <a:t>C</a:t>
            </a:r>
            <a:r>
              <a:rPr sz="1000" dirty="0">
                <a:solidFill>
                  <a:srgbClr val="3333B2"/>
                </a:solidFill>
                <a:latin typeface="Arial"/>
                <a:cs typeface="Arial"/>
              </a:rPr>
              <a:t>(</a:t>
            </a:r>
            <a:r>
              <a:rPr sz="1000" i="1" dirty="0">
                <a:solidFill>
                  <a:srgbClr val="3333B2"/>
                </a:solidFill>
                <a:latin typeface="Arial"/>
                <a:cs typeface="Arial"/>
              </a:rPr>
              <a:t>e</a:t>
            </a:r>
            <a:r>
              <a:rPr sz="1000" dirty="0">
                <a:solidFill>
                  <a:srgbClr val="3333B2"/>
                </a:solidFill>
                <a:latin typeface="Arial"/>
                <a:cs typeface="Arial"/>
              </a:rPr>
              <a:t>)</a:t>
            </a:r>
            <a:r>
              <a:rPr sz="1000" spc="-5" dirty="0">
                <a:solidFill>
                  <a:srgbClr val="3333B2"/>
                </a:solidFill>
                <a:latin typeface="Arial"/>
                <a:cs typeface="Arial"/>
              </a:rPr>
              <a:t> </a:t>
            </a:r>
            <a:r>
              <a:rPr sz="1000" dirty="0">
                <a:solidFill>
                  <a:srgbClr val="3333B2"/>
                </a:solidFill>
                <a:latin typeface="Arial"/>
                <a:cs typeface="Arial"/>
              </a:rPr>
              <a:t>to</a:t>
            </a:r>
            <a:r>
              <a:rPr sz="1000" spc="-5" dirty="0">
                <a:solidFill>
                  <a:srgbClr val="3333B2"/>
                </a:solidFill>
                <a:latin typeface="Arial"/>
                <a:cs typeface="Arial"/>
              </a:rPr>
              <a:t> </a:t>
            </a:r>
            <a:r>
              <a:rPr sz="1000" dirty="0">
                <a:solidFill>
                  <a:srgbClr val="3333B2"/>
                </a:solidFill>
                <a:latin typeface="Arial"/>
                <a:cs typeface="Arial"/>
              </a:rPr>
              <a:t>each</a:t>
            </a:r>
            <a:r>
              <a:rPr sz="1000" spc="-10" dirty="0">
                <a:solidFill>
                  <a:srgbClr val="3333B2"/>
                </a:solidFill>
                <a:latin typeface="Arial"/>
                <a:cs typeface="Arial"/>
              </a:rPr>
              <a:t> event</a:t>
            </a:r>
            <a:r>
              <a:rPr sz="1000" spc="-5" dirty="0">
                <a:solidFill>
                  <a:srgbClr val="3333B2"/>
                </a:solidFill>
                <a:latin typeface="Arial"/>
                <a:cs typeface="Arial"/>
              </a:rPr>
              <a:t> </a:t>
            </a:r>
            <a:r>
              <a:rPr sz="1000" i="1" dirty="0">
                <a:solidFill>
                  <a:srgbClr val="3333B2"/>
                </a:solidFill>
                <a:latin typeface="Arial"/>
                <a:cs typeface="Arial"/>
              </a:rPr>
              <a:t>e</a:t>
            </a:r>
            <a:r>
              <a:rPr sz="1000" dirty="0">
                <a:solidFill>
                  <a:srgbClr val="3333B2"/>
                </a:solidFill>
                <a:latin typeface="Arial"/>
                <a:cs typeface="Arial"/>
              </a:rPr>
              <a:t>,</a:t>
            </a:r>
            <a:r>
              <a:rPr sz="1000" spc="-5" dirty="0">
                <a:solidFill>
                  <a:srgbClr val="3333B2"/>
                </a:solidFill>
                <a:latin typeface="Arial"/>
                <a:cs typeface="Arial"/>
              </a:rPr>
              <a:t> </a:t>
            </a:r>
            <a:r>
              <a:rPr sz="1000" dirty="0">
                <a:solidFill>
                  <a:srgbClr val="3333B2"/>
                </a:solidFill>
                <a:latin typeface="Arial"/>
                <a:cs typeface="Arial"/>
              </a:rPr>
              <a:t>satisfying</a:t>
            </a:r>
            <a:r>
              <a:rPr sz="1000" spc="-5" dirty="0">
                <a:solidFill>
                  <a:srgbClr val="3333B2"/>
                </a:solidFill>
                <a:latin typeface="Arial"/>
                <a:cs typeface="Arial"/>
              </a:rPr>
              <a:t> </a:t>
            </a:r>
            <a:r>
              <a:rPr sz="1000" dirty="0">
                <a:solidFill>
                  <a:srgbClr val="3333B2"/>
                </a:solidFill>
                <a:latin typeface="Arial"/>
                <a:cs typeface="Arial"/>
              </a:rPr>
              <a:t>the</a:t>
            </a:r>
            <a:r>
              <a:rPr sz="1000" spc="-5" dirty="0">
                <a:solidFill>
                  <a:srgbClr val="3333B2"/>
                </a:solidFill>
                <a:latin typeface="Arial"/>
                <a:cs typeface="Arial"/>
              </a:rPr>
              <a:t> </a:t>
            </a:r>
            <a:r>
              <a:rPr sz="1000" spc="-10" dirty="0">
                <a:solidFill>
                  <a:srgbClr val="3333B2"/>
                </a:solidFill>
                <a:latin typeface="Arial"/>
                <a:cs typeface="Arial"/>
              </a:rPr>
              <a:t>following properties:</a:t>
            </a:r>
            <a:endParaRPr sz="1000">
              <a:latin typeface="Arial"/>
              <a:cs typeface="Arial"/>
            </a:endParaRPr>
          </a:p>
          <a:p>
            <a:pPr marL="517525" marR="260350" indent="-202565">
              <a:lnSpc>
                <a:spcPct val="111600"/>
              </a:lnSpc>
              <a:spcBef>
                <a:spcPts val="570"/>
              </a:spcBef>
            </a:pPr>
            <a:r>
              <a:rPr sz="900" dirty="0">
                <a:solidFill>
                  <a:srgbClr val="3333B2"/>
                </a:solidFill>
                <a:latin typeface="Arial"/>
                <a:cs typeface="Arial"/>
              </a:rPr>
              <a:t>P1</a:t>
            </a:r>
            <a:r>
              <a:rPr sz="900" spc="210" dirty="0">
                <a:solidFill>
                  <a:srgbClr val="3333B2"/>
                </a:solidFill>
                <a:latin typeface="Arial"/>
                <a:cs typeface="Arial"/>
              </a:rPr>
              <a:t> </a:t>
            </a:r>
            <a:r>
              <a:rPr sz="900" dirty="0">
                <a:latin typeface="Arial"/>
                <a:cs typeface="Arial"/>
              </a:rPr>
              <a:t>If</a:t>
            </a:r>
            <a:r>
              <a:rPr sz="900" spc="-20" dirty="0">
                <a:latin typeface="Arial"/>
                <a:cs typeface="Arial"/>
              </a:rPr>
              <a:t> </a:t>
            </a:r>
            <a:r>
              <a:rPr sz="900" i="1" dirty="0">
                <a:latin typeface="Arial"/>
                <a:cs typeface="Arial"/>
              </a:rPr>
              <a:t>a</a:t>
            </a:r>
            <a:r>
              <a:rPr sz="900" i="1" spc="-10" dirty="0">
                <a:latin typeface="Arial"/>
                <a:cs typeface="Arial"/>
              </a:rPr>
              <a:t> </a:t>
            </a:r>
            <a:r>
              <a:rPr sz="900" dirty="0">
                <a:latin typeface="Arial"/>
                <a:cs typeface="Arial"/>
              </a:rPr>
              <a:t>and</a:t>
            </a:r>
            <a:r>
              <a:rPr sz="900" spc="-20" dirty="0">
                <a:latin typeface="Arial"/>
                <a:cs typeface="Arial"/>
              </a:rPr>
              <a:t> </a:t>
            </a:r>
            <a:r>
              <a:rPr sz="900" i="1" dirty="0">
                <a:latin typeface="Arial"/>
                <a:cs typeface="Arial"/>
              </a:rPr>
              <a:t>b</a:t>
            </a:r>
            <a:r>
              <a:rPr sz="900" i="1" spc="10" dirty="0">
                <a:latin typeface="Arial"/>
                <a:cs typeface="Arial"/>
              </a:rPr>
              <a:t> </a:t>
            </a:r>
            <a:r>
              <a:rPr sz="900" dirty="0">
                <a:latin typeface="Arial"/>
                <a:cs typeface="Arial"/>
              </a:rPr>
              <a:t>are</a:t>
            </a:r>
            <a:r>
              <a:rPr sz="900" spc="-20" dirty="0">
                <a:latin typeface="Arial"/>
                <a:cs typeface="Arial"/>
              </a:rPr>
              <a:t> </a:t>
            </a:r>
            <a:r>
              <a:rPr sz="900" dirty="0">
                <a:latin typeface="Arial"/>
                <a:cs typeface="Arial"/>
              </a:rPr>
              <a:t>two</a:t>
            </a:r>
            <a:r>
              <a:rPr sz="900" spc="-15" dirty="0">
                <a:latin typeface="Arial"/>
                <a:cs typeface="Arial"/>
              </a:rPr>
              <a:t> </a:t>
            </a:r>
            <a:r>
              <a:rPr sz="900" spc="-10" dirty="0">
                <a:latin typeface="Arial"/>
                <a:cs typeface="Arial"/>
              </a:rPr>
              <a:t>events</a:t>
            </a:r>
            <a:r>
              <a:rPr sz="900" spc="-15" dirty="0">
                <a:latin typeface="Arial"/>
                <a:cs typeface="Arial"/>
              </a:rPr>
              <a:t> </a:t>
            </a:r>
            <a:r>
              <a:rPr sz="900" dirty="0">
                <a:latin typeface="Arial"/>
                <a:cs typeface="Arial"/>
              </a:rPr>
              <a:t>in</a:t>
            </a:r>
            <a:r>
              <a:rPr sz="900" spc="-20" dirty="0">
                <a:latin typeface="Arial"/>
                <a:cs typeface="Arial"/>
              </a:rPr>
              <a:t> </a:t>
            </a:r>
            <a:r>
              <a:rPr sz="900" dirty="0">
                <a:latin typeface="Arial"/>
                <a:cs typeface="Arial"/>
              </a:rPr>
              <a:t>the</a:t>
            </a:r>
            <a:r>
              <a:rPr sz="900" spc="-15" dirty="0">
                <a:latin typeface="Arial"/>
                <a:cs typeface="Arial"/>
              </a:rPr>
              <a:t> </a:t>
            </a:r>
            <a:r>
              <a:rPr sz="900" dirty="0">
                <a:latin typeface="Arial"/>
                <a:cs typeface="Arial"/>
              </a:rPr>
              <a:t>same</a:t>
            </a:r>
            <a:r>
              <a:rPr sz="900" spc="-20" dirty="0">
                <a:latin typeface="Arial"/>
                <a:cs typeface="Arial"/>
              </a:rPr>
              <a:t> </a:t>
            </a:r>
            <a:r>
              <a:rPr sz="900" dirty="0">
                <a:latin typeface="Arial"/>
                <a:cs typeface="Arial"/>
              </a:rPr>
              <a:t>process,</a:t>
            </a:r>
            <a:r>
              <a:rPr sz="900" spc="-15" dirty="0">
                <a:latin typeface="Arial"/>
                <a:cs typeface="Arial"/>
              </a:rPr>
              <a:t> </a:t>
            </a:r>
            <a:r>
              <a:rPr sz="900" dirty="0">
                <a:latin typeface="Arial"/>
                <a:cs typeface="Arial"/>
              </a:rPr>
              <a:t>and</a:t>
            </a:r>
            <a:r>
              <a:rPr sz="900" spc="-15" dirty="0">
                <a:latin typeface="Arial"/>
                <a:cs typeface="Arial"/>
              </a:rPr>
              <a:t> </a:t>
            </a:r>
            <a:r>
              <a:rPr sz="900" i="1" dirty="0">
                <a:latin typeface="Arial"/>
                <a:cs typeface="Arial"/>
              </a:rPr>
              <a:t>a</a:t>
            </a:r>
            <a:r>
              <a:rPr sz="900" i="1" spc="-60" dirty="0">
                <a:latin typeface="Arial"/>
                <a:cs typeface="Arial"/>
              </a:rPr>
              <a:t> </a:t>
            </a:r>
            <a:r>
              <a:rPr sz="900" i="1" spc="350" dirty="0">
                <a:latin typeface="Menlo"/>
                <a:cs typeface="Menlo"/>
              </a:rPr>
              <a:t>→</a:t>
            </a:r>
            <a:r>
              <a:rPr sz="900" i="1" spc="-345" dirty="0">
                <a:latin typeface="Menlo"/>
                <a:cs typeface="Menlo"/>
              </a:rPr>
              <a:t> </a:t>
            </a:r>
            <a:r>
              <a:rPr sz="900" i="1" dirty="0">
                <a:latin typeface="Arial"/>
                <a:cs typeface="Arial"/>
              </a:rPr>
              <a:t>b</a:t>
            </a:r>
            <a:r>
              <a:rPr sz="900" dirty="0">
                <a:latin typeface="Arial"/>
                <a:cs typeface="Arial"/>
              </a:rPr>
              <a:t>,</a:t>
            </a:r>
            <a:r>
              <a:rPr sz="900" spc="-20" dirty="0">
                <a:latin typeface="Arial"/>
                <a:cs typeface="Arial"/>
              </a:rPr>
              <a:t> </a:t>
            </a:r>
            <a:r>
              <a:rPr sz="900" dirty="0">
                <a:latin typeface="Arial"/>
                <a:cs typeface="Arial"/>
              </a:rPr>
              <a:t>then</a:t>
            </a:r>
            <a:r>
              <a:rPr sz="900" spc="-15" dirty="0">
                <a:latin typeface="Arial"/>
                <a:cs typeface="Arial"/>
              </a:rPr>
              <a:t> </a:t>
            </a:r>
            <a:r>
              <a:rPr sz="900" spc="-25" dirty="0">
                <a:latin typeface="Arial"/>
                <a:cs typeface="Arial"/>
              </a:rPr>
              <a:t>we </a:t>
            </a:r>
            <a:r>
              <a:rPr sz="900" dirty="0">
                <a:latin typeface="Arial"/>
                <a:cs typeface="Arial"/>
              </a:rPr>
              <a:t>demand</a:t>
            </a:r>
            <a:r>
              <a:rPr sz="900" spc="25" dirty="0">
                <a:latin typeface="Arial"/>
                <a:cs typeface="Arial"/>
              </a:rPr>
              <a:t> </a:t>
            </a:r>
            <a:r>
              <a:rPr sz="900" dirty="0">
                <a:latin typeface="Arial"/>
                <a:cs typeface="Arial"/>
              </a:rPr>
              <a:t>that</a:t>
            </a:r>
            <a:r>
              <a:rPr sz="900" spc="20" dirty="0">
                <a:latin typeface="Arial"/>
                <a:cs typeface="Arial"/>
              </a:rPr>
              <a:t> </a:t>
            </a:r>
            <a:r>
              <a:rPr sz="900" i="1" dirty="0">
                <a:latin typeface="Arial"/>
                <a:cs typeface="Arial"/>
              </a:rPr>
              <a:t>C</a:t>
            </a:r>
            <a:r>
              <a:rPr sz="900" dirty="0">
                <a:latin typeface="Arial"/>
                <a:cs typeface="Arial"/>
              </a:rPr>
              <a:t>(</a:t>
            </a:r>
            <a:r>
              <a:rPr sz="900" i="1" dirty="0">
                <a:latin typeface="Arial"/>
                <a:cs typeface="Arial"/>
              </a:rPr>
              <a:t>a</a:t>
            </a:r>
            <a:r>
              <a:rPr sz="900" dirty="0">
                <a:latin typeface="Arial"/>
                <a:cs typeface="Arial"/>
              </a:rPr>
              <a:t>)</a:t>
            </a:r>
            <a:r>
              <a:rPr sz="900" spc="-30" dirty="0">
                <a:latin typeface="Arial"/>
                <a:cs typeface="Arial"/>
              </a:rPr>
              <a:t> </a:t>
            </a:r>
            <a:r>
              <a:rPr sz="900" i="1" spc="60" dirty="0">
                <a:latin typeface="STIX Two Text"/>
                <a:cs typeface="STIX Two Text"/>
              </a:rPr>
              <a:t>&lt;</a:t>
            </a:r>
            <a:r>
              <a:rPr sz="900" i="1" spc="20" dirty="0">
                <a:latin typeface="STIX Two Text"/>
                <a:cs typeface="STIX Two Text"/>
              </a:rPr>
              <a:t> </a:t>
            </a:r>
            <a:r>
              <a:rPr sz="900" i="1" spc="-20" dirty="0">
                <a:latin typeface="Arial"/>
                <a:cs typeface="Arial"/>
              </a:rPr>
              <a:t>C</a:t>
            </a:r>
            <a:r>
              <a:rPr sz="900" spc="-20" dirty="0">
                <a:latin typeface="Arial"/>
                <a:cs typeface="Arial"/>
              </a:rPr>
              <a:t>(</a:t>
            </a:r>
            <a:r>
              <a:rPr sz="900" i="1" spc="-20" dirty="0">
                <a:latin typeface="Arial"/>
                <a:cs typeface="Arial"/>
              </a:rPr>
              <a:t>b</a:t>
            </a:r>
            <a:r>
              <a:rPr sz="900" spc="-20" dirty="0">
                <a:latin typeface="Arial"/>
                <a:cs typeface="Arial"/>
              </a:rPr>
              <a:t>).</a:t>
            </a:r>
            <a:endParaRPr sz="900">
              <a:latin typeface="Arial"/>
              <a:cs typeface="Arial"/>
            </a:endParaRPr>
          </a:p>
          <a:p>
            <a:pPr marL="517525" marR="111760" indent="-202565">
              <a:lnSpc>
                <a:spcPct val="111600"/>
              </a:lnSpc>
            </a:pPr>
            <a:r>
              <a:rPr sz="900" dirty="0">
                <a:solidFill>
                  <a:srgbClr val="3333B2"/>
                </a:solidFill>
                <a:latin typeface="Arial"/>
                <a:cs typeface="Arial"/>
              </a:rPr>
              <a:t>P2</a:t>
            </a:r>
            <a:r>
              <a:rPr sz="900" spc="215" dirty="0">
                <a:solidFill>
                  <a:srgbClr val="3333B2"/>
                </a:solidFill>
                <a:latin typeface="Arial"/>
                <a:cs typeface="Arial"/>
              </a:rPr>
              <a:t> </a:t>
            </a:r>
            <a:r>
              <a:rPr sz="900" dirty="0">
                <a:latin typeface="Arial"/>
                <a:cs typeface="Arial"/>
              </a:rPr>
              <a:t>If</a:t>
            </a:r>
            <a:r>
              <a:rPr sz="900" spc="-20" dirty="0">
                <a:latin typeface="Arial"/>
                <a:cs typeface="Arial"/>
              </a:rPr>
              <a:t> </a:t>
            </a:r>
            <a:r>
              <a:rPr sz="900" i="1" dirty="0">
                <a:latin typeface="Arial"/>
                <a:cs typeface="Arial"/>
              </a:rPr>
              <a:t>a</a:t>
            </a:r>
            <a:r>
              <a:rPr sz="900" i="1" spc="-15" dirty="0">
                <a:latin typeface="Arial"/>
                <a:cs typeface="Arial"/>
              </a:rPr>
              <a:t> </a:t>
            </a:r>
            <a:r>
              <a:rPr sz="900" dirty="0">
                <a:latin typeface="Arial"/>
                <a:cs typeface="Arial"/>
              </a:rPr>
              <a:t>corresponds</a:t>
            </a:r>
            <a:r>
              <a:rPr sz="900" spc="-20" dirty="0">
                <a:latin typeface="Arial"/>
                <a:cs typeface="Arial"/>
              </a:rPr>
              <a:t> </a:t>
            </a:r>
            <a:r>
              <a:rPr sz="900" dirty="0">
                <a:latin typeface="Arial"/>
                <a:cs typeface="Arial"/>
              </a:rPr>
              <a:t>to</a:t>
            </a:r>
            <a:r>
              <a:rPr sz="900" spc="-15" dirty="0">
                <a:latin typeface="Arial"/>
                <a:cs typeface="Arial"/>
              </a:rPr>
              <a:t> </a:t>
            </a:r>
            <a:r>
              <a:rPr sz="900" dirty="0">
                <a:latin typeface="Arial"/>
                <a:cs typeface="Arial"/>
              </a:rPr>
              <a:t>sending</a:t>
            </a:r>
            <a:r>
              <a:rPr sz="900" spc="-20" dirty="0">
                <a:latin typeface="Arial"/>
                <a:cs typeface="Arial"/>
              </a:rPr>
              <a:t> </a:t>
            </a:r>
            <a:r>
              <a:rPr sz="900" dirty="0">
                <a:latin typeface="Arial"/>
                <a:cs typeface="Arial"/>
              </a:rPr>
              <a:t>a</a:t>
            </a:r>
            <a:r>
              <a:rPr sz="900" spc="-20" dirty="0">
                <a:latin typeface="Arial"/>
                <a:cs typeface="Arial"/>
              </a:rPr>
              <a:t> </a:t>
            </a:r>
            <a:r>
              <a:rPr sz="900" dirty="0">
                <a:latin typeface="Arial"/>
                <a:cs typeface="Arial"/>
              </a:rPr>
              <a:t>message</a:t>
            </a:r>
            <a:r>
              <a:rPr sz="900" spc="-20" dirty="0">
                <a:latin typeface="Arial"/>
                <a:cs typeface="Arial"/>
              </a:rPr>
              <a:t> </a:t>
            </a:r>
            <a:r>
              <a:rPr sz="900" i="1" dirty="0">
                <a:latin typeface="Arial"/>
                <a:cs typeface="Arial"/>
              </a:rPr>
              <a:t>m</a:t>
            </a:r>
            <a:r>
              <a:rPr sz="900" dirty="0">
                <a:latin typeface="Arial"/>
                <a:cs typeface="Arial"/>
              </a:rPr>
              <a:t>,</a:t>
            </a:r>
            <a:r>
              <a:rPr sz="900" spc="-20" dirty="0">
                <a:latin typeface="Arial"/>
                <a:cs typeface="Arial"/>
              </a:rPr>
              <a:t> </a:t>
            </a:r>
            <a:r>
              <a:rPr sz="900" dirty="0">
                <a:latin typeface="Arial"/>
                <a:cs typeface="Arial"/>
              </a:rPr>
              <a:t>and</a:t>
            </a:r>
            <a:r>
              <a:rPr sz="900" spc="-15" dirty="0">
                <a:latin typeface="Arial"/>
                <a:cs typeface="Arial"/>
              </a:rPr>
              <a:t> </a:t>
            </a:r>
            <a:r>
              <a:rPr sz="900" i="1" dirty="0">
                <a:latin typeface="Arial"/>
                <a:cs typeface="Arial"/>
              </a:rPr>
              <a:t>b</a:t>
            </a:r>
            <a:r>
              <a:rPr sz="900" i="1" spc="5" dirty="0">
                <a:latin typeface="Arial"/>
                <a:cs typeface="Arial"/>
              </a:rPr>
              <a:t> </a:t>
            </a:r>
            <a:r>
              <a:rPr sz="900" dirty="0">
                <a:latin typeface="Arial"/>
                <a:cs typeface="Arial"/>
              </a:rPr>
              <a:t>to</a:t>
            </a:r>
            <a:r>
              <a:rPr sz="900" spc="-20" dirty="0">
                <a:latin typeface="Arial"/>
                <a:cs typeface="Arial"/>
              </a:rPr>
              <a:t> </a:t>
            </a:r>
            <a:r>
              <a:rPr sz="900" dirty="0">
                <a:latin typeface="Arial"/>
                <a:cs typeface="Arial"/>
              </a:rPr>
              <a:t>the</a:t>
            </a:r>
            <a:r>
              <a:rPr sz="900" spc="-20" dirty="0">
                <a:latin typeface="Arial"/>
                <a:cs typeface="Arial"/>
              </a:rPr>
              <a:t> </a:t>
            </a:r>
            <a:r>
              <a:rPr sz="900" dirty="0">
                <a:latin typeface="Arial"/>
                <a:cs typeface="Arial"/>
              </a:rPr>
              <a:t>receipt</a:t>
            </a:r>
            <a:r>
              <a:rPr sz="900" spc="-20" dirty="0">
                <a:latin typeface="Arial"/>
                <a:cs typeface="Arial"/>
              </a:rPr>
              <a:t> </a:t>
            </a:r>
            <a:r>
              <a:rPr sz="900" dirty="0">
                <a:latin typeface="Arial"/>
                <a:cs typeface="Arial"/>
              </a:rPr>
              <a:t>of</a:t>
            </a:r>
            <a:r>
              <a:rPr sz="900" spc="-20" dirty="0">
                <a:latin typeface="Arial"/>
                <a:cs typeface="Arial"/>
              </a:rPr>
              <a:t> that </a:t>
            </a:r>
            <a:r>
              <a:rPr sz="900" dirty="0">
                <a:latin typeface="Arial"/>
                <a:cs typeface="Arial"/>
              </a:rPr>
              <a:t>message,</a:t>
            </a:r>
            <a:r>
              <a:rPr sz="900" spc="5" dirty="0">
                <a:latin typeface="Arial"/>
                <a:cs typeface="Arial"/>
              </a:rPr>
              <a:t> </a:t>
            </a:r>
            <a:r>
              <a:rPr sz="900" dirty="0">
                <a:latin typeface="Arial"/>
                <a:cs typeface="Arial"/>
              </a:rPr>
              <a:t>then</a:t>
            </a:r>
            <a:r>
              <a:rPr sz="900" spc="10" dirty="0">
                <a:latin typeface="Arial"/>
                <a:cs typeface="Arial"/>
              </a:rPr>
              <a:t> </a:t>
            </a:r>
            <a:r>
              <a:rPr sz="900" dirty="0">
                <a:latin typeface="Arial"/>
                <a:cs typeface="Arial"/>
              </a:rPr>
              <a:t>also</a:t>
            </a:r>
            <a:r>
              <a:rPr sz="900" spc="10" dirty="0">
                <a:latin typeface="Arial"/>
                <a:cs typeface="Arial"/>
              </a:rPr>
              <a:t> </a:t>
            </a:r>
            <a:r>
              <a:rPr sz="900" i="1" dirty="0">
                <a:latin typeface="Arial"/>
                <a:cs typeface="Arial"/>
              </a:rPr>
              <a:t>C</a:t>
            </a:r>
            <a:r>
              <a:rPr sz="900" dirty="0">
                <a:latin typeface="Arial"/>
                <a:cs typeface="Arial"/>
              </a:rPr>
              <a:t>(</a:t>
            </a:r>
            <a:r>
              <a:rPr sz="900" i="1" dirty="0">
                <a:latin typeface="Arial"/>
                <a:cs typeface="Arial"/>
              </a:rPr>
              <a:t>a</a:t>
            </a:r>
            <a:r>
              <a:rPr sz="900" dirty="0">
                <a:latin typeface="Arial"/>
                <a:cs typeface="Arial"/>
              </a:rPr>
              <a:t>)</a:t>
            </a:r>
            <a:r>
              <a:rPr sz="900" spc="-40" dirty="0">
                <a:latin typeface="Arial"/>
                <a:cs typeface="Arial"/>
              </a:rPr>
              <a:t> </a:t>
            </a:r>
            <a:r>
              <a:rPr sz="900" i="1" spc="60" dirty="0">
                <a:latin typeface="STIX Two Text"/>
                <a:cs typeface="STIX Two Text"/>
              </a:rPr>
              <a:t>&lt;</a:t>
            </a:r>
            <a:r>
              <a:rPr sz="900" i="1" spc="5" dirty="0">
                <a:latin typeface="STIX Two Text"/>
                <a:cs typeface="STIX Two Text"/>
              </a:rPr>
              <a:t> </a:t>
            </a:r>
            <a:r>
              <a:rPr sz="900" i="1" spc="-20" dirty="0">
                <a:latin typeface="Arial"/>
                <a:cs typeface="Arial"/>
              </a:rPr>
              <a:t>C</a:t>
            </a:r>
            <a:r>
              <a:rPr sz="900" spc="-20" dirty="0">
                <a:latin typeface="Arial"/>
                <a:cs typeface="Arial"/>
              </a:rPr>
              <a:t>(</a:t>
            </a:r>
            <a:r>
              <a:rPr sz="900" i="1" spc="-20" dirty="0">
                <a:latin typeface="Arial"/>
                <a:cs typeface="Arial"/>
              </a:rPr>
              <a:t>b</a:t>
            </a:r>
            <a:r>
              <a:rPr sz="900" spc="-20" dirty="0">
                <a:latin typeface="Arial"/>
                <a:cs typeface="Arial"/>
              </a:rPr>
              <a:t>).</a:t>
            </a:r>
            <a:endParaRPr sz="900">
              <a:latin typeface="Arial"/>
              <a:cs typeface="Arial"/>
            </a:endParaRPr>
          </a:p>
          <a:p>
            <a:pPr>
              <a:lnSpc>
                <a:spcPct val="100000"/>
              </a:lnSpc>
              <a:spcBef>
                <a:spcPts val="55"/>
              </a:spcBef>
            </a:pPr>
            <a:endParaRPr sz="1200">
              <a:latin typeface="Arial"/>
              <a:cs typeface="Arial"/>
            </a:endParaRPr>
          </a:p>
          <a:p>
            <a:pPr marL="264160">
              <a:lnSpc>
                <a:spcPct val="100000"/>
              </a:lnSpc>
            </a:pPr>
            <a:r>
              <a:rPr sz="1000" spc="-10" dirty="0">
                <a:solidFill>
                  <a:srgbClr val="C80000"/>
                </a:solidFill>
                <a:latin typeface="Arial"/>
                <a:cs typeface="Arial"/>
              </a:rPr>
              <a:t>Problem</a:t>
            </a:r>
            <a:endParaRPr sz="1000">
              <a:latin typeface="Arial"/>
              <a:cs typeface="Arial"/>
            </a:endParaRPr>
          </a:p>
          <a:p>
            <a:pPr marL="264160">
              <a:lnSpc>
                <a:spcPct val="100000"/>
              </a:lnSpc>
              <a:spcBef>
                <a:spcPts val="105"/>
              </a:spcBef>
            </a:pPr>
            <a:r>
              <a:rPr sz="900" dirty="0">
                <a:latin typeface="Arial"/>
                <a:cs typeface="Arial"/>
              </a:rPr>
              <a:t>How</a:t>
            </a:r>
            <a:r>
              <a:rPr sz="900" spc="-25"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attach</a:t>
            </a:r>
            <a:r>
              <a:rPr sz="900" spc="-25" dirty="0">
                <a:latin typeface="Arial"/>
                <a:cs typeface="Arial"/>
              </a:rPr>
              <a:t> </a:t>
            </a:r>
            <a:r>
              <a:rPr sz="900" dirty="0">
                <a:latin typeface="Arial"/>
                <a:cs typeface="Arial"/>
              </a:rPr>
              <a:t>a</a:t>
            </a:r>
            <a:r>
              <a:rPr sz="900" spc="-25" dirty="0">
                <a:latin typeface="Arial"/>
                <a:cs typeface="Arial"/>
              </a:rPr>
              <a:t> </a:t>
            </a:r>
            <a:r>
              <a:rPr sz="900" dirty="0">
                <a:latin typeface="Arial"/>
                <a:cs typeface="Arial"/>
              </a:rPr>
              <a:t>timestamp</a:t>
            </a:r>
            <a:r>
              <a:rPr sz="900" spc="-25"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an</a:t>
            </a:r>
            <a:r>
              <a:rPr sz="900" spc="-25" dirty="0">
                <a:latin typeface="Arial"/>
                <a:cs typeface="Arial"/>
              </a:rPr>
              <a:t> </a:t>
            </a:r>
            <a:r>
              <a:rPr sz="900" spc="-10" dirty="0">
                <a:latin typeface="Arial"/>
                <a:cs typeface="Arial"/>
              </a:rPr>
              <a:t>event</a:t>
            </a:r>
            <a:r>
              <a:rPr sz="900" spc="-25" dirty="0">
                <a:latin typeface="Arial"/>
                <a:cs typeface="Arial"/>
              </a:rPr>
              <a:t> </a:t>
            </a:r>
            <a:r>
              <a:rPr sz="900" dirty="0">
                <a:latin typeface="Arial"/>
                <a:cs typeface="Arial"/>
              </a:rPr>
              <a:t>when</a:t>
            </a:r>
            <a:r>
              <a:rPr sz="900" spc="-25" dirty="0">
                <a:latin typeface="Arial"/>
                <a:cs typeface="Arial"/>
              </a:rPr>
              <a:t> </a:t>
            </a:r>
            <a:r>
              <a:rPr sz="900" spc="-10" dirty="0">
                <a:latin typeface="Arial"/>
                <a:cs typeface="Arial"/>
              </a:rPr>
              <a:t>there’s</a:t>
            </a:r>
            <a:r>
              <a:rPr sz="900" spc="-25" dirty="0">
                <a:latin typeface="Arial"/>
                <a:cs typeface="Arial"/>
              </a:rPr>
              <a:t> </a:t>
            </a:r>
            <a:r>
              <a:rPr sz="900" dirty="0">
                <a:latin typeface="Arial"/>
                <a:cs typeface="Arial"/>
              </a:rPr>
              <a:t>no</a:t>
            </a:r>
            <a:r>
              <a:rPr sz="900" spc="-20" dirty="0">
                <a:latin typeface="Arial"/>
                <a:cs typeface="Arial"/>
              </a:rPr>
              <a:t> </a:t>
            </a:r>
            <a:r>
              <a:rPr sz="900" dirty="0">
                <a:latin typeface="Arial"/>
                <a:cs typeface="Arial"/>
              </a:rPr>
              <a:t>global</a:t>
            </a:r>
            <a:r>
              <a:rPr sz="900" spc="-25" dirty="0">
                <a:latin typeface="Arial"/>
                <a:cs typeface="Arial"/>
              </a:rPr>
              <a:t> </a:t>
            </a:r>
            <a:r>
              <a:rPr sz="900" dirty="0">
                <a:latin typeface="Arial"/>
                <a:cs typeface="Arial"/>
              </a:rPr>
              <a:t>clock</a:t>
            </a:r>
            <a:r>
              <a:rPr sz="900" spc="-25" dirty="0">
                <a:latin typeface="Arial"/>
                <a:cs typeface="Arial"/>
              </a:rPr>
              <a:t> </a:t>
            </a:r>
            <a:r>
              <a:rPr sz="900" i="1" spc="300" dirty="0">
                <a:latin typeface="Menlo"/>
                <a:cs typeface="Menlo"/>
              </a:rPr>
              <a:t>⇒</a:t>
            </a:r>
            <a:endParaRPr sz="900">
              <a:latin typeface="Menlo"/>
              <a:cs typeface="Menlo"/>
            </a:endParaRPr>
          </a:p>
          <a:p>
            <a:pPr marL="264160">
              <a:lnSpc>
                <a:spcPct val="100000"/>
              </a:lnSpc>
              <a:spcBef>
                <a:spcPts val="125"/>
              </a:spcBef>
            </a:pPr>
            <a:r>
              <a:rPr sz="900" dirty="0">
                <a:latin typeface="Arial"/>
                <a:cs typeface="Arial"/>
              </a:rPr>
              <a:t>maintain</a:t>
            </a:r>
            <a:r>
              <a:rPr sz="900" spc="-25" dirty="0">
                <a:latin typeface="Arial"/>
                <a:cs typeface="Arial"/>
              </a:rPr>
              <a:t> </a:t>
            </a:r>
            <a:r>
              <a:rPr sz="900" dirty="0">
                <a:latin typeface="Arial"/>
                <a:cs typeface="Arial"/>
              </a:rPr>
              <a:t>a</a:t>
            </a:r>
            <a:r>
              <a:rPr sz="900" spc="-20" dirty="0">
                <a:latin typeface="Arial"/>
                <a:cs typeface="Arial"/>
              </a:rPr>
              <a:t> </a:t>
            </a:r>
            <a:r>
              <a:rPr sz="900" dirty="0">
                <a:solidFill>
                  <a:srgbClr val="3333B2"/>
                </a:solidFill>
                <a:latin typeface="Arial"/>
                <a:cs typeface="Arial"/>
              </a:rPr>
              <a:t>consistent</a:t>
            </a:r>
            <a:r>
              <a:rPr sz="900" spc="-20" dirty="0">
                <a:solidFill>
                  <a:srgbClr val="3333B2"/>
                </a:solidFill>
                <a:latin typeface="Arial"/>
                <a:cs typeface="Arial"/>
              </a:rPr>
              <a:t> </a:t>
            </a:r>
            <a:r>
              <a:rPr sz="900" dirty="0">
                <a:latin typeface="Arial"/>
                <a:cs typeface="Arial"/>
              </a:rPr>
              <a:t>set</a:t>
            </a:r>
            <a:r>
              <a:rPr sz="900" spc="-20" dirty="0">
                <a:latin typeface="Arial"/>
                <a:cs typeface="Arial"/>
              </a:rPr>
              <a:t> </a:t>
            </a:r>
            <a:r>
              <a:rPr sz="900" dirty="0">
                <a:latin typeface="Arial"/>
                <a:cs typeface="Arial"/>
              </a:rPr>
              <a:t>of</a:t>
            </a:r>
            <a:r>
              <a:rPr sz="900" spc="-25" dirty="0">
                <a:latin typeface="Arial"/>
                <a:cs typeface="Arial"/>
              </a:rPr>
              <a:t> </a:t>
            </a:r>
            <a:r>
              <a:rPr sz="900" dirty="0">
                <a:latin typeface="Arial"/>
                <a:cs typeface="Arial"/>
              </a:rPr>
              <a:t>logical</a:t>
            </a:r>
            <a:r>
              <a:rPr sz="900" spc="-20" dirty="0">
                <a:latin typeface="Arial"/>
                <a:cs typeface="Arial"/>
              </a:rPr>
              <a:t> </a:t>
            </a:r>
            <a:r>
              <a:rPr sz="900" spc="-10" dirty="0">
                <a:latin typeface="Arial"/>
                <a:cs typeface="Arial"/>
              </a:rPr>
              <a:t>clocks,</a:t>
            </a:r>
            <a:r>
              <a:rPr sz="900" spc="-20" dirty="0">
                <a:latin typeface="Arial"/>
                <a:cs typeface="Arial"/>
              </a:rPr>
              <a:t> </a:t>
            </a:r>
            <a:r>
              <a:rPr sz="900" dirty="0">
                <a:latin typeface="Arial"/>
                <a:cs typeface="Arial"/>
              </a:rPr>
              <a:t>one</a:t>
            </a:r>
            <a:r>
              <a:rPr sz="900" spc="-20" dirty="0">
                <a:latin typeface="Arial"/>
                <a:cs typeface="Arial"/>
              </a:rPr>
              <a:t> </a:t>
            </a:r>
            <a:r>
              <a:rPr sz="900" dirty="0">
                <a:latin typeface="Arial"/>
                <a:cs typeface="Arial"/>
              </a:rPr>
              <a:t>per</a:t>
            </a:r>
            <a:r>
              <a:rPr sz="900" spc="-25" dirty="0">
                <a:latin typeface="Arial"/>
                <a:cs typeface="Arial"/>
              </a:rPr>
              <a:t> </a:t>
            </a:r>
            <a:r>
              <a:rPr sz="900" spc="-10" dirty="0">
                <a:latin typeface="Arial"/>
                <a:cs typeface="Arial"/>
              </a:rPr>
              <a:t>process.</a:t>
            </a:r>
            <a:endParaRPr sz="900">
              <a:latin typeface="Arial"/>
              <a:cs typeface="Arial"/>
            </a:endParaRPr>
          </a:p>
        </p:txBody>
      </p:sp>
      <p:grpSp>
        <p:nvGrpSpPr>
          <p:cNvPr id="6" name="object 6"/>
          <p:cNvGrpSpPr/>
          <p:nvPr/>
        </p:nvGrpSpPr>
        <p:grpSpPr>
          <a:xfrm>
            <a:off x="0" y="3348469"/>
            <a:ext cx="4608195" cy="107950"/>
            <a:chOff x="0" y="3348469"/>
            <a:chExt cx="4608195" cy="107950"/>
          </a:xfrm>
        </p:grpSpPr>
        <p:sp>
          <p:nvSpPr>
            <p:cNvPr id="7" name="object 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9" name="object 9"/>
          <p:cNvSpPr txBox="1"/>
          <p:nvPr/>
        </p:nvSpPr>
        <p:spPr>
          <a:xfrm>
            <a:off x="53467" y="3349927"/>
            <a:ext cx="691515"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3" action="ppaction://hlinksldjump"/>
              </a:rPr>
              <a:t>Lamport’s</a:t>
            </a:r>
            <a:r>
              <a:rPr sz="500" spc="15" dirty="0">
                <a:latin typeface="Arial"/>
                <a:cs typeface="Arial"/>
                <a:hlinkClick r:id="rId3" action="ppaction://hlinksldjump"/>
              </a:rPr>
              <a:t> </a:t>
            </a:r>
            <a:r>
              <a:rPr sz="500" dirty="0">
                <a:latin typeface="Arial"/>
                <a:cs typeface="Arial"/>
                <a:hlinkClick r:id="rId3" action="ppaction://hlinksldjump"/>
              </a:rPr>
              <a:t>logical</a:t>
            </a:r>
            <a:r>
              <a:rPr sz="500" spc="15" dirty="0">
                <a:latin typeface="Arial"/>
                <a:cs typeface="Arial"/>
                <a:hlinkClick r:id="rId3" action="ppaction://hlinksldjump"/>
              </a:rPr>
              <a:t> </a:t>
            </a:r>
            <a:r>
              <a:rPr sz="500" spc="-10" dirty="0">
                <a:latin typeface="Arial"/>
                <a:cs typeface="Arial"/>
                <a:hlinkClick r:id="rId3" action="ppaction://hlinksldjump"/>
              </a:rPr>
              <a:t>clocks</a:t>
            </a:r>
            <a:endParaRPr sz="500">
              <a:latin typeface="Arial"/>
              <a:cs typeface="Arial"/>
            </a:endParaRP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4095750" algn="l"/>
              </a:tabLst>
            </a:pPr>
            <a:r>
              <a:rPr sz="500" spc="-10" dirty="0">
                <a:latin typeface="Arial"/>
                <a:cs typeface="Arial"/>
                <a:hlinkClick r:id="rId2" action="ppaction://hlinksldjump"/>
              </a:rPr>
              <a:t>Coordination</a:t>
            </a:r>
            <a:r>
              <a:rPr sz="500" dirty="0">
                <a:latin typeface="Arial"/>
                <a:cs typeface="Arial"/>
              </a:rPr>
              <a:t>	</a:t>
            </a:r>
            <a:r>
              <a:rPr sz="500" dirty="0">
                <a:solidFill>
                  <a:srgbClr val="FFFFFF"/>
                </a:solidFill>
                <a:latin typeface="Arial"/>
                <a:cs typeface="Arial"/>
                <a:hlinkClick r:id="rId3" action="ppaction://hlinksldjump"/>
              </a:rPr>
              <a:t>Logical</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clocks</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Logical</a:t>
            </a:r>
            <a:r>
              <a:rPr spc="-50" dirty="0"/>
              <a:t> </a:t>
            </a:r>
            <a:r>
              <a:rPr dirty="0"/>
              <a:t>clocks:</a:t>
            </a:r>
            <a:r>
              <a:rPr spc="20" dirty="0"/>
              <a:t> </a:t>
            </a:r>
            <a:r>
              <a:rPr spc="-10" dirty="0"/>
              <a:t>solution</a:t>
            </a:r>
          </a:p>
        </p:txBody>
      </p:sp>
      <p:sp>
        <p:nvSpPr>
          <p:cNvPr id="4" name="object 4"/>
          <p:cNvSpPr txBox="1"/>
          <p:nvPr/>
        </p:nvSpPr>
        <p:spPr>
          <a:xfrm>
            <a:off x="309194" y="514774"/>
            <a:ext cx="3978275" cy="2005330"/>
          </a:xfrm>
          <a:prstGeom prst="rect">
            <a:avLst/>
          </a:prstGeom>
        </p:spPr>
        <p:txBody>
          <a:bodyPr vert="horz" wrap="square" lIns="0" tIns="12065" rIns="0" bIns="0" rtlCol="0">
            <a:spAutoFit/>
          </a:bodyPr>
          <a:lstStyle/>
          <a:p>
            <a:pPr marL="50800">
              <a:lnSpc>
                <a:spcPct val="100000"/>
              </a:lnSpc>
              <a:spcBef>
                <a:spcPts val="95"/>
              </a:spcBef>
            </a:pPr>
            <a:r>
              <a:rPr sz="1000" dirty="0">
                <a:solidFill>
                  <a:srgbClr val="3333B2"/>
                </a:solidFill>
                <a:latin typeface="Arial"/>
                <a:cs typeface="Arial"/>
              </a:rPr>
              <a:t>Each</a:t>
            </a:r>
            <a:r>
              <a:rPr sz="1000" spc="-25" dirty="0">
                <a:solidFill>
                  <a:srgbClr val="3333B2"/>
                </a:solidFill>
                <a:latin typeface="Arial"/>
                <a:cs typeface="Arial"/>
              </a:rPr>
              <a:t> </a:t>
            </a:r>
            <a:r>
              <a:rPr sz="1000" dirty="0">
                <a:solidFill>
                  <a:srgbClr val="3333B2"/>
                </a:solidFill>
                <a:latin typeface="Arial"/>
                <a:cs typeface="Arial"/>
              </a:rPr>
              <a:t>process</a:t>
            </a:r>
            <a:r>
              <a:rPr sz="1000" spc="-25" dirty="0">
                <a:solidFill>
                  <a:srgbClr val="3333B2"/>
                </a:solidFill>
                <a:latin typeface="Arial"/>
                <a:cs typeface="Arial"/>
              </a:rPr>
              <a:t> </a:t>
            </a:r>
            <a:r>
              <a:rPr sz="1000" i="1" dirty="0">
                <a:solidFill>
                  <a:srgbClr val="3333B2"/>
                </a:solidFill>
                <a:latin typeface="Arial"/>
                <a:cs typeface="Arial"/>
              </a:rPr>
              <a:t>P</a:t>
            </a:r>
            <a:r>
              <a:rPr sz="1050" i="1" baseline="-15873" dirty="0">
                <a:solidFill>
                  <a:srgbClr val="3333B2"/>
                </a:solidFill>
                <a:latin typeface="Arial"/>
                <a:cs typeface="Arial"/>
              </a:rPr>
              <a:t>i</a:t>
            </a:r>
            <a:r>
              <a:rPr sz="1050" i="1" spc="254" baseline="-15873" dirty="0">
                <a:solidFill>
                  <a:srgbClr val="3333B2"/>
                </a:solidFill>
                <a:latin typeface="Arial"/>
                <a:cs typeface="Arial"/>
              </a:rPr>
              <a:t> </a:t>
            </a:r>
            <a:r>
              <a:rPr sz="1000" dirty="0">
                <a:solidFill>
                  <a:srgbClr val="3333B2"/>
                </a:solidFill>
                <a:latin typeface="Arial"/>
                <a:cs typeface="Arial"/>
              </a:rPr>
              <a:t>maintains</a:t>
            </a:r>
            <a:r>
              <a:rPr sz="1000" spc="-25" dirty="0">
                <a:solidFill>
                  <a:srgbClr val="3333B2"/>
                </a:solidFill>
                <a:latin typeface="Arial"/>
                <a:cs typeface="Arial"/>
              </a:rPr>
              <a:t> </a:t>
            </a:r>
            <a:r>
              <a:rPr sz="1000" dirty="0">
                <a:solidFill>
                  <a:srgbClr val="3333B2"/>
                </a:solidFill>
                <a:latin typeface="Arial"/>
                <a:cs typeface="Arial"/>
              </a:rPr>
              <a:t>a</a:t>
            </a:r>
            <a:r>
              <a:rPr sz="1000" spc="-25" dirty="0">
                <a:solidFill>
                  <a:srgbClr val="3333B2"/>
                </a:solidFill>
                <a:latin typeface="Arial"/>
                <a:cs typeface="Arial"/>
              </a:rPr>
              <a:t> </a:t>
            </a:r>
            <a:r>
              <a:rPr sz="1000" dirty="0">
                <a:solidFill>
                  <a:srgbClr val="3333B2"/>
                </a:solidFill>
                <a:latin typeface="Arial"/>
                <a:cs typeface="Arial"/>
              </a:rPr>
              <a:t>local</a:t>
            </a:r>
            <a:r>
              <a:rPr sz="1000" spc="-25" dirty="0">
                <a:solidFill>
                  <a:srgbClr val="3333B2"/>
                </a:solidFill>
                <a:latin typeface="Arial"/>
                <a:cs typeface="Arial"/>
              </a:rPr>
              <a:t> </a:t>
            </a:r>
            <a:r>
              <a:rPr sz="1000" dirty="0">
                <a:solidFill>
                  <a:srgbClr val="3333B2"/>
                </a:solidFill>
                <a:latin typeface="Arial"/>
                <a:cs typeface="Arial"/>
              </a:rPr>
              <a:t>counter</a:t>
            </a:r>
            <a:r>
              <a:rPr sz="1000" spc="-20" dirty="0">
                <a:solidFill>
                  <a:srgbClr val="3333B2"/>
                </a:solidFill>
                <a:latin typeface="Arial"/>
                <a:cs typeface="Arial"/>
              </a:rPr>
              <a:t> </a:t>
            </a:r>
            <a:r>
              <a:rPr sz="1000" i="1" dirty="0">
                <a:solidFill>
                  <a:srgbClr val="3333B2"/>
                </a:solidFill>
                <a:latin typeface="Arial"/>
                <a:cs typeface="Arial"/>
              </a:rPr>
              <a:t>C</a:t>
            </a:r>
            <a:r>
              <a:rPr sz="1050" i="1" baseline="-15873" dirty="0">
                <a:solidFill>
                  <a:srgbClr val="3333B2"/>
                </a:solidFill>
                <a:latin typeface="Arial"/>
                <a:cs typeface="Arial"/>
              </a:rPr>
              <a:t>i</a:t>
            </a:r>
            <a:r>
              <a:rPr sz="1050" i="1" spc="247" baseline="-15873" dirty="0">
                <a:solidFill>
                  <a:srgbClr val="3333B2"/>
                </a:solidFill>
                <a:latin typeface="Arial"/>
                <a:cs typeface="Arial"/>
              </a:rPr>
              <a:t> </a:t>
            </a:r>
            <a:r>
              <a:rPr sz="1000" dirty="0">
                <a:solidFill>
                  <a:srgbClr val="3333B2"/>
                </a:solidFill>
                <a:latin typeface="Arial"/>
                <a:cs typeface="Arial"/>
              </a:rPr>
              <a:t>and</a:t>
            </a:r>
            <a:r>
              <a:rPr sz="1000" spc="-25" dirty="0">
                <a:solidFill>
                  <a:srgbClr val="3333B2"/>
                </a:solidFill>
                <a:latin typeface="Arial"/>
                <a:cs typeface="Arial"/>
              </a:rPr>
              <a:t> </a:t>
            </a:r>
            <a:r>
              <a:rPr sz="1000" dirty="0">
                <a:solidFill>
                  <a:srgbClr val="3333B2"/>
                </a:solidFill>
                <a:latin typeface="Arial"/>
                <a:cs typeface="Arial"/>
              </a:rPr>
              <a:t>adjusts</a:t>
            </a:r>
            <a:r>
              <a:rPr sz="1000" spc="-20" dirty="0">
                <a:solidFill>
                  <a:srgbClr val="3333B2"/>
                </a:solidFill>
                <a:latin typeface="Arial"/>
                <a:cs typeface="Arial"/>
              </a:rPr>
              <a:t> </a:t>
            </a:r>
            <a:r>
              <a:rPr sz="1000" dirty="0">
                <a:solidFill>
                  <a:srgbClr val="3333B2"/>
                </a:solidFill>
                <a:latin typeface="Arial"/>
                <a:cs typeface="Arial"/>
              </a:rPr>
              <a:t>this</a:t>
            </a:r>
            <a:r>
              <a:rPr sz="1000" spc="-25" dirty="0">
                <a:solidFill>
                  <a:srgbClr val="3333B2"/>
                </a:solidFill>
                <a:latin typeface="Arial"/>
                <a:cs typeface="Arial"/>
              </a:rPr>
              <a:t> </a:t>
            </a:r>
            <a:r>
              <a:rPr sz="1000" spc="-10" dirty="0">
                <a:solidFill>
                  <a:srgbClr val="3333B2"/>
                </a:solidFill>
                <a:latin typeface="Arial"/>
                <a:cs typeface="Arial"/>
              </a:rPr>
              <a:t>counter</a:t>
            </a:r>
            <a:endParaRPr sz="1000">
              <a:latin typeface="Arial"/>
              <a:cs typeface="Arial"/>
            </a:endParaRPr>
          </a:p>
          <a:p>
            <a:pPr marL="303530" indent="-158750" algn="just">
              <a:lnSpc>
                <a:spcPct val="100000"/>
              </a:lnSpc>
              <a:spcBef>
                <a:spcPts val="695"/>
              </a:spcBef>
              <a:buClr>
                <a:srgbClr val="3333B2"/>
              </a:buClr>
              <a:buAutoNum type="arabicPeriod"/>
              <a:tabLst>
                <a:tab pos="304165" algn="l"/>
              </a:tabLst>
            </a:pPr>
            <a:r>
              <a:rPr sz="900" dirty="0">
                <a:latin typeface="Arial"/>
                <a:cs typeface="Arial"/>
              </a:rPr>
              <a:t>For</a:t>
            </a:r>
            <a:r>
              <a:rPr sz="900" spc="-40" dirty="0">
                <a:latin typeface="Arial"/>
                <a:cs typeface="Arial"/>
              </a:rPr>
              <a:t> </a:t>
            </a:r>
            <a:r>
              <a:rPr sz="900" dirty="0">
                <a:latin typeface="Arial"/>
                <a:cs typeface="Arial"/>
              </a:rPr>
              <a:t>each</a:t>
            </a:r>
            <a:r>
              <a:rPr sz="900" spc="-30" dirty="0">
                <a:latin typeface="Arial"/>
                <a:cs typeface="Arial"/>
              </a:rPr>
              <a:t> </a:t>
            </a:r>
            <a:r>
              <a:rPr sz="900" dirty="0">
                <a:latin typeface="Arial"/>
                <a:cs typeface="Arial"/>
              </a:rPr>
              <a:t>new</a:t>
            </a:r>
            <a:r>
              <a:rPr sz="900" spc="-25" dirty="0">
                <a:latin typeface="Arial"/>
                <a:cs typeface="Arial"/>
              </a:rPr>
              <a:t> </a:t>
            </a:r>
            <a:r>
              <a:rPr sz="900" spc="-10" dirty="0">
                <a:latin typeface="Arial"/>
                <a:cs typeface="Arial"/>
              </a:rPr>
              <a:t>event</a:t>
            </a:r>
            <a:r>
              <a:rPr sz="900" spc="-30" dirty="0">
                <a:latin typeface="Arial"/>
                <a:cs typeface="Arial"/>
              </a:rPr>
              <a:t> </a:t>
            </a:r>
            <a:r>
              <a:rPr sz="900" dirty="0">
                <a:latin typeface="Arial"/>
                <a:cs typeface="Arial"/>
              </a:rPr>
              <a:t>that</a:t>
            </a:r>
            <a:r>
              <a:rPr sz="900" spc="-25" dirty="0">
                <a:latin typeface="Arial"/>
                <a:cs typeface="Arial"/>
              </a:rPr>
              <a:t> </a:t>
            </a:r>
            <a:r>
              <a:rPr sz="900" dirty="0">
                <a:latin typeface="Arial"/>
                <a:cs typeface="Arial"/>
              </a:rPr>
              <a:t>takes</a:t>
            </a:r>
            <a:r>
              <a:rPr sz="900" spc="-30" dirty="0">
                <a:latin typeface="Arial"/>
                <a:cs typeface="Arial"/>
              </a:rPr>
              <a:t> </a:t>
            </a:r>
            <a:r>
              <a:rPr sz="900" dirty="0">
                <a:latin typeface="Arial"/>
                <a:cs typeface="Arial"/>
              </a:rPr>
              <a:t>place</a:t>
            </a:r>
            <a:r>
              <a:rPr sz="900" spc="-25" dirty="0">
                <a:latin typeface="Arial"/>
                <a:cs typeface="Arial"/>
              </a:rPr>
              <a:t> </a:t>
            </a:r>
            <a:r>
              <a:rPr sz="900" dirty="0">
                <a:latin typeface="Arial"/>
                <a:cs typeface="Arial"/>
              </a:rPr>
              <a:t>within</a:t>
            </a:r>
            <a:r>
              <a:rPr sz="900" spc="-30" dirty="0">
                <a:latin typeface="Arial"/>
                <a:cs typeface="Arial"/>
              </a:rPr>
              <a:t> </a:t>
            </a:r>
            <a:r>
              <a:rPr sz="900" i="1" spc="-10" dirty="0">
                <a:latin typeface="Arial"/>
                <a:cs typeface="Arial"/>
              </a:rPr>
              <a:t>P</a:t>
            </a:r>
            <a:r>
              <a:rPr sz="1050" i="1" spc="-15" baseline="-15873" dirty="0">
                <a:latin typeface="Arial"/>
                <a:cs typeface="Arial"/>
              </a:rPr>
              <a:t>i</a:t>
            </a:r>
            <a:r>
              <a:rPr sz="1050" i="1" spc="-127" baseline="-15873" dirty="0">
                <a:latin typeface="Arial"/>
                <a:cs typeface="Arial"/>
              </a:rPr>
              <a:t> </a:t>
            </a:r>
            <a:r>
              <a:rPr sz="900" dirty="0">
                <a:latin typeface="Arial"/>
                <a:cs typeface="Arial"/>
              </a:rPr>
              <a:t>,</a:t>
            </a:r>
            <a:r>
              <a:rPr sz="900" spc="-25" dirty="0">
                <a:latin typeface="Arial"/>
                <a:cs typeface="Arial"/>
              </a:rPr>
              <a:t> </a:t>
            </a:r>
            <a:r>
              <a:rPr sz="900" i="1" dirty="0">
                <a:latin typeface="Arial"/>
                <a:cs typeface="Arial"/>
              </a:rPr>
              <a:t>C</a:t>
            </a:r>
            <a:r>
              <a:rPr sz="1050" i="1" baseline="-15873" dirty="0">
                <a:latin typeface="Arial"/>
                <a:cs typeface="Arial"/>
              </a:rPr>
              <a:t>i</a:t>
            </a:r>
            <a:r>
              <a:rPr sz="1050" i="1" spc="187" baseline="-15873" dirty="0">
                <a:latin typeface="Arial"/>
                <a:cs typeface="Arial"/>
              </a:rPr>
              <a:t> </a:t>
            </a:r>
            <a:r>
              <a:rPr sz="900" dirty="0">
                <a:latin typeface="Arial"/>
                <a:cs typeface="Arial"/>
              </a:rPr>
              <a:t>is</a:t>
            </a:r>
            <a:r>
              <a:rPr sz="900" spc="-30" dirty="0">
                <a:latin typeface="Arial"/>
                <a:cs typeface="Arial"/>
              </a:rPr>
              <a:t> </a:t>
            </a:r>
            <a:r>
              <a:rPr sz="900" dirty="0">
                <a:latin typeface="Arial"/>
                <a:cs typeface="Arial"/>
              </a:rPr>
              <a:t>incremented</a:t>
            </a:r>
            <a:r>
              <a:rPr sz="900" spc="-25" dirty="0">
                <a:latin typeface="Arial"/>
                <a:cs typeface="Arial"/>
              </a:rPr>
              <a:t> </a:t>
            </a:r>
            <a:r>
              <a:rPr sz="900" dirty="0">
                <a:latin typeface="Arial"/>
                <a:cs typeface="Arial"/>
              </a:rPr>
              <a:t>by</a:t>
            </a:r>
            <a:r>
              <a:rPr sz="900" spc="-30" dirty="0">
                <a:latin typeface="Arial"/>
                <a:cs typeface="Arial"/>
              </a:rPr>
              <a:t> </a:t>
            </a:r>
            <a:r>
              <a:rPr sz="900" spc="-25" dirty="0">
                <a:latin typeface="Arial"/>
                <a:cs typeface="Arial"/>
              </a:rPr>
              <a:t>1.</a:t>
            </a:r>
            <a:endParaRPr sz="900">
              <a:latin typeface="Arial"/>
              <a:cs typeface="Arial"/>
            </a:endParaRPr>
          </a:p>
          <a:p>
            <a:pPr marL="303530" marR="97155" indent="-158750" algn="just">
              <a:lnSpc>
                <a:spcPct val="111600"/>
              </a:lnSpc>
              <a:buClr>
                <a:srgbClr val="3333B2"/>
              </a:buClr>
              <a:buAutoNum type="arabicPeriod"/>
              <a:tabLst>
                <a:tab pos="304165" algn="l"/>
              </a:tabLst>
            </a:pPr>
            <a:r>
              <a:rPr sz="900" dirty="0">
                <a:latin typeface="Arial"/>
                <a:cs typeface="Arial"/>
              </a:rPr>
              <a:t>Each</a:t>
            </a:r>
            <a:r>
              <a:rPr sz="900" spc="-65" dirty="0">
                <a:latin typeface="Arial"/>
                <a:cs typeface="Arial"/>
              </a:rPr>
              <a:t> </a:t>
            </a:r>
            <a:r>
              <a:rPr sz="900" dirty="0">
                <a:latin typeface="Arial"/>
                <a:cs typeface="Arial"/>
              </a:rPr>
              <a:t>time</a:t>
            </a:r>
            <a:r>
              <a:rPr sz="900" spc="-55" dirty="0">
                <a:latin typeface="Arial"/>
                <a:cs typeface="Arial"/>
              </a:rPr>
              <a:t> </a:t>
            </a:r>
            <a:r>
              <a:rPr sz="900" dirty="0">
                <a:latin typeface="Arial"/>
                <a:cs typeface="Arial"/>
              </a:rPr>
              <a:t>a</a:t>
            </a:r>
            <a:r>
              <a:rPr sz="900" spc="-15" dirty="0">
                <a:latin typeface="Arial"/>
                <a:cs typeface="Arial"/>
              </a:rPr>
              <a:t> </a:t>
            </a:r>
            <a:r>
              <a:rPr sz="900" dirty="0">
                <a:latin typeface="Arial"/>
                <a:cs typeface="Arial"/>
              </a:rPr>
              <a:t>message</a:t>
            </a:r>
            <a:r>
              <a:rPr sz="900" spc="-10" dirty="0">
                <a:latin typeface="Arial"/>
                <a:cs typeface="Arial"/>
              </a:rPr>
              <a:t> </a:t>
            </a:r>
            <a:r>
              <a:rPr sz="900" i="1" dirty="0">
                <a:latin typeface="Arial"/>
                <a:cs typeface="Arial"/>
              </a:rPr>
              <a:t>m</a:t>
            </a:r>
            <a:r>
              <a:rPr sz="900" i="1" spc="5" dirty="0">
                <a:latin typeface="Arial"/>
                <a:cs typeface="Arial"/>
              </a:rPr>
              <a:t> </a:t>
            </a:r>
            <a:r>
              <a:rPr sz="900" dirty="0">
                <a:latin typeface="Arial"/>
                <a:cs typeface="Arial"/>
              </a:rPr>
              <a:t>is</a:t>
            </a:r>
            <a:r>
              <a:rPr sz="900" spc="-15" dirty="0">
                <a:latin typeface="Arial"/>
                <a:cs typeface="Arial"/>
              </a:rPr>
              <a:t> </a:t>
            </a:r>
            <a:r>
              <a:rPr sz="900" dirty="0">
                <a:solidFill>
                  <a:srgbClr val="3333B2"/>
                </a:solidFill>
                <a:latin typeface="Arial"/>
                <a:cs typeface="Arial"/>
              </a:rPr>
              <a:t>sent</a:t>
            </a:r>
            <a:r>
              <a:rPr sz="900" spc="-10" dirty="0">
                <a:solidFill>
                  <a:srgbClr val="3333B2"/>
                </a:solidFill>
                <a:latin typeface="Arial"/>
                <a:cs typeface="Arial"/>
              </a:rPr>
              <a:t> </a:t>
            </a:r>
            <a:r>
              <a:rPr sz="900" dirty="0">
                <a:latin typeface="Arial"/>
                <a:cs typeface="Arial"/>
              </a:rPr>
              <a:t>by</a:t>
            </a:r>
            <a:r>
              <a:rPr sz="900" spc="-15" dirty="0">
                <a:latin typeface="Arial"/>
                <a:cs typeface="Arial"/>
              </a:rPr>
              <a:t> </a:t>
            </a:r>
            <a:r>
              <a:rPr sz="900" dirty="0">
                <a:latin typeface="Arial"/>
                <a:cs typeface="Arial"/>
              </a:rPr>
              <a:t>process</a:t>
            </a:r>
            <a:r>
              <a:rPr sz="900" spc="-15" dirty="0">
                <a:latin typeface="Arial"/>
                <a:cs typeface="Arial"/>
              </a:rPr>
              <a:t> </a:t>
            </a:r>
            <a:r>
              <a:rPr sz="900" i="1" spc="-50" dirty="0">
                <a:latin typeface="Arial"/>
                <a:cs typeface="Arial"/>
              </a:rPr>
              <a:t>P</a:t>
            </a:r>
            <a:r>
              <a:rPr sz="1050" i="1" spc="-75" baseline="-15873" dirty="0">
                <a:latin typeface="Arial"/>
                <a:cs typeface="Arial"/>
              </a:rPr>
              <a:t>i</a:t>
            </a:r>
            <a:r>
              <a:rPr sz="1050" i="1" baseline="-15873" dirty="0">
                <a:latin typeface="Arial"/>
                <a:cs typeface="Arial"/>
              </a:rPr>
              <a:t> </a:t>
            </a:r>
            <a:r>
              <a:rPr sz="900" dirty="0">
                <a:latin typeface="Arial"/>
                <a:cs typeface="Arial"/>
              </a:rPr>
              <a:t>,</a:t>
            </a:r>
            <a:r>
              <a:rPr sz="900" spc="-10" dirty="0">
                <a:latin typeface="Arial"/>
                <a:cs typeface="Arial"/>
              </a:rPr>
              <a:t> </a:t>
            </a:r>
            <a:r>
              <a:rPr sz="900" dirty="0">
                <a:latin typeface="Arial"/>
                <a:cs typeface="Arial"/>
              </a:rPr>
              <a:t>the</a:t>
            </a:r>
            <a:r>
              <a:rPr sz="900" spc="-15" dirty="0">
                <a:latin typeface="Arial"/>
                <a:cs typeface="Arial"/>
              </a:rPr>
              <a:t> </a:t>
            </a:r>
            <a:r>
              <a:rPr sz="900" dirty="0">
                <a:latin typeface="Arial"/>
                <a:cs typeface="Arial"/>
              </a:rPr>
              <a:t>message</a:t>
            </a:r>
            <a:r>
              <a:rPr sz="900" spc="-15" dirty="0">
                <a:latin typeface="Arial"/>
                <a:cs typeface="Arial"/>
              </a:rPr>
              <a:t> </a:t>
            </a:r>
            <a:r>
              <a:rPr sz="900" spc="-10" dirty="0">
                <a:latin typeface="Arial"/>
                <a:cs typeface="Arial"/>
              </a:rPr>
              <a:t>receives </a:t>
            </a:r>
            <a:r>
              <a:rPr sz="900" spc="-50" dirty="0">
                <a:latin typeface="Arial"/>
                <a:cs typeface="Arial"/>
              </a:rPr>
              <a:t>a</a:t>
            </a:r>
            <a:r>
              <a:rPr sz="900" dirty="0">
                <a:latin typeface="Arial"/>
                <a:cs typeface="Arial"/>
              </a:rPr>
              <a:t> timestamp</a:t>
            </a:r>
            <a:r>
              <a:rPr sz="900" spc="30" dirty="0">
                <a:latin typeface="Arial"/>
                <a:cs typeface="Arial"/>
              </a:rPr>
              <a:t> </a:t>
            </a:r>
            <a:r>
              <a:rPr sz="900" i="1" dirty="0">
                <a:latin typeface="Arial"/>
                <a:cs typeface="Arial"/>
              </a:rPr>
              <a:t>ts</a:t>
            </a:r>
            <a:r>
              <a:rPr sz="900" dirty="0">
                <a:latin typeface="Arial"/>
                <a:cs typeface="Arial"/>
              </a:rPr>
              <a:t>(</a:t>
            </a:r>
            <a:r>
              <a:rPr sz="900" i="1" dirty="0">
                <a:latin typeface="Arial"/>
                <a:cs typeface="Arial"/>
              </a:rPr>
              <a:t>m</a:t>
            </a:r>
            <a:r>
              <a:rPr sz="900" dirty="0">
                <a:latin typeface="Arial"/>
                <a:cs typeface="Arial"/>
              </a:rPr>
              <a:t>)</a:t>
            </a:r>
            <a:r>
              <a:rPr sz="900" spc="-25" dirty="0">
                <a:latin typeface="Arial"/>
                <a:cs typeface="Arial"/>
              </a:rPr>
              <a:t> </a:t>
            </a:r>
            <a:r>
              <a:rPr sz="900" spc="185" dirty="0">
                <a:latin typeface="Arial"/>
                <a:cs typeface="Arial"/>
              </a:rPr>
              <a:t>=</a:t>
            </a:r>
            <a:r>
              <a:rPr sz="900" spc="-25" dirty="0">
                <a:latin typeface="Arial"/>
                <a:cs typeface="Arial"/>
              </a:rPr>
              <a:t> </a:t>
            </a:r>
            <a:r>
              <a:rPr sz="900" i="1" spc="-10" dirty="0">
                <a:latin typeface="Arial"/>
                <a:cs typeface="Arial"/>
              </a:rPr>
              <a:t>C</a:t>
            </a:r>
            <a:r>
              <a:rPr sz="1050" i="1" spc="-15" baseline="-15873" dirty="0">
                <a:latin typeface="Arial"/>
                <a:cs typeface="Arial"/>
              </a:rPr>
              <a:t>i</a:t>
            </a:r>
            <a:r>
              <a:rPr sz="1050" i="1" spc="-104" baseline="-15873" dirty="0">
                <a:latin typeface="Arial"/>
                <a:cs typeface="Arial"/>
              </a:rPr>
              <a:t> </a:t>
            </a:r>
            <a:r>
              <a:rPr sz="900" spc="-50" dirty="0">
                <a:latin typeface="Arial"/>
                <a:cs typeface="Arial"/>
              </a:rPr>
              <a:t>.</a:t>
            </a:r>
            <a:endParaRPr sz="900">
              <a:latin typeface="Arial"/>
              <a:cs typeface="Arial"/>
            </a:endParaRPr>
          </a:p>
          <a:p>
            <a:pPr marL="303530" marR="75565" indent="-158750" algn="just">
              <a:lnSpc>
                <a:spcPct val="111600"/>
              </a:lnSpc>
              <a:buClr>
                <a:srgbClr val="3333B2"/>
              </a:buClr>
              <a:buAutoNum type="arabicPeriod"/>
              <a:tabLst>
                <a:tab pos="298450" algn="l"/>
              </a:tabLst>
            </a:pPr>
            <a:r>
              <a:rPr sz="900" spc="-15" dirty="0">
                <a:latin typeface="Arial"/>
                <a:cs typeface="Arial"/>
              </a:rPr>
              <a:t>Whenever</a:t>
            </a:r>
            <a:r>
              <a:rPr sz="900" spc="-5" dirty="0">
                <a:latin typeface="Arial"/>
                <a:cs typeface="Arial"/>
              </a:rPr>
              <a:t> a </a:t>
            </a:r>
            <a:r>
              <a:rPr sz="900" spc="-10" dirty="0">
                <a:latin typeface="Arial"/>
                <a:cs typeface="Arial"/>
              </a:rPr>
              <a:t>message</a:t>
            </a:r>
            <a:r>
              <a:rPr sz="900" spc="-5" dirty="0">
                <a:latin typeface="Arial"/>
                <a:cs typeface="Arial"/>
              </a:rPr>
              <a:t> </a:t>
            </a:r>
            <a:r>
              <a:rPr sz="900" i="1" spc="-10" dirty="0">
                <a:latin typeface="Arial"/>
                <a:cs typeface="Arial"/>
              </a:rPr>
              <a:t>m</a:t>
            </a:r>
            <a:r>
              <a:rPr sz="900" i="1" spc="15" dirty="0">
                <a:latin typeface="Arial"/>
                <a:cs typeface="Arial"/>
              </a:rPr>
              <a:t> </a:t>
            </a:r>
            <a:r>
              <a:rPr sz="900" spc="-5" dirty="0">
                <a:latin typeface="Arial"/>
                <a:cs typeface="Arial"/>
              </a:rPr>
              <a:t>is </a:t>
            </a:r>
            <a:r>
              <a:rPr sz="900" spc="-10" dirty="0">
                <a:solidFill>
                  <a:srgbClr val="3333B2"/>
                </a:solidFill>
                <a:latin typeface="Arial"/>
                <a:cs typeface="Arial"/>
              </a:rPr>
              <a:t>received</a:t>
            </a:r>
            <a:r>
              <a:rPr sz="900" spc="-5" dirty="0">
                <a:solidFill>
                  <a:srgbClr val="3333B2"/>
                </a:solidFill>
                <a:latin typeface="Arial"/>
                <a:cs typeface="Arial"/>
              </a:rPr>
              <a:t> </a:t>
            </a:r>
            <a:r>
              <a:rPr sz="900" spc="-15" dirty="0">
                <a:latin typeface="Arial"/>
                <a:cs typeface="Arial"/>
              </a:rPr>
              <a:t>by</a:t>
            </a:r>
            <a:r>
              <a:rPr sz="900" spc="-5" dirty="0">
                <a:latin typeface="Arial"/>
                <a:cs typeface="Arial"/>
              </a:rPr>
              <a:t> a process </a:t>
            </a:r>
            <a:r>
              <a:rPr sz="900" i="1" spc="-5" dirty="0">
                <a:latin typeface="Arial"/>
                <a:cs typeface="Arial"/>
              </a:rPr>
              <a:t>P</a:t>
            </a:r>
            <a:r>
              <a:rPr sz="1050" i="1" spc="-7" baseline="-15873" dirty="0">
                <a:latin typeface="Arial"/>
                <a:cs typeface="Arial"/>
              </a:rPr>
              <a:t>j</a:t>
            </a:r>
            <a:r>
              <a:rPr sz="1050" i="1" spc="-127" baseline="-15873" dirty="0">
                <a:latin typeface="Arial"/>
                <a:cs typeface="Arial"/>
              </a:rPr>
              <a:t> </a:t>
            </a:r>
            <a:r>
              <a:rPr sz="900" spc="-5" dirty="0">
                <a:latin typeface="Arial"/>
                <a:cs typeface="Arial"/>
              </a:rPr>
              <a:t>, </a:t>
            </a:r>
            <a:r>
              <a:rPr sz="900" i="1" spc="-5" dirty="0">
                <a:latin typeface="Arial"/>
                <a:cs typeface="Arial"/>
              </a:rPr>
              <a:t>P</a:t>
            </a:r>
            <a:r>
              <a:rPr sz="1050" i="1" spc="-7" baseline="-15873" dirty="0">
                <a:latin typeface="Arial"/>
                <a:cs typeface="Arial"/>
              </a:rPr>
              <a:t>j</a:t>
            </a:r>
            <a:r>
              <a:rPr sz="1050" i="1" spc="240" baseline="-15873" dirty="0">
                <a:latin typeface="Arial"/>
                <a:cs typeface="Arial"/>
              </a:rPr>
              <a:t> </a:t>
            </a:r>
            <a:r>
              <a:rPr sz="900" spc="-5" dirty="0">
                <a:latin typeface="Arial"/>
                <a:cs typeface="Arial"/>
              </a:rPr>
              <a:t>adjusts its local counter </a:t>
            </a:r>
            <a:r>
              <a:rPr sz="900" i="1" spc="-10" dirty="0">
                <a:latin typeface="Arial"/>
                <a:cs typeface="Arial"/>
              </a:rPr>
              <a:t>C</a:t>
            </a:r>
            <a:r>
              <a:rPr sz="1050" i="1" spc="-15" baseline="-15873" dirty="0">
                <a:latin typeface="Arial"/>
                <a:cs typeface="Arial"/>
              </a:rPr>
              <a:t>j</a:t>
            </a:r>
            <a:r>
              <a:rPr sz="1050" i="1" spc="240" baseline="-15873" dirty="0">
                <a:latin typeface="Arial"/>
                <a:cs typeface="Arial"/>
              </a:rPr>
              <a:t> </a:t>
            </a:r>
            <a:r>
              <a:rPr sz="900" spc="-5" dirty="0">
                <a:latin typeface="Arial"/>
                <a:cs typeface="Arial"/>
              </a:rPr>
              <a:t>to </a:t>
            </a:r>
            <a:r>
              <a:rPr sz="900" spc="-40" dirty="0">
                <a:solidFill>
                  <a:srgbClr val="C80000"/>
                </a:solidFill>
                <a:latin typeface="Arial"/>
                <a:cs typeface="Arial"/>
              </a:rPr>
              <a:t>max</a:t>
            </a:r>
            <a:r>
              <a:rPr sz="900" i="1" spc="-40" dirty="0">
                <a:solidFill>
                  <a:srgbClr val="C80000"/>
                </a:solidFill>
                <a:latin typeface="Menlo"/>
                <a:cs typeface="Menlo"/>
              </a:rPr>
              <a:t>{</a:t>
            </a:r>
            <a:r>
              <a:rPr sz="900" i="1" spc="-40" dirty="0">
                <a:solidFill>
                  <a:srgbClr val="C80000"/>
                </a:solidFill>
                <a:latin typeface="Arial"/>
                <a:cs typeface="Arial"/>
              </a:rPr>
              <a:t>C</a:t>
            </a:r>
            <a:r>
              <a:rPr sz="1050" i="1" spc="-60" baseline="-15873" dirty="0">
                <a:solidFill>
                  <a:srgbClr val="C80000"/>
                </a:solidFill>
                <a:latin typeface="Arial"/>
                <a:cs typeface="Arial"/>
              </a:rPr>
              <a:t>j</a:t>
            </a:r>
            <a:r>
              <a:rPr sz="1050" i="1" spc="-127" baseline="-15873" dirty="0">
                <a:solidFill>
                  <a:srgbClr val="C80000"/>
                </a:solidFill>
                <a:latin typeface="Arial"/>
                <a:cs typeface="Arial"/>
              </a:rPr>
              <a:t> </a:t>
            </a:r>
            <a:r>
              <a:rPr sz="900" i="1" spc="30" dirty="0">
                <a:solidFill>
                  <a:srgbClr val="C80000"/>
                </a:solidFill>
                <a:latin typeface="STIX Two Text"/>
                <a:cs typeface="STIX Two Text"/>
              </a:rPr>
              <a:t>,</a:t>
            </a:r>
            <a:r>
              <a:rPr sz="900" i="1" spc="-105" dirty="0">
                <a:solidFill>
                  <a:srgbClr val="C80000"/>
                </a:solidFill>
                <a:latin typeface="STIX Two Text"/>
                <a:cs typeface="STIX Two Text"/>
              </a:rPr>
              <a:t> </a:t>
            </a:r>
            <a:r>
              <a:rPr sz="900" i="1" spc="5" dirty="0">
                <a:solidFill>
                  <a:srgbClr val="C80000"/>
                </a:solidFill>
                <a:latin typeface="Arial"/>
                <a:cs typeface="Arial"/>
              </a:rPr>
              <a:t>ts</a:t>
            </a:r>
            <a:r>
              <a:rPr sz="900" spc="5" dirty="0">
                <a:solidFill>
                  <a:srgbClr val="C80000"/>
                </a:solidFill>
                <a:latin typeface="Arial"/>
                <a:cs typeface="Arial"/>
              </a:rPr>
              <a:t>(</a:t>
            </a:r>
            <a:r>
              <a:rPr sz="900" i="1" spc="5" dirty="0">
                <a:solidFill>
                  <a:srgbClr val="C80000"/>
                </a:solidFill>
                <a:latin typeface="Arial"/>
                <a:cs typeface="Arial"/>
              </a:rPr>
              <a:t>m</a:t>
            </a:r>
            <a:r>
              <a:rPr sz="900" spc="5" dirty="0">
                <a:solidFill>
                  <a:srgbClr val="C80000"/>
                </a:solidFill>
                <a:latin typeface="Arial"/>
                <a:cs typeface="Arial"/>
              </a:rPr>
              <a:t>)</a:t>
            </a:r>
            <a:r>
              <a:rPr sz="900" i="1" spc="5" dirty="0">
                <a:solidFill>
                  <a:srgbClr val="C80000"/>
                </a:solidFill>
                <a:latin typeface="Menlo"/>
                <a:cs typeface="Menlo"/>
              </a:rPr>
              <a:t>}</a:t>
            </a:r>
            <a:r>
              <a:rPr sz="900" spc="5" dirty="0">
                <a:latin typeface="Arial"/>
                <a:cs typeface="Arial"/>
              </a:rPr>
              <a:t>;</a:t>
            </a:r>
            <a:r>
              <a:rPr sz="900" spc="-5" dirty="0">
                <a:latin typeface="Arial"/>
                <a:cs typeface="Arial"/>
              </a:rPr>
              <a:t> then </a:t>
            </a:r>
            <a:r>
              <a:rPr sz="900" spc="-15" dirty="0">
                <a:latin typeface="Arial"/>
                <a:cs typeface="Arial"/>
              </a:rPr>
              <a:t>executes</a:t>
            </a:r>
            <a:r>
              <a:rPr sz="900" spc="-5" dirty="0">
                <a:latin typeface="Arial"/>
                <a:cs typeface="Arial"/>
              </a:rPr>
              <a:t> step 1 </a:t>
            </a:r>
            <a:r>
              <a:rPr sz="900" spc="-10" dirty="0">
                <a:latin typeface="Arial"/>
                <a:cs typeface="Arial"/>
              </a:rPr>
              <a:t>before</a:t>
            </a:r>
            <a:r>
              <a:rPr sz="900" spc="-5" dirty="0">
                <a:latin typeface="Arial"/>
                <a:cs typeface="Arial"/>
              </a:rPr>
              <a:t> passing </a:t>
            </a:r>
            <a:r>
              <a:rPr sz="900" i="1" spc="-10" dirty="0">
                <a:latin typeface="Arial"/>
                <a:cs typeface="Arial"/>
              </a:rPr>
              <a:t>m</a:t>
            </a:r>
            <a:r>
              <a:rPr sz="900" i="1" spc="15" dirty="0">
                <a:latin typeface="Arial"/>
                <a:cs typeface="Arial"/>
              </a:rPr>
              <a:t> </a:t>
            </a:r>
            <a:r>
              <a:rPr sz="900" spc="-5" dirty="0">
                <a:latin typeface="Arial"/>
                <a:cs typeface="Arial"/>
              </a:rPr>
              <a:t>to the application.</a:t>
            </a:r>
            <a:endParaRPr sz="900">
              <a:latin typeface="Arial"/>
              <a:cs typeface="Arial"/>
            </a:endParaRPr>
          </a:p>
          <a:p>
            <a:pPr>
              <a:lnSpc>
                <a:spcPct val="100000"/>
              </a:lnSpc>
              <a:spcBef>
                <a:spcPts val="15"/>
              </a:spcBef>
              <a:buClr>
                <a:srgbClr val="3333B2"/>
              </a:buClr>
              <a:buFont typeface="Arial"/>
              <a:buAutoNum type="arabicPeriod"/>
            </a:pPr>
            <a:endParaRPr sz="1200">
              <a:latin typeface="Arial"/>
              <a:cs typeface="Arial"/>
            </a:endParaRPr>
          </a:p>
          <a:p>
            <a:pPr marL="50800">
              <a:lnSpc>
                <a:spcPct val="100000"/>
              </a:lnSpc>
            </a:pPr>
            <a:r>
              <a:rPr sz="1000" spc="-10" dirty="0">
                <a:solidFill>
                  <a:srgbClr val="3333B2"/>
                </a:solidFill>
                <a:latin typeface="Arial"/>
                <a:cs typeface="Arial"/>
              </a:rPr>
              <a:t>Notes</a:t>
            </a:r>
            <a:endParaRPr sz="1000">
              <a:latin typeface="Arial"/>
              <a:cs typeface="Arial"/>
            </a:endParaRPr>
          </a:p>
          <a:p>
            <a:pPr marL="303530" lvl="1" indent="-120650">
              <a:lnSpc>
                <a:spcPct val="100000"/>
              </a:lnSpc>
              <a:spcBef>
                <a:spcPts val="505"/>
              </a:spcBef>
              <a:buClr>
                <a:srgbClr val="3333B2"/>
              </a:buClr>
              <a:buFont typeface="Menlo"/>
              <a:buChar char="•"/>
              <a:tabLst>
                <a:tab pos="304165" algn="l"/>
              </a:tabLst>
            </a:pPr>
            <a:r>
              <a:rPr sz="900" dirty="0">
                <a:latin typeface="Arial"/>
                <a:cs typeface="Arial"/>
              </a:rPr>
              <a:t>Property</a:t>
            </a:r>
            <a:r>
              <a:rPr sz="900" spc="-20" dirty="0">
                <a:latin typeface="Arial"/>
                <a:cs typeface="Arial"/>
              </a:rPr>
              <a:t> </a:t>
            </a:r>
            <a:r>
              <a:rPr sz="900" dirty="0">
                <a:solidFill>
                  <a:srgbClr val="3333B2"/>
                </a:solidFill>
                <a:latin typeface="Arial"/>
                <a:cs typeface="Arial"/>
              </a:rPr>
              <a:t>P1</a:t>
            </a:r>
            <a:r>
              <a:rPr sz="900" spc="-20" dirty="0">
                <a:solidFill>
                  <a:srgbClr val="3333B2"/>
                </a:solidFill>
                <a:latin typeface="Arial"/>
                <a:cs typeface="Arial"/>
              </a:rPr>
              <a:t> </a:t>
            </a:r>
            <a:r>
              <a:rPr sz="900" dirty="0">
                <a:latin typeface="Arial"/>
                <a:cs typeface="Arial"/>
              </a:rPr>
              <a:t>is</a:t>
            </a:r>
            <a:r>
              <a:rPr sz="900" spc="-20" dirty="0">
                <a:latin typeface="Arial"/>
                <a:cs typeface="Arial"/>
              </a:rPr>
              <a:t> </a:t>
            </a:r>
            <a:r>
              <a:rPr sz="900" dirty="0">
                <a:latin typeface="Arial"/>
                <a:cs typeface="Arial"/>
              </a:rPr>
              <a:t>satisfied</a:t>
            </a:r>
            <a:r>
              <a:rPr sz="900" spc="-20" dirty="0">
                <a:latin typeface="Arial"/>
                <a:cs typeface="Arial"/>
              </a:rPr>
              <a:t> </a:t>
            </a:r>
            <a:r>
              <a:rPr sz="900" dirty="0">
                <a:latin typeface="Arial"/>
                <a:cs typeface="Arial"/>
              </a:rPr>
              <a:t>by</a:t>
            </a:r>
            <a:r>
              <a:rPr sz="900" spc="-20" dirty="0">
                <a:latin typeface="Arial"/>
                <a:cs typeface="Arial"/>
              </a:rPr>
              <a:t> </a:t>
            </a:r>
            <a:r>
              <a:rPr sz="900" dirty="0">
                <a:latin typeface="Arial"/>
                <a:cs typeface="Arial"/>
              </a:rPr>
              <a:t>(1);</a:t>
            </a:r>
            <a:r>
              <a:rPr sz="900" spc="-20" dirty="0">
                <a:latin typeface="Arial"/>
                <a:cs typeface="Arial"/>
              </a:rPr>
              <a:t> </a:t>
            </a:r>
            <a:r>
              <a:rPr sz="900" dirty="0">
                <a:latin typeface="Arial"/>
                <a:cs typeface="Arial"/>
              </a:rPr>
              <a:t>Property</a:t>
            </a:r>
            <a:r>
              <a:rPr sz="900" spc="-20" dirty="0">
                <a:latin typeface="Arial"/>
                <a:cs typeface="Arial"/>
              </a:rPr>
              <a:t> </a:t>
            </a:r>
            <a:r>
              <a:rPr sz="900" dirty="0">
                <a:solidFill>
                  <a:srgbClr val="3333B2"/>
                </a:solidFill>
                <a:latin typeface="Arial"/>
                <a:cs typeface="Arial"/>
              </a:rPr>
              <a:t>P2</a:t>
            </a:r>
            <a:r>
              <a:rPr sz="900" spc="-15" dirty="0">
                <a:solidFill>
                  <a:srgbClr val="3333B2"/>
                </a:solidFill>
                <a:latin typeface="Arial"/>
                <a:cs typeface="Arial"/>
              </a:rPr>
              <a:t> </a:t>
            </a:r>
            <a:r>
              <a:rPr sz="900" dirty="0">
                <a:latin typeface="Arial"/>
                <a:cs typeface="Arial"/>
              </a:rPr>
              <a:t>by</a:t>
            </a:r>
            <a:r>
              <a:rPr sz="900" spc="-20" dirty="0">
                <a:latin typeface="Arial"/>
                <a:cs typeface="Arial"/>
              </a:rPr>
              <a:t> </a:t>
            </a:r>
            <a:r>
              <a:rPr sz="900" dirty="0">
                <a:latin typeface="Arial"/>
                <a:cs typeface="Arial"/>
              </a:rPr>
              <a:t>(2)</a:t>
            </a:r>
            <a:r>
              <a:rPr sz="900" spc="-20" dirty="0">
                <a:latin typeface="Arial"/>
                <a:cs typeface="Arial"/>
              </a:rPr>
              <a:t> </a:t>
            </a:r>
            <a:r>
              <a:rPr sz="900" dirty="0">
                <a:latin typeface="Arial"/>
                <a:cs typeface="Arial"/>
              </a:rPr>
              <a:t>and</a:t>
            </a:r>
            <a:r>
              <a:rPr sz="900" spc="-20" dirty="0">
                <a:latin typeface="Arial"/>
                <a:cs typeface="Arial"/>
              </a:rPr>
              <a:t> (3).</a:t>
            </a:r>
            <a:endParaRPr sz="900">
              <a:latin typeface="Arial"/>
              <a:cs typeface="Arial"/>
            </a:endParaRPr>
          </a:p>
          <a:p>
            <a:pPr marL="303530" marR="100965" lvl="1" indent="-120650">
              <a:lnSpc>
                <a:spcPct val="111600"/>
              </a:lnSpc>
              <a:buClr>
                <a:srgbClr val="3333B2"/>
              </a:buClr>
              <a:buFont typeface="Menlo"/>
              <a:buChar char="•"/>
              <a:tabLst>
                <a:tab pos="304165" algn="l"/>
              </a:tabLst>
            </a:pPr>
            <a:r>
              <a:rPr sz="900" dirty="0">
                <a:latin typeface="Arial"/>
                <a:cs typeface="Arial"/>
              </a:rPr>
              <a:t>It</a:t>
            </a:r>
            <a:r>
              <a:rPr sz="900" spc="-25" dirty="0">
                <a:latin typeface="Arial"/>
                <a:cs typeface="Arial"/>
              </a:rPr>
              <a:t> </a:t>
            </a:r>
            <a:r>
              <a:rPr sz="900" dirty="0">
                <a:latin typeface="Arial"/>
                <a:cs typeface="Arial"/>
              </a:rPr>
              <a:t>can</a:t>
            </a:r>
            <a:r>
              <a:rPr sz="900" spc="-25" dirty="0">
                <a:latin typeface="Arial"/>
                <a:cs typeface="Arial"/>
              </a:rPr>
              <a:t> </a:t>
            </a:r>
            <a:r>
              <a:rPr sz="900" dirty="0">
                <a:latin typeface="Arial"/>
                <a:cs typeface="Arial"/>
              </a:rPr>
              <a:t>still</a:t>
            </a:r>
            <a:r>
              <a:rPr sz="900" spc="-25" dirty="0">
                <a:latin typeface="Arial"/>
                <a:cs typeface="Arial"/>
              </a:rPr>
              <a:t> </a:t>
            </a:r>
            <a:r>
              <a:rPr sz="900" dirty="0">
                <a:latin typeface="Arial"/>
                <a:cs typeface="Arial"/>
              </a:rPr>
              <a:t>occur</a:t>
            </a:r>
            <a:r>
              <a:rPr sz="900" spc="-25" dirty="0">
                <a:latin typeface="Arial"/>
                <a:cs typeface="Arial"/>
              </a:rPr>
              <a:t> </a:t>
            </a:r>
            <a:r>
              <a:rPr sz="900" dirty="0">
                <a:latin typeface="Arial"/>
                <a:cs typeface="Arial"/>
              </a:rPr>
              <a:t>that</a:t>
            </a:r>
            <a:r>
              <a:rPr sz="900" spc="-25" dirty="0">
                <a:latin typeface="Arial"/>
                <a:cs typeface="Arial"/>
              </a:rPr>
              <a:t> </a:t>
            </a:r>
            <a:r>
              <a:rPr sz="900" dirty="0">
                <a:latin typeface="Arial"/>
                <a:cs typeface="Arial"/>
              </a:rPr>
              <a:t>two</a:t>
            </a:r>
            <a:r>
              <a:rPr sz="900" spc="-20" dirty="0">
                <a:latin typeface="Arial"/>
                <a:cs typeface="Arial"/>
              </a:rPr>
              <a:t> </a:t>
            </a:r>
            <a:r>
              <a:rPr sz="900" spc="-10" dirty="0">
                <a:latin typeface="Arial"/>
                <a:cs typeface="Arial"/>
              </a:rPr>
              <a:t>events</a:t>
            </a:r>
            <a:r>
              <a:rPr sz="900" spc="-25" dirty="0">
                <a:latin typeface="Arial"/>
                <a:cs typeface="Arial"/>
              </a:rPr>
              <a:t> </a:t>
            </a:r>
            <a:r>
              <a:rPr sz="900" dirty="0">
                <a:latin typeface="Arial"/>
                <a:cs typeface="Arial"/>
              </a:rPr>
              <a:t>happen</a:t>
            </a:r>
            <a:r>
              <a:rPr sz="900" spc="-25" dirty="0">
                <a:latin typeface="Arial"/>
                <a:cs typeface="Arial"/>
              </a:rPr>
              <a:t> </a:t>
            </a:r>
            <a:r>
              <a:rPr sz="900" dirty="0">
                <a:latin typeface="Arial"/>
                <a:cs typeface="Arial"/>
              </a:rPr>
              <a:t>at</a:t>
            </a:r>
            <a:r>
              <a:rPr sz="900" spc="-25" dirty="0">
                <a:latin typeface="Arial"/>
                <a:cs typeface="Arial"/>
              </a:rPr>
              <a:t> </a:t>
            </a:r>
            <a:r>
              <a:rPr sz="900" dirty="0">
                <a:latin typeface="Arial"/>
                <a:cs typeface="Arial"/>
              </a:rPr>
              <a:t>the</a:t>
            </a:r>
            <a:r>
              <a:rPr sz="900" spc="-25" dirty="0">
                <a:latin typeface="Arial"/>
                <a:cs typeface="Arial"/>
              </a:rPr>
              <a:t> </a:t>
            </a:r>
            <a:r>
              <a:rPr sz="900" dirty="0">
                <a:latin typeface="Arial"/>
                <a:cs typeface="Arial"/>
              </a:rPr>
              <a:t>same</a:t>
            </a:r>
            <a:r>
              <a:rPr sz="900" spc="-25" dirty="0">
                <a:latin typeface="Arial"/>
                <a:cs typeface="Arial"/>
              </a:rPr>
              <a:t> </a:t>
            </a:r>
            <a:r>
              <a:rPr sz="900" dirty="0">
                <a:latin typeface="Arial"/>
                <a:cs typeface="Arial"/>
              </a:rPr>
              <a:t>time.</a:t>
            </a:r>
            <a:r>
              <a:rPr sz="900" spc="35" dirty="0">
                <a:latin typeface="Arial"/>
                <a:cs typeface="Arial"/>
              </a:rPr>
              <a:t> </a:t>
            </a:r>
            <a:r>
              <a:rPr sz="900" spc="-10" dirty="0">
                <a:latin typeface="Arial"/>
                <a:cs typeface="Arial"/>
              </a:rPr>
              <a:t>Avoid</a:t>
            </a:r>
            <a:r>
              <a:rPr sz="900" spc="-25" dirty="0">
                <a:latin typeface="Arial"/>
                <a:cs typeface="Arial"/>
              </a:rPr>
              <a:t> </a:t>
            </a:r>
            <a:r>
              <a:rPr sz="900" dirty="0">
                <a:latin typeface="Arial"/>
                <a:cs typeface="Arial"/>
              </a:rPr>
              <a:t>this</a:t>
            </a:r>
            <a:r>
              <a:rPr sz="900" spc="-25" dirty="0">
                <a:latin typeface="Arial"/>
                <a:cs typeface="Arial"/>
              </a:rPr>
              <a:t> by </a:t>
            </a:r>
            <a:r>
              <a:rPr sz="900" dirty="0">
                <a:solidFill>
                  <a:srgbClr val="3333B2"/>
                </a:solidFill>
                <a:latin typeface="Arial"/>
                <a:cs typeface="Arial"/>
              </a:rPr>
              <a:t>breaking</a:t>
            </a:r>
            <a:r>
              <a:rPr sz="900" spc="-35" dirty="0">
                <a:solidFill>
                  <a:srgbClr val="3333B2"/>
                </a:solidFill>
                <a:latin typeface="Arial"/>
                <a:cs typeface="Arial"/>
              </a:rPr>
              <a:t> </a:t>
            </a:r>
            <a:r>
              <a:rPr sz="900" dirty="0">
                <a:solidFill>
                  <a:srgbClr val="3333B2"/>
                </a:solidFill>
                <a:latin typeface="Arial"/>
                <a:cs typeface="Arial"/>
              </a:rPr>
              <a:t>ties</a:t>
            </a:r>
            <a:r>
              <a:rPr sz="900" spc="-35" dirty="0">
                <a:solidFill>
                  <a:srgbClr val="3333B2"/>
                </a:solidFill>
                <a:latin typeface="Arial"/>
                <a:cs typeface="Arial"/>
              </a:rPr>
              <a:t> </a:t>
            </a:r>
            <a:r>
              <a:rPr sz="900" dirty="0">
                <a:solidFill>
                  <a:srgbClr val="3333B2"/>
                </a:solidFill>
                <a:latin typeface="Arial"/>
                <a:cs typeface="Arial"/>
              </a:rPr>
              <a:t>through</a:t>
            </a:r>
            <a:r>
              <a:rPr sz="900" spc="-30" dirty="0">
                <a:solidFill>
                  <a:srgbClr val="3333B2"/>
                </a:solidFill>
                <a:latin typeface="Arial"/>
                <a:cs typeface="Arial"/>
              </a:rPr>
              <a:t> </a:t>
            </a:r>
            <a:r>
              <a:rPr sz="900" dirty="0">
                <a:solidFill>
                  <a:srgbClr val="3333B2"/>
                </a:solidFill>
                <a:latin typeface="Arial"/>
                <a:cs typeface="Arial"/>
              </a:rPr>
              <a:t>process</a:t>
            </a:r>
            <a:r>
              <a:rPr sz="900" spc="-35" dirty="0">
                <a:solidFill>
                  <a:srgbClr val="3333B2"/>
                </a:solidFill>
                <a:latin typeface="Arial"/>
                <a:cs typeface="Arial"/>
              </a:rPr>
              <a:t> </a:t>
            </a:r>
            <a:r>
              <a:rPr sz="900" spc="-20" dirty="0">
                <a:solidFill>
                  <a:srgbClr val="3333B2"/>
                </a:solidFill>
                <a:latin typeface="Arial"/>
                <a:cs typeface="Arial"/>
              </a:rPr>
              <a:t>IDs</a:t>
            </a:r>
            <a:r>
              <a:rPr sz="900" spc="-20" dirty="0">
                <a:latin typeface="Arial"/>
                <a:cs typeface="Arial"/>
              </a:rPr>
              <a:t>.</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691515"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3" action="ppaction://hlinksldjump"/>
              </a:rPr>
              <a:t>Lamport’s</a:t>
            </a:r>
            <a:r>
              <a:rPr sz="500" spc="15" dirty="0">
                <a:latin typeface="Arial"/>
                <a:cs typeface="Arial"/>
                <a:hlinkClick r:id="rId3" action="ppaction://hlinksldjump"/>
              </a:rPr>
              <a:t> </a:t>
            </a:r>
            <a:r>
              <a:rPr sz="500" dirty="0">
                <a:latin typeface="Arial"/>
                <a:cs typeface="Arial"/>
                <a:hlinkClick r:id="rId3" action="ppaction://hlinksldjump"/>
              </a:rPr>
              <a:t>logical</a:t>
            </a:r>
            <a:r>
              <a:rPr sz="500" spc="15" dirty="0">
                <a:latin typeface="Arial"/>
                <a:cs typeface="Arial"/>
                <a:hlinkClick r:id="rId3" action="ppaction://hlinksldjump"/>
              </a:rPr>
              <a:t> </a:t>
            </a:r>
            <a:r>
              <a:rPr sz="500" spc="-10" dirty="0">
                <a:latin typeface="Arial"/>
                <a:cs typeface="Arial"/>
                <a:hlinkClick r:id="rId3" action="ppaction://hlinksldjump"/>
              </a:rPr>
              <a:t>clocks</a:t>
            </a:r>
            <a:endParaRPr sz="500">
              <a:latin typeface="Arial"/>
              <a:cs typeface="Arial"/>
            </a:endParaRP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8417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3" action="ppaction://hlinksldjump"/>
              </a:rPr>
              <a:t>Coordination</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136644" y="-1515"/>
            <a:ext cx="41846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4" action="ppaction://hlinksldjump"/>
              </a:rPr>
              <a:t>Logical</a:t>
            </a:r>
            <a:r>
              <a:rPr sz="500" spc="-25" dirty="0">
                <a:solidFill>
                  <a:srgbClr val="FFFFFF"/>
                </a:solidFill>
                <a:latin typeface="Arial"/>
                <a:cs typeface="Arial"/>
                <a:hlinkClick r:id="rId4" action="ppaction://hlinksldjump"/>
              </a:rPr>
              <a:t> </a:t>
            </a:r>
            <a:r>
              <a:rPr sz="500" spc="-10" dirty="0">
                <a:solidFill>
                  <a:srgbClr val="FFFFFF"/>
                </a:solidFill>
                <a:latin typeface="Arial"/>
                <a:cs typeface="Arial"/>
                <a:hlinkClick r:id="rId4" action="ppaction://hlinksldjump"/>
              </a:rPr>
              <a:t>clocks</a:t>
            </a:r>
            <a:endParaRPr sz="500">
              <a:latin typeface="Arial"/>
              <a:cs typeface="Arial"/>
            </a:endParaRPr>
          </a:p>
        </p:txBody>
      </p:sp>
      <p:sp>
        <p:nvSpPr>
          <p:cNvPr id="5" name="object 5"/>
          <p:cNvSpPr txBox="1"/>
          <p:nvPr/>
        </p:nvSpPr>
        <p:spPr>
          <a:xfrm>
            <a:off x="95300" y="197711"/>
            <a:ext cx="4027804" cy="628650"/>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Logical</a:t>
            </a:r>
            <a:r>
              <a:rPr sz="1200" spc="-50" dirty="0">
                <a:solidFill>
                  <a:srgbClr val="3333B2"/>
                </a:solidFill>
                <a:latin typeface="Arial"/>
                <a:cs typeface="Arial"/>
              </a:rPr>
              <a:t> </a:t>
            </a:r>
            <a:r>
              <a:rPr sz="1200" dirty="0">
                <a:solidFill>
                  <a:srgbClr val="3333B2"/>
                </a:solidFill>
                <a:latin typeface="Arial"/>
                <a:cs typeface="Arial"/>
              </a:rPr>
              <a:t>clocks:</a:t>
            </a:r>
            <a:r>
              <a:rPr sz="1200" spc="20" dirty="0">
                <a:solidFill>
                  <a:srgbClr val="3333B2"/>
                </a:solidFill>
                <a:latin typeface="Arial"/>
                <a:cs typeface="Arial"/>
              </a:rPr>
              <a:t> </a:t>
            </a:r>
            <a:r>
              <a:rPr sz="1200" spc="-10" dirty="0">
                <a:solidFill>
                  <a:srgbClr val="3333B2"/>
                </a:solidFill>
                <a:latin typeface="Arial"/>
                <a:cs typeface="Arial"/>
              </a:rPr>
              <a:t>example</a:t>
            </a:r>
            <a:endParaRPr sz="1200">
              <a:latin typeface="Arial"/>
              <a:cs typeface="Arial"/>
            </a:endParaRPr>
          </a:p>
          <a:p>
            <a:pPr marL="264160" marR="5080">
              <a:lnSpc>
                <a:spcPct val="109600"/>
              </a:lnSpc>
              <a:spcBef>
                <a:spcPts val="680"/>
              </a:spcBef>
            </a:pPr>
            <a:r>
              <a:rPr sz="1000" dirty="0">
                <a:solidFill>
                  <a:srgbClr val="3333B2"/>
                </a:solidFill>
                <a:latin typeface="Arial"/>
                <a:cs typeface="Arial"/>
              </a:rPr>
              <a:t>Consider</a:t>
            </a:r>
            <a:r>
              <a:rPr sz="1000" spc="-40" dirty="0">
                <a:solidFill>
                  <a:srgbClr val="3333B2"/>
                </a:solidFill>
                <a:latin typeface="Arial"/>
                <a:cs typeface="Arial"/>
              </a:rPr>
              <a:t> </a:t>
            </a:r>
            <a:r>
              <a:rPr sz="1000" dirty="0">
                <a:solidFill>
                  <a:srgbClr val="3333B2"/>
                </a:solidFill>
                <a:latin typeface="Arial"/>
                <a:cs typeface="Arial"/>
              </a:rPr>
              <a:t>three</a:t>
            </a:r>
            <a:r>
              <a:rPr sz="1000" spc="-35" dirty="0">
                <a:solidFill>
                  <a:srgbClr val="3333B2"/>
                </a:solidFill>
                <a:latin typeface="Arial"/>
                <a:cs typeface="Arial"/>
              </a:rPr>
              <a:t> </a:t>
            </a:r>
            <a:r>
              <a:rPr sz="1000" dirty="0">
                <a:solidFill>
                  <a:srgbClr val="3333B2"/>
                </a:solidFill>
                <a:latin typeface="Arial"/>
                <a:cs typeface="Arial"/>
              </a:rPr>
              <a:t>processes</a:t>
            </a:r>
            <a:r>
              <a:rPr sz="1000" spc="-40" dirty="0">
                <a:solidFill>
                  <a:srgbClr val="3333B2"/>
                </a:solidFill>
                <a:latin typeface="Arial"/>
                <a:cs typeface="Arial"/>
              </a:rPr>
              <a:t> </a:t>
            </a:r>
            <a:r>
              <a:rPr sz="1000" dirty="0">
                <a:solidFill>
                  <a:srgbClr val="3333B2"/>
                </a:solidFill>
                <a:latin typeface="Arial"/>
                <a:cs typeface="Arial"/>
              </a:rPr>
              <a:t>with</a:t>
            </a:r>
            <a:r>
              <a:rPr sz="1000" spc="-35" dirty="0">
                <a:solidFill>
                  <a:srgbClr val="3333B2"/>
                </a:solidFill>
                <a:latin typeface="Arial"/>
                <a:cs typeface="Arial"/>
              </a:rPr>
              <a:t> </a:t>
            </a:r>
            <a:r>
              <a:rPr sz="1000" spc="-10" dirty="0">
                <a:solidFill>
                  <a:srgbClr val="C80000"/>
                </a:solidFill>
                <a:latin typeface="Arial"/>
                <a:cs typeface="Arial"/>
              </a:rPr>
              <a:t>event</a:t>
            </a:r>
            <a:r>
              <a:rPr sz="1000" spc="-35" dirty="0">
                <a:solidFill>
                  <a:srgbClr val="C80000"/>
                </a:solidFill>
                <a:latin typeface="Arial"/>
                <a:cs typeface="Arial"/>
              </a:rPr>
              <a:t> </a:t>
            </a:r>
            <a:r>
              <a:rPr sz="1000" dirty="0">
                <a:solidFill>
                  <a:srgbClr val="C80000"/>
                </a:solidFill>
                <a:latin typeface="Arial"/>
                <a:cs typeface="Arial"/>
              </a:rPr>
              <a:t>counters</a:t>
            </a:r>
            <a:r>
              <a:rPr sz="1000" spc="-40" dirty="0">
                <a:solidFill>
                  <a:srgbClr val="C80000"/>
                </a:solidFill>
                <a:latin typeface="Arial"/>
                <a:cs typeface="Arial"/>
              </a:rPr>
              <a:t> </a:t>
            </a:r>
            <a:r>
              <a:rPr sz="1000" dirty="0">
                <a:solidFill>
                  <a:srgbClr val="3333B2"/>
                </a:solidFill>
                <a:latin typeface="Arial"/>
                <a:cs typeface="Arial"/>
              </a:rPr>
              <a:t>operating</a:t>
            </a:r>
            <a:r>
              <a:rPr sz="1000" spc="-35" dirty="0">
                <a:solidFill>
                  <a:srgbClr val="3333B2"/>
                </a:solidFill>
                <a:latin typeface="Arial"/>
                <a:cs typeface="Arial"/>
              </a:rPr>
              <a:t> </a:t>
            </a:r>
            <a:r>
              <a:rPr sz="1000" dirty="0">
                <a:solidFill>
                  <a:srgbClr val="3333B2"/>
                </a:solidFill>
                <a:latin typeface="Arial"/>
                <a:cs typeface="Arial"/>
              </a:rPr>
              <a:t>at</a:t>
            </a:r>
            <a:r>
              <a:rPr sz="1000" spc="-35" dirty="0">
                <a:solidFill>
                  <a:srgbClr val="3333B2"/>
                </a:solidFill>
                <a:latin typeface="Arial"/>
                <a:cs typeface="Arial"/>
              </a:rPr>
              <a:t> </a:t>
            </a:r>
            <a:r>
              <a:rPr sz="1000" spc="-10" dirty="0">
                <a:solidFill>
                  <a:srgbClr val="3333B2"/>
                </a:solidFill>
                <a:latin typeface="Arial"/>
                <a:cs typeface="Arial"/>
              </a:rPr>
              <a:t>different rates</a:t>
            </a:r>
            <a:endParaRPr sz="1000">
              <a:latin typeface="Arial"/>
              <a:cs typeface="Arial"/>
            </a:endParaRPr>
          </a:p>
        </p:txBody>
      </p:sp>
      <p:pic>
        <p:nvPicPr>
          <p:cNvPr id="6" name="object 6"/>
          <p:cNvPicPr/>
          <p:nvPr/>
        </p:nvPicPr>
        <p:blipFill>
          <a:blip r:embed="rId5" cstate="print"/>
          <a:stretch>
            <a:fillRect/>
          </a:stretch>
        </p:blipFill>
        <p:spPr>
          <a:xfrm>
            <a:off x="668072" y="901407"/>
            <a:ext cx="1296867" cy="1358524"/>
          </a:xfrm>
          <a:prstGeom prst="rect">
            <a:avLst/>
          </a:prstGeom>
        </p:spPr>
      </p:pic>
      <p:pic>
        <p:nvPicPr>
          <p:cNvPr id="7" name="object 7"/>
          <p:cNvPicPr/>
          <p:nvPr/>
        </p:nvPicPr>
        <p:blipFill>
          <a:blip r:embed="rId6" cstate="print"/>
          <a:stretch>
            <a:fillRect/>
          </a:stretch>
        </p:blipFill>
        <p:spPr>
          <a:xfrm>
            <a:off x="2643109" y="901407"/>
            <a:ext cx="1296867" cy="1358524"/>
          </a:xfrm>
          <a:prstGeom prst="rect">
            <a:avLst/>
          </a:prstGeom>
        </p:spPr>
      </p:pic>
      <p:grpSp>
        <p:nvGrpSpPr>
          <p:cNvPr id="8" name="object 8"/>
          <p:cNvGrpSpPr/>
          <p:nvPr/>
        </p:nvGrpSpPr>
        <p:grpSpPr>
          <a:xfrm>
            <a:off x="0" y="3348469"/>
            <a:ext cx="4608195" cy="107950"/>
            <a:chOff x="0" y="3348469"/>
            <a:chExt cx="4608195" cy="107950"/>
          </a:xfrm>
        </p:grpSpPr>
        <p:sp>
          <p:nvSpPr>
            <p:cNvPr id="9" name="object 9"/>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0" name="object 10"/>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1" name="object 11"/>
          <p:cNvSpPr txBox="1"/>
          <p:nvPr/>
        </p:nvSpPr>
        <p:spPr>
          <a:xfrm>
            <a:off x="53467" y="3349927"/>
            <a:ext cx="691515"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4" action="ppaction://hlinksldjump"/>
              </a:rPr>
              <a:t>Lamport’s</a:t>
            </a:r>
            <a:r>
              <a:rPr sz="500" spc="15" dirty="0">
                <a:latin typeface="Arial"/>
                <a:cs typeface="Arial"/>
                <a:hlinkClick r:id="rId4" action="ppaction://hlinksldjump"/>
              </a:rPr>
              <a:t> </a:t>
            </a:r>
            <a:r>
              <a:rPr sz="500" dirty="0">
                <a:latin typeface="Arial"/>
                <a:cs typeface="Arial"/>
                <a:hlinkClick r:id="rId4" action="ppaction://hlinksldjump"/>
              </a:rPr>
              <a:t>logical</a:t>
            </a:r>
            <a:r>
              <a:rPr sz="500" spc="15" dirty="0">
                <a:latin typeface="Arial"/>
                <a:cs typeface="Arial"/>
                <a:hlinkClick r:id="rId4" action="ppaction://hlinksldjump"/>
              </a:rPr>
              <a:t> </a:t>
            </a:r>
            <a:r>
              <a:rPr sz="500" spc="-10" dirty="0">
                <a:latin typeface="Arial"/>
                <a:cs typeface="Arial"/>
                <a:hlinkClick r:id="rId4" action="ppaction://hlinksldjump"/>
              </a:rPr>
              <a:t>clocks</a:t>
            </a:r>
            <a:endParaRPr sz="500">
              <a:latin typeface="Arial"/>
              <a:cs typeface="Arial"/>
            </a:endParaRP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8417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Coordination</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136644" y="-1515"/>
            <a:ext cx="41846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Logical</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clocks</a:t>
            </a:r>
            <a:endParaRPr sz="500">
              <a:latin typeface="Arial"/>
              <a:cs typeface="Arial"/>
            </a:endParaRPr>
          </a:p>
        </p:txBody>
      </p:sp>
      <p:sp>
        <p:nvSpPr>
          <p:cNvPr id="5" name="object 5"/>
          <p:cNvSpPr txBox="1"/>
          <p:nvPr/>
        </p:nvSpPr>
        <p:spPr>
          <a:xfrm>
            <a:off x="95300" y="197711"/>
            <a:ext cx="2540000" cy="49466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Logical</a:t>
            </a:r>
            <a:r>
              <a:rPr sz="1200" spc="-50" dirty="0">
                <a:solidFill>
                  <a:srgbClr val="3333B2"/>
                </a:solidFill>
                <a:latin typeface="Arial"/>
                <a:cs typeface="Arial"/>
              </a:rPr>
              <a:t> </a:t>
            </a:r>
            <a:r>
              <a:rPr sz="1200" dirty="0">
                <a:solidFill>
                  <a:srgbClr val="3333B2"/>
                </a:solidFill>
                <a:latin typeface="Arial"/>
                <a:cs typeface="Arial"/>
              </a:rPr>
              <a:t>clocks:</a:t>
            </a:r>
            <a:r>
              <a:rPr sz="1200" spc="25" dirty="0">
                <a:solidFill>
                  <a:srgbClr val="3333B2"/>
                </a:solidFill>
                <a:latin typeface="Arial"/>
                <a:cs typeface="Arial"/>
              </a:rPr>
              <a:t> </a:t>
            </a:r>
            <a:r>
              <a:rPr sz="1200" dirty="0">
                <a:solidFill>
                  <a:srgbClr val="3333B2"/>
                </a:solidFill>
                <a:latin typeface="Arial"/>
                <a:cs typeface="Arial"/>
              </a:rPr>
              <a:t>where</a:t>
            </a:r>
            <a:r>
              <a:rPr sz="1200" spc="-45" dirty="0">
                <a:solidFill>
                  <a:srgbClr val="3333B2"/>
                </a:solidFill>
                <a:latin typeface="Arial"/>
                <a:cs typeface="Arial"/>
              </a:rPr>
              <a:t> </a:t>
            </a:r>
            <a:r>
              <a:rPr sz="1200" spc="-10" dirty="0">
                <a:solidFill>
                  <a:srgbClr val="3333B2"/>
                </a:solidFill>
                <a:latin typeface="Arial"/>
                <a:cs typeface="Arial"/>
              </a:rPr>
              <a:t>implemented</a:t>
            </a:r>
            <a:endParaRPr sz="1200">
              <a:latin typeface="Arial"/>
              <a:cs typeface="Arial"/>
            </a:endParaRPr>
          </a:p>
          <a:p>
            <a:pPr marL="260350">
              <a:lnSpc>
                <a:spcPct val="100000"/>
              </a:lnSpc>
              <a:spcBef>
                <a:spcPts val="1055"/>
              </a:spcBef>
            </a:pPr>
            <a:r>
              <a:rPr sz="1000" dirty="0">
                <a:solidFill>
                  <a:srgbClr val="3333B2"/>
                </a:solidFill>
                <a:latin typeface="Arial"/>
                <a:cs typeface="Arial"/>
              </a:rPr>
              <a:t>Adjustments</a:t>
            </a:r>
            <a:r>
              <a:rPr sz="1000" spc="-45" dirty="0">
                <a:solidFill>
                  <a:srgbClr val="3333B2"/>
                </a:solidFill>
                <a:latin typeface="Arial"/>
                <a:cs typeface="Arial"/>
              </a:rPr>
              <a:t> </a:t>
            </a:r>
            <a:r>
              <a:rPr sz="1000" dirty="0">
                <a:solidFill>
                  <a:srgbClr val="3333B2"/>
                </a:solidFill>
                <a:latin typeface="Arial"/>
                <a:cs typeface="Arial"/>
              </a:rPr>
              <a:t>implemented</a:t>
            </a:r>
            <a:r>
              <a:rPr sz="1000" spc="-45" dirty="0">
                <a:solidFill>
                  <a:srgbClr val="3333B2"/>
                </a:solidFill>
                <a:latin typeface="Arial"/>
                <a:cs typeface="Arial"/>
              </a:rPr>
              <a:t> </a:t>
            </a:r>
            <a:r>
              <a:rPr sz="1000" dirty="0">
                <a:solidFill>
                  <a:srgbClr val="3333B2"/>
                </a:solidFill>
                <a:latin typeface="Arial"/>
                <a:cs typeface="Arial"/>
              </a:rPr>
              <a:t>in</a:t>
            </a:r>
            <a:r>
              <a:rPr sz="1000" spc="-50" dirty="0">
                <a:solidFill>
                  <a:srgbClr val="3333B2"/>
                </a:solidFill>
                <a:latin typeface="Arial"/>
                <a:cs typeface="Arial"/>
              </a:rPr>
              <a:t> </a:t>
            </a:r>
            <a:r>
              <a:rPr sz="1000" spc="-10" dirty="0">
                <a:solidFill>
                  <a:srgbClr val="3333B2"/>
                </a:solidFill>
                <a:latin typeface="Arial"/>
                <a:cs typeface="Arial"/>
              </a:rPr>
              <a:t>middleware</a:t>
            </a:r>
            <a:endParaRPr sz="1000">
              <a:latin typeface="Arial"/>
              <a:cs typeface="Arial"/>
            </a:endParaRPr>
          </a:p>
        </p:txBody>
      </p:sp>
      <p:pic>
        <p:nvPicPr>
          <p:cNvPr id="6" name="object 6"/>
          <p:cNvPicPr/>
          <p:nvPr/>
        </p:nvPicPr>
        <p:blipFill>
          <a:blip r:embed="rId4" cstate="print"/>
          <a:stretch>
            <a:fillRect/>
          </a:stretch>
        </p:blipFill>
        <p:spPr>
          <a:xfrm>
            <a:off x="808101" y="791967"/>
            <a:ext cx="2991785" cy="1200409"/>
          </a:xfrm>
          <a:prstGeom prst="rect">
            <a:avLst/>
          </a:prstGeom>
        </p:spPr>
      </p:pic>
      <p:grpSp>
        <p:nvGrpSpPr>
          <p:cNvPr id="7" name="object 7"/>
          <p:cNvGrpSpPr/>
          <p:nvPr/>
        </p:nvGrpSpPr>
        <p:grpSpPr>
          <a:xfrm>
            <a:off x="0" y="3348469"/>
            <a:ext cx="4608195" cy="107950"/>
            <a:chOff x="0" y="3348469"/>
            <a:chExt cx="4608195" cy="107950"/>
          </a:xfrm>
        </p:grpSpPr>
        <p:sp>
          <p:nvSpPr>
            <p:cNvPr id="8" name="object 8"/>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9" name="object 9"/>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0" name="object 10"/>
          <p:cNvSpPr txBox="1"/>
          <p:nvPr/>
        </p:nvSpPr>
        <p:spPr>
          <a:xfrm>
            <a:off x="53467" y="3349927"/>
            <a:ext cx="691515"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3" action="ppaction://hlinksldjump"/>
              </a:rPr>
              <a:t>Lamport’s</a:t>
            </a:r>
            <a:r>
              <a:rPr sz="500" spc="15" dirty="0">
                <a:latin typeface="Arial"/>
                <a:cs typeface="Arial"/>
                <a:hlinkClick r:id="rId3" action="ppaction://hlinksldjump"/>
              </a:rPr>
              <a:t> </a:t>
            </a:r>
            <a:r>
              <a:rPr sz="500" dirty="0">
                <a:latin typeface="Arial"/>
                <a:cs typeface="Arial"/>
                <a:hlinkClick r:id="rId3" action="ppaction://hlinksldjump"/>
              </a:rPr>
              <a:t>logical</a:t>
            </a:r>
            <a:r>
              <a:rPr sz="500" spc="15" dirty="0">
                <a:latin typeface="Arial"/>
                <a:cs typeface="Arial"/>
                <a:hlinkClick r:id="rId3" action="ppaction://hlinksldjump"/>
              </a:rPr>
              <a:t> </a:t>
            </a:r>
            <a:r>
              <a:rPr sz="500" spc="-10" dirty="0">
                <a:latin typeface="Arial"/>
                <a:cs typeface="Arial"/>
                <a:hlinkClick r:id="rId3" action="ppaction://hlinksldjump"/>
              </a:rPr>
              <a:t>clocks</a:t>
            </a:r>
            <a:endParaRPr sz="500">
              <a:latin typeface="Arial"/>
              <a:cs typeface="Arial"/>
            </a:endParaRP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8417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3" action="ppaction://hlinksldjump"/>
              </a:rPr>
              <a:t>Coordination</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136644" y="-1515"/>
            <a:ext cx="41846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4" action="ppaction://hlinksldjump"/>
              </a:rPr>
              <a:t>Logical</a:t>
            </a:r>
            <a:r>
              <a:rPr sz="500" spc="-25" dirty="0">
                <a:solidFill>
                  <a:srgbClr val="FFFFFF"/>
                </a:solidFill>
                <a:latin typeface="Arial"/>
                <a:cs typeface="Arial"/>
                <a:hlinkClick r:id="rId4" action="ppaction://hlinksldjump"/>
              </a:rPr>
              <a:t> </a:t>
            </a:r>
            <a:r>
              <a:rPr sz="500" spc="-10" dirty="0">
                <a:solidFill>
                  <a:srgbClr val="FFFFFF"/>
                </a:solidFill>
                <a:latin typeface="Arial"/>
                <a:cs typeface="Arial"/>
                <a:hlinkClick r:id="rId4" action="ppaction://hlinksldjump"/>
              </a:rPr>
              <a:t>clocks</a:t>
            </a:r>
            <a:endParaRPr sz="500">
              <a:latin typeface="Arial"/>
              <a:cs typeface="Arial"/>
            </a:endParaRPr>
          </a:p>
        </p:txBody>
      </p:sp>
      <p:sp>
        <p:nvSpPr>
          <p:cNvPr id="5" name="object 5"/>
          <p:cNvSpPr txBox="1"/>
          <p:nvPr/>
        </p:nvSpPr>
        <p:spPr>
          <a:xfrm>
            <a:off x="69900" y="197711"/>
            <a:ext cx="4077335" cy="1160780"/>
          </a:xfrm>
          <a:prstGeom prst="rect">
            <a:avLst/>
          </a:prstGeom>
        </p:spPr>
        <p:txBody>
          <a:bodyPr vert="horz" wrap="square" lIns="0" tIns="12065" rIns="0" bIns="0" rtlCol="0">
            <a:spAutoFit/>
          </a:bodyPr>
          <a:lstStyle/>
          <a:p>
            <a:pPr marL="38100">
              <a:lnSpc>
                <a:spcPct val="100000"/>
              </a:lnSpc>
              <a:spcBef>
                <a:spcPts val="95"/>
              </a:spcBef>
            </a:pPr>
            <a:r>
              <a:rPr sz="1200" dirty="0">
                <a:solidFill>
                  <a:srgbClr val="3333B2"/>
                </a:solidFill>
                <a:latin typeface="Arial"/>
                <a:cs typeface="Arial"/>
              </a:rPr>
              <a:t>Example:</a:t>
            </a:r>
            <a:r>
              <a:rPr sz="1200" spc="20" dirty="0">
                <a:solidFill>
                  <a:srgbClr val="3333B2"/>
                </a:solidFill>
                <a:latin typeface="Arial"/>
                <a:cs typeface="Arial"/>
              </a:rPr>
              <a:t> </a:t>
            </a:r>
            <a:r>
              <a:rPr sz="1200" spc="-20" dirty="0">
                <a:solidFill>
                  <a:srgbClr val="3333B2"/>
                </a:solidFill>
                <a:latin typeface="Arial"/>
                <a:cs typeface="Arial"/>
              </a:rPr>
              <a:t>Totally</a:t>
            </a:r>
            <a:r>
              <a:rPr sz="1200" spc="-45" dirty="0">
                <a:solidFill>
                  <a:srgbClr val="3333B2"/>
                </a:solidFill>
                <a:latin typeface="Arial"/>
                <a:cs typeface="Arial"/>
              </a:rPr>
              <a:t> </a:t>
            </a:r>
            <a:r>
              <a:rPr sz="1200" dirty="0">
                <a:solidFill>
                  <a:srgbClr val="3333B2"/>
                </a:solidFill>
                <a:latin typeface="Arial"/>
                <a:cs typeface="Arial"/>
              </a:rPr>
              <a:t>ordered</a:t>
            </a:r>
            <a:r>
              <a:rPr sz="1200" spc="-45" dirty="0">
                <a:solidFill>
                  <a:srgbClr val="3333B2"/>
                </a:solidFill>
                <a:latin typeface="Arial"/>
                <a:cs typeface="Arial"/>
              </a:rPr>
              <a:t> </a:t>
            </a:r>
            <a:r>
              <a:rPr sz="1200" spc="-10" dirty="0">
                <a:solidFill>
                  <a:srgbClr val="3333B2"/>
                </a:solidFill>
                <a:latin typeface="Arial"/>
                <a:cs typeface="Arial"/>
              </a:rPr>
              <a:t>multicast</a:t>
            </a:r>
            <a:endParaRPr sz="1200">
              <a:latin typeface="Arial"/>
              <a:cs typeface="Arial"/>
            </a:endParaRPr>
          </a:p>
          <a:p>
            <a:pPr marL="289560" marR="30480">
              <a:lnSpc>
                <a:spcPct val="109600"/>
              </a:lnSpc>
              <a:spcBef>
                <a:spcPts val="680"/>
              </a:spcBef>
            </a:pPr>
            <a:r>
              <a:rPr sz="1000" dirty="0">
                <a:solidFill>
                  <a:srgbClr val="3333B2"/>
                </a:solidFill>
                <a:latin typeface="Arial"/>
                <a:cs typeface="Arial"/>
              </a:rPr>
              <a:t>Concurrent</a:t>
            </a:r>
            <a:r>
              <a:rPr sz="1000" spc="-30" dirty="0">
                <a:solidFill>
                  <a:srgbClr val="3333B2"/>
                </a:solidFill>
                <a:latin typeface="Arial"/>
                <a:cs typeface="Arial"/>
              </a:rPr>
              <a:t> </a:t>
            </a:r>
            <a:r>
              <a:rPr sz="1000" dirty="0">
                <a:solidFill>
                  <a:srgbClr val="3333B2"/>
                </a:solidFill>
                <a:latin typeface="Arial"/>
                <a:cs typeface="Arial"/>
              </a:rPr>
              <a:t>updates</a:t>
            </a:r>
            <a:r>
              <a:rPr sz="1000" spc="-30" dirty="0">
                <a:solidFill>
                  <a:srgbClr val="3333B2"/>
                </a:solidFill>
                <a:latin typeface="Arial"/>
                <a:cs typeface="Arial"/>
              </a:rPr>
              <a:t> </a:t>
            </a:r>
            <a:r>
              <a:rPr sz="1000" dirty="0">
                <a:solidFill>
                  <a:srgbClr val="3333B2"/>
                </a:solidFill>
                <a:latin typeface="Arial"/>
                <a:cs typeface="Arial"/>
              </a:rPr>
              <a:t>on</a:t>
            </a:r>
            <a:r>
              <a:rPr sz="1000" spc="-30" dirty="0">
                <a:solidFill>
                  <a:srgbClr val="3333B2"/>
                </a:solidFill>
                <a:latin typeface="Arial"/>
                <a:cs typeface="Arial"/>
              </a:rPr>
              <a:t> </a:t>
            </a:r>
            <a:r>
              <a:rPr sz="1000" dirty="0">
                <a:solidFill>
                  <a:srgbClr val="3333B2"/>
                </a:solidFill>
                <a:latin typeface="Arial"/>
                <a:cs typeface="Arial"/>
              </a:rPr>
              <a:t>a</a:t>
            </a:r>
            <a:r>
              <a:rPr sz="1000" spc="-30" dirty="0">
                <a:solidFill>
                  <a:srgbClr val="3333B2"/>
                </a:solidFill>
                <a:latin typeface="Arial"/>
                <a:cs typeface="Arial"/>
              </a:rPr>
              <a:t> </a:t>
            </a:r>
            <a:r>
              <a:rPr sz="1000" dirty="0">
                <a:solidFill>
                  <a:srgbClr val="3333B2"/>
                </a:solidFill>
                <a:latin typeface="Arial"/>
                <a:cs typeface="Arial"/>
              </a:rPr>
              <a:t>replicated</a:t>
            </a:r>
            <a:r>
              <a:rPr sz="1000" spc="-30" dirty="0">
                <a:solidFill>
                  <a:srgbClr val="3333B2"/>
                </a:solidFill>
                <a:latin typeface="Arial"/>
                <a:cs typeface="Arial"/>
              </a:rPr>
              <a:t> </a:t>
            </a:r>
            <a:r>
              <a:rPr sz="1000" dirty="0">
                <a:solidFill>
                  <a:srgbClr val="3333B2"/>
                </a:solidFill>
                <a:latin typeface="Arial"/>
                <a:cs typeface="Arial"/>
              </a:rPr>
              <a:t>database</a:t>
            </a:r>
            <a:r>
              <a:rPr sz="1000" spc="-30" dirty="0">
                <a:solidFill>
                  <a:srgbClr val="3333B2"/>
                </a:solidFill>
                <a:latin typeface="Arial"/>
                <a:cs typeface="Arial"/>
              </a:rPr>
              <a:t> </a:t>
            </a:r>
            <a:r>
              <a:rPr sz="1000" dirty="0">
                <a:solidFill>
                  <a:srgbClr val="3333B2"/>
                </a:solidFill>
                <a:latin typeface="Arial"/>
                <a:cs typeface="Arial"/>
              </a:rPr>
              <a:t>are</a:t>
            </a:r>
            <a:r>
              <a:rPr sz="1000" spc="-30" dirty="0">
                <a:solidFill>
                  <a:srgbClr val="3333B2"/>
                </a:solidFill>
                <a:latin typeface="Arial"/>
                <a:cs typeface="Arial"/>
              </a:rPr>
              <a:t> </a:t>
            </a:r>
            <a:r>
              <a:rPr sz="1000" dirty="0">
                <a:solidFill>
                  <a:srgbClr val="3333B2"/>
                </a:solidFill>
                <a:latin typeface="Arial"/>
                <a:cs typeface="Arial"/>
              </a:rPr>
              <a:t>seen</a:t>
            </a:r>
            <a:r>
              <a:rPr sz="1000" spc="-30" dirty="0">
                <a:solidFill>
                  <a:srgbClr val="3333B2"/>
                </a:solidFill>
                <a:latin typeface="Arial"/>
                <a:cs typeface="Arial"/>
              </a:rPr>
              <a:t> </a:t>
            </a:r>
            <a:r>
              <a:rPr sz="1000" dirty="0">
                <a:solidFill>
                  <a:srgbClr val="3333B2"/>
                </a:solidFill>
                <a:latin typeface="Arial"/>
                <a:cs typeface="Arial"/>
              </a:rPr>
              <a:t>in</a:t>
            </a:r>
            <a:r>
              <a:rPr sz="1000" spc="-25" dirty="0">
                <a:solidFill>
                  <a:srgbClr val="3333B2"/>
                </a:solidFill>
                <a:latin typeface="Arial"/>
                <a:cs typeface="Arial"/>
              </a:rPr>
              <a:t> </a:t>
            </a:r>
            <a:r>
              <a:rPr sz="1000" dirty="0">
                <a:solidFill>
                  <a:srgbClr val="3333B2"/>
                </a:solidFill>
                <a:latin typeface="Arial"/>
                <a:cs typeface="Arial"/>
              </a:rPr>
              <a:t>the</a:t>
            </a:r>
            <a:r>
              <a:rPr sz="1000" spc="-30" dirty="0">
                <a:solidFill>
                  <a:srgbClr val="3333B2"/>
                </a:solidFill>
                <a:latin typeface="Arial"/>
                <a:cs typeface="Arial"/>
              </a:rPr>
              <a:t> </a:t>
            </a:r>
            <a:r>
              <a:rPr sz="1000" spc="-20" dirty="0">
                <a:solidFill>
                  <a:srgbClr val="3333B2"/>
                </a:solidFill>
                <a:latin typeface="Arial"/>
                <a:cs typeface="Arial"/>
              </a:rPr>
              <a:t>same </a:t>
            </a:r>
            <a:r>
              <a:rPr sz="1000" dirty="0">
                <a:solidFill>
                  <a:srgbClr val="3333B2"/>
                </a:solidFill>
                <a:latin typeface="Arial"/>
                <a:cs typeface="Arial"/>
              </a:rPr>
              <a:t>order</a:t>
            </a:r>
            <a:r>
              <a:rPr sz="1000" spc="-30" dirty="0">
                <a:solidFill>
                  <a:srgbClr val="3333B2"/>
                </a:solidFill>
                <a:latin typeface="Arial"/>
                <a:cs typeface="Arial"/>
              </a:rPr>
              <a:t> </a:t>
            </a:r>
            <a:r>
              <a:rPr sz="1000" spc="-10" dirty="0">
                <a:solidFill>
                  <a:srgbClr val="3333B2"/>
                </a:solidFill>
                <a:latin typeface="Arial"/>
                <a:cs typeface="Arial"/>
              </a:rPr>
              <a:t>everywhere</a:t>
            </a:r>
            <a:endParaRPr sz="1000">
              <a:latin typeface="Arial"/>
              <a:cs typeface="Arial"/>
            </a:endParaRPr>
          </a:p>
          <a:p>
            <a:pPr marL="542925" indent="-120650">
              <a:lnSpc>
                <a:spcPct val="100000"/>
              </a:lnSpc>
              <a:spcBef>
                <a:spcPts val="700"/>
              </a:spcBef>
              <a:buClr>
                <a:srgbClr val="3333B2"/>
              </a:buClr>
              <a:buFont typeface="Menlo"/>
              <a:buChar char="•"/>
              <a:tabLst>
                <a:tab pos="543560" algn="l"/>
              </a:tabLst>
            </a:pPr>
            <a:r>
              <a:rPr sz="900" i="1" dirty="0">
                <a:latin typeface="Arial"/>
                <a:cs typeface="Arial"/>
              </a:rPr>
              <a:t>P</a:t>
            </a:r>
            <a:r>
              <a:rPr sz="1050" i="1" baseline="-15873" dirty="0">
                <a:latin typeface="Arial"/>
                <a:cs typeface="Arial"/>
              </a:rPr>
              <a:t>1</a:t>
            </a:r>
            <a:r>
              <a:rPr sz="1050" i="1" spc="112" baseline="-15873" dirty="0">
                <a:latin typeface="Arial"/>
                <a:cs typeface="Arial"/>
              </a:rPr>
              <a:t> </a:t>
            </a:r>
            <a:r>
              <a:rPr sz="900" dirty="0">
                <a:latin typeface="Arial"/>
                <a:cs typeface="Arial"/>
              </a:rPr>
              <a:t>adds</a:t>
            </a:r>
            <a:r>
              <a:rPr sz="900" spc="-30" dirty="0">
                <a:latin typeface="Arial"/>
                <a:cs typeface="Arial"/>
              </a:rPr>
              <a:t> </a:t>
            </a:r>
            <a:r>
              <a:rPr sz="900" dirty="0">
                <a:latin typeface="Arial"/>
                <a:cs typeface="Arial"/>
              </a:rPr>
              <a:t>$100</a:t>
            </a:r>
            <a:r>
              <a:rPr sz="900" spc="-25"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an</a:t>
            </a:r>
            <a:r>
              <a:rPr sz="900" spc="-25" dirty="0">
                <a:latin typeface="Arial"/>
                <a:cs typeface="Arial"/>
              </a:rPr>
              <a:t> </a:t>
            </a:r>
            <a:r>
              <a:rPr sz="900" dirty="0">
                <a:latin typeface="Arial"/>
                <a:cs typeface="Arial"/>
              </a:rPr>
              <a:t>account</a:t>
            </a:r>
            <a:r>
              <a:rPr sz="900" spc="-25" dirty="0">
                <a:latin typeface="Arial"/>
                <a:cs typeface="Arial"/>
              </a:rPr>
              <a:t> </a:t>
            </a:r>
            <a:r>
              <a:rPr sz="900" dirty="0">
                <a:latin typeface="Arial"/>
                <a:cs typeface="Arial"/>
              </a:rPr>
              <a:t>(initial</a:t>
            </a:r>
            <a:r>
              <a:rPr sz="900" spc="-30" dirty="0">
                <a:latin typeface="Arial"/>
                <a:cs typeface="Arial"/>
              </a:rPr>
              <a:t> </a:t>
            </a:r>
            <a:r>
              <a:rPr sz="900" dirty="0">
                <a:latin typeface="Arial"/>
                <a:cs typeface="Arial"/>
              </a:rPr>
              <a:t>value:</a:t>
            </a:r>
            <a:r>
              <a:rPr sz="900" spc="30" dirty="0">
                <a:latin typeface="Arial"/>
                <a:cs typeface="Arial"/>
              </a:rPr>
              <a:t> </a:t>
            </a:r>
            <a:r>
              <a:rPr sz="900" spc="-10" dirty="0">
                <a:latin typeface="Arial"/>
                <a:cs typeface="Arial"/>
              </a:rPr>
              <a:t>$1000)</a:t>
            </a:r>
            <a:endParaRPr sz="900">
              <a:latin typeface="Arial"/>
              <a:cs typeface="Arial"/>
            </a:endParaRPr>
          </a:p>
          <a:p>
            <a:pPr marL="542925" indent="-120650">
              <a:lnSpc>
                <a:spcPct val="100000"/>
              </a:lnSpc>
              <a:spcBef>
                <a:spcPts val="125"/>
              </a:spcBef>
              <a:buClr>
                <a:srgbClr val="3333B2"/>
              </a:buClr>
              <a:buFont typeface="Menlo"/>
              <a:buChar char="•"/>
              <a:tabLst>
                <a:tab pos="543560" algn="l"/>
              </a:tabLst>
            </a:pPr>
            <a:r>
              <a:rPr sz="900" i="1" dirty="0">
                <a:latin typeface="Arial"/>
                <a:cs typeface="Arial"/>
              </a:rPr>
              <a:t>P</a:t>
            </a:r>
            <a:r>
              <a:rPr sz="1050" i="1" baseline="-15873" dirty="0">
                <a:latin typeface="Arial"/>
                <a:cs typeface="Arial"/>
              </a:rPr>
              <a:t>2</a:t>
            </a:r>
            <a:r>
              <a:rPr sz="1050" i="1" spc="150" baseline="-15873" dirty="0">
                <a:latin typeface="Arial"/>
                <a:cs typeface="Arial"/>
              </a:rPr>
              <a:t> </a:t>
            </a:r>
            <a:r>
              <a:rPr sz="900" dirty="0">
                <a:latin typeface="Arial"/>
                <a:cs typeface="Arial"/>
              </a:rPr>
              <a:t>increments</a:t>
            </a:r>
            <a:r>
              <a:rPr sz="900" spc="-30" dirty="0">
                <a:latin typeface="Arial"/>
                <a:cs typeface="Arial"/>
              </a:rPr>
              <a:t> </a:t>
            </a:r>
            <a:r>
              <a:rPr sz="900" dirty="0">
                <a:latin typeface="Arial"/>
                <a:cs typeface="Arial"/>
              </a:rPr>
              <a:t>account</a:t>
            </a:r>
            <a:r>
              <a:rPr sz="900" spc="-35" dirty="0">
                <a:latin typeface="Arial"/>
                <a:cs typeface="Arial"/>
              </a:rPr>
              <a:t> </a:t>
            </a:r>
            <a:r>
              <a:rPr sz="900" dirty="0">
                <a:latin typeface="Arial"/>
                <a:cs typeface="Arial"/>
              </a:rPr>
              <a:t>by</a:t>
            </a:r>
            <a:r>
              <a:rPr sz="900" spc="-30" dirty="0">
                <a:latin typeface="Arial"/>
                <a:cs typeface="Arial"/>
              </a:rPr>
              <a:t> </a:t>
            </a:r>
            <a:r>
              <a:rPr sz="900" spc="-25" dirty="0">
                <a:latin typeface="Arial"/>
                <a:cs typeface="Arial"/>
              </a:rPr>
              <a:t>1%</a:t>
            </a:r>
            <a:endParaRPr sz="900">
              <a:latin typeface="Arial"/>
              <a:cs typeface="Arial"/>
            </a:endParaRPr>
          </a:p>
          <a:p>
            <a:pPr marL="539115" indent="-116839">
              <a:lnSpc>
                <a:spcPct val="100000"/>
              </a:lnSpc>
              <a:spcBef>
                <a:spcPts val="125"/>
              </a:spcBef>
              <a:buClr>
                <a:srgbClr val="3333B2"/>
              </a:buClr>
              <a:buFont typeface="Menlo"/>
              <a:buChar char="•"/>
              <a:tabLst>
                <a:tab pos="539750" algn="l"/>
              </a:tabLst>
            </a:pPr>
            <a:r>
              <a:rPr sz="900" dirty="0">
                <a:latin typeface="Arial"/>
                <a:cs typeface="Arial"/>
              </a:rPr>
              <a:t>There</a:t>
            </a:r>
            <a:r>
              <a:rPr sz="900" spc="-30" dirty="0">
                <a:latin typeface="Arial"/>
                <a:cs typeface="Arial"/>
              </a:rPr>
              <a:t> </a:t>
            </a:r>
            <a:r>
              <a:rPr sz="900" dirty="0">
                <a:latin typeface="Arial"/>
                <a:cs typeface="Arial"/>
              </a:rPr>
              <a:t>are</a:t>
            </a:r>
            <a:r>
              <a:rPr sz="900" spc="-25" dirty="0">
                <a:latin typeface="Arial"/>
                <a:cs typeface="Arial"/>
              </a:rPr>
              <a:t> </a:t>
            </a:r>
            <a:r>
              <a:rPr sz="900" dirty="0">
                <a:latin typeface="Arial"/>
                <a:cs typeface="Arial"/>
              </a:rPr>
              <a:t>two</a:t>
            </a:r>
            <a:r>
              <a:rPr sz="900" spc="-25" dirty="0">
                <a:latin typeface="Arial"/>
                <a:cs typeface="Arial"/>
              </a:rPr>
              <a:t> </a:t>
            </a:r>
            <a:r>
              <a:rPr sz="900" spc="-10" dirty="0">
                <a:latin typeface="Arial"/>
                <a:cs typeface="Arial"/>
              </a:rPr>
              <a:t>replicas</a:t>
            </a:r>
            <a:endParaRPr sz="900">
              <a:latin typeface="Arial"/>
              <a:cs typeface="Arial"/>
            </a:endParaRPr>
          </a:p>
        </p:txBody>
      </p:sp>
      <p:pic>
        <p:nvPicPr>
          <p:cNvPr id="6" name="object 6"/>
          <p:cNvPicPr/>
          <p:nvPr/>
        </p:nvPicPr>
        <p:blipFill>
          <a:blip r:embed="rId5" cstate="print"/>
          <a:stretch>
            <a:fillRect/>
          </a:stretch>
        </p:blipFill>
        <p:spPr>
          <a:xfrm>
            <a:off x="934783" y="1467632"/>
            <a:ext cx="2738551" cy="1032174"/>
          </a:xfrm>
          <a:prstGeom prst="rect">
            <a:avLst/>
          </a:prstGeom>
        </p:spPr>
      </p:pic>
      <p:sp>
        <p:nvSpPr>
          <p:cNvPr id="7" name="object 7"/>
          <p:cNvSpPr txBox="1"/>
          <p:nvPr/>
        </p:nvSpPr>
        <p:spPr>
          <a:xfrm>
            <a:off x="347294" y="2703358"/>
            <a:ext cx="2386330" cy="496570"/>
          </a:xfrm>
          <a:prstGeom prst="rect">
            <a:avLst/>
          </a:prstGeom>
        </p:spPr>
        <p:txBody>
          <a:bodyPr vert="horz" wrap="square" lIns="0" tIns="27305" rIns="0" bIns="0" rtlCol="0">
            <a:spAutoFit/>
          </a:bodyPr>
          <a:lstStyle/>
          <a:p>
            <a:pPr marL="12700">
              <a:lnSpc>
                <a:spcPct val="100000"/>
              </a:lnSpc>
              <a:spcBef>
                <a:spcPts val="215"/>
              </a:spcBef>
            </a:pPr>
            <a:r>
              <a:rPr sz="1000" spc="-10" dirty="0">
                <a:solidFill>
                  <a:srgbClr val="3333B2"/>
                </a:solidFill>
                <a:latin typeface="Arial"/>
                <a:cs typeface="Arial"/>
              </a:rPr>
              <a:t>Result</a:t>
            </a:r>
            <a:endParaRPr sz="1000">
              <a:latin typeface="Arial"/>
              <a:cs typeface="Arial"/>
            </a:endParaRPr>
          </a:p>
          <a:p>
            <a:pPr marL="12700">
              <a:lnSpc>
                <a:spcPct val="100000"/>
              </a:lnSpc>
              <a:spcBef>
                <a:spcPts val="105"/>
              </a:spcBef>
            </a:pPr>
            <a:r>
              <a:rPr sz="900" dirty="0">
                <a:latin typeface="Arial"/>
                <a:cs typeface="Arial"/>
              </a:rPr>
              <a:t>In</a:t>
            </a:r>
            <a:r>
              <a:rPr sz="900" spc="-25" dirty="0">
                <a:latin typeface="Arial"/>
                <a:cs typeface="Arial"/>
              </a:rPr>
              <a:t> </a:t>
            </a:r>
            <a:r>
              <a:rPr sz="900" dirty="0">
                <a:latin typeface="Arial"/>
                <a:cs typeface="Arial"/>
              </a:rPr>
              <a:t>absence</a:t>
            </a:r>
            <a:r>
              <a:rPr sz="900" spc="-25" dirty="0">
                <a:latin typeface="Arial"/>
                <a:cs typeface="Arial"/>
              </a:rPr>
              <a:t> </a:t>
            </a:r>
            <a:r>
              <a:rPr sz="900" dirty="0">
                <a:latin typeface="Arial"/>
                <a:cs typeface="Arial"/>
              </a:rPr>
              <a:t>of</a:t>
            </a:r>
            <a:r>
              <a:rPr sz="900" spc="-25" dirty="0">
                <a:latin typeface="Arial"/>
                <a:cs typeface="Arial"/>
              </a:rPr>
              <a:t> </a:t>
            </a:r>
            <a:r>
              <a:rPr sz="900" dirty="0">
                <a:latin typeface="Arial"/>
                <a:cs typeface="Arial"/>
              </a:rPr>
              <a:t>proper</a:t>
            </a:r>
            <a:r>
              <a:rPr sz="900" spc="-25" dirty="0">
                <a:latin typeface="Arial"/>
                <a:cs typeface="Arial"/>
              </a:rPr>
              <a:t> </a:t>
            </a:r>
            <a:r>
              <a:rPr sz="900" spc="-10" dirty="0">
                <a:latin typeface="Arial"/>
                <a:cs typeface="Arial"/>
              </a:rPr>
              <a:t>synchronization:</a:t>
            </a:r>
            <a:endParaRPr sz="900">
              <a:latin typeface="Arial"/>
              <a:cs typeface="Arial"/>
            </a:endParaRPr>
          </a:p>
          <a:p>
            <a:pPr marL="12700">
              <a:lnSpc>
                <a:spcPct val="100000"/>
              </a:lnSpc>
              <a:spcBef>
                <a:spcPts val="125"/>
              </a:spcBef>
            </a:pPr>
            <a:r>
              <a:rPr sz="900" dirty="0">
                <a:latin typeface="Arial"/>
                <a:cs typeface="Arial"/>
              </a:rPr>
              <a:t>replica</a:t>
            </a:r>
            <a:r>
              <a:rPr sz="900" spc="-50" dirty="0">
                <a:latin typeface="Arial"/>
                <a:cs typeface="Arial"/>
              </a:rPr>
              <a:t> </a:t>
            </a:r>
            <a:r>
              <a:rPr sz="900" dirty="0">
                <a:latin typeface="Arial"/>
                <a:cs typeface="Arial"/>
              </a:rPr>
              <a:t>#1</a:t>
            </a:r>
            <a:r>
              <a:rPr sz="900" spc="-20" dirty="0">
                <a:latin typeface="Arial"/>
                <a:cs typeface="Arial"/>
              </a:rPr>
              <a:t> </a:t>
            </a:r>
            <a:r>
              <a:rPr sz="900" i="1" spc="350" dirty="0">
                <a:latin typeface="Menlo"/>
                <a:cs typeface="Menlo"/>
              </a:rPr>
              <a:t>←</a:t>
            </a:r>
            <a:r>
              <a:rPr sz="900" i="1" spc="-295" dirty="0">
                <a:latin typeface="Menlo"/>
                <a:cs typeface="Menlo"/>
              </a:rPr>
              <a:t> </a:t>
            </a:r>
            <a:r>
              <a:rPr sz="900" dirty="0">
                <a:latin typeface="Arial"/>
                <a:cs typeface="Arial"/>
              </a:rPr>
              <a:t>$1111,</a:t>
            </a:r>
            <a:r>
              <a:rPr sz="900" spc="-20" dirty="0">
                <a:latin typeface="Arial"/>
                <a:cs typeface="Arial"/>
              </a:rPr>
              <a:t> </a:t>
            </a:r>
            <a:r>
              <a:rPr sz="900" dirty="0">
                <a:latin typeface="Arial"/>
                <a:cs typeface="Arial"/>
              </a:rPr>
              <a:t>while</a:t>
            </a:r>
            <a:r>
              <a:rPr sz="900" spc="-20" dirty="0">
                <a:latin typeface="Arial"/>
                <a:cs typeface="Arial"/>
              </a:rPr>
              <a:t> </a:t>
            </a:r>
            <a:r>
              <a:rPr sz="900" dirty="0">
                <a:latin typeface="Arial"/>
                <a:cs typeface="Arial"/>
              </a:rPr>
              <a:t>replica</a:t>
            </a:r>
            <a:r>
              <a:rPr sz="900" spc="-20" dirty="0">
                <a:latin typeface="Arial"/>
                <a:cs typeface="Arial"/>
              </a:rPr>
              <a:t> </a:t>
            </a:r>
            <a:r>
              <a:rPr sz="900" dirty="0">
                <a:latin typeface="Arial"/>
                <a:cs typeface="Arial"/>
              </a:rPr>
              <a:t>#2</a:t>
            </a:r>
            <a:r>
              <a:rPr sz="900" spc="-20" dirty="0">
                <a:latin typeface="Arial"/>
                <a:cs typeface="Arial"/>
              </a:rPr>
              <a:t> </a:t>
            </a:r>
            <a:r>
              <a:rPr sz="900" i="1" spc="350" dirty="0">
                <a:latin typeface="Menlo"/>
                <a:cs typeface="Menlo"/>
              </a:rPr>
              <a:t>←</a:t>
            </a:r>
            <a:r>
              <a:rPr sz="900" i="1" spc="-295" dirty="0">
                <a:latin typeface="Menlo"/>
                <a:cs typeface="Menlo"/>
              </a:rPr>
              <a:t> </a:t>
            </a:r>
            <a:r>
              <a:rPr sz="900" spc="-10" dirty="0">
                <a:latin typeface="Arial"/>
                <a:cs typeface="Arial"/>
              </a:rPr>
              <a:t>$1110.</a:t>
            </a:r>
            <a:endParaRPr sz="900">
              <a:latin typeface="Arial"/>
              <a:cs typeface="Arial"/>
            </a:endParaRPr>
          </a:p>
        </p:txBody>
      </p:sp>
      <p:grpSp>
        <p:nvGrpSpPr>
          <p:cNvPr id="8" name="object 8"/>
          <p:cNvGrpSpPr/>
          <p:nvPr/>
        </p:nvGrpSpPr>
        <p:grpSpPr>
          <a:xfrm>
            <a:off x="0" y="3348469"/>
            <a:ext cx="4608195" cy="107950"/>
            <a:chOff x="0" y="3348469"/>
            <a:chExt cx="4608195" cy="107950"/>
          </a:xfrm>
        </p:grpSpPr>
        <p:sp>
          <p:nvSpPr>
            <p:cNvPr id="9" name="object 9"/>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0" name="object 10"/>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1" name="object 11"/>
          <p:cNvSpPr txBox="1"/>
          <p:nvPr/>
        </p:nvSpPr>
        <p:spPr>
          <a:xfrm>
            <a:off x="53467" y="3349927"/>
            <a:ext cx="691515"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4" action="ppaction://hlinksldjump"/>
              </a:rPr>
              <a:t>Lamport’s</a:t>
            </a:r>
            <a:r>
              <a:rPr sz="500" spc="15" dirty="0">
                <a:latin typeface="Arial"/>
                <a:cs typeface="Arial"/>
                <a:hlinkClick r:id="rId4" action="ppaction://hlinksldjump"/>
              </a:rPr>
              <a:t> </a:t>
            </a:r>
            <a:r>
              <a:rPr sz="500" dirty="0">
                <a:latin typeface="Arial"/>
                <a:cs typeface="Arial"/>
                <a:hlinkClick r:id="rId4" action="ppaction://hlinksldjump"/>
              </a:rPr>
              <a:t>logical</a:t>
            </a:r>
            <a:r>
              <a:rPr sz="500" spc="15" dirty="0">
                <a:latin typeface="Arial"/>
                <a:cs typeface="Arial"/>
                <a:hlinkClick r:id="rId4" action="ppaction://hlinksldjump"/>
              </a:rPr>
              <a:t> </a:t>
            </a:r>
            <a:r>
              <a:rPr sz="500" spc="-10" dirty="0">
                <a:latin typeface="Arial"/>
                <a:cs typeface="Arial"/>
                <a:hlinkClick r:id="rId4" action="ppaction://hlinksldjump"/>
              </a:rPr>
              <a:t>clocks</a:t>
            </a:r>
            <a:endParaRPr sz="500">
              <a:latin typeface="Arial"/>
              <a:cs typeface="Arial"/>
            </a:endParaRP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4095750" algn="l"/>
              </a:tabLst>
            </a:pPr>
            <a:r>
              <a:rPr sz="500" spc="-10" dirty="0">
                <a:latin typeface="Arial"/>
                <a:cs typeface="Arial"/>
                <a:hlinkClick r:id="rId2" action="ppaction://hlinksldjump"/>
              </a:rPr>
              <a:t>Coordination</a:t>
            </a:r>
            <a:r>
              <a:rPr sz="500" dirty="0">
                <a:latin typeface="Arial"/>
                <a:cs typeface="Arial"/>
              </a:rPr>
              <a:t>	</a:t>
            </a:r>
            <a:r>
              <a:rPr sz="500" dirty="0">
                <a:solidFill>
                  <a:srgbClr val="FFFFFF"/>
                </a:solidFill>
                <a:latin typeface="Arial"/>
                <a:cs typeface="Arial"/>
                <a:hlinkClick r:id="rId3" action="ppaction://hlinksldjump"/>
              </a:rPr>
              <a:t>Logical</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clocks</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Example:</a:t>
            </a:r>
            <a:r>
              <a:rPr spc="20" dirty="0"/>
              <a:t> </a:t>
            </a:r>
            <a:r>
              <a:rPr spc="-20" dirty="0"/>
              <a:t>Totally</a:t>
            </a:r>
            <a:r>
              <a:rPr spc="-45" dirty="0"/>
              <a:t> </a:t>
            </a:r>
            <a:r>
              <a:rPr dirty="0"/>
              <a:t>ordered</a:t>
            </a:r>
            <a:r>
              <a:rPr spc="-45" dirty="0"/>
              <a:t> </a:t>
            </a:r>
            <a:r>
              <a:rPr spc="-10" dirty="0"/>
              <a:t>multicast</a:t>
            </a:r>
          </a:p>
        </p:txBody>
      </p:sp>
      <p:sp>
        <p:nvSpPr>
          <p:cNvPr id="4" name="object 4"/>
          <p:cNvSpPr txBox="1"/>
          <p:nvPr/>
        </p:nvSpPr>
        <p:spPr>
          <a:xfrm>
            <a:off x="334594" y="443244"/>
            <a:ext cx="3908425" cy="909319"/>
          </a:xfrm>
          <a:prstGeom prst="rect">
            <a:avLst/>
          </a:prstGeom>
        </p:spPr>
        <p:txBody>
          <a:bodyPr vert="horz" wrap="square" lIns="0" tIns="83820" rIns="0" bIns="0" rtlCol="0">
            <a:spAutoFit/>
          </a:bodyPr>
          <a:lstStyle/>
          <a:p>
            <a:pPr marL="25400">
              <a:lnSpc>
                <a:spcPct val="100000"/>
              </a:lnSpc>
              <a:spcBef>
                <a:spcPts val="660"/>
              </a:spcBef>
            </a:pPr>
            <a:r>
              <a:rPr sz="1000" spc="-10" dirty="0">
                <a:solidFill>
                  <a:srgbClr val="3333B2"/>
                </a:solidFill>
                <a:latin typeface="Arial"/>
                <a:cs typeface="Arial"/>
              </a:rPr>
              <a:t>Solution</a:t>
            </a:r>
            <a:endParaRPr sz="1000">
              <a:latin typeface="Arial"/>
              <a:cs typeface="Arial"/>
            </a:endParaRPr>
          </a:p>
          <a:p>
            <a:pPr marL="278130" marR="17780" indent="-120650">
              <a:lnSpc>
                <a:spcPct val="111600"/>
              </a:lnSpc>
              <a:spcBef>
                <a:spcPts val="375"/>
              </a:spcBef>
              <a:buClr>
                <a:srgbClr val="3333B2"/>
              </a:buClr>
              <a:buFont typeface="Menlo"/>
              <a:buChar char="•"/>
              <a:tabLst>
                <a:tab pos="278765" algn="l"/>
              </a:tabLst>
            </a:pPr>
            <a:r>
              <a:rPr sz="900" dirty="0">
                <a:latin typeface="Arial"/>
                <a:cs typeface="Arial"/>
              </a:rPr>
              <a:t>Process</a:t>
            </a:r>
            <a:r>
              <a:rPr sz="900" spc="-30" dirty="0">
                <a:latin typeface="Arial"/>
                <a:cs typeface="Arial"/>
              </a:rPr>
              <a:t> </a:t>
            </a:r>
            <a:r>
              <a:rPr sz="900" i="1" dirty="0">
                <a:latin typeface="Arial"/>
                <a:cs typeface="Arial"/>
              </a:rPr>
              <a:t>P</a:t>
            </a:r>
            <a:r>
              <a:rPr sz="1050" i="1" baseline="-15873" dirty="0">
                <a:latin typeface="Arial"/>
                <a:cs typeface="Arial"/>
              </a:rPr>
              <a:t>i</a:t>
            </a:r>
            <a:r>
              <a:rPr sz="1050" i="1" spc="195" baseline="-15873" dirty="0">
                <a:latin typeface="Arial"/>
                <a:cs typeface="Arial"/>
              </a:rPr>
              <a:t> </a:t>
            </a:r>
            <a:r>
              <a:rPr sz="900" dirty="0">
                <a:latin typeface="Arial"/>
                <a:cs typeface="Arial"/>
              </a:rPr>
              <a:t>sends</a:t>
            </a:r>
            <a:r>
              <a:rPr sz="900" spc="-25" dirty="0">
                <a:latin typeface="Arial"/>
                <a:cs typeface="Arial"/>
              </a:rPr>
              <a:t> </a:t>
            </a:r>
            <a:r>
              <a:rPr sz="900" dirty="0">
                <a:solidFill>
                  <a:srgbClr val="3333B2"/>
                </a:solidFill>
                <a:latin typeface="Arial"/>
                <a:cs typeface="Arial"/>
              </a:rPr>
              <a:t>timestamped</a:t>
            </a:r>
            <a:r>
              <a:rPr sz="900" spc="-30" dirty="0">
                <a:solidFill>
                  <a:srgbClr val="3333B2"/>
                </a:solidFill>
                <a:latin typeface="Arial"/>
                <a:cs typeface="Arial"/>
              </a:rPr>
              <a:t> </a:t>
            </a:r>
            <a:r>
              <a:rPr sz="900" dirty="0">
                <a:solidFill>
                  <a:srgbClr val="3333B2"/>
                </a:solidFill>
                <a:latin typeface="Arial"/>
                <a:cs typeface="Arial"/>
              </a:rPr>
              <a:t>message</a:t>
            </a:r>
            <a:r>
              <a:rPr sz="900" spc="-25" dirty="0">
                <a:solidFill>
                  <a:srgbClr val="3333B2"/>
                </a:solidFill>
                <a:latin typeface="Arial"/>
                <a:cs typeface="Arial"/>
              </a:rPr>
              <a:t> </a:t>
            </a:r>
            <a:r>
              <a:rPr sz="900" i="1" dirty="0">
                <a:latin typeface="Arial"/>
                <a:cs typeface="Arial"/>
              </a:rPr>
              <a:t>m</a:t>
            </a:r>
            <a:r>
              <a:rPr sz="1050" i="1" baseline="-15873" dirty="0">
                <a:latin typeface="Arial"/>
                <a:cs typeface="Arial"/>
              </a:rPr>
              <a:t>i</a:t>
            </a:r>
            <a:r>
              <a:rPr sz="1050" i="1" spc="195" baseline="-15873" dirty="0">
                <a:latin typeface="Arial"/>
                <a:cs typeface="Arial"/>
              </a:rPr>
              <a:t> </a:t>
            </a:r>
            <a:r>
              <a:rPr sz="900" dirty="0">
                <a:latin typeface="Arial"/>
                <a:cs typeface="Arial"/>
              </a:rPr>
              <a:t>to</a:t>
            </a:r>
            <a:r>
              <a:rPr sz="900" spc="-30" dirty="0">
                <a:latin typeface="Arial"/>
                <a:cs typeface="Arial"/>
              </a:rPr>
              <a:t> </a:t>
            </a:r>
            <a:r>
              <a:rPr sz="900" dirty="0">
                <a:latin typeface="Arial"/>
                <a:cs typeface="Arial"/>
              </a:rPr>
              <a:t>all</a:t>
            </a:r>
            <a:r>
              <a:rPr sz="900" spc="-25" dirty="0">
                <a:latin typeface="Arial"/>
                <a:cs typeface="Arial"/>
              </a:rPr>
              <a:t> </a:t>
            </a:r>
            <a:r>
              <a:rPr sz="900" dirty="0">
                <a:latin typeface="Arial"/>
                <a:cs typeface="Arial"/>
              </a:rPr>
              <a:t>others.</a:t>
            </a:r>
            <a:r>
              <a:rPr sz="900" spc="30" dirty="0">
                <a:latin typeface="Arial"/>
                <a:cs typeface="Arial"/>
              </a:rPr>
              <a:t> </a:t>
            </a:r>
            <a:r>
              <a:rPr sz="900" dirty="0">
                <a:latin typeface="Arial"/>
                <a:cs typeface="Arial"/>
              </a:rPr>
              <a:t>The</a:t>
            </a:r>
            <a:r>
              <a:rPr sz="900" spc="-30" dirty="0">
                <a:latin typeface="Arial"/>
                <a:cs typeface="Arial"/>
              </a:rPr>
              <a:t> </a:t>
            </a:r>
            <a:r>
              <a:rPr sz="900" spc="-10" dirty="0">
                <a:latin typeface="Arial"/>
                <a:cs typeface="Arial"/>
              </a:rPr>
              <a:t>message </a:t>
            </a:r>
            <a:r>
              <a:rPr sz="900" dirty="0">
                <a:latin typeface="Arial"/>
                <a:cs typeface="Arial"/>
              </a:rPr>
              <a:t>itself</a:t>
            </a:r>
            <a:r>
              <a:rPr sz="900" spc="-20" dirty="0">
                <a:latin typeface="Arial"/>
                <a:cs typeface="Arial"/>
              </a:rPr>
              <a:t> </a:t>
            </a:r>
            <a:r>
              <a:rPr sz="900" dirty="0">
                <a:latin typeface="Arial"/>
                <a:cs typeface="Arial"/>
              </a:rPr>
              <a:t>is</a:t>
            </a:r>
            <a:r>
              <a:rPr sz="900" spc="-15" dirty="0">
                <a:latin typeface="Arial"/>
                <a:cs typeface="Arial"/>
              </a:rPr>
              <a:t> </a:t>
            </a:r>
            <a:r>
              <a:rPr sz="900" dirty="0">
                <a:latin typeface="Arial"/>
                <a:cs typeface="Arial"/>
              </a:rPr>
              <a:t>put</a:t>
            </a:r>
            <a:r>
              <a:rPr sz="900" spc="-10" dirty="0">
                <a:latin typeface="Arial"/>
                <a:cs typeface="Arial"/>
              </a:rPr>
              <a:t> </a:t>
            </a:r>
            <a:r>
              <a:rPr sz="900" dirty="0">
                <a:latin typeface="Arial"/>
                <a:cs typeface="Arial"/>
              </a:rPr>
              <a:t>in</a:t>
            </a:r>
            <a:r>
              <a:rPr sz="900" spc="-15" dirty="0">
                <a:latin typeface="Arial"/>
                <a:cs typeface="Arial"/>
              </a:rPr>
              <a:t> </a:t>
            </a:r>
            <a:r>
              <a:rPr sz="900" dirty="0">
                <a:latin typeface="Arial"/>
                <a:cs typeface="Arial"/>
              </a:rPr>
              <a:t>a</a:t>
            </a:r>
            <a:r>
              <a:rPr sz="900" spc="-15" dirty="0">
                <a:latin typeface="Arial"/>
                <a:cs typeface="Arial"/>
              </a:rPr>
              <a:t> </a:t>
            </a:r>
            <a:r>
              <a:rPr sz="900" dirty="0">
                <a:latin typeface="Arial"/>
                <a:cs typeface="Arial"/>
              </a:rPr>
              <a:t>local</a:t>
            </a:r>
            <a:r>
              <a:rPr sz="900" spc="-15" dirty="0">
                <a:latin typeface="Arial"/>
                <a:cs typeface="Arial"/>
              </a:rPr>
              <a:t> </a:t>
            </a:r>
            <a:r>
              <a:rPr sz="900" dirty="0">
                <a:latin typeface="Arial"/>
                <a:cs typeface="Arial"/>
              </a:rPr>
              <a:t>queue</a:t>
            </a:r>
            <a:r>
              <a:rPr sz="900" spc="-10" dirty="0">
                <a:latin typeface="Arial"/>
                <a:cs typeface="Arial"/>
              </a:rPr>
              <a:t> </a:t>
            </a:r>
            <a:r>
              <a:rPr sz="900" i="1" spc="-10" dirty="0">
                <a:latin typeface="Arial"/>
                <a:cs typeface="Arial"/>
              </a:rPr>
              <a:t>queue</a:t>
            </a:r>
            <a:r>
              <a:rPr sz="1050" i="1" spc="-15" baseline="-15873" dirty="0">
                <a:latin typeface="Arial"/>
                <a:cs typeface="Arial"/>
              </a:rPr>
              <a:t>i</a:t>
            </a:r>
            <a:r>
              <a:rPr sz="1050" i="1" spc="-127" baseline="-15873" dirty="0">
                <a:latin typeface="Arial"/>
                <a:cs typeface="Arial"/>
              </a:rPr>
              <a:t> </a:t>
            </a:r>
            <a:r>
              <a:rPr sz="900" spc="-50" dirty="0">
                <a:latin typeface="Arial"/>
                <a:cs typeface="Arial"/>
              </a:rPr>
              <a:t>.</a:t>
            </a:r>
            <a:endParaRPr sz="900">
              <a:latin typeface="Arial"/>
              <a:cs typeface="Arial"/>
            </a:endParaRPr>
          </a:p>
          <a:p>
            <a:pPr marL="278130" marR="325755" indent="-120650">
              <a:lnSpc>
                <a:spcPct val="111600"/>
              </a:lnSpc>
              <a:buClr>
                <a:srgbClr val="3333B2"/>
              </a:buClr>
              <a:buFont typeface="Menlo"/>
              <a:buChar char="•"/>
              <a:tabLst>
                <a:tab pos="274955" algn="l"/>
              </a:tabLst>
            </a:pPr>
            <a:r>
              <a:rPr sz="900" dirty="0">
                <a:latin typeface="Arial"/>
                <a:cs typeface="Arial"/>
              </a:rPr>
              <a:t>Any</a:t>
            </a:r>
            <a:r>
              <a:rPr sz="900" spc="-30" dirty="0">
                <a:latin typeface="Arial"/>
                <a:cs typeface="Arial"/>
              </a:rPr>
              <a:t> </a:t>
            </a:r>
            <a:r>
              <a:rPr sz="900" dirty="0">
                <a:latin typeface="Arial"/>
                <a:cs typeface="Arial"/>
              </a:rPr>
              <a:t>incoming</a:t>
            </a:r>
            <a:r>
              <a:rPr sz="900" spc="-20" dirty="0">
                <a:latin typeface="Arial"/>
                <a:cs typeface="Arial"/>
              </a:rPr>
              <a:t> </a:t>
            </a:r>
            <a:r>
              <a:rPr sz="900" dirty="0">
                <a:latin typeface="Arial"/>
                <a:cs typeface="Arial"/>
              </a:rPr>
              <a:t>message</a:t>
            </a:r>
            <a:r>
              <a:rPr sz="900" spc="-20" dirty="0">
                <a:latin typeface="Arial"/>
                <a:cs typeface="Arial"/>
              </a:rPr>
              <a:t> </a:t>
            </a:r>
            <a:r>
              <a:rPr sz="900" dirty="0">
                <a:latin typeface="Arial"/>
                <a:cs typeface="Arial"/>
              </a:rPr>
              <a:t>at</a:t>
            </a:r>
            <a:r>
              <a:rPr sz="900" spc="-20" dirty="0">
                <a:latin typeface="Arial"/>
                <a:cs typeface="Arial"/>
              </a:rPr>
              <a:t> </a:t>
            </a:r>
            <a:r>
              <a:rPr sz="900" i="1" dirty="0">
                <a:latin typeface="Arial"/>
                <a:cs typeface="Arial"/>
              </a:rPr>
              <a:t>P</a:t>
            </a:r>
            <a:r>
              <a:rPr sz="1050" i="1" baseline="-15873" dirty="0">
                <a:latin typeface="Arial"/>
                <a:cs typeface="Arial"/>
              </a:rPr>
              <a:t>j</a:t>
            </a:r>
            <a:r>
              <a:rPr sz="1050" i="1" spc="202" baseline="-15873" dirty="0">
                <a:latin typeface="Arial"/>
                <a:cs typeface="Arial"/>
              </a:rPr>
              <a:t> </a:t>
            </a:r>
            <a:r>
              <a:rPr sz="900" dirty="0">
                <a:latin typeface="Arial"/>
                <a:cs typeface="Arial"/>
              </a:rPr>
              <a:t>is</a:t>
            </a:r>
            <a:r>
              <a:rPr sz="900" spc="-20" dirty="0">
                <a:latin typeface="Arial"/>
                <a:cs typeface="Arial"/>
              </a:rPr>
              <a:t> </a:t>
            </a:r>
            <a:r>
              <a:rPr sz="900" dirty="0">
                <a:latin typeface="Arial"/>
                <a:cs typeface="Arial"/>
              </a:rPr>
              <a:t>queued</a:t>
            </a:r>
            <a:r>
              <a:rPr sz="900" spc="-20" dirty="0">
                <a:latin typeface="Arial"/>
                <a:cs typeface="Arial"/>
              </a:rPr>
              <a:t> </a:t>
            </a:r>
            <a:r>
              <a:rPr sz="900" dirty="0">
                <a:latin typeface="Arial"/>
                <a:cs typeface="Arial"/>
              </a:rPr>
              <a:t>in</a:t>
            </a:r>
            <a:r>
              <a:rPr sz="900" spc="-20" dirty="0">
                <a:latin typeface="Arial"/>
                <a:cs typeface="Arial"/>
              </a:rPr>
              <a:t> </a:t>
            </a:r>
            <a:r>
              <a:rPr sz="900" i="1" spc="-10" dirty="0">
                <a:latin typeface="Arial"/>
                <a:cs typeface="Arial"/>
              </a:rPr>
              <a:t>queue</a:t>
            </a:r>
            <a:r>
              <a:rPr sz="1050" i="1" spc="-15" baseline="-15873" dirty="0">
                <a:latin typeface="Arial"/>
                <a:cs typeface="Arial"/>
              </a:rPr>
              <a:t>j</a:t>
            </a:r>
            <a:r>
              <a:rPr sz="1050" i="1" spc="-127" baseline="-15873" dirty="0">
                <a:latin typeface="Arial"/>
                <a:cs typeface="Arial"/>
              </a:rPr>
              <a:t> </a:t>
            </a:r>
            <a:r>
              <a:rPr sz="900" dirty="0">
                <a:latin typeface="Arial"/>
                <a:cs typeface="Arial"/>
              </a:rPr>
              <a:t>,</a:t>
            </a:r>
            <a:r>
              <a:rPr sz="900" spc="-25" dirty="0">
                <a:latin typeface="Arial"/>
                <a:cs typeface="Arial"/>
              </a:rPr>
              <a:t> </a:t>
            </a:r>
            <a:r>
              <a:rPr sz="900" dirty="0">
                <a:solidFill>
                  <a:srgbClr val="3333B2"/>
                </a:solidFill>
                <a:latin typeface="Arial"/>
                <a:cs typeface="Arial"/>
              </a:rPr>
              <a:t>according</a:t>
            </a:r>
            <a:r>
              <a:rPr sz="900" spc="-20" dirty="0">
                <a:solidFill>
                  <a:srgbClr val="3333B2"/>
                </a:solidFill>
                <a:latin typeface="Arial"/>
                <a:cs typeface="Arial"/>
              </a:rPr>
              <a:t> </a:t>
            </a:r>
            <a:r>
              <a:rPr sz="900" dirty="0">
                <a:solidFill>
                  <a:srgbClr val="3333B2"/>
                </a:solidFill>
                <a:latin typeface="Arial"/>
                <a:cs typeface="Arial"/>
              </a:rPr>
              <a:t>to</a:t>
            </a:r>
            <a:r>
              <a:rPr sz="900" spc="-20" dirty="0">
                <a:solidFill>
                  <a:srgbClr val="3333B2"/>
                </a:solidFill>
                <a:latin typeface="Arial"/>
                <a:cs typeface="Arial"/>
              </a:rPr>
              <a:t> </a:t>
            </a:r>
            <a:r>
              <a:rPr sz="900" spc="-25" dirty="0">
                <a:solidFill>
                  <a:srgbClr val="3333B2"/>
                </a:solidFill>
                <a:latin typeface="Arial"/>
                <a:cs typeface="Arial"/>
              </a:rPr>
              <a:t>its </a:t>
            </a:r>
            <a:r>
              <a:rPr sz="900" dirty="0">
                <a:solidFill>
                  <a:srgbClr val="3333B2"/>
                </a:solidFill>
                <a:latin typeface="Arial"/>
                <a:cs typeface="Arial"/>
              </a:rPr>
              <a:t>timestamp</a:t>
            </a:r>
            <a:r>
              <a:rPr sz="900" dirty="0">
                <a:latin typeface="Arial"/>
                <a:cs typeface="Arial"/>
              </a:rPr>
              <a:t>,</a:t>
            </a:r>
            <a:r>
              <a:rPr sz="900" spc="-25" dirty="0">
                <a:latin typeface="Arial"/>
                <a:cs typeface="Arial"/>
              </a:rPr>
              <a:t> </a:t>
            </a:r>
            <a:r>
              <a:rPr sz="900" dirty="0">
                <a:latin typeface="Arial"/>
                <a:cs typeface="Arial"/>
              </a:rPr>
              <a:t>and</a:t>
            </a:r>
            <a:r>
              <a:rPr sz="900" spc="-25" dirty="0">
                <a:latin typeface="Arial"/>
                <a:cs typeface="Arial"/>
              </a:rPr>
              <a:t> </a:t>
            </a:r>
            <a:r>
              <a:rPr sz="900" spc="-10" dirty="0">
                <a:solidFill>
                  <a:srgbClr val="3333B2"/>
                </a:solidFill>
                <a:latin typeface="Arial"/>
                <a:cs typeface="Arial"/>
              </a:rPr>
              <a:t>acknowledged</a:t>
            </a:r>
            <a:r>
              <a:rPr sz="900" spc="-25" dirty="0">
                <a:solidFill>
                  <a:srgbClr val="3333B2"/>
                </a:solidFill>
                <a:latin typeface="Arial"/>
                <a:cs typeface="Arial"/>
              </a:rPr>
              <a:t> </a:t>
            </a:r>
            <a:r>
              <a:rPr sz="900" dirty="0">
                <a:latin typeface="Arial"/>
                <a:cs typeface="Arial"/>
              </a:rPr>
              <a:t>to</a:t>
            </a:r>
            <a:r>
              <a:rPr sz="900" spc="-20" dirty="0">
                <a:latin typeface="Arial"/>
                <a:cs typeface="Arial"/>
              </a:rPr>
              <a:t> </a:t>
            </a:r>
            <a:r>
              <a:rPr sz="900" dirty="0">
                <a:latin typeface="Arial"/>
                <a:cs typeface="Arial"/>
              </a:rPr>
              <a:t>every</a:t>
            </a:r>
            <a:r>
              <a:rPr sz="900" spc="-25" dirty="0">
                <a:latin typeface="Arial"/>
                <a:cs typeface="Arial"/>
              </a:rPr>
              <a:t> </a:t>
            </a:r>
            <a:r>
              <a:rPr sz="900" dirty="0">
                <a:latin typeface="Arial"/>
                <a:cs typeface="Arial"/>
              </a:rPr>
              <a:t>other</a:t>
            </a:r>
            <a:r>
              <a:rPr sz="900" spc="-25" dirty="0">
                <a:latin typeface="Arial"/>
                <a:cs typeface="Arial"/>
              </a:rPr>
              <a:t> </a:t>
            </a:r>
            <a:r>
              <a:rPr sz="900" spc="-10" dirty="0">
                <a:latin typeface="Arial"/>
                <a:cs typeface="Arial"/>
              </a:rPr>
              <a:t>process.</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691515"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3" action="ppaction://hlinksldjump"/>
              </a:rPr>
              <a:t>Lamport’s</a:t>
            </a:r>
            <a:r>
              <a:rPr sz="500" spc="15" dirty="0">
                <a:latin typeface="Arial"/>
                <a:cs typeface="Arial"/>
                <a:hlinkClick r:id="rId3" action="ppaction://hlinksldjump"/>
              </a:rPr>
              <a:t> </a:t>
            </a:r>
            <a:r>
              <a:rPr sz="500" dirty="0">
                <a:latin typeface="Arial"/>
                <a:cs typeface="Arial"/>
                <a:hlinkClick r:id="rId3" action="ppaction://hlinksldjump"/>
              </a:rPr>
              <a:t>logical</a:t>
            </a:r>
            <a:r>
              <a:rPr sz="500" spc="15" dirty="0">
                <a:latin typeface="Arial"/>
                <a:cs typeface="Arial"/>
                <a:hlinkClick r:id="rId3" action="ppaction://hlinksldjump"/>
              </a:rPr>
              <a:t> </a:t>
            </a:r>
            <a:r>
              <a:rPr sz="500" spc="-10" dirty="0">
                <a:latin typeface="Arial"/>
                <a:cs typeface="Arial"/>
                <a:hlinkClick r:id="rId3" action="ppaction://hlinksldjump"/>
              </a:rPr>
              <a:t>clocks</a:t>
            </a:r>
            <a:endParaRPr sz="500">
              <a:latin typeface="Arial"/>
              <a:cs typeface="Arial"/>
            </a:endParaRP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4095750" algn="l"/>
              </a:tabLst>
            </a:pPr>
            <a:r>
              <a:rPr sz="500" spc="-10" dirty="0">
                <a:latin typeface="Arial"/>
                <a:cs typeface="Arial"/>
                <a:hlinkClick r:id="rId2" action="ppaction://hlinksldjump"/>
              </a:rPr>
              <a:t>Coordination</a:t>
            </a:r>
            <a:r>
              <a:rPr sz="500" dirty="0">
                <a:latin typeface="Arial"/>
                <a:cs typeface="Arial"/>
              </a:rPr>
              <a:t>	</a:t>
            </a:r>
            <a:r>
              <a:rPr sz="500" dirty="0">
                <a:solidFill>
                  <a:srgbClr val="FFFFFF"/>
                </a:solidFill>
                <a:latin typeface="Arial"/>
                <a:cs typeface="Arial"/>
                <a:hlinkClick r:id="rId3" action="ppaction://hlinksldjump"/>
              </a:rPr>
              <a:t>Logical</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clocks</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Example:</a:t>
            </a:r>
            <a:r>
              <a:rPr spc="20" dirty="0"/>
              <a:t> </a:t>
            </a:r>
            <a:r>
              <a:rPr spc="-20" dirty="0"/>
              <a:t>Totally</a:t>
            </a:r>
            <a:r>
              <a:rPr spc="-45" dirty="0"/>
              <a:t> </a:t>
            </a:r>
            <a:r>
              <a:rPr dirty="0"/>
              <a:t>ordered</a:t>
            </a:r>
            <a:r>
              <a:rPr spc="-45" dirty="0"/>
              <a:t> </a:t>
            </a:r>
            <a:r>
              <a:rPr spc="-10" dirty="0"/>
              <a:t>multicast</a:t>
            </a:r>
          </a:p>
        </p:txBody>
      </p:sp>
      <p:sp>
        <p:nvSpPr>
          <p:cNvPr id="4" name="object 4"/>
          <p:cNvSpPr txBox="1"/>
          <p:nvPr/>
        </p:nvSpPr>
        <p:spPr>
          <a:xfrm>
            <a:off x="309194" y="443244"/>
            <a:ext cx="3946525" cy="1789430"/>
          </a:xfrm>
          <a:prstGeom prst="rect">
            <a:avLst/>
          </a:prstGeom>
        </p:spPr>
        <p:txBody>
          <a:bodyPr vert="horz" wrap="square" lIns="0" tIns="83820" rIns="0" bIns="0" rtlCol="0">
            <a:spAutoFit/>
          </a:bodyPr>
          <a:lstStyle/>
          <a:p>
            <a:pPr marL="50800">
              <a:lnSpc>
                <a:spcPct val="100000"/>
              </a:lnSpc>
              <a:spcBef>
                <a:spcPts val="660"/>
              </a:spcBef>
            </a:pPr>
            <a:r>
              <a:rPr sz="1000" spc="-10" dirty="0">
                <a:solidFill>
                  <a:srgbClr val="3333B2"/>
                </a:solidFill>
                <a:latin typeface="Arial"/>
                <a:cs typeface="Arial"/>
              </a:rPr>
              <a:t>Solution</a:t>
            </a:r>
            <a:endParaRPr sz="1000">
              <a:latin typeface="Arial"/>
              <a:cs typeface="Arial"/>
            </a:endParaRPr>
          </a:p>
          <a:p>
            <a:pPr marL="303530" marR="30480" indent="-120650">
              <a:lnSpc>
                <a:spcPct val="111600"/>
              </a:lnSpc>
              <a:spcBef>
                <a:spcPts val="375"/>
              </a:spcBef>
              <a:buClr>
                <a:srgbClr val="3333B2"/>
              </a:buClr>
              <a:buFont typeface="Menlo"/>
              <a:buChar char="•"/>
              <a:tabLst>
                <a:tab pos="304165" algn="l"/>
              </a:tabLst>
            </a:pPr>
            <a:r>
              <a:rPr sz="900" dirty="0">
                <a:latin typeface="Arial"/>
                <a:cs typeface="Arial"/>
              </a:rPr>
              <a:t>Process</a:t>
            </a:r>
            <a:r>
              <a:rPr sz="900" spc="-30" dirty="0">
                <a:latin typeface="Arial"/>
                <a:cs typeface="Arial"/>
              </a:rPr>
              <a:t> </a:t>
            </a:r>
            <a:r>
              <a:rPr sz="900" i="1" dirty="0">
                <a:latin typeface="Arial"/>
                <a:cs typeface="Arial"/>
              </a:rPr>
              <a:t>P</a:t>
            </a:r>
            <a:r>
              <a:rPr sz="1050" i="1" baseline="-15873" dirty="0">
                <a:latin typeface="Arial"/>
                <a:cs typeface="Arial"/>
              </a:rPr>
              <a:t>i</a:t>
            </a:r>
            <a:r>
              <a:rPr sz="1050" i="1" spc="195" baseline="-15873" dirty="0">
                <a:latin typeface="Arial"/>
                <a:cs typeface="Arial"/>
              </a:rPr>
              <a:t> </a:t>
            </a:r>
            <a:r>
              <a:rPr sz="900" dirty="0">
                <a:latin typeface="Arial"/>
                <a:cs typeface="Arial"/>
              </a:rPr>
              <a:t>sends</a:t>
            </a:r>
            <a:r>
              <a:rPr sz="900" spc="-25" dirty="0">
                <a:latin typeface="Arial"/>
                <a:cs typeface="Arial"/>
              </a:rPr>
              <a:t> </a:t>
            </a:r>
            <a:r>
              <a:rPr sz="900" dirty="0">
                <a:solidFill>
                  <a:srgbClr val="3333B2"/>
                </a:solidFill>
                <a:latin typeface="Arial"/>
                <a:cs typeface="Arial"/>
              </a:rPr>
              <a:t>timestamped</a:t>
            </a:r>
            <a:r>
              <a:rPr sz="900" spc="-30" dirty="0">
                <a:solidFill>
                  <a:srgbClr val="3333B2"/>
                </a:solidFill>
                <a:latin typeface="Arial"/>
                <a:cs typeface="Arial"/>
              </a:rPr>
              <a:t> </a:t>
            </a:r>
            <a:r>
              <a:rPr sz="900" dirty="0">
                <a:solidFill>
                  <a:srgbClr val="3333B2"/>
                </a:solidFill>
                <a:latin typeface="Arial"/>
                <a:cs typeface="Arial"/>
              </a:rPr>
              <a:t>message</a:t>
            </a:r>
            <a:r>
              <a:rPr sz="900" spc="-25" dirty="0">
                <a:solidFill>
                  <a:srgbClr val="3333B2"/>
                </a:solidFill>
                <a:latin typeface="Arial"/>
                <a:cs typeface="Arial"/>
              </a:rPr>
              <a:t> </a:t>
            </a:r>
            <a:r>
              <a:rPr sz="900" i="1" dirty="0">
                <a:latin typeface="Arial"/>
                <a:cs typeface="Arial"/>
              </a:rPr>
              <a:t>m</a:t>
            </a:r>
            <a:r>
              <a:rPr sz="1050" i="1" baseline="-15873" dirty="0">
                <a:latin typeface="Arial"/>
                <a:cs typeface="Arial"/>
              </a:rPr>
              <a:t>i</a:t>
            </a:r>
            <a:r>
              <a:rPr sz="1050" i="1" spc="195" baseline="-15873" dirty="0">
                <a:latin typeface="Arial"/>
                <a:cs typeface="Arial"/>
              </a:rPr>
              <a:t> </a:t>
            </a:r>
            <a:r>
              <a:rPr sz="900" dirty="0">
                <a:latin typeface="Arial"/>
                <a:cs typeface="Arial"/>
              </a:rPr>
              <a:t>to</a:t>
            </a:r>
            <a:r>
              <a:rPr sz="900" spc="-30" dirty="0">
                <a:latin typeface="Arial"/>
                <a:cs typeface="Arial"/>
              </a:rPr>
              <a:t> </a:t>
            </a:r>
            <a:r>
              <a:rPr sz="900" dirty="0">
                <a:latin typeface="Arial"/>
                <a:cs typeface="Arial"/>
              </a:rPr>
              <a:t>all</a:t>
            </a:r>
            <a:r>
              <a:rPr sz="900" spc="-25" dirty="0">
                <a:latin typeface="Arial"/>
                <a:cs typeface="Arial"/>
              </a:rPr>
              <a:t> </a:t>
            </a:r>
            <a:r>
              <a:rPr sz="900" dirty="0">
                <a:latin typeface="Arial"/>
                <a:cs typeface="Arial"/>
              </a:rPr>
              <a:t>others.</a:t>
            </a:r>
            <a:r>
              <a:rPr sz="900" spc="30" dirty="0">
                <a:latin typeface="Arial"/>
                <a:cs typeface="Arial"/>
              </a:rPr>
              <a:t> </a:t>
            </a:r>
            <a:r>
              <a:rPr sz="900" dirty="0">
                <a:latin typeface="Arial"/>
                <a:cs typeface="Arial"/>
              </a:rPr>
              <a:t>The</a:t>
            </a:r>
            <a:r>
              <a:rPr sz="900" spc="-30" dirty="0">
                <a:latin typeface="Arial"/>
                <a:cs typeface="Arial"/>
              </a:rPr>
              <a:t> </a:t>
            </a:r>
            <a:r>
              <a:rPr sz="900" spc="-10" dirty="0">
                <a:latin typeface="Arial"/>
                <a:cs typeface="Arial"/>
              </a:rPr>
              <a:t>message </a:t>
            </a:r>
            <a:r>
              <a:rPr sz="900" dirty="0">
                <a:latin typeface="Arial"/>
                <a:cs typeface="Arial"/>
              </a:rPr>
              <a:t>itself</a:t>
            </a:r>
            <a:r>
              <a:rPr sz="900" spc="-20" dirty="0">
                <a:latin typeface="Arial"/>
                <a:cs typeface="Arial"/>
              </a:rPr>
              <a:t> </a:t>
            </a:r>
            <a:r>
              <a:rPr sz="900" dirty="0">
                <a:latin typeface="Arial"/>
                <a:cs typeface="Arial"/>
              </a:rPr>
              <a:t>is</a:t>
            </a:r>
            <a:r>
              <a:rPr sz="900" spc="-15" dirty="0">
                <a:latin typeface="Arial"/>
                <a:cs typeface="Arial"/>
              </a:rPr>
              <a:t> </a:t>
            </a:r>
            <a:r>
              <a:rPr sz="900" dirty="0">
                <a:latin typeface="Arial"/>
                <a:cs typeface="Arial"/>
              </a:rPr>
              <a:t>put</a:t>
            </a:r>
            <a:r>
              <a:rPr sz="900" spc="-10" dirty="0">
                <a:latin typeface="Arial"/>
                <a:cs typeface="Arial"/>
              </a:rPr>
              <a:t> </a:t>
            </a:r>
            <a:r>
              <a:rPr sz="900" dirty="0">
                <a:latin typeface="Arial"/>
                <a:cs typeface="Arial"/>
              </a:rPr>
              <a:t>in</a:t>
            </a:r>
            <a:r>
              <a:rPr sz="900" spc="-15" dirty="0">
                <a:latin typeface="Arial"/>
                <a:cs typeface="Arial"/>
              </a:rPr>
              <a:t> </a:t>
            </a:r>
            <a:r>
              <a:rPr sz="900" dirty="0">
                <a:latin typeface="Arial"/>
                <a:cs typeface="Arial"/>
              </a:rPr>
              <a:t>a</a:t>
            </a:r>
            <a:r>
              <a:rPr sz="900" spc="-15" dirty="0">
                <a:latin typeface="Arial"/>
                <a:cs typeface="Arial"/>
              </a:rPr>
              <a:t> </a:t>
            </a:r>
            <a:r>
              <a:rPr sz="900" dirty="0">
                <a:latin typeface="Arial"/>
                <a:cs typeface="Arial"/>
              </a:rPr>
              <a:t>local</a:t>
            </a:r>
            <a:r>
              <a:rPr sz="900" spc="-15" dirty="0">
                <a:latin typeface="Arial"/>
                <a:cs typeface="Arial"/>
              </a:rPr>
              <a:t> </a:t>
            </a:r>
            <a:r>
              <a:rPr sz="900" dirty="0">
                <a:latin typeface="Arial"/>
                <a:cs typeface="Arial"/>
              </a:rPr>
              <a:t>queue</a:t>
            </a:r>
            <a:r>
              <a:rPr sz="900" spc="-10" dirty="0">
                <a:latin typeface="Arial"/>
                <a:cs typeface="Arial"/>
              </a:rPr>
              <a:t> </a:t>
            </a:r>
            <a:r>
              <a:rPr sz="900" i="1" spc="-10" dirty="0">
                <a:latin typeface="Arial"/>
                <a:cs typeface="Arial"/>
              </a:rPr>
              <a:t>queue</a:t>
            </a:r>
            <a:r>
              <a:rPr sz="1050" i="1" spc="-15" baseline="-15873" dirty="0">
                <a:latin typeface="Arial"/>
                <a:cs typeface="Arial"/>
              </a:rPr>
              <a:t>i</a:t>
            </a:r>
            <a:r>
              <a:rPr sz="1050" i="1" spc="-127" baseline="-15873" dirty="0">
                <a:latin typeface="Arial"/>
                <a:cs typeface="Arial"/>
              </a:rPr>
              <a:t> </a:t>
            </a:r>
            <a:r>
              <a:rPr sz="900" spc="-50" dirty="0">
                <a:latin typeface="Arial"/>
                <a:cs typeface="Arial"/>
              </a:rPr>
              <a:t>.</a:t>
            </a:r>
            <a:endParaRPr sz="900">
              <a:latin typeface="Arial"/>
              <a:cs typeface="Arial"/>
            </a:endParaRPr>
          </a:p>
          <a:p>
            <a:pPr marL="303530" marR="338455" indent="-120650">
              <a:lnSpc>
                <a:spcPct val="111600"/>
              </a:lnSpc>
              <a:buClr>
                <a:srgbClr val="3333B2"/>
              </a:buClr>
              <a:buFont typeface="Menlo"/>
              <a:buChar char="•"/>
              <a:tabLst>
                <a:tab pos="300355" algn="l"/>
              </a:tabLst>
            </a:pPr>
            <a:r>
              <a:rPr sz="900" dirty="0">
                <a:latin typeface="Arial"/>
                <a:cs typeface="Arial"/>
              </a:rPr>
              <a:t>Any</a:t>
            </a:r>
            <a:r>
              <a:rPr sz="900" spc="-30" dirty="0">
                <a:latin typeface="Arial"/>
                <a:cs typeface="Arial"/>
              </a:rPr>
              <a:t> </a:t>
            </a:r>
            <a:r>
              <a:rPr sz="900" dirty="0">
                <a:latin typeface="Arial"/>
                <a:cs typeface="Arial"/>
              </a:rPr>
              <a:t>incoming</a:t>
            </a:r>
            <a:r>
              <a:rPr sz="900" spc="-20" dirty="0">
                <a:latin typeface="Arial"/>
                <a:cs typeface="Arial"/>
              </a:rPr>
              <a:t> </a:t>
            </a:r>
            <a:r>
              <a:rPr sz="900" dirty="0">
                <a:latin typeface="Arial"/>
                <a:cs typeface="Arial"/>
              </a:rPr>
              <a:t>message</a:t>
            </a:r>
            <a:r>
              <a:rPr sz="900" spc="-20" dirty="0">
                <a:latin typeface="Arial"/>
                <a:cs typeface="Arial"/>
              </a:rPr>
              <a:t> </a:t>
            </a:r>
            <a:r>
              <a:rPr sz="900" dirty="0">
                <a:latin typeface="Arial"/>
                <a:cs typeface="Arial"/>
              </a:rPr>
              <a:t>at</a:t>
            </a:r>
            <a:r>
              <a:rPr sz="900" spc="-20" dirty="0">
                <a:latin typeface="Arial"/>
                <a:cs typeface="Arial"/>
              </a:rPr>
              <a:t> </a:t>
            </a:r>
            <a:r>
              <a:rPr sz="900" i="1" dirty="0">
                <a:latin typeface="Arial"/>
                <a:cs typeface="Arial"/>
              </a:rPr>
              <a:t>P</a:t>
            </a:r>
            <a:r>
              <a:rPr sz="1050" i="1" baseline="-15873" dirty="0">
                <a:latin typeface="Arial"/>
                <a:cs typeface="Arial"/>
              </a:rPr>
              <a:t>j</a:t>
            </a:r>
            <a:r>
              <a:rPr sz="1050" i="1" spc="202" baseline="-15873" dirty="0">
                <a:latin typeface="Arial"/>
                <a:cs typeface="Arial"/>
              </a:rPr>
              <a:t> </a:t>
            </a:r>
            <a:r>
              <a:rPr sz="900" dirty="0">
                <a:latin typeface="Arial"/>
                <a:cs typeface="Arial"/>
              </a:rPr>
              <a:t>is</a:t>
            </a:r>
            <a:r>
              <a:rPr sz="900" spc="-20" dirty="0">
                <a:latin typeface="Arial"/>
                <a:cs typeface="Arial"/>
              </a:rPr>
              <a:t> </a:t>
            </a:r>
            <a:r>
              <a:rPr sz="900" dirty="0">
                <a:latin typeface="Arial"/>
                <a:cs typeface="Arial"/>
              </a:rPr>
              <a:t>queued</a:t>
            </a:r>
            <a:r>
              <a:rPr sz="900" spc="-20" dirty="0">
                <a:latin typeface="Arial"/>
                <a:cs typeface="Arial"/>
              </a:rPr>
              <a:t> </a:t>
            </a:r>
            <a:r>
              <a:rPr sz="900" dirty="0">
                <a:latin typeface="Arial"/>
                <a:cs typeface="Arial"/>
              </a:rPr>
              <a:t>in</a:t>
            </a:r>
            <a:r>
              <a:rPr sz="900" spc="-20" dirty="0">
                <a:latin typeface="Arial"/>
                <a:cs typeface="Arial"/>
              </a:rPr>
              <a:t> </a:t>
            </a:r>
            <a:r>
              <a:rPr sz="900" i="1" spc="-10" dirty="0">
                <a:latin typeface="Arial"/>
                <a:cs typeface="Arial"/>
              </a:rPr>
              <a:t>queue</a:t>
            </a:r>
            <a:r>
              <a:rPr sz="1050" i="1" spc="-15" baseline="-15873" dirty="0">
                <a:latin typeface="Arial"/>
                <a:cs typeface="Arial"/>
              </a:rPr>
              <a:t>j</a:t>
            </a:r>
            <a:r>
              <a:rPr sz="1050" i="1" spc="-127" baseline="-15873" dirty="0">
                <a:latin typeface="Arial"/>
                <a:cs typeface="Arial"/>
              </a:rPr>
              <a:t> </a:t>
            </a:r>
            <a:r>
              <a:rPr sz="900" dirty="0">
                <a:latin typeface="Arial"/>
                <a:cs typeface="Arial"/>
              </a:rPr>
              <a:t>,</a:t>
            </a:r>
            <a:r>
              <a:rPr sz="900" spc="-25" dirty="0">
                <a:latin typeface="Arial"/>
                <a:cs typeface="Arial"/>
              </a:rPr>
              <a:t> </a:t>
            </a:r>
            <a:r>
              <a:rPr sz="900" dirty="0">
                <a:solidFill>
                  <a:srgbClr val="3333B2"/>
                </a:solidFill>
                <a:latin typeface="Arial"/>
                <a:cs typeface="Arial"/>
              </a:rPr>
              <a:t>according</a:t>
            </a:r>
            <a:r>
              <a:rPr sz="900" spc="-20" dirty="0">
                <a:solidFill>
                  <a:srgbClr val="3333B2"/>
                </a:solidFill>
                <a:latin typeface="Arial"/>
                <a:cs typeface="Arial"/>
              </a:rPr>
              <a:t> </a:t>
            </a:r>
            <a:r>
              <a:rPr sz="900" dirty="0">
                <a:solidFill>
                  <a:srgbClr val="3333B2"/>
                </a:solidFill>
                <a:latin typeface="Arial"/>
                <a:cs typeface="Arial"/>
              </a:rPr>
              <a:t>to</a:t>
            </a:r>
            <a:r>
              <a:rPr sz="900" spc="-20" dirty="0">
                <a:solidFill>
                  <a:srgbClr val="3333B2"/>
                </a:solidFill>
                <a:latin typeface="Arial"/>
                <a:cs typeface="Arial"/>
              </a:rPr>
              <a:t> </a:t>
            </a:r>
            <a:r>
              <a:rPr sz="900" spc="-25" dirty="0">
                <a:solidFill>
                  <a:srgbClr val="3333B2"/>
                </a:solidFill>
                <a:latin typeface="Arial"/>
                <a:cs typeface="Arial"/>
              </a:rPr>
              <a:t>its </a:t>
            </a:r>
            <a:r>
              <a:rPr sz="900" dirty="0">
                <a:solidFill>
                  <a:srgbClr val="3333B2"/>
                </a:solidFill>
                <a:latin typeface="Arial"/>
                <a:cs typeface="Arial"/>
              </a:rPr>
              <a:t>timestamp</a:t>
            </a:r>
            <a:r>
              <a:rPr sz="900" dirty="0">
                <a:latin typeface="Arial"/>
                <a:cs typeface="Arial"/>
              </a:rPr>
              <a:t>,</a:t>
            </a:r>
            <a:r>
              <a:rPr sz="900" spc="-25" dirty="0">
                <a:latin typeface="Arial"/>
                <a:cs typeface="Arial"/>
              </a:rPr>
              <a:t> </a:t>
            </a:r>
            <a:r>
              <a:rPr sz="900" dirty="0">
                <a:latin typeface="Arial"/>
                <a:cs typeface="Arial"/>
              </a:rPr>
              <a:t>and</a:t>
            </a:r>
            <a:r>
              <a:rPr sz="900" spc="-25" dirty="0">
                <a:latin typeface="Arial"/>
                <a:cs typeface="Arial"/>
              </a:rPr>
              <a:t> </a:t>
            </a:r>
            <a:r>
              <a:rPr sz="900" spc="-10" dirty="0">
                <a:solidFill>
                  <a:srgbClr val="3333B2"/>
                </a:solidFill>
                <a:latin typeface="Arial"/>
                <a:cs typeface="Arial"/>
              </a:rPr>
              <a:t>acknowledged</a:t>
            </a:r>
            <a:r>
              <a:rPr sz="900" spc="-25" dirty="0">
                <a:solidFill>
                  <a:srgbClr val="3333B2"/>
                </a:solidFill>
                <a:latin typeface="Arial"/>
                <a:cs typeface="Arial"/>
              </a:rPr>
              <a:t> </a:t>
            </a:r>
            <a:r>
              <a:rPr sz="900" dirty="0">
                <a:latin typeface="Arial"/>
                <a:cs typeface="Arial"/>
              </a:rPr>
              <a:t>to</a:t>
            </a:r>
            <a:r>
              <a:rPr sz="900" spc="-20" dirty="0">
                <a:latin typeface="Arial"/>
                <a:cs typeface="Arial"/>
              </a:rPr>
              <a:t> </a:t>
            </a:r>
            <a:r>
              <a:rPr sz="900" dirty="0">
                <a:latin typeface="Arial"/>
                <a:cs typeface="Arial"/>
              </a:rPr>
              <a:t>every</a:t>
            </a:r>
            <a:r>
              <a:rPr sz="900" spc="-25" dirty="0">
                <a:latin typeface="Arial"/>
                <a:cs typeface="Arial"/>
              </a:rPr>
              <a:t> </a:t>
            </a:r>
            <a:r>
              <a:rPr sz="900" dirty="0">
                <a:latin typeface="Arial"/>
                <a:cs typeface="Arial"/>
              </a:rPr>
              <a:t>other</a:t>
            </a:r>
            <a:r>
              <a:rPr sz="900" spc="-25" dirty="0">
                <a:latin typeface="Arial"/>
                <a:cs typeface="Arial"/>
              </a:rPr>
              <a:t> </a:t>
            </a:r>
            <a:r>
              <a:rPr sz="900" spc="-10" dirty="0">
                <a:latin typeface="Arial"/>
                <a:cs typeface="Arial"/>
              </a:rPr>
              <a:t>process.</a:t>
            </a:r>
            <a:endParaRPr sz="900">
              <a:latin typeface="Arial"/>
              <a:cs typeface="Arial"/>
            </a:endParaRPr>
          </a:p>
          <a:p>
            <a:pPr>
              <a:lnSpc>
                <a:spcPct val="100000"/>
              </a:lnSpc>
              <a:spcBef>
                <a:spcPts val="30"/>
              </a:spcBef>
            </a:pPr>
            <a:endParaRPr sz="1200">
              <a:latin typeface="Arial"/>
              <a:cs typeface="Arial"/>
            </a:endParaRPr>
          </a:p>
          <a:p>
            <a:pPr marL="50800">
              <a:lnSpc>
                <a:spcPct val="100000"/>
              </a:lnSpc>
            </a:pPr>
            <a:r>
              <a:rPr sz="1000" i="1" dirty="0">
                <a:solidFill>
                  <a:srgbClr val="C80000"/>
                </a:solidFill>
                <a:latin typeface="Arial"/>
                <a:cs typeface="Arial"/>
              </a:rPr>
              <a:t>P</a:t>
            </a:r>
            <a:r>
              <a:rPr sz="1050" i="1" baseline="-15873" dirty="0">
                <a:solidFill>
                  <a:srgbClr val="C80000"/>
                </a:solidFill>
                <a:latin typeface="Arial"/>
                <a:cs typeface="Arial"/>
              </a:rPr>
              <a:t>j</a:t>
            </a:r>
            <a:r>
              <a:rPr sz="1050" i="1" spc="254" baseline="-15873" dirty="0">
                <a:solidFill>
                  <a:srgbClr val="C80000"/>
                </a:solidFill>
                <a:latin typeface="Arial"/>
                <a:cs typeface="Arial"/>
              </a:rPr>
              <a:t> </a:t>
            </a:r>
            <a:r>
              <a:rPr sz="1000" dirty="0">
                <a:solidFill>
                  <a:srgbClr val="C80000"/>
                </a:solidFill>
                <a:latin typeface="Arial"/>
                <a:cs typeface="Arial"/>
              </a:rPr>
              <a:t>passes</a:t>
            </a:r>
            <a:r>
              <a:rPr sz="1000" spc="-20" dirty="0">
                <a:solidFill>
                  <a:srgbClr val="C80000"/>
                </a:solidFill>
                <a:latin typeface="Arial"/>
                <a:cs typeface="Arial"/>
              </a:rPr>
              <a:t> </a:t>
            </a:r>
            <a:r>
              <a:rPr sz="1000" dirty="0">
                <a:solidFill>
                  <a:srgbClr val="C80000"/>
                </a:solidFill>
                <a:latin typeface="Arial"/>
                <a:cs typeface="Arial"/>
              </a:rPr>
              <a:t>a</a:t>
            </a:r>
            <a:r>
              <a:rPr sz="1000" spc="-25" dirty="0">
                <a:solidFill>
                  <a:srgbClr val="C80000"/>
                </a:solidFill>
                <a:latin typeface="Arial"/>
                <a:cs typeface="Arial"/>
              </a:rPr>
              <a:t> </a:t>
            </a:r>
            <a:r>
              <a:rPr sz="1000" dirty="0">
                <a:solidFill>
                  <a:srgbClr val="C80000"/>
                </a:solidFill>
                <a:latin typeface="Arial"/>
                <a:cs typeface="Arial"/>
              </a:rPr>
              <a:t>message</a:t>
            </a:r>
            <a:r>
              <a:rPr sz="1000" spc="-20" dirty="0">
                <a:solidFill>
                  <a:srgbClr val="C80000"/>
                </a:solidFill>
                <a:latin typeface="Arial"/>
                <a:cs typeface="Arial"/>
              </a:rPr>
              <a:t> </a:t>
            </a:r>
            <a:r>
              <a:rPr sz="1000" i="1" dirty="0">
                <a:solidFill>
                  <a:srgbClr val="C80000"/>
                </a:solidFill>
                <a:latin typeface="Arial"/>
                <a:cs typeface="Arial"/>
              </a:rPr>
              <a:t>m</a:t>
            </a:r>
            <a:r>
              <a:rPr sz="1050" i="1" baseline="-15873" dirty="0">
                <a:solidFill>
                  <a:srgbClr val="C80000"/>
                </a:solidFill>
                <a:latin typeface="Arial"/>
                <a:cs typeface="Arial"/>
              </a:rPr>
              <a:t>i</a:t>
            </a:r>
            <a:r>
              <a:rPr sz="1050" i="1" spc="254" baseline="-15873" dirty="0">
                <a:solidFill>
                  <a:srgbClr val="C80000"/>
                </a:solidFill>
                <a:latin typeface="Arial"/>
                <a:cs typeface="Arial"/>
              </a:rPr>
              <a:t> </a:t>
            </a:r>
            <a:r>
              <a:rPr sz="1000" dirty="0">
                <a:solidFill>
                  <a:srgbClr val="C80000"/>
                </a:solidFill>
                <a:latin typeface="Arial"/>
                <a:cs typeface="Arial"/>
              </a:rPr>
              <a:t>to</a:t>
            </a:r>
            <a:r>
              <a:rPr sz="1000" spc="-20" dirty="0">
                <a:solidFill>
                  <a:srgbClr val="C80000"/>
                </a:solidFill>
                <a:latin typeface="Arial"/>
                <a:cs typeface="Arial"/>
              </a:rPr>
              <a:t> </a:t>
            </a:r>
            <a:r>
              <a:rPr sz="1000" dirty="0">
                <a:solidFill>
                  <a:srgbClr val="C80000"/>
                </a:solidFill>
                <a:latin typeface="Arial"/>
                <a:cs typeface="Arial"/>
              </a:rPr>
              <a:t>its</a:t>
            </a:r>
            <a:r>
              <a:rPr sz="1000" spc="-20" dirty="0">
                <a:solidFill>
                  <a:srgbClr val="C80000"/>
                </a:solidFill>
                <a:latin typeface="Arial"/>
                <a:cs typeface="Arial"/>
              </a:rPr>
              <a:t> </a:t>
            </a:r>
            <a:r>
              <a:rPr sz="1000" dirty="0">
                <a:solidFill>
                  <a:srgbClr val="C80000"/>
                </a:solidFill>
                <a:latin typeface="Arial"/>
                <a:cs typeface="Arial"/>
              </a:rPr>
              <a:t>application</a:t>
            </a:r>
            <a:r>
              <a:rPr sz="1000" spc="-20" dirty="0">
                <a:solidFill>
                  <a:srgbClr val="C80000"/>
                </a:solidFill>
                <a:latin typeface="Arial"/>
                <a:cs typeface="Arial"/>
              </a:rPr>
              <a:t> </a:t>
            </a:r>
            <a:r>
              <a:rPr sz="1000" spc="-25" dirty="0">
                <a:solidFill>
                  <a:srgbClr val="C80000"/>
                </a:solidFill>
                <a:latin typeface="Arial"/>
                <a:cs typeface="Arial"/>
              </a:rPr>
              <a:t>if:</a:t>
            </a:r>
            <a:endParaRPr sz="1000">
              <a:latin typeface="Arial"/>
              <a:cs typeface="Arial"/>
            </a:endParaRPr>
          </a:p>
          <a:p>
            <a:pPr marL="303530" indent="-203200">
              <a:lnSpc>
                <a:spcPct val="100000"/>
              </a:lnSpc>
              <a:spcBef>
                <a:spcPts val="830"/>
              </a:spcBef>
              <a:buClr>
                <a:srgbClr val="3333B2"/>
              </a:buClr>
              <a:buFont typeface="Arial"/>
              <a:buAutoNum type="arabicParenBoth"/>
              <a:tabLst>
                <a:tab pos="304165" algn="l"/>
              </a:tabLst>
            </a:pPr>
            <a:r>
              <a:rPr sz="900" i="1" dirty="0">
                <a:latin typeface="Arial"/>
                <a:cs typeface="Arial"/>
              </a:rPr>
              <a:t>m</a:t>
            </a:r>
            <a:r>
              <a:rPr sz="1050" i="1" baseline="-15873" dirty="0">
                <a:latin typeface="Arial"/>
                <a:cs typeface="Arial"/>
              </a:rPr>
              <a:t>i</a:t>
            </a:r>
            <a:r>
              <a:rPr sz="1050" i="1" spc="217" baseline="-15873" dirty="0">
                <a:latin typeface="Arial"/>
                <a:cs typeface="Arial"/>
              </a:rPr>
              <a:t> </a:t>
            </a:r>
            <a:r>
              <a:rPr sz="900" dirty="0">
                <a:latin typeface="Arial"/>
                <a:cs typeface="Arial"/>
              </a:rPr>
              <a:t>is</a:t>
            </a:r>
            <a:r>
              <a:rPr sz="900" spc="-15" dirty="0">
                <a:latin typeface="Arial"/>
                <a:cs typeface="Arial"/>
              </a:rPr>
              <a:t> </a:t>
            </a:r>
            <a:r>
              <a:rPr sz="900" dirty="0">
                <a:latin typeface="Arial"/>
                <a:cs typeface="Arial"/>
              </a:rPr>
              <a:t>at</a:t>
            </a:r>
            <a:r>
              <a:rPr sz="900" spc="-15" dirty="0">
                <a:latin typeface="Arial"/>
                <a:cs typeface="Arial"/>
              </a:rPr>
              <a:t> </a:t>
            </a:r>
            <a:r>
              <a:rPr sz="900" dirty="0">
                <a:latin typeface="Arial"/>
                <a:cs typeface="Arial"/>
              </a:rPr>
              <a:t>the</a:t>
            </a:r>
            <a:r>
              <a:rPr sz="900" spc="-15" dirty="0">
                <a:latin typeface="Arial"/>
                <a:cs typeface="Arial"/>
              </a:rPr>
              <a:t> </a:t>
            </a:r>
            <a:r>
              <a:rPr sz="900" dirty="0">
                <a:latin typeface="Arial"/>
                <a:cs typeface="Arial"/>
              </a:rPr>
              <a:t>head</a:t>
            </a:r>
            <a:r>
              <a:rPr sz="900" spc="-15" dirty="0">
                <a:latin typeface="Arial"/>
                <a:cs typeface="Arial"/>
              </a:rPr>
              <a:t> </a:t>
            </a:r>
            <a:r>
              <a:rPr sz="900" dirty="0">
                <a:latin typeface="Arial"/>
                <a:cs typeface="Arial"/>
              </a:rPr>
              <a:t>of</a:t>
            </a:r>
            <a:r>
              <a:rPr sz="900" spc="-15" dirty="0">
                <a:latin typeface="Arial"/>
                <a:cs typeface="Arial"/>
              </a:rPr>
              <a:t> </a:t>
            </a:r>
            <a:r>
              <a:rPr sz="900" i="1" spc="-10" dirty="0">
                <a:latin typeface="Arial"/>
                <a:cs typeface="Arial"/>
              </a:rPr>
              <a:t>queue</a:t>
            </a:r>
            <a:r>
              <a:rPr sz="1050" i="1" spc="-15" baseline="-15873" dirty="0">
                <a:latin typeface="Arial"/>
                <a:cs typeface="Arial"/>
              </a:rPr>
              <a:t>j</a:t>
            </a:r>
            <a:endParaRPr sz="1050" baseline="-15873">
              <a:latin typeface="Arial"/>
              <a:cs typeface="Arial"/>
            </a:endParaRPr>
          </a:p>
          <a:p>
            <a:pPr marL="303530" marR="264160" indent="-202565">
              <a:lnSpc>
                <a:spcPct val="111600"/>
              </a:lnSpc>
              <a:buClr>
                <a:srgbClr val="3333B2"/>
              </a:buClr>
              <a:buAutoNum type="arabicParenBoth"/>
              <a:tabLst>
                <a:tab pos="304165" algn="l"/>
              </a:tabLst>
            </a:pPr>
            <a:r>
              <a:rPr sz="900" dirty="0">
                <a:latin typeface="Arial"/>
                <a:cs typeface="Arial"/>
              </a:rPr>
              <a:t>for</a:t>
            </a:r>
            <a:r>
              <a:rPr sz="900" spc="-30" dirty="0">
                <a:latin typeface="Arial"/>
                <a:cs typeface="Arial"/>
              </a:rPr>
              <a:t> </a:t>
            </a:r>
            <a:r>
              <a:rPr sz="900" dirty="0">
                <a:latin typeface="Arial"/>
                <a:cs typeface="Arial"/>
              </a:rPr>
              <a:t>each</a:t>
            </a:r>
            <a:r>
              <a:rPr sz="900" spc="-20" dirty="0">
                <a:latin typeface="Arial"/>
                <a:cs typeface="Arial"/>
              </a:rPr>
              <a:t> </a:t>
            </a:r>
            <a:r>
              <a:rPr sz="900" dirty="0">
                <a:latin typeface="Arial"/>
                <a:cs typeface="Arial"/>
              </a:rPr>
              <a:t>process</a:t>
            </a:r>
            <a:r>
              <a:rPr sz="900" spc="-25" dirty="0">
                <a:latin typeface="Arial"/>
                <a:cs typeface="Arial"/>
              </a:rPr>
              <a:t> </a:t>
            </a:r>
            <a:r>
              <a:rPr sz="900" i="1" spc="-10" dirty="0">
                <a:latin typeface="Arial"/>
                <a:cs typeface="Arial"/>
              </a:rPr>
              <a:t>P</a:t>
            </a:r>
            <a:r>
              <a:rPr sz="1050" i="1" spc="-15" baseline="-15873" dirty="0">
                <a:latin typeface="Arial"/>
                <a:cs typeface="Arial"/>
              </a:rPr>
              <a:t>k</a:t>
            </a:r>
            <a:r>
              <a:rPr sz="1050" i="1" spc="-112" baseline="-15873" dirty="0">
                <a:latin typeface="Arial"/>
                <a:cs typeface="Arial"/>
              </a:rPr>
              <a:t> </a:t>
            </a:r>
            <a:r>
              <a:rPr sz="900" dirty="0">
                <a:latin typeface="Arial"/>
                <a:cs typeface="Arial"/>
              </a:rPr>
              <a:t>,</a:t>
            </a:r>
            <a:r>
              <a:rPr sz="900" spc="-20" dirty="0">
                <a:latin typeface="Arial"/>
                <a:cs typeface="Arial"/>
              </a:rPr>
              <a:t> </a:t>
            </a:r>
            <a:r>
              <a:rPr sz="900" dirty="0">
                <a:latin typeface="Arial"/>
                <a:cs typeface="Arial"/>
              </a:rPr>
              <a:t>there</a:t>
            </a:r>
            <a:r>
              <a:rPr sz="900" spc="-20" dirty="0">
                <a:latin typeface="Arial"/>
                <a:cs typeface="Arial"/>
              </a:rPr>
              <a:t> </a:t>
            </a:r>
            <a:r>
              <a:rPr sz="900" dirty="0">
                <a:latin typeface="Arial"/>
                <a:cs typeface="Arial"/>
              </a:rPr>
              <a:t>is</a:t>
            </a:r>
            <a:r>
              <a:rPr sz="900" spc="-20" dirty="0">
                <a:latin typeface="Arial"/>
                <a:cs typeface="Arial"/>
              </a:rPr>
              <a:t> </a:t>
            </a:r>
            <a:r>
              <a:rPr sz="900" dirty="0">
                <a:latin typeface="Arial"/>
                <a:cs typeface="Arial"/>
              </a:rPr>
              <a:t>a</a:t>
            </a:r>
            <a:r>
              <a:rPr sz="900" spc="-20" dirty="0">
                <a:latin typeface="Arial"/>
                <a:cs typeface="Arial"/>
              </a:rPr>
              <a:t> </a:t>
            </a:r>
            <a:r>
              <a:rPr sz="900" dirty="0">
                <a:latin typeface="Arial"/>
                <a:cs typeface="Arial"/>
              </a:rPr>
              <a:t>message</a:t>
            </a:r>
            <a:r>
              <a:rPr sz="900" spc="-20" dirty="0">
                <a:latin typeface="Arial"/>
                <a:cs typeface="Arial"/>
              </a:rPr>
              <a:t> </a:t>
            </a:r>
            <a:r>
              <a:rPr sz="900" i="1" dirty="0">
                <a:latin typeface="Arial"/>
                <a:cs typeface="Arial"/>
              </a:rPr>
              <a:t>m</a:t>
            </a:r>
            <a:r>
              <a:rPr sz="1050" i="1" baseline="-15873" dirty="0">
                <a:latin typeface="Arial"/>
                <a:cs typeface="Arial"/>
              </a:rPr>
              <a:t>k</a:t>
            </a:r>
            <a:r>
              <a:rPr sz="1050" i="1" spc="209" baseline="-15873" dirty="0">
                <a:latin typeface="Arial"/>
                <a:cs typeface="Arial"/>
              </a:rPr>
              <a:t> </a:t>
            </a:r>
            <a:r>
              <a:rPr sz="900" dirty="0">
                <a:latin typeface="Arial"/>
                <a:cs typeface="Arial"/>
              </a:rPr>
              <a:t>in</a:t>
            </a:r>
            <a:r>
              <a:rPr sz="900" spc="-20" dirty="0">
                <a:latin typeface="Arial"/>
                <a:cs typeface="Arial"/>
              </a:rPr>
              <a:t> </a:t>
            </a:r>
            <a:r>
              <a:rPr sz="900" i="1" dirty="0">
                <a:latin typeface="Arial"/>
                <a:cs typeface="Arial"/>
              </a:rPr>
              <a:t>queue</a:t>
            </a:r>
            <a:r>
              <a:rPr sz="1050" i="1" baseline="-15873" dirty="0">
                <a:latin typeface="Arial"/>
                <a:cs typeface="Arial"/>
              </a:rPr>
              <a:t>j</a:t>
            </a:r>
            <a:r>
              <a:rPr sz="1050" i="1" spc="202" baseline="-15873" dirty="0">
                <a:latin typeface="Arial"/>
                <a:cs typeface="Arial"/>
              </a:rPr>
              <a:t> </a:t>
            </a:r>
            <a:r>
              <a:rPr sz="900" dirty="0">
                <a:latin typeface="Arial"/>
                <a:cs typeface="Arial"/>
              </a:rPr>
              <a:t>with</a:t>
            </a:r>
            <a:r>
              <a:rPr sz="900" spc="-20" dirty="0">
                <a:latin typeface="Arial"/>
                <a:cs typeface="Arial"/>
              </a:rPr>
              <a:t> </a:t>
            </a:r>
            <a:r>
              <a:rPr sz="900" dirty="0">
                <a:latin typeface="Arial"/>
                <a:cs typeface="Arial"/>
              </a:rPr>
              <a:t>a</a:t>
            </a:r>
            <a:r>
              <a:rPr sz="900" spc="-20" dirty="0">
                <a:latin typeface="Arial"/>
                <a:cs typeface="Arial"/>
              </a:rPr>
              <a:t> </a:t>
            </a:r>
            <a:r>
              <a:rPr sz="900" spc="-10" dirty="0">
                <a:latin typeface="Arial"/>
                <a:cs typeface="Arial"/>
              </a:rPr>
              <a:t>larger timestamp.</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691515"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3" action="ppaction://hlinksldjump"/>
              </a:rPr>
              <a:t>Lamport’s</a:t>
            </a:r>
            <a:r>
              <a:rPr sz="500" spc="15" dirty="0">
                <a:latin typeface="Arial"/>
                <a:cs typeface="Arial"/>
                <a:hlinkClick r:id="rId3" action="ppaction://hlinksldjump"/>
              </a:rPr>
              <a:t> </a:t>
            </a:r>
            <a:r>
              <a:rPr sz="500" dirty="0">
                <a:latin typeface="Arial"/>
                <a:cs typeface="Arial"/>
                <a:hlinkClick r:id="rId3" action="ppaction://hlinksldjump"/>
              </a:rPr>
              <a:t>logical</a:t>
            </a:r>
            <a:r>
              <a:rPr sz="500" spc="15" dirty="0">
                <a:latin typeface="Arial"/>
                <a:cs typeface="Arial"/>
                <a:hlinkClick r:id="rId3" action="ppaction://hlinksldjump"/>
              </a:rPr>
              <a:t> </a:t>
            </a:r>
            <a:r>
              <a:rPr sz="500" spc="-10" dirty="0">
                <a:latin typeface="Arial"/>
                <a:cs typeface="Arial"/>
                <a:hlinkClick r:id="rId3" action="ppaction://hlinksldjump"/>
              </a:rPr>
              <a:t>clocks</a:t>
            </a:r>
            <a:endParaRPr sz="500">
              <a:latin typeface="Arial"/>
              <a:cs typeface="Arial"/>
            </a:endParaRPr>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4095750" algn="l"/>
              </a:tabLst>
            </a:pPr>
            <a:r>
              <a:rPr sz="500" spc="-10" dirty="0">
                <a:latin typeface="Arial"/>
                <a:cs typeface="Arial"/>
                <a:hlinkClick r:id="rId2" action="ppaction://hlinksldjump"/>
              </a:rPr>
              <a:t>Coordination</a:t>
            </a:r>
            <a:r>
              <a:rPr sz="500" dirty="0">
                <a:latin typeface="Arial"/>
                <a:cs typeface="Arial"/>
              </a:rPr>
              <a:t>	</a:t>
            </a:r>
            <a:r>
              <a:rPr sz="500" dirty="0">
                <a:solidFill>
                  <a:srgbClr val="FFFFFF"/>
                </a:solidFill>
                <a:latin typeface="Arial"/>
                <a:cs typeface="Arial"/>
                <a:hlinkClick r:id="rId3" action="ppaction://hlinksldjump"/>
              </a:rPr>
              <a:t>Logical</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clocks</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Example:</a:t>
            </a:r>
            <a:r>
              <a:rPr spc="20" dirty="0"/>
              <a:t> </a:t>
            </a:r>
            <a:r>
              <a:rPr spc="-20" dirty="0"/>
              <a:t>Totally</a:t>
            </a:r>
            <a:r>
              <a:rPr spc="-45" dirty="0"/>
              <a:t> </a:t>
            </a:r>
            <a:r>
              <a:rPr dirty="0"/>
              <a:t>ordered</a:t>
            </a:r>
            <a:r>
              <a:rPr spc="-45" dirty="0"/>
              <a:t> </a:t>
            </a:r>
            <a:r>
              <a:rPr spc="-10" dirty="0"/>
              <a:t>multicast</a:t>
            </a:r>
          </a:p>
        </p:txBody>
      </p:sp>
      <p:sp>
        <p:nvSpPr>
          <p:cNvPr id="4" name="object 4"/>
          <p:cNvSpPr txBox="1"/>
          <p:nvPr/>
        </p:nvSpPr>
        <p:spPr>
          <a:xfrm>
            <a:off x="296494" y="443244"/>
            <a:ext cx="3971925" cy="2270125"/>
          </a:xfrm>
          <a:prstGeom prst="rect">
            <a:avLst/>
          </a:prstGeom>
        </p:spPr>
        <p:txBody>
          <a:bodyPr vert="horz" wrap="square" lIns="0" tIns="83820" rIns="0" bIns="0" rtlCol="0">
            <a:spAutoFit/>
          </a:bodyPr>
          <a:lstStyle/>
          <a:p>
            <a:pPr marL="63500">
              <a:lnSpc>
                <a:spcPct val="100000"/>
              </a:lnSpc>
              <a:spcBef>
                <a:spcPts val="660"/>
              </a:spcBef>
            </a:pPr>
            <a:r>
              <a:rPr sz="1000" spc="-10" dirty="0">
                <a:solidFill>
                  <a:srgbClr val="3333B2"/>
                </a:solidFill>
                <a:latin typeface="Arial"/>
                <a:cs typeface="Arial"/>
              </a:rPr>
              <a:t>Solution</a:t>
            </a:r>
            <a:endParaRPr sz="1000">
              <a:latin typeface="Arial"/>
              <a:cs typeface="Arial"/>
            </a:endParaRPr>
          </a:p>
          <a:p>
            <a:pPr marL="316230" marR="43180" indent="-120650">
              <a:lnSpc>
                <a:spcPct val="111600"/>
              </a:lnSpc>
              <a:spcBef>
                <a:spcPts val="375"/>
              </a:spcBef>
              <a:buClr>
                <a:srgbClr val="3333B2"/>
              </a:buClr>
              <a:buFont typeface="Menlo"/>
              <a:buChar char="•"/>
              <a:tabLst>
                <a:tab pos="316865" algn="l"/>
              </a:tabLst>
            </a:pPr>
            <a:r>
              <a:rPr sz="900" dirty="0">
                <a:latin typeface="Arial"/>
                <a:cs typeface="Arial"/>
              </a:rPr>
              <a:t>Process</a:t>
            </a:r>
            <a:r>
              <a:rPr sz="900" spc="-30" dirty="0">
                <a:latin typeface="Arial"/>
                <a:cs typeface="Arial"/>
              </a:rPr>
              <a:t> </a:t>
            </a:r>
            <a:r>
              <a:rPr sz="900" i="1" dirty="0">
                <a:latin typeface="Arial"/>
                <a:cs typeface="Arial"/>
              </a:rPr>
              <a:t>P</a:t>
            </a:r>
            <a:r>
              <a:rPr sz="1050" i="1" baseline="-15873" dirty="0">
                <a:latin typeface="Arial"/>
                <a:cs typeface="Arial"/>
              </a:rPr>
              <a:t>i</a:t>
            </a:r>
            <a:r>
              <a:rPr sz="1050" i="1" spc="195" baseline="-15873" dirty="0">
                <a:latin typeface="Arial"/>
                <a:cs typeface="Arial"/>
              </a:rPr>
              <a:t> </a:t>
            </a:r>
            <a:r>
              <a:rPr sz="900" dirty="0">
                <a:latin typeface="Arial"/>
                <a:cs typeface="Arial"/>
              </a:rPr>
              <a:t>sends</a:t>
            </a:r>
            <a:r>
              <a:rPr sz="900" spc="-25" dirty="0">
                <a:latin typeface="Arial"/>
                <a:cs typeface="Arial"/>
              </a:rPr>
              <a:t> </a:t>
            </a:r>
            <a:r>
              <a:rPr sz="900" dirty="0">
                <a:solidFill>
                  <a:srgbClr val="3333B2"/>
                </a:solidFill>
                <a:latin typeface="Arial"/>
                <a:cs typeface="Arial"/>
              </a:rPr>
              <a:t>timestamped</a:t>
            </a:r>
            <a:r>
              <a:rPr sz="900" spc="-30" dirty="0">
                <a:solidFill>
                  <a:srgbClr val="3333B2"/>
                </a:solidFill>
                <a:latin typeface="Arial"/>
                <a:cs typeface="Arial"/>
              </a:rPr>
              <a:t> </a:t>
            </a:r>
            <a:r>
              <a:rPr sz="900" dirty="0">
                <a:solidFill>
                  <a:srgbClr val="3333B2"/>
                </a:solidFill>
                <a:latin typeface="Arial"/>
                <a:cs typeface="Arial"/>
              </a:rPr>
              <a:t>message</a:t>
            </a:r>
            <a:r>
              <a:rPr sz="900" spc="-25" dirty="0">
                <a:solidFill>
                  <a:srgbClr val="3333B2"/>
                </a:solidFill>
                <a:latin typeface="Arial"/>
                <a:cs typeface="Arial"/>
              </a:rPr>
              <a:t> </a:t>
            </a:r>
            <a:r>
              <a:rPr sz="900" i="1" dirty="0">
                <a:latin typeface="Arial"/>
                <a:cs typeface="Arial"/>
              </a:rPr>
              <a:t>m</a:t>
            </a:r>
            <a:r>
              <a:rPr sz="1050" i="1" baseline="-15873" dirty="0">
                <a:latin typeface="Arial"/>
                <a:cs typeface="Arial"/>
              </a:rPr>
              <a:t>i</a:t>
            </a:r>
            <a:r>
              <a:rPr sz="1050" i="1" spc="195" baseline="-15873" dirty="0">
                <a:latin typeface="Arial"/>
                <a:cs typeface="Arial"/>
              </a:rPr>
              <a:t> </a:t>
            </a:r>
            <a:r>
              <a:rPr sz="900" dirty="0">
                <a:latin typeface="Arial"/>
                <a:cs typeface="Arial"/>
              </a:rPr>
              <a:t>to</a:t>
            </a:r>
            <a:r>
              <a:rPr sz="900" spc="-30" dirty="0">
                <a:latin typeface="Arial"/>
                <a:cs typeface="Arial"/>
              </a:rPr>
              <a:t> </a:t>
            </a:r>
            <a:r>
              <a:rPr sz="900" dirty="0">
                <a:latin typeface="Arial"/>
                <a:cs typeface="Arial"/>
              </a:rPr>
              <a:t>all</a:t>
            </a:r>
            <a:r>
              <a:rPr sz="900" spc="-25" dirty="0">
                <a:latin typeface="Arial"/>
                <a:cs typeface="Arial"/>
              </a:rPr>
              <a:t> </a:t>
            </a:r>
            <a:r>
              <a:rPr sz="900" dirty="0">
                <a:latin typeface="Arial"/>
                <a:cs typeface="Arial"/>
              </a:rPr>
              <a:t>others.</a:t>
            </a:r>
            <a:r>
              <a:rPr sz="900" spc="30" dirty="0">
                <a:latin typeface="Arial"/>
                <a:cs typeface="Arial"/>
              </a:rPr>
              <a:t> </a:t>
            </a:r>
            <a:r>
              <a:rPr sz="900" dirty="0">
                <a:latin typeface="Arial"/>
                <a:cs typeface="Arial"/>
              </a:rPr>
              <a:t>The</a:t>
            </a:r>
            <a:r>
              <a:rPr sz="900" spc="-30" dirty="0">
                <a:latin typeface="Arial"/>
                <a:cs typeface="Arial"/>
              </a:rPr>
              <a:t> </a:t>
            </a:r>
            <a:r>
              <a:rPr sz="900" spc="-10" dirty="0">
                <a:latin typeface="Arial"/>
                <a:cs typeface="Arial"/>
              </a:rPr>
              <a:t>message </a:t>
            </a:r>
            <a:r>
              <a:rPr sz="900" dirty="0">
                <a:latin typeface="Arial"/>
                <a:cs typeface="Arial"/>
              </a:rPr>
              <a:t>itself</a:t>
            </a:r>
            <a:r>
              <a:rPr sz="900" spc="-20" dirty="0">
                <a:latin typeface="Arial"/>
                <a:cs typeface="Arial"/>
              </a:rPr>
              <a:t> </a:t>
            </a:r>
            <a:r>
              <a:rPr sz="900" dirty="0">
                <a:latin typeface="Arial"/>
                <a:cs typeface="Arial"/>
              </a:rPr>
              <a:t>is</a:t>
            </a:r>
            <a:r>
              <a:rPr sz="900" spc="-15" dirty="0">
                <a:latin typeface="Arial"/>
                <a:cs typeface="Arial"/>
              </a:rPr>
              <a:t> </a:t>
            </a:r>
            <a:r>
              <a:rPr sz="900" dirty="0">
                <a:latin typeface="Arial"/>
                <a:cs typeface="Arial"/>
              </a:rPr>
              <a:t>put</a:t>
            </a:r>
            <a:r>
              <a:rPr sz="900" spc="-10" dirty="0">
                <a:latin typeface="Arial"/>
                <a:cs typeface="Arial"/>
              </a:rPr>
              <a:t> </a:t>
            </a:r>
            <a:r>
              <a:rPr sz="900" dirty="0">
                <a:latin typeface="Arial"/>
                <a:cs typeface="Arial"/>
              </a:rPr>
              <a:t>in</a:t>
            </a:r>
            <a:r>
              <a:rPr sz="900" spc="-15" dirty="0">
                <a:latin typeface="Arial"/>
                <a:cs typeface="Arial"/>
              </a:rPr>
              <a:t> </a:t>
            </a:r>
            <a:r>
              <a:rPr sz="900" dirty="0">
                <a:latin typeface="Arial"/>
                <a:cs typeface="Arial"/>
              </a:rPr>
              <a:t>a</a:t>
            </a:r>
            <a:r>
              <a:rPr sz="900" spc="-15" dirty="0">
                <a:latin typeface="Arial"/>
                <a:cs typeface="Arial"/>
              </a:rPr>
              <a:t> </a:t>
            </a:r>
            <a:r>
              <a:rPr sz="900" dirty="0">
                <a:latin typeface="Arial"/>
                <a:cs typeface="Arial"/>
              </a:rPr>
              <a:t>local</a:t>
            </a:r>
            <a:r>
              <a:rPr sz="900" spc="-15" dirty="0">
                <a:latin typeface="Arial"/>
                <a:cs typeface="Arial"/>
              </a:rPr>
              <a:t> </a:t>
            </a:r>
            <a:r>
              <a:rPr sz="900" dirty="0">
                <a:latin typeface="Arial"/>
                <a:cs typeface="Arial"/>
              </a:rPr>
              <a:t>queue</a:t>
            </a:r>
            <a:r>
              <a:rPr sz="900" spc="-10" dirty="0">
                <a:latin typeface="Arial"/>
                <a:cs typeface="Arial"/>
              </a:rPr>
              <a:t> </a:t>
            </a:r>
            <a:r>
              <a:rPr sz="900" i="1" spc="-10" dirty="0">
                <a:latin typeface="Arial"/>
                <a:cs typeface="Arial"/>
              </a:rPr>
              <a:t>queue</a:t>
            </a:r>
            <a:r>
              <a:rPr sz="1050" i="1" spc="-15" baseline="-15873" dirty="0">
                <a:latin typeface="Arial"/>
                <a:cs typeface="Arial"/>
              </a:rPr>
              <a:t>i</a:t>
            </a:r>
            <a:r>
              <a:rPr sz="1050" i="1" spc="-127" baseline="-15873" dirty="0">
                <a:latin typeface="Arial"/>
                <a:cs typeface="Arial"/>
              </a:rPr>
              <a:t> </a:t>
            </a:r>
            <a:r>
              <a:rPr sz="900" spc="-50" dirty="0">
                <a:latin typeface="Arial"/>
                <a:cs typeface="Arial"/>
              </a:rPr>
              <a:t>.</a:t>
            </a:r>
            <a:endParaRPr sz="900">
              <a:latin typeface="Arial"/>
              <a:cs typeface="Arial"/>
            </a:endParaRPr>
          </a:p>
          <a:p>
            <a:pPr marL="316230" marR="351155" indent="-120650">
              <a:lnSpc>
                <a:spcPct val="111600"/>
              </a:lnSpc>
              <a:buClr>
                <a:srgbClr val="3333B2"/>
              </a:buClr>
              <a:buFont typeface="Menlo"/>
              <a:buChar char="•"/>
              <a:tabLst>
                <a:tab pos="313055" algn="l"/>
              </a:tabLst>
            </a:pPr>
            <a:r>
              <a:rPr sz="900" dirty="0">
                <a:latin typeface="Arial"/>
                <a:cs typeface="Arial"/>
              </a:rPr>
              <a:t>Any</a:t>
            </a:r>
            <a:r>
              <a:rPr sz="900" spc="-30" dirty="0">
                <a:latin typeface="Arial"/>
                <a:cs typeface="Arial"/>
              </a:rPr>
              <a:t> </a:t>
            </a:r>
            <a:r>
              <a:rPr sz="900" dirty="0">
                <a:latin typeface="Arial"/>
                <a:cs typeface="Arial"/>
              </a:rPr>
              <a:t>incoming</a:t>
            </a:r>
            <a:r>
              <a:rPr sz="900" spc="-20" dirty="0">
                <a:latin typeface="Arial"/>
                <a:cs typeface="Arial"/>
              </a:rPr>
              <a:t> </a:t>
            </a:r>
            <a:r>
              <a:rPr sz="900" dirty="0">
                <a:latin typeface="Arial"/>
                <a:cs typeface="Arial"/>
              </a:rPr>
              <a:t>message</a:t>
            </a:r>
            <a:r>
              <a:rPr sz="900" spc="-20" dirty="0">
                <a:latin typeface="Arial"/>
                <a:cs typeface="Arial"/>
              </a:rPr>
              <a:t> </a:t>
            </a:r>
            <a:r>
              <a:rPr sz="900" dirty="0">
                <a:latin typeface="Arial"/>
                <a:cs typeface="Arial"/>
              </a:rPr>
              <a:t>at</a:t>
            </a:r>
            <a:r>
              <a:rPr sz="900" spc="-20" dirty="0">
                <a:latin typeface="Arial"/>
                <a:cs typeface="Arial"/>
              </a:rPr>
              <a:t> </a:t>
            </a:r>
            <a:r>
              <a:rPr sz="900" i="1" dirty="0">
                <a:latin typeface="Arial"/>
                <a:cs typeface="Arial"/>
              </a:rPr>
              <a:t>P</a:t>
            </a:r>
            <a:r>
              <a:rPr sz="1050" i="1" baseline="-15873" dirty="0">
                <a:latin typeface="Arial"/>
                <a:cs typeface="Arial"/>
              </a:rPr>
              <a:t>j</a:t>
            </a:r>
            <a:r>
              <a:rPr sz="1050" i="1" spc="202" baseline="-15873" dirty="0">
                <a:latin typeface="Arial"/>
                <a:cs typeface="Arial"/>
              </a:rPr>
              <a:t> </a:t>
            </a:r>
            <a:r>
              <a:rPr sz="900" dirty="0">
                <a:latin typeface="Arial"/>
                <a:cs typeface="Arial"/>
              </a:rPr>
              <a:t>is</a:t>
            </a:r>
            <a:r>
              <a:rPr sz="900" spc="-20" dirty="0">
                <a:latin typeface="Arial"/>
                <a:cs typeface="Arial"/>
              </a:rPr>
              <a:t> </a:t>
            </a:r>
            <a:r>
              <a:rPr sz="900" dirty="0">
                <a:latin typeface="Arial"/>
                <a:cs typeface="Arial"/>
              </a:rPr>
              <a:t>queued</a:t>
            </a:r>
            <a:r>
              <a:rPr sz="900" spc="-20" dirty="0">
                <a:latin typeface="Arial"/>
                <a:cs typeface="Arial"/>
              </a:rPr>
              <a:t> </a:t>
            </a:r>
            <a:r>
              <a:rPr sz="900" dirty="0">
                <a:latin typeface="Arial"/>
                <a:cs typeface="Arial"/>
              </a:rPr>
              <a:t>in</a:t>
            </a:r>
            <a:r>
              <a:rPr sz="900" spc="-20" dirty="0">
                <a:latin typeface="Arial"/>
                <a:cs typeface="Arial"/>
              </a:rPr>
              <a:t> </a:t>
            </a:r>
            <a:r>
              <a:rPr sz="900" i="1" spc="-10" dirty="0">
                <a:latin typeface="Arial"/>
                <a:cs typeface="Arial"/>
              </a:rPr>
              <a:t>queue</a:t>
            </a:r>
            <a:r>
              <a:rPr sz="1050" i="1" spc="-15" baseline="-15873" dirty="0">
                <a:latin typeface="Arial"/>
                <a:cs typeface="Arial"/>
              </a:rPr>
              <a:t>j</a:t>
            </a:r>
            <a:r>
              <a:rPr sz="1050" i="1" spc="-127" baseline="-15873" dirty="0">
                <a:latin typeface="Arial"/>
                <a:cs typeface="Arial"/>
              </a:rPr>
              <a:t> </a:t>
            </a:r>
            <a:r>
              <a:rPr sz="900" dirty="0">
                <a:latin typeface="Arial"/>
                <a:cs typeface="Arial"/>
              </a:rPr>
              <a:t>,</a:t>
            </a:r>
            <a:r>
              <a:rPr sz="900" spc="-25" dirty="0">
                <a:latin typeface="Arial"/>
                <a:cs typeface="Arial"/>
              </a:rPr>
              <a:t> </a:t>
            </a:r>
            <a:r>
              <a:rPr sz="900" dirty="0">
                <a:solidFill>
                  <a:srgbClr val="3333B2"/>
                </a:solidFill>
                <a:latin typeface="Arial"/>
                <a:cs typeface="Arial"/>
              </a:rPr>
              <a:t>according</a:t>
            </a:r>
            <a:r>
              <a:rPr sz="900" spc="-20" dirty="0">
                <a:solidFill>
                  <a:srgbClr val="3333B2"/>
                </a:solidFill>
                <a:latin typeface="Arial"/>
                <a:cs typeface="Arial"/>
              </a:rPr>
              <a:t> </a:t>
            </a:r>
            <a:r>
              <a:rPr sz="900" dirty="0">
                <a:solidFill>
                  <a:srgbClr val="3333B2"/>
                </a:solidFill>
                <a:latin typeface="Arial"/>
                <a:cs typeface="Arial"/>
              </a:rPr>
              <a:t>to</a:t>
            </a:r>
            <a:r>
              <a:rPr sz="900" spc="-20" dirty="0">
                <a:solidFill>
                  <a:srgbClr val="3333B2"/>
                </a:solidFill>
                <a:latin typeface="Arial"/>
                <a:cs typeface="Arial"/>
              </a:rPr>
              <a:t> </a:t>
            </a:r>
            <a:r>
              <a:rPr sz="900" spc="-25" dirty="0">
                <a:solidFill>
                  <a:srgbClr val="3333B2"/>
                </a:solidFill>
                <a:latin typeface="Arial"/>
                <a:cs typeface="Arial"/>
              </a:rPr>
              <a:t>its </a:t>
            </a:r>
            <a:r>
              <a:rPr sz="900" dirty="0">
                <a:solidFill>
                  <a:srgbClr val="3333B2"/>
                </a:solidFill>
                <a:latin typeface="Arial"/>
                <a:cs typeface="Arial"/>
              </a:rPr>
              <a:t>timestamp</a:t>
            </a:r>
            <a:r>
              <a:rPr sz="900" dirty="0">
                <a:latin typeface="Arial"/>
                <a:cs typeface="Arial"/>
              </a:rPr>
              <a:t>,</a:t>
            </a:r>
            <a:r>
              <a:rPr sz="900" spc="-25" dirty="0">
                <a:latin typeface="Arial"/>
                <a:cs typeface="Arial"/>
              </a:rPr>
              <a:t> </a:t>
            </a:r>
            <a:r>
              <a:rPr sz="900" dirty="0">
                <a:latin typeface="Arial"/>
                <a:cs typeface="Arial"/>
              </a:rPr>
              <a:t>and</a:t>
            </a:r>
            <a:r>
              <a:rPr sz="900" spc="-25" dirty="0">
                <a:latin typeface="Arial"/>
                <a:cs typeface="Arial"/>
              </a:rPr>
              <a:t> </a:t>
            </a:r>
            <a:r>
              <a:rPr sz="900" spc="-10" dirty="0">
                <a:solidFill>
                  <a:srgbClr val="3333B2"/>
                </a:solidFill>
                <a:latin typeface="Arial"/>
                <a:cs typeface="Arial"/>
              </a:rPr>
              <a:t>acknowledged</a:t>
            </a:r>
            <a:r>
              <a:rPr sz="900" spc="-25" dirty="0">
                <a:solidFill>
                  <a:srgbClr val="3333B2"/>
                </a:solidFill>
                <a:latin typeface="Arial"/>
                <a:cs typeface="Arial"/>
              </a:rPr>
              <a:t> </a:t>
            </a:r>
            <a:r>
              <a:rPr sz="900" dirty="0">
                <a:latin typeface="Arial"/>
                <a:cs typeface="Arial"/>
              </a:rPr>
              <a:t>to</a:t>
            </a:r>
            <a:r>
              <a:rPr sz="900" spc="-20" dirty="0">
                <a:latin typeface="Arial"/>
                <a:cs typeface="Arial"/>
              </a:rPr>
              <a:t> </a:t>
            </a:r>
            <a:r>
              <a:rPr sz="900" dirty="0">
                <a:latin typeface="Arial"/>
                <a:cs typeface="Arial"/>
              </a:rPr>
              <a:t>every</a:t>
            </a:r>
            <a:r>
              <a:rPr sz="900" spc="-25" dirty="0">
                <a:latin typeface="Arial"/>
                <a:cs typeface="Arial"/>
              </a:rPr>
              <a:t> </a:t>
            </a:r>
            <a:r>
              <a:rPr sz="900" dirty="0">
                <a:latin typeface="Arial"/>
                <a:cs typeface="Arial"/>
              </a:rPr>
              <a:t>other</a:t>
            </a:r>
            <a:r>
              <a:rPr sz="900" spc="-25" dirty="0">
                <a:latin typeface="Arial"/>
                <a:cs typeface="Arial"/>
              </a:rPr>
              <a:t> </a:t>
            </a:r>
            <a:r>
              <a:rPr sz="900" spc="-10" dirty="0">
                <a:latin typeface="Arial"/>
                <a:cs typeface="Arial"/>
              </a:rPr>
              <a:t>process.</a:t>
            </a:r>
            <a:endParaRPr sz="900">
              <a:latin typeface="Arial"/>
              <a:cs typeface="Arial"/>
            </a:endParaRPr>
          </a:p>
          <a:p>
            <a:pPr>
              <a:lnSpc>
                <a:spcPct val="100000"/>
              </a:lnSpc>
              <a:spcBef>
                <a:spcPts val="30"/>
              </a:spcBef>
            </a:pPr>
            <a:endParaRPr sz="1200">
              <a:latin typeface="Arial"/>
              <a:cs typeface="Arial"/>
            </a:endParaRPr>
          </a:p>
          <a:p>
            <a:pPr marL="63500">
              <a:lnSpc>
                <a:spcPct val="100000"/>
              </a:lnSpc>
            </a:pPr>
            <a:r>
              <a:rPr sz="1000" i="1" dirty="0">
                <a:solidFill>
                  <a:srgbClr val="C80000"/>
                </a:solidFill>
                <a:latin typeface="Arial"/>
                <a:cs typeface="Arial"/>
              </a:rPr>
              <a:t>P</a:t>
            </a:r>
            <a:r>
              <a:rPr sz="1050" i="1" baseline="-15873" dirty="0">
                <a:solidFill>
                  <a:srgbClr val="C80000"/>
                </a:solidFill>
                <a:latin typeface="Arial"/>
                <a:cs typeface="Arial"/>
              </a:rPr>
              <a:t>j</a:t>
            </a:r>
            <a:r>
              <a:rPr sz="1050" i="1" spc="254" baseline="-15873" dirty="0">
                <a:solidFill>
                  <a:srgbClr val="C80000"/>
                </a:solidFill>
                <a:latin typeface="Arial"/>
                <a:cs typeface="Arial"/>
              </a:rPr>
              <a:t> </a:t>
            </a:r>
            <a:r>
              <a:rPr sz="1000" dirty="0">
                <a:solidFill>
                  <a:srgbClr val="C80000"/>
                </a:solidFill>
                <a:latin typeface="Arial"/>
                <a:cs typeface="Arial"/>
              </a:rPr>
              <a:t>passes</a:t>
            </a:r>
            <a:r>
              <a:rPr sz="1000" spc="-20" dirty="0">
                <a:solidFill>
                  <a:srgbClr val="C80000"/>
                </a:solidFill>
                <a:latin typeface="Arial"/>
                <a:cs typeface="Arial"/>
              </a:rPr>
              <a:t> </a:t>
            </a:r>
            <a:r>
              <a:rPr sz="1000" dirty="0">
                <a:solidFill>
                  <a:srgbClr val="C80000"/>
                </a:solidFill>
                <a:latin typeface="Arial"/>
                <a:cs typeface="Arial"/>
              </a:rPr>
              <a:t>a</a:t>
            </a:r>
            <a:r>
              <a:rPr sz="1000" spc="-25" dirty="0">
                <a:solidFill>
                  <a:srgbClr val="C80000"/>
                </a:solidFill>
                <a:latin typeface="Arial"/>
                <a:cs typeface="Arial"/>
              </a:rPr>
              <a:t> </a:t>
            </a:r>
            <a:r>
              <a:rPr sz="1000" dirty="0">
                <a:solidFill>
                  <a:srgbClr val="C80000"/>
                </a:solidFill>
                <a:latin typeface="Arial"/>
                <a:cs typeface="Arial"/>
              </a:rPr>
              <a:t>message</a:t>
            </a:r>
            <a:r>
              <a:rPr sz="1000" spc="-20" dirty="0">
                <a:solidFill>
                  <a:srgbClr val="C80000"/>
                </a:solidFill>
                <a:latin typeface="Arial"/>
                <a:cs typeface="Arial"/>
              </a:rPr>
              <a:t> </a:t>
            </a:r>
            <a:r>
              <a:rPr sz="1000" i="1" dirty="0">
                <a:solidFill>
                  <a:srgbClr val="C80000"/>
                </a:solidFill>
                <a:latin typeface="Arial"/>
                <a:cs typeface="Arial"/>
              </a:rPr>
              <a:t>m</a:t>
            </a:r>
            <a:r>
              <a:rPr sz="1050" i="1" baseline="-15873" dirty="0">
                <a:solidFill>
                  <a:srgbClr val="C80000"/>
                </a:solidFill>
                <a:latin typeface="Arial"/>
                <a:cs typeface="Arial"/>
              </a:rPr>
              <a:t>i</a:t>
            </a:r>
            <a:r>
              <a:rPr sz="1050" i="1" spc="254" baseline="-15873" dirty="0">
                <a:solidFill>
                  <a:srgbClr val="C80000"/>
                </a:solidFill>
                <a:latin typeface="Arial"/>
                <a:cs typeface="Arial"/>
              </a:rPr>
              <a:t> </a:t>
            </a:r>
            <a:r>
              <a:rPr sz="1000" dirty="0">
                <a:solidFill>
                  <a:srgbClr val="C80000"/>
                </a:solidFill>
                <a:latin typeface="Arial"/>
                <a:cs typeface="Arial"/>
              </a:rPr>
              <a:t>to</a:t>
            </a:r>
            <a:r>
              <a:rPr sz="1000" spc="-20" dirty="0">
                <a:solidFill>
                  <a:srgbClr val="C80000"/>
                </a:solidFill>
                <a:latin typeface="Arial"/>
                <a:cs typeface="Arial"/>
              </a:rPr>
              <a:t> </a:t>
            </a:r>
            <a:r>
              <a:rPr sz="1000" dirty="0">
                <a:solidFill>
                  <a:srgbClr val="C80000"/>
                </a:solidFill>
                <a:latin typeface="Arial"/>
                <a:cs typeface="Arial"/>
              </a:rPr>
              <a:t>its</a:t>
            </a:r>
            <a:r>
              <a:rPr sz="1000" spc="-20" dirty="0">
                <a:solidFill>
                  <a:srgbClr val="C80000"/>
                </a:solidFill>
                <a:latin typeface="Arial"/>
                <a:cs typeface="Arial"/>
              </a:rPr>
              <a:t> </a:t>
            </a:r>
            <a:r>
              <a:rPr sz="1000" dirty="0">
                <a:solidFill>
                  <a:srgbClr val="C80000"/>
                </a:solidFill>
                <a:latin typeface="Arial"/>
                <a:cs typeface="Arial"/>
              </a:rPr>
              <a:t>application</a:t>
            </a:r>
            <a:r>
              <a:rPr sz="1000" spc="-20" dirty="0">
                <a:solidFill>
                  <a:srgbClr val="C80000"/>
                </a:solidFill>
                <a:latin typeface="Arial"/>
                <a:cs typeface="Arial"/>
              </a:rPr>
              <a:t> </a:t>
            </a:r>
            <a:r>
              <a:rPr sz="1000" spc="-25" dirty="0">
                <a:solidFill>
                  <a:srgbClr val="C80000"/>
                </a:solidFill>
                <a:latin typeface="Arial"/>
                <a:cs typeface="Arial"/>
              </a:rPr>
              <a:t>if:</a:t>
            </a:r>
            <a:endParaRPr sz="1000">
              <a:latin typeface="Arial"/>
              <a:cs typeface="Arial"/>
            </a:endParaRPr>
          </a:p>
          <a:p>
            <a:pPr marL="316230" indent="-203200">
              <a:lnSpc>
                <a:spcPct val="100000"/>
              </a:lnSpc>
              <a:spcBef>
                <a:spcPts val="830"/>
              </a:spcBef>
              <a:buClr>
                <a:srgbClr val="3333B2"/>
              </a:buClr>
              <a:buFont typeface="Arial"/>
              <a:buAutoNum type="arabicParenBoth"/>
              <a:tabLst>
                <a:tab pos="316865" algn="l"/>
              </a:tabLst>
            </a:pPr>
            <a:r>
              <a:rPr sz="900" i="1" dirty="0">
                <a:latin typeface="Arial"/>
                <a:cs typeface="Arial"/>
              </a:rPr>
              <a:t>m</a:t>
            </a:r>
            <a:r>
              <a:rPr sz="1050" i="1" baseline="-15873" dirty="0">
                <a:latin typeface="Arial"/>
                <a:cs typeface="Arial"/>
              </a:rPr>
              <a:t>i</a:t>
            </a:r>
            <a:r>
              <a:rPr sz="1050" i="1" spc="217" baseline="-15873" dirty="0">
                <a:latin typeface="Arial"/>
                <a:cs typeface="Arial"/>
              </a:rPr>
              <a:t> </a:t>
            </a:r>
            <a:r>
              <a:rPr sz="900" dirty="0">
                <a:latin typeface="Arial"/>
                <a:cs typeface="Arial"/>
              </a:rPr>
              <a:t>is</a:t>
            </a:r>
            <a:r>
              <a:rPr sz="900" spc="-15" dirty="0">
                <a:latin typeface="Arial"/>
                <a:cs typeface="Arial"/>
              </a:rPr>
              <a:t> </a:t>
            </a:r>
            <a:r>
              <a:rPr sz="900" dirty="0">
                <a:latin typeface="Arial"/>
                <a:cs typeface="Arial"/>
              </a:rPr>
              <a:t>at</a:t>
            </a:r>
            <a:r>
              <a:rPr sz="900" spc="-15" dirty="0">
                <a:latin typeface="Arial"/>
                <a:cs typeface="Arial"/>
              </a:rPr>
              <a:t> </a:t>
            </a:r>
            <a:r>
              <a:rPr sz="900" dirty="0">
                <a:latin typeface="Arial"/>
                <a:cs typeface="Arial"/>
              </a:rPr>
              <a:t>the</a:t>
            </a:r>
            <a:r>
              <a:rPr sz="900" spc="-15" dirty="0">
                <a:latin typeface="Arial"/>
                <a:cs typeface="Arial"/>
              </a:rPr>
              <a:t> </a:t>
            </a:r>
            <a:r>
              <a:rPr sz="900" dirty="0">
                <a:latin typeface="Arial"/>
                <a:cs typeface="Arial"/>
              </a:rPr>
              <a:t>head</a:t>
            </a:r>
            <a:r>
              <a:rPr sz="900" spc="-15" dirty="0">
                <a:latin typeface="Arial"/>
                <a:cs typeface="Arial"/>
              </a:rPr>
              <a:t> </a:t>
            </a:r>
            <a:r>
              <a:rPr sz="900" dirty="0">
                <a:latin typeface="Arial"/>
                <a:cs typeface="Arial"/>
              </a:rPr>
              <a:t>of</a:t>
            </a:r>
            <a:r>
              <a:rPr sz="900" spc="-15" dirty="0">
                <a:latin typeface="Arial"/>
                <a:cs typeface="Arial"/>
              </a:rPr>
              <a:t> </a:t>
            </a:r>
            <a:r>
              <a:rPr sz="900" i="1" spc="-10" dirty="0">
                <a:latin typeface="Arial"/>
                <a:cs typeface="Arial"/>
              </a:rPr>
              <a:t>queue</a:t>
            </a:r>
            <a:r>
              <a:rPr sz="1050" i="1" spc="-15" baseline="-15873" dirty="0">
                <a:latin typeface="Arial"/>
                <a:cs typeface="Arial"/>
              </a:rPr>
              <a:t>j</a:t>
            </a:r>
            <a:endParaRPr sz="1050" baseline="-15873">
              <a:latin typeface="Arial"/>
              <a:cs typeface="Arial"/>
            </a:endParaRPr>
          </a:p>
          <a:p>
            <a:pPr marL="316230" marR="276860" indent="-202565">
              <a:lnSpc>
                <a:spcPct val="111600"/>
              </a:lnSpc>
              <a:buClr>
                <a:srgbClr val="3333B2"/>
              </a:buClr>
              <a:buAutoNum type="arabicParenBoth"/>
              <a:tabLst>
                <a:tab pos="316865" algn="l"/>
              </a:tabLst>
            </a:pPr>
            <a:r>
              <a:rPr sz="900" dirty="0">
                <a:latin typeface="Arial"/>
                <a:cs typeface="Arial"/>
              </a:rPr>
              <a:t>for</a:t>
            </a:r>
            <a:r>
              <a:rPr sz="900" spc="-30" dirty="0">
                <a:latin typeface="Arial"/>
                <a:cs typeface="Arial"/>
              </a:rPr>
              <a:t> </a:t>
            </a:r>
            <a:r>
              <a:rPr sz="900" dirty="0">
                <a:latin typeface="Arial"/>
                <a:cs typeface="Arial"/>
              </a:rPr>
              <a:t>each</a:t>
            </a:r>
            <a:r>
              <a:rPr sz="900" spc="-20" dirty="0">
                <a:latin typeface="Arial"/>
                <a:cs typeface="Arial"/>
              </a:rPr>
              <a:t> </a:t>
            </a:r>
            <a:r>
              <a:rPr sz="900" dirty="0">
                <a:latin typeface="Arial"/>
                <a:cs typeface="Arial"/>
              </a:rPr>
              <a:t>process</a:t>
            </a:r>
            <a:r>
              <a:rPr sz="900" spc="-25" dirty="0">
                <a:latin typeface="Arial"/>
                <a:cs typeface="Arial"/>
              </a:rPr>
              <a:t> </a:t>
            </a:r>
            <a:r>
              <a:rPr sz="900" i="1" spc="-10" dirty="0">
                <a:latin typeface="Arial"/>
                <a:cs typeface="Arial"/>
              </a:rPr>
              <a:t>P</a:t>
            </a:r>
            <a:r>
              <a:rPr sz="1050" i="1" spc="-15" baseline="-15873" dirty="0">
                <a:latin typeface="Arial"/>
                <a:cs typeface="Arial"/>
              </a:rPr>
              <a:t>k</a:t>
            </a:r>
            <a:r>
              <a:rPr sz="1050" i="1" spc="-112" baseline="-15873" dirty="0">
                <a:latin typeface="Arial"/>
                <a:cs typeface="Arial"/>
              </a:rPr>
              <a:t> </a:t>
            </a:r>
            <a:r>
              <a:rPr sz="900" dirty="0">
                <a:latin typeface="Arial"/>
                <a:cs typeface="Arial"/>
              </a:rPr>
              <a:t>,</a:t>
            </a:r>
            <a:r>
              <a:rPr sz="900" spc="-20" dirty="0">
                <a:latin typeface="Arial"/>
                <a:cs typeface="Arial"/>
              </a:rPr>
              <a:t> </a:t>
            </a:r>
            <a:r>
              <a:rPr sz="900" dirty="0">
                <a:latin typeface="Arial"/>
                <a:cs typeface="Arial"/>
              </a:rPr>
              <a:t>there</a:t>
            </a:r>
            <a:r>
              <a:rPr sz="900" spc="-20" dirty="0">
                <a:latin typeface="Arial"/>
                <a:cs typeface="Arial"/>
              </a:rPr>
              <a:t> </a:t>
            </a:r>
            <a:r>
              <a:rPr sz="900" dirty="0">
                <a:latin typeface="Arial"/>
                <a:cs typeface="Arial"/>
              </a:rPr>
              <a:t>is</a:t>
            </a:r>
            <a:r>
              <a:rPr sz="900" spc="-20" dirty="0">
                <a:latin typeface="Arial"/>
                <a:cs typeface="Arial"/>
              </a:rPr>
              <a:t> </a:t>
            </a:r>
            <a:r>
              <a:rPr sz="900" dirty="0">
                <a:latin typeface="Arial"/>
                <a:cs typeface="Arial"/>
              </a:rPr>
              <a:t>a</a:t>
            </a:r>
            <a:r>
              <a:rPr sz="900" spc="-20" dirty="0">
                <a:latin typeface="Arial"/>
                <a:cs typeface="Arial"/>
              </a:rPr>
              <a:t> </a:t>
            </a:r>
            <a:r>
              <a:rPr sz="900" dirty="0">
                <a:latin typeface="Arial"/>
                <a:cs typeface="Arial"/>
              </a:rPr>
              <a:t>message</a:t>
            </a:r>
            <a:r>
              <a:rPr sz="900" spc="-20" dirty="0">
                <a:latin typeface="Arial"/>
                <a:cs typeface="Arial"/>
              </a:rPr>
              <a:t> </a:t>
            </a:r>
            <a:r>
              <a:rPr sz="900" i="1" dirty="0">
                <a:latin typeface="Arial"/>
                <a:cs typeface="Arial"/>
              </a:rPr>
              <a:t>m</a:t>
            </a:r>
            <a:r>
              <a:rPr sz="1050" i="1" baseline="-15873" dirty="0">
                <a:latin typeface="Arial"/>
                <a:cs typeface="Arial"/>
              </a:rPr>
              <a:t>k</a:t>
            </a:r>
            <a:r>
              <a:rPr sz="1050" i="1" spc="209" baseline="-15873" dirty="0">
                <a:latin typeface="Arial"/>
                <a:cs typeface="Arial"/>
              </a:rPr>
              <a:t> </a:t>
            </a:r>
            <a:r>
              <a:rPr sz="900" dirty="0">
                <a:latin typeface="Arial"/>
                <a:cs typeface="Arial"/>
              </a:rPr>
              <a:t>in</a:t>
            </a:r>
            <a:r>
              <a:rPr sz="900" spc="-20" dirty="0">
                <a:latin typeface="Arial"/>
                <a:cs typeface="Arial"/>
              </a:rPr>
              <a:t> </a:t>
            </a:r>
            <a:r>
              <a:rPr sz="900" i="1" dirty="0">
                <a:latin typeface="Arial"/>
                <a:cs typeface="Arial"/>
              </a:rPr>
              <a:t>queue</a:t>
            </a:r>
            <a:r>
              <a:rPr sz="1050" i="1" baseline="-15873" dirty="0">
                <a:latin typeface="Arial"/>
                <a:cs typeface="Arial"/>
              </a:rPr>
              <a:t>j</a:t>
            </a:r>
            <a:r>
              <a:rPr sz="1050" i="1" spc="202" baseline="-15873" dirty="0">
                <a:latin typeface="Arial"/>
                <a:cs typeface="Arial"/>
              </a:rPr>
              <a:t> </a:t>
            </a:r>
            <a:r>
              <a:rPr sz="900" dirty="0">
                <a:latin typeface="Arial"/>
                <a:cs typeface="Arial"/>
              </a:rPr>
              <a:t>with</a:t>
            </a:r>
            <a:r>
              <a:rPr sz="900" spc="-20" dirty="0">
                <a:latin typeface="Arial"/>
                <a:cs typeface="Arial"/>
              </a:rPr>
              <a:t> </a:t>
            </a:r>
            <a:r>
              <a:rPr sz="900" dirty="0">
                <a:latin typeface="Arial"/>
                <a:cs typeface="Arial"/>
              </a:rPr>
              <a:t>a</a:t>
            </a:r>
            <a:r>
              <a:rPr sz="900" spc="-20" dirty="0">
                <a:latin typeface="Arial"/>
                <a:cs typeface="Arial"/>
              </a:rPr>
              <a:t> </a:t>
            </a:r>
            <a:r>
              <a:rPr sz="900" spc="-10" dirty="0">
                <a:latin typeface="Arial"/>
                <a:cs typeface="Arial"/>
              </a:rPr>
              <a:t>larger timestamp.</a:t>
            </a:r>
            <a:endParaRPr sz="900">
              <a:latin typeface="Arial"/>
              <a:cs typeface="Arial"/>
            </a:endParaRPr>
          </a:p>
          <a:p>
            <a:pPr>
              <a:lnSpc>
                <a:spcPct val="100000"/>
              </a:lnSpc>
              <a:spcBef>
                <a:spcPts val="20"/>
              </a:spcBef>
            </a:pPr>
            <a:endParaRPr sz="1200">
              <a:latin typeface="Arial"/>
              <a:cs typeface="Arial"/>
            </a:endParaRPr>
          </a:p>
          <a:p>
            <a:pPr marL="63500">
              <a:lnSpc>
                <a:spcPct val="100000"/>
              </a:lnSpc>
            </a:pPr>
            <a:r>
              <a:rPr sz="1000" spc="-20" dirty="0">
                <a:solidFill>
                  <a:srgbClr val="3333B2"/>
                </a:solidFill>
                <a:latin typeface="Arial"/>
                <a:cs typeface="Arial"/>
              </a:rPr>
              <a:t>Note</a:t>
            </a:r>
            <a:endParaRPr sz="1000">
              <a:latin typeface="Arial"/>
              <a:cs typeface="Arial"/>
            </a:endParaRPr>
          </a:p>
          <a:p>
            <a:pPr marL="57785">
              <a:lnSpc>
                <a:spcPct val="100000"/>
              </a:lnSpc>
              <a:spcBef>
                <a:spcPts val="105"/>
              </a:spcBef>
            </a:pPr>
            <a:r>
              <a:rPr sz="900" dirty="0">
                <a:latin typeface="Arial"/>
                <a:cs typeface="Arial"/>
              </a:rPr>
              <a:t>We</a:t>
            </a:r>
            <a:r>
              <a:rPr sz="900" spc="-25" dirty="0">
                <a:latin typeface="Arial"/>
                <a:cs typeface="Arial"/>
              </a:rPr>
              <a:t> </a:t>
            </a:r>
            <a:r>
              <a:rPr sz="900" dirty="0">
                <a:latin typeface="Arial"/>
                <a:cs typeface="Arial"/>
              </a:rPr>
              <a:t>are</a:t>
            </a:r>
            <a:r>
              <a:rPr sz="900" spc="-20" dirty="0">
                <a:latin typeface="Arial"/>
                <a:cs typeface="Arial"/>
              </a:rPr>
              <a:t> </a:t>
            </a:r>
            <a:r>
              <a:rPr sz="900" dirty="0">
                <a:latin typeface="Arial"/>
                <a:cs typeface="Arial"/>
              </a:rPr>
              <a:t>assuming</a:t>
            </a:r>
            <a:r>
              <a:rPr sz="900" spc="-20" dirty="0">
                <a:latin typeface="Arial"/>
                <a:cs typeface="Arial"/>
              </a:rPr>
              <a:t> </a:t>
            </a:r>
            <a:r>
              <a:rPr sz="900" dirty="0">
                <a:latin typeface="Arial"/>
                <a:cs typeface="Arial"/>
              </a:rPr>
              <a:t>that</a:t>
            </a:r>
            <a:r>
              <a:rPr sz="900" spc="-20" dirty="0">
                <a:latin typeface="Arial"/>
                <a:cs typeface="Arial"/>
              </a:rPr>
              <a:t> </a:t>
            </a:r>
            <a:r>
              <a:rPr sz="900" spc="-10" dirty="0">
                <a:latin typeface="Arial"/>
                <a:cs typeface="Arial"/>
              </a:rPr>
              <a:t>communication</a:t>
            </a:r>
            <a:r>
              <a:rPr sz="900" spc="-20" dirty="0">
                <a:latin typeface="Arial"/>
                <a:cs typeface="Arial"/>
              </a:rPr>
              <a:t> </a:t>
            </a:r>
            <a:r>
              <a:rPr sz="900" dirty="0">
                <a:latin typeface="Arial"/>
                <a:cs typeface="Arial"/>
              </a:rPr>
              <a:t>is</a:t>
            </a:r>
            <a:r>
              <a:rPr sz="900" spc="-20" dirty="0">
                <a:latin typeface="Arial"/>
                <a:cs typeface="Arial"/>
              </a:rPr>
              <a:t> </a:t>
            </a:r>
            <a:r>
              <a:rPr sz="900" dirty="0">
                <a:solidFill>
                  <a:srgbClr val="C80000"/>
                </a:solidFill>
                <a:latin typeface="Arial"/>
                <a:cs typeface="Arial"/>
              </a:rPr>
              <a:t>reliable</a:t>
            </a:r>
            <a:r>
              <a:rPr sz="900" spc="-25" dirty="0">
                <a:solidFill>
                  <a:srgbClr val="C80000"/>
                </a:solidFill>
                <a:latin typeface="Arial"/>
                <a:cs typeface="Arial"/>
              </a:rPr>
              <a:t> </a:t>
            </a:r>
            <a:r>
              <a:rPr sz="900" dirty="0">
                <a:latin typeface="Arial"/>
                <a:cs typeface="Arial"/>
              </a:rPr>
              <a:t>and</a:t>
            </a:r>
            <a:r>
              <a:rPr sz="900" spc="-20" dirty="0">
                <a:latin typeface="Arial"/>
                <a:cs typeface="Arial"/>
              </a:rPr>
              <a:t> </a:t>
            </a:r>
            <a:r>
              <a:rPr sz="900" dirty="0">
                <a:solidFill>
                  <a:srgbClr val="C80000"/>
                </a:solidFill>
                <a:latin typeface="Arial"/>
                <a:cs typeface="Arial"/>
              </a:rPr>
              <a:t>FIFO</a:t>
            </a:r>
            <a:r>
              <a:rPr sz="900" spc="-20" dirty="0">
                <a:solidFill>
                  <a:srgbClr val="C80000"/>
                </a:solidFill>
                <a:latin typeface="Arial"/>
                <a:cs typeface="Arial"/>
              </a:rPr>
              <a:t> </a:t>
            </a:r>
            <a:r>
              <a:rPr sz="900" spc="-10" dirty="0">
                <a:solidFill>
                  <a:srgbClr val="C80000"/>
                </a:solidFill>
                <a:latin typeface="Arial"/>
                <a:cs typeface="Arial"/>
              </a:rPr>
              <a:t>ordered</a:t>
            </a:r>
            <a:r>
              <a:rPr sz="900" spc="-10" dirty="0">
                <a:latin typeface="Arial"/>
                <a:cs typeface="Arial"/>
              </a:rPr>
              <a:t>.</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691515"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3" action="ppaction://hlinksldjump"/>
              </a:rPr>
              <a:t>Lamport’s</a:t>
            </a:r>
            <a:r>
              <a:rPr sz="500" spc="15" dirty="0">
                <a:latin typeface="Arial"/>
                <a:cs typeface="Arial"/>
                <a:hlinkClick r:id="rId3" action="ppaction://hlinksldjump"/>
              </a:rPr>
              <a:t> </a:t>
            </a:r>
            <a:r>
              <a:rPr sz="500" dirty="0">
                <a:latin typeface="Arial"/>
                <a:cs typeface="Arial"/>
                <a:hlinkClick r:id="rId3" action="ppaction://hlinksldjump"/>
              </a:rPr>
              <a:t>logical</a:t>
            </a:r>
            <a:r>
              <a:rPr sz="500" spc="15" dirty="0">
                <a:latin typeface="Arial"/>
                <a:cs typeface="Arial"/>
                <a:hlinkClick r:id="rId3" action="ppaction://hlinksldjump"/>
              </a:rPr>
              <a:t> </a:t>
            </a:r>
            <a:r>
              <a:rPr sz="500" spc="-10" dirty="0">
                <a:latin typeface="Arial"/>
                <a:cs typeface="Arial"/>
                <a:hlinkClick r:id="rId3" action="ppaction://hlinksldjump"/>
              </a:rPr>
              <a:t>clocks</a:t>
            </a:r>
            <a:endParaRPr sz="500">
              <a:latin typeface="Arial"/>
              <a:cs typeface="Arial"/>
            </a:endParaRPr>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8417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Coordination</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136644" y="-1515"/>
            <a:ext cx="41846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Logical</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clocks</a:t>
            </a:r>
            <a:endParaRPr sz="500">
              <a:latin typeface="Arial"/>
              <a:cs typeface="Arial"/>
            </a:endParaRPr>
          </a:p>
        </p:txBody>
      </p:sp>
      <p:sp>
        <p:nvSpPr>
          <p:cNvPr id="5" name="object 5"/>
          <p:cNvSpPr txBox="1"/>
          <p:nvPr/>
        </p:nvSpPr>
        <p:spPr>
          <a:xfrm>
            <a:off x="95300" y="92311"/>
            <a:ext cx="2533650" cy="481330"/>
          </a:xfrm>
          <a:prstGeom prst="rect">
            <a:avLst/>
          </a:prstGeom>
        </p:spPr>
        <p:txBody>
          <a:bodyPr vert="horz" wrap="square" lIns="0" tIns="117475" rIns="0" bIns="0" rtlCol="0">
            <a:spAutoFit/>
          </a:bodyPr>
          <a:lstStyle/>
          <a:p>
            <a:pPr marL="12700">
              <a:lnSpc>
                <a:spcPct val="100000"/>
              </a:lnSpc>
              <a:spcBef>
                <a:spcPts val="925"/>
              </a:spcBef>
            </a:pPr>
            <a:r>
              <a:rPr sz="1200" dirty="0">
                <a:solidFill>
                  <a:srgbClr val="3333B2"/>
                </a:solidFill>
                <a:latin typeface="Arial"/>
                <a:cs typeface="Arial"/>
              </a:rPr>
              <a:t>Lamport’s</a:t>
            </a:r>
            <a:r>
              <a:rPr sz="1200" spc="-65" dirty="0">
                <a:solidFill>
                  <a:srgbClr val="3333B2"/>
                </a:solidFill>
                <a:latin typeface="Arial"/>
                <a:cs typeface="Arial"/>
              </a:rPr>
              <a:t> </a:t>
            </a:r>
            <a:r>
              <a:rPr sz="1200" dirty="0">
                <a:solidFill>
                  <a:srgbClr val="3333B2"/>
                </a:solidFill>
                <a:latin typeface="Arial"/>
                <a:cs typeface="Arial"/>
              </a:rPr>
              <a:t>clocks</a:t>
            </a:r>
            <a:r>
              <a:rPr sz="1200" spc="-65" dirty="0">
                <a:solidFill>
                  <a:srgbClr val="3333B2"/>
                </a:solidFill>
                <a:latin typeface="Arial"/>
                <a:cs typeface="Arial"/>
              </a:rPr>
              <a:t> </a:t>
            </a:r>
            <a:r>
              <a:rPr sz="1200" dirty="0">
                <a:solidFill>
                  <a:srgbClr val="3333B2"/>
                </a:solidFill>
                <a:latin typeface="Arial"/>
                <a:cs typeface="Arial"/>
              </a:rPr>
              <a:t>for</a:t>
            </a:r>
            <a:r>
              <a:rPr sz="1200" spc="-60" dirty="0">
                <a:solidFill>
                  <a:srgbClr val="3333B2"/>
                </a:solidFill>
                <a:latin typeface="Arial"/>
                <a:cs typeface="Arial"/>
              </a:rPr>
              <a:t> </a:t>
            </a:r>
            <a:r>
              <a:rPr sz="1200" dirty="0">
                <a:solidFill>
                  <a:srgbClr val="3333B2"/>
                </a:solidFill>
                <a:latin typeface="Arial"/>
                <a:cs typeface="Arial"/>
              </a:rPr>
              <a:t>mutual</a:t>
            </a:r>
            <a:r>
              <a:rPr sz="1200" spc="-65" dirty="0">
                <a:solidFill>
                  <a:srgbClr val="3333B2"/>
                </a:solidFill>
                <a:latin typeface="Arial"/>
                <a:cs typeface="Arial"/>
              </a:rPr>
              <a:t> </a:t>
            </a:r>
            <a:r>
              <a:rPr sz="1200" spc="-10" dirty="0">
                <a:solidFill>
                  <a:srgbClr val="3333B2"/>
                </a:solidFill>
                <a:latin typeface="Arial"/>
                <a:cs typeface="Arial"/>
              </a:rPr>
              <a:t>exclusion</a:t>
            </a:r>
            <a:endParaRPr sz="1200">
              <a:latin typeface="Arial"/>
              <a:cs typeface="Arial"/>
            </a:endParaRPr>
          </a:p>
          <a:p>
            <a:pPr marL="264160">
              <a:lnSpc>
                <a:spcPct val="100000"/>
              </a:lnSpc>
              <a:spcBef>
                <a:spcPts val="480"/>
              </a:spcBef>
            </a:pPr>
            <a:r>
              <a:rPr sz="500" dirty="0">
                <a:latin typeface="Times New Roman"/>
                <a:cs typeface="Times New Roman"/>
              </a:rPr>
              <a:t>1</a:t>
            </a:r>
            <a:r>
              <a:rPr sz="500" spc="455" dirty="0">
                <a:latin typeface="Times New Roman"/>
                <a:cs typeface="Times New Roman"/>
              </a:rPr>
              <a:t> </a:t>
            </a:r>
            <a:r>
              <a:rPr sz="700" b="1" spc="85" dirty="0">
                <a:solidFill>
                  <a:srgbClr val="FF0059"/>
                </a:solidFill>
                <a:latin typeface="Times New Roman"/>
                <a:cs typeface="Times New Roman"/>
              </a:rPr>
              <a:t>class</a:t>
            </a:r>
            <a:r>
              <a:rPr sz="700" b="1" spc="70" dirty="0">
                <a:solidFill>
                  <a:srgbClr val="FF0059"/>
                </a:solidFill>
                <a:latin typeface="Times New Roman"/>
                <a:cs typeface="Times New Roman"/>
              </a:rPr>
              <a:t> </a:t>
            </a:r>
            <a:r>
              <a:rPr sz="700" spc="50" dirty="0">
                <a:latin typeface="Times New Roman"/>
                <a:cs typeface="Times New Roman"/>
              </a:rPr>
              <a:t>Process:</a:t>
            </a:r>
            <a:endParaRPr sz="700">
              <a:latin typeface="Times New Roman"/>
              <a:cs typeface="Times New Roman"/>
            </a:endParaRPr>
          </a:p>
        </p:txBody>
      </p:sp>
      <p:sp>
        <p:nvSpPr>
          <p:cNvPr id="6" name="object 6"/>
          <p:cNvSpPr txBox="1"/>
          <p:nvPr/>
        </p:nvSpPr>
        <p:spPr>
          <a:xfrm>
            <a:off x="543102" y="532488"/>
            <a:ext cx="2075180" cy="405130"/>
          </a:xfrm>
          <a:prstGeom prst="rect">
            <a:avLst/>
          </a:prstGeom>
        </p:spPr>
        <p:txBody>
          <a:bodyPr vert="horz" wrap="square" lIns="0" tIns="27940" rIns="0" bIns="0" rtlCol="0">
            <a:spAutoFit/>
          </a:bodyPr>
          <a:lstStyle/>
          <a:p>
            <a:pPr marL="100330" marR="5080" indent="-88265">
              <a:lnSpc>
                <a:spcPts val="720"/>
              </a:lnSpc>
              <a:spcBef>
                <a:spcPts val="220"/>
              </a:spcBef>
            </a:pPr>
            <a:r>
              <a:rPr sz="700" b="1" spc="65" dirty="0">
                <a:solidFill>
                  <a:srgbClr val="FF0059"/>
                </a:solidFill>
                <a:latin typeface="Times New Roman"/>
                <a:cs typeface="Times New Roman"/>
              </a:rPr>
              <a:t>def</a:t>
            </a:r>
            <a:r>
              <a:rPr sz="700" b="1" spc="85" dirty="0">
                <a:solidFill>
                  <a:srgbClr val="FF0059"/>
                </a:solidFill>
                <a:latin typeface="Times New Roman"/>
                <a:cs typeface="Times New Roman"/>
              </a:rPr>
              <a:t> </a:t>
            </a:r>
            <a:r>
              <a:rPr sz="700" u="sng" spc="225" dirty="0">
                <a:uFill>
                  <a:solidFill>
                    <a:srgbClr val="000000"/>
                  </a:solidFill>
                </a:uFill>
                <a:latin typeface="Times New Roman"/>
                <a:cs typeface="Times New Roman"/>
              </a:rPr>
              <a:t>  </a:t>
            </a:r>
            <a:r>
              <a:rPr sz="700" spc="114" dirty="0">
                <a:latin typeface="Times New Roman"/>
                <a:cs typeface="Times New Roman"/>
              </a:rPr>
              <a:t>init</a:t>
            </a:r>
            <a:r>
              <a:rPr sz="700" u="sng" spc="204" dirty="0">
                <a:uFill>
                  <a:solidFill>
                    <a:srgbClr val="000000"/>
                  </a:solidFill>
                </a:uFill>
                <a:latin typeface="Times New Roman"/>
                <a:cs typeface="Times New Roman"/>
              </a:rPr>
              <a:t>  </a:t>
            </a:r>
            <a:r>
              <a:rPr sz="700" spc="120" dirty="0">
                <a:latin typeface="Times New Roman"/>
                <a:cs typeface="Times New Roman"/>
              </a:rPr>
              <a:t>(self, </a:t>
            </a:r>
            <a:r>
              <a:rPr sz="700" dirty="0">
                <a:latin typeface="Times New Roman"/>
                <a:cs typeface="Times New Roman"/>
              </a:rPr>
              <a:t>chanID,</a:t>
            </a:r>
            <a:r>
              <a:rPr sz="700" spc="125" dirty="0">
                <a:latin typeface="Times New Roman"/>
                <a:cs typeface="Times New Roman"/>
              </a:rPr>
              <a:t> </a:t>
            </a:r>
            <a:r>
              <a:rPr sz="700" spc="45" dirty="0">
                <a:latin typeface="Times New Roman"/>
                <a:cs typeface="Times New Roman"/>
              </a:rPr>
              <a:t>procID,</a:t>
            </a:r>
            <a:r>
              <a:rPr sz="700" spc="105" dirty="0">
                <a:latin typeface="Times New Roman"/>
                <a:cs typeface="Times New Roman"/>
              </a:rPr>
              <a:t> </a:t>
            </a:r>
            <a:r>
              <a:rPr sz="700" spc="40" dirty="0">
                <a:latin typeface="Times New Roman"/>
                <a:cs typeface="Times New Roman"/>
              </a:rPr>
              <a:t>procIDSet): </a:t>
            </a:r>
            <a:r>
              <a:rPr sz="700" spc="55" dirty="0">
                <a:latin typeface="Times New Roman"/>
                <a:cs typeface="Times New Roman"/>
              </a:rPr>
              <a:t>self.chan.join(procID)</a:t>
            </a:r>
            <a:endParaRPr sz="700">
              <a:latin typeface="Times New Roman"/>
              <a:cs typeface="Times New Roman"/>
            </a:endParaRPr>
          </a:p>
          <a:p>
            <a:pPr marL="100330">
              <a:lnSpc>
                <a:spcPts val="650"/>
              </a:lnSpc>
              <a:tabLst>
                <a:tab pos="811530" algn="l"/>
              </a:tabLst>
            </a:pPr>
            <a:r>
              <a:rPr sz="700" spc="55" dirty="0">
                <a:latin typeface="Times New Roman"/>
                <a:cs typeface="Times New Roman"/>
              </a:rPr>
              <a:t>self.procID</a:t>
            </a:r>
            <a:r>
              <a:rPr sz="700" dirty="0">
                <a:latin typeface="Times New Roman"/>
                <a:cs typeface="Times New Roman"/>
              </a:rPr>
              <a:t>	=</a:t>
            </a:r>
            <a:r>
              <a:rPr sz="700" spc="100" dirty="0">
                <a:latin typeface="Times New Roman"/>
                <a:cs typeface="Times New Roman"/>
              </a:rPr>
              <a:t> </a:t>
            </a:r>
            <a:r>
              <a:rPr sz="700" b="1" spc="45" dirty="0">
                <a:solidFill>
                  <a:srgbClr val="FF0059"/>
                </a:solidFill>
                <a:latin typeface="Times New Roman"/>
                <a:cs typeface="Times New Roman"/>
              </a:rPr>
              <a:t>int</a:t>
            </a:r>
            <a:r>
              <a:rPr sz="700" spc="45" dirty="0">
                <a:latin typeface="Times New Roman"/>
                <a:cs typeface="Times New Roman"/>
              </a:rPr>
              <a:t>(procID)</a:t>
            </a:r>
            <a:endParaRPr sz="700">
              <a:latin typeface="Times New Roman"/>
              <a:cs typeface="Times New Roman"/>
            </a:endParaRPr>
          </a:p>
          <a:p>
            <a:pPr marL="100330">
              <a:lnSpc>
                <a:spcPts val="780"/>
              </a:lnSpc>
            </a:pPr>
            <a:r>
              <a:rPr sz="700" spc="45" dirty="0">
                <a:latin typeface="Times New Roman"/>
                <a:cs typeface="Times New Roman"/>
              </a:rPr>
              <a:t>self.otherProcs.remove(self.procID)</a:t>
            </a:r>
            <a:endParaRPr sz="700">
              <a:latin typeface="Times New Roman"/>
              <a:cs typeface="Times New Roman"/>
            </a:endParaRPr>
          </a:p>
        </p:txBody>
      </p:sp>
      <p:sp>
        <p:nvSpPr>
          <p:cNvPr id="7" name="object 7"/>
          <p:cNvSpPr txBox="1"/>
          <p:nvPr/>
        </p:nvSpPr>
        <p:spPr>
          <a:xfrm>
            <a:off x="631228" y="896876"/>
            <a:ext cx="924560" cy="132080"/>
          </a:xfrm>
          <a:prstGeom prst="rect">
            <a:avLst/>
          </a:prstGeom>
        </p:spPr>
        <p:txBody>
          <a:bodyPr vert="horz" wrap="square" lIns="0" tIns="12065" rIns="0" bIns="0" rtlCol="0">
            <a:spAutoFit/>
          </a:bodyPr>
          <a:lstStyle/>
          <a:p>
            <a:pPr marL="12700">
              <a:lnSpc>
                <a:spcPct val="100000"/>
              </a:lnSpc>
              <a:spcBef>
                <a:spcPts val="95"/>
              </a:spcBef>
              <a:tabLst>
                <a:tab pos="723265" algn="l"/>
              </a:tabLst>
            </a:pPr>
            <a:r>
              <a:rPr sz="700" spc="60" dirty="0">
                <a:latin typeface="Times New Roman"/>
                <a:cs typeface="Times New Roman"/>
              </a:rPr>
              <a:t>self.queue</a:t>
            </a:r>
            <a:r>
              <a:rPr sz="700" dirty="0">
                <a:latin typeface="Times New Roman"/>
                <a:cs typeface="Times New Roman"/>
              </a:rPr>
              <a:t>	=</a:t>
            </a:r>
            <a:r>
              <a:rPr sz="700" spc="105" dirty="0">
                <a:latin typeface="Times New Roman"/>
                <a:cs typeface="Times New Roman"/>
              </a:rPr>
              <a:t> </a:t>
            </a:r>
            <a:r>
              <a:rPr sz="700" spc="130" dirty="0">
                <a:latin typeface="Times New Roman"/>
                <a:cs typeface="Times New Roman"/>
              </a:rPr>
              <a:t>[]</a:t>
            </a:r>
            <a:endParaRPr sz="700">
              <a:latin typeface="Times New Roman"/>
              <a:cs typeface="Times New Roman"/>
            </a:endParaRPr>
          </a:p>
        </p:txBody>
      </p:sp>
      <p:sp>
        <p:nvSpPr>
          <p:cNvPr id="8" name="object 8"/>
          <p:cNvSpPr txBox="1"/>
          <p:nvPr/>
        </p:nvSpPr>
        <p:spPr>
          <a:xfrm>
            <a:off x="631228" y="987973"/>
            <a:ext cx="878840" cy="132080"/>
          </a:xfrm>
          <a:prstGeom prst="rect">
            <a:avLst/>
          </a:prstGeom>
        </p:spPr>
        <p:txBody>
          <a:bodyPr vert="horz" wrap="square" lIns="0" tIns="12065" rIns="0" bIns="0" rtlCol="0">
            <a:spAutoFit/>
          </a:bodyPr>
          <a:lstStyle/>
          <a:p>
            <a:pPr marL="12700">
              <a:lnSpc>
                <a:spcPct val="100000"/>
              </a:lnSpc>
              <a:spcBef>
                <a:spcPts val="95"/>
              </a:spcBef>
              <a:tabLst>
                <a:tab pos="723265" algn="l"/>
              </a:tabLst>
            </a:pPr>
            <a:r>
              <a:rPr sz="700" spc="75" dirty="0">
                <a:latin typeface="Times New Roman"/>
                <a:cs typeface="Times New Roman"/>
              </a:rPr>
              <a:t>self.clock</a:t>
            </a:r>
            <a:r>
              <a:rPr sz="700" dirty="0">
                <a:latin typeface="Times New Roman"/>
                <a:cs typeface="Times New Roman"/>
              </a:rPr>
              <a:t>	=</a:t>
            </a:r>
            <a:r>
              <a:rPr sz="700" spc="114" dirty="0">
                <a:latin typeface="Times New Roman"/>
                <a:cs typeface="Times New Roman"/>
              </a:rPr>
              <a:t> </a:t>
            </a:r>
            <a:r>
              <a:rPr sz="700" spc="15" dirty="0">
                <a:latin typeface="Times New Roman"/>
                <a:cs typeface="Times New Roman"/>
              </a:rPr>
              <a:t>0</a:t>
            </a:r>
            <a:endParaRPr sz="700">
              <a:latin typeface="Times New Roman"/>
              <a:cs typeface="Times New Roman"/>
            </a:endParaRPr>
          </a:p>
        </p:txBody>
      </p:sp>
      <p:sp>
        <p:nvSpPr>
          <p:cNvPr id="9" name="object 9"/>
          <p:cNvSpPr txBox="1"/>
          <p:nvPr/>
        </p:nvSpPr>
        <p:spPr>
          <a:xfrm>
            <a:off x="2493810" y="896876"/>
            <a:ext cx="1233170" cy="222885"/>
          </a:xfrm>
          <a:prstGeom prst="rect">
            <a:avLst/>
          </a:prstGeom>
        </p:spPr>
        <p:txBody>
          <a:bodyPr vert="horz" wrap="square" lIns="0" tIns="12065" rIns="0" bIns="0" rtlCol="0">
            <a:spAutoFit/>
          </a:bodyPr>
          <a:lstStyle/>
          <a:p>
            <a:pPr marL="12700">
              <a:lnSpc>
                <a:spcPts val="780"/>
              </a:lnSpc>
              <a:spcBef>
                <a:spcPts val="95"/>
              </a:spcBef>
            </a:pPr>
            <a:r>
              <a:rPr sz="700" i="1" spc="65" dirty="0">
                <a:solidFill>
                  <a:srgbClr val="009600"/>
                </a:solidFill>
                <a:latin typeface="Times New Roman"/>
                <a:cs typeface="Times New Roman"/>
              </a:rPr>
              <a:t>#</a:t>
            </a:r>
            <a:r>
              <a:rPr sz="700" i="1" spc="120" dirty="0">
                <a:solidFill>
                  <a:srgbClr val="009600"/>
                </a:solidFill>
                <a:latin typeface="Times New Roman"/>
                <a:cs typeface="Times New Roman"/>
              </a:rPr>
              <a:t> </a:t>
            </a:r>
            <a:r>
              <a:rPr sz="700" i="1" dirty="0">
                <a:solidFill>
                  <a:srgbClr val="009600"/>
                </a:solidFill>
                <a:latin typeface="Times New Roman"/>
                <a:cs typeface="Times New Roman"/>
              </a:rPr>
              <a:t>The</a:t>
            </a:r>
            <a:r>
              <a:rPr sz="700" i="1" spc="95" dirty="0">
                <a:solidFill>
                  <a:srgbClr val="009600"/>
                </a:solidFill>
                <a:latin typeface="Times New Roman"/>
                <a:cs typeface="Times New Roman"/>
              </a:rPr>
              <a:t> </a:t>
            </a:r>
            <a:r>
              <a:rPr sz="700" i="1" spc="65" dirty="0">
                <a:solidFill>
                  <a:srgbClr val="009600"/>
                </a:solidFill>
                <a:latin typeface="Times New Roman"/>
                <a:cs typeface="Times New Roman"/>
              </a:rPr>
              <a:t>request</a:t>
            </a:r>
            <a:r>
              <a:rPr sz="700" i="1" spc="85" dirty="0">
                <a:solidFill>
                  <a:srgbClr val="009600"/>
                </a:solidFill>
                <a:latin typeface="Times New Roman"/>
                <a:cs typeface="Times New Roman"/>
              </a:rPr>
              <a:t> </a:t>
            </a:r>
            <a:r>
              <a:rPr sz="700" i="1" spc="-10" dirty="0">
                <a:solidFill>
                  <a:srgbClr val="009600"/>
                </a:solidFill>
                <a:latin typeface="Times New Roman"/>
                <a:cs typeface="Times New Roman"/>
              </a:rPr>
              <a:t>queue</a:t>
            </a:r>
            <a:endParaRPr sz="700">
              <a:latin typeface="Times New Roman"/>
              <a:cs typeface="Times New Roman"/>
            </a:endParaRPr>
          </a:p>
          <a:p>
            <a:pPr marL="12700">
              <a:lnSpc>
                <a:spcPts val="780"/>
              </a:lnSpc>
            </a:pPr>
            <a:r>
              <a:rPr sz="700" i="1" spc="65" dirty="0">
                <a:solidFill>
                  <a:srgbClr val="009600"/>
                </a:solidFill>
                <a:latin typeface="Times New Roman"/>
                <a:cs typeface="Times New Roman"/>
              </a:rPr>
              <a:t>#</a:t>
            </a:r>
            <a:r>
              <a:rPr sz="700" i="1" spc="120" dirty="0">
                <a:solidFill>
                  <a:srgbClr val="009600"/>
                </a:solidFill>
                <a:latin typeface="Times New Roman"/>
                <a:cs typeface="Times New Roman"/>
              </a:rPr>
              <a:t> </a:t>
            </a:r>
            <a:r>
              <a:rPr sz="700" i="1" dirty="0">
                <a:solidFill>
                  <a:srgbClr val="009600"/>
                </a:solidFill>
                <a:latin typeface="Times New Roman"/>
                <a:cs typeface="Times New Roman"/>
              </a:rPr>
              <a:t>The</a:t>
            </a:r>
            <a:r>
              <a:rPr sz="700" i="1" spc="90" dirty="0">
                <a:solidFill>
                  <a:srgbClr val="009600"/>
                </a:solidFill>
                <a:latin typeface="Times New Roman"/>
                <a:cs typeface="Times New Roman"/>
              </a:rPr>
              <a:t> </a:t>
            </a:r>
            <a:r>
              <a:rPr sz="700" i="1" spc="65" dirty="0">
                <a:solidFill>
                  <a:srgbClr val="009600"/>
                </a:solidFill>
                <a:latin typeface="Times New Roman"/>
                <a:cs typeface="Times New Roman"/>
              </a:rPr>
              <a:t>current</a:t>
            </a:r>
            <a:r>
              <a:rPr sz="700" i="1" spc="80" dirty="0">
                <a:solidFill>
                  <a:srgbClr val="009600"/>
                </a:solidFill>
                <a:latin typeface="Times New Roman"/>
                <a:cs typeface="Times New Roman"/>
              </a:rPr>
              <a:t> logical</a:t>
            </a:r>
            <a:r>
              <a:rPr sz="700" i="1" spc="85" dirty="0">
                <a:solidFill>
                  <a:srgbClr val="009600"/>
                </a:solidFill>
                <a:latin typeface="Times New Roman"/>
                <a:cs typeface="Times New Roman"/>
              </a:rPr>
              <a:t> </a:t>
            </a:r>
            <a:r>
              <a:rPr sz="700" i="1" spc="60" dirty="0">
                <a:solidFill>
                  <a:srgbClr val="009600"/>
                </a:solidFill>
                <a:latin typeface="Times New Roman"/>
                <a:cs typeface="Times New Roman"/>
              </a:rPr>
              <a:t>clock</a:t>
            </a:r>
            <a:endParaRPr sz="700">
              <a:latin typeface="Times New Roman"/>
              <a:cs typeface="Times New Roman"/>
            </a:endParaRPr>
          </a:p>
        </p:txBody>
      </p:sp>
      <p:sp>
        <p:nvSpPr>
          <p:cNvPr id="10" name="object 10"/>
          <p:cNvSpPr txBox="1"/>
          <p:nvPr/>
        </p:nvSpPr>
        <p:spPr>
          <a:xfrm>
            <a:off x="309346" y="542610"/>
            <a:ext cx="101600" cy="2393950"/>
          </a:xfrm>
          <a:prstGeom prst="rect">
            <a:avLst/>
          </a:prstGeom>
        </p:spPr>
        <p:txBody>
          <a:bodyPr vert="horz" wrap="square" lIns="0" tIns="27305" rIns="0" bIns="0" rtlCol="0">
            <a:spAutoFit/>
          </a:bodyPr>
          <a:lstStyle/>
          <a:p>
            <a:pPr marL="50165">
              <a:lnSpc>
                <a:spcPct val="100000"/>
              </a:lnSpc>
              <a:spcBef>
                <a:spcPts val="215"/>
              </a:spcBef>
            </a:pPr>
            <a:r>
              <a:rPr sz="500" spc="45" dirty="0">
                <a:latin typeface="Times New Roman"/>
                <a:cs typeface="Times New Roman"/>
              </a:rPr>
              <a:t>2</a:t>
            </a:r>
            <a:endParaRPr sz="500">
              <a:latin typeface="Times New Roman"/>
              <a:cs typeface="Times New Roman"/>
            </a:endParaRPr>
          </a:p>
          <a:p>
            <a:pPr marL="50165">
              <a:lnSpc>
                <a:spcPct val="100000"/>
              </a:lnSpc>
              <a:spcBef>
                <a:spcPts val="120"/>
              </a:spcBef>
            </a:pPr>
            <a:r>
              <a:rPr sz="500" spc="45" dirty="0">
                <a:latin typeface="Times New Roman"/>
                <a:cs typeface="Times New Roman"/>
              </a:rPr>
              <a:t>3</a:t>
            </a:r>
            <a:endParaRPr sz="500">
              <a:latin typeface="Times New Roman"/>
              <a:cs typeface="Times New Roman"/>
            </a:endParaRPr>
          </a:p>
          <a:p>
            <a:pPr marL="50165">
              <a:lnSpc>
                <a:spcPct val="100000"/>
              </a:lnSpc>
              <a:spcBef>
                <a:spcPts val="114"/>
              </a:spcBef>
            </a:pPr>
            <a:r>
              <a:rPr sz="500" spc="45" dirty="0">
                <a:latin typeface="Times New Roman"/>
                <a:cs typeface="Times New Roman"/>
              </a:rPr>
              <a:t>4</a:t>
            </a:r>
            <a:endParaRPr sz="500">
              <a:latin typeface="Times New Roman"/>
              <a:cs typeface="Times New Roman"/>
            </a:endParaRPr>
          </a:p>
          <a:p>
            <a:pPr marL="50165">
              <a:lnSpc>
                <a:spcPct val="100000"/>
              </a:lnSpc>
              <a:spcBef>
                <a:spcPts val="120"/>
              </a:spcBef>
            </a:pPr>
            <a:r>
              <a:rPr sz="500" spc="45" dirty="0">
                <a:latin typeface="Times New Roman"/>
                <a:cs typeface="Times New Roman"/>
              </a:rPr>
              <a:t>5</a:t>
            </a:r>
            <a:endParaRPr sz="500">
              <a:latin typeface="Times New Roman"/>
              <a:cs typeface="Times New Roman"/>
            </a:endParaRPr>
          </a:p>
          <a:p>
            <a:pPr marL="50165">
              <a:lnSpc>
                <a:spcPct val="100000"/>
              </a:lnSpc>
              <a:spcBef>
                <a:spcPts val="114"/>
              </a:spcBef>
            </a:pPr>
            <a:r>
              <a:rPr sz="500" spc="45" dirty="0">
                <a:latin typeface="Times New Roman"/>
                <a:cs typeface="Times New Roman"/>
              </a:rPr>
              <a:t>6</a:t>
            </a:r>
            <a:endParaRPr sz="500">
              <a:latin typeface="Times New Roman"/>
              <a:cs typeface="Times New Roman"/>
            </a:endParaRPr>
          </a:p>
          <a:p>
            <a:pPr marL="50165">
              <a:lnSpc>
                <a:spcPct val="100000"/>
              </a:lnSpc>
              <a:spcBef>
                <a:spcPts val="120"/>
              </a:spcBef>
            </a:pPr>
            <a:r>
              <a:rPr sz="500" spc="45" dirty="0">
                <a:latin typeface="Times New Roman"/>
                <a:cs typeface="Times New Roman"/>
              </a:rPr>
              <a:t>7</a:t>
            </a:r>
            <a:endParaRPr sz="500">
              <a:latin typeface="Times New Roman"/>
              <a:cs typeface="Times New Roman"/>
            </a:endParaRPr>
          </a:p>
          <a:p>
            <a:pPr marL="50165">
              <a:lnSpc>
                <a:spcPct val="100000"/>
              </a:lnSpc>
              <a:spcBef>
                <a:spcPts val="114"/>
              </a:spcBef>
            </a:pPr>
            <a:r>
              <a:rPr sz="500" spc="45" dirty="0">
                <a:latin typeface="Times New Roman"/>
                <a:cs typeface="Times New Roman"/>
              </a:rPr>
              <a:t>8</a:t>
            </a:r>
            <a:endParaRPr sz="500">
              <a:latin typeface="Times New Roman"/>
              <a:cs typeface="Times New Roman"/>
            </a:endParaRPr>
          </a:p>
          <a:p>
            <a:pPr marL="50165">
              <a:lnSpc>
                <a:spcPct val="100000"/>
              </a:lnSpc>
              <a:spcBef>
                <a:spcPts val="114"/>
              </a:spcBef>
            </a:pPr>
            <a:r>
              <a:rPr sz="500" spc="45" dirty="0">
                <a:latin typeface="Times New Roman"/>
                <a:cs typeface="Times New Roman"/>
              </a:rPr>
              <a:t>9</a:t>
            </a:r>
            <a:endParaRPr sz="500">
              <a:latin typeface="Times New Roman"/>
              <a:cs typeface="Times New Roman"/>
            </a:endParaRPr>
          </a:p>
          <a:p>
            <a:pPr marL="12700">
              <a:lnSpc>
                <a:spcPct val="100000"/>
              </a:lnSpc>
              <a:spcBef>
                <a:spcPts val="120"/>
              </a:spcBef>
            </a:pPr>
            <a:r>
              <a:rPr sz="500" spc="-25" dirty="0">
                <a:latin typeface="Times New Roman"/>
                <a:cs typeface="Times New Roman"/>
              </a:rPr>
              <a:t>10</a:t>
            </a:r>
            <a:endParaRPr sz="500">
              <a:latin typeface="Times New Roman"/>
              <a:cs typeface="Times New Roman"/>
            </a:endParaRPr>
          </a:p>
          <a:p>
            <a:pPr marL="12700">
              <a:lnSpc>
                <a:spcPct val="100000"/>
              </a:lnSpc>
              <a:spcBef>
                <a:spcPts val="114"/>
              </a:spcBef>
            </a:pPr>
            <a:r>
              <a:rPr sz="500" spc="-25" dirty="0">
                <a:latin typeface="Times New Roman"/>
                <a:cs typeface="Times New Roman"/>
              </a:rPr>
              <a:t>11</a:t>
            </a:r>
            <a:endParaRPr sz="500">
              <a:latin typeface="Times New Roman"/>
              <a:cs typeface="Times New Roman"/>
            </a:endParaRPr>
          </a:p>
          <a:p>
            <a:pPr marL="12700">
              <a:lnSpc>
                <a:spcPct val="100000"/>
              </a:lnSpc>
              <a:spcBef>
                <a:spcPts val="120"/>
              </a:spcBef>
            </a:pPr>
            <a:r>
              <a:rPr sz="500" spc="-25" dirty="0">
                <a:latin typeface="Times New Roman"/>
                <a:cs typeface="Times New Roman"/>
              </a:rPr>
              <a:t>12</a:t>
            </a:r>
            <a:endParaRPr sz="500">
              <a:latin typeface="Times New Roman"/>
              <a:cs typeface="Times New Roman"/>
            </a:endParaRPr>
          </a:p>
          <a:p>
            <a:pPr marL="12700">
              <a:lnSpc>
                <a:spcPct val="100000"/>
              </a:lnSpc>
              <a:spcBef>
                <a:spcPts val="114"/>
              </a:spcBef>
            </a:pPr>
            <a:r>
              <a:rPr sz="500" spc="-25" dirty="0">
                <a:latin typeface="Times New Roman"/>
                <a:cs typeface="Times New Roman"/>
              </a:rPr>
              <a:t>13</a:t>
            </a:r>
            <a:endParaRPr sz="500">
              <a:latin typeface="Times New Roman"/>
              <a:cs typeface="Times New Roman"/>
            </a:endParaRPr>
          </a:p>
          <a:p>
            <a:pPr marL="12700">
              <a:lnSpc>
                <a:spcPct val="100000"/>
              </a:lnSpc>
              <a:spcBef>
                <a:spcPts val="120"/>
              </a:spcBef>
            </a:pPr>
            <a:r>
              <a:rPr sz="500" spc="-25" dirty="0">
                <a:latin typeface="Times New Roman"/>
                <a:cs typeface="Times New Roman"/>
              </a:rPr>
              <a:t>14</a:t>
            </a:r>
            <a:endParaRPr sz="500">
              <a:latin typeface="Times New Roman"/>
              <a:cs typeface="Times New Roman"/>
            </a:endParaRPr>
          </a:p>
          <a:p>
            <a:pPr marL="12700">
              <a:lnSpc>
                <a:spcPct val="100000"/>
              </a:lnSpc>
              <a:spcBef>
                <a:spcPts val="114"/>
              </a:spcBef>
            </a:pPr>
            <a:r>
              <a:rPr sz="500" spc="-25" dirty="0">
                <a:latin typeface="Times New Roman"/>
                <a:cs typeface="Times New Roman"/>
              </a:rPr>
              <a:t>15</a:t>
            </a:r>
            <a:endParaRPr sz="500">
              <a:latin typeface="Times New Roman"/>
              <a:cs typeface="Times New Roman"/>
            </a:endParaRPr>
          </a:p>
          <a:p>
            <a:pPr marL="12700">
              <a:lnSpc>
                <a:spcPct val="100000"/>
              </a:lnSpc>
              <a:spcBef>
                <a:spcPts val="120"/>
              </a:spcBef>
            </a:pPr>
            <a:r>
              <a:rPr sz="500" spc="-25" dirty="0">
                <a:latin typeface="Times New Roman"/>
                <a:cs typeface="Times New Roman"/>
              </a:rPr>
              <a:t>16</a:t>
            </a:r>
            <a:endParaRPr sz="500">
              <a:latin typeface="Times New Roman"/>
              <a:cs typeface="Times New Roman"/>
            </a:endParaRPr>
          </a:p>
          <a:p>
            <a:pPr marL="12700">
              <a:lnSpc>
                <a:spcPct val="100000"/>
              </a:lnSpc>
              <a:spcBef>
                <a:spcPts val="114"/>
              </a:spcBef>
            </a:pPr>
            <a:r>
              <a:rPr sz="500" spc="-25" dirty="0">
                <a:latin typeface="Times New Roman"/>
                <a:cs typeface="Times New Roman"/>
              </a:rPr>
              <a:t>17</a:t>
            </a:r>
            <a:endParaRPr sz="500">
              <a:latin typeface="Times New Roman"/>
              <a:cs typeface="Times New Roman"/>
            </a:endParaRPr>
          </a:p>
          <a:p>
            <a:pPr marL="12700">
              <a:lnSpc>
                <a:spcPct val="100000"/>
              </a:lnSpc>
              <a:spcBef>
                <a:spcPts val="120"/>
              </a:spcBef>
            </a:pPr>
            <a:r>
              <a:rPr sz="500" spc="-25" dirty="0">
                <a:latin typeface="Times New Roman"/>
                <a:cs typeface="Times New Roman"/>
              </a:rPr>
              <a:t>18</a:t>
            </a:r>
            <a:endParaRPr sz="500">
              <a:latin typeface="Times New Roman"/>
              <a:cs typeface="Times New Roman"/>
            </a:endParaRPr>
          </a:p>
          <a:p>
            <a:pPr marL="12700">
              <a:lnSpc>
                <a:spcPct val="100000"/>
              </a:lnSpc>
              <a:spcBef>
                <a:spcPts val="114"/>
              </a:spcBef>
            </a:pPr>
            <a:r>
              <a:rPr sz="500" spc="-25" dirty="0">
                <a:latin typeface="Times New Roman"/>
                <a:cs typeface="Times New Roman"/>
              </a:rPr>
              <a:t>19</a:t>
            </a:r>
            <a:endParaRPr sz="500">
              <a:latin typeface="Times New Roman"/>
              <a:cs typeface="Times New Roman"/>
            </a:endParaRPr>
          </a:p>
          <a:p>
            <a:pPr marL="12700">
              <a:lnSpc>
                <a:spcPct val="100000"/>
              </a:lnSpc>
              <a:spcBef>
                <a:spcPts val="120"/>
              </a:spcBef>
            </a:pPr>
            <a:r>
              <a:rPr sz="500" spc="-25" dirty="0">
                <a:latin typeface="Times New Roman"/>
                <a:cs typeface="Times New Roman"/>
              </a:rPr>
              <a:t>20</a:t>
            </a:r>
            <a:endParaRPr sz="500">
              <a:latin typeface="Times New Roman"/>
              <a:cs typeface="Times New Roman"/>
            </a:endParaRPr>
          </a:p>
          <a:p>
            <a:pPr marL="12700">
              <a:lnSpc>
                <a:spcPct val="100000"/>
              </a:lnSpc>
              <a:spcBef>
                <a:spcPts val="114"/>
              </a:spcBef>
            </a:pPr>
            <a:r>
              <a:rPr sz="500" spc="-25" dirty="0">
                <a:latin typeface="Times New Roman"/>
                <a:cs typeface="Times New Roman"/>
              </a:rPr>
              <a:t>21</a:t>
            </a:r>
            <a:endParaRPr sz="500">
              <a:latin typeface="Times New Roman"/>
              <a:cs typeface="Times New Roman"/>
            </a:endParaRPr>
          </a:p>
          <a:p>
            <a:pPr marL="12700">
              <a:lnSpc>
                <a:spcPct val="100000"/>
              </a:lnSpc>
              <a:spcBef>
                <a:spcPts val="114"/>
              </a:spcBef>
            </a:pPr>
            <a:r>
              <a:rPr sz="500" spc="-25" dirty="0">
                <a:latin typeface="Times New Roman"/>
                <a:cs typeface="Times New Roman"/>
              </a:rPr>
              <a:t>22</a:t>
            </a:r>
            <a:endParaRPr sz="500">
              <a:latin typeface="Times New Roman"/>
              <a:cs typeface="Times New Roman"/>
            </a:endParaRPr>
          </a:p>
          <a:p>
            <a:pPr marL="12700">
              <a:lnSpc>
                <a:spcPct val="100000"/>
              </a:lnSpc>
              <a:spcBef>
                <a:spcPts val="120"/>
              </a:spcBef>
            </a:pPr>
            <a:r>
              <a:rPr sz="500" spc="-25" dirty="0">
                <a:latin typeface="Times New Roman"/>
                <a:cs typeface="Times New Roman"/>
              </a:rPr>
              <a:t>23</a:t>
            </a:r>
            <a:endParaRPr sz="500">
              <a:latin typeface="Times New Roman"/>
              <a:cs typeface="Times New Roman"/>
            </a:endParaRPr>
          </a:p>
          <a:p>
            <a:pPr marL="12700">
              <a:lnSpc>
                <a:spcPct val="100000"/>
              </a:lnSpc>
              <a:spcBef>
                <a:spcPts val="114"/>
              </a:spcBef>
            </a:pPr>
            <a:r>
              <a:rPr sz="500" spc="-25" dirty="0">
                <a:latin typeface="Times New Roman"/>
                <a:cs typeface="Times New Roman"/>
              </a:rPr>
              <a:t>24</a:t>
            </a:r>
            <a:endParaRPr sz="500">
              <a:latin typeface="Times New Roman"/>
              <a:cs typeface="Times New Roman"/>
            </a:endParaRPr>
          </a:p>
          <a:p>
            <a:pPr marL="12700">
              <a:lnSpc>
                <a:spcPct val="100000"/>
              </a:lnSpc>
              <a:spcBef>
                <a:spcPts val="120"/>
              </a:spcBef>
            </a:pPr>
            <a:r>
              <a:rPr sz="500" spc="-25" dirty="0">
                <a:latin typeface="Times New Roman"/>
                <a:cs typeface="Times New Roman"/>
              </a:rPr>
              <a:t>25</a:t>
            </a:r>
            <a:endParaRPr sz="500">
              <a:latin typeface="Times New Roman"/>
              <a:cs typeface="Times New Roman"/>
            </a:endParaRPr>
          </a:p>
          <a:p>
            <a:pPr marL="12700">
              <a:lnSpc>
                <a:spcPct val="100000"/>
              </a:lnSpc>
              <a:spcBef>
                <a:spcPts val="114"/>
              </a:spcBef>
            </a:pPr>
            <a:r>
              <a:rPr sz="500" spc="-25" dirty="0">
                <a:latin typeface="Times New Roman"/>
                <a:cs typeface="Times New Roman"/>
              </a:rPr>
              <a:t>26</a:t>
            </a:r>
            <a:endParaRPr sz="500">
              <a:latin typeface="Times New Roman"/>
              <a:cs typeface="Times New Roman"/>
            </a:endParaRPr>
          </a:p>
          <a:p>
            <a:pPr marL="12700">
              <a:lnSpc>
                <a:spcPct val="100000"/>
              </a:lnSpc>
              <a:spcBef>
                <a:spcPts val="120"/>
              </a:spcBef>
            </a:pPr>
            <a:r>
              <a:rPr sz="500" spc="-25" dirty="0">
                <a:latin typeface="Times New Roman"/>
                <a:cs typeface="Times New Roman"/>
              </a:rPr>
              <a:t>27</a:t>
            </a:r>
            <a:endParaRPr sz="500">
              <a:latin typeface="Times New Roman"/>
              <a:cs typeface="Times New Roman"/>
            </a:endParaRPr>
          </a:p>
        </p:txBody>
      </p:sp>
      <p:sp>
        <p:nvSpPr>
          <p:cNvPr id="11" name="object 11"/>
          <p:cNvSpPr txBox="1"/>
          <p:nvPr/>
        </p:nvSpPr>
        <p:spPr>
          <a:xfrm>
            <a:off x="543102" y="1170167"/>
            <a:ext cx="1320800" cy="222885"/>
          </a:xfrm>
          <a:prstGeom prst="rect">
            <a:avLst/>
          </a:prstGeom>
        </p:spPr>
        <p:txBody>
          <a:bodyPr vert="horz" wrap="square" lIns="0" tIns="27940" rIns="0" bIns="0" rtlCol="0">
            <a:spAutoFit/>
          </a:bodyPr>
          <a:lstStyle/>
          <a:p>
            <a:pPr marL="100330" marR="5080" indent="-88265">
              <a:lnSpc>
                <a:spcPts val="720"/>
              </a:lnSpc>
              <a:spcBef>
                <a:spcPts val="220"/>
              </a:spcBef>
            </a:pPr>
            <a:r>
              <a:rPr sz="700" b="1" spc="65" dirty="0">
                <a:solidFill>
                  <a:srgbClr val="FF0059"/>
                </a:solidFill>
                <a:latin typeface="Times New Roman"/>
                <a:cs typeface="Times New Roman"/>
              </a:rPr>
              <a:t>def </a:t>
            </a:r>
            <a:r>
              <a:rPr sz="700" spc="55" dirty="0">
                <a:latin typeface="Times New Roman"/>
                <a:cs typeface="Times New Roman"/>
              </a:rPr>
              <a:t>requestToEnter(self): </a:t>
            </a:r>
            <a:r>
              <a:rPr sz="700" spc="85" dirty="0">
                <a:latin typeface="Times New Roman"/>
                <a:cs typeface="Times New Roman"/>
              </a:rPr>
              <a:t>self.clock</a:t>
            </a:r>
            <a:r>
              <a:rPr sz="700" spc="90" dirty="0">
                <a:latin typeface="Times New Roman"/>
                <a:cs typeface="Times New Roman"/>
              </a:rPr>
              <a:t> </a:t>
            </a:r>
            <a:r>
              <a:rPr sz="700" dirty="0">
                <a:latin typeface="Times New Roman"/>
                <a:cs typeface="Times New Roman"/>
              </a:rPr>
              <a:t>=</a:t>
            </a:r>
            <a:r>
              <a:rPr sz="700" spc="95" dirty="0">
                <a:latin typeface="Times New Roman"/>
                <a:cs typeface="Times New Roman"/>
              </a:rPr>
              <a:t> </a:t>
            </a:r>
            <a:r>
              <a:rPr sz="700" spc="85" dirty="0">
                <a:latin typeface="Times New Roman"/>
                <a:cs typeface="Times New Roman"/>
              </a:rPr>
              <a:t>self.clock</a:t>
            </a:r>
            <a:r>
              <a:rPr sz="700" spc="95" dirty="0">
                <a:latin typeface="Times New Roman"/>
                <a:cs typeface="Times New Roman"/>
              </a:rPr>
              <a:t> </a:t>
            </a:r>
            <a:r>
              <a:rPr sz="700" dirty="0">
                <a:latin typeface="Times New Roman"/>
                <a:cs typeface="Times New Roman"/>
              </a:rPr>
              <a:t>+</a:t>
            </a:r>
            <a:r>
              <a:rPr sz="700" spc="114" dirty="0">
                <a:latin typeface="Times New Roman"/>
                <a:cs typeface="Times New Roman"/>
              </a:rPr>
              <a:t> </a:t>
            </a:r>
            <a:r>
              <a:rPr sz="700" spc="15" dirty="0">
                <a:latin typeface="Times New Roman"/>
                <a:cs typeface="Times New Roman"/>
              </a:rPr>
              <a:t>1</a:t>
            </a:r>
            <a:endParaRPr sz="700">
              <a:latin typeface="Times New Roman"/>
              <a:cs typeface="Times New Roman"/>
            </a:endParaRPr>
          </a:p>
        </p:txBody>
      </p:sp>
      <p:sp>
        <p:nvSpPr>
          <p:cNvPr id="12" name="object 12"/>
          <p:cNvSpPr txBox="1"/>
          <p:nvPr/>
        </p:nvSpPr>
        <p:spPr>
          <a:xfrm>
            <a:off x="2936646" y="1261265"/>
            <a:ext cx="1056005" cy="132080"/>
          </a:xfrm>
          <a:prstGeom prst="rect">
            <a:avLst/>
          </a:prstGeom>
        </p:spPr>
        <p:txBody>
          <a:bodyPr vert="horz" wrap="square" lIns="0" tIns="12065" rIns="0" bIns="0" rtlCol="0">
            <a:spAutoFit/>
          </a:bodyPr>
          <a:lstStyle/>
          <a:p>
            <a:pPr marL="12700">
              <a:lnSpc>
                <a:spcPct val="100000"/>
              </a:lnSpc>
              <a:spcBef>
                <a:spcPts val="95"/>
              </a:spcBef>
            </a:pPr>
            <a:r>
              <a:rPr sz="700" i="1" spc="65" dirty="0">
                <a:solidFill>
                  <a:srgbClr val="009600"/>
                </a:solidFill>
                <a:latin typeface="Times New Roman"/>
                <a:cs typeface="Times New Roman"/>
              </a:rPr>
              <a:t>#</a:t>
            </a:r>
            <a:r>
              <a:rPr sz="700" i="1" spc="220" dirty="0">
                <a:solidFill>
                  <a:srgbClr val="009600"/>
                </a:solidFill>
                <a:latin typeface="Times New Roman"/>
                <a:cs typeface="Times New Roman"/>
              </a:rPr>
              <a:t> </a:t>
            </a:r>
            <a:r>
              <a:rPr sz="700" i="1" dirty="0">
                <a:solidFill>
                  <a:srgbClr val="009600"/>
                </a:solidFill>
                <a:latin typeface="Times New Roman"/>
                <a:cs typeface="Times New Roman"/>
              </a:rPr>
              <a:t>Increment</a:t>
            </a:r>
            <a:r>
              <a:rPr sz="700" i="1" spc="180" dirty="0">
                <a:solidFill>
                  <a:srgbClr val="009600"/>
                </a:solidFill>
                <a:latin typeface="Times New Roman"/>
                <a:cs typeface="Times New Roman"/>
              </a:rPr>
              <a:t> </a:t>
            </a:r>
            <a:r>
              <a:rPr sz="700" i="1" spc="70" dirty="0">
                <a:solidFill>
                  <a:srgbClr val="009600"/>
                </a:solidFill>
                <a:latin typeface="Times New Roman"/>
                <a:cs typeface="Times New Roman"/>
              </a:rPr>
              <a:t>clock</a:t>
            </a:r>
            <a:r>
              <a:rPr sz="700" i="1" spc="185" dirty="0">
                <a:solidFill>
                  <a:srgbClr val="009600"/>
                </a:solidFill>
                <a:latin typeface="Times New Roman"/>
                <a:cs typeface="Times New Roman"/>
              </a:rPr>
              <a:t> </a:t>
            </a:r>
            <a:r>
              <a:rPr sz="700" i="1" spc="55" dirty="0">
                <a:solidFill>
                  <a:srgbClr val="009600"/>
                </a:solidFill>
                <a:latin typeface="Times New Roman"/>
                <a:cs typeface="Times New Roman"/>
              </a:rPr>
              <a:t>value</a:t>
            </a:r>
            <a:endParaRPr sz="700">
              <a:latin typeface="Times New Roman"/>
              <a:cs typeface="Times New Roman"/>
            </a:endParaRPr>
          </a:p>
        </p:txBody>
      </p:sp>
      <p:sp>
        <p:nvSpPr>
          <p:cNvPr id="13" name="object 13"/>
          <p:cNvSpPr txBox="1"/>
          <p:nvPr/>
        </p:nvSpPr>
        <p:spPr>
          <a:xfrm>
            <a:off x="631228" y="1352362"/>
            <a:ext cx="3270250" cy="132080"/>
          </a:xfrm>
          <a:prstGeom prst="rect">
            <a:avLst/>
          </a:prstGeom>
        </p:spPr>
        <p:txBody>
          <a:bodyPr vert="horz" wrap="square" lIns="0" tIns="12065" rIns="0" bIns="0" rtlCol="0">
            <a:spAutoFit/>
          </a:bodyPr>
          <a:lstStyle/>
          <a:p>
            <a:pPr marL="12700">
              <a:lnSpc>
                <a:spcPct val="100000"/>
              </a:lnSpc>
              <a:spcBef>
                <a:spcPts val="95"/>
              </a:spcBef>
            </a:pPr>
            <a:r>
              <a:rPr sz="700" spc="65" dirty="0">
                <a:latin typeface="Times New Roman"/>
                <a:cs typeface="Times New Roman"/>
              </a:rPr>
              <a:t>self.queue.append((self.clock,</a:t>
            </a:r>
            <a:r>
              <a:rPr sz="700" spc="105" dirty="0">
                <a:latin typeface="Times New Roman"/>
                <a:cs typeface="Times New Roman"/>
              </a:rPr>
              <a:t> </a:t>
            </a:r>
            <a:r>
              <a:rPr sz="700" spc="70" dirty="0">
                <a:latin typeface="Times New Roman"/>
                <a:cs typeface="Times New Roman"/>
              </a:rPr>
              <a:t>self.procID,</a:t>
            </a:r>
            <a:r>
              <a:rPr sz="700" spc="105" dirty="0">
                <a:latin typeface="Times New Roman"/>
                <a:cs typeface="Times New Roman"/>
              </a:rPr>
              <a:t> </a:t>
            </a:r>
            <a:r>
              <a:rPr sz="700" spc="-25" dirty="0">
                <a:latin typeface="Times New Roman"/>
                <a:cs typeface="Times New Roman"/>
              </a:rPr>
              <a:t>ENTER))</a:t>
            </a:r>
            <a:r>
              <a:rPr sz="700" spc="114" dirty="0">
                <a:latin typeface="Times New Roman"/>
                <a:cs typeface="Times New Roman"/>
              </a:rPr>
              <a:t> </a:t>
            </a:r>
            <a:r>
              <a:rPr sz="700" i="1" spc="65" dirty="0">
                <a:solidFill>
                  <a:srgbClr val="009600"/>
                </a:solidFill>
                <a:latin typeface="Times New Roman"/>
                <a:cs typeface="Times New Roman"/>
              </a:rPr>
              <a:t>#</a:t>
            </a:r>
            <a:r>
              <a:rPr sz="700" i="1" spc="100" dirty="0">
                <a:solidFill>
                  <a:srgbClr val="009600"/>
                </a:solidFill>
                <a:latin typeface="Times New Roman"/>
                <a:cs typeface="Times New Roman"/>
              </a:rPr>
              <a:t> </a:t>
            </a:r>
            <a:r>
              <a:rPr sz="700" i="1" dirty="0">
                <a:solidFill>
                  <a:srgbClr val="009600"/>
                </a:solidFill>
                <a:latin typeface="Times New Roman"/>
                <a:cs typeface="Times New Roman"/>
              </a:rPr>
              <a:t>Append</a:t>
            </a:r>
            <a:r>
              <a:rPr sz="700" i="1" spc="70" dirty="0">
                <a:solidFill>
                  <a:srgbClr val="009600"/>
                </a:solidFill>
                <a:latin typeface="Times New Roman"/>
                <a:cs typeface="Times New Roman"/>
              </a:rPr>
              <a:t> </a:t>
            </a:r>
            <a:r>
              <a:rPr sz="700" i="1" spc="65" dirty="0">
                <a:solidFill>
                  <a:srgbClr val="009600"/>
                </a:solidFill>
                <a:latin typeface="Times New Roman"/>
                <a:cs typeface="Times New Roman"/>
              </a:rPr>
              <a:t>request</a:t>
            </a:r>
            <a:r>
              <a:rPr sz="700" i="1" spc="90" dirty="0">
                <a:solidFill>
                  <a:srgbClr val="009600"/>
                </a:solidFill>
                <a:latin typeface="Times New Roman"/>
                <a:cs typeface="Times New Roman"/>
              </a:rPr>
              <a:t> </a:t>
            </a:r>
            <a:r>
              <a:rPr sz="700" i="1" spc="120" dirty="0">
                <a:solidFill>
                  <a:srgbClr val="009600"/>
                </a:solidFill>
                <a:latin typeface="Times New Roman"/>
                <a:cs typeface="Times New Roman"/>
              </a:rPr>
              <a:t>to</a:t>
            </a:r>
            <a:r>
              <a:rPr sz="700" i="1" spc="114" dirty="0">
                <a:solidFill>
                  <a:srgbClr val="009600"/>
                </a:solidFill>
                <a:latin typeface="Times New Roman"/>
                <a:cs typeface="Times New Roman"/>
              </a:rPr>
              <a:t> </a:t>
            </a:r>
            <a:r>
              <a:rPr sz="700" i="1" spc="15" dirty="0">
                <a:solidFill>
                  <a:srgbClr val="009600"/>
                </a:solidFill>
                <a:latin typeface="Times New Roman"/>
                <a:cs typeface="Times New Roman"/>
              </a:rPr>
              <a:t>q</a:t>
            </a:r>
            <a:endParaRPr sz="700">
              <a:latin typeface="Times New Roman"/>
              <a:cs typeface="Times New Roman"/>
            </a:endParaRPr>
          </a:p>
        </p:txBody>
      </p:sp>
      <p:sp>
        <p:nvSpPr>
          <p:cNvPr id="14" name="object 14"/>
          <p:cNvSpPr txBox="1"/>
          <p:nvPr/>
        </p:nvSpPr>
        <p:spPr>
          <a:xfrm>
            <a:off x="631228" y="1443459"/>
            <a:ext cx="3051175" cy="132080"/>
          </a:xfrm>
          <a:prstGeom prst="rect">
            <a:avLst/>
          </a:prstGeom>
        </p:spPr>
        <p:txBody>
          <a:bodyPr vert="horz" wrap="square" lIns="0" tIns="12065" rIns="0" bIns="0" rtlCol="0">
            <a:spAutoFit/>
          </a:bodyPr>
          <a:lstStyle/>
          <a:p>
            <a:pPr marL="12700">
              <a:lnSpc>
                <a:spcPct val="100000"/>
              </a:lnSpc>
              <a:spcBef>
                <a:spcPts val="95"/>
              </a:spcBef>
              <a:tabLst>
                <a:tab pos="2317750" algn="l"/>
              </a:tabLst>
            </a:pPr>
            <a:r>
              <a:rPr sz="700" spc="50" dirty="0">
                <a:latin typeface="Times New Roman"/>
                <a:cs typeface="Times New Roman"/>
              </a:rPr>
              <a:t>self.cleanupQ()</a:t>
            </a:r>
            <a:r>
              <a:rPr sz="700" dirty="0">
                <a:latin typeface="Times New Roman"/>
                <a:cs typeface="Times New Roman"/>
              </a:rPr>
              <a:t>	</a:t>
            </a:r>
            <a:r>
              <a:rPr sz="700" i="1" spc="65" dirty="0">
                <a:solidFill>
                  <a:srgbClr val="009600"/>
                </a:solidFill>
                <a:latin typeface="Times New Roman"/>
                <a:cs typeface="Times New Roman"/>
              </a:rPr>
              <a:t>#</a:t>
            </a:r>
            <a:r>
              <a:rPr sz="700" i="1" spc="80" dirty="0">
                <a:solidFill>
                  <a:srgbClr val="009600"/>
                </a:solidFill>
                <a:latin typeface="Times New Roman"/>
                <a:cs typeface="Times New Roman"/>
              </a:rPr>
              <a:t> Sort</a:t>
            </a:r>
            <a:r>
              <a:rPr sz="700" i="1" spc="65" dirty="0">
                <a:solidFill>
                  <a:srgbClr val="009600"/>
                </a:solidFill>
                <a:latin typeface="Times New Roman"/>
                <a:cs typeface="Times New Roman"/>
              </a:rPr>
              <a:t> </a:t>
            </a:r>
            <a:r>
              <a:rPr sz="700" i="1" spc="95" dirty="0">
                <a:solidFill>
                  <a:srgbClr val="009600"/>
                </a:solidFill>
                <a:latin typeface="Times New Roman"/>
                <a:cs typeface="Times New Roman"/>
              </a:rPr>
              <a:t>the</a:t>
            </a:r>
            <a:r>
              <a:rPr sz="700" i="1" spc="60" dirty="0">
                <a:solidFill>
                  <a:srgbClr val="009600"/>
                </a:solidFill>
                <a:latin typeface="Times New Roman"/>
                <a:cs typeface="Times New Roman"/>
              </a:rPr>
              <a:t> </a:t>
            </a:r>
            <a:r>
              <a:rPr sz="700" i="1" spc="-20" dirty="0">
                <a:solidFill>
                  <a:srgbClr val="009600"/>
                </a:solidFill>
                <a:latin typeface="Times New Roman"/>
                <a:cs typeface="Times New Roman"/>
              </a:rPr>
              <a:t>queue</a:t>
            </a:r>
            <a:endParaRPr sz="700">
              <a:latin typeface="Times New Roman"/>
              <a:cs typeface="Times New Roman"/>
            </a:endParaRPr>
          </a:p>
        </p:txBody>
      </p:sp>
      <p:sp>
        <p:nvSpPr>
          <p:cNvPr id="15" name="object 15"/>
          <p:cNvSpPr txBox="1"/>
          <p:nvPr/>
        </p:nvSpPr>
        <p:spPr>
          <a:xfrm>
            <a:off x="631228" y="1534556"/>
            <a:ext cx="3671570" cy="132080"/>
          </a:xfrm>
          <a:prstGeom prst="rect">
            <a:avLst/>
          </a:prstGeom>
        </p:spPr>
        <p:txBody>
          <a:bodyPr vert="horz" wrap="square" lIns="0" tIns="12065" rIns="0" bIns="0" rtlCol="0">
            <a:spAutoFit/>
          </a:bodyPr>
          <a:lstStyle/>
          <a:p>
            <a:pPr marL="12700">
              <a:lnSpc>
                <a:spcPct val="100000"/>
              </a:lnSpc>
              <a:spcBef>
                <a:spcPts val="95"/>
              </a:spcBef>
            </a:pPr>
            <a:r>
              <a:rPr sz="700" spc="60" dirty="0">
                <a:latin typeface="Times New Roman"/>
                <a:cs typeface="Times New Roman"/>
              </a:rPr>
              <a:t>self.chan.sendTo(self.otherProcs,</a:t>
            </a:r>
            <a:r>
              <a:rPr sz="700" spc="150" dirty="0">
                <a:latin typeface="Times New Roman"/>
                <a:cs typeface="Times New Roman"/>
              </a:rPr>
              <a:t> </a:t>
            </a:r>
            <a:r>
              <a:rPr sz="700" spc="90" dirty="0">
                <a:latin typeface="Times New Roman"/>
                <a:cs typeface="Times New Roman"/>
              </a:rPr>
              <a:t>(self.clock,</a:t>
            </a:r>
            <a:r>
              <a:rPr sz="700" spc="130" dirty="0">
                <a:latin typeface="Times New Roman"/>
                <a:cs typeface="Times New Roman"/>
              </a:rPr>
              <a:t> </a:t>
            </a:r>
            <a:r>
              <a:rPr sz="700" spc="70" dirty="0">
                <a:latin typeface="Times New Roman"/>
                <a:cs typeface="Times New Roman"/>
              </a:rPr>
              <a:t>self.procID,</a:t>
            </a:r>
            <a:r>
              <a:rPr sz="700" spc="135" dirty="0">
                <a:latin typeface="Times New Roman"/>
                <a:cs typeface="Times New Roman"/>
              </a:rPr>
              <a:t> </a:t>
            </a:r>
            <a:r>
              <a:rPr sz="700" spc="-25" dirty="0">
                <a:latin typeface="Times New Roman"/>
                <a:cs typeface="Times New Roman"/>
              </a:rPr>
              <a:t>ENTER))</a:t>
            </a:r>
            <a:r>
              <a:rPr sz="700" spc="140" dirty="0">
                <a:latin typeface="Times New Roman"/>
                <a:cs typeface="Times New Roman"/>
              </a:rPr>
              <a:t> </a:t>
            </a:r>
            <a:r>
              <a:rPr sz="700" i="1" spc="65" dirty="0">
                <a:solidFill>
                  <a:srgbClr val="009600"/>
                </a:solidFill>
                <a:latin typeface="Times New Roman"/>
                <a:cs typeface="Times New Roman"/>
              </a:rPr>
              <a:t>#</a:t>
            </a:r>
            <a:r>
              <a:rPr sz="700" i="1" spc="130" dirty="0">
                <a:solidFill>
                  <a:srgbClr val="009600"/>
                </a:solidFill>
                <a:latin typeface="Times New Roman"/>
                <a:cs typeface="Times New Roman"/>
              </a:rPr>
              <a:t> </a:t>
            </a:r>
            <a:r>
              <a:rPr sz="700" i="1" dirty="0">
                <a:solidFill>
                  <a:srgbClr val="009600"/>
                </a:solidFill>
                <a:latin typeface="Times New Roman"/>
                <a:cs typeface="Times New Roman"/>
              </a:rPr>
              <a:t>Send</a:t>
            </a:r>
            <a:r>
              <a:rPr sz="700" i="1" spc="100" dirty="0">
                <a:solidFill>
                  <a:srgbClr val="009600"/>
                </a:solidFill>
                <a:latin typeface="Times New Roman"/>
                <a:cs typeface="Times New Roman"/>
              </a:rPr>
              <a:t> </a:t>
            </a:r>
            <a:r>
              <a:rPr sz="700" i="1" spc="55" dirty="0">
                <a:solidFill>
                  <a:srgbClr val="009600"/>
                </a:solidFill>
                <a:latin typeface="Times New Roman"/>
                <a:cs typeface="Times New Roman"/>
              </a:rPr>
              <a:t>request</a:t>
            </a:r>
            <a:endParaRPr sz="700">
              <a:latin typeface="Times New Roman"/>
              <a:cs typeface="Times New Roman"/>
            </a:endParaRPr>
          </a:p>
        </p:txBody>
      </p:sp>
      <p:sp>
        <p:nvSpPr>
          <p:cNvPr id="16" name="object 16"/>
          <p:cNvSpPr txBox="1"/>
          <p:nvPr/>
        </p:nvSpPr>
        <p:spPr>
          <a:xfrm>
            <a:off x="543102" y="1716750"/>
            <a:ext cx="1455420" cy="132080"/>
          </a:xfrm>
          <a:prstGeom prst="rect">
            <a:avLst/>
          </a:prstGeom>
        </p:spPr>
        <p:txBody>
          <a:bodyPr vert="horz" wrap="square" lIns="0" tIns="12065" rIns="0" bIns="0" rtlCol="0">
            <a:spAutoFit/>
          </a:bodyPr>
          <a:lstStyle/>
          <a:p>
            <a:pPr marL="12700">
              <a:lnSpc>
                <a:spcPct val="100000"/>
              </a:lnSpc>
              <a:spcBef>
                <a:spcPts val="95"/>
              </a:spcBef>
            </a:pPr>
            <a:r>
              <a:rPr sz="700" b="1" spc="65" dirty="0">
                <a:solidFill>
                  <a:srgbClr val="FF0059"/>
                </a:solidFill>
                <a:latin typeface="Times New Roman"/>
                <a:cs typeface="Times New Roman"/>
              </a:rPr>
              <a:t>def</a:t>
            </a:r>
            <a:r>
              <a:rPr sz="700" b="1" spc="85" dirty="0">
                <a:solidFill>
                  <a:srgbClr val="FF0059"/>
                </a:solidFill>
                <a:latin typeface="Times New Roman"/>
                <a:cs typeface="Times New Roman"/>
              </a:rPr>
              <a:t> </a:t>
            </a:r>
            <a:r>
              <a:rPr sz="700" spc="55" dirty="0">
                <a:latin typeface="Times New Roman"/>
                <a:cs typeface="Times New Roman"/>
              </a:rPr>
              <a:t>ackToEnter(self,</a:t>
            </a:r>
            <a:r>
              <a:rPr sz="700" spc="110" dirty="0">
                <a:latin typeface="Times New Roman"/>
                <a:cs typeface="Times New Roman"/>
              </a:rPr>
              <a:t> </a:t>
            </a:r>
            <a:r>
              <a:rPr sz="700" spc="70" dirty="0">
                <a:latin typeface="Times New Roman"/>
                <a:cs typeface="Times New Roman"/>
              </a:rPr>
              <a:t>requester):</a:t>
            </a:r>
            <a:endParaRPr sz="700">
              <a:latin typeface="Times New Roman"/>
              <a:cs typeface="Times New Roman"/>
            </a:endParaRPr>
          </a:p>
        </p:txBody>
      </p:sp>
      <p:sp>
        <p:nvSpPr>
          <p:cNvPr id="17" name="object 17"/>
          <p:cNvSpPr txBox="1"/>
          <p:nvPr/>
        </p:nvSpPr>
        <p:spPr>
          <a:xfrm>
            <a:off x="631228" y="1807847"/>
            <a:ext cx="3361690" cy="132080"/>
          </a:xfrm>
          <a:prstGeom prst="rect">
            <a:avLst/>
          </a:prstGeom>
        </p:spPr>
        <p:txBody>
          <a:bodyPr vert="horz" wrap="square" lIns="0" tIns="12065" rIns="0" bIns="0" rtlCol="0">
            <a:spAutoFit/>
          </a:bodyPr>
          <a:lstStyle/>
          <a:p>
            <a:pPr marL="12700">
              <a:lnSpc>
                <a:spcPct val="100000"/>
              </a:lnSpc>
              <a:spcBef>
                <a:spcPts val="95"/>
              </a:spcBef>
              <a:tabLst>
                <a:tab pos="2317750" algn="l"/>
              </a:tabLst>
            </a:pPr>
            <a:r>
              <a:rPr sz="700" spc="85" dirty="0">
                <a:latin typeface="Times New Roman"/>
                <a:cs typeface="Times New Roman"/>
              </a:rPr>
              <a:t>self.clock</a:t>
            </a:r>
            <a:r>
              <a:rPr sz="700" spc="90" dirty="0">
                <a:latin typeface="Times New Roman"/>
                <a:cs typeface="Times New Roman"/>
              </a:rPr>
              <a:t> </a:t>
            </a:r>
            <a:r>
              <a:rPr sz="700" dirty="0">
                <a:latin typeface="Times New Roman"/>
                <a:cs typeface="Times New Roman"/>
              </a:rPr>
              <a:t>=</a:t>
            </a:r>
            <a:r>
              <a:rPr sz="700" spc="95" dirty="0">
                <a:latin typeface="Times New Roman"/>
                <a:cs typeface="Times New Roman"/>
              </a:rPr>
              <a:t> </a:t>
            </a:r>
            <a:r>
              <a:rPr sz="700" spc="85" dirty="0">
                <a:latin typeface="Times New Roman"/>
                <a:cs typeface="Times New Roman"/>
              </a:rPr>
              <a:t>self.clock</a:t>
            </a:r>
            <a:r>
              <a:rPr sz="700" spc="95" dirty="0">
                <a:latin typeface="Times New Roman"/>
                <a:cs typeface="Times New Roman"/>
              </a:rPr>
              <a:t> </a:t>
            </a:r>
            <a:r>
              <a:rPr sz="700" dirty="0">
                <a:latin typeface="Times New Roman"/>
                <a:cs typeface="Times New Roman"/>
              </a:rPr>
              <a:t>+</a:t>
            </a:r>
            <a:r>
              <a:rPr sz="700" spc="114" dirty="0">
                <a:latin typeface="Times New Roman"/>
                <a:cs typeface="Times New Roman"/>
              </a:rPr>
              <a:t> </a:t>
            </a:r>
            <a:r>
              <a:rPr sz="700" spc="15" dirty="0">
                <a:latin typeface="Times New Roman"/>
                <a:cs typeface="Times New Roman"/>
              </a:rPr>
              <a:t>1</a:t>
            </a:r>
            <a:r>
              <a:rPr sz="700" dirty="0">
                <a:latin typeface="Times New Roman"/>
                <a:cs typeface="Times New Roman"/>
              </a:rPr>
              <a:t>	</a:t>
            </a:r>
            <a:r>
              <a:rPr sz="700" i="1" spc="65" dirty="0">
                <a:solidFill>
                  <a:srgbClr val="009600"/>
                </a:solidFill>
                <a:latin typeface="Times New Roman"/>
                <a:cs typeface="Times New Roman"/>
              </a:rPr>
              <a:t>#</a:t>
            </a:r>
            <a:r>
              <a:rPr sz="700" i="1" spc="220" dirty="0">
                <a:solidFill>
                  <a:srgbClr val="009600"/>
                </a:solidFill>
                <a:latin typeface="Times New Roman"/>
                <a:cs typeface="Times New Roman"/>
              </a:rPr>
              <a:t> </a:t>
            </a:r>
            <a:r>
              <a:rPr sz="700" i="1" dirty="0">
                <a:solidFill>
                  <a:srgbClr val="009600"/>
                </a:solidFill>
                <a:latin typeface="Times New Roman"/>
                <a:cs typeface="Times New Roman"/>
              </a:rPr>
              <a:t>Increment</a:t>
            </a:r>
            <a:r>
              <a:rPr sz="700" i="1" spc="180" dirty="0">
                <a:solidFill>
                  <a:srgbClr val="009600"/>
                </a:solidFill>
                <a:latin typeface="Times New Roman"/>
                <a:cs typeface="Times New Roman"/>
              </a:rPr>
              <a:t> </a:t>
            </a:r>
            <a:r>
              <a:rPr sz="700" i="1" spc="70" dirty="0">
                <a:solidFill>
                  <a:srgbClr val="009600"/>
                </a:solidFill>
                <a:latin typeface="Times New Roman"/>
                <a:cs typeface="Times New Roman"/>
              </a:rPr>
              <a:t>clock</a:t>
            </a:r>
            <a:r>
              <a:rPr sz="700" i="1" spc="185" dirty="0">
                <a:solidFill>
                  <a:srgbClr val="009600"/>
                </a:solidFill>
                <a:latin typeface="Times New Roman"/>
                <a:cs typeface="Times New Roman"/>
              </a:rPr>
              <a:t> </a:t>
            </a:r>
            <a:r>
              <a:rPr sz="700" i="1" spc="45" dirty="0">
                <a:solidFill>
                  <a:srgbClr val="009600"/>
                </a:solidFill>
                <a:latin typeface="Times New Roman"/>
                <a:cs typeface="Times New Roman"/>
              </a:rPr>
              <a:t>value</a:t>
            </a:r>
            <a:endParaRPr sz="700">
              <a:latin typeface="Times New Roman"/>
              <a:cs typeface="Times New Roman"/>
            </a:endParaRPr>
          </a:p>
        </p:txBody>
      </p:sp>
      <p:sp>
        <p:nvSpPr>
          <p:cNvPr id="18" name="object 18"/>
          <p:cNvSpPr txBox="1"/>
          <p:nvPr/>
        </p:nvSpPr>
        <p:spPr>
          <a:xfrm>
            <a:off x="631228" y="1898957"/>
            <a:ext cx="3317240" cy="132080"/>
          </a:xfrm>
          <a:prstGeom prst="rect">
            <a:avLst/>
          </a:prstGeom>
        </p:spPr>
        <p:txBody>
          <a:bodyPr vert="horz" wrap="square" lIns="0" tIns="12065" rIns="0" bIns="0" rtlCol="0">
            <a:spAutoFit/>
          </a:bodyPr>
          <a:lstStyle/>
          <a:p>
            <a:pPr marL="12700">
              <a:lnSpc>
                <a:spcPct val="100000"/>
              </a:lnSpc>
              <a:spcBef>
                <a:spcPts val="95"/>
              </a:spcBef>
            </a:pPr>
            <a:r>
              <a:rPr sz="700" spc="60" dirty="0">
                <a:latin typeface="Times New Roman"/>
                <a:cs typeface="Times New Roman"/>
              </a:rPr>
              <a:t>self.chan.sendTo(requester,</a:t>
            </a:r>
            <a:r>
              <a:rPr sz="700" spc="160" dirty="0">
                <a:latin typeface="Times New Roman"/>
                <a:cs typeface="Times New Roman"/>
              </a:rPr>
              <a:t> </a:t>
            </a:r>
            <a:r>
              <a:rPr sz="700" spc="90" dirty="0">
                <a:latin typeface="Times New Roman"/>
                <a:cs typeface="Times New Roman"/>
              </a:rPr>
              <a:t>(self.clock,</a:t>
            </a:r>
            <a:r>
              <a:rPr sz="700" spc="135" dirty="0">
                <a:latin typeface="Times New Roman"/>
                <a:cs typeface="Times New Roman"/>
              </a:rPr>
              <a:t> </a:t>
            </a:r>
            <a:r>
              <a:rPr sz="700" spc="70" dirty="0">
                <a:latin typeface="Times New Roman"/>
                <a:cs typeface="Times New Roman"/>
              </a:rPr>
              <a:t>self.procID,</a:t>
            </a:r>
            <a:r>
              <a:rPr sz="700" spc="140" dirty="0">
                <a:latin typeface="Times New Roman"/>
                <a:cs typeface="Times New Roman"/>
              </a:rPr>
              <a:t> </a:t>
            </a:r>
            <a:r>
              <a:rPr sz="700" spc="-10" dirty="0">
                <a:latin typeface="Times New Roman"/>
                <a:cs typeface="Times New Roman"/>
              </a:rPr>
              <a:t>ACK))</a:t>
            </a:r>
            <a:r>
              <a:rPr sz="700" spc="150" dirty="0">
                <a:latin typeface="Times New Roman"/>
                <a:cs typeface="Times New Roman"/>
              </a:rPr>
              <a:t> </a:t>
            </a:r>
            <a:r>
              <a:rPr sz="700" i="1" spc="65" dirty="0">
                <a:solidFill>
                  <a:srgbClr val="009600"/>
                </a:solidFill>
                <a:latin typeface="Times New Roman"/>
                <a:cs typeface="Times New Roman"/>
              </a:rPr>
              <a:t>#</a:t>
            </a:r>
            <a:r>
              <a:rPr sz="700" i="1" spc="130" dirty="0">
                <a:solidFill>
                  <a:srgbClr val="009600"/>
                </a:solidFill>
                <a:latin typeface="Times New Roman"/>
                <a:cs typeface="Times New Roman"/>
              </a:rPr>
              <a:t> </a:t>
            </a:r>
            <a:r>
              <a:rPr sz="700" i="1" dirty="0">
                <a:solidFill>
                  <a:srgbClr val="009600"/>
                </a:solidFill>
                <a:latin typeface="Times New Roman"/>
                <a:cs typeface="Times New Roman"/>
              </a:rPr>
              <a:t>Permit</a:t>
            </a:r>
            <a:r>
              <a:rPr sz="700" i="1" spc="105" dirty="0">
                <a:solidFill>
                  <a:srgbClr val="009600"/>
                </a:solidFill>
                <a:latin typeface="Times New Roman"/>
                <a:cs typeface="Times New Roman"/>
              </a:rPr>
              <a:t> </a:t>
            </a:r>
            <a:r>
              <a:rPr sz="700" i="1" spc="50" dirty="0">
                <a:solidFill>
                  <a:srgbClr val="009600"/>
                </a:solidFill>
                <a:latin typeface="Times New Roman"/>
                <a:cs typeface="Times New Roman"/>
              </a:rPr>
              <a:t>other</a:t>
            </a:r>
            <a:endParaRPr sz="700">
              <a:latin typeface="Times New Roman"/>
              <a:cs typeface="Times New Roman"/>
            </a:endParaRPr>
          </a:p>
        </p:txBody>
      </p:sp>
      <p:sp>
        <p:nvSpPr>
          <p:cNvPr id="19" name="object 19"/>
          <p:cNvSpPr txBox="1"/>
          <p:nvPr/>
        </p:nvSpPr>
        <p:spPr>
          <a:xfrm>
            <a:off x="543102" y="2081151"/>
            <a:ext cx="3183890" cy="222885"/>
          </a:xfrm>
          <a:prstGeom prst="rect">
            <a:avLst/>
          </a:prstGeom>
        </p:spPr>
        <p:txBody>
          <a:bodyPr vert="horz" wrap="square" lIns="0" tIns="12065" rIns="0" bIns="0" rtlCol="0">
            <a:spAutoFit/>
          </a:bodyPr>
          <a:lstStyle/>
          <a:p>
            <a:pPr marL="12700">
              <a:lnSpc>
                <a:spcPts val="780"/>
              </a:lnSpc>
              <a:spcBef>
                <a:spcPts val="95"/>
              </a:spcBef>
            </a:pPr>
            <a:r>
              <a:rPr sz="700" b="1" spc="65" dirty="0">
                <a:solidFill>
                  <a:srgbClr val="FF0059"/>
                </a:solidFill>
                <a:latin typeface="Times New Roman"/>
                <a:cs typeface="Times New Roman"/>
              </a:rPr>
              <a:t>def</a:t>
            </a:r>
            <a:r>
              <a:rPr sz="700" b="1" spc="70" dirty="0">
                <a:solidFill>
                  <a:srgbClr val="FF0059"/>
                </a:solidFill>
                <a:latin typeface="Times New Roman"/>
                <a:cs typeface="Times New Roman"/>
              </a:rPr>
              <a:t> </a:t>
            </a:r>
            <a:r>
              <a:rPr sz="700" spc="80" dirty="0">
                <a:latin typeface="Times New Roman"/>
                <a:cs typeface="Times New Roman"/>
              </a:rPr>
              <a:t>release(self):</a:t>
            </a:r>
            <a:endParaRPr sz="700">
              <a:latin typeface="Times New Roman"/>
              <a:cs typeface="Times New Roman"/>
            </a:endParaRPr>
          </a:p>
          <a:p>
            <a:pPr marL="100965">
              <a:lnSpc>
                <a:spcPts val="780"/>
              </a:lnSpc>
            </a:pPr>
            <a:r>
              <a:rPr sz="700" dirty="0">
                <a:latin typeface="Times New Roman"/>
                <a:cs typeface="Times New Roman"/>
              </a:rPr>
              <a:t>tmp</a:t>
            </a:r>
            <a:r>
              <a:rPr sz="700" spc="80" dirty="0">
                <a:latin typeface="Times New Roman"/>
                <a:cs typeface="Times New Roman"/>
              </a:rPr>
              <a:t> </a:t>
            </a:r>
            <a:r>
              <a:rPr sz="700" dirty="0">
                <a:latin typeface="Times New Roman"/>
                <a:cs typeface="Times New Roman"/>
              </a:rPr>
              <a:t>=</a:t>
            </a:r>
            <a:r>
              <a:rPr sz="700" spc="95" dirty="0">
                <a:latin typeface="Times New Roman"/>
                <a:cs typeface="Times New Roman"/>
              </a:rPr>
              <a:t> </a:t>
            </a:r>
            <a:r>
              <a:rPr sz="700" spc="145" dirty="0">
                <a:latin typeface="Times New Roman"/>
                <a:cs typeface="Times New Roman"/>
              </a:rPr>
              <a:t>[r</a:t>
            </a:r>
            <a:r>
              <a:rPr sz="700" spc="80" dirty="0">
                <a:latin typeface="Times New Roman"/>
                <a:cs typeface="Times New Roman"/>
              </a:rPr>
              <a:t> </a:t>
            </a:r>
            <a:r>
              <a:rPr sz="700" b="1" spc="80" dirty="0">
                <a:solidFill>
                  <a:srgbClr val="FF0059"/>
                </a:solidFill>
                <a:latin typeface="Times New Roman"/>
                <a:cs typeface="Times New Roman"/>
              </a:rPr>
              <a:t>for </a:t>
            </a:r>
            <a:r>
              <a:rPr sz="700" spc="180" dirty="0">
                <a:latin typeface="Times New Roman"/>
                <a:cs typeface="Times New Roman"/>
              </a:rPr>
              <a:t>r</a:t>
            </a:r>
            <a:r>
              <a:rPr sz="700" spc="85" dirty="0">
                <a:latin typeface="Times New Roman"/>
                <a:cs typeface="Times New Roman"/>
              </a:rPr>
              <a:t> </a:t>
            </a:r>
            <a:r>
              <a:rPr sz="700" b="1" spc="100" dirty="0">
                <a:solidFill>
                  <a:srgbClr val="FF0059"/>
                </a:solidFill>
                <a:latin typeface="Times New Roman"/>
                <a:cs typeface="Times New Roman"/>
              </a:rPr>
              <a:t>in</a:t>
            </a:r>
            <a:r>
              <a:rPr sz="700" b="1" spc="65" dirty="0">
                <a:solidFill>
                  <a:srgbClr val="FF0059"/>
                </a:solidFill>
                <a:latin typeface="Times New Roman"/>
                <a:cs typeface="Times New Roman"/>
              </a:rPr>
              <a:t> </a:t>
            </a:r>
            <a:r>
              <a:rPr sz="700" spc="75" dirty="0">
                <a:latin typeface="Times New Roman"/>
                <a:cs typeface="Times New Roman"/>
              </a:rPr>
              <a:t>self.queue[1:]</a:t>
            </a:r>
            <a:r>
              <a:rPr sz="700" spc="65" dirty="0">
                <a:latin typeface="Times New Roman"/>
                <a:cs typeface="Times New Roman"/>
              </a:rPr>
              <a:t> </a:t>
            </a:r>
            <a:r>
              <a:rPr sz="700" b="1" spc="175" dirty="0">
                <a:solidFill>
                  <a:srgbClr val="FF0059"/>
                </a:solidFill>
                <a:latin typeface="Times New Roman"/>
                <a:cs typeface="Times New Roman"/>
              </a:rPr>
              <a:t>if</a:t>
            </a:r>
            <a:r>
              <a:rPr sz="700" b="1" spc="85" dirty="0">
                <a:solidFill>
                  <a:srgbClr val="FF0059"/>
                </a:solidFill>
                <a:latin typeface="Times New Roman"/>
                <a:cs typeface="Times New Roman"/>
              </a:rPr>
              <a:t> </a:t>
            </a:r>
            <a:r>
              <a:rPr sz="700" spc="100" dirty="0">
                <a:latin typeface="Times New Roman"/>
                <a:cs typeface="Times New Roman"/>
              </a:rPr>
              <a:t>r[2]</a:t>
            </a:r>
            <a:r>
              <a:rPr sz="700" spc="70" dirty="0">
                <a:latin typeface="Times New Roman"/>
                <a:cs typeface="Times New Roman"/>
              </a:rPr>
              <a:t> </a:t>
            </a:r>
            <a:r>
              <a:rPr sz="700" dirty="0">
                <a:latin typeface="Times New Roman"/>
                <a:cs typeface="Times New Roman"/>
              </a:rPr>
              <a:t>==</a:t>
            </a:r>
            <a:r>
              <a:rPr sz="700" spc="60" dirty="0">
                <a:latin typeface="Times New Roman"/>
                <a:cs typeface="Times New Roman"/>
              </a:rPr>
              <a:t> </a:t>
            </a:r>
            <a:r>
              <a:rPr sz="700" spc="-25" dirty="0">
                <a:latin typeface="Times New Roman"/>
                <a:cs typeface="Times New Roman"/>
              </a:rPr>
              <a:t>ENTER]</a:t>
            </a:r>
            <a:r>
              <a:rPr sz="700" spc="440" dirty="0">
                <a:latin typeface="Times New Roman"/>
                <a:cs typeface="Times New Roman"/>
              </a:rPr>
              <a:t> </a:t>
            </a:r>
            <a:r>
              <a:rPr sz="700" i="1" spc="65" dirty="0">
                <a:solidFill>
                  <a:srgbClr val="009600"/>
                </a:solidFill>
                <a:latin typeface="Times New Roman"/>
                <a:cs typeface="Times New Roman"/>
              </a:rPr>
              <a:t>#</a:t>
            </a:r>
            <a:r>
              <a:rPr sz="700" i="1" spc="70" dirty="0">
                <a:solidFill>
                  <a:srgbClr val="009600"/>
                </a:solidFill>
                <a:latin typeface="Times New Roman"/>
                <a:cs typeface="Times New Roman"/>
              </a:rPr>
              <a:t> </a:t>
            </a:r>
            <a:r>
              <a:rPr sz="700" i="1" dirty="0">
                <a:solidFill>
                  <a:srgbClr val="009600"/>
                </a:solidFill>
                <a:latin typeface="Times New Roman"/>
                <a:cs typeface="Times New Roman"/>
              </a:rPr>
              <a:t>Remove</a:t>
            </a:r>
            <a:r>
              <a:rPr sz="700" i="1" spc="55" dirty="0">
                <a:solidFill>
                  <a:srgbClr val="009600"/>
                </a:solidFill>
                <a:latin typeface="Times New Roman"/>
                <a:cs typeface="Times New Roman"/>
              </a:rPr>
              <a:t> </a:t>
            </a:r>
            <a:r>
              <a:rPr sz="700" i="1" spc="130" dirty="0">
                <a:solidFill>
                  <a:srgbClr val="009600"/>
                </a:solidFill>
                <a:latin typeface="Times New Roman"/>
                <a:cs typeface="Times New Roman"/>
              </a:rPr>
              <a:t>all</a:t>
            </a:r>
            <a:r>
              <a:rPr sz="700" i="1" spc="60" dirty="0">
                <a:solidFill>
                  <a:srgbClr val="009600"/>
                </a:solidFill>
                <a:latin typeface="Times New Roman"/>
                <a:cs typeface="Times New Roman"/>
              </a:rPr>
              <a:t> </a:t>
            </a:r>
            <a:r>
              <a:rPr sz="700" i="1" spc="-20" dirty="0">
                <a:solidFill>
                  <a:srgbClr val="009600"/>
                </a:solidFill>
                <a:latin typeface="Times New Roman"/>
                <a:cs typeface="Times New Roman"/>
              </a:rPr>
              <a:t>ACKs</a:t>
            </a:r>
            <a:endParaRPr sz="700">
              <a:latin typeface="Times New Roman"/>
              <a:cs typeface="Times New Roman"/>
            </a:endParaRPr>
          </a:p>
        </p:txBody>
      </p:sp>
      <p:sp>
        <p:nvSpPr>
          <p:cNvPr id="20" name="object 20"/>
          <p:cNvSpPr txBox="1"/>
          <p:nvPr/>
        </p:nvSpPr>
        <p:spPr>
          <a:xfrm>
            <a:off x="631228" y="2263345"/>
            <a:ext cx="1233170" cy="222885"/>
          </a:xfrm>
          <a:prstGeom prst="rect">
            <a:avLst/>
          </a:prstGeom>
        </p:spPr>
        <p:txBody>
          <a:bodyPr vert="horz" wrap="square" lIns="0" tIns="12065" rIns="0" bIns="0" rtlCol="0">
            <a:spAutoFit/>
          </a:bodyPr>
          <a:lstStyle/>
          <a:p>
            <a:pPr marL="12700">
              <a:lnSpc>
                <a:spcPts val="780"/>
              </a:lnSpc>
              <a:spcBef>
                <a:spcPts val="95"/>
              </a:spcBef>
            </a:pPr>
            <a:r>
              <a:rPr sz="700" spc="70" dirty="0">
                <a:latin typeface="Times New Roman"/>
                <a:cs typeface="Times New Roman"/>
              </a:rPr>
              <a:t>self.queue</a:t>
            </a:r>
            <a:r>
              <a:rPr sz="700" spc="90" dirty="0">
                <a:latin typeface="Times New Roman"/>
                <a:cs typeface="Times New Roman"/>
              </a:rPr>
              <a:t> </a:t>
            </a:r>
            <a:r>
              <a:rPr sz="700" dirty="0">
                <a:latin typeface="Times New Roman"/>
                <a:cs typeface="Times New Roman"/>
              </a:rPr>
              <a:t>=</a:t>
            </a:r>
            <a:r>
              <a:rPr sz="700" spc="95" dirty="0">
                <a:latin typeface="Times New Roman"/>
                <a:cs typeface="Times New Roman"/>
              </a:rPr>
              <a:t> </a:t>
            </a:r>
            <a:r>
              <a:rPr sz="700" spc="-25" dirty="0">
                <a:latin typeface="Times New Roman"/>
                <a:cs typeface="Times New Roman"/>
              </a:rPr>
              <a:t>tmp</a:t>
            </a:r>
            <a:endParaRPr sz="700">
              <a:latin typeface="Times New Roman"/>
              <a:cs typeface="Times New Roman"/>
            </a:endParaRPr>
          </a:p>
          <a:p>
            <a:pPr marL="12700">
              <a:lnSpc>
                <a:spcPts val="780"/>
              </a:lnSpc>
            </a:pPr>
            <a:r>
              <a:rPr sz="700" spc="85" dirty="0">
                <a:latin typeface="Times New Roman"/>
                <a:cs typeface="Times New Roman"/>
              </a:rPr>
              <a:t>self.clock</a:t>
            </a:r>
            <a:r>
              <a:rPr sz="700" spc="90" dirty="0">
                <a:latin typeface="Times New Roman"/>
                <a:cs typeface="Times New Roman"/>
              </a:rPr>
              <a:t> </a:t>
            </a:r>
            <a:r>
              <a:rPr sz="700" dirty="0">
                <a:latin typeface="Times New Roman"/>
                <a:cs typeface="Times New Roman"/>
              </a:rPr>
              <a:t>=</a:t>
            </a:r>
            <a:r>
              <a:rPr sz="700" spc="95" dirty="0">
                <a:latin typeface="Times New Roman"/>
                <a:cs typeface="Times New Roman"/>
              </a:rPr>
              <a:t> </a:t>
            </a:r>
            <a:r>
              <a:rPr sz="700" spc="85" dirty="0">
                <a:latin typeface="Times New Roman"/>
                <a:cs typeface="Times New Roman"/>
              </a:rPr>
              <a:t>self.clock</a:t>
            </a:r>
            <a:r>
              <a:rPr sz="700" spc="95" dirty="0">
                <a:latin typeface="Times New Roman"/>
                <a:cs typeface="Times New Roman"/>
              </a:rPr>
              <a:t> </a:t>
            </a:r>
            <a:r>
              <a:rPr sz="700" dirty="0">
                <a:latin typeface="Times New Roman"/>
                <a:cs typeface="Times New Roman"/>
              </a:rPr>
              <a:t>+</a:t>
            </a:r>
            <a:r>
              <a:rPr sz="700" spc="114" dirty="0">
                <a:latin typeface="Times New Roman"/>
                <a:cs typeface="Times New Roman"/>
              </a:rPr>
              <a:t> </a:t>
            </a:r>
            <a:r>
              <a:rPr sz="700" spc="15" dirty="0">
                <a:latin typeface="Times New Roman"/>
                <a:cs typeface="Times New Roman"/>
              </a:rPr>
              <a:t>1</a:t>
            </a:r>
            <a:endParaRPr sz="700">
              <a:latin typeface="Times New Roman"/>
              <a:cs typeface="Times New Roman"/>
            </a:endParaRPr>
          </a:p>
        </p:txBody>
      </p:sp>
      <p:sp>
        <p:nvSpPr>
          <p:cNvPr id="21" name="object 21"/>
          <p:cNvSpPr txBox="1"/>
          <p:nvPr/>
        </p:nvSpPr>
        <p:spPr>
          <a:xfrm>
            <a:off x="2936646" y="2263345"/>
            <a:ext cx="1056005" cy="222885"/>
          </a:xfrm>
          <a:prstGeom prst="rect">
            <a:avLst/>
          </a:prstGeom>
        </p:spPr>
        <p:txBody>
          <a:bodyPr vert="horz" wrap="square" lIns="0" tIns="27940" rIns="0" bIns="0" rtlCol="0">
            <a:spAutoFit/>
          </a:bodyPr>
          <a:lstStyle/>
          <a:p>
            <a:pPr marL="12700" marR="5080">
              <a:lnSpc>
                <a:spcPts val="720"/>
              </a:lnSpc>
              <a:spcBef>
                <a:spcPts val="220"/>
              </a:spcBef>
            </a:pPr>
            <a:r>
              <a:rPr sz="700" i="1" spc="65" dirty="0">
                <a:solidFill>
                  <a:srgbClr val="009600"/>
                </a:solidFill>
                <a:latin typeface="Times New Roman"/>
                <a:cs typeface="Times New Roman"/>
              </a:rPr>
              <a:t>#</a:t>
            </a:r>
            <a:r>
              <a:rPr sz="700" i="1" spc="140" dirty="0">
                <a:solidFill>
                  <a:srgbClr val="009600"/>
                </a:solidFill>
                <a:latin typeface="Times New Roman"/>
                <a:cs typeface="Times New Roman"/>
              </a:rPr>
              <a:t> </a:t>
            </a:r>
            <a:r>
              <a:rPr sz="700" i="1" dirty="0">
                <a:solidFill>
                  <a:srgbClr val="009600"/>
                </a:solidFill>
                <a:latin typeface="Times New Roman"/>
                <a:cs typeface="Times New Roman"/>
              </a:rPr>
              <a:t>and</a:t>
            </a:r>
            <a:r>
              <a:rPr sz="700" i="1" spc="114" dirty="0">
                <a:solidFill>
                  <a:srgbClr val="009600"/>
                </a:solidFill>
                <a:latin typeface="Times New Roman"/>
                <a:cs typeface="Times New Roman"/>
              </a:rPr>
              <a:t> </a:t>
            </a:r>
            <a:r>
              <a:rPr sz="700" i="1" dirty="0">
                <a:solidFill>
                  <a:srgbClr val="009600"/>
                </a:solidFill>
                <a:latin typeface="Times New Roman"/>
                <a:cs typeface="Times New Roman"/>
              </a:rPr>
              <a:t>copy</a:t>
            </a:r>
            <a:r>
              <a:rPr sz="700" i="1" spc="125" dirty="0">
                <a:solidFill>
                  <a:srgbClr val="009600"/>
                </a:solidFill>
                <a:latin typeface="Times New Roman"/>
                <a:cs typeface="Times New Roman"/>
              </a:rPr>
              <a:t> </a:t>
            </a:r>
            <a:r>
              <a:rPr sz="700" i="1" spc="120" dirty="0">
                <a:solidFill>
                  <a:srgbClr val="009600"/>
                </a:solidFill>
                <a:latin typeface="Times New Roman"/>
                <a:cs typeface="Times New Roman"/>
              </a:rPr>
              <a:t>to</a:t>
            </a:r>
            <a:r>
              <a:rPr sz="700" i="1" spc="125" dirty="0">
                <a:solidFill>
                  <a:srgbClr val="009600"/>
                </a:solidFill>
                <a:latin typeface="Times New Roman"/>
                <a:cs typeface="Times New Roman"/>
              </a:rPr>
              <a:t> </a:t>
            </a:r>
            <a:r>
              <a:rPr sz="700" i="1" dirty="0">
                <a:solidFill>
                  <a:srgbClr val="009600"/>
                </a:solidFill>
                <a:latin typeface="Times New Roman"/>
                <a:cs typeface="Times New Roman"/>
              </a:rPr>
              <a:t>new</a:t>
            </a:r>
            <a:r>
              <a:rPr sz="700" i="1" spc="110" dirty="0">
                <a:solidFill>
                  <a:srgbClr val="009600"/>
                </a:solidFill>
                <a:latin typeface="Times New Roman"/>
                <a:cs typeface="Times New Roman"/>
              </a:rPr>
              <a:t> </a:t>
            </a:r>
            <a:r>
              <a:rPr sz="700" i="1" spc="-20" dirty="0">
                <a:solidFill>
                  <a:srgbClr val="009600"/>
                </a:solidFill>
                <a:latin typeface="Times New Roman"/>
                <a:cs typeface="Times New Roman"/>
              </a:rPr>
              <a:t>queue</a:t>
            </a:r>
            <a:r>
              <a:rPr sz="700" i="1" spc="65" dirty="0">
                <a:solidFill>
                  <a:srgbClr val="009600"/>
                </a:solidFill>
                <a:latin typeface="Times New Roman"/>
                <a:cs typeface="Times New Roman"/>
              </a:rPr>
              <a:t> #</a:t>
            </a:r>
            <a:r>
              <a:rPr sz="700" i="1" spc="220" dirty="0">
                <a:solidFill>
                  <a:srgbClr val="009600"/>
                </a:solidFill>
                <a:latin typeface="Times New Roman"/>
                <a:cs typeface="Times New Roman"/>
              </a:rPr>
              <a:t> </a:t>
            </a:r>
            <a:r>
              <a:rPr sz="700" i="1" dirty="0">
                <a:solidFill>
                  <a:srgbClr val="009600"/>
                </a:solidFill>
                <a:latin typeface="Times New Roman"/>
                <a:cs typeface="Times New Roman"/>
              </a:rPr>
              <a:t>Increment</a:t>
            </a:r>
            <a:r>
              <a:rPr sz="700" i="1" spc="180" dirty="0">
                <a:solidFill>
                  <a:srgbClr val="009600"/>
                </a:solidFill>
                <a:latin typeface="Times New Roman"/>
                <a:cs typeface="Times New Roman"/>
              </a:rPr>
              <a:t> </a:t>
            </a:r>
            <a:r>
              <a:rPr sz="700" i="1" spc="70" dirty="0">
                <a:solidFill>
                  <a:srgbClr val="009600"/>
                </a:solidFill>
                <a:latin typeface="Times New Roman"/>
                <a:cs typeface="Times New Roman"/>
              </a:rPr>
              <a:t>clock</a:t>
            </a:r>
            <a:r>
              <a:rPr sz="700" i="1" spc="185" dirty="0">
                <a:solidFill>
                  <a:srgbClr val="009600"/>
                </a:solidFill>
                <a:latin typeface="Times New Roman"/>
                <a:cs typeface="Times New Roman"/>
              </a:rPr>
              <a:t> </a:t>
            </a:r>
            <a:r>
              <a:rPr sz="700" i="1" spc="55" dirty="0">
                <a:solidFill>
                  <a:srgbClr val="009600"/>
                </a:solidFill>
                <a:latin typeface="Times New Roman"/>
                <a:cs typeface="Times New Roman"/>
              </a:rPr>
              <a:t>value</a:t>
            </a:r>
            <a:endParaRPr sz="700">
              <a:latin typeface="Times New Roman"/>
              <a:cs typeface="Times New Roman"/>
            </a:endParaRPr>
          </a:p>
        </p:txBody>
      </p:sp>
      <p:sp>
        <p:nvSpPr>
          <p:cNvPr id="22" name="object 22"/>
          <p:cNvSpPr txBox="1"/>
          <p:nvPr/>
        </p:nvSpPr>
        <p:spPr>
          <a:xfrm>
            <a:off x="631228" y="2445540"/>
            <a:ext cx="3538854" cy="132080"/>
          </a:xfrm>
          <a:prstGeom prst="rect">
            <a:avLst/>
          </a:prstGeom>
        </p:spPr>
        <p:txBody>
          <a:bodyPr vert="horz" wrap="square" lIns="0" tIns="12065" rIns="0" bIns="0" rtlCol="0">
            <a:spAutoFit/>
          </a:bodyPr>
          <a:lstStyle/>
          <a:p>
            <a:pPr marL="12700">
              <a:lnSpc>
                <a:spcPct val="100000"/>
              </a:lnSpc>
              <a:spcBef>
                <a:spcPts val="95"/>
              </a:spcBef>
            </a:pPr>
            <a:r>
              <a:rPr sz="700" spc="60" dirty="0">
                <a:latin typeface="Times New Roman"/>
                <a:cs typeface="Times New Roman"/>
              </a:rPr>
              <a:t>self.chan.sendTo(self.otherProcs,</a:t>
            </a:r>
            <a:r>
              <a:rPr sz="700" spc="135" dirty="0">
                <a:latin typeface="Times New Roman"/>
                <a:cs typeface="Times New Roman"/>
              </a:rPr>
              <a:t> </a:t>
            </a:r>
            <a:r>
              <a:rPr sz="700" spc="90" dirty="0">
                <a:latin typeface="Times New Roman"/>
                <a:cs typeface="Times New Roman"/>
              </a:rPr>
              <a:t>(self.clock,</a:t>
            </a:r>
            <a:r>
              <a:rPr sz="700" spc="114" dirty="0">
                <a:latin typeface="Times New Roman"/>
                <a:cs typeface="Times New Roman"/>
              </a:rPr>
              <a:t> </a:t>
            </a:r>
            <a:r>
              <a:rPr sz="700" spc="70" dirty="0">
                <a:latin typeface="Times New Roman"/>
                <a:cs typeface="Times New Roman"/>
              </a:rPr>
              <a:t>self.procID,</a:t>
            </a:r>
            <a:r>
              <a:rPr sz="700" spc="110" dirty="0">
                <a:latin typeface="Times New Roman"/>
                <a:cs typeface="Times New Roman"/>
              </a:rPr>
              <a:t> </a:t>
            </a:r>
            <a:r>
              <a:rPr sz="700" spc="-35" dirty="0">
                <a:latin typeface="Times New Roman"/>
                <a:cs typeface="Times New Roman"/>
              </a:rPr>
              <a:t>RELEASE))</a:t>
            </a:r>
            <a:r>
              <a:rPr sz="700" spc="125" dirty="0">
                <a:latin typeface="Times New Roman"/>
                <a:cs typeface="Times New Roman"/>
              </a:rPr>
              <a:t> </a:t>
            </a:r>
            <a:r>
              <a:rPr sz="700" i="1" spc="65" dirty="0">
                <a:solidFill>
                  <a:srgbClr val="009600"/>
                </a:solidFill>
                <a:latin typeface="Times New Roman"/>
                <a:cs typeface="Times New Roman"/>
              </a:rPr>
              <a:t>#</a:t>
            </a:r>
            <a:r>
              <a:rPr sz="700" i="1" spc="110" dirty="0">
                <a:solidFill>
                  <a:srgbClr val="009600"/>
                </a:solidFill>
                <a:latin typeface="Times New Roman"/>
                <a:cs typeface="Times New Roman"/>
              </a:rPr>
              <a:t> </a:t>
            </a:r>
            <a:r>
              <a:rPr sz="700" i="1" spc="35" dirty="0">
                <a:solidFill>
                  <a:srgbClr val="009600"/>
                </a:solidFill>
                <a:latin typeface="Times New Roman"/>
                <a:cs typeface="Times New Roman"/>
              </a:rPr>
              <a:t>Release</a:t>
            </a:r>
            <a:endParaRPr sz="700">
              <a:latin typeface="Times New Roman"/>
              <a:cs typeface="Times New Roman"/>
            </a:endParaRPr>
          </a:p>
        </p:txBody>
      </p:sp>
      <p:sp>
        <p:nvSpPr>
          <p:cNvPr id="23" name="object 23"/>
          <p:cNvSpPr txBox="1"/>
          <p:nvPr/>
        </p:nvSpPr>
        <p:spPr>
          <a:xfrm>
            <a:off x="543102" y="2627734"/>
            <a:ext cx="3802379" cy="314325"/>
          </a:xfrm>
          <a:prstGeom prst="rect">
            <a:avLst/>
          </a:prstGeom>
        </p:spPr>
        <p:txBody>
          <a:bodyPr vert="horz" wrap="square" lIns="0" tIns="12065" rIns="0" bIns="0" rtlCol="0">
            <a:spAutoFit/>
          </a:bodyPr>
          <a:lstStyle/>
          <a:p>
            <a:pPr marL="12700">
              <a:lnSpc>
                <a:spcPts val="780"/>
              </a:lnSpc>
              <a:spcBef>
                <a:spcPts val="95"/>
              </a:spcBef>
            </a:pPr>
            <a:r>
              <a:rPr sz="700" b="1" spc="65" dirty="0">
                <a:solidFill>
                  <a:srgbClr val="FF0059"/>
                </a:solidFill>
                <a:latin typeface="Times New Roman"/>
                <a:cs typeface="Times New Roman"/>
              </a:rPr>
              <a:t>def </a:t>
            </a:r>
            <a:r>
              <a:rPr sz="700" spc="45" dirty="0">
                <a:latin typeface="Times New Roman"/>
                <a:cs typeface="Times New Roman"/>
              </a:rPr>
              <a:t>allowedToEnter(self):</a:t>
            </a:r>
            <a:endParaRPr sz="700">
              <a:latin typeface="Times New Roman"/>
              <a:cs typeface="Times New Roman"/>
            </a:endParaRPr>
          </a:p>
          <a:p>
            <a:pPr marL="99695">
              <a:lnSpc>
                <a:spcPts val="715"/>
              </a:lnSpc>
            </a:pPr>
            <a:r>
              <a:rPr sz="700" dirty="0">
                <a:latin typeface="Times New Roman"/>
                <a:cs typeface="Times New Roman"/>
              </a:rPr>
              <a:t>commProcs</a:t>
            </a:r>
            <a:r>
              <a:rPr sz="700" spc="70" dirty="0">
                <a:latin typeface="Times New Roman"/>
                <a:cs typeface="Times New Roman"/>
              </a:rPr>
              <a:t> </a:t>
            </a:r>
            <a:r>
              <a:rPr sz="700" dirty="0">
                <a:latin typeface="Times New Roman"/>
                <a:cs typeface="Times New Roman"/>
              </a:rPr>
              <a:t>=</a:t>
            </a:r>
            <a:r>
              <a:rPr sz="700" spc="85" dirty="0">
                <a:latin typeface="Times New Roman"/>
                <a:cs typeface="Times New Roman"/>
              </a:rPr>
              <a:t> </a:t>
            </a:r>
            <a:r>
              <a:rPr sz="700" b="1" spc="80" dirty="0">
                <a:solidFill>
                  <a:srgbClr val="FF0059"/>
                </a:solidFill>
                <a:latin typeface="Times New Roman"/>
                <a:cs typeface="Times New Roman"/>
              </a:rPr>
              <a:t>set</a:t>
            </a:r>
            <a:r>
              <a:rPr sz="700" spc="80" dirty="0">
                <a:latin typeface="Times New Roman"/>
                <a:cs typeface="Times New Roman"/>
              </a:rPr>
              <a:t>([req[1]</a:t>
            </a:r>
            <a:r>
              <a:rPr sz="700" spc="65" dirty="0">
                <a:latin typeface="Times New Roman"/>
                <a:cs typeface="Times New Roman"/>
              </a:rPr>
              <a:t> </a:t>
            </a:r>
            <a:r>
              <a:rPr sz="700" b="1" spc="80" dirty="0">
                <a:solidFill>
                  <a:srgbClr val="FF0059"/>
                </a:solidFill>
                <a:latin typeface="Times New Roman"/>
                <a:cs typeface="Times New Roman"/>
              </a:rPr>
              <a:t>for</a:t>
            </a:r>
            <a:r>
              <a:rPr sz="700" b="1" spc="65" dirty="0">
                <a:solidFill>
                  <a:srgbClr val="FF0059"/>
                </a:solidFill>
                <a:latin typeface="Times New Roman"/>
                <a:cs typeface="Times New Roman"/>
              </a:rPr>
              <a:t> </a:t>
            </a:r>
            <a:r>
              <a:rPr sz="700" spc="80" dirty="0">
                <a:latin typeface="Times New Roman"/>
                <a:cs typeface="Times New Roman"/>
              </a:rPr>
              <a:t>req</a:t>
            </a:r>
            <a:r>
              <a:rPr sz="700" spc="70" dirty="0">
                <a:latin typeface="Times New Roman"/>
                <a:cs typeface="Times New Roman"/>
              </a:rPr>
              <a:t> </a:t>
            </a:r>
            <a:r>
              <a:rPr sz="700" b="1" spc="100" dirty="0">
                <a:solidFill>
                  <a:srgbClr val="FF0059"/>
                </a:solidFill>
                <a:latin typeface="Times New Roman"/>
                <a:cs typeface="Times New Roman"/>
              </a:rPr>
              <a:t>in</a:t>
            </a:r>
            <a:r>
              <a:rPr sz="700" b="1" spc="70" dirty="0">
                <a:solidFill>
                  <a:srgbClr val="FF0059"/>
                </a:solidFill>
                <a:latin typeface="Times New Roman"/>
                <a:cs typeface="Times New Roman"/>
              </a:rPr>
              <a:t> </a:t>
            </a:r>
            <a:r>
              <a:rPr sz="700" spc="80" dirty="0">
                <a:latin typeface="Times New Roman"/>
                <a:cs typeface="Times New Roman"/>
              </a:rPr>
              <a:t>self.queue[1:]])</a:t>
            </a:r>
            <a:r>
              <a:rPr sz="700" spc="70" dirty="0">
                <a:latin typeface="Times New Roman"/>
                <a:cs typeface="Times New Roman"/>
              </a:rPr>
              <a:t> </a:t>
            </a:r>
            <a:r>
              <a:rPr sz="700" i="1" spc="65" dirty="0">
                <a:solidFill>
                  <a:srgbClr val="009600"/>
                </a:solidFill>
                <a:latin typeface="Times New Roman"/>
                <a:cs typeface="Times New Roman"/>
              </a:rPr>
              <a:t>#</a:t>
            </a:r>
            <a:r>
              <a:rPr sz="700" i="1" spc="85" dirty="0">
                <a:solidFill>
                  <a:srgbClr val="009600"/>
                </a:solidFill>
                <a:latin typeface="Times New Roman"/>
                <a:cs typeface="Times New Roman"/>
              </a:rPr>
              <a:t> </a:t>
            </a:r>
            <a:r>
              <a:rPr sz="700" i="1" spc="55" dirty="0">
                <a:solidFill>
                  <a:srgbClr val="009600"/>
                </a:solidFill>
                <a:latin typeface="Times New Roman"/>
                <a:cs typeface="Times New Roman"/>
              </a:rPr>
              <a:t>See</a:t>
            </a:r>
            <a:r>
              <a:rPr sz="700" i="1" spc="65" dirty="0">
                <a:solidFill>
                  <a:srgbClr val="009600"/>
                </a:solidFill>
                <a:latin typeface="Times New Roman"/>
                <a:cs typeface="Times New Roman"/>
              </a:rPr>
              <a:t> </a:t>
            </a:r>
            <a:r>
              <a:rPr sz="700" i="1" dirty="0">
                <a:solidFill>
                  <a:srgbClr val="009600"/>
                </a:solidFill>
                <a:latin typeface="Times New Roman"/>
                <a:cs typeface="Times New Roman"/>
              </a:rPr>
              <a:t>who</a:t>
            </a:r>
            <a:r>
              <a:rPr sz="700" i="1" spc="65" dirty="0">
                <a:solidFill>
                  <a:srgbClr val="009600"/>
                </a:solidFill>
                <a:latin typeface="Times New Roman"/>
                <a:cs typeface="Times New Roman"/>
              </a:rPr>
              <a:t> </a:t>
            </a:r>
            <a:r>
              <a:rPr sz="700" i="1" spc="55" dirty="0">
                <a:solidFill>
                  <a:srgbClr val="009600"/>
                </a:solidFill>
                <a:latin typeface="Times New Roman"/>
                <a:cs typeface="Times New Roman"/>
              </a:rPr>
              <a:t>has</a:t>
            </a:r>
            <a:r>
              <a:rPr sz="700" i="1" spc="65" dirty="0">
                <a:solidFill>
                  <a:srgbClr val="009600"/>
                </a:solidFill>
                <a:latin typeface="Times New Roman"/>
                <a:cs typeface="Times New Roman"/>
              </a:rPr>
              <a:t> </a:t>
            </a:r>
            <a:r>
              <a:rPr sz="700" i="1" spc="90" dirty="0">
                <a:solidFill>
                  <a:srgbClr val="009600"/>
                </a:solidFill>
                <a:latin typeface="Times New Roman"/>
                <a:cs typeface="Times New Roman"/>
              </a:rPr>
              <a:t>sent</a:t>
            </a:r>
            <a:r>
              <a:rPr sz="700" i="1" spc="75" dirty="0">
                <a:solidFill>
                  <a:srgbClr val="009600"/>
                </a:solidFill>
                <a:latin typeface="Times New Roman"/>
                <a:cs typeface="Times New Roman"/>
              </a:rPr>
              <a:t> </a:t>
            </a:r>
            <a:r>
              <a:rPr sz="700" i="1" spc="65" dirty="0">
                <a:solidFill>
                  <a:srgbClr val="009600"/>
                </a:solidFill>
                <a:latin typeface="Times New Roman"/>
                <a:cs typeface="Times New Roman"/>
              </a:rPr>
              <a:t>a</a:t>
            </a:r>
            <a:r>
              <a:rPr sz="700" i="1" spc="75" dirty="0">
                <a:solidFill>
                  <a:srgbClr val="009600"/>
                </a:solidFill>
                <a:latin typeface="Times New Roman"/>
                <a:cs typeface="Times New Roman"/>
              </a:rPr>
              <a:t> </a:t>
            </a:r>
            <a:r>
              <a:rPr sz="700" i="1" spc="-10" dirty="0">
                <a:solidFill>
                  <a:srgbClr val="009600"/>
                </a:solidFill>
                <a:latin typeface="Times New Roman"/>
                <a:cs typeface="Times New Roman"/>
              </a:rPr>
              <a:t>message</a:t>
            </a:r>
            <a:endParaRPr sz="700">
              <a:latin typeface="Times New Roman"/>
              <a:cs typeface="Times New Roman"/>
            </a:endParaRPr>
          </a:p>
          <a:p>
            <a:pPr marL="99695">
              <a:lnSpc>
                <a:spcPts val="780"/>
              </a:lnSpc>
            </a:pPr>
            <a:r>
              <a:rPr sz="700" b="1" dirty="0">
                <a:solidFill>
                  <a:srgbClr val="FF0059"/>
                </a:solidFill>
                <a:latin typeface="Times New Roman"/>
                <a:cs typeface="Times New Roman"/>
              </a:rPr>
              <a:t>return</a:t>
            </a:r>
            <a:r>
              <a:rPr sz="700" b="1" spc="125" dirty="0">
                <a:solidFill>
                  <a:srgbClr val="FF0059"/>
                </a:solidFill>
                <a:latin typeface="Times New Roman"/>
                <a:cs typeface="Times New Roman"/>
              </a:rPr>
              <a:t> </a:t>
            </a:r>
            <a:r>
              <a:rPr sz="700" spc="70" dirty="0">
                <a:latin typeface="Times New Roman"/>
                <a:cs typeface="Times New Roman"/>
              </a:rPr>
              <a:t>(self.queue[0][1]</a:t>
            </a:r>
            <a:r>
              <a:rPr sz="700" spc="120" dirty="0">
                <a:latin typeface="Times New Roman"/>
                <a:cs typeface="Times New Roman"/>
              </a:rPr>
              <a:t> </a:t>
            </a:r>
            <a:r>
              <a:rPr sz="700" dirty="0">
                <a:latin typeface="Times New Roman"/>
                <a:cs typeface="Times New Roman"/>
              </a:rPr>
              <a:t>==</a:t>
            </a:r>
            <a:r>
              <a:rPr sz="700" spc="120" dirty="0">
                <a:latin typeface="Times New Roman"/>
                <a:cs typeface="Times New Roman"/>
              </a:rPr>
              <a:t> </a:t>
            </a:r>
            <a:r>
              <a:rPr sz="700" spc="65" dirty="0">
                <a:latin typeface="Times New Roman"/>
                <a:cs typeface="Times New Roman"/>
              </a:rPr>
              <a:t>self.procID</a:t>
            </a:r>
            <a:r>
              <a:rPr sz="700" spc="114" dirty="0">
                <a:latin typeface="Times New Roman"/>
                <a:cs typeface="Times New Roman"/>
              </a:rPr>
              <a:t> </a:t>
            </a:r>
            <a:r>
              <a:rPr sz="700" b="1" dirty="0">
                <a:solidFill>
                  <a:srgbClr val="FF0059"/>
                </a:solidFill>
                <a:latin typeface="Times New Roman"/>
                <a:cs typeface="Times New Roman"/>
              </a:rPr>
              <a:t>and</a:t>
            </a:r>
            <a:r>
              <a:rPr sz="700" b="1" spc="114" dirty="0">
                <a:solidFill>
                  <a:srgbClr val="FF0059"/>
                </a:solidFill>
                <a:latin typeface="Times New Roman"/>
                <a:cs typeface="Times New Roman"/>
              </a:rPr>
              <a:t> </a:t>
            </a:r>
            <a:r>
              <a:rPr sz="700" b="1" spc="70" dirty="0">
                <a:solidFill>
                  <a:srgbClr val="FF0059"/>
                </a:solidFill>
                <a:latin typeface="Times New Roman"/>
                <a:cs typeface="Times New Roman"/>
              </a:rPr>
              <a:t>len</a:t>
            </a:r>
            <a:r>
              <a:rPr sz="700" spc="70" dirty="0">
                <a:latin typeface="Times New Roman"/>
                <a:cs typeface="Times New Roman"/>
              </a:rPr>
              <a:t>(self.otherProcs)</a:t>
            </a:r>
            <a:r>
              <a:rPr sz="700" spc="150" dirty="0">
                <a:latin typeface="Times New Roman"/>
                <a:cs typeface="Times New Roman"/>
              </a:rPr>
              <a:t> </a:t>
            </a:r>
            <a:r>
              <a:rPr sz="700" dirty="0">
                <a:latin typeface="Times New Roman"/>
                <a:cs typeface="Times New Roman"/>
              </a:rPr>
              <a:t>==</a:t>
            </a:r>
            <a:r>
              <a:rPr sz="700" spc="120" dirty="0">
                <a:latin typeface="Times New Roman"/>
                <a:cs typeface="Times New Roman"/>
              </a:rPr>
              <a:t> </a:t>
            </a:r>
            <a:r>
              <a:rPr sz="700" b="1" spc="-10" dirty="0">
                <a:solidFill>
                  <a:srgbClr val="FF0059"/>
                </a:solidFill>
                <a:latin typeface="Times New Roman"/>
                <a:cs typeface="Times New Roman"/>
              </a:rPr>
              <a:t>len</a:t>
            </a:r>
            <a:r>
              <a:rPr sz="700" spc="-10" dirty="0">
                <a:latin typeface="Times New Roman"/>
                <a:cs typeface="Times New Roman"/>
              </a:rPr>
              <a:t>(commProcs))</a:t>
            </a:r>
            <a:endParaRPr sz="700">
              <a:latin typeface="Times New Roman"/>
              <a:cs typeface="Times New Roman"/>
            </a:endParaRPr>
          </a:p>
        </p:txBody>
      </p:sp>
      <p:grpSp>
        <p:nvGrpSpPr>
          <p:cNvPr id="24" name="object 24"/>
          <p:cNvGrpSpPr/>
          <p:nvPr/>
        </p:nvGrpSpPr>
        <p:grpSpPr>
          <a:xfrm>
            <a:off x="0" y="3348469"/>
            <a:ext cx="4608195" cy="107950"/>
            <a:chOff x="0" y="3348469"/>
            <a:chExt cx="4608195" cy="107950"/>
          </a:xfrm>
        </p:grpSpPr>
        <p:sp>
          <p:nvSpPr>
            <p:cNvPr id="25" name="object 25"/>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26" name="object 26"/>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27" name="object 27"/>
          <p:cNvSpPr txBox="1"/>
          <p:nvPr/>
        </p:nvSpPr>
        <p:spPr>
          <a:xfrm>
            <a:off x="53467" y="3349927"/>
            <a:ext cx="691515"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3" action="ppaction://hlinksldjump"/>
              </a:rPr>
              <a:t>Lamport’s</a:t>
            </a:r>
            <a:r>
              <a:rPr sz="500" spc="15" dirty="0">
                <a:latin typeface="Arial"/>
                <a:cs typeface="Arial"/>
                <a:hlinkClick r:id="rId3" action="ppaction://hlinksldjump"/>
              </a:rPr>
              <a:t> </a:t>
            </a:r>
            <a:r>
              <a:rPr sz="500" dirty="0">
                <a:latin typeface="Arial"/>
                <a:cs typeface="Arial"/>
                <a:hlinkClick r:id="rId3" action="ppaction://hlinksldjump"/>
              </a:rPr>
              <a:t>logical</a:t>
            </a:r>
            <a:r>
              <a:rPr sz="500" spc="15" dirty="0">
                <a:latin typeface="Arial"/>
                <a:cs typeface="Arial"/>
                <a:hlinkClick r:id="rId3" action="ppaction://hlinksldjump"/>
              </a:rPr>
              <a:t> </a:t>
            </a:r>
            <a:r>
              <a:rPr sz="500" spc="-10" dirty="0">
                <a:latin typeface="Arial"/>
                <a:cs typeface="Arial"/>
                <a:hlinkClick r:id="rId3" action="ppaction://hlinksldjump"/>
              </a:rPr>
              <a:t>clocks</a:t>
            </a:r>
            <a:endParaRPr sz="500">
              <a:latin typeface="Arial"/>
              <a:cs typeface="Arial"/>
            </a:endParaRPr>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8417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Coordination</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136644" y="-1515"/>
            <a:ext cx="41846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Logical</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clocks</a:t>
            </a:r>
            <a:endParaRPr sz="500">
              <a:latin typeface="Arial"/>
              <a:cs typeface="Arial"/>
            </a:endParaRPr>
          </a:p>
        </p:txBody>
      </p:sp>
      <p:sp>
        <p:nvSpPr>
          <p:cNvPr id="5" name="object 5"/>
          <p:cNvSpPr txBox="1"/>
          <p:nvPr/>
        </p:nvSpPr>
        <p:spPr>
          <a:xfrm>
            <a:off x="95300" y="197711"/>
            <a:ext cx="2533650" cy="20764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Lamport’s</a:t>
            </a:r>
            <a:r>
              <a:rPr sz="1200" spc="-65" dirty="0">
                <a:solidFill>
                  <a:srgbClr val="3333B2"/>
                </a:solidFill>
                <a:latin typeface="Arial"/>
                <a:cs typeface="Arial"/>
              </a:rPr>
              <a:t> </a:t>
            </a:r>
            <a:r>
              <a:rPr sz="1200" dirty="0">
                <a:solidFill>
                  <a:srgbClr val="3333B2"/>
                </a:solidFill>
                <a:latin typeface="Arial"/>
                <a:cs typeface="Arial"/>
              </a:rPr>
              <a:t>clocks</a:t>
            </a:r>
            <a:r>
              <a:rPr sz="1200" spc="-65" dirty="0">
                <a:solidFill>
                  <a:srgbClr val="3333B2"/>
                </a:solidFill>
                <a:latin typeface="Arial"/>
                <a:cs typeface="Arial"/>
              </a:rPr>
              <a:t> </a:t>
            </a:r>
            <a:r>
              <a:rPr sz="1200" dirty="0">
                <a:solidFill>
                  <a:srgbClr val="3333B2"/>
                </a:solidFill>
                <a:latin typeface="Arial"/>
                <a:cs typeface="Arial"/>
              </a:rPr>
              <a:t>for</a:t>
            </a:r>
            <a:r>
              <a:rPr sz="1200" spc="-60" dirty="0">
                <a:solidFill>
                  <a:srgbClr val="3333B2"/>
                </a:solidFill>
                <a:latin typeface="Arial"/>
                <a:cs typeface="Arial"/>
              </a:rPr>
              <a:t> </a:t>
            </a:r>
            <a:r>
              <a:rPr sz="1200" dirty="0">
                <a:solidFill>
                  <a:srgbClr val="3333B2"/>
                </a:solidFill>
                <a:latin typeface="Arial"/>
                <a:cs typeface="Arial"/>
              </a:rPr>
              <a:t>mutual</a:t>
            </a:r>
            <a:r>
              <a:rPr sz="1200" spc="-65" dirty="0">
                <a:solidFill>
                  <a:srgbClr val="3333B2"/>
                </a:solidFill>
                <a:latin typeface="Arial"/>
                <a:cs typeface="Arial"/>
              </a:rPr>
              <a:t> </a:t>
            </a:r>
            <a:r>
              <a:rPr sz="1200" spc="-10" dirty="0">
                <a:solidFill>
                  <a:srgbClr val="3333B2"/>
                </a:solidFill>
                <a:latin typeface="Arial"/>
                <a:cs typeface="Arial"/>
              </a:rPr>
              <a:t>exclusion</a:t>
            </a:r>
            <a:endParaRPr sz="1200">
              <a:latin typeface="Arial"/>
              <a:cs typeface="Arial"/>
            </a:endParaRPr>
          </a:p>
        </p:txBody>
      </p:sp>
      <p:sp>
        <p:nvSpPr>
          <p:cNvPr id="6" name="object 6"/>
          <p:cNvSpPr txBox="1"/>
          <p:nvPr/>
        </p:nvSpPr>
        <p:spPr>
          <a:xfrm>
            <a:off x="309346" y="451513"/>
            <a:ext cx="101600" cy="1118870"/>
          </a:xfrm>
          <a:prstGeom prst="rect">
            <a:avLst/>
          </a:prstGeom>
        </p:spPr>
        <p:txBody>
          <a:bodyPr vert="horz" wrap="square" lIns="0" tIns="27305" rIns="0" bIns="0" rtlCol="0">
            <a:spAutoFit/>
          </a:bodyPr>
          <a:lstStyle/>
          <a:p>
            <a:pPr marL="50165">
              <a:lnSpc>
                <a:spcPct val="100000"/>
              </a:lnSpc>
              <a:spcBef>
                <a:spcPts val="215"/>
              </a:spcBef>
            </a:pPr>
            <a:r>
              <a:rPr sz="500" spc="45" dirty="0">
                <a:latin typeface="Times New Roman"/>
                <a:cs typeface="Times New Roman"/>
              </a:rPr>
              <a:t>1</a:t>
            </a:r>
            <a:endParaRPr sz="500">
              <a:latin typeface="Times New Roman"/>
              <a:cs typeface="Times New Roman"/>
            </a:endParaRPr>
          </a:p>
          <a:p>
            <a:pPr marL="50165">
              <a:lnSpc>
                <a:spcPct val="100000"/>
              </a:lnSpc>
              <a:spcBef>
                <a:spcPts val="120"/>
              </a:spcBef>
            </a:pPr>
            <a:r>
              <a:rPr sz="500" spc="45" dirty="0">
                <a:latin typeface="Times New Roman"/>
                <a:cs typeface="Times New Roman"/>
              </a:rPr>
              <a:t>2</a:t>
            </a:r>
            <a:endParaRPr sz="500">
              <a:latin typeface="Times New Roman"/>
              <a:cs typeface="Times New Roman"/>
            </a:endParaRPr>
          </a:p>
          <a:p>
            <a:pPr marL="50165">
              <a:lnSpc>
                <a:spcPct val="100000"/>
              </a:lnSpc>
              <a:spcBef>
                <a:spcPts val="114"/>
              </a:spcBef>
            </a:pPr>
            <a:r>
              <a:rPr sz="500" spc="45" dirty="0">
                <a:latin typeface="Times New Roman"/>
                <a:cs typeface="Times New Roman"/>
              </a:rPr>
              <a:t>3</a:t>
            </a:r>
            <a:endParaRPr sz="500">
              <a:latin typeface="Times New Roman"/>
              <a:cs typeface="Times New Roman"/>
            </a:endParaRPr>
          </a:p>
          <a:p>
            <a:pPr marL="50165">
              <a:lnSpc>
                <a:spcPct val="100000"/>
              </a:lnSpc>
              <a:spcBef>
                <a:spcPts val="120"/>
              </a:spcBef>
            </a:pPr>
            <a:r>
              <a:rPr sz="500" spc="45" dirty="0">
                <a:latin typeface="Times New Roman"/>
                <a:cs typeface="Times New Roman"/>
              </a:rPr>
              <a:t>4</a:t>
            </a:r>
            <a:endParaRPr sz="500">
              <a:latin typeface="Times New Roman"/>
              <a:cs typeface="Times New Roman"/>
            </a:endParaRPr>
          </a:p>
          <a:p>
            <a:pPr marL="50165">
              <a:lnSpc>
                <a:spcPct val="100000"/>
              </a:lnSpc>
              <a:spcBef>
                <a:spcPts val="114"/>
              </a:spcBef>
            </a:pPr>
            <a:r>
              <a:rPr sz="500" spc="45" dirty="0">
                <a:latin typeface="Times New Roman"/>
                <a:cs typeface="Times New Roman"/>
              </a:rPr>
              <a:t>5</a:t>
            </a:r>
            <a:endParaRPr sz="500">
              <a:latin typeface="Times New Roman"/>
              <a:cs typeface="Times New Roman"/>
            </a:endParaRPr>
          </a:p>
          <a:p>
            <a:pPr marL="50165">
              <a:lnSpc>
                <a:spcPct val="100000"/>
              </a:lnSpc>
              <a:spcBef>
                <a:spcPts val="120"/>
              </a:spcBef>
            </a:pPr>
            <a:r>
              <a:rPr sz="500" spc="45" dirty="0">
                <a:latin typeface="Times New Roman"/>
                <a:cs typeface="Times New Roman"/>
              </a:rPr>
              <a:t>6</a:t>
            </a:r>
            <a:endParaRPr sz="500">
              <a:latin typeface="Times New Roman"/>
              <a:cs typeface="Times New Roman"/>
            </a:endParaRPr>
          </a:p>
          <a:p>
            <a:pPr marL="50165">
              <a:lnSpc>
                <a:spcPct val="100000"/>
              </a:lnSpc>
              <a:spcBef>
                <a:spcPts val="114"/>
              </a:spcBef>
            </a:pPr>
            <a:r>
              <a:rPr sz="500" spc="45" dirty="0">
                <a:latin typeface="Times New Roman"/>
                <a:cs typeface="Times New Roman"/>
              </a:rPr>
              <a:t>7</a:t>
            </a:r>
            <a:endParaRPr sz="500">
              <a:latin typeface="Times New Roman"/>
              <a:cs typeface="Times New Roman"/>
            </a:endParaRPr>
          </a:p>
          <a:p>
            <a:pPr marL="50165">
              <a:lnSpc>
                <a:spcPct val="100000"/>
              </a:lnSpc>
              <a:spcBef>
                <a:spcPts val="114"/>
              </a:spcBef>
            </a:pPr>
            <a:r>
              <a:rPr sz="500" spc="45" dirty="0">
                <a:latin typeface="Times New Roman"/>
                <a:cs typeface="Times New Roman"/>
              </a:rPr>
              <a:t>8</a:t>
            </a:r>
            <a:endParaRPr sz="500">
              <a:latin typeface="Times New Roman"/>
              <a:cs typeface="Times New Roman"/>
            </a:endParaRPr>
          </a:p>
          <a:p>
            <a:pPr marL="50165">
              <a:lnSpc>
                <a:spcPct val="100000"/>
              </a:lnSpc>
              <a:spcBef>
                <a:spcPts val="120"/>
              </a:spcBef>
            </a:pPr>
            <a:r>
              <a:rPr sz="500" spc="45" dirty="0">
                <a:latin typeface="Times New Roman"/>
                <a:cs typeface="Times New Roman"/>
              </a:rPr>
              <a:t>9</a:t>
            </a:r>
            <a:endParaRPr sz="500">
              <a:latin typeface="Times New Roman"/>
              <a:cs typeface="Times New Roman"/>
            </a:endParaRPr>
          </a:p>
          <a:p>
            <a:pPr marL="12700">
              <a:lnSpc>
                <a:spcPct val="100000"/>
              </a:lnSpc>
              <a:spcBef>
                <a:spcPts val="114"/>
              </a:spcBef>
            </a:pPr>
            <a:r>
              <a:rPr sz="500" spc="-25" dirty="0">
                <a:latin typeface="Times New Roman"/>
                <a:cs typeface="Times New Roman"/>
              </a:rPr>
              <a:t>10</a:t>
            </a:r>
            <a:endParaRPr sz="500">
              <a:latin typeface="Times New Roman"/>
              <a:cs typeface="Times New Roman"/>
            </a:endParaRPr>
          </a:p>
          <a:p>
            <a:pPr marL="12700">
              <a:lnSpc>
                <a:spcPct val="100000"/>
              </a:lnSpc>
              <a:spcBef>
                <a:spcPts val="120"/>
              </a:spcBef>
            </a:pPr>
            <a:r>
              <a:rPr sz="500" spc="-25" dirty="0">
                <a:latin typeface="Times New Roman"/>
                <a:cs typeface="Times New Roman"/>
              </a:rPr>
              <a:t>11</a:t>
            </a:r>
            <a:endParaRPr sz="500">
              <a:latin typeface="Times New Roman"/>
              <a:cs typeface="Times New Roman"/>
            </a:endParaRPr>
          </a:p>
          <a:p>
            <a:pPr marL="12700">
              <a:lnSpc>
                <a:spcPct val="100000"/>
              </a:lnSpc>
              <a:spcBef>
                <a:spcPts val="114"/>
              </a:spcBef>
            </a:pPr>
            <a:r>
              <a:rPr sz="500" spc="-25" dirty="0">
                <a:latin typeface="Times New Roman"/>
                <a:cs typeface="Times New Roman"/>
              </a:rPr>
              <a:t>12</a:t>
            </a:r>
            <a:endParaRPr sz="500">
              <a:latin typeface="Times New Roman"/>
              <a:cs typeface="Times New Roman"/>
            </a:endParaRPr>
          </a:p>
        </p:txBody>
      </p:sp>
      <p:sp>
        <p:nvSpPr>
          <p:cNvPr id="7" name="object 7"/>
          <p:cNvSpPr txBox="1"/>
          <p:nvPr/>
        </p:nvSpPr>
        <p:spPr>
          <a:xfrm>
            <a:off x="543102" y="441391"/>
            <a:ext cx="2076450" cy="1134110"/>
          </a:xfrm>
          <a:prstGeom prst="rect">
            <a:avLst/>
          </a:prstGeom>
        </p:spPr>
        <p:txBody>
          <a:bodyPr vert="horz" wrap="square" lIns="0" tIns="12065" rIns="0" bIns="0" rtlCol="0">
            <a:spAutoFit/>
          </a:bodyPr>
          <a:lstStyle/>
          <a:p>
            <a:pPr marL="12700">
              <a:lnSpc>
                <a:spcPts val="780"/>
              </a:lnSpc>
              <a:spcBef>
                <a:spcPts val="95"/>
              </a:spcBef>
            </a:pPr>
            <a:r>
              <a:rPr sz="700" b="1" spc="65" dirty="0">
                <a:solidFill>
                  <a:srgbClr val="FF0059"/>
                </a:solidFill>
                <a:latin typeface="Times New Roman"/>
                <a:cs typeface="Times New Roman"/>
              </a:rPr>
              <a:t>def</a:t>
            </a:r>
            <a:r>
              <a:rPr sz="700" b="1" spc="70" dirty="0">
                <a:solidFill>
                  <a:srgbClr val="FF0059"/>
                </a:solidFill>
                <a:latin typeface="Times New Roman"/>
                <a:cs typeface="Times New Roman"/>
              </a:rPr>
              <a:t> </a:t>
            </a:r>
            <a:r>
              <a:rPr sz="700" spc="75" dirty="0">
                <a:latin typeface="Times New Roman"/>
                <a:cs typeface="Times New Roman"/>
              </a:rPr>
              <a:t>receive(self):</a:t>
            </a:r>
            <a:endParaRPr sz="700">
              <a:latin typeface="Times New Roman"/>
              <a:cs typeface="Times New Roman"/>
            </a:endParaRPr>
          </a:p>
          <a:p>
            <a:pPr marL="100330" marR="5080">
              <a:lnSpc>
                <a:spcPts val="720"/>
              </a:lnSpc>
              <a:spcBef>
                <a:spcPts val="65"/>
              </a:spcBef>
            </a:pPr>
            <a:r>
              <a:rPr sz="700" dirty="0">
                <a:latin typeface="Times New Roman"/>
                <a:cs typeface="Times New Roman"/>
              </a:rPr>
              <a:t>msg</a:t>
            </a:r>
            <a:r>
              <a:rPr sz="700" spc="75" dirty="0">
                <a:latin typeface="Times New Roman"/>
                <a:cs typeface="Times New Roman"/>
              </a:rPr>
              <a:t> </a:t>
            </a:r>
            <a:r>
              <a:rPr sz="700" dirty="0">
                <a:latin typeface="Times New Roman"/>
                <a:cs typeface="Times New Roman"/>
              </a:rPr>
              <a:t>=</a:t>
            </a:r>
            <a:r>
              <a:rPr sz="700" spc="75" dirty="0">
                <a:latin typeface="Times New Roman"/>
                <a:cs typeface="Times New Roman"/>
              </a:rPr>
              <a:t> </a:t>
            </a:r>
            <a:r>
              <a:rPr sz="700" spc="50" dirty="0">
                <a:latin typeface="Times New Roman"/>
                <a:cs typeface="Times New Roman"/>
              </a:rPr>
              <a:t>self.chan.recvFrom(self.otherProcs)[1] </a:t>
            </a:r>
            <a:r>
              <a:rPr sz="700" spc="85" dirty="0">
                <a:latin typeface="Times New Roman"/>
                <a:cs typeface="Times New Roman"/>
              </a:rPr>
              <a:t>self.clock</a:t>
            </a:r>
            <a:r>
              <a:rPr sz="700" spc="100" dirty="0">
                <a:latin typeface="Times New Roman"/>
                <a:cs typeface="Times New Roman"/>
              </a:rPr>
              <a:t> </a:t>
            </a:r>
            <a:r>
              <a:rPr sz="700" dirty="0">
                <a:latin typeface="Times New Roman"/>
                <a:cs typeface="Times New Roman"/>
              </a:rPr>
              <a:t>=</a:t>
            </a:r>
            <a:r>
              <a:rPr sz="700" spc="105" dirty="0">
                <a:latin typeface="Times New Roman"/>
                <a:cs typeface="Times New Roman"/>
              </a:rPr>
              <a:t> </a:t>
            </a:r>
            <a:r>
              <a:rPr sz="700" b="1" spc="55" dirty="0">
                <a:solidFill>
                  <a:srgbClr val="FF0059"/>
                </a:solidFill>
                <a:latin typeface="Times New Roman"/>
                <a:cs typeface="Times New Roman"/>
              </a:rPr>
              <a:t>max</a:t>
            </a:r>
            <a:r>
              <a:rPr sz="700" spc="55" dirty="0">
                <a:latin typeface="Times New Roman"/>
                <a:cs typeface="Times New Roman"/>
              </a:rPr>
              <a:t>(self.clock,</a:t>
            </a:r>
            <a:r>
              <a:rPr sz="700" spc="105" dirty="0">
                <a:latin typeface="Times New Roman"/>
                <a:cs typeface="Times New Roman"/>
              </a:rPr>
              <a:t> </a:t>
            </a:r>
            <a:r>
              <a:rPr sz="700" spc="-10" dirty="0">
                <a:latin typeface="Times New Roman"/>
                <a:cs typeface="Times New Roman"/>
              </a:rPr>
              <a:t>msg[0])</a:t>
            </a:r>
            <a:r>
              <a:rPr sz="700" spc="85" dirty="0">
                <a:latin typeface="Times New Roman"/>
                <a:cs typeface="Times New Roman"/>
              </a:rPr>
              <a:t> self.clock</a:t>
            </a:r>
            <a:r>
              <a:rPr sz="700" spc="90" dirty="0">
                <a:latin typeface="Times New Roman"/>
                <a:cs typeface="Times New Roman"/>
              </a:rPr>
              <a:t> </a:t>
            </a:r>
            <a:r>
              <a:rPr sz="700" dirty="0">
                <a:latin typeface="Times New Roman"/>
                <a:cs typeface="Times New Roman"/>
              </a:rPr>
              <a:t>=</a:t>
            </a:r>
            <a:r>
              <a:rPr sz="700" spc="95" dirty="0">
                <a:latin typeface="Times New Roman"/>
                <a:cs typeface="Times New Roman"/>
              </a:rPr>
              <a:t> </a:t>
            </a:r>
            <a:r>
              <a:rPr sz="700" spc="85" dirty="0">
                <a:latin typeface="Times New Roman"/>
                <a:cs typeface="Times New Roman"/>
              </a:rPr>
              <a:t>self.clock</a:t>
            </a:r>
            <a:r>
              <a:rPr sz="700" spc="95" dirty="0">
                <a:latin typeface="Times New Roman"/>
                <a:cs typeface="Times New Roman"/>
              </a:rPr>
              <a:t> </a:t>
            </a:r>
            <a:r>
              <a:rPr sz="700" dirty="0">
                <a:latin typeface="Times New Roman"/>
                <a:cs typeface="Times New Roman"/>
              </a:rPr>
              <a:t>+</a:t>
            </a:r>
            <a:r>
              <a:rPr sz="700" spc="114" dirty="0">
                <a:latin typeface="Times New Roman"/>
                <a:cs typeface="Times New Roman"/>
              </a:rPr>
              <a:t> </a:t>
            </a:r>
            <a:r>
              <a:rPr sz="700" spc="15" dirty="0">
                <a:latin typeface="Times New Roman"/>
                <a:cs typeface="Times New Roman"/>
              </a:rPr>
              <a:t>1</a:t>
            </a:r>
            <a:endParaRPr sz="700">
              <a:latin typeface="Times New Roman"/>
              <a:cs typeface="Times New Roman"/>
            </a:endParaRPr>
          </a:p>
          <a:p>
            <a:pPr marL="101600">
              <a:lnSpc>
                <a:spcPts val="645"/>
              </a:lnSpc>
            </a:pPr>
            <a:r>
              <a:rPr sz="700" b="1" spc="175" dirty="0">
                <a:solidFill>
                  <a:srgbClr val="FF0059"/>
                </a:solidFill>
                <a:latin typeface="Times New Roman"/>
                <a:cs typeface="Times New Roman"/>
              </a:rPr>
              <a:t>if</a:t>
            </a:r>
            <a:r>
              <a:rPr sz="700" b="1" spc="135" dirty="0">
                <a:solidFill>
                  <a:srgbClr val="FF0059"/>
                </a:solidFill>
                <a:latin typeface="Times New Roman"/>
                <a:cs typeface="Times New Roman"/>
              </a:rPr>
              <a:t> </a:t>
            </a:r>
            <a:r>
              <a:rPr sz="700" dirty="0">
                <a:latin typeface="Times New Roman"/>
                <a:cs typeface="Times New Roman"/>
              </a:rPr>
              <a:t>msg[2]</a:t>
            </a:r>
            <a:r>
              <a:rPr sz="700" spc="135" dirty="0">
                <a:latin typeface="Times New Roman"/>
                <a:cs typeface="Times New Roman"/>
              </a:rPr>
              <a:t> </a:t>
            </a:r>
            <a:r>
              <a:rPr sz="700" dirty="0">
                <a:latin typeface="Times New Roman"/>
                <a:cs typeface="Times New Roman"/>
              </a:rPr>
              <a:t>==</a:t>
            </a:r>
            <a:r>
              <a:rPr sz="700" spc="125" dirty="0">
                <a:latin typeface="Times New Roman"/>
                <a:cs typeface="Times New Roman"/>
              </a:rPr>
              <a:t> </a:t>
            </a:r>
            <a:r>
              <a:rPr sz="700" spc="-10" dirty="0">
                <a:latin typeface="Times New Roman"/>
                <a:cs typeface="Times New Roman"/>
              </a:rPr>
              <a:t>ENTER:</a:t>
            </a:r>
            <a:endParaRPr sz="700">
              <a:latin typeface="Times New Roman"/>
              <a:cs typeface="Times New Roman"/>
            </a:endParaRPr>
          </a:p>
          <a:p>
            <a:pPr marL="189230" marR="846455">
              <a:lnSpc>
                <a:spcPts val="720"/>
              </a:lnSpc>
              <a:spcBef>
                <a:spcPts val="60"/>
              </a:spcBef>
            </a:pPr>
            <a:r>
              <a:rPr sz="700" spc="-10" dirty="0">
                <a:latin typeface="Times New Roman"/>
                <a:cs typeface="Times New Roman"/>
              </a:rPr>
              <a:t>self.queue.append(msg)</a:t>
            </a:r>
            <a:r>
              <a:rPr sz="700" spc="500" dirty="0">
                <a:latin typeface="Times New Roman"/>
                <a:cs typeface="Times New Roman"/>
              </a:rPr>
              <a:t> </a:t>
            </a:r>
            <a:r>
              <a:rPr sz="700" spc="-10" dirty="0">
                <a:latin typeface="Times New Roman"/>
                <a:cs typeface="Times New Roman"/>
              </a:rPr>
              <a:t>self.ackToEnter(msg[1])</a:t>
            </a:r>
            <a:endParaRPr sz="700">
              <a:latin typeface="Times New Roman"/>
              <a:cs typeface="Times New Roman"/>
            </a:endParaRPr>
          </a:p>
          <a:p>
            <a:pPr marL="100330">
              <a:lnSpc>
                <a:spcPts val="650"/>
              </a:lnSpc>
            </a:pPr>
            <a:r>
              <a:rPr sz="700" b="1" spc="135" dirty="0">
                <a:solidFill>
                  <a:srgbClr val="FF0059"/>
                </a:solidFill>
                <a:latin typeface="Times New Roman"/>
                <a:cs typeface="Times New Roman"/>
              </a:rPr>
              <a:t>elif</a:t>
            </a:r>
            <a:r>
              <a:rPr sz="700" b="1" spc="125" dirty="0">
                <a:solidFill>
                  <a:srgbClr val="FF0059"/>
                </a:solidFill>
                <a:latin typeface="Times New Roman"/>
                <a:cs typeface="Times New Roman"/>
              </a:rPr>
              <a:t> </a:t>
            </a:r>
            <a:r>
              <a:rPr sz="700" dirty="0">
                <a:latin typeface="Times New Roman"/>
                <a:cs typeface="Times New Roman"/>
              </a:rPr>
              <a:t>msg[2]</a:t>
            </a:r>
            <a:r>
              <a:rPr sz="700" spc="140" dirty="0">
                <a:latin typeface="Times New Roman"/>
                <a:cs typeface="Times New Roman"/>
              </a:rPr>
              <a:t> </a:t>
            </a:r>
            <a:r>
              <a:rPr sz="700" dirty="0">
                <a:latin typeface="Times New Roman"/>
                <a:cs typeface="Times New Roman"/>
              </a:rPr>
              <a:t>==</a:t>
            </a:r>
            <a:r>
              <a:rPr sz="700" spc="135" dirty="0">
                <a:latin typeface="Times New Roman"/>
                <a:cs typeface="Times New Roman"/>
              </a:rPr>
              <a:t> </a:t>
            </a:r>
            <a:r>
              <a:rPr sz="700" spc="-20" dirty="0">
                <a:latin typeface="Times New Roman"/>
                <a:cs typeface="Times New Roman"/>
              </a:rPr>
              <a:t>ACK:</a:t>
            </a:r>
            <a:endParaRPr sz="700">
              <a:latin typeface="Times New Roman"/>
              <a:cs typeface="Times New Roman"/>
            </a:endParaRPr>
          </a:p>
          <a:p>
            <a:pPr marL="189230">
              <a:lnSpc>
                <a:spcPts val="715"/>
              </a:lnSpc>
            </a:pPr>
            <a:r>
              <a:rPr sz="700" spc="-10" dirty="0">
                <a:latin typeface="Times New Roman"/>
                <a:cs typeface="Times New Roman"/>
              </a:rPr>
              <a:t>self.queue.append(msg)</a:t>
            </a:r>
            <a:endParaRPr sz="700">
              <a:latin typeface="Times New Roman"/>
              <a:cs typeface="Times New Roman"/>
            </a:endParaRPr>
          </a:p>
          <a:p>
            <a:pPr marL="100330">
              <a:lnSpc>
                <a:spcPts val="715"/>
              </a:lnSpc>
            </a:pPr>
            <a:r>
              <a:rPr sz="700" b="1" spc="135" dirty="0">
                <a:solidFill>
                  <a:srgbClr val="FF0059"/>
                </a:solidFill>
                <a:latin typeface="Times New Roman"/>
                <a:cs typeface="Times New Roman"/>
              </a:rPr>
              <a:t>elif</a:t>
            </a:r>
            <a:r>
              <a:rPr sz="700" b="1" spc="130" dirty="0">
                <a:solidFill>
                  <a:srgbClr val="FF0059"/>
                </a:solidFill>
                <a:latin typeface="Times New Roman"/>
                <a:cs typeface="Times New Roman"/>
              </a:rPr>
              <a:t> </a:t>
            </a:r>
            <a:r>
              <a:rPr sz="700" dirty="0">
                <a:latin typeface="Times New Roman"/>
                <a:cs typeface="Times New Roman"/>
              </a:rPr>
              <a:t>msg[2]</a:t>
            </a:r>
            <a:r>
              <a:rPr sz="700" spc="135" dirty="0">
                <a:latin typeface="Times New Roman"/>
                <a:cs typeface="Times New Roman"/>
              </a:rPr>
              <a:t> </a:t>
            </a:r>
            <a:r>
              <a:rPr sz="700" dirty="0">
                <a:latin typeface="Times New Roman"/>
                <a:cs typeface="Times New Roman"/>
              </a:rPr>
              <a:t>==</a:t>
            </a:r>
            <a:r>
              <a:rPr sz="700" spc="130" dirty="0">
                <a:latin typeface="Times New Roman"/>
                <a:cs typeface="Times New Roman"/>
              </a:rPr>
              <a:t> </a:t>
            </a:r>
            <a:r>
              <a:rPr sz="700" spc="-10" dirty="0">
                <a:latin typeface="Times New Roman"/>
                <a:cs typeface="Times New Roman"/>
              </a:rPr>
              <a:t>RELEASE:</a:t>
            </a:r>
            <a:endParaRPr sz="700">
              <a:latin typeface="Times New Roman"/>
              <a:cs typeface="Times New Roman"/>
            </a:endParaRPr>
          </a:p>
          <a:p>
            <a:pPr marL="100330" marR="1067435" indent="88900">
              <a:lnSpc>
                <a:spcPts val="720"/>
              </a:lnSpc>
              <a:spcBef>
                <a:spcPts val="65"/>
              </a:spcBef>
            </a:pPr>
            <a:r>
              <a:rPr sz="700" b="1" spc="60" dirty="0">
                <a:solidFill>
                  <a:srgbClr val="FF0059"/>
                </a:solidFill>
                <a:latin typeface="Times New Roman"/>
                <a:cs typeface="Times New Roman"/>
              </a:rPr>
              <a:t>del</a:t>
            </a:r>
            <a:r>
              <a:rPr sz="700" spc="60" dirty="0">
                <a:latin typeface="Times New Roman"/>
                <a:cs typeface="Times New Roman"/>
              </a:rPr>
              <a:t>(self.queue[0]) </a:t>
            </a:r>
            <a:r>
              <a:rPr sz="700" spc="50" dirty="0">
                <a:latin typeface="Times New Roman"/>
                <a:cs typeface="Times New Roman"/>
              </a:rPr>
              <a:t>self.cleanupQ()</a:t>
            </a:r>
            <a:endParaRPr sz="700">
              <a:latin typeface="Times New Roman"/>
              <a:cs typeface="Times New Roman"/>
            </a:endParaRPr>
          </a:p>
        </p:txBody>
      </p:sp>
      <p:sp>
        <p:nvSpPr>
          <p:cNvPr id="8" name="object 8"/>
          <p:cNvSpPr txBox="1"/>
          <p:nvPr/>
        </p:nvSpPr>
        <p:spPr>
          <a:xfrm>
            <a:off x="2936646" y="532488"/>
            <a:ext cx="1055370" cy="314325"/>
          </a:xfrm>
          <a:prstGeom prst="rect">
            <a:avLst/>
          </a:prstGeom>
        </p:spPr>
        <p:txBody>
          <a:bodyPr vert="horz" wrap="square" lIns="0" tIns="12065" rIns="0" bIns="0" rtlCol="0">
            <a:spAutoFit/>
          </a:bodyPr>
          <a:lstStyle/>
          <a:p>
            <a:pPr marL="12700">
              <a:lnSpc>
                <a:spcPts val="780"/>
              </a:lnSpc>
              <a:spcBef>
                <a:spcPts val="95"/>
              </a:spcBef>
            </a:pPr>
            <a:r>
              <a:rPr sz="700" i="1" spc="65" dirty="0">
                <a:solidFill>
                  <a:srgbClr val="009600"/>
                </a:solidFill>
                <a:latin typeface="Times New Roman"/>
                <a:cs typeface="Times New Roman"/>
              </a:rPr>
              <a:t>#</a:t>
            </a:r>
            <a:r>
              <a:rPr sz="700" i="1" spc="135" dirty="0">
                <a:solidFill>
                  <a:srgbClr val="009600"/>
                </a:solidFill>
                <a:latin typeface="Times New Roman"/>
                <a:cs typeface="Times New Roman"/>
              </a:rPr>
              <a:t> </a:t>
            </a:r>
            <a:r>
              <a:rPr sz="700" i="1" spc="60" dirty="0">
                <a:solidFill>
                  <a:srgbClr val="009600"/>
                </a:solidFill>
                <a:latin typeface="Times New Roman"/>
                <a:cs typeface="Times New Roman"/>
              </a:rPr>
              <a:t>Pick</a:t>
            </a:r>
            <a:r>
              <a:rPr sz="700" i="1" spc="120" dirty="0">
                <a:solidFill>
                  <a:srgbClr val="009600"/>
                </a:solidFill>
                <a:latin typeface="Times New Roman"/>
                <a:cs typeface="Times New Roman"/>
              </a:rPr>
              <a:t> </a:t>
            </a:r>
            <a:r>
              <a:rPr sz="700" i="1" dirty="0">
                <a:solidFill>
                  <a:srgbClr val="009600"/>
                </a:solidFill>
                <a:latin typeface="Times New Roman"/>
                <a:cs typeface="Times New Roman"/>
              </a:rPr>
              <a:t>up</a:t>
            </a:r>
            <a:r>
              <a:rPr sz="700" i="1" spc="125" dirty="0">
                <a:solidFill>
                  <a:srgbClr val="009600"/>
                </a:solidFill>
                <a:latin typeface="Times New Roman"/>
                <a:cs typeface="Times New Roman"/>
              </a:rPr>
              <a:t> </a:t>
            </a:r>
            <a:r>
              <a:rPr sz="700" i="1" dirty="0">
                <a:solidFill>
                  <a:srgbClr val="009600"/>
                </a:solidFill>
                <a:latin typeface="Times New Roman"/>
                <a:cs typeface="Times New Roman"/>
              </a:rPr>
              <a:t>any</a:t>
            </a:r>
            <a:r>
              <a:rPr sz="700" i="1" spc="114" dirty="0">
                <a:solidFill>
                  <a:srgbClr val="009600"/>
                </a:solidFill>
                <a:latin typeface="Times New Roman"/>
                <a:cs typeface="Times New Roman"/>
              </a:rPr>
              <a:t> </a:t>
            </a:r>
            <a:r>
              <a:rPr sz="700" i="1" spc="-10" dirty="0">
                <a:solidFill>
                  <a:srgbClr val="009600"/>
                </a:solidFill>
                <a:latin typeface="Times New Roman"/>
                <a:cs typeface="Times New Roman"/>
              </a:rPr>
              <a:t>message</a:t>
            </a:r>
            <a:endParaRPr sz="700">
              <a:latin typeface="Times New Roman"/>
              <a:cs typeface="Times New Roman"/>
            </a:endParaRPr>
          </a:p>
          <a:p>
            <a:pPr marL="12700" marR="5080">
              <a:lnSpc>
                <a:spcPts val="720"/>
              </a:lnSpc>
              <a:spcBef>
                <a:spcPts val="65"/>
              </a:spcBef>
            </a:pPr>
            <a:r>
              <a:rPr sz="700" i="1" spc="65" dirty="0">
                <a:solidFill>
                  <a:srgbClr val="009600"/>
                </a:solidFill>
                <a:latin typeface="Times New Roman"/>
                <a:cs typeface="Times New Roman"/>
              </a:rPr>
              <a:t>#</a:t>
            </a:r>
            <a:r>
              <a:rPr sz="700" i="1" spc="85" dirty="0">
                <a:solidFill>
                  <a:srgbClr val="009600"/>
                </a:solidFill>
                <a:latin typeface="Times New Roman"/>
                <a:cs typeface="Times New Roman"/>
              </a:rPr>
              <a:t> </a:t>
            </a:r>
            <a:r>
              <a:rPr sz="700" i="1" spc="65" dirty="0">
                <a:solidFill>
                  <a:srgbClr val="009600"/>
                </a:solidFill>
                <a:latin typeface="Times New Roman"/>
                <a:cs typeface="Times New Roman"/>
              </a:rPr>
              <a:t>Adjust</a:t>
            </a:r>
            <a:r>
              <a:rPr sz="700" i="1" spc="70" dirty="0">
                <a:solidFill>
                  <a:srgbClr val="009600"/>
                </a:solidFill>
                <a:latin typeface="Times New Roman"/>
                <a:cs typeface="Times New Roman"/>
              </a:rPr>
              <a:t> clock </a:t>
            </a:r>
            <a:r>
              <a:rPr sz="700" i="1" spc="90" dirty="0">
                <a:solidFill>
                  <a:srgbClr val="009600"/>
                </a:solidFill>
                <a:latin typeface="Times New Roman"/>
                <a:cs typeface="Times New Roman"/>
              </a:rPr>
              <a:t>value... </a:t>
            </a:r>
            <a:r>
              <a:rPr sz="700" i="1" spc="65" dirty="0">
                <a:solidFill>
                  <a:srgbClr val="009600"/>
                </a:solidFill>
                <a:latin typeface="Times New Roman"/>
                <a:cs typeface="Times New Roman"/>
              </a:rPr>
              <a:t>#</a:t>
            </a:r>
            <a:r>
              <a:rPr sz="700" i="1" spc="85" dirty="0">
                <a:solidFill>
                  <a:srgbClr val="009600"/>
                </a:solidFill>
                <a:latin typeface="Times New Roman"/>
                <a:cs typeface="Times New Roman"/>
              </a:rPr>
              <a:t> </a:t>
            </a:r>
            <a:r>
              <a:rPr sz="700" i="1" spc="100" dirty="0">
                <a:solidFill>
                  <a:srgbClr val="009600"/>
                </a:solidFill>
                <a:latin typeface="Times New Roman"/>
                <a:cs typeface="Times New Roman"/>
              </a:rPr>
              <a:t>...and</a:t>
            </a:r>
            <a:r>
              <a:rPr sz="700" i="1" spc="60" dirty="0">
                <a:solidFill>
                  <a:srgbClr val="009600"/>
                </a:solidFill>
                <a:latin typeface="Times New Roman"/>
                <a:cs typeface="Times New Roman"/>
              </a:rPr>
              <a:t> </a:t>
            </a:r>
            <a:r>
              <a:rPr sz="700" i="1" spc="35" dirty="0">
                <a:solidFill>
                  <a:srgbClr val="009600"/>
                </a:solidFill>
                <a:latin typeface="Times New Roman"/>
                <a:cs typeface="Times New Roman"/>
              </a:rPr>
              <a:t>increment</a:t>
            </a:r>
            <a:endParaRPr sz="700">
              <a:latin typeface="Times New Roman"/>
              <a:cs typeface="Times New Roman"/>
            </a:endParaRPr>
          </a:p>
        </p:txBody>
      </p:sp>
      <p:sp>
        <p:nvSpPr>
          <p:cNvPr id="9" name="object 9"/>
          <p:cNvSpPr txBox="1"/>
          <p:nvPr/>
        </p:nvSpPr>
        <p:spPr>
          <a:xfrm>
            <a:off x="2936646" y="896876"/>
            <a:ext cx="1233170" cy="222885"/>
          </a:xfrm>
          <a:prstGeom prst="rect">
            <a:avLst/>
          </a:prstGeom>
        </p:spPr>
        <p:txBody>
          <a:bodyPr vert="horz" wrap="square" lIns="0" tIns="12065" rIns="0" bIns="0" rtlCol="0">
            <a:spAutoFit/>
          </a:bodyPr>
          <a:lstStyle/>
          <a:p>
            <a:pPr marL="12700">
              <a:lnSpc>
                <a:spcPts val="780"/>
              </a:lnSpc>
              <a:spcBef>
                <a:spcPts val="95"/>
              </a:spcBef>
            </a:pPr>
            <a:r>
              <a:rPr sz="700" i="1" spc="65" dirty="0">
                <a:solidFill>
                  <a:srgbClr val="009600"/>
                </a:solidFill>
                <a:latin typeface="Times New Roman"/>
                <a:cs typeface="Times New Roman"/>
              </a:rPr>
              <a:t>#</a:t>
            </a:r>
            <a:r>
              <a:rPr sz="700" i="1" spc="110" dirty="0">
                <a:solidFill>
                  <a:srgbClr val="009600"/>
                </a:solidFill>
                <a:latin typeface="Times New Roman"/>
                <a:cs typeface="Times New Roman"/>
              </a:rPr>
              <a:t> </a:t>
            </a:r>
            <a:r>
              <a:rPr sz="700" i="1" dirty="0">
                <a:solidFill>
                  <a:srgbClr val="009600"/>
                </a:solidFill>
                <a:latin typeface="Times New Roman"/>
                <a:cs typeface="Times New Roman"/>
              </a:rPr>
              <a:t>Append</a:t>
            </a:r>
            <a:r>
              <a:rPr sz="700" i="1" spc="100" dirty="0">
                <a:solidFill>
                  <a:srgbClr val="009600"/>
                </a:solidFill>
                <a:latin typeface="Times New Roman"/>
                <a:cs typeface="Times New Roman"/>
              </a:rPr>
              <a:t> </a:t>
            </a:r>
            <a:r>
              <a:rPr sz="700" i="1" dirty="0">
                <a:solidFill>
                  <a:srgbClr val="009600"/>
                </a:solidFill>
                <a:latin typeface="Times New Roman"/>
                <a:cs typeface="Times New Roman"/>
              </a:rPr>
              <a:t>an</a:t>
            </a:r>
            <a:r>
              <a:rPr sz="700" i="1" spc="100" dirty="0">
                <a:solidFill>
                  <a:srgbClr val="009600"/>
                </a:solidFill>
                <a:latin typeface="Times New Roman"/>
                <a:cs typeface="Times New Roman"/>
              </a:rPr>
              <a:t> </a:t>
            </a:r>
            <a:r>
              <a:rPr sz="700" i="1" spc="-60" dirty="0">
                <a:solidFill>
                  <a:srgbClr val="009600"/>
                </a:solidFill>
                <a:latin typeface="Times New Roman"/>
                <a:cs typeface="Times New Roman"/>
              </a:rPr>
              <a:t>ENTER</a:t>
            </a:r>
            <a:r>
              <a:rPr sz="700" i="1" spc="90" dirty="0">
                <a:solidFill>
                  <a:srgbClr val="009600"/>
                </a:solidFill>
                <a:latin typeface="Times New Roman"/>
                <a:cs typeface="Times New Roman"/>
              </a:rPr>
              <a:t> </a:t>
            </a:r>
            <a:r>
              <a:rPr sz="700" i="1" spc="55" dirty="0">
                <a:solidFill>
                  <a:srgbClr val="009600"/>
                </a:solidFill>
                <a:latin typeface="Times New Roman"/>
                <a:cs typeface="Times New Roman"/>
              </a:rPr>
              <a:t>request</a:t>
            </a:r>
            <a:endParaRPr sz="700">
              <a:latin typeface="Times New Roman"/>
              <a:cs typeface="Times New Roman"/>
            </a:endParaRPr>
          </a:p>
          <a:p>
            <a:pPr marL="12700">
              <a:lnSpc>
                <a:spcPts val="780"/>
              </a:lnSpc>
            </a:pPr>
            <a:r>
              <a:rPr sz="700" i="1" spc="65" dirty="0">
                <a:solidFill>
                  <a:srgbClr val="009600"/>
                </a:solidFill>
                <a:latin typeface="Times New Roman"/>
                <a:cs typeface="Times New Roman"/>
              </a:rPr>
              <a:t>#</a:t>
            </a:r>
            <a:r>
              <a:rPr sz="700" i="1" spc="114" dirty="0">
                <a:solidFill>
                  <a:srgbClr val="009600"/>
                </a:solidFill>
                <a:latin typeface="Times New Roman"/>
                <a:cs typeface="Times New Roman"/>
              </a:rPr>
              <a:t> </a:t>
            </a:r>
            <a:r>
              <a:rPr sz="700" i="1" dirty="0">
                <a:solidFill>
                  <a:srgbClr val="009600"/>
                </a:solidFill>
                <a:latin typeface="Times New Roman"/>
                <a:cs typeface="Times New Roman"/>
              </a:rPr>
              <a:t>and</a:t>
            </a:r>
            <a:r>
              <a:rPr sz="700" i="1" spc="85" dirty="0">
                <a:solidFill>
                  <a:srgbClr val="009600"/>
                </a:solidFill>
                <a:latin typeface="Times New Roman"/>
                <a:cs typeface="Times New Roman"/>
              </a:rPr>
              <a:t> </a:t>
            </a:r>
            <a:r>
              <a:rPr sz="700" i="1" spc="60" dirty="0">
                <a:solidFill>
                  <a:srgbClr val="009600"/>
                </a:solidFill>
                <a:latin typeface="Times New Roman"/>
                <a:cs typeface="Times New Roman"/>
              </a:rPr>
              <a:t>unconditionally</a:t>
            </a:r>
            <a:r>
              <a:rPr sz="700" i="1" spc="80" dirty="0">
                <a:solidFill>
                  <a:srgbClr val="009600"/>
                </a:solidFill>
                <a:latin typeface="Times New Roman"/>
                <a:cs typeface="Times New Roman"/>
              </a:rPr>
              <a:t> </a:t>
            </a:r>
            <a:r>
              <a:rPr sz="700" i="1" spc="35" dirty="0">
                <a:solidFill>
                  <a:srgbClr val="009600"/>
                </a:solidFill>
                <a:latin typeface="Times New Roman"/>
                <a:cs typeface="Times New Roman"/>
              </a:rPr>
              <a:t>allow</a:t>
            </a:r>
            <a:endParaRPr sz="700">
              <a:latin typeface="Times New Roman"/>
              <a:cs typeface="Times New Roman"/>
            </a:endParaRPr>
          </a:p>
        </p:txBody>
      </p:sp>
      <p:sp>
        <p:nvSpPr>
          <p:cNvPr id="10" name="object 10"/>
          <p:cNvSpPr txBox="1"/>
          <p:nvPr/>
        </p:nvSpPr>
        <p:spPr>
          <a:xfrm>
            <a:off x="2936646" y="1170167"/>
            <a:ext cx="1055370" cy="132080"/>
          </a:xfrm>
          <a:prstGeom prst="rect">
            <a:avLst/>
          </a:prstGeom>
        </p:spPr>
        <p:txBody>
          <a:bodyPr vert="horz" wrap="square" lIns="0" tIns="12065" rIns="0" bIns="0" rtlCol="0">
            <a:spAutoFit/>
          </a:bodyPr>
          <a:lstStyle/>
          <a:p>
            <a:pPr marL="12700">
              <a:lnSpc>
                <a:spcPct val="100000"/>
              </a:lnSpc>
              <a:spcBef>
                <a:spcPts val="95"/>
              </a:spcBef>
            </a:pPr>
            <a:r>
              <a:rPr sz="700" i="1" spc="65" dirty="0">
                <a:solidFill>
                  <a:srgbClr val="009600"/>
                </a:solidFill>
                <a:latin typeface="Times New Roman"/>
                <a:cs typeface="Times New Roman"/>
              </a:rPr>
              <a:t>#</a:t>
            </a:r>
            <a:r>
              <a:rPr sz="700" i="1" spc="95" dirty="0">
                <a:solidFill>
                  <a:srgbClr val="009600"/>
                </a:solidFill>
                <a:latin typeface="Times New Roman"/>
                <a:cs typeface="Times New Roman"/>
              </a:rPr>
              <a:t> </a:t>
            </a:r>
            <a:r>
              <a:rPr sz="700" i="1" dirty="0">
                <a:solidFill>
                  <a:srgbClr val="009600"/>
                </a:solidFill>
                <a:latin typeface="Times New Roman"/>
                <a:cs typeface="Times New Roman"/>
              </a:rPr>
              <a:t>Append</a:t>
            </a:r>
            <a:r>
              <a:rPr sz="700" i="1" spc="100" dirty="0">
                <a:solidFill>
                  <a:srgbClr val="009600"/>
                </a:solidFill>
                <a:latin typeface="Times New Roman"/>
                <a:cs typeface="Times New Roman"/>
              </a:rPr>
              <a:t> </a:t>
            </a:r>
            <a:r>
              <a:rPr sz="700" i="1" spc="65" dirty="0">
                <a:solidFill>
                  <a:srgbClr val="009600"/>
                </a:solidFill>
                <a:latin typeface="Times New Roman"/>
                <a:cs typeface="Times New Roman"/>
              </a:rPr>
              <a:t>a</a:t>
            </a:r>
            <a:r>
              <a:rPr sz="700" i="1" spc="95" dirty="0">
                <a:solidFill>
                  <a:srgbClr val="009600"/>
                </a:solidFill>
                <a:latin typeface="Times New Roman"/>
                <a:cs typeface="Times New Roman"/>
              </a:rPr>
              <a:t> </a:t>
            </a:r>
            <a:r>
              <a:rPr sz="700" i="1" spc="60" dirty="0">
                <a:solidFill>
                  <a:srgbClr val="009600"/>
                </a:solidFill>
                <a:latin typeface="Times New Roman"/>
                <a:cs typeface="Times New Roman"/>
              </a:rPr>
              <a:t>received</a:t>
            </a:r>
            <a:r>
              <a:rPr sz="700" i="1" spc="75" dirty="0">
                <a:solidFill>
                  <a:srgbClr val="009600"/>
                </a:solidFill>
                <a:latin typeface="Times New Roman"/>
                <a:cs typeface="Times New Roman"/>
              </a:rPr>
              <a:t> </a:t>
            </a:r>
            <a:r>
              <a:rPr sz="700" i="1" spc="-35" dirty="0">
                <a:solidFill>
                  <a:srgbClr val="009600"/>
                </a:solidFill>
                <a:latin typeface="Times New Roman"/>
                <a:cs typeface="Times New Roman"/>
              </a:rPr>
              <a:t>ACK</a:t>
            </a:r>
            <a:endParaRPr sz="700">
              <a:latin typeface="Times New Roman"/>
              <a:cs typeface="Times New Roman"/>
            </a:endParaRPr>
          </a:p>
        </p:txBody>
      </p:sp>
      <p:sp>
        <p:nvSpPr>
          <p:cNvPr id="11" name="object 11"/>
          <p:cNvSpPr txBox="1"/>
          <p:nvPr/>
        </p:nvSpPr>
        <p:spPr>
          <a:xfrm>
            <a:off x="2936646" y="1352362"/>
            <a:ext cx="1233805" cy="222885"/>
          </a:xfrm>
          <a:prstGeom prst="rect">
            <a:avLst/>
          </a:prstGeom>
        </p:spPr>
        <p:txBody>
          <a:bodyPr vert="horz" wrap="square" lIns="0" tIns="27940" rIns="0" bIns="0" rtlCol="0">
            <a:spAutoFit/>
          </a:bodyPr>
          <a:lstStyle/>
          <a:p>
            <a:pPr marL="12700" marR="5080">
              <a:lnSpc>
                <a:spcPts val="720"/>
              </a:lnSpc>
              <a:spcBef>
                <a:spcPts val="220"/>
              </a:spcBef>
            </a:pPr>
            <a:r>
              <a:rPr sz="700" i="1" spc="65" dirty="0">
                <a:solidFill>
                  <a:srgbClr val="009600"/>
                </a:solidFill>
                <a:latin typeface="Times New Roman"/>
                <a:cs typeface="Times New Roman"/>
              </a:rPr>
              <a:t>#</a:t>
            </a:r>
            <a:r>
              <a:rPr sz="700" i="1" spc="120" dirty="0">
                <a:solidFill>
                  <a:srgbClr val="009600"/>
                </a:solidFill>
                <a:latin typeface="Times New Roman"/>
                <a:cs typeface="Times New Roman"/>
              </a:rPr>
              <a:t> </a:t>
            </a:r>
            <a:r>
              <a:rPr sz="700" i="1" spc="90" dirty="0">
                <a:solidFill>
                  <a:srgbClr val="009600"/>
                </a:solidFill>
                <a:latin typeface="Times New Roman"/>
                <a:cs typeface="Times New Roman"/>
              </a:rPr>
              <a:t>Just</a:t>
            </a:r>
            <a:r>
              <a:rPr sz="700" i="1" spc="95" dirty="0">
                <a:solidFill>
                  <a:srgbClr val="009600"/>
                </a:solidFill>
                <a:latin typeface="Times New Roman"/>
                <a:cs typeface="Times New Roman"/>
              </a:rPr>
              <a:t> </a:t>
            </a:r>
            <a:r>
              <a:rPr sz="700" i="1" dirty="0">
                <a:solidFill>
                  <a:srgbClr val="009600"/>
                </a:solidFill>
                <a:latin typeface="Times New Roman"/>
                <a:cs typeface="Times New Roman"/>
              </a:rPr>
              <a:t>remove</a:t>
            </a:r>
            <a:r>
              <a:rPr sz="700" i="1" spc="90" dirty="0">
                <a:solidFill>
                  <a:srgbClr val="009600"/>
                </a:solidFill>
                <a:latin typeface="Times New Roman"/>
                <a:cs typeface="Times New Roman"/>
              </a:rPr>
              <a:t> </a:t>
            </a:r>
            <a:r>
              <a:rPr sz="700" i="1" spc="140" dirty="0">
                <a:solidFill>
                  <a:srgbClr val="009600"/>
                </a:solidFill>
                <a:latin typeface="Times New Roman"/>
                <a:cs typeface="Times New Roman"/>
              </a:rPr>
              <a:t>first</a:t>
            </a:r>
            <a:r>
              <a:rPr sz="700" i="1" spc="95" dirty="0">
                <a:solidFill>
                  <a:srgbClr val="009600"/>
                </a:solidFill>
                <a:latin typeface="Times New Roman"/>
                <a:cs typeface="Times New Roman"/>
              </a:rPr>
              <a:t> </a:t>
            </a:r>
            <a:r>
              <a:rPr sz="700" i="1" spc="-10" dirty="0">
                <a:solidFill>
                  <a:srgbClr val="009600"/>
                </a:solidFill>
                <a:latin typeface="Times New Roman"/>
                <a:cs typeface="Times New Roman"/>
              </a:rPr>
              <a:t>message</a:t>
            </a:r>
            <a:r>
              <a:rPr sz="700" i="1" spc="65" dirty="0">
                <a:solidFill>
                  <a:srgbClr val="009600"/>
                </a:solidFill>
                <a:latin typeface="Times New Roman"/>
                <a:cs typeface="Times New Roman"/>
              </a:rPr>
              <a:t> #</a:t>
            </a:r>
            <a:r>
              <a:rPr sz="700" i="1" spc="114" dirty="0">
                <a:solidFill>
                  <a:srgbClr val="009600"/>
                </a:solidFill>
                <a:latin typeface="Times New Roman"/>
                <a:cs typeface="Times New Roman"/>
              </a:rPr>
              <a:t> </a:t>
            </a:r>
            <a:r>
              <a:rPr sz="700" i="1" dirty="0">
                <a:solidFill>
                  <a:srgbClr val="009600"/>
                </a:solidFill>
                <a:latin typeface="Times New Roman"/>
                <a:cs typeface="Times New Roman"/>
              </a:rPr>
              <a:t>And</a:t>
            </a:r>
            <a:r>
              <a:rPr sz="700" i="1" spc="95" dirty="0">
                <a:solidFill>
                  <a:srgbClr val="009600"/>
                </a:solidFill>
                <a:latin typeface="Times New Roman"/>
                <a:cs typeface="Times New Roman"/>
              </a:rPr>
              <a:t> sort </a:t>
            </a:r>
            <a:r>
              <a:rPr sz="700" i="1" dirty="0">
                <a:solidFill>
                  <a:srgbClr val="009600"/>
                </a:solidFill>
                <a:latin typeface="Times New Roman"/>
                <a:cs typeface="Times New Roman"/>
              </a:rPr>
              <a:t>and</a:t>
            </a:r>
            <a:r>
              <a:rPr sz="700" i="1" spc="90" dirty="0">
                <a:solidFill>
                  <a:srgbClr val="009600"/>
                </a:solidFill>
                <a:latin typeface="Times New Roman"/>
                <a:cs typeface="Times New Roman"/>
              </a:rPr>
              <a:t> </a:t>
            </a:r>
            <a:r>
              <a:rPr sz="700" i="1" spc="-10" dirty="0">
                <a:solidFill>
                  <a:srgbClr val="009600"/>
                </a:solidFill>
                <a:latin typeface="Times New Roman"/>
                <a:cs typeface="Times New Roman"/>
              </a:rPr>
              <a:t>cleanup</a:t>
            </a:r>
            <a:endParaRPr sz="700">
              <a:latin typeface="Times New Roman"/>
              <a:cs typeface="Times New Roman"/>
            </a:endParaRPr>
          </a:p>
        </p:txBody>
      </p:sp>
      <p:grpSp>
        <p:nvGrpSpPr>
          <p:cNvPr id="12" name="object 12"/>
          <p:cNvGrpSpPr/>
          <p:nvPr/>
        </p:nvGrpSpPr>
        <p:grpSpPr>
          <a:xfrm>
            <a:off x="0" y="3348469"/>
            <a:ext cx="4608195" cy="107950"/>
            <a:chOff x="0" y="3348469"/>
            <a:chExt cx="4608195" cy="107950"/>
          </a:xfrm>
        </p:grpSpPr>
        <p:sp>
          <p:nvSpPr>
            <p:cNvPr id="13" name="object 13"/>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4" name="object 14"/>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5" name="object 15"/>
          <p:cNvSpPr txBox="1"/>
          <p:nvPr/>
        </p:nvSpPr>
        <p:spPr>
          <a:xfrm>
            <a:off x="53467" y="3349927"/>
            <a:ext cx="691515"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3" action="ppaction://hlinksldjump"/>
              </a:rPr>
              <a:t>Lamport’s</a:t>
            </a:r>
            <a:r>
              <a:rPr sz="500" spc="15" dirty="0">
                <a:latin typeface="Arial"/>
                <a:cs typeface="Arial"/>
                <a:hlinkClick r:id="rId3" action="ppaction://hlinksldjump"/>
              </a:rPr>
              <a:t> </a:t>
            </a:r>
            <a:r>
              <a:rPr sz="500" dirty="0">
                <a:latin typeface="Arial"/>
                <a:cs typeface="Arial"/>
                <a:hlinkClick r:id="rId3" action="ppaction://hlinksldjump"/>
              </a:rPr>
              <a:t>logical</a:t>
            </a:r>
            <a:r>
              <a:rPr sz="500" spc="15" dirty="0">
                <a:latin typeface="Arial"/>
                <a:cs typeface="Arial"/>
                <a:hlinkClick r:id="rId3" action="ppaction://hlinksldjump"/>
              </a:rPr>
              <a:t> </a:t>
            </a:r>
            <a:r>
              <a:rPr sz="500" spc="-10" dirty="0">
                <a:latin typeface="Arial"/>
                <a:cs typeface="Arial"/>
                <a:hlinkClick r:id="rId3" action="ppaction://hlinksldjump"/>
              </a:rPr>
              <a:t>clocks</a:t>
            </a:r>
            <a:endParaRPr sz="500">
              <a:latin typeface="Arial"/>
              <a:cs typeface="Arial"/>
            </a:endParaRPr>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4095750" algn="l"/>
              </a:tabLst>
            </a:pPr>
            <a:r>
              <a:rPr sz="500" spc="-10" dirty="0">
                <a:latin typeface="Arial"/>
                <a:cs typeface="Arial"/>
                <a:hlinkClick r:id="rId2" action="ppaction://hlinksldjump"/>
              </a:rPr>
              <a:t>Coordination</a:t>
            </a:r>
            <a:r>
              <a:rPr sz="500" dirty="0">
                <a:latin typeface="Arial"/>
                <a:cs typeface="Arial"/>
              </a:rPr>
              <a:t>	</a:t>
            </a:r>
            <a:r>
              <a:rPr sz="500" dirty="0">
                <a:solidFill>
                  <a:srgbClr val="FFFFFF"/>
                </a:solidFill>
                <a:latin typeface="Arial"/>
                <a:cs typeface="Arial"/>
                <a:hlinkClick r:id="rId3" action="ppaction://hlinksldjump"/>
              </a:rPr>
              <a:t>Logical</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clocks</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Lamport’s</a:t>
            </a:r>
            <a:r>
              <a:rPr spc="-65" dirty="0"/>
              <a:t> </a:t>
            </a:r>
            <a:r>
              <a:rPr dirty="0"/>
              <a:t>clocks</a:t>
            </a:r>
            <a:r>
              <a:rPr spc="-65" dirty="0"/>
              <a:t> </a:t>
            </a:r>
            <a:r>
              <a:rPr dirty="0"/>
              <a:t>for</a:t>
            </a:r>
            <a:r>
              <a:rPr spc="-60" dirty="0"/>
              <a:t> </a:t>
            </a:r>
            <a:r>
              <a:rPr dirty="0"/>
              <a:t>mutual</a:t>
            </a:r>
            <a:r>
              <a:rPr spc="-65" dirty="0"/>
              <a:t> </a:t>
            </a:r>
            <a:r>
              <a:rPr spc="-10" dirty="0"/>
              <a:t>exclusion</a:t>
            </a:r>
          </a:p>
        </p:txBody>
      </p:sp>
      <p:sp>
        <p:nvSpPr>
          <p:cNvPr id="4" name="object 4"/>
          <p:cNvSpPr txBox="1"/>
          <p:nvPr/>
        </p:nvSpPr>
        <p:spPr>
          <a:xfrm>
            <a:off x="330428" y="514774"/>
            <a:ext cx="3942079" cy="901700"/>
          </a:xfrm>
          <a:prstGeom prst="rect">
            <a:avLst/>
          </a:prstGeom>
        </p:spPr>
        <p:txBody>
          <a:bodyPr vert="horz" wrap="square" lIns="0" tIns="12065" rIns="0" bIns="0" rtlCol="0">
            <a:spAutoFit/>
          </a:bodyPr>
          <a:lstStyle/>
          <a:p>
            <a:pPr marL="25400">
              <a:lnSpc>
                <a:spcPct val="100000"/>
              </a:lnSpc>
              <a:spcBef>
                <a:spcPts val="95"/>
              </a:spcBef>
            </a:pPr>
            <a:r>
              <a:rPr sz="1000" dirty="0">
                <a:solidFill>
                  <a:srgbClr val="3333B2"/>
                </a:solidFill>
                <a:latin typeface="Arial"/>
                <a:cs typeface="Arial"/>
              </a:rPr>
              <a:t>Analogy</a:t>
            </a:r>
            <a:r>
              <a:rPr sz="1000" spc="-35" dirty="0">
                <a:solidFill>
                  <a:srgbClr val="3333B2"/>
                </a:solidFill>
                <a:latin typeface="Arial"/>
                <a:cs typeface="Arial"/>
              </a:rPr>
              <a:t> </a:t>
            </a:r>
            <a:r>
              <a:rPr sz="1000" dirty="0">
                <a:solidFill>
                  <a:srgbClr val="3333B2"/>
                </a:solidFill>
                <a:latin typeface="Arial"/>
                <a:cs typeface="Arial"/>
              </a:rPr>
              <a:t>with</a:t>
            </a:r>
            <a:r>
              <a:rPr sz="1000" spc="-35" dirty="0">
                <a:solidFill>
                  <a:srgbClr val="3333B2"/>
                </a:solidFill>
                <a:latin typeface="Arial"/>
                <a:cs typeface="Arial"/>
              </a:rPr>
              <a:t> </a:t>
            </a:r>
            <a:r>
              <a:rPr sz="1000" dirty="0">
                <a:solidFill>
                  <a:srgbClr val="3333B2"/>
                </a:solidFill>
                <a:latin typeface="Arial"/>
                <a:cs typeface="Arial"/>
              </a:rPr>
              <a:t>totally</a:t>
            </a:r>
            <a:r>
              <a:rPr sz="1000" spc="-35" dirty="0">
                <a:solidFill>
                  <a:srgbClr val="3333B2"/>
                </a:solidFill>
                <a:latin typeface="Arial"/>
                <a:cs typeface="Arial"/>
              </a:rPr>
              <a:t> </a:t>
            </a:r>
            <a:r>
              <a:rPr sz="1000" dirty="0">
                <a:solidFill>
                  <a:srgbClr val="3333B2"/>
                </a:solidFill>
                <a:latin typeface="Arial"/>
                <a:cs typeface="Arial"/>
              </a:rPr>
              <a:t>ordered</a:t>
            </a:r>
            <a:r>
              <a:rPr sz="1000" spc="-30" dirty="0">
                <a:solidFill>
                  <a:srgbClr val="3333B2"/>
                </a:solidFill>
                <a:latin typeface="Arial"/>
                <a:cs typeface="Arial"/>
              </a:rPr>
              <a:t> </a:t>
            </a:r>
            <a:r>
              <a:rPr sz="1000" spc="-10" dirty="0">
                <a:solidFill>
                  <a:srgbClr val="3333B2"/>
                </a:solidFill>
                <a:latin typeface="Arial"/>
                <a:cs typeface="Arial"/>
              </a:rPr>
              <a:t>multicast</a:t>
            </a:r>
            <a:endParaRPr sz="1000">
              <a:latin typeface="Arial"/>
              <a:cs typeface="Arial"/>
            </a:endParaRPr>
          </a:p>
          <a:p>
            <a:pPr marL="282575" marR="313690" indent="-120650">
              <a:lnSpc>
                <a:spcPct val="111600"/>
              </a:lnSpc>
              <a:spcBef>
                <a:spcPts val="580"/>
              </a:spcBef>
              <a:buClr>
                <a:srgbClr val="3333B2"/>
              </a:buClr>
              <a:buFont typeface="Menlo"/>
              <a:buChar char="•"/>
              <a:tabLst>
                <a:tab pos="277495" algn="l"/>
              </a:tabLst>
            </a:pPr>
            <a:r>
              <a:rPr sz="900" dirty="0">
                <a:latin typeface="Arial"/>
                <a:cs typeface="Arial"/>
              </a:rPr>
              <a:t>With</a:t>
            </a:r>
            <a:r>
              <a:rPr sz="900" spc="-40" dirty="0">
                <a:latin typeface="Arial"/>
                <a:cs typeface="Arial"/>
              </a:rPr>
              <a:t> </a:t>
            </a:r>
            <a:r>
              <a:rPr sz="900" dirty="0">
                <a:latin typeface="Arial"/>
                <a:cs typeface="Arial"/>
              </a:rPr>
              <a:t>totally</a:t>
            </a:r>
            <a:r>
              <a:rPr sz="900" spc="-35" dirty="0">
                <a:latin typeface="Arial"/>
                <a:cs typeface="Arial"/>
              </a:rPr>
              <a:t> </a:t>
            </a:r>
            <a:r>
              <a:rPr sz="900" dirty="0">
                <a:latin typeface="Arial"/>
                <a:cs typeface="Arial"/>
              </a:rPr>
              <a:t>ordered</a:t>
            </a:r>
            <a:r>
              <a:rPr sz="900" spc="-35" dirty="0">
                <a:latin typeface="Arial"/>
                <a:cs typeface="Arial"/>
              </a:rPr>
              <a:t> </a:t>
            </a:r>
            <a:r>
              <a:rPr sz="900" dirty="0">
                <a:latin typeface="Arial"/>
                <a:cs typeface="Arial"/>
              </a:rPr>
              <a:t>multicast,</a:t>
            </a:r>
            <a:r>
              <a:rPr sz="900" spc="-35" dirty="0">
                <a:latin typeface="Arial"/>
                <a:cs typeface="Arial"/>
              </a:rPr>
              <a:t> </a:t>
            </a:r>
            <a:r>
              <a:rPr sz="900" dirty="0">
                <a:latin typeface="Arial"/>
                <a:cs typeface="Arial"/>
              </a:rPr>
              <a:t>all</a:t>
            </a:r>
            <a:r>
              <a:rPr sz="900" spc="-35" dirty="0">
                <a:latin typeface="Arial"/>
                <a:cs typeface="Arial"/>
              </a:rPr>
              <a:t> </a:t>
            </a:r>
            <a:r>
              <a:rPr sz="900" dirty="0">
                <a:latin typeface="Arial"/>
                <a:cs typeface="Arial"/>
              </a:rPr>
              <a:t>processes</a:t>
            </a:r>
            <a:r>
              <a:rPr sz="900" spc="-35" dirty="0">
                <a:latin typeface="Arial"/>
                <a:cs typeface="Arial"/>
              </a:rPr>
              <a:t> </a:t>
            </a:r>
            <a:r>
              <a:rPr sz="900" dirty="0">
                <a:latin typeface="Arial"/>
                <a:cs typeface="Arial"/>
              </a:rPr>
              <a:t>build</a:t>
            </a:r>
            <a:r>
              <a:rPr sz="900" spc="-35" dirty="0">
                <a:latin typeface="Arial"/>
                <a:cs typeface="Arial"/>
              </a:rPr>
              <a:t> </a:t>
            </a:r>
            <a:r>
              <a:rPr sz="900" dirty="0">
                <a:latin typeface="Arial"/>
                <a:cs typeface="Arial"/>
              </a:rPr>
              <a:t>identical</a:t>
            </a:r>
            <a:r>
              <a:rPr sz="900" spc="-35" dirty="0">
                <a:latin typeface="Arial"/>
                <a:cs typeface="Arial"/>
              </a:rPr>
              <a:t> </a:t>
            </a:r>
            <a:r>
              <a:rPr sz="900" spc="-10" dirty="0">
                <a:latin typeface="Arial"/>
                <a:cs typeface="Arial"/>
              </a:rPr>
              <a:t>queues, </a:t>
            </a:r>
            <a:r>
              <a:rPr sz="900" dirty="0">
                <a:latin typeface="Arial"/>
                <a:cs typeface="Arial"/>
              </a:rPr>
              <a:t>delivering</a:t>
            </a:r>
            <a:r>
              <a:rPr sz="900" spc="-35" dirty="0">
                <a:latin typeface="Arial"/>
                <a:cs typeface="Arial"/>
              </a:rPr>
              <a:t> </a:t>
            </a:r>
            <a:r>
              <a:rPr sz="900" dirty="0">
                <a:latin typeface="Arial"/>
                <a:cs typeface="Arial"/>
              </a:rPr>
              <a:t>messages</a:t>
            </a:r>
            <a:r>
              <a:rPr sz="900" spc="-30" dirty="0">
                <a:latin typeface="Arial"/>
                <a:cs typeface="Arial"/>
              </a:rPr>
              <a:t> </a:t>
            </a:r>
            <a:r>
              <a:rPr sz="900" dirty="0">
                <a:latin typeface="Arial"/>
                <a:cs typeface="Arial"/>
              </a:rPr>
              <a:t>in</a:t>
            </a:r>
            <a:r>
              <a:rPr sz="900" spc="-35" dirty="0">
                <a:latin typeface="Arial"/>
                <a:cs typeface="Arial"/>
              </a:rPr>
              <a:t> </a:t>
            </a:r>
            <a:r>
              <a:rPr sz="900" dirty="0">
                <a:latin typeface="Arial"/>
                <a:cs typeface="Arial"/>
              </a:rPr>
              <a:t>the</a:t>
            </a:r>
            <a:r>
              <a:rPr sz="900" spc="-30" dirty="0">
                <a:latin typeface="Arial"/>
                <a:cs typeface="Arial"/>
              </a:rPr>
              <a:t> </a:t>
            </a:r>
            <a:r>
              <a:rPr sz="900" dirty="0">
                <a:latin typeface="Arial"/>
                <a:cs typeface="Arial"/>
              </a:rPr>
              <a:t>same</a:t>
            </a:r>
            <a:r>
              <a:rPr sz="900" spc="-35" dirty="0">
                <a:latin typeface="Arial"/>
                <a:cs typeface="Arial"/>
              </a:rPr>
              <a:t> </a:t>
            </a:r>
            <a:r>
              <a:rPr sz="900" spc="-10" dirty="0">
                <a:latin typeface="Arial"/>
                <a:cs typeface="Arial"/>
              </a:rPr>
              <a:t>order</a:t>
            </a:r>
            <a:endParaRPr sz="900">
              <a:latin typeface="Arial"/>
              <a:cs typeface="Arial"/>
            </a:endParaRPr>
          </a:p>
          <a:p>
            <a:pPr marL="282575" marR="17780" indent="-120650">
              <a:lnSpc>
                <a:spcPct val="111600"/>
              </a:lnSpc>
              <a:spcBef>
                <a:spcPts val="300"/>
              </a:spcBef>
              <a:buClr>
                <a:srgbClr val="3333B2"/>
              </a:buClr>
              <a:buFont typeface="Menlo"/>
              <a:buChar char="•"/>
              <a:tabLst>
                <a:tab pos="283210" algn="l"/>
              </a:tabLst>
            </a:pPr>
            <a:r>
              <a:rPr sz="900" dirty="0">
                <a:latin typeface="Arial"/>
                <a:cs typeface="Arial"/>
              </a:rPr>
              <a:t>Mutual</a:t>
            </a:r>
            <a:r>
              <a:rPr sz="900" spc="-25" dirty="0">
                <a:latin typeface="Arial"/>
                <a:cs typeface="Arial"/>
              </a:rPr>
              <a:t> </a:t>
            </a:r>
            <a:r>
              <a:rPr sz="900" spc="-10" dirty="0">
                <a:latin typeface="Arial"/>
                <a:cs typeface="Arial"/>
              </a:rPr>
              <a:t>exclusion</a:t>
            </a:r>
            <a:r>
              <a:rPr sz="900" spc="-25" dirty="0">
                <a:latin typeface="Arial"/>
                <a:cs typeface="Arial"/>
              </a:rPr>
              <a:t> </a:t>
            </a:r>
            <a:r>
              <a:rPr sz="900" dirty="0">
                <a:latin typeface="Arial"/>
                <a:cs typeface="Arial"/>
              </a:rPr>
              <a:t>is</a:t>
            </a:r>
            <a:r>
              <a:rPr sz="900" spc="-25" dirty="0">
                <a:latin typeface="Arial"/>
                <a:cs typeface="Arial"/>
              </a:rPr>
              <a:t> </a:t>
            </a:r>
            <a:r>
              <a:rPr sz="900" dirty="0">
                <a:latin typeface="Arial"/>
                <a:cs typeface="Arial"/>
              </a:rPr>
              <a:t>about</a:t>
            </a:r>
            <a:r>
              <a:rPr sz="900" spc="-20" dirty="0">
                <a:latin typeface="Arial"/>
                <a:cs typeface="Arial"/>
              </a:rPr>
              <a:t> </a:t>
            </a:r>
            <a:r>
              <a:rPr sz="900" dirty="0">
                <a:latin typeface="Arial"/>
                <a:cs typeface="Arial"/>
              </a:rPr>
              <a:t>agreeing</a:t>
            </a:r>
            <a:r>
              <a:rPr sz="900" spc="-25" dirty="0">
                <a:latin typeface="Arial"/>
                <a:cs typeface="Arial"/>
              </a:rPr>
              <a:t> </a:t>
            </a:r>
            <a:r>
              <a:rPr sz="900" dirty="0">
                <a:latin typeface="Arial"/>
                <a:cs typeface="Arial"/>
              </a:rPr>
              <a:t>in</a:t>
            </a:r>
            <a:r>
              <a:rPr sz="900" spc="-25" dirty="0">
                <a:latin typeface="Arial"/>
                <a:cs typeface="Arial"/>
              </a:rPr>
              <a:t> </a:t>
            </a:r>
            <a:r>
              <a:rPr sz="900" dirty="0">
                <a:latin typeface="Arial"/>
                <a:cs typeface="Arial"/>
              </a:rPr>
              <a:t>which</a:t>
            </a:r>
            <a:r>
              <a:rPr sz="900" spc="-20" dirty="0">
                <a:latin typeface="Arial"/>
                <a:cs typeface="Arial"/>
              </a:rPr>
              <a:t> </a:t>
            </a:r>
            <a:r>
              <a:rPr sz="900" dirty="0">
                <a:latin typeface="Arial"/>
                <a:cs typeface="Arial"/>
              </a:rPr>
              <a:t>order</a:t>
            </a:r>
            <a:r>
              <a:rPr sz="900" spc="-25" dirty="0">
                <a:latin typeface="Arial"/>
                <a:cs typeface="Arial"/>
              </a:rPr>
              <a:t> </a:t>
            </a:r>
            <a:r>
              <a:rPr sz="900" dirty="0">
                <a:latin typeface="Arial"/>
                <a:cs typeface="Arial"/>
              </a:rPr>
              <a:t>processes</a:t>
            </a:r>
            <a:r>
              <a:rPr sz="900" spc="-25" dirty="0">
                <a:latin typeface="Arial"/>
                <a:cs typeface="Arial"/>
              </a:rPr>
              <a:t> </a:t>
            </a:r>
            <a:r>
              <a:rPr sz="900" dirty="0">
                <a:latin typeface="Arial"/>
                <a:cs typeface="Arial"/>
              </a:rPr>
              <a:t>are</a:t>
            </a:r>
            <a:r>
              <a:rPr sz="900" spc="-20" dirty="0">
                <a:latin typeface="Arial"/>
                <a:cs typeface="Arial"/>
              </a:rPr>
              <a:t> </a:t>
            </a:r>
            <a:r>
              <a:rPr sz="900" spc="-10" dirty="0">
                <a:latin typeface="Arial"/>
                <a:cs typeface="Arial"/>
              </a:rPr>
              <a:t>allowed </a:t>
            </a:r>
            <a:r>
              <a:rPr sz="900" dirty="0">
                <a:latin typeface="Arial"/>
                <a:cs typeface="Arial"/>
              </a:rPr>
              <a:t>to</a:t>
            </a:r>
            <a:r>
              <a:rPr sz="900" spc="-20" dirty="0">
                <a:latin typeface="Arial"/>
                <a:cs typeface="Arial"/>
              </a:rPr>
              <a:t> </a:t>
            </a:r>
            <a:r>
              <a:rPr sz="900" dirty="0">
                <a:latin typeface="Arial"/>
                <a:cs typeface="Arial"/>
              </a:rPr>
              <a:t>enter</a:t>
            </a:r>
            <a:r>
              <a:rPr sz="900" spc="-15" dirty="0">
                <a:latin typeface="Arial"/>
                <a:cs typeface="Arial"/>
              </a:rPr>
              <a:t> </a:t>
            </a:r>
            <a:r>
              <a:rPr sz="900" dirty="0">
                <a:latin typeface="Arial"/>
                <a:cs typeface="Arial"/>
              </a:rPr>
              <a:t>a</a:t>
            </a:r>
            <a:r>
              <a:rPr sz="900" spc="-20" dirty="0">
                <a:latin typeface="Arial"/>
                <a:cs typeface="Arial"/>
              </a:rPr>
              <a:t> </a:t>
            </a:r>
            <a:r>
              <a:rPr sz="900" dirty="0">
                <a:latin typeface="Arial"/>
                <a:cs typeface="Arial"/>
              </a:rPr>
              <a:t>critical</a:t>
            </a:r>
            <a:r>
              <a:rPr sz="900" spc="-15" dirty="0">
                <a:latin typeface="Arial"/>
                <a:cs typeface="Arial"/>
              </a:rPr>
              <a:t> </a:t>
            </a:r>
            <a:r>
              <a:rPr sz="900" spc="-10" dirty="0">
                <a:latin typeface="Arial"/>
                <a:cs typeface="Arial"/>
              </a:rPr>
              <a:t>region</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691515"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3" action="ppaction://hlinksldjump"/>
              </a:rPr>
              <a:t>Lamport’s</a:t>
            </a:r>
            <a:r>
              <a:rPr sz="500" spc="15" dirty="0">
                <a:latin typeface="Arial"/>
                <a:cs typeface="Arial"/>
                <a:hlinkClick r:id="rId3" action="ppaction://hlinksldjump"/>
              </a:rPr>
              <a:t> </a:t>
            </a:r>
            <a:r>
              <a:rPr sz="500" dirty="0">
                <a:latin typeface="Arial"/>
                <a:cs typeface="Arial"/>
                <a:hlinkClick r:id="rId3" action="ppaction://hlinksldjump"/>
              </a:rPr>
              <a:t>logical</a:t>
            </a:r>
            <a:r>
              <a:rPr sz="500" spc="15" dirty="0">
                <a:latin typeface="Arial"/>
                <a:cs typeface="Arial"/>
                <a:hlinkClick r:id="rId3" action="ppaction://hlinksldjump"/>
              </a:rPr>
              <a:t> </a:t>
            </a:r>
            <a:r>
              <a:rPr sz="500" spc="-10" dirty="0">
                <a:latin typeface="Arial"/>
                <a:cs typeface="Arial"/>
                <a:hlinkClick r:id="rId3" action="ppaction://hlinksldjump"/>
              </a:rPr>
              <a:t>clocks</a:t>
            </a:r>
            <a:endParaRPr sz="500">
              <a:latin typeface="Arial"/>
              <a:cs typeface="Arial"/>
            </a:endParaRPr>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8417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Coordination</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136644" y="-1515"/>
            <a:ext cx="41846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Logical</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clocks</a:t>
            </a:r>
            <a:endParaRPr sz="500">
              <a:latin typeface="Arial"/>
              <a:cs typeface="Arial"/>
            </a:endParaRPr>
          </a:p>
        </p:txBody>
      </p:sp>
      <p:sp>
        <p:nvSpPr>
          <p:cNvPr id="5" name="object 5"/>
          <p:cNvSpPr txBox="1"/>
          <p:nvPr/>
        </p:nvSpPr>
        <p:spPr>
          <a:xfrm>
            <a:off x="95300" y="197711"/>
            <a:ext cx="3744595" cy="798195"/>
          </a:xfrm>
          <a:prstGeom prst="rect">
            <a:avLst/>
          </a:prstGeom>
        </p:spPr>
        <p:txBody>
          <a:bodyPr vert="horz" wrap="square" lIns="0" tIns="12065" rIns="0" bIns="0" rtlCol="0">
            <a:spAutoFit/>
          </a:bodyPr>
          <a:lstStyle/>
          <a:p>
            <a:pPr marL="12700">
              <a:lnSpc>
                <a:spcPct val="100000"/>
              </a:lnSpc>
              <a:spcBef>
                <a:spcPts val="95"/>
              </a:spcBef>
            </a:pPr>
            <a:r>
              <a:rPr sz="1200" spc="-20" dirty="0">
                <a:solidFill>
                  <a:srgbClr val="3333B2"/>
                </a:solidFill>
                <a:latin typeface="Arial"/>
                <a:cs typeface="Arial"/>
              </a:rPr>
              <a:t>Vector </a:t>
            </a:r>
            <a:r>
              <a:rPr sz="1200" spc="-10" dirty="0">
                <a:solidFill>
                  <a:srgbClr val="3333B2"/>
                </a:solidFill>
                <a:latin typeface="Arial"/>
                <a:cs typeface="Arial"/>
              </a:rPr>
              <a:t>clocks</a:t>
            </a:r>
            <a:endParaRPr sz="1200">
              <a:latin typeface="Arial"/>
              <a:cs typeface="Arial"/>
            </a:endParaRPr>
          </a:p>
          <a:p>
            <a:pPr marL="264160">
              <a:lnSpc>
                <a:spcPct val="100000"/>
              </a:lnSpc>
              <a:spcBef>
                <a:spcPts val="1055"/>
              </a:spcBef>
            </a:pPr>
            <a:r>
              <a:rPr sz="1000" spc="-10" dirty="0">
                <a:solidFill>
                  <a:srgbClr val="3333B2"/>
                </a:solidFill>
                <a:latin typeface="Arial"/>
                <a:cs typeface="Arial"/>
              </a:rPr>
              <a:t>Observation</a:t>
            </a:r>
            <a:endParaRPr sz="1000">
              <a:latin typeface="Arial"/>
              <a:cs typeface="Arial"/>
            </a:endParaRPr>
          </a:p>
          <a:p>
            <a:pPr marL="264160" marR="5080">
              <a:lnSpc>
                <a:spcPts val="1210"/>
              </a:lnSpc>
              <a:spcBef>
                <a:spcPts val="40"/>
              </a:spcBef>
            </a:pPr>
            <a:r>
              <a:rPr sz="900" dirty="0">
                <a:latin typeface="Arial"/>
                <a:cs typeface="Arial"/>
              </a:rPr>
              <a:t>Lamport’s</a:t>
            </a:r>
            <a:r>
              <a:rPr sz="900" spc="5" dirty="0">
                <a:latin typeface="Arial"/>
                <a:cs typeface="Arial"/>
              </a:rPr>
              <a:t> </a:t>
            </a:r>
            <a:r>
              <a:rPr sz="900" dirty="0">
                <a:latin typeface="Arial"/>
                <a:cs typeface="Arial"/>
              </a:rPr>
              <a:t>clocks</a:t>
            </a:r>
            <a:r>
              <a:rPr sz="900" spc="5" dirty="0">
                <a:latin typeface="Arial"/>
                <a:cs typeface="Arial"/>
              </a:rPr>
              <a:t> </a:t>
            </a:r>
            <a:r>
              <a:rPr sz="900" dirty="0">
                <a:latin typeface="Arial"/>
                <a:cs typeface="Arial"/>
              </a:rPr>
              <a:t>do</a:t>
            </a:r>
            <a:r>
              <a:rPr sz="900" spc="5" dirty="0">
                <a:latin typeface="Arial"/>
                <a:cs typeface="Arial"/>
              </a:rPr>
              <a:t> </a:t>
            </a:r>
            <a:r>
              <a:rPr sz="900" dirty="0">
                <a:latin typeface="Arial"/>
                <a:cs typeface="Arial"/>
              </a:rPr>
              <a:t>not</a:t>
            </a:r>
            <a:r>
              <a:rPr sz="900" spc="5" dirty="0">
                <a:latin typeface="Arial"/>
                <a:cs typeface="Arial"/>
              </a:rPr>
              <a:t> </a:t>
            </a:r>
            <a:r>
              <a:rPr sz="900" dirty="0">
                <a:latin typeface="Arial"/>
                <a:cs typeface="Arial"/>
              </a:rPr>
              <a:t>guarantee</a:t>
            </a:r>
            <a:r>
              <a:rPr sz="900" spc="5" dirty="0">
                <a:latin typeface="Arial"/>
                <a:cs typeface="Arial"/>
              </a:rPr>
              <a:t> </a:t>
            </a:r>
            <a:r>
              <a:rPr sz="900" dirty="0">
                <a:latin typeface="Arial"/>
                <a:cs typeface="Arial"/>
              </a:rPr>
              <a:t>that</a:t>
            </a:r>
            <a:r>
              <a:rPr sz="900" spc="5" dirty="0">
                <a:latin typeface="Arial"/>
                <a:cs typeface="Arial"/>
              </a:rPr>
              <a:t> </a:t>
            </a:r>
            <a:r>
              <a:rPr sz="900" dirty="0">
                <a:latin typeface="Arial"/>
                <a:cs typeface="Arial"/>
              </a:rPr>
              <a:t>if</a:t>
            </a:r>
            <a:r>
              <a:rPr sz="900" spc="10" dirty="0">
                <a:latin typeface="Arial"/>
                <a:cs typeface="Arial"/>
              </a:rPr>
              <a:t> </a:t>
            </a:r>
            <a:r>
              <a:rPr sz="900" i="1" dirty="0">
                <a:latin typeface="Arial"/>
                <a:cs typeface="Arial"/>
              </a:rPr>
              <a:t>C</a:t>
            </a:r>
            <a:r>
              <a:rPr sz="900" dirty="0">
                <a:latin typeface="Arial"/>
                <a:cs typeface="Arial"/>
              </a:rPr>
              <a:t>(</a:t>
            </a:r>
            <a:r>
              <a:rPr sz="900" i="1" dirty="0">
                <a:latin typeface="Arial"/>
                <a:cs typeface="Arial"/>
              </a:rPr>
              <a:t>a</a:t>
            </a:r>
            <a:r>
              <a:rPr sz="900" dirty="0">
                <a:latin typeface="Arial"/>
                <a:cs typeface="Arial"/>
              </a:rPr>
              <a:t>)</a:t>
            </a:r>
            <a:r>
              <a:rPr sz="900" spc="-50" dirty="0">
                <a:latin typeface="Arial"/>
                <a:cs typeface="Arial"/>
              </a:rPr>
              <a:t> </a:t>
            </a:r>
            <a:r>
              <a:rPr sz="900" i="1" spc="60" dirty="0">
                <a:latin typeface="STIX Two Text"/>
                <a:cs typeface="STIX Two Text"/>
              </a:rPr>
              <a:t>&lt;</a:t>
            </a:r>
            <a:r>
              <a:rPr sz="900" i="1" spc="5" dirty="0">
                <a:latin typeface="STIX Two Text"/>
                <a:cs typeface="STIX Two Text"/>
              </a:rPr>
              <a:t> </a:t>
            </a:r>
            <a:r>
              <a:rPr sz="900" i="1" dirty="0">
                <a:latin typeface="Arial"/>
                <a:cs typeface="Arial"/>
              </a:rPr>
              <a:t>C</a:t>
            </a:r>
            <a:r>
              <a:rPr sz="900" dirty="0">
                <a:latin typeface="Arial"/>
                <a:cs typeface="Arial"/>
              </a:rPr>
              <a:t>(</a:t>
            </a:r>
            <a:r>
              <a:rPr sz="900" i="1" dirty="0">
                <a:latin typeface="Arial"/>
                <a:cs typeface="Arial"/>
              </a:rPr>
              <a:t>b</a:t>
            </a:r>
            <a:r>
              <a:rPr sz="900" dirty="0">
                <a:latin typeface="Arial"/>
                <a:cs typeface="Arial"/>
              </a:rPr>
              <a:t>)</a:t>
            </a:r>
            <a:r>
              <a:rPr sz="900" spc="5" dirty="0">
                <a:latin typeface="Arial"/>
                <a:cs typeface="Arial"/>
              </a:rPr>
              <a:t> </a:t>
            </a:r>
            <a:r>
              <a:rPr sz="900" dirty="0">
                <a:latin typeface="Arial"/>
                <a:cs typeface="Arial"/>
              </a:rPr>
              <a:t>that</a:t>
            </a:r>
            <a:r>
              <a:rPr sz="900" spc="5" dirty="0">
                <a:latin typeface="Arial"/>
                <a:cs typeface="Arial"/>
              </a:rPr>
              <a:t> </a:t>
            </a:r>
            <a:r>
              <a:rPr sz="900" i="1" dirty="0">
                <a:latin typeface="Arial"/>
                <a:cs typeface="Arial"/>
              </a:rPr>
              <a:t>a</a:t>
            </a:r>
            <a:r>
              <a:rPr sz="900" i="1" spc="15" dirty="0">
                <a:latin typeface="Arial"/>
                <a:cs typeface="Arial"/>
              </a:rPr>
              <a:t> </a:t>
            </a:r>
            <a:r>
              <a:rPr sz="900" spc="-10" dirty="0">
                <a:solidFill>
                  <a:srgbClr val="3333B2"/>
                </a:solidFill>
                <a:latin typeface="Arial"/>
                <a:cs typeface="Arial"/>
              </a:rPr>
              <a:t>causally </a:t>
            </a:r>
            <a:r>
              <a:rPr sz="900" dirty="0">
                <a:solidFill>
                  <a:srgbClr val="3333B2"/>
                </a:solidFill>
                <a:latin typeface="Arial"/>
                <a:cs typeface="Arial"/>
              </a:rPr>
              <a:t>preceded</a:t>
            </a:r>
            <a:r>
              <a:rPr sz="900" spc="-45" dirty="0">
                <a:solidFill>
                  <a:srgbClr val="3333B2"/>
                </a:solidFill>
                <a:latin typeface="Arial"/>
                <a:cs typeface="Arial"/>
              </a:rPr>
              <a:t> </a:t>
            </a:r>
            <a:r>
              <a:rPr sz="900" i="1" spc="-25" dirty="0">
                <a:latin typeface="Arial"/>
                <a:cs typeface="Arial"/>
              </a:rPr>
              <a:t>b</a:t>
            </a:r>
            <a:r>
              <a:rPr sz="900" spc="-25" dirty="0">
                <a:latin typeface="Arial"/>
                <a:cs typeface="Arial"/>
              </a:rPr>
              <a:t>.</a:t>
            </a:r>
            <a:endParaRPr sz="900">
              <a:latin typeface="Arial"/>
              <a:cs typeface="Arial"/>
            </a:endParaRPr>
          </a:p>
        </p:txBody>
      </p:sp>
      <p:sp>
        <p:nvSpPr>
          <p:cNvPr id="6" name="object 6"/>
          <p:cNvSpPr txBox="1"/>
          <p:nvPr/>
        </p:nvSpPr>
        <p:spPr>
          <a:xfrm>
            <a:off x="292100" y="1092371"/>
            <a:ext cx="1465580" cy="527050"/>
          </a:xfrm>
          <a:prstGeom prst="rect">
            <a:avLst/>
          </a:prstGeom>
        </p:spPr>
        <p:txBody>
          <a:bodyPr vert="horz" wrap="square" lIns="0" tIns="12700" rIns="0" bIns="0" rtlCol="0">
            <a:spAutoFit/>
          </a:bodyPr>
          <a:lstStyle/>
          <a:p>
            <a:pPr marL="12700" marR="5080">
              <a:lnSpc>
                <a:spcPct val="109600"/>
              </a:lnSpc>
              <a:spcBef>
                <a:spcPts val="100"/>
              </a:spcBef>
            </a:pPr>
            <a:r>
              <a:rPr sz="1000" dirty="0">
                <a:solidFill>
                  <a:srgbClr val="3333B2"/>
                </a:solidFill>
                <a:latin typeface="Arial"/>
                <a:cs typeface="Arial"/>
              </a:rPr>
              <a:t>Concurrent</a:t>
            </a:r>
            <a:r>
              <a:rPr sz="1000" spc="-55" dirty="0">
                <a:solidFill>
                  <a:srgbClr val="3333B2"/>
                </a:solidFill>
                <a:latin typeface="Arial"/>
                <a:cs typeface="Arial"/>
              </a:rPr>
              <a:t> </a:t>
            </a:r>
            <a:r>
              <a:rPr sz="1000" spc="-10" dirty="0">
                <a:solidFill>
                  <a:srgbClr val="3333B2"/>
                </a:solidFill>
                <a:latin typeface="Arial"/>
                <a:cs typeface="Arial"/>
              </a:rPr>
              <a:t>message transmission</a:t>
            </a:r>
            <a:r>
              <a:rPr sz="1000" dirty="0">
                <a:solidFill>
                  <a:srgbClr val="3333B2"/>
                </a:solidFill>
                <a:latin typeface="Arial"/>
                <a:cs typeface="Arial"/>
              </a:rPr>
              <a:t> using</a:t>
            </a:r>
            <a:r>
              <a:rPr sz="1000" spc="10" dirty="0">
                <a:solidFill>
                  <a:srgbClr val="3333B2"/>
                </a:solidFill>
                <a:latin typeface="Arial"/>
                <a:cs typeface="Arial"/>
              </a:rPr>
              <a:t> </a:t>
            </a:r>
            <a:r>
              <a:rPr sz="1000" spc="-10" dirty="0">
                <a:solidFill>
                  <a:srgbClr val="3333B2"/>
                </a:solidFill>
                <a:latin typeface="Arial"/>
                <a:cs typeface="Arial"/>
              </a:rPr>
              <a:t>logical clocks</a:t>
            </a:r>
            <a:endParaRPr sz="1000">
              <a:latin typeface="Arial"/>
              <a:cs typeface="Arial"/>
            </a:endParaRPr>
          </a:p>
        </p:txBody>
      </p:sp>
      <p:pic>
        <p:nvPicPr>
          <p:cNvPr id="7" name="object 7"/>
          <p:cNvPicPr/>
          <p:nvPr/>
        </p:nvPicPr>
        <p:blipFill>
          <a:blip r:embed="rId4" cstate="print"/>
          <a:stretch>
            <a:fillRect/>
          </a:stretch>
        </p:blipFill>
        <p:spPr>
          <a:xfrm>
            <a:off x="532066" y="1705942"/>
            <a:ext cx="1295062" cy="1358976"/>
          </a:xfrm>
          <a:prstGeom prst="rect">
            <a:avLst/>
          </a:prstGeom>
        </p:spPr>
      </p:pic>
      <p:sp>
        <p:nvSpPr>
          <p:cNvPr id="8" name="object 8"/>
          <p:cNvSpPr txBox="1"/>
          <p:nvPr/>
        </p:nvSpPr>
        <p:spPr>
          <a:xfrm>
            <a:off x="2321090" y="1092262"/>
            <a:ext cx="1797685" cy="496570"/>
          </a:xfrm>
          <a:prstGeom prst="rect">
            <a:avLst/>
          </a:prstGeom>
        </p:spPr>
        <p:txBody>
          <a:bodyPr vert="horz" wrap="square" lIns="0" tIns="27305" rIns="0" bIns="0" rtlCol="0">
            <a:spAutoFit/>
          </a:bodyPr>
          <a:lstStyle/>
          <a:p>
            <a:pPr marL="38100">
              <a:lnSpc>
                <a:spcPct val="100000"/>
              </a:lnSpc>
              <a:spcBef>
                <a:spcPts val="215"/>
              </a:spcBef>
            </a:pPr>
            <a:r>
              <a:rPr sz="1000" spc="-10" dirty="0">
                <a:solidFill>
                  <a:srgbClr val="3333B2"/>
                </a:solidFill>
                <a:latin typeface="Arial"/>
                <a:cs typeface="Arial"/>
              </a:rPr>
              <a:t>Observation</a:t>
            </a:r>
            <a:endParaRPr sz="1000">
              <a:latin typeface="Arial"/>
              <a:cs typeface="Arial"/>
            </a:endParaRPr>
          </a:p>
          <a:p>
            <a:pPr marL="38100" marR="30480">
              <a:lnSpc>
                <a:spcPts val="1210"/>
              </a:lnSpc>
              <a:spcBef>
                <a:spcPts val="35"/>
              </a:spcBef>
            </a:pPr>
            <a:r>
              <a:rPr sz="900" dirty="0">
                <a:latin typeface="Arial"/>
                <a:cs typeface="Arial"/>
              </a:rPr>
              <a:t>Event</a:t>
            </a:r>
            <a:r>
              <a:rPr sz="900" spc="-15" dirty="0">
                <a:latin typeface="Arial"/>
                <a:cs typeface="Arial"/>
              </a:rPr>
              <a:t> </a:t>
            </a:r>
            <a:r>
              <a:rPr sz="900" i="1" dirty="0">
                <a:latin typeface="Arial"/>
                <a:cs typeface="Arial"/>
              </a:rPr>
              <a:t>a</a:t>
            </a:r>
            <a:r>
              <a:rPr sz="900" dirty="0">
                <a:latin typeface="Arial"/>
                <a:cs typeface="Arial"/>
              </a:rPr>
              <a:t>:</a:t>
            </a:r>
            <a:r>
              <a:rPr sz="900" spc="45" dirty="0">
                <a:latin typeface="Arial"/>
                <a:cs typeface="Arial"/>
              </a:rPr>
              <a:t> </a:t>
            </a:r>
            <a:r>
              <a:rPr sz="900" i="1" dirty="0">
                <a:latin typeface="Arial"/>
                <a:cs typeface="Arial"/>
              </a:rPr>
              <a:t>m</a:t>
            </a:r>
            <a:r>
              <a:rPr sz="1050" i="1" baseline="-15873" dirty="0">
                <a:latin typeface="Arial"/>
                <a:cs typeface="Arial"/>
              </a:rPr>
              <a:t>1</a:t>
            </a:r>
            <a:r>
              <a:rPr sz="1050" i="1" spc="142" baseline="-15873" dirty="0">
                <a:latin typeface="Arial"/>
                <a:cs typeface="Arial"/>
              </a:rPr>
              <a:t> </a:t>
            </a:r>
            <a:r>
              <a:rPr sz="900" dirty="0">
                <a:latin typeface="Arial"/>
                <a:cs typeface="Arial"/>
              </a:rPr>
              <a:t>is</a:t>
            </a:r>
            <a:r>
              <a:rPr sz="900" spc="-15" dirty="0">
                <a:latin typeface="Arial"/>
                <a:cs typeface="Arial"/>
              </a:rPr>
              <a:t> </a:t>
            </a:r>
            <a:r>
              <a:rPr sz="900" spc="-10" dirty="0">
                <a:latin typeface="Arial"/>
                <a:cs typeface="Arial"/>
              </a:rPr>
              <a:t>received </a:t>
            </a:r>
            <a:r>
              <a:rPr sz="900" dirty="0">
                <a:latin typeface="Arial"/>
                <a:cs typeface="Arial"/>
              </a:rPr>
              <a:t>at</a:t>
            </a:r>
            <a:r>
              <a:rPr sz="900" spc="-15" dirty="0">
                <a:latin typeface="Arial"/>
                <a:cs typeface="Arial"/>
              </a:rPr>
              <a:t> </a:t>
            </a:r>
            <a:r>
              <a:rPr sz="900" i="1" dirty="0">
                <a:latin typeface="Arial"/>
                <a:cs typeface="Arial"/>
              </a:rPr>
              <a:t>T</a:t>
            </a:r>
            <a:r>
              <a:rPr sz="900" i="1" spc="60" dirty="0">
                <a:latin typeface="Arial"/>
                <a:cs typeface="Arial"/>
              </a:rPr>
              <a:t> </a:t>
            </a:r>
            <a:r>
              <a:rPr sz="900" spc="185" dirty="0">
                <a:latin typeface="Arial"/>
                <a:cs typeface="Arial"/>
              </a:rPr>
              <a:t>=</a:t>
            </a:r>
            <a:r>
              <a:rPr sz="900" spc="-60" dirty="0">
                <a:latin typeface="Arial"/>
                <a:cs typeface="Arial"/>
              </a:rPr>
              <a:t> </a:t>
            </a:r>
            <a:r>
              <a:rPr sz="900" spc="-25" dirty="0">
                <a:latin typeface="Arial"/>
                <a:cs typeface="Arial"/>
              </a:rPr>
              <a:t>16; </a:t>
            </a:r>
            <a:r>
              <a:rPr sz="900" dirty="0">
                <a:latin typeface="Arial"/>
                <a:cs typeface="Arial"/>
              </a:rPr>
              <a:t>Event</a:t>
            </a:r>
            <a:r>
              <a:rPr sz="900" spc="-15" dirty="0">
                <a:latin typeface="Arial"/>
                <a:cs typeface="Arial"/>
              </a:rPr>
              <a:t> </a:t>
            </a:r>
            <a:r>
              <a:rPr sz="900" i="1" dirty="0">
                <a:latin typeface="Arial"/>
                <a:cs typeface="Arial"/>
              </a:rPr>
              <a:t>b</a:t>
            </a:r>
            <a:r>
              <a:rPr sz="900" dirty="0">
                <a:latin typeface="Arial"/>
                <a:cs typeface="Arial"/>
              </a:rPr>
              <a:t>:</a:t>
            </a:r>
            <a:r>
              <a:rPr sz="900" spc="45" dirty="0">
                <a:latin typeface="Arial"/>
                <a:cs typeface="Arial"/>
              </a:rPr>
              <a:t> </a:t>
            </a:r>
            <a:r>
              <a:rPr sz="900" i="1" dirty="0">
                <a:latin typeface="Arial"/>
                <a:cs typeface="Arial"/>
              </a:rPr>
              <a:t>m</a:t>
            </a:r>
            <a:r>
              <a:rPr sz="1050" i="1" baseline="-15873" dirty="0">
                <a:latin typeface="Arial"/>
                <a:cs typeface="Arial"/>
              </a:rPr>
              <a:t>2</a:t>
            </a:r>
            <a:r>
              <a:rPr sz="1050" i="1" spc="187" baseline="-15873" dirty="0">
                <a:latin typeface="Arial"/>
                <a:cs typeface="Arial"/>
              </a:rPr>
              <a:t> </a:t>
            </a:r>
            <a:r>
              <a:rPr sz="900" dirty="0">
                <a:latin typeface="Arial"/>
                <a:cs typeface="Arial"/>
              </a:rPr>
              <a:t>is</a:t>
            </a:r>
            <a:r>
              <a:rPr sz="900" spc="-10" dirty="0">
                <a:latin typeface="Arial"/>
                <a:cs typeface="Arial"/>
              </a:rPr>
              <a:t> </a:t>
            </a:r>
            <a:r>
              <a:rPr sz="900" dirty="0">
                <a:latin typeface="Arial"/>
                <a:cs typeface="Arial"/>
              </a:rPr>
              <a:t>sent</a:t>
            </a:r>
            <a:r>
              <a:rPr sz="900" spc="-15" dirty="0">
                <a:latin typeface="Arial"/>
                <a:cs typeface="Arial"/>
              </a:rPr>
              <a:t> </a:t>
            </a:r>
            <a:r>
              <a:rPr sz="900" dirty="0">
                <a:latin typeface="Arial"/>
                <a:cs typeface="Arial"/>
              </a:rPr>
              <a:t>at</a:t>
            </a:r>
            <a:r>
              <a:rPr sz="900" spc="-15" dirty="0">
                <a:latin typeface="Arial"/>
                <a:cs typeface="Arial"/>
              </a:rPr>
              <a:t> </a:t>
            </a:r>
            <a:r>
              <a:rPr sz="900" i="1" dirty="0">
                <a:latin typeface="Arial"/>
                <a:cs typeface="Arial"/>
              </a:rPr>
              <a:t>T</a:t>
            </a:r>
            <a:r>
              <a:rPr sz="900" i="1" spc="60" dirty="0">
                <a:latin typeface="Arial"/>
                <a:cs typeface="Arial"/>
              </a:rPr>
              <a:t> </a:t>
            </a:r>
            <a:r>
              <a:rPr sz="900" spc="185" dirty="0">
                <a:latin typeface="Arial"/>
                <a:cs typeface="Arial"/>
              </a:rPr>
              <a:t>=</a:t>
            </a:r>
            <a:r>
              <a:rPr sz="900" spc="-60" dirty="0">
                <a:latin typeface="Arial"/>
                <a:cs typeface="Arial"/>
              </a:rPr>
              <a:t> </a:t>
            </a:r>
            <a:r>
              <a:rPr sz="900" spc="-25" dirty="0">
                <a:latin typeface="Arial"/>
                <a:cs typeface="Arial"/>
              </a:rPr>
              <a:t>20.</a:t>
            </a:r>
            <a:endParaRPr sz="900">
              <a:latin typeface="Arial"/>
              <a:cs typeface="Arial"/>
            </a:endParaRPr>
          </a:p>
        </p:txBody>
      </p:sp>
      <p:grpSp>
        <p:nvGrpSpPr>
          <p:cNvPr id="9" name="object 9"/>
          <p:cNvGrpSpPr/>
          <p:nvPr/>
        </p:nvGrpSpPr>
        <p:grpSpPr>
          <a:xfrm>
            <a:off x="0" y="3348469"/>
            <a:ext cx="4608195" cy="107950"/>
            <a:chOff x="0" y="3348469"/>
            <a:chExt cx="4608195" cy="107950"/>
          </a:xfrm>
        </p:grpSpPr>
        <p:sp>
          <p:nvSpPr>
            <p:cNvPr id="10" name="object 10"/>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1" name="object 11"/>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2" name="object 12"/>
          <p:cNvSpPr txBox="1"/>
          <p:nvPr/>
        </p:nvSpPr>
        <p:spPr>
          <a:xfrm>
            <a:off x="53467" y="3349927"/>
            <a:ext cx="395605"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5" action="ppaction://hlinksldjump"/>
              </a:rPr>
              <a:t>Vector</a:t>
            </a:r>
            <a:r>
              <a:rPr sz="500" dirty="0">
                <a:latin typeface="Arial"/>
                <a:cs typeface="Arial"/>
                <a:hlinkClick r:id="rId5" action="ppaction://hlinksldjump"/>
              </a:rPr>
              <a:t> </a:t>
            </a:r>
            <a:r>
              <a:rPr sz="500" spc="-10" dirty="0">
                <a:latin typeface="Arial"/>
                <a:cs typeface="Arial"/>
                <a:hlinkClick r:id="rId5" action="ppaction://hlinksldjump"/>
              </a:rPr>
              <a:t>clocks</a:t>
            </a:r>
            <a:endParaRPr sz="500">
              <a:latin typeface="Arial"/>
              <a:cs typeface="Arial"/>
            </a:endParaRPr>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8417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Coordination</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136644" y="-1515"/>
            <a:ext cx="41846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Logical</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clocks</a:t>
            </a:r>
            <a:endParaRPr sz="500">
              <a:latin typeface="Arial"/>
              <a:cs typeface="Arial"/>
            </a:endParaRPr>
          </a:p>
        </p:txBody>
      </p:sp>
      <p:sp>
        <p:nvSpPr>
          <p:cNvPr id="5" name="object 5"/>
          <p:cNvSpPr txBox="1"/>
          <p:nvPr/>
        </p:nvSpPr>
        <p:spPr>
          <a:xfrm>
            <a:off x="95300" y="197711"/>
            <a:ext cx="3744595" cy="798195"/>
          </a:xfrm>
          <a:prstGeom prst="rect">
            <a:avLst/>
          </a:prstGeom>
        </p:spPr>
        <p:txBody>
          <a:bodyPr vert="horz" wrap="square" lIns="0" tIns="12065" rIns="0" bIns="0" rtlCol="0">
            <a:spAutoFit/>
          </a:bodyPr>
          <a:lstStyle/>
          <a:p>
            <a:pPr marL="12700">
              <a:lnSpc>
                <a:spcPct val="100000"/>
              </a:lnSpc>
              <a:spcBef>
                <a:spcPts val="95"/>
              </a:spcBef>
            </a:pPr>
            <a:r>
              <a:rPr sz="1200" spc="-20" dirty="0">
                <a:solidFill>
                  <a:srgbClr val="3333B2"/>
                </a:solidFill>
                <a:latin typeface="Arial"/>
                <a:cs typeface="Arial"/>
              </a:rPr>
              <a:t>Vector </a:t>
            </a:r>
            <a:r>
              <a:rPr sz="1200" spc="-10" dirty="0">
                <a:solidFill>
                  <a:srgbClr val="3333B2"/>
                </a:solidFill>
                <a:latin typeface="Arial"/>
                <a:cs typeface="Arial"/>
              </a:rPr>
              <a:t>clocks</a:t>
            </a:r>
            <a:endParaRPr sz="1200">
              <a:latin typeface="Arial"/>
              <a:cs typeface="Arial"/>
            </a:endParaRPr>
          </a:p>
          <a:p>
            <a:pPr marL="264160">
              <a:lnSpc>
                <a:spcPct val="100000"/>
              </a:lnSpc>
              <a:spcBef>
                <a:spcPts val="1055"/>
              </a:spcBef>
            </a:pPr>
            <a:r>
              <a:rPr sz="1000" spc="-10" dirty="0">
                <a:solidFill>
                  <a:srgbClr val="3333B2"/>
                </a:solidFill>
                <a:latin typeface="Arial"/>
                <a:cs typeface="Arial"/>
              </a:rPr>
              <a:t>Observation</a:t>
            </a:r>
            <a:endParaRPr sz="1000">
              <a:latin typeface="Arial"/>
              <a:cs typeface="Arial"/>
            </a:endParaRPr>
          </a:p>
          <a:p>
            <a:pPr marL="264160" marR="5080">
              <a:lnSpc>
                <a:spcPts val="1210"/>
              </a:lnSpc>
              <a:spcBef>
                <a:spcPts val="40"/>
              </a:spcBef>
            </a:pPr>
            <a:r>
              <a:rPr sz="900" dirty="0">
                <a:latin typeface="Arial"/>
                <a:cs typeface="Arial"/>
              </a:rPr>
              <a:t>Lamport’s</a:t>
            </a:r>
            <a:r>
              <a:rPr sz="900" spc="5" dirty="0">
                <a:latin typeface="Arial"/>
                <a:cs typeface="Arial"/>
              </a:rPr>
              <a:t> </a:t>
            </a:r>
            <a:r>
              <a:rPr sz="900" dirty="0">
                <a:latin typeface="Arial"/>
                <a:cs typeface="Arial"/>
              </a:rPr>
              <a:t>clocks</a:t>
            </a:r>
            <a:r>
              <a:rPr sz="900" spc="5" dirty="0">
                <a:latin typeface="Arial"/>
                <a:cs typeface="Arial"/>
              </a:rPr>
              <a:t> </a:t>
            </a:r>
            <a:r>
              <a:rPr sz="900" dirty="0">
                <a:latin typeface="Arial"/>
                <a:cs typeface="Arial"/>
              </a:rPr>
              <a:t>do</a:t>
            </a:r>
            <a:r>
              <a:rPr sz="900" spc="5" dirty="0">
                <a:latin typeface="Arial"/>
                <a:cs typeface="Arial"/>
              </a:rPr>
              <a:t> </a:t>
            </a:r>
            <a:r>
              <a:rPr sz="900" dirty="0">
                <a:latin typeface="Arial"/>
                <a:cs typeface="Arial"/>
              </a:rPr>
              <a:t>not</a:t>
            </a:r>
            <a:r>
              <a:rPr sz="900" spc="5" dirty="0">
                <a:latin typeface="Arial"/>
                <a:cs typeface="Arial"/>
              </a:rPr>
              <a:t> </a:t>
            </a:r>
            <a:r>
              <a:rPr sz="900" dirty="0">
                <a:latin typeface="Arial"/>
                <a:cs typeface="Arial"/>
              </a:rPr>
              <a:t>guarantee</a:t>
            </a:r>
            <a:r>
              <a:rPr sz="900" spc="5" dirty="0">
                <a:latin typeface="Arial"/>
                <a:cs typeface="Arial"/>
              </a:rPr>
              <a:t> </a:t>
            </a:r>
            <a:r>
              <a:rPr sz="900" dirty="0">
                <a:latin typeface="Arial"/>
                <a:cs typeface="Arial"/>
              </a:rPr>
              <a:t>that</a:t>
            </a:r>
            <a:r>
              <a:rPr sz="900" spc="5" dirty="0">
                <a:latin typeface="Arial"/>
                <a:cs typeface="Arial"/>
              </a:rPr>
              <a:t> </a:t>
            </a:r>
            <a:r>
              <a:rPr sz="900" dirty="0">
                <a:latin typeface="Arial"/>
                <a:cs typeface="Arial"/>
              </a:rPr>
              <a:t>if</a:t>
            </a:r>
            <a:r>
              <a:rPr sz="900" spc="10" dirty="0">
                <a:latin typeface="Arial"/>
                <a:cs typeface="Arial"/>
              </a:rPr>
              <a:t> </a:t>
            </a:r>
            <a:r>
              <a:rPr sz="900" i="1" dirty="0">
                <a:latin typeface="Arial"/>
                <a:cs typeface="Arial"/>
              </a:rPr>
              <a:t>C</a:t>
            </a:r>
            <a:r>
              <a:rPr sz="900" dirty="0">
                <a:latin typeface="Arial"/>
                <a:cs typeface="Arial"/>
              </a:rPr>
              <a:t>(</a:t>
            </a:r>
            <a:r>
              <a:rPr sz="900" i="1" dirty="0">
                <a:latin typeface="Arial"/>
                <a:cs typeface="Arial"/>
              </a:rPr>
              <a:t>a</a:t>
            </a:r>
            <a:r>
              <a:rPr sz="900" dirty="0">
                <a:latin typeface="Arial"/>
                <a:cs typeface="Arial"/>
              </a:rPr>
              <a:t>)</a:t>
            </a:r>
            <a:r>
              <a:rPr sz="900" spc="-50" dirty="0">
                <a:latin typeface="Arial"/>
                <a:cs typeface="Arial"/>
              </a:rPr>
              <a:t> </a:t>
            </a:r>
            <a:r>
              <a:rPr sz="900" i="1" spc="60" dirty="0">
                <a:latin typeface="STIX Two Text"/>
                <a:cs typeface="STIX Two Text"/>
              </a:rPr>
              <a:t>&lt;</a:t>
            </a:r>
            <a:r>
              <a:rPr sz="900" i="1" spc="5" dirty="0">
                <a:latin typeface="STIX Two Text"/>
                <a:cs typeface="STIX Two Text"/>
              </a:rPr>
              <a:t> </a:t>
            </a:r>
            <a:r>
              <a:rPr sz="900" i="1" dirty="0">
                <a:latin typeface="Arial"/>
                <a:cs typeface="Arial"/>
              </a:rPr>
              <a:t>C</a:t>
            </a:r>
            <a:r>
              <a:rPr sz="900" dirty="0">
                <a:latin typeface="Arial"/>
                <a:cs typeface="Arial"/>
              </a:rPr>
              <a:t>(</a:t>
            </a:r>
            <a:r>
              <a:rPr sz="900" i="1" dirty="0">
                <a:latin typeface="Arial"/>
                <a:cs typeface="Arial"/>
              </a:rPr>
              <a:t>b</a:t>
            </a:r>
            <a:r>
              <a:rPr sz="900" dirty="0">
                <a:latin typeface="Arial"/>
                <a:cs typeface="Arial"/>
              </a:rPr>
              <a:t>)</a:t>
            </a:r>
            <a:r>
              <a:rPr sz="900" spc="5" dirty="0">
                <a:latin typeface="Arial"/>
                <a:cs typeface="Arial"/>
              </a:rPr>
              <a:t> </a:t>
            </a:r>
            <a:r>
              <a:rPr sz="900" dirty="0">
                <a:latin typeface="Arial"/>
                <a:cs typeface="Arial"/>
              </a:rPr>
              <a:t>that</a:t>
            </a:r>
            <a:r>
              <a:rPr sz="900" spc="5" dirty="0">
                <a:latin typeface="Arial"/>
                <a:cs typeface="Arial"/>
              </a:rPr>
              <a:t> </a:t>
            </a:r>
            <a:r>
              <a:rPr sz="900" i="1" dirty="0">
                <a:latin typeface="Arial"/>
                <a:cs typeface="Arial"/>
              </a:rPr>
              <a:t>a</a:t>
            </a:r>
            <a:r>
              <a:rPr sz="900" i="1" spc="15" dirty="0">
                <a:latin typeface="Arial"/>
                <a:cs typeface="Arial"/>
              </a:rPr>
              <a:t> </a:t>
            </a:r>
            <a:r>
              <a:rPr sz="900" spc="-10" dirty="0">
                <a:solidFill>
                  <a:srgbClr val="3333B2"/>
                </a:solidFill>
                <a:latin typeface="Arial"/>
                <a:cs typeface="Arial"/>
              </a:rPr>
              <a:t>causally </a:t>
            </a:r>
            <a:r>
              <a:rPr sz="900" dirty="0">
                <a:solidFill>
                  <a:srgbClr val="3333B2"/>
                </a:solidFill>
                <a:latin typeface="Arial"/>
                <a:cs typeface="Arial"/>
              </a:rPr>
              <a:t>preceded</a:t>
            </a:r>
            <a:r>
              <a:rPr sz="900" spc="-45" dirty="0">
                <a:solidFill>
                  <a:srgbClr val="3333B2"/>
                </a:solidFill>
                <a:latin typeface="Arial"/>
                <a:cs typeface="Arial"/>
              </a:rPr>
              <a:t> </a:t>
            </a:r>
            <a:r>
              <a:rPr sz="900" i="1" spc="-25" dirty="0">
                <a:latin typeface="Arial"/>
                <a:cs typeface="Arial"/>
              </a:rPr>
              <a:t>b</a:t>
            </a:r>
            <a:r>
              <a:rPr sz="900" spc="-25" dirty="0">
                <a:latin typeface="Arial"/>
                <a:cs typeface="Arial"/>
              </a:rPr>
              <a:t>.</a:t>
            </a:r>
            <a:endParaRPr sz="900">
              <a:latin typeface="Arial"/>
              <a:cs typeface="Arial"/>
            </a:endParaRPr>
          </a:p>
        </p:txBody>
      </p:sp>
      <p:sp>
        <p:nvSpPr>
          <p:cNvPr id="6" name="object 6"/>
          <p:cNvSpPr txBox="1"/>
          <p:nvPr/>
        </p:nvSpPr>
        <p:spPr>
          <a:xfrm>
            <a:off x="292100" y="1092371"/>
            <a:ext cx="1465580" cy="527050"/>
          </a:xfrm>
          <a:prstGeom prst="rect">
            <a:avLst/>
          </a:prstGeom>
        </p:spPr>
        <p:txBody>
          <a:bodyPr vert="horz" wrap="square" lIns="0" tIns="12700" rIns="0" bIns="0" rtlCol="0">
            <a:spAutoFit/>
          </a:bodyPr>
          <a:lstStyle/>
          <a:p>
            <a:pPr marL="12700" marR="5080">
              <a:lnSpc>
                <a:spcPct val="109600"/>
              </a:lnSpc>
              <a:spcBef>
                <a:spcPts val="100"/>
              </a:spcBef>
            </a:pPr>
            <a:r>
              <a:rPr sz="1000" dirty="0">
                <a:solidFill>
                  <a:srgbClr val="3333B2"/>
                </a:solidFill>
                <a:latin typeface="Arial"/>
                <a:cs typeface="Arial"/>
              </a:rPr>
              <a:t>Concurrent</a:t>
            </a:r>
            <a:r>
              <a:rPr sz="1000" spc="-55" dirty="0">
                <a:solidFill>
                  <a:srgbClr val="3333B2"/>
                </a:solidFill>
                <a:latin typeface="Arial"/>
                <a:cs typeface="Arial"/>
              </a:rPr>
              <a:t> </a:t>
            </a:r>
            <a:r>
              <a:rPr sz="1000" spc="-10" dirty="0">
                <a:solidFill>
                  <a:srgbClr val="3333B2"/>
                </a:solidFill>
                <a:latin typeface="Arial"/>
                <a:cs typeface="Arial"/>
              </a:rPr>
              <a:t>message transmission</a:t>
            </a:r>
            <a:r>
              <a:rPr sz="1000" dirty="0">
                <a:solidFill>
                  <a:srgbClr val="3333B2"/>
                </a:solidFill>
                <a:latin typeface="Arial"/>
                <a:cs typeface="Arial"/>
              </a:rPr>
              <a:t> using</a:t>
            </a:r>
            <a:r>
              <a:rPr sz="1000" spc="10" dirty="0">
                <a:solidFill>
                  <a:srgbClr val="3333B2"/>
                </a:solidFill>
                <a:latin typeface="Arial"/>
                <a:cs typeface="Arial"/>
              </a:rPr>
              <a:t> </a:t>
            </a:r>
            <a:r>
              <a:rPr sz="1000" spc="-10" dirty="0">
                <a:solidFill>
                  <a:srgbClr val="3333B2"/>
                </a:solidFill>
                <a:latin typeface="Arial"/>
                <a:cs typeface="Arial"/>
              </a:rPr>
              <a:t>logical clocks</a:t>
            </a:r>
            <a:endParaRPr sz="1000">
              <a:latin typeface="Arial"/>
              <a:cs typeface="Arial"/>
            </a:endParaRPr>
          </a:p>
        </p:txBody>
      </p:sp>
      <p:pic>
        <p:nvPicPr>
          <p:cNvPr id="7" name="object 7"/>
          <p:cNvPicPr/>
          <p:nvPr/>
        </p:nvPicPr>
        <p:blipFill>
          <a:blip r:embed="rId4" cstate="print"/>
          <a:stretch>
            <a:fillRect/>
          </a:stretch>
        </p:blipFill>
        <p:spPr>
          <a:xfrm>
            <a:off x="532066" y="1705942"/>
            <a:ext cx="1295062" cy="1358976"/>
          </a:xfrm>
          <a:prstGeom prst="rect">
            <a:avLst/>
          </a:prstGeom>
        </p:spPr>
      </p:pic>
      <p:sp>
        <p:nvSpPr>
          <p:cNvPr id="8" name="object 8"/>
          <p:cNvSpPr txBox="1"/>
          <p:nvPr/>
        </p:nvSpPr>
        <p:spPr>
          <a:xfrm>
            <a:off x="2315743" y="1092262"/>
            <a:ext cx="1864360" cy="1055370"/>
          </a:xfrm>
          <a:prstGeom prst="rect">
            <a:avLst/>
          </a:prstGeom>
        </p:spPr>
        <p:txBody>
          <a:bodyPr vert="horz" wrap="square" lIns="0" tIns="27305" rIns="0" bIns="0" rtlCol="0">
            <a:spAutoFit/>
          </a:bodyPr>
          <a:lstStyle/>
          <a:p>
            <a:pPr marL="43180">
              <a:lnSpc>
                <a:spcPct val="100000"/>
              </a:lnSpc>
              <a:spcBef>
                <a:spcPts val="215"/>
              </a:spcBef>
            </a:pPr>
            <a:r>
              <a:rPr sz="1000" spc="-10" dirty="0">
                <a:solidFill>
                  <a:srgbClr val="3333B2"/>
                </a:solidFill>
                <a:latin typeface="Arial"/>
                <a:cs typeface="Arial"/>
              </a:rPr>
              <a:t>Observation</a:t>
            </a:r>
            <a:endParaRPr sz="1000">
              <a:latin typeface="Arial"/>
              <a:cs typeface="Arial"/>
            </a:endParaRPr>
          </a:p>
          <a:p>
            <a:pPr marL="43180" marR="91440">
              <a:lnSpc>
                <a:spcPts val="1210"/>
              </a:lnSpc>
              <a:spcBef>
                <a:spcPts val="35"/>
              </a:spcBef>
            </a:pPr>
            <a:r>
              <a:rPr sz="900" dirty="0">
                <a:latin typeface="Arial"/>
                <a:cs typeface="Arial"/>
              </a:rPr>
              <a:t>Event</a:t>
            </a:r>
            <a:r>
              <a:rPr sz="900" spc="-15" dirty="0">
                <a:latin typeface="Arial"/>
                <a:cs typeface="Arial"/>
              </a:rPr>
              <a:t> </a:t>
            </a:r>
            <a:r>
              <a:rPr sz="900" i="1" dirty="0">
                <a:latin typeface="Arial"/>
                <a:cs typeface="Arial"/>
              </a:rPr>
              <a:t>a</a:t>
            </a:r>
            <a:r>
              <a:rPr sz="900" dirty="0">
                <a:latin typeface="Arial"/>
                <a:cs typeface="Arial"/>
              </a:rPr>
              <a:t>:</a:t>
            </a:r>
            <a:r>
              <a:rPr sz="900" spc="45" dirty="0">
                <a:latin typeface="Arial"/>
                <a:cs typeface="Arial"/>
              </a:rPr>
              <a:t> </a:t>
            </a:r>
            <a:r>
              <a:rPr sz="900" i="1" dirty="0">
                <a:latin typeface="Arial"/>
                <a:cs typeface="Arial"/>
              </a:rPr>
              <a:t>m</a:t>
            </a:r>
            <a:r>
              <a:rPr sz="1050" i="1" baseline="-15873" dirty="0">
                <a:latin typeface="Arial"/>
                <a:cs typeface="Arial"/>
              </a:rPr>
              <a:t>1</a:t>
            </a:r>
            <a:r>
              <a:rPr sz="1050" i="1" spc="142" baseline="-15873" dirty="0">
                <a:latin typeface="Arial"/>
                <a:cs typeface="Arial"/>
              </a:rPr>
              <a:t> </a:t>
            </a:r>
            <a:r>
              <a:rPr sz="900" dirty="0">
                <a:latin typeface="Arial"/>
                <a:cs typeface="Arial"/>
              </a:rPr>
              <a:t>is</a:t>
            </a:r>
            <a:r>
              <a:rPr sz="900" spc="-15" dirty="0">
                <a:latin typeface="Arial"/>
                <a:cs typeface="Arial"/>
              </a:rPr>
              <a:t> </a:t>
            </a:r>
            <a:r>
              <a:rPr sz="900" spc="-10" dirty="0">
                <a:latin typeface="Arial"/>
                <a:cs typeface="Arial"/>
              </a:rPr>
              <a:t>received </a:t>
            </a:r>
            <a:r>
              <a:rPr sz="900" dirty="0">
                <a:latin typeface="Arial"/>
                <a:cs typeface="Arial"/>
              </a:rPr>
              <a:t>at</a:t>
            </a:r>
            <a:r>
              <a:rPr sz="900" spc="-15" dirty="0">
                <a:latin typeface="Arial"/>
                <a:cs typeface="Arial"/>
              </a:rPr>
              <a:t> </a:t>
            </a:r>
            <a:r>
              <a:rPr sz="900" i="1" dirty="0">
                <a:latin typeface="Arial"/>
                <a:cs typeface="Arial"/>
              </a:rPr>
              <a:t>T</a:t>
            </a:r>
            <a:r>
              <a:rPr sz="900" i="1" spc="60" dirty="0">
                <a:latin typeface="Arial"/>
                <a:cs typeface="Arial"/>
              </a:rPr>
              <a:t> </a:t>
            </a:r>
            <a:r>
              <a:rPr sz="900" spc="185" dirty="0">
                <a:latin typeface="Arial"/>
                <a:cs typeface="Arial"/>
              </a:rPr>
              <a:t>=</a:t>
            </a:r>
            <a:r>
              <a:rPr sz="900" spc="-60" dirty="0">
                <a:latin typeface="Arial"/>
                <a:cs typeface="Arial"/>
              </a:rPr>
              <a:t> </a:t>
            </a:r>
            <a:r>
              <a:rPr sz="900" spc="-25" dirty="0">
                <a:latin typeface="Arial"/>
                <a:cs typeface="Arial"/>
              </a:rPr>
              <a:t>16; </a:t>
            </a:r>
            <a:r>
              <a:rPr sz="900" dirty="0">
                <a:latin typeface="Arial"/>
                <a:cs typeface="Arial"/>
              </a:rPr>
              <a:t>Event</a:t>
            </a:r>
            <a:r>
              <a:rPr sz="900" spc="-15" dirty="0">
                <a:latin typeface="Arial"/>
                <a:cs typeface="Arial"/>
              </a:rPr>
              <a:t> </a:t>
            </a:r>
            <a:r>
              <a:rPr sz="900" i="1" dirty="0">
                <a:latin typeface="Arial"/>
                <a:cs typeface="Arial"/>
              </a:rPr>
              <a:t>b</a:t>
            </a:r>
            <a:r>
              <a:rPr sz="900" dirty="0">
                <a:latin typeface="Arial"/>
                <a:cs typeface="Arial"/>
              </a:rPr>
              <a:t>:</a:t>
            </a:r>
            <a:r>
              <a:rPr sz="900" spc="45" dirty="0">
                <a:latin typeface="Arial"/>
                <a:cs typeface="Arial"/>
              </a:rPr>
              <a:t> </a:t>
            </a:r>
            <a:r>
              <a:rPr sz="900" i="1" dirty="0">
                <a:latin typeface="Arial"/>
                <a:cs typeface="Arial"/>
              </a:rPr>
              <a:t>m</a:t>
            </a:r>
            <a:r>
              <a:rPr sz="1050" i="1" baseline="-15873" dirty="0">
                <a:latin typeface="Arial"/>
                <a:cs typeface="Arial"/>
              </a:rPr>
              <a:t>2</a:t>
            </a:r>
            <a:r>
              <a:rPr sz="1050" i="1" spc="187" baseline="-15873" dirty="0">
                <a:latin typeface="Arial"/>
                <a:cs typeface="Arial"/>
              </a:rPr>
              <a:t> </a:t>
            </a:r>
            <a:r>
              <a:rPr sz="900" dirty="0">
                <a:latin typeface="Arial"/>
                <a:cs typeface="Arial"/>
              </a:rPr>
              <a:t>is</a:t>
            </a:r>
            <a:r>
              <a:rPr sz="900" spc="-10" dirty="0">
                <a:latin typeface="Arial"/>
                <a:cs typeface="Arial"/>
              </a:rPr>
              <a:t> </a:t>
            </a:r>
            <a:r>
              <a:rPr sz="900" dirty="0">
                <a:latin typeface="Arial"/>
                <a:cs typeface="Arial"/>
              </a:rPr>
              <a:t>sent</a:t>
            </a:r>
            <a:r>
              <a:rPr sz="900" spc="-15" dirty="0">
                <a:latin typeface="Arial"/>
                <a:cs typeface="Arial"/>
              </a:rPr>
              <a:t> </a:t>
            </a:r>
            <a:r>
              <a:rPr sz="900" dirty="0">
                <a:latin typeface="Arial"/>
                <a:cs typeface="Arial"/>
              </a:rPr>
              <a:t>at</a:t>
            </a:r>
            <a:r>
              <a:rPr sz="900" spc="-15" dirty="0">
                <a:latin typeface="Arial"/>
                <a:cs typeface="Arial"/>
              </a:rPr>
              <a:t> </a:t>
            </a:r>
            <a:r>
              <a:rPr sz="900" i="1" dirty="0">
                <a:latin typeface="Arial"/>
                <a:cs typeface="Arial"/>
              </a:rPr>
              <a:t>T</a:t>
            </a:r>
            <a:r>
              <a:rPr sz="900" i="1" spc="60" dirty="0">
                <a:latin typeface="Arial"/>
                <a:cs typeface="Arial"/>
              </a:rPr>
              <a:t> </a:t>
            </a:r>
            <a:r>
              <a:rPr sz="900" spc="185" dirty="0">
                <a:latin typeface="Arial"/>
                <a:cs typeface="Arial"/>
              </a:rPr>
              <a:t>=</a:t>
            </a:r>
            <a:r>
              <a:rPr sz="900" spc="-60" dirty="0">
                <a:latin typeface="Arial"/>
                <a:cs typeface="Arial"/>
              </a:rPr>
              <a:t> </a:t>
            </a:r>
            <a:r>
              <a:rPr sz="900" spc="-25" dirty="0">
                <a:latin typeface="Arial"/>
                <a:cs typeface="Arial"/>
              </a:rPr>
              <a:t>20.</a:t>
            </a:r>
            <a:endParaRPr sz="900">
              <a:latin typeface="Arial"/>
              <a:cs typeface="Arial"/>
            </a:endParaRPr>
          </a:p>
          <a:p>
            <a:pPr marL="43180">
              <a:lnSpc>
                <a:spcPct val="100000"/>
              </a:lnSpc>
              <a:spcBef>
                <a:spcPts val="750"/>
              </a:spcBef>
            </a:pPr>
            <a:r>
              <a:rPr sz="1000" spc="-20" dirty="0">
                <a:solidFill>
                  <a:srgbClr val="C80000"/>
                </a:solidFill>
                <a:latin typeface="Arial"/>
                <a:cs typeface="Arial"/>
              </a:rPr>
              <a:t>Note</a:t>
            </a:r>
            <a:endParaRPr sz="1000">
              <a:latin typeface="Arial"/>
              <a:cs typeface="Arial"/>
            </a:endParaRPr>
          </a:p>
          <a:p>
            <a:pPr marL="43180" marR="30480" indent="-5715">
              <a:lnSpc>
                <a:spcPts val="1210"/>
              </a:lnSpc>
              <a:spcBef>
                <a:spcPts val="35"/>
              </a:spcBef>
            </a:pPr>
            <a:r>
              <a:rPr sz="900" dirty="0">
                <a:latin typeface="Arial"/>
                <a:cs typeface="Arial"/>
              </a:rPr>
              <a:t>We</a:t>
            </a:r>
            <a:r>
              <a:rPr sz="900" spc="-35" dirty="0">
                <a:latin typeface="Arial"/>
                <a:cs typeface="Arial"/>
              </a:rPr>
              <a:t> </a:t>
            </a:r>
            <a:r>
              <a:rPr sz="900" dirty="0">
                <a:solidFill>
                  <a:srgbClr val="3333B2"/>
                </a:solidFill>
                <a:latin typeface="Arial"/>
                <a:cs typeface="Arial"/>
              </a:rPr>
              <a:t>cannot</a:t>
            </a:r>
            <a:r>
              <a:rPr sz="900" spc="-30" dirty="0">
                <a:solidFill>
                  <a:srgbClr val="3333B2"/>
                </a:solidFill>
                <a:latin typeface="Arial"/>
                <a:cs typeface="Arial"/>
              </a:rPr>
              <a:t> </a:t>
            </a:r>
            <a:r>
              <a:rPr sz="900" dirty="0">
                <a:latin typeface="Arial"/>
                <a:cs typeface="Arial"/>
              </a:rPr>
              <a:t>conclude</a:t>
            </a:r>
            <a:r>
              <a:rPr sz="900" spc="-30" dirty="0">
                <a:latin typeface="Arial"/>
                <a:cs typeface="Arial"/>
              </a:rPr>
              <a:t> </a:t>
            </a:r>
            <a:r>
              <a:rPr sz="900" dirty="0">
                <a:latin typeface="Arial"/>
                <a:cs typeface="Arial"/>
              </a:rPr>
              <a:t>that</a:t>
            </a:r>
            <a:r>
              <a:rPr sz="900" spc="-30" dirty="0">
                <a:latin typeface="Arial"/>
                <a:cs typeface="Arial"/>
              </a:rPr>
              <a:t> </a:t>
            </a:r>
            <a:r>
              <a:rPr sz="900" i="1" dirty="0">
                <a:latin typeface="Arial"/>
                <a:cs typeface="Arial"/>
              </a:rPr>
              <a:t>a</a:t>
            </a:r>
            <a:r>
              <a:rPr sz="900" i="1" spc="-25" dirty="0">
                <a:latin typeface="Arial"/>
                <a:cs typeface="Arial"/>
              </a:rPr>
              <a:t> </a:t>
            </a:r>
            <a:r>
              <a:rPr sz="900" spc="-10" dirty="0">
                <a:latin typeface="Arial"/>
                <a:cs typeface="Arial"/>
              </a:rPr>
              <a:t>causally </a:t>
            </a:r>
            <a:r>
              <a:rPr sz="900" dirty="0">
                <a:latin typeface="Arial"/>
                <a:cs typeface="Arial"/>
              </a:rPr>
              <a:t>precedes</a:t>
            </a:r>
            <a:r>
              <a:rPr sz="900" spc="-45" dirty="0">
                <a:latin typeface="Arial"/>
                <a:cs typeface="Arial"/>
              </a:rPr>
              <a:t> </a:t>
            </a:r>
            <a:r>
              <a:rPr sz="900" i="1" spc="-25" dirty="0">
                <a:latin typeface="Arial"/>
                <a:cs typeface="Arial"/>
              </a:rPr>
              <a:t>b</a:t>
            </a:r>
            <a:r>
              <a:rPr sz="900" spc="-25" dirty="0">
                <a:latin typeface="Arial"/>
                <a:cs typeface="Arial"/>
              </a:rPr>
              <a:t>.</a:t>
            </a:r>
            <a:endParaRPr sz="900">
              <a:latin typeface="Arial"/>
              <a:cs typeface="Arial"/>
            </a:endParaRPr>
          </a:p>
        </p:txBody>
      </p:sp>
      <p:grpSp>
        <p:nvGrpSpPr>
          <p:cNvPr id="9" name="object 9"/>
          <p:cNvGrpSpPr/>
          <p:nvPr/>
        </p:nvGrpSpPr>
        <p:grpSpPr>
          <a:xfrm>
            <a:off x="0" y="3348469"/>
            <a:ext cx="4608195" cy="107950"/>
            <a:chOff x="0" y="3348469"/>
            <a:chExt cx="4608195" cy="107950"/>
          </a:xfrm>
        </p:grpSpPr>
        <p:sp>
          <p:nvSpPr>
            <p:cNvPr id="10" name="object 10"/>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1" name="object 11"/>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2" name="object 12"/>
          <p:cNvSpPr txBox="1"/>
          <p:nvPr/>
        </p:nvSpPr>
        <p:spPr>
          <a:xfrm>
            <a:off x="53467" y="3349927"/>
            <a:ext cx="395605"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5" action="ppaction://hlinksldjump"/>
              </a:rPr>
              <a:t>Vector</a:t>
            </a:r>
            <a:r>
              <a:rPr sz="500" dirty="0">
                <a:latin typeface="Arial"/>
                <a:cs typeface="Arial"/>
                <a:hlinkClick r:id="rId5" action="ppaction://hlinksldjump"/>
              </a:rPr>
              <a:t> </a:t>
            </a:r>
            <a:r>
              <a:rPr sz="500" spc="-10" dirty="0">
                <a:latin typeface="Arial"/>
                <a:cs typeface="Arial"/>
                <a:hlinkClick r:id="rId5" action="ppaction://hlinksldjump"/>
              </a:rPr>
              <a:t>clocks</a:t>
            </a:r>
            <a:endParaRPr sz="500">
              <a:latin typeface="Arial"/>
              <a:cs typeface="Arial"/>
            </a:endParaRPr>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8417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3" action="ppaction://hlinksldjump"/>
              </a:rPr>
              <a:t>Coordination</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136644" y="-1515"/>
            <a:ext cx="41846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4" action="ppaction://hlinksldjump"/>
              </a:rPr>
              <a:t>Logical</a:t>
            </a:r>
            <a:r>
              <a:rPr sz="500" spc="-25" dirty="0">
                <a:solidFill>
                  <a:srgbClr val="FFFFFF"/>
                </a:solidFill>
                <a:latin typeface="Arial"/>
                <a:cs typeface="Arial"/>
                <a:hlinkClick r:id="rId4" action="ppaction://hlinksldjump"/>
              </a:rPr>
              <a:t> </a:t>
            </a:r>
            <a:r>
              <a:rPr sz="500" spc="-10" dirty="0">
                <a:solidFill>
                  <a:srgbClr val="FFFFFF"/>
                </a:solidFill>
                <a:latin typeface="Arial"/>
                <a:cs typeface="Arial"/>
                <a:hlinkClick r:id="rId4" action="ppaction://hlinksldjump"/>
              </a:rPr>
              <a:t>clocks</a:t>
            </a:r>
            <a:endParaRPr sz="500">
              <a:latin typeface="Arial"/>
              <a:cs typeface="Arial"/>
            </a:endParaRPr>
          </a:p>
        </p:txBody>
      </p:sp>
      <p:sp>
        <p:nvSpPr>
          <p:cNvPr id="5" name="object 5"/>
          <p:cNvSpPr txBox="1"/>
          <p:nvPr/>
        </p:nvSpPr>
        <p:spPr>
          <a:xfrm>
            <a:off x="57200" y="197711"/>
            <a:ext cx="4185920" cy="1969770"/>
          </a:xfrm>
          <a:prstGeom prst="rect">
            <a:avLst/>
          </a:prstGeom>
        </p:spPr>
        <p:txBody>
          <a:bodyPr vert="horz" wrap="square" lIns="0" tIns="12065" rIns="0" bIns="0" rtlCol="0">
            <a:spAutoFit/>
          </a:bodyPr>
          <a:lstStyle/>
          <a:p>
            <a:pPr marL="50800">
              <a:lnSpc>
                <a:spcPct val="100000"/>
              </a:lnSpc>
              <a:spcBef>
                <a:spcPts val="95"/>
              </a:spcBef>
            </a:pPr>
            <a:r>
              <a:rPr sz="1200" dirty="0">
                <a:solidFill>
                  <a:srgbClr val="3333B2"/>
                </a:solidFill>
                <a:latin typeface="Arial"/>
                <a:cs typeface="Arial"/>
              </a:rPr>
              <a:t>Causal</a:t>
            </a:r>
            <a:r>
              <a:rPr sz="1200" spc="-45" dirty="0">
                <a:solidFill>
                  <a:srgbClr val="3333B2"/>
                </a:solidFill>
                <a:latin typeface="Arial"/>
                <a:cs typeface="Arial"/>
              </a:rPr>
              <a:t> </a:t>
            </a:r>
            <a:r>
              <a:rPr sz="1200" spc="-10" dirty="0">
                <a:solidFill>
                  <a:srgbClr val="3333B2"/>
                </a:solidFill>
                <a:latin typeface="Arial"/>
                <a:cs typeface="Arial"/>
              </a:rPr>
              <a:t>dependency</a:t>
            </a:r>
            <a:endParaRPr sz="1200">
              <a:latin typeface="Arial"/>
              <a:cs typeface="Arial"/>
            </a:endParaRPr>
          </a:p>
          <a:p>
            <a:pPr marL="302260">
              <a:lnSpc>
                <a:spcPct val="100000"/>
              </a:lnSpc>
              <a:spcBef>
                <a:spcPts val="1055"/>
              </a:spcBef>
            </a:pPr>
            <a:r>
              <a:rPr sz="1000" spc="-10" dirty="0">
                <a:solidFill>
                  <a:srgbClr val="3333B2"/>
                </a:solidFill>
                <a:latin typeface="Arial"/>
                <a:cs typeface="Arial"/>
              </a:rPr>
              <a:t>Definition</a:t>
            </a:r>
            <a:endParaRPr sz="1000">
              <a:latin typeface="Arial"/>
              <a:cs typeface="Arial"/>
            </a:endParaRPr>
          </a:p>
          <a:p>
            <a:pPr marL="297180">
              <a:lnSpc>
                <a:spcPct val="100000"/>
              </a:lnSpc>
              <a:spcBef>
                <a:spcPts val="105"/>
              </a:spcBef>
            </a:pPr>
            <a:r>
              <a:rPr sz="900" dirty="0">
                <a:latin typeface="Arial"/>
                <a:cs typeface="Arial"/>
              </a:rPr>
              <a:t>We</a:t>
            </a:r>
            <a:r>
              <a:rPr sz="900" spc="-5" dirty="0">
                <a:latin typeface="Arial"/>
                <a:cs typeface="Arial"/>
              </a:rPr>
              <a:t> </a:t>
            </a:r>
            <a:r>
              <a:rPr sz="900" dirty="0">
                <a:latin typeface="Arial"/>
                <a:cs typeface="Arial"/>
              </a:rPr>
              <a:t>say that </a:t>
            </a:r>
            <a:r>
              <a:rPr sz="900" i="1" dirty="0">
                <a:latin typeface="Arial"/>
                <a:cs typeface="Arial"/>
              </a:rPr>
              <a:t>b</a:t>
            </a:r>
            <a:r>
              <a:rPr sz="900" i="1" spc="20" dirty="0">
                <a:latin typeface="Arial"/>
                <a:cs typeface="Arial"/>
              </a:rPr>
              <a:t> </a:t>
            </a:r>
            <a:r>
              <a:rPr sz="900" dirty="0">
                <a:latin typeface="Arial"/>
                <a:cs typeface="Arial"/>
              </a:rPr>
              <a:t>may causally depend</a:t>
            </a:r>
            <a:r>
              <a:rPr sz="900" spc="-5" dirty="0">
                <a:latin typeface="Arial"/>
                <a:cs typeface="Arial"/>
              </a:rPr>
              <a:t> </a:t>
            </a:r>
            <a:r>
              <a:rPr sz="900" dirty="0">
                <a:latin typeface="Arial"/>
                <a:cs typeface="Arial"/>
              </a:rPr>
              <a:t>on </a:t>
            </a:r>
            <a:r>
              <a:rPr sz="900" i="1" dirty="0">
                <a:latin typeface="Arial"/>
                <a:cs typeface="Arial"/>
              </a:rPr>
              <a:t>a</a:t>
            </a:r>
            <a:r>
              <a:rPr sz="900" i="1" spc="5" dirty="0">
                <a:latin typeface="Arial"/>
                <a:cs typeface="Arial"/>
              </a:rPr>
              <a:t> </a:t>
            </a:r>
            <a:r>
              <a:rPr sz="900" dirty="0">
                <a:latin typeface="Arial"/>
                <a:cs typeface="Arial"/>
              </a:rPr>
              <a:t>if</a:t>
            </a:r>
            <a:r>
              <a:rPr sz="900" spc="-5" dirty="0">
                <a:latin typeface="Arial"/>
                <a:cs typeface="Arial"/>
              </a:rPr>
              <a:t> </a:t>
            </a:r>
            <a:r>
              <a:rPr sz="900" i="1" dirty="0">
                <a:latin typeface="Arial"/>
                <a:cs typeface="Arial"/>
              </a:rPr>
              <a:t>ts</a:t>
            </a:r>
            <a:r>
              <a:rPr sz="900" dirty="0">
                <a:latin typeface="Arial"/>
                <a:cs typeface="Arial"/>
              </a:rPr>
              <a:t>(</a:t>
            </a:r>
            <a:r>
              <a:rPr sz="900" i="1" dirty="0">
                <a:latin typeface="Arial"/>
                <a:cs typeface="Arial"/>
              </a:rPr>
              <a:t>a</a:t>
            </a:r>
            <a:r>
              <a:rPr sz="900" dirty="0">
                <a:latin typeface="Arial"/>
                <a:cs typeface="Arial"/>
              </a:rPr>
              <a:t>)</a:t>
            </a:r>
            <a:r>
              <a:rPr sz="900" spc="-50" dirty="0">
                <a:latin typeface="Arial"/>
                <a:cs typeface="Arial"/>
              </a:rPr>
              <a:t> </a:t>
            </a:r>
            <a:r>
              <a:rPr sz="900" i="1" spc="60" dirty="0">
                <a:latin typeface="STIX Two Text"/>
                <a:cs typeface="STIX Two Text"/>
              </a:rPr>
              <a:t>&lt;</a:t>
            </a:r>
            <a:r>
              <a:rPr sz="900" i="1" spc="-5" dirty="0">
                <a:latin typeface="STIX Two Text"/>
                <a:cs typeface="STIX Two Text"/>
              </a:rPr>
              <a:t> </a:t>
            </a:r>
            <a:r>
              <a:rPr sz="900" i="1" dirty="0">
                <a:latin typeface="Arial"/>
                <a:cs typeface="Arial"/>
              </a:rPr>
              <a:t>ts</a:t>
            </a:r>
            <a:r>
              <a:rPr sz="900" dirty="0">
                <a:latin typeface="Arial"/>
                <a:cs typeface="Arial"/>
              </a:rPr>
              <a:t>(</a:t>
            </a:r>
            <a:r>
              <a:rPr sz="900" i="1" dirty="0">
                <a:latin typeface="Arial"/>
                <a:cs typeface="Arial"/>
              </a:rPr>
              <a:t>b</a:t>
            </a:r>
            <a:r>
              <a:rPr sz="900" dirty="0">
                <a:latin typeface="Arial"/>
                <a:cs typeface="Arial"/>
              </a:rPr>
              <a:t>), </a:t>
            </a:r>
            <a:r>
              <a:rPr sz="900" spc="-10" dirty="0">
                <a:latin typeface="Arial"/>
                <a:cs typeface="Arial"/>
              </a:rPr>
              <a:t>with:</a:t>
            </a:r>
            <a:endParaRPr sz="900">
              <a:latin typeface="Arial"/>
              <a:cs typeface="Arial"/>
            </a:endParaRPr>
          </a:p>
          <a:p>
            <a:pPr marL="555625" indent="-120650">
              <a:lnSpc>
                <a:spcPct val="100000"/>
              </a:lnSpc>
              <a:spcBef>
                <a:spcPts val="525"/>
              </a:spcBef>
              <a:buClr>
                <a:srgbClr val="3333B2"/>
              </a:buClr>
              <a:buFont typeface="Menlo"/>
              <a:buChar char="•"/>
              <a:tabLst>
                <a:tab pos="556260" algn="l"/>
              </a:tabLst>
            </a:pPr>
            <a:r>
              <a:rPr sz="900" dirty="0">
                <a:latin typeface="Arial"/>
                <a:cs typeface="Arial"/>
              </a:rPr>
              <a:t>for</a:t>
            </a:r>
            <a:r>
              <a:rPr sz="900" spc="35" dirty="0">
                <a:latin typeface="Arial"/>
                <a:cs typeface="Arial"/>
              </a:rPr>
              <a:t> </a:t>
            </a:r>
            <a:r>
              <a:rPr sz="900" dirty="0">
                <a:latin typeface="Arial"/>
                <a:cs typeface="Arial"/>
              </a:rPr>
              <a:t>all</a:t>
            </a:r>
            <a:r>
              <a:rPr sz="900" spc="40" dirty="0">
                <a:latin typeface="Arial"/>
                <a:cs typeface="Arial"/>
              </a:rPr>
              <a:t> </a:t>
            </a:r>
            <a:r>
              <a:rPr sz="900" i="1" spc="-10" dirty="0">
                <a:latin typeface="Arial"/>
                <a:cs typeface="Arial"/>
              </a:rPr>
              <a:t>k</a:t>
            </a:r>
            <a:r>
              <a:rPr sz="900" i="1" spc="-150" dirty="0">
                <a:latin typeface="Arial"/>
                <a:cs typeface="Arial"/>
              </a:rPr>
              <a:t> </a:t>
            </a:r>
            <a:r>
              <a:rPr sz="900" dirty="0">
                <a:latin typeface="Arial"/>
                <a:cs typeface="Arial"/>
              </a:rPr>
              <a:t>,</a:t>
            </a:r>
            <a:r>
              <a:rPr sz="900" spc="35" dirty="0">
                <a:latin typeface="Arial"/>
                <a:cs typeface="Arial"/>
              </a:rPr>
              <a:t> </a:t>
            </a:r>
            <a:r>
              <a:rPr sz="900" i="1" dirty="0">
                <a:latin typeface="Arial"/>
                <a:cs typeface="Arial"/>
              </a:rPr>
              <a:t>ts</a:t>
            </a:r>
            <a:r>
              <a:rPr sz="900" dirty="0">
                <a:latin typeface="Arial"/>
                <a:cs typeface="Arial"/>
              </a:rPr>
              <a:t>(</a:t>
            </a:r>
            <a:r>
              <a:rPr sz="900" i="1" dirty="0">
                <a:latin typeface="Arial"/>
                <a:cs typeface="Arial"/>
              </a:rPr>
              <a:t>a</a:t>
            </a:r>
            <a:r>
              <a:rPr sz="900" dirty="0">
                <a:latin typeface="Arial"/>
                <a:cs typeface="Arial"/>
              </a:rPr>
              <a:t>)[</a:t>
            </a:r>
            <a:r>
              <a:rPr sz="900" i="1" dirty="0">
                <a:latin typeface="Arial"/>
                <a:cs typeface="Arial"/>
              </a:rPr>
              <a:t>k</a:t>
            </a:r>
            <a:r>
              <a:rPr sz="900" i="1" spc="-150" dirty="0">
                <a:latin typeface="Arial"/>
                <a:cs typeface="Arial"/>
              </a:rPr>
              <a:t> </a:t>
            </a:r>
            <a:r>
              <a:rPr sz="900" dirty="0">
                <a:latin typeface="Arial"/>
                <a:cs typeface="Arial"/>
              </a:rPr>
              <a:t>]</a:t>
            </a:r>
            <a:r>
              <a:rPr sz="900" spc="-20" dirty="0">
                <a:latin typeface="Arial"/>
                <a:cs typeface="Arial"/>
              </a:rPr>
              <a:t> </a:t>
            </a:r>
            <a:r>
              <a:rPr sz="900" i="1" spc="150" dirty="0">
                <a:latin typeface="Menlo"/>
                <a:cs typeface="Menlo"/>
              </a:rPr>
              <a:t>≤</a:t>
            </a:r>
            <a:r>
              <a:rPr sz="900" i="1" spc="-310" dirty="0">
                <a:latin typeface="Menlo"/>
                <a:cs typeface="Menlo"/>
              </a:rPr>
              <a:t> </a:t>
            </a:r>
            <a:r>
              <a:rPr sz="900" i="1" dirty="0">
                <a:latin typeface="Arial"/>
                <a:cs typeface="Arial"/>
              </a:rPr>
              <a:t>ts</a:t>
            </a:r>
            <a:r>
              <a:rPr sz="900" dirty="0">
                <a:latin typeface="Arial"/>
                <a:cs typeface="Arial"/>
              </a:rPr>
              <a:t>(</a:t>
            </a:r>
            <a:r>
              <a:rPr sz="900" i="1" dirty="0">
                <a:latin typeface="Arial"/>
                <a:cs typeface="Arial"/>
              </a:rPr>
              <a:t>b</a:t>
            </a:r>
            <a:r>
              <a:rPr sz="900" dirty="0">
                <a:latin typeface="Arial"/>
                <a:cs typeface="Arial"/>
              </a:rPr>
              <a:t>)[</a:t>
            </a:r>
            <a:r>
              <a:rPr sz="900" i="1" dirty="0">
                <a:latin typeface="Arial"/>
                <a:cs typeface="Arial"/>
              </a:rPr>
              <a:t>k</a:t>
            </a:r>
            <a:r>
              <a:rPr sz="900" i="1" spc="-150" dirty="0">
                <a:latin typeface="Arial"/>
                <a:cs typeface="Arial"/>
              </a:rPr>
              <a:t> </a:t>
            </a:r>
            <a:r>
              <a:rPr sz="900" dirty="0">
                <a:latin typeface="Arial"/>
                <a:cs typeface="Arial"/>
              </a:rPr>
              <a:t>]</a:t>
            </a:r>
            <a:r>
              <a:rPr sz="900" spc="35" dirty="0">
                <a:latin typeface="Arial"/>
                <a:cs typeface="Arial"/>
              </a:rPr>
              <a:t> </a:t>
            </a:r>
            <a:r>
              <a:rPr sz="900" spc="-25" dirty="0">
                <a:latin typeface="Arial"/>
                <a:cs typeface="Arial"/>
              </a:rPr>
              <a:t>and</a:t>
            </a:r>
            <a:endParaRPr sz="900">
              <a:latin typeface="Arial"/>
              <a:cs typeface="Arial"/>
            </a:endParaRPr>
          </a:p>
          <a:p>
            <a:pPr marL="555625" indent="-120650">
              <a:lnSpc>
                <a:spcPct val="100000"/>
              </a:lnSpc>
              <a:spcBef>
                <a:spcPts val="525"/>
              </a:spcBef>
              <a:buClr>
                <a:srgbClr val="3333B2"/>
              </a:buClr>
              <a:buFont typeface="Menlo"/>
              <a:buChar char="•"/>
              <a:tabLst>
                <a:tab pos="556260" algn="l"/>
              </a:tabLst>
            </a:pPr>
            <a:r>
              <a:rPr sz="900" dirty="0">
                <a:latin typeface="Arial"/>
                <a:cs typeface="Arial"/>
              </a:rPr>
              <a:t>there</a:t>
            </a:r>
            <a:r>
              <a:rPr sz="900" spc="-45" dirty="0">
                <a:latin typeface="Arial"/>
                <a:cs typeface="Arial"/>
              </a:rPr>
              <a:t> </a:t>
            </a:r>
            <a:r>
              <a:rPr sz="900" dirty="0">
                <a:latin typeface="Arial"/>
                <a:cs typeface="Arial"/>
              </a:rPr>
              <a:t>exists</a:t>
            </a:r>
            <a:r>
              <a:rPr sz="900" spc="-20" dirty="0">
                <a:latin typeface="Arial"/>
                <a:cs typeface="Arial"/>
              </a:rPr>
              <a:t> </a:t>
            </a:r>
            <a:r>
              <a:rPr sz="900" dirty="0">
                <a:latin typeface="Arial"/>
                <a:cs typeface="Arial"/>
              </a:rPr>
              <a:t>at</a:t>
            </a:r>
            <a:r>
              <a:rPr sz="900" spc="-20" dirty="0">
                <a:latin typeface="Arial"/>
                <a:cs typeface="Arial"/>
              </a:rPr>
              <a:t> </a:t>
            </a:r>
            <a:r>
              <a:rPr sz="900" dirty="0">
                <a:latin typeface="Arial"/>
                <a:cs typeface="Arial"/>
              </a:rPr>
              <a:t>least</a:t>
            </a:r>
            <a:r>
              <a:rPr sz="900" spc="-20" dirty="0">
                <a:latin typeface="Arial"/>
                <a:cs typeface="Arial"/>
              </a:rPr>
              <a:t> </a:t>
            </a:r>
            <a:r>
              <a:rPr sz="900" dirty="0">
                <a:latin typeface="Arial"/>
                <a:cs typeface="Arial"/>
              </a:rPr>
              <a:t>one</a:t>
            </a:r>
            <a:r>
              <a:rPr sz="900" spc="-15" dirty="0">
                <a:latin typeface="Arial"/>
                <a:cs typeface="Arial"/>
              </a:rPr>
              <a:t> </a:t>
            </a:r>
            <a:r>
              <a:rPr sz="900" dirty="0">
                <a:latin typeface="Arial"/>
                <a:cs typeface="Arial"/>
              </a:rPr>
              <a:t>index</a:t>
            </a:r>
            <a:r>
              <a:rPr sz="900" spc="-20" dirty="0">
                <a:latin typeface="Arial"/>
                <a:cs typeface="Arial"/>
              </a:rPr>
              <a:t> </a:t>
            </a:r>
            <a:r>
              <a:rPr sz="900" i="1" spc="-85" dirty="0">
                <a:latin typeface="Arial"/>
                <a:cs typeface="Arial"/>
              </a:rPr>
              <a:t>k</a:t>
            </a:r>
            <a:r>
              <a:rPr sz="1050" i="1" spc="-127" baseline="27777" dirty="0">
                <a:latin typeface="Menlo"/>
                <a:cs typeface="Menlo"/>
              </a:rPr>
              <a:t>′</a:t>
            </a:r>
            <a:r>
              <a:rPr sz="1050" i="1" spc="-187" baseline="27777" dirty="0">
                <a:latin typeface="Menlo"/>
                <a:cs typeface="Menlo"/>
              </a:rPr>
              <a:t> </a:t>
            </a:r>
            <a:r>
              <a:rPr sz="900" dirty="0">
                <a:latin typeface="Arial"/>
                <a:cs typeface="Arial"/>
              </a:rPr>
              <a:t>for</a:t>
            </a:r>
            <a:r>
              <a:rPr sz="900" spc="-20" dirty="0">
                <a:latin typeface="Arial"/>
                <a:cs typeface="Arial"/>
              </a:rPr>
              <a:t> </a:t>
            </a:r>
            <a:r>
              <a:rPr sz="900" dirty="0">
                <a:latin typeface="Arial"/>
                <a:cs typeface="Arial"/>
              </a:rPr>
              <a:t>which</a:t>
            </a:r>
            <a:r>
              <a:rPr sz="900" spc="-20" dirty="0">
                <a:latin typeface="Arial"/>
                <a:cs typeface="Arial"/>
              </a:rPr>
              <a:t> </a:t>
            </a:r>
            <a:r>
              <a:rPr sz="900" i="1" dirty="0">
                <a:latin typeface="Arial"/>
                <a:cs typeface="Arial"/>
              </a:rPr>
              <a:t>ts</a:t>
            </a:r>
            <a:r>
              <a:rPr sz="900" dirty="0">
                <a:latin typeface="Arial"/>
                <a:cs typeface="Arial"/>
              </a:rPr>
              <a:t>(</a:t>
            </a:r>
            <a:r>
              <a:rPr sz="900" i="1" dirty="0">
                <a:latin typeface="Arial"/>
                <a:cs typeface="Arial"/>
              </a:rPr>
              <a:t>a</a:t>
            </a:r>
            <a:r>
              <a:rPr sz="900" dirty="0">
                <a:latin typeface="Arial"/>
                <a:cs typeface="Arial"/>
              </a:rPr>
              <a:t>)[</a:t>
            </a:r>
            <a:r>
              <a:rPr sz="900" i="1" dirty="0">
                <a:latin typeface="Arial"/>
                <a:cs typeface="Arial"/>
              </a:rPr>
              <a:t>k</a:t>
            </a:r>
            <a:r>
              <a:rPr sz="1050" i="1" baseline="27777" dirty="0">
                <a:latin typeface="Menlo"/>
                <a:cs typeface="Menlo"/>
              </a:rPr>
              <a:t>′</a:t>
            </a:r>
            <a:r>
              <a:rPr sz="900" dirty="0">
                <a:latin typeface="Arial"/>
                <a:cs typeface="Arial"/>
              </a:rPr>
              <a:t>]</a:t>
            </a:r>
            <a:r>
              <a:rPr sz="900" spc="-65" dirty="0">
                <a:latin typeface="Arial"/>
                <a:cs typeface="Arial"/>
              </a:rPr>
              <a:t> </a:t>
            </a:r>
            <a:r>
              <a:rPr sz="900" i="1" spc="60" dirty="0">
                <a:latin typeface="STIX Two Text"/>
                <a:cs typeface="STIX Two Text"/>
              </a:rPr>
              <a:t>&lt;</a:t>
            </a:r>
            <a:r>
              <a:rPr sz="900" i="1" spc="-15" dirty="0">
                <a:latin typeface="STIX Two Text"/>
                <a:cs typeface="STIX Two Text"/>
              </a:rPr>
              <a:t> </a:t>
            </a:r>
            <a:r>
              <a:rPr sz="900" i="1" spc="-10" dirty="0">
                <a:latin typeface="Arial"/>
                <a:cs typeface="Arial"/>
              </a:rPr>
              <a:t>ts</a:t>
            </a:r>
            <a:r>
              <a:rPr sz="900" spc="-10" dirty="0">
                <a:latin typeface="Arial"/>
                <a:cs typeface="Arial"/>
              </a:rPr>
              <a:t>(</a:t>
            </a:r>
            <a:r>
              <a:rPr sz="900" i="1" spc="-10" dirty="0">
                <a:latin typeface="Arial"/>
                <a:cs typeface="Arial"/>
              </a:rPr>
              <a:t>b</a:t>
            </a:r>
            <a:r>
              <a:rPr sz="900" spc="-10" dirty="0">
                <a:latin typeface="Arial"/>
                <a:cs typeface="Arial"/>
              </a:rPr>
              <a:t>)[</a:t>
            </a:r>
            <a:r>
              <a:rPr sz="900" i="1" spc="-10" dirty="0">
                <a:latin typeface="Arial"/>
                <a:cs typeface="Arial"/>
              </a:rPr>
              <a:t>k</a:t>
            </a:r>
            <a:r>
              <a:rPr sz="1050" i="1" spc="-15" baseline="27777" dirty="0">
                <a:latin typeface="Menlo"/>
                <a:cs typeface="Menlo"/>
              </a:rPr>
              <a:t>′</a:t>
            </a:r>
            <a:r>
              <a:rPr sz="900" spc="-10" dirty="0">
                <a:latin typeface="Arial"/>
                <a:cs typeface="Arial"/>
              </a:rPr>
              <a:t>]</a:t>
            </a:r>
            <a:endParaRPr sz="900">
              <a:latin typeface="Arial"/>
              <a:cs typeface="Arial"/>
            </a:endParaRPr>
          </a:p>
          <a:p>
            <a:pPr>
              <a:lnSpc>
                <a:spcPct val="100000"/>
              </a:lnSpc>
              <a:spcBef>
                <a:spcPts val="55"/>
              </a:spcBef>
              <a:buClr>
                <a:srgbClr val="3333B2"/>
              </a:buClr>
              <a:buFont typeface="Menlo"/>
              <a:buChar char="•"/>
            </a:pPr>
            <a:endParaRPr sz="1200">
              <a:latin typeface="Arial"/>
              <a:cs typeface="Arial"/>
            </a:endParaRPr>
          </a:p>
          <a:p>
            <a:pPr marL="302260">
              <a:lnSpc>
                <a:spcPct val="100000"/>
              </a:lnSpc>
            </a:pPr>
            <a:r>
              <a:rPr sz="1000" dirty="0">
                <a:solidFill>
                  <a:srgbClr val="3333B2"/>
                </a:solidFill>
                <a:latin typeface="Arial"/>
                <a:cs typeface="Arial"/>
              </a:rPr>
              <a:t>Precedence</a:t>
            </a:r>
            <a:r>
              <a:rPr sz="1000" spc="-50" dirty="0">
                <a:solidFill>
                  <a:srgbClr val="3333B2"/>
                </a:solidFill>
                <a:latin typeface="Arial"/>
                <a:cs typeface="Arial"/>
              </a:rPr>
              <a:t> </a:t>
            </a:r>
            <a:r>
              <a:rPr sz="1000" dirty="0">
                <a:solidFill>
                  <a:srgbClr val="3333B2"/>
                </a:solidFill>
                <a:latin typeface="Arial"/>
                <a:cs typeface="Arial"/>
              </a:rPr>
              <a:t>vs.</a:t>
            </a:r>
            <a:r>
              <a:rPr sz="1000" spc="-45" dirty="0">
                <a:solidFill>
                  <a:srgbClr val="3333B2"/>
                </a:solidFill>
                <a:latin typeface="Arial"/>
                <a:cs typeface="Arial"/>
              </a:rPr>
              <a:t> </a:t>
            </a:r>
            <a:r>
              <a:rPr sz="1000" spc="-10" dirty="0">
                <a:solidFill>
                  <a:srgbClr val="3333B2"/>
                </a:solidFill>
                <a:latin typeface="Arial"/>
                <a:cs typeface="Arial"/>
              </a:rPr>
              <a:t>dependency</a:t>
            </a:r>
            <a:endParaRPr sz="1000">
              <a:latin typeface="Arial"/>
              <a:cs typeface="Arial"/>
            </a:endParaRPr>
          </a:p>
          <a:p>
            <a:pPr marL="549910" indent="-114935">
              <a:lnSpc>
                <a:spcPct val="100000"/>
              </a:lnSpc>
              <a:spcBef>
                <a:spcPts val="700"/>
              </a:spcBef>
              <a:buClr>
                <a:srgbClr val="3333B2"/>
              </a:buClr>
              <a:buFont typeface="Menlo"/>
              <a:buChar char="•"/>
              <a:tabLst>
                <a:tab pos="550545" algn="l"/>
              </a:tabLst>
            </a:pPr>
            <a:r>
              <a:rPr sz="900" dirty="0">
                <a:latin typeface="Arial"/>
                <a:cs typeface="Arial"/>
              </a:rPr>
              <a:t>We</a:t>
            </a:r>
            <a:r>
              <a:rPr sz="900" spc="-35" dirty="0">
                <a:latin typeface="Arial"/>
                <a:cs typeface="Arial"/>
              </a:rPr>
              <a:t> </a:t>
            </a:r>
            <a:r>
              <a:rPr sz="900" dirty="0">
                <a:latin typeface="Arial"/>
                <a:cs typeface="Arial"/>
              </a:rPr>
              <a:t>say</a:t>
            </a:r>
            <a:r>
              <a:rPr sz="900" spc="-35" dirty="0">
                <a:latin typeface="Arial"/>
                <a:cs typeface="Arial"/>
              </a:rPr>
              <a:t> </a:t>
            </a:r>
            <a:r>
              <a:rPr sz="900" dirty="0">
                <a:latin typeface="Arial"/>
                <a:cs typeface="Arial"/>
              </a:rPr>
              <a:t>that</a:t>
            </a:r>
            <a:r>
              <a:rPr sz="900" spc="-35" dirty="0">
                <a:latin typeface="Arial"/>
                <a:cs typeface="Arial"/>
              </a:rPr>
              <a:t> </a:t>
            </a:r>
            <a:r>
              <a:rPr sz="900" i="1" dirty="0">
                <a:latin typeface="Arial"/>
                <a:cs typeface="Arial"/>
              </a:rPr>
              <a:t>a</a:t>
            </a:r>
            <a:r>
              <a:rPr sz="900" i="1" spc="-30" dirty="0">
                <a:latin typeface="Arial"/>
                <a:cs typeface="Arial"/>
              </a:rPr>
              <a:t> </a:t>
            </a:r>
            <a:r>
              <a:rPr sz="900" dirty="0">
                <a:latin typeface="Arial"/>
                <a:cs typeface="Arial"/>
              </a:rPr>
              <a:t>causally</a:t>
            </a:r>
            <a:r>
              <a:rPr sz="900" spc="-35" dirty="0">
                <a:latin typeface="Arial"/>
                <a:cs typeface="Arial"/>
              </a:rPr>
              <a:t> </a:t>
            </a:r>
            <a:r>
              <a:rPr sz="900" dirty="0">
                <a:latin typeface="Arial"/>
                <a:cs typeface="Arial"/>
              </a:rPr>
              <a:t>precedes</a:t>
            </a:r>
            <a:r>
              <a:rPr sz="900" spc="-35" dirty="0">
                <a:latin typeface="Arial"/>
                <a:cs typeface="Arial"/>
              </a:rPr>
              <a:t> </a:t>
            </a:r>
            <a:r>
              <a:rPr sz="900" i="1" spc="-25" dirty="0">
                <a:latin typeface="Arial"/>
                <a:cs typeface="Arial"/>
              </a:rPr>
              <a:t>b</a:t>
            </a:r>
            <a:r>
              <a:rPr sz="900" spc="-25" dirty="0">
                <a:latin typeface="Arial"/>
                <a:cs typeface="Arial"/>
              </a:rPr>
              <a:t>.</a:t>
            </a:r>
            <a:endParaRPr sz="900">
              <a:latin typeface="Arial"/>
              <a:cs typeface="Arial"/>
            </a:endParaRPr>
          </a:p>
          <a:p>
            <a:pPr marL="555625" marR="43180" indent="-120650">
              <a:lnSpc>
                <a:spcPct val="111600"/>
              </a:lnSpc>
              <a:spcBef>
                <a:spcPts val="395"/>
              </a:spcBef>
              <a:buClr>
                <a:srgbClr val="3333B2"/>
              </a:buClr>
              <a:buFont typeface="Menlo"/>
              <a:buChar char="•"/>
              <a:tabLst>
                <a:tab pos="556260" algn="l"/>
              </a:tabLst>
            </a:pPr>
            <a:r>
              <a:rPr sz="900" i="1" dirty="0">
                <a:latin typeface="Arial"/>
                <a:cs typeface="Arial"/>
              </a:rPr>
              <a:t>b</a:t>
            </a:r>
            <a:r>
              <a:rPr sz="900" i="1" spc="-5" dirty="0">
                <a:latin typeface="Arial"/>
                <a:cs typeface="Arial"/>
              </a:rPr>
              <a:t> </a:t>
            </a:r>
            <a:r>
              <a:rPr sz="900" dirty="0">
                <a:solidFill>
                  <a:srgbClr val="C80000"/>
                </a:solidFill>
                <a:latin typeface="Arial"/>
                <a:cs typeface="Arial"/>
              </a:rPr>
              <a:t>may</a:t>
            </a:r>
            <a:r>
              <a:rPr sz="900" spc="-30" dirty="0">
                <a:solidFill>
                  <a:srgbClr val="C80000"/>
                </a:solidFill>
                <a:latin typeface="Arial"/>
                <a:cs typeface="Arial"/>
              </a:rPr>
              <a:t> </a:t>
            </a:r>
            <a:r>
              <a:rPr sz="900" dirty="0">
                <a:latin typeface="Arial"/>
                <a:cs typeface="Arial"/>
              </a:rPr>
              <a:t>causally</a:t>
            </a:r>
            <a:r>
              <a:rPr sz="900" spc="-25" dirty="0">
                <a:latin typeface="Arial"/>
                <a:cs typeface="Arial"/>
              </a:rPr>
              <a:t> </a:t>
            </a:r>
            <a:r>
              <a:rPr sz="900" dirty="0">
                <a:latin typeface="Arial"/>
                <a:cs typeface="Arial"/>
              </a:rPr>
              <a:t>depend</a:t>
            </a:r>
            <a:r>
              <a:rPr sz="900" spc="-30" dirty="0">
                <a:latin typeface="Arial"/>
                <a:cs typeface="Arial"/>
              </a:rPr>
              <a:t> </a:t>
            </a:r>
            <a:r>
              <a:rPr sz="900" dirty="0">
                <a:latin typeface="Arial"/>
                <a:cs typeface="Arial"/>
              </a:rPr>
              <a:t>on</a:t>
            </a:r>
            <a:r>
              <a:rPr sz="900" spc="-25" dirty="0">
                <a:latin typeface="Arial"/>
                <a:cs typeface="Arial"/>
              </a:rPr>
              <a:t> </a:t>
            </a:r>
            <a:r>
              <a:rPr sz="900" i="1" dirty="0">
                <a:latin typeface="Arial"/>
                <a:cs typeface="Arial"/>
              </a:rPr>
              <a:t>a</a:t>
            </a:r>
            <a:r>
              <a:rPr sz="900" dirty="0">
                <a:latin typeface="Arial"/>
                <a:cs typeface="Arial"/>
              </a:rPr>
              <a:t>,</a:t>
            </a:r>
            <a:r>
              <a:rPr sz="900" spc="-25" dirty="0">
                <a:latin typeface="Arial"/>
                <a:cs typeface="Arial"/>
              </a:rPr>
              <a:t> </a:t>
            </a:r>
            <a:r>
              <a:rPr sz="900" dirty="0">
                <a:latin typeface="Arial"/>
                <a:cs typeface="Arial"/>
              </a:rPr>
              <a:t>as</a:t>
            </a:r>
            <a:r>
              <a:rPr sz="900" spc="-30" dirty="0">
                <a:latin typeface="Arial"/>
                <a:cs typeface="Arial"/>
              </a:rPr>
              <a:t> </a:t>
            </a:r>
            <a:r>
              <a:rPr sz="900" dirty="0">
                <a:latin typeface="Arial"/>
                <a:cs typeface="Arial"/>
              </a:rPr>
              <a:t>there</a:t>
            </a:r>
            <a:r>
              <a:rPr sz="900" spc="-25" dirty="0">
                <a:latin typeface="Arial"/>
                <a:cs typeface="Arial"/>
              </a:rPr>
              <a:t> </a:t>
            </a:r>
            <a:r>
              <a:rPr sz="900" dirty="0">
                <a:latin typeface="Arial"/>
                <a:cs typeface="Arial"/>
              </a:rPr>
              <a:t>may</a:t>
            </a:r>
            <a:r>
              <a:rPr sz="900" spc="-30" dirty="0">
                <a:latin typeface="Arial"/>
                <a:cs typeface="Arial"/>
              </a:rPr>
              <a:t> </a:t>
            </a:r>
            <a:r>
              <a:rPr sz="900" dirty="0">
                <a:latin typeface="Arial"/>
                <a:cs typeface="Arial"/>
              </a:rPr>
              <a:t>be</a:t>
            </a:r>
            <a:r>
              <a:rPr sz="900" spc="-25" dirty="0">
                <a:latin typeface="Arial"/>
                <a:cs typeface="Arial"/>
              </a:rPr>
              <a:t> </a:t>
            </a:r>
            <a:r>
              <a:rPr sz="900" dirty="0">
                <a:latin typeface="Arial"/>
                <a:cs typeface="Arial"/>
              </a:rPr>
              <a:t>information</a:t>
            </a:r>
            <a:r>
              <a:rPr sz="900" spc="-25" dirty="0">
                <a:latin typeface="Arial"/>
                <a:cs typeface="Arial"/>
              </a:rPr>
              <a:t> </a:t>
            </a:r>
            <a:r>
              <a:rPr sz="900" dirty="0">
                <a:latin typeface="Arial"/>
                <a:cs typeface="Arial"/>
              </a:rPr>
              <a:t>from</a:t>
            </a:r>
            <a:r>
              <a:rPr sz="900" spc="-30" dirty="0">
                <a:latin typeface="Arial"/>
                <a:cs typeface="Arial"/>
              </a:rPr>
              <a:t> </a:t>
            </a:r>
            <a:r>
              <a:rPr sz="900" i="1" dirty="0">
                <a:latin typeface="Arial"/>
                <a:cs typeface="Arial"/>
              </a:rPr>
              <a:t>a</a:t>
            </a:r>
            <a:r>
              <a:rPr sz="900" i="1" spc="-20" dirty="0">
                <a:latin typeface="Arial"/>
                <a:cs typeface="Arial"/>
              </a:rPr>
              <a:t> </a:t>
            </a:r>
            <a:r>
              <a:rPr sz="900" dirty="0">
                <a:latin typeface="Arial"/>
                <a:cs typeface="Arial"/>
              </a:rPr>
              <a:t>that</a:t>
            </a:r>
            <a:r>
              <a:rPr sz="900" spc="-30" dirty="0">
                <a:latin typeface="Arial"/>
                <a:cs typeface="Arial"/>
              </a:rPr>
              <a:t> </a:t>
            </a:r>
            <a:r>
              <a:rPr sz="900" spc="-25" dirty="0">
                <a:latin typeface="Arial"/>
                <a:cs typeface="Arial"/>
              </a:rPr>
              <a:t>is </a:t>
            </a:r>
            <a:r>
              <a:rPr sz="900" dirty="0">
                <a:latin typeface="Arial"/>
                <a:cs typeface="Arial"/>
              </a:rPr>
              <a:t>propagated</a:t>
            </a:r>
            <a:r>
              <a:rPr sz="900" spc="-35" dirty="0">
                <a:latin typeface="Arial"/>
                <a:cs typeface="Arial"/>
              </a:rPr>
              <a:t> </a:t>
            </a:r>
            <a:r>
              <a:rPr sz="900" dirty="0">
                <a:latin typeface="Arial"/>
                <a:cs typeface="Arial"/>
              </a:rPr>
              <a:t>into</a:t>
            </a:r>
            <a:r>
              <a:rPr sz="900" spc="-40" dirty="0">
                <a:latin typeface="Arial"/>
                <a:cs typeface="Arial"/>
              </a:rPr>
              <a:t> </a:t>
            </a:r>
            <a:r>
              <a:rPr sz="900" i="1" spc="-25" dirty="0">
                <a:latin typeface="Arial"/>
                <a:cs typeface="Arial"/>
              </a:rPr>
              <a:t>b</a:t>
            </a:r>
            <a:r>
              <a:rPr sz="900" spc="-25" dirty="0">
                <a:latin typeface="Arial"/>
                <a:cs typeface="Arial"/>
              </a:rPr>
              <a:t>.</a:t>
            </a:r>
            <a:endParaRPr sz="900">
              <a:latin typeface="Arial"/>
              <a:cs typeface="Arial"/>
            </a:endParaRPr>
          </a:p>
        </p:txBody>
      </p:sp>
      <p:grpSp>
        <p:nvGrpSpPr>
          <p:cNvPr id="6" name="object 6"/>
          <p:cNvGrpSpPr/>
          <p:nvPr/>
        </p:nvGrpSpPr>
        <p:grpSpPr>
          <a:xfrm>
            <a:off x="0" y="3348469"/>
            <a:ext cx="4608195" cy="107950"/>
            <a:chOff x="0" y="3348469"/>
            <a:chExt cx="4608195" cy="107950"/>
          </a:xfrm>
        </p:grpSpPr>
        <p:sp>
          <p:nvSpPr>
            <p:cNvPr id="7" name="object 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9" name="object 9"/>
          <p:cNvSpPr txBox="1"/>
          <p:nvPr/>
        </p:nvSpPr>
        <p:spPr>
          <a:xfrm>
            <a:off x="53467" y="3349927"/>
            <a:ext cx="395605"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5" action="ppaction://hlinksldjump"/>
              </a:rPr>
              <a:t>Vector</a:t>
            </a:r>
            <a:r>
              <a:rPr sz="500" dirty="0">
                <a:latin typeface="Arial"/>
                <a:cs typeface="Arial"/>
                <a:hlinkClick r:id="rId5" action="ppaction://hlinksldjump"/>
              </a:rPr>
              <a:t> </a:t>
            </a:r>
            <a:r>
              <a:rPr sz="500" spc="-10" dirty="0">
                <a:latin typeface="Arial"/>
                <a:cs typeface="Arial"/>
                <a:hlinkClick r:id="rId5" action="ppaction://hlinksldjump"/>
              </a:rPr>
              <a:t>clocks</a:t>
            </a:r>
            <a:endParaRPr sz="500">
              <a:latin typeface="Arial"/>
              <a:cs typeface="Arial"/>
            </a:endParaRPr>
          </a:p>
        </p:txBody>
      </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8417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Coordination</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136644" y="-1515"/>
            <a:ext cx="41846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Logical</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clocks</a:t>
            </a:r>
            <a:endParaRPr sz="500">
              <a:latin typeface="Arial"/>
              <a:cs typeface="Arial"/>
            </a:endParaRPr>
          </a:p>
        </p:txBody>
      </p:sp>
      <p:sp>
        <p:nvSpPr>
          <p:cNvPr id="5" name="object 5"/>
          <p:cNvSpPr txBox="1"/>
          <p:nvPr/>
        </p:nvSpPr>
        <p:spPr>
          <a:xfrm>
            <a:off x="57200" y="197711"/>
            <a:ext cx="4244975" cy="2364740"/>
          </a:xfrm>
          <a:prstGeom prst="rect">
            <a:avLst/>
          </a:prstGeom>
        </p:spPr>
        <p:txBody>
          <a:bodyPr vert="horz" wrap="square" lIns="0" tIns="12065" rIns="0" bIns="0" rtlCol="0">
            <a:spAutoFit/>
          </a:bodyPr>
          <a:lstStyle/>
          <a:p>
            <a:pPr marL="50800">
              <a:lnSpc>
                <a:spcPct val="100000"/>
              </a:lnSpc>
              <a:spcBef>
                <a:spcPts val="95"/>
              </a:spcBef>
            </a:pPr>
            <a:r>
              <a:rPr sz="1200" dirty="0">
                <a:solidFill>
                  <a:srgbClr val="3333B2"/>
                </a:solidFill>
                <a:latin typeface="Arial"/>
                <a:cs typeface="Arial"/>
              </a:rPr>
              <a:t>Capturing</a:t>
            </a:r>
            <a:r>
              <a:rPr sz="1200" spc="-50" dirty="0">
                <a:solidFill>
                  <a:srgbClr val="3333B2"/>
                </a:solidFill>
                <a:latin typeface="Arial"/>
                <a:cs typeface="Arial"/>
              </a:rPr>
              <a:t> </a:t>
            </a:r>
            <a:r>
              <a:rPr sz="1200" dirty="0">
                <a:solidFill>
                  <a:srgbClr val="3333B2"/>
                </a:solidFill>
                <a:latin typeface="Arial"/>
                <a:cs typeface="Arial"/>
              </a:rPr>
              <a:t>potential</a:t>
            </a:r>
            <a:r>
              <a:rPr sz="1200" spc="-45" dirty="0">
                <a:solidFill>
                  <a:srgbClr val="3333B2"/>
                </a:solidFill>
                <a:latin typeface="Arial"/>
                <a:cs typeface="Arial"/>
              </a:rPr>
              <a:t> </a:t>
            </a:r>
            <a:r>
              <a:rPr sz="1200" spc="-10" dirty="0">
                <a:solidFill>
                  <a:srgbClr val="3333B2"/>
                </a:solidFill>
                <a:latin typeface="Arial"/>
                <a:cs typeface="Arial"/>
              </a:rPr>
              <a:t>causality</a:t>
            </a:r>
            <a:endParaRPr sz="1200">
              <a:latin typeface="Arial"/>
              <a:cs typeface="Arial"/>
            </a:endParaRPr>
          </a:p>
          <a:p>
            <a:pPr marL="302260">
              <a:lnSpc>
                <a:spcPct val="100000"/>
              </a:lnSpc>
              <a:spcBef>
                <a:spcPts val="1055"/>
              </a:spcBef>
            </a:pPr>
            <a:r>
              <a:rPr sz="1000" dirty="0">
                <a:solidFill>
                  <a:srgbClr val="3333B2"/>
                </a:solidFill>
                <a:latin typeface="Arial"/>
                <a:cs typeface="Arial"/>
              </a:rPr>
              <a:t>Solution:</a:t>
            </a:r>
            <a:r>
              <a:rPr sz="1000" spc="30" dirty="0">
                <a:solidFill>
                  <a:srgbClr val="3333B2"/>
                </a:solidFill>
                <a:latin typeface="Arial"/>
                <a:cs typeface="Arial"/>
              </a:rPr>
              <a:t> </a:t>
            </a:r>
            <a:r>
              <a:rPr sz="1000" dirty="0">
                <a:solidFill>
                  <a:srgbClr val="3333B2"/>
                </a:solidFill>
                <a:latin typeface="Arial"/>
                <a:cs typeface="Arial"/>
              </a:rPr>
              <a:t>each</a:t>
            </a:r>
            <a:r>
              <a:rPr sz="1000" spc="-30" dirty="0">
                <a:solidFill>
                  <a:srgbClr val="3333B2"/>
                </a:solidFill>
                <a:latin typeface="Arial"/>
                <a:cs typeface="Arial"/>
              </a:rPr>
              <a:t> </a:t>
            </a:r>
            <a:r>
              <a:rPr sz="1000" i="1" dirty="0">
                <a:solidFill>
                  <a:srgbClr val="3333B2"/>
                </a:solidFill>
                <a:latin typeface="Arial"/>
                <a:cs typeface="Arial"/>
              </a:rPr>
              <a:t>P</a:t>
            </a:r>
            <a:r>
              <a:rPr sz="1050" i="1" baseline="-15873" dirty="0">
                <a:solidFill>
                  <a:srgbClr val="3333B2"/>
                </a:solidFill>
                <a:latin typeface="Arial"/>
                <a:cs typeface="Arial"/>
              </a:rPr>
              <a:t>i</a:t>
            </a:r>
            <a:r>
              <a:rPr sz="1050" i="1" spc="240" baseline="-15873" dirty="0">
                <a:solidFill>
                  <a:srgbClr val="3333B2"/>
                </a:solidFill>
                <a:latin typeface="Arial"/>
                <a:cs typeface="Arial"/>
              </a:rPr>
              <a:t> </a:t>
            </a:r>
            <a:r>
              <a:rPr sz="1000" dirty="0">
                <a:solidFill>
                  <a:srgbClr val="3333B2"/>
                </a:solidFill>
                <a:latin typeface="Arial"/>
                <a:cs typeface="Arial"/>
              </a:rPr>
              <a:t>maintains</a:t>
            </a:r>
            <a:r>
              <a:rPr sz="1000" spc="-30" dirty="0">
                <a:solidFill>
                  <a:srgbClr val="3333B2"/>
                </a:solidFill>
                <a:latin typeface="Arial"/>
                <a:cs typeface="Arial"/>
              </a:rPr>
              <a:t> </a:t>
            </a:r>
            <a:r>
              <a:rPr sz="1000" dirty="0">
                <a:solidFill>
                  <a:srgbClr val="3333B2"/>
                </a:solidFill>
                <a:latin typeface="Arial"/>
                <a:cs typeface="Arial"/>
              </a:rPr>
              <a:t>a</a:t>
            </a:r>
            <a:r>
              <a:rPr sz="1000" spc="-30" dirty="0">
                <a:solidFill>
                  <a:srgbClr val="3333B2"/>
                </a:solidFill>
                <a:latin typeface="Arial"/>
                <a:cs typeface="Arial"/>
              </a:rPr>
              <a:t> </a:t>
            </a:r>
            <a:r>
              <a:rPr sz="1000" dirty="0">
                <a:solidFill>
                  <a:srgbClr val="3333B2"/>
                </a:solidFill>
                <a:latin typeface="Arial"/>
                <a:cs typeface="Arial"/>
              </a:rPr>
              <a:t>vector</a:t>
            </a:r>
            <a:r>
              <a:rPr sz="1000" spc="-30" dirty="0">
                <a:solidFill>
                  <a:srgbClr val="3333B2"/>
                </a:solidFill>
                <a:latin typeface="Arial"/>
                <a:cs typeface="Arial"/>
              </a:rPr>
              <a:t> </a:t>
            </a:r>
            <a:r>
              <a:rPr sz="1000" i="1" spc="-25" dirty="0">
                <a:solidFill>
                  <a:srgbClr val="3333B2"/>
                </a:solidFill>
                <a:latin typeface="Arial"/>
                <a:cs typeface="Arial"/>
              </a:rPr>
              <a:t>VC</a:t>
            </a:r>
            <a:r>
              <a:rPr sz="1050" i="1" spc="-37" baseline="-15873" dirty="0">
                <a:solidFill>
                  <a:srgbClr val="3333B2"/>
                </a:solidFill>
                <a:latin typeface="Arial"/>
                <a:cs typeface="Arial"/>
              </a:rPr>
              <a:t>i</a:t>
            </a:r>
            <a:endParaRPr sz="1050" baseline="-15873">
              <a:latin typeface="Arial"/>
              <a:cs typeface="Arial"/>
            </a:endParaRPr>
          </a:p>
          <a:p>
            <a:pPr marL="555625" indent="-120650">
              <a:lnSpc>
                <a:spcPct val="100000"/>
              </a:lnSpc>
              <a:spcBef>
                <a:spcPts val="680"/>
              </a:spcBef>
              <a:buClr>
                <a:srgbClr val="3333B2"/>
              </a:buClr>
              <a:buFont typeface="Menlo"/>
              <a:buChar char="•"/>
              <a:tabLst>
                <a:tab pos="556260" algn="l"/>
              </a:tabLst>
            </a:pPr>
            <a:r>
              <a:rPr sz="900" i="1" spc="-10" dirty="0">
                <a:latin typeface="Arial"/>
                <a:cs typeface="Arial"/>
              </a:rPr>
              <a:t>VC</a:t>
            </a:r>
            <a:r>
              <a:rPr sz="1050" i="1" spc="-15" baseline="-15873" dirty="0">
                <a:latin typeface="Arial"/>
                <a:cs typeface="Arial"/>
              </a:rPr>
              <a:t>i</a:t>
            </a:r>
            <a:r>
              <a:rPr sz="1050" i="1" spc="-127" baseline="-15873" dirty="0">
                <a:latin typeface="Arial"/>
                <a:cs typeface="Arial"/>
              </a:rPr>
              <a:t> </a:t>
            </a:r>
            <a:r>
              <a:rPr sz="900" dirty="0">
                <a:latin typeface="Arial"/>
                <a:cs typeface="Arial"/>
              </a:rPr>
              <a:t>[</a:t>
            </a:r>
            <a:r>
              <a:rPr sz="900" i="1" dirty="0">
                <a:latin typeface="Arial"/>
                <a:cs typeface="Arial"/>
              </a:rPr>
              <a:t>i</a:t>
            </a:r>
            <a:r>
              <a:rPr sz="900" i="1" spc="-175" dirty="0">
                <a:latin typeface="Arial"/>
                <a:cs typeface="Arial"/>
              </a:rPr>
              <a:t> </a:t>
            </a:r>
            <a:r>
              <a:rPr sz="900" dirty="0">
                <a:latin typeface="Arial"/>
                <a:cs typeface="Arial"/>
              </a:rPr>
              <a:t>]</a:t>
            </a:r>
            <a:r>
              <a:rPr sz="900" spc="-30" dirty="0">
                <a:latin typeface="Arial"/>
                <a:cs typeface="Arial"/>
              </a:rPr>
              <a:t> </a:t>
            </a:r>
            <a:r>
              <a:rPr sz="900" dirty="0">
                <a:latin typeface="Arial"/>
                <a:cs typeface="Arial"/>
              </a:rPr>
              <a:t>is</a:t>
            </a:r>
            <a:r>
              <a:rPr sz="900" spc="-15" dirty="0">
                <a:latin typeface="Arial"/>
                <a:cs typeface="Arial"/>
              </a:rPr>
              <a:t> </a:t>
            </a:r>
            <a:r>
              <a:rPr sz="900" dirty="0">
                <a:latin typeface="Arial"/>
                <a:cs typeface="Arial"/>
              </a:rPr>
              <a:t>the</a:t>
            </a:r>
            <a:r>
              <a:rPr sz="900" spc="-15" dirty="0">
                <a:latin typeface="Arial"/>
                <a:cs typeface="Arial"/>
              </a:rPr>
              <a:t> </a:t>
            </a:r>
            <a:r>
              <a:rPr sz="900" dirty="0">
                <a:latin typeface="Arial"/>
                <a:cs typeface="Arial"/>
              </a:rPr>
              <a:t>local</a:t>
            </a:r>
            <a:r>
              <a:rPr sz="900" spc="-15" dirty="0">
                <a:latin typeface="Arial"/>
                <a:cs typeface="Arial"/>
              </a:rPr>
              <a:t> </a:t>
            </a:r>
            <a:r>
              <a:rPr sz="900" dirty="0">
                <a:latin typeface="Arial"/>
                <a:cs typeface="Arial"/>
              </a:rPr>
              <a:t>logical</a:t>
            </a:r>
            <a:r>
              <a:rPr sz="900" spc="-15" dirty="0">
                <a:latin typeface="Arial"/>
                <a:cs typeface="Arial"/>
              </a:rPr>
              <a:t> </a:t>
            </a:r>
            <a:r>
              <a:rPr sz="900" dirty="0">
                <a:latin typeface="Arial"/>
                <a:cs typeface="Arial"/>
              </a:rPr>
              <a:t>clock</a:t>
            </a:r>
            <a:r>
              <a:rPr sz="900" spc="-15" dirty="0">
                <a:latin typeface="Arial"/>
                <a:cs typeface="Arial"/>
              </a:rPr>
              <a:t> </a:t>
            </a:r>
            <a:r>
              <a:rPr sz="900" dirty="0">
                <a:latin typeface="Arial"/>
                <a:cs typeface="Arial"/>
              </a:rPr>
              <a:t>at</a:t>
            </a:r>
            <a:r>
              <a:rPr sz="900" spc="-15" dirty="0">
                <a:latin typeface="Arial"/>
                <a:cs typeface="Arial"/>
              </a:rPr>
              <a:t> </a:t>
            </a:r>
            <a:r>
              <a:rPr sz="900" dirty="0">
                <a:latin typeface="Arial"/>
                <a:cs typeface="Arial"/>
              </a:rPr>
              <a:t>process</a:t>
            </a:r>
            <a:r>
              <a:rPr sz="900" spc="-15" dirty="0">
                <a:latin typeface="Arial"/>
                <a:cs typeface="Arial"/>
              </a:rPr>
              <a:t> </a:t>
            </a:r>
            <a:r>
              <a:rPr sz="900" i="1" spc="-10" dirty="0">
                <a:latin typeface="Arial"/>
                <a:cs typeface="Arial"/>
              </a:rPr>
              <a:t>P</a:t>
            </a:r>
            <a:r>
              <a:rPr sz="1050" i="1" spc="-15" baseline="-15873" dirty="0">
                <a:latin typeface="Arial"/>
                <a:cs typeface="Arial"/>
              </a:rPr>
              <a:t>i</a:t>
            </a:r>
            <a:r>
              <a:rPr sz="1050" i="1" spc="-127" baseline="-15873" dirty="0">
                <a:latin typeface="Arial"/>
                <a:cs typeface="Arial"/>
              </a:rPr>
              <a:t> </a:t>
            </a:r>
            <a:r>
              <a:rPr sz="900" spc="-50" dirty="0">
                <a:latin typeface="Arial"/>
                <a:cs typeface="Arial"/>
              </a:rPr>
              <a:t>.</a:t>
            </a:r>
            <a:endParaRPr sz="900">
              <a:latin typeface="Arial"/>
              <a:cs typeface="Arial"/>
            </a:endParaRPr>
          </a:p>
          <a:p>
            <a:pPr marL="555625" indent="-120650">
              <a:lnSpc>
                <a:spcPct val="100000"/>
              </a:lnSpc>
              <a:spcBef>
                <a:spcPts val="520"/>
              </a:spcBef>
              <a:buClr>
                <a:srgbClr val="3333B2"/>
              </a:buClr>
              <a:buFont typeface="Menlo"/>
              <a:buChar char="•"/>
              <a:tabLst>
                <a:tab pos="556260" algn="l"/>
              </a:tabLst>
            </a:pPr>
            <a:r>
              <a:rPr sz="900" dirty="0">
                <a:latin typeface="Arial"/>
                <a:cs typeface="Arial"/>
              </a:rPr>
              <a:t>If</a:t>
            </a:r>
            <a:r>
              <a:rPr sz="900" spc="-25" dirty="0">
                <a:latin typeface="Arial"/>
                <a:cs typeface="Arial"/>
              </a:rPr>
              <a:t> </a:t>
            </a:r>
            <a:r>
              <a:rPr sz="900" i="1" spc="-10" dirty="0">
                <a:latin typeface="Arial"/>
                <a:cs typeface="Arial"/>
              </a:rPr>
              <a:t>VC</a:t>
            </a:r>
            <a:r>
              <a:rPr sz="1050" i="1" spc="-15" baseline="-15873" dirty="0">
                <a:latin typeface="Arial"/>
                <a:cs typeface="Arial"/>
              </a:rPr>
              <a:t>i</a:t>
            </a:r>
            <a:r>
              <a:rPr sz="1050" i="1" spc="-127" baseline="-15873" dirty="0">
                <a:latin typeface="Arial"/>
                <a:cs typeface="Arial"/>
              </a:rPr>
              <a:t> </a:t>
            </a:r>
            <a:r>
              <a:rPr sz="900" dirty="0">
                <a:latin typeface="Arial"/>
                <a:cs typeface="Arial"/>
              </a:rPr>
              <a:t>[</a:t>
            </a:r>
            <a:r>
              <a:rPr sz="900" i="1" dirty="0">
                <a:latin typeface="Arial"/>
                <a:cs typeface="Arial"/>
              </a:rPr>
              <a:t>j</a:t>
            </a:r>
            <a:r>
              <a:rPr sz="900" i="1" spc="-175" dirty="0">
                <a:latin typeface="Arial"/>
                <a:cs typeface="Arial"/>
              </a:rPr>
              <a:t> </a:t>
            </a:r>
            <a:r>
              <a:rPr sz="900" dirty="0">
                <a:latin typeface="Arial"/>
                <a:cs typeface="Arial"/>
              </a:rPr>
              <a:t>]</a:t>
            </a:r>
            <a:r>
              <a:rPr sz="900" spc="-65" dirty="0">
                <a:latin typeface="Arial"/>
                <a:cs typeface="Arial"/>
              </a:rPr>
              <a:t> </a:t>
            </a:r>
            <a:r>
              <a:rPr sz="900" spc="185" dirty="0">
                <a:latin typeface="Arial"/>
                <a:cs typeface="Arial"/>
              </a:rPr>
              <a:t>=</a:t>
            </a:r>
            <a:r>
              <a:rPr sz="900" spc="-60" dirty="0">
                <a:latin typeface="Arial"/>
                <a:cs typeface="Arial"/>
              </a:rPr>
              <a:t> </a:t>
            </a:r>
            <a:r>
              <a:rPr sz="900" i="1" dirty="0">
                <a:latin typeface="Arial"/>
                <a:cs typeface="Arial"/>
              </a:rPr>
              <a:t>k</a:t>
            </a:r>
            <a:r>
              <a:rPr sz="900" i="1" spc="75" dirty="0">
                <a:latin typeface="Arial"/>
                <a:cs typeface="Arial"/>
              </a:rPr>
              <a:t> </a:t>
            </a:r>
            <a:r>
              <a:rPr sz="900" dirty="0">
                <a:latin typeface="Arial"/>
                <a:cs typeface="Arial"/>
              </a:rPr>
              <a:t>then</a:t>
            </a:r>
            <a:r>
              <a:rPr sz="900" spc="-15" dirty="0">
                <a:latin typeface="Arial"/>
                <a:cs typeface="Arial"/>
              </a:rPr>
              <a:t> </a:t>
            </a:r>
            <a:r>
              <a:rPr sz="900" i="1" dirty="0">
                <a:latin typeface="Arial"/>
                <a:cs typeface="Arial"/>
              </a:rPr>
              <a:t>P</a:t>
            </a:r>
            <a:r>
              <a:rPr sz="1050" i="1" baseline="-15873" dirty="0">
                <a:latin typeface="Arial"/>
                <a:cs typeface="Arial"/>
              </a:rPr>
              <a:t>i</a:t>
            </a:r>
            <a:r>
              <a:rPr sz="1050" i="1" spc="225" baseline="-15873" dirty="0">
                <a:latin typeface="Arial"/>
                <a:cs typeface="Arial"/>
              </a:rPr>
              <a:t> </a:t>
            </a:r>
            <a:r>
              <a:rPr sz="900" dirty="0">
                <a:latin typeface="Arial"/>
                <a:cs typeface="Arial"/>
              </a:rPr>
              <a:t>knows</a:t>
            </a:r>
            <a:r>
              <a:rPr sz="900" spc="-15" dirty="0">
                <a:latin typeface="Arial"/>
                <a:cs typeface="Arial"/>
              </a:rPr>
              <a:t> </a:t>
            </a:r>
            <a:r>
              <a:rPr sz="900" dirty="0">
                <a:latin typeface="Arial"/>
                <a:cs typeface="Arial"/>
              </a:rPr>
              <a:t>that</a:t>
            </a:r>
            <a:r>
              <a:rPr sz="900" spc="-15" dirty="0">
                <a:latin typeface="Arial"/>
                <a:cs typeface="Arial"/>
              </a:rPr>
              <a:t> </a:t>
            </a:r>
            <a:r>
              <a:rPr sz="900" i="1" dirty="0">
                <a:latin typeface="Arial"/>
                <a:cs typeface="Arial"/>
              </a:rPr>
              <a:t>k</a:t>
            </a:r>
            <a:r>
              <a:rPr sz="900" i="1" spc="75" dirty="0">
                <a:latin typeface="Arial"/>
                <a:cs typeface="Arial"/>
              </a:rPr>
              <a:t> </a:t>
            </a:r>
            <a:r>
              <a:rPr sz="900" spc="-10" dirty="0">
                <a:latin typeface="Arial"/>
                <a:cs typeface="Arial"/>
              </a:rPr>
              <a:t>events</a:t>
            </a:r>
            <a:r>
              <a:rPr sz="900" spc="-15" dirty="0">
                <a:latin typeface="Arial"/>
                <a:cs typeface="Arial"/>
              </a:rPr>
              <a:t> </a:t>
            </a:r>
            <a:r>
              <a:rPr sz="900" spc="-10" dirty="0">
                <a:latin typeface="Arial"/>
                <a:cs typeface="Arial"/>
              </a:rPr>
              <a:t>have</a:t>
            </a:r>
            <a:r>
              <a:rPr sz="900" spc="-15" dirty="0">
                <a:latin typeface="Arial"/>
                <a:cs typeface="Arial"/>
              </a:rPr>
              <a:t> </a:t>
            </a:r>
            <a:r>
              <a:rPr sz="900" dirty="0">
                <a:latin typeface="Arial"/>
                <a:cs typeface="Arial"/>
              </a:rPr>
              <a:t>occurred</a:t>
            </a:r>
            <a:r>
              <a:rPr sz="900" spc="-10" dirty="0">
                <a:latin typeface="Arial"/>
                <a:cs typeface="Arial"/>
              </a:rPr>
              <a:t> </a:t>
            </a:r>
            <a:r>
              <a:rPr sz="900" dirty="0">
                <a:latin typeface="Arial"/>
                <a:cs typeface="Arial"/>
              </a:rPr>
              <a:t>at</a:t>
            </a:r>
            <a:r>
              <a:rPr sz="900" spc="-15" dirty="0">
                <a:latin typeface="Arial"/>
                <a:cs typeface="Arial"/>
              </a:rPr>
              <a:t> </a:t>
            </a:r>
            <a:r>
              <a:rPr sz="900" i="1" spc="-10" dirty="0">
                <a:latin typeface="Arial"/>
                <a:cs typeface="Arial"/>
              </a:rPr>
              <a:t>P</a:t>
            </a:r>
            <a:r>
              <a:rPr sz="1050" i="1" spc="-15" baseline="-15873" dirty="0">
                <a:latin typeface="Arial"/>
                <a:cs typeface="Arial"/>
              </a:rPr>
              <a:t>j</a:t>
            </a:r>
            <a:r>
              <a:rPr sz="1050" i="1" spc="-127" baseline="-15873" dirty="0">
                <a:latin typeface="Arial"/>
                <a:cs typeface="Arial"/>
              </a:rPr>
              <a:t> </a:t>
            </a:r>
            <a:r>
              <a:rPr sz="900" spc="-50" dirty="0">
                <a:latin typeface="Arial"/>
                <a:cs typeface="Arial"/>
              </a:rPr>
              <a:t>.</a:t>
            </a:r>
            <a:endParaRPr sz="900">
              <a:latin typeface="Arial"/>
              <a:cs typeface="Arial"/>
            </a:endParaRPr>
          </a:p>
          <a:p>
            <a:pPr>
              <a:lnSpc>
                <a:spcPct val="100000"/>
              </a:lnSpc>
            </a:pPr>
            <a:endParaRPr sz="1350">
              <a:latin typeface="Arial"/>
              <a:cs typeface="Arial"/>
            </a:endParaRPr>
          </a:p>
          <a:p>
            <a:pPr marL="302260">
              <a:lnSpc>
                <a:spcPct val="100000"/>
              </a:lnSpc>
            </a:pPr>
            <a:r>
              <a:rPr sz="1000" dirty="0">
                <a:solidFill>
                  <a:srgbClr val="3333B2"/>
                </a:solidFill>
                <a:latin typeface="Arial"/>
                <a:cs typeface="Arial"/>
              </a:rPr>
              <a:t>Maintaining</a:t>
            </a:r>
            <a:r>
              <a:rPr sz="1000" spc="-60" dirty="0">
                <a:solidFill>
                  <a:srgbClr val="3333B2"/>
                </a:solidFill>
                <a:latin typeface="Arial"/>
                <a:cs typeface="Arial"/>
              </a:rPr>
              <a:t> </a:t>
            </a:r>
            <a:r>
              <a:rPr sz="1000" dirty="0">
                <a:solidFill>
                  <a:srgbClr val="3333B2"/>
                </a:solidFill>
                <a:latin typeface="Arial"/>
                <a:cs typeface="Arial"/>
              </a:rPr>
              <a:t>vector</a:t>
            </a:r>
            <a:r>
              <a:rPr sz="1000" spc="-55" dirty="0">
                <a:solidFill>
                  <a:srgbClr val="3333B2"/>
                </a:solidFill>
                <a:latin typeface="Arial"/>
                <a:cs typeface="Arial"/>
              </a:rPr>
              <a:t> </a:t>
            </a:r>
            <a:r>
              <a:rPr sz="1000" spc="-10" dirty="0">
                <a:solidFill>
                  <a:srgbClr val="3333B2"/>
                </a:solidFill>
                <a:latin typeface="Arial"/>
                <a:cs typeface="Arial"/>
              </a:rPr>
              <a:t>clocks</a:t>
            </a:r>
            <a:endParaRPr sz="1000">
              <a:latin typeface="Arial"/>
              <a:cs typeface="Arial"/>
            </a:endParaRPr>
          </a:p>
          <a:p>
            <a:pPr marL="555625" indent="-158750">
              <a:lnSpc>
                <a:spcPct val="100000"/>
              </a:lnSpc>
              <a:spcBef>
                <a:spcPts val="710"/>
              </a:spcBef>
              <a:buClr>
                <a:srgbClr val="3333B2"/>
              </a:buClr>
              <a:buAutoNum type="arabicPeriod"/>
              <a:tabLst>
                <a:tab pos="556260" algn="l"/>
              </a:tabLst>
            </a:pPr>
            <a:r>
              <a:rPr sz="900" dirty="0">
                <a:latin typeface="Arial"/>
                <a:cs typeface="Arial"/>
              </a:rPr>
              <a:t>Before</a:t>
            </a:r>
            <a:r>
              <a:rPr sz="900" spc="-20" dirty="0">
                <a:latin typeface="Arial"/>
                <a:cs typeface="Arial"/>
              </a:rPr>
              <a:t> </a:t>
            </a:r>
            <a:r>
              <a:rPr sz="900" spc="-10" dirty="0">
                <a:latin typeface="Arial"/>
                <a:cs typeface="Arial"/>
              </a:rPr>
              <a:t>executing</a:t>
            </a:r>
            <a:r>
              <a:rPr sz="900" spc="-5" dirty="0">
                <a:latin typeface="Arial"/>
                <a:cs typeface="Arial"/>
              </a:rPr>
              <a:t> </a:t>
            </a:r>
            <a:r>
              <a:rPr sz="900" dirty="0">
                <a:latin typeface="Arial"/>
                <a:cs typeface="Arial"/>
              </a:rPr>
              <a:t>an</a:t>
            </a:r>
            <a:r>
              <a:rPr sz="900" spc="-10" dirty="0">
                <a:latin typeface="Arial"/>
                <a:cs typeface="Arial"/>
              </a:rPr>
              <a:t> event,</a:t>
            </a:r>
            <a:r>
              <a:rPr sz="900" spc="-5" dirty="0">
                <a:latin typeface="Arial"/>
                <a:cs typeface="Arial"/>
              </a:rPr>
              <a:t> </a:t>
            </a:r>
            <a:r>
              <a:rPr sz="900" i="1" dirty="0">
                <a:latin typeface="Arial"/>
                <a:cs typeface="Arial"/>
              </a:rPr>
              <a:t>P</a:t>
            </a:r>
            <a:r>
              <a:rPr sz="1050" i="1" baseline="-15873" dirty="0">
                <a:latin typeface="Arial"/>
                <a:cs typeface="Arial"/>
              </a:rPr>
              <a:t>i</a:t>
            </a:r>
            <a:r>
              <a:rPr sz="1050" i="1" spc="232" baseline="-15873" dirty="0">
                <a:latin typeface="Arial"/>
                <a:cs typeface="Arial"/>
              </a:rPr>
              <a:t> </a:t>
            </a:r>
            <a:r>
              <a:rPr sz="900" spc="-10" dirty="0">
                <a:latin typeface="Arial"/>
                <a:cs typeface="Arial"/>
              </a:rPr>
              <a:t>executes </a:t>
            </a:r>
            <a:r>
              <a:rPr sz="900" i="1" spc="-10" dirty="0">
                <a:latin typeface="Arial"/>
                <a:cs typeface="Arial"/>
              </a:rPr>
              <a:t>VC</a:t>
            </a:r>
            <a:r>
              <a:rPr sz="1050" i="1" spc="-15" baseline="-15873" dirty="0">
                <a:latin typeface="Arial"/>
                <a:cs typeface="Arial"/>
              </a:rPr>
              <a:t>i</a:t>
            </a:r>
            <a:r>
              <a:rPr sz="1050" i="1" spc="-127" baseline="-15873" dirty="0">
                <a:latin typeface="Arial"/>
                <a:cs typeface="Arial"/>
              </a:rPr>
              <a:t> </a:t>
            </a:r>
            <a:r>
              <a:rPr sz="900" dirty="0">
                <a:latin typeface="Arial"/>
                <a:cs typeface="Arial"/>
              </a:rPr>
              <a:t>[</a:t>
            </a:r>
            <a:r>
              <a:rPr sz="900" i="1" dirty="0">
                <a:latin typeface="Arial"/>
                <a:cs typeface="Arial"/>
              </a:rPr>
              <a:t>i</a:t>
            </a:r>
            <a:r>
              <a:rPr sz="900" i="1" spc="-175" dirty="0">
                <a:latin typeface="Arial"/>
                <a:cs typeface="Arial"/>
              </a:rPr>
              <a:t> </a:t>
            </a:r>
            <a:r>
              <a:rPr sz="900" dirty="0">
                <a:latin typeface="Arial"/>
                <a:cs typeface="Arial"/>
              </a:rPr>
              <a:t>]</a:t>
            </a:r>
            <a:r>
              <a:rPr sz="900" spc="-55" dirty="0">
                <a:latin typeface="Arial"/>
                <a:cs typeface="Arial"/>
              </a:rPr>
              <a:t> </a:t>
            </a:r>
            <a:r>
              <a:rPr sz="900" i="1" spc="350" dirty="0">
                <a:latin typeface="Menlo"/>
                <a:cs typeface="Menlo"/>
              </a:rPr>
              <a:t>←</a:t>
            </a:r>
            <a:r>
              <a:rPr sz="900" i="1" spc="-345" dirty="0">
                <a:latin typeface="Menlo"/>
                <a:cs typeface="Menlo"/>
              </a:rPr>
              <a:t> </a:t>
            </a:r>
            <a:r>
              <a:rPr sz="900" i="1" spc="-10" dirty="0">
                <a:latin typeface="Arial"/>
                <a:cs typeface="Arial"/>
              </a:rPr>
              <a:t>VC</a:t>
            </a:r>
            <a:r>
              <a:rPr sz="1050" i="1" spc="-15" baseline="-15873" dirty="0">
                <a:latin typeface="Arial"/>
                <a:cs typeface="Arial"/>
              </a:rPr>
              <a:t>i</a:t>
            </a:r>
            <a:r>
              <a:rPr sz="1050" i="1" spc="-127" baseline="-15873" dirty="0">
                <a:latin typeface="Arial"/>
                <a:cs typeface="Arial"/>
              </a:rPr>
              <a:t> </a:t>
            </a:r>
            <a:r>
              <a:rPr sz="900" dirty="0">
                <a:latin typeface="Arial"/>
                <a:cs typeface="Arial"/>
              </a:rPr>
              <a:t>[</a:t>
            </a:r>
            <a:r>
              <a:rPr sz="900" i="1" dirty="0">
                <a:latin typeface="Arial"/>
                <a:cs typeface="Arial"/>
              </a:rPr>
              <a:t>i</a:t>
            </a:r>
            <a:r>
              <a:rPr sz="900" i="1" spc="-175" dirty="0">
                <a:latin typeface="Arial"/>
                <a:cs typeface="Arial"/>
              </a:rPr>
              <a:t> </a:t>
            </a:r>
            <a:r>
              <a:rPr sz="900" dirty="0">
                <a:latin typeface="Arial"/>
                <a:cs typeface="Arial"/>
              </a:rPr>
              <a:t>]</a:t>
            </a:r>
            <a:r>
              <a:rPr sz="900" spc="-125" dirty="0">
                <a:latin typeface="Arial"/>
                <a:cs typeface="Arial"/>
              </a:rPr>
              <a:t> </a:t>
            </a:r>
            <a:r>
              <a:rPr sz="900" spc="185" dirty="0">
                <a:latin typeface="Arial"/>
                <a:cs typeface="Arial"/>
              </a:rPr>
              <a:t>+</a:t>
            </a:r>
            <a:r>
              <a:rPr sz="900" spc="-130" dirty="0">
                <a:latin typeface="Arial"/>
                <a:cs typeface="Arial"/>
              </a:rPr>
              <a:t> </a:t>
            </a:r>
            <a:r>
              <a:rPr sz="900" spc="-25" dirty="0">
                <a:latin typeface="Arial"/>
                <a:cs typeface="Arial"/>
              </a:rPr>
              <a:t>1.</a:t>
            </a:r>
            <a:endParaRPr sz="900">
              <a:latin typeface="Arial"/>
              <a:cs typeface="Arial"/>
            </a:endParaRPr>
          </a:p>
          <a:p>
            <a:pPr marL="555625" marR="516255" indent="-158750">
              <a:lnSpc>
                <a:spcPct val="111600"/>
              </a:lnSpc>
              <a:spcBef>
                <a:spcPts val="400"/>
              </a:spcBef>
              <a:buClr>
                <a:srgbClr val="3333B2"/>
              </a:buClr>
              <a:buAutoNum type="arabicPeriod"/>
              <a:tabLst>
                <a:tab pos="550545" algn="l"/>
              </a:tabLst>
            </a:pPr>
            <a:r>
              <a:rPr sz="900" dirty="0">
                <a:latin typeface="Arial"/>
                <a:cs typeface="Arial"/>
              </a:rPr>
              <a:t>When</a:t>
            </a:r>
            <a:r>
              <a:rPr sz="900" spc="-30" dirty="0">
                <a:latin typeface="Arial"/>
                <a:cs typeface="Arial"/>
              </a:rPr>
              <a:t> </a:t>
            </a:r>
            <a:r>
              <a:rPr sz="900" dirty="0">
                <a:latin typeface="Arial"/>
                <a:cs typeface="Arial"/>
              </a:rPr>
              <a:t>process</a:t>
            </a:r>
            <a:r>
              <a:rPr sz="900" spc="-20" dirty="0">
                <a:latin typeface="Arial"/>
                <a:cs typeface="Arial"/>
              </a:rPr>
              <a:t> </a:t>
            </a:r>
            <a:r>
              <a:rPr sz="900" i="1" dirty="0">
                <a:latin typeface="Arial"/>
                <a:cs typeface="Arial"/>
              </a:rPr>
              <a:t>P</a:t>
            </a:r>
            <a:r>
              <a:rPr sz="1050" i="1" baseline="-15873" dirty="0">
                <a:latin typeface="Arial"/>
                <a:cs typeface="Arial"/>
              </a:rPr>
              <a:t>i</a:t>
            </a:r>
            <a:r>
              <a:rPr sz="1050" i="1" spc="202" baseline="-15873" dirty="0">
                <a:latin typeface="Arial"/>
                <a:cs typeface="Arial"/>
              </a:rPr>
              <a:t> </a:t>
            </a:r>
            <a:r>
              <a:rPr sz="900" dirty="0">
                <a:latin typeface="Arial"/>
                <a:cs typeface="Arial"/>
              </a:rPr>
              <a:t>sends</a:t>
            </a:r>
            <a:r>
              <a:rPr sz="900" spc="-20" dirty="0">
                <a:latin typeface="Arial"/>
                <a:cs typeface="Arial"/>
              </a:rPr>
              <a:t> </a:t>
            </a:r>
            <a:r>
              <a:rPr sz="900" dirty="0">
                <a:latin typeface="Arial"/>
                <a:cs typeface="Arial"/>
              </a:rPr>
              <a:t>a</a:t>
            </a:r>
            <a:r>
              <a:rPr sz="900" spc="-20" dirty="0">
                <a:latin typeface="Arial"/>
                <a:cs typeface="Arial"/>
              </a:rPr>
              <a:t> </a:t>
            </a:r>
            <a:r>
              <a:rPr sz="900" dirty="0">
                <a:latin typeface="Arial"/>
                <a:cs typeface="Arial"/>
              </a:rPr>
              <a:t>message</a:t>
            </a:r>
            <a:r>
              <a:rPr sz="900" spc="-20" dirty="0">
                <a:latin typeface="Arial"/>
                <a:cs typeface="Arial"/>
              </a:rPr>
              <a:t> </a:t>
            </a:r>
            <a:r>
              <a:rPr sz="900" i="1" dirty="0">
                <a:latin typeface="Arial"/>
                <a:cs typeface="Arial"/>
              </a:rPr>
              <a:t>m </a:t>
            </a:r>
            <a:r>
              <a:rPr sz="900" dirty="0">
                <a:latin typeface="Arial"/>
                <a:cs typeface="Arial"/>
              </a:rPr>
              <a:t>to</a:t>
            </a:r>
            <a:r>
              <a:rPr sz="900" spc="-25" dirty="0">
                <a:latin typeface="Arial"/>
                <a:cs typeface="Arial"/>
              </a:rPr>
              <a:t> </a:t>
            </a:r>
            <a:r>
              <a:rPr sz="900" i="1" spc="-10" dirty="0">
                <a:latin typeface="Arial"/>
                <a:cs typeface="Arial"/>
              </a:rPr>
              <a:t>P</a:t>
            </a:r>
            <a:r>
              <a:rPr sz="1050" i="1" spc="-15" baseline="-15873" dirty="0">
                <a:latin typeface="Arial"/>
                <a:cs typeface="Arial"/>
              </a:rPr>
              <a:t>j</a:t>
            </a:r>
            <a:r>
              <a:rPr sz="1050" i="1" spc="-127" baseline="-15873" dirty="0">
                <a:latin typeface="Arial"/>
                <a:cs typeface="Arial"/>
              </a:rPr>
              <a:t> </a:t>
            </a:r>
            <a:r>
              <a:rPr sz="900" dirty="0">
                <a:latin typeface="Arial"/>
                <a:cs typeface="Arial"/>
              </a:rPr>
              <a:t>,</a:t>
            </a:r>
            <a:r>
              <a:rPr sz="900" spc="-20" dirty="0">
                <a:latin typeface="Arial"/>
                <a:cs typeface="Arial"/>
              </a:rPr>
              <a:t> </a:t>
            </a:r>
            <a:r>
              <a:rPr sz="900" dirty="0">
                <a:latin typeface="Arial"/>
                <a:cs typeface="Arial"/>
              </a:rPr>
              <a:t>it</a:t>
            </a:r>
            <a:r>
              <a:rPr sz="900" spc="-20" dirty="0">
                <a:latin typeface="Arial"/>
                <a:cs typeface="Arial"/>
              </a:rPr>
              <a:t> </a:t>
            </a:r>
            <a:r>
              <a:rPr sz="900" dirty="0">
                <a:latin typeface="Arial"/>
                <a:cs typeface="Arial"/>
              </a:rPr>
              <a:t>sets</a:t>
            </a:r>
            <a:r>
              <a:rPr sz="900" spc="-20" dirty="0">
                <a:latin typeface="Arial"/>
                <a:cs typeface="Arial"/>
              </a:rPr>
              <a:t> </a:t>
            </a:r>
            <a:r>
              <a:rPr sz="900" i="1" dirty="0">
                <a:latin typeface="Arial"/>
                <a:cs typeface="Arial"/>
              </a:rPr>
              <a:t>m</a:t>
            </a:r>
            <a:r>
              <a:rPr sz="900" dirty="0">
                <a:latin typeface="Arial"/>
                <a:cs typeface="Arial"/>
              </a:rPr>
              <a:t>’s</a:t>
            </a:r>
            <a:r>
              <a:rPr sz="900" spc="-20" dirty="0">
                <a:latin typeface="Arial"/>
                <a:cs typeface="Arial"/>
              </a:rPr>
              <a:t> </a:t>
            </a:r>
            <a:r>
              <a:rPr sz="900" spc="-10" dirty="0">
                <a:latin typeface="Arial"/>
                <a:cs typeface="Arial"/>
              </a:rPr>
              <a:t>(vector) </a:t>
            </a:r>
            <a:r>
              <a:rPr sz="900" dirty="0">
                <a:latin typeface="Arial"/>
                <a:cs typeface="Arial"/>
              </a:rPr>
              <a:t>timestamp</a:t>
            </a:r>
            <a:r>
              <a:rPr sz="900" spc="-10" dirty="0">
                <a:latin typeface="Arial"/>
                <a:cs typeface="Arial"/>
              </a:rPr>
              <a:t> </a:t>
            </a:r>
            <a:r>
              <a:rPr sz="900" i="1" dirty="0">
                <a:latin typeface="Arial"/>
                <a:cs typeface="Arial"/>
              </a:rPr>
              <a:t>ts</a:t>
            </a:r>
            <a:r>
              <a:rPr sz="900" dirty="0">
                <a:latin typeface="Arial"/>
                <a:cs typeface="Arial"/>
              </a:rPr>
              <a:t>(</a:t>
            </a:r>
            <a:r>
              <a:rPr sz="900" i="1" dirty="0">
                <a:latin typeface="Arial"/>
                <a:cs typeface="Arial"/>
              </a:rPr>
              <a:t>m</a:t>
            </a:r>
            <a:r>
              <a:rPr sz="900" dirty="0">
                <a:latin typeface="Arial"/>
                <a:cs typeface="Arial"/>
              </a:rPr>
              <a:t>)</a:t>
            </a:r>
            <a:r>
              <a:rPr sz="900" spc="-10" dirty="0">
                <a:latin typeface="Arial"/>
                <a:cs typeface="Arial"/>
              </a:rPr>
              <a:t> </a:t>
            </a:r>
            <a:r>
              <a:rPr sz="900" dirty="0">
                <a:latin typeface="Arial"/>
                <a:cs typeface="Arial"/>
              </a:rPr>
              <a:t>equal</a:t>
            </a:r>
            <a:r>
              <a:rPr sz="900" spc="-10" dirty="0">
                <a:latin typeface="Arial"/>
                <a:cs typeface="Arial"/>
              </a:rPr>
              <a:t> </a:t>
            </a:r>
            <a:r>
              <a:rPr sz="900" dirty="0">
                <a:latin typeface="Arial"/>
                <a:cs typeface="Arial"/>
              </a:rPr>
              <a:t>to</a:t>
            </a:r>
            <a:r>
              <a:rPr sz="900" spc="-10" dirty="0">
                <a:latin typeface="Arial"/>
                <a:cs typeface="Arial"/>
              </a:rPr>
              <a:t> </a:t>
            </a:r>
            <a:r>
              <a:rPr sz="900" i="1" dirty="0">
                <a:latin typeface="Arial"/>
                <a:cs typeface="Arial"/>
              </a:rPr>
              <a:t>VC</a:t>
            </a:r>
            <a:r>
              <a:rPr sz="1050" i="1" baseline="-15873" dirty="0">
                <a:latin typeface="Arial"/>
                <a:cs typeface="Arial"/>
              </a:rPr>
              <a:t>i</a:t>
            </a:r>
            <a:r>
              <a:rPr sz="1050" i="1" spc="225" baseline="-15873" dirty="0">
                <a:latin typeface="Arial"/>
                <a:cs typeface="Arial"/>
              </a:rPr>
              <a:t> </a:t>
            </a:r>
            <a:r>
              <a:rPr sz="900" dirty="0">
                <a:latin typeface="Arial"/>
                <a:cs typeface="Arial"/>
              </a:rPr>
              <a:t>after</a:t>
            </a:r>
            <a:r>
              <a:rPr sz="900" spc="-5" dirty="0">
                <a:latin typeface="Arial"/>
                <a:cs typeface="Arial"/>
              </a:rPr>
              <a:t> </a:t>
            </a:r>
            <a:r>
              <a:rPr sz="900" dirty="0">
                <a:latin typeface="Arial"/>
                <a:cs typeface="Arial"/>
              </a:rPr>
              <a:t>having</a:t>
            </a:r>
            <a:r>
              <a:rPr sz="900" spc="-10" dirty="0">
                <a:latin typeface="Arial"/>
                <a:cs typeface="Arial"/>
              </a:rPr>
              <a:t> executed </a:t>
            </a:r>
            <a:r>
              <a:rPr sz="900" dirty="0">
                <a:latin typeface="Arial"/>
                <a:cs typeface="Arial"/>
              </a:rPr>
              <a:t>step</a:t>
            </a:r>
            <a:r>
              <a:rPr sz="900" spc="-10" dirty="0">
                <a:latin typeface="Arial"/>
                <a:cs typeface="Arial"/>
              </a:rPr>
              <a:t> </a:t>
            </a:r>
            <a:r>
              <a:rPr sz="900" spc="-25" dirty="0">
                <a:latin typeface="Arial"/>
                <a:cs typeface="Arial"/>
              </a:rPr>
              <a:t>1.</a:t>
            </a:r>
            <a:endParaRPr sz="900">
              <a:latin typeface="Arial"/>
              <a:cs typeface="Arial"/>
            </a:endParaRPr>
          </a:p>
          <a:p>
            <a:pPr marL="555625" indent="-158750">
              <a:lnSpc>
                <a:spcPct val="100000"/>
              </a:lnSpc>
              <a:spcBef>
                <a:spcPts val="520"/>
              </a:spcBef>
              <a:buClr>
                <a:srgbClr val="3333B2"/>
              </a:buClr>
              <a:buAutoNum type="arabicPeriod"/>
              <a:tabLst>
                <a:tab pos="556260" algn="l"/>
              </a:tabLst>
            </a:pPr>
            <a:r>
              <a:rPr sz="900" dirty="0">
                <a:latin typeface="Arial"/>
                <a:cs typeface="Arial"/>
              </a:rPr>
              <a:t>Upon</a:t>
            </a:r>
            <a:r>
              <a:rPr sz="900" spc="-25" dirty="0">
                <a:latin typeface="Arial"/>
                <a:cs typeface="Arial"/>
              </a:rPr>
              <a:t> </a:t>
            </a:r>
            <a:r>
              <a:rPr sz="900" dirty="0">
                <a:latin typeface="Arial"/>
                <a:cs typeface="Arial"/>
              </a:rPr>
              <a:t>the</a:t>
            </a:r>
            <a:r>
              <a:rPr sz="900" spc="-20" dirty="0">
                <a:latin typeface="Arial"/>
                <a:cs typeface="Arial"/>
              </a:rPr>
              <a:t> </a:t>
            </a:r>
            <a:r>
              <a:rPr sz="900" dirty="0">
                <a:latin typeface="Arial"/>
                <a:cs typeface="Arial"/>
              </a:rPr>
              <a:t>receipt</a:t>
            </a:r>
            <a:r>
              <a:rPr sz="900" spc="-20" dirty="0">
                <a:latin typeface="Arial"/>
                <a:cs typeface="Arial"/>
              </a:rPr>
              <a:t> </a:t>
            </a:r>
            <a:r>
              <a:rPr sz="900" dirty="0">
                <a:latin typeface="Arial"/>
                <a:cs typeface="Arial"/>
              </a:rPr>
              <a:t>of</a:t>
            </a:r>
            <a:r>
              <a:rPr sz="900" spc="-20" dirty="0">
                <a:latin typeface="Arial"/>
                <a:cs typeface="Arial"/>
              </a:rPr>
              <a:t> </a:t>
            </a:r>
            <a:r>
              <a:rPr sz="900" dirty="0">
                <a:latin typeface="Arial"/>
                <a:cs typeface="Arial"/>
              </a:rPr>
              <a:t>a</a:t>
            </a:r>
            <a:r>
              <a:rPr sz="900" spc="-20" dirty="0">
                <a:latin typeface="Arial"/>
                <a:cs typeface="Arial"/>
              </a:rPr>
              <a:t> </a:t>
            </a:r>
            <a:r>
              <a:rPr sz="900" dirty="0">
                <a:latin typeface="Arial"/>
                <a:cs typeface="Arial"/>
              </a:rPr>
              <a:t>message</a:t>
            </a:r>
            <a:r>
              <a:rPr sz="900" spc="-20" dirty="0">
                <a:latin typeface="Arial"/>
                <a:cs typeface="Arial"/>
              </a:rPr>
              <a:t> </a:t>
            </a:r>
            <a:r>
              <a:rPr sz="900" i="1" dirty="0">
                <a:latin typeface="Arial"/>
                <a:cs typeface="Arial"/>
              </a:rPr>
              <a:t>m</a:t>
            </a:r>
            <a:r>
              <a:rPr sz="900" dirty="0">
                <a:latin typeface="Arial"/>
                <a:cs typeface="Arial"/>
              </a:rPr>
              <a:t>,</a:t>
            </a:r>
            <a:r>
              <a:rPr sz="900" spc="-25" dirty="0">
                <a:latin typeface="Arial"/>
                <a:cs typeface="Arial"/>
              </a:rPr>
              <a:t> </a:t>
            </a:r>
            <a:r>
              <a:rPr sz="900" dirty="0">
                <a:latin typeface="Arial"/>
                <a:cs typeface="Arial"/>
              </a:rPr>
              <a:t>process</a:t>
            </a:r>
            <a:r>
              <a:rPr sz="900" spc="-20" dirty="0">
                <a:latin typeface="Arial"/>
                <a:cs typeface="Arial"/>
              </a:rPr>
              <a:t> </a:t>
            </a:r>
            <a:r>
              <a:rPr sz="900" i="1" dirty="0">
                <a:latin typeface="Arial"/>
                <a:cs typeface="Arial"/>
              </a:rPr>
              <a:t>P</a:t>
            </a:r>
            <a:r>
              <a:rPr sz="1050" i="1" baseline="-15873" dirty="0">
                <a:latin typeface="Arial"/>
                <a:cs typeface="Arial"/>
              </a:rPr>
              <a:t>j</a:t>
            </a:r>
            <a:r>
              <a:rPr sz="1050" i="1" spc="209" baseline="-15873" dirty="0">
                <a:latin typeface="Arial"/>
                <a:cs typeface="Arial"/>
              </a:rPr>
              <a:t> </a:t>
            </a:r>
            <a:r>
              <a:rPr sz="900" spc="-20" dirty="0">
                <a:latin typeface="Arial"/>
                <a:cs typeface="Arial"/>
              </a:rPr>
              <a:t>sets</a:t>
            </a:r>
            <a:endParaRPr sz="900">
              <a:latin typeface="Arial"/>
              <a:cs typeface="Arial"/>
            </a:endParaRPr>
          </a:p>
          <a:p>
            <a:pPr marL="555625" marR="43180">
              <a:lnSpc>
                <a:spcPct val="111600"/>
              </a:lnSpc>
            </a:pPr>
            <a:r>
              <a:rPr sz="900" i="1" spc="-10" dirty="0">
                <a:latin typeface="Arial"/>
                <a:cs typeface="Arial"/>
              </a:rPr>
              <a:t>VC</a:t>
            </a:r>
            <a:r>
              <a:rPr sz="1050" i="1" spc="-15" baseline="-15873" dirty="0">
                <a:latin typeface="Arial"/>
                <a:cs typeface="Arial"/>
              </a:rPr>
              <a:t>j</a:t>
            </a:r>
            <a:r>
              <a:rPr sz="1050" i="1" spc="-127" baseline="-15873" dirty="0">
                <a:latin typeface="Arial"/>
                <a:cs typeface="Arial"/>
              </a:rPr>
              <a:t> </a:t>
            </a:r>
            <a:r>
              <a:rPr sz="900" dirty="0">
                <a:latin typeface="Arial"/>
                <a:cs typeface="Arial"/>
              </a:rPr>
              <a:t>[</a:t>
            </a:r>
            <a:r>
              <a:rPr sz="900" i="1" dirty="0">
                <a:latin typeface="Arial"/>
                <a:cs typeface="Arial"/>
              </a:rPr>
              <a:t>k</a:t>
            </a:r>
            <a:r>
              <a:rPr sz="900" i="1" spc="-160" dirty="0">
                <a:latin typeface="Arial"/>
                <a:cs typeface="Arial"/>
              </a:rPr>
              <a:t> </a:t>
            </a:r>
            <a:r>
              <a:rPr sz="900" dirty="0">
                <a:latin typeface="Arial"/>
                <a:cs typeface="Arial"/>
              </a:rPr>
              <a:t>]</a:t>
            </a:r>
            <a:r>
              <a:rPr sz="900" spc="-50" dirty="0">
                <a:latin typeface="Arial"/>
                <a:cs typeface="Arial"/>
              </a:rPr>
              <a:t> </a:t>
            </a:r>
            <a:r>
              <a:rPr sz="900" i="1" spc="350" dirty="0">
                <a:latin typeface="Menlo"/>
                <a:cs typeface="Menlo"/>
              </a:rPr>
              <a:t>←</a:t>
            </a:r>
            <a:r>
              <a:rPr sz="900" i="1" spc="-340" dirty="0">
                <a:latin typeface="Menlo"/>
                <a:cs typeface="Menlo"/>
              </a:rPr>
              <a:t> </a:t>
            </a:r>
            <a:r>
              <a:rPr sz="900" spc="-40" dirty="0">
                <a:latin typeface="Arial"/>
                <a:cs typeface="Arial"/>
              </a:rPr>
              <a:t>max</a:t>
            </a:r>
            <a:r>
              <a:rPr sz="900" i="1" spc="-40" dirty="0">
                <a:latin typeface="Menlo"/>
                <a:cs typeface="Menlo"/>
              </a:rPr>
              <a:t>{</a:t>
            </a:r>
            <a:r>
              <a:rPr sz="900" i="1" spc="-40" dirty="0">
                <a:latin typeface="Arial"/>
                <a:cs typeface="Arial"/>
              </a:rPr>
              <a:t>VC</a:t>
            </a:r>
            <a:r>
              <a:rPr sz="1050" i="1" spc="-60" baseline="-15873" dirty="0">
                <a:latin typeface="Arial"/>
                <a:cs typeface="Arial"/>
              </a:rPr>
              <a:t>j</a:t>
            </a:r>
            <a:r>
              <a:rPr sz="1050" i="1" spc="-120" baseline="-15873" dirty="0">
                <a:latin typeface="Arial"/>
                <a:cs typeface="Arial"/>
              </a:rPr>
              <a:t> </a:t>
            </a:r>
            <a:r>
              <a:rPr sz="900" dirty="0">
                <a:latin typeface="Arial"/>
                <a:cs typeface="Arial"/>
              </a:rPr>
              <a:t>[</a:t>
            </a:r>
            <a:r>
              <a:rPr sz="900" i="1" dirty="0">
                <a:latin typeface="Arial"/>
                <a:cs typeface="Arial"/>
              </a:rPr>
              <a:t>k</a:t>
            </a:r>
            <a:r>
              <a:rPr sz="900" i="1" spc="-160" dirty="0">
                <a:latin typeface="Arial"/>
                <a:cs typeface="Arial"/>
              </a:rPr>
              <a:t> </a:t>
            </a:r>
            <a:r>
              <a:rPr sz="900" dirty="0">
                <a:latin typeface="Arial"/>
                <a:cs typeface="Arial"/>
              </a:rPr>
              <a:t>]</a:t>
            </a:r>
            <a:r>
              <a:rPr sz="900" i="1" dirty="0">
                <a:latin typeface="STIX Two Text"/>
                <a:cs typeface="STIX Two Text"/>
              </a:rPr>
              <a:t>,</a:t>
            </a:r>
            <a:r>
              <a:rPr sz="900" i="1" spc="-105" dirty="0">
                <a:latin typeface="STIX Two Text"/>
                <a:cs typeface="STIX Two Text"/>
              </a:rPr>
              <a:t> </a:t>
            </a:r>
            <a:r>
              <a:rPr sz="900" i="1" dirty="0">
                <a:latin typeface="Arial"/>
                <a:cs typeface="Arial"/>
              </a:rPr>
              <a:t>ts</a:t>
            </a:r>
            <a:r>
              <a:rPr sz="900" dirty="0">
                <a:latin typeface="Arial"/>
                <a:cs typeface="Arial"/>
              </a:rPr>
              <a:t>(</a:t>
            </a:r>
            <a:r>
              <a:rPr sz="900" i="1" dirty="0">
                <a:latin typeface="Arial"/>
                <a:cs typeface="Arial"/>
              </a:rPr>
              <a:t>m</a:t>
            </a:r>
            <a:r>
              <a:rPr sz="900" dirty="0">
                <a:latin typeface="Arial"/>
                <a:cs typeface="Arial"/>
              </a:rPr>
              <a:t>)[</a:t>
            </a:r>
            <a:r>
              <a:rPr sz="900" i="1" dirty="0">
                <a:latin typeface="Arial"/>
                <a:cs typeface="Arial"/>
              </a:rPr>
              <a:t>k</a:t>
            </a:r>
            <a:r>
              <a:rPr sz="900" i="1" spc="-160" dirty="0">
                <a:latin typeface="Arial"/>
                <a:cs typeface="Arial"/>
              </a:rPr>
              <a:t> </a:t>
            </a:r>
            <a:r>
              <a:rPr sz="900" spc="-50" dirty="0">
                <a:latin typeface="Arial"/>
                <a:cs typeface="Arial"/>
              </a:rPr>
              <a:t>]</a:t>
            </a:r>
            <a:r>
              <a:rPr sz="900" i="1" spc="-50" dirty="0">
                <a:latin typeface="Menlo"/>
                <a:cs typeface="Menlo"/>
              </a:rPr>
              <a:t>}</a:t>
            </a:r>
            <a:r>
              <a:rPr sz="900" i="1" spc="-290" dirty="0">
                <a:latin typeface="Menlo"/>
                <a:cs typeface="Menlo"/>
              </a:rPr>
              <a:t> </a:t>
            </a:r>
            <a:r>
              <a:rPr sz="900" dirty="0">
                <a:latin typeface="Arial"/>
                <a:cs typeface="Arial"/>
              </a:rPr>
              <a:t>for</a:t>
            </a:r>
            <a:r>
              <a:rPr sz="900" spc="5" dirty="0">
                <a:latin typeface="Arial"/>
                <a:cs typeface="Arial"/>
              </a:rPr>
              <a:t> </a:t>
            </a:r>
            <a:r>
              <a:rPr sz="900" dirty="0">
                <a:latin typeface="Arial"/>
                <a:cs typeface="Arial"/>
              </a:rPr>
              <a:t>each </a:t>
            </a:r>
            <a:r>
              <a:rPr sz="900" i="1" spc="-10" dirty="0">
                <a:latin typeface="Arial"/>
                <a:cs typeface="Arial"/>
              </a:rPr>
              <a:t>k</a:t>
            </a:r>
            <a:r>
              <a:rPr sz="900" i="1" spc="-160" dirty="0">
                <a:latin typeface="Arial"/>
                <a:cs typeface="Arial"/>
              </a:rPr>
              <a:t> </a:t>
            </a:r>
            <a:r>
              <a:rPr sz="900" dirty="0">
                <a:latin typeface="Arial"/>
                <a:cs typeface="Arial"/>
              </a:rPr>
              <a:t>,</a:t>
            </a:r>
            <a:r>
              <a:rPr sz="900" spc="5" dirty="0">
                <a:latin typeface="Arial"/>
                <a:cs typeface="Arial"/>
              </a:rPr>
              <a:t> </a:t>
            </a:r>
            <a:r>
              <a:rPr sz="900" dirty="0">
                <a:latin typeface="Arial"/>
                <a:cs typeface="Arial"/>
              </a:rPr>
              <a:t>after which</a:t>
            </a:r>
            <a:r>
              <a:rPr sz="900" spc="5" dirty="0">
                <a:latin typeface="Arial"/>
                <a:cs typeface="Arial"/>
              </a:rPr>
              <a:t> </a:t>
            </a:r>
            <a:r>
              <a:rPr sz="900" dirty="0">
                <a:latin typeface="Arial"/>
                <a:cs typeface="Arial"/>
              </a:rPr>
              <a:t>it </a:t>
            </a:r>
            <a:r>
              <a:rPr sz="900" spc="-20" dirty="0">
                <a:latin typeface="Arial"/>
                <a:cs typeface="Arial"/>
              </a:rPr>
              <a:t>executes</a:t>
            </a:r>
            <a:r>
              <a:rPr sz="900" spc="5" dirty="0">
                <a:latin typeface="Arial"/>
                <a:cs typeface="Arial"/>
              </a:rPr>
              <a:t> </a:t>
            </a:r>
            <a:r>
              <a:rPr sz="900" dirty="0">
                <a:latin typeface="Arial"/>
                <a:cs typeface="Arial"/>
              </a:rPr>
              <a:t>step </a:t>
            </a:r>
            <a:r>
              <a:rPr sz="900" spc="-50" dirty="0">
                <a:latin typeface="Arial"/>
                <a:cs typeface="Arial"/>
              </a:rPr>
              <a:t>1</a:t>
            </a:r>
            <a:r>
              <a:rPr sz="900" dirty="0">
                <a:latin typeface="Arial"/>
                <a:cs typeface="Arial"/>
              </a:rPr>
              <a:t> and</a:t>
            </a:r>
            <a:r>
              <a:rPr sz="900" spc="-30" dirty="0">
                <a:latin typeface="Arial"/>
                <a:cs typeface="Arial"/>
              </a:rPr>
              <a:t> </a:t>
            </a:r>
            <a:r>
              <a:rPr sz="900" dirty="0">
                <a:latin typeface="Arial"/>
                <a:cs typeface="Arial"/>
              </a:rPr>
              <a:t>then</a:t>
            </a:r>
            <a:r>
              <a:rPr sz="900" spc="-25" dirty="0">
                <a:latin typeface="Arial"/>
                <a:cs typeface="Arial"/>
              </a:rPr>
              <a:t> </a:t>
            </a:r>
            <a:r>
              <a:rPr sz="900" dirty="0">
                <a:latin typeface="Arial"/>
                <a:cs typeface="Arial"/>
              </a:rPr>
              <a:t>delivers</a:t>
            </a:r>
            <a:r>
              <a:rPr sz="900" spc="-30" dirty="0">
                <a:latin typeface="Arial"/>
                <a:cs typeface="Arial"/>
              </a:rPr>
              <a:t> </a:t>
            </a:r>
            <a:r>
              <a:rPr sz="900" dirty="0">
                <a:latin typeface="Arial"/>
                <a:cs typeface="Arial"/>
              </a:rPr>
              <a:t>the</a:t>
            </a:r>
            <a:r>
              <a:rPr sz="900" spc="-30" dirty="0">
                <a:latin typeface="Arial"/>
                <a:cs typeface="Arial"/>
              </a:rPr>
              <a:t> </a:t>
            </a:r>
            <a:r>
              <a:rPr sz="900" dirty="0">
                <a:latin typeface="Arial"/>
                <a:cs typeface="Arial"/>
              </a:rPr>
              <a:t>message</a:t>
            </a:r>
            <a:r>
              <a:rPr sz="900" spc="-25" dirty="0">
                <a:latin typeface="Arial"/>
                <a:cs typeface="Arial"/>
              </a:rPr>
              <a:t> </a:t>
            </a:r>
            <a:r>
              <a:rPr sz="900" dirty="0">
                <a:latin typeface="Arial"/>
                <a:cs typeface="Arial"/>
              </a:rPr>
              <a:t>to</a:t>
            </a:r>
            <a:r>
              <a:rPr sz="900" spc="-30" dirty="0">
                <a:latin typeface="Arial"/>
                <a:cs typeface="Arial"/>
              </a:rPr>
              <a:t> </a:t>
            </a:r>
            <a:r>
              <a:rPr sz="900" dirty="0">
                <a:latin typeface="Arial"/>
                <a:cs typeface="Arial"/>
              </a:rPr>
              <a:t>the</a:t>
            </a:r>
            <a:r>
              <a:rPr sz="900" spc="-25" dirty="0">
                <a:latin typeface="Arial"/>
                <a:cs typeface="Arial"/>
              </a:rPr>
              <a:t> </a:t>
            </a:r>
            <a:r>
              <a:rPr sz="900" spc="-10" dirty="0">
                <a:latin typeface="Arial"/>
                <a:cs typeface="Arial"/>
              </a:rPr>
              <a:t>application.</a:t>
            </a:r>
            <a:endParaRPr sz="900">
              <a:latin typeface="Arial"/>
              <a:cs typeface="Arial"/>
            </a:endParaRPr>
          </a:p>
        </p:txBody>
      </p:sp>
      <p:grpSp>
        <p:nvGrpSpPr>
          <p:cNvPr id="6" name="object 6"/>
          <p:cNvGrpSpPr/>
          <p:nvPr/>
        </p:nvGrpSpPr>
        <p:grpSpPr>
          <a:xfrm>
            <a:off x="0" y="3348469"/>
            <a:ext cx="4608195" cy="107950"/>
            <a:chOff x="0" y="3348469"/>
            <a:chExt cx="4608195" cy="107950"/>
          </a:xfrm>
        </p:grpSpPr>
        <p:sp>
          <p:nvSpPr>
            <p:cNvPr id="7" name="object 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9" name="object 9"/>
          <p:cNvSpPr txBox="1"/>
          <p:nvPr/>
        </p:nvSpPr>
        <p:spPr>
          <a:xfrm>
            <a:off x="53467" y="3349927"/>
            <a:ext cx="395605"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4" action="ppaction://hlinksldjump"/>
              </a:rPr>
              <a:t>Vector</a:t>
            </a:r>
            <a:r>
              <a:rPr sz="500" dirty="0">
                <a:latin typeface="Arial"/>
                <a:cs typeface="Arial"/>
                <a:hlinkClick r:id="rId4" action="ppaction://hlinksldjump"/>
              </a:rPr>
              <a:t> </a:t>
            </a:r>
            <a:r>
              <a:rPr sz="500" spc="-10" dirty="0">
                <a:latin typeface="Arial"/>
                <a:cs typeface="Arial"/>
                <a:hlinkClick r:id="rId4" action="ppaction://hlinksldjump"/>
              </a:rPr>
              <a:t>clocks</a:t>
            </a:r>
            <a:endParaRPr sz="500">
              <a:latin typeface="Arial"/>
              <a:cs typeface="Arial"/>
            </a:endParaRPr>
          </a:p>
        </p:txBody>
      </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8417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Coordination</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136644" y="-1515"/>
            <a:ext cx="41846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Logical</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clocks</a:t>
            </a:r>
            <a:endParaRPr sz="500">
              <a:latin typeface="Arial"/>
              <a:cs typeface="Arial"/>
            </a:endParaRPr>
          </a:p>
        </p:txBody>
      </p:sp>
      <p:sp>
        <p:nvSpPr>
          <p:cNvPr id="5" name="object 5"/>
          <p:cNvSpPr txBox="1"/>
          <p:nvPr/>
        </p:nvSpPr>
        <p:spPr>
          <a:xfrm>
            <a:off x="95300" y="197711"/>
            <a:ext cx="3496945" cy="494665"/>
          </a:xfrm>
          <a:prstGeom prst="rect">
            <a:avLst/>
          </a:prstGeom>
        </p:spPr>
        <p:txBody>
          <a:bodyPr vert="horz" wrap="square" lIns="0" tIns="12065" rIns="0" bIns="0" rtlCol="0">
            <a:spAutoFit/>
          </a:bodyPr>
          <a:lstStyle/>
          <a:p>
            <a:pPr marL="12700">
              <a:lnSpc>
                <a:spcPct val="100000"/>
              </a:lnSpc>
              <a:spcBef>
                <a:spcPts val="95"/>
              </a:spcBef>
            </a:pPr>
            <a:r>
              <a:rPr sz="1200" spc="-20" dirty="0">
                <a:solidFill>
                  <a:srgbClr val="3333B2"/>
                </a:solidFill>
                <a:latin typeface="Arial"/>
                <a:cs typeface="Arial"/>
              </a:rPr>
              <a:t>Vector</a:t>
            </a:r>
            <a:r>
              <a:rPr sz="1200" spc="-40" dirty="0">
                <a:solidFill>
                  <a:srgbClr val="3333B2"/>
                </a:solidFill>
                <a:latin typeface="Arial"/>
                <a:cs typeface="Arial"/>
              </a:rPr>
              <a:t> </a:t>
            </a:r>
            <a:r>
              <a:rPr sz="1200" dirty="0">
                <a:solidFill>
                  <a:srgbClr val="3333B2"/>
                </a:solidFill>
                <a:latin typeface="Arial"/>
                <a:cs typeface="Arial"/>
              </a:rPr>
              <a:t>clocks:</a:t>
            </a:r>
            <a:r>
              <a:rPr sz="1200" spc="30" dirty="0">
                <a:solidFill>
                  <a:srgbClr val="3333B2"/>
                </a:solidFill>
                <a:latin typeface="Arial"/>
                <a:cs typeface="Arial"/>
              </a:rPr>
              <a:t> </a:t>
            </a:r>
            <a:r>
              <a:rPr sz="1200" spc="-10" dirty="0">
                <a:solidFill>
                  <a:srgbClr val="3333B2"/>
                </a:solidFill>
                <a:latin typeface="Arial"/>
                <a:cs typeface="Arial"/>
              </a:rPr>
              <a:t>Example</a:t>
            </a:r>
            <a:endParaRPr sz="1200">
              <a:latin typeface="Arial"/>
              <a:cs typeface="Arial"/>
            </a:endParaRPr>
          </a:p>
          <a:p>
            <a:pPr marL="264160">
              <a:lnSpc>
                <a:spcPct val="100000"/>
              </a:lnSpc>
              <a:spcBef>
                <a:spcPts val="1055"/>
              </a:spcBef>
            </a:pPr>
            <a:r>
              <a:rPr sz="1000" dirty="0">
                <a:solidFill>
                  <a:srgbClr val="3333B2"/>
                </a:solidFill>
                <a:latin typeface="Arial"/>
                <a:cs typeface="Arial"/>
              </a:rPr>
              <a:t>Capturing</a:t>
            </a:r>
            <a:r>
              <a:rPr sz="1000" spc="-30" dirty="0">
                <a:solidFill>
                  <a:srgbClr val="3333B2"/>
                </a:solidFill>
                <a:latin typeface="Arial"/>
                <a:cs typeface="Arial"/>
              </a:rPr>
              <a:t> </a:t>
            </a:r>
            <a:r>
              <a:rPr sz="1000" dirty="0">
                <a:solidFill>
                  <a:srgbClr val="3333B2"/>
                </a:solidFill>
                <a:latin typeface="Arial"/>
                <a:cs typeface="Arial"/>
              </a:rPr>
              <a:t>potential</a:t>
            </a:r>
            <a:r>
              <a:rPr sz="1000" spc="-30" dirty="0">
                <a:solidFill>
                  <a:srgbClr val="3333B2"/>
                </a:solidFill>
                <a:latin typeface="Arial"/>
                <a:cs typeface="Arial"/>
              </a:rPr>
              <a:t> </a:t>
            </a:r>
            <a:r>
              <a:rPr sz="1000" dirty="0">
                <a:solidFill>
                  <a:srgbClr val="3333B2"/>
                </a:solidFill>
                <a:latin typeface="Arial"/>
                <a:cs typeface="Arial"/>
              </a:rPr>
              <a:t>causality</a:t>
            </a:r>
            <a:r>
              <a:rPr sz="1000" spc="-25" dirty="0">
                <a:solidFill>
                  <a:srgbClr val="3333B2"/>
                </a:solidFill>
                <a:latin typeface="Arial"/>
                <a:cs typeface="Arial"/>
              </a:rPr>
              <a:t> </a:t>
            </a:r>
            <a:r>
              <a:rPr sz="1000" dirty="0">
                <a:solidFill>
                  <a:srgbClr val="3333B2"/>
                </a:solidFill>
                <a:latin typeface="Arial"/>
                <a:cs typeface="Arial"/>
              </a:rPr>
              <a:t>when</a:t>
            </a:r>
            <a:r>
              <a:rPr sz="1000" spc="-30" dirty="0">
                <a:solidFill>
                  <a:srgbClr val="3333B2"/>
                </a:solidFill>
                <a:latin typeface="Arial"/>
                <a:cs typeface="Arial"/>
              </a:rPr>
              <a:t> </a:t>
            </a:r>
            <a:r>
              <a:rPr sz="1000" spc="-10" dirty="0">
                <a:solidFill>
                  <a:srgbClr val="3333B2"/>
                </a:solidFill>
                <a:latin typeface="Arial"/>
                <a:cs typeface="Arial"/>
              </a:rPr>
              <a:t>exchanging</a:t>
            </a:r>
            <a:r>
              <a:rPr sz="1000" spc="-30" dirty="0">
                <a:solidFill>
                  <a:srgbClr val="3333B2"/>
                </a:solidFill>
                <a:latin typeface="Arial"/>
                <a:cs typeface="Arial"/>
              </a:rPr>
              <a:t> </a:t>
            </a:r>
            <a:r>
              <a:rPr sz="1000" spc="-10" dirty="0">
                <a:solidFill>
                  <a:srgbClr val="3333B2"/>
                </a:solidFill>
                <a:latin typeface="Arial"/>
                <a:cs typeface="Arial"/>
              </a:rPr>
              <a:t>messages</a:t>
            </a:r>
            <a:endParaRPr sz="1000">
              <a:latin typeface="Arial"/>
              <a:cs typeface="Arial"/>
            </a:endParaRPr>
          </a:p>
        </p:txBody>
      </p:sp>
      <p:pic>
        <p:nvPicPr>
          <p:cNvPr id="6" name="object 6"/>
          <p:cNvPicPr/>
          <p:nvPr/>
        </p:nvPicPr>
        <p:blipFill>
          <a:blip r:embed="rId4" cstate="print"/>
          <a:stretch>
            <a:fillRect/>
          </a:stretch>
        </p:blipFill>
        <p:spPr>
          <a:xfrm>
            <a:off x="423354" y="717305"/>
            <a:ext cx="1835581" cy="910972"/>
          </a:xfrm>
          <a:prstGeom prst="rect">
            <a:avLst/>
          </a:prstGeom>
        </p:spPr>
      </p:pic>
      <p:pic>
        <p:nvPicPr>
          <p:cNvPr id="7" name="object 7"/>
          <p:cNvPicPr/>
          <p:nvPr/>
        </p:nvPicPr>
        <p:blipFill>
          <a:blip r:embed="rId5" cstate="print"/>
          <a:stretch>
            <a:fillRect/>
          </a:stretch>
        </p:blipFill>
        <p:spPr>
          <a:xfrm>
            <a:off x="2506675" y="717305"/>
            <a:ext cx="1835581" cy="910972"/>
          </a:xfrm>
          <a:prstGeom prst="rect">
            <a:avLst/>
          </a:prstGeom>
        </p:spPr>
      </p:pic>
      <p:sp>
        <p:nvSpPr>
          <p:cNvPr id="8" name="object 8"/>
          <p:cNvSpPr txBox="1"/>
          <p:nvPr/>
        </p:nvSpPr>
        <p:spPr>
          <a:xfrm>
            <a:off x="1251191" y="1722830"/>
            <a:ext cx="149225" cy="147320"/>
          </a:xfrm>
          <a:prstGeom prst="rect">
            <a:avLst/>
          </a:prstGeom>
        </p:spPr>
        <p:txBody>
          <a:bodyPr vert="horz" wrap="square" lIns="0" tIns="12065" rIns="0" bIns="0" rtlCol="0">
            <a:spAutoFit/>
          </a:bodyPr>
          <a:lstStyle/>
          <a:p>
            <a:pPr marL="12700">
              <a:lnSpc>
                <a:spcPct val="100000"/>
              </a:lnSpc>
              <a:spcBef>
                <a:spcPts val="95"/>
              </a:spcBef>
            </a:pPr>
            <a:r>
              <a:rPr sz="800" spc="-25" dirty="0">
                <a:latin typeface="Arial"/>
                <a:cs typeface="Arial"/>
              </a:rPr>
              <a:t>(a)</a:t>
            </a:r>
            <a:endParaRPr sz="800">
              <a:latin typeface="Arial"/>
              <a:cs typeface="Arial"/>
            </a:endParaRPr>
          </a:p>
        </p:txBody>
      </p:sp>
      <p:sp>
        <p:nvSpPr>
          <p:cNvPr id="9" name="object 9"/>
          <p:cNvSpPr txBox="1"/>
          <p:nvPr/>
        </p:nvSpPr>
        <p:spPr>
          <a:xfrm>
            <a:off x="3334506" y="1722830"/>
            <a:ext cx="149225" cy="147320"/>
          </a:xfrm>
          <a:prstGeom prst="rect">
            <a:avLst/>
          </a:prstGeom>
        </p:spPr>
        <p:txBody>
          <a:bodyPr vert="horz" wrap="square" lIns="0" tIns="12065" rIns="0" bIns="0" rtlCol="0">
            <a:spAutoFit/>
          </a:bodyPr>
          <a:lstStyle/>
          <a:p>
            <a:pPr marL="12700">
              <a:lnSpc>
                <a:spcPct val="100000"/>
              </a:lnSpc>
              <a:spcBef>
                <a:spcPts val="95"/>
              </a:spcBef>
            </a:pPr>
            <a:r>
              <a:rPr sz="800" spc="-25" dirty="0">
                <a:latin typeface="Arial"/>
                <a:cs typeface="Arial"/>
              </a:rPr>
              <a:t>(b)</a:t>
            </a:r>
            <a:endParaRPr sz="800">
              <a:latin typeface="Arial"/>
              <a:cs typeface="Arial"/>
            </a:endParaRPr>
          </a:p>
        </p:txBody>
      </p:sp>
      <p:sp>
        <p:nvSpPr>
          <p:cNvPr id="10" name="object 10"/>
          <p:cNvSpPr txBox="1"/>
          <p:nvPr/>
        </p:nvSpPr>
        <p:spPr>
          <a:xfrm>
            <a:off x="343128" y="1970575"/>
            <a:ext cx="496570" cy="177800"/>
          </a:xfrm>
          <a:prstGeom prst="rect">
            <a:avLst/>
          </a:prstGeom>
        </p:spPr>
        <p:txBody>
          <a:bodyPr vert="horz" wrap="square" lIns="0" tIns="12065" rIns="0" bIns="0" rtlCol="0">
            <a:spAutoFit/>
          </a:bodyPr>
          <a:lstStyle/>
          <a:p>
            <a:pPr marL="12700">
              <a:lnSpc>
                <a:spcPct val="100000"/>
              </a:lnSpc>
              <a:spcBef>
                <a:spcPts val="95"/>
              </a:spcBef>
            </a:pPr>
            <a:r>
              <a:rPr sz="1000" spc="-10" dirty="0">
                <a:solidFill>
                  <a:srgbClr val="3333B2"/>
                </a:solidFill>
                <a:latin typeface="Arial"/>
                <a:cs typeface="Arial"/>
              </a:rPr>
              <a:t>Analysis</a:t>
            </a:r>
            <a:endParaRPr sz="1000">
              <a:latin typeface="Arial"/>
              <a:cs typeface="Arial"/>
            </a:endParaRPr>
          </a:p>
        </p:txBody>
      </p:sp>
      <p:graphicFrame>
        <p:nvGraphicFramePr>
          <p:cNvPr id="11" name="object 11"/>
          <p:cNvGraphicFramePr>
            <a:graphicFrameLocks noGrp="1"/>
          </p:cNvGraphicFramePr>
          <p:nvPr/>
        </p:nvGraphicFramePr>
        <p:xfrm>
          <a:off x="360006" y="2380729"/>
          <a:ext cx="3943348" cy="741680"/>
        </p:xfrm>
        <a:graphic>
          <a:graphicData uri="http://schemas.openxmlformats.org/drawingml/2006/table">
            <a:tbl>
              <a:tblPr firstRow="1" bandRow="1">
                <a:tableStyleId>{2D5ABB26-0587-4C30-8999-92F81FD0307C}</a:tableStyleId>
              </a:tblPr>
              <a:tblGrid>
                <a:gridCol w="589915">
                  <a:extLst>
                    <a:ext uri="{9D8B030D-6E8A-4147-A177-3AD203B41FA5}">
                      <a16:colId xmlns:a16="http://schemas.microsoft.com/office/drawing/2014/main" val="20000"/>
                    </a:ext>
                  </a:extLst>
                </a:gridCol>
                <a:gridCol w="487679">
                  <a:extLst>
                    <a:ext uri="{9D8B030D-6E8A-4147-A177-3AD203B41FA5}">
                      <a16:colId xmlns:a16="http://schemas.microsoft.com/office/drawing/2014/main" val="20001"/>
                    </a:ext>
                  </a:extLst>
                </a:gridCol>
                <a:gridCol w="487680">
                  <a:extLst>
                    <a:ext uri="{9D8B030D-6E8A-4147-A177-3AD203B41FA5}">
                      <a16:colId xmlns:a16="http://schemas.microsoft.com/office/drawing/2014/main" val="20002"/>
                    </a:ext>
                  </a:extLst>
                </a:gridCol>
                <a:gridCol w="459105">
                  <a:extLst>
                    <a:ext uri="{9D8B030D-6E8A-4147-A177-3AD203B41FA5}">
                      <a16:colId xmlns:a16="http://schemas.microsoft.com/office/drawing/2014/main" val="20003"/>
                    </a:ext>
                  </a:extLst>
                </a:gridCol>
                <a:gridCol w="459105">
                  <a:extLst>
                    <a:ext uri="{9D8B030D-6E8A-4147-A177-3AD203B41FA5}">
                      <a16:colId xmlns:a16="http://schemas.microsoft.com/office/drawing/2014/main" val="20004"/>
                    </a:ext>
                  </a:extLst>
                </a:gridCol>
                <a:gridCol w="1459864">
                  <a:extLst>
                    <a:ext uri="{9D8B030D-6E8A-4147-A177-3AD203B41FA5}">
                      <a16:colId xmlns:a16="http://schemas.microsoft.com/office/drawing/2014/main" val="20005"/>
                    </a:ext>
                  </a:extLst>
                </a:gridCol>
              </a:tblGrid>
              <a:tr h="408305">
                <a:tc>
                  <a:txBody>
                    <a:bodyPr/>
                    <a:lstStyle/>
                    <a:p>
                      <a:pPr algn="ctr">
                        <a:lnSpc>
                          <a:spcPct val="100000"/>
                        </a:lnSpc>
                        <a:spcBef>
                          <a:spcPts val="95"/>
                        </a:spcBef>
                      </a:pPr>
                      <a:r>
                        <a:rPr sz="800" b="1" spc="-10" dirty="0">
                          <a:latin typeface="Arial"/>
                          <a:cs typeface="Arial"/>
                        </a:rPr>
                        <a:t>Situation</a:t>
                      </a:r>
                      <a:endParaRPr sz="800">
                        <a:latin typeface="Arial"/>
                        <a:cs typeface="Arial"/>
                      </a:endParaRPr>
                    </a:p>
                  </a:txBody>
                  <a:tcPr marL="0" marR="0" marT="12065"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tc>
                  <a:txBody>
                    <a:bodyPr/>
                    <a:lstStyle/>
                    <a:p>
                      <a:pPr algn="ctr">
                        <a:lnSpc>
                          <a:spcPct val="100000"/>
                        </a:lnSpc>
                        <a:spcBef>
                          <a:spcPts val="95"/>
                        </a:spcBef>
                      </a:pPr>
                      <a:r>
                        <a:rPr sz="800" i="1" dirty="0">
                          <a:latin typeface="Arial"/>
                          <a:cs typeface="Arial"/>
                        </a:rPr>
                        <a:t>ts</a:t>
                      </a:r>
                      <a:r>
                        <a:rPr sz="800" dirty="0">
                          <a:latin typeface="Arial"/>
                          <a:cs typeface="Arial"/>
                        </a:rPr>
                        <a:t>(</a:t>
                      </a:r>
                      <a:r>
                        <a:rPr sz="800" i="1" dirty="0">
                          <a:latin typeface="Arial"/>
                          <a:cs typeface="Arial"/>
                        </a:rPr>
                        <a:t>m</a:t>
                      </a:r>
                      <a:r>
                        <a:rPr sz="900" i="1" baseline="-13888" dirty="0">
                          <a:latin typeface="Arial"/>
                          <a:cs typeface="Arial"/>
                        </a:rPr>
                        <a:t>2</a:t>
                      </a:r>
                      <a:r>
                        <a:rPr sz="900" i="1" spc="-30" baseline="-13888" dirty="0">
                          <a:latin typeface="Arial"/>
                          <a:cs typeface="Arial"/>
                        </a:rPr>
                        <a:t> </a:t>
                      </a:r>
                      <a:r>
                        <a:rPr sz="800" spc="10" dirty="0">
                          <a:latin typeface="Arial"/>
                          <a:cs typeface="Arial"/>
                        </a:rPr>
                        <a:t>)</a:t>
                      </a:r>
                      <a:endParaRPr sz="800">
                        <a:latin typeface="Arial"/>
                        <a:cs typeface="Arial"/>
                      </a:endParaRPr>
                    </a:p>
                  </a:txBody>
                  <a:tcPr marL="0" marR="0" marT="12065"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tc>
                  <a:txBody>
                    <a:bodyPr/>
                    <a:lstStyle/>
                    <a:p>
                      <a:pPr algn="ctr">
                        <a:lnSpc>
                          <a:spcPct val="100000"/>
                        </a:lnSpc>
                        <a:spcBef>
                          <a:spcPts val="95"/>
                        </a:spcBef>
                      </a:pPr>
                      <a:r>
                        <a:rPr sz="800" i="1" dirty="0">
                          <a:latin typeface="Arial"/>
                          <a:cs typeface="Arial"/>
                        </a:rPr>
                        <a:t>ts</a:t>
                      </a:r>
                      <a:r>
                        <a:rPr sz="800" dirty="0">
                          <a:latin typeface="Arial"/>
                          <a:cs typeface="Arial"/>
                        </a:rPr>
                        <a:t>(</a:t>
                      </a:r>
                      <a:r>
                        <a:rPr sz="800" i="1" dirty="0">
                          <a:latin typeface="Arial"/>
                          <a:cs typeface="Arial"/>
                        </a:rPr>
                        <a:t>m</a:t>
                      </a:r>
                      <a:r>
                        <a:rPr sz="900" i="1" baseline="-13888" dirty="0">
                          <a:latin typeface="Arial"/>
                          <a:cs typeface="Arial"/>
                        </a:rPr>
                        <a:t>4</a:t>
                      </a:r>
                      <a:r>
                        <a:rPr sz="900" i="1" spc="-67" baseline="-13888" dirty="0">
                          <a:latin typeface="Arial"/>
                          <a:cs typeface="Arial"/>
                        </a:rPr>
                        <a:t> </a:t>
                      </a:r>
                      <a:r>
                        <a:rPr sz="800" spc="10" dirty="0">
                          <a:latin typeface="Arial"/>
                          <a:cs typeface="Arial"/>
                        </a:rPr>
                        <a:t>)</a:t>
                      </a:r>
                      <a:endParaRPr sz="800">
                        <a:latin typeface="Arial"/>
                        <a:cs typeface="Arial"/>
                      </a:endParaRPr>
                    </a:p>
                  </a:txBody>
                  <a:tcPr marL="0" marR="0" marT="12065"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tc>
                  <a:txBody>
                    <a:bodyPr/>
                    <a:lstStyle/>
                    <a:p>
                      <a:pPr algn="ctr">
                        <a:lnSpc>
                          <a:spcPts val="950"/>
                        </a:lnSpc>
                        <a:spcBef>
                          <a:spcPts val="95"/>
                        </a:spcBef>
                      </a:pPr>
                      <a:r>
                        <a:rPr sz="800" i="1" dirty="0">
                          <a:latin typeface="Arial"/>
                          <a:cs typeface="Arial"/>
                        </a:rPr>
                        <a:t>ts</a:t>
                      </a:r>
                      <a:r>
                        <a:rPr sz="800" dirty="0">
                          <a:latin typeface="Arial"/>
                          <a:cs typeface="Arial"/>
                        </a:rPr>
                        <a:t>(</a:t>
                      </a:r>
                      <a:r>
                        <a:rPr sz="800" i="1" dirty="0">
                          <a:latin typeface="Arial"/>
                          <a:cs typeface="Arial"/>
                        </a:rPr>
                        <a:t>m</a:t>
                      </a:r>
                      <a:r>
                        <a:rPr sz="900" i="1" baseline="-13888" dirty="0">
                          <a:latin typeface="Arial"/>
                          <a:cs typeface="Arial"/>
                        </a:rPr>
                        <a:t>2</a:t>
                      </a:r>
                      <a:r>
                        <a:rPr sz="900" i="1" spc="-30" baseline="-13888" dirty="0">
                          <a:latin typeface="Arial"/>
                          <a:cs typeface="Arial"/>
                        </a:rPr>
                        <a:t> </a:t>
                      </a:r>
                      <a:r>
                        <a:rPr sz="800" spc="10" dirty="0">
                          <a:latin typeface="Arial"/>
                          <a:cs typeface="Arial"/>
                        </a:rPr>
                        <a:t>)</a:t>
                      </a:r>
                      <a:endParaRPr sz="800">
                        <a:latin typeface="Arial"/>
                        <a:cs typeface="Arial"/>
                      </a:endParaRPr>
                    </a:p>
                    <a:p>
                      <a:pPr algn="ctr">
                        <a:lnSpc>
                          <a:spcPts val="935"/>
                        </a:lnSpc>
                      </a:pPr>
                      <a:r>
                        <a:rPr sz="800" i="1" dirty="0">
                          <a:latin typeface="STIX Two Text"/>
                          <a:cs typeface="STIX Two Text"/>
                        </a:rPr>
                        <a:t>&lt;</a:t>
                      </a:r>
                      <a:endParaRPr sz="800">
                        <a:latin typeface="STIX Two Text"/>
                        <a:cs typeface="STIX Two Text"/>
                      </a:endParaRPr>
                    </a:p>
                    <a:p>
                      <a:pPr algn="ctr">
                        <a:lnSpc>
                          <a:spcPts val="950"/>
                        </a:lnSpc>
                      </a:pPr>
                      <a:r>
                        <a:rPr sz="800" i="1" dirty="0">
                          <a:latin typeface="Arial"/>
                          <a:cs typeface="Arial"/>
                        </a:rPr>
                        <a:t>ts</a:t>
                      </a:r>
                      <a:r>
                        <a:rPr sz="800" dirty="0">
                          <a:latin typeface="Arial"/>
                          <a:cs typeface="Arial"/>
                        </a:rPr>
                        <a:t>(</a:t>
                      </a:r>
                      <a:r>
                        <a:rPr sz="800" i="1" dirty="0">
                          <a:latin typeface="Arial"/>
                          <a:cs typeface="Arial"/>
                        </a:rPr>
                        <a:t>m</a:t>
                      </a:r>
                      <a:r>
                        <a:rPr sz="900" i="1" baseline="-13888" dirty="0">
                          <a:latin typeface="Arial"/>
                          <a:cs typeface="Arial"/>
                        </a:rPr>
                        <a:t>4</a:t>
                      </a:r>
                      <a:r>
                        <a:rPr sz="900" i="1" spc="-67" baseline="-13888" dirty="0">
                          <a:latin typeface="Arial"/>
                          <a:cs typeface="Arial"/>
                        </a:rPr>
                        <a:t> </a:t>
                      </a:r>
                      <a:r>
                        <a:rPr sz="800" spc="10" dirty="0">
                          <a:latin typeface="Arial"/>
                          <a:cs typeface="Arial"/>
                        </a:rPr>
                        <a:t>)</a:t>
                      </a:r>
                      <a:endParaRPr sz="800">
                        <a:latin typeface="Arial"/>
                        <a:cs typeface="Arial"/>
                      </a:endParaRPr>
                    </a:p>
                  </a:txBody>
                  <a:tcPr marL="0" marR="0" marT="12065"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tc>
                  <a:txBody>
                    <a:bodyPr/>
                    <a:lstStyle/>
                    <a:p>
                      <a:pPr algn="ctr">
                        <a:lnSpc>
                          <a:spcPts val="950"/>
                        </a:lnSpc>
                        <a:spcBef>
                          <a:spcPts val="95"/>
                        </a:spcBef>
                      </a:pPr>
                      <a:r>
                        <a:rPr sz="800" i="1" dirty="0">
                          <a:latin typeface="Arial"/>
                          <a:cs typeface="Arial"/>
                        </a:rPr>
                        <a:t>ts</a:t>
                      </a:r>
                      <a:r>
                        <a:rPr sz="800" dirty="0">
                          <a:latin typeface="Arial"/>
                          <a:cs typeface="Arial"/>
                        </a:rPr>
                        <a:t>(</a:t>
                      </a:r>
                      <a:r>
                        <a:rPr sz="800" i="1" dirty="0">
                          <a:latin typeface="Arial"/>
                          <a:cs typeface="Arial"/>
                        </a:rPr>
                        <a:t>m</a:t>
                      </a:r>
                      <a:r>
                        <a:rPr sz="900" i="1" baseline="-13888" dirty="0">
                          <a:latin typeface="Arial"/>
                          <a:cs typeface="Arial"/>
                        </a:rPr>
                        <a:t>2</a:t>
                      </a:r>
                      <a:r>
                        <a:rPr sz="900" i="1" spc="-30" baseline="-13888" dirty="0">
                          <a:latin typeface="Arial"/>
                          <a:cs typeface="Arial"/>
                        </a:rPr>
                        <a:t> </a:t>
                      </a:r>
                      <a:r>
                        <a:rPr sz="800" spc="10" dirty="0">
                          <a:latin typeface="Arial"/>
                          <a:cs typeface="Arial"/>
                        </a:rPr>
                        <a:t>)</a:t>
                      </a:r>
                      <a:endParaRPr sz="800">
                        <a:latin typeface="Arial"/>
                        <a:cs typeface="Arial"/>
                      </a:endParaRPr>
                    </a:p>
                    <a:p>
                      <a:pPr algn="ctr">
                        <a:lnSpc>
                          <a:spcPts val="935"/>
                        </a:lnSpc>
                      </a:pPr>
                      <a:r>
                        <a:rPr sz="800" i="1" dirty="0">
                          <a:latin typeface="STIX Two Text"/>
                          <a:cs typeface="STIX Two Text"/>
                        </a:rPr>
                        <a:t>&gt;</a:t>
                      </a:r>
                      <a:endParaRPr sz="800">
                        <a:latin typeface="STIX Two Text"/>
                        <a:cs typeface="STIX Two Text"/>
                      </a:endParaRPr>
                    </a:p>
                    <a:p>
                      <a:pPr algn="ctr">
                        <a:lnSpc>
                          <a:spcPts val="950"/>
                        </a:lnSpc>
                      </a:pPr>
                      <a:r>
                        <a:rPr sz="800" i="1" dirty="0">
                          <a:latin typeface="Arial"/>
                          <a:cs typeface="Arial"/>
                        </a:rPr>
                        <a:t>ts</a:t>
                      </a:r>
                      <a:r>
                        <a:rPr sz="800" dirty="0">
                          <a:latin typeface="Arial"/>
                          <a:cs typeface="Arial"/>
                        </a:rPr>
                        <a:t>(</a:t>
                      </a:r>
                      <a:r>
                        <a:rPr sz="800" i="1" dirty="0">
                          <a:latin typeface="Arial"/>
                          <a:cs typeface="Arial"/>
                        </a:rPr>
                        <a:t>m</a:t>
                      </a:r>
                      <a:r>
                        <a:rPr sz="900" i="1" baseline="-13888" dirty="0">
                          <a:latin typeface="Arial"/>
                          <a:cs typeface="Arial"/>
                        </a:rPr>
                        <a:t>4</a:t>
                      </a:r>
                      <a:r>
                        <a:rPr sz="900" i="1" spc="-67" baseline="-13888" dirty="0">
                          <a:latin typeface="Arial"/>
                          <a:cs typeface="Arial"/>
                        </a:rPr>
                        <a:t> </a:t>
                      </a:r>
                      <a:r>
                        <a:rPr sz="800" spc="10" dirty="0">
                          <a:latin typeface="Arial"/>
                          <a:cs typeface="Arial"/>
                        </a:rPr>
                        <a:t>)</a:t>
                      </a:r>
                      <a:endParaRPr sz="800">
                        <a:latin typeface="Arial"/>
                        <a:cs typeface="Arial"/>
                      </a:endParaRPr>
                    </a:p>
                  </a:txBody>
                  <a:tcPr marL="0" marR="0" marT="12065"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tc>
                  <a:txBody>
                    <a:bodyPr/>
                    <a:lstStyle/>
                    <a:p>
                      <a:pPr marL="455295">
                        <a:lnSpc>
                          <a:spcPct val="100000"/>
                        </a:lnSpc>
                        <a:spcBef>
                          <a:spcPts val="95"/>
                        </a:spcBef>
                      </a:pPr>
                      <a:r>
                        <a:rPr sz="800" b="1" spc="-10" dirty="0">
                          <a:latin typeface="Arial"/>
                          <a:cs typeface="Arial"/>
                        </a:rPr>
                        <a:t>Conclusion</a:t>
                      </a:r>
                      <a:endParaRPr sz="800">
                        <a:latin typeface="Arial"/>
                        <a:cs typeface="Arial"/>
                      </a:endParaRPr>
                    </a:p>
                  </a:txBody>
                  <a:tcPr marL="0" marR="0" marT="12065"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extLst>
                  <a:ext uri="{0D108BD9-81ED-4DB2-BD59-A6C34878D82A}">
                    <a16:rowId xmlns:a16="http://schemas.microsoft.com/office/drawing/2014/main" val="10000"/>
                  </a:ext>
                </a:extLst>
              </a:tr>
              <a:tr h="170180">
                <a:tc>
                  <a:txBody>
                    <a:bodyPr/>
                    <a:lstStyle/>
                    <a:p>
                      <a:pPr algn="ctr">
                        <a:lnSpc>
                          <a:spcPct val="100000"/>
                        </a:lnSpc>
                        <a:spcBef>
                          <a:spcPts val="150"/>
                        </a:spcBef>
                      </a:pPr>
                      <a:r>
                        <a:rPr sz="800" spc="-25" dirty="0">
                          <a:latin typeface="Arial"/>
                          <a:cs typeface="Arial"/>
                        </a:rPr>
                        <a:t>(a)</a:t>
                      </a:r>
                      <a:endParaRPr sz="800">
                        <a:latin typeface="Arial"/>
                        <a:cs typeface="Arial"/>
                      </a:endParaRPr>
                    </a:p>
                  </a:txBody>
                  <a:tcPr marL="0" marR="0" marT="19050"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tc>
                  <a:txBody>
                    <a:bodyPr/>
                    <a:lstStyle/>
                    <a:p>
                      <a:pPr algn="ctr">
                        <a:lnSpc>
                          <a:spcPct val="100000"/>
                        </a:lnSpc>
                        <a:spcBef>
                          <a:spcPts val="150"/>
                        </a:spcBef>
                      </a:pPr>
                      <a:r>
                        <a:rPr sz="800" dirty="0">
                          <a:latin typeface="Arial"/>
                          <a:cs typeface="Arial"/>
                        </a:rPr>
                        <a:t>(2</a:t>
                      </a:r>
                      <a:r>
                        <a:rPr sz="800" i="1" dirty="0">
                          <a:latin typeface="STIX Two Text"/>
                          <a:cs typeface="STIX Two Text"/>
                        </a:rPr>
                        <a:t>,</a:t>
                      </a:r>
                      <a:r>
                        <a:rPr sz="800" i="1" spc="-45" dirty="0">
                          <a:latin typeface="STIX Two Text"/>
                          <a:cs typeface="STIX Two Text"/>
                        </a:rPr>
                        <a:t> </a:t>
                      </a:r>
                      <a:r>
                        <a:rPr sz="800" dirty="0">
                          <a:latin typeface="Arial"/>
                          <a:cs typeface="Arial"/>
                        </a:rPr>
                        <a:t>1</a:t>
                      </a:r>
                      <a:r>
                        <a:rPr sz="800" i="1" dirty="0">
                          <a:latin typeface="STIX Two Text"/>
                          <a:cs typeface="STIX Two Text"/>
                        </a:rPr>
                        <a:t>,</a:t>
                      </a:r>
                      <a:r>
                        <a:rPr sz="800" i="1" spc="-40" dirty="0">
                          <a:latin typeface="STIX Two Text"/>
                          <a:cs typeface="STIX Two Text"/>
                        </a:rPr>
                        <a:t> </a:t>
                      </a:r>
                      <a:r>
                        <a:rPr sz="800" spc="-25" dirty="0">
                          <a:latin typeface="Arial"/>
                          <a:cs typeface="Arial"/>
                        </a:rPr>
                        <a:t>0)</a:t>
                      </a:r>
                      <a:endParaRPr sz="800">
                        <a:latin typeface="Arial"/>
                        <a:cs typeface="Arial"/>
                      </a:endParaRPr>
                    </a:p>
                  </a:txBody>
                  <a:tcPr marL="0" marR="0" marT="19050"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tc>
                  <a:txBody>
                    <a:bodyPr/>
                    <a:lstStyle/>
                    <a:p>
                      <a:pPr algn="ctr">
                        <a:lnSpc>
                          <a:spcPct val="100000"/>
                        </a:lnSpc>
                        <a:spcBef>
                          <a:spcPts val="150"/>
                        </a:spcBef>
                      </a:pPr>
                      <a:r>
                        <a:rPr sz="800" dirty="0">
                          <a:latin typeface="Arial"/>
                          <a:cs typeface="Arial"/>
                        </a:rPr>
                        <a:t>(4</a:t>
                      </a:r>
                      <a:r>
                        <a:rPr sz="800" i="1" dirty="0">
                          <a:latin typeface="STIX Two Text"/>
                          <a:cs typeface="STIX Two Text"/>
                        </a:rPr>
                        <a:t>,</a:t>
                      </a:r>
                      <a:r>
                        <a:rPr sz="800" i="1" spc="-45" dirty="0">
                          <a:latin typeface="STIX Two Text"/>
                          <a:cs typeface="STIX Two Text"/>
                        </a:rPr>
                        <a:t> </a:t>
                      </a:r>
                      <a:r>
                        <a:rPr sz="800" dirty="0">
                          <a:latin typeface="Arial"/>
                          <a:cs typeface="Arial"/>
                        </a:rPr>
                        <a:t>3</a:t>
                      </a:r>
                      <a:r>
                        <a:rPr sz="800" i="1" dirty="0">
                          <a:latin typeface="STIX Two Text"/>
                          <a:cs typeface="STIX Two Text"/>
                        </a:rPr>
                        <a:t>,</a:t>
                      </a:r>
                      <a:r>
                        <a:rPr sz="800" i="1" spc="-40" dirty="0">
                          <a:latin typeface="STIX Two Text"/>
                          <a:cs typeface="STIX Two Text"/>
                        </a:rPr>
                        <a:t> </a:t>
                      </a:r>
                      <a:r>
                        <a:rPr sz="800" spc="-25" dirty="0">
                          <a:latin typeface="Arial"/>
                          <a:cs typeface="Arial"/>
                        </a:rPr>
                        <a:t>0)</a:t>
                      </a:r>
                      <a:endParaRPr sz="800">
                        <a:latin typeface="Arial"/>
                        <a:cs typeface="Arial"/>
                      </a:endParaRPr>
                    </a:p>
                  </a:txBody>
                  <a:tcPr marL="0" marR="0" marT="19050"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tc>
                  <a:txBody>
                    <a:bodyPr/>
                    <a:lstStyle/>
                    <a:p>
                      <a:pPr algn="ctr">
                        <a:lnSpc>
                          <a:spcPct val="100000"/>
                        </a:lnSpc>
                        <a:spcBef>
                          <a:spcPts val="150"/>
                        </a:spcBef>
                      </a:pPr>
                      <a:r>
                        <a:rPr sz="800" spc="-25" dirty="0">
                          <a:latin typeface="Arial"/>
                          <a:cs typeface="Arial"/>
                        </a:rPr>
                        <a:t>Yes</a:t>
                      </a:r>
                      <a:endParaRPr sz="800">
                        <a:latin typeface="Arial"/>
                        <a:cs typeface="Arial"/>
                      </a:endParaRPr>
                    </a:p>
                  </a:txBody>
                  <a:tcPr marL="0" marR="0" marT="19050"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tc>
                  <a:txBody>
                    <a:bodyPr/>
                    <a:lstStyle/>
                    <a:p>
                      <a:pPr algn="ctr">
                        <a:lnSpc>
                          <a:spcPct val="100000"/>
                        </a:lnSpc>
                        <a:spcBef>
                          <a:spcPts val="150"/>
                        </a:spcBef>
                      </a:pPr>
                      <a:r>
                        <a:rPr sz="800" spc="-25" dirty="0">
                          <a:latin typeface="Arial"/>
                          <a:cs typeface="Arial"/>
                        </a:rPr>
                        <a:t>No</a:t>
                      </a:r>
                      <a:endParaRPr sz="800">
                        <a:latin typeface="Arial"/>
                        <a:cs typeface="Arial"/>
                      </a:endParaRPr>
                    </a:p>
                  </a:txBody>
                  <a:tcPr marL="0" marR="0" marT="19050"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tc>
                  <a:txBody>
                    <a:bodyPr/>
                    <a:lstStyle/>
                    <a:p>
                      <a:pPr marL="78105">
                        <a:lnSpc>
                          <a:spcPct val="100000"/>
                        </a:lnSpc>
                        <a:spcBef>
                          <a:spcPts val="150"/>
                        </a:spcBef>
                      </a:pPr>
                      <a:r>
                        <a:rPr sz="800" i="1" dirty="0">
                          <a:latin typeface="Arial"/>
                          <a:cs typeface="Arial"/>
                        </a:rPr>
                        <a:t>m</a:t>
                      </a:r>
                      <a:r>
                        <a:rPr sz="900" i="1" baseline="-13888" dirty="0">
                          <a:latin typeface="Arial"/>
                          <a:cs typeface="Arial"/>
                        </a:rPr>
                        <a:t>2</a:t>
                      </a:r>
                      <a:r>
                        <a:rPr sz="900" i="1" spc="150" baseline="-13888" dirty="0">
                          <a:latin typeface="Arial"/>
                          <a:cs typeface="Arial"/>
                        </a:rPr>
                        <a:t> </a:t>
                      </a:r>
                      <a:r>
                        <a:rPr sz="800" dirty="0">
                          <a:latin typeface="Arial"/>
                          <a:cs typeface="Arial"/>
                        </a:rPr>
                        <a:t>may</a:t>
                      </a:r>
                      <a:r>
                        <a:rPr sz="800" spc="-30" dirty="0">
                          <a:latin typeface="Arial"/>
                          <a:cs typeface="Arial"/>
                        </a:rPr>
                        <a:t> </a:t>
                      </a:r>
                      <a:r>
                        <a:rPr sz="800" dirty="0">
                          <a:latin typeface="Arial"/>
                          <a:cs typeface="Arial"/>
                        </a:rPr>
                        <a:t>causally</a:t>
                      </a:r>
                      <a:r>
                        <a:rPr sz="800" spc="-30" dirty="0">
                          <a:latin typeface="Arial"/>
                          <a:cs typeface="Arial"/>
                        </a:rPr>
                        <a:t> </a:t>
                      </a:r>
                      <a:r>
                        <a:rPr sz="800" dirty="0">
                          <a:latin typeface="Arial"/>
                          <a:cs typeface="Arial"/>
                        </a:rPr>
                        <a:t>precede</a:t>
                      </a:r>
                      <a:r>
                        <a:rPr sz="800" spc="-30" dirty="0">
                          <a:latin typeface="Arial"/>
                          <a:cs typeface="Arial"/>
                        </a:rPr>
                        <a:t> </a:t>
                      </a:r>
                      <a:r>
                        <a:rPr sz="800" i="1" spc="-25" dirty="0">
                          <a:latin typeface="Arial"/>
                          <a:cs typeface="Arial"/>
                        </a:rPr>
                        <a:t>m</a:t>
                      </a:r>
                      <a:r>
                        <a:rPr sz="900" i="1" spc="-37" baseline="-13888" dirty="0">
                          <a:latin typeface="Arial"/>
                          <a:cs typeface="Arial"/>
                        </a:rPr>
                        <a:t>4</a:t>
                      </a:r>
                      <a:endParaRPr sz="900" baseline="-13888">
                        <a:latin typeface="Arial"/>
                        <a:cs typeface="Arial"/>
                      </a:endParaRPr>
                    </a:p>
                  </a:txBody>
                  <a:tcPr marL="0" marR="0" marT="19050"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163195">
                <a:tc>
                  <a:txBody>
                    <a:bodyPr/>
                    <a:lstStyle/>
                    <a:p>
                      <a:pPr algn="ctr">
                        <a:lnSpc>
                          <a:spcPct val="100000"/>
                        </a:lnSpc>
                        <a:spcBef>
                          <a:spcPts val="95"/>
                        </a:spcBef>
                      </a:pPr>
                      <a:r>
                        <a:rPr sz="800" spc="-25" dirty="0">
                          <a:latin typeface="Arial"/>
                          <a:cs typeface="Arial"/>
                        </a:rPr>
                        <a:t>(b)</a:t>
                      </a:r>
                      <a:endParaRPr sz="800">
                        <a:latin typeface="Arial"/>
                        <a:cs typeface="Arial"/>
                      </a:endParaRPr>
                    </a:p>
                  </a:txBody>
                  <a:tcPr marL="0" marR="0" marT="1206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95"/>
                        </a:spcBef>
                      </a:pPr>
                      <a:r>
                        <a:rPr sz="800" dirty="0">
                          <a:latin typeface="Arial"/>
                          <a:cs typeface="Arial"/>
                        </a:rPr>
                        <a:t>(4</a:t>
                      </a:r>
                      <a:r>
                        <a:rPr sz="800" i="1" dirty="0">
                          <a:latin typeface="STIX Two Text"/>
                          <a:cs typeface="STIX Two Text"/>
                        </a:rPr>
                        <a:t>,</a:t>
                      </a:r>
                      <a:r>
                        <a:rPr sz="800" i="1" spc="-45" dirty="0">
                          <a:latin typeface="STIX Two Text"/>
                          <a:cs typeface="STIX Two Text"/>
                        </a:rPr>
                        <a:t> </a:t>
                      </a:r>
                      <a:r>
                        <a:rPr sz="800" dirty="0">
                          <a:latin typeface="Arial"/>
                          <a:cs typeface="Arial"/>
                        </a:rPr>
                        <a:t>1</a:t>
                      </a:r>
                      <a:r>
                        <a:rPr sz="800" i="1" dirty="0">
                          <a:latin typeface="STIX Two Text"/>
                          <a:cs typeface="STIX Two Text"/>
                        </a:rPr>
                        <a:t>,</a:t>
                      </a:r>
                      <a:r>
                        <a:rPr sz="800" i="1" spc="-40" dirty="0">
                          <a:latin typeface="STIX Two Text"/>
                          <a:cs typeface="STIX Two Text"/>
                        </a:rPr>
                        <a:t> </a:t>
                      </a:r>
                      <a:r>
                        <a:rPr sz="800" spc="-25" dirty="0">
                          <a:latin typeface="Arial"/>
                          <a:cs typeface="Arial"/>
                        </a:rPr>
                        <a:t>0)</a:t>
                      </a:r>
                      <a:endParaRPr sz="800">
                        <a:latin typeface="Arial"/>
                        <a:cs typeface="Arial"/>
                      </a:endParaRPr>
                    </a:p>
                  </a:txBody>
                  <a:tcPr marL="0" marR="0" marT="1206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95"/>
                        </a:spcBef>
                      </a:pPr>
                      <a:r>
                        <a:rPr sz="800" dirty="0">
                          <a:latin typeface="Arial"/>
                          <a:cs typeface="Arial"/>
                        </a:rPr>
                        <a:t>(2</a:t>
                      </a:r>
                      <a:r>
                        <a:rPr sz="800" i="1" dirty="0">
                          <a:latin typeface="STIX Two Text"/>
                          <a:cs typeface="STIX Two Text"/>
                        </a:rPr>
                        <a:t>,</a:t>
                      </a:r>
                      <a:r>
                        <a:rPr sz="800" i="1" spc="-45" dirty="0">
                          <a:latin typeface="STIX Two Text"/>
                          <a:cs typeface="STIX Two Text"/>
                        </a:rPr>
                        <a:t> </a:t>
                      </a:r>
                      <a:r>
                        <a:rPr sz="800" dirty="0">
                          <a:latin typeface="Arial"/>
                          <a:cs typeface="Arial"/>
                        </a:rPr>
                        <a:t>3</a:t>
                      </a:r>
                      <a:r>
                        <a:rPr sz="800" i="1" dirty="0">
                          <a:latin typeface="STIX Two Text"/>
                          <a:cs typeface="STIX Two Text"/>
                        </a:rPr>
                        <a:t>,</a:t>
                      </a:r>
                      <a:r>
                        <a:rPr sz="800" i="1" spc="-40" dirty="0">
                          <a:latin typeface="STIX Two Text"/>
                          <a:cs typeface="STIX Two Text"/>
                        </a:rPr>
                        <a:t> </a:t>
                      </a:r>
                      <a:r>
                        <a:rPr sz="800" spc="-25" dirty="0">
                          <a:latin typeface="Arial"/>
                          <a:cs typeface="Arial"/>
                        </a:rPr>
                        <a:t>0)</a:t>
                      </a:r>
                      <a:endParaRPr sz="800">
                        <a:latin typeface="Arial"/>
                        <a:cs typeface="Arial"/>
                      </a:endParaRPr>
                    </a:p>
                  </a:txBody>
                  <a:tcPr marL="0" marR="0" marT="1206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95"/>
                        </a:spcBef>
                      </a:pPr>
                      <a:r>
                        <a:rPr sz="800" spc="-25" dirty="0">
                          <a:latin typeface="Arial"/>
                          <a:cs typeface="Arial"/>
                        </a:rPr>
                        <a:t>No</a:t>
                      </a:r>
                      <a:endParaRPr sz="800">
                        <a:latin typeface="Arial"/>
                        <a:cs typeface="Arial"/>
                      </a:endParaRPr>
                    </a:p>
                  </a:txBody>
                  <a:tcPr marL="0" marR="0" marT="1206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95"/>
                        </a:spcBef>
                      </a:pPr>
                      <a:r>
                        <a:rPr sz="800" spc="-25" dirty="0">
                          <a:latin typeface="Arial"/>
                          <a:cs typeface="Arial"/>
                        </a:rPr>
                        <a:t>No</a:t>
                      </a:r>
                      <a:endParaRPr sz="800">
                        <a:latin typeface="Arial"/>
                        <a:cs typeface="Arial"/>
                      </a:endParaRPr>
                    </a:p>
                  </a:txBody>
                  <a:tcPr marL="0" marR="0" marT="1206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ct val="100000"/>
                        </a:lnSpc>
                        <a:spcBef>
                          <a:spcPts val="95"/>
                        </a:spcBef>
                      </a:pPr>
                      <a:r>
                        <a:rPr sz="800" i="1" dirty="0">
                          <a:latin typeface="Arial"/>
                          <a:cs typeface="Arial"/>
                        </a:rPr>
                        <a:t>m</a:t>
                      </a:r>
                      <a:r>
                        <a:rPr sz="900" i="1" baseline="-13888" dirty="0">
                          <a:latin typeface="Arial"/>
                          <a:cs typeface="Arial"/>
                        </a:rPr>
                        <a:t>2</a:t>
                      </a:r>
                      <a:r>
                        <a:rPr sz="900" i="1" spc="165" baseline="-13888" dirty="0">
                          <a:latin typeface="Arial"/>
                          <a:cs typeface="Arial"/>
                        </a:rPr>
                        <a:t> </a:t>
                      </a:r>
                      <a:r>
                        <a:rPr sz="800" dirty="0">
                          <a:latin typeface="Arial"/>
                          <a:cs typeface="Arial"/>
                        </a:rPr>
                        <a:t>and</a:t>
                      </a:r>
                      <a:r>
                        <a:rPr sz="800" spc="-20" dirty="0">
                          <a:latin typeface="Arial"/>
                          <a:cs typeface="Arial"/>
                        </a:rPr>
                        <a:t> </a:t>
                      </a:r>
                      <a:r>
                        <a:rPr sz="800" i="1" dirty="0">
                          <a:latin typeface="Arial"/>
                          <a:cs typeface="Arial"/>
                        </a:rPr>
                        <a:t>m</a:t>
                      </a:r>
                      <a:r>
                        <a:rPr sz="900" i="1" baseline="-13888" dirty="0">
                          <a:latin typeface="Arial"/>
                          <a:cs typeface="Arial"/>
                        </a:rPr>
                        <a:t>4</a:t>
                      </a:r>
                      <a:r>
                        <a:rPr sz="900" i="1" spc="135" baseline="-13888" dirty="0">
                          <a:latin typeface="Arial"/>
                          <a:cs typeface="Arial"/>
                        </a:rPr>
                        <a:t> </a:t>
                      </a:r>
                      <a:r>
                        <a:rPr sz="800" dirty="0">
                          <a:latin typeface="Arial"/>
                          <a:cs typeface="Arial"/>
                        </a:rPr>
                        <a:t>may</a:t>
                      </a:r>
                      <a:r>
                        <a:rPr sz="800" spc="-20" dirty="0">
                          <a:latin typeface="Arial"/>
                          <a:cs typeface="Arial"/>
                        </a:rPr>
                        <a:t> </a:t>
                      </a:r>
                      <a:r>
                        <a:rPr sz="800" spc="-10" dirty="0">
                          <a:latin typeface="Arial"/>
                          <a:cs typeface="Arial"/>
                        </a:rPr>
                        <a:t>conflict</a:t>
                      </a:r>
                      <a:endParaRPr sz="800">
                        <a:latin typeface="Arial"/>
                        <a:cs typeface="Arial"/>
                      </a:endParaRPr>
                    </a:p>
                  </a:txBody>
                  <a:tcPr marL="0" marR="0" marT="1206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bl>
          </a:graphicData>
        </a:graphic>
      </p:graphicFrame>
      <p:grpSp>
        <p:nvGrpSpPr>
          <p:cNvPr id="12" name="object 12"/>
          <p:cNvGrpSpPr/>
          <p:nvPr/>
        </p:nvGrpSpPr>
        <p:grpSpPr>
          <a:xfrm>
            <a:off x="0" y="3348469"/>
            <a:ext cx="4608195" cy="107950"/>
            <a:chOff x="0" y="3348469"/>
            <a:chExt cx="4608195" cy="107950"/>
          </a:xfrm>
        </p:grpSpPr>
        <p:sp>
          <p:nvSpPr>
            <p:cNvPr id="13" name="object 13"/>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4" name="object 14"/>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5" name="object 15"/>
          <p:cNvSpPr txBox="1"/>
          <p:nvPr/>
        </p:nvSpPr>
        <p:spPr>
          <a:xfrm>
            <a:off x="53467" y="3349927"/>
            <a:ext cx="395605"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6" action="ppaction://hlinksldjump"/>
              </a:rPr>
              <a:t>Vector</a:t>
            </a:r>
            <a:r>
              <a:rPr sz="500" dirty="0">
                <a:latin typeface="Arial"/>
                <a:cs typeface="Arial"/>
                <a:hlinkClick r:id="rId6" action="ppaction://hlinksldjump"/>
              </a:rPr>
              <a:t> </a:t>
            </a:r>
            <a:r>
              <a:rPr sz="500" spc="-10" dirty="0">
                <a:latin typeface="Arial"/>
                <a:cs typeface="Arial"/>
                <a:hlinkClick r:id="rId6" action="ppaction://hlinksldjump"/>
              </a:rPr>
              <a:t>clocks</a:t>
            </a:r>
            <a:endParaRPr sz="500">
              <a:latin typeface="Arial"/>
              <a:cs typeface="Arial"/>
            </a:endParaRPr>
          </a:p>
        </p:txBody>
      </p:sp>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4095750" algn="l"/>
              </a:tabLst>
            </a:pPr>
            <a:r>
              <a:rPr sz="500" spc="-10" dirty="0">
                <a:latin typeface="Arial"/>
                <a:cs typeface="Arial"/>
                <a:hlinkClick r:id="rId2" action="ppaction://hlinksldjump"/>
              </a:rPr>
              <a:t>Coordination</a:t>
            </a:r>
            <a:r>
              <a:rPr sz="500" dirty="0">
                <a:latin typeface="Arial"/>
                <a:cs typeface="Arial"/>
              </a:rPr>
              <a:t>	</a:t>
            </a:r>
            <a:r>
              <a:rPr sz="500" dirty="0">
                <a:solidFill>
                  <a:srgbClr val="FFFFFF"/>
                </a:solidFill>
                <a:latin typeface="Arial"/>
                <a:cs typeface="Arial"/>
                <a:hlinkClick r:id="rId3" action="ppaction://hlinksldjump"/>
              </a:rPr>
              <a:t>Logical</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clocks</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Causally</a:t>
            </a:r>
            <a:r>
              <a:rPr spc="-50" dirty="0"/>
              <a:t> </a:t>
            </a:r>
            <a:r>
              <a:rPr dirty="0"/>
              <a:t>ordered</a:t>
            </a:r>
            <a:r>
              <a:rPr spc="-50" dirty="0"/>
              <a:t> </a:t>
            </a:r>
            <a:r>
              <a:rPr spc="-10" dirty="0"/>
              <a:t>multicasting</a:t>
            </a:r>
          </a:p>
        </p:txBody>
      </p:sp>
      <p:sp>
        <p:nvSpPr>
          <p:cNvPr id="4" name="object 4"/>
          <p:cNvSpPr txBox="1"/>
          <p:nvPr/>
        </p:nvSpPr>
        <p:spPr>
          <a:xfrm>
            <a:off x="329247" y="499476"/>
            <a:ext cx="3916679" cy="1079500"/>
          </a:xfrm>
          <a:prstGeom prst="rect">
            <a:avLst/>
          </a:prstGeom>
        </p:spPr>
        <p:txBody>
          <a:bodyPr vert="horz" wrap="square" lIns="0" tIns="27305" rIns="0" bIns="0" rtlCol="0">
            <a:spAutoFit/>
          </a:bodyPr>
          <a:lstStyle/>
          <a:p>
            <a:pPr marL="30480">
              <a:lnSpc>
                <a:spcPct val="100000"/>
              </a:lnSpc>
              <a:spcBef>
                <a:spcPts val="215"/>
              </a:spcBef>
            </a:pPr>
            <a:r>
              <a:rPr sz="1000" spc="-10" dirty="0">
                <a:solidFill>
                  <a:srgbClr val="3333B2"/>
                </a:solidFill>
                <a:latin typeface="Arial"/>
                <a:cs typeface="Arial"/>
              </a:rPr>
              <a:t>Observation</a:t>
            </a:r>
            <a:endParaRPr sz="1000">
              <a:latin typeface="Arial"/>
              <a:cs typeface="Arial"/>
            </a:endParaRPr>
          </a:p>
          <a:p>
            <a:pPr marL="30480" marR="17780" indent="-5715">
              <a:lnSpc>
                <a:spcPts val="1210"/>
              </a:lnSpc>
              <a:spcBef>
                <a:spcPts val="35"/>
              </a:spcBef>
            </a:pPr>
            <a:r>
              <a:rPr sz="900" dirty="0">
                <a:latin typeface="Arial"/>
                <a:cs typeface="Arial"/>
              </a:rPr>
              <a:t>We</a:t>
            </a:r>
            <a:r>
              <a:rPr sz="900" spc="-25" dirty="0">
                <a:latin typeface="Arial"/>
                <a:cs typeface="Arial"/>
              </a:rPr>
              <a:t> </a:t>
            </a:r>
            <a:r>
              <a:rPr sz="900" dirty="0">
                <a:latin typeface="Arial"/>
                <a:cs typeface="Arial"/>
              </a:rPr>
              <a:t>can</a:t>
            </a:r>
            <a:r>
              <a:rPr sz="900" spc="-20" dirty="0">
                <a:latin typeface="Arial"/>
                <a:cs typeface="Arial"/>
              </a:rPr>
              <a:t> </a:t>
            </a:r>
            <a:r>
              <a:rPr sz="900" dirty="0">
                <a:latin typeface="Arial"/>
                <a:cs typeface="Arial"/>
              </a:rPr>
              <a:t>now</a:t>
            </a:r>
            <a:r>
              <a:rPr sz="900" spc="-20" dirty="0">
                <a:latin typeface="Arial"/>
                <a:cs typeface="Arial"/>
              </a:rPr>
              <a:t> </a:t>
            </a:r>
            <a:r>
              <a:rPr sz="900" dirty="0">
                <a:latin typeface="Arial"/>
                <a:cs typeface="Arial"/>
              </a:rPr>
              <a:t>ensure</a:t>
            </a:r>
            <a:r>
              <a:rPr sz="900" spc="-25" dirty="0">
                <a:latin typeface="Arial"/>
                <a:cs typeface="Arial"/>
              </a:rPr>
              <a:t> </a:t>
            </a:r>
            <a:r>
              <a:rPr sz="900" dirty="0">
                <a:latin typeface="Arial"/>
                <a:cs typeface="Arial"/>
              </a:rPr>
              <a:t>that</a:t>
            </a:r>
            <a:r>
              <a:rPr sz="900" spc="-20" dirty="0">
                <a:latin typeface="Arial"/>
                <a:cs typeface="Arial"/>
              </a:rPr>
              <a:t> </a:t>
            </a:r>
            <a:r>
              <a:rPr sz="900" dirty="0">
                <a:latin typeface="Arial"/>
                <a:cs typeface="Arial"/>
              </a:rPr>
              <a:t>a</a:t>
            </a:r>
            <a:r>
              <a:rPr sz="900" spc="-20" dirty="0">
                <a:latin typeface="Arial"/>
                <a:cs typeface="Arial"/>
              </a:rPr>
              <a:t> </a:t>
            </a:r>
            <a:r>
              <a:rPr sz="900" dirty="0">
                <a:latin typeface="Arial"/>
                <a:cs typeface="Arial"/>
              </a:rPr>
              <a:t>message</a:t>
            </a:r>
            <a:r>
              <a:rPr sz="900" spc="-25" dirty="0">
                <a:latin typeface="Arial"/>
                <a:cs typeface="Arial"/>
              </a:rPr>
              <a:t> </a:t>
            </a:r>
            <a:r>
              <a:rPr sz="900" dirty="0">
                <a:latin typeface="Arial"/>
                <a:cs typeface="Arial"/>
              </a:rPr>
              <a:t>is</a:t>
            </a:r>
            <a:r>
              <a:rPr sz="900" spc="-20" dirty="0">
                <a:latin typeface="Arial"/>
                <a:cs typeface="Arial"/>
              </a:rPr>
              <a:t> </a:t>
            </a:r>
            <a:r>
              <a:rPr sz="900" spc="-10" dirty="0">
                <a:latin typeface="Arial"/>
                <a:cs typeface="Arial"/>
              </a:rPr>
              <a:t>delivered</a:t>
            </a:r>
            <a:r>
              <a:rPr sz="900" spc="-20" dirty="0">
                <a:latin typeface="Arial"/>
                <a:cs typeface="Arial"/>
              </a:rPr>
              <a:t> </a:t>
            </a:r>
            <a:r>
              <a:rPr sz="900" dirty="0">
                <a:latin typeface="Arial"/>
                <a:cs typeface="Arial"/>
              </a:rPr>
              <a:t>only</a:t>
            </a:r>
            <a:r>
              <a:rPr sz="900" spc="-20" dirty="0">
                <a:latin typeface="Arial"/>
                <a:cs typeface="Arial"/>
              </a:rPr>
              <a:t> </a:t>
            </a:r>
            <a:r>
              <a:rPr sz="900" dirty="0">
                <a:latin typeface="Arial"/>
                <a:cs typeface="Arial"/>
              </a:rPr>
              <a:t>if</a:t>
            </a:r>
            <a:r>
              <a:rPr sz="900" spc="-25" dirty="0">
                <a:latin typeface="Arial"/>
                <a:cs typeface="Arial"/>
              </a:rPr>
              <a:t> </a:t>
            </a:r>
            <a:r>
              <a:rPr sz="900" dirty="0">
                <a:latin typeface="Arial"/>
                <a:cs typeface="Arial"/>
              </a:rPr>
              <a:t>all</a:t>
            </a:r>
            <a:r>
              <a:rPr sz="900" spc="-20" dirty="0">
                <a:latin typeface="Arial"/>
                <a:cs typeface="Arial"/>
              </a:rPr>
              <a:t> </a:t>
            </a:r>
            <a:r>
              <a:rPr sz="900" dirty="0">
                <a:latin typeface="Arial"/>
                <a:cs typeface="Arial"/>
              </a:rPr>
              <a:t>causally</a:t>
            </a:r>
            <a:r>
              <a:rPr sz="900" spc="-20" dirty="0">
                <a:latin typeface="Arial"/>
                <a:cs typeface="Arial"/>
              </a:rPr>
              <a:t> </a:t>
            </a:r>
            <a:r>
              <a:rPr sz="900" spc="-10" dirty="0">
                <a:latin typeface="Arial"/>
                <a:cs typeface="Arial"/>
              </a:rPr>
              <a:t>preceding </a:t>
            </a:r>
            <a:r>
              <a:rPr sz="900" dirty="0">
                <a:latin typeface="Arial"/>
                <a:cs typeface="Arial"/>
              </a:rPr>
              <a:t>messages</a:t>
            </a:r>
            <a:r>
              <a:rPr sz="900" spc="-35" dirty="0">
                <a:latin typeface="Arial"/>
                <a:cs typeface="Arial"/>
              </a:rPr>
              <a:t> </a:t>
            </a:r>
            <a:r>
              <a:rPr sz="900" spc="-10" dirty="0">
                <a:latin typeface="Arial"/>
                <a:cs typeface="Arial"/>
              </a:rPr>
              <a:t>have</a:t>
            </a:r>
            <a:r>
              <a:rPr sz="900" spc="-35" dirty="0">
                <a:latin typeface="Arial"/>
                <a:cs typeface="Arial"/>
              </a:rPr>
              <a:t> </a:t>
            </a:r>
            <a:r>
              <a:rPr sz="900" dirty="0">
                <a:latin typeface="Arial"/>
                <a:cs typeface="Arial"/>
              </a:rPr>
              <a:t>already</a:t>
            </a:r>
            <a:r>
              <a:rPr sz="900" spc="-35" dirty="0">
                <a:latin typeface="Arial"/>
                <a:cs typeface="Arial"/>
              </a:rPr>
              <a:t> </a:t>
            </a:r>
            <a:r>
              <a:rPr sz="900" dirty="0">
                <a:latin typeface="Arial"/>
                <a:cs typeface="Arial"/>
              </a:rPr>
              <a:t>been</a:t>
            </a:r>
            <a:r>
              <a:rPr sz="900" spc="-35" dirty="0">
                <a:latin typeface="Arial"/>
                <a:cs typeface="Arial"/>
              </a:rPr>
              <a:t> </a:t>
            </a:r>
            <a:r>
              <a:rPr sz="900" spc="-10" dirty="0">
                <a:latin typeface="Arial"/>
                <a:cs typeface="Arial"/>
              </a:rPr>
              <a:t>delivered.</a:t>
            </a:r>
            <a:endParaRPr sz="900">
              <a:latin typeface="Arial"/>
              <a:cs typeface="Arial"/>
            </a:endParaRPr>
          </a:p>
          <a:p>
            <a:pPr marL="26034">
              <a:lnSpc>
                <a:spcPct val="100000"/>
              </a:lnSpc>
              <a:spcBef>
                <a:spcPts val="750"/>
              </a:spcBef>
            </a:pPr>
            <a:r>
              <a:rPr sz="1000" spc="-10" dirty="0">
                <a:solidFill>
                  <a:srgbClr val="3333B2"/>
                </a:solidFill>
                <a:latin typeface="Arial"/>
                <a:cs typeface="Arial"/>
              </a:rPr>
              <a:t>Adjustment</a:t>
            </a:r>
            <a:endParaRPr sz="1000">
              <a:latin typeface="Arial"/>
              <a:cs typeface="Arial"/>
            </a:endParaRPr>
          </a:p>
          <a:p>
            <a:pPr marL="30480">
              <a:lnSpc>
                <a:spcPct val="100000"/>
              </a:lnSpc>
              <a:spcBef>
                <a:spcPts val="295"/>
              </a:spcBef>
            </a:pPr>
            <a:r>
              <a:rPr sz="900" i="1" dirty="0">
                <a:latin typeface="Arial"/>
                <a:cs typeface="Arial"/>
              </a:rPr>
              <a:t>P</a:t>
            </a:r>
            <a:r>
              <a:rPr sz="1050" i="1" baseline="-15873" dirty="0">
                <a:latin typeface="Arial"/>
                <a:cs typeface="Arial"/>
              </a:rPr>
              <a:t>i</a:t>
            </a:r>
            <a:r>
              <a:rPr sz="1050" i="1" spc="187" baseline="-15873" dirty="0">
                <a:latin typeface="Arial"/>
                <a:cs typeface="Arial"/>
              </a:rPr>
              <a:t> </a:t>
            </a:r>
            <a:r>
              <a:rPr sz="900" dirty="0">
                <a:latin typeface="Arial"/>
                <a:cs typeface="Arial"/>
              </a:rPr>
              <a:t>increments</a:t>
            </a:r>
            <a:r>
              <a:rPr sz="900" spc="-25" dirty="0">
                <a:latin typeface="Arial"/>
                <a:cs typeface="Arial"/>
              </a:rPr>
              <a:t> </a:t>
            </a:r>
            <a:r>
              <a:rPr sz="900" i="1" spc="-10" dirty="0">
                <a:latin typeface="Arial"/>
                <a:cs typeface="Arial"/>
              </a:rPr>
              <a:t>VC</a:t>
            </a:r>
            <a:r>
              <a:rPr sz="1050" i="1" spc="-15" baseline="-15873" dirty="0">
                <a:latin typeface="Arial"/>
                <a:cs typeface="Arial"/>
              </a:rPr>
              <a:t>i</a:t>
            </a:r>
            <a:r>
              <a:rPr sz="1050" i="1" spc="-127" baseline="-15873" dirty="0">
                <a:latin typeface="Arial"/>
                <a:cs typeface="Arial"/>
              </a:rPr>
              <a:t> </a:t>
            </a:r>
            <a:r>
              <a:rPr sz="900" dirty="0">
                <a:latin typeface="Arial"/>
                <a:cs typeface="Arial"/>
              </a:rPr>
              <a:t>[</a:t>
            </a:r>
            <a:r>
              <a:rPr sz="900" i="1" dirty="0">
                <a:latin typeface="Arial"/>
                <a:cs typeface="Arial"/>
              </a:rPr>
              <a:t>i</a:t>
            </a:r>
            <a:r>
              <a:rPr sz="900" i="1" spc="-175" dirty="0">
                <a:latin typeface="Arial"/>
                <a:cs typeface="Arial"/>
              </a:rPr>
              <a:t> </a:t>
            </a:r>
            <a:r>
              <a:rPr sz="900" dirty="0">
                <a:latin typeface="Arial"/>
                <a:cs typeface="Arial"/>
              </a:rPr>
              <a:t>]</a:t>
            </a:r>
            <a:r>
              <a:rPr sz="900" spc="-20" dirty="0">
                <a:latin typeface="Arial"/>
                <a:cs typeface="Arial"/>
              </a:rPr>
              <a:t> </a:t>
            </a:r>
            <a:r>
              <a:rPr sz="900" dirty="0">
                <a:latin typeface="Arial"/>
                <a:cs typeface="Arial"/>
              </a:rPr>
              <a:t>only</a:t>
            </a:r>
            <a:r>
              <a:rPr sz="900" spc="-20" dirty="0">
                <a:latin typeface="Arial"/>
                <a:cs typeface="Arial"/>
              </a:rPr>
              <a:t> </a:t>
            </a:r>
            <a:r>
              <a:rPr sz="900" dirty="0">
                <a:latin typeface="Arial"/>
                <a:cs typeface="Arial"/>
              </a:rPr>
              <a:t>when</a:t>
            </a:r>
            <a:r>
              <a:rPr sz="900" spc="-20" dirty="0">
                <a:latin typeface="Arial"/>
                <a:cs typeface="Arial"/>
              </a:rPr>
              <a:t> </a:t>
            </a:r>
            <a:r>
              <a:rPr sz="900" dirty="0">
                <a:latin typeface="Arial"/>
                <a:cs typeface="Arial"/>
              </a:rPr>
              <a:t>sending</a:t>
            </a:r>
            <a:r>
              <a:rPr sz="900" spc="-20" dirty="0">
                <a:latin typeface="Arial"/>
                <a:cs typeface="Arial"/>
              </a:rPr>
              <a:t> </a:t>
            </a:r>
            <a:r>
              <a:rPr sz="900" dirty="0">
                <a:latin typeface="Arial"/>
                <a:cs typeface="Arial"/>
              </a:rPr>
              <a:t>a</a:t>
            </a:r>
            <a:r>
              <a:rPr sz="900" spc="-20" dirty="0">
                <a:latin typeface="Arial"/>
                <a:cs typeface="Arial"/>
              </a:rPr>
              <a:t> </a:t>
            </a:r>
            <a:r>
              <a:rPr sz="900" dirty="0">
                <a:latin typeface="Arial"/>
                <a:cs typeface="Arial"/>
              </a:rPr>
              <a:t>message,</a:t>
            </a:r>
            <a:r>
              <a:rPr sz="900" spc="-20" dirty="0">
                <a:latin typeface="Arial"/>
                <a:cs typeface="Arial"/>
              </a:rPr>
              <a:t> </a:t>
            </a:r>
            <a:r>
              <a:rPr sz="900" dirty="0">
                <a:latin typeface="Arial"/>
                <a:cs typeface="Arial"/>
              </a:rPr>
              <a:t>and</a:t>
            </a:r>
            <a:r>
              <a:rPr sz="900" spc="-20" dirty="0">
                <a:latin typeface="Arial"/>
                <a:cs typeface="Arial"/>
              </a:rPr>
              <a:t> </a:t>
            </a:r>
            <a:r>
              <a:rPr sz="900" i="1" dirty="0">
                <a:latin typeface="Arial"/>
                <a:cs typeface="Arial"/>
              </a:rPr>
              <a:t>P</a:t>
            </a:r>
            <a:r>
              <a:rPr sz="1050" i="1" baseline="-15873" dirty="0">
                <a:latin typeface="Arial"/>
                <a:cs typeface="Arial"/>
              </a:rPr>
              <a:t>j</a:t>
            </a:r>
            <a:r>
              <a:rPr sz="1050" i="1" spc="202" baseline="-15873" dirty="0">
                <a:latin typeface="Arial"/>
                <a:cs typeface="Arial"/>
              </a:rPr>
              <a:t> </a:t>
            </a:r>
            <a:r>
              <a:rPr sz="900" dirty="0">
                <a:latin typeface="Arial"/>
                <a:cs typeface="Arial"/>
              </a:rPr>
              <a:t>“adjusts”</a:t>
            </a:r>
            <a:r>
              <a:rPr sz="900" spc="-20" dirty="0">
                <a:latin typeface="Arial"/>
                <a:cs typeface="Arial"/>
              </a:rPr>
              <a:t> </a:t>
            </a:r>
            <a:r>
              <a:rPr sz="900" i="1" spc="-25" dirty="0">
                <a:latin typeface="Arial"/>
                <a:cs typeface="Arial"/>
              </a:rPr>
              <a:t>VC</a:t>
            </a:r>
            <a:r>
              <a:rPr sz="1050" i="1" spc="-37" baseline="-15873" dirty="0">
                <a:latin typeface="Arial"/>
                <a:cs typeface="Arial"/>
              </a:rPr>
              <a:t>j</a:t>
            </a:r>
            <a:endParaRPr sz="1050" baseline="-15873">
              <a:latin typeface="Arial"/>
              <a:cs typeface="Arial"/>
            </a:endParaRPr>
          </a:p>
          <a:p>
            <a:pPr marL="26034">
              <a:lnSpc>
                <a:spcPct val="100000"/>
              </a:lnSpc>
              <a:spcBef>
                <a:spcPts val="125"/>
              </a:spcBef>
            </a:pPr>
            <a:r>
              <a:rPr sz="900" dirty="0">
                <a:latin typeface="Arial"/>
                <a:cs typeface="Arial"/>
              </a:rPr>
              <a:t>when</a:t>
            </a:r>
            <a:r>
              <a:rPr sz="900" spc="-35" dirty="0">
                <a:latin typeface="Arial"/>
                <a:cs typeface="Arial"/>
              </a:rPr>
              <a:t> </a:t>
            </a:r>
            <a:r>
              <a:rPr sz="900" dirty="0">
                <a:latin typeface="Arial"/>
                <a:cs typeface="Arial"/>
              </a:rPr>
              <a:t>receiving</a:t>
            </a:r>
            <a:r>
              <a:rPr sz="900" spc="-20" dirty="0">
                <a:latin typeface="Arial"/>
                <a:cs typeface="Arial"/>
              </a:rPr>
              <a:t> </a:t>
            </a:r>
            <a:r>
              <a:rPr sz="900" dirty="0">
                <a:latin typeface="Arial"/>
                <a:cs typeface="Arial"/>
              </a:rPr>
              <a:t>a</a:t>
            </a:r>
            <a:r>
              <a:rPr sz="900" spc="-20" dirty="0">
                <a:latin typeface="Arial"/>
                <a:cs typeface="Arial"/>
              </a:rPr>
              <a:t> </a:t>
            </a:r>
            <a:r>
              <a:rPr sz="900" dirty="0">
                <a:latin typeface="Arial"/>
                <a:cs typeface="Arial"/>
              </a:rPr>
              <a:t>message</a:t>
            </a:r>
            <a:r>
              <a:rPr sz="900" spc="-20" dirty="0">
                <a:latin typeface="Arial"/>
                <a:cs typeface="Arial"/>
              </a:rPr>
              <a:t> </a:t>
            </a:r>
            <a:r>
              <a:rPr sz="900" dirty="0">
                <a:latin typeface="Arial"/>
                <a:cs typeface="Arial"/>
              </a:rPr>
              <a:t>(i.e.,</a:t>
            </a:r>
            <a:r>
              <a:rPr sz="900" spc="-20" dirty="0">
                <a:latin typeface="Arial"/>
                <a:cs typeface="Arial"/>
              </a:rPr>
              <a:t> </a:t>
            </a:r>
            <a:r>
              <a:rPr sz="900" spc="-10" dirty="0">
                <a:latin typeface="Arial"/>
                <a:cs typeface="Arial"/>
              </a:rPr>
              <a:t>effectively</a:t>
            </a:r>
            <a:r>
              <a:rPr sz="900" spc="-20" dirty="0">
                <a:latin typeface="Arial"/>
                <a:cs typeface="Arial"/>
              </a:rPr>
              <a:t> </a:t>
            </a:r>
            <a:r>
              <a:rPr sz="900" dirty="0">
                <a:latin typeface="Arial"/>
                <a:cs typeface="Arial"/>
              </a:rPr>
              <a:t>does</a:t>
            </a:r>
            <a:r>
              <a:rPr sz="900" spc="-20" dirty="0">
                <a:latin typeface="Arial"/>
                <a:cs typeface="Arial"/>
              </a:rPr>
              <a:t> </a:t>
            </a:r>
            <a:r>
              <a:rPr sz="900" dirty="0">
                <a:latin typeface="Arial"/>
                <a:cs typeface="Arial"/>
              </a:rPr>
              <a:t>not</a:t>
            </a:r>
            <a:r>
              <a:rPr sz="900" spc="-20" dirty="0">
                <a:latin typeface="Arial"/>
                <a:cs typeface="Arial"/>
              </a:rPr>
              <a:t> </a:t>
            </a:r>
            <a:r>
              <a:rPr sz="900" dirty="0">
                <a:latin typeface="Arial"/>
                <a:cs typeface="Arial"/>
              </a:rPr>
              <a:t>change</a:t>
            </a:r>
            <a:r>
              <a:rPr sz="900" spc="-20" dirty="0">
                <a:latin typeface="Arial"/>
                <a:cs typeface="Arial"/>
              </a:rPr>
              <a:t> </a:t>
            </a:r>
            <a:r>
              <a:rPr sz="900" i="1" spc="-10" dirty="0">
                <a:latin typeface="Arial"/>
                <a:cs typeface="Arial"/>
              </a:rPr>
              <a:t>VC</a:t>
            </a:r>
            <a:r>
              <a:rPr sz="1050" i="1" spc="-15" baseline="-15873" dirty="0">
                <a:latin typeface="Arial"/>
                <a:cs typeface="Arial"/>
              </a:rPr>
              <a:t>j</a:t>
            </a:r>
            <a:r>
              <a:rPr sz="1050" i="1" spc="-127" baseline="-15873" dirty="0">
                <a:latin typeface="Arial"/>
                <a:cs typeface="Arial"/>
              </a:rPr>
              <a:t> </a:t>
            </a:r>
            <a:r>
              <a:rPr sz="900" dirty="0">
                <a:latin typeface="Arial"/>
                <a:cs typeface="Arial"/>
              </a:rPr>
              <a:t>[</a:t>
            </a:r>
            <a:r>
              <a:rPr sz="900" i="1" dirty="0">
                <a:latin typeface="Arial"/>
                <a:cs typeface="Arial"/>
              </a:rPr>
              <a:t>j</a:t>
            </a:r>
            <a:r>
              <a:rPr sz="900" i="1" spc="-175" dirty="0">
                <a:latin typeface="Arial"/>
                <a:cs typeface="Arial"/>
              </a:rPr>
              <a:t> </a:t>
            </a:r>
            <a:r>
              <a:rPr sz="900" spc="-25" dirty="0">
                <a:latin typeface="Arial"/>
                <a:cs typeface="Arial"/>
              </a:rPr>
              <a:t>]).</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395605"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4" action="ppaction://hlinksldjump"/>
              </a:rPr>
              <a:t>Vector</a:t>
            </a:r>
            <a:r>
              <a:rPr sz="500" dirty="0">
                <a:latin typeface="Arial"/>
                <a:cs typeface="Arial"/>
                <a:hlinkClick r:id="rId4" action="ppaction://hlinksldjump"/>
              </a:rPr>
              <a:t> </a:t>
            </a:r>
            <a:r>
              <a:rPr sz="500" spc="-10" dirty="0">
                <a:latin typeface="Arial"/>
                <a:cs typeface="Arial"/>
                <a:hlinkClick r:id="rId4" action="ppaction://hlinksldjump"/>
              </a:rPr>
              <a:t>clocks</a:t>
            </a:r>
            <a:endParaRPr sz="500">
              <a:latin typeface="Arial"/>
              <a:cs typeface="Arial"/>
            </a:endParaRPr>
          </a:p>
        </p:txBody>
      </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4095750" algn="l"/>
              </a:tabLst>
            </a:pPr>
            <a:r>
              <a:rPr sz="500" spc="-10" dirty="0">
                <a:latin typeface="Arial"/>
                <a:cs typeface="Arial"/>
                <a:hlinkClick r:id="rId2" action="ppaction://hlinksldjump"/>
              </a:rPr>
              <a:t>Coordination</a:t>
            </a:r>
            <a:r>
              <a:rPr sz="500" dirty="0">
                <a:latin typeface="Arial"/>
                <a:cs typeface="Arial"/>
              </a:rPr>
              <a:t>	</a:t>
            </a:r>
            <a:r>
              <a:rPr sz="500" dirty="0">
                <a:solidFill>
                  <a:srgbClr val="FFFFFF"/>
                </a:solidFill>
                <a:latin typeface="Arial"/>
                <a:cs typeface="Arial"/>
                <a:hlinkClick r:id="rId3" action="ppaction://hlinksldjump"/>
              </a:rPr>
              <a:t>Logical</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clocks</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Causally</a:t>
            </a:r>
            <a:r>
              <a:rPr spc="-50" dirty="0"/>
              <a:t> </a:t>
            </a:r>
            <a:r>
              <a:rPr dirty="0"/>
              <a:t>ordered</a:t>
            </a:r>
            <a:r>
              <a:rPr spc="-50" dirty="0"/>
              <a:t> </a:t>
            </a:r>
            <a:r>
              <a:rPr spc="-10" dirty="0"/>
              <a:t>multicasting</a:t>
            </a:r>
          </a:p>
        </p:txBody>
      </p:sp>
      <p:sp>
        <p:nvSpPr>
          <p:cNvPr id="4" name="object 4"/>
          <p:cNvSpPr txBox="1"/>
          <p:nvPr/>
        </p:nvSpPr>
        <p:spPr>
          <a:xfrm>
            <a:off x="329247" y="499476"/>
            <a:ext cx="3916679" cy="1731010"/>
          </a:xfrm>
          <a:prstGeom prst="rect">
            <a:avLst/>
          </a:prstGeom>
        </p:spPr>
        <p:txBody>
          <a:bodyPr vert="horz" wrap="square" lIns="0" tIns="27305" rIns="0" bIns="0" rtlCol="0">
            <a:spAutoFit/>
          </a:bodyPr>
          <a:lstStyle/>
          <a:p>
            <a:pPr marL="30480">
              <a:lnSpc>
                <a:spcPct val="100000"/>
              </a:lnSpc>
              <a:spcBef>
                <a:spcPts val="215"/>
              </a:spcBef>
            </a:pPr>
            <a:r>
              <a:rPr sz="1000" spc="-10" dirty="0">
                <a:solidFill>
                  <a:srgbClr val="3333B2"/>
                </a:solidFill>
                <a:latin typeface="Arial"/>
                <a:cs typeface="Arial"/>
              </a:rPr>
              <a:t>Observation</a:t>
            </a:r>
            <a:endParaRPr sz="1000">
              <a:latin typeface="Arial"/>
              <a:cs typeface="Arial"/>
            </a:endParaRPr>
          </a:p>
          <a:p>
            <a:pPr marL="30480" marR="17780" indent="-5715">
              <a:lnSpc>
                <a:spcPts val="1210"/>
              </a:lnSpc>
              <a:spcBef>
                <a:spcPts val="35"/>
              </a:spcBef>
            </a:pPr>
            <a:r>
              <a:rPr sz="900" dirty="0">
                <a:latin typeface="Arial"/>
                <a:cs typeface="Arial"/>
              </a:rPr>
              <a:t>We</a:t>
            </a:r>
            <a:r>
              <a:rPr sz="900" spc="-25" dirty="0">
                <a:latin typeface="Arial"/>
                <a:cs typeface="Arial"/>
              </a:rPr>
              <a:t> </a:t>
            </a:r>
            <a:r>
              <a:rPr sz="900" dirty="0">
                <a:latin typeface="Arial"/>
                <a:cs typeface="Arial"/>
              </a:rPr>
              <a:t>can</a:t>
            </a:r>
            <a:r>
              <a:rPr sz="900" spc="-20" dirty="0">
                <a:latin typeface="Arial"/>
                <a:cs typeface="Arial"/>
              </a:rPr>
              <a:t> </a:t>
            </a:r>
            <a:r>
              <a:rPr sz="900" dirty="0">
                <a:latin typeface="Arial"/>
                <a:cs typeface="Arial"/>
              </a:rPr>
              <a:t>now</a:t>
            </a:r>
            <a:r>
              <a:rPr sz="900" spc="-20" dirty="0">
                <a:latin typeface="Arial"/>
                <a:cs typeface="Arial"/>
              </a:rPr>
              <a:t> </a:t>
            </a:r>
            <a:r>
              <a:rPr sz="900" dirty="0">
                <a:latin typeface="Arial"/>
                <a:cs typeface="Arial"/>
              </a:rPr>
              <a:t>ensure</a:t>
            </a:r>
            <a:r>
              <a:rPr sz="900" spc="-25" dirty="0">
                <a:latin typeface="Arial"/>
                <a:cs typeface="Arial"/>
              </a:rPr>
              <a:t> </a:t>
            </a:r>
            <a:r>
              <a:rPr sz="900" dirty="0">
                <a:latin typeface="Arial"/>
                <a:cs typeface="Arial"/>
              </a:rPr>
              <a:t>that</a:t>
            </a:r>
            <a:r>
              <a:rPr sz="900" spc="-20" dirty="0">
                <a:latin typeface="Arial"/>
                <a:cs typeface="Arial"/>
              </a:rPr>
              <a:t> </a:t>
            </a:r>
            <a:r>
              <a:rPr sz="900" dirty="0">
                <a:latin typeface="Arial"/>
                <a:cs typeface="Arial"/>
              </a:rPr>
              <a:t>a</a:t>
            </a:r>
            <a:r>
              <a:rPr sz="900" spc="-20" dirty="0">
                <a:latin typeface="Arial"/>
                <a:cs typeface="Arial"/>
              </a:rPr>
              <a:t> </a:t>
            </a:r>
            <a:r>
              <a:rPr sz="900" dirty="0">
                <a:latin typeface="Arial"/>
                <a:cs typeface="Arial"/>
              </a:rPr>
              <a:t>message</a:t>
            </a:r>
            <a:r>
              <a:rPr sz="900" spc="-25" dirty="0">
                <a:latin typeface="Arial"/>
                <a:cs typeface="Arial"/>
              </a:rPr>
              <a:t> </a:t>
            </a:r>
            <a:r>
              <a:rPr sz="900" dirty="0">
                <a:latin typeface="Arial"/>
                <a:cs typeface="Arial"/>
              </a:rPr>
              <a:t>is</a:t>
            </a:r>
            <a:r>
              <a:rPr sz="900" spc="-20" dirty="0">
                <a:latin typeface="Arial"/>
                <a:cs typeface="Arial"/>
              </a:rPr>
              <a:t> </a:t>
            </a:r>
            <a:r>
              <a:rPr sz="900" spc="-10" dirty="0">
                <a:latin typeface="Arial"/>
                <a:cs typeface="Arial"/>
              </a:rPr>
              <a:t>delivered</a:t>
            </a:r>
            <a:r>
              <a:rPr sz="900" spc="-20" dirty="0">
                <a:latin typeface="Arial"/>
                <a:cs typeface="Arial"/>
              </a:rPr>
              <a:t> </a:t>
            </a:r>
            <a:r>
              <a:rPr sz="900" dirty="0">
                <a:latin typeface="Arial"/>
                <a:cs typeface="Arial"/>
              </a:rPr>
              <a:t>only</a:t>
            </a:r>
            <a:r>
              <a:rPr sz="900" spc="-20" dirty="0">
                <a:latin typeface="Arial"/>
                <a:cs typeface="Arial"/>
              </a:rPr>
              <a:t> </a:t>
            </a:r>
            <a:r>
              <a:rPr sz="900" dirty="0">
                <a:latin typeface="Arial"/>
                <a:cs typeface="Arial"/>
              </a:rPr>
              <a:t>if</a:t>
            </a:r>
            <a:r>
              <a:rPr sz="900" spc="-25" dirty="0">
                <a:latin typeface="Arial"/>
                <a:cs typeface="Arial"/>
              </a:rPr>
              <a:t> </a:t>
            </a:r>
            <a:r>
              <a:rPr sz="900" dirty="0">
                <a:latin typeface="Arial"/>
                <a:cs typeface="Arial"/>
              </a:rPr>
              <a:t>all</a:t>
            </a:r>
            <a:r>
              <a:rPr sz="900" spc="-20" dirty="0">
                <a:latin typeface="Arial"/>
                <a:cs typeface="Arial"/>
              </a:rPr>
              <a:t> </a:t>
            </a:r>
            <a:r>
              <a:rPr sz="900" dirty="0">
                <a:latin typeface="Arial"/>
                <a:cs typeface="Arial"/>
              </a:rPr>
              <a:t>causally</a:t>
            </a:r>
            <a:r>
              <a:rPr sz="900" spc="-20" dirty="0">
                <a:latin typeface="Arial"/>
                <a:cs typeface="Arial"/>
              </a:rPr>
              <a:t> </a:t>
            </a:r>
            <a:r>
              <a:rPr sz="900" spc="-10" dirty="0">
                <a:latin typeface="Arial"/>
                <a:cs typeface="Arial"/>
              </a:rPr>
              <a:t>preceding </a:t>
            </a:r>
            <a:r>
              <a:rPr sz="900" dirty="0">
                <a:latin typeface="Arial"/>
                <a:cs typeface="Arial"/>
              </a:rPr>
              <a:t>messages</a:t>
            </a:r>
            <a:r>
              <a:rPr sz="900" spc="-35" dirty="0">
                <a:latin typeface="Arial"/>
                <a:cs typeface="Arial"/>
              </a:rPr>
              <a:t> </a:t>
            </a:r>
            <a:r>
              <a:rPr sz="900" spc="-10" dirty="0">
                <a:latin typeface="Arial"/>
                <a:cs typeface="Arial"/>
              </a:rPr>
              <a:t>have</a:t>
            </a:r>
            <a:r>
              <a:rPr sz="900" spc="-35" dirty="0">
                <a:latin typeface="Arial"/>
                <a:cs typeface="Arial"/>
              </a:rPr>
              <a:t> </a:t>
            </a:r>
            <a:r>
              <a:rPr sz="900" dirty="0">
                <a:latin typeface="Arial"/>
                <a:cs typeface="Arial"/>
              </a:rPr>
              <a:t>already</a:t>
            </a:r>
            <a:r>
              <a:rPr sz="900" spc="-35" dirty="0">
                <a:latin typeface="Arial"/>
                <a:cs typeface="Arial"/>
              </a:rPr>
              <a:t> </a:t>
            </a:r>
            <a:r>
              <a:rPr sz="900" dirty="0">
                <a:latin typeface="Arial"/>
                <a:cs typeface="Arial"/>
              </a:rPr>
              <a:t>been</a:t>
            </a:r>
            <a:r>
              <a:rPr sz="900" spc="-35" dirty="0">
                <a:latin typeface="Arial"/>
                <a:cs typeface="Arial"/>
              </a:rPr>
              <a:t> </a:t>
            </a:r>
            <a:r>
              <a:rPr sz="900" spc="-10" dirty="0">
                <a:latin typeface="Arial"/>
                <a:cs typeface="Arial"/>
              </a:rPr>
              <a:t>delivered.</a:t>
            </a:r>
            <a:endParaRPr sz="900">
              <a:latin typeface="Arial"/>
              <a:cs typeface="Arial"/>
            </a:endParaRPr>
          </a:p>
          <a:p>
            <a:pPr marL="26034">
              <a:lnSpc>
                <a:spcPct val="100000"/>
              </a:lnSpc>
              <a:spcBef>
                <a:spcPts val="750"/>
              </a:spcBef>
            </a:pPr>
            <a:r>
              <a:rPr sz="1000" spc="-10" dirty="0">
                <a:solidFill>
                  <a:srgbClr val="3333B2"/>
                </a:solidFill>
                <a:latin typeface="Arial"/>
                <a:cs typeface="Arial"/>
              </a:rPr>
              <a:t>Adjustment</a:t>
            </a:r>
            <a:endParaRPr sz="1000">
              <a:latin typeface="Arial"/>
              <a:cs typeface="Arial"/>
            </a:endParaRPr>
          </a:p>
          <a:p>
            <a:pPr marL="30480">
              <a:lnSpc>
                <a:spcPct val="100000"/>
              </a:lnSpc>
              <a:spcBef>
                <a:spcPts val="295"/>
              </a:spcBef>
            </a:pPr>
            <a:r>
              <a:rPr sz="900" i="1" dirty="0">
                <a:latin typeface="Arial"/>
                <a:cs typeface="Arial"/>
              </a:rPr>
              <a:t>P</a:t>
            </a:r>
            <a:r>
              <a:rPr sz="1050" i="1" baseline="-15873" dirty="0">
                <a:latin typeface="Arial"/>
                <a:cs typeface="Arial"/>
              </a:rPr>
              <a:t>i</a:t>
            </a:r>
            <a:r>
              <a:rPr sz="1050" i="1" spc="187" baseline="-15873" dirty="0">
                <a:latin typeface="Arial"/>
                <a:cs typeface="Arial"/>
              </a:rPr>
              <a:t> </a:t>
            </a:r>
            <a:r>
              <a:rPr sz="900" dirty="0">
                <a:latin typeface="Arial"/>
                <a:cs typeface="Arial"/>
              </a:rPr>
              <a:t>increments</a:t>
            </a:r>
            <a:r>
              <a:rPr sz="900" spc="-25" dirty="0">
                <a:latin typeface="Arial"/>
                <a:cs typeface="Arial"/>
              </a:rPr>
              <a:t> </a:t>
            </a:r>
            <a:r>
              <a:rPr sz="900" i="1" spc="-10" dirty="0">
                <a:latin typeface="Arial"/>
                <a:cs typeface="Arial"/>
              </a:rPr>
              <a:t>VC</a:t>
            </a:r>
            <a:r>
              <a:rPr sz="1050" i="1" spc="-15" baseline="-15873" dirty="0">
                <a:latin typeface="Arial"/>
                <a:cs typeface="Arial"/>
              </a:rPr>
              <a:t>i</a:t>
            </a:r>
            <a:r>
              <a:rPr sz="1050" i="1" spc="-127" baseline="-15873" dirty="0">
                <a:latin typeface="Arial"/>
                <a:cs typeface="Arial"/>
              </a:rPr>
              <a:t> </a:t>
            </a:r>
            <a:r>
              <a:rPr sz="900" dirty="0">
                <a:latin typeface="Arial"/>
                <a:cs typeface="Arial"/>
              </a:rPr>
              <a:t>[</a:t>
            </a:r>
            <a:r>
              <a:rPr sz="900" i="1" dirty="0">
                <a:latin typeface="Arial"/>
                <a:cs typeface="Arial"/>
              </a:rPr>
              <a:t>i</a:t>
            </a:r>
            <a:r>
              <a:rPr sz="900" i="1" spc="-175" dirty="0">
                <a:latin typeface="Arial"/>
                <a:cs typeface="Arial"/>
              </a:rPr>
              <a:t> </a:t>
            </a:r>
            <a:r>
              <a:rPr sz="900" dirty="0">
                <a:latin typeface="Arial"/>
                <a:cs typeface="Arial"/>
              </a:rPr>
              <a:t>]</a:t>
            </a:r>
            <a:r>
              <a:rPr sz="900" spc="-20" dirty="0">
                <a:latin typeface="Arial"/>
                <a:cs typeface="Arial"/>
              </a:rPr>
              <a:t> </a:t>
            </a:r>
            <a:r>
              <a:rPr sz="900" dirty="0">
                <a:latin typeface="Arial"/>
                <a:cs typeface="Arial"/>
              </a:rPr>
              <a:t>only</a:t>
            </a:r>
            <a:r>
              <a:rPr sz="900" spc="-20" dirty="0">
                <a:latin typeface="Arial"/>
                <a:cs typeface="Arial"/>
              </a:rPr>
              <a:t> </a:t>
            </a:r>
            <a:r>
              <a:rPr sz="900" dirty="0">
                <a:latin typeface="Arial"/>
                <a:cs typeface="Arial"/>
              </a:rPr>
              <a:t>when</a:t>
            </a:r>
            <a:r>
              <a:rPr sz="900" spc="-20" dirty="0">
                <a:latin typeface="Arial"/>
                <a:cs typeface="Arial"/>
              </a:rPr>
              <a:t> </a:t>
            </a:r>
            <a:r>
              <a:rPr sz="900" dirty="0">
                <a:latin typeface="Arial"/>
                <a:cs typeface="Arial"/>
              </a:rPr>
              <a:t>sending</a:t>
            </a:r>
            <a:r>
              <a:rPr sz="900" spc="-20" dirty="0">
                <a:latin typeface="Arial"/>
                <a:cs typeface="Arial"/>
              </a:rPr>
              <a:t> </a:t>
            </a:r>
            <a:r>
              <a:rPr sz="900" dirty="0">
                <a:latin typeface="Arial"/>
                <a:cs typeface="Arial"/>
              </a:rPr>
              <a:t>a</a:t>
            </a:r>
            <a:r>
              <a:rPr sz="900" spc="-20" dirty="0">
                <a:latin typeface="Arial"/>
                <a:cs typeface="Arial"/>
              </a:rPr>
              <a:t> </a:t>
            </a:r>
            <a:r>
              <a:rPr sz="900" dirty="0">
                <a:latin typeface="Arial"/>
                <a:cs typeface="Arial"/>
              </a:rPr>
              <a:t>message,</a:t>
            </a:r>
            <a:r>
              <a:rPr sz="900" spc="-20" dirty="0">
                <a:latin typeface="Arial"/>
                <a:cs typeface="Arial"/>
              </a:rPr>
              <a:t> </a:t>
            </a:r>
            <a:r>
              <a:rPr sz="900" dirty="0">
                <a:latin typeface="Arial"/>
                <a:cs typeface="Arial"/>
              </a:rPr>
              <a:t>and</a:t>
            </a:r>
            <a:r>
              <a:rPr sz="900" spc="-20" dirty="0">
                <a:latin typeface="Arial"/>
                <a:cs typeface="Arial"/>
              </a:rPr>
              <a:t> </a:t>
            </a:r>
            <a:r>
              <a:rPr sz="900" i="1" dirty="0">
                <a:latin typeface="Arial"/>
                <a:cs typeface="Arial"/>
              </a:rPr>
              <a:t>P</a:t>
            </a:r>
            <a:r>
              <a:rPr sz="1050" i="1" baseline="-15873" dirty="0">
                <a:latin typeface="Arial"/>
                <a:cs typeface="Arial"/>
              </a:rPr>
              <a:t>j</a:t>
            </a:r>
            <a:r>
              <a:rPr sz="1050" i="1" spc="202" baseline="-15873" dirty="0">
                <a:latin typeface="Arial"/>
                <a:cs typeface="Arial"/>
              </a:rPr>
              <a:t> </a:t>
            </a:r>
            <a:r>
              <a:rPr sz="900" dirty="0">
                <a:latin typeface="Arial"/>
                <a:cs typeface="Arial"/>
              </a:rPr>
              <a:t>“adjusts”</a:t>
            </a:r>
            <a:r>
              <a:rPr sz="900" spc="-20" dirty="0">
                <a:latin typeface="Arial"/>
                <a:cs typeface="Arial"/>
              </a:rPr>
              <a:t> </a:t>
            </a:r>
            <a:r>
              <a:rPr sz="900" i="1" spc="-25" dirty="0">
                <a:latin typeface="Arial"/>
                <a:cs typeface="Arial"/>
              </a:rPr>
              <a:t>VC</a:t>
            </a:r>
            <a:r>
              <a:rPr sz="1050" i="1" spc="-37" baseline="-15873" dirty="0">
                <a:latin typeface="Arial"/>
                <a:cs typeface="Arial"/>
              </a:rPr>
              <a:t>j</a:t>
            </a:r>
            <a:endParaRPr sz="1050" baseline="-15873">
              <a:latin typeface="Arial"/>
              <a:cs typeface="Arial"/>
            </a:endParaRPr>
          </a:p>
          <a:p>
            <a:pPr marL="26034">
              <a:lnSpc>
                <a:spcPct val="100000"/>
              </a:lnSpc>
              <a:spcBef>
                <a:spcPts val="125"/>
              </a:spcBef>
            </a:pPr>
            <a:r>
              <a:rPr sz="900" dirty="0">
                <a:latin typeface="Arial"/>
                <a:cs typeface="Arial"/>
              </a:rPr>
              <a:t>when</a:t>
            </a:r>
            <a:r>
              <a:rPr sz="900" spc="-35" dirty="0">
                <a:latin typeface="Arial"/>
                <a:cs typeface="Arial"/>
              </a:rPr>
              <a:t> </a:t>
            </a:r>
            <a:r>
              <a:rPr sz="900" dirty="0">
                <a:latin typeface="Arial"/>
                <a:cs typeface="Arial"/>
              </a:rPr>
              <a:t>receiving</a:t>
            </a:r>
            <a:r>
              <a:rPr sz="900" spc="-20" dirty="0">
                <a:latin typeface="Arial"/>
                <a:cs typeface="Arial"/>
              </a:rPr>
              <a:t> </a:t>
            </a:r>
            <a:r>
              <a:rPr sz="900" dirty="0">
                <a:latin typeface="Arial"/>
                <a:cs typeface="Arial"/>
              </a:rPr>
              <a:t>a</a:t>
            </a:r>
            <a:r>
              <a:rPr sz="900" spc="-20" dirty="0">
                <a:latin typeface="Arial"/>
                <a:cs typeface="Arial"/>
              </a:rPr>
              <a:t> </a:t>
            </a:r>
            <a:r>
              <a:rPr sz="900" dirty="0">
                <a:latin typeface="Arial"/>
                <a:cs typeface="Arial"/>
              </a:rPr>
              <a:t>message</a:t>
            </a:r>
            <a:r>
              <a:rPr sz="900" spc="-20" dirty="0">
                <a:latin typeface="Arial"/>
                <a:cs typeface="Arial"/>
              </a:rPr>
              <a:t> </a:t>
            </a:r>
            <a:r>
              <a:rPr sz="900" dirty="0">
                <a:latin typeface="Arial"/>
                <a:cs typeface="Arial"/>
              </a:rPr>
              <a:t>(i.e.,</a:t>
            </a:r>
            <a:r>
              <a:rPr sz="900" spc="-20" dirty="0">
                <a:latin typeface="Arial"/>
                <a:cs typeface="Arial"/>
              </a:rPr>
              <a:t> </a:t>
            </a:r>
            <a:r>
              <a:rPr sz="900" spc="-10" dirty="0">
                <a:latin typeface="Arial"/>
                <a:cs typeface="Arial"/>
              </a:rPr>
              <a:t>effectively</a:t>
            </a:r>
            <a:r>
              <a:rPr sz="900" spc="-20" dirty="0">
                <a:latin typeface="Arial"/>
                <a:cs typeface="Arial"/>
              </a:rPr>
              <a:t> </a:t>
            </a:r>
            <a:r>
              <a:rPr sz="900" dirty="0">
                <a:latin typeface="Arial"/>
                <a:cs typeface="Arial"/>
              </a:rPr>
              <a:t>does</a:t>
            </a:r>
            <a:r>
              <a:rPr sz="900" spc="-20" dirty="0">
                <a:latin typeface="Arial"/>
                <a:cs typeface="Arial"/>
              </a:rPr>
              <a:t> </a:t>
            </a:r>
            <a:r>
              <a:rPr sz="900" dirty="0">
                <a:latin typeface="Arial"/>
                <a:cs typeface="Arial"/>
              </a:rPr>
              <a:t>not</a:t>
            </a:r>
            <a:r>
              <a:rPr sz="900" spc="-20" dirty="0">
                <a:latin typeface="Arial"/>
                <a:cs typeface="Arial"/>
              </a:rPr>
              <a:t> </a:t>
            </a:r>
            <a:r>
              <a:rPr sz="900" dirty="0">
                <a:latin typeface="Arial"/>
                <a:cs typeface="Arial"/>
              </a:rPr>
              <a:t>change</a:t>
            </a:r>
            <a:r>
              <a:rPr sz="900" spc="-20" dirty="0">
                <a:latin typeface="Arial"/>
                <a:cs typeface="Arial"/>
              </a:rPr>
              <a:t> </a:t>
            </a:r>
            <a:r>
              <a:rPr sz="900" i="1" spc="-10" dirty="0">
                <a:latin typeface="Arial"/>
                <a:cs typeface="Arial"/>
              </a:rPr>
              <a:t>VC</a:t>
            </a:r>
            <a:r>
              <a:rPr sz="1050" i="1" spc="-15" baseline="-15873" dirty="0">
                <a:latin typeface="Arial"/>
                <a:cs typeface="Arial"/>
              </a:rPr>
              <a:t>j</a:t>
            </a:r>
            <a:r>
              <a:rPr sz="1050" i="1" spc="-127" baseline="-15873" dirty="0">
                <a:latin typeface="Arial"/>
                <a:cs typeface="Arial"/>
              </a:rPr>
              <a:t> </a:t>
            </a:r>
            <a:r>
              <a:rPr sz="900" dirty="0">
                <a:latin typeface="Arial"/>
                <a:cs typeface="Arial"/>
              </a:rPr>
              <a:t>[</a:t>
            </a:r>
            <a:r>
              <a:rPr sz="900" i="1" dirty="0">
                <a:latin typeface="Arial"/>
                <a:cs typeface="Arial"/>
              </a:rPr>
              <a:t>j</a:t>
            </a:r>
            <a:r>
              <a:rPr sz="900" i="1" spc="-175" dirty="0">
                <a:latin typeface="Arial"/>
                <a:cs typeface="Arial"/>
              </a:rPr>
              <a:t> </a:t>
            </a:r>
            <a:r>
              <a:rPr sz="900" spc="-25" dirty="0">
                <a:latin typeface="Arial"/>
                <a:cs typeface="Arial"/>
              </a:rPr>
              <a:t>]).</a:t>
            </a:r>
            <a:endParaRPr sz="900">
              <a:latin typeface="Arial"/>
              <a:cs typeface="Arial"/>
            </a:endParaRPr>
          </a:p>
          <a:p>
            <a:pPr marL="30480">
              <a:lnSpc>
                <a:spcPct val="100000"/>
              </a:lnSpc>
              <a:spcBef>
                <a:spcPts val="810"/>
              </a:spcBef>
            </a:pPr>
            <a:r>
              <a:rPr sz="1000" i="1" dirty="0">
                <a:solidFill>
                  <a:srgbClr val="C80000"/>
                </a:solidFill>
                <a:latin typeface="Arial"/>
                <a:cs typeface="Arial"/>
              </a:rPr>
              <a:t>P</a:t>
            </a:r>
            <a:r>
              <a:rPr sz="1050" i="1" baseline="-15873" dirty="0">
                <a:solidFill>
                  <a:srgbClr val="C80000"/>
                </a:solidFill>
                <a:latin typeface="Arial"/>
                <a:cs typeface="Arial"/>
              </a:rPr>
              <a:t>j</a:t>
            </a:r>
            <a:r>
              <a:rPr sz="1050" i="1" spc="247" baseline="-15873" dirty="0">
                <a:solidFill>
                  <a:srgbClr val="C80000"/>
                </a:solidFill>
                <a:latin typeface="Arial"/>
                <a:cs typeface="Arial"/>
              </a:rPr>
              <a:t> </a:t>
            </a:r>
            <a:r>
              <a:rPr sz="1000" dirty="0">
                <a:solidFill>
                  <a:srgbClr val="C80000"/>
                </a:solidFill>
                <a:latin typeface="Arial"/>
                <a:cs typeface="Arial"/>
              </a:rPr>
              <a:t>postpones</a:t>
            </a:r>
            <a:r>
              <a:rPr sz="1000" spc="-20" dirty="0">
                <a:solidFill>
                  <a:srgbClr val="C80000"/>
                </a:solidFill>
                <a:latin typeface="Arial"/>
                <a:cs typeface="Arial"/>
              </a:rPr>
              <a:t> </a:t>
            </a:r>
            <a:r>
              <a:rPr sz="1000" dirty="0">
                <a:solidFill>
                  <a:srgbClr val="C80000"/>
                </a:solidFill>
                <a:latin typeface="Arial"/>
                <a:cs typeface="Arial"/>
              </a:rPr>
              <a:t>delivery</a:t>
            </a:r>
            <a:r>
              <a:rPr sz="1000" spc="-25" dirty="0">
                <a:solidFill>
                  <a:srgbClr val="C80000"/>
                </a:solidFill>
                <a:latin typeface="Arial"/>
                <a:cs typeface="Arial"/>
              </a:rPr>
              <a:t> </a:t>
            </a:r>
            <a:r>
              <a:rPr sz="1000" dirty="0">
                <a:solidFill>
                  <a:srgbClr val="C80000"/>
                </a:solidFill>
                <a:latin typeface="Arial"/>
                <a:cs typeface="Arial"/>
              </a:rPr>
              <a:t>of</a:t>
            </a:r>
            <a:r>
              <a:rPr sz="1000" spc="-20" dirty="0">
                <a:solidFill>
                  <a:srgbClr val="C80000"/>
                </a:solidFill>
                <a:latin typeface="Arial"/>
                <a:cs typeface="Arial"/>
              </a:rPr>
              <a:t> </a:t>
            </a:r>
            <a:r>
              <a:rPr sz="1000" i="1" dirty="0">
                <a:solidFill>
                  <a:srgbClr val="C80000"/>
                </a:solidFill>
                <a:latin typeface="Arial"/>
                <a:cs typeface="Arial"/>
              </a:rPr>
              <a:t>m</a:t>
            </a:r>
            <a:r>
              <a:rPr sz="1000" i="1" spc="-5" dirty="0">
                <a:solidFill>
                  <a:srgbClr val="C80000"/>
                </a:solidFill>
                <a:latin typeface="Arial"/>
                <a:cs typeface="Arial"/>
              </a:rPr>
              <a:t> </a:t>
            </a:r>
            <a:r>
              <a:rPr sz="1000" spc="-10" dirty="0">
                <a:solidFill>
                  <a:srgbClr val="C80000"/>
                </a:solidFill>
                <a:latin typeface="Arial"/>
                <a:cs typeface="Arial"/>
              </a:rPr>
              <a:t>until:</a:t>
            </a:r>
            <a:endParaRPr sz="1000">
              <a:latin typeface="Arial"/>
              <a:cs typeface="Arial"/>
            </a:endParaRPr>
          </a:p>
          <a:p>
            <a:pPr marL="283210" indent="-158750">
              <a:lnSpc>
                <a:spcPct val="100000"/>
              </a:lnSpc>
              <a:spcBef>
                <a:spcPts val="830"/>
              </a:spcBef>
              <a:buClr>
                <a:srgbClr val="C80000"/>
              </a:buClr>
              <a:buFont typeface="Arial"/>
              <a:buAutoNum type="arabicPeriod"/>
              <a:tabLst>
                <a:tab pos="283845" algn="l"/>
              </a:tabLst>
            </a:pPr>
            <a:r>
              <a:rPr sz="900" i="1" dirty="0">
                <a:latin typeface="Arial"/>
                <a:cs typeface="Arial"/>
              </a:rPr>
              <a:t>ts</a:t>
            </a:r>
            <a:r>
              <a:rPr sz="900" dirty="0">
                <a:latin typeface="Arial"/>
                <a:cs typeface="Arial"/>
              </a:rPr>
              <a:t>(</a:t>
            </a:r>
            <a:r>
              <a:rPr sz="900" i="1" dirty="0">
                <a:latin typeface="Arial"/>
                <a:cs typeface="Arial"/>
              </a:rPr>
              <a:t>m</a:t>
            </a:r>
            <a:r>
              <a:rPr sz="900" dirty="0">
                <a:latin typeface="Arial"/>
                <a:cs typeface="Arial"/>
              </a:rPr>
              <a:t>)[</a:t>
            </a:r>
            <a:r>
              <a:rPr sz="900" i="1" dirty="0">
                <a:latin typeface="Arial"/>
                <a:cs typeface="Arial"/>
              </a:rPr>
              <a:t>i</a:t>
            </a:r>
            <a:r>
              <a:rPr sz="900" i="1" spc="-160" dirty="0">
                <a:latin typeface="Arial"/>
                <a:cs typeface="Arial"/>
              </a:rPr>
              <a:t> </a:t>
            </a:r>
            <a:r>
              <a:rPr sz="900" dirty="0">
                <a:latin typeface="Arial"/>
                <a:cs typeface="Arial"/>
              </a:rPr>
              <a:t>]</a:t>
            </a:r>
            <a:r>
              <a:rPr sz="900" spc="-5" dirty="0">
                <a:latin typeface="Arial"/>
                <a:cs typeface="Arial"/>
              </a:rPr>
              <a:t> </a:t>
            </a:r>
            <a:r>
              <a:rPr sz="900" spc="185" dirty="0">
                <a:latin typeface="Arial"/>
                <a:cs typeface="Arial"/>
              </a:rPr>
              <a:t>=</a:t>
            </a:r>
            <a:r>
              <a:rPr sz="900" spc="-10" dirty="0">
                <a:latin typeface="Arial"/>
                <a:cs typeface="Arial"/>
              </a:rPr>
              <a:t> </a:t>
            </a:r>
            <a:r>
              <a:rPr sz="900" i="1" spc="-10" dirty="0">
                <a:latin typeface="Arial"/>
                <a:cs typeface="Arial"/>
              </a:rPr>
              <a:t>VC</a:t>
            </a:r>
            <a:r>
              <a:rPr sz="1050" i="1" spc="-15" baseline="-15873" dirty="0">
                <a:latin typeface="Arial"/>
                <a:cs typeface="Arial"/>
              </a:rPr>
              <a:t>j</a:t>
            </a:r>
            <a:r>
              <a:rPr sz="1050" i="1" spc="-82" baseline="-15873" dirty="0">
                <a:latin typeface="Arial"/>
                <a:cs typeface="Arial"/>
              </a:rPr>
              <a:t> </a:t>
            </a:r>
            <a:r>
              <a:rPr sz="900" dirty="0">
                <a:latin typeface="Arial"/>
                <a:cs typeface="Arial"/>
              </a:rPr>
              <a:t>[</a:t>
            </a:r>
            <a:r>
              <a:rPr sz="900" i="1" dirty="0">
                <a:latin typeface="Arial"/>
                <a:cs typeface="Arial"/>
              </a:rPr>
              <a:t>i</a:t>
            </a:r>
            <a:r>
              <a:rPr sz="900" i="1" spc="-160" dirty="0">
                <a:latin typeface="Arial"/>
                <a:cs typeface="Arial"/>
              </a:rPr>
              <a:t> </a:t>
            </a:r>
            <a:r>
              <a:rPr sz="900" dirty="0">
                <a:latin typeface="Arial"/>
                <a:cs typeface="Arial"/>
              </a:rPr>
              <a:t>]</a:t>
            </a:r>
            <a:r>
              <a:rPr sz="900" spc="-95" dirty="0">
                <a:latin typeface="Arial"/>
                <a:cs typeface="Arial"/>
              </a:rPr>
              <a:t> </a:t>
            </a:r>
            <a:r>
              <a:rPr sz="900" spc="185" dirty="0">
                <a:latin typeface="Arial"/>
                <a:cs typeface="Arial"/>
              </a:rPr>
              <a:t>+</a:t>
            </a:r>
            <a:r>
              <a:rPr sz="900" spc="-100" dirty="0">
                <a:latin typeface="Arial"/>
                <a:cs typeface="Arial"/>
              </a:rPr>
              <a:t> </a:t>
            </a:r>
            <a:r>
              <a:rPr sz="900" spc="-50" dirty="0">
                <a:latin typeface="Arial"/>
                <a:cs typeface="Arial"/>
              </a:rPr>
              <a:t>1</a:t>
            </a:r>
            <a:endParaRPr sz="900">
              <a:latin typeface="Arial"/>
              <a:cs typeface="Arial"/>
            </a:endParaRPr>
          </a:p>
          <a:p>
            <a:pPr marL="283210" indent="-158750">
              <a:lnSpc>
                <a:spcPct val="100000"/>
              </a:lnSpc>
              <a:spcBef>
                <a:spcPts val="125"/>
              </a:spcBef>
              <a:buClr>
                <a:srgbClr val="C80000"/>
              </a:buClr>
              <a:buFont typeface="Arial"/>
              <a:buAutoNum type="arabicPeriod"/>
              <a:tabLst>
                <a:tab pos="283845" algn="l"/>
              </a:tabLst>
            </a:pPr>
            <a:r>
              <a:rPr sz="900" i="1" dirty="0">
                <a:latin typeface="Arial"/>
                <a:cs typeface="Arial"/>
              </a:rPr>
              <a:t>ts</a:t>
            </a:r>
            <a:r>
              <a:rPr sz="900" dirty="0">
                <a:latin typeface="Arial"/>
                <a:cs typeface="Arial"/>
              </a:rPr>
              <a:t>(</a:t>
            </a:r>
            <a:r>
              <a:rPr sz="900" i="1" dirty="0">
                <a:latin typeface="Arial"/>
                <a:cs typeface="Arial"/>
              </a:rPr>
              <a:t>m</a:t>
            </a:r>
            <a:r>
              <a:rPr sz="900" dirty="0">
                <a:latin typeface="Arial"/>
                <a:cs typeface="Arial"/>
              </a:rPr>
              <a:t>)[</a:t>
            </a:r>
            <a:r>
              <a:rPr sz="900" i="1" dirty="0">
                <a:latin typeface="Arial"/>
                <a:cs typeface="Arial"/>
              </a:rPr>
              <a:t>k</a:t>
            </a:r>
            <a:r>
              <a:rPr sz="900" i="1" spc="-160" dirty="0">
                <a:latin typeface="Arial"/>
                <a:cs typeface="Arial"/>
              </a:rPr>
              <a:t> </a:t>
            </a:r>
            <a:r>
              <a:rPr sz="900" dirty="0">
                <a:latin typeface="Arial"/>
                <a:cs typeface="Arial"/>
              </a:rPr>
              <a:t>]</a:t>
            </a:r>
            <a:r>
              <a:rPr sz="900" spc="-40" dirty="0">
                <a:latin typeface="Arial"/>
                <a:cs typeface="Arial"/>
              </a:rPr>
              <a:t> </a:t>
            </a:r>
            <a:r>
              <a:rPr sz="900" i="1" spc="150" dirty="0">
                <a:latin typeface="Menlo"/>
                <a:cs typeface="Menlo"/>
              </a:rPr>
              <a:t>≤</a:t>
            </a:r>
            <a:r>
              <a:rPr sz="900" i="1" spc="-325" dirty="0">
                <a:latin typeface="Menlo"/>
                <a:cs typeface="Menlo"/>
              </a:rPr>
              <a:t> </a:t>
            </a:r>
            <a:r>
              <a:rPr sz="900" i="1" spc="-10" dirty="0">
                <a:latin typeface="Arial"/>
                <a:cs typeface="Arial"/>
              </a:rPr>
              <a:t>VC</a:t>
            </a:r>
            <a:r>
              <a:rPr sz="1050" i="1" spc="-15" baseline="-15873" dirty="0">
                <a:latin typeface="Arial"/>
                <a:cs typeface="Arial"/>
              </a:rPr>
              <a:t>j</a:t>
            </a:r>
            <a:r>
              <a:rPr sz="1050" i="1" spc="-112" baseline="-15873" dirty="0">
                <a:latin typeface="Arial"/>
                <a:cs typeface="Arial"/>
              </a:rPr>
              <a:t> </a:t>
            </a:r>
            <a:r>
              <a:rPr sz="900" dirty="0">
                <a:latin typeface="Arial"/>
                <a:cs typeface="Arial"/>
              </a:rPr>
              <a:t>[</a:t>
            </a:r>
            <a:r>
              <a:rPr sz="900" i="1" dirty="0">
                <a:latin typeface="Arial"/>
                <a:cs typeface="Arial"/>
              </a:rPr>
              <a:t>k</a:t>
            </a:r>
            <a:r>
              <a:rPr sz="900" i="1" spc="-160" dirty="0">
                <a:latin typeface="Arial"/>
                <a:cs typeface="Arial"/>
              </a:rPr>
              <a:t> </a:t>
            </a:r>
            <a:r>
              <a:rPr sz="900" dirty="0">
                <a:latin typeface="Arial"/>
                <a:cs typeface="Arial"/>
              </a:rPr>
              <a:t>]</a:t>
            </a:r>
            <a:r>
              <a:rPr sz="900" spc="20" dirty="0">
                <a:latin typeface="Arial"/>
                <a:cs typeface="Arial"/>
              </a:rPr>
              <a:t> </a:t>
            </a:r>
            <a:r>
              <a:rPr sz="900" dirty="0">
                <a:latin typeface="Arial"/>
                <a:cs typeface="Arial"/>
              </a:rPr>
              <a:t>for</a:t>
            </a:r>
            <a:r>
              <a:rPr sz="900" spc="15" dirty="0">
                <a:latin typeface="Arial"/>
                <a:cs typeface="Arial"/>
              </a:rPr>
              <a:t> </a:t>
            </a:r>
            <a:r>
              <a:rPr sz="900" dirty="0">
                <a:latin typeface="Arial"/>
                <a:cs typeface="Arial"/>
              </a:rPr>
              <a:t>all</a:t>
            </a:r>
            <a:r>
              <a:rPr sz="900" spc="15" dirty="0">
                <a:latin typeface="Arial"/>
                <a:cs typeface="Arial"/>
              </a:rPr>
              <a:t> </a:t>
            </a:r>
            <a:r>
              <a:rPr sz="900" i="1" dirty="0">
                <a:latin typeface="Arial"/>
                <a:cs typeface="Arial"/>
              </a:rPr>
              <a:t>k</a:t>
            </a:r>
            <a:r>
              <a:rPr sz="900" i="1" spc="60" dirty="0">
                <a:latin typeface="Arial"/>
                <a:cs typeface="Arial"/>
              </a:rPr>
              <a:t> </a:t>
            </a:r>
            <a:r>
              <a:rPr sz="900" i="1" spc="-459" dirty="0">
                <a:latin typeface="Menlo"/>
                <a:cs typeface="Menlo"/>
              </a:rPr>
              <a:t≯</a:t>
            </a:r>
            <a:r>
              <a:rPr sz="900" spc="95" dirty="0">
                <a:latin typeface="Arial"/>
                <a:cs typeface="Arial"/>
              </a:rPr>
              <a:t>=</a:t>
            </a:r>
            <a:r>
              <a:rPr sz="900" spc="-35" dirty="0">
                <a:latin typeface="Arial"/>
                <a:cs typeface="Arial"/>
              </a:rPr>
              <a:t> </a:t>
            </a:r>
            <a:r>
              <a:rPr sz="900" i="1" spc="-50" dirty="0">
                <a:latin typeface="Arial"/>
                <a:cs typeface="Arial"/>
              </a:rPr>
              <a:t>i</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395605"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4" action="ppaction://hlinksldjump"/>
              </a:rPr>
              <a:t>Vector</a:t>
            </a:r>
            <a:r>
              <a:rPr sz="500" dirty="0">
                <a:latin typeface="Arial"/>
                <a:cs typeface="Arial"/>
                <a:hlinkClick r:id="rId4" action="ppaction://hlinksldjump"/>
              </a:rPr>
              <a:t> </a:t>
            </a:r>
            <a:r>
              <a:rPr sz="500" spc="-10" dirty="0">
                <a:latin typeface="Arial"/>
                <a:cs typeface="Arial"/>
                <a:hlinkClick r:id="rId4" action="ppaction://hlinksldjump"/>
              </a:rPr>
              <a:t>clocks</a:t>
            </a:r>
            <a:endParaRPr sz="500">
              <a:latin typeface="Arial"/>
              <a:cs typeface="Arial"/>
            </a:endParaRPr>
          </a:p>
        </p:txBody>
      </p:sp>
    </p:spTree>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8417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Coordination</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136644" y="-1515"/>
            <a:ext cx="41846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Logical</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clocks</a:t>
            </a:r>
            <a:endParaRPr sz="500">
              <a:latin typeface="Arial"/>
              <a:cs typeface="Arial"/>
            </a:endParaRPr>
          </a:p>
        </p:txBody>
      </p:sp>
      <p:sp>
        <p:nvSpPr>
          <p:cNvPr id="5" name="object 5"/>
          <p:cNvSpPr txBox="1"/>
          <p:nvPr/>
        </p:nvSpPr>
        <p:spPr>
          <a:xfrm>
            <a:off x="95300" y="197711"/>
            <a:ext cx="2093595" cy="49466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Causally</a:t>
            </a:r>
            <a:r>
              <a:rPr sz="1200" spc="-50" dirty="0">
                <a:solidFill>
                  <a:srgbClr val="3333B2"/>
                </a:solidFill>
                <a:latin typeface="Arial"/>
                <a:cs typeface="Arial"/>
              </a:rPr>
              <a:t> </a:t>
            </a:r>
            <a:r>
              <a:rPr sz="1200" dirty="0">
                <a:solidFill>
                  <a:srgbClr val="3333B2"/>
                </a:solidFill>
                <a:latin typeface="Arial"/>
                <a:cs typeface="Arial"/>
              </a:rPr>
              <a:t>ordered</a:t>
            </a:r>
            <a:r>
              <a:rPr sz="1200" spc="-50" dirty="0">
                <a:solidFill>
                  <a:srgbClr val="3333B2"/>
                </a:solidFill>
                <a:latin typeface="Arial"/>
                <a:cs typeface="Arial"/>
              </a:rPr>
              <a:t> </a:t>
            </a:r>
            <a:r>
              <a:rPr sz="1200" spc="-10" dirty="0">
                <a:solidFill>
                  <a:srgbClr val="3333B2"/>
                </a:solidFill>
                <a:latin typeface="Arial"/>
                <a:cs typeface="Arial"/>
              </a:rPr>
              <a:t>multicasting</a:t>
            </a:r>
            <a:endParaRPr sz="1200">
              <a:latin typeface="Arial"/>
              <a:cs typeface="Arial"/>
            </a:endParaRPr>
          </a:p>
          <a:p>
            <a:pPr marL="264160">
              <a:lnSpc>
                <a:spcPct val="100000"/>
              </a:lnSpc>
              <a:spcBef>
                <a:spcPts val="1055"/>
              </a:spcBef>
            </a:pPr>
            <a:r>
              <a:rPr sz="1000" spc="-10" dirty="0">
                <a:solidFill>
                  <a:srgbClr val="3333B2"/>
                </a:solidFill>
                <a:latin typeface="Arial"/>
                <a:cs typeface="Arial"/>
              </a:rPr>
              <a:t>Enforcing</a:t>
            </a:r>
            <a:r>
              <a:rPr sz="1000" spc="-15" dirty="0">
                <a:solidFill>
                  <a:srgbClr val="3333B2"/>
                </a:solidFill>
                <a:latin typeface="Arial"/>
                <a:cs typeface="Arial"/>
              </a:rPr>
              <a:t> </a:t>
            </a:r>
            <a:r>
              <a:rPr sz="1000" dirty="0">
                <a:solidFill>
                  <a:srgbClr val="3333B2"/>
                </a:solidFill>
                <a:latin typeface="Arial"/>
                <a:cs typeface="Arial"/>
              </a:rPr>
              <a:t>causal</a:t>
            </a:r>
            <a:r>
              <a:rPr sz="1000" spc="-10" dirty="0">
                <a:solidFill>
                  <a:srgbClr val="3333B2"/>
                </a:solidFill>
                <a:latin typeface="Arial"/>
                <a:cs typeface="Arial"/>
              </a:rPr>
              <a:t> communication</a:t>
            </a:r>
            <a:endParaRPr sz="1000">
              <a:latin typeface="Arial"/>
              <a:cs typeface="Arial"/>
            </a:endParaRPr>
          </a:p>
        </p:txBody>
      </p:sp>
      <p:pic>
        <p:nvPicPr>
          <p:cNvPr id="6" name="object 6"/>
          <p:cNvPicPr/>
          <p:nvPr/>
        </p:nvPicPr>
        <p:blipFill>
          <a:blip r:embed="rId4" cstate="print"/>
          <a:stretch>
            <a:fillRect/>
          </a:stretch>
        </p:blipFill>
        <p:spPr>
          <a:xfrm>
            <a:off x="1151702" y="886150"/>
            <a:ext cx="2343896" cy="1280936"/>
          </a:xfrm>
          <a:prstGeom prst="rect">
            <a:avLst/>
          </a:prstGeom>
        </p:spPr>
      </p:pic>
      <p:grpSp>
        <p:nvGrpSpPr>
          <p:cNvPr id="7" name="object 7"/>
          <p:cNvGrpSpPr/>
          <p:nvPr/>
        </p:nvGrpSpPr>
        <p:grpSpPr>
          <a:xfrm>
            <a:off x="0" y="3348469"/>
            <a:ext cx="4608195" cy="107950"/>
            <a:chOff x="0" y="3348469"/>
            <a:chExt cx="4608195" cy="107950"/>
          </a:xfrm>
        </p:grpSpPr>
        <p:sp>
          <p:nvSpPr>
            <p:cNvPr id="8" name="object 8"/>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9" name="object 9"/>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0" name="object 10"/>
          <p:cNvSpPr txBox="1"/>
          <p:nvPr/>
        </p:nvSpPr>
        <p:spPr>
          <a:xfrm>
            <a:off x="53467" y="3349927"/>
            <a:ext cx="395605"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5" action="ppaction://hlinksldjump"/>
              </a:rPr>
              <a:t>Vector</a:t>
            </a:r>
            <a:r>
              <a:rPr sz="500" dirty="0">
                <a:latin typeface="Arial"/>
                <a:cs typeface="Arial"/>
                <a:hlinkClick r:id="rId5" action="ppaction://hlinksldjump"/>
              </a:rPr>
              <a:t> </a:t>
            </a:r>
            <a:r>
              <a:rPr sz="500" spc="-10" dirty="0">
                <a:latin typeface="Arial"/>
                <a:cs typeface="Arial"/>
                <a:hlinkClick r:id="rId5" action="ppaction://hlinksldjump"/>
              </a:rPr>
              <a:t>clocks</a:t>
            </a:r>
            <a:endParaRPr sz="500">
              <a:latin typeface="Arial"/>
              <a:cs typeface="Arial"/>
            </a:endParaRPr>
          </a:p>
        </p:txBody>
      </p:sp>
    </p:spTree>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8417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3" action="ppaction://hlinksldjump"/>
              </a:rPr>
              <a:t>Coordination</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136644" y="-1515"/>
            <a:ext cx="41846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4" action="ppaction://hlinksldjump"/>
              </a:rPr>
              <a:t>Logical</a:t>
            </a:r>
            <a:r>
              <a:rPr sz="500" spc="-25" dirty="0">
                <a:solidFill>
                  <a:srgbClr val="FFFFFF"/>
                </a:solidFill>
                <a:latin typeface="Arial"/>
                <a:cs typeface="Arial"/>
                <a:hlinkClick r:id="rId4" action="ppaction://hlinksldjump"/>
              </a:rPr>
              <a:t> </a:t>
            </a:r>
            <a:r>
              <a:rPr sz="500" spc="-10" dirty="0">
                <a:solidFill>
                  <a:srgbClr val="FFFFFF"/>
                </a:solidFill>
                <a:latin typeface="Arial"/>
                <a:cs typeface="Arial"/>
                <a:hlinkClick r:id="rId4" action="ppaction://hlinksldjump"/>
              </a:rPr>
              <a:t>clocks</a:t>
            </a:r>
            <a:endParaRPr sz="500">
              <a:latin typeface="Arial"/>
              <a:cs typeface="Arial"/>
            </a:endParaRPr>
          </a:p>
        </p:txBody>
      </p:sp>
      <p:sp>
        <p:nvSpPr>
          <p:cNvPr id="5" name="object 5"/>
          <p:cNvSpPr txBox="1"/>
          <p:nvPr/>
        </p:nvSpPr>
        <p:spPr>
          <a:xfrm>
            <a:off x="95300" y="197711"/>
            <a:ext cx="2093595" cy="49466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Causally</a:t>
            </a:r>
            <a:r>
              <a:rPr sz="1200" spc="-50" dirty="0">
                <a:solidFill>
                  <a:srgbClr val="3333B2"/>
                </a:solidFill>
                <a:latin typeface="Arial"/>
                <a:cs typeface="Arial"/>
              </a:rPr>
              <a:t> </a:t>
            </a:r>
            <a:r>
              <a:rPr sz="1200" dirty="0">
                <a:solidFill>
                  <a:srgbClr val="3333B2"/>
                </a:solidFill>
                <a:latin typeface="Arial"/>
                <a:cs typeface="Arial"/>
              </a:rPr>
              <a:t>ordered</a:t>
            </a:r>
            <a:r>
              <a:rPr sz="1200" spc="-50" dirty="0">
                <a:solidFill>
                  <a:srgbClr val="3333B2"/>
                </a:solidFill>
                <a:latin typeface="Arial"/>
                <a:cs typeface="Arial"/>
              </a:rPr>
              <a:t> </a:t>
            </a:r>
            <a:r>
              <a:rPr sz="1200" spc="-10" dirty="0">
                <a:solidFill>
                  <a:srgbClr val="3333B2"/>
                </a:solidFill>
                <a:latin typeface="Arial"/>
                <a:cs typeface="Arial"/>
              </a:rPr>
              <a:t>multicasting</a:t>
            </a:r>
            <a:endParaRPr sz="1200">
              <a:latin typeface="Arial"/>
              <a:cs typeface="Arial"/>
            </a:endParaRPr>
          </a:p>
          <a:p>
            <a:pPr marL="264160">
              <a:lnSpc>
                <a:spcPct val="100000"/>
              </a:lnSpc>
              <a:spcBef>
                <a:spcPts val="1055"/>
              </a:spcBef>
            </a:pPr>
            <a:r>
              <a:rPr sz="1000" spc="-10" dirty="0">
                <a:solidFill>
                  <a:srgbClr val="3333B2"/>
                </a:solidFill>
                <a:latin typeface="Arial"/>
                <a:cs typeface="Arial"/>
              </a:rPr>
              <a:t>Enforcing</a:t>
            </a:r>
            <a:r>
              <a:rPr sz="1000" spc="-15" dirty="0">
                <a:solidFill>
                  <a:srgbClr val="3333B2"/>
                </a:solidFill>
                <a:latin typeface="Arial"/>
                <a:cs typeface="Arial"/>
              </a:rPr>
              <a:t> </a:t>
            </a:r>
            <a:r>
              <a:rPr sz="1000" dirty="0">
                <a:solidFill>
                  <a:srgbClr val="3333B2"/>
                </a:solidFill>
                <a:latin typeface="Arial"/>
                <a:cs typeface="Arial"/>
              </a:rPr>
              <a:t>causal</a:t>
            </a:r>
            <a:r>
              <a:rPr sz="1000" spc="-10" dirty="0">
                <a:solidFill>
                  <a:srgbClr val="3333B2"/>
                </a:solidFill>
                <a:latin typeface="Arial"/>
                <a:cs typeface="Arial"/>
              </a:rPr>
              <a:t> communication</a:t>
            </a:r>
            <a:endParaRPr sz="1000">
              <a:latin typeface="Arial"/>
              <a:cs typeface="Arial"/>
            </a:endParaRPr>
          </a:p>
        </p:txBody>
      </p:sp>
      <p:pic>
        <p:nvPicPr>
          <p:cNvPr id="6" name="object 6"/>
          <p:cNvPicPr/>
          <p:nvPr/>
        </p:nvPicPr>
        <p:blipFill>
          <a:blip r:embed="rId5" cstate="print"/>
          <a:stretch>
            <a:fillRect/>
          </a:stretch>
        </p:blipFill>
        <p:spPr>
          <a:xfrm>
            <a:off x="1151702" y="886150"/>
            <a:ext cx="2343896" cy="1280936"/>
          </a:xfrm>
          <a:prstGeom prst="rect">
            <a:avLst/>
          </a:prstGeom>
        </p:spPr>
      </p:pic>
      <p:sp>
        <p:nvSpPr>
          <p:cNvPr id="7" name="object 7"/>
          <p:cNvSpPr txBox="1"/>
          <p:nvPr/>
        </p:nvSpPr>
        <p:spPr>
          <a:xfrm>
            <a:off x="318363" y="2295556"/>
            <a:ext cx="3967479" cy="547370"/>
          </a:xfrm>
          <a:prstGeom prst="rect">
            <a:avLst/>
          </a:prstGeom>
        </p:spPr>
        <p:txBody>
          <a:bodyPr vert="horz" wrap="square" lIns="0" tIns="54610" rIns="0" bIns="0" rtlCol="0">
            <a:spAutoFit/>
          </a:bodyPr>
          <a:lstStyle/>
          <a:p>
            <a:pPr marL="41275">
              <a:lnSpc>
                <a:spcPct val="100000"/>
              </a:lnSpc>
              <a:spcBef>
                <a:spcPts val="430"/>
              </a:spcBef>
            </a:pPr>
            <a:r>
              <a:rPr sz="1000" spc="-10" dirty="0">
                <a:solidFill>
                  <a:srgbClr val="4C994C"/>
                </a:solidFill>
                <a:latin typeface="Arial"/>
                <a:cs typeface="Arial"/>
              </a:rPr>
              <a:t>Example</a:t>
            </a:r>
            <a:endParaRPr sz="1000">
              <a:latin typeface="Arial"/>
              <a:cs typeface="Arial"/>
            </a:endParaRPr>
          </a:p>
          <a:p>
            <a:pPr marL="41275" marR="30480" indent="-3810">
              <a:lnSpc>
                <a:spcPct val="111600"/>
              </a:lnSpc>
              <a:spcBef>
                <a:spcPts val="170"/>
              </a:spcBef>
            </a:pPr>
            <a:r>
              <a:rPr sz="900" spc="-40" dirty="0">
                <a:latin typeface="Arial"/>
                <a:cs typeface="Arial"/>
              </a:rPr>
              <a:t>Take</a:t>
            </a:r>
            <a:r>
              <a:rPr sz="900" spc="10" dirty="0">
                <a:latin typeface="Arial"/>
                <a:cs typeface="Arial"/>
              </a:rPr>
              <a:t> </a:t>
            </a:r>
            <a:r>
              <a:rPr sz="900" i="1" dirty="0">
                <a:latin typeface="Arial"/>
                <a:cs typeface="Arial"/>
              </a:rPr>
              <a:t>VC</a:t>
            </a:r>
            <a:r>
              <a:rPr sz="1050" i="1" baseline="-15873" dirty="0">
                <a:latin typeface="Arial"/>
                <a:cs typeface="Arial"/>
              </a:rPr>
              <a:t>3</a:t>
            </a:r>
            <a:r>
              <a:rPr sz="1050" i="1" spc="165" baseline="-15873" dirty="0">
                <a:latin typeface="Arial"/>
                <a:cs typeface="Arial"/>
              </a:rPr>
              <a:t> </a:t>
            </a:r>
            <a:r>
              <a:rPr sz="900" spc="185" dirty="0">
                <a:latin typeface="Arial"/>
                <a:cs typeface="Arial"/>
              </a:rPr>
              <a:t>=</a:t>
            </a:r>
            <a:r>
              <a:rPr sz="900" spc="-45" dirty="0">
                <a:latin typeface="Arial"/>
                <a:cs typeface="Arial"/>
              </a:rPr>
              <a:t> </a:t>
            </a:r>
            <a:r>
              <a:rPr sz="900" dirty="0">
                <a:latin typeface="Arial"/>
                <a:cs typeface="Arial"/>
              </a:rPr>
              <a:t>[0</a:t>
            </a:r>
            <a:r>
              <a:rPr sz="900" i="1" dirty="0">
                <a:latin typeface="STIX Two Text"/>
                <a:cs typeface="STIX Two Text"/>
              </a:rPr>
              <a:t>,</a:t>
            </a:r>
            <a:r>
              <a:rPr sz="900" i="1" spc="-95" dirty="0">
                <a:latin typeface="STIX Two Text"/>
                <a:cs typeface="STIX Two Text"/>
              </a:rPr>
              <a:t> </a:t>
            </a:r>
            <a:r>
              <a:rPr sz="900" dirty="0">
                <a:latin typeface="Arial"/>
                <a:cs typeface="Arial"/>
              </a:rPr>
              <a:t>2</a:t>
            </a:r>
            <a:r>
              <a:rPr sz="900" i="1" dirty="0">
                <a:latin typeface="STIX Two Text"/>
                <a:cs typeface="STIX Two Text"/>
              </a:rPr>
              <a:t>,</a:t>
            </a:r>
            <a:r>
              <a:rPr sz="900" i="1" spc="-100" dirty="0">
                <a:latin typeface="STIX Two Text"/>
                <a:cs typeface="STIX Two Text"/>
              </a:rPr>
              <a:t> </a:t>
            </a:r>
            <a:r>
              <a:rPr sz="900" dirty="0">
                <a:latin typeface="Arial"/>
                <a:cs typeface="Arial"/>
              </a:rPr>
              <a:t>2]</a:t>
            </a:r>
            <a:r>
              <a:rPr sz="900" i="1" dirty="0">
                <a:latin typeface="STIX Two Text"/>
                <a:cs typeface="STIX Two Text"/>
              </a:rPr>
              <a:t>,</a:t>
            </a:r>
            <a:r>
              <a:rPr sz="900" i="1" spc="-100" dirty="0">
                <a:latin typeface="STIX Two Text"/>
                <a:cs typeface="STIX Two Text"/>
              </a:rPr>
              <a:t> </a:t>
            </a:r>
            <a:r>
              <a:rPr sz="900" i="1" dirty="0">
                <a:latin typeface="Arial"/>
                <a:cs typeface="Arial"/>
              </a:rPr>
              <a:t>ts</a:t>
            </a:r>
            <a:r>
              <a:rPr sz="900" dirty="0">
                <a:latin typeface="Arial"/>
                <a:cs typeface="Arial"/>
              </a:rPr>
              <a:t>(</a:t>
            </a:r>
            <a:r>
              <a:rPr sz="900" i="1" dirty="0">
                <a:latin typeface="Arial"/>
                <a:cs typeface="Arial"/>
              </a:rPr>
              <a:t>m</a:t>
            </a:r>
            <a:r>
              <a:rPr sz="900" dirty="0">
                <a:latin typeface="Arial"/>
                <a:cs typeface="Arial"/>
              </a:rPr>
              <a:t>)</a:t>
            </a:r>
            <a:r>
              <a:rPr sz="900" spc="-40" dirty="0">
                <a:latin typeface="Arial"/>
                <a:cs typeface="Arial"/>
              </a:rPr>
              <a:t> </a:t>
            </a:r>
            <a:r>
              <a:rPr sz="900" spc="185" dirty="0">
                <a:latin typeface="Arial"/>
                <a:cs typeface="Arial"/>
              </a:rPr>
              <a:t>=</a:t>
            </a:r>
            <a:r>
              <a:rPr sz="900" spc="-45" dirty="0">
                <a:latin typeface="Arial"/>
                <a:cs typeface="Arial"/>
              </a:rPr>
              <a:t> </a:t>
            </a:r>
            <a:r>
              <a:rPr sz="900" dirty="0">
                <a:latin typeface="Arial"/>
                <a:cs typeface="Arial"/>
              </a:rPr>
              <a:t>[1</a:t>
            </a:r>
            <a:r>
              <a:rPr sz="900" i="1" dirty="0">
                <a:latin typeface="STIX Two Text"/>
                <a:cs typeface="STIX Two Text"/>
              </a:rPr>
              <a:t>,</a:t>
            </a:r>
            <a:r>
              <a:rPr sz="900" i="1" spc="-95" dirty="0">
                <a:latin typeface="STIX Two Text"/>
                <a:cs typeface="STIX Two Text"/>
              </a:rPr>
              <a:t> </a:t>
            </a:r>
            <a:r>
              <a:rPr sz="900" dirty="0">
                <a:latin typeface="Arial"/>
                <a:cs typeface="Arial"/>
              </a:rPr>
              <a:t>3</a:t>
            </a:r>
            <a:r>
              <a:rPr sz="900" i="1" dirty="0">
                <a:latin typeface="STIX Two Text"/>
                <a:cs typeface="STIX Two Text"/>
              </a:rPr>
              <a:t>,</a:t>
            </a:r>
            <a:r>
              <a:rPr sz="900" i="1" spc="-100" dirty="0">
                <a:latin typeface="STIX Two Text"/>
                <a:cs typeface="STIX Two Text"/>
              </a:rPr>
              <a:t> </a:t>
            </a:r>
            <a:r>
              <a:rPr sz="900" dirty="0">
                <a:latin typeface="Arial"/>
                <a:cs typeface="Arial"/>
              </a:rPr>
              <a:t>0]</a:t>
            </a:r>
            <a:r>
              <a:rPr sz="900" spc="10" dirty="0">
                <a:latin typeface="Arial"/>
                <a:cs typeface="Arial"/>
              </a:rPr>
              <a:t> </a:t>
            </a:r>
            <a:r>
              <a:rPr sz="900" dirty="0">
                <a:latin typeface="Arial"/>
                <a:cs typeface="Arial"/>
              </a:rPr>
              <a:t>from</a:t>
            </a:r>
            <a:r>
              <a:rPr sz="900" spc="15" dirty="0">
                <a:latin typeface="Arial"/>
                <a:cs typeface="Arial"/>
              </a:rPr>
              <a:t> </a:t>
            </a:r>
            <a:r>
              <a:rPr sz="900" i="1" dirty="0">
                <a:latin typeface="Arial"/>
                <a:cs typeface="Arial"/>
              </a:rPr>
              <a:t>P</a:t>
            </a:r>
            <a:r>
              <a:rPr sz="1050" i="1" baseline="-15873" dirty="0">
                <a:latin typeface="Arial"/>
                <a:cs typeface="Arial"/>
              </a:rPr>
              <a:t>1</a:t>
            </a:r>
            <a:r>
              <a:rPr sz="900" dirty="0">
                <a:latin typeface="Arial"/>
                <a:cs typeface="Arial"/>
              </a:rPr>
              <a:t>.</a:t>
            </a:r>
            <a:r>
              <a:rPr sz="900" spc="75" dirty="0">
                <a:latin typeface="Arial"/>
                <a:cs typeface="Arial"/>
              </a:rPr>
              <a:t> </a:t>
            </a:r>
            <a:r>
              <a:rPr sz="900" dirty="0">
                <a:latin typeface="Arial"/>
                <a:cs typeface="Arial"/>
              </a:rPr>
              <a:t>What</a:t>
            </a:r>
            <a:r>
              <a:rPr sz="900" spc="10" dirty="0">
                <a:latin typeface="Arial"/>
                <a:cs typeface="Arial"/>
              </a:rPr>
              <a:t> </a:t>
            </a:r>
            <a:r>
              <a:rPr sz="900" dirty="0">
                <a:latin typeface="Arial"/>
                <a:cs typeface="Arial"/>
              </a:rPr>
              <a:t>information</a:t>
            </a:r>
            <a:r>
              <a:rPr sz="900" spc="10" dirty="0">
                <a:latin typeface="Arial"/>
                <a:cs typeface="Arial"/>
              </a:rPr>
              <a:t> </a:t>
            </a:r>
            <a:r>
              <a:rPr sz="900" dirty="0">
                <a:latin typeface="Arial"/>
                <a:cs typeface="Arial"/>
              </a:rPr>
              <a:t>does</a:t>
            </a:r>
            <a:r>
              <a:rPr sz="900" spc="15" dirty="0">
                <a:latin typeface="Arial"/>
                <a:cs typeface="Arial"/>
              </a:rPr>
              <a:t> </a:t>
            </a:r>
            <a:r>
              <a:rPr sz="900" i="1" dirty="0">
                <a:latin typeface="Arial"/>
                <a:cs typeface="Arial"/>
              </a:rPr>
              <a:t>P</a:t>
            </a:r>
            <a:r>
              <a:rPr sz="1050" i="1" baseline="-15873" dirty="0">
                <a:latin typeface="Arial"/>
                <a:cs typeface="Arial"/>
              </a:rPr>
              <a:t>3</a:t>
            </a:r>
            <a:r>
              <a:rPr sz="1050" i="1" spc="232" baseline="-15873" dirty="0">
                <a:latin typeface="Arial"/>
                <a:cs typeface="Arial"/>
              </a:rPr>
              <a:t> </a:t>
            </a:r>
            <a:r>
              <a:rPr sz="900" spc="-10" dirty="0">
                <a:latin typeface="Arial"/>
                <a:cs typeface="Arial"/>
              </a:rPr>
              <a:t>have, </a:t>
            </a:r>
            <a:r>
              <a:rPr sz="900" dirty="0">
                <a:latin typeface="Arial"/>
                <a:cs typeface="Arial"/>
              </a:rPr>
              <a:t>and</a:t>
            </a:r>
            <a:r>
              <a:rPr sz="900" spc="-25" dirty="0">
                <a:latin typeface="Arial"/>
                <a:cs typeface="Arial"/>
              </a:rPr>
              <a:t> </a:t>
            </a:r>
            <a:r>
              <a:rPr sz="900" dirty="0">
                <a:latin typeface="Arial"/>
                <a:cs typeface="Arial"/>
              </a:rPr>
              <a:t>what</a:t>
            </a:r>
            <a:r>
              <a:rPr sz="900" spc="-20" dirty="0">
                <a:latin typeface="Arial"/>
                <a:cs typeface="Arial"/>
              </a:rPr>
              <a:t> </a:t>
            </a:r>
            <a:r>
              <a:rPr sz="900" dirty="0">
                <a:latin typeface="Arial"/>
                <a:cs typeface="Arial"/>
              </a:rPr>
              <a:t>will</a:t>
            </a:r>
            <a:r>
              <a:rPr sz="900" spc="-20" dirty="0">
                <a:latin typeface="Arial"/>
                <a:cs typeface="Arial"/>
              </a:rPr>
              <a:t> </a:t>
            </a:r>
            <a:r>
              <a:rPr sz="900" dirty="0">
                <a:latin typeface="Arial"/>
                <a:cs typeface="Arial"/>
              </a:rPr>
              <a:t>it</a:t>
            </a:r>
            <a:r>
              <a:rPr sz="900" spc="-20" dirty="0">
                <a:latin typeface="Arial"/>
                <a:cs typeface="Arial"/>
              </a:rPr>
              <a:t> </a:t>
            </a:r>
            <a:r>
              <a:rPr sz="900" dirty="0">
                <a:latin typeface="Arial"/>
                <a:cs typeface="Arial"/>
              </a:rPr>
              <a:t>do</a:t>
            </a:r>
            <a:r>
              <a:rPr sz="900" spc="-25" dirty="0">
                <a:latin typeface="Arial"/>
                <a:cs typeface="Arial"/>
              </a:rPr>
              <a:t> </a:t>
            </a:r>
            <a:r>
              <a:rPr sz="900" dirty="0">
                <a:latin typeface="Arial"/>
                <a:cs typeface="Arial"/>
              </a:rPr>
              <a:t>when</a:t>
            </a:r>
            <a:r>
              <a:rPr sz="900" spc="-20" dirty="0">
                <a:latin typeface="Arial"/>
                <a:cs typeface="Arial"/>
              </a:rPr>
              <a:t> </a:t>
            </a:r>
            <a:r>
              <a:rPr sz="900" dirty="0">
                <a:latin typeface="Arial"/>
                <a:cs typeface="Arial"/>
              </a:rPr>
              <a:t>receiving</a:t>
            </a:r>
            <a:r>
              <a:rPr sz="900" spc="-20" dirty="0">
                <a:latin typeface="Arial"/>
                <a:cs typeface="Arial"/>
              </a:rPr>
              <a:t> </a:t>
            </a:r>
            <a:r>
              <a:rPr sz="900" i="1" dirty="0">
                <a:latin typeface="Arial"/>
                <a:cs typeface="Arial"/>
              </a:rPr>
              <a:t>m</a:t>
            </a:r>
            <a:r>
              <a:rPr sz="900" i="1" spc="-5" dirty="0">
                <a:latin typeface="Arial"/>
                <a:cs typeface="Arial"/>
              </a:rPr>
              <a:t> </a:t>
            </a:r>
            <a:r>
              <a:rPr sz="900" dirty="0">
                <a:latin typeface="Arial"/>
                <a:cs typeface="Arial"/>
              </a:rPr>
              <a:t>(from</a:t>
            </a:r>
            <a:r>
              <a:rPr sz="900" spc="-20" dirty="0">
                <a:latin typeface="Arial"/>
                <a:cs typeface="Arial"/>
              </a:rPr>
              <a:t> </a:t>
            </a:r>
            <a:r>
              <a:rPr sz="900" i="1" spc="-20" dirty="0">
                <a:latin typeface="Arial"/>
                <a:cs typeface="Arial"/>
              </a:rPr>
              <a:t>P</a:t>
            </a:r>
            <a:r>
              <a:rPr sz="1050" i="1" spc="-30" baseline="-15873" dirty="0">
                <a:latin typeface="Arial"/>
                <a:cs typeface="Arial"/>
              </a:rPr>
              <a:t>1</a:t>
            </a:r>
            <a:r>
              <a:rPr sz="900" spc="-20" dirty="0">
                <a:latin typeface="Arial"/>
                <a:cs typeface="Arial"/>
              </a:rPr>
              <a:t>)?</a:t>
            </a:r>
            <a:endParaRPr sz="900">
              <a:latin typeface="Arial"/>
              <a:cs typeface="Arial"/>
            </a:endParaRPr>
          </a:p>
        </p:txBody>
      </p:sp>
      <p:grpSp>
        <p:nvGrpSpPr>
          <p:cNvPr id="8" name="object 8"/>
          <p:cNvGrpSpPr/>
          <p:nvPr/>
        </p:nvGrpSpPr>
        <p:grpSpPr>
          <a:xfrm>
            <a:off x="0" y="3348469"/>
            <a:ext cx="4608195" cy="107950"/>
            <a:chOff x="0" y="3348469"/>
            <a:chExt cx="4608195" cy="107950"/>
          </a:xfrm>
        </p:grpSpPr>
        <p:sp>
          <p:nvSpPr>
            <p:cNvPr id="9" name="object 9"/>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0" name="object 10"/>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1" name="object 11"/>
          <p:cNvSpPr txBox="1"/>
          <p:nvPr/>
        </p:nvSpPr>
        <p:spPr>
          <a:xfrm>
            <a:off x="53467" y="3349927"/>
            <a:ext cx="395605"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6" action="ppaction://hlinksldjump"/>
              </a:rPr>
              <a:t>Vector</a:t>
            </a:r>
            <a:r>
              <a:rPr sz="500" dirty="0">
                <a:latin typeface="Arial"/>
                <a:cs typeface="Arial"/>
                <a:hlinkClick r:id="rId6" action="ppaction://hlinksldjump"/>
              </a:rPr>
              <a:t> </a:t>
            </a:r>
            <a:r>
              <a:rPr sz="500" spc="-10" dirty="0">
                <a:latin typeface="Arial"/>
                <a:cs typeface="Arial"/>
                <a:hlinkClick r:id="rId6" action="ppaction://hlinksldjump"/>
              </a:rPr>
              <a:t>clocks</a:t>
            </a:r>
            <a:endParaRPr sz="500">
              <a:latin typeface="Arial"/>
              <a:cs typeface="Arial"/>
            </a:endParaRPr>
          </a:p>
        </p:txBody>
      </p:sp>
    </p:spTree>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4018915" algn="l"/>
              </a:tabLst>
            </a:pPr>
            <a:r>
              <a:rPr sz="500" spc="-10" dirty="0">
                <a:latin typeface="Arial"/>
                <a:cs typeface="Arial"/>
                <a:hlinkClick r:id="rId3" action="ppaction://hlinksldjump"/>
              </a:rPr>
              <a:t>Coordination</a:t>
            </a:r>
            <a:r>
              <a:rPr sz="500" dirty="0">
                <a:latin typeface="Arial"/>
                <a:cs typeface="Arial"/>
              </a:rPr>
              <a:t>	</a:t>
            </a:r>
            <a:r>
              <a:rPr sz="500" dirty="0">
                <a:solidFill>
                  <a:srgbClr val="FFFFFF"/>
                </a:solidFill>
                <a:latin typeface="Arial"/>
                <a:cs typeface="Arial"/>
                <a:hlinkClick r:id="rId4" action="ppaction://hlinksldjump"/>
              </a:rPr>
              <a:t>Mutual</a:t>
            </a:r>
            <a:r>
              <a:rPr sz="500" spc="-30" dirty="0">
                <a:solidFill>
                  <a:srgbClr val="FFFFFF"/>
                </a:solidFill>
                <a:latin typeface="Arial"/>
                <a:cs typeface="Arial"/>
                <a:hlinkClick r:id="rId4" action="ppaction://hlinksldjump"/>
              </a:rPr>
              <a:t> </a:t>
            </a:r>
            <a:r>
              <a:rPr sz="500" spc="-10" dirty="0">
                <a:solidFill>
                  <a:srgbClr val="FFFFFF"/>
                </a:solidFill>
                <a:latin typeface="Arial"/>
                <a:cs typeface="Arial"/>
                <a:hlinkClick r:id="rId4" action="ppaction://hlinksldjump"/>
              </a:rPr>
              <a:t>exclusion</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Mutual</a:t>
            </a:r>
            <a:r>
              <a:rPr spc="-45" dirty="0"/>
              <a:t> </a:t>
            </a:r>
            <a:r>
              <a:rPr spc="-10" dirty="0"/>
              <a:t>exclusion</a:t>
            </a:r>
          </a:p>
        </p:txBody>
      </p:sp>
      <p:sp>
        <p:nvSpPr>
          <p:cNvPr id="4" name="object 4"/>
          <p:cNvSpPr txBox="1"/>
          <p:nvPr/>
        </p:nvSpPr>
        <p:spPr>
          <a:xfrm>
            <a:off x="347294" y="499476"/>
            <a:ext cx="3913504" cy="1616075"/>
          </a:xfrm>
          <a:prstGeom prst="rect">
            <a:avLst/>
          </a:prstGeom>
        </p:spPr>
        <p:txBody>
          <a:bodyPr vert="horz" wrap="square" lIns="0" tIns="27305" rIns="0" bIns="0" rtlCol="0">
            <a:spAutoFit/>
          </a:bodyPr>
          <a:lstStyle/>
          <a:p>
            <a:pPr marL="12700">
              <a:lnSpc>
                <a:spcPct val="100000"/>
              </a:lnSpc>
              <a:spcBef>
                <a:spcPts val="215"/>
              </a:spcBef>
            </a:pPr>
            <a:r>
              <a:rPr sz="1000" spc="-10" dirty="0">
                <a:solidFill>
                  <a:srgbClr val="C80000"/>
                </a:solidFill>
                <a:latin typeface="Arial"/>
                <a:cs typeface="Arial"/>
              </a:rPr>
              <a:t>Problem</a:t>
            </a:r>
            <a:endParaRPr sz="1000" dirty="0">
              <a:latin typeface="Arial"/>
              <a:cs typeface="Arial"/>
            </a:endParaRPr>
          </a:p>
          <a:p>
            <a:pPr marL="12700" marR="212725">
              <a:lnSpc>
                <a:spcPts val="1210"/>
              </a:lnSpc>
              <a:spcBef>
                <a:spcPts val="35"/>
              </a:spcBef>
            </a:pPr>
            <a:r>
              <a:rPr sz="900" spc="-10" dirty="0">
                <a:latin typeface="Arial"/>
                <a:cs typeface="Arial"/>
              </a:rPr>
              <a:t>Several</a:t>
            </a:r>
            <a:r>
              <a:rPr sz="900" spc="-30" dirty="0">
                <a:latin typeface="Arial"/>
                <a:cs typeface="Arial"/>
              </a:rPr>
              <a:t> </a:t>
            </a:r>
            <a:r>
              <a:rPr sz="900" dirty="0">
                <a:latin typeface="Arial"/>
                <a:cs typeface="Arial"/>
              </a:rPr>
              <a:t>processes</a:t>
            </a:r>
            <a:r>
              <a:rPr sz="900" spc="-30" dirty="0">
                <a:latin typeface="Arial"/>
                <a:cs typeface="Arial"/>
              </a:rPr>
              <a:t> </a:t>
            </a:r>
            <a:r>
              <a:rPr sz="900" dirty="0">
                <a:latin typeface="Arial"/>
                <a:cs typeface="Arial"/>
              </a:rPr>
              <a:t>in</a:t>
            </a:r>
            <a:r>
              <a:rPr sz="900" spc="-25" dirty="0">
                <a:latin typeface="Arial"/>
                <a:cs typeface="Arial"/>
              </a:rPr>
              <a:t> </a:t>
            </a:r>
            <a:r>
              <a:rPr sz="900" dirty="0">
                <a:latin typeface="Arial"/>
                <a:cs typeface="Arial"/>
              </a:rPr>
              <a:t>a</a:t>
            </a:r>
            <a:r>
              <a:rPr sz="900" spc="-30" dirty="0">
                <a:latin typeface="Arial"/>
                <a:cs typeface="Arial"/>
              </a:rPr>
              <a:t> </a:t>
            </a:r>
            <a:r>
              <a:rPr sz="900" dirty="0">
                <a:latin typeface="Arial"/>
                <a:cs typeface="Arial"/>
              </a:rPr>
              <a:t>distributed</a:t>
            </a:r>
            <a:r>
              <a:rPr sz="900" spc="-30" dirty="0">
                <a:latin typeface="Arial"/>
                <a:cs typeface="Arial"/>
              </a:rPr>
              <a:t> </a:t>
            </a:r>
            <a:r>
              <a:rPr sz="900" dirty="0">
                <a:latin typeface="Arial"/>
                <a:cs typeface="Arial"/>
              </a:rPr>
              <a:t>system</a:t>
            </a:r>
            <a:r>
              <a:rPr sz="900" spc="-25" dirty="0">
                <a:latin typeface="Arial"/>
                <a:cs typeface="Arial"/>
              </a:rPr>
              <a:t> </a:t>
            </a:r>
            <a:r>
              <a:rPr sz="900" dirty="0">
                <a:latin typeface="Arial"/>
                <a:cs typeface="Arial"/>
              </a:rPr>
              <a:t>want</a:t>
            </a:r>
            <a:r>
              <a:rPr sz="900" spc="-30" dirty="0">
                <a:latin typeface="Arial"/>
                <a:cs typeface="Arial"/>
              </a:rPr>
              <a:t> </a:t>
            </a:r>
            <a:r>
              <a:rPr sz="900" spc="-10" dirty="0">
                <a:latin typeface="Arial"/>
                <a:cs typeface="Arial"/>
              </a:rPr>
              <a:t>exclusive</a:t>
            </a:r>
            <a:r>
              <a:rPr sz="900" spc="-25" dirty="0">
                <a:latin typeface="Arial"/>
                <a:cs typeface="Arial"/>
              </a:rPr>
              <a:t> </a:t>
            </a:r>
            <a:r>
              <a:rPr sz="900" dirty="0">
                <a:latin typeface="Arial"/>
                <a:cs typeface="Arial"/>
              </a:rPr>
              <a:t>access</a:t>
            </a:r>
            <a:r>
              <a:rPr sz="900" spc="-30" dirty="0">
                <a:latin typeface="Arial"/>
                <a:cs typeface="Arial"/>
              </a:rPr>
              <a:t> </a:t>
            </a:r>
            <a:r>
              <a:rPr sz="900" dirty="0">
                <a:latin typeface="Arial"/>
                <a:cs typeface="Arial"/>
              </a:rPr>
              <a:t>to</a:t>
            </a:r>
            <a:r>
              <a:rPr sz="900" spc="-30" dirty="0">
                <a:latin typeface="Arial"/>
                <a:cs typeface="Arial"/>
              </a:rPr>
              <a:t> </a:t>
            </a:r>
            <a:r>
              <a:rPr sz="900" spc="-20" dirty="0">
                <a:latin typeface="Arial"/>
                <a:cs typeface="Arial"/>
              </a:rPr>
              <a:t>some </a:t>
            </a:r>
            <a:r>
              <a:rPr sz="900" spc="-10" dirty="0">
                <a:latin typeface="Arial"/>
                <a:cs typeface="Arial"/>
              </a:rPr>
              <a:t>resource.</a:t>
            </a:r>
            <a:endParaRPr sz="900" dirty="0">
              <a:latin typeface="Arial"/>
              <a:cs typeface="Arial"/>
            </a:endParaRPr>
          </a:p>
          <a:p>
            <a:pPr marL="12700">
              <a:lnSpc>
                <a:spcPct val="100000"/>
              </a:lnSpc>
              <a:spcBef>
                <a:spcPts val="750"/>
              </a:spcBef>
            </a:pPr>
            <a:r>
              <a:rPr sz="1000" dirty="0">
                <a:solidFill>
                  <a:srgbClr val="3333B2"/>
                </a:solidFill>
                <a:latin typeface="Arial"/>
                <a:cs typeface="Arial"/>
              </a:rPr>
              <a:t>Basic</a:t>
            </a:r>
            <a:r>
              <a:rPr sz="1000" spc="-30" dirty="0">
                <a:solidFill>
                  <a:srgbClr val="3333B2"/>
                </a:solidFill>
                <a:latin typeface="Arial"/>
                <a:cs typeface="Arial"/>
              </a:rPr>
              <a:t> </a:t>
            </a:r>
            <a:r>
              <a:rPr sz="1000" spc="-10" dirty="0">
                <a:solidFill>
                  <a:srgbClr val="3333B2"/>
                </a:solidFill>
                <a:latin typeface="Arial"/>
                <a:cs typeface="Arial"/>
              </a:rPr>
              <a:t>solutions</a:t>
            </a:r>
            <a:endParaRPr sz="1000" dirty="0">
              <a:latin typeface="Arial"/>
              <a:cs typeface="Arial"/>
            </a:endParaRPr>
          </a:p>
          <a:p>
            <a:pPr marL="795655" marR="51435" indent="-783590">
              <a:lnSpc>
                <a:spcPct val="111600"/>
              </a:lnSpc>
              <a:spcBef>
                <a:spcPts val="375"/>
              </a:spcBef>
            </a:pPr>
            <a:r>
              <a:rPr sz="900" spc="-10" dirty="0">
                <a:solidFill>
                  <a:srgbClr val="3333B2"/>
                </a:solidFill>
                <a:latin typeface="Arial"/>
                <a:cs typeface="Arial"/>
              </a:rPr>
              <a:t>Permission-</a:t>
            </a:r>
            <a:r>
              <a:rPr sz="900" dirty="0">
                <a:solidFill>
                  <a:srgbClr val="3333B2"/>
                </a:solidFill>
                <a:latin typeface="Arial"/>
                <a:cs typeface="Arial"/>
              </a:rPr>
              <a:t>based:</a:t>
            </a:r>
            <a:r>
              <a:rPr sz="900" spc="180" dirty="0">
                <a:solidFill>
                  <a:srgbClr val="3333B2"/>
                </a:solidFill>
                <a:latin typeface="Arial"/>
                <a:cs typeface="Arial"/>
              </a:rPr>
              <a:t> </a:t>
            </a:r>
            <a:r>
              <a:rPr sz="900" dirty="0">
                <a:latin typeface="Arial"/>
                <a:cs typeface="Arial"/>
              </a:rPr>
              <a:t>A</a:t>
            </a:r>
            <a:r>
              <a:rPr sz="900" spc="-20" dirty="0">
                <a:latin typeface="Arial"/>
                <a:cs typeface="Arial"/>
              </a:rPr>
              <a:t> </a:t>
            </a:r>
            <a:r>
              <a:rPr sz="900" dirty="0">
                <a:latin typeface="Arial"/>
                <a:cs typeface="Arial"/>
              </a:rPr>
              <a:t>process</a:t>
            </a:r>
            <a:r>
              <a:rPr sz="900" spc="-20" dirty="0">
                <a:latin typeface="Arial"/>
                <a:cs typeface="Arial"/>
              </a:rPr>
              <a:t> </a:t>
            </a:r>
            <a:r>
              <a:rPr sz="900" dirty="0">
                <a:latin typeface="Arial"/>
                <a:cs typeface="Arial"/>
              </a:rPr>
              <a:t>wanting</a:t>
            </a:r>
            <a:r>
              <a:rPr sz="900" spc="-20" dirty="0">
                <a:latin typeface="Arial"/>
                <a:cs typeface="Arial"/>
              </a:rPr>
              <a:t> </a:t>
            </a:r>
            <a:r>
              <a:rPr sz="900" dirty="0">
                <a:latin typeface="Arial"/>
                <a:cs typeface="Arial"/>
              </a:rPr>
              <a:t>to</a:t>
            </a:r>
            <a:r>
              <a:rPr sz="900" spc="-20" dirty="0">
                <a:latin typeface="Arial"/>
                <a:cs typeface="Arial"/>
              </a:rPr>
              <a:t> </a:t>
            </a:r>
            <a:r>
              <a:rPr sz="900" dirty="0">
                <a:latin typeface="Arial"/>
                <a:cs typeface="Arial"/>
              </a:rPr>
              <a:t>enter</a:t>
            </a:r>
            <a:r>
              <a:rPr sz="900" spc="-20" dirty="0">
                <a:latin typeface="Arial"/>
                <a:cs typeface="Arial"/>
              </a:rPr>
              <a:t> </a:t>
            </a:r>
            <a:r>
              <a:rPr sz="900" dirty="0">
                <a:latin typeface="Arial"/>
                <a:cs typeface="Arial"/>
              </a:rPr>
              <a:t>its</a:t>
            </a:r>
            <a:r>
              <a:rPr sz="900" spc="-25" dirty="0">
                <a:latin typeface="Arial"/>
                <a:cs typeface="Arial"/>
              </a:rPr>
              <a:t> </a:t>
            </a:r>
            <a:r>
              <a:rPr sz="900" dirty="0">
                <a:latin typeface="Arial"/>
                <a:cs typeface="Arial"/>
              </a:rPr>
              <a:t>critical</a:t>
            </a:r>
            <a:r>
              <a:rPr sz="900" spc="-20" dirty="0">
                <a:latin typeface="Arial"/>
                <a:cs typeface="Arial"/>
              </a:rPr>
              <a:t> </a:t>
            </a:r>
            <a:r>
              <a:rPr sz="900" dirty="0">
                <a:latin typeface="Arial"/>
                <a:cs typeface="Arial"/>
              </a:rPr>
              <a:t>region,</a:t>
            </a:r>
            <a:r>
              <a:rPr sz="900" spc="-20" dirty="0">
                <a:latin typeface="Arial"/>
                <a:cs typeface="Arial"/>
              </a:rPr>
              <a:t> </a:t>
            </a:r>
            <a:r>
              <a:rPr sz="900" dirty="0">
                <a:latin typeface="Arial"/>
                <a:cs typeface="Arial"/>
              </a:rPr>
              <a:t>or</a:t>
            </a:r>
            <a:r>
              <a:rPr sz="900" spc="-20" dirty="0">
                <a:latin typeface="Arial"/>
                <a:cs typeface="Arial"/>
              </a:rPr>
              <a:t> </a:t>
            </a:r>
            <a:r>
              <a:rPr sz="900" dirty="0">
                <a:latin typeface="Arial"/>
                <a:cs typeface="Arial"/>
              </a:rPr>
              <a:t>access</a:t>
            </a:r>
            <a:r>
              <a:rPr sz="900" spc="-20" dirty="0">
                <a:latin typeface="Arial"/>
                <a:cs typeface="Arial"/>
              </a:rPr>
              <a:t> </a:t>
            </a:r>
            <a:r>
              <a:rPr sz="900" spc="-50" dirty="0">
                <a:latin typeface="Arial"/>
                <a:cs typeface="Arial"/>
              </a:rPr>
              <a:t>a</a:t>
            </a:r>
            <a:r>
              <a:rPr sz="900" dirty="0">
                <a:latin typeface="Arial"/>
                <a:cs typeface="Arial"/>
              </a:rPr>
              <a:t> resource,</a:t>
            </a:r>
            <a:r>
              <a:rPr sz="900" spc="-35" dirty="0">
                <a:latin typeface="Arial"/>
                <a:cs typeface="Arial"/>
              </a:rPr>
              <a:t> </a:t>
            </a:r>
            <a:r>
              <a:rPr sz="900" dirty="0">
                <a:latin typeface="Arial"/>
                <a:cs typeface="Arial"/>
              </a:rPr>
              <a:t>needs</a:t>
            </a:r>
            <a:r>
              <a:rPr sz="900" spc="-35" dirty="0">
                <a:latin typeface="Arial"/>
                <a:cs typeface="Arial"/>
              </a:rPr>
              <a:t> </a:t>
            </a:r>
            <a:r>
              <a:rPr sz="900" dirty="0">
                <a:latin typeface="Arial"/>
                <a:cs typeface="Arial"/>
              </a:rPr>
              <a:t>permission</a:t>
            </a:r>
            <a:r>
              <a:rPr sz="900" spc="-30" dirty="0">
                <a:latin typeface="Arial"/>
                <a:cs typeface="Arial"/>
              </a:rPr>
              <a:t> </a:t>
            </a:r>
            <a:r>
              <a:rPr sz="900" dirty="0">
                <a:latin typeface="Arial"/>
                <a:cs typeface="Arial"/>
              </a:rPr>
              <a:t>from</a:t>
            </a:r>
            <a:r>
              <a:rPr sz="900" spc="-35" dirty="0">
                <a:latin typeface="Arial"/>
                <a:cs typeface="Arial"/>
              </a:rPr>
              <a:t> </a:t>
            </a:r>
            <a:r>
              <a:rPr sz="900" dirty="0">
                <a:latin typeface="Arial"/>
                <a:cs typeface="Arial"/>
              </a:rPr>
              <a:t>other</a:t>
            </a:r>
            <a:r>
              <a:rPr sz="900" spc="-30" dirty="0">
                <a:latin typeface="Arial"/>
                <a:cs typeface="Arial"/>
              </a:rPr>
              <a:t> </a:t>
            </a:r>
            <a:r>
              <a:rPr sz="900" spc="-10" dirty="0">
                <a:latin typeface="Arial"/>
                <a:cs typeface="Arial"/>
              </a:rPr>
              <a:t>processes.</a:t>
            </a:r>
            <a:endParaRPr sz="900" dirty="0">
              <a:latin typeface="Arial"/>
              <a:cs typeface="Arial"/>
            </a:endParaRPr>
          </a:p>
          <a:p>
            <a:pPr marL="795655" marR="5080" indent="-743585">
              <a:lnSpc>
                <a:spcPct val="111600"/>
              </a:lnSpc>
              <a:spcBef>
                <a:spcPts val="400"/>
              </a:spcBef>
            </a:pPr>
            <a:r>
              <a:rPr sz="900" spc="-35" dirty="0">
                <a:solidFill>
                  <a:srgbClr val="3333B2"/>
                </a:solidFill>
                <a:latin typeface="Arial"/>
                <a:cs typeface="Arial"/>
              </a:rPr>
              <a:t>Token-</a:t>
            </a:r>
            <a:r>
              <a:rPr sz="900" dirty="0">
                <a:solidFill>
                  <a:srgbClr val="3333B2"/>
                </a:solidFill>
                <a:latin typeface="Arial"/>
                <a:cs typeface="Arial"/>
              </a:rPr>
              <a:t>based:</a:t>
            </a:r>
            <a:r>
              <a:rPr sz="900" spc="180" dirty="0">
                <a:solidFill>
                  <a:srgbClr val="3333B2"/>
                </a:solidFill>
                <a:latin typeface="Arial"/>
                <a:cs typeface="Arial"/>
              </a:rPr>
              <a:t> </a:t>
            </a:r>
            <a:r>
              <a:rPr sz="900" dirty="0">
                <a:latin typeface="Arial"/>
                <a:cs typeface="Arial"/>
              </a:rPr>
              <a:t>A</a:t>
            </a:r>
            <a:r>
              <a:rPr sz="900" spc="-25" dirty="0">
                <a:latin typeface="Arial"/>
                <a:cs typeface="Arial"/>
              </a:rPr>
              <a:t> </a:t>
            </a:r>
            <a:r>
              <a:rPr sz="900" dirty="0">
                <a:latin typeface="Arial"/>
                <a:cs typeface="Arial"/>
              </a:rPr>
              <a:t>token</a:t>
            </a:r>
            <a:r>
              <a:rPr sz="900" spc="-25" dirty="0">
                <a:latin typeface="Arial"/>
                <a:cs typeface="Arial"/>
              </a:rPr>
              <a:t> </a:t>
            </a:r>
            <a:r>
              <a:rPr sz="900" dirty="0">
                <a:latin typeface="Arial"/>
                <a:cs typeface="Arial"/>
              </a:rPr>
              <a:t>is</a:t>
            </a:r>
            <a:r>
              <a:rPr sz="900" spc="-20" dirty="0">
                <a:latin typeface="Arial"/>
                <a:cs typeface="Arial"/>
              </a:rPr>
              <a:t> </a:t>
            </a:r>
            <a:r>
              <a:rPr sz="900" dirty="0">
                <a:latin typeface="Arial"/>
                <a:cs typeface="Arial"/>
              </a:rPr>
              <a:t>passed</a:t>
            </a:r>
            <a:r>
              <a:rPr sz="900" spc="-25" dirty="0">
                <a:latin typeface="Arial"/>
                <a:cs typeface="Arial"/>
              </a:rPr>
              <a:t> </a:t>
            </a:r>
            <a:r>
              <a:rPr sz="900" dirty="0">
                <a:latin typeface="Arial"/>
                <a:cs typeface="Arial"/>
              </a:rPr>
              <a:t>between</a:t>
            </a:r>
            <a:r>
              <a:rPr sz="900" spc="-25" dirty="0">
                <a:latin typeface="Arial"/>
                <a:cs typeface="Arial"/>
              </a:rPr>
              <a:t> </a:t>
            </a:r>
            <a:r>
              <a:rPr sz="900" dirty="0">
                <a:latin typeface="Arial"/>
                <a:cs typeface="Arial"/>
              </a:rPr>
              <a:t>processes.</a:t>
            </a:r>
            <a:r>
              <a:rPr sz="900" spc="35" dirty="0">
                <a:latin typeface="Arial"/>
                <a:cs typeface="Arial"/>
              </a:rPr>
              <a:t> </a:t>
            </a:r>
            <a:r>
              <a:rPr sz="900" dirty="0">
                <a:latin typeface="Arial"/>
                <a:cs typeface="Arial"/>
              </a:rPr>
              <a:t>The</a:t>
            </a:r>
            <a:r>
              <a:rPr sz="900" spc="-25" dirty="0">
                <a:latin typeface="Arial"/>
                <a:cs typeface="Arial"/>
              </a:rPr>
              <a:t> </a:t>
            </a:r>
            <a:r>
              <a:rPr sz="900" dirty="0">
                <a:latin typeface="Arial"/>
                <a:cs typeface="Arial"/>
              </a:rPr>
              <a:t>one</a:t>
            </a:r>
            <a:r>
              <a:rPr sz="900" spc="-25" dirty="0">
                <a:latin typeface="Arial"/>
                <a:cs typeface="Arial"/>
              </a:rPr>
              <a:t> </a:t>
            </a:r>
            <a:r>
              <a:rPr sz="900" dirty="0">
                <a:latin typeface="Arial"/>
                <a:cs typeface="Arial"/>
              </a:rPr>
              <a:t>who</a:t>
            </a:r>
            <a:r>
              <a:rPr sz="900" spc="-20" dirty="0">
                <a:latin typeface="Arial"/>
                <a:cs typeface="Arial"/>
              </a:rPr>
              <a:t> </a:t>
            </a:r>
            <a:r>
              <a:rPr sz="900" dirty="0">
                <a:latin typeface="Arial"/>
                <a:cs typeface="Arial"/>
              </a:rPr>
              <a:t>has</a:t>
            </a:r>
            <a:r>
              <a:rPr sz="900" spc="-25" dirty="0">
                <a:latin typeface="Arial"/>
                <a:cs typeface="Arial"/>
              </a:rPr>
              <a:t> the </a:t>
            </a:r>
            <a:r>
              <a:rPr sz="900" dirty="0">
                <a:latin typeface="Arial"/>
                <a:cs typeface="Arial"/>
              </a:rPr>
              <a:t>token</a:t>
            </a:r>
            <a:r>
              <a:rPr sz="900" spc="-30" dirty="0">
                <a:latin typeface="Arial"/>
                <a:cs typeface="Arial"/>
              </a:rPr>
              <a:t> </a:t>
            </a:r>
            <a:r>
              <a:rPr sz="900" dirty="0">
                <a:latin typeface="Arial"/>
                <a:cs typeface="Arial"/>
              </a:rPr>
              <a:t>may</a:t>
            </a:r>
            <a:r>
              <a:rPr sz="900" spc="-25" dirty="0">
                <a:latin typeface="Arial"/>
                <a:cs typeface="Arial"/>
              </a:rPr>
              <a:t> </a:t>
            </a:r>
            <a:r>
              <a:rPr sz="900" dirty="0">
                <a:latin typeface="Arial"/>
                <a:cs typeface="Arial"/>
              </a:rPr>
              <a:t>proceed</a:t>
            </a:r>
            <a:r>
              <a:rPr sz="900" spc="-25" dirty="0">
                <a:latin typeface="Arial"/>
                <a:cs typeface="Arial"/>
              </a:rPr>
              <a:t> </a:t>
            </a:r>
            <a:r>
              <a:rPr sz="900" dirty="0">
                <a:latin typeface="Arial"/>
                <a:cs typeface="Arial"/>
              </a:rPr>
              <a:t>in</a:t>
            </a:r>
            <a:r>
              <a:rPr sz="900" spc="-25" dirty="0">
                <a:latin typeface="Arial"/>
                <a:cs typeface="Arial"/>
              </a:rPr>
              <a:t> </a:t>
            </a:r>
            <a:r>
              <a:rPr sz="900" dirty="0">
                <a:latin typeface="Arial"/>
                <a:cs typeface="Arial"/>
              </a:rPr>
              <a:t>its</a:t>
            </a:r>
            <a:r>
              <a:rPr sz="900" spc="-25" dirty="0">
                <a:latin typeface="Arial"/>
                <a:cs typeface="Arial"/>
              </a:rPr>
              <a:t> </a:t>
            </a:r>
            <a:r>
              <a:rPr sz="900" dirty="0">
                <a:latin typeface="Arial"/>
                <a:cs typeface="Arial"/>
              </a:rPr>
              <a:t>critical</a:t>
            </a:r>
            <a:r>
              <a:rPr sz="900" spc="-25" dirty="0">
                <a:latin typeface="Arial"/>
                <a:cs typeface="Arial"/>
              </a:rPr>
              <a:t> </a:t>
            </a:r>
            <a:r>
              <a:rPr lang="en-US" sz="900" dirty="0">
                <a:latin typeface="Arial"/>
                <a:cs typeface="Arial"/>
              </a:rPr>
              <a:t>region or</a:t>
            </a:r>
            <a:r>
              <a:rPr sz="900" spc="-30" dirty="0">
                <a:latin typeface="Arial"/>
                <a:cs typeface="Arial"/>
              </a:rPr>
              <a:t> </a:t>
            </a:r>
            <a:r>
              <a:rPr sz="900" dirty="0">
                <a:latin typeface="Arial"/>
                <a:cs typeface="Arial"/>
              </a:rPr>
              <a:t>pass</a:t>
            </a:r>
            <a:r>
              <a:rPr sz="900" spc="-25" dirty="0">
                <a:latin typeface="Arial"/>
                <a:cs typeface="Arial"/>
              </a:rPr>
              <a:t> </a:t>
            </a:r>
            <a:r>
              <a:rPr sz="900" dirty="0">
                <a:latin typeface="Arial"/>
                <a:cs typeface="Arial"/>
              </a:rPr>
              <a:t>it</a:t>
            </a:r>
            <a:r>
              <a:rPr sz="900" spc="-25" dirty="0">
                <a:latin typeface="Arial"/>
                <a:cs typeface="Arial"/>
              </a:rPr>
              <a:t> </a:t>
            </a:r>
            <a:r>
              <a:rPr sz="900" dirty="0">
                <a:latin typeface="Arial"/>
                <a:cs typeface="Arial"/>
              </a:rPr>
              <a:t>on</a:t>
            </a:r>
            <a:r>
              <a:rPr sz="900" spc="-25" dirty="0">
                <a:latin typeface="Arial"/>
                <a:cs typeface="Arial"/>
              </a:rPr>
              <a:t> </a:t>
            </a:r>
            <a:r>
              <a:rPr sz="900" dirty="0">
                <a:latin typeface="Arial"/>
                <a:cs typeface="Arial"/>
              </a:rPr>
              <a:t>when</a:t>
            </a:r>
            <a:r>
              <a:rPr sz="900" spc="-25" dirty="0">
                <a:latin typeface="Arial"/>
                <a:cs typeface="Arial"/>
              </a:rPr>
              <a:t> not </a:t>
            </a:r>
            <a:r>
              <a:rPr sz="900" spc="-10" dirty="0">
                <a:latin typeface="Arial"/>
                <a:cs typeface="Arial"/>
              </a:rPr>
              <a:t>interested.</a:t>
            </a:r>
            <a:endParaRPr sz="900" dirty="0">
              <a:latin typeface="Arial"/>
              <a:cs typeface="Arial"/>
            </a:endParaRPr>
          </a:p>
        </p:txBody>
      </p:sp>
      <p:sp>
        <p:nvSpPr>
          <p:cNvPr id="5" name="object 5"/>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6" name="object 6"/>
          <p:cNvSpPr txBox="1"/>
          <p:nvPr/>
        </p:nvSpPr>
        <p:spPr>
          <a:xfrm>
            <a:off x="53467" y="3346954"/>
            <a:ext cx="288290"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4" action="ppaction://hlinksldjump"/>
              </a:rPr>
              <a:t>Overview</a:t>
            </a:r>
            <a:endParaRPr sz="500">
              <a:latin typeface="Arial"/>
              <a:cs typeface="Arial"/>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Tree>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8417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Coordination</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059910" y="-1515"/>
            <a:ext cx="49466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Mutual</a:t>
            </a:r>
            <a:r>
              <a:rPr sz="500" spc="-30"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exclusion</a:t>
            </a:r>
            <a:endParaRPr sz="500">
              <a:latin typeface="Arial"/>
              <a:cs typeface="Arial"/>
            </a:endParaRPr>
          </a:p>
        </p:txBody>
      </p:sp>
      <p:sp>
        <p:nvSpPr>
          <p:cNvPr id="5" name="object 5"/>
          <p:cNvSpPr txBox="1"/>
          <p:nvPr/>
        </p:nvSpPr>
        <p:spPr>
          <a:xfrm>
            <a:off x="95300" y="197711"/>
            <a:ext cx="2051685" cy="494665"/>
          </a:xfrm>
          <a:prstGeom prst="rect">
            <a:avLst/>
          </a:prstGeom>
        </p:spPr>
        <p:txBody>
          <a:bodyPr vert="horz" wrap="square" lIns="0" tIns="12065" rIns="0" bIns="0" rtlCol="0">
            <a:spAutoFit/>
          </a:bodyPr>
          <a:lstStyle/>
          <a:p>
            <a:pPr marL="12700">
              <a:lnSpc>
                <a:spcPct val="100000"/>
              </a:lnSpc>
              <a:spcBef>
                <a:spcPts val="95"/>
              </a:spcBef>
            </a:pPr>
            <a:r>
              <a:rPr sz="1200" spc="-10" dirty="0">
                <a:solidFill>
                  <a:srgbClr val="3333B2"/>
                </a:solidFill>
                <a:latin typeface="Arial"/>
                <a:cs typeface="Arial"/>
              </a:rPr>
              <a:t>Permission-</a:t>
            </a:r>
            <a:r>
              <a:rPr sz="1200" dirty="0">
                <a:solidFill>
                  <a:srgbClr val="3333B2"/>
                </a:solidFill>
                <a:latin typeface="Arial"/>
                <a:cs typeface="Arial"/>
              </a:rPr>
              <a:t>based,</a:t>
            </a:r>
            <a:r>
              <a:rPr sz="1200" spc="-30" dirty="0">
                <a:solidFill>
                  <a:srgbClr val="3333B2"/>
                </a:solidFill>
                <a:latin typeface="Arial"/>
                <a:cs typeface="Arial"/>
              </a:rPr>
              <a:t> </a:t>
            </a:r>
            <a:r>
              <a:rPr sz="1200" spc="-10" dirty="0">
                <a:solidFill>
                  <a:srgbClr val="3333B2"/>
                </a:solidFill>
                <a:latin typeface="Arial"/>
                <a:cs typeface="Arial"/>
              </a:rPr>
              <a:t>centralized</a:t>
            </a:r>
            <a:endParaRPr sz="1200">
              <a:latin typeface="Arial"/>
              <a:cs typeface="Arial"/>
            </a:endParaRPr>
          </a:p>
          <a:p>
            <a:pPr marL="264160">
              <a:lnSpc>
                <a:spcPct val="100000"/>
              </a:lnSpc>
              <a:spcBef>
                <a:spcPts val="1055"/>
              </a:spcBef>
            </a:pPr>
            <a:r>
              <a:rPr sz="1000" dirty="0">
                <a:solidFill>
                  <a:srgbClr val="3333B2"/>
                </a:solidFill>
                <a:latin typeface="Arial"/>
                <a:cs typeface="Arial"/>
              </a:rPr>
              <a:t>Simply</a:t>
            </a:r>
            <a:r>
              <a:rPr sz="1000" spc="-25" dirty="0">
                <a:solidFill>
                  <a:srgbClr val="3333B2"/>
                </a:solidFill>
                <a:latin typeface="Arial"/>
                <a:cs typeface="Arial"/>
              </a:rPr>
              <a:t> </a:t>
            </a:r>
            <a:r>
              <a:rPr sz="1000" dirty="0">
                <a:solidFill>
                  <a:srgbClr val="3333B2"/>
                </a:solidFill>
                <a:latin typeface="Arial"/>
                <a:cs typeface="Arial"/>
              </a:rPr>
              <a:t>use</a:t>
            </a:r>
            <a:r>
              <a:rPr sz="1000" spc="-20" dirty="0">
                <a:solidFill>
                  <a:srgbClr val="3333B2"/>
                </a:solidFill>
                <a:latin typeface="Arial"/>
                <a:cs typeface="Arial"/>
              </a:rPr>
              <a:t> </a:t>
            </a:r>
            <a:r>
              <a:rPr sz="1000" dirty="0">
                <a:solidFill>
                  <a:srgbClr val="3333B2"/>
                </a:solidFill>
                <a:latin typeface="Arial"/>
                <a:cs typeface="Arial"/>
              </a:rPr>
              <a:t>a</a:t>
            </a:r>
            <a:r>
              <a:rPr sz="1000" spc="-25" dirty="0">
                <a:solidFill>
                  <a:srgbClr val="3333B2"/>
                </a:solidFill>
                <a:latin typeface="Arial"/>
                <a:cs typeface="Arial"/>
              </a:rPr>
              <a:t> </a:t>
            </a:r>
            <a:r>
              <a:rPr sz="1000" spc="-10" dirty="0">
                <a:solidFill>
                  <a:srgbClr val="3333B2"/>
                </a:solidFill>
                <a:latin typeface="Arial"/>
                <a:cs typeface="Arial"/>
              </a:rPr>
              <a:t>coordinator</a:t>
            </a:r>
            <a:endParaRPr sz="1000">
              <a:latin typeface="Arial"/>
              <a:cs typeface="Arial"/>
            </a:endParaRPr>
          </a:p>
        </p:txBody>
      </p:sp>
      <p:pic>
        <p:nvPicPr>
          <p:cNvPr id="6" name="object 6"/>
          <p:cNvPicPr/>
          <p:nvPr/>
        </p:nvPicPr>
        <p:blipFill>
          <a:blip r:embed="rId4" cstate="print"/>
          <a:stretch>
            <a:fillRect/>
          </a:stretch>
        </p:blipFill>
        <p:spPr>
          <a:xfrm>
            <a:off x="696022" y="802843"/>
            <a:ext cx="1108439" cy="766094"/>
          </a:xfrm>
          <a:prstGeom prst="rect">
            <a:avLst/>
          </a:prstGeom>
        </p:spPr>
      </p:pic>
      <p:pic>
        <p:nvPicPr>
          <p:cNvPr id="7" name="object 7"/>
          <p:cNvPicPr/>
          <p:nvPr/>
        </p:nvPicPr>
        <p:blipFill>
          <a:blip r:embed="rId5" cstate="print"/>
          <a:stretch>
            <a:fillRect/>
          </a:stretch>
        </p:blipFill>
        <p:spPr>
          <a:xfrm>
            <a:off x="2024672" y="802843"/>
            <a:ext cx="917066" cy="766094"/>
          </a:xfrm>
          <a:prstGeom prst="rect">
            <a:avLst/>
          </a:prstGeom>
        </p:spPr>
      </p:pic>
      <p:pic>
        <p:nvPicPr>
          <p:cNvPr id="8" name="object 8"/>
          <p:cNvPicPr/>
          <p:nvPr/>
        </p:nvPicPr>
        <p:blipFill>
          <a:blip r:embed="rId6" cstate="print"/>
          <a:stretch>
            <a:fillRect/>
          </a:stretch>
        </p:blipFill>
        <p:spPr>
          <a:xfrm>
            <a:off x="3163176" y="802843"/>
            <a:ext cx="745037" cy="766094"/>
          </a:xfrm>
          <a:prstGeom prst="rect">
            <a:avLst/>
          </a:prstGeom>
        </p:spPr>
      </p:pic>
      <p:sp>
        <p:nvSpPr>
          <p:cNvPr id="9" name="object 9"/>
          <p:cNvSpPr txBox="1"/>
          <p:nvPr/>
        </p:nvSpPr>
        <p:spPr>
          <a:xfrm>
            <a:off x="359841" y="1629874"/>
            <a:ext cx="3937635" cy="1256030"/>
          </a:xfrm>
          <a:prstGeom prst="rect">
            <a:avLst/>
          </a:prstGeom>
        </p:spPr>
        <p:txBody>
          <a:bodyPr vert="horz" wrap="square" lIns="0" tIns="12065" rIns="0" bIns="0" rtlCol="0">
            <a:spAutoFit/>
          </a:bodyPr>
          <a:lstStyle/>
          <a:p>
            <a:pPr marL="821055">
              <a:lnSpc>
                <a:spcPct val="100000"/>
              </a:lnSpc>
              <a:spcBef>
                <a:spcPts val="95"/>
              </a:spcBef>
              <a:tabLst>
                <a:tab pos="2053589" algn="l"/>
                <a:tab pos="3109595" algn="l"/>
              </a:tabLst>
            </a:pPr>
            <a:r>
              <a:rPr sz="900" spc="-25" dirty="0">
                <a:latin typeface="Arial"/>
                <a:cs typeface="Arial"/>
              </a:rPr>
              <a:t>(a)</a:t>
            </a:r>
            <a:r>
              <a:rPr sz="900" dirty="0">
                <a:latin typeface="Arial"/>
                <a:cs typeface="Arial"/>
              </a:rPr>
              <a:t>	</a:t>
            </a:r>
            <a:r>
              <a:rPr sz="900" spc="-25" dirty="0">
                <a:latin typeface="Arial"/>
                <a:cs typeface="Arial"/>
              </a:rPr>
              <a:t>(b)</a:t>
            </a:r>
            <a:r>
              <a:rPr sz="900" dirty="0">
                <a:latin typeface="Arial"/>
                <a:cs typeface="Arial"/>
              </a:rPr>
              <a:t>	</a:t>
            </a:r>
            <a:r>
              <a:rPr sz="900" spc="-25" dirty="0">
                <a:latin typeface="Arial"/>
                <a:cs typeface="Arial"/>
              </a:rPr>
              <a:t>(c)</a:t>
            </a:r>
            <a:endParaRPr sz="900" dirty="0">
              <a:latin typeface="Arial"/>
              <a:cs typeface="Arial"/>
            </a:endParaRPr>
          </a:p>
          <a:p>
            <a:pPr marL="252729" marR="311150" indent="-202565">
              <a:lnSpc>
                <a:spcPct val="111600"/>
              </a:lnSpc>
              <a:spcBef>
                <a:spcPts val="580"/>
              </a:spcBef>
              <a:buClr>
                <a:srgbClr val="3333B2"/>
              </a:buClr>
              <a:buAutoNum type="alphaLcParenBoth"/>
              <a:tabLst>
                <a:tab pos="253365" algn="l"/>
              </a:tabLst>
            </a:pPr>
            <a:r>
              <a:rPr sz="900" dirty="0">
                <a:latin typeface="Arial"/>
                <a:cs typeface="Arial"/>
              </a:rPr>
              <a:t>Process</a:t>
            </a:r>
            <a:r>
              <a:rPr sz="900" spc="-30" dirty="0">
                <a:latin typeface="Arial"/>
                <a:cs typeface="Arial"/>
              </a:rPr>
              <a:t> </a:t>
            </a:r>
            <a:r>
              <a:rPr sz="900" i="1" dirty="0">
                <a:latin typeface="Arial"/>
                <a:cs typeface="Arial"/>
              </a:rPr>
              <a:t>P</a:t>
            </a:r>
            <a:r>
              <a:rPr sz="1050" i="1" baseline="-15873" dirty="0">
                <a:latin typeface="Arial"/>
                <a:cs typeface="Arial"/>
              </a:rPr>
              <a:t>1</a:t>
            </a:r>
            <a:r>
              <a:rPr sz="1050" i="1" spc="104" baseline="-15873" dirty="0">
                <a:latin typeface="Arial"/>
                <a:cs typeface="Arial"/>
              </a:rPr>
              <a:t> </a:t>
            </a:r>
            <a:r>
              <a:rPr sz="900" dirty="0">
                <a:latin typeface="Arial"/>
                <a:cs typeface="Arial"/>
              </a:rPr>
              <a:t>asks</a:t>
            </a:r>
            <a:r>
              <a:rPr sz="900" spc="-25" dirty="0">
                <a:latin typeface="Arial"/>
                <a:cs typeface="Arial"/>
              </a:rPr>
              <a:t> </a:t>
            </a:r>
            <a:r>
              <a:rPr sz="900" dirty="0">
                <a:latin typeface="Arial"/>
                <a:cs typeface="Arial"/>
              </a:rPr>
              <a:t>the</a:t>
            </a:r>
            <a:r>
              <a:rPr sz="900" spc="-30" dirty="0">
                <a:latin typeface="Arial"/>
                <a:cs typeface="Arial"/>
              </a:rPr>
              <a:t> </a:t>
            </a:r>
            <a:r>
              <a:rPr sz="900" dirty="0">
                <a:latin typeface="Arial"/>
                <a:cs typeface="Arial"/>
              </a:rPr>
              <a:t>coordinator</a:t>
            </a:r>
            <a:r>
              <a:rPr sz="900" spc="-25" dirty="0">
                <a:latin typeface="Arial"/>
                <a:cs typeface="Arial"/>
              </a:rPr>
              <a:t> </a:t>
            </a:r>
            <a:r>
              <a:rPr sz="900" dirty="0">
                <a:latin typeface="Arial"/>
                <a:cs typeface="Arial"/>
              </a:rPr>
              <a:t>for</a:t>
            </a:r>
            <a:r>
              <a:rPr sz="900" spc="-30" dirty="0">
                <a:latin typeface="Arial"/>
                <a:cs typeface="Arial"/>
              </a:rPr>
              <a:t> </a:t>
            </a:r>
            <a:r>
              <a:rPr sz="900" dirty="0">
                <a:latin typeface="Arial"/>
                <a:cs typeface="Arial"/>
              </a:rPr>
              <a:t>permission</a:t>
            </a:r>
            <a:r>
              <a:rPr sz="900" spc="-25" dirty="0">
                <a:latin typeface="Arial"/>
                <a:cs typeface="Arial"/>
              </a:rPr>
              <a:t> </a:t>
            </a:r>
            <a:r>
              <a:rPr sz="900" dirty="0">
                <a:latin typeface="Arial"/>
                <a:cs typeface="Arial"/>
              </a:rPr>
              <a:t>to</a:t>
            </a:r>
            <a:r>
              <a:rPr sz="900" spc="-30" dirty="0">
                <a:latin typeface="Arial"/>
                <a:cs typeface="Arial"/>
              </a:rPr>
              <a:t> </a:t>
            </a:r>
            <a:r>
              <a:rPr sz="900" dirty="0">
                <a:latin typeface="Arial"/>
                <a:cs typeface="Arial"/>
              </a:rPr>
              <a:t>access</a:t>
            </a:r>
            <a:r>
              <a:rPr sz="900" spc="-30" dirty="0">
                <a:latin typeface="Arial"/>
                <a:cs typeface="Arial"/>
              </a:rPr>
              <a:t> </a:t>
            </a:r>
            <a:r>
              <a:rPr sz="900" dirty="0">
                <a:latin typeface="Arial"/>
                <a:cs typeface="Arial"/>
              </a:rPr>
              <a:t>a</a:t>
            </a:r>
            <a:r>
              <a:rPr sz="900" spc="-25" dirty="0">
                <a:latin typeface="Arial"/>
                <a:cs typeface="Arial"/>
              </a:rPr>
              <a:t> </a:t>
            </a:r>
            <a:r>
              <a:rPr sz="900" spc="-10" dirty="0">
                <a:latin typeface="Arial"/>
                <a:cs typeface="Arial"/>
              </a:rPr>
              <a:t>shared </a:t>
            </a:r>
            <a:r>
              <a:rPr sz="900" dirty="0">
                <a:latin typeface="Arial"/>
                <a:cs typeface="Arial"/>
              </a:rPr>
              <a:t>resource.</a:t>
            </a:r>
            <a:r>
              <a:rPr sz="900" spc="40" dirty="0">
                <a:latin typeface="Arial"/>
                <a:cs typeface="Arial"/>
              </a:rPr>
              <a:t> </a:t>
            </a:r>
            <a:r>
              <a:rPr sz="900" spc="-10" dirty="0">
                <a:latin typeface="Arial"/>
                <a:cs typeface="Arial"/>
              </a:rPr>
              <a:t>Permission </a:t>
            </a:r>
            <a:r>
              <a:rPr sz="900" dirty="0">
                <a:latin typeface="Arial"/>
                <a:cs typeface="Arial"/>
              </a:rPr>
              <a:t>is</a:t>
            </a:r>
            <a:r>
              <a:rPr sz="900" spc="-15" dirty="0">
                <a:latin typeface="Arial"/>
                <a:cs typeface="Arial"/>
              </a:rPr>
              <a:t> </a:t>
            </a:r>
            <a:r>
              <a:rPr sz="900" spc="-10" dirty="0">
                <a:latin typeface="Arial"/>
                <a:cs typeface="Arial"/>
              </a:rPr>
              <a:t>granted.</a:t>
            </a:r>
            <a:endParaRPr sz="900" dirty="0">
              <a:latin typeface="Arial"/>
              <a:cs typeface="Arial"/>
            </a:endParaRPr>
          </a:p>
          <a:p>
            <a:pPr marL="252729" marR="239395" indent="-202565">
              <a:lnSpc>
                <a:spcPct val="111600"/>
              </a:lnSpc>
              <a:spcBef>
                <a:spcPts val="400"/>
              </a:spcBef>
              <a:buClr>
                <a:srgbClr val="3333B2"/>
              </a:buClr>
              <a:buAutoNum type="alphaLcParenBoth"/>
              <a:tabLst>
                <a:tab pos="253365" algn="l"/>
              </a:tabLst>
            </a:pPr>
            <a:r>
              <a:rPr sz="900" dirty="0">
                <a:latin typeface="Arial"/>
                <a:cs typeface="Arial"/>
              </a:rPr>
              <a:t>Process</a:t>
            </a:r>
            <a:r>
              <a:rPr sz="900" spc="-30" dirty="0">
                <a:latin typeface="Arial"/>
                <a:cs typeface="Arial"/>
              </a:rPr>
              <a:t> </a:t>
            </a:r>
            <a:r>
              <a:rPr sz="900" i="1" dirty="0">
                <a:latin typeface="Arial"/>
                <a:cs typeface="Arial"/>
              </a:rPr>
              <a:t>P</a:t>
            </a:r>
            <a:r>
              <a:rPr sz="1050" i="1" baseline="-15873" dirty="0">
                <a:latin typeface="Arial"/>
                <a:cs typeface="Arial"/>
              </a:rPr>
              <a:t>2</a:t>
            </a:r>
            <a:r>
              <a:rPr sz="1050" i="1" spc="165" baseline="-15873" dirty="0">
                <a:latin typeface="Arial"/>
                <a:cs typeface="Arial"/>
              </a:rPr>
              <a:t> </a:t>
            </a:r>
            <a:r>
              <a:rPr sz="900" dirty="0">
                <a:latin typeface="Arial"/>
                <a:cs typeface="Arial"/>
              </a:rPr>
              <a:t>then</a:t>
            </a:r>
            <a:r>
              <a:rPr sz="900" spc="-25" dirty="0">
                <a:latin typeface="Arial"/>
                <a:cs typeface="Arial"/>
              </a:rPr>
              <a:t> </a:t>
            </a:r>
            <a:r>
              <a:rPr sz="900" dirty="0">
                <a:latin typeface="Arial"/>
                <a:cs typeface="Arial"/>
              </a:rPr>
              <a:t>asks</a:t>
            </a:r>
            <a:r>
              <a:rPr sz="900" spc="-30" dirty="0">
                <a:latin typeface="Arial"/>
                <a:cs typeface="Arial"/>
              </a:rPr>
              <a:t> </a:t>
            </a:r>
            <a:r>
              <a:rPr sz="900" dirty="0">
                <a:latin typeface="Arial"/>
                <a:cs typeface="Arial"/>
              </a:rPr>
              <a:t>permission</a:t>
            </a:r>
            <a:r>
              <a:rPr sz="900" spc="-25" dirty="0">
                <a:latin typeface="Arial"/>
                <a:cs typeface="Arial"/>
              </a:rPr>
              <a:t> </a:t>
            </a:r>
            <a:r>
              <a:rPr sz="900" dirty="0">
                <a:latin typeface="Arial"/>
                <a:cs typeface="Arial"/>
              </a:rPr>
              <a:t>to</a:t>
            </a:r>
            <a:r>
              <a:rPr sz="900" spc="-30" dirty="0">
                <a:latin typeface="Arial"/>
                <a:cs typeface="Arial"/>
              </a:rPr>
              <a:t> </a:t>
            </a:r>
            <a:r>
              <a:rPr sz="900" dirty="0">
                <a:latin typeface="Arial"/>
                <a:cs typeface="Arial"/>
              </a:rPr>
              <a:t>access</a:t>
            </a:r>
            <a:r>
              <a:rPr sz="900" spc="-25" dirty="0">
                <a:latin typeface="Arial"/>
                <a:cs typeface="Arial"/>
              </a:rPr>
              <a:t> </a:t>
            </a:r>
            <a:r>
              <a:rPr sz="900" dirty="0">
                <a:latin typeface="Arial"/>
                <a:cs typeface="Arial"/>
              </a:rPr>
              <a:t>the</a:t>
            </a:r>
            <a:r>
              <a:rPr sz="900" spc="-25" dirty="0">
                <a:latin typeface="Arial"/>
                <a:cs typeface="Arial"/>
              </a:rPr>
              <a:t> </a:t>
            </a:r>
            <a:r>
              <a:rPr sz="900" dirty="0">
                <a:latin typeface="Arial"/>
                <a:cs typeface="Arial"/>
              </a:rPr>
              <a:t>same</a:t>
            </a:r>
            <a:r>
              <a:rPr sz="900" spc="-30" dirty="0">
                <a:latin typeface="Arial"/>
                <a:cs typeface="Arial"/>
              </a:rPr>
              <a:t> </a:t>
            </a:r>
            <a:r>
              <a:rPr sz="900" dirty="0">
                <a:latin typeface="Arial"/>
                <a:cs typeface="Arial"/>
              </a:rPr>
              <a:t>resource.</a:t>
            </a:r>
            <a:r>
              <a:rPr sz="900" spc="30" dirty="0">
                <a:latin typeface="Arial"/>
                <a:cs typeface="Arial"/>
              </a:rPr>
              <a:t> </a:t>
            </a:r>
            <a:r>
              <a:rPr sz="900" spc="-25" dirty="0">
                <a:latin typeface="Arial"/>
                <a:cs typeface="Arial"/>
              </a:rPr>
              <a:t>The </a:t>
            </a:r>
            <a:r>
              <a:rPr sz="900" dirty="0">
                <a:latin typeface="Arial"/>
                <a:cs typeface="Arial"/>
              </a:rPr>
              <a:t>coordinator</a:t>
            </a:r>
            <a:r>
              <a:rPr sz="900" spc="-35" dirty="0">
                <a:latin typeface="Arial"/>
                <a:cs typeface="Arial"/>
              </a:rPr>
              <a:t> </a:t>
            </a:r>
            <a:r>
              <a:rPr sz="900" dirty="0">
                <a:latin typeface="Arial"/>
                <a:cs typeface="Arial"/>
              </a:rPr>
              <a:t>does</a:t>
            </a:r>
            <a:r>
              <a:rPr sz="900" spc="-30" dirty="0">
                <a:latin typeface="Arial"/>
                <a:cs typeface="Arial"/>
              </a:rPr>
              <a:t> </a:t>
            </a:r>
            <a:r>
              <a:rPr sz="900" dirty="0">
                <a:latin typeface="Arial"/>
                <a:cs typeface="Arial"/>
              </a:rPr>
              <a:t>not</a:t>
            </a:r>
            <a:r>
              <a:rPr sz="900" spc="-30" dirty="0">
                <a:latin typeface="Arial"/>
                <a:cs typeface="Arial"/>
              </a:rPr>
              <a:t> </a:t>
            </a:r>
            <a:r>
              <a:rPr sz="900" spc="-10" dirty="0">
                <a:latin typeface="Arial"/>
                <a:cs typeface="Arial"/>
              </a:rPr>
              <a:t>reply</a:t>
            </a:r>
            <a:r>
              <a:rPr lang="en-US" sz="900" spc="-10" dirty="0">
                <a:latin typeface="Arial"/>
                <a:cs typeface="Arial"/>
              </a:rPr>
              <a:t> and queues the request</a:t>
            </a:r>
            <a:r>
              <a:rPr sz="900" spc="-10" dirty="0">
                <a:latin typeface="Arial"/>
                <a:cs typeface="Arial"/>
              </a:rPr>
              <a:t>.</a:t>
            </a:r>
            <a:endParaRPr sz="900" dirty="0">
              <a:latin typeface="Arial"/>
              <a:cs typeface="Arial"/>
            </a:endParaRPr>
          </a:p>
          <a:p>
            <a:pPr marL="252729" marR="43180" indent="-196215">
              <a:lnSpc>
                <a:spcPct val="111600"/>
              </a:lnSpc>
              <a:spcBef>
                <a:spcPts val="400"/>
              </a:spcBef>
              <a:buClr>
                <a:srgbClr val="3333B2"/>
              </a:buClr>
              <a:buAutoNum type="alphaLcParenBoth"/>
              <a:tabLst>
                <a:tab pos="248285" algn="l"/>
              </a:tabLst>
            </a:pPr>
            <a:r>
              <a:rPr sz="900" spc="-10" dirty="0">
                <a:latin typeface="Arial"/>
                <a:cs typeface="Arial"/>
              </a:rPr>
              <a:t>When</a:t>
            </a:r>
            <a:r>
              <a:rPr sz="900" spc="-30" dirty="0">
                <a:latin typeface="Arial"/>
                <a:cs typeface="Arial"/>
              </a:rPr>
              <a:t> </a:t>
            </a:r>
            <a:r>
              <a:rPr sz="900" i="1" dirty="0">
                <a:latin typeface="Arial"/>
                <a:cs typeface="Arial"/>
              </a:rPr>
              <a:t>P</a:t>
            </a:r>
            <a:r>
              <a:rPr sz="1050" i="1" baseline="-15873" dirty="0">
                <a:latin typeface="Arial"/>
                <a:cs typeface="Arial"/>
              </a:rPr>
              <a:t>1</a:t>
            </a:r>
            <a:r>
              <a:rPr sz="1050" i="1" spc="104" baseline="-15873" dirty="0">
                <a:latin typeface="Arial"/>
                <a:cs typeface="Arial"/>
              </a:rPr>
              <a:t> </a:t>
            </a:r>
            <a:r>
              <a:rPr sz="900" spc="-10" dirty="0">
                <a:latin typeface="Arial"/>
                <a:cs typeface="Arial"/>
              </a:rPr>
              <a:t>releases</a:t>
            </a:r>
            <a:r>
              <a:rPr sz="900" spc="-25" dirty="0">
                <a:latin typeface="Arial"/>
                <a:cs typeface="Arial"/>
              </a:rPr>
              <a:t> </a:t>
            </a:r>
            <a:r>
              <a:rPr sz="900" dirty="0">
                <a:latin typeface="Arial"/>
                <a:cs typeface="Arial"/>
              </a:rPr>
              <a:t>the</a:t>
            </a:r>
            <a:r>
              <a:rPr sz="900" spc="-30" dirty="0">
                <a:latin typeface="Arial"/>
                <a:cs typeface="Arial"/>
              </a:rPr>
              <a:t> </a:t>
            </a:r>
            <a:r>
              <a:rPr sz="900" spc="-10" dirty="0">
                <a:latin typeface="Arial"/>
                <a:cs typeface="Arial"/>
              </a:rPr>
              <a:t>resource,</a:t>
            </a:r>
            <a:r>
              <a:rPr sz="900" spc="-30" dirty="0">
                <a:latin typeface="Arial"/>
                <a:cs typeface="Arial"/>
              </a:rPr>
              <a:t> </a:t>
            </a:r>
            <a:r>
              <a:rPr sz="900" dirty="0">
                <a:latin typeface="Arial"/>
                <a:cs typeface="Arial"/>
              </a:rPr>
              <a:t>it</a:t>
            </a:r>
            <a:r>
              <a:rPr sz="900" spc="-25" dirty="0">
                <a:latin typeface="Arial"/>
                <a:cs typeface="Arial"/>
              </a:rPr>
              <a:t> </a:t>
            </a:r>
            <a:r>
              <a:rPr sz="900" dirty="0">
                <a:latin typeface="Arial"/>
                <a:cs typeface="Arial"/>
              </a:rPr>
              <a:t>tells</a:t>
            </a:r>
            <a:r>
              <a:rPr sz="900" spc="-30" dirty="0">
                <a:latin typeface="Arial"/>
                <a:cs typeface="Arial"/>
              </a:rPr>
              <a:t> </a:t>
            </a:r>
            <a:r>
              <a:rPr sz="900" dirty="0">
                <a:latin typeface="Arial"/>
                <a:cs typeface="Arial"/>
              </a:rPr>
              <a:t>the</a:t>
            </a:r>
            <a:r>
              <a:rPr sz="900" spc="-30" dirty="0">
                <a:latin typeface="Arial"/>
                <a:cs typeface="Arial"/>
              </a:rPr>
              <a:t> </a:t>
            </a:r>
            <a:r>
              <a:rPr sz="900" spc="-20" dirty="0">
                <a:latin typeface="Arial"/>
                <a:cs typeface="Arial"/>
              </a:rPr>
              <a:t>coordinator,</a:t>
            </a:r>
            <a:r>
              <a:rPr sz="900" spc="-25" dirty="0">
                <a:latin typeface="Arial"/>
                <a:cs typeface="Arial"/>
              </a:rPr>
              <a:t> </a:t>
            </a:r>
            <a:r>
              <a:rPr sz="900" spc="-10" dirty="0">
                <a:latin typeface="Arial"/>
                <a:cs typeface="Arial"/>
              </a:rPr>
              <a:t>which</a:t>
            </a:r>
            <a:r>
              <a:rPr sz="900" spc="-30" dirty="0">
                <a:latin typeface="Arial"/>
                <a:cs typeface="Arial"/>
              </a:rPr>
              <a:t> </a:t>
            </a:r>
            <a:r>
              <a:rPr sz="900" dirty="0">
                <a:latin typeface="Arial"/>
                <a:cs typeface="Arial"/>
              </a:rPr>
              <a:t>then</a:t>
            </a:r>
            <a:r>
              <a:rPr sz="900" spc="-30" dirty="0">
                <a:latin typeface="Arial"/>
                <a:cs typeface="Arial"/>
              </a:rPr>
              <a:t> </a:t>
            </a:r>
            <a:r>
              <a:rPr sz="900" spc="-10" dirty="0">
                <a:latin typeface="Arial"/>
                <a:cs typeface="Arial"/>
              </a:rPr>
              <a:t>replies </a:t>
            </a:r>
            <a:r>
              <a:rPr sz="900" dirty="0">
                <a:latin typeface="Arial"/>
                <a:cs typeface="Arial"/>
              </a:rPr>
              <a:t>to</a:t>
            </a:r>
            <a:r>
              <a:rPr sz="900" spc="-5" dirty="0">
                <a:latin typeface="Arial"/>
                <a:cs typeface="Arial"/>
              </a:rPr>
              <a:t> </a:t>
            </a:r>
            <a:r>
              <a:rPr sz="900" i="1" spc="-10" dirty="0">
                <a:latin typeface="Arial"/>
                <a:cs typeface="Arial"/>
              </a:rPr>
              <a:t>P</a:t>
            </a:r>
            <a:r>
              <a:rPr sz="1050" i="1" spc="-15" baseline="-15873" dirty="0">
                <a:latin typeface="Arial"/>
                <a:cs typeface="Arial"/>
              </a:rPr>
              <a:t>2</a:t>
            </a:r>
            <a:r>
              <a:rPr sz="1050" i="1" spc="-157" baseline="-15873" dirty="0">
                <a:latin typeface="Arial"/>
                <a:cs typeface="Arial"/>
              </a:rPr>
              <a:t> </a:t>
            </a:r>
            <a:r>
              <a:rPr sz="900" spc="-50" dirty="0">
                <a:latin typeface="Arial"/>
                <a:cs typeface="Arial"/>
              </a:rPr>
              <a:t>.</a:t>
            </a:r>
            <a:endParaRPr sz="900" dirty="0">
              <a:latin typeface="Arial"/>
              <a:cs typeface="Arial"/>
            </a:endParaRPr>
          </a:p>
        </p:txBody>
      </p:sp>
      <p:sp>
        <p:nvSpPr>
          <p:cNvPr id="10" name="object 10"/>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1" name="object 11"/>
          <p:cNvSpPr txBox="1"/>
          <p:nvPr/>
        </p:nvSpPr>
        <p:spPr>
          <a:xfrm>
            <a:off x="53467" y="3346954"/>
            <a:ext cx="668655" cy="101600"/>
          </a:xfrm>
          <a:prstGeom prst="rect">
            <a:avLst/>
          </a:prstGeom>
        </p:spPr>
        <p:txBody>
          <a:bodyPr vert="horz" wrap="square" lIns="0" tIns="12065" rIns="0" bIns="0" rtlCol="0">
            <a:spAutoFit/>
          </a:bodyPr>
          <a:lstStyle/>
          <a:p>
            <a:pPr marL="12700">
              <a:lnSpc>
                <a:spcPct val="100000"/>
              </a:lnSpc>
              <a:spcBef>
                <a:spcPts val="95"/>
              </a:spcBef>
            </a:pPr>
            <a:r>
              <a:rPr sz="500" dirty="0">
                <a:latin typeface="Arial"/>
                <a:cs typeface="Arial"/>
                <a:hlinkClick r:id="rId7" action="ppaction://hlinksldjump"/>
              </a:rPr>
              <a:t>A</a:t>
            </a:r>
            <a:r>
              <a:rPr sz="500" spc="25" dirty="0">
                <a:latin typeface="Arial"/>
                <a:cs typeface="Arial"/>
                <a:hlinkClick r:id="rId7" action="ppaction://hlinksldjump"/>
              </a:rPr>
              <a:t> </a:t>
            </a:r>
            <a:r>
              <a:rPr sz="500" spc="-10" dirty="0">
                <a:latin typeface="Arial"/>
                <a:cs typeface="Arial"/>
                <a:hlinkClick r:id="rId7" action="ppaction://hlinksldjump"/>
              </a:rPr>
              <a:t>centralized</a:t>
            </a:r>
            <a:r>
              <a:rPr sz="500" spc="30" dirty="0">
                <a:latin typeface="Arial"/>
                <a:cs typeface="Arial"/>
                <a:hlinkClick r:id="rId7" action="ppaction://hlinksldjump"/>
              </a:rPr>
              <a:t> </a:t>
            </a:r>
            <a:r>
              <a:rPr sz="500" spc="-10" dirty="0">
                <a:latin typeface="Arial"/>
                <a:cs typeface="Arial"/>
                <a:hlinkClick r:id="rId7" action="ppaction://hlinksldjump"/>
              </a:rPr>
              <a:t>algorithm</a:t>
            </a:r>
            <a:endParaRPr sz="500">
              <a:latin typeface="Arial"/>
              <a:cs typeface="Arial"/>
            </a:endParaRPr>
          </a:p>
        </p:txBody>
      </p:sp>
      <p:sp>
        <p:nvSpPr>
          <p:cNvPr id="12" name="object 12"/>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Tree>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4018915" algn="l"/>
              </a:tabLst>
            </a:pPr>
            <a:r>
              <a:rPr sz="500" spc="-10" dirty="0">
                <a:latin typeface="Arial"/>
                <a:cs typeface="Arial"/>
                <a:hlinkClick r:id="rId2" action="ppaction://hlinksldjump"/>
              </a:rPr>
              <a:t>Coordination</a:t>
            </a:r>
            <a:r>
              <a:rPr sz="500" dirty="0">
                <a:latin typeface="Arial"/>
                <a:cs typeface="Arial"/>
              </a:rPr>
              <a:t>	</a:t>
            </a:r>
            <a:r>
              <a:rPr sz="500" dirty="0">
                <a:solidFill>
                  <a:srgbClr val="FFFFFF"/>
                </a:solidFill>
                <a:latin typeface="Arial"/>
                <a:cs typeface="Arial"/>
                <a:hlinkClick r:id="rId3" action="ppaction://hlinksldjump"/>
              </a:rPr>
              <a:t>Mutual</a:t>
            </a:r>
            <a:r>
              <a:rPr sz="500" spc="-30"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exclusion</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Mutual</a:t>
            </a:r>
            <a:r>
              <a:rPr spc="-35" dirty="0"/>
              <a:t> </a:t>
            </a:r>
            <a:r>
              <a:rPr dirty="0"/>
              <a:t>exclusion:</a:t>
            </a:r>
            <a:r>
              <a:rPr spc="35" dirty="0"/>
              <a:t> </a:t>
            </a:r>
            <a:r>
              <a:rPr dirty="0"/>
              <a:t>Ricart</a:t>
            </a:r>
            <a:r>
              <a:rPr spc="-30" dirty="0"/>
              <a:t> </a:t>
            </a:r>
            <a:r>
              <a:rPr dirty="0"/>
              <a:t>&amp;</a:t>
            </a:r>
            <a:r>
              <a:rPr spc="-35" dirty="0"/>
              <a:t> </a:t>
            </a:r>
            <a:r>
              <a:rPr spc="-10" dirty="0"/>
              <a:t>Agrawala</a:t>
            </a:r>
          </a:p>
        </p:txBody>
      </p:sp>
      <p:sp>
        <p:nvSpPr>
          <p:cNvPr id="4" name="object 4"/>
          <p:cNvSpPr txBox="1"/>
          <p:nvPr/>
        </p:nvSpPr>
        <p:spPr>
          <a:xfrm>
            <a:off x="330682" y="470520"/>
            <a:ext cx="3909060" cy="1111885"/>
          </a:xfrm>
          <a:prstGeom prst="rect">
            <a:avLst/>
          </a:prstGeom>
        </p:spPr>
        <p:txBody>
          <a:bodyPr vert="horz" wrap="square" lIns="0" tIns="56515" rIns="0" bIns="0" rtlCol="0">
            <a:spAutoFit/>
          </a:bodyPr>
          <a:lstStyle/>
          <a:p>
            <a:pPr marL="25400">
              <a:lnSpc>
                <a:spcPct val="100000"/>
              </a:lnSpc>
              <a:spcBef>
                <a:spcPts val="445"/>
              </a:spcBef>
            </a:pPr>
            <a:r>
              <a:rPr sz="1000" dirty="0">
                <a:solidFill>
                  <a:srgbClr val="3333B2"/>
                </a:solidFill>
                <a:latin typeface="Arial"/>
                <a:cs typeface="Arial"/>
              </a:rPr>
              <a:t>The</a:t>
            </a:r>
            <a:r>
              <a:rPr sz="1000" spc="-20" dirty="0">
                <a:solidFill>
                  <a:srgbClr val="3333B2"/>
                </a:solidFill>
                <a:latin typeface="Arial"/>
                <a:cs typeface="Arial"/>
              </a:rPr>
              <a:t> </a:t>
            </a:r>
            <a:r>
              <a:rPr sz="1000" dirty="0">
                <a:solidFill>
                  <a:srgbClr val="3333B2"/>
                </a:solidFill>
                <a:latin typeface="Arial"/>
                <a:cs typeface="Arial"/>
              </a:rPr>
              <a:t>same</a:t>
            </a:r>
            <a:r>
              <a:rPr sz="1000" spc="-20" dirty="0">
                <a:solidFill>
                  <a:srgbClr val="3333B2"/>
                </a:solidFill>
                <a:latin typeface="Arial"/>
                <a:cs typeface="Arial"/>
              </a:rPr>
              <a:t> </a:t>
            </a:r>
            <a:r>
              <a:rPr sz="1000" dirty="0">
                <a:solidFill>
                  <a:srgbClr val="3333B2"/>
                </a:solidFill>
                <a:latin typeface="Arial"/>
                <a:cs typeface="Arial"/>
              </a:rPr>
              <a:t>as</a:t>
            </a:r>
            <a:r>
              <a:rPr sz="1000" spc="-20" dirty="0">
                <a:solidFill>
                  <a:srgbClr val="3333B2"/>
                </a:solidFill>
                <a:latin typeface="Arial"/>
                <a:cs typeface="Arial"/>
              </a:rPr>
              <a:t> </a:t>
            </a:r>
            <a:r>
              <a:rPr sz="1000" dirty="0">
                <a:solidFill>
                  <a:srgbClr val="3333B2"/>
                </a:solidFill>
                <a:latin typeface="Arial"/>
                <a:cs typeface="Arial"/>
              </a:rPr>
              <a:t>Lamport</a:t>
            </a:r>
            <a:r>
              <a:rPr sz="1000" spc="-15" dirty="0">
                <a:solidFill>
                  <a:srgbClr val="3333B2"/>
                </a:solidFill>
                <a:latin typeface="Arial"/>
                <a:cs typeface="Arial"/>
              </a:rPr>
              <a:t> </a:t>
            </a:r>
            <a:r>
              <a:rPr sz="1000" dirty="0">
                <a:solidFill>
                  <a:srgbClr val="3333B2"/>
                </a:solidFill>
                <a:latin typeface="Arial"/>
                <a:cs typeface="Arial"/>
              </a:rPr>
              <a:t>except</a:t>
            </a:r>
            <a:r>
              <a:rPr sz="1000" spc="-20" dirty="0">
                <a:solidFill>
                  <a:srgbClr val="3333B2"/>
                </a:solidFill>
                <a:latin typeface="Arial"/>
                <a:cs typeface="Arial"/>
              </a:rPr>
              <a:t> </a:t>
            </a:r>
            <a:r>
              <a:rPr sz="1000" dirty="0">
                <a:solidFill>
                  <a:srgbClr val="3333B2"/>
                </a:solidFill>
                <a:latin typeface="Arial"/>
                <a:cs typeface="Arial"/>
              </a:rPr>
              <a:t>that</a:t>
            </a:r>
            <a:r>
              <a:rPr sz="1000" spc="-20" dirty="0">
                <a:solidFill>
                  <a:srgbClr val="3333B2"/>
                </a:solidFill>
                <a:latin typeface="Arial"/>
                <a:cs typeface="Arial"/>
              </a:rPr>
              <a:t> </a:t>
            </a:r>
            <a:r>
              <a:rPr sz="1000" spc="-10" dirty="0">
                <a:solidFill>
                  <a:srgbClr val="3333B2"/>
                </a:solidFill>
                <a:latin typeface="Arial"/>
                <a:cs typeface="Arial"/>
              </a:rPr>
              <a:t>acknowledgments</a:t>
            </a:r>
            <a:r>
              <a:rPr sz="1000" spc="-20" dirty="0">
                <a:solidFill>
                  <a:srgbClr val="3333B2"/>
                </a:solidFill>
                <a:latin typeface="Arial"/>
                <a:cs typeface="Arial"/>
              </a:rPr>
              <a:t> </a:t>
            </a:r>
            <a:r>
              <a:rPr sz="1000" dirty="0">
                <a:solidFill>
                  <a:srgbClr val="3333B2"/>
                </a:solidFill>
                <a:latin typeface="Arial"/>
                <a:cs typeface="Arial"/>
              </a:rPr>
              <a:t>are</a:t>
            </a:r>
            <a:r>
              <a:rPr sz="1000" spc="-15" dirty="0">
                <a:solidFill>
                  <a:srgbClr val="3333B2"/>
                </a:solidFill>
                <a:latin typeface="Arial"/>
                <a:cs typeface="Arial"/>
              </a:rPr>
              <a:t> </a:t>
            </a:r>
            <a:r>
              <a:rPr sz="1000" dirty="0">
                <a:solidFill>
                  <a:srgbClr val="3333B2"/>
                </a:solidFill>
                <a:latin typeface="Arial"/>
                <a:cs typeface="Arial"/>
              </a:rPr>
              <a:t>not</a:t>
            </a:r>
            <a:r>
              <a:rPr sz="1000" spc="-20" dirty="0">
                <a:solidFill>
                  <a:srgbClr val="3333B2"/>
                </a:solidFill>
                <a:latin typeface="Arial"/>
                <a:cs typeface="Arial"/>
              </a:rPr>
              <a:t> sent</a:t>
            </a:r>
            <a:endParaRPr sz="1000">
              <a:latin typeface="Arial"/>
              <a:cs typeface="Arial"/>
            </a:endParaRPr>
          </a:p>
          <a:p>
            <a:pPr marL="29209">
              <a:lnSpc>
                <a:spcPct val="100000"/>
              </a:lnSpc>
              <a:spcBef>
                <a:spcPts val="309"/>
              </a:spcBef>
            </a:pPr>
            <a:r>
              <a:rPr sz="900" dirty="0">
                <a:latin typeface="Arial"/>
                <a:cs typeface="Arial"/>
              </a:rPr>
              <a:t>Return</a:t>
            </a:r>
            <a:r>
              <a:rPr sz="900" spc="-25" dirty="0">
                <a:latin typeface="Arial"/>
                <a:cs typeface="Arial"/>
              </a:rPr>
              <a:t> </a:t>
            </a:r>
            <a:r>
              <a:rPr sz="900" dirty="0">
                <a:latin typeface="Arial"/>
                <a:cs typeface="Arial"/>
              </a:rPr>
              <a:t>a</a:t>
            </a:r>
            <a:r>
              <a:rPr sz="900" spc="-20" dirty="0">
                <a:latin typeface="Arial"/>
                <a:cs typeface="Arial"/>
              </a:rPr>
              <a:t> </a:t>
            </a:r>
            <a:r>
              <a:rPr sz="900" dirty="0">
                <a:latin typeface="Arial"/>
                <a:cs typeface="Arial"/>
              </a:rPr>
              <a:t>response</a:t>
            </a:r>
            <a:r>
              <a:rPr sz="900" spc="-20" dirty="0">
                <a:latin typeface="Arial"/>
                <a:cs typeface="Arial"/>
              </a:rPr>
              <a:t> </a:t>
            </a:r>
            <a:r>
              <a:rPr sz="900" dirty="0">
                <a:latin typeface="Arial"/>
                <a:cs typeface="Arial"/>
              </a:rPr>
              <a:t>to</a:t>
            </a:r>
            <a:r>
              <a:rPr sz="900" spc="-20" dirty="0">
                <a:latin typeface="Arial"/>
                <a:cs typeface="Arial"/>
              </a:rPr>
              <a:t> </a:t>
            </a:r>
            <a:r>
              <a:rPr sz="900" dirty="0">
                <a:latin typeface="Arial"/>
                <a:cs typeface="Arial"/>
              </a:rPr>
              <a:t>a</a:t>
            </a:r>
            <a:r>
              <a:rPr sz="900" spc="-20" dirty="0">
                <a:latin typeface="Arial"/>
                <a:cs typeface="Arial"/>
              </a:rPr>
              <a:t> </a:t>
            </a:r>
            <a:r>
              <a:rPr sz="900" dirty="0">
                <a:latin typeface="Arial"/>
                <a:cs typeface="Arial"/>
              </a:rPr>
              <a:t>request</a:t>
            </a:r>
            <a:r>
              <a:rPr sz="900" spc="-20" dirty="0">
                <a:latin typeface="Arial"/>
                <a:cs typeface="Arial"/>
              </a:rPr>
              <a:t> </a:t>
            </a:r>
            <a:r>
              <a:rPr sz="900" dirty="0">
                <a:latin typeface="Arial"/>
                <a:cs typeface="Arial"/>
              </a:rPr>
              <a:t>only</a:t>
            </a:r>
            <a:r>
              <a:rPr sz="900" spc="-20" dirty="0">
                <a:latin typeface="Arial"/>
                <a:cs typeface="Arial"/>
              </a:rPr>
              <a:t> </a:t>
            </a:r>
            <a:r>
              <a:rPr sz="900" spc="-10" dirty="0">
                <a:latin typeface="Arial"/>
                <a:cs typeface="Arial"/>
              </a:rPr>
              <a:t>when:</a:t>
            </a:r>
            <a:endParaRPr sz="900">
              <a:latin typeface="Arial"/>
              <a:cs typeface="Arial"/>
            </a:endParaRPr>
          </a:p>
          <a:p>
            <a:pPr marL="278765" indent="-117475">
              <a:lnSpc>
                <a:spcPct val="100000"/>
              </a:lnSpc>
              <a:spcBef>
                <a:spcPts val="520"/>
              </a:spcBef>
              <a:buClr>
                <a:srgbClr val="3333B2"/>
              </a:buClr>
              <a:buFont typeface="Menlo"/>
              <a:buChar char="•"/>
              <a:tabLst>
                <a:tab pos="279400" algn="l"/>
              </a:tabLst>
            </a:pPr>
            <a:r>
              <a:rPr sz="900" dirty="0">
                <a:latin typeface="Arial"/>
                <a:cs typeface="Arial"/>
              </a:rPr>
              <a:t>The</a:t>
            </a:r>
            <a:r>
              <a:rPr sz="900" spc="-30" dirty="0">
                <a:latin typeface="Arial"/>
                <a:cs typeface="Arial"/>
              </a:rPr>
              <a:t> </a:t>
            </a:r>
            <a:r>
              <a:rPr sz="900" dirty="0">
                <a:latin typeface="Arial"/>
                <a:cs typeface="Arial"/>
              </a:rPr>
              <a:t>receiving</a:t>
            </a:r>
            <a:r>
              <a:rPr sz="900" spc="-25" dirty="0">
                <a:latin typeface="Arial"/>
                <a:cs typeface="Arial"/>
              </a:rPr>
              <a:t> </a:t>
            </a:r>
            <a:r>
              <a:rPr sz="900" dirty="0">
                <a:latin typeface="Arial"/>
                <a:cs typeface="Arial"/>
              </a:rPr>
              <a:t>process</a:t>
            </a:r>
            <a:r>
              <a:rPr sz="900" spc="-30" dirty="0">
                <a:latin typeface="Arial"/>
                <a:cs typeface="Arial"/>
              </a:rPr>
              <a:t> </a:t>
            </a:r>
            <a:r>
              <a:rPr sz="900" dirty="0">
                <a:latin typeface="Arial"/>
                <a:cs typeface="Arial"/>
              </a:rPr>
              <a:t>has</a:t>
            </a:r>
            <a:r>
              <a:rPr sz="900" spc="-25" dirty="0">
                <a:latin typeface="Arial"/>
                <a:cs typeface="Arial"/>
              </a:rPr>
              <a:t> </a:t>
            </a:r>
            <a:r>
              <a:rPr sz="900" dirty="0">
                <a:latin typeface="Arial"/>
                <a:cs typeface="Arial"/>
              </a:rPr>
              <a:t>no</a:t>
            </a:r>
            <a:r>
              <a:rPr sz="900" spc="-30" dirty="0">
                <a:latin typeface="Arial"/>
                <a:cs typeface="Arial"/>
              </a:rPr>
              <a:t> </a:t>
            </a:r>
            <a:r>
              <a:rPr sz="900" dirty="0">
                <a:latin typeface="Arial"/>
                <a:cs typeface="Arial"/>
              </a:rPr>
              <a:t>interest</a:t>
            </a:r>
            <a:r>
              <a:rPr sz="900" spc="-25" dirty="0">
                <a:latin typeface="Arial"/>
                <a:cs typeface="Arial"/>
              </a:rPr>
              <a:t> </a:t>
            </a:r>
            <a:r>
              <a:rPr sz="900" dirty="0">
                <a:latin typeface="Arial"/>
                <a:cs typeface="Arial"/>
              </a:rPr>
              <a:t>in</a:t>
            </a:r>
            <a:r>
              <a:rPr sz="900" spc="-30" dirty="0">
                <a:latin typeface="Arial"/>
                <a:cs typeface="Arial"/>
              </a:rPr>
              <a:t> </a:t>
            </a:r>
            <a:r>
              <a:rPr sz="900" dirty="0">
                <a:latin typeface="Arial"/>
                <a:cs typeface="Arial"/>
              </a:rPr>
              <a:t>the</a:t>
            </a:r>
            <a:r>
              <a:rPr sz="900" spc="-25" dirty="0">
                <a:latin typeface="Arial"/>
                <a:cs typeface="Arial"/>
              </a:rPr>
              <a:t> </a:t>
            </a:r>
            <a:r>
              <a:rPr sz="900" dirty="0">
                <a:latin typeface="Arial"/>
                <a:cs typeface="Arial"/>
              </a:rPr>
              <a:t>shared</a:t>
            </a:r>
            <a:r>
              <a:rPr sz="900" spc="-25" dirty="0">
                <a:latin typeface="Arial"/>
                <a:cs typeface="Arial"/>
              </a:rPr>
              <a:t> </a:t>
            </a:r>
            <a:r>
              <a:rPr sz="900" dirty="0">
                <a:latin typeface="Arial"/>
                <a:cs typeface="Arial"/>
              </a:rPr>
              <a:t>resource;</a:t>
            </a:r>
            <a:r>
              <a:rPr sz="900" spc="-30" dirty="0">
                <a:latin typeface="Arial"/>
                <a:cs typeface="Arial"/>
              </a:rPr>
              <a:t> </a:t>
            </a:r>
            <a:r>
              <a:rPr sz="900" spc="-25" dirty="0">
                <a:latin typeface="Arial"/>
                <a:cs typeface="Arial"/>
              </a:rPr>
              <a:t>or</a:t>
            </a:r>
            <a:endParaRPr sz="900">
              <a:latin typeface="Arial"/>
              <a:cs typeface="Arial"/>
            </a:endParaRPr>
          </a:p>
          <a:p>
            <a:pPr marL="278130" marR="73660" indent="-116839">
              <a:lnSpc>
                <a:spcPct val="111600"/>
              </a:lnSpc>
              <a:buClr>
                <a:srgbClr val="3333B2"/>
              </a:buClr>
              <a:buFont typeface="Menlo"/>
              <a:buChar char="•"/>
              <a:tabLst>
                <a:tab pos="279400" algn="l"/>
              </a:tabLst>
            </a:pPr>
            <a:r>
              <a:rPr sz="900" dirty="0">
                <a:latin typeface="Arial"/>
                <a:cs typeface="Arial"/>
              </a:rPr>
              <a:t>The</a:t>
            </a:r>
            <a:r>
              <a:rPr sz="900" spc="-40" dirty="0">
                <a:latin typeface="Arial"/>
                <a:cs typeface="Arial"/>
              </a:rPr>
              <a:t> </a:t>
            </a:r>
            <a:r>
              <a:rPr sz="900" dirty="0">
                <a:latin typeface="Arial"/>
                <a:cs typeface="Arial"/>
              </a:rPr>
              <a:t>receiving</a:t>
            </a:r>
            <a:r>
              <a:rPr sz="900" spc="-35" dirty="0">
                <a:latin typeface="Arial"/>
                <a:cs typeface="Arial"/>
              </a:rPr>
              <a:t> </a:t>
            </a:r>
            <a:r>
              <a:rPr sz="900" dirty="0">
                <a:latin typeface="Arial"/>
                <a:cs typeface="Arial"/>
              </a:rPr>
              <a:t>process</a:t>
            </a:r>
            <a:r>
              <a:rPr sz="900" spc="-35" dirty="0">
                <a:latin typeface="Arial"/>
                <a:cs typeface="Arial"/>
              </a:rPr>
              <a:t> </a:t>
            </a:r>
            <a:r>
              <a:rPr sz="900" dirty="0">
                <a:latin typeface="Arial"/>
                <a:cs typeface="Arial"/>
              </a:rPr>
              <a:t>is</a:t>
            </a:r>
            <a:r>
              <a:rPr sz="900" spc="-35" dirty="0">
                <a:latin typeface="Arial"/>
                <a:cs typeface="Arial"/>
              </a:rPr>
              <a:t> </a:t>
            </a:r>
            <a:r>
              <a:rPr sz="900" dirty="0">
                <a:latin typeface="Arial"/>
                <a:cs typeface="Arial"/>
              </a:rPr>
              <a:t>waiting</a:t>
            </a:r>
            <a:r>
              <a:rPr sz="900" spc="-35" dirty="0">
                <a:latin typeface="Arial"/>
                <a:cs typeface="Arial"/>
              </a:rPr>
              <a:t> </a:t>
            </a:r>
            <a:r>
              <a:rPr sz="900" dirty="0">
                <a:latin typeface="Arial"/>
                <a:cs typeface="Arial"/>
              </a:rPr>
              <a:t>for</a:t>
            </a:r>
            <a:r>
              <a:rPr sz="900" spc="-35" dirty="0">
                <a:latin typeface="Arial"/>
                <a:cs typeface="Arial"/>
              </a:rPr>
              <a:t> </a:t>
            </a:r>
            <a:r>
              <a:rPr sz="900" dirty="0">
                <a:latin typeface="Arial"/>
                <a:cs typeface="Arial"/>
              </a:rPr>
              <a:t>the</a:t>
            </a:r>
            <a:r>
              <a:rPr sz="900" spc="-35" dirty="0">
                <a:latin typeface="Arial"/>
                <a:cs typeface="Arial"/>
              </a:rPr>
              <a:t> </a:t>
            </a:r>
            <a:r>
              <a:rPr sz="900" dirty="0">
                <a:latin typeface="Arial"/>
                <a:cs typeface="Arial"/>
              </a:rPr>
              <a:t>resource,</a:t>
            </a:r>
            <a:r>
              <a:rPr sz="900" spc="-35" dirty="0">
                <a:latin typeface="Arial"/>
                <a:cs typeface="Arial"/>
              </a:rPr>
              <a:t> </a:t>
            </a:r>
            <a:r>
              <a:rPr sz="900" dirty="0">
                <a:latin typeface="Arial"/>
                <a:cs typeface="Arial"/>
              </a:rPr>
              <a:t>but</a:t>
            </a:r>
            <a:r>
              <a:rPr sz="900" spc="-35" dirty="0">
                <a:latin typeface="Arial"/>
                <a:cs typeface="Arial"/>
              </a:rPr>
              <a:t> </a:t>
            </a:r>
            <a:r>
              <a:rPr sz="900" dirty="0">
                <a:latin typeface="Arial"/>
                <a:cs typeface="Arial"/>
              </a:rPr>
              <a:t>has</a:t>
            </a:r>
            <a:r>
              <a:rPr sz="900" spc="-35" dirty="0">
                <a:latin typeface="Arial"/>
                <a:cs typeface="Arial"/>
              </a:rPr>
              <a:t> </a:t>
            </a:r>
            <a:r>
              <a:rPr sz="900" dirty="0">
                <a:latin typeface="Arial"/>
                <a:cs typeface="Arial"/>
              </a:rPr>
              <a:t>lower</a:t>
            </a:r>
            <a:r>
              <a:rPr sz="900" spc="-35" dirty="0">
                <a:latin typeface="Arial"/>
                <a:cs typeface="Arial"/>
              </a:rPr>
              <a:t> </a:t>
            </a:r>
            <a:r>
              <a:rPr sz="900" spc="-10" dirty="0">
                <a:latin typeface="Arial"/>
                <a:cs typeface="Arial"/>
              </a:rPr>
              <a:t>priority </a:t>
            </a:r>
            <a:r>
              <a:rPr sz="900" dirty="0">
                <a:latin typeface="Arial"/>
                <a:cs typeface="Arial"/>
              </a:rPr>
              <a:t>(known</a:t>
            </a:r>
            <a:r>
              <a:rPr sz="900" spc="-35" dirty="0">
                <a:latin typeface="Arial"/>
                <a:cs typeface="Arial"/>
              </a:rPr>
              <a:t> </a:t>
            </a:r>
            <a:r>
              <a:rPr sz="900" dirty="0">
                <a:latin typeface="Arial"/>
                <a:cs typeface="Arial"/>
              </a:rPr>
              <a:t>through</a:t>
            </a:r>
            <a:r>
              <a:rPr sz="900" spc="-35" dirty="0">
                <a:latin typeface="Arial"/>
                <a:cs typeface="Arial"/>
              </a:rPr>
              <a:t> </a:t>
            </a:r>
            <a:r>
              <a:rPr sz="900" dirty="0">
                <a:latin typeface="Arial"/>
                <a:cs typeface="Arial"/>
              </a:rPr>
              <a:t>comparison</a:t>
            </a:r>
            <a:r>
              <a:rPr sz="900" spc="-35" dirty="0">
                <a:latin typeface="Arial"/>
                <a:cs typeface="Arial"/>
              </a:rPr>
              <a:t> </a:t>
            </a:r>
            <a:r>
              <a:rPr sz="900" dirty="0">
                <a:latin typeface="Arial"/>
                <a:cs typeface="Arial"/>
              </a:rPr>
              <a:t>of</a:t>
            </a:r>
            <a:r>
              <a:rPr sz="900" spc="-35" dirty="0">
                <a:latin typeface="Arial"/>
                <a:cs typeface="Arial"/>
              </a:rPr>
              <a:t> </a:t>
            </a:r>
            <a:r>
              <a:rPr sz="900" spc="-10" dirty="0">
                <a:latin typeface="Arial"/>
                <a:cs typeface="Arial"/>
              </a:rPr>
              <a:t>timestamps).</a:t>
            </a:r>
            <a:endParaRPr sz="900">
              <a:latin typeface="Arial"/>
              <a:cs typeface="Arial"/>
            </a:endParaRPr>
          </a:p>
          <a:p>
            <a:pPr marL="29209">
              <a:lnSpc>
                <a:spcPct val="100000"/>
              </a:lnSpc>
              <a:spcBef>
                <a:spcPts val="525"/>
              </a:spcBef>
            </a:pPr>
            <a:r>
              <a:rPr sz="900" dirty="0">
                <a:latin typeface="Arial"/>
                <a:cs typeface="Arial"/>
              </a:rPr>
              <a:t>In</a:t>
            </a:r>
            <a:r>
              <a:rPr sz="900" spc="-25" dirty="0">
                <a:latin typeface="Arial"/>
                <a:cs typeface="Arial"/>
              </a:rPr>
              <a:t> </a:t>
            </a:r>
            <a:r>
              <a:rPr sz="900" dirty="0">
                <a:latin typeface="Arial"/>
                <a:cs typeface="Arial"/>
              </a:rPr>
              <a:t>all</a:t>
            </a:r>
            <a:r>
              <a:rPr sz="900" spc="-20" dirty="0">
                <a:latin typeface="Arial"/>
                <a:cs typeface="Arial"/>
              </a:rPr>
              <a:t> </a:t>
            </a:r>
            <a:r>
              <a:rPr sz="900" dirty="0">
                <a:latin typeface="Arial"/>
                <a:cs typeface="Arial"/>
              </a:rPr>
              <a:t>other</a:t>
            </a:r>
            <a:r>
              <a:rPr sz="900" spc="-20" dirty="0">
                <a:latin typeface="Arial"/>
                <a:cs typeface="Arial"/>
              </a:rPr>
              <a:t> </a:t>
            </a:r>
            <a:r>
              <a:rPr sz="900" dirty="0">
                <a:latin typeface="Arial"/>
                <a:cs typeface="Arial"/>
              </a:rPr>
              <a:t>cases,</a:t>
            </a:r>
            <a:r>
              <a:rPr sz="900" spc="-20" dirty="0">
                <a:latin typeface="Arial"/>
                <a:cs typeface="Arial"/>
              </a:rPr>
              <a:t> </a:t>
            </a:r>
            <a:r>
              <a:rPr sz="900" dirty="0">
                <a:latin typeface="Arial"/>
                <a:cs typeface="Arial"/>
              </a:rPr>
              <a:t>reply</a:t>
            </a:r>
            <a:r>
              <a:rPr sz="900" spc="-20" dirty="0">
                <a:latin typeface="Arial"/>
                <a:cs typeface="Arial"/>
              </a:rPr>
              <a:t> </a:t>
            </a:r>
            <a:r>
              <a:rPr sz="900" dirty="0">
                <a:latin typeface="Arial"/>
                <a:cs typeface="Arial"/>
              </a:rPr>
              <a:t>is</a:t>
            </a:r>
            <a:r>
              <a:rPr sz="900" spc="-20" dirty="0">
                <a:latin typeface="Arial"/>
                <a:cs typeface="Arial"/>
              </a:rPr>
              <a:t> </a:t>
            </a:r>
            <a:r>
              <a:rPr sz="900" spc="-10" dirty="0">
                <a:solidFill>
                  <a:srgbClr val="3333B2"/>
                </a:solidFill>
                <a:latin typeface="Arial"/>
                <a:cs typeface="Arial"/>
              </a:rPr>
              <a:t>deferred</a:t>
            </a:r>
            <a:r>
              <a:rPr sz="900" spc="-10" dirty="0">
                <a:latin typeface="Arial"/>
                <a:cs typeface="Arial"/>
              </a:rPr>
              <a:t>,</a:t>
            </a:r>
            <a:r>
              <a:rPr sz="900" spc="-25" dirty="0">
                <a:latin typeface="Arial"/>
                <a:cs typeface="Arial"/>
              </a:rPr>
              <a:t> </a:t>
            </a:r>
            <a:r>
              <a:rPr sz="900" dirty="0">
                <a:latin typeface="Arial"/>
                <a:cs typeface="Arial"/>
              </a:rPr>
              <a:t>implying</a:t>
            </a:r>
            <a:r>
              <a:rPr sz="900" spc="-20" dirty="0">
                <a:latin typeface="Arial"/>
                <a:cs typeface="Arial"/>
              </a:rPr>
              <a:t> </a:t>
            </a:r>
            <a:r>
              <a:rPr sz="900" dirty="0">
                <a:latin typeface="Arial"/>
                <a:cs typeface="Arial"/>
              </a:rPr>
              <a:t>some</a:t>
            </a:r>
            <a:r>
              <a:rPr sz="900" spc="-20" dirty="0">
                <a:latin typeface="Arial"/>
                <a:cs typeface="Arial"/>
              </a:rPr>
              <a:t> </a:t>
            </a:r>
            <a:r>
              <a:rPr sz="900" dirty="0">
                <a:latin typeface="Arial"/>
                <a:cs typeface="Arial"/>
              </a:rPr>
              <a:t>more</a:t>
            </a:r>
            <a:r>
              <a:rPr sz="900" spc="-20" dirty="0">
                <a:latin typeface="Arial"/>
                <a:cs typeface="Arial"/>
              </a:rPr>
              <a:t> </a:t>
            </a:r>
            <a:r>
              <a:rPr sz="900" dirty="0">
                <a:latin typeface="Arial"/>
                <a:cs typeface="Arial"/>
              </a:rPr>
              <a:t>local</a:t>
            </a:r>
            <a:r>
              <a:rPr sz="900" spc="-20" dirty="0">
                <a:latin typeface="Arial"/>
                <a:cs typeface="Arial"/>
              </a:rPr>
              <a:t> </a:t>
            </a:r>
            <a:r>
              <a:rPr sz="900" spc="-10" dirty="0">
                <a:latin typeface="Arial"/>
                <a:cs typeface="Arial"/>
              </a:rPr>
              <a:t>administration.</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65595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A</a:t>
            </a:r>
            <a:r>
              <a:rPr sz="500" spc="-25" dirty="0">
                <a:latin typeface="Arial"/>
                <a:cs typeface="Arial"/>
                <a:hlinkClick r:id="rId4" action="ppaction://hlinksldjump"/>
              </a:rPr>
              <a:t> </a:t>
            </a:r>
            <a:r>
              <a:rPr sz="500" dirty="0">
                <a:latin typeface="Arial"/>
                <a:cs typeface="Arial"/>
                <a:hlinkClick r:id="rId4" action="ppaction://hlinksldjump"/>
              </a:rPr>
              <a:t>distributed</a:t>
            </a:r>
            <a:r>
              <a:rPr sz="500" spc="-20" dirty="0">
                <a:latin typeface="Arial"/>
                <a:cs typeface="Arial"/>
                <a:hlinkClick r:id="rId4" action="ppaction://hlinksldjump"/>
              </a:rPr>
              <a:t> </a:t>
            </a:r>
            <a:r>
              <a:rPr sz="500" spc="-10" dirty="0">
                <a:latin typeface="Arial"/>
                <a:cs typeface="Arial"/>
                <a:hlinkClick r:id="rId4" action="ppaction://hlinksldjump"/>
              </a:rPr>
              <a:t>algorithm</a:t>
            </a:r>
            <a:endParaRPr sz="500">
              <a:latin typeface="Arial"/>
              <a:cs typeface="Arial"/>
            </a:endParaRPr>
          </a:p>
        </p:txBody>
      </p:sp>
    </p:spTree>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8417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Coordination</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059910" y="-1515"/>
            <a:ext cx="49466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Mutual</a:t>
            </a:r>
            <a:r>
              <a:rPr sz="500" spc="-30"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exclusion</a:t>
            </a:r>
            <a:endParaRPr sz="500">
              <a:latin typeface="Arial"/>
              <a:cs typeface="Arial"/>
            </a:endParaRPr>
          </a:p>
        </p:txBody>
      </p:sp>
      <p:sp>
        <p:nvSpPr>
          <p:cNvPr id="5" name="object 5"/>
          <p:cNvSpPr txBox="1"/>
          <p:nvPr/>
        </p:nvSpPr>
        <p:spPr>
          <a:xfrm>
            <a:off x="95300" y="197711"/>
            <a:ext cx="2458720" cy="49466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Mutual</a:t>
            </a:r>
            <a:r>
              <a:rPr sz="1200" spc="-35" dirty="0">
                <a:solidFill>
                  <a:srgbClr val="3333B2"/>
                </a:solidFill>
                <a:latin typeface="Arial"/>
                <a:cs typeface="Arial"/>
              </a:rPr>
              <a:t> </a:t>
            </a:r>
            <a:r>
              <a:rPr sz="1200" dirty="0">
                <a:solidFill>
                  <a:srgbClr val="3333B2"/>
                </a:solidFill>
                <a:latin typeface="Arial"/>
                <a:cs typeface="Arial"/>
              </a:rPr>
              <a:t>exclusion:</a:t>
            </a:r>
            <a:r>
              <a:rPr sz="1200" spc="35" dirty="0">
                <a:solidFill>
                  <a:srgbClr val="3333B2"/>
                </a:solidFill>
                <a:latin typeface="Arial"/>
                <a:cs typeface="Arial"/>
              </a:rPr>
              <a:t> </a:t>
            </a:r>
            <a:r>
              <a:rPr sz="1200" dirty="0">
                <a:solidFill>
                  <a:srgbClr val="3333B2"/>
                </a:solidFill>
                <a:latin typeface="Arial"/>
                <a:cs typeface="Arial"/>
              </a:rPr>
              <a:t>Ricart</a:t>
            </a:r>
            <a:r>
              <a:rPr sz="1200" spc="-30" dirty="0">
                <a:solidFill>
                  <a:srgbClr val="3333B2"/>
                </a:solidFill>
                <a:latin typeface="Arial"/>
                <a:cs typeface="Arial"/>
              </a:rPr>
              <a:t> </a:t>
            </a:r>
            <a:r>
              <a:rPr sz="1200" dirty="0">
                <a:solidFill>
                  <a:srgbClr val="3333B2"/>
                </a:solidFill>
                <a:latin typeface="Arial"/>
                <a:cs typeface="Arial"/>
              </a:rPr>
              <a:t>&amp;</a:t>
            </a:r>
            <a:r>
              <a:rPr sz="1200" spc="-35" dirty="0">
                <a:solidFill>
                  <a:srgbClr val="3333B2"/>
                </a:solidFill>
                <a:latin typeface="Arial"/>
                <a:cs typeface="Arial"/>
              </a:rPr>
              <a:t> </a:t>
            </a:r>
            <a:r>
              <a:rPr sz="1200" spc="-10" dirty="0">
                <a:solidFill>
                  <a:srgbClr val="3333B2"/>
                </a:solidFill>
                <a:latin typeface="Arial"/>
                <a:cs typeface="Arial"/>
              </a:rPr>
              <a:t>Agrawala</a:t>
            </a:r>
            <a:endParaRPr sz="1200">
              <a:latin typeface="Arial"/>
              <a:cs typeface="Arial"/>
            </a:endParaRPr>
          </a:p>
          <a:p>
            <a:pPr marL="264160">
              <a:lnSpc>
                <a:spcPct val="100000"/>
              </a:lnSpc>
              <a:spcBef>
                <a:spcPts val="1055"/>
              </a:spcBef>
            </a:pPr>
            <a:r>
              <a:rPr sz="1000" dirty="0">
                <a:solidFill>
                  <a:srgbClr val="3333B2"/>
                </a:solidFill>
                <a:latin typeface="Arial"/>
                <a:cs typeface="Arial"/>
              </a:rPr>
              <a:t>Example</a:t>
            </a:r>
            <a:r>
              <a:rPr sz="1000" spc="-35" dirty="0">
                <a:solidFill>
                  <a:srgbClr val="3333B2"/>
                </a:solidFill>
                <a:latin typeface="Arial"/>
                <a:cs typeface="Arial"/>
              </a:rPr>
              <a:t> </a:t>
            </a:r>
            <a:r>
              <a:rPr sz="1000" dirty="0">
                <a:solidFill>
                  <a:srgbClr val="3333B2"/>
                </a:solidFill>
                <a:latin typeface="Arial"/>
                <a:cs typeface="Arial"/>
              </a:rPr>
              <a:t>with</a:t>
            </a:r>
            <a:r>
              <a:rPr sz="1000" spc="-30" dirty="0">
                <a:solidFill>
                  <a:srgbClr val="3333B2"/>
                </a:solidFill>
                <a:latin typeface="Arial"/>
                <a:cs typeface="Arial"/>
              </a:rPr>
              <a:t> </a:t>
            </a:r>
            <a:r>
              <a:rPr sz="1000" dirty="0">
                <a:solidFill>
                  <a:srgbClr val="3333B2"/>
                </a:solidFill>
                <a:latin typeface="Arial"/>
                <a:cs typeface="Arial"/>
              </a:rPr>
              <a:t>three</a:t>
            </a:r>
            <a:r>
              <a:rPr sz="1000" spc="-30" dirty="0">
                <a:solidFill>
                  <a:srgbClr val="3333B2"/>
                </a:solidFill>
                <a:latin typeface="Arial"/>
                <a:cs typeface="Arial"/>
              </a:rPr>
              <a:t> </a:t>
            </a:r>
            <a:r>
              <a:rPr sz="1000" spc="-10" dirty="0">
                <a:solidFill>
                  <a:srgbClr val="3333B2"/>
                </a:solidFill>
                <a:latin typeface="Arial"/>
                <a:cs typeface="Arial"/>
              </a:rPr>
              <a:t>processes</a:t>
            </a:r>
            <a:endParaRPr sz="1000">
              <a:latin typeface="Arial"/>
              <a:cs typeface="Arial"/>
            </a:endParaRPr>
          </a:p>
        </p:txBody>
      </p:sp>
      <p:pic>
        <p:nvPicPr>
          <p:cNvPr id="6" name="object 6"/>
          <p:cNvPicPr/>
          <p:nvPr/>
        </p:nvPicPr>
        <p:blipFill>
          <a:blip r:embed="rId4" cstate="print"/>
          <a:stretch>
            <a:fillRect/>
          </a:stretch>
        </p:blipFill>
        <p:spPr>
          <a:xfrm>
            <a:off x="430970" y="895686"/>
            <a:ext cx="790970" cy="921742"/>
          </a:xfrm>
          <a:prstGeom prst="rect">
            <a:avLst/>
          </a:prstGeom>
        </p:spPr>
      </p:pic>
      <p:pic>
        <p:nvPicPr>
          <p:cNvPr id="7" name="object 7"/>
          <p:cNvPicPr/>
          <p:nvPr/>
        </p:nvPicPr>
        <p:blipFill>
          <a:blip r:embed="rId5" cstate="print"/>
          <a:stretch>
            <a:fillRect/>
          </a:stretch>
        </p:blipFill>
        <p:spPr>
          <a:xfrm>
            <a:off x="1768542" y="847639"/>
            <a:ext cx="696506" cy="807947"/>
          </a:xfrm>
          <a:prstGeom prst="rect">
            <a:avLst/>
          </a:prstGeom>
        </p:spPr>
      </p:pic>
      <p:pic>
        <p:nvPicPr>
          <p:cNvPr id="8" name="object 8"/>
          <p:cNvPicPr/>
          <p:nvPr/>
        </p:nvPicPr>
        <p:blipFill>
          <a:blip r:embed="rId6" cstate="print"/>
          <a:stretch>
            <a:fillRect/>
          </a:stretch>
        </p:blipFill>
        <p:spPr>
          <a:xfrm>
            <a:off x="3040746" y="1092931"/>
            <a:ext cx="1133746" cy="548746"/>
          </a:xfrm>
          <a:prstGeom prst="rect">
            <a:avLst/>
          </a:prstGeom>
        </p:spPr>
      </p:pic>
      <p:sp>
        <p:nvSpPr>
          <p:cNvPr id="9" name="object 9"/>
          <p:cNvSpPr txBox="1"/>
          <p:nvPr/>
        </p:nvSpPr>
        <p:spPr>
          <a:xfrm>
            <a:off x="359841" y="1882160"/>
            <a:ext cx="3961765" cy="771525"/>
          </a:xfrm>
          <a:prstGeom prst="rect">
            <a:avLst/>
          </a:prstGeom>
        </p:spPr>
        <p:txBody>
          <a:bodyPr vert="horz" wrap="square" lIns="0" tIns="12065" rIns="0" bIns="0" rtlCol="0">
            <a:spAutoFit/>
          </a:bodyPr>
          <a:lstStyle/>
          <a:p>
            <a:pPr marL="391160">
              <a:lnSpc>
                <a:spcPct val="100000"/>
              </a:lnSpc>
              <a:spcBef>
                <a:spcPts val="95"/>
              </a:spcBef>
              <a:tabLst>
                <a:tab pos="1700530" algn="l"/>
                <a:tab pos="3187065" algn="l"/>
              </a:tabLst>
            </a:pPr>
            <a:r>
              <a:rPr sz="900" spc="-25" dirty="0">
                <a:latin typeface="Arial"/>
                <a:cs typeface="Arial"/>
              </a:rPr>
              <a:t>(a)</a:t>
            </a:r>
            <a:r>
              <a:rPr sz="900" dirty="0">
                <a:latin typeface="Arial"/>
                <a:cs typeface="Arial"/>
              </a:rPr>
              <a:t>	</a:t>
            </a:r>
            <a:r>
              <a:rPr sz="900" spc="-25" dirty="0">
                <a:latin typeface="Arial"/>
                <a:cs typeface="Arial"/>
              </a:rPr>
              <a:t>(b)</a:t>
            </a:r>
            <a:r>
              <a:rPr sz="900" dirty="0">
                <a:latin typeface="Arial"/>
                <a:cs typeface="Arial"/>
              </a:rPr>
              <a:t>	</a:t>
            </a:r>
            <a:r>
              <a:rPr sz="900" spc="-25" dirty="0">
                <a:latin typeface="Arial"/>
                <a:cs typeface="Arial"/>
              </a:rPr>
              <a:t>(c)</a:t>
            </a:r>
            <a:endParaRPr sz="900">
              <a:latin typeface="Arial"/>
              <a:cs typeface="Arial"/>
            </a:endParaRPr>
          </a:p>
          <a:p>
            <a:pPr>
              <a:lnSpc>
                <a:spcPct val="100000"/>
              </a:lnSpc>
              <a:spcBef>
                <a:spcPts val="40"/>
              </a:spcBef>
            </a:pPr>
            <a:endParaRPr sz="1100">
              <a:latin typeface="Arial"/>
              <a:cs typeface="Arial"/>
            </a:endParaRPr>
          </a:p>
          <a:p>
            <a:pPr marL="249554" indent="-199390">
              <a:lnSpc>
                <a:spcPct val="100000"/>
              </a:lnSpc>
              <a:buClr>
                <a:srgbClr val="3333B2"/>
              </a:buClr>
              <a:buAutoNum type="alphaLcParenBoth"/>
              <a:tabLst>
                <a:tab pos="250190" algn="l"/>
              </a:tabLst>
            </a:pPr>
            <a:r>
              <a:rPr sz="900" spc="-45" dirty="0">
                <a:latin typeface="Arial"/>
                <a:cs typeface="Arial"/>
              </a:rPr>
              <a:t>Two</a:t>
            </a:r>
            <a:r>
              <a:rPr sz="900" spc="-20" dirty="0">
                <a:latin typeface="Arial"/>
                <a:cs typeface="Arial"/>
              </a:rPr>
              <a:t> </a:t>
            </a:r>
            <a:r>
              <a:rPr sz="900" dirty="0">
                <a:latin typeface="Arial"/>
                <a:cs typeface="Arial"/>
              </a:rPr>
              <a:t>processes</a:t>
            </a:r>
            <a:r>
              <a:rPr sz="900" spc="-35" dirty="0">
                <a:latin typeface="Arial"/>
                <a:cs typeface="Arial"/>
              </a:rPr>
              <a:t> </a:t>
            </a:r>
            <a:r>
              <a:rPr sz="900" dirty="0">
                <a:latin typeface="Arial"/>
                <a:cs typeface="Arial"/>
              </a:rPr>
              <a:t>want</a:t>
            </a:r>
            <a:r>
              <a:rPr sz="900" spc="-25"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access</a:t>
            </a:r>
            <a:r>
              <a:rPr sz="900" spc="-25" dirty="0">
                <a:latin typeface="Arial"/>
                <a:cs typeface="Arial"/>
              </a:rPr>
              <a:t> </a:t>
            </a:r>
            <a:r>
              <a:rPr sz="900" dirty="0">
                <a:latin typeface="Arial"/>
                <a:cs typeface="Arial"/>
              </a:rPr>
              <a:t>a</a:t>
            </a:r>
            <a:r>
              <a:rPr sz="900" spc="-25" dirty="0">
                <a:latin typeface="Arial"/>
                <a:cs typeface="Arial"/>
              </a:rPr>
              <a:t> </a:t>
            </a:r>
            <a:r>
              <a:rPr sz="900" dirty="0">
                <a:latin typeface="Arial"/>
                <a:cs typeface="Arial"/>
              </a:rPr>
              <a:t>shared</a:t>
            </a:r>
            <a:r>
              <a:rPr sz="900" spc="-25" dirty="0">
                <a:latin typeface="Arial"/>
                <a:cs typeface="Arial"/>
              </a:rPr>
              <a:t> </a:t>
            </a:r>
            <a:r>
              <a:rPr sz="900" dirty="0">
                <a:latin typeface="Arial"/>
                <a:cs typeface="Arial"/>
              </a:rPr>
              <a:t>resource</a:t>
            </a:r>
            <a:r>
              <a:rPr sz="900" spc="-25" dirty="0">
                <a:latin typeface="Arial"/>
                <a:cs typeface="Arial"/>
              </a:rPr>
              <a:t> </a:t>
            </a:r>
            <a:r>
              <a:rPr sz="900" dirty="0">
                <a:latin typeface="Arial"/>
                <a:cs typeface="Arial"/>
              </a:rPr>
              <a:t>at</a:t>
            </a:r>
            <a:r>
              <a:rPr sz="900" spc="-25" dirty="0">
                <a:latin typeface="Arial"/>
                <a:cs typeface="Arial"/>
              </a:rPr>
              <a:t> </a:t>
            </a:r>
            <a:r>
              <a:rPr sz="900" dirty="0">
                <a:latin typeface="Arial"/>
                <a:cs typeface="Arial"/>
              </a:rPr>
              <a:t>the</a:t>
            </a:r>
            <a:r>
              <a:rPr sz="900" spc="-25" dirty="0">
                <a:latin typeface="Arial"/>
                <a:cs typeface="Arial"/>
              </a:rPr>
              <a:t> </a:t>
            </a:r>
            <a:r>
              <a:rPr sz="900" dirty="0">
                <a:latin typeface="Arial"/>
                <a:cs typeface="Arial"/>
              </a:rPr>
              <a:t>same</a:t>
            </a:r>
            <a:r>
              <a:rPr sz="900" spc="-25" dirty="0">
                <a:latin typeface="Arial"/>
                <a:cs typeface="Arial"/>
              </a:rPr>
              <a:t> </a:t>
            </a:r>
            <a:r>
              <a:rPr sz="900" spc="-10" dirty="0">
                <a:latin typeface="Arial"/>
                <a:cs typeface="Arial"/>
              </a:rPr>
              <a:t>moment.</a:t>
            </a:r>
            <a:endParaRPr sz="900">
              <a:latin typeface="Arial"/>
              <a:cs typeface="Arial"/>
            </a:endParaRPr>
          </a:p>
          <a:p>
            <a:pPr marL="252729" indent="-202565">
              <a:lnSpc>
                <a:spcPct val="100000"/>
              </a:lnSpc>
              <a:spcBef>
                <a:spcPts val="125"/>
              </a:spcBef>
              <a:buClr>
                <a:srgbClr val="3333B2"/>
              </a:buClr>
              <a:buFont typeface="Arial"/>
              <a:buAutoNum type="alphaLcParenBoth"/>
              <a:tabLst>
                <a:tab pos="253365" algn="l"/>
              </a:tabLst>
            </a:pPr>
            <a:r>
              <a:rPr sz="900" i="1" dirty="0">
                <a:latin typeface="Arial"/>
                <a:cs typeface="Arial"/>
              </a:rPr>
              <a:t>P</a:t>
            </a:r>
            <a:r>
              <a:rPr sz="1050" i="1" baseline="-15873" dirty="0">
                <a:latin typeface="Arial"/>
                <a:cs typeface="Arial"/>
              </a:rPr>
              <a:t>0</a:t>
            </a:r>
            <a:r>
              <a:rPr sz="1050" i="1" spc="172" baseline="-15873" dirty="0">
                <a:latin typeface="Arial"/>
                <a:cs typeface="Arial"/>
              </a:rPr>
              <a:t> </a:t>
            </a:r>
            <a:r>
              <a:rPr sz="900" dirty="0">
                <a:latin typeface="Arial"/>
                <a:cs typeface="Arial"/>
              </a:rPr>
              <a:t>has</a:t>
            </a:r>
            <a:r>
              <a:rPr sz="900" spc="-15" dirty="0">
                <a:latin typeface="Arial"/>
                <a:cs typeface="Arial"/>
              </a:rPr>
              <a:t> </a:t>
            </a:r>
            <a:r>
              <a:rPr sz="900" dirty="0">
                <a:latin typeface="Arial"/>
                <a:cs typeface="Arial"/>
              </a:rPr>
              <a:t>the</a:t>
            </a:r>
            <a:r>
              <a:rPr sz="900" spc="-15" dirty="0">
                <a:latin typeface="Arial"/>
                <a:cs typeface="Arial"/>
              </a:rPr>
              <a:t> </a:t>
            </a:r>
            <a:r>
              <a:rPr sz="900" dirty="0">
                <a:latin typeface="Arial"/>
                <a:cs typeface="Arial"/>
              </a:rPr>
              <a:t>lowest</a:t>
            </a:r>
            <a:r>
              <a:rPr sz="900" spc="-20" dirty="0">
                <a:latin typeface="Arial"/>
                <a:cs typeface="Arial"/>
              </a:rPr>
              <a:t> </a:t>
            </a:r>
            <a:r>
              <a:rPr sz="900" spc="-10" dirty="0">
                <a:latin typeface="Arial"/>
                <a:cs typeface="Arial"/>
              </a:rPr>
              <a:t>timestamp,</a:t>
            </a:r>
            <a:r>
              <a:rPr sz="900" spc="-15" dirty="0">
                <a:latin typeface="Arial"/>
                <a:cs typeface="Arial"/>
              </a:rPr>
              <a:t> </a:t>
            </a:r>
            <a:r>
              <a:rPr sz="900" dirty="0">
                <a:latin typeface="Arial"/>
                <a:cs typeface="Arial"/>
              </a:rPr>
              <a:t>so</a:t>
            </a:r>
            <a:r>
              <a:rPr sz="900" spc="-15" dirty="0">
                <a:latin typeface="Arial"/>
                <a:cs typeface="Arial"/>
              </a:rPr>
              <a:t> </a:t>
            </a:r>
            <a:r>
              <a:rPr sz="900" dirty="0">
                <a:latin typeface="Arial"/>
                <a:cs typeface="Arial"/>
              </a:rPr>
              <a:t>it</a:t>
            </a:r>
            <a:r>
              <a:rPr sz="900" spc="-20" dirty="0">
                <a:latin typeface="Arial"/>
                <a:cs typeface="Arial"/>
              </a:rPr>
              <a:t> </a:t>
            </a:r>
            <a:r>
              <a:rPr sz="900" spc="-10" dirty="0">
                <a:latin typeface="Arial"/>
                <a:cs typeface="Arial"/>
              </a:rPr>
              <a:t>wins.</a:t>
            </a:r>
            <a:endParaRPr sz="900">
              <a:latin typeface="Arial"/>
              <a:cs typeface="Arial"/>
            </a:endParaRPr>
          </a:p>
          <a:p>
            <a:pPr marL="247650" indent="-191135">
              <a:lnSpc>
                <a:spcPct val="100000"/>
              </a:lnSpc>
              <a:spcBef>
                <a:spcPts val="125"/>
              </a:spcBef>
              <a:buClr>
                <a:srgbClr val="3333B2"/>
              </a:buClr>
              <a:buAutoNum type="alphaLcParenBoth"/>
              <a:tabLst>
                <a:tab pos="248285" algn="l"/>
              </a:tabLst>
            </a:pPr>
            <a:r>
              <a:rPr sz="900" dirty="0">
                <a:latin typeface="Arial"/>
                <a:cs typeface="Arial"/>
              </a:rPr>
              <a:t>When</a:t>
            </a:r>
            <a:r>
              <a:rPr sz="900" spc="-30" dirty="0">
                <a:latin typeface="Arial"/>
                <a:cs typeface="Arial"/>
              </a:rPr>
              <a:t> </a:t>
            </a:r>
            <a:r>
              <a:rPr sz="900" spc="-10" dirty="0">
                <a:latin typeface="Arial"/>
                <a:cs typeface="Arial"/>
              </a:rPr>
              <a:t>process</a:t>
            </a:r>
            <a:r>
              <a:rPr sz="900" spc="-25" dirty="0">
                <a:latin typeface="Arial"/>
                <a:cs typeface="Arial"/>
              </a:rPr>
              <a:t> </a:t>
            </a:r>
            <a:r>
              <a:rPr sz="900" i="1" dirty="0">
                <a:latin typeface="Arial"/>
                <a:cs typeface="Arial"/>
              </a:rPr>
              <a:t>P</a:t>
            </a:r>
            <a:r>
              <a:rPr sz="1050" i="1" baseline="-15873" dirty="0">
                <a:latin typeface="Arial"/>
                <a:cs typeface="Arial"/>
              </a:rPr>
              <a:t>0</a:t>
            </a:r>
            <a:r>
              <a:rPr sz="1050" i="1" spc="165" baseline="-15873" dirty="0">
                <a:latin typeface="Arial"/>
                <a:cs typeface="Arial"/>
              </a:rPr>
              <a:t> </a:t>
            </a:r>
            <a:r>
              <a:rPr sz="900" dirty="0">
                <a:latin typeface="Arial"/>
                <a:cs typeface="Arial"/>
              </a:rPr>
              <a:t>is</a:t>
            </a:r>
            <a:r>
              <a:rPr sz="900" spc="-25" dirty="0">
                <a:latin typeface="Arial"/>
                <a:cs typeface="Arial"/>
              </a:rPr>
              <a:t> </a:t>
            </a:r>
            <a:r>
              <a:rPr sz="900" spc="-10" dirty="0">
                <a:latin typeface="Arial"/>
                <a:cs typeface="Arial"/>
              </a:rPr>
              <a:t>done,</a:t>
            </a:r>
            <a:r>
              <a:rPr sz="900" spc="-25" dirty="0">
                <a:latin typeface="Arial"/>
                <a:cs typeface="Arial"/>
              </a:rPr>
              <a:t> </a:t>
            </a:r>
            <a:r>
              <a:rPr sz="900" dirty="0">
                <a:latin typeface="Arial"/>
                <a:cs typeface="Arial"/>
              </a:rPr>
              <a:t>it</a:t>
            </a:r>
            <a:r>
              <a:rPr sz="900" spc="-25" dirty="0">
                <a:latin typeface="Arial"/>
                <a:cs typeface="Arial"/>
              </a:rPr>
              <a:t> </a:t>
            </a:r>
            <a:r>
              <a:rPr sz="900" dirty="0">
                <a:latin typeface="Arial"/>
                <a:cs typeface="Arial"/>
              </a:rPr>
              <a:t>sends</a:t>
            </a:r>
            <a:r>
              <a:rPr sz="900" spc="-25" dirty="0">
                <a:latin typeface="Arial"/>
                <a:cs typeface="Arial"/>
              </a:rPr>
              <a:t> </a:t>
            </a:r>
            <a:r>
              <a:rPr sz="900" dirty="0">
                <a:latin typeface="Arial"/>
                <a:cs typeface="Arial"/>
              </a:rPr>
              <a:t>an</a:t>
            </a:r>
            <a:r>
              <a:rPr sz="900" spc="-25" dirty="0">
                <a:latin typeface="Arial"/>
                <a:cs typeface="Arial"/>
              </a:rPr>
              <a:t> </a:t>
            </a:r>
            <a:r>
              <a:rPr sz="900" i="1" dirty="0">
                <a:latin typeface="Arial"/>
                <a:cs typeface="Arial"/>
              </a:rPr>
              <a:t>OK</a:t>
            </a:r>
            <a:r>
              <a:rPr sz="900" i="1" spc="95" dirty="0">
                <a:latin typeface="Arial"/>
                <a:cs typeface="Arial"/>
              </a:rPr>
              <a:t> </a:t>
            </a:r>
            <a:r>
              <a:rPr sz="900" spc="-10" dirty="0">
                <a:latin typeface="Arial"/>
                <a:cs typeface="Arial"/>
              </a:rPr>
              <a:t>also,</a:t>
            </a:r>
            <a:r>
              <a:rPr sz="900" spc="-25" dirty="0">
                <a:latin typeface="Arial"/>
                <a:cs typeface="Arial"/>
              </a:rPr>
              <a:t> </a:t>
            </a:r>
            <a:r>
              <a:rPr sz="900" dirty="0">
                <a:latin typeface="Arial"/>
                <a:cs typeface="Arial"/>
              </a:rPr>
              <a:t>so</a:t>
            </a:r>
            <a:r>
              <a:rPr sz="900" spc="-25" dirty="0">
                <a:latin typeface="Arial"/>
                <a:cs typeface="Arial"/>
              </a:rPr>
              <a:t> </a:t>
            </a:r>
            <a:r>
              <a:rPr sz="900" i="1" dirty="0">
                <a:latin typeface="Arial"/>
                <a:cs typeface="Arial"/>
              </a:rPr>
              <a:t>P</a:t>
            </a:r>
            <a:r>
              <a:rPr sz="1050" i="1" baseline="-15873" dirty="0">
                <a:latin typeface="Arial"/>
                <a:cs typeface="Arial"/>
              </a:rPr>
              <a:t>2</a:t>
            </a:r>
            <a:r>
              <a:rPr sz="1050" i="1" spc="165" baseline="-15873" dirty="0">
                <a:latin typeface="Arial"/>
                <a:cs typeface="Arial"/>
              </a:rPr>
              <a:t> </a:t>
            </a:r>
            <a:r>
              <a:rPr sz="900" dirty="0">
                <a:latin typeface="Arial"/>
                <a:cs typeface="Arial"/>
              </a:rPr>
              <a:t>can</a:t>
            </a:r>
            <a:r>
              <a:rPr sz="900" spc="-25" dirty="0">
                <a:latin typeface="Arial"/>
                <a:cs typeface="Arial"/>
              </a:rPr>
              <a:t> </a:t>
            </a:r>
            <a:r>
              <a:rPr sz="900" dirty="0">
                <a:latin typeface="Arial"/>
                <a:cs typeface="Arial"/>
              </a:rPr>
              <a:t>now</a:t>
            </a:r>
            <a:r>
              <a:rPr sz="900" spc="-25" dirty="0">
                <a:latin typeface="Arial"/>
                <a:cs typeface="Arial"/>
              </a:rPr>
              <a:t> </a:t>
            </a:r>
            <a:r>
              <a:rPr sz="900" dirty="0">
                <a:latin typeface="Arial"/>
                <a:cs typeface="Arial"/>
              </a:rPr>
              <a:t>go</a:t>
            </a:r>
            <a:r>
              <a:rPr sz="900" spc="-25" dirty="0">
                <a:latin typeface="Arial"/>
                <a:cs typeface="Arial"/>
              </a:rPr>
              <a:t> </a:t>
            </a:r>
            <a:r>
              <a:rPr sz="900" spc="-10" dirty="0">
                <a:latin typeface="Arial"/>
                <a:cs typeface="Arial"/>
              </a:rPr>
              <a:t>ahead.</a:t>
            </a:r>
            <a:endParaRPr sz="900">
              <a:latin typeface="Arial"/>
              <a:cs typeface="Arial"/>
            </a:endParaRPr>
          </a:p>
        </p:txBody>
      </p:sp>
      <p:grpSp>
        <p:nvGrpSpPr>
          <p:cNvPr id="10" name="object 10"/>
          <p:cNvGrpSpPr/>
          <p:nvPr/>
        </p:nvGrpSpPr>
        <p:grpSpPr>
          <a:xfrm>
            <a:off x="0" y="3348469"/>
            <a:ext cx="4608195" cy="107950"/>
            <a:chOff x="0" y="3348469"/>
            <a:chExt cx="4608195" cy="107950"/>
          </a:xfrm>
        </p:grpSpPr>
        <p:sp>
          <p:nvSpPr>
            <p:cNvPr id="11" name="object 11"/>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2" name="object 12"/>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3" name="object 13"/>
          <p:cNvSpPr txBox="1"/>
          <p:nvPr/>
        </p:nvSpPr>
        <p:spPr>
          <a:xfrm>
            <a:off x="53467" y="3349927"/>
            <a:ext cx="65595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7" action="ppaction://hlinksldjump"/>
              </a:rPr>
              <a:t>A</a:t>
            </a:r>
            <a:r>
              <a:rPr sz="500" spc="-25" dirty="0">
                <a:latin typeface="Arial"/>
                <a:cs typeface="Arial"/>
                <a:hlinkClick r:id="rId7" action="ppaction://hlinksldjump"/>
              </a:rPr>
              <a:t> </a:t>
            </a:r>
            <a:r>
              <a:rPr sz="500" dirty="0">
                <a:latin typeface="Arial"/>
                <a:cs typeface="Arial"/>
                <a:hlinkClick r:id="rId7" action="ppaction://hlinksldjump"/>
              </a:rPr>
              <a:t>distributed</a:t>
            </a:r>
            <a:r>
              <a:rPr sz="500" spc="-20" dirty="0">
                <a:latin typeface="Arial"/>
                <a:cs typeface="Arial"/>
                <a:hlinkClick r:id="rId7" action="ppaction://hlinksldjump"/>
              </a:rPr>
              <a:t> </a:t>
            </a:r>
            <a:r>
              <a:rPr sz="500" spc="-10" dirty="0">
                <a:latin typeface="Arial"/>
                <a:cs typeface="Arial"/>
                <a:hlinkClick r:id="rId7" action="ppaction://hlinksldjump"/>
              </a:rPr>
              <a:t>algorithm</a:t>
            </a:r>
            <a:endParaRPr sz="500">
              <a:latin typeface="Arial"/>
              <a:cs typeface="Arial"/>
            </a:endParaRPr>
          </a:p>
        </p:txBody>
      </p:sp>
    </p:spTree>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4018915" algn="l"/>
              </a:tabLst>
            </a:pPr>
            <a:r>
              <a:rPr sz="500" spc="-10" dirty="0">
                <a:latin typeface="Arial"/>
                <a:cs typeface="Arial"/>
                <a:hlinkClick r:id="rId2" action="ppaction://hlinksldjump"/>
              </a:rPr>
              <a:t>Coordination</a:t>
            </a:r>
            <a:r>
              <a:rPr sz="500" dirty="0">
                <a:latin typeface="Arial"/>
                <a:cs typeface="Arial"/>
              </a:rPr>
              <a:t>	</a:t>
            </a:r>
            <a:r>
              <a:rPr sz="500" dirty="0">
                <a:solidFill>
                  <a:srgbClr val="FFFFFF"/>
                </a:solidFill>
                <a:latin typeface="Arial"/>
                <a:cs typeface="Arial"/>
                <a:hlinkClick r:id="rId3" action="ppaction://hlinksldjump"/>
              </a:rPr>
              <a:t>Mutual</a:t>
            </a:r>
            <a:r>
              <a:rPr sz="500" spc="-30"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exclusion</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Mutual</a:t>
            </a:r>
            <a:r>
              <a:rPr spc="-45" dirty="0"/>
              <a:t> </a:t>
            </a:r>
            <a:r>
              <a:rPr dirty="0"/>
              <a:t>exclusion:</a:t>
            </a:r>
            <a:r>
              <a:rPr spc="25" dirty="0"/>
              <a:t> </a:t>
            </a:r>
            <a:r>
              <a:rPr spc="-35" dirty="0"/>
              <a:t>Token</a:t>
            </a:r>
            <a:r>
              <a:rPr spc="-40" dirty="0"/>
              <a:t> </a:t>
            </a:r>
            <a:r>
              <a:rPr dirty="0"/>
              <a:t>ring</a:t>
            </a:r>
            <a:r>
              <a:rPr spc="-45" dirty="0"/>
              <a:t> </a:t>
            </a:r>
            <a:r>
              <a:rPr spc="-10" dirty="0"/>
              <a:t>algorithm</a:t>
            </a:r>
          </a:p>
        </p:txBody>
      </p:sp>
      <p:sp>
        <p:nvSpPr>
          <p:cNvPr id="4" name="object 4"/>
          <p:cNvSpPr txBox="1"/>
          <p:nvPr/>
        </p:nvSpPr>
        <p:spPr>
          <a:xfrm>
            <a:off x="343128" y="499476"/>
            <a:ext cx="3940175" cy="904875"/>
          </a:xfrm>
          <a:prstGeom prst="rect">
            <a:avLst/>
          </a:prstGeom>
        </p:spPr>
        <p:txBody>
          <a:bodyPr vert="horz" wrap="square" lIns="0" tIns="27305" rIns="0" bIns="0" rtlCol="0">
            <a:spAutoFit/>
          </a:bodyPr>
          <a:lstStyle/>
          <a:p>
            <a:pPr marL="16510">
              <a:lnSpc>
                <a:spcPct val="100000"/>
              </a:lnSpc>
              <a:spcBef>
                <a:spcPts val="215"/>
              </a:spcBef>
            </a:pPr>
            <a:r>
              <a:rPr sz="1000" spc="-10" dirty="0">
                <a:solidFill>
                  <a:srgbClr val="3333B2"/>
                </a:solidFill>
                <a:latin typeface="Arial"/>
                <a:cs typeface="Arial"/>
              </a:rPr>
              <a:t>Essence</a:t>
            </a:r>
            <a:endParaRPr sz="1000">
              <a:latin typeface="Arial"/>
              <a:cs typeface="Arial"/>
            </a:endParaRPr>
          </a:p>
          <a:p>
            <a:pPr marL="13335" marR="5080" indent="3175">
              <a:lnSpc>
                <a:spcPts val="1210"/>
              </a:lnSpc>
              <a:spcBef>
                <a:spcPts val="35"/>
              </a:spcBef>
            </a:pPr>
            <a:r>
              <a:rPr sz="900" spc="-10" dirty="0">
                <a:latin typeface="Arial"/>
                <a:cs typeface="Arial"/>
              </a:rPr>
              <a:t>Organize</a:t>
            </a:r>
            <a:r>
              <a:rPr sz="900" spc="-25" dirty="0">
                <a:latin typeface="Arial"/>
                <a:cs typeface="Arial"/>
              </a:rPr>
              <a:t> </a:t>
            </a:r>
            <a:r>
              <a:rPr sz="900" spc="-10" dirty="0">
                <a:latin typeface="Arial"/>
                <a:cs typeface="Arial"/>
              </a:rPr>
              <a:t>processes</a:t>
            </a:r>
            <a:r>
              <a:rPr sz="900" spc="-20" dirty="0">
                <a:latin typeface="Arial"/>
                <a:cs typeface="Arial"/>
              </a:rPr>
              <a:t> </a:t>
            </a:r>
            <a:r>
              <a:rPr sz="900" dirty="0">
                <a:latin typeface="Arial"/>
                <a:cs typeface="Arial"/>
              </a:rPr>
              <a:t>in</a:t>
            </a:r>
            <a:r>
              <a:rPr sz="900" spc="-20" dirty="0">
                <a:latin typeface="Arial"/>
                <a:cs typeface="Arial"/>
              </a:rPr>
              <a:t> </a:t>
            </a:r>
            <a:r>
              <a:rPr sz="900" dirty="0">
                <a:latin typeface="Arial"/>
                <a:cs typeface="Arial"/>
              </a:rPr>
              <a:t>a</a:t>
            </a:r>
            <a:r>
              <a:rPr sz="900" spc="-20" dirty="0">
                <a:latin typeface="Arial"/>
                <a:cs typeface="Arial"/>
              </a:rPr>
              <a:t> </a:t>
            </a:r>
            <a:r>
              <a:rPr sz="900" dirty="0">
                <a:solidFill>
                  <a:srgbClr val="3333B2"/>
                </a:solidFill>
                <a:latin typeface="Arial"/>
                <a:cs typeface="Arial"/>
              </a:rPr>
              <a:t>logical</a:t>
            </a:r>
            <a:r>
              <a:rPr sz="900" spc="-20" dirty="0">
                <a:solidFill>
                  <a:srgbClr val="3333B2"/>
                </a:solidFill>
                <a:latin typeface="Arial"/>
                <a:cs typeface="Arial"/>
              </a:rPr>
              <a:t> </a:t>
            </a:r>
            <a:r>
              <a:rPr sz="900" dirty="0">
                <a:latin typeface="Arial"/>
                <a:cs typeface="Arial"/>
              </a:rPr>
              <a:t>ring,</a:t>
            </a:r>
            <a:r>
              <a:rPr sz="900" spc="-20" dirty="0">
                <a:latin typeface="Arial"/>
                <a:cs typeface="Arial"/>
              </a:rPr>
              <a:t> </a:t>
            </a:r>
            <a:r>
              <a:rPr sz="900" dirty="0">
                <a:latin typeface="Arial"/>
                <a:cs typeface="Arial"/>
              </a:rPr>
              <a:t>and</a:t>
            </a:r>
            <a:r>
              <a:rPr sz="900" spc="-20" dirty="0">
                <a:latin typeface="Arial"/>
                <a:cs typeface="Arial"/>
              </a:rPr>
              <a:t> </a:t>
            </a:r>
            <a:r>
              <a:rPr sz="900" dirty="0">
                <a:latin typeface="Arial"/>
                <a:cs typeface="Arial"/>
              </a:rPr>
              <a:t>let</a:t>
            </a:r>
            <a:r>
              <a:rPr sz="900" spc="-20" dirty="0">
                <a:latin typeface="Arial"/>
                <a:cs typeface="Arial"/>
              </a:rPr>
              <a:t> </a:t>
            </a:r>
            <a:r>
              <a:rPr sz="900" dirty="0">
                <a:latin typeface="Arial"/>
                <a:cs typeface="Arial"/>
              </a:rPr>
              <a:t>a</a:t>
            </a:r>
            <a:r>
              <a:rPr sz="900" spc="-20" dirty="0">
                <a:latin typeface="Arial"/>
                <a:cs typeface="Arial"/>
              </a:rPr>
              <a:t> </a:t>
            </a:r>
            <a:r>
              <a:rPr sz="900" spc="-10" dirty="0">
                <a:latin typeface="Arial"/>
                <a:cs typeface="Arial"/>
              </a:rPr>
              <a:t>token</a:t>
            </a:r>
            <a:r>
              <a:rPr sz="900" spc="-20" dirty="0">
                <a:latin typeface="Arial"/>
                <a:cs typeface="Arial"/>
              </a:rPr>
              <a:t> </a:t>
            </a:r>
            <a:r>
              <a:rPr sz="900" dirty="0">
                <a:latin typeface="Arial"/>
                <a:cs typeface="Arial"/>
              </a:rPr>
              <a:t>be</a:t>
            </a:r>
            <a:r>
              <a:rPr sz="900" spc="-20" dirty="0">
                <a:latin typeface="Arial"/>
                <a:cs typeface="Arial"/>
              </a:rPr>
              <a:t> </a:t>
            </a:r>
            <a:r>
              <a:rPr sz="900" spc="-10" dirty="0">
                <a:latin typeface="Arial"/>
                <a:cs typeface="Arial"/>
              </a:rPr>
              <a:t>passed</a:t>
            </a:r>
            <a:r>
              <a:rPr sz="900" spc="-20" dirty="0">
                <a:latin typeface="Arial"/>
                <a:cs typeface="Arial"/>
              </a:rPr>
              <a:t> </a:t>
            </a:r>
            <a:r>
              <a:rPr sz="900" spc="-10" dirty="0">
                <a:latin typeface="Arial"/>
                <a:cs typeface="Arial"/>
              </a:rPr>
              <a:t>between</a:t>
            </a:r>
            <a:r>
              <a:rPr sz="900" spc="-20" dirty="0">
                <a:latin typeface="Arial"/>
                <a:cs typeface="Arial"/>
              </a:rPr>
              <a:t> </a:t>
            </a:r>
            <a:r>
              <a:rPr sz="900" spc="-10" dirty="0">
                <a:latin typeface="Arial"/>
                <a:cs typeface="Arial"/>
              </a:rPr>
              <a:t>them. </a:t>
            </a:r>
            <a:r>
              <a:rPr sz="900" dirty="0">
                <a:latin typeface="Arial"/>
                <a:cs typeface="Arial"/>
              </a:rPr>
              <a:t>The</a:t>
            </a:r>
            <a:r>
              <a:rPr sz="900" spc="-25" dirty="0">
                <a:latin typeface="Arial"/>
                <a:cs typeface="Arial"/>
              </a:rPr>
              <a:t> </a:t>
            </a:r>
            <a:r>
              <a:rPr sz="900" dirty="0">
                <a:latin typeface="Arial"/>
                <a:cs typeface="Arial"/>
              </a:rPr>
              <a:t>one</a:t>
            </a:r>
            <a:r>
              <a:rPr sz="900" spc="-25" dirty="0">
                <a:latin typeface="Arial"/>
                <a:cs typeface="Arial"/>
              </a:rPr>
              <a:t> </a:t>
            </a:r>
            <a:r>
              <a:rPr sz="900" dirty="0">
                <a:latin typeface="Arial"/>
                <a:cs typeface="Arial"/>
              </a:rPr>
              <a:t>that</a:t>
            </a:r>
            <a:r>
              <a:rPr sz="900" spc="-25" dirty="0">
                <a:latin typeface="Arial"/>
                <a:cs typeface="Arial"/>
              </a:rPr>
              <a:t> </a:t>
            </a:r>
            <a:r>
              <a:rPr sz="900" dirty="0">
                <a:latin typeface="Arial"/>
                <a:cs typeface="Arial"/>
              </a:rPr>
              <a:t>holds</a:t>
            </a:r>
            <a:r>
              <a:rPr sz="900" spc="-20" dirty="0">
                <a:latin typeface="Arial"/>
                <a:cs typeface="Arial"/>
              </a:rPr>
              <a:t> </a:t>
            </a:r>
            <a:r>
              <a:rPr sz="900" dirty="0">
                <a:latin typeface="Arial"/>
                <a:cs typeface="Arial"/>
              </a:rPr>
              <a:t>the</a:t>
            </a:r>
            <a:r>
              <a:rPr sz="900" spc="-25" dirty="0">
                <a:latin typeface="Arial"/>
                <a:cs typeface="Arial"/>
              </a:rPr>
              <a:t> </a:t>
            </a:r>
            <a:r>
              <a:rPr sz="900" dirty="0">
                <a:latin typeface="Arial"/>
                <a:cs typeface="Arial"/>
              </a:rPr>
              <a:t>token</a:t>
            </a:r>
            <a:r>
              <a:rPr sz="900" spc="-25" dirty="0">
                <a:latin typeface="Arial"/>
                <a:cs typeface="Arial"/>
              </a:rPr>
              <a:t> </a:t>
            </a:r>
            <a:r>
              <a:rPr sz="900" dirty="0">
                <a:latin typeface="Arial"/>
                <a:cs typeface="Arial"/>
              </a:rPr>
              <a:t>is</a:t>
            </a:r>
            <a:r>
              <a:rPr sz="900" spc="-20" dirty="0">
                <a:latin typeface="Arial"/>
                <a:cs typeface="Arial"/>
              </a:rPr>
              <a:t> </a:t>
            </a:r>
            <a:r>
              <a:rPr sz="900" dirty="0">
                <a:latin typeface="Arial"/>
                <a:cs typeface="Arial"/>
              </a:rPr>
              <a:t>allowed</a:t>
            </a:r>
            <a:r>
              <a:rPr sz="900" spc="-25"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enter</a:t>
            </a:r>
            <a:r>
              <a:rPr sz="900" spc="-20" dirty="0">
                <a:latin typeface="Arial"/>
                <a:cs typeface="Arial"/>
              </a:rPr>
              <a:t> </a:t>
            </a:r>
            <a:r>
              <a:rPr sz="900" dirty="0">
                <a:latin typeface="Arial"/>
                <a:cs typeface="Arial"/>
              </a:rPr>
              <a:t>the</a:t>
            </a:r>
            <a:r>
              <a:rPr sz="900" spc="-25" dirty="0">
                <a:latin typeface="Arial"/>
                <a:cs typeface="Arial"/>
              </a:rPr>
              <a:t> </a:t>
            </a:r>
            <a:r>
              <a:rPr sz="900" dirty="0">
                <a:latin typeface="Arial"/>
                <a:cs typeface="Arial"/>
              </a:rPr>
              <a:t>critical</a:t>
            </a:r>
            <a:r>
              <a:rPr sz="900" spc="-25" dirty="0">
                <a:latin typeface="Arial"/>
                <a:cs typeface="Arial"/>
              </a:rPr>
              <a:t> </a:t>
            </a:r>
            <a:r>
              <a:rPr sz="900" dirty="0">
                <a:latin typeface="Arial"/>
                <a:cs typeface="Arial"/>
              </a:rPr>
              <a:t>region</a:t>
            </a:r>
            <a:r>
              <a:rPr sz="900" spc="-20" dirty="0">
                <a:latin typeface="Arial"/>
                <a:cs typeface="Arial"/>
              </a:rPr>
              <a:t> </a:t>
            </a:r>
            <a:r>
              <a:rPr sz="900" dirty="0">
                <a:latin typeface="Arial"/>
                <a:cs typeface="Arial"/>
              </a:rPr>
              <a:t>(if</a:t>
            </a:r>
            <a:r>
              <a:rPr sz="900" spc="-25" dirty="0">
                <a:latin typeface="Arial"/>
                <a:cs typeface="Arial"/>
              </a:rPr>
              <a:t> </a:t>
            </a:r>
            <a:r>
              <a:rPr sz="900" dirty="0">
                <a:latin typeface="Arial"/>
                <a:cs typeface="Arial"/>
              </a:rPr>
              <a:t>it</a:t>
            </a:r>
            <a:r>
              <a:rPr sz="900" spc="-25" dirty="0">
                <a:latin typeface="Arial"/>
                <a:cs typeface="Arial"/>
              </a:rPr>
              <a:t> </a:t>
            </a:r>
            <a:r>
              <a:rPr sz="900" spc="-10" dirty="0">
                <a:latin typeface="Arial"/>
                <a:cs typeface="Arial"/>
              </a:rPr>
              <a:t>wants </a:t>
            </a:r>
            <a:r>
              <a:rPr sz="900" spc="-20" dirty="0">
                <a:latin typeface="Arial"/>
                <a:cs typeface="Arial"/>
              </a:rPr>
              <a:t>to).</a:t>
            </a:r>
            <a:endParaRPr sz="900">
              <a:latin typeface="Arial"/>
              <a:cs typeface="Arial"/>
            </a:endParaRPr>
          </a:p>
          <a:p>
            <a:pPr marL="12700">
              <a:lnSpc>
                <a:spcPct val="100000"/>
              </a:lnSpc>
              <a:spcBef>
                <a:spcPts val="745"/>
              </a:spcBef>
            </a:pPr>
            <a:r>
              <a:rPr sz="1000" dirty="0">
                <a:solidFill>
                  <a:srgbClr val="3333B2"/>
                </a:solidFill>
                <a:latin typeface="Arial"/>
                <a:cs typeface="Arial"/>
              </a:rPr>
              <a:t>An</a:t>
            </a:r>
            <a:r>
              <a:rPr sz="1000" spc="-45" dirty="0">
                <a:solidFill>
                  <a:srgbClr val="3333B2"/>
                </a:solidFill>
                <a:latin typeface="Arial"/>
                <a:cs typeface="Arial"/>
              </a:rPr>
              <a:t> </a:t>
            </a:r>
            <a:r>
              <a:rPr sz="1000" spc="-25" dirty="0">
                <a:solidFill>
                  <a:srgbClr val="3333B2"/>
                </a:solidFill>
                <a:latin typeface="Arial"/>
                <a:cs typeface="Arial"/>
              </a:rPr>
              <a:t>overlay</a:t>
            </a:r>
            <a:r>
              <a:rPr sz="1000" spc="-45" dirty="0">
                <a:solidFill>
                  <a:srgbClr val="3333B2"/>
                </a:solidFill>
                <a:latin typeface="Arial"/>
                <a:cs typeface="Arial"/>
              </a:rPr>
              <a:t> </a:t>
            </a:r>
            <a:r>
              <a:rPr sz="1000" spc="-10" dirty="0">
                <a:solidFill>
                  <a:srgbClr val="3333B2"/>
                </a:solidFill>
                <a:latin typeface="Arial"/>
                <a:cs typeface="Arial"/>
              </a:rPr>
              <a:t>network</a:t>
            </a:r>
            <a:r>
              <a:rPr sz="1000" spc="-40" dirty="0">
                <a:solidFill>
                  <a:srgbClr val="3333B2"/>
                </a:solidFill>
                <a:latin typeface="Arial"/>
                <a:cs typeface="Arial"/>
              </a:rPr>
              <a:t> </a:t>
            </a:r>
            <a:r>
              <a:rPr sz="1000" spc="-10" dirty="0">
                <a:solidFill>
                  <a:srgbClr val="3333B2"/>
                </a:solidFill>
                <a:latin typeface="Arial"/>
                <a:cs typeface="Arial"/>
              </a:rPr>
              <a:t>constructed</a:t>
            </a:r>
            <a:r>
              <a:rPr sz="1000" spc="-45" dirty="0">
                <a:solidFill>
                  <a:srgbClr val="3333B2"/>
                </a:solidFill>
                <a:latin typeface="Arial"/>
                <a:cs typeface="Arial"/>
              </a:rPr>
              <a:t> </a:t>
            </a:r>
            <a:r>
              <a:rPr sz="1000" dirty="0">
                <a:solidFill>
                  <a:srgbClr val="3333B2"/>
                </a:solidFill>
                <a:latin typeface="Arial"/>
                <a:cs typeface="Arial"/>
              </a:rPr>
              <a:t>as</a:t>
            </a:r>
            <a:r>
              <a:rPr sz="1000" spc="-40" dirty="0">
                <a:solidFill>
                  <a:srgbClr val="3333B2"/>
                </a:solidFill>
                <a:latin typeface="Arial"/>
                <a:cs typeface="Arial"/>
              </a:rPr>
              <a:t> </a:t>
            </a:r>
            <a:r>
              <a:rPr sz="1000" dirty="0">
                <a:solidFill>
                  <a:srgbClr val="3333B2"/>
                </a:solidFill>
                <a:latin typeface="Arial"/>
                <a:cs typeface="Arial"/>
              </a:rPr>
              <a:t>a</a:t>
            </a:r>
            <a:r>
              <a:rPr sz="1000" spc="-45" dirty="0">
                <a:solidFill>
                  <a:srgbClr val="3333B2"/>
                </a:solidFill>
                <a:latin typeface="Arial"/>
                <a:cs typeface="Arial"/>
              </a:rPr>
              <a:t> </a:t>
            </a:r>
            <a:r>
              <a:rPr sz="1000" spc="-10" dirty="0">
                <a:solidFill>
                  <a:srgbClr val="3333B2"/>
                </a:solidFill>
                <a:latin typeface="Arial"/>
                <a:cs typeface="Arial"/>
              </a:rPr>
              <a:t>logical</a:t>
            </a:r>
            <a:r>
              <a:rPr sz="1000" spc="-45" dirty="0">
                <a:solidFill>
                  <a:srgbClr val="3333B2"/>
                </a:solidFill>
                <a:latin typeface="Arial"/>
                <a:cs typeface="Arial"/>
              </a:rPr>
              <a:t> </a:t>
            </a:r>
            <a:r>
              <a:rPr sz="1000" dirty="0">
                <a:solidFill>
                  <a:srgbClr val="3333B2"/>
                </a:solidFill>
                <a:latin typeface="Arial"/>
                <a:cs typeface="Arial"/>
              </a:rPr>
              <a:t>ring</a:t>
            </a:r>
            <a:r>
              <a:rPr sz="1000" spc="-40" dirty="0">
                <a:solidFill>
                  <a:srgbClr val="3333B2"/>
                </a:solidFill>
                <a:latin typeface="Arial"/>
                <a:cs typeface="Arial"/>
              </a:rPr>
              <a:t> </a:t>
            </a:r>
            <a:r>
              <a:rPr sz="1000" spc="-10" dirty="0">
                <a:solidFill>
                  <a:srgbClr val="3333B2"/>
                </a:solidFill>
                <a:latin typeface="Arial"/>
                <a:cs typeface="Arial"/>
              </a:rPr>
              <a:t>with</a:t>
            </a:r>
            <a:r>
              <a:rPr sz="1000" spc="-45" dirty="0">
                <a:solidFill>
                  <a:srgbClr val="3333B2"/>
                </a:solidFill>
                <a:latin typeface="Arial"/>
                <a:cs typeface="Arial"/>
              </a:rPr>
              <a:t> </a:t>
            </a:r>
            <a:r>
              <a:rPr sz="1000" dirty="0">
                <a:solidFill>
                  <a:srgbClr val="3333B2"/>
                </a:solidFill>
                <a:latin typeface="Arial"/>
                <a:cs typeface="Arial"/>
              </a:rPr>
              <a:t>a</a:t>
            </a:r>
            <a:r>
              <a:rPr sz="1000" spc="-40" dirty="0">
                <a:solidFill>
                  <a:srgbClr val="3333B2"/>
                </a:solidFill>
                <a:latin typeface="Arial"/>
                <a:cs typeface="Arial"/>
              </a:rPr>
              <a:t> </a:t>
            </a:r>
            <a:r>
              <a:rPr sz="1000" spc="-10" dirty="0">
                <a:solidFill>
                  <a:srgbClr val="3333B2"/>
                </a:solidFill>
                <a:latin typeface="Arial"/>
                <a:cs typeface="Arial"/>
              </a:rPr>
              <a:t>circulating</a:t>
            </a:r>
            <a:r>
              <a:rPr sz="1000" spc="-45" dirty="0">
                <a:solidFill>
                  <a:srgbClr val="3333B2"/>
                </a:solidFill>
                <a:latin typeface="Arial"/>
                <a:cs typeface="Arial"/>
              </a:rPr>
              <a:t> </a:t>
            </a:r>
            <a:r>
              <a:rPr sz="1000" spc="-10" dirty="0">
                <a:solidFill>
                  <a:srgbClr val="3333B2"/>
                </a:solidFill>
                <a:latin typeface="Arial"/>
                <a:cs typeface="Arial"/>
              </a:rPr>
              <a:t>token</a:t>
            </a:r>
            <a:endParaRPr sz="1000">
              <a:latin typeface="Arial"/>
              <a:cs typeface="Arial"/>
            </a:endParaRPr>
          </a:p>
        </p:txBody>
      </p:sp>
      <p:pic>
        <p:nvPicPr>
          <p:cNvPr id="5" name="object 5"/>
          <p:cNvPicPr/>
          <p:nvPr/>
        </p:nvPicPr>
        <p:blipFill>
          <a:blip r:embed="rId4" cstate="print"/>
          <a:stretch>
            <a:fillRect/>
          </a:stretch>
        </p:blipFill>
        <p:spPr>
          <a:xfrm>
            <a:off x="1397495" y="1507218"/>
            <a:ext cx="1808022" cy="565419"/>
          </a:xfrm>
          <a:prstGeom prst="rect">
            <a:avLst/>
          </a:prstGeom>
        </p:spPr>
      </p:pic>
      <p:grpSp>
        <p:nvGrpSpPr>
          <p:cNvPr id="6" name="object 6"/>
          <p:cNvGrpSpPr/>
          <p:nvPr/>
        </p:nvGrpSpPr>
        <p:grpSpPr>
          <a:xfrm>
            <a:off x="0" y="3348469"/>
            <a:ext cx="4608195" cy="107950"/>
            <a:chOff x="0" y="3348469"/>
            <a:chExt cx="4608195" cy="107950"/>
          </a:xfrm>
        </p:grpSpPr>
        <p:sp>
          <p:nvSpPr>
            <p:cNvPr id="7" name="object 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9" name="object 9"/>
          <p:cNvSpPr txBox="1"/>
          <p:nvPr/>
        </p:nvSpPr>
        <p:spPr>
          <a:xfrm>
            <a:off x="53467" y="3349927"/>
            <a:ext cx="64516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5" action="ppaction://hlinksldjump"/>
              </a:rPr>
              <a:t>A</a:t>
            </a:r>
            <a:r>
              <a:rPr sz="500" spc="5" dirty="0">
                <a:latin typeface="Arial"/>
                <a:cs typeface="Arial"/>
                <a:hlinkClick r:id="rId5" action="ppaction://hlinksldjump"/>
              </a:rPr>
              <a:t> </a:t>
            </a:r>
            <a:r>
              <a:rPr sz="500" spc="-10" dirty="0">
                <a:latin typeface="Arial"/>
                <a:cs typeface="Arial"/>
                <a:hlinkClick r:id="rId5" action="ppaction://hlinksldjump"/>
              </a:rPr>
              <a:t>token-</a:t>
            </a:r>
            <a:r>
              <a:rPr sz="500" dirty="0">
                <a:latin typeface="Arial"/>
                <a:cs typeface="Arial"/>
                <a:hlinkClick r:id="rId5" action="ppaction://hlinksldjump"/>
              </a:rPr>
              <a:t>ring</a:t>
            </a:r>
            <a:r>
              <a:rPr sz="500" spc="10" dirty="0">
                <a:latin typeface="Arial"/>
                <a:cs typeface="Arial"/>
                <a:hlinkClick r:id="rId5" action="ppaction://hlinksldjump"/>
              </a:rPr>
              <a:t> </a:t>
            </a:r>
            <a:r>
              <a:rPr sz="500" spc="-10" dirty="0">
                <a:latin typeface="Arial"/>
                <a:cs typeface="Arial"/>
                <a:hlinkClick r:id="rId5" action="ppaction://hlinksldjump"/>
              </a:rPr>
              <a:t>algorithm</a:t>
            </a:r>
            <a:endParaRPr sz="500">
              <a:latin typeface="Arial"/>
              <a:cs typeface="Arial"/>
            </a:endParaRPr>
          </a:p>
        </p:txBody>
      </p:sp>
    </p:spTree>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4018915" algn="l"/>
              </a:tabLst>
            </a:pPr>
            <a:r>
              <a:rPr sz="500" spc="-10" dirty="0">
                <a:latin typeface="Arial"/>
                <a:cs typeface="Arial"/>
                <a:hlinkClick r:id="rId2" action="ppaction://hlinksldjump"/>
              </a:rPr>
              <a:t>Coordination</a:t>
            </a:r>
            <a:r>
              <a:rPr sz="500" dirty="0">
                <a:latin typeface="Arial"/>
                <a:cs typeface="Arial"/>
              </a:rPr>
              <a:t>	</a:t>
            </a:r>
            <a:r>
              <a:rPr sz="500" dirty="0">
                <a:solidFill>
                  <a:srgbClr val="FFFFFF"/>
                </a:solidFill>
                <a:latin typeface="Arial"/>
                <a:cs typeface="Arial"/>
                <a:hlinkClick r:id="rId3" action="ppaction://hlinksldjump"/>
              </a:rPr>
              <a:t>Mutual</a:t>
            </a:r>
            <a:r>
              <a:rPr sz="500" spc="-30"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exclusion</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0" dirty="0"/>
              <a:t>Decentralized</a:t>
            </a:r>
            <a:r>
              <a:rPr spc="-20" dirty="0"/>
              <a:t> </a:t>
            </a:r>
            <a:r>
              <a:rPr dirty="0"/>
              <a:t>mutual</a:t>
            </a:r>
            <a:r>
              <a:rPr spc="-20" dirty="0"/>
              <a:t> </a:t>
            </a:r>
            <a:r>
              <a:rPr spc="-10" dirty="0"/>
              <a:t>exclusion</a:t>
            </a:r>
          </a:p>
        </p:txBody>
      </p:sp>
      <p:sp>
        <p:nvSpPr>
          <p:cNvPr id="4" name="object 4"/>
          <p:cNvSpPr txBox="1"/>
          <p:nvPr/>
        </p:nvSpPr>
        <p:spPr>
          <a:xfrm>
            <a:off x="341947" y="472482"/>
            <a:ext cx="3919220" cy="1283970"/>
          </a:xfrm>
          <a:prstGeom prst="rect">
            <a:avLst/>
          </a:prstGeom>
        </p:spPr>
        <p:txBody>
          <a:bodyPr vert="horz" wrap="square" lIns="0" tIns="54610" rIns="0" bIns="0" rtlCol="0">
            <a:spAutoFit/>
          </a:bodyPr>
          <a:lstStyle/>
          <a:p>
            <a:pPr marL="17780">
              <a:lnSpc>
                <a:spcPct val="100000"/>
              </a:lnSpc>
              <a:spcBef>
                <a:spcPts val="430"/>
              </a:spcBef>
            </a:pPr>
            <a:r>
              <a:rPr sz="1000" spc="-10" dirty="0">
                <a:solidFill>
                  <a:srgbClr val="3333B2"/>
                </a:solidFill>
                <a:latin typeface="Arial"/>
                <a:cs typeface="Arial"/>
              </a:rPr>
              <a:t>Principle</a:t>
            </a:r>
            <a:endParaRPr sz="1000">
              <a:latin typeface="Arial"/>
              <a:cs typeface="Arial"/>
            </a:endParaRPr>
          </a:p>
          <a:p>
            <a:pPr marL="17780" marR="5080" indent="-3810" algn="just">
              <a:lnSpc>
                <a:spcPct val="111600"/>
              </a:lnSpc>
              <a:spcBef>
                <a:spcPts val="170"/>
              </a:spcBef>
            </a:pPr>
            <a:r>
              <a:rPr sz="900" spc="-10" dirty="0">
                <a:latin typeface="Arial"/>
                <a:cs typeface="Arial"/>
              </a:rPr>
              <a:t>Assume</a:t>
            </a:r>
            <a:r>
              <a:rPr sz="900" spc="-20" dirty="0">
                <a:latin typeface="Arial"/>
                <a:cs typeface="Arial"/>
              </a:rPr>
              <a:t> </a:t>
            </a:r>
            <a:r>
              <a:rPr sz="900" spc="-10" dirty="0">
                <a:latin typeface="Arial"/>
                <a:cs typeface="Arial"/>
              </a:rPr>
              <a:t>every</a:t>
            </a:r>
            <a:r>
              <a:rPr sz="900" spc="-20" dirty="0">
                <a:latin typeface="Arial"/>
                <a:cs typeface="Arial"/>
              </a:rPr>
              <a:t> </a:t>
            </a:r>
            <a:r>
              <a:rPr sz="900" spc="-10" dirty="0">
                <a:latin typeface="Arial"/>
                <a:cs typeface="Arial"/>
              </a:rPr>
              <a:t>resource</a:t>
            </a:r>
            <a:r>
              <a:rPr sz="900" spc="-20" dirty="0">
                <a:latin typeface="Arial"/>
                <a:cs typeface="Arial"/>
              </a:rPr>
              <a:t> </a:t>
            </a:r>
            <a:r>
              <a:rPr sz="900" dirty="0">
                <a:latin typeface="Arial"/>
                <a:cs typeface="Arial"/>
              </a:rPr>
              <a:t>is</a:t>
            </a:r>
            <a:r>
              <a:rPr sz="900" spc="-20" dirty="0">
                <a:latin typeface="Arial"/>
                <a:cs typeface="Arial"/>
              </a:rPr>
              <a:t> </a:t>
            </a:r>
            <a:r>
              <a:rPr sz="900" spc="-10" dirty="0">
                <a:latin typeface="Arial"/>
                <a:cs typeface="Arial"/>
              </a:rPr>
              <a:t>replicated</a:t>
            </a:r>
            <a:r>
              <a:rPr sz="900" spc="-20" dirty="0">
                <a:latin typeface="Arial"/>
                <a:cs typeface="Arial"/>
              </a:rPr>
              <a:t> </a:t>
            </a:r>
            <a:r>
              <a:rPr sz="900" i="1" dirty="0">
                <a:latin typeface="Arial"/>
                <a:cs typeface="Arial"/>
              </a:rPr>
              <a:t>N</a:t>
            </a:r>
            <a:r>
              <a:rPr sz="900" i="1" spc="45" dirty="0">
                <a:latin typeface="Arial"/>
                <a:cs typeface="Arial"/>
              </a:rPr>
              <a:t> </a:t>
            </a:r>
            <a:r>
              <a:rPr sz="900" spc="-10" dirty="0">
                <a:latin typeface="Arial"/>
                <a:cs typeface="Arial"/>
              </a:rPr>
              <a:t>times,</a:t>
            </a:r>
            <a:r>
              <a:rPr sz="900" spc="-20" dirty="0">
                <a:latin typeface="Arial"/>
                <a:cs typeface="Arial"/>
              </a:rPr>
              <a:t> </a:t>
            </a:r>
            <a:r>
              <a:rPr sz="900" dirty="0">
                <a:latin typeface="Arial"/>
                <a:cs typeface="Arial"/>
              </a:rPr>
              <a:t>with</a:t>
            </a:r>
            <a:r>
              <a:rPr sz="900" spc="-20" dirty="0">
                <a:latin typeface="Arial"/>
                <a:cs typeface="Arial"/>
              </a:rPr>
              <a:t> </a:t>
            </a:r>
            <a:r>
              <a:rPr sz="900" dirty="0">
                <a:latin typeface="Arial"/>
                <a:cs typeface="Arial"/>
              </a:rPr>
              <a:t>each</a:t>
            </a:r>
            <a:r>
              <a:rPr sz="900" spc="-20" dirty="0">
                <a:latin typeface="Arial"/>
                <a:cs typeface="Arial"/>
              </a:rPr>
              <a:t> </a:t>
            </a:r>
            <a:r>
              <a:rPr sz="900" dirty="0">
                <a:latin typeface="Arial"/>
                <a:cs typeface="Arial"/>
              </a:rPr>
              <a:t>replica</a:t>
            </a:r>
            <a:r>
              <a:rPr sz="900" spc="-20" dirty="0">
                <a:latin typeface="Arial"/>
                <a:cs typeface="Arial"/>
              </a:rPr>
              <a:t> </a:t>
            </a:r>
            <a:r>
              <a:rPr sz="900" spc="-10" dirty="0">
                <a:latin typeface="Arial"/>
                <a:cs typeface="Arial"/>
              </a:rPr>
              <a:t>having</a:t>
            </a:r>
            <a:r>
              <a:rPr sz="900" spc="-20" dirty="0">
                <a:latin typeface="Arial"/>
                <a:cs typeface="Arial"/>
              </a:rPr>
              <a:t> </a:t>
            </a:r>
            <a:r>
              <a:rPr sz="900" dirty="0">
                <a:latin typeface="Arial"/>
                <a:cs typeface="Arial"/>
              </a:rPr>
              <a:t>its</a:t>
            </a:r>
            <a:r>
              <a:rPr sz="900" spc="-20" dirty="0">
                <a:latin typeface="Arial"/>
                <a:cs typeface="Arial"/>
              </a:rPr>
              <a:t> </a:t>
            </a:r>
            <a:r>
              <a:rPr sz="900" spc="-25" dirty="0">
                <a:latin typeface="Arial"/>
                <a:cs typeface="Arial"/>
              </a:rPr>
              <a:t>own </a:t>
            </a:r>
            <a:r>
              <a:rPr sz="900" dirty="0">
                <a:latin typeface="Arial"/>
                <a:cs typeface="Arial"/>
              </a:rPr>
              <a:t>coordinator</a:t>
            </a:r>
            <a:r>
              <a:rPr sz="900" spc="-65" dirty="0">
                <a:latin typeface="Arial"/>
                <a:cs typeface="Arial"/>
              </a:rPr>
              <a:t> </a:t>
            </a:r>
            <a:r>
              <a:rPr sz="900" i="1" spc="185" dirty="0">
                <a:latin typeface="Menlo"/>
                <a:cs typeface="Menlo"/>
              </a:rPr>
              <a:t>⇒</a:t>
            </a:r>
            <a:r>
              <a:rPr sz="900" i="1" spc="-135" dirty="0">
                <a:latin typeface="Menlo"/>
                <a:cs typeface="Menlo"/>
              </a:rPr>
              <a:t> </a:t>
            </a:r>
            <a:r>
              <a:rPr sz="900" dirty="0">
                <a:latin typeface="Arial"/>
                <a:cs typeface="Arial"/>
              </a:rPr>
              <a:t>access</a:t>
            </a:r>
            <a:r>
              <a:rPr sz="900" spc="-65" dirty="0">
                <a:latin typeface="Arial"/>
                <a:cs typeface="Arial"/>
              </a:rPr>
              <a:t> </a:t>
            </a:r>
            <a:r>
              <a:rPr sz="900" dirty="0">
                <a:latin typeface="Arial"/>
                <a:cs typeface="Arial"/>
              </a:rPr>
              <a:t>requires</a:t>
            </a:r>
            <a:r>
              <a:rPr sz="900" spc="-60" dirty="0">
                <a:latin typeface="Arial"/>
                <a:cs typeface="Arial"/>
              </a:rPr>
              <a:t> </a:t>
            </a:r>
            <a:r>
              <a:rPr sz="900" dirty="0">
                <a:latin typeface="Arial"/>
                <a:cs typeface="Arial"/>
              </a:rPr>
              <a:t>a</a:t>
            </a:r>
            <a:r>
              <a:rPr sz="900" spc="-30" dirty="0">
                <a:latin typeface="Arial"/>
                <a:cs typeface="Arial"/>
              </a:rPr>
              <a:t> </a:t>
            </a:r>
            <a:r>
              <a:rPr sz="900" dirty="0">
                <a:solidFill>
                  <a:srgbClr val="3333B2"/>
                </a:solidFill>
                <a:latin typeface="Arial"/>
                <a:cs typeface="Arial"/>
              </a:rPr>
              <a:t>majority</a:t>
            </a:r>
            <a:r>
              <a:rPr sz="900" spc="-15" dirty="0">
                <a:solidFill>
                  <a:srgbClr val="3333B2"/>
                </a:solidFill>
                <a:latin typeface="Arial"/>
                <a:cs typeface="Arial"/>
              </a:rPr>
              <a:t> </a:t>
            </a:r>
            <a:r>
              <a:rPr sz="900" dirty="0">
                <a:solidFill>
                  <a:srgbClr val="3333B2"/>
                </a:solidFill>
                <a:latin typeface="Arial"/>
                <a:cs typeface="Arial"/>
              </a:rPr>
              <a:t>vote</a:t>
            </a:r>
            <a:r>
              <a:rPr sz="900" spc="-10" dirty="0">
                <a:solidFill>
                  <a:srgbClr val="3333B2"/>
                </a:solidFill>
                <a:latin typeface="Arial"/>
                <a:cs typeface="Arial"/>
              </a:rPr>
              <a:t> </a:t>
            </a:r>
            <a:r>
              <a:rPr sz="900" dirty="0">
                <a:latin typeface="Arial"/>
                <a:cs typeface="Arial"/>
              </a:rPr>
              <a:t>from</a:t>
            </a:r>
            <a:r>
              <a:rPr sz="900" spc="-15" dirty="0">
                <a:latin typeface="Arial"/>
                <a:cs typeface="Arial"/>
              </a:rPr>
              <a:t> </a:t>
            </a:r>
            <a:r>
              <a:rPr sz="900" i="1" dirty="0">
                <a:latin typeface="Arial"/>
                <a:cs typeface="Arial"/>
              </a:rPr>
              <a:t>m</a:t>
            </a:r>
            <a:r>
              <a:rPr sz="900" i="1" spc="-40" dirty="0">
                <a:latin typeface="Arial"/>
                <a:cs typeface="Arial"/>
              </a:rPr>
              <a:t> </a:t>
            </a:r>
            <a:r>
              <a:rPr sz="900" i="1" spc="60" dirty="0">
                <a:latin typeface="STIX Two Text"/>
                <a:cs typeface="STIX Two Text"/>
              </a:rPr>
              <a:t>&gt;</a:t>
            </a:r>
            <a:r>
              <a:rPr sz="900" i="1" spc="-10" dirty="0">
                <a:latin typeface="STIX Two Text"/>
                <a:cs typeface="STIX Two Text"/>
              </a:rPr>
              <a:t> </a:t>
            </a:r>
            <a:r>
              <a:rPr sz="900" i="1" spc="50" dirty="0">
                <a:latin typeface="Arial"/>
                <a:cs typeface="Arial"/>
              </a:rPr>
              <a:t>N</a:t>
            </a:r>
            <a:r>
              <a:rPr sz="900" i="1" spc="50" dirty="0">
                <a:latin typeface="STIX Two Text"/>
                <a:cs typeface="STIX Two Text"/>
              </a:rPr>
              <a:t>/</a:t>
            </a:r>
            <a:r>
              <a:rPr sz="900" spc="50" dirty="0">
                <a:latin typeface="Arial"/>
                <a:cs typeface="Arial"/>
              </a:rPr>
              <a:t>2</a:t>
            </a:r>
            <a:r>
              <a:rPr sz="900" spc="-15" dirty="0">
                <a:latin typeface="Arial"/>
                <a:cs typeface="Arial"/>
              </a:rPr>
              <a:t> </a:t>
            </a:r>
            <a:r>
              <a:rPr sz="900" dirty="0">
                <a:latin typeface="Arial"/>
                <a:cs typeface="Arial"/>
              </a:rPr>
              <a:t>coordinators.</a:t>
            </a:r>
            <a:r>
              <a:rPr sz="900" spc="45" dirty="0">
                <a:latin typeface="Arial"/>
                <a:cs typeface="Arial"/>
              </a:rPr>
              <a:t> </a:t>
            </a:r>
            <a:r>
              <a:rPr sz="900" spc="-50" dirty="0">
                <a:latin typeface="Arial"/>
                <a:cs typeface="Arial"/>
              </a:rPr>
              <a:t>A</a:t>
            </a:r>
            <a:r>
              <a:rPr sz="900" dirty="0">
                <a:latin typeface="Arial"/>
                <a:cs typeface="Arial"/>
              </a:rPr>
              <a:t> coordinator</a:t>
            </a:r>
            <a:r>
              <a:rPr sz="900" spc="-35" dirty="0">
                <a:latin typeface="Arial"/>
                <a:cs typeface="Arial"/>
              </a:rPr>
              <a:t> </a:t>
            </a:r>
            <a:r>
              <a:rPr sz="900" spc="-10" dirty="0">
                <a:latin typeface="Arial"/>
                <a:cs typeface="Arial"/>
              </a:rPr>
              <a:t>always</a:t>
            </a:r>
            <a:r>
              <a:rPr sz="900" spc="-30" dirty="0">
                <a:latin typeface="Arial"/>
                <a:cs typeface="Arial"/>
              </a:rPr>
              <a:t> </a:t>
            </a:r>
            <a:r>
              <a:rPr sz="900" dirty="0">
                <a:latin typeface="Arial"/>
                <a:cs typeface="Arial"/>
              </a:rPr>
              <a:t>responds</a:t>
            </a:r>
            <a:r>
              <a:rPr sz="900" spc="-30" dirty="0">
                <a:latin typeface="Arial"/>
                <a:cs typeface="Arial"/>
              </a:rPr>
              <a:t> </a:t>
            </a:r>
            <a:r>
              <a:rPr sz="900" dirty="0">
                <a:latin typeface="Arial"/>
                <a:cs typeface="Arial"/>
              </a:rPr>
              <a:t>immediately</a:t>
            </a:r>
            <a:r>
              <a:rPr sz="900" spc="-30" dirty="0">
                <a:latin typeface="Arial"/>
                <a:cs typeface="Arial"/>
              </a:rPr>
              <a:t> </a:t>
            </a:r>
            <a:r>
              <a:rPr sz="900" dirty="0">
                <a:latin typeface="Arial"/>
                <a:cs typeface="Arial"/>
              </a:rPr>
              <a:t>to</a:t>
            </a:r>
            <a:r>
              <a:rPr sz="900" spc="-30" dirty="0">
                <a:latin typeface="Arial"/>
                <a:cs typeface="Arial"/>
              </a:rPr>
              <a:t> </a:t>
            </a:r>
            <a:r>
              <a:rPr sz="900" dirty="0">
                <a:latin typeface="Arial"/>
                <a:cs typeface="Arial"/>
              </a:rPr>
              <a:t>a</a:t>
            </a:r>
            <a:r>
              <a:rPr sz="900" spc="-35" dirty="0">
                <a:latin typeface="Arial"/>
                <a:cs typeface="Arial"/>
              </a:rPr>
              <a:t> </a:t>
            </a:r>
            <a:r>
              <a:rPr sz="900" spc="-10" dirty="0">
                <a:latin typeface="Arial"/>
                <a:cs typeface="Arial"/>
              </a:rPr>
              <a:t>request.</a:t>
            </a:r>
            <a:endParaRPr sz="900">
              <a:latin typeface="Arial"/>
              <a:cs typeface="Arial"/>
            </a:endParaRPr>
          </a:p>
          <a:p>
            <a:pPr marL="13335">
              <a:lnSpc>
                <a:spcPct val="100000"/>
              </a:lnSpc>
              <a:spcBef>
                <a:spcPts val="810"/>
              </a:spcBef>
            </a:pPr>
            <a:r>
              <a:rPr sz="1000" spc="-10" dirty="0">
                <a:solidFill>
                  <a:srgbClr val="3333B2"/>
                </a:solidFill>
                <a:latin typeface="Arial"/>
                <a:cs typeface="Arial"/>
              </a:rPr>
              <a:t>Assumption</a:t>
            </a:r>
            <a:endParaRPr sz="1000">
              <a:latin typeface="Arial"/>
              <a:cs typeface="Arial"/>
            </a:endParaRPr>
          </a:p>
          <a:p>
            <a:pPr marL="17780" marR="234315" indent="-5715">
              <a:lnSpc>
                <a:spcPct val="111600"/>
              </a:lnSpc>
              <a:spcBef>
                <a:spcPts val="170"/>
              </a:spcBef>
            </a:pPr>
            <a:r>
              <a:rPr sz="900" dirty="0">
                <a:latin typeface="Arial"/>
                <a:cs typeface="Arial"/>
              </a:rPr>
              <a:t>When</a:t>
            </a:r>
            <a:r>
              <a:rPr sz="900" spc="-20" dirty="0">
                <a:latin typeface="Arial"/>
                <a:cs typeface="Arial"/>
              </a:rPr>
              <a:t> </a:t>
            </a:r>
            <a:r>
              <a:rPr sz="900" dirty="0">
                <a:latin typeface="Arial"/>
                <a:cs typeface="Arial"/>
              </a:rPr>
              <a:t>a</a:t>
            </a:r>
            <a:r>
              <a:rPr sz="900" spc="-15" dirty="0">
                <a:latin typeface="Arial"/>
                <a:cs typeface="Arial"/>
              </a:rPr>
              <a:t> </a:t>
            </a:r>
            <a:r>
              <a:rPr sz="900" dirty="0">
                <a:latin typeface="Arial"/>
                <a:cs typeface="Arial"/>
              </a:rPr>
              <a:t>coordinator</a:t>
            </a:r>
            <a:r>
              <a:rPr sz="900" spc="-15" dirty="0">
                <a:latin typeface="Arial"/>
                <a:cs typeface="Arial"/>
              </a:rPr>
              <a:t> </a:t>
            </a:r>
            <a:r>
              <a:rPr sz="900" spc="-10" dirty="0">
                <a:latin typeface="Arial"/>
                <a:cs typeface="Arial"/>
              </a:rPr>
              <a:t>crashes,</a:t>
            </a:r>
            <a:r>
              <a:rPr sz="900" spc="-15" dirty="0">
                <a:latin typeface="Arial"/>
                <a:cs typeface="Arial"/>
              </a:rPr>
              <a:t> </a:t>
            </a:r>
            <a:r>
              <a:rPr sz="900" dirty="0">
                <a:latin typeface="Arial"/>
                <a:cs typeface="Arial"/>
              </a:rPr>
              <a:t>it</a:t>
            </a:r>
            <a:r>
              <a:rPr sz="900" spc="-15" dirty="0">
                <a:latin typeface="Arial"/>
                <a:cs typeface="Arial"/>
              </a:rPr>
              <a:t> </a:t>
            </a:r>
            <a:r>
              <a:rPr sz="900" dirty="0">
                <a:latin typeface="Arial"/>
                <a:cs typeface="Arial"/>
              </a:rPr>
              <a:t>will</a:t>
            </a:r>
            <a:r>
              <a:rPr sz="900" spc="-15" dirty="0">
                <a:latin typeface="Arial"/>
                <a:cs typeface="Arial"/>
              </a:rPr>
              <a:t> </a:t>
            </a:r>
            <a:r>
              <a:rPr sz="900" spc="-10" dirty="0">
                <a:latin typeface="Arial"/>
                <a:cs typeface="Arial"/>
              </a:rPr>
              <a:t>recover</a:t>
            </a:r>
            <a:r>
              <a:rPr sz="900" spc="-20" dirty="0">
                <a:latin typeface="Arial"/>
                <a:cs typeface="Arial"/>
              </a:rPr>
              <a:t> quickly,</a:t>
            </a:r>
            <a:r>
              <a:rPr sz="900" spc="-15" dirty="0">
                <a:latin typeface="Arial"/>
                <a:cs typeface="Arial"/>
              </a:rPr>
              <a:t> </a:t>
            </a:r>
            <a:r>
              <a:rPr sz="900" dirty="0">
                <a:latin typeface="Arial"/>
                <a:cs typeface="Arial"/>
              </a:rPr>
              <a:t>but</a:t>
            </a:r>
            <a:r>
              <a:rPr sz="900" spc="-15" dirty="0">
                <a:latin typeface="Arial"/>
                <a:cs typeface="Arial"/>
              </a:rPr>
              <a:t> </a:t>
            </a:r>
            <a:r>
              <a:rPr sz="900" dirty="0">
                <a:latin typeface="Arial"/>
                <a:cs typeface="Arial"/>
              </a:rPr>
              <a:t>will</a:t>
            </a:r>
            <a:r>
              <a:rPr sz="900" spc="-15" dirty="0">
                <a:latin typeface="Arial"/>
                <a:cs typeface="Arial"/>
              </a:rPr>
              <a:t> </a:t>
            </a:r>
            <a:r>
              <a:rPr sz="900" spc="-10" dirty="0">
                <a:latin typeface="Arial"/>
                <a:cs typeface="Arial"/>
              </a:rPr>
              <a:t>have</a:t>
            </a:r>
            <a:r>
              <a:rPr sz="900" spc="-15" dirty="0">
                <a:latin typeface="Arial"/>
                <a:cs typeface="Arial"/>
              </a:rPr>
              <a:t> </a:t>
            </a:r>
            <a:r>
              <a:rPr sz="900" spc="-10" dirty="0">
                <a:latin typeface="Arial"/>
                <a:cs typeface="Arial"/>
              </a:rPr>
              <a:t>forgotten </a:t>
            </a:r>
            <a:r>
              <a:rPr sz="900" dirty="0">
                <a:latin typeface="Arial"/>
                <a:cs typeface="Arial"/>
              </a:rPr>
              <a:t>about</a:t>
            </a:r>
            <a:r>
              <a:rPr sz="900" spc="-25" dirty="0">
                <a:latin typeface="Arial"/>
                <a:cs typeface="Arial"/>
              </a:rPr>
              <a:t> </a:t>
            </a:r>
            <a:r>
              <a:rPr sz="900" dirty="0">
                <a:latin typeface="Arial"/>
                <a:cs typeface="Arial"/>
              </a:rPr>
              <a:t>permissions</a:t>
            </a:r>
            <a:r>
              <a:rPr sz="900" spc="-20" dirty="0">
                <a:latin typeface="Arial"/>
                <a:cs typeface="Arial"/>
              </a:rPr>
              <a:t> </a:t>
            </a:r>
            <a:r>
              <a:rPr sz="900" dirty="0">
                <a:latin typeface="Arial"/>
                <a:cs typeface="Arial"/>
              </a:rPr>
              <a:t>it</a:t>
            </a:r>
            <a:r>
              <a:rPr sz="900" spc="-25" dirty="0">
                <a:latin typeface="Arial"/>
                <a:cs typeface="Arial"/>
              </a:rPr>
              <a:t> </a:t>
            </a:r>
            <a:r>
              <a:rPr sz="900" dirty="0">
                <a:latin typeface="Arial"/>
                <a:cs typeface="Arial"/>
              </a:rPr>
              <a:t>had</a:t>
            </a:r>
            <a:r>
              <a:rPr sz="900" spc="-25" dirty="0">
                <a:latin typeface="Arial"/>
                <a:cs typeface="Arial"/>
              </a:rPr>
              <a:t> </a:t>
            </a:r>
            <a:r>
              <a:rPr sz="900" spc="-10" dirty="0">
                <a:latin typeface="Arial"/>
                <a:cs typeface="Arial"/>
              </a:rPr>
              <a:t>granted.</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73850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A</a:t>
            </a:r>
            <a:r>
              <a:rPr sz="500" spc="35" dirty="0">
                <a:latin typeface="Arial"/>
                <a:cs typeface="Arial"/>
                <a:hlinkClick r:id="rId4" action="ppaction://hlinksldjump"/>
              </a:rPr>
              <a:t> </a:t>
            </a:r>
            <a:r>
              <a:rPr sz="500" spc="-10" dirty="0">
                <a:latin typeface="Arial"/>
                <a:cs typeface="Arial"/>
                <a:hlinkClick r:id="rId4" action="ppaction://hlinksldjump"/>
              </a:rPr>
              <a:t>decentralized</a:t>
            </a:r>
            <a:r>
              <a:rPr sz="500" spc="35" dirty="0">
                <a:latin typeface="Arial"/>
                <a:cs typeface="Arial"/>
                <a:hlinkClick r:id="rId4" action="ppaction://hlinksldjump"/>
              </a:rPr>
              <a:t> </a:t>
            </a:r>
            <a:r>
              <a:rPr sz="500" spc="-10" dirty="0">
                <a:latin typeface="Arial"/>
                <a:cs typeface="Arial"/>
                <a:hlinkClick r:id="rId4" action="ppaction://hlinksldjump"/>
              </a:rPr>
              <a:t>algorithm</a:t>
            </a:r>
            <a:endParaRPr sz="500">
              <a:latin typeface="Arial"/>
              <a:cs typeface="Arial"/>
            </a:endParaRPr>
          </a:p>
        </p:txBody>
      </p:sp>
    </p:spTree>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4018915" algn="l"/>
              </a:tabLst>
            </a:pPr>
            <a:r>
              <a:rPr sz="500" spc="-10" dirty="0">
                <a:latin typeface="Arial"/>
                <a:cs typeface="Arial"/>
                <a:hlinkClick r:id="rId2" action="ppaction://hlinksldjump"/>
              </a:rPr>
              <a:t>Coordination</a:t>
            </a:r>
            <a:r>
              <a:rPr sz="500" dirty="0">
                <a:latin typeface="Arial"/>
                <a:cs typeface="Arial"/>
              </a:rPr>
              <a:t>	</a:t>
            </a:r>
            <a:r>
              <a:rPr sz="500" dirty="0">
                <a:solidFill>
                  <a:srgbClr val="FFFFFF"/>
                </a:solidFill>
                <a:latin typeface="Arial"/>
                <a:cs typeface="Arial"/>
                <a:hlinkClick r:id="rId3" action="ppaction://hlinksldjump"/>
              </a:rPr>
              <a:t>Mutual</a:t>
            </a:r>
            <a:r>
              <a:rPr sz="500" spc="-30"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exclusion</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0" dirty="0"/>
              <a:t>Decentralized</a:t>
            </a:r>
            <a:r>
              <a:rPr spc="-20" dirty="0"/>
              <a:t> </a:t>
            </a:r>
            <a:r>
              <a:rPr dirty="0"/>
              <a:t>mutual</a:t>
            </a:r>
            <a:r>
              <a:rPr spc="-20" dirty="0"/>
              <a:t> </a:t>
            </a:r>
            <a:r>
              <a:rPr spc="-10" dirty="0"/>
              <a:t>exclusion</a:t>
            </a:r>
          </a:p>
        </p:txBody>
      </p:sp>
      <p:sp>
        <p:nvSpPr>
          <p:cNvPr id="4" name="object 4"/>
          <p:cNvSpPr txBox="1"/>
          <p:nvPr/>
        </p:nvSpPr>
        <p:spPr>
          <a:xfrm>
            <a:off x="334594" y="514774"/>
            <a:ext cx="3834129" cy="556895"/>
          </a:xfrm>
          <a:prstGeom prst="rect">
            <a:avLst/>
          </a:prstGeom>
        </p:spPr>
        <p:txBody>
          <a:bodyPr vert="horz" wrap="square" lIns="0" tIns="12065" rIns="0" bIns="0" rtlCol="0">
            <a:spAutoFit/>
          </a:bodyPr>
          <a:lstStyle/>
          <a:p>
            <a:pPr marL="25400">
              <a:lnSpc>
                <a:spcPct val="100000"/>
              </a:lnSpc>
              <a:spcBef>
                <a:spcPts val="95"/>
              </a:spcBef>
            </a:pPr>
            <a:r>
              <a:rPr sz="1000" dirty="0">
                <a:solidFill>
                  <a:srgbClr val="3333B2"/>
                </a:solidFill>
                <a:latin typeface="Arial"/>
                <a:cs typeface="Arial"/>
              </a:rPr>
              <a:t>How</a:t>
            </a:r>
            <a:r>
              <a:rPr sz="1000" spc="-35" dirty="0">
                <a:solidFill>
                  <a:srgbClr val="3333B2"/>
                </a:solidFill>
                <a:latin typeface="Arial"/>
                <a:cs typeface="Arial"/>
              </a:rPr>
              <a:t> </a:t>
            </a:r>
            <a:r>
              <a:rPr sz="1000" dirty="0">
                <a:solidFill>
                  <a:srgbClr val="3333B2"/>
                </a:solidFill>
                <a:latin typeface="Arial"/>
                <a:cs typeface="Arial"/>
              </a:rPr>
              <a:t>robust</a:t>
            </a:r>
            <a:r>
              <a:rPr sz="1000" spc="-30" dirty="0">
                <a:solidFill>
                  <a:srgbClr val="3333B2"/>
                </a:solidFill>
                <a:latin typeface="Arial"/>
                <a:cs typeface="Arial"/>
              </a:rPr>
              <a:t> </a:t>
            </a:r>
            <a:r>
              <a:rPr sz="1000" dirty="0">
                <a:solidFill>
                  <a:srgbClr val="3333B2"/>
                </a:solidFill>
                <a:latin typeface="Arial"/>
                <a:cs typeface="Arial"/>
              </a:rPr>
              <a:t>is</a:t>
            </a:r>
            <a:r>
              <a:rPr sz="1000" spc="-30" dirty="0">
                <a:solidFill>
                  <a:srgbClr val="3333B2"/>
                </a:solidFill>
                <a:latin typeface="Arial"/>
                <a:cs typeface="Arial"/>
              </a:rPr>
              <a:t> </a:t>
            </a:r>
            <a:r>
              <a:rPr sz="1000" dirty="0">
                <a:solidFill>
                  <a:srgbClr val="3333B2"/>
                </a:solidFill>
                <a:latin typeface="Arial"/>
                <a:cs typeface="Arial"/>
              </a:rPr>
              <a:t>this</a:t>
            </a:r>
            <a:r>
              <a:rPr sz="1000" spc="-35" dirty="0">
                <a:solidFill>
                  <a:srgbClr val="3333B2"/>
                </a:solidFill>
                <a:latin typeface="Arial"/>
                <a:cs typeface="Arial"/>
              </a:rPr>
              <a:t> </a:t>
            </a:r>
            <a:r>
              <a:rPr sz="1000" spc="-10" dirty="0">
                <a:solidFill>
                  <a:srgbClr val="3333B2"/>
                </a:solidFill>
                <a:latin typeface="Arial"/>
                <a:cs typeface="Arial"/>
              </a:rPr>
              <a:t>system?</a:t>
            </a:r>
            <a:endParaRPr sz="1000">
              <a:latin typeface="Arial"/>
              <a:cs typeface="Arial"/>
            </a:endParaRPr>
          </a:p>
          <a:p>
            <a:pPr marL="278130" marR="17780" indent="-120650">
              <a:lnSpc>
                <a:spcPct val="111600"/>
              </a:lnSpc>
              <a:spcBef>
                <a:spcPts val="575"/>
              </a:spcBef>
              <a:buClr>
                <a:srgbClr val="3333B2"/>
              </a:buClr>
              <a:buFont typeface="Menlo"/>
              <a:buChar char="•"/>
              <a:tabLst>
                <a:tab pos="278765" algn="l"/>
              </a:tabLst>
            </a:pPr>
            <a:r>
              <a:rPr sz="900" dirty="0">
                <a:latin typeface="Arial"/>
                <a:cs typeface="Arial"/>
              </a:rPr>
              <a:t>Let</a:t>
            </a:r>
            <a:r>
              <a:rPr sz="900" spc="-25" dirty="0">
                <a:latin typeface="Arial"/>
                <a:cs typeface="Arial"/>
              </a:rPr>
              <a:t> </a:t>
            </a:r>
            <a:r>
              <a:rPr sz="900" i="1" dirty="0">
                <a:latin typeface="Arial"/>
                <a:cs typeface="Arial"/>
              </a:rPr>
              <a:t>p</a:t>
            </a:r>
            <a:r>
              <a:rPr sz="900" i="1" spc="-40" dirty="0">
                <a:latin typeface="Arial"/>
                <a:cs typeface="Arial"/>
              </a:rPr>
              <a:t> </a:t>
            </a:r>
            <a:r>
              <a:rPr sz="900" spc="185" dirty="0">
                <a:latin typeface="Arial"/>
                <a:cs typeface="Arial"/>
              </a:rPr>
              <a:t>=</a:t>
            </a:r>
            <a:r>
              <a:rPr sz="900" spc="-65" dirty="0">
                <a:latin typeface="Arial"/>
                <a:cs typeface="Arial"/>
              </a:rPr>
              <a:t> </a:t>
            </a:r>
            <a:r>
              <a:rPr sz="900" spc="95" dirty="0">
                <a:latin typeface="Arial"/>
                <a:cs typeface="Arial"/>
              </a:rPr>
              <a:t>∆</a:t>
            </a:r>
            <a:r>
              <a:rPr sz="900" i="1" spc="95" dirty="0">
                <a:latin typeface="Arial"/>
                <a:cs typeface="Arial"/>
              </a:rPr>
              <a:t>t</a:t>
            </a:r>
            <a:r>
              <a:rPr sz="900" i="1" spc="95" dirty="0">
                <a:latin typeface="STIX Two Text"/>
                <a:cs typeface="STIX Two Text"/>
              </a:rPr>
              <a:t>/</a:t>
            </a:r>
            <a:r>
              <a:rPr sz="900" i="1" spc="95" dirty="0">
                <a:latin typeface="Arial"/>
                <a:cs typeface="Arial"/>
              </a:rPr>
              <a:t>T</a:t>
            </a:r>
            <a:r>
              <a:rPr sz="900" i="1" spc="100" dirty="0">
                <a:latin typeface="Arial"/>
                <a:cs typeface="Arial"/>
              </a:rPr>
              <a:t> </a:t>
            </a:r>
            <a:r>
              <a:rPr sz="900" dirty="0">
                <a:latin typeface="Arial"/>
                <a:cs typeface="Arial"/>
              </a:rPr>
              <a:t>be</a:t>
            </a:r>
            <a:r>
              <a:rPr sz="900" spc="-20" dirty="0">
                <a:latin typeface="Arial"/>
                <a:cs typeface="Arial"/>
              </a:rPr>
              <a:t> </a:t>
            </a:r>
            <a:r>
              <a:rPr sz="900" dirty="0">
                <a:latin typeface="Arial"/>
                <a:cs typeface="Arial"/>
              </a:rPr>
              <a:t>the</a:t>
            </a:r>
            <a:r>
              <a:rPr sz="900" spc="-15" dirty="0">
                <a:latin typeface="Arial"/>
                <a:cs typeface="Arial"/>
              </a:rPr>
              <a:t> </a:t>
            </a:r>
            <a:r>
              <a:rPr sz="900" dirty="0">
                <a:latin typeface="Arial"/>
                <a:cs typeface="Arial"/>
              </a:rPr>
              <a:t>probability</a:t>
            </a:r>
            <a:r>
              <a:rPr sz="900" spc="-20" dirty="0">
                <a:latin typeface="Arial"/>
                <a:cs typeface="Arial"/>
              </a:rPr>
              <a:t> </a:t>
            </a:r>
            <a:r>
              <a:rPr sz="900" dirty="0">
                <a:latin typeface="Arial"/>
                <a:cs typeface="Arial"/>
              </a:rPr>
              <a:t>that</a:t>
            </a:r>
            <a:r>
              <a:rPr sz="900" spc="-20" dirty="0">
                <a:latin typeface="Arial"/>
                <a:cs typeface="Arial"/>
              </a:rPr>
              <a:t> </a:t>
            </a:r>
            <a:r>
              <a:rPr sz="900" dirty="0">
                <a:latin typeface="Arial"/>
                <a:cs typeface="Arial"/>
              </a:rPr>
              <a:t>a</a:t>
            </a:r>
            <a:r>
              <a:rPr sz="900" spc="-15" dirty="0">
                <a:latin typeface="Arial"/>
                <a:cs typeface="Arial"/>
              </a:rPr>
              <a:t> </a:t>
            </a:r>
            <a:r>
              <a:rPr sz="900" dirty="0">
                <a:latin typeface="Arial"/>
                <a:cs typeface="Arial"/>
              </a:rPr>
              <a:t>coordinator</a:t>
            </a:r>
            <a:r>
              <a:rPr sz="900" spc="-20" dirty="0">
                <a:latin typeface="Arial"/>
                <a:cs typeface="Arial"/>
              </a:rPr>
              <a:t> </a:t>
            </a:r>
            <a:r>
              <a:rPr sz="900" dirty="0">
                <a:latin typeface="Arial"/>
                <a:cs typeface="Arial"/>
              </a:rPr>
              <a:t>resets</a:t>
            </a:r>
            <a:r>
              <a:rPr sz="900" spc="-20" dirty="0">
                <a:latin typeface="Arial"/>
                <a:cs typeface="Arial"/>
              </a:rPr>
              <a:t> </a:t>
            </a:r>
            <a:r>
              <a:rPr sz="900" dirty="0">
                <a:latin typeface="Arial"/>
                <a:cs typeface="Arial"/>
              </a:rPr>
              <a:t>during</a:t>
            </a:r>
            <a:r>
              <a:rPr sz="900" spc="-20" dirty="0">
                <a:latin typeface="Arial"/>
                <a:cs typeface="Arial"/>
              </a:rPr>
              <a:t> </a:t>
            </a:r>
            <a:r>
              <a:rPr sz="900" dirty="0">
                <a:latin typeface="Arial"/>
                <a:cs typeface="Arial"/>
              </a:rPr>
              <a:t>a</a:t>
            </a:r>
            <a:r>
              <a:rPr sz="900" spc="-15" dirty="0">
                <a:latin typeface="Arial"/>
                <a:cs typeface="Arial"/>
              </a:rPr>
              <a:t> </a:t>
            </a:r>
            <a:r>
              <a:rPr sz="900" spc="-20" dirty="0">
                <a:latin typeface="Arial"/>
                <a:cs typeface="Arial"/>
              </a:rPr>
              <a:t>time </a:t>
            </a:r>
            <a:r>
              <a:rPr sz="900" dirty="0">
                <a:latin typeface="Arial"/>
                <a:cs typeface="Arial"/>
              </a:rPr>
              <a:t>interval</a:t>
            </a:r>
            <a:r>
              <a:rPr sz="900" spc="-25" dirty="0">
                <a:latin typeface="Arial"/>
                <a:cs typeface="Arial"/>
              </a:rPr>
              <a:t> </a:t>
            </a:r>
            <a:r>
              <a:rPr sz="900" spc="105" dirty="0">
                <a:latin typeface="Arial"/>
                <a:cs typeface="Arial"/>
              </a:rPr>
              <a:t>∆</a:t>
            </a:r>
            <a:r>
              <a:rPr sz="900" i="1" spc="105" dirty="0">
                <a:latin typeface="Arial"/>
                <a:cs typeface="Arial"/>
              </a:rPr>
              <a:t>t</a:t>
            </a:r>
            <a:r>
              <a:rPr sz="900" i="1" spc="-170" dirty="0">
                <a:latin typeface="Arial"/>
                <a:cs typeface="Arial"/>
              </a:rPr>
              <a:t> </a:t>
            </a:r>
            <a:r>
              <a:rPr sz="900" dirty="0">
                <a:latin typeface="Arial"/>
                <a:cs typeface="Arial"/>
              </a:rPr>
              <a:t>,</a:t>
            </a:r>
            <a:r>
              <a:rPr sz="900" spc="-15" dirty="0">
                <a:latin typeface="Arial"/>
                <a:cs typeface="Arial"/>
              </a:rPr>
              <a:t> </a:t>
            </a:r>
            <a:r>
              <a:rPr sz="900" dirty="0">
                <a:latin typeface="Arial"/>
                <a:cs typeface="Arial"/>
              </a:rPr>
              <a:t>while</a:t>
            </a:r>
            <a:r>
              <a:rPr sz="900" spc="-20" dirty="0">
                <a:latin typeface="Arial"/>
                <a:cs typeface="Arial"/>
              </a:rPr>
              <a:t> </a:t>
            </a:r>
            <a:r>
              <a:rPr sz="900" dirty="0">
                <a:latin typeface="Arial"/>
                <a:cs typeface="Arial"/>
              </a:rPr>
              <a:t>having</a:t>
            </a:r>
            <a:r>
              <a:rPr sz="900" spc="-15" dirty="0">
                <a:latin typeface="Arial"/>
                <a:cs typeface="Arial"/>
              </a:rPr>
              <a:t> </a:t>
            </a:r>
            <a:r>
              <a:rPr sz="900" dirty="0">
                <a:latin typeface="Arial"/>
                <a:cs typeface="Arial"/>
              </a:rPr>
              <a:t>a</a:t>
            </a:r>
            <a:r>
              <a:rPr sz="900" spc="-15" dirty="0">
                <a:latin typeface="Arial"/>
                <a:cs typeface="Arial"/>
              </a:rPr>
              <a:t> </a:t>
            </a:r>
            <a:r>
              <a:rPr sz="900" spc="-10" dirty="0">
                <a:latin typeface="Arial"/>
                <a:cs typeface="Arial"/>
              </a:rPr>
              <a:t>lifetime</a:t>
            </a:r>
            <a:r>
              <a:rPr sz="900" spc="-15" dirty="0">
                <a:latin typeface="Arial"/>
                <a:cs typeface="Arial"/>
              </a:rPr>
              <a:t> </a:t>
            </a:r>
            <a:r>
              <a:rPr sz="900" dirty="0">
                <a:latin typeface="Arial"/>
                <a:cs typeface="Arial"/>
              </a:rPr>
              <a:t>of</a:t>
            </a:r>
            <a:r>
              <a:rPr sz="900" spc="-15" dirty="0">
                <a:latin typeface="Arial"/>
                <a:cs typeface="Arial"/>
              </a:rPr>
              <a:t> </a:t>
            </a:r>
            <a:r>
              <a:rPr sz="900" i="1" spc="-10" dirty="0">
                <a:latin typeface="Arial"/>
                <a:cs typeface="Arial"/>
              </a:rPr>
              <a:t>T</a:t>
            </a:r>
            <a:r>
              <a:rPr sz="900" i="1" spc="-130" dirty="0">
                <a:latin typeface="Arial"/>
                <a:cs typeface="Arial"/>
              </a:rPr>
              <a:t> </a:t>
            </a:r>
            <a:r>
              <a:rPr sz="900" spc="-50" dirty="0">
                <a:latin typeface="Arial"/>
                <a:cs typeface="Arial"/>
              </a:rPr>
              <a:t>.</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73850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A</a:t>
            </a:r>
            <a:r>
              <a:rPr sz="500" spc="35" dirty="0">
                <a:latin typeface="Arial"/>
                <a:cs typeface="Arial"/>
                <a:hlinkClick r:id="rId4" action="ppaction://hlinksldjump"/>
              </a:rPr>
              <a:t> </a:t>
            </a:r>
            <a:r>
              <a:rPr sz="500" spc="-10" dirty="0">
                <a:latin typeface="Arial"/>
                <a:cs typeface="Arial"/>
                <a:hlinkClick r:id="rId4" action="ppaction://hlinksldjump"/>
              </a:rPr>
              <a:t>decentralized</a:t>
            </a:r>
            <a:r>
              <a:rPr sz="500" spc="35" dirty="0">
                <a:latin typeface="Arial"/>
                <a:cs typeface="Arial"/>
                <a:hlinkClick r:id="rId4" action="ppaction://hlinksldjump"/>
              </a:rPr>
              <a:t> </a:t>
            </a:r>
            <a:r>
              <a:rPr sz="500" spc="-10" dirty="0">
                <a:latin typeface="Arial"/>
                <a:cs typeface="Arial"/>
                <a:hlinkClick r:id="rId4" action="ppaction://hlinksldjump"/>
              </a:rPr>
              <a:t>algorithm</a:t>
            </a:r>
            <a:endParaRPr sz="500">
              <a:latin typeface="Arial"/>
              <a:cs typeface="Arial"/>
            </a:endParaRPr>
          </a:p>
        </p:txBody>
      </p:sp>
    </p:spTree>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4018915" algn="l"/>
              </a:tabLst>
            </a:pPr>
            <a:r>
              <a:rPr sz="500" spc="-10" dirty="0">
                <a:latin typeface="Arial"/>
                <a:cs typeface="Arial"/>
                <a:hlinkClick r:id="rId2" action="ppaction://hlinksldjump"/>
              </a:rPr>
              <a:t>Coordination</a:t>
            </a:r>
            <a:r>
              <a:rPr sz="500" dirty="0">
                <a:latin typeface="Arial"/>
                <a:cs typeface="Arial"/>
              </a:rPr>
              <a:t>	</a:t>
            </a:r>
            <a:r>
              <a:rPr sz="500" dirty="0">
                <a:solidFill>
                  <a:srgbClr val="FFFFFF"/>
                </a:solidFill>
                <a:latin typeface="Arial"/>
                <a:cs typeface="Arial"/>
                <a:hlinkClick r:id="rId3" action="ppaction://hlinksldjump"/>
              </a:rPr>
              <a:t>Mutual</a:t>
            </a:r>
            <a:r>
              <a:rPr sz="500" spc="-30"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exclusion</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0" dirty="0"/>
              <a:t>Decentralized</a:t>
            </a:r>
            <a:r>
              <a:rPr spc="-20" dirty="0"/>
              <a:t> </a:t>
            </a:r>
            <a:r>
              <a:rPr dirty="0"/>
              <a:t>mutual</a:t>
            </a:r>
            <a:r>
              <a:rPr spc="-20" dirty="0"/>
              <a:t> </a:t>
            </a:r>
            <a:r>
              <a:rPr spc="-10" dirty="0"/>
              <a:t>exclusion</a:t>
            </a:r>
          </a:p>
        </p:txBody>
      </p:sp>
      <p:sp>
        <p:nvSpPr>
          <p:cNvPr id="4" name="object 4"/>
          <p:cNvSpPr txBox="1"/>
          <p:nvPr/>
        </p:nvSpPr>
        <p:spPr>
          <a:xfrm>
            <a:off x="334594" y="514774"/>
            <a:ext cx="3844925" cy="913765"/>
          </a:xfrm>
          <a:prstGeom prst="rect">
            <a:avLst/>
          </a:prstGeom>
        </p:spPr>
        <p:txBody>
          <a:bodyPr vert="horz" wrap="square" lIns="0" tIns="12065" rIns="0" bIns="0" rtlCol="0">
            <a:spAutoFit/>
          </a:bodyPr>
          <a:lstStyle/>
          <a:p>
            <a:pPr marL="25400">
              <a:lnSpc>
                <a:spcPct val="100000"/>
              </a:lnSpc>
              <a:spcBef>
                <a:spcPts val="95"/>
              </a:spcBef>
            </a:pPr>
            <a:r>
              <a:rPr sz="1000" dirty="0">
                <a:solidFill>
                  <a:srgbClr val="3333B2"/>
                </a:solidFill>
                <a:latin typeface="Arial"/>
                <a:cs typeface="Arial"/>
              </a:rPr>
              <a:t>How</a:t>
            </a:r>
            <a:r>
              <a:rPr sz="1000" spc="-35" dirty="0">
                <a:solidFill>
                  <a:srgbClr val="3333B2"/>
                </a:solidFill>
                <a:latin typeface="Arial"/>
                <a:cs typeface="Arial"/>
              </a:rPr>
              <a:t> </a:t>
            </a:r>
            <a:r>
              <a:rPr sz="1000" dirty="0">
                <a:solidFill>
                  <a:srgbClr val="3333B2"/>
                </a:solidFill>
                <a:latin typeface="Arial"/>
                <a:cs typeface="Arial"/>
              </a:rPr>
              <a:t>robust</a:t>
            </a:r>
            <a:r>
              <a:rPr sz="1000" spc="-30" dirty="0">
                <a:solidFill>
                  <a:srgbClr val="3333B2"/>
                </a:solidFill>
                <a:latin typeface="Arial"/>
                <a:cs typeface="Arial"/>
              </a:rPr>
              <a:t> </a:t>
            </a:r>
            <a:r>
              <a:rPr sz="1000" dirty="0">
                <a:solidFill>
                  <a:srgbClr val="3333B2"/>
                </a:solidFill>
                <a:latin typeface="Arial"/>
                <a:cs typeface="Arial"/>
              </a:rPr>
              <a:t>is</a:t>
            </a:r>
            <a:r>
              <a:rPr sz="1000" spc="-30" dirty="0">
                <a:solidFill>
                  <a:srgbClr val="3333B2"/>
                </a:solidFill>
                <a:latin typeface="Arial"/>
                <a:cs typeface="Arial"/>
              </a:rPr>
              <a:t> </a:t>
            </a:r>
            <a:r>
              <a:rPr sz="1000" dirty="0">
                <a:solidFill>
                  <a:srgbClr val="3333B2"/>
                </a:solidFill>
                <a:latin typeface="Arial"/>
                <a:cs typeface="Arial"/>
              </a:rPr>
              <a:t>this</a:t>
            </a:r>
            <a:r>
              <a:rPr sz="1000" spc="-35" dirty="0">
                <a:solidFill>
                  <a:srgbClr val="3333B2"/>
                </a:solidFill>
                <a:latin typeface="Arial"/>
                <a:cs typeface="Arial"/>
              </a:rPr>
              <a:t> </a:t>
            </a:r>
            <a:r>
              <a:rPr sz="1000" spc="-10" dirty="0">
                <a:solidFill>
                  <a:srgbClr val="3333B2"/>
                </a:solidFill>
                <a:latin typeface="Arial"/>
                <a:cs typeface="Arial"/>
              </a:rPr>
              <a:t>system?</a:t>
            </a:r>
            <a:endParaRPr sz="1000">
              <a:latin typeface="Arial"/>
              <a:cs typeface="Arial"/>
            </a:endParaRPr>
          </a:p>
          <a:p>
            <a:pPr marL="278130" marR="27940" indent="-120650">
              <a:lnSpc>
                <a:spcPct val="111600"/>
              </a:lnSpc>
              <a:spcBef>
                <a:spcPts val="575"/>
              </a:spcBef>
              <a:buClr>
                <a:srgbClr val="3333B2"/>
              </a:buClr>
              <a:buFont typeface="Menlo"/>
              <a:buChar char="•"/>
              <a:tabLst>
                <a:tab pos="278765" algn="l"/>
              </a:tabLst>
            </a:pPr>
            <a:r>
              <a:rPr sz="900" dirty="0">
                <a:latin typeface="Arial"/>
                <a:cs typeface="Arial"/>
              </a:rPr>
              <a:t>Let</a:t>
            </a:r>
            <a:r>
              <a:rPr sz="900" spc="-25" dirty="0">
                <a:latin typeface="Arial"/>
                <a:cs typeface="Arial"/>
              </a:rPr>
              <a:t> </a:t>
            </a:r>
            <a:r>
              <a:rPr sz="900" i="1" dirty="0">
                <a:latin typeface="Arial"/>
                <a:cs typeface="Arial"/>
              </a:rPr>
              <a:t>p</a:t>
            </a:r>
            <a:r>
              <a:rPr sz="900" i="1" spc="-40" dirty="0">
                <a:latin typeface="Arial"/>
                <a:cs typeface="Arial"/>
              </a:rPr>
              <a:t> </a:t>
            </a:r>
            <a:r>
              <a:rPr sz="900" spc="185" dirty="0">
                <a:latin typeface="Arial"/>
                <a:cs typeface="Arial"/>
              </a:rPr>
              <a:t>=</a:t>
            </a:r>
            <a:r>
              <a:rPr sz="900" spc="-65" dirty="0">
                <a:latin typeface="Arial"/>
                <a:cs typeface="Arial"/>
              </a:rPr>
              <a:t> </a:t>
            </a:r>
            <a:r>
              <a:rPr sz="900" spc="95" dirty="0">
                <a:latin typeface="Arial"/>
                <a:cs typeface="Arial"/>
              </a:rPr>
              <a:t>∆</a:t>
            </a:r>
            <a:r>
              <a:rPr sz="900" i="1" spc="95" dirty="0">
                <a:latin typeface="Arial"/>
                <a:cs typeface="Arial"/>
              </a:rPr>
              <a:t>t</a:t>
            </a:r>
            <a:r>
              <a:rPr sz="900" i="1" spc="95" dirty="0">
                <a:latin typeface="STIX Two Text"/>
                <a:cs typeface="STIX Two Text"/>
              </a:rPr>
              <a:t>/</a:t>
            </a:r>
            <a:r>
              <a:rPr sz="900" i="1" spc="95" dirty="0">
                <a:latin typeface="Arial"/>
                <a:cs typeface="Arial"/>
              </a:rPr>
              <a:t>T</a:t>
            </a:r>
            <a:r>
              <a:rPr sz="900" i="1" spc="100" dirty="0">
                <a:latin typeface="Arial"/>
                <a:cs typeface="Arial"/>
              </a:rPr>
              <a:t> </a:t>
            </a:r>
            <a:r>
              <a:rPr sz="900" dirty="0">
                <a:latin typeface="Arial"/>
                <a:cs typeface="Arial"/>
              </a:rPr>
              <a:t>be</a:t>
            </a:r>
            <a:r>
              <a:rPr sz="900" spc="-20" dirty="0">
                <a:latin typeface="Arial"/>
                <a:cs typeface="Arial"/>
              </a:rPr>
              <a:t> </a:t>
            </a:r>
            <a:r>
              <a:rPr sz="900" dirty="0">
                <a:latin typeface="Arial"/>
                <a:cs typeface="Arial"/>
              </a:rPr>
              <a:t>the</a:t>
            </a:r>
            <a:r>
              <a:rPr sz="900" spc="-15" dirty="0">
                <a:latin typeface="Arial"/>
                <a:cs typeface="Arial"/>
              </a:rPr>
              <a:t> </a:t>
            </a:r>
            <a:r>
              <a:rPr sz="900" dirty="0">
                <a:latin typeface="Arial"/>
                <a:cs typeface="Arial"/>
              </a:rPr>
              <a:t>probability</a:t>
            </a:r>
            <a:r>
              <a:rPr sz="900" spc="-20" dirty="0">
                <a:latin typeface="Arial"/>
                <a:cs typeface="Arial"/>
              </a:rPr>
              <a:t> </a:t>
            </a:r>
            <a:r>
              <a:rPr sz="900" dirty="0">
                <a:latin typeface="Arial"/>
                <a:cs typeface="Arial"/>
              </a:rPr>
              <a:t>that</a:t>
            </a:r>
            <a:r>
              <a:rPr sz="900" spc="-20" dirty="0">
                <a:latin typeface="Arial"/>
                <a:cs typeface="Arial"/>
              </a:rPr>
              <a:t> </a:t>
            </a:r>
            <a:r>
              <a:rPr sz="900" dirty="0">
                <a:latin typeface="Arial"/>
                <a:cs typeface="Arial"/>
              </a:rPr>
              <a:t>a</a:t>
            </a:r>
            <a:r>
              <a:rPr sz="900" spc="-15" dirty="0">
                <a:latin typeface="Arial"/>
                <a:cs typeface="Arial"/>
              </a:rPr>
              <a:t> </a:t>
            </a:r>
            <a:r>
              <a:rPr sz="900" dirty="0">
                <a:latin typeface="Arial"/>
                <a:cs typeface="Arial"/>
              </a:rPr>
              <a:t>coordinator</a:t>
            </a:r>
            <a:r>
              <a:rPr sz="900" spc="-20" dirty="0">
                <a:latin typeface="Arial"/>
                <a:cs typeface="Arial"/>
              </a:rPr>
              <a:t> </a:t>
            </a:r>
            <a:r>
              <a:rPr sz="900" dirty="0">
                <a:latin typeface="Arial"/>
                <a:cs typeface="Arial"/>
              </a:rPr>
              <a:t>resets</a:t>
            </a:r>
            <a:r>
              <a:rPr sz="900" spc="-20" dirty="0">
                <a:latin typeface="Arial"/>
                <a:cs typeface="Arial"/>
              </a:rPr>
              <a:t> </a:t>
            </a:r>
            <a:r>
              <a:rPr sz="900" dirty="0">
                <a:latin typeface="Arial"/>
                <a:cs typeface="Arial"/>
              </a:rPr>
              <a:t>during</a:t>
            </a:r>
            <a:r>
              <a:rPr sz="900" spc="-20" dirty="0">
                <a:latin typeface="Arial"/>
                <a:cs typeface="Arial"/>
              </a:rPr>
              <a:t> </a:t>
            </a:r>
            <a:r>
              <a:rPr sz="900" dirty="0">
                <a:latin typeface="Arial"/>
                <a:cs typeface="Arial"/>
              </a:rPr>
              <a:t>a</a:t>
            </a:r>
            <a:r>
              <a:rPr sz="900" spc="-15" dirty="0">
                <a:latin typeface="Arial"/>
                <a:cs typeface="Arial"/>
              </a:rPr>
              <a:t> </a:t>
            </a:r>
            <a:r>
              <a:rPr sz="900" spc="-20" dirty="0">
                <a:latin typeface="Arial"/>
                <a:cs typeface="Arial"/>
              </a:rPr>
              <a:t>time </a:t>
            </a:r>
            <a:r>
              <a:rPr sz="900" dirty="0">
                <a:latin typeface="Arial"/>
                <a:cs typeface="Arial"/>
              </a:rPr>
              <a:t>interval</a:t>
            </a:r>
            <a:r>
              <a:rPr sz="900" spc="-25" dirty="0">
                <a:latin typeface="Arial"/>
                <a:cs typeface="Arial"/>
              </a:rPr>
              <a:t> </a:t>
            </a:r>
            <a:r>
              <a:rPr sz="900" spc="105" dirty="0">
                <a:latin typeface="Arial"/>
                <a:cs typeface="Arial"/>
              </a:rPr>
              <a:t>∆</a:t>
            </a:r>
            <a:r>
              <a:rPr sz="900" i="1" spc="105" dirty="0">
                <a:latin typeface="Arial"/>
                <a:cs typeface="Arial"/>
              </a:rPr>
              <a:t>t</a:t>
            </a:r>
            <a:r>
              <a:rPr sz="900" i="1" spc="-170" dirty="0">
                <a:latin typeface="Arial"/>
                <a:cs typeface="Arial"/>
              </a:rPr>
              <a:t> </a:t>
            </a:r>
            <a:r>
              <a:rPr sz="900" dirty="0">
                <a:latin typeface="Arial"/>
                <a:cs typeface="Arial"/>
              </a:rPr>
              <a:t>,</a:t>
            </a:r>
            <a:r>
              <a:rPr sz="900" spc="-15" dirty="0">
                <a:latin typeface="Arial"/>
                <a:cs typeface="Arial"/>
              </a:rPr>
              <a:t> </a:t>
            </a:r>
            <a:r>
              <a:rPr sz="900" dirty="0">
                <a:latin typeface="Arial"/>
                <a:cs typeface="Arial"/>
              </a:rPr>
              <a:t>while</a:t>
            </a:r>
            <a:r>
              <a:rPr sz="900" spc="-20" dirty="0">
                <a:latin typeface="Arial"/>
                <a:cs typeface="Arial"/>
              </a:rPr>
              <a:t> </a:t>
            </a:r>
            <a:r>
              <a:rPr sz="900" dirty="0">
                <a:latin typeface="Arial"/>
                <a:cs typeface="Arial"/>
              </a:rPr>
              <a:t>having</a:t>
            </a:r>
            <a:r>
              <a:rPr sz="900" spc="-15" dirty="0">
                <a:latin typeface="Arial"/>
                <a:cs typeface="Arial"/>
              </a:rPr>
              <a:t> </a:t>
            </a:r>
            <a:r>
              <a:rPr sz="900" dirty="0">
                <a:latin typeface="Arial"/>
                <a:cs typeface="Arial"/>
              </a:rPr>
              <a:t>a</a:t>
            </a:r>
            <a:r>
              <a:rPr sz="900" spc="-15" dirty="0">
                <a:latin typeface="Arial"/>
                <a:cs typeface="Arial"/>
              </a:rPr>
              <a:t> </a:t>
            </a:r>
            <a:r>
              <a:rPr sz="900" spc="-10" dirty="0">
                <a:latin typeface="Arial"/>
                <a:cs typeface="Arial"/>
              </a:rPr>
              <a:t>lifetime</a:t>
            </a:r>
            <a:r>
              <a:rPr sz="900" spc="-15" dirty="0">
                <a:latin typeface="Arial"/>
                <a:cs typeface="Arial"/>
              </a:rPr>
              <a:t> </a:t>
            </a:r>
            <a:r>
              <a:rPr sz="900" dirty="0">
                <a:latin typeface="Arial"/>
                <a:cs typeface="Arial"/>
              </a:rPr>
              <a:t>of</a:t>
            </a:r>
            <a:r>
              <a:rPr sz="900" spc="-15" dirty="0">
                <a:latin typeface="Arial"/>
                <a:cs typeface="Arial"/>
              </a:rPr>
              <a:t> </a:t>
            </a:r>
            <a:r>
              <a:rPr sz="900" i="1" spc="-10" dirty="0">
                <a:latin typeface="Arial"/>
                <a:cs typeface="Arial"/>
              </a:rPr>
              <a:t>T</a:t>
            </a:r>
            <a:r>
              <a:rPr sz="900" i="1" spc="-130" dirty="0">
                <a:latin typeface="Arial"/>
                <a:cs typeface="Arial"/>
              </a:rPr>
              <a:t> </a:t>
            </a:r>
            <a:r>
              <a:rPr sz="900" spc="-50" dirty="0">
                <a:latin typeface="Arial"/>
                <a:cs typeface="Arial"/>
              </a:rPr>
              <a:t>.</a:t>
            </a:r>
            <a:endParaRPr sz="900">
              <a:latin typeface="Arial"/>
              <a:cs typeface="Arial"/>
            </a:endParaRPr>
          </a:p>
          <a:p>
            <a:pPr marL="278130" marR="17780" indent="-120650">
              <a:lnSpc>
                <a:spcPct val="111600"/>
              </a:lnSpc>
              <a:spcBef>
                <a:spcPts val="400"/>
              </a:spcBef>
              <a:buClr>
                <a:srgbClr val="3333B2"/>
              </a:buClr>
              <a:buFont typeface="Menlo"/>
              <a:buChar char="•"/>
              <a:tabLst>
                <a:tab pos="274955" algn="l"/>
              </a:tabLst>
            </a:pPr>
            <a:r>
              <a:rPr sz="900" dirty="0">
                <a:latin typeface="Arial"/>
                <a:cs typeface="Arial"/>
              </a:rPr>
              <a:t>The</a:t>
            </a:r>
            <a:r>
              <a:rPr sz="900" spc="-25" dirty="0">
                <a:latin typeface="Arial"/>
                <a:cs typeface="Arial"/>
              </a:rPr>
              <a:t> </a:t>
            </a:r>
            <a:r>
              <a:rPr sz="900" dirty="0">
                <a:latin typeface="Arial"/>
                <a:cs typeface="Arial"/>
              </a:rPr>
              <a:t>probability</a:t>
            </a:r>
            <a:r>
              <a:rPr sz="900" spc="-20" dirty="0">
                <a:latin typeface="Arial"/>
                <a:cs typeface="Arial"/>
              </a:rPr>
              <a:t> P[</a:t>
            </a:r>
            <a:r>
              <a:rPr sz="900" i="1" spc="-20" dirty="0">
                <a:latin typeface="Arial"/>
                <a:cs typeface="Arial"/>
              </a:rPr>
              <a:t>k</a:t>
            </a:r>
            <a:r>
              <a:rPr sz="900" i="1" spc="-165" dirty="0">
                <a:latin typeface="Arial"/>
                <a:cs typeface="Arial"/>
              </a:rPr>
              <a:t> </a:t>
            </a:r>
            <a:r>
              <a:rPr sz="900" dirty="0">
                <a:latin typeface="Arial"/>
                <a:cs typeface="Arial"/>
              </a:rPr>
              <a:t>]</a:t>
            </a:r>
            <a:r>
              <a:rPr sz="900" spc="-15" dirty="0">
                <a:latin typeface="Arial"/>
                <a:cs typeface="Arial"/>
              </a:rPr>
              <a:t> </a:t>
            </a:r>
            <a:r>
              <a:rPr sz="900" dirty="0">
                <a:latin typeface="Arial"/>
                <a:cs typeface="Arial"/>
              </a:rPr>
              <a:t>that</a:t>
            </a:r>
            <a:r>
              <a:rPr sz="900" spc="-20" dirty="0">
                <a:latin typeface="Arial"/>
                <a:cs typeface="Arial"/>
              </a:rPr>
              <a:t> </a:t>
            </a:r>
            <a:r>
              <a:rPr sz="900" i="1" dirty="0">
                <a:latin typeface="Arial"/>
                <a:cs typeface="Arial"/>
              </a:rPr>
              <a:t>k</a:t>
            </a:r>
            <a:r>
              <a:rPr sz="900" i="1" spc="65" dirty="0">
                <a:latin typeface="Arial"/>
                <a:cs typeface="Arial"/>
              </a:rPr>
              <a:t> </a:t>
            </a:r>
            <a:r>
              <a:rPr sz="900" dirty="0">
                <a:latin typeface="Arial"/>
                <a:cs typeface="Arial"/>
              </a:rPr>
              <a:t>out</a:t>
            </a:r>
            <a:r>
              <a:rPr sz="900" spc="-15" dirty="0">
                <a:latin typeface="Arial"/>
                <a:cs typeface="Arial"/>
              </a:rPr>
              <a:t> </a:t>
            </a:r>
            <a:r>
              <a:rPr sz="900" dirty="0">
                <a:latin typeface="Arial"/>
                <a:cs typeface="Arial"/>
              </a:rPr>
              <a:t>of</a:t>
            </a:r>
            <a:r>
              <a:rPr sz="900" spc="-20" dirty="0">
                <a:latin typeface="Arial"/>
                <a:cs typeface="Arial"/>
              </a:rPr>
              <a:t> </a:t>
            </a:r>
            <a:r>
              <a:rPr sz="900" i="1" dirty="0">
                <a:latin typeface="Arial"/>
                <a:cs typeface="Arial"/>
              </a:rPr>
              <a:t>m </a:t>
            </a:r>
            <a:r>
              <a:rPr sz="900" dirty="0">
                <a:latin typeface="Arial"/>
                <a:cs typeface="Arial"/>
              </a:rPr>
              <a:t>coordinators</a:t>
            </a:r>
            <a:r>
              <a:rPr sz="900" spc="-15" dirty="0">
                <a:latin typeface="Arial"/>
                <a:cs typeface="Arial"/>
              </a:rPr>
              <a:t> </a:t>
            </a:r>
            <a:r>
              <a:rPr sz="900" dirty="0">
                <a:latin typeface="Arial"/>
                <a:cs typeface="Arial"/>
              </a:rPr>
              <a:t>reset</a:t>
            </a:r>
            <a:r>
              <a:rPr sz="900" spc="-20" dirty="0">
                <a:latin typeface="Arial"/>
                <a:cs typeface="Arial"/>
              </a:rPr>
              <a:t> </a:t>
            </a:r>
            <a:r>
              <a:rPr sz="900" dirty="0">
                <a:latin typeface="Arial"/>
                <a:cs typeface="Arial"/>
              </a:rPr>
              <a:t>during</a:t>
            </a:r>
            <a:r>
              <a:rPr sz="900" spc="-20" dirty="0">
                <a:latin typeface="Arial"/>
                <a:cs typeface="Arial"/>
              </a:rPr>
              <a:t> </a:t>
            </a:r>
            <a:r>
              <a:rPr sz="900" dirty="0">
                <a:latin typeface="Arial"/>
                <a:cs typeface="Arial"/>
              </a:rPr>
              <a:t>the</a:t>
            </a:r>
            <a:r>
              <a:rPr sz="900" spc="-15" dirty="0">
                <a:latin typeface="Arial"/>
                <a:cs typeface="Arial"/>
              </a:rPr>
              <a:t> </a:t>
            </a:r>
            <a:r>
              <a:rPr sz="900" spc="-20" dirty="0">
                <a:latin typeface="Arial"/>
                <a:cs typeface="Arial"/>
              </a:rPr>
              <a:t>same </a:t>
            </a:r>
            <a:r>
              <a:rPr sz="900" dirty="0">
                <a:latin typeface="Arial"/>
                <a:cs typeface="Arial"/>
              </a:rPr>
              <a:t>interval</a:t>
            </a:r>
            <a:r>
              <a:rPr sz="900" spc="-35" dirty="0">
                <a:latin typeface="Arial"/>
                <a:cs typeface="Arial"/>
              </a:rPr>
              <a:t> </a:t>
            </a:r>
            <a:r>
              <a:rPr sz="900" spc="-25" dirty="0">
                <a:latin typeface="Arial"/>
                <a:cs typeface="Arial"/>
              </a:rPr>
              <a:t>is</a:t>
            </a:r>
            <a:endParaRPr sz="900">
              <a:latin typeface="Arial"/>
              <a:cs typeface="Arial"/>
            </a:endParaRPr>
          </a:p>
        </p:txBody>
      </p:sp>
      <p:grpSp>
        <p:nvGrpSpPr>
          <p:cNvPr id="10" name="object 10"/>
          <p:cNvGrpSpPr/>
          <p:nvPr/>
        </p:nvGrpSpPr>
        <p:grpSpPr>
          <a:xfrm>
            <a:off x="0" y="3348469"/>
            <a:ext cx="4608195" cy="107950"/>
            <a:chOff x="0" y="3348469"/>
            <a:chExt cx="4608195" cy="107950"/>
          </a:xfrm>
        </p:grpSpPr>
        <p:sp>
          <p:nvSpPr>
            <p:cNvPr id="11" name="object 11"/>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2" name="object 12"/>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3" name="object 13"/>
          <p:cNvSpPr txBox="1"/>
          <p:nvPr/>
        </p:nvSpPr>
        <p:spPr>
          <a:xfrm>
            <a:off x="53467" y="3349927"/>
            <a:ext cx="73850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A</a:t>
            </a:r>
            <a:r>
              <a:rPr sz="500" spc="35" dirty="0">
                <a:latin typeface="Arial"/>
                <a:cs typeface="Arial"/>
                <a:hlinkClick r:id="rId4" action="ppaction://hlinksldjump"/>
              </a:rPr>
              <a:t> </a:t>
            </a:r>
            <a:r>
              <a:rPr sz="500" spc="-10" dirty="0">
                <a:latin typeface="Arial"/>
                <a:cs typeface="Arial"/>
                <a:hlinkClick r:id="rId4" action="ppaction://hlinksldjump"/>
              </a:rPr>
              <a:t>decentralized</a:t>
            </a:r>
            <a:r>
              <a:rPr sz="500" spc="35" dirty="0">
                <a:latin typeface="Arial"/>
                <a:cs typeface="Arial"/>
                <a:hlinkClick r:id="rId4" action="ppaction://hlinksldjump"/>
              </a:rPr>
              <a:t> </a:t>
            </a:r>
            <a:r>
              <a:rPr sz="500" spc="-10" dirty="0">
                <a:latin typeface="Arial"/>
                <a:cs typeface="Arial"/>
                <a:hlinkClick r:id="rId4" action="ppaction://hlinksldjump"/>
              </a:rPr>
              <a:t>algorithm</a:t>
            </a:r>
            <a:endParaRPr sz="500">
              <a:latin typeface="Arial"/>
              <a:cs typeface="Arial"/>
            </a:endParaRPr>
          </a:p>
        </p:txBody>
      </p:sp>
      <p:pic>
        <p:nvPicPr>
          <p:cNvPr id="14" name="Picture 13">
            <a:extLst>
              <a:ext uri="{FF2B5EF4-FFF2-40B4-BE49-F238E27FC236}">
                <a16:creationId xmlns:a16="http://schemas.microsoft.com/office/drawing/2014/main" id="{7A47DBBC-EF71-CB40-4E01-32FEF40E6477}"/>
              </a:ext>
            </a:extLst>
          </p:cNvPr>
          <p:cNvPicPr>
            <a:picLocks noChangeAspect="1"/>
          </p:cNvPicPr>
          <p:nvPr/>
        </p:nvPicPr>
        <p:blipFill>
          <a:blip r:embed="rId5"/>
          <a:stretch>
            <a:fillRect/>
          </a:stretch>
        </p:blipFill>
        <p:spPr>
          <a:xfrm>
            <a:off x="1558207" y="1269277"/>
            <a:ext cx="1540320" cy="415999"/>
          </a:xfrm>
          <a:prstGeom prst="rect">
            <a:avLst/>
          </a:prstGeom>
        </p:spPr>
      </p:pic>
    </p:spTree>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4018915" algn="l"/>
              </a:tabLst>
            </a:pPr>
            <a:r>
              <a:rPr sz="500" spc="-10" dirty="0">
                <a:latin typeface="Arial"/>
                <a:cs typeface="Arial"/>
                <a:hlinkClick r:id="rId2" action="ppaction://hlinksldjump"/>
              </a:rPr>
              <a:t>Coordination</a:t>
            </a:r>
            <a:r>
              <a:rPr sz="500" dirty="0">
                <a:latin typeface="Arial"/>
                <a:cs typeface="Arial"/>
              </a:rPr>
              <a:t>	</a:t>
            </a:r>
            <a:r>
              <a:rPr sz="500" dirty="0">
                <a:solidFill>
                  <a:srgbClr val="FFFFFF"/>
                </a:solidFill>
                <a:latin typeface="Arial"/>
                <a:cs typeface="Arial"/>
                <a:hlinkClick r:id="rId3" action="ppaction://hlinksldjump"/>
              </a:rPr>
              <a:t>Mutual</a:t>
            </a:r>
            <a:r>
              <a:rPr sz="500" spc="-30"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exclusion</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0" dirty="0"/>
              <a:t>Decentralized</a:t>
            </a:r>
            <a:r>
              <a:rPr spc="-20" dirty="0"/>
              <a:t> </a:t>
            </a:r>
            <a:r>
              <a:rPr dirty="0"/>
              <a:t>mutual</a:t>
            </a:r>
            <a:r>
              <a:rPr spc="-20" dirty="0"/>
              <a:t> </a:t>
            </a:r>
            <a:r>
              <a:rPr spc="-10" dirty="0"/>
              <a:t>exclusion</a:t>
            </a:r>
          </a:p>
        </p:txBody>
      </p:sp>
      <p:sp>
        <p:nvSpPr>
          <p:cNvPr id="4" name="object 4"/>
          <p:cNvSpPr txBox="1"/>
          <p:nvPr/>
        </p:nvSpPr>
        <p:spPr>
          <a:xfrm>
            <a:off x="334594" y="514774"/>
            <a:ext cx="3844925" cy="913765"/>
          </a:xfrm>
          <a:prstGeom prst="rect">
            <a:avLst/>
          </a:prstGeom>
        </p:spPr>
        <p:txBody>
          <a:bodyPr vert="horz" wrap="square" lIns="0" tIns="12065" rIns="0" bIns="0" rtlCol="0">
            <a:spAutoFit/>
          </a:bodyPr>
          <a:lstStyle/>
          <a:p>
            <a:pPr marL="25400">
              <a:lnSpc>
                <a:spcPct val="100000"/>
              </a:lnSpc>
              <a:spcBef>
                <a:spcPts val="95"/>
              </a:spcBef>
            </a:pPr>
            <a:r>
              <a:rPr sz="1000" dirty="0">
                <a:solidFill>
                  <a:srgbClr val="3333B2"/>
                </a:solidFill>
                <a:latin typeface="Arial"/>
                <a:cs typeface="Arial"/>
              </a:rPr>
              <a:t>How</a:t>
            </a:r>
            <a:r>
              <a:rPr sz="1000" spc="-35" dirty="0">
                <a:solidFill>
                  <a:srgbClr val="3333B2"/>
                </a:solidFill>
                <a:latin typeface="Arial"/>
                <a:cs typeface="Arial"/>
              </a:rPr>
              <a:t> </a:t>
            </a:r>
            <a:r>
              <a:rPr sz="1000" dirty="0">
                <a:solidFill>
                  <a:srgbClr val="3333B2"/>
                </a:solidFill>
                <a:latin typeface="Arial"/>
                <a:cs typeface="Arial"/>
              </a:rPr>
              <a:t>robust</a:t>
            </a:r>
            <a:r>
              <a:rPr sz="1000" spc="-30" dirty="0">
                <a:solidFill>
                  <a:srgbClr val="3333B2"/>
                </a:solidFill>
                <a:latin typeface="Arial"/>
                <a:cs typeface="Arial"/>
              </a:rPr>
              <a:t> </a:t>
            </a:r>
            <a:r>
              <a:rPr sz="1000" dirty="0">
                <a:solidFill>
                  <a:srgbClr val="3333B2"/>
                </a:solidFill>
                <a:latin typeface="Arial"/>
                <a:cs typeface="Arial"/>
              </a:rPr>
              <a:t>is</a:t>
            </a:r>
            <a:r>
              <a:rPr sz="1000" spc="-30" dirty="0">
                <a:solidFill>
                  <a:srgbClr val="3333B2"/>
                </a:solidFill>
                <a:latin typeface="Arial"/>
                <a:cs typeface="Arial"/>
              </a:rPr>
              <a:t> </a:t>
            </a:r>
            <a:r>
              <a:rPr sz="1000" dirty="0">
                <a:solidFill>
                  <a:srgbClr val="3333B2"/>
                </a:solidFill>
                <a:latin typeface="Arial"/>
                <a:cs typeface="Arial"/>
              </a:rPr>
              <a:t>this</a:t>
            </a:r>
            <a:r>
              <a:rPr sz="1000" spc="-35" dirty="0">
                <a:solidFill>
                  <a:srgbClr val="3333B2"/>
                </a:solidFill>
                <a:latin typeface="Arial"/>
                <a:cs typeface="Arial"/>
              </a:rPr>
              <a:t> </a:t>
            </a:r>
            <a:r>
              <a:rPr sz="1000" spc="-10" dirty="0">
                <a:solidFill>
                  <a:srgbClr val="3333B2"/>
                </a:solidFill>
                <a:latin typeface="Arial"/>
                <a:cs typeface="Arial"/>
              </a:rPr>
              <a:t>system?</a:t>
            </a:r>
            <a:endParaRPr sz="1000">
              <a:latin typeface="Arial"/>
              <a:cs typeface="Arial"/>
            </a:endParaRPr>
          </a:p>
          <a:p>
            <a:pPr marL="278130" marR="27940" indent="-120650">
              <a:lnSpc>
                <a:spcPct val="111600"/>
              </a:lnSpc>
              <a:spcBef>
                <a:spcPts val="575"/>
              </a:spcBef>
              <a:buClr>
                <a:srgbClr val="3333B2"/>
              </a:buClr>
              <a:buFont typeface="Menlo"/>
              <a:buChar char="•"/>
              <a:tabLst>
                <a:tab pos="278765" algn="l"/>
              </a:tabLst>
            </a:pPr>
            <a:r>
              <a:rPr sz="900" dirty="0">
                <a:latin typeface="Arial"/>
                <a:cs typeface="Arial"/>
              </a:rPr>
              <a:t>Let</a:t>
            </a:r>
            <a:r>
              <a:rPr sz="900" spc="-25" dirty="0">
                <a:latin typeface="Arial"/>
                <a:cs typeface="Arial"/>
              </a:rPr>
              <a:t> </a:t>
            </a:r>
            <a:r>
              <a:rPr sz="900" i="1" dirty="0">
                <a:latin typeface="Arial"/>
                <a:cs typeface="Arial"/>
              </a:rPr>
              <a:t>p</a:t>
            </a:r>
            <a:r>
              <a:rPr sz="900" i="1" spc="-40" dirty="0">
                <a:latin typeface="Arial"/>
                <a:cs typeface="Arial"/>
              </a:rPr>
              <a:t> </a:t>
            </a:r>
            <a:r>
              <a:rPr sz="900" spc="185" dirty="0">
                <a:latin typeface="Arial"/>
                <a:cs typeface="Arial"/>
              </a:rPr>
              <a:t>=</a:t>
            </a:r>
            <a:r>
              <a:rPr sz="900" spc="-65" dirty="0">
                <a:latin typeface="Arial"/>
                <a:cs typeface="Arial"/>
              </a:rPr>
              <a:t> </a:t>
            </a:r>
            <a:r>
              <a:rPr sz="900" spc="95" dirty="0">
                <a:latin typeface="Arial"/>
                <a:cs typeface="Arial"/>
              </a:rPr>
              <a:t>∆</a:t>
            </a:r>
            <a:r>
              <a:rPr sz="900" i="1" spc="95" dirty="0">
                <a:latin typeface="Arial"/>
                <a:cs typeface="Arial"/>
              </a:rPr>
              <a:t>t</a:t>
            </a:r>
            <a:r>
              <a:rPr sz="900" i="1" spc="95" dirty="0">
                <a:latin typeface="STIX Two Text"/>
                <a:cs typeface="STIX Two Text"/>
              </a:rPr>
              <a:t>/</a:t>
            </a:r>
            <a:r>
              <a:rPr sz="900" i="1" spc="95" dirty="0">
                <a:latin typeface="Arial"/>
                <a:cs typeface="Arial"/>
              </a:rPr>
              <a:t>T</a:t>
            </a:r>
            <a:r>
              <a:rPr sz="900" i="1" spc="100" dirty="0">
                <a:latin typeface="Arial"/>
                <a:cs typeface="Arial"/>
              </a:rPr>
              <a:t> </a:t>
            </a:r>
            <a:r>
              <a:rPr sz="900" dirty="0">
                <a:latin typeface="Arial"/>
                <a:cs typeface="Arial"/>
              </a:rPr>
              <a:t>be</a:t>
            </a:r>
            <a:r>
              <a:rPr sz="900" spc="-20" dirty="0">
                <a:latin typeface="Arial"/>
                <a:cs typeface="Arial"/>
              </a:rPr>
              <a:t> </a:t>
            </a:r>
            <a:r>
              <a:rPr sz="900" dirty="0">
                <a:latin typeface="Arial"/>
                <a:cs typeface="Arial"/>
              </a:rPr>
              <a:t>the</a:t>
            </a:r>
            <a:r>
              <a:rPr sz="900" spc="-15" dirty="0">
                <a:latin typeface="Arial"/>
                <a:cs typeface="Arial"/>
              </a:rPr>
              <a:t> </a:t>
            </a:r>
            <a:r>
              <a:rPr sz="900" dirty="0">
                <a:latin typeface="Arial"/>
                <a:cs typeface="Arial"/>
              </a:rPr>
              <a:t>probability</a:t>
            </a:r>
            <a:r>
              <a:rPr sz="900" spc="-20" dirty="0">
                <a:latin typeface="Arial"/>
                <a:cs typeface="Arial"/>
              </a:rPr>
              <a:t> </a:t>
            </a:r>
            <a:r>
              <a:rPr sz="900" dirty="0">
                <a:latin typeface="Arial"/>
                <a:cs typeface="Arial"/>
              </a:rPr>
              <a:t>that</a:t>
            </a:r>
            <a:r>
              <a:rPr sz="900" spc="-20" dirty="0">
                <a:latin typeface="Arial"/>
                <a:cs typeface="Arial"/>
              </a:rPr>
              <a:t> </a:t>
            </a:r>
            <a:r>
              <a:rPr sz="900" dirty="0">
                <a:latin typeface="Arial"/>
                <a:cs typeface="Arial"/>
              </a:rPr>
              <a:t>a</a:t>
            </a:r>
            <a:r>
              <a:rPr sz="900" spc="-15" dirty="0">
                <a:latin typeface="Arial"/>
                <a:cs typeface="Arial"/>
              </a:rPr>
              <a:t> </a:t>
            </a:r>
            <a:r>
              <a:rPr sz="900" dirty="0">
                <a:latin typeface="Arial"/>
                <a:cs typeface="Arial"/>
              </a:rPr>
              <a:t>coordinator</a:t>
            </a:r>
            <a:r>
              <a:rPr sz="900" spc="-20" dirty="0">
                <a:latin typeface="Arial"/>
                <a:cs typeface="Arial"/>
              </a:rPr>
              <a:t> </a:t>
            </a:r>
            <a:r>
              <a:rPr sz="900" dirty="0">
                <a:latin typeface="Arial"/>
                <a:cs typeface="Arial"/>
              </a:rPr>
              <a:t>resets</a:t>
            </a:r>
            <a:r>
              <a:rPr sz="900" spc="-20" dirty="0">
                <a:latin typeface="Arial"/>
                <a:cs typeface="Arial"/>
              </a:rPr>
              <a:t> </a:t>
            </a:r>
            <a:r>
              <a:rPr sz="900" dirty="0">
                <a:latin typeface="Arial"/>
                <a:cs typeface="Arial"/>
              </a:rPr>
              <a:t>during</a:t>
            </a:r>
            <a:r>
              <a:rPr sz="900" spc="-20" dirty="0">
                <a:latin typeface="Arial"/>
                <a:cs typeface="Arial"/>
              </a:rPr>
              <a:t> </a:t>
            </a:r>
            <a:r>
              <a:rPr sz="900" dirty="0">
                <a:latin typeface="Arial"/>
                <a:cs typeface="Arial"/>
              </a:rPr>
              <a:t>a</a:t>
            </a:r>
            <a:r>
              <a:rPr sz="900" spc="-15" dirty="0">
                <a:latin typeface="Arial"/>
                <a:cs typeface="Arial"/>
              </a:rPr>
              <a:t> </a:t>
            </a:r>
            <a:r>
              <a:rPr sz="900" spc="-20" dirty="0">
                <a:latin typeface="Arial"/>
                <a:cs typeface="Arial"/>
              </a:rPr>
              <a:t>time </a:t>
            </a:r>
            <a:r>
              <a:rPr sz="900" dirty="0">
                <a:latin typeface="Arial"/>
                <a:cs typeface="Arial"/>
              </a:rPr>
              <a:t>interval</a:t>
            </a:r>
            <a:r>
              <a:rPr sz="900" spc="-25" dirty="0">
                <a:latin typeface="Arial"/>
                <a:cs typeface="Arial"/>
              </a:rPr>
              <a:t> </a:t>
            </a:r>
            <a:r>
              <a:rPr sz="900" spc="105" dirty="0">
                <a:latin typeface="Arial"/>
                <a:cs typeface="Arial"/>
              </a:rPr>
              <a:t>∆</a:t>
            </a:r>
            <a:r>
              <a:rPr sz="900" i="1" spc="105" dirty="0">
                <a:latin typeface="Arial"/>
                <a:cs typeface="Arial"/>
              </a:rPr>
              <a:t>t</a:t>
            </a:r>
            <a:r>
              <a:rPr sz="900" i="1" spc="-170" dirty="0">
                <a:latin typeface="Arial"/>
                <a:cs typeface="Arial"/>
              </a:rPr>
              <a:t> </a:t>
            </a:r>
            <a:r>
              <a:rPr sz="900" dirty="0">
                <a:latin typeface="Arial"/>
                <a:cs typeface="Arial"/>
              </a:rPr>
              <a:t>,</a:t>
            </a:r>
            <a:r>
              <a:rPr sz="900" spc="-15" dirty="0">
                <a:latin typeface="Arial"/>
                <a:cs typeface="Arial"/>
              </a:rPr>
              <a:t> </a:t>
            </a:r>
            <a:r>
              <a:rPr sz="900" dirty="0">
                <a:latin typeface="Arial"/>
                <a:cs typeface="Arial"/>
              </a:rPr>
              <a:t>while</a:t>
            </a:r>
            <a:r>
              <a:rPr sz="900" spc="-20" dirty="0">
                <a:latin typeface="Arial"/>
                <a:cs typeface="Arial"/>
              </a:rPr>
              <a:t> </a:t>
            </a:r>
            <a:r>
              <a:rPr sz="900" dirty="0">
                <a:latin typeface="Arial"/>
                <a:cs typeface="Arial"/>
              </a:rPr>
              <a:t>having</a:t>
            </a:r>
            <a:r>
              <a:rPr sz="900" spc="-15" dirty="0">
                <a:latin typeface="Arial"/>
                <a:cs typeface="Arial"/>
              </a:rPr>
              <a:t> </a:t>
            </a:r>
            <a:r>
              <a:rPr sz="900" dirty="0">
                <a:latin typeface="Arial"/>
                <a:cs typeface="Arial"/>
              </a:rPr>
              <a:t>a</a:t>
            </a:r>
            <a:r>
              <a:rPr sz="900" spc="-15" dirty="0">
                <a:latin typeface="Arial"/>
                <a:cs typeface="Arial"/>
              </a:rPr>
              <a:t> </a:t>
            </a:r>
            <a:r>
              <a:rPr sz="900" spc="-10" dirty="0">
                <a:latin typeface="Arial"/>
                <a:cs typeface="Arial"/>
              </a:rPr>
              <a:t>lifetime</a:t>
            </a:r>
            <a:r>
              <a:rPr sz="900" spc="-15" dirty="0">
                <a:latin typeface="Arial"/>
                <a:cs typeface="Arial"/>
              </a:rPr>
              <a:t> </a:t>
            </a:r>
            <a:r>
              <a:rPr sz="900" dirty="0">
                <a:latin typeface="Arial"/>
                <a:cs typeface="Arial"/>
              </a:rPr>
              <a:t>of</a:t>
            </a:r>
            <a:r>
              <a:rPr sz="900" spc="-15" dirty="0">
                <a:latin typeface="Arial"/>
                <a:cs typeface="Arial"/>
              </a:rPr>
              <a:t> </a:t>
            </a:r>
            <a:r>
              <a:rPr sz="900" i="1" spc="-10" dirty="0">
                <a:latin typeface="Arial"/>
                <a:cs typeface="Arial"/>
              </a:rPr>
              <a:t>T</a:t>
            </a:r>
            <a:r>
              <a:rPr sz="900" i="1" spc="-130" dirty="0">
                <a:latin typeface="Arial"/>
                <a:cs typeface="Arial"/>
              </a:rPr>
              <a:t> </a:t>
            </a:r>
            <a:r>
              <a:rPr sz="900" spc="-50" dirty="0">
                <a:latin typeface="Arial"/>
                <a:cs typeface="Arial"/>
              </a:rPr>
              <a:t>.</a:t>
            </a:r>
            <a:endParaRPr sz="900">
              <a:latin typeface="Arial"/>
              <a:cs typeface="Arial"/>
            </a:endParaRPr>
          </a:p>
          <a:p>
            <a:pPr marL="278130" marR="17780" indent="-120650">
              <a:lnSpc>
                <a:spcPct val="111600"/>
              </a:lnSpc>
              <a:spcBef>
                <a:spcPts val="400"/>
              </a:spcBef>
              <a:buClr>
                <a:srgbClr val="3333B2"/>
              </a:buClr>
              <a:buFont typeface="Menlo"/>
              <a:buChar char="•"/>
              <a:tabLst>
                <a:tab pos="274955" algn="l"/>
              </a:tabLst>
            </a:pPr>
            <a:r>
              <a:rPr sz="900" dirty="0">
                <a:latin typeface="Arial"/>
                <a:cs typeface="Arial"/>
              </a:rPr>
              <a:t>The</a:t>
            </a:r>
            <a:r>
              <a:rPr sz="900" spc="-25" dirty="0">
                <a:latin typeface="Arial"/>
                <a:cs typeface="Arial"/>
              </a:rPr>
              <a:t> </a:t>
            </a:r>
            <a:r>
              <a:rPr sz="900" dirty="0">
                <a:latin typeface="Arial"/>
                <a:cs typeface="Arial"/>
              </a:rPr>
              <a:t>probability</a:t>
            </a:r>
            <a:r>
              <a:rPr sz="900" spc="-20" dirty="0">
                <a:latin typeface="Arial"/>
                <a:cs typeface="Arial"/>
              </a:rPr>
              <a:t> P[</a:t>
            </a:r>
            <a:r>
              <a:rPr sz="900" i="1" spc="-20" dirty="0">
                <a:latin typeface="Arial"/>
                <a:cs typeface="Arial"/>
              </a:rPr>
              <a:t>k</a:t>
            </a:r>
            <a:r>
              <a:rPr sz="900" i="1" spc="-165" dirty="0">
                <a:latin typeface="Arial"/>
                <a:cs typeface="Arial"/>
              </a:rPr>
              <a:t> </a:t>
            </a:r>
            <a:r>
              <a:rPr sz="900" dirty="0">
                <a:latin typeface="Arial"/>
                <a:cs typeface="Arial"/>
              </a:rPr>
              <a:t>]</a:t>
            </a:r>
            <a:r>
              <a:rPr sz="900" spc="-15" dirty="0">
                <a:latin typeface="Arial"/>
                <a:cs typeface="Arial"/>
              </a:rPr>
              <a:t> </a:t>
            </a:r>
            <a:r>
              <a:rPr sz="900" dirty="0">
                <a:latin typeface="Arial"/>
                <a:cs typeface="Arial"/>
              </a:rPr>
              <a:t>that</a:t>
            </a:r>
            <a:r>
              <a:rPr sz="900" spc="-20" dirty="0">
                <a:latin typeface="Arial"/>
                <a:cs typeface="Arial"/>
              </a:rPr>
              <a:t> </a:t>
            </a:r>
            <a:r>
              <a:rPr sz="900" i="1" dirty="0">
                <a:latin typeface="Arial"/>
                <a:cs typeface="Arial"/>
              </a:rPr>
              <a:t>k</a:t>
            </a:r>
            <a:r>
              <a:rPr sz="900" i="1" spc="65" dirty="0">
                <a:latin typeface="Arial"/>
                <a:cs typeface="Arial"/>
              </a:rPr>
              <a:t> </a:t>
            </a:r>
            <a:r>
              <a:rPr sz="900" dirty="0">
                <a:latin typeface="Arial"/>
                <a:cs typeface="Arial"/>
              </a:rPr>
              <a:t>out</a:t>
            </a:r>
            <a:r>
              <a:rPr sz="900" spc="-15" dirty="0">
                <a:latin typeface="Arial"/>
                <a:cs typeface="Arial"/>
              </a:rPr>
              <a:t> </a:t>
            </a:r>
            <a:r>
              <a:rPr sz="900" dirty="0">
                <a:latin typeface="Arial"/>
                <a:cs typeface="Arial"/>
              </a:rPr>
              <a:t>of</a:t>
            </a:r>
            <a:r>
              <a:rPr sz="900" spc="-20" dirty="0">
                <a:latin typeface="Arial"/>
                <a:cs typeface="Arial"/>
              </a:rPr>
              <a:t> </a:t>
            </a:r>
            <a:r>
              <a:rPr sz="900" i="1" dirty="0">
                <a:latin typeface="Arial"/>
                <a:cs typeface="Arial"/>
              </a:rPr>
              <a:t>m </a:t>
            </a:r>
            <a:r>
              <a:rPr sz="900" dirty="0">
                <a:latin typeface="Arial"/>
                <a:cs typeface="Arial"/>
              </a:rPr>
              <a:t>coordinators</a:t>
            </a:r>
            <a:r>
              <a:rPr sz="900" spc="-15" dirty="0">
                <a:latin typeface="Arial"/>
                <a:cs typeface="Arial"/>
              </a:rPr>
              <a:t> </a:t>
            </a:r>
            <a:r>
              <a:rPr sz="900" dirty="0">
                <a:latin typeface="Arial"/>
                <a:cs typeface="Arial"/>
              </a:rPr>
              <a:t>reset</a:t>
            </a:r>
            <a:r>
              <a:rPr sz="900" spc="-20" dirty="0">
                <a:latin typeface="Arial"/>
                <a:cs typeface="Arial"/>
              </a:rPr>
              <a:t> </a:t>
            </a:r>
            <a:r>
              <a:rPr sz="900" dirty="0">
                <a:latin typeface="Arial"/>
                <a:cs typeface="Arial"/>
              </a:rPr>
              <a:t>during</a:t>
            </a:r>
            <a:r>
              <a:rPr sz="900" spc="-20" dirty="0">
                <a:latin typeface="Arial"/>
                <a:cs typeface="Arial"/>
              </a:rPr>
              <a:t> </a:t>
            </a:r>
            <a:r>
              <a:rPr sz="900" dirty="0">
                <a:latin typeface="Arial"/>
                <a:cs typeface="Arial"/>
              </a:rPr>
              <a:t>the</a:t>
            </a:r>
            <a:r>
              <a:rPr sz="900" spc="-15" dirty="0">
                <a:latin typeface="Arial"/>
                <a:cs typeface="Arial"/>
              </a:rPr>
              <a:t> </a:t>
            </a:r>
            <a:r>
              <a:rPr sz="900" spc="-20" dirty="0">
                <a:latin typeface="Arial"/>
                <a:cs typeface="Arial"/>
              </a:rPr>
              <a:t>same </a:t>
            </a:r>
            <a:r>
              <a:rPr sz="900" dirty="0">
                <a:latin typeface="Arial"/>
                <a:cs typeface="Arial"/>
              </a:rPr>
              <a:t>interval</a:t>
            </a:r>
            <a:r>
              <a:rPr sz="900" spc="-35" dirty="0">
                <a:latin typeface="Arial"/>
                <a:cs typeface="Arial"/>
              </a:rPr>
              <a:t> </a:t>
            </a:r>
            <a:r>
              <a:rPr sz="900" spc="-25" dirty="0">
                <a:latin typeface="Arial"/>
                <a:cs typeface="Arial"/>
              </a:rPr>
              <a:t>is</a:t>
            </a:r>
            <a:endParaRPr sz="900">
              <a:latin typeface="Arial"/>
              <a:cs typeface="Arial"/>
            </a:endParaRPr>
          </a:p>
        </p:txBody>
      </p:sp>
      <p:sp>
        <p:nvSpPr>
          <p:cNvPr id="10" name="object 10"/>
          <p:cNvSpPr txBox="1"/>
          <p:nvPr/>
        </p:nvSpPr>
        <p:spPr>
          <a:xfrm>
            <a:off x="480148" y="1708877"/>
            <a:ext cx="3802379" cy="313868"/>
          </a:xfrm>
          <a:prstGeom prst="rect">
            <a:avLst/>
          </a:prstGeom>
        </p:spPr>
        <p:txBody>
          <a:bodyPr vert="horz" wrap="square" lIns="0" tIns="12700" rIns="0" bIns="0" rtlCol="0">
            <a:spAutoFit/>
          </a:bodyPr>
          <a:lstStyle/>
          <a:p>
            <a:pPr marL="132715" marR="5080" indent="-120650">
              <a:lnSpc>
                <a:spcPct val="111600"/>
              </a:lnSpc>
              <a:spcBef>
                <a:spcPts val="100"/>
              </a:spcBef>
              <a:buClr>
                <a:srgbClr val="3333B2"/>
              </a:buClr>
              <a:buFont typeface="Menlo"/>
              <a:buChar char="•"/>
              <a:tabLst>
                <a:tab pos="133350" algn="l"/>
              </a:tabLst>
            </a:pPr>
            <a:r>
              <a:rPr sz="900" i="1" dirty="0">
                <a:latin typeface="Arial"/>
                <a:cs typeface="Arial"/>
              </a:rPr>
              <a:t>f</a:t>
            </a:r>
            <a:r>
              <a:rPr sz="900" i="1" spc="70" dirty="0">
                <a:latin typeface="Arial"/>
                <a:cs typeface="Arial"/>
              </a:rPr>
              <a:t> </a:t>
            </a:r>
            <a:r>
              <a:rPr sz="900" dirty="0">
                <a:latin typeface="Arial"/>
                <a:cs typeface="Arial"/>
              </a:rPr>
              <a:t>coordinators</a:t>
            </a:r>
            <a:r>
              <a:rPr sz="900" spc="-25" dirty="0">
                <a:latin typeface="Arial"/>
                <a:cs typeface="Arial"/>
              </a:rPr>
              <a:t> </a:t>
            </a:r>
            <a:r>
              <a:rPr sz="900" dirty="0">
                <a:latin typeface="Arial"/>
                <a:cs typeface="Arial"/>
              </a:rPr>
              <a:t>reset</a:t>
            </a:r>
            <a:r>
              <a:rPr sz="900" spc="-25" dirty="0">
                <a:latin typeface="Arial"/>
                <a:cs typeface="Arial"/>
              </a:rPr>
              <a:t> </a:t>
            </a:r>
            <a:r>
              <a:rPr sz="900" i="1" spc="350" dirty="0">
                <a:latin typeface="Menlo"/>
                <a:cs typeface="Menlo"/>
              </a:rPr>
              <a:t>⇒</a:t>
            </a:r>
            <a:r>
              <a:rPr sz="900" i="1" spc="-295" dirty="0">
                <a:latin typeface="Menlo"/>
                <a:cs typeface="Menlo"/>
              </a:rPr>
              <a:t> </a:t>
            </a:r>
            <a:r>
              <a:rPr sz="900" dirty="0">
                <a:solidFill>
                  <a:srgbClr val="3333B2"/>
                </a:solidFill>
                <a:latin typeface="Arial"/>
                <a:cs typeface="Arial"/>
              </a:rPr>
              <a:t>correctness</a:t>
            </a:r>
            <a:r>
              <a:rPr sz="900" spc="-20" dirty="0">
                <a:solidFill>
                  <a:srgbClr val="3333B2"/>
                </a:solidFill>
                <a:latin typeface="Arial"/>
                <a:cs typeface="Arial"/>
              </a:rPr>
              <a:t> </a:t>
            </a:r>
            <a:r>
              <a:rPr sz="900" dirty="0">
                <a:solidFill>
                  <a:srgbClr val="3333B2"/>
                </a:solidFill>
                <a:latin typeface="Arial"/>
                <a:cs typeface="Arial"/>
              </a:rPr>
              <a:t>is</a:t>
            </a:r>
            <a:r>
              <a:rPr sz="900" spc="-25" dirty="0">
                <a:solidFill>
                  <a:srgbClr val="3333B2"/>
                </a:solidFill>
                <a:latin typeface="Arial"/>
                <a:cs typeface="Arial"/>
              </a:rPr>
              <a:t> </a:t>
            </a:r>
            <a:r>
              <a:rPr sz="900" dirty="0">
                <a:solidFill>
                  <a:srgbClr val="3333B2"/>
                </a:solidFill>
                <a:latin typeface="Arial"/>
                <a:cs typeface="Arial"/>
              </a:rPr>
              <a:t>violated</a:t>
            </a:r>
            <a:r>
              <a:rPr sz="900" spc="-25" dirty="0">
                <a:solidFill>
                  <a:srgbClr val="3333B2"/>
                </a:solidFill>
                <a:latin typeface="Arial"/>
                <a:cs typeface="Arial"/>
              </a:rPr>
              <a:t> </a:t>
            </a:r>
            <a:r>
              <a:rPr sz="900" dirty="0">
                <a:solidFill>
                  <a:srgbClr val="3333B2"/>
                </a:solidFill>
                <a:latin typeface="Arial"/>
                <a:cs typeface="Arial"/>
              </a:rPr>
              <a:t>when</a:t>
            </a:r>
            <a:r>
              <a:rPr sz="900" spc="-25" dirty="0">
                <a:solidFill>
                  <a:srgbClr val="3333B2"/>
                </a:solidFill>
                <a:latin typeface="Arial"/>
                <a:cs typeface="Arial"/>
              </a:rPr>
              <a:t> </a:t>
            </a:r>
            <a:r>
              <a:rPr sz="900" dirty="0">
                <a:solidFill>
                  <a:srgbClr val="3333B2"/>
                </a:solidFill>
                <a:latin typeface="Arial"/>
                <a:cs typeface="Arial"/>
              </a:rPr>
              <a:t>there</a:t>
            </a:r>
            <a:r>
              <a:rPr sz="900" spc="-25" dirty="0">
                <a:solidFill>
                  <a:srgbClr val="3333B2"/>
                </a:solidFill>
                <a:latin typeface="Arial"/>
                <a:cs typeface="Arial"/>
              </a:rPr>
              <a:t> </a:t>
            </a:r>
            <a:r>
              <a:rPr sz="900" dirty="0">
                <a:solidFill>
                  <a:srgbClr val="3333B2"/>
                </a:solidFill>
                <a:latin typeface="Arial"/>
                <a:cs typeface="Arial"/>
              </a:rPr>
              <a:t>is</a:t>
            </a:r>
            <a:r>
              <a:rPr sz="900" spc="-20" dirty="0">
                <a:solidFill>
                  <a:srgbClr val="3333B2"/>
                </a:solidFill>
                <a:latin typeface="Arial"/>
                <a:cs typeface="Arial"/>
              </a:rPr>
              <a:t> </a:t>
            </a:r>
            <a:r>
              <a:rPr sz="900" dirty="0">
                <a:solidFill>
                  <a:srgbClr val="3333B2"/>
                </a:solidFill>
                <a:latin typeface="Arial"/>
                <a:cs typeface="Arial"/>
              </a:rPr>
              <a:t>only</a:t>
            </a:r>
            <a:r>
              <a:rPr sz="900" spc="-25" dirty="0">
                <a:solidFill>
                  <a:srgbClr val="3333B2"/>
                </a:solidFill>
                <a:latin typeface="Arial"/>
                <a:cs typeface="Arial"/>
              </a:rPr>
              <a:t> </a:t>
            </a:r>
            <a:r>
              <a:rPr sz="900" spc="-50" dirty="0">
                <a:solidFill>
                  <a:srgbClr val="3333B2"/>
                </a:solidFill>
                <a:latin typeface="Arial"/>
                <a:cs typeface="Arial"/>
              </a:rPr>
              <a:t>a</a:t>
            </a:r>
            <a:r>
              <a:rPr sz="900" dirty="0">
                <a:solidFill>
                  <a:srgbClr val="3333B2"/>
                </a:solidFill>
                <a:latin typeface="Arial"/>
                <a:cs typeface="Arial"/>
              </a:rPr>
              <a:t> minority</a:t>
            </a:r>
            <a:r>
              <a:rPr sz="900" spc="-30" dirty="0">
                <a:solidFill>
                  <a:srgbClr val="3333B2"/>
                </a:solidFill>
                <a:latin typeface="Arial"/>
                <a:cs typeface="Arial"/>
              </a:rPr>
              <a:t> </a:t>
            </a:r>
            <a:r>
              <a:rPr sz="900" dirty="0">
                <a:solidFill>
                  <a:srgbClr val="3333B2"/>
                </a:solidFill>
                <a:latin typeface="Arial"/>
                <a:cs typeface="Arial"/>
              </a:rPr>
              <a:t>of</a:t>
            </a:r>
            <a:r>
              <a:rPr sz="900" spc="-10" dirty="0">
                <a:solidFill>
                  <a:srgbClr val="3333B2"/>
                </a:solidFill>
                <a:latin typeface="Arial"/>
                <a:cs typeface="Arial"/>
              </a:rPr>
              <a:t> nonfaulty</a:t>
            </a:r>
            <a:r>
              <a:rPr sz="900" spc="-5" dirty="0">
                <a:solidFill>
                  <a:srgbClr val="3333B2"/>
                </a:solidFill>
                <a:latin typeface="Arial"/>
                <a:cs typeface="Arial"/>
              </a:rPr>
              <a:t> </a:t>
            </a:r>
            <a:r>
              <a:rPr sz="900" dirty="0">
                <a:solidFill>
                  <a:srgbClr val="3333B2"/>
                </a:solidFill>
                <a:latin typeface="Arial"/>
                <a:cs typeface="Arial"/>
              </a:rPr>
              <a:t>coordinators</a:t>
            </a:r>
            <a:r>
              <a:rPr sz="900" dirty="0">
                <a:latin typeface="Arial"/>
                <a:cs typeface="Arial"/>
              </a:rPr>
              <a:t>:</a:t>
            </a:r>
            <a:r>
              <a:rPr sz="900" spc="50" dirty="0">
                <a:latin typeface="Arial"/>
                <a:cs typeface="Arial"/>
              </a:rPr>
              <a:t> </a:t>
            </a:r>
            <a:r>
              <a:rPr sz="900" dirty="0">
                <a:latin typeface="Arial"/>
                <a:cs typeface="Arial"/>
              </a:rPr>
              <a:t>when</a:t>
            </a:r>
            <a:r>
              <a:rPr sz="900" spc="-10" dirty="0">
                <a:latin typeface="Arial"/>
                <a:cs typeface="Arial"/>
              </a:rPr>
              <a:t> </a:t>
            </a:r>
            <a:r>
              <a:rPr sz="900" i="1" spc="-10" dirty="0">
                <a:solidFill>
                  <a:srgbClr val="C80000"/>
                </a:solidFill>
                <a:latin typeface="Arial"/>
                <a:cs typeface="Arial"/>
              </a:rPr>
              <a:t>N</a:t>
            </a:r>
            <a:r>
              <a:rPr sz="900" i="1" spc="-60" dirty="0">
                <a:solidFill>
                  <a:srgbClr val="C80000"/>
                </a:solidFill>
                <a:latin typeface="Arial"/>
                <a:cs typeface="Arial"/>
              </a:rPr>
              <a:t> </a:t>
            </a:r>
            <a:r>
              <a:rPr sz="900" i="1" spc="150" dirty="0">
                <a:solidFill>
                  <a:srgbClr val="C80000"/>
                </a:solidFill>
                <a:latin typeface="Menlo"/>
                <a:cs typeface="Menlo"/>
              </a:rPr>
              <a:t>−</a:t>
            </a:r>
            <a:r>
              <a:rPr sz="900" i="1" spc="-420" dirty="0">
                <a:solidFill>
                  <a:srgbClr val="C80000"/>
                </a:solidFill>
                <a:latin typeface="Menlo"/>
                <a:cs typeface="Menlo"/>
              </a:rPr>
              <a:t> </a:t>
            </a:r>
            <a:r>
              <a:rPr sz="900" dirty="0">
                <a:solidFill>
                  <a:srgbClr val="C80000"/>
                </a:solidFill>
                <a:latin typeface="Arial"/>
                <a:cs typeface="Arial"/>
              </a:rPr>
              <a:t>(</a:t>
            </a:r>
            <a:r>
              <a:rPr sz="900" i="1" dirty="0">
                <a:solidFill>
                  <a:srgbClr val="C80000"/>
                </a:solidFill>
                <a:latin typeface="Arial"/>
                <a:cs typeface="Arial"/>
              </a:rPr>
              <a:t>m</a:t>
            </a:r>
            <a:r>
              <a:rPr sz="900" i="1" spc="-110" dirty="0">
                <a:solidFill>
                  <a:srgbClr val="C80000"/>
                </a:solidFill>
                <a:latin typeface="Arial"/>
                <a:cs typeface="Arial"/>
              </a:rPr>
              <a:t> </a:t>
            </a:r>
            <a:r>
              <a:rPr sz="900" i="1" spc="130" dirty="0">
                <a:solidFill>
                  <a:srgbClr val="C80000"/>
                </a:solidFill>
                <a:latin typeface="Menlo"/>
                <a:cs typeface="Menlo"/>
              </a:rPr>
              <a:t>−</a:t>
            </a:r>
            <a:r>
              <a:rPr sz="900" i="1" spc="130" dirty="0">
                <a:solidFill>
                  <a:srgbClr val="C80000"/>
                </a:solidFill>
                <a:latin typeface="Arial"/>
                <a:cs typeface="Arial"/>
              </a:rPr>
              <a:t>f</a:t>
            </a:r>
            <a:r>
              <a:rPr sz="900" i="1" spc="-130" dirty="0">
                <a:solidFill>
                  <a:srgbClr val="C80000"/>
                </a:solidFill>
                <a:latin typeface="Arial"/>
                <a:cs typeface="Arial"/>
              </a:rPr>
              <a:t> </a:t>
            </a:r>
            <a:r>
              <a:rPr sz="900" spc="55" dirty="0">
                <a:solidFill>
                  <a:srgbClr val="C80000"/>
                </a:solidFill>
                <a:latin typeface="Arial"/>
                <a:cs typeface="Arial"/>
              </a:rPr>
              <a:t>)</a:t>
            </a:r>
            <a:r>
              <a:rPr sz="900" spc="-60" dirty="0">
                <a:solidFill>
                  <a:srgbClr val="C80000"/>
                </a:solidFill>
                <a:latin typeface="Arial"/>
                <a:cs typeface="Arial"/>
              </a:rPr>
              <a:t> </a:t>
            </a:r>
            <a:r>
              <a:rPr sz="900" i="1" spc="150" dirty="0">
                <a:solidFill>
                  <a:srgbClr val="C80000"/>
                </a:solidFill>
                <a:latin typeface="Menlo"/>
                <a:cs typeface="Menlo"/>
              </a:rPr>
              <a:t>≥</a:t>
            </a:r>
            <a:r>
              <a:rPr sz="900" i="1" spc="-345" dirty="0">
                <a:solidFill>
                  <a:srgbClr val="C80000"/>
                </a:solidFill>
                <a:latin typeface="Menlo"/>
                <a:cs typeface="Menlo"/>
              </a:rPr>
              <a:t> </a:t>
            </a:r>
            <a:r>
              <a:rPr sz="900" i="1" dirty="0">
                <a:solidFill>
                  <a:srgbClr val="C80000"/>
                </a:solidFill>
                <a:latin typeface="Arial"/>
                <a:cs typeface="Arial"/>
              </a:rPr>
              <a:t>m</a:t>
            </a:r>
            <a:r>
              <a:rPr sz="900" dirty="0">
                <a:latin typeface="Arial"/>
                <a:cs typeface="Arial"/>
              </a:rPr>
              <a:t>,</a:t>
            </a:r>
            <a:r>
              <a:rPr sz="900" spc="-10" dirty="0">
                <a:latin typeface="Arial"/>
                <a:cs typeface="Arial"/>
              </a:rPr>
              <a:t> </a:t>
            </a:r>
            <a:r>
              <a:rPr lang="en-US" sz="900" dirty="0">
                <a:latin typeface="Arial"/>
                <a:cs typeface="Arial"/>
              </a:rPr>
              <a:t>or</a:t>
            </a:r>
            <a:r>
              <a:rPr sz="900" spc="-10" dirty="0">
                <a:latin typeface="Arial"/>
                <a:cs typeface="Arial"/>
              </a:rPr>
              <a:t> </a:t>
            </a:r>
            <a:r>
              <a:rPr sz="900" i="1" dirty="0">
                <a:solidFill>
                  <a:srgbClr val="C80000"/>
                </a:solidFill>
                <a:latin typeface="Arial"/>
                <a:cs typeface="Arial"/>
              </a:rPr>
              <a:t>f</a:t>
            </a:r>
            <a:r>
              <a:rPr sz="900" i="1" spc="65" dirty="0">
                <a:solidFill>
                  <a:srgbClr val="C80000"/>
                </a:solidFill>
                <a:latin typeface="Arial"/>
                <a:cs typeface="Arial"/>
              </a:rPr>
              <a:t> </a:t>
            </a:r>
            <a:r>
              <a:rPr sz="900" i="1" spc="150" dirty="0">
                <a:solidFill>
                  <a:srgbClr val="C80000"/>
                </a:solidFill>
                <a:latin typeface="Menlo"/>
                <a:cs typeface="Menlo"/>
              </a:rPr>
              <a:t>≥</a:t>
            </a:r>
            <a:r>
              <a:rPr sz="900" i="1" spc="-345" dirty="0">
                <a:solidFill>
                  <a:srgbClr val="C80000"/>
                </a:solidFill>
                <a:latin typeface="Menlo"/>
                <a:cs typeface="Menlo"/>
              </a:rPr>
              <a:t> </a:t>
            </a:r>
            <a:r>
              <a:rPr sz="900" spc="-10" dirty="0">
                <a:solidFill>
                  <a:srgbClr val="C80000"/>
                </a:solidFill>
                <a:latin typeface="Arial"/>
                <a:cs typeface="Arial"/>
              </a:rPr>
              <a:t>2</a:t>
            </a:r>
            <a:r>
              <a:rPr sz="900" i="1" spc="-10" dirty="0">
                <a:solidFill>
                  <a:srgbClr val="C80000"/>
                </a:solidFill>
                <a:latin typeface="Arial"/>
                <a:cs typeface="Arial"/>
              </a:rPr>
              <a:t>m</a:t>
            </a:r>
            <a:r>
              <a:rPr sz="900" i="1" spc="-110" dirty="0">
                <a:solidFill>
                  <a:srgbClr val="C80000"/>
                </a:solidFill>
                <a:latin typeface="Arial"/>
                <a:cs typeface="Arial"/>
              </a:rPr>
              <a:t> </a:t>
            </a:r>
            <a:r>
              <a:rPr sz="900" i="1" spc="80" dirty="0">
                <a:solidFill>
                  <a:srgbClr val="C80000"/>
                </a:solidFill>
                <a:latin typeface="Menlo"/>
                <a:cs typeface="Menlo"/>
              </a:rPr>
              <a:t>−</a:t>
            </a:r>
            <a:r>
              <a:rPr sz="900" i="1" spc="80" dirty="0">
                <a:solidFill>
                  <a:srgbClr val="C80000"/>
                </a:solidFill>
                <a:latin typeface="Arial"/>
                <a:cs typeface="Arial"/>
              </a:rPr>
              <a:t>N</a:t>
            </a:r>
            <a:r>
              <a:rPr sz="900" spc="80" dirty="0">
                <a:latin typeface="Arial"/>
                <a:cs typeface="Arial"/>
              </a:rPr>
              <a:t>.</a:t>
            </a:r>
            <a:endParaRPr sz="900" dirty="0">
              <a:latin typeface="Arial"/>
              <a:cs typeface="Arial"/>
            </a:endParaRPr>
          </a:p>
        </p:txBody>
      </p:sp>
      <p:grpSp>
        <p:nvGrpSpPr>
          <p:cNvPr id="11" name="object 11"/>
          <p:cNvGrpSpPr/>
          <p:nvPr/>
        </p:nvGrpSpPr>
        <p:grpSpPr>
          <a:xfrm>
            <a:off x="0" y="3348469"/>
            <a:ext cx="4608195" cy="107950"/>
            <a:chOff x="0" y="3348469"/>
            <a:chExt cx="4608195" cy="107950"/>
          </a:xfrm>
        </p:grpSpPr>
        <p:sp>
          <p:nvSpPr>
            <p:cNvPr id="12" name="object 12"/>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3" name="object 13"/>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4" name="object 14"/>
          <p:cNvSpPr txBox="1"/>
          <p:nvPr/>
        </p:nvSpPr>
        <p:spPr>
          <a:xfrm>
            <a:off x="53467" y="3349927"/>
            <a:ext cx="73850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A</a:t>
            </a:r>
            <a:r>
              <a:rPr sz="500" spc="35" dirty="0">
                <a:latin typeface="Arial"/>
                <a:cs typeface="Arial"/>
                <a:hlinkClick r:id="rId4" action="ppaction://hlinksldjump"/>
              </a:rPr>
              <a:t> </a:t>
            </a:r>
            <a:r>
              <a:rPr sz="500" spc="-10" dirty="0">
                <a:latin typeface="Arial"/>
                <a:cs typeface="Arial"/>
                <a:hlinkClick r:id="rId4" action="ppaction://hlinksldjump"/>
              </a:rPr>
              <a:t>decentralized</a:t>
            </a:r>
            <a:r>
              <a:rPr sz="500" spc="35" dirty="0">
                <a:latin typeface="Arial"/>
                <a:cs typeface="Arial"/>
                <a:hlinkClick r:id="rId4" action="ppaction://hlinksldjump"/>
              </a:rPr>
              <a:t> </a:t>
            </a:r>
            <a:r>
              <a:rPr sz="500" spc="-10" dirty="0">
                <a:latin typeface="Arial"/>
                <a:cs typeface="Arial"/>
                <a:hlinkClick r:id="rId4" action="ppaction://hlinksldjump"/>
              </a:rPr>
              <a:t>algorithm</a:t>
            </a:r>
            <a:endParaRPr sz="500">
              <a:latin typeface="Arial"/>
              <a:cs typeface="Arial"/>
            </a:endParaRPr>
          </a:p>
        </p:txBody>
      </p:sp>
      <p:pic>
        <p:nvPicPr>
          <p:cNvPr id="16" name="Picture 15">
            <a:extLst>
              <a:ext uri="{FF2B5EF4-FFF2-40B4-BE49-F238E27FC236}">
                <a16:creationId xmlns:a16="http://schemas.microsoft.com/office/drawing/2014/main" id="{FD8A656C-5AB2-6293-781B-B340F0F07DFE}"/>
              </a:ext>
            </a:extLst>
          </p:cNvPr>
          <p:cNvPicPr>
            <a:picLocks noChangeAspect="1"/>
          </p:cNvPicPr>
          <p:nvPr/>
        </p:nvPicPr>
        <p:blipFill>
          <a:blip r:embed="rId5"/>
          <a:stretch>
            <a:fillRect/>
          </a:stretch>
        </p:blipFill>
        <p:spPr>
          <a:xfrm>
            <a:off x="1558207" y="1269277"/>
            <a:ext cx="1540320" cy="415999"/>
          </a:xfrm>
          <a:prstGeom prst="rect">
            <a:avLst/>
          </a:prstGeom>
        </p:spPr>
      </p:pic>
    </p:spTree>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4018915" algn="l"/>
              </a:tabLst>
            </a:pPr>
            <a:r>
              <a:rPr sz="500" spc="-10" dirty="0">
                <a:latin typeface="Arial"/>
                <a:cs typeface="Arial"/>
                <a:hlinkClick r:id="rId2" action="ppaction://hlinksldjump"/>
              </a:rPr>
              <a:t>Coordination</a:t>
            </a:r>
            <a:r>
              <a:rPr sz="500" dirty="0">
                <a:latin typeface="Arial"/>
                <a:cs typeface="Arial"/>
              </a:rPr>
              <a:t>	</a:t>
            </a:r>
            <a:r>
              <a:rPr sz="500" dirty="0">
                <a:solidFill>
                  <a:srgbClr val="FFFFFF"/>
                </a:solidFill>
                <a:latin typeface="Arial"/>
                <a:cs typeface="Arial"/>
                <a:hlinkClick r:id="rId3" action="ppaction://hlinksldjump"/>
              </a:rPr>
              <a:t>Mutual</a:t>
            </a:r>
            <a:r>
              <a:rPr sz="500" spc="-30"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exclusion</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0" dirty="0"/>
              <a:t>Decentralized</a:t>
            </a:r>
            <a:r>
              <a:rPr spc="-20" dirty="0"/>
              <a:t> </a:t>
            </a:r>
            <a:r>
              <a:rPr dirty="0"/>
              <a:t>mutual</a:t>
            </a:r>
            <a:r>
              <a:rPr spc="-20" dirty="0"/>
              <a:t> </a:t>
            </a:r>
            <a:r>
              <a:rPr spc="-10" dirty="0"/>
              <a:t>exclusion</a:t>
            </a:r>
          </a:p>
        </p:txBody>
      </p:sp>
      <p:sp>
        <p:nvSpPr>
          <p:cNvPr id="4" name="object 4"/>
          <p:cNvSpPr txBox="1"/>
          <p:nvPr/>
        </p:nvSpPr>
        <p:spPr>
          <a:xfrm>
            <a:off x="334594" y="514774"/>
            <a:ext cx="3844925" cy="913765"/>
          </a:xfrm>
          <a:prstGeom prst="rect">
            <a:avLst/>
          </a:prstGeom>
        </p:spPr>
        <p:txBody>
          <a:bodyPr vert="horz" wrap="square" lIns="0" tIns="12065" rIns="0" bIns="0" rtlCol="0">
            <a:spAutoFit/>
          </a:bodyPr>
          <a:lstStyle/>
          <a:p>
            <a:pPr marL="25400">
              <a:lnSpc>
                <a:spcPct val="100000"/>
              </a:lnSpc>
              <a:spcBef>
                <a:spcPts val="95"/>
              </a:spcBef>
            </a:pPr>
            <a:r>
              <a:rPr sz="1000" dirty="0">
                <a:solidFill>
                  <a:srgbClr val="3333B2"/>
                </a:solidFill>
                <a:latin typeface="Arial"/>
                <a:cs typeface="Arial"/>
              </a:rPr>
              <a:t>How</a:t>
            </a:r>
            <a:r>
              <a:rPr sz="1000" spc="-35" dirty="0">
                <a:solidFill>
                  <a:srgbClr val="3333B2"/>
                </a:solidFill>
                <a:latin typeface="Arial"/>
                <a:cs typeface="Arial"/>
              </a:rPr>
              <a:t> </a:t>
            </a:r>
            <a:r>
              <a:rPr sz="1000" dirty="0">
                <a:solidFill>
                  <a:srgbClr val="3333B2"/>
                </a:solidFill>
                <a:latin typeface="Arial"/>
                <a:cs typeface="Arial"/>
              </a:rPr>
              <a:t>robust</a:t>
            </a:r>
            <a:r>
              <a:rPr sz="1000" spc="-30" dirty="0">
                <a:solidFill>
                  <a:srgbClr val="3333B2"/>
                </a:solidFill>
                <a:latin typeface="Arial"/>
                <a:cs typeface="Arial"/>
              </a:rPr>
              <a:t> </a:t>
            </a:r>
            <a:r>
              <a:rPr sz="1000" dirty="0">
                <a:solidFill>
                  <a:srgbClr val="3333B2"/>
                </a:solidFill>
                <a:latin typeface="Arial"/>
                <a:cs typeface="Arial"/>
              </a:rPr>
              <a:t>is</a:t>
            </a:r>
            <a:r>
              <a:rPr sz="1000" spc="-30" dirty="0">
                <a:solidFill>
                  <a:srgbClr val="3333B2"/>
                </a:solidFill>
                <a:latin typeface="Arial"/>
                <a:cs typeface="Arial"/>
              </a:rPr>
              <a:t> </a:t>
            </a:r>
            <a:r>
              <a:rPr sz="1000" dirty="0">
                <a:solidFill>
                  <a:srgbClr val="3333B2"/>
                </a:solidFill>
                <a:latin typeface="Arial"/>
                <a:cs typeface="Arial"/>
              </a:rPr>
              <a:t>this</a:t>
            </a:r>
            <a:r>
              <a:rPr sz="1000" spc="-35" dirty="0">
                <a:solidFill>
                  <a:srgbClr val="3333B2"/>
                </a:solidFill>
                <a:latin typeface="Arial"/>
                <a:cs typeface="Arial"/>
              </a:rPr>
              <a:t> </a:t>
            </a:r>
            <a:r>
              <a:rPr sz="1000" spc="-10" dirty="0">
                <a:solidFill>
                  <a:srgbClr val="3333B2"/>
                </a:solidFill>
                <a:latin typeface="Arial"/>
                <a:cs typeface="Arial"/>
              </a:rPr>
              <a:t>system?</a:t>
            </a:r>
            <a:endParaRPr sz="1000">
              <a:latin typeface="Arial"/>
              <a:cs typeface="Arial"/>
            </a:endParaRPr>
          </a:p>
          <a:p>
            <a:pPr marL="278130" marR="27940" indent="-120650">
              <a:lnSpc>
                <a:spcPct val="111600"/>
              </a:lnSpc>
              <a:spcBef>
                <a:spcPts val="575"/>
              </a:spcBef>
              <a:buClr>
                <a:srgbClr val="3333B2"/>
              </a:buClr>
              <a:buFont typeface="Menlo"/>
              <a:buChar char="•"/>
              <a:tabLst>
                <a:tab pos="278765" algn="l"/>
              </a:tabLst>
            </a:pPr>
            <a:r>
              <a:rPr sz="900" dirty="0">
                <a:latin typeface="Arial"/>
                <a:cs typeface="Arial"/>
              </a:rPr>
              <a:t>Let</a:t>
            </a:r>
            <a:r>
              <a:rPr sz="900" spc="-25" dirty="0">
                <a:latin typeface="Arial"/>
                <a:cs typeface="Arial"/>
              </a:rPr>
              <a:t> </a:t>
            </a:r>
            <a:r>
              <a:rPr sz="900" i="1" dirty="0">
                <a:latin typeface="Arial"/>
                <a:cs typeface="Arial"/>
              </a:rPr>
              <a:t>p</a:t>
            </a:r>
            <a:r>
              <a:rPr sz="900" i="1" spc="-40" dirty="0">
                <a:latin typeface="Arial"/>
                <a:cs typeface="Arial"/>
              </a:rPr>
              <a:t> </a:t>
            </a:r>
            <a:r>
              <a:rPr sz="900" spc="185" dirty="0">
                <a:latin typeface="Arial"/>
                <a:cs typeface="Arial"/>
              </a:rPr>
              <a:t>=</a:t>
            </a:r>
            <a:r>
              <a:rPr sz="900" spc="-65" dirty="0">
                <a:latin typeface="Arial"/>
                <a:cs typeface="Arial"/>
              </a:rPr>
              <a:t> </a:t>
            </a:r>
            <a:r>
              <a:rPr sz="900" spc="95" dirty="0">
                <a:latin typeface="Arial"/>
                <a:cs typeface="Arial"/>
              </a:rPr>
              <a:t>∆</a:t>
            </a:r>
            <a:r>
              <a:rPr sz="900" i="1" spc="95" dirty="0">
                <a:latin typeface="Arial"/>
                <a:cs typeface="Arial"/>
              </a:rPr>
              <a:t>t</a:t>
            </a:r>
            <a:r>
              <a:rPr sz="900" i="1" spc="95" dirty="0">
                <a:latin typeface="STIX Two Text"/>
                <a:cs typeface="STIX Two Text"/>
              </a:rPr>
              <a:t>/</a:t>
            </a:r>
            <a:r>
              <a:rPr sz="900" i="1" spc="95" dirty="0">
                <a:latin typeface="Arial"/>
                <a:cs typeface="Arial"/>
              </a:rPr>
              <a:t>T</a:t>
            </a:r>
            <a:r>
              <a:rPr sz="900" i="1" spc="100" dirty="0">
                <a:latin typeface="Arial"/>
                <a:cs typeface="Arial"/>
              </a:rPr>
              <a:t> </a:t>
            </a:r>
            <a:r>
              <a:rPr sz="900" dirty="0">
                <a:latin typeface="Arial"/>
                <a:cs typeface="Arial"/>
              </a:rPr>
              <a:t>be</a:t>
            </a:r>
            <a:r>
              <a:rPr sz="900" spc="-20" dirty="0">
                <a:latin typeface="Arial"/>
                <a:cs typeface="Arial"/>
              </a:rPr>
              <a:t> </a:t>
            </a:r>
            <a:r>
              <a:rPr sz="900" dirty="0">
                <a:latin typeface="Arial"/>
                <a:cs typeface="Arial"/>
              </a:rPr>
              <a:t>the</a:t>
            </a:r>
            <a:r>
              <a:rPr sz="900" spc="-15" dirty="0">
                <a:latin typeface="Arial"/>
                <a:cs typeface="Arial"/>
              </a:rPr>
              <a:t> </a:t>
            </a:r>
            <a:r>
              <a:rPr sz="900" dirty="0">
                <a:latin typeface="Arial"/>
                <a:cs typeface="Arial"/>
              </a:rPr>
              <a:t>probability</a:t>
            </a:r>
            <a:r>
              <a:rPr sz="900" spc="-20" dirty="0">
                <a:latin typeface="Arial"/>
                <a:cs typeface="Arial"/>
              </a:rPr>
              <a:t> </a:t>
            </a:r>
            <a:r>
              <a:rPr sz="900" dirty="0">
                <a:latin typeface="Arial"/>
                <a:cs typeface="Arial"/>
              </a:rPr>
              <a:t>that</a:t>
            </a:r>
            <a:r>
              <a:rPr sz="900" spc="-20" dirty="0">
                <a:latin typeface="Arial"/>
                <a:cs typeface="Arial"/>
              </a:rPr>
              <a:t> </a:t>
            </a:r>
            <a:r>
              <a:rPr sz="900" dirty="0">
                <a:latin typeface="Arial"/>
                <a:cs typeface="Arial"/>
              </a:rPr>
              <a:t>a</a:t>
            </a:r>
            <a:r>
              <a:rPr sz="900" spc="-15" dirty="0">
                <a:latin typeface="Arial"/>
                <a:cs typeface="Arial"/>
              </a:rPr>
              <a:t> </a:t>
            </a:r>
            <a:r>
              <a:rPr sz="900" dirty="0">
                <a:latin typeface="Arial"/>
                <a:cs typeface="Arial"/>
              </a:rPr>
              <a:t>coordinator</a:t>
            </a:r>
            <a:r>
              <a:rPr sz="900" spc="-20" dirty="0">
                <a:latin typeface="Arial"/>
                <a:cs typeface="Arial"/>
              </a:rPr>
              <a:t> </a:t>
            </a:r>
            <a:r>
              <a:rPr sz="900" dirty="0">
                <a:latin typeface="Arial"/>
                <a:cs typeface="Arial"/>
              </a:rPr>
              <a:t>resets</a:t>
            </a:r>
            <a:r>
              <a:rPr sz="900" spc="-20" dirty="0">
                <a:latin typeface="Arial"/>
                <a:cs typeface="Arial"/>
              </a:rPr>
              <a:t> </a:t>
            </a:r>
            <a:r>
              <a:rPr sz="900" dirty="0">
                <a:latin typeface="Arial"/>
                <a:cs typeface="Arial"/>
              </a:rPr>
              <a:t>during</a:t>
            </a:r>
            <a:r>
              <a:rPr sz="900" spc="-20" dirty="0">
                <a:latin typeface="Arial"/>
                <a:cs typeface="Arial"/>
              </a:rPr>
              <a:t> </a:t>
            </a:r>
            <a:r>
              <a:rPr sz="900" dirty="0">
                <a:latin typeface="Arial"/>
                <a:cs typeface="Arial"/>
              </a:rPr>
              <a:t>a</a:t>
            </a:r>
            <a:r>
              <a:rPr sz="900" spc="-15" dirty="0">
                <a:latin typeface="Arial"/>
                <a:cs typeface="Arial"/>
              </a:rPr>
              <a:t> </a:t>
            </a:r>
            <a:r>
              <a:rPr sz="900" spc="-20" dirty="0">
                <a:latin typeface="Arial"/>
                <a:cs typeface="Arial"/>
              </a:rPr>
              <a:t>time </a:t>
            </a:r>
            <a:r>
              <a:rPr sz="900" dirty="0">
                <a:latin typeface="Arial"/>
                <a:cs typeface="Arial"/>
              </a:rPr>
              <a:t>interval</a:t>
            </a:r>
            <a:r>
              <a:rPr sz="900" spc="-25" dirty="0">
                <a:latin typeface="Arial"/>
                <a:cs typeface="Arial"/>
              </a:rPr>
              <a:t> </a:t>
            </a:r>
            <a:r>
              <a:rPr sz="900" spc="105" dirty="0">
                <a:latin typeface="Arial"/>
                <a:cs typeface="Arial"/>
              </a:rPr>
              <a:t>∆</a:t>
            </a:r>
            <a:r>
              <a:rPr sz="900" i="1" spc="105" dirty="0">
                <a:latin typeface="Arial"/>
                <a:cs typeface="Arial"/>
              </a:rPr>
              <a:t>t</a:t>
            </a:r>
            <a:r>
              <a:rPr sz="900" i="1" spc="-170" dirty="0">
                <a:latin typeface="Arial"/>
                <a:cs typeface="Arial"/>
              </a:rPr>
              <a:t> </a:t>
            </a:r>
            <a:r>
              <a:rPr sz="900" dirty="0">
                <a:latin typeface="Arial"/>
                <a:cs typeface="Arial"/>
              </a:rPr>
              <a:t>,</a:t>
            </a:r>
            <a:r>
              <a:rPr sz="900" spc="-15" dirty="0">
                <a:latin typeface="Arial"/>
                <a:cs typeface="Arial"/>
              </a:rPr>
              <a:t> </a:t>
            </a:r>
            <a:r>
              <a:rPr sz="900" dirty="0">
                <a:latin typeface="Arial"/>
                <a:cs typeface="Arial"/>
              </a:rPr>
              <a:t>while</a:t>
            </a:r>
            <a:r>
              <a:rPr sz="900" spc="-20" dirty="0">
                <a:latin typeface="Arial"/>
                <a:cs typeface="Arial"/>
              </a:rPr>
              <a:t> </a:t>
            </a:r>
            <a:r>
              <a:rPr sz="900" dirty="0">
                <a:latin typeface="Arial"/>
                <a:cs typeface="Arial"/>
              </a:rPr>
              <a:t>having</a:t>
            </a:r>
            <a:r>
              <a:rPr sz="900" spc="-15" dirty="0">
                <a:latin typeface="Arial"/>
                <a:cs typeface="Arial"/>
              </a:rPr>
              <a:t> </a:t>
            </a:r>
            <a:r>
              <a:rPr sz="900" dirty="0">
                <a:latin typeface="Arial"/>
                <a:cs typeface="Arial"/>
              </a:rPr>
              <a:t>a</a:t>
            </a:r>
            <a:r>
              <a:rPr sz="900" spc="-15" dirty="0">
                <a:latin typeface="Arial"/>
                <a:cs typeface="Arial"/>
              </a:rPr>
              <a:t> </a:t>
            </a:r>
            <a:r>
              <a:rPr sz="900" spc="-10" dirty="0">
                <a:latin typeface="Arial"/>
                <a:cs typeface="Arial"/>
              </a:rPr>
              <a:t>lifetime</a:t>
            </a:r>
            <a:r>
              <a:rPr sz="900" spc="-15" dirty="0">
                <a:latin typeface="Arial"/>
                <a:cs typeface="Arial"/>
              </a:rPr>
              <a:t> </a:t>
            </a:r>
            <a:r>
              <a:rPr sz="900" dirty="0">
                <a:latin typeface="Arial"/>
                <a:cs typeface="Arial"/>
              </a:rPr>
              <a:t>of</a:t>
            </a:r>
            <a:r>
              <a:rPr sz="900" spc="-15" dirty="0">
                <a:latin typeface="Arial"/>
                <a:cs typeface="Arial"/>
              </a:rPr>
              <a:t> </a:t>
            </a:r>
            <a:r>
              <a:rPr sz="900" i="1" spc="-10" dirty="0">
                <a:latin typeface="Arial"/>
                <a:cs typeface="Arial"/>
              </a:rPr>
              <a:t>T</a:t>
            </a:r>
            <a:r>
              <a:rPr sz="900" i="1" spc="-130" dirty="0">
                <a:latin typeface="Arial"/>
                <a:cs typeface="Arial"/>
              </a:rPr>
              <a:t> </a:t>
            </a:r>
            <a:r>
              <a:rPr sz="900" spc="-50" dirty="0">
                <a:latin typeface="Arial"/>
                <a:cs typeface="Arial"/>
              </a:rPr>
              <a:t>.</a:t>
            </a:r>
            <a:endParaRPr sz="900">
              <a:latin typeface="Arial"/>
              <a:cs typeface="Arial"/>
            </a:endParaRPr>
          </a:p>
          <a:p>
            <a:pPr marL="278130" marR="17780" indent="-120650">
              <a:lnSpc>
                <a:spcPct val="111600"/>
              </a:lnSpc>
              <a:spcBef>
                <a:spcPts val="400"/>
              </a:spcBef>
              <a:buClr>
                <a:srgbClr val="3333B2"/>
              </a:buClr>
              <a:buFont typeface="Menlo"/>
              <a:buChar char="•"/>
              <a:tabLst>
                <a:tab pos="274955" algn="l"/>
              </a:tabLst>
            </a:pPr>
            <a:r>
              <a:rPr sz="900" dirty="0">
                <a:latin typeface="Arial"/>
                <a:cs typeface="Arial"/>
              </a:rPr>
              <a:t>The</a:t>
            </a:r>
            <a:r>
              <a:rPr sz="900" spc="-25" dirty="0">
                <a:latin typeface="Arial"/>
                <a:cs typeface="Arial"/>
              </a:rPr>
              <a:t> </a:t>
            </a:r>
            <a:r>
              <a:rPr sz="900" dirty="0">
                <a:latin typeface="Arial"/>
                <a:cs typeface="Arial"/>
              </a:rPr>
              <a:t>probability</a:t>
            </a:r>
            <a:r>
              <a:rPr sz="900" spc="-20" dirty="0">
                <a:latin typeface="Arial"/>
                <a:cs typeface="Arial"/>
              </a:rPr>
              <a:t> P[</a:t>
            </a:r>
            <a:r>
              <a:rPr sz="900" i="1" spc="-20" dirty="0">
                <a:latin typeface="Arial"/>
                <a:cs typeface="Arial"/>
              </a:rPr>
              <a:t>k</a:t>
            </a:r>
            <a:r>
              <a:rPr sz="900" i="1" spc="-165" dirty="0">
                <a:latin typeface="Arial"/>
                <a:cs typeface="Arial"/>
              </a:rPr>
              <a:t> </a:t>
            </a:r>
            <a:r>
              <a:rPr sz="900" dirty="0">
                <a:latin typeface="Arial"/>
                <a:cs typeface="Arial"/>
              </a:rPr>
              <a:t>]</a:t>
            </a:r>
            <a:r>
              <a:rPr sz="900" spc="-15" dirty="0">
                <a:latin typeface="Arial"/>
                <a:cs typeface="Arial"/>
              </a:rPr>
              <a:t> </a:t>
            </a:r>
            <a:r>
              <a:rPr sz="900" dirty="0">
                <a:latin typeface="Arial"/>
                <a:cs typeface="Arial"/>
              </a:rPr>
              <a:t>that</a:t>
            </a:r>
            <a:r>
              <a:rPr sz="900" spc="-20" dirty="0">
                <a:latin typeface="Arial"/>
                <a:cs typeface="Arial"/>
              </a:rPr>
              <a:t> </a:t>
            </a:r>
            <a:r>
              <a:rPr sz="900" i="1" dirty="0">
                <a:latin typeface="Arial"/>
                <a:cs typeface="Arial"/>
              </a:rPr>
              <a:t>k</a:t>
            </a:r>
            <a:r>
              <a:rPr sz="900" i="1" spc="65" dirty="0">
                <a:latin typeface="Arial"/>
                <a:cs typeface="Arial"/>
              </a:rPr>
              <a:t> </a:t>
            </a:r>
            <a:r>
              <a:rPr sz="900" dirty="0">
                <a:latin typeface="Arial"/>
                <a:cs typeface="Arial"/>
              </a:rPr>
              <a:t>out</a:t>
            </a:r>
            <a:r>
              <a:rPr sz="900" spc="-15" dirty="0">
                <a:latin typeface="Arial"/>
                <a:cs typeface="Arial"/>
              </a:rPr>
              <a:t> </a:t>
            </a:r>
            <a:r>
              <a:rPr sz="900" dirty="0">
                <a:latin typeface="Arial"/>
                <a:cs typeface="Arial"/>
              </a:rPr>
              <a:t>of</a:t>
            </a:r>
            <a:r>
              <a:rPr sz="900" spc="-20" dirty="0">
                <a:latin typeface="Arial"/>
                <a:cs typeface="Arial"/>
              </a:rPr>
              <a:t> </a:t>
            </a:r>
            <a:r>
              <a:rPr sz="900" i="1" dirty="0">
                <a:latin typeface="Arial"/>
                <a:cs typeface="Arial"/>
              </a:rPr>
              <a:t>m </a:t>
            </a:r>
            <a:r>
              <a:rPr sz="900" dirty="0">
                <a:latin typeface="Arial"/>
                <a:cs typeface="Arial"/>
              </a:rPr>
              <a:t>coordinators</a:t>
            </a:r>
            <a:r>
              <a:rPr sz="900" spc="-15" dirty="0">
                <a:latin typeface="Arial"/>
                <a:cs typeface="Arial"/>
              </a:rPr>
              <a:t> </a:t>
            </a:r>
            <a:r>
              <a:rPr sz="900" dirty="0">
                <a:latin typeface="Arial"/>
                <a:cs typeface="Arial"/>
              </a:rPr>
              <a:t>reset</a:t>
            </a:r>
            <a:r>
              <a:rPr sz="900" spc="-20" dirty="0">
                <a:latin typeface="Arial"/>
                <a:cs typeface="Arial"/>
              </a:rPr>
              <a:t> </a:t>
            </a:r>
            <a:r>
              <a:rPr sz="900" dirty="0">
                <a:latin typeface="Arial"/>
                <a:cs typeface="Arial"/>
              </a:rPr>
              <a:t>during</a:t>
            </a:r>
            <a:r>
              <a:rPr sz="900" spc="-20" dirty="0">
                <a:latin typeface="Arial"/>
                <a:cs typeface="Arial"/>
              </a:rPr>
              <a:t> </a:t>
            </a:r>
            <a:r>
              <a:rPr sz="900" dirty="0">
                <a:latin typeface="Arial"/>
                <a:cs typeface="Arial"/>
              </a:rPr>
              <a:t>the</a:t>
            </a:r>
            <a:r>
              <a:rPr sz="900" spc="-15" dirty="0">
                <a:latin typeface="Arial"/>
                <a:cs typeface="Arial"/>
              </a:rPr>
              <a:t> </a:t>
            </a:r>
            <a:r>
              <a:rPr sz="900" spc="-20" dirty="0">
                <a:latin typeface="Arial"/>
                <a:cs typeface="Arial"/>
              </a:rPr>
              <a:t>same </a:t>
            </a:r>
            <a:r>
              <a:rPr sz="900" dirty="0">
                <a:latin typeface="Arial"/>
                <a:cs typeface="Arial"/>
              </a:rPr>
              <a:t>interval</a:t>
            </a:r>
            <a:r>
              <a:rPr sz="900" spc="-35" dirty="0">
                <a:latin typeface="Arial"/>
                <a:cs typeface="Arial"/>
              </a:rPr>
              <a:t> </a:t>
            </a:r>
            <a:r>
              <a:rPr sz="900" spc="-25" dirty="0">
                <a:latin typeface="Arial"/>
                <a:cs typeface="Arial"/>
              </a:rPr>
              <a:t>is</a:t>
            </a:r>
            <a:endParaRPr sz="900">
              <a:latin typeface="Arial"/>
              <a:cs typeface="Arial"/>
            </a:endParaRPr>
          </a:p>
        </p:txBody>
      </p:sp>
      <p:sp>
        <p:nvSpPr>
          <p:cNvPr id="10" name="object 10"/>
          <p:cNvSpPr txBox="1"/>
          <p:nvPr/>
        </p:nvSpPr>
        <p:spPr>
          <a:xfrm>
            <a:off x="416648" y="1708877"/>
            <a:ext cx="3878579" cy="569595"/>
          </a:xfrm>
          <a:prstGeom prst="rect">
            <a:avLst/>
          </a:prstGeom>
        </p:spPr>
        <p:txBody>
          <a:bodyPr vert="horz" wrap="square" lIns="0" tIns="12700" rIns="0" bIns="0" rtlCol="0">
            <a:spAutoFit/>
          </a:bodyPr>
          <a:lstStyle/>
          <a:p>
            <a:pPr marL="196215" marR="17780" indent="-120650">
              <a:lnSpc>
                <a:spcPct val="111600"/>
              </a:lnSpc>
              <a:spcBef>
                <a:spcPts val="100"/>
              </a:spcBef>
              <a:buClr>
                <a:srgbClr val="3333B2"/>
              </a:buClr>
              <a:buFont typeface="Menlo"/>
              <a:buChar char="•"/>
              <a:tabLst>
                <a:tab pos="196850" algn="l"/>
              </a:tabLst>
            </a:pPr>
            <a:r>
              <a:rPr sz="900" i="1" dirty="0">
                <a:latin typeface="Arial"/>
                <a:cs typeface="Arial"/>
              </a:rPr>
              <a:t>f</a:t>
            </a:r>
            <a:r>
              <a:rPr sz="900" i="1" spc="70" dirty="0">
                <a:latin typeface="Arial"/>
                <a:cs typeface="Arial"/>
              </a:rPr>
              <a:t> </a:t>
            </a:r>
            <a:r>
              <a:rPr sz="900" dirty="0">
                <a:latin typeface="Arial"/>
                <a:cs typeface="Arial"/>
              </a:rPr>
              <a:t>coordinators</a:t>
            </a:r>
            <a:r>
              <a:rPr sz="900" spc="-25" dirty="0">
                <a:latin typeface="Arial"/>
                <a:cs typeface="Arial"/>
              </a:rPr>
              <a:t> </a:t>
            </a:r>
            <a:r>
              <a:rPr sz="900" dirty="0">
                <a:latin typeface="Arial"/>
                <a:cs typeface="Arial"/>
              </a:rPr>
              <a:t>reset</a:t>
            </a:r>
            <a:r>
              <a:rPr sz="900" spc="-25" dirty="0">
                <a:latin typeface="Arial"/>
                <a:cs typeface="Arial"/>
              </a:rPr>
              <a:t> </a:t>
            </a:r>
            <a:r>
              <a:rPr sz="900" i="1" spc="350" dirty="0">
                <a:latin typeface="Menlo"/>
                <a:cs typeface="Menlo"/>
              </a:rPr>
              <a:t>⇒</a:t>
            </a:r>
            <a:r>
              <a:rPr sz="900" i="1" spc="-295" dirty="0">
                <a:latin typeface="Menlo"/>
                <a:cs typeface="Menlo"/>
              </a:rPr>
              <a:t> </a:t>
            </a:r>
            <a:r>
              <a:rPr sz="900" dirty="0">
                <a:solidFill>
                  <a:srgbClr val="3333B2"/>
                </a:solidFill>
                <a:latin typeface="Arial"/>
                <a:cs typeface="Arial"/>
              </a:rPr>
              <a:t>correctness</a:t>
            </a:r>
            <a:r>
              <a:rPr sz="900" spc="-20" dirty="0">
                <a:solidFill>
                  <a:srgbClr val="3333B2"/>
                </a:solidFill>
                <a:latin typeface="Arial"/>
                <a:cs typeface="Arial"/>
              </a:rPr>
              <a:t> </a:t>
            </a:r>
            <a:r>
              <a:rPr sz="900" dirty="0">
                <a:solidFill>
                  <a:srgbClr val="3333B2"/>
                </a:solidFill>
                <a:latin typeface="Arial"/>
                <a:cs typeface="Arial"/>
              </a:rPr>
              <a:t>is</a:t>
            </a:r>
            <a:r>
              <a:rPr sz="900" spc="-25" dirty="0">
                <a:solidFill>
                  <a:srgbClr val="3333B2"/>
                </a:solidFill>
                <a:latin typeface="Arial"/>
                <a:cs typeface="Arial"/>
              </a:rPr>
              <a:t> </a:t>
            </a:r>
            <a:r>
              <a:rPr sz="900" dirty="0">
                <a:solidFill>
                  <a:srgbClr val="3333B2"/>
                </a:solidFill>
                <a:latin typeface="Arial"/>
                <a:cs typeface="Arial"/>
              </a:rPr>
              <a:t>violated</a:t>
            </a:r>
            <a:r>
              <a:rPr sz="900" spc="-25" dirty="0">
                <a:solidFill>
                  <a:srgbClr val="3333B2"/>
                </a:solidFill>
                <a:latin typeface="Arial"/>
                <a:cs typeface="Arial"/>
              </a:rPr>
              <a:t> </a:t>
            </a:r>
            <a:r>
              <a:rPr sz="900" dirty="0">
                <a:solidFill>
                  <a:srgbClr val="3333B2"/>
                </a:solidFill>
                <a:latin typeface="Arial"/>
                <a:cs typeface="Arial"/>
              </a:rPr>
              <a:t>when</a:t>
            </a:r>
            <a:r>
              <a:rPr sz="900" spc="-25" dirty="0">
                <a:solidFill>
                  <a:srgbClr val="3333B2"/>
                </a:solidFill>
                <a:latin typeface="Arial"/>
                <a:cs typeface="Arial"/>
              </a:rPr>
              <a:t> </a:t>
            </a:r>
            <a:r>
              <a:rPr sz="900" dirty="0">
                <a:solidFill>
                  <a:srgbClr val="3333B2"/>
                </a:solidFill>
                <a:latin typeface="Arial"/>
                <a:cs typeface="Arial"/>
              </a:rPr>
              <a:t>there</a:t>
            </a:r>
            <a:r>
              <a:rPr sz="900" spc="-25" dirty="0">
                <a:solidFill>
                  <a:srgbClr val="3333B2"/>
                </a:solidFill>
                <a:latin typeface="Arial"/>
                <a:cs typeface="Arial"/>
              </a:rPr>
              <a:t> </a:t>
            </a:r>
            <a:r>
              <a:rPr sz="900" dirty="0">
                <a:solidFill>
                  <a:srgbClr val="3333B2"/>
                </a:solidFill>
                <a:latin typeface="Arial"/>
                <a:cs typeface="Arial"/>
              </a:rPr>
              <a:t>is</a:t>
            </a:r>
            <a:r>
              <a:rPr sz="900" spc="-20" dirty="0">
                <a:solidFill>
                  <a:srgbClr val="3333B2"/>
                </a:solidFill>
                <a:latin typeface="Arial"/>
                <a:cs typeface="Arial"/>
              </a:rPr>
              <a:t> </a:t>
            </a:r>
            <a:r>
              <a:rPr sz="900" dirty="0">
                <a:solidFill>
                  <a:srgbClr val="3333B2"/>
                </a:solidFill>
                <a:latin typeface="Arial"/>
                <a:cs typeface="Arial"/>
              </a:rPr>
              <a:t>only</a:t>
            </a:r>
            <a:r>
              <a:rPr sz="900" spc="-25" dirty="0">
                <a:solidFill>
                  <a:srgbClr val="3333B2"/>
                </a:solidFill>
                <a:latin typeface="Arial"/>
                <a:cs typeface="Arial"/>
              </a:rPr>
              <a:t> </a:t>
            </a:r>
            <a:r>
              <a:rPr sz="900" spc="-50" dirty="0">
                <a:solidFill>
                  <a:srgbClr val="3333B2"/>
                </a:solidFill>
                <a:latin typeface="Arial"/>
                <a:cs typeface="Arial"/>
              </a:rPr>
              <a:t>a</a:t>
            </a:r>
            <a:r>
              <a:rPr sz="900" dirty="0">
                <a:solidFill>
                  <a:srgbClr val="3333B2"/>
                </a:solidFill>
                <a:latin typeface="Arial"/>
                <a:cs typeface="Arial"/>
              </a:rPr>
              <a:t> minority</a:t>
            </a:r>
            <a:r>
              <a:rPr sz="900" spc="-30" dirty="0">
                <a:solidFill>
                  <a:srgbClr val="3333B2"/>
                </a:solidFill>
                <a:latin typeface="Arial"/>
                <a:cs typeface="Arial"/>
              </a:rPr>
              <a:t> </a:t>
            </a:r>
            <a:r>
              <a:rPr sz="900" dirty="0">
                <a:solidFill>
                  <a:srgbClr val="3333B2"/>
                </a:solidFill>
                <a:latin typeface="Arial"/>
                <a:cs typeface="Arial"/>
              </a:rPr>
              <a:t>of</a:t>
            </a:r>
            <a:r>
              <a:rPr sz="900" spc="-10" dirty="0">
                <a:solidFill>
                  <a:srgbClr val="3333B2"/>
                </a:solidFill>
                <a:latin typeface="Arial"/>
                <a:cs typeface="Arial"/>
              </a:rPr>
              <a:t> nonfaulty</a:t>
            </a:r>
            <a:r>
              <a:rPr sz="900" spc="-5" dirty="0">
                <a:solidFill>
                  <a:srgbClr val="3333B2"/>
                </a:solidFill>
                <a:latin typeface="Arial"/>
                <a:cs typeface="Arial"/>
              </a:rPr>
              <a:t> </a:t>
            </a:r>
            <a:r>
              <a:rPr sz="900" dirty="0">
                <a:solidFill>
                  <a:srgbClr val="3333B2"/>
                </a:solidFill>
                <a:latin typeface="Arial"/>
                <a:cs typeface="Arial"/>
              </a:rPr>
              <a:t>coordinators</a:t>
            </a:r>
            <a:r>
              <a:rPr sz="900" dirty="0">
                <a:latin typeface="Arial"/>
                <a:cs typeface="Arial"/>
              </a:rPr>
              <a:t>:</a:t>
            </a:r>
            <a:r>
              <a:rPr sz="900" spc="50" dirty="0">
                <a:latin typeface="Arial"/>
                <a:cs typeface="Arial"/>
              </a:rPr>
              <a:t> </a:t>
            </a:r>
            <a:r>
              <a:rPr sz="900" dirty="0">
                <a:latin typeface="Arial"/>
                <a:cs typeface="Arial"/>
              </a:rPr>
              <a:t>when</a:t>
            </a:r>
            <a:r>
              <a:rPr sz="900" spc="-10" dirty="0">
                <a:latin typeface="Arial"/>
                <a:cs typeface="Arial"/>
              </a:rPr>
              <a:t> </a:t>
            </a:r>
            <a:r>
              <a:rPr sz="900" i="1" spc="-10" dirty="0">
                <a:solidFill>
                  <a:srgbClr val="C80000"/>
                </a:solidFill>
                <a:latin typeface="Arial"/>
                <a:cs typeface="Arial"/>
              </a:rPr>
              <a:t>N</a:t>
            </a:r>
            <a:r>
              <a:rPr sz="900" i="1" spc="-60" dirty="0">
                <a:solidFill>
                  <a:srgbClr val="C80000"/>
                </a:solidFill>
                <a:latin typeface="Arial"/>
                <a:cs typeface="Arial"/>
              </a:rPr>
              <a:t> </a:t>
            </a:r>
            <a:r>
              <a:rPr sz="900" i="1" spc="150" dirty="0">
                <a:solidFill>
                  <a:srgbClr val="C80000"/>
                </a:solidFill>
                <a:latin typeface="Menlo"/>
                <a:cs typeface="Menlo"/>
              </a:rPr>
              <a:t>−</a:t>
            </a:r>
            <a:r>
              <a:rPr sz="900" i="1" spc="-420" dirty="0">
                <a:solidFill>
                  <a:srgbClr val="C80000"/>
                </a:solidFill>
                <a:latin typeface="Menlo"/>
                <a:cs typeface="Menlo"/>
              </a:rPr>
              <a:t> </a:t>
            </a:r>
            <a:r>
              <a:rPr sz="900" dirty="0">
                <a:solidFill>
                  <a:srgbClr val="C80000"/>
                </a:solidFill>
                <a:latin typeface="Arial"/>
                <a:cs typeface="Arial"/>
              </a:rPr>
              <a:t>(</a:t>
            </a:r>
            <a:r>
              <a:rPr sz="900" i="1" dirty="0">
                <a:solidFill>
                  <a:srgbClr val="C80000"/>
                </a:solidFill>
                <a:latin typeface="Arial"/>
                <a:cs typeface="Arial"/>
              </a:rPr>
              <a:t>m</a:t>
            </a:r>
            <a:r>
              <a:rPr sz="900" i="1" spc="-110" dirty="0">
                <a:solidFill>
                  <a:srgbClr val="C80000"/>
                </a:solidFill>
                <a:latin typeface="Arial"/>
                <a:cs typeface="Arial"/>
              </a:rPr>
              <a:t> </a:t>
            </a:r>
            <a:r>
              <a:rPr sz="900" i="1" spc="130" dirty="0">
                <a:solidFill>
                  <a:srgbClr val="C80000"/>
                </a:solidFill>
                <a:latin typeface="Menlo"/>
                <a:cs typeface="Menlo"/>
              </a:rPr>
              <a:t>−</a:t>
            </a:r>
            <a:r>
              <a:rPr sz="900" i="1" spc="130" dirty="0">
                <a:solidFill>
                  <a:srgbClr val="C80000"/>
                </a:solidFill>
                <a:latin typeface="Arial"/>
                <a:cs typeface="Arial"/>
              </a:rPr>
              <a:t>f</a:t>
            </a:r>
            <a:r>
              <a:rPr sz="900" i="1" spc="-130" dirty="0">
                <a:solidFill>
                  <a:srgbClr val="C80000"/>
                </a:solidFill>
                <a:latin typeface="Arial"/>
                <a:cs typeface="Arial"/>
              </a:rPr>
              <a:t> </a:t>
            </a:r>
            <a:r>
              <a:rPr sz="900" spc="55" dirty="0">
                <a:solidFill>
                  <a:srgbClr val="C80000"/>
                </a:solidFill>
                <a:latin typeface="Arial"/>
                <a:cs typeface="Arial"/>
              </a:rPr>
              <a:t>)</a:t>
            </a:r>
            <a:r>
              <a:rPr sz="900" spc="-60" dirty="0">
                <a:solidFill>
                  <a:srgbClr val="C80000"/>
                </a:solidFill>
                <a:latin typeface="Arial"/>
                <a:cs typeface="Arial"/>
              </a:rPr>
              <a:t> </a:t>
            </a:r>
            <a:r>
              <a:rPr sz="900" i="1" spc="150" dirty="0">
                <a:solidFill>
                  <a:srgbClr val="C80000"/>
                </a:solidFill>
                <a:latin typeface="Menlo"/>
                <a:cs typeface="Menlo"/>
              </a:rPr>
              <a:t>≥</a:t>
            </a:r>
            <a:r>
              <a:rPr sz="900" i="1" spc="-345" dirty="0">
                <a:solidFill>
                  <a:srgbClr val="C80000"/>
                </a:solidFill>
                <a:latin typeface="Menlo"/>
                <a:cs typeface="Menlo"/>
              </a:rPr>
              <a:t> </a:t>
            </a:r>
            <a:r>
              <a:rPr sz="900" i="1" dirty="0">
                <a:solidFill>
                  <a:srgbClr val="C80000"/>
                </a:solidFill>
                <a:latin typeface="Arial"/>
                <a:cs typeface="Arial"/>
              </a:rPr>
              <a:t>m</a:t>
            </a:r>
            <a:r>
              <a:rPr sz="900" dirty="0">
                <a:latin typeface="Arial"/>
                <a:cs typeface="Arial"/>
              </a:rPr>
              <a:t>,</a:t>
            </a:r>
            <a:r>
              <a:rPr sz="900" spc="-10" dirty="0">
                <a:latin typeface="Arial"/>
                <a:cs typeface="Arial"/>
              </a:rPr>
              <a:t> </a:t>
            </a:r>
            <a:r>
              <a:rPr lang="en-US" sz="900" dirty="0">
                <a:latin typeface="Arial"/>
                <a:cs typeface="Arial"/>
              </a:rPr>
              <a:t>or</a:t>
            </a:r>
            <a:r>
              <a:rPr sz="900" spc="-10" dirty="0">
                <a:latin typeface="Arial"/>
                <a:cs typeface="Arial"/>
              </a:rPr>
              <a:t> </a:t>
            </a:r>
            <a:r>
              <a:rPr sz="900" i="1" dirty="0">
                <a:solidFill>
                  <a:srgbClr val="C80000"/>
                </a:solidFill>
                <a:latin typeface="Arial"/>
                <a:cs typeface="Arial"/>
              </a:rPr>
              <a:t>f</a:t>
            </a:r>
            <a:r>
              <a:rPr sz="900" i="1" spc="65" dirty="0">
                <a:solidFill>
                  <a:srgbClr val="C80000"/>
                </a:solidFill>
                <a:latin typeface="Arial"/>
                <a:cs typeface="Arial"/>
              </a:rPr>
              <a:t> </a:t>
            </a:r>
            <a:r>
              <a:rPr sz="900" i="1" spc="150" dirty="0">
                <a:solidFill>
                  <a:srgbClr val="C80000"/>
                </a:solidFill>
                <a:latin typeface="Menlo"/>
                <a:cs typeface="Menlo"/>
              </a:rPr>
              <a:t>≥</a:t>
            </a:r>
            <a:r>
              <a:rPr sz="900" i="1" spc="-345" dirty="0">
                <a:solidFill>
                  <a:srgbClr val="C80000"/>
                </a:solidFill>
                <a:latin typeface="Menlo"/>
                <a:cs typeface="Menlo"/>
              </a:rPr>
              <a:t> </a:t>
            </a:r>
            <a:r>
              <a:rPr sz="900" spc="-10" dirty="0">
                <a:solidFill>
                  <a:srgbClr val="C80000"/>
                </a:solidFill>
                <a:latin typeface="Arial"/>
                <a:cs typeface="Arial"/>
              </a:rPr>
              <a:t>2</a:t>
            </a:r>
            <a:r>
              <a:rPr sz="900" i="1" spc="-10" dirty="0">
                <a:solidFill>
                  <a:srgbClr val="C80000"/>
                </a:solidFill>
                <a:latin typeface="Arial"/>
                <a:cs typeface="Arial"/>
              </a:rPr>
              <a:t>m</a:t>
            </a:r>
            <a:r>
              <a:rPr sz="900" i="1" spc="-110" dirty="0">
                <a:solidFill>
                  <a:srgbClr val="C80000"/>
                </a:solidFill>
                <a:latin typeface="Arial"/>
                <a:cs typeface="Arial"/>
              </a:rPr>
              <a:t> </a:t>
            </a:r>
            <a:r>
              <a:rPr sz="900" i="1" spc="80" dirty="0">
                <a:solidFill>
                  <a:srgbClr val="C80000"/>
                </a:solidFill>
                <a:latin typeface="Menlo"/>
                <a:cs typeface="Menlo"/>
              </a:rPr>
              <a:t>−</a:t>
            </a:r>
            <a:r>
              <a:rPr sz="900" i="1" spc="80" dirty="0">
                <a:solidFill>
                  <a:srgbClr val="C80000"/>
                </a:solidFill>
                <a:latin typeface="Arial"/>
                <a:cs typeface="Arial"/>
              </a:rPr>
              <a:t>N</a:t>
            </a:r>
            <a:r>
              <a:rPr sz="900" spc="80" dirty="0">
                <a:latin typeface="Arial"/>
                <a:cs typeface="Arial"/>
              </a:rPr>
              <a:t>.</a:t>
            </a:r>
            <a:endParaRPr sz="900" dirty="0">
              <a:latin typeface="Arial"/>
              <a:cs typeface="Arial"/>
            </a:endParaRPr>
          </a:p>
          <a:p>
            <a:pPr marL="192405" indent="-116839">
              <a:lnSpc>
                <a:spcPts val="760"/>
              </a:lnSpc>
              <a:spcBef>
                <a:spcPts val="590"/>
              </a:spcBef>
              <a:buClr>
                <a:srgbClr val="3333B2"/>
              </a:buClr>
              <a:buFont typeface="Menlo"/>
              <a:buChar char="•"/>
              <a:tabLst>
                <a:tab pos="193040" algn="l"/>
                <a:tab pos="2246630" algn="l"/>
              </a:tabLst>
            </a:pPr>
            <a:r>
              <a:rPr sz="1350" baseline="3086" dirty="0">
                <a:latin typeface="Arial"/>
                <a:cs typeface="Arial"/>
              </a:rPr>
              <a:t>The</a:t>
            </a:r>
            <a:r>
              <a:rPr sz="1350" spc="-37" baseline="3086" dirty="0">
                <a:latin typeface="Arial"/>
                <a:cs typeface="Arial"/>
              </a:rPr>
              <a:t> </a:t>
            </a:r>
            <a:r>
              <a:rPr sz="1350" baseline="3086" dirty="0">
                <a:latin typeface="Arial"/>
                <a:cs typeface="Arial"/>
              </a:rPr>
              <a:t>probability</a:t>
            </a:r>
            <a:r>
              <a:rPr sz="1350" spc="-37" baseline="3086" dirty="0">
                <a:latin typeface="Arial"/>
                <a:cs typeface="Arial"/>
              </a:rPr>
              <a:t> </a:t>
            </a:r>
            <a:r>
              <a:rPr sz="1350" baseline="3086" dirty="0">
                <a:latin typeface="Arial"/>
                <a:cs typeface="Arial"/>
              </a:rPr>
              <a:t>of</a:t>
            </a:r>
            <a:r>
              <a:rPr sz="1350" spc="-30" baseline="3086" dirty="0">
                <a:latin typeface="Arial"/>
                <a:cs typeface="Arial"/>
              </a:rPr>
              <a:t> </a:t>
            </a:r>
            <a:r>
              <a:rPr sz="1350" baseline="3086" dirty="0">
                <a:latin typeface="Arial"/>
                <a:cs typeface="Arial"/>
              </a:rPr>
              <a:t>a</a:t>
            </a:r>
            <a:r>
              <a:rPr sz="1350" spc="-37" baseline="3086" dirty="0">
                <a:latin typeface="Arial"/>
                <a:cs typeface="Arial"/>
              </a:rPr>
              <a:t> </a:t>
            </a:r>
            <a:r>
              <a:rPr sz="1350" baseline="3086" dirty="0">
                <a:latin typeface="Arial"/>
                <a:cs typeface="Arial"/>
              </a:rPr>
              <a:t>violation</a:t>
            </a:r>
            <a:r>
              <a:rPr sz="1350" spc="-37" baseline="3086" dirty="0">
                <a:latin typeface="Arial"/>
                <a:cs typeface="Arial"/>
              </a:rPr>
              <a:t> </a:t>
            </a:r>
            <a:r>
              <a:rPr sz="1350" baseline="3086" dirty="0">
                <a:latin typeface="Arial"/>
                <a:cs typeface="Arial"/>
              </a:rPr>
              <a:t>is</a:t>
            </a:r>
            <a:r>
              <a:rPr sz="1350" spc="-30" baseline="3086" dirty="0">
                <a:latin typeface="Arial"/>
                <a:cs typeface="Arial"/>
              </a:rPr>
              <a:t> </a:t>
            </a:r>
            <a:r>
              <a:rPr sz="900" spc="-25" dirty="0">
                <a:latin typeface="Times New Roman"/>
                <a:cs typeface="Times New Roman"/>
              </a:rPr>
              <a:t>∑</a:t>
            </a:r>
            <a:r>
              <a:rPr sz="1050" i="1" spc="-37" baseline="31746" dirty="0">
                <a:latin typeface="Arial"/>
                <a:cs typeface="Arial"/>
              </a:rPr>
              <a:t>m</a:t>
            </a:r>
            <a:r>
              <a:rPr sz="1050" i="1" baseline="31746" dirty="0">
                <a:latin typeface="Arial"/>
                <a:cs typeface="Arial"/>
              </a:rPr>
              <a:t>	</a:t>
            </a:r>
            <a:r>
              <a:rPr sz="1350" spc="-30" baseline="3086" dirty="0">
                <a:latin typeface="Arial"/>
                <a:cs typeface="Arial"/>
              </a:rPr>
              <a:t>P[</a:t>
            </a:r>
            <a:r>
              <a:rPr sz="1350" i="1" spc="-30" baseline="3086" dirty="0">
                <a:latin typeface="Arial"/>
                <a:cs typeface="Arial"/>
              </a:rPr>
              <a:t>k</a:t>
            </a:r>
            <a:r>
              <a:rPr sz="1350" i="1" spc="-225" baseline="3086" dirty="0">
                <a:latin typeface="Arial"/>
                <a:cs typeface="Arial"/>
              </a:rPr>
              <a:t> </a:t>
            </a:r>
            <a:r>
              <a:rPr sz="1350" spc="-37" baseline="3086" dirty="0">
                <a:latin typeface="Arial"/>
                <a:cs typeface="Arial"/>
              </a:rPr>
              <a:t>].</a:t>
            </a:r>
            <a:endParaRPr sz="1350" baseline="3086" dirty="0">
              <a:latin typeface="Arial"/>
              <a:cs typeface="Arial"/>
            </a:endParaRPr>
          </a:p>
          <a:p>
            <a:pPr marL="179705" algn="ctr">
              <a:lnSpc>
                <a:spcPts val="520"/>
              </a:lnSpc>
            </a:pPr>
            <a:r>
              <a:rPr sz="700" i="1" spc="-10" dirty="0">
                <a:latin typeface="Arial"/>
                <a:cs typeface="Arial"/>
              </a:rPr>
              <a:t>k</a:t>
            </a:r>
            <a:r>
              <a:rPr sz="700" i="1" spc="-120" dirty="0">
                <a:latin typeface="Arial"/>
                <a:cs typeface="Arial"/>
              </a:rPr>
              <a:t> </a:t>
            </a:r>
            <a:r>
              <a:rPr sz="700" spc="45" dirty="0">
                <a:latin typeface="Arial"/>
                <a:cs typeface="Arial"/>
              </a:rPr>
              <a:t>=2</a:t>
            </a:r>
            <a:r>
              <a:rPr sz="700" i="1" spc="45" dirty="0">
                <a:latin typeface="Arial"/>
                <a:cs typeface="Arial"/>
              </a:rPr>
              <a:t>m</a:t>
            </a:r>
            <a:r>
              <a:rPr sz="700" i="1" spc="45" dirty="0">
                <a:latin typeface="Menlo"/>
                <a:cs typeface="Menlo"/>
              </a:rPr>
              <a:t>−</a:t>
            </a:r>
            <a:r>
              <a:rPr sz="700" i="1" spc="45" dirty="0">
                <a:latin typeface="Arial"/>
                <a:cs typeface="Arial"/>
              </a:rPr>
              <a:t>N</a:t>
            </a:r>
            <a:endParaRPr sz="700" dirty="0">
              <a:latin typeface="Arial"/>
              <a:cs typeface="Arial"/>
            </a:endParaRPr>
          </a:p>
        </p:txBody>
      </p:sp>
      <p:grpSp>
        <p:nvGrpSpPr>
          <p:cNvPr id="11" name="object 11"/>
          <p:cNvGrpSpPr/>
          <p:nvPr/>
        </p:nvGrpSpPr>
        <p:grpSpPr>
          <a:xfrm>
            <a:off x="0" y="3348469"/>
            <a:ext cx="4608195" cy="107950"/>
            <a:chOff x="0" y="3348469"/>
            <a:chExt cx="4608195" cy="107950"/>
          </a:xfrm>
        </p:grpSpPr>
        <p:sp>
          <p:nvSpPr>
            <p:cNvPr id="12" name="object 12"/>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3" name="object 13"/>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4" name="object 14"/>
          <p:cNvSpPr txBox="1"/>
          <p:nvPr/>
        </p:nvSpPr>
        <p:spPr>
          <a:xfrm>
            <a:off x="53467" y="3349927"/>
            <a:ext cx="73850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A</a:t>
            </a:r>
            <a:r>
              <a:rPr sz="500" spc="35" dirty="0">
                <a:latin typeface="Arial"/>
                <a:cs typeface="Arial"/>
                <a:hlinkClick r:id="rId4" action="ppaction://hlinksldjump"/>
              </a:rPr>
              <a:t> </a:t>
            </a:r>
            <a:r>
              <a:rPr sz="500" spc="-10" dirty="0">
                <a:latin typeface="Arial"/>
                <a:cs typeface="Arial"/>
                <a:hlinkClick r:id="rId4" action="ppaction://hlinksldjump"/>
              </a:rPr>
              <a:t>decentralized</a:t>
            </a:r>
            <a:r>
              <a:rPr sz="500" spc="35" dirty="0">
                <a:latin typeface="Arial"/>
                <a:cs typeface="Arial"/>
                <a:hlinkClick r:id="rId4" action="ppaction://hlinksldjump"/>
              </a:rPr>
              <a:t> </a:t>
            </a:r>
            <a:r>
              <a:rPr sz="500" spc="-10" dirty="0">
                <a:latin typeface="Arial"/>
                <a:cs typeface="Arial"/>
                <a:hlinkClick r:id="rId4" action="ppaction://hlinksldjump"/>
              </a:rPr>
              <a:t>algorithm</a:t>
            </a:r>
            <a:endParaRPr sz="500">
              <a:latin typeface="Arial"/>
              <a:cs typeface="Arial"/>
            </a:endParaRPr>
          </a:p>
        </p:txBody>
      </p:sp>
      <p:pic>
        <p:nvPicPr>
          <p:cNvPr id="15" name="Picture 14">
            <a:extLst>
              <a:ext uri="{FF2B5EF4-FFF2-40B4-BE49-F238E27FC236}">
                <a16:creationId xmlns:a16="http://schemas.microsoft.com/office/drawing/2014/main" id="{6336B29D-587B-EC71-703D-B2D003A583FB}"/>
              </a:ext>
            </a:extLst>
          </p:cNvPr>
          <p:cNvPicPr>
            <a:picLocks noChangeAspect="1"/>
          </p:cNvPicPr>
          <p:nvPr/>
        </p:nvPicPr>
        <p:blipFill>
          <a:blip r:embed="rId5"/>
          <a:stretch>
            <a:fillRect/>
          </a:stretch>
        </p:blipFill>
        <p:spPr>
          <a:xfrm>
            <a:off x="1558207" y="1269277"/>
            <a:ext cx="1540320" cy="415999"/>
          </a:xfrm>
          <a:prstGeom prst="rect">
            <a:avLst/>
          </a:prstGeom>
        </p:spPr>
      </p:pic>
    </p:spTree>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8417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Coordination</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059910" y="-1515"/>
            <a:ext cx="49466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Mutual</a:t>
            </a:r>
            <a:r>
              <a:rPr sz="500" spc="-30"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exclusion</a:t>
            </a:r>
            <a:endParaRPr sz="500">
              <a:latin typeface="Arial"/>
              <a:cs typeface="Arial"/>
            </a:endParaRPr>
          </a:p>
        </p:txBody>
      </p:sp>
      <p:sp>
        <p:nvSpPr>
          <p:cNvPr id="5" name="object 5"/>
          <p:cNvSpPr txBox="1"/>
          <p:nvPr/>
        </p:nvSpPr>
        <p:spPr>
          <a:xfrm>
            <a:off x="95300" y="197711"/>
            <a:ext cx="3097530" cy="494665"/>
          </a:xfrm>
          <a:prstGeom prst="rect">
            <a:avLst/>
          </a:prstGeom>
        </p:spPr>
        <p:txBody>
          <a:bodyPr vert="horz" wrap="square" lIns="0" tIns="12065" rIns="0" bIns="0" rtlCol="0">
            <a:spAutoFit/>
          </a:bodyPr>
          <a:lstStyle/>
          <a:p>
            <a:pPr marL="12700">
              <a:lnSpc>
                <a:spcPct val="100000"/>
              </a:lnSpc>
              <a:spcBef>
                <a:spcPts val="95"/>
              </a:spcBef>
            </a:pPr>
            <a:r>
              <a:rPr sz="1200" spc="-10" dirty="0">
                <a:solidFill>
                  <a:srgbClr val="3333B2"/>
                </a:solidFill>
                <a:latin typeface="Arial"/>
                <a:cs typeface="Arial"/>
              </a:rPr>
              <a:t>Decentralized</a:t>
            </a:r>
            <a:r>
              <a:rPr sz="1200" spc="-20" dirty="0">
                <a:solidFill>
                  <a:srgbClr val="3333B2"/>
                </a:solidFill>
                <a:latin typeface="Arial"/>
                <a:cs typeface="Arial"/>
              </a:rPr>
              <a:t> </a:t>
            </a:r>
            <a:r>
              <a:rPr sz="1200" dirty="0">
                <a:solidFill>
                  <a:srgbClr val="3333B2"/>
                </a:solidFill>
                <a:latin typeface="Arial"/>
                <a:cs typeface="Arial"/>
              </a:rPr>
              <a:t>mutual</a:t>
            </a:r>
            <a:r>
              <a:rPr sz="1200" spc="-20" dirty="0">
                <a:solidFill>
                  <a:srgbClr val="3333B2"/>
                </a:solidFill>
                <a:latin typeface="Arial"/>
                <a:cs typeface="Arial"/>
              </a:rPr>
              <a:t> </a:t>
            </a:r>
            <a:r>
              <a:rPr sz="1200" spc="-10" dirty="0">
                <a:solidFill>
                  <a:srgbClr val="3333B2"/>
                </a:solidFill>
                <a:latin typeface="Arial"/>
                <a:cs typeface="Arial"/>
              </a:rPr>
              <a:t>exclusion</a:t>
            </a:r>
            <a:endParaRPr sz="1200">
              <a:latin typeface="Arial"/>
              <a:cs typeface="Arial"/>
            </a:endParaRPr>
          </a:p>
          <a:p>
            <a:pPr marL="260350">
              <a:lnSpc>
                <a:spcPct val="100000"/>
              </a:lnSpc>
              <a:spcBef>
                <a:spcPts val="1055"/>
              </a:spcBef>
            </a:pPr>
            <a:r>
              <a:rPr sz="1000" dirty="0">
                <a:solidFill>
                  <a:srgbClr val="3333B2"/>
                </a:solidFill>
                <a:latin typeface="Arial"/>
                <a:cs typeface="Arial"/>
              </a:rPr>
              <a:t>Violation</a:t>
            </a:r>
            <a:r>
              <a:rPr sz="1000" spc="-55" dirty="0">
                <a:solidFill>
                  <a:srgbClr val="3333B2"/>
                </a:solidFill>
                <a:latin typeface="Arial"/>
                <a:cs typeface="Arial"/>
              </a:rPr>
              <a:t> </a:t>
            </a:r>
            <a:r>
              <a:rPr sz="1000" dirty="0">
                <a:solidFill>
                  <a:srgbClr val="3333B2"/>
                </a:solidFill>
                <a:latin typeface="Arial"/>
                <a:cs typeface="Arial"/>
              </a:rPr>
              <a:t>probabilities</a:t>
            </a:r>
            <a:r>
              <a:rPr sz="1000" spc="-50" dirty="0">
                <a:solidFill>
                  <a:srgbClr val="3333B2"/>
                </a:solidFill>
                <a:latin typeface="Arial"/>
                <a:cs typeface="Arial"/>
              </a:rPr>
              <a:t> </a:t>
            </a:r>
            <a:r>
              <a:rPr sz="1000" dirty="0">
                <a:solidFill>
                  <a:srgbClr val="3333B2"/>
                </a:solidFill>
                <a:latin typeface="Arial"/>
                <a:cs typeface="Arial"/>
              </a:rPr>
              <a:t>for</a:t>
            </a:r>
            <a:r>
              <a:rPr sz="1000" spc="-55" dirty="0">
                <a:solidFill>
                  <a:srgbClr val="3333B2"/>
                </a:solidFill>
                <a:latin typeface="Arial"/>
                <a:cs typeface="Arial"/>
              </a:rPr>
              <a:t> </a:t>
            </a:r>
            <a:r>
              <a:rPr sz="1000" dirty="0">
                <a:solidFill>
                  <a:srgbClr val="3333B2"/>
                </a:solidFill>
                <a:latin typeface="Arial"/>
                <a:cs typeface="Arial"/>
              </a:rPr>
              <a:t>various</a:t>
            </a:r>
            <a:r>
              <a:rPr sz="1000" spc="-50" dirty="0">
                <a:solidFill>
                  <a:srgbClr val="3333B2"/>
                </a:solidFill>
                <a:latin typeface="Arial"/>
                <a:cs typeface="Arial"/>
              </a:rPr>
              <a:t> </a:t>
            </a:r>
            <a:r>
              <a:rPr sz="1000" dirty="0">
                <a:solidFill>
                  <a:srgbClr val="3333B2"/>
                </a:solidFill>
                <a:latin typeface="Arial"/>
                <a:cs typeface="Arial"/>
              </a:rPr>
              <a:t>parameter</a:t>
            </a:r>
            <a:r>
              <a:rPr sz="1000" spc="-55" dirty="0">
                <a:solidFill>
                  <a:srgbClr val="3333B2"/>
                </a:solidFill>
                <a:latin typeface="Arial"/>
                <a:cs typeface="Arial"/>
              </a:rPr>
              <a:t> </a:t>
            </a:r>
            <a:r>
              <a:rPr sz="1000" spc="-10" dirty="0">
                <a:solidFill>
                  <a:srgbClr val="3333B2"/>
                </a:solidFill>
                <a:latin typeface="Arial"/>
                <a:cs typeface="Arial"/>
              </a:rPr>
              <a:t>values</a:t>
            </a:r>
            <a:endParaRPr sz="1000">
              <a:latin typeface="Arial"/>
              <a:cs typeface="Arial"/>
            </a:endParaRPr>
          </a:p>
        </p:txBody>
      </p:sp>
      <p:graphicFrame>
        <p:nvGraphicFramePr>
          <p:cNvPr id="6" name="object 6"/>
          <p:cNvGraphicFramePr>
            <a:graphicFrameLocks noGrp="1"/>
          </p:cNvGraphicFramePr>
          <p:nvPr/>
        </p:nvGraphicFramePr>
        <p:xfrm>
          <a:off x="672909" y="880579"/>
          <a:ext cx="3412485" cy="1065530"/>
        </p:xfrm>
        <a:graphic>
          <a:graphicData uri="http://schemas.openxmlformats.org/drawingml/2006/table">
            <a:tbl>
              <a:tblPr firstRow="1" bandRow="1">
                <a:tableStyleId>{2D5ABB26-0587-4C30-8999-92F81FD0307C}</a:tableStyleId>
              </a:tblPr>
              <a:tblGrid>
                <a:gridCol w="243840">
                  <a:extLst>
                    <a:ext uri="{9D8B030D-6E8A-4147-A177-3AD203B41FA5}">
                      <a16:colId xmlns:a16="http://schemas.microsoft.com/office/drawing/2014/main" val="20000"/>
                    </a:ext>
                  </a:extLst>
                </a:gridCol>
                <a:gridCol w="243840">
                  <a:extLst>
                    <a:ext uri="{9D8B030D-6E8A-4147-A177-3AD203B41FA5}">
                      <a16:colId xmlns:a16="http://schemas.microsoft.com/office/drawing/2014/main" val="20001"/>
                    </a:ext>
                  </a:extLst>
                </a:gridCol>
                <a:gridCol w="603884">
                  <a:extLst>
                    <a:ext uri="{9D8B030D-6E8A-4147-A177-3AD203B41FA5}">
                      <a16:colId xmlns:a16="http://schemas.microsoft.com/office/drawing/2014/main" val="20002"/>
                    </a:ext>
                  </a:extLst>
                </a:gridCol>
                <a:gridCol w="558800">
                  <a:extLst>
                    <a:ext uri="{9D8B030D-6E8A-4147-A177-3AD203B41FA5}">
                      <a16:colId xmlns:a16="http://schemas.microsoft.com/office/drawing/2014/main" val="20003"/>
                    </a:ext>
                  </a:extLst>
                </a:gridCol>
                <a:gridCol w="55244">
                  <a:extLst>
                    <a:ext uri="{9D8B030D-6E8A-4147-A177-3AD203B41FA5}">
                      <a16:colId xmlns:a16="http://schemas.microsoft.com/office/drawing/2014/main" val="20004"/>
                    </a:ext>
                  </a:extLst>
                </a:gridCol>
                <a:gridCol w="243839">
                  <a:extLst>
                    <a:ext uri="{9D8B030D-6E8A-4147-A177-3AD203B41FA5}">
                      <a16:colId xmlns:a16="http://schemas.microsoft.com/office/drawing/2014/main" val="20005"/>
                    </a:ext>
                  </a:extLst>
                </a:gridCol>
                <a:gridCol w="243839">
                  <a:extLst>
                    <a:ext uri="{9D8B030D-6E8A-4147-A177-3AD203B41FA5}">
                      <a16:colId xmlns:a16="http://schemas.microsoft.com/office/drawing/2014/main" val="20006"/>
                    </a:ext>
                  </a:extLst>
                </a:gridCol>
                <a:gridCol w="660400">
                  <a:extLst>
                    <a:ext uri="{9D8B030D-6E8A-4147-A177-3AD203B41FA5}">
                      <a16:colId xmlns:a16="http://schemas.microsoft.com/office/drawing/2014/main" val="20007"/>
                    </a:ext>
                  </a:extLst>
                </a:gridCol>
                <a:gridCol w="558799">
                  <a:extLst>
                    <a:ext uri="{9D8B030D-6E8A-4147-A177-3AD203B41FA5}">
                      <a16:colId xmlns:a16="http://schemas.microsoft.com/office/drawing/2014/main" val="20008"/>
                    </a:ext>
                  </a:extLst>
                </a:gridCol>
              </a:tblGrid>
              <a:tr h="156845">
                <a:tc>
                  <a:txBody>
                    <a:bodyPr/>
                    <a:lstStyle/>
                    <a:p>
                      <a:pPr algn="ctr">
                        <a:lnSpc>
                          <a:spcPct val="100000"/>
                        </a:lnSpc>
                        <a:spcBef>
                          <a:spcPts val="20"/>
                        </a:spcBef>
                      </a:pPr>
                      <a:r>
                        <a:rPr sz="800" b="1" dirty="0">
                          <a:latin typeface="Arial"/>
                          <a:cs typeface="Arial"/>
                        </a:rPr>
                        <a:t>N</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tc>
                  <a:txBody>
                    <a:bodyPr/>
                    <a:lstStyle/>
                    <a:p>
                      <a:pPr marL="76835">
                        <a:lnSpc>
                          <a:spcPct val="100000"/>
                        </a:lnSpc>
                        <a:spcBef>
                          <a:spcPts val="20"/>
                        </a:spcBef>
                      </a:pPr>
                      <a:r>
                        <a:rPr sz="800" b="1" dirty="0">
                          <a:latin typeface="Arial"/>
                          <a:cs typeface="Arial"/>
                        </a:rPr>
                        <a:t>m</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tc>
                  <a:txBody>
                    <a:bodyPr/>
                    <a:lstStyle/>
                    <a:p>
                      <a:pPr algn="ctr">
                        <a:lnSpc>
                          <a:spcPct val="100000"/>
                        </a:lnSpc>
                        <a:spcBef>
                          <a:spcPts val="20"/>
                        </a:spcBef>
                      </a:pPr>
                      <a:r>
                        <a:rPr sz="800" b="1" dirty="0">
                          <a:latin typeface="Arial"/>
                          <a:cs typeface="Arial"/>
                        </a:rPr>
                        <a:t>p</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tc>
                  <a:txBody>
                    <a:bodyPr/>
                    <a:lstStyle/>
                    <a:p>
                      <a:pPr algn="ctr">
                        <a:lnSpc>
                          <a:spcPct val="100000"/>
                        </a:lnSpc>
                        <a:spcBef>
                          <a:spcPts val="20"/>
                        </a:spcBef>
                      </a:pPr>
                      <a:r>
                        <a:rPr sz="800" b="1" spc="-10" dirty="0">
                          <a:latin typeface="Arial"/>
                          <a:cs typeface="Arial"/>
                        </a:rPr>
                        <a:t>Violation</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tc>
                  <a:txBody>
                    <a:bodyPr/>
                    <a:lstStyle/>
                    <a:p>
                      <a:pPr>
                        <a:lnSpc>
                          <a:spcPct val="100000"/>
                        </a:lnSpc>
                      </a:pPr>
                      <a:endParaRPr sz="700">
                        <a:latin typeface="Times New Roman"/>
                        <a:cs typeface="Times New Roman"/>
                      </a:endParaRPr>
                    </a:p>
                  </a:txBody>
                  <a:tcPr marL="0" marR="0" marT="0" marB="0">
                    <a:lnL w="6350">
                      <a:solidFill>
                        <a:srgbClr val="000000"/>
                      </a:solidFill>
                      <a:prstDash val="solid"/>
                    </a:lnL>
                    <a:lnR w="6350">
                      <a:solidFill>
                        <a:srgbClr val="000000"/>
                      </a:solidFill>
                      <a:prstDash val="solid"/>
                    </a:lnR>
                  </a:tcPr>
                </a:tc>
                <a:tc>
                  <a:txBody>
                    <a:bodyPr/>
                    <a:lstStyle/>
                    <a:p>
                      <a:pPr marL="85090">
                        <a:lnSpc>
                          <a:spcPct val="100000"/>
                        </a:lnSpc>
                        <a:spcBef>
                          <a:spcPts val="20"/>
                        </a:spcBef>
                      </a:pPr>
                      <a:r>
                        <a:rPr sz="800" b="1" dirty="0">
                          <a:latin typeface="Arial"/>
                          <a:cs typeface="Arial"/>
                        </a:rPr>
                        <a:t>N</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tc>
                  <a:txBody>
                    <a:bodyPr/>
                    <a:lstStyle/>
                    <a:p>
                      <a:pPr marL="76835">
                        <a:lnSpc>
                          <a:spcPct val="100000"/>
                        </a:lnSpc>
                        <a:spcBef>
                          <a:spcPts val="20"/>
                        </a:spcBef>
                      </a:pPr>
                      <a:r>
                        <a:rPr sz="800" b="1" dirty="0">
                          <a:latin typeface="Arial"/>
                          <a:cs typeface="Arial"/>
                        </a:rPr>
                        <a:t>m</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tc>
                  <a:txBody>
                    <a:bodyPr/>
                    <a:lstStyle/>
                    <a:p>
                      <a:pPr algn="ctr">
                        <a:lnSpc>
                          <a:spcPct val="100000"/>
                        </a:lnSpc>
                        <a:spcBef>
                          <a:spcPts val="20"/>
                        </a:spcBef>
                      </a:pPr>
                      <a:r>
                        <a:rPr sz="800" b="1" dirty="0">
                          <a:latin typeface="Arial"/>
                          <a:cs typeface="Arial"/>
                        </a:rPr>
                        <a:t>p</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tc>
                  <a:txBody>
                    <a:bodyPr/>
                    <a:lstStyle/>
                    <a:p>
                      <a:pPr marL="65405">
                        <a:lnSpc>
                          <a:spcPct val="100000"/>
                        </a:lnSpc>
                        <a:spcBef>
                          <a:spcPts val="20"/>
                        </a:spcBef>
                      </a:pPr>
                      <a:r>
                        <a:rPr sz="800" b="1" spc="-10" dirty="0">
                          <a:latin typeface="Arial"/>
                          <a:cs typeface="Arial"/>
                        </a:rPr>
                        <a:t>Violation</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extLst>
                  <a:ext uri="{0D108BD9-81ED-4DB2-BD59-A6C34878D82A}">
                    <a16:rowId xmlns:a16="http://schemas.microsoft.com/office/drawing/2014/main" val="10000"/>
                  </a:ext>
                </a:extLst>
              </a:tr>
              <a:tr h="156845">
                <a:tc>
                  <a:txBody>
                    <a:bodyPr/>
                    <a:lstStyle/>
                    <a:p>
                      <a:pPr algn="ctr">
                        <a:lnSpc>
                          <a:spcPct val="100000"/>
                        </a:lnSpc>
                        <a:spcBef>
                          <a:spcPts val="75"/>
                        </a:spcBef>
                      </a:pPr>
                      <a:r>
                        <a:rPr sz="800" dirty="0">
                          <a:latin typeface="Arial"/>
                          <a:cs typeface="Arial"/>
                        </a:rPr>
                        <a:t>8</a:t>
                      </a:r>
                      <a:endParaRPr sz="800">
                        <a:latin typeface="Arial"/>
                        <a:cs typeface="Arial"/>
                      </a:endParaRPr>
                    </a:p>
                  </a:txBody>
                  <a:tcPr marL="0" marR="0" marT="9525"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tc>
                  <a:txBody>
                    <a:bodyPr/>
                    <a:lstStyle/>
                    <a:p>
                      <a:pPr marL="93345">
                        <a:lnSpc>
                          <a:spcPct val="100000"/>
                        </a:lnSpc>
                        <a:spcBef>
                          <a:spcPts val="75"/>
                        </a:spcBef>
                      </a:pPr>
                      <a:r>
                        <a:rPr sz="800" dirty="0">
                          <a:latin typeface="Arial"/>
                          <a:cs typeface="Arial"/>
                        </a:rPr>
                        <a:t>5</a:t>
                      </a:r>
                      <a:endParaRPr sz="800">
                        <a:latin typeface="Arial"/>
                        <a:cs typeface="Arial"/>
                      </a:endParaRPr>
                    </a:p>
                  </a:txBody>
                  <a:tcPr marL="0" marR="0" marT="9525"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tc>
                  <a:txBody>
                    <a:bodyPr/>
                    <a:lstStyle/>
                    <a:p>
                      <a:pPr algn="ctr">
                        <a:lnSpc>
                          <a:spcPct val="100000"/>
                        </a:lnSpc>
                        <a:spcBef>
                          <a:spcPts val="75"/>
                        </a:spcBef>
                      </a:pPr>
                      <a:r>
                        <a:rPr sz="800" dirty="0">
                          <a:latin typeface="Arial"/>
                          <a:cs typeface="Arial"/>
                        </a:rPr>
                        <a:t>3</a:t>
                      </a:r>
                      <a:r>
                        <a:rPr sz="800" spc="-10" dirty="0">
                          <a:latin typeface="Arial"/>
                          <a:cs typeface="Arial"/>
                        </a:rPr>
                        <a:t> sec/hour</a:t>
                      </a:r>
                      <a:endParaRPr sz="800">
                        <a:latin typeface="Arial"/>
                        <a:cs typeface="Arial"/>
                      </a:endParaRPr>
                    </a:p>
                  </a:txBody>
                  <a:tcPr marL="0" marR="0" marT="9525"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tc>
                  <a:txBody>
                    <a:bodyPr/>
                    <a:lstStyle/>
                    <a:p>
                      <a:pPr algn="ctr">
                        <a:lnSpc>
                          <a:spcPct val="100000"/>
                        </a:lnSpc>
                        <a:spcBef>
                          <a:spcPts val="75"/>
                        </a:spcBef>
                      </a:pPr>
                      <a:r>
                        <a:rPr sz="800" i="1" spc="55" dirty="0">
                          <a:latin typeface="STIX Two Text"/>
                          <a:cs typeface="STIX Two Text"/>
                        </a:rPr>
                        <a:t>&lt;</a:t>
                      </a:r>
                      <a:r>
                        <a:rPr sz="800" i="1" spc="-5" dirty="0">
                          <a:latin typeface="STIX Two Text"/>
                          <a:cs typeface="STIX Two Text"/>
                        </a:rPr>
                        <a:t> </a:t>
                      </a:r>
                      <a:r>
                        <a:rPr sz="800" spc="-20" dirty="0">
                          <a:latin typeface="Arial"/>
                          <a:cs typeface="Arial"/>
                        </a:rPr>
                        <a:t>10</a:t>
                      </a:r>
                      <a:r>
                        <a:rPr sz="900" i="1" spc="-30" baseline="27777" dirty="0">
                          <a:latin typeface="Menlo"/>
                          <a:cs typeface="Menlo"/>
                        </a:rPr>
                        <a:t>−</a:t>
                      </a:r>
                      <a:r>
                        <a:rPr sz="900" spc="-30" baseline="27777" dirty="0">
                          <a:latin typeface="Arial"/>
                          <a:cs typeface="Arial"/>
                        </a:rPr>
                        <a:t>5</a:t>
                      </a:r>
                      <a:endParaRPr sz="900" baseline="27777">
                        <a:latin typeface="Arial"/>
                        <a:cs typeface="Arial"/>
                      </a:endParaRPr>
                    </a:p>
                  </a:txBody>
                  <a:tcPr marL="0" marR="0" marT="9525"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tc rowSpan="6">
                  <a:txBody>
                    <a:bodyPr/>
                    <a:lstStyle/>
                    <a:p>
                      <a:pPr>
                        <a:lnSpc>
                          <a:spcPct val="100000"/>
                        </a:lnSpc>
                      </a:pPr>
                      <a:endParaRPr sz="700">
                        <a:latin typeface="Times New Roman"/>
                        <a:cs typeface="Times New Roman"/>
                      </a:endParaRPr>
                    </a:p>
                  </a:txBody>
                  <a:tcPr marL="0" marR="0" marT="0" marB="0">
                    <a:lnL w="6350">
                      <a:solidFill>
                        <a:srgbClr val="000000"/>
                      </a:solidFill>
                      <a:prstDash val="solid"/>
                    </a:lnL>
                    <a:lnR w="6350">
                      <a:solidFill>
                        <a:srgbClr val="000000"/>
                      </a:solidFill>
                      <a:prstDash val="solid"/>
                    </a:lnR>
                  </a:tcPr>
                </a:tc>
                <a:tc>
                  <a:txBody>
                    <a:bodyPr/>
                    <a:lstStyle/>
                    <a:p>
                      <a:pPr marL="93345">
                        <a:lnSpc>
                          <a:spcPct val="100000"/>
                        </a:lnSpc>
                        <a:spcBef>
                          <a:spcPts val="75"/>
                        </a:spcBef>
                      </a:pPr>
                      <a:r>
                        <a:rPr sz="800" dirty="0">
                          <a:latin typeface="Arial"/>
                          <a:cs typeface="Arial"/>
                        </a:rPr>
                        <a:t>8</a:t>
                      </a:r>
                      <a:endParaRPr sz="800">
                        <a:latin typeface="Arial"/>
                        <a:cs typeface="Arial"/>
                      </a:endParaRPr>
                    </a:p>
                  </a:txBody>
                  <a:tcPr marL="0" marR="0" marT="9525"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tc>
                  <a:txBody>
                    <a:bodyPr/>
                    <a:lstStyle/>
                    <a:p>
                      <a:pPr marL="93345">
                        <a:lnSpc>
                          <a:spcPct val="100000"/>
                        </a:lnSpc>
                        <a:spcBef>
                          <a:spcPts val="75"/>
                        </a:spcBef>
                      </a:pPr>
                      <a:r>
                        <a:rPr sz="800" dirty="0">
                          <a:latin typeface="Arial"/>
                          <a:cs typeface="Arial"/>
                        </a:rPr>
                        <a:t>5</a:t>
                      </a:r>
                      <a:endParaRPr sz="800">
                        <a:latin typeface="Arial"/>
                        <a:cs typeface="Arial"/>
                      </a:endParaRPr>
                    </a:p>
                  </a:txBody>
                  <a:tcPr marL="0" marR="0" marT="9525"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tc>
                  <a:txBody>
                    <a:bodyPr/>
                    <a:lstStyle/>
                    <a:p>
                      <a:pPr algn="ctr">
                        <a:lnSpc>
                          <a:spcPct val="100000"/>
                        </a:lnSpc>
                        <a:spcBef>
                          <a:spcPts val="75"/>
                        </a:spcBef>
                      </a:pPr>
                      <a:r>
                        <a:rPr sz="800" dirty="0">
                          <a:latin typeface="Arial"/>
                          <a:cs typeface="Arial"/>
                        </a:rPr>
                        <a:t>30</a:t>
                      </a:r>
                      <a:r>
                        <a:rPr sz="800" spc="-15" dirty="0">
                          <a:latin typeface="Arial"/>
                          <a:cs typeface="Arial"/>
                        </a:rPr>
                        <a:t> </a:t>
                      </a:r>
                      <a:r>
                        <a:rPr sz="800" spc="-10" dirty="0">
                          <a:latin typeface="Arial"/>
                          <a:cs typeface="Arial"/>
                        </a:rPr>
                        <a:t>sec/hour</a:t>
                      </a:r>
                      <a:endParaRPr sz="800">
                        <a:latin typeface="Arial"/>
                        <a:cs typeface="Arial"/>
                      </a:endParaRPr>
                    </a:p>
                  </a:txBody>
                  <a:tcPr marL="0" marR="0" marT="9525"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tc>
                  <a:txBody>
                    <a:bodyPr/>
                    <a:lstStyle/>
                    <a:p>
                      <a:pPr marL="118745">
                        <a:lnSpc>
                          <a:spcPct val="100000"/>
                        </a:lnSpc>
                        <a:spcBef>
                          <a:spcPts val="75"/>
                        </a:spcBef>
                      </a:pPr>
                      <a:r>
                        <a:rPr sz="800" i="1" spc="55" dirty="0">
                          <a:latin typeface="STIX Two Text"/>
                          <a:cs typeface="STIX Two Text"/>
                        </a:rPr>
                        <a:t>&lt;</a:t>
                      </a:r>
                      <a:r>
                        <a:rPr sz="800" i="1" spc="-5" dirty="0">
                          <a:latin typeface="STIX Two Text"/>
                          <a:cs typeface="STIX Two Text"/>
                        </a:rPr>
                        <a:t> </a:t>
                      </a:r>
                      <a:r>
                        <a:rPr sz="800" spc="-20" dirty="0">
                          <a:latin typeface="Arial"/>
                          <a:cs typeface="Arial"/>
                        </a:rPr>
                        <a:t>10</a:t>
                      </a:r>
                      <a:r>
                        <a:rPr sz="900" i="1" spc="-30" baseline="27777" dirty="0">
                          <a:latin typeface="Menlo"/>
                          <a:cs typeface="Menlo"/>
                        </a:rPr>
                        <a:t>−</a:t>
                      </a:r>
                      <a:r>
                        <a:rPr sz="900" spc="-30" baseline="27777" dirty="0">
                          <a:latin typeface="Arial"/>
                          <a:cs typeface="Arial"/>
                        </a:rPr>
                        <a:t>3</a:t>
                      </a:r>
                      <a:endParaRPr sz="900" baseline="27777">
                        <a:latin typeface="Arial"/>
                        <a:cs typeface="Arial"/>
                      </a:endParaRPr>
                    </a:p>
                  </a:txBody>
                  <a:tcPr marL="0" marR="0" marT="9525"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149860">
                <a:tc>
                  <a:txBody>
                    <a:bodyPr/>
                    <a:lstStyle/>
                    <a:p>
                      <a:pPr algn="ctr">
                        <a:lnSpc>
                          <a:spcPct val="100000"/>
                        </a:lnSpc>
                        <a:spcBef>
                          <a:spcPts val="20"/>
                        </a:spcBef>
                      </a:pPr>
                      <a:r>
                        <a:rPr sz="800" dirty="0">
                          <a:latin typeface="Arial"/>
                          <a:cs typeface="Arial"/>
                        </a:rPr>
                        <a:t>8</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93345">
                        <a:lnSpc>
                          <a:spcPct val="100000"/>
                        </a:lnSpc>
                        <a:spcBef>
                          <a:spcPts val="20"/>
                        </a:spcBef>
                      </a:pPr>
                      <a:r>
                        <a:rPr sz="800" dirty="0">
                          <a:latin typeface="Arial"/>
                          <a:cs typeface="Arial"/>
                        </a:rPr>
                        <a:t>6</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20"/>
                        </a:spcBef>
                      </a:pPr>
                      <a:r>
                        <a:rPr sz="800" dirty="0">
                          <a:latin typeface="Arial"/>
                          <a:cs typeface="Arial"/>
                        </a:rPr>
                        <a:t>3</a:t>
                      </a:r>
                      <a:r>
                        <a:rPr sz="800" spc="-10" dirty="0">
                          <a:latin typeface="Arial"/>
                          <a:cs typeface="Arial"/>
                        </a:rPr>
                        <a:t> sec/hour</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690"/>
                        </a:lnSpc>
                      </a:pPr>
                      <a:r>
                        <a:rPr sz="1200" i="1" spc="82" baseline="-20833" dirty="0">
                          <a:latin typeface="STIX Two Text"/>
                          <a:cs typeface="STIX Two Text"/>
                        </a:rPr>
                        <a:t>&lt;</a:t>
                      </a:r>
                      <a:r>
                        <a:rPr sz="1200" i="1" spc="-7" baseline="-20833" dirty="0">
                          <a:latin typeface="STIX Two Text"/>
                          <a:cs typeface="STIX Two Text"/>
                        </a:rPr>
                        <a:t> </a:t>
                      </a:r>
                      <a:r>
                        <a:rPr sz="1200" spc="-15" baseline="-20833" dirty="0">
                          <a:latin typeface="Arial"/>
                          <a:cs typeface="Arial"/>
                        </a:rPr>
                        <a:t>10</a:t>
                      </a:r>
                      <a:r>
                        <a:rPr sz="600" i="1" spc="-10" dirty="0">
                          <a:latin typeface="Menlo"/>
                          <a:cs typeface="Menlo"/>
                        </a:rPr>
                        <a:t>−</a:t>
                      </a:r>
                      <a:r>
                        <a:rPr sz="600" spc="-10" dirty="0">
                          <a:latin typeface="Arial"/>
                          <a:cs typeface="Arial"/>
                        </a:rPr>
                        <a:t>11</a:t>
                      </a:r>
                      <a:endParaRPr sz="6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vMerge="1">
                  <a:txBody>
                    <a:bodyPr/>
                    <a:lstStyle/>
                    <a:p>
                      <a:endParaRPr/>
                    </a:p>
                  </a:txBody>
                  <a:tcPr marL="0" marR="0" marT="0" marB="0">
                    <a:lnL w="6350">
                      <a:solidFill>
                        <a:srgbClr val="000000"/>
                      </a:solidFill>
                      <a:prstDash val="solid"/>
                    </a:lnL>
                    <a:lnR w="6350">
                      <a:solidFill>
                        <a:srgbClr val="000000"/>
                      </a:solidFill>
                      <a:prstDash val="solid"/>
                    </a:lnR>
                  </a:tcPr>
                </a:tc>
                <a:tc>
                  <a:txBody>
                    <a:bodyPr/>
                    <a:lstStyle/>
                    <a:p>
                      <a:pPr marL="93345">
                        <a:lnSpc>
                          <a:spcPct val="100000"/>
                        </a:lnSpc>
                        <a:spcBef>
                          <a:spcPts val="20"/>
                        </a:spcBef>
                      </a:pPr>
                      <a:r>
                        <a:rPr sz="800" dirty="0">
                          <a:latin typeface="Arial"/>
                          <a:cs typeface="Arial"/>
                        </a:rPr>
                        <a:t>8</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93345">
                        <a:lnSpc>
                          <a:spcPct val="100000"/>
                        </a:lnSpc>
                        <a:spcBef>
                          <a:spcPts val="20"/>
                        </a:spcBef>
                      </a:pPr>
                      <a:r>
                        <a:rPr sz="800" dirty="0">
                          <a:latin typeface="Arial"/>
                          <a:cs typeface="Arial"/>
                        </a:rPr>
                        <a:t>6</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20"/>
                        </a:spcBef>
                      </a:pPr>
                      <a:r>
                        <a:rPr sz="800" dirty="0">
                          <a:latin typeface="Arial"/>
                          <a:cs typeface="Arial"/>
                        </a:rPr>
                        <a:t>30</a:t>
                      </a:r>
                      <a:r>
                        <a:rPr sz="800" spc="-15" dirty="0">
                          <a:latin typeface="Arial"/>
                          <a:cs typeface="Arial"/>
                        </a:rPr>
                        <a:t> </a:t>
                      </a:r>
                      <a:r>
                        <a:rPr sz="800" spc="-10" dirty="0">
                          <a:latin typeface="Arial"/>
                          <a:cs typeface="Arial"/>
                        </a:rPr>
                        <a:t>sec/hour</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18745">
                        <a:lnSpc>
                          <a:spcPct val="100000"/>
                        </a:lnSpc>
                        <a:spcBef>
                          <a:spcPts val="20"/>
                        </a:spcBef>
                      </a:pPr>
                      <a:r>
                        <a:rPr sz="800" i="1" spc="55" dirty="0">
                          <a:latin typeface="STIX Two Text"/>
                          <a:cs typeface="STIX Two Text"/>
                        </a:rPr>
                        <a:t>&lt;</a:t>
                      </a:r>
                      <a:r>
                        <a:rPr sz="800" i="1" spc="-5" dirty="0">
                          <a:latin typeface="STIX Two Text"/>
                          <a:cs typeface="STIX Two Text"/>
                        </a:rPr>
                        <a:t> </a:t>
                      </a:r>
                      <a:r>
                        <a:rPr sz="800" spc="-20" dirty="0">
                          <a:latin typeface="Arial"/>
                          <a:cs typeface="Arial"/>
                        </a:rPr>
                        <a:t>10</a:t>
                      </a:r>
                      <a:r>
                        <a:rPr sz="900" i="1" spc="-30" baseline="27777" dirty="0">
                          <a:latin typeface="Menlo"/>
                          <a:cs typeface="Menlo"/>
                        </a:rPr>
                        <a:t>−</a:t>
                      </a:r>
                      <a:r>
                        <a:rPr sz="900" spc="-30" baseline="27777" dirty="0">
                          <a:latin typeface="Arial"/>
                          <a:cs typeface="Arial"/>
                        </a:rPr>
                        <a:t>7</a:t>
                      </a:r>
                      <a:endParaRPr sz="900" baseline="27777">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150495">
                <a:tc>
                  <a:txBody>
                    <a:bodyPr/>
                    <a:lstStyle/>
                    <a:p>
                      <a:pPr algn="ctr">
                        <a:lnSpc>
                          <a:spcPct val="100000"/>
                        </a:lnSpc>
                        <a:spcBef>
                          <a:spcPts val="20"/>
                        </a:spcBef>
                      </a:pPr>
                      <a:r>
                        <a:rPr sz="800" spc="-25" dirty="0">
                          <a:latin typeface="Arial"/>
                          <a:cs typeface="Arial"/>
                        </a:rPr>
                        <a:t>16</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93345">
                        <a:lnSpc>
                          <a:spcPct val="100000"/>
                        </a:lnSpc>
                        <a:spcBef>
                          <a:spcPts val="20"/>
                        </a:spcBef>
                      </a:pPr>
                      <a:r>
                        <a:rPr sz="800" dirty="0">
                          <a:latin typeface="Arial"/>
                          <a:cs typeface="Arial"/>
                        </a:rPr>
                        <a:t>9</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20"/>
                        </a:spcBef>
                      </a:pPr>
                      <a:r>
                        <a:rPr sz="800" dirty="0">
                          <a:latin typeface="Arial"/>
                          <a:cs typeface="Arial"/>
                        </a:rPr>
                        <a:t>3</a:t>
                      </a:r>
                      <a:r>
                        <a:rPr sz="800" spc="-10" dirty="0">
                          <a:latin typeface="Arial"/>
                          <a:cs typeface="Arial"/>
                        </a:rPr>
                        <a:t> sec/hour</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20"/>
                        </a:spcBef>
                      </a:pPr>
                      <a:r>
                        <a:rPr sz="800" i="1" spc="55" dirty="0">
                          <a:latin typeface="STIX Two Text"/>
                          <a:cs typeface="STIX Two Text"/>
                        </a:rPr>
                        <a:t>&lt;</a:t>
                      </a:r>
                      <a:r>
                        <a:rPr sz="800" i="1" spc="-5" dirty="0">
                          <a:latin typeface="STIX Two Text"/>
                          <a:cs typeface="STIX Two Text"/>
                        </a:rPr>
                        <a:t> </a:t>
                      </a:r>
                      <a:r>
                        <a:rPr sz="800" spc="-20" dirty="0">
                          <a:latin typeface="Arial"/>
                          <a:cs typeface="Arial"/>
                        </a:rPr>
                        <a:t>10</a:t>
                      </a:r>
                      <a:r>
                        <a:rPr sz="900" i="1" spc="-30" baseline="27777" dirty="0">
                          <a:latin typeface="Menlo"/>
                          <a:cs typeface="Menlo"/>
                        </a:rPr>
                        <a:t>−</a:t>
                      </a:r>
                      <a:r>
                        <a:rPr sz="900" spc="-30" baseline="27777" dirty="0">
                          <a:latin typeface="Arial"/>
                          <a:cs typeface="Arial"/>
                        </a:rPr>
                        <a:t>4</a:t>
                      </a:r>
                      <a:endParaRPr sz="900" baseline="27777">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vMerge="1">
                  <a:txBody>
                    <a:bodyPr/>
                    <a:lstStyle/>
                    <a:p>
                      <a:endParaRPr/>
                    </a:p>
                  </a:txBody>
                  <a:tcPr marL="0" marR="0" marT="0" marB="0">
                    <a:lnL w="6350">
                      <a:solidFill>
                        <a:srgbClr val="000000"/>
                      </a:solidFill>
                      <a:prstDash val="solid"/>
                    </a:lnL>
                    <a:lnR w="6350">
                      <a:solidFill>
                        <a:srgbClr val="000000"/>
                      </a:solidFill>
                      <a:prstDash val="solid"/>
                    </a:lnR>
                  </a:tcPr>
                </a:tc>
                <a:tc>
                  <a:txBody>
                    <a:bodyPr/>
                    <a:lstStyle/>
                    <a:p>
                      <a:pPr marL="65405">
                        <a:lnSpc>
                          <a:spcPct val="100000"/>
                        </a:lnSpc>
                        <a:spcBef>
                          <a:spcPts val="20"/>
                        </a:spcBef>
                      </a:pPr>
                      <a:r>
                        <a:rPr sz="800" spc="-25" dirty="0">
                          <a:latin typeface="Arial"/>
                          <a:cs typeface="Arial"/>
                        </a:rPr>
                        <a:t>16</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93345">
                        <a:lnSpc>
                          <a:spcPct val="100000"/>
                        </a:lnSpc>
                        <a:spcBef>
                          <a:spcPts val="20"/>
                        </a:spcBef>
                      </a:pPr>
                      <a:r>
                        <a:rPr sz="800" dirty="0">
                          <a:latin typeface="Arial"/>
                          <a:cs typeface="Arial"/>
                        </a:rPr>
                        <a:t>9</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20"/>
                        </a:spcBef>
                      </a:pPr>
                      <a:r>
                        <a:rPr sz="800" dirty="0">
                          <a:latin typeface="Arial"/>
                          <a:cs typeface="Arial"/>
                        </a:rPr>
                        <a:t>30</a:t>
                      </a:r>
                      <a:r>
                        <a:rPr sz="800" spc="-15" dirty="0">
                          <a:latin typeface="Arial"/>
                          <a:cs typeface="Arial"/>
                        </a:rPr>
                        <a:t> </a:t>
                      </a:r>
                      <a:r>
                        <a:rPr sz="800" spc="-10" dirty="0">
                          <a:latin typeface="Arial"/>
                          <a:cs typeface="Arial"/>
                        </a:rPr>
                        <a:t>sec/hour</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18745">
                        <a:lnSpc>
                          <a:spcPct val="100000"/>
                        </a:lnSpc>
                        <a:spcBef>
                          <a:spcPts val="20"/>
                        </a:spcBef>
                      </a:pPr>
                      <a:r>
                        <a:rPr sz="800" i="1" spc="55" dirty="0">
                          <a:latin typeface="STIX Two Text"/>
                          <a:cs typeface="STIX Two Text"/>
                        </a:rPr>
                        <a:t>&lt;</a:t>
                      </a:r>
                      <a:r>
                        <a:rPr sz="800" i="1" spc="-5" dirty="0">
                          <a:latin typeface="STIX Two Text"/>
                          <a:cs typeface="STIX Two Text"/>
                        </a:rPr>
                        <a:t> </a:t>
                      </a:r>
                      <a:r>
                        <a:rPr sz="800" spc="-20" dirty="0">
                          <a:latin typeface="Arial"/>
                          <a:cs typeface="Arial"/>
                        </a:rPr>
                        <a:t>10</a:t>
                      </a:r>
                      <a:r>
                        <a:rPr sz="900" i="1" spc="-30" baseline="27777" dirty="0">
                          <a:latin typeface="Menlo"/>
                          <a:cs typeface="Menlo"/>
                        </a:rPr>
                        <a:t>−</a:t>
                      </a:r>
                      <a:r>
                        <a:rPr sz="900" spc="-30" baseline="27777" dirty="0">
                          <a:latin typeface="Arial"/>
                          <a:cs typeface="Arial"/>
                        </a:rPr>
                        <a:t>2</a:t>
                      </a:r>
                      <a:endParaRPr sz="900" baseline="27777">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150495">
                <a:tc>
                  <a:txBody>
                    <a:bodyPr/>
                    <a:lstStyle/>
                    <a:p>
                      <a:pPr algn="ctr">
                        <a:lnSpc>
                          <a:spcPct val="100000"/>
                        </a:lnSpc>
                        <a:spcBef>
                          <a:spcPts val="20"/>
                        </a:spcBef>
                      </a:pPr>
                      <a:r>
                        <a:rPr sz="800" spc="-25" dirty="0">
                          <a:latin typeface="Arial"/>
                          <a:cs typeface="Arial"/>
                        </a:rPr>
                        <a:t>16</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5405">
                        <a:lnSpc>
                          <a:spcPct val="100000"/>
                        </a:lnSpc>
                        <a:spcBef>
                          <a:spcPts val="20"/>
                        </a:spcBef>
                      </a:pPr>
                      <a:r>
                        <a:rPr sz="800" spc="-25" dirty="0">
                          <a:latin typeface="Arial"/>
                          <a:cs typeface="Arial"/>
                        </a:rPr>
                        <a:t>12</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20"/>
                        </a:spcBef>
                      </a:pPr>
                      <a:r>
                        <a:rPr sz="800" dirty="0">
                          <a:latin typeface="Arial"/>
                          <a:cs typeface="Arial"/>
                        </a:rPr>
                        <a:t>3</a:t>
                      </a:r>
                      <a:r>
                        <a:rPr sz="800" spc="-10" dirty="0">
                          <a:latin typeface="Arial"/>
                          <a:cs typeface="Arial"/>
                        </a:rPr>
                        <a:t> sec/hour</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690"/>
                        </a:lnSpc>
                      </a:pPr>
                      <a:r>
                        <a:rPr sz="1200" i="1" spc="82" baseline="-20833" dirty="0">
                          <a:latin typeface="STIX Two Text"/>
                          <a:cs typeface="STIX Two Text"/>
                        </a:rPr>
                        <a:t>&lt;</a:t>
                      </a:r>
                      <a:r>
                        <a:rPr sz="1200" i="1" spc="-7" baseline="-20833" dirty="0">
                          <a:latin typeface="STIX Two Text"/>
                          <a:cs typeface="STIX Two Text"/>
                        </a:rPr>
                        <a:t> </a:t>
                      </a:r>
                      <a:r>
                        <a:rPr sz="1200" spc="-15" baseline="-20833" dirty="0">
                          <a:latin typeface="Arial"/>
                          <a:cs typeface="Arial"/>
                        </a:rPr>
                        <a:t>10</a:t>
                      </a:r>
                      <a:r>
                        <a:rPr sz="600" i="1" spc="-10" dirty="0">
                          <a:latin typeface="Menlo"/>
                          <a:cs typeface="Menlo"/>
                        </a:rPr>
                        <a:t>−</a:t>
                      </a:r>
                      <a:r>
                        <a:rPr sz="600" spc="-10" dirty="0">
                          <a:latin typeface="Arial"/>
                          <a:cs typeface="Arial"/>
                        </a:rPr>
                        <a:t>21</a:t>
                      </a:r>
                      <a:endParaRPr sz="6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vMerge="1">
                  <a:txBody>
                    <a:bodyPr/>
                    <a:lstStyle/>
                    <a:p>
                      <a:endParaRPr/>
                    </a:p>
                  </a:txBody>
                  <a:tcPr marL="0" marR="0" marT="0" marB="0">
                    <a:lnL w="6350">
                      <a:solidFill>
                        <a:srgbClr val="000000"/>
                      </a:solidFill>
                      <a:prstDash val="solid"/>
                    </a:lnL>
                    <a:lnR w="6350">
                      <a:solidFill>
                        <a:srgbClr val="000000"/>
                      </a:solidFill>
                      <a:prstDash val="solid"/>
                    </a:lnR>
                  </a:tcPr>
                </a:tc>
                <a:tc>
                  <a:txBody>
                    <a:bodyPr/>
                    <a:lstStyle/>
                    <a:p>
                      <a:pPr marL="65405">
                        <a:lnSpc>
                          <a:spcPct val="100000"/>
                        </a:lnSpc>
                        <a:spcBef>
                          <a:spcPts val="20"/>
                        </a:spcBef>
                      </a:pPr>
                      <a:r>
                        <a:rPr sz="800" spc="-25" dirty="0">
                          <a:latin typeface="Arial"/>
                          <a:cs typeface="Arial"/>
                        </a:rPr>
                        <a:t>16</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5405">
                        <a:lnSpc>
                          <a:spcPct val="100000"/>
                        </a:lnSpc>
                        <a:spcBef>
                          <a:spcPts val="20"/>
                        </a:spcBef>
                      </a:pPr>
                      <a:r>
                        <a:rPr sz="800" spc="-25" dirty="0">
                          <a:latin typeface="Arial"/>
                          <a:cs typeface="Arial"/>
                        </a:rPr>
                        <a:t>12</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20"/>
                        </a:spcBef>
                      </a:pPr>
                      <a:r>
                        <a:rPr sz="800" dirty="0">
                          <a:latin typeface="Arial"/>
                          <a:cs typeface="Arial"/>
                        </a:rPr>
                        <a:t>30</a:t>
                      </a:r>
                      <a:r>
                        <a:rPr sz="800" spc="-15" dirty="0">
                          <a:latin typeface="Arial"/>
                          <a:cs typeface="Arial"/>
                        </a:rPr>
                        <a:t> </a:t>
                      </a:r>
                      <a:r>
                        <a:rPr sz="800" spc="-10" dirty="0">
                          <a:latin typeface="Arial"/>
                          <a:cs typeface="Arial"/>
                        </a:rPr>
                        <a:t>sec/hour</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97790">
                        <a:lnSpc>
                          <a:spcPts val="690"/>
                        </a:lnSpc>
                      </a:pPr>
                      <a:r>
                        <a:rPr sz="1200" i="1" spc="82" baseline="-20833" dirty="0">
                          <a:latin typeface="STIX Two Text"/>
                          <a:cs typeface="STIX Two Text"/>
                        </a:rPr>
                        <a:t>&lt;</a:t>
                      </a:r>
                      <a:r>
                        <a:rPr sz="1200" i="1" spc="-7" baseline="-20833" dirty="0">
                          <a:latin typeface="STIX Two Text"/>
                          <a:cs typeface="STIX Two Text"/>
                        </a:rPr>
                        <a:t> </a:t>
                      </a:r>
                      <a:r>
                        <a:rPr sz="1200" spc="-15" baseline="-20833" dirty="0">
                          <a:latin typeface="Arial"/>
                          <a:cs typeface="Arial"/>
                        </a:rPr>
                        <a:t>10</a:t>
                      </a:r>
                      <a:r>
                        <a:rPr sz="600" i="1" spc="-10" dirty="0">
                          <a:latin typeface="Menlo"/>
                          <a:cs typeface="Menlo"/>
                        </a:rPr>
                        <a:t>−</a:t>
                      </a:r>
                      <a:r>
                        <a:rPr sz="600" spc="-10" dirty="0">
                          <a:latin typeface="Arial"/>
                          <a:cs typeface="Arial"/>
                        </a:rPr>
                        <a:t>13</a:t>
                      </a:r>
                      <a:endParaRPr sz="6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150495">
                <a:tc>
                  <a:txBody>
                    <a:bodyPr/>
                    <a:lstStyle/>
                    <a:p>
                      <a:pPr algn="ctr">
                        <a:lnSpc>
                          <a:spcPct val="100000"/>
                        </a:lnSpc>
                        <a:spcBef>
                          <a:spcPts val="20"/>
                        </a:spcBef>
                      </a:pPr>
                      <a:r>
                        <a:rPr sz="800" spc="-25" dirty="0">
                          <a:latin typeface="Arial"/>
                          <a:cs typeface="Arial"/>
                        </a:rPr>
                        <a:t>32</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5405">
                        <a:lnSpc>
                          <a:spcPct val="100000"/>
                        </a:lnSpc>
                        <a:spcBef>
                          <a:spcPts val="20"/>
                        </a:spcBef>
                      </a:pPr>
                      <a:r>
                        <a:rPr sz="800" spc="-25" dirty="0">
                          <a:latin typeface="Arial"/>
                          <a:cs typeface="Arial"/>
                        </a:rPr>
                        <a:t>17</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20"/>
                        </a:spcBef>
                      </a:pPr>
                      <a:r>
                        <a:rPr sz="800" dirty="0">
                          <a:latin typeface="Arial"/>
                          <a:cs typeface="Arial"/>
                        </a:rPr>
                        <a:t>3</a:t>
                      </a:r>
                      <a:r>
                        <a:rPr sz="800" spc="-10" dirty="0">
                          <a:latin typeface="Arial"/>
                          <a:cs typeface="Arial"/>
                        </a:rPr>
                        <a:t> sec/hour</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20"/>
                        </a:spcBef>
                      </a:pPr>
                      <a:r>
                        <a:rPr sz="800" i="1" spc="55" dirty="0">
                          <a:latin typeface="STIX Two Text"/>
                          <a:cs typeface="STIX Two Text"/>
                        </a:rPr>
                        <a:t>&lt;</a:t>
                      </a:r>
                      <a:r>
                        <a:rPr sz="800" i="1" spc="-5" dirty="0">
                          <a:latin typeface="STIX Two Text"/>
                          <a:cs typeface="STIX Two Text"/>
                        </a:rPr>
                        <a:t> </a:t>
                      </a:r>
                      <a:r>
                        <a:rPr sz="800" spc="-20" dirty="0">
                          <a:latin typeface="Arial"/>
                          <a:cs typeface="Arial"/>
                        </a:rPr>
                        <a:t>10</a:t>
                      </a:r>
                      <a:r>
                        <a:rPr sz="900" i="1" spc="-30" baseline="27777" dirty="0">
                          <a:latin typeface="Menlo"/>
                          <a:cs typeface="Menlo"/>
                        </a:rPr>
                        <a:t>−</a:t>
                      </a:r>
                      <a:r>
                        <a:rPr sz="900" spc="-30" baseline="27777" dirty="0">
                          <a:latin typeface="Arial"/>
                          <a:cs typeface="Arial"/>
                        </a:rPr>
                        <a:t>4</a:t>
                      </a:r>
                      <a:endParaRPr sz="900" baseline="27777">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vMerge="1">
                  <a:txBody>
                    <a:bodyPr/>
                    <a:lstStyle/>
                    <a:p>
                      <a:endParaRPr/>
                    </a:p>
                  </a:txBody>
                  <a:tcPr marL="0" marR="0" marT="0" marB="0">
                    <a:lnL w="6350">
                      <a:solidFill>
                        <a:srgbClr val="000000"/>
                      </a:solidFill>
                      <a:prstDash val="solid"/>
                    </a:lnL>
                    <a:lnR w="6350">
                      <a:solidFill>
                        <a:srgbClr val="000000"/>
                      </a:solidFill>
                      <a:prstDash val="solid"/>
                    </a:lnR>
                  </a:tcPr>
                </a:tc>
                <a:tc>
                  <a:txBody>
                    <a:bodyPr/>
                    <a:lstStyle/>
                    <a:p>
                      <a:pPr marL="65405">
                        <a:lnSpc>
                          <a:spcPct val="100000"/>
                        </a:lnSpc>
                        <a:spcBef>
                          <a:spcPts val="20"/>
                        </a:spcBef>
                      </a:pPr>
                      <a:r>
                        <a:rPr sz="800" spc="-25" dirty="0">
                          <a:latin typeface="Arial"/>
                          <a:cs typeface="Arial"/>
                        </a:rPr>
                        <a:t>32</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5405">
                        <a:lnSpc>
                          <a:spcPct val="100000"/>
                        </a:lnSpc>
                        <a:spcBef>
                          <a:spcPts val="20"/>
                        </a:spcBef>
                      </a:pPr>
                      <a:r>
                        <a:rPr sz="800" spc="-25" dirty="0">
                          <a:latin typeface="Arial"/>
                          <a:cs typeface="Arial"/>
                        </a:rPr>
                        <a:t>17</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20"/>
                        </a:spcBef>
                      </a:pPr>
                      <a:r>
                        <a:rPr sz="800" dirty="0">
                          <a:latin typeface="Arial"/>
                          <a:cs typeface="Arial"/>
                        </a:rPr>
                        <a:t>30</a:t>
                      </a:r>
                      <a:r>
                        <a:rPr sz="800" spc="-15" dirty="0">
                          <a:latin typeface="Arial"/>
                          <a:cs typeface="Arial"/>
                        </a:rPr>
                        <a:t> </a:t>
                      </a:r>
                      <a:r>
                        <a:rPr sz="800" spc="-10" dirty="0">
                          <a:latin typeface="Arial"/>
                          <a:cs typeface="Arial"/>
                        </a:rPr>
                        <a:t>sec/hour</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18745">
                        <a:lnSpc>
                          <a:spcPct val="100000"/>
                        </a:lnSpc>
                        <a:spcBef>
                          <a:spcPts val="20"/>
                        </a:spcBef>
                      </a:pPr>
                      <a:r>
                        <a:rPr sz="800" i="1" spc="55" dirty="0">
                          <a:latin typeface="STIX Two Text"/>
                          <a:cs typeface="STIX Two Text"/>
                        </a:rPr>
                        <a:t>&lt;</a:t>
                      </a:r>
                      <a:r>
                        <a:rPr sz="800" i="1" spc="-5" dirty="0">
                          <a:latin typeface="STIX Two Text"/>
                          <a:cs typeface="STIX Two Text"/>
                        </a:rPr>
                        <a:t> </a:t>
                      </a:r>
                      <a:r>
                        <a:rPr sz="800" spc="-20" dirty="0">
                          <a:latin typeface="Arial"/>
                          <a:cs typeface="Arial"/>
                        </a:rPr>
                        <a:t>10</a:t>
                      </a:r>
                      <a:r>
                        <a:rPr sz="900" i="1" spc="-30" baseline="27777" dirty="0">
                          <a:latin typeface="Menlo"/>
                          <a:cs typeface="Menlo"/>
                        </a:rPr>
                        <a:t>−</a:t>
                      </a:r>
                      <a:r>
                        <a:rPr sz="900" spc="-30" baseline="27777" dirty="0">
                          <a:latin typeface="Arial"/>
                          <a:cs typeface="Arial"/>
                        </a:rPr>
                        <a:t>2</a:t>
                      </a:r>
                      <a:endParaRPr sz="900" baseline="27777">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r h="150495">
                <a:tc>
                  <a:txBody>
                    <a:bodyPr/>
                    <a:lstStyle/>
                    <a:p>
                      <a:pPr algn="ctr">
                        <a:lnSpc>
                          <a:spcPct val="100000"/>
                        </a:lnSpc>
                        <a:spcBef>
                          <a:spcPts val="20"/>
                        </a:spcBef>
                      </a:pPr>
                      <a:r>
                        <a:rPr sz="800" spc="-25" dirty="0">
                          <a:latin typeface="Arial"/>
                          <a:cs typeface="Arial"/>
                        </a:rPr>
                        <a:t>32</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5405">
                        <a:lnSpc>
                          <a:spcPct val="100000"/>
                        </a:lnSpc>
                        <a:spcBef>
                          <a:spcPts val="20"/>
                        </a:spcBef>
                      </a:pPr>
                      <a:r>
                        <a:rPr sz="800" spc="-25" dirty="0">
                          <a:latin typeface="Arial"/>
                          <a:cs typeface="Arial"/>
                        </a:rPr>
                        <a:t>24</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20"/>
                        </a:spcBef>
                      </a:pPr>
                      <a:r>
                        <a:rPr sz="800" dirty="0">
                          <a:latin typeface="Arial"/>
                          <a:cs typeface="Arial"/>
                        </a:rPr>
                        <a:t>3</a:t>
                      </a:r>
                      <a:r>
                        <a:rPr sz="800" spc="-10" dirty="0">
                          <a:latin typeface="Arial"/>
                          <a:cs typeface="Arial"/>
                        </a:rPr>
                        <a:t> sec/hour</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690"/>
                        </a:lnSpc>
                      </a:pPr>
                      <a:r>
                        <a:rPr sz="1200" i="1" spc="82" baseline="-20833" dirty="0">
                          <a:latin typeface="STIX Two Text"/>
                          <a:cs typeface="STIX Two Text"/>
                        </a:rPr>
                        <a:t>&lt;</a:t>
                      </a:r>
                      <a:r>
                        <a:rPr sz="1200" i="1" spc="-7" baseline="-20833" dirty="0">
                          <a:latin typeface="STIX Two Text"/>
                          <a:cs typeface="STIX Two Text"/>
                        </a:rPr>
                        <a:t> </a:t>
                      </a:r>
                      <a:r>
                        <a:rPr sz="1200" spc="-15" baseline="-20833" dirty="0">
                          <a:latin typeface="Arial"/>
                          <a:cs typeface="Arial"/>
                        </a:rPr>
                        <a:t>10</a:t>
                      </a:r>
                      <a:r>
                        <a:rPr sz="600" i="1" spc="-10" dirty="0">
                          <a:latin typeface="Menlo"/>
                          <a:cs typeface="Menlo"/>
                        </a:rPr>
                        <a:t>−</a:t>
                      </a:r>
                      <a:r>
                        <a:rPr sz="600" spc="-10" dirty="0">
                          <a:latin typeface="Arial"/>
                          <a:cs typeface="Arial"/>
                        </a:rPr>
                        <a:t>43</a:t>
                      </a:r>
                      <a:endParaRPr sz="6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vMerge="1">
                  <a:txBody>
                    <a:bodyPr/>
                    <a:lstStyle/>
                    <a:p>
                      <a:endParaRPr/>
                    </a:p>
                  </a:txBody>
                  <a:tcPr marL="0" marR="0" marT="0" marB="0">
                    <a:lnL w="6350">
                      <a:solidFill>
                        <a:srgbClr val="000000"/>
                      </a:solidFill>
                      <a:prstDash val="solid"/>
                    </a:lnL>
                    <a:lnR w="6350">
                      <a:solidFill>
                        <a:srgbClr val="000000"/>
                      </a:solidFill>
                      <a:prstDash val="solid"/>
                    </a:lnR>
                  </a:tcPr>
                </a:tc>
                <a:tc>
                  <a:txBody>
                    <a:bodyPr/>
                    <a:lstStyle/>
                    <a:p>
                      <a:pPr marL="65405">
                        <a:lnSpc>
                          <a:spcPct val="100000"/>
                        </a:lnSpc>
                        <a:spcBef>
                          <a:spcPts val="20"/>
                        </a:spcBef>
                      </a:pPr>
                      <a:r>
                        <a:rPr sz="800" spc="-25" dirty="0">
                          <a:latin typeface="Arial"/>
                          <a:cs typeface="Arial"/>
                        </a:rPr>
                        <a:t>32</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5405">
                        <a:lnSpc>
                          <a:spcPct val="100000"/>
                        </a:lnSpc>
                        <a:spcBef>
                          <a:spcPts val="20"/>
                        </a:spcBef>
                      </a:pPr>
                      <a:r>
                        <a:rPr sz="800" spc="-25" dirty="0">
                          <a:latin typeface="Arial"/>
                          <a:cs typeface="Arial"/>
                        </a:rPr>
                        <a:t>24</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20"/>
                        </a:spcBef>
                      </a:pPr>
                      <a:r>
                        <a:rPr sz="800" dirty="0">
                          <a:latin typeface="Arial"/>
                          <a:cs typeface="Arial"/>
                        </a:rPr>
                        <a:t>30</a:t>
                      </a:r>
                      <a:r>
                        <a:rPr sz="800" spc="-15" dirty="0">
                          <a:latin typeface="Arial"/>
                          <a:cs typeface="Arial"/>
                        </a:rPr>
                        <a:t> </a:t>
                      </a:r>
                      <a:r>
                        <a:rPr sz="800" spc="-10" dirty="0">
                          <a:latin typeface="Arial"/>
                          <a:cs typeface="Arial"/>
                        </a:rPr>
                        <a:t>sec/hour</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97790">
                        <a:lnSpc>
                          <a:spcPts val="690"/>
                        </a:lnSpc>
                      </a:pPr>
                      <a:r>
                        <a:rPr sz="1200" i="1" spc="82" baseline="-20833" dirty="0">
                          <a:latin typeface="STIX Two Text"/>
                          <a:cs typeface="STIX Two Text"/>
                        </a:rPr>
                        <a:t>&lt;</a:t>
                      </a:r>
                      <a:r>
                        <a:rPr sz="1200" i="1" spc="-7" baseline="-20833" dirty="0">
                          <a:latin typeface="STIX Two Text"/>
                          <a:cs typeface="STIX Two Text"/>
                        </a:rPr>
                        <a:t> </a:t>
                      </a:r>
                      <a:r>
                        <a:rPr sz="1200" spc="-15" baseline="-20833" dirty="0">
                          <a:latin typeface="Arial"/>
                          <a:cs typeface="Arial"/>
                        </a:rPr>
                        <a:t>10</a:t>
                      </a:r>
                      <a:r>
                        <a:rPr sz="600" i="1" spc="-10" dirty="0">
                          <a:latin typeface="Menlo"/>
                          <a:cs typeface="Menlo"/>
                        </a:rPr>
                        <a:t>−</a:t>
                      </a:r>
                      <a:r>
                        <a:rPr sz="600" spc="-10" dirty="0">
                          <a:latin typeface="Arial"/>
                          <a:cs typeface="Arial"/>
                        </a:rPr>
                        <a:t>27</a:t>
                      </a:r>
                      <a:endParaRPr sz="6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6"/>
                  </a:ext>
                </a:extLst>
              </a:tr>
            </a:tbl>
          </a:graphicData>
        </a:graphic>
      </p:graphicFrame>
      <p:grpSp>
        <p:nvGrpSpPr>
          <p:cNvPr id="7" name="object 7"/>
          <p:cNvGrpSpPr/>
          <p:nvPr/>
        </p:nvGrpSpPr>
        <p:grpSpPr>
          <a:xfrm>
            <a:off x="0" y="3348469"/>
            <a:ext cx="4608195" cy="107950"/>
            <a:chOff x="0" y="3348469"/>
            <a:chExt cx="4608195" cy="107950"/>
          </a:xfrm>
        </p:grpSpPr>
        <p:sp>
          <p:nvSpPr>
            <p:cNvPr id="8" name="object 8"/>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9" name="object 9"/>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0" name="object 10"/>
          <p:cNvSpPr txBox="1"/>
          <p:nvPr/>
        </p:nvSpPr>
        <p:spPr>
          <a:xfrm>
            <a:off x="53467" y="3349927"/>
            <a:ext cx="73850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A</a:t>
            </a:r>
            <a:r>
              <a:rPr sz="500" spc="35" dirty="0">
                <a:latin typeface="Arial"/>
                <a:cs typeface="Arial"/>
                <a:hlinkClick r:id="rId4" action="ppaction://hlinksldjump"/>
              </a:rPr>
              <a:t> </a:t>
            </a:r>
            <a:r>
              <a:rPr sz="500" spc="-10" dirty="0">
                <a:latin typeface="Arial"/>
                <a:cs typeface="Arial"/>
                <a:hlinkClick r:id="rId4" action="ppaction://hlinksldjump"/>
              </a:rPr>
              <a:t>decentralized</a:t>
            </a:r>
            <a:r>
              <a:rPr sz="500" spc="35" dirty="0">
                <a:latin typeface="Arial"/>
                <a:cs typeface="Arial"/>
                <a:hlinkClick r:id="rId4" action="ppaction://hlinksldjump"/>
              </a:rPr>
              <a:t> </a:t>
            </a:r>
            <a:r>
              <a:rPr sz="500" spc="-10" dirty="0">
                <a:latin typeface="Arial"/>
                <a:cs typeface="Arial"/>
                <a:hlinkClick r:id="rId4" action="ppaction://hlinksldjump"/>
              </a:rPr>
              <a:t>algorithm</a:t>
            </a:r>
            <a:endParaRPr sz="500">
              <a:latin typeface="Arial"/>
              <a:cs typeface="Arial"/>
            </a:endParaRPr>
          </a:p>
        </p:txBody>
      </p:sp>
    </p:spTree>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8417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Coordination</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059910" y="-1515"/>
            <a:ext cx="49466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Mutual</a:t>
            </a:r>
            <a:r>
              <a:rPr sz="500" spc="-30"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exclusion</a:t>
            </a:r>
            <a:endParaRPr sz="500">
              <a:latin typeface="Arial"/>
              <a:cs typeface="Arial"/>
            </a:endParaRPr>
          </a:p>
        </p:txBody>
      </p:sp>
      <p:sp>
        <p:nvSpPr>
          <p:cNvPr id="5" name="object 5"/>
          <p:cNvSpPr txBox="1"/>
          <p:nvPr/>
        </p:nvSpPr>
        <p:spPr>
          <a:xfrm>
            <a:off x="95300" y="197711"/>
            <a:ext cx="3097530" cy="494665"/>
          </a:xfrm>
          <a:prstGeom prst="rect">
            <a:avLst/>
          </a:prstGeom>
        </p:spPr>
        <p:txBody>
          <a:bodyPr vert="horz" wrap="square" lIns="0" tIns="12065" rIns="0" bIns="0" rtlCol="0">
            <a:spAutoFit/>
          </a:bodyPr>
          <a:lstStyle/>
          <a:p>
            <a:pPr marL="12700">
              <a:lnSpc>
                <a:spcPct val="100000"/>
              </a:lnSpc>
              <a:spcBef>
                <a:spcPts val="95"/>
              </a:spcBef>
            </a:pPr>
            <a:r>
              <a:rPr sz="1200" spc="-10" dirty="0">
                <a:solidFill>
                  <a:srgbClr val="3333B2"/>
                </a:solidFill>
                <a:latin typeface="Arial"/>
                <a:cs typeface="Arial"/>
              </a:rPr>
              <a:t>Decentralized</a:t>
            </a:r>
            <a:r>
              <a:rPr sz="1200" spc="-20" dirty="0">
                <a:solidFill>
                  <a:srgbClr val="3333B2"/>
                </a:solidFill>
                <a:latin typeface="Arial"/>
                <a:cs typeface="Arial"/>
              </a:rPr>
              <a:t> </a:t>
            </a:r>
            <a:r>
              <a:rPr sz="1200" dirty="0">
                <a:solidFill>
                  <a:srgbClr val="3333B2"/>
                </a:solidFill>
                <a:latin typeface="Arial"/>
                <a:cs typeface="Arial"/>
              </a:rPr>
              <a:t>mutual</a:t>
            </a:r>
            <a:r>
              <a:rPr sz="1200" spc="-20" dirty="0">
                <a:solidFill>
                  <a:srgbClr val="3333B2"/>
                </a:solidFill>
                <a:latin typeface="Arial"/>
                <a:cs typeface="Arial"/>
              </a:rPr>
              <a:t> </a:t>
            </a:r>
            <a:r>
              <a:rPr sz="1200" spc="-10" dirty="0">
                <a:solidFill>
                  <a:srgbClr val="3333B2"/>
                </a:solidFill>
                <a:latin typeface="Arial"/>
                <a:cs typeface="Arial"/>
              </a:rPr>
              <a:t>exclusion</a:t>
            </a:r>
            <a:endParaRPr sz="1200">
              <a:latin typeface="Arial"/>
              <a:cs typeface="Arial"/>
            </a:endParaRPr>
          </a:p>
          <a:p>
            <a:pPr marL="260350">
              <a:lnSpc>
                <a:spcPct val="100000"/>
              </a:lnSpc>
              <a:spcBef>
                <a:spcPts val="1055"/>
              </a:spcBef>
            </a:pPr>
            <a:r>
              <a:rPr sz="1000" dirty="0">
                <a:solidFill>
                  <a:srgbClr val="3333B2"/>
                </a:solidFill>
                <a:latin typeface="Arial"/>
                <a:cs typeface="Arial"/>
              </a:rPr>
              <a:t>Violation</a:t>
            </a:r>
            <a:r>
              <a:rPr sz="1000" spc="-55" dirty="0">
                <a:solidFill>
                  <a:srgbClr val="3333B2"/>
                </a:solidFill>
                <a:latin typeface="Arial"/>
                <a:cs typeface="Arial"/>
              </a:rPr>
              <a:t> </a:t>
            </a:r>
            <a:r>
              <a:rPr sz="1000" dirty="0">
                <a:solidFill>
                  <a:srgbClr val="3333B2"/>
                </a:solidFill>
                <a:latin typeface="Arial"/>
                <a:cs typeface="Arial"/>
              </a:rPr>
              <a:t>probabilities</a:t>
            </a:r>
            <a:r>
              <a:rPr sz="1000" spc="-50" dirty="0">
                <a:solidFill>
                  <a:srgbClr val="3333B2"/>
                </a:solidFill>
                <a:latin typeface="Arial"/>
                <a:cs typeface="Arial"/>
              </a:rPr>
              <a:t> </a:t>
            </a:r>
            <a:r>
              <a:rPr sz="1000" dirty="0">
                <a:solidFill>
                  <a:srgbClr val="3333B2"/>
                </a:solidFill>
                <a:latin typeface="Arial"/>
                <a:cs typeface="Arial"/>
              </a:rPr>
              <a:t>for</a:t>
            </a:r>
            <a:r>
              <a:rPr sz="1000" spc="-55" dirty="0">
                <a:solidFill>
                  <a:srgbClr val="3333B2"/>
                </a:solidFill>
                <a:latin typeface="Arial"/>
                <a:cs typeface="Arial"/>
              </a:rPr>
              <a:t> </a:t>
            </a:r>
            <a:r>
              <a:rPr sz="1000" dirty="0">
                <a:solidFill>
                  <a:srgbClr val="3333B2"/>
                </a:solidFill>
                <a:latin typeface="Arial"/>
                <a:cs typeface="Arial"/>
              </a:rPr>
              <a:t>various</a:t>
            </a:r>
            <a:r>
              <a:rPr sz="1000" spc="-50" dirty="0">
                <a:solidFill>
                  <a:srgbClr val="3333B2"/>
                </a:solidFill>
                <a:latin typeface="Arial"/>
                <a:cs typeface="Arial"/>
              </a:rPr>
              <a:t> </a:t>
            </a:r>
            <a:r>
              <a:rPr sz="1000" dirty="0">
                <a:solidFill>
                  <a:srgbClr val="3333B2"/>
                </a:solidFill>
                <a:latin typeface="Arial"/>
                <a:cs typeface="Arial"/>
              </a:rPr>
              <a:t>parameter</a:t>
            </a:r>
            <a:r>
              <a:rPr sz="1000" spc="-55" dirty="0">
                <a:solidFill>
                  <a:srgbClr val="3333B2"/>
                </a:solidFill>
                <a:latin typeface="Arial"/>
                <a:cs typeface="Arial"/>
              </a:rPr>
              <a:t> </a:t>
            </a:r>
            <a:r>
              <a:rPr sz="1000" spc="-10" dirty="0">
                <a:solidFill>
                  <a:srgbClr val="3333B2"/>
                </a:solidFill>
                <a:latin typeface="Arial"/>
                <a:cs typeface="Arial"/>
              </a:rPr>
              <a:t>values</a:t>
            </a:r>
            <a:endParaRPr sz="1000">
              <a:latin typeface="Arial"/>
              <a:cs typeface="Arial"/>
            </a:endParaRPr>
          </a:p>
        </p:txBody>
      </p:sp>
      <p:graphicFrame>
        <p:nvGraphicFramePr>
          <p:cNvPr id="6" name="object 6"/>
          <p:cNvGraphicFramePr>
            <a:graphicFrameLocks noGrp="1"/>
          </p:cNvGraphicFramePr>
          <p:nvPr/>
        </p:nvGraphicFramePr>
        <p:xfrm>
          <a:off x="672909" y="880579"/>
          <a:ext cx="3412485" cy="1065530"/>
        </p:xfrm>
        <a:graphic>
          <a:graphicData uri="http://schemas.openxmlformats.org/drawingml/2006/table">
            <a:tbl>
              <a:tblPr firstRow="1" bandRow="1">
                <a:tableStyleId>{2D5ABB26-0587-4C30-8999-92F81FD0307C}</a:tableStyleId>
              </a:tblPr>
              <a:tblGrid>
                <a:gridCol w="243840">
                  <a:extLst>
                    <a:ext uri="{9D8B030D-6E8A-4147-A177-3AD203B41FA5}">
                      <a16:colId xmlns:a16="http://schemas.microsoft.com/office/drawing/2014/main" val="20000"/>
                    </a:ext>
                  </a:extLst>
                </a:gridCol>
                <a:gridCol w="243840">
                  <a:extLst>
                    <a:ext uri="{9D8B030D-6E8A-4147-A177-3AD203B41FA5}">
                      <a16:colId xmlns:a16="http://schemas.microsoft.com/office/drawing/2014/main" val="20001"/>
                    </a:ext>
                  </a:extLst>
                </a:gridCol>
                <a:gridCol w="603884">
                  <a:extLst>
                    <a:ext uri="{9D8B030D-6E8A-4147-A177-3AD203B41FA5}">
                      <a16:colId xmlns:a16="http://schemas.microsoft.com/office/drawing/2014/main" val="20002"/>
                    </a:ext>
                  </a:extLst>
                </a:gridCol>
                <a:gridCol w="558800">
                  <a:extLst>
                    <a:ext uri="{9D8B030D-6E8A-4147-A177-3AD203B41FA5}">
                      <a16:colId xmlns:a16="http://schemas.microsoft.com/office/drawing/2014/main" val="20003"/>
                    </a:ext>
                  </a:extLst>
                </a:gridCol>
                <a:gridCol w="55244">
                  <a:extLst>
                    <a:ext uri="{9D8B030D-6E8A-4147-A177-3AD203B41FA5}">
                      <a16:colId xmlns:a16="http://schemas.microsoft.com/office/drawing/2014/main" val="20004"/>
                    </a:ext>
                  </a:extLst>
                </a:gridCol>
                <a:gridCol w="243839">
                  <a:extLst>
                    <a:ext uri="{9D8B030D-6E8A-4147-A177-3AD203B41FA5}">
                      <a16:colId xmlns:a16="http://schemas.microsoft.com/office/drawing/2014/main" val="20005"/>
                    </a:ext>
                  </a:extLst>
                </a:gridCol>
                <a:gridCol w="243839">
                  <a:extLst>
                    <a:ext uri="{9D8B030D-6E8A-4147-A177-3AD203B41FA5}">
                      <a16:colId xmlns:a16="http://schemas.microsoft.com/office/drawing/2014/main" val="20006"/>
                    </a:ext>
                  </a:extLst>
                </a:gridCol>
                <a:gridCol w="660400">
                  <a:extLst>
                    <a:ext uri="{9D8B030D-6E8A-4147-A177-3AD203B41FA5}">
                      <a16:colId xmlns:a16="http://schemas.microsoft.com/office/drawing/2014/main" val="20007"/>
                    </a:ext>
                  </a:extLst>
                </a:gridCol>
                <a:gridCol w="558799">
                  <a:extLst>
                    <a:ext uri="{9D8B030D-6E8A-4147-A177-3AD203B41FA5}">
                      <a16:colId xmlns:a16="http://schemas.microsoft.com/office/drawing/2014/main" val="20008"/>
                    </a:ext>
                  </a:extLst>
                </a:gridCol>
              </a:tblGrid>
              <a:tr h="156845">
                <a:tc>
                  <a:txBody>
                    <a:bodyPr/>
                    <a:lstStyle/>
                    <a:p>
                      <a:pPr algn="ctr">
                        <a:lnSpc>
                          <a:spcPct val="100000"/>
                        </a:lnSpc>
                        <a:spcBef>
                          <a:spcPts val="20"/>
                        </a:spcBef>
                      </a:pPr>
                      <a:r>
                        <a:rPr sz="800" b="1" dirty="0">
                          <a:latin typeface="Arial"/>
                          <a:cs typeface="Arial"/>
                        </a:rPr>
                        <a:t>N</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tc>
                  <a:txBody>
                    <a:bodyPr/>
                    <a:lstStyle/>
                    <a:p>
                      <a:pPr marL="76835">
                        <a:lnSpc>
                          <a:spcPct val="100000"/>
                        </a:lnSpc>
                        <a:spcBef>
                          <a:spcPts val="20"/>
                        </a:spcBef>
                      </a:pPr>
                      <a:r>
                        <a:rPr sz="800" b="1" dirty="0">
                          <a:latin typeface="Arial"/>
                          <a:cs typeface="Arial"/>
                        </a:rPr>
                        <a:t>m</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tc>
                  <a:txBody>
                    <a:bodyPr/>
                    <a:lstStyle/>
                    <a:p>
                      <a:pPr algn="ctr">
                        <a:lnSpc>
                          <a:spcPct val="100000"/>
                        </a:lnSpc>
                        <a:spcBef>
                          <a:spcPts val="20"/>
                        </a:spcBef>
                      </a:pPr>
                      <a:r>
                        <a:rPr sz="800" b="1" dirty="0">
                          <a:latin typeface="Arial"/>
                          <a:cs typeface="Arial"/>
                        </a:rPr>
                        <a:t>p</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tc>
                  <a:txBody>
                    <a:bodyPr/>
                    <a:lstStyle/>
                    <a:p>
                      <a:pPr algn="ctr">
                        <a:lnSpc>
                          <a:spcPct val="100000"/>
                        </a:lnSpc>
                        <a:spcBef>
                          <a:spcPts val="20"/>
                        </a:spcBef>
                      </a:pPr>
                      <a:r>
                        <a:rPr sz="800" b="1" spc="-10" dirty="0">
                          <a:latin typeface="Arial"/>
                          <a:cs typeface="Arial"/>
                        </a:rPr>
                        <a:t>Violation</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tc>
                  <a:txBody>
                    <a:bodyPr/>
                    <a:lstStyle/>
                    <a:p>
                      <a:pPr>
                        <a:lnSpc>
                          <a:spcPct val="100000"/>
                        </a:lnSpc>
                      </a:pPr>
                      <a:endParaRPr sz="800">
                        <a:latin typeface="Times New Roman"/>
                        <a:cs typeface="Times New Roman"/>
                      </a:endParaRPr>
                    </a:p>
                  </a:txBody>
                  <a:tcPr marL="0" marR="0" marT="0" marB="0">
                    <a:lnL w="6350">
                      <a:solidFill>
                        <a:srgbClr val="000000"/>
                      </a:solidFill>
                      <a:prstDash val="solid"/>
                    </a:lnL>
                    <a:lnR w="6350">
                      <a:solidFill>
                        <a:srgbClr val="000000"/>
                      </a:solidFill>
                      <a:prstDash val="solid"/>
                    </a:lnR>
                  </a:tcPr>
                </a:tc>
                <a:tc>
                  <a:txBody>
                    <a:bodyPr/>
                    <a:lstStyle/>
                    <a:p>
                      <a:pPr marL="85090">
                        <a:lnSpc>
                          <a:spcPct val="100000"/>
                        </a:lnSpc>
                        <a:spcBef>
                          <a:spcPts val="20"/>
                        </a:spcBef>
                      </a:pPr>
                      <a:r>
                        <a:rPr sz="800" b="1" dirty="0">
                          <a:latin typeface="Arial"/>
                          <a:cs typeface="Arial"/>
                        </a:rPr>
                        <a:t>N</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tc>
                  <a:txBody>
                    <a:bodyPr/>
                    <a:lstStyle/>
                    <a:p>
                      <a:pPr marL="76835">
                        <a:lnSpc>
                          <a:spcPct val="100000"/>
                        </a:lnSpc>
                        <a:spcBef>
                          <a:spcPts val="20"/>
                        </a:spcBef>
                      </a:pPr>
                      <a:r>
                        <a:rPr sz="800" b="1" dirty="0">
                          <a:latin typeface="Arial"/>
                          <a:cs typeface="Arial"/>
                        </a:rPr>
                        <a:t>m</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tc>
                  <a:txBody>
                    <a:bodyPr/>
                    <a:lstStyle/>
                    <a:p>
                      <a:pPr algn="ctr">
                        <a:lnSpc>
                          <a:spcPct val="100000"/>
                        </a:lnSpc>
                        <a:spcBef>
                          <a:spcPts val="20"/>
                        </a:spcBef>
                      </a:pPr>
                      <a:r>
                        <a:rPr sz="800" b="1" dirty="0">
                          <a:latin typeface="Arial"/>
                          <a:cs typeface="Arial"/>
                        </a:rPr>
                        <a:t>p</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tc>
                  <a:txBody>
                    <a:bodyPr/>
                    <a:lstStyle/>
                    <a:p>
                      <a:pPr marL="65405">
                        <a:lnSpc>
                          <a:spcPct val="100000"/>
                        </a:lnSpc>
                        <a:spcBef>
                          <a:spcPts val="20"/>
                        </a:spcBef>
                      </a:pPr>
                      <a:r>
                        <a:rPr sz="800" b="1" spc="-10" dirty="0">
                          <a:latin typeface="Arial"/>
                          <a:cs typeface="Arial"/>
                        </a:rPr>
                        <a:t>Violation</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extLst>
                  <a:ext uri="{0D108BD9-81ED-4DB2-BD59-A6C34878D82A}">
                    <a16:rowId xmlns:a16="http://schemas.microsoft.com/office/drawing/2014/main" val="10000"/>
                  </a:ext>
                </a:extLst>
              </a:tr>
              <a:tr h="156845">
                <a:tc>
                  <a:txBody>
                    <a:bodyPr/>
                    <a:lstStyle/>
                    <a:p>
                      <a:pPr algn="ctr">
                        <a:lnSpc>
                          <a:spcPct val="100000"/>
                        </a:lnSpc>
                        <a:spcBef>
                          <a:spcPts val="75"/>
                        </a:spcBef>
                      </a:pPr>
                      <a:r>
                        <a:rPr sz="800" dirty="0">
                          <a:latin typeface="Arial"/>
                          <a:cs typeface="Arial"/>
                        </a:rPr>
                        <a:t>8</a:t>
                      </a:r>
                      <a:endParaRPr sz="800">
                        <a:latin typeface="Arial"/>
                        <a:cs typeface="Arial"/>
                      </a:endParaRPr>
                    </a:p>
                  </a:txBody>
                  <a:tcPr marL="0" marR="0" marT="9525"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tc>
                  <a:txBody>
                    <a:bodyPr/>
                    <a:lstStyle/>
                    <a:p>
                      <a:pPr marL="93345">
                        <a:lnSpc>
                          <a:spcPct val="100000"/>
                        </a:lnSpc>
                        <a:spcBef>
                          <a:spcPts val="75"/>
                        </a:spcBef>
                      </a:pPr>
                      <a:r>
                        <a:rPr sz="800" dirty="0">
                          <a:latin typeface="Arial"/>
                          <a:cs typeface="Arial"/>
                        </a:rPr>
                        <a:t>5</a:t>
                      </a:r>
                      <a:endParaRPr sz="800">
                        <a:latin typeface="Arial"/>
                        <a:cs typeface="Arial"/>
                      </a:endParaRPr>
                    </a:p>
                  </a:txBody>
                  <a:tcPr marL="0" marR="0" marT="9525"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tc>
                  <a:txBody>
                    <a:bodyPr/>
                    <a:lstStyle/>
                    <a:p>
                      <a:pPr algn="ctr">
                        <a:lnSpc>
                          <a:spcPct val="100000"/>
                        </a:lnSpc>
                        <a:spcBef>
                          <a:spcPts val="75"/>
                        </a:spcBef>
                      </a:pPr>
                      <a:r>
                        <a:rPr sz="800" dirty="0">
                          <a:latin typeface="Arial"/>
                          <a:cs typeface="Arial"/>
                        </a:rPr>
                        <a:t>3</a:t>
                      </a:r>
                      <a:r>
                        <a:rPr sz="800" spc="-10" dirty="0">
                          <a:latin typeface="Arial"/>
                          <a:cs typeface="Arial"/>
                        </a:rPr>
                        <a:t> sec/hour</a:t>
                      </a:r>
                      <a:endParaRPr sz="800">
                        <a:latin typeface="Arial"/>
                        <a:cs typeface="Arial"/>
                      </a:endParaRPr>
                    </a:p>
                  </a:txBody>
                  <a:tcPr marL="0" marR="0" marT="9525"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tc>
                  <a:txBody>
                    <a:bodyPr/>
                    <a:lstStyle/>
                    <a:p>
                      <a:pPr algn="ctr">
                        <a:lnSpc>
                          <a:spcPct val="100000"/>
                        </a:lnSpc>
                        <a:spcBef>
                          <a:spcPts val="75"/>
                        </a:spcBef>
                      </a:pPr>
                      <a:r>
                        <a:rPr sz="800" i="1" spc="55" dirty="0">
                          <a:latin typeface="STIX Two Text"/>
                          <a:cs typeface="STIX Two Text"/>
                        </a:rPr>
                        <a:t>&lt;</a:t>
                      </a:r>
                      <a:r>
                        <a:rPr sz="800" i="1" spc="-5" dirty="0">
                          <a:latin typeface="STIX Two Text"/>
                          <a:cs typeface="STIX Two Text"/>
                        </a:rPr>
                        <a:t> </a:t>
                      </a:r>
                      <a:r>
                        <a:rPr sz="800" spc="-20" dirty="0">
                          <a:latin typeface="Arial"/>
                          <a:cs typeface="Arial"/>
                        </a:rPr>
                        <a:t>10</a:t>
                      </a:r>
                      <a:r>
                        <a:rPr sz="900" i="1" spc="-30" baseline="27777" dirty="0">
                          <a:latin typeface="Menlo"/>
                          <a:cs typeface="Menlo"/>
                        </a:rPr>
                        <a:t>−</a:t>
                      </a:r>
                      <a:r>
                        <a:rPr sz="900" spc="-30" baseline="27777" dirty="0">
                          <a:latin typeface="Arial"/>
                          <a:cs typeface="Arial"/>
                        </a:rPr>
                        <a:t>5</a:t>
                      </a:r>
                      <a:endParaRPr sz="900" baseline="27777">
                        <a:latin typeface="Arial"/>
                        <a:cs typeface="Arial"/>
                      </a:endParaRPr>
                    </a:p>
                  </a:txBody>
                  <a:tcPr marL="0" marR="0" marT="9525"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tc rowSpan="6">
                  <a:txBody>
                    <a:bodyPr/>
                    <a:lstStyle/>
                    <a:p>
                      <a:pPr>
                        <a:lnSpc>
                          <a:spcPct val="100000"/>
                        </a:lnSpc>
                      </a:pPr>
                      <a:endParaRPr sz="800">
                        <a:latin typeface="Times New Roman"/>
                        <a:cs typeface="Times New Roman"/>
                      </a:endParaRPr>
                    </a:p>
                  </a:txBody>
                  <a:tcPr marL="0" marR="0" marT="0" marB="0">
                    <a:lnL w="6350">
                      <a:solidFill>
                        <a:srgbClr val="000000"/>
                      </a:solidFill>
                      <a:prstDash val="solid"/>
                    </a:lnL>
                    <a:lnR w="6350">
                      <a:solidFill>
                        <a:srgbClr val="000000"/>
                      </a:solidFill>
                      <a:prstDash val="solid"/>
                    </a:lnR>
                  </a:tcPr>
                </a:tc>
                <a:tc>
                  <a:txBody>
                    <a:bodyPr/>
                    <a:lstStyle/>
                    <a:p>
                      <a:pPr marL="93345">
                        <a:lnSpc>
                          <a:spcPct val="100000"/>
                        </a:lnSpc>
                        <a:spcBef>
                          <a:spcPts val="75"/>
                        </a:spcBef>
                      </a:pPr>
                      <a:r>
                        <a:rPr sz="800" dirty="0">
                          <a:latin typeface="Arial"/>
                          <a:cs typeface="Arial"/>
                        </a:rPr>
                        <a:t>8</a:t>
                      </a:r>
                      <a:endParaRPr sz="800">
                        <a:latin typeface="Arial"/>
                        <a:cs typeface="Arial"/>
                      </a:endParaRPr>
                    </a:p>
                  </a:txBody>
                  <a:tcPr marL="0" marR="0" marT="9525"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tc>
                  <a:txBody>
                    <a:bodyPr/>
                    <a:lstStyle/>
                    <a:p>
                      <a:pPr marL="93345">
                        <a:lnSpc>
                          <a:spcPct val="100000"/>
                        </a:lnSpc>
                        <a:spcBef>
                          <a:spcPts val="75"/>
                        </a:spcBef>
                      </a:pPr>
                      <a:r>
                        <a:rPr sz="800" dirty="0">
                          <a:latin typeface="Arial"/>
                          <a:cs typeface="Arial"/>
                        </a:rPr>
                        <a:t>5</a:t>
                      </a:r>
                      <a:endParaRPr sz="800">
                        <a:latin typeface="Arial"/>
                        <a:cs typeface="Arial"/>
                      </a:endParaRPr>
                    </a:p>
                  </a:txBody>
                  <a:tcPr marL="0" marR="0" marT="9525"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tc>
                  <a:txBody>
                    <a:bodyPr/>
                    <a:lstStyle/>
                    <a:p>
                      <a:pPr algn="ctr">
                        <a:lnSpc>
                          <a:spcPct val="100000"/>
                        </a:lnSpc>
                        <a:spcBef>
                          <a:spcPts val="75"/>
                        </a:spcBef>
                      </a:pPr>
                      <a:r>
                        <a:rPr sz="800" dirty="0">
                          <a:latin typeface="Arial"/>
                          <a:cs typeface="Arial"/>
                        </a:rPr>
                        <a:t>30</a:t>
                      </a:r>
                      <a:r>
                        <a:rPr sz="800" spc="-15" dirty="0">
                          <a:latin typeface="Arial"/>
                          <a:cs typeface="Arial"/>
                        </a:rPr>
                        <a:t> </a:t>
                      </a:r>
                      <a:r>
                        <a:rPr sz="800" spc="-10" dirty="0">
                          <a:latin typeface="Arial"/>
                          <a:cs typeface="Arial"/>
                        </a:rPr>
                        <a:t>sec/hour</a:t>
                      </a:r>
                      <a:endParaRPr sz="800">
                        <a:latin typeface="Arial"/>
                        <a:cs typeface="Arial"/>
                      </a:endParaRPr>
                    </a:p>
                  </a:txBody>
                  <a:tcPr marL="0" marR="0" marT="9525"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tc>
                  <a:txBody>
                    <a:bodyPr/>
                    <a:lstStyle/>
                    <a:p>
                      <a:pPr marL="118745">
                        <a:lnSpc>
                          <a:spcPct val="100000"/>
                        </a:lnSpc>
                        <a:spcBef>
                          <a:spcPts val="75"/>
                        </a:spcBef>
                      </a:pPr>
                      <a:r>
                        <a:rPr sz="800" i="1" spc="55" dirty="0">
                          <a:latin typeface="STIX Two Text"/>
                          <a:cs typeface="STIX Two Text"/>
                        </a:rPr>
                        <a:t>&lt;</a:t>
                      </a:r>
                      <a:r>
                        <a:rPr sz="800" i="1" spc="-5" dirty="0">
                          <a:latin typeface="STIX Two Text"/>
                          <a:cs typeface="STIX Two Text"/>
                        </a:rPr>
                        <a:t> </a:t>
                      </a:r>
                      <a:r>
                        <a:rPr sz="800" spc="-20" dirty="0">
                          <a:latin typeface="Arial"/>
                          <a:cs typeface="Arial"/>
                        </a:rPr>
                        <a:t>10</a:t>
                      </a:r>
                      <a:r>
                        <a:rPr sz="900" i="1" spc="-30" baseline="27777" dirty="0">
                          <a:latin typeface="Menlo"/>
                          <a:cs typeface="Menlo"/>
                        </a:rPr>
                        <a:t>−</a:t>
                      </a:r>
                      <a:r>
                        <a:rPr sz="900" spc="-30" baseline="27777" dirty="0">
                          <a:latin typeface="Arial"/>
                          <a:cs typeface="Arial"/>
                        </a:rPr>
                        <a:t>3</a:t>
                      </a:r>
                      <a:endParaRPr sz="900" baseline="27777">
                        <a:latin typeface="Arial"/>
                        <a:cs typeface="Arial"/>
                      </a:endParaRPr>
                    </a:p>
                  </a:txBody>
                  <a:tcPr marL="0" marR="0" marT="9525"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149860">
                <a:tc>
                  <a:txBody>
                    <a:bodyPr/>
                    <a:lstStyle/>
                    <a:p>
                      <a:pPr algn="ctr">
                        <a:lnSpc>
                          <a:spcPct val="100000"/>
                        </a:lnSpc>
                        <a:spcBef>
                          <a:spcPts val="20"/>
                        </a:spcBef>
                      </a:pPr>
                      <a:r>
                        <a:rPr sz="800" dirty="0">
                          <a:latin typeface="Arial"/>
                          <a:cs typeface="Arial"/>
                        </a:rPr>
                        <a:t>8</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93345">
                        <a:lnSpc>
                          <a:spcPct val="100000"/>
                        </a:lnSpc>
                        <a:spcBef>
                          <a:spcPts val="20"/>
                        </a:spcBef>
                      </a:pPr>
                      <a:r>
                        <a:rPr sz="800" dirty="0">
                          <a:latin typeface="Arial"/>
                          <a:cs typeface="Arial"/>
                        </a:rPr>
                        <a:t>6</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20"/>
                        </a:spcBef>
                      </a:pPr>
                      <a:r>
                        <a:rPr sz="800" dirty="0">
                          <a:latin typeface="Arial"/>
                          <a:cs typeface="Arial"/>
                        </a:rPr>
                        <a:t>3</a:t>
                      </a:r>
                      <a:r>
                        <a:rPr sz="800" spc="-10" dirty="0">
                          <a:latin typeface="Arial"/>
                          <a:cs typeface="Arial"/>
                        </a:rPr>
                        <a:t> sec/hour</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690"/>
                        </a:lnSpc>
                      </a:pPr>
                      <a:r>
                        <a:rPr sz="1200" i="1" spc="82" baseline="-20833" dirty="0">
                          <a:latin typeface="STIX Two Text"/>
                          <a:cs typeface="STIX Two Text"/>
                        </a:rPr>
                        <a:t>&lt;</a:t>
                      </a:r>
                      <a:r>
                        <a:rPr sz="1200" i="1" spc="-7" baseline="-20833" dirty="0">
                          <a:latin typeface="STIX Two Text"/>
                          <a:cs typeface="STIX Two Text"/>
                        </a:rPr>
                        <a:t> </a:t>
                      </a:r>
                      <a:r>
                        <a:rPr sz="1200" spc="-15" baseline="-20833" dirty="0">
                          <a:latin typeface="Arial"/>
                          <a:cs typeface="Arial"/>
                        </a:rPr>
                        <a:t>10</a:t>
                      </a:r>
                      <a:r>
                        <a:rPr sz="600" i="1" spc="-10" dirty="0">
                          <a:latin typeface="Menlo"/>
                          <a:cs typeface="Menlo"/>
                        </a:rPr>
                        <a:t>−</a:t>
                      </a:r>
                      <a:r>
                        <a:rPr sz="600" spc="-10" dirty="0">
                          <a:latin typeface="Arial"/>
                          <a:cs typeface="Arial"/>
                        </a:rPr>
                        <a:t>11</a:t>
                      </a:r>
                      <a:endParaRPr sz="6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vMerge="1">
                  <a:txBody>
                    <a:bodyPr/>
                    <a:lstStyle/>
                    <a:p>
                      <a:endParaRPr/>
                    </a:p>
                  </a:txBody>
                  <a:tcPr marL="0" marR="0" marT="0" marB="0">
                    <a:lnL w="6350">
                      <a:solidFill>
                        <a:srgbClr val="000000"/>
                      </a:solidFill>
                      <a:prstDash val="solid"/>
                    </a:lnL>
                    <a:lnR w="6350">
                      <a:solidFill>
                        <a:srgbClr val="000000"/>
                      </a:solidFill>
                      <a:prstDash val="solid"/>
                    </a:lnR>
                  </a:tcPr>
                </a:tc>
                <a:tc>
                  <a:txBody>
                    <a:bodyPr/>
                    <a:lstStyle/>
                    <a:p>
                      <a:pPr marL="93345">
                        <a:lnSpc>
                          <a:spcPct val="100000"/>
                        </a:lnSpc>
                        <a:spcBef>
                          <a:spcPts val="20"/>
                        </a:spcBef>
                      </a:pPr>
                      <a:r>
                        <a:rPr sz="800" dirty="0">
                          <a:latin typeface="Arial"/>
                          <a:cs typeface="Arial"/>
                        </a:rPr>
                        <a:t>8</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93345">
                        <a:lnSpc>
                          <a:spcPct val="100000"/>
                        </a:lnSpc>
                        <a:spcBef>
                          <a:spcPts val="20"/>
                        </a:spcBef>
                      </a:pPr>
                      <a:r>
                        <a:rPr sz="800" dirty="0">
                          <a:latin typeface="Arial"/>
                          <a:cs typeface="Arial"/>
                        </a:rPr>
                        <a:t>6</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20"/>
                        </a:spcBef>
                      </a:pPr>
                      <a:r>
                        <a:rPr sz="800" dirty="0">
                          <a:latin typeface="Arial"/>
                          <a:cs typeface="Arial"/>
                        </a:rPr>
                        <a:t>30</a:t>
                      </a:r>
                      <a:r>
                        <a:rPr sz="800" spc="-15" dirty="0">
                          <a:latin typeface="Arial"/>
                          <a:cs typeface="Arial"/>
                        </a:rPr>
                        <a:t> </a:t>
                      </a:r>
                      <a:r>
                        <a:rPr sz="800" spc="-10" dirty="0">
                          <a:latin typeface="Arial"/>
                          <a:cs typeface="Arial"/>
                        </a:rPr>
                        <a:t>sec/hour</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18745">
                        <a:lnSpc>
                          <a:spcPct val="100000"/>
                        </a:lnSpc>
                        <a:spcBef>
                          <a:spcPts val="20"/>
                        </a:spcBef>
                      </a:pPr>
                      <a:r>
                        <a:rPr sz="800" i="1" spc="55" dirty="0">
                          <a:latin typeface="STIX Two Text"/>
                          <a:cs typeface="STIX Two Text"/>
                        </a:rPr>
                        <a:t>&lt;</a:t>
                      </a:r>
                      <a:r>
                        <a:rPr sz="800" i="1" spc="-5" dirty="0">
                          <a:latin typeface="STIX Two Text"/>
                          <a:cs typeface="STIX Two Text"/>
                        </a:rPr>
                        <a:t> </a:t>
                      </a:r>
                      <a:r>
                        <a:rPr sz="800" spc="-20" dirty="0">
                          <a:latin typeface="Arial"/>
                          <a:cs typeface="Arial"/>
                        </a:rPr>
                        <a:t>10</a:t>
                      </a:r>
                      <a:r>
                        <a:rPr sz="900" i="1" spc="-30" baseline="27777" dirty="0">
                          <a:latin typeface="Menlo"/>
                          <a:cs typeface="Menlo"/>
                        </a:rPr>
                        <a:t>−</a:t>
                      </a:r>
                      <a:r>
                        <a:rPr sz="900" spc="-30" baseline="27777" dirty="0">
                          <a:latin typeface="Arial"/>
                          <a:cs typeface="Arial"/>
                        </a:rPr>
                        <a:t>7</a:t>
                      </a:r>
                      <a:endParaRPr sz="900" baseline="27777">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150495">
                <a:tc>
                  <a:txBody>
                    <a:bodyPr/>
                    <a:lstStyle/>
                    <a:p>
                      <a:pPr algn="ctr">
                        <a:lnSpc>
                          <a:spcPct val="100000"/>
                        </a:lnSpc>
                        <a:spcBef>
                          <a:spcPts val="20"/>
                        </a:spcBef>
                      </a:pPr>
                      <a:r>
                        <a:rPr sz="800" spc="-25" dirty="0">
                          <a:latin typeface="Arial"/>
                          <a:cs typeface="Arial"/>
                        </a:rPr>
                        <a:t>16</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93345">
                        <a:lnSpc>
                          <a:spcPct val="100000"/>
                        </a:lnSpc>
                        <a:spcBef>
                          <a:spcPts val="20"/>
                        </a:spcBef>
                      </a:pPr>
                      <a:r>
                        <a:rPr sz="800" dirty="0">
                          <a:latin typeface="Arial"/>
                          <a:cs typeface="Arial"/>
                        </a:rPr>
                        <a:t>9</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20"/>
                        </a:spcBef>
                      </a:pPr>
                      <a:r>
                        <a:rPr sz="800" dirty="0">
                          <a:latin typeface="Arial"/>
                          <a:cs typeface="Arial"/>
                        </a:rPr>
                        <a:t>3</a:t>
                      </a:r>
                      <a:r>
                        <a:rPr sz="800" spc="-10" dirty="0">
                          <a:latin typeface="Arial"/>
                          <a:cs typeface="Arial"/>
                        </a:rPr>
                        <a:t> sec/hour</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20"/>
                        </a:spcBef>
                      </a:pPr>
                      <a:r>
                        <a:rPr sz="800" i="1" spc="55" dirty="0">
                          <a:latin typeface="STIX Two Text"/>
                          <a:cs typeface="STIX Two Text"/>
                        </a:rPr>
                        <a:t>&lt;</a:t>
                      </a:r>
                      <a:r>
                        <a:rPr sz="800" i="1" spc="-5" dirty="0">
                          <a:latin typeface="STIX Two Text"/>
                          <a:cs typeface="STIX Two Text"/>
                        </a:rPr>
                        <a:t> </a:t>
                      </a:r>
                      <a:r>
                        <a:rPr sz="800" spc="-20" dirty="0">
                          <a:latin typeface="Arial"/>
                          <a:cs typeface="Arial"/>
                        </a:rPr>
                        <a:t>10</a:t>
                      </a:r>
                      <a:r>
                        <a:rPr sz="900" i="1" spc="-30" baseline="27777" dirty="0">
                          <a:latin typeface="Menlo"/>
                          <a:cs typeface="Menlo"/>
                        </a:rPr>
                        <a:t>−</a:t>
                      </a:r>
                      <a:r>
                        <a:rPr sz="900" spc="-30" baseline="27777" dirty="0">
                          <a:latin typeface="Arial"/>
                          <a:cs typeface="Arial"/>
                        </a:rPr>
                        <a:t>4</a:t>
                      </a:r>
                      <a:endParaRPr sz="900" baseline="27777">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vMerge="1">
                  <a:txBody>
                    <a:bodyPr/>
                    <a:lstStyle/>
                    <a:p>
                      <a:endParaRPr/>
                    </a:p>
                  </a:txBody>
                  <a:tcPr marL="0" marR="0" marT="0" marB="0">
                    <a:lnL w="6350">
                      <a:solidFill>
                        <a:srgbClr val="000000"/>
                      </a:solidFill>
                      <a:prstDash val="solid"/>
                    </a:lnL>
                    <a:lnR w="6350">
                      <a:solidFill>
                        <a:srgbClr val="000000"/>
                      </a:solidFill>
                      <a:prstDash val="solid"/>
                    </a:lnR>
                  </a:tcPr>
                </a:tc>
                <a:tc>
                  <a:txBody>
                    <a:bodyPr/>
                    <a:lstStyle/>
                    <a:p>
                      <a:pPr marL="65405">
                        <a:lnSpc>
                          <a:spcPct val="100000"/>
                        </a:lnSpc>
                        <a:spcBef>
                          <a:spcPts val="20"/>
                        </a:spcBef>
                      </a:pPr>
                      <a:r>
                        <a:rPr sz="800" spc="-25" dirty="0">
                          <a:latin typeface="Arial"/>
                          <a:cs typeface="Arial"/>
                        </a:rPr>
                        <a:t>16</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93345">
                        <a:lnSpc>
                          <a:spcPct val="100000"/>
                        </a:lnSpc>
                        <a:spcBef>
                          <a:spcPts val="20"/>
                        </a:spcBef>
                      </a:pPr>
                      <a:r>
                        <a:rPr sz="800" dirty="0">
                          <a:latin typeface="Arial"/>
                          <a:cs typeface="Arial"/>
                        </a:rPr>
                        <a:t>9</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20"/>
                        </a:spcBef>
                      </a:pPr>
                      <a:r>
                        <a:rPr sz="800" dirty="0">
                          <a:latin typeface="Arial"/>
                          <a:cs typeface="Arial"/>
                        </a:rPr>
                        <a:t>30</a:t>
                      </a:r>
                      <a:r>
                        <a:rPr sz="800" spc="-15" dirty="0">
                          <a:latin typeface="Arial"/>
                          <a:cs typeface="Arial"/>
                        </a:rPr>
                        <a:t> </a:t>
                      </a:r>
                      <a:r>
                        <a:rPr sz="800" spc="-10" dirty="0">
                          <a:latin typeface="Arial"/>
                          <a:cs typeface="Arial"/>
                        </a:rPr>
                        <a:t>sec/hour</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18745">
                        <a:lnSpc>
                          <a:spcPct val="100000"/>
                        </a:lnSpc>
                        <a:spcBef>
                          <a:spcPts val="20"/>
                        </a:spcBef>
                      </a:pPr>
                      <a:r>
                        <a:rPr sz="800" i="1" spc="55" dirty="0">
                          <a:latin typeface="STIX Two Text"/>
                          <a:cs typeface="STIX Two Text"/>
                        </a:rPr>
                        <a:t>&lt;</a:t>
                      </a:r>
                      <a:r>
                        <a:rPr sz="800" i="1" spc="-5" dirty="0">
                          <a:latin typeface="STIX Two Text"/>
                          <a:cs typeface="STIX Two Text"/>
                        </a:rPr>
                        <a:t> </a:t>
                      </a:r>
                      <a:r>
                        <a:rPr sz="800" spc="-20" dirty="0">
                          <a:latin typeface="Arial"/>
                          <a:cs typeface="Arial"/>
                        </a:rPr>
                        <a:t>10</a:t>
                      </a:r>
                      <a:r>
                        <a:rPr sz="900" i="1" spc="-30" baseline="27777" dirty="0">
                          <a:latin typeface="Menlo"/>
                          <a:cs typeface="Menlo"/>
                        </a:rPr>
                        <a:t>−</a:t>
                      </a:r>
                      <a:r>
                        <a:rPr sz="900" spc="-30" baseline="27777" dirty="0">
                          <a:latin typeface="Arial"/>
                          <a:cs typeface="Arial"/>
                        </a:rPr>
                        <a:t>2</a:t>
                      </a:r>
                      <a:endParaRPr sz="900" baseline="27777">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150495">
                <a:tc>
                  <a:txBody>
                    <a:bodyPr/>
                    <a:lstStyle/>
                    <a:p>
                      <a:pPr algn="ctr">
                        <a:lnSpc>
                          <a:spcPct val="100000"/>
                        </a:lnSpc>
                        <a:spcBef>
                          <a:spcPts val="20"/>
                        </a:spcBef>
                      </a:pPr>
                      <a:r>
                        <a:rPr sz="800" spc="-25" dirty="0">
                          <a:latin typeface="Arial"/>
                          <a:cs typeface="Arial"/>
                        </a:rPr>
                        <a:t>16</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5405">
                        <a:lnSpc>
                          <a:spcPct val="100000"/>
                        </a:lnSpc>
                        <a:spcBef>
                          <a:spcPts val="20"/>
                        </a:spcBef>
                      </a:pPr>
                      <a:r>
                        <a:rPr sz="800" spc="-25" dirty="0">
                          <a:latin typeface="Arial"/>
                          <a:cs typeface="Arial"/>
                        </a:rPr>
                        <a:t>12</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20"/>
                        </a:spcBef>
                      </a:pPr>
                      <a:r>
                        <a:rPr sz="800" dirty="0">
                          <a:latin typeface="Arial"/>
                          <a:cs typeface="Arial"/>
                        </a:rPr>
                        <a:t>3</a:t>
                      </a:r>
                      <a:r>
                        <a:rPr sz="800" spc="-10" dirty="0">
                          <a:latin typeface="Arial"/>
                          <a:cs typeface="Arial"/>
                        </a:rPr>
                        <a:t> sec/hour</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690"/>
                        </a:lnSpc>
                      </a:pPr>
                      <a:r>
                        <a:rPr sz="1200" i="1" spc="82" baseline="-20833" dirty="0">
                          <a:latin typeface="STIX Two Text"/>
                          <a:cs typeface="STIX Two Text"/>
                        </a:rPr>
                        <a:t>&lt;</a:t>
                      </a:r>
                      <a:r>
                        <a:rPr sz="1200" i="1" spc="-7" baseline="-20833" dirty="0">
                          <a:latin typeface="STIX Two Text"/>
                          <a:cs typeface="STIX Two Text"/>
                        </a:rPr>
                        <a:t> </a:t>
                      </a:r>
                      <a:r>
                        <a:rPr sz="1200" spc="-15" baseline="-20833" dirty="0">
                          <a:latin typeface="Arial"/>
                          <a:cs typeface="Arial"/>
                        </a:rPr>
                        <a:t>10</a:t>
                      </a:r>
                      <a:r>
                        <a:rPr sz="600" i="1" spc="-10" dirty="0">
                          <a:latin typeface="Menlo"/>
                          <a:cs typeface="Menlo"/>
                        </a:rPr>
                        <a:t>−</a:t>
                      </a:r>
                      <a:r>
                        <a:rPr sz="600" spc="-10" dirty="0">
                          <a:latin typeface="Arial"/>
                          <a:cs typeface="Arial"/>
                        </a:rPr>
                        <a:t>21</a:t>
                      </a:r>
                      <a:endParaRPr sz="6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vMerge="1">
                  <a:txBody>
                    <a:bodyPr/>
                    <a:lstStyle/>
                    <a:p>
                      <a:endParaRPr/>
                    </a:p>
                  </a:txBody>
                  <a:tcPr marL="0" marR="0" marT="0" marB="0">
                    <a:lnL w="6350">
                      <a:solidFill>
                        <a:srgbClr val="000000"/>
                      </a:solidFill>
                      <a:prstDash val="solid"/>
                    </a:lnL>
                    <a:lnR w="6350">
                      <a:solidFill>
                        <a:srgbClr val="000000"/>
                      </a:solidFill>
                      <a:prstDash val="solid"/>
                    </a:lnR>
                  </a:tcPr>
                </a:tc>
                <a:tc>
                  <a:txBody>
                    <a:bodyPr/>
                    <a:lstStyle/>
                    <a:p>
                      <a:pPr marL="65405">
                        <a:lnSpc>
                          <a:spcPct val="100000"/>
                        </a:lnSpc>
                        <a:spcBef>
                          <a:spcPts val="20"/>
                        </a:spcBef>
                      </a:pPr>
                      <a:r>
                        <a:rPr sz="800" spc="-25" dirty="0">
                          <a:latin typeface="Arial"/>
                          <a:cs typeface="Arial"/>
                        </a:rPr>
                        <a:t>16</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5405">
                        <a:lnSpc>
                          <a:spcPct val="100000"/>
                        </a:lnSpc>
                        <a:spcBef>
                          <a:spcPts val="20"/>
                        </a:spcBef>
                      </a:pPr>
                      <a:r>
                        <a:rPr sz="800" spc="-25" dirty="0">
                          <a:latin typeface="Arial"/>
                          <a:cs typeface="Arial"/>
                        </a:rPr>
                        <a:t>12</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20"/>
                        </a:spcBef>
                      </a:pPr>
                      <a:r>
                        <a:rPr sz="800" dirty="0">
                          <a:latin typeface="Arial"/>
                          <a:cs typeface="Arial"/>
                        </a:rPr>
                        <a:t>30</a:t>
                      </a:r>
                      <a:r>
                        <a:rPr sz="800" spc="-15" dirty="0">
                          <a:latin typeface="Arial"/>
                          <a:cs typeface="Arial"/>
                        </a:rPr>
                        <a:t> </a:t>
                      </a:r>
                      <a:r>
                        <a:rPr sz="800" spc="-10" dirty="0">
                          <a:latin typeface="Arial"/>
                          <a:cs typeface="Arial"/>
                        </a:rPr>
                        <a:t>sec/hour</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97790">
                        <a:lnSpc>
                          <a:spcPts val="690"/>
                        </a:lnSpc>
                      </a:pPr>
                      <a:r>
                        <a:rPr sz="1200" i="1" spc="82" baseline="-20833" dirty="0">
                          <a:latin typeface="STIX Two Text"/>
                          <a:cs typeface="STIX Two Text"/>
                        </a:rPr>
                        <a:t>&lt;</a:t>
                      </a:r>
                      <a:r>
                        <a:rPr sz="1200" i="1" spc="-7" baseline="-20833" dirty="0">
                          <a:latin typeface="STIX Two Text"/>
                          <a:cs typeface="STIX Two Text"/>
                        </a:rPr>
                        <a:t> </a:t>
                      </a:r>
                      <a:r>
                        <a:rPr sz="1200" spc="-15" baseline="-20833" dirty="0">
                          <a:latin typeface="Arial"/>
                          <a:cs typeface="Arial"/>
                        </a:rPr>
                        <a:t>10</a:t>
                      </a:r>
                      <a:r>
                        <a:rPr sz="600" i="1" spc="-10" dirty="0">
                          <a:latin typeface="Menlo"/>
                          <a:cs typeface="Menlo"/>
                        </a:rPr>
                        <a:t>−</a:t>
                      </a:r>
                      <a:r>
                        <a:rPr sz="600" spc="-10" dirty="0">
                          <a:latin typeface="Arial"/>
                          <a:cs typeface="Arial"/>
                        </a:rPr>
                        <a:t>13</a:t>
                      </a:r>
                      <a:endParaRPr sz="6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150495">
                <a:tc>
                  <a:txBody>
                    <a:bodyPr/>
                    <a:lstStyle/>
                    <a:p>
                      <a:pPr algn="ctr">
                        <a:lnSpc>
                          <a:spcPct val="100000"/>
                        </a:lnSpc>
                        <a:spcBef>
                          <a:spcPts val="20"/>
                        </a:spcBef>
                      </a:pPr>
                      <a:r>
                        <a:rPr sz="800" spc="-25" dirty="0">
                          <a:latin typeface="Arial"/>
                          <a:cs typeface="Arial"/>
                        </a:rPr>
                        <a:t>32</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5405">
                        <a:lnSpc>
                          <a:spcPct val="100000"/>
                        </a:lnSpc>
                        <a:spcBef>
                          <a:spcPts val="20"/>
                        </a:spcBef>
                      </a:pPr>
                      <a:r>
                        <a:rPr sz="800" spc="-25" dirty="0">
                          <a:latin typeface="Arial"/>
                          <a:cs typeface="Arial"/>
                        </a:rPr>
                        <a:t>17</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20"/>
                        </a:spcBef>
                      </a:pPr>
                      <a:r>
                        <a:rPr sz="800" dirty="0">
                          <a:latin typeface="Arial"/>
                          <a:cs typeface="Arial"/>
                        </a:rPr>
                        <a:t>3</a:t>
                      </a:r>
                      <a:r>
                        <a:rPr sz="800" spc="-10" dirty="0">
                          <a:latin typeface="Arial"/>
                          <a:cs typeface="Arial"/>
                        </a:rPr>
                        <a:t> sec/hour</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20"/>
                        </a:spcBef>
                      </a:pPr>
                      <a:r>
                        <a:rPr sz="800" i="1" spc="55" dirty="0">
                          <a:latin typeface="STIX Two Text"/>
                          <a:cs typeface="STIX Two Text"/>
                        </a:rPr>
                        <a:t>&lt;</a:t>
                      </a:r>
                      <a:r>
                        <a:rPr sz="800" i="1" spc="-5" dirty="0">
                          <a:latin typeface="STIX Two Text"/>
                          <a:cs typeface="STIX Two Text"/>
                        </a:rPr>
                        <a:t> </a:t>
                      </a:r>
                      <a:r>
                        <a:rPr sz="800" spc="-20" dirty="0">
                          <a:latin typeface="Arial"/>
                          <a:cs typeface="Arial"/>
                        </a:rPr>
                        <a:t>10</a:t>
                      </a:r>
                      <a:r>
                        <a:rPr sz="900" i="1" spc="-30" baseline="27777" dirty="0">
                          <a:latin typeface="Menlo"/>
                          <a:cs typeface="Menlo"/>
                        </a:rPr>
                        <a:t>−</a:t>
                      </a:r>
                      <a:r>
                        <a:rPr sz="900" spc="-30" baseline="27777" dirty="0">
                          <a:latin typeface="Arial"/>
                          <a:cs typeface="Arial"/>
                        </a:rPr>
                        <a:t>4</a:t>
                      </a:r>
                      <a:endParaRPr sz="900" baseline="27777">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vMerge="1">
                  <a:txBody>
                    <a:bodyPr/>
                    <a:lstStyle/>
                    <a:p>
                      <a:endParaRPr/>
                    </a:p>
                  </a:txBody>
                  <a:tcPr marL="0" marR="0" marT="0" marB="0">
                    <a:lnL w="6350">
                      <a:solidFill>
                        <a:srgbClr val="000000"/>
                      </a:solidFill>
                      <a:prstDash val="solid"/>
                    </a:lnL>
                    <a:lnR w="6350">
                      <a:solidFill>
                        <a:srgbClr val="000000"/>
                      </a:solidFill>
                      <a:prstDash val="solid"/>
                    </a:lnR>
                  </a:tcPr>
                </a:tc>
                <a:tc>
                  <a:txBody>
                    <a:bodyPr/>
                    <a:lstStyle/>
                    <a:p>
                      <a:pPr marL="65405">
                        <a:lnSpc>
                          <a:spcPct val="100000"/>
                        </a:lnSpc>
                        <a:spcBef>
                          <a:spcPts val="20"/>
                        </a:spcBef>
                      </a:pPr>
                      <a:r>
                        <a:rPr sz="800" spc="-25" dirty="0">
                          <a:latin typeface="Arial"/>
                          <a:cs typeface="Arial"/>
                        </a:rPr>
                        <a:t>32</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5405">
                        <a:lnSpc>
                          <a:spcPct val="100000"/>
                        </a:lnSpc>
                        <a:spcBef>
                          <a:spcPts val="20"/>
                        </a:spcBef>
                      </a:pPr>
                      <a:r>
                        <a:rPr sz="800" spc="-25" dirty="0">
                          <a:latin typeface="Arial"/>
                          <a:cs typeface="Arial"/>
                        </a:rPr>
                        <a:t>17</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20"/>
                        </a:spcBef>
                      </a:pPr>
                      <a:r>
                        <a:rPr sz="800" dirty="0">
                          <a:latin typeface="Arial"/>
                          <a:cs typeface="Arial"/>
                        </a:rPr>
                        <a:t>30</a:t>
                      </a:r>
                      <a:r>
                        <a:rPr sz="800" spc="-15" dirty="0">
                          <a:latin typeface="Arial"/>
                          <a:cs typeface="Arial"/>
                        </a:rPr>
                        <a:t> </a:t>
                      </a:r>
                      <a:r>
                        <a:rPr sz="800" spc="-10" dirty="0">
                          <a:latin typeface="Arial"/>
                          <a:cs typeface="Arial"/>
                        </a:rPr>
                        <a:t>sec/hour</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18745">
                        <a:lnSpc>
                          <a:spcPct val="100000"/>
                        </a:lnSpc>
                        <a:spcBef>
                          <a:spcPts val="20"/>
                        </a:spcBef>
                      </a:pPr>
                      <a:r>
                        <a:rPr sz="800" i="1" spc="55" dirty="0">
                          <a:latin typeface="STIX Two Text"/>
                          <a:cs typeface="STIX Two Text"/>
                        </a:rPr>
                        <a:t>&lt;</a:t>
                      </a:r>
                      <a:r>
                        <a:rPr sz="800" i="1" spc="-5" dirty="0">
                          <a:latin typeface="STIX Two Text"/>
                          <a:cs typeface="STIX Two Text"/>
                        </a:rPr>
                        <a:t> </a:t>
                      </a:r>
                      <a:r>
                        <a:rPr sz="800" spc="-20" dirty="0">
                          <a:latin typeface="Arial"/>
                          <a:cs typeface="Arial"/>
                        </a:rPr>
                        <a:t>10</a:t>
                      </a:r>
                      <a:r>
                        <a:rPr sz="900" i="1" spc="-30" baseline="27777" dirty="0">
                          <a:latin typeface="Menlo"/>
                          <a:cs typeface="Menlo"/>
                        </a:rPr>
                        <a:t>−</a:t>
                      </a:r>
                      <a:r>
                        <a:rPr sz="900" spc="-30" baseline="27777" dirty="0">
                          <a:latin typeface="Arial"/>
                          <a:cs typeface="Arial"/>
                        </a:rPr>
                        <a:t>2</a:t>
                      </a:r>
                      <a:endParaRPr sz="900" baseline="27777">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r h="150495">
                <a:tc>
                  <a:txBody>
                    <a:bodyPr/>
                    <a:lstStyle/>
                    <a:p>
                      <a:pPr algn="ctr">
                        <a:lnSpc>
                          <a:spcPct val="100000"/>
                        </a:lnSpc>
                        <a:spcBef>
                          <a:spcPts val="20"/>
                        </a:spcBef>
                      </a:pPr>
                      <a:r>
                        <a:rPr sz="800" spc="-25" dirty="0">
                          <a:latin typeface="Arial"/>
                          <a:cs typeface="Arial"/>
                        </a:rPr>
                        <a:t>32</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5405">
                        <a:lnSpc>
                          <a:spcPct val="100000"/>
                        </a:lnSpc>
                        <a:spcBef>
                          <a:spcPts val="20"/>
                        </a:spcBef>
                      </a:pPr>
                      <a:r>
                        <a:rPr sz="800" spc="-25" dirty="0">
                          <a:latin typeface="Arial"/>
                          <a:cs typeface="Arial"/>
                        </a:rPr>
                        <a:t>24</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20"/>
                        </a:spcBef>
                      </a:pPr>
                      <a:r>
                        <a:rPr sz="800" dirty="0">
                          <a:latin typeface="Arial"/>
                          <a:cs typeface="Arial"/>
                        </a:rPr>
                        <a:t>3</a:t>
                      </a:r>
                      <a:r>
                        <a:rPr sz="800" spc="-10" dirty="0">
                          <a:latin typeface="Arial"/>
                          <a:cs typeface="Arial"/>
                        </a:rPr>
                        <a:t> sec/hour</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690"/>
                        </a:lnSpc>
                      </a:pPr>
                      <a:r>
                        <a:rPr sz="1200" i="1" spc="82" baseline="-20833" dirty="0">
                          <a:latin typeface="STIX Two Text"/>
                          <a:cs typeface="STIX Two Text"/>
                        </a:rPr>
                        <a:t>&lt;</a:t>
                      </a:r>
                      <a:r>
                        <a:rPr sz="1200" i="1" spc="-7" baseline="-20833" dirty="0">
                          <a:latin typeface="STIX Two Text"/>
                          <a:cs typeface="STIX Two Text"/>
                        </a:rPr>
                        <a:t> </a:t>
                      </a:r>
                      <a:r>
                        <a:rPr sz="1200" spc="-15" baseline="-20833" dirty="0">
                          <a:latin typeface="Arial"/>
                          <a:cs typeface="Arial"/>
                        </a:rPr>
                        <a:t>10</a:t>
                      </a:r>
                      <a:r>
                        <a:rPr sz="600" i="1" spc="-10" dirty="0">
                          <a:latin typeface="Menlo"/>
                          <a:cs typeface="Menlo"/>
                        </a:rPr>
                        <a:t>−</a:t>
                      </a:r>
                      <a:r>
                        <a:rPr sz="600" spc="-10" dirty="0">
                          <a:latin typeface="Arial"/>
                          <a:cs typeface="Arial"/>
                        </a:rPr>
                        <a:t>43</a:t>
                      </a:r>
                      <a:endParaRPr sz="6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vMerge="1">
                  <a:txBody>
                    <a:bodyPr/>
                    <a:lstStyle/>
                    <a:p>
                      <a:endParaRPr/>
                    </a:p>
                  </a:txBody>
                  <a:tcPr marL="0" marR="0" marT="0" marB="0">
                    <a:lnL w="6350">
                      <a:solidFill>
                        <a:srgbClr val="000000"/>
                      </a:solidFill>
                      <a:prstDash val="solid"/>
                    </a:lnL>
                    <a:lnR w="6350">
                      <a:solidFill>
                        <a:srgbClr val="000000"/>
                      </a:solidFill>
                      <a:prstDash val="solid"/>
                    </a:lnR>
                  </a:tcPr>
                </a:tc>
                <a:tc>
                  <a:txBody>
                    <a:bodyPr/>
                    <a:lstStyle/>
                    <a:p>
                      <a:pPr marL="65405">
                        <a:lnSpc>
                          <a:spcPct val="100000"/>
                        </a:lnSpc>
                        <a:spcBef>
                          <a:spcPts val="20"/>
                        </a:spcBef>
                      </a:pPr>
                      <a:r>
                        <a:rPr sz="800" spc="-25" dirty="0">
                          <a:latin typeface="Arial"/>
                          <a:cs typeface="Arial"/>
                        </a:rPr>
                        <a:t>32</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5405">
                        <a:lnSpc>
                          <a:spcPct val="100000"/>
                        </a:lnSpc>
                        <a:spcBef>
                          <a:spcPts val="20"/>
                        </a:spcBef>
                      </a:pPr>
                      <a:r>
                        <a:rPr sz="800" spc="-25" dirty="0">
                          <a:latin typeface="Arial"/>
                          <a:cs typeface="Arial"/>
                        </a:rPr>
                        <a:t>24</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20"/>
                        </a:spcBef>
                      </a:pPr>
                      <a:r>
                        <a:rPr sz="800" dirty="0">
                          <a:latin typeface="Arial"/>
                          <a:cs typeface="Arial"/>
                        </a:rPr>
                        <a:t>30</a:t>
                      </a:r>
                      <a:r>
                        <a:rPr sz="800" spc="-15" dirty="0">
                          <a:latin typeface="Arial"/>
                          <a:cs typeface="Arial"/>
                        </a:rPr>
                        <a:t> </a:t>
                      </a:r>
                      <a:r>
                        <a:rPr sz="800" spc="-10" dirty="0">
                          <a:latin typeface="Arial"/>
                          <a:cs typeface="Arial"/>
                        </a:rPr>
                        <a:t>sec/hour</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97790">
                        <a:lnSpc>
                          <a:spcPts val="690"/>
                        </a:lnSpc>
                      </a:pPr>
                      <a:r>
                        <a:rPr sz="1200" i="1" spc="82" baseline="-20833" dirty="0">
                          <a:latin typeface="STIX Two Text"/>
                          <a:cs typeface="STIX Two Text"/>
                        </a:rPr>
                        <a:t>&lt;</a:t>
                      </a:r>
                      <a:r>
                        <a:rPr sz="1200" i="1" spc="-7" baseline="-20833" dirty="0">
                          <a:latin typeface="STIX Two Text"/>
                          <a:cs typeface="STIX Two Text"/>
                        </a:rPr>
                        <a:t> </a:t>
                      </a:r>
                      <a:r>
                        <a:rPr sz="1200" spc="-15" baseline="-20833" dirty="0">
                          <a:latin typeface="Arial"/>
                          <a:cs typeface="Arial"/>
                        </a:rPr>
                        <a:t>10</a:t>
                      </a:r>
                      <a:r>
                        <a:rPr sz="600" i="1" spc="-10" dirty="0">
                          <a:latin typeface="Menlo"/>
                          <a:cs typeface="Menlo"/>
                        </a:rPr>
                        <a:t>−</a:t>
                      </a:r>
                      <a:r>
                        <a:rPr sz="600" spc="-10" dirty="0">
                          <a:latin typeface="Arial"/>
                          <a:cs typeface="Arial"/>
                        </a:rPr>
                        <a:t>27</a:t>
                      </a:r>
                      <a:endParaRPr sz="6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6"/>
                  </a:ext>
                </a:extLst>
              </a:tr>
            </a:tbl>
          </a:graphicData>
        </a:graphic>
      </p:graphicFrame>
      <p:sp>
        <p:nvSpPr>
          <p:cNvPr id="7" name="object 7"/>
          <p:cNvSpPr txBox="1"/>
          <p:nvPr/>
        </p:nvSpPr>
        <p:spPr>
          <a:xfrm>
            <a:off x="341947" y="2152683"/>
            <a:ext cx="1233170" cy="343535"/>
          </a:xfrm>
          <a:prstGeom prst="rect">
            <a:avLst/>
          </a:prstGeom>
        </p:spPr>
        <p:txBody>
          <a:bodyPr vert="horz" wrap="square" lIns="0" tIns="27305" rIns="0" bIns="0" rtlCol="0">
            <a:spAutoFit/>
          </a:bodyPr>
          <a:lstStyle/>
          <a:p>
            <a:pPr marL="17780">
              <a:lnSpc>
                <a:spcPct val="100000"/>
              </a:lnSpc>
              <a:spcBef>
                <a:spcPts val="215"/>
              </a:spcBef>
            </a:pPr>
            <a:r>
              <a:rPr sz="1000" spc="-10" dirty="0">
                <a:solidFill>
                  <a:srgbClr val="C80000"/>
                </a:solidFill>
                <a:latin typeface="Arial"/>
                <a:cs typeface="Arial"/>
              </a:rPr>
              <a:t>So....</a:t>
            </a:r>
            <a:endParaRPr sz="1000">
              <a:latin typeface="Arial"/>
              <a:cs typeface="Arial"/>
            </a:endParaRPr>
          </a:p>
          <a:p>
            <a:pPr marL="12700">
              <a:lnSpc>
                <a:spcPct val="100000"/>
              </a:lnSpc>
              <a:spcBef>
                <a:spcPts val="105"/>
              </a:spcBef>
            </a:pPr>
            <a:r>
              <a:rPr sz="900" dirty="0">
                <a:latin typeface="Arial"/>
                <a:cs typeface="Arial"/>
              </a:rPr>
              <a:t>What</a:t>
            </a:r>
            <a:r>
              <a:rPr sz="900" spc="-25" dirty="0">
                <a:latin typeface="Arial"/>
                <a:cs typeface="Arial"/>
              </a:rPr>
              <a:t> </a:t>
            </a:r>
            <a:r>
              <a:rPr sz="900" dirty="0">
                <a:latin typeface="Arial"/>
                <a:cs typeface="Arial"/>
              </a:rPr>
              <a:t>can</a:t>
            </a:r>
            <a:r>
              <a:rPr sz="900" spc="-25" dirty="0">
                <a:latin typeface="Arial"/>
                <a:cs typeface="Arial"/>
              </a:rPr>
              <a:t> </a:t>
            </a:r>
            <a:r>
              <a:rPr sz="900" dirty="0">
                <a:latin typeface="Arial"/>
                <a:cs typeface="Arial"/>
              </a:rPr>
              <a:t>we</a:t>
            </a:r>
            <a:r>
              <a:rPr sz="900" spc="-25" dirty="0">
                <a:latin typeface="Arial"/>
                <a:cs typeface="Arial"/>
              </a:rPr>
              <a:t> </a:t>
            </a:r>
            <a:r>
              <a:rPr sz="900" spc="-10" dirty="0">
                <a:latin typeface="Arial"/>
                <a:cs typeface="Arial"/>
              </a:rPr>
              <a:t>conclude?</a:t>
            </a:r>
            <a:endParaRPr sz="900">
              <a:latin typeface="Arial"/>
              <a:cs typeface="Arial"/>
            </a:endParaRPr>
          </a:p>
        </p:txBody>
      </p:sp>
      <p:grpSp>
        <p:nvGrpSpPr>
          <p:cNvPr id="8" name="object 8"/>
          <p:cNvGrpSpPr/>
          <p:nvPr/>
        </p:nvGrpSpPr>
        <p:grpSpPr>
          <a:xfrm>
            <a:off x="0" y="3348469"/>
            <a:ext cx="4608195" cy="107950"/>
            <a:chOff x="0" y="3348469"/>
            <a:chExt cx="4608195" cy="107950"/>
          </a:xfrm>
        </p:grpSpPr>
        <p:sp>
          <p:nvSpPr>
            <p:cNvPr id="9" name="object 9"/>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0" name="object 10"/>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1" name="object 11"/>
          <p:cNvSpPr txBox="1"/>
          <p:nvPr/>
        </p:nvSpPr>
        <p:spPr>
          <a:xfrm>
            <a:off x="53467" y="3349927"/>
            <a:ext cx="73850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A</a:t>
            </a:r>
            <a:r>
              <a:rPr sz="500" spc="35" dirty="0">
                <a:latin typeface="Arial"/>
                <a:cs typeface="Arial"/>
                <a:hlinkClick r:id="rId4" action="ppaction://hlinksldjump"/>
              </a:rPr>
              <a:t> </a:t>
            </a:r>
            <a:r>
              <a:rPr sz="500" spc="-10" dirty="0">
                <a:latin typeface="Arial"/>
                <a:cs typeface="Arial"/>
                <a:hlinkClick r:id="rId4" action="ppaction://hlinksldjump"/>
              </a:rPr>
              <a:t>decentralized</a:t>
            </a:r>
            <a:r>
              <a:rPr sz="500" spc="35" dirty="0">
                <a:latin typeface="Arial"/>
                <a:cs typeface="Arial"/>
                <a:hlinkClick r:id="rId4" action="ppaction://hlinksldjump"/>
              </a:rPr>
              <a:t> </a:t>
            </a:r>
            <a:r>
              <a:rPr sz="500" spc="-10" dirty="0">
                <a:latin typeface="Arial"/>
                <a:cs typeface="Arial"/>
                <a:hlinkClick r:id="rId4" action="ppaction://hlinksldjump"/>
              </a:rPr>
              <a:t>algorithm</a:t>
            </a:r>
            <a:endParaRPr sz="500">
              <a:latin typeface="Arial"/>
              <a:cs typeface="Arial"/>
            </a:endParaRPr>
          </a:p>
        </p:txBody>
      </p:sp>
    </p:spTree>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8417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Coordination</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059910" y="-1515"/>
            <a:ext cx="49466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Mutual</a:t>
            </a:r>
            <a:r>
              <a:rPr sz="500" spc="-30"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exclusion</a:t>
            </a:r>
            <a:endParaRPr sz="500">
              <a:latin typeface="Arial"/>
              <a:cs typeface="Arial"/>
            </a:endParaRPr>
          </a:p>
        </p:txBody>
      </p:sp>
      <p:sp>
        <p:nvSpPr>
          <p:cNvPr id="5" name="object 5"/>
          <p:cNvSpPr txBox="1"/>
          <p:nvPr/>
        </p:nvSpPr>
        <p:spPr>
          <a:xfrm>
            <a:off x="95300" y="197711"/>
            <a:ext cx="2033270" cy="20764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Mutual</a:t>
            </a:r>
            <a:r>
              <a:rPr sz="1200" spc="-65" dirty="0">
                <a:solidFill>
                  <a:srgbClr val="3333B2"/>
                </a:solidFill>
                <a:latin typeface="Arial"/>
                <a:cs typeface="Arial"/>
              </a:rPr>
              <a:t> </a:t>
            </a:r>
            <a:r>
              <a:rPr sz="1200" dirty="0">
                <a:solidFill>
                  <a:srgbClr val="3333B2"/>
                </a:solidFill>
                <a:latin typeface="Arial"/>
                <a:cs typeface="Arial"/>
              </a:rPr>
              <a:t>exclusion:</a:t>
            </a:r>
            <a:r>
              <a:rPr sz="1200" spc="5" dirty="0">
                <a:solidFill>
                  <a:srgbClr val="3333B2"/>
                </a:solidFill>
                <a:latin typeface="Arial"/>
                <a:cs typeface="Arial"/>
              </a:rPr>
              <a:t> </a:t>
            </a:r>
            <a:r>
              <a:rPr sz="1200" spc="-10" dirty="0">
                <a:solidFill>
                  <a:srgbClr val="3333B2"/>
                </a:solidFill>
                <a:latin typeface="Arial"/>
                <a:cs typeface="Arial"/>
              </a:rPr>
              <a:t>comparison</a:t>
            </a:r>
            <a:endParaRPr sz="1200">
              <a:latin typeface="Arial"/>
              <a:cs typeface="Arial"/>
            </a:endParaRPr>
          </a:p>
        </p:txBody>
      </p:sp>
      <p:graphicFrame>
        <p:nvGraphicFramePr>
          <p:cNvPr id="6" name="object 6"/>
          <p:cNvGraphicFramePr>
            <a:graphicFrameLocks noGrp="1"/>
          </p:cNvGraphicFramePr>
          <p:nvPr/>
        </p:nvGraphicFramePr>
        <p:xfrm>
          <a:off x="545515" y="765632"/>
          <a:ext cx="3512185" cy="988695"/>
        </p:xfrm>
        <a:graphic>
          <a:graphicData uri="http://schemas.openxmlformats.org/drawingml/2006/table">
            <a:tbl>
              <a:tblPr firstRow="1" bandRow="1">
                <a:tableStyleId>{2D5ABB26-0587-4C30-8999-92F81FD0307C}</a:tableStyleId>
              </a:tblPr>
              <a:tblGrid>
                <a:gridCol w="773430">
                  <a:extLst>
                    <a:ext uri="{9D8B030D-6E8A-4147-A177-3AD203B41FA5}">
                      <a16:colId xmlns:a16="http://schemas.microsoft.com/office/drawing/2014/main" val="20000"/>
                    </a:ext>
                  </a:extLst>
                </a:gridCol>
                <a:gridCol w="1670685">
                  <a:extLst>
                    <a:ext uri="{9D8B030D-6E8A-4147-A177-3AD203B41FA5}">
                      <a16:colId xmlns:a16="http://schemas.microsoft.com/office/drawing/2014/main" val="20001"/>
                    </a:ext>
                  </a:extLst>
                </a:gridCol>
                <a:gridCol w="1068070">
                  <a:extLst>
                    <a:ext uri="{9D8B030D-6E8A-4147-A177-3AD203B41FA5}">
                      <a16:colId xmlns:a16="http://schemas.microsoft.com/office/drawing/2014/main" val="20002"/>
                    </a:ext>
                  </a:extLst>
                </a:gridCol>
              </a:tblGrid>
              <a:tr h="328930">
                <a:tc>
                  <a:txBody>
                    <a:bodyPr/>
                    <a:lstStyle/>
                    <a:p>
                      <a:pPr>
                        <a:lnSpc>
                          <a:spcPct val="100000"/>
                        </a:lnSpc>
                        <a:spcBef>
                          <a:spcPts val="20"/>
                        </a:spcBef>
                      </a:pPr>
                      <a:endParaRPr sz="1150">
                        <a:latin typeface="Times New Roman"/>
                        <a:cs typeface="Times New Roman"/>
                      </a:endParaRPr>
                    </a:p>
                    <a:p>
                      <a:pPr marL="78105">
                        <a:lnSpc>
                          <a:spcPct val="100000"/>
                        </a:lnSpc>
                      </a:pPr>
                      <a:r>
                        <a:rPr sz="800" b="1" spc="-10" dirty="0">
                          <a:latin typeface="Arial"/>
                          <a:cs typeface="Arial"/>
                        </a:rPr>
                        <a:t>Algorithm</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tc>
                  <a:txBody>
                    <a:bodyPr/>
                    <a:lstStyle/>
                    <a:p>
                      <a:pPr marL="78105">
                        <a:lnSpc>
                          <a:spcPct val="100000"/>
                        </a:lnSpc>
                        <a:spcBef>
                          <a:spcPts val="95"/>
                        </a:spcBef>
                      </a:pPr>
                      <a:r>
                        <a:rPr sz="800" b="1" dirty="0">
                          <a:latin typeface="Arial"/>
                          <a:cs typeface="Arial"/>
                        </a:rPr>
                        <a:t>Messages</a:t>
                      </a:r>
                      <a:r>
                        <a:rPr sz="800" b="1" spc="-50" dirty="0">
                          <a:latin typeface="Arial"/>
                          <a:cs typeface="Arial"/>
                        </a:rPr>
                        <a:t> </a:t>
                      </a:r>
                      <a:r>
                        <a:rPr sz="800" b="1" spc="-25" dirty="0">
                          <a:latin typeface="Arial"/>
                          <a:cs typeface="Arial"/>
                        </a:rPr>
                        <a:t>per</a:t>
                      </a:r>
                      <a:endParaRPr sz="800">
                        <a:latin typeface="Arial"/>
                        <a:cs typeface="Arial"/>
                      </a:endParaRPr>
                    </a:p>
                    <a:p>
                      <a:pPr marL="78105">
                        <a:lnSpc>
                          <a:spcPct val="100000"/>
                        </a:lnSpc>
                        <a:spcBef>
                          <a:spcPts val="285"/>
                        </a:spcBef>
                      </a:pPr>
                      <a:r>
                        <a:rPr sz="800" b="1" spc="-10" dirty="0">
                          <a:latin typeface="Arial"/>
                          <a:cs typeface="Arial"/>
                        </a:rPr>
                        <a:t>entry/exit</a:t>
                      </a:r>
                      <a:endParaRPr sz="800">
                        <a:latin typeface="Arial"/>
                        <a:cs typeface="Arial"/>
                      </a:endParaRPr>
                    </a:p>
                  </a:txBody>
                  <a:tcPr marL="0" marR="0" marT="12065"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tc>
                  <a:txBody>
                    <a:bodyPr/>
                    <a:lstStyle/>
                    <a:p>
                      <a:pPr marL="78105">
                        <a:lnSpc>
                          <a:spcPct val="100000"/>
                        </a:lnSpc>
                        <a:spcBef>
                          <a:spcPts val="95"/>
                        </a:spcBef>
                      </a:pPr>
                      <a:r>
                        <a:rPr sz="800" b="1" dirty="0">
                          <a:latin typeface="Arial"/>
                          <a:cs typeface="Arial"/>
                        </a:rPr>
                        <a:t>Delay</a:t>
                      </a:r>
                      <a:r>
                        <a:rPr sz="800" b="1" spc="-50" dirty="0">
                          <a:latin typeface="Arial"/>
                          <a:cs typeface="Arial"/>
                        </a:rPr>
                        <a:t> </a:t>
                      </a:r>
                      <a:r>
                        <a:rPr sz="800" b="1" dirty="0">
                          <a:latin typeface="Arial"/>
                          <a:cs typeface="Arial"/>
                        </a:rPr>
                        <a:t>before</a:t>
                      </a:r>
                      <a:r>
                        <a:rPr sz="800" b="1" spc="-50" dirty="0">
                          <a:latin typeface="Arial"/>
                          <a:cs typeface="Arial"/>
                        </a:rPr>
                        <a:t> </a:t>
                      </a:r>
                      <a:r>
                        <a:rPr sz="800" b="1" spc="-10" dirty="0">
                          <a:latin typeface="Arial"/>
                          <a:cs typeface="Arial"/>
                        </a:rPr>
                        <a:t>entry</a:t>
                      </a:r>
                      <a:endParaRPr sz="800">
                        <a:latin typeface="Arial"/>
                        <a:cs typeface="Arial"/>
                      </a:endParaRPr>
                    </a:p>
                    <a:p>
                      <a:pPr marL="78105">
                        <a:lnSpc>
                          <a:spcPct val="100000"/>
                        </a:lnSpc>
                        <a:spcBef>
                          <a:spcPts val="285"/>
                        </a:spcBef>
                      </a:pPr>
                      <a:r>
                        <a:rPr sz="800" b="1" dirty="0">
                          <a:latin typeface="Arial"/>
                          <a:cs typeface="Arial"/>
                        </a:rPr>
                        <a:t>(in</a:t>
                      </a:r>
                      <a:r>
                        <a:rPr sz="800" b="1" spc="-30" dirty="0">
                          <a:latin typeface="Arial"/>
                          <a:cs typeface="Arial"/>
                        </a:rPr>
                        <a:t> </a:t>
                      </a:r>
                      <a:r>
                        <a:rPr sz="800" b="1" dirty="0">
                          <a:latin typeface="Arial"/>
                          <a:cs typeface="Arial"/>
                        </a:rPr>
                        <a:t>message</a:t>
                      </a:r>
                      <a:r>
                        <a:rPr sz="800" b="1" spc="-30" dirty="0">
                          <a:latin typeface="Arial"/>
                          <a:cs typeface="Arial"/>
                        </a:rPr>
                        <a:t> </a:t>
                      </a:r>
                      <a:r>
                        <a:rPr sz="800" b="1" spc="-10" dirty="0">
                          <a:latin typeface="Arial"/>
                          <a:cs typeface="Arial"/>
                        </a:rPr>
                        <a:t>times)</a:t>
                      </a:r>
                      <a:endParaRPr sz="800">
                        <a:latin typeface="Arial"/>
                        <a:cs typeface="Arial"/>
                      </a:endParaRPr>
                    </a:p>
                  </a:txBody>
                  <a:tcPr marL="0" marR="0" marT="12065"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extLst>
                  <a:ext uri="{0D108BD9-81ED-4DB2-BD59-A6C34878D82A}">
                    <a16:rowId xmlns:a16="http://schemas.microsoft.com/office/drawing/2014/main" val="10000"/>
                  </a:ext>
                </a:extLst>
              </a:tr>
              <a:tr h="170180">
                <a:tc>
                  <a:txBody>
                    <a:bodyPr/>
                    <a:lstStyle/>
                    <a:p>
                      <a:pPr marL="78105">
                        <a:lnSpc>
                          <a:spcPct val="100000"/>
                        </a:lnSpc>
                        <a:spcBef>
                          <a:spcPts val="150"/>
                        </a:spcBef>
                      </a:pPr>
                      <a:r>
                        <a:rPr sz="800" spc="-10" dirty="0">
                          <a:latin typeface="Arial"/>
                          <a:cs typeface="Arial"/>
                        </a:rPr>
                        <a:t>Centralized</a:t>
                      </a:r>
                      <a:endParaRPr sz="800">
                        <a:latin typeface="Arial"/>
                        <a:cs typeface="Arial"/>
                      </a:endParaRPr>
                    </a:p>
                  </a:txBody>
                  <a:tcPr marL="0" marR="0" marT="19050"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tc>
                  <a:txBody>
                    <a:bodyPr/>
                    <a:lstStyle/>
                    <a:p>
                      <a:pPr marL="78105">
                        <a:lnSpc>
                          <a:spcPct val="100000"/>
                        </a:lnSpc>
                        <a:spcBef>
                          <a:spcPts val="150"/>
                        </a:spcBef>
                      </a:pPr>
                      <a:r>
                        <a:rPr sz="800" dirty="0">
                          <a:latin typeface="Arial"/>
                          <a:cs typeface="Arial"/>
                        </a:rPr>
                        <a:t>3</a:t>
                      </a:r>
                      <a:endParaRPr sz="800">
                        <a:latin typeface="Arial"/>
                        <a:cs typeface="Arial"/>
                      </a:endParaRPr>
                    </a:p>
                  </a:txBody>
                  <a:tcPr marL="0" marR="0" marT="19050"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tc>
                  <a:txBody>
                    <a:bodyPr/>
                    <a:lstStyle/>
                    <a:p>
                      <a:pPr marL="78105">
                        <a:lnSpc>
                          <a:spcPct val="100000"/>
                        </a:lnSpc>
                        <a:spcBef>
                          <a:spcPts val="150"/>
                        </a:spcBef>
                      </a:pPr>
                      <a:r>
                        <a:rPr sz="800" dirty="0">
                          <a:latin typeface="Arial"/>
                          <a:cs typeface="Arial"/>
                        </a:rPr>
                        <a:t>2</a:t>
                      </a:r>
                      <a:endParaRPr sz="800">
                        <a:latin typeface="Arial"/>
                        <a:cs typeface="Arial"/>
                      </a:endParaRPr>
                    </a:p>
                  </a:txBody>
                  <a:tcPr marL="0" marR="0" marT="19050"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163195">
                <a:tc>
                  <a:txBody>
                    <a:bodyPr/>
                    <a:lstStyle/>
                    <a:p>
                      <a:pPr marL="78105">
                        <a:lnSpc>
                          <a:spcPct val="100000"/>
                        </a:lnSpc>
                        <a:spcBef>
                          <a:spcPts val="95"/>
                        </a:spcBef>
                      </a:pPr>
                      <a:r>
                        <a:rPr sz="800" spc="-10" dirty="0">
                          <a:latin typeface="Arial"/>
                          <a:cs typeface="Arial"/>
                        </a:rPr>
                        <a:t>Distributed</a:t>
                      </a:r>
                      <a:endParaRPr sz="800">
                        <a:latin typeface="Arial"/>
                        <a:cs typeface="Arial"/>
                      </a:endParaRPr>
                    </a:p>
                  </a:txBody>
                  <a:tcPr marL="0" marR="0" marT="1206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ct val="100000"/>
                        </a:lnSpc>
                        <a:spcBef>
                          <a:spcPts val="95"/>
                        </a:spcBef>
                      </a:pPr>
                      <a:r>
                        <a:rPr sz="800" dirty="0">
                          <a:latin typeface="Arial"/>
                          <a:cs typeface="Arial"/>
                        </a:rPr>
                        <a:t>2(</a:t>
                      </a:r>
                      <a:r>
                        <a:rPr sz="800" i="1" dirty="0">
                          <a:latin typeface="Arial"/>
                          <a:cs typeface="Arial"/>
                        </a:rPr>
                        <a:t>N</a:t>
                      </a:r>
                      <a:r>
                        <a:rPr sz="800" i="1" spc="-25" dirty="0">
                          <a:latin typeface="Arial"/>
                          <a:cs typeface="Arial"/>
                        </a:rPr>
                        <a:t> </a:t>
                      </a:r>
                      <a:r>
                        <a:rPr sz="800" i="1" spc="130" dirty="0">
                          <a:latin typeface="Menlo"/>
                          <a:cs typeface="Menlo"/>
                        </a:rPr>
                        <a:t>−</a:t>
                      </a:r>
                      <a:r>
                        <a:rPr sz="800" i="1" spc="-350" dirty="0">
                          <a:latin typeface="Menlo"/>
                          <a:cs typeface="Menlo"/>
                        </a:rPr>
                        <a:t> </a:t>
                      </a:r>
                      <a:r>
                        <a:rPr sz="800" spc="-25" dirty="0">
                          <a:latin typeface="Arial"/>
                          <a:cs typeface="Arial"/>
                        </a:rPr>
                        <a:t>1)</a:t>
                      </a:r>
                      <a:endParaRPr sz="800">
                        <a:latin typeface="Arial"/>
                        <a:cs typeface="Arial"/>
                      </a:endParaRPr>
                    </a:p>
                  </a:txBody>
                  <a:tcPr marL="0" marR="0" marT="1206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ct val="100000"/>
                        </a:lnSpc>
                        <a:spcBef>
                          <a:spcPts val="95"/>
                        </a:spcBef>
                      </a:pPr>
                      <a:r>
                        <a:rPr sz="800" dirty="0">
                          <a:latin typeface="Arial"/>
                          <a:cs typeface="Arial"/>
                        </a:rPr>
                        <a:t>2(</a:t>
                      </a:r>
                      <a:r>
                        <a:rPr sz="800" i="1" dirty="0">
                          <a:latin typeface="Arial"/>
                          <a:cs typeface="Arial"/>
                        </a:rPr>
                        <a:t>N</a:t>
                      </a:r>
                      <a:r>
                        <a:rPr sz="800" i="1" spc="-25" dirty="0">
                          <a:latin typeface="Arial"/>
                          <a:cs typeface="Arial"/>
                        </a:rPr>
                        <a:t> </a:t>
                      </a:r>
                      <a:r>
                        <a:rPr sz="800" i="1" spc="130" dirty="0">
                          <a:latin typeface="Menlo"/>
                          <a:cs typeface="Menlo"/>
                        </a:rPr>
                        <a:t>−</a:t>
                      </a:r>
                      <a:r>
                        <a:rPr sz="800" i="1" spc="-350" dirty="0">
                          <a:latin typeface="Menlo"/>
                          <a:cs typeface="Menlo"/>
                        </a:rPr>
                        <a:t> </a:t>
                      </a:r>
                      <a:r>
                        <a:rPr sz="800" spc="-25" dirty="0">
                          <a:latin typeface="Arial"/>
                          <a:cs typeface="Arial"/>
                        </a:rPr>
                        <a:t>1)</a:t>
                      </a:r>
                      <a:endParaRPr sz="800">
                        <a:latin typeface="Arial"/>
                        <a:cs typeface="Arial"/>
                      </a:endParaRPr>
                    </a:p>
                  </a:txBody>
                  <a:tcPr marL="0" marR="0" marT="1206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163195">
                <a:tc>
                  <a:txBody>
                    <a:bodyPr/>
                    <a:lstStyle/>
                    <a:p>
                      <a:pPr marL="78105">
                        <a:lnSpc>
                          <a:spcPct val="100000"/>
                        </a:lnSpc>
                        <a:spcBef>
                          <a:spcPts val="95"/>
                        </a:spcBef>
                      </a:pPr>
                      <a:r>
                        <a:rPr sz="800" spc="-25" dirty="0">
                          <a:latin typeface="Arial"/>
                          <a:cs typeface="Arial"/>
                        </a:rPr>
                        <a:t>Token </a:t>
                      </a:r>
                      <a:r>
                        <a:rPr sz="800" spc="-20" dirty="0">
                          <a:latin typeface="Arial"/>
                          <a:cs typeface="Arial"/>
                        </a:rPr>
                        <a:t>ring</a:t>
                      </a:r>
                      <a:endParaRPr sz="800">
                        <a:latin typeface="Arial"/>
                        <a:cs typeface="Arial"/>
                      </a:endParaRPr>
                    </a:p>
                  </a:txBody>
                  <a:tcPr marL="0" marR="0" marT="1206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ct val="100000"/>
                        </a:lnSpc>
                        <a:spcBef>
                          <a:spcPts val="95"/>
                        </a:spcBef>
                      </a:pPr>
                      <a:r>
                        <a:rPr sz="800" spc="75" dirty="0">
                          <a:latin typeface="Arial"/>
                          <a:cs typeface="Arial"/>
                        </a:rPr>
                        <a:t>1</a:t>
                      </a:r>
                      <a:r>
                        <a:rPr sz="800" i="1" spc="75" dirty="0">
                          <a:latin typeface="STIX Two Text"/>
                          <a:cs typeface="STIX Two Text"/>
                        </a:rPr>
                        <a:t>,...,</a:t>
                      </a:r>
                      <a:r>
                        <a:rPr sz="800" i="1" spc="-75" dirty="0">
                          <a:latin typeface="STIX Two Text"/>
                          <a:cs typeface="STIX Two Text"/>
                        </a:rPr>
                        <a:t> </a:t>
                      </a:r>
                      <a:r>
                        <a:rPr sz="800" spc="-50" dirty="0">
                          <a:latin typeface="Times New Roman"/>
                          <a:cs typeface="Times New Roman"/>
                        </a:rPr>
                        <a:t>∞</a:t>
                      </a:r>
                      <a:endParaRPr sz="800">
                        <a:latin typeface="Times New Roman"/>
                        <a:cs typeface="Times New Roman"/>
                      </a:endParaRPr>
                    </a:p>
                  </a:txBody>
                  <a:tcPr marL="0" marR="0" marT="1206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ct val="100000"/>
                        </a:lnSpc>
                        <a:spcBef>
                          <a:spcPts val="95"/>
                        </a:spcBef>
                      </a:pPr>
                      <a:r>
                        <a:rPr sz="800" spc="75" dirty="0">
                          <a:latin typeface="Arial"/>
                          <a:cs typeface="Arial"/>
                        </a:rPr>
                        <a:t>0</a:t>
                      </a:r>
                      <a:r>
                        <a:rPr sz="800" i="1" spc="75" dirty="0">
                          <a:latin typeface="STIX Two Text"/>
                          <a:cs typeface="STIX Two Text"/>
                        </a:rPr>
                        <a:t>,...,</a:t>
                      </a:r>
                      <a:r>
                        <a:rPr sz="800" i="1" spc="-90" dirty="0">
                          <a:latin typeface="STIX Two Text"/>
                          <a:cs typeface="STIX Two Text"/>
                        </a:rPr>
                        <a:t> </a:t>
                      </a:r>
                      <a:r>
                        <a:rPr sz="800" i="1" spc="-10" dirty="0">
                          <a:latin typeface="Arial"/>
                          <a:cs typeface="Arial"/>
                        </a:rPr>
                        <a:t>N</a:t>
                      </a:r>
                      <a:r>
                        <a:rPr sz="800" i="1" spc="-40" dirty="0">
                          <a:latin typeface="Arial"/>
                          <a:cs typeface="Arial"/>
                        </a:rPr>
                        <a:t> </a:t>
                      </a:r>
                      <a:r>
                        <a:rPr sz="800" i="1" spc="130" dirty="0">
                          <a:latin typeface="Menlo"/>
                          <a:cs typeface="Menlo"/>
                        </a:rPr>
                        <a:t>−</a:t>
                      </a:r>
                      <a:r>
                        <a:rPr sz="800" i="1" spc="-365" dirty="0">
                          <a:latin typeface="Menlo"/>
                          <a:cs typeface="Menlo"/>
                        </a:rPr>
                        <a:t> </a:t>
                      </a:r>
                      <a:r>
                        <a:rPr sz="800" spc="-50" dirty="0">
                          <a:latin typeface="Arial"/>
                          <a:cs typeface="Arial"/>
                        </a:rPr>
                        <a:t>1</a:t>
                      </a:r>
                      <a:endParaRPr sz="800">
                        <a:latin typeface="Arial"/>
                        <a:cs typeface="Arial"/>
                      </a:endParaRPr>
                    </a:p>
                  </a:txBody>
                  <a:tcPr marL="0" marR="0" marT="1206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163195">
                <a:tc>
                  <a:txBody>
                    <a:bodyPr/>
                    <a:lstStyle/>
                    <a:p>
                      <a:pPr marL="78105">
                        <a:lnSpc>
                          <a:spcPct val="100000"/>
                        </a:lnSpc>
                        <a:spcBef>
                          <a:spcPts val="95"/>
                        </a:spcBef>
                      </a:pPr>
                      <a:r>
                        <a:rPr sz="800" spc="-10" dirty="0">
                          <a:latin typeface="Arial"/>
                          <a:cs typeface="Arial"/>
                        </a:rPr>
                        <a:t>Decentralized</a:t>
                      </a:r>
                      <a:endParaRPr sz="800">
                        <a:latin typeface="Arial"/>
                        <a:cs typeface="Arial"/>
                      </a:endParaRPr>
                    </a:p>
                  </a:txBody>
                  <a:tcPr marL="0" marR="0" marT="1206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ct val="100000"/>
                        </a:lnSpc>
                        <a:spcBef>
                          <a:spcPts val="95"/>
                        </a:spcBef>
                      </a:pPr>
                      <a:r>
                        <a:rPr sz="800" spc="-10" dirty="0">
                          <a:latin typeface="Arial"/>
                          <a:cs typeface="Arial"/>
                        </a:rPr>
                        <a:t>2</a:t>
                      </a:r>
                      <a:r>
                        <a:rPr sz="800" i="1" spc="-10" dirty="0">
                          <a:latin typeface="Arial"/>
                          <a:cs typeface="Arial"/>
                        </a:rPr>
                        <a:t>kN</a:t>
                      </a:r>
                      <a:r>
                        <a:rPr sz="800" i="1" spc="-15" dirty="0">
                          <a:latin typeface="Arial"/>
                          <a:cs typeface="Arial"/>
                        </a:rPr>
                        <a:t> </a:t>
                      </a:r>
                      <a:r>
                        <a:rPr sz="800" spc="114" dirty="0">
                          <a:latin typeface="Arial"/>
                          <a:cs typeface="Arial"/>
                        </a:rPr>
                        <a:t>+(</a:t>
                      </a:r>
                      <a:r>
                        <a:rPr sz="800" i="1" spc="114" dirty="0">
                          <a:latin typeface="Arial"/>
                          <a:cs typeface="Arial"/>
                        </a:rPr>
                        <a:t>k</a:t>
                      </a:r>
                      <a:r>
                        <a:rPr sz="800" i="1" spc="15" dirty="0">
                          <a:latin typeface="Arial"/>
                          <a:cs typeface="Arial"/>
                        </a:rPr>
                        <a:t> </a:t>
                      </a:r>
                      <a:r>
                        <a:rPr sz="800" i="1" spc="130" dirty="0">
                          <a:latin typeface="Menlo"/>
                          <a:cs typeface="Menlo"/>
                        </a:rPr>
                        <a:t>−</a:t>
                      </a:r>
                      <a:r>
                        <a:rPr sz="800" i="1" spc="-350" dirty="0">
                          <a:latin typeface="Menlo"/>
                          <a:cs typeface="Menlo"/>
                        </a:rPr>
                        <a:t> </a:t>
                      </a:r>
                      <a:r>
                        <a:rPr sz="800" dirty="0">
                          <a:latin typeface="Arial"/>
                          <a:cs typeface="Arial"/>
                        </a:rPr>
                        <a:t>1)</a:t>
                      </a:r>
                      <a:r>
                        <a:rPr sz="800" i="1" dirty="0">
                          <a:latin typeface="Arial"/>
                          <a:cs typeface="Arial"/>
                        </a:rPr>
                        <a:t>N</a:t>
                      </a:r>
                      <a:r>
                        <a:rPr sz="800" i="1" dirty="0">
                          <a:latin typeface="STIX Two Text"/>
                          <a:cs typeface="STIX Two Text"/>
                        </a:rPr>
                        <a:t>/</a:t>
                      </a:r>
                      <a:r>
                        <a:rPr sz="800" dirty="0">
                          <a:latin typeface="Arial"/>
                          <a:cs typeface="Arial"/>
                        </a:rPr>
                        <a:t>2</a:t>
                      </a:r>
                      <a:r>
                        <a:rPr sz="800" spc="-85" dirty="0">
                          <a:latin typeface="Arial"/>
                          <a:cs typeface="Arial"/>
                        </a:rPr>
                        <a:t> </a:t>
                      </a:r>
                      <a:r>
                        <a:rPr sz="800" spc="185" dirty="0">
                          <a:latin typeface="Arial"/>
                          <a:cs typeface="Arial"/>
                        </a:rPr>
                        <a:t>+</a:t>
                      </a:r>
                      <a:r>
                        <a:rPr sz="800" spc="-90" dirty="0">
                          <a:latin typeface="Arial"/>
                          <a:cs typeface="Arial"/>
                        </a:rPr>
                        <a:t> </a:t>
                      </a:r>
                      <a:r>
                        <a:rPr sz="800" i="1" dirty="0">
                          <a:latin typeface="Arial"/>
                          <a:cs typeface="Arial"/>
                        </a:rPr>
                        <a:t>N</a:t>
                      </a:r>
                      <a:r>
                        <a:rPr sz="800" i="1" dirty="0">
                          <a:latin typeface="STIX Two Text"/>
                          <a:cs typeface="STIX Two Text"/>
                        </a:rPr>
                        <a:t>,</a:t>
                      </a:r>
                      <a:r>
                        <a:rPr sz="800" i="1" spc="-70" dirty="0">
                          <a:latin typeface="STIX Two Text"/>
                          <a:cs typeface="STIX Two Text"/>
                        </a:rPr>
                        <a:t> </a:t>
                      </a:r>
                      <a:r>
                        <a:rPr sz="800" i="1" dirty="0">
                          <a:latin typeface="Arial"/>
                          <a:cs typeface="Arial"/>
                        </a:rPr>
                        <a:t>k</a:t>
                      </a:r>
                      <a:r>
                        <a:rPr sz="800" i="1" spc="95" dirty="0">
                          <a:latin typeface="Arial"/>
                          <a:cs typeface="Arial"/>
                        </a:rPr>
                        <a:t> </a:t>
                      </a:r>
                      <a:r>
                        <a:rPr sz="800" spc="185" dirty="0">
                          <a:latin typeface="Arial"/>
                          <a:cs typeface="Arial"/>
                        </a:rPr>
                        <a:t>=</a:t>
                      </a:r>
                      <a:r>
                        <a:rPr sz="800" dirty="0">
                          <a:latin typeface="Arial"/>
                          <a:cs typeface="Arial"/>
                        </a:rPr>
                        <a:t> 1</a:t>
                      </a:r>
                      <a:r>
                        <a:rPr sz="800" i="1" dirty="0">
                          <a:latin typeface="STIX Two Text"/>
                          <a:cs typeface="STIX Two Text"/>
                        </a:rPr>
                        <a:t>,</a:t>
                      </a:r>
                      <a:r>
                        <a:rPr sz="800" i="1" spc="-75" dirty="0">
                          <a:latin typeface="STIX Two Text"/>
                          <a:cs typeface="STIX Two Text"/>
                        </a:rPr>
                        <a:t> </a:t>
                      </a:r>
                      <a:r>
                        <a:rPr sz="800" spc="60" dirty="0">
                          <a:latin typeface="Arial"/>
                          <a:cs typeface="Arial"/>
                        </a:rPr>
                        <a:t>2</a:t>
                      </a:r>
                      <a:r>
                        <a:rPr sz="800" i="1" spc="60" dirty="0">
                          <a:latin typeface="STIX Two Text"/>
                          <a:cs typeface="STIX Two Text"/>
                        </a:rPr>
                        <a:t>,...</a:t>
                      </a:r>
                      <a:endParaRPr sz="800">
                        <a:latin typeface="STIX Two Text"/>
                        <a:cs typeface="STIX Two Text"/>
                      </a:endParaRPr>
                    </a:p>
                  </a:txBody>
                  <a:tcPr marL="0" marR="0" marT="1206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ct val="100000"/>
                        </a:lnSpc>
                        <a:spcBef>
                          <a:spcPts val="95"/>
                        </a:spcBef>
                      </a:pPr>
                      <a:r>
                        <a:rPr sz="800" spc="-10" dirty="0">
                          <a:latin typeface="Arial"/>
                          <a:cs typeface="Arial"/>
                        </a:rPr>
                        <a:t>2</a:t>
                      </a:r>
                      <a:r>
                        <a:rPr sz="800" i="1" spc="-10" dirty="0">
                          <a:latin typeface="Arial"/>
                          <a:cs typeface="Arial"/>
                        </a:rPr>
                        <a:t>kN</a:t>
                      </a:r>
                      <a:r>
                        <a:rPr sz="800" i="1" spc="-45" dirty="0">
                          <a:latin typeface="Arial"/>
                          <a:cs typeface="Arial"/>
                        </a:rPr>
                        <a:t> </a:t>
                      </a:r>
                      <a:r>
                        <a:rPr sz="800" spc="114" dirty="0">
                          <a:latin typeface="Arial"/>
                          <a:cs typeface="Arial"/>
                        </a:rPr>
                        <a:t>+(</a:t>
                      </a:r>
                      <a:r>
                        <a:rPr sz="800" i="1" spc="114" dirty="0">
                          <a:latin typeface="Arial"/>
                          <a:cs typeface="Arial"/>
                        </a:rPr>
                        <a:t>k</a:t>
                      </a:r>
                      <a:r>
                        <a:rPr sz="800" i="1" spc="-25" dirty="0">
                          <a:latin typeface="Arial"/>
                          <a:cs typeface="Arial"/>
                        </a:rPr>
                        <a:t> </a:t>
                      </a:r>
                      <a:r>
                        <a:rPr sz="800" i="1" spc="130" dirty="0">
                          <a:latin typeface="Menlo"/>
                          <a:cs typeface="Menlo"/>
                        </a:rPr>
                        <a:t>−</a:t>
                      </a:r>
                      <a:r>
                        <a:rPr sz="800" i="1" spc="-370" dirty="0">
                          <a:latin typeface="Menlo"/>
                          <a:cs typeface="Menlo"/>
                        </a:rPr>
                        <a:t> </a:t>
                      </a:r>
                      <a:r>
                        <a:rPr sz="800" spc="-10" dirty="0">
                          <a:latin typeface="Arial"/>
                          <a:cs typeface="Arial"/>
                        </a:rPr>
                        <a:t>1)</a:t>
                      </a:r>
                      <a:r>
                        <a:rPr sz="800" i="1" spc="-10" dirty="0">
                          <a:latin typeface="Arial"/>
                          <a:cs typeface="Arial"/>
                        </a:rPr>
                        <a:t>N</a:t>
                      </a:r>
                      <a:r>
                        <a:rPr sz="800" i="1" spc="-10" dirty="0">
                          <a:latin typeface="STIX Two Text"/>
                          <a:cs typeface="STIX Two Text"/>
                        </a:rPr>
                        <a:t>/</a:t>
                      </a:r>
                      <a:r>
                        <a:rPr sz="800" spc="-10" dirty="0">
                          <a:latin typeface="Arial"/>
                          <a:cs typeface="Arial"/>
                        </a:rPr>
                        <a:t>2</a:t>
                      </a:r>
                      <a:endParaRPr sz="800">
                        <a:latin typeface="Arial"/>
                        <a:cs typeface="Arial"/>
                      </a:endParaRPr>
                    </a:p>
                  </a:txBody>
                  <a:tcPr marL="0" marR="0" marT="1206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bl>
          </a:graphicData>
        </a:graphic>
      </p:graphicFrame>
      <p:grpSp>
        <p:nvGrpSpPr>
          <p:cNvPr id="7" name="object 7"/>
          <p:cNvGrpSpPr/>
          <p:nvPr/>
        </p:nvGrpSpPr>
        <p:grpSpPr>
          <a:xfrm>
            <a:off x="0" y="3348469"/>
            <a:ext cx="4608195" cy="107950"/>
            <a:chOff x="0" y="3348469"/>
            <a:chExt cx="4608195" cy="107950"/>
          </a:xfrm>
        </p:grpSpPr>
        <p:sp>
          <p:nvSpPr>
            <p:cNvPr id="8" name="object 8"/>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9" name="object 9"/>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0" name="object 10"/>
          <p:cNvSpPr txBox="1"/>
          <p:nvPr/>
        </p:nvSpPr>
        <p:spPr>
          <a:xfrm>
            <a:off x="53467" y="3349927"/>
            <a:ext cx="73850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A</a:t>
            </a:r>
            <a:r>
              <a:rPr sz="500" spc="35" dirty="0">
                <a:latin typeface="Arial"/>
                <a:cs typeface="Arial"/>
                <a:hlinkClick r:id="rId4" action="ppaction://hlinksldjump"/>
              </a:rPr>
              <a:t> </a:t>
            </a:r>
            <a:r>
              <a:rPr sz="500" spc="-10" dirty="0">
                <a:latin typeface="Arial"/>
                <a:cs typeface="Arial"/>
                <a:hlinkClick r:id="rId4" action="ppaction://hlinksldjump"/>
              </a:rPr>
              <a:t>decentralized</a:t>
            </a:r>
            <a:r>
              <a:rPr sz="500" spc="35" dirty="0">
                <a:latin typeface="Arial"/>
                <a:cs typeface="Arial"/>
                <a:hlinkClick r:id="rId4" action="ppaction://hlinksldjump"/>
              </a:rPr>
              <a:t> </a:t>
            </a:r>
            <a:r>
              <a:rPr sz="500" spc="-10" dirty="0">
                <a:latin typeface="Arial"/>
                <a:cs typeface="Arial"/>
                <a:hlinkClick r:id="rId4" action="ppaction://hlinksldjump"/>
              </a:rPr>
              <a:t>algorithm</a:t>
            </a:r>
            <a:endParaRPr sz="500">
              <a:latin typeface="Arial"/>
              <a:cs typeface="Arial"/>
            </a:endParaRPr>
          </a:p>
        </p:txBody>
      </p:sp>
    </p:spTree>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4018915" algn="l"/>
              </a:tabLst>
            </a:pPr>
            <a:r>
              <a:rPr sz="500" spc="-10" dirty="0">
                <a:latin typeface="Arial"/>
                <a:cs typeface="Arial"/>
                <a:hlinkClick r:id="rId2" action="ppaction://hlinksldjump"/>
              </a:rPr>
              <a:t>Coordination</a:t>
            </a:r>
            <a:r>
              <a:rPr sz="500" dirty="0">
                <a:latin typeface="Arial"/>
                <a:cs typeface="Arial"/>
              </a:rPr>
              <a:t>	</a:t>
            </a:r>
            <a:r>
              <a:rPr sz="500" dirty="0">
                <a:solidFill>
                  <a:srgbClr val="FFFFFF"/>
                </a:solidFill>
                <a:latin typeface="Arial"/>
                <a:cs typeface="Arial"/>
                <a:hlinkClick r:id="rId3" action="ppaction://hlinksldjump"/>
              </a:rPr>
              <a:t>Mutual</a:t>
            </a:r>
            <a:r>
              <a:rPr sz="500" spc="-30"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exclusion</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Example:</a:t>
            </a:r>
            <a:r>
              <a:rPr spc="15" dirty="0"/>
              <a:t> </a:t>
            </a:r>
            <a:r>
              <a:rPr spc="-10" dirty="0"/>
              <a:t>ZooKeeper</a:t>
            </a:r>
          </a:p>
        </p:txBody>
      </p:sp>
      <p:sp>
        <p:nvSpPr>
          <p:cNvPr id="4" name="object 4"/>
          <p:cNvSpPr txBox="1"/>
          <p:nvPr/>
        </p:nvSpPr>
        <p:spPr>
          <a:xfrm>
            <a:off x="334594" y="514774"/>
            <a:ext cx="3938270" cy="1283970"/>
          </a:xfrm>
          <a:prstGeom prst="rect">
            <a:avLst/>
          </a:prstGeom>
        </p:spPr>
        <p:txBody>
          <a:bodyPr vert="horz" wrap="square" lIns="0" tIns="12065" rIns="0" bIns="0" rtlCol="0">
            <a:spAutoFit/>
          </a:bodyPr>
          <a:lstStyle/>
          <a:p>
            <a:pPr marL="25400">
              <a:lnSpc>
                <a:spcPct val="100000"/>
              </a:lnSpc>
              <a:spcBef>
                <a:spcPts val="95"/>
              </a:spcBef>
            </a:pPr>
            <a:r>
              <a:rPr sz="1000" dirty="0">
                <a:solidFill>
                  <a:srgbClr val="3333B2"/>
                </a:solidFill>
                <a:latin typeface="Arial"/>
                <a:cs typeface="Arial"/>
              </a:rPr>
              <a:t>Basics</a:t>
            </a:r>
            <a:r>
              <a:rPr sz="1000" spc="-35" dirty="0">
                <a:solidFill>
                  <a:srgbClr val="3333B2"/>
                </a:solidFill>
                <a:latin typeface="Arial"/>
                <a:cs typeface="Arial"/>
              </a:rPr>
              <a:t> </a:t>
            </a:r>
            <a:r>
              <a:rPr sz="1000" dirty="0">
                <a:solidFill>
                  <a:srgbClr val="3333B2"/>
                </a:solidFill>
                <a:latin typeface="Arial"/>
                <a:cs typeface="Arial"/>
              </a:rPr>
              <a:t>(and</a:t>
            </a:r>
            <a:r>
              <a:rPr sz="1000" spc="-30" dirty="0">
                <a:solidFill>
                  <a:srgbClr val="3333B2"/>
                </a:solidFill>
                <a:latin typeface="Arial"/>
                <a:cs typeface="Arial"/>
              </a:rPr>
              <a:t> </a:t>
            </a:r>
            <a:r>
              <a:rPr sz="1000" dirty="0">
                <a:solidFill>
                  <a:srgbClr val="3333B2"/>
                </a:solidFill>
                <a:latin typeface="Arial"/>
                <a:cs typeface="Arial"/>
              </a:rPr>
              <a:t>keeping</a:t>
            </a:r>
            <a:r>
              <a:rPr sz="1000" spc="-35" dirty="0">
                <a:solidFill>
                  <a:srgbClr val="3333B2"/>
                </a:solidFill>
                <a:latin typeface="Arial"/>
                <a:cs typeface="Arial"/>
              </a:rPr>
              <a:t> </a:t>
            </a:r>
            <a:r>
              <a:rPr sz="1000" dirty="0">
                <a:solidFill>
                  <a:srgbClr val="3333B2"/>
                </a:solidFill>
                <a:latin typeface="Arial"/>
                <a:cs typeface="Arial"/>
              </a:rPr>
              <a:t>it</a:t>
            </a:r>
            <a:r>
              <a:rPr sz="1000" spc="-30" dirty="0">
                <a:solidFill>
                  <a:srgbClr val="3333B2"/>
                </a:solidFill>
                <a:latin typeface="Arial"/>
                <a:cs typeface="Arial"/>
              </a:rPr>
              <a:t> </a:t>
            </a:r>
            <a:r>
              <a:rPr sz="1000" spc="-10" dirty="0">
                <a:solidFill>
                  <a:srgbClr val="3333B2"/>
                </a:solidFill>
                <a:latin typeface="Arial"/>
                <a:cs typeface="Arial"/>
              </a:rPr>
              <a:t>simple)</a:t>
            </a:r>
            <a:endParaRPr sz="1000">
              <a:latin typeface="Arial"/>
              <a:cs typeface="Arial"/>
            </a:endParaRPr>
          </a:p>
          <a:p>
            <a:pPr marL="278130" indent="-120650">
              <a:lnSpc>
                <a:spcPct val="100000"/>
              </a:lnSpc>
              <a:spcBef>
                <a:spcPts val="710"/>
              </a:spcBef>
              <a:buClr>
                <a:srgbClr val="3333B2"/>
              </a:buClr>
              <a:buFont typeface="Menlo"/>
              <a:buChar char="•"/>
              <a:tabLst>
                <a:tab pos="278765" algn="l"/>
              </a:tabLst>
            </a:pPr>
            <a:r>
              <a:rPr sz="900" spc="-10" dirty="0">
                <a:latin typeface="Arial"/>
                <a:cs typeface="Arial"/>
              </a:rPr>
              <a:t>Centralized</a:t>
            </a:r>
            <a:r>
              <a:rPr sz="900" dirty="0">
                <a:latin typeface="Arial"/>
                <a:cs typeface="Arial"/>
              </a:rPr>
              <a:t> server </a:t>
            </a:r>
            <a:r>
              <a:rPr sz="900" spc="-10" dirty="0">
                <a:latin typeface="Arial"/>
                <a:cs typeface="Arial"/>
              </a:rPr>
              <a:t>setup</a:t>
            </a:r>
            <a:endParaRPr sz="900">
              <a:latin typeface="Arial"/>
              <a:cs typeface="Arial"/>
            </a:endParaRPr>
          </a:p>
          <a:p>
            <a:pPr marL="278130" marR="17780" indent="-120650">
              <a:lnSpc>
                <a:spcPct val="111600"/>
              </a:lnSpc>
              <a:spcBef>
                <a:spcPts val="295"/>
              </a:spcBef>
              <a:buClr>
                <a:srgbClr val="3333B2"/>
              </a:buClr>
              <a:buFont typeface="Menlo"/>
              <a:buChar char="•"/>
              <a:tabLst>
                <a:tab pos="274955" algn="l"/>
              </a:tabLst>
            </a:pPr>
            <a:r>
              <a:rPr sz="900" dirty="0">
                <a:latin typeface="Arial"/>
                <a:cs typeface="Arial"/>
              </a:rPr>
              <a:t>All</a:t>
            </a:r>
            <a:r>
              <a:rPr sz="900" spc="-20" dirty="0">
                <a:latin typeface="Arial"/>
                <a:cs typeface="Arial"/>
              </a:rPr>
              <a:t> </a:t>
            </a:r>
            <a:r>
              <a:rPr sz="900" spc="-10" dirty="0">
                <a:latin typeface="Arial"/>
                <a:cs typeface="Arial"/>
              </a:rPr>
              <a:t>client-</a:t>
            </a:r>
            <a:r>
              <a:rPr sz="900" dirty="0">
                <a:latin typeface="Arial"/>
                <a:cs typeface="Arial"/>
              </a:rPr>
              <a:t>server</a:t>
            </a:r>
            <a:r>
              <a:rPr sz="900" spc="-15" dirty="0">
                <a:latin typeface="Arial"/>
                <a:cs typeface="Arial"/>
              </a:rPr>
              <a:t> </a:t>
            </a:r>
            <a:r>
              <a:rPr sz="900" spc="-10" dirty="0">
                <a:latin typeface="Arial"/>
                <a:cs typeface="Arial"/>
              </a:rPr>
              <a:t>communication</a:t>
            </a:r>
            <a:r>
              <a:rPr sz="900" spc="-20" dirty="0">
                <a:latin typeface="Arial"/>
                <a:cs typeface="Arial"/>
              </a:rPr>
              <a:t> </a:t>
            </a:r>
            <a:r>
              <a:rPr sz="900" dirty="0">
                <a:latin typeface="Arial"/>
                <a:cs typeface="Arial"/>
              </a:rPr>
              <a:t>is</a:t>
            </a:r>
            <a:r>
              <a:rPr sz="900" spc="-15" dirty="0">
                <a:latin typeface="Arial"/>
                <a:cs typeface="Arial"/>
              </a:rPr>
              <a:t> </a:t>
            </a:r>
            <a:r>
              <a:rPr sz="900" dirty="0">
                <a:solidFill>
                  <a:srgbClr val="3333B2"/>
                </a:solidFill>
                <a:latin typeface="Arial"/>
                <a:cs typeface="Arial"/>
              </a:rPr>
              <a:t>nonblocking</a:t>
            </a:r>
            <a:r>
              <a:rPr sz="900" dirty="0">
                <a:latin typeface="Arial"/>
                <a:cs typeface="Arial"/>
              </a:rPr>
              <a:t>:</a:t>
            </a:r>
            <a:r>
              <a:rPr sz="900" spc="40" dirty="0">
                <a:latin typeface="Arial"/>
                <a:cs typeface="Arial"/>
              </a:rPr>
              <a:t> </a:t>
            </a:r>
            <a:r>
              <a:rPr sz="900" dirty="0">
                <a:latin typeface="Arial"/>
                <a:cs typeface="Arial"/>
              </a:rPr>
              <a:t>a</a:t>
            </a:r>
            <a:r>
              <a:rPr sz="900" spc="-20" dirty="0">
                <a:latin typeface="Arial"/>
                <a:cs typeface="Arial"/>
              </a:rPr>
              <a:t> </a:t>
            </a:r>
            <a:r>
              <a:rPr sz="900" dirty="0">
                <a:latin typeface="Arial"/>
                <a:cs typeface="Arial"/>
              </a:rPr>
              <a:t>client</a:t>
            </a:r>
            <a:r>
              <a:rPr sz="900" spc="-15" dirty="0">
                <a:latin typeface="Arial"/>
                <a:cs typeface="Arial"/>
              </a:rPr>
              <a:t> </a:t>
            </a:r>
            <a:r>
              <a:rPr sz="900" dirty="0">
                <a:latin typeface="Arial"/>
                <a:cs typeface="Arial"/>
              </a:rPr>
              <a:t>immediately</a:t>
            </a:r>
            <a:r>
              <a:rPr sz="900" spc="-20" dirty="0">
                <a:latin typeface="Arial"/>
                <a:cs typeface="Arial"/>
              </a:rPr>
              <a:t> gets </a:t>
            </a:r>
            <a:r>
              <a:rPr sz="900" dirty="0">
                <a:latin typeface="Arial"/>
                <a:cs typeface="Arial"/>
              </a:rPr>
              <a:t>a</a:t>
            </a:r>
            <a:r>
              <a:rPr sz="900" spc="-20" dirty="0">
                <a:latin typeface="Arial"/>
                <a:cs typeface="Arial"/>
              </a:rPr>
              <a:t> </a:t>
            </a:r>
            <a:r>
              <a:rPr sz="900" spc="-10" dirty="0">
                <a:latin typeface="Arial"/>
                <a:cs typeface="Arial"/>
              </a:rPr>
              <a:t>response</a:t>
            </a:r>
            <a:endParaRPr sz="900">
              <a:latin typeface="Arial"/>
              <a:cs typeface="Arial"/>
            </a:endParaRPr>
          </a:p>
          <a:p>
            <a:pPr marL="278130" marR="440690" indent="-120650">
              <a:lnSpc>
                <a:spcPct val="111600"/>
              </a:lnSpc>
              <a:spcBef>
                <a:spcPts val="300"/>
              </a:spcBef>
              <a:buClr>
                <a:srgbClr val="3333B2"/>
              </a:buClr>
              <a:buFont typeface="Menlo"/>
              <a:buChar char="•"/>
              <a:tabLst>
                <a:tab pos="278765" algn="l"/>
              </a:tabLst>
            </a:pPr>
            <a:r>
              <a:rPr sz="900" spc="-10" dirty="0">
                <a:latin typeface="Arial"/>
                <a:cs typeface="Arial"/>
              </a:rPr>
              <a:t>ZooKeeper</a:t>
            </a:r>
            <a:r>
              <a:rPr sz="900" spc="-20" dirty="0">
                <a:latin typeface="Arial"/>
                <a:cs typeface="Arial"/>
              </a:rPr>
              <a:t> </a:t>
            </a:r>
            <a:r>
              <a:rPr sz="900" dirty="0">
                <a:latin typeface="Arial"/>
                <a:cs typeface="Arial"/>
              </a:rPr>
              <a:t>maintains</a:t>
            </a:r>
            <a:r>
              <a:rPr sz="900" spc="-20" dirty="0">
                <a:latin typeface="Arial"/>
                <a:cs typeface="Arial"/>
              </a:rPr>
              <a:t> </a:t>
            </a:r>
            <a:r>
              <a:rPr sz="900" dirty="0">
                <a:latin typeface="Arial"/>
                <a:cs typeface="Arial"/>
              </a:rPr>
              <a:t>a</a:t>
            </a:r>
            <a:r>
              <a:rPr sz="900" spc="-20" dirty="0">
                <a:latin typeface="Arial"/>
                <a:cs typeface="Arial"/>
              </a:rPr>
              <a:t> </a:t>
            </a:r>
            <a:r>
              <a:rPr sz="900" spc="-10" dirty="0">
                <a:solidFill>
                  <a:srgbClr val="3333B2"/>
                </a:solidFill>
                <a:latin typeface="Arial"/>
                <a:cs typeface="Arial"/>
              </a:rPr>
              <a:t>tree-</a:t>
            </a:r>
            <a:r>
              <a:rPr sz="900" dirty="0">
                <a:solidFill>
                  <a:srgbClr val="3333B2"/>
                </a:solidFill>
                <a:latin typeface="Arial"/>
                <a:cs typeface="Arial"/>
              </a:rPr>
              <a:t>based</a:t>
            </a:r>
            <a:r>
              <a:rPr sz="900" spc="-20" dirty="0">
                <a:solidFill>
                  <a:srgbClr val="3333B2"/>
                </a:solidFill>
                <a:latin typeface="Arial"/>
                <a:cs typeface="Arial"/>
              </a:rPr>
              <a:t> </a:t>
            </a:r>
            <a:r>
              <a:rPr sz="900" dirty="0">
                <a:solidFill>
                  <a:srgbClr val="3333B2"/>
                </a:solidFill>
                <a:latin typeface="Arial"/>
                <a:cs typeface="Arial"/>
              </a:rPr>
              <a:t>namespace</a:t>
            </a:r>
            <a:r>
              <a:rPr sz="900" dirty="0">
                <a:latin typeface="Arial"/>
                <a:cs typeface="Arial"/>
              </a:rPr>
              <a:t>,</a:t>
            </a:r>
            <a:r>
              <a:rPr sz="900" spc="-20" dirty="0">
                <a:latin typeface="Arial"/>
                <a:cs typeface="Arial"/>
              </a:rPr>
              <a:t> </a:t>
            </a:r>
            <a:r>
              <a:rPr sz="900" dirty="0">
                <a:latin typeface="Arial"/>
                <a:cs typeface="Arial"/>
              </a:rPr>
              <a:t>akin</a:t>
            </a:r>
            <a:r>
              <a:rPr sz="900" spc="-15" dirty="0">
                <a:latin typeface="Arial"/>
                <a:cs typeface="Arial"/>
              </a:rPr>
              <a:t> </a:t>
            </a:r>
            <a:r>
              <a:rPr sz="900" dirty="0">
                <a:latin typeface="Arial"/>
                <a:cs typeface="Arial"/>
              </a:rPr>
              <a:t>to</a:t>
            </a:r>
            <a:r>
              <a:rPr sz="900" spc="-20" dirty="0">
                <a:latin typeface="Arial"/>
                <a:cs typeface="Arial"/>
              </a:rPr>
              <a:t> </a:t>
            </a:r>
            <a:r>
              <a:rPr sz="900" dirty="0">
                <a:latin typeface="Arial"/>
                <a:cs typeface="Arial"/>
              </a:rPr>
              <a:t>that</a:t>
            </a:r>
            <a:r>
              <a:rPr sz="900" spc="-20" dirty="0">
                <a:latin typeface="Arial"/>
                <a:cs typeface="Arial"/>
              </a:rPr>
              <a:t> </a:t>
            </a:r>
            <a:r>
              <a:rPr sz="900" dirty="0">
                <a:latin typeface="Arial"/>
                <a:cs typeface="Arial"/>
              </a:rPr>
              <a:t>of</a:t>
            </a:r>
            <a:r>
              <a:rPr sz="900" spc="-20" dirty="0">
                <a:latin typeface="Arial"/>
                <a:cs typeface="Arial"/>
              </a:rPr>
              <a:t> </a:t>
            </a:r>
            <a:r>
              <a:rPr sz="900" spc="-50" dirty="0">
                <a:latin typeface="Arial"/>
                <a:cs typeface="Arial"/>
              </a:rPr>
              <a:t>a</a:t>
            </a:r>
            <a:r>
              <a:rPr sz="900" spc="-10" dirty="0">
                <a:latin typeface="Arial"/>
                <a:cs typeface="Arial"/>
              </a:rPr>
              <a:t> filesystem</a:t>
            </a:r>
            <a:endParaRPr sz="900">
              <a:latin typeface="Arial"/>
              <a:cs typeface="Arial"/>
            </a:endParaRPr>
          </a:p>
          <a:p>
            <a:pPr marL="278130" indent="-120650">
              <a:lnSpc>
                <a:spcPct val="100000"/>
              </a:lnSpc>
              <a:spcBef>
                <a:spcPts val="425"/>
              </a:spcBef>
              <a:buClr>
                <a:srgbClr val="3333B2"/>
              </a:buClr>
              <a:buFont typeface="Menlo"/>
              <a:buChar char="•"/>
              <a:tabLst>
                <a:tab pos="278765" algn="l"/>
              </a:tabLst>
            </a:pPr>
            <a:r>
              <a:rPr sz="900" dirty="0">
                <a:latin typeface="Arial"/>
                <a:cs typeface="Arial"/>
              </a:rPr>
              <a:t>Clients</a:t>
            </a:r>
            <a:r>
              <a:rPr sz="900" spc="-30" dirty="0">
                <a:latin typeface="Arial"/>
                <a:cs typeface="Arial"/>
              </a:rPr>
              <a:t> </a:t>
            </a:r>
            <a:r>
              <a:rPr sz="900" dirty="0">
                <a:latin typeface="Arial"/>
                <a:cs typeface="Arial"/>
              </a:rPr>
              <a:t>can</a:t>
            </a:r>
            <a:r>
              <a:rPr sz="900" spc="-30" dirty="0">
                <a:latin typeface="Arial"/>
                <a:cs typeface="Arial"/>
              </a:rPr>
              <a:t> </a:t>
            </a:r>
            <a:r>
              <a:rPr sz="900" dirty="0">
                <a:solidFill>
                  <a:srgbClr val="3333B2"/>
                </a:solidFill>
                <a:latin typeface="Arial"/>
                <a:cs typeface="Arial"/>
              </a:rPr>
              <a:t>create</a:t>
            </a:r>
            <a:r>
              <a:rPr sz="900" dirty="0">
                <a:latin typeface="Arial"/>
                <a:cs typeface="Arial"/>
              </a:rPr>
              <a:t>,</a:t>
            </a:r>
            <a:r>
              <a:rPr sz="900" spc="-30" dirty="0">
                <a:latin typeface="Arial"/>
                <a:cs typeface="Arial"/>
              </a:rPr>
              <a:t> </a:t>
            </a:r>
            <a:r>
              <a:rPr sz="900" dirty="0">
                <a:solidFill>
                  <a:srgbClr val="3333B2"/>
                </a:solidFill>
                <a:latin typeface="Arial"/>
                <a:cs typeface="Arial"/>
              </a:rPr>
              <a:t>delete</a:t>
            </a:r>
            <a:r>
              <a:rPr sz="900" dirty="0">
                <a:latin typeface="Arial"/>
                <a:cs typeface="Arial"/>
              </a:rPr>
              <a:t>,</a:t>
            </a:r>
            <a:r>
              <a:rPr sz="900" spc="-30" dirty="0">
                <a:latin typeface="Arial"/>
                <a:cs typeface="Arial"/>
              </a:rPr>
              <a:t> </a:t>
            </a:r>
            <a:r>
              <a:rPr sz="900" dirty="0">
                <a:latin typeface="Arial"/>
                <a:cs typeface="Arial"/>
              </a:rPr>
              <a:t>or</a:t>
            </a:r>
            <a:r>
              <a:rPr sz="900" spc="-25" dirty="0">
                <a:latin typeface="Arial"/>
                <a:cs typeface="Arial"/>
              </a:rPr>
              <a:t> </a:t>
            </a:r>
            <a:r>
              <a:rPr sz="900" dirty="0">
                <a:solidFill>
                  <a:srgbClr val="3333B2"/>
                </a:solidFill>
                <a:latin typeface="Arial"/>
                <a:cs typeface="Arial"/>
              </a:rPr>
              <a:t>update</a:t>
            </a:r>
            <a:r>
              <a:rPr sz="900" spc="-30" dirty="0">
                <a:solidFill>
                  <a:srgbClr val="3333B2"/>
                </a:solidFill>
                <a:latin typeface="Arial"/>
                <a:cs typeface="Arial"/>
              </a:rPr>
              <a:t> </a:t>
            </a:r>
            <a:r>
              <a:rPr sz="900" dirty="0">
                <a:latin typeface="Arial"/>
                <a:cs typeface="Arial"/>
              </a:rPr>
              <a:t>nodes,</a:t>
            </a:r>
            <a:r>
              <a:rPr sz="900" spc="-30" dirty="0">
                <a:latin typeface="Arial"/>
                <a:cs typeface="Arial"/>
              </a:rPr>
              <a:t> </a:t>
            </a:r>
            <a:r>
              <a:rPr sz="900" dirty="0">
                <a:latin typeface="Arial"/>
                <a:cs typeface="Arial"/>
              </a:rPr>
              <a:t>as</a:t>
            </a:r>
            <a:r>
              <a:rPr sz="900" spc="-30" dirty="0">
                <a:latin typeface="Arial"/>
                <a:cs typeface="Arial"/>
              </a:rPr>
              <a:t> </a:t>
            </a:r>
            <a:r>
              <a:rPr sz="900" dirty="0">
                <a:latin typeface="Arial"/>
                <a:cs typeface="Arial"/>
              </a:rPr>
              <a:t>well</a:t>
            </a:r>
            <a:r>
              <a:rPr sz="900" spc="-25" dirty="0">
                <a:latin typeface="Arial"/>
                <a:cs typeface="Arial"/>
              </a:rPr>
              <a:t> </a:t>
            </a:r>
            <a:r>
              <a:rPr sz="900" dirty="0">
                <a:latin typeface="Arial"/>
                <a:cs typeface="Arial"/>
              </a:rPr>
              <a:t>as</a:t>
            </a:r>
            <a:r>
              <a:rPr sz="900" spc="-30" dirty="0">
                <a:latin typeface="Arial"/>
                <a:cs typeface="Arial"/>
              </a:rPr>
              <a:t> </a:t>
            </a:r>
            <a:r>
              <a:rPr sz="900" dirty="0">
                <a:solidFill>
                  <a:srgbClr val="3333B2"/>
                </a:solidFill>
                <a:latin typeface="Arial"/>
                <a:cs typeface="Arial"/>
              </a:rPr>
              <a:t>check</a:t>
            </a:r>
            <a:r>
              <a:rPr sz="900" spc="-30" dirty="0">
                <a:solidFill>
                  <a:srgbClr val="3333B2"/>
                </a:solidFill>
                <a:latin typeface="Arial"/>
                <a:cs typeface="Arial"/>
              </a:rPr>
              <a:t> </a:t>
            </a:r>
            <a:r>
              <a:rPr sz="900" spc="-10" dirty="0">
                <a:solidFill>
                  <a:srgbClr val="3333B2"/>
                </a:solidFill>
                <a:latin typeface="Arial"/>
                <a:cs typeface="Arial"/>
              </a:rPr>
              <a:t>existence</a:t>
            </a:r>
            <a:r>
              <a:rPr sz="900" spc="-10" dirty="0">
                <a:latin typeface="Arial"/>
                <a:cs typeface="Arial"/>
              </a:rPr>
              <a:t>.</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117602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Example:</a:t>
            </a:r>
            <a:r>
              <a:rPr sz="500" spc="5" dirty="0">
                <a:latin typeface="Arial"/>
                <a:cs typeface="Arial"/>
                <a:hlinkClick r:id="rId4" action="ppaction://hlinksldjump"/>
              </a:rPr>
              <a:t> </a:t>
            </a:r>
            <a:r>
              <a:rPr sz="500" dirty="0">
                <a:latin typeface="Arial"/>
                <a:cs typeface="Arial"/>
                <a:hlinkClick r:id="rId4" action="ppaction://hlinksldjump"/>
              </a:rPr>
              <a:t>Simple</a:t>
            </a:r>
            <a:r>
              <a:rPr sz="500" spc="-20" dirty="0">
                <a:latin typeface="Arial"/>
                <a:cs typeface="Arial"/>
                <a:hlinkClick r:id="rId4" action="ppaction://hlinksldjump"/>
              </a:rPr>
              <a:t> </a:t>
            </a:r>
            <a:r>
              <a:rPr sz="500" dirty="0">
                <a:latin typeface="Arial"/>
                <a:cs typeface="Arial"/>
                <a:hlinkClick r:id="rId4" action="ppaction://hlinksldjump"/>
              </a:rPr>
              <a:t>locking</a:t>
            </a:r>
            <a:r>
              <a:rPr sz="500" spc="-20" dirty="0">
                <a:latin typeface="Arial"/>
                <a:cs typeface="Arial"/>
                <a:hlinkClick r:id="rId4" action="ppaction://hlinksldjump"/>
              </a:rPr>
              <a:t> </a:t>
            </a:r>
            <a:r>
              <a:rPr sz="500" dirty="0">
                <a:latin typeface="Arial"/>
                <a:cs typeface="Arial"/>
                <a:hlinkClick r:id="rId4" action="ppaction://hlinksldjump"/>
              </a:rPr>
              <a:t>with</a:t>
            </a:r>
            <a:r>
              <a:rPr sz="500" spc="-25" dirty="0">
                <a:latin typeface="Arial"/>
                <a:cs typeface="Arial"/>
                <a:hlinkClick r:id="rId4" action="ppaction://hlinksldjump"/>
              </a:rPr>
              <a:t> </a:t>
            </a:r>
            <a:r>
              <a:rPr sz="500" spc="-10" dirty="0">
                <a:latin typeface="Arial"/>
                <a:cs typeface="Arial"/>
                <a:hlinkClick r:id="rId4" action="ppaction://hlinksldjump"/>
              </a:rPr>
              <a:t>ZooKeeper</a:t>
            </a:r>
            <a:endParaRPr sz="500">
              <a:latin typeface="Arial"/>
              <a:cs typeface="Arial"/>
            </a:endParaRPr>
          </a:p>
        </p:txBody>
      </p:sp>
    </p:spTree>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4018915" algn="l"/>
              </a:tabLst>
            </a:pPr>
            <a:r>
              <a:rPr sz="500" spc="-10" dirty="0">
                <a:latin typeface="Arial"/>
                <a:cs typeface="Arial"/>
                <a:hlinkClick r:id="rId2" action="ppaction://hlinksldjump"/>
              </a:rPr>
              <a:t>Coordination</a:t>
            </a:r>
            <a:r>
              <a:rPr sz="500" dirty="0">
                <a:latin typeface="Arial"/>
                <a:cs typeface="Arial"/>
              </a:rPr>
              <a:t>	</a:t>
            </a:r>
            <a:r>
              <a:rPr sz="500" dirty="0">
                <a:solidFill>
                  <a:srgbClr val="FFFFFF"/>
                </a:solidFill>
                <a:latin typeface="Arial"/>
                <a:cs typeface="Arial"/>
                <a:hlinkClick r:id="rId3" action="ppaction://hlinksldjump"/>
              </a:rPr>
              <a:t>Mutual</a:t>
            </a:r>
            <a:r>
              <a:rPr sz="500" spc="-30"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exclusion</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0" dirty="0"/>
              <a:t>ZooKeeper</a:t>
            </a:r>
            <a:r>
              <a:rPr spc="-35" dirty="0"/>
              <a:t> </a:t>
            </a:r>
            <a:r>
              <a:rPr dirty="0"/>
              <a:t>race</a:t>
            </a:r>
            <a:r>
              <a:rPr spc="-35" dirty="0"/>
              <a:t> </a:t>
            </a:r>
            <a:r>
              <a:rPr spc="-10" dirty="0"/>
              <a:t>condition</a:t>
            </a:r>
          </a:p>
        </p:txBody>
      </p:sp>
      <p:sp>
        <p:nvSpPr>
          <p:cNvPr id="4" name="object 4"/>
          <p:cNvSpPr txBox="1"/>
          <p:nvPr/>
        </p:nvSpPr>
        <p:spPr>
          <a:xfrm>
            <a:off x="321894" y="499476"/>
            <a:ext cx="3945890" cy="2343785"/>
          </a:xfrm>
          <a:prstGeom prst="rect">
            <a:avLst/>
          </a:prstGeom>
        </p:spPr>
        <p:txBody>
          <a:bodyPr vert="horz" wrap="square" lIns="0" tIns="27305" rIns="0" bIns="0" rtlCol="0">
            <a:spAutoFit/>
          </a:bodyPr>
          <a:lstStyle/>
          <a:p>
            <a:pPr marL="38100">
              <a:lnSpc>
                <a:spcPct val="100000"/>
              </a:lnSpc>
              <a:spcBef>
                <a:spcPts val="215"/>
              </a:spcBef>
            </a:pPr>
            <a:r>
              <a:rPr sz="1000" spc="-20" dirty="0">
                <a:solidFill>
                  <a:srgbClr val="C80000"/>
                </a:solidFill>
                <a:latin typeface="Arial"/>
                <a:cs typeface="Arial"/>
              </a:rPr>
              <a:t>Note</a:t>
            </a:r>
            <a:endParaRPr sz="1000">
              <a:latin typeface="Arial"/>
              <a:cs typeface="Arial"/>
            </a:endParaRPr>
          </a:p>
          <a:p>
            <a:pPr marL="38100" marR="30480">
              <a:lnSpc>
                <a:spcPts val="1210"/>
              </a:lnSpc>
              <a:spcBef>
                <a:spcPts val="35"/>
              </a:spcBef>
            </a:pPr>
            <a:r>
              <a:rPr sz="900" spc="-10" dirty="0">
                <a:latin typeface="Arial"/>
                <a:cs typeface="Arial"/>
              </a:rPr>
              <a:t>ZooKeeper</a:t>
            </a:r>
            <a:r>
              <a:rPr sz="900" spc="-25" dirty="0">
                <a:latin typeface="Arial"/>
                <a:cs typeface="Arial"/>
              </a:rPr>
              <a:t> </a:t>
            </a:r>
            <a:r>
              <a:rPr sz="900" dirty="0">
                <a:latin typeface="Arial"/>
                <a:cs typeface="Arial"/>
              </a:rPr>
              <a:t>allows</a:t>
            </a:r>
            <a:r>
              <a:rPr sz="900" spc="-20" dirty="0">
                <a:latin typeface="Arial"/>
                <a:cs typeface="Arial"/>
              </a:rPr>
              <a:t> </a:t>
            </a:r>
            <a:r>
              <a:rPr sz="900" dirty="0">
                <a:latin typeface="Arial"/>
                <a:cs typeface="Arial"/>
              </a:rPr>
              <a:t>a</a:t>
            </a:r>
            <a:r>
              <a:rPr sz="900" spc="-20" dirty="0">
                <a:latin typeface="Arial"/>
                <a:cs typeface="Arial"/>
              </a:rPr>
              <a:t> </a:t>
            </a:r>
            <a:r>
              <a:rPr sz="900" dirty="0">
                <a:latin typeface="Arial"/>
                <a:cs typeface="Arial"/>
              </a:rPr>
              <a:t>client</a:t>
            </a:r>
            <a:r>
              <a:rPr sz="900" spc="-20"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be</a:t>
            </a:r>
            <a:r>
              <a:rPr sz="900" spc="-20" dirty="0">
                <a:latin typeface="Arial"/>
                <a:cs typeface="Arial"/>
              </a:rPr>
              <a:t> </a:t>
            </a:r>
            <a:r>
              <a:rPr sz="900" dirty="0">
                <a:solidFill>
                  <a:srgbClr val="C80000"/>
                </a:solidFill>
                <a:latin typeface="Arial"/>
                <a:cs typeface="Arial"/>
              </a:rPr>
              <a:t>notified</a:t>
            </a:r>
            <a:r>
              <a:rPr sz="900" spc="-20" dirty="0">
                <a:solidFill>
                  <a:srgbClr val="C80000"/>
                </a:solidFill>
                <a:latin typeface="Arial"/>
                <a:cs typeface="Arial"/>
              </a:rPr>
              <a:t> </a:t>
            </a:r>
            <a:r>
              <a:rPr sz="900" dirty="0">
                <a:latin typeface="Arial"/>
                <a:cs typeface="Arial"/>
              </a:rPr>
              <a:t>when</a:t>
            </a:r>
            <a:r>
              <a:rPr sz="900" spc="-20" dirty="0">
                <a:latin typeface="Arial"/>
                <a:cs typeface="Arial"/>
              </a:rPr>
              <a:t> </a:t>
            </a:r>
            <a:r>
              <a:rPr sz="900" dirty="0">
                <a:latin typeface="Arial"/>
                <a:cs typeface="Arial"/>
              </a:rPr>
              <a:t>a</a:t>
            </a:r>
            <a:r>
              <a:rPr sz="900" spc="-20" dirty="0">
                <a:latin typeface="Arial"/>
                <a:cs typeface="Arial"/>
              </a:rPr>
              <a:t> </a:t>
            </a:r>
            <a:r>
              <a:rPr sz="900" dirty="0">
                <a:latin typeface="Arial"/>
                <a:cs typeface="Arial"/>
              </a:rPr>
              <a:t>node,</a:t>
            </a:r>
            <a:r>
              <a:rPr sz="900" spc="-25" dirty="0">
                <a:latin typeface="Arial"/>
                <a:cs typeface="Arial"/>
              </a:rPr>
              <a:t> </a:t>
            </a:r>
            <a:r>
              <a:rPr sz="900" dirty="0">
                <a:latin typeface="Arial"/>
                <a:cs typeface="Arial"/>
              </a:rPr>
              <a:t>or</a:t>
            </a:r>
            <a:r>
              <a:rPr sz="900" spc="-20" dirty="0">
                <a:latin typeface="Arial"/>
                <a:cs typeface="Arial"/>
              </a:rPr>
              <a:t> </a:t>
            </a:r>
            <a:r>
              <a:rPr sz="900" dirty="0">
                <a:latin typeface="Arial"/>
                <a:cs typeface="Arial"/>
              </a:rPr>
              <a:t>a</a:t>
            </a:r>
            <a:r>
              <a:rPr sz="900" spc="-20" dirty="0">
                <a:latin typeface="Arial"/>
                <a:cs typeface="Arial"/>
              </a:rPr>
              <a:t> </a:t>
            </a:r>
            <a:r>
              <a:rPr sz="900" dirty="0">
                <a:latin typeface="Arial"/>
                <a:cs typeface="Arial"/>
              </a:rPr>
              <a:t>branch</a:t>
            </a:r>
            <a:r>
              <a:rPr sz="900" spc="-20" dirty="0">
                <a:latin typeface="Arial"/>
                <a:cs typeface="Arial"/>
              </a:rPr>
              <a:t> </a:t>
            </a:r>
            <a:r>
              <a:rPr sz="900" dirty="0">
                <a:latin typeface="Arial"/>
                <a:cs typeface="Arial"/>
              </a:rPr>
              <a:t>in</a:t>
            </a:r>
            <a:r>
              <a:rPr sz="900" spc="-25" dirty="0">
                <a:latin typeface="Arial"/>
                <a:cs typeface="Arial"/>
              </a:rPr>
              <a:t> </a:t>
            </a:r>
            <a:r>
              <a:rPr sz="900" dirty="0">
                <a:latin typeface="Arial"/>
                <a:cs typeface="Arial"/>
              </a:rPr>
              <a:t>the</a:t>
            </a:r>
            <a:r>
              <a:rPr sz="900" spc="-20" dirty="0">
                <a:latin typeface="Arial"/>
                <a:cs typeface="Arial"/>
              </a:rPr>
              <a:t> </a:t>
            </a:r>
            <a:r>
              <a:rPr sz="900" spc="-10" dirty="0">
                <a:latin typeface="Arial"/>
                <a:cs typeface="Arial"/>
              </a:rPr>
              <a:t>tree, </a:t>
            </a:r>
            <a:r>
              <a:rPr sz="900" dirty="0">
                <a:latin typeface="Arial"/>
                <a:cs typeface="Arial"/>
              </a:rPr>
              <a:t>changes.</a:t>
            </a:r>
            <a:r>
              <a:rPr sz="900" spc="20" dirty="0">
                <a:latin typeface="Arial"/>
                <a:cs typeface="Arial"/>
              </a:rPr>
              <a:t> </a:t>
            </a:r>
            <a:r>
              <a:rPr sz="900" dirty="0">
                <a:latin typeface="Arial"/>
                <a:cs typeface="Arial"/>
              </a:rPr>
              <a:t>This</a:t>
            </a:r>
            <a:r>
              <a:rPr sz="900" spc="-30" dirty="0">
                <a:latin typeface="Arial"/>
                <a:cs typeface="Arial"/>
              </a:rPr>
              <a:t> </a:t>
            </a:r>
            <a:r>
              <a:rPr sz="900" dirty="0">
                <a:latin typeface="Arial"/>
                <a:cs typeface="Arial"/>
              </a:rPr>
              <a:t>may</a:t>
            </a:r>
            <a:r>
              <a:rPr sz="900" spc="-35" dirty="0">
                <a:latin typeface="Arial"/>
                <a:cs typeface="Arial"/>
              </a:rPr>
              <a:t> </a:t>
            </a:r>
            <a:r>
              <a:rPr sz="900" dirty="0">
                <a:latin typeface="Arial"/>
                <a:cs typeface="Arial"/>
              </a:rPr>
              <a:t>easily</a:t>
            </a:r>
            <a:r>
              <a:rPr sz="900" spc="-30" dirty="0">
                <a:latin typeface="Arial"/>
                <a:cs typeface="Arial"/>
              </a:rPr>
              <a:t> </a:t>
            </a:r>
            <a:r>
              <a:rPr sz="900" dirty="0">
                <a:latin typeface="Arial"/>
                <a:cs typeface="Arial"/>
              </a:rPr>
              <a:t>lead</a:t>
            </a:r>
            <a:r>
              <a:rPr sz="900" spc="-30" dirty="0">
                <a:latin typeface="Arial"/>
                <a:cs typeface="Arial"/>
              </a:rPr>
              <a:t> </a:t>
            </a:r>
            <a:r>
              <a:rPr sz="900" dirty="0">
                <a:latin typeface="Arial"/>
                <a:cs typeface="Arial"/>
              </a:rPr>
              <a:t>to</a:t>
            </a:r>
            <a:r>
              <a:rPr sz="900" spc="-30" dirty="0">
                <a:latin typeface="Arial"/>
                <a:cs typeface="Arial"/>
              </a:rPr>
              <a:t> </a:t>
            </a:r>
            <a:r>
              <a:rPr sz="900" dirty="0">
                <a:solidFill>
                  <a:srgbClr val="C80000"/>
                </a:solidFill>
                <a:latin typeface="Arial"/>
                <a:cs typeface="Arial"/>
              </a:rPr>
              <a:t>race</a:t>
            </a:r>
            <a:r>
              <a:rPr sz="900" spc="-35" dirty="0">
                <a:solidFill>
                  <a:srgbClr val="C80000"/>
                </a:solidFill>
                <a:latin typeface="Arial"/>
                <a:cs typeface="Arial"/>
              </a:rPr>
              <a:t> </a:t>
            </a:r>
            <a:r>
              <a:rPr sz="900" spc="-10" dirty="0">
                <a:solidFill>
                  <a:srgbClr val="C80000"/>
                </a:solidFill>
                <a:latin typeface="Arial"/>
                <a:cs typeface="Arial"/>
              </a:rPr>
              <a:t>conditions</a:t>
            </a:r>
            <a:r>
              <a:rPr sz="900" spc="-10" dirty="0">
                <a:latin typeface="Arial"/>
                <a:cs typeface="Arial"/>
              </a:rPr>
              <a:t>.</a:t>
            </a:r>
            <a:endParaRPr sz="900">
              <a:latin typeface="Arial"/>
              <a:cs typeface="Arial"/>
            </a:endParaRPr>
          </a:p>
          <a:p>
            <a:pPr marL="38100">
              <a:lnSpc>
                <a:spcPct val="100000"/>
              </a:lnSpc>
              <a:spcBef>
                <a:spcPts val="750"/>
              </a:spcBef>
            </a:pPr>
            <a:r>
              <a:rPr sz="1000" dirty="0">
                <a:solidFill>
                  <a:srgbClr val="4C994C"/>
                </a:solidFill>
                <a:latin typeface="Arial"/>
                <a:cs typeface="Arial"/>
              </a:rPr>
              <a:t>Consider</a:t>
            </a:r>
            <a:r>
              <a:rPr sz="1000" spc="-40" dirty="0">
                <a:solidFill>
                  <a:srgbClr val="4C994C"/>
                </a:solidFill>
                <a:latin typeface="Arial"/>
                <a:cs typeface="Arial"/>
              </a:rPr>
              <a:t> </a:t>
            </a:r>
            <a:r>
              <a:rPr sz="1000" dirty="0">
                <a:solidFill>
                  <a:srgbClr val="4C994C"/>
                </a:solidFill>
                <a:latin typeface="Arial"/>
                <a:cs typeface="Arial"/>
              </a:rPr>
              <a:t>a</a:t>
            </a:r>
            <a:r>
              <a:rPr sz="1000" spc="-35" dirty="0">
                <a:solidFill>
                  <a:srgbClr val="4C994C"/>
                </a:solidFill>
                <a:latin typeface="Arial"/>
                <a:cs typeface="Arial"/>
              </a:rPr>
              <a:t> </a:t>
            </a:r>
            <a:r>
              <a:rPr sz="1000" dirty="0">
                <a:solidFill>
                  <a:srgbClr val="4C994C"/>
                </a:solidFill>
                <a:latin typeface="Arial"/>
                <a:cs typeface="Arial"/>
              </a:rPr>
              <a:t>simple</a:t>
            </a:r>
            <a:r>
              <a:rPr sz="1000" spc="-35" dirty="0">
                <a:solidFill>
                  <a:srgbClr val="4C994C"/>
                </a:solidFill>
                <a:latin typeface="Arial"/>
                <a:cs typeface="Arial"/>
              </a:rPr>
              <a:t> </a:t>
            </a:r>
            <a:r>
              <a:rPr sz="1000" dirty="0">
                <a:solidFill>
                  <a:srgbClr val="4C994C"/>
                </a:solidFill>
                <a:latin typeface="Arial"/>
                <a:cs typeface="Arial"/>
              </a:rPr>
              <a:t>locking</a:t>
            </a:r>
            <a:r>
              <a:rPr sz="1000" spc="-40" dirty="0">
                <a:solidFill>
                  <a:srgbClr val="4C994C"/>
                </a:solidFill>
                <a:latin typeface="Arial"/>
                <a:cs typeface="Arial"/>
              </a:rPr>
              <a:t> </a:t>
            </a:r>
            <a:r>
              <a:rPr sz="1000" spc="-10" dirty="0">
                <a:solidFill>
                  <a:srgbClr val="4C994C"/>
                </a:solidFill>
                <a:latin typeface="Arial"/>
                <a:cs typeface="Arial"/>
              </a:rPr>
              <a:t>mechanism</a:t>
            </a:r>
            <a:endParaRPr sz="1000">
              <a:latin typeface="Arial"/>
              <a:cs typeface="Arial"/>
            </a:endParaRPr>
          </a:p>
          <a:p>
            <a:pPr marL="287020" indent="-154940">
              <a:lnSpc>
                <a:spcPct val="100000"/>
              </a:lnSpc>
              <a:spcBef>
                <a:spcPts val="705"/>
              </a:spcBef>
              <a:buClr>
                <a:srgbClr val="264C26"/>
              </a:buClr>
              <a:buAutoNum type="arabicPeriod"/>
              <a:tabLst>
                <a:tab pos="287655" algn="l"/>
              </a:tabLst>
            </a:pPr>
            <a:r>
              <a:rPr sz="900" dirty="0">
                <a:latin typeface="Arial"/>
                <a:cs typeface="Arial"/>
              </a:rPr>
              <a:t>A</a:t>
            </a:r>
            <a:r>
              <a:rPr sz="900" spc="-15" dirty="0">
                <a:latin typeface="Arial"/>
                <a:cs typeface="Arial"/>
              </a:rPr>
              <a:t> </a:t>
            </a:r>
            <a:r>
              <a:rPr sz="900" dirty="0">
                <a:latin typeface="Arial"/>
                <a:cs typeface="Arial"/>
              </a:rPr>
              <a:t>client</a:t>
            </a:r>
            <a:r>
              <a:rPr sz="900" spc="-10" dirty="0">
                <a:latin typeface="Arial"/>
                <a:cs typeface="Arial"/>
              </a:rPr>
              <a:t> </a:t>
            </a:r>
            <a:r>
              <a:rPr sz="900" i="1" dirty="0">
                <a:latin typeface="Arial"/>
                <a:cs typeface="Arial"/>
              </a:rPr>
              <a:t>C</a:t>
            </a:r>
            <a:r>
              <a:rPr sz="1050" i="1" baseline="-15873" dirty="0">
                <a:latin typeface="Arial"/>
                <a:cs typeface="Arial"/>
              </a:rPr>
              <a:t>1</a:t>
            </a:r>
            <a:r>
              <a:rPr sz="1050" i="1" spc="142" baseline="-15873" dirty="0">
                <a:latin typeface="Arial"/>
                <a:cs typeface="Arial"/>
              </a:rPr>
              <a:t> </a:t>
            </a:r>
            <a:r>
              <a:rPr sz="900" dirty="0">
                <a:latin typeface="Arial"/>
                <a:cs typeface="Arial"/>
              </a:rPr>
              <a:t>creates</a:t>
            </a:r>
            <a:r>
              <a:rPr sz="900" spc="-10" dirty="0">
                <a:latin typeface="Arial"/>
                <a:cs typeface="Arial"/>
              </a:rPr>
              <a:t> </a:t>
            </a:r>
            <a:r>
              <a:rPr sz="900" dirty="0">
                <a:latin typeface="Arial"/>
                <a:cs typeface="Arial"/>
              </a:rPr>
              <a:t>a</a:t>
            </a:r>
            <a:r>
              <a:rPr sz="900" spc="-10" dirty="0">
                <a:latin typeface="Arial"/>
                <a:cs typeface="Arial"/>
              </a:rPr>
              <a:t> </a:t>
            </a:r>
            <a:r>
              <a:rPr sz="900" dirty="0">
                <a:latin typeface="Arial"/>
                <a:cs typeface="Arial"/>
              </a:rPr>
              <a:t>node</a:t>
            </a:r>
            <a:r>
              <a:rPr sz="900" spc="-10" dirty="0">
                <a:latin typeface="Arial"/>
                <a:cs typeface="Arial"/>
              </a:rPr>
              <a:t> </a:t>
            </a:r>
            <a:r>
              <a:rPr sz="900" i="1" dirty="0">
                <a:latin typeface="STIX Two Text"/>
                <a:cs typeface="STIX Two Text"/>
              </a:rPr>
              <a:t>/</a:t>
            </a:r>
            <a:r>
              <a:rPr sz="900" i="1" dirty="0">
                <a:latin typeface="Arial"/>
                <a:cs typeface="Arial"/>
              </a:rPr>
              <a:t>lock</a:t>
            </a:r>
            <a:r>
              <a:rPr sz="900" i="1" spc="-165" dirty="0">
                <a:latin typeface="Arial"/>
                <a:cs typeface="Arial"/>
              </a:rPr>
              <a:t> </a:t>
            </a:r>
            <a:r>
              <a:rPr sz="900" spc="-50" dirty="0">
                <a:latin typeface="Arial"/>
                <a:cs typeface="Arial"/>
              </a:rPr>
              <a:t>.</a:t>
            </a:r>
            <a:endParaRPr sz="900">
              <a:latin typeface="Arial"/>
              <a:cs typeface="Arial"/>
            </a:endParaRPr>
          </a:p>
          <a:p>
            <a:pPr marL="290830" marR="133350" indent="-158750">
              <a:lnSpc>
                <a:spcPct val="111600"/>
              </a:lnSpc>
              <a:spcBef>
                <a:spcPts val="300"/>
              </a:spcBef>
              <a:buClr>
                <a:srgbClr val="264C26"/>
              </a:buClr>
              <a:buAutoNum type="arabicPeriod"/>
              <a:tabLst>
                <a:tab pos="287655" algn="l"/>
              </a:tabLst>
            </a:pPr>
            <a:r>
              <a:rPr sz="900" dirty="0">
                <a:latin typeface="Arial"/>
                <a:cs typeface="Arial"/>
              </a:rPr>
              <a:t>A</a:t>
            </a:r>
            <a:r>
              <a:rPr sz="900" spc="-25" dirty="0">
                <a:latin typeface="Arial"/>
                <a:cs typeface="Arial"/>
              </a:rPr>
              <a:t> </a:t>
            </a:r>
            <a:r>
              <a:rPr sz="900" dirty="0">
                <a:latin typeface="Arial"/>
                <a:cs typeface="Arial"/>
              </a:rPr>
              <a:t>client</a:t>
            </a:r>
            <a:r>
              <a:rPr sz="900" spc="-25" dirty="0">
                <a:latin typeface="Arial"/>
                <a:cs typeface="Arial"/>
              </a:rPr>
              <a:t> </a:t>
            </a:r>
            <a:r>
              <a:rPr sz="900" i="1" dirty="0">
                <a:latin typeface="Arial"/>
                <a:cs typeface="Arial"/>
              </a:rPr>
              <a:t>C</a:t>
            </a:r>
            <a:r>
              <a:rPr sz="1050" i="1" baseline="-15873" dirty="0">
                <a:latin typeface="Arial"/>
                <a:cs typeface="Arial"/>
              </a:rPr>
              <a:t>2</a:t>
            </a:r>
            <a:r>
              <a:rPr sz="1050" i="1" spc="165" baseline="-15873" dirty="0">
                <a:latin typeface="Arial"/>
                <a:cs typeface="Arial"/>
              </a:rPr>
              <a:t> </a:t>
            </a:r>
            <a:r>
              <a:rPr sz="900" dirty="0">
                <a:latin typeface="Arial"/>
                <a:cs typeface="Arial"/>
              </a:rPr>
              <a:t>wants</a:t>
            </a:r>
            <a:r>
              <a:rPr sz="900" spc="-25"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acquire</a:t>
            </a:r>
            <a:r>
              <a:rPr sz="900" spc="-20" dirty="0">
                <a:latin typeface="Arial"/>
                <a:cs typeface="Arial"/>
              </a:rPr>
              <a:t> </a:t>
            </a:r>
            <a:r>
              <a:rPr sz="900" dirty="0">
                <a:latin typeface="Arial"/>
                <a:cs typeface="Arial"/>
              </a:rPr>
              <a:t>the</a:t>
            </a:r>
            <a:r>
              <a:rPr sz="900" spc="-25" dirty="0">
                <a:latin typeface="Arial"/>
                <a:cs typeface="Arial"/>
              </a:rPr>
              <a:t> </a:t>
            </a:r>
            <a:r>
              <a:rPr sz="900" dirty="0">
                <a:latin typeface="Arial"/>
                <a:cs typeface="Arial"/>
              </a:rPr>
              <a:t>lock</a:t>
            </a:r>
            <a:r>
              <a:rPr sz="900" spc="-25" dirty="0">
                <a:latin typeface="Arial"/>
                <a:cs typeface="Arial"/>
              </a:rPr>
              <a:t> </a:t>
            </a:r>
            <a:r>
              <a:rPr sz="900" dirty="0">
                <a:latin typeface="Arial"/>
                <a:cs typeface="Arial"/>
              </a:rPr>
              <a:t>but</a:t>
            </a:r>
            <a:r>
              <a:rPr sz="900" spc="-25" dirty="0">
                <a:latin typeface="Arial"/>
                <a:cs typeface="Arial"/>
              </a:rPr>
              <a:t> </a:t>
            </a:r>
            <a:r>
              <a:rPr sz="900" dirty="0">
                <a:latin typeface="Arial"/>
                <a:cs typeface="Arial"/>
              </a:rPr>
              <a:t>is</a:t>
            </a:r>
            <a:r>
              <a:rPr sz="900" spc="-25" dirty="0">
                <a:latin typeface="Arial"/>
                <a:cs typeface="Arial"/>
              </a:rPr>
              <a:t> </a:t>
            </a:r>
            <a:r>
              <a:rPr sz="900" dirty="0">
                <a:latin typeface="Arial"/>
                <a:cs typeface="Arial"/>
              </a:rPr>
              <a:t>notified</a:t>
            </a:r>
            <a:r>
              <a:rPr sz="900" spc="-25" dirty="0">
                <a:latin typeface="Arial"/>
                <a:cs typeface="Arial"/>
              </a:rPr>
              <a:t> </a:t>
            </a:r>
            <a:r>
              <a:rPr sz="900" dirty="0">
                <a:latin typeface="Arial"/>
                <a:cs typeface="Arial"/>
              </a:rPr>
              <a:t>that</a:t>
            </a:r>
            <a:r>
              <a:rPr sz="900" spc="-25" dirty="0">
                <a:latin typeface="Arial"/>
                <a:cs typeface="Arial"/>
              </a:rPr>
              <a:t> </a:t>
            </a:r>
            <a:r>
              <a:rPr sz="900" dirty="0">
                <a:latin typeface="Arial"/>
                <a:cs typeface="Arial"/>
              </a:rPr>
              <a:t>the</a:t>
            </a:r>
            <a:r>
              <a:rPr sz="900" spc="-25" dirty="0">
                <a:latin typeface="Arial"/>
                <a:cs typeface="Arial"/>
              </a:rPr>
              <a:t> </a:t>
            </a:r>
            <a:r>
              <a:rPr sz="900" spc="-10" dirty="0">
                <a:latin typeface="Arial"/>
                <a:cs typeface="Arial"/>
              </a:rPr>
              <a:t>associated </a:t>
            </a:r>
            <a:r>
              <a:rPr sz="900" dirty="0">
                <a:latin typeface="Arial"/>
                <a:cs typeface="Arial"/>
              </a:rPr>
              <a:t>node</a:t>
            </a:r>
            <a:r>
              <a:rPr sz="900" spc="-30" dirty="0">
                <a:latin typeface="Arial"/>
                <a:cs typeface="Arial"/>
              </a:rPr>
              <a:t> </a:t>
            </a:r>
            <a:r>
              <a:rPr sz="900" dirty="0">
                <a:latin typeface="Arial"/>
                <a:cs typeface="Arial"/>
              </a:rPr>
              <a:t>already</a:t>
            </a:r>
            <a:r>
              <a:rPr sz="900" spc="-30" dirty="0">
                <a:latin typeface="Arial"/>
                <a:cs typeface="Arial"/>
              </a:rPr>
              <a:t> </a:t>
            </a:r>
            <a:r>
              <a:rPr sz="900" spc="-10" dirty="0">
                <a:latin typeface="Arial"/>
                <a:cs typeface="Arial"/>
              </a:rPr>
              <a:t>exists.</a:t>
            </a:r>
            <a:endParaRPr sz="900">
              <a:latin typeface="Arial"/>
              <a:cs typeface="Arial"/>
            </a:endParaRPr>
          </a:p>
          <a:p>
            <a:pPr marL="290830" indent="-158750">
              <a:lnSpc>
                <a:spcPct val="100000"/>
              </a:lnSpc>
              <a:spcBef>
                <a:spcPts val="425"/>
              </a:spcBef>
              <a:buClr>
                <a:srgbClr val="264C26"/>
              </a:buClr>
              <a:buAutoNum type="arabicPeriod"/>
              <a:tabLst>
                <a:tab pos="291465" algn="l"/>
              </a:tabLst>
            </a:pPr>
            <a:r>
              <a:rPr sz="900" dirty="0">
                <a:latin typeface="Arial"/>
                <a:cs typeface="Arial"/>
              </a:rPr>
              <a:t>Before</a:t>
            </a:r>
            <a:r>
              <a:rPr sz="900" spc="-30" dirty="0">
                <a:latin typeface="Arial"/>
                <a:cs typeface="Arial"/>
              </a:rPr>
              <a:t> </a:t>
            </a:r>
            <a:r>
              <a:rPr sz="900" i="1" dirty="0">
                <a:latin typeface="Arial"/>
                <a:cs typeface="Arial"/>
              </a:rPr>
              <a:t>C</a:t>
            </a:r>
            <a:r>
              <a:rPr sz="1050" i="1" baseline="-15873" dirty="0">
                <a:latin typeface="Arial"/>
                <a:cs typeface="Arial"/>
              </a:rPr>
              <a:t>2</a:t>
            </a:r>
            <a:r>
              <a:rPr sz="1050" i="1" spc="157" baseline="-15873" dirty="0">
                <a:latin typeface="Arial"/>
                <a:cs typeface="Arial"/>
              </a:rPr>
              <a:t> </a:t>
            </a:r>
            <a:r>
              <a:rPr sz="900" dirty="0">
                <a:latin typeface="Arial"/>
                <a:cs typeface="Arial"/>
              </a:rPr>
              <a:t>subscribes</a:t>
            </a:r>
            <a:r>
              <a:rPr sz="900" spc="-30" dirty="0">
                <a:latin typeface="Arial"/>
                <a:cs typeface="Arial"/>
              </a:rPr>
              <a:t> </a:t>
            </a:r>
            <a:r>
              <a:rPr sz="900" dirty="0">
                <a:latin typeface="Arial"/>
                <a:cs typeface="Arial"/>
              </a:rPr>
              <a:t>to</a:t>
            </a:r>
            <a:r>
              <a:rPr sz="900" spc="-30" dirty="0">
                <a:latin typeface="Arial"/>
                <a:cs typeface="Arial"/>
              </a:rPr>
              <a:t> </a:t>
            </a:r>
            <a:r>
              <a:rPr sz="900" dirty="0">
                <a:latin typeface="Arial"/>
                <a:cs typeface="Arial"/>
              </a:rPr>
              <a:t>a</a:t>
            </a:r>
            <a:r>
              <a:rPr sz="900" spc="-30" dirty="0">
                <a:latin typeface="Arial"/>
                <a:cs typeface="Arial"/>
              </a:rPr>
              <a:t> </a:t>
            </a:r>
            <a:r>
              <a:rPr sz="900" dirty="0">
                <a:latin typeface="Arial"/>
                <a:cs typeface="Arial"/>
              </a:rPr>
              <a:t>notification,</a:t>
            </a:r>
            <a:r>
              <a:rPr sz="900" spc="-30" dirty="0">
                <a:latin typeface="Arial"/>
                <a:cs typeface="Arial"/>
              </a:rPr>
              <a:t> </a:t>
            </a:r>
            <a:r>
              <a:rPr sz="900" i="1" dirty="0">
                <a:latin typeface="Arial"/>
                <a:cs typeface="Arial"/>
              </a:rPr>
              <a:t>C</a:t>
            </a:r>
            <a:r>
              <a:rPr sz="1050" i="1" baseline="-15873" dirty="0">
                <a:latin typeface="Arial"/>
                <a:cs typeface="Arial"/>
              </a:rPr>
              <a:t>1</a:t>
            </a:r>
            <a:r>
              <a:rPr sz="1050" i="1" spc="104" baseline="-15873" dirty="0">
                <a:latin typeface="Arial"/>
                <a:cs typeface="Arial"/>
              </a:rPr>
              <a:t> </a:t>
            </a:r>
            <a:r>
              <a:rPr sz="900" dirty="0">
                <a:latin typeface="Arial"/>
                <a:cs typeface="Arial"/>
              </a:rPr>
              <a:t>releases</a:t>
            </a:r>
            <a:r>
              <a:rPr sz="900" spc="-30" dirty="0">
                <a:latin typeface="Arial"/>
                <a:cs typeface="Arial"/>
              </a:rPr>
              <a:t> </a:t>
            </a:r>
            <a:r>
              <a:rPr sz="900" dirty="0">
                <a:latin typeface="Arial"/>
                <a:cs typeface="Arial"/>
              </a:rPr>
              <a:t>the</a:t>
            </a:r>
            <a:r>
              <a:rPr sz="900" spc="-30" dirty="0">
                <a:latin typeface="Arial"/>
                <a:cs typeface="Arial"/>
              </a:rPr>
              <a:t> </a:t>
            </a:r>
            <a:r>
              <a:rPr sz="900" dirty="0">
                <a:latin typeface="Arial"/>
                <a:cs typeface="Arial"/>
              </a:rPr>
              <a:t>lock,</a:t>
            </a:r>
            <a:r>
              <a:rPr sz="900" spc="-30" dirty="0">
                <a:latin typeface="Arial"/>
                <a:cs typeface="Arial"/>
              </a:rPr>
              <a:t> </a:t>
            </a:r>
            <a:r>
              <a:rPr sz="900" dirty="0">
                <a:latin typeface="Arial"/>
                <a:cs typeface="Arial"/>
              </a:rPr>
              <a:t>i.e.,</a:t>
            </a:r>
            <a:r>
              <a:rPr sz="900" spc="-30" dirty="0">
                <a:latin typeface="Arial"/>
                <a:cs typeface="Arial"/>
              </a:rPr>
              <a:t> </a:t>
            </a:r>
            <a:r>
              <a:rPr sz="900" spc="-10" dirty="0">
                <a:latin typeface="Arial"/>
                <a:cs typeface="Arial"/>
              </a:rPr>
              <a:t>deletes</a:t>
            </a:r>
            <a:endParaRPr sz="900">
              <a:latin typeface="Arial"/>
              <a:cs typeface="Arial"/>
            </a:endParaRPr>
          </a:p>
          <a:p>
            <a:pPr marL="290830">
              <a:lnSpc>
                <a:spcPct val="100000"/>
              </a:lnSpc>
              <a:spcBef>
                <a:spcPts val="125"/>
              </a:spcBef>
            </a:pPr>
            <a:r>
              <a:rPr sz="900" i="1" dirty="0">
                <a:latin typeface="STIX Two Text"/>
                <a:cs typeface="STIX Two Text"/>
              </a:rPr>
              <a:t>/</a:t>
            </a:r>
            <a:r>
              <a:rPr sz="900" i="1" dirty="0">
                <a:latin typeface="Arial"/>
                <a:cs typeface="Arial"/>
              </a:rPr>
              <a:t>lock</a:t>
            </a:r>
            <a:r>
              <a:rPr sz="900" i="1" spc="-105" dirty="0">
                <a:latin typeface="Arial"/>
                <a:cs typeface="Arial"/>
              </a:rPr>
              <a:t> </a:t>
            </a:r>
            <a:r>
              <a:rPr sz="900" spc="-50" dirty="0">
                <a:latin typeface="Arial"/>
                <a:cs typeface="Arial"/>
              </a:rPr>
              <a:t>.</a:t>
            </a:r>
            <a:endParaRPr sz="900">
              <a:latin typeface="Arial"/>
              <a:cs typeface="Arial"/>
            </a:endParaRPr>
          </a:p>
          <a:p>
            <a:pPr marL="290830" indent="-158750">
              <a:lnSpc>
                <a:spcPct val="100000"/>
              </a:lnSpc>
              <a:spcBef>
                <a:spcPts val="425"/>
              </a:spcBef>
              <a:buClr>
                <a:srgbClr val="264C26"/>
              </a:buClr>
              <a:buAutoNum type="arabicPeriod" startAt="4"/>
              <a:tabLst>
                <a:tab pos="291465" algn="l"/>
              </a:tabLst>
            </a:pPr>
            <a:r>
              <a:rPr sz="900" dirty="0">
                <a:latin typeface="Arial"/>
                <a:cs typeface="Arial"/>
              </a:rPr>
              <a:t>Client</a:t>
            </a:r>
            <a:r>
              <a:rPr sz="900" spc="-15" dirty="0">
                <a:latin typeface="Arial"/>
                <a:cs typeface="Arial"/>
              </a:rPr>
              <a:t> </a:t>
            </a:r>
            <a:r>
              <a:rPr sz="900" i="1" dirty="0">
                <a:latin typeface="Arial"/>
                <a:cs typeface="Arial"/>
              </a:rPr>
              <a:t>C</a:t>
            </a:r>
            <a:r>
              <a:rPr sz="1050" i="1" baseline="-15873" dirty="0">
                <a:latin typeface="Arial"/>
                <a:cs typeface="Arial"/>
              </a:rPr>
              <a:t>2</a:t>
            </a:r>
            <a:r>
              <a:rPr sz="1050" i="1" spc="195" baseline="-15873" dirty="0">
                <a:latin typeface="Arial"/>
                <a:cs typeface="Arial"/>
              </a:rPr>
              <a:t> </a:t>
            </a:r>
            <a:r>
              <a:rPr sz="900" dirty="0">
                <a:latin typeface="Arial"/>
                <a:cs typeface="Arial"/>
              </a:rPr>
              <a:t>subscribes</a:t>
            </a:r>
            <a:r>
              <a:rPr sz="900" spc="-15" dirty="0">
                <a:latin typeface="Arial"/>
                <a:cs typeface="Arial"/>
              </a:rPr>
              <a:t> </a:t>
            </a:r>
            <a:r>
              <a:rPr sz="900" dirty="0">
                <a:latin typeface="Arial"/>
                <a:cs typeface="Arial"/>
              </a:rPr>
              <a:t>to</a:t>
            </a:r>
            <a:r>
              <a:rPr sz="900" spc="-10" dirty="0">
                <a:latin typeface="Arial"/>
                <a:cs typeface="Arial"/>
              </a:rPr>
              <a:t> </a:t>
            </a:r>
            <a:r>
              <a:rPr sz="900" dirty="0">
                <a:latin typeface="Arial"/>
                <a:cs typeface="Arial"/>
              </a:rPr>
              <a:t>changes</a:t>
            </a:r>
            <a:r>
              <a:rPr sz="900" spc="-15" dirty="0">
                <a:latin typeface="Arial"/>
                <a:cs typeface="Arial"/>
              </a:rPr>
              <a:t> </a:t>
            </a:r>
            <a:r>
              <a:rPr sz="900" dirty="0">
                <a:latin typeface="Arial"/>
                <a:cs typeface="Arial"/>
              </a:rPr>
              <a:t>to</a:t>
            </a:r>
            <a:r>
              <a:rPr sz="900" spc="-10" dirty="0">
                <a:latin typeface="Arial"/>
                <a:cs typeface="Arial"/>
              </a:rPr>
              <a:t> </a:t>
            </a:r>
            <a:r>
              <a:rPr sz="900" i="1" dirty="0">
                <a:latin typeface="STIX Two Text"/>
                <a:cs typeface="STIX Two Text"/>
              </a:rPr>
              <a:t>/</a:t>
            </a:r>
            <a:r>
              <a:rPr sz="900" i="1" dirty="0">
                <a:latin typeface="Arial"/>
                <a:cs typeface="Arial"/>
              </a:rPr>
              <a:t>lock</a:t>
            </a:r>
            <a:r>
              <a:rPr sz="900" i="1" spc="70" dirty="0">
                <a:latin typeface="Arial"/>
                <a:cs typeface="Arial"/>
              </a:rPr>
              <a:t> </a:t>
            </a:r>
            <a:r>
              <a:rPr sz="900" dirty="0">
                <a:latin typeface="Arial"/>
                <a:cs typeface="Arial"/>
              </a:rPr>
              <a:t>and</a:t>
            </a:r>
            <a:r>
              <a:rPr sz="900" spc="-10" dirty="0">
                <a:latin typeface="Arial"/>
                <a:cs typeface="Arial"/>
              </a:rPr>
              <a:t> blocks</a:t>
            </a:r>
            <a:r>
              <a:rPr sz="900" spc="-15" dirty="0">
                <a:latin typeface="Arial"/>
                <a:cs typeface="Arial"/>
              </a:rPr>
              <a:t> </a:t>
            </a:r>
            <a:r>
              <a:rPr sz="900" spc="-10" dirty="0">
                <a:latin typeface="Arial"/>
                <a:cs typeface="Arial"/>
              </a:rPr>
              <a:t>locally.</a:t>
            </a:r>
            <a:endParaRPr sz="900">
              <a:latin typeface="Arial"/>
              <a:cs typeface="Arial"/>
            </a:endParaRPr>
          </a:p>
          <a:p>
            <a:pPr>
              <a:lnSpc>
                <a:spcPct val="100000"/>
              </a:lnSpc>
              <a:spcBef>
                <a:spcPts val="55"/>
              </a:spcBef>
            </a:pPr>
            <a:endParaRPr sz="1200">
              <a:latin typeface="Arial"/>
              <a:cs typeface="Arial"/>
            </a:endParaRPr>
          </a:p>
          <a:p>
            <a:pPr marL="38100">
              <a:lnSpc>
                <a:spcPct val="100000"/>
              </a:lnSpc>
            </a:pPr>
            <a:r>
              <a:rPr sz="1000" spc="-10" dirty="0">
                <a:solidFill>
                  <a:srgbClr val="C80000"/>
                </a:solidFill>
                <a:latin typeface="Arial"/>
                <a:cs typeface="Arial"/>
              </a:rPr>
              <a:t>Solution</a:t>
            </a:r>
            <a:endParaRPr sz="1000">
              <a:latin typeface="Arial"/>
              <a:cs typeface="Arial"/>
            </a:endParaRPr>
          </a:p>
          <a:p>
            <a:pPr marL="38100">
              <a:lnSpc>
                <a:spcPct val="100000"/>
              </a:lnSpc>
              <a:spcBef>
                <a:spcPts val="105"/>
              </a:spcBef>
            </a:pPr>
            <a:r>
              <a:rPr sz="900" dirty="0">
                <a:latin typeface="Arial"/>
                <a:cs typeface="Arial"/>
              </a:rPr>
              <a:t>Use</a:t>
            </a:r>
            <a:r>
              <a:rPr sz="900" spc="-50" dirty="0">
                <a:latin typeface="Arial"/>
                <a:cs typeface="Arial"/>
              </a:rPr>
              <a:t> </a:t>
            </a:r>
            <a:r>
              <a:rPr sz="900" dirty="0">
                <a:latin typeface="Arial"/>
                <a:cs typeface="Arial"/>
              </a:rPr>
              <a:t>version</a:t>
            </a:r>
            <a:r>
              <a:rPr sz="900" spc="-40" dirty="0">
                <a:latin typeface="Arial"/>
                <a:cs typeface="Arial"/>
              </a:rPr>
              <a:t> </a:t>
            </a:r>
            <a:r>
              <a:rPr sz="900" spc="-10" dirty="0">
                <a:latin typeface="Arial"/>
                <a:cs typeface="Arial"/>
              </a:rPr>
              <a:t>numbers</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117602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Example:</a:t>
            </a:r>
            <a:r>
              <a:rPr sz="500" spc="5" dirty="0">
                <a:latin typeface="Arial"/>
                <a:cs typeface="Arial"/>
                <a:hlinkClick r:id="rId4" action="ppaction://hlinksldjump"/>
              </a:rPr>
              <a:t> </a:t>
            </a:r>
            <a:r>
              <a:rPr sz="500" dirty="0">
                <a:latin typeface="Arial"/>
                <a:cs typeface="Arial"/>
                <a:hlinkClick r:id="rId4" action="ppaction://hlinksldjump"/>
              </a:rPr>
              <a:t>Simple</a:t>
            </a:r>
            <a:r>
              <a:rPr sz="500" spc="-20" dirty="0">
                <a:latin typeface="Arial"/>
                <a:cs typeface="Arial"/>
                <a:hlinkClick r:id="rId4" action="ppaction://hlinksldjump"/>
              </a:rPr>
              <a:t> </a:t>
            </a:r>
            <a:r>
              <a:rPr sz="500" dirty="0">
                <a:latin typeface="Arial"/>
                <a:cs typeface="Arial"/>
                <a:hlinkClick r:id="rId4" action="ppaction://hlinksldjump"/>
              </a:rPr>
              <a:t>locking</a:t>
            </a:r>
            <a:r>
              <a:rPr sz="500" spc="-20" dirty="0">
                <a:latin typeface="Arial"/>
                <a:cs typeface="Arial"/>
                <a:hlinkClick r:id="rId4" action="ppaction://hlinksldjump"/>
              </a:rPr>
              <a:t> </a:t>
            </a:r>
            <a:r>
              <a:rPr sz="500" dirty="0">
                <a:latin typeface="Arial"/>
                <a:cs typeface="Arial"/>
                <a:hlinkClick r:id="rId4" action="ppaction://hlinksldjump"/>
              </a:rPr>
              <a:t>with</a:t>
            </a:r>
            <a:r>
              <a:rPr sz="500" spc="-25" dirty="0">
                <a:latin typeface="Arial"/>
                <a:cs typeface="Arial"/>
                <a:hlinkClick r:id="rId4" action="ppaction://hlinksldjump"/>
              </a:rPr>
              <a:t> </a:t>
            </a:r>
            <a:r>
              <a:rPr sz="500" spc="-10" dirty="0">
                <a:latin typeface="Arial"/>
                <a:cs typeface="Arial"/>
                <a:hlinkClick r:id="rId4" action="ppaction://hlinksldjump"/>
              </a:rPr>
              <a:t>ZooKeeper</a:t>
            </a:r>
            <a:endParaRPr sz="500">
              <a:latin typeface="Arial"/>
              <a:cs typeface="Arial"/>
            </a:endParaRPr>
          </a:p>
        </p:txBody>
      </p:sp>
    </p:spTree>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8417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Coordination</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059910" y="-1515"/>
            <a:ext cx="49466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Mutual</a:t>
            </a:r>
            <a:r>
              <a:rPr sz="500" spc="-30"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exclusion</a:t>
            </a:r>
            <a:endParaRPr sz="500">
              <a:latin typeface="Arial"/>
              <a:cs typeface="Arial"/>
            </a:endParaRPr>
          </a:p>
        </p:txBody>
      </p:sp>
      <p:sp>
        <p:nvSpPr>
          <p:cNvPr id="5" name="object 5"/>
          <p:cNvSpPr txBox="1"/>
          <p:nvPr/>
        </p:nvSpPr>
        <p:spPr>
          <a:xfrm>
            <a:off x="95300" y="197711"/>
            <a:ext cx="1501140" cy="207645"/>
          </a:xfrm>
          <a:prstGeom prst="rect">
            <a:avLst/>
          </a:prstGeom>
        </p:spPr>
        <p:txBody>
          <a:bodyPr vert="horz" wrap="square" lIns="0" tIns="12065" rIns="0" bIns="0" rtlCol="0">
            <a:spAutoFit/>
          </a:bodyPr>
          <a:lstStyle/>
          <a:p>
            <a:pPr marL="12700">
              <a:lnSpc>
                <a:spcPct val="100000"/>
              </a:lnSpc>
              <a:spcBef>
                <a:spcPts val="95"/>
              </a:spcBef>
            </a:pPr>
            <a:r>
              <a:rPr sz="1200" spc="-10" dirty="0">
                <a:solidFill>
                  <a:srgbClr val="3333B2"/>
                </a:solidFill>
                <a:latin typeface="Arial"/>
                <a:cs typeface="Arial"/>
              </a:rPr>
              <a:t>ZooKeeper</a:t>
            </a:r>
            <a:r>
              <a:rPr sz="1200" spc="-25" dirty="0">
                <a:solidFill>
                  <a:srgbClr val="3333B2"/>
                </a:solidFill>
                <a:latin typeface="Arial"/>
                <a:cs typeface="Arial"/>
              </a:rPr>
              <a:t> </a:t>
            </a:r>
            <a:r>
              <a:rPr sz="1200" spc="-10" dirty="0">
                <a:solidFill>
                  <a:srgbClr val="3333B2"/>
                </a:solidFill>
                <a:latin typeface="Arial"/>
                <a:cs typeface="Arial"/>
              </a:rPr>
              <a:t>versioning</a:t>
            </a:r>
            <a:endParaRPr sz="1200">
              <a:latin typeface="Arial"/>
              <a:cs typeface="Arial"/>
            </a:endParaRPr>
          </a:p>
        </p:txBody>
      </p:sp>
      <p:pic>
        <p:nvPicPr>
          <p:cNvPr id="6" name="object 6"/>
          <p:cNvPicPr/>
          <p:nvPr/>
        </p:nvPicPr>
        <p:blipFill>
          <a:blip r:embed="rId4" cstate="print"/>
          <a:stretch>
            <a:fillRect/>
          </a:stretch>
        </p:blipFill>
        <p:spPr>
          <a:xfrm>
            <a:off x="836122" y="584380"/>
            <a:ext cx="2970032" cy="1163241"/>
          </a:xfrm>
          <a:prstGeom prst="rect">
            <a:avLst/>
          </a:prstGeom>
        </p:spPr>
      </p:pic>
      <p:sp>
        <p:nvSpPr>
          <p:cNvPr id="7" name="object 7"/>
          <p:cNvSpPr txBox="1"/>
          <p:nvPr/>
        </p:nvSpPr>
        <p:spPr>
          <a:xfrm>
            <a:off x="321894" y="1808875"/>
            <a:ext cx="3817620" cy="1022985"/>
          </a:xfrm>
          <a:prstGeom prst="rect">
            <a:avLst/>
          </a:prstGeom>
        </p:spPr>
        <p:txBody>
          <a:bodyPr vert="horz" wrap="square" lIns="0" tIns="83820" rIns="0" bIns="0" rtlCol="0">
            <a:spAutoFit/>
          </a:bodyPr>
          <a:lstStyle/>
          <a:p>
            <a:pPr marL="38100">
              <a:lnSpc>
                <a:spcPct val="100000"/>
              </a:lnSpc>
              <a:spcBef>
                <a:spcPts val="660"/>
              </a:spcBef>
            </a:pPr>
            <a:r>
              <a:rPr sz="1000" spc="-10" dirty="0">
                <a:solidFill>
                  <a:srgbClr val="3333B2"/>
                </a:solidFill>
                <a:latin typeface="Arial"/>
                <a:cs typeface="Arial"/>
              </a:rPr>
              <a:t>Notations</a:t>
            </a:r>
            <a:endParaRPr sz="1000">
              <a:latin typeface="Arial"/>
              <a:cs typeface="Arial"/>
            </a:endParaRPr>
          </a:p>
          <a:p>
            <a:pPr marL="290830" indent="-120650">
              <a:lnSpc>
                <a:spcPct val="100000"/>
              </a:lnSpc>
              <a:spcBef>
                <a:spcPts val="500"/>
              </a:spcBef>
              <a:buClr>
                <a:srgbClr val="3333B2"/>
              </a:buClr>
              <a:buFont typeface="Menlo"/>
              <a:buChar char="•"/>
              <a:tabLst>
                <a:tab pos="291465" algn="l"/>
              </a:tabLst>
            </a:pPr>
            <a:r>
              <a:rPr sz="900" i="1" spc="-10" dirty="0">
                <a:solidFill>
                  <a:srgbClr val="C80000"/>
                </a:solidFill>
                <a:latin typeface="Arial"/>
                <a:cs typeface="Arial"/>
              </a:rPr>
              <a:t>W</a:t>
            </a:r>
            <a:r>
              <a:rPr sz="900" i="1" spc="-130" dirty="0">
                <a:solidFill>
                  <a:srgbClr val="C80000"/>
                </a:solidFill>
                <a:latin typeface="Arial"/>
                <a:cs typeface="Arial"/>
              </a:rPr>
              <a:t> </a:t>
            </a:r>
            <a:r>
              <a:rPr sz="900" dirty="0">
                <a:solidFill>
                  <a:srgbClr val="C80000"/>
                </a:solidFill>
                <a:latin typeface="Arial"/>
                <a:cs typeface="Arial"/>
              </a:rPr>
              <a:t>(</a:t>
            </a:r>
            <a:r>
              <a:rPr sz="900" i="1" dirty="0">
                <a:solidFill>
                  <a:srgbClr val="C80000"/>
                </a:solidFill>
                <a:latin typeface="Arial"/>
                <a:cs typeface="Arial"/>
              </a:rPr>
              <a:t>n</a:t>
            </a:r>
            <a:r>
              <a:rPr sz="900" i="1" dirty="0">
                <a:solidFill>
                  <a:srgbClr val="C80000"/>
                </a:solidFill>
                <a:latin typeface="STIX Two Text"/>
                <a:cs typeface="STIX Two Text"/>
              </a:rPr>
              <a:t>,</a:t>
            </a:r>
            <a:r>
              <a:rPr sz="900" i="1" spc="-105" dirty="0">
                <a:solidFill>
                  <a:srgbClr val="C80000"/>
                </a:solidFill>
                <a:latin typeface="STIX Two Text"/>
                <a:cs typeface="STIX Two Text"/>
              </a:rPr>
              <a:t> </a:t>
            </a:r>
            <a:r>
              <a:rPr sz="900" i="1" spc="-10" dirty="0">
                <a:solidFill>
                  <a:srgbClr val="C80000"/>
                </a:solidFill>
                <a:latin typeface="Arial"/>
                <a:cs typeface="Arial"/>
              </a:rPr>
              <a:t>k</a:t>
            </a:r>
            <a:r>
              <a:rPr sz="900" i="1" spc="-165" dirty="0">
                <a:solidFill>
                  <a:srgbClr val="C80000"/>
                </a:solidFill>
                <a:latin typeface="Arial"/>
                <a:cs typeface="Arial"/>
              </a:rPr>
              <a:t> </a:t>
            </a:r>
            <a:r>
              <a:rPr sz="900" dirty="0">
                <a:solidFill>
                  <a:srgbClr val="C80000"/>
                </a:solidFill>
                <a:latin typeface="Arial"/>
                <a:cs typeface="Arial"/>
              </a:rPr>
              <a:t>)</a:t>
            </a:r>
            <a:r>
              <a:rPr sz="900" i="1" dirty="0">
                <a:solidFill>
                  <a:srgbClr val="C80000"/>
                </a:solidFill>
                <a:latin typeface="Arial"/>
                <a:cs typeface="Arial"/>
              </a:rPr>
              <a:t>a</a:t>
            </a:r>
            <a:r>
              <a:rPr sz="900" dirty="0">
                <a:latin typeface="Arial"/>
                <a:cs typeface="Arial"/>
              </a:rPr>
              <a:t>:</a:t>
            </a:r>
            <a:r>
              <a:rPr sz="900" spc="40" dirty="0">
                <a:latin typeface="Arial"/>
                <a:cs typeface="Arial"/>
              </a:rPr>
              <a:t> </a:t>
            </a:r>
            <a:r>
              <a:rPr sz="900" dirty="0">
                <a:latin typeface="Arial"/>
                <a:cs typeface="Arial"/>
              </a:rPr>
              <a:t>request</a:t>
            </a:r>
            <a:r>
              <a:rPr sz="900" spc="-5" dirty="0">
                <a:latin typeface="Arial"/>
                <a:cs typeface="Arial"/>
              </a:rPr>
              <a:t> </a:t>
            </a:r>
            <a:r>
              <a:rPr sz="900" dirty="0">
                <a:latin typeface="Arial"/>
                <a:cs typeface="Arial"/>
              </a:rPr>
              <a:t>to</a:t>
            </a:r>
            <a:r>
              <a:rPr sz="900" spc="-10" dirty="0">
                <a:latin typeface="Arial"/>
                <a:cs typeface="Arial"/>
              </a:rPr>
              <a:t> </a:t>
            </a:r>
            <a:r>
              <a:rPr sz="900" dirty="0">
                <a:latin typeface="Arial"/>
                <a:cs typeface="Arial"/>
              </a:rPr>
              <a:t>write</a:t>
            </a:r>
            <a:r>
              <a:rPr sz="900" spc="-10" dirty="0">
                <a:latin typeface="Arial"/>
                <a:cs typeface="Arial"/>
              </a:rPr>
              <a:t> </a:t>
            </a:r>
            <a:r>
              <a:rPr sz="900" i="1" dirty="0">
                <a:latin typeface="Arial"/>
                <a:cs typeface="Arial"/>
              </a:rPr>
              <a:t>a </a:t>
            </a:r>
            <a:r>
              <a:rPr sz="900" dirty="0">
                <a:latin typeface="Arial"/>
                <a:cs typeface="Arial"/>
              </a:rPr>
              <a:t>to</a:t>
            </a:r>
            <a:r>
              <a:rPr sz="900" spc="-10" dirty="0">
                <a:latin typeface="Arial"/>
                <a:cs typeface="Arial"/>
              </a:rPr>
              <a:t> </a:t>
            </a:r>
            <a:r>
              <a:rPr sz="900" dirty="0">
                <a:latin typeface="Arial"/>
                <a:cs typeface="Arial"/>
              </a:rPr>
              <a:t>node</a:t>
            </a:r>
            <a:r>
              <a:rPr sz="900" spc="-10" dirty="0">
                <a:latin typeface="Arial"/>
                <a:cs typeface="Arial"/>
              </a:rPr>
              <a:t> </a:t>
            </a:r>
            <a:r>
              <a:rPr sz="900" i="1" dirty="0">
                <a:latin typeface="Arial"/>
                <a:cs typeface="Arial"/>
              </a:rPr>
              <a:t>n</a:t>
            </a:r>
            <a:r>
              <a:rPr sz="900" dirty="0">
                <a:latin typeface="Arial"/>
                <a:cs typeface="Arial"/>
              </a:rPr>
              <a:t>,</a:t>
            </a:r>
            <a:r>
              <a:rPr sz="900" spc="-5" dirty="0">
                <a:latin typeface="Arial"/>
                <a:cs typeface="Arial"/>
              </a:rPr>
              <a:t> </a:t>
            </a:r>
            <a:r>
              <a:rPr sz="900" dirty="0">
                <a:latin typeface="Arial"/>
                <a:cs typeface="Arial"/>
              </a:rPr>
              <a:t>assuming</a:t>
            </a:r>
            <a:r>
              <a:rPr sz="900" spc="-10" dirty="0">
                <a:latin typeface="Arial"/>
                <a:cs typeface="Arial"/>
              </a:rPr>
              <a:t> </a:t>
            </a:r>
            <a:r>
              <a:rPr sz="900" dirty="0">
                <a:latin typeface="Arial"/>
                <a:cs typeface="Arial"/>
              </a:rPr>
              <a:t>current</a:t>
            </a:r>
            <a:r>
              <a:rPr sz="900" spc="-10" dirty="0">
                <a:latin typeface="Arial"/>
                <a:cs typeface="Arial"/>
              </a:rPr>
              <a:t> </a:t>
            </a:r>
            <a:r>
              <a:rPr sz="900" dirty="0">
                <a:latin typeface="Arial"/>
                <a:cs typeface="Arial"/>
              </a:rPr>
              <a:t>version</a:t>
            </a:r>
            <a:r>
              <a:rPr sz="900" spc="-10" dirty="0">
                <a:latin typeface="Arial"/>
                <a:cs typeface="Arial"/>
              </a:rPr>
              <a:t> </a:t>
            </a:r>
            <a:r>
              <a:rPr sz="900" dirty="0">
                <a:latin typeface="Arial"/>
                <a:cs typeface="Arial"/>
              </a:rPr>
              <a:t>is</a:t>
            </a:r>
            <a:r>
              <a:rPr sz="900" spc="-5" dirty="0">
                <a:latin typeface="Arial"/>
                <a:cs typeface="Arial"/>
              </a:rPr>
              <a:t> </a:t>
            </a:r>
            <a:r>
              <a:rPr sz="900" i="1" spc="-10" dirty="0">
                <a:latin typeface="Arial"/>
                <a:cs typeface="Arial"/>
              </a:rPr>
              <a:t>k</a:t>
            </a:r>
            <a:r>
              <a:rPr sz="900" i="1" spc="-165" dirty="0">
                <a:latin typeface="Arial"/>
                <a:cs typeface="Arial"/>
              </a:rPr>
              <a:t> </a:t>
            </a:r>
            <a:r>
              <a:rPr sz="900" spc="-50" dirty="0">
                <a:latin typeface="Arial"/>
                <a:cs typeface="Arial"/>
              </a:rPr>
              <a:t>.</a:t>
            </a:r>
            <a:endParaRPr sz="900">
              <a:latin typeface="Arial"/>
              <a:cs typeface="Arial"/>
            </a:endParaRPr>
          </a:p>
          <a:p>
            <a:pPr marL="290830" indent="-120650">
              <a:lnSpc>
                <a:spcPct val="100000"/>
              </a:lnSpc>
              <a:spcBef>
                <a:spcPts val="425"/>
              </a:spcBef>
              <a:buClr>
                <a:srgbClr val="3333B2"/>
              </a:buClr>
              <a:buFont typeface="Menlo"/>
              <a:buChar char="•"/>
              <a:tabLst>
                <a:tab pos="291465" algn="l"/>
              </a:tabLst>
            </a:pPr>
            <a:r>
              <a:rPr sz="900" i="1" dirty="0">
                <a:solidFill>
                  <a:srgbClr val="C80000"/>
                </a:solidFill>
                <a:latin typeface="Arial"/>
                <a:cs typeface="Arial"/>
              </a:rPr>
              <a:t>R</a:t>
            </a:r>
            <a:r>
              <a:rPr sz="900" dirty="0">
                <a:solidFill>
                  <a:srgbClr val="C80000"/>
                </a:solidFill>
                <a:latin typeface="Arial"/>
                <a:cs typeface="Arial"/>
              </a:rPr>
              <a:t>(</a:t>
            </a:r>
            <a:r>
              <a:rPr sz="900" i="1" dirty="0">
                <a:solidFill>
                  <a:srgbClr val="C80000"/>
                </a:solidFill>
                <a:latin typeface="Arial"/>
                <a:cs typeface="Arial"/>
              </a:rPr>
              <a:t>n</a:t>
            </a:r>
            <a:r>
              <a:rPr sz="900" i="1" dirty="0">
                <a:solidFill>
                  <a:srgbClr val="C80000"/>
                </a:solidFill>
                <a:latin typeface="STIX Two Text"/>
                <a:cs typeface="STIX Two Text"/>
              </a:rPr>
              <a:t>,</a:t>
            </a:r>
            <a:r>
              <a:rPr sz="900" i="1" spc="-105" dirty="0">
                <a:solidFill>
                  <a:srgbClr val="C80000"/>
                </a:solidFill>
                <a:latin typeface="STIX Two Text"/>
                <a:cs typeface="STIX Two Text"/>
              </a:rPr>
              <a:t> </a:t>
            </a:r>
            <a:r>
              <a:rPr sz="900" i="1" spc="-10" dirty="0">
                <a:solidFill>
                  <a:srgbClr val="C80000"/>
                </a:solidFill>
                <a:latin typeface="Arial"/>
                <a:cs typeface="Arial"/>
              </a:rPr>
              <a:t>k</a:t>
            </a:r>
            <a:r>
              <a:rPr sz="900" i="1" spc="-160" dirty="0">
                <a:solidFill>
                  <a:srgbClr val="C80000"/>
                </a:solidFill>
                <a:latin typeface="Arial"/>
                <a:cs typeface="Arial"/>
              </a:rPr>
              <a:t> </a:t>
            </a:r>
            <a:r>
              <a:rPr sz="900" dirty="0">
                <a:solidFill>
                  <a:srgbClr val="C80000"/>
                </a:solidFill>
                <a:latin typeface="Arial"/>
                <a:cs typeface="Arial"/>
              </a:rPr>
              <a:t>)</a:t>
            </a:r>
            <a:r>
              <a:rPr sz="900" dirty="0">
                <a:latin typeface="Arial"/>
                <a:cs typeface="Arial"/>
              </a:rPr>
              <a:t>:</a:t>
            </a:r>
            <a:r>
              <a:rPr sz="900" spc="65" dirty="0">
                <a:latin typeface="Arial"/>
                <a:cs typeface="Arial"/>
              </a:rPr>
              <a:t> </a:t>
            </a:r>
            <a:r>
              <a:rPr sz="900" dirty="0">
                <a:latin typeface="Arial"/>
                <a:cs typeface="Arial"/>
              </a:rPr>
              <a:t>current</a:t>
            </a:r>
            <a:r>
              <a:rPr sz="900" spc="5" dirty="0">
                <a:latin typeface="Arial"/>
                <a:cs typeface="Arial"/>
              </a:rPr>
              <a:t> </a:t>
            </a:r>
            <a:r>
              <a:rPr sz="900" dirty="0">
                <a:latin typeface="Arial"/>
                <a:cs typeface="Arial"/>
              </a:rPr>
              <a:t>version</a:t>
            </a:r>
            <a:r>
              <a:rPr sz="900" spc="5" dirty="0">
                <a:latin typeface="Arial"/>
                <a:cs typeface="Arial"/>
              </a:rPr>
              <a:t> </a:t>
            </a:r>
            <a:r>
              <a:rPr sz="900" dirty="0">
                <a:latin typeface="Arial"/>
                <a:cs typeface="Arial"/>
              </a:rPr>
              <a:t>of node</a:t>
            </a:r>
            <a:r>
              <a:rPr sz="900" spc="5" dirty="0">
                <a:latin typeface="Arial"/>
                <a:cs typeface="Arial"/>
              </a:rPr>
              <a:t> </a:t>
            </a:r>
            <a:r>
              <a:rPr sz="900" i="1" dirty="0">
                <a:latin typeface="Arial"/>
                <a:cs typeface="Arial"/>
              </a:rPr>
              <a:t>n</a:t>
            </a:r>
            <a:r>
              <a:rPr sz="900" i="1" spc="20" dirty="0">
                <a:latin typeface="Arial"/>
                <a:cs typeface="Arial"/>
              </a:rPr>
              <a:t> </a:t>
            </a:r>
            <a:r>
              <a:rPr sz="900" dirty="0">
                <a:latin typeface="Arial"/>
                <a:cs typeface="Arial"/>
              </a:rPr>
              <a:t>is</a:t>
            </a:r>
            <a:r>
              <a:rPr sz="900" spc="5" dirty="0">
                <a:latin typeface="Arial"/>
                <a:cs typeface="Arial"/>
              </a:rPr>
              <a:t> </a:t>
            </a:r>
            <a:r>
              <a:rPr sz="900" i="1" spc="-10" dirty="0">
                <a:latin typeface="Arial"/>
                <a:cs typeface="Arial"/>
              </a:rPr>
              <a:t>k</a:t>
            </a:r>
            <a:r>
              <a:rPr sz="900" i="1" spc="-160" dirty="0">
                <a:latin typeface="Arial"/>
                <a:cs typeface="Arial"/>
              </a:rPr>
              <a:t> </a:t>
            </a:r>
            <a:r>
              <a:rPr sz="900" spc="-50" dirty="0">
                <a:latin typeface="Arial"/>
                <a:cs typeface="Arial"/>
              </a:rPr>
              <a:t>.</a:t>
            </a:r>
            <a:endParaRPr sz="900">
              <a:latin typeface="Arial"/>
              <a:cs typeface="Arial"/>
            </a:endParaRPr>
          </a:p>
          <a:p>
            <a:pPr marL="290830" indent="-120650">
              <a:lnSpc>
                <a:spcPct val="100000"/>
              </a:lnSpc>
              <a:spcBef>
                <a:spcPts val="425"/>
              </a:spcBef>
              <a:buClr>
                <a:srgbClr val="3333B2"/>
              </a:buClr>
              <a:buFont typeface="Menlo"/>
              <a:buChar char="•"/>
              <a:tabLst>
                <a:tab pos="291465" algn="l"/>
              </a:tabLst>
            </a:pPr>
            <a:r>
              <a:rPr sz="900" i="1" dirty="0">
                <a:solidFill>
                  <a:srgbClr val="C80000"/>
                </a:solidFill>
                <a:latin typeface="Arial"/>
                <a:cs typeface="Arial"/>
              </a:rPr>
              <a:t>R</a:t>
            </a:r>
            <a:r>
              <a:rPr sz="900" dirty="0">
                <a:solidFill>
                  <a:srgbClr val="C80000"/>
                </a:solidFill>
                <a:latin typeface="Arial"/>
                <a:cs typeface="Arial"/>
              </a:rPr>
              <a:t>(</a:t>
            </a:r>
            <a:r>
              <a:rPr sz="900" i="1" dirty="0">
                <a:solidFill>
                  <a:srgbClr val="C80000"/>
                </a:solidFill>
                <a:latin typeface="Arial"/>
                <a:cs typeface="Arial"/>
              </a:rPr>
              <a:t>n</a:t>
            </a:r>
            <a:r>
              <a:rPr sz="900" dirty="0">
                <a:solidFill>
                  <a:srgbClr val="C80000"/>
                </a:solidFill>
                <a:latin typeface="Arial"/>
                <a:cs typeface="Arial"/>
              </a:rPr>
              <a:t>)</a:t>
            </a:r>
            <a:r>
              <a:rPr sz="900" dirty="0">
                <a:latin typeface="Arial"/>
                <a:cs typeface="Arial"/>
              </a:rPr>
              <a:t>:</a:t>
            </a:r>
            <a:r>
              <a:rPr sz="900" spc="45" dirty="0">
                <a:latin typeface="Arial"/>
                <a:cs typeface="Arial"/>
              </a:rPr>
              <a:t> </a:t>
            </a:r>
            <a:r>
              <a:rPr sz="900" dirty="0">
                <a:latin typeface="Arial"/>
                <a:cs typeface="Arial"/>
              </a:rPr>
              <a:t>client</a:t>
            </a:r>
            <a:r>
              <a:rPr sz="900" spc="-10" dirty="0">
                <a:latin typeface="Arial"/>
                <a:cs typeface="Arial"/>
              </a:rPr>
              <a:t> </a:t>
            </a:r>
            <a:r>
              <a:rPr sz="900" dirty="0">
                <a:latin typeface="Arial"/>
                <a:cs typeface="Arial"/>
              </a:rPr>
              <a:t>wants</a:t>
            </a:r>
            <a:r>
              <a:rPr sz="900" spc="-10" dirty="0">
                <a:latin typeface="Arial"/>
                <a:cs typeface="Arial"/>
              </a:rPr>
              <a:t> </a:t>
            </a:r>
            <a:r>
              <a:rPr sz="900" dirty="0">
                <a:latin typeface="Arial"/>
                <a:cs typeface="Arial"/>
              </a:rPr>
              <a:t>to</a:t>
            </a:r>
            <a:r>
              <a:rPr sz="900" spc="-15" dirty="0">
                <a:latin typeface="Arial"/>
                <a:cs typeface="Arial"/>
              </a:rPr>
              <a:t> </a:t>
            </a:r>
            <a:r>
              <a:rPr sz="900" dirty="0">
                <a:latin typeface="Arial"/>
                <a:cs typeface="Arial"/>
              </a:rPr>
              <a:t>know</a:t>
            </a:r>
            <a:r>
              <a:rPr sz="900" spc="-10" dirty="0">
                <a:latin typeface="Arial"/>
                <a:cs typeface="Arial"/>
              </a:rPr>
              <a:t> </a:t>
            </a:r>
            <a:r>
              <a:rPr sz="900" dirty="0">
                <a:latin typeface="Arial"/>
                <a:cs typeface="Arial"/>
              </a:rPr>
              <a:t>the</a:t>
            </a:r>
            <a:r>
              <a:rPr sz="900" spc="-10" dirty="0">
                <a:latin typeface="Arial"/>
                <a:cs typeface="Arial"/>
              </a:rPr>
              <a:t> </a:t>
            </a:r>
            <a:r>
              <a:rPr sz="900" dirty="0">
                <a:latin typeface="Arial"/>
                <a:cs typeface="Arial"/>
              </a:rPr>
              <a:t>current</a:t>
            </a:r>
            <a:r>
              <a:rPr sz="900" spc="-10" dirty="0">
                <a:latin typeface="Arial"/>
                <a:cs typeface="Arial"/>
              </a:rPr>
              <a:t> </a:t>
            </a:r>
            <a:r>
              <a:rPr sz="900" dirty="0">
                <a:latin typeface="Arial"/>
                <a:cs typeface="Arial"/>
              </a:rPr>
              <a:t>value</a:t>
            </a:r>
            <a:r>
              <a:rPr sz="900" spc="-15" dirty="0">
                <a:latin typeface="Arial"/>
                <a:cs typeface="Arial"/>
              </a:rPr>
              <a:t> </a:t>
            </a:r>
            <a:r>
              <a:rPr sz="900" dirty="0">
                <a:latin typeface="Arial"/>
                <a:cs typeface="Arial"/>
              </a:rPr>
              <a:t>of</a:t>
            </a:r>
            <a:r>
              <a:rPr sz="900" spc="-10" dirty="0">
                <a:latin typeface="Arial"/>
                <a:cs typeface="Arial"/>
              </a:rPr>
              <a:t> </a:t>
            </a:r>
            <a:r>
              <a:rPr sz="900" dirty="0">
                <a:latin typeface="Arial"/>
                <a:cs typeface="Arial"/>
              </a:rPr>
              <a:t>node</a:t>
            </a:r>
            <a:r>
              <a:rPr sz="900" spc="-10" dirty="0">
                <a:latin typeface="Arial"/>
                <a:cs typeface="Arial"/>
              </a:rPr>
              <a:t> </a:t>
            </a:r>
            <a:r>
              <a:rPr sz="900" i="1" spc="-50" dirty="0">
                <a:latin typeface="Arial"/>
                <a:cs typeface="Arial"/>
              </a:rPr>
              <a:t>n</a:t>
            </a:r>
            <a:endParaRPr sz="900">
              <a:latin typeface="Arial"/>
              <a:cs typeface="Arial"/>
            </a:endParaRPr>
          </a:p>
          <a:p>
            <a:pPr marL="290830" indent="-120650">
              <a:lnSpc>
                <a:spcPct val="100000"/>
              </a:lnSpc>
              <a:spcBef>
                <a:spcPts val="425"/>
              </a:spcBef>
              <a:buClr>
                <a:srgbClr val="3333B2"/>
              </a:buClr>
              <a:buFont typeface="Menlo"/>
              <a:buChar char="•"/>
              <a:tabLst>
                <a:tab pos="291465" algn="l"/>
              </a:tabLst>
            </a:pPr>
            <a:r>
              <a:rPr sz="900" i="1" dirty="0">
                <a:solidFill>
                  <a:srgbClr val="C80000"/>
                </a:solidFill>
                <a:latin typeface="Arial"/>
                <a:cs typeface="Arial"/>
              </a:rPr>
              <a:t>R</a:t>
            </a:r>
            <a:r>
              <a:rPr sz="900" dirty="0">
                <a:solidFill>
                  <a:srgbClr val="C80000"/>
                </a:solidFill>
                <a:latin typeface="Arial"/>
                <a:cs typeface="Arial"/>
              </a:rPr>
              <a:t>(</a:t>
            </a:r>
            <a:r>
              <a:rPr sz="900" i="1" dirty="0">
                <a:solidFill>
                  <a:srgbClr val="C80000"/>
                </a:solidFill>
                <a:latin typeface="Arial"/>
                <a:cs typeface="Arial"/>
              </a:rPr>
              <a:t>n</a:t>
            </a:r>
            <a:r>
              <a:rPr sz="900" i="1" dirty="0">
                <a:solidFill>
                  <a:srgbClr val="C80000"/>
                </a:solidFill>
                <a:latin typeface="STIX Two Text"/>
                <a:cs typeface="STIX Two Text"/>
              </a:rPr>
              <a:t>,</a:t>
            </a:r>
            <a:r>
              <a:rPr sz="900" i="1" spc="-105" dirty="0">
                <a:solidFill>
                  <a:srgbClr val="C80000"/>
                </a:solidFill>
                <a:latin typeface="STIX Two Text"/>
                <a:cs typeface="STIX Two Text"/>
              </a:rPr>
              <a:t> </a:t>
            </a:r>
            <a:r>
              <a:rPr sz="900" i="1" spc="-10" dirty="0">
                <a:solidFill>
                  <a:srgbClr val="C80000"/>
                </a:solidFill>
                <a:latin typeface="Arial"/>
                <a:cs typeface="Arial"/>
              </a:rPr>
              <a:t>k</a:t>
            </a:r>
            <a:r>
              <a:rPr sz="900" i="1" spc="-165" dirty="0">
                <a:solidFill>
                  <a:srgbClr val="C80000"/>
                </a:solidFill>
                <a:latin typeface="Arial"/>
                <a:cs typeface="Arial"/>
              </a:rPr>
              <a:t> </a:t>
            </a:r>
            <a:r>
              <a:rPr sz="900" dirty="0">
                <a:solidFill>
                  <a:srgbClr val="C80000"/>
                </a:solidFill>
                <a:latin typeface="Arial"/>
                <a:cs typeface="Arial"/>
              </a:rPr>
              <a:t>)</a:t>
            </a:r>
            <a:r>
              <a:rPr sz="900" i="1" dirty="0">
                <a:solidFill>
                  <a:srgbClr val="C80000"/>
                </a:solidFill>
                <a:latin typeface="Arial"/>
                <a:cs typeface="Arial"/>
              </a:rPr>
              <a:t>a</a:t>
            </a:r>
            <a:r>
              <a:rPr sz="900" dirty="0">
                <a:latin typeface="Arial"/>
                <a:cs typeface="Arial"/>
              </a:rPr>
              <a:t>:</a:t>
            </a:r>
            <a:r>
              <a:rPr sz="900" spc="45" dirty="0">
                <a:latin typeface="Arial"/>
                <a:cs typeface="Arial"/>
              </a:rPr>
              <a:t> </a:t>
            </a:r>
            <a:r>
              <a:rPr sz="900" dirty="0">
                <a:latin typeface="Arial"/>
                <a:cs typeface="Arial"/>
              </a:rPr>
              <a:t>value</a:t>
            </a:r>
            <a:r>
              <a:rPr sz="900" spc="-5" dirty="0">
                <a:latin typeface="Arial"/>
                <a:cs typeface="Arial"/>
              </a:rPr>
              <a:t> </a:t>
            </a:r>
            <a:r>
              <a:rPr sz="900" i="1" dirty="0">
                <a:latin typeface="Arial"/>
                <a:cs typeface="Arial"/>
              </a:rPr>
              <a:t>a </a:t>
            </a:r>
            <a:r>
              <a:rPr sz="900" dirty="0">
                <a:latin typeface="Arial"/>
                <a:cs typeface="Arial"/>
              </a:rPr>
              <a:t>from</a:t>
            </a:r>
            <a:r>
              <a:rPr sz="900" spc="-10" dirty="0">
                <a:latin typeface="Arial"/>
                <a:cs typeface="Arial"/>
              </a:rPr>
              <a:t> </a:t>
            </a:r>
            <a:r>
              <a:rPr sz="900" dirty="0">
                <a:latin typeface="Arial"/>
                <a:cs typeface="Arial"/>
              </a:rPr>
              <a:t>node</a:t>
            </a:r>
            <a:r>
              <a:rPr sz="900" spc="-5" dirty="0">
                <a:latin typeface="Arial"/>
                <a:cs typeface="Arial"/>
              </a:rPr>
              <a:t> </a:t>
            </a:r>
            <a:r>
              <a:rPr sz="900" i="1" dirty="0">
                <a:latin typeface="Arial"/>
                <a:cs typeface="Arial"/>
              </a:rPr>
              <a:t>n</a:t>
            </a:r>
            <a:r>
              <a:rPr sz="900" i="1" spc="5" dirty="0">
                <a:latin typeface="Arial"/>
                <a:cs typeface="Arial"/>
              </a:rPr>
              <a:t> </a:t>
            </a:r>
            <a:r>
              <a:rPr sz="900" dirty="0">
                <a:latin typeface="Arial"/>
                <a:cs typeface="Arial"/>
              </a:rPr>
              <a:t>is</a:t>
            </a:r>
            <a:r>
              <a:rPr sz="900" spc="-5" dirty="0">
                <a:latin typeface="Arial"/>
                <a:cs typeface="Arial"/>
              </a:rPr>
              <a:t> </a:t>
            </a:r>
            <a:r>
              <a:rPr sz="900" dirty="0">
                <a:latin typeface="Arial"/>
                <a:cs typeface="Arial"/>
              </a:rPr>
              <a:t>returned</a:t>
            </a:r>
            <a:r>
              <a:rPr sz="900" spc="-10" dirty="0">
                <a:latin typeface="Arial"/>
                <a:cs typeface="Arial"/>
              </a:rPr>
              <a:t> </a:t>
            </a:r>
            <a:r>
              <a:rPr sz="900" dirty="0">
                <a:latin typeface="Arial"/>
                <a:cs typeface="Arial"/>
              </a:rPr>
              <a:t>with</a:t>
            </a:r>
            <a:r>
              <a:rPr sz="900" spc="-5" dirty="0">
                <a:latin typeface="Arial"/>
                <a:cs typeface="Arial"/>
              </a:rPr>
              <a:t> </a:t>
            </a:r>
            <a:r>
              <a:rPr sz="900" dirty="0">
                <a:latin typeface="Arial"/>
                <a:cs typeface="Arial"/>
              </a:rPr>
              <a:t>its</a:t>
            </a:r>
            <a:r>
              <a:rPr sz="900" spc="-10" dirty="0">
                <a:latin typeface="Arial"/>
                <a:cs typeface="Arial"/>
              </a:rPr>
              <a:t> </a:t>
            </a:r>
            <a:r>
              <a:rPr sz="900" dirty="0">
                <a:latin typeface="Arial"/>
                <a:cs typeface="Arial"/>
              </a:rPr>
              <a:t>current</a:t>
            </a:r>
            <a:r>
              <a:rPr sz="900" spc="-5" dirty="0">
                <a:latin typeface="Arial"/>
                <a:cs typeface="Arial"/>
              </a:rPr>
              <a:t> </a:t>
            </a:r>
            <a:r>
              <a:rPr sz="900" dirty="0">
                <a:latin typeface="Arial"/>
                <a:cs typeface="Arial"/>
              </a:rPr>
              <a:t>version</a:t>
            </a:r>
            <a:r>
              <a:rPr sz="900" spc="-10" dirty="0">
                <a:latin typeface="Arial"/>
                <a:cs typeface="Arial"/>
              </a:rPr>
              <a:t> </a:t>
            </a:r>
            <a:r>
              <a:rPr sz="900" i="1" spc="-10" dirty="0">
                <a:latin typeface="Arial"/>
                <a:cs typeface="Arial"/>
              </a:rPr>
              <a:t>k</a:t>
            </a:r>
            <a:r>
              <a:rPr sz="900" i="1" spc="-165" dirty="0">
                <a:latin typeface="Arial"/>
                <a:cs typeface="Arial"/>
              </a:rPr>
              <a:t> </a:t>
            </a:r>
            <a:r>
              <a:rPr sz="900" spc="-50" dirty="0">
                <a:latin typeface="Arial"/>
                <a:cs typeface="Arial"/>
              </a:rPr>
              <a:t>.</a:t>
            </a:r>
            <a:endParaRPr sz="900">
              <a:latin typeface="Arial"/>
              <a:cs typeface="Arial"/>
            </a:endParaRPr>
          </a:p>
        </p:txBody>
      </p:sp>
      <p:grpSp>
        <p:nvGrpSpPr>
          <p:cNvPr id="8" name="object 8"/>
          <p:cNvGrpSpPr/>
          <p:nvPr/>
        </p:nvGrpSpPr>
        <p:grpSpPr>
          <a:xfrm>
            <a:off x="0" y="3348469"/>
            <a:ext cx="4608195" cy="107950"/>
            <a:chOff x="0" y="3348469"/>
            <a:chExt cx="4608195" cy="107950"/>
          </a:xfrm>
        </p:grpSpPr>
        <p:sp>
          <p:nvSpPr>
            <p:cNvPr id="9" name="object 9"/>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0" name="object 10"/>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1" name="object 11"/>
          <p:cNvSpPr txBox="1"/>
          <p:nvPr/>
        </p:nvSpPr>
        <p:spPr>
          <a:xfrm>
            <a:off x="53467" y="3349927"/>
            <a:ext cx="117602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5" action="ppaction://hlinksldjump"/>
              </a:rPr>
              <a:t>Example:</a:t>
            </a:r>
            <a:r>
              <a:rPr sz="500" spc="5" dirty="0">
                <a:latin typeface="Arial"/>
                <a:cs typeface="Arial"/>
                <a:hlinkClick r:id="rId5" action="ppaction://hlinksldjump"/>
              </a:rPr>
              <a:t> </a:t>
            </a:r>
            <a:r>
              <a:rPr sz="500" dirty="0">
                <a:latin typeface="Arial"/>
                <a:cs typeface="Arial"/>
                <a:hlinkClick r:id="rId5" action="ppaction://hlinksldjump"/>
              </a:rPr>
              <a:t>Simple</a:t>
            </a:r>
            <a:r>
              <a:rPr sz="500" spc="-20" dirty="0">
                <a:latin typeface="Arial"/>
                <a:cs typeface="Arial"/>
                <a:hlinkClick r:id="rId5" action="ppaction://hlinksldjump"/>
              </a:rPr>
              <a:t> </a:t>
            </a:r>
            <a:r>
              <a:rPr sz="500" dirty="0">
                <a:latin typeface="Arial"/>
                <a:cs typeface="Arial"/>
                <a:hlinkClick r:id="rId5" action="ppaction://hlinksldjump"/>
              </a:rPr>
              <a:t>locking</a:t>
            </a:r>
            <a:r>
              <a:rPr sz="500" spc="-20" dirty="0">
                <a:latin typeface="Arial"/>
                <a:cs typeface="Arial"/>
                <a:hlinkClick r:id="rId5" action="ppaction://hlinksldjump"/>
              </a:rPr>
              <a:t> </a:t>
            </a:r>
            <a:r>
              <a:rPr sz="500" dirty="0">
                <a:latin typeface="Arial"/>
                <a:cs typeface="Arial"/>
                <a:hlinkClick r:id="rId5" action="ppaction://hlinksldjump"/>
              </a:rPr>
              <a:t>with</a:t>
            </a:r>
            <a:r>
              <a:rPr sz="500" spc="-25" dirty="0">
                <a:latin typeface="Arial"/>
                <a:cs typeface="Arial"/>
                <a:hlinkClick r:id="rId5" action="ppaction://hlinksldjump"/>
              </a:rPr>
              <a:t> </a:t>
            </a:r>
            <a:r>
              <a:rPr sz="500" spc="-10" dirty="0">
                <a:latin typeface="Arial"/>
                <a:cs typeface="Arial"/>
                <a:hlinkClick r:id="rId5" action="ppaction://hlinksldjump"/>
              </a:rPr>
              <a:t>ZooKeeper</a:t>
            </a:r>
            <a:endParaRPr sz="500">
              <a:latin typeface="Arial"/>
              <a:cs typeface="Arial"/>
            </a:endParaRPr>
          </a:p>
        </p:txBody>
      </p:sp>
    </p:spTree>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4018915" algn="l"/>
              </a:tabLst>
            </a:pPr>
            <a:r>
              <a:rPr sz="500" spc="-10" dirty="0">
                <a:latin typeface="Arial"/>
                <a:cs typeface="Arial"/>
                <a:hlinkClick r:id="rId2" action="ppaction://hlinksldjump"/>
              </a:rPr>
              <a:t>Coordination</a:t>
            </a:r>
            <a:r>
              <a:rPr sz="500" dirty="0">
                <a:latin typeface="Arial"/>
                <a:cs typeface="Arial"/>
              </a:rPr>
              <a:t>	</a:t>
            </a:r>
            <a:r>
              <a:rPr sz="500" dirty="0">
                <a:solidFill>
                  <a:srgbClr val="FFFFFF"/>
                </a:solidFill>
                <a:latin typeface="Arial"/>
                <a:cs typeface="Arial"/>
                <a:hlinkClick r:id="rId3" action="ppaction://hlinksldjump"/>
              </a:rPr>
              <a:t>Mutual</a:t>
            </a:r>
            <a:r>
              <a:rPr sz="500" spc="-30"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exclusion</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0" dirty="0"/>
              <a:t>ZooKeeper</a:t>
            </a:r>
            <a:r>
              <a:rPr spc="-50" dirty="0"/>
              <a:t> </a:t>
            </a:r>
            <a:r>
              <a:rPr dirty="0"/>
              <a:t>locking</a:t>
            </a:r>
            <a:r>
              <a:rPr spc="-45" dirty="0"/>
              <a:t> </a:t>
            </a:r>
            <a:r>
              <a:rPr spc="-10" dirty="0"/>
              <a:t>protocol</a:t>
            </a:r>
          </a:p>
        </p:txBody>
      </p:sp>
      <p:sp>
        <p:nvSpPr>
          <p:cNvPr id="4" name="object 4"/>
          <p:cNvSpPr txBox="1"/>
          <p:nvPr/>
        </p:nvSpPr>
        <p:spPr>
          <a:xfrm>
            <a:off x="334594" y="514774"/>
            <a:ext cx="3837304" cy="1245235"/>
          </a:xfrm>
          <a:prstGeom prst="rect">
            <a:avLst/>
          </a:prstGeom>
        </p:spPr>
        <p:txBody>
          <a:bodyPr vert="horz" wrap="square" lIns="0" tIns="12065" rIns="0" bIns="0" rtlCol="0">
            <a:spAutoFit/>
          </a:bodyPr>
          <a:lstStyle/>
          <a:p>
            <a:pPr marL="25400">
              <a:lnSpc>
                <a:spcPct val="100000"/>
              </a:lnSpc>
              <a:spcBef>
                <a:spcPts val="95"/>
              </a:spcBef>
            </a:pPr>
            <a:r>
              <a:rPr sz="1000" dirty="0">
                <a:solidFill>
                  <a:srgbClr val="3333B2"/>
                </a:solidFill>
                <a:latin typeface="Arial"/>
                <a:cs typeface="Arial"/>
              </a:rPr>
              <a:t>It</a:t>
            </a:r>
            <a:r>
              <a:rPr sz="1000" spc="-35" dirty="0">
                <a:solidFill>
                  <a:srgbClr val="3333B2"/>
                </a:solidFill>
                <a:latin typeface="Arial"/>
                <a:cs typeface="Arial"/>
              </a:rPr>
              <a:t> </a:t>
            </a:r>
            <a:r>
              <a:rPr sz="1000" dirty="0">
                <a:solidFill>
                  <a:srgbClr val="3333B2"/>
                </a:solidFill>
                <a:latin typeface="Arial"/>
                <a:cs typeface="Arial"/>
              </a:rPr>
              <a:t>is</a:t>
            </a:r>
            <a:r>
              <a:rPr sz="1000" spc="-20" dirty="0">
                <a:solidFill>
                  <a:srgbClr val="3333B2"/>
                </a:solidFill>
                <a:latin typeface="Arial"/>
                <a:cs typeface="Arial"/>
              </a:rPr>
              <a:t> </a:t>
            </a:r>
            <a:r>
              <a:rPr sz="1000" dirty="0">
                <a:solidFill>
                  <a:srgbClr val="3333B2"/>
                </a:solidFill>
                <a:latin typeface="Arial"/>
                <a:cs typeface="Arial"/>
              </a:rPr>
              <a:t>now</a:t>
            </a:r>
            <a:r>
              <a:rPr sz="1000" spc="-20" dirty="0">
                <a:solidFill>
                  <a:srgbClr val="3333B2"/>
                </a:solidFill>
                <a:latin typeface="Arial"/>
                <a:cs typeface="Arial"/>
              </a:rPr>
              <a:t> </a:t>
            </a:r>
            <a:r>
              <a:rPr sz="1000" dirty="0">
                <a:solidFill>
                  <a:srgbClr val="3333B2"/>
                </a:solidFill>
                <a:latin typeface="Arial"/>
                <a:cs typeface="Arial"/>
              </a:rPr>
              <a:t>very</a:t>
            </a:r>
            <a:r>
              <a:rPr sz="1000" spc="-20" dirty="0">
                <a:solidFill>
                  <a:srgbClr val="3333B2"/>
                </a:solidFill>
                <a:latin typeface="Arial"/>
                <a:cs typeface="Arial"/>
              </a:rPr>
              <a:t> </a:t>
            </a:r>
            <a:r>
              <a:rPr sz="1000" spc="-10" dirty="0">
                <a:solidFill>
                  <a:srgbClr val="3333B2"/>
                </a:solidFill>
                <a:latin typeface="Arial"/>
                <a:cs typeface="Arial"/>
              </a:rPr>
              <a:t>simple</a:t>
            </a:r>
            <a:endParaRPr sz="1000">
              <a:latin typeface="Arial"/>
              <a:cs typeface="Arial"/>
            </a:endParaRPr>
          </a:p>
          <a:p>
            <a:pPr marL="278130" indent="-158750">
              <a:lnSpc>
                <a:spcPct val="100000"/>
              </a:lnSpc>
              <a:spcBef>
                <a:spcPts val="700"/>
              </a:spcBef>
              <a:buClr>
                <a:srgbClr val="3333B2"/>
              </a:buClr>
              <a:buAutoNum type="arabicPeriod"/>
              <a:tabLst>
                <a:tab pos="278765" algn="l"/>
              </a:tabLst>
            </a:pPr>
            <a:r>
              <a:rPr sz="900" dirty="0">
                <a:solidFill>
                  <a:srgbClr val="C80000"/>
                </a:solidFill>
                <a:latin typeface="Arial"/>
                <a:cs typeface="Arial"/>
              </a:rPr>
              <a:t>lock</a:t>
            </a:r>
            <a:r>
              <a:rPr sz="900" dirty="0">
                <a:latin typeface="Arial"/>
                <a:cs typeface="Arial"/>
              </a:rPr>
              <a:t>:</a:t>
            </a:r>
            <a:r>
              <a:rPr sz="900" spc="40" dirty="0">
                <a:latin typeface="Arial"/>
                <a:cs typeface="Arial"/>
              </a:rPr>
              <a:t> </a:t>
            </a:r>
            <a:r>
              <a:rPr sz="900" dirty="0">
                <a:latin typeface="Arial"/>
                <a:cs typeface="Arial"/>
              </a:rPr>
              <a:t>A</a:t>
            </a:r>
            <a:r>
              <a:rPr sz="900" spc="-15" dirty="0">
                <a:latin typeface="Arial"/>
                <a:cs typeface="Arial"/>
              </a:rPr>
              <a:t> </a:t>
            </a:r>
            <a:r>
              <a:rPr sz="900" dirty="0">
                <a:latin typeface="Arial"/>
                <a:cs typeface="Arial"/>
              </a:rPr>
              <a:t>client</a:t>
            </a:r>
            <a:r>
              <a:rPr sz="900" spc="-15" dirty="0">
                <a:latin typeface="Arial"/>
                <a:cs typeface="Arial"/>
              </a:rPr>
              <a:t> </a:t>
            </a:r>
            <a:r>
              <a:rPr sz="900" i="1" dirty="0">
                <a:latin typeface="Arial"/>
                <a:cs typeface="Arial"/>
              </a:rPr>
              <a:t>C</a:t>
            </a:r>
            <a:r>
              <a:rPr sz="1050" i="1" baseline="-15873" dirty="0">
                <a:latin typeface="Arial"/>
                <a:cs typeface="Arial"/>
              </a:rPr>
              <a:t>1</a:t>
            </a:r>
            <a:r>
              <a:rPr sz="1050" i="1" spc="135" baseline="-15873" dirty="0">
                <a:latin typeface="Arial"/>
                <a:cs typeface="Arial"/>
              </a:rPr>
              <a:t> </a:t>
            </a:r>
            <a:r>
              <a:rPr sz="900" dirty="0">
                <a:latin typeface="Arial"/>
                <a:cs typeface="Arial"/>
              </a:rPr>
              <a:t>creates</a:t>
            </a:r>
            <a:r>
              <a:rPr sz="900" spc="-10" dirty="0">
                <a:latin typeface="Arial"/>
                <a:cs typeface="Arial"/>
              </a:rPr>
              <a:t> </a:t>
            </a:r>
            <a:r>
              <a:rPr sz="900" dirty="0">
                <a:latin typeface="Arial"/>
                <a:cs typeface="Arial"/>
              </a:rPr>
              <a:t>a</a:t>
            </a:r>
            <a:r>
              <a:rPr sz="900" spc="-15" dirty="0">
                <a:latin typeface="Arial"/>
                <a:cs typeface="Arial"/>
              </a:rPr>
              <a:t> </a:t>
            </a:r>
            <a:r>
              <a:rPr sz="900" dirty="0">
                <a:latin typeface="Arial"/>
                <a:cs typeface="Arial"/>
              </a:rPr>
              <a:t>node</a:t>
            </a:r>
            <a:r>
              <a:rPr sz="900" spc="-15" dirty="0">
                <a:latin typeface="Arial"/>
                <a:cs typeface="Arial"/>
              </a:rPr>
              <a:t> </a:t>
            </a:r>
            <a:r>
              <a:rPr sz="900" i="1" dirty="0">
                <a:latin typeface="STIX Two Text"/>
                <a:cs typeface="STIX Two Text"/>
              </a:rPr>
              <a:t>/</a:t>
            </a:r>
            <a:r>
              <a:rPr sz="900" i="1" dirty="0">
                <a:latin typeface="Arial"/>
                <a:cs typeface="Arial"/>
              </a:rPr>
              <a:t>lock</a:t>
            </a:r>
            <a:r>
              <a:rPr sz="900" i="1" spc="-165" dirty="0">
                <a:latin typeface="Arial"/>
                <a:cs typeface="Arial"/>
              </a:rPr>
              <a:t> </a:t>
            </a:r>
            <a:r>
              <a:rPr sz="900" spc="-50" dirty="0">
                <a:latin typeface="Arial"/>
                <a:cs typeface="Arial"/>
              </a:rPr>
              <a:t>.</a:t>
            </a:r>
            <a:endParaRPr sz="900">
              <a:latin typeface="Arial"/>
              <a:cs typeface="Arial"/>
            </a:endParaRPr>
          </a:p>
          <a:p>
            <a:pPr marL="278130" marR="238760" indent="-158750">
              <a:lnSpc>
                <a:spcPct val="111600"/>
              </a:lnSpc>
              <a:spcBef>
                <a:spcPts val="300"/>
              </a:spcBef>
              <a:buClr>
                <a:srgbClr val="3333B2"/>
              </a:buClr>
              <a:buAutoNum type="arabicPeriod"/>
              <a:tabLst>
                <a:tab pos="278765" algn="l"/>
              </a:tabLst>
            </a:pPr>
            <a:r>
              <a:rPr sz="900" dirty="0">
                <a:solidFill>
                  <a:srgbClr val="C80000"/>
                </a:solidFill>
                <a:latin typeface="Arial"/>
                <a:cs typeface="Arial"/>
              </a:rPr>
              <a:t>lock</a:t>
            </a:r>
            <a:r>
              <a:rPr sz="900" dirty="0">
                <a:latin typeface="Arial"/>
                <a:cs typeface="Arial"/>
              </a:rPr>
              <a:t>:</a:t>
            </a:r>
            <a:r>
              <a:rPr sz="900" spc="25" dirty="0">
                <a:latin typeface="Arial"/>
                <a:cs typeface="Arial"/>
              </a:rPr>
              <a:t> </a:t>
            </a:r>
            <a:r>
              <a:rPr sz="900" dirty="0">
                <a:latin typeface="Arial"/>
                <a:cs typeface="Arial"/>
              </a:rPr>
              <a:t>A</a:t>
            </a:r>
            <a:r>
              <a:rPr sz="900" spc="-25" dirty="0">
                <a:latin typeface="Arial"/>
                <a:cs typeface="Arial"/>
              </a:rPr>
              <a:t> </a:t>
            </a:r>
            <a:r>
              <a:rPr sz="900" dirty="0">
                <a:latin typeface="Arial"/>
                <a:cs typeface="Arial"/>
              </a:rPr>
              <a:t>client</a:t>
            </a:r>
            <a:r>
              <a:rPr sz="900" spc="-25" dirty="0">
                <a:latin typeface="Arial"/>
                <a:cs typeface="Arial"/>
              </a:rPr>
              <a:t> </a:t>
            </a:r>
            <a:r>
              <a:rPr sz="900" i="1" dirty="0">
                <a:latin typeface="Arial"/>
                <a:cs typeface="Arial"/>
              </a:rPr>
              <a:t>C</a:t>
            </a:r>
            <a:r>
              <a:rPr sz="1050" i="1" baseline="-15873" dirty="0">
                <a:latin typeface="Arial"/>
                <a:cs typeface="Arial"/>
              </a:rPr>
              <a:t>2</a:t>
            </a:r>
            <a:r>
              <a:rPr sz="1050" i="1" spc="165" baseline="-15873" dirty="0">
                <a:latin typeface="Arial"/>
                <a:cs typeface="Arial"/>
              </a:rPr>
              <a:t> </a:t>
            </a:r>
            <a:r>
              <a:rPr sz="900" dirty="0">
                <a:latin typeface="Arial"/>
                <a:cs typeface="Arial"/>
              </a:rPr>
              <a:t>wants</a:t>
            </a:r>
            <a:r>
              <a:rPr sz="900" spc="-25"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acquire</a:t>
            </a:r>
            <a:r>
              <a:rPr sz="900" spc="-25" dirty="0">
                <a:latin typeface="Arial"/>
                <a:cs typeface="Arial"/>
              </a:rPr>
              <a:t> </a:t>
            </a:r>
            <a:r>
              <a:rPr sz="900" dirty="0">
                <a:latin typeface="Arial"/>
                <a:cs typeface="Arial"/>
              </a:rPr>
              <a:t>the</a:t>
            </a:r>
            <a:r>
              <a:rPr sz="900" spc="-25" dirty="0">
                <a:latin typeface="Arial"/>
                <a:cs typeface="Arial"/>
              </a:rPr>
              <a:t> </a:t>
            </a:r>
            <a:r>
              <a:rPr sz="900" dirty="0">
                <a:latin typeface="Arial"/>
                <a:cs typeface="Arial"/>
              </a:rPr>
              <a:t>lock</a:t>
            </a:r>
            <a:r>
              <a:rPr sz="900" spc="-25" dirty="0">
                <a:latin typeface="Arial"/>
                <a:cs typeface="Arial"/>
              </a:rPr>
              <a:t> </a:t>
            </a:r>
            <a:r>
              <a:rPr sz="900" dirty="0">
                <a:latin typeface="Arial"/>
                <a:cs typeface="Arial"/>
              </a:rPr>
              <a:t>but</a:t>
            </a:r>
            <a:r>
              <a:rPr sz="900" spc="-30" dirty="0">
                <a:latin typeface="Arial"/>
                <a:cs typeface="Arial"/>
              </a:rPr>
              <a:t> </a:t>
            </a:r>
            <a:r>
              <a:rPr sz="900" dirty="0">
                <a:latin typeface="Arial"/>
                <a:cs typeface="Arial"/>
              </a:rPr>
              <a:t>is</a:t>
            </a:r>
            <a:r>
              <a:rPr sz="900" spc="-25" dirty="0">
                <a:latin typeface="Arial"/>
                <a:cs typeface="Arial"/>
              </a:rPr>
              <a:t> </a:t>
            </a:r>
            <a:r>
              <a:rPr sz="900" dirty="0">
                <a:latin typeface="Arial"/>
                <a:cs typeface="Arial"/>
              </a:rPr>
              <a:t>notified</a:t>
            </a:r>
            <a:r>
              <a:rPr sz="900" spc="-25" dirty="0">
                <a:latin typeface="Arial"/>
                <a:cs typeface="Arial"/>
              </a:rPr>
              <a:t> </a:t>
            </a:r>
            <a:r>
              <a:rPr sz="900" dirty="0">
                <a:latin typeface="Arial"/>
                <a:cs typeface="Arial"/>
              </a:rPr>
              <a:t>that</a:t>
            </a:r>
            <a:r>
              <a:rPr sz="900" spc="-25" dirty="0">
                <a:latin typeface="Arial"/>
                <a:cs typeface="Arial"/>
              </a:rPr>
              <a:t> the </a:t>
            </a:r>
            <a:r>
              <a:rPr sz="900" dirty="0">
                <a:latin typeface="Arial"/>
                <a:cs typeface="Arial"/>
              </a:rPr>
              <a:t>associated</a:t>
            </a:r>
            <a:r>
              <a:rPr sz="900" spc="-60" dirty="0">
                <a:latin typeface="Arial"/>
                <a:cs typeface="Arial"/>
              </a:rPr>
              <a:t> </a:t>
            </a:r>
            <a:r>
              <a:rPr sz="900" dirty="0">
                <a:latin typeface="Arial"/>
                <a:cs typeface="Arial"/>
              </a:rPr>
              <a:t>node</a:t>
            </a:r>
            <a:r>
              <a:rPr sz="900" spc="-30" dirty="0">
                <a:latin typeface="Arial"/>
                <a:cs typeface="Arial"/>
              </a:rPr>
              <a:t> </a:t>
            </a:r>
            <a:r>
              <a:rPr sz="900" dirty="0">
                <a:latin typeface="Arial"/>
                <a:cs typeface="Arial"/>
              </a:rPr>
              <a:t>already</a:t>
            </a:r>
            <a:r>
              <a:rPr sz="900" spc="-30" dirty="0">
                <a:latin typeface="Arial"/>
                <a:cs typeface="Arial"/>
              </a:rPr>
              <a:t> </a:t>
            </a:r>
            <a:r>
              <a:rPr sz="900" dirty="0">
                <a:latin typeface="Arial"/>
                <a:cs typeface="Arial"/>
              </a:rPr>
              <a:t>exists</a:t>
            </a:r>
            <a:r>
              <a:rPr sz="900" spc="-30" dirty="0">
                <a:latin typeface="Arial"/>
                <a:cs typeface="Arial"/>
              </a:rPr>
              <a:t> </a:t>
            </a:r>
            <a:r>
              <a:rPr sz="900" i="1" spc="350" dirty="0">
                <a:latin typeface="Menlo"/>
                <a:cs typeface="Menlo"/>
              </a:rPr>
              <a:t>⇒</a:t>
            </a:r>
            <a:r>
              <a:rPr sz="900" i="1" spc="-295" dirty="0">
                <a:latin typeface="Menlo"/>
                <a:cs typeface="Menlo"/>
              </a:rPr>
              <a:t> </a:t>
            </a:r>
            <a:r>
              <a:rPr sz="900" i="1" dirty="0">
                <a:latin typeface="Arial"/>
                <a:cs typeface="Arial"/>
              </a:rPr>
              <a:t>C</a:t>
            </a:r>
            <a:r>
              <a:rPr sz="1050" i="1" baseline="-15873" dirty="0">
                <a:latin typeface="Arial"/>
                <a:cs typeface="Arial"/>
              </a:rPr>
              <a:t>2</a:t>
            </a:r>
            <a:r>
              <a:rPr sz="1050" i="1" spc="157" baseline="-15873" dirty="0">
                <a:latin typeface="Arial"/>
                <a:cs typeface="Arial"/>
              </a:rPr>
              <a:t> </a:t>
            </a:r>
            <a:r>
              <a:rPr sz="900" dirty="0">
                <a:latin typeface="Arial"/>
                <a:cs typeface="Arial"/>
              </a:rPr>
              <a:t>subscribes</a:t>
            </a:r>
            <a:r>
              <a:rPr sz="900" spc="-30" dirty="0">
                <a:latin typeface="Arial"/>
                <a:cs typeface="Arial"/>
              </a:rPr>
              <a:t> </a:t>
            </a:r>
            <a:r>
              <a:rPr sz="900" dirty="0">
                <a:latin typeface="Arial"/>
                <a:cs typeface="Arial"/>
              </a:rPr>
              <a:t>to</a:t>
            </a:r>
            <a:r>
              <a:rPr sz="900" spc="-30" dirty="0">
                <a:latin typeface="Arial"/>
                <a:cs typeface="Arial"/>
              </a:rPr>
              <a:t> </a:t>
            </a:r>
            <a:r>
              <a:rPr sz="900" dirty="0">
                <a:latin typeface="Arial"/>
                <a:cs typeface="Arial"/>
              </a:rPr>
              <a:t>notification</a:t>
            </a:r>
            <a:r>
              <a:rPr sz="900" spc="-30" dirty="0">
                <a:latin typeface="Arial"/>
                <a:cs typeface="Arial"/>
              </a:rPr>
              <a:t> </a:t>
            </a:r>
            <a:r>
              <a:rPr sz="900" spc="-25" dirty="0">
                <a:latin typeface="Arial"/>
                <a:cs typeface="Arial"/>
              </a:rPr>
              <a:t>on </a:t>
            </a:r>
            <a:r>
              <a:rPr sz="900" dirty="0">
                <a:latin typeface="Arial"/>
                <a:cs typeface="Arial"/>
              </a:rPr>
              <a:t>changes of</a:t>
            </a:r>
            <a:r>
              <a:rPr sz="900" spc="5" dirty="0">
                <a:latin typeface="Arial"/>
                <a:cs typeface="Arial"/>
              </a:rPr>
              <a:t> </a:t>
            </a:r>
            <a:r>
              <a:rPr sz="900" i="1" dirty="0">
                <a:latin typeface="STIX Two Text"/>
                <a:cs typeface="STIX Two Text"/>
              </a:rPr>
              <a:t>/</a:t>
            </a:r>
            <a:r>
              <a:rPr sz="900" i="1" dirty="0">
                <a:latin typeface="Arial"/>
                <a:cs typeface="Arial"/>
              </a:rPr>
              <a:t>lock</a:t>
            </a:r>
            <a:r>
              <a:rPr sz="900" i="1" spc="-160" dirty="0">
                <a:latin typeface="Arial"/>
                <a:cs typeface="Arial"/>
              </a:rPr>
              <a:t> </a:t>
            </a:r>
            <a:r>
              <a:rPr sz="900" spc="-50" dirty="0">
                <a:latin typeface="Arial"/>
                <a:cs typeface="Arial"/>
              </a:rPr>
              <a:t>.</a:t>
            </a:r>
            <a:endParaRPr sz="900">
              <a:latin typeface="Arial"/>
              <a:cs typeface="Arial"/>
            </a:endParaRPr>
          </a:p>
          <a:p>
            <a:pPr marL="278130" marR="17780" indent="-158750">
              <a:lnSpc>
                <a:spcPct val="111600"/>
              </a:lnSpc>
              <a:spcBef>
                <a:spcPts val="300"/>
              </a:spcBef>
              <a:buClr>
                <a:srgbClr val="3333B2"/>
              </a:buClr>
              <a:buAutoNum type="arabicPeriod"/>
              <a:tabLst>
                <a:tab pos="278765" algn="l"/>
              </a:tabLst>
            </a:pPr>
            <a:r>
              <a:rPr sz="900" dirty="0">
                <a:solidFill>
                  <a:srgbClr val="C80000"/>
                </a:solidFill>
                <a:latin typeface="Arial"/>
                <a:cs typeface="Arial"/>
              </a:rPr>
              <a:t>unlock</a:t>
            </a:r>
            <a:r>
              <a:rPr sz="900" dirty="0">
                <a:latin typeface="Arial"/>
                <a:cs typeface="Arial"/>
              </a:rPr>
              <a:t>:</a:t>
            </a:r>
            <a:r>
              <a:rPr sz="900" spc="25" dirty="0">
                <a:latin typeface="Arial"/>
                <a:cs typeface="Arial"/>
              </a:rPr>
              <a:t> </a:t>
            </a:r>
            <a:r>
              <a:rPr sz="900" dirty="0">
                <a:latin typeface="Arial"/>
                <a:cs typeface="Arial"/>
              </a:rPr>
              <a:t>Client</a:t>
            </a:r>
            <a:r>
              <a:rPr sz="900" spc="-20" dirty="0">
                <a:latin typeface="Arial"/>
                <a:cs typeface="Arial"/>
              </a:rPr>
              <a:t> </a:t>
            </a:r>
            <a:r>
              <a:rPr sz="900" i="1" dirty="0">
                <a:latin typeface="Arial"/>
                <a:cs typeface="Arial"/>
              </a:rPr>
              <a:t>C</a:t>
            </a:r>
            <a:r>
              <a:rPr sz="1050" i="1" baseline="-15873" dirty="0">
                <a:latin typeface="Arial"/>
                <a:cs typeface="Arial"/>
              </a:rPr>
              <a:t>1</a:t>
            </a:r>
            <a:r>
              <a:rPr sz="1050" i="1" spc="127" baseline="-15873" dirty="0">
                <a:latin typeface="Arial"/>
                <a:cs typeface="Arial"/>
              </a:rPr>
              <a:t> </a:t>
            </a:r>
            <a:r>
              <a:rPr sz="900" dirty="0">
                <a:latin typeface="Arial"/>
                <a:cs typeface="Arial"/>
              </a:rPr>
              <a:t>deletes</a:t>
            </a:r>
            <a:r>
              <a:rPr sz="900" spc="-15" dirty="0">
                <a:latin typeface="Arial"/>
                <a:cs typeface="Arial"/>
              </a:rPr>
              <a:t> </a:t>
            </a:r>
            <a:r>
              <a:rPr sz="900" dirty="0">
                <a:latin typeface="Arial"/>
                <a:cs typeface="Arial"/>
              </a:rPr>
              <a:t>node</a:t>
            </a:r>
            <a:r>
              <a:rPr sz="900" spc="-20" dirty="0">
                <a:latin typeface="Arial"/>
                <a:cs typeface="Arial"/>
              </a:rPr>
              <a:t> </a:t>
            </a:r>
            <a:r>
              <a:rPr sz="900" i="1" dirty="0">
                <a:latin typeface="STIX Two Text"/>
                <a:cs typeface="STIX Two Text"/>
              </a:rPr>
              <a:t>/</a:t>
            </a:r>
            <a:r>
              <a:rPr sz="900" i="1" dirty="0">
                <a:latin typeface="Arial"/>
                <a:cs typeface="Arial"/>
              </a:rPr>
              <a:t>lock</a:t>
            </a:r>
            <a:r>
              <a:rPr sz="900" i="1" spc="70" dirty="0">
                <a:latin typeface="Arial"/>
                <a:cs typeface="Arial"/>
              </a:rPr>
              <a:t> </a:t>
            </a:r>
            <a:r>
              <a:rPr sz="900" i="1" spc="350" dirty="0">
                <a:latin typeface="Menlo"/>
                <a:cs typeface="Menlo"/>
              </a:rPr>
              <a:t>⇒</a:t>
            </a:r>
            <a:r>
              <a:rPr sz="900" i="1" spc="-295" dirty="0">
                <a:latin typeface="Menlo"/>
                <a:cs typeface="Menlo"/>
              </a:rPr>
              <a:t> </a:t>
            </a:r>
            <a:r>
              <a:rPr sz="900" dirty="0">
                <a:latin typeface="Arial"/>
                <a:cs typeface="Arial"/>
              </a:rPr>
              <a:t>all</a:t>
            </a:r>
            <a:r>
              <a:rPr sz="900" spc="-20" dirty="0">
                <a:latin typeface="Arial"/>
                <a:cs typeface="Arial"/>
              </a:rPr>
              <a:t> </a:t>
            </a:r>
            <a:r>
              <a:rPr sz="900" dirty="0">
                <a:latin typeface="Arial"/>
                <a:cs typeface="Arial"/>
              </a:rPr>
              <a:t>subscribers</a:t>
            </a:r>
            <a:r>
              <a:rPr sz="900" spc="-20" dirty="0">
                <a:latin typeface="Arial"/>
                <a:cs typeface="Arial"/>
              </a:rPr>
              <a:t> </a:t>
            </a:r>
            <a:r>
              <a:rPr sz="900" dirty="0">
                <a:latin typeface="Arial"/>
                <a:cs typeface="Arial"/>
              </a:rPr>
              <a:t>to</a:t>
            </a:r>
            <a:r>
              <a:rPr sz="900" spc="-15" dirty="0">
                <a:latin typeface="Arial"/>
                <a:cs typeface="Arial"/>
              </a:rPr>
              <a:t> </a:t>
            </a:r>
            <a:r>
              <a:rPr sz="900" dirty="0">
                <a:latin typeface="Arial"/>
                <a:cs typeface="Arial"/>
              </a:rPr>
              <a:t>changes</a:t>
            </a:r>
            <a:r>
              <a:rPr sz="900" spc="-20" dirty="0">
                <a:latin typeface="Arial"/>
                <a:cs typeface="Arial"/>
              </a:rPr>
              <a:t> </a:t>
            </a:r>
            <a:r>
              <a:rPr sz="900" spc="-25" dirty="0">
                <a:latin typeface="Arial"/>
                <a:cs typeface="Arial"/>
              </a:rPr>
              <a:t>are </a:t>
            </a:r>
            <a:r>
              <a:rPr sz="900" spc="-10" dirty="0">
                <a:latin typeface="Arial"/>
                <a:cs typeface="Arial"/>
              </a:rPr>
              <a:t>notified.</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117602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Example:</a:t>
            </a:r>
            <a:r>
              <a:rPr sz="500" spc="5" dirty="0">
                <a:latin typeface="Arial"/>
                <a:cs typeface="Arial"/>
                <a:hlinkClick r:id="rId4" action="ppaction://hlinksldjump"/>
              </a:rPr>
              <a:t> </a:t>
            </a:r>
            <a:r>
              <a:rPr sz="500" dirty="0">
                <a:latin typeface="Arial"/>
                <a:cs typeface="Arial"/>
                <a:hlinkClick r:id="rId4" action="ppaction://hlinksldjump"/>
              </a:rPr>
              <a:t>Simple</a:t>
            </a:r>
            <a:r>
              <a:rPr sz="500" spc="-20" dirty="0">
                <a:latin typeface="Arial"/>
                <a:cs typeface="Arial"/>
                <a:hlinkClick r:id="rId4" action="ppaction://hlinksldjump"/>
              </a:rPr>
              <a:t> </a:t>
            </a:r>
            <a:r>
              <a:rPr sz="500" dirty="0">
                <a:latin typeface="Arial"/>
                <a:cs typeface="Arial"/>
                <a:hlinkClick r:id="rId4" action="ppaction://hlinksldjump"/>
              </a:rPr>
              <a:t>locking</a:t>
            </a:r>
            <a:r>
              <a:rPr sz="500" spc="-20" dirty="0">
                <a:latin typeface="Arial"/>
                <a:cs typeface="Arial"/>
                <a:hlinkClick r:id="rId4" action="ppaction://hlinksldjump"/>
              </a:rPr>
              <a:t> </a:t>
            </a:r>
            <a:r>
              <a:rPr sz="500" dirty="0">
                <a:latin typeface="Arial"/>
                <a:cs typeface="Arial"/>
                <a:hlinkClick r:id="rId4" action="ppaction://hlinksldjump"/>
              </a:rPr>
              <a:t>with</a:t>
            </a:r>
            <a:r>
              <a:rPr sz="500" spc="-25" dirty="0">
                <a:latin typeface="Arial"/>
                <a:cs typeface="Arial"/>
                <a:hlinkClick r:id="rId4" action="ppaction://hlinksldjump"/>
              </a:rPr>
              <a:t> </a:t>
            </a:r>
            <a:r>
              <a:rPr sz="500" spc="-10" dirty="0">
                <a:latin typeface="Arial"/>
                <a:cs typeface="Arial"/>
                <a:hlinkClick r:id="rId4" action="ppaction://hlinksldjump"/>
              </a:rPr>
              <a:t>ZooKeeper</a:t>
            </a:r>
            <a:endParaRPr sz="500">
              <a:latin typeface="Arial"/>
              <a:cs typeface="Arial"/>
            </a:endParaRPr>
          </a:p>
        </p:txBody>
      </p:sp>
    </p:spTree>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952875" algn="l"/>
              </a:tabLst>
            </a:pPr>
            <a:r>
              <a:rPr sz="500" spc="-10" dirty="0">
                <a:latin typeface="Arial"/>
                <a:cs typeface="Arial"/>
                <a:hlinkClick r:id="rId2" action="ppaction://hlinksldjump"/>
              </a:rPr>
              <a:t>Coordination</a:t>
            </a:r>
            <a:r>
              <a:rPr sz="500" dirty="0">
                <a:latin typeface="Arial"/>
                <a:cs typeface="Arial"/>
              </a:rPr>
              <a:t>	</a:t>
            </a:r>
            <a:r>
              <a:rPr sz="500" dirty="0">
                <a:solidFill>
                  <a:srgbClr val="FFFFFF"/>
                </a:solidFill>
                <a:latin typeface="Arial"/>
                <a:cs typeface="Arial"/>
                <a:hlinkClick r:id="rId3" action="ppaction://hlinksldjump"/>
              </a:rPr>
              <a:t>Election</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algorithms</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Election</a:t>
            </a:r>
            <a:r>
              <a:rPr spc="-50" dirty="0"/>
              <a:t> </a:t>
            </a:r>
            <a:r>
              <a:rPr spc="-10" dirty="0"/>
              <a:t>algorithms</a:t>
            </a:r>
          </a:p>
        </p:txBody>
      </p:sp>
      <p:sp>
        <p:nvSpPr>
          <p:cNvPr id="4" name="object 4"/>
          <p:cNvSpPr txBox="1"/>
          <p:nvPr/>
        </p:nvSpPr>
        <p:spPr>
          <a:xfrm>
            <a:off x="343547" y="472482"/>
            <a:ext cx="3917315" cy="1106805"/>
          </a:xfrm>
          <a:prstGeom prst="rect">
            <a:avLst/>
          </a:prstGeom>
        </p:spPr>
        <p:txBody>
          <a:bodyPr vert="horz" wrap="square" lIns="0" tIns="54610" rIns="0" bIns="0" rtlCol="0">
            <a:spAutoFit/>
          </a:bodyPr>
          <a:lstStyle/>
          <a:p>
            <a:pPr marL="15875">
              <a:lnSpc>
                <a:spcPct val="100000"/>
              </a:lnSpc>
              <a:spcBef>
                <a:spcPts val="430"/>
              </a:spcBef>
            </a:pPr>
            <a:r>
              <a:rPr sz="1000" spc="-10" dirty="0">
                <a:solidFill>
                  <a:srgbClr val="3333B2"/>
                </a:solidFill>
                <a:latin typeface="Arial"/>
                <a:cs typeface="Arial"/>
              </a:rPr>
              <a:t>Principle</a:t>
            </a:r>
            <a:endParaRPr sz="1000">
              <a:latin typeface="Arial"/>
              <a:cs typeface="Arial"/>
            </a:endParaRPr>
          </a:p>
          <a:p>
            <a:pPr marL="15875" marR="5080" indent="-3810">
              <a:lnSpc>
                <a:spcPct val="111600"/>
              </a:lnSpc>
              <a:spcBef>
                <a:spcPts val="170"/>
              </a:spcBef>
            </a:pPr>
            <a:r>
              <a:rPr sz="900" dirty="0">
                <a:latin typeface="Arial"/>
                <a:cs typeface="Arial"/>
              </a:rPr>
              <a:t>An</a:t>
            </a:r>
            <a:r>
              <a:rPr sz="900" spc="-45" dirty="0">
                <a:latin typeface="Arial"/>
                <a:cs typeface="Arial"/>
              </a:rPr>
              <a:t> </a:t>
            </a:r>
            <a:r>
              <a:rPr sz="900" spc="-10" dirty="0">
                <a:latin typeface="Arial"/>
                <a:cs typeface="Arial"/>
              </a:rPr>
              <a:t>algorithm</a:t>
            </a:r>
            <a:r>
              <a:rPr sz="900" spc="-40" dirty="0">
                <a:latin typeface="Arial"/>
                <a:cs typeface="Arial"/>
              </a:rPr>
              <a:t> </a:t>
            </a:r>
            <a:r>
              <a:rPr sz="900" spc="-10" dirty="0">
                <a:latin typeface="Arial"/>
                <a:cs typeface="Arial"/>
              </a:rPr>
              <a:t>requires</a:t>
            </a:r>
            <a:r>
              <a:rPr sz="900" spc="-45" dirty="0">
                <a:latin typeface="Arial"/>
                <a:cs typeface="Arial"/>
              </a:rPr>
              <a:t> </a:t>
            </a:r>
            <a:r>
              <a:rPr sz="900" dirty="0">
                <a:latin typeface="Arial"/>
                <a:cs typeface="Arial"/>
              </a:rPr>
              <a:t>that</a:t>
            </a:r>
            <a:r>
              <a:rPr sz="900" spc="-40" dirty="0">
                <a:latin typeface="Arial"/>
                <a:cs typeface="Arial"/>
              </a:rPr>
              <a:t> </a:t>
            </a:r>
            <a:r>
              <a:rPr sz="900" spc="-10" dirty="0">
                <a:latin typeface="Arial"/>
                <a:cs typeface="Arial"/>
              </a:rPr>
              <a:t>some</a:t>
            </a:r>
            <a:r>
              <a:rPr sz="900" spc="-45" dirty="0">
                <a:latin typeface="Arial"/>
                <a:cs typeface="Arial"/>
              </a:rPr>
              <a:t> </a:t>
            </a:r>
            <a:r>
              <a:rPr sz="900" spc="-10" dirty="0">
                <a:latin typeface="Arial"/>
                <a:cs typeface="Arial"/>
              </a:rPr>
              <a:t>process</a:t>
            </a:r>
            <a:r>
              <a:rPr sz="900" spc="-40" dirty="0">
                <a:latin typeface="Arial"/>
                <a:cs typeface="Arial"/>
              </a:rPr>
              <a:t> </a:t>
            </a:r>
            <a:r>
              <a:rPr sz="900" dirty="0">
                <a:latin typeface="Arial"/>
                <a:cs typeface="Arial"/>
              </a:rPr>
              <a:t>acts</a:t>
            </a:r>
            <a:r>
              <a:rPr sz="900" spc="-45" dirty="0">
                <a:latin typeface="Arial"/>
                <a:cs typeface="Arial"/>
              </a:rPr>
              <a:t> </a:t>
            </a:r>
            <a:r>
              <a:rPr sz="900" dirty="0">
                <a:latin typeface="Arial"/>
                <a:cs typeface="Arial"/>
              </a:rPr>
              <a:t>as</a:t>
            </a:r>
            <a:r>
              <a:rPr sz="900" spc="-40" dirty="0">
                <a:latin typeface="Arial"/>
                <a:cs typeface="Arial"/>
              </a:rPr>
              <a:t> </a:t>
            </a:r>
            <a:r>
              <a:rPr sz="900" dirty="0">
                <a:latin typeface="Arial"/>
                <a:cs typeface="Arial"/>
              </a:rPr>
              <a:t>a</a:t>
            </a:r>
            <a:r>
              <a:rPr sz="900" spc="-45" dirty="0">
                <a:latin typeface="Arial"/>
                <a:cs typeface="Arial"/>
              </a:rPr>
              <a:t> </a:t>
            </a:r>
            <a:r>
              <a:rPr sz="900" spc="-10" dirty="0">
                <a:latin typeface="Arial"/>
                <a:cs typeface="Arial"/>
              </a:rPr>
              <a:t>coordinator.</a:t>
            </a:r>
            <a:r>
              <a:rPr sz="900" spc="15" dirty="0">
                <a:latin typeface="Arial"/>
                <a:cs typeface="Arial"/>
              </a:rPr>
              <a:t> </a:t>
            </a:r>
            <a:r>
              <a:rPr sz="900" dirty="0">
                <a:latin typeface="Arial"/>
                <a:cs typeface="Arial"/>
              </a:rPr>
              <a:t>The</a:t>
            </a:r>
            <a:r>
              <a:rPr sz="900" spc="-40" dirty="0">
                <a:latin typeface="Arial"/>
                <a:cs typeface="Arial"/>
              </a:rPr>
              <a:t> </a:t>
            </a:r>
            <a:r>
              <a:rPr sz="900" spc="-10" dirty="0">
                <a:latin typeface="Arial"/>
                <a:cs typeface="Arial"/>
              </a:rPr>
              <a:t>question</a:t>
            </a:r>
            <a:r>
              <a:rPr sz="900" spc="-45" dirty="0">
                <a:latin typeface="Arial"/>
                <a:cs typeface="Arial"/>
              </a:rPr>
              <a:t> </a:t>
            </a:r>
            <a:r>
              <a:rPr sz="900" spc="-25" dirty="0">
                <a:latin typeface="Arial"/>
                <a:cs typeface="Arial"/>
              </a:rPr>
              <a:t>is </a:t>
            </a:r>
            <a:r>
              <a:rPr sz="900" dirty="0">
                <a:latin typeface="Arial"/>
                <a:cs typeface="Arial"/>
              </a:rPr>
              <a:t>how</a:t>
            </a:r>
            <a:r>
              <a:rPr sz="900" spc="-30" dirty="0">
                <a:latin typeface="Arial"/>
                <a:cs typeface="Arial"/>
              </a:rPr>
              <a:t> </a:t>
            </a:r>
            <a:r>
              <a:rPr sz="900" dirty="0">
                <a:latin typeface="Arial"/>
                <a:cs typeface="Arial"/>
              </a:rPr>
              <a:t>to</a:t>
            </a:r>
            <a:r>
              <a:rPr sz="900" spc="-30" dirty="0">
                <a:latin typeface="Arial"/>
                <a:cs typeface="Arial"/>
              </a:rPr>
              <a:t> </a:t>
            </a:r>
            <a:r>
              <a:rPr sz="900" dirty="0">
                <a:latin typeface="Arial"/>
                <a:cs typeface="Arial"/>
              </a:rPr>
              <a:t>select</a:t>
            </a:r>
            <a:r>
              <a:rPr sz="900" spc="-25" dirty="0">
                <a:latin typeface="Arial"/>
                <a:cs typeface="Arial"/>
              </a:rPr>
              <a:t> </a:t>
            </a:r>
            <a:r>
              <a:rPr sz="900" dirty="0">
                <a:latin typeface="Arial"/>
                <a:cs typeface="Arial"/>
              </a:rPr>
              <a:t>this</a:t>
            </a:r>
            <a:r>
              <a:rPr sz="900" spc="-30" dirty="0">
                <a:latin typeface="Arial"/>
                <a:cs typeface="Arial"/>
              </a:rPr>
              <a:t> </a:t>
            </a:r>
            <a:r>
              <a:rPr sz="900" dirty="0">
                <a:latin typeface="Arial"/>
                <a:cs typeface="Arial"/>
              </a:rPr>
              <a:t>special</a:t>
            </a:r>
            <a:r>
              <a:rPr sz="900" spc="-25" dirty="0">
                <a:latin typeface="Arial"/>
                <a:cs typeface="Arial"/>
              </a:rPr>
              <a:t> </a:t>
            </a:r>
            <a:r>
              <a:rPr sz="900" dirty="0">
                <a:latin typeface="Arial"/>
                <a:cs typeface="Arial"/>
              </a:rPr>
              <a:t>process</a:t>
            </a:r>
            <a:r>
              <a:rPr sz="900" spc="-30" dirty="0">
                <a:latin typeface="Arial"/>
                <a:cs typeface="Arial"/>
              </a:rPr>
              <a:t> </a:t>
            </a:r>
            <a:r>
              <a:rPr sz="900" spc="-10" dirty="0">
                <a:solidFill>
                  <a:srgbClr val="3333B2"/>
                </a:solidFill>
                <a:latin typeface="Arial"/>
                <a:cs typeface="Arial"/>
              </a:rPr>
              <a:t>dynamically</a:t>
            </a:r>
            <a:r>
              <a:rPr sz="900" spc="-10" dirty="0">
                <a:latin typeface="Arial"/>
                <a:cs typeface="Arial"/>
              </a:rPr>
              <a:t>.</a:t>
            </a:r>
            <a:endParaRPr sz="900">
              <a:latin typeface="Arial"/>
              <a:cs typeface="Arial"/>
            </a:endParaRPr>
          </a:p>
          <a:p>
            <a:pPr marL="15875">
              <a:lnSpc>
                <a:spcPct val="100000"/>
              </a:lnSpc>
              <a:spcBef>
                <a:spcPts val="810"/>
              </a:spcBef>
            </a:pPr>
            <a:r>
              <a:rPr sz="1000" spc="-20" dirty="0">
                <a:solidFill>
                  <a:srgbClr val="3333B2"/>
                </a:solidFill>
                <a:latin typeface="Arial"/>
                <a:cs typeface="Arial"/>
              </a:rPr>
              <a:t>Note</a:t>
            </a:r>
            <a:endParaRPr sz="1000">
              <a:latin typeface="Arial"/>
              <a:cs typeface="Arial"/>
            </a:endParaRPr>
          </a:p>
          <a:p>
            <a:pPr marL="15875" marR="24130">
              <a:lnSpc>
                <a:spcPts val="1210"/>
              </a:lnSpc>
              <a:spcBef>
                <a:spcPts val="35"/>
              </a:spcBef>
            </a:pPr>
            <a:r>
              <a:rPr sz="900" dirty="0">
                <a:latin typeface="Arial"/>
                <a:cs typeface="Arial"/>
              </a:rPr>
              <a:t>In</a:t>
            </a:r>
            <a:r>
              <a:rPr sz="900" spc="-35" dirty="0">
                <a:latin typeface="Arial"/>
                <a:cs typeface="Arial"/>
              </a:rPr>
              <a:t> </a:t>
            </a:r>
            <a:r>
              <a:rPr sz="900" dirty="0">
                <a:latin typeface="Arial"/>
                <a:cs typeface="Arial"/>
              </a:rPr>
              <a:t>many</a:t>
            </a:r>
            <a:r>
              <a:rPr sz="900" spc="-35" dirty="0">
                <a:latin typeface="Arial"/>
                <a:cs typeface="Arial"/>
              </a:rPr>
              <a:t> </a:t>
            </a:r>
            <a:r>
              <a:rPr sz="900" dirty="0">
                <a:latin typeface="Arial"/>
                <a:cs typeface="Arial"/>
              </a:rPr>
              <a:t>systems,</a:t>
            </a:r>
            <a:r>
              <a:rPr sz="900" spc="-30" dirty="0">
                <a:latin typeface="Arial"/>
                <a:cs typeface="Arial"/>
              </a:rPr>
              <a:t> </a:t>
            </a:r>
            <a:r>
              <a:rPr sz="900" dirty="0">
                <a:latin typeface="Arial"/>
                <a:cs typeface="Arial"/>
              </a:rPr>
              <a:t>the</a:t>
            </a:r>
            <a:r>
              <a:rPr sz="900" spc="-35" dirty="0">
                <a:latin typeface="Arial"/>
                <a:cs typeface="Arial"/>
              </a:rPr>
              <a:t> </a:t>
            </a:r>
            <a:r>
              <a:rPr sz="900" dirty="0">
                <a:latin typeface="Arial"/>
                <a:cs typeface="Arial"/>
              </a:rPr>
              <a:t>coordinator</a:t>
            </a:r>
            <a:r>
              <a:rPr sz="900" spc="-35" dirty="0">
                <a:latin typeface="Arial"/>
                <a:cs typeface="Arial"/>
              </a:rPr>
              <a:t> </a:t>
            </a:r>
            <a:r>
              <a:rPr sz="900" dirty="0">
                <a:latin typeface="Arial"/>
                <a:cs typeface="Arial"/>
              </a:rPr>
              <a:t>is</a:t>
            </a:r>
            <a:r>
              <a:rPr sz="900" spc="-30" dirty="0">
                <a:latin typeface="Arial"/>
                <a:cs typeface="Arial"/>
              </a:rPr>
              <a:t> </a:t>
            </a:r>
            <a:r>
              <a:rPr sz="900" dirty="0">
                <a:latin typeface="Arial"/>
                <a:cs typeface="Arial"/>
              </a:rPr>
              <a:t>chosen</a:t>
            </a:r>
            <a:r>
              <a:rPr sz="900" spc="-35" dirty="0">
                <a:latin typeface="Arial"/>
                <a:cs typeface="Arial"/>
              </a:rPr>
              <a:t> </a:t>
            </a:r>
            <a:r>
              <a:rPr sz="900" dirty="0">
                <a:latin typeface="Arial"/>
                <a:cs typeface="Arial"/>
              </a:rPr>
              <a:t>manually</a:t>
            </a:r>
            <a:r>
              <a:rPr sz="900" spc="-30" dirty="0">
                <a:latin typeface="Arial"/>
                <a:cs typeface="Arial"/>
              </a:rPr>
              <a:t> </a:t>
            </a:r>
            <a:r>
              <a:rPr sz="900" dirty="0">
                <a:latin typeface="Arial"/>
                <a:cs typeface="Arial"/>
              </a:rPr>
              <a:t>(e.g.,</a:t>
            </a:r>
            <a:r>
              <a:rPr sz="900" spc="-35" dirty="0">
                <a:latin typeface="Arial"/>
                <a:cs typeface="Arial"/>
              </a:rPr>
              <a:t> </a:t>
            </a:r>
            <a:r>
              <a:rPr sz="900" dirty="0">
                <a:latin typeface="Arial"/>
                <a:cs typeface="Arial"/>
              </a:rPr>
              <a:t>file</a:t>
            </a:r>
            <a:r>
              <a:rPr sz="900" spc="-35" dirty="0">
                <a:latin typeface="Arial"/>
                <a:cs typeface="Arial"/>
              </a:rPr>
              <a:t> </a:t>
            </a:r>
            <a:r>
              <a:rPr sz="900" dirty="0">
                <a:latin typeface="Arial"/>
                <a:cs typeface="Arial"/>
              </a:rPr>
              <a:t>servers).</a:t>
            </a:r>
            <a:r>
              <a:rPr sz="900" spc="20" dirty="0">
                <a:latin typeface="Arial"/>
                <a:cs typeface="Arial"/>
              </a:rPr>
              <a:t> </a:t>
            </a:r>
            <a:r>
              <a:rPr sz="900" spc="-20" dirty="0">
                <a:latin typeface="Arial"/>
                <a:cs typeface="Arial"/>
              </a:rPr>
              <a:t>This </a:t>
            </a:r>
            <a:r>
              <a:rPr sz="900" dirty="0">
                <a:latin typeface="Arial"/>
                <a:cs typeface="Arial"/>
              </a:rPr>
              <a:t>leads</a:t>
            </a:r>
            <a:r>
              <a:rPr sz="900" spc="-25" dirty="0">
                <a:latin typeface="Arial"/>
                <a:cs typeface="Arial"/>
              </a:rPr>
              <a:t> </a:t>
            </a:r>
            <a:r>
              <a:rPr sz="900" dirty="0">
                <a:latin typeface="Arial"/>
                <a:cs typeface="Arial"/>
              </a:rPr>
              <a:t>to</a:t>
            </a:r>
            <a:r>
              <a:rPr sz="900" spc="-15" dirty="0">
                <a:latin typeface="Arial"/>
                <a:cs typeface="Arial"/>
              </a:rPr>
              <a:t> </a:t>
            </a:r>
            <a:r>
              <a:rPr sz="900" spc="-10" dirty="0">
                <a:latin typeface="Arial"/>
                <a:cs typeface="Arial"/>
              </a:rPr>
              <a:t>centralized</a:t>
            </a:r>
            <a:r>
              <a:rPr sz="900" spc="-15" dirty="0">
                <a:latin typeface="Arial"/>
                <a:cs typeface="Arial"/>
              </a:rPr>
              <a:t> </a:t>
            </a:r>
            <a:r>
              <a:rPr sz="900" dirty="0">
                <a:latin typeface="Arial"/>
                <a:cs typeface="Arial"/>
              </a:rPr>
              <a:t>solutions</a:t>
            </a:r>
            <a:r>
              <a:rPr sz="900" spc="-10" dirty="0">
                <a:latin typeface="Arial"/>
                <a:cs typeface="Arial"/>
              </a:rPr>
              <a:t> </a:t>
            </a:r>
            <a:r>
              <a:rPr sz="900" i="1" spc="350" dirty="0">
                <a:latin typeface="Menlo"/>
                <a:cs typeface="Menlo"/>
              </a:rPr>
              <a:t>⇒</a:t>
            </a:r>
            <a:r>
              <a:rPr sz="900" i="1" spc="-295" dirty="0">
                <a:latin typeface="Menlo"/>
                <a:cs typeface="Menlo"/>
              </a:rPr>
              <a:t> </a:t>
            </a:r>
            <a:r>
              <a:rPr sz="900" dirty="0">
                <a:latin typeface="Arial"/>
                <a:cs typeface="Arial"/>
              </a:rPr>
              <a:t>single</a:t>
            </a:r>
            <a:r>
              <a:rPr sz="900" spc="-15" dirty="0">
                <a:latin typeface="Arial"/>
                <a:cs typeface="Arial"/>
              </a:rPr>
              <a:t> </a:t>
            </a:r>
            <a:r>
              <a:rPr sz="900" dirty="0">
                <a:latin typeface="Arial"/>
                <a:cs typeface="Arial"/>
              </a:rPr>
              <a:t>point</a:t>
            </a:r>
            <a:r>
              <a:rPr sz="900" spc="-15" dirty="0">
                <a:latin typeface="Arial"/>
                <a:cs typeface="Arial"/>
              </a:rPr>
              <a:t> </a:t>
            </a:r>
            <a:r>
              <a:rPr sz="900" dirty="0">
                <a:latin typeface="Arial"/>
                <a:cs typeface="Arial"/>
              </a:rPr>
              <a:t>of</a:t>
            </a:r>
            <a:r>
              <a:rPr sz="900" spc="-15" dirty="0">
                <a:latin typeface="Arial"/>
                <a:cs typeface="Arial"/>
              </a:rPr>
              <a:t> </a:t>
            </a:r>
            <a:r>
              <a:rPr sz="900" spc="-10" dirty="0">
                <a:latin typeface="Arial"/>
                <a:cs typeface="Arial"/>
              </a:rPr>
              <a:t>failure.</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Tree>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952875" algn="l"/>
              </a:tabLst>
            </a:pPr>
            <a:r>
              <a:rPr sz="500" spc="-10" dirty="0">
                <a:latin typeface="Arial"/>
                <a:cs typeface="Arial"/>
                <a:hlinkClick r:id="rId2" action="ppaction://hlinksldjump"/>
              </a:rPr>
              <a:t>Coordination</a:t>
            </a:r>
            <a:r>
              <a:rPr sz="500" dirty="0">
                <a:latin typeface="Arial"/>
                <a:cs typeface="Arial"/>
              </a:rPr>
              <a:t>	</a:t>
            </a:r>
            <a:r>
              <a:rPr sz="500" dirty="0">
                <a:solidFill>
                  <a:srgbClr val="FFFFFF"/>
                </a:solidFill>
                <a:latin typeface="Arial"/>
                <a:cs typeface="Arial"/>
                <a:hlinkClick r:id="rId3" action="ppaction://hlinksldjump"/>
              </a:rPr>
              <a:t>Election</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algorithms</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Election</a:t>
            </a:r>
            <a:r>
              <a:rPr spc="-50" dirty="0"/>
              <a:t> </a:t>
            </a:r>
            <a:r>
              <a:rPr spc="-10" dirty="0"/>
              <a:t>algorithms</a:t>
            </a:r>
          </a:p>
        </p:txBody>
      </p:sp>
      <p:sp>
        <p:nvSpPr>
          <p:cNvPr id="4" name="object 4"/>
          <p:cNvSpPr txBox="1"/>
          <p:nvPr/>
        </p:nvSpPr>
        <p:spPr>
          <a:xfrm>
            <a:off x="343382" y="472482"/>
            <a:ext cx="3917950" cy="2073275"/>
          </a:xfrm>
          <a:prstGeom prst="rect">
            <a:avLst/>
          </a:prstGeom>
        </p:spPr>
        <p:txBody>
          <a:bodyPr vert="horz" wrap="square" lIns="0" tIns="54610" rIns="0" bIns="0" rtlCol="0">
            <a:spAutoFit/>
          </a:bodyPr>
          <a:lstStyle/>
          <a:p>
            <a:pPr marL="16510">
              <a:lnSpc>
                <a:spcPct val="100000"/>
              </a:lnSpc>
              <a:spcBef>
                <a:spcPts val="430"/>
              </a:spcBef>
            </a:pPr>
            <a:r>
              <a:rPr sz="1000" spc="-10" dirty="0">
                <a:solidFill>
                  <a:srgbClr val="3333B2"/>
                </a:solidFill>
                <a:latin typeface="Arial"/>
                <a:cs typeface="Arial"/>
              </a:rPr>
              <a:t>Principle</a:t>
            </a:r>
            <a:endParaRPr sz="1000">
              <a:latin typeface="Arial"/>
              <a:cs typeface="Arial"/>
            </a:endParaRPr>
          </a:p>
          <a:p>
            <a:pPr marL="16510" marR="5080" indent="-3810">
              <a:lnSpc>
                <a:spcPct val="111600"/>
              </a:lnSpc>
              <a:spcBef>
                <a:spcPts val="170"/>
              </a:spcBef>
            </a:pPr>
            <a:r>
              <a:rPr sz="900" dirty="0">
                <a:latin typeface="Arial"/>
                <a:cs typeface="Arial"/>
              </a:rPr>
              <a:t>An</a:t>
            </a:r>
            <a:r>
              <a:rPr sz="900" spc="-45" dirty="0">
                <a:latin typeface="Arial"/>
                <a:cs typeface="Arial"/>
              </a:rPr>
              <a:t> </a:t>
            </a:r>
            <a:r>
              <a:rPr sz="900" spc="-10" dirty="0">
                <a:latin typeface="Arial"/>
                <a:cs typeface="Arial"/>
              </a:rPr>
              <a:t>algorithm</a:t>
            </a:r>
            <a:r>
              <a:rPr sz="900" spc="-40" dirty="0">
                <a:latin typeface="Arial"/>
                <a:cs typeface="Arial"/>
              </a:rPr>
              <a:t> </a:t>
            </a:r>
            <a:r>
              <a:rPr sz="900" spc="-10" dirty="0">
                <a:latin typeface="Arial"/>
                <a:cs typeface="Arial"/>
              </a:rPr>
              <a:t>requires</a:t>
            </a:r>
            <a:r>
              <a:rPr sz="900" spc="-45" dirty="0">
                <a:latin typeface="Arial"/>
                <a:cs typeface="Arial"/>
              </a:rPr>
              <a:t> </a:t>
            </a:r>
            <a:r>
              <a:rPr sz="900" dirty="0">
                <a:latin typeface="Arial"/>
                <a:cs typeface="Arial"/>
              </a:rPr>
              <a:t>that</a:t>
            </a:r>
            <a:r>
              <a:rPr sz="900" spc="-40" dirty="0">
                <a:latin typeface="Arial"/>
                <a:cs typeface="Arial"/>
              </a:rPr>
              <a:t> </a:t>
            </a:r>
            <a:r>
              <a:rPr sz="900" spc="-10" dirty="0">
                <a:latin typeface="Arial"/>
                <a:cs typeface="Arial"/>
              </a:rPr>
              <a:t>some</a:t>
            </a:r>
            <a:r>
              <a:rPr sz="900" spc="-45" dirty="0">
                <a:latin typeface="Arial"/>
                <a:cs typeface="Arial"/>
              </a:rPr>
              <a:t> </a:t>
            </a:r>
            <a:r>
              <a:rPr sz="900" spc="-10" dirty="0">
                <a:latin typeface="Arial"/>
                <a:cs typeface="Arial"/>
              </a:rPr>
              <a:t>process</a:t>
            </a:r>
            <a:r>
              <a:rPr sz="900" spc="-40" dirty="0">
                <a:latin typeface="Arial"/>
                <a:cs typeface="Arial"/>
              </a:rPr>
              <a:t> </a:t>
            </a:r>
            <a:r>
              <a:rPr sz="900" dirty="0">
                <a:latin typeface="Arial"/>
                <a:cs typeface="Arial"/>
              </a:rPr>
              <a:t>acts</a:t>
            </a:r>
            <a:r>
              <a:rPr sz="900" spc="-45" dirty="0">
                <a:latin typeface="Arial"/>
                <a:cs typeface="Arial"/>
              </a:rPr>
              <a:t> </a:t>
            </a:r>
            <a:r>
              <a:rPr sz="900" dirty="0">
                <a:latin typeface="Arial"/>
                <a:cs typeface="Arial"/>
              </a:rPr>
              <a:t>as</a:t>
            </a:r>
            <a:r>
              <a:rPr sz="900" spc="-40" dirty="0">
                <a:latin typeface="Arial"/>
                <a:cs typeface="Arial"/>
              </a:rPr>
              <a:t> </a:t>
            </a:r>
            <a:r>
              <a:rPr sz="900" dirty="0">
                <a:latin typeface="Arial"/>
                <a:cs typeface="Arial"/>
              </a:rPr>
              <a:t>a</a:t>
            </a:r>
            <a:r>
              <a:rPr sz="900" spc="-45" dirty="0">
                <a:latin typeface="Arial"/>
                <a:cs typeface="Arial"/>
              </a:rPr>
              <a:t> </a:t>
            </a:r>
            <a:r>
              <a:rPr sz="900" spc="-10" dirty="0">
                <a:latin typeface="Arial"/>
                <a:cs typeface="Arial"/>
              </a:rPr>
              <a:t>coordinator.</a:t>
            </a:r>
            <a:r>
              <a:rPr sz="900" spc="15" dirty="0">
                <a:latin typeface="Arial"/>
                <a:cs typeface="Arial"/>
              </a:rPr>
              <a:t> </a:t>
            </a:r>
            <a:r>
              <a:rPr sz="900" dirty="0">
                <a:latin typeface="Arial"/>
                <a:cs typeface="Arial"/>
              </a:rPr>
              <a:t>The</a:t>
            </a:r>
            <a:r>
              <a:rPr sz="900" spc="-40" dirty="0">
                <a:latin typeface="Arial"/>
                <a:cs typeface="Arial"/>
              </a:rPr>
              <a:t> </a:t>
            </a:r>
            <a:r>
              <a:rPr sz="900" spc="-10" dirty="0">
                <a:latin typeface="Arial"/>
                <a:cs typeface="Arial"/>
              </a:rPr>
              <a:t>question</a:t>
            </a:r>
            <a:r>
              <a:rPr sz="900" spc="-45" dirty="0">
                <a:latin typeface="Arial"/>
                <a:cs typeface="Arial"/>
              </a:rPr>
              <a:t> </a:t>
            </a:r>
            <a:r>
              <a:rPr sz="900" spc="-25" dirty="0">
                <a:latin typeface="Arial"/>
                <a:cs typeface="Arial"/>
              </a:rPr>
              <a:t>is </a:t>
            </a:r>
            <a:r>
              <a:rPr sz="900" dirty="0">
                <a:latin typeface="Arial"/>
                <a:cs typeface="Arial"/>
              </a:rPr>
              <a:t>how</a:t>
            </a:r>
            <a:r>
              <a:rPr sz="900" spc="-30" dirty="0">
                <a:latin typeface="Arial"/>
                <a:cs typeface="Arial"/>
              </a:rPr>
              <a:t> </a:t>
            </a:r>
            <a:r>
              <a:rPr sz="900" dirty="0">
                <a:latin typeface="Arial"/>
                <a:cs typeface="Arial"/>
              </a:rPr>
              <a:t>to</a:t>
            </a:r>
            <a:r>
              <a:rPr sz="900" spc="-30" dirty="0">
                <a:latin typeface="Arial"/>
                <a:cs typeface="Arial"/>
              </a:rPr>
              <a:t> </a:t>
            </a:r>
            <a:r>
              <a:rPr sz="900" dirty="0">
                <a:latin typeface="Arial"/>
                <a:cs typeface="Arial"/>
              </a:rPr>
              <a:t>select</a:t>
            </a:r>
            <a:r>
              <a:rPr sz="900" spc="-25" dirty="0">
                <a:latin typeface="Arial"/>
                <a:cs typeface="Arial"/>
              </a:rPr>
              <a:t> </a:t>
            </a:r>
            <a:r>
              <a:rPr sz="900" dirty="0">
                <a:latin typeface="Arial"/>
                <a:cs typeface="Arial"/>
              </a:rPr>
              <a:t>this</a:t>
            </a:r>
            <a:r>
              <a:rPr sz="900" spc="-30" dirty="0">
                <a:latin typeface="Arial"/>
                <a:cs typeface="Arial"/>
              </a:rPr>
              <a:t> </a:t>
            </a:r>
            <a:r>
              <a:rPr sz="900" dirty="0">
                <a:latin typeface="Arial"/>
                <a:cs typeface="Arial"/>
              </a:rPr>
              <a:t>special</a:t>
            </a:r>
            <a:r>
              <a:rPr sz="900" spc="-25" dirty="0">
                <a:latin typeface="Arial"/>
                <a:cs typeface="Arial"/>
              </a:rPr>
              <a:t> </a:t>
            </a:r>
            <a:r>
              <a:rPr sz="900" dirty="0">
                <a:latin typeface="Arial"/>
                <a:cs typeface="Arial"/>
              </a:rPr>
              <a:t>process</a:t>
            </a:r>
            <a:r>
              <a:rPr sz="900" spc="-30" dirty="0">
                <a:latin typeface="Arial"/>
                <a:cs typeface="Arial"/>
              </a:rPr>
              <a:t> </a:t>
            </a:r>
            <a:r>
              <a:rPr sz="900" spc="-10" dirty="0">
                <a:solidFill>
                  <a:srgbClr val="3333B2"/>
                </a:solidFill>
                <a:latin typeface="Arial"/>
                <a:cs typeface="Arial"/>
              </a:rPr>
              <a:t>dynamically</a:t>
            </a:r>
            <a:r>
              <a:rPr sz="900" spc="-10" dirty="0">
                <a:latin typeface="Arial"/>
                <a:cs typeface="Arial"/>
              </a:rPr>
              <a:t>.</a:t>
            </a:r>
            <a:endParaRPr sz="900">
              <a:latin typeface="Arial"/>
              <a:cs typeface="Arial"/>
            </a:endParaRPr>
          </a:p>
          <a:p>
            <a:pPr marL="16510">
              <a:lnSpc>
                <a:spcPct val="100000"/>
              </a:lnSpc>
              <a:spcBef>
                <a:spcPts val="810"/>
              </a:spcBef>
            </a:pPr>
            <a:r>
              <a:rPr sz="1000" spc="-20" dirty="0">
                <a:solidFill>
                  <a:srgbClr val="3333B2"/>
                </a:solidFill>
                <a:latin typeface="Arial"/>
                <a:cs typeface="Arial"/>
              </a:rPr>
              <a:t>Note</a:t>
            </a:r>
            <a:endParaRPr sz="1000">
              <a:latin typeface="Arial"/>
              <a:cs typeface="Arial"/>
            </a:endParaRPr>
          </a:p>
          <a:p>
            <a:pPr marL="16510" marR="24130">
              <a:lnSpc>
                <a:spcPts val="1210"/>
              </a:lnSpc>
              <a:spcBef>
                <a:spcPts val="35"/>
              </a:spcBef>
            </a:pPr>
            <a:r>
              <a:rPr sz="900" dirty="0">
                <a:latin typeface="Arial"/>
                <a:cs typeface="Arial"/>
              </a:rPr>
              <a:t>In</a:t>
            </a:r>
            <a:r>
              <a:rPr sz="900" spc="-35" dirty="0">
                <a:latin typeface="Arial"/>
                <a:cs typeface="Arial"/>
              </a:rPr>
              <a:t> </a:t>
            </a:r>
            <a:r>
              <a:rPr sz="900" dirty="0">
                <a:latin typeface="Arial"/>
                <a:cs typeface="Arial"/>
              </a:rPr>
              <a:t>many</a:t>
            </a:r>
            <a:r>
              <a:rPr sz="900" spc="-35" dirty="0">
                <a:latin typeface="Arial"/>
                <a:cs typeface="Arial"/>
              </a:rPr>
              <a:t> </a:t>
            </a:r>
            <a:r>
              <a:rPr sz="900" dirty="0">
                <a:latin typeface="Arial"/>
                <a:cs typeface="Arial"/>
              </a:rPr>
              <a:t>systems,</a:t>
            </a:r>
            <a:r>
              <a:rPr sz="900" spc="-30" dirty="0">
                <a:latin typeface="Arial"/>
                <a:cs typeface="Arial"/>
              </a:rPr>
              <a:t> </a:t>
            </a:r>
            <a:r>
              <a:rPr sz="900" dirty="0">
                <a:latin typeface="Arial"/>
                <a:cs typeface="Arial"/>
              </a:rPr>
              <a:t>the</a:t>
            </a:r>
            <a:r>
              <a:rPr sz="900" spc="-35" dirty="0">
                <a:latin typeface="Arial"/>
                <a:cs typeface="Arial"/>
              </a:rPr>
              <a:t> </a:t>
            </a:r>
            <a:r>
              <a:rPr sz="900" dirty="0">
                <a:latin typeface="Arial"/>
                <a:cs typeface="Arial"/>
              </a:rPr>
              <a:t>coordinator</a:t>
            </a:r>
            <a:r>
              <a:rPr sz="900" spc="-35" dirty="0">
                <a:latin typeface="Arial"/>
                <a:cs typeface="Arial"/>
              </a:rPr>
              <a:t> </a:t>
            </a:r>
            <a:r>
              <a:rPr sz="900" dirty="0">
                <a:latin typeface="Arial"/>
                <a:cs typeface="Arial"/>
              </a:rPr>
              <a:t>is</a:t>
            </a:r>
            <a:r>
              <a:rPr sz="900" spc="-30" dirty="0">
                <a:latin typeface="Arial"/>
                <a:cs typeface="Arial"/>
              </a:rPr>
              <a:t> </a:t>
            </a:r>
            <a:r>
              <a:rPr sz="900" dirty="0">
                <a:latin typeface="Arial"/>
                <a:cs typeface="Arial"/>
              </a:rPr>
              <a:t>chosen</a:t>
            </a:r>
            <a:r>
              <a:rPr sz="900" spc="-35" dirty="0">
                <a:latin typeface="Arial"/>
                <a:cs typeface="Arial"/>
              </a:rPr>
              <a:t> </a:t>
            </a:r>
            <a:r>
              <a:rPr sz="900" dirty="0">
                <a:latin typeface="Arial"/>
                <a:cs typeface="Arial"/>
              </a:rPr>
              <a:t>manually</a:t>
            </a:r>
            <a:r>
              <a:rPr sz="900" spc="-30" dirty="0">
                <a:latin typeface="Arial"/>
                <a:cs typeface="Arial"/>
              </a:rPr>
              <a:t> </a:t>
            </a:r>
            <a:r>
              <a:rPr sz="900" dirty="0">
                <a:latin typeface="Arial"/>
                <a:cs typeface="Arial"/>
              </a:rPr>
              <a:t>(e.g.,</a:t>
            </a:r>
            <a:r>
              <a:rPr sz="900" spc="-35" dirty="0">
                <a:latin typeface="Arial"/>
                <a:cs typeface="Arial"/>
              </a:rPr>
              <a:t> </a:t>
            </a:r>
            <a:r>
              <a:rPr sz="900" dirty="0">
                <a:latin typeface="Arial"/>
                <a:cs typeface="Arial"/>
              </a:rPr>
              <a:t>file</a:t>
            </a:r>
            <a:r>
              <a:rPr sz="900" spc="-35" dirty="0">
                <a:latin typeface="Arial"/>
                <a:cs typeface="Arial"/>
              </a:rPr>
              <a:t> </a:t>
            </a:r>
            <a:r>
              <a:rPr sz="900" dirty="0">
                <a:latin typeface="Arial"/>
                <a:cs typeface="Arial"/>
              </a:rPr>
              <a:t>servers).</a:t>
            </a:r>
            <a:r>
              <a:rPr sz="900" spc="20" dirty="0">
                <a:latin typeface="Arial"/>
                <a:cs typeface="Arial"/>
              </a:rPr>
              <a:t> </a:t>
            </a:r>
            <a:r>
              <a:rPr sz="900" spc="-20" dirty="0">
                <a:latin typeface="Arial"/>
                <a:cs typeface="Arial"/>
              </a:rPr>
              <a:t>This </a:t>
            </a:r>
            <a:r>
              <a:rPr sz="900" dirty="0">
                <a:latin typeface="Arial"/>
                <a:cs typeface="Arial"/>
              </a:rPr>
              <a:t>leads</a:t>
            </a:r>
            <a:r>
              <a:rPr sz="900" spc="-25" dirty="0">
                <a:latin typeface="Arial"/>
                <a:cs typeface="Arial"/>
              </a:rPr>
              <a:t> </a:t>
            </a:r>
            <a:r>
              <a:rPr sz="900" dirty="0">
                <a:latin typeface="Arial"/>
                <a:cs typeface="Arial"/>
              </a:rPr>
              <a:t>to</a:t>
            </a:r>
            <a:r>
              <a:rPr sz="900" spc="-15" dirty="0">
                <a:latin typeface="Arial"/>
                <a:cs typeface="Arial"/>
              </a:rPr>
              <a:t> </a:t>
            </a:r>
            <a:r>
              <a:rPr sz="900" spc="-10" dirty="0">
                <a:latin typeface="Arial"/>
                <a:cs typeface="Arial"/>
              </a:rPr>
              <a:t>centralized</a:t>
            </a:r>
            <a:r>
              <a:rPr sz="900" spc="-15" dirty="0">
                <a:latin typeface="Arial"/>
                <a:cs typeface="Arial"/>
              </a:rPr>
              <a:t> </a:t>
            </a:r>
            <a:r>
              <a:rPr sz="900" dirty="0">
                <a:latin typeface="Arial"/>
                <a:cs typeface="Arial"/>
              </a:rPr>
              <a:t>solutions</a:t>
            </a:r>
            <a:r>
              <a:rPr sz="900" spc="-10" dirty="0">
                <a:latin typeface="Arial"/>
                <a:cs typeface="Arial"/>
              </a:rPr>
              <a:t> </a:t>
            </a:r>
            <a:r>
              <a:rPr sz="900" i="1" spc="350" dirty="0">
                <a:latin typeface="Menlo"/>
                <a:cs typeface="Menlo"/>
              </a:rPr>
              <a:t>⇒</a:t>
            </a:r>
            <a:r>
              <a:rPr sz="900" i="1" spc="-295" dirty="0">
                <a:latin typeface="Menlo"/>
                <a:cs typeface="Menlo"/>
              </a:rPr>
              <a:t> </a:t>
            </a:r>
            <a:r>
              <a:rPr sz="900" dirty="0">
                <a:latin typeface="Arial"/>
                <a:cs typeface="Arial"/>
              </a:rPr>
              <a:t>single</a:t>
            </a:r>
            <a:r>
              <a:rPr sz="900" spc="-15" dirty="0">
                <a:latin typeface="Arial"/>
                <a:cs typeface="Arial"/>
              </a:rPr>
              <a:t> </a:t>
            </a:r>
            <a:r>
              <a:rPr sz="900" dirty="0">
                <a:latin typeface="Arial"/>
                <a:cs typeface="Arial"/>
              </a:rPr>
              <a:t>point</a:t>
            </a:r>
            <a:r>
              <a:rPr sz="900" spc="-15" dirty="0">
                <a:latin typeface="Arial"/>
                <a:cs typeface="Arial"/>
              </a:rPr>
              <a:t> </a:t>
            </a:r>
            <a:r>
              <a:rPr sz="900" dirty="0">
                <a:latin typeface="Arial"/>
                <a:cs typeface="Arial"/>
              </a:rPr>
              <a:t>of</a:t>
            </a:r>
            <a:r>
              <a:rPr sz="900" spc="-15" dirty="0">
                <a:latin typeface="Arial"/>
                <a:cs typeface="Arial"/>
              </a:rPr>
              <a:t> </a:t>
            </a:r>
            <a:r>
              <a:rPr sz="900" spc="-10" dirty="0">
                <a:latin typeface="Arial"/>
                <a:cs typeface="Arial"/>
              </a:rPr>
              <a:t>failure.</a:t>
            </a:r>
            <a:endParaRPr sz="900">
              <a:latin typeface="Arial"/>
              <a:cs typeface="Arial"/>
            </a:endParaRPr>
          </a:p>
          <a:p>
            <a:pPr marL="12700">
              <a:lnSpc>
                <a:spcPct val="100000"/>
              </a:lnSpc>
              <a:spcBef>
                <a:spcPts val="750"/>
              </a:spcBef>
            </a:pPr>
            <a:r>
              <a:rPr sz="1000" spc="-10" dirty="0">
                <a:solidFill>
                  <a:srgbClr val="3333B2"/>
                </a:solidFill>
                <a:latin typeface="Arial"/>
                <a:cs typeface="Arial"/>
              </a:rPr>
              <a:t>Teasers</a:t>
            </a:r>
            <a:endParaRPr sz="1000">
              <a:latin typeface="Arial"/>
              <a:cs typeface="Arial"/>
            </a:endParaRPr>
          </a:p>
          <a:p>
            <a:pPr marL="269240" marR="5080" indent="-158750">
              <a:lnSpc>
                <a:spcPct val="111600"/>
              </a:lnSpc>
              <a:spcBef>
                <a:spcPts val="375"/>
              </a:spcBef>
              <a:buClr>
                <a:srgbClr val="3333B2"/>
              </a:buClr>
              <a:buAutoNum type="arabicPeriod"/>
              <a:tabLst>
                <a:tab pos="269875" algn="l"/>
              </a:tabLst>
            </a:pPr>
            <a:r>
              <a:rPr sz="900" dirty="0">
                <a:latin typeface="Arial"/>
                <a:cs typeface="Arial"/>
              </a:rPr>
              <a:t>If</a:t>
            </a:r>
            <a:r>
              <a:rPr sz="900" spc="-30" dirty="0">
                <a:latin typeface="Arial"/>
                <a:cs typeface="Arial"/>
              </a:rPr>
              <a:t> </a:t>
            </a:r>
            <a:r>
              <a:rPr sz="900" dirty="0">
                <a:latin typeface="Arial"/>
                <a:cs typeface="Arial"/>
              </a:rPr>
              <a:t>a</a:t>
            </a:r>
            <a:r>
              <a:rPr sz="900" spc="-30" dirty="0">
                <a:latin typeface="Arial"/>
                <a:cs typeface="Arial"/>
              </a:rPr>
              <a:t> </a:t>
            </a:r>
            <a:r>
              <a:rPr sz="900" spc="-10" dirty="0">
                <a:latin typeface="Arial"/>
                <a:cs typeface="Arial"/>
              </a:rPr>
              <a:t>coordinator</a:t>
            </a:r>
            <a:r>
              <a:rPr sz="900" spc="-25" dirty="0">
                <a:latin typeface="Arial"/>
                <a:cs typeface="Arial"/>
              </a:rPr>
              <a:t> </a:t>
            </a:r>
            <a:r>
              <a:rPr sz="900" dirty="0">
                <a:latin typeface="Arial"/>
                <a:cs typeface="Arial"/>
              </a:rPr>
              <a:t>is</a:t>
            </a:r>
            <a:r>
              <a:rPr sz="900" spc="-30" dirty="0">
                <a:latin typeface="Arial"/>
                <a:cs typeface="Arial"/>
              </a:rPr>
              <a:t> </a:t>
            </a:r>
            <a:r>
              <a:rPr sz="900" spc="-10" dirty="0">
                <a:latin typeface="Arial"/>
                <a:cs typeface="Arial"/>
              </a:rPr>
              <a:t>chosen</a:t>
            </a:r>
            <a:r>
              <a:rPr sz="900" spc="-25" dirty="0">
                <a:latin typeface="Arial"/>
                <a:cs typeface="Arial"/>
              </a:rPr>
              <a:t> dynamically,</a:t>
            </a:r>
            <a:r>
              <a:rPr sz="900" spc="-30"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what</a:t>
            </a:r>
            <a:r>
              <a:rPr sz="900" spc="-30" dirty="0">
                <a:latin typeface="Arial"/>
                <a:cs typeface="Arial"/>
              </a:rPr>
              <a:t> </a:t>
            </a:r>
            <a:r>
              <a:rPr sz="900" spc="-10" dirty="0">
                <a:latin typeface="Arial"/>
                <a:cs typeface="Arial"/>
              </a:rPr>
              <a:t>extent</a:t>
            </a:r>
            <a:r>
              <a:rPr sz="900" spc="-30" dirty="0">
                <a:latin typeface="Arial"/>
                <a:cs typeface="Arial"/>
              </a:rPr>
              <a:t> </a:t>
            </a:r>
            <a:r>
              <a:rPr sz="900" dirty="0">
                <a:latin typeface="Arial"/>
                <a:cs typeface="Arial"/>
              </a:rPr>
              <a:t>can</a:t>
            </a:r>
            <a:r>
              <a:rPr sz="900" spc="-25" dirty="0">
                <a:latin typeface="Arial"/>
                <a:cs typeface="Arial"/>
              </a:rPr>
              <a:t> </a:t>
            </a:r>
            <a:r>
              <a:rPr sz="900" dirty="0">
                <a:latin typeface="Arial"/>
                <a:cs typeface="Arial"/>
              </a:rPr>
              <a:t>we</a:t>
            </a:r>
            <a:r>
              <a:rPr sz="900" spc="-30" dirty="0">
                <a:latin typeface="Arial"/>
                <a:cs typeface="Arial"/>
              </a:rPr>
              <a:t> </a:t>
            </a:r>
            <a:r>
              <a:rPr sz="900" spc="-10" dirty="0">
                <a:latin typeface="Arial"/>
                <a:cs typeface="Arial"/>
              </a:rPr>
              <a:t>speak</a:t>
            </a:r>
            <a:r>
              <a:rPr sz="900" spc="-25" dirty="0">
                <a:latin typeface="Arial"/>
                <a:cs typeface="Arial"/>
              </a:rPr>
              <a:t> </a:t>
            </a:r>
            <a:r>
              <a:rPr sz="900" spc="-10" dirty="0">
                <a:latin typeface="Arial"/>
                <a:cs typeface="Arial"/>
              </a:rPr>
              <a:t>about </a:t>
            </a:r>
            <a:r>
              <a:rPr sz="900" dirty="0">
                <a:latin typeface="Arial"/>
                <a:cs typeface="Arial"/>
              </a:rPr>
              <a:t>a</a:t>
            </a:r>
            <a:r>
              <a:rPr sz="900" spc="-15" dirty="0">
                <a:latin typeface="Arial"/>
                <a:cs typeface="Arial"/>
              </a:rPr>
              <a:t> </a:t>
            </a:r>
            <a:r>
              <a:rPr sz="900" spc="-10" dirty="0">
                <a:latin typeface="Arial"/>
                <a:cs typeface="Arial"/>
              </a:rPr>
              <a:t>centralized </a:t>
            </a:r>
            <a:r>
              <a:rPr sz="900" dirty="0">
                <a:latin typeface="Arial"/>
                <a:cs typeface="Arial"/>
              </a:rPr>
              <a:t>or</a:t>
            </a:r>
            <a:r>
              <a:rPr sz="900" spc="-10" dirty="0">
                <a:latin typeface="Arial"/>
                <a:cs typeface="Arial"/>
              </a:rPr>
              <a:t> </a:t>
            </a:r>
            <a:r>
              <a:rPr sz="900" dirty="0">
                <a:latin typeface="Arial"/>
                <a:cs typeface="Arial"/>
              </a:rPr>
              <a:t>distributed</a:t>
            </a:r>
            <a:r>
              <a:rPr sz="900" spc="-10" dirty="0">
                <a:latin typeface="Arial"/>
                <a:cs typeface="Arial"/>
              </a:rPr>
              <a:t> solution?</a:t>
            </a:r>
            <a:endParaRPr sz="900">
              <a:latin typeface="Arial"/>
              <a:cs typeface="Arial"/>
            </a:endParaRPr>
          </a:p>
          <a:p>
            <a:pPr marL="269240" marR="26670" indent="-158750">
              <a:lnSpc>
                <a:spcPct val="111600"/>
              </a:lnSpc>
              <a:spcBef>
                <a:spcPts val="400"/>
              </a:spcBef>
              <a:buClr>
                <a:srgbClr val="3333B2"/>
              </a:buClr>
              <a:buAutoNum type="arabicPeriod"/>
              <a:tabLst>
                <a:tab pos="269875" algn="l"/>
              </a:tabLst>
            </a:pPr>
            <a:r>
              <a:rPr sz="900" dirty="0">
                <a:latin typeface="Arial"/>
                <a:cs typeface="Arial"/>
              </a:rPr>
              <a:t>Is</a:t>
            </a:r>
            <a:r>
              <a:rPr sz="900" spc="-25" dirty="0">
                <a:latin typeface="Arial"/>
                <a:cs typeface="Arial"/>
              </a:rPr>
              <a:t> </a:t>
            </a:r>
            <a:r>
              <a:rPr sz="900" dirty="0">
                <a:latin typeface="Arial"/>
                <a:cs typeface="Arial"/>
              </a:rPr>
              <a:t>a</a:t>
            </a:r>
            <a:r>
              <a:rPr sz="900" spc="-20" dirty="0">
                <a:latin typeface="Arial"/>
                <a:cs typeface="Arial"/>
              </a:rPr>
              <a:t> </a:t>
            </a:r>
            <a:r>
              <a:rPr sz="900" dirty="0">
                <a:latin typeface="Arial"/>
                <a:cs typeface="Arial"/>
              </a:rPr>
              <a:t>fully</a:t>
            </a:r>
            <a:r>
              <a:rPr sz="900" spc="-20" dirty="0">
                <a:latin typeface="Arial"/>
                <a:cs typeface="Arial"/>
              </a:rPr>
              <a:t> </a:t>
            </a:r>
            <a:r>
              <a:rPr sz="900" dirty="0">
                <a:latin typeface="Arial"/>
                <a:cs typeface="Arial"/>
              </a:rPr>
              <a:t>distributed</a:t>
            </a:r>
            <a:r>
              <a:rPr sz="900" spc="-20" dirty="0">
                <a:latin typeface="Arial"/>
                <a:cs typeface="Arial"/>
              </a:rPr>
              <a:t> </a:t>
            </a:r>
            <a:r>
              <a:rPr sz="900" dirty="0">
                <a:latin typeface="Arial"/>
                <a:cs typeface="Arial"/>
              </a:rPr>
              <a:t>solution,</a:t>
            </a:r>
            <a:r>
              <a:rPr sz="900" spc="-20" dirty="0">
                <a:latin typeface="Arial"/>
                <a:cs typeface="Arial"/>
              </a:rPr>
              <a:t> </a:t>
            </a:r>
            <a:r>
              <a:rPr sz="900" dirty="0">
                <a:latin typeface="Arial"/>
                <a:cs typeface="Arial"/>
              </a:rPr>
              <a:t>i.e.</a:t>
            </a:r>
            <a:r>
              <a:rPr sz="900" spc="-20" dirty="0">
                <a:latin typeface="Arial"/>
                <a:cs typeface="Arial"/>
              </a:rPr>
              <a:t> </a:t>
            </a:r>
            <a:r>
              <a:rPr sz="900" dirty="0">
                <a:latin typeface="Arial"/>
                <a:cs typeface="Arial"/>
              </a:rPr>
              <a:t>one</a:t>
            </a:r>
            <a:r>
              <a:rPr sz="900" spc="-25" dirty="0">
                <a:latin typeface="Arial"/>
                <a:cs typeface="Arial"/>
              </a:rPr>
              <a:t> </a:t>
            </a:r>
            <a:r>
              <a:rPr sz="900" dirty="0">
                <a:latin typeface="Arial"/>
                <a:cs typeface="Arial"/>
              </a:rPr>
              <a:t>without</a:t>
            </a:r>
            <a:r>
              <a:rPr sz="900" spc="-20" dirty="0">
                <a:latin typeface="Arial"/>
                <a:cs typeface="Arial"/>
              </a:rPr>
              <a:t> </a:t>
            </a:r>
            <a:r>
              <a:rPr sz="900" dirty="0">
                <a:latin typeface="Arial"/>
                <a:cs typeface="Arial"/>
              </a:rPr>
              <a:t>a</a:t>
            </a:r>
            <a:r>
              <a:rPr sz="900" spc="-20" dirty="0">
                <a:latin typeface="Arial"/>
                <a:cs typeface="Arial"/>
              </a:rPr>
              <a:t> </a:t>
            </a:r>
            <a:r>
              <a:rPr sz="900" spc="-10" dirty="0">
                <a:latin typeface="Arial"/>
                <a:cs typeface="Arial"/>
              </a:rPr>
              <a:t>coordinator,</a:t>
            </a:r>
            <a:r>
              <a:rPr sz="900" spc="-20" dirty="0">
                <a:latin typeface="Arial"/>
                <a:cs typeface="Arial"/>
              </a:rPr>
              <a:t> </a:t>
            </a:r>
            <a:r>
              <a:rPr sz="900" spc="-10" dirty="0">
                <a:latin typeface="Arial"/>
                <a:cs typeface="Arial"/>
              </a:rPr>
              <a:t>always</a:t>
            </a:r>
            <a:r>
              <a:rPr sz="900" spc="-20" dirty="0">
                <a:latin typeface="Arial"/>
                <a:cs typeface="Arial"/>
              </a:rPr>
              <a:t> more </a:t>
            </a:r>
            <a:r>
              <a:rPr sz="900" dirty="0">
                <a:latin typeface="Arial"/>
                <a:cs typeface="Arial"/>
              </a:rPr>
              <a:t>robust than any</a:t>
            </a:r>
            <a:r>
              <a:rPr sz="900" spc="-5" dirty="0">
                <a:latin typeface="Arial"/>
                <a:cs typeface="Arial"/>
              </a:rPr>
              <a:t> </a:t>
            </a:r>
            <a:r>
              <a:rPr sz="900" spc="-10" dirty="0">
                <a:latin typeface="Arial"/>
                <a:cs typeface="Arial"/>
              </a:rPr>
              <a:t>centralized/coordinated</a:t>
            </a:r>
            <a:r>
              <a:rPr sz="900" dirty="0">
                <a:latin typeface="Arial"/>
                <a:cs typeface="Arial"/>
              </a:rPr>
              <a:t> </a:t>
            </a:r>
            <a:r>
              <a:rPr sz="900" spc="-10" dirty="0">
                <a:latin typeface="Arial"/>
                <a:cs typeface="Arial"/>
              </a:rPr>
              <a:t>solution?</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Tree>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8417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Coordination</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993806" y="-1515"/>
            <a:ext cx="561340"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Election</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algorithms</a:t>
            </a:r>
            <a:endParaRPr sz="500">
              <a:latin typeface="Arial"/>
              <a:cs typeface="Arial"/>
            </a:endParaRPr>
          </a:p>
        </p:txBody>
      </p:sp>
      <p:sp>
        <p:nvSpPr>
          <p:cNvPr id="5" name="object 5"/>
          <p:cNvSpPr txBox="1"/>
          <p:nvPr/>
        </p:nvSpPr>
        <p:spPr>
          <a:xfrm>
            <a:off x="82600" y="197711"/>
            <a:ext cx="4216400" cy="1254125"/>
          </a:xfrm>
          <a:prstGeom prst="rect">
            <a:avLst/>
          </a:prstGeom>
        </p:spPr>
        <p:txBody>
          <a:bodyPr vert="horz" wrap="square" lIns="0" tIns="12065" rIns="0" bIns="0" rtlCol="0">
            <a:spAutoFit/>
          </a:bodyPr>
          <a:lstStyle/>
          <a:p>
            <a:pPr marL="25400">
              <a:lnSpc>
                <a:spcPct val="100000"/>
              </a:lnSpc>
              <a:spcBef>
                <a:spcPts val="95"/>
              </a:spcBef>
            </a:pPr>
            <a:r>
              <a:rPr sz="1200" dirty="0">
                <a:solidFill>
                  <a:srgbClr val="3333B2"/>
                </a:solidFill>
                <a:latin typeface="Arial"/>
                <a:cs typeface="Arial"/>
              </a:rPr>
              <a:t>Basic</a:t>
            </a:r>
            <a:r>
              <a:rPr sz="1200" spc="-35" dirty="0">
                <a:solidFill>
                  <a:srgbClr val="3333B2"/>
                </a:solidFill>
                <a:latin typeface="Arial"/>
                <a:cs typeface="Arial"/>
              </a:rPr>
              <a:t> </a:t>
            </a:r>
            <a:r>
              <a:rPr sz="1200" spc="-10" dirty="0">
                <a:solidFill>
                  <a:srgbClr val="3333B2"/>
                </a:solidFill>
                <a:latin typeface="Arial"/>
                <a:cs typeface="Arial"/>
              </a:rPr>
              <a:t>assumptions</a:t>
            </a:r>
            <a:endParaRPr sz="1200">
              <a:latin typeface="Arial"/>
              <a:cs typeface="Arial"/>
            </a:endParaRPr>
          </a:p>
          <a:p>
            <a:pPr>
              <a:lnSpc>
                <a:spcPct val="100000"/>
              </a:lnSpc>
            </a:pPr>
            <a:endParaRPr sz="1500">
              <a:latin typeface="Arial"/>
              <a:cs typeface="Arial"/>
            </a:endParaRPr>
          </a:p>
          <a:p>
            <a:pPr marL="526415" indent="-116839">
              <a:lnSpc>
                <a:spcPct val="100000"/>
              </a:lnSpc>
              <a:spcBef>
                <a:spcPts val="1020"/>
              </a:spcBef>
              <a:buClr>
                <a:srgbClr val="3333B2"/>
              </a:buClr>
              <a:buFont typeface="Menlo"/>
              <a:buChar char="•"/>
              <a:tabLst>
                <a:tab pos="527050" algn="l"/>
              </a:tabLst>
            </a:pPr>
            <a:r>
              <a:rPr sz="900" dirty="0">
                <a:latin typeface="Arial"/>
                <a:cs typeface="Arial"/>
              </a:rPr>
              <a:t>All</a:t>
            </a:r>
            <a:r>
              <a:rPr sz="900" spc="-35" dirty="0">
                <a:latin typeface="Arial"/>
                <a:cs typeface="Arial"/>
              </a:rPr>
              <a:t> </a:t>
            </a:r>
            <a:r>
              <a:rPr sz="900" dirty="0">
                <a:latin typeface="Arial"/>
                <a:cs typeface="Arial"/>
              </a:rPr>
              <a:t>processes</a:t>
            </a:r>
            <a:r>
              <a:rPr sz="900" spc="-30" dirty="0">
                <a:latin typeface="Arial"/>
                <a:cs typeface="Arial"/>
              </a:rPr>
              <a:t> </a:t>
            </a:r>
            <a:r>
              <a:rPr sz="900" spc="-10" dirty="0">
                <a:latin typeface="Arial"/>
                <a:cs typeface="Arial"/>
              </a:rPr>
              <a:t>have</a:t>
            </a:r>
            <a:r>
              <a:rPr sz="900" spc="-30" dirty="0">
                <a:latin typeface="Arial"/>
                <a:cs typeface="Arial"/>
              </a:rPr>
              <a:t> </a:t>
            </a:r>
            <a:r>
              <a:rPr sz="900" dirty="0">
                <a:latin typeface="Arial"/>
                <a:cs typeface="Arial"/>
              </a:rPr>
              <a:t>unique</a:t>
            </a:r>
            <a:r>
              <a:rPr sz="900" spc="-30" dirty="0">
                <a:latin typeface="Arial"/>
                <a:cs typeface="Arial"/>
              </a:rPr>
              <a:t> </a:t>
            </a:r>
            <a:r>
              <a:rPr sz="900" spc="-20" dirty="0">
                <a:latin typeface="Arial"/>
                <a:cs typeface="Arial"/>
              </a:rPr>
              <a:t>id’s</a:t>
            </a:r>
            <a:endParaRPr sz="900">
              <a:latin typeface="Arial"/>
              <a:cs typeface="Arial"/>
            </a:endParaRPr>
          </a:p>
          <a:p>
            <a:pPr marL="530225" marR="43180" indent="-120650">
              <a:lnSpc>
                <a:spcPct val="111600"/>
              </a:lnSpc>
              <a:spcBef>
                <a:spcPts val="395"/>
              </a:spcBef>
              <a:buClr>
                <a:srgbClr val="3333B2"/>
              </a:buClr>
              <a:buFont typeface="Menlo"/>
              <a:buChar char="•"/>
              <a:tabLst>
                <a:tab pos="527050" algn="l"/>
              </a:tabLst>
            </a:pPr>
            <a:r>
              <a:rPr sz="900" dirty="0">
                <a:latin typeface="Arial"/>
                <a:cs typeface="Arial"/>
              </a:rPr>
              <a:t>All</a:t>
            </a:r>
            <a:r>
              <a:rPr sz="900" spc="-30" dirty="0">
                <a:latin typeface="Arial"/>
                <a:cs typeface="Arial"/>
              </a:rPr>
              <a:t> </a:t>
            </a:r>
            <a:r>
              <a:rPr sz="900" dirty="0">
                <a:latin typeface="Arial"/>
                <a:cs typeface="Arial"/>
              </a:rPr>
              <a:t>processes</a:t>
            </a:r>
            <a:r>
              <a:rPr sz="900" spc="-25" dirty="0">
                <a:latin typeface="Arial"/>
                <a:cs typeface="Arial"/>
              </a:rPr>
              <a:t> </a:t>
            </a:r>
            <a:r>
              <a:rPr sz="900" dirty="0">
                <a:latin typeface="Arial"/>
                <a:cs typeface="Arial"/>
              </a:rPr>
              <a:t>know</a:t>
            </a:r>
            <a:r>
              <a:rPr sz="900" spc="-25" dirty="0">
                <a:latin typeface="Arial"/>
                <a:cs typeface="Arial"/>
              </a:rPr>
              <a:t> </a:t>
            </a:r>
            <a:r>
              <a:rPr sz="900" spc="-10" dirty="0">
                <a:latin typeface="Arial"/>
                <a:cs typeface="Arial"/>
              </a:rPr>
              <a:t>id’s</a:t>
            </a:r>
            <a:r>
              <a:rPr sz="900" spc="-30" dirty="0">
                <a:latin typeface="Arial"/>
                <a:cs typeface="Arial"/>
              </a:rPr>
              <a:t> </a:t>
            </a:r>
            <a:r>
              <a:rPr sz="900" dirty="0">
                <a:latin typeface="Arial"/>
                <a:cs typeface="Arial"/>
              </a:rPr>
              <a:t>of</a:t>
            </a:r>
            <a:r>
              <a:rPr sz="900" spc="-25" dirty="0">
                <a:latin typeface="Arial"/>
                <a:cs typeface="Arial"/>
              </a:rPr>
              <a:t> </a:t>
            </a:r>
            <a:r>
              <a:rPr sz="900" dirty="0">
                <a:latin typeface="Arial"/>
                <a:cs typeface="Arial"/>
              </a:rPr>
              <a:t>all</a:t>
            </a:r>
            <a:r>
              <a:rPr sz="900" spc="-25" dirty="0">
                <a:latin typeface="Arial"/>
                <a:cs typeface="Arial"/>
              </a:rPr>
              <a:t> </a:t>
            </a:r>
            <a:r>
              <a:rPr sz="900" dirty="0">
                <a:latin typeface="Arial"/>
                <a:cs typeface="Arial"/>
              </a:rPr>
              <a:t>processes</a:t>
            </a:r>
            <a:r>
              <a:rPr sz="900" spc="-30" dirty="0">
                <a:latin typeface="Arial"/>
                <a:cs typeface="Arial"/>
              </a:rPr>
              <a:t> </a:t>
            </a:r>
            <a:r>
              <a:rPr sz="900" dirty="0">
                <a:latin typeface="Arial"/>
                <a:cs typeface="Arial"/>
              </a:rPr>
              <a:t>in</a:t>
            </a:r>
            <a:r>
              <a:rPr sz="900" spc="-25" dirty="0">
                <a:latin typeface="Arial"/>
                <a:cs typeface="Arial"/>
              </a:rPr>
              <a:t> </a:t>
            </a:r>
            <a:r>
              <a:rPr sz="900" dirty="0">
                <a:latin typeface="Arial"/>
                <a:cs typeface="Arial"/>
              </a:rPr>
              <a:t>the</a:t>
            </a:r>
            <a:r>
              <a:rPr sz="900" spc="-25" dirty="0">
                <a:latin typeface="Arial"/>
                <a:cs typeface="Arial"/>
              </a:rPr>
              <a:t> </a:t>
            </a:r>
            <a:r>
              <a:rPr sz="900" dirty="0">
                <a:latin typeface="Arial"/>
                <a:cs typeface="Arial"/>
              </a:rPr>
              <a:t>system</a:t>
            </a:r>
            <a:r>
              <a:rPr sz="900" spc="-25" dirty="0">
                <a:latin typeface="Arial"/>
                <a:cs typeface="Arial"/>
              </a:rPr>
              <a:t> </a:t>
            </a:r>
            <a:r>
              <a:rPr sz="900" dirty="0">
                <a:latin typeface="Arial"/>
                <a:cs typeface="Arial"/>
              </a:rPr>
              <a:t>(but</a:t>
            </a:r>
            <a:r>
              <a:rPr sz="900" spc="-30" dirty="0">
                <a:latin typeface="Arial"/>
                <a:cs typeface="Arial"/>
              </a:rPr>
              <a:t> </a:t>
            </a:r>
            <a:r>
              <a:rPr sz="900" dirty="0">
                <a:latin typeface="Arial"/>
                <a:cs typeface="Arial"/>
              </a:rPr>
              <a:t>not</a:t>
            </a:r>
            <a:r>
              <a:rPr sz="900" spc="-25" dirty="0">
                <a:latin typeface="Arial"/>
                <a:cs typeface="Arial"/>
              </a:rPr>
              <a:t> </a:t>
            </a:r>
            <a:r>
              <a:rPr sz="900" dirty="0">
                <a:latin typeface="Arial"/>
                <a:cs typeface="Arial"/>
              </a:rPr>
              <a:t>if</a:t>
            </a:r>
            <a:r>
              <a:rPr sz="900" spc="-25" dirty="0">
                <a:latin typeface="Arial"/>
                <a:cs typeface="Arial"/>
              </a:rPr>
              <a:t> </a:t>
            </a:r>
            <a:r>
              <a:rPr sz="900" dirty="0">
                <a:latin typeface="Arial"/>
                <a:cs typeface="Arial"/>
              </a:rPr>
              <a:t>they</a:t>
            </a:r>
            <a:r>
              <a:rPr sz="900" spc="-30" dirty="0">
                <a:latin typeface="Arial"/>
                <a:cs typeface="Arial"/>
              </a:rPr>
              <a:t> </a:t>
            </a:r>
            <a:r>
              <a:rPr sz="900" spc="-25" dirty="0">
                <a:latin typeface="Arial"/>
                <a:cs typeface="Arial"/>
              </a:rPr>
              <a:t>are </a:t>
            </a:r>
            <a:r>
              <a:rPr sz="900" dirty="0">
                <a:latin typeface="Arial"/>
                <a:cs typeface="Arial"/>
              </a:rPr>
              <a:t>up</a:t>
            </a:r>
            <a:r>
              <a:rPr sz="900" spc="-15" dirty="0">
                <a:latin typeface="Arial"/>
                <a:cs typeface="Arial"/>
              </a:rPr>
              <a:t> </a:t>
            </a:r>
            <a:r>
              <a:rPr sz="900" dirty="0">
                <a:latin typeface="Arial"/>
                <a:cs typeface="Arial"/>
              </a:rPr>
              <a:t>or</a:t>
            </a:r>
            <a:r>
              <a:rPr sz="900" spc="-15" dirty="0">
                <a:latin typeface="Arial"/>
                <a:cs typeface="Arial"/>
              </a:rPr>
              <a:t> </a:t>
            </a:r>
            <a:r>
              <a:rPr sz="900" spc="-10" dirty="0">
                <a:latin typeface="Arial"/>
                <a:cs typeface="Arial"/>
              </a:rPr>
              <a:t>down)</a:t>
            </a:r>
            <a:endParaRPr sz="900">
              <a:latin typeface="Arial"/>
              <a:cs typeface="Arial"/>
            </a:endParaRPr>
          </a:p>
          <a:p>
            <a:pPr marL="530225" indent="-120650">
              <a:lnSpc>
                <a:spcPct val="100000"/>
              </a:lnSpc>
              <a:spcBef>
                <a:spcPts val="525"/>
              </a:spcBef>
              <a:buClr>
                <a:srgbClr val="3333B2"/>
              </a:buClr>
              <a:buFont typeface="Menlo"/>
              <a:buChar char="•"/>
              <a:tabLst>
                <a:tab pos="530860" algn="l"/>
              </a:tabLst>
            </a:pPr>
            <a:r>
              <a:rPr sz="900" dirty="0">
                <a:latin typeface="Arial"/>
                <a:cs typeface="Arial"/>
              </a:rPr>
              <a:t>Election</a:t>
            </a:r>
            <a:r>
              <a:rPr sz="900" spc="-30" dirty="0">
                <a:latin typeface="Arial"/>
                <a:cs typeface="Arial"/>
              </a:rPr>
              <a:t> </a:t>
            </a:r>
            <a:r>
              <a:rPr sz="900" dirty="0">
                <a:latin typeface="Arial"/>
                <a:cs typeface="Arial"/>
              </a:rPr>
              <a:t>means</a:t>
            </a:r>
            <a:r>
              <a:rPr sz="900" spc="-25" dirty="0">
                <a:latin typeface="Arial"/>
                <a:cs typeface="Arial"/>
              </a:rPr>
              <a:t> </a:t>
            </a:r>
            <a:r>
              <a:rPr sz="900" dirty="0">
                <a:latin typeface="Arial"/>
                <a:cs typeface="Arial"/>
              </a:rPr>
              <a:t>identifying</a:t>
            </a:r>
            <a:r>
              <a:rPr sz="900" spc="-25" dirty="0">
                <a:latin typeface="Arial"/>
                <a:cs typeface="Arial"/>
              </a:rPr>
              <a:t> </a:t>
            </a:r>
            <a:r>
              <a:rPr sz="900" dirty="0">
                <a:latin typeface="Arial"/>
                <a:cs typeface="Arial"/>
              </a:rPr>
              <a:t>the</a:t>
            </a:r>
            <a:r>
              <a:rPr sz="900" spc="-25" dirty="0">
                <a:latin typeface="Arial"/>
                <a:cs typeface="Arial"/>
              </a:rPr>
              <a:t> </a:t>
            </a:r>
            <a:r>
              <a:rPr sz="900" dirty="0">
                <a:latin typeface="Arial"/>
                <a:cs typeface="Arial"/>
              </a:rPr>
              <a:t>process</a:t>
            </a:r>
            <a:r>
              <a:rPr sz="900" spc="-25" dirty="0">
                <a:latin typeface="Arial"/>
                <a:cs typeface="Arial"/>
              </a:rPr>
              <a:t> </a:t>
            </a:r>
            <a:r>
              <a:rPr sz="900" dirty="0">
                <a:latin typeface="Arial"/>
                <a:cs typeface="Arial"/>
              </a:rPr>
              <a:t>with</a:t>
            </a:r>
            <a:r>
              <a:rPr sz="900" spc="-30" dirty="0">
                <a:latin typeface="Arial"/>
                <a:cs typeface="Arial"/>
              </a:rPr>
              <a:t> </a:t>
            </a:r>
            <a:r>
              <a:rPr sz="900" dirty="0">
                <a:latin typeface="Arial"/>
                <a:cs typeface="Arial"/>
              </a:rPr>
              <a:t>the</a:t>
            </a:r>
            <a:r>
              <a:rPr sz="900" spc="-25" dirty="0">
                <a:latin typeface="Arial"/>
                <a:cs typeface="Arial"/>
              </a:rPr>
              <a:t> </a:t>
            </a:r>
            <a:r>
              <a:rPr sz="900" dirty="0">
                <a:latin typeface="Arial"/>
                <a:cs typeface="Arial"/>
              </a:rPr>
              <a:t>highest</a:t>
            </a:r>
            <a:r>
              <a:rPr sz="900" spc="-25" dirty="0">
                <a:latin typeface="Arial"/>
                <a:cs typeface="Arial"/>
              </a:rPr>
              <a:t> </a:t>
            </a:r>
            <a:r>
              <a:rPr sz="900" dirty="0">
                <a:latin typeface="Arial"/>
                <a:cs typeface="Arial"/>
              </a:rPr>
              <a:t>id</a:t>
            </a:r>
            <a:r>
              <a:rPr sz="900" spc="-25" dirty="0">
                <a:latin typeface="Arial"/>
                <a:cs typeface="Arial"/>
              </a:rPr>
              <a:t> </a:t>
            </a:r>
            <a:r>
              <a:rPr sz="900" dirty="0">
                <a:latin typeface="Arial"/>
                <a:cs typeface="Arial"/>
              </a:rPr>
              <a:t>that</a:t>
            </a:r>
            <a:r>
              <a:rPr sz="900" spc="-25" dirty="0">
                <a:latin typeface="Arial"/>
                <a:cs typeface="Arial"/>
              </a:rPr>
              <a:t> </a:t>
            </a:r>
            <a:r>
              <a:rPr sz="900" dirty="0">
                <a:latin typeface="Arial"/>
                <a:cs typeface="Arial"/>
              </a:rPr>
              <a:t>is</a:t>
            </a:r>
            <a:r>
              <a:rPr sz="900" spc="-25" dirty="0">
                <a:latin typeface="Arial"/>
                <a:cs typeface="Arial"/>
              </a:rPr>
              <a:t> up</a:t>
            </a:r>
            <a:endParaRPr sz="900">
              <a:latin typeface="Arial"/>
              <a:cs typeface="Arial"/>
            </a:endParaRPr>
          </a:p>
        </p:txBody>
      </p:sp>
      <p:grpSp>
        <p:nvGrpSpPr>
          <p:cNvPr id="6" name="object 6"/>
          <p:cNvGrpSpPr/>
          <p:nvPr/>
        </p:nvGrpSpPr>
        <p:grpSpPr>
          <a:xfrm>
            <a:off x="0" y="3348469"/>
            <a:ext cx="4608195" cy="107950"/>
            <a:chOff x="0" y="3348469"/>
            <a:chExt cx="4608195" cy="107950"/>
          </a:xfrm>
        </p:grpSpPr>
        <p:sp>
          <p:nvSpPr>
            <p:cNvPr id="7" name="object 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Tree>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952875" algn="l"/>
              </a:tabLst>
            </a:pPr>
            <a:r>
              <a:rPr sz="500" spc="-10" dirty="0">
                <a:latin typeface="Arial"/>
                <a:cs typeface="Arial"/>
                <a:hlinkClick r:id="rId2" action="ppaction://hlinksldjump"/>
              </a:rPr>
              <a:t>Coordination</a:t>
            </a:r>
            <a:r>
              <a:rPr sz="500" dirty="0">
                <a:latin typeface="Arial"/>
                <a:cs typeface="Arial"/>
              </a:rPr>
              <a:t>	</a:t>
            </a:r>
            <a:r>
              <a:rPr sz="500" dirty="0">
                <a:solidFill>
                  <a:srgbClr val="FFFFFF"/>
                </a:solidFill>
                <a:latin typeface="Arial"/>
                <a:cs typeface="Arial"/>
                <a:hlinkClick r:id="rId3" action="ppaction://hlinksldjump"/>
              </a:rPr>
              <a:t>Election</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algorithms</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Election</a:t>
            </a:r>
            <a:r>
              <a:rPr spc="-50" dirty="0"/>
              <a:t> </a:t>
            </a:r>
            <a:r>
              <a:rPr dirty="0"/>
              <a:t>by</a:t>
            </a:r>
            <a:r>
              <a:rPr spc="-45" dirty="0"/>
              <a:t> </a:t>
            </a:r>
            <a:r>
              <a:rPr spc="-10" dirty="0"/>
              <a:t>bullying</a:t>
            </a:r>
          </a:p>
        </p:txBody>
      </p:sp>
      <p:sp>
        <p:nvSpPr>
          <p:cNvPr id="4" name="object 4"/>
          <p:cNvSpPr txBox="1"/>
          <p:nvPr/>
        </p:nvSpPr>
        <p:spPr>
          <a:xfrm>
            <a:off x="334594" y="472482"/>
            <a:ext cx="3954779" cy="1464945"/>
          </a:xfrm>
          <a:prstGeom prst="rect">
            <a:avLst/>
          </a:prstGeom>
        </p:spPr>
        <p:txBody>
          <a:bodyPr vert="horz" wrap="square" lIns="0" tIns="54610" rIns="0" bIns="0" rtlCol="0">
            <a:spAutoFit/>
          </a:bodyPr>
          <a:lstStyle/>
          <a:p>
            <a:pPr marL="25400">
              <a:lnSpc>
                <a:spcPct val="100000"/>
              </a:lnSpc>
              <a:spcBef>
                <a:spcPts val="430"/>
              </a:spcBef>
            </a:pPr>
            <a:r>
              <a:rPr sz="1000" spc="-10" dirty="0">
                <a:solidFill>
                  <a:srgbClr val="3333B2"/>
                </a:solidFill>
                <a:latin typeface="Arial"/>
                <a:cs typeface="Arial"/>
              </a:rPr>
              <a:t>Principle</a:t>
            </a:r>
            <a:endParaRPr sz="1000">
              <a:latin typeface="Arial"/>
              <a:cs typeface="Arial"/>
            </a:endParaRPr>
          </a:p>
          <a:p>
            <a:pPr marL="25400" marR="43180" algn="just">
              <a:lnSpc>
                <a:spcPct val="111600"/>
              </a:lnSpc>
              <a:spcBef>
                <a:spcPts val="170"/>
              </a:spcBef>
            </a:pPr>
            <a:r>
              <a:rPr sz="900" spc="-10" dirty="0">
                <a:latin typeface="Arial"/>
                <a:cs typeface="Arial"/>
              </a:rPr>
              <a:t>Consider</a:t>
            </a:r>
            <a:r>
              <a:rPr sz="900" spc="-5" dirty="0">
                <a:latin typeface="Arial"/>
                <a:cs typeface="Arial"/>
              </a:rPr>
              <a:t> </a:t>
            </a:r>
            <a:r>
              <a:rPr sz="900" i="1" spc="-15" dirty="0">
                <a:latin typeface="Arial"/>
                <a:cs typeface="Arial"/>
              </a:rPr>
              <a:t>N</a:t>
            </a:r>
            <a:r>
              <a:rPr sz="900" i="1" spc="65" dirty="0">
                <a:latin typeface="Arial"/>
                <a:cs typeface="Arial"/>
              </a:rPr>
              <a:t> </a:t>
            </a:r>
            <a:r>
              <a:rPr sz="900" spc="-10" dirty="0">
                <a:latin typeface="Arial"/>
                <a:cs typeface="Arial"/>
              </a:rPr>
              <a:t>processes</a:t>
            </a:r>
            <a:r>
              <a:rPr sz="900" spc="-5" dirty="0">
                <a:latin typeface="Arial"/>
                <a:cs typeface="Arial"/>
              </a:rPr>
              <a:t> </a:t>
            </a:r>
            <a:r>
              <a:rPr sz="900" i="1" spc="-40" dirty="0">
                <a:latin typeface="Menlo"/>
                <a:cs typeface="Menlo"/>
              </a:rPr>
              <a:t>{</a:t>
            </a:r>
            <a:r>
              <a:rPr sz="900" i="1" spc="-40" dirty="0">
                <a:latin typeface="Arial"/>
                <a:cs typeface="Arial"/>
              </a:rPr>
              <a:t>P</a:t>
            </a:r>
            <a:r>
              <a:rPr sz="1050" i="1" spc="-60" baseline="-15873" dirty="0">
                <a:latin typeface="Arial"/>
                <a:cs typeface="Arial"/>
              </a:rPr>
              <a:t>0</a:t>
            </a:r>
            <a:r>
              <a:rPr sz="1050" i="1" spc="-165" baseline="-15873" dirty="0">
                <a:latin typeface="Arial"/>
                <a:cs typeface="Arial"/>
              </a:rPr>
              <a:t> </a:t>
            </a:r>
            <a:r>
              <a:rPr sz="900" i="1" spc="30" dirty="0">
                <a:latin typeface="STIX Two Text"/>
                <a:cs typeface="STIX Two Text"/>
              </a:rPr>
              <a:t>,</a:t>
            </a:r>
            <a:r>
              <a:rPr sz="900" i="1" spc="-105" dirty="0">
                <a:latin typeface="STIX Two Text"/>
                <a:cs typeface="STIX Two Text"/>
              </a:rPr>
              <a:t> </a:t>
            </a:r>
            <a:r>
              <a:rPr sz="900" i="1" spc="30" dirty="0">
                <a:latin typeface="STIX Two Text"/>
                <a:cs typeface="STIX Two Text"/>
              </a:rPr>
              <a:t>.</a:t>
            </a:r>
            <a:r>
              <a:rPr sz="900" i="1" spc="-105" dirty="0">
                <a:latin typeface="STIX Two Text"/>
                <a:cs typeface="STIX Two Text"/>
              </a:rPr>
              <a:t> </a:t>
            </a:r>
            <a:r>
              <a:rPr sz="900" i="1" spc="30" dirty="0">
                <a:latin typeface="STIX Two Text"/>
                <a:cs typeface="STIX Two Text"/>
              </a:rPr>
              <a:t>.</a:t>
            </a:r>
            <a:r>
              <a:rPr sz="900" i="1" spc="-105" dirty="0">
                <a:latin typeface="STIX Two Text"/>
                <a:cs typeface="STIX Two Text"/>
              </a:rPr>
              <a:t> </a:t>
            </a:r>
            <a:r>
              <a:rPr sz="900" i="1" spc="30" dirty="0">
                <a:latin typeface="STIX Two Text"/>
                <a:cs typeface="STIX Two Text"/>
              </a:rPr>
              <a:t>.</a:t>
            </a:r>
            <a:r>
              <a:rPr sz="900" i="1" spc="-105" dirty="0">
                <a:latin typeface="STIX Two Text"/>
                <a:cs typeface="STIX Two Text"/>
              </a:rPr>
              <a:t> </a:t>
            </a:r>
            <a:r>
              <a:rPr sz="900" i="1" spc="30" dirty="0">
                <a:latin typeface="STIX Two Text"/>
                <a:cs typeface="STIX Two Text"/>
              </a:rPr>
              <a:t>,</a:t>
            </a:r>
            <a:r>
              <a:rPr sz="900" i="1" spc="-105" dirty="0">
                <a:latin typeface="STIX Two Text"/>
                <a:cs typeface="STIX Two Text"/>
              </a:rPr>
              <a:t> </a:t>
            </a:r>
            <a:r>
              <a:rPr sz="900" i="1" spc="15" dirty="0">
                <a:latin typeface="Arial"/>
                <a:cs typeface="Arial"/>
              </a:rPr>
              <a:t>P</a:t>
            </a:r>
            <a:r>
              <a:rPr sz="1050" i="1" spc="22" baseline="-15873" dirty="0">
                <a:latin typeface="Arial"/>
                <a:cs typeface="Arial"/>
              </a:rPr>
              <a:t>N</a:t>
            </a:r>
            <a:r>
              <a:rPr sz="1050" i="1" spc="22" baseline="-15873" dirty="0">
                <a:latin typeface="Menlo"/>
                <a:cs typeface="Menlo"/>
              </a:rPr>
              <a:t>−</a:t>
            </a:r>
            <a:r>
              <a:rPr sz="1050" i="1" spc="22" baseline="-15873" dirty="0">
                <a:latin typeface="Arial"/>
                <a:cs typeface="Arial"/>
              </a:rPr>
              <a:t>1</a:t>
            </a:r>
            <a:r>
              <a:rPr sz="900" i="1" spc="15" dirty="0">
                <a:latin typeface="Menlo"/>
                <a:cs typeface="Menlo"/>
              </a:rPr>
              <a:t>}</a:t>
            </a:r>
            <a:r>
              <a:rPr sz="900" i="1" spc="-295" dirty="0">
                <a:latin typeface="Menlo"/>
                <a:cs typeface="Menlo"/>
              </a:rPr>
              <a:t> </a:t>
            </a:r>
            <a:r>
              <a:rPr sz="900" spc="-10" dirty="0">
                <a:latin typeface="Arial"/>
                <a:cs typeface="Arial"/>
              </a:rPr>
              <a:t>and</a:t>
            </a:r>
            <a:r>
              <a:rPr sz="900" spc="-5" dirty="0">
                <a:latin typeface="Arial"/>
                <a:cs typeface="Arial"/>
              </a:rPr>
              <a:t> </a:t>
            </a:r>
            <a:r>
              <a:rPr sz="900" spc="-10" dirty="0">
                <a:latin typeface="Arial"/>
                <a:cs typeface="Arial"/>
              </a:rPr>
              <a:t>let</a:t>
            </a:r>
            <a:r>
              <a:rPr sz="900" spc="-5" dirty="0">
                <a:latin typeface="Arial"/>
                <a:cs typeface="Arial"/>
              </a:rPr>
              <a:t> </a:t>
            </a:r>
            <a:r>
              <a:rPr sz="900" i="1" spc="-10" dirty="0">
                <a:latin typeface="Arial"/>
                <a:cs typeface="Arial"/>
              </a:rPr>
              <a:t>id</a:t>
            </a:r>
            <a:r>
              <a:rPr sz="900" i="1" spc="-165" dirty="0">
                <a:latin typeface="Arial"/>
                <a:cs typeface="Arial"/>
              </a:rPr>
              <a:t> </a:t>
            </a:r>
            <a:r>
              <a:rPr sz="900" spc="10" dirty="0">
                <a:latin typeface="Arial"/>
                <a:cs typeface="Arial"/>
              </a:rPr>
              <a:t>(</a:t>
            </a:r>
            <a:r>
              <a:rPr sz="900" i="1" spc="10" dirty="0">
                <a:latin typeface="Arial"/>
                <a:cs typeface="Arial"/>
              </a:rPr>
              <a:t>P</a:t>
            </a:r>
            <a:r>
              <a:rPr sz="1050" i="1" spc="15" baseline="-15873" dirty="0">
                <a:latin typeface="Arial"/>
                <a:cs typeface="Arial"/>
              </a:rPr>
              <a:t>k</a:t>
            </a:r>
            <a:r>
              <a:rPr sz="1050" i="1" spc="-112" baseline="-15873" dirty="0">
                <a:latin typeface="Arial"/>
                <a:cs typeface="Arial"/>
              </a:rPr>
              <a:t> </a:t>
            </a:r>
            <a:r>
              <a:rPr sz="900" spc="55" dirty="0">
                <a:latin typeface="Arial"/>
                <a:cs typeface="Arial"/>
              </a:rPr>
              <a:t>)</a:t>
            </a:r>
            <a:r>
              <a:rPr sz="900" spc="-55" dirty="0">
                <a:latin typeface="Arial"/>
                <a:cs typeface="Arial"/>
              </a:rPr>
              <a:t> </a:t>
            </a:r>
            <a:r>
              <a:rPr sz="900" spc="185" dirty="0">
                <a:latin typeface="Arial"/>
                <a:cs typeface="Arial"/>
              </a:rPr>
              <a:t>=</a:t>
            </a:r>
            <a:r>
              <a:rPr sz="900" spc="-55" dirty="0">
                <a:latin typeface="Arial"/>
                <a:cs typeface="Arial"/>
              </a:rPr>
              <a:t> </a:t>
            </a:r>
            <a:r>
              <a:rPr sz="900" i="1" spc="-10" dirty="0">
                <a:latin typeface="Arial"/>
                <a:cs typeface="Arial"/>
              </a:rPr>
              <a:t>k</a:t>
            </a:r>
            <a:r>
              <a:rPr sz="900" i="1" spc="-165" dirty="0">
                <a:latin typeface="Arial"/>
                <a:cs typeface="Arial"/>
              </a:rPr>
              <a:t> </a:t>
            </a:r>
            <a:r>
              <a:rPr sz="900" spc="-5" dirty="0">
                <a:latin typeface="Arial"/>
                <a:cs typeface="Arial"/>
              </a:rPr>
              <a:t>.</a:t>
            </a:r>
            <a:r>
              <a:rPr sz="900" spc="55" dirty="0">
                <a:latin typeface="Arial"/>
                <a:cs typeface="Arial"/>
              </a:rPr>
              <a:t> </a:t>
            </a:r>
            <a:r>
              <a:rPr sz="900" spc="-15" dirty="0">
                <a:latin typeface="Arial"/>
                <a:cs typeface="Arial"/>
              </a:rPr>
              <a:t>When</a:t>
            </a:r>
            <a:r>
              <a:rPr sz="900" spc="-5" dirty="0">
                <a:latin typeface="Arial"/>
                <a:cs typeface="Arial"/>
              </a:rPr>
              <a:t> </a:t>
            </a:r>
            <a:r>
              <a:rPr sz="900" spc="-10" dirty="0">
                <a:latin typeface="Arial"/>
                <a:cs typeface="Arial"/>
              </a:rPr>
              <a:t>a</a:t>
            </a:r>
            <a:r>
              <a:rPr sz="900" spc="-5" dirty="0">
                <a:latin typeface="Arial"/>
                <a:cs typeface="Arial"/>
              </a:rPr>
              <a:t> </a:t>
            </a:r>
            <a:r>
              <a:rPr sz="900" spc="-10" dirty="0">
                <a:latin typeface="Arial"/>
                <a:cs typeface="Arial"/>
              </a:rPr>
              <a:t>process</a:t>
            </a:r>
            <a:r>
              <a:rPr sz="900" spc="-5" dirty="0">
                <a:latin typeface="Arial"/>
                <a:cs typeface="Arial"/>
              </a:rPr>
              <a:t> </a:t>
            </a:r>
            <a:r>
              <a:rPr sz="900" i="1" spc="-5" dirty="0">
                <a:latin typeface="Arial"/>
                <a:cs typeface="Arial"/>
              </a:rPr>
              <a:t>P</a:t>
            </a:r>
            <a:r>
              <a:rPr sz="1050" i="1" spc="-7" baseline="-15873" dirty="0">
                <a:latin typeface="Arial"/>
                <a:cs typeface="Arial"/>
              </a:rPr>
              <a:t>k </a:t>
            </a:r>
            <a:r>
              <a:rPr sz="900" spc="-5" dirty="0">
                <a:latin typeface="Arial"/>
                <a:cs typeface="Arial"/>
              </a:rPr>
              <a:t>notices that the coordinator is no longer responding to </a:t>
            </a:r>
            <a:r>
              <a:rPr sz="900" spc="-10" dirty="0">
                <a:latin typeface="Arial"/>
                <a:cs typeface="Arial"/>
              </a:rPr>
              <a:t>requests,</a:t>
            </a:r>
            <a:r>
              <a:rPr sz="900" spc="-5" dirty="0">
                <a:latin typeface="Arial"/>
                <a:cs typeface="Arial"/>
              </a:rPr>
              <a:t> it initiates an election:</a:t>
            </a:r>
            <a:endParaRPr sz="900">
              <a:latin typeface="Arial"/>
              <a:cs typeface="Arial"/>
            </a:endParaRPr>
          </a:p>
          <a:p>
            <a:pPr marL="278130" indent="-158750" algn="just">
              <a:lnSpc>
                <a:spcPct val="100000"/>
              </a:lnSpc>
              <a:spcBef>
                <a:spcPts val="520"/>
              </a:spcBef>
              <a:buClr>
                <a:srgbClr val="3333B2"/>
              </a:buClr>
              <a:buFont typeface="Arial"/>
              <a:buAutoNum type="arabicPeriod"/>
              <a:tabLst>
                <a:tab pos="278765" algn="l"/>
              </a:tabLst>
            </a:pPr>
            <a:r>
              <a:rPr sz="900" i="1" dirty="0">
                <a:latin typeface="Arial"/>
                <a:cs typeface="Arial"/>
              </a:rPr>
              <a:t>P</a:t>
            </a:r>
            <a:r>
              <a:rPr sz="1050" i="1" baseline="-15873" dirty="0">
                <a:latin typeface="Arial"/>
                <a:cs typeface="Arial"/>
              </a:rPr>
              <a:t>k</a:t>
            </a:r>
            <a:r>
              <a:rPr sz="1050" i="1" spc="195" baseline="-15873" dirty="0">
                <a:latin typeface="Arial"/>
                <a:cs typeface="Arial"/>
              </a:rPr>
              <a:t> </a:t>
            </a:r>
            <a:r>
              <a:rPr sz="900" dirty="0">
                <a:latin typeface="Arial"/>
                <a:cs typeface="Arial"/>
              </a:rPr>
              <a:t>sends</a:t>
            </a:r>
            <a:r>
              <a:rPr sz="900" spc="-25" dirty="0">
                <a:latin typeface="Arial"/>
                <a:cs typeface="Arial"/>
              </a:rPr>
              <a:t> </a:t>
            </a:r>
            <a:r>
              <a:rPr sz="900" dirty="0">
                <a:latin typeface="Arial"/>
                <a:cs typeface="Arial"/>
              </a:rPr>
              <a:t>an</a:t>
            </a:r>
            <a:r>
              <a:rPr sz="900" spc="-30" dirty="0">
                <a:latin typeface="Arial"/>
                <a:cs typeface="Arial"/>
              </a:rPr>
              <a:t> </a:t>
            </a:r>
            <a:r>
              <a:rPr sz="900" i="1" dirty="0">
                <a:latin typeface="Arial"/>
                <a:cs typeface="Arial"/>
              </a:rPr>
              <a:t>ELECTION</a:t>
            </a:r>
            <a:r>
              <a:rPr sz="900" i="1" spc="35" dirty="0">
                <a:latin typeface="Arial"/>
                <a:cs typeface="Arial"/>
              </a:rPr>
              <a:t> </a:t>
            </a:r>
            <a:r>
              <a:rPr sz="900" spc="-10" dirty="0">
                <a:latin typeface="Arial"/>
                <a:cs typeface="Arial"/>
              </a:rPr>
              <a:t>message</a:t>
            </a:r>
            <a:r>
              <a:rPr sz="900" spc="-25"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all</a:t>
            </a:r>
            <a:r>
              <a:rPr sz="900" spc="-30" dirty="0">
                <a:latin typeface="Arial"/>
                <a:cs typeface="Arial"/>
              </a:rPr>
              <a:t> </a:t>
            </a:r>
            <a:r>
              <a:rPr sz="900" spc="-10" dirty="0">
                <a:latin typeface="Arial"/>
                <a:cs typeface="Arial"/>
              </a:rPr>
              <a:t>processes</a:t>
            </a:r>
            <a:r>
              <a:rPr sz="900" spc="-25" dirty="0">
                <a:latin typeface="Arial"/>
                <a:cs typeface="Arial"/>
              </a:rPr>
              <a:t> </a:t>
            </a:r>
            <a:r>
              <a:rPr sz="900" dirty="0">
                <a:latin typeface="Arial"/>
                <a:cs typeface="Arial"/>
              </a:rPr>
              <a:t>with</a:t>
            </a:r>
            <a:r>
              <a:rPr sz="900" spc="-30" dirty="0">
                <a:latin typeface="Arial"/>
                <a:cs typeface="Arial"/>
              </a:rPr>
              <a:t> </a:t>
            </a:r>
            <a:r>
              <a:rPr sz="900" dirty="0">
                <a:latin typeface="Arial"/>
                <a:cs typeface="Arial"/>
              </a:rPr>
              <a:t>higher</a:t>
            </a:r>
            <a:r>
              <a:rPr sz="900" spc="-25" dirty="0">
                <a:latin typeface="Arial"/>
                <a:cs typeface="Arial"/>
              </a:rPr>
              <a:t> </a:t>
            </a:r>
            <a:r>
              <a:rPr sz="900" spc="-10" dirty="0">
                <a:latin typeface="Arial"/>
                <a:cs typeface="Arial"/>
              </a:rPr>
              <a:t>identifiers:</a:t>
            </a:r>
            <a:endParaRPr sz="900">
              <a:latin typeface="Arial"/>
              <a:cs typeface="Arial"/>
            </a:endParaRPr>
          </a:p>
          <a:p>
            <a:pPr marL="278130">
              <a:lnSpc>
                <a:spcPct val="100000"/>
              </a:lnSpc>
              <a:spcBef>
                <a:spcPts val="125"/>
              </a:spcBef>
            </a:pPr>
            <a:r>
              <a:rPr sz="900" i="1" spc="-10" dirty="0">
                <a:latin typeface="Arial"/>
                <a:cs typeface="Arial"/>
              </a:rPr>
              <a:t>P</a:t>
            </a:r>
            <a:r>
              <a:rPr sz="1050" i="1" spc="-15" baseline="-15873" dirty="0">
                <a:latin typeface="Arial"/>
                <a:cs typeface="Arial"/>
              </a:rPr>
              <a:t>k</a:t>
            </a:r>
            <a:r>
              <a:rPr sz="1050" i="1" spc="-165" baseline="-15873" dirty="0">
                <a:latin typeface="Arial"/>
                <a:cs typeface="Arial"/>
              </a:rPr>
              <a:t> </a:t>
            </a:r>
            <a:r>
              <a:rPr sz="1050" spc="112" baseline="-15873" dirty="0">
                <a:latin typeface="Arial"/>
                <a:cs typeface="Arial"/>
              </a:rPr>
              <a:t>+</a:t>
            </a:r>
            <a:r>
              <a:rPr sz="1050" i="1" spc="112" baseline="-15873" dirty="0">
                <a:latin typeface="Arial"/>
                <a:cs typeface="Arial"/>
              </a:rPr>
              <a:t>1</a:t>
            </a:r>
            <a:r>
              <a:rPr sz="900" i="1" spc="75" dirty="0">
                <a:latin typeface="STIX Two Text"/>
                <a:cs typeface="STIX Two Text"/>
              </a:rPr>
              <a:t>,</a:t>
            </a:r>
            <a:r>
              <a:rPr sz="900" i="1" spc="-85" dirty="0">
                <a:latin typeface="STIX Two Text"/>
                <a:cs typeface="STIX Two Text"/>
              </a:rPr>
              <a:t> </a:t>
            </a:r>
            <a:r>
              <a:rPr sz="900" i="1" spc="-10" dirty="0">
                <a:latin typeface="Arial"/>
                <a:cs typeface="Arial"/>
              </a:rPr>
              <a:t>P</a:t>
            </a:r>
            <a:r>
              <a:rPr sz="1050" i="1" spc="-15" baseline="-15873" dirty="0">
                <a:latin typeface="Arial"/>
                <a:cs typeface="Arial"/>
              </a:rPr>
              <a:t>k</a:t>
            </a:r>
            <a:r>
              <a:rPr sz="1050" i="1" spc="-165" baseline="-15873" dirty="0">
                <a:latin typeface="Arial"/>
                <a:cs typeface="Arial"/>
              </a:rPr>
              <a:t> </a:t>
            </a:r>
            <a:r>
              <a:rPr sz="1050" spc="112" baseline="-15873" dirty="0">
                <a:latin typeface="Arial"/>
                <a:cs typeface="Arial"/>
              </a:rPr>
              <a:t>+</a:t>
            </a:r>
            <a:r>
              <a:rPr sz="1050" i="1" spc="112" baseline="-15873" dirty="0">
                <a:latin typeface="Arial"/>
                <a:cs typeface="Arial"/>
              </a:rPr>
              <a:t>2</a:t>
            </a:r>
            <a:r>
              <a:rPr sz="1050" i="1" spc="-120" baseline="-15873" dirty="0">
                <a:latin typeface="Arial"/>
                <a:cs typeface="Arial"/>
              </a:rPr>
              <a:t> </a:t>
            </a:r>
            <a:r>
              <a:rPr sz="900" i="1" dirty="0">
                <a:latin typeface="STIX Two Text"/>
                <a:cs typeface="STIX Two Text"/>
              </a:rPr>
              <a:t>,</a:t>
            </a:r>
            <a:r>
              <a:rPr sz="900" i="1" spc="-85" dirty="0">
                <a:latin typeface="STIX Two Text"/>
                <a:cs typeface="STIX Two Text"/>
              </a:rPr>
              <a:t> </a:t>
            </a:r>
            <a:r>
              <a:rPr sz="900" i="1" dirty="0">
                <a:latin typeface="STIX Two Text"/>
                <a:cs typeface="STIX Two Text"/>
              </a:rPr>
              <a:t>.</a:t>
            </a:r>
            <a:r>
              <a:rPr sz="900" i="1" spc="-80" dirty="0">
                <a:latin typeface="STIX Two Text"/>
                <a:cs typeface="STIX Two Text"/>
              </a:rPr>
              <a:t> </a:t>
            </a:r>
            <a:r>
              <a:rPr sz="900" i="1" dirty="0">
                <a:latin typeface="STIX Two Text"/>
                <a:cs typeface="STIX Two Text"/>
              </a:rPr>
              <a:t>.</a:t>
            </a:r>
            <a:r>
              <a:rPr sz="900" i="1" spc="-85" dirty="0">
                <a:latin typeface="STIX Two Text"/>
                <a:cs typeface="STIX Two Text"/>
              </a:rPr>
              <a:t> </a:t>
            </a:r>
            <a:r>
              <a:rPr sz="900" i="1" dirty="0">
                <a:latin typeface="STIX Two Text"/>
                <a:cs typeface="STIX Two Text"/>
              </a:rPr>
              <a:t>.</a:t>
            </a:r>
            <a:r>
              <a:rPr sz="900" i="1" spc="-80" dirty="0">
                <a:latin typeface="STIX Two Text"/>
                <a:cs typeface="STIX Two Text"/>
              </a:rPr>
              <a:t> </a:t>
            </a:r>
            <a:r>
              <a:rPr sz="900" i="1" dirty="0">
                <a:latin typeface="STIX Two Text"/>
                <a:cs typeface="STIX Two Text"/>
              </a:rPr>
              <a:t>,</a:t>
            </a:r>
            <a:r>
              <a:rPr sz="900" i="1" spc="-85" dirty="0">
                <a:latin typeface="STIX Two Text"/>
                <a:cs typeface="STIX Two Text"/>
              </a:rPr>
              <a:t> </a:t>
            </a:r>
            <a:r>
              <a:rPr sz="900" i="1" spc="-20" dirty="0">
                <a:latin typeface="Arial"/>
                <a:cs typeface="Arial"/>
              </a:rPr>
              <a:t>P</a:t>
            </a:r>
            <a:r>
              <a:rPr sz="1050" i="1" spc="-30" baseline="-15873" dirty="0">
                <a:latin typeface="Arial"/>
                <a:cs typeface="Arial"/>
              </a:rPr>
              <a:t>N</a:t>
            </a:r>
            <a:r>
              <a:rPr sz="1050" i="1" spc="-30" baseline="-15873" dirty="0">
                <a:latin typeface="Menlo"/>
                <a:cs typeface="Menlo"/>
              </a:rPr>
              <a:t>−</a:t>
            </a:r>
            <a:r>
              <a:rPr sz="1050" i="1" spc="-30" baseline="-15873" dirty="0">
                <a:latin typeface="Arial"/>
                <a:cs typeface="Arial"/>
              </a:rPr>
              <a:t>1</a:t>
            </a:r>
            <a:r>
              <a:rPr sz="900" spc="-20" dirty="0">
                <a:latin typeface="Arial"/>
                <a:cs typeface="Arial"/>
              </a:rPr>
              <a:t>.</a:t>
            </a:r>
            <a:endParaRPr sz="900">
              <a:latin typeface="Arial"/>
              <a:cs typeface="Arial"/>
            </a:endParaRPr>
          </a:p>
          <a:p>
            <a:pPr marL="278130" indent="-158750">
              <a:lnSpc>
                <a:spcPct val="100000"/>
              </a:lnSpc>
              <a:spcBef>
                <a:spcPts val="525"/>
              </a:spcBef>
              <a:buClr>
                <a:srgbClr val="3333B2"/>
              </a:buClr>
              <a:buAutoNum type="arabicPeriod" startAt="2"/>
              <a:tabLst>
                <a:tab pos="278765" algn="l"/>
              </a:tabLst>
            </a:pPr>
            <a:r>
              <a:rPr sz="900" dirty="0">
                <a:latin typeface="Arial"/>
                <a:cs typeface="Arial"/>
              </a:rPr>
              <a:t>If</a:t>
            </a:r>
            <a:r>
              <a:rPr sz="900" spc="-30" dirty="0">
                <a:latin typeface="Arial"/>
                <a:cs typeface="Arial"/>
              </a:rPr>
              <a:t> </a:t>
            </a:r>
            <a:r>
              <a:rPr sz="900" dirty="0">
                <a:latin typeface="Arial"/>
                <a:cs typeface="Arial"/>
              </a:rPr>
              <a:t>no</a:t>
            </a:r>
            <a:r>
              <a:rPr sz="900" spc="-25" dirty="0">
                <a:latin typeface="Arial"/>
                <a:cs typeface="Arial"/>
              </a:rPr>
              <a:t> </a:t>
            </a:r>
            <a:r>
              <a:rPr sz="900" dirty="0">
                <a:latin typeface="Arial"/>
                <a:cs typeface="Arial"/>
              </a:rPr>
              <a:t>one</a:t>
            </a:r>
            <a:r>
              <a:rPr sz="900" spc="-25" dirty="0">
                <a:latin typeface="Arial"/>
                <a:cs typeface="Arial"/>
              </a:rPr>
              <a:t> </a:t>
            </a:r>
            <a:r>
              <a:rPr sz="900" dirty="0">
                <a:latin typeface="Arial"/>
                <a:cs typeface="Arial"/>
              </a:rPr>
              <a:t>responds,</a:t>
            </a:r>
            <a:r>
              <a:rPr sz="900" spc="-25" dirty="0">
                <a:latin typeface="Arial"/>
                <a:cs typeface="Arial"/>
              </a:rPr>
              <a:t> </a:t>
            </a:r>
            <a:r>
              <a:rPr sz="900" i="1" dirty="0">
                <a:latin typeface="Arial"/>
                <a:cs typeface="Arial"/>
              </a:rPr>
              <a:t>P</a:t>
            </a:r>
            <a:r>
              <a:rPr sz="1050" i="1" baseline="-15873" dirty="0">
                <a:latin typeface="Arial"/>
                <a:cs typeface="Arial"/>
              </a:rPr>
              <a:t>k</a:t>
            </a:r>
            <a:r>
              <a:rPr sz="1050" i="1" spc="202" baseline="-15873" dirty="0">
                <a:latin typeface="Arial"/>
                <a:cs typeface="Arial"/>
              </a:rPr>
              <a:t> </a:t>
            </a:r>
            <a:r>
              <a:rPr sz="900" dirty="0">
                <a:latin typeface="Arial"/>
                <a:cs typeface="Arial"/>
              </a:rPr>
              <a:t>wins</a:t>
            </a:r>
            <a:r>
              <a:rPr sz="900" spc="-25" dirty="0">
                <a:latin typeface="Arial"/>
                <a:cs typeface="Arial"/>
              </a:rPr>
              <a:t> </a:t>
            </a:r>
            <a:r>
              <a:rPr sz="900" dirty="0">
                <a:latin typeface="Arial"/>
                <a:cs typeface="Arial"/>
              </a:rPr>
              <a:t>the</a:t>
            </a:r>
            <a:r>
              <a:rPr sz="900" spc="-25" dirty="0">
                <a:latin typeface="Arial"/>
                <a:cs typeface="Arial"/>
              </a:rPr>
              <a:t> </a:t>
            </a:r>
            <a:r>
              <a:rPr sz="900" dirty="0">
                <a:latin typeface="Arial"/>
                <a:cs typeface="Arial"/>
              </a:rPr>
              <a:t>election</a:t>
            </a:r>
            <a:r>
              <a:rPr sz="900" spc="-30" dirty="0">
                <a:latin typeface="Arial"/>
                <a:cs typeface="Arial"/>
              </a:rPr>
              <a:t> </a:t>
            </a:r>
            <a:r>
              <a:rPr sz="900" dirty="0">
                <a:latin typeface="Arial"/>
                <a:cs typeface="Arial"/>
              </a:rPr>
              <a:t>and</a:t>
            </a:r>
            <a:r>
              <a:rPr sz="900" spc="-25" dirty="0">
                <a:latin typeface="Arial"/>
                <a:cs typeface="Arial"/>
              </a:rPr>
              <a:t> </a:t>
            </a:r>
            <a:r>
              <a:rPr sz="900" dirty="0">
                <a:latin typeface="Arial"/>
                <a:cs typeface="Arial"/>
              </a:rPr>
              <a:t>becomes</a:t>
            </a:r>
            <a:r>
              <a:rPr sz="900" spc="-25" dirty="0">
                <a:latin typeface="Arial"/>
                <a:cs typeface="Arial"/>
              </a:rPr>
              <a:t> </a:t>
            </a:r>
            <a:r>
              <a:rPr sz="900" spc="-10" dirty="0">
                <a:latin typeface="Arial"/>
                <a:cs typeface="Arial"/>
              </a:rPr>
              <a:t>coordinator.</a:t>
            </a:r>
            <a:endParaRPr sz="900">
              <a:latin typeface="Arial"/>
              <a:cs typeface="Arial"/>
            </a:endParaRPr>
          </a:p>
          <a:p>
            <a:pPr marL="278130" indent="-158750">
              <a:lnSpc>
                <a:spcPct val="100000"/>
              </a:lnSpc>
              <a:spcBef>
                <a:spcPts val="525"/>
              </a:spcBef>
              <a:buClr>
                <a:srgbClr val="3333B2"/>
              </a:buClr>
              <a:buAutoNum type="arabicPeriod" startAt="2"/>
              <a:tabLst>
                <a:tab pos="278765" algn="l"/>
              </a:tabLst>
            </a:pPr>
            <a:r>
              <a:rPr sz="900" dirty="0">
                <a:latin typeface="Arial"/>
                <a:cs typeface="Arial"/>
              </a:rPr>
              <a:t>If</a:t>
            </a:r>
            <a:r>
              <a:rPr sz="900" spc="-30" dirty="0">
                <a:latin typeface="Arial"/>
                <a:cs typeface="Arial"/>
              </a:rPr>
              <a:t> </a:t>
            </a:r>
            <a:r>
              <a:rPr sz="900" dirty="0">
                <a:latin typeface="Arial"/>
                <a:cs typeface="Arial"/>
              </a:rPr>
              <a:t>one</a:t>
            </a:r>
            <a:r>
              <a:rPr sz="900" spc="-20" dirty="0">
                <a:latin typeface="Arial"/>
                <a:cs typeface="Arial"/>
              </a:rPr>
              <a:t> </a:t>
            </a:r>
            <a:r>
              <a:rPr sz="900" dirty="0">
                <a:latin typeface="Arial"/>
                <a:cs typeface="Arial"/>
              </a:rPr>
              <a:t>of</a:t>
            </a:r>
            <a:r>
              <a:rPr sz="900" spc="-20" dirty="0">
                <a:latin typeface="Arial"/>
                <a:cs typeface="Arial"/>
              </a:rPr>
              <a:t> </a:t>
            </a:r>
            <a:r>
              <a:rPr sz="900" dirty="0">
                <a:latin typeface="Arial"/>
                <a:cs typeface="Arial"/>
              </a:rPr>
              <a:t>the</a:t>
            </a:r>
            <a:r>
              <a:rPr sz="900" spc="-25" dirty="0">
                <a:latin typeface="Arial"/>
                <a:cs typeface="Arial"/>
              </a:rPr>
              <a:t> </a:t>
            </a:r>
            <a:r>
              <a:rPr sz="900" spc="-10" dirty="0">
                <a:latin typeface="Arial"/>
                <a:cs typeface="Arial"/>
              </a:rPr>
              <a:t>higher-</a:t>
            </a:r>
            <a:r>
              <a:rPr sz="900" dirty="0">
                <a:latin typeface="Arial"/>
                <a:cs typeface="Arial"/>
              </a:rPr>
              <a:t>ups</a:t>
            </a:r>
            <a:r>
              <a:rPr sz="900" spc="-20" dirty="0">
                <a:latin typeface="Arial"/>
                <a:cs typeface="Arial"/>
              </a:rPr>
              <a:t> </a:t>
            </a:r>
            <a:r>
              <a:rPr sz="900" spc="-10" dirty="0">
                <a:latin typeface="Arial"/>
                <a:cs typeface="Arial"/>
              </a:rPr>
              <a:t>answers,</a:t>
            </a:r>
            <a:r>
              <a:rPr sz="900" spc="-20" dirty="0">
                <a:latin typeface="Arial"/>
                <a:cs typeface="Arial"/>
              </a:rPr>
              <a:t> </a:t>
            </a:r>
            <a:r>
              <a:rPr sz="900" dirty="0">
                <a:latin typeface="Arial"/>
                <a:cs typeface="Arial"/>
              </a:rPr>
              <a:t>it</a:t>
            </a:r>
            <a:r>
              <a:rPr sz="900" spc="-20" dirty="0">
                <a:latin typeface="Arial"/>
                <a:cs typeface="Arial"/>
              </a:rPr>
              <a:t> </a:t>
            </a:r>
            <a:r>
              <a:rPr sz="900" dirty="0">
                <a:latin typeface="Arial"/>
                <a:cs typeface="Arial"/>
              </a:rPr>
              <a:t>takes</a:t>
            </a:r>
            <a:r>
              <a:rPr sz="900" spc="-20" dirty="0">
                <a:latin typeface="Arial"/>
                <a:cs typeface="Arial"/>
              </a:rPr>
              <a:t> </a:t>
            </a:r>
            <a:r>
              <a:rPr sz="900" dirty="0">
                <a:latin typeface="Arial"/>
                <a:cs typeface="Arial"/>
              </a:rPr>
              <a:t>over</a:t>
            </a:r>
            <a:r>
              <a:rPr sz="900" spc="-20" dirty="0">
                <a:latin typeface="Arial"/>
                <a:cs typeface="Arial"/>
              </a:rPr>
              <a:t> </a:t>
            </a:r>
            <a:r>
              <a:rPr sz="900" dirty="0">
                <a:latin typeface="Arial"/>
                <a:cs typeface="Arial"/>
              </a:rPr>
              <a:t>and</a:t>
            </a:r>
            <a:r>
              <a:rPr sz="900" spc="-20" dirty="0">
                <a:latin typeface="Arial"/>
                <a:cs typeface="Arial"/>
              </a:rPr>
              <a:t> </a:t>
            </a:r>
            <a:r>
              <a:rPr sz="900" i="1" spc="-10" dirty="0">
                <a:latin typeface="Arial"/>
                <a:cs typeface="Arial"/>
              </a:rPr>
              <a:t>P</a:t>
            </a:r>
            <a:r>
              <a:rPr sz="1050" i="1" spc="-15" baseline="-15873" dirty="0">
                <a:latin typeface="Arial"/>
                <a:cs typeface="Arial"/>
              </a:rPr>
              <a:t>k</a:t>
            </a:r>
            <a:r>
              <a:rPr sz="1050" i="1" spc="-112" baseline="-15873" dirty="0">
                <a:latin typeface="Arial"/>
                <a:cs typeface="Arial"/>
              </a:rPr>
              <a:t> </a:t>
            </a:r>
            <a:r>
              <a:rPr sz="900" dirty="0">
                <a:latin typeface="Arial"/>
                <a:cs typeface="Arial"/>
              </a:rPr>
              <a:t>’s</a:t>
            </a:r>
            <a:r>
              <a:rPr sz="900" spc="-25" dirty="0">
                <a:latin typeface="Arial"/>
                <a:cs typeface="Arial"/>
              </a:rPr>
              <a:t> </a:t>
            </a:r>
            <a:r>
              <a:rPr sz="900" dirty="0">
                <a:latin typeface="Arial"/>
                <a:cs typeface="Arial"/>
              </a:rPr>
              <a:t>job</a:t>
            </a:r>
            <a:r>
              <a:rPr sz="900" spc="-20" dirty="0">
                <a:latin typeface="Arial"/>
                <a:cs typeface="Arial"/>
              </a:rPr>
              <a:t> </a:t>
            </a:r>
            <a:r>
              <a:rPr sz="900" dirty="0">
                <a:latin typeface="Arial"/>
                <a:cs typeface="Arial"/>
              </a:rPr>
              <a:t>is</a:t>
            </a:r>
            <a:r>
              <a:rPr sz="900" spc="-20" dirty="0">
                <a:latin typeface="Arial"/>
                <a:cs typeface="Arial"/>
              </a:rPr>
              <a:t> </a:t>
            </a:r>
            <a:r>
              <a:rPr sz="900" spc="-10" dirty="0">
                <a:latin typeface="Arial"/>
                <a:cs typeface="Arial"/>
              </a:rPr>
              <a:t>done.</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56007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The</a:t>
            </a:r>
            <a:r>
              <a:rPr sz="500" spc="-20" dirty="0">
                <a:latin typeface="Arial"/>
                <a:cs typeface="Arial"/>
                <a:hlinkClick r:id="rId4" action="ppaction://hlinksldjump"/>
              </a:rPr>
              <a:t> </a:t>
            </a:r>
            <a:r>
              <a:rPr sz="500" dirty="0">
                <a:latin typeface="Arial"/>
                <a:cs typeface="Arial"/>
                <a:hlinkClick r:id="rId4" action="ppaction://hlinksldjump"/>
              </a:rPr>
              <a:t>bully</a:t>
            </a:r>
            <a:r>
              <a:rPr sz="500" spc="-20" dirty="0">
                <a:latin typeface="Arial"/>
                <a:cs typeface="Arial"/>
                <a:hlinkClick r:id="rId4" action="ppaction://hlinksldjump"/>
              </a:rPr>
              <a:t> </a:t>
            </a:r>
            <a:r>
              <a:rPr sz="500" spc="-10" dirty="0">
                <a:latin typeface="Arial"/>
                <a:cs typeface="Arial"/>
                <a:hlinkClick r:id="rId4" action="ppaction://hlinksldjump"/>
              </a:rPr>
              <a:t>algorithm</a:t>
            </a:r>
            <a:endParaRPr sz="500">
              <a:latin typeface="Arial"/>
              <a:cs typeface="Arial"/>
            </a:endParaRPr>
          </a:p>
        </p:txBody>
      </p:sp>
    </p:spTree>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8417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Coordination</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993806" y="-1515"/>
            <a:ext cx="561340"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Election</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algorithms</a:t>
            </a:r>
            <a:endParaRPr sz="500">
              <a:latin typeface="Arial"/>
              <a:cs typeface="Arial"/>
            </a:endParaRPr>
          </a:p>
        </p:txBody>
      </p:sp>
      <p:sp>
        <p:nvSpPr>
          <p:cNvPr id="5" name="object 5"/>
          <p:cNvSpPr txBox="1"/>
          <p:nvPr/>
        </p:nvSpPr>
        <p:spPr>
          <a:xfrm>
            <a:off x="95300" y="197711"/>
            <a:ext cx="1812925" cy="49466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Election</a:t>
            </a:r>
            <a:r>
              <a:rPr sz="1200" spc="-50" dirty="0">
                <a:solidFill>
                  <a:srgbClr val="3333B2"/>
                </a:solidFill>
                <a:latin typeface="Arial"/>
                <a:cs typeface="Arial"/>
              </a:rPr>
              <a:t> </a:t>
            </a:r>
            <a:r>
              <a:rPr sz="1200" dirty="0">
                <a:solidFill>
                  <a:srgbClr val="3333B2"/>
                </a:solidFill>
                <a:latin typeface="Arial"/>
                <a:cs typeface="Arial"/>
              </a:rPr>
              <a:t>by</a:t>
            </a:r>
            <a:r>
              <a:rPr sz="1200" spc="-45" dirty="0">
                <a:solidFill>
                  <a:srgbClr val="3333B2"/>
                </a:solidFill>
                <a:latin typeface="Arial"/>
                <a:cs typeface="Arial"/>
              </a:rPr>
              <a:t> </a:t>
            </a:r>
            <a:r>
              <a:rPr sz="1200" spc="-10" dirty="0">
                <a:solidFill>
                  <a:srgbClr val="3333B2"/>
                </a:solidFill>
                <a:latin typeface="Arial"/>
                <a:cs typeface="Arial"/>
              </a:rPr>
              <a:t>bullying</a:t>
            </a:r>
            <a:endParaRPr sz="1200">
              <a:latin typeface="Arial"/>
              <a:cs typeface="Arial"/>
            </a:endParaRPr>
          </a:p>
          <a:p>
            <a:pPr marL="260350">
              <a:lnSpc>
                <a:spcPct val="100000"/>
              </a:lnSpc>
              <a:spcBef>
                <a:spcPts val="1055"/>
              </a:spcBef>
            </a:pPr>
            <a:r>
              <a:rPr sz="1000" dirty="0">
                <a:solidFill>
                  <a:srgbClr val="3333B2"/>
                </a:solidFill>
                <a:latin typeface="Arial"/>
                <a:cs typeface="Arial"/>
              </a:rPr>
              <a:t>The</a:t>
            </a:r>
            <a:r>
              <a:rPr sz="1000" spc="-40" dirty="0">
                <a:solidFill>
                  <a:srgbClr val="3333B2"/>
                </a:solidFill>
                <a:latin typeface="Arial"/>
                <a:cs typeface="Arial"/>
              </a:rPr>
              <a:t> </a:t>
            </a:r>
            <a:r>
              <a:rPr sz="1000" dirty="0">
                <a:solidFill>
                  <a:srgbClr val="3333B2"/>
                </a:solidFill>
                <a:latin typeface="Arial"/>
                <a:cs typeface="Arial"/>
              </a:rPr>
              <a:t>bully</a:t>
            </a:r>
            <a:r>
              <a:rPr sz="1000" spc="-35" dirty="0">
                <a:solidFill>
                  <a:srgbClr val="3333B2"/>
                </a:solidFill>
                <a:latin typeface="Arial"/>
                <a:cs typeface="Arial"/>
              </a:rPr>
              <a:t> </a:t>
            </a:r>
            <a:r>
              <a:rPr sz="1000" dirty="0">
                <a:solidFill>
                  <a:srgbClr val="3333B2"/>
                </a:solidFill>
                <a:latin typeface="Arial"/>
                <a:cs typeface="Arial"/>
              </a:rPr>
              <a:t>election</a:t>
            </a:r>
            <a:r>
              <a:rPr sz="1000" spc="-35" dirty="0">
                <a:solidFill>
                  <a:srgbClr val="3333B2"/>
                </a:solidFill>
                <a:latin typeface="Arial"/>
                <a:cs typeface="Arial"/>
              </a:rPr>
              <a:t> </a:t>
            </a:r>
            <a:r>
              <a:rPr sz="1000" spc="-10" dirty="0">
                <a:solidFill>
                  <a:srgbClr val="3333B2"/>
                </a:solidFill>
                <a:latin typeface="Arial"/>
                <a:cs typeface="Arial"/>
              </a:rPr>
              <a:t>algorithm</a:t>
            </a:r>
            <a:endParaRPr sz="1000">
              <a:latin typeface="Arial"/>
              <a:cs typeface="Arial"/>
            </a:endParaRPr>
          </a:p>
        </p:txBody>
      </p:sp>
      <p:pic>
        <p:nvPicPr>
          <p:cNvPr id="6" name="object 6"/>
          <p:cNvPicPr/>
          <p:nvPr/>
        </p:nvPicPr>
        <p:blipFill>
          <a:blip r:embed="rId4" cstate="print"/>
          <a:stretch>
            <a:fillRect/>
          </a:stretch>
        </p:blipFill>
        <p:spPr>
          <a:xfrm>
            <a:off x="593169" y="797052"/>
            <a:ext cx="948182" cy="947100"/>
          </a:xfrm>
          <a:prstGeom prst="rect">
            <a:avLst/>
          </a:prstGeom>
        </p:spPr>
      </p:pic>
      <p:pic>
        <p:nvPicPr>
          <p:cNvPr id="7" name="object 7"/>
          <p:cNvPicPr/>
          <p:nvPr/>
        </p:nvPicPr>
        <p:blipFill>
          <a:blip r:embed="rId5" cstate="print"/>
          <a:stretch>
            <a:fillRect/>
          </a:stretch>
        </p:blipFill>
        <p:spPr>
          <a:xfrm>
            <a:off x="1769495" y="794887"/>
            <a:ext cx="947100" cy="947100"/>
          </a:xfrm>
          <a:prstGeom prst="rect">
            <a:avLst/>
          </a:prstGeom>
        </p:spPr>
      </p:pic>
      <p:pic>
        <p:nvPicPr>
          <p:cNvPr id="8" name="object 8"/>
          <p:cNvPicPr/>
          <p:nvPr/>
        </p:nvPicPr>
        <p:blipFill>
          <a:blip r:embed="rId6" cstate="print"/>
          <a:stretch>
            <a:fillRect/>
          </a:stretch>
        </p:blipFill>
        <p:spPr>
          <a:xfrm>
            <a:off x="2938244" y="802779"/>
            <a:ext cx="1075547" cy="946785"/>
          </a:xfrm>
          <a:prstGeom prst="rect">
            <a:avLst/>
          </a:prstGeom>
        </p:spPr>
      </p:pic>
      <p:pic>
        <p:nvPicPr>
          <p:cNvPr id="9" name="object 9"/>
          <p:cNvPicPr/>
          <p:nvPr/>
        </p:nvPicPr>
        <p:blipFill>
          <a:blip r:embed="rId7" cstate="print"/>
          <a:stretch>
            <a:fillRect/>
          </a:stretch>
        </p:blipFill>
        <p:spPr>
          <a:xfrm>
            <a:off x="1009487" y="1818418"/>
            <a:ext cx="958287" cy="947100"/>
          </a:xfrm>
          <a:prstGeom prst="rect">
            <a:avLst/>
          </a:prstGeom>
        </p:spPr>
      </p:pic>
      <p:pic>
        <p:nvPicPr>
          <p:cNvPr id="10" name="object 10"/>
          <p:cNvPicPr/>
          <p:nvPr/>
        </p:nvPicPr>
        <p:blipFill>
          <a:blip r:embed="rId8" cstate="print"/>
          <a:stretch>
            <a:fillRect/>
          </a:stretch>
        </p:blipFill>
        <p:spPr>
          <a:xfrm>
            <a:off x="2648152" y="1819500"/>
            <a:ext cx="947100" cy="947100"/>
          </a:xfrm>
          <a:prstGeom prst="rect">
            <a:avLst/>
          </a:prstGeom>
        </p:spPr>
      </p:pic>
      <p:grpSp>
        <p:nvGrpSpPr>
          <p:cNvPr id="11" name="object 11"/>
          <p:cNvGrpSpPr/>
          <p:nvPr/>
        </p:nvGrpSpPr>
        <p:grpSpPr>
          <a:xfrm>
            <a:off x="0" y="3348469"/>
            <a:ext cx="4608195" cy="107950"/>
            <a:chOff x="0" y="3348469"/>
            <a:chExt cx="4608195" cy="107950"/>
          </a:xfrm>
        </p:grpSpPr>
        <p:sp>
          <p:nvSpPr>
            <p:cNvPr id="12" name="object 12"/>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3" name="object 13"/>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4" name="object 14"/>
          <p:cNvSpPr txBox="1"/>
          <p:nvPr/>
        </p:nvSpPr>
        <p:spPr>
          <a:xfrm>
            <a:off x="53467" y="3349927"/>
            <a:ext cx="56007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9" action="ppaction://hlinksldjump"/>
              </a:rPr>
              <a:t>The</a:t>
            </a:r>
            <a:r>
              <a:rPr sz="500" spc="-20" dirty="0">
                <a:latin typeface="Arial"/>
                <a:cs typeface="Arial"/>
                <a:hlinkClick r:id="rId9" action="ppaction://hlinksldjump"/>
              </a:rPr>
              <a:t> </a:t>
            </a:r>
            <a:r>
              <a:rPr sz="500" dirty="0">
                <a:latin typeface="Arial"/>
                <a:cs typeface="Arial"/>
                <a:hlinkClick r:id="rId9" action="ppaction://hlinksldjump"/>
              </a:rPr>
              <a:t>bully</a:t>
            </a:r>
            <a:r>
              <a:rPr sz="500" spc="-20" dirty="0">
                <a:latin typeface="Arial"/>
                <a:cs typeface="Arial"/>
                <a:hlinkClick r:id="rId9" action="ppaction://hlinksldjump"/>
              </a:rPr>
              <a:t> </a:t>
            </a:r>
            <a:r>
              <a:rPr sz="500" spc="-10" dirty="0">
                <a:latin typeface="Arial"/>
                <a:cs typeface="Arial"/>
                <a:hlinkClick r:id="rId9" action="ppaction://hlinksldjump"/>
              </a:rPr>
              <a:t>algorithm</a:t>
            </a:r>
            <a:endParaRPr sz="500">
              <a:latin typeface="Arial"/>
              <a:cs typeface="Arial"/>
            </a:endParaRPr>
          </a:p>
        </p:txBody>
      </p:sp>
    </p:spTree>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952875" algn="l"/>
              </a:tabLst>
            </a:pPr>
            <a:r>
              <a:rPr sz="500" spc="-10" dirty="0">
                <a:latin typeface="Arial"/>
                <a:cs typeface="Arial"/>
                <a:hlinkClick r:id="rId2" action="ppaction://hlinksldjump"/>
              </a:rPr>
              <a:t>Coordination</a:t>
            </a:r>
            <a:r>
              <a:rPr sz="500" dirty="0">
                <a:latin typeface="Arial"/>
                <a:cs typeface="Arial"/>
              </a:rPr>
              <a:t>	</a:t>
            </a:r>
            <a:r>
              <a:rPr sz="500" dirty="0">
                <a:solidFill>
                  <a:srgbClr val="FFFFFF"/>
                </a:solidFill>
                <a:latin typeface="Arial"/>
                <a:cs typeface="Arial"/>
                <a:hlinkClick r:id="rId3" action="ppaction://hlinksldjump"/>
              </a:rPr>
              <a:t>Election</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algorithms</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Election</a:t>
            </a:r>
            <a:r>
              <a:rPr spc="-25" dirty="0"/>
              <a:t> </a:t>
            </a:r>
            <a:r>
              <a:rPr dirty="0"/>
              <a:t>in</a:t>
            </a:r>
            <a:r>
              <a:rPr spc="-25" dirty="0"/>
              <a:t> </a:t>
            </a:r>
            <a:r>
              <a:rPr dirty="0"/>
              <a:t>a</a:t>
            </a:r>
            <a:r>
              <a:rPr spc="-25" dirty="0"/>
              <a:t> </a:t>
            </a:r>
            <a:r>
              <a:rPr spc="-20" dirty="0"/>
              <a:t>ring</a:t>
            </a:r>
          </a:p>
        </p:txBody>
      </p:sp>
      <p:sp>
        <p:nvSpPr>
          <p:cNvPr id="4" name="object 4"/>
          <p:cNvSpPr txBox="1"/>
          <p:nvPr/>
        </p:nvSpPr>
        <p:spPr>
          <a:xfrm>
            <a:off x="334594" y="472482"/>
            <a:ext cx="3961129" cy="1924050"/>
          </a:xfrm>
          <a:prstGeom prst="rect">
            <a:avLst/>
          </a:prstGeom>
        </p:spPr>
        <p:txBody>
          <a:bodyPr vert="horz" wrap="square" lIns="0" tIns="54610" rIns="0" bIns="0" rtlCol="0">
            <a:spAutoFit/>
          </a:bodyPr>
          <a:lstStyle/>
          <a:p>
            <a:pPr marL="25400">
              <a:lnSpc>
                <a:spcPct val="100000"/>
              </a:lnSpc>
              <a:spcBef>
                <a:spcPts val="430"/>
              </a:spcBef>
            </a:pPr>
            <a:r>
              <a:rPr sz="1000" spc="-10" dirty="0">
                <a:solidFill>
                  <a:srgbClr val="3333B2"/>
                </a:solidFill>
                <a:latin typeface="Arial"/>
                <a:cs typeface="Arial"/>
              </a:rPr>
              <a:t>Principle</a:t>
            </a:r>
            <a:endParaRPr sz="1000">
              <a:latin typeface="Arial"/>
              <a:cs typeface="Arial"/>
            </a:endParaRPr>
          </a:p>
          <a:p>
            <a:pPr marL="25400" marR="69215">
              <a:lnSpc>
                <a:spcPct val="111600"/>
              </a:lnSpc>
              <a:spcBef>
                <a:spcPts val="170"/>
              </a:spcBef>
            </a:pPr>
            <a:r>
              <a:rPr sz="900" dirty="0">
                <a:latin typeface="Arial"/>
                <a:cs typeface="Arial"/>
              </a:rPr>
              <a:t>Process</a:t>
            </a:r>
            <a:r>
              <a:rPr sz="900" spc="-30" dirty="0">
                <a:latin typeface="Arial"/>
                <a:cs typeface="Arial"/>
              </a:rPr>
              <a:t> </a:t>
            </a:r>
            <a:r>
              <a:rPr sz="900" dirty="0">
                <a:latin typeface="Arial"/>
                <a:cs typeface="Arial"/>
              </a:rPr>
              <a:t>priority</a:t>
            </a:r>
            <a:r>
              <a:rPr sz="900" spc="-25" dirty="0">
                <a:latin typeface="Arial"/>
                <a:cs typeface="Arial"/>
              </a:rPr>
              <a:t> </a:t>
            </a:r>
            <a:r>
              <a:rPr sz="900" dirty="0">
                <a:latin typeface="Arial"/>
                <a:cs typeface="Arial"/>
              </a:rPr>
              <a:t>is</a:t>
            </a:r>
            <a:r>
              <a:rPr sz="900" spc="-30" dirty="0">
                <a:latin typeface="Arial"/>
                <a:cs typeface="Arial"/>
              </a:rPr>
              <a:t> </a:t>
            </a:r>
            <a:r>
              <a:rPr sz="900" dirty="0">
                <a:latin typeface="Arial"/>
                <a:cs typeface="Arial"/>
              </a:rPr>
              <a:t>obtained</a:t>
            </a:r>
            <a:r>
              <a:rPr sz="900" spc="-25" dirty="0">
                <a:latin typeface="Arial"/>
                <a:cs typeface="Arial"/>
              </a:rPr>
              <a:t> </a:t>
            </a:r>
            <a:r>
              <a:rPr sz="900" dirty="0">
                <a:latin typeface="Arial"/>
                <a:cs typeface="Arial"/>
              </a:rPr>
              <a:t>by</a:t>
            </a:r>
            <a:r>
              <a:rPr sz="900" spc="-30" dirty="0">
                <a:latin typeface="Arial"/>
                <a:cs typeface="Arial"/>
              </a:rPr>
              <a:t> </a:t>
            </a:r>
            <a:r>
              <a:rPr sz="900" dirty="0">
                <a:latin typeface="Arial"/>
                <a:cs typeface="Arial"/>
              </a:rPr>
              <a:t>organizing</a:t>
            </a:r>
            <a:r>
              <a:rPr sz="900" spc="-25" dirty="0">
                <a:latin typeface="Arial"/>
                <a:cs typeface="Arial"/>
              </a:rPr>
              <a:t> </a:t>
            </a:r>
            <a:r>
              <a:rPr sz="900" dirty="0">
                <a:latin typeface="Arial"/>
                <a:cs typeface="Arial"/>
              </a:rPr>
              <a:t>processes</a:t>
            </a:r>
            <a:r>
              <a:rPr sz="900" spc="-30" dirty="0">
                <a:latin typeface="Arial"/>
                <a:cs typeface="Arial"/>
              </a:rPr>
              <a:t> </a:t>
            </a:r>
            <a:r>
              <a:rPr sz="900" dirty="0">
                <a:latin typeface="Arial"/>
                <a:cs typeface="Arial"/>
              </a:rPr>
              <a:t>into</a:t>
            </a:r>
            <a:r>
              <a:rPr sz="900" spc="-25" dirty="0">
                <a:latin typeface="Arial"/>
                <a:cs typeface="Arial"/>
              </a:rPr>
              <a:t> </a:t>
            </a:r>
            <a:r>
              <a:rPr sz="900" dirty="0">
                <a:latin typeface="Arial"/>
                <a:cs typeface="Arial"/>
              </a:rPr>
              <a:t>a</a:t>
            </a:r>
            <a:r>
              <a:rPr sz="900" spc="-30" dirty="0">
                <a:latin typeface="Arial"/>
                <a:cs typeface="Arial"/>
              </a:rPr>
              <a:t> </a:t>
            </a:r>
            <a:r>
              <a:rPr sz="900" dirty="0">
                <a:latin typeface="Arial"/>
                <a:cs typeface="Arial"/>
              </a:rPr>
              <a:t>(logical)</a:t>
            </a:r>
            <a:r>
              <a:rPr sz="900" spc="-25" dirty="0">
                <a:latin typeface="Arial"/>
                <a:cs typeface="Arial"/>
              </a:rPr>
              <a:t> </a:t>
            </a:r>
            <a:r>
              <a:rPr sz="900" dirty="0">
                <a:latin typeface="Arial"/>
                <a:cs typeface="Arial"/>
              </a:rPr>
              <a:t>ring.</a:t>
            </a:r>
            <a:r>
              <a:rPr sz="900" spc="25" dirty="0">
                <a:latin typeface="Arial"/>
                <a:cs typeface="Arial"/>
              </a:rPr>
              <a:t> </a:t>
            </a:r>
            <a:r>
              <a:rPr sz="900" spc="-25" dirty="0">
                <a:latin typeface="Arial"/>
                <a:cs typeface="Arial"/>
              </a:rPr>
              <a:t>The </a:t>
            </a:r>
            <a:r>
              <a:rPr sz="900" dirty="0">
                <a:latin typeface="Arial"/>
                <a:cs typeface="Arial"/>
              </a:rPr>
              <a:t>process</a:t>
            </a:r>
            <a:r>
              <a:rPr sz="900" spc="-25" dirty="0">
                <a:latin typeface="Arial"/>
                <a:cs typeface="Arial"/>
              </a:rPr>
              <a:t> </a:t>
            </a:r>
            <a:r>
              <a:rPr sz="900" dirty="0">
                <a:latin typeface="Arial"/>
                <a:cs typeface="Arial"/>
              </a:rPr>
              <a:t>with</a:t>
            </a:r>
            <a:r>
              <a:rPr sz="900" spc="-25" dirty="0">
                <a:latin typeface="Arial"/>
                <a:cs typeface="Arial"/>
              </a:rPr>
              <a:t> </a:t>
            </a:r>
            <a:r>
              <a:rPr sz="900" dirty="0">
                <a:latin typeface="Arial"/>
                <a:cs typeface="Arial"/>
              </a:rPr>
              <a:t>the</a:t>
            </a:r>
            <a:r>
              <a:rPr sz="900" spc="-25" dirty="0">
                <a:latin typeface="Arial"/>
                <a:cs typeface="Arial"/>
              </a:rPr>
              <a:t> </a:t>
            </a:r>
            <a:r>
              <a:rPr sz="900" dirty="0">
                <a:latin typeface="Arial"/>
                <a:cs typeface="Arial"/>
              </a:rPr>
              <a:t>highest</a:t>
            </a:r>
            <a:r>
              <a:rPr sz="900" spc="-25" dirty="0">
                <a:latin typeface="Arial"/>
                <a:cs typeface="Arial"/>
              </a:rPr>
              <a:t> </a:t>
            </a:r>
            <a:r>
              <a:rPr sz="900" dirty="0">
                <a:latin typeface="Arial"/>
                <a:cs typeface="Arial"/>
              </a:rPr>
              <a:t>priority</a:t>
            </a:r>
            <a:r>
              <a:rPr sz="900" spc="-25" dirty="0">
                <a:latin typeface="Arial"/>
                <a:cs typeface="Arial"/>
              </a:rPr>
              <a:t> </a:t>
            </a:r>
            <a:r>
              <a:rPr sz="900" dirty="0">
                <a:latin typeface="Arial"/>
                <a:cs typeface="Arial"/>
              </a:rPr>
              <a:t>should</a:t>
            </a:r>
            <a:r>
              <a:rPr sz="900" spc="-20" dirty="0">
                <a:latin typeface="Arial"/>
                <a:cs typeface="Arial"/>
              </a:rPr>
              <a:t> </a:t>
            </a:r>
            <a:r>
              <a:rPr sz="900" dirty="0">
                <a:latin typeface="Arial"/>
                <a:cs typeface="Arial"/>
              </a:rPr>
              <a:t>be</a:t>
            </a:r>
            <a:r>
              <a:rPr sz="900" spc="-25" dirty="0">
                <a:latin typeface="Arial"/>
                <a:cs typeface="Arial"/>
              </a:rPr>
              <a:t> </a:t>
            </a:r>
            <a:r>
              <a:rPr sz="900" dirty="0">
                <a:latin typeface="Arial"/>
                <a:cs typeface="Arial"/>
              </a:rPr>
              <a:t>elected</a:t>
            </a:r>
            <a:r>
              <a:rPr sz="900" spc="-25" dirty="0">
                <a:latin typeface="Arial"/>
                <a:cs typeface="Arial"/>
              </a:rPr>
              <a:t> </a:t>
            </a:r>
            <a:r>
              <a:rPr sz="900" dirty="0">
                <a:latin typeface="Arial"/>
                <a:cs typeface="Arial"/>
              </a:rPr>
              <a:t>as</a:t>
            </a:r>
            <a:r>
              <a:rPr sz="900" spc="-25" dirty="0">
                <a:latin typeface="Arial"/>
                <a:cs typeface="Arial"/>
              </a:rPr>
              <a:t> </a:t>
            </a:r>
            <a:r>
              <a:rPr sz="900" spc="-10" dirty="0">
                <a:latin typeface="Arial"/>
                <a:cs typeface="Arial"/>
              </a:rPr>
              <a:t>coordinator.</a:t>
            </a:r>
            <a:endParaRPr sz="900">
              <a:latin typeface="Arial"/>
              <a:cs typeface="Arial"/>
            </a:endParaRPr>
          </a:p>
          <a:p>
            <a:pPr marL="278130" marR="39370" indent="-120650" algn="just">
              <a:lnSpc>
                <a:spcPct val="111600"/>
              </a:lnSpc>
              <a:spcBef>
                <a:spcPts val="395"/>
              </a:spcBef>
              <a:buClr>
                <a:srgbClr val="3333B2"/>
              </a:buClr>
              <a:buFont typeface="Menlo"/>
              <a:buChar char="•"/>
              <a:tabLst>
                <a:tab pos="274955" algn="l"/>
              </a:tabLst>
            </a:pPr>
            <a:r>
              <a:rPr sz="900" dirty="0">
                <a:latin typeface="Arial"/>
                <a:cs typeface="Arial"/>
              </a:rPr>
              <a:t>Any</a:t>
            </a:r>
            <a:r>
              <a:rPr sz="900" spc="-30" dirty="0">
                <a:latin typeface="Arial"/>
                <a:cs typeface="Arial"/>
              </a:rPr>
              <a:t> </a:t>
            </a:r>
            <a:r>
              <a:rPr sz="900" dirty="0">
                <a:latin typeface="Arial"/>
                <a:cs typeface="Arial"/>
              </a:rPr>
              <a:t>process</a:t>
            </a:r>
            <a:r>
              <a:rPr sz="900" spc="-25" dirty="0">
                <a:latin typeface="Arial"/>
                <a:cs typeface="Arial"/>
              </a:rPr>
              <a:t> </a:t>
            </a:r>
            <a:r>
              <a:rPr sz="900" dirty="0">
                <a:latin typeface="Arial"/>
                <a:cs typeface="Arial"/>
              </a:rPr>
              <a:t>can</a:t>
            </a:r>
            <a:r>
              <a:rPr sz="900" spc="-25" dirty="0">
                <a:latin typeface="Arial"/>
                <a:cs typeface="Arial"/>
              </a:rPr>
              <a:t> </a:t>
            </a:r>
            <a:r>
              <a:rPr sz="900" dirty="0">
                <a:latin typeface="Arial"/>
                <a:cs typeface="Arial"/>
              </a:rPr>
              <a:t>start</a:t>
            </a:r>
            <a:r>
              <a:rPr sz="900" spc="-25" dirty="0">
                <a:latin typeface="Arial"/>
                <a:cs typeface="Arial"/>
              </a:rPr>
              <a:t> </a:t>
            </a:r>
            <a:r>
              <a:rPr sz="900" dirty="0">
                <a:latin typeface="Arial"/>
                <a:cs typeface="Arial"/>
              </a:rPr>
              <a:t>an</a:t>
            </a:r>
            <a:r>
              <a:rPr sz="900" spc="-25" dirty="0">
                <a:latin typeface="Arial"/>
                <a:cs typeface="Arial"/>
              </a:rPr>
              <a:t> </a:t>
            </a:r>
            <a:r>
              <a:rPr sz="900" dirty="0">
                <a:latin typeface="Arial"/>
                <a:cs typeface="Arial"/>
              </a:rPr>
              <a:t>election</a:t>
            </a:r>
            <a:r>
              <a:rPr sz="900" spc="-25" dirty="0">
                <a:latin typeface="Arial"/>
                <a:cs typeface="Arial"/>
              </a:rPr>
              <a:t> </a:t>
            </a:r>
            <a:r>
              <a:rPr sz="900" dirty="0">
                <a:latin typeface="Arial"/>
                <a:cs typeface="Arial"/>
              </a:rPr>
              <a:t>by</a:t>
            </a:r>
            <a:r>
              <a:rPr sz="900" spc="-25" dirty="0">
                <a:latin typeface="Arial"/>
                <a:cs typeface="Arial"/>
              </a:rPr>
              <a:t> </a:t>
            </a:r>
            <a:r>
              <a:rPr sz="900" dirty="0">
                <a:latin typeface="Arial"/>
                <a:cs typeface="Arial"/>
              </a:rPr>
              <a:t>sending</a:t>
            </a:r>
            <a:r>
              <a:rPr sz="900" spc="-25" dirty="0">
                <a:latin typeface="Arial"/>
                <a:cs typeface="Arial"/>
              </a:rPr>
              <a:t> </a:t>
            </a:r>
            <a:r>
              <a:rPr sz="900" dirty="0">
                <a:latin typeface="Arial"/>
                <a:cs typeface="Arial"/>
              </a:rPr>
              <a:t>an</a:t>
            </a:r>
            <a:r>
              <a:rPr sz="900" spc="-25" dirty="0">
                <a:latin typeface="Arial"/>
                <a:cs typeface="Arial"/>
              </a:rPr>
              <a:t> </a:t>
            </a:r>
            <a:r>
              <a:rPr sz="900" dirty="0">
                <a:latin typeface="Arial"/>
                <a:cs typeface="Arial"/>
              </a:rPr>
              <a:t>election</a:t>
            </a:r>
            <a:r>
              <a:rPr sz="900" spc="-30" dirty="0">
                <a:latin typeface="Arial"/>
                <a:cs typeface="Arial"/>
              </a:rPr>
              <a:t> </a:t>
            </a:r>
            <a:r>
              <a:rPr sz="900" dirty="0">
                <a:latin typeface="Arial"/>
                <a:cs typeface="Arial"/>
              </a:rPr>
              <a:t>message</a:t>
            </a:r>
            <a:r>
              <a:rPr sz="900" spc="-25" dirty="0">
                <a:latin typeface="Arial"/>
                <a:cs typeface="Arial"/>
              </a:rPr>
              <a:t> </a:t>
            </a:r>
            <a:r>
              <a:rPr sz="900" dirty="0">
                <a:latin typeface="Arial"/>
                <a:cs typeface="Arial"/>
              </a:rPr>
              <a:t>to</a:t>
            </a:r>
            <a:r>
              <a:rPr sz="900" spc="-25" dirty="0">
                <a:latin typeface="Arial"/>
                <a:cs typeface="Arial"/>
              </a:rPr>
              <a:t> its </a:t>
            </a:r>
            <a:r>
              <a:rPr sz="900" dirty="0">
                <a:latin typeface="Arial"/>
                <a:cs typeface="Arial"/>
              </a:rPr>
              <a:t>successor.</a:t>
            </a:r>
            <a:r>
              <a:rPr sz="900" spc="25" dirty="0">
                <a:latin typeface="Arial"/>
                <a:cs typeface="Arial"/>
              </a:rPr>
              <a:t> </a:t>
            </a:r>
            <a:r>
              <a:rPr sz="900" dirty="0">
                <a:latin typeface="Arial"/>
                <a:cs typeface="Arial"/>
              </a:rPr>
              <a:t>If</a:t>
            </a:r>
            <a:r>
              <a:rPr sz="900" spc="-30" dirty="0">
                <a:latin typeface="Arial"/>
                <a:cs typeface="Arial"/>
              </a:rPr>
              <a:t> </a:t>
            </a:r>
            <a:r>
              <a:rPr sz="900" dirty="0">
                <a:latin typeface="Arial"/>
                <a:cs typeface="Arial"/>
              </a:rPr>
              <a:t>a</a:t>
            </a:r>
            <a:r>
              <a:rPr sz="900" spc="-25" dirty="0">
                <a:latin typeface="Arial"/>
                <a:cs typeface="Arial"/>
              </a:rPr>
              <a:t> </a:t>
            </a:r>
            <a:r>
              <a:rPr sz="900" dirty="0">
                <a:latin typeface="Arial"/>
                <a:cs typeface="Arial"/>
              </a:rPr>
              <a:t>successor</a:t>
            </a:r>
            <a:r>
              <a:rPr sz="900" spc="-30" dirty="0">
                <a:latin typeface="Arial"/>
                <a:cs typeface="Arial"/>
              </a:rPr>
              <a:t> </a:t>
            </a:r>
            <a:r>
              <a:rPr sz="900" dirty="0">
                <a:latin typeface="Arial"/>
                <a:cs typeface="Arial"/>
              </a:rPr>
              <a:t>is</a:t>
            </a:r>
            <a:r>
              <a:rPr sz="900" spc="-30" dirty="0">
                <a:latin typeface="Arial"/>
                <a:cs typeface="Arial"/>
              </a:rPr>
              <a:t> </a:t>
            </a:r>
            <a:r>
              <a:rPr sz="900" dirty="0">
                <a:latin typeface="Arial"/>
                <a:cs typeface="Arial"/>
              </a:rPr>
              <a:t>down,</a:t>
            </a:r>
            <a:r>
              <a:rPr sz="900" spc="-25" dirty="0">
                <a:latin typeface="Arial"/>
                <a:cs typeface="Arial"/>
              </a:rPr>
              <a:t> </a:t>
            </a:r>
            <a:r>
              <a:rPr sz="900" dirty="0">
                <a:latin typeface="Arial"/>
                <a:cs typeface="Arial"/>
              </a:rPr>
              <a:t>the</a:t>
            </a:r>
            <a:r>
              <a:rPr sz="900" spc="-30" dirty="0">
                <a:latin typeface="Arial"/>
                <a:cs typeface="Arial"/>
              </a:rPr>
              <a:t> </a:t>
            </a:r>
            <a:r>
              <a:rPr sz="900" dirty="0">
                <a:latin typeface="Arial"/>
                <a:cs typeface="Arial"/>
              </a:rPr>
              <a:t>message</a:t>
            </a:r>
            <a:r>
              <a:rPr sz="900" spc="-25" dirty="0">
                <a:latin typeface="Arial"/>
                <a:cs typeface="Arial"/>
              </a:rPr>
              <a:t> </a:t>
            </a:r>
            <a:r>
              <a:rPr sz="900" dirty="0">
                <a:latin typeface="Arial"/>
                <a:cs typeface="Arial"/>
              </a:rPr>
              <a:t>is</a:t>
            </a:r>
            <a:r>
              <a:rPr sz="900" spc="-30" dirty="0">
                <a:latin typeface="Arial"/>
                <a:cs typeface="Arial"/>
              </a:rPr>
              <a:t> </a:t>
            </a:r>
            <a:r>
              <a:rPr sz="900" dirty="0">
                <a:latin typeface="Arial"/>
                <a:cs typeface="Arial"/>
              </a:rPr>
              <a:t>passed</a:t>
            </a:r>
            <a:r>
              <a:rPr sz="900" spc="-25" dirty="0">
                <a:latin typeface="Arial"/>
                <a:cs typeface="Arial"/>
              </a:rPr>
              <a:t> </a:t>
            </a:r>
            <a:r>
              <a:rPr sz="900" dirty="0">
                <a:latin typeface="Arial"/>
                <a:cs typeface="Arial"/>
              </a:rPr>
              <a:t>on</a:t>
            </a:r>
            <a:r>
              <a:rPr sz="900" spc="-30" dirty="0">
                <a:latin typeface="Arial"/>
                <a:cs typeface="Arial"/>
              </a:rPr>
              <a:t> </a:t>
            </a:r>
            <a:r>
              <a:rPr sz="900" dirty="0">
                <a:latin typeface="Arial"/>
                <a:cs typeface="Arial"/>
              </a:rPr>
              <a:t>to</a:t>
            </a:r>
            <a:r>
              <a:rPr sz="900" spc="-30" dirty="0">
                <a:latin typeface="Arial"/>
                <a:cs typeface="Arial"/>
              </a:rPr>
              <a:t> </a:t>
            </a:r>
            <a:r>
              <a:rPr sz="900" dirty="0">
                <a:latin typeface="Arial"/>
                <a:cs typeface="Arial"/>
              </a:rPr>
              <a:t>the</a:t>
            </a:r>
            <a:r>
              <a:rPr sz="900" spc="-25" dirty="0">
                <a:latin typeface="Arial"/>
                <a:cs typeface="Arial"/>
              </a:rPr>
              <a:t> </a:t>
            </a:r>
            <a:r>
              <a:rPr sz="900" spc="-20" dirty="0">
                <a:latin typeface="Arial"/>
                <a:cs typeface="Arial"/>
              </a:rPr>
              <a:t>next </a:t>
            </a:r>
            <a:r>
              <a:rPr sz="900" spc="-10" dirty="0">
                <a:latin typeface="Arial"/>
                <a:cs typeface="Arial"/>
              </a:rPr>
              <a:t>successor.</a:t>
            </a:r>
            <a:endParaRPr sz="900">
              <a:latin typeface="Arial"/>
              <a:cs typeface="Arial"/>
            </a:endParaRPr>
          </a:p>
          <a:p>
            <a:pPr marL="278130" marR="17780" indent="-120650" algn="just">
              <a:lnSpc>
                <a:spcPct val="111600"/>
              </a:lnSpc>
              <a:spcBef>
                <a:spcPts val="400"/>
              </a:spcBef>
              <a:buClr>
                <a:srgbClr val="3333B2"/>
              </a:buClr>
              <a:buFont typeface="Menlo"/>
              <a:buChar char="•"/>
              <a:tabLst>
                <a:tab pos="278765" algn="l"/>
              </a:tabLst>
            </a:pPr>
            <a:r>
              <a:rPr sz="900" dirty="0">
                <a:latin typeface="Arial"/>
                <a:cs typeface="Arial"/>
              </a:rPr>
              <a:t>If</a:t>
            </a:r>
            <a:r>
              <a:rPr sz="900" spc="-30" dirty="0">
                <a:latin typeface="Arial"/>
                <a:cs typeface="Arial"/>
              </a:rPr>
              <a:t> </a:t>
            </a:r>
            <a:r>
              <a:rPr sz="900" dirty="0">
                <a:latin typeface="Arial"/>
                <a:cs typeface="Arial"/>
              </a:rPr>
              <a:t>a</a:t>
            </a:r>
            <a:r>
              <a:rPr sz="900" spc="-25" dirty="0">
                <a:latin typeface="Arial"/>
                <a:cs typeface="Arial"/>
              </a:rPr>
              <a:t> </a:t>
            </a:r>
            <a:r>
              <a:rPr sz="900" spc="-10" dirty="0">
                <a:latin typeface="Arial"/>
                <a:cs typeface="Arial"/>
              </a:rPr>
              <a:t>message</a:t>
            </a:r>
            <a:r>
              <a:rPr sz="900" spc="-30" dirty="0">
                <a:latin typeface="Arial"/>
                <a:cs typeface="Arial"/>
              </a:rPr>
              <a:t> </a:t>
            </a:r>
            <a:r>
              <a:rPr sz="900" dirty="0">
                <a:latin typeface="Arial"/>
                <a:cs typeface="Arial"/>
              </a:rPr>
              <a:t>is</a:t>
            </a:r>
            <a:r>
              <a:rPr sz="900" spc="-25" dirty="0">
                <a:latin typeface="Arial"/>
                <a:cs typeface="Arial"/>
              </a:rPr>
              <a:t> </a:t>
            </a:r>
            <a:r>
              <a:rPr sz="900" spc="-10" dirty="0">
                <a:latin typeface="Arial"/>
                <a:cs typeface="Arial"/>
              </a:rPr>
              <a:t>passed</a:t>
            </a:r>
            <a:r>
              <a:rPr sz="900" spc="-30" dirty="0">
                <a:latin typeface="Arial"/>
                <a:cs typeface="Arial"/>
              </a:rPr>
              <a:t> </a:t>
            </a:r>
            <a:r>
              <a:rPr sz="900" dirty="0">
                <a:latin typeface="Arial"/>
                <a:cs typeface="Arial"/>
              </a:rPr>
              <a:t>on,</a:t>
            </a:r>
            <a:r>
              <a:rPr sz="900" spc="-25" dirty="0">
                <a:latin typeface="Arial"/>
                <a:cs typeface="Arial"/>
              </a:rPr>
              <a:t> </a:t>
            </a:r>
            <a:r>
              <a:rPr sz="900" dirty="0">
                <a:latin typeface="Arial"/>
                <a:cs typeface="Arial"/>
              </a:rPr>
              <a:t>the</a:t>
            </a:r>
            <a:r>
              <a:rPr sz="900" spc="-30" dirty="0">
                <a:latin typeface="Arial"/>
                <a:cs typeface="Arial"/>
              </a:rPr>
              <a:t> </a:t>
            </a:r>
            <a:r>
              <a:rPr sz="900" dirty="0">
                <a:latin typeface="Arial"/>
                <a:cs typeface="Arial"/>
              </a:rPr>
              <a:t>sender</a:t>
            </a:r>
            <a:r>
              <a:rPr sz="900" spc="-25" dirty="0">
                <a:latin typeface="Arial"/>
                <a:cs typeface="Arial"/>
              </a:rPr>
              <a:t> </a:t>
            </a:r>
            <a:r>
              <a:rPr sz="900" dirty="0">
                <a:latin typeface="Arial"/>
                <a:cs typeface="Arial"/>
              </a:rPr>
              <a:t>adds</a:t>
            </a:r>
            <a:r>
              <a:rPr sz="900" spc="-25" dirty="0">
                <a:latin typeface="Arial"/>
                <a:cs typeface="Arial"/>
              </a:rPr>
              <a:t> </a:t>
            </a:r>
            <a:r>
              <a:rPr sz="900" dirty="0">
                <a:latin typeface="Arial"/>
                <a:cs typeface="Arial"/>
              </a:rPr>
              <a:t>itself</a:t>
            </a:r>
            <a:r>
              <a:rPr sz="900" spc="-30"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the</a:t>
            </a:r>
            <a:r>
              <a:rPr sz="900" spc="-30" dirty="0">
                <a:latin typeface="Arial"/>
                <a:cs typeface="Arial"/>
              </a:rPr>
              <a:t> </a:t>
            </a:r>
            <a:r>
              <a:rPr sz="900" dirty="0">
                <a:latin typeface="Arial"/>
                <a:cs typeface="Arial"/>
              </a:rPr>
              <a:t>list.</a:t>
            </a:r>
            <a:r>
              <a:rPr sz="900" spc="30" dirty="0">
                <a:latin typeface="Arial"/>
                <a:cs typeface="Arial"/>
              </a:rPr>
              <a:t> </a:t>
            </a:r>
            <a:r>
              <a:rPr sz="900" dirty="0">
                <a:latin typeface="Arial"/>
                <a:cs typeface="Arial"/>
              </a:rPr>
              <a:t>When</a:t>
            </a:r>
            <a:r>
              <a:rPr sz="900" spc="-30" dirty="0">
                <a:latin typeface="Arial"/>
                <a:cs typeface="Arial"/>
              </a:rPr>
              <a:t> </a:t>
            </a:r>
            <a:r>
              <a:rPr sz="900" dirty="0">
                <a:latin typeface="Arial"/>
                <a:cs typeface="Arial"/>
              </a:rPr>
              <a:t>it</a:t>
            </a:r>
            <a:r>
              <a:rPr sz="900" spc="-25" dirty="0">
                <a:latin typeface="Arial"/>
                <a:cs typeface="Arial"/>
              </a:rPr>
              <a:t> </a:t>
            </a:r>
            <a:r>
              <a:rPr sz="900" spc="-20" dirty="0">
                <a:latin typeface="Arial"/>
                <a:cs typeface="Arial"/>
              </a:rPr>
              <a:t>gets </a:t>
            </a:r>
            <a:r>
              <a:rPr sz="900" dirty="0">
                <a:latin typeface="Arial"/>
                <a:cs typeface="Arial"/>
              </a:rPr>
              <a:t>back</a:t>
            </a:r>
            <a:r>
              <a:rPr sz="900" spc="-25" dirty="0">
                <a:latin typeface="Arial"/>
                <a:cs typeface="Arial"/>
              </a:rPr>
              <a:t> </a:t>
            </a:r>
            <a:r>
              <a:rPr sz="900" dirty="0">
                <a:latin typeface="Arial"/>
                <a:cs typeface="Arial"/>
              </a:rPr>
              <a:t>to</a:t>
            </a:r>
            <a:r>
              <a:rPr sz="900" spc="-20" dirty="0">
                <a:latin typeface="Arial"/>
                <a:cs typeface="Arial"/>
              </a:rPr>
              <a:t> </a:t>
            </a:r>
            <a:r>
              <a:rPr sz="900" dirty="0">
                <a:latin typeface="Arial"/>
                <a:cs typeface="Arial"/>
              </a:rPr>
              <a:t>the</a:t>
            </a:r>
            <a:r>
              <a:rPr sz="900" spc="-20" dirty="0">
                <a:latin typeface="Arial"/>
                <a:cs typeface="Arial"/>
              </a:rPr>
              <a:t> </a:t>
            </a:r>
            <a:r>
              <a:rPr sz="900" spc="-10" dirty="0">
                <a:latin typeface="Arial"/>
                <a:cs typeface="Arial"/>
              </a:rPr>
              <a:t>initiator,</a:t>
            </a:r>
            <a:r>
              <a:rPr sz="900" spc="-20" dirty="0">
                <a:latin typeface="Arial"/>
                <a:cs typeface="Arial"/>
              </a:rPr>
              <a:t> </a:t>
            </a:r>
            <a:r>
              <a:rPr sz="900" spc="-10" dirty="0">
                <a:latin typeface="Arial"/>
                <a:cs typeface="Arial"/>
              </a:rPr>
              <a:t>everyone</a:t>
            </a:r>
            <a:r>
              <a:rPr sz="900" spc="-25" dirty="0">
                <a:latin typeface="Arial"/>
                <a:cs typeface="Arial"/>
              </a:rPr>
              <a:t> </a:t>
            </a:r>
            <a:r>
              <a:rPr sz="900" dirty="0">
                <a:latin typeface="Arial"/>
                <a:cs typeface="Arial"/>
              </a:rPr>
              <a:t>had</a:t>
            </a:r>
            <a:r>
              <a:rPr sz="900" spc="-20" dirty="0">
                <a:latin typeface="Arial"/>
                <a:cs typeface="Arial"/>
              </a:rPr>
              <a:t> </a:t>
            </a:r>
            <a:r>
              <a:rPr sz="900" dirty="0">
                <a:latin typeface="Arial"/>
                <a:cs typeface="Arial"/>
              </a:rPr>
              <a:t>a</a:t>
            </a:r>
            <a:r>
              <a:rPr sz="900" spc="-20" dirty="0">
                <a:latin typeface="Arial"/>
                <a:cs typeface="Arial"/>
              </a:rPr>
              <a:t> </a:t>
            </a:r>
            <a:r>
              <a:rPr sz="900" dirty="0">
                <a:latin typeface="Arial"/>
                <a:cs typeface="Arial"/>
              </a:rPr>
              <a:t>chance</a:t>
            </a:r>
            <a:r>
              <a:rPr sz="900" spc="-20" dirty="0">
                <a:latin typeface="Arial"/>
                <a:cs typeface="Arial"/>
              </a:rPr>
              <a:t> </a:t>
            </a:r>
            <a:r>
              <a:rPr sz="900" dirty="0">
                <a:latin typeface="Arial"/>
                <a:cs typeface="Arial"/>
              </a:rPr>
              <a:t>to</a:t>
            </a:r>
            <a:r>
              <a:rPr sz="900" spc="-20" dirty="0">
                <a:latin typeface="Arial"/>
                <a:cs typeface="Arial"/>
              </a:rPr>
              <a:t> </a:t>
            </a:r>
            <a:r>
              <a:rPr sz="900" dirty="0">
                <a:latin typeface="Arial"/>
                <a:cs typeface="Arial"/>
              </a:rPr>
              <a:t>make</a:t>
            </a:r>
            <a:r>
              <a:rPr sz="900" spc="-25" dirty="0">
                <a:latin typeface="Arial"/>
                <a:cs typeface="Arial"/>
              </a:rPr>
              <a:t> </a:t>
            </a:r>
            <a:r>
              <a:rPr sz="900" dirty="0">
                <a:latin typeface="Arial"/>
                <a:cs typeface="Arial"/>
              </a:rPr>
              <a:t>its</a:t>
            </a:r>
            <a:r>
              <a:rPr sz="900" spc="-20" dirty="0">
                <a:latin typeface="Arial"/>
                <a:cs typeface="Arial"/>
              </a:rPr>
              <a:t> </a:t>
            </a:r>
            <a:r>
              <a:rPr sz="900" dirty="0">
                <a:latin typeface="Arial"/>
                <a:cs typeface="Arial"/>
              </a:rPr>
              <a:t>presence</a:t>
            </a:r>
            <a:r>
              <a:rPr sz="900" spc="-20" dirty="0">
                <a:latin typeface="Arial"/>
                <a:cs typeface="Arial"/>
              </a:rPr>
              <a:t> </a:t>
            </a:r>
            <a:r>
              <a:rPr sz="900" spc="-10" dirty="0">
                <a:latin typeface="Arial"/>
                <a:cs typeface="Arial"/>
              </a:rPr>
              <a:t>known.</a:t>
            </a:r>
            <a:endParaRPr sz="900">
              <a:latin typeface="Arial"/>
              <a:cs typeface="Arial"/>
            </a:endParaRPr>
          </a:p>
          <a:p>
            <a:pPr marL="278130" marR="70485" indent="-120650">
              <a:lnSpc>
                <a:spcPct val="111600"/>
              </a:lnSpc>
              <a:spcBef>
                <a:spcPts val="400"/>
              </a:spcBef>
              <a:buClr>
                <a:srgbClr val="3333B2"/>
              </a:buClr>
              <a:buFont typeface="Menlo"/>
              <a:buChar char="•"/>
              <a:tabLst>
                <a:tab pos="274955" algn="l"/>
              </a:tabLst>
            </a:pPr>
            <a:r>
              <a:rPr sz="900" dirty="0">
                <a:latin typeface="Arial"/>
                <a:cs typeface="Arial"/>
              </a:rPr>
              <a:t>The</a:t>
            </a:r>
            <a:r>
              <a:rPr sz="900" spc="-30" dirty="0">
                <a:latin typeface="Arial"/>
                <a:cs typeface="Arial"/>
              </a:rPr>
              <a:t> </a:t>
            </a:r>
            <a:r>
              <a:rPr sz="900" dirty="0">
                <a:latin typeface="Arial"/>
                <a:cs typeface="Arial"/>
              </a:rPr>
              <a:t>initiator</a:t>
            </a:r>
            <a:r>
              <a:rPr sz="900" spc="-30" dirty="0">
                <a:latin typeface="Arial"/>
                <a:cs typeface="Arial"/>
              </a:rPr>
              <a:t> </a:t>
            </a:r>
            <a:r>
              <a:rPr sz="900" dirty="0">
                <a:latin typeface="Arial"/>
                <a:cs typeface="Arial"/>
              </a:rPr>
              <a:t>sends</a:t>
            </a:r>
            <a:r>
              <a:rPr sz="900" spc="-30" dirty="0">
                <a:latin typeface="Arial"/>
                <a:cs typeface="Arial"/>
              </a:rPr>
              <a:t> </a:t>
            </a:r>
            <a:r>
              <a:rPr sz="900" dirty="0">
                <a:latin typeface="Arial"/>
                <a:cs typeface="Arial"/>
              </a:rPr>
              <a:t>a</a:t>
            </a:r>
            <a:r>
              <a:rPr sz="900" spc="-30" dirty="0">
                <a:latin typeface="Arial"/>
                <a:cs typeface="Arial"/>
              </a:rPr>
              <a:t> </a:t>
            </a:r>
            <a:r>
              <a:rPr sz="900" dirty="0">
                <a:latin typeface="Arial"/>
                <a:cs typeface="Arial"/>
              </a:rPr>
              <a:t>coordinator</a:t>
            </a:r>
            <a:r>
              <a:rPr sz="900" spc="-30" dirty="0">
                <a:latin typeface="Arial"/>
                <a:cs typeface="Arial"/>
              </a:rPr>
              <a:t> </a:t>
            </a:r>
            <a:r>
              <a:rPr sz="900" dirty="0">
                <a:latin typeface="Arial"/>
                <a:cs typeface="Arial"/>
              </a:rPr>
              <a:t>message</a:t>
            </a:r>
            <a:r>
              <a:rPr sz="900" spc="-25" dirty="0">
                <a:latin typeface="Arial"/>
                <a:cs typeface="Arial"/>
              </a:rPr>
              <a:t> </a:t>
            </a:r>
            <a:r>
              <a:rPr sz="900" dirty="0">
                <a:latin typeface="Arial"/>
                <a:cs typeface="Arial"/>
              </a:rPr>
              <a:t>around</a:t>
            </a:r>
            <a:r>
              <a:rPr sz="900" spc="-30" dirty="0">
                <a:latin typeface="Arial"/>
                <a:cs typeface="Arial"/>
              </a:rPr>
              <a:t> </a:t>
            </a:r>
            <a:r>
              <a:rPr sz="900" dirty="0">
                <a:latin typeface="Arial"/>
                <a:cs typeface="Arial"/>
              </a:rPr>
              <a:t>the</a:t>
            </a:r>
            <a:r>
              <a:rPr sz="900" spc="-30" dirty="0">
                <a:latin typeface="Arial"/>
                <a:cs typeface="Arial"/>
              </a:rPr>
              <a:t> </a:t>
            </a:r>
            <a:r>
              <a:rPr sz="900" dirty="0">
                <a:latin typeface="Arial"/>
                <a:cs typeface="Arial"/>
              </a:rPr>
              <a:t>ring</a:t>
            </a:r>
            <a:r>
              <a:rPr sz="900" spc="-30" dirty="0">
                <a:latin typeface="Arial"/>
                <a:cs typeface="Arial"/>
              </a:rPr>
              <a:t> </a:t>
            </a:r>
            <a:r>
              <a:rPr sz="900" dirty="0">
                <a:latin typeface="Arial"/>
                <a:cs typeface="Arial"/>
              </a:rPr>
              <a:t>containing</a:t>
            </a:r>
            <a:r>
              <a:rPr sz="900" spc="-30" dirty="0">
                <a:latin typeface="Arial"/>
                <a:cs typeface="Arial"/>
              </a:rPr>
              <a:t> </a:t>
            </a:r>
            <a:r>
              <a:rPr sz="900" spc="-50" dirty="0">
                <a:latin typeface="Arial"/>
                <a:cs typeface="Arial"/>
              </a:rPr>
              <a:t>a</a:t>
            </a:r>
            <a:r>
              <a:rPr sz="900" dirty="0">
                <a:latin typeface="Arial"/>
                <a:cs typeface="Arial"/>
              </a:rPr>
              <a:t> list</a:t>
            </a:r>
            <a:r>
              <a:rPr sz="900" spc="-25" dirty="0">
                <a:latin typeface="Arial"/>
                <a:cs typeface="Arial"/>
              </a:rPr>
              <a:t> </a:t>
            </a:r>
            <a:r>
              <a:rPr sz="900" dirty="0">
                <a:latin typeface="Arial"/>
                <a:cs typeface="Arial"/>
              </a:rPr>
              <a:t>of</a:t>
            </a:r>
            <a:r>
              <a:rPr sz="900" spc="-25" dirty="0">
                <a:latin typeface="Arial"/>
                <a:cs typeface="Arial"/>
              </a:rPr>
              <a:t> </a:t>
            </a:r>
            <a:r>
              <a:rPr sz="900" dirty="0">
                <a:latin typeface="Arial"/>
                <a:cs typeface="Arial"/>
              </a:rPr>
              <a:t>all</a:t>
            </a:r>
            <a:r>
              <a:rPr sz="900" spc="-20" dirty="0">
                <a:latin typeface="Arial"/>
                <a:cs typeface="Arial"/>
              </a:rPr>
              <a:t> </a:t>
            </a:r>
            <a:r>
              <a:rPr sz="900" dirty="0">
                <a:latin typeface="Arial"/>
                <a:cs typeface="Arial"/>
              </a:rPr>
              <a:t>living</a:t>
            </a:r>
            <a:r>
              <a:rPr sz="900" spc="-25" dirty="0">
                <a:latin typeface="Arial"/>
                <a:cs typeface="Arial"/>
              </a:rPr>
              <a:t> </a:t>
            </a:r>
            <a:r>
              <a:rPr sz="900" dirty="0">
                <a:latin typeface="Arial"/>
                <a:cs typeface="Arial"/>
              </a:rPr>
              <a:t>processes.</a:t>
            </a:r>
            <a:r>
              <a:rPr sz="900" spc="35" dirty="0">
                <a:latin typeface="Arial"/>
                <a:cs typeface="Arial"/>
              </a:rPr>
              <a:t> </a:t>
            </a:r>
            <a:r>
              <a:rPr sz="900" dirty="0">
                <a:latin typeface="Arial"/>
                <a:cs typeface="Arial"/>
              </a:rPr>
              <a:t>The</a:t>
            </a:r>
            <a:r>
              <a:rPr sz="900" spc="-25" dirty="0">
                <a:latin typeface="Arial"/>
                <a:cs typeface="Arial"/>
              </a:rPr>
              <a:t> </a:t>
            </a:r>
            <a:r>
              <a:rPr sz="900" dirty="0">
                <a:latin typeface="Arial"/>
                <a:cs typeface="Arial"/>
              </a:rPr>
              <a:t>one</a:t>
            </a:r>
            <a:r>
              <a:rPr sz="900" spc="-20" dirty="0">
                <a:latin typeface="Arial"/>
                <a:cs typeface="Arial"/>
              </a:rPr>
              <a:t> </a:t>
            </a:r>
            <a:r>
              <a:rPr sz="900" dirty="0">
                <a:latin typeface="Arial"/>
                <a:cs typeface="Arial"/>
              </a:rPr>
              <a:t>with</a:t>
            </a:r>
            <a:r>
              <a:rPr sz="900" spc="-25" dirty="0">
                <a:latin typeface="Arial"/>
                <a:cs typeface="Arial"/>
              </a:rPr>
              <a:t> </a:t>
            </a:r>
            <a:r>
              <a:rPr sz="900" dirty="0">
                <a:latin typeface="Arial"/>
                <a:cs typeface="Arial"/>
              </a:rPr>
              <a:t>the</a:t>
            </a:r>
            <a:r>
              <a:rPr sz="900" spc="-25" dirty="0">
                <a:latin typeface="Arial"/>
                <a:cs typeface="Arial"/>
              </a:rPr>
              <a:t> </a:t>
            </a:r>
            <a:r>
              <a:rPr sz="900" dirty="0">
                <a:latin typeface="Arial"/>
                <a:cs typeface="Arial"/>
              </a:rPr>
              <a:t>highest</a:t>
            </a:r>
            <a:r>
              <a:rPr sz="900" spc="-20" dirty="0">
                <a:latin typeface="Arial"/>
                <a:cs typeface="Arial"/>
              </a:rPr>
              <a:t> </a:t>
            </a:r>
            <a:r>
              <a:rPr sz="900" dirty="0">
                <a:latin typeface="Arial"/>
                <a:cs typeface="Arial"/>
              </a:rPr>
              <a:t>priority</a:t>
            </a:r>
            <a:r>
              <a:rPr sz="900" spc="-25" dirty="0">
                <a:latin typeface="Arial"/>
                <a:cs typeface="Arial"/>
              </a:rPr>
              <a:t> </a:t>
            </a:r>
            <a:r>
              <a:rPr sz="900" dirty="0">
                <a:latin typeface="Arial"/>
                <a:cs typeface="Arial"/>
              </a:rPr>
              <a:t>is</a:t>
            </a:r>
            <a:r>
              <a:rPr sz="900" spc="-20" dirty="0">
                <a:latin typeface="Arial"/>
                <a:cs typeface="Arial"/>
              </a:rPr>
              <a:t> </a:t>
            </a:r>
            <a:r>
              <a:rPr sz="900" dirty="0">
                <a:latin typeface="Arial"/>
                <a:cs typeface="Arial"/>
              </a:rPr>
              <a:t>elected</a:t>
            </a:r>
            <a:r>
              <a:rPr sz="900" spc="-25" dirty="0">
                <a:latin typeface="Arial"/>
                <a:cs typeface="Arial"/>
              </a:rPr>
              <a:t> as </a:t>
            </a:r>
            <a:r>
              <a:rPr sz="900" spc="-10" dirty="0">
                <a:latin typeface="Arial"/>
                <a:cs typeface="Arial"/>
              </a:rPr>
              <a:t>coordinator.</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470534"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A</a:t>
            </a:r>
            <a:r>
              <a:rPr sz="500" spc="-10" dirty="0">
                <a:latin typeface="Arial"/>
                <a:cs typeface="Arial"/>
                <a:hlinkClick r:id="rId4" action="ppaction://hlinksldjump"/>
              </a:rPr>
              <a:t> </a:t>
            </a:r>
            <a:r>
              <a:rPr sz="500" dirty="0">
                <a:latin typeface="Arial"/>
                <a:cs typeface="Arial"/>
                <a:hlinkClick r:id="rId4" action="ppaction://hlinksldjump"/>
              </a:rPr>
              <a:t>ring</a:t>
            </a:r>
            <a:r>
              <a:rPr sz="500" spc="-10" dirty="0">
                <a:latin typeface="Arial"/>
                <a:cs typeface="Arial"/>
                <a:hlinkClick r:id="rId4" action="ppaction://hlinksldjump"/>
              </a:rPr>
              <a:t> algorithm</a:t>
            </a:r>
            <a:endParaRPr sz="500">
              <a:latin typeface="Arial"/>
              <a:cs typeface="Arial"/>
            </a:endParaRPr>
          </a:p>
        </p:txBody>
      </p:sp>
    </p:spTree>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8417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Coordination</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993806" y="-1515"/>
            <a:ext cx="561340"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Election</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algorithms</a:t>
            </a:r>
            <a:endParaRPr sz="500">
              <a:latin typeface="Arial"/>
              <a:cs typeface="Arial"/>
            </a:endParaRPr>
          </a:p>
        </p:txBody>
      </p:sp>
      <p:sp>
        <p:nvSpPr>
          <p:cNvPr id="5" name="object 5"/>
          <p:cNvSpPr txBox="1"/>
          <p:nvPr/>
        </p:nvSpPr>
        <p:spPr>
          <a:xfrm>
            <a:off x="95300" y="197711"/>
            <a:ext cx="1976120" cy="49466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Election</a:t>
            </a:r>
            <a:r>
              <a:rPr sz="1200" spc="-25" dirty="0">
                <a:solidFill>
                  <a:srgbClr val="3333B2"/>
                </a:solidFill>
                <a:latin typeface="Arial"/>
                <a:cs typeface="Arial"/>
              </a:rPr>
              <a:t> </a:t>
            </a:r>
            <a:r>
              <a:rPr sz="1200" dirty="0">
                <a:solidFill>
                  <a:srgbClr val="3333B2"/>
                </a:solidFill>
                <a:latin typeface="Arial"/>
                <a:cs typeface="Arial"/>
              </a:rPr>
              <a:t>in</a:t>
            </a:r>
            <a:r>
              <a:rPr sz="1200" spc="-25" dirty="0">
                <a:solidFill>
                  <a:srgbClr val="3333B2"/>
                </a:solidFill>
                <a:latin typeface="Arial"/>
                <a:cs typeface="Arial"/>
              </a:rPr>
              <a:t> </a:t>
            </a:r>
            <a:r>
              <a:rPr sz="1200" dirty="0">
                <a:solidFill>
                  <a:srgbClr val="3333B2"/>
                </a:solidFill>
                <a:latin typeface="Arial"/>
                <a:cs typeface="Arial"/>
              </a:rPr>
              <a:t>a</a:t>
            </a:r>
            <a:r>
              <a:rPr sz="1200" spc="-25" dirty="0">
                <a:solidFill>
                  <a:srgbClr val="3333B2"/>
                </a:solidFill>
                <a:latin typeface="Arial"/>
                <a:cs typeface="Arial"/>
              </a:rPr>
              <a:t> </a:t>
            </a:r>
            <a:r>
              <a:rPr sz="1200" spc="-20" dirty="0">
                <a:solidFill>
                  <a:srgbClr val="3333B2"/>
                </a:solidFill>
                <a:latin typeface="Arial"/>
                <a:cs typeface="Arial"/>
              </a:rPr>
              <a:t>ring</a:t>
            </a:r>
            <a:endParaRPr sz="1200">
              <a:latin typeface="Arial"/>
              <a:cs typeface="Arial"/>
            </a:endParaRPr>
          </a:p>
          <a:p>
            <a:pPr marL="264160">
              <a:lnSpc>
                <a:spcPct val="100000"/>
              </a:lnSpc>
              <a:spcBef>
                <a:spcPts val="1055"/>
              </a:spcBef>
            </a:pPr>
            <a:r>
              <a:rPr sz="1000" dirty="0">
                <a:solidFill>
                  <a:srgbClr val="3333B2"/>
                </a:solidFill>
                <a:latin typeface="Arial"/>
                <a:cs typeface="Arial"/>
              </a:rPr>
              <a:t>Election</a:t>
            </a:r>
            <a:r>
              <a:rPr sz="1000" spc="-30" dirty="0">
                <a:solidFill>
                  <a:srgbClr val="3333B2"/>
                </a:solidFill>
                <a:latin typeface="Arial"/>
                <a:cs typeface="Arial"/>
              </a:rPr>
              <a:t> </a:t>
            </a:r>
            <a:r>
              <a:rPr sz="1000" dirty="0">
                <a:solidFill>
                  <a:srgbClr val="3333B2"/>
                </a:solidFill>
                <a:latin typeface="Arial"/>
                <a:cs typeface="Arial"/>
              </a:rPr>
              <a:t>algorithm</a:t>
            </a:r>
            <a:r>
              <a:rPr sz="1000" spc="-30" dirty="0">
                <a:solidFill>
                  <a:srgbClr val="3333B2"/>
                </a:solidFill>
                <a:latin typeface="Arial"/>
                <a:cs typeface="Arial"/>
              </a:rPr>
              <a:t> </a:t>
            </a:r>
            <a:r>
              <a:rPr sz="1000" dirty="0">
                <a:solidFill>
                  <a:srgbClr val="3333B2"/>
                </a:solidFill>
                <a:latin typeface="Arial"/>
                <a:cs typeface="Arial"/>
              </a:rPr>
              <a:t>using</a:t>
            </a:r>
            <a:r>
              <a:rPr sz="1000" spc="-30" dirty="0">
                <a:solidFill>
                  <a:srgbClr val="3333B2"/>
                </a:solidFill>
                <a:latin typeface="Arial"/>
                <a:cs typeface="Arial"/>
              </a:rPr>
              <a:t> </a:t>
            </a:r>
            <a:r>
              <a:rPr sz="1000" dirty="0">
                <a:solidFill>
                  <a:srgbClr val="3333B2"/>
                </a:solidFill>
                <a:latin typeface="Arial"/>
                <a:cs typeface="Arial"/>
              </a:rPr>
              <a:t>a</a:t>
            </a:r>
            <a:r>
              <a:rPr sz="1000" spc="-30" dirty="0">
                <a:solidFill>
                  <a:srgbClr val="3333B2"/>
                </a:solidFill>
                <a:latin typeface="Arial"/>
                <a:cs typeface="Arial"/>
              </a:rPr>
              <a:t> </a:t>
            </a:r>
            <a:r>
              <a:rPr sz="1000" spc="-20" dirty="0">
                <a:solidFill>
                  <a:srgbClr val="3333B2"/>
                </a:solidFill>
                <a:latin typeface="Arial"/>
                <a:cs typeface="Arial"/>
              </a:rPr>
              <a:t>ring</a:t>
            </a:r>
            <a:endParaRPr sz="1000">
              <a:latin typeface="Arial"/>
              <a:cs typeface="Arial"/>
            </a:endParaRPr>
          </a:p>
        </p:txBody>
      </p:sp>
      <p:pic>
        <p:nvPicPr>
          <p:cNvPr id="6" name="object 6"/>
          <p:cNvPicPr/>
          <p:nvPr/>
        </p:nvPicPr>
        <p:blipFill>
          <a:blip r:embed="rId4" cstate="print"/>
          <a:stretch>
            <a:fillRect/>
          </a:stretch>
        </p:blipFill>
        <p:spPr>
          <a:xfrm>
            <a:off x="952032" y="796319"/>
            <a:ext cx="2702683" cy="1136276"/>
          </a:xfrm>
          <a:prstGeom prst="rect">
            <a:avLst/>
          </a:prstGeom>
        </p:spPr>
      </p:pic>
      <p:sp>
        <p:nvSpPr>
          <p:cNvPr id="7" name="object 7"/>
          <p:cNvSpPr txBox="1"/>
          <p:nvPr/>
        </p:nvSpPr>
        <p:spPr>
          <a:xfrm>
            <a:off x="454748" y="2054012"/>
            <a:ext cx="3111500" cy="433070"/>
          </a:xfrm>
          <a:prstGeom prst="rect">
            <a:avLst/>
          </a:prstGeom>
        </p:spPr>
        <p:txBody>
          <a:bodyPr vert="horz" wrap="square" lIns="0" tIns="79375" rIns="0" bIns="0" rtlCol="0">
            <a:spAutoFit/>
          </a:bodyPr>
          <a:lstStyle/>
          <a:p>
            <a:pPr marL="154305" indent="-116839">
              <a:lnSpc>
                <a:spcPct val="100000"/>
              </a:lnSpc>
              <a:spcBef>
                <a:spcPts val="625"/>
              </a:spcBef>
              <a:buClr>
                <a:srgbClr val="3333B2"/>
              </a:buClr>
              <a:buFont typeface="Menlo"/>
              <a:buChar char="•"/>
              <a:tabLst>
                <a:tab pos="154940" algn="l"/>
              </a:tabLst>
            </a:pPr>
            <a:r>
              <a:rPr sz="900" dirty="0">
                <a:latin typeface="Arial"/>
                <a:cs typeface="Arial"/>
              </a:rPr>
              <a:t>The</a:t>
            </a:r>
            <a:r>
              <a:rPr sz="900" spc="-35" dirty="0">
                <a:latin typeface="Arial"/>
                <a:cs typeface="Arial"/>
              </a:rPr>
              <a:t> </a:t>
            </a:r>
            <a:r>
              <a:rPr sz="900" dirty="0">
                <a:latin typeface="Arial"/>
                <a:cs typeface="Arial"/>
              </a:rPr>
              <a:t>solid</a:t>
            </a:r>
            <a:r>
              <a:rPr sz="900" spc="-30" dirty="0">
                <a:latin typeface="Arial"/>
                <a:cs typeface="Arial"/>
              </a:rPr>
              <a:t> </a:t>
            </a:r>
            <a:r>
              <a:rPr sz="900" dirty="0">
                <a:latin typeface="Arial"/>
                <a:cs typeface="Arial"/>
              </a:rPr>
              <a:t>line</a:t>
            </a:r>
            <a:r>
              <a:rPr sz="900" spc="-30" dirty="0">
                <a:latin typeface="Arial"/>
                <a:cs typeface="Arial"/>
              </a:rPr>
              <a:t> </a:t>
            </a:r>
            <a:r>
              <a:rPr sz="900" dirty="0">
                <a:latin typeface="Arial"/>
                <a:cs typeface="Arial"/>
              </a:rPr>
              <a:t>shows</a:t>
            </a:r>
            <a:r>
              <a:rPr sz="900" spc="-30" dirty="0">
                <a:latin typeface="Arial"/>
                <a:cs typeface="Arial"/>
              </a:rPr>
              <a:t> </a:t>
            </a:r>
            <a:r>
              <a:rPr sz="900" dirty="0">
                <a:latin typeface="Arial"/>
                <a:cs typeface="Arial"/>
              </a:rPr>
              <a:t>the</a:t>
            </a:r>
            <a:r>
              <a:rPr sz="900" spc="-30" dirty="0">
                <a:latin typeface="Arial"/>
                <a:cs typeface="Arial"/>
              </a:rPr>
              <a:t> </a:t>
            </a:r>
            <a:r>
              <a:rPr sz="900" dirty="0">
                <a:latin typeface="Arial"/>
                <a:cs typeface="Arial"/>
              </a:rPr>
              <a:t>election</a:t>
            </a:r>
            <a:r>
              <a:rPr sz="900" spc="-35" dirty="0">
                <a:latin typeface="Arial"/>
                <a:cs typeface="Arial"/>
              </a:rPr>
              <a:t> </a:t>
            </a:r>
            <a:r>
              <a:rPr sz="900" dirty="0">
                <a:latin typeface="Arial"/>
                <a:cs typeface="Arial"/>
              </a:rPr>
              <a:t>messages</a:t>
            </a:r>
            <a:r>
              <a:rPr sz="900" spc="-30" dirty="0">
                <a:latin typeface="Arial"/>
                <a:cs typeface="Arial"/>
              </a:rPr>
              <a:t> </a:t>
            </a:r>
            <a:r>
              <a:rPr sz="900" dirty="0">
                <a:latin typeface="Arial"/>
                <a:cs typeface="Arial"/>
              </a:rPr>
              <a:t>initiated</a:t>
            </a:r>
            <a:r>
              <a:rPr sz="900" spc="-30" dirty="0">
                <a:latin typeface="Arial"/>
                <a:cs typeface="Arial"/>
              </a:rPr>
              <a:t> </a:t>
            </a:r>
            <a:r>
              <a:rPr sz="900" dirty="0">
                <a:latin typeface="Arial"/>
                <a:cs typeface="Arial"/>
              </a:rPr>
              <a:t>by</a:t>
            </a:r>
            <a:r>
              <a:rPr sz="900" spc="-30" dirty="0">
                <a:latin typeface="Arial"/>
                <a:cs typeface="Arial"/>
              </a:rPr>
              <a:t> </a:t>
            </a:r>
            <a:r>
              <a:rPr sz="900" i="1" spc="-25" dirty="0">
                <a:latin typeface="Arial"/>
                <a:cs typeface="Arial"/>
              </a:rPr>
              <a:t>P</a:t>
            </a:r>
            <a:r>
              <a:rPr sz="1050" i="1" spc="-37" baseline="-15873" dirty="0">
                <a:latin typeface="Arial"/>
                <a:cs typeface="Arial"/>
              </a:rPr>
              <a:t>6</a:t>
            </a:r>
            <a:endParaRPr sz="1050" baseline="-15873">
              <a:latin typeface="Arial"/>
              <a:cs typeface="Arial"/>
            </a:endParaRPr>
          </a:p>
          <a:p>
            <a:pPr marL="154305" indent="-116839">
              <a:lnSpc>
                <a:spcPct val="100000"/>
              </a:lnSpc>
              <a:spcBef>
                <a:spcPts val="520"/>
              </a:spcBef>
              <a:buClr>
                <a:srgbClr val="3333B2"/>
              </a:buClr>
              <a:buFont typeface="Menlo"/>
              <a:buChar char="•"/>
              <a:tabLst>
                <a:tab pos="154940" algn="l"/>
              </a:tabLst>
            </a:pPr>
            <a:r>
              <a:rPr sz="900" dirty="0">
                <a:latin typeface="Arial"/>
                <a:cs typeface="Arial"/>
              </a:rPr>
              <a:t>The</a:t>
            </a:r>
            <a:r>
              <a:rPr sz="900" spc="-35" dirty="0">
                <a:latin typeface="Arial"/>
                <a:cs typeface="Arial"/>
              </a:rPr>
              <a:t> </a:t>
            </a:r>
            <a:r>
              <a:rPr sz="900" dirty="0">
                <a:latin typeface="Arial"/>
                <a:cs typeface="Arial"/>
              </a:rPr>
              <a:t>dashed</a:t>
            </a:r>
            <a:r>
              <a:rPr sz="900" spc="-30" dirty="0">
                <a:latin typeface="Arial"/>
                <a:cs typeface="Arial"/>
              </a:rPr>
              <a:t> </a:t>
            </a:r>
            <a:r>
              <a:rPr sz="900" dirty="0">
                <a:latin typeface="Arial"/>
                <a:cs typeface="Arial"/>
              </a:rPr>
              <a:t>one,</a:t>
            </a:r>
            <a:r>
              <a:rPr sz="900" spc="-35" dirty="0">
                <a:latin typeface="Arial"/>
                <a:cs typeface="Arial"/>
              </a:rPr>
              <a:t> </a:t>
            </a:r>
            <a:r>
              <a:rPr sz="900" dirty="0">
                <a:latin typeface="Arial"/>
                <a:cs typeface="Arial"/>
              </a:rPr>
              <a:t>the</a:t>
            </a:r>
            <a:r>
              <a:rPr sz="900" spc="-30" dirty="0">
                <a:latin typeface="Arial"/>
                <a:cs typeface="Arial"/>
              </a:rPr>
              <a:t> </a:t>
            </a:r>
            <a:r>
              <a:rPr sz="900" dirty="0">
                <a:latin typeface="Arial"/>
                <a:cs typeface="Arial"/>
              </a:rPr>
              <a:t>messages</a:t>
            </a:r>
            <a:r>
              <a:rPr sz="900" spc="-30" dirty="0">
                <a:latin typeface="Arial"/>
                <a:cs typeface="Arial"/>
              </a:rPr>
              <a:t> </a:t>
            </a:r>
            <a:r>
              <a:rPr sz="900" dirty="0">
                <a:latin typeface="Arial"/>
                <a:cs typeface="Arial"/>
              </a:rPr>
              <a:t>by</a:t>
            </a:r>
            <a:r>
              <a:rPr sz="900" spc="-35" dirty="0">
                <a:latin typeface="Arial"/>
                <a:cs typeface="Arial"/>
              </a:rPr>
              <a:t> </a:t>
            </a:r>
            <a:r>
              <a:rPr sz="900" i="1" spc="-25" dirty="0">
                <a:latin typeface="Arial"/>
                <a:cs typeface="Arial"/>
              </a:rPr>
              <a:t>P</a:t>
            </a:r>
            <a:r>
              <a:rPr sz="1050" i="1" spc="-37" baseline="-15873" dirty="0">
                <a:latin typeface="Arial"/>
                <a:cs typeface="Arial"/>
              </a:rPr>
              <a:t>3</a:t>
            </a:r>
            <a:endParaRPr sz="1050" baseline="-15873">
              <a:latin typeface="Arial"/>
              <a:cs typeface="Arial"/>
            </a:endParaRPr>
          </a:p>
        </p:txBody>
      </p:sp>
      <p:grpSp>
        <p:nvGrpSpPr>
          <p:cNvPr id="8" name="object 8"/>
          <p:cNvGrpSpPr/>
          <p:nvPr/>
        </p:nvGrpSpPr>
        <p:grpSpPr>
          <a:xfrm>
            <a:off x="0" y="3348469"/>
            <a:ext cx="4608195" cy="107950"/>
            <a:chOff x="0" y="3348469"/>
            <a:chExt cx="4608195" cy="107950"/>
          </a:xfrm>
        </p:grpSpPr>
        <p:sp>
          <p:nvSpPr>
            <p:cNvPr id="9" name="object 9"/>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0" name="object 10"/>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1" name="object 11"/>
          <p:cNvSpPr txBox="1"/>
          <p:nvPr/>
        </p:nvSpPr>
        <p:spPr>
          <a:xfrm>
            <a:off x="53467" y="3349927"/>
            <a:ext cx="470534"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5" action="ppaction://hlinksldjump"/>
              </a:rPr>
              <a:t>A</a:t>
            </a:r>
            <a:r>
              <a:rPr sz="500" spc="-10" dirty="0">
                <a:latin typeface="Arial"/>
                <a:cs typeface="Arial"/>
                <a:hlinkClick r:id="rId5" action="ppaction://hlinksldjump"/>
              </a:rPr>
              <a:t> </a:t>
            </a:r>
            <a:r>
              <a:rPr sz="500" dirty="0">
                <a:latin typeface="Arial"/>
                <a:cs typeface="Arial"/>
                <a:hlinkClick r:id="rId5" action="ppaction://hlinksldjump"/>
              </a:rPr>
              <a:t>ring</a:t>
            </a:r>
            <a:r>
              <a:rPr sz="500" spc="-10" dirty="0">
                <a:latin typeface="Arial"/>
                <a:cs typeface="Arial"/>
                <a:hlinkClick r:id="rId5" action="ppaction://hlinksldjump"/>
              </a:rPr>
              <a:t> algorithm</a:t>
            </a:r>
            <a:endParaRPr sz="500">
              <a:latin typeface="Arial"/>
              <a:cs typeface="Arial"/>
            </a:endParaRPr>
          </a:p>
        </p:txBody>
      </p:sp>
    </p:spTree>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952875" algn="l"/>
              </a:tabLst>
            </a:pPr>
            <a:r>
              <a:rPr sz="500" spc="-10" dirty="0">
                <a:latin typeface="Arial"/>
                <a:cs typeface="Arial"/>
                <a:hlinkClick r:id="rId2" action="ppaction://hlinksldjump"/>
              </a:rPr>
              <a:t>Coordination</a:t>
            </a:r>
            <a:r>
              <a:rPr sz="500" dirty="0">
                <a:latin typeface="Arial"/>
                <a:cs typeface="Arial"/>
              </a:rPr>
              <a:t>	</a:t>
            </a:r>
            <a:r>
              <a:rPr sz="500" dirty="0">
                <a:solidFill>
                  <a:srgbClr val="FFFFFF"/>
                </a:solidFill>
                <a:latin typeface="Arial"/>
                <a:cs typeface="Arial"/>
                <a:hlinkClick r:id="rId3" action="ppaction://hlinksldjump"/>
              </a:rPr>
              <a:t>Election</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algorithms</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Example:</a:t>
            </a:r>
            <a:r>
              <a:rPr spc="35" dirty="0"/>
              <a:t> </a:t>
            </a:r>
            <a:r>
              <a:rPr dirty="0"/>
              <a:t>Leader</a:t>
            </a:r>
            <a:r>
              <a:rPr spc="-35" dirty="0"/>
              <a:t> </a:t>
            </a:r>
            <a:r>
              <a:rPr dirty="0"/>
              <a:t>election</a:t>
            </a:r>
            <a:r>
              <a:rPr spc="-35" dirty="0"/>
              <a:t> </a:t>
            </a:r>
            <a:r>
              <a:rPr dirty="0">
                <a:solidFill>
                  <a:srgbClr val="C80000"/>
                </a:solidFill>
              </a:rPr>
              <a:t>in</a:t>
            </a:r>
            <a:r>
              <a:rPr spc="-35" dirty="0">
                <a:solidFill>
                  <a:srgbClr val="C80000"/>
                </a:solidFill>
              </a:rPr>
              <a:t> </a:t>
            </a:r>
            <a:r>
              <a:rPr spc="-10" dirty="0"/>
              <a:t>ZooKeeper</a:t>
            </a:r>
            <a:r>
              <a:rPr spc="-35" dirty="0"/>
              <a:t> </a:t>
            </a:r>
            <a:r>
              <a:rPr dirty="0"/>
              <a:t>server</a:t>
            </a:r>
            <a:r>
              <a:rPr spc="-35" dirty="0"/>
              <a:t> </a:t>
            </a:r>
            <a:r>
              <a:rPr spc="-10" dirty="0"/>
              <a:t>group</a:t>
            </a:r>
          </a:p>
        </p:txBody>
      </p:sp>
      <p:sp>
        <p:nvSpPr>
          <p:cNvPr id="4" name="object 4"/>
          <p:cNvSpPr txBox="1"/>
          <p:nvPr/>
        </p:nvSpPr>
        <p:spPr>
          <a:xfrm>
            <a:off x="334594" y="443244"/>
            <a:ext cx="3838575" cy="2336800"/>
          </a:xfrm>
          <a:prstGeom prst="rect">
            <a:avLst/>
          </a:prstGeom>
        </p:spPr>
        <p:txBody>
          <a:bodyPr vert="horz" wrap="square" lIns="0" tIns="83820" rIns="0" bIns="0" rtlCol="0">
            <a:spAutoFit/>
          </a:bodyPr>
          <a:lstStyle/>
          <a:p>
            <a:pPr marL="25400">
              <a:lnSpc>
                <a:spcPct val="100000"/>
              </a:lnSpc>
              <a:spcBef>
                <a:spcPts val="660"/>
              </a:spcBef>
            </a:pPr>
            <a:r>
              <a:rPr sz="1000" spc="-10" dirty="0">
                <a:solidFill>
                  <a:srgbClr val="3333B2"/>
                </a:solidFill>
                <a:latin typeface="Arial"/>
                <a:cs typeface="Arial"/>
              </a:rPr>
              <a:t>Basics</a:t>
            </a:r>
            <a:endParaRPr sz="1000">
              <a:latin typeface="Arial"/>
              <a:cs typeface="Arial"/>
            </a:endParaRPr>
          </a:p>
          <a:p>
            <a:pPr marL="278130" indent="-120650">
              <a:lnSpc>
                <a:spcPct val="100000"/>
              </a:lnSpc>
              <a:spcBef>
                <a:spcPts val="500"/>
              </a:spcBef>
              <a:buClr>
                <a:srgbClr val="3333B2"/>
              </a:buClr>
              <a:buFont typeface="Menlo"/>
              <a:buChar char="•"/>
              <a:tabLst>
                <a:tab pos="278765" algn="l"/>
              </a:tabLst>
            </a:pPr>
            <a:r>
              <a:rPr sz="900" dirty="0">
                <a:latin typeface="Arial"/>
                <a:cs typeface="Arial"/>
              </a:rPr>
              <a:t>Each</a:t>
            </a:r>
            <a:r>
              <a:rPr sz="900" spc="-25" dirty="0">
                <a:latin typeface="Arial"/>
                <a:cs typeface="Arial"/>
              </a:rPr>
              <a:t> </a:t>
            </a:r>
            <a:r>
              <a:rPr sz="900" dirty="0">
                <a:latin typeface="Arial"/>
                <a:cs typeface="Arial"/>
              </a:rPr>
              <a:t>server</a:t>
            </a:r>
            <a:r>
              <a:rPr sz="900" spc="-25" dirty="0">
                <a:latin typeface="Arial"/>
                <a:cs typeface="Arial"/>
              </a:rPr>
              <a:t> </a:t>
            </a:r>
            <a:r>
              <a:rPr sz="900" i="1" dirty="0">
                <a:latin typeface="Arial"/>
                <a:cs typeface="Arial"/>
              </a:rPr>
              <a:t>s</a:t>
            </a:r>
            <a:r>
              <a:rPr sz="900" i="1" spc="5" dirty="0">
                <a:latin typeface="Arial"/>
                <a:cs typeface="Arial"/>
              </a:rPr>
              <a:t> </a:t>
            </a:r>
            <a:r>
              <a:rPr sz="900" dirty="0">
                <a:latin typeface="Arial"/>
                <a:cs typeface="Arial"/>
              </a:rPr>
              <a:t>in</a:t>
            </a:r>
            <a:r>
              <a:rPr sz="900" spc="-25" dirty="0">
                <a:latin typeface="Arial"/>
                <a:cs typeface="Arial"/>
              </a:rPr>
              <a:t> </a:t>
            </a:r>
            <a:r>
              <a:rPr sz="900" dirty="0">
                <a:latin typeface="Arial"/>
                <a:cs typeface="Arial"/>
              </a:rPr>
              <a:t>the</a:t>
            </a:r>
            <a:r>
              <a:rPr sz="900" spc="-20" dirty="0">
                <a:latin typeface="Arial"/>
                <a:cs typeface="Arial"/>
              </a:rPr>
              <a:t> </a:t>
            </a:r>
            <a:r>
              <a:rPr sz="900" dirty="0">
                <a:latin typeface="Arial"/>
                <a:cs typeface="Arial"/>
              </a:rPr>
              <a:t>server</a:t>
            </a:r>
            <a:r>
              <a:rPr sz="900" spc="-25" dirty="0">
                <a:latin typeface="Arial"/>
                <a:cs typeface="Arial"/>
              </a:rPr>
              <a:t> </a:t>
            </a:r>
            <a:r>
              <a:rPr sz="900" dirty="0">
                <a:latin typeface="Arial"/>
                <a:cs typeface="Arial"/>
              </a:rPr>
              <a:t>group</a:t>
            </a:r>
            <a:r>
              <a:rPr sz="900" spc="-25" dirty="0">
                <a:latin typeface="Arial"/>
                <a:cs typeface="Arial"/>
              </a:rPr>
              <a:t> </a:t>
            </a:r>
            <a:r>
              <a:rPr sz="900" dirty="0">
                <a:latin typeface="Arial"/>
                <a:cs typeface="Arial"/>
              </a:rPr>
              <a:t>has</a:t>
            </a:r>
            <a:r>
              <a:rPr sz="900" spc="-20" dirty="0">
                <a:latin typeface="Arial"/>
                <a:cs typeface="Arial"/>
              </a:rPr>
              <a:t> </a:t>
            </a:r>
            <a:r>
              <a:rPr sz="900" dirty="0">
                <a:latin typeface="Arial"/>
                <a:cs typeface="Arial"/>
              </a:rPr>
              <a:t>an</a:t>
            </a:r>
            <a:r>
              <a:rPr sz="900" spc="-25" dirty="0">
                <a:latin typeface="Arial"/>
                <a:cs typeface="Arial"/>
              </a:rPr>
              <a:t> </a:t>
            </a:r>
            <a:r>
              <a:rPr sz="900" dirty="0">
                <a:latin typeface="Arial"/>
                <a:cs typeface="Arial"/>
              </a:rPr>
              <a:t>identifier</a:t>
            </a:r>
            <a:r>
              <a:rPr sz="900" spc="-25" dirty="0">
                <a:latin typeface="Arial"/>
                <a:cs typeface="Arial"/>
              </a:rPr>
              <a:t> </a:t>
            </a:r>
            <a:r>
              <a:rPr sz="900" i="1" spc="-20" dirty="0">
                <a:solidFill>
                  <a:srgbClr val="3333B2"/>
                </a:solidFill>
                <a:latin typeface="Arial"/>
                <a:cs typeface="Arial"/>
              </a:rPr>
              <a:t>id</a:t>
            </a:r>
            <a:r>
              <a:rPr sz="900" spc="-20" dirty="0">
                <a:solidFill>
                  <a:srgbClr val="3333B2"/>
                </a:solidFill>
                <a:latin typeface="Arial"/>
                <a:cs typeface="Arial"/>
              </a:rPr>
              <a:t>(</a:t>
            </a:r>
            <a:r>
              <a:rPr sz="900" i="1" spc="-20" dirty="0">
                <a:solidFill>
                  <a:srgbClr val="3333B2"/>
                </a:solidFill>
                <a:latin typeface="Arial"/>
                <a:cs typeface="Arial"/>
              </a:rPr>
              <a:t>s</a:t>
            </a:r>
            <a:r>
              <a:rPr sz="900" spc="-20" dirty="0">
                <a:solidFill>
                  <a:srgbClr val="3333B2"/>
                </a:solidFill>
                <a:latin typeface="Arial"/>
                <a:cs typeface="Arial"/>
              </a:rPr>
              <a:t>)</a:t>
            </a:r>
            <a:endParaRPr sz="900">
              <a:latin typeface="Arial"/>
              <a:cs typeface="Arial"/>
            </a:endParaRPr>
          </a:p>
          <a:p>
            <a:pPr marL="278130" marR="67310" indent="-120650">
              <a:lnSpc>
                <a:spcPct val="111600"/>
              </a:lnSpc>
              <a:spcBef>
                <a:spcPts val="300"/>
              </a:spcBef>
              <a:buClr>
                <a:srgbClr val="3333B2"/>
              </a:buClr>
              <a:buFont typeface="Menlo"/>
              <a:buChar char="•"/>
              <a:tabLst>
                <a:tab pos="278765" algn="l"/>
              </a:tabLst>
            </a:pPr>
            <a:r>
              <a:rPr sz="900" dirty="0">
                <a:latin typeface="Arial"/>
                <a:cs typeface="Arial"/>
              </a:rPr>
              <a:t>Each</a:t>
            </a:r>
            <a:r>
              <a:rPr sz="900" spc="-30" dirty="0">
                <a:latin typeface="Arial"/>
                <a:cs typeface="Arial"/>
              </a:rPr>
              <a:t> </a:t>
            </a:r>
            <a:r>
              <a:rPr sz="900" dirty="0">
                <a:latin typeface="Arial"/>
                <a:cs typeface="Arial"/>
              </a:rPr>
              <a:t>server</a:t>
            </a:r>
            <a:r>
              <a:rPr sz="900" spc="-25" dirty="0">
                <a:latin typeface="Arial"/>
                <a:cs typeface="Arial"/>
              </a:rPr>
              <a:t> </a:t>
            </a:r>
            <a:r>
              <a:rPr sz="900" dirty="0">
                <a:latin typeface="Arial"/>
                <a:cs typeface="Arial"/>
              </a:rPr>
              <a:t>has</a:t>
            </a:r>
            <a:r>
              <a:rPr sz="900" spc="-25" dirty="0">
                <a:latin typeface="Arial"/>
                <a:cs typeface="Arial"/>
              </a:rPr>
              <a:t> </a:t>
            </a:r>
            <a:r>
              <a:rPr sz="900" dirty="0">
                <a:latin typeface="Arial"/>
                <a:cs typeface="Arial"/>
              </a:rPr>
              <a:t>a</a:t>
            </a:r>
            <a:r>
              <a:rPr sz="900" spc="-25" dirty="0">
                <a:latin typeface="Arial"/>
                <a:cs typeface="Arial"/>
              </a:rPr>
              <a:t> </a:t>
            </a:r>
            <a:r>
              <a:rPr sz="900" dirty="0">
                <a:latin typeface="Arial"/>
                <a:cs typeface="Arial"/>
              </a:rPr>
              <a:t>monotonically</a:t>
            </a:r>
            <a:r>
              <a:rPr sz="900" spc="-25" dirty="0">
                <a:latin typeface="Arial"/>
                <a:cs typeface="Arial"/>
              </a:rPr>
              <a:t> </a:t>
            </a:r>
            <a:r>
              <a:rPr sz="900" dirty="0">
                <a:latin typeface="Arial"/>
                <a:cs typeface="Arial"/>
              </a:rPr>
              <a:t>increasing</a:t>
            </a:r>
            <a:r>
              <a:rPr sz="900" spc="-30" dirty="0">
                <a:latin typeface="Arial"/>
                <a:cs typeface="Arial"/>
              </a:rPr>
              <a:t> </a:t>
            </a:r>
            <a:r>
              <a:rPr sz="900" dirty="0">
                <a:latin typeface="Arial"/>
                <a:cs typeface="Arial"/>
              </a:rPr>
              <a:t>counter</a:t>
            </a:r>
            <a:r>
              <a:rPr sz="900" spc="-25" dirty="0">
                <a:latin typeface="Arial"/>
                <a:cs typeface="Arial"/>
              </a:rPr>
              <a:t> </a:t>
            </a:r>
            <a:r>
              <a:rPr sz="900" i="1" dirty="0">
                <a:solidFill>
                  <a:srgbClr val="3333B2"/>
                </a:solidFill>
                <a:latin typeface="Arial"/>
                <a:cs typeface="Arial"/>
              </a:rPr>
              <a:t>tx</a:t>
            </a:r>
            <a:r>
              <a:rPr sz="900" dirty="0">
                <a:solidFill>
                  <a:srgbClr val="3333B2"/>
                </a:solidFill>
                <a:latin typeface="Arial"/>
                <a:cs typeface="Arial"/>
              </a:rPr>
              <a:t>(</a:t>
            </a:r>
            <a:r>
              <a:rPr sz="900" i="1" dirty="0">
                <a:solidFill>
                  <a:srgbClr val="3333B2"/>
                </a:solidFill>
                <a:latin typeface="Arial"/>
                <a:cs typeface="Arial"/>
              </a:rPr>
              <a:t>s</a:t>
            </a:r>
            <a:r>
              <a:rPr sz="900" dirty="0">
                <a:solidFill>
                  <a:srgbClr val="3333B2"/>
                </a:solidFill>
                <a:latin typeface="Arial"/>
                <a:cs typeface="Arial"/>
              </a:rPr>
              <a:t>)</a:t>
            </a:r>
            <a:r>
              <a:rPr sz="900" spc="-25" dirty="0">
                <a:solidFill>
                  <a:srgbClr val="3333B2"/>
                </a:solidFill>
                <a:latin typeface="Arial"/>
                <a:cs typeface="Arial"/>
              </a:rPr>
              <a:t> </a:t>
            </a:r>
            <a:r>
              <a:rPr sz="900" dirty="0">
                <a:latin typeface="Arial"/>
                <a:cs typeface="Arial"/>
              </a:rPr>
              <a:t>of</a:t>
            </a:r>
            <a:r>
              <a:rPr sz="900" spc="-25" dirty="0">
                <a:latin typeface="Arial"/>
                <a:cs typeface="Arial"/>
              </a:rPr>
              <a:t> </a:t>
            </a:r>
            <a:r>
              <a:rPr sz="900" dirty="0">
                <a:latin typeface="Arial"/>
                <a:cs typeface="Arial"/>
              </a:rPr>
              <a:t>the</a:t>
            </a:r>
            <a:r>
              <a:rPr sz="900" spc="-25" dirty="0">
                <a:latin typeface="Arial"/>
                <a:cs typeface="Arial"/>
              </a:rPr>
              <a:t> </a:t>
            </a:r>
            <a:r>
              <a:rPr sz="900" spc="-10" dirty="0">
                <a:latin typeface="Arial"/>
                <a:cs typeface="Arial"/>
              </a:rPr>
              <a:t>latest </a:t>
            </a:r>
            <a:r>
              <a:rPr sz="900" dirty="0">
                <a:latin typeface="Arial"/>
                <a:cs typeface="Arial"/>
              </a:rPr>
              <a:t>transaction</a:t>
            </a:r>
            <a:r>
              <a:rPr sz="900" spc="-30" dirty="0">
                <a:latin typeface="Arial"/>
                <a:cs typeface="Arial"/>
              </a:rPr>
              <a:t> </a:t>
            </a:r>
            <a:r>
              <a:rPr sz="900" dirty="0">
                <a:latin typeface="Arial"/>
                <a:cs typeface="Arial"/>
              </a:rPr>
              <a:t>it</a:t>
            </a:r>
            <a:r>
              <a:rPr sz="900" spc="-30" dirty="0">
                <a:latin typeface="Arial"/>
                <a:cs typeface="Arial"/>
              </a:rPr>
              <a:t> </a:t>
            </a:r>
            <a:r>
              <a:rPr sz="900" dirty="0">
                <a:latin typeface="Arial"/>
                <a:cs typeface="Arial"/>
              </a:rPr>
              <a:t>handled</a:t>
            </a:r>
            <a:r>
              <a:rPr sz="900" spc="-30" dirty="0">
                <a:latin typeface="Arial"/>
                <a:cs typeface="Arial"/>
              </a:rPr>
              <a:t> </a:t>
            </a:r>
            <a:r>
              <a:rPr sz="900" dirty="0">
                <a:latin typeface="Arial"/>
                <a:cs typeface="Arial"/>
              </a:rPr>
              <a:t>(i.e.,</a:t>
            </a:r>
            <a:r>
              <a:rPr sz="900" spc="-30" dirty="0">
                <a:latin typeface="Arial"/>
                <a:cs typeface="Arial"/>
              </a:rPr>
              <a:t> </a:t>
            </a:r>
            <a:r>
              <a:rPr sz="900" dirty="0">
                <a:latin typeface="Arial"/>
                <a:cs typeface="Arial"/>
              </a:rPr>
              <a:t>series</a:t>
            </a:r>
            <a:r>
              <a:rPr sz="900" spc="-30" dirty="0">
                <a:latin typeface="Arial"/>
                <a:cs typeface="Arial"/>
              </a:rPr>
              <a:t> </a:t>
            </a:r>
            <a:r>
              <a:rPr sz="900" dirty="0">
                <a:latin typeface="Arial"/>
                <a:cs typeface="Arial"/>
              </a:rPr>
              <a:t>of</a:t>
            </a:r>
            <a:r>
              <a:rPr sz="900" spc="-30" dirty="0">
                <a:latin typeface="Arial"/>
                <a:cs typeface="Arial"/>
              </a:rPr>
              <a:t> </a:t>
            </a:r>
            <a:r>
              <a:rPr sz="900" dirty="0">
                <a:latin typeface="Arial"/>
                <a:cs typeface="Arial"/>
              </a:rPr>
              <a:t>operations</a:t>
            </a:r>
            <a:r>
              <a:rPr sz="900" spc="-30" dirty="0">
                <a:latin typeface="Arial"/>
                <a:cs typeface="Arial"/>
              </a:rPr>
              <a:t> </a:t>
            </a:r>
            <a:r>
              <a:rPr sz="900" dirty="0">
                <a:latin typeface="Arial"/>
                <a:cs typeface="Arial"/>
              </a:rPr>
              <a:t>on</a:t>
            </a:r>
            <a:r>
              <a:rPr sz="900" spc="-25" dirty="0">
                <a:latin typeface="Arial"/>
                <a:cs typeface="Arial"/>
              </a:rPr>
              <a:t> </a:t>
            </a:r>
            <a:r>
              <a:rPr sz="900" dirty="0">
                <a:latin typeface="Arial"/>
                <a:cs typeface="Arial"/>
              </a:rPr>
              <a:t>the</a:t>
            </a:r>
            <a:r>
              <a:rPr sz="900" spc="-30" dirty="0">
                <a:latin typeface="Arial"/>
                <a:cs typeface="Arial"/>
              </a:rPr>
              <a:t> </a:t>
            </a:r>
            <a:r>
              <a:rPr sz="900" spc="-10" dirty="0">
                <a:latin typeface="Arial"/>
                <a:cs typeface="Arial"/>
              </a:rPr>
              <a:t>namespace).</a:t>
            </a:r>
            <a:endParaRPr sz="900">
              <a:latin typeface="Arial"/>
              <a:cs typeface="Arial"/>
            </a:endParaRPr>
          </a:p>
          <a:p>
            <a:pPr marL="273050" indent="-115570">
              <a:lnSpc>
                <a:spcPct val="100000"/>
              </a:lnSpc>
              <a:spcBef>
                <a:spcPts val="425"/>
              </a:spcBef>
              <a:buClr>
                <a:srgbClr val="3333B2"/>
              </a:buClr>
              <a:buFont typeface="Menlo"/>
              <a:buChar char="•"/>
              <a:tabLst>
                <a:tab pos="273685" algn="l"/>
              </a:tabLst>
            </a:pPr>
            <a:r>
              <a:rPr sz="900" dirty="0">
                <a:latin typeface="Arial"/>
                <a:cs typeface="Arial"/>
              </a:rPr>
              <a:t>When</a:t>
            </a:r>
            <a:r>
              <a:rPr sz="900" spc="-30" dirty="0">
                <a:latin typeface="Arial"/>
                <a:cs typeface="Arial"/>
              </a:rPr>
              <a:t> </a:t>
            </a:r>
            <a:r>
              <a:rPr sz="900" spc="-10" dirty="0">
                <a:latin typeface="Arial"/>
                <a:cs typeface="Arial"/>
              </a:rPr>
              <a:t>follower</a:t>
            </a:r>
            <a:r>
              <a:rPr sz="900" spc="-25" dirty="0">
                <a:latin typeface="Arial"/>
                <a:cs typeface="Arial"/>
              </a:rPr>
              <a:t> </a:t>
            </a:r>
            <a:r>
              <a:rPr sz="900" i="1" dirty="0">
                <a:latin typeface="Arial"/>
                <a:cs typeface="Arial"/>
              </a:rPr>
              <a:t>s </a:t>
            </a:r>
            <a:r>
              <a:rPr sz="900" dirty="0">
                <a:latin typeface="Arial"/>
                <a:cs typeface="Arial"/>
              </a:rPr>
              <a:t>suspects</a:t>
            </a:r>
            <a:r>
              <a:rPr sz="900" spc="-25" dirty="0">
                <a:latin typeface="Arial"/>
                <a:cs typeface="Arial"/>
              </a:rPr>
              <a:t> </a:t>
            </a:r>
            <a:r>
              <a:rPr sz="900" dirty="0">
                <a:latin typeface="Arial"/>
                <a:cs typeface="Arial"/>
              </a:rPr>
              <a:t>leader</a:t>
            </a:r>
            <a:r>
              <a:rPr sz="900" spc="-30" dirty="0">
                <a:latin typeface="Arial"/>
                <a:cs typeface="Arial"/>
              </a:rPr>
              <a:t> </a:t>
            </a:r>
            <a:r>
              <a:rPr sz="900" dirty="0">
                <a:latin typeface="Arial"/>
                <a:cs typeface="Arial"/>
              </a:rPr>
              <a:t>crashed,</a:t>
            </a:r>
            <a:r>
              <a:rPr sz="900" spc="-25" dirty="0">
                <a:latin typeface="Arial"/>
                <a:cs typeface="Arial"/>
              </a:rPr>
              <a:t> </a:t>
            </a:r>
            <a:r>
              <a:rPr sz="900" dirty="0">
                <a:latin typeface="Arial"/>
                <a:cs typeface="Arial"/>
              </a:rPr>
              <a:t>it</a:t>
            </a:r>
            <a:r>
              <a:rPr sz="900" spc="-25" dirty="0">
                <a:latin typeface="Arial"/>
                <a:cs typeface="Arial"/>
              </a:rPr>
              <a:t> </a:t>
            </a:r>
            <a:r>
              <a:rPr sz="900" dirty="0">
                <a:latin typeface="Arial"/>
                <a:cs typeface="Arial"/>
              </a:rPr>
              <a:t>broadcasts</a:t>
            </a:r>
            <a:r>
              <a:rPr sz="900" spc="-30" dirty="0">
                <a:latin typeface="Arial"/>
                <a:cs typeface="Arial"/>
              </a:rPr>
              <a:t> </a:t>
            </a:r>
            <a:r>
              <a:rPr sz="900" dirty="0">
                <a:latin typeface="Arial"/>
                <a:cs typeface="Arial"/>
              </a:rPr>
              <a:t>an</a:t>
            </a:r>
            <a:r>
              <a:rPr sz="900" spc="-25" dirty="0">
                <a:latin typeface="Arial"/>
                <a:cs typeface="Arial"/>
              </a:rPr>
              <a:t> </a:t>
            </a:r>
            <a:r>
              <a:rPr sz="900" i="1" spc="-10" dirty="0">
                <a:latin typeface="Arial"/>
                <a:cs typeface="Arial"/>
              </a:rPr>
              <a:t>ELECTION</a:t>
            </a:r>
            <a:endParaRPr sz="900">
              <a:latin typeface="Arial"/>
              <a:cs typeface="Arial"/>
            </a:endParaRPr>
          </a:p>
          <a:p>
            <a:pPr marL="278130">
              <a:lnSpc>
                <a:spcPct val="100000"/>
              </a:lnSpc>
              <a:spcBef>
                <a:spcPts val="125"/>
              </a:spcBef>
            </a:pPr>
            <a:r>
              <a:rPr sz="900" dirty="0">
                <a:latin typeface="Arial"/>
                <a:cs typeface="Arial"/>
              </a:rPr>
              <a:t>message,</a:t>
            </a:r>
            <a:r>
              <a:rPr sz="900" spc="-25" dirty="0">
                <a:latin typeface="Arial"/>
                <a:cs typeface="Arial"/>
              </a:rPr>
              <a:t> </a:t>
            </a:r>
            <a:r>
              <a:rPr sz="900" dirty="0">
                <a:latin typeface="Arial"/>
                <a:cs typeface="Arial"/>
              </a:rPr>
              <a:t>along</a:t>
            </a:r>
            <a:r>
              <a:rPr sz="900" spc="-15" dirty="0">
                <a:latin typeface="Arial"/>
                <a:cs typeface="Arial"/>
              </a:rPr>
              <a:t> </a:t>
            </a:r>
            <a:r>
              <a:rPr sz="900" dirty="0">
                <a:latin typeface="Arial"/>
                <a:cs typeface="Arial"/>
              </a:rPr>
              <a:t>with</a:t>
            </a:r>
            <a:r>
              <a:rPr sz="900" spc="-15" dirty="0">
                <a:latin typeface="Arial"/>
                <a:cs typeface="Arial"/>
              </a:rPr>
              <a:t> </a:t>
            </a:r>
            <a:r>
              <a:rPr sz="900" dirty="0">
                <a:latin typeface="Arial"/>
                <a:cs typeface="Arial"/>
              </a:rPr>
              <a:t>the</a:t>
            </a:r>
            <a:r>
              <a:rPr sz="900" spc="-15" dirty="0">
                <a:latin typeface="Arial"/>
                <a:cs typeface="Arial"/>
              </a:rPr>
              <a:t> </a:t>
            </a:r>
            <a:r>
              <a:rPr sz="900" dirty="0">
                <a:latin typeface="Arial"/>
                <a:cs typeface="Arial"/>
              </a:rPr>
              <a:t>pair</a:t>
            </a:r>
            <a:r>
              <a:rPr sz="900" spc="-15" dirty="0">
                <a:latin typeface="Arial"/>
                <a:cs typeface="Arial"/>
              </a:rPr>
              <a:t> </a:t>
            </a:r>
            <a:r>
              <a:rPr sz="900" spc="-10" dirty="0">
                <a:latin typeface="Arial"/>
                <a:cs typeface="Arial"/>
              </a:rPr>
              <a:t>(</a:t>
            </a:r>
            <a:r>
              <a:rPr sz="900" i="1" spc="-10" dirty="0">
                <a:latin typeface="Arial"/>
                <a:cs typeface="Arial"/>
              </a:rPr>
              <a:t>voteID</a:t>
            </a:r>
            <a:r>
              <a:rPr sz="900" spc="-10" dirty="0">
                <a:latin typeface="Arial"/>
                <a:cs typeface="Arial"/>
              </a:rPr>
              <a:t>,</a:t>
            </a:r>
            <a:r>
              <a:rPr sz="900" i="1" spc="-10" dirty="0">
                <a:latin typeface="Arial"/>
                <a:cs typeface="Arial"/>
              </a:rPr>
              <a:t>voteTX</a:t>
            </a:r>
            <a:r>
              <a:rPr sz="900" i="1" spc="-140" dirty="0">
                <a:latin typeface="Arial"/>
                <a:cs typeface="Arial"/>
              </a:rPr>
              <a:t> </a:t>
            </a:r>
            <a:r>
              <a:rPr sz="900" dirty="0">
                <a:latin typeface="Arial"/>
                <a:cs typeface="Arial"/>
              </a:rPr>
              <a:t>).</a:t>
            </a:r>
            <a:r>
              <a:rPr sz="900" spc="40" dirty="0">
                <a:latin typeface="Arial"/>
                <a:cs typeface="Arial"/>
              </a:rPr>
              <a:t> </a:t>
            </a:r>
            <a:r>
              <a:rPr sz="900" spc="-10" dirty="0">
                <a:latin typeface="Arial"/>
                <a:cs typeface="Arial"/>
              </a:rPr>
              <a:t>Initially,</a:t>
            </a:r>
            <a:endParaRPr sz="900">
              <a:latin typeface="Arial"/>
              <a:cs typeface="Arial"/>
            </a:endParaRPr>
          </a:p>
          <a:p>
            <a:pPr marL="531495" lvl="1" indent="-121285">
              <a:lnSpc>
                <a:spcPct val="100000"/>
              </a:lnSpc>
              <a:spcBef>
                <a:spcPts val="325"/>
              </a:spcBef>
              <a:buClr>
                <a:srgbClr val="3333B2"/>
              </a:buClr>
              <a:buFont typeface="Menlo"/>
              <a:buChar char="•"/>
              <a:tabLst>
                <a:tab pos="532130" algn="l"/>
              </a:tabLst>
            </a:pPr>
            <a:r>
              <a:rPr sz="900" i="1" spc="-10" dirty="0">
                <a:latin typeface="Arial"/>
                <a:cs typeface="Arial"/>
              </a:rPr>
              <a:t>voteID </a:t>
            </a:r>
            <a:r>
              <a:rPr sz="900" i="1" spc="350" dirty="0">
                <a:latin typeface="Menlo"/>
                <a:cs typeface="Menlo"/>
              </a:rPr>
              <a:t>←</a:t>
            </a:r>
            <a:r>
              <a:rPr sz="900" i="1" spc="-340" dirty="0">
                <a:latin typeface="Menlo"/>
                <a:cs typeface="Menlo"/>
              </a:rPr>
              <a:t> </a:t>
            </a:r>
            <a:r>
              <a:rPr sz="900" i="1" spc="-10" dirty="0">
                <a:latin typeface="Arial"/>
                <a:cs typeface="Arial"/>
              </a:rPr>
              <a:t>id</a:t>
            </a:r>
            <a:r>
              <a:rPr sz="900" spc="-10" dirty="0">
                <a:latin typeface="Arial"/>
                <a:cs typeface="Arial"/>
              </a:rPr>
              <a:t>(</a:t>
            </a:r>
            <a:r>
              <a:rPr sz="900" i="1" spc="-10" dirty="0">
                <a:latin typeface="Arial"/>
                <a:cs typeface="Arial"/>
              </a:rPr>
              <a:t>s</a:t>
            </a:r>
            <a:r>
              <a:rPr sz="900" spc="-10" dirty="0">
                <a:latin typeface="Arial"/>
                <a:cs typeface="Arial"/>
              </a:rPr>
              <a:t>)</a:t>
            </a:r>
            <a:endParaRPr sz="900">
              <a:latin typeface="Arial"/>
              <a:cs typeface="Arial"/>
            </a:endParaRPr>
          </a:p>
          <a:p>
            <a:pPr marL="531495" lvl="1" indent="-121285">
              <a:lnSpc>
                <a:spcPct val="100000"/>
              </a:lnSpc>
              <a:spcBef>
                <a:spcPts val="425"/>
              </a:spcBef>
              <a:buClr>
                <a:srgbClr val="3333B2"/>
              </a:buClr>
              <a:buFont typeface="Menlo"/>
              <a:buChar char="•"/>
              <a:tabLst>
                <a:tab pos="532130" algn="l"/>
              </a:tabLst>
            </a:pPr>
            <a:r>
              <a:rPr sz="900" i="1" dirty="0">
                <a:latin typeface="Arial"/>
                <a:cs typeface="Arial"/>
              </a:rPr>
              <a:t>voteTX </a:t>
            </a:r>
            <a:r>
              <a:rPr sz="900" i="1" spc="350" dirty="0">
                <a:latin typeface="Menlo"/>
                <a:cs typeface="Menlo"/>
              </a:rPr>
              <a:t>←</a:t>
            </a:r>
            <a:r>
              <a:rPr sz="900" i="1" spc="-345" dirty="0">
                <a:latin typeface="Menlo"/>
                <a:cs typeface="Menlo"/>
              </a:rPr>
              <a:t> </a:t>
            </a:r>
            <a:r>
              <a:rPr sz="900" i="1" spc="-10" dirty="0">
                <a:latin typeface="Arial"/>
                <a:cs typeface="Arial"/>
              </a:rPr>
              <a:t>tx</a:t>
            </a:r>
            <a:r>
              <a:rPr sz="900" spc="-10" dirty="0">
                <a:latin typeface="Arial"/>
                <a:cs typeface="Arial"/>
              </a:rPr>
              <a:t>(</a:t>
            </a:r>
            <a:r>
              <a:rPr sz="900" i="1" spc="-10" dirty="0">
                <a:latin typeface="Arial"/>
                <a:cs typeface="Arial"/>
              </a:rPr>
              <a:t>s</a:t>
            </a:r>
            <a:r>
              <a:rPr sz="900" spc="-10" dirty="0">
                <a:latin typeface="Arial"/>
                <a:cs typeface="Arial"/>
              </a:rPr>
              <a:t>)</a:t>
            </a:r>
            <a:endParaRPr sz="900">
              <a:latin typeface="Arial"/>
              <a:cs typeface="Arial"/>
            </a:endParaRPr>
          </a:p>
          <a:p>
            <a:pPr marL="278130" indent="-120650">
              <a:lnSpc>
                <a:spcPct val="100000"/>
              </a:lnSpc>
              <a:spcBef>
                <a:spcPts val="425"/>
              </a:spcBef>
              <a:buClr>
                <a:srgbClr val="3333B2"/>
              </a:buClr>
              <a:buFont typeface="Menlo"/>
              <a:buChar char="•"/>
              <a:tabLst>
                <a:tab pos="278765" algn="l"/>
              </a:tabLst>
            </a:pPr>
            <a:r>
              <a:rPr sz="900" dirty="0">
                <a:latin typeface="Arial"/>
                <a:cs typeface="Arial"/>
              </a:rPr>
              <a:t>Each</a:t>
            </a:r>
            <a:r>
              <a:rPr sz="900" spc="-30" dirty="0">
                <a:latin typeface="Arial"/>
                <a:cs typeface="Arial"/>
              </a:rPr>
              <a:t> </a:t>
            </a:r>
            <a:r>
              <a:rPr sz="900" dirty="0">
                <a:latin typeface="Arial"/>
                <a:cs typeface="Arial"/>
              </a:rPr>
              <a:t>server</a:t>
            </a:r>
            <a:r>
              <a:rPr sz="900" spc="-25" dirty="0">
                <a:latin typeface="Arial"/>
                <a:cs typeface="Arial"/>
              </a:rPr>
              <a:t> </a:t>
            </a:r>
            <a:r>
              <a:rPr sz="900" i="1" dirty="0">
                <a:latin typeface="Arial"/>
                <a:cs typeface="Arial"/>
              </a:rPr>
              <a:t>s </a:t>
            </a:r>
            <a:r>
              <a:rPr sz="900" dirty="0">
                <a:latin typeface="Arial"/>
                <a:cs typeface="Arial"/>
              </a:rPr>
              <a:t>maintains</a:t>
            </a:r>
            <a:r>
              <a:rPr sz="900" spc="-30" dirty="0">
                <a:latin typeface="Arial"/>
                <a:cs typeface="Arial"/>
              </a:rPr>
              <a:t> </a:t>
            </a:r>
            <a:r>
              <a:rPr sz="900" dirty="0">
                <a:latin typeface="Arial"/>
                <a:cs typeface="Arial"/>
              </a:rPr>
              <a:t>two</a:t>
            </a:r>
            <a:r>
              <a:rPr sz="900" spc="-25" dirty="0">
                <a:latin typeface="Arial"/>
                <a:cs typeface="Arial"/>
              </a:rPr>
              <a:t> </a:t>
            </a:r>
            <a:r>
              <a:rPr sz="900" spc="-10" dirty="0">
                <a:latin typeface="Arial"/>
                <a:cs typeface="Arial"/>
              </a:rPr>
              <a:t>variables:</a:t>
            </a:r>
            <a:endParaRPr sz="900">
              <a:latin typeface="Arial"/>
              <a:cs typeface="Arial"/>
            </a:endParaRPr>
          </a:p>
          <a:p>
            <a:pPr marL="531495" marR="84455" lvl="1" indent="-120650">
              <a:lnSpc>
                <a:spcPct val="111600"/>
              </a:lnSpc>
              <a:spcBef>
                <a:spcPts val="200"/>
              </a:spcBef>
              <a:buFont typeface="Menlo"/>
              <a:buChar char="•"/>
              <a:tabLst>
                <a:tab pos="532130" algn="l"/>
              </a:tabLst>
            </a:pPr>
            <a:r>
              <a:rPr sz="900" i="1" dirty="0">
                <a:solidFill>
                  <a:srgbClr val="3333B2"/>
                </a:solidFill>
                <a:latin typeface="Arial"/>
                <a:cs typeface="Arial"/>
              </a:rPr>
              <a:t>leader</a:t>
            </a:r>
            <a:r>
              <a:rPr sz="900" dirty="0">
                <a:solidFill>
                  <a:srgbClr val="3333B2"/>
                </a:solidFill>
                <a:latin typeface="Arial"/>
                <a:cs typeface="Arial"/>
              </a:rPr>
              <a:t>(</a:t>
            </a:r>
            <a:r>
              <a:rPr sz="900" i="1" dirty="0">
                <a:solidFill>
                  <a:srgbClr val="3333B2"/>
                </a:solidFill>
                <a:latin typeface="Arial"/>
                <a:cs typeface="Arial"/>
              </a:rPr>
              <a:t>s</a:t>
            </a:r>
            <a:r>
              <a:rPr sz="900" dirty="0">
                <a:solidFill>
                  <a:srgbClr val="3333B2"/>
                </a:solidFill>
                <a:latin typeface="Arial"/>
                <a:cs typeface="Arial"/>
              </a:rPr>
              <a:t>)</a:t>
            </a:r>
            <a:r>
              <a:rPr sz="900" dirty="0">
                <a:latin typeface="Arial"/>
                <a:cs typeface="Arial"/>
              </a:rPr>
              <a:t>:</a:t>
            </a:r>
            <a:r>
              <a:rPr sz="900" spc="30" dirty="0">
                <a:latin typeface="Arial"/>
                <a:cs typeface="Arial"/>
              </a:rPr>
              <a:t> </a:t>
            </a:r>
            <a:r>
              <a:rPr sz="900" dirty="0">
                <a:latin typeface="Arial"/>
                <a:cs typeface="Arial"/>
              </a:rPr>
              <a:t>records</a:t>
            </a:r>
            <a:r>
              <a:rPr sz="900" spc="-25" dirty="0">
                <a:latin typeface="Arial"/>
                <a:cs typeface="Arial"/>
              </a:rPr>
              <a:t> </a:t>
            </a:r>
            <a:r>
              <a:rPr sz="900" dirty="0">
                <a:latin typeface="Arial"/>
                <a:cs typeface="Arial"/>
              </a:rPr>
              <a:t>the</a:t>
            </a:r>
            <a:r>
              <a:rPr sz="900" spc="-20" dirty="0">
                <a:latin typeface="Arial"/>
                <a:cs typeface="Arial"/>
              </a:rPr>
              <a:t> </a:t>
            </a:r>
            <a:r>
              <a:rPr sz="900" dirty="0">
                <a:latin typeface="Arial"/>
                <a:cs typeface="Arial"/>
              </a:rPr>
              <a:t>server</a:t>
            </a:r>
            <a:r>
              <a:rPr sz="900" spc="-25" dirty="0">
                <a:latin typeface="Arial"/>
                <a:cs typeface="Arial"/>
              </a:rPr>
              <a:t> </a:t>
            </a:r>
            <a:r>
              <a:rPr sz="900" dirty="0">
                <a:latin typeface="Arial"/>
                <a:cs typeface="Arial"/>
              </a:rPr>
              <a:t>that</a:t>
            </a:r>
            <a:r>
              <a:rPr sz="900" spc="-20" dirty="0">
                <a:latin typeface="Arial"/>
                <a:cs typeface="Arial"/>
              </a:rPr>
              <a:t> </a:t>
            </a:r>
            <a:r>
              <a:rPr sz="900" i="1" dirty="0">
                <a:latin typeface="Arial"/>
                <a:cs typeface="Arial"/>
              </a:rPr>
              <a:t>s</a:t>
            </a:r>
            <a:r>
              <a:rPr sz="900" i="1" spc="5" dirty="0">
                <a:latin typeface="Arial"/>
                <a:cs typeface="Arial"/>
              </a:rPr>
              <a:t> </a:t>
            </a:r>
            <a:r>
              <a:rPr sz="900" spc="-10" dirty="0">
                <a:latin typeface="Arial"/>
                <a:cs typeface="Arial"/>
              </a:rPr>
              <a:t>believes</a:t>
            </a:r>
            <a:r>
              <a:rPr sz="900" spc="-25" dirty="0">
                <a:latin typeface="Arial"/>
                <a:cs typeface="Arial"/>
              </a:rPr>
              <a:t> </a:t>
            </a:r>
            <a:r>
              <a:rPr sz="900" dirty="0">
                <a:latin typeface="Arial"/>
                <a:cs typeface="Arial"/>
              </a:rPr>
              <a:t>may</a:t>
            </a:r>
            <a:r>
              <a:rPr sz="900" spc="-25" dirty="0">
                <a:latin typeface="Arial"/>
                <a:cs typeface="Arial"/>
              </a:rPr>
              <a:t> </a:t>
            </a:r>
            <a:r>
              <a:rPr sz="900" dirty="0">
                <a:latin typeface="Arial"/>
                <a:cs typeface="Arial"/>
              </a:rPr>
              <a:t>be</a:t>
            </a:r>
            <a:r>
              <a:rPr sz="900" spc="-20" dirty="0">
                <a:latin typeface="Arial"/>
                <a:cs typeface="Arial"/>
              </a:rPr>
              <a:t> </a:t>
            </a:r>
            <a:r>
              <a:rPr sz="900" dirty="0">
                <a:latin typeface="Arial"/>
                <a:cs typeface="Arial"/>
              </a:rPr>
              <a:t>final</a:t>
            </a:r>
            <a:r>
              <a:rPr sz="900" spc="-25" dirty="0">
                <a:latin typeface="Arial"/>
                <a:cs typeface="Arial"/>
              </a:rPr>
              <a:t> </a:t>
            </a:r>
            <a:r>
              <a:rPr sz="900" spc="-10" dirty="0">
                <a:latin typeface="Arial"/>
                <a:cs typeface="Arial"/>
              </a:rPr>
              <a:t>leader. Initially,</a:t>
            </a:r>
            <a:r>
              <a:rPr sz="900" spc="30" dirty="0">
                <a:latin typeface="Arial"/>
                <a:cs typeface="Arial"/>
              </a:rPr>
              <a:t> </a:t>
            </a:r>
            <a:r>
              <a:rPr sz="900" i="1" dirty="0">
                <a:latin typeface="Arial"/>
                <a:cs typeface="Arial"/>
              </a:rPr>
              <a:t>leader</a:t>
            </a:r>
            <a:r>
              <a:rPr sz="900" dirty="0">
                <a:latin typeface="Arial"/>
                <a:cs typeface="Arial"/>
              </a:rPr>
              <a:t>(</a:t>
            </a:r>
            <a:r>
              <a:rPr sz="900" i="1" dirty="0">
                <a:latin typeface="Arial"/>
                <a:cs typeface="Arial"/>
              </a:rPr>
              <a:t>s</a:t>
            </a:r>
            <a:r>
              <a:rPr sz="900" dirty="0">
                <a:latin typeface="Arial"/>
                <a:cs typeface="Arial"/>
              </a:rPr>
              <a:t>)</a:t>
            </a:r>
            <a:r>
              <a:rPr sz="900" spc="-30" dirty="0">
                <a:latin typeface="Arial"/>
                <a:cs typeface="Arial"/>
              </a:rPr>
              <a:t> </a:t>
            </a:r>
            <a:r>
              <a:rPr sz="900" i="1" spc="350" dirty="0">
                <a:latin typeface="Menlo"/>
                <a:cs typeface="Menlo"/>
              </a:rPr>
              <a:t>←</a:t>
            </a:r>
            <a:r>
              <a:rPr sz="900" i="1" spc="-315" dirty="0">
                <a:latin typeface="Menlo"/>
                <a:cs typeface="Menlo"/>
              </a:rPr>
              <a:t> </a:t>
            </a:r>
            <a:r>
              <a:rPr sz="900" i="1" spc="-10" dirty="0">
                <a:latin typeface="Arial"/>
                <a:cs typeface="Arial"/>
              </a:rPr>
              <a:t>id</a:t>
            </a:r>
            <a:r>
              <a:rPr sz="900" spc="-10" dirty="0">
                <a:latin typeface="Arial"/>
                <a:cs typeface="Arial"/>
              </a:rPr>
              <a:t>(</a:t>
            </a:r>
            <a:r>
              <a:rPr sz="900" i="1" spc="-10" dirty="0">
                <a:latin typeface="Arial"/>
                <a:cs typeface="Arial"/>
              </a:rPr>
              <a:t>s</a:t>
            </a:r>
            <a:r>
              <a:rPr sz="900" spc="-10" dirty="0">
                <a:latin typeface="Arial"/>
                <a:cs typeface="Arial"/>
              </a:rPr>
              <a:t>).</a:t>
            </a:r>
            <a:endParaRPr sz="900">
              <a:latin typeface="Arial"/>
              <a:cs typeface="Arial"/>
            </a:endParaRPr>
          </a:p>
          <a:p>
            <a:pPr marL="531495" marR="363855" lvl="1" indent="-120650">
              <a:lnSpc>
                <a:spcPct val="111600"/>
              </a:lnSpc>
              <a:buFont typeface="Menlo"/>
              <a:buChar char="•"/>
              <a:tabLst>
                <a:tab pos="532130" algn="l"/>
              </a:tabLst>
            </a:pPr>
            <a:r>
              <a:rPr sz="900" i="1" dirty="0">
                <a:solidFill>
                  <a:srgbClr val="3333B2"/>
                </a:solidFill>
                <a:latin typeface="Arial"/>
                <a:cs typeface="Arial"/>
              </a:rPr>
              <a:t>lastTX</a:t>
            </a:r>
            <a:r>
              <a:rPr sz="900" dirty="0">
                <a:solidFill>
                  <a:srgbClr val="3333B2"/>
                </a:solidFill>
                <a:latin typeface="Arial"/>
                <a:cs typeface="Arial"/>
              </a:rPr>
              <a:t>(</a:t>
            </a:r>
            <a:r>
              <a:rPr sz="900" i="1" dirty="0">
                <a:solidFill>
                  <a:srgbClr val="3333B2"/>
                </a:solidFill>
                <a:latin typeface="Arial"/>
                <a:cs typeface="Arial"/>
              </a:rPr>
              <a:t>s</a:t>
            </a:r>
            <a:r>
              <a:rPr sz="900" dirty="0">
                <a:solidFill>
                  <a:srgbClr val="3333B2"/>
                </a:solidFill>
                <a:latin typeface="Arial"/>
                <a:cs typeface="Arial"/>
              </a:rPr>
              <a:t>)</a:t>
            </a:r>
            <a:r>
              <a:rPr sz="900" dirty="0">
                <a:latin typeface="Arial"/>
                <a:cs typeface="Arial"/>
              </a:rPr>
              <a:t>:</a:t>
            </a:r>
            <a:r>
              <a:rPr sz="900" spc="30" dirty="0">
                <a:latin typeface="Arial"/>
                <a:cs typeface="Arial"/>
              </a:rPr>
              <a:t> </a:t>
            </a:r>
            <a:r>
              <a:rPr sz="900" dirty="0">
                <a:latin typeface="Arial"/>
                <a:cs typeface="Arial"/>
              </a:rPr>
              <a:t>what</a:t>
            </a:r>
            <a:r>
              <a:rPr sz="900" spc="-20" dirty="0">
                <a:latin typeface="Arial"/>
                <a:cs typeface="Arial"/>
              </a:rPr>
              <a:t> </a:t>
            </a:r>
            <a:r>
              <a:rPr sz="900" i="1" dirty="0">
                <a:latin typeface="Arial"/>
                <a:cs typeface="Arial"/>
              </a:rPr>
              <a:t>s</a:t>
            </a:r>
            <a:r>
              <a:rPr sz="900" i="1" spc="5" dirty="0">
                <a:latin typeface="Arial"/>
                <a:cs typeface="Arial"/>
              </a:rPr>
              <a:t> </a:t>
            </a:r>
            <a:r>
              <a:rPr sz="900" dirty="0">
                <a:latin typeface="Arial"/>
                <a:cs typeface="Arial"/>
              </a:rPr>
              <a:t>knows</a:t>
            </a:r>
            <a:r>
              <a:rPr sz="900" spc="-20" dirty="0">
                <a:latin typeface="Arial"/>
                <a:cs typeface="Arial"/>
              </a:rPr>
              <a:t> </a:t>
            </a:r>
            <a:r>
              <a:rPr sz="900" dirty="0">
                <a:latin typeface="Arial"/>
                <a:cs typeface="Arial"/>
              </a:rPr>
              <a:t>to</a:t>
            </a:r>
            <a:r>
              <a:rPr sz="900" spc="-20" dirty="0">
                <a:latin typeface="Arial"/>
                <a:cs typeface="Arial"/>
              </a:rPr>
              <a:t> </a:t>
            </a:r>
            <a:r>
              <a:rPr sz="900" dirty="0">
                <a:latin typeface="Arial"/>
                <a:cs typeface="Arial"/>
              </a:rPr>
              <a:t>be</a:t>
            </a:r>
            <a:r>
              <a:rPr sz="900" spc="-25" dirty="0">
                <a:latin typeface="Arial"/>
                <a:cs typeface="Arial"/>
              </a:rPr>
              <a:t> </a:t>
            </a:r>
            <a:r>
              <a:rPr sz="900" dirty="0">
                <a:latin typeface="Arial"/>
                <a:cs typeface="Arial"/>
              </a:rPr>
              <a:t>the</a:t>
            </a:r>
            <a:r>
              <a:rPr sz="900" spc="-20" dirty="0">
                <a:latin typeface="Arial"/>
                <a:cs typeface="Arial"/>
              </a:rPr>
              <a:t> </a:t>
            </a:r>
            <a:r>
              <a:rPr sz="900" dirty="0">
                <a:latin typeface="Arial"/>
                <a:cs typeface="Arial"/>
              </a:rPr>
              <a:t>most</a:t>
            </a:r>
            <a:r>
              <a:rPr sz="900" spc="-25" dirty="0">
                <a:latin typeface="Arial"/>
                <a:cs typeface="Arial"/>
              </a:rPr>
              <a:t> </a:t>
            </a:r>
            <a:r>
              <a:rPr sz="900" dirty="0">
                <a:latin typeface="Arial"/>
                <a:cs typeface="Arial"/>
              </a:rPr>
              <a:t>recent</a:t>
            </a:r>
            <a:r>
              <a:rPr sz="900" spc="-20" dirty="0">
                <a:latin typeface="Arial"/>
                <a:cs typeface="Arial"/>
              </a:rPr>
              <a:t> </a:t>
            </a:r>
            <a:r>
              <a:rPr sz="900" spc="-10" dirty="0">
                <a:latin typeface="Arial"/>
                <a:cs typeface="Arial"/>
              </a:rPr>
              <a:t>transaction. Initially,</a:t>
            </a:r>
            <a:r>
              <a:rPr sz="900" spc="30" dirty="0">
                <a:latin typeface="Arial"/>
                <a:cs typeface="Arial"/>
              </a:rPr>
              <a:t> </a:t>
            </a:r>
            <a:r>
              <a:rPr sz="900" i="1" dirty="0">
                <a:latin typeface="Arial"/>
                <a:cs typeface="Arial"/>
              </a:rPr>
              <a:t>lastTX</a:t>
            </a:r>
            <a:r>
              <a:rPr sz="900" dirty="0">
                <a:latin typeface="Arial"/>
                <a:cs typeface="Arial"/>
              </a:rPr>
              <a:t>(</a:t>
            </a:r>
            <a:r>
              <a:rPr sz="900" i="1" dirty="0">
                <a:latin typeface="Arial"/>
                <a:cs typeface="Arial"/>
              </a:rPr>
              <a:t>s</a:t>
            </a:r>
            <a:r>
              <a:rPr sz="900" dirty="0">
                <a:latin typeface="Arial"/>
                <a:cs typeface="Arial"/>
              </a:rPr>
              <a:t>)</a:t>
            </a:r>
            <a:r>
              <a:rPr sz="900" spc="-30" dirty="0">
                <a:latin typeface="Arial"/>
                <a:cs typeface="Arial"/>
              </a:rPr>
              <a:t> </a:t>
            </a:r>
            <a:r>
              <a:rPr sz="900" i="1" spc="350" dirty="0">
                <a:latin typeface="Menlo"/>
                <a:cs typeface="Menlo"/>
              </a:rPr>
              <a:t>←</a:t>
            </a:r>
            <a:r>
              <a:rPr sz="900" i="1" spc="-315" dirty="0">
                <a:latin typeface="Menlo"/>
                <a:cs typeface="Menlo"/>
              </a:rPr>
              <a:t> </a:t>
            </a:r>
            <a:r>
              <a:rPr sz="900" i="1" spc="-10" dirty="0">
                <a:latin typeface="Arial"/>
                <a:cs typeface="Arial"/>
              </a:rPr>
              <a:t>tx</a:t>
            </a:r>
            <a:r>
              <a:rPr sz="900" spc="-10" dirty="0">
                <a:latin typeface="Arial"/>
                <a:cs typeface="Arial"/>
              </a:rPr>
              <a:t>(</a:t>
            </a:r>
            <a:r>
              <a:rPr sz="900" i="1" spc="-10" dirty="0">
                <a:latin typeface="Arial"/>
                <a:cs typeface="Arial"/>
              </a:rPr>
              <a:t>s</a:t>
            </a:r>
            <a:r>
              <a:rPr sz="900" spc="-10" dirty="0">
                <a:latin typeface="Arial"/>
                <a:cs typeface="Arial"/>
              </a:rPr>
              <a:t>).</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113855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Example:</a:t>
            </a:r>
            <a:r>
              <a:rPr sz="500" spc="10" dirty="0">
                <a:latin typeface="Arial"/>
                <a:cs typeface="Arial"/>
                <a:hlinkClick r:id="rId4" action="ppaction://hlinksldjump"/>
              </a:rPr>
              <a:t> </a:t>
            </a:r>
            <a:r>
              <a:rPr sz="500" dirty="0">
                <a:latin typeface="Arial"/>
                <a:cs typeface="Arial"/>
                <a:hlinkClick r:id="rId4" action="ppaction://hlinksldjump"/>
              </a:rPr>
              <a:t>Leader</a:t>
            </a:r>
            <a:r>
              <a:rPr sz="500" spc="-20" dirty="0">
                <a:latin typeface="Arial"/>
                <a:cs typeface="Arial"/>
                <a:hlinkClick r:id="rId4" action="ppaction://hlinksldjump"/>
              </a:rPr>
              <a:t> </a:t>
            </a:r>
            <a:r>
              <a:rPr sz="500" dirty="0">
                <a:latin typeface="Arial"/>
                <a:cs typeface="Arial"/>
                <a:hlinkClick r:id="rId4" action="ppaction://hlinksldjump"/>
              </a:rPr>
              <a:t>election</a:t>
            </a:r>
            <a:r>
              <a:rPr sz="500" spc="-15" dirty="0">
                <a:latin typeface="Arial"/>
                <a:cs typeface="Arial"/>
                <a:hlinkClick r:id="rId4" action="ppaction://hlinksldjump"/>
              </a:rPr>
              <a:t> </a:t>
            </a:r>
            <a:r>
              <a:rPr sz="500" dirty="0">
                <a:latin typeface="Arial"/>
                <a:cs typeface="Arial"/>
                <a:hlinkClick r:id="rId4" action="ppaction://hlinksldjump"/>
              </a:rPr>
              <a:t>in</a:t>
            </a:r>
            <a:r>
              <a:rPr sz="500" spc="-20" dirty="0">
                <a:latin typeface="Arial"/>
                <a:cs typeface="Arial"/>
                <a:hlinkClick r:id="rId4" action="ppaction://hlinksldjump"/>
              </a:rPr>
              <a:t> </a:t>
            </a:r>
            <a:r>
              <a:rPr sz="500" spc="-10" dirty="0">
                <a:latin typeface="Arial"/>
                <a:cs typeface="Arial"/>
                <a:hlinkClick r:id="rId4" action="ppaction://hlinksldjump"/>
              </a:rPr>
              <a:t>ZooKeeper</a:t>
            </a:r>
            <a:endParaRPr sz="500">
              <a:latin typeface="Arial"/>
              <a:cs typeface="Arial"/>
            </a:endParaRPr>
          </a:p>
        </p:txBody>
      </p:sp>
    </p:spTree>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952875" algn="l"/>
              </a:tabLst>
            </a:pPr>
            <a:r>
              <a:rPr sz="500" spc="-10" dirty="0">
                <a:latin typeface="Arial"/>
                <a:cs typeface="Arial"/>
                <a:hlinkClick r:id="rId2" action="ppaction://hlinksldjump"/>
              </a:rPr>
              <a:t>Coordination</a:t>
            </a:r>
            <a:r>
              <a:rPr sz="500" dirty="0">
                <a:latin typeface="Arial"/>
                <a:cs typeface="Arial"/>
              </a:rPr>
              <a:t>	</a:t>
            </a:r>
            <a:r>
              <a:rPr sz="500" dirty="0">
                <a:solidFill>
                  <a:srgbClr val="FFFFFF"/>
                </a:solidFill>
                <a:latin typeface="Arial"/>
                <a:cs typeface="Arial"/>
                <a:hlinkClick r:id="rId3" action="ppaction://hlinksldjump"/>
              </a:rPr>
              <a:t>Election</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algorithms</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Example:</a:t>
            </a:r>
            <a:r>
              <a:rPr spc="35" dirty="0"/>
              <a:t> </a:t>
            </a:r>
            <a:r>
              <a:rPr dirty="0"/>
              <a:t>Leader</a:t>
            </a:r>
            <a:r>
              <a:rPr spc="-35" dirty="0"/>
              <a:t> </a:t>
            </a:r>
            <a:r>
              <a:rPr dirty="0"/>
              <a:t>election</a:t>
            </a:r>
            <a:r>
              <a:rPr spc="-35" dirty="0"/>
              <a:t> </a:t>
            </a:r>
            <a:r>
              <a:rPr dirty="0">
                <a:solidFill>
                  <a:srgbClr val="C80000"/>
                </a:solidFill>
              </a:rPr>
              <a:t>in</a:t>
            </a:r>
            <a:r>
              <a:rPr spc="-35" dirty="0">
                <a:solidFill>
                  <a:srgbClr val="C80000"/>
                </a:solidFill>
              </a:rPr>
              <a:t> </a:t>
            </a:r>
            <a:r>
              <a:rPr spc="-10" dirty="0"/>
              <a:t>ZooKeeper</a:t>
            </a:r>
            <a:r>
              <a:rPr spc="-35" dirty="0"/>
              <a:t> </a:t>
            </a:r>
            <a:r>
              <a:rPr dirty="0"/>
              <a:t>server</a:t>
            </a:r>
            <a:r>
              <a:rPr spc="-35" dirty="0"/>
              <a:t> </a:t>
            </a:r>
            <a:r>
              <a:rPr spc="-10" dirty="0"/>
              <a:t>group</a:t>
            </a:r>
          </a:p>
        </p:txBody>
      </p:sp>
      <p:sp>
        <p:nvSpPr>
          <p:cNvPr id="4" name="object 4"/>
          <p:cNvSpPr txBox="1"/>
          <p:nvPr/>
        </p:nvSpPr>
        <p:spPr>
          <a:xfrm>
            <a:off x="303847" y="514774"/>
            <a:ext cx="3982720" cy="2302510"/>
          </a:xfrm>
          <a:prstGeom prst="rect">
            <a:avLst/>
          </a:prstGeom>
        </p:spPr>
        <p:txBody>
          <a:bodyPr vert="horz" wrap="square" lIns="0" tIns="12065" rIns="0" bIns="0" rtlCol="0">
            <a:spAutoFit/>
          </a:bodyPr>
          <a:lstStyle/>
          <a:p>
            <a:pPr marL="50165">
              <a:lnSpc>
                <a:spcPct val="100000"/>
              </a:lnSpc>
              <a:spcBef>
                <a:spcPts val="95"/>
              </a:spcBef>
            </a:pPr>
            <a:r>
              <a:rPr sz="1000" dirty="0">
                <a:solidFill>
                  <a:srgbClr val="3333B2"/>
                </a:solidFill>
                <a:latin typeface="Arial"/>
                <a:cs typeface="Arial"/>
              </a:rPr>
              <a:t>When</a:t>
            </a:r>
            <a:r>
              <a:rPr sz="1000" spc="-25" dirty="0">
                <a:solidFill>
                  <a:srgbClr val="3333B2"/>
                </a:solidFill>
                <a:latin typeface="Arial"/>
                <a:cs typeface="Arial"/>
              </a:rPr>
              <a:t> </a:t>
            </a:r>
            <a:r>
              <a:rPr sz="1000" i="1" spc="-20" dirty="0">
                <a:solidFill>
                  <a:srgbClr val="3333B2"/>
                </a:solidFill>
                <a:latin typeface="Arial"/>
                <a:cs typeface="Arial"/>
              </a:rPr>
              <a:t>s</a:t>
            </a:r>
            <a:r>
              <a:rPr sz="1050" i="1" spc="-30" baseline="27777" dirty="0">
                <a:solidFill>
                  <a:srgbClr val="3333B2"/>
                </a:solidFill>
                <a:latin typeface="Menlo"/>
                <a:cs typeface="Menlo"/>
              </a:rPr>
              <a:t>∗</a:t>
            </a:r>
            <a:r>
              <a:rPr sz="1050" i="1" spc="-142" baseline="27777" dirty="0">
                <a:solidFill>
                  <a:srgbClr val="3333B2"/>
                </a:solidFill>
                <a:latin typeface="Menlo"/>
                <a:cs typeface="Menlo"/>
              </a:rPr>
              <a:t> </a:t>
            </a:r>
            <a:r>
              <a:rPr sz="1000" dirty="0">
                <a:solidFill>
                  <a:srgbClr val="3333B2"/>
                </a:solidFill>
                <a:latin typeface="Arial"/>
                <a:cs typeface="Arial"/>
              </a:rPr>
              <a:t>receives</a:t>
            </a:r>
            <a:r>
              <a:rPr sz="1000" spc="-10" dirty="0">
                <a:solidFill>
                  <a:srgbClr val="3333B2"/>
                </a:solidFill>
                <a:latin typeface="Arial"/>
                <a:cs typeface="Arial"/>
              </a:rPr>
              <a:t> (</a:t>
            </a:r>
            <a:r>
              <a:rPr sz="1000" i="1" spc="-10" dirty="0">
                <a:solidFill>
                  <a:srgbClr val="3333B2"/>
                </a:solidFill>
                <a:latin typeface="Arial"/>
                <a:cs typeface="Arial"/>
              </a:rPr>
              <a:t>voteID</a:t>
            </a:r>
            <a:r>
              <a:rPr sz="1000" spc="-10" dirty="0">
                <a:solidFill>
                  <a:srgbClr val="3333B2"/>
                </a:solidFill>
                <a:latin typeface="Arial"/>
                <a:cs typeface="Arial"/>
              </a:rPr>
              <a:t>,</a:t>
            </a:r>
            <a:r>
              <a:rPr sz="1000" i="1" spc="-10" dirty="0">
                <a:solidFill>
                  <a:srgbClr val="3333B2"/>
                </a:solidFill>
                <a:latin typeface="Arial"/>
                <a:cs typeface="Arial"/>
              </a:rPr>
              <a:t>voteTX</a:t>
            </a:r>
            <a:r>
              <a:rPr sz="1000" i="1" spc="-160" dirty="0">
                <a:solidFill>
                  <a:srgbClr val="3333B2"/>
                </a:solidFill>
                <a:latin typeface="Arial"/>
                <a:cs typeface="Arial"/>
              </a:rPr>
              <a:t> </a:t>
            </a:r>
            <a:r>
              <a:rPr sz="1000" spc="-50" dirty="0">
                <a:solidFill>
                  <a:srgbClr val="3333B2"/>
                </a:solidFill>
                <a:latin typeface="Arial"/>
                <a:cs typeface="Arial"/>
              </a:rPr>
              <a:t>)</a:t>
            </a:r>
            <a:endParaRPr sz="1000">
              <a:latin typeface="Arial"/>
              <a:cs typeface="Arial"/>
            </a:endParaRPr>
          </a:p>
          <a:p>
            <a:pPr marL="308610" marR="30480" indent="-120650">
              <a:lnSpc>
                <a:spcPct val="111600"/>
              </a:lnSpc>
              <a:spcBef>
                <a:spcPts val="570"/>
              </a:spcBef>
              <a:buClr>
                <a:srgbClr val="3333B2"/>
              </a:buClr>
              <a:buFont typeface="Menlo"/>
              <a:buChar char="•"/>
              <a:tabLst>
                <a:tab pos="309245" algn="l"/>
              </a:tabLst>
            </a:pPr>
            <a:r>
              <a:rPr sz="900" dirty="0">
                <a:latin typeface="Arial"/>
                <a:cs typeface="Arial"/>
              </a:rPr>
              <a:t>If</a:t>
            </a:r>
            <a:r>
              <a:rPr sz="900" spc="-20" dirty="0">
                <a:latin typeface="Arial"/>
                <a:cs typeface="Arial"/>
              </a:rPr>
              <a:t> </a:t>
            </a:r>
            <a:r>
              <a:rPr sz="900" i="1" dirty="0">
                <a:latin typeface="Arial"/>
                <a:cs typeface="Arial"/>
              </a:rPr>
              <a:t>lastTX</a:t>
            </a:r>
            <a:r>
              <a:rPr sz="900" dirty="0">
                <a:latin typeface="Arial"/>
                <a:cs typeface="Arial"/>
              </a:rPr>
              <a:t>(</a:t>
            </a:r>
            <a:r>
              <a:rPr sz="900" i="1" dirty="0">
                <a:latin typeface="Arial"/>
                <a:cs typeface="Arial"/>
              </a:rPr>
              <a:t>s</a:t>
            </a:r>
            <a:r>
              <a:rPr sz="1050" i="1" baseline="27777" dirty="0">
                <a:latin typeface="Menlo"/>
                <a:cs typeface="Menlo"/>
              </a:rPr>
              <a:t>∗</a:t>
            </a:r>
            <a:r>
              <a:rPr sz="900" dirty="0">
                <a:latin typeface="Arial"/>
                <a:cs typeface="Arial"/>
              </a:rPr>
              <a:t>)</a:t>
            </a:r>
            <a:r>
              <a:rPr sz="900" spc="-60" dirty="0">
                <a:latin typeface="Arial"/>
                <a:cs typeface="Arial"/>
              </a:rPr>
              <a:t> </a:t>
            </a:r>
            <a:r>
              <a:rPr sz="900" i="1" spc="60" dirty="0">
                <a:latin typeface="STIX Two Text"/>
                <a:cs typeface="STIX Two Text"/>
              </a:rPr>
              <a:t>&lt;</a:t>
            </a:r>
            <a:r>
              <a:rPr sz="900" i="1" spc="-10" dirty="0">
                <a:latin typeface="STIX Two Text"/>
                <a:cs typeface="STIX Two Text"/>
              </a:rPr>
              <a:t> </a:t>
            </a:r>
            <a:r>
              <a:rPr sz="900" i="1" spc="-10" dirty="0">
                <a:latin typeface="Arial"/>
                <a:cs typeface="Arial"/>
              </a:rPr>
              <a:t>voteTX</a:t>
            </a:r>
            <a:r>
              <a:rPr sz="900" i="1" spc="-140" dirty="0">
                <a:latin typeface="Arial"/>
                <a:cs typeface="Arial"/>
              </a:rPr>
              <a:t> </a:t>
            </a:r>
            <a:r>
              <a:rPr sz="900" dirty="0">
                <a:latin typeface="Arial"/>
                <a:cs typeface="Arial"/>
              </a:rPr>
              <a:t>,</a:t>
            </a:r>
            <a:r>
              <a:rPr sz="900" spc="-10" dirty="0">
                <a:latin typeface="Arial"/>
                <a:cs typeface="Arial"/>
              </a:rPr>
              <a:t> </a:t>
            </a:r>
            <a:r>
              <a:rPr sz="900" dirty="0">
                <a:latin typeface="Arial"/>
                <a:cs typeface="Arial"/>
              </a:rPr>
              <a:t>then</a:t>
            </a:r>
            <a:r>
              <a:rPr sz="900" spc="-10" dirty="0">
                <a:latin typeface="Arial"/>
                <a:cs typeface="Arial"/>
              </a:rPr>
              <a:t> </a:t>
            </a:r>
            <a:r>
              <a:rPr sz="900" i="1" spc="-35" dirty="0">
                <a:latin typeface="Arial"/>
                <a:cs typeface="Arial"/>
              </a:rPr>
              <a:t>s</a:t>
            </a:r>
            <a:r>
              <a:rPr sz="1050" i="1" spc="-52" baseline="27777" dirty="0">
                <a:latin typeface="Menlo"/>
                <a:cs typeface="Menlo"/>
              </a:rPr>
              <a:t>∗</a:t>
            </a:r>
            <a:r>
              <a:rPr sz="1050" i="1" spc="-187" baseline="27777" dirty="0">
                <a:latin typeface="Menlo"/>
                <a:cs typeface="Menlo"/>
              </a:rPr>
              <a:t> </a:t>
            </a:r>
            <a:r>
              <a:rPr sz="900" dirty="0">
                <a:latin typeface="Arial"/>
                <a:cs typeface="Arial"/>
              </a:rPr>
              <a:t>just</a:t>
            </a:r>
            <a:r>
              <a:rPr sz="900" spc="-15" dirty="0">
                <a:latin typeface="Arial"/>
                <a:cs typeface="Arial"/>
              </a:rPr>
              <a:t> </a:t>
            </a:r>
            <a:r>
              <a:rPr sz="900" spc="-10" dirty="0">
                <a:latin typeface="Arial"/>
                <a:cs typeface="Arial"/>
              </a:rPr>
              <a:t>received </a:t>
            </a:r>
            <a:r>
              <a:rPr sz="900" dirty="0">
                <a:latin typeface="Arial"/>
                <a:cs typeface="Arial"/>
              </a:rPr>
              <a:t>more</a:t>
            </a:r>
            <a:r>
              <a:rPr sz="900" spc="-10" dirty="0">
                <a:latin typeface="Arial"/>
                <a:cs typeface="Arial"/>
              </a:rPr>
              <a:t> up-to-</a:t>
            </a:r>
            <a:r>
              <a:rPr sz="900" dirty="0">
                <a:latin typeface="Arial"/>
                <a:cs typeface="Arial"/>
              </a:rPr>
              <a:t>date</a:t>
            </a:r>
            <a:r>
              <a:rPr sz="900" spc="-10" dirty="0">
                <a:latin typeface="Arial"/>
                <a:cs typeface="Arial"/>
              </a:rPr>
              <a:t> information </a:t>
            </a:r>
            <a:r>
              <a:rPr sz="900" dirty="0">
                <a:latin typeface="Arial"/>
                <a:cs typeface="Arial"/>
              </a:rPr>
              <a:t>on</a:t>
            </a:r>
            <a:r>
              <a:rPr sz="900" spc="-30" dirty="0">
                <a:latin typeface="Arial"/>
                <a:cs typeface="Arial"/>
              </a:rPr>
              <a:t> </a:t>
            </a:r>
            <a:r>
              <a:rPr sz="900" dirty="0">
                <a:latin typeface="Arial"/>
                <a:cs typeface="Arial"/>
              </a:rPr>
              <a:t>the</a:t>
            </a:r>
            <a:r>
              <a:rPr sz="900" spc="-30" dirty="0">
                <a:latin typeface="Arial"/>
                <a:cs typeface="Arial"/>
              </a:rPr>
              <a:t> </a:t>
            </a:r>
            <a:r>
              <a:rPr sz="900" dirty="0">
                <a:latin typeface="Arial"/>
                <a:cs typeface="Arial"/>
              </a:rPr>
              <a:t>most</a:t>
            </a:r>
            <a:r>
              <a:rPr sz="900" spc="-25" dirty="0">
                <a:latin typeface="Arial"/>
                <a:cs typeface="Arial"/>
              </a:rPr>
              <a:t> </a:t>
            </a:r>
            <a:r>
              <a:rPr sz="900" dirty="0">
                <a:latin typeface="Arial"/>
                <a:cs typeface="Arial"/>
              </a:rPr>
              <a:t>recent</a:t>
            </a:r>
            <a:r>
              <a:rPr sz="900" spc="-30" dirty="0">
                <a:latin typeface="Arial"/>
                <a:cs typeface="Arial"/>
              </a:rPr>
              <a:t> </a:t>
            </a:r>
            <a:r>
              <a:rPr sz="900" dirty="0">
                <a:latin typeface="Arial"/>
                <a:cs typeface="Arial"/>
              </a:rPr>
              <a:t>transaction,</a:t>
            </a:r>
            <a:r>
              <a:rPr sz="900" spc="-30" dirty="0">
                <a:latin typeface="Arial"/>
                <a:cs typeface="Arial"/>
              </a:rPr>
              <a:t> </a:t>
            </a:r>
            <a:r>
              <a:rPr sz="900" dirty="0">
                <a:latin typeface="Arial"/>
                <a:cs typeface="Arial"/>
              </a:rPr>
              <a:t>and</a:t>
            </a:r>
            <a:r>
              <a:rPr sz="900" spc="-25" dirty="0">
                <a:latin typeface="Arial"/>
                <a:cs typeface="Arial"/>
              </a:rPr>
              <a:t> </a:t>
            </a:r>
            <a:r>
              <a:rPr sz="900" spc="-20" dirty="0">
                <a:latin typeface="Arial"/>
                <a:cs typeface="Arial"/>
              </a:rPr>
              <a:t>sets</a:t>
            </a:r>
            <a:endParaRPr sz="900">
              <a:latin typeface="Arial"/>
              <a:cs typeface="Arial"/>
            </a:endParaRPr>
          </a:p>
          <a:p>
            <a:pPr marL="561975" lvl="1" indent="-120650">
              <a:lnSpc>
                <a:spcPct val="100000"/>
              </a:lnSpc>
              <a:spcBef>
                <a:spcPts val="525"/>
              </a:spcBef>
              <a:buClr>
                <a:srgbClr val="3333B2"/>
              </a:buClr>
              <a:buFont typeface="Menlo"/>
              <a:buChar char="•"/>
              <a:tabLst>
                <a:tab pos="562610" algn="l"/>
              </a:tabLst>
            </a:pPr>
            <a:r>
              <a:rPr sz="900" i="1" dirty="0">
                <a:latin typeface="Arial"/>
                <a:cs typeface="Arial"/>
              </a:rPr>
              <a:t>leader</a:t>
            </a:r>
            <a:r>
              <a:rPr sz="900" dirty="0">
                <a:latin typeface="Arial"/>
                <a:cs typeface="Arial"/>
              </a:rPr>
              <a:t>(</a:t>
            </a:r>
            <a:r>
              <a:rPr sz="900" i="1" dirty="0">
                <a:latin typeface="Arial"/>
                <a:cs typeface="Arial"/>
              </a:rPr>
              <a:t>s</a:t>
            </a:r>
            <a:r>
              <a:rPr sz="1050" i="1" baseline="27777" dirty="0">
                <a:latin typeface="Menlo"/>
                <a:cs typeface="Menlo"/>
              </a:rPr>
              <a:t>∗</a:t>
            </a:r>
            <a:r>
              <a:rPr sz="900" dirty="0">
                <a:latin typeface="Arial"/>
                <a:cs typeface="Arial"/>
              </a:rPr>
              <a:t>)</a:t>
            </a:r>
            <a:r>
              <a:rPr sz="900" spc="-20" dirty="0">
                <a:latin typeface="Arial"/>
                <a:cs typeface="Arial"/>
              </a:rPr>
              <a:t> </a:t>
            </a:r>
            <a:r>
              <a:rPr sz="900" i="1" spc="350" dirty="0">
                <a:latin typeface="Menlo"/>
                <a:cs typeface="Menlo"/>
              </a:rPr>
              <a:t>←</a:t>
            </a:r>
            <a:r>
              <a:rPr sz="900" i="1" spc="-305" dirty="0">
                <a:latin typeface="Menlo"/>
                <a:cs typeface="Menlo"/>
              </a:rPr>
              <a:t> </a:t>
            </a:r>
            <a:r>
              <a:rPr sz="900" i="1" spc="-10" dirty="0">
                <a:latin typeface="Arial"/>
                <a:cs typeface="Arial"/>
              </a:rPr>
              <a:t>voteID</a:t>
            </a:r>
            <a:endParaRPr sz="900">
              <a:latin typeface="Arial"/>
              <a:cs typeface="Arial"/>
            </a:endParaRPr>
          </a:p>
          <a:p>
            <a:pPr marL="561975" lvl="1" indent="-120650">
              <a:lnSpc>
                <a:spcPct val="100000"/>
              </a:lnSpc>
              <a:spcBef>
                <a:spcPts val="420"/>
              </a:spcBef>
              <a:buClr>
                <a:srgbClr val="3333B2"/>
              </a:buClr>
              <a:buFont typeface="Menlo"/>
              <a:buChar char="•"/>
              <a:tabLst>
                <a:tab pos="562610" algn="l"/>
              </a:tabLst>
            </a:pPr>
            <a:r>
              <a:rPr sz="900" i="1" dirty="0">
                <a:latin typeface="Arial"/>
                <a:cs typeface="Arial"/>
              </a:rPr>
              <a:t>lastTX</a:t>
            </a:r>
            <a:r>
              <a:rPr sz="900" dirty="0">
                <a:latin typeface="Arial"/>
                <a:cs typeface="Arial"/>
              </a:rPr>
              <a:t>(</a:t>
            </a:r>
            <a:r>
              <a:rPr sz="900" i="1" dirty="0">
                <a:latin typeface="Arial"/>
                <a:cs typeface="Arial"/>
              </a:rPr>
              <a:t>s</a:t>
            </a:r>
            <a:r>
              <a:rPr sz="1050" i="1" baseline="27777" dirty="0">
                <a:latin typeface="Menlo"/>
                <a:cs typeface="Menlo"/>
              </a:rPr>
              <a:t>∗</a:t>
            </a:r>
            <a:r>
              <a:rPr sz="900" dirty="0">
                <a:latin typeface="Arial"/>
                <a:cs typeface="Arial"/>
              </a:rPr>
              <a:t>)</a:t>
            </a:r>
            <a:r>
              <a:rPr sz="900" spc="-20" dirty="0">
                <a:latin typeface="Arial"/>
                <a:cs typeface="Arial"/>
              </a:rPr>
              <a:t> </a:t>
            </a:r>
            <a:r>
              <a:rPr sz="900" i="1" spc="350" dirty="0">
                <a:latin typeface="Menlo"/>
                <a:cs typeface="Menlo"/>
              </a:rPr>
              <a:t>←</a:t>
            </a:r>
            <a:r>
              <a:rPr sz="900" i="1" spc="-305" dirty="0">
                <a:latin typeface="Menlo"/>
                <a:cs typeface="Menlo"/>
              </a:rPr>
              <a:t> </a:t>
            </a:r>
            <a:r>
              <a:rPr sz="900" i="1" spc="-10" dirty="0">
                <a:latin typeface="Arial"/>
                <a:cs typeface="Arial"/>
              </a:rPr>
              <a:t>voteTX</a:t>
            </a:r>
            <a:endParaRPr sz="900">
              <a:latin typeface="Arial"/>
              <a:cs typeface="Arial"/>
            </a:endParaRPr>
          </a:p>
          <a:p>
            <a:pPr marL="308610" marR="49530" indent="-120650">
              <a:lnSpc>
                <a:spcPct val="111600"/>
              </a:lnSpc>
              <a:spcBef>
                <a:spcPts val="400"/>
              </a:spcBef>
              <a:buClr>
                <a:srgbClr val="3333B2"/>
              </a:buClr>
              <a:buFont typeface="Menlo"/>
              <a:buChar char="•"/>
              <a:tabLst>
                <a:tab pos="309245" algn="l"/>
              </a:tabLst>
            </a:pPr>
            <a:r>
              <a:rPr sz="900" dirty="0">
                <a:latin typeface="Arial"/>
                <a:cs typeface="Arial"/>
              </a:rPr>
              <a:t>If</a:t>
            </a:r>
            <a:r>
              <a:rPr sz="900" spc="-5" dirty="0">
                <a:latin typeface="Arial"/>
                <a:cs typeface="Arial"/>
              </a:rPr>
              <a:t> </a:t>
            </a:r>
            <a:r>
              <a:rPr sz="900" i="1" dirty="0">
                <a:latin typeface="Arial"/>
                <a:cs typeface="Arial"/>
              </a:rPr>
              <a:t>lastTX</a:t>
            </a:r>
            <a:r>
              <a:rPr sz="900" dirty="0">
                <a:latin typeface="Arial"/>
                <a:cs typeface="Arial"/>
              </a:rPr>
              <a:t>(</a:t>
            </a:r>
            <a:r>
              <a:rPr sz="900" i="1" dirty="0">
                <a:latin typeface="Arial"/>
                <a:cs typeface="Arial"/>
              </a:rPr>
              <a:t>s</a:t>
            </a:r>
            <a:r>
              <a:rPr sz="1050" i="1" baseline="27777" dirty="0">
                <a:latin typeface="Menlo"/>
                <a:cs typeface="Menlo"/>
              </a:rPr>
              <a:t>∗</a:t>
            </a:r>
            <a:r>
              <a:rPr sz="900" dirty="0">
                <a:latin typeface="Arial"/>
                <a:cs typeface="Arial"/>
              </a:rPr>
              <a:t>)</a:t>
            </a:r>
            <a:r>
              <a:rPr sz="900" spc="-55" dirty="0">
                <a:latin typeface="Arial"/>
                <a:cs typeface="Arial"/>
              </a:rPr>
              <a:t> </a:t>
            </a:r>
            <a:r>
              <a:rPr sz="900" spc="185" dirty="0">
                <a:latin typeface="Arial"/>
                <a:cs typeface="Arial"/>
              </a:rPr>
              <a:t>=</a:t>
            </a:r>
            <a:r>
              <a:rPr sz="900" spc="-55" dirty="0">
                <a:latin typeface="Arial"/>
                <a:cs typeface="Arial"/>
              </a:rPr>
              <a:t> </a:t>
            </a:r>
            <a:r>
              <a:rPr sz="900" i="1" dirty="0">
                <a:latin typeface="Arial"/>
                <a:cs typeface="Arial"/>
              </a:rPr>
              <a:t>voteTX</a:t>
            </a:r>
            <a:r>
              <a:rPr sz="900" i="1" spc="105" dirty="0">
                <a:latin typeface="Arial"/>
                <a:cs typeface="Arial"/>
              </a:rPr>
              <a:t> </a:t>
            </a:r>
            <a:r>
              <a:rPr sz="900" i="1" dirty="0">
                <a:latin typeface="Arial"/>
                <a:cs typeface="Arial"/>
              </a:rPr>
              <a:t>and leader</a:t>
            </a:r>
            <a:r>
              <a:rPr sz="900" dirty="0">
                <a:latin typeface="Arial"/>
                <a:cs typeface="Arial"/>
              </a:rPr>
              <a:t>(</a:t>
            </a:r>
            <a:r>
              <a:rPr sz="900" i="1" dirty="0">
                <a:latin typeface="Arial"/>
                <a:cs typeface="Arial"/>
              </a:rPr>
              <a:t>s</a:t>
            </a:r>
            <a:r>
              <a:rPr sz="1050" i="1" baseline="27777" dirty="0">
                <a:latin typeface="Menlo"/>
                <a:cs typeface="Menlo"/>
              </a:rPr>
              <a:t>∗</a:t>
            </a:r>
            <a:r>
              <a:rPr sz="900" dirty="0">
                <a:latin typeface="Arial"/>
                <a:cs typeface="Arial"/>
              </a:rPr>
              <a:t>)</a:t>
            </a:r>
            <a:r>
              <a:rPr sz="900" spc="-55" dirty="0">
                <a:latin typeface="Arial"/>
                <a:cs typeface="Arial"/>
              </a:rPr>
              <a:t> </a:t>
            </a:r>
            <a:r>
              <a:rPr sz="900" i="1" spc="60" dirty="0">
                <a:latin typeface="STIX Two Text"/>
                <a:cs typeface="STIX Two Text"/>
              </a:rPr>
              <a:t>&lt;</a:t>
            </a:r>
            <a:r>
              <a:rPr sz="900" i="1" spc="-5" dirty="0">
                <a:latin typeface="STIX Two Text"/>
                <a:cs typeface="STIX Two Text"/>
              </a:rPr>
              <a:t> </a:t>
            </a:r>
            <a:r>
              <a:rPr sz="900" i="1" dirty="0">
                <a:latin typeface="Arial"/>
                <a:cs typeface="Arial"/>
              </a:rPr>
              <a:t>voteID</a:t>
            </a:r>
            <a:r>
              <a:rPr sz="900" dirty="0">
                <a:latin typeface="Arial"/>
                <a:cs typeface="Arial"/>
              </a:rPr>
              <a:t>,</a:t>
            </a:r>
            <a:r>
              <a:rPr sz="900" spc="-5" dirty="0">
                <a:latin typeface="Arial"/>
                <a:cs typeface="Arial"/>
              </a:rPr>
              <a:t> </a:t>
            </a:r>
            <a:r>
              <a:rPr sz="900" dirty="0">
                <a:latin typeface="Arial"/>
                <a:cs typeface="Arial"/>
              </a:rPr>
              <a:t>then </a:t>
            </a:r>
            <a:r>
              <a:rPr sz="900" i="1" spc="-35" dirty="0">
                <a:latin typeface="Arial"/>
                <a:cs typeface="Arial"/>
              </a:rPr>
              <a:t>s</a:t>
            </a:r>
            <a:r>
              <a:rPr sz="1050" i="1" spc="-52" baseline="27777" dirty="0">
                <a:latin typeface="Menlo"/>
                <a:cs typeface="Menlo"/>
              </a:rPr>
              <a:t>∗</a:t>
            </a:r>
            <a:r>
              <a:rPr sz="1050" i="1" spc="-187" baseline="27777" dirty="0">
                <a:latin typeface="Menlo"/>
                <a:cs typeface="Menlo"/>
              </a:rPr>
              <a:t> </a:t>
            </a:r>
            <a:r>
              <a:rPr sz="900" dirty="0">
                <a:latin typeface="Arial"/>
                <a:cs typeface="Arial"/>
              </a:rPr>
              <a:t>knows</a:t>
            </a:r>
            <a:r>
              <a:rPr sz="900" spc="-5" dirty="0">
                <a:latin typeface="Arial"/>
                <a:cs typeface="Arial"/>
              </a:rPr>
              <a:t> </a:t>
            </a:r>
            <a:r>
              <a:rPr sz="900" dirty="0">
                <a:latin typeface="Arial"/>
                <a:cs typeface="Arial"/>
              </a:rPr>
              <a:t>as</a:t>
            </a:r>
            <a:r>
              <a:rPr sz="900" spc="-5" dirty="0">
                <a:latin typeface="Arial"/>
                <a:cs typeface="Arial"/>
              </a:rPr>
              <a:t> </a:t>
            </a:r>
            <a:r>
              <a:rPr sz="900" spc="-20" dirty="0">
                <a:latin typeface="Arial"/>
                <a:cs typeface="Arial"/>
              </a:rPr>
              <a:t>much </a:t>
            </a:r>
            <a:r>
              <a:rPr sz="900" dirty="0">
                <a:latin typeface="Arial"/>
                <a:cs typeface="Arial"/>
              </a:rPr>
              <a:t>about</a:t>
            </a:r>
            <a:r>
              <a:rPr sz="900" spc="-30" dirty="0">
                <a:latin typeface="Arial"/>
                <a:cs typeface="Arial"/>
              </a:rPr>
              <a:t> </a:t>
            </a:r>
            <a:r>
              <a:rPr sz="900" dirty="0">
                <a:latin typeface="Arial"/>
                <a:cs typeface="Arial"/>
              </a:rPr>
              <a:t>the</a:t>
            </a:r>
            <a:r>
              <a:rPr sz="900" spc="-25" dirty="0">
                <a:latin typeface="Arial"/>
                <a:cs typeface="Arial"/>
              </a:rPr>
              <a:t> </a:t>
            </a:r>
            <a:r>
              <a:rPr sz="900" dirty="0">
                <a:latin typeface="Arial"/>
                <a:cs typeface="Arial"/>
              </a:rPr>
              <a:t>most</a:t>
            </a:r>
            <a:r>
              <a:rPr sz="900" spc="-30" dirty="0">
                <a:latin typeface="Arial"/>
                <a:cs typeface="Arial"/>
              </a:rPr>
              <a:t> </a:t>
            </a:r>
            <a:r>
              <a:rPr sz="900" dirty="0">
                <a:latin typeface="Arial"/>
                <a:cs typeface="Arial"/>
              </a:rPr>
              <a:t>recent</a:t>
            </a:r>
            <a:r>
              <a:rPr sz="900" spc="-25" dirty="0">
                <a:latin typeface="Arial"/>
                <a:cs typeface="Arial"/>
              </a:rPr>
              <a:t> </a:t>
            </a:r>
            <a:r>
              <a:rPr sz="900" dirty="0">
                <a:latin typeface="Arial"/>
                <a:cs typeface="Arial"/>
              </a:rPr>
              <a:t>transaction</a:t>
            </a:r>
            <a:r>
              <a:rPr sz="900" spc="-25" dirty="0">
                <a:latin typeface="Arial"/>
                <a:cs typeface="Arial"/>
              </a:rPr>
              <a:t> </a:t>
            </a:r>
            <a:r>
              <a:rPr sz="900" dirty="0">
                <a:latin typeface="Arial"/>
                <a:cs typeface="Arial"/>
              </a:rPr>
              <a:t>as</a:t>
            </a:r>
            <a:r>
              <a:rPr sz="900" spc="-30" dirty="0">
                <a:latin typeface="Arial"/>
                <a:cs typeface="Arial"/>
              </a:rPr>
              <a:t> </a:t>
            </a:r>
            <a:r>
              <a:rPr sz="900" dirty="0">
                <a:latin typeface="Arial"/>
                <a:cs typeface="Arial"/>
              </a:rPr>
              <a:t>what</a:t>
            </a:r>
            <a:r>
              <a:rPr sz="900" spc="-25" dirty="0">
                <a:latin typeface="Arial"/>
                <a:cs typeface="Arial"/>
              </a:rPr>
              <a:t> </a:t>
            </a:r>
            <a:r>
              <a:rPr sz="900" dirty="0">
                <a:latin typeface="Arial"/>
                <a:cs typeface="Arial"/>
              </a:rPr>
              <a:t>it</a:t>
            </a:r>
            <a:r>
              <a:rPr sz="900" spc="-30" dirty="0">
                <a:latin typeface="Arial"/>
                <a:cs typeface="Arial"/>
              </a:rPr>
              <a:t> </a:t>
            </a:r>
            <a:r>
              <a:rPr sz="900" dirty="0">
                <a:latin typeface="Arial"/>
                <a:cs typeface="Arial"/>
              </a:rPr>
              <a:t>was</a:t>
            </a:r>
            <a:r>
              <a:rPr sz="900" spc="-25" dirty="0">
                <a:latin typeface="Arial"/>
                <a:cs typeface="Arial"/>
              </a:rPr>
              <a:t> </a:t>
            </a:r>
            <a:r>
              <a:rPr sz="900" dirty="0">
                <a:latin typeface="Arial"/>
                <a:cs typeface="Arial"/>
              </a:rPr>
              <a:t>just</a:t>
            </a:r>
            <a:r>
              <a:rPr sz="900" spc="-25" dirty="0">
                <a:latin typeface="Arial"/>
                <a:cs typeface="Arial"/>
              </a:rPr>
              <a:t> </a:t>
            </a:r>
            <a:r>
              <a:rPr sz="900" dirty="0">
                <a:latin typeface="Arial"/>
                <a:cs typeface="Arial"/>
              </a:rPr>
              <a:t>sent,</a:t>
            </a:r>
            <a:r>
              <a:rPr sz="900" spc="-30" dirty="0">
                <a:latin typeface="Arial"/>
                <a:cs typeface="Arial"/>
              </a:rPr>
              <a:t> </a:t>
            </a:r>
            <a:r>
              <a:rPr sz="900" dirty="0">
                <a:latin typeface="Arial"/>
                <a:cs typeface="Arial"/>
              </a:rPr>
              <a:t>but</a:t>
            </a:r>
            <a:r>
              <a:rPr sz="900" spc="-25" dirty="0">
                <a:latin typeface="Arial"/>
                <a:cs typeface="Arial"/>
              </a:rPr>
              <a:t> its </a:t>
            </a:r>
            <a:r>
              <a:rPr sz="900" spc="-10" dirty="0">
                <a:latin typeface="Arial"/>
                <a:cs typeface="Arial"/>
              </a:rPr>
              <a:t>perspective</a:t>
            </a:r>
            <a:r>
              <a:rPr sz="900" spc="-35" dirty="0">
                <a:latin typeface="Arial"/>
                <a:cs typeface="Arial"/>
              </a:rPr>
              <a:t> </a:t>
            </a:r>
            <a:r>
              <a:rPr sz="900" dirty="0">
                <a:latin typeface="Arial"/>
                <a:cs typeface="Arial"/>
              </a:rPr>
              <a:t>on</a:t>
            </a:r>
            <a:r>
              <a:rPr sz="900" spc="-35" dirty="0">
                <a:latin typeface="Arial"/>
                <a:cs typeface="Arial"/>
              </a:rPr>
              <a:t> </a:t>
            </a:r>
            <a:r>
              <a:rPr sz="900" dirty="0">
                <a:latin typeface="Arial"/>
                <a:cs typeface="Arial"/>
              </a:rPr>
              <a:t>which</a:t>
            </a:r>
            <a:r>
              <a:rPr sz="900" spc="-35" dirty="0">
                <a:latin typeface="Arial"/>
                <a:cs typeface="Arial"/>
              </a:rPr>
              <a:t> </a:t>
            </a:r>
            <a:r>
              <a:rPr sz="900" dirty="0">
                <a:latin typeface="Arial"/>
                <a:cs typeface="Arial"/>
              </a:rPr>
              <a:t>server</a:t>
            </a:r>
            <a:r>
              <a:rPr sz="900" spc="-35" dirty="0">
                <a:latin typeface="Arial"/>
                <a:cs typeface="Arial"/>
              </a:rPr>
              <a:t> </a:t>
            </a:r>
            <a:r>
              <a:rPr sz="900" dirty="0">
                <a:latin typeface="Arial"/>
                <a:cs typeface="Arial"/>
              </a:rPr>
              <a:t>will</a:t>
            </a:r>
            <a:r>
              <a:rPr sz="900" spc="-35" dirty="0">
                <a:latin typeface="Arial"/>
                <a:cs typeface="Arial"/>
              </a:rPr>
              <a:t> </a:t>
            </a:r>
            <a:r>
              <a:rPr sz="900" dirty="0">
                <a:latin typeface="Arial"/>
                <a:cs typeface="Arial"/>
              </a:rPr>
              <a:t>be</a:t>
            </a:r>
            <a:r>
              <a:rPr sz="900" spc="-35" dirty="0">
                <a:latin typeface="Arial"/>
                <a:cs typeface="Arial"/>
              </a:rPr>
              <a:t> </a:t>
            </a:r>
            <a:r>
              <a:rPr sz="900" dirty="0">
                <a:latin typeface="Arial"/>
                <a:cs typeface="Arial"/>
              </a:rPr>
              <a:t>the</a:t>
            </a:r>
            <a:r>
              <a:rPr sz="900" spc="-35" dirty="0">
                <a:latin typeface="Arial"/>
                <a:cs typeface="Arial"/>
              </a:rPr>
              <a:t> </a:t>
            </a:r>
            <a:r>
              <a:rPr sz="900" spc="-10" dirty="0">
                <a:latin typeface="Arial"/>
                <a:cs typeface="Arial"/>
              </a:rPr>
              <a:t>next</a:t>
            </a:r>
            <a:r>
              <a:rPr sz="900" spc="-35" dirty="0">
                <a:latin typeface="Arial"/>
                <a:cs typeface="Arial"/>
              </a:rPr>
              <a:t> </a:t>
            </a:r>
            <a:r>
              <a:rPr sz="900" dirty="0">
                <a:latin typeface="Arial"/>
                <a:cs typeface="Arial"/>
              </a:rPr>
              <a:t>leader</a:t>
            </a:r>
            <a:r>
              <a:rPr sz="900" spc="-35" dirty="0">
                <a:latin typeface="Arial"/>
                <a:cs typeface="Arial"/>
              </a:rPr>
              <a:t> </a:t>
            </a:r>
            <a:r>
              <a:rPr sz="900" dirty="0">
                <a:latin typeface="Arial"/>
                <a:cs typeface="Arial"/>
              </a:rPr>
              <a:t>needs</a:t>
            </a:r>
            <a:r>
              <a:rPr sz="900" spc="-35" dirty="0">
                <a:latin typeface="Arial"/>
                <a:cs typeface="Arial"/>
              </a:rPr>
              <a:t> </a:t>
            </a:r>
            <a:r>
              <a:rPr sz="900" dirty="0">
                <a:latin typeface="Arial"/>
                <a:cs typeface="Arial"/>
              </a:rPr>
              <a:t>to</a:t>
            </a:r>
            <a:r>
              <a:rPr sz="900" spc="-35" dirty="0">
                <a:latin typeface="Arial"/>
                <a:cs typeface="Arial"/>
              </a:rPr>
              <a:t> </a:t>
            </a:r>
            <a:r>
              <a:rPr sz="900" dirty="0">
                <a:latin typeface="Arial"/>
                <a:cs typeface="Arial"/>
              </a:rPr>
              <a:t>be</a:t>
            </a:r>
            <a:r>
              <a:rPr sz="900" spc="-35" dirty="0">
                <a:latin typeface="Arial"/>
                <a:cs typeface="Arial"/>
              </a:rPr>
              <a:t> </a:t>
            </a:r>
            <a:r>
              <a:rPr sz="900" spc="-10" dirty="0">
                <a:latin typeface="Arial"/>
                <a:cs typeface="Arial"/>
              </a:rPr>
              <a:t>updated:</a:t>
            </a:r>
            <a:endParaRPr sz="900">
              <a:latin typeface="Arial"/>
              <a:cs typeface="Arial"/>
            </a:endParaRPr>
          </a:p>
          <a:p>
            <a:pPr marL="561975" lvl="1" indent="-120650">
              <a:lnSpc>
                <a:spcPct val="100000"/>
              </a:lnSpc>
              <a:spcBef>
                <a:spcPts val="525"/>
              </a:spcBef>
              <a:buClr>
                <a:srgbClr val="3333B2"/>
              </a:buClr>
              <a:buFont typeface="Menlo"/>
              <a:buChar char="•"/>
              <a:tabLst>
                <a:tab pos="562610" algn="l"/>
              </a:tabLst>
            </a:pPr>
            <a:r>
              <a:rPr sz="900" i="1" dirty="0">
                <a:latin typeface="Arial"/>
                <a:cs typeface="Arial"/>
              </a:rPr>
              <a:t>leader</a:t>
            </a:r>
            <a:r>
              <a:rPr sz="900" dirty="0">
                <a:latin typeface="Arial"/>
                <a:cs typeface="Arial"/>
              </a:rPr>
              <a:t>(</a:t>
            </a:r>
            <a:r>
              <a:rPr sz="900" i="1" dirty="0">
                <a:latin typeface="Arial"/>
                <a:cs typeface="Arial"/>
              </a:rPr>
              <a:t>s</a:t>
            </a:r>
            <a:r>
              <a:rPr sz="1050" i="1" baseline="27777" dirty="0">
                <a:latin typeface="Menlo"/>
                <a:cs typeface="Menlo"/>
              </a:rPr>
              <a:t>∗</a:t>
            </a:r>
            <a:r>
              <a:rPr sz="900" dirty="0">
                <a:latin typeface="Arial"/>
                <a:cs typeface="Arial"/>
              </a:rPr>
              <a:t>)</a:t>
            </a:r>
            <a:r>
              <a:rPr sz="900" spc="-20" dirty="0">
                <a:latin typeface="Arial"/>
                <a:cs typeface="Arial"/>
              </a:rPr>
              <a:t> </a:t>
            </a:r>
            <a:r>
              <a:rPr sz="900" i="1" spc="350" dirty="0">
                <a:latin typeface="Menlo"/>
                <a:cs typeface="Menlo"/>
              </a:rPr>
              <a:t>←</a:t>
            </a:r>
            <a:r>
              <a:rPr sz="900" i="1" spc="-305" dirty="0">
                <a:latin typeface="Menlo"/>
                <a:cs typeface="Menlo"/>
              </a:rPr>
              <a:t> </a:t>
            </a:r>
            <a:r>
              <a:rPr sz="900" i="1" spc="-10" dirty="0">
                <a:latin typeface="Arial"/>
                <a:cs typeface="Arial"/>
              </a:rPr>
              <a:t>voteID</a:t>
            </a:r>
            <a:endParaRPr sz="900">
              <a:latin typeface="Arial"/>
              <a:cs typeface="Arial"/>
            </a:endParaRPr>
          </a:p>
          <a:p>
            <a:pPr>
              <a:lnSpc>
                <a:spcPct val="100000"/>
              </a:lnSpc>
              <a:spcBef>
                <a:spcPts val="55"/>
              </a:spcBef>
            </a:pPr>
            <a:endParaRPr sz="1200">
              <a:latin typeface="Arial"/>
              <a:cs typeface="Arial"/>
            </a:endParaRPr>
          </a:p>
          <a:p>
            <a:pPr marL="55880">
              <a:lnSpc>
                <a:spcPct val="100000"/>
              </a:lnSpc>
            </a:pPr>
            <a:r>
              <a:rPr sz="1000" spc="-20" dirty="0">
                <a:solidFill>
                  <a:srgbClr val="C80000"/>
                </a:solidFill>
                <a:latin typeface="Arial"/>
                <a:cs typeface="Arial"/>
              </a:rPr>
              <a:t>Note</a:t>
            </a:r>
            <a:endParaRPr sz="1000">
              <a:latin typeface="Arial"/>
              <a:cs typeface="Arial"/>
            </a:endParaRPr>
          </a:p>
          <a:p>
            <a:pPr marL="55880" marR="408305" indent="-5715">
              <a:lnSpc>
                <a:spcPts val="1210"/>
              </a:lnSpc>
              <a:spcBef>
                <a:spcPts val="35"/>
              </a:spcBef>
            </a:pPr>
            <a:r>
              <a:rPr sz="900" dirty="0">
                <a:latin typeface="Arial"/>
                <a:cs typeface="Arial"/>
              </a:rPr>
              <a:t>When</a:t>
            </a:r>
            <a:r>
              <a:rPr sz="900" spc="-35" dirty="0">
                <a:latin typeface="Arial"/>
                <a:cs typeface="Arial"/>
              </a:rPr>
              <a:t> </a:t>
            </a:r>
            <a:r>
              <a:rPr sz="900" i="1" spc="-35" dirty="0">
                <a:latin typeface="Arial"/>
                <a:cs typeface="Arial"/>
              </a:rPr>
              <a:t>s</a:t>
            </a:r>
            <a:r>
              <a:rPr sz="1050" i="1" spc="-52" baseline="27777" dirty="0">
                <a:latin typeface="Menlo"/>
                <a:cs typeface="Menlo"/>
              </a:rPr>
              <a:t>∗</a:t>
            </a:r>
            <a:r>
              <a:rPr sz="1050" i="1" spc="-187" baseline="27777" dirty="0">
                <a:latin typeface="Menlo"/>
                <a:cs typeface="Menlo"/>
              </a:rPr>
              <a:t> </a:t>
            </a:r>
            <a:r>
              <a:rPr sz="900" spc="-10" dirty="0">
                <a:latin typeface="Arial"/>
                <a:cs typeface="Arial"/>
              </a:rPr>
              <a:t>believes</a:t>
            </a:r>
            <a:r>
              <a:rPr sz="900" spc="-15" dirty="0">
                <a:latin typeface="Arial"/>
                <a:cs typeface="Arial"/>
              </a:rPr>
              <a:t> </a:t>
            </a:r>
            <a:r>
              <a:rPr sz="900" dirty="0">
                <a:latin typeface="Arial"/>
                <a:cs typeface="Arial"/>
              </a:rPr>
              <a:t>it</a:t>
            </a:r>
            <a:r>
              <a:rPr sz="900" spc="-15" dirty="0">
                <a:latin typeface="Arial"/>
                <a:cs typeface="Arial"/>
              </a:rPr>
              <a:t> </a:t>
            </a:r>
            <a:r>
              <a:rPr sz="900" dirty="0">
                <a:latin typeface="Arial"/>
                <a:cs typeface="Arial"/>
              </a:rPr>
              <a:t>should</a:t>
            </a:r>
            <a:r>
              <a:rPr sz="900" spc="-15" dirty="0">
                <a:latin typeface="Arial"/>
                <a:cs typeface="Arial"/>
              </a:rPr>
              <a:t> </a:t>
            </a:r>
            <a:r>
              <a:rPr sz="900" dirty="0">
                <a:latin typeface="Arial"/>
                <a:cs typeface="Arial"/>
              </a:rPr>
              <a:t>be</a:t>
            </a:r>
            <a:r>
              <a:rPr sz="900" spc="-15" dirty="0">
                <a:latin typeface="Arial"/>
                <a:cs typeface="Arial"/>
              </a:rPr>
              <a:t> </a:t>
            </a:r>
            <a:r>
              <a:rPr sz="900" dirty="0">
                <a:latin typeface="Arial"/>
                <a:cs typeface="Arial"/>
              </a:rPr>
              <a:t>the</a:t>
            </a:r>
            <a:r>
              <a:rPr sz="900" spc="-15" dirty="0">
                <a:latin typeface="Arial"/>
                <a:cs typeface="Arial"/>
              </a:rPr>
              <a:t> </a:t>
            </a:r>
            <a:r>
              <a:rPr sz="900" spc="-10" dirty="0">
                <a:latin typeface="Arial"/>
                <a:cs typeface="Arial"/>
              </a:rPr>
              <a:t>leader,</a:t>
            </a:r>
            <a:r>
              <a:rPr sz="900" spc="-15" dirty="0">
                <a:latin typeface="Arial"/>
                <a:cs typeface="Arial"/>
              </a:rPr>
              <a:t> </a:t>
            </a:r>
            <a:r>
              <a:rPr sz="900" dirty="0">
                <a:latin typeface="Arial"/>
                <a:cs typeface="Arial"/>
              </a:rPr>
              <a:t>it</a:t>
            </a:r>
            <a:r>
              <a:rPr sz="900" spc="-15" dirty="0">
                <a:latin typeface="Arial"/>
                <a:cs typeface="Arial"/>
              </a:rPr>
              <a:t> </a:t>
            </a:r>
            <a:r>
              <a:rPr sz="900" dirty="0">
                <a:latin typeface="Arial"/>
                <a:cs typeface="Arial"/>
              </a:rPr>
              <a:t>broadcasts</a:t>
            </a:r>
            <a:r>
              <a:rPr sz="900" spc="-15" dirty="0">
                <a:latin typeface="Arial"/>
                <a:cs typeface="Arial"/>
              </a:rPr>
              <a:t> </a:t>
            </a:r>
            <a:r>
              <a:rPr sz="900" i="1" spc="-10" dirty="0">
                <a:latin typeface="Menlo"/>
                <a:cs typeface="Menlo"/>
              </a:rPr>
              <a:t>⟨</a:t>
            </a:r>
            <a:r>
              <a:rPr sz="900" i="1" spc="-10" dirty="0">
                <a:latin typeface="Arial"/>
                <a:cs typeface="Arial"/>
              </a:rPr>
              <a:t>id</a:t>
            </a:r>
            <a:r>
              <a:rPr sz="900" spc="-10" dirty="0">
                <a:latin typeface="Arial"/>
                <a:cs typeface="Arial"/>
              </a:rPr>
              <a:t>(</a:t>
            </a:r>
            <a:r>
              <a:rPr sz="900" i="1" spc="-10" dirty="0">
                <a:latin typeface="Arial"/>
                <a:cs typeface="Arial"/>
              </a:rPr>
              <a:t>s</a:t>
            </a:r>
            <a:r>
              <a:rPr sz="1050" i="1" spc="-15" baseline="27777" dirty="0">
                <a:latin typeface="Menlo"/>
                <a:cs typeface="Menlo"/>
              </a:rPr>
              <a:t>∗</a:t>
            </a:r>
            <a:r>
              <a:rPr sz="900" spc="-10" dirty="0">
                <a:latin typeface="Arial"/>
                <a:cs typeface="Arial"/>
              </a:rPr>
              <a:t>)</a:t>
            </a:r>
            <a:r>
              <a:rPr sz="900" i="1" spc="-10" dirty="0">
                <a:latin typeface="STIX Two Text"/>
                <a:cs typeface="STIX Two Text"/>
              </a:rPr>
              <a:t>,</a:t>
            </a:r>
            <a:r>
              <a:rPr sz="900" i="1" spc="-105" dirty="0">
                <a:latin typeface="STIX Two Text"/>
                <a:cs typeface="STIX Two Text"/>
              </a:rPr>
              <a:t> </a:t>
            </a:r>
            <a:r>
              <a:rPr sz="900" i="1" spc="-10" dirty="0">
                <a:latin typeface="Arial"/>
                <a:cs typeface="Arial"/>
              </a:rPr>
              <a:t>tx</a:t>
            </a:r>
            <a:r>
              <a:rPr sz="900" spc="-10" dirty="0">
                <a:latin typeface="Arial"/>
                <a:cs typeface="Arial"/>
              </a:rPr>
              <a:t>(</a:t>
            </a:r>
            <a:r>
              <a:rPr sz="900" i="1" spc="-10" dirty="0">
                <a:latin typeface="Arial"/>
                <a:cs typeface="Arial"/>
              </a:rPr>
              <a:t>s</a:t>
            </a:r>
            <a:r>
              <a:rPr sz="1050" i="1" spc="-15" baseline="27777" dirty="0">
                <a:latin typeface="Menlo"/>
                <a:cs typeface="Menlo"/>
              </a:rPr>
              <a:t>∗</a:t>
            </a:r>
            <a:r>
              <a:rPr sz="900" spc="-10" dirty="0">
                <a:latin typeface="Arial"/>
                <a:cs typeface="Arial"/>
              </a:rPr>
              <a:t>)</a:t>
            </a:r>
            <a:r>
              <a:rPr sz="900" i="1" spc="-10" dirty="0">
                <a:latin typeface="Menlo"/>
                <a:cs typeface="Menlo"/>
              </a:rPr>
              <a:t>⟩</a:t>
            </a:r>
            <a:r>
              <a:rPr sz="900" spc="-10" dirty="0">
                <a:latin typeface="Arial"/>
                <a:cs typeface="Arial"/>
              </a:rPr>
              <a:t>. </a:t>
            </a:r>
            <a:r>
              <a:rPr sz="900" spc="-10" dirty="0">
                <a:solidFill>
                  <a:srgbClr val="3333B2"/>
                </a:solidFill>
                <a:latin typeface="Arial"/>
                <a:cs typeface="Arial"/>
              </a:rPr>
              <a:t>Essentially,</a:t>
            </a:r>
            <a:r>
              <a:rPr sz="900" spc="-30" dirty="0">
                <a:solidFill>
                  <a:srgbClr val="3333B2"/>
                </a:solidFill>
                <a:latin typeface="Arial"/>
                <a:cs typeface="Arial"/>
              </a:rPr>
              <a:t> </a:t>
            </a:r>
            <a:r>
              <a:rPr sz="900" spc="-10" dirty="0">
                <a:solidFill>
                  <a:srgbClr val="3333B2"/>
                </a:solidFill>
                <a:latin typeface="Arial"/>
                <a:cs typeface="Arial"/>
              </a:rPr>
              <a:t>we’re</a:t>
            </a:r>
            <a:r>
              <a:rPr sz="900" spc="-25" dirty="0">
                <a:solidFill>
                  <a:srgbClr val="3333B2"/>
                </a:solidFill>
                <a:latin typeface="Arial"/>
                <a:cs typeface="Arial"/>
              </a:rPr>
              <a:t> </a:t>
            </a:r>
            <a:r>
              <a:rPr sz="900" spc="-10" dirty="0">
                <a:solidFill>
                  <a:srgbClr val="3333B2"/>
                </a:solidFill>
                <a:latin typeface="Arial"/>
                <a:cs typeface="Arial"/>
              </a:rPr>
              <a:t>bullying</a:t>
            </a:r>
            <a:r>
              <a:rPr sz="900" spc="-10" dirty="0">
                <a:latin typeface="Arial"/>
                <a:cs typeface="Arial"/>
              </a:rPr>
              <a:t>.</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113855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Example:</a:t>
            </a:r>
            <a:r>
              <a:rPr sz="500" spc="10" dirty="0">
                <a:latin typeface="Arial"/>
                <a:cs typeface="Arial"/>
                <a:hlinkClick r:id="rId4" action="ppaction://hlinksldjump"/>
              </a:rPr>
              <a:t> </a:t>
            </a:r>
            <a:r>
              <a:rPr sz="500" dirty="0">
                <a:latin typeface="Arial"/>
                <a:cs typeface="Arial"/>
                <a:hlinkClick r:id="rId4" action="ppaction://hlinksldjump"/>
              </a:rPr>
              <a:t>Leader</a:t>
            </a:r>
            <a:r>
              <a:rPr sz="500" spc="-20" dirty="0">
                <a:latin typeface="Arial"/>
                <a:cs typeface="Arial"/>
                <a:hlinkClick r:id="rId4" action="ppaction://hlinksldjump"/>
              </a:rPr>
              <a:t> </a:t>
            </a:r>
            <a:r>
              <a:rPr sz="500" dirty="0">
                <a:latin typeface="Arial"/>
                <a:cs typeface="Arial"/>
                <a:hlinkClick r:id="rId4" action="ppaction://hlinksldjump"/>
              </a:rPr>
              <a:t>election</a:t>
            </a:r>
            <a:r>
              <a:rPr sz="500" spc="-15" dirty="0">
                <a:latin typeface="Arial"/>
                <a:cs typeface="Arial"/>
                <a:hlinkClick r:id="rId4" action="ppaction://hlinksldjump"/>
              </a:rPr>
              <a:t> </a:t>
            </a:r>
            <a:r>
              <a:rPr sz="500" dirty="0">
                <a:latin typeface="Arial"/>
                <a:cs typeface="Arial"/>
                <a:hlinkClick r:id="rId4" action="ppaction://hlinksldjump"/>
              </a:rPr>
              <a:t>in</a:t>
            </a:r>
            <a:r>
              <a:rPr sz="500" spc="-20" dirty="0">
                <a:latin typeface="Arial"/>
                <a:cs typeface="Arial"/>
                <a:hlinkClick r:id="rId4" action="ppaction://hlinksldjump"/>
              </a:rPr>
              <a:t> </a:t>
            </a:r>
            <a:r>
              <a:rPr sz="500" spc="-10" dirty="0">
                <a:latin typeface="Arial"/>
                <a:cs typeface="Arial"/>
                <a:hlinkClick r:id="rId4" action="ppaction://hlinksldjump"/>
              </a:rPr>
              <a:t>ZooKeeper</a:t>
            </a:r>
            <a:endParaRPr sz="500">
              <a:latin typeface="Arial"/>
              <a:cs typeface="Arial"/>
            </a:endParaRPr>
          </a:p>
        </p:txBody>
      </p:sp>
    </p:spTree>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8417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Coordination</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993806" y="-1515"/>
            <a:ext cx="561340"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Election</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algorithms</a:t>
            </a:r>
            <a:endParaRPr sz="500">
              <a:latin typeface="Arial"/>
              <a:cs typeface="Arial"/>
            </a:endParaRPr>
          </a:p>
        </p:txBody>
      </p:sp>
      <p:sp>
        <p:nvSpPr>
          <p:cNvPr id="5" name="object 5"/>
          <p:cNvSpPr txBox="1"/>
          <p:nvPr/>
        </p:nvSpPr>
        <p:spPr>
          <a:xfrm>
            <a:off x="69900" y="197711"/>
            <a:ext cx="3940175" cy="1612900"/>
          </a:xfrm>
          <a:prstGeom prst="rect">
            <a:avLst/>
          </a:prstGeom>
        </p:spPr>
        <p:txBody>
          <a:bodyPr vert="horz" wrap="square" lIns="0" tIns="12065" rIns="0" bIns="0" rtlCol="0">
            <a:spAutoFit/>
          </a:bodyPr>
          <a:lstStyle/>
          <a:p>
            <a:pPr marL="38100">
              <a:lnSpc>
                <a:spcPct val="100000"/>
              </a:lnSpc>
              <a:spcBef>
                <a:spcPts val="95"/>
              </a:spcBef>
            </a:pPr>
            <a:r>
              <a:rPr sz="1200" dirty="0">
                <a:solidFill>
                  <a:srgbClr val="3333B2"/>
                </a:solidFill>
                <a:latin typeface="Arial"/>
                <a:cs typeface="Arial"/>
              </a:rPr>
              <a:t>Example:</a:t>
            </a:r>
            <a:r>
              <a:rPr sz="1200" spc="30" dirty="0">
                <a:solidFill>
                  <a:srgbClr val="3333B2"/>
                </a:solidFill>
                <a:latin typeface="Arial"/>
                <a:cs typeface="Arial"/>
              </a:rPr>
              <a:t> </a:t>
            </a:r>
            <a:r>
              <a:rPr sz="1200" dirty="0">
                <a:solidFill>
                  <a:srgbClr val="3333B2"/>
                </a:solidFill>
                <a:latin typeface="Arial"/>
                <a:cs typeface="Arial"/>
              </a:rPr>
              <a:t>Leader</a:t>
            </a:r>
            <a:r>
              <a:rPr sz="1200" spc="-35" dirty="0">
                <a:solidFill>
                  <a:srgbClr val="3333B2"/>
                </a:solidFill>
                <a:latin typeface="Arial"/>
                <a:cs typeface="Arial"/>
              </a:rPr>
              <a:t> </a:t>
            </a:r>
            <a:r>
              <a:rPr sz="1200" dirty="0">
                <a:solidFill>
                  <a:srgbClr val="3333B2"/>
                </a:solidFill>
                <a:latin typeface="Arial"/>
                <a:cs typeface="Arial"/>
              </a:rPr>
              <a:t>election</a:t>
            </a:r>
            <a:r>
              <a:rPr sz="1200" spc="-40" dirty="0">
                <a:solidFill>
                  <a:srgbClr val="3333B2"/>
                </a:solidFill>
                <a:latin typeface="Arial"/>
                <a:cs typeface="Arial"/>
              </a:rPr>
              <a:t> </a:t>
            </a:r>
            <a:r>
              <a:rPr sz="1200" dirty="0">
                <a:solidFill>
                  <a:srgbClr val="3333B2"/>
                </a:solidFill>
                <a:latin typeface="Arial"/>
                <a:cs typeface="Arial"/>
              </a:rPr>
              <a:t>in</a:t>
            </a:r>
            <a:r>
              <a:rPr sz="1200" spc="-35" dirty="0">
                <a:solidFill>
                  <a:srgbClr val="3333B2"/>
                </a:solidFill>
                <a:latin typeface="Arial"/>
                <a:cs typeface="Arial"/>
              </a:rPr>
              <a:t> </a:t>
            </a:r>
            <a:r>
              <a:rPr sz="1200" spc="-20" dirty="0">
                <a:solidFill>
                  <a:srgbClr val="3333B2"/>
                </a:solidFill>
                <a:latin typeface="Arial"/>
                <a:cs typeface="Arial"/>
              </a:rPr>
              <a:t>Raft</a:t>
            </a:r>
            <a:endParaRPr sz="1200">
              <a:latin typeface="Arial"/>
              <a:cs typeface="Arial"/>
            </a:endParaRPr>
          </a:p>
          <a:p>
            <a:pPr marL="289560">
              <a:lnSpc>
                <a:spcPct val="100000"/>
              </a:lnSpc>
              <a:spcBef>
                <a:spcPts val="1055"/>
              </a:spcBef>
            </a:pPr>
            <a:r>
              <a:rPr sz="1000" spc="-10" dirty="0">
                <a:solidFill>
                  <a:srgbClr val="3333B2"/>
                </a:solidFill>
                <a:latin typeface="Arial"/>
                <a:cs typeface="Arial"/>
              </a:rPr>
              <a:t>Basics</a:t>
            </a:r>
            <a:endParaRPr sz="1000">
              <a:latin typeface="Arial"/>
              <a:cs typeface="Arial"/>
            </a:endParaRPr>
          </a:p>
          <a:p>
            <a:pPr marL="537210" indent="-114935">
              <a:lnSpc>
                <a:spcPct val="100000"/>
              </a:lnSpc>
              <a:spcBef>
                <a:spcPts val="505"/>
              </a:spcBef>
              <a:buClr>
                <a:srgbClr val="3333B2"/>
              </a:buClr>
              <a:buFont typeface="Menlo"/>
              <a:buChar char="•"/>
              <a:tabLst>
                <a:tab pos="537845" algn="l"/>
              </a:tabLst>
            </a:pPr>
            <a:r>
              <a:rPr sz="900" dirty="0">
                <a:latin typeface="Arial"/>
                <a:cs typeface="Arial"/>
              </a:rPr>
              <a:t>We</a:t>
            </a:r>
            <a:r>
              <a:rPr sz="900" spc="-20" dirty="0">
                <a:latin typeface="Arial"/>
                <a:cs typeface="Arial"/>
              </a:rPr>
              <a:t> </a:t>
            </a:r>
            <a:r>
              <a:rPr sz="900" spc="-10" dirty="0">
                <a:latin typeface="Arial"/>
                <a:cs typeface="Arial"/>
              </a:rPr>
              <a:t>have</a:t>
            </a:r>
            <a:r>
              <a:rPr sz="900" spc="-20" dirty="0">
                <a:latin typeface="Arial"/>
                <a:cs typeface="Arial"/>
              </a:rPr>
              <a:t> </a:t>
            </a:r>
            <a:r>
              <a:rPr sz="900" dirty="0">
                <a:latin typeface="Arial"/>
                <a:cs typeface="Arial"/>
              </a:rPr>
              <a:t>a</a:t>
            </a:r>
            <a:r>
              <a:rPr sz="900" spc="-15" dirty="0">
                <a:latin typeface="Arial"/>
                <a:cs typeface="Arial"/>
              </a:rPr>
              <a:t> </a:t>
            </a:r>
            <a:r>
              <a:rPr sz="900" spc="-10" dirty="0">
                <a:latin typeface="Arial"/>
                <a:cs typeface="Arial"/>
              </a:rPr>
              <a:t>(relatively</a:t>
            </a:r>
            <a:r>
              <a:rPr sz="900" spc="-20" dirty="0">
                <a:latin typeface="Arial"/>
                <a:cs typeface="Arial"/>
              </a:rPr>
              <a:t> </a:t>
            </a:r>
            <a:r>
              <a:rPr sz="900" dirty="0">
                <a:latin typeface="Arial"/>
                <a:cs typeface="Arial"/>
              </a:rPr>
              <a:t>small)</a:t>
            </a:r>
            <a:r>
              <a:rPr sz="900" spc="-15" dirty="0">
                <a:latin typeface="Arial"/>
                <a:cs typeface="Arial"/>
              </a:rPr>
              <a:t> </a:t>
            </a:r>
            <a:r>
              <a:rPr sz="900" dirty="0">
                <a:latin typeface="Arial"/>
                <a:cs typeface="Arial"/>
              </a:rPr>
              <a:t>group</a:t>
            </a:r>
            <a:r>
              <a:rPr sz="900" spc="-20" dirty="0">
                <a:latin typeface="Arial"/>
                <a:cs typeface="Arial"/>
              </a:rPr>
              <a:t> </a:t>
            </a:r>
            <a:r>
              <a:rPr sz="900" dirty="0">
                <a:latin typeface="Arial"/>
                <a:cs typeface="Arial"/>
              </a:rPr>
              <a:t>of</a:t>
            </a:r>
            <a:r>
              <a:rPr sz="900" spc="-20" dirty="0">
                <a:latin typeface="Arial"/>
                <a:cs typeface="Arial"/>
              </a:rPr>
              <a:t> </a:t>
            </a:r>
            <a:r>
              <a:rPr sz="900" spc="-10" dirty="0">
                <a:latin typeface="Arial"/>
                <a:cs typeface="Arial"/>
              </a:rPr>
              <a:t>servers</a:t>
            </a:r>
            <a:endParaRPr sz="900">
              <a:latin typeface="Arial"/>
              <a:cs typeface="Arial"/>
            </a:endParaRPr>
          </a:p>
          <a:p>
            <a:pPr marL="539115" indent="-116839">
              <a:lnSpc>
                <a:spcPct val="100000"/>
              </a:lnSpc>
              <a:spcBef>
                <a:spcPts val="425"/>
              </a:spcBef>
              <a:buClr>
                <a:srgbClr val="3333B2"/>
              </a:buClr>
              <a:buFont typeface="Menlo"/>
              <a:buChar char="•"/>
              <a:tabLst>
                <a:tab pos="539750" algn="l"/>
              </a:tabLst>
            </a:pPr>
            <a:r>
              <a:rPr sz="900" dirty="0">
                <a:latin typeface="Arial"/>
                <a:cs typeface="Arial"/>
              </a:rPr>
              <a:t>A</a:t>
            </a:r>
            <a:r>
              <a:rPr sz="900" spc="-15" dirty="0">
                <a:latin typeface="Arial"/>
                <a:cs typeface="Arial"/>
              </a:rPr>
              <a:t> </a:t>
            </a:r>
            <a:r>
              <a:rPr sz="900" dirty="0">
                <a:latin typeface="Arial"/>
                <a:cs typeface="Arial"/>
              </a:rPr>
              <a:t>server</a:t>
            </a:r>
            <a:r>
              <a:rPr sz="900" spc="-15" dirty="0">
                <a:latin typeface="Arial"/>
                <a:cs typeface="Arial"/>
              </a:rPr>
              <a:t> </a:t>
            </a:r>
            <a:r>
              <a:rPr sz="900" dirty="0">
                <a:latin typeface="Arial"/>
                <a:cs typeface="Arial"/>
              </a:rPr>
              <a:t>is</a:t>
            </a:r>
            <a:r>
              <a:rPr sz="900" spc="-10" dirty="0">
                <a:latin typeface="Arial"/>
                <a:cs typeface="Arial"/>
              </a:rPr>
              <a:t> </a:t>
            </a:r>
            <a:r>
              <a:rPr sz="900" dirty="0">
                <a:latin typeface="Arial"/>
                <a:cs typeface="Arial"/>
              </a:rPr>
              <a:t>in</a:t>
            </a:r>
            <a:r>
              <a:rPr sz="900" spc="-10" dirty="0">
                <a:latin typeface="Arial"/>
                <a:cs typeface="Arial"/>
              </a:rPr>
              <a:t> </a:t>
            </a:r>
            <a:r>
              <a:rPr sz="900" dirty="0">
                <a:latin typeface="Arial"/>
                <a:cs typeface="Arial"/>
              </a:rPr>
              <a:t>one</a:t>
            </a:r>
            <a:r>
              <a:rPr sz="900" spc="-15" dirty="0">
                <a:latin typeface="Arial"/>
                <a:cs typeface="Arial"/>
              </a:rPr>
              <a:t> </a:t>
            </a:r>
            <a:r>
              <a:rPr sz="900" dirty="0">
                <a:latin typeface="Arial"/>
                <a:cs typeface="Arial"/>
              </a:rPr>
              <a:t>of</a:t>
            </a:r>
            <a:r>
              <a:rPr sz="900" spc="-10" dirty="0">
                <a:latin typeface="Arial"/>
                <a:cs typeface="Arial"/>
              </a:rPr>
              <a:t> </a:t>
            </a:r>
            <a:r>
              <a:rPr sz="900" dirty="0">
                <a:latin typeface="Arial"/>
                <a:cs typeface="Arial"/>
              </a:rPr>
              <a:t>three</a:t>
            </a:r>
            <a:r>
              <a:rPr sz="900" spc="-10" dirty="0">
                <a:latin typeface="Arial"/>
                <a:cs typeface="Arial"/>
              </a:rPr>
              <a:t> </a:t>
            </a:r>
            <a:r>
              <a:rPr sz="900" dirty="0">
                <a:latin typeface="Arial"/>
                <a:cs typeface="Arial"/>
              </a:rPr>
              <a:t>states:</a:t>
            </a:r>
            <a:r>
              <a:rPr sz="900" spc="45" dirty="0">
                <a:latin typeface="Arial"/>
                <a:cs typeface="Arial"/>
              </a:rPr>
              <a:t> </a:t>
            </a:r>
            <a:r>
              <a:rPr sz="900" i="1" spc="-20" dirty="0">
                <a:solidFill>
                  <a:srgbClr val="C80000"/>
                </a:solidFill>
                <a:latin typeface="Arial"/>
                <a:cs typeface="Arial"/>
              </a:rPr>
              <a:t>follower</a:t>
            </a:r>
            <a:r>
              <a:rPr sz="900" i="1" spc="-150" dirty="0">
                <a:solidFill>
                  <a:srgbClr val="C80000"/>
                </a:solidFill>
                <a:latin typeface="Arial"/>
                <a:cs typeface="Arial"/>
              </a:rPr>
              <a:t> </a:t>
            </a:r>
            <a:r>
              <a:rPr sz="900" dirty="0">
                <a:latin typeface="Arial"/>
                <a:cs typeface="Arial"/>
              </a:rPr>
              <a:t>,</a:t>
            </a:r>
            <a:r>
              <a:rPr sz="900" spc="-10" dirty="0">
                <a:latin typeface="Arial"/>
                <a:cs typeface="Arial"/>
              </a:rPr>
              <a:t> </a:t>
            </a:r>
            <a:r>
              <a:rPr sz="900" i="1" dirty="0">
                <a:solidFill>
                  <a:srgbClr val="C80000"/>
                </a:solidFill>
                <a:latin typeface="Arial"/>
                <a:cs typeface="Arial"/>
              </a:rPr>
              <a:t>candidate</a:t>
            </a:r>
            <a:r>
              <a:rPr sz="900" dirty="0">
                <a:latin typeface="Arial"/>
                <a:cs typeface="Arial"/>
              </a:rPr>
              <a:t>,</a:t>
            </a:r>
            <a:r>
              <a:rPr sz="900" spc="-15" dirty="0">
                <a:latin typeface="Arial"/>
                <a:cs typeface="Arial"/>
              </a:rPr>
              <a:t> </a:t>
            </a:r>
            <a:r>
              <a:rPr sz="900" dirty="0">
                <a:latin typeface="Arial"/>
                <a:cs typeface="Arial"/>
              </a:rPr>
              <a:t>or</a:t>
            </a:r>
            <a:r>
              <a:rPr sz="900" spc="-10" dirty="0">
                <a:latin typeface="Arial"/>
                <a:cs typeface="Arial"/>
              </a:rPr>
              <a:t> </a:t>
            </a:r>
            <a:r>
              <a:rPr sz="900" i="1" spc="-10" dirty="0">
                <a:solidFill>
                  <a:srgbClr val="C80000"/>
                </a:solidFill>
                <a:latin typeface="Arial"/>
                <a:cs typeface="Arial"/>
              </a:rPr>
              <a:t>leader</a:t>
            </a:r>
            <a:endParaRPr sz="900">
              <a:latin typeface="Arial"/>
              <a:cs typeface="Arial"/>
            </a:endParaRPr>
          </a:p>
          <a:p>
            <a:pPr marL="539115" indent="-116839">
              <a:lnSpc>
                <a:spcPct val="100000"/>
              </a:lnSpc>
              <a:spcBef>
                <a:spcPts val="425"/>
              </a:spcBef>
              <a:buClr>
                <a:srgbClr val="3333B2"/>
              </a:buClr>
              <a:buFont typeface="Menlo"/>
              <a:buChar char="•"/>
              <a:tabLst>
                <a:tab pos="539750" algn="l"/>
              </a:tabLst>
            </a:pPr>
            <a:r>
              <a:rPr sz="900" dirty="0">
                <a:latin typeface="Arial"/>
                <a:cs typeface="Arial"/>
              </a:rPr>
              <a:t>The</a:t>
            </a:r>
            <a:r>
              <a:rPr sz="900" spc="-20" dirty="0">
                <a:latin typeface="Arial"/>
                <a:cs typeface="Arial"/>
              </a:rPr>
              <a:t> </a:t>
            </a:r>
            <a:r>
              <a:rPr sz="900" dirty="0">
                <a:latin typeface="Arial"/>
                <a:cs typeface="Arial"/>
              </a:rPr>
              <a:t>protocol</a:t>
            </a:r>
            <a:r>
              <a:rPr sz="900" spc="-15" dirty="0">
                <a:latin typeface="Arial"/>
                <a:cs typeface="Arial"/>
              </a:rPr>
              <a:t> </a:t>
            </a:r>
            <a:r>
              <a:rPr sz="900" dirty="0">
                <a:latin typeface="Arial"/>
                <a:cs typeface="Arial"/>
              </a:rPr>
              <a:t>works</a:t>
            </a:r>
            <a:r>
              <a:rPr sz="900" spc="-15" dirty="0">
                <a:latin typeface="Arial"/>
                <a:cs typeface="Arial"/>
              </a:rPr>
              <a:t> </a:t>
            </a:r>
            <a:r>
              <a:rPr sz="900" dirty="0">
                <a:latin typeface="Arial"/>
                <a:cs typeface="Arial"/>
              </a:rPr>
              <a:t>in</a:t>
            </a:r>
            <a:r>
              <a:rPr sz="900" spc="-20" dirty="0">
                <a:latin typeface="Arial"/>
                <a:cs typeface="Arial"/>
              </a:rPr>
              <a:t> </a:t>
            </a:r>
            <a:r>
              <a:rPr sz="900" dirty="0">
                <a:solidFill>
                  <a:srgbClr val="C80000"/>
                </a:solidFill>
                <a:latin typeface="Arial"/>
                <a:cs typeface="Arial"/>
              </a:rPr>
              <a:t>terms</a:t>
            </a:r>
            <a:r>
              <a:rPr sz="900" dirty="0">
                <a:latin typeface="Arial"/>
                <a:cs typeface="Arial"/>
              </a:rPr>
              <a:t>,</a:t>
            </a:r>
            <a:r>
              <a:rPr sz="900" spc="-15" dirty="0">
                <a:latin typeface="Arial"/>
                <a:cs typeface="Arial"/>
              </a:rPr>
              <a:t> </a:t>
            </a:r>
            <a:r>
              <a:rPr sz="900" dirty="0">
                <a:latin typeface="Arial"/>
                <a:cs typeface="Arial"/>
              </a:rPr>
              <a:t>starting</a:t>
            </a:r>
            <a:r>
              <a:rPr sz="900" spc="-15" dirty="0">
                <a:latin typeface="Arial"/>
                <a:cs typeface="Arial"/>
              </a:rPr>
              <a:t> </a:t>
            </a:r>
            <a:r>
              <a:rPr sz="900" dirty="0">
                <a:latin typeface="Arial"/>
                <a:cs typeface="Arial"/>
              </a:rPr>
              <a:t>with</a:t>
            </a:r>
            <a:r>
              <a:rPr sz="900" spc="-20" dirty="0">
                <a:latin typeface="Arial"/>
                <a:cs typeface="Arial"/>
              </a:rPr>
              <a:t> </a:t>
            </a:r>
            <a:r>
              <a:rPr sz="900" dirty="0">
                <a:latin typeface="Arial"/>
                <a:cs typeface="Arial"/>
              </a:rPr>
              <a:t>term</a:t>
            </a:r>
            <a:r>
              <a:rPr sz="900" spc="-15" dirty="0">
                <a:latin typeface="Arial"/>
                <a:cs typeface="Arial"/>
              </a:rPr>
              <a:t> </a:t>
            </a:r>
            <a:r>
              <a:rPr sz="900" spc="-50" dirty="0">
                <a:latin typeface="Arial"/>
                <a:cs typeface="Arial"/>
              </a:rPr>
              <a:t>0</a:t>
            </a:r>
            <a:endParaRPr sz="900">
              <a:latin typeface="Arial"/>
              <a:cs typeface="Arial"/>
            </a:endParaRPr>
          </a:p>
          <a:p>
            <a:pPr marL="542925" indent="-120650">
              <a:lnSpc>
                <a:spcPct val="100000"/>
              </a:lnSpc>
              <a:spcBef>
                <a:spcPts val="420"/>
              </a:spcBef>
              <a:buClr>
                <a:srgbClr val="3333B2"/>
              </a:buClr>
              <a:buFont typeface="Menlo"/>
              <a:buChar char="•"/>
              <a:tabLst>
                <a:tab pos="543560" algn="l"/>
              </a:tabLst>
            </a:pPr>
            <a:r>
              <a:rPr sz="900" dirty="0">
                <a:latin typeface="Arial"/>
                <a:cs typeface="Arial"/>
              </a:rPr>
              <a:t>Each</a:t>
            </a:r>
            <a:r>
              <a:rPr sz="900" spc="-30" dirty="0">
                <a:latin typeface="Arial"/>
                <a:cs typeface="Arial"/>
              </a:rPr>
              <a:t> </a:t>
            </a:r>
            <a:r>
              <a:rPr sz="900" dirty="0">
                <a:latin typeface="Arial"/>
                <a:cs typeface="Arial"/>
              </a:rPr>
              <a:t>server</a:t>
            </a:r>
            <a:r>
              <a:rPr sz="900" spc="-25" dirty="0">
                <a:latin typeface="Arial"/>
                <a:cs typeface="Arial"/>
              </a:rPr>
              <a:t> </a:t>
            </a:r>
            <a:r>
              <a:rPr sz="900" dirty="0">
                <a:latin typeface="Arial"/>
                <a:cs typeface="Arial"/>
              </a:rPr>
              <a:t>starts</a:t>
            </a:r>
            <a:r>
              <a:rPr sz="900" spc="-25" dirty="0">
                <a:latin typeface="Arial"/>
                <a:cs typeface="Arial"/>
              </a:rPr>
              <a:t> </a:t>
            </a:r>
            <a:r>
              <a:rPr sz="900" dirty="0">
                <a:latin typeface="Arial"/>
                <a:cs typeface="Arial"/>
              </a:rPr>
              <a:t>in</a:t>
            </a:r>
            <a:r>
              <a:rPr sz="900" spc="-30" dirty="0">
                <a:latin typeface="Arial"/>
                <a:cs typeface="Arial"/>
              </a:rPr>
              <a:t> </a:t>
            </a:r>
            <a:r>
              <a:rPr sz="900" dirty="0">
                <a:latin typeface="Arial"/>
                <a:cs typeface="Arial"/>
              </a:rPr>
              <a:t>the</a:t>
            </a:r>
            <a:r>
              <a:rPr sz="900" spc="-25" dirty="0">
                <a:latin typeface="Arial"/>
                <a:cs typeface="Arial"/>
              </a:rPr>
              <a:t> </a:t>
            </a:r>
            <a:r>
              <a:rPr sz="900" i="1" dirty="0">
                <a:latin typeface="Arial"/>
                <a:cs typeface="Arial"/>
              </a:rPr>
              <a:t>follower</a:t>
            </a:r>
            <a:r>
              <a:rPr sz="900" i="1" spc="70" dirty="0">
                <a:latin typeface="Arial"/>
                <a:cs typeface="Arial"/>
              </a:rPr>
              <a:t> </a:t>
            </a:r>
            <a:r>
              <a:rPr sz="900" spc="-10" dirty="0">
                <a:latin typeface="Arial"/>
                <a:cs typeface="Arial"/>
              </a:rPr>
              <a:t>state.</a:t>
            </a:r>
            <a:endParaRPr sz="900">
              <a:latin typeface="Arial"/>
              <a:cs typeface="Arial"/>
            </a:endParaRPr>
          </a:p>
          <a:p>
            <a:pPr marL="542925" marR="30480" indent="-120650">
              <a:lnSpc>
                <a:spcPct val="111600"/>
              </a:lnSpc>
              <a:spcBef>
                <a:spcPts val="300"/>
              </a:spcBef>
              <a:buClr>
                <a:srgbClr val="3333B2"/>
              </a:buClr>
              <a:buFont typeface="Menlo"/>
              <a:buChar char="•"/>
              <a:tabLst>
                <a:tab pos="539750" algn="l"/>
              </a:tabLst>
            </a:pPr>
            <a:r>
              <a:rPr sz="900" dirty="0">
                <a:latin typeface="Arial"/>
                <a:cs typeface="Arial"/>
              </a:rPr>
              <a:t>A</a:t>
            </a:r>
            <a:r>
              <a:rPr sz="900" spc="-30" dirty="0">
                <a:latin typeface="Arial"/>
                <a:cs typeface="Arial"/>
              </a:rPr>
              <a:t> </a:t>
            </a:r>
            <a:r>
              <a:rPr sz="900" dirty="0">
                <a:latin typeface="Arial"/>
                <a:cs typeface="Arial"/>
              </a:rPr>
              <a:t>leader</a:t>
            </a:r>
            <a:r>
              <a:rPr sz="900" spc="-25" dirty="0">
                <a:latin typeface="Arial"/>
                <a:cs typeface="Arial"/>
              </a:rPr>
              <a:t> </a:t>
            </a:r>
            <a:r>
              <a:rPr sz="900" dirty="0">
                <a:latin typeface="Arial"/>
                <a:cs typeface="Arial"/>
              </a:rPr>
              <a:t>is</a:t>
            </a:r>
            <a:r>
              <a:rPr sz="900" spc="-25"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regularly</a:t>
            </a:r>
            <a:r>
              <a:rPr sz="900" spc="-25" dirty="0">
                <a:latin typeface="Arial"/>
                <a:cs typeface="Arial"/>
              </a:rPr>
              <a:t> </a:t>
            </a:r>
            <a:r>
              <a:rPr sz="900" dirty="0">
                <a:latin typeface="Arial"/>
                <a:cs typeface="Arial"/>
              </a:rPr>
              <a:t>broadcast</a:t>
            </a:r>
            <a:r>
              <a:rPr sz="900" spc="-25" dirty="0">
                <a:latin typeface="Arial"/>
                <a:cs typeface="Arial"/>
              </a:rPr>
              <a:t> </a:t>
            </a:r>
            <a:r>
              <a:rPr sz="900" dirty="0">
                <a:latin typeface="Arial"/>
                <a:cs typeface="Arial"/>
              </a:rPr>
              <a:t>messages</a:t>
            </a:r>
            <a:r>
              <a:rPr sz="900" spc="-25" dirty="0">
                <a:latin typeface="Arial"/>
                <a:cs typeface="Arial"/>
              </a:rPr>
              <a:t> </a:t>
            </a:r>
            <a:r>
              <a:rPr sz="900" dirty="0">
                <a:latin typeface="Arial"/>
                <a:cs typeface="Arial"/>
              </a:rPr>
              <a:t>(perhaps</a:t>
            </a:r>
            <a:r>
              <a:rPr sz="900" spc="-25" dirty="0">
                <a:latin typeface="Arial"/>
                <a:cs typeface="Arial"/>
              </a:rPr>
              <a:t> </a:t>
            </a:r>
            <a:r>
              <a:rPr sz="900" dirty="0">
                <a:latin typeface="Arial"/>
                <a:cs typeface="Arial"/>
              </a:rPr>
              <a:t>just</a:t>
            </a:r>
            <a:r>
              <a:rPr sz="900" spc="-25" dirty="0">
                <a:latin typeface="Arial"/>
                <a:cs typeface="Arial"/>
              </a:rPr>
              <a:t> </a:t>
            </a:r>
            <a:r>
              <a:rPr sz="900" dirty="0">
                <a:latin typeface="Arial"/>
                <a:cs typeface="Arial"/>
              </a:rPr>
              <a:t>a</a:t>
            </a:r>
            <a:r>
              <a:rPr sz="900" spc="-25" dirty="0">
                <a:latin typeface="Arial"/>
                <a:cs typeface="Arial"/>
              </a:rPr>
              <a:t> </a:t>
            </a:r>
            <a:r>
              <a:rPr sz="900" spc="-10" dirty="0">
                <a:latin typeface="Arial"/>
                <a:cs typeface="Arial"/>
              </a:rPr>
              <a:t>simple </a:t>
            </a:r>
            <a:r>
              <a:rPr sz="900" spc="-10" dirty="0">
                <a:solidFill>
                  <a:srgbClr val="3333B2"/>
                </a:solidFill>
                <a:latin typeface="Arial"/>
                <a:cs typeface="Arial"/>
              </a:rPr>
              <a:t>heartbeat</a:t>
            </a:r>
            <a:r>
              <a:rPr sz="900" spc="-10" dirty="0">
                <a:latin typeface="Arial"/>
                <a:cs typeface="Arial"/>
              </a:rPr>
              <a:t>)</a:t>
            </a:r>
            <a:endParaRPr sz="900">
              <a:latin typeface="Arial"/>
              <a:cs typeface="Arial"/>
            </a:endParaRPr>
          </a:p>
        </p:txBody>
      </p:sp>
      <p:grpSp>
        <p:nvGrpSpPr>
          <p:cNvPr id="6" name="object 6"/>
          <p:cNvGrpSpPr/>
          <p:nvPr/>
        </p:nvGrpSpPr>
        <p:grpSpPr>
          <a:xfrm>
            <a:off x="0" y="3348469"/>
            <a:ext cx="4608195" cy="107950"/>
            <a:chOff x="0" y="3348469"/>
            <a:chExt cx="4608195" cy="107950"/>
          </a:xfrm>
        </p:grpSpPr>
        <p:sp>
          <p:nvSpPr>
            <p:cNvPr id="7" name="object 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9" name="object 9"/>
          <p:cNvSpPr txBox="1"/>
          <p:nvPr/>
        </p:nvSpPr>
        <p:spPr>
          <a:xfrm>
            <a:off x="53467" y="3349927"/>
            <a:ext cx="944244"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Example:</a:t>
            </a:r>
            <a:r>
              <a:rPr sz="500" spc="10" dirty="0">
                <a:latin typeface="Arial"/>
                <a:cs typeface="Arial"/>
                <a:hlinkClick r:id="rId4" action="ppaction://hlinksldjump"/>
              </a:rPr>
              <a:t> </a:t>
            </a:r>
            <a:r>
              <a:rPr sz="500" dirty="0">
                <a:latin typeface="Arial"/>
                <a:cs typeface="Arial"/>
                <a:hlinkClick r:id="rId4" action="ppaction://hlinksldjump"/>
              </a:rPr>
              <a:t>Leader</a:t>
            </a:r>
            <a:r>
              <a:rPr sz="500" spc="-20" dirty="0">
                <a:latin typeface="Arial"/>
                <a:cs typeface="Arial"/>
                <a:hlinkClick r:id="rId4" action="ppaction://hlinksldjump"/>
              </a:rPr>
              <a:t> </a:t>
            </a:r>
            <a:r>
              <a:rPr sz="500" dirty="0">
                <a:latin typeface="Arial"/>
                <a:cs typeface="Arial"/>
                <a:hlinkClick r:id="rId4" action="ppaction://hlinksldjump"/>
              </a:rPr>
              <a:t>election</a:t>
            </a:r>
            <a:r>
              <a:rPr sz="500" spc="-15" dirty="0">
                <a:latin typeface="Arial"/>
                <a:cs typeface="Arial"/>
                <a:hlinkClick r:id="rId4" action="ppaction://hlinksldjump"/>
              </a:rPr>
              <a:t> </a:t>
            </a:r>
            <a:r>
              <a:rPr sz="500" dirty="0">
                <a:latin typeface="Arial"/>
                <a:cs typeface="Arial"/>
                <a:hlinkClick r:id="rId4" action="ppaction://hlinksldjump"/>
              </a:rPr>
              <a:t>in</a:t>
            </a:r>
            <a:r>
              <a:rPr sz="500" spc="-20" dirty="0">
                <a:latin typeface="Arial"/>
                <a:cs typeface="Arial"/>
                <a:hlinkClick r:id="rId4" action="ppaction://hlinksldjump"/>
              </a:rPr>
              <a:t> Raft</a:t>
            </a:r>
            <a:endParaRPr sz="500">
              <a:latin typeface="Arial"/>
              <a:cs typeface="Arial"/>
            </a:endParaRPr>
          </a:p>
        </p:txBody>
      </p:sp>
    </p:spTree>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952875" algn="l"/>
              </a:tabLst>
            </a:pPr>
            <a:r>
              <a:rPr sz="500" spc="-10" dirty="0">
                <a:latin typeface="Arial"/>
                <a:cs typeface="Arial"/>
                <a:hlinkClick r:id="rId2" action="ppaction://hlinksldjump"/>
              </a:rPr>
              <a:t>Coordination</a:t>
            </a:r>
            <a:r>
              <a:rPr sz="500" dirty="0">
                <a:latin typeface="Arial"/>
                <a:cs typeface="Arial"/>
              </a:rPr>
              <a:t>	</a:t>
            </a:r>
            <a:r>
              <a:rPr sz="500" dirty="0">
                <a:solidFill>
                  <a:srgbClr val="FFFFFF"/>
                </a:solidFill>
                <a:latin typeface="Arial"/>
                <a:cs typeface="Arial"/>
                <a:hlinkClick r:id="rId3" action="ppaction://hlinksldjump"/>
              </a:rPr>
              <a:t>Election</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algorithms</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Example:</a:t>
            </a:r>
            <a:r>
              <a:rPr spc="30" dirty="0"/>
              <a:t> </a:t>
            </a:r>
            <a:r>
              <a:rPr dirty="0"/>
              <a:t>Leader</a:t>
            </a:r>
            <a:r>
              <a:rPr spc="-35" dirty="0"/>
              <a:t> </a:t>
            </a:r>
            <a:r>
              <a:rPr dirty="0"/>
              <a:t>election</a:t>
            </a:r>
            <a:r>
              <a:rPr spc="-40" dirty="0"/>
              <a:t> </a:t>
            </a:r>
            <a:r>
              <a:rPr dirty="0"/>
              <a:t>in</a:t>
            </a:r>
            <a:r>
              <a:rPr spc="-35" dirty="0"/>
              <a:t> </a:t>
            </a:r>
            <a:r>
              <a:rPr spc="-20" dirty="0"/>
              <a:t>Raft</a:t>
            </a:r>
          </a:p>
        </p:txBody>
      </p:sp>
      <p:sp>
        <p:nvSpPr>
          <p:cNvPr id="4" name="object 4"/>
          <p:cNvSpPr txBox="1"/>
          <p:nvPr/>
        </p:nvSpPr>
        <p:spPr>
          <a:xfrm>
            <a:off x="329247" y="470520"/>
            <a:ext cx="3944620" cy="1711325"/>
          </a:xfrm>
          <a:prstGeom prst="rect">
            <a:avLst/>
          </a:prstGeom>
        </p:spPr>
        <p:txBody>
          <a:bodyPr vert="horz" wrap="square" lIns="0" tIns="56515" rIns="0" bIns="0" rtlCol="0">
            <a:spAutoFit/>
          </a:bodyPr>
          <a:lstStyle/>
          <a:p>
            <a:pPr marL="30480" algn="just">
              <a:lnSpc>
                <a:spcPct val="100000"/>
              </a:lnSpc>
              <a:spcBef>
                <a:spcPts val="445"/>
              </a:spcBef>
            </a:pPr>
            <a:r>
              <a:rPr sz="1000" dirty="0">
                <a:solidFill>
                  <a:srgbClr val="3333B2"/>
                </a:solidFill>
                <a:latin typeface="Arial"/>
                <a:cs typeface="Arial"/>
              </a:rPr>
              <a:t>Selecting</a:t>
            </a:r>
            <a:r>
              <a:rPr sz="1000" spc="-45" dirty="0">
                <a:solidFill>
                  <a:srgbClr val="3333B2"/>
                </a:solidFill>
                <a:latin typeface="Arial"/>
                <a:cs typeface="Arial"/>
              </a:rPr>
              <a:t> </a:t>
            </a:r>
            <a:r>
              <a:rPr sz="1000" dirty="0">
                <a:solidFill>
                  <a:srgbClr val="3333B2"/>
                </a:solidFill>
                <a:latin typeface="Arial"/>
                <a:cs typeface="Arial"/>
              </a:rPr>
              <a:t>a</a:t>
            </a:r>
            <a:r>
              <a:rPr sz="1000" spc="-35" dirty="0">
                <a:solidFill>
                  <a:srgbClr val="3333B2"/>
                </a:solidFill>
                <a:latin typeface="Arial"/>
                <a:cs typeface="Arial"/>
              </a:rPr>
              <a:t> </a:t>
            </a:r>
            <a:r>
              <a:rPr sz="1000" dirty="0">
                <a:solidFill>
                  <a:srgbClr val="3333B2"/>
                </a:solidFill>
                <a:latin typeface="Arial"/>
                <a:cs typeface="Arial"/>
              </a:rPr>
              <a:t>new</a:t>
            </a:r>
            <a:r>
              <a:rPr sz="1000" spc="-30" dirty="0">
                <a:solidFill>
                  <a:srgbClr val="3333B2"/>
                </a:solidFill>
                <a:latin typeface="Arial"/>
                <a:cs typeface="Arial"/>
              </a:rPr>
              <a:t> </a:t>
            </a:r>
            <a:r>
              <a:rPr sz="1000" spc="-10" dirty="0">
                <a:solidFill>
                  <a:srgbClr val="3333B2"/>
                </a:solidFill>
                <a:latin typeface="Arial"/>
                <a:cs typeface="Arial"/>
              </a:rPr>
              <a:t>leader</a:t>
            </a:r>
            <a:endParaRPr sz="1000">
              <a:latin typeface="Arial"/>
              <a:cs typeface="Arial"/>
            </a:endParaRPr>
          </a:p>
          <a:p>
            <a:pPr marL="30480" marR="17780" indent="-5715" algn="just">
              <a:lnSpc>
                <a:spcPct val="111600"/>
              </a:lnSpc>
              <a:spcBef>
                <a:spcPts val="180"/>
              </a:spcBef>
            </a:pPr>
            <a:r>
              <a:rPr sz="900" dirty="0">
                <a:latin typeface="Arial"/>
                <a:cs typeface="Arial"/>
              </a:rPr>
              <a:t>When</a:t>
            </a:r>
            <a:r>
              <a:rPr sz="900" spc="-65" dirty="0">
                <a:latin typeface="Arial"/>
                <a:cs typeface="Arial"/>
              </a:rPr>
              <a:t> </a:t>
            </a:r>
            <a:r>
              <a:rPr sz="900" spc="-10" dirty="0">
                <a:latin typeface="Arial"/>
                <a:cs typeface="Arial"/>
              </a:rPr>
              <a:t>follower</a:t>
            </a:r>
            <a:r>
              <a:rPr sz="900" spc="-50" dirty="0">
                <a:latin typeface="Arial"/>
                <a:cs typeface="Arial"/>
              </a:rPr>
              <a:t> </a:t>
            </a:r>
            <a:r>
              <a:rPr sz="900" i="1" spc="-75" dirty="0">
                <a:latin typeface="Arial"/>
                <a:cs typeface="Arial"/>
              </a:rPr>
              <a:t>s</a:t>
            </a:r>
            <a:r>
              <a:rPr sz="1050" i="1" spc="-112" baseline="27777" dirty="0">
                <a:latin typeface="Menlo"/>
                <a:cs typeface="Menlo"/>
              </a:rPr>
              <a:t>∗</a:t>
            </a:r>
            <a:r>
              <a:rPr sz="1050" i="1" spc="-52" baseline="27777" dirty="0">
                <a:latin typeface="Menlo"/>
                <a:cs typeface="Menlo"/>
              </a:rPr>
              <a:t> </a:t>
            </a:r>
            <a:r>
              <a:rPr sz="900" dirty="0">
                <a:latin typeface="Arial"/>
                <a:cs typeface="Arial"/>
              </a:rPr>
              <a:t>hasn’t</a:t>
            </a:r>
            <a:r>
              <a:rPr sz="900" spc="-30" dirty="0">
                <a:latin typeface="Arial"/>
                <a:cs typeface="Arial"/>
              </a:rPr>
              <a:t> </a:t>
            </a:r>
            <a:r>
              <a:rPr sz="900" spc="-10" dirty="0">
                <a:latin typeface="Arial"/>
                <a:cs typeface="Arial"/>
              </a:rPr>
              <a:t>received</a:t>
            </a:r>
            <a:r>
              <a:rPr sz="900" spc="-15" dirty="0">
                <a:latin typeface="Arial"/>
                <a:cs typeface="Arial"/>
              </a:rPr>
              <a:t> </a:t>
            </a:r>
            <a:r>
              <a:rPr sz="900" dirty="0">
                <a:latin typeface="Arial"/>
                <a:cs typeface="Arial"/>
              </a:rPr>
              <a:t>anything</a:t>
            </a:r>
            <a:r>
              <a:rPr sz="900" spc="-15" dirty="0">
                <a:latin typeface="Arial"/>
                <a:cs typeface="Arial"/>
              </a:rPr>
              <a:t> </a:t>
            </a:r>
            <a:r>
              <a:rPr sz="900" dirty="0">
                <a:latin typeface="Arial"/>
                <a:cs typeface="Arial"/>
              </a:rPr>
              <a:t>from</a:t>
            </a:r>
            <a:r>
              <a:rPr sz="900" spc="-15" dirty="0">
                <a:latin typeface="Arial"/>
                <a:cs typeface="Arial"/>
              </a:rPr>
              <a:t> </a:t>
            </a:r>
            <a:r>
              <a:rPr sz="900" dirty="0">
                <a:latin typeface="Arial"/>
                <a:cs typeface="Arial"/>
              </a:rPr>
              <a:t>the</a:t>
            </a:r>
            <a:r>
              <a:rPr sz="900" spc="-15" dirty="0">
                <a:latin typeface="Arial"/>
                <a:cs typeface="Arial"/>
              </a:rPr>
              <a:t> </a:t>
            </a:r>
            <a:r>
              <a:rPr sz="900" dirty="0">
                <a:latin typeface="Arial"/>
                <a:cs typeface="Arial"/>
              </a:rPr>
              <a:t>alleged</a:t>
            </a:r>
            <a:r>
              <a:rPr sz="900" spc="-15" dirty="0">
                <a:latin typeface="Arial"/>
                <a:cs typeface="Arial"/>
              </a:rPr>
              <a:t> </a:t>
            </a:r>
            <a:r>
              <a:rPr sz="900" dirty="0">
                <a:latin typeface="Arial"/>
                <a:cs typeface="Arial"/>
              </a:rPr>
              <a:t>leader</a:t>
            </a:r>
            <a:r>
              <a:rPr sz="900" spc="-15" dirty="0">
                <a:latin typeface="Arial"/>
                <a:cs typeface="Arial"/>
              </a:rPr>
              <a:t> </a:t>
            </a:r>
            <a:r>
              <a:rPr sz="900" i="1" dirty="0">
                <a:latin typeface="Arial"/>
                <a:cs typeface="Arial"/>
              </a:rPr>
              <a:t>s</a:t>
            </a:r>
            <a:r>
              <a:rPr sz="900" i="1" spc="15" dirty="0">
                <a:latin typeface="Arial"/>
                <a:cs typeface="Arial"/>
              </a:rPr>
              <a:t> </a:t>
            </a:r>
            <a:r>
              <a:rPr sz="900" dirty="0">
                <a:latin typeface="Arial"/>
                <a:cs typeface="Arial"/>
              </a:rPr>
              <a:t>for</a:t>
            </a:r>
            <a:r>
              <a:rPr sz="900" spc="-15" dirty="0">
                <a:latin typeface="Arial"/>
                <a:cs typeface="Arial"/>
              </a:rPr>
              <a:t> </a:t>
            </a:r>
            <a:r>
              <a:rPr sz="900" spc="-20" dirty="0">
                <a:latin typeface="Arial"/>
                <a:cs typeface="Arial"/>
              </a:rPr>
              <a:t>some </a:t>
            </a:r>
            <a:r>
              <a:rPr sz="900" dirty="0">
                <a:latin typeface="Arial"/>
                <a:cs typeface="Arial"/>
              </a:rPr>
              <a:t>time,</a:t>
            </a:r>
            <a:r>
              <a:rPr sz="900" spc="-65" dirty="0">
                <a:latin typeface="Arial"/>
                <a:cs typeface="Arial"/>
              </a:rPr>
              <a:t> </a:t>
            </a:r>
            <a:r>
              <a:rPr sz="900" i="1" spc="-75" dirty="0">
                <a:latin typeface="Arial"/>
                <a:cs typeface="Arial"/>
              </a:rPr>
              <a:t>s</a:t>
            </a:r>
            <a:r>
              <a:rPr sz="1050" i="1" spc="-112" baseline="27777" dirty="0">
                <a:latin typeface="Menlo"/>
                <a:cs typeface="Menlo"/>
              </a:rPr>
              <a:t>∗</a:t>
            </a:r>
            <a:r>
              <a:rPr sz="1050" i="1" spc="-44" baseline="27777" dirty="0">
                <a:latin typeface="Menlo"/>
                <a:cs typeface="Menlo"/>
              </a:rPr>
              <a:t> </a:t>
            </a:r>
            <a:r>
              <a:rPr sz="900" spc="-10" dirty="0">
                <a:latin typeface="Arial"/>
                <a:cs typeface="Arial"/>
              </a:rPr>
              <a:t>broadcasts</a:t>
            </a:r>
            <a:r>
              <a:rPr sz="900" spc="-55" dirty="0">
                <a:latin typeface="Arial"/>
                <a:cs typeface="Arial"/>
              </a:rPr>
              <a:t> </a:t>
            </a:r>
            <a:r>
              <a:rPr sz="900" dirty="0">
                <a:latin typeface="Arial"/>
                <a:cs typeface="Arial"/>
              </a:rPr>
              <a:t>that</a:t>
            </a:r>
            <a:r>
              <a:rPr sz="900" spc="-30" dirty="0">
                <a:latin typeface="Arial"/>
                <a:cs typeface="Arial"/>
              </a:rPr>
              <a:t> </a:t>
            </a:r>
            <a:r>
              <a:rPr sz="900" dirty="0">
                <a:latin typeface="Arial"/>
                <a:cs typeface="Arial"/>
              </a:rPr>
              <a:t>it</a:t>
            </a:r>
            <a:r>
              <a:rPr sz="900" spc="-15" dirty="0">
                <a:latin typeface="Arial"/>
                <a:cs typeface="Arial"/>
              </a:rPr>
              <a:t> </a:t>
            </a:r>
            <a:r>
              <a:rPr sz="900" spc="-10" dirty="0">
                <a:latin typeface="Arial"/>
                <a:cs typeface="Arial"/>
              </a:rPr>
              <a:t>volunteers</a:t>
            </a:r>
            <a:r>
              <a:rPr sz="900" spc="-15" dirty="0">
                <a:latin typeface="Arial"/>
                <a:cs typeface="Arial"/>
              </a:rPr>
              <a:t> </a:t>
            </a:r>
            <a:r>
              <a:rPr sz="900" dirty="0">
                <a:latin typeface="Arial"/>
                <a:cs typeface="Arial"/>
              </a:rPr>
              <a:t>to</a:t>
            </a:r>
            <a:r>
              <a:rPr sz="900" spc="-15" dirty="0">
                <a:latin typeface="Arial"/>
                <a:cs typeface="Arial"/>
              </a:rPr>
              <a:t> </a:t>
            </a:r>
            <a:r>
              <a:rPr sz="900" dirty="0">
                <a:latin typeface="Arial"/>
                <a:cs typeface="Arial"/>
              </a:rPr>
              <a:t>be</a:t>
            </a:r>
            <a:r>
              <a:rPr sz="900" spc="-10" dirty="0">
                <a:latin typeface="Arial"/>
                <a:cs typeface="Arial"/>
              </a:rPr>
              <a:t> </a:t>
            </a:r>
            <a:r>
              <a:rPr sz="900" dirty="0">
                <a:latin typeface="Arial"/>
                <a:cs typeface="Arial"/>
              </a:rPr>
              <a:t>the</a:t>
            </a:r>
            <a:r>
              <a:rPr sz="900" spc="-15" dirty="0">
                <a:latin typeface="Arial"/>
                <a:cs typeface="Arial"/>
              </a:rPr>
              <a:t> </a:t>
            </a:r>
            <a:r>
              <a:rPr sz="900" spc="-10" dirty="0">
                <a:latin typeface="Arial"/>
                <a:cs typeface="Arial"/>
              </a:rPr>
              <a:t>next</a:t>
            </a:r>
            <a:r>
              <a:rPr sz="900" spc="-15" dirty="0">
                <a:latin typeface="Arial"/>
                <a:cs typeface="Arial"/>
              </a:rPr>
              <a:t> </a:t>
            </a:r>
            <a:r>
              <a:rPr sz="900" spc="-10" dirty="0">
                <a:latin typeface="Arial"/>
                <a:cs typeface="Arial"/>
              </a:rPr>
              <a:t>leader,</a:t>
            </a:r>
            <a:r>
              <a:rPr sz="900" spc="-15" dirty="0">
                <a:latin typeface="Arial"/>
                <a:cs typeface="Arial"/>
              </a:rPr>
              <a:t> </a:t>
            </a:r>
            <a:r>
              <a:rPr sz="900" spc="-10" dirty="0">
                <a:latin typeface="Arial"/>
                <a:cs typeface="Arial"/>
              </a:rPr>
              <a:t>increasing</a:t>
            </a:r>
            <a:r>
              <a:rPr sz="900" spc="-15" dirty="0">
                <a:latin typeface="Arial"/>
                <a:cs typeface="Arial"/>
              </a:rPr>
              <a:t> </a:t>
            </a:r>
            <a:r>
              <a:rPr sz="900" dirty="0">
                <a:latin typeface="Arial"/>
                <a:cs typeface="Arial"/>
              </a:rPr>
              <a:t>the</a:t>
            </a:r>
            <a:r>
              <a:rPr sz="900" spc="-15" dirty="0">
                <a:latin typeface="Arial"/>
                <a:cs typeface="Arial"/>
              </a:rPr>
              <a:t> </a:t>
            </a:r>
            <a:r>
              <a:rPr sz="900" spc="-20" dirty="0">
                <a:latin typeface="Arial"/>
                <a:cs typeface="Arial"/>
              </a:rPr>
              <a:t>term </a:t>
            </a:r>
            <a:r>
              <a:rPr sz="900" dirty="0">
                <a:latin typeface="Arial"/>
                <a:cs typeface="Arial"/>
              </a:rPr>
              <a:t>by</a:t>
            </a:r>
            <a:r>
              <a:rPr sz="900" spc="-45" dirty="0">
                <a:latin typeface="Arial"/>
                <a:cs typeface="Arial"/>
              </a:rPr>
              <a:t> </a:t>
            </a:r>
            <a:r>
              <a:rPr sz="900" dirty="0">
                <a:latin typeface="Arial"/>
                <a:cs typeface="Arial"/>
              </a:rPr>
              <a:t>1.</a:t>
            </a:r>
            <a:r>
              <a:rPr sz="900" spc="30" dirty="0">
                <a:latin typeface="Arial"/>
                <a:cs typeface="Arial"/>
              </a:rPr>
              <a:t> </a:t>
            </a:r>
            <a:r>
              <a:rPr sz="900" i="1" spc="-35" dirty="0">
                <a:latin typeface="Arial"/>
                <a:cs typeface="Arial"/>
              </a:rPr>
              <a:t>s</a:t>
            </a:r>
            <a:r>
              <a:rPr sz="1050" i="1" spc="-52" baseline="27777" dirty="0">
                <a:latin typeface="Menlo"/>
                <a:cs typeface="Menlo"/>
              </a:rPr>
              <a:t>∗</a:t>
            </a:r>
            <a:r>
              <a:rPr sz="1050" i="1" spc="-187" baseline="27777" dirty="0">
                <a:latin typeface="Menlo"/>
                <a:cs typeface="Menlo"/>
              </a:rPr>
              <a:t> </a:t>
            </a:r>
            <a:r>
              <a:rPr sz="900" dirty="0">
                <a:latin typeface="Arial"/>
                <a:cs typeface="Arial"/>
              </a:rPr>
              <a:t>enters</a:t>
            </a:r>
            <a:r>
              <a:rPr sz="900" spc="-20" dirty="0">
                <a:latin typeface="Arial"/>
                <a:cs typeface="Arial"/>
              </a:rPr>
              <a:t> </a:t>
            </a:r>
            <a:r>
              <a:rPr sz="900" dirty="0">
                <a:latin typeface="Arial"/>
                <a:cs typeface="Arial"/>
              </a:rPr>
              <a:t>the</a:t>
            </a:r>
            <a:r>
              <a:rPr sz="900" spc="-25" dirty="0">
                <a:latin typeface="Arial"/>
                <a:cs typeface="Arial"/>
              </a:rPr>
              <a:t> </a:t>
            </a:r>
            <a:r>
              <a:rPr sz="900" dirty="0">
                <a:solidFill>
                  <a:srgbClr val="C80000"/>
                </a:solidFill>
                <a:latin typeface="Arial"/>
                <a:cs typeface="Arial"/>
              </a:rPr>
              <a:t>candidate</a:t>
            </a:r>
            <a:r>
              <a:rPr sz="900" spc="-20" dirty="0">
                <a:solidFill>
                  <a:srgbClr val="C80000"/>
                </a:solidFill>
                <a:latin typeface="Arial"/>
                <a:cs typeface="Arial"/>
              </a:rPr>
              <a:t> </a:t>
            </a:r>
            <a:r>
              <a:rPr sz="900" dirty="0">
                <a:latin typeface="Arial"/>
                <a:cs typeface="Arial"/>
              </a:rPr>
              <a:t>state.</a:t>
            </a:r>
            <a:r>
              <a:rPr sz="900" spc="30" dirty="0">
                <a:latin typeface="Arial"/>
                <a:cs typeface="Arial"/>
              </a:rPr>
              <a:t> </a:t>
            </a:r>
            <a:r>
              <a:rPr sz="900" spc="-10" dirty="0">
                <a:latin typeface="Arial"/>
                <a:cs typeface="Arial"/>
              </a:rPr>
              <a:t>Then:</a:t>
            </a:r>
            <a:endParaRPr sz="900">
              <a:latin typeface="Arial"/>
              <a:cs typeface="Arial"/>
            </a:endParaRPr>
          </a:p>
          <a:p>
            <a:pPr marL="283210" marR="40640" indent="-120650">
              <a:lnSpc>
                <a:spcPct val="111600"/>
              </a:lnSpc>
              <a:spcBef>
                <a:spcPts val="400"/>
              </a:spcBef>
              <a:buClr>
                <a:srgbClr val="3333B2"/>
              </a:buClr>
              <a:buFont typeface="Menlo"/>
              <a:buChar char="•"/>
              <a:tabLst>
                <a:tab pos="283845" algn="l"/>
              </a:tabLst>
            </a:pPr>
            <a:r>
              <a:rPr sz="900" dirty="0">
                <a:latin typeface="Arial"/>
                <a:cs typeface="Arial"/>
              </a:rPr>
              <a:t>If</a:t>
            </a:r>
            <a:r>
              <a:rPr sz="900" spc="-20" dirty="0">
                <a:latin typeface="Arial"/>
                <a:cs typeface="Arial"/>
              </a:rPr>
              <a:t> </a:t>
            </a:r>
            <a:r>
              <a:rPr sz="900" dirty="0">
                <a:latin typeface="Arial"/>
                <a:cs typeface="Arial"/>
              </a:rPr>
              <a:t>leader</a:t>
            </a:r>
            <a:r>
              <a:rPr sz="900" spc="-15" dirty="0">
                <a:latin typeface="Arial"/>
                <a:cs typeface="Arial"/>
              </a:rPr>
              <a:t> </a:t>
            </a:r>
            <a:r>
              <a:rPr sz="900" i="1" dirty="0">
                <a:latin typeface="Arial"/>
                <a:cs typeface="Arial"/>
              </a:rPr>
              <a:t>s</a:t>
            </a:r>
            <a:r>
              <a:rPr sz="900" i="1" spc="15" dirty="0">
                <a:latin typeface="Arial"/>
                <a:cs typeface="Arial"/>
              </a:rPr>
              <a:t> </a:t>
            </a:r>
            <a:r>
              <a:rPr sz="900" spc="-10" dirty="0">
                <a:latin typeface="Arial"/>
                <a:cs typeface="Arial"/>
              </a:rPr>
              <a:t>receives</a:t>
            </a:r>
            <a:r>
              <a:rPr sz="900" spc="-20" dirty="0">
                <a:latin typeface="Arial"/>
                <a:cs typeface="Arial"/>
              </a:rPr>
              <a:t> </a:t>
            </a:r>
            <a:r>
              <a:rPr sz="900" dirty="0">
                <a:latin typeface="Arial"/>
                <a:cs typeface="Arial"/>
              </a:rPr>
              <a:t>the</a:t>
            </a:r>
            <a:r>
              <a:rPr sz="900" spc="-15" dirty="0">
                <a:latin typeface="Arial"/>
                <a:cs typeface="Arial"/>
              </a:rPr>
              <a:t> </a:t>
            </a:r>
            <a:r>
              <a:rPr sz="900" dirty="0">
                <a:latin typeface="Arial"/>
                <a:cs typeface="Arial"/>
              </a:rPr>
              <a:t>message,</a:t>
            </a:r>
            <a:r>
              <a:rPr sz="900" spc="-15" dirty="0">
                <a:latin typeface="Arial"/>
                <a:cs typeface="Arial"/>
              </a:rPr>
              <a:t> </a:t>
            </a:r>
            <a:r>
              <a:rPr sz="900" dirty="0">
                <a:latin typeface="Arial"/>
                <a:cs typeface="Arial"/>
              </a:rPr>
              <a:t>it</a:t>
            </a:r>
            <a:r>
              <a:rPr sz="900" spc="-15" dirty="0">
                <a:latin typeface="Arial"/>
                <a:cs typeface="Arial"/>
              </a:rPr>
              <a:t> </a:t>
            </a:r>
            <a:r>
              <a:rPr sz="900" dirty="0">
                <a:latin typeface="Arial"/>
                <a:cs typeface="Arial"/>
              </a:rPr>
              <a:t>responds</a:t>
            </a:r>
            <a:r>
              <a:rPr sz="900" spc="-20" dirty="0">
                <a:latin typeface="Arial"/>
                <a:cs typeface="Arial"/>
              </a:rPr>
              <a:t> </a:t>
            </a:r>
            <a:r>
              <a:rPr sz="900" dirty="0">
                <a:latin typeface="Arial"/>
                <a:cs typeface="Arial"/>
              </a:rPr>
              <a:t>by</a:t>
            </a:r>
            <a:r>
              <a:rPr sz="900" spc="-15" dirty="0">
                <a:latin typeface="Arial"/>
                <a:cs typeface="Arial"/>
              </a:rPr>
              <a:t> </a:t>
            </a:r>
            <a:r>
              <a:rPr sz="900" spc="-10" dirty="0">
                <a:latin typeface="Arial"/>
                <a:cs typeface="Arial"/>
              </a:rPr>
              <a:t>acknowledging</a:t>
            </a:r>
            <a:r>
              <a:rPr sz="900" spc="-15" dirty="0">
                <a:latin typeface="Arial"/>
                <a:cs typeface="Arial"/>
              </a:rPr>
              <a:t> </a:t>
            </a:r>
            <a:r>
              <a:rPr sz="900" dirty="0">
                <a:latin typeface="Arial"/>
                <a:cs typeface="Arial"/>
              </a:rPr>
              <a:t>that</a:t>
            </a:r>
            <a:r>
              <a:rPr sz="900" spc="-15" dirty="0">
                <a:latin typeface="Arial"/>
                <a:cs typeface="Arial"/>
              </a:rPr>
              <a:t> </a:t>
            </a:r>
            <a:r>
              <a:rPr sz="900" dirty="0">
                <a:latin typeface="Arial"/>
                <a:cs typeface="Arial"/>
              </a:rPr>
              <a:t>it</a:t>
            </a:r>
            <a:r>
              <a:rPr sz="900" spc="-15" dirty="0">
                <a:latin typeface="Arial"/>
                <a:cs typeface="Arial"/>
              </a:rPr>
              <a:t> </a:t>
            </a:r>
            <a:r>
              <a:rPr sz="900" spc="-25" dirty="0">
                <a:latin typeface="Arial"/>
                <a:cs typeface="Arial"/>
              </a:rPr>
              <a:t>is </a:t>
            </a:r>
            <a:r>
              <a:rPr sz="900" dirty="0">
                <a:latin typeface="Arial"/>
                <a:cs typeface="Arial"/>
              </a:rPr>
              <a:t>still</a:t>
            </a:r>
            <a:r>
              <a:rPr sz="900" spc="-40" dirty="0">
                <a:latin typeface="Arial"/>
                <a:cs typeface="Arial"/>
              </a:rPr>
              <a:t> </a:t>
            </a:r>
            <a:r>
              <a:rPr sz="900" dirty="0">
                <a:latin typeface="Arial"/>
                <a:cs typeface="Arial"/>
              </a:rPr>
              <a:t>the</a:t>
            </a:r>
            <a:r>
              <a:rPr sz="900" spc="-15" dirty="0">
                <a:latin typeface="Arial"/>
                <a:cs typeface="Arial"/>
              </a:rPr>
              <a:t> </a:t>
            </a:r>
            <a:r>
              <a:rPr sz="900" dirty="0">
                <a:latin typeface="Arial"/>
                <a:cs typeface="Arial"/>
              </a:rPr>
              <a:t>leader.</a:t>
            </a:r>
            <a:r>
              <a:rPr sz="900" spc="35" dirty="0">
                <a:latin typeface="Arial"/>
                <a:cs typeface="Arial"/>
              </a:rPr>
              <a:t> </a:t>
            </a:r>
            <a:r>
              <a:rPr sz="900" i="1" spc="-35" dirty="0">
                <a:latin typeface="Arial"/>
                <a:cs typeface="Arial"/>
              </a:rPr>
              <a:t>s</a:t>
            </a:r>
            <a:r>
              <a:rPr sz="1050" i="1" spc="-52" baseline="27777" dirty="0">
                <a:latin typeface="Menlo"/>
                <a:cs typeface="Menlo"/>
              </a:rPr>
              <a:t>∗</a:t>
            </a:r>
            <a:r>
              <a:rPr sz="1050" i="1" spc="-187" baseline="27777" dirty="0">
                <a:latin typeface="Menlo"/>
                <a:cs typeface="Menlo"/>
              </a:rPr>
              <a:t> </a:t>
            </a:r>
            <a:r>
              <a:rPr sz="900" dirty="0">
                <a:latin typeface="Arial"/>
                <a:cs typeface="Arial"/>
              </a:rPr>
              <a:t>returns</a:t>
            </a:r>
            <a:r>
              <a:rPr sz="900" spc="-20" dirty="0">
                <a:latin typeface="Arial"/>
                <a:cs typeface="Arial"/>
              </a:rPr>
              <a:t> </a:t>
            </a:r>
            <a:r>
              <a:rPr sz="900" dirty="0">
                <a:latin typeface="Arial"/>
                <a:cs typeface="Arial"/>
              </a:rPr>
              <a:t>to</a:t>
            </a:r>
            <a:r>
              <a:rPr sz="900" spc="-15" dirty="0">
                <a:latin typeface="Arial"/>
                <a:cs typeface="Arial"/>
              </a:rPr>
              <a:t> </a:t>
            </a:r>
            <a:r>
              <a:rPr sz="900" dirty="0">
                <a:latin typeface="Arial"/>
                <a:cs typeface="Arial"/>
              </a:rPr>
              <a:t>the</a:t>
            </a:r>
            <a:r>
              <a:rPr sz="900" spc="-20" dirty="0">
                <a:latin typeface="Arial"/>
                <a:cs typeface="Arial"/>
              </a:rPr>
              <a:t> </a:t>
            </a:r>
            <a:r>
              <a:rPr sz="900" spc="-10" dirty="0">
                <a:solidFill>
                  <a:srgbClr val="C80000"/>
                </a:solidFill>
                <a:latin typeface="Arial"/>
                <a:cs typeface="Arial"/>
              </a:rPr>
              <a:t>follower</a:t>
            </a:r>
            <a:r>
              <a:rPr sz="900" spc="-20" dirty="0">
                <a:solidFill>
                  <a:srgbClr val="C80000"/>
                </a:solidFill>
                <a:latin typeface="Arial"/>
                <a:cs typeface="Arial"/>
              </a:rPr>
              <a:t> </a:t>
            </a:r>
            <a:r>
              <a:rPr sz="900" spc="-10" dirty="0">
                <a:latin typeface="Arial"/>
                <a:cs typeface="Arial"/>
              </a:rPr>
              <a:t>state.</a:t>
            </a:r>
            <a:endParaRPr sz="900">
              <a:latin typeface="Arial"/>
              <a:cs typeface="Arial"/>
            </a:endParaRPr>
          </a:p>
          <a:p>
            <a:pPr marL="283210" marR="17780" indent="-120650">
              <a:lnSpc>
                <a:spcPct val="111600"/>
              </a:lnSpc>
              <a:spcBef>
                <a:spcPts val="300"/>
              </a:spcBef>
              <a:buClr>
                <a:srgbClr val="3333B2"/>
              </a:buClr>
              <a:buFont typeface="Menlo"/>
              <a:buChar char="•"/>
              <a:tabLst>
                <a:tab pos="283845" algn="l"/>
              </a:tabLst>
            </a:pPr>
            <a:r>
              <a:rPr sz="900" dirty="0">
                <a:latin typeface="Arial"/>
                <a:cs typeface="Arial"/>
              </a:rPr>
              <a:t>If</a:t>
            </a:r>
            <a:r>
              <a:rPr sz="900" spc="-60" dirty="0">
                <a:latin typeface="Arial"/>
                <a:cs typeface="Arial"/>
              </a:rPr>
              <a:t> </a:t>
            </a:r>
            <a:r>
              <a:rPr sz="900" spc="-10" dirty="0">
                <a:latin typeface="Arial"/>
                <a:cs typeface="Arial"/>
              </a:rPr>
              <a:t>another</a:t>
            </a:r>
            <a:r>
              <a:rPr sz="900" spc="-35" dirty="0">
                <a:latin typeface="Arial"/>
                <a:cs typeface="Arial"/>
              </a:rPr>
              <a:t> </a:t>
            </a:r>
            <a:r>
              <a:rPr sz="900" spc="-20" dirty="0">
                <a:latin typeface="Arial"/>
                <a:cs typeface="Arial"/>
              </a:rPr>
              <a:t>follower</a:t>
            </a:r>
            <a:r>
              <a:rPr sz="900" spc="-30" dirty="0">
                <a:latin typeface="Arial"/>
                <a:cs typeface="Arial"/>
              </a:rPr>
              <a:t> </a:t>
            </a:r>
            <a:r>
              <a:rPr sz="900" i="1" spc="-50" dirty="0">
                <a:latin typeface="Arial"/>
                <a:cs typeface="Arial"/>
              </a:rPr>
              <a:t>s</a:t>
            </a:r>
            <a:r>
              <a:rPr sz="1050" i="1" spc="-75" baseline="27777" dirty="0">
                <a:latin typeface="Menlo"/>
                <a:cs typeface="Menlo"/>
              </a:rPr>
              <a:t>∗∗</a:t>
            </a:r>
            <a:r>
              <a:rPr sz="1050" i="1" spc="-195" baseline="27777" dirty="0">
                <a:latin typeface="Menlo"/>
                <a:cs typeface="Menlo"/>
              </a:rPr>
              <a:t> </a:t>
            </a:r>
            <a:r>
              <a:rPr sz="900" dirty="0">
                <a:latin typeface="Arial"/>
                <a:cs typeface="Arial"/>
              </a:rPr>
              <a:t>gets</a:t>
            </a:r>
            <a:r>
              <a:rPr sz="900" spc="-30" dirty="0">
                <a:latin typeface="Arial"/>
                <a:cs typeface="Arial"/>
              </a:rPr>
              <a:t> </a:t>
            </a:r>
            <a:r>
              <a:rPr sz="900" dirty="0">
                <a:latin typeface="Arial"/>
                <a:cs typeface="Arial"/>
              </a:rPr>
              <a:t>the</a:t>
            </a:r>
            <a:r>
              <a:rPr sz="900" spc="-35" dirty="0">
                <a:latin typeface="Arial"/>
                <a:cs typeface="Arial"/>
              </a:rPr>
              <a:t> </a:t>
            </a:r>
            <a:r>
              <a:rPr sz="900" spc="-10" dirty="0">
                <a:latin typeface="Arial"/>
                <a:cs typeface="Arial"/>
              </a:rPr>
              <a:t>election</a:t>
            </a:r>
            <a:r>
              <a:rPr sz="900" spc="-25" dirty="0">
                <a:latin typeface="Arial"/>
                <a:cs typeface="Arial"/>
              </a:rPr>
              <a:t> </a:t>
            </a:r>
            <a:r>
              <a:rPr sz="900" spc="-10" dirty="0">
                <a:latin typeface="Arial"/>
                <a:cs typeface="Arial"/>
              </a:rPr>
              <a:t>message</a:t>
            </a:r>
            <a:r>
              <a:rPr sz="900" spc="-35" dirty="0">
                <a:latin typeface="Arial"/>
                <a:cs typeface="Arial"/>
              </a:rPr>
              <a:t> </a:t>
            </a:r>
            <a:r>
              <a:rPr sz="900" dirty="0">
                <a:latin typeface="Arial"/>
                <a:cs typeface="Arial"/>
              </a:rPr>
              <a:t>from</a:t>
            </a:r>
            <a:r>
              <a:rPr sz="900" spc="-30" dirty="0">
                <a:latin typeface="Arial"/>
                <a:cs typeface="Arial"/>
              </a:rPr>
              <a:t> </a:t>
            </a:r>
            <a:r>
              <a:rPr sz="900" i="1" dirty="0">
                <a:latin typeface="Arial"/>
                <a:cs typeface="Arial"/>
              </a:rPr>
              <a:t>s</a:t>
            </a:r>
            <a:r>
              <a:rPr sz="1050" i="1" baseline="27777" dirty="0">
                <a:latin typeface="Menlo"/>
                <a:cs typeface="Menlo"/>
              </a:rPr>
              <a:t>∗</a:t>
            </a:r>
            <a:r>
              <a:rPr sz="900" dirty="0">
                <a:latin typeface="Arial"/>
                <a:cs typeface="Arial"/>
              </a:rPr>
              <a:t>,</a:t>
            </a:r>
            <a:r>
              <a:rPr sz="900" spc="-30" dirty="0">
                <a:latin typeface="Arial"/>
                <a:cs typeface="Arial"/>
              </a:rPr>
              <a:t> </a:t>
            </a:r>
            <a:r>
              <a:rPr sz="900" dirty="0">
                <a:latin typeface="Arial"/>
                <a:cs typeface="Arial"/>
              </a:rPr>
              <a:t>and</a:t>
            </a:r>
            <a:r>
              <a:rPr sz="900" spc="-30" dirty="0">
                <a:latin typeface="Arial"/>
                <a:cs typeface="Arial"/>
              </a:rPr>
              <a:t> </a:t>
            </a:r>
            <a:r>
              <a:rPr sz="900" dirty="0">
                <a:latin typeface="Arial"/>
                <a:cs typeface="Arial"/>
              </a:rPr>
              <a:t>it</a:t>
            </a:r>
            <a:r>
              <a:rPr sz="900" spc="-30" dirty="0">
                <a:latin typeface="Arial"/>
                <a:cs typeface="Arial"/>
              </a:rPr>
              <a:t> </a:t>
            </a:r>
            <a:r>
              <a:rPr sz="900" dirty="0">
                <a:latin typeface="Arial"/>
                <a:cs typeface="Arial"/>
              </a:rPr>
              <a:t>is</a:t>
            </a:r>
            <a:r>
              <a:rPr sz="900" spc="-35" dirty="0">
                <a:latin typeface="Arial"/>
                <a:cs typeface="Arial"/>
              </a:rPr>
              <a:t> </a:t>
            </a:r>
            <a:r>
              <a:rPr sz="900" dirty="0">
                <a:latin typeface="Arial"/>
                <a:cs typeface="Arial"/>
              </a:rPr>
              <a:t>the</a:t>
            </a:r>
            <a:r>
              <a:rPr sz="900" spc="-25" dirty="0">
                <a:latin typeface="Arial"/>
                <a:cs typeface="Arial"/>
              </a:rPr>
              <a:t> </a:t>
            </a:r>
            <a:r>
              <a:rPr sz="900" spc="-10" dirty="0">
                <a:latin typeface="Arial"/>
                <a:cs typeface="Arial"/>
              </a:rPr>
              <a:t>first </a:t>
            </a:r>
            <a:r>
              <a:rPr sz="900" dirty="0">
                <a:latin typeface="Arial"/>
                <a:cs typeface="Arial"/>
              </a:rPr>
              <a:t>election</a:t>
            </a:r>
            <a:r>
              <a:rPr sz="900" spc="-40" dirty="0">
                <a:latin typeface="Arial"/>
                <a:cs typeface="Arial"/>
              </a:rPr>
              <a:t> </a:t>
            </a:r>
            <a:r>
              <a:rPr sz="900" dirty="0">
                <a:latin typeface="Arial"/>
                <a:cs typeface="Arial"/>
              </a:rPr>
              <a:t>message</a:t>
            </a:r>
            <a:r>
              <a:rPr sz="900" spc="-20" dirty="0">
                <a:latin typeface="Arial"/>
                <a:cs typeface="Arial"/>
              </a:rPr>
              <a:t> </a:t>
            </a:r>
            <a:r>
              <a:rPr sz="900" dirty="0">
                <a:latin typeface="Arial"/>
                <a:cs typeface="Arial"/>
              </a:rPr>
              <a:t>during</a:t>
            </a:r>
            <a:r>
              <a:rPr sz="900" spc="-15" dirty="0">
                <a:latin typeface="Arial"/>
                <a:cs typeface="Arial"/>
              </a:rPr>
              <a:t> </a:t>
            </a:r>
            <a:r>
              <a:rPr sz="900" dirty="0">
                <a:latin typeface="Arial"/>
                <a:cs typeface="Arial"/>
              </a:rPr>
              <a:t>the</a:t>
            </a:r>
            <a:r>
              <a:rPr sz="900" spc="-20" dirty="0">
                <a:latin typeface="Arial"/>
                <a:cs typeface="Arial"/>
              </a:rPr>
              <a:t> </a:t>
            </a:r>
            <a:r>
              <a:rPr sz="900" dirty="0">
                <a:latin typeface="Arial"/>
                <a:cs typeface="Arial"/>
              </a:rPr>
              <a:t>current</a:t>
            </a:r>
            <a:r>
              <a:rPr sz="900" spc="-20" dirty="0">
                <a:latin typeface="Arial"/>
                <a:cs typeface="Arial"/>
              </a:rPr>
              <a:t> </a:t>
            </a:r>
            <a:r>
              <a:rPr sz="900" dirty="0">
                <a:latin typeface="Arial"/>
                <a:cs typeface="Arial"/>
              </a:rPr>
              <a:t>term,</a:t>
            </a:r>
            <a:r>
              <a:rPr sz="900" spc="-20" dirty="0">
                <a:latin typeface="Arial"/>
                <a:cs typeface="Arial"/>
              </a:rPr>
              <a:t> </a:t>
            </a:r>
            <a:r>
              <a:rPr sz="900" i="1" spc="-50" dirty="0">
                <a:latin typeface="Arial"/>
                <a:cs typeface="Arial"/>
              </a:rPr>
              <a:t>s</a:t>
            </a:r>
            <a:r>
              <a:rPr sz="1050" i="1" spc="-75" baseline="27777" dirty="0">
                <a:latin typeface="Menlo"/>
                <a:cs typeface="Menlo"/>
              </a:rPr>
              <a:t>∗∗</a:t>
            </a:r>
            <a:r>
              <a:rPr sz="1050" i="1" spc="-187" baseline="27777" dirty="0">
                <a:latin typeface="Menlo"/>
                <a:cs typeface="Menlo"/>
              </a:rPr>
              <a:t> </a:t>
            </a:r>
            <a:r>
              <a:rPr sz="900" dirty="0">
                <a:latin typeface="Arial"/>
                <a:cs typeface="Arial"/>
              </a:rPr>
              <a:t>votes</a:t>
            </a:r>
            <a:r>
              <a:rPr sz="900" spc="-20" dirty="0">
                <a:latin typeface="Arial"/>
                <a:cs typeface="Arial"/>
              </a:rPr>
              <a:t> </a:t>
            </a:r>
            <a:r>
              <a:rPr sz="900" dirty="0">
                <a:latin typeface="Arial"/>
                <a:cs typeface="Arial"/>
              </a:rPr>
              <a:t>for</a:t>
            </a:r>
            <a:r>
              <a:rPr sz="900" spc="-20" dirty="0">
                <a:latin typeface="Arial"/>
                <a:cs typeface="Arial"/>
              </a:rPr>
              <a:t> </a:t>
            </a:r>
            <a:r>
              <a:rPr sz="900" i="1" dirty="0">
                <a:latin typeface="Arial"/>
                <a:cs typeface="Arial"/>
              </a:rPr>
              <a:t>s</a:t>
            </a:r>
            <a:r>
              <a:rPr sz="1050" i="1" baseline="27777" dirty="0">
                <a:latin typeface="Menlo"/>
                <a:cs typeface="Menlo"/>
              </a:rPr>
              <a:t>∗</a:t>
            </a:r>
            <a:r>
              <a:rPr sz="900" dirty="0">
                <a:latin typeface="Arial"/>
                <a:cs typeface="Arial"/>
              </a:rPr>
              <a:t>.</a:t>
            </a:r>
            <a:r>
              <a:rPr sz="900" spc="40" dirty="0">
                <a:latin typeface="Arial"/>
                <a:cs typeface="Arial"/>
              </a:rPr>
              <a:t> </a:t>
            </a:r>
            <a:r>
              <a:rPr sz="900" spc="-10" dirty="0">
                <a:latin typeface="Arial"/>
                <a:cs typeface="Arial"/>
              </a:rPr>
              <a:t>Otherwise,</a:t>
            </a:r>
            <a:r>
              <a:rPr sz="900" spc="-20" dirty="0">
                <a:latin typeface="Arial"/>
                <a:cs typeface="Arial"/>
              </a:rPr>
              <a:t> </a:t>
            </a:r>
            <a:r>
              <a:rPr sz="900" spc="-25" dirty="0">
                <a:latin typeface="Arial"/>
                <a:cs typeface="Arial"/>
              </a:rPr>
              <a:t>it </a:t>
            </a:r>
            <a:r>
              <a:rPr sz="900" dirty="0">
                <a:latin typeface="Arial"/>
                <a:cs typeface="Arial"/>
              </a:rPr>
              <a:t>simply</a:t>
            </a:r>
            <a:r>
              <a:rPr sz="900" spc="-50" dirty="0">
                <a:latin typeface="Arial"/>
                <a:cs typeface="Arial"/>
              </a:rPr>
              <a:t> </a:t>
            </a:r>
            <a:r>
              <a:rPr sz="900" dirty="0">
                <a:latin typeface="Arial"/>
                <a:cs typeface="Arial"/>
              </a:rPr>
              <a:t>ignores</a:t>
            </a:r>
            <a:r>
              <a:rPr sz="900" spc="-25" dirty="0">
                <a:latin typeface="Arial"/>
                <a:cs typeface="Arial"/>
              </a:rPr>
              <a:t> </a:t>
            </a:r>
            <a:r>
              <a:rPr sz="900" dirty="0">
                <a:latin typeface="Arial"/>
                <a:cs typeface="Arial"/>
              </a:rPr>
              <a:t>the</a:t>
            </a:r>
            <a:r>
              <a:rPr sz="900" spc="-25" dirty="0">
                <a:latin typeface="Arial"/>
                <a:cs typeface="Arial"/>
              </a:rPr>
              <a:t> </a:t>
            </a:r>
            <a:r>
              <a:rPr sz="900" dirty="0">
                <a:latin typeface="Arial"/>
                <a:cs typeface="Arial"/>
              </a:rPr>
              <a:t>election</a:t>
            </a:r>
            <a:r>
              <a:rPr sz="900" spc="-25" dirty="0">
                <a:latin typeface="Arial"/>
                <a:cs typeface="Arial"/>
              </a:rPr>
              <a:t> </a:t>
            </a:r>
            <a:r>
              <a:rPr sz="900" dirty="0">
                <a:latin typeface="Arial"/>
                <a:cs typeface="Arial"/>
              </a:rPr>
              <a:t>message</a:t>
            </a:r>
            <a:r>
              <a:rPr sz="900" spc="-25" dirty="0">
                <a:latin typeface="Arial"/>
                <a:cs typeface="Arial"/>
              </a:rPr>
              <a:t> </a:t>
            </a:r>
            <a:r>
              <a:rPr sz="900" dirty="0">
                <a:latin typeface="Arial"/>
                <a:cs typeface="Arial"/>
              </a:rPr>
              <a:t>from</a:t>
            </a:r>
            <a:r>
              <a:rPr sz="900" spc="-25" dirty="0">
                <a:latin typeface="Arial"/>
                <a:cs typeface="Arial"/>
              </a:rPr>
              <a:t> </a:t>
            </a:r>
            <a:r>
              <a:rPr sz="900" i="1" dirty="0">
                <a:latin typeface="Arial"/>
                <a:cs typeface="Arial"/>
              </a:rPr>
              <a:t>s</a:t>
            </a:r>
            <a:r>
              <a:rPr sz="1050" i="1" baseline="27777" dirty="0">
                <a:latin typeface="Menlo"/>
                <a:cs typeface="Menlo"/>
              </a:rPr>
              <a:t>∗</a:t>
            </a:r>
            <a:r>
              <a:rPr sz="900" dirty="0">
                <a:latin typeface="Arial"/>
                <a:cs typeface="Arial"/>
              </a:rPr>
              <a:t>.</a:t>
            </a:r>
            <a:r>
              <a:rPr sz="900" spc="30" dirty="0">
                <a:latin typeface="Arial"/>
                <a:cs typeface="Arial"/>
              </a:rPr>
              <a:t> </a:t>
            </a:r>
            <a:r>
              <a:rPr sz="900" dirty="0">
                <a:latin typeface="Arial"/>
                <a:cs typeface="Arial"/>
              </a:rPr>
              <a:t>When</a:t>
            </a:r>
            <a:r>
              <a:rPr sz="900" spc="-25" dirty="0">
                <a:latin typeface="Arial"/>
                <a:cs typeface="Arial"/>
              </a:rPr>
              <a:t> </a:t>
            </a:r>
            <a:r>
              <a:rPr sz="900" i="1" spc="-35" dirty="0">
                <a:latin typeface="Arial"/>
                <a:cs typeface="Arial"/>
              </a:rPr>
              <a:t>s</a:t>
            </a:r>
            <a:r>
              <a:rPr sz="1050" i="1" spc="-52" baseline="27777" dirty="0">
                <a:latin typeface="Menlo"/>
                <a:cs typeface="Menlo"/>
              </a:rPr>
              <a:t>∗</a:t>
            </a:r>
            <a:r>
              <a:rPr sz="1050" i="1" spc="-187" baseline="27777" dirty="0">
                <a:latin typeface="Menlo"/>
                <a:cs typeface="Menlo"/>
              </a:rPr>
              <a:t> </a:t>
            </a:r>
            <a:r>
              <a:rPr sz="900" dirty="0">
                <a:latin typeface="Arial"/>
                <a:cs typeface="Arial"/>
              </a:rPr>
              <a:t>has</a:t>
            </a:r>
            <a:r>
              <a:rPr sz="900" spc="-25" dirty="0">
                <a:latin typeface="Arial"/>
                <a:cs typeface="Arial"/>
              </a:rPr>
              <a:t> </a:t>
            </a:r>
            <a:r>
              <a:rPr sz="900" dirty="0">
                <a:latin typeface="Arial"/>
                <a:cs typeface="Arial"/>
              </a:rPr>
              <a:t>collected</a:t>
            </a:r>
            <a:r>
              <a:rPr sz="900" spc="-20" dirty="0">
                <a:latin typeface="Arial"/>
                <a:cs typeface="Arial"/>
              </a:rPr>
              <a:t> </a:t>
            </a:r>
            <a:r>
              <a:rPr sz="900" spc="-50" dirty="0">
                <a:latin typeface="Arial"/>
                <a:cs typeface="Arial"/>
              </a:rPr>
              <a:t>a</a:t>
            </a:r>
            <a:r>
              <a:rPr sz="900" dirty="0">
                <a:latin typeface="Arial"/>
                <a:cs typeface="Arial"/>
              </a:rPr>
              <a:t> majority</a:t>
            </a:r>
            <a:r>
              <a:rPr sz="900" spc="-20" dirty="0">
                <a:latin typeface="Arial"/>
                <a:cs typeface="Arial"/>
              </a:rPr>
              <a:t> </a:t>
            </a:r>
            <a:r>
              <a:rPr sz="900" dirty="0">
                <a:latin typeface="Arial"/>
                <a:cs typeface="Arial"/>
              </a:rPr>
              <a:t>of</a:t>
            </a:r>
            <a:r>
              <a:rPr sz="900" spc="-15" dirty="0">
                <a:latin typeface="Arial"/>
                <a:cs typeface="Arial"/>
              </a:rPr>
              <a:t> </a:t>
            </a:r>
            <a:r>
              <a:rPr sz="900" spc="-10" dirty="0">
                <a:latin typeface="Arial"/>
                <a:cs typeface="Arial"/>
              </a:rPr>
              <a:t>votes,</a:t>
            </a:r>
            <a:r>
              <a:rPr sz="900" spc="-20" dirty="0">
                <a:latin typeface="Arial"/>
                <a:cs typeface="Arial"/>
              </a:rPr>
              <a:t> </a:t>
            </a:r>
            <a:r>
              <a:rPr sz="900" dirty="0">
                <a:latin typeface="Arial"/>
                <a:cs typeface="Arial"/>
              </a:rPr>
              <a:t>a</a:t>
            </a:r>
            <a:r>
              <a:rPr sz="900" spc="-15" dirty="0">
                <a:latin typeface="Arial"/>
                <a:cs typeface="Arial"/>
              </a:rPr>
              <a:t> </a:t>
            </a:r>
            <a:r>
              <a:rPr sz="900" dirty="0">
                <a:latin typeface="Arial"/>
                <a:cs typeface="Arial"/>
              </a:rPr>
              <a:t>new</a:t>
            </a:r>
            <a:r>
              <a:rPr sz="900" spc="-15" dirty="0">
                <a:latin typeface="Arial"/>
                <a:cs typeface="Arial"/>
              </a:rPr>
              <a:t> </a:t>
            </a:r>
            <a:r>
              <a:rPr sz="900" dirty="0">
                <a:latin typeface="Arial"/>
                <a:cs typeface="Arial"/>
              </a:rPr>
              <a:t>term</a:t>
            </a:r>
            <a:r>
              <a:rPr sz="900" spc="-20" dirty="0">
                <a:latin typeface="Arial"/>
                <a:cs typeface="Arial"/>
              </a:rPr>
              <a:t> </a:t>
            </a:r>
            <a:r>
              <a:rPr sz="900" dirty="0">
                <a:latin typeface="Arial"/>
                <a:cs typeface="Arial"/>
              </a:rPr>
              <a:t>starts</a:t>
            </a:r>
            <a:r>
              <a:rPr sz="900" spc="-15" dirty="0">
                <a:latin typeface="Arial"/>
                <a:cs typeface="Arial"/>
              </a:rPr>
              <a:t> </a:t>
            </a:r>
            <a:r>
              <a:rPr sz="900" dirty="0">
                <a:latin typeface="Arial"/>
                <a:cs typeface="Arial"/>
              </a:rPr>
              <a:t>with</a:t>
            </a:r>
            <a:r>
              <a:rPr sz="900" spc="-15" dirty="0">
                <a:latin typeface="Arial"/>
                <a:cs typeface="Arial"/>
              </a:rPr>
              <a:t> </a:t>
            </a:r>
            <a:r>
              <a:rPr sz="900" dirty="0">
                <a:latin typeface="Arial"/>
                <a:cs typeface="Arial"/>
              </a:rPr>
              <a:t>a</a:t>
            </a:r>
            <a:r>
              <a:rPr sz="900" spc="-20" dirty="0">
                <a:latin typeface="Arial"/>
                <a:cs typeface="Arial"/>
              </a:rPr>
              <a:t> </a:t>
            </a:r>
            <a:r>
              <a:rPr sz="900" dirty="0">
                <a:latin typeface="Arial"/>
                <a:cs typeface="Arial"/>
              </a:rPr>
              <a:t>new</a:t>
            </a:r>
            <a:r>
              <a:rPr sz="900" spc="-15" dirty="0">
                <a:latin typeface="Arial"/>
                <a:cs typeface="Arial"/>
              </a:rPr>
              <a:t> </a:t>
            </a:r>
            <a:r>
              <a:rPr sz="900" spc="-10" dirty="0">
                <a:latin typeface="Arial"/>
                <a:cs typeface="Arial"/>
              </a:rPr>
              <a:t>leader.</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944244"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Example:</a:t>
            </a:r>
            <a:r>
              <a:rPr sz="500" spc="10" dirty="0">
                <a:latin typeface="Arial"/>
                <a:cs typeface="Arial"/>
                <a:hlinkClick r:id="rId4" action="ppaction://hlinksldjump"/>
              </a:rPr>
              <a:t> </a:t>
            </a:r>
            <a:r>
              <a:rPr sz="500" dirty="0">
                <a:latin typeface="Arial"/>
                <a:cs typeface="Arial"/>
                <a:hlinkClick r:id="rId4" action="ppaction://hlinksldjump"/>
              </a:rPr>
              <a:t>Leader</a:t>
            </a:r>
            <a:r>
              <a:rPr sz="500" spc="-20" dirty="0">
                <a:latin typeface="Arial"/>
                <a:cs typeface="Arial"/>
                <a:hlinkClick r:id="rId4" action="ppaction://hlinksldjump"/>
              </a:rPr>
              <a:t> </a:t>
            </a:r>
            <a:r>
              <a:rPr sz="500" dirty="0">
                <a:latin typeface="Arial"/>
                <a:cs typeface="Arial"/>
                <a:hlinkClick r:id="rId4" action="ppaction://hlinksldjump"/>
              </a:rPr>
              <a:t>election</a:t>
            </a:r>
            <a:r>
              <a:rPr sz="500" spc="-15" dirty="0">
                <a:latin typeface="Arial"/>
                <a:cs typeface="Arial"/>
                <a:hlinkClick r:id="rId4" action="ppaction://hlinksldjump"/>
              </a:rPr>
              <a:t> </a:t>
            </a:r>
            <a:r>
              <a:rPr sz="500" dirty="0">
                <a:latin typeface="Arial"/>
                <a:cs typeface="Arial"/>
                <a:hlinkClick r:id="rId4" action="ppaction://hlinksldjump"/>
              </a:rPr>
              <a:t>in</a:t>
            </a:r>
            <a:r>
              <a:rPr sz="500" spc="-20" dirty="0">
                <a:latin typeface="Arial"/>
                <a:cs typeface="Arial"/>
                <a:hlinkClick r:id="rId4" action="ppaction://hlinksldjump"/>
              </a:rPr>
              <a:t> Raft</a:t>
            </a:r>
            <a:endParaRPr sz="500">
              <a:latin typeface="Arial"/>
              <a:cs typeface="Arial"/>
            </a:endParaRPr>
          </a:p>
        </p:txBody>
      </p:sp>
    </p:spTree>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952875" algn="l"/>
              </a:tabLst>
            </a:pPr>
            <a:r>
              <a:rPr sz="500" spc="-10" dirty="0">
                <a:latin typeface="Arial"/>
                <a:cs typeface="Arial"/>
                <a:hlinkClick r:id="rId2" action="ppaction://hlinksldjump"/>
              </a:rPr>
              <a:t>Coordination</a:t>
            </a:r>
            <a:r>
              <a:rPr sz="500" dirty="0">
                <a:latin typeface="Arial"/>
                <a:cs typeface="Arial"/>
              </a:rPr>
              <a:t>	</a:t>
            </a:r>
            <a:r>
              <a:rPr sz="500" dirty="0">
                <a:solidFill>
                  <a:srgbClr val="FFFFFF"/>
                </a:solidFill>
                <a:latin typeface="Arial"/>
                <a:cs typeface="Arial"/>
                <a:hlinkClick r:id="rId3" action="ppaction://hlinksldjump"/>
              </a:rPr>
              <a:t>Election</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algorithms</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Example:</a:t>
            </a:r>
            <a:r>
              <a:rPr spc="30" dirty="0"/>
              <a:t> </a:t>
            </a:r>
            <a:r>
              <a:rPr dirty="0"/>
              <a:t>Leader</a:t>
            </a:r>
            <a:r>
              <a:rPr spc="-35" dirty="0"/>
              <a:t> </a:t>
            </a:r>
            <a:r>
              <a:rPr dirty="0"/>
              <a:t>election</a:t>
            </a:r>
            <a:r>
              <a:rPr spc="-40" dirty="0"/>
              <a:t> </a:t>
            </a:r>
            <a:r>
              <a:rPr dirty="0"/>
              <a:t>in</a:t>
            </a:r>
            <a:r>
              <a:rPr spc="-35" dirty="0"/>
              <a:t> </a:t>
            </a:r>
            <a:r>
              <a:rPr spc="-20" dirty="0"/>
              <a:t>Raft</a:t>
            </a:r>
          </a:p>
        </p:txBody>
      </p:sp>
      <p:sp>
        <p:nvSpPr>
          <p:cNvPr id="4" name="object 4"/>
          <p:cNvSpPr txBox="1"/>
          <p:nvPr/>
        </p:nvSpPr>
        <p:spPr>
          <a:xfrm>
            <a:off x="316547" y="470520"/>
            <a:ext cx="3970020" cy="2498725"/>
          </a:xfrm>
          <a:prstGeom prst="rect">
            <a:avLst/>
          </a:prstGeom>
        </p:spPr>
        <p:txBody>
          <a:bodyPr vert="horz" wrap="square" lIns="0" tIns="56515" rIns="0" bIns="0" rtlCol="0">
            <a:spAutoFit/>
          </a:bodyPr>
          <a:lstStyle/>
          <a:p>
            <a:pPr marL="43180" algn="just">
              <a:lnSpc>
                <a:spcPct val="100000"/>
              </a:lnSpc>
              <a:spcBef>
                <a:spcPts val="445"/>
              </a:spcBef>
            </a:pPr>
            <a:r>
              <a:rPr sz="1000" dirty="0">
                <a:solidFill>
                  <a:srgbClr val="3333B2"/>
                </a:solidFill>
                <a:latin typeface="Arial"/>
                <a:cs typeface="Arial"/>
              </a:rPr>
              <a:t>Selecting</a:t>
            </a:r>
            <a:r>
              <a:rPr sz="1000" spc="-45" dirty="0">
                <a:solidFill>
                  <a:srgbClr val="3333B2"/>
                </a:solidFill>
                <a:latin typeface="Arial"/>
                <a:cs typeface="Arial"/>
              </a:rPr>
              <a:t> </a:t>
            </a:r>
            <a:r>
              <a:rPr sz="1000" dirty="0">
                <a:solidFill>
                  <a:srgbClr val="3333B2"/>
                </a:solidFill>
                <a:latin typeface="Arial"/>
                <a:cs typeface="Arial"/>
              </a:rPr>
              <a:t>a</a:t>
            </a:r>
            <a:r>
              <a:rPr sz="1000" spc="-35" dirty="0">
                <a:solidFill>
                  <a:srgbClr val="3333B2"/>
                </a:solidFill>
                <a:latin typeface="Arial"/>
                <a:cs typeface="Arial"/>
              </a:rPr>
              <a:t> </a:t>
            </a:r>
            <a:r>
              <a:rPr sz="1000" dirty="0">
                <a:solidFill>
                  <a:srgbClr val="3333B2"/>
                </a:solidFill>
                <a:latin typeface="Arial"/>
                <a:cs typeface="Arial"/>
              </a:rPr>
              <a:t>new</a:t>
            </a:r>
            <a:r>
              <a:rPr sz="1000" spc="-30" dirty="0">
                <a:solidFill>
                  <a:srgbClr val="3333B2"/>
                </a:solidFill>
                <a:latin typeface="Arial"/>
                <a:cs typeface="Arial"/>
              </a:rPr>
              <a:t> </a:t>
            </a:r>
            <a:r>
              <a:rPr sz="1000" spc="-10" dirty="0">
                <a:solidFill>
                  <a:srgbClr val="3333B2"/>
                </a:solidFill>
                <a:latin typeface="Arial"/>
                <a:cs typeface="Arial"/>
              </a:rPr>
              <a:t>leader</a:t>
            </a:r>
            <a:endParaRPr sz="1000">
              <a:latin typeface="Arial"/>
              <a:cs typeface="Arial"/>
            </a:endParaRPr>
          </a:p>
          <a:p>
            <a:pPr marL="43180" marR="30480" indent="-5715" algn="just">
              <a:lnSpc>
                <a:spcPct val="111600"/>
              </a:lnSpc>
              <a:spcBef>
                <a:spcPts val="180"/>
              </a:spcBef>
            </a:pPr>
            <a:r>
              <a:rPr sz="900" dirty="0">
                <a:latin typeface="Arial"/>
                <a:cs typeface="Arial"/>
              </a:rPr>
              <a:t>When</a:t>
            </a:r>
            <a:r>
              <a:rPr sz="900" spc="-65" dirty="0">
                <a:latin typeface="Arial"/>
                <a:cs typeface="Arial"/>
              </a:rPr>
              <a:t> </a:t>
            </a:r>
            <a:r>
              <a:rPr sz="900" spc="-10" dirty="0">
                <a:latin typeface="Arial"/>
                <a:cs typeface="Arial"/>
              </a:rPr>
              <a:t>follower</a:t>
            </a:r>
            <a:r>
              <a:rPr sz="900" spc="-50" dirty="0">
                <a:latin typeface="Arial"/>
                <a:cs typeface="Arial"/>
              </a:rPr>
              <a:t> </a:t>
            </a:r>
            <a:r>
              <a:rPr sz="900" i="1" spc="-75" dirty="0">
                <a:latin typeface="Arial"/>
                <a:cs typeface="Arial"/>
              </a:rPr>
              <a:t>s</a:t>
            </a:r>
            <a:r>
              <a:rPr sz="1050" i="1" spc="-112" baseline="27777" dirty="0">
                <a:latin typeface="Menlo"/>
                <a:cs typeface="Menlo"/>
              </a:rPr>
              <a:t>∗</a:t>
            </a:r>
            <a:r>
              <a:rPr sz="1050" i="1" spc="-52" baseline="27777" dirty="0">
                <a:latin typeface="Menlo"/>
                <a:cs typeface="Menlo"/>
              </a:rPr>
              <a:t> </a:t>
            </a:r>
            <a:r>
              <a:rPr sz="900" dirty="0">
                <a:latin typeface="Arial"/>
                <a:cs typeface="Arial"/>
              </a:rPr>
              <a:t>hasn’t</a:t>
            </a:r>
            <a:r>
              <a:rPr sz="900" spc="-30" dirty="0">
                <a:latin typeface="Arial"/>
                <a:cs typeface="Arial"/>
              </a:rPr>
              <a:t> </a:t>
            </a:r>
            <a:r>
              <a:rPr sz="900" spc="-10" dirty="0">
                <a:latin typeface="Arial"/>
                <a:cs typeface="Arial"/>
              </a:rPr>
              <a:t>received</a:t>
            </a:r>
            <a:r>
              <a:rPr sz="900" spc="-15" dirty="0">
                <a:latin typeface="Arial"/>
                <a:cs typeface="Arial"/>
              </a:rPr>
              <a:t> </a:t>
            </a:r>
            <a:r>
              <a:rPr sz="900" dirty="0">
                <a:latin typeface="Arial"/>
                <a:cs typeface="Arial"/>
              </a:rPr>
              <a:t>anything</a:t>
            </a:r>
            <a:r>
              <a:rPr sz="900" spc="-15" dirty="0">
                <a:latin typeface="Arial"/>
                <a:cs typeface="Arial"/>
              </a:rPr>
              <a:t> </a:t>
            </a:r>
            <a:r>
              <a:rPr sz="900" dirty="0">
                <a:latin typeface="Arial"/>
                <a:cs typeface="Arial"/>
              </a:rPr>
              <a:t>from</a:t>
            </a:r>
            <a:r>
              <a:rPr sz="900" spc="-15" dirty="0">
                <a:latin typeface="Arial"/>
                <a:cs typeface="Arial"/>
              </a:rPr>
              <a:t> </a:t>
            </a:r>
            <a:r>
              <a:rPr sz="900" dirty="0">
                <a:latin typeface="Arial"/>
                <a:cs typeface="Arial"/>
              </a:rPr>
              <a:t>the</a:t>
            </a:r>
            <a:r>
              <a:rPr sz="900" spc="-15" dirty="0">
                <a:latin typeface="Arial"/>
                <a:cs typeface="Arial"/>
              </a:rPr>
              <a:t> </a:t>
            </a:r>
            <a:r>
              <a:rPr sz="900" dirty="0">
                <a:latin typeface="Arial"/>
                <a:cs typeface="Arial"/>
              </a:rPr>
              <a:t>alleged</a:t>
            </a:r>
            <a:r>
              <a:rPr sz="900" spc="-15" dirty="0">
                <a:latin typeface="Arial"/>
                <a:cs typeface="Arial"/>
              </a:rPr>
              <a:t> </a:t>
            </a:r>
            <a:r>
              <a:rPr sz="900" dirty="0">
                <a:latin typeface="Arial"/>
                <a:cs typeface="Arial"/>
              </a:rPr>
              <a:t>leader</a:t>
            </a:r>
            <a:r>
              <a:rPr sz="900" spc="-15" dirty="0">
                <a:latin typeface="Arial"/>
                <a:cs typeface="Arial"/>
              </a:rPr>
              <a:t> </a:t>
            </a:r>
            <a:r>
              <a:rPr sz="900" i="1" dirty="0">
                <a:latin typeface="Arial"/>
                <a:cs typeface="Arial"/>
              </a:rPr>
              <a:t>s</a:t>
            </a:r>
            <a:r>
              <a:rPr sz="900" i="1" spc="15" dirty="0">
                <a:latin typeface="Arial"/>
                <a:cs typeface="Arial"/>
              </a:rPr>
              <a:t> </a:t>
            </a:r>
            <a:r>
              <a:rPr sz="900" dirty="0">
                <a:latin typeface="Arial"/>
                <a:cs typeface="Arial"/>
              </a:rPr>
              <a:t>for</a:t>
            </a:r>
            <a:r>
              <a:rPr sz="900" spc="-15" dirty="0">
                <a:latin typeface="Arial"/>
                <a:cs typeface="Arial"/>
              </a:rPr>
              <a:t> </a:t>
            </a:r>
            <a:r>
              <a:rPr sz="900" spc="-20" dirty="0">
                <a:latin typeface="Arial"/>
                <a:cs typeface="Arial"/>
              </a:rPr>
              <a:t>some </a:t>
            </a:r>
            <a:r>
              <a:rPr sz="900" dirty="0">
                <a:latin typeface="Arial"/>
                <a:cs typeface="Arial"/>
              </a:rPr>
              <a:t>time,</a:t>
            </a:r>
            <a:r>
              <a:rPr sz="900" spc="-65" dirty="0">
                <a:latin typeface="Arial"/>
                <a:cs typeface="Arial"/>
              </a:rPr>
              <a:t> </a:t>
            </a:r>
            <a:r>
              <a:rPr sz="900" i="1" spc="-75" dirty="0">
                <a:latin typeface="Arial"/>
                <a:cs typeface="Arial"/>
              </a:rPr>
              <a:t>s</a:t>
            </a:r>
            <a:r>
              <a:rPr sz="1050" i="1" spc="-112" baseline="27777" dirty="0">
                <a:latin typeface="Menlo"/>
                <a:cs typeface="Menlo"/>
              </a:rPr>
              <a:t>∗</a:t>
            </a:r>
            <a:r>
              <a:rPr sz="1050" i="1" spc="-44" baseline="27777" dirty="0">
                <a:latin typeface="Menlo"/>
                <a:cs typeface="Menlo"/>
              </a:rPr>
              <a:t> </a:t>
            </a:r>
            <a:r>
              <a:rPr sz="900" spc="-10" dirty="0">
                <a:latin typeface="Arial"/>
                <a:cs typeface="Arial"/>
              </a:rPr>
              <a:t>broadcasts</a:t>
            </a:r>
            <a:r>
              <a:rPr sz="900" spc="-55" dirty="0">
                <a:latin typeface="Arial"/>
                <a:cs typeface="Arial"/>
              </a:rPr>
              <a:t> </a:t>
            </a:r>
            <a:r>
              <a:rPr sz="900" dirty="0">
                <a:latin typeface="Arial"/>
                <a:cs typeface="Arial"/>
              </a:rPr>
              <a:t>that</a:t>
            </a:r>
            <a:r>
              <a:rPr sz="900" spc="-30" dirty="0">
                <a:latin typeface="Arial"/>
                <a:cs typeface="Arial"/>
              </a:rPr>
              <a:t> </a:t>
            </a:r>
            <a:r>
              <a:rPr sz="900" dirty="0">
                <a:latin typeface="Arial"/>
                <a:cs typeface="Arial"/>
              </a:rPr>
              <a:t>it</a:t>
            </a:r>
            <a:r>
              <a:rPr sz="900" spc="-15" dirty="0">
                <a:latin typeface="Arial"/>
                <a:cs typeface="Arial"/>
              </a:rPr>
              <a:t> </a:t>
            </a:r>
            <a:r>
              <a:rPr sz="900" spc="-10" dirty="0">
                <a:latin typeface="Arial"/>
                <a:cs typeface="Arial"/>
              </a:rPr>
              <a:t>volunteers</a:t>
            </a:r>
            <a:r>
              <a:rPr sz="900" spc="-15" dirty="0">
                <a:latin typeface="Arial"/>
                <a:cs typeface="Arial"/>
              </a:rPr>
              <a:t> </a:t>
            </a:r>
            <a:r>
              <a:rPr sz="900" dirty="0">
                <a:latin typeface="Arial"/>
                <a:cs typeface="Arial"/>
              </a:rPr>
              <a:t>to</a:t>
            </a:r>
            <a:r>
              <a:rPr sz="900" spc="-15" dirty="0">
                <a:latin typeface="Arial"/>
                <a:cs typeface="Arial"/>
              </a:rPr>
              <a:t> </a:t>
            </a:r>
            <a:r>
              <a:rPr sz="900" dirty="0">
                <a:latin typeface="Arial"/>
                <a:cs typeface="Arial"/>
              </a:rPr>
              <a:t>be</a:t>
            </a:r>
            <a:r>
              <a:rPr sz="900" spc="-10" dirty="0">
                <a:latin typeface="Arial"/>
                <a:cs typeface="Arial"/>
              </a:rPr>
              <a:t> </a:t>
            </a:r>
            <a:r>
              <a:rPr sz="900" dirty="0">
                <a:latin typeface="Arial"/>
                <a:cs typeface="Arial"/>
              </a:rPr>
              <a:t>the</a:t>
            </a:r>
            <a:r>
              <a:rPr sz="900" spc="-15" dirty="0">
                <a:latin typeface="Arial"/>
                <a:cs typeface="Arial"/>
              </a:rPr>
              <a:t> </a:t>
            </a:r>
            <a:r>
              <a:rPr sz="900" spc="-10" dirty="0">
                <a:latin typeface="Arial"/>
                <a:cs typeface="Arial"/>
              </a:rPr>
              <a:t>next</a:t>
            </a:r>
            <a:r>
              <a:rPr sz="900" spc="-15" dirty="0">
                <a:latin typeface="Arial"/>
                <a:cs typeface="Arial"/>
              </a:rPr>
              <a:t> </a:t>
            </a:r>
            <a:r>
              <a:rPr sz="900" spc="-10" dirty="0">
                <a:latin typeface="Arial"/>
                <a:cs typeface="Arial"/>
              </a:rPr>
              <a:t>leader,</a:t>
            </a:r>
            <a:r>
              <a:rPr sz="900" spc="-15" dirty="0">
                <a:latin typeface="Arial"/>
                <a:cs typeface="Arial"/>
              </a:rPr>
              <a:t> </a:t>
            </a:r>
            <a:r>
              <a:rPr sz="900" spc="-10" dirty="0">
                <a:latin typeface="Arial"/>
                <a:cs typeface="Arial"/>
              </a:rPr>
              <a:t>increasing</a:t>
            </a:r>
            <a:r>
              <a:rPr sz="900" spc="-15" dirty="0">
                <a:latin typeface="Arial"/>
                <a:cs typeface="Arial"/>
              </a:rPr>
              <a:t> </a:t>
            </a:r>
            <a:r>
              <a:rPr sz="900" dirty="0">
                <a:latin typeface="Arial"/>
                <a:cs typeface="Arial"/>
              </a:rPr>
              <a:t>the</a:t>
            </a:r>
            <a:r>
              <a:rPr sz="900" spc="-15" dirty="0">
                <a:latin typeface="Arial"/>
                <a:cs typeface="Arial"/>
              </a:rPr>
              <a:t> </a:t>
            </a:r>
            <a:r>
              <a:rPr sz="900" spc="-20" dirty="0">
                <a:latin typeface="Arial"/>
                <a:cs typeface="Arial"/>
              </a:rPr>
              <a:t>term </a:t>
            </a:r>
            <a:r>
              <a:rPr sz="900" dirty="0">
                <a:latin typeface="Arial"/>
                <a:cs typeface="Arial"/>
              </a:rPr>
              <a:t>by</a:t>
            </a:r>
            <a:r>
              <a:rPr sz="900" spc="-45" dirty="0">
                <a:latin typeface="Arial"/>
                <a:cs typeface="Arial"/>
              </a:rPr>
              <a:t> </a:t>
            </a:r>
            <a:r>
              <a:rPr sz="900" dirty="0">
                <a:latin typeface="Arial"/>
                <a:cs typeface="Arial"/>
              </a:rPr>
              <a:t>1.</a:t>
            </a:r>
            <a:r>
              <a:rPr sz="900" spc="30" dirty="0">
                <a:latin typeface="Arial"/>
                <a:cs typeface="Arial"/>
              </a:rPr>
              <a:t> </a:t>
            </a:r>
            <a:r>
              <a:rPr sz="900" i="1" spc="-35" dirty="0">
                <a:latin typeface="Arial"/>
                <a:cs typeface="Arial"/>
              </a:rPr>
              <a:t>s</a:t>
            </a:r>
            <a:r>
              <a:rPr sz="1050" i="1" spc="-52" baseline="27777" dirty="0">
                <a:latin typeface="Menlo"/>
                <a:cs typeface="Menlo"/>
              </a:rPr>
              <a:t>∗</a:t>
            </a:r>
            <a:r>
              <a:rPr sz="1050" i="1" spc="-187" baseline="27777" dirty="0">
                <a:latin typeface="Menlo"/>
                <a:cs typeface="Menlo"/>
              </a:rPr>
              <a:t> </a:t>
            </a:r>
            <a:r>
              <a:rPr sz="900" dirty="0">
                <a:latin typeface="Arial"/>
                <a:cs typeface="Arial"/>
              </a:rPr>
              <a:t>enters</a:t>
            </a:r>
            <a:r>
              <a:rPr sz="900" spc="-20" dirty="0">
                <a:latin typeface="Arial"/>
                <a:cs typeface="Arial"/>
              </a:rPr>
              <a:t> </a:t>
            </a:r>
            <a:r>
              <a:rPr sz="900" dirty="0">
                <a:latin typeface="Arial"/>
                <a:cs typeface="Arial"/>
              </a:rPr>
              <a:t>the</a:t>
            </a:r>
            <a:r>
              <a:rPr sz="900" spc="-25" dirty="0">
                <a:latin typeface="Arial"/>
                <a:cs typeface="Arial"/>
              </a:rPr>
              <a:t> </a:t>
            </a:r>
            <a:r>
              <a:rPr sz="900" dirty="0">
                <a:solidFill>
                  <a:srgbClr val="C80000"/>
                </a:solidFill>
                <a:latin typeface="Arial"/>
                <a:cs typeface="Arial"/>
              </a:rPr>
              <a:t>candidate</a:t>
            </a:r>
            <a:r>
              <a:rPr sz="900" spc="-20" dirty="0">
                <a:solidFill>
                  <a:srgbClr val="C80000"/>
                </a:solidFill>
                <a:latin typeface="Arial"/>
                <a:cs typeface="Arial"/>
              </a:rPr>
              <a:t> </a:t>
            </a:r>
            <a:r>
              <a:rPr sz="900" dirty="0">
                <a:latin typeface="Arial"/>
                <a:cs typeface="Arial"/>
              </a:rPr>
              <a:t>state.</a:t>
            </a:r>
            <a:r>
              <a:rPr sz="900" spc="30" dirty="0">
                <a:latin typeface="Arial"/>
                <a:cs typeface="Arial"/>
              </a:rPr>
              <a:t> </a:t>
            </a:r>
            <a:r>
              <a:rPr sz="900" spc="-10" dirty="0">
                <a:latin typeface="Arial"/>
                <a:cs typeface="Arial"/>
              </a:rPr>
              <a:t>Then:</a:t>
            </a:r>
            <a:endParaRPr sz="900">
              <a:latin typeface="Arial"/>
              <a:cs typeface="Arial"/>
            </a:endParaRPr>
          </a:p>
          <a:p>
            <a:pPr marL="295910" marR="53340" indent="-120650">
              <a:lnSpc>
                <a:spcPct val="111600"/>
              </a:lnSpc>
              <a:spcBef>
                <a:spcPts val="400"/>
              </a:spcBef>
              <a:buClr>
                <a:srgbClr val="3333B2"/>
              </a:buClr>
              <a:buFont typeface="Menlo"/>
              <a:buChar char="•"/>
              <a:tabLst>
                <a:tab pos="296545" algn="l"/>
              </a:tabLst>
            </a:pPr>
            <a:r>
              <a:rPr sz="900" dirty="0">
                <a:latin typeface="Arial"/>
                <a:cs typeface="Arial"/>
              </a:rPr>
              <a:t>If</a:t>
            </a:r>
            <a:r>
              <a:rPr sz="900" spc="-20" dirty="0">
                <a:latin typeface="Arial"/>
                <a:cs typeface="Arial"/>
              </a:rPr>
              <a:t> </a:t>
            </a:r>
            <a:r>
              <a:rPr sz="900" dirty="0">
                <a:latin typeface="Arial"/>
                <a:cs typeface="Arial"/>
              </a:rPr>
              <a:t>leader</a:t>
            </a:r>
            <a:r>
              <a:rPr sz="900" spc="-15" dirty="0">
                <a:latin typeface="Arial"/>
                <a:cs typeface="Arial"/>
              </a:rPr>
              <a:t> </a:t>
            </a:r>
            <a:r>
              <a:rPr sz="900" i="1" dirty="0">
                <a:latin typeface="Arial"/>
                <a:cs typeface="Arial"/>
              </a:rPr>
              <a:t>s</a:t>
            </a:r>
            <a:r>
              <a:rPr sz="900" i="1" spc="15" dirty="0">
                <a:latin typeface="Arial"/>
                <a:cs typeface="Arial"/>
              </a:rPr>
              <a:t> </a:t>
            </a:r>
            <a:r>
              <a:rPr sz="900" spc="-10" dirty="0">
                <a:latin typeface="Arial"/>
                <a:cs typeface="Arial"/>
              </a:rPr>
              <a:t>receives</a:t>
            </a:r>
            <a:r>
              <a:rPr sz="900" spc="-20" dirty="0">
                <a:latin typeface="Arial"/>
                <a:cs typeface="Arial"/>
              </a:rPr>
              <a:t> </a:t>
            </a:r>
            <a:r>
              <a:rPr sz="900" dirty="0">
                <a:latin typeface="Arial"/>
                <a:cs typeface="Arial"/>
              </a:rPr>
              <a:t>the</a:t>
            </a:r>
            <a:r>
              <a:rPr sz="900" spc="-15" dirty="0">
                <a:latin typeface="Arial"/>
                <a:cs typeface="Arial"/>
              </a:rPr>
              <a:t> </a:t>
            </a:r>
            <a:r>
              <a:rPr sz="900" dirty="0">
                <a:latin typeface="Arial"/>
                <a:cs typeface="Arial"/>
              </a:rPr>
              <a:t>message,</a:t>
            </a:r>
            <a:r>
              <a:rPr sz="900" spc="-15" dirty="0">
                <a:latin typeface="Arial"/>
                <a:cs typeface="Arial"/>
              </a:rPr>
              <a:t> </a:t>
            </a:r>
            <a:r>
              <a:rPr sz="900" dirty="0">
                <a:latin typeface="Arial"/>
                <a:cs typeface="Arial"/>
              </a:rPr>
              <a:t>it</a:t>
            </a:r>
            <a:r>
              <a:rPr sz="900" spc="-15" dirty="0">
                <a:latin typeface="Arial"/>
                <a:cs typeface="Arial"/>
              </a:rPr>
              <a:t> </a:t>
            </a:r>
            <a:r>
              <a:rPr sz="900" dirty="0">
                <a:latin typeface="Arial"/>
                <a:cs typeface="Arial"/>
              </a:rPr>
              <a:t>responds</a:t>
            </a:r>
            <a:r>
              <a:rPr sz="900" spc="-20" dirty="0">
                <a:latin typeface="Arial"/>
                <a:cs typeface="Arial"/>
              </a:rPr>
              <a:t> </a:t>
            </a:r>
            <a:r>
              <a:rPr sz="900" dirty="0">
                <a:latin typeface="Arial"/>
                <a:cs typeface="Arial"/>
              </a:rPr>
              <a:t>by</a:t>
            </a:r>
            <a:r>
              <a:rPr sz="900" spc="-15" dirty="0">
                <a:latin typeface="Arial"/>
                <a:cs typeface="Arial"/>
              </a:rPr>
              <a:t> </a:t>
            </a:r>
            <a:r>
              <a:rPr sz="900" spc="-10" dirty="0">
                <a:latin typeface="Arial"/>
                <a:cs typeface="Arial"/>
              </a:rPr>
              <a:t>acknowledging</a:t>
            </a:r>
            <a:r>
              <a:rPr sz="900" spc="-15" dirty="0">
                <a:latin typeface="Arial"/>
                <a:cs typeface="Arial"/>
              </a:rPr>
              <a:t> </a:t>
            </a:r>
            <a:r>
              <a:rPr sz="900" dirty="0">
                <a:latin typeface="Arial"/>
                <a:cs typeface="Arial"/>
              </a:rPr>
              <a:t>that</a:t>
            </a:r>
            <a:r>
              <a:rPr sz="900" spc="-15" dirty="0">
                <a:latin typeface="Arial"/>
                <a:cs typeface="Arial"/>
              </a:rPr>
              <a:t> </a:t>
            </a:r>
            <a:r>
              <a:rPr sz="900" dirty="0">
                <a:latin typeface="Arial"/>
                <a:cs typeface="Arial"/>
              </a:rPr>
              <a:t>it</a:t>
            </a:r>
            <a:r>
              <a:rPr sz="900" spc="-15" dirty="0">
                <a:latin typeface="Arial"/>
                <a:cs typeface="Arial"/>
              </a:rPr>
              <a:t> </a:t>
            </a:r>
            <a:r>
              <a:rPr sz="900" spc="-25" dirty="0">
                <a:latin typeface="Arial"/>
                <a:cs typeface="Arial"/>
              </a:rPr>
              <a:t>is </a:t>
            </a:r>
            <a:r>
              <a:rPr sz="900" dirty="0">
                <a:latin typeface="Arial"/>
                <a:cs typeface="Arial"/>
              </a:rPr>
              <a:t>still</a:t>
            </a:r>
            <a:r>
              <a:rPr sz="900" spc="-40" dirty="0">
                <a:latin typeface="Arial"/>
                <a:cs typeface="Arial"/>
              </a:rPr>
              <a:t> </a:t>
            </a:r>
            <a:r>
              <a:rPr sz="900" dirty="0">
                <a:latin typeface="Arial"/>
                <a:cs typeface="Arial"/>
              </a:rPr>
              <a:t>the</a:t>
            </a:r>
            <a:r>
              <a:rPr sz="900" spc="-15" dirty="0">
                <a:latin typeface="Arial"/>
                <a:cs typeface="Arial"/>
              </a:rPr>
              <a:t> </a:t>
            </a:r>
            <a:r>
              <a:rPr sz="900" dirty="0">
                <a:latin typeface="Arial"/>
                <a:cs typeface="Arial"/>
              </a:rPr>
              <a:t>leader.</a:t>
            </a:r>
            <a:r>
              <a:rPr sz="900" spc="35" dirty="0">
                <a:latin typeface="Arial"/>
                <a:cs typeface="Arial"/>
              </a:rPr>
              <a:t> </a:t>
            </a:r>
            <a:r>
              <a:rPr sz="900" i="1" spc="-35" dirty="0">
                <a:latin typeface="Arial"/>
                <a:cs typeface="Arial"/>
              </a:rPr>
              <a:t>s</a:t>
            </a:r>
            <a:r>
              <a:rPr sz="1050" i="1" spc="-52" baseline="27777" dirty="0">
                <a:latin typeface="Menlo"/>
                <a:cs typeface="Menlo"/>
              </a:rPr>
              <a:t>∗</a:t>
            </a:r>
            <a:r>
              <a:rPr sz="1050" i="1" spc="-187" baseline="27777" dirty="0">
                <a:latin typeface="Menlo"/>
                <a:cs typeface="Menlo"/>
              </a:rPr>
              <a:t> </a:t>
            </a:r>
            <a:r>
              <a:rPr sz="900" dirty="0">
                <a:latin typeface="Arial"/>
                <a:cs typeface="Arial"/>
              </a:rPr>
              <a:t>returns</a:t>
            </a:r>
            <a:r>
              <a:rPr sz="900" spc="-20" dirty="0">
                <a:latin typeface="Arial"/>
                <a:cs typeface="Arial"/>
              </a:rPr>
              <a:t> </a:t>
            </a:r>
            <a:r>
              <a:rPr sz="900" dirty="0">
                <a:latin typeface="Arial"/>
                <a:cs typeface="Arial"/>
              </a:rPr>
              <a:t>to</a:t>
            </a:r>
            <a:r>
              <a:rPr sz="900" spc="-15" dirty="0">
                <a:latin typeface="Arial"/>
                <a:cs typeface="Arial"/>
              </a:rPr>
              <a:t> </a:t>
            </a:r>
            <a:r>
              <a:rPr sz="900" dirty="0">
                <a:latin typeface="Arial"/>
                <a:cs typeface="Arial"/>
              </a:rPr>
              <a:t>the</a:t>
            </a:r>
            <a:r>
              <a:rPr sz="900" spc="-20" dirty="0">
                <a:latin typeface="Arial"/>
                <a:cs typeface="Arial"/>
              </a:rPr>
              <a:t> </a:t>
            </a:r>
            <a:r>
              <a:rPr sz="900" spc="-10" dirty="0">
                <a:solidFill>
                  <a:srgbClr val="C80000"/>
                </a:solidFill>
                <a:latin typeface="Arial"/>
                <a:cs typeface="Arial"/>
              </a:rPr>
              <a:t>follower</a:t>
            </a:r>
            <a:r>
              <a:rPr sz="900" spc="-20" dirty="0">
                <a:solidFill>
                  <a:srgbClr val="C80000"/>
                </a:solidFill>
                <a:latin typeface="Arial"/>
                <a:cs typeface="Arial"/>
              </a:rPr>
              <a:t> </a:t>
            </a:r>
            <a:r>
              <a:rPr sz="900" spc="-10" dirty="0">
                <a:latin typeface="Arial"/>
                <a:cs typeface="Arial"/>
              </a:rPr>
              <a:t>state.</a:t>
            </a:r>
            <a:endParaRPr sz="900">
              <a:latin typeface="Arial"/>
              <a:cs typeface="Arial"/>
            </a:endParaRPr>
          </a:p>
          <a:p>
            <a:pPr marL="295910" marR="30480" indent="-120650">
              <a:lnSpc>
                <a:spcPct val="111600"/>
              </a:lnSpc>
              <a:spcBef>
                <a:spcPts val="300"/>
              </a:spcBef>
              <a:buClr>
                <a:srgbClr val="3333B2"/>
              </a:buClr>
              <a:buFont typeface="Menlo"/>
              <a:buChar char="•"/>
              <a:tabLst>
                <a:tab pos="296545" algn="l"/>
              </a:tabLst>
            </a:pPr>
            <a:r>
              <a:rPr sz="900" dirty="0">
                <a:latin typeface="Arial"/>
                <a:cs typeface="Arial"/>
              </a:rPr>
              <a:t>If</a:t>
            </a:r>
            <a:r>
              <a:rPr sz="900" spc="-60" dirty="0">
                <a:latin typeface="Arial"/>
                <a:cs typeface="Arial"/>
              </a:rPr>
              <a:t> </a:t>
            </a:r>
            <a:r>
              <a:rPr sz="900" spc="-10" dirty="0">
                <a:latin typeface="Arial"/>
                <a:cs typeface="Arial"/>
              </a:rPr>
              <a:t>another</a:t>
            </a:r>
            <a:r>
              <a:rPr sz="900" spc="-35" dirty="0">
                <a:latin typeface="Arial"/>
                <a:cs typeface="Arial"/>
              </a:rPr>
              <a:t> </a:t>
            </a:r>
            <a:r>
              <a:rPr sz="900" spc="-20" dirty="0">
                <a:latin typeface="Arial"/>
                <a:cs typeface="Arial"/>
              </a:rPr>
              <a:t>follower</a:t>
            </a:r>
            <a:r>
              <a:rPr sz="900" spc="-30" dirty="0">
                <a:latin typeface="Arial"/>
                <a:cs typeface="Arial"/>
              </a:rPr>
              <a:t> </a:t>
            </a:r>
            <a:r>
              <a:rPr sz="900" i="1" spc="-50" dirty="0">
                <a:latin typeface="Arial"/>
                <a:cs typeface="Arial"/>
              </a:rPr>
              <a:t>s</a:t>
            </a:r>
            <a:r>
              <a:rPr sz="1050" i="1" spc="-75" baseline="27777" dirty="0">
                <a:latin typeface="Menlo"/>
                <a:cs typeface="Menlo"/>
              </a:rPr>
              <a:t>∗∗</a:t>
            </a:r>
            <a:r>
              <a:rPr sz="1050" i="1" spc="-195" baseline="27777" dirty="0">
                <a:latin typeface="Menlo"/>
                <a:cs typeface="Menlo"/>
              </a:rPr>
              <a:t> </a:t>
            </a:r>
            <a:r>
              <a:rPr sz="900" dirty="0">
                <a:latin typeface="Arial"/>
                <a:cs typeface="Arial"/>
              </a:rPr>
              <a:t>gets</a:t>
            </a:r>
            <a:r>
              <a:rPr sz="900" spc="-30" dirty="0">
                <a:latin typeface="Arial"/>
                <a:cs typeface="Arial"/>
              </a:rPr>
              <a:t> </a:t>
            </a:r>
            <a:r>
              <a:rPr sz="900" dirty="0">
                <a:latin typeface="Arial"/>
                <a:cs typeface="Arial"/>
              </a:rPr>
              <a:t>the</a:t>
            </a:r>
            <a:r>
              <a:rPr sz="900" spc="-35" dirty="0">
                <a:latin typeface="Arial"/>
                <a:cs typeface="Arial"/>
              </a:rPr>
              <a:t> </a:t>
            </a:r>
            <a:r>
              <a:rPr sz="900" spc="-10" dirty="0">
                <a:latin typeface="Arial"/>
                <a:cs typeface="Arial"/>
              </a:rPr>
              <a:t>election</a:t>
            </a:r>
            <a:r>
              <a:rPr sz="900" spc="-25" dirty="0">
                <a:latin typeface="Arial"/>
                <a:cs typeface="Arial"/>
              </a:rPr>
              <a:t> </a:t>
            </a:r>
            <a:r>
              <a:rPr sz="900" spc="-10" dirty="0">
                <a:latin typeface="Arial"/>
                <a:cs typeface="Arial"/>
              </a:rPr>
              <a:t>message</a:t>
            </a:r>
            <a:r>
              <a:rPr sz="900" spc="-35" dirty="0">
                <a:latin typeface="Arial"/>
                <a:cs typeface="Arial"/>
              </a:rPr>
              <a:t> </a:t>
            </a:r>
            <a:r>
              <a:rPr sz="900" dirty="0">
                <a:latin typeface="Arial"/>
                <a:cs typeface="Arial"/>
              </a:rPr>
              <a:t>from</a:t>
            </a:r>
            <a:r>
              <a:rPr sz="900" spc="-30" dirty="0">
                <a:latin typeface="Arial"/>
                <a:cs typeface="Arial"/>
              </a:rPr>
              <a:t> </a:t>
            </a:r>
            <a:r>
              <a:rPr sz="900" i="1" dirty="0">
                <a:latin typeface="Arial"/>
                <a:cs typeface="Arial"/>
              </a:rPr>
              <a:t>s</a:t>
            </a:r>
            <a:r>
              <a:rPr sz="1050" i="1" baseline="27777" dirty="0">
                <a:latin typeface="Menlo"/>
                <a:cs typeface="Menlo"/>
              </a:rPr>
              <a:t>∗</a:t>
            </a:r>
            <a:r>
              <a:rPr sz="900" dirty="0">
                <a:latin typeface="Arial"/>
                <a:cs typeface="Arial"/>
              </a:rPr>
              <a:t>,</a:t>
            </a:r>
            <a:r>
              <a:rPr sz="900" spc="-30" dirty="0">
                <a:latin typeface="Arial"/>
                <a:cs typeface="Arial"/>
              </a:rPr>
              <a:t> </a:t>
            </a:r>
            <a:r>
              <a:rPr sz="900" dirty="0">
                <a:latin typeface="Arial"/>
                <a:cs typeface="Arial"/>
              </a:rPr>
              <a:t>and</a:t>
            </a:r>
            <a:r>
              <a:rPr sz="900" spc="-30" dirty="0">
                <a:latin typeface="Arial"/>
                <a:cs typeface="Arial"/>
              </a:rPr>
              <a:t> </a:t>
            </a:r>
            <a:r>
              <a:rPr sz="900" dirty="0">
                <a:latin typeface="Arial"/>
                <a:cs typeface="Arial"/>
              </a:rPr>
              <a:t>it</a:t>
            </a:r>
            <a:r>
              <a:rPr sz="900" spc="-30" dirty="0">
                <a:latin typeface="Arial"/>
                <a:cs typeface="Arial"/>
              </a:rPr>
              <a:t> </a:t>
            </a:r>
            <a:r>
              <a:rPr sz="900" dirty="0">
                <a:latin typeface="Arial"/>
                <a:cs typeface="Arial"/>
              </a:rPr>
              <a:t>is</a:t>
            </a:r>
            <a:r>
              <a:rPr sz="900" spc="-35" dirty="0">
                <a:latin typeface="Arial"/>
                <a:cs typeface="Arial"/>
              </a:rPr>
              <a:t> </a:t>
            </a:r>
            <a:r>
              <a:rPr sz="900" dirty="0">
                <a:latin typeface="Arial"/>
                <a:cs typeface="Arial"/>
              </a:rPr>
              <a:t>the</a:t>
            </a:r>
            <a:r>
              <a:rPr sz="900" spc="-25" dirty="0">
                <a:latin typeface="Arial"/>
                <a:cs typeface="Arial"/>
              </a:rPr>
              <a:t> </a:t>
            </a:r>
            <a:r>
              <a:rPr sz="900" spc="-10" dirty="0">
                <a:latin typeface="Arial"/>
                <a:cs typeface="Arial"/>
              </a:rPr>
              <a:t>first </a:t>
            </a:r>
            <a:r>
              <a:rPr sz="900" dirty="0">
                <a:latin typeface="Arial"/>
                <a:cs typeface="Arial"/>
              </a:rPr>
              <a:t>election</a:t>
            </a:r>
            <a:r>
              <a:rPr sz="900" spc="-40" dirty="0">
                <a:latin typeface="Arial"/>
                <a:cs typeface="Arial"/>
              </a:rPr>
              <a:t> </a:t>
            </a:r>
            <a:r>
              <a:rPr sz="900" dirty="0">
                <a:latin typeface="Arial"/>
                <a:cs typeface="Arial"/>
              </a:rPr>
              <a:t>message</a:t>
            </a:r>
            <a:r>
              <a:rPr sz="900" spc="-20" dirty="0">
                <a:latin typeface="Arial"/>
                <a:cs typeface="Arial"/>
              </a:rPr>
              <a:t> </a:t>
            </a:r>
            <a:r>
              <a:rPr sz="900" dirty="0">
                <a:latin typeface="Arial"/>
                <a:cs typeface="Arial"/>
              </a:rPr>
              <a:t>during</a:t>
            </a:r>
            <a:r>
              <a:rPr sz="900" spc="-15" dirty="0">
                <a:latin typeface="Arial"/>
                <a:cs typeface="Arial"/>
              </a:rPr>
              <a:t> </a:t>
            </a:r>
            <a:r>
              <a:rPr sz="900" dirty="0">
                <a:latin typeface="Arial"/>
                <a:cs typeface="Arial"/>
              </a:rPr>
              <a:t>the</a:t>
            </a:r>
            <a:r>
              <a:rPr sz="900" spc="-20" dirty="0">
                <a:latin typeface="Arial"/>
                <a:cs typeface="Arial"/>
              </a:rPr>
              <a:t> </a:t>
            </a:r>
            <a:r>
              <a:rPr sz="900" dirty="0">
                <a:latin typeface="Arial"/>
                <a:cs typeface="Arial"/>
              </a:rPr>
              <a:t>current</a:t>
            </a:r>
            <a:r>
              <a:rPr sz="900" spc="-20" dirty="0">
                <a:latin typeface="Arial"/>
                <a:cs typeface="Arial"/>
              </a:rPr>
              <a:t> </a:t>
            </a:r>
            <a:r>
              <a:rPr sz="900" dirty="0">
                <a:latin typeface="Arial"/>
                <a:cs typeface="Arial"/>
              </a:rPr>
              <a:t>term,</a:t>
            </a:r>
            <a:r>
              <a:rPr sz="900" spc="-20" dirty="0">
                <a:latin typeface="Arial"/>
                <a:cs typeface="Arial"/>
              </a:rPr>
              <a:t> </a:t>
            </a:r>
            <a:r>
              <a:rPr sz="900" i="1" spc="-50" dirty="0">
                <a:latin typeface="Arial"/>
                <a:cs typeface="Arial"/>
              </a:rPr>
              <a:t>s</a:t>
            </a:r>
            <a:r>
              <a:rPr sz="1050" i="1" spc="-75" baseline="27777" dirty="0">
                <a:latin typeface="Menlo"/>
                <a:cs typeface="Menlo"/>
              </a:rPr>
              <a:t>∗∗</a:t>
            </a:r>
            <a:r>
              <a:rPr sz="1050" i="1" spc="-187" baseline="27777" dirty="0">
                <a:latin typeface="Menlo"/>
                <a:cs typeface="Menlo"/>
              </a:rPr>
              <a:t> </a:t>
            </a:r>
            <a:r>
              <a:rPr sz="900" dirty="0">
                <a:latin typeface="Arial"/>
                <a:cs typeface="Arial"/>
              </a:rPr>
              <a:t>votes</a:t>
            </a:r>
            <a:r>
              <a:rPr sz="900" spc="-20" dirty="0">
                <a:latin typeface="Arial"/>
                <a:cs typeface="Arial"/>
              </a:rPr>
              <a:t> </a:t>
            </a:r>
            <a:r>
              <a:rPr sz="900" dirty="0">
                <a:latin typeface="Arial"/>
                <a:cs typeface="Arial"/>
              </a:rPr>
              <a:t>for</a:t>
            </a:r>
            <a:r>
              <a:rPr sz="900" spc="-20" dirty="0">
                <a:latin typeface="Arial"/>
                <a:cs typeface="Arial"/>
              </a:rPr>
              <a:t> </a:t>
            </a:r>
            <a:r>
              <a:rPr sz="900" i="1" dirty="0">
                <a:latin typeface="Arial"/>
                <a:cs typeface="Arial"/>
              </a:rPr>
              <a:t>s</a:t>
            </a:r>
            <a:r>
              <a:rPr sz="1050" i="1" baseline="27777" dirty="0">
                <a:latin typeface="Menlo"/>
                <a:cs typeface="Menlo"/>
              </a:rPr>
              <a:t>∗</a:t>
            </a:r>
            <a:r>
              <a:rPr sz="900" dirty="0">
                <a:latin typeface="Arial"/>
                <a:cs typeface="Arial"/>
              </a:rPr>
              <a:t>.</a:t>
            </a:r>
            <a:r>
              <a:rPr sz="900" spc="40" dirty="0">
                <a:latin typeface="Arial"/>
                <a:cs typeface="Arial"/>
              </a:rPr>
              <a:t> </a:t>
            </a:r>
            <a:r>
              <a:rPr sz="900" spc="-10" dirty="0">
                <a:latin typeface="Arial"/>
                <a:cs typeface="Arial"/>
              </a:rPr>
              <a:t>Otherwise,</a:t>
            </a:r>
            <a:r>
              <a:rPr sz="900" spc="-20" dirty="0">
                <a:latin typeface="Arial"/>
                <a:cs typeface="Arial"/>
              </a:rPr>
              <a:t> </a:t>
            </a:r>
            <a:r>
              <a:rPr sz="900" spc="-25" dirty="0">
                <a:latin typeface="Arial"/>
                <a:cs typeface="Arial"/>
              </a:rPr>
              <a:t>it </a:t>
            </a:r>
            <a:r>
              <a:rPr sz="900" dirty="0">
                <a:latin typeface="Arial"/>
                <a:cs typeface="Arial"/>
              </a:rPr>
              <a:t>simply</a:t>
            </a:r>
            <a:r>
              <a:rPr sz="900" spc="-50" dirty="0">
                <a:latin typeface="Arial"/>
                <a:cs typeface="Arial"/>
              </a:rPr>
              <a:t> </a:t>
            </a:r>
            <a:r>
              <a:rPr sz="900" dirty="0">
                <a:latin typeface="Arial"/>
                <a:cs typeface="Arial"/>
              </a:rPr>
              <a:t>ignores</a:t>
            </a:r>
            <a:r>
              <a:rPr sz="900" spc="-25" dirty="0">
                <a:latin typeface="Arial"/>
                <a:cs typeface="Arial"/>
              </a:rPr>
              <a:t> </a:t>
            </a:r>
            <a:r>
              <a:rPr sz="900" dirty="0">
                <a:latin typeface="Arial"/>
                <a:cs typeface="Arial"/>
              </a:rPr>
              <a:t>the</a:t>
            </a:r>
            <a:r>
              <a:rPr sz="900" spc="-25" dirty="0">
                <a:latin typeface="Arial"/>
                <a:cs typeface="Arial"/>
              </a:rPr>
              <a:t> </a:t>
            </a:r>
            <a:r>
              <a:rPr sz="900" dirty="0">
                <a:latin typeface="Arial"/>
                <a:cs typeface="Arial"/>
              </a:rPr>
              <a:t>election</a:t>
            </a:r>
            <a:r>
              <a:rPr sz="900" spc="-25" dirty="0">
                <a:latin typeface="Arial"/>
                <a:cs typeface="Arial"/>
              </a:rPr>
              <a:t> </a:t>
            </a:r>
            <a:r>
              <a:rPr sz="900" dirty="0">
                <a:latin typeface="Arial"/>
                <a:cs typeface="Arial"/>
              </a:rPr>
              <a:t>message</a:t>
            </a:r>
            <a:r>
              <a:rPr sz="900" spc="-25" dirty="0">
                <a:latin typeface="Arial"/>
                <a:cs typeface="Arial"/>
              </a:rPr>
              <a:t> </a:t>
            </a:r>
            <a:r>
              <a:rPr sz="900" dirty="0">
                <a:latin typeface="Arial"/>
                <a:cs typeface="Arial"/>
              </a:rPr>
              <a:t>from</a:t>
            </a:r>
            <a:r>
              <a:rPr sz="900" spc="-25" dirty="0">
                <a:latin typeface="Arial"/>
                <a:cs typeface="Arial"/>
              </a:rPr>
              <a:t> </a:t>
            </a:r>
            <a:r>
              <a:rPr sz="900" i="1" dirty="0">
                <a:latin typeface="Arial"/>
                <a:cs typeface="Arial"/>
              </a:rPr>
              <a:t>s</a:t>
            </a:r>
            <a:r>
              <a:rPr sz="1050" i="1" baseline="27777" dirty="0">
                <a:latin typeface="Menlo"/>
                <a:cs typeface="Menlo"/>
              </a:rPr>
              <a:t>∗</a:t>
            </a:r>
            <a:r>
              <a:rPr sz="900" dirty="0">
                <a:latin typeface="Arial"/>
                <a:cs typeface="Arial"/>
              </a:rPr>
              <a:t>.</a:t>
            </a:r>
            <a:r>
              <a:rPr sz="900" spc="30" dirty="0">
                <a:latin typeface="Arial"/>
                <a:cs typeface="Arial"/>
              </a:rPr>
              <a:t> </a:t>
            </a:r>
            <a:r>
              <a:rPr sz="900" dirty="0">
                <a:latin typeface="Arial"/>
                <a:cs typeface="Arial"/>
              </a:rPr>
              <a:t>When</a:t>
            </a:r>
            <a:r>
              <a:rPr sz="900" spc="-25" dirty="0">
                <a:latin typeface="Arial"/>
                <a:cs typeface="Arial"/>
              </a:rPr>
              <a:t> </a:t>
            </a:r>
            <a:r>
              <a:rPr sz="900" i="1" spc="-35" dirty="0">
                <a:latin typeface="Arial"/>
                <a:cs typeface="Arial"/>
              </a:rPr>
              <a:t>s</a:t>
            </a:r>
            <a:r>
              <a:rPr sz="1050" i="1" spc="-52" baseline="27777" dirty="0">
                <a:latin typeface="Menlo"/>
                <a:cs typeface="Menlo"/>
              </a:rPr>
              <a:t>∗</a:t>
            </a:r>
            <a:r>
              <a:rPr sz="1050" i="1" spc="-187" baseline="27777" dirty="0">
                <a:latin typeface="Menlo"/>
                <a:cs typeface="Menlo"/>
              </a:rPr>
              <a:t> </a:t>
            </a:r>
            <a:r>
              <a:rPr sz="900" dirty="0">
                <a:latin typeface="Arial"/>
                <a:cs typeface="Arial"/>
              </a:rPr>
              <a:t>has</a:t>
            </a:r>
            <a:r>
              <a:rPr sz="900" spc="-25" dirty="0">
                <a:latin typeface="Arial"/>
                <a:cs typeface="Arial"/>
              </a:rPr>
              <a:t> </a:t>
            </a:r>
            <a:r>
              <a:rPr sz="900" dirty="0">
                <a:latin typeface="Arial"/>
                <a:cs typeface="Arial"/>
              </a:rPr>
              <a:t>collected</a:t>
            </a:r>
            <a:r>
              <a:rPr sz="900" spc="-20" dirty="0">
                <a:latin typeface="Arial"/>
                <a:cs typeface="Arial"/>
              </a:rPr>
              <a:t> </a:t>
            </a:r>
            <a:r>
              <a:rPr sz="900" spc="-50" dirty="0">
                <a:latin typeface="Arial"/>
                <a:cs typeface="Arial"/>
              </a:rPr>
              <a:t>a</a:t>
            </a:r>
            <a:r>
              <a:rPr sz="900" dirty="0">
                <a:latin typeface="Arial"/>
                <a:cs typeface="Arial"/>
              </a:rPr>
              <a:t> majority</a:t>
            </a:r>
            <a:r>
              <a:rPr sz="900" spc="-20" dirty="0">
                <a:latin typeface="Arial"/>
                <a:cs typeface="Arial"/>
              </a:rPr>
              <a:t> </a:t>
            </a:r>
            <a:r>
              <a:rPr sz="900" dirty="0">
                <a:latin typeface="Arial"/>
                <a:cs typeface="Arial"/>
              </a:rPr>
              <a:t>of</a:t>
            </a:r>
            <a:r>
              <a:rPr sz="900" spc="-15" dirty="0">
                <a:latin typeface="Arial"/>
                <a:cs typeface="Arial"/>
              </a:rPr>
              <a:t> </a:t>
            </a:r>
            <a:r>
              <a:rPr sz="900" spc="-10" dirty="0">
                <a:latin typeface="Arial"/>
                <a:cs typeface="Arial"/>
              </a:rPr>
              <a:t>votes,</a:t>
            </a:r>
            <a:r>
              <a:rPr sz="900" spc="-20" dirty="0">
                <a:latin typeface="Arial"/>
                <a:cs typeface="Arial"/>
              </a:rPr>
              <a:t> </a:t>
            </a:r>
            <a:r>
              <a:rPr sz="900" dirty="0">
                <a:latin typeface="Arial"/>
                <a:cs typeface="Arial"/>
              </a:rPr>
              <a:t>a</a:t>
            </a:r>
            <a:r>
              <a:rPr sz="900" spc="-15" dirty="0">
                <a:latin typeface="Arial"/>
                <a:cs typeface="Arial"/>
              </a:rPr>
              <a:t> </a:t>
            </a:r>
            <a:r>
              <a:rPr sz="900" dirty="0">
                <a:latin typeface="Arial"/>
                <a:cs typeface="Arial"/>
              </a:rPr>
              <a:t>new</a:t>
            </a:r>
            <a:r>
              <a:rPr sz="900" spc="-15" dirty="0">
                <a:latin typeface="Arial"/>
                <a:cs typeface="Arial"/>
              </a:rPr>
              <a:t> </a:t>
            </a:r>
            <a:r>
              <a:rPr sz="900" dirty="0">
                <a:latin typeface="Arial"/>
                <a:cs typeface="Arial"/>
              </a:rPr>
              <a:t>term</a:t>
            </a:r>
            <a:r>
              <a:rPr sz="900" spc="-20" dirty="0">
                <a:latin typeface="Arial"/>
                <a:cs typeface="Arial"/>
              </a:rPr>
              <a:t> </a:t>
            </a:r>
            <a:r>
              <a:rPr sz="900" dirty="0">
                <a:latin typeface="Arial"/>
                <a:cs typeface="Arial"/>
              </a:rPr>
              <a:t>starts</a:t>
            </a:r>
            <a:r>
              <a:rPr sz="900" spc="-15" dirty="0">
                <a:latin typeface="Arial"/>
                <a:cs typeface="Arial"/>
              </a:rPr>
              <a:t> </a:t>
            </a:r>
            <a:r>
              <a:rPr sz="900" dirty="0">
                <a:latin typeface="Arial"/>
                <a:cs typeface="Arial"/>
              </a:rPr>
              <a:t>with</a:t>
            </a:r>
            <a:r>
              <a:rPr sz="900" spc="-15" dirty="0">
                <a:latin typeface="Arial"/>
                <a:cs typeface="Arial"/>
              </a:rPr>
              <a:t> </a:t>
            </a:r>
            <a:r>
              <a:rPr sz="900" dirty="0">
                <a:latin typeface="Arial"/>
                <a:cs typeface="Arial"/>
              </a:rPr>
              <a:t>a</a:t>
            </a:r>
            <a:r>
              <a:rPr sz="900" spc="-20" dirty="0">
                <a:latin typeface="Arial"/>
                <a:cs typeface="Arial"/>
              </a:rPr>
              <a:t> </a:t>
            </a:r>
            <a:r>
              <a:rPr sz="900" dirty="0">
                <a:latin typeface="Arial"/>
                <a:cs typeface="Arial"/>
              </a:rPr>
              <a:t>new</a:t>
            </a:r>
            <a:r>
              <a:rPr sz="900" spc="-15" dirty="0">
                <a:latin typeface="Arial"/>
                <a:cs typeface="Arial"/>
              </a:rPr>
              <a:t> </a:t>
            </a:r>
            <a:r>
              <a:rPr sz="900" spc="-10" dirty="0">
                <a:latin typeface="Arial"/>
                <a:cs typeface="Arial"/>
              </a:rPr>
              <a:t>leader.</a:t>
            </a:r>
            <a:endParaRPr sz="900">
              <a:latin typeface="Arial"/>
              <a:cs typeface="Arial"/>
            </a:endParaRPr>
          </a:p>
          <a:p>
            <a:pPr>
              <a:lnSpc>
                <a:spcPct val="100000"/>
              </a:lnSpc>
              <a:spcBef>
                <a:spcPts val="20"/>
              </a:spcBef>
            </a:pPr>
            <a:endParaRPr sz="1200">
              <a:latin typeface="Arial"/>
              <a:cs typeface="Arial"/>
            </a:endParaRPr>
          </a:p>
          <a:p>
            <a:pPr marL="43180">
              <a:lnSpc>
                <a:spcPct val="100000"/>
              </a:lnSpc>
              <a:spcBef>
                <a:spcPts val="5"/>
              </a:spcBef>
            </a:pPr>
            <a:r>
              <a:rPr sz="1000" spc="-10" dirty="0">
                <a:solidFill>
                  <a:srgbClr val="C80000"/>
                </a:solidFill>
                <a:latin typeface="Arial"/>
                <a:cs typeface="Arial"/>
              </a:rPr>
              <a:t>Observation</a:t>
            </a:r>
            <a:endParaRPr sz="1000">
              <a:latin typeface="Arial"/>
              <a:cs typeface="Arial"/>
            </a:endParaRPr>
          </a:p>
          <a:p>
            <a:pPr marL="43180" marR="99060">
              <a:lnSpc>
                <a:spcPts val="1210"/>
              </a:lnSpc>
              <a:spcBef>
                <a:spcPts val="35"/>
              </a:spcBef>
            </a:pPr>
            <a:r>
              <a:rPr sz="900" dirty="0">
                <a:latin typeface="Arial"/>
                <a:cs typeface="Arial"/>
              </a:rPr>
              <a:t>By</a:t>
            </a:r>
            <a:r>
              <a:rPr sz="900" spc="-35" dirty="0">
                <a:latin typeface="Arial"/>
                <a:cs typeface="Arial"/>
              </a:rPr>
              <a:t> </a:t>
            </a:r>
            <a:r>
              <a:rPr sz="900" dirty="0">
                <a:latin typeface="Arial"/>
                <a:cs typeface="Arial"/>
              </a:rPr>
              <a:t>slightly</a:t>
            </a:r>
            <a:r>
              <a:rPr sz="900" spc="-30" dirty="0">
                <a:latin typeface="Arial"/>
                <a:cs typeface="Arial"/>
              </a:rPr>
              <a:t> </a:t>
            </a:r>
            <a:r>
              <a:rPr sz="900" dirty="0">
                <a:latin typeface="Arial"/>
                <a:cs typeface="Arial"/>
              </a:rPr>
              <a:t>differing</a:t>
            </a:r>
            <a:r>
              <a:rPr sz="900" spc="-30" dirty="0">
                <a:latin typeface="Arial"/>
                <a:cs typeface="Arial"/>
              </a:rPr>
              <a:t> </a:t>
            </a:r>
            <a:r>
              <a:rPr sz="900" dirty="0">
                <a:latin typeface="Arial"/>
                <a:cs typeface="Arial"/>
              </a:rPr>
              <a:t>the</a:t>
            </a:r>
            <a:r>
              <a:rPr sz="900" spc="-30" dirty="0">
                <a:latin typeface="Arial"/>
                <a:cs typeface="Arial"/>
              </a:rPr>
              <a:t> </a:t>
            </a:r>
            <a:r>
              <a:rPr sz="900" dirty="0">
                <a:latin typeface="Arial"/>
                <a:cs typeface="Arial"/>
              </a:rPr>
              <a:t>timeout</a:t>
            </a:r>
            <a:r>
              <a:rPr sz="900" spc="-30" dirty="0">
                <a:latin typeface="Arial"/>
                <a:cs typeface="Arial"/>
              </a:rPr>
              <a:t> </a:t>
            </a:r>
            <a:r>
              <a:rPr sz="900" dirty="0">
                <a:latin typeface="Arial"/>
                <a:cs typeface="Arial"/>
              </a:rPr>
              <a:t>values</a:t>
            </a:r>
            <a:r>
              <a:rPr sz="900" spc="-30" dirty="0">
                <a:latin typeface="Arial"/>
                <a:cs typeface="Arial"/>
              </a:rPr>
              <a:t> </a:t>
            </a:r>
            <a:r>
              <a:rPr sz="900" dirty="0">
                <a:latin typeface="Arial"/>
                <a:cs typeface="Arial"/>
              </a:rPr>
              <a:t>per</a:t>
            </a:r>
            <a:r>
              <a:rPr sz="900" spc="-30" dirty="0">
                <a:latin typeface="Arial"/>
                <a:cs typeface="Arial"/>
              </a:rPr>
              <a:t> </a:t>
            </a:r>
            <a:r>
              <a:rPr sz="900" spc="-10" dirty="0">
                <a:latin typeface="Arial"/>
                <a:cs typeface="Arial"/>
              </a:rPr>
              <a:t>follower</a:t>
            </a:r>
            <a:r>
              <a:rPr sz="900" spc="-30" dirty="0">
                <a:latin typeface="Arial"/>
                <a:cs typeface="Arial"/>
              </a:rPr>
              <a:t> </a:t>
            </a:r>
            <a:r>
              <a:rPr sz="900" dirty="0">
                <a:latin typeface="Arial"/>
                <a:cs typeface="Arial"/>
              </a:rPr>
              <a:t>for</a:t>
            </a:r>
            <a:r>
              <a:rPr sz="900" spc="-30" dirty="0">
                <a:latin typeface="Arial"/>
                <a:cs typeface="Arial"/>
              </a:rPr>
              <a:t> </a:t>
            </a:r>
            <a:r>
              <a:rPr sz="900" dirty="0">
                <a:latin typeface="Arial"/>
                <a:cs typeface="Arial"/>
              </a:rPr>
              <a:t>deciding</a:t>
            </a:r>
            <a:r>
              <a:rPr sz="900" spc="-30" dirty="0">
                <a:latin typeface="Arial"/>
                <a:cs typeface="Arial"/>
              </a:rPr>
              <a:t> </a:t>
            </a:r>
            <a:r>
              <a:rPr sz="900" dirty="0">
                <a:latin typeface="Arial"/>
                <a:cs typeface="Arial"/>
              </a:rPr>
              <a:t>when</a:t>
            </a:r>
            <a:r>
              <a:rPr sz="900" spc="-30" dirty="0">
                <a:latin typeface="Arial"/>
                <a:cs typeface="Arial"/>
              </a:rPr>
              <a:t> </a:t>
            </a:r>
            <a:r>
              <a:rPr sz="900" dirty="0">
                <a:latin typeface="Arial"/>
                <a:cs typeface="Arial"/>
              </a:rPr>
              <a:t>to</a:t>
            </a:r>
            <a:r>
              <a:rPr sz="900" spc="-35" dirty="0">
                <a:latin typeface="Arial"/>
                <a:cs typeface="Arial"/>
              </a:rPr>
              <a:t> </a:t>
            </a:r>
            <a:r>
              <a:rPr sz="900" spc="-10" dirty="0">
                <a:latin typeface="Arial"/>
                <a:cs typeface="Arial"/>
              </a:rPr>
              <a:t>start </a:t>
            </a:r>
            <a:r>
              <a:rPr sz="900" dirty="0">
                <a:latin typeface="Arial"/>
                <a:cs typeface="Arial"/>
              </a:rPr>
              <a:t>an</a:t>
            </a:r>
            <a:r>
              <a:rPr sz="900" spc="-30" dirty="0">
                <a:latin typeface="Arial"/>
                <a:cs typeface="Arial"/>
              </a:rPr>
              <a:t> </a:t>
            </a:r>
            <a:r>
              <a:rPr sz="900" dirty="0">
                <a:latin typeface="Arial"/>
                <a:cs typeface="Arial"/>
              </a:rPr>
              <a:t>election,</a:t>
            </a:r>
            <a:r>
              <a:rPr sz="900" spc="-30" dirty="0">
                <a:latin typeface="Arial"/>
                <a:cs typeface="Arial"/>
              </a:rPr>
              <a:t> </a:t>
            </a:r>
            <a:r>
              <a:rPr sz="900" dirty="0">
                <a:latin typeface="Arial"/>
                <a:cs typeface="Arial"/>
              </a:rPr>
              <a:t>we</a:t>
            </a:r>
            <a:r>
              <a:rPr sz="900" spc="-30" dirty="0">
                <a:latin typeface="Arial"/>
                <a:cs typeface="Arial"/>
              </a:rPr>
              <a:t> </a:t>
            </a:r>
            <a:r>
              <a:rPr sz="900" dirty="0">
                <a:latin typeface="Arial"/>
                <a:cs typeface="Arial"/>
              </a:rPr>
              <a:t>can</a:t>
            </a:r>
            <a:r>
              <a:rPr sz="900" spc="-30" dirty="0">
                <a:latin typeface="Arial"/>
                <a:cs typeface="Arial"/>
              </a:rPr>
              <a:t> </a:t>
            </a:r>
            <a:r>
              <a:rPr sz="900" spc="-10" dirty="0">
                <a:latin typeface="Arial"/>
                <a:cs typeface="Arial"/>
              </a:rPr>
              <a:t>avoid</a:t>
            </a:r>
            <a:r>
              <a:rPr sz="900" spc="-25" dirty="0">
                <a:latin typeface="Arial"/>
                <a:cs typeface="Arial"/>
              </a:rPr>
              <a:t> </a:t>
            </a:r>
            <a:r>
              <a:rPr sz="900" dirty="0">
                <a:latin typeface="Arial"/>
                <a:cs typeface="Arial"/>
              </a:rPr>
              <a:t>concurrent</a:t>
            </a:r>
            <a:r>
              <a:rPr sz="900" spc="-30" dirty="0">
                <a:latin typeface="Arial"/>
                <a:cs typeface="Arial"/>
              </a:rPr>
              <a:t> </a:t>
            </a:r>
            <a:r>
              <a:rPr sz="900" dirty="0">
                <a:latin typeface="Arial"/>
                <a:cs typeface="Arial"/>
              </a:rPr>
              <a:t>elections,</a:t>
            </a:r>
            <a:r>
              <a:rPr sz="900" spc="-30" dirty="0">
                <a:latin typeface="Arial"/>
                <a:cs typeface="Arial"/>
              </a:rPr>
              <a:t> </a:t>
            </a:r>
            <a:r>
              <a:rPr sz="900" dirty="0">
                <a:latin typeface="Arial"/>
                <a:cs typeface="Arial"/>
              </a:rPr>
              <a:t>and</a:t>
            </a:r>
            <a:r>
              <a:rPr sz="900" spc="-30" dirty="0">
                <a:latin typeface="Arial"/>
                <a:cs typeface="Arial"/>
              </a:rPr>
              <a:t> </a:t>
            </a:r>
            <a:r>
              <a:rPr sz="900" dirty="0">
                <a:latin typeface="Arial"/>
                <a:cs typeface="Arial"/>
              </a:rPr>
              <a:t>the</a:t>
            </a:r>
            <a:r>
              <a:rPr sz="900" spc="-25" dirty="0">
                <a:latin typeface="Arial"/>
                <a:cs typeface="Arial"/>
              </a:rPr>
              <a:t> </a:t>
            </a:r>
            <a:r>
              <a:rPr sz="900" dirty="0">
                <a:latin typeface="Arial"/>
                <a:cs typeface="Arial"/>
              </a:rPr>
              <a:t>election</a:t>
            </a:r>
            <a:r>
              <a:rPr sz="900" spc="-30" dirty="0">
                <a:latin typeface="Arial"/>
                <a:cs typeface="Arial"/>
              </a:rPr>
              <a:t> </a:t>
            </a:r>
            <a:r>
              <a:rPr sz="900" dirty="0">
                <a:latin typeface="Arial"/>
                <a:cs typeface="Arial"/>
              </a:rPr>
              <a:t>will</a:t>
            </a:r>
            <a:r>
              <a:rPr sz="900" spc="-30" dirty="0">
                <a:latin typeface="Arial"/>
                <a:cs typeface="Arial"/>
              </a:rPr>
              <a:t> </a:t>
            </a:r>
            <a:r>
              <a:rPr sz="900" spc="-10" dirty="0">
                <a:latin typeface="Arial"/>
                <a:cs typeface="Arial"/>
              </a:rPr>
              <a:t>rapidly converge.</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944244"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Example:</a:t>
            </a:r>
            <a:r>
              <a:rPr sz="500" spc="10" dirty="0">
                <a:latin typeface="Arial"/>
                <a:cs typeface="Arial"/>
                <a:hlinkClick r:id="rId4" action="ppaction://hlinksldjump"/>
              </a:rPr>
              <a:t> </a:t>
            </a:r>
            <a:r>
              <a:rPr sz="500" dirty="0">
                <a:latin typeface="Arial"/>
                <a:cs typeface="Arial"/>
                <a:hlinkClick r:id="rId4" action="ppaction://hlinksldjump"/>
              </a:rPr>
              <a:t>Leader</a:t>
            </a:r>
            <a:r>
              <a:rPr sz="500" spc="-20" dirty="0">
                <a:latin typeface="Arial"/>
                <a:cs typeface="Arial"/>
                <a:hlinkClick r:id="rId4" action="ppaction://hlinksldjump"/>
              </a:rPr>
              <a:t> </a:t>
            </a:r>
            <a:r>
              <a:rPr sz="500" dirty="0">
                <a:latin typeface="Arial"/>
                <a:cs typeface="Arial"/>
                <a:hlinkClick r:id="rId4" action="ppaction://hlinksldjump"/>
              </a:rPr>
              <a:t>election</a:t>
            </a:r>
            <a:r>
              <a:rPr sz="500" spc="-15" dirty="0">
                <a:latin typeface="Arial"/>
                <a:cs typeface="Arial"/>
                <a:hlinkClick r:id="rId4" action="ppaction://hlinksldjump"/>
              </a:rPr>
              <a:t> </a:t>
            </a:r>
            <a:r>
              <a:rPr sz="500" dirty="0">
                <a:latin typeface="Arial"/>
                <a:cs typeface="Arial"/>
                <a:hlinkClick r:id="rId4" action="ppaction://hlinksldjump"/>
              </a:rPr>
              <a:t>in</a:t>
            </a:r>
            <a:r>
              <a:rPr sz="500" spc="-20" dirty="0">
                <a:latin typeface="Arial"/>
                <a:cs typeface="Arial"/>
                <a:hlinkClick r:id="rId4" action="ppaction://hlinksldjump"/>
              </a:rPr>
              <a:t> Raft</a:t>
            </a:r>
            <a:endParaRPr sz="500">
              <a:latin typeface="Arial"/>
              <a:cs typeface="Arial"/>
            </a:endParaRPr>
          </a:p>
        </p:txBody>
      </p:sp>
    </p:spTree>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952875" algn="l"/>
              </a:tabLst>
            </a:pPr>
            <a:r>
              <a:rPr sz="500" spc="-10" dirty="0">
                <a:latin typeface="Arial"/>
                <a:cs typeface="Arial"/>
                <a:hlinkClick r:id="rId2" action="ppaction://hlinksldjump"/>
              </a:rPr>
              <a:t>Coordination</a:t>
            </a:r>
            <a:r>
              <a:rPr sz="500" dirty="0">
                <a:latin typeface="Arial"/>
                <a:cs typeface="Arial"/>
              </a:rPr>
              <a:t>	</a:t>
            </a:r>
            <a:r>
              <a:rPr sz="500" dirty="0">
                <a:solidFill>
                  <a:srgbClr val="FFFFFF"/>
                </a:solidFill>
                <a:latin typeface="Arial"/>
                <a:cs typeface="Arial"/>
                <a:hlinkClick r:id="rId3" action="ppaction://hlinksldjump"/>
              </a:rPr>
              <a:t>Election</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algorithms</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Elections</a:t>
            </a:r>
            <a:r>
              <a:rPr spc="-40" dirty="0"/>
              <a:t> </a:t>
            </a:r>
            <a:r>
              <a:rPr dirty="0"/>
              <a:t>by</a:t>
            </a:r>
            <a:r>
              <a:rPr spc="-35" dirty="0"/>
              <a:t> </a:t>
            </a:r>
            <a:r>
              <a:rPr dirty="0"/>
              <a:t>proof</a:t>
            </a:r>
            <a:r>
              <a:rPr spc="-35" dirty="0"/>
              <a:t> </a:t>
            </a:r>
            <a:r>
              <a:rPr dirty="0"/>
              <a:t>of</a:t>
            </a:r>
            <a:r>
              <a:rPr spc="-35" dirty="0"/>
              <a:t> </a:t>
            </a:r>
            <a:r>
              <a:rPr spc="-20" dirty="0"/>
              <a:t>work</a:t>
            </a:r>
          </a:p>
        </p:txBody>
      </p:sp>
      <p:sp>
        <p:nvSpPr>
          <p:cNvPr id="4" name="object 4"/>
          <p:cNvSpPr txBox="1"/>
          <p:nvPr/>
        </p:nvSpPr>
        <p:spPr>
          <a:xfrm>
            <a:off x="309194" y="443244"/>
            <a:ext cx="3992245" cy="2600960"/>
          </a:xfrm>
          <a:prstGeom prst="rect">
            <a:avLst/>
          </a:prstGeom>
        </p:spPr>
        <p:txBody>
          <a:bodyPr vert="horz" wrap="square" lIns="0" tIns="83820" rIns="0" bIns="0" rtlCol="0">
            <a:spAutoFit/>
          </a:bodyPr>
          <a:lstStyle/>
          <a:p>
            <a:pPr marL="50800">
              <a:lnSpc>
                <a:spcPct val="100000"/>
              </a:lnSpc>
              <a:spcBef>
                <a:spcPts val="660"/>
              </a:spcBef>
            </a:pPr>
            <a:r>
              <a:rPr sz="1000" spc="-10" dirty="0">
                <a:solidFill>
                  <a:srgbClr val="3333B2"/>
                </a:solidFill>
                <a:latin typeface="Arial"/>
                <a:cs typeface="Arial"/>
              </a:rPr>
              <a:t>Basics</a:t>
            </a:r>
            <a:endParaRPr sz="1000">
              <a:latin typeface="Arial"/>
              <a:cs typeface="Arial"/>
            </a:endParaRPr>
          </a:p>
          <a:p>
            <a:pPr marL="303530" indent="-120650">
              <a:lnSpc>
                <a:spcPct val="100000"/>
              </a:lnSpc>
              <a:spcBef>
                <a:spcPts val="500"/>
              </a:spcBef>
              <a:buClr>
                <a:srgbClr val="3333B2"/>
              </a:buClr>
              <a:buFont typeface="Menlo"/>
              <a:buChar char="•"/>
              <a:tabLst>
                <a:tab pos="304165" algn="l"/>
              </a:tabLst>
            </a:pPr>
            <a:r>
              <a:rPr sz="900" dirty="0">
                <a:latin typeface="Arial"/>
                <a:cs typeface="Arial"/>
              </a:rPr>
              <a:t>Consider</a:t>
            </a:r>
            <a:r>
              <a:rPr sz="900" spc="-30" dirty="0">
                <a:latin typeface="Arial"/>
                <a:cs typeface="Arial"/>
              </a:rPr>
              <a:t> </a:t>
            </a:r>
            <a:r>
              <a:rPr sz="900" dirty="0">
                <a:latin typeface="Arial"/>
                <a:cs typeface="Arial"/>
              </a:rPr>
              <a:t>a</a:t>
            </a:r>
            <a:r>
              <a:rPr sz="900" spc="-30" dirty="0">
                <a:latin typeface="Arial"/>
                <a:cs typeface="Arial"/>
              </a:rPr>
              <a:t> </a:t>
            </a:r>
            <a:r>
              <a:rPr sz="900" dirty="0">
                <a:latin typeface="Arial"/>
                <a:cs typeface="Arial"/>
              </a:rPr>
              <a:t>potentially</a:t>
            </a:r>
            <a:r>
              <a:rPr sz="900" spc="-30" dirty="0">
                <a:latin typeface="Arial"/>
                <a:cs typeface="Arial"/>
              </a:rPr>
              <a:t> </a:t>
            </a:r>
            <a:r>
              <a:rPr sz="900" dirty="0">
                <a:latin typeface="Arial"/>
                <a:cs typeface="Arial"/>
              </a:rPr>
              <a:t>large</a:t>
            </a:r>
            <a:r>
              <a:rPr sz="900" spc="-25" dirty="0">
                <a:latin typeface="Arial"/>
                <a:cs typeface="Arial"/>
              </a:rPr>
              <a:t> </a:t>
            </a:r>
            <a:r>
              <a:rPr sz="900" dirty="0">
                <a:latin typeface="Arial"/>
                <a:cs typeface="Arial"/>
              </a:rPr>
              <a:t>group</a:t>
            </a:r>
            <a:r>
              <a:rPr sz="900" spc="-30" dirty="0">
                <a:latin typeface="Arial"/>
                <a:cs typeface="Arial"/>
              </a:rPr>
              <a:t> </a:t>
            </a:r>
            <a:r>
              <a:rPr sz="900" dirty="0">
                <a:latin typeface="Arial"/>
                <a:cs typeface="Arial"/>
              </a:rPr>
              <a:t>of</a:t>
            </a:r>
            <a:r>
              <a:rPr sz="900" spc="-30" dirty="0">
                <a:latin typeface="Arial"/>
                <a:cs typeface="Arial"/>
              </a:rPr>
              <a:t> </a:t>
            </a:r>
            <a:r>
              <a:rPr sz="900" spc="-10" dirty="0">
                <a:latin typeface="Arial"/>
                <a:cs typeface="Arial"/>
              </a:rPr>
              <a:t>processes</a:t>
            </a:r>
            <a:endParaRPr sz="900">
              <a:latin typeface="Arial"/>
              <a:cs typeface="Arial"/>
            </a:endParaRPr>
          </a:p>
          <a:p>
            <a:pPr marL="303530" indent="-120650">
              <a:lnSpc>
                <a:spcPct val="100000"/>
              </a:lnSpc>
              <a:spcBef>
                <a:spcPts val="425"/>
              </a:spcBef>
              <a:buClr>
                <a:srgbClr val="3333B2"/>
              </a:buClr>
              <a:buFont typeface="Menlo"/>
              <a:buChar char="•"/>
              <a:tabLst>
                <a:tab pos="304165" algn="l"/>
              </a:tabLst>
            </a:pPr>
            <a:r>
              <a:rPr sz="900" dirty="0">
                <a:latin typeface="Arial"/>
                <a:cs typeface="Arial"/>
              </a:rPr>
              <a:t>Each</a:t>
            </a:r>
            <a:r>
              <a:rPr sz="900" spc="-35" dirty="0">
                <a:latin typeface="Arial"/>
                <a:cs typeface="Arial"/>
              </a:rPr>
              <a:t> </a:t>
            </a:r>
            <a:r>
              <a:rPr sz="900" dirty="0">
                <a:latin typeface="Arial"/>
                <a:cs typeface="Arial"/>
              </a:rPr>
              <a:t>process</a:t>
            </a:r>
            <a:r>
              <a:rPr sz="900" spc="-30" dirty="0">
                <a:latin typeface="Arial"/>
                <a:cs typeface="Arial"/>
              </a:rPr>
              <a:t> </a:t>
            </a:r>
            <a:r>
              <a:rPr sz="900" dirty="0">
                <a:latin typeface="Arial"/>
                <a:cs typeface="Arial"/>
              </a:rPr>
              <a:t>is</a:t>
            </a:r>
            <a:r>
              <a:rPr sz="900" spc="-30" dirty="0">
                <a:latin typeface="Arial"/>
                <a:cs typeface="Arial"/>
              </a:rPr>
              <a:t> </a:t>
            </a:r>
            <a:r>
              <a:rPr sz="900" dirty="0">
                <a:latin typeface="Arial"/>
                <a:cs typeface="Arial"/>
              </a:rPr>
              <a:t>required</a:t>
            </a:r>
            <a:r>
              <a:rPr sz="900" spc="-30" dirty="0">
                <a:latin typeface="Arial"/>
                <a:cs typeface="Arial"/>
              </a:rPr>
              <a:t> </a:t>
            </a:r>
            <a:r>
              <a:rPr sz="900" dirty="0">
                <a:latin typeface="Arial"/>
                <a:cs typeface="Arial"/>
              </a:rPr>
              <a:t>to</a:t>
            </a:r>
            <a:r>
              <a:rPr sz="900" spc="-30" dirty="0">
                <a:latin typeface="Arial"/>
                <a:cs typeface="Arial"/>
              </a:rPr>
              <a:t> </a:t>
            </a:r>
            <a:r>
              <a:rPr sz="900" dirty="0">
                <a:latin typeface="Arial"/>
                <a:cs typeface="Arial"/>
              </a:rPr>
              <a:t>solve</a:t>
            </a:r>
            <a:r>
              <a:rPr sz="900" spc="-30" dirty="0">
                <a:latin typeface="Arial"/>
                <a:cs typeface="Arial"/>
              </a:rPr>
              <a:t> </a:t>
            </a:r>
            <a:r>
              <a:rPr sz="900" dirty="0">
                <a:latin typeface="Arial"/>
                <a:cs typeface="Arial"/>
              </a:rPr>
              <a:t>a</a:t>
            </a:r>
            <a:r>
              <a:rPr sz="900" spc="-35" dirty="0">
                <a:latin typeface="Arial"/>
                <a:cs typeface="Arial"/>
              </a:rPr>
              <a:t> </a:t>
            </a:r>
            <a:r>
              <a:rPr sz="900" dirty="0">
                <a:latin typeface="Arial"/>
                <a:cs typeface="Arial"/>
              </a:rPr>
              <a:t>computational</a:t>
            </a:r>
            <a:r>
              <a:rPr sz="900" spc="-30" dirty="0">
                <a:latin typeface="Arial"/>
                <a:cs typeface="Arial"/>
              </a:rPr>
              <a:t> </a:t>
            </a:r>
            <a:r>
              <a:rPr sz="900" spc="-10" dirty="0">
                <a:latin typeface="Arial"/>
                <a:cs typeface="Arial"/>
              </a:rPr>
              <a:t>puzzle</a:t>
            </a:r>
            <a:endParaRPr sz="900">
              <a:latin typeface="Arial"/>
              <a:cs typeface="Arial"/>
            </a:endParaRPr>
          </a:p>
          <a:p>
            <a:pPr marL="298450" indent="-115570">
              <a:lnSpc>
                <a:spcPct val="100000"/>
              </a:lnSpc>
              <a:spcBef>
                <a:spcPts val="425"/>
              </a:spcBef>
              <a:buClr>
                <a:srgbClr val="3333B2"/>
              </a:buClr>
              <a:buFont typeface="Menlo"/>
              <a:buChar char="•"/>
              <a:tabLst>
                <a:tab pos="299085" algn="l"/>
              </a:tabLst>
            </a:pPr>
            <a:r>
              <a:rPr sz="900" dirty="0">
                <a:latin typeface="Arial"/>
                <a:cs typeface="Arial"/>
              </a:rPr>
              <a:t>When</a:t>
            </a:r>
            <a:r>
              <a:rPr sz="900" spc="-30" dirty="0">
                <a:latin typeface="Arial"/>
                <a:cs typeface="Arial"/>
              </a:rPr>
              <a:t> </a:t>
            </a:r>
            <a:r>
              <a:rPr sz="900" dirty="0">
                <a:latin typeface="Arial"/>
                <a:cs typeface="Arial"/>
              </a:rPr>
              <a:t>a</a:t>
            </a:r>
            <a:r>
              <a:rPr sz="900" spc="-25" dirty="0">
                <a:latin typeface="Arial"/>
                <a:cs typeface="Arial"/>
              </a:rPr>
              <a:t> </a:t>
            </a:r>
            <a:r>
              <a:rPr sz="900" dirty="0">
                <a:latin typeface="Arial"/>
                <a:cs typeface="Arial"/>
              </a:rPr>
              <a:t>process</a:t>
            </a:r>
            <a:r>
              <a:rPr sz="900" spc="-25" dirty="0">
                <a:latin typeface="Arial"/>
                <a:cs typeface="Arial"/>
              </a:rPr>
              <a:t> </a:t>
            </a:r>
            <a:r>
              <a:rPr sz="900" dirty="0">
                <a:latin typeface="Arial"/>
                <a:cs typeface="Arial"/>
              </a:rPr>
              <a:t>solves</a:t>
            </a:r>
            <a:r>
              <a:rPr sz="900" spc="-25" dirty="0">
                <a:latin typeface="Arial"/>
                <a:cs typeface="Arial"/>
              </a:rPr>
              <a:t> </a:t>
            </a:r>
            <a:r>
              <a:rPr sz="900" dirty="0">
                <a:latin typeface="Arial"/>
                <a:cs typeface="Arial"/>
              </a:rPr>
              <a:t>the</a:t>
            </a:r>
            <a:r>
              <a:rPr sz="900" spc="-25" dirty="0">
                <a:latin typeface="Arial"/>
                <a:cs typeface="Arial"/>
              </a:rPr>
              <a:t> </a:t>
            </a:r>
            <a:r>
              <a:rPr sz="900" dirty="0">
                <a:latin typeface="Arial"/>
                <a:cs typeface="Arial"/>
              </a:rPr>
              <a:t>puzzle,</a:t>
            </a:r>
            <a:r>
              <a:rPr sz="900" spc="-25" dirty="0">
                <a:latin typeface="Arial"/>
                <a:cs typeface="Arial"/>
              </a:rPr>
              <a:t> </a:t>
            </a:r>
            <a:r>
              <a:rPr sz="900" dirty="0">
                <a:latin typeface="Arial"/>
                <a:cs typeface="Arial"/>
              </a:rPr>
              <a:t>it</a:t>
            </a:r>
            <a:r>
              <a:rPr sz="900" spc="-25" dirty="0">
                <a:latin typeface="Arial"/>
                <a:cs typeface="Arial"/>
              </a:rPr>
              <a:t> </a:t>
            </a:r>
            <a:r>
              <a:rPr sz="900" dirty="0">
                <a:latin typeface="Arial"/>
                <a:cs typeface="Arial"/>
              </a:rPr>
              <a:t>broadcasts</a:t>
            </a:r>
            <a:r>
              <a:rPr sz="900" spc="-25" dirty="0">
                <a:latin typeface="Arial"/>
                <a:cs typeface="Arial"/>
              </a:rPr>
              <a:t> </a:t>
            </a:r>
            <a:r>
              <a:rPr sz="900" dirty="0">
                <a:latin typeface="Arial"/>
                <a:cs typeface="Arial"/>
              </a:rPr>
              <a:t>its</a:t>
            </a:r>
            <a:r>
              <a:rPr sz="900" spc="-25" dirty="0">
                <a:latin typeface="Arial"/>
                <a:cs typeface="Arial"/>
              </a:rPr>
              <a:t> </a:t>
            </a:r>
            <a:r>
              <a:rPr sz="900" dirty="0">
                <a:latin typeface="Arial"/>
                <a:cs typeface="Arial"/>
              </a:rPr>
              <a:t>victory</a:t>
            </a:r>
            <a:r>
              <a:rPr sz="900" spc="-25"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the</a:t>
            </a:r>
            <a:r>
              <a:rPr sz="900" spc="-30" dirty="0">
                <a:latin typeface="Arial"/>
                <a:cs typeface="Arial"/>
              </a:rPr>
              <a:t> </a:t>
            </a:r>
            <a:r>
              <a:rPr sz="900" spc="-10" dirty="0">
                <a:latin typeface="Arial"/>
                <a:cs typeface="Arial"/>
              </a:rPr>
              <a:t>group</a:t>
            </a:r>
            <a:endParaRPr sz="900">
              <a:latin typeface="Arial"/>
              <a:cs typeface="Arial"/>
            </a:endParaRPr>
          </a:p>
          <a:p>
            <a:pPr marL="303530" marR="62230" indent="-120650">
              <a:lnSpc>
                <a:spcPct val="111600"/>
              </a:lnSpc>
              <a:spcBef>
                <a:spcPts val="300"/>
              </a:spcBef>
              <a:buClr>
                <a:srgbClr val="3333B2"/>
              </a:buClr>
              <a:buFont typeface="Menlo"/>
              <a:buChar char="•"/>
              <a:tabLst>
                <a:tab pos="299085" algn="l"/>
              </a:tabLst>
            </a:pPr>
            <a:r>
              <a:rPr sz="900" dirty="0">
                <a:latin typeface="Arial"/>
                <a:cs typeface="Arial"/>
              </a:rPr>
              <a:t>We</a:t>
            </a:r>
            <a:r>
              <a:rPr sz="900" spc="-30" dirty="0">
                <a:latin typeface="Arial"/>
                <a:cs typeface="Arial"/>
              </a:rPr>
              <a:t> </a:t>
            </a:r>
            <a:r>
              <a:rPr sz="900" dirty="0">
                <a:latin typeface="Arial"/>
                <a:cs typeface="Arial"/>
              </a:rPr>
              <a:t>assume</a:t>
            </a:r>
            <a:r>
              <a:rPr sz="900" spc="-30" dirty="0">
                <a:latin typeface="Arial"/>
                <a:cs typeface="Arial"/>
              </a:rPr>
              <a:t> </a:t>
            </a:r>
            <a:r>
              <a:rPr sz="900" dirty="0">
                <a:latin typeface="Arial"/>
                <a:cs typeface="Arial"/>
              </a:rPr>
              <a:t>there</a:t>
            </a:r>
            <a:r>
              <a:rPr sz="900" spc="-30" dirty="0">
                <a:latin typeface="Arial"/>
                <a:cs typeface="Arial"/>
              </a:rPr>
              <a:t> </a:t>
            </a:r>
            <a:r>
              <a:rPr sz="900" dirty="0">
                <a:latin typeface="Arial"/>
                <a:cs typeface="Arial"/>
              </a:rPr>
              <a:t>is</a:t>
            </a:r>
            <a:r>
              <a:rPr sz="900" spc="-30" dirty="0">
                <a:latin typeface="Arial"/>
                <a:cs typeface="Arial"/>
              </a:rPr>
              <a:t> </a:t>
            </a:r>
            <a:r>
              <a:rPr sz="900" dirty="0">
                <a:latin typeface="Arial"/>
                <a:cs typeface="Arial"/>
              </a:rPr>
              <a:t>a</a:t>
            </a:r>
            <a:r>
              <a:rPr sz="900" spc="-30" dirty="0">
                <a:latin typeface="Arial"/>
                <a:cs typeface="Arial"/>
              </a:rPr>
              <a:t> </a:t>
            </a:r>
            <a:r>
              <a:rPr sz="900" dirty="0">
                <a:latin typeface="Arial"/>
                <a:cs typeface="Arial"/>
              </a:rPr>
              <a:t>conflict</a:t>
            </a:r>
            <a:r>
              <a:rPr sz="900" spc="-30" dirty="0">
                <a:latin typeface="Arial"/>
                <a:cs typeface="Arial"/>
              </a:rPr>
              <a:t> </a:t>
            </a:r>
            <a:r>
              <a:rPr sz="900" dirty="0">
                <a:latin typeface="Arial"/>
                <a:cs typeface="Arial"/>
              </a:rPr>
              <a:t>resolution</a:t>
            </a:r>
            <a:r>
              <a:rPr sz="900" spc="-30" dirty="0">
                <a:latin typeface="Arial"/>
                <a:cs typeface="Arial"/>
              </a:rPr>
              <a:t> </a:t>
            </a:r>
            <a:r>
              <a:rPr sz="900" dirty="0">
                <a:latin typeface="Arial"/>
                <a:cs typeface="Arial"/>
              </a:rPr>
              <a:t>procedure</a:t>
            </a:r>
            <a:r>
              <a:rPr sz="900" spc="-30" dirty="0">
                <a:latin typeface="Arial"/>
                <a:cs typeface="Arial"/>
              </a:rPr>
              <a:t> </a:t>
            </a:r>
            <a:r>
              <a:rPr sz="900" dirty="0">
                <a:latin typeface="Arial"/>
                <a:cs typeface="Arial"/>
              </a:rPr>
              <a:t>when</a:t>
            </a:r>
            <a:r>
              <a:rPr sz="900" spc="-30" dirty="0">
                <a:latin typeface="Arial"/>
                <a:cs typeface="Arial"/>
              </a:rPr>
              <a:t> </a:t>
            </a:r>
            <a:r>
              <a:rPr sz="900" dirty="0">
                <a:latin typeface="Arial"/>
                <a:cs typeface="Arial"/>
              </a:rPr>
              <a:t>more</a:t>
            </a:r>
            <a:r>
              <a:rPr sz="900" spc="-30" dirty="0">
                <a:latin typeface="Arial"/>
                <a:cs typeface="Arial"/>
              </a:rPr>
              <a:t> </a:t>
            </a:r>
            <a:r>
              <a:rPr sz="900" dirty="0">
                <a:latin typeface="Arial"/>
                <a:cs typeface="Arial"/>
              </a:rPr>
              <a:t>than</a:t>
            </a:r>
            <a:r>
              <a:rPr sz="900" spc="-30" dirty="0">
                <a:latin typeface="Arial"/>
                <a:cs typeface="Arial"/>
              </a:rPr>
              <a:t> </a:t>
            </a:r>
            <a:r>
              <a:rPr sz="900" spc="-25" dirty="0">
                <a:latin typeface="Arial"/>
                <a:cs typeface="Arial"/>
              </a:rPr>
              <a:t>one </a:t>
            </a:r>
            <a:r>
              <a:rPr sz="900" dirty="0">
                <a:latin typeface="Arial"/>
                <a:cs typeface="Arial"/>
              </a:rPr>
              <a:t>process</a:t>
            </a:r>
            <a:r>
              <a:rPr sz="900" spc="-35" dirty="0">
                <a:latin typeface="Arial"/>
                <a:cs typeface="Arial"/>
              </a:rPr>
              <a:t> </a:t>
            </a:r>
            <a:r>
              <a:rPr sz="900" dirty="0">
                <a:latin typeface="Arial"/>
                <a:cs typeface="Arial"/>
              </a:rPr>
              <a:t>claims</a:t>
            </a:r>
            <a:r>
              <a:rPr sz="900" spc="-35" dirty="0">
                <a:latin typeface="Arial"/>
                <a:cs typeface="Arial"/>
              </a:rPr>
              <a:t> </a:t>
            </a:r>
            <a:r>
              <a:rPr sz="900" spc="-10" dirty="0">
                <a:latin typeface="Arial"/>
                <a:cs typeface="Arial"/>
              </a:rPr>
              <a:t>victory</a:t>
            </a:r>
            <a:endParaRPr sz="900">
              <a:latin typeface="Arial"/>
              <a:cs typeface="Arial"/>
            </a:endParaRPr>
          </a:p>
          <a:p>
            <a:pPr>
              <a:lnSpc>
                <a:spcPct val="100000"/>
              </a:lnSpc>
              <a:spcBef>
                <a:spcPts val="20"/>
              </a:spcBef>
              <a:buClr>
                <a:srgbClr val="3333B2"/>
              </a:buClr>
              <a:buFont typeface="Menlo"/>
              <a:buChar char="•"/>
            </a:pPr>
            <a:endParaRPr sz="1200">
              <a:latin typeface="Arial"/>
              <a:cs typeface="Arial"/>
            </a:endParaRPr>
          </a:p>
          <a:p>
            <a:pPr marL="50800">
              <a:lnSpc>
                <a:spcPct val="100000"/>
              </a:lnSpc>
            </a:pPr>
            <a:r>
              <a:rPr sz="1000" dirty="0">
                <a:solidFill>
                  <a:srgbClr val="3333B2"/>
                </a:solidFill>
                <a:latin typeface="Arial"/>
                <a:cs typeface="Arial"/>
              </a:rPr>
              <a:t>Solving</a:t>
            </a:r>
            <a:r>
              <a:rPr sz="1000" spc="-40" dirty="0">
                <a:solidFill>
                  <a:srgbClr val="3333B2"/>
                </a:solidFill>
                <a:latin typeface="Arial"/>
                <a:cs typeface="Arial"/>
              </a:rPr>
              <a:t> </a:t>
            </a:r>
            <a:r>
              <a:rPr sz="1000" dirty="0">
                <a:solidFill>
                  <a:srgbClr val="3333B2"/>
                </a:solidFill>
                <a:latin typeface="Arial"/>
                <a:cs typeface="Arial"/>
              </a:rPr>
              <a:t>a</a:t>
            </a:r>
            <a:r>
              <a:rPr sz="1000" spc="-40" dirty="0">
                <a:solidFill>
                  <a:srgbClr val="3333B2"/>
                </a:solidFill>
                <a:latin typeface="Arial"/>
                <a:cs typeface="Arial"/>
              </a:rPr>
              <a:t> </a:t>
            </a:r>
            <a:r>
              <a:rPr sz="1000" dirty="0">
                <a:solidFill>
                  <a:srgbClr val="3333B2"/>
                </a:solidFill>
                <a:latin typeface="Arial"/>
                <a:cs typeface="Arial"/>
              </a:rPr>
              <a:t>computational</a:t>
            </a:r>
            <a:r>
              <a:rPr sz="1000" spc="-40" dirty="0">
                <a:solidFill>
                  <a:srgbClr val="3333B2"/>
                </a:solidFill>
                <a:latin typeface="Arial"/>
                <a:cs typeface="Arial"/>
              </a:rPr>
              <a:t> </a:t>
            </a:r>
            <a:r>
              <a:rPr sz="1000" spc="-10" dirty="0">
                <a:solidFill>
                  <a:srgbClr val="3333B2"/>
                </a:solidFill>
                <a:latin typeface="Arial"/>
                <a:cs typeface="Arial"/>
              </a:rPr>
              <a:t>puzzle</a:t>
            </a:r>
            <a:endParaRPr sz="1000">
              <a:latin typeface="Arial"/>
              <a:cs typeface="Arial"/>
            </a:endParaRPr>
          </a:p>
          <a:p>
            <a:pPr marL="303530" indent="-120650">
              <a:lnSpc>
                <a:spcPct val="100000"/>
              </a:lnSpc>
              <a:spcBef>
                <a:spcPts val="710"/>
              </a:spcBef>
              <a:buClr>
                <a:srgbClr val="3333B2"/>
              </a:buClr>
              <a:buFont typeface="Menlo"/>
              <a:buChar char="•"/>
              <a:tabLst>
                <a:tab pos="304165" algn="l"/>
              </a:tabLst>
            </a:pPr>
            <a:r>
              <a:rPr sz="900" dirty="0">
                <a:latin typeface="Arial"/>
                <a:cs typeface="Arial"/>
              </a:rPr>
              <a:t>Make</a:t>
            </a:r>
            <a:r>
              <a:rPr sz="900" spc="-30" dirty="0">
                <a:latin typeface="Arial"/>
                <a:cs typeface="Arial"/>
              </a:rPr>
              <a:t> </a:t>
            </a:r>
            <a:r>
              <a:rPr sz="900" dirty="0">
                <a:latin typeface="Arial"/>
                <a:cs typeface="Arial"/>
              </a:rPr>
              <a:t>use</a:t>
            </a:r>
            <a:r>
              <a:rPr sz="900" spc="-30" dirty="0">
                <a:latin typeface="Arial"/>
                <a:cs typeface="Arial"/>
              </a:rPr>
              <a:t> </a:t>
            </a:r>
            <a:r>
              <a:rPr sz="900" dirty="0">
                <a:latin typeface="Arial"/>
                <a:cs typeface="Arial"/>
              </a:rPr>
              <a:t>of</a:t>
            </a:r>
            <a:r>
              <a:rPr sz="900" spc="-25" dirty="0">
                <a:latin typeface="Arial"/>
                <a:cs typeface="Arial"/>
              </a:rPr>
              <a:t> </a:t>
            </a:r>
            <a:r>
              <a:rPr sz="900" dirty="0">
                <a:latin typeface="Arial"/>
                <a:cs typeface="Arial"/>
              </a:rPr>
              <a:t>a</a:t>
            </a:r>
            <a:r>
              <a:rPr sz="900" spc="-30" dirty="0">
                <a:latin typeface="Arial"/>
                <a:cs typeface="Arial"/>
              </a:rPr>
              <a:t> </a:t>
            </a:r>
            <a:r>
              <a:rPr sz="900" dirty="0">
                <a:solidFill>
                  <a:srgbClr val="C80000"/>
                </a:solidFill>
                <a:latin typeface="Arial"/>
                <a:cs typeface="Arial"/>
              </a:rPr>
              <a:t>secure</a:t>
            </a:r>
            <a:r>
              <a:rPr sz="900" spc="-25" dirty="0">
                <a:solidFill>
                  <a:srgbClr val="C80000"/>
                </a:solidFill>
                <a:latin typeface="Arial"/>
                <a:cs typeface="Arial"/>
              </a:rPr>
              <a:t> </a:t>
            </a:r>
            <a:r>
              <a:rPr sz="900" dirty="0">
                <a:solidFill>
                  <a:srgbClr val="C80000"/>
                </a:solidFill>
                <a:latin typeface="Arial"/>
                <a:cs typeface="Arial"/>
              </a:rPr>
              <a:t>hashing</a:t>
            </a:r>
            <a:r>
              <a:rPr sz="900" spc="-30" dirty="0">
                <a:solidFill>
                  <a:srgbClr val="C80000"/>
                </a:solidFill>
                <a:latin typeface="Arial"/>
                <a:cs typeface="Arial"/>
              </a:rPr>
              <a:t> </a:t>
            </a:r>
            <a:r>
              <a:rPr sz="900" dirty="0">
                <a:solidFill>
                  <a:srgbClr val="C80000"/>
                </a:solidFill>
                <a:latin typeface="Arial"/>
                <a:cs typeface="Arial"/>
              </a:rPr>
              <a:t>function</a:t>
            </a:r>
            <a:r>
              <a:rPr sz="900" spc="-25" dirty="0">
                <a:solidFill>
                  <a:srgbClr val="C80000"/>
                </a:solidFill>
                <a:latin typeface="Arial"/>
                <a:cs typeface="Arial"/>
              </a:rPr>
              <a:t> </a:t>
            </a:r>
            <a:r>
              <a:rPr sz="900" i="1" spc="-20" dirty="0">
                <a:latin typeface="Arial"/>
                <a:cs typeface="Arial"/>
              </a:rPr>
              <a:t>H</a:t>
            </a:r>
            <a:r>
              <a:rPr sz="900" spc="-20" dirty="0">
                <a:latin typeface="Arial"/>
                <a:cs typeface="Arial"/>
              </a:rPr>
              <a:t>(</a:t>
            </a:r>
            <a:r>
              <a:rPr sz="900" i="1" spc="-20" dirty="0">
                <a:latin typeface="Arial"/>
                <a:cs typeface="Arial"/>
              </a:rPr>
              <a:t>m</a:t>
            </a:r>
            <a:r>
              <a:rPr sz="900" spc="-20" dirty="0">
                <a:latin typeface="Arial"/>
                <a:cs typeface="Arial"/>
              </a:rPr>
              <a:t>):</a:t>
            </a:r>
            <a:endParaRPr sz="900">
              <a:latin typeface="Arial"/>
              <a:cs typeface="Arial"/>
            </a:endParaRPr>
          </a:p>
          <a:p>
            <a:pPr marL="556895" lvl="1" indent="-121285">
              <a:lnSpc>
                <a:spcPct val="100000"/>
              </a:lnSpc>
              <a:spcBef>
                <a:spcPts val="525"/>
              </a:spcBef>
              <a:buClr>
                <a:srgbClr val="3333B2"/>
              </a:buClr>
              <a:buFont typeface="Menlo"/>
              <a:buChar char="•"/>
              <a:tabLst>
                <a:tab pos="557530" algn="l"/>
              </a:tabLst>
            </a:pPr>
            <a:r>
              <a:rPr sz="900" i="1" dirty="0">
                <a:latin typeface="Arial"/>
                <a:cs typeface="Arial"/>
              </a:rPr>
              <a:t>m</a:t>
            </a:r>
            <a:r>
              <a:rPr sz="900" i="1" spc="25" dirty="0">
                <a:latin typeface="Arial"/>
                <a:cs typeface="Arial"/>
              </a:rPr>
              <a:t> </a:t>
            </a:r>
            <a:r>
              <a:rPr sz="900" dirty="0">
                <a:latin typeface="Arial"/>
                <a:cs typeface="Arial"/>
              </a:rPr>
              <a:t>is some</a:t>
            </a:r>
            <a:r>
              <a:rPr sz="900" spc="5" dirty="0">
                <a:latin typeface="Arial"/>
                <a:cs typeface="Arial"/>
              </a:rPr>
              <a:t> </a:t>
            </a:r>
            <a:r>
              <a:rPr sz="900" dirty="0">
                <a:latin typeface="Arial"/>
                <a:cs typeface="Arial"/>
              </a:rPr>
              <a:t>data;</a:t>
            </a:r>
            <a:r>
              <a:rPr sz="900" spc="5" dirty="0">
                <a:latin typeface="Arial"/>
                <a:cs typeface="Arial"/>
              </a:rPr>
              <a:t> </a:t>
            </a:r>
            <a:r>
              <a:rPr sz="900" i="1" dirty="0">
                <a:latin typeface="Arial"/>
                <a:cs typeface="Arial"/>
              </a:rPr>
              <a:t>H</a:t>
            </a:r>
            <a:r>
              <a:rPr sz="900" dirty="0">
                <a:latin typeface="Arial"/>
                <a:cs typeface="Arial"/>
              </a:rPr>
              <a:t>(</a:t>
            </a:r>
            <a:r>
              <a:rPr sz="900" i="1" dirty="0">
                <a:latin typeface="Arial"/>
                <a:cs typeface="Arial"/>
              </a:rPr>
              <a:t>m</a:t>
            </a:r>
            <a:r>
              <a:rPr sz="900" dirty="0">
                <a:latin typeface="Arial"/>
                <a:cs typeface="Arial"/>
              </a:rPr>
              <a:t>)</a:t>
            </a:r>
            <a:r>
              <a:rPr sz="900" spc="5" dirty="0">
                <a:latin typeface="Arial"/>
                <a:cs typeface="Arial"/>
              </a:rPr>
              <a:t> </a:t>
            </a:r>
            <a:r>
              <a:rPr sz="900" dirty="0">
                <a:latin typeface="Arial"/>
                <a:cs typeface="Arial"/>
              </a:rPr>
              <a:t>returns</a:t>
            </a:r>
            <a:r>
              <a:rPr sz="900" spc="5" dirty="0">
                <a:latin typeface="Arial"/>
                <a:cs typeface="Arial"/>
              </a:rPr>
              <a:t> </a:t>
            </a:r>
            <a:r>
              <a:rPr sz="900" dirty="0">
                <a:latin typeface="Arial"/>
                <a:cs typeface="Arial"/>
              </a:rPr>
              <a:t>a</a:t>
            </a:r>
            <a:r>
              <a:rPr sz="900" spc="5" dirty="0">
                <a:latin typeface="Arial"/>
                <a:cs typeface="Arial"/>
              </a:rPr>
              <a:t> </a:t>
            </a:r>
            <a:r>
              <a:rPr sz="900" spc="-10" dirty="0">
                <a:solidFill>
                  <a:srgbClr val="3333B2"/>
                </a:solidFill>
                <a:latin typeface="Arial"/>
                <a:cs typeface="Arial"/>
              </a:rPr>
              <a:t>fixed-</a:t>
            </a:r>
            <a:r>
              <a:rPr sz="900" dirty="0">
                <a:solidFill>
                  <a:srgbClr val="3333B2"/>
                </a:solidFill>
                <a:latin typeface="Arial"/>
                <a:cs typeface="Arial"/>
              </a:rPr>
              <a:t>length</a:t>
            </a:r>
            <a:r>
              <a:rPr sz="900" spc="5" dirty="0">
                <a:solidFill>
                  <a:srgbClr val="3333B2"/>
                </a:solidFill>
                <a:latin typeface="Arial"/>
                <a:cs typeface="Arial"/>
              </a:rPr>
              <a:t> </a:t>
            </a:r>
            <a:r>
              <a:rPr sz="900" dirty="0">
                <a:solidFill>
                  <a:srgbClr val="3333B2"/>
                </a:solidFill>
                <a:latin typeface="Arial"/>
                <a:cs typeface="Arial"/>
              </a:rPr>
              <a:t>bit </a:t>
            </a:r>
            <a:r>
              <a:rPr sz="900" spc="-10" dirty="0">
                <a:solidFill>
                  <a:srgbClr val="3333B2"/>
                </a:solidFill>
                <a:latin typeface="Arial"/>
                <a:cs typeface="Arial"/>
              </a:rPr>
              <a:t>string</a:t>
            </a:r>
            <a:endParaRPr sz="900">
              <a:latin typeface="Arial"/>
              <a:cs typeface="Arial"/>
            </a:endParaRPr>
          </a:p>
          <a:p>
            <a:pPr marL="556895" lvl="1" indent="-121285">
              <a:lnSpc>
                <a:spcPct val="100000"/>
              </a:lnSpc>
              <a:spcBef>
                <a:spcPts val="125"/>
              </a:spcBef>
              <a:buClr>
                <a:srgbClr val="3333B2"/>
              </a:buClr>
              <a:buFont typeface="Menlo"/>
              <a:buChar char="•"/>
              <a:tabLst>
                <a:tab pos="557530" algn="l"/>
              </a:tabLst>
            </a:pPr>
            <a:r>
              <a:rPr sz="900" dirty="0">
                <a:latin typeface="Arial"/>
                <a:cs typeface="Arial"/>
              </a:rPr>
              <a:t>computing</a:t>
            </a:r>
            <a:r>
              <a:rPr sz="900" spc="30" dirty="0">
                <a:latin typeface="Arial"/>
                <a:cs typeface="Arial"/>
              </a:rPr>
              <a:t> </a:t>
            </a:r>
            <a:r>
              <a:rPr sz="900" i="1" dirty="0">
                <a:latin typeface="Arial"/>
                <a:cs typeface="Arial"/>
              </a:rPr>
              <a:t>h</a:t>
            </a:r>
            <a:r>
              <a:rPr sz="900" i="1" spc="-5" dirty="0">
                <a:latin typeface="Arial"/>
                <a:cs typeface="Arial"/>
              </a:rPr>
              <a:t> </a:t>
            </a:r>
            <a:r>
              <a:rPr sz="900" spc="185" dirty="0">
                <a:latin typeface="Arial"/>
                <a:cs typeface="Arial"/>
              </a:rPr>
              <a:t>=</a:t>
            </a:r>
            <a:r>
              <a:rPr sz="900" spc="-25" dirty="0">
                <a:latin typeface="Arial"/>
                <a:cs typeface="Arial"/>
              </a:rPr>
              <a:t> </a:t>
            </a:r>
            <a:r>
              <a:rPr sz="900" i="1" dirty="0">
                <a:latin typeface="Arial"/>
                <a:cs typeface="Arial"/>
              </a:rPr>
              <a:t>H</a:t>
            </a:r>
            <a:r>
              <a:rPr sz="900" dirty="0">
                <a:latin typeface="Arial"/>
                <a:cs typeface="Arial"/>
              </a:rPr>
              <a:t>(</a:t>
            </a:r>
            <a:r>
              <a:rPr sz="900" i="1" dirty="0">
                <a:latin typeface="Arial"/>
                <a:cs typeface="Arial"/>
              </a:rPr>
              <a:t>m</a:t>
            </a:r>
            <a:r>
              <a:rPr sz="900" dirty="0">
                <a:latin typeface="Arial"/>
                <a:cs typeface="Arial"/>
              </a:rPr>
              <a:t>)</a:t>
            </a:r>
            <a:r>
              <a:rPr sz="900" spc="35" dirty="0">
                <a:latin typeface="Arial"/>
                <a:cs typeface="Arial"/>
              </a:rPr>
              <a:t> </a:t>
            </a:r>
            <a:r>
              <a:rPr sz="900" dirty="0">
                <a:latin typeface="Arial"/>
                <a:cs typeface="Arial"/>
              </a:rPr>
              <a:t>is</a:t>
            </a:r>
            <a:r>
              <a:rPr sz="900" spc="30" dirty="0">
                <a:latin typeface="Arial"/>
                <a:cs typeface="Arial"/>
              </a:rPr>
              <a:t> </a:t>
            </a:r>
            <a:r>
              <a:rPr sz="900" spc="-10" dirty="0">
                <a:latin typeface="Arial"/>
                <a:cs typeface="Arial"/>
              </a:rPr>
              <a:t>computationally</a:t>
            </a:r>
            <a:r>
              <a:rPr sz="900" spc="35" dirty="0">
                <a:latin typeface="Arial"/>
                <a:cs typeface="Arial"/>
              </a:rPr>
              <a:t> </a:t>
            </a:r>
            <a:r>
              <a:rPr sz="900" spc="-10" dirty="0">
                <a:latin typeface="Arial"/>
                <a:cs typeface="Arial"/>
              </a:rPr>
              <a:t>efficient</a:t>
            </a:r>
            <a:endParaRPr sz="900">
              <a:latin typeface="Arial"/>
              <a:cs typeface="Arial"/>
            </a:endParaRPr>
          </a:p>
          <a:p>
            <a:pPr marL="556895" marR="43180" lvl="1" indent="-120650">
              <a:lnSpc>
                <a:spcPct val="111600"/>
              </a:lnSpc>
              <a:buClr>
                <a:srgbClr val="3333B2"/>
              </a:buClr>
              <a:buFont typeface="Menlo"/>
              <a:buChar char="•"/>
              <a:tabLst>
                <a:tab pos="557530" algn="l"/>
              </a:tabLst>
            </a:pPr>
            <a:r>
              <a:rPr sz="900" dirty="0">
                <a:latin typeface="Arial"/>
                <a:cs typeface="Arial"/>
              </a:rPr>
              <a:t>finding</a:t>
            </a:r>
            <a:r>
              <a:rPr sz="900" spc="-15" dirty="0">
                <a:latin typeface="Arial"/>
                <a:cs typeface="Arial"/>
              </a:rPr>
              <a:t> </a:t>
            </a:r>
            <a:r>
              <a:rPr sz="900" dirty="0">
                <a:latin typeface="Arial"/>
                <a:cs typeface="Arial"/>
              </a:rPr>
              <a:t>a</a:t>
            </a:r>
            <a:r>
              <a:rPr sz="900" spc="-15" dirty="0">
                <a:latin typeface="Arial"/>
                <a:cs typeface="Arial"/>
              </a:rPr>
              <a:t> </a:t>
            </a:r>
            <a:r>
              <a:rPr sz="900" dirty="0">
                <a:latin typeface="Arial"/>
                <a:cs typeface="Arial"/>
              </a:rPr>
              <a:t>function</a:t>
            </a:r>
            <a:r>
              <a:rPr sz="900" spc="-15" dirty="0">
                <a:latin typeface="Arial"/>
                <a:cs typeface="Arial"/>
              </a:rPr>
              <a:t> </a:t>
            </a:r>
            <a:r>
              <a:rPr sz="900" i="1" spc="55" dirty="0">
                <a:latin typeface="Arial"/>
                <a:cs typeface="Arial"/>
              </a:rPr>
              <a:t>H</a:t>
            </a:r>
            <a:r>
              <a:rPr sz="1050" i="1" spc="82" baseline="27777" dirty="0">
                <a:latin typeface="Menlo"/>
                <a:cs typeface="Menlo"/>
              </a:rPr>
              <a:t>−</a:t>
            </a:r>
            <a:r>
              <a:rPr sz="1050" spc="82" baseline="27777" dirty="0">
                <a:latin typeface="Arial"/>
                <a:cs typeface="Arial"/>
              </a:rPr>
              <a:t>1</a:t>
            </a:r>
            <a:r>
              <a:rPr sz="1050" spc="135" baseline="27777" dirty="0">
                <a:latin typeface="Arial"/>
                <a:cs typeface="Arial"/>
              </a:rPr>
              <a:t> </a:t>
            </a:r>
            <a:r>
              <a:rPr sz="900" dirty="0">
                <a:latin typeface="Arial"/>
                <a:cs typeface="Arial"/>
              </a:rPr>
              <a:t>such</a:t>
            </a:r>
            <a:r>
              <a:rPr sz="900" spc="-15" dirty="0">
                <a:latin typeface="Arial"/>
                <a:cs typeface="Arial"/>
              </a:rPr>
              <a:t> </a:t>
            </a:r>
            <a:r>
              <a:rPr sz="900" dirty="0">
                <a:latin typeface="Arial"/>
                <a:cs typeface="Arial"/>
              </a:rPr>
              <a:t>that</a:t>
            </a:r>
            <a:r>
              <a:rPr sz="900" spc="-15" dirty="0">
                <a:latin typeface="Arial"/>
                <a:cs typeface="Arial"/>
              </a:rPr>
              <a:t> </a:t>
            </a:r>
            <a:r>
              <a:rPr sz="900" i="1" dirty="0">
                <a:latin typeface="Arial"/>
                <a:cs typeface="Arial"/>
              </a:rPr>
              <a:t>m</a:t>
            </a:r>
            <a:r>
              <a:rPr sz="900" i="1" spc="-40" dirty="0">
                <a:latin typeface="Arial"/>
                <a:cs typeface="Arial"/>
              </a:rPr>
              <a:t> </a:t>
            </a:r>
            <a:r>
              <a:rPr sz="900" spc="185" dirty="0">
                <a:latin typeface="Arial"/>
                <a:cs typeface="Arial"/>
              </a:rPr>
              <a:t>=</a:t>
            </a:r>
            <a:r>
              <a:rPr sz="900" spc="-65" dirty="0">
                <a:latin typeface="Arial"/>
                <a:cs typeface="Arial"/>
              </a:rPr>
              <a:t> </a:t>
            </a:r>
            <a:r>
              <a:rPr sz="900" i="1" spc="55" dirty="0">
                <a:latin typeface="Arial"/>
                <a:cs typeface="Arial"/>
              </a:rPr>
              <a:t>H</a:t>
            </a:r>
            <a:r>
              <a:rPr sz="1050" i="1" spc="82" baseline="27777" dirty="0">
                <a:latin typeface="Menlo"/>
                <a:cs typeface="Menlo"/>
              </a:rPr>
              <a:t>−</a:t>
            </a:r>
            <a:r>
              <a:rPr sz="1050" spc="82" baseline="27777" dirty="0">
                <a:latin typeface="Arial"/>
                <a:cs typeface="Arial"/>
              </a:rPr>
              <a:t>1</a:t>
            </a:r>
            <a:r>
              <a:rPr sz="900" spc="55" dirty="0">
                <a:latin typeface="Arial"/>
                <a:cs typeface="Arial"/>
              </a:rPr>
              <a:t>(</a:t>
            </a:r>
            <a:r>
              <a:rPr sz="900" i="1" spc="55" dirty="0">
                <a:latin typeface="Arial"/>
                <a:cs typeface="Arial"/>
              </a:rPr>
              <a:t>H</a:t>
            </a:r>
            <a:r>
              <a:rPr sz="900" spc="55" dirty="0">
                <a:latin typeface="Arial"/>
                <a:cs typeface="Arial"/>
              </a:rPr>
              <a:t>(</a:t>
            </a:r>
            <a:r>
              <a:rPr sz="900" i="1" spc="55" dirty="0">
                <a:latin typeface="Arial"/>
                <a:cs typeface="Arial"/>
              </a:rPr>
              <a:t>m</a:t>
            </a:r>
            <a:r>
              <a:rPr sz="900" spc="55" dirty="0">
                <a:latin typeface="Arial"/>
                <a:cs typeface="Arial"/>
              </a:rPr>
              <a:t>))</a:t>
            </a:r>
            <a:r>
              <a:rPr sz="900" spc="-10" dirty="0">
                <a:latin typeface="Arial"/>
                <a:cs typeface="Arial"/>
              </a:rPr>
              <a:t> </a:t>
            </a:r>
            <a:r>
              <a:rPr sz="900" dirty="0">
                <a:latin typeface="Arial"/>
                <a:cs typeface="Arial"/>
              </a:rPr>
              <a:t>is</a:t>
            </a:r>
            <a:r>
              <a:rPr sz="900" spc="-15" dirty="0">
                <a:latin typeface="Arial"/>
                <a:cs typeface="Arial"/>
              </a:rPr>
              <a:t> </a:t>
            </a:r>
            <a:r>
              <a:rPr sz="900" spc="-10" dirty="0">
                <a:latin typeface="Arial"/>
                <a:cs typeface="Arial"/>
              </a:rPr>
              <a:t>computationally extremely</a:t>
            </a:r>
            <a:r>
              <a:rPr sz="900" spc="15" dirty="0">
                <a:latin typeface="Arial"/>
                <a:cs typeface="Arial"/>
              </a:rPr>
              <a:t> </a:t>
            </a:r>
            <a:r>
              <a:rPr sz="900" spc="-10" dirty="0">
                <a:latin typeface="Arial"/>
                <a:cs typeface="Arial"/>
              </a:rPr>
              <a:t>difficult</a:t>
            </a:r>
            <a:endParaRPr sz="900">
              <a:latin typeface="Arial"/>
              <a:cs typeface="Arial"/>
            </a:endParaRPr>
          </a:p>
          <a:p>
            <a:pPr marL="303530" indent="-120650">
              <a:lnSpc>
                <a:spcPct val="100000"/>
              </a:lnSpc>
              <a:spcBef>
                <a:spcPts val="525"/>
              </a:spcBef>
              <a:buFont typeface="Menlo"/>
              <a:buChar char="•"/>
              <a:tabLst>
                <a:tab pos="304165" algn="l"/>
              </a:tabLst>
            </a:pPr>
            <a:r>
              <a:rPr sz="900" spc="-10" dirty="0">
                <a:solidFill>
                  <a:srgbClr val="3333B2"/>
                </a:solidFill>
                <a:latin typeface="Arial"/>
                <a:cs typeface="Arial"/>
              </a:rPr>
              <a:t>Practice</a:t>
            </a:r>
            <a:r>
              <a:rPr sz="900" spc="-10" dirty="0">
                <a:latin typeface="Arial"/>
                <a:cs typeface="Arial"/>
              </a:rPr>
              <a:t>:</a:t>
            </a:r>
            <a:r>
              <a:rPr sz="900" spc="30" dirty="0">
                <a:latin typeface="Arial"/>
                <a:cs typeface="Arial"/>
              </a:rPr>
              <a:t> </a:t>
            </a:r>
            <a:r>
              <a:rPr sz="900" spc="-10" dirty="0">
                <a:latin typeface="Arial"/>
                <a:cs typeface="Arial"/>
              </a:rPr>
              <a:t>finding</a:t>
            </a:r>
            <a:r>
              <a:rPr sz="900" spc="-25" dirty="0">
                <a:latin typeface="Arial"/>
                <a:cs typeface="Arial"/>
              </a:rPr>
              <a:t> </a:t>
            </a:r>
            <a:r>
              <a:rPr sz="900" i="1" spc="50" dirty="0">
                <a:latin typeface="Arial"/>
                <a:cs typeface="Arial"/>
              </a:rPr>
              <a:t>H</a:t>
            </a:r>
            <a:r>
              <a:rPr sz="1050" i="1" spc="75" baseline="27777" dirty="0">
                <a:latin typeface="Menlo"/>
                <a:cs typeface="Menlo"/>
              </a:rPr>
              <a:t>−</a:t>
            </a:r>
            <a:r>
              <a:rPr sz="1050" spc="75" baseline="27777" dirty="0">
                <a:latin typeface="Arial"/>
                <a:cs typeface="Arial"/>
              </a:rPr>
              <a:t>1</a:t>
            </a:r>
            <a:r>
              <a:rPr sz="1050" spc="120" baseline="27777" dirty="0">
                <a:latin typeface="Arial"/>
                <a:cs typeface="Arial"/>
              </a:rPr>
              <a:t> </a:t>
            </a:r>
            <a:r>
              <a:rPr sz="900" dirty="0">
                <a:latin typeface="Arial"/>
                <a:cs typeface="Arial"/>
              </a:rPr>
              <a:t>boils</a:t>
            </a:r>
            <a:r>
              <a:rPr sz="900" spc="-25" dirty="0">
                <a:latin typeface="Arial"/>
                <a:cs typeface="Arial"/>
              </a:rPr>
              <a:t> </a:t>
            </a:r>
            <a:r>
              <a:rPr sz="900" spc="-10" dirty="0">
                <a:latin typeface="Arial"/>
                <a:cs typeface="Arial"/>
              </a:rPr>
              <a:t>down</a:t>
            </a:r>
            <a:r>
              <a:rPr sz="900" spc="-25" dirty="0">
                <a:latin typeface="Arial"/>
                <a:cs typeface="Arial"/>
              </a:rPr>
              <a:t> </a:t>
            </a:r>
            <a:r>
              <a:rPr sz="900" dirty="0">
                <a:latin typeface="Arial"/>
                <a:cs typeface="Arial"/>
              </a:rPr>
              <a:t>to</a:t>
            </a:r>
            <a:r>
              <a:rPr sz="900" spc="-20" dirty="0">
                <a:latin typeface="Arial"/>
                <a:cs typeface="Arial"/>
              </a:rPr>
              <a:t> </a:t>
            </a:r>
            <a:r>
              <a:rPr sz="900" dirty="0">
                <a:latin typeface="Arial"/>
                <a:cs typeface="Arial"/>
              </a:rPr>
              <a:t>an</a:t>
            </a:r>
            <a:r>
              <a:rPr sz="900" spc="-25" dirty="0">
                <a:latin typeface="Arial"/>
                <a:cs typeface="Arial"/>
              </a:rPr>
              <a:t> </a:t>
            </a:r>
            <a:r>
              <a:rPr sz="900" spc="-20" dirty="0">
                <a:latin typeface="Arial"/>
                <a:cs typeface="Arial"/>
              </a:rPr>
              <a:t>extensive</a:t>
            </a:r>
            <a:r>
              <a:rPr sz="900" spc="-25" dirty="0">
                <a:latin typeface="Arial"/>
                <a:cs typeface="Arial"/>
              </a:rPr>
              <a:t> </a:t>
            </a:r>
            <a:r>
              <a:rPr sz="900" spc="-10" dirty="0">
                <a:solidFill>
                  <a:srgbClr val="3333B2"/>
                </a:solidFill>
                <a:latin typeface="Arial"/>
                <a:cs typeface="Arial"/>
              </a:rPr>
              <a:t>trial-</a:t>
            </a:r>
            <a:r>
              <a:rPr sz="900" spc="-20" dirty="0">
                <a:solidFill>
                  <a:srgbClr val="3333B2"/>
                </a:solidFill>
                <a:latin typeface="Arial"/>
                <a:cs typeface="Arial"/>
              </a:rPr>
              <a:t>and-</a:t>
            </a:r>
            <a:r>
              <a:rPr sz="900" dirty="0">
                <a:solidFill>
                  <a:srgbClr val="3333B2"/>
                </a:solidFill>
                <a:latin typeface="Arial"/>
                <a:cs typeface="Arial"/>
              </a:rPr>
              <a:t>error</a:t>
            </a:r>
            <a:r>
              <a:rPr sz="900" spc="-25" dirty="0">
                <a:solidFill>
                  <a:srgbClr val="3333B2"/>
                </a:solidFill>
                <a:latin typeface="Arial"/>
                <a:cs typeface="Arial"/>
              </a:rPr>
              <a:t> </a:t>
            </a:r>
            <a:r>
              <a:rPr sz="900" spc="-10" dirty="0">
                <a:latin typeface="Arial"/>
                <a:cs typeface="Arial"/>
              </a:rPr>
              <a:t>procedure</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92583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Elections</a:t>
            </a:r>
            <a:r>
              <a:rPr sz="500" spc="-5" dirty="0">
                <a:latin typeface="Arial"/>
                <a:cs typeface="Arial"/>
                <a:hlinkClick r:id="rId4" action="ppaction://hlinksldjump"/>
              </a:rPr>
              <a:t> </a:t>
            </a:r>
            <a:r>
              <a:rPr sz="500" dirty="0">
                <a:latin typeface="Arial"/>
                <a:cs typeface="Arial"/>
                <a:hlinkClick r:id="rId4" action="ppaction://hlinksldjump"/>
              </a:rPr>
              <a:t>in </a:t>
            </a:r>
            <a:r>
              <a:rPr sz="500" spc="-10" dirty="0">
                <a:latin typeface="Arial"/>
                <a:cs typeface="Arial"/>
                <a:hlinkClick r:id="rId4" action="ppaction://hlinksldjump"/>
              </a:rPr>
              <a:t>large-</a:t>
            </a:r>
            <a:r>
              <a:rPr sz="500" dirty="0">
                <a:latin typeface="Arial"/>
                <a:cs typeface="Arial"/>
                <a:hlinkClick r:id="rId4" action="ppaction://hlinksldjump"/>
              </a:rPr>
              <a:t>scale </a:t>
            </a:r>
            <a:r>
              <a:rPr sz="500" spc="-10" dirty="0">
                <a:latin typeface="Arial"/>
                <a:cs typeface="Arial"/>
                <a:hlinkClick r:id="rId4" action="ppaction://hlinksldjump"/>
              </a:rPr>
              <a:t>systems</a:t>
            </a:r>
            <a:endParaRPr sz="500">
              <a:latin typeface="Arial"/>
              <a:cs typeface="Arial"/>
            </a:endParaRPr>
          </a:p>
        </p:txBody>
      </p:sp>
    </p:spTree>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952875" algn="l"/>
              </a:tabLst>
            </a:pPr>
            <a:r>
              <a:rPr sz="500" spc="-10" dirty="0">
                <a:latin typeface="Arial"/>
                <a:cs typeface="Arial"/>
                <a:hlinkClick r:id="rId2" action="ppaction://hlinksldjump"/>
              </a:rPr>
              <a:t>Coordination</a:t>
            </a:r>
            <a:r>
              <a:rPr sz="500" dirty="0">
                <a:latin typeface="Arial"/>
                <a:cs typeface="Arial"/>
              </a:rPr>
              <a:t>	</a:t>
            </a:r>
            <a:r>
              <a:rPr sz="500" dirty="0">
                <a:solidFill>
                  <a:srgbClr val="FFFFFF"/>
                </a:solidFill>
                <a:latin typeface="Arial"/>
                <a:cs typeface="Arial"/>
                <a:hlinkClick r:id="rId3" action="ppaction://hlinksldjump"/>
              </a:rPr>
              <a:t>Election</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algorithms</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Elections</a:t>
            </a:r>
            <a:r>
              <a:rPr spc="-40" dirty="0"/>
              <a:t> </a:t>
            </a:r>
            <a:r>
              <a:rPr dirty="0"/>
              <a:t>by</a:t>
            </a:r>
            <a:r>
              <a:rPr spc="-35" dirty="0"/>
              <a:t> </a:t>
            </a:r>
            <a:r>
              <a:rPr dirty="0"/>
              <a:t>proof</a:t>
            </a:r>
            <a:r>
              <a:rPr spc="-35" dirty="0"/>
              <a:t> </a:t>
            </a:r>
            <a:r>
              <a:rPr dirty="0"/>
              <a:t>of</a:t>
            </a:r>
            <a:r>
              <a:rPr spc="-35" dirty="0"/>
              <a:t> </a:t>
            </a:r>
            <a:r>
              <a:rPr spc="-20" dirty="0"/>
              <a:t>work</a:t>
            </a:r>
          </a:p>
        </p:txBody>
      </p:sp>
      <p:sp>
        <p:nvSpPr>
          <p:cNvPr id="4" name="object 4"/>
          <p:cNvSpPr txBox="1"/>
          <p:nvPr/>
        </p:nvSpPr>
        <p:spPr>
          <a:xfrm>
            <a:off x="334594" y="440907"/>
            <a:ext cx="3842385" cy="1316990"/>
          </a:xfrm>
          <a:prstGeom prst="rect">
            <a:avLst/>
          </a:prstGeom>
        </p:spPr>
        <p:txBody>
          <a:bodyPr vert="horz" wrap="square" lIns="0" tIns="83820" rIns="0" bIns="0" rtlCol="0">
            <a:spAutoFit/>
          </a:bodyPr>
          <a:lstStyle/>
          <a:p>
            <a:pPr marL="25400">
              <a:lnSpc>
                <a:spcPct val="100000"/>
              </a:lnSpc>
              <a:spcBef>
                <a:spcPts val="660"/>
              </a:spcBef>
            </a:pPr>
            <a:r>
              <a:rPr sz="1000" dirty="0">
                <a:solidFill>
                  <a:srgbClr val="3333B2"/>
                </a:solidFill>
                <a:latin typeface="Arial"/>
                <a:cs typeface="Arial"/>
              </a:rPr>
              <a:t>Controlled</a:t>
            </a:r>
            <a:r>
              <a:rPr sz="1000" spc="-55" dirty="0">
                <a:solidFill>
                  <a:srgbClr val="3333B2"/>
                </a:solidFill>
                <a:latin typeface="Arial"/>
                <a:cs typeface="Arial"/>
              </a:rPr>
              <a:t> </a:t>
            </a:r>
            <a:r>
              <a:rPr sz="1000" spc="-20" dirty="0">
                <a:solidFill>
                  <a:srgbClr val="3333B2"/>
                </a:solidFill>
                <a:latin typeface="Arial"/>
                <a:cs typeface="Arial"/>
              </a:rPr>
              <a:t>race</a:t>
            </a:r>
            <a:endParaRPr sz="1000">
              <a:latin typeface="Arial"/>
              <a:cs typeface="Arial"/>
            </a:endParaRPr>
          </a:p>
          <a:p>
            <a:pPr marL="278130" marR="17780" indent="-120650">
              <a:lnSpc>
                <a:spcPct val="111600"/>
              </a:lnSpc>
              <a:spcBef>
                <a:spcPts val="375"/>
              </a:spcBef>
              <a:buClr>
                <a:srgbClr val="3333B2"/>
              </a:buClr>
              <a:buFont typeface="Menlo"/>
              <a:buChar char="•"/>
              <a:tabLst>
                <a:tab pos="274955" algn="l"/>
              </a:tabLst>
            </a:pPr>
            <a:r>
              <a:rPr sz="900" dirty="0">
                <a:latin typeface="Arial"/>
                <a:cs typeface="Arial"/>
              </a:rPr>
              <a:t>Assume</a:t>
            </a:r>
            <a:r>
              <a:rPr sz="900" spc="-35" dirty="0">
                <a:latin typeface="Arial"/>
                <a:cs typeface="Arial"/>
              </a:rPr>
              <a:t> </a:t>
            </a:r>
            <a:r>
              <a:rPr sz="900" dirty="0">
                <a:latin typeface="Arial"/>
                <a:cs typeface="Arial"/>
              </a:rPr>
              <a:t>a</a:t>
            </a:r>
            <a:r>
              <a:rPr sz="900" spc="-20" dirty="0">
                <a:latin typeface="Arial"/>
                <a:cs typeface="Arial"/>
              </a:rPr>
              <a:t> </a:t>
            </a:r>
            <a:r>
              <a:rPr sz="900" dirty="0">
                <a:latin typeface="Arial"/>
                <a:cs typeface="Arial"/>
              </a:rPr>
              <a:t>globally</a:t>
            </a:r>
            <a:r>
              <a:rPr sz="900" spc="-20" dirty="0">
                <a:latin typeface="Arial"/>
                <a:cs typeface="Arial"/>
              </a:rPr>
              <a:t> </a:t>
            </a:r>
            <a:r>
              <a:rPr sz="900" dirty="0">
                <a:latin typeface="Arial"/>
                <a:cs typeface="Arial"/>
              </a:rPr>
              <a:t>known</a:t>
            </a:r>
            <a:r>
              <a:rPr sz="900" spc="-20" dirty="0">
                <a:latin typeface="Arial"/>
                <a:cs typeface="Arial"/>
              </a:rPr>
              <a:t> </a:t>
            </a:r>
            <a:r>
              <a:rPr sz="900" dirty="0">
                <a:latin typeface="Arial"/>
                <a:cs typeface="Arial"/>
              </a:rPr>
              <a:t>secure</a:t>
            </a:r>
            <a:r>
              <a:rPr sz="900" spc="-25" dirty="0">
                <a:latin typeface="Arial"/>
                <a:cs typeface="Arial"/>
              </a:rPr>
              <a:t> </a:t>
            </a:r>
            <a:r>
              <a:rPr sz="900" dirty="0">
                <a:latin typeface="Arial"/>
                <a:cs typeface="Arial"/>
              </a:rPr>
              <a:t>hash</a:t>
            </a:r>
            <a:r>
              <a:rPr sz="900" spc="-20" dirty="0">
                <a:latin typeface="Arial"/>
                <a:cs typeface="Arial"/>
              </a:rPr>
              <a:t> </a:t>
            </a:r>
            <a:r>
              <a:rPr sz="900" dirty="0">
                <a:latin typeface="Arial"/>
                <a:cs typeface="Arial"/>
              </a:rPr>
              <a:t>function</a:t>
            </a:r>
            <a:r>
              <a:rPr sz="900" spc="-20" dirty="0">
                <a:latin typeface="Arial"/>
                <a:cs typeface="Arial"/>
              </a:rPr>
              <a:t> </a:t>
            </a:r>
            <a:r>
              <a:rPr sz="900" i="1" dirty="0">
                <a:latin typeface="Arial"/>
                <a:cs typeface="Arial"/>
              </a:rPr>
              <a:t>H</a:t>
            </a:r>
            <a:r>
              <a:rPr sz="1050" i="1" baseline="27777" dirty="0">
                <a:latin typeface="Menlo"/>
                <a:cs typeface="Menlo"/>
              </a:rPr>
              <a:t>∗</a:t>
            </a:r>
            <a:r>
              <a:rPr sz="900" dirty="0">
                <a:latin typeface="Arial"/>
                <a:cs typeface="Arial"/>
              </a:rPr>
              <a:t>.</a:t>
            </a:r>
            <a:r>
              <a:rPr sz="900" spc="35" dirty="0">
                <a:latin typeface="Arial"/>
                <a:cs typeface="Arial"/>
              </a:rPr>
              <a:t> </a:t>
            </a:r>
            <a:r>
              <a:rPr sz="900" dirty="0">
                <a:latin typeface="Arial"/>
                <a:cs typeface="Arial"/>
              </a:rPr>
              <a:t>Let</a:t>
            </a:r>
            <a:r>
              <a:rPr sz="900" spc="-20" dirty="0">
                <a:latin typeface="Arial"/>
                <a:cs typeface="Arial"/>
              </a:rPr>
              <a:t> </a:t>
            </a:r>
            <a:r>
              <a:rPr sz="900" i="1" dirty="0">
                <a:latin typeface="Arial"/>
                <a:cs typeface="Arial"/>
              </a:rPr>
              <a:t>H</a:t>
            </a:r>
            <a:r>
              <a:rPr sz="1050" i="1" baseline="-15873" dirty="0">
                <a:latin typeface="Arial"/>
                <a:cs typeface="Arial"/>
              </a:rPr>
              <a:t>i</a:t>
            </a:r>
            <a:r>
              <a:rPr sz="1050" i="1" spc="202" baseline="-15873" dirty="0">
                <a:latin typeface="Arial"/>
                <a:cs typeface="Arial"/>
              </a:rPr>
              <a:t> </a:t>
            </a:r>
            <a:r>
              <a:rPr sz="900" dirty="0">
                <a:latin typeface="Arial"/>
                <a:cs typeface="Arial"/>
              </a:rPr>
              <a:t>be</a:t>
            </a:r>
            <a:r>
              <a:rPr sz="900" spc="-20" dirty="0">
                <a:latin typeface="Arial"/>
                <a:cs typeface="Arial"/>
              </a:rPr>
              <a:t> </a:t>
            </a:r>
            <a:r>
              <a:rPr sz="900" dirty="0">
                <a:latin typeface="Arial"/>
                <a:cs typeface="Arial"/>
              </a:rPr>
              <a:t>the</a:t>
            </a:r>
            <a:r>
              <a:rPr sz="900" spc="-20" dirty="0">
                <a:latin typeface="Arial"/>
                <a:cs typeface="Arial"/>
              </a:rPr>
              <a:t> hash </a:t>
            </a:r>
            <a:r>
              <a:rPr sz="900" dirty="0">
                <a:latin typeface="Arial"/>
                <a:cs typeface="Arial"/>
              </a:rPr>
              <a:t>function</a:t>
            </a:r>
            <a:r>
              <a:rPr sz="900" spc="-40" dirty="0">
                <a:latin typeface="Arial"/>
                <a:cs typeface="Arial"/>
              </a:rPr>
              <a:t> </a:t>
            </a:r>
            <a:r>
              <a:rPr sz="900" dirty="0">
                <a:latin typeface="Arial"/>
                <a:cs typeface="Arial"/>
              </a:rPr>
              <a:t>used</a:t>
            </a:r>
            <a:r>
              <a:rPr sz="900" spc="-30" dirty="0">
                <a:latin typeface="Arial"/>
                <a:cs typeface="Arial"/>
              </a:rPr>
              <a:t> </a:t>
            </a:r>
            <a:r>
              <a:rPr sz="900" dirty="0">
                <a:latin typeface="Arial"/>
                <a:cs typeface="Arial"/>
              </a:rPr>
              <a:t>by</a:t>
            </a:r>
            <a:r>
              <a:rPr sz="900" spc="-30" dirty="0">
                <a:latin typeface="Arial"/>
                <a:cs typeface="Arial"/>
              </a:rPr>
              <a:t> </a:t>
            </a:r>
            <a:r>
              <a:rPr sz="900" dirty="0">
                <a:latin typeface="Arial"/>
                <a:cs typeface="Arial"/>
              </a:rPr>
              <a:t>process</a:t>
            </a:r>
            <a:r>
              <a:rPr sz="900" spc="-25" dirty="0">
                <a:latin typeface="Arial"/>
                <a:cs typeface="Arial"/>
              </a:rPr>
              <a:t> </a:t>
            </a:r>
            <a:r>
              <a:rPr sz="900" i="1" spc="-10" dirty="0">
                <a:latin typeface="Arial"/>
                <a:cs typeface="Arial"/>
              </a:rPr>
              <a:t>P</a:t>
            </a:r>
            <a:r>
              <a:rPr sz="1050" i="1" spc="-15" baseline="-15873" dirty="0">
                <a:latin typeface="Arial"/>
                <a:cs typeface="Arial"/>
              </a:rPr>
              <a:t>i</a:t>
            </a:r>
            <a:r>
              <a:rPr sz="1050" i="1" spc="-127" baseline="-15873" dirty="0">
                <a:latin typeface="Arial"/>
                <a:cs typeface="Arial"/>
              </a:rPr>
              <a:t> </a:t>
            </a:r>
            <a:r>
              <a:rPr sz="900" spc="-50" dirty="0">
                <a:latin typeface="Arial"/>
                <a:cs typeface="Arial"/>
              </a:rPr>
              <a:t>.</a:t>
            </a:r>
            <a:endParaRPr sz="900">
              <a:latin typeface="Arial"/>
              <a:cs typeface="Arial"/>
            </a:endParaRPr>
          </a:p>
          <a:p>
            <a:pPr marL="274320" indent="-116839">
              <a:lnSpc>
                <a:spcPct val="100000"/>
              </a:lnSpc>
              <a:spcBef>
                <a:spcPts val="525"/>
              </a:spcBef>
              <a:buClr>
                <a:srgbClr val="3333B2"/>
              </a:buClr>
              <a:buFont typeface="Menlo"/>
              <a:buChar char="•"/>
              <a:tabLst>
                <a:tab pos="274955" algn="l"/>
              </a:tabLst>
            </a:pPr>
            <a:r>
              <a:rPr sz="900" spc="-10" dirty="0">
                <a:latin typeface="Arial"/>
                <a:cs typeface="Arial"/>
              </a:rPr>
              <a:t>Task:</a:t>
            </a:r>
            <a:r>
              <a:rPr sz="900" spc="40" dirty="0">
                <a:latin typeface="Arial"/>
                <a:cs typeface="Arial"/>
              </a:rPr>
              <a:t> </a:t>
            </a:r>
            <a:r>
              <a:rPr sz="900" dirty="0">
                <a:latin typeface="Arial"/>
                <a:cs typeface="Arial"/>
              </a:rPr>
              <a:t>given</a:t>
            </a:r>
            <a:r>
              <a:rPr sz="900" spc="-10" dirty="0">
                <a:latin typeface="Arial"/>
                <a:cs typeface="Arial"/>
              </a:rPr>
              <a:t> </a:t>
            </a:r>
            <a:r>
              <a:rPr sz="900" dirty="0">
                <a:latin typeface="Arial"/>
                <a:cs typeface="Arial"/>
              </a:rPr>
              <a:t>a</a:t>
            </a:r>
            <a:r>
              <a:rPr sz="900" spc="-10" dirty="0">
                <a:latin typeface="Arial"/>
                <a:cs typeface="Arial"/>
              </a:rPr>
              <a:t> </a:t>
            </a:r>
            <a:r>
              <a:rPr sz="900" dirty="0">
                <a:latin typeface="Arial"/>
                <a:cs typeface="Arial"/>
              </a:rPr>
              <a:t>bit</a:t>
            </a:r>
            <a:r>
              <a:rPr sz="900" spc="-10" dirty="0">
                <a:latin typeface="Arial"/>
                <a:cs typeface="Arial"/>
              </a:rPr>
              <a:t> </a:t>
            </a:r>
            <a:r>
              <a:rPr sz="900" dirty="0">
                <a:latin typeface="Arial"/>
                <a:cs typeface="Arial"/>
              </a:rPr>
              <a:t>string</a:t>
            </a:r>
            <a:r>
              <a:rPr sz="900" spc="-10" dirty="0">
                <a:latin typeface="Arial"/>
                <a:cs typeface="Arial"/>
              </a:rPr>
              <a:t> </a:t>
            </a:r>
            <a:r>
              <a:rPr sz="900" i="1" dirty="0">
                <a:latin typeface="Arial"/>
                <a:cs typeface="Arial"/>
              </a:rPr>
              <a:t>h</a:t>
            </a:r>
            <a:r>
              <a:rPr sz="900" i="1" spc="-45" dirty="0">
                <a:latin typeface="Arial"/>
                <a:cs typeface="Arial"/>
              </a:rPr>
              <a:t> </a:t>
            </a:r>
            <a:r>
              <a:rPr sz="900" spc="185" dirty="0">
                <a:latin typeface="Arial"/>
                <a:cs typeface="Arial"/>
              </a:rPr>
              <a:t>=</a:t>
            </a:r>
            <a:r>
              <a:rPr sz="900" spc="-55" dirty="0">
                <a:latin typeface="Arial"/>
                <a:cs typeface="Arial"/>
              </a:rPr>
              <a:t> </a:t>
            </a:r>
            <a:r>
              <a:rPr sz="900" i="1" spc="-10" dirty="0">
                <a:latin typeface="Arial"/>
                <a:cs typeface="Arial"/>
              </a:rPr>
              <a:t>H</a:t>
            </a:r>
            <a:r>
              <a:rPr sz="1050" i="1" spc="-15" baseline="-15873" dirty="0">
                <a:latin typeface="Arial"/>
                <a:cs typeface="Arial"/>
              </a:rPr>
              <a:t>i</a:t>
            </a:r>
            <a:r>
              <a:rPr sz="1050" i="1" spc="-127" baseline="-15873" dirty="0">
                <a:latin typeface="Arial"/>
                <a:cs typeface="Arial"/>
              </a:rPr>
              <a:t> </a:t>
            </a:r>
            <a:r>
              <a:rPr sz="900" dirty="0">
                <a:latin typeface="Arial"/>
                <a:cs typeface="Arial"/>
              </a:rPr>
              <a:t>(</a:t>
            </a:r>
            <a:r>
              <a:rPr sz="900" i="1" dirty="0">
                <a:latin typeface="Arial"/>
                <a:cs typeface="Arial"/>
              </a:rPr>
              <a:t>m</a:t>
            </a:r>
            <a:r>
              <a:rPr sz="900" dirty="0">
                <a:latin typeface="Arial"/>
                <a:cs typeface="Arial"/>
              </a:rPr>
              <a:t>),</a:t>
            </a:r>
            <a:r>
              <a:rPr sz="900" spc="-10" dirty="0">
                <a:latin typeface="Arial"/>
                <a:cs typeface="Arial"/>
              </a:rPr>
              <a:t> </a:t>
            </a:r>
            <a:r>
              <a:rPr sz="900" dirty="0">
                <a:latin typeface="Arial"/>
                <a:cs typeface="Arial"/>
              </a:rPr>
              <a:t>find</a:t>
            </a:r>
            <a:r>
              <a:rPr sz="900" spc="-10" dirty="0">
                <a:latin typeface="Arial"/>
                <a:cs typeface="Arial"/>
              </a:rPr>
              <a:t> </a:t>
            </a:r>
            <a:r>
              <a:rPr sz="900" dirty="0">
                <a:latin typeface="Arial"/>
                <a:cs typeface="Arial"/>
              </a:rPr>
              <a:t>a</a:t>
            </a:r>
            <a:r>
              <a:rPr sz="900" spc="-10" dirty="0">
                <a:latin typeface="Arial"/>
                <a:cs typeface="Arial"/>
              </a:rPr>
              <a:t> </a:t>
            </a:r>
            <a:r>
              <a:rPr sz="900" dirty="0">
                <a:latin typeface="Arial"/>
                <a:cs typeface="Arial"/>
              </a:rPr>
              <a:t>bit</a:t>
            </a:r>
            <a:r>
              <a:rPr sz="900" spc="-10" dirty="0">
                <a:latin typeface="Arial"/>
                <a:cs typeface="Arial"/>
              </a:rPr>
              <a:t> </a:t>
            </a:r>
            <a:r>
              <a:rPr sz="900" dirty="0">
                <a:latin typeface="Arial"/>
                <a:cs typeface="Arial"/>
              </a:rPr>
              <a:t>string</a:t>
            </a:r>
            <a:r>
              <a:rPr sz="900" spc="-10" dirty="0">
                <a:latin typeface="Arial"/>
                <a:cs typeface="Arial"/>
              </a:rPr>
              <a:t> </a:t>
            </a:r>
            <a:r>
              <a:rPr sz="900" i="1" spc="-170" dirty="0">
                <a:latin typeface="Arial"/>
                <a:cs typeface="Arial"/>
              </a:rPr>
              <a:t>h</a:t>
            </a:r>
            <a:r>
              <a:rPr sz="1350" spc="-254" baseline="15432" dirty="0">
                <a:latin typeface="Arial"/>
                <a:cs typeface="Arial"/>
              </a:rPr>
              <a:t>˜</a:t>
            </a:r>
            <a:r>
              <a:rPr sz="1350" spc="37" baseline="15432" dirty="0">
                <a:latin typeface="Arial"/>
                <a:cs typeface="Arial"/>
              </a:rPr>
              <a:t> </a:t>
            </a:r>
            <a:r>
              <a:rPr sz="900" dirty="0">
                <a:latin typeface="Arial"/>
                <a:cs typeface="Arial"/>
              </a:rPr>
              <a:t>such</a:t>
            </a:r>
            <a:r>
              <a:rPr sz="900" spc="-10" dirty="0">
                <a:latin typeface="Arial"/>
                <a:cs typeface="Arial"/>
              </a:rPr>
              <a:t> </a:t>
            </a:r>
            <a:r>
              <a:rPr sz="900" spc="-20" dirty="0">
                <a:latin typeface="Arial"/>
                <a:cs typeface="Arial"/>
              </a:rPr>
              <a:t>that</a:t>
            </a:r>
            <a:endParaRPr sz="900">
              <a:latin typeface="Arial"/>
              <a:cs typeface="Arial"/>
            </a:endParaRPr>
          </a:p>
          <a:p>
            <a:pPr marL="278130">
              <a:lnSpc>
                <a:spcPct val="100000"/>
              </a:lnSpc>
              <a:spcBef>
                <a:spcPts val="125"/>
              </a:spcBef>
            </a:pPr>
            <a:r>
              <a:rPr sz="900" i="1" spc="-45" dirty="0">
                <a:latin typeface="Arial"/>
                <a:cs typeface="Arial"/>
              </a:rPr>
              <a:t>h</a:t>
            </a:r>
            <a:r>
              <a:rPr sz="1050" i="1" spc="-67" baseline="27777" dirty="0">
                <a:latin typeface="Menlo"/>
                <a:cs typeface="Menlo"/>
              </a:rPr>
              <a:t>∗</a:t>
            </a:r>
            <a:r>
              <a:rPr sz="1050" i="1" spc="-217" baseline="27777" dirty="0">
                <a:latin typeface="Menlo"/>
                <a:cs typeface="Menlo"/>
              </a:rPr>
              <a:t> </a:t>
            </a:r>
            <a:r>
              <a:rPr sz="900" spc="185" dirty="0">
                <a:latin typeface="Arial"/>
                <a:cs typeface="Arial"/>
              </a:rPr>
              <a:t>=</a:t>
            </a:r>
            <a:r>
              <a:rPr sz="900" spc="-25" dirty="0">
                <a:latin typeface="Arial"/>
                <a:cs typeface="Arial"/>
              </a:rPr>
              <a:t> </a:t>
            </a:r>
            <a:r>
              <a:rPr sz="900" i="1" dirty="0">
                <a:latin typeface="Arial"/>
                <a:cs typeface="Arial"/>
              </a:rPr>
              <a:t>H</a:t>
            </a:r>
            <a:r>
              <a:rPr sz="1050" i="1" baseline="27777" dirty="0">
                <a:latin typeface="Menlo"/>
                <a:cs typeface="Menlo"/>
              </a:rPr>
              <a:t>∗</a:t>
            </a:r>
            <a:r>
              <a:rPr sz="900" dirty="0">
                <a:latin typeface="Arial"/>
                <a:cs typeface="Arial"/>
              </a:rPr>
              <a:t>(</a:t>
            </a:r>
            <a:r>
              <a:rPr sz="900" i="1" dirty="0">
                <a:latin typeface="Arial"/>
                <a:cs typeface="Arial"/>
              </a:rPr>
              <a:t>H</a:t>
            </a:r>
            <a:r>
              <a:rPr sz="1050" i="1" baseline="-15873" dirty="0">
                <a:latin typeface="Arial"/>
                <a:cs typeface="Arial"/>
              </a:rPr>
              <a:t>i</a:t>
            </a:r>
            <a:r>
              <a:rPr sz="1050" i="1" spc="-104" baseline="-15873" dirty="0">
                <a:latin typeface="Arial"/>
                <a:cs typeface="Arial"/>
              </a:rPr>
              <a:t> </a:t>
            </a:r>
            <a:r>
              <a:rPr sz="900" spc="-95" dirty="0">
                <a:latin typeface="Arial"/>
                <a:cs typeface="Arial"/>
              </a:rPr>
              <a:t>(</a:t>
            </a:r>
            <a:r>
              <a:rPr sz="900" i="1" spc="-95" dirty="0">
                <a:latin typeface="Arial"/>
                <a:cs typeface="Arial"/>
              </a:rPr>
              <a:t>h</a:t>
            </a:r>
            <a:r>
              <a:rPr sz="1350" spc="-142" baseline="15432" dirty="0">
                <a:latin typeface="Arial"/>
                <a:cs typeface="Arial"/>
              </a:rPr>
              <a:t>˜</a:t>
            </a:r>
            <a:r>
              <a:rPr sz="1350" spc="-120" baseline="15432" dirty="0">
                <a:latin typeface="Arial"/>
                <a:cs typeface="Arial"/>
              </a:rPr>
              <a:t> </a:t>
            </a:r>
            <a:r>
              <a:rPr sz="900" i="1" spc="95" dirty="0">
                <a:latin typeface="Menlo"/>
                <a:cs typeface="Menlo"/>
              </a:rPr>
              <a:t>⊙</a:t>
            </a:r>
            <a:r>
              <a:rPr sz="900" i="1" spc="95" dirty="0">
                <a:latin typeface="Arial"/>
                <a:cs typeface="Arial"/>
              </a:rPr>
              <a:t>h</a:t>
            </a:r>
            <a:r>
              <a:rPr sz="900" spc="95" dirty="0">
                <a:latin typeface="Arial"/>
                <a:cs typeface="Arial"/>
              </a:rPr>
              <a:t>))</a:t>
            </a:r>
            <a:r>
              <a:rPr sz="900" spc="30" dirty="0">
                <a:latin typeface="Arial"/>
                <a:cs typeface="Arial"/>
              </a:rPr>
              <a:t> </a:t>
            </a:r>
            <a:r>
              <a:rPr sz="900" spc="-10" dirty="0">
                <a:latin typeface="Arial"/>
                <a:cs typeface="Arial"/>
              </a:rPr>
              <a:t>where:</a:t>
            </a:r>
            <a:endParaRPr sz="900">
              <a:latin typeface="Arial"/>
              <a:cs typeface="Arial"/>
            </a:endParaRPr>
          </a:p>
          <a:p>
            <a:pPr marL="531495" lvl="1" indent="-121285">
              <a:lnSpc>
                <a:spcPct val="100000"/>
              </a:lnSpc>
              <a:spcBef>
                <a:spcPts val="525"/>
              </a:spcBef>
              <a:buClr>
                <a:srgbClr val="3333B2"/>
              </a:buClr>
              <a:buFont typeface="Menlo"/>
              <a:buChar char="•"/>
              <a:tabLst>
                <a:tab pos="532130" algn="l"/>
              </a:tabLst>
            </a:pPr>
            <a:r>
              <a:rPr sz="900" i="1" spc="-45" dirty="0">
                <a:latin typeface="Arial"/>
                <a:cs typeface="Arial"/>
              </a:rPr>
              <a:t>h</a:t>
            </a:r>
            <a:r>
              <a:rPr sz="1050" i="1" spc="-67" baseline="27777" dirty="0">
                <a:latin typeface="Menlo"/>
                <a:cs typeface="Menlo"/>
              </a:rPr>
              <a:t>∗</a:t>
            </a:r>
            <a:r>
              <a:rPr sz="1050" i="1" spc="-187" baseline="27777" dirty="0">
                <a:latin typeface="Menlo"/>
                <a:cs typeface="Menlo"/>
              </a:rPr>
              <a:t> </a:t>
            </a:r>
            <a:r>
              <a:rPr sz="900" dirty="0">
                <a:latin typeface="Arial"/>
                <a:cs typeface="Arial"/>
              </a:rPr>
              <a:t>is</a:t>
            </a:r>
            <a:r>
              <a:rPr sz="900" spc="-25" dirty="0">
                <a:latin typeface="Arial"/>
                <a:cs typeface="Arial"/>
              </a:rPr>
              <a:t> </a:t>
            </a:r>
            <a:r>
              <a:rPr sz="900" dirty="0">
                <a:latin typeface="Arial"/>
                <a:cs typeface="Arial"/>
              </a:rPr>
              <a:t>a</a:t>
            </a:r>
            <a:r>
              <a:rPr sz="900" spc="-10" dirty="0">
                <a:latin typeface="Arial"/>
                <a:cs typeface="Arial"/>
              </a:rPr>
              <a:t> </a:t>
            </a:r>
            <a:r>
              <a:rPr sz="900" dirty="0">
                <a:latin typeface="Arial"/>
                <a:cs typeface="Arial"/>
              </a:rPr>
              <a:t>bit</a:t>
            </a:r>
            <a:r>
              <a:rPr sz="900" spc="-15" dirty="0">
                <a:latin typeface="Arial"/>
                <a:cs typeface="Arial"/>
              </a:rPr>
              <a:t> </a:t>
            </a:r>
            <a:r>
              <a:rPr sz="900" dirty="0">
                <a:latin typeface="Arial"/>
                <a:cs typeface="Arial"/>
              </a:rPr>
              <a:t>string</a:t>
            </a:r>
            <a:r>
              <a:rPr sz="900" spc="-10" dirty="0">
                <a:latin typeface="Arial"/>
                <a:cs typeface="Arial"/>
              </a:rPr>
              <a:t> </a:t>
            </a:r>
            <a:r>
              <a:rPr sz="900" dirty="0">
                <a:latin typeface="Arial"/>
                <a:cs typeface="Arial"/>
              </a:rPr>
              <a:t>with</a:t>
            </a:r>
            <a:r>
              <a:rPr sz="900" spc="-15" dirty="0">
                <a:latin typeface="Arial"/>
                <a:cs typeface="Arial"/>
              </a:rPr>
              <a:t> </a:t>
            </a:r>
            <a:r>
              <a:rPr sz="900" i="1" dirty="0">
                <a:latin typeface="Arial"/>
                <a:cs typeface="Arial"/>
              </a:rPr>
              <a:t>K</a:t>
            </a:r>
            <a:r>
              <a:rPr sz="900" i="1" spc="114" dirty="0">
                <a:latin typeface="Arial"/>
                <a:cs typeface="Arial"/>
              </a:rPr>
              <a:t> </a:t>
            </a:r>
            <a:r>
              <a:rPr sz="900" dirty="0">
                <a:latin typeface="Arial"/>
                <a:cs typeface="Arial"/>
              </a:rPr>
              <a:t>leading</a:t>
            </a:r>
            <a:r>
              <a:rPr sz="900" spc="-10" dirty="0">
                <a:latin typeface="Arial"/>
                <a:cs typeface="Arial"/>
              </a:rPr>
              <a:t> zeroes</a:t>
            </a:r>
            <a:endParaRPr sz="900">
              <a:latin typeface="Arial"/>
              <a:cs typeface="Arial"/>
            </a:endParaRPr>
          </a:p>
          <a:p>
            <a:pPr marL="531495" lvl="1" indent="-121285">
              <a:lnSpc>
                <a:spcPct val="100000"/>
              </a:lnSpc>
              <a:spcBef>
                <a:spcPts val="125"/>
              </a:spcBef>
              <a:buClr>
                <a:srgbClr val="3333B2"/>
              </a:buClr>
              <a:buFont typeface="Menlo"/>
              <a:buChar char="•"/>
              <a:tabLst>
                <a:tab pos="532130" algn="l"/>
              </a:tabLst>
            </a:pPr>
            <a:r>
              <a:rPr sz="900" i="1" spc="-170" dirty="0">
                <a:latin typeface="Arial"/>
                <a:cs typeface="Arial"/>
              </a:rPr>
              <a:t>h</a:t>
            </a:r>
            <a:r>
              <a:rPr sz="1350" spc="-254" baseline="15432" dirty="0">
                <a:latin typeface="Arial"/>
                <a:cs typeface="Arial"/>
              </a:rPr>
              <a:t>˜</a:t>
            </a:r>
            <a:r>
              <a:rPr sz="1350" spc="-150" baseline="15432" dirty="0">
                <a:latin typeface="Arial"/>
                <a:cs typeface="Arial"/>
              </a:rPr>
              <a:t> </a:t>
            </a:r>
            <a:r>
              <a:rPr sz="900" i="1" spc="130" dirty="0">
                <a:latin typeface="Menlo"/>
                <a:cs typeface="Menlo"/>
              </a:rPr>
              <a:t>⊙</a:t>
            </a:r>
            <a:r>
              <a:rPr sz="900" i="1" spc="130" dirty="0">
                <a:latin typeface="Arial"/>
                <a:cs typeface="Arial"/>
              </a:rPr>
              <a:t>h</a:t>
            </a:r>
            <a:r>
              <a:rPr sz="900" i="1" spc="-35" dirty="0">
                <a:latin typeface="Arial"/>
                <a:cs typeface="Arial"/>
              </a:rPr>
              <a:t> </a:t>
            </a:r>
            <a:r>
              <a:rPr sz="900" dirty="0">
                <a:latin typeface="Arial"/>
                <a:cs typeface="Arial"/>
              </a:rPr>
              <a:t>denotes</a:t>
            </a:r>
            <a:r>
              <a:rPr sz="900" spc="-20" dirty="0">
                <a:latin typeface="Arial"/>
                <a:cs typeface="Arial"/>
              </a:rPr>
              <a:t> </a:t>
            </a:r>
            <a:r>
              <a:rPr sz="900" dirty="0">
                <a:latin typeface="Arial"/>
                <a:cs typeface="Arial"/>
              </a:rPr>
              <a:t>some</a:t>
            </a:r>
            <a:r>
              <a:rPr sz="900" spc="-20" dirty="0">
                <a:latin typeface="Arial"/>
                <a:cs typeface="Arial"/>
              </a:rPr>
              <a:t> </a:t>
            </a:r>
            <a:r>
              <a:rPr sz="900" dirty="0">
                <a:latin typeface="Arial"/>
                <a:cs typeface="Arial"/>
              </a:rPr>
              <a:t>predetermined</a:t>
            </a:r>
            <a:r>
              <a:rPr sz="900" spc="-20" dirty="0">
                <a:latin typeface="Arial"/>
                <a:cs typeface="Arial"/>
              </a:rPr>
              <a:t> </a:t>
            </a:r>
            <a:r>
              <a:rPr sz="900" dirty="0">
                <a:latin typeface="Arial"/>
                <a:cs typeface="Arial"/>
              </a:rPr>
              <a:t>bitwise</a:t>
            </a:r>
            <a:r>
              <a:rPr sz="900" spc="-20" dirty="0">
                <a:latin typeface="Arial"/>
                <a:cs typeface="Arial"/>
              </a:rPr>
              <a:t> </a:t>
            </a:r>
            <a:r>
              <a:rPr sz="900" dirty="0">
                <a:latin typeface="Arial"/>
                <a:cs typeface="Arial"/>
              </a:rPr>
              <a:t>operation</a:t>
            </a:r>
            <a:r>
              <a:rPr sz="900" spc="-20" dirty="0">
                <a:latin typeface="Arial"/>
                <a:cs typeface="Arial"/>
              </a:rPr>
              <a:t> </a:t>
            </a:r>
            <a:r>
              <a:rPr sz="900" dirty="0">
                <a:latin typeface="Arial"/>
                <a:cs typeface="Arial"/>
              </a:rPr>
              <a:t>on</a:t>
            </a:r>
            <a:r>
              <a:rPr sz="900" spc="-20" dirty="0">
                <a:latin typeface="Arial"/>
                <a:cs typeface="Arial"/>
              </a:rPr>
              <a:t> </a:t>
            </a:r>
            <a:r>
              <a:rPr sz="900" i="1" spc="-170" dirty="0">
                <a:latin typeface="Arial"/>
                <a:cs typeface="Arial"/>
              </a:rPr>
              <a:t>h</a:t>
            </a:r>
            <a:r>
              <a:rPr sz="1350" spc="-254" baseline="15432" dirty="0">
                <a:latin typeface="Arial"/>
                <a:cs typeface="Arial"/>
              </a:rPr>
              <a:t>˜</a:t>
            </a:r>
            <a:r>
              <a:rPr sz="1350" spc="37" baseline="15432" dirty="0">
                <a:latin typeface="Arial"/>
                <a:cs typeface="Arial"/>
              </a:rPr>
              <a:t> </a:t>
            </a:r>
            <a:r>
              <a:rPr sz="900" dirty="0">
                <a:latin typeface="Arial"/>
                <a:cs typeface="Arial"/>
              </a:rPr>
              <a:t>and</a:t>
            </a:r>
            <a:r>
              <a:rPr sz="900" spc="-20" dirty="0">
                <a:latin typeface="Arial"/>
                <a:cs typeface="Arial"/>
              </a:rPr>
              <a:t> </a:t>
            </a:r>
            <a:r>
              <a:rPr sz="900" i="1" spc="-50" dirty="0">
                <a:latin typeface="Arial"/>
                <a:cs typeface="Arial"/>
              </a:rPr>
              <a:t>h</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92583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Elections</a:t>
            </a:r>
            <a:r>
              <a:rPr sz="500" spc="-5" dirty="0">
                <a:latin typeface="Arial"/>
                <a:cs typeface="Arial"/>
                <a:hlinkClick r:id="rId4" action="ppaction://hlinksldjump"/>
              </a:rPr>
              <a:t> </a:t>
            </a:r>
            <a:r>
              <a:rPr sz="500" dirty="0">
                <a:latin typeface="Arial"/>
                <a:cs typeface="Arial"/>
                <a:hlinkClick r:id="rId4" action="ppaction://hlinksldjump"/>
              </a:rPr>
              <a:t>in </a:t>
            </a:r>
            <a:r>
              <a:rPr sz="500" spc="-10" dirty="0">
                <a:latin typeface="Arial"/>
                <a:cs typeface="Arial"/>
                <a:hlinkClick r:id="rId4" action="ppaction://hlinksldjump"/>
              </a:rPr>
              <a:t>large-</a:t>
            </a:r>
            <a:r>
              <a:rPr sz="500" dirty="0">
                <a:latin typeface="Arial"/>
                <a:cs typeface="Arial"/>
                <a:hlinkClick r:id="rId4" action="ppaction://hlinksldjump"/>
              </a:rPr>
              <a:t>scale </a:t>
            </a:r>
            <a:r>
              <a:rPr sz="500" spc="-10" dirty="0">
                <a:latin typeface="Arial"/>
                <a:cs typeface="Arial"/>
                <a:hlinkClick r:id="rId4" action="ppaction://hlinksldjump"/>
              </a:rPr>
              <a:t>systems</a:t>
            </a:r>
            <a:endParaRPr sz="500">
              <a:latin typeface="Arial"/>
              <a:cs typeface="Arial"/>
            </a:endParaRPr>
          </a:p>
        </p:txBody>
      </p:sp>
    </p:spTree>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952875" algn="l"/>
              </a:tabLst>
            </a:pPr>
            <a:r>
              <a:rPr sz="500" spc="-10" dirty="0">
                <a:latin typeface="Arial"/>
                <a:cs typeface="Arial"/>
                <a:hlinkClick r:id="rId2" action="ppaction://hlinksldjump"/>
              </a:rPr>
              <a:t>Coordination</a:t>
            </a:r>
            <a:r>
              <a:rPr sz="500" dirty="0">
                <a:latin typeface="Arial"/>
                <a:cs typeface="Arial"/>
              </a:rPr>
              <a:t>	</a:t>
            </a:r>
            <a:r>
              <a:rPr sz="500" dirty="0">
                <a:solidFill>
                  <a:srgbClr val="FFFFFF"/>
                </a:solidFill>
                <a:latin typeface="Arial"/>
                <a:cs typeface="Arial"/>
                <a:hlinkClick r:id="rId3" action="ppaction://hlinksldjump"/>
              </a:rPr>
              <a:t>Election</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algorithms</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Elections</a:t>
            </a:r>
            <a:r>
              <a:rPr spc="-40" dirty="0"/>
              <a:t> </a:t>
            </a:r>
            <a:r>
              <a:rPr dirty="0"/>
              <a:t>by</a:t>
            </a:r>
            <a:r>
              <a:rPr spc="-35" dirty="0"/>
              <a:t> </a:t>
            </a:r>
            <a:r>
              <a:rPr dirty="0"/>
              <a:t>proof</a:t>
            </a:r>
            <a:r>
              <a:rPr spc="-35" dirty="0"/>
              <a:t> </a:t>
            </a:r>
            <a:r>
              <a:rPr dirty="0"/>
              <a:t>of</a:t>
            </a:r>
            <a:r>
              <a:rPr spc="-35" dirty="0"/>
              <a:t> </a:t>
            </a:r>
            <a:r>
              <a:rPr spc="-20" dirty="0"/>
              <a:t>work</a:t>
            </a:r>
          </a:p>
        </p:txBody>
      </p:sp>
      <p:sp>
        <p:nvSpPr>
          <p:cNvPr id="4" name="object 4"/>
          <p:cNvSpPr txBox="1"/>
          <p:nvPr/>
        </p:nvSpPr>
        <p:spPr>
          <a:xfrm>
            <a:off x="309194" y="440907"/>
            <a:ext cx="3988435" cy="1946910"/>
          </a:xfrm>
          <a:prstGeom prst="rect">
            <a:avLst/>
          </a:prstGeom>
        </p:spPr>
        <p:txBody>
          <a:bodyPr vert="horz" wrap="square" lIns="0" tIns="83820" rIns="0" bIns="0" rtlCol="0">
            <a:spAutoFit/>
          </a:bodyPr>
          <a:lstStyle/>
          <a:p>
            <a:pPr marL="50800">
              <a:lnSpc>
                <a:spcPct val="100000"/>
              </a:lnSpc>
              <a:spcBef>
                <a:spcPts val="660"/>
              </a:spcBef>
            </a:pPr>
            <a:r>
              <a:rPr sz="1000" dirty="0">
                <a:solidFill>
                  <a:srgbClr val="3333B2"/>
                </a:solidFill>
                <a:latin typeface="Arial"/>
                <a:cs typeface="Arial"/>
              </a:rPr>
              <a:t>Controlled</a:t>
            </a:r>
            <a:r>
              <a:rPr sz="1000" spc="-55" dirty="0">
                <a:solidFill>
                  <a:srgbClr val="3333B2"/>
                </a:solidFill>
                <a:latin typeface="Arial"/>
                <a:cs typeface="Arial"/>
              </a:rPr>
              <a:t> </a:t>
            </a:r>
            <a:r>
              <a:rPr sz="1000" spc="-20" dirty="0">
                <a:solidFill>
                  <a:srgbClr val="3333B2"/>
                </a:solidFill>
                <a:latin typeface="Arial"/>
                <a:cs typeface="Arial"/>
              </a:rPr>
              <a:t>race</a:t>
            </a:r>
            <a:endParaRPr sz="1000">
              <a:latin typeface="Arial"/>
              <a:cs typeface="Arial"/>
            </a:endParaRPr>
          </a:p>
          <a:p>
            <a:pPr marL="303530" marR="137795" indent="-120650">
              <a:lnSpc>
                <a:spcPct val="111600"/>
              </a:lnSpc>
              <a:spcBef>
                <a:spcPts val="375"/>
              </a:spcBef>
              <a:buClr>
                <a:srgbClr val="3333B2"/>
              </a:buClr>
              <a:buFont typeface="Menlo"/>
              <a:buChar char="•"/>
              <a:tabLst>
                <a:tab pos="300355" algn="l"/>
              </a:tabLst>
            </a:pPr>
            <a:r>
              <a:rPr sz="900" dirty="0">
                <a:latin typeface="Arial"/>
                <a:cs typeface="Arial"/>
              </a:rPr>
              <a:t>Assume</a:t>
            </a:r>
            <a:r>
              <a:rPr sz="900" spc="-35" dirty="0">
                <a:latin typeface="Arial"/>
                <a:cs typeface="Arial"/>
              </a:rPr>
              <a:t> </a:t>
            </a:r>
            <a:r>
              <a:rPr sz="900" dirty="0">
                <a:latin typeface="Arial"/>
                <a:cs typeface="Arial"/>
              </a:rPr>
              <a:t>a</a:t>
            </a:r>
            <a:r>
              <a:rPr sz="900" spc="-20" dirty="0">
                <a:latin typeface="Arial"/>
                <a:cs typeface="Arial"/>
              </a:rPr>
              <a:t> </a:t>
            </a:r>
            <a:r>
              <a:rPr sz="900" dirty="0">
                <a:latin typeface="Arial"/>
                <a:cs typeface="Arial"/>
              </a:rPr>
              <a:t>globally</a:t>
            </a:r>
            <a:r>
              <a:rPr sz="900" spc="-20" dirty="0">
                <a:latin typeface="Arial"/>
                <a:cs typeface="Arial"/>
              </a:rPr>
              <a:t> </a:t>
            </a:r>
            <a:r>
              <a:rPr sz="900" dirty="0">
                <a:latin typeface="Arial"/>
                <a:cs typeface="Arial"/>
              </a:rPr>
              <a:t>known</a:t>
            </a:r>
            <a:r>
              <a:rPr sz="900" spc="-20" dirty="0">
                <a:latin typeface="Arial"/>
                <a:cs typeface="Arial"/>
              </a:rPr>
              <a:t> </a:t>
            </a:r>
            <a:r>
              <a:rPr sz="900" dirty="0">
                <a:latin typeface="Arial"/>
                <a:cs typeface="Arial"/>
              </a:rPr>
              <a:t>secure</a:t>
            </a:r>
            <a:r>
              <a:rPr sz="900" spc="-25" dirty="0">
                <a:latin typeface="Arial"/>
                <a:cs typeface="Arial"/>
              </a:rPr>
              <a:t> </a:t>
            </a:r>
            <a:r>
              <a:rPr sz="900" dirty="0">
                <a:latin typeface="Arial"/>
                <a:cs typeface="Arial"/>
              </a:rPr>
              <a:t>hash</a:t>
            </a:r>
            <a:r>
              <a:rPr sz="900" spc="-20" dirty="0">
                <a:latin typeface="Arial"/>
                <a:cs typeface="Arial"/>
              </a:rPr>
              <a:t> </a:t>
            </a:r>
            <a:r>
              <a:rPr sz="900" dirty="0">
                <a:latin typeface="Arial"/>
                <a:cs typeface="Arial"/>
              </a:rPr>
              <a:t>function</a:t>
            </a:r>
            <a:r>
              <a:rPr sz="900" spc="-20" dirty="0">
                <a:latin typeface="Arial"/>
                <a:cs typeface="Arial"/>
              </a:rPr>
              <a:t> </a:t>
            </a:r>
            <a:r>
              <a:rPr sz="900" i="1" dirty="0">
                <a:latin typeface="Arial"/>
                <a:cs typeface="Arial"/>
              </a:rPr>
              <a:t>H</a:t>
            </a:r>
            <a:r>
              <a:rPr sz="1050" i="1" baseline="27777" dirty="0">
                <a:latin typeface="Menlo"/>
                <a:cs typeface="Menlo"/>
              </a:rPr>
              <a:t>∗</a:t>
            </a:r>
            <a:r>
              <a:rPr sz="900" dirty="0">
                <a:latin typeface="Arial"/>
                <a:cs typeface="Arial"/>
              </a:rPr>
              <a:t>.</a:t>
            </a:r>
            <a:r>
              <a:rPr sz="900" spc="35" dirty="0">
                <a:latin typeface="Arial"/>
                <a:cs typeface="Arial"/>
              </a:rPr>
              <a:t> </a:t>
            </a:r>
            <a:r>
              <a:rPr sz="900" dirty="0">
                <a:latin typeface="Arial"/>
                <a:cs typeface="Arial"/>
              </a:rPr>
              <a:t>Let</a:t>
            </a:r>
            <a:r>
              <a:rPr sz="900" spc="-20" dirty="0">
                <a:latin typeface="Arial"/>
                <a:cs typeface="Arial"/>
              </a:rPr>
              <a:t> </a:t>
            </a:r>
            <a:r>
              <a:rPr sz="900" i="1" dirty="0">
                <a:latin typeface="Arial"/>
                <a:cs typeface="Arial"/>
              </a:rPr>
              <a:t>H</a:t>
            </a:r>
            <a:r>
              <a:rPr sz="1050" i="1" baseline="-15873" dirty="0">
                <a:latin typeface="Arial"/>
                <a:cs typeface="Arial"/>
              </a:rPr>
              <a:t>i</a:t>
            </a:r>
            <a:r>
              <a:rPr sz="1050" i="1" spc="202" baseline="-15873" dirty="0">
                <a:latin typeface="Arial"/>
                <a:cs typeface="Arial"/>
              </a:rPr>
              <a:t> </a:t>
            </a:r>
            <a:r>
              <a:rPr sz="900" dirty="0">
                <a:latin typeface="Arial"/>
                <a:cs typeface="Arial"/>
              </a:rPr>
              <a:t>be</a:t>
            </a:r>
            <a:r>
              <a:rPr sz="900" spc="-20" dirty="0">
                <a:latin typeface="Arial"/>
                <a:cs typeface="Arial"/>
              </a:rPr>
              <a:t> </a:t>
            </a:r>
            <a:r>
              <a:rPr sz="900" dirty="0">
                <a:latin typeface="Arial"/>
                <a:cs typeface="Arial"/>
              </a:rPr>
              <a:t>the</a:t>
            </a:r>
            <a:r>
              <a:rPr sz="900" spc="-20" dirty="0">
                <a:latin typeface="Arial"/>
                <a:cs typeface="Arial"/>
              </a:rPr>
              <a:t> hash </a:t>
            </a:r>
            <a:r>
              <a:rPr sz="900" dirty="0">
                <a:latin typeface="Arial"/>
                <a:cs typeface="Arial"/>
              </a:rPr>
              <a:t>function</a:t>
            </a:r>
            <a:r>
              <a:rPr sz="900" spc="-40" dirty="0">
                <a:latin typeface="Arial"/>
                <a:cs typeface="Arial"/>
              </a:rPr>
              <a:t> </a:t>
            </a:r>
            <a:r>
              <a:rPr sz="900" dirty="0">
                <a:latin typeface="Arial"/>
                <a:cs typeface="Arial"/>
              </a:rPr>
              <a:t>used</a:t>
            </a:r>
            <a:r>
              <a:rPr sz="900" spc="-30" dirty="0">
                <a:latin typeface="Arial"/>
                <a:cs typeface="Arial"/>
              </a:rPr>
              <a:t> </a:t>
            </a:r>
            <a:r>
              <a:rPr sz="900" dirty="0">
                <a:latin typeface="Arial"/>
                <a:cs typeface="Arial"/>
              </a:rPr>
              <a:t>by</a:t>
            </a:r>
            <a:r>
              <a:rPr sz="900" spc="-30" dirty="0">
                <a:latin typeface="Arial"/>
                <a:cs typeface="Arial"/>
              </a:rPr>
              <a:t> </a:t>
            </a:r>
            <a:r>
              <a:rPr sz="900" dirty="0">
                <a:latin typeface="Arial"/>
                <a:cs typeface="Arial"/>
              </a:rPr>
              <a:t>process</a:t>
            </a:r>
            <a:r>
              <a:rPr sz="900" spc="-25" dirty="0">
                <a:latin typeface="Arial"/>
                <a:cs typeface="Arial"/>
              </a:rPr>
              <a:t> </a:t>
            </a:r>
            <a:r>
              <a:rPr sz="900" i="1" spc="-10" dirty="0">
                <a:latin typeface="Arial"/>
                <a:cs typeface="Arial"/>
              </a:rPr>
              <a:t>P</a:t>
            </a:r>
            <a:r>
              <a:rPr sz="1050" i="1" spc="-15" baseline="-15873" dirty="0">
                <a:latin typeface="Arial"/>
                <a:cs typeface="Arial"/>
              </a:rPr>
              <a:t>i</a:t>
            </a:r>
            <a:r>
              <a:rPr sz="1050" i="1" spc="-127" baseline="-15873" dirty="0">
                <a:latin typeface="Arial"/>
                <a:cs typeface="Arial"/>
              </a:rPr>
              <a:t> </a:t>
            </a:r>
            <a:r>
              <a:rPr sz="900" spc="-50" dirty="0">
                <a:latin typeface="Arial"/>
                <a:cs typeface="Arial"/>
              </a:rPr>
              <a:t>.</a:t>
            </a:r>
            <a:endParaRPr sz="900">
              <a:latin typeface="Arial"/>
              <a:cs typeface="Arial"/>
            </a:endParaRPr>
          </a:p>
          <a:p>
            <a:pPr marL="299720" indent="-116839">
              <a:lnSpc>
                <a:spcPct val="100000"/>
              </a:lnSpc>
              <a:spcBef>
                <a:spcPts val="525"/>
              </a:spcBef>
              <a:buClr>
                <a:srgbClr val="3333B2"/>
              </a:buClr>
              <a:buFont typeface="Menlo"/>
              <a:buChar char="•"/>
              <a:tabLst>
                <a:tab pos="300355" algn="l"/>
              </a:tabLst>
            </a:pPr>
            <a:r>
              <a:rPr sz="900" spc="-10" dirty="0">
                <a:latin typeface="Arial"/>
                <a:cs typeface="Arial"/>
              </a:rPr>
              <a:t>Task:</a:t>
            </a:r>
            <a:r>
              <a:rPr sz="900" spc="40" dirty="0">
                <a:latin typeface="Arial"/>
                <a:cs typeface="Arial"/>
              </a:rPr>
              <a:t> </a:t>
            </a:r>
            <a:r>
              <a:rPr sz="900" dirty="0">
                <a:latin typeface="Arial"/>
                <a:cs typeface="Arial"/>
              </a:rPr>
              <a:t>given</a:t>
            </a:r>
            <a:r>
              <a:rPr sz="900" spc="-10" dirty="0">
                <a:latin typeface="Arial"/>
                <a:cs typeface="Arial"/>
              </a:rPr>
              <a:t> </a:t>
            </a:r>
            <a:r>
              <a:rPr sz="900" dirty="0">
                <a:latin typeface="Arial"/>
                <a:cs typeface="Arial"/>
              </a:rPr>
              <a:t>a</a:t>
            </a:r>
            <a:r>
              <a:rPr sz="900" spc="-10" dirty="0">
                <a:latin typeface="Arial"/>
                <a:cs typeface="Arial"/>
              </a:rPr>
              <a:t> </a:t>
            </a:r>
            <a:r>
              <a:rPr sz="900" dirty="0">
                <a:latin typeface="Arial"/>
                <a:cs typeface="Arial"/>
              </a:rPr>
              <a:t>bit</a:t>
            </a:r>
            <a:r>
              <a:rPr sz="900" spc="-10" dirty="0">
                <a:latin typeface="Arial"/>
                <a:cs typeface="Arial"/>
              </a:rPr>
              <a:t> </a:t>
            </a:r>
            <a:r>
              <a:rPr sz="900" dirty="0">
                <a:latin typeface="Arial"/>
                <a:cs typeface="Arial"/>
              </a:rPr>
              <a:t>string</a:t>
            </a:r>
            <a:r>
              <a:rPr sz="900" spc="-10" dirty="0">
                <a:latin typeface="Arial"/>
                <a:cs typeface="Arial"/>
              </a:rPr>
              <a:t> </a:t>
            </a:r>
            <a:r>
              <a:rPr sz="900" i="1" dirty="0">
                <a:latin typeface="Arial"/>
                <a:cs typeface="Arial"/>
              </a:rPr>
              <a:t>h</a:t>
            </a:r>
            <a:r>
              <a:rPr sz="900" i="1" spc="-45" dirty="0">
                <a:latin typeface="Arial"/>
                <a:cs typeface="Arial"/>
              </a:rPr>
              <a:t> </a:t>
            </a:r>
            <a:r>
              <a:rPr sz="900" spc="185" dirty="0">
                <a:latin typeface="Arial"/>
                <a:cs typeface="Arial"/>
              </a:rPr>
              <a:t>=</a:t>
            </a:r>
            <a:r>
              <a:rPr sz="900" spc="-55" dirty="0">
                <a:latin typeface="Arial"/>
                <a:cs typeface="Arial"/>
              </a:rPr>
              <a:t> </a:t>
            </a:r>
            <a:r>
              <a:rPr sz="900" i="1" spc="-10" dirty="0">
                <a:latin typeface="Arial"/>
                <a:cs typeface="Arial"/>
              </a:rPr>
              <a:t>H</a:t>
            </a:r>
            <a:r>
              <a:rPr sz="1050" i="1" spc="-15" baseline="-15873" dirty="0">
                <a:latin typeface="Arial"/>
                <a:cs typeface="Arial"/>
              </a:rPr>
              <a:t>i</a:t>
            </a:r>
            <a:r>
              <a:rPr sz="1050" i="1" spc="-127" baseline="-15873" dirty="0">
                <a:latin typeface="Arial"/>
                <a:cs typeface="Arial"/>
              </a:rPr>
              <a:t> </a:t>
            </a:r>
            <a:r>
              <a:rPr sz="900" dirty="0">
                <a:latin typeface="Arial"/>
                <a:cs typeface="Arial"/>
              </a:rPr>
              <a:t>(</a:t>
            </a:r>
            <a:r>
              <a:rPr sz="900" i="1" dirty="0">
                <a:latin typeface="Arial"/>
                <a:cs typeface="Arial"/>
              </a:rPr>
              <a:t>m</a:t>
            </a:r>
            <a:r>
              <a:rPr sz="900" dirty="0">
                <a:latin typeface="Arial"/>
                <a:cs typeface="Arial"/>
              </a:rPr>
              <a:t>),</a:t>
            </a:r>
            <a:r>
              <a:rPr sz="900" spc="-10" dirty="0">
                <a:latin typeface="Arial"/>
                <a:cs typeface="Arial"/>
              </a:rPr>
              <a:t> </a:t>
            </a:r>
            <a:r>
              <a:rPr sz="900" dirty="0">
                <a:latin typeface="Arial"/>
                <a:cs typeface="Arial"/>
              </a:rPr>
              <a:t>find</a:t>
            </a:r>
            <a:r>
              <a:rPr sz="900" spc="-10" dirty="0">
                <a:latin typeface="Arial"/>
                <a:cs typeface="Arial"/>
              </a:rPr>
              <a:t> </a:t>
            </a:r>
            <a:r>
              <a:rPr sz="900" dirty="0">
                <a:latin typeface="Arial"/>
                <a:cs typeface="Arial"/>
              </a:rPr>
              <a:t>a</a:t>
            </a:r>
            <a:r>
              <a:rPr sz="900" spc="-10" dirty="0">
                <a:latin typeface="Arial"/>
                <a:cs typeface="Arial"/>
              </a:rPr>
              <a:t> </a:t>
            </a:r>
            <a:r>
              <a:rPr sz="900" dirty="0">
                <a:latin typeface="Arial"/>
                <a:cs typeface="Arial"/>
              </a:rPr>
              <a:t>bit</a:t>
            </a:r>
            <a:r>
              <a:rPr sz="900" spc="-10" dirty="0">
                <a:latin typeface="Arial"/>
                <a:cs typeface="Arial"/>
              </a:rPr>
              <a:t> </a:t>
            </a:r>
            <a:r>
              <a:rPr sz="900" dirty="0">
                <a:latin typeface="Arial"/>
                <a:cs typeface="Arial"/>
              </a:rPr>
              <a:t>string</a:t>
            </a:r>
            <a:r>
              <a:rPr sz="900" spc="-10" dirty="0">
                <a:latin typeface="Arial"/>
                <a:cs typeface="Arial"/>
              </a:rPr>
              <a:t> </a:t>
            </a:r>
            <a:r>
              <a:rPr sz="900" i="1" spc="-170" dirty="0">
                <a:latin typeface="Arial"/>
                <a:cs typeface="Arial"/>
              </a:rPr>
              <a:t>h</a:t>
            </a:r>
            <a:r>
              <a:rPr sz="1350" spc="-254" baseline="15432" dirty="0">
                <a:latin typeface="Arial"/>
                <a:cs typeface="Arial"/>
              </a:rPr>
              <a:t>˜</a:t>
            </a:r>
            <a:r>
              <a:rPr sz="1350" spc="37" baseline="15432" dirty="0">
                <a:latin typeface="Arial"/>
                <a:cs typeface="Arial"/>
              </a:rPr>
              <a:t> </a:t>
            </a:r>
            <a:r>
              <a:rPr sz="900" dirty="0">
                <a:latin typeface="Arial"/>
                <a:cs typeface="Arial"/>
              </a:rPr>
              <a:t>such</a:t>
            </a:r>
            <a:r>
              <a:rPr sz="900" spc="-10" dirty="0">
                <a:latin typeface="Arial"/>
                <a:cs typeface="Arial"/>
              </a:rPr>
              <a:t> </a:t>
            </a:r>
            <a:r>
              <a:rPr sz="900" spc="-20" dirty="0">
                <a:latin typeface="Arial"/>
                <a:cs typeface="Arial"/>
              </a:rPr>
              <a:t>that</a:t>
            </a:r>
            <a:endParaRPr sz="900">
              <a:latin typeface="Arial"/>
              <a:cs typeface="Arial"/>
            </a:endParaRPr>
          </a:p>
          <a:p>
            <a:pPr marL="303530">
              <a:lnSpc>
                <a:spcPct val="100000"/>
              </a:lnSpc>
              <a:spcBef>
                <a:spcPts val="125"/>
              </a:spcBef>
            </a:pPr>
            <a:r>
              <a:rPr sz="900" i="1" spc="-45" dirty="0">
                <a:latin typeface="Arial"/>
                <a:cs typeface="Arial"/>
              </a:rPr>
              <a:t>h</a:t>
            </a:r>
            <a:r>
              <a:rPr sz="1050" i="1" spc="-67" baseline="27777" dirty="0">
                <a:latin typeface="Menlo"/>
                <a:cs typeface="Menlo"/>
              </a:rPr>
              <a:t>∗</a:t>
            </a:r>
            <a:r>
              <a:rPr sz="1050" i="1" spc="-217" baseline="27777" dirty="0">
                <a:latin typeface="Menlo"/>
                <a:cs typeface="Menlo"/>
              </a:rPr>
              <a:t> </a:t>
            </a:r>
            <a:r>
              <a:rPr sz="900" spc="185" dirty="0">
                <a:latin typeface="Arial"/>
                <a:cs typeface="Arial"/>
              </a:rPr>
              <a:t>=</a:t>
            </a:r>
            <a:r>
              <a:rPr sz="900" spc="-25" dirty="0">
                <a:latin typeface="Arial"/>
                <a:cs typeface="Arial"/>
              </a:rPr>
              <a:t> </a:t>
            </a:r>
            <a:r>
              <a:rPr sz="900" i="1" dirty="0">
                <a:latin typeface="Arial"/>
                <a:cs typeface="Arial"/>
              </a:rPr>
              <a:t>H</a:t>
            </a:r>
            <a:r>
              <a:rPr sz="1050" i="1" baseline="27777" dirty="0">
                <a:latin typeface="Menlo"/>
                <a:cs typeface="Menlo"/>
              </a:rPr>
              <a:t>∗</a:t>
            </a:r>
            <a:r>
              <a:rPr sz="900" dirty="0">
                <a:latin typeface="Arial"/>
                <a:cs typeface="Arial"/>
              </a:rPr>
              <a:t>(</a:t>
            </a:r>
            <a:r>
              <a:rPr sz="900" i="1" dirty="0">
                <a:latin typeface="Arial"/>
                <a:cs typeface="Arial"/>
              </a:rPr>
              <a:t>H</a:t>
            </a:r>
            <a:r>
              <a:rPr sz="1050" i="1" baseline="-15873" dirty="0">
                <a:latin typeface="Arial"/>
                <a:cs typeface="Arial"/>
              </a:rPr>
              <a:t>i</a:t>
            </a:r>
            <a:r>
              <a:rPr sz="1050" i="1" spc="-104" baseline="-15873" dirty="0">
                <a:latin typeface="Arial"/>
                <a:cs typeface="Arial"/>
              </a:rPr>
              <a:t> </a:t>
            </a:r>
            <a:r>
              <a:rPr sz="900" spc="-95" dirty="0">
                <a:latin typeface="Arial"/>
                <a:cs typeface="Arial"/>
              </a:rPr>
              <a:t>(</a:t>
            </a:r>
            <a:r>
              <a:rPr sz="900" i="1" spc="-95" dirty="0">
                <a:latin typeface="Arial"/>
                <a:cs typeface="Arial"/>
              </a:rPr>
              <a:t>h</a:t>
            </a:r>
            <a:r>
              <a:rPr sz="1350" spc="-142" baseline="15432" dirty="0">
                <a:latin typeface="Arial"/>
                <a:cs typeface="Arial"/>
              </a:rPr>
              <a:t>˜</a:t>
            </a:r>
            <a:r>
              <a:rPr sz="1350" spc="-120" baseline="15432" dirty="0">
                <a:latin typeface="Arial"/>
                <a:cs typeface="Arial"/>
              </a:rPr>
              <a:t> </a:t>
            </a:r>
            <a:r>
              <a:rPr sz="900" i="1" spc="95" dirty="0">
                <a:latin typeface="Menlo"/>
                <a:cs typeface="Menlo"/>
              </a:rPr>
              <a:t>⊙</a:t>
            </a:r>
            <a:r>
              <a:rPr sz="900" i="1" spc="95" dirty="0">
                <a:latin typeface="Arial"/>
                <a:cs typeface="Arial"/>
              </a:rPr>
              <a:t>h</a:t>
            </a:r>
            <a:r>
              <a:rPr sz="900" spc="95" dirty="0">
                <a:latin typeface="Arial"/>
                <a:cs typeface="Arial"/>
              </a:rPr>
              <a:t>))</a:t>
            </a:r>
            <a:r>
              <a:rPr sz="900" spc="30" dirty="0">
                <a:latin typeface="Arial"/>
                <a:cs typeface="Arial"/>
              </a:rPr>
              <a:t> </a:t>
            </a:r>
            <a:r>
              <a:rPr sz="900" spc="-10" dirty="0">
                <a:latin typeface="Arial"/>
                <a:cs typeface="Arial"/>
              </a:rPr>
              <a:t>where:</a:t>
            </a:r>
            <a:endParaRPr sz="900">
              <a:latin typeface="Arial"/>
              <a:cs typeface="Arial"/>
            </a:endParaRPr>
          </a:p>
          <a:p>
            <a:pPr marL="556895" lvl="1" indent="-121285">
              <a:lnSpc>
                <a:spcPct val="100000"/>
              </a:lnSpc>
              <a:spcBef>
                <a:spcPts val="525"/>
              </a:spcBef>
              <a:buClr>
                <a:srgbClr val="3333B2"/>
              </a:buClr>
              <a:buFont typeface="Menlo"/>
              <a:buChar char="•"/>
              <a:tabLst>
                <a:tab pos="557530" algn="l"/>
              </a:tabLst>
            </a:pPr>
            <a:r>
              <a:rPr sz="900" i="1" spc="-45" dirty="0">
                <a:latin typeface="Arial"/>
                <a:cs typeface="Arial"/>
              </a:rPr>
              <a:t>h</a:t>
            </a:r>
            <a:r>
              <a:rPr sz="1050" i="1" spc="-67" baseline="27777" dirty="0">
                <a:latin typeface="Menlo"/>
                <a:cs typeface="Menlo"/>
              </a:rPr>
              <a:t>∗</a:t>
            </a:r>
            <a:r>
              <a:rPr sz="1050" i="1" spc="-187" baseline="27777" dirty="0">
                <a:latin typeface="Menlo"/>
                <a:cs typeface="Menlo"/>
              </a:rPr>
              <a:t> </a:t>
            </a:r>
            <a:r>
              <a:rPr sz="900" dirty="0">
                <a:latin typeface="Arial"/>
                <a:cs typeface="Arial"/>
              </a:rPr>
              <a:t>is</a:t>
            </a:r>
            <a:r>
              <a:rPr sz="900" spc="-25" dirty="0">
                <a:latin typeface="Arial"/>
                <a:cs typeface="Arial"/>
              </a:rPr>
              <a:t> </a:t>
            </a:r>
            <a:r>
              <a:rPr sz="900" dirty="0">
                <a:latin typeface="Arial"/>
                <a:cs typeface="Arial"/>
              </a:rPr>
              <a:t>a</a:t>
            </a:r>
            <a:r>
              <a:rPr sz="900" spc="-10" dirty="0">
                <a:latin typeface="Arial"/>
                <a:cs typeface="Arial"/>
              </a:rPr>
              <a:t> </a:t>
            </a:r>
            <a:r>
              <a:rPr sz="900" dirty="0">
                <a:latin typeface="Arial"/>
                <a:cs typeface="Arial"/>
              </a:rPr>
              <a:t>bit</a:t>
            </a:r>
            <a:r>
              <a:rPr sz="900" spc="-15" dirty="0">
                <a:latin typeface="Arial"/>
                <a:cs typeface="Arial"/>
              </a:rPr>
              <a:t> </a:t>
            </a:r>
            <a:r>
              <a:rPr sz="900" dirty="0">
                <a:latin typeface="Arial"/>
                <a:cs typeface="Arial"/>
              </a:rPr>
              <a:t>string</a:t>
            </a:r>
            <a:r>
              <a:rPr sz="900" spc="-10" dirty="0">
                <a:latin typeface="Arial"/>
                <a:cs typeface="Arial"/>
              </a:rPr>
              <a:t> </a:t>
            </a:r>
            <a:r>
              <a:rPr sz="900" dirty="0">
                <a:latin typeface="Arial"/>
                <a:cs typeface="Arial"/>
              </a:rPr>
              <a:t>with</a:t>
            </a:r>
            <a:r>
              <a:rPr sz="900" spc="-15" dirty="0">
                <a:latin typeface="Arial"/>
                <a:cs typeface="Arial"/>
              </a:rPr>
              <a:t> </a:t>
            </a:r>
            <a:r>
              <a:rPr sz="900" i="1" dirty="0">
                <a:latin typeface="Arial"/>
                <a:cs typeface="Arial"/>
              </a:rPr>
              <a:t>K</a:t>
            </a:r>
            <a:r>
              <a:rPr sz="900" i="1" spc="114" dirty="0">
                <a:latin typeface="Arial"/>
                <a:cs typeface="Arial"/>
              </a:rPr>
              <a:t> </a:t>
            </a:r>
            <a:r>
              <a:rPr sz="900" dirty="0">
                <a:latin typeface="Arial"/>
                <a:cs typeface="Arial"/>
              </a:rPr>
              <a:t>leading</a:t>
            </a:r>
            <a:r>
              <a:rPr sz="900" spc="-10" dirty="0">
                <a:latin typeface="Arial"/>
                <a:cs typeface="Arial"/>
              </a:rPr>
              <a:t> zeroes</a:t>
            </a:r>
            <a:endParaRPr sz="900">
              <a:latin typeface="Arial"/>
              <a:cs typeface="Arial"/>
            </a:endParaRPr>
          </a:p>
          <a:p>
            <a:pPr marL="556895" lvl="1" indent="-121285">
              <a:lnSpc>
                <a:spcPct val="100000"/>
              </a:lnSpc>
              <a:spcBef>
                <a:spcPts val="125"/>
              </a:spcBef>
              <a:buClr>
                <a:srgbClr val="3333B2"/>
              </a:buClr>
              <a:buFont typeface="Menlo"/>
              <a:buChar char="•"/>
              <a:tabLst>
                <a:tab pos="557530" algn="l"/>
              </a:tabLst>
            </a:pPr>
            <a:r>
              <a:rPr sz="900" i="1" spc="-170" dirty="0">
                <a:latin typeface="Arial"/>
                <a:cs typeface="Arial"/>
              </a:rPr>
              <a:t>h</a:t>
            </a:r>
            <a:r>
              <a:rPr sz="1350" spc="-254" baseline="15432" dirty="0">
                <a:latin typeface="Arial"/>
                <a:cs typeface="Arial"/>
              </a:rPr>
              <a:t>˜</a:t>
            </a:r>
            <a:r>
              <a:rPr sz="1350" spc="-150" baseline="15432" dirty="0">
                <a:latin typeface="Arial"/>
                <a:cs typeface="Arial"/>
              </a:rPr>
              <a:t> </a:t>
            </a:r>
            <a:r>
              <a:rPr sz="900" i="1" spc="130" dirty="0">
                <a:latin typeface="Menlo"/>
                <a:cs typeface="Menlo"/>
              </a:rPr>
              <a:t>⊙</a:t>
            </a:r>
            <a:r>
              <a:rPr sz="900" i="1" spc="130" dirty="0">
                <a:latin typeface="Arial"/>
                <a:cs typeface="Arial"/>
              </a:rPr>
              <a:t>h</a:t>
            </a:r>
            <a:r>
              <a:rPr sz="900" i="1" spc="-35" dirty="0">
                <a:latin typeface="Arial"/>
                <a:cs typeface="Arial"/>
              </a:rPr>
              <a:t> </a:t>
            </a:r>
            <a:r>
              <a:rPr sz="900" dirty="0">
                <a:latin typeface="Arial"/>
                <a:cs typeface="Arial"/>
              </a:rPr>
              <a:t>denotes</a:t>
            </a:r>
            <a:r>
              <a:rPr sz="900" spc="-20" dirty="0">
                <a:latin typeface="Arial"/>
                <a:cs typeface="Arial"/>
              </a:rPr>
              <a:t> </a:t>
            </a:r>
            <a:r>
              <a:rPr sz="900" dirty="0">
                <a:latin typeface="Arial"/>
                <a:cs typeface="Arial"/>
              </a:rPr>
              <a:t>some</a:t>
            </a:r>
            <a:r>
              <a:rPr sz="900" spc="-20" dirty="0">
                <a:latin typeface="Arial"/>
                <a:cs typeface="Arial"/>
              </a:rPr>
              <a:t> </a:t>
            </a:r>
            <a:r>
              <a:rPr sz="900" dirty="0">
                <a:latin typeface="Arial"/>
                <a:cs typeface="Arial"/>
              </a:rPr>
              <a:t>predetermined</a:t>
            </a:r>
            <a:r>
              <a:rPr sz="900" spc="-20" dirty="0">
                <a:latin typeface="Arial"/>
                <a:cs typeface="Arial"/>
              </a:rPr>
              <a:t> </a:t>
            </a:r>
            <a:r>
              <a:rPr sz="900" dirty="0">
                <a:latin typeface="Arial"/>
                <a:cs typeface="Arial"/>
              </a:rPr>
              <a:t>bitwise</a:t>
            </a:r>
            <a:r>
              <a:rPr sz="900" spc="-20" dirty="0">
                <a:latin typeface="Arial"/>
                <a:cs typeface="Arial"/>
              </a:rPr>
              <a:t> </a:t>
            </a:r>
            <a:r>
              <a:rPr sz="900" dirty="0">
                <a:latin typeface="Arial"/>
                <a:cs typeface="Arial"/>
              </a:rPr>
              <a:t>operation</a:t>
            </a:r>
            <a:r>
              <a:rPr sz="900" spc="-20" dirty="0">
                <a:latin typeface="Arial"/>
                <a:cs typeface="Arial"/>
              </a:rPr>
              <a:t> </a:t>
            </a:r>
            <a:r>
              <a:rPr sz="900" dirty="0">
                <a:latin typeface="Arial"/>
                <a:cs typeface="Arial"/>
              </a:rPr>
              <a:t>on</a:t>
            </a:r>
            <a:r>
              <a:rPr sz="900" spc="-20" dirty="0">
                <a:latin typeface="Arial"/>
                <a:cs typeface="Arial"/>
              </a:rPr>
              <a:t> </a:t>
            </a:r>
            <a:r>
              <a:rPr sz="900" i="1" spc="-170" dirty="0">
                <a:latin typeface="Arial"/>
                <a:cs typeface="Arial"/>
              </a:rPr>
              <a:t>h</a:t>
            </a:r>
            <a:r>
              <a:rPr sz="1350" spc="-254" baseline="15432" dirty="0">
                <a:latin typeface="Arial"/>
                <a:cs typeface="Arial"/>
              </a:rPr>
              <a:t>˜</a:t>
            </a:r>
            <a:r>
              <a:rPr sz="1350" spc="37" baseline="15432" dirty="0">
                <a:latin typeface="Arial"/>
                <a:cs typeface="Arial"/>
              </a:rPr>
              <a:t> </a:t>
            </a:r>
            <a:r>
              <a:rPr sz="900" dirty="0">
                <a:latin typeface="Arial"/>
                <a:cs typeface="Arial"/>
              </a:rPr>
              <a:t>and</a:t>
            </a:r>
            <a:r>
              <a:rPr sz="900" spc="-20" dirty="0">
                <a:latin typeface="Arial"/>
                <a:cs typeface="Arial"/>
              </a:rPr>
              <a:t> </a:t>
            </a:r>
            <a:r>
              <a:rPr sz="900" i="1" spc="-50" dirty="0">
                <a:latin typeface="Arial"/>
                <a:cs typeface="Arial"/>
              </a:rPr>
              <a:t>h</a:t>
            </a:r>
            <a:endParaRPr sz="900">
              <a:latin typeface="Arial"/>
              <a:cs typeface="Arial"/>
            </a:endParaRPr>
          </a:p>
          <a:p>
            <a:pPr>
              <a:lnSpc>
                <a:spcPct val="100000"/>
              </a:lnSpc>
              <a:spcBef>
                <a:spcPts val="45"/>
              </a:spcBef>
            </a:pPr>
            <a:endParaRPr sz="1150">
              <a:latin typeface="Arial"/>
              <a:cs typeface="Arial"/>
            </a:endParaRPr>
          </a:p>
          <a:p>
            <a:pPr marL="50800">
              <a:lnSpc>
                <a:spcPct val="100000"/>
              </a:lnSpc>
              <a:spcBef>
                <a:spcPts val="5"/>
              </a:spcBef>
            </a:pPr>
            <a:r>
              <a:rPr sz="1000" spc="-10" dirty="0">
                <a:solidFill>
                  <a:srgbClr val="C80000"/>
                </a:solidFill>
                <a:latin typeface="Arial"/>
                <a:cs typeface="Arial"/>
              </a:rPr>
              <a:t>Observation</a:t>
            </a:r>
            <a:endParaRPr sz="1000">
              <a:latin typeface="Arial"/>
              <a:cs typeface="Arial"/>
            </a:endParaRPr>
          </a:p>
          <a:p>
            <a:pPr marL="50800" marR="43180">
              <a:lnSpc>
                <a:spcPts val="1210"/>
              </a:lnSpc>
              <a:spcBef>
                <a:spcPts val="35"/>
              </a:spcBef>
            </a:pPr>
            <a:r>
              <a:rPr sz="900" dirty="0">
                <a:latin typeface="Arial"/>
                <a:cs typeface="Arial"/>
              </a:rPr>
              <a:t>By</a:t>
            </a:r>
            <a:r>
              <a:rPr sz="900" spc="-25" dirty="0">
                <a:latin typeface="Arial"/>
                <a:cs typeface="Arial"/>
              </a:rPr>
              <a:t> </a:t>
            </a:r>
            <a:r>
              <a:rPr sz="900" spc="-10" dirty="0">
                <a:latin typeface="Arial"/>
                <a:cs typeface="Arial"/>
              </a:rPr>
              <a:t>controlling</a:t>
            </a:r>
            <a:r>
              <a:rPr sz="900" spc="-15" dirty="0">
                <a:latin typeface="Arial"/>
                <a:cs typeface="Arial"/>
              </a:rPr>
              <a:t> </a:t>
            </a:r>
            <a:r>
              <a:rPr sz="900" i="1" spc="-20" dirty="0">
                <a:latin typeface="Arial"/>
                <a:cs typeface="Arial"/>
              </a:rPr>
              <a:t>K</a:t>
            </a:r>
            <a:r>
              <a:rPr sz="900" i="1" spc="-125" dirty="0">
                <a:latin typeface="Arial"/>
                <a:cs typeface="Arial"/>
              </a:rPr>
              <a:t> </a:t>
            </a:r>
            <a:r>
              <a:rPr sz="900" dirty="0">
                <a:latin typeface="Arial"/>
                <a:cs typeface="Arial"/>
              </a:rPr>
              <a:t>,</a:t>
            </a:r>
            <a:r>
              <a:rPr sz="900" spc="-15" dirty="0">
                <a:latin typeface="Arial"/>
                <a:cs typeface="Arial"/>
              </a:rPr>
              <a:t> </a:t>
            </a:r>
            <a:r>
              <a:rPr sz="900" dirty="0">
                <a:latin typeface="Arial"/>
                <a:cs typeface="Arial"/>
              </a:rPr>
              <a:t>we</a:t>
            </a:r>
            <a:r>
              <a:rPr sz="900" spc="-15" dirty="0">
                <a:latin typeface="Arial"/>
                <a:cs typeface="Arial"/>
              </a:rPr>
              <a:t> </a:t>
            </a:r>
            <a:r>
              <a:rPr sz="900" dirty="0">
                <a:latin typeface="Arial"/>
                <a:cs typeface="Arial"/>
              </a:rPr>
              <a:t>control</a:t>
            </a:r>
            <a:r>
              <a:rPr sz="900" spc="-15" dirty="0">
                <a:latin typeface="Arial"/>
                <a:cs typeface="Arial"/>
              </a:rPr>
              <a:t> </a:t>
            </a:r>
            <a:r>
              <a:rPr sz="900" dirty="0">
                <a:latin typeface="Arial"/>
                <a:cs typeface="Arial"/>
              </a:rPr>
              <a:t>the</a:t>
            </a:r>
            <a:r>
              <a:rPr sz="900" spc="-15" dirty="0">
                <a:latin typeface="Arial"/>
                <a:cs typeface="Arial"/>
              </a:rPr>
              <a:t> </a:t>
            </a:r>
            <a:r>
              <a:rPr sz="900" spc="-10" dirty="0">
                <a:latin typeface="Arial"/>
                <a:cs typeface="Arial"/>
              </a:rPr>
              <a:t>difficulty</a:t>
            </a:r>
            <a:r>
              <a:rPr sz="900" spc="-15" dirty="0">
                <a:latin typeface="Arial"/>
                <a:cs typeface="Arial"/>
              </a:rPr>
              <a:t> </a:t>
            </a:r>
            <a:r>
              <a:rPr sz="900" dirty="0">
                <a:latin typeface="Arial"/>
                <a:cs typeface="Arial"/>
              </a:rPr>
              <a:t>of</a:t>
            </a:r>
            <a:r>
              <a:rPr sz="900" spc="-15" dirty="0">
                <a:latin typeface="Arial"/>
                <a:cs typeface="Arial"/>
              </a:rPr>
              <a:t> </a:t>
            </a:r>
            <a:r>
              <a:rPr sz="900" dirty="0">
                <a:latin typeface="Arial"/>
                <a:cs typeface="Arial"/>
              </a:rPr>
              <a:t>finding</a:t>
            </a:r>
            <a:r>
              <a:rPr sz="900" spc="-15" dirty="0">
                <a:latin typeface="Arial"/>
                <a:cs typeface="Arial"/>
              </a:rPr>
              <a:t> </a:t>
            </a:r>
            <a:r>
              <a:rPr sz="900" i="1" spc="-430" dirty="0">
                <a:latin typeface="Arial"/>
                <a:cs typeface="Arial"/>
              </a:rPr>
              <a:t>h</a:t>
            </a:r>
            <a:r>
              <a:rPr sz="1350" spc="112" baseline="15432" dirty="0">
                <a:latin typeface="Arial"/>
                <a:cs typeface="Arial"/>
              </a:rPr>
              <a:t>˜</a:t>
            </a:r>
            <a:r>
              <a:rPr sz="900" spc="50" dirty="0">
                <a:latin typeface="Arial"/>
                <a:cs typeface="Arial"/>
              </a:rPr>
              <a:t>.</a:t>
            </a:r>
            <a:r>
              <a:rPr sz="900" spc="45" dirty="0">
                <a:latin typeface="Arial"/>
                <a:cs typeface="Arial"/>
              </a:rPr>
              <a:t> </a:t>
            </a:r>
            <a:r>
              <a:rPr sz="900" dirty="0">
                <a:latin typeface="Arial"/>
                <a:cs typeface="Arial"/>
              </a:rPr>
              <a:t>If</a:t>
            </a:r>
            <a:r>
              <a:rPr sz="900" spc="-15" dirty="0">
                <a:latin typeface="Arial"/>
                <a:cs typeface="Arial"/>
              </a:rPr>
              <a:t> </a:t>
            </a:r>
            <a:r>
              <a:rPr sz="900" i="1" dirty="0">
                <a:latin typeface="Arial"/>
                <a:cs typeface="Arial"/>
              </a:rPr>
              <a:t>p</a:t>
            </a:r>
            <a:r>
              <a:rPr sz="900" i="1" spc="5" dirty="0">
                <a:latin typeface="Arial"/>
                <a:cs typeface="Arial"/>
              </a:rPr>
              <a:t> </a:t>
            </a:r>
            <a:r>
              <a:rPr sz="900" dirty="0">
                <a:latin typeface="Arial"/>
                <a:cs typeface="Arial"/>
              </a:rPr>
              <a:t>is</a:t>
            </a:r>
            <a:r>
              <a:rPr sz="900" spc="-15" dirty="0">
                <a:latin typeface="Arial"/>
                <a:cs typeface="Arial"/>
              </a:rPr>
              <a:t> </a:t>
            </a:r>
            <a:r>
              <a:rPr sz="900" dirty="0">
                <a:latin typeface="Arial"/>
                <a:cs typeface="Arial"/>
              </a:rPr>
              <a:t>the</a:t>
            </a:r>
            <a:r>
              <a:rPr sz="900" spc="-15" dirty="0">
                <a:latin typeface="Arial"/>
                <a:cs typeface="Arial"/>
              </a:rPr>
              <a:t> </a:t>
            </a:r>
            <a:r>
              <a:rPr sz="900" spc="-10" dirty="0">
                <a:latin typeface="Arial"/>
                <a:cs typeface="Arial"/>
              </a:rPr>
              <a:t>probability</a:t>
            </a:r>
            <a:r>
              <a:rPr sz="900" spc="-15" dirty="0">
                <a:latin typeface="Arial"/>
                <a:cs typeface="Arial"/>
              </a:rPr>
              <a:t> </a:t>
            </a:r>
            <a:r>
              <a:rPr sz="900" spc="-20" dirty="0">
                <a:latin typeface="Arial"/>
                <a:cs typeface="Arial"/>
              </a:rPr>
              <a:t>that </a:t>
            </a:r>
            <a:r>
              <a:rPr sz="900" dirty="0">
                <a:latin typeface="Arial"/>
                <a:cs typeface="Arial"/>
              </a:rPr>
              <a:t>a random guess</a:t>
            </a:r>
            <a:r>
              <a:rPr sz="900" spc="5" dirty="0">
                <a:latin typeface="Arial"/>
                <a:cs typeface="Arial"/>
              </a:rPr>
              <a:t> </a:t>
            </a:r>
            <a:r>
              <a:rPr sz="900" dirty="0">
                <a:latin typeface="Arial"/>
                <a:cs typeface="Arial"/>
              </a:rPr>
              <a:t>for </a:t>
            </a:r>
            <a:r>
              <a:rPr sz="900" i="1" spc="-170" dirty="0">
                <a:latin typeface="Arial"/>
                <a:cs typeface="Arial"/>
              </a:rPr>
              <a:t>h</a:t>
            </a:r>
            <a:r>
              <a:rPr sz="1350" spc="-254" baseline="15432" dirty="0">
                <a:latin typeface="Arial"/>
                <a:cs typeface="Arial"/>
              </a:rPr>
              <a:t>˜</a:t>
            </a:r>
            <a:r>
              <a:rPr sz="1350" spc="52" baseline="15432" dirty="0">
                <a:latin typeface="Arial"/>
                <a:cs typeface="Arial"/>
              </a:rPr>
              <a:t> </a:t>
            </a:r>
            <a:r>
              <a:rPr sz="900" dirty="0">
                <a:latin typeface="Arial"/>
                <a:cs typeface="Arial"/>
              </a:rPr>
              <a:t>will suffice:</a:t>
            </a:r>
            <a:r>
              <a:rPr sz="900" spc="65" dirty="0">
                <a:latin typeface="Arial"/>
                <a:cs typeface="Arial"/>
              </a:rPr>
              <a:t> </a:t>
            </a:r>
            <a:r>
              <a:rPr sz="900" i="1" dirty="0">
                <a:latin typeface="Arial"/>
                <a:cs typeface="Arial"/>
              </a:rPr>
              <a:t>p</a:t>
            </a:r>
            <a:r>
              <a:rPr sz="900" i="1" spc="-25" dirty="0">
                <a:latin typeface="Arial"/>
                <a:cs typeface="Arial"/>
              </a:rPr>
              <a:t> </a:t>
            </a:r>
            <a:r>
              <a:rPr sz="900" spc="185" dirty="0">
                <a:latin typeface="Arial"/>
                <a:cs typeface="Arial"/>
              </a:rPr>
              <a:t>=</a:t>
            </a:r>
            <a:r>
              <a:rPr sz="900" spc="-50" dirty="0">
                <a:latin typeface="Arial"/>
                <a:cs typeface="Arial"/>
              </a:rPr>
              <a:t> </a:t>
            </a:r>
            <a:r>
              <a:rPr sz="900" dirty="0">
                <a:latin typeface="Arial"/>
                <a:cs typeface="Arial"/>
              </a:rPr>
              <a:t>(1</a:t>
            </a:r>
            <a:r>
              <a:rPr sz="900" i="1" dirty="0">
                <a:latin typeface="STIX Two Text"/>
                <a:cs typeface="STIX Two Text"/>
              </a:rPr>
              <a:t>/</a:t>
            </a:r>
            <a:r>
              <a:rPr sz="900" dirty="0">
                <a:latin typeface="Arial"/>
                <a:cs typeface="Arial"/>
              </a:rPr>
              <a:t>2)</a:t>
            </a:r>
            <a:r>
              <a:rPr sz="1050" i="1" baseline="27777" dirty="0">
                <a:latin typeface="Arial"/>
                <a:cs typeface="Arial"/>
              </a:rPr>
              <a:t>K</a:t>
            </a:r>
            <a:r>
              <a:rPr sz="1050" i="1" spc="-67" baseline="27777" dirty="0">
                <a:latin typeface="Arial"/>
                <a:cs typeface="Arial"/>
              </a:rPr>
              <a:t> </a:t>
            </a:r>
            <a:r>
              <a:rPr sz="900" spc="-50" dirty="0">
                <a:latin typeface="Arial"/>
                <a:cs typeface="Arial"/>
              </a:rPr>
              <a:t>.</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92583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Elections</a:t>
            </a:r>
            <a:r>
              <a:rPr sz="500" spc="-5" dirty="0">
                <a:latin typeface="Arial"/>
                <a:cs typeface="Arial"/>
                <a:hlinkClick r:id="rId4" action="ppaction://hlinksldjump"/>
              </a:rPr>
              <a:t> </a:t>
            </a:r>
            <a:r>
              <a:rPr sz="500" dirty="0">
                <a:latin typeface="Arial"/>
                <a:cs typeface="Arial"/>
                <a:hlinkClick r:id="rId4" action="ppaction://hlinksldjump"/>
              </a:rPr>
              <a:t>in </a:t>
            </a:r>
            <a:r>
              <a:rPr sz="500" spc="-10" dirty="0">
                <a:latin typeface="Arial"/>
                <a:cs typeface="Arial"/>
                <a:hlinkClick r:id="rId4" action="ppaction://hlinksldjump"/>
              </a:rPr>
              <a:t>large-</a:t>
            </a:r>
            <a:r>
              <a:rPr sz="500" dirty="0">
                <a:latin typeface="Arial"/>
                <a:cs typeface="Arial"/>
                <a:hlinkClick r:id="rId4" action="ppaction://hlinksldjump"/>
              </a:rPr>
              <a:t>scale </a:t>
            </a:r>
            <a:r>
              <a:rPr sz="500" spc="-10" dirty="0">
                <a:latin typeface="Arial"/>
                <a:cs typeface="Arial"/>
                <a:hlinkClick r:id="rId4" action="ppaction://hlinksldjump"/>
              </a:rPr>
              <a:t>systems</a:t>
            </a:r>
            <a:endParaRPr sz="500">
              <a:latin typeface="Arial"/>
              <a:cs typeface="Arial"/>
            </a:endParaRPr>
          </a:p>
        </p:txBody>
      </p:sp>
    </p:spTree>
  </p:cSld>
  <p:clrMapOvr>
    <a:masterClrMapping/>
  </p:clrMapOvr>
  <p:transition>
    <p:fad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952875" algn="l"/>
              </a:tabLst>
            </a:pPr>
            <a:r>
              <a:rPr sz="500" spc="-10" dirty="0">
                <a:latin typeface="Arial"/>
                <a:cs typeface="Arial"/>
                <a:hlinkClick r:id="rId2" action="ppaction://hlinksldjump"/>
              </a:rPr>
              <a:t>Coordination</a:t>
            </a:r>
            <a:r>
              <a:rPr sz="500" dirty="0">
                <a:latin typeface="Arial"/>
                <a:cs typeface="Arial"/>
              </a:rPr>
              <a:t>	</a:t>
            </a:r>
            <a:r>
              <a:rPr sz="500" dirty="0">
                <a:solidFill>
                  <a:srgbClr val="FFFFFF"/>
                </a:solidFill>
                <a:latin typeface="Arial"/>
                <a:cs typeface="Arial"/>
                <a:hlinkClick r:id="rId3" action="ppaction://hlinksldjump"/>
              </a:rPr>
              <a:t>Election</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algorithms</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Elections</a:t>
            </a:r>
            <a:r>
              <a:rPr spc="-40" dirty="0"/>
              <a:t> </a:t>
            </a:r>
            <a:r>
              <a:rPr dirty="0"/>
              <a:t>by</a:t>
            </a:r>
            <a:r>
              <a:rPr spc="-35" dirty="0"/>
              <a:t> </a:t>
            </a:r>
            <a:r>
              <a:rPr dirty="0"/>
              <a:t>proof</a:t>
            </a:r>
            <a:r>
              <a:rPr spc="-35" dirty="0"/>
              <a:t> </a:t>
            </a:r>
            <a:r>
              <a:rPr dirty="0"/>
              <a:t>of</a:t>
            </a:r>
            <a:r>
              <a:rPr spc="-35" dirty="0"/>
              <a:t> </a:t>
            </a:r>
            <a:r>
              <a:rPr spc="-20" dirty="0"/>
              <a:t>work</a:t>
            </a:r>
          </a:p>
        </p:txBody>
      </p:sp>
      <p:sp>
        <p:nvSpPr>
          <p:cNvPr id="4" name="object 4"/>
          <p:cNvSpPr txBox="1"/>
          <p:nvPr/>
        </p:nvSpPr>
        <p:spPr>
          <a:xfrm>
            <a:off x="309194" y="440907"/>
            <a:ext cx="3988435" cy="2780665"/>
          </a:xfrm>
          <a:prstGeom prst="rect">
            <a:avLst/>
          </a:prstGeom>
        </p:spPr>
        <p:txBody>
          <a:bodyPr vert="horz" wrap="square" lIns="0" tIns="83820" rIns="0" bIns="0" rtlCol="0">
            <a:spAutoFit/>
          </a:bodyPr>
          <a:lstStyle/>
          <a:p>
            <a:pPr marL="50800">
              <a:lnSpc>
                <a:spcPct val="100000"/>
              </a:lnSpc>
              <a:spcBef>
                <a:spcPts val="660"/>
              </a:spcBef>
            </a:pPr>
            <a:r>
              <a:rPr sz="1000" dirty="0">
                <a:solidFill>
                  <a:srgbClr val="3333B2"/>
                </a:solidFill>
                <a:latin typeface="Arial"/>
                <a:cs typeface="Arial"/>
              </a:rPr>
              <a:t>Controlled</a:t>
            </a:r>
            <a:r>
              <a:rPr sz="1000" spc="-55" dirty="0">
                <a:solidFill>
                  <a:srgbClr val="3333B2"/>
                </a:solidFill>
                <a:latin typeface="Arial"/>
                <a:cs typeface="Arial"/>
              </a:rPr>
              <a:t> </a:t>
            </a:r>
            <a:r>
              <a:rPr sz="1000" spc="-20" dirty="0">
                <a:solidFill>
                  <a:srgbClr val="3333B2"/>
                </a:solidFill>
                <a:latin typeface="Arial"/>
                <a:cs typeface="Arial"/>
              </a:rPr>
              <a:t>race</a:t>
            </a:r>
            <a:endParaRPr sz="1000">
              <a:latin typeface="Arial"/>
              <a:cs typeface="Arial"/>
            </a:endParaRPr>
          </a:p>
          <a:p>
            <a:pPr marL="303530" marR="137795" indent="-120650">
              <a:lnSpc>
                <a:spcPct val="111600"/>
              </a:lnSpc>
              <a:spcBef>
                <a:spcPts val="375"/>
              </a:spcBef>
              <a:buClr>
                <a:srgbClr val="3333B2"/>
              </a:buClr>
              <a:buFont typeface="Menlo"/>
              <a:buChar char="•"/>
              <a:tabLst>
                <a:tab pos="300355" algn="l"/>
              </a:tabLst>
            </a:pPr>
            <a:r>
              <a:rPr sz="900" dirty="0">
                <a:latin typeface="Arial"/>
                <a:cs typeface="Arial"/>
              </a:rPr>
              <a:t>Assume</a:t>
            </a:r>
            <a:r>
              <a:rPr sz="900" spc="-35" dirty="0">
                <a:latin typeface="Arial"/>
                <a:cs typeface="Arial"/>
              </a:rPr>
              <a:t> </a:t>
            </a:r>
            <a:r>
              <a:rPr sz="900" dirty="0">
                <a:latin typeface="Arial"/>
                <a:cs typeface="Arial"/>
              </a:rPr>
              <a:t>a</a:t>
            </a:r>
            <a:r>
              <a:rPr sz="900" spc="-20" dirty="0">
                <a:latin typeface="Arial"/>
                <a:cs typeface="Arial"/>
              </a:rPr>
              <a:t> </a:t>
            </a:r>
            <a:r>
              <a:rPr sz="900" dirty="0">
                <a:latin typeface="Arial"/>
                <a:cs typeface="Arial"/>
              </a:rPr>
              <a:t>globally</a:t>
            </a:r>
            <a:r>
              <a:rPr sz="900" spc="-20" dirty="0">
                <a:latin typeface="Arial"/>
                <a:cs typeface="Arial"/>
              </a:rPr>
              <a:t> </a:t>
            </a:r>
            <a:r>
              <a:rPr sz="900" dirty="0">
                <a:latin typeface="Arial"/>
                <a:cs typeface="Arial"/>
              </a:rPr>
              <a:t>known</a:t>
            </a:r>
            <a:r>
              <a:rPr sz="900" spc="-20" dirty="0">
                <a:latin typeface="Arial"/>
                <a:cs typeface="Arial"/>
              </a:rPr>
              <a:t> </a:t>
            </a:r>
            <a:r>
              <a:rPr sz="900" dirty="0">
                <a:latin typeface="Arial"/>
                <a:cs typeface="Arial"/>
              </a:rPr>
              <a:t>secure</a:t>
            </a:r>
            <a:r>
              <a:rPr sz="900" spc="-25" dirty="0">
                <a:latin typeface="Arial"/>
                <a:cs typeface="Arial"/>
              </a:rPr>
              <a:t> </a:t>
            </a:r>
            <a:r>
              <a:rPr sz="900" dirty="0">
                <a:latin typeface="Arial"/>
                <a:cs typeface="Arial"/>
              </a:rPr>
              <a:t>hash</a:t>
            </a:r>
            <a:r>
              <a:rPr sz="900" spc="-20" dirty="0">
                <a:latin typeface="Arial"/>
                <a:cs typeface="Arial"/>
              </a:rPr>
              <a:t> </a:t>
            </a:r>
            <a:r>
              <a:rPr sz="900" dirty="0">
                <a:latin typeface="Arial"/>
                <a:cs typeface="Arial"/>
              </a:rPr>
              <a:t>function</a:t>
            </a:r>
            <a:r>
              <a:rPr sz="900" spc="-20" dirty="0">
                <a:latin typeface="Arial"/>
                <a:cs typeface="Arial"/>
              </a:rPr>
              <a:t> </a:t>
            </a:r>
            <a:r>
              <a:rPr sz="900" i="1" dirty="0">
                <a:latin typeface="Arial"/>
                <a:cs typeface="Arial"/>
              </a:rPr>
              <a:t>H</a:t>
            </a:r>
            <a:r>
              <a:rPr sz="1050" i="1" baseline="27777" dirty="0">
                <a:latin typeface="Menlo"/>
                <a:cs typeface="Menlo"/>
              </a:rPr>
              <a:t>∗</a:t>
            </a:r>
            <a:r>
              <a:rPr sz="900" dirty="0">
                <a:latin typeface="Arial"/>
                <a:cs typeface="Arial"/>
              </a:rPr>
              <a:t>.</a:t>
            </a:r>
            <a:r>
              <a:rPr sz="900" spc="35" dirty="0">
                <a:latin typeface="Arial"/>
                <a:cs typeface="Arial"/>
              </a:rPr>
              <a:t> </a:t>
            </a:r>
            <a:r>
              <a:rPr sz="900" dirty="0">
                <a:latin typeface="Arial"/>
                <a:cs typeface="Arial"/>
              </a:rPr>
              <a:t>Let</a:t>
            </a:r>
            <a:r>
              <a:rPr sz="900" spc="-20" dirty="0">
                <a:latin typeface="Arial"/>
                <a:cs typeface="Arial"/>
              </a:rPr>
              <a:t> </a:t>
            </a:r>
            <a:r>
              <a:rPr sz="900" i="1" dirty="0">
                <a:latin typeface="Arial"/>
                <a:cs typeface="Arial"/>
              </a:rPr>
              <a:t>H</a:t>
            </a:r>
            <a:r>
              <a:rPr sz="1050" i="1" baseline="-15873" dirty="0">
                <a:latin typeface="Arial"/>
                <a:cs typeface="Arial"/>
              </a:rPr>
              <a:t>i</a:t>
            </a:r>
            <a:r>
              <a:rPr sz="1050" i="1" spc="202" baseline="-15873" dirty="0">
                <a:latin typeface="Arial"/>
                <a:cs typeface="Arial"/>
              </a:rPr>
              <a:t> </a:t>
            </a:r>
            <a:r>
              <a:rPr sz="900" dirty="0">
                <a:latin typeface="Arial"/>
                <a:cs typeface="Arial"/>
              </a:rPr>
              <a:t>be</a:t>
            </a:r>
            <a:r>
              <a:rPr sz="900" spc="-20" dirty="0">
                <a:latin typeface="Arial"/>
                <a:cs typeface="Arial"/>
              </a:rPr>
              <a:t> </a:t>
            </a:r>
            <a:r>
              <a:rPr sz="900" dirty="0">
                <a:latin typeface="Arial"/>
                <a:cs typeface="Arial"/>
              </a:rPr>
              <a:t>the</a:t>
            </a:r>
            <a:r>
              <a:rPr sz="900" spc="-20" dirty="0">
                <a:latin typeface="Arial"/>
                <a:cs typeface="Arial"/>
              </a:rPr>
              <a:t> hash </a:t>
            </a:r>
            <a:r>
              <a:rPr sz="900" dirty="0">
                <a:latin typeface="Arial"/>
                <a:cs typeface="Arial"/>
              </a:rPr>
              <a:t>function</a:t>
            </a:r>
            <a:r>
              <a:rPr sz="900" spc="-40" dirty="0">
                <a:latin typeface="Arial"/>
                <a:cs typeface="Arial"/>
              </a:rPr>
              <a:t> </a:t>
            </a:r>
            <a:r>
              <a:rPr sz="900" dirty="0">
                <a:latin typeface="Arial"/>
                <a:cs typeface="Arial"/>
              </a:rPr>
              <a:t>used</a:t>
            </a:r>
            <a:r>
              <a:rPr sz="900" spc="-30" dirty="0">
                <a:latin typeface="Arial"/>
                <a:cs typeface="Arial"/>
              </a:rPr>
              <a:t> </a:t>
            </a:r>
            <a:r>
              <a:rPr sz="900" dirty="0">
                <a:latin typeface="Arial"/>
                <a:cs typeface="Arial"/>
              </a:rPr>
              <a:t>by</a:t>
            </a:r>
            <a:r>
              <a:rPr sz="900" spc="-30" dirty="0">
                <a:latin typeface="Arial"/>
                <a:cs typeface="Arial"/>
              </a:rPr>
              <a:t> </a:t>
            </a:r>
            <a:r>
              <a:rPr sz="900" dirty="0">
                <a:latin typeface="Arial"/>
                <a:cs typeface="Arial"/>
              </a:rPr>
              <a:t>process</a:t>
            </a:r>
            <a:r>
              <a:rPr sz="900" spc="-25" dirty="0">
                <a:latin typeface="Arial"/>
                <a:cs typeface="Arial"/>
              </a:rPr>
              <a:t> </a:t>
            </a:r>
            <a:r>
              <a:rPr sz="900" i="1" spc="-10" dirty="0">
                <a:latin typeface="Arial"/>
                <a:cs typeface="Arial"/>
              </a:rPr>
              <a:t>P</a:t>
            </a:r>
            <a:r>
              <a:rPr sz="1050" i="1" spc="-15" baseline="-15873" dirty="0">
                <a:latin typeface="Arial"/>
                <a:cs typeface="Arial"/>
              </a:rPr>
              <a:t>i</a:t>
            </a:r>
            <a:r>
              <a:rPr sz="1050" i="1" spc="-127" baseline="-15873" dirty="0">
                <a:latin typeface="Arial"/>
                <a:cs typeface="Arial"/>
              </a:rPr>
              <a:t> </a:t>
            </a:r>
            <a:r>
              <a:rPr sz="900" spc="-50" dirty="0">
                <a:latin typeface="Arial"/>
                <a:cs typeface="Arial"/>
              </a:rPr>
              <a:t>.</a:t>
            </a:r>
            <a:endParaRPr sz="900">
              <a:latin typeface="Arial"/>
              <a:cs typeface="Arial"/>
            </a:endParaRPr>
          </a:p>
          <a:p>
            <a:pPr marL="299720" indent="-116839">
              <a:lnSpc>
                <a:spcPct val="100000"/>
              </a:lnSpc>
              <a:spcBef>
                <a:spcPts val="525"/>
              </a:spcBef>
              <a:buClr>
                <a:srgbClr val="3333B2"/>
              </a:buClr>
              <a:buFont typeface="Menlo"/>
              <a:buChar char="•"/>
              <a:tabLst>
                <a:tab pos="300355" algn="l"/>
              </a:tabLst>
            </a:pPr>
            <a:r>
              <a:rPr sz="900" spc="-10" dirty="0">
                <a:latin typeface="Arial"/>
                <a:cs typeface="Arial"/>
              </a:rPr>
              <a:t>Task:</a:t>
            </a:r>
            <a:r>
              <a:rPr sz="900" spc="40" dirty="0">
                <a:latin typeface="Arial"/>
                <a:cs typeface="Arial"/>
              </a:rPr>
              <a:t> </a:t>
            </a:r>
            <a:r>
              <a:rPr sz="900" dirty="0">
                <a:latin typeface="Arial"/>
                <a:cs typeface="Arial"/>
              </a:rPr>
              <a:t>given</a:t>
            </a:r>
            <a:r>
              <a:rPr sz="900" spc="-10" dirty="0">
                <a:latin typeface="Arial"/>
                <a:cs typeface="Arial"/>
              </a:rPr>
              <a:t> </a:t>
            </a:r>
            <a:r>
              <a:rPr sz="900" dirty="0">
                <a:latin typeface="Arial"/>
                <a:cs typeface="Arial"/>
              </a:rPr>
              <a:t>a</a:t>
            </a:r>
            <a:r>
              <a:rPr sz="900" spc="-10" dirty="0">
                <a:latin typeface="Arial"/>
                <a:cs typeface="Arial"/>
              </a:rPr>
              <a:t> </a:t>
            </a:r>
            <a:r>
              <a:rPr sz="900" dirty="0">
                <a:latin typeface="Arial"/>
                <a:cs typeface="Arial"/>
              </a:rPr>
              <a:t>bit</a:t>
            </a:r>
            <a:r>
              <a:rPr sz="900" spc="-10" dirty="0">
                <a:latin typeface="Arial"/>
                <a:cs typeface="Arial"/>
              </a:rPr>
              <a:t> </a:t>
            </a:r>
            <a:r>
              <a:rPr sz="900" dirty="0">
                <a:latin typeface="Arial"/>
                <a:cs typeface="Arial"/>
              </a:rPr>
              <a:t>string</a:t>
            </a:r>
            <a:r>
              <a:rPr sz="900" spc="-10" dirty="0">
                <a:latin typeface="Arial"/>
                <a:cs typeface="Arial"/>
              </a:rPr>
              <a:t> </a:t>
            </a:r>
            <a:r>
              <a:rPr sz="900" i="1" dirty="0">
                <a:latin typeface="Arial"/>
                <a:cs typeface="Arial"/>
              </a:rPr>
              <a:t>h</a:t>
            </a:r>
            <a:r>
              <a:rPr sz="900" i="1" spc="-45" dirty="0">
                <a:latin typeface="Arial"/>
                <a:cs typeface="Arial"/>
              </a:rPr>
              <a:t> </a:t>
            </a:r>
            <a:r>
              <a:rPr sz="900" spc="185" dirty="0">
                <a:latin typeface="Arial"/>
                <a:cs typeface="Arial"/>
              </a:rPr>
              <a:t>=</a:t>
            </a:r>
            <a:r>
              <a:rPr sz="900" spc="-55" dirty="0">
                <a:latin typeface="Arial"/>
                <a:cs typeface="Arial"/>
              </a:rPr>
              <a:t> </a:t>
            </a:r>
            <a:r>
              <a:rPr sz="900" i="1" spc="-10" dirty="0">
                <a:latin typeface="Arial"/>
                <a:cs typeface="Arial"/>
              </a:rPr>
              <a:t>H</a:t>
            </a:r>
            <a:r>
              <a:rPr sz="1050" i="1" spc="-15" baseline="-15873" dirty="0">
                <a:latin typeface="Arial"/>
                <a:cs typeface="Arial"/>
              </a:rPr>
              <a:t>i</a:t>
            </a:r>
            <a:r>
              <a:rPr sz="1050" i="1" spc="-127" baseline="-15873" dirty="0">
                <a:latin typeface="Arial"/>
                <a:cs typeface="Arial"/>
              </a:rPr>
              <a:t> </a:t>
            </a:r>
            <a:r>
              <a:rPr sz="900" dirty="0">
                <a:latin typeface="Arial"/>
                <a:cs typeface="Arial"/>
              </a:rPr>
              <a:t>(</a:t>
            </a:r>
            <a:r>
              <a:rPr sz="900" i="1" dirty="0">
                <a:latin typeface="Arial"/>
                <a:cs typeface="Arial"/>
              </a:rPr>
              <a:t>m</a:t>
            </a:r>
            <a:r>
              <a:rPr sz="900" dirty="0">
                <a:latin typeface="Arial"/>
                <a:cs typeface="Arial"/>
              </a:rPr>
              <a:t>),</a:t>
            </a:r>
            <a:r>
              <a:rPr sz="900" spc="-10" dirty="0">
                <a:latin typeface="Arial"/>
                <a:cs typeface="Arial"/>
              </a:rPr>
              <a:t> </a:t>
            </a:r>
            <a:r>
              <a:rPr sz="900" dirty="0">
                <a:latin typeface="Arial"/>
                <a:cs typeface="Arial"/>
              </a:rPr>
              <a:t>find</a:t>
            </a:r>
            <a:r>
              <a:rPr sz="900" spc="-10" dirty="0">
                <a:latin typeface="Arial"/>
                <a:cs typeface="Arial"/>
              </a:rPr>
              <a:t> </a:t>
            </a:r>
            <a:r>
              <a:rPr sz="900" dirty="0">
                <a:latin typeface="Arial"/>
                <a:cs typeface="Arial"/>
              </a:rPr>
              <a:t>a</a:t>
            </a:r>
            <a:r>
              <a:rPr sz="900" spc="-10" dirty="0">
                <a:latin typeface="Arial"/>
                <a:cs typeface="Arial"/>
              </a:rPr>
              <a:t> </a:t>
            </a:r>
            <a:r>
              <a:rPr sz="900" dirty="0">
                <a:latin typeface="Arial"/>
                <a:cs typeface="Arial"/>
              </a:rPr>
              <a:t>bit</a:t>
            </a:r>
            <a:r>
              <a:rPr sz="900" spc="-10" dirty="0">
                <a:latin typeface="Arial"/>
                <a:cs typeface="Arial"/>
              </a:rPr>
              <a:t> </a:t>
            </a:r>
            <a:r>
              <a:rPr sz="900" dirty="0">
                <a:latin typeface="Arial"/>
                <a:cs typeface="Arial"/>
              </a:rPr>
              <a:t>string</a:t>
            </a:r>
            <a:r>
              <a:rPr sz="900" spc="-10" dirty="0">
                <a:latin typeface="Arial"/>
                <a:cs typeface="Arial"/>
              </a:rPr>
              <a:t> </a:t>
            </a:r>
            <a:r>
              <a:rPr sz="900" i="1" spc="-170" dirty="0">
                <a:latin typeface="Arial"/>
                <a:cs typeface="Arial"/>
              </a:rPr>
              <a:t>h</a:t>
            </a:r>
            <a:r>
              <a:rPr sz="1350" spc="-254" baseline="15432" dirty="0">
                <a:latin typeface="Arial"/>
                <a:cs typeface="Arial"/>
              </a:rPr>
              <a:t>˜</a:t>
            </a:r>
            <a:r>
              <a:rPr sz="1350" spc="37" baseline="15432" dirty="0">
                <a:latin typeface="Arial"/>
                <a:cs typeface="Arial"/>
              </a:rPr>
              <a:t> </a:t>
            </a:r>
            <a:r>
              <a:rPr sz="900" dirty="0">
                <a:latin typeface="Arial"/>
                <a:cs typeface="Arial"/>
              </a:rPr>
              <a:t>such</a:t>
            </a:r>
            <a:r>
              <a:rPr sz="900" spc="-10" dirty="0">
                <a:latin typeface="Arial"/>
                <a:cs typeface="Arial"/>
              </a:rPr>
              <a:t> </a:t>
            </a:r>
            <a:r>
              <a:rPr sz="900" spc="-20" dirty="0">
                <a:latin typeface="Arial"/>
                <a:cs typeface="Arial"/>
              </a:rPr>
              <a:t>that</a:t>
            </a:r>
            <a:endParaRPr sz="900">
              <a:latin typeface="Arial"/>
              <a:cs typeface="Arial"/>
            </a:endParaRPr>
          </a:p>
          <a:p>
            <a:pPr marL="303530">
              <a:lnSpc>
                <a:spcPct val="100000"/>
              </a:lnSpc>
              <a:spcBef>
                <a:spcPts val="125"/>
              </a:spcBef>
            </a:pPr>
            <a:r>
              <a:rPr sz="900" i="1" spc="-45" dirty="0">
                <a:latin typeface="Arial"/>
                <a:cs typeface="Arial"/>
              </a:rPr>
              <a:t>h</a:t>
            </a:r>
            <a:r>
              <a:rPr sz="1050" i="1" spc="-67" baseline="27777" dirty="0">
                <a:latin typeface="Menlo"/>
                <a:cs typeface="Menlo"/>
              </a:rPr>
              <a:t>∗</a:t>
            </a:r>
            <a:r>
              <a:rPr sz="1050" i="1" spc="-217" baseline="27777" dirty="0">
                <a:latin typeface="Menlo"/>
                <a:cs typeface="Menlo"/>
              </a:rPr>
              <a:t> </a:t>
            </a:r>
            <a:r>
              <a:rPr sz="900" spc="185" dirty="0">
                <a:latin typeface="Arial"/>
                <a:cs typeface="Arial"/>
              </a:rPr>
              <a:t>=</a:t>
            </a:r>
            <a:r>
              <a:rPr sz="900" spc="-25" dirty="0">
                <a:latin typeface="Arial"/>
                <a:cs typeface="Arial"/>
              </a:rPr>
              <a:t> </a:t>
            </a:r>
            <a:r>
              <a:rPr sz="900" i="1" dirty="0">
                <a:latin typeface="Arial"/>
                <a:cs typeface="Arial"/>
              </a:rPr>
              <a:t>H</a:t>
            </a:r>
            <a:r>
              <a:rPr sz="1050" i="1" baseline="27777" dirty="0">
                <a:latin typeface="Menlo"/>
                <a:cs typeface="Menlo"/>
              </a:rPr>
              <a:t>∗</a:t>
            </a:r>
            <a:r>
              <a:rPr sz="900" dirty="0">
                <a:latin typeface="Arial"/>
                <a:cs typeface="Arial"/>
              </a:rPr>
              <a:t>(</a:t>
            </a:r>
            <a:r>
              <a:rPr sz="900" i="1" dirty="0">
                <a:latin typeface="Arial"/>
                <a:cs typeface="Arial"/>
              </a:rPr>
              <a:t>H</a:t>
            </a:r>
            <a:r>
              <a:rPr sz="1050" i="1" baseline="-15873" dirty="0">
                <a:latin typeface="Arial"/>
                <a:cs typeface="Arial"/>
              </a:rPr>
              <a:t>i</a:t>
            </a:r>
            <a:r>
              <a:rPr sz="1050" i="1" spc="-104" baseline="-15873" dirty="0">
                <a:latin typeface="Arial"/>
                <a:cs typeface="Arial"/>
              </a:rPr>
              <a:t> </a:t>
            </a:r>
            <a:r>
              <a:rPr sz="900" spc="-95" dirty="0">
                <a:latin typeface="Arial"/>
                <a:cs typeface="Arial"/>
              </a:rPr>
              <a:t>(</a:t>
            </a:r>
            <a:r>
              <a:rPr sz="900" i="1" spc="-95" dirty="0">
                <a:latin typeface="Arial"/>
                <a:cs typeface="Arial"/>
              </a:rPr>
              <a:t>h</a:t>
            </a:r>
            <a:r>
              <a:rPr sz="1350" spc="-142" baseline="15432" dirty="0">
                <a:latin typeface="Arial"/>
                <a:cs typeface="Arial"/>
              </a:rPr>
              <a:t>˜</a:t>
            </a:r>
            <a:r>
              <a:rPr sz="1350" spc="-120" baseline="15432" dirty="0">
                <a:latin typeface="Arial"/>
                <a:cs typeface="Arial"/>
              </a:rPr>
              <a:t> </a:t>
            </a:r>
            <a:r>
              <a:rPr sz="900" i="1" spc="95" dirty="0">
                <a:latin typeface="Menlo"/>
                <a:cs typeface="Menlo"/>
              </a:rPr>
              <a:t>⊙</a:t>
            </a:r>
            <a:r>
              <a:rPr sz="900" i="1" spc="95" dirty="0">
                <a:latin typeface="Arial"/>
                <a:cs typeface="Arial"/>
              </a:rPr>
              <a:t>h</a:t>
            </a:r>
            <a:r>
              <a:rPr sz="900" spc="95" dirty="0">
                <a:latin typeface="Arial"/>
                <a:cs typeface="Arial"/>
              </a:rPr>
              <a:t>))</a:t>
            </a:r>
            <a:r>
              <a:rPr sz="900" spc="30" dirty="0">
                <a:latin typeface="Arial"/>
                <a:cs typeface="Arial"/>
              </a:rPr>
              <a:t> </a:t>
            </a:r>
            <a:r>
              <a:rPr sz="900" spc="-10" dirty="0">
                <a:latin typeface="Arial"/>
                <a:cs typeface="Arial"/>
              </a:rPr>
              <a:t>where:</a:t>
            </a:r>
            <a:endParaRPr sz="900">
              <a:latin typeface="Arial"/>
              <a:cs typeface="Arial"/>
            </a:endParaRPr>
          </a:p>
          <a:p>
            <a:pPr marL="556895" lvl="1" indent="-121285">
              <a:lnSpc>
                <a:spcPct val="100000"/>
              </a:lnSpc>
              <a:spcBef>
                <a:spcPts val="525"/>
              </a:spcBef>
              <a:buClr>
                <a:srgbClr val="3333B2"/>
              </a:buClr>
              <a:buFont typeface="Menlo"/>
              <a:buChar char="•"/>
              <a:tabLst>
                <a:tab pos="557530" algn="l"/>
              </a:tabLst>
            </a:pPr>
            <a:r>
              <a:rPr sz="900" i="1" spc="-45" dirty="0">
                <a:latin typeface="Arial"/>
                <a:cs typeface="Arial"/>
              </a:rPr>
              <a:t>h</a:t>
            </a:r>
            <a:r>
              <a:rPr sz="1050" i="1" spc="-67" baseline="27777" dirty="0">
                <a:latin typeface="Menlo"/>
                <a:cs typeface="Menlo"/>
              </a:rPr>
              <a:t>∗</a:t>
            </a:r>
            <a:r>
              <a:rPr sz="1050" i="1" spc="-187" baseline="27777" dirty="0">
                <a:latin typeface="Menlo"/>
                <a:cs typeface="Menlo"/>
              </a:rPr>
              <a:t> </a:t>
            </a:r>
            <a:r>
              <a:rPr sz="900" dirty="0">
                <a:latin typeface="Arial"/>
                <a:cs typeface="Arial"/>
              </a:rPr>
              <a:t>is</a:t>
            </a:r>
            <a:r>
              <a:rPr sz="900" spc="-25" dirty="0">
                <a:latin typeface="Arial"/>
                <a:cs typeface="Arial"/>
              </a:rPr>
              <a:t> </a:t>
            </a:r>
            <a:r>
              <a:rPr sz="900" dirty="0">
                <a:latin typeface="Arial"/>
                <a:cs typeface="Arial"/>
              </a:rPr>
              <a:t>a</a:t>
            </a:r>
            <a:r>
              <a:rPr sz="900" spc="-10" dirty="0">
                <a:latin typeface="Arial"/>
                <a:cs typeface="Arial"/>
              </a:rPr>
              <a:t> </a:t>
            </a:r>
            <a:r>
              <a:rPr sz="900" dirty="0">
                <a:latin typeface="Arial"/>
                <a:cs typeface="Arial"/>
              </a:rPr>
              <a:t>bit</a:t>
            </a:r>
            <a:r>
              <a:rPr sz="900" spc="-15" dirty="0">
                <a:latin typeface="Arial"/>
                <a:cs typeface="Arial"/>
              </a:rPr>
              <a:t> </a:t>
            </a:r>
            <a:r>
              <a:rPr sz="900" dirty="0">
                <a:latin typeface="Arial"/>
                <a:cs typeface="Arial"/>
              </a:rPr>
              <a:t>string</a:t>
            </a:r>
            <a:r>
              <a:rPr sz="900" spc="-10" dirty="0">
                <a:latin typeface="Arial"/>
                <a:cs typeface="Arial"/>
              </a:rPr>
              <a:t> </a:t>
            </a:r>
            <a:r>
              <a:rPr sz="900" dirty="0">
                <a:latin typeface="Arial"/>
                <a:cs typeface="Arial"/>
              </a:rPr>
              <a:t>with</a:t>
            </a:r>
            <a:r>
              <a:rPr sz="900" spc="-15" dirty="0">
                <a:latin typeface="Arial"/>
                <a:cs typeface="Arial"/>
              </a:rPr>
              <a:t> </a:t>
            </a:r>
            <a:r>
              <a:rPr sz="900" i="1" dirty="0">
                <a:latin typeface="Arial"/>
                <a:cs typeface="Arial"/>
              </a:rPr>
              <a:t>K</a:t>
            </a:r>
            <a:r>
              <a:rPr sz="900" i="1" spc="114" dirty="0">
                <a:latin typeface="Arial"/>
                <a:cs typeface="Arial"/>
              </a:rPr>
              <a:t> </a:t>
            </a:r>
            <a:r>
              <a:rPr sz="900" dirty="0">
                <a:latin typeface="Arial"/>
                <a:cs typeface="Arial"/>
              </a:rPr>
              <a:t>leading</a:t>
            </a:r>
            <a:r>
              <a:rPr sz="900" spc="-10" dirty="0">
                <a:latin typeface="Arial"/>
                <a:cs typeface="Arial"/>
              </a:rPr>
              <a:t> zeroes</a:t>
            </a:r>
            <a:endParaRPr sz="900">
              <a:latin typeface="Arial"/>
              <a:cs typeface="Arial"/>
            </a:endParaRPr>
          </a:p>
          <a:p>
            <a:pPr marL="556895" lvl="1" indent="-121285">
              <a:lnSpc>
                <a:spcPct val="100000"/>
              </a:lnSpc>
              <a:spcBef>
                <a:spcPts val="125"/>
              </a:spcBef>
              <a:buClr>
                <a:srgbClr val="3333B2"/>
              </a:buClr>
              <a:buFont typeface="Menlo"/>
              <a:buChar char="•"/>
              <a:tabLst>
                <a:tab pos="557530" algn="l"/>
              </a:tabLst>
            </a:pPr>
            <a:r>
              <a:rPr sz="900" i="1" spc="-170" dirty="0">
                <a:latin typeface="Arial"/>
                <a:cs typeface="Arial"/>
              </a:rPr>
              <a:t>h</a:t>
            </a:r>
            <a:r>
              <a:rPr sz="1350" spc="-254" baseline="15432" dirty="0">
                <a:latin typeface="Arial"/>
                <a:cs typeface="Arial"/>
              </a:rPr>
              <a:t>˜</a:t>
            </a:r>
            <a:r>
              <a:rPr sz="1350" spc="-150" baseline="15432" dirty="0">
                <a:latin typeface="Arial"/>
                <a:cs typeface="Arial"/>
              </a:rPr>
              <a:t> </a:t>
            </a:r>
            <a:r>
              <a:rPr sz="900" i="1" spc="130" dirty="0">
                <a:latin typeface="Menlo"/>
                <a:cs typeface="Menlo"/>
              </a:rPr>
              <a:t>⊙</a:t>
            </a:r>
            <a:r>
              <a:rPr sz="900" i="1" spc="130" dirty="0">
                <a:latin typeface="Arial"/>
                <a:cs typeface="Arial"/>
              </a:rPr>
              <a:t>h</a:t>
            </a:r>
            <a:r>
              <a:rPr sz="900" i="1" spc="-35" dirty="0">
                <a:latin typeface="Arial"/>
                <a:cs typeface="Arial"/>
              </a:rPr>
              <a:t> </a:t>
            </a:r>
            <a:r>
              <a:rPr sz="900" dirty="0">
                <a:latin typeface="Arial"/>
                <a:cs typeface="Arial"/>
              </a:rPr>
              <a:t>denotes</a:t>
            </a:r>
            <a:r>
              <a:rPr sz="900" spc="-20" dirty="0">
                <a:latin typeface="Arial"/>
                <a:cs typeface="Arial"/>
              </a:rPr>
              <a:t> </a:t>
            </a:r>
            <a:r>
              <a:rPr sz="900" dirty="0">
                <a:latin typeface="Arial"/>
                <a:cs typeface="Arial"/>
              </a:rPr>
              <a:t>some</a:t>
            </a:r>
            <a:r>
              <a:rPr sz="900" spc="-20" dirty="0">
                <a:latin typeface="Arial"/>
                <a:cs typeface="Arial"/>
              </a:rPr>
              <a:t> </a:t>
            </a:r>
            <a:r>
              <a:rPr sz="900" dirty="0">
                <a:latin typeface="Arial"/>
                <a:cs typeface="Arial"/>
              </a:rPr>
              <a:t>predetermined</a:t>
            </a:r>
            <a:r>
              <a:rPr sz="900" spc="-20" dirty="0">
                <a:latin typeface="Arial"/>
                <a:cs typeface="Arial"/>
              </a:rPr>
              <a:t> </a:t>
            </a:r>
            <a:r>
              <a:rPr sz="900" dirty="0">
                <a:latin typeface="Arial"/>
                <a:cs typeface="Arial"/>
              </a:rPr>
              <a:t>bitwise</a:t>
            </a:r>
            <a:r>
              <a:rPr sz="900" spc="-20" dirty="0">
                <a:latin typeface="Arial"/>
                <a:cs typeface="Arial"/>
              </a:rPr>
              <a:t> </a:t>
            </a:r>
            <a:r>
              <a:rPr sz="900" dirty="0">
                <a:latin typeface="Arial"/>
                <a:cs typeface="Arial"/>
              </a:rPr>
              <a:t>operation</a:t>
            </a:r>
            <a:r>
              <a:rPr sz="900" spc="-20" dirty="0">
                <a:latin typeface="Arial"/>
                <a:cs typeface="Arial"/>
              </a:rPr>
              <a:t> </a:t>
            </a:r>
            <a:r>
              <a:rPr sz="900" dirty="0">
                <a:latin typeface="Arial"/>
                <a:cs typeface="Arial"/>
              </a:rPr>
              <a:t>on</a:t>
            </a:r>
            <a:r>
              <a:rPr sz="900" spc="-20" dirty="0">
                <a:latin typeface="Arial"/>
                <a:cs typeface="Arial"/>
              </a:rPr>
              <a:t> </a:t>
            </a:r>
            <a:r>
              <a:rPr sz="900" i="1" spc="-170" dirty="0">
                <a:latin typeface="Arial"/>
                <a:cs typeface="Arial"/>
              </a:rPr>
              <a:t>h</a:t>
            </a:r>
            <a:r>
              <a:rPr sz="1350" spc="-254" baseline="15432" dirty="0">
                <a:latin typeface="Arial"/>
                <a:cs typeface="Arial"/>
              </a:rPr>
              <a:t>˜</a:t>
            </a:r>
            <a:r>
              <a:rPr sz="1350" spc="37" baseline="15432" dirty="0">
                <a:latin typeface="Arial"/>
                <a:cs typeface="Arial"/>
              </a:rPr>
              <a:t> </a:t>
            </a:r>
            <a:r>
              <a:rPr sz="900" dirty="0">
                <a:latin typeface="Arial"/>
                <a:cs typeface="Arial"/>
              </a:rPr>
              <a:t>and</a:t>
            </a:r>
            <a:r>
              <a:rPr sz="900" spc="-20" dirty="0">
                <a:latin typeface="Arial"/>
                <a:cs typeface="Arial"/>
              </a:rPr>
              <a:t> </a:t>
            </a:r>
            <a:r>
              <a:rPr sz="900" i="1" spc="-50" dirty="0">
                <a:latin typeface="Arial"/>
                <a:cs typeface="Arial"/>
              </a:rPr>
              <a:t>h</a:t>
            </a:r>
            <a:endParaRPr sz="900">
              <a:latin typeface="Arial"/>
              <a:cs typeface="Arial"/>
            </a:endParaRPr>
          </a:p>
          <a:p>
            <a:pPr lvl="1">
              <a:lnSpc>
                <a:spcPct val="100000"/>
              </a:lnSpc>
              <a:spcBef>
                <a:spcPts val="45"/>
              </a:spcBef>
              <a:buClr>
                <a:srgbClr val="3333B2"/>
              </a:buClr>
              <a:buFont typeface="Menlo"/>
              <a:buChar char="•"/>
            </a:pPr>
            <a:endParaRPr sz="1150">
              <a:latin typeface="Arial"/>
              <a:cs typeface="Arial"/>
            </a:endParaRPr>
          </a:p>
          <a:p>
            <a:pPr marL="50800">
              <a:lnSpc>
                <a:spcPct val="100000"/>
              </a:lnSpc>
              <a:spcBef>
                <a:spcPts val="5"/>
              </a:spcBef>
            </a:pPr>
            <a:r>
              <a:rPr sz="1000" spc="-10" dirty="0">
                <a:solidFill>
                  <a:srgbClr val="C80000"/>
                </a:solidFill>
                <a:latin typeface="Arial"/>
                <a:cs typeface="Arial"/>
              </a:rPr>
              <a:t>Observation</a:t>
            </a:r>
            <a:endParaRPr sz="1000">
              <a:latin typeface="Arial"/>
              <a:cs typeface="Arial"/>
            </a:endParaRPr>
          </a:p>
          <a:p>
            <a:pPr marL="50800" marR="43180">
              <a:lnSpc>
                <a:spcPts val="1210"/>
              </a:lnSpc>
              <a:spcBef>
                <a:spcPts val="35"/>
              </a:spcBef>
            </a:pPr>
            <a:r>
              <a:rPr sz="900" dirty="0">
                <a:latin typeface="Arial"/>
                <a:cs typeface="Arial"/>
              </a:rPr>
              <a:t>By</a:t>
            </a:r>
            <a:r>
              <a:rPr sz="900" spc="-25" dirty="0">
                <a:latin typeface="Arial"/>
                <a:cs typeface="Arial"/>
              </a:rPr>
              <a:t> </a:t>
            </a:r>
            <a:r>
              <a:rPr sz="900" spc="-10" dirty="0">
                <a:latin typeface="Arial"/>
                <a:cs typeface="Arial"/>
              </a:rPr>
              <a:t>controlling</a:t>
            </a:r>
            <a:r>
              <a:rPr sz="900" spc="-15" dirty="0">
                <a:latin typeface="Arial"/>
                <a:cs typeface="Arial"/>
              </a:rPr>
              <a:t> </a:t>
            </a:r>
            <a:r>
              <a:rPr sz="900" i="1" spc="-20" dirty="0">
                <a:latin typeface="Arial"/>
                <a:cs typeface="Arial"/>
              </a:rPr>
              <a:t>K</a:t>
            </a:r>
            <a:r>
              <a:rPr sz="900" i="1" spc="-125" dirty="0">
                <a:latin typeface="Arial"/>
                <a:cs typeface="Arial"/>
              </a:rPr>
              <a:t> </a:t>
            </a:r>
            <a:r>
              <a:rPr sz="900" dirty="0">
                <a:latin typeface="Arial"/>
                <a:cs typeface="Arial"/>
              </a:rPr>
              <a:t>,</a:t>
            </a:r>
            <a:r>
              <a:rPr sz="900" spc="-15" dirty="0">
                <a:latin typeface="Arial"/>
                <a:cs typeface="Arial"/>
              </a:rPr>
              <a:t> </a:t>
            </a:r>
            <a:r>
              <a:rPr sz="900" dirty="0">
                <a:latin typeface="Arial"/>
                <a:cs typeface="Arial"/>
              </a:rPr>
              <a:t>we</a:t>
            </a:r>
            <a:r>
              <a:rPr sz="900" spc="-15" dirty="0">
                <a:latin typeface="Arial"/>
                <a:cs typeface="Arial"/>
              </a:rPr>
              <a:t> </a:t>
            </a:r>
            <a:r>
              <a:rPr sz="900" dirty="0">
                <a:latin typeface="Arial"/>
                <a:cs typeface="Arial"/>
              </a:rPr>
              <a:t>control</a:t>
            </a:r>
            <a:r>
              <a:rPr sz="900" spc="-15" dirty="0">
                <a:latin typeface="Arial"/>
                <a:cs typeface="Arial"/>
              </a:rPr>
              <a:t> </a:t>
            </a:r>
            <a:r>
              <a:rPr sz="900" dirty="0">
                <a:latin typeface="Arial"/>
                <a:cs typeface="Arial"/>
              </a:rPr>
              <a:t>the</a:t>
            </a:r>
            <a:r>
              <a:rPr sz="900" spc="-15" dirty="0">
                <a:latin typeface="Arial"/>
                <a:cs typeface="Arial"/>
              </a:rPr>
              <a:t> </a:t>
            </a:r>
            <a:r>
              <a:rPr sz="900" spc="-10" dirty="0">
                <a:latin typeface="Arial"/>
                <a:cs typeface="Arial"/>
              </a:rPr>
              <a:t>difficulty</a:t>
            </a:r>
            <a:r>
              <a:rPr sz="900" spc="-15" dirty="0">
                <a:latin typeface="Arial"/>
                <a:cs typeface="Arial"/>
              </a:rPr>
              <a:t> </a:t>
            </a:r>
            <a:r>
              <a:rPr sz="900" dirty="0">
                <a:latin typeface="Arial"/>
                <a:cs typeface="Arial"/>
              </a:rPr>
              <a:t>of</a:t>
            </a:r>
            <a:r>
              <a:rPr sz="900" spc="-15" dirty="0">
                <a:latin typeface="Arial"/>
                <a:cs typeface="Arial"/>
              </a:rPr>
              <a:t> </a:t>
            </a:r>
            <a:r>
              <a:rPr sz="900" dirty="0">
                <a:latin typeface="Arial"/>
                <a:cs typeface="Arial"/>
              </a:rPr>
              <a:t>finding</a:t>
            </a:r>
            <a:r>
              <a:rPr sz="900" spc="-15" dirty="0">
                <a:latin typeface="Arial"/>
                <a:cs typeface="Arial"/>
              </a:rPr>
              <a:t> </a:t>
            </a:r>
            <a:r>
              <a:rPr sz="900" i="1" spc="-430" dirty="0">
                <a:latin typeface="Arial"/>
                <a:cs typeface="Arial"/>
              </a:rPr>
              <a:t>h</a:t>
            </a:r>
            <a:r>
              <a:rPr sz="1350" spc="112" baseline="15432" dirty="0">
                <a:latin typeface="Arial"/>
                <a:cs typeface="Arial"/>
              </a:rPr>
              <a:t>˜</a:t>
            </a:r>
            <a:r>
              <a:rPr sz="900" spc="50" dirty="0">
                <a:latin typeface="Arial"/>
                <a:cs typeface="Arial"/>
              </a:rPr>
              <a:t>.</a:t>
            </a:r>
            <a:r>
              <a:rPr sz="900" spc="45" dirty="0">
                <a:latin typeface="Arial"/>
                <a:cs typeface="Arial"/>
              </a:rPr>
              <a:t> </a:t>
            </a:r>
            <a:r>
              <a:rPr sz="900" dirty="0">
                <a:latin typeface="Arial"/>
                <a:cs typeface="Arial"/>
              </a:rPr>
              <a:t>If</a:t>
            </a:r>
            <a:r>
              <a:rPr sz="900" spc="-15" dirty="0">
                <a:latin typeface="Arial"/>
                <a:cs typeface="Arial"/>
              </a:rPr>
              <a:t> </a:t>
            </a:r>
            <a:r>
              <a:rPr sz="900" i="1" dirty="0">
                <a:latin typeface="Arial"/>
                <a:cs typeface="Arial"/>
              </a:rPr>
              <a:t>p</a:t>
            </a:r>
            <a:r>
              <a:rPr sz="900" i="1" spc="5" dirty="0">
                <a:latin typeface="Arial"/>
                <a:cs typeface="Arial"/>
              </a:rPr>
              <a:t> </a:t>
            </a:r>
            <a:r>
              <a:rPr sz="900" dirty="0">
                <a:latin typeface="Arial"/>
                <a:cs typeface="Arial"/>
              </a:rPr>
              <a:t>is</a:t>
            </a:r>
            <a:r>
              <a:rPr sz="900" spc="-15" dirty="0">
                <a:latin typeface="Arial"/>
                <a:cs typeface="Arial"/>
              </a:rPr>
              <a:t> </a:t>
            </a:r>
            <a:r>
              <a:rPr sz="900" dirty="0">
                <a:latin typeface="Arial"/>
                <a:cs typeface="Arial"/>
              </a:rPr>
              <a:t>the</a:t>
            </a:r>
            <a:r>
              <a:rPr sz="900" spc="-15" dirty="0">
                <a:latin typeface="Arial"/>
                <a:cs typeface="Arial"/>
              </a:rPr>
              <a:t> </a:t>
            </a:r>
            <a:r>
              <a:rPr sz="900" spc="-10" dirty="0">
                <a:latin typeface="Arial"/>
                <a:cs typeface="Arial"/>
              </a:rPr>
              <a:t>probability</a:t>
            </a:r>
            <a:r>
              <a:rPr sz="900" spc="-15" dirty="0">
                <a:latin typeface="Arial"/>
                <a:cs typeface="Arial"/>
              </a:rPr>
              <a:t> </a:t>
            </a:r>
            <a:r>
              <a:rPr sz="900" spc="-20" dirty="0">
                <a:latin typeface="Arial"/>
                <a:cs typeface="Arial"/>
              </a:rPr>
              <a:t>that </a:t>
            </a:r>
            <a:r>
              <a:rPr sz="900" dirty="0">
                <a:latin typeface="Arial"/>
                <a:cs typeface="Arial"/>
              </a:rPr>
              <a:t>a random guess</a:t>
            </a:r>
            <a:r>
              <a:rPr sz="900" spc="5" dirty="0">
                <a:latin typeface="Arial"/>
                <a:cs typeface="Arial"/>
              </a:rPr>
              <a:t> </a:t>
            </a:r>
            <a:r>
              <a:rPr sz="900" dirty="0">
                <a:latin typeface="Arial"/>
                <a:cs typeface="Arial"/>
              </a:rPr>
              <a:t>for </a:t>
            </a:r>
            <a:r>
              <a:rPr sz="900" i="1" spc="-170" dirty="0">
                <a:latin typeface="Arial"/>
                <a:cs typeface="Arial"/>
              </a:rPr>
              <a:t>h</a:t>
            </a:r>
            <a:r>
              <a:rPr sz="1350" spc="-254" baseline="15432" dirty="0">
                <a:latin typeface="Arial"/>
                <a:cs typeface="Arial"/>
              </a:rPr>
              <a:t>˜</a:t>
            </a:r>
            <a:r>
              <a:rPr sz="1350" spc="52" baseline="15432" dirty="0">
                <a:latin typeface="Arial"/>
                <a:cs typeface="Arial"/>
              </a:rPr>
              <a:t> </a:t>
            </a:r>
            <a:r>
              <a:rPr sz="900" dirty="0">
                <a:latin typeface="Arial"/>
                <a:cs typeface="Arial"/>
              </a:rPr>
              <a:t>will suffice:</a:t>
            </a:r>
            <a:r>
              <a:rPr sz="900" spc="65" dirty="0">
                <a:latin typeface="Arial"/>
                <a:cs typeface="Arial"/>
              </a:rPr>
              <a:t> </a:t>
            </a:r>
            <a:r>
              <a:rPr sz="900" i="1" dirty="0">
                <a:latin typeface="Arial"/>
                <a:cs typeface="Arial"/>
              </a:rPr>
              <a:t>p</a:t>
            </a:r>
            <a:r>
              <a:rPr sz="900" i="1" spc="-25" dirty="0">
                <a:latin typeface="Arial"/>
                <a:cs typeface="Arial"/>
              </a:rPr>
              <a:t> </a:t>
            </a:r>
            <a:r>
              <a:rPr sz="900" spc="185" dirty="0">
                <a:latin typeface="Arial"/>
                <a:cs typeface="Arial"/>
              </a:rPr>
              <a:t>=</a:t>
            </a:r>
            <a:r>
              <a:rPr sz="900" spc="-50" dirty="0">
                <a:latin typeface="Arial"/>
                <a:cs typeface="Arial"/>
              </a:rPr>
              <a:t> </a:t>
            </a:r>
            <a:r>
              <a:rPr sz="900" dirty="0">
                <a:latin typeface="Arial"/>
                <a:cs typeface="Arial"/>
              </a:rPr>
              <a:t>(1</a:t>
            </a:r>
            <a:r>
              <a:rPr sz="900" i="1" dirty="0">
                <a:latin typeface="STIX Two Text"/>
                <a:cs typeface="STIX Two Text"/>
              </a:rPr>
              <a:t>/</a:t>
            </a:r>
            <a:r>
              <a:rPr sz="900" dirty="0">
                <a:latin typeface="Arial"/>
                <a:cs typeface="Arial"/>
              </a:rPr>
              <a:t>2)</a:t>
            </a:r>
            <a:r>
              <a:rPr sz="1050" i="1" baseline="27777" dirty="0">
                <a:latin typeface="Arial"/>
                <a:cs typeface="Arial"/>
              </a:rPr>
              <a:t>K</a:t>
            </a:r>
            <a:r>
              <a:rPr sz="1050" i="1" spc="-67" baseline="27777" dirty="0">
                <a:latin typeface="Arial"/>
                <a:cs typeface="Arial"/>
              </a:rPr>
              <a:t> </a:t>
            </a:r>
            <a:r>
              <a:rPr sz="900" spc="-50" dirty="0">
                <a:latin typeface="Arial"/>
                <a:cs typeface="Arial"/>
              </a:rPr>
              <a:t>.</a:t>
            </a:r>
            <a:endParaRPr sz="900">
              <a:latin typeface="Arial"/>
              <a:cs typeface="Arial"/>
            </a:endParaRPr>
          </a:p>
          <a:p>
            <a:pPr marL="50800">
              <a:lnSpc>
                <a:spcPct val="100000"/>
              </a:lnSpc>
              <a:spcBef>
                <a:spcPts val="715"/>
              </a:spcBef>
            </a:pPr>
            <a:r>
              <a:rPr sz="1000" dirty="0">
                <a:solidFill>
                  <a:srgbClr val="3333B2"/>
                </a:solidFill>
                <a:latin typeface="Arial"/>
                <a:cs typeface="Arial"/>
              </a:rPr>
              <a:t>Current</a:t>
            </a:r>
            <a:r>
              <a:rPr sz="1000" spc="-40" dirty="0">
                <a:solidFill>
                  <a:srgbClr val="3333B2"/>
                </a:solidFill>
                <a:latin typeface="Arial"/>
                <a:cs typeface="Arial"/>
              </a:rPr>
              <a:t> </a:t>
            </a:r>
            <a:r>
              <a:rPr sz="1000" spc="-10" dirty="0">
                <a:solidFill>
                  <a:srgbClr val="3333B2"/>
                </a:solidFill>
                <a:latin typeface="Arial"/>
                <a:cs typeface="Arial"/>
              </a:rPr>
              <a:t>practice</a:t>
            </a:r>
            <a:endParaRPr sz="1000">
              <a:latin typeface="Arial"/>
              <a:cs typeface="Arial"/>
            </a:endParaRPr>
          </a:p>
          <a:p>
            <a:pPr marL="50800">
              <a:lnSpc>
                <a:spcPct val="100000"/>
              </a:lnSpc>
              <a:spcBef>
                <a:spcPts val="300"/>
              </a:spcBef>
            </a:pPr>
            <a:r>
              <a:rPr sz="900" dirty="0">
                <a:latin typeface="Arial"/>
                <a:cs typeface="Arial"/>
              </a:rPr>
              <a:t>In</a:t>
            </a:r>
            <a:r>
              <a:rPr sz="900" spc="-20" dirty="0">
                <a:latin typeface="Arial"/>
                <a:cs typeface="Arial"/>
              </a:rPr>
              <a:t> </a:t>
            </a:r>
            <a:r>
              <a:rPr sz="900" dirty="0">
                <a:latin typeface="Arial"/>
                <a:cs typeface="Arial"/>
              </a:rPr>
              <a:t>many</a:t>
            </a:r>
            <a:r>
              <a:rPr sz="900" spc="-15" dirty="0">
                <a:latin typeface="Arial"/>
                <a:cs typeface="Arial"/>
              </a:rPr>
              <a:t> </a:t>
            </a:r>
            <a:r>
              <a:rPr sz="900" spc="-35" dirty="0">
                <a:latin typeface="Arial"/>
                <a:cs typeface="Arial"/>
              </a:rPr>
              <a:t>PoW-</a:t>
            </a:r>
            <a:r>
              <a:rPr sz="900" dirty="0">
                <a:latin typeface="Arial"/>
                <a:cs typeface="Arial"/>
              </a:rPr>
              <a:t>based</a:t>
            </a:r>
            <a:r>
              <a:rPr sz="900" spc="-15" dirty="0">
                <a:latin typeface="Arial"/>
                <a:cs typeface="Arial"/>
              </a:rPr>
              <a:t> </a:t>
            </a:r>
            <a:r>
              <a:rPr sz="900" spc="-10" dirty="0">
                <a:latin typeface="Arial"/>
                <a:cs typeface="Arial"/>
              </a:rPr>
              <a:t>blockchain</a:t>
            </a:r>
            <a:r>
              <a:rPr sz="900" spc="-15" dirty="0">
                <a:latin typeface="Arial"/>
                <a:cs typeface="Arial"/>
              </a:rPr>
              <a:t> </a:t>
            </a:r>
            <a:r>
              <a:rPr sz="900" dirty="0">
                <a:latin typeface="Arial"/>
                <a:cs typeface="Arial"/>
              </a:rPr>
              <a:t>systems,</a:t>
            </a:r>
            <a:r>
              <a:rPr sz="900" spc="-15" dirty="0">
                <a:latin typeface="Arial"/>
                <a:cs typeface="Arial"/>
              </a:rPr>
              <a:t> </a:t>
            </a:r>
            <a:r>
              <a:rPr sz="900" i="1" dirty="0">
                <a:latin typeface="Arial"/>
                <a:cs typeface="Arial"/>
              </a:rPr>
              <a:t>K</a:t>
            </a:r>
            <a:r>
              <a:rPr sz="900" i="1" spc="65" dirty="0">
                <a:latin typeface="Arial"/>
                <a:cs typeface="Arial"/>
              </a:rPr>
              <a:t> </a:t>
            </a:r>
            <a:r>
              <a:rPr sz="900" spc="185" dirty="0">
                <a:latin typeface="Arial"/>
                <a:cs typeface="Arial"/>
              </a:rPr>
              <a:t>=</a:t>
            </a:r>
            <a:r>
              <a:rPr sz="900" spc="-65" dirty="0">
                <a:latin typeface="Arial"/>
                <a:cs typeface="Arial"/>
              </a:rPr>
              <a:t> </a:t>
            </a:r>
            <a:r>
              <a:rPr sz="900" spc="-25" dirty="0">
                <a:latin typeface="Arial"/>
                <a:cs typeface="Arial"/>
              </a:rPr>
              <a:t>64</a:t>
            </a:r>
            <a:endParaRPr sz="900">
              <a:latin typeface="Arial"/>
              <a:cs typeface="Arial"/>
            </a:endParaRPr>
          </a:p>
          <a:p>
            <a:pPr marL="298450" indent="-115570">
              <a:lnSpc>
                <a:spcPct val="100000"/>
              </a:lnSpc>
              <a:spcBef>
                <a:spcPts val="520"/>
              </a:spcBef>
              <a:buClr>
                <a:srgbClr val="3333B2"/>
              </a:buClr>
              <a:buFont typeface="Menlo"/>
              <a:buChar char="•"/>
              <a:tabLst>
                <a:tab pos="299085" algn="l"/>
              </a:tabLst>
            </a:pPr>
            <a:r>
              <a:rPr sz="900" dirty="0">
                <a:latin typeface="Arial"/>
                <a:cs typeface="Arial"/>
              </a:rPr>
              <a:t>With</a:t>
            </a:r>
            <a:r>
              <a:rPr sz="900" spc="-15" dirty="0">
                <a:latin typeface="Arial"/>
                <a:cs typeface="Arial"/>
              </a:rPr>
              <a:t> </a:t>
            </a:r>
            <a:r>
              <a:rPr sz="900" i="1" dirty="0">
                <a:latin typeface="Arial"/>
                <a:cs typeface="Arial"/>
              </a:rPr>
              <a:t>K</a:t>
            </a:r>
            <a:r>
              <a:rPr sz="900" i="1" spc="65" dirty="0">
                <a:latin typeface="Arial"/>
                <a:cs typeface="Arial"/>
              </a:rPr>
              <a:t> </a:t>
            </a:r>
            <a:r>
              <a:rPr sz="900" spc="185" dirty="0">
                <a:latin typeface="Arial"/>
                <a:cs typeface="Arial"/>
              </a:rPr>
              <a:t>=</a:t>
            </a:r>
            <a:r>
              <a:rPr sz="900" spc="-65" dirty="0">
                <a:latin typeface="Arial"/>
                <a:cs typeface="Arial"/>
              </a:rPr>
              <a:t> </a:t>
            </a:r>
            <a:r>
              <a:rPr sz="900" dirty="0">
                <a:latin typeface="Arial"/>
                <a:cs typeface="Arial"/>
              </a:rPr>
              <a:t>64,</a:t>
            </a:r>
            <a:r>
              <a:rPr sz="900" spc="-10" dirty="0">
                <a:latin typeface="Arial"/>
                <a:cs typeface="Arial"/>
              </a:rPr>
              <a:t> </a:t>
            </a:r>
            <a:r>
              <a:rPr sz="900" dirty="0">
                <a:latin typeface="Arial"/>
                <a:cs typeface="Arial"/>
              </a:rPr>
              <a:t>it</a:t>
            </a:r>
            <a:r>
              <a:rPr sz="900" spc="-15" dirty="0">
                <a:latin typeface="Arial"/>
                <a:cs typeface="Arial"/>
              </a:rPr>
              <a:t> </a:t>
            </a:r>
            <a:r>
              <a:rPr sz="900" dirty="0">
                <a:latin typeface="Arial"/>
                <a:cs typeface="Arial"/>
              </a:rPr>
              <a:t>takes</a:t>
            </a:r>
            <a:r>
              <a:rPr sz="900" spc="-15" dirty="0">
                <a:latin typeface="Arial"/>
                <a:cs typeface="Arial"/>
              </a:rPr>
              <a:t> </a:t>
            </a:r>
            <a:r>
              <a:rPr sz="900" dirty="0">
                <a:latin typeface="Arial"/>
                <a:cs typeface="Arial"/>
              </a:rPr>
              <a:t>about</a:t>
            </a:r>
            <a:r>
              <a:rPr sz="900" spc="-15" dirty="0">
                <a:latin typeface="Arial"/>
                <a:cs typeface="Arial"/>
              </a:rPr>
              <a:t> </a:t>
            </a:r>
            <a:r>
              <a:rPr sz="900" dirty="0">
                <a:latin typeface="Arial"/>
                <a:cs typeface="Arial"/>
              </a:rPr>
              <a:t>10</a:t>
            </a:r>
            <a:r>
              <a:rPr sz="900" spc="-10" dirty="0">
                <a:latin typeface="Arial"/>
                <a:cs typeface="Arial"/>
              </a:rPr>
              <a:t> </a:t>
            </a:r>
            <a:r>
              <a:rPr sz="900" dirty="0">
                <a:latin typeface="Arial"/>
                <a:cs typeface="Arial"/>
              </a:rPr>
              <a:t>minutes</a:t>
            </a:r>
            <a:r>
              <a:rPr sz="900" spc="-15" dirty="0">
                <a:latin typeface="Arial"/>
                <a:cs typeface="Arial"/>
              </a:rPr>
              <a:t> </a:t>
            </a:r>
            <a:r>
              <a:rPr sz="900" dirty="0">
                <a:latin typeface="Arial"/>
                <a:cs typeface="Arial"/>
              </a:rPr>
              <a:t>on</a:t>
            </a:r>
            <a:r>
              <a:rPr sz="900" spc="-15" dirty="0">
                <a:latin typeface="Arial"/>
                <a:cs typeface="Arial"/>
              </a:rPr>
              <a:t> </a:t>
            </a:r>
            <a:r>
              <a:rPr sz="900" dirty="0">
                <a:latin typeface="Arial"/>
                <a:cs typeface="Arial"/>
              </a:rPr>
              <a:t>a</a:t>
            </a:r>
            <a:r>
              <a:rPr sz="900" spc="-10" dirty="0">
                <a:latin typeface="Arial"/>
                <a:cs typeface="Arial"/>
              </a:rPr>
              <a:t> supercomputer</a:t>
            </a:r>
            <a:r>
              <a:rPr sz="900" spc="-15" dirty="0">
                <a:latin typeface="Arial"/>
                <a:cs typeface="Arial"/>
              </a:rPr>
              <a:t> </a:t>
            </a:r>
            <a:r>
              <a:rPr sz="900" dirty="0">
                <a:latin typeface="Arial"/>
                <a:cs typeface="Arial"/>
              </a:rPr>
              <a:t>to</a:t>
            </a:r>
            <a:r>
              <a:rPr sz="900" spc="-15" dirty="0">
                <a:latin typeface="Arial"/>
                <a:cs typeface="Arial"/>
              </a:rPr>
              <a:t> </a:t>
            </a:r>
            <a:r>
              <a:rPr sz="900" dirty="0">
                <a:latin typeface="Arial"/>
                <a:cs typeface="Arial"/>
              </a:rPr>
              <a:t>find</a:t>
            </a:r>
            <a:r>
              <a:rPr sz="900" spc="-10" dirty="0">
                <a:latin typeface="Arial"/>
                <a:cs typeface="Arial"/>
              </a:rPr>
              <a:t> </a:t>
            </a:r>
            <a:r>
              <a:rPr sz="900" i="1" spc="-25" dirty="0">
                <a:latin typeface="Arial"/>
                <a:cs typeface="Arial"/>
              </a:rPr>
              <a:t>h</a:t>
            </a:r>
            <a:r>
              <a:rPr sz="1350" spc="-37" baseline="15432" dirty="0">
                <a:latin typeface="Arial"/>
                <a:cs typeface="Arial"/>
              </a:rPr>
              <a:t>˜</a:t>
            </a:r>
            <a:endParaRPr sz="1350" baseline="15432">
              <a:latin typeface="Arial"/>
              <a:cs typeface="Arial"/>
            </a:endParaRPr>
          </a:p>
          <a:p>
            <a:pPr marL="298450" indent="-115570">
              <a:lnSpc>
                <a:spcPct val="100000"/>
              </a:lnSpc>
              <a:spcBef>
                <a:spcPts val="525"/>
              </a:spcBef>
              <a:buClr>
                <a:srgbClr val="3333B2"/>
              </a:buClr>
              <a:buFont typeface="Menlo"/>
              <a:buChar char="•"/>
              <a:tabLst>
                <a:tab pos="299085" algn="l"/>
              </a:tabLst>
            </a:pPr>
            <a:r>
              <a:rPr sz="900" dirty="0">
                <a:latin typeface="Arial"/>
                <a:cs typeface="Arial"/>
              </a:rPr>
              <a:t>With</a:t>
            </a:r>
            <a:r>
              <a:rPr sz="900" spc="-30" dirty="0">
                <a:latin typeface="Arial"/>
                <a:cs typeface="Arial"/>
              </a:rPr>
              <a:t> </a:t>
            </a:r>
            <a:r>
              <a:rPr sz="900" i="1" dirty="0">
                <a:latin typeface="Arial"/>
                <a:cs typeface="Arial"/>
              </a:rPr>
              <a:t>K</a:t>
            </a:r>
            <a:r>
              <a:rPr sz="900" i="1" spc="55" dirty="0">
                <a:latin typeface="Arial"/>
                <a:cs typeface="Arial"/>
              </a:rPr>
              <a:t> </a:t>
            </a:r>
            <a:r>
              <a:rPr sz="900" spc="185" dirty="0">
                <a:latin typeface="Arial"/>
                <a:cs typeface="Arial"/>
              </a:rPr>
              <a:t>=</a:t>
            </a:r>
            <a:r>
              <a:rPr sz="900" spc="-60" dirty="0">
                <a:latin typeface="Arial"/>
                <a:cs typeface="Arial"/>
              </a:rPr>
              <a:t> </a:t>
            </a:r>
            <a:r>
              <a:rPr sz="900" dirty="0">
                <a:latin typeface="Arial"/>
                <a:cs typeface="Arial"/>
              </a:rPr>
              <a:t>64,</a:t>
            </a:r>
            <a:r>
              <a:rPr sz="900" spc="-20" dirty="0">
                <a:latin typeface="Arial"/>
                <a:cs typeface="Arial"/>
              </a:rPr>
              <a:t> </a:t>
            </a:r>
            <a:r>
              <a:rPr sz="900" dirty="0">
                <a:latin typeface="Arial"/>
                <a:cs typeface="Arial"/>
              </a:rPr>
              <a:t>it</a:t>
            </a:r>
            <a:r>
              <a:rPr sz="900" spc="-20" dirty="0">
                <a:latin typeface="Arial"/>
                <a:cs typeface="Arial"/>
              </a:rPr>
              <a:t> </a:t>
            </a:r>
            <a:r>
              <a:rPr sz="900" dirty="0">
                <a:latin typeface="Arial"/>
                <a:cs typeface="Arial"/>
              </a:rPr>
              <a:t>takes</a:t>
            </a:r>
            <a:r>
              <a:rPr sz="900" spc="-25" dirty="0">
                <a:latin typeface="Arial"/>
                <a:cs typeface="Arial"/>
              </a:rPr>
              <a:t> </a:t>
            </a:r>
            <a:r>
              <a:rPr sz="900" dirty="0">
                <a:latin typeface="Arial"/>
                <a:cs typeface="Arial"/>
              </a:rPr>
              <a:t>about</a:t>
            </a:r>
            <a:r>
              <a:rPr sz="900" spc="-20" dirty="0">
                <a:latin typeface="Arial"/>
                <a:cs typeface="Arial"/>
              </a:rPr>
              <a:t> </a:t>
            </a:r>
            <a:r>
              <a:rPr sz="900" dirty="0">
                <a:latin typeface="Arial"/>
                <a:cs typeface="Arial"/>
              </a:rPr>
              <a:t>100</a:t>
            </a:r>
            <a:r>
              <a:rPr sz="900" spc="-20" dirty="0">
                <a:latin typeface="Arial"/>
                <a:cs typeface="Arial"/>
              </a:rPr>
              <a:t> </a:t>
            </a:r>
            <a:r>
              <a:rPr sz="900" dirty="0">
                <a:latin typeface="Arial"/>
                <a:cs typeface="Arial"/>
              </a:rPr>
              <a:t>years</a:t>
            </a:r>
            <a:r>
              <a:rPr sz="900" spc="-20" dirty="0">
                <a:latin typeface="Arial"/>
                <a:cs typeface="Arial"/>
              </a:rPr>
              <a:t> </a:t>
            </a:r>
            <a:r>
              <a:rPr sz="900" dirty="0">
                <a:latin typeface="Arial"/>
                <a:cs typeface="Arial"/>
              </a:rPr>
              <a:t>on</a:t>
            </a:r>
            <a:r>
              <a:rPr sz="900" spc="-20" dirty="0">
                <a:latin typeface="Arial"/>
                <a:cs typeface="Arial"/>
              </a:rPr>
              <a:t> </a:t>
            </a:r>
            <a:r>
              <a:rPr sz="900" dirty="0">
                <a:latin typeface="Arial"/>
                <a:cs typeface="Arial"/>
              </a:rPr>
              <a:t>a</a:t>
            </a:r>
            <a:r>
              <a:rPr sz="900" spc="-20" dirty="0">
                <a:latin typeface="Arial"/>
                <a:cs typeface="Arial"/>
              </a:rPr>
              <a:t> </a:t>
            </a:r>
            <a:r>
              <a:rPr sz="900" dirty="0">
                <a:latin typeface="Arial"/>
                <a:cs typeface="Arial"/>
              </a:rPr>
              <a:t>laptop</a:t>
            </a:r>
            <a:r>
              <a:rPr sz="900" spc="-20" dirty="0">
                <a:latin typeface="Arial"/>
                <a:cs typeface="Arial"/>
              </a:rPr>
              <a:t> </a:t>
            </a:r>
            <a:r>
              <a:rPr sz="900" dirty="0">
                <a:latin typeface="Arial"/>
                <a:cs typeface="Arial"/>
              </a:rPr>
              <a:t>to</a:t>
            </a:r>
            <a:r>
              <a:rPr sz="900" spc="-20" dirty="0">
                <a:latin typeface="Arial"/>
                <a:cs typeface="Arial"/>
              </a:rPr>
              <a:t> </a:t>
            </a:r>
            <a:r>
              <a:rPr sz="900" dirty="0">
                <a:latin typeface="Arial"/>
                <a:cs typeface="Arial"/>
              </a:rPr>
              <a:t>find</a:t>
            </a:r>
            <a:r>
              <a:rPr sz="900" spc="-20" dirty="0">
                <a:latin typeface="Arial"/>
                <a:cs typeface="Arial"/>
              </a:rPr>
              <a:t> </a:t>
            </a:r>
            <a:r>
              <a:rPr sz="900" i="1" spc="-25" dirty="0">
                <a:latin typeface="Arial"/>
                <a:cs typeface="Arial"/>
              </a:rPr>
              <a:t>h</a:t>
            </a:r>
            <a:r>
              <a:rPr sz="1350" spc="-37" baseline="15432" dirty="0">
                <a:latin typeface="Arial"/>
                <a:cs typeface="Arial"/>
              </a:rPr>
              <a:t>˜</a:t>
            </a:r>
            <a:endParaRPr sz="1350" baseline="15432">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92583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Elections</a:t>
            </a:r>
            <a:r>
              <a:rPr sz="500" spc="-5" dirty="0">
                <a:latin typeface="Arial"/>
                <a:cs typeface="Arial"/>
                <a:hlinkClick r:id="rId4" action="ppaction://hlinksldjump"/>
              </a:rPr>
              <a:t> </a:t>
            </a:r>
            <a:r>
              <a:rPr sz="500" dirty="0">
                <a:latin typeface="Arial"/>
                <a:cs typeface="Arial"/>
                <a:hlinkClick r:id="rId4" action="ppaction://hlinksldjump"/>
              </a:rPr>
              <a:t>in </a:t>
            </a:r>
            <a:r>
              <a:rPr sz="500" spc="-10" dirty="0">
                <a:latin typeface="Arial"/>
                <a:cs typeface="Arial"/>
                <a:hlinkClick r:id="rId4" action="ppaction://hlinksldjump"/>
              </a:rPr>
              <a:t>large-</a:t>
            </a:r>
            <a:r>
              <a:rPr sz="500" dirty="0">
                <a:latin typeface="Arial"/>
                <a:cs typeface="Arial"/>
                <a:hlinkClick r:id="rId4" action="ppaction://hlinksldjump"/>
              </a:rPr>
              <a:t>scale </a:t>
            </a:r>
            <a:r>
              <a:rPr sz="500" spc="-10" dirty="0">
                <a:latin typeface="Arial"/>
                <a:cs typeface="Arial"/>
                <a:hlinkClick r:id="rId4" action="ppaction://hlinksldjump"/>
              </a:rPr>
              <a:t>systems</a:t>
            </a:r>
            <a:endParaRPr sz="500">
              <a:latin typeface="Arial"/>
              <a:cs typeface="Arial"/>
            </a:endParaRPr>
          </a:p>
        </p:txBody>
      </p:sp>
    </p:spTree>
  </p:cSld>
  <p:clrMapOvr>
    <a:masterClrMapping/>
  </p:clrMapOvr>
  <p:transition>
    <p:fad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8417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Coordination</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993806" y="-1515"/>
            <a:ext cx="561340"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Election</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algorithms</a:t>
            </a:r>
            <a:endParaRPr sz="500">
              <a:latin typeface="Arial"/>
              <a:cs typeface="Arial"/>
            </a:endParaRPr>
          </a:p>
        </p:txBody>
      </p:sp>
      <p:sp>
        <p:nvSpPr>
          <p:cNvPr id="5" name="object 5"/>
          <p:cNvSpPr txBox="1"/>
          <p:nvPr/>
        </p:nvSpPr>
        <p:spPr>
          <a:xfrm>
            <a:off x="44500" y="197711"/>
            <a:ext cx="4211955" cy="2781300"/>
          </a:xfrm>
          <a:prstGeom prst="rect">
            <a:avLst/>
          </a:prstGeom>
        </p:spPr>
        <p:txBody>
          <a:bodyPr vert="horz" wrap="square" lIns="0" tIns="12065" rIns="0" bIns="0" rtlCol="0">
            <a:spAutoFit/>
          </a:bodyPr>
          <a:lstStyle/>
          <a:p>
            <a:pPr marL="63500">
              <a:lnSpc>
                <a:spcPct val="100000"/>
              </a:lnSpc>
              <a:spcBef>
                <a:spcPts val="95"/>
              </a:spcBef>
            </a:pPr>
            <a:r>
              <a:rPr sz="1200" dirty="0">
                <a:solidFill>
                  <a:srgbClr val="3333B2"/>
                </a:solidFill>
                <a:latin typeface="Arial"/>
                <a:cs typeface="Arial"/>
              </a:rPr>
              <a:t>Elections</a:t>
            </a:r>
            <a:r>
              <a:rPr sz="1200" spc="-40" dirty="0">
                <a:solidFill>
                  <a:srgbClr val="3333B2"/>
                </a:solidFill>
                <a:latin typeface="Arial"/>
                <a:cs typeface="Arial"/>
              </a:rPr>
              <a:t> </a:t>
            </a:r>
            <a:r>
              <a:rPr sz="1200" dirty="0">
                <a:solidFill>
                  <a:srgbClr val="3333B2"/>
                </a:solidFill>
                <a:latin typeface="Arial"/>
                <a:cs typeface="Arial"/>
              </a:rPr>
              <a:t>by</a:t>
            </a:r>
            <a:r>
              <a:rPr sz="1200" spc="-35" dirty="0">
                <a:solidFill>
                  <a:srgbClr val="3333B2"/>
                </a:solidFill>
                <a:latin typeface="Arial"/>
                <a:cs typeface="Arial"/>
              </a:rPr>
              <a:t> </a:t>
            </a:r>
            <a:r>
              <a:rPr sz="1200" dirty="0">
                <a:solidFill>
                  <a:srgbClr val="3333B2"/>
                </a:solidFill>
                <a:latin typeface="Arial"/>
                <a:cs typeface="Arial"/>
              </a:rPr>
              <a:t>proof</a:t>
            </a:r>
            <a:r>
              <a:rPr sz="1200" spc="-35" dirty="0">
                <a:solidFill>
                  <a:srgbClr val="3333B2"/>
                </a:solidFill>
                <a:latin typeface="Arial"/>
                <a:cs typeface="Arial"/>
              </a:rPr>
              <a:t> </a:t>
            </a:r>
            <a:r>
              <a:rPr sz="1200" dirty="0">
                <a:solidFill>
                  <a:srgbClr val="3333B2"/>
                </a:solidFill>
                <a:latin typeface="Arial"/>
                <a:cs typeface="Arial"/>
              </a:rPr>
              <a:t>of</a:t>
            </a:r>
            <a:r>
              <a:rPr sz="1200" spc="-35" dirty="0">
                <a:solidFill>
                  <a:srgbClr val="3333B2"/>
                </a:solidFill>
                <a:latin typeface="Arial"/>
                <a:cs typeface="Arial"/>
              </a:rPr>
              <a:t> </a:t>
            </a:r>
            <a:r>
              <a:rPr sz="1200" spc="-10" dirty="0">
                <a:solidFill>
                  <a:srgbClr val="3333B2"/>
                </a:solidFill>
                <a:latin typeface="Arial"/>
                <a:cs typeface="Arial"/>
              </a:rPr>
              <a:t>stake</a:t>
            </a:r>
            <a:endParaRPr sz="1200">
              <a:latin typeface="Arial"/>
              <a:cs typeface="Arial"/>
            </a:endParaRPr>
          </a:p>
          <a:p>
            <a:pPr marL="314960">
              <a:lnSpc>
                <a:spcPct val="100000"/>
              </a:lnSpc>
              <a:spcBef>
                <a:spcPts val="1055"/>
              </a:spcBef>
            </a:pPr>
            <a:r>
              <a:rPr sz="1000" spc="-10" dirty="0">
                <a:solidFill>
                  <a:srgbClr val="3333B2"/>
                </a:solidFill>
                <a:latin typeface="Arial"/>
                <a:cs typeface="Arial"/>
              </a:rPr>
              <a:t>Basics</a:t>
            </a:r>
            <a:endParaRPr sz="1000">
              <a:latin typeface="Arial"/>
              <a:cs typeface="Arial"/>
            </a:endParaRPr>
          </a:p>
          <a:p>
            <a:pPr marL="309880">
              <a:lnSpc>
                <a:spcPct val="100000"/>
              </a:lnSpc>
              <a:spcBef>
                <a:spcPts val="105"/>
              </a:spcBef>
            </a:pPr>
            <a:r>
              <a:rPr sz="900" dirty="0">
                <a:latin typeface="Arial"/>
                <a:cs typeface="Arial"/>
              </a:rPr>
              <a:t>We</a:t>
            </a:r>
            <a:r>
              <a:rPr sz="900" spc="-25" dirty="0">
                <a:latin typeface="Arial"/>
                <a:cs typeface="Arial"/>
              </a:rPr>
              <a:t> </a:t>
            </a:r>
            <a:r>
              <a:rPr sz="900" dirty="0">
                <a:latin typeface="Arial"/>
                <a:cs typeface="Arial"/>
              </a:rPr>
              <a:t>assume</a:t>
            </a:r>
            <a:r>
              <a:rPr sz="900" spc="-25" dirty="0">
                <a:latin typeface="Arial"/>
                <a:cs typeface="Arial"/>
              </a:rPr>
              <a:t> </a:t>
            </a:r>
            <a:r>
              <a:rPr sz="900" dirty="0">
                <a:latin typeface="Arial"/>
                <a:cs typeface="Arial"/>
              </a:rPr>
              <a:t>a</a:t>
            </a:r>
            <a:r>
              <a:rPr sz="900" spc="-25" dirty="0">
                <a:latin typeface="Arial"/>
                <a:cs typeface="Arial"/>
              </a:rPr>
              <a:t> </a:t>
            </a:r>
            <a:r>
              <a:rPr sz="900" spc="-10" dirty="0">
                <a:latin typeface="Arial"/>
                <a:cs typeface="Arial"/>
              </a:rPr>
              <a:t>blockchain</a:t>
            </a:r>
            <a:r>
              <a:rPr sz="900" spc="-25" dirty="0">
                <a:latin typeface="Arial"/>
                <a:cs typeface="Arial"/>
              </a:rPr>
              <a:t> </a:t>
            </a:r>
            <a:r>
              <a:rPr sz="900" dirty="0">
                <a:latin typeface="Arial"/>
                <a:cs typeface="Arial"/>
              </a:rPr>
              <a:t>system</a:t>
            </a:r>
            <a:r>
              <a:rPr sz="900" spc="-20" dirty="0">
                <a:latin typeface="Arial"/>
                <a:cs typeface="Arial"/>
              </a:rPr>
              <a:t> </a:t>
            </a:r>
            <a:r>
              <a:rPr sz="900" dirty="0">
                <a:latin typeface="Arial"/>
                <a:cs typeface="Arial"/>
              </a:rPr>
              <a:t>in</a:t>
            </a:r>
            <a:r>
              <a:rPr sz="900" spc="-25" dirty="0">
                <a:latin typeface="Arial"/>
                <a:cs typeface="Arial"/>
              </a:rPr>
              <a:t> </a:t>
            </a:r>
            <a:r>
              <a:rPr sz="900" dirty="0">
                <a:latin typeface="Arial"/>
                <a:cs typeface="Arial"/>
              </a:rPr>
              <a:t>which</a:t>
            </a:r>
            <a:r>
              <a:rPr sz="900" spc="-25" dirty="0">
                <a:latin typeface="Arial"/>
                <a:cs typeface="Arial"/>
              </a:rPr>
              <a:t> </a:t>
            </a:r>
            <a:r>
              <a:rPr sz="900" i="1" dirty="0">
                <a:latin typeface="Arial"/>
                <a:cs typeface="Arial"/>
              </a:rPr>
              <a:t>N</a:t>
            </a:r>
            <a:r>
              <a:rPr sz="900" i="1" spc="40" dirty="0">
                <a:latin typeface="Arial"/>
                <a:cs typeface="Arial"/>
              </a:rPr>
              <a:t> </a:t>
            </a:r>
            <a:r>
              <a:rPr sz="900" dirty="0">
                <a:solidFill>
                  <a:srgbClr val="C80000"/>
                </a:solidFill>
                <a:latin typeface="Arial"/>
                <a:cs typeface="Arial"/>
              </a:rPr>
              <a:t>secure</a:t>
            </a:r>
            <a:r>
              <a:rPr sz="900" spc="-25" dirty="0">
                <a:solidFill>
                  <a:srgbClr val="C80000"/>
                </a:solidFill>
                <a:latin typeface="Arial"/>
                <a:cs typeface="Arial"/>
              </a:rPr>
              <a:t> </a:t>
            </a:r>
            <a:r>
              <a:rPr sz="900" dirty="0">
                <a:solidFill>
                  <a:srgbClr val="C80000"/>
                </a:solidFill>
                <a:latin typeface="Arial"/>
                <a:cs typeface="Arial"/>
              </a:rPr>
              <a:t>tokens</a:t>
            </a:r>
            <a:r>
              <a:rPr sz="900" spc="-25" dirty="0">
                <a:solidFill>
                  <a:srgbClr val="C80000"/>
                </a:solidFill>
                <a:latin typeface="Arial"/>
                <a:cs typeface="Arial"/>
              </a:rPr>
              <a:t> </a:t>
            </a:r>
            <a:r>
              <a:rPr sz="900" dirty="0">
                <a:latin typeface="Arial"/>
                <a:cs typeface="Arial"/>
              </a:rPr>
              <a:t>are</a:t>
            </a:r>
            <a:r>
              <a:rPr sz="900" spc="-20" dirty="0">
                <a:latin typeface="Arial"/>
                <a:cs typeface="Arial"/>
              </a:rPr>
              <a:t> </a:t>
            </a:r>
            <a:r>
              <a:rPr sz="900" spc="-10" dirty="0">
                <a:latin typeface="Arial"/>
                <a:cs typeface="Arial"/>
              </a:rPr>
              <a:t>used:</a:t>
            </a:r>
            <a:endParaRPr sz="900">
              <a:latin typeface="Arial"/>
              <a:cs typeface="Arial"/>
            </a:endParaRPr>
          </a:p>
          <a:p>
            <a:pPr marL="568325" indent="-120650">
              <a:lnSpc>
                <a:spcPct val="100000"/>
              </a:lnSpc>
              <a:spcBef>
                <a:spcPts val="525"/>
              </a:spcBef>
              <a:buClr>
                <a:srgbClr val="3333B2"/>
              </a:buClr>
              <a:buFont typeface="Menlo"/>
              <a:buChar char="•"/>
              <a:tabLst>
                <a:tab pos="568960" algn="l"/>
              </a:tabLst>
            </a:pPr>
            <a:r>
              <a:rPr sz="900" dirty="0">
                <a:latin typeface="Arial"/>
                <a:cs typeface="Arial"/>
              </a:rPr>
              <a:t>Each</a:t>
            </a:r>
            <a:r>
              <a:rPr sz="900" spc="-30" dirty="0">
                <a:latin typeface="Arial"/>
                <a:cs typeface="Arial"/>
              </a:rPr>
              <a:t> </a:t>
            </a:r>
            <a:r>
              <a:rPr sz="900" dirty="0">
                <a:latin typeface="Arial"/>
                <a:cs typeface="Arial"/>
              </a:rPr>
              <a:t>token</a:t>
            </a:r>
            <a:r>
              <a:rPr sz="900" spc="-25" dirty="0">
                <a:latin typeface="Arial"/>
                <a:cs typeface="Arial"/>
              </a:rPr>
              <a:t> </a:t>
            </a:r>
            <a:r>
              <a:rPr sz="900" dirty="0">
                <a:latin typeface="Arial"/>
                <a:cs typeface="Arial"/>
              </a:rPr>
              <a:t>has</a:t>
            </a:r>
            <a:r>
              <a:rPr sz="900" spc="-30" dirty="0">
                <a:latin typeface="Arial"/>
                <a:cs typeface="Arial"/>
              </a:rPr>
              <a:t> </a:t>
            </a:r>
            <a:r>
              <a:rPr sz="900" dirty="0">
                <a:latin typeface="Arial"/>
                <a:cs typeface="Arial"/>
              </a:rPr>
              <a:t>a</a:t>
            </a:r>
            <a:r>
              <a:rPr sz="900" spc="-25" dirty="0">
                <a:latin typeface="Arial"/>
                <a:cs typeface="Arial"/>
              </a:rPr>
              <a:t> </a:t>
            </a:r>
            <a:r>
              <a:rPr sz="900" dirty="0">
                <a:latin typeface="Arial"/>
                <a:cs typeface="Arial"/>
              </a:rPr>
              <a:t>unique</a:t>
            </a:r>
            <a:r>
              <a:rPr sz="900" spc="-25" dirty="0">
                <a:latin typeface="Arial"/>
                <a:cs typeface="Arial"/>
              </a:rPr>
              <a:t> </a:t>
            </a:r>
            <a:r>
              <a:rPr sz="900" spc="-20" dirty="0">
                <a:solidFill>
                  <a:srgbClr val="3333B2"/>
                </a:solidFill>
                <a:latin typeface="Arial"/>
                <a:cs typeface="Arial"/>
              </a:rPr>
              <a:t>owner</a:t>
            </a:r>
            <a:endParaRPr sz="900">
              <a:latin typeface="Arial"/>
              <a:cs typeface="Arial"/>
            </a:endParaRPr>
          </a:p>
          <a:p>
            <a:pPr marL="568325" indent="-120650">
              <a:lnSpc>
                <a:spcPct val="100000"/>
              </a:lnSpc>
              <a:spcBef>
                <a:spcPts val="525"/>
              </a:spcBef>
              <a:buClr>
                <a:srgbClr val="3333B2"/>
              </a:buClr>
              <a:buFont typeface="Menlo"/>
              <a:buChar char="•"/>
              <a:tabLst>
                <a:tab pos="568960" algn="l"/>
              </a:tabLst>
            </a:pPr>
            <a:r>
              <a:rPr sz="900" dirty="0">
                <a:latin typeface="Arial"/>
                <a:cs typeface="Arial"/>
              </a:rPr>
              <a:t>Each</a:t>
            </a:r>
            <a:r>
              <a:rPr sz="900" spc="-65" dirty="0">
                <a:latin typeface="Arial"/>
                <a:cs typeface="Arial"/>
              </a:rPr>
              <a:t> </a:t>
            </a:r>
            <a:r>
              <a:rPr sz="900" dirty="0">
                <a:latin typeface="Arial"/>
                <a:cs typeface="Arial"/>
              </a:rPr>
              <a:t>token</a:t>
            </a:r>
            <a:r>
              <a:rPr sz="900" spc="-30" dirty="0">
                <a:latin typeface="Arial"/>
                <a:cs typeface="Arial"/>
              </a:rPr>
              <a:t> </a:t>
            </a:r>
            <a:r>
              <a:rPr sz="900" dirty="0">
                <a:latin typeface="Arial"/>
                <a:cs typeface="Arial"/>
              </a:rPr>
              <a:t>has</a:t>
            </a:r>
            <a:r>
              <a:rPr sz="900" spc="-25" dirty="0">
                <a:latin typeface="Arial"/>
                <a:cs typeface="Arial"/>
              </a:rPr>
              <a:t> </a:t>
            </a:r>
            <a:r>
              <a:rPr sz="900" dirty="0">
                <a:latin typeface="Arial"/>
                <a:cs typeface="Arial"/>
              </a:rPr>
              <a:t>a</a:t>
            </a:r>
            <a:r>
              <a:rPr sz="900" spc="-25" dirty="0">
                <a:latin typeface="Arial"/>
                <a:cs typeface="Arial"/>
              </a:rPr>
              <a:t> </a:t>
            </a:r>
            <a:r>
              <a:rPr sz="900" dirty="0">
                <a:latin typeface="Arial"/>
                <a:cs typeface="Arial"/>
              </a:rPr>
              <a:t>uniquely</a:t>
            </a:r>
            <a:r>
              <a:rPr sz="900" spc="-25" dirty="0">
                <a:latin typeface="Arial"/>
                <a:cs typeface="Arial"/>
              </a:rPr>
              <a:t> </a:t>
            </a:r>
            <a:r>
              <a:rPr sz="900" dirty="0">
                <a:latin typeface="Arial"/>
                <a:cs typeface="Arial"/>
              </a:rPr>
              <a:t>associated</a:t>
            </a:r>
            <a:r>
              <a:rPr sz="900" spc="-25" dirty="0">
                <a:latin typeface="Arial"/>
                <a:cs typeface="Arial"/>
              </a:rPr>
              <a:t> </a:t>
            </a:r>
            <a:r>
              <a:rPr sz="900" dirty="0">
                <a:solidFill>
                  <a:srgbClr val="3333B2"/>
                </a:solidFill>
                <a:latin typeface="Arial"/>
                <a:cs typeface="Arial"/>
              </a:rPr>
              <a:t>index</a:t>
            </a:r>
            <a:r>
              <a:rPr sz="900" spc="-25" dirty="0">
                <a:solidFill>
                  <a:srgbClr val="3333B2"/>
                </a:solidFill>
                <a:latin typeface="Arial"/>
                <a:cs typeface="Arial"/>
              </a:rPr>
              <a:t> </a:t>
            </a:r>
            <a:r>
              <a:rPr sz="900" dirty="0">
                <a:latin typeface="Arial"/>
                <a:cs typeface="Arial"/>
              </a:rPr>
              <a:t>1</a:t>
            </a:r>
            <a:r>
              <a:rPr sz="900" spc="-65" dirty="0">
                <a:latin typeface="Arial"/>
                <a:cs typeface="Arial"/>
              </a:rPr>
              <a:t> </a:t>
            </a:r>
            <a:r>
              <a:rPr sz="900" i="1" spc="150" dirty="0">
                <a:latin typeface="Menlo"/>
                <a:cs typeface="Menlo"/>
              </a:rPr>
              <a:t>≤</a:t>
            </a:r>
            <a:r>
              <a:rPr sz="900" i="1" spc="-345" dirty="0">
                <a:latin typeface="Menlo"/>
                <a:cs typeface="Menlo"/>
              </a:rPr>
              <a:t> </a:t>
            </a:r>
            <a:r>
              <a:rPr sz="900" i="1" dirty="0">
                <a:latin typeface="Arial"/>
                <a:cs typeface="Arial"/>
              </a:rPr>
              <a:t>k</a:t>
            </a:r>
            <a:r>
              <a:rPr sz="900" i="1" spc="10" dirty="0">
                <a:latin typeface="Arial"/>
                <a:cs typeface="Arial"/>
              </a:rPr>
              <a:t> </a:t>
            </a:r>
            <a:r>
              <a:rPr sz="900" i="1" spc="150" dirty="0">
                <a:latin typeface="Menlo"/>
                <a:cs typeface="Menlo"/>
              </a:rPr>
              <a:t>≤</a:t>
            </a:r>
            <a:r>
              <a:rPr sz="900" i="1" spc="-345" dirty="0">
                <a:latin typeface="Menlo"/>
                <a:cs typeface="Menlo"/>
              </a:rPr>
              <a:t> </a:t>
            </a:r>
            <a:r>
              <a:rPr sz="900" i="1" spc="-50" dirty="0">
                <a:latin typeface="Arial"/>
                <a:cs typeface="Arial"/>
              </a:rPr>
              <a:t>N</a:t>
            </a:r>
            <a:endParaRPr sz="900">
              <a:latin typeface="Arial"/>
              <a:cs typeface="Arial"/>
            </a:endParaRPr>
          </a:p>
          <a:p>
            <a:pPr marL="564515" indent="-116839">
              <a:lnSpc>
                <a:spcPct val="100000"/>
              </a:lnSpc>
              <a:spcBef>
                <a:spcPts val="525"/>
              </a:spcBef>
              <a:buClr>
                <a:srgbClr val="3333B2"/>
              </a:buClr>
              <a:buFont typeface="Menlo"/>
              <a:buChar char="•"/>
              <a:tabLst>
                <a:tab pos="565150" algn="l"/>
              </a:tabLst>
            </a:pPr>
            <a:r>
              <a:rPr sz="900" dirty="0">
                <a:latin typeface="Arial"/>
                <a:cs typeface="Arial"/>
              </a:rPr>
              <a:t>A</a:t>
            </a:r>
            <a:r>
              <a:rPr sz="900" spc="-30" dirty="0">
                <a:latin typeface="Arial"/>
                <a:cs typeface="Arial"/>
              </a:rPr>
              <a:t> </a:t>
            </a:r>
            <a:r>
              <a:rPr sz="900" dirty="0">
                <a:latin typeface="Arial"/>
                <a:cs typeface="Arial"/>
              </a:rPr>
              <a:t>token</a:t>
            </a:r>
            <a:r>
              <a:rPr sz="900" spc="-25" dirty="0">
                <a:latin typeface="Arial"/>
                <a:cs typeface="Arial"/>
              </a:rPr>
              <a:t> </a:t>
            </a:r>
            <a:r>
              <a:rPr sz="900" dirty="0">
                <a:latin typeface="Arial"/>
                <a:cs typeface="Arial"/>
              </a:rPr>
              <a:t>cannot</a:t>
            </a:r>
            <a:r>
              <a:rPr sz="900" spc="-30" dirty="0">
                <a:latin typeface="Arial"/>
                <a:cs typeface="Arial"/>
              </a:rPr>
              <a:t> </a:t>
            </a:r>
            <a:r>
              <a:rPr sz="900" dirty="0">
                <a:latin typeface="Arial"/>
                <a:cs typeface="Arial"/>
              </a:rPr>
              <a:t>be</a:t>
            </a:r>
            <a:r>
              <a:rPr sz="900" spc="-25" dirty="0">
                <a:latin typeface="Arial"/>
                <a:cs typeface="Arial"/>
              </a:rPr>
              <a:t> </a:t>
            </a:r>
            <a:r>
              <a:rPr sz="900" dirty="0">
                <a:latin typeface="Arial"/>
                <a:cs typeface="Arial"/>
              </a:rPr>
              <a:t>modified</a:t>
            </a:r>
            <a:r>
              <a:rPr sz="900" spc="-25" dirty="0">
                <a:latin typeface="Arial"/>
                <a:cs typeface="Arial"/>
              </a:rPr>
              <a:t> </a:t>
            </a:r>
            <a:r>
              <a:rPr sz="900" dirty="0">
                <a:latin typeface="Arial"/>
                <a:cs typeface="Arial"/>
              </a:rPr>
              <a:t>or</a:t>
            </a:r>
            <a:r>
              <a:rPr sz="900" spc="-30" dirty="0">
                <a:latin typeface="Arial"/>
                <a:cs typeface="Arial"/>
              </a:rPr>
              <a:t> </a:t>
            </a:r>
            <a:r>
              <a:rPr sz="900" dirty="0">
                <a:latin typeface="Arial"/>
                <a:cs typeface="Arial"/>
              </a:rPr>
              <a:t>copied</a:t>
            </a:r>
            <a:r>
              <a:rPr sz="900" spc="-25" dirty="0">
                <a:latin typeface="Arial"/>
                <a:cs typeface="Arial"/>
              </a:rPr>
              <a:t> </a:t>
            </a:r>
            <a:r>
              <a:rPr sz="900" dirty="0">
                <a:latin typeface="Arial"/>
                <a:cs typeface="Arial"/>
              </a:rPr>
              <a:t>without</a:t>
            </a:r>
            <a:r>
              <a:rPr sz="900" spc="-25" dirty="0">
                <a:latin typeface="Arial"/>
                <a:cs typeface="Arial"/>
              </a:rPr>
              <a:t> </a:t>
            </a:r>
            <a:r>
              <a:rPr sz="900" dirty="0">
                <a:latin typeface="Arial"/>
                <a:cs typeface="Arial"/>
              </a:rPr>
              <a:t>this</a:t>
            </a:r>
            <a:r>
              <a:rPr sz="900" spc="-30" dirty="0">
                <a:latin typeface="Arial"/>
                <a:cs typeface="Arial"/>
              </a:rPr>
              <a:t> </a:t>
            </a:r>
            <a:r>
              <a:rPr sz="900" dirty="0">
                <a:latin typeface="Arial"/>
                <a:cs typeface="Arial"/>
              </a:rPr>
              <a:t>going</a:t>
            </a:r>
            <a:r>
              <a:rPr sz="900" spc="-25" dirty="0">
                <a:latin typeface="Arial"/>
                <a:cs typeface="Arial"/>
              </a:rPr>
              <a:t> </a:t>
            </a:r>
            <a:r>
              <a:rPr sz="900" spc="-10" dirty="0">
                <a:latin typeface="Arial"/>
                <a:cs typeface="Arial"/>
              </a:rPr>
              <a:t>unnoticed</a:t>
            </a:r>
            <a:endParaRPr sz="900">
              <a:latin typeface="Arial"/>
              <a:cs typeface="Arial"/>
            </a:endParaRPr>
          </a:p>
          <a:p>
            <a:pPr>
              <a:lnSpc>
                <a:spcPct val="100000"/>
              </a:lnSpc>
              <a:spcBef>
                <a:spcPts val="25"/>
              </a:spcBef>
              <a:buClr>
                <a:srgbClr val="3333B2"/>
              </a:buClr>
              <a:buFont typeface="Menlo"/>
              <a:buChar char="•"/>
            </a:pPr>
            <a:endParaRPr sz="1200">
              <a:latin typeface="Arial"/>
              <a:cs typeface="Arial"/>
            </a:endParaRPr>
          </a:p>
          <a:p>
            <a:pPr marL="314960">
              <a:lnSpc>
                <a:spcPct val="100000"/>
              </a:lnSpc>
              <a:spcBef>
                <a:spcPts val="5"/>
              </a:spcBef>
            </a:pPr>
            <a:r>
              <a:rPr sz="1000" spc="-10" dirty="0">
                <a:solidFill>
                  <a:srgbClr val="3333B2"/>
                </a:solidFill>
                <a:latin typeface="Arial"/>
                <a:cs typeface="Arial"/>
              </a:rPr>
              <a:t>Principle</a:t>
            </a:r>
            <a:endParaRPr sz="1000">
              <a:latin typeface="Arial"/>
              <a:cs typeface="Arial"/>
            </a:endParaRPr>
          </a:p>
          <a:p>
            <a:pPr marL="568325" indent="-120650">
              <a:lnSpc>
                <a:spcPct val="100000"/>
              </a:lnSpc>
              <a:spcBef>
                <a:spcPts val="690"/>
              </a:spcBef>
              <a:buClr>
                <a:srgbClr val="3333B2"/>
              </a:buClr>
              <a:buFont typeface="Menlo"/>
              <a:buChar char="•"/>
              <a:tabLst>
                <a:tab pos="568960" algn="l"/>
              </a:tabLst>
            </a:pPr>
            <a:r>
              <a:rPr sz="900" dirty="0">
                <a:latin typeface="Arial"/>
                <a:cs typeface="Arial"/>
              </a:rPr>
              <a:t>Draw</a:t>
            </a:r>
            <a:r>
              <a:rPr sz="900" spc="-50" dirty="0">
                <a:latin typeface="Arial"/>
                <a:cs typeface="Arial"/>
              </a:rPr>
              <a:t> </a:t>
            </a:r>
            <a:r>
              <a:rPr sz="900" dirty="0">
                <a:latin typeface="Arial"/>
                <a:cs typeface="Arial"/>
              </a:rPr>
              <a:t>a</a:t>
            </a:r>
            <a:r>
              <a:rPr sz="900" spc="-25" dirty="0">
                <a:latin typeface="Arial"/>
                <a:cs typeface="Arial"/>
              </a:rPr>
              <a:t> </a:t>
            </a:r>
            <a:r>
              <a:rPr sz="900" dirty="0">
                <a:latin typeface="Arial"/>
                <a:cs typeface="Arial"/>
              </a:rPr>
              <a:t>random</a:t>
            </a:r>
            <a:r>
              <a:rPr sz="900" spc="-25" dirty="0">
                <a:latin typeface="Arial"/>
                <a:cs typeface="Arial"/>
              </a:rPr>
              <a:t> </a:t>
            </a:r>
            <a:r>
              <a:rPr sz="900" dirty="0">
                <a:latin typeface="Arial"/>
                <a:cs typeface="Arial"/>
              </a:rPr>
              <a:t>number</a:t>
            </a:r>
            <a:r>
              <a:rPr sz="900" spc="-25" dirty="0">
                <a:latin typeface="Arial"/>
                <a:cs typeface="Arial"/>
              </a:rPr>
              <a:t> </a:t>
            </a:r>
            <a:r>
              <a:rPr sz="900" i="1" dirty="0">
                <a:latin typeface="Arial"/>
                <a:cs typeface="Arial"/>
              </a:rPr>
              <a:t>k</a:t>
            </a:r>
            <a:r>
              <a:rPr sz="900" i="1" spc="10" dirty="0">
                <a:latin typeface="Arial"/>
                <a:cs typeface="Arial"/>
              </a:rPr>
              <a:t> </a:t>
            </a:r>
            <a:r>
              <a:rPr sz="900" i="1" spc="50" dirty="0">
                <a:latin typeface="Menlo"/>
                <a:cs typeface="Menlo"/>
              </a:rPr>
              <a:t>∈</a:t>
            </a:r>
            <a:r>
              <a:rPr sz="900" i="1" spc="-345" dirty="0">
                <a:latin typeface="Menlo"/>
                <a:cs typeface="Menlo"/>
              </a:rPr>
              <a:t> </a:t>
            </a:r>
            <a:r>
              <a:rPr sz="900" i="1" spc="60" dirty="0">
                <a:latin typeface="Menlo"/>
                <a:cs typeface="Menlo"/>
              </a:rPr>
              <a:t>{</a:t>
            </a:r>
            <a:r>
              <a:rPr sz="900" spc="60" dirty="0">
                <a:latin typeface="Arial"/>
                <a:cs typeface="Arial"/>
              </a:rPr>
              <a:t>1</a:t>
            </a:r>
            <a:r>
              <a:rPr sz="900" i="1" spc="60" dirty="0">
                <a:latin typeface="STIX Two Text"/>
                <a:cs typeface="STIX Two Text"/>
              </a:rPr>
              <a:t>,...,</a:t>
            </a:r>
            <a:r>
              <a:rPr sz="900" i="1" spc="-105" dirty="0">
                <a:latin typeface="STIX Two Text"/>
                <a:cs typeface="STIX Two Text"/>
              </a:rPr>
              <a:t> </a:t>
            </a:r>
            <a:r>
              <a:rPr sz="900" i="1" spc="-25" dirty="0">
                <a:latin typeface="Arial"/>
                <a:cs typeface="Arial"/>
              </a:rPr>
              <a:t>N</a:t>
            </a:r>
            <a:r>
              <a:rPr sz="900" i="1" spc="-25" dirty="0">
                <a:latin typeface="Menlo"/>
                <a:cs typeface="Menlo"/>
              </a:rPr>
              <a:t>}</a:t>
            </a:r>
            <a:endParaRPr sz="900">
              <a:latin typeface="Menlo"/>
              <a:cs typeface="Menlo"/>
            </a:endParaRPr>
          </a:p>
          <a:p>
            <a:pPr marL="568325" marR="142240" indent="-120650">
              <a:lnSpc>
                <a:spcPct val="111600"/>
              </a:lnSpc>
              <a:spcBef>
                <a:spcPts val="400"/>
              </a:spcBef>
              <a:buClr>
                <a:srgbClr val="3333B2"/>
              </a:buClr>
              <a:buFont typeface="Menlo"/>
              <a:buChar char="•"/>
              <a:tabLst>
                <a:tab pos="568960" algn="l"/>
              </a:tabLst>
            </a:pPr>
            <a:r>
              <a:rPr sz="900" dirty="0">
                <a:latin typeface="Arial"/>
                <a:cs typeface="Arial"/>
              </a:rPr>
              <a:t>Look</a:t>
            </a:r>
            <a:r>
              <a:rPr sz="900" spc="-30" dirty="0">
                <a:latin typeface="Arial"/>
                <a:cs typeface="Arial"/>
              </a:rPr>
              <a:t> </a:t>
            </a:r>
            <a:r>
              <a:rPr sz="900" dirty="0">
                <a:latin typeface="Arial"/>
                <a:cs typeface="Arial"/>
              </a:rPr>
              <a:t>up</a:t>
            </a:r>
            <a:r>
              <a:rPr sz="900" spc="-20" dirty="0">
                <a:latin typeface="Arial"/>
                <a:cs typeface="Arial"/>
              </a:rPr>
              <a:t> </a:t>
            </a:r>
            <a:r>
              <a:rPr sz="900" dirty="0">
                <a:latin typeface="Arial"/>
                <a:cs typeface="Arial"/>
              </a:rPr>
              <a:t>the</a:t>
            </a:r>
            <a:r>
              <a:rPr sz="900" spc="-25" dirty="0">
                <a:latin typeface="Arial"/>
                <a:cs typeface="Arial"/>
              </a:rPr>
              <a:t> </a:t>
            </a:r>
            <a:r>
              <a:rPr sz="900" dirty="0">
                <a:latin typeface="Arial"/>
                <a:cs typeface="Arial"/>
              </a:rPr>
              <a:t>process</a:t>
            </a:r>
            <a:r>
              <a:rPr sz="900" spc="-20" dirty="0">
                <a:latin typeface="Arial"/>
                <a:cs typeface="Arial"/>
              </a:rPr>
              <a:t> </a:t>
            </a:r>
            <a:r>
              <a:rPr sz="900" i="1" dirty="0">
                <a:latin typeface="Arial"/>
                <a:cs typeface="Arial"/>
              </a:rPr>
              <a:t>P</a:t>
            </a:r>
            <a:r>
              <a:rPr sz="900" i="1" spc="35" dirty="0">
                <a:latin typeface="Arial"/>
                <a:cs typeface="Arial"/>
              </a:rPr>
              <a:t> </a:t>
            </a:r>
            <a:r>
              <a:rPr sz="900" dirty="0">
                <a:latin typeface="Arial"/>
                <a:cs typeface="Arial"/>
              </a:rPr>
              <a:t>that</a:t>
            </a:r>
            <a:r>
              <a:rPr sz="900" spc="-20" dirty="0">
                <a:latin typeface="Arial"/>
                <a:cs typeface="Arial"/>
              </a:rPr>
              <a:t> </a:t>
            </a:r>
            <a:r>
              <a:rPr sz="900" dirty="0">
                <a:latin typeface="Arial"/>
                <a:cs typeface="Arial"/>
              </a:rPr>
              <a:t>owns</a:t>
            </a:r>
            <a:r>
              <a:rPr sz="900" spc="-20" dirty="0">
                <a:latin typeface="Arial"/>
                <a:cs typeface="Arial"/>
              </a:rPr>
              <a:t> </a:t>
            </a:r>
            <a:r>
              <a:rPr sz="900" dirty="0">
                <a:latin typeface="Arial"/>
                <a:cs typeface="Arial"/>
              </a:rPr>
              <a:t>the</a:t>
            </a:r>
            <a:r>
              <a:rPr sz="900" spc="-25" dirty="0">
                <a:latin typeface="Arial"/>
                <a:cs typeface="Arial"/>
              </a:rPr>
              <a:t> </a:t>
            </a:r>
            <a:r>
              <a:rPr sz="900" dirty="0">
                <a:latin typeface="Arial"/>
                <a:cs typeface="Arial"/>
              </a:rPr>
              <a:t>token</a:t>
            </a:r>
            <a:r>
              <a:rPr sz="900" spc="-20" dirty="0">
                <a:latin typeface="Arial"/>
                <a:cs typeface="Arial"/>
              </a:rPr>
              <a:t> </a:t>
            </a:r>
            <a:r>
              <a:rPr sz="900" dirty="0">
                <a:latin typeface="Arial"/>
                <a:cs typeface="Arial"/>
              </a:rPr>
              <a:t>with</a:t>
            </a:r>
            <a:r>
              <a:rPr sz="900" spc="-25" dirty="0">
                <a:latin typeface="Arial"/>
                <a:cs typeface="Arial"/>
              </a:rPr>
              <a:t> </a:t>
            </a:r>
            <a:r>
              <a:rPr sz="900" dirty="0">
                <a:latin typeface="Arial"/>
                <a:cs typeface="Arial"/>
              </a:rPr>
              <a:t>index</a:t>
            </a:r>
            <a:r>
              <a:rPr sz="900" spc="-20" dirty="0">
                <a:latin typeface="Arial"/>
                <a:cs typeface="Arial"/>
              </a:rPr>
              <a:t> </a:t>
            </a:r>
            <a:r>
              <a:rPr sz="900" i="1" spc="-10" dirty="0">
                <a:latin typeface="Arial"/>
                <a:cs typeface="Arial"/>
              </a:rPr>
              <a:t>k</a:t>
            </a:r>
            <a:r>
              <a:rPr sz="900" i="1" spc="-165" dirty="0">
                <a:latin typeface="Arial"/>
                <a:cs typeface="Arial"/>
              </a:rPr>
              <a:t> </a:t>
            </a:r>
            <a:r>
              <a:rPr sz="900" dirty="0">
                <a:latin typeface="Arial"/>
                <a:cs typeface="Arial"/>
              </a:rPr>
              <a:t>.</a:t>
            </a:r>
            <a:r>
              <a:rPr sz="900" spc="35" dirty="0">
                <a:latin typeface="Arial"/>
                <a:cs typeface="Arial"/>
              </a:rPr>
              <a:t> </a:t>
            </a:r>
            <a:r>
              <a:rPr sz="900" i="1" dirty="0">
                <a:latin typeface="Arial"/>
                <a:cs typeface="Arial"/>
              </a:rPr>
              <a:t>P</a:t>
            </a:r>
            <a:r>
              <a:rPr sz="900" i="1" spc="35" dirty="0">
                <a:latin typeface="Arial"/>
                <a:cs typeface="Arial"/>
              </a:rPr>
              <a:t> </a:t>
            </a:r>
            <a:r>
              <a:rPr sz="900" dirty="0">
                <a:latin typeface="Arial"/>
                <a:cs typeface="Arial"/>
              </a:rPr>
              <a:t>is</a:t>
            </a:r>
            <a:r>
              <a:rPr sz="900" spc="-20" dirty="0">
                <a:latin typeface="Arial"/>
                <a:cs typeface="Arial"/>
              </a:rPr>
              <a:t> </a:t>
            </a:r>
            <a:r>
              <a:rPr sz="900" dirty="0">
                <a:latin typeface="Arial"/>
                <a:cs typeface="Arial"/>
              </a:rPr>
              <a:t>the</a:t>
            </a:r>
            <a:r>
              <a:rPr sz="900" spc="-20" dirty="0">
                <a:latin typeface="Arial"/>
                <a:cs typeface="Arial"/>
              </a:rPr>
              <a:t> next </a:t>
            </a:r>
            <a:r>
              <a:rPr sz="900" spc="-10" dirty="0">
                <a:latin typeface="Arial"/>
                <a:cs typeface="Arial"/>
              </a:rPr>
              <a:t>leader.</a:t>
            </a:r>
            <a:endParaRPr sz="900">
              <a:latin typeface="Arial"/>
              <a:cs typeface="Arial"/>
            </a:endParaRPr>
          </a:p>
          <a:p>
            <a:pPr>
              <a:lnSpc>
                <a:spcPct val="100000"/>
              </a:lnSpc>
              <a:spcBef>
                <a:spcPts val="20"/>
              </a:spcBef>
            </a:pPr>
            <a:endParaRPr sz="1050">
              <a:latin typeface="Arial"/>
              <a:cs typeface="Arial"/>
            </a:endParaRPr>
          </a:p>
          <a:p>
            <a:pPr marL="314960">
              <a:lnSpc>
                <a:spcPct val="100000"/>
              </a:lnSpc>
            </a:pPr>
            <a:r>
              <a:rPr sz="1000" spc="-10" dirty="0">
                <a:solidFill>
                  <a:srgbClr val="C80000"/>
                </a:solidFill>
                <a:latin typeface="Arial"/>
                <a:cs typeface="Arial"/>
              </a:rPr>
              <a:t>Observation</a:t>
            </a:r>
            <a:endParaRPr sz="1000">
              <a:latin typeface="Arial"/>
              <a:cs typeface="Arial"/>
            </a:endParaRPr>
          </a:p>
          <a:p>
            <a:pPr marL="314960" marR="17780" indent="-3810">
              <a:lnSpc>
                <a:spcPts val="1210"/>
              </a:lnSpc>
              <a:spcBef>
                <a:spcPts val="35"/>
              </a:spcBef>
            </a:pPr>
            <a:r>
              <a:rPr sz="900" dirty="0">
                <a:latin typeface="Arial"/>
                <a:cs typeface="Arial"/>
              </a:rPr>
              <a:t>The</a:t>
            </a:r>
            <a:r>
              <a:rPr sz="900" spc="-30" dirty="0">
                <a:latin typeface="Arial"/>
                <a:cs typeface="Arial"/>
              </a:rPr>
              <a:t> </a:t>
            </a:r>
            <a:r>
              <a:rPr sz="900" dirty="0">
                <a:latin typeface="Arial"/>
                <a:cs typeface="Arial"/>
              </a:rPr>
              <a:t>more</a:t>
            </a:r>
            <a:r>
              <a:rPr sz="900" spc="-25" dirty="0">
                <a:latin typeface="Arial"/>
                <a:cs typeface="Arial"/>
              </a:rPr>
              <a:t> </a:t>
            </a:r>
            <a:r>
              <a:rPr sz="900" dirty="0">
                <a:latin typeface="Arial"/>
                <a:cs typeface="Arial"/>
              </a:rPr>
              <a:t>tokens</a:t>
            </a:r>
            <a:r>
              <a:rPr sz="900" spc="-30" dirty="0">
                <a:latin typeface="Arial"/>
                <a:cs typeface="Arial"/>
              </a:rPr>
              <a:t> </a:t>
            </a:r>
            <a:r>
              <a:rPr sz="900" dirty="0">
                <a:latin typeface="Arial"/>
                <a:cs typeface="Arial"/>
              </a:rPr>
              <a:t>a</a:t>
            </a:r>
            <a:r>
              <a:rPr sz="900" spc="-25" dirty="0">
                <a:latin typeface="Arial"/>
                <a:cs typeface="Arial"/>
              </a:rPr>
              <a:t> </a:t>
            </a:r>
            <a:r>
              <a:rPr sz="900" dirty="0">
                <a:latin typeface="Arial"/>
                <a:cs typeface="Arial"/>
              </a:rPr>
              <a:t>process</a:t>
            </a:r>
            <a:r>
              <a:rPr sz="900" spc="-30" dirty="0">
                <a:latin typeface="Arial"/>
                <a:cs typeface="Arial"/>
              </a:rPr>
              <a:t> </a:t>
            </a:r>
            <a:r>
              <a:rPr sz="900" dirty="0">
                <a:latin typeface="Arial"/>
                <a:cs typeface="Arial"/>
              </a:rPr>
              <a:t>owns,</a:t>
            </a:r>
            <a:r>
              <a:rPr sz="900" spc="-25" dirty="0">
                <a:latin typeface="Arial"/>
                <a:cs typeface="Arial"/>
              </a:rPr>
              <a:t> </a:t>
            </a:r>
            <a:r>
              <a:rPr sz="900" dirty="0">
                <a:latin typeface="Arial"/>
                <a:cs typeface="Arial"/>
              </a:rPr>
              <a:t>the</a:t>
            </a:r>
            <a:r>
              <a:rPr sz="900" spc="-30" dirty="0">
                <a:latin typeface="Arial"/>
                <a:cs typeface="Arial"/>
              </a:rPr>
              <a:t> </a:t>
            </a:r>
            <a:r>
              <a:rPr sz="900" dirty="0">
                <a:latin typeface="Arial"/>
                <a:cs typeface="Arial"/>
              </a:rPr>
              <a:t>higher</a:t>
            </a:r>
            <a:r>
              <a:rPr sz="900" spc="-25" dirty="0">
                <a:latin typeface="Arial"/>
                <a:cs typeface="Arial"/>
              </a:rPr>
              <a:t> </a:t>
            </a:r>
            <a:r>
              <a:rPr sz="900" dirty="0">
                <a:latin typeface="Arial"/>
                <a:cs typeface="Arial"/>
              </a:rPr>
              <a:t>the</a:t>
            </a:r>
            <a:r>
              <a:rPr sz="900" spc="-30" dirty="0">
                <a:latin typeface="Arial"/>
                <a:cs typeface="Arial"/>
              </a:rPr>
              <a:t> </a:t>
            </a:r>
            <a:r>
              <a:rPr sz="900" dirty="0">
                <a:latin typeface="Arial"/>
                <a:cs typeface="Arial"/>
              </a:rPr>
              <a:t>probability</a:t>
            </a:r>
            <a:r>
              <a:rPr sz="900" spc="-25" dirty="0">
                <a:latin typeface="Arial"/>
                <a:cs typeface="Arial"/>
              </a:rPr>
              <a:t> </a:t>
            </a:r>
            <a:r>
              <a:rPr sz="900" dirty="0">
                <a:latin typeface="Arial"/>
                <a:cs typeface="Arial"/>
              </a:rPr>
              <a:t>it</a:t>
            </a:r>
            <a:r>
              <a:rPr sz="900" spc="-30" dirty="0">
                <a:latin typeface="Arial"/>
                <a:cs typeface="Arial"/>
              </a:rPr>
              <a:t> </a:t>
            </a:r>
            <a:r>
              <a:rPr sz="900" dirty="0">
                <a:latin typeface="Arial"/>
                <a:cs typeface="Arial"/>
              </a:rPr>
              <a:t>will</a:t>
            </a:r>
            <a:r>
              <a:rPr sz="900" spc="-25" dirty="0">
                <a:latin typeface="Arial"/>
                <a:cs typeface="Arial"/>
              </a:rPr>
              <a:t> </a:t>
            </a:r>
            <a:r>
              <a:rPr sz="900" dirty="0">
                <a:latin typeface="Arial"/>
                <a:cs typeface="Arial"/>
              </a:rPr>
              <a:t>be</a:t>
            </a:r>
            <a:r>
              <a:rPr sz="900" spc="-30" dirty="0">
                <a:latin typeface="Arial"/>
                <a:cs typeface="Arial"/>
              </a:rPr>
              <a:t> </a:t>
            </a:r>
            <a:r>
              <a:rPr sz="900" spc="-10" dirty="0">
                <a:latin typeface="Arial"/>
                <a:cs typeface="Arial"/>
              </a:rPr>
              <a:t>selected </a:t>
            </a:r>
            <a:r>
              <a:rPr sz="900" dirty="0">
                <a:latin typeface="Arial"/>
                <a:cs typeface="Arial"/>
              </a:rPr>
              <a:t>as</a:t>
            </a:r>
            <a:r>
              <a:rPr sz="900" spc="-15" dirty="0">
                <a:latin typeface="Arial"/>
                <a:cs typeface="Arial"/>
              </a:rPr>
              <a:t> </a:t>
            </a:r>
            <a:r>
              <a:rPr sz="900" spc="-10" dirty="0">
                <a:latin typeface="Arial"/>
                <a:cs typeface="Arial"/>
              </a:rPr>
              <a:t>leader.</a:t>
            </a:r>
            <a:endParaRPr sz="900">
              <a:latin typeface="Arial"/>
              <a:cs typeface="Arial"/>
            </a:endParaRPr>
          </a:p>
        </p:txBody>
      </p:sp>
      <p:grpSp>
        <p:nvGrpSpPr>
          <p:cNvPr id="6" name="object 6"/>
          <p:cNvGrpSpPr/>
          <p:nvPr/>
        </p:nvGrpSpPr>
        <p:grpSpPr>
          <a:xfrm>
            <a:off x="0" y="3348469"/>
            <a:ext cx="4608195" cy="107950"/>
            <a:chOff x="0" y="3348469"/>
            <a:chExt cx="4608195" cy="107950"/>
          </a:xfrm>
        </p:grpSpPr>
        <p:sp>
          <p:nvSpPr>
            <p:cNvPr id="7" name="object 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9" name="object 9"/>
          <p:cNvSpPr txBox="1"/>
          <p:nvPr/>
        </p:nvSpPr>
        <p:spPr>
          <a:xfrm>
            <a:off x="53467" y="3349927"/>
            <a:ext cx="92583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Elections</a:t>
            </a:r>
            <a:r>
              <a:rPr sz="500" spc="-5" dirty="0">
                <a:latin typeface="Arial"/>
                <a:cs typeface="Arial"/>
                <a:hlinkClick r:id="rId4" action="ppaction://hlinksldjump"/>
              </a:rPr>
              <a:t> </a:t>
            </a:r>
            <a:r>
              <a:rPr sz="500" dirty="0">
                <a:latin typeface="Arial"/>
                <a:cs typeface="Arial"/>
                <a:hlinkClick r:id="rId4" action="ppaction://hlinksldjump"/>
              </a:rPr>
              <a:t>in </a:t>
            </a:r>
            <a:r>
              <a:rPr sz="500" spc="-10" dirty="0">
                <a:latin typeface="Arial"/>
                <a:cs typeface="Arial"/>
                <a:hlinkClick r:id="rId4" action="ppaction://hlinksldjump"/>
              </a:rPr>
              <a:t>large-</a:t>
            </a:r>
            <a:r>
              <a:rPr sz="500" dirty="0">
                <a:latin typeface="Arial"/>
                <a:cs typeface="Arial"/>
                <a:hlinkClick r:id="rId4" action="ppaction://hlinksldjump"/>
              </a:rPr>
              <a:t>scale </a:t>
            </a:r>
            <a:r>
              <a:rPr sz="500" spc="-10" dirty="0">
                <a:latin typeface="Arial"/>
                <a:cs typeface="Arial"/>
                <a:hlinkClick r:id="rId4" action="ppaction://hlinksldjump"/>
              </a:rPr>
              <a:t>systems</a:t>
            </a:r>
            <a:endParaRPr sz="500">
              <a:latin typeface="Arial"/>
              <a:cs typeface="Arial"/>
            </a:endParaRPr>
          </a:p>
        </p:txBody>
      </p:sp>
    </p:spTree>
  </p:cSld>
  <p:clrMapOvr>
    <a:masterClrMapping/>
  </p:clrMapOvr>
  <p:transition>
    <p:fad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8417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Coordination</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993806" y="-1515"/>
            <a:ext cx="561340"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Election</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algorithms</a:t>
            </a:r>
            <a:endParaRPr sz="500">
              <a:latin typeface="Arial"/>
              <a:cs typeface="Arial"/>
            </a:endParaRPr>
          </a:p>
        </p:txBody>
      </p:sp>
      <p:sp>
        <p:nvSpPr>
          <p:cNvPr id="5" name="object 5"/>
          <p:cNvSpPr txBox="1"/>
          <p:nvPr/>
        </p:nvSpPr>
        <p:spPr>
          <a:xfrm>
            <a:off x="95300" y="197711"/>
            <a:ext cx="2148205" cy="49466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A</a:t>
            </a:r>
            <a:r>
              <a:rPr sz="1200" spc="-45" dirty="0">
                <a:solidFill>
                  <a:srgbClr val="3333B2"/>
                </a:solidFill>
                <a:latin typeface="Arial"/>
                <a:cs typeface="Arial"/>
              </a:rPr>
              <a:t> </a:t>
            </a:r>
            <a:r>
              <a:rPr sz="1200" dirty="0">
                <a:solidFill>
                  <a:srgbClr val="3333B2"/>
                </a:solidFill>
                <a:latin typeface="Arial"/>
                <a:cs typeface="Arial"/>
              </a:rPr>
              <a:t>solution</a:t>
            </a:r>
            <a:r>
              <a:rPr sz="1200" spc="-40" dirty="0">
                <a:solidFill>
                  <a:srgbClr val="3333B2"/>
                </a:solidFill>
                <a:latin typeface="Arial"/>
                <a:cs typeface="Arial"/>
              </a:rPr>
              <a:t> </a:t>
            </a:r>
            <a:r>
              <a:rPr sz="1200" dirty="0">
                <a:solidFill>
                  <a:srgbClr val="3333B2"/>
                </a:solidFill>
                <a:latin typeface="Arial"/>
                <a:cs typeface="Arial"/>
              </a:rPr>
              <a:t>for</a:t>
            </a:r>
            <a:r>
              <a:rPr sz="1200" spc="-40" dirty="0">
                <a:solidFill>
                  <a:srgbClr val="3333B2"/>
                </a:solidFill>
                <a:latin typeface="Arial"/>
                <a:cs typeface="Arial"/>
              </a:rPr>
              <a:t> </a:t>
            </a:r>
            <a:r>
              <a:rPr sz="1200" dirty="0">
                <a:solidFill>
                  <a:srgbClr val="3333B2"/>
                </a:solidFill>
                <a:latin typeface="Arial"/>
                <a:cs typeface="Arial"/>
              </a:rPr>
              <a:t>wireless</a:t>
            </a:r>
            <a:r>
              <a:rPr sz="1200" spc="-45" dirty="0">
                <a:solidFill>
                  <a:srgbClr val="3333B2"/>
                </a:solidFill>
                <a:latin typeface="Arial"/>
                <a:cs typeface="Arial"/>
              </a:rPr>
              <a:t> </a:t>
            </a:r>
            <a:r>
              <a:rPr sz="1200" spc="-10" dirty="0">
                <a:solidFill>
                  <a:srgbClr val="3333B2"/>
                </a:solidFill>
                <a:latin typeface="Arial"/>
                <a:cs typeface="Arial"/>
              </a:rPr>
              <a:t>networks</a:t>
            </a:r>
            <a:endParaRPr sz="1200">
              <a:latin typeface="Arial"/>
              <a:cs typeface="Arial"/>
            </a:endParaRPr>
          </a:p>
          <a:p>
            <a:pPr marL="260350">
              <a:lnSpc>
                <a:spcPct val="100000"/>
              </a:lnSpc>
              <a:spcBef>
                <a:spcPts val="1055"/>
              </a:spcBef>
            </a:pPr>
            <a:r>
              <a:rPr sz="1000" dirty="0">
                <a:solidFill>
                  <a:srgbClr val="3333B2"/>
                </a:solidFill>
                <a:latin typeface="Arial"/>
                <a:cs typeface="Arial"/>
              </a:rPr>
              <a:t>A</a:t>
            </a:r>
            <a:r>
              <a:rPr sz="1000" spc="-25" dirty="0">
                <a:solidFill>
                  <a:srgbClr val="3333B2"/>
                </a:solidFill>
                <a:latin typeface="Arial"/>
                <a:cs typeface="Arial"/>
              </a:rPr>
              <a:t> </a:t>
            </a:r>
            <a:r>
              <a:rPr sz="1000" dirty="0">
                <a:solidFill>
                  <a:srgbClr val="3333B2"/>
                </a:solidFill>
                <a:latin typeface="Arial"/>
                <a:cs typeface="Arial"/>
              </a:rPr>
              <a:t>sample</a:t>
            </a:r>
            <a:r>
              <a:rPr sz="1000" spc="-25" dirty="0">
                <a:solidFill>
                  <a:srgbClr val="3333B2"/>
                </a:solidFill>
                <a:latin typeface="Arial"/>
                <a:cs typeface="Arial"/>
              </a:rPr>
              <a:t> </a:t>
            </a:r>
            <a:r>
              <a:rPr sz="1000" spc="-10" dirty="0">
                <a:solidFill>
                  <a:srgbClr val="3333B2"/>
                </a:solidFill>
                <a:latin typeface="Arial"/>
                <a:cs typeface="Arial"/>
              </a:rPr>
              <a:t>network</a:t>
            </a:r>
            <a:endParaRPr sz="1000">
              <a:latin typeface="Arial"/>
              <a:cs typeface="Arial"/>
            </a:endParaRPr>
          </a:p>
        </p:txBody>
      </p:sp>
      <p:pic>
        <p:nvPicPr>
          <p:cNvPr id="6" name="object 6"/>
          <p:cNvPicPr/>
          <p:nvPr/>
        </p:nvPicPr>
        <p:blipFill>
          <a:blip r:embed="rId4" cstate="print"/>
          <a:stretch>
            <a:fillRect/>
          </a:stretch>
        </p:blipFill>
        <p:spPr>
          <a:xfrm>
            <a:off x="656648" y="792025"/>
            <a:ext cx="1540672" cy="1175502"/>
          </a:xfrm>
          <a:prstGeom prst="rect">
            <a:avLst/>
          </a:prstGeom>
        </p:spPr>
      </p:pic>
      <p:pic>
        <p:nvPicPr>
          <p:cNvPr id="7" name="object 7"/>
          <p:cNvPicPr/>
          <p:nvPr/>
        </p:nvPicPr>
        <p:blipFill>
          <a:blip r:embed="rId5" cstate="print"/>
          <a:stretch>
            <a:fillRect/>
          </a:stretch>
        </p:blipFill>
        <p:spPr>
          <a:xfrm>
            <a:off x="2413660" y="797185"/>
            <a:ext cx="1545216" cy="1174139"/>
          </a:xfrm>
          <a:prstGeom prst="rect">
            <a:avLst/>
          </a:prstGeom>
        </p:spPr>
      </p:pic>
      <p:sp>
        <p:nvSpPr>
          <p:cNvPr id="8" name="object 8"/>
          <p:cNvSpPr txBox="1"/>
          <p:nvPr/>
        </p:nvSpPr>
        <p:spPr>
          <a:xfrm>
            <a:off x="347294" y="2227282"/>
            <a:ext cx="3409315" cy="343535"/>
          </a:xfrm>
          <a:prstGeom prst="rect">
            <a:avLst/>
          </a:prstGeom>
        </p:spPr>
        <p:txBody>
          <a:bodyPr vert="horz" wrap="square" lIns="0" tIns="27305" rIns="0" bIns="0" rtlCol="0">
            <a:spAutoFit/>
          </a:bodyPr>
          <a:lstStyle/>
          <a:p>
            <a:pPr marL="12700">
              <a:lnSpc>
                <a:spcPct val="100000"/>
              </a:lnSpc>
              <a:spcBef>
                <a:spcPts val="215"/>
              </a:spcBef>
            </a:pPr>
            <a:r>
              <a:rPr sz="1000" spc="-10" dirty="0">
                <a:solidFill>
                  <a:srgbClr val="3333B2"/>
                </a:solidFill>
                <a:latin typeface="Arial"/>
                <a:cs typeface="Arial"/>
              </a:rPr>
              <a:t>Essence</a:t>
            </a:r>
            <a:endParaRPr sz="1000">
              <a:latin typeface="Arial"/>
              <a:cs typeface="Arial"/>
            </a:endParaRPr>
          </a:p>
          <a:p>
            <a:pPr marL="12700">
              <a:lnSpc>
                <a:spcPct val="100000"/>
              </a:lnSpc>
              <a:spcBef>
                <a:spcPts val="105"/>
              </a:spcBef>
            </a:pPr>
            <a:r>
              <a:rPr sz="900" dirty="0">
                <a:latin typeface="Arial"/>
                <a:cs typeface="Arial"/>
              </a:rPr>
              <a:t>Find</a:t>
            </a:r>
            <a:r>
              <a:rPr sz="900" spc="-30" dirty="0">
                <a:latin typeface="Arial"/>
                <a:cs typeface="Arial"/>
              </a:rPr>
              <a:t> </a:t>
            </a:r>
            <a:r>
              <a:rPr sz="900" dirty="0">
                <a:latin typeface="Arial"/>
                <a:cs typeface="Arial"/>
              </a:rPr>
              <a:t>the</a:t>
            </a:r>
            <a:r>
              <a:rPr sz="900" spc="-25" dirty="0">
                <a:latin typeface="Arial"/>
                <a:cs typeface="Arial"/>
              </a:rPr>
              <a:t> </a:t>
            </a:r>
            <a:r>
              <a:rPr sz="900" dirty="0">
                <a:latin typeface="Arial"/>
                <a:cs typeface="Arial"/>
              </a:rPr>
              <a:t>node</a:t>
            </a:r>
            <a:r>
              <a:rPr sz="900" spc="-25" dirty="0">
                <a:latin typeface="Arial"/>
                <a:cs typeface="Arial"/>
              </a:rPr>
              <a:t> </a:t>
            </a:r>
            <a:r>
              <a:rPr sz="900" dirty="0">
                <a:latin typeface="Arial"/>
                <a:cs typeface="Arial"/>
              </a:rPr>
              <a:t>with</a:t>
            </a:r>
            <a:r>
              <a:rPr sz="900" spc="-25" dirty="0">
                <a:latin typeface="Arial"/>
                <a:cs typeface="Arial"/>
              </a:rPr>
              <a:t> </a:t>
            </a:r>
            <a:r>
              <a:rPr sz="900" dirty="0">
                <a:latin typeface="Arial"/>
                <a:cs typeface="Arial"/>
              </a:rPr>
              <a:t>the</a:t>
            </a:r>
            <a:r>
              <a:rPr sz="900" spc="-25" dirty="0">
                <a:latin typeface="Arial"/>
                <a:cs typeface="Arial"/>
              </a:rPr>
              <a:t> </a:t>
            </a:r>
            <a:r>
              <a:rPr sz="900" dirty="0">
                <a:latin typeface="Arial"/>
                <a:cs typeface="Arial"/>
              </a:rPr>
              <a:t>highest</a:t>
            </a:r>
            <a:r>
              <a:rPr sz="900" spc="-25" dirty="0">
                <a:latin typeface="Arial"/>
                <a:cs typeface="Arial"/>
              </a:rPr>
              <a:t> </a:t>
            </a:r>
            <a:r>
              <a:rPr sz="900" dirty="0">
                <a:latin typeface="Arial"/>
                <a:cs typeface="Arial"/>
              </a:rPr>
              <a:t>capacity</a:t>
            </a:r>
            <a:r>
              <a:rPr sz="900" spc="-25"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select</a:t>
            </a:r>
            <a:r>
              <a:rPr sz="900" spc="-25" dirty="0">
                <a:latin typeface="Arial"/>
                <a:cs typeface="Arial"/>
              </a:rPr>
              <a:t> </a:t>
            </a:r>
            <a:r>
              <a:rPr sz="900" dirty="0">
                <a:latin typeface="Arial"/>
                <a:cs typeface="Arial"/>
              </a:rPr>
              <a:t>as</a:t>
            </a:r>
            <a:r>
              <a:rPr sz="900" spc="-25" dirty="0">
                <a:latin typeface="Arial"/>
                <a:cs typeface="Arial"/>
              </a:rPr>
              <a:t> </a:t>
            </a:r>
            <a:r>
              <a:rPr sz="900" dirty="0">
                <a:latin typeface="Arial"/>
                <a:cs typeface="Arial"/>
              </a:rPr>
              <a:t>the</a:t>
            </a:r>
            <a:r>
              <a:rPr sz="900" spc="-25" dirty="0">
                <a:latin typeface="Arial"/>
                <a:cs typeface="Arial"/>
              </a:rPr>
              <a:t> </a:t>
            </a:r>
            <a:r>
              <a:rPr sz="900" dirty="0">
                <a:latin typeface="Arial"/>
                <a:cs typeface="Arial"/>
              </a:rPr>
              <a:t>next</a:t>
            </a:r>
            <a:r>
              <a:rPr sz="900" spc="-25" dirty="0">
                <a:latin typeface="Arial"/>
                <a:cs typeface="Arial"/>
              </a:rPr>
              <a:t> </a:t>
            </a:r>
            <a:r>
              <a:rPr sz="900" spc="-10" dirty="0">
                <a:latin typeface="Arial"/>
                <a:cs typeface="Arial"/>
              </a:rPr>
              <a:t>leader.</a:t>
            </a:r>
            <a:endParaRPr sz="900">
              <a:latin typeface="Arial"/>
              <a:cs typeface="Arial"/>
            </a:endParaRPr>
          </a:p>
        </p:txBody>
      </p:sp>
      <p:grpSp>
        <p:nvGrpSpPr>
          <p:cNvPr id="9" name="object 9"/>
          <p:cNvGrpSpPr/>
          <p:nvPr/>
        </p:nvGrpSpPr>
        <p:grpSpPr>
          <a:xfrm>
            <a:off x="0" y="3348469"/>
            <a:ext cx="4608195" cy="107950"/>
            <a:chOff x="0" y="3348469"/>
            <a:chExt cx="4608195" cy="107950"/>
          </a:xfrm>
        </p:grpSpPr>
        <p:sp>
          <p:nvSpPr>
            <p:cNvPr id="10" name="object 10"/>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1" name="object 11"/>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2" name="object 12"/>
          <p:cNvSpPr txBox="1"/>
          <p:nvPr/>
        </p:nvSpPr>
        <p:spPr>
          <a:xfrm>
            <a:off x="53467" y="3349927"/>
            <a:ext cx="99123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6" action="ppaction://hlinksldjump"/>
              </a:rPr>
              <a:t>Elections</a:t>
            </a:r>
            <a:r>
              <a:rPr sz="500" spc="-20" dirty="0">
                <a:latin typeface="Arial"/>
                <a:cs typeface="Arial"/>
                <a:hlinkClick r:id="rId6" action="ppaction://hlinksldjump"/>
              </a:rPr>
              <a:t> </a:t>
            </a:r>
            <a:r>
              <a:rPr sz="500" dirty="0">
                <a:latin typeface="Arial"/>
                <a:cs typeface="Arial"/>
                <a:hlinkClick r:id="rId6" action="ppaction://hlinksldjump"/>
              </a:rPr>
              <a:t>in</a:t>
            </a:r>
            <a:r>
              <a:rPr sz="500" spc="-20" dirty="0">
                <a:latin typeface="Arial"/>
                <a:cs typeface="Arial"/>
                <a:hlinkClick r:id="rId6" action="ppaction://hlinksldjump"/>
              </a:rPr>
              <a:t> </a:t>
            </a:r>
            <a:r>
              <a:rPr sz="500" dirty="0">
                <a:latin typeface="Arial"/>
                <a:cs typeface="Arial"/>
                <a:hlinkClick r:id="rId6" action="ppaction://hlinksldjump"/>
              </a:rPr>
              <a:t>wireless</a:t>
            </a:r>
            <a:r>
              <a:rPr sz="500" spc="-20" dirty="0">
                <a:latin typeface="Arial"/>
                <a:cs typeface="Arial"/>
                <a:hlinkClick r:id="rId6" action="ppaction://hlinksldjump"/>
              </a:rPr>
              <a:t> </a:t>
            </a:r>
            <a:r>
              <a:rPr sz="500" spc="-10" dirty="0">
                <a:latin typeface="Arial"/>
                <a:cs typeface="Arial"/>
                <a:hlinkClick r:id="rId6" action="ppaction://hlinksldjump"/>
              </a:rPr>
              <a:t>environments</a:t>
            </a:r>
            <a:endParaRPr sz="500">
              <a:latin typeface="Arial"/>
              <a:cs typeface="Arial"/>
            </a:endParaRPr>
          </a:p>
        </p:txBody>
      </p:sp>
    </p:spTree>
  </p:cSld>
  <p:clrMapOvr>
    <a:masterClrMapping/>
  </p:clrMapOvr>
  <p:transition>
    <p:fad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8417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Coordination</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993806" y="-1515"/>
            <a:ext cx="561340"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Election</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algorithms</a:t>
            </a:r>
            <a:endParaRPr sz="500">
              <a:latin typeface="Arial"/>
              <a:cs typeface="Arial"/>
            </a:endParaRPr>
          </a:p>
        </p:txBody>
      </p:sp>
      <p:sp>
        <p:nvSpPr>
          <p:cNvPr id="5" name="object 5"/>
          <p:cNvSpPr txBox="1"/>
          <p:nvPr/>
        </p:nvSpPr>
        <p:spPr>
          <a:xfrm>
            <a:off x="95300" y="197711"/>
            <a:ext cx="2148205" cy="49466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A</a:t>
            </a:r>
            <a:r>
              <a:rPr sz="1200" spc="-45" dirty="0">
                <a:solidFill>
                  <a:srgbClr val="3333B2"/>
                </a:solidFill>
                <a:latin typeface="Arial"/>
                <a:cs typeface="Arial"/>
              </a:rPr>
              <a:t> </a:t>
            </a:r>
            <a:r>
              <a:rPr sz="1200" dirty="0">
                <a:solidFill>
                  <a:srgbClr val="3333B2"/>
                </a:solidFill>
                <a:latin typeface="Arial"/>
                <a:cs typeface="Arial"/>
              </a:rPr>
              <a:t>solution</a:t>
            </a:r>
            <a:r>
              <a:rPr sz="1200" spc="-40" dirty="0">
                <a:solidFill>
                  <a:srgbClr val="3333B2"/>
                </a:solidFill>
                <a:latin typeface="Arial"/>
                <a:cs typeface="Arial"/>
              </a:rPr>
              <a:t> </a:t>
            </a:r>
            <a:r>
              <a:rPr sz="1200" dirty="0">
                <a:solidFill>
                  <a:srgbClr val="3333B2"/>
                </a:solidFill>
                <a:latin typeface="Arial"/>
                <a:cs typeface="Arial"/>
              </a:rPr>
              <a:t>for</a:t>
            </a:r>
            <a:r>
              <a:rPr sz="1200" spc="-40" dirty="0">
                <a:solidFill>
                  <a:srgbClr val="3333B2"/>
                </a:solidFill>
                <a:latin typeface="Arial"/>
                <a:cs typeface="Arial"/>
              </a:rPr>
              <a:t> </a:t>
            </a:r>
            <a:r>
              <a:rPr sz="1200" dirty="0">
                <a:solidFill>
                  <a:srgbClr val="3333B2"/>
                </a:solidFill>
                <a:latin typeface="Arial"/>
                <a:cs typeface="Arial"/>
              </a:rPr>
              <a:t>wireless</a:t>
            </a:r>
            <a:r>
              <a:rPr sz="1200" spc="-45" dirty="0">
                <a:solidFill>
                  <a:srgbClr val="3333B2"/>
                </a:solidFill>
                <a:latin typeface="Arial"/>
                <a:cs typeface="Arial"/>
              </a:rPr>
              <a:t> </a:t>
            </a:r>
            <a:r>
              <a:rPr sz="1200" spc="-10" dirty="0">
                <a:solidFill>
                  <a:srgbClr val="3333B2"/>
                </a:solidFill>
                <a:latin typeface="Arial"/>
                <a:cs typeface="Arial"/>
              </a:rPr>
              <a:t>networks</a:t>
            </a:r>
            <a:endParaRPr sz="1200">
              <a:latin typeface="Arial"/>
              <a:cs typeface="Arial"/>
            </a:endParaRPr>
          </a:p>
          <a:p>
            <a:pPr marL="260350">
              <a:lnSpc>
                <a:spcPct val="100000"/>
              </a:lnSpc>
              <a:spcBef>
                <a:spcPts val="1055"/>
              </a:spcBef>
            </a:pPr>
            <a:r>
              <a:rPr sz="1000" dirty="0">
                <a:solidFill>
                  <a:srgbClr val="3333B2"/>
                </a:solidFill>
                <a:latin typeface="Arial"/>
                <a:cs typeface="Arial"/>
              </a:rPr>
              <a:t>A</a:t>
            </a:r>
            <a:r>
              <a:rPr sz="1000" spc="-25" dirty="0">
                <a:solidFill>
                  <a:srgbClr val="3333B2"/>
                </a:solidFill>
                <a:latin typeface="Arial"/>
                <a:cs typeface="Arial"/>
              </a:rPr>
              <a:t> </a:t>
            </a:r>
            <a:r>
              <a:rPr sz="1000" dirty="0">
                <a:solidFill>
                  <a:srgbClr val="3333B2"/>
                </a:solidFill>
                <a:latin typeface="Arial"/>
                <a:cs typeface="Arial"/>
              </a:rPr>
              <a:t>sample</a:t>
            </a:r>
            <a:r>
              <a:rPr sz="1000" spc="-25" dirty="0">
                <a:solidFill>
                  <a:srgbClr val="3333B2"/>
                </a:solidFill>
                <a:latin typeface="Arial"/>
                <a:cs typeface="Arial"/>
              </a:rPr>
              <a:t> </a:t>
            </a:r>
            <a:r>
              <a:rPr sz="1000" spc="-10" dirty="0">
                <a:solidFill>
                  <a:srgbClr val="3333B2"/>
                </a:solidFill>
                <a:latin typeface="Arial"/>
                <a:cs typeface="Arial"/>
              </a:rPr>
              <a:t>network</a:t>
            </a:r>
            <a:endParaRPr sz="1000">
              <a:latin typeface="Arial"/>
              <a:cs typeface="Arial"/>
            </a:endParaRPr>
          </a:p>
        </p:txBody>
      </p:sp>
      <p:pic>
        <p:nvPicPr>
          <p:cNvPr id="6" name="object 6"/>
          <p:cNvPicPr/>
          <p:nvPr/>
        </p:nvPicPr>
        <p:blipFill>
          <a:blip r:embed="rId4" cstate="print"/>
          <a:stretch>
            <a:fillRect/>
          </a:stretch>
        </p:blipFill>
        <p:spPr>
          <a:xfrm>
            <a:off x="654552" y="805033"/>
            <a:ext cx="1540672" cy="1175502"/>
          </a:xfrm>
          <a:prstGeom prst="rect">
            <a:avLst/>
          </a:prstGeom>
        </p:spPr>
      </p:pic>
      <p:pic>
        <p:nvPicPr>
          <p:cNvPr id="7" name="object 7"/>
          <p:cNvPicPr/>
          <p:nvPr/>
        </p:nvPicPr>
        <p:blipFill>
          <a:blip r:embed="rId5" cstate="print"/>
          <a:stretch>
            <a:fillRect/>
          </a:stretch>
        </p:blipFill>
        <p:spPr>
          <a:xfrm>
            <a:off x="2411577" y="797066"/>
            <a:ext cx="1541937" cy="1180943"/>
          </a:xfrm>
          <a:prstGeom prst="rect">
            <a:avLst/>
          </a:prstGeom>
        </p:spPr>
      </p:pic>
      <p:grpSp>
        <p:nvGrpSpPr>
          <p:cNvPr id="8" name="object 8"/>
          <p:cNvGrpSpPr/>
          <p:nvPr/>
        </p:nvGrpSpPr>
        <p:grpSpPr>
          <a:xfrm>
            <a:off x="0" y="3348469"/>
            <a:ext cx="4608195" cy="107950"/>
            <a:chOff x="0" y="3348469"/>
            <a:chExt cx="4608195" cy="107950"/>
          </a:xfrm>
        </p:grpSpPr>
        <p:sp>
          <p:nvSpPr>
            <p:cNvPr id="9" name="object 9"/>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0" name="object 10"/>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1" name="object 11"/>
          <p:cNvSpPr txBox="1"/>
          <p:nvPr/>
        </p:nvSpPr>
        <p:spPr>
          <a:xfrm>
            <a:off x="53467" y="3349927"/>
            <a:ext cx="99123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6" action="ppaction://hlinksldjump"/>
              </a:rPr>
              <a:t>Elections</a:t>
            </a:r>
            <a:r>
              <a:rPr sz="500" spc="-20" dirty="0">
                <a:latin typeface="Arial"/>
                <a:cs typeface="Arial"/>
                <a:hlinkClick r:id="rId6" action="ppaction://hlinksldjump"/>
              </a:rPr>
              <a:t> </a:t>
            </a:r>
            <a:r>
              <a:rPr sz="500" dirty="0">
                <a:latin typeface="Arial"/>
                <a:cs typeface="Arial"/>
                <a:hlinkClick r:id="rId6" action="ppaction://hlinksldjump"/>
              </a:rPr>
              <a:t>in</a:t>
            </a:r>
            <a:r>
              <a:rPr sz="500" spc="-20" dirty="0">
                <a:latin typeface="Arial"/>
                <a:cs typeface="Arial"/>
                <a:hlinkClick r:id="rId6" action="ppaction://hlinksldjump"/>
              </a:rPr>
              <a:t> </a:t>
            </a:r>
            <a:r>
              <a:rPr sz="500" dirty="0">
                <a:latin typeface="Arial"/>
                <a:cs typeface="Arial"/>
                <a:hlinkClick r:id="rId6" action="ppaction://hlinksldjump"/>
              </a:rPr>
              <a:t>wireless</a:t>
            </a:r>
            <a:r>
              <a:rPr sz="500" spc="-20" dirty="0">
                <a:latin typeface="Arial"/>
                <a:cs typeface="Arial"/>
                <a:hlinkClick r:id="rId6" action="ppaction://hlinksldjump"/>
              </a:rPr>
              <a:t> </a:t>
            </a:r>
            <a:r>
              <a:rPr sz="500" spc="-10" dirty="0">
                <a:latin typeface="Arial"/>
                <a:cs typeface="Arial"/>
                <a:hlinkClick r:id="rId6" action="ppaction://hlinksldjump"/>
              </a:rPr>
              <a:t>environments</a:t>
            </a:r>
            <a:endParaRPr sz="500">
              <a:latin typeface="Arial"/>
              <a:cs typeface="Arial"/>
            </a:endParaRPr>
          </a:p>
        </p:txBody>
      </p:sp>
    </p:spTree>
  </p:cSld>
  <p:clrMapOvr>
    <a:masterClrMapping/>
  </p:clrMapOvr>
  <p:transition>
    <p:fad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8417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Coordination</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993806" y="-1515"/>
            <a:ext cx="561340"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Election</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algorithms</a:t>
            </a:r>
            <a:endParaRPr sz="500">
              <a:latin typeface="Arial"/>
              <a:cs typeface="Arial"/>
            </a:endParaRPr>
          </a:p>
        </p:txBody>
      </p:sp>
      <p:sp>
        <p:nvSpPr>
          <p:cNvPr id="5" name="object 5"/>
          <p:cNvSpPr txBox="1"/>
          <p:nvPr/>
        </p:nvSpPr>
        <p:spPr>
          <a:xfrm>
            <a:off x="95300" y="197711"/>
            <a:ext cx="2148205" cy="49466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A</a:t>
            </a:r>
            <a:r>
              <a:rPr sz="1200" spc="-45" dirty="0">
                <a:solidFill>
                  <a:srgbClr val="3333B2"/>
                </a:solidFill>
                <a:latin typeface="Arial"/>
                <a:cs typeface="Arial"/>
              </a:rPr>
              <a:t> </a:t>
            </a:r>
            <a:r>
              <a:rPr sz="1200" dirty="0">
                <a:solidFill>
                  <a:srgbClr val="3333B2"/>
                </a:solidFill>
                <a:latin typeface="Arial"/>
                <a:cs typeface="Arial"/>
              </a:rPr>
              <a:t>solution</a:t>
            </a:r>
            <a:r>
              <a:rPr sz="1200" spc="-40" dirty="0">
                <a:solidFill>
                  <a:srgbClr val="3333B2"/>
                </a:solidFill>
                <a:latin typeface="Arial"/>
                <a:cs typeface="Arial"/>
              </a:rPr>
              <a:t> </a:t>
            </a:r>
            <a:r>
              <a:rPr sz="1200" dirty="0">
                <a:solidFill>
                  <a:srgbClr val="3333B2"/>
                </a:solidFill>
                <a:latin typeface="Arial"/>
                <a:cs typeface="Arial"/>
              </a:rPr>
              <a:t>for</a:t>
            </a:r>
            <a:r>
              <a:rPr sz="1200" spc="-40" dirty="0">
                <a:solidFill>
                  <a:srgbClr val="3333B2"/>
                </a:solidFill>
                <a:latin typeface="Arial"/>
                <a:cs typeface="Arial"/>
              </a:rPr>
              <a:t> </a:t>
            </a:r>
            <a:r>
              <a:rPr sz="1200" dirty="0">
                <a:solidFill>
                  <a:srgbClr val="3333B2"/>
                </a:solidFill>
                <a:latin typeface="Arial"/>
                <a:cs typeface="Arial"/>
              </a:rPr>
              <a:t>wireless</a:t>
            </a:r>
            <a:r>
              <a:rPr sz="1200" spc="-45" dirty="0">
                <a:solidFill>
                  <a:srgbClr val="3333B2"/>
                </a:solidFill>
                <a:latin typeface="Arial"/>
                <a:cs typeface="Arial"/>
              </a:rPr>
              <a:t> </a:t>
            </a:r>
            <a:r>
              <a:rPr sz="1200" spc="-10" dirty="0">
                <a:solidFill>
                  <a:srgbClr val="3333B2"/>
                </a:solidFill>
                <a:latin typeface="Arial"/>
                <a:cs typeface="Arial"/>
              </a:rPr>
              <a:t>networks</a:t>
            </a:r>
            <a:endParaRPr sz="1200">
              <a:latin typeface="Arial"/>
              <a:cs typeface="Arial"/>
            </a:endParaRPr>
          </a:p>
          <a:p>
            <a:pPr marL="260350">
              <a:lnSpc>
                <a:spcPct val="100000"/>
              </a:lnSpc>
              <a:spcBef>
                <a:spcPts val="1055"/>
              </a:spcBef>
            </a:pPr>
            <a:r>
              <a:rPr sz="1000" dirty="0">
                <a:solidFill>
                  <a:srgbClr val="3333B2"/>
                </a:solidFill>
                <a:latin typeface="Arial"/>
                <a:cs typeface="Arial"/>
              </a:rPr>
              <a:t>A</a:t>
            </a:r>
            <a:r>
              <a:rPr sz="1000" spc="-25" dirty="0">
                <a:solidFill>
                  <a:srgbClr val="3333B2"/>
                </a:solidFill>
                <a:latin typeface="Arial"/>
                <a:cs typeface="Arial"/>
              </a:rPr>
              <a:t> </a:t>
            </a:r>
            <a:r>
              <a:rPr sz="1000" dirty="0">
                <a:solidFill>
                  <a:srgbClr val="3333B2"/>
                </a:solidFill>
                <a:latin typeface="Arial"/>
                <a:cs typeface="Arial"/>
              </a:rPr>
              <a:t>sample</a:t>
            </a:r>
            <a:r>
              <a:rPr sz="1000" spc="-25" dirty="0">
                <a:solidFill>
                  <a:srgbClr val="3333B2"/>
                </a:solidFill>
                <a:latin typeface="Arial"/>
                <a:cs typeface="Arial"/>
              </a:rPr>
              <a:t> </a:t>
            </a:r>
            <a:r>
              <a:rPr sz="1000" spc="-10" dirty="0">
                <a:solidFill>
                  <a:srgbClr val="3333B2"/>
                </a:solidFill>
                <a:latin typeface="Arial"/>
                <a:cs typeface="Arial"/>
              </a:rPr>
              <a:t>network</a:t>
            </a:r>
            <a:endParaRPr sz="1000">
              <a:latin typeface="Arial"/>
              <a:cs typeface="Arial"/>
            </a:endParaRPr>
          </a:p>
        </p:txBody>
      </p:sp>
      <p:pic>
        <p:nvPicPr>
          <p:cNvPr id="6" name="object 6"/>
          <p:cNvPicPr/>
          <p:nvPr/>
        </p:nvPicPr>
        <p:blipFill>
          <a:blip r:embed="rId4" cstate="print"/>
          <a:stretch>
            <a:fillRect/>
          </a:stretch>
        </p:blipFill>
        <p:spPr>
          <a:xfrm>
            <a:off x="648228" y="794537"/>
            <a:ext cx="1546997" cy="1179678"/>
          </a:xfrm>
          <a:prstGeom prst="rect">
            <a:avLst/>
          </a:prstGeom>
        </p:spPr>
      </p:pic>
      <p:pic>
        <p:nvPicPr>
          <p:cNvPr id="7" name="object 7"/>
          <p:cNvPicPr/>
          <p:nvPr/>
        </p:nvPicPr>
        <p:blipFill>
          <a:blip r:embed="rId5" cstate="print"/>
          <a:stretch>
            <a:fillRect/>
          </a:stretch>
        </p:blipFill>
        <p:spPr>
          <a:xfrm>
            <a:off x="2417902" y="806299"/>
            <a:ext cx="1541937" cy="1175502"/>
          </a:xfrm>
          <a:prstGeom prst="rect">
            <a:avLst/>
          </a:prstGeom>
        </p:spPr>
      </p:pic>
      <p:sp>
        <p:nvSpPr>
          <p:cNvPr id="8" name="object 8"/>
          <p:cNvSpPr txBox="1"/>
          <p:nvPr/>
        </p:nvSpPr>
        <p:spPr>
          <a:xfrm>
            <a:off x="343547" y="2237759"/>
            <a:ext cx="3844290" cy="343535"/>
          </a:xfrm>
          <a:prstGeom prst="rect">
            <a:avLst/>
          </a:prstGeom>
        </p:spPr>
        <p:txBody>
          <a:bodyPr vert="horz" wrap="square" lIns="0" tIns="27305" rIns="0" bIns="0" rtlCol="0">
            <a:spAutoFit/>
          </a:bodyPr>
          <a:lstStyle/>
          <a:p>
            <a:pPr marL="15875">
              <a:lnSpc>
                <a:spcPct val="100000"/>
              </a:lnSpc>
              <a:spcBef>
                <a:spcPts val="215"/>
              </a:spcBef>
            </a:pPr>
            <a:r>
              <a:rPr sz="1000" spc="-10" dirty="0">
                <a:solidFill>
                  <a:srgbClr val="3333B2"/>
                </a:solidFill>
                <a:latin typeface="Arial"/>
                <a:cs typeface="Arial"/>
              </a:rPr>
              <a:t>Essence</a:t>
            </a:r>
            <a:endParaRPr sz="1000">
              <a:latin typeface="Arial"/>
              <a:cs typeface="Arial"/>
            </a:endParaRPr>
          </a:p>
          <a:p>
            <a:pPr marL="12700">
              <a:lnSpc>
                <a:spcPct val="100000"/>
              </a:lnSpc>
              <a:spcBef>
                <a:spcPts val="105"/>
              </a:spcBef>
            </a:pPr>
            <a:r>
              <a:rPr sz="900" dirty="0">
                <a:latin typeface="Arial"/>
                <a:cs typeface="Arial"/>
              </a:rPr>
              <a:t>A</a:t>
            </a:r>
            <a:r>
              <a:rPr sz="900" spc="-25" dirty="0">
                <a:latin typeface="Arial"/>
                <a:cs typeface="Arial"/>
              </a:rPr>
              <a:t> </a:t>
            </a:r>
            <a:r>
              <a:rPr sz="900" dirty="0">
                <a:latin typeface="Arial"/>
                <a:cs typeface="Arial"/>
              </a:rPr>
              <a:t>node</a:t>
            </a:r>
            <a:r>
              <a:rPr sz="900" spc="-25" dirty="0">
                <a:latin typeface="Arial"/>
                <a:cs typeface="Arial"/>
              </a:rPr>
              <a:t> </a:t>
            </a:r>
            <a:r>
              <a:rPr sz="900" dirty="0">
                <a:latin typeface="Arial"/>
                <a:cs typeface="Arial"/>
              </a:rPr>
              <a:t>reports</a:t>
            </a:r>
            <a:r>
              <a:rPr sz="900" spc="-25" dirty="0">
                <a:latin typeface="Arial"/>
                <a:cs typeface="Arial"/>
              </a:rPr>
              <a:t> </a:t>
            </a:r>
            <a:r>
              <a:rPr sz="900" dirty="0">
                <a:latin typeface="Arial"/>
                <a:cs typeface="Arial"/>
              </a:rPr>
              <a:t>back</a:t>
            </a:r>
            <a:r>
              <a:rPr sz="900" spc="-20" dirty="0">
                <a:latin typeface="Arial"/>
                <a:cs typeface="Arial"/>
              </a:rPr>
              <a:t> </a:t>
            </a:r>
            <a:r>
              <a:rPr sz="900" dirty="0">
                <a:latin typeface="Arial"/>
                <a:cs typeface="Arial"/>
              </a:rPr>
              <a:t>only</a:t>
            </a:r>
            <a:r>
              <a:rPr sz="900" spc="-25" dirty="0">
                <a:latin typeface="Arial"/>
                <a:cs typeface="Arial"/>
              </a:rPr>
              <a:t> </a:t>
            </a:r>
            <a:r>
              <a:rPr sz="900" dirty="0">
                <a:latin typeface="Arial"/>
                <a:cs typeface="Arial"/>
              </a:rPr>
              <a:t>the</a:t>
            </a:r>
            <a:r>
              <a:rPr sz="900" spc="-25" dirty="0">
                <a:latin typeface="Arial"/>
                <a:cs typeface="Arial"/>
              </a:rPr>
              <a:t> </a:t>
            </a:r>
            <a:r>
              <a:rPr sz="900" dirty="0">
                <a:latin typeface="Arial"/>
                <a:cs typeface="Arial"/>
              </a:rPr>
              <a:t>node</a:t>
            </a:r>
            <a:r>
              <a:rPr sz="900" spc="-20" dirty="0">
                <a:latin typeface="Arial"/>
                <a:cs typeface="Arial"/>
              </a:rPr>
              <a:t> </a:t>
            </a:r>
            <a:r>
              <a:rPr sz="900" dirty="0">
                <a:latin typeface="Arial"/>
                <a:cs typeface="Arial"/>
              </a:rPr>
              <a:t>that</a:t>
            </a:r>
            <a:r>
              <a:rPr sz="900" spc="-25" dirty="0">
                <a:latin typeface="Arial"/>
                <a:cs typeface="Arial"/>
              </a:rPr>
              <a:t> </a:t>
            </a:r>
            <a:r>
              <a:rPr sz="900" dirty="0">
                <a:latin typeface="Arial"/>
                <a:cs typeface="Arial"/>
              </a:rPr>
              <a:t>it</a:t>
            </a:r>
            <a:r>
              <a:rPr sz="900" spc="-25" dirty="0">
                <a:latin typeface="Arial"/>
                <a:cs typeface="Arial"/>
              </a:rPr>
              <a:t> </a:t>
            </a:r>
            <a:r>
              <a:rPr sz="900" dirty="0">
                <a:latin typeface="Arial"/>
                <a:cs typeface="Arial"/>
              </a:rPr>
              <a:t>found</a:t>
            </a:r>
            <a:r>
              <a:rPr sz="900" spc="-20" dirty="0">
                <a:latin typeface="Arial"/>
                <a:cs typeface="Arial"/>
              </a:rPr>
              <a:t> </a:t>
            </a:r>
            <a:r>
              <a:rPr sz="900" dirty="0">
                <a:latin typeface="Arial"/>
                <a:cs typeface="Arial"/>
              </a:rPr>
              <a:t>to</a:t>
            </a:r>
            <a:r>
              <a:rPr sz="900" spc="-25" dirty="0">
                <a:latin typeface="Arial"/>
                <a:cs typeface="Arial"/>
              </a:rPr>
              <a:t> </a:t>
            </a:r>
            <a:r>
              <a:rPr sz="900" spc="-10" dirty="0">
                <a:latin typeface="Arial"/>
                <a:cs typeface="Arial"/>
              </a:rPr>
              <a:t>have</a:t>
            </a:r>
            <a:r>
              <a:rPr sz="900" spc="-25" dirty="0">
                <a:latin typeface="Arial"/>
                <a:cs typeface="Arial"/>
              </a:rPr>
              <a:t> </a:t>
            </a:r>
            <a:r>
              <a:rPr sz="900" dirty="0">
                <a:latin typeface="Arial"/>
                <a:cs typeface="Arial"/>
              </a:rPr>
              <a:t>the</a:t>
            </a:r>
            <a:r>
              <a:rPr sz="900" spc="-20" dirty="0">
                <a:latin typeface="Arial"/>
                <a:cs typeface="Arial"/>
              </a:rPr>
              <a:t> </a:t>
            </a:r>
            <a:r>
              <a:rPr sz="900" dirty="0">
                <a:latin typeface="Arial"/>
                <a:cs typeface="Arial"/>
              </a:rPr>
              <a:t>highest</a:t>
            </a:r>
            <a:r>
              <a:rPr sz="900" spc="-25" dirty="0">
                <a:latin typeface="Arial"/>
                <a:cs typeface="Arial"/>
              </a:rPr>
              <a:t> </a:t>
            </a:r>
            <a:r>
              <a:rPr sz="900" spc="-10" dirty="0">
                <a:latin typeface="Arial"/>
                <a:cs typeface="Arial"/>
              </a:rPr>
              <a:t>capacity.</a:t>
            </a:r>
            <a:endParaRPr sz="900">
              <a:latin typeface="Arial"/>
              <a:cs typeface="Arial"/>
            </a:endParaRPr>
          </a:p>
        </p:txBody>
      </p:sp>
      <p:grpSp>
        <p:nvGrpSpPr>
          <p:cNvPr id="9" name="object 9"/>
          <p:cNvGrpSpPr/>
          <p:nvPr/>
        </p:nvGrpSpPr>
        <p:grpSpPr>
          <a:xfrm>
            <a:off x="0" y="3348469"/>
            <a:ext cx="4608195" cy="107950"/>
            <a:chOff x="0" y="3348469"/>
            <a:chExt cx="4608195" cy="107950"/>
          </a:xfrm>
        </p:grpSpPr>
        <p:sp>
          <p:nvSpPr>
            <p:cNvPr id="10" name="object 10"/>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1" name="object 11"/>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2" name="object 12"/>
          <p:cNvSpPr txBox="1"/>
          <p:nvPr/>
        </p:nvSpPr>
        <p:spPr>
          <a:xfrm>
            <a:off x="53467" y="3349927"/>
            <a:ext cx="99123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6" action="ppaction://hlinksldjump"/>
              </a:rPr>
              <a:t>Elections</a:t>
            </a:r>
            <a:r>
              <a:rPr sz="500" spc="-20" dirty="0">
                <a:latin typeface="Arial"/>
                <a:cs typeface="Arial"/>
                <a:hlinkClick r:id="rId6" action="ppaction://hlinksldjump"/>
              </a:rPr>
              <a:t> </a:t>
            </a:r>
            <a:r>
              <a:rPr sz="500" dirty="0">
                <a:latin typeface="Arial"/>
                <a:cs typeface="Arial"/>
                <a:hlinkClick r:id="rId6" action="ppaction://hlinksldjump"/>
              </a:rPr>
              <a:t>in</a:t>
            </a:r>
            <a:r>
              <a:rPr sz="500" spc="-20" dirty="0">
                <a:latin typeface="Arial"/>
                <a:cs typeface="Arial"/>
                <a:hlinkClick r:id="rId6" action="ppaction://hlinksldjump"/>
              </a:rPr>
              <a:t> </a:t>
            </a:r>
            <a:r>
              <a:rPr sz="500" dirty="0">
                <a:latin typeface="Arial"/>
                <a:cs typeface="Arial"/>
                <a:hlinkClick r:id="rId6" action="ppaction://hlinksldjump"/>
              </a:rPr>
              <a:t>wireless</a:t>
            </a:r>
            <a:r>
              <a:rPr sz="500" spc="-20" dirty="0">
                <a:latin typeface="Arial"/>
                <a:cs typeface="Arial"/>
                <a:hlinkClick r:id="rId6" action="ppaction://hlinksldjump"/>
              </a:rPr>
              <a:t> </a:t>
            </a:r>
            <a:r>
              <a:rPr sz="500" spc="-10" dirty="0">
                <a:latin typeface="Arial"/>
                <a:cs typeface="Arial"/>
                <a:hlinkClick r:id="rId6" action="ppaction://hlinksldjump"/>
              </a:rPr>
              <a:t>environments</a:t>
            </a:r>
            <a:endParaRPr sz="500">
              <a:latin typeface="Arial"/>
              <a:cs typeface="Arial"/>
            </a:endParaRPr>
          </a:p>
        </p:txBody>
      </p:sp>
    </p:spTree>
  </p:cSld>
  <p:clrMapOvr>
    <a:masterClrMapping/>
  </p:clrMapOvr>
  <p:transition>
    <p:fad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999229" algn="l"/>
              </a:tabLst>
            </a:pPr>
            <a:r>
              <a:rPr sz="500" spc="-10" dirty="0">
                <a:latin typeface="Arial"/>
                <a:cs typeface="Arial"/>
                <a:hlinkClick r:id="rId2" action="ppaction://hlinksldjump"/>
              </a:rPr>
              <a:t>Coordination</a:t>
            </a:r>
            <a:r>
              <a:rPr sz="500" dirty="0">
                <a:latin typeface="Arial"/>
                <a:cs typeface="Arial"/>
              </a:rPr>
              <a:t>	</a:t>
            </a:r>
            <a:r>
              <a:rPr sz="500" dirty="0">
                <a:solidFill>
                  <a:srgbClr val="FFFFFF"/>
                </a:solidFill>
                <a:latin typeface="Arial"/>
                <a:cs typeface="Arial"/>
                <a:hlinkClick r:id="rId3" action="ppaction://hlinksldjump"/>
              </a:rPr>
              <a:t>Location</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systems</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0" dirty="0"/>
              <a:t>Positioning</a:t>
            </a:r>
            <a:r>
              <a:rPr spc="-15" dirty="0"/>
              <a:t> </a:t>
            </a:r>
            <a:r>
              <a:rPr spc="-10" dirty="0"/>
              <a:t>nodes</a:t>
            </a:r>
          </a:p>
        </p:txBody>
      </p:sp>
      <p:sp>
        <p:nvSpPr>
          <p:cNvPr id="4" name="object 4"/>
          <p:cNvSpPr txBox="1"/>
          <p:nvPr/>
        </p:nvSpPr>
        <p:spPr>
          <a:xfrm>
            <a:off x="343204" y="499476"/>
            <a:ext cx="3916679" cy="1861985"/>
          </a:xfrm>
          <a:prstGeom prst="rect">
            <a:avLst/>
          </a:prstGeom>
        </p:spPr>
        <p:txBody>
          <a:bodyPr vert="horz" wrap="square" lIns="0" tIns="27305" rIns="0" bIns="0" rtlCol="0">
            <a:spAutoFit/>
          </a:bodyPr>
          <a:lstStyle/>
          <a:p>
            <a:pPr marL="16510">
              <a:lnSpc>
                <a:spcPct val="100000"/>
              </a:lnSpc>
              <a:spcBef>
                <a:spcPts val="215"/>
              </a:spcBef>
            </a:pPr>
            <a:r>
              <a:rPr sz="1000" spc="-10" dirty="0">
                <a:solidFill>
                  <a:srgbClr val="3333B2"/>
                </a:solidFill>
                <a:latin typeface="Arial"/>
                <a:cs typeface="Arial"/>
              </a:rPr>
              <a:t>Issue</a:t>
            </a:r>
            <a:endParaRPr sz="1000" dirty="0">
              <a:latin typeface="Arial"/>
              <a:cs typeface="Arial"/>
            </a:endParaRPr>
          </a:p>
          <a:p>
            <a:pPr marL="12700" marR="5080" indent="3810">
              <a:lnSpc>
                <a:spcPts val="1210"/>
              </a:lnSpc>
              <a:spcBef>
                <a:spcPts val="35"/>
              </a:spcBef>
            </a:pPr>
            <a:r>
              <a:rPr sz="900" dirty="0">
                <a:latin typeface="Arial"/>
                <a:cs typeface="Arial"/>
              </a:rPr>
              <a:t>In</a:t>
            </a:r>
            <a:r>
              <a:rPr sz="900" spc="-30" dirty="0">
                <a:latin typeface="Arial"/>
                <a:cs typeface="Arial"/>
              </a:rPr>
              <a:t> </a:t>
            </a:r>
            <a:r>
              <a:rPr sz="900" spc="-10" dirty="0">
                <a:latin typeface="Arial"/>
                <a:cs typeface="Arial"/>
              </a:rPr>
              <a:t>large-</a:t>
            </a:r>
            <a:r>
              <a:rPr sz="900" dirty="0">
                <a:latin typeface="Arial"/>
                <a:cs typeface="Arial"/>
              </a:rPr>
              <a:t>scale</a:t>
            </a:r>
            <a:r>
              <a:rPr sz="900" spc="-25" dirty="0">
                <a:latin typeface="Arial"/>
                <a:cs typeface="Arial"/>
              </a:rPr>
              <a:t> </a:t>
            </a:r>
            <a:r>
              <a:rPr sz="900" dirty="0">
                <a:latin typeface="Arial"/>
                <a:cs typeface="Arial"/>
              </a:rPr>
              <a:t>distributed</a:t>
            </a:r>
            <a:r>
              <a:rPr sz="900" spc="-25" dirty="0">
                <a:latin typeface="Arial"/>
                <a:cs typeface="Arial"/>
              </a:rPr>
              <a:t> </a:t>
            </a:r>
            <a:r>
              <a:rPr sz="900" dirty="0">
                <a:latin typeface="Arial"/>
                <a:cs typeface="Arial"/>
              </a:rPr>
              <a:t>systems</a:t>
            </a:r>
            <a:r>
              <a:rPr sz="900" spc="-25" dirty="0">
                <a:latin typeface="Arial"/>
                <a:cs typeface="Arial"/>
              </a:rPr>
              <a:t> </a:t>
            </a:r>
            <a:r>
              <a:rPr sz="900" dirty="0">
                <a:latin typeface="Arial"/>
                <a:cs typeface="Arial"/>
              </a:rPr>
              <a:t>in</a:t>
            </a:r>
            <a:r>
              <a:rPr sz="900" spc="-25" dirty="0">
                <a:latin typeface="Arial"/>
                <a:cs typeface="Arial"/>
              </a:rPr>
              <a:t> </a:t>
            </a:r>
            <a:r>
              <a:rPr sz="900" dirty="0">
                <a:latin typeface="Arial"/>
                <a:cs typeface="Arial"/>
              </a:rPr>
              <a:t>which</a:t>
            </a:r>
            <a:r>
              <a:rPr sz="900" spc="-30" dirty="0">
                <a:latin typeface="Arial"/>
                <a:cs typeface="Arial"/>
              </a:rPr>
              <a:t> </a:t>
            </a:r>
            <a:r>
              <a:rPr sz="900" dirty="0">
                <a:latin typeface="Arial"/>
                <a:cs typeface="Arial"/>
              </a:rPr>
              <a:t>nodes</a:t>
            </a:r>
            <a:r>
              <a:rPr sz="900" spc="-25" dirty="0">
                <a:latin typeface="Arial"/>
                <a:cs typeface="Arial"/>
              </a:rPr>
              <a:t> </a:t>
            </a:r>
            <a:r>
              <a:rPr sz="900" dirty="0">
                <a:latin typeface="Arial"/>
                <a:cs typeface="Arial"/>
              </a:rPr>
              <a:t>are</a:t>
            </a:r>
            <a:r>
              <a:rPr sz="900" spc="-25" dirty="0">
                <a:latin typeface="Arial"/>
                <a:cs typeface="Arial"/>
              </a:rPr>
              <a:t> </a:t>
            </a:r>
            <a:r>
              <a:rPr sz="900" dirty="0">
                <a:latin typeface="Arial"/>
                <a:cs typeface="Arial"/>
              </a:rPr>
              <a:t>dispersed</a:t>
            </a:r>
            <a:r>
              <a:rPr sz="900" spc="-25" dirty="0">
                <a:latin typeface="Arial"/>
                <a:cs typeface="Arial"/>
              </a:rPr>
              <a:t> </a:t>
            </a:r>
            <a:r>
              <a:rPr sz="900" dirty="0">
                <a:latin typeface="Arial"/>
                <a:cs typeface="Arial"/>
              </a:rPr>
              <a:t>across</a:t>
            </a:r>
            <a:r>
              <a:rPr sz="900" spc="-25" dirty="0">
                <a:latin typeface="Arial"/>
                <a:cs typeface="Arial"/>
              </a:rPr>
              <a:t> </a:t>
            </a:r>
            <a:r>
              <a:rPr sz="900" spc="-50" dirty="0">
                <a:latin typeface="Arial"/>
                <a:cs typeface="Arial"/>
              </a:rPr>
              <a:t>a</a:t>
            </a:r>
            <a:r>
              <a:rPr sz="900" spc="-10" dirty="0">
                <a:latin typeface="Arial"/>
                <a:cs typeface="Arial"/>
              </a:rPr>
              <a:t> wide-</a:t>
            </a:r>
            <a:r>
              <a:rPr sz="900" dirty="0">
                <a:latin typeface="Arial"/>
                <a:cs typeface="Arial"/>
              </a:rPr>
              <a:t>area</a:t>
            </a:r>
            <a:r>
              <a:rPr sz="900" spc="-35" dirty="0">
                <a:latin typeface="Arial"/>
                <a:cs typeface="Arial"/>
              </a:rPr>
              <a:t> </a:t>
            </a:r>
            <a:r>
              <a:rPr sz="900" spc="-10" dirty="0">
                <a:latin typeface="Arial"/>
                <a:cs typeface="Arial"/>
              </a:rPr>
              <a:t>network,</a:t>
            </a:r>
            <a:r>
              <a:rPr sz="900" spc="-35" dirty="0">
                <a:latin typeface="Arial"/>
                <a:cs typeface="Arial"/>
              </a:rPr>
              <a:t> </a:t>
            </a:r>
            <a:r>
              <a:rPr sz="900" dirty="0">
                <a:latin typeface="Arial"/>
                <a:cs typeface="Arial"/>
              </a:rPr>
              <a:t>we</a:t>
            </a:r>
            <a:r>
              <a:rPr sz="900" spc="-30" dirty="0">
                <a:latin typeface="Arial"/>
                <a:cs typeface="Arial"/>
              </a:rPr>
              <a:t> </a:t>
            </a:r>
            <a:r>
              <a:rPr sz="900" dirty="0">
                <a:latin typeface="Arial"/>
                <a:cs typeface="Arial"/>
              </a:rPr>
              <a:t>often</a:t>
            </a:r>
            <a:r>
              <a:rPr sz="900" spc="-35" dirty="0">
                <a:latin typeface="Arial"/>
                <a:cs typeface="Arial"/>
              </a:rPr>
              <a:t> </a:t>
            </a:r>
            <a:r>
              <a:rPr sz="900" dirty="0">
                <a:latin typeface="Arial"/>
                <a:cs typeface="Arial"/>
              </a:rPr>
              <a:t>need</a:t>
            </a:r>
            <a:r>
              <a:rPr sz="900" spc="-30" dirty="0">
                <a:latin typeface="Arial"/>
                <a:cs typeface="Arial"/>
              </a:rPr>
              <a:t> </a:t>
            </a:r>
            <a:r>
              <a:rPr sz="900" dirty="0">
                <a:latin typeface="Arial"/>
                <a:cs typeface="Arial"/>
              </a:rPr>
              <a:t>to</a:t>
            </a:r>
            <a:r>
              <a:rPr sz="900" spc="-35" dirty="0">
                <a:latin typeface="Arial"/>
                <a:cs typeface="Arial"/>
              </a:rPr>
              <a:t> </a:t>
            </a:r>
            <a:r>
              <a:rPr sz="900" dirty="0">
                <a:latin typeface="Arial"/>
                <a:cs typeface="Arial"/>
              </a:rPr>
              <a:t>take</a:t>
            </a:r>
            <a:r>
              <a:rPr sz="900" spc="-35" dirty="0">
                <a:latin typeface="Arial"/>
                <a:cs typeface="Arial"/>
              </a:rPr>
              <a:t> </a:t>
            </a:r>
            <a:r>
              <a:rPr sz="900" dirty="0">
                <a:latin typeface="Arial"/>
                <a:cs typeface="Arial"/>
              </a:rPr>
              <a:t>some</a:t>
            </a:r>
            <a:r>
              <a:rPr sz="900" spc="-30" dirty="0">
                <a:latin typeface="Arial"/>
                <a:cs typeface="Arial"/>
              </a:rPr>
              <a:t> </a:t>
            </a:r>
            <a:r>
              <a:rPr sz="900" dirty="0">
                <a:latin typeface="Arial"/>
                <a:cs typeface="Arial"/>
              </a:rPr>
              <a:t>notion</a:t>
            </a:r>
            <a:r>
              <a:rPr sz="900" spc="-35" dirty="0">
                <a:latin typeface="Arial"/>
                <a:cs typeface="Arial"/>
              </a:rPr>
              <a:t> </a:t>
            </a:r>
            <a:r>
              <a:rPr sz="900" dirty="0">
                <a:latin typeface="Arial"/>
                <a:cs typeface="Arial"/>
              </a:rPr>
              <a:t>of</a:t>
            </a:r>
            <a:r>
              <a:rPr sz="900" spc="-30" dirty="0">
                <a:latin typeface="Arial"/>
                <a:cs typeface="Arial"/>
              </a:rPr>
              <a:t> </a:t>
            </a:r>
            <a:r>
              <a:rPr sz="900" spc="-10" dirty="0">
                <a:solidFill>
                  <a:srgbClr val="3333B2"/>
                </a:solidFill>
                <a:latin typeface="Arial"/>
                <a:cs typeface="Arial"/>
              </a:rPr>
              <a:t>proximity</a:t>
            </a:r>
            <a:r>
              <a:rPr sz="900" spc="-35" dirty="0">
                <a:solidFill>
                  <a:srgbClr val="3333B2"/>
                </a:solidFill>
                <a:latin typeface="Arial"/>
                <a:cs typeface="Arial"/>
              </a:rPr>
              <a:t> </a:t>
            </a:r>
            <a:r>
              <a:rPr sz="900" dirty="0">
                <a:latin typeface="Arial"/>
                <a:cs typeface="Arial"/>
              </a:rPr>
              <a:t>or</a:t>
            </a:r>
            <a:r>
              <a:rPr sz="900" spc="-35" dirty="0">
                <a:latin typeface="Arial"/>
                <a:cs typeface="Arial"/>
              </a:rPr>
              <a:t> </a:t>
            </a:r>
            <a:r>
              <a:rPr sz="900" spc="-10" dirty="0">
                <a:solidFill>
                  <a:srgbClr val="3333B2"/>
                </a:solidFill>
                <a:latin typeface="Arial"/>
                <a:cs typeface="Arial"/>
              </a:rPr>
              <a:t>distance </a:t>
            </a:r>
            <a:r>
              <a:rPr sz="900" dirty="0">
                <a:latin typeface="Arial"/>
                <a:cs typeface="Arial"/>
              </a:rPr>
              <a:t>into</a:t>
            </a:r>
            <a:r>
              <a:rPr sz="900" spc="-20" dirty="0">
                <a:latin typeface="Arial"/>
                <a:cs typeface="Arial"/>
              </a:rPr>
              <a:t> </a:t>
            </a:r>
            <a:r>
              <a:rPr sz="900" dirty="0">
                <a:latin typeface="Arial"/>
                <a:cs typeface="Arial"/>
              </a:rPr>
              <a:t>account</a:t>
            </a:r>
            <a:r>
              <a:rPr sz="900" spc="-15" dirty="0">
                <a:latin typeface="Arial"/>
                <a:cs typeface="Arial"/>
              </a:rPr>
              <a:t> </a:t>
            </a:r>
            <a:r>
              <a:rPr sz="900" i="1" spc="350" dirty="0">
                <a:latin typeface="Menlo"/>
                <a:cs typeface="Menlo"/>
              </a:rPr>
              <a:t>⇒</a:t>
            </a:r>
            <a:r>
              <a:rPr sz="900" i="1" spc="-295" dirty="0">
                <a:latin typeface="Menlo"/>
                <a:cs typeface="Menlo"/>
              </a:rPr>
              <a:t> </a:t>
            </a:r>
            <a:r>
              <a:rPr sz="900" dirty="0">
                <a:latin typeface="Arial"/>
                <a:cs typeface="Arial"/>
              </a:rPr>
              <a:t>it</a:t>
            </a:r>
            <a:r>
              <a:rPr sz="900" spc="-10" dirty="0">
                <a:latin typeface="Arial"/>
                <a:cs typeface="Arial"/>
              </a:rPr>
              <a:t> </a:t>
            </a:r>
            <a:r>
              <a:rPr sz="900" dirty="0">
                <a:latin typeface="Arial"/>
                <a:cs typeface="Arial"/>
              </a:rPr>
              <a:t>starts</a:t>
            </a:r>
            <a:r>
              <a:rPr sz="900" spc="-15" dirty="0">
                <a:latin typeface="Arial"/>
                <a:cs typeface="Arial"/>
              </a:rPr>
              <a:t> </a:t>
            </a:r>
            <a:r>
              <a:rPr sz="900" dirty="0">
                <a:latin typeface="Arial"/>
                <a:cs typeface="Arial"/>
              </a:rPr>
              <a:t>with</a:t>
            </a:r>
            <a:r>
              <a:rPr sz="900" spc="-10" dirty="0">
                <a:latin typeface="Arial"/>
                <a:cs typeface="Arial"/>
              </a:rPr>
              <a:t> </a:t>
            </a:r>
            <a:r>
              <a:rPr sz="900" dirty="0">
                <a:latin typeface="Arial"/>
                <a:cs typeface="Arial"/>
              </a:rPr>
              <a:t>determining</a:t>
            </a:r>
            <a:r>
              <a:rPr sz="900" spc="-15" dirty="0">
                <a:latin typeface="Arial"/>
                <a:cs typeface="Arial"/>
              </a:rPr>
              <a:t> </a:t>
            </a:r>
            <a:r>
              <a:rPr sz="900" dirty="0">
                <a:latin typeface="Arial"/>
                <a:cs typeface="Arial"/>
              </a:rPr>
              <a:t>a</a:t>
            </a:r>
            <a:r>
              <a:rPr sz="900" spc="-10" dirty="0">
                <a:latin typeface="Arial"/>
                <a:cs typeface="Arial"/>
              </a:rPr>
              <a:t> (relative)</a:t>
            </a:r>
            <a:r>
              <a:rPr sz="900" spc="-15" dirty="0">
                <a:latin typeface="Arial"/>
                <a:cs typeface="Arial"/>
              </a:rPr>
              <a:t> </a:t>
            </a:r>
            <a:r>
              <a:rPr sz="900" dirty="0">
                <a:solidFill>
                  <a:srgbClr val="C80000"/>
                </a:solidFill>
                <a:latin typeface="Arial"/>
                <a:cs typeface="Arial"/>
              </a:rPr>
              <a:t>location</a:t>
            </a:r>
            <a:r>
              <a:rPr sz="900" spc="-10" dirty="0">
                <a:solidFill>
                  <a:srgbClr val="C80000"/>
                </a:solidFill>
                <a:latin typeface="Arial"/>
                <a:cs typeface="Arial"/>
              </a:rPr>
              <a:t> </a:t>
            </a:r>
            <a:r>
              <a:rPr sz="900" dirty="0">
                <a:latin typeface="Arial"/>
                <a:cs typeface="Arial"/>
              </a:rPr>
              <a:t>of</a:t>
            </a:r>
            <a:r>
              <a:rPr sz="900" spc="-10" dirty="0">
                <a:latin typeface="Arial"/>
                <a:cs typeface="Arial"/>
              </a:rPr>
              <a:t> </a:t>
            </a:r>
            <a:r>
              <a:rPr sz="900" dirty="0">
                <a:latin typeface="Arial"/>
                <a:cs typeface="Arial"/>
              </a:rPr>
              <a:t>a</a:t>
            </a:r>
            <a:r>
              <a:rPr sz="900" spc="-15" dirty="0">
                <a:latin typeface="Arial"/>
                <a:cs typeface="Arial"/>
              </a:rPr>
              <a:t> </a:t>
            </a:r>
            <a:r>
              <a:rPr sz="900" spc="-10" dirty="0">
                <a:latin typeface="Arial"/>
                <a:cs typeface="Arial"/>
              </a:rPr>
              <a:t>node.</a:t>
            </a:r>
            <a:endParaRPr lang="en-US" sz="900" spc="-10" dirty="0">
              <a:latin typeface="Arial"/>
              <a:cs typeface="Arial"/>
            </a:endParaRPr>
          </a:p>
          <a:p>
            <a:pPr marL="12700" marR="5080" indent="3810">
              <a:lnSpc>
                <a:spcPts val="1210"/>
              </a:lnSpc>
              <a:spcBef>
                <a:spcPts val="35"/>
              </a:spcBef>
            </a:pPr>
            <a:endParaRPr lang="en-US" sz="900" spc="-10" dirty="0">
              <a:latin typeface="Arial"/>
              <a:cs typeface="Arial"/>
            </a:endParaRPr>
          </a:p>
          <a:p>
            <a:pPr marL="12700" marR="5080" indent="3810">
              <a:lnSpc>
                <a:spcPts val="1210"/>
              </a:lnSpc>
              <a:spcBef>
                <a:spcPts val="35"/>
              </a:spcBef>
            </a:pPr>
            <a:endParaRPr lang="en-US" sz="900" spc="-10" dirty="0">
              <a:latin typeface="Arial"/>
              <a:cs typeface="Arial"/>
            </a:endParaRPr>
          </a:p>
          <a:p>
            <a:pPr marL="12700" marR="5080" indent="3810">
              <a:lnSpc>
                <a:spcPts val="1210"/>
              </a:lnSpc>
              <a:spcBef>
                <a:spcPts val="35"/>
              </a:spcBef>
            </a:pPr>
            <a:r>
              <a:rPr lang="en-US" sz="900" spc="-10" dirty="0">
                <a:solidFill>
                  <a:srgbClr val="3333B2"/>
                </a:solidFill>
                <a:latin typeface="Arial"/>
                <a:cs typeface="Arial"/>
              </a:rPr>
              <a:t>Applications</a:t>
            </a:r>
          </a:p>
          <a:p>
            <a:pPr marL="184150" marR="5080" indent="-171450" algn="just">
              <a:lnSpc>
                <a:spcPts val="1210"/>
              </a:lnSpc>
              <a:spcBef>
                <a:spcPts val="35"/>
              </a:spcBef>
              <a:buFont typeface="Arial" panose="020B0604020202020204" pitchFamily="34" charset="0"/>
              <a:buChar char="•"/>
            </a:pPr>
            <a:r>
              <a:rPr lang="en-US" sz="900" b="1" dirty="0">
                <a:latin typeface="Arial"/>
                <a:cs typeface="Arial"/>
              </a:rPr>
              <a:t>Location based services</a:t>
            </a:r>
            <a:r>
              <a:rPr lang="en-US" sz="900" dirty="0">
                <a:latin typeface="Arial"/>
                <a:cs typeface="Arial"/>
              </a:rPr>
              <a:t> like a resource is replicated at several dispersed locations and provide user the required service as close as possible</a:t>
            </a:r>
          </a:p>
          <a:p>
            <a:pPr marL="184150" marR="5080" indent="-171450" algn="just">
              <a:lnSpc>
                <a:spcPts val="1210"/>
              </a:lnSpc>
              <a:spcBef>
                <a:spcPts val="35"/>
              </a:spcBef>
              <a:buFont typeface="Arial" panose="020B0604020202020204" pitchFamily="34" charset="0"/>
              <a:buChar char="•"/>
            </a:pPr>
            <a:r>
              <a:rPr lang="en-US" sz="900" b="1" dirty="0">
                <a:latin typeface="Arial"/>
                <a:cs typeface="Arial"/>
              </a:rPr>
              <a:t>Position based routing</a:t>
            </a:r>
            <a:r>
              <a:rPr lang="en-US" sz="900" dirty="0">
                <a:latin typeface="Arial"/>
                <a:cs typeface="Arial"/>
              </a:rPr>
              <a:t> to efficiently forward a message towards its destination.</a:t>
            </a: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Tree>
    <p:extLst>
      <p:ext uri="{BB962C8B-B14F-4D97-AF65-F5344CB8AC3E}">
        <p14:creationId xmlns:p14="http://schemas.microsoft.com/office/powerpoint/2010/main" val="365567122"/>
      </p:ext>
    </p:extLst>
  </p:cSld>
  <p:clrMapOvr>
    <a:masterClrMapping/>
  </p:clrMapOvr>
  <p:transition>
    <p:fad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8417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Coordination</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040428" y="-1515"/>
            <a:ext cx="514350"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Location</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systems</a:t>
            </a:r>
            <a:endParaRPr sz="500">
              <a:latin typeface="Arial"/>
              <a:cs typeface="Arial"/>
            </a:endParaRPr>
          </a:p>
        </p:txBody>
      </p:sp>
      <p:sp>
        <p:nvSpPr>
          <p:cNvPr id="5" name="object 5"/>
          <p:cNvSpPr txBox="1"/>
          <p:nvPr/>
        </p:nvSpPr>
        <p:spPr>
          <a:xfrm>
            <a:off x="95300" y="197711"/>
            <a:ext cx="3561079" cy="79819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Computing</a:t>
            </a:r>
            <a:r>
              <a:rPr sz="1200" spc="-65" dirty="0">
                <a:solidFill>
                  <a:srgbClr val="3333B2"/>
                </a:solidFill>
                <a:latin typeface="Arial"/>
                <a:cs typeface="Arial"/>
              </a:rPr>
              <a:t> </a:t>
            </a:r>
            <a:r>
              <a:rPr sz="1200" spc="-10" dirty="0">
                <a:solidFill>
                  <a:srgbClr val="3333B2"/>
                </a:solidFill>
                <a:latin typeface="Arial"/>
                <a:cs typeface="Arial"/>
              </a:rPr>
              <a:t>position</a:t>
            </a:r>
            <a:endParaRPr sz="1200">
              <a:latin typeface="Arial"/>
              <a:cs typeface="Arial"/>
            </a:endParaRPr>
          </a:p>
          <a:p>
            <a:pPr marL="264160">
              <a:lnSpc>
                <a:spcPct val="100000"/>
              </a:lnSpc>
              <a:spcBef>
                <a:spcPts val="1055"/>
              </a:spcBef>
            </a:pPr>
            <a:r>
              <a:rPr sz="1000" spc="-10" dirty="0">
                <a:solidFill>
                  <a:srgbClr val="3333B2"/>
                </a:solidFill>
                <a:latin typeface="Arial"/>
                <a:cs typeface="Arial"/>
              </a:rPr>
              <a:t>Observation</a:t>
            </a:r>
            <a:endParaRPr sz="1000">
              <a:latin typeface="Arial"/>
              <a:cs typeface="Arial"/>
            </a:endParaRPr>
          </a:p>
          <a:p>
            <a:pPr marL="260350">
              <a:lnSpc>
                <a:spcPct val="100000"/>
              </a:lnSpc>
              <a:spcBef>
                <a:spcPts val="105"/>
              </a:spcBef>
            </a:pPr>
            <a:r>
              <a:rPr sz="900" dirty="0">
                <a:latin typeface="Arial"/>
                <a:cs typeface="Arial"/>
              </a:rPr>
              <a:t>A</a:t>
            </a:r>
            <a:r>
              <a:rPr sz="900" spc="-30" dirty="0">
                <a:latin typeface="Arial"/>
                <a:cs typeface="Arial"/>
              </a:rPr>
              <a:t> </a:t>
            </a:r>
            <a:r>
              <a:rPr sz="900" dirty="0">
                <a:latin typeface="Arial"/>
                <a:cs typeface="Arial"/>
              </a:rPr>
              <a:t>node</a:t>
            </a:r>
            <a:r>
              <a:rPr sz="900" spc="-20" dirty="0">
                <a:latin typeface="Arial"/>
                <a:cs typeface="Arial"/>
              </a:rPr>
              <a:t> </a:t>
            </a:r>
            <a:r>
              <a:rPr sz="900" i="1" dirty="0">
                <a:latin typeface="Arial"/>
                <a:cs typeface="Arial"/>
              </a:rPr>
              <a:t>P</a:t>
            </a:r>
            <a:r>
              <a:rPr sz="900" i="1" spc="40" dirty="0">
                <a:latin typeface="Arial"/>
                <a:cs typeface="Arial"/>
              </a:rPr>
              <a:t> </a:t>
            </a:r>
            <a:r>
              <a:rPr sz="900" dirty="0">
                <a:latin typeface="Arial"/>
                <a:cs typeface="Arial"/>
              </a:rPr>
              <a:t>needs</a:t>
            </a:r>
            <a:r>
              <a:rPr sz="900" spc="-20" dirty="0">
                <a:latin typeface="Arial"/>
                <a:cs typeface="Arial"/>
              </a:rPr>
              <a:t> </a:t>
            </a:r>
            <a:r>
              <a:rPr sz="900" i="1" dirty="0">
                <a:latin typeface="Arial"/>
                <a:cs typeface="Arial"/>
              </a:rPr>
              <a:t>d</a:t>
            </a:r>
            <a:r>
              <a:rPr sz="900" i="1" spc="-55" dirty="0">
                <a:latin typeface="Arial"/>
                <a:cs typeface="Arial"/>
              </a:rPr>
              <a:t> </a:t>
            </a:r>
            <a:r>
              <a:rPr sz="900" spc="185" dirty="0">
                <a:latin typeface="Arial"/>
                <a:cs typeface="Arial"/>
              </a:rPr>
              <a:t>+</a:t>
            </a:r>
            <a:r>
              <a:rPr sz="900" spc="-130" dirty="0">
                <a:latin typeface="Arial"/>
                <a:cs typeface="Arial"/>
              </a:rPr>
              <a:t> </a:t>
            </a:r>
            <a:r>
              <a:rPr sz="900" dirty="0">
                <a:latin typeface="Arial"/>
                <a:cs typeface="Arial"/>
              </a:rPr>
              <a:t>1</a:t>
            </a:r>
            <a:r>
              <a:rPr sz="900" spc="-20" dirty="0">
                <a:latin typeface="Arial"/>
                <a:cs typeface="Arial"/>
              </a:rPr>
              <a:t> </a:t>
            </a:r>
            <a:r>
              <a:rPr sz="900" dirty="0">
                <a:solidFill>
                  <a:srgbClr val="3333B2"/>
                </a:solidFill>
                <a:latin typeface="Arial"/>
                <a:cs typeface="Arial"/>
              </a:rPr>
              <a:t>landmarks</a:t>
            </a:r>
            <a:r>
              <a:rPr sz="900" spc="-20" dirty="0">
                <a:solidFill>
                  <a:srgbClr val="3333B2"/>
                </a:solidFill>
                <a:latin typeface="Arial"/>
                <a:cs typeface="Arial"/>
              </a:rPr>
              <a:t> </a:t>
            </a:r>
            <a:r>
              <a:rPr sz="900" dirty="0">
                <a:latin typeface="Arial"/>
                <a:cs typeface="Arial"/>
              </a:rPr>
              <a:t>to</a:t>
            </a:r>
            <a:r>
              <a:rPr sz="900" spc="-25" dirty="0">
                <a:latin typeface="Arial"/>
                <a:cs typeface="Arial"/>
              </a:rPr>
              <a:t> </a:t>
            </a:r>
            <a:r>
              <a:rPr sz="900" dirty="0">
                <a:latin typeface="Arial"/>
                <a:cs typeface="Arial"/>
              </a:rPr>
              <a:t>compute</a:t>
            </a:r>
            <a:r>
              <a:rPr sz="900" spc="-20" dirty="0">
                <a:latin typeface="Arial"/>
                <a:cs typeface="Arial"/>
              </a:rPr>
              <a:t> </a:t>
            </a:r>
            <a:r>
              <a:rPr sz="900" dirty="0">
                <a:latin typeface="Arial"/>
                <a:cs typeface="Arial"/>
              </a:rPr>
              <a:t>its</a:t>
            </a:r>
            <a:r>
              <a:rPr sz="900" spc="-20" dirty="0">
                <a:latin typeface="Arial"/>
                <a:cs typeface="Arial"/>
              </a:rPr>
              <a:t> </a:t>
            </a:r>
            <a:r>
              <a:rPr sz="900" dirty="0">
                <a:latin typeface="Arial"/>
                <a:cs typeface="Arial"/>
              </a:rPr>
              <a:t>own</a:t>
            </a:r>
            <a:r>
              <a:rPr sz="900" spc="-20" dirty="0">
                <a:latin typeface="Arial"/>
                <a:cs typeface="Arial"/>
              </a:rPr>
              <a:t> </a:t>
            </a:r>
            <a:r>
              <a:rPr sz="900" dirty="0">
                <a:latin typeface="Arial"/>
                <a:cs typeface="Arial"/>
              </a:rPr>
              <a:t>position</a:t>
            </a:r>
            <a:r>
              <a:rPr sz="900" spc="-20" dirty="0">
                <a:latin typeface="Arial"/>
                <a:cs typeface="Arial"/>
              </a:rPr>
              <a:t> </a:t>
            </a:r>
            <a:r>
              <a:rPr sz="900" dirty="0">
                <a:latin typeface="Arial"/>
                <a:cs typeface="Arial"/>
              </a:rPr>
              <a:t>in</a:t>
            </a:r>
            <a:r>
              <a:rPr sz="900" spc="-20" dirty="0">
                <a:latin typeface="Arial"/>
                <a:cs typeface="Arial"/>
              </a:rPr>
              <a:t> </a:t>
            </a:r>
            <a:r>
              <a:rPr sz="900" spc="-50" dirty="0">
                <a:latin typeface="Arial"/>
                <a:cs typeface="Arial"/>
              </a:rPr>
              <a:t>a</a:t>
            </a:r>
            <a:endParaRPr sz="900">
              <a:latin typeface="Arial"/>
              <a:cs typeface="Arial"/>
            </a:endParaRPr>
          </a:p>
          <a:p>
            <a:pPr marL="264160">
              <a:lnSpc>
                <a:spcPct val="100000"/>
              </a:lnSpc>
              <a:spcBef>
                <a:spcPts val="125"/>
              </a:spcBef>
            </a:pPr>
            <a:r>
              <a:rPr sz="900" i="1" spc="-10" dirty="0">
                <a:latin typeface="Arial"/>
                <a:cs typeface="Arial"/>
              </a:rPr>
              <a:t>d</a:t>
            </a:r>
            <a:r>
              <a:rPr sz="900" i="1" spc="-165" dirty="0">
                <a:latin typeface="Arial"/>
                <a:cs typeface="Arial"/>
              </a:rPr>
              <a:t> </a:t>
            </a:r>
            <a:r>
              <a:rPr sz="900" spc="-10" dirty="0">
                <a:latin typeface="Arial"/>
                <a:cs typeface="Arial"/>
              </a:rPr>
              <a:t>-</a:t>
            </a:r>
            <a:r>
              <a:rPr sz="900" dirty="0">
                <a:latin typeface="Arial"/>
                <a:cs typeface="Arial"/>
              </a:rPr>
              <a:t>dimensional</a:t>
            </a:r>
            <a:r>
              <a:rPr sz="900" spc="-50" dirty="0">
                <a:latin typeface="Arial"/>
                <a:cs typeface="Arial"/>
              </a:rPr>
              <a:t> </a:t>
            </a:r>
            <a:r>
              <a:rPr sz="900" dirty="0">
                <a:latin typeface="Arial"/>
                <a:cs typeface="Arial"/>
              </a:rPr>
              <a:t>space.</a:t>
            </a:r>
            <a:r>
              <a:rPr sz="900" spc="15" dirty="0">
                <a:latin typeface="Arial"/>
                <a:cs typeface="Arial"/>
              </a:rPr>
              <a:t> </a:t>
            </a:r>
            <a:r>
              <a:rPr sz="900" dirty="0">
                <a:latin typeface="Arial"/>
                <a:cs typeface="Arial"/>
              </a:rPr>
              <a:t>Consider</a:t>
            </a:r>
            <a:r>
              <a:rPr sz="900" spc="-40" dirty="0">
                <a:latin typeface="Arial"/>
                <a:cs typeface="Arial"/>
              </a:rPr>
              <a:t> </a:t>
            </a:r>
            <a:r>
              <a:rPr sz="900" spc="-10" dirty="0">
                <a:latin typeface="Arial"/>
                <a:cs typeface="Arial"/>
              </a:rPr>
              <a:t>two-</a:t>
            </a:r>
            <a:r>
              <a:rPr sz="900" dirty="0">
                <a:latin typeface="Arial"/>
                <a:cs typeface="Arial"/>
              </a:rPr>
              <a:t>dimensional</a:t>
            </a:r>
            <a:r>
              <a:rPr sz="900" spc="-35" dirty="0">
                <a:latin typeface="Arial"/>
                <a:cs typeface="Arial"/>
              </a:rPr>
              <a:t> </a:t>
            </a:r>
            <a:r>
              <a:rPr sz="900" spc="-10" dirty="0">
                <a:latin typeface="Arial"/>
                <a:cs typeface="Arial"/>
              </a:rPr>
              <a:t>case.</a:t>
            </a:r>
            <a:endParaRPr sz="900">
              <a:latin typeface="Arial"/>
              <a:cs typeface="Arial"/>
            </a:endParaRPr>
          </a:p>
        </p:txBody>
      </p:sp>
      <p:sp>
        <p:nvSpPr>
          <p:cNvPr id="6" name="object 6"/>
          <p:cNvSpPr txBox="1"/>
          <p:nvPr/>
        </p:nvSpPr>
        <p:spPr>
          <a:xfrm>
            <a:off x="292100" y="1107559"/>
            <a:ext cx="1544955" cy="177800"/>
          </a:xfrm>
          <a:prstGeom prst="rect">
            <a:avLst/>
          </a:prstGeom>
        </p:spPr>
        <p:txBody>
          <a:bodyPr vert="horz" wrap="square" lIns="0" tIns="12065" rIns="0" bIns="0" rtlCol="0">
            <a:spAutoFit/>
          </a:bodyPr>
          <a:lstStyle/>
          <a:p>
            <a:pPr marL="12700">
              <a:lnSpc>
                <a:spcPct val="100000"/>
              </a:lnSpc>
              <a:spcBef>
                <a:spcPts val="95"/>
              </a:spcBef>
            </a:pPr>
            <a:r>
              <a:rPr sz="1000" dirty="0">
                <a:solidFill>
                  <a:srgbClr val="3333B2"/>
                </a:solidFill>
                <a:latin typeface="Arial"/>
                <a:cs typeface="Arial"/>
              </a:rPr>
              <a:t>Computing</a:t>
            </a:r>
            <a:r>
              <a:rPr sz="1000" spc="-30" dirty="0">
                <a:solidFill>
                  <a:srgbClr val="3333B2"/>
                </a:solidFill>
                <a:latin typeface="Arial"/>
                <a:cs typeface="Arial"/>
              </a:rPr>
              <a:t> </a:t>
            </a:r>
            <a:r>
              <a:rPr sz="1000" dirty="0">
                <a:solidFill>
                  <a:srgbClr val="3333B2"/>
                </a:solidFill>
                <a:latin typeface="Arial"/>
                <a:cs typeface="Arial"/>
              </a:rPr>
              <a:t>a</a:t>
            </a:r>
            <a:r>
              <a:rPr sz="1000" spc="-30" dirty="0">
                <a:solidFill>
                  <a:srgbClr val="3333B2"/>
                </a:solidFill>
                <a:latin typeface="Arial"/>
                <a:cs typeface="Arial"/>
              </a:rPr>
              <a:t> </a:t>
            </a:r>
            <a:r>
              <a:rPr sz="1000" dirty="0">
                <a:solidFill>
                  <a:srgbClr val="3333B2"/>
                </a:solidFill>
                <a:latin typeface="Arial"/>
                <a:cs typeface="Arial"/>
              </a:rPr>
              <a:t>position</a:t>
            </a:r>
            <a:r>
              <a:rPr sz="1000" spc="-30" dirty="0">
                <a:solidFill>
                  <a:srgbClr val="3333B2"/>
                </a:solidFill>
                <a:latin typeface="Arial"/>
                <a:cs typeface="Arial"/>
              </a:rPr>
              <a:t> </a:t>
            </a:r>
            <a:r>
              <a:rPr sz="1000" dirty="0">
                <a:solidFill>
                  <a:srgbClr val="3333B2"/>
                </a:solidFill>
                <a:latin typeface="Arial"/>
                <a:cs typeface="Arial"/>
              </a:rPr>
              <a:t>in</a:t>
            </a:r>
            <a:r>
              <a:rPr sz="1000" spc="-30" dirty="0">
                <a:solidFill>
                  <a:srgbClr val="3333B2"/>
                </a:solidFill>
                <a:latin typeface="Arial"/>
                <a:cs typeface="Arial"/>
              </a:rPr>
              <a:t> </a:t>
            </a:r>
            <a:r>
              <a:rPr sz="1000" spc="-25" dirty="0">
                <a:solidFill>
                  <a:srgbClr val="3333B2"/>
                </a:solidFill>
                <a:latin typeface="Arial"/>
                <a:cs typeface="Arial"/>
              </a:rPr>
              <a:t>2D</a:t>
            </a:r>
            <a:endParaRPr sz="1000">
              <a:latin typeface="Arial"/>
              <a:cs typeface="Arial"/>
            </a:endParaRPr>
          </a:p>
        </p:txBody>
      </p:sp>
      <p:pic>
        <p:nvPicPr>
          <p:cNvPr id="7" name="object 7"/>
          <p:cNvPicPr/>
          <p:nvPr/>
        </p:nvPicPr>
        <p:blipFill>
          <a:blip r:embed="rId4" cstate="print"/>
          <a:stretch>
            <a:fillRect/>
          </a:stretch>
        </p:blipFill>
        <p:spPr>
          <a:xfrm>
            <a:off x="304800" y="1546060"/>
            <a:ext cx="2009287" cy="1722246"/>
          </a:xfrm>
          <a:prstGeom prst="rect">
            <a:avLst/>
          </a:prstGeom>
        </p:spPr>
      </p:pic>
      <p:sp>
        <p:nvSpPr>
          <p:cNvPr id="9" name="object 9"/>
          <p:cNvSpPr txBox="1"/>
          <p:nvPr/>
        </p:nvSpPr>
        <p:spPr>
          <a:xfrm>
            <a:off x="2515514" y="1092262"/>
            <a:ext cx="1826260" cy="476990"/>
          </a:xfrm>
          <a:prstGeom prst="rect">
            <a:avLst/>
          </a:prstGeom>
        </p:spPr>
        <p:txBody>
          <a:bodyPr vert="horz" wrap="square" lIns="0" tIns="27305" rIns="0" bIns="0" rtlCol="0">
            <a:spAutoFit/>
          </a:bodyPr>
          <a:lstStyle/>
          <a:p>
            <a:pPr marL="38100">
              <a:lnSpc>
                <a:spcPct val="100000"/>
              </a:lnSpc>
              <a:spcBef>
                <a:spcPts val="215"/>
              </a:spcBef>
            </a:pPr>
            <a:r>
              <a:rPr sz="1000" spc="-10" dirty="0">
                <a:solidFill>
                  <a:srgbClr val="3333B2"/>
                </a:solidFill>
                <a:latin typeface="Arial"/>
                <a:cs typeface="Arial"/>
              </a:rPr>
              <a:t>Solution</a:t>
            </a:r>
            <a:endParaRPr sz="1000">
              <a:latin typeface="Arial"/>
              <a:cs typeface="Arial"/>
            </a:endParaRPr>
          </a:p>
          <a:p>
            <a:pPr marL="38100" marR="30480">
              <a:lnSpc>
                <a:spcPts val="1210"/>
              </a:lnSpc>
              <a:spcBef>
                <a:spcPts val="35"/>
              </a:spcBef>
            </a:pPr>
            <a:r>
              <a:rPr sz="900" i="1" dirty="0">
                <a:latin typeface="Arial"/>
                <a:cs typeface="Arial"/>
              </a:rPr>
              <a:t>P</a:t>
            </a:r>
            <a:r>
              <a:rPr sz="900" i="1" spc="25" dirty="0">
                <a:latin typeface="Arial"/>
                <a:cs typeface="Arial"/>
              </a:rPr>
              <a:t> </a:t>
            </a:r>
            <a:r>
              <a:rPr sz="900" spc="-10" dirty="0">
                <a:latin typeface="Arial"/>
                <a:cs typeface="Arial"/>
              </a:rPr>
              <a:t>needs</a:t>
            </a:r>
            <a:r>
              <a:rPr sz="900" spc="-30" dirty="0">
                <a:latin typeface="Arial"/>
                <a:cs typeface="Arial"/>
              </a:rPr>
              <a:t> </a:t>
            </a:r>
            <a:r>
              <a:rPr sz="900" dirty="0">
                <a:latin typeface="Arial"/>
                <a:cs typeface="Arial"/>
              </a:rPr>
              <a:t>to</a:t>
            </a:r>
            <a:r>
              <a:rPr sz="900" spc="-30" dirty="0">
                <a:latin typeface="Arial"/>
                <a:cs typeface="Arial"/>
              </a:rPr>
              <a:t> </a:t>
            </a:r>
            <a:r>
              <a:rPr sz="900" spc="-10" dirty="0">
                <a:latin typeface="Arial"/>
                <a:cs typeface="Arial"/>
              </a:rPr>
              <a:t>solve</a:t>
            </a:r>
            <a:r>
              <a:rPr sz="900" spc="-30" dirty="0">
                <a:latin typeface="Arial"/>
                <a:cs typeface="Arial"/>
              </a:rPr>
              <a:t> </a:t>
            </a:r>
            <a:r>
              <a:rPr sz="900" spc="-10" dirty="0">
                <a:latin typeface="Arial"/>
                <a:cs typeface="Arial"/>
              </a:rPr>
              <a:t>three</a:t>
            </a:r>
            <a:r>
              <a:rPr sz="900" spc="-30" dirty="0">
                <a:latin typeface="Arial"/>
                <a:cs typeface="Arial"/>
              </a:rPr>
              <a:t> </a:t>
            </a:r>
            <a:r>
              <a:rPr sz="900" spc="-10" dirty="0">
                <a:latin typeface="Arial"/>
                <a:cs typeface="Arial"/>
              </a:rPr>
              <a:t>equations</a:t>
            </a:r>
            <a:r>
              <a:rPr sz="900" spc="-30" dirty="0">
                <a:latin typeface="Arial"/>
                <a:cs typeface="Arial"/>
              </a:rPr>
              <a:t> </a:t>
            </a:r>
            <a:r>
              <a:rPr sz="900" spc="-25" dirty="0">
                <a:latin typeface="Arial"/>
                <a:cs typeface="Arial"/>
              </a:rPr>
              <a:t>in </a:t>
            </a:r>
            <a:r>
              <a:rPr sz="900" dirty="0">
                <a:latin typeface="Arial"/>
                <a:cs typeface="Arial"/>
              </a:rPr>
              <a:t>two</a:t>
            </a:r>
            <a:r>
              <a:rPr sz="900" spc="-40" dirty="0">
                <a:latin typeface="Arial"/>
                <a:cs typeface="Arial"/>
              </a:rPr>
              <a:t> </a:t>
            </a:r>
            <a:r>
              <a:rPr sz="900" dirty="0">
                <a:latin typeface="Arial"/>
                <a:cs typeface="Arial"/>
              </a:rPr>
              <a:t>unknowns</a:t>
            </a:r>
            <a:r>
              <a:rPr sz="900" spc="-20" dirty="0">
                <a:latin typeface="Arial"/>
                <a:cs typeface="Arial"/>
              </a:rPr>
              <a:t> </a:t>
            </a:r>
            <a:r>
              <a:rPr sz="900" spc="-10" dirty="0">
                <a:latin typeface="Arial"/>
                <a:cs typeface="Arial"/>
              </a:rPr>
              <a:t>(</a:t>
            </a:r>
            <a:r>
              <a:rPr sz="900" i="1" spc="-10" dirty="0">
                <a:latin typeface="Arial"/>
                <a:cs typeface="Arial"/>
              </a:rPr>
              <a:t>x</a:t>
            </a:r>
            <a:r>
              <a:rPr sz="1050" i="1" spc="-15" baseline="-15873" dirty="0">
                <a:latin typeface="Arial"/>
                <a:cs typeface="Arial"/>
              </a:rPr>
              <a:t>P</a:t>
            </a:r>
            <a:r>
              <a:rPr sz="1050" i="1" spc="-150" baseline="-15873" dirty="0">
                <a:latin typeface="Arial"/>
                <a:cs typeface="Arial"/>
              </a:rPr>
              <a:t> </a:t>
            </a:r>
            <a:r>
              <a:rPr sz="900" spc="-10" dirty="0">
                <a:latin typeface="Arial"/>
                <a:cs typeface="Arial"/>
              </a:rPr>
              <a:t>,</a:t>
            </a:r>
            <a:r>
              <a:rPr sz="900" i="1" spc="-10" dirty="0">
                <a:latin typeface="Arial"/>
                <a:cs typeface="Arial"/>
              </a:rPr>
              <a:t>y</a:t>
            </a:r>
            <a:r>
              <a:rPr sz="1050" i="1" spc="-15" baseline="-15873" dirty="0">
                <a:latin typeface="Arial"/>
                <a:cs typeface="Arial"/>
              </a:rPr>
              <a:t>P</a:t>
            </a:r>
            <a:r>
              <a:rPr sz="1050" i="1" spc="-150" baseline="-15873" dirty="0">
                <a:latin typeface="Arial"/>
                <a:cs typeface="Arial"/>
              </a:rPr>
              <a:t> </a:t>
            </a:r>
            <a:r>
              <a:rPr sz="900" spc="-25" dirty="0">
                <a:latin typeface="Arial"/>
                <a:cs typeface="Arial"/>
              </a:rPr>
              <a:t>):</a:t>
            </a:r>
            <a:endParaRPr sz="900">
              <a:latin typeface="Arial"/>
              <a:cs typeface="Arial"/>
            </a:endParaRPr>
          </a:p>
        </p:txBody>
      </p:sp>
      <p:grpSp>
        <p:nvGrpSpPr>
          <p:cNvPr id="10" name="object 10"/>
          <p:cNvGrpSpPr/>
          <p:nvPr/>
        </p:nvGrpSpPr>
        <p:grpSpPr>
          <a:xfrm>
            <a:off x="0" y="3348469"/>
            <a:ext cx="4608195" cy="107950"/>
            <a:chOff x="0" y="3348469"/>
            <a:chExt cx="4608195" cy="107950"/>
          </a:xfrm>
        </p:grpSpPr>
        <p:sp>
          <p:nvSpPr>
            <p:cNvPr id="11" name="object 11"/>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2" name="object 12"/>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3" name="object 13"/>
          <p:cNvSpPr txBox="1"/>
          <p:nvPr/>
        </p:nvSpPr>
        <p:spPr>
          <a:xfrm>
            <a:off x="53467" y="3349927"/>
            <a:ext cx="92964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5" action="ppaction://hlinksldjump"/>
              </a:rPr>
              <a:t>GPS:</a:t>
            </a:r>
            <a:r>
              <a:rPr sz="500" spc="5" dirty="0">
                <a:latin typeface="Arial"/>
                <a:cs typeface="Arial"/>
                <a:hlinkClick r:id="rId5" action="ppaction://hlinksldjump"/>
              </a:rPr>
              <a:t> </a:t>
            </a:r>
            <a:r>
              <a:rPr sz="500" dirty="0">
                <a:latin typeface="Arial"/>
                <a:cs typeface="Arial"/>
                <a:hlinkClick r:id="rId5" action="ppaction://hlinksldjump"/>
              </a:rPr>
              <a:t>Global</a:t>
            </a:r>
            <a:r>
              <a:rPr sz="500" spc="5" dirty="0">
                <a:latin typeface="Arial"/>
                <a:cs typeface="Arial"/>
                <a:hlinkClick r:id="rId5" action="ppaction://hlinksldjump"/>
              </a:rPr>
              <a:t> </a:t>
            </a:r>
            <a:r>
              <a:rPr sz="500" spc="-10" dirty="0">
                <a:latin typeface="Arial"/>
                <a:cs typeface="Arial"/>
                <a:hlinkClick r:id="rId5" action="ppaction://hlinksldjump"/>
              </a:rPr>
              <a:t>Positioning</a:t>
            </a:r>
            <a:r>
              <a:rPr sz="500" spc="5" dirty="0">
                <a:latin typeface="Arial"/>
                <a:cs typeface="Arial"/>
                <a:hlinkClick r:id="rId5" action="ppaction://hlinksldjump"/>
              </a:rPr>
              <a:t> </a:t>
            </a:r>
            <a:r>
              <a:rPr sz="500" spc="-10" dirty="0">
                <a:latin typeface="Arial"/>
                <a:cs typeface="Arial"/>
                <a:hlinkClick r:id="rId5" action="ppaction://hlinksldjump"/>
              </a:rPr>
              <a:t>System</a:t>
            </a:r>
            <a:endParaRPr sz="500">
              <a:latin typeface="Arial"/>
              <a:cs typeface="Arial"/>
            </a:endParaRPr>
          </a:p>
        </p:txBody>
      </p:sp>
      <p:pic>
        <p:nvPicPr>
          <p:cNvPr id="14" name="Picture 13">
            <a:extLst>
              <a:ext uri="{FF2B5EF4-FFF2-40B4-BE49-F238E27FC236}">
                <a16:creationId xmlns:a16="http://schemas.microsoft.com/office/drawing/2014/main" id="{47B57258-C725-4FAB-2BA3-8F45AD9BA174}"/>
              </a:ext>
            </a:extLst>
          </p:cNvPr>
          <p:cNvPicPr>
            <a:picLocks noChangeAspect="1"/>
          </p:cNvPicPr>
          <p:nvPr/>
        </p:nvPicPr>
        <p:blipFill>
          <a:blip r:embed="rId6"/>
          <a:stretch>
            <a:fillRect/>
          </a:stretch>
        </p:blipFill>
        <p:spPr>
          <a:xfrm>
            <a:off x="2581304" y="1666467"/>
            <a:ext cx="1543050" cy="277478"/>
          </a:xfrm>
          <a:prstGeom prst="rect">
            <a:avLst/>
          </a:prstGeom>
        </p:spPr>
      </p:pic>
    </p:spTree>
    <p:extLst>
      <p:ext uri="{BB962C8B-B14F-4D97-AF65-F5344CB8AC3E}">
        <p14:creationId xmlns:p14="http://schemas.microsoft.com/office/powerpoint/2010/main" val="578428702"/>
      </p:ext>
    </p:extLst>
  </p:cSld>
  <p:clrMapOvr>
    <a:masterClrMapping/>
  </p:clrMapOvr>
  <p:transition>
    <p:fad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8417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Coordination</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040428" y="-1515"/>
            <a:ext cx="514350"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Location</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systems</a:t>
            </a:r>
            <a:endParaRPr sz="500">
              <a:latin typeface="Arial"/>
              <a:cs typeface="Arial"/>
            </a:endParaRPr>
          </a:p>
        </p:txBody>
      </p:sp>
      <p:sp>
        <p:nvSpPr>
          <p:cNvPr id="5" name="object 5"/>
          <p:cNvSpPr/>
          <p:nvPr/>
        </p:nvSpPr>
        <p:spPr>
          <a:xfrm>
            <a:off x="2388196" y="2361095"/>
            <a:ext cx="1625600" cy="0"/>
          </a:xfrm>
          <a:custGeom>
            <a:avLst/>
            <a:gdLst/>
            <a:ahLst/>
            <a:cxnLst/>
            <a:rect l="l" t="t" r="r" b="b"/>
            <a:pathLst>
              <a:path w="1625600">
                <a:moveTo>
                  <a:pt x="0" y="0"/>
                </a:moveTo>
                <a:lnTo>
                  <a:pt x="1625346" y="0"/>
                </a:lnTo>
              </a:path>
            </a:pathLst>
          </a:custGeom>
          <a:ln w="4445">
            <a:solidFill>
              <a:srgbClr val="000000"/>
            </a:solidFill>
          </a:ln>
        </p:spPr>
        <p:txBody>
          <a:bodyPr wrap="square" lIns="0" tIns="0" rIns="0" bIns="0" rtlCol="0"/>
          <a:lstStyle/>
          <a:p>
            <a:endParaRPr/>
          </a:p>
        </p:txBody>
      </p:sp>
      <p:sp>
        <p:nvSpPr>
          <p:cNvPr id="6" name="object 6"/>
          <p:cNvSpPr txBox="1"/>
          <p:nvPr/>
        </p:nvSpPr>
        <p:spPr>
          <a:xfrm>
            <a:off x="19100" y="197711"/>
            <a:ext cx="4340225" cy="2782172"/>
          </a:xfrm>
          <a:prstGeom prst="rect">
            <a:avLst/>
          </a:prstGeom>
        </p:spPr>
        <p:txBody>
          <a:bodyPr vert="horz" wrap="square" lIns="0" tIns="12065" rIns="0" bIns="0" rtlCol="0">
            <a:spAutoFit/>
          </a:bodyPr>
          <a:lstStyle/>
          <a:p>
            <a:pPr marL="88900">
              <a:lnSpc>
                <a:spcPct val="100000"/>
              </a:lnSpc>
              <a:spcBef>
                <a:spcPts val="95"/>
              </a:spcBef>
            </a:pPr>
            <a:r>
              <a:rPr sz="1200" dirty="0">
                <a:solidFill>
                  <a:srgbClr val="3333B2"/>
                </a:solidFill>
                <a:latin typeface="Arial"/>
                <a:cs typeface="Arial"/>
              </a:rPr>
              <a:t>Global</a:t>
            </a:r>
            <a:r>
              <a:rPr sz="1200" spc="-30" dirty="0">
                <a:solidFill>
                  <a:srgbClr val="3333B2"/>
                </a:solidFill>
                <a:latin typeface="Arial"/>
                <a:cs typeface="Arial"/>
              </a:rPr>
              <a:t> </a:t>
            </a:r>
            <a:r>
              <a:rPr sz="1200" spc="-10" dirty="0">
                <a:solidFill>
                  <a:srgbClr val="3333B2"/>
                </a:solidFill>
                <a:latin typeface="Arial"/>
                <a:cs typeface="Arial"/>
              </a:rPr>
              <a:t>Positioning</a:t>
            </a:r>
            <a:r>
              <a:rPr sz="1200" spc="-25" dirty="0">
                <a:solidFill>
                  <a:srgbClr val="3333B2"/>
                </a:solidFill>
                <a:latin typeface="Arial"/>
                <a:cs typeface="Arial"/>
              </a:rPr>
              <a:t> </a:t>
            </a:r>
            <a:r>
              <a:rPr sz="1200" spc="-10" dirty="0">
                <a:solidFill>
                  <a:srgbClr val="3333B2"/>
                </a:solidFill>
                <a:latin typeface="Arial"/>
                <a:cs typeface="Arial"/>
              </a:rPr>
              <a:t>System</a:t>
            </a:r>
            <a:endParaRPr sz="1200">
              <a:latin typeface="Arial"/>
              <a:cs typeface="Arial"/>
            </a:endParaRPr>
          </a:p>
          <a:p>
            <a:pPr marL="340360" marR="735965" indent="-4445">
              <a:lnSpc>
                <a:spcPct val="109600"/>
              </a:lnSpc>
              <a:spcBef>
                <a:spcPts val="675"/>
              </a:spcBef>
            </a:pPr>
            <a:r>
              <a:rPr sz="1000" dirty="0">
                <a:solidFill>
                  <a:srgbClr val="3333B2"/>
                </a:solidFill>
                <a:latin typeface="Arial"/>
                <a:cs typeface="Arial"/>
              </a:rPr>
              <a:t>Assuming</a:t>
            </a:r>
            <a:r>
              <a:rPr sz="1000" spc="-35" dirty="0">
                <a:solidFill>
                  <a:srgbClr val="3333B2"/>
                </a:solidFill>
                <a:latin typeface="Arial"/>
                <a:cs typeface="Arial"/>
              </a:rPr>
              <a:t> </a:t>
            </a:r>
            <a:r>
              <a:rPr sz="1000" dirty="0">
                <a:solidFill>
                  <a:srgbClr val="3333B2"/>
                </a:solidFill>
                <a:latin typeface="Arial"/>
                <a:cs typeface="Arial"/>
              </a:rPr>
              <a:t>that</a:t>
            </a:r>
            <a:r>
              <a:rPr sz="1000" spc="-30" dirty="0">
                <a:solidFill>
                  <a:srgbClr val="3333B2"/>
                </a:solidFill>
                <a:latin typeface="Arial"/>
                <a:cs typeface="Arial"/>
              </a:rPr>
              <a:t> </a:t>
            </a:r>
            <a:r>
              <a:rPr sz="1000" dirty="0">
                <a:solidFill>
                  <a:srgbClr val="3333B2"/>
                </a:solidFill>
                <a:latin typeface="Arial"/>
                <a:cs typeface="Arial"/>
              </a:rPr>
              <a:t>the</a:t>
            </a:r>
            <a:r>
              <a:rPr sz="1000" spc="-35" dirty="0">
                <a:solidFill>
                  <a:srgbClr val="3333B2"/>
                </a:solidFill>
                <a:latin typeface="Arial"/>
                <a:cs typeface="Arial"/>
              </a:rPr>
              <a:t> </a:t>
            </a:r>
            <a:r>
              <a:rPr sz="1000" dirty="0">
                <a:solidFill>
                  <a:srgbClr val="3333B2"/>
                </a:solidFill>
                <a:latin typeface="Arial"/>
                <a:cs typeface="Arial"/>
              </a:rPr>
              <a:t>clocks</a:t>
            </a:r>
            <a:r>
              <a:rPr sz="1000" spc="-30" dirty="0">
                <a:solidFill>
                  <a:srgbClr val="3333B2"/>
                </a:solidFill>
                <a:latin typeface="Arial"/>
                <a:cs typeface="Arial"/>
              </a:rPr>
              <a:t> </a:t>
            </a:r>
            <a:r>
              <a:rPr sz="1000" dirty="0">
                <a:solidFill>
                  <a:srgbClr val="3333B2"/>
                </a:solidFill>
                <a:latin typeface="Arial"/>
                <a:cs typeface="Arial"/>
              </a:rPr>
              <a:t>of</a:t>
            </a:r>
            <a:r>
              <a:rPr sz="1000" spc="-35" dirty="0">
                <a:solidFill>
                  <a:srgbClr val="3333B2"/>
                </a:solidFill>
                <a:latin typeface="Arial"/>
                <a:cs typeface="Arial"/>
              </a:rPr>
              <a:t> </a:t>
            </a:r>
            <a:r>
              <a:rPr sz="1000" dirty="0">
                <a:solidFill>
                  <a:srgbClr val="3333B2"/>
                </a:solidFill>
                <a:latin typeface="Arial"/>
                <a:cs typeface="Arial"/>
              </a:rPr>
              <a:t>the</a:t>
            </a:r>
            <a:r>
              <a:rPr sz="1000" spc="-30" dirty="0">
                <a:solidFill>
                  <a:srgbClr val="3333B2"/>
                </a:solidFill>
                <a:latin typeface="Arial"/>
                <a:cs typeface="Arial"/>
              </a:rPr>
              <a:t> </a:t>
            </a:r>
            <a:r>
              <a:rPr sz="1000" dirty="0">
                <a:solidFill>
                  <a:srgbClr val="3333B2"/>
                </a:solidFill>
                <a:latin typeface="Arial"/>
                <a:cs typeface="Arial"/>
              </a:rPr>
              <a:t>satellites</a:t>
            </a:r>
            <a:r>
              <a:rPr sz="1000" spc="-35" dirty="0">
                <a:solidFill>
                  <a:srgbClr val="3333B2"/>
                </a:solidFill>
                <a:latin typeface="Arial"/>
                <a:cs typeface="Arial"/>
              </a:rPr>
              <a:t> </a:t>
            </a:r>
            <a:r>
              <a:rPr sz="1000" dirty="0">
                <a:solidFill>
                  <a:srgbClr val="3333B2"/>
                </a:solidFill>
                <a:latin typeface="Arial"/>
                <a:cs typeface="Arial"/>
              </a:rPr>
              <a:t>are</a:t>
            </a:r>
            <a:r>
              <a:rPr sz="1000" spc="-30" dirty="0">
                <a:solidFill>
                  <a:srgbClr val="3333B2"/>
                </a:solidFill>
                <a:latin typeface="Arial"/>
                <a:cs typeface="Arial"/>
              </a:rPr>
              <a:t> </a:t>
            </a:r>
            <a:r>
              <a:rPr sz="1000" dirty="0">
                <a:solidFill>
                  <a:srgbClr val="3333B2"/>
                </a:solidFill>
                <a:latin typeface="Arial"/>
                <a:cs typeface="Arial"/>
              </a:rPr>
              <a:t>accurate</a:t>
            </a:r>
            <a:r>
              <a:rPr sz="1000" spc="-35" dirty="0">
                <a:solidFill>
                  <a:srgbClr val="3333B2"/>
                </a:solidFill>
                <a:latin typeface="Arial"/>
                <a:cs typeface="Arial"/>
              </a:rPr>
              <a:t> </a:t>
            </a:r>
            <a:r>
              <a:rPr sz="1000" spc="-25" dirty="0">
                <a:solidFill>
                  <a:srgbClr val="3333B2"/>
                </a:solidFill>
                <a:latin typeface="Arial"/>
                <a:cs typeface="Arial"/>
              </a:rPr>
              <a:t>and </a:t>
            </a:r>
            <a:r>
              <a:rPr sz="1000" spc="-10" dirty="0">
                <a:solidFill>
                  <a:srgbClr val="3333B2"/>
                </a:solidFill>
                <a:latin typeface="Arial"/>
                <a:cs typeface="Arial"/>
              </a:rPr>
              <a:t>synchronized</a:t>
            </a:r>
            <a:endParaRPr sz="1000">
              <a:latin typeface="Arial"/>
              <a:cs typeface="Arial"/>
            </a:endParaRPr>
          </a:p>
          <a:p>
            <a:pPr marL="593725" indent="-120650">
              <a:lnSpc>
                <a:spcPct val="100000"/>
              </a:lnSpc>
              <a:spcBef>
                <a:spcPts val="695"/>
              </a:spcBef>
              <a:buClr>
                <a:srgbClr val="3333B2"/>
              </a:buClr>
              <a:buFont typeface="Menlo"/>
              <a:buChar char="•"/>
              <a:tabLst>
                <a:tab pos="594360" algn="l"/>
              </a:tabLst>
            </a:pPr>
            <a:r>
              <a:rPr sz="900" dirty="0">
                <a:latin typeface="Arial"/>
                <a:cs typeface="Arial"/>
              </a:rPr>
              <a:t>It</a:t>
            </a:r>
            <a:r>
              <a:rPr sz="900" spc="-30" dirty="0">
                <a:latin typeface="Arial"/>
                <a:cs typeface="Arial"/>
              </a:rPr>
              <a:t> </a:t>
            </a:r>
            <a:r>
              <a:rPr sz="900" dirty="0">
                <a:latin typeface="Arial"/>
                <a:cs typeface="Arial"/>
              </a:rPr>
              <a:t>takes</a:t>
            </a:r>
            <a:r>
              <a:rPr sz="900" spc="-25" dirty="0">
                <a:latin typeface="Arial"/>
                <a:cs typeface="Arial"/>
              </a:rPr>
              <a:t> </a:t>
            </a:r>
            <a:r>
              <a:rPr sz="900" dirty="0">
                <a:latin typeface="Arial"/>
                <a:cs typeface="Arial"/>
              </a:rPr>
              <a:t>a</a:t>
            </a:r>
            <a:r>
              <a:rPr sz="900" spc="-30" dirty="0">
                <a:latin typeface="Arial"/>
                <a:cs typeface="Arial"/>
              </a:rPr>
              <a:t> </a:t>
            </a:r>
            <a:r>
              <a:rPr sz="900" dirty="0">
                <a:latin typeface="Arial"/>
                <a:cs typeface="Arial"/>
              </a:rPr>
              <a:t>while</a:t>
            </a:r>
            <a:r>
              <a:rPr sz="900" spc="-25" dirty="0">
                <a:latin typeface="Arial"/>
                <a:cs typeface="Arial"/>
              </a:rPr>
              <a:t> </a:t>
            </a:r>
            <a:r>
              <a:rPr sz="900" dirty="0">
                <a:latin typeface="Arial"/>
                <a:cs typeface="Arial"/>
              </a:rPr>
              <a:t>before</a:t>
            </a:r>
            <a:r>
              <a:rPr sz="900" spc="-30" dirty="0">
                <a:latin typeface="Arial"/>
                <a:cs typeface="Arial"/>
              </a:rPr>
              <a:t> </a:t>
            </a:r>
            <a:r>
              <a:rPr sz="900" dirty="0">
                <a:latin typeface="Arial"/>
                <a:cs typeface="Arial"/>
              </a:rPr>
              <a:t>a</a:t>
            </a:r>
            <a:r>
              <a:rPr sz="900" spc="-25" dirty="0">
                <a:latin typeface="Arial"/>
                <a:cs typeface="Arial"/>
              </a:rPr>
              <a:t> </a:t>
            </a:r>
            <a:r>
              <a:rPr sz="900" dirty="0">
                <a:latin typeface="Arial"/>
                <a:cs typeface="Arial"/>
              </a:rPr>
              <a:t>signal</a:t>
            </a:r>
            <a:r>
              <a:rPr sz="900" spc="-30" dirty="0">
                <a:latin typeface="Arial"/>
                <a:cs typeface="Arial"/>
              </a:rPr>
              <a:t> </a:t>
            </a:r>
            <a:r>
              <a:rPr sz="900" dirty="0">
                <a:latin typeface="Arial"/>
                <a:cs typeface="Arial"/>
              </a:rPr>
              <a:t>reaches</a:t>
            </a:r>
            <a:r>
              <a:rPr sz="900" spc="-25" dirty="0">
                <a:latin typeface="Arial"/>
                <a:cs typeface="Arial"/>
              </a:rPr>
              <a:t> </a:t>
            </a:r>
            <a:r>
              <a:rPr sz="900" dirty="0">
                <a:latin typeface="Arial"/>
                <a:cs typeface="Arial"/>
              </a:rPr>
              <a:t>the</a:t>
            </a:r>
            <a:r>
              <a:rPr sz="900" spc="-30" dirty="0">
                <a:latin typeface="Arial"/>
                <a:cs typeface="Arial"/>
              </a:rPr>
              <a:t> </a:t>
            </a:r>
            <a:r>
              <a:rPr sz="900" spc="-10" dirty="0">
                <a:latin typeface="Arial"/>
                <a:cs typeface="Arial"/>
              </a:rPr>
              <a:t>receiver</a:t>
            </a:r>
            <a:endParaRPr sz="900">
              <a:latin typeface="Arial"/>
              <a:cs typeface="Arial"/>
            </a:endParaRPr>
          </a:p>
          <a:p>
            <a:pPr marL="589915" indent="-116839">
              <a:lnSpc>
                <a:spcPct val="100000"/>
              </a:lnSpc>
              <a:spcBef>
                <a:spcPts val="130"/>
              </a:spcBef>
              <a:buClr>
                <a:srgbClr val="3333B2"/>
              </a:buClr>
              <a:buFont typeface="Menlo"/>
              <a:buChar char="•"/>
              <a:tabLst>
                <a:tab pos="590550" algn="l"/>
              </a:tabLst>
            </a:pPr>
            <a:r>
              <a:rPr sz="900" dirty="0">
                <a:latin typeface="Arial"/>
                <a:cs typeface="Arial"/>
              </a:rPr>
              <a:t>The</a:t>
            </a:r>
            <a:r>
              <a:rPr sz="900" spc="-25" dirty="0">
                <a:latin typeface="Arial"/>
                <a:cs typeface="Arial"/>
              </a:rPr>
              <a:t> </a:t>
            </a:r>
            <a:r>
              <a:rPr sz="900" spc="-10" dirty="0">
                <a:latin typeface="Arial"/>
                <a:cs typeface="Arial"/>
              </a:rPr>
              <a:t>receiver’s</a:t>
            </a:r>
            <a:r>
              <a:rPr sz="900" spc="-20" dirty="0">
                <a:latin typeface="Arial"/>
                <a:cs typeface="Arial"/>
              </a:rPr>
              <a:t> </a:t>
            </a:r>
            <a:r>
              <a:rPr sz="900" dirty="0">
                <a:latin typeface="Arial"/>
                <a:cs typeface="Arial"/>
              </a:rPr>
              <a:t>clock</a:t>
            </a:r>
            <a:r>
              <a:rPr sz="900" spc="-25" dirty="0">
                <a:latin typeface="Arial"/>
                <a:cs typeface="Arial"/>
              </a:rPr>
              <a:t> </a:t>
            </a:r>
            <a:r>
              <a:rPr sz="900" dirty="0">
                <a:latin typeface="Arial"/>
                <a:cs typeface="Arial"/>
              </a:rPr>
              <a:t>is</a:t>
            </a:r>
            <a:r>
              <a:rPr sz="900" spc="-20" dirty="0">
                <a:latin typeface="Arial"/>
                <a:cs typeface="Arial"/>
              </a:rPr>
              <a:t> </a:t>
            </a:r>
            <a:r>
              <a:rPr sz="900" dirty="0">
                <a:latin typeface="Arial"/>
                <a:cs typeface="Arial"/>
              </a:rPr>
              <a:t>definitely</a:t>
            </a:r>
            <a:r>
              <a:rPr sz="900" spc="-25" dirty="0">
                <a:latin typeface="Arial"/>
                <a:cs typeface="Arial"/>
              </a:rPr>
              <a:t> </a:t>
            </a:r>
            <a:r>
              <a:rPr sz="900" dirty="0">
                <a:latin typeface="Arial"/>
                <a:cs typeface="Arial"/>
              </a:rPr>
              <a:t>out</a:t>
            </a:r>
            <a:r>
              <a:rPr sz="900" spc="-20" dirty="0">
                <a:latin typeface="Arial"/>
                <a:cs typeface="Arial"/>
              </a:rPr>
              <a:t> </a:t>
            </a:r>
            <a:r>
              <a:rPr sz="900" dirty="0">
                <a:latin typeface="Arial"/>
                <a:cs typeface="Arial"/>
              </a:rPr>
              <a:t>of</a:t>
            </a:r>
            <a:r>
              <a:rPr sz="900" spc="-25" dirty="0">
                <a:latin typeface="Arial"/>
                <a:cs typeface="Arial"/>
              </a:rPr>
              <a:t> </a:t>
            </a:r>
            <a:r>
              <a:rPr sz="900" dirty="0">
                <a:latin typeface="Arial"/>
                <a:cs typeface="Arial"/>
              </a:rPr>
              <a:t>sync</a:t>
            </a:r>
            <a:r>
              <a:rPr sz="900" spc="-20" dirty="0">
                <a:latin typeface="Arial"/>
                <a:cs typeface="Arial"/>
              </a:rPr>
              <a:t> </a:t>
            </a:r>
            <a:r>
              <a:rPr sz="900" dirty="0">
                <a:latin typeface="Arial"/>
                <a:cs typeface="Arial"/>
              </a:rPr>
              <a:t>with</a:t>
            </a:r>
            <a:r>
              <a:rPr sz="900" spc="-25" dirty="0">
                <a:latin typeface="Arial"/>
                <a:cs typeface="Arial"/>
              </a:rPr>
              <a:t> </a:t>
            </a:r>
            <a:r>
              <a:rPr sz="900" dirty="0">
                <a:latin typeface="Arial"/>
                <a:cs typeface="Arial"/>
              </a:rPr>
              <a:t>the</a:t>
            </a:r>
            <a:r>
              <a:rPr sz="900" spc="-20" dirty="0">
                <a:latin typeface="Arial"/>
                <a:cs typeface="Arial"/>
              </a:rPr>
              <a:t> </a:t>
            </a:r>
            <a:r>
              <a:rPr sz="900" spc="-10" dirty="0">
                <a:latin typeface="Arial"/>
                <a:cs typeface="Arial"/>
              </a:rPr>
              <a:t>satellite</a:t>
            </a:r>
            <a:endParaRPr sz="900">
              <a:latin typeface="Arial"/>
              <a:cs typeface="Arial"/>
            </a:endParaRPr>
          </a:p>
          <a:p>
            <a:pPr>
              <a:lnSpc>
                <a:spcPct val="100000"/>
              </a:lnSpc>
              <a:spcBef>
                <a:spcPts val="20"/>
              </a:spcBef>
              <a:buClr>
                <a:srgbClr val="3333B2"/>
              </a:buClr>
              <a:buFont typeface="Menlo"/>
              <a:buChar char="•"/>
            </a:pPr>
            <a:endParaRPr sz="1200">
              <a:latin typeface="Arial"/>
              <a:cs typeface="Arial"/>
            </a:endParaRPr>
          </a:p>
          <a:p>
            <a:pPr marL="340360">
              <a:lnSpc>
                <a:spcPct val="100000"/>
              </a:lnSpc>
            </a:pPr>
            <a:endParaRPr sz="1050" baseline="19841">
              <a:latin typeface="Arial"/>
              <a:cs typeface="Arial"/>
            </a:endParaRPr>
          </a:p>
          <a:p>
            <a:pPr marL="340360">
              <a:lnSpc>
                <a:spcPct val="100000"/>
              </a:lnSpc>
              <a:spcBef>
                <a:spcPts val="1445"/>
              </a:spcBef>
            </a:pPr>
            <a:endParaRPr lang="en-US" sz="1000" spc="-10" dirty="0">
              <a:solidFill>
                <a:srgbClr val="3333B2"/>
              </a:solidFill>
              <a:latin typeface="Arial"/>
              <a:cs typeface="Arial"/>
            </a:endParaRPr>
          </a:p>
          <a:p>
            <a:pPr marL="340360">
              <a:lnSpc>
                <a:spcPct val="100000"/>
              </a:lnSpc>
              <a:spcBef>
                <a:spcPts val="1445"/>
              </a:spcBef>
            </a:pPr>
            <a:endParaRPr lang="en-NL" sz="1000" spc="-10" dirty="0">
              <a:solidFill>
                <a:srgbClr val="3333B2"/>
              </a:solidFill>
              <a:latin typeface="Arial"/>
              <a:cs typeface="Arial"/>
            </a:endParaRPr>
          </a:p>
          <a:p>
            <a:pPr marL="340360">
              <a:lnSpc>
                <a:spcPct val="100000"/>
              </a:lnSpc>
              <a:spcBef>
                <a:spcPts val="1445"/>
              </a:spcBef>
            </a:pPr>
            <a:endParaRPr lang="en-NL" sz="1000" spc="-10" dirty="0">
              <a:solidFill>
                <a:srgbClr val="3333B2"/>
              </a:solidFill>
              <a:latin typeface="Arial"/>
              <a:cs typeface="Arial"/>
            </a:endParaRPr>
          </a:p>
          <a:p>
            <a:pPr marL="340360">
              <a:lnSpc>
                <a:spcPct val="100000"/>
              </a:lnSpc>
              <a:spcBef>
                <a:spcPts val="1445"/>
              </a:spcBef>
            </a:pPr>
            <a:r>
              <a:rPr sz="1000" spc="-10" dirty="0">
                <a:solidFill>
                  <a:srgbClr val="3333B2"/>
                </a:solidFill>
                <a:latin typeface="Arial"/>
                <a:cs typeface="Arial"/>
              </a:rPr>
              <a:t>Observation</a:t>
            </a:r>
            <a:endParaRPr sz="1000">
              <a:latin typeface="Arial"/>
              <a:cs typeface="Arial"/>
            </a:endParaRPr>
          </a:p>
          <a:p>
            <a:pPr marL="337185">
              <a:lnSpc>
                <a:spcPct val="100000"/>
              </a:lnSpc>
              <a:spcBef>
                <a:spcPts val="105"/>
              </a:spcBef>
            </a:pPr>
            <a:r>
              <a:rPr sz="900" dirty="0">
                <a:latin typeface="Arial"/>
                <a:cs typeface="Arial"/>
              </a:rPr>
              <a:t>4</a:t>
            </a:r>
            <a:r>
              <a:rPr sz="900" spc="-35" dirty="0">
                <a:latin typeface="Arial"/>
                <a:cs typeface="Arial"/>
              </a:rPr>
              <a:t> </a:t>
            </a:r>
            <a:r>
              <a:rPr sz="900" dirty="0">
                <a:latin typeface="Arial"/>
                <a:cs typeface="Arial"/>
              </a:rPr>
              <a:t>satellites</a:t>
            </a:r>
            <a:r>
              <a:rPr sz="900" spc="-20" dirty="0">
                <a:latin typeface="Arial"/>
                <a:cs typeface="Arial"/>
              </a:rPr>
              <a:t> </a:t>
            </a:r>
            <a:r>
              <a:rPr sz="900" i="1" spc="350" dirty="0">
                <a:latin typeface="Menlo"/>
                <a:cs typeface="Menlo"/>
              </a:rPr>
              <a:t>⇒</a:t>
            </a:r>
            <a:r>
              <a:rPr sz="900" i="1" spc="-295" dirty="0">
                <a:latin typeface="Menlo"/>
                <a:cs typeface="Menlo"/>
              </a:rPr>
              <a:t> </a:t>
            </a:r>
            <a:r>
              <a:rPr sz="900" dirty="0">
                <a:latin typeface="Arial"/>
                <a:cs typeface="Arial"/>
              </a:rPr>
              <a:t>4</a:t>
            </a:r>
            <a:r>
              <a:rPr sz="900" spc="-20" dirty="0">
                <a:latin typeface="Arial"/>
                <a:cs typeface="Arial"/>
              </a:rPr>
              <a:t> </a:t>
            </a:r>
            <a:r>
              <a:rPr sz="900" dirty="0">
                <a:latin typeface="Arial"/>
                <a:cs typeface="Arial"/>
              </a:rPr>
              <a:t>equations</a:t>
            </a:r>
            <a:r>
              <a:rPr sz="900" spc="-20" dirty="0">
                <a:latin typeface="Arial"/>
                <a:cs typeface="Arial"/>
              </a:rPr>
              <a:t> </a:t>
            </a:r>
            <a:r>
              <a:rPr sz="900" dirty="0">
                <a:latin typeface="Arial"/>
                <a:cs typeface="Arial"/>
              </a:rPr>
              <a:t>in</a:t>
            </a:r>
            <a:r>
              <a:rPr sz="900" spc="-20" dirty="0">
                <a:latin typeface="Arial"/>
                <a:cs typeface="Arial"/>
              </a:rPr>
              <a:t> </a:t>
            </a:r>
            <a:r>
              <a:rPr sz="900" dirty="0">
                <a:latin typeface="Arial"/>
                <a:cs typeface="Arial"/>
              </a:rPr>
              <a:t>4</a:t>
            </a:r>
            <a:r>
              <a:rPr sz="900" spc="-20" dirty="0">
                <a:latin typeface="Arial"/>
                <a:cs typeface="Arial"/>
              </a:rPr>
              <a:t> </a:t>
            </a:r>
            <a:r>
              <a:rPr sz="900" dirty="0">
                <a:latin typeface="Arial"/>
                <a:cs typeface="Arial"/>
              </a:rPr>
              <a:t>unknowns</a:t>
            </a:r>
            <a:r>
              <a:rPr sz="900" spc="-20" dirty="0">
                <a:latin typeface="Arial"/>
                <a:cs typeface="Arial"/>
              </a:rPr>
              <a:t> </a:t>
            </a:r>
            <a:r>
              <a:rPr sz="900" dirty="0">
                <a:latin typeface="Arial"/>
                <a:cs typeface="Arial"/>
              </a:rPr>
              <a:t>(with</a:t>
            </a:r>
            <a:r>
              <a:rPr sz="900" spc="-20" dirty="0">
                <a:latin typeface="Arial"/>
                <a:cs typeface="Arial"/>
              </a:rPr>
              <a:t> </a:t>
            </a:r>
            <a:r>
              <a:rPr sz="900" spc="105" dirty="0">
                <a:solidFill>
                  <a:srgbClr val="C80000"/>
                </a:solidFill>
                <a:latin typeface="Arial"/>
                <a:cs typeface="Arial"/>
              </a:rPr>
              <a:t>∆</a:t>
            </a:r>
            <a:r>
              <a:rPr sz="1050" i="1" spc="157" baseline="-11904" dirty="0">
                <a:solidFill>
                  <a:srgbClr val="C80000"/>
                </a:solidFill>
                <a:latin typeface="Arial"/>
                <a:cs typeface="Arial"/>
              </a:rPr>
              <a:t>r</a:t>
            </a:r>
            <a:r>
              <a:rPr sz="1050" i="1" spc="232" baseline="-11904" dirty="0">
                <a:solidFill>
                  <a:srgbClr val="C80000"/>
                </a:solidFill>
                <a:latin typeface="Arial"/>
                <a:cs typeface="Arial"/>
              </a:rPr>
              <a:t> </a:t>
            </a:r>
            <a:r>
              <a:rPr sz="900" dirty="0">
                <a:latin typeface="Arial"/>
                <a:cs typeface="Arial"/>
              </a:rPr>
              <a:t>as</a:t>
            </a:r>
            <a:r>
              <a:rPr sz="900" spc="-20" dirty="0">
                <a:latin typeface="Arial"/>
                <a:cs typeface="Arial"/>
              </a:rPr>
              <a:t> </a:t>
            </a:r>
            <a:r>
              <a:rPr sz="900" dirty="0">
                <a:latin typeface="Arial"/>
                <a:cs typeface="Arial"/>
              </a:rPr>
              <a:t>one</a:t>
            </a:r>
            <a:r>
              <a:rPr sz="900" spc="-20" dirty="0">
                <a:latin typeface="Arial"/>
                <a:cs typeface="Arial"/>
              </a:rPr>
              <a:t> </a:t>
            </a:r>
            <a:r>
              <a:rPr sz="900" dirty="0">
                <a:latin typeface="Arial"/>
                <a:cs typeface="Arial"/>
              </a:rPr>
              <a:t>of</a:t>
            </a:r>
            <a:r>
              <a:rPr sz="900" spc="-20" dirty="0">
                <a:latin typeface="Arial"/>
                <a:cs typeface="Arial"/>
              </a:rPr>
              <a:t> them)</a:t>
            </a:r>
            <a:endParaRPr sz="900">
              <a:latin typeface="Arial"/>
              <a:cs typeface="Arial"/>
            </a:endParaRPr>
          </a:p>
        </p:txBody>
      </p:sp>
      <p:grpSp>
        <p:nvGrpSpPr>
          <p:cNvPr id="7" name="object 7"/>
          <p:cNvGrpSpPr/>
          <p:nvPr/>
        </p:nvGrpSpPr>
        <p:grpSpPr>
          <a:xfrm>
            <a:off x="0" y="3348469"/>
            <a:ext cx="4608195" cy="107950"/>
            <a:chOff x="0" y="3348469"/>
            <a:chExt cx="4608195" cy="107950"/>
          </a:xfrm>
        </p:grpSpPr>
        <p:sp>
          <p:nvSpPr>
            <p:cNvPr id="8" name="object 8"/>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9" name="object 9"/>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0" name="object 10"/>
          <p:cNvSpPr txBox="1"/>
          <p:nvPr/>
        </p:nvSpPr>
        <p:spPr>
          <a:xfrm>
            <a:off x="53467" y="3349927"/>
            <a:ext cx="92964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GPS:</a:t>
            </a:r>
            <a:r>
              <a:rPr sz="500" spc="5" dirty="0">
                <a:latin typeface="Arial"/>
                <a:cs typeface="Arial"/>
                <a:hlinkClick r:id="rId4" action="ppaction://hlinksldjump"/>
              </a:rPr>
              <a:t> </a:t>
            </a:r>
            <a:r>
              <a:rPr sz="500" dirty="0">
                <a:latin typeface="Arial"/>
                <a:cs typeface="Arial"/>
                <a:hlinkClick r:id="rId4" action="ppaction://hlinksldjump"/>
              </a:rPr>
              <a:t>Global</a:t>
            </a:r>
            <a:r>
              <a:rPr sz="500" spc="5" dirty="0">
                <a:latin typeface="Arial"/>
                <a:cs typeface="Arial"/>
                <a:hlinkClick r:id="rId4" action="ppaction://hlinksldjump"/>
              </a:rPr>
              <a:t> </a:t>
            </a:r>
            <a:r>
              <a:rPr sz="500" spc="-10" dirty="0">
                <a:latin typeface="Arial"/>
                <a:cs typeface="Arial"/>
                <a:hlinkClick r:id="rId4" action="ppaction://hlinksldjump"/>
              </a:rPr>
              <a:t>Positioning</a:t>
            </a:r>
            <a:r>
              <a:rPr sz="500" spc="5" dirty="0">
                <a:latin typeface="Arial"/>
                <a:cs typeface="Arial"/>
                <a:hlinkClick r:id="rId4" action="ppaction://hlinksldjump"/>
              </a:rPr>
              <a:t> </a:t>
            </a:r>
            <a:r>
              <a:rPr sz="500" spc="-10" dirty="0">
                <a:latin typeface="Arial"/>
                <a:cs typeface="Arial"/>
                <a:hlinkClick r:id="rId4" action="ppaction://hlinksldjump"/>
              </a:rPr>
              <a:t>System</a:t>
            </a:r>
            <a:endParaRPr sz="500">
              <a:latin typeface="Arial"/>
              <a:cs typeface="Arial"/>
            </a:endParaRPr>
          </a:p>
        </p:txBody>
      </p:sp>
      <p:pic>
        <p:nvPicPr>
          <p:cNvPr id="11" name="Picture 10">
            <a:extLst>
              <a:ext uri="{FF2B5EF4-FFF2-40B4-BE49-F238E27FC236}">
                <a16:creationId xmlns:a16="http://schemas.microsoft.com/office/drawing/2014/main" id="{CEB77569-57E6-A733-8419-F0AA6A01A4EC}"/>
              </a:ext>
            </a:extLst>
          </p:cNvPr>
          <p:cNvPicPr>
            <a:picLocks noChangeAspect="1"/>
          </p:cNvPicPr>
          <p:nvPr/>
        </p:nvPicPr>
        <p:blipFill>
          <a:blip r:embed="rId5"/>
          <a:stretch>
            <a:fillRect/>
          </a:stretch>
        </p:blipFill>
        <p:spPr>
          <a:xfrm>
            <a:off x="245554" y="1273175"/>
            <a:ext cx="4133850" cy="1228784"/>
          </a:xfrm>
          <a:prstGeom prst="rect">
            <a:avLst/>
          </a:prstGeom>
        </p:spPr>
      </p:pic>
    </p:spTree>
    <p:extLst>
      <p:ext uri="{BB962C8B-B14F-4D97-AF65-F5344CB8AC3E}">
        <p14:creationId xmlns:p14="http://schemas.microsoft.com/office/powerpoint/2010/main" val="1983672641"/>
      </p:ext>
    </p:extLst>
  </p:cSld>
  <p:clrMapOvr>
    <a:masterClrMapping/>
  </p:clrMapOvr>
  <p:transition>
    <p:fade/>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8417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Coordination</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040428" y="-1515"/>
            <a:ext cx="514350"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Location</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systems</a:t>
            </a:r>
            <a:endParaRPr sz="500">
              <a:latin typeface="Arial"/>
              <a:cs typeface="Arial"/>
            </a:endParaRPr>
          </a:p>
        </p:txBody>
      </p:sp>
      <p:sp>
        <p:nvSpPr>
          <p:cNvPr id="5" name="object 5"/>
          <p:cNvSpPr txBox="1"/>
          <p:nvPr/>
        </p:nvSpPr>
        <p:spPr>
          <a:xfrm>
            <a:off x="57200" y="197711"/>
            <a:ext cx="4241800" cy="2108200"/>
          </a:xfrm>
          <a:prstGeom prst="rect">
            <a:avLst/>
          </a:prstGeom>
        </p:spPr>
        <p:txBody>
          <a:bodyPr vert="horz" wrap="square" lIns="0" tIns="12065" rIns="0" bIns="0" rtlCol="0">
            <a:spAutoFit/>
          </a:bodyPr>
          <a:lstStyle/>
          <a:p>
            <a:pPr marL="50800">
              <a:lnSpc>
                <a:spcPct val="100000"/>
              </a:lnSpc>
              <a:spcBef>
                <a:spcPts val="95"/>
              </a:spcBef>
            </a:pPr>
            <a:r>
              <a:rPr sz="1200" spc="-10" dirty="0">
                <a:solidFill>
                  <a:srgbClr val="3333B2"/>
                </a:solidFill>
                <a:latin typeface="Arial"/>
                <a:cs typeface="Arial"/>
              </a:rPr>
              <a:t>WiFi-</a:t>
            </a:r>
            <a:r>
              <a:rPr sz="1200" dirty="0">
                <a:solidFill>
                  <a:srgbClr val="3333B2"/>
                </a:solidFill>
                <a:latin typeface="Arial"/>
                <a:cs typeface="Arial"/>
              </a:rPr>
              <a:t>based</a:t>
            </a:r>
            <a:r>
              <a:rPr sz="1200" spc="-35" dirty="0">
                <a:solidFill>
                  <a:srgbClr val="3333B2"/>
                </a:solidFill>
                <a:latin typeface="Arial"/>
                <a:cs typeface="Arial"/>
              </a:rPr>
              <a:t> </a:t>
            </a:r>
            <a:r>
              <a:rPr sz="1200" dirty="0">
                <a:solidFill>
                  <a:srgbClr val="3333B2"/>
                </a:solidFill>
                <a:latin typeface="Arial"/>
                <a:cs typeface="Arial"/>
              </a:rPr>
              <a:t>location</a:t>
            </a:r>
            <a:r>
              <a:rPr sz="1200" spc="-30" dirty="0">
                <a:solidFill>
                  <a:srgbClr val="3333B2"/>
                </a:solidFill>
                <a:latin typeface="Arial"/>
                <a:cs typeface="Arial"/>
              </a:rPr>
              <a:t> </a:t>
            </a:r>
            <a:r>
              <a:rPr sz="1200" spc="-10" dirty="0">
                <a:solidFill>
                  <a:srgbClr val="3333B2"/>
                </a:solidFill>
                <a:latin typeface="Arial"/>
                <a:cs typeface="Arial"/>
              </a:rPr>
              <a:t>services</a:t>
            </a:r>
            <a:endParaRPr sz="1200">
              <a:latin typeface="Arial"/>
              <a:cs typeface="Arial"/>
            </a:endParaRPr>
          </a:p>
          <a:p>
            <a:pPr marL="302260">
              <a:lnSpc>
                <a:spcPct val="100000"/>
              </a:lnSpc>
              <a:spcBef>
                <a:spcPts val="855"/>
              </a:spcBef>
            </a:pPr>
            <a:r>
              <a:rPr sz="1000" dirty="0">
                <a:solidFill>
                  <a:srgbClr val="3333B2"/>
                </a:solidFill>
                <a:latin typeface="Arial"/>
                <a:cs typeface="Arial"/>
              </a:rPr>
              <a:t>Basic</a:t>
            </a:r>
            <a:r>
              <a:rPr sz="1000" spc="-30" dirty="0">
                <a:solidFill>
                  <a:srgbClr val="3333B2"/>
                </a:solidFill>
                <a:latin typeface="Arial"/>
                <a:cs typeface="Arial"/>
              </a:rPr>
              <a:t> </a:t>
            </a:r>
            <a:r>
              <a:rPr sz="1000" spc="-20" dirty="0">
                <a:solidFill>
                  <a:srgbClr val="3333B2"/>
                </a:solidFill>
                <a:latin typeface="Arial"/>
                <a:cs typeface="Arial"/>
              </a:rPr>
              <a:t>idea</a:t>
            </a:r>
            <a:endParaRPr sz="1000">
              <a:latin typeface="Arial"/>
              <a:cs typeface="Arial"/>
            </a:endParaRPr>
          </a:p>
          <a:p>
            <a:pPr marL="555625" marR="467995" indent="-120650">
              <a:lnSpc>
                <a:spcPct val="111600"/>
              </a:lnSpc>
              <a:spcBef>
                <a:spcPts val="380"/>
              </a:spcBef>
              <a:buClr>
                <a:srgbClr val="3333B2"/>
              </a:buClr>
              <a:buFont typeface="Menlo"/>
              <a:buChar char="•"/>
              <a:tabLst>
                <a:tab pos="552450" algn="l"/>
              </a:tabLst>
            </a:pPr>
            <a:r>
              <a:rPr sz="900" dirty="0">
                <a:latin typeface="Arial"/>
                <a:cs typeface="Arial"/>
              </a:rPr>
              <a:t>Assume</a:t>
            </a:r>
            <a:r>
              <a:rPr sz="900" spc="-30" dirty="0">
                <a:latin typeface="Arial"/>
                <a:cs typeface="Arial"/>
              </a:rPr>
              <a:t> </a:t>
            </a:r>
            <a:r>
              <a:rPr sz="900" dirty="0">
                <a:latin typeface="Arial"/>
                <a:cs typeface="Arial"/>
              </a:rPr>
              <a:t>we</a:t>
            </a:r>
            <a:r>
              <a:rPr sz="900" spc="-30" dirty="0">
                <a:latin typeface="Arial"/>
                <a:cs typeface="Arial"/>
              </a:rPr>
              <a:t> </a:t>
            </a:r>
            <a:r>
              <a:rPr sz="900" spc="-10" dirty="0">
                <a:latin typeface="Arial"/>
                <a:cs typeface="Arial"/>
              </a:rPr>
              <a:t>have</a:t>
            </a:r>
            <a:r>
              <a:rPr sz="900" spc="-30" dirty="0">
                <a:latin typeface="Arial"/>
                <a:cs typeface="Arial"/>
              </a:rPr>
              <a:t> </a:t>
            </a:r>
            <a:r>
              <a:rPr sz="900" dirty="0">
                <a:latin typeface="Arial"/>
                <a:cs typeface="Arial"/>
              </a:rPr>
              <a:t>a</a:t>
            </a:r>
            <a:r>
              <a:rPr sz="900" spc="-30" dirty="0">
                <a:latin typeface="Arial"/>
                <a:cs typeface="Arial"/>
              </a:rPr>
              <a:t> </a:t>
            </a:r>
            <a:r>
              <a:rPr sz="900" dirty="0">
                <a:latin typeface="Arial"/>
                <a:cs typeface="Arial"/>
              </a:rPr>
              <a:t>database</a:t>
            </a:r>
            <a:r>
              <a:rPr sz="900" spc="-30" dirty="0">
                <a:latin typeface="Arial"/>
                <a:cs typeface="Arial"/>
              </a:rPr>
              <a:t> </a:t>
            </a:r>
            <a:r>
              <a:rPr sz="900" dirty="0">
                <a:latin typeface="Arial"/>
                <a:cs typeface="Arial"/>
              </a:rPr>
              <a:t>of</a:t>
            </a:r>
            <a:r>
              <a:rPr sz="900" spc="-30" dirty="0">
                <a:latin typeface="Arial"/>
                <a:cs typeface="Arial"/>
              </a:rPr>
              <a:t> </a:t>
            </a:r>
            <a:r>
              <a:rPr sz="900" dirty="0">
                <a:latin typeface="Arial"/>
                <a:cs typeface="Arial"/>
              </a:rPr>
              <a:t>known</a:t>
            </a:r>
            <a:r>
              <a:rPr sz="900" spc="-30" dirty="0">
                <a:latin typeface="Arial"/>
                <a:cs typeface="Arial"/>
              </a:rPr>
              <a:t> </a:t>
            </a:r>
            <a:r>
              <a:rPr sz="900" dirty="0">
                <a:latin typeface="Arial"/>
                <a:cs typeface="Arial"/>
              </a:rPr>
              <a:t>access</a:t>
            </a:r>
            <a:r>
              <a:rPr sz="900" spc="-25" dirty="0">
                <a:latin typeface="Arial"/>
                <a:cs typeface="Arial"/>
              </a:rPr>
              <a:t> </a:t>
            </a:r>
            <a:r>
              <a:rPr sz="900" dirty="0">
                <a:latin typeface="Arial"/>
                <a:cs typeface="Arial"/>
              </a:rPr>
              <a:t>points</a:t>
            </a:r>
            <a:r>
              <a:rPr sz="900" spc="-30" dirty="0">
                <a:latin typeface="Arial"/>
                <a:cs typeface="Arial"/>
              </a:rPr>
              <a:t> </a:t>
            </a:r>
            <a:r>
              <a:rPr sz="900" dirty="0">
                <a:latin typeface="Arial"/>
                <a:cs typeface="Arial"/>
              </a:rPr>
              <a:t>(APs)</a:t>
            </a:r>
            <a:r>
              <a:rPr sz="900" spc="-30" dirty="0">
                <a:latin typeface="Arial"/>
                <a:cs typeface="Arial"/>
              </a:rPr>
              <a:t> </a:t>
            </a:r>
            <a:r>
              <a:rPr sz="900" spc="-20" dirty="0">
                <a:latin typeface="Arial"/>
                <a:cs typeface="Arial"/>
              </a:rPr>
              <a:t>with </a:t>
            </a:r>
            <a:r>
              <a:rPr sz="900" spc="-10" dirty="0">
                <a:latin typeface="Arial"/>
                <a:cs typeface="Arial"/>
              </a:rPr>
              <a:t>coordinates</a:t>
            </a:r>
            <a:endParaRPr sz="900">
              <a:latin typeface="Arial"/>
              <a:cs typeface="Arial"/>
            </a:endParaRPr>
          </a:p>
          <a:p>
            <a:pPr marL="551815" indent="-116839">
              <a:lnSpc>
                <a:spcPct val="100000"/>
              </a:lnSpc>
              <a:spcBef>
                <a:spcPts val="125"/>
              </a:spcBef>
              <a:buClr>
                <a:srgbClr val="3333B2"/>
              </a:buClr>
              <a:buFont typeface="Menlo"/>
              <a:buChar char="•"/>
              <a:tabLst>
                <a:tab pos="552450" algn="l"/>
              </a:tabLst>
            </a:pPr>
            <a:r>
              <a:rPr sz="900" dirty="0">
                <a:latin typeface="Arial"/>
                <a:cs typeface="Arial"/>
              </a:rPr>
              <a:t>Assume</a:t>
            </a:r>
            <a:r>
              <a:rPr sz="900" spc="-30" dirty="0">
                <a:latin typeface="Arial"/>
                <a:cs typeface="Arial"/>
              </a:rPr>
              <a:t> </a:t>
            </a:r>
            <a:r>
              <a:rPr sz="900" dirty="0">
                <a:latin typeface="Arial"/>
                <a:cs typeface="Arial"/>
              </a:rPr>
              <a:t>we</a:t>
            </a:r>
            <a:r>
              <a:rPr sz="900" spc="-25" dirty="0">
                <a:latin typeface="Arial"/>
                <a:cs typeface="Arial"/>
              </a:rPr>
              <a:t> </a:t>
            </a:r>
            <a:r>
              <a:rPr sz="900" dirty="0">
                <a:latin typeface="Arial"/>
                <a:cs typeface="Arial"/>
              </a:rPr>
              <a:t>can</a:t>
            </a:r>
            <a:r>
              <a:rPr sz="900" spc="-30" dirty="0">
                <a:latin typeface="Arial"/>
                <a:cs typeface="Arial"/>
              </a:rPr>
              <a:t> </a:t>
            </a:r>
            <a:r>
              <a:rPr sz="900" dirty="0">
                <a:latin typeface="Arial"/>
                <a:cs typeface="Arial"/>
              </a:rPr>
              <a:t>estimate</a:t>
            </a:r>
            <a:r>
              <a:rPr sz="900" spc="-25" dirty="0">
                <a:latin typeface="Arial"/>
                <a:cs typeface="Arial"/>
              </a:rPr>
              <a:t> </a:t>
            </a:r>
            <a:r>
              <a:rPr sz="900" dirty="0">
                <a:latin typeface="Arial"/>
                <a:cs typeface="Arial"/>
              </a:rPr>
              <a:t>distance</a:t>
            </a:r>
            <a:r>
              <a:rPr sz="900" spc="-25" dirty="0">
                <a:latin typeface="Arial"/>
                <a:cs typeface="Arial"/>
              </a:rPr>
              <a:t> </a:t>
            </a:r>
            <a:r>
              <a:rPr sz="900" dirty="0">
                <a:latin typeface="Arial"/>
                <a:cs typeface="Arial"/>
              </a:rPr>
              <a:t>to</a:t>
            </a:r>
            <a:r>
              <a:rPr sz="900" spc="-30" dirty="0">
                <a:latin typeface="Arial"/>
                <a:cs typeface="Arial"/>
              </a:rPr>
              <a:t> </a:t>
            </a:r>
            <a:r>
              <a:rPr sz="900" dirty="0">
                <a:latin typeface="Arial"/>
                <a:cs typeface="Arial"/>
              </a:rPr>
              <a:t>an</a:t>
            </a:r>
            <a:r>
              <a:rPr sz="900" spc="-25" dirty="0">
                <a:latin typeface="Arial"/>
                <a:cs typeface="Arial"/>
              </a:rPr>
              <a:t> AP</a:t>
            </a:r>
            <a:endParaRPr sz="900">
              <a:latin typeface="Arial"/>
              <a:cs typeface="Arial"/>
            </a:endParaRPr>
          </a:p>
          <a:p>
            <a:pPr marL="551815" indent="-116839">
              <a:lnSpc>
                <a:spcPct val="100000"/>
              </a:lnSpc>
              <a:spcBef>
                <a:spcPts val="125"/>
              </a:spcBef>
              <a:buClr>
                <a:srgbClr val="3333B2"/>
              </a:buClr>
              <a:buFont typeface="Menlo"/>
              <a:buChar char="•"/>
              <a:tabLst>
                <a:tab pos="552450" algn="l"/>
              </a:tabLst>
            </a:pPr>
            <a:r>
              <a:rPr sz="900" dirty="0">
                <a:latin typeface="Arial"/>
                <a:cs typeface="Arial"/>
              </a:rPr>
              <a:t>Then:</a:t>
            </a:r>
            <a:r>
              <a:rPr sz="900" spc="25" dirty="0">
                <a:latin typeface="Arial"/>
                <a:cs typeface="Arial"/>
              </a:rPr>
              <a:t> </a:t>
            </a:r>
            <a:r>
              <a:rPr sz="900" dirty="0">
                <a:latin typeface="Arial"/>
                <a:cs typeface="Arial"/>
              </a:rPr>
              <a:t>with</a:t>
            </a:r>
            <a:r>
              <a:rPr sz="900" spc="-25" dirty="0">
                <a:latin typeface="Arial"/>
                <a:cs typeface="Arial"/>
              </a:rPr>
              <a:t> </a:t>
            </a:r>
            <a:r>
              <a:rPr sz="900" dirty="0">
                <a:latin typeface="Arial"/>
                <a:cs typeface="Arial"/>
              </a:rPr>
              <a:t>3</a:t>
            </a:r>
            <a:r>
              <a:rPr sz="900" spc="-30" dirty="0">
                <a:latin typeface="Arial"/>
                <a:cs typeface="Arial"/>
              </a:rPr>
              <a:t> </a:t>
            </a:r>
            <a:r>
              <a:rPr sz="900" dirty="0">
                <a:latin typeface="Arial"/>
                <a:cs typeface="Arial"/>
              </a:rPr>
              <a:t>detected</a:t>
            </a:r>
            <a:r>
              <a:rPr sz="900" spc="-25" dirty="0">
                <a:latin typeface="Arial"/>
                <a:cs typeface="Arial"/>
              </a:rPr>
              <a:t> </a:t>
            </a:r>
            <a:r>
              <a:rPr sz="900" dirty="0">
                <a:latin typeface="Arial"/>
                <a:cs typeface="Arial"/>
              </a:rPr>
              <a:t>access</a:t>
            </a:r>
            <a:r>
              <a:rPr sz="900" spc="-25" dirty="0">
                <a:latin typeface="Arial"/>
                <a:cs typeface="Arial"/>
              </a:rPr>
              <a:t> </a:t>
            </a:r>
            <a:r>
              <a:rPr sz="900" dirty="0">
                <a:latin typeface="Arial"/>
                <a:cs typeface="Arial"/>
              </a:rPr>
              <a:t>points,</a:t>
            </a:r>
            <a:r>
              <a:rPr sz="900" spc="-30" dirty="0">
                <a:latin typeface="Arial"/>
                <a:cs typeface="Arial"/>
              </a:rPr>
              <a:t> </a:t>
            </a:r>
            <a:r>
              <a:rPr sz="900" dirty="0">
                <a:latin typeface="Arial"/>
                <a:cs typeface="Arial"/>
              </a:rPr>
              <a:t>we</a:t>
            </a:r>
            <a:r>
              <a:rPr sz="900" spc="-25" dirty="0">
                <a:latin typeface="Arial"/>
                <a:cs typeface="Arial"/>
              </a:rPr>
              <a:t> </a:t>
            </a:r>
            <a:r>
              <a:rPr sz="900" dirty="0">
                <a:latin typeface="Arial"/>
                <a:cs typeface="Arial"/>
              </a:rPr>
              <a:t>can</a:t>
            </a:r>
            <a:r>
              <a:rPr sz="900" spc="-25" dirty="0">
                <a:latin typeface="Arial"/>
                <a:cs typeface="Arial"/>
              </a:rPr>
              <a:t> </a:t>
            </a:r>
            <a:r>
              <a:rPr sz="900" dirty="0">
                <a:latin typeface="Arial"/>
                <a:cs typeface="Arial"/>
              </a:rPr>
              <a:t>compute</a:t>
            </a:r>
            <a:r>
              <a:rPr sz="900" spc="-30" dirty="0">
                <a:latin typeface="Arial"/>
                <a:cs typeface="Arial"/>
              </a:rPr>
              <a:t> </a:t>
            </a:r>
            <a:r>
              <a:rPr sz="900" dirty="0">
                <a:latin typeface="Arial"/>
                <a:cs typeface="Arial"/>
              </a:rPr>
              <a:t>a</a:t>
            </a:r>
            <a:r>
              <a:rPr sz="900" spc="-25" dirty="0">
                <a:latin typeface="Arial"/>
                <a:cs typeface="Arial"/>
              </a:rPr>
              <a:t> </a:t>
            </a:r>
            <a:r>
              <a:rPr sz="900" spc="-10" dirty="0">
                <a:latin typeface="Arial"/>
                <a:cs typeface="Arial"/>
              </a:rPr>
              <a:t>position.</a:t>
            </a:r>
            <a:endParaRPr sz="900">
              <a:latin typeface="Arial"/>
              <a:cs typeface="Arial"/>
            </a:endParaRPr>
          </a:p>
          <a:p>
            <a:pPr>
              <a:lnSpc>
                <a:spcPct val="100000"/>
              </a:lnSpc>
              <a:spcBef>
                <a:spcPts val="5"/>
              </a:spcBef>
              <a:buClr>
                <a:srgbClr val="3333B2"/>
              </a:buClr>
              <a:buFont typeface="Menlo"/>
              <a:buChar char="•"/>
            </a:pPr>
            <a:endParaRPr sz="950">
              <a:latin typeface="Arial"/>
              <a:cs typeface="Arial"/>
            </a:endParaRPr>
          </a:p>
          <a:p>
            <a:pPr marL="296545">
              <a:lnSpc>
                <a:spcPct val="100000"/>
              </a:lnSpc>
            </a:pPr>
            <a:r>
              <a:rPr sz="1000" dirty="0">
                <a:solidFill>
                  <a:srgbClr val="3333B2"/>
                </a:solidFill>
                <a:latin typeface="Arial"/>
                <a:cs typeface="Arial"/>
              </a:rPr>
              <a:t>War</a:t>
            </a:r>
            <a:r>
              <a:rPr sz="1000" spc="-40" dirty="0">
                <a:solidFill>
                  <a:srgbClr val="3333B2"/>
                </a:solidFill>
                <a:latin typeface="Arial"/>
                <a:cs typeface="Arial"/>
              </a:rPr>
              <a:t> </a:t>
            </a:r>
            <a:r>
              <a:rPr sz="1000" dirty="0">
                <a:solidFill>
                  <a:srgbClr val="3333B2"/>
                </a:solidFill>
                <a:latin typeface="Arial"/>
                <a:cs typeface="Arial"/>
              </a:rPr>
              <a:t>driving:</a:t>
            </a:r>
            <a:r>
              <a:rPr sz="1000" spc="15" dirty="0">
                <a:solidFill>
                  <a:srgbClr val="3333B2"/>
                </a:solidFill>
                <a:latin typeface="Arial"/>
                <a:cs typeface="Arial"/>
              </a:rPr>
              <a:t> </a:t>
            </a:r>
            <a:r>
              <a:rPr sz="1000" dirty="0">
                <a:solidFill>
                  <a:srgbClr val="3333B2"/>
                </a:solidFill>
                <a:latin typeface="Arial"/>
                <a:cs typeface="Arial"/>
              </a:rPr>
              <a:t>locating</a:t>
            </a:r>
            <a:r>
              <a:rPr sz="1000" spc="-40" dirty="0">
                <a:solidFill>
                  <a:srgbClr val="3333B2"/>
                </a:solidFill>
                <a:latin typeface="Arial"/>
                <a:cs typeface="Arial"/>
              </a:rPr>
              <a:t> </a:t>
            </a:r>
            <a:r>
              <a:rPr sz="1000" dirty="0">
                <a:solidFill>
                  <a:srgbClr val="3333B2"/>
                </a:solidFill>
                <a:latin typeface="Arial"/>
                <a:cs typeface="Arial"/>
              </a:rPr>
              <a:t>access</a:t>
            </a:r>
            <a:r>
              <a:rPr sz="1000" spc="-40" dirty="0">
                <a:solidFill>
                  <a:srgbClr val="3333B2"/>
                </a:solidFill>
                <a:latin typeface="Arial"/>
                <a:cs typeface="Arial"/>
              </a:rPr>
              <a:t> </a:t>
            </a:r>
            <a:r>
              <a:rPr sz="1000" spc="-10" dirty="0">
                <a:solidFill>
                  <a:srgbClr val="3333B2"/>
                </a:solidFill>
                <a:latin typeface="Arial"/>
                <a:cs typeface="Arial"/>
              </a:rPr>
              <a:t>points</a:t>
            </a:r>
            <a:endParaRPr sz="1000">
              <a:latin typeface="Arial"/>
              <a:cs typeface="Arial"/>
            </a:endParaRPr>
          </a:p>
          <a:p>
            <a:pPr marL="555625" marR="43815" indent="-120650">
              <a:lnSpc>
                <a:spcPct val="111600"/>
              </a:lnSpc>
              <a:spcBef>
                <a:spcPts val="585"/>
              </a:spcBef>
              <a:buClr>
                <a:srgbClr val="3333B2"/>
              </a:buClr>
              <a:buFont typeface="Menlo"/>
              <a:buChar char="•"/>
              <a:tabLst>
                <a:tab pos="556260" algn="l"/>
              </a:tabLst>
            </a:pPr>
            <a:r>
              <a:rPr sz="900" dirty="0">
                <a:latin typeface="Arial"/>
                <a:cs typeface="Arial"/>
              </a:rPr>
              <a:t>Use</a:t>
            </a:r>
            <a:r>
              <a:rPr sz="900" spc="-30" dirty="0">
                <a:latin typeface="Arial"/>
                <a:cs typeface="Arial"/>
              </a:rPr>
              <a:t> </a:t>
            </a:r>
            <a:r>
              <a:rPr sz="900" dirty="0">
                <a:latin typeface="Arial"/>
                <a:cs typeface="Arial"/>
              </a:rPr>
              <a:t>a</a:t>
            </a:r>
            <a:r>
              <a:rPr sz="900" spc="-25" dirty="0">
                <a:latin typeface="Arial"/>
                <a:cs typeface="Arial"/>
              </a:rPr>
              <a:t> </a:t>
            </a:r>
            <a:r>
              <a:rPr sz="900" spc="-10" dirty="0">
                <a:latin typeface="Arial"/>
                <a:cs typeface="Arial"/>
              </a:rPr>
              <a:t>WiFi-enabled</a:t>
            </a:r>
            <a:r>
              <a:rPr sz="900" spc="-25" dirty="0">
                <a:latin typeface="Arial"/>
                <a:cs typeface="Arial"/>
              </a:rPr>
              <a:t> </a:t>
            </a:r>
            <a:r>
              <a:rPr sz="900" spc="-10" dirty="0">
                <a:latin typeface="Arial"/>
                <a:cs typeface="Arial"/>
              </a:rPr>
              <a:t>device</a:t>
            </a:r>
            <a:r>
              <a:rPr sz="900" spc="-25" dirty="0">
                <a:latin typeface="Arial"/>
                <a:cs typeface="Arial"/>
              </a:rPr>
              <a:t> </a:t>
            </a:r>
            <a:r>
              <a:rPr sz="900" dirty="0">
                <a:latin typeface="Arial"/>
                <a:cs typeface="Arial"/>
              </a:rPr>
              <a:t>along</a:t>
            </a:r>
            <a:r>
              <a:rPr sz="900" spc="-30" dirty="0">
                <a:latin typeface="Arial"/>
                <a:cs typeface="Arial"/>
              </a:rPr>
              <a:t> </a:t>
            </a:r>
            <a:r>
              <a:rPr sz="900" dirty="0">
                <a:latin typeface="Arial"/>
                <a:cs typeface="Arial"/>
              </a:rPr>
              <a:t>with</a:t>
            </a:r>
            <a:r>
              <a:rPr sz="900" spc="-25" dirty="0">
                <a:latin typeface="Arial"/>
                <a:cs typeface="Arial"/>
              </a:rPr>
              <a:t> </a:t>
            </a:r>
            <a:r>
              <a:rPr sz="900" dirty="0">
                <a:latin typeface="Arial"/>
                <a:cs typeface="Arial"/>
              </a:rPr>
              <a:t>a</a:t>
            </a:r>
            <a:r>
              <a:rPr sz="900" spc="-25" dirty="0">
                <a:latin typeface="Arial"/>
                <a:cs typeface="Arial"/>
              </a:rPr>
              <a:t> </a:t>
            </a:r>
            <a:r>
              <a:rPr sz="900" dirty="0">
                <a:latin typeface="Arial"/>
                <a:cs typeface="Arial"/>
              </a:rPr>
              <a:t>GPS</a:t>
            </a:r>
            <a:r>
              <a:rPr sz="900" spc="-25" dirty="0">
                <a:latin typeface="Arial"/>
                <a:cs typeface="Arial"/>
              </a:rPr>
              <a:t> </a:t>
            </a:r>
            <a:r>
              <a:rPr sz="900" spc="-20" dirty="0">
                <a:latin typeface="Arial"/>
                <a:cs typeface="Arial"/>
              </a:rPr>
              <a:t>receiver,</a:t>
            </a:r>
            <a:r>
              <a:rPr sz="900" spc="-25" dirty="0">
                <a:latin typeface="Arial"/>
                <a:cs typeface="Arial"/>
              </a:rPr>
              <a:t> </a:t>
            </a:r>
            <a:r>
              <a:rPr sz="900" dirty="0">
                <a:latin typeface="Arial"/>
                <a:cs typeface="Arial"/>
              </a:rPr>
              <a:t>and</a:t>
            </a:r>
            <a:r>
              <a:rPr sz="900" spc="-30" dirty="0">
                <a:latin typeface="Arial"/>
                <a:cs typeface="Arial"/>
              </a:rPr>
              <a:t> </a:t>
            </a:r>
            <a:r>
              <a:rPr sz="900" spc="-10" dirty="0">
                <a:latin typeface="Arial"/>
                <a:cs typeface="Arial"/>
              </a:rPr>
              <a:t>move</a:t>
            </a:r>
            <a:r>
              <a:rPr sz="900" spc="-25" dirty="0">
                <a:latin typeface="Arial"/>
                <a:cs typeface="Arial"/>
              </a:rPr>
              <a:t> </a:t>
            </a:r>
            <a:r>
              <a:rPr sz="900" spc="-10" dirty="0">
                <a:latin typeface="Arial"/>
                <a:cs typeface="Arial"/>
              </a:rPr>
              <a:t>through </a:t>
            </a:r>
            <a:r>
              <a:rPr sz="900" dirty="0">
                <a:latin typeface="Arial"/>
                <a:cs typeface="Arial"/>
              </a:rPr>
              <a:t>an</a:t>
            </a:r>
            <a:r>
              <a:rPr sz="900" spc="-35" dirty="0">
                <a:latin typeface="Arial"/>
                <a:cs typeface="Arial"/>
              </a:rPr>
              <a:t> </a:t>
            </a:r>
            <a:r>
              <a:rPr sz="900" dirty="0">
                <a:latin typeface="Arial"/>
                <a:cs typeface="Arial"/>
              </a:rPr>
              <a:t>area</a:t>
            </a:r>
            <a:r>
              <a:rPr sz="900" spc="-30" dirty="0">
                <a:latin typeface="Arial"/>
                <a:cs typeface="Arial"/>
              </a:rPr>
              <a:t> </a:t>
            </a:r>
            <a:r>
              <a:rPr sz="900" dirty="0">
                <a:latin typeface="Arial"/>
                <a:cs typeface="Arial"/>
              </a:rPr>
              <a:t>while</a:t>
            </a:r>
            <a:r>
              <a:rPr sz="900" spc="-30" dirty="0">
                <a:latin typeface="Arial"/>
                <a:cs typeface="Arial"/>
              </a:rPr>
              <a:t> </a:t>
            </a:r>
            <a:r>
              <a:rPr sz="900" dirty="0">
                <a:latin typeface="Arial"/>
                <a:cs typeface="Arial"/>
              </a:rPr>
              <a:t>recording</a:t>
            </a:r>
            <a:r>
              <a:rPr sz="900" spc="-30" dirty="0">
                <a:latin typeface="Arial"/>
                <a:cs typeface="Arial"/>
              </a:rPr>
              <a:t> </a:t>
            </a:r>
            <a:r>
              <a:rPr sz="900" dirty="0">
                <a:latin typeface="Arial"/>
                <a:cs typeface="Arial"/>
              </a:rPr>
              <a:t>observed</a:t>
            </a:r>
            <a:r>
              <a:rPr sz="900" spc="-30" dirty="0">
                <a:latin typeface="Arial"/>
                <a:cs typeface="Arial"/>
              </a:rPr>
              <a:t> </a:t>
            </a:r>
            <a:r>
              <a:rPr sz="900" dirty="0">
                <a:latin typeface="Arial"/>
                <a:cs typeface="Arial"/>
              </a:rPr>
              <a:t>access</a:t>
            </a:r>
            <a:r>
              <a:rPr sz="900" spc="-30" dirty="0">
                <a:latin typeface="Arial"/>
                <a:cs typeface="Arial"/>
              </a:rPr>
              <a:t> </a:t>
            </a:r>
            <a:r>
              <a:rPr sz="900" spc="-10" dirty="0">
                <a:latin typeface="Arial"/>
                <a:cs typeface="Arial"/>
              </a:rPr>
              <a:t>points.</a:t>
            </a:r>
            <a:endParaRPr sz="900">
              <a:latin typeface="Arial"/>
              <a:cs typeface="Arial"/>
            </a:endParaRPr>
          </a:p>
          <a:p>
            <a:pPr marL="555625" indent="-120650">
              <a:lnSpc>
                <a:spcPct val="100000"/>
              </a:lnSpc>
              <a:spcBef>
                <a:spcPts val="125"/>
              </a:spcBef>
              <a:buClr>
                <a:srgbClr val="3333B2"/>
              </a:buClr>
              <a:buFont typeface="Menlo"/>
              <a:buChar char="•"/>
              <a:tabLst>
                <a:tab pos="556260" algn="l"/>
              </a:tabLst>
            </a:pPr>
            <a:r>
              <a:rPr sz="900" spc="-10" dirty="0">
                <a:latin typeface="Arial"/>
                <a:cs typeface="Arial"/>
              </a:rPr>
              <a:t>Compute</a:t>
            </a:r>
            <a:r>
              <a:rPr sz="900" spc="-30" dirty="0">
                <a:latin typeface="Arial"/>
                <a:cs typeface="Arial"/>
              </a:rPr>
              <a:t> </a:t>
            </a:r>
            <a:r>
              <a:rPr sz="900" dirty="0">
                <a:latin typeface="Arial"/>
                <a:cs typeface="Arial"/>
              </a:rPr>
              <a:t>the</a:t>
            </a:r>
            <a:r>
              <a:rPr sz="900" spc="-30" dirty="0">
                <a:latin typeface="Arial"/>
                <a:cs typeface="Arial"/>
              </a:rPr>
              <a:t> </a:t>
            </a:r>
            <a:r>
              <a:rPr sz="900" dirty="0">
                <a:latin typeface="Arial"/>
                <a:cs typeface="Arial"/>
              </a:rPr>
              <a:t>centroid:</a:t>
            </a:r>
            <a:r>
              <a:rPr sz="900" spc="20" dirty="0">
                <a:latin typeface="Arial"/>
                <a:cs typeface="Arial"/>
              </a:rPr>
              <a:t> </a:t>
            </a:r>
            <a:r>
              <a:rPr sz="900" spc="-10" dirty="0">
                <a:latin typeface="Arial"/>
                <a:cs typeface="Arial"/>
              </a:rPr>
              <a:t>assume</a:t>
            </a:r>
            <a:r>
              <a:rPr sz="900" spc="-30" dirty="0">
                <a:latin typeface="Arial"/>
                <a:cs typeface="Arial"/>
              </a:rPr>
              <a:t> </a:t>
            </a:r>
            <a:r>
              <a:rPr sz="900" dirty="0">
                <a:latin typeface="Arial"/>
                <a:cs typeface="Arial"/>
              </a:rPr>
              <a:t>an</a:t>
            </a:r>
            <a:r>
              <a:rPr sz="900" spc="-25" dirty="0">
                <a:latin typeface="Arial"/>
                <a:cs typeface="Arial"/>
              </a:rPr>
              <a:t> </a:t>
            </a:r>
            <a:r>
              <a:rPr sz="900" dirty="0">
                <a:latin typeface="Arial"/>
                <a:cs typeface="Arial"/>
              </a:rPr>
              <a:t>access</a:t>
            </a:r>
            <a:r>
              <a:rPr sz="900" spc="-30" dirty="0">
                <a:latin typeface="Arial"/>
                <a:cs typeface="Arial"/>
              </a:rPr>
              <a:t> </a:t>
            </a:r>
            <a:r>
              <a:rPr sz="900" dirty="0">
                <a:latin typeface="Arial"/>
                <a:cs typeface="Arial"/>
              </a:rPr>
              <a:t>point</a:t>
            </a:r>
            <a:r>
              <a:rPr sz="900" spc="-30" dirty="0">
                <a:latin typeface="Arial"/>
                <a:cs typeface="Arial"/>
              </a:rPr>
              <a:t> </a:t>
            </a:r>
            <a:r>
              <a:rPr sz="900" i="1" dirty="0">
                <a:latin typeface="Arial"/>
                <a:cs typeface="Arial"/>
              </a:rPr>
              <a:t>AP</a:t>
            </a:r>
            <a:r>
              <a:rPr sz="900" i="1" spc="25" dirty="0">
                <a:latin typeface="Arial"/>
                <a:cs typeface="Arial"/>
              </a:rPr>
              <a:t> </a:t>
            </a:r>
            <a:r>
              <a:rPr sz="900" dirty="0">
                <a:latin typeface="Arial"/>
                <a:cs typeface="Arial"/>
              </a:rPr>
              <a:t>has</a:t>
            </a:r>
            <a:r>
              <a:rPr sz="900" spc="-30" dirty="0">
                <a:latin typeface="Arial"/>
                <a:cs typeface="Arial"/>
              </a:rPr>
              <a:t> </a:t>
            </a:r>
            <a:r>
              <a:rPr sz="900" dirty="0">
                <a:latin typeface="Arial"/>
                <a:cs typeface="Arial"/>
              </a:rPr>
              <a:t>been</a:t>
            </a:r>
            <a:r>
              <a:rPr sz="900" spc="-30" dirty="0">
                <a:latin typeface="Arial"/>
                <a:cs typeface="Arial"/>
              </a:rPr>
              <a:t> </a:t>
            </a:r>
            <a:r>
              <a:rPr sz="900" spc="-10" dirty="0">
                <a:latin typeface="Arial"/>
                <a:cs typeface="Arial"/>
              </a:rPr>
              <a:t>detected</a:t>
            </a:r>
            <a:r>
              <a:rPr sz="900" spc="-30" dirty="0">
                <a:latin typeface="Arial"/>
                <a:cs typeface="Arial"/>
              </a:rPr>
              <a:t> </a:t>
            </a:r>
            <a:r>
              <a:rPr sz="900" spc="-25" dirty="0">
                <a:latin typeface="Arial"/>
                <a:cs typeface="Arial"/>
              </a:rPr>
              <a:t>at</a:t>
            </a:r>
            <a:endParaRPr sz="900">
              <a:latin typeface="Arial"/>
              <a:cs typeface="Arial"/>
            </a:endParaRPr>
          </a:p>
          <a:p>
            <a:pPr marL="555625">
              <a:lnSpc>
                <a:spcPct val="100000"/>
              </a:lnSpc>
              <a:spcBef>
                <a:spcPts val="125"/>
              </a:spcBef>
            </a:pPr>
            <a:r>
              <a:rPr sz="900" i="1" dirty="0">
                <a:latin typeface="Arial"/>
                <a:cs typeface="Arial"/>
              </a:rPr>
              <a:t>N</a:t>
            </a:r>
            <a:r>
              <a:rPr sz="900" i="1" spc="70" dirty="0">
                <a:latin typeface="Arial"/>
                <a:cs typeface="Arial"/>
              </a:rPr>
              <a:t> </a:t>
            </a:r>
            <a:r>
              <a:rPr sz="900" spc="-10" dirty="0">
                <a:latin typeface="Arial"/>
                <a:cs typeface="Arial"/>
              </a:rPr>
              <a:t>different</a:t>
            </a:r>
            <a:r>
              <a:rPr sz="900" spc="5" dirty="0">
                <a:latin typeface="Arial"/>
                <a:cs typeface="Arial"/>
              </a:rPr>
              <a:t> </a:t>
            </a:r>
            <a:r>
              <a:rPr sz="900" dirty="0">
                <a:latin typeface="Arial"/>
                <a:cs typeface="Arial"/>
              </a:rPr>
              <a:t>locations </a:t>
            </a:r>
            <a:r>
              <a:rPr sz="900" i="1" spc="-110" dirty="0">
                <a:latin typeface="Menlo"/>
                <a:cs typeface="Menlo"/>
              </a:rPr>
              <a:t>{</a:t>
            </a:r>
            <a:r>
              <a:rPr sz="900" i="1" spc="-110" dirty="0">
                <a:latin typeface="Arial"/>
                <a:cs typeface="Arial"/>
              </a:rPr>
              <a:t>x</a:t>
            </a:r>
            <a:r>
              <a:rPr sz="1350" i="1" spc="-165" baseline="3086" dirty="0">
                <a:latin typeface="STIX Two Text"/>
                <a:cs typeface="STIX Two Text"/>
              </a:rPr>
              <a:t>⃗</a:t>
            </a:r>
            <a:r>
              <a:rPr sz="1050" spc="-165" baseline="-15873" dirty="0">
                <a:latin typeface="Arial"/>
                <a:cs typeface="Arial"/>
              </a:rPr>
              <a:t>1</a:t>
            </a:r>
            <a:r>
              <a:rPr sz="900" i="1" spc="-110" dirty="0">
                <a:latin typeface="STIX Two Text"/>
                <a:cs typeface="STIX Two Text"/>
              </a:rPr>
              <a:t>,</a:t>
            </a:r>
            <a:r>
              <a:rPr sz="900" i="1" spc="-100" dirty="0">
                <a:latin typeface="STIX Two Text"/>
                <a:cs typeface="STIX Two Text"/>
              </a:rPr>
              <a:t> </a:t>
            </a:r>
            <a:r>
              <a:rPr sz="900" i="1" spc="-110" dirty="0">
                <a:latin typeface="Arial"/>
                <a:cs typeface="Arial"/>
              </a:rPr>
              <a:t>x</a:t>
            </a:r>
            <a:r>
              <a:rPr sz="1350" i="1" spc="-165" baseline="3086" dirty="0">
                <a:latin typeface="STIX Two Text"/>
                <a:cs typeface="STIX Two Text"/>
              </a:rPr>
              <a:t>⃗</a:t>
            </a:r>
            <a:r>
              <a:rPr sz="1050" spc="-165" baseline="-15873" dirty="0">
                <a:latin typeface="Arial"/>
                <a:cs typeface="Arial"/>
              </a:rPr>
              <a:t>2</a:t>
            </a:r>
            <a:r>
              <a:rPr sz="900" i="1" spc="-110" dirty="0">
                <a:latin typeface="STIX Two Text"/>
                <a:cs typeface="STIX Two Text"/>
              </a:rPr>
              <a:t>,</a:t>
            </a:r>
            <a:r>
              <a:rPr sz="900" i="1" spc="-105" dirty="0">
                <a:latin typeface="STIX Two Text"/>
                <a:cs typeface="STIX Two Text"/>
              </a:rPr>
              <a:t> </a:t>
            </a:r>
            <a:r>
              <a:rPr sz="900" i="1" dirty="0">
                <a:latin typeface="STIX Two Text"/>
                <a:cs typeface="STIX Two Text"/>
              </a:rPr>
              <a:t>.</a:t>
            </a:r>
            <a:r>
              <a:rPr sz="900" i="1" spc="-100" dirty="0">
                <a:latin typeface="STIX Two Text"/>
                <a:cs typeface="STIX Two Text"/>
              </a:rPr>
              <a:t> </a:t>
            </a:r>
            <a:r>
              <a:rPr sz="900" i="1" dirty="0">
                <a:latin typeface="STIX Two Text"/>
                <a:cs typeface="STIX Two Text"/>
              </a:rPr>
              <a:t>.</a:t>
            </a:r>
            <a:r>
              <a:rPr sz="900" i="1" spc="-100" dirty="0">
                <a:latin typeface="STIX Two Text"/>
                <a:cs typeface="STIX Two Text"/>
              </a:rPr>
              <a:t> </a:t>
            </a:r>
            <a:r>
              <a:rPr sz="900" i="1" dirty="0">
                <a:latin typeface="STIX Two Text"/>
                <a:cs typeface="STIX Two Text"/>
              </a:rPr>
              <a:t>.</a:t>
            </a:r>
            <a:r>
              <a:rPr sz="900" i="1" spc="-105" dirty="0">
                <a:latin typeface="STIX Two Text"/>
                <a:cs typeface="STIX Two Text"/>
              </a:rPr>
              <a:t> </a:t>
            </a:r>
            <a:r>
              <a:rPr sz="900" i="1" dirty="0">
                <a:latin typeface="STIX Two Text"/>
                <a:cs typeface="STIX Two Text"/>
              </a:rPr>
              <a:t>,</a:t>
            </a:r>
            <a:r>
              <a:rPr sz="900" i="1" spc="-100" dirty="0">
                <a:latin typeface="STIX Two Text"/>
                <a:cs typeface="STIX Two Text"/>
              </a:rPr>
              <a:t> </a:t>
            </a:r>
            <a:r>
              <a:rPr sz="900" i="1" spc="-165" dirty="0">
                <a:latin typeface="Arial"/>
                <a:cs typeface="Arial"/>
              </a:rPr>
              <a:t>x</a:t>
            </a:r>
            <a:r>
              <a:rPr sz="1350" i="1" spc="-247" baseline="3086" dirty="0">
                <a:latin typeface="STIX Two Text"/>
                <a:cs typeface="STIX Two Text"/>
              </a:rPr>
              <a:t>⃗</a:t>
            </a:r>
            <a:r>
              <a:rPr sz="1050" i="1" spc="-247" baseline="-15873" dirty="0">
                <a:latin typeface="Arial"/>
                <a:cs typeface="Arial"/>
              </a:rPr>
              <a:t>N</a:t>
            </a:r>
            <a:r>
              <a:rPr sz="1050" i="1" spc="-142" baseline="-15873" dirty="0">
                <a:latin typeface="Arial"/>
                <a:cs typeface="Arial"/>
              </a:rPr>
              <a:t> </a:t>
            </a:r>
            <a:r>
              <a:rPr sz="900" i="1" spc="-50" dirty="0">
                <a:latin typeface="Menlo"/>
                <a:cs typeface="Menlo"/>
              </a:rPr>
              <a:t>}</a:t>
            </a:r>
            <a:r>
              <a:rPr sz="900" spc="-50" dirty="0">
                <a:latin typeface="Arial"/>
                <a:cs typeface="Arial"/>
              </a:rPr>
              <a:t>,</a:t>
            </a:r>
            <a:r>
              <a:rPr sz="900" spc="5" dirty="0">
                <a:latin typeface="Arial"/>
                <a:cs typeface="Arial"/>
              </a:rPr>
              <a:t> </a:t>
            </a:r>
            <a:r>
              <a:rPr sz="900" dirty="0">
                <a:latin typeface="Arial"/>
                <a:cs typeface="Arial"/>
              </a:rPr>
              <a:t>with known</a:t>
            </a:r>
            <a:r>
              <a:rPr sz="900" spc="5" dirty="0">
                <a:latin typeface="Arial"/>
                <a:cs typeface="Arial"/>
              </a:rPr>
              <a:t> </a:t>
            </a:r>
            <a:r>
              <a:rPr sz="900" dirty="0">
                <a:latin typeface="Arial"/>
                <a:cs typeface="Arial"/>
              </a:rPr>
              <a:t>GPS </a:t>
            </a:r>
            <a:r>
              <a:rPr sz="900" spc="-10" dirty="0">
                <a:latin typeface="Arial"/>
                <a:cs typeface="Arial"/>
              </a:rPr>
              <a:t>location.</a:t>
            </a:r>
            <a:endParaRPr sz="900">
              <a:latin typeface="Arial"/>
              <a:cs typeface="Arial"/>
            </a:endParaRPr>
          </a:p>
        </p:txBody>
      </p:sp>
      <p:sp>
        <p:nvSpPr>
          <p:cNvPr id="6" name="object 6"/>
          <p:cNvSpPr txBox="1"/>
          <p:nvPr/>
        </p:nvSpPr>
        <p:spPr>
          <a:xfrm>
            <a:off x="2395677" y="2340631"/>
            <a:ext cx="132715" cy="101600"/>
          </a:xfrm>
          <a:prstGeom prst="rect">
            <a:avLst/>
          </a:prstGeom>
        </p:spPr>
        <p:txBody>
          <a:bodyPr vert="horz" wrap="square" lIns="0" tIns="12065" rIns="0" bIns="0" rtlCol="0">
            <a:spAutoFit/>
          </a:bodyPr>
          <a:lstStyle/>
          <a:p>
            <a:pPr marL="12700">
              <a:lnSpc>
                <a:spcPct val="100000"/>
              </a:lnSpc>
              <a:spcBef>
                <a:spcPts val="95"/>
              </a:spcBef>
            </a:pPr>
            <a:r>
              <a:rPr sz="500" i="1" spc="-10" dirty="0">
                <a:latin typeface="Arial"/>
                <a:cs typeface="Arial"/>
              </a:rPr>
              <a:t>i</a:t>
            </a:r>
            <a:r>
              <a:rPr sz="500" i="1" spc="-95" dirty="0">
                <a:latin typeface="Arial"/>
                <a:cs typeface="Arial"/>
              </a:rPr>
              <a:t> </a:t>
            </a:r>
            <a:r>
              <a:rPr sz="500" spc="30" dirty="0">
                <a:latin typeface="Arial"/>
                <a:cs typeface="Arial"/>
              </a:rPr>
              <a:t>=1</a:t>
            </a:r>
            <a:endParaRPr sz="500">
              <a:latin typeface="Arial"/>
              <a:cs typeface="Arial"/>
            </a:endParaRPr>
          </a:p>
        </p:txBody>
      </p:sp>
      <p:sp>
        <p:nvSpPr>
          <p:cNvPr id="7" name="object 7"/>
          <p:cNvSpPr txBox="1"/>
          <p:nvPr/>
        </p:nvSpPr>
        <p:spPr>
          <a:xfrm>
            <a:off x="2307132" y="2291108"/>
            <a:ext cx="321310" cy="132080"/>
          </a:xfrm>
          <a:prstGeom prst="rect">
            <a:avLst/>
          </a:prstGeom>
        </p:spPr>
        <p:txBody>
          <a:bodyPr vert="horz" wrap="square" lIns="0" tIns="12065" rIns="0" bIns="0" rtlCol="0">
            <a:spAutoFit/>
          </a:bodyPr>
          <a:lstStyle/>
          <a:p>
            <a:pPr marL="38100">
              <a:lnSpc>
                <a:spcPct val="100000"/>
              </a:lnSpc>
              <a:spcBef>
                <a:spcPts val="95"/>
              </a:spcBef>
            </a:pPr>
            <a:r>
              <a:rPr sz="1050" baseline="-3968" dirty="0">
                <a:latin typeface="Times New Roman"/>
                <a:cs typeface="Times New Roman"/>
              </a:rPr>
              <a:t>∑</a:t>
            </a:r>
            <a:r>
              <a:rPr sz="750" i="1" baseline="33333" dirty="0">
                <a:latin typeface="Arial"/>
                <a:cs typeface="Arial"/>
              </a:rPr>
              <a:t>N</a:t>
            </a:r>
            <a:r>
              <a:rPr sz="750" i="1" spc="652" baseline="33333" dirty="0">
                <a:latin typeface="Arial"/>
                <a:cs typeface="Arial"/>
              </a:rPr>
              <a:t> </a:t>
            </a:r>
            <a:r>
              <a:rPr sz="1050" i="1" spc="-37" baseline="3968" dirty="0">
                <a:latin typeface="STIX Two Text"/>
                <a:cs typeface="STIX Two Text"/>
              </a:rPr>
              <a:t>⃗</a:t>
            </a:r>
            <a:r>
              <a:rPr sz="700" i="1" spc="-25" dirty="0">
                <a:latin typeface="Arial"/>
                <a:cs typeface="Arial"/>
              </a:rPr>
              <a:t>x</a:t>
            </a:r>
            <a:r>
              <a:rPr sz="750" i="1" spc="-37" baseline="-11111" dirty="0">
                <a:latin typeface="Arial"/>
                <a:cs typeface="Arial"/>
              </a:rPr>
              <a:t>i</a:t>
            </a:r>
            <a:endParaRPr sz="750" baseline="-11111">
              <a:latin typeface="Arial"/>
              <a:cs typeface="Arial"/>
            </a:endParaRPr>
          </a:p>
        </p:txBody>
      </p:sp>
      <p:sp>
        <p:nvSpPr>
          <p:cNvPr id="8" name="object 8"/>
          <p:cNvSpPr/>
          <p:nvPr/>
        </p:nvSpPr>
        <p:spPr>
          <a:xfrm>
            <a:off x="2345232" y="2423426"/>
            <a:ext cx="256540" cy="0"/>
          </a:xfrm>
          <a:custGeom>
            <a:avLst/>
            <a:gdLst/>
            <a:ahLst/>
            <a:cxnLst/>
            <a:rect l="l" t="t" r="r" b="b"/>
            <a:pathLst>
              <a:path w="256539">
                <a:moveTo>
                  <a:pt x="0" y="0"/>
                </a:moveTo>
                <a:lnTo>
                  <a:pt x="256349" y="0"/>
                </a:lnTo>
              </a:path>
            </a:pathLst>
          </a:custGeom>
          <a:ln w="4559">
            <a:solidFill>
              <a:srgbClr val="000000"/>
            </a:solidFill>
          </a:ln>
        </p:spPr>
        <p:txBody>
          <a:bodyPr wrap="square" lIns="0" tIns="0" rIns="0" bIns="0" rtlCol="0"/>
          <a:lstStyle/>
          <a:p>
            <a:endParaRPr/>
          </a:p>
        </p:txBody>
      </p:sp>
      <p:sp>
        <p:nvSpPr>
          <p:cNvPr id="9" name="object 9"/>
          <p:cNvSpPr txBox="1"/>
          <p:nvPr/>
        </p:nvSpPr>
        <p:spPr>
          <a:xfrm>
            <a:off x="2425319" y="2392987"/>
            <a:ext cx="89535" cy="132080"/>
          </a:xfrm>
          <a:prstGeom prst="rect">
            <a:avLst/>
          </a:prstGeom>
        </p:spPr>
        <p:txBody>
          <a:bodyPr vert="horz" wrap="square" lIns="0" tIns="12065" rIns="0" bIns="0" rtlCol="0">
            <a:spAutoFit/>
          </a:bodyPr>
          <a:lstStyle/>
          <a:p>
            <a:pPr marL="12700">
              <a:lnSpc>
                <a:spcPct val="100000"/>
              </a:lnSpc>
              <a:spcBef>
                <a:spcPts val="95"/>
              </a:spcBef>
            </a:pPr>
            <a:r>
              <a:rPr sz="700" i="1" spc="-5" dirty="0">
                <a:latin typeface="Arial"/>
                <a:cs typeface="Arial"/>
              </a:rPr>
              <a:t>N</a:t>
            </a:r>
            <a:endParaRPr sz="700">
              <a:latin typeface="Arial"/>
              <a:cs typeface="Arial"/>
            </a:endParaRPr>
          </a:p>
        </p:txBody>
      </p:sp>
      <p:sp>
        <p:nvSpPr>
          <p:cNvPr id="10" name="object 10"/>
          <p:cNvSpPr txBox="1"/>
          <p:nvPr/>
        </p:nvSpPr>
        <p:spPr>
          <a:xfrm>
            <a:off x="454748" y="2325326"/>
            <a:ext cx="2232025" cy="162560"/>
          </a:xfrm>
          <a:prstGeom prst="rect">
            <a:avLst/>
          </a:prstGeom>
        </p:spPr>
        <p:txBody>
          <a:bodyPr vert="horz" wrap="square" lIns="0" tIns="12065" rIns="0" bIns="0" rtlCol="0">
            <a:spAutoFit/>
          </a:bodyPr>
          <a:lstStyle/>
          <a:p>
            <a:pPr marL="158115" indent="-120650">
              <a:lnSpc>
                <a:spcPct val="100000"/>
              </a:lnSpc>
              <a:spcBef>
                <a:spcPts val="95"/>
              </a:spcBef>
              <a:buClr>
                <a:srgbClr val="3333B2"/>
              </a:buClr>
              <a:buFont typeface="Menlo"/>
              <a:buChar char="•"/>
              <a:tabLst>
                <a:tab pos="158750" algn="l"/>
                <a:tab pos="2161540" algn="l"/>
              </a:tabLst>
            </a:pPr>
            <a:r>
              <a:rPr sz="900" dirty="0">
                <a:latin typeface="Arial"/>
                <a:cs typeface="Arial"/>
              </a:rPr>
              <a:t>Compute</a:t>
            </a:r>
            <a:r>
              <a:rPr sz="900" spc="-30" dirty="0">
                <a:latin typeface="Arial"/>
                <a:cs typeface="Arial"/>
              </a:rPr>
              <a:t> </a:t>
            </a:r>
            <a:r>
              <a:rPr sz="900" dirty="0">
                <a:latin typeface="Arial"/>
                <a:cs typeface="Arial"/>
              </a:rPr>
              <a:t>location</a:t>
            </a:r>
            <a:r>
              <a:rPr sz="900" spc="-20" dirty="0">
                <a:latin typeface="Arial"/>
                <a:cs typeface="Arial"/>
              </a:rPr>
              <a:t> </a:t>
            </a:r>
            <a:r>
              <a:rPr sz="900" dirty="0">
                <a:latin typeface="Arial"/>
                <a:cs typeface="Arial"/>
              </a:rPr>
              <a:t>of</a:t>
            </a:r>
            <a:r>
              <a:rPr sz="900" spc="-20" dirty="0">
                <a:latin typeface="Arial"/>
                <a:cs typeface="Arial"/>
              </a:rPr>
              <a:t> </a:t>
            </a:r>
            <a:r>
              <a:rPr sz="900" i="1" dirty="0">
                <a:latin typeface="Arial"/>
                <a:cs typeface="Arial"/>
              </a:rPr>
              <a:t>AP</a:t>
            </a:r>
            <a:r>
              <a:rPr sz="900" i="1" spc="40" dirty="0">
                <a:latin typeface="Arial"/>
                <a:cs typeface="Arial"/>
              </a:rPr>
              <a:t> </a:t>
            </a:r>
            <a:r>
              <a:rPr sz="900" spc="-10" dirty="0">
                <a:latin typeface="Arial"/>
                <a:cs typeface="Arial"/>
              </a:rPr>
              <a:t>as</a:t>
            </a:r>
            <a:r>
              <a:rPr sz="900" spc="-120" dirty="0">
                <a:latin typeface="Arial"/>
                <a:cs typeface="Arial"/>
              </a:rPr>
              <a:t> </a:t>
            </a:r>
            <a:r>
              <a:rPr sz="1350" i="1" baseline="3086" dirty="0">
                <a:latin typeface="STIX Two Text"/>
                <a:cs typeface="STIX Two Text"/>
              </a:rPr>
              <a:t>⃗</a:t>
            </a:r>
            <a:r>
              <a:rPr sz="900" i="1" dirty="0">
                <a:latin typeface="Arial"/>
                <a:cs typeface="Arial"/>
              </a:rPr>
              <a:t>x</a:t>
            </a:r>
            <a:r>
              <a:rPr sz="1050" i="1" baseline="-15873" dirty="0">
                <a:latin typeface="Arial"/>
                <a:cs typeface="Arial"/>
              </a:rPr>
              <a:t>AP</a:t>
            </a:r>
            <a:r>
              <a:rPr sz="1050" i="1" spc="112" baseline="-15873" dirty="0">
                <a:latin typeface="Arial"/>
                <a:cs typeface="Arial"/>
              </a:rPr>
              <a:t> </a:t>
            </a:r>
            <a:r>
              <a:rPr sz="900" spc="135" dirty="0">
                <a:latin typeface="Arial"/>
                <a:cs typeface="Arial"/>
              </a:rPr>
              <a:t>=</a:t>
            </a:r>
            <a:r>
              <a:rPr sz="900" dirty="0">
                <a:latin typeface="Arial"/>
                <a:cs typeface="Arial"/>
              </a:rPr>
              <a:t>	</a:t>
            </a:r>
            <a:r>
              <a:rPr sz="900" spc="-50" dirty="0">
                <a:latin typeface="Arial"/>
                <a:cs typeface="Arial"/>
              </a:rPr>
              <a:t>.</a:t>
            </a:r>
            <a:endParaRPr sz="900">
              <a:latin typeface="Arial"/>
              <a:cs typeface="Arial"/>
            </a:endParaRPr>
          </a:p>
        </p:txBody>
      </p:sp>
      <p:sp>
        <p:nvSpPr>
          <p:cNvPr id="11" name="object 11"/>
          <p:cNvSpPr txBox="1"/>
          <p:nvPr/>
        </p:nvSpPr>
        <p:spPr>
          <a:xfrm>
            <a:off x="321894" y="2549196"/>
            <a:ext cx="3091815" cy="756285"/>
          </a:xfrm>
          <a:prstGeom prst="rect">
            <a:avLst/>
          </a:prstGeom>
        </p:spPr>
        <p:txBody>
          <a:bodyPr vert="horz" wrap="square" lIns="0" tIns="83820" rIns="0" bIns="0" rtlCol="0">
            <a:spAutoFit/>
          </a:bodyPr>
          <a:lstStyle/>
          <a:p>
            <a:pPr marL="38100">
              <a:lnSpc>
                <a:spcPct val="100000"/>
              </a:lnSpc>
              <a:spcBef>
                <a:spcPts val="660"/>
              </a:spcBef>
            </a:pPr>
            <a:r>
              <a:rPr sz="1000" spc="-10" dirty="0">
                <a:solidFill>
                  <a:srgbClr val="C80000"/>
                </a:solidFill>
                <a:latin typeface="Arial"/>
                <a:cs typeface="Arial"/>
              </a:rPr>
              <a:t>Problems</a:t>
            </a:r>
            <a:endParaRPr sz="1000">
              <a:latin typeface="Arial"/>
              <a:cs typeface="Arial"/>
            </a:endParaRPr>
          </a:p>
          <a:p>
            <a:pPr marL="290830" indent="-120650">
              <a:lnSpc>
                <a:spcPct val="100000"/>
              </a:lnSpc>
              <a:spcBef>
                <a:spcPts val="500"/>
              </a:spcBef>
              <a:buClr>
                <a:srgbClr val="3333B2"/>
              </a:buClr>
              <a:buFont typeface="Menlo"/>
              <a:buChar char="•"/>
              <a:tabLst>
                <a:tab pos="291465" algn="l"/>
              </a:tabLst>
            </a:pPr>
            <a:r>
              <a:rPr sz="900" dirty="0">
                <a:latin typeface="Arial"/>
                <a:cs typeface="Arial"/>
              </a:rPr>
              <a:t>Limited</a:t>
            </a:r>
            <a:r>
              <a:rPr sz="900" spc="-35" dirty="0">
                <a:latin typeface="Arial"/>
                <a:cs typeface="Arial"/>
              </a:rPr>
              <a:t> </a:t>
            </a:r>
            <a:r>
              <a:rPr sz="900" dirty="0">
                <a:latin typeface="Arial"/>
                <a:cs typeface="Arial"/>
              </a:rPr>
              <a:t>accuracy</a:t>
            </a:r>
            <a:r>
              <a:rPr sz="900" spc="-30" dirty="0">
                <a:latin typeface="Arial"/>
                <a:cs typeface="Arial"/>
              </a:rPr>
              <a:t> </a:t>
            </a:r>
            <a:r>
              <a:rPr sz="900" dirty="0">
                <a:latin typeface="Arial"/>
                <a:cs typeface="Arial"/>
              </a:rPr>
              <a:t>of</a:t>
            </a:r>
            <a:r>
              <a:rPr sz="900" spc="-30" dirty="0">
                <a:latin typeface="Arial"/>
                <a:cs typeface="Arial"/>
              </a:rPr>
              <a:t> </a:t>
            </a:r>
            <a:r>
              <a:rPr sz="900" dirty="0">
                <a:latin typeface="Arial"/>
                <a:cs typeface="Arial"/>
              </a:rPr>
              <a:t>each</a:t>
            </a:r>
            <a:r>
              <a:rPr sz="900" spc="-30" dirty="0">
                <a:latin typeface="Arial"/>
                <a:cs typeface="Arial"/>
              </a:rPr>
              <a:t> </a:t>
            </a:r>
            <a:r>
              <a:rPr sz="900" dirty="0">
                <a:latin typeface="Arial"/>
                <a:cs typeface="Arial"/>
              </a:rPr>
              <a:t>GPS</a:t>
            </a:r>
            <a:r>
              <a:rPr sz="900" spc="-30" dirty="0">
                <a:latin typeface="Arial"/>
                <a:cs typeface="Arial"/>
              </a:rPr>
              <a:t> </a:t>
            </a:r>
            <a:r>
              <a:rPr sz="900" dirty="0">
                <a:latin typeface="Arial"/>
                <a:cs typeface="Arial"/>
              </a:rPr>
              <a:t>detection</a:t>
            </a:r>
            <a:r>
              <a:rPr sz="900" spc="-30" dirty="0">
                <a:latin typeface="Arial"/>
                <a:cs typeface="Arial"/>
              </a:rPr>
              <a:t> </a:t>
            </a:r>
            <a:r>
              <a:rPr sz="900" dirty="0">
                <a:latin typeface="Arial"/>
                <a:cs typeface="Arial"/>
              </a:rPr>
              <a:t>point</a:t>
            </a:r>
            <a:r>
              <a:rPr sz="900" spc="-55" dirty="0">
                <a:latin typeface="Arial"/>
                <a:cs typeface="Arial"/>
              </a:rPr>
              <a:t> </a:t>
            </a:r>
            <a:r>
              <a:rPr sz="1350" i="1" spc="-37" baseline="3086" dirty="0">
                <a:latin typeface="STIX Two Text"/>
                <a:cs typeface="STIX Two Text"/>
              </a:rPr>
              <a:t>⃗</a:t>
            </a:r>
            <a:r>
              <a:rPr sz="900" i="1" spc="-25" dirty="0">
                <a:latin typeface="Arial"/>
                <a:cs typeface="Arial"/>
              </a:rPr>
              <a:t>x</a:t>
            </a:r>
            <a:r>
              <a:rPr sz="1050" i="1" spc="-37" baseline="-15873" dirty="0">
                <a:latin typeface="Arial"/>
                <a:cs typeface="Arial"/>
              </a:rPr>
              <a:t>i</a:t>
            </a:r>
            <a:endParaRPr sz="1050" baseline="-15873">
              <a:latin typeface="Arial"/>
              <a:cs typeface="Arial"/>
            </a:endParaRPr>
          </a:p>
          <a:p>
            <a:pPr marL="287020" indent="-116839">
              <a:lnSpc>
                <a:spcPct val="100000"/>
              </a:lnSpc>
              <a:spcBef>
                <a:spcPts val="125"/>
              </a:spcBef>
              <a:buClr>
                <a:srgbClr val="3333B2"/>
              </a:buClr>
              <a:buFont typeface="Menlo"/>
              <a:buChar char="•"/>
              <a:tabLst>
                <a:tab pos="287655" algn="l"/>
              </a:tabLst>
            </a:pPr>
            <a:r>
              <a:rPr sz="900" dirty="0">
                <a:latin typeface="Arial"/>
                <a:cs typeface="Arial"/>
              </a:rPr>
              <a:t>An</a:t>
            </a:r>
            <a:r>
              <a:rPr sz="900" spc="-5" dirty="0">
                <a:latin typeface="Arial"/>
                <a:cs typeface="Arial"/>
              </a:rPr>
              <a:t> </a:t>
            </a:r>
            <a:r>
              <a:rPr sz="900" dirty="0">
                <a:latin typeface="Arial"/>
                <a:cs typeface="Arial"/>
              </a:rPr>
              <a:t>access</a:t>
            </a:r>
            <a:r>
              <a:rPr sz="900" spc="-5" dirty="0">
                <a:latin typeface="Arial"/>
                <a:cs typeface="Arial"/>
              </a:rPr>
              <a:t> </a:t>
            </a:r>
            <a:r>
              <a:rPr sz="900" dirty="0">
                <a:latin typeface="Arial"/>
                <a:cs typeface="Arial"/>
              </a:rPr>
              <a:t>point has</a:t>
            </a:r>
            <a:r>
              <a:rPr sz="900" spc="-5" dirty="0">
                <a:latin typeface="Arial"/>
                <a:cs typeface="Arial"/>
              </a:rPr>
              <a:t> </a:t>
            </a:r>
            <a:r>
              <a:rPr sz="900" dirty="0">
                <a:latin typeface="Arial"/>
                <a:cs typeface="Arial"/>
              </a:rPr>
              <a:t>a </a:t>
            </a:r>
            <a:r>
              <a:rPr sz="900" spc="-10" dirty="0">
                <a:latin typeface="Arial"/>
                <a:cs typeface="Arial"/>
              </a:rPr>
              <a:t>nonuniform</a:t>
            </a:r>
            <a:r>
              <a:rPr sz="900" spc="-5" dirty="0">
                <a:latin typeface="Arial"/>
                <a:cs typeface="Arial"/>
              </a:rPr>
              <a:t> </a:t>
            </a:r>
            <a:r>
              <a:rPr sz="900" spc="-10" dirty="0">
                <a:latin typeface="Arial"/>
                <a:cs typeface="Arial"/>
              </a:rPr>
              <a:t>transmission</a:t>
            </a:r>
            <a:r>
              <a:rPr sz="900" dirty="0">
                <a:latin typeface="Arial"/>
                <a:cs typeface="Arial"/>
              </a:rPr>
              <a:t> </a:t>
            </a:r>
            <a:r>
              <a:rPr sz="900" spc="-10" dirty="0">
                <a:latin typeface="Arial"/>
                <a:cs typeface="Arial"/>
              </a:rPr>
              <a:t>range</a:t>
            </a:r>
            <a:endParaRPr sz="900">
              <a:latin typeface="Arial"/>
              <a:cs typeface="Arial"/>
            </a:endParaRPr>
          </a:p>
          <a:p>
            <a:pPr marL="290830" indent="-120650">
              <a:lnSpc>
                <a:spcPct val="100000"/>
              </a:lnSpc>
              <a:spcBef>
                <a:spcPts val="125"/>
              </a:spcBef>
              <a:buClr>
                <a:srgbClr val="3333B2"/>
              </a:buClr>
              <a:buFont typeface="Menlo"/>
              <a:buChar char="•"/>
              <a:tabLst>
                <a:tab pos="291465" algn="l"/>
              </a:tabLst>
            </a:pPr>
            <a:r>
              <a:rPr sz="900" dirty="0">
                <a:latin typeface="Arial"/>
                <a:cs typeface="Arial"/>
              </a:rPr>
              <a:t>Number</a:t>
            </a:r>
            <a:r>
              <a:rPr sz="900" spc="-30" dirty="0">
                <a:latin typeface="Arial"/>
                <a:cs typeface="Arial"/>
              </a:rPr>
              <a:t> </a:t>
            </a:r>
            <a:r>
              <a:rPr sz="900" dirty="0">
                <a:latin typeface="Arial"/>
                <a:cs typeface="Arial"/>
              </a:rPr>
              <a:t>of</a:t>
            </a:r>
            <a:r>
              <a:rPr sz="900" spc="-30" dirty="0">
                <a:latin typeface="Arial"/>
                <a:cs typeface="Arial"/>
              </a:rPr>
              <a:t> </a:t>
            </a:r>
            <a:r>
              <a:rPr sz="900" dirty="0">
                <a:latin typeface="Arial"/>
                <a:cs typeface="Arial"/>
              </a:rPr>
              <a:t>sampled</a:t>
            </a:r>
            <a:r>
              <a:rPr sz="900" spc="-25" dirty="0">
                <a:latin typeface="Arial"/>
                <a:cs typeface="Arial"/>
              </a:rPr>
              <a:t> </a:t>
            </a:r>
            <a:r>
              <a:rPr sz="900" dirty="0">
                <a:latin typeface="Arial"/>
                <a:cs typeface="Arial"/>
              </a:rPr>
              <a:t>detection</a:t>
            </a:r>
            <a:r>
              <a:rPr sz="900" spc="-30" dirty="0">
                <a:latin typeface="Arial"/>
                <a:cs typeface="Arial"/>
              </a:rPr>
              <a:t> </a:t>
            </a:r>
            <a:r>
              <a:rPr sz="900" dirty="0">
                <a:latin typeface="Arial"/>
                <a:cs typeface="Arial"/>
              </a:rPr>
              <a:t>points</a:t>
            </a:r>
            <a:r>
              <a:rPr sz="900" spc="-25" dirty="0">
                <a:latin typeface="Arial"/>
                <a:cs typeface="Arial"/>
              </a:rPr>
              <a:t> </a:t>
            </a:r>
            <a:r>
              <a:rPr sz="900" i="1" dirty="0">
                <a:latin typeface="Arial"/>
                <a:cs typeface="Arial"/>
              </a:rPr>
              <a:t>N</a:t>
            </a:r>
            <a:r>
              <a:rPr sz="900" i="1" spc="35" dirty="0">
                <a:latin typeface="Arial"/>
                <a:cs typeface="Arial"/>
              </a:rPr>
              <a:t> </a:t>
            </a:r>
            <a:r>
              <a:rPr sz="900" dirty="0">
                <a:latin typeface="Arial"/>
                <a:cs typeface="Arial"/>
              </a:rPr>
              <a:t>may</a:t>
            </a:r>
            <a:r>
              <a:rPr sz="900" spc="-25" dirty="0">
                <a:latin typeface="Arial"/>
                <a:cs typeface="Arial"/>
              </a:rPr>
              <a:t> </a:t>
            </a:r>
            <a:r>
              <a:rPr sz="900" dirty="0">
                <a:latin typeface="Arial"/>
                <a:cs typeface="Arial"/>
              </a:rPr>
              <a:t>be</a:t>
            </a:r>
            <a:r>
              <a:rPr sz="900" spc="-30" dirty="0">
                <a:latin typeface="Arial"/>
                <a:cs typeface="Arial"/>
              </a:rPr>
              <a:t> </a:t>
            </a:r>
            <a:r>
              <a:rPr sz="900" dirty="0">
                <a:latin typeface="Arial"/>
                <a:cs typeface="Arial"/>
              </a:rPr>
              <a:t>too</a:t>
            </a:r>
            <a:r>
              <a:rPr sz="900" spc="-30" dirty="0">
                <a:latin typeface="Arial"/>
                <a:cs typeface="Arial"/>
              </a:rPr>
              <a:t> </a:t>
            </a:r>
            <a:r>
              <a:rPr sz="900" spc="-20" dirty="0">
                <a:latin typeface="Arial"/>
                <a:cs typeface="Arial"/>
              </a:rPr>
              <a:t>low.</a:t>
            </a:r>
            <a:endParaRPr sz="900">
              <a:latin typeface="Arial"/>
              <a:cs typeface="Arial"/>
            </a:endParaRPr>
          </a:p>
        </p:txBody>
      </p:sp>
      <p:sp>
        <p:nvSpPr>
          <p:cNvPr id="12" name="object 12"/>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3" name="object 13"/>
          <p:cNvSpPr txBox="1"/>
          <p:nvPr/>
        </p:nvSpPr>
        <p:spPr>
          <a:xfrm>
            <a:off x="53467" y="3346954"/>
            <a:ext cx="788670" cy="101600"/>
          </a:xfrm>
          <a:prstGeom prst="rect">
            <a:avLst/>
          </a:prstGeom>
        </p:spPr>
        <p:txBody>
          <a:bodyPr vert="horz" wrap="square" lIns="0" tIns="12065" rIns="0" bIns="0" rtlCol="0">
            <a:spAutoFit/>
          </a:bodyPr>
          <a:lstStyle/>
          <a:p>
            <a:pPr marL="12700">
              <a:lnSpc>
                <a:spcPct val="100000"/>
              </a:lnSpc>
              <a:spcBef>
                <a:spcPts val="95"/>
              </a:spcBef>
            </a:pPr>
            <a:r>
              <a:rPr sz="500" dirty="0">
                <a:latin typeface="Arial"/>
                <a:cs typeface="Arial"/>
                <a:hlinkClick r:id="rId4" action="ppaction://hlinksldjump"/>
              </a:rPr>
              <a:t>When</a:t>
            </a:r>
            <a:r>
              <a:rPr sz="500" spc="-15" dirty="0">
                <a:latin typeface="Arial"/>
                <a:cs typeface="Arial"/>
                <a:hlinkClick r:id="rId4" action="ppaction://hlinksldjump"/>
              </a:rPr>
              <a:t> </a:t>
            </a:r>
            <a:r>
              <a:rPr sz="500" dirty="0">
                <a:latin typeface="Arial"/>
                <a:cs typeface="Arial"/>
                <a:hlinkClick r:id="rId4" action="ppaction://hlinksldjump"/>
              </a:rPr>
              <a:t>GPS</a:t>
            </a:r>
            <a:r>
              <a:rPr sz="500" spc="-15" dirty="0">
                <a:latin typeface="Arial"/>
                <a:cs typeface="Arial"/>
                <a:hlinkClick r:id="rId4" action="ppaction://hlinksldjump"/>
              </a:rPr>
              <a:t> </a:t>
            </a:r>
            <a:r>
              <a:rPr sz="500" dirty="0">
                <a:latin typeface="Arial"/>
                <a:cs typeface="Arial"/>
                <a:hlinkClick r:id="rId4" action="ppaction://hlinksldjump"/>
              </a:rPr>
              <a:t>is</a:t>
            </a:r>
            <a:r>
              <a:rPr sz="500" spc="-10" dirty="0">
                <a:latin typeface="Arial"/>
                <a:cs typeface="Arial"/>
                <a:hlinkClick r:id="rId4" action="ppaction://hlinksldjump"/>
              </a:rPr>
              <a:t> </a:t>
            </a:r>
            <a:r>
              <a:rPr sz="500" dirty="0">
                <a:latin typeface="Arial"/>
                <a:cs typeface="Arial"/>
                <a:hlinkClick r:id="rId4" action="ppaction://hlinksldjump"/>
              </a:rPr>
              <a:t>not</a:t>
            </a:r>
            <a:r>
              <a:rPr sz="500" spc="-15" dirty="0">
                <a:latin typeface="Arial"/>
                <a:cs typeface="Arial"/>
                <a:hlinkClick r:id="rId4" action="ppaction://hlinksldjump"/>
              </a:rPr>
              <a:t> </a:t>
            </a:r>
            <a:r>
              <a:rPr sz="500" dirty="0">
                <a:latin typeface="Arial"/>
                <a:cs typeface="Arial"/>
                <a:hlinkClick r:id="rId4" action="ppaction://hlinksldjump"/>
              </a:rPr>
              <a:t>an</a:t>
            </a:r>
            <a:r>
              <a:rPr sz="500" spc="-10" dirty="0">
                <a:latin typeface="Arial"/>
                <a:cs typeface="Arial"/>
                <a:hlinkClick r:id="rId4" action="ppaction://hlinksldjump"/>
              </a:rPr>
              <a:t> option</a:t>
            </a:r>
            <a:endParaRPr sz="500">
              <a:latin typeface="Arial"/>
              <a:cs typeface="Arial"/>
            </a:endParaRPr>
          </a:p>
        </p:txBody>
      </p:sp>
      <p:sp>
        <p:nvSpPr>
          <p:cNvPr id="14" name="object 14"/>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Tree>
    <p:extLst>
      <p:ext uri="{BB962C8B-B14F-4D97-AF65-F5344CB8AC3E}">
        <p14:creationId xmlns:p14="http://schemas.microsoft.com/office/powerpoint/2010/main" val="2299719937"/>
      </p:ext>
    </p:extLst>
  </p:cSld>
  <p:clrMapOvr>
    <a:masterClrMapping/>
  </p:clrMapOvr>
  <p:transition>
    <p:fad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8417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Coordination</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4040428" y="-1515"/>
            <a:ext cx="514350"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Location</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systems</a:t>
            </a:r>
            <a:endParaRPr sz="500">
              <a:latin typeface="Arial"/>
              <a:cs typeface="Arial"/>
            </a:endParaRPr>
          </a:p>
        </p:txBody>
      </p:sp>
      <p:sp>
        <p:nvSpPr>
          <p:cNvPr id="5" name="object 5"/>
          <p:cNvSpPr txBox="1"/>
          <p:nvPr/>
        </p:nvSpPr>
        <p:spPr>
          <a:xfrm>
            <a:off x="69900" y="197711"/>
            <a:ext cx="1943735" cy="1237615"/>
          </a:xfrm>
          <a:prstGeom prst="rect">
            <a:avLst/>
          </a:prstGeom>
        </p:spPr>
        <p:txBody>
          <a:bodyPr vert="horz" wrap="square" lIns="0" tIns="12065" rIns="0" bIns="0" rtlCol="0">
            <a:spAutoFit/>
          </a:bodyPr>
          <a:lstStyle/>
          <a:p>
            <a:pPr marL="38100">
              <a:lnSpc>
                <a:spcPct val="100000"/>
              </a:lnSpc>
              <a:spcBef>
                <a:spcPts val="95"/>
              </a:spcBef>
            </a:pPr>
            <a:r>
              <a:rPr sz="1200" dirty="0">
                <a:solidFill>
                  <a:srgbClr val="3333B2"/>
                </a:solidFill>
                <a:latin typeface="Arial"/>
                <a:cs typeface="Arial"/>
              </a:rPr>
              <a:t>Computing</a:t>
            </a:r>
            <a:r>
              <a:rPr sz="1200" spc="-65" dirty="0">
                <a:solidFill>
                  <a:srgbClr val="3333B2"/>
                </a:solidFill>
                <a:latin typeface="Arial"/>
                <a:cs typeface="Arial"/>
              </a:rPr>
              <a:t> </a:t>
            </a:r>
            <a:r>
              <a:rPr sz="1200" spc="-10" dirty="0">
                <a:solidFill>
                  <a:srgbClr val="3333B2"/>
                </a:solidFill>
                <a:latin typeface="Arial"/>
                <a:cs typeface="Arial"/>
              </a:rPr>
              <a:t>position</a:t>
            </a:r>
            <a:endParaRPr sz="1200">
              <a:latin typeface="Arial"/>
              <a:cs typeface="Arial"/>
            </a:endParaRPr>
          </a:p>
          <a:p>
            <a:pPr marL="234315">
              <a:lnSpc>
                <a:spcPct val="100000"/>
              </a:lnSpc>
              <a:spcBef>
                <a:spcPts val="1305"/>
              </a:spcBef>
            </a:pPr>
            <a:r>
              <a:rPr sz="1000" spc="-10" dirty="0">
                <a:solidFill>
                  <a:srgbClr val="3333B2"/>
                </a:solidFill>
                <a:latin typeface="Arial"/>
                <a:cs typeface="Arial"/>
              </a:rPr>
              <a:t>Problems</a:t>
            </a:r>
            <a:endParaRPr sz="1000">
              <a:latin typeface="Arial"/>
              <a:cs typeface="Arial"/>
            </a:endParaRPr>
          </a:p>
          <a:p>
            <a:pPr marL="487680" marR="334010" indent="-120650">
              <a:lnSpc>
                <a:spcPct val="111600"/>
              </a:lnSpc>
              <a:spcBef>
                <a:spcPts val="380"/>
              </a:spcBef>
              <a:buClr>
                <a:srgbClr val="3333B2"/>
              </a:buClr>
              <a:buFont typeface="Menlo"/>
              <a:buChar char="•"/>
              <a:tabLst>
                <a:tab pos="488315" algn="l"/>
              </a:tabLst>
            </a:pPr>
            <a:r>
              <a:rPr sz="900" dirty="0">
                <a:latin typeface="Arial"/>
                <a:cs typeface="Arial"/>
              </a:rPr>
              <a:t>Measured</a:t>
            </a:r>
            <a:r>
              <a:rPr sz="900" spc="-45" dirty="0">
                <a:latin typeface="Arial"/>
                <a:cs typeface="Arial"/>
              </a:rPr>
              <a:t> </a:t>
            </a:r>
            <a:r>
              <a:rPr sz="900" dirty="0">
                <a:latin typeface="Arial"/>
                <a:cs typeface="Arial"/>
              </a:rPr>
              <a:t>latencies</a:t>
            </a:r>
            <a:r>
              <a:rPr sz="900" spc="-45" dirty="0">
                <a:latin typeface="Arial"/>
                <a:cs typeface="Arial"/>
              </a:rPr>
              <a:t> </a:t>
            </a:r>
            <a:r>
              <a:rPr sz="900" spc="-25" dirty="0">
                <a:latin typeface="Arial"/>
                <a:cs typeface="Arial"/>
              </a:rPr>
              <a:t>to </a:t>
            </a:r>
            <a:r>
              <a:rPr sz="900" dirty="0">
                <a:latin typeface="Arial"/>
                <a:cs typeface="Arial"/>
              </a:rPr>
              <a:t>landmarks</a:t>
            </a:r>
            <a:r>
              <a:rPr sz="900" spc="-40" dirty="0">
                <a:latin typeface="Arial"/>
                <a:cs typeface="Arial"/>
              </a:rPr>
              <a:t> </a:t>
            </a:r>
            <a:r>
              <a:rPr sz="900" spc="-10" dirty="0">
                <a:latin typeface="Arial"/>
                <a:cs typeface="Arial"/>
              </a:rPr>
              <a:t>fluctuate</a:t>
            </a:r>
            <a:endParaRPr sz="900">
              <a:latin typeface="Arial"/>
              <a:cs typeface="Arial"/>
            </a:endParaRPr>
          </a:p>
          <a:p>
            <a:pPr marL="487680" marR="30480" indent="-120650">
              <a:lnSpc>
                <a:spcPct val="111600"/>
              </a:lnSpc>
              <a:spcBef>
                <a:spcPts val="400"/>
              </a:spcBef>
              <a:buClr>
                <a:srgbClr val="3333B2"/>
              </a:buClr>
              <a:buFont typeface="Menlo"/>
              <a:buChar char="•"/>
              <a:tabLst>
                <a:tab pos="488315" algn="l"/>
              </a:tabLst>
            </a:pPr>
            <a:r>
              <a:rPr sz="900" dirty="0">
                <a:latin typeface="Arial"/>
                <a:cs typeface="Arial"/>
              </a:rPr>
              <a:t>Computed</a:t>
            </a:r>
            <a:r>
              <a:rPr sz="900" spc="-40" dirty="0">
                <a:latin typeface="Arial"/>
                <a:cs typeface="Arial"/>
              </a:rPr>
              <a:t> </a:t>
            </a:r>
            <a:r>
              <a:rPr sz="900" dirty="0">
                <a:latin typeface="Arial"/>
                <a:cs typeface="Arial"/>
              </a:rPr>
              <a:t>distances</a:t>
            </a:r>
            <a:r>
              <a:rPr sz="900" spc="-35" dirty="0">
                <a:latin typeface="Arial"/>
                <a:cs typeface="Arial"/>
              </a:rPr>
              <a:t> </a:t>
            </a:r>
            <a:r>
              <a:rPr sz="900" dirty="0">
                <a:latin typeface="Arial"/>
                <a:cs typeface="Arial"/>
              </a:rPr>
              <a:t>will</a:t>
            </a:r>
            <a:r>
              <a:rPr sz="900" spc="-35" dirty="0">
                <a:latin typeface="Arial"/>
                <a:cs typeface="Arial"/>
              </a:rPr>
              <a:t> </a:t>
            </a:r>
            <a:r>
              <a:rPr sz="900" spc="-25" dirty="0">
                <a:latin typeface="Arial"/>
                <a:cs typeface="Arial"/>
              </a:rPr>
              <a:t>not </a:t>
            </a:r>
            <a:r>
              <a:rPr sz="900" spc="-10" dirty="0">
                <a:latin typeface="Arial"/>
                <a:cs typeface="Arial"/>
              </a:rPr>
              <a:t>even</a:t>
            </a:r>
            <a:r>
              <a:rPr sz="900" spc="-30" dirty="0">
                <a:latin typeface="Arial"/>
                <a:cs typeface="Arial"/>
              </a:rPr>
              <a:t> </a:t>
            </a:r>
            <a:r>
              <a:rPr sz="900" dirty="0">
                <a:latin typeface="Arial"/>
                <a:cs typeface="Arial"/>
              </a:rPr>
              <a:t>be</a:t>
            </a:r>
            <a:r>
              <a:rPr sz="900" spc="-25" dirty="0">
                <a:latin typeface="Arial"/>
                <a:cs typeface="Arial"/>
              </a:rPr>
              <a:t> </a:t>
            </a:r>
            <a:r>
              <a:rPr sz="900" spc="-10" dirty="0">
                <a:latin typeface="Arial"/>
                <a:cs typeface="Arial"/>
              </a:rPr>
              <a:t>consistent</a:t>
            </a:r>
            <a:endParaRPr sz="900">
              <a:latin typeface="Arial"/>
              <a:cs typeface="Arial"/>
            </a:endParaRPr>
          </a:p>
        </p:txBody>
      </p:sp>
      <p:sp>
        <p:nvSpPr>
          <p:cNvPr id="6" name="object 6"/>
          <p:cNvSpPr txBox="1"/>
          <p:nvPr/>
        </p:nvSpPr>
        <p:spPr>
          <a:xfrm>
            <a:off x="2346490" y="546625"/>
            <a:ext cx="1969770" cy="177800"/>
          </a:xfrm>
          <a:prstGeom prst="rect">
            <a:avLst/>
          </a:prstGeom>
        </p:spPr>
        <p:txBody>
          <a:bodyPr vert="horz" wrap="square" lIns="0" tIns="12065" rIns="0" bIns="0" rtlCol="0">
            <a:spAutoFit/>
          </a:bodyPr>
          <a:lstStyle/>
          <a:p>
            <a:pPr marL="12700">
              <a:lnSpc>
                <a:spcPct val="100000"/>
              </a:lnSpc>
              <a:spcBef>
                <a:spcPts val="95"/>
              </a:spcBef>
            </a:pPr>
            <a:r>
              <a:rPr sz="1000" dirty="0">
                <a:solidFill>
                  <a:srgbClr val="3333B2"/>
                </a:solidFill>
                <a:latin typeface="Arial"/>
                <a:cs typeface="Arial"/>
              </a:rPr>
              <a:t>Inconsistent</a:t>
            </a:r>
            <a:r>
              <a:rPr sz="1000" spc="-35" dirty="0">
                <a:solidFill>
                  <a:srgbClr val="3333B2"/>
                </a:solidFill>
                <a:latin typeface="Arial"/>
                <a:cs typeface="Arial"/>
              </a:rPr>
              <a:t> </a:t>
            </a:r>
            <a:r>
              <a:rPr sz="1000" dirty="0">
                <a:solidFill>
                  <a:srgbClr val="3333B2"/>
                </a:solidFill>
                <a:latin typeface="Arial"/>
                <a:cs typeface="Arial"/>
              </a:rPr>
              <a:t>distances</a:t>
            </a:r>
            <a:r>
              <a:rPr sz="1000" spc="-35" dirty="0">
                <a:solidFill>
                  <a:srgbClr val="3333B2"/>
                </a:solidFill>
                <a:latin typeface="Arial"/>
                <a:cs typeface="Arial"/>
              </a:rPr>
              <a:t> </a:t>
            </a:r>
            <a:r>
              <a:rPr sz="1000" dirty="0">
                <a:solidFill>
                  <a:srgbClr val="3333B2"/>
                </a:solidFill>
                <a:latin typeface="Arial"/>
                <a:cs typeface="Arial"/>
              </a:rPr>
              <a:t>in</a:t>
            </a:r>
            <a:r>
              <a:rPr sz="1000" spc="-35" dirty="0">
                <a:solidFill>
                  <a:srgbClr val="3333B2"/>
                </a:solidFill>
                <a:latin typeface="Arial"/>
                <a:cs typeface="Arial"/>
              </a:rPr>
              <a:t> </a:t>
            </a:r>
            <a:r>
              <a:rPr sz="1000" dirty="0">
                <a:solidFill>
                  <a:srgbClr val="3333B2"/>
                </a:solidFill>
                <a:latin typeface="Arial"/>
                <a:cs typeface="Arial"/>
              </a:rPr>
              <a:t>1D</a:t>
            </a:r>
            <a:r>
              <a:rPr sz="1000" spc="-35" dirty="0">
                <a:solidFill>
                  <a:srgbClr val="3333B2"/>
                </a:solidFill>
                <a:latin typeface="Arial"/>
                <a:cs typeface="Arial"/>
              </a:rPr>
              <a:t> </a:t>
            </a:r>
            <a:r>
              <a:rPr sz="1000" spc="-10" dirty="0">
                <a:solidFill>
                  <a:srgbClr val="3333B2"/>
                </a:solidFill>
                <a:latin typeface="Arial"/>
                <a:cs typeface="Arial"/>
              </a:rPr>
              <a:t>space</a:t>
            </a:r>
            <a:endParaRPr sz="1000">
              <a:latin typeface="Arial"/>
              <a:cs typeface="Arial"/>
            </a:endParaRPr>
          </a:p>
        </p:txBody>
      </p:sp>
      <p:pic>
        <p:nvPicPr>
          <p:cNvPr id="7" name="object 7"/>
          <p:cNvPicPr/>
          <p:nvPr/>
        </p:nvPicPr>
        <p:blipFill>
          <a:blip r:embed="rId4" cstate="print"/>
          <a:stretch>
            <a:fillRect/>
          </a:stretch>
        </p:blipFill>
        <p:spPr>
          <a:xfrm>
            <a:off x="2382545" y="823836"/>
            <a:ext cx="1897379" cy="786780"/>
          </a:xfrm>
          <a:prstGeom prst="rect">
            <a:avLst/>
          </a:prstGeom>
        </p:spPr>
      </p:pic>
      <p:sp>
        <p:nvSpPr>
          <p:cNvPr id="8" name="object 8"/>
          <p:cNvSpPr txBox="1"/>
          <p:nvPr/>
        </p:nvSpPr>
        <p:spPr>
          <a:xfrm>
            <a:off x="321894" y="1610780"/>
            <a:ext cx="3968115" cy="756285"/>
          </a:xfrm>
          <a:prstGeom prst="rect">
            <a:avLst/>
          </a:prstGeom>
        </p:spPr>
        <p:txBody>
          <a:bodyPr vert="horz" wrap="square" lIns="0" tIns="83820" rIns="0" bIns="0" rtlCol="0">
            <a:spAutoFit/>
          </a:bodyPr>
          <a:lstStyle/>
          <a:p>
            <a:pPr marL="38100">
              <a:lnSpc>
                <a:spcPct val="100000"/>
              </a:lnSpc>
              <a:spcBef>
                <a:spcPts val="660"/>
              </a:spcBef>
            </a:pPr>
            <a:r>
              <a:rPr sz="1000" dirty="0">
                <a:solidFill>
                  <a:srgbClr val="3333B2"/>
                </a:solidFill>
                <a:latin typeface="Arial"/>
                <a:cs typeface="Arial"/>
              </a:rPr>
              <a:t>Solution:</a:t>
            </a:r>
            <a:r>
              <a:rPr sz="1000" spc="5" dirty="0">
                <a:solidFill>
                  <a:srgbClr val="3333B2"/>
                </a:solidFill>
                <a:latin typeface="Arial"/>
                <a:cs typeface="Arial"/>
              </a:rPr>
              <a:t> </a:t>
            </a:r>
            <a:r>
              <a:rPr sz="1000" dirty="0">
                <a:solidFill>
                  <a:srgbClr val="3333B2"/>
                </a:solidFill>
                <a:latin typeface="Arial"/>
                <a:cs typeface="Arial"/>
              </a:rPr>
              <a:t>minimize</a:t>
            </a:r>
            <a:r>
              <a:rPr sz="1000" spc="-45" dirty="0">
                <a:solidFill>
                  <a:srgbClr val="3333B2"/>
                </a:solidFill>
                <a:latin typeface="Arial"/>
                <a:cs typeface="Arial"/>
              </a:rPr>
              <a:t> </a:t>
            </a:r>
            <a:r>
              <a:rPr sz="1000" spc="-10" dirty="0">
                <a:solidFill>
                  <a:srgbClr val="3333B2"/>
                </a:solidFill>
                <a:latin typeface="Arial"/>
                <a:cs typeface="Arial"/>
              </a:rPr>
              <a:t>errors</a:t>
            </a:r>
            <a:endParaRPr sz="1000">
              <a:latin typeface="Arial"/>
              <a:cs typeface="Arial"/>
            </a:endParaRPr>
          </a:p>
          <a:p>
            <a:pPr marL="290830" indent="-120650">
              <a:lnSpc>
                <a:spcPct val="100000"/>
              </a:lnSpc>
              <a:spcBef>
                <a:spcPts val="500"/>
              </a:spcBef>
              <a:buClr>
                <a:srgbClr val="3333B2"/>
              </a:buClr>
              <a:buFont typeface="Menlo"/>
              <a:buChar char="•"/>
              <a:tabLst>
                <a:tab pos="291465" algn="l"/>
              </a:tabLst>
            </a:pPr>
            <a:r>
              <a:rPr sz="900" dirty="0">
                <a:latin typeface="Arial"/>
                <a:cs typeface="Arial"/>
              </a:rPr>
              <a:t>Use</a:t>
            </a:r>
            <a:r>
              <a:rPr sz="900" spc="-30" dirty="0">
                <a:latin typeface="Arial"/>
                <a:cs typeface="Arial"/>
              </a:rPr>
              <a:t> </a:t>
            </a:r>
            <a:r>
              <a:rPr sz="900" i="1" dirty="0">
                <a:latin typeface="Arial"/>
                <a:cs typeface="Arial"/>
              </a:rPr>
              <a:t>N</a:t>
            </a:r>
            <a:r>
              <a:rPr sz="900" i="1" spc="50" dirty="0">
                <a:latin typeface="Arial"/>
                <a:cs typeface="Arial"/>
              </a:rPr>
              <a:t> </a:t>
            </a:r>
            <a:r>
              <a:rPr sz="900" dirty="0">
                <a:latin typeface="Arial"/>
                <a:cs typeface="Arial"/>
              </a:rPr>
              <a:t>special</a:t>
            </a:r>
            <a:r>
              <a:rPr sz="900" spc="-20" dirty="0">
                <a:latin typeface="Arial"/>
                <a:cs typeface="Arial"/>
              </a:rPr>
              <a:t> </a:t>
            </a:r>
            <a:r>
              <a:rPr sz="900" dirty="0">
                <a:solidFill>
                  <a:srgbClr val="C80000"/>
                </a:solidFill>
                <a:latin typeface="Arial"/>
                <a:cs typeface="Arial"/>
              </a:rPr>
              <a:t>landmark</a:t>
            </a:r>
            <a:r>
              <a:rPr sz="900" spc="-20" dirty="0">
                <a:solidFill>
                  <a:srgbClr val="C80000"/>
                </a:solidFill>
                <a:latin typeface="Arial"/>
                <a:cs typeface="Arial"/>
              </a:rPr>
              <a:t> </a:t>
            </a:r>
            <a:r>
              <a:rPr sz="900" dirty="0">
                <a:solidFill>
                  <a:srgbClr val="C80000"/>
                </a:solidFill>
                <a:latin typeface="Arial"/>
                <a:cs typeface="Arial"/>
              </a:rPr>
              <a:t>nodes</a:t>
            </a:r>
            <a:r>
              <a:rPr sz="900" spc="-15" dirty="0">
                <a:solidFill>
                  <a:srgbClr val="C80000"/>
                </a:solidFill>
                <a:latin typeface="Arial"/>
                <a:cs typeface="Arial"/>
              </a:rPr>
              <a:t> </a:t>
            </a:r>
            <a:r>
              <a:rPr sz="900" i="1" spc="80" dirty="0">
                <a:latin typeface="Arial"/>
                <a:cs typeface="Arial"/>
              </a:rPr>
              <a:t>L</a:t>
            </a:r>
            <a:r>
              <a:rPr sz="1050" i="1" spc="120" baseline="-15873" dirty="0">
                <a:latin typeface="Arial"/>
                <a:cs typeface="Arial"/>
              </a:rPr>
              <a:t>1</a:t>
            </a:r>
            <a:r>
              <a:rPr sz="900" i="1" spc="80" dirty="0">
                <a:latin typeface="STIX Two Text"/>
                <a:cs typeface="STIX Two Text"/>
              </a:rPr>
              <a:t>,...,</a:t>
            </a:r>
            <a:r>
              <a:rPr sz="900" i="1" spc="-105" dirty="0">
                <a:latin typeface="STIX Two Text"/>
                <a:cs typeface="STIX Two Text"/>
              </a:rPr>
              <a:t> </a:t>
            </a:r>
            <a:r>
              <a:rPr sz="900" i="1" spc="-10" dirty="0">
                <a:latin typeface="Arial"/>
                <a:cs typeface="Arial"/>
              </a:rPr>
              <a:t>L</a:t>
            </a:r>
            <a:r>
              <a:rPr sz="1050" i="1" spc="-15" baseline="-15873" dirty="0">
                <a:latin typeface="Arial"/>
                <a:cs typeface="Arial"/>
              </a:rPr>
              <a:t>N</a:t>
            </a:r>
            <a:r>
              <a:rPr sz="1050" i="1" spc="-142" baseline="-15873" dirty="0">
                <a:latin typeface="Arial"/>
                <a:cs typeface="Arial"/>
              </a:rPr>
              <a:t> </a:t>
            </a:r>
            <a:r>
              <a:rPr sz="900" spc="-50" dirty="0">
                <a:latin typeface="Arial"/>
                <a:cs typeface="Arial"/>
              </a:rPr>
              <a:t>.</a:t>
            </a:r>
            <a:endParaRPr sz="900">
              <a:latin typeface="Arial"/>
              <a:cs typeface="Arial"/>
            </a:endParaRPr>
          </a:p>
          <a:p>
            <a:pPr marL="290830" indent="-120650">
              <a:lnSpc>
                <a:spcPct val="100000"/>
              </a:lnSpc>
              <a:spcBef>
                <a:spcPts val="125"/>
              </a:spcBef>
              <a:buClr>
                <a:srgbClr val="3333B2"/>
              </a:buClr>
              <a:buFont typeface="Menlo"/>
              <a:buChar char="•"/>
              <a:tabLst>
                <a:tab pos="291465" algn="l"/>
              </a:tabLst>
            </a:pPr>
            <a:r>
              <a:rPr sz="900" dirty="0">
                <a:latin typeface="Arial"/>
                <a:cs typeface="Arial"/>
              </a:rPr>
              <a:t>Landmarks</a:t>
            </a:r>
            <a:r>
              <a:rPr sz="900" spc="-35" dirty="0">
                <a:latin typeface="Arial"/>
                <a:cs typeface="Arial"/>
              </a:rPr>
              <a:t> </a:t>
            </a:r>
            <a:r>
              <a:rPr sz="900" dirty="0">
                <a:latin typeface="Arial"/>
                <a:cs typeface="Arial"/>
              </a:rPr>
              <a:t>measure</a:t>
            </a:r>
            <a:r>
              <a:rPr sz="900" spc="-20" dirty="0">
                <a:latin typeface="Arial"/>
                <a:cs typeface="Arial"/>
              </a:rPr>
              <a:t> </a:t>
            </a:r>
            <a:r>
              <a:rPr sz="900" dirty="0">
                <a:latin typeface="Arial"/>
                <a:cs typeface="Arial"/>
              </a:rPr>
              <a:t>their</a:t>
            </a:r>
            <a:r>
              <a:rPr sz="900" spc="-15" dirty="0">
                <a:latin typeface="Arial"/>
                <a:cs typeface="Arial"/>
              </a:rPr>
              <a:t> </a:t>
            </a:r>
            <a:r>
              <a:rPr sz="900" dirty="0">
                <a:latin typeface="Arial"/>
                <a:cs typeface="Arial"/>
              </a:rPr>
              <a:t>pairwise</a:t>
            </a:r>
            <a:r>
              <a:rPr sz="900" spc="-20" dirty="0">
                <a:latin typeface="Arial"/>
                <a:cs typeface="Arial"/>
              </a:rPr>
              <a:t> </a:t>
            </a:r>
            <a:r>
              <a:rPr sz="900" dirty="0">
                <a:latin typeface="Arial"/>
                <a:cs typeface="Arial"/>
              </a:rPr>
              <a:t>latencies</a:t>
            </a:r>
            <a:r>
              <a:rPr sz="900" spc="-15" dirty="0">
                <a:latin typeface="Arial"/>
                <a:cs typeface="Arial"/>
              </a:rPr>
              <a:t> </a:t>
            </a:r>
            <a:r>
              <a:rPr sz="900" i="1" spc="-409" dirty="0">
                <a:latin typeface="Arial"/>
                <a:cs typeface="Arial"/>
              </a:rPr>
              <a:t>d</a:t>
            </a:r>
            <a:r>
              <a:rPr sz="1350" spc="142" baseline="15432" dirty="0">
                <a:latin typeface="Arial"/>
                <a:cs typeface="Arial"/>
              </a:rPr>
              <a:t>˜</a:t>
            </a:r>
            <a:r>
              <a:rPr sz="900" spc="35" dirty="0">
                <a:latin typeface="Arial"/>
                <a:cs typeface="Arial"/>
              </a:rPr>
              <a:t>(</a:t>
            </a:r>
            <a:r>
              <a:rPr sz="900" i="1" spc="35" dirty="0">
                <a:latin typeface="Arial"/>
                <a:cs typeface="Arial"/>
              </a:rPr>
              <a:t>L</a:t>
            </a:r>
            <a:r>
              <a:rPr sz="1050" i="1" spc="52" baseline="-15873" dirty="0">
                <a:latin typeface="Arial"/>
                <a:cs typeface="Arial"/>
              </a:rPr>
              <a:t>i</a:t>
            </a:r>
            <a:r>
              <a:rPr sz="1050" i="1" spc="-120" baseline="-15873" dirty="0">
                <a:latin typeface="Arial"/>
                <a:cs typeface="Arial"/>
              </a:rPr>
              <a:t> </a:t>
            </a:r>
            <a:r>
              <a:rPr sz="900" i="1" dirty="0">
                <a:latin typeface="STIX Two Text"/>
                <a:cs typeface="STIX Two Text"/>
              </a:rPr>
              <a:t>,</a:t>
            </a:r>
            <a:r>
              <a:rPr sz="900" i="1" spc="-110" dirty="0">
                <a:latin typeface="STIX Two Text"/>
                <a:cs typeface="STIX Two Text"/>
              </a:rPr>
              <a:t> </a:t>
            </a:r>
            <a:r>
              <a:rPr sz="900" i="1" spc="-10" dirty="0">
                <a:latin typeface="Arial"/>
                <a:cs typeface="Arial"/>
              </a:rPr>
              <a:t>L</a:t>
            </a:r>
            <a:r>
              <a:rPr sz="1050" i="1" spc="-15" baseline="-15873" dirty="0">
                <a:latin typeface="Arial"/>
                <a:cs typeface="Arial"/>
              </a:rPr>
              <a:t>j</a:t>
            </a:r>
            <a:r>
              <a:rPr sz="1050" i="1" spc="-127" baseline="-15873" dirty="0">
                <a:latin typeface="Arial"/>
                <a:cs typeface="Arial"/>
              </a:rPr>
              <a:t> </a:t>
            </a:r>
            <a:r>
              <a:rPr sz="900" spc="5" dirty="0">
                <a:latin typeface="Arial"/>
                <a:cs typeface="Arial"/>
              </a:rPr>
              <a:t>)</a:t>
            </a:r>
            <a:endParaRPr sz="900">
              <a:latin typeface="Arial"/>
              <a:cs typeface="Arial"/>
            </a:endParaRPr>
          </a:p>
          <a:p>
            <a:pPr marL="287020" indent="-116839">
              <a:lnSpc>
                <a:spcPct val="100000"/>
              </a:lnSpc>
              <a:spcBef>
                <a:spcPts val="125"/>
              </a:spcBef>
              <a:buClr>
                <a:srgbClr val="3333B2"/>
              </a:buClr>
              <a:buFont typeface="Menlo"/>
              <a:buChar char="•"/>
              <a:tabLst>
                <a:tab pos="287655" algn="l"/>
              </a:tabLst>
            </a:pPr>
            <a:r>
              <a:rPr sz="900" dirty="0">
                <a:latin typeface="Arial"/>
                <a:cs typeface="Arial"/>
              </a:rPr>
              <a:t>A</a:t>
            </a:r>
            <a:r>
              <a:rPr sz="900" spc="-35" dirty="0">
                <a:latin typeface="Arial"/>
                <a:cs typeface="Arial"/>
              </a:rPr>
              <a:t> </a:t>
            </a:r>
            <a:r>
              <a:rPr sz="900" dirty="0">
                <a:latin typeface="Arial"/>
                <a:cs typeface="Arial"/>
              </a:rPr>
              <a:t>central</a:t>
            </a:r>
            <a:r>
              <a:rPr sz="900" spc="-35" dirty="0">
                <a:latin typeface="Arial"/>
                <a:cs typeface="Arial"/>
              </a:rPr>
              <a:t> </a:t>
            </a:r>
            <a:r>
              <a:rPr sz="900" dirty="0">
                <a:latin typeface="Arial"/>
                <a:cs typeface="Arial"/>
              </a:rPr>
              <a:t>node</a:t>
            </a:r>
            <a:r>
              <a:rPr sz="900" spc="-30" dirty="0">
                <a:latin typeface="Arial"/>
                <a:cs typeface="Arial"/>
              </a:rPr>
              <a:t> </a:t>
            </a:r>
            <a:r>
              <a:rPr sz="900" dirty="0">
                <a:latin typeface="Arial"/>
                <a:cs typeface="Arial"/>
              </a:rPr>
              <a:t>computes</a:t>
            </a:r>
            <a:r>
              <a:rPr sz="900" spc="-35" dirty="0">
                <a:latin typeface="Arial"/>
                <a:cs typeface="Arial"/>
              </a:rPr>
              <a:t> </a:t>
            </a:r>
            <a:r>
              <a:rPr sz="900" dirty="0">
                <a:latin typeface="Arial"/>
                <a:cs typeface="Arial"/>
              </a:rPr>
              <a:t>the</a:t>
            </a:r>
            <a:r>
              <a:rPr sz="900" spc="-30" dirty="0">
                <a:latin typeface="Arial"/>
                <a:cs typeface="Arial"/>
              </a:rPr>
              <a:t> </a:t>
            </a:r>
            <a:r>
              <a:rPr sz="900" dirty="0">
                <a:latin typeface="Arial"/>
                <a:cs typeface="Arial"/>
              </a:rPr>
              <a:t>coordinates</a:t>
            </a:r>
            <a:r>
              <a:rPr sz="900" spc="-35" dirty="0">
                <a:latin typeface="Arial"/>
                <a:cs typeface="Arial"/>
              </a:rPr>
              <a:t> </a:t>
            </a:r>
            <a:r>
              <a:rPr sz="900" dirty="0">
                <a:latin typeface="Arial"/>
                <a:cs typeface="Arial"/>
              </a:rPr>
              <a:t>for</a:t>
            </a:r>
            <a:r>
              <a:rPr sz="900" spc="-30" dirty="0">
                <a:latin typeface="Arial"/>
                <a:cs typeface="Arial"/>
              </a:rPr>
              <a:t> </a:t>
            </a:r>
            <a:r>
              <a:rPr sz="900" dirty="0">
                <a:latin typeface="Arial"/>
                <a:cs typeface="Arial"/>
              </a:rPr>
              <a:t>each</a:t>
            </a:r>
            <a:r>
              <a:rPr sz="900" spc="-35" dirty="0">
                <a:latin typeface="Arial"/>
                <a:cs typeface="Arial"/>
              </a:rPr>
              <a:t> </a:t>
            </a:r>
            <a:r>
              <a:rPr sz="900" dirty="0">
                <a:latin typeface="Arial"/>
                <a:cs typeface="Arial"/>
              </a:rPr>
              <a:t>landmark,</a:t>
            </a:r>
            <a:r>
              <a:rPr sz="900" spc="-35" dirty="0">
                <a:latin typeface="Arial"/>
                <a:cs typeface="Arial"/>
              </a:rPr>
              <a:t> </a:t>
            </a:r>
            <a:r>
              <a:rPr sz="900" spc="-10" dirty="0">
                <a:latin typeface="Arial"/>
                <a:cs typeface="Arial"/>
              </a:rPr>
              <a:t>minimizing:</a:t>
            </a:r>
            <a:endParaRPr sz="900">
              <a:latin typeface="Arial"/>
              <a:cs typeface="Arial"/>
            </a:endParaRPr>
          </a:p>
        </p:txBody>
      </p:sp>
      <p:sp>
        <p:nvSpPr>
          <p:cNvPr id="20" name="object 20"/>
          <p:cNvSpPr txBox="1"/>
          <p:nvPr/>
        </p:nvSpPr>
        <p:spPr>
          <a:xfrm>
            <a:off x="570852" y="2934444"/>
            <a:ext cx="3611879" cy="162560"/>
          </a:xfrm>
          <a:prstGeom prst="rect">
            <a:avLst/>
          </a:prstGeom>
        </p:spPr>
        <p:txBody>
          <a:bodyPr vert="horz" wrap="square" lIns="0" tIns="12065" rIns="0" bIns="0" rtlCol="0">
            <a:spAutoFit/>
          </a:bodyPr>
          <a:lstStyle/>
          <a:p>
            <a:pPr marL="38100">
              <a:lnSpc>
                <a:spcPct val="100000"/>
              </a:lnSpc>
              <a:spcBef>
                <a:spcPts val="95"/>
              </a:spcBef>
            </a:pPr>
            <a:r>
              <a:rPr sz="900" dirty="0">
                <a:latin typeface="Arial"/>
                <a:cs typeface="Arial"/>
              </a:rPr>
              <a:t>where</a:t>
            </a:r>
            <a:r>
              <a:rPr sz="900" spc="-25" dirty="0">
                <a:latin typeface="Arial"/>
                <a:cs typeface="Arial"/>
              </a:rPr>
              <a:t> </a:t>
            </a:r>
            <a:r>
              <a:rPr sz="900" i="1" spc="-409" dirty="0">
                <a:latin typeface="Arial"/>
                <a:cs typeface="Arial"/>
              </a:rPr>
              <a:t>d</a:t>
            </a:r>
            <a:r>
              <a:rPr sz="1350" spc="142" baseline="15432" dirty="0">
                <a:latin typeface="Arial"/>
                <a:cs typeface="Arial"/>
              </a:rPr>
              <a:t>ˆ</a:t>
            </a:r>
            <a:r>
              <a:rPr sz="900" spc="35" dirty="0">
                <a:latin typeface="Arial"/>
                <a:cs typeface="Arial"/>
              </a:rPr>
              <a:t>(</a:t>
            </a:r>
            <a:r>
              <a:rPr sz="900" i="1" spc="35" dirty="0">
                <a:latin typeface="Arial"/>
                <a:cs typeface="Arial"/>
              </a:rPr>
              <a:t>L</a:t>
            </a:r>
            <a:r>
              <a:rPr sz="1050" i="1" spc="52" baseline="-15873" dirty="0">
                <a:latin typeface="Arial"/>
                <a:cs typeface="Arial"/>
              </a:rPr>
              <a:t>i</a:t>
            </a:r>
            <a:r>
              <a:rPr sz="1050" i="1" spc="-120" baseline="-15873" dirty="0">
                <a:latin typeface="Arial"/>
                <a:cs typeface="Arial"/>
              </a:rPr>
              <a:t> </a:t>
            </a:r>
            <a:r>
              <a:rPr sz="900" i="1" dirty="0">
                <a:latin typeface="STIX Two Text"/>
                <a:cs typeface="STIX Two Text"/>
              </a:rPr>
              <a:t>,</a:t>
            </a:r>
            <a:r>
              <a:rPr sz="900" i="1" spc="-110" dirty="0">
                <a:latin typeface="STIX Two Text"/>
                <a:cs typeface="STIX Two Text"/>
              </a:rPr>
              <a:t> </a:t>
            </a:r>
            <a:r>
              <a:rPr sz="900" i="1" spc="-10" dirty="0">
                <a:latin typeface="Arial"/>
                <a:cs typeface="Arial"/>
              </a:rPr>
              <a:t>L</a:t>
            </a:r>
            <a:r>
              <a:rPr sz="1050" i="1" spc="-15" baseline="-15873" dirty="0">
                <a:latin typeface="Arial"/>
                <a:cs typeface="Arial"/>
              </a:rPr>
              <a:t>j</a:t>
            </a:r>
            <a:r>
              <a:rPr sz="1050" i="1" spc="-127" baseline="-15873" dirty="0">
                <a:latin typeface="Arial"/>
                <a:cs typeface="Arial"/>
              </a:rPr>
              <a:t> </a:t>
            </a:r>
            <a:r>
              <a:rPr sz="900" spc="55" dirty="0">
                <a:latin typeface="Arial"/>
                <a:cs typeface="Arial"/>
              </a:rPr>
              <a:t>)</a:t>
            </a:r>
            <a:r>
              <a:rPr sz="900" spc="-10" dirty="0">
                <a:latin typeface="Arial"/>
                <a:cs typeface="Arial"/>
              </a:rPr>
              <a:t> </a:t>
            </a:r>
            <a:r>
              <a:rPr sz="900" dirty="0">
                <a:latin typeface="Arial"/>
                <a:cs typeface="Arial"/>
              </a:rPr>
              <a:t>is</a:t>
            </a:r>
            <a:r>
              <a:rPr sz="900" spc="-15" dirty="0">
                <a:latin typeface="Arial"/>
                <a:cs typeface="Arial"/>
              </a:rPr>
              <a:t> </a:t>
            </a:r>
            <a:r>
              <a:rPr sz="900" dirty="0">
                <a:latin typeface="Arial"/>
                <a:cs typeface="Arial"/>
              </a:rPr>
              <a:t>distance</a:t>
            </a:r>
            <a:r>
              <a:rPr sz="900" spc="-10" dirty="0">
                <a:latin typeface="Arial"/>
                <a:cs typeface="Arial"/>
              </a:rPr>
              <a:t> </a:t>
            </a:r>
            <a:r>
              <a:rPr sz="900" dirty="0">
                <a:latin typeface="Arial"/>
                <a:cs typeface="Arial"/>
              </a:rPr>
              <a:t>after</a:t>
            </a:r>
            <a:r>
              <a:rPr sz="900" spc="-15" dirty="0">
                <a:latin typeface="Arial"/>
                <a:cs typeface="Arial"/>
              </a:rPr>
              <a:t> </a:t>
            </a:r>
            <a:r>
              <a:rPr sz="900" dirty="0">
                <a:latin typeface="Arial"/>
                <a:cs typeface="Arial"/>
              </a:rPr>
              <a:t>nodes</a:t>
            </a:r>
            <a:r>
              <a:rPr sz="900" spc="-15" dirty="0">
                <a:latin typeface="Arial"/>
                <a:cs typeface="Arial"/>
              </a:rPr>
              <a:t> </a:t>
            </a:r>
            <a:r>
              <a:rPr sz="900" i="1" dirty="0">
                <a:latin typeface="Arial"/>
                <a:cs typeface="Arial"/>
              </a:rPr>
              <a:t>L</a:t>
            </a:r>
            <a:r>
              <a:rPr sz="1050" i="1" baseline="-15873" dirty="0">
                <a:latin typeface="Arial"/>
                <a:cs typeface="Arial"/>
              </a:rPr>
              <a:t>i</a:t>
            </a:r>
            <a:r>
              <a:rPr sz="1050" i="1" spc="225" baseline="-15873" dirty="0">
                <a:latin typeface="Arial"/>
                <a:cs typeface="Arial"/>
              </a:rPr>
              <a:t> </a:t>
            </a:r>
            <a:r>
              <a:rPr sz="900" dirty="0">
                <a:latin typeface="Arial"/>
                <a:cs typeface="Arial"/>
              </a:rPr>
              <a:t>and</a:t>
            </a:r>
            <a:r>
              <a:rPr sz="900" spc="-10" dirty="0">
                <a:latin typeface="Arial"/>
                <a:cs typeface="Arial"/>
              </a:rPr>
              <a:t> </a:t>
            </a:r>
            <a:r>
              <a:rPr sz="900" i="1" dirty="0">
                <a:latin typeface="Arial"/>
                <a:cs typeface="Arial"/>
              </a:rPr>
              <a:t>L</a:t>
            </a:r>
            <a:r>
              <a:rPr sz="1050" i="1" baseline="-15873" dirty="0">
                <a:latin typeface="Arial"/>
                <a:cs typeface="Arial"/>
              </a:rPr>
              <a:t>j</a:t>
            </a:r>
            <a:r>
              <a:rPr sz="1050" i="1" spc="225" baseline="-15873" dirty="0">
                <a:latin typeface="Arial"/>
                <a:cs typeface="Arial"/>
              </a:rPr>
              <a:t> </a:t>
            </a:r>
            <a:r>
              <a:rPr sz="900" spc="-10" dirty="0">
                <a:latin typeface="Arial"/>
                <a:cs typeface="Arial"/>
              </a:rPr>
              <a:t>have</a:t>
            </a:r>
            <a:r>
              <a:rPr sz="900" spc="-15" dirty="0">
                <a:latin typeface="Arial"/>
                <a:cs typeface="Arial"/>
              </a:rPr>
              <a:t> </a:t>
            </a:r>
            <a:r>
              <a:rPr sz="900" dirty="0">
                <a:latin typeface="Arial"/>
                <a:cs typeface="Arial"/>
              </a:rPr>
              <a:t>been</a:t>
            </a:r>
            <a:r>
              <a:rPr sz="900" spc="-10" dirty="0">
                <a:latin typeface="Arial"/>
                <a:cs typeface="Arial"/>
              </a:rPr>
              <a:t> positioned.</a:t>
            </a:r>
            <a:endParaRPr sz="900">
              <a:latin typeface="Arial"/>
              <a:cs typeface="Arial"/>
            </a:endParaRPr>
          </a:p>
        </p:txBody>
      </p:sp>
      <p:grpSp>
        <p:nvGrpSpPr>
          <p:cNvPr id="21" name="object 21"/>
          <p:cNvGrpSpPr/>
          <p:nvPr/>
        </p:nvGrpSpPr>
        <p:grpSpPr>
          <a:xfrm>
            <a:off x="0" y="3348469"/>
            <a:ext cx="4608195" cy="107950"/>
            <a:chOff x="0" y="3348469"/>
            <a:chExt cx="4608195" cy="107950"/>
          </a:xfrm>
        </p:grpSpPr>
        <p:sp>
          <p:nvSpPr>
            <p:cNvPr id="22" name="object 22"/>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23" name="object 23"/>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24" name="object 24"/>
          <p:cNvSpPr txBox="1"/>
          <p:nvPr/>
        </p:nvSpPr>
        <p:spPr>
          <a:xfrm>
            <a:off x="53467" y="3349927"/>
            <a:ext cx="80645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5" action="ppaction://hlinksldjump"/>
              </a:rPr>
              <a:t>Logical</a:t>
            </a:r>
            <a:r>
              <a:rPr sz="500" spc="-20" dirty="0">
                <a:latin typeface="Arial"/>
                <a:cs typeface="Arial"/>
                <a:hlinkClick r:id="rId5" action="ppaction://hlinksldjump"/>
              </a:rPr>
              <a:t> </a:t>
            </a:r>
            <a:r>
              <a:rPr sz="500" dirty="0">
                <a:latin typeface="Arial"/>
                <a:cs typeface="Arial"/>
                <a:hlinkClick r:id="rId5" action="ppaction://hlinksldjump"/>
              </a:rPr>
              <a:t>positioning</a:t>
            </a:r>
            <a:r>
              <a:rPr sz="500" spc="-20" dirty="0">
                <a:latin typeface="Arial"/>
                <a:cs typeface="Arial"/>
                <a:hlinkClick r:id="rId5" action="ppaction://hlinksldjump"/>
              </a:rPr>
              <a:t> </a:t>
            </a:r>
            <a:r>
              <a:rPr sz="500" dirty="0">
                <a:latin typeface="Arial"/>
                <a:cs typeface="Arial"/>
                <a:hlinkClick r:id="rId5" action="ppaction://hlinksldjump"/>
              </a:rPr>
              <a:t>of</a:t>
            </a:r>
            <a:r>
              <a:rPr sz="500" spc="-20" dirty="0">
                <a:latin typeface="Arial"/>
                <a:cs typeface="Arial"/>
                <a:hlinkClick r:id="rId5" action="ppaction://hlinksldjump"/>
              </a:rPr>
              <a:t> </a:t>
            </a:r>
            <a:r>
              <a:rPr sz="500" spc="-10" dirty="0">
                <a:latin typeface="Arial"/>
                <a:cs typeface="Arial"/>
                <a:hlinkClick r:id="rId5" action="ppaction://hlinksldjump"/>
              </a:rPr>
              <a:t>nodes</a:t>
            </a:r>
            <a:endParaRPr sz="500">
              <a:latin typeface="Arial"/>
              <a:cs typeface="Arial"/>
            </a:endParaRPr>
          </a:p>
        </p:txBody>
      </p:sp>
      <p:pic>
        <p:nvPicPr>
          <p:cNvPr id="25" name="Picture 24">
            <a:extLst>
              <a:ext uri="{FF2B5EF4-FFF2-40B4-BE49-F238E27FC236}">
                <a16:creationId xmlns:a16="http://schemas.microsoft.com/office/drawing/2014/main" id="{3206D202-4BB6-FCB0-B683-38BD852FF0B2}"/>
              </a:ext>
            </a:extLst>
          </p:cNvPr>
          <p:cNvPicPr>
            <a:picLocks noChangeAspect="1"/>
          </p:cNvPicPr>
          <p:nvPr/>
        </p:nvPicPr>
        <p:blipFill>
          <a:blip r:embed="rId6"/>
          <a:stretch>
            <a:fillRect/>
          </a:stretch>
        </p:blipFill>
        <p:spPr>
          <a:xfrm>
            <a:off x="1491613" y="2401409"/>
            <a:ext cx="1770355" cy="498691"/>
          </a:xfrm>
          <a:prstGeom prst="rect">
            <a:avLst/>
          </a:prstGeom>
        </p:spPr>
      </p:pic>
    </p:spTree>
    <p:extLst>
      <p:ext uri="{BB962C8B-B14F-4D97-AF65-F5344CB8AC3E}">
        <p14:creationId xmlns:p14="http://schemas.microsoft.com/office/powerpoint/2010/main" val="2681652467"/>
      </p:ext>
    </p:extLst>
  </p:cSld>
  <p:clrMapOvr>
    <a:masterClrMapping/>
  </p:clrMapOvr>
  <p:transition>
    <p:fade/>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999229" algn="l"/>
              </a:tabLst>
            </a:pPr>
            <a:r>
              <a:rPr sz="500" spc="-10" dirty="0">
                <a:latin typeface="Arial"/>
                <a:cs typeface="Arial"/>
                <a:hlinkClick r:id="rId2" action="ppaction://hlinksldjump"/>
              </a:rPr>
              <a:t>Coordination</a:t>
            </a:r>
            <a:r>
              <a:rPr sz="500" dirty="0">
                <a:latin typeface="Arial"/>
                <a:cs typeface="Arial"/>
              </a:rPr>
              <a:t>	</a:t>
            </a:r>
            <a:r>
              <a:rPr sz="500" dirty="0">
                <a:solidFill>
                  <a:srgbClr val="FFFFFF"/>
                </a:solidFill>
                <a:latin typeface="Arial"/>
                <a:cs typeface="Arial"/>
                <a:hlinkClick r:id="rId3" action="ppaction://hlinksldjump"/>
              </a:rPr>
              <a:t>Location</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systems</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Computing</a:t>
            </a:r>
            <a:r>
              <a:rPr spc="-65" dirty="0"/>
              <a:t> </a:t>
            </a:r>
            <a:r>
              <a:rPr spc="-10" dirty="0"/>
              <a:t>position</a:t>
            </a:r>
          </a:p>
        </p:txBody>
      </p:sp>
      <p:sp>
        <p:nvSpPr>
          <p:cNvPr id="4" name="object 4"/>
          <p:cNvSpPr txBox="1"/>
          <p:nvPr/>
        </p:nvSpPr>
        <p:spPr>
          <a:xfrm>
            <a:off x="343763" y="470520"/>
            <a:ext cx="3916045" cy="551180"/>
          </a:xfrm>
          <a:prstGeom prst="rect">
            <a:avLst/>
          </a:prstGeom>
        </p:spPr>
        <p:txBody>
          <a:bodyPr vert="horz" wrap="square" lIns="0" tIns="56515" rIns="0" bIns="0" rtlCol="0">
            <a:spAutoFit/>
          </a:bodyPr>
          <a:lstStyle/>
          <a:p>
            <a:pPr marL="15875">
              <a:lnSpc>
                <a:spcPct val="100000"/>
              </a:lnSpc>
              <a:spcBef>
                <a:spcPts val="445"/>
              </a:spcBef>
            </a:pPr>
            <a:r>
              <a:rPr sz="1000" dirty="0">
                <a:solidFill>
                  <a:srgbClr val="3333B2"/>
                </a:solidFill>
                <a:latin typeface="Arial"/>
                <a:cs typeface="Arial"/>
              </a:rPr>
              <a:t>Choosing</a:t>
            </a:r>
            <a:r>
              <a:rPr sz="1000" spc="-40" dirty="0">
                <a:solidFill>
                  <a:srgbClr val="3333B2"/>
                </a:solidFill>
                <a:latin typeface="Arial"/>
                <a:cs typeface="Arial"/>
              </a:rPr>
              <a:t> </a:t>
            </a:r>
            <a:r>
              <a:rPr sz="1000" dirty="0">
                <a:solidFill>
                  <a:srgbClr val="3333B2"/>
                </a:solidFill>
                <a:latin typeface="Arial"/>
                <a:cs typeface="Arial"/>
              </a:rPr>
              <a:t>the</a:t>
            </a:r>
            <a:r>
              <a:rPr sz="1000" spc="-40" dirty="0">
                <a:solidFill>
                  <a:srgbClr val="3333B2"/>
                </a:solidFill>
                <a:latin typeface="Arial"/>
                <a:cs typeface="Arial"/>
              </a:rPr>
              <a:t> </a:t>
            </a:r>
            <a:r>
              <a:rPr sz="1000" dirty="0">
                <a:solidFill>
                  <a:srgbClr val="3333B2"/>
                </a:solidFill>
                <a:latin typeface="Arial"/>
                <a:cs typeface="Arial"/>
              </a:rPr>
              <a:t>dimension</a:t>
            </a:r>
            <a:r>
              <a:rPr sz="1000" spc="-40" dirty="0">
                <a:solidFill>
                  <a:srgbClr val="3333B2"/>
                </a:solidFill>
                <a:latin typeface="Arial"/>
                <a:cs typeface="Arial"/>
              </a:rPr>
              <a:t> </a:t>
            </a:r>
            <a:r>
              <a:rPr sz="1000" i="1" spc="-50" dirty="0">
                <a:solidFill>
                  <a:srgbClr val="3333B2"/>
                </a:solidFill>
                <a:latin typeface="Arial"/>
                <a:cs typeface="Arial"/>
              </a:rPr>
              <a:t>m</a:t>
            </a:r>
            <a:endParaRPr sz="1000">
              <a:latin typeface="Arial"/>
              <a:cs typeface="Arial"/>
            </a:endParaRPr>
          </a:p>
          <a:p>
            <a:pPr marL="15875" marR="5080" indent="-3810">
              <a:lnSpc>
                <a:spcPct val="111600"/>
              </a:lnSpc>
              <a:spcBef>
                <a:spcPts val="180"/>
              </a:spcBef>
            </a:pPr>
            <a:r>
              <a:rPr sz="900" dirty="0">
                <a:latin typeface="Arial"/>
                <a:cs typeface="Arial"/>
              </a:rPr>
              <a:t>The</a:t>
            </a:r>
            <a:r>
              <a:rPr sz="900" spc="-25" dirty="0">
                <a:latin typeface="Arial"/>
                <a:cs typeface="Arial"/>
              </a:rPr>
              <a:t> </a:t>
            </a:r>
            <a:r>
              <a:rPr sz="900" dirty="0">
                <a:latin typeface="Arial"/>
                <a:cs typeface="Arial"/>
              </a:rPr>
              <a:t>hidden</a:t>
            </a:r>
            <a:r>
              <a:rPr sz="900" spc="-20" dirty="0">
                <a:latin typeface="Arial"/>
                <a:cs typeface="Arial"/>
              </a:rPr>
              <a:t> </a:t>
            </a:r>
            <a:r>
              <a:rPr sz="900" spc="-10" dirty="0">
                <a:latin typeface="Arial"/>
                <a:cs typeface="Arial"/>
              </a:rPr>
              <a:t>parameter</a:t>
            </a:r>
            <a:r>
              <a:rPr sz="900" spc="-20" dirty="0">
                <a:latin typeface="Arial"/>
                <a:cs typeface="Arial"/>
              </a:rPr>
              <a:t> </a:t>
            </a:r>
            <a:r>
              <a:rPr sz="900" dirty="0">
                <a:latin typeface="Arial"/>
                <a:cs typeface="Arial"/>
              </a:rPr>
              <a:t>is</a:t>
            </a:r>
            <a:r>
              <a:rPr sz="900" spc="-20" dirty="0">
                <a:latin typeface="Arial"/>
                <a:cs typeface="Arial"/>
              </a:rPr>
              <a:t> </a:t>
            </a:r>
            <a:r>
              <a:rPr sz="900" dirty="0">
                <a:latin typeface="Arial"/>
                <a:cs typeface="Arial"/>
              </a:rPr>
              <a:t>the</a:t>
            </a:r>
            <a:r>
              <a:rPr sz="900" spc="-20" dirty="0">
                <a:latin typeface="Arial"/>
                <a:cs typeface="Arial"/>
              </a:rPr>
              <a:t> </a:t>
            </a:r>
            <a:r>
              <a:rPr sz="900" spc="-10" dirty="0">
                <a:latin typeface="Arial"/>
                <a:cs typeface="Arial"/>
              </a:rPr>
              <a:t>dimension</a:t>
            </a:r>
            <a:r>
              <a:rPr sz="900" spc="-20" dirty="0">
                <a:latin typeface="Arial"/>
                <a:cs typeface="Arial"/>
              </a:rPr>
              <a:t> </a:t>
            </a:r>
            <a:r>
              <a:rPr sz="900" i="1" dirty="0">
                <a:latin typeface="Arial"/>
                <a:cs typeface="Arial"/>
              </a:rPr>
              <a:t>m </a:t>
            </a:r>
            <a:r>
              <a:rPr sz="900" dirty="0">
                <a:latin typeface="Arial"/>
                <a:cs typeface="Arial"/>
              </a:rPr>
              <a:t>with</a:t>
            </a:r>
            <a:r>
              <a:rPr sz="900" spc="-20" dirty="0">
                <a:latin typeface="Arial"/>
                <a:cs typeface="Arial"/>
              </a:rPr>
              <a:t> </a:t>
            </a:r>
            <a:r>
              <a:rPr sz="900" i="1" dirty="0">
                <a:latin typeface="Arial"/>
                <a:cs typeface="Arial"/>
              </a:rPr>
              <a:t>N </a:t>
            </a:r>
            <a:r>
              <a:rPr sz="900" i="1" spc="60" dirty="0">
                <a:latin typeface="STIX Two Text"/>
                <a:cs typeface="STIX Two Text"/>
              </a:rPr>
              <a:t>&gt;</a:t>
            </a:r>
            <a:r>
              <a:rPr sz="900" i="1" spc="-20" dirty="0">
                <a:latin typeface="STIX Two Text"/>
                <a:cs typeface="STIX Two Text"/>
              </a:rPr>
              <a:t> </a:t>
            </a:r>
            <a:r>
              <a:rPr sz="900" i="1" dirty="0">
                <a:latin typeface="Arial"/>
                <a:cs typeface="Arial"/>
              </a:rPr>
              <a:t>m</a:t>
            </a:r>
            <a:r>
              <a:rPr sz="900" dirty="0">
                <a:latin typeface="Arial"/>
                <a:cs typeface="Arial"/>
              </a:rPr>
              <a:t>.</a:t>
            </a:r>
            <a:r>
              <a:rPr sz="900" spc="35" dirty="0">
                <a:latin typeface="Arial"/>
                <a:cs typeface="Arial"/>
              </a:rPr>
              <a:t> </a:t>
            </a:r>
            <a:r>
              <a:rPr sz="900" dirty="0">
                <a:latin typeface="Arial"/>
                <a:cs typeface="Arial"/>
              </a:rPr>
              <a:t>A</a:t>
            </a:r>
            <a:r>
              <a:rPr sz="900" spc="-20" dirty="0">
                <a:latin typeface="Arial"/>
                <a:cs typeface="Arial"/>
              </a:rPr>
              <a:t> </a:t>
            </a:r>
            <a:r>
              <a:rPr sz="900" dirty="0">
                <a:latin typeface="Arial"/>
                <a:cs typeface="Arial"/>
              </a:rPr>
              <a:t>node</a:t>
            </a:r>
            <a:r>
              <a:rPr sz="900" spc="-20" dirty="0">
                <a:latin typeface="Arial"/>
                <a:cs typeface="Arial"/>
              </a:rPr>
              <a:t> </a:t>
            </a:r>
            <a:r>
              <a:rPr sz="900" i="1" dirty="0">
                <a:latin typeface="Arial"/>
                <a:cs typeface="Arial"/>
              </a:rPr>
              <a:t>P</a:t>
            </a:r>
            <a:r>
              <a:rPr sz="900" i="1" spc="40" dirty="0">
                <a:latin typeface="Arial"/>
                <a:cs typeface="Arial"/>
              </a:rPr>
              <a:t> </a:t>
            </a:r>
            <a:r>
              <a:rPr sz="900" spc="-10" dirty="0">
                <a:latin typeface="Arial"/>
                <a:cs typeface="Arial"/>
              </a:rPr>
              <a:t>measures</a:t>
            </a:r>
            <a:r>
              <a:rPr sz="900" spc="-20" dirty="0">
                <a:latin typeface="Arial"/>
                <a:cs typeface="Arial"/>
              </a:rPr>
              <a:t> </a:t>
            </a:r>
            <a:r>
              <a:rPr sz="900" spc="-25" dirty="0">
                <a:latin typeface="Arial"/>
                <a:cs typeface="Arial"/>
              </a:rPr>
              <a:t>its </a:t>
            </a:r>
            <a:r>
              <a:rPr sz="900" dirty="0">
                <a:latin typeface="Arial"/>
                <a:cs typeface="Arial"/>
              </a:rPr>
              <a:t>distance</a:t>
            </a:r>
            <a:r>
              <a:rPr sz="900" spc="-30"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each</a:t>
            </a:r>
            <a:r>
              <a:rPr sz="900" spc="-25" dirty="0">
                <a:latin typeface="Arial"/>
                <a:cs typeface="Arial"/>
              </a:rPr>
              <a:t> </a:t>
            </a:r>
            <a:r>
              <a:rPr sz="900" dirty="0">
                <a:latin typeface="Arial"/>
                <a:cs typeface="Arial"/>
              </a:rPr>
              <a:t>of</a:t>
            </a:r>
            <a:r>
              <a:rPr sz="900" spc="-25" dirty="0">
                <a:latin typeface="Arial"/>
                <a:cs typeface="Arial"/>
              </a:rPr>
              <a:t> </a:t>
            </a:r>
            <a:r>
              <a:rPr sz="900" dirty="0">
                <a:latin typeface="Arial"/>
                <a:cs typeface="Arial"/>
              </a:rPr>
              <a:t>the</a:t>
            </a:r>
            <a:r>
              <a:rPr sz="900" spc="-25" dirty="0">
                <a:latin typeface="Arial"/>
                <a:cs typeface="Arial"/>
              </a:rPr>
              <a:t> </a:t>
            </a:r>
            <a:r>
              <a:rPr sz="900" i="1" dirty="0">
                <a:latin typeface="Arial"/>
                <a:cs typeface="Arial"/>
              </a:rPr>
              <a:t>N</a:t>
            </a:r>
            <a:r>
              <a:rPr sz="900" i="1" spc="40" dirty="0">
                <a:latin typeface="Arial"/>
                <a:cs typeface="Arial"/>
              </a:rPr>
              <a:t> </a:t>
            </a:r>
            <a:r>
              <a:rPr sz="900" dirty="0">
                <a:latin typeface="Arial"/>
                <a:cs typeface="Arial"/>
              </a:rPr>
              <a:t>landmarks</a:t>
            </a:r>
            <a:r>
              <a:rPr sz="900" spc="-25" dirty="0">
                <a:latin typeface="Arial"/>
                <a:cs typeface="Arial"/>
              </a:rPr>
              <a:t> </a:t>
            </a:r>
            <a:r>
              <a:rPr sz="900" dirty="0">
                <a:latin typeface="Arial"/>
                <a:cs typeface="Arial"/>
              </a:rPr>
              <a:t>and</a:t>
            </a:r>
            <a:r>
              <a:rPr sz="900" spc="-25" dirty="0">
                <a:latin typeface="Arial"/>
                <a:cs typeface="Arial"/>
              </a:rPr>
              <a:t> </a:t>
            </a:r>
            <a:r>
              <a:rPr sz="900" dirty="0">
                <a:latin typeface="Arial"/>
                <a:cs typeface="Arial"/>
              </a:rPr>
              <a:t>computes</a:t>
            </a:r>
            <a:r>
              <a:rPr sz="900" spc="-25" dirty="0">
                <a:latin typeface="Arial"/>
                <a:cs typeface="Arial"/>
              </a:rPr>
              <a:t> </a:t>
            </a:r>
            <a:r>
              <a:rPr sz="900" dirty="0">
                <a:latin typeface="Arial"/>
                <a:cs typeface="Arial"/>
              </a:rPr>
              <a:t>its</a:t>
            </a:r>
            <a:r>
              <a:rPr sz="900" spc="-25" dirty="0">
                <a:latin typeface="Arial"/>
                <a:cs typeface="Arial"/>
              </a:rPr>
              <a:t> </a:t>
            </a:r>
            <a:r>
              <a:rPr sz="900" dirty="0">
                <a:latin typeface="Arial"/>
                <a:cs typeface="Arial"/>
              </a:rPr>
              <a:t>coordinates</a:t>
            </a:r>
            <a:r>
              <a:rPr sz="900" spc="-25" dirty="0">
                <a:latin typeface="Arial"/>
                <a:cs typeface="Arial"/>
              </a:rPr>
              <a:t> by</a:t>
            </a:r>
            <a:endParaRPr sz="900">
              <a:latin typeface="Arial"/>
              <a:cs typeface="Arial"/>
            </a:endParaRPr>
          </a:p>
        </p:txBody>
      </p:sp>
      <p:sp>
        <p:nvSpPr>
          <p:cNvPr id="5" name="object 5"/>
          <p:cNvSpPr txBox="1"/>
          <p:nvPr/>
        </p:nvSpPr>
        <p:spPr>
          <a:xfrm>
            <a:off x="347294" y="1012629"/>
            <a:ext cx="563245" cy="162560"/>
          </a:xfrm>
          <a:prstGeom prst="rect">
            <a:avLst/>
          </a:prstGeom>
        </p:spPr>
        <p:txBody>
          <a:bodyPr vert="horz" wrap="square" lIns="0" tIns="12065" rIns="0" bIns="0" rtlCol="0">
            <a:spAutoFit/>
          </a:bodyPr>
          <a:lstStyle/>
          <a:p>
            <a:pPr marL="12700">
              <a:lnSpc>
                <a:spcPct val="100000"/>
              </a:lnSpc>
              <a:spcBef>
                <a:spcPts val="95"/>
              </a:spcBef>
            </a:pPr>
            <a:r>
              <a:rPr sz="900" spc="-10" dirty="0">
                <a:latin typeface="Arial"/>
                <a:cs typeface="Arial"/>
              </a:rPr>
              <a:t>minimizing</a:t>
            </a:r>
            <a:endParaRPr sz="900">
              <a:latin typeface="Arial"/>
              <a:cs typeface="Arial"/>
            </a:endParaRPr>
          </a:p>
        </p:txBody>
      </p:sp>
      <p:sp>
        <p:nvSpPr>
          <p:cNvPr id="17" name="object 17"/>
          <p:cNvSpPr txBox="1"/>
          <p:nvPr/>
        </p:nvSpPr>
        <p:spPr>
          <a:xfrm>
            <a:off x="343204" y="1659736"/>
            <a:ext cx="3917950" cy="496570"/>
          </a:xfrm>
          <a:prstGeom prst="rect">
            <a:avLst/>
          </a:prstGeom>
        </p:spPr>
        <p:txBody>
          <a:bodyPr vert="horz" wrap="square" lIns="0" tIns="27305" rIns="0" bIns="0" rtlCol="0">
            <a:spAutoFit/>
          </a:bodyPr>
          <a:lstStyle/>
          <a:p>
            <a:pPr marL="16510">
              <a:lnSpc>
                <a:spcPct val="100000"/>
              </a:lnSpc>
              <a:spcBef>
                <a:spcPts val="215"/>
              </a:spcBef>
            </a:pPr>
            <a:r>
              <a:rPr sz="1000" spc="-10" dirty="0">
                <a:solidFill>
                  <a:srgbClr val="3333B2"/>
                </a:solidFill>
                <a:latin typeface="Arial"/>
                <a:cs typeface="Arial"/>
              </a:rPr>
              <a:t>Observation</a:t>
            </a:r>
            <a:endParaRPr sz="1000">
              <a:latin typeface="Arial"/>
              <a:cs typeface="Arial"/>
            </a:endParaRPr>
          </a:p>
          <a:p>
            <a:pPr marL="12700" marR="5080" indent="3810">
              <a:lnSpc>
                <a:spcPts val="1210"/>
              </a:lnSpc>
              <a:spcBef>
                <a:spcPts val="35"/>
              </a:spcBef>
            </a:pPr>
            <a:r>
              <a:rPr sz="900" spc="-10" dirty="0">
                <a:latin typeface="Arial"/>
                <a:cs typeface="Arial"/>
              </a:rPr>
              <a:t>Practice</a:t>
            </a:r>
            <a:r>
              <a:rPr sz="900" spc="-35" dirty="0">
                <a:latin typeface="Arial"/>
                <a:cs typeface="Arial"/>
              </a:rPr>
              <a:t> </a:t>
            </a:r>
            <a:r>
              <a:rPr sz="900" spc="-10" dirty="0">
                <a:latin typeface="Arial"/>
                <a:cs typeface="Arial"/>
              </a:rPr>
              <a:t>shows</a:t>
            </a:r>
            <a:r>
              <a:rPr sz="900" spc="-30" dirty="0">
                <a:latin typeface="Arial"/>
                <a:cs typeface="Arial"/>
              </a:rPr>
              <a:t> </a:t>
            </a:r>
            <a:r>
              <a:rPr sz="900" dirty="0">
                <a:latin typeface="Arial"/>
                <a:cs typeface="Arial"/>
              </a:rPr>
              <a:t>that</a:t>
            </a:r>
            <a:r>
              <a:rPr sz="900" spc="-30" dirty="0">
                <a:latin typeface="Arial"/>
                <a:cs typeface="Arial"/>
              </a:rPr>
              <a:t> </a:t>
            </a:r>
            <a:r>
              <a:rPr sz="900" i="1" dirty="0">
                <a:latin typeface="Arial"/>
                <a:cs typeface="Arial"/>
              </a:rPr>
              <a:t>m</a:t>
            </a:r>
            <a:r>
              <a:rPr sz="900" i="1" spc="-10" dirty="0">
                <a:latin typeface="Arial"/>
                <a:cs typeface="Arial"/>
              </a:rPr>
              <a:t> </a:t>
            </a:r>
            <a:r>
              <a:rPr sz="900" dirty="0">
                <a:latin typeface="Arial"/>
                <a:cs typeface="Arial"/>
              </a:rPr>
              <a:t>can</a:t>
            </a:r>
            <a:r>
              <a:rPr sz="900" spc="-30" dirty="0">
                <a:latin typeface="Arial"/>
                <a:cs typeface="Arial"/>
              </a:rPr>
              <a:t> </a:t>
            </a:r>
            <a:r>
              <a:rPr sz="900" dirty="0">
                <a:latin typeface="Arial"/>
                <a:cs typeface="Arial"/>
              </a:rPr>
              <a:t>be</a:t>
            </a:r>
            <a:r>
              <a:rPr sz="900" spc="-35" dirty="0">
                <a:latin typeface="Arial"/>
                <a:cs typeface="Arial"/>
              </a:rPr>
              <a:t> </a:t>
            </a:r>
            <a:r>
              <a:rPr sz="900" dirty="0">
                <a:latin typeface="Arial"/>
                <a:cs typeface="Arial"/>
              </a:rPr>
              <a:t>as</a:t>
            </a:r>
            <a:r>
              <a:rPr sz="900" spc="-30" dirty="0">
                <a:latin typeface="Arial"/>
                <a:cs typeface="Arial"/>
              </a:rPr>
              <a:t> </a:t>
            </a:r>
            <a:r>
              <a:rPr sz="900" spc="-10" dirty="0">
                <a:latin typeface="Arial"/>
                <a:cs typeface="Arial"/>
              </a:rPr>
              <a:t>small</a:t>
            </a:r>
            <a:r>
              <a:rPr sz="900" spc="-30" dirty="0">
                <a:latin typeface="Arial"/>
                <a:cs typeface="Arial"/>
              </a:rPr>
              <a:t> </a:t>
            </a:r>
            <a:r>
              <a:rPr sz="900" dirty="0">
                <a:latin typeface="Arial"/>
                <a:cs typeface="Arial"/>
              </a:rPr>
              <a:t>as</a:t>
            </a:r>
            <a:r>
              <a:rPr sz="900" spc="-30" dirty="0">
                <a:latin typeface="Arial"/>
                <a:cs typeface="Arial"/>
              </a:rPr>
              <a:t> </a:t>
            </a:r>
            <a:r>
              <a:rPr sz="900" dirty="0">
                <a:latin typeface="Arial"/>
                <a:cs typeface="Arial"/>
              </a:rPr>
              <a:t>6</a:t>
            </a:r>
            <a:r>
              <a:rPr sz="900" spc="-30" dirty="0">
                <a:latin typeface="Arial"/>
                <a:cs typeface="Arial"/>
              </a:rPr>
              <a:t> </a:t>
            </a:r>
            <a:r>
              <a:rPr sz="900" dirty="0">
                <a:latin typeface="Arial"/>
                <a:cs typeface="Arial"/>
              </a:rPr>
              <a:t>or</a:t>
            </a:r>
            <a:r>
              <a:rPr sz="900" spc="-30" dirty="0">
                <a:latin typeface="Arial"/>
                <a:cs typeface="Arial"/>
              </a:rPr>
              <a:t> </a:t>
            </a:r>
            <a:r>
              <a:rPr sz="900" dirty="0">
                <a:latin typeface="Arial"/>
                <a:cs typeface="Arial"/>
              </a:rPr>
              <a:t>7</a:t>
            </a:r>
            <a:r>
              <a:rPr sz="900" spc="-30" dirty="0">
                <a:latin typeface="Arial"/>
                <a:cs typeface="Arial"/>
              </a:rPr>
              <a:t> </a:t>
            </a:r>
            <a:r>
              <a:rPr sz="900" dirty="0">
                <a:latin typeface="Arial"/>
                <a:cs typeface="Arial"/>
              </a:rPr>
              <a:t>to</a:t>
            </a:r>
            <a:r>
              <a:rPr sz="900" spc="-30" dirty="0">
                <a:latin typeface="Arial"/>
                <a:cs typeface="Arial"/>
              </a:rPr>
              <a:t> </a:t>
            </a:r>
            <a:r>
              <a:rPr sz="900" spc="-20" dirty="0">
                <a:latin typeface="Arial"/>
                <a:cs typeface="Arial"/>
              </a:rPr>
              <a:t>achieve</a:t>
            </a:r>
            <a:r>
              <a:rPr sz="900" spc="-30" dirty="0">
                <a:latin typeface="Arial"/>
                <a:cs typeface="Arial"/>
              </a:rPr>
              <a:t> </a:t>
            </a:r>
            <a:r>
              <a:rPr sz="900" spc="-10" dirty="0">
                <a:latin typeface="Arial"/>
                <a:cs typeface="Arial"/>
              </a:rPr>
              <a:t>latency</a:t>
            </a:r>
            <a:r>
              <a:rPr sz="900" spc="-35" dirty="0">
                <a:latin typeface="Arial"/>
                <a:cs typeface="Arial"/>
              </a:rPr>
              <a:t> </a:t>
            </a:r>
            <a:r>
              <a:rPr sz="900" spc="-10" dirty="0">
                <a:latin typeface="Arial"/>
                <a:cs typeface="Arial"/>
              </a:rPr>
              <a:t>estimations </a:t>
            </a:r>
            <a:r>
              <a:rPr sz="900" dirty="0">
                <a:latin typeface="Arial"/>
                <a:cs typeface="Arial"/>
              </a:rPr>
              <a:t>within</a:t>
            </a:r>
            <a:r>
              <a:rPr sz="900" spc="-25" dirty="0">
                <a:latin typeface="Arial"/>
                <a:cs typeface="Arial"/>
              </a:rPr>
              <a:t> </a:t>
            </a:r>
            <a:r>
              <a:rPr sz="900" dirty="0">
                <a:latin typeface="Arial"/>
                <a:cs typeface="Arial"/>
              </a:rPr>
              <a:t>a</a:t>
            </a:r>
            <a:r>
              <a:rPr sz="900" spc="-25" dirty="0">
                <a:latin typeface="Arial"/>
                <a:cs typeface="Arial"/>
              </a:rPr>
              <a:t> </a:t>
            </a:r>
            <a:r>
              <a:rPr sz="900" dirty="0">
                <a:latin typeface="Arial"/>
                <a:cs typeface="Arial"/>
              </a:rPr>
              <a:t>factor</a:t>
            </a:r>
            <a:r>
              <a:rPr sz="900" spc="-25" dirty="0">
                <a:latin typeface="Arial"/>
                <a:cs typeface="Arial"/>
              </a:rPr>
              <a:t> </a:t>
            </a:r>
            <a:r>
              <a:rPr sz="900" dirty="0">
                <a:latin typeface="Arial"/>
                <a:cs typeface="Arial"/>
              </a:rPr>
              <a:t>2</a:t>
            </a:r>
            <a:r>
              <a:rPr sz="900" spc="-20" dirty="0">
                <a:latin typeface="Arial"/>
                <a:cs typeface="Arial"/>
              </a:rPr>
              <a:t> </a:t>
            </a:r>
            <a:r>
              <a:rPr sz="900" dirty="0">
                <a:latin typeface="Arial"/>
                <a:cs typeface="Arial"/>
              </a:rPr>
              <a:t>of</a:t>
            </a:r>
            <a:r>
              <a:rPr sz="900" spc="-25" dirty="0">
                <a:latin typeface="Arial"/>
                <a:cs typeface="Arial"/>
              </a:rPr>
              <a:t> </a:t>
            </a:r>
            <a:r>
              <a:rPr sz="900" dirty="0">
                <a:latin typeface="Arial"/>
                <a:cs typeface="Arial"/>
              </a:rPr>
              <a:t>the</a:t>
            </a:r>
            <a:r>
              <a:rPr sz="900" spc="-25" dirty="0">
                <a:latin typeface="Arial"/>
                <a:cs typeface="Arial"/>
              </a:rPr>
              <a:t> </a:t>
            </a:r>
            <a:r>
              <a:rPr sz="900" dirty="0">
                <a:latin typeface="Arial"/>
                <a:cs typeface="Arial"/>
              </a:rPr>
              <a:t>actual</a:t>
            </a:r>
            <a:r>
              <a:rPr sz="900" spc="-20" dirty="0">
                <a:latin typeface="Arial"/>
                <a:cs typeface="Arial"/>
              </a:rPr>
              <a:t> </a:t>
            </a:r>
            <a:r>
              <a:rPr sz="900" spc="-10" dirty="0">
                <a:latin typeface="Arial"/>
                <a:cs typeface="Arial"/>
              </a:rPr>
              <a:t>value.</a:t>
            </a:r>
            <a:endParaRPr sz="900">
              <a:latin typeface="Arial"/>
              <a:cs typeface="Arial"/>
            </a:endParaRPr>
          </a:p>
        </p:txBody>
      </p:sp>
      <p:grpSp>
        <p:nvGrpSpPr>
          <p:cNvPr id="18" name="object 18"/>
          <p:cNvGrpSpPr/>
          <p:nvPr/>
        </p:nvGrpSpPr>
        <p:grpSpPr>
          <a:xfrm>
            <a:off x="0" y="3348469"/>
            <a:ext cx="4608195" cy="107950"/>
            <a:chOff x="0" y="3348469"/>
            <a:chExt cx="4608195" cy="107950"/>
          </a:xfrm>
        </p:grpSpPr>
        <p:sp>
          <p:nvSpPr>
            <p:cNvPr id="19" name="object 19"/>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20" name="object 20"/>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21" name="object 21"/>
          <p:cNvSpPr txBox="1"/>
          <p:nvPr/>
        </p:nvSpPr>
        <p:spPr>
          <a:xfrm>
            <a:off x="53467" y="3349927"/>
            <a:ext cx="80645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Logical</a:t>
            </a:r>
            <a:r>
              <a:rPr sz="500" spc="-20" dirty="0">
                <a:latin typeface="Arial"/>
                <a:cs typeface="Arial"/>
                <a:hlinkClick r:id="rId4" action="ppaction://hlinksldjump"/>
              </a:rPr>
              <a:t> </a:t>
            </a:r>
            <a:r>
              <a:rPr sz="500" dirty="0">
                <a:latin typeface="Arial"/>
                <a:cs typeface="Arial"/>
                <a:hlinkClick r:id="rId4" action="ppaction://hlinksldjump"/>
              </a:rPr>
              <a:t>positioning</a:t>
            </a:r>
            <a:r>
              <a:rPr sz="500" spc="-20" dirty="0">
                <a:latin typeface="Arial"/>
                <a:cs typeface="Arial"/>
                <a:hlinkClick r:id="rId4" action="ppaction://hlinksldjump"/>
              </a:rPr>
              <a:t> </a:t>
            </a:r>
            <a:r>
              <a:rPr sz="500" dirty="0">
                <a:latin typeface="Arial"/>
                <a:cs typeface="Arial"/>
                <a:hlinkClick r:id="rId4" action="ppaction://hlinksldjump"/>
              </a:rPr>
              <a:t>of</a:t>
            </a:r>
            <a:r>
              <a:rPr sz="500" spc="-20" dirty="0">
                <a:latin typeface="Arial"/>
                <a:cs typeface="Arial"/>
                <a:hlinkClick r:id="rId4" action="ppaction://hlinksldjump"/>
              </a:rPr>
              <a:t> </a:t>
            </a:r>
            <a:r>
              <a:rPr sz="500" spc="-10" dirty="0">
                <a:latin typeface="Arial"/>
                <a:cs typeface="Arial"/>
                <a:hlinkClick r:id="rId4" action="ppaction://hlinksldjump"/>
              </a:rPr>
              <a:t>nodes</a:t>
            </a:r>
            <a:endParaRPr sz="500">
              <a:latin typeface="Arial"/>
              <a:cs typeface="Arial"/>
            </a:endParaRPr>
          </a:p>
        </p:txBody>
      </p:sp>
      <p:pic>
        <p:nvPicPr>
          <p:cNvPr id="22" name="Picture 21">
            <a:extLst>
              <a:ext uri="{FF2B5EF4-FFF2-40B4-BE49-F238E27FC236}">
                <a16:creationId xmlns:a16="http://schemas.microsoft.com/office/drawing/2014/main" id="{D1B145F3-7093-FF02-BD11-E73B413E015D}"/>
              </a:ext>
            </a:extLst>
          </p:cNvPr>
          <p:cNvPicPr>
            <a:picLocks noChangeAspect="1"/>
          </p:cNvPicPr>
          <p:nvPr/>
        </p:nvPicPr>
        <p:blipFill>
          <a:blip r:embed="rId5"/>
          <a:stretch>
            <a:fillRect/>
          </a:stretch>
        </p:blipFill>
        <p:spPr>
          <a:xfrm>
            <a:off x="1530260" y="1093909"/>
            <a:ext cx="1543050" cy="532626"/>
          </a:xfrm>
          <a:prstGeom prst="rect">
            <a:avLst/>
          </a:prstGeom>
        </p:spPr>
      </p:pic>
    </p:spTree>
    <p:extLst>
      <p:ext uri="{BB962C8B-B14F-4D97-AF65-F5344CB8AC3E}">
        <p14:creationId xmlns:p14="http://schemas.microsoft.com/office/powerpoint/2010/main" val="4064941370"/>
      </p:ext>
    </p:extLst>
  </p:cSld>
  <p:clrMapOvr>
    <a:masterClrMapping/>
  </p:clrMapOvr>
  <p:transition>
    <p:fade/>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999229" algn="l"/>
              </a:tabLst>
            </a:pPr>
            <a:r>
              <a:rPr sz="500" spc="-10" dirty="0">
                <a:latin typeface="Arial"/>
                <a:cs typeface="Arial"/>
                <a:hlinkClick r:id="rId2" action="ppaction://hlinksldjump"/>
              </a:rPr>
              <a:t>Coordination</a:t>
            </a:r>
            <a:r>
              <a:rPr sz="500" dirty="0">
                <a:latin typeface="Arial"/>
                <a:cs typeface="Arial"/>
              </a:rPr>
              <a:t>	</a:t>
            </a:r>
            <a:r>
              <a:rPr sz="500" dirty="0">
                <a:solidFill>
                  <a:srgbClr val="FFFFFF"/>
                </a:solidFill>
                <a:latin typeface="Arial"/>
                <a:cs typeface="Arial"/>
                <a:hlinkClick r:id="rId3" action="ppaction://hlinksldjump"/>
              </a:rPr>
              <a:t>Location</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systems</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0" dirty="0"/>
              <a:t>Vivaldi</a:t>
            </a: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80645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Logical</a:t>
            </a:r>
            <a:r>
              <a:rPr sz="500" spc="-20" dirty="0">
                <a:latin typeface="Arial"/>
                <a:cs typeface="Arial"/>
                <a:hlinkClick r:id="rId4" action="ppaction://hlinksldjump"/>
              </a:rPr>
              <a:t> </a:t>
            </a:r>
            <a:r>
              <a:rPr sz="500" dirty="0">
                <a:latin typeface="Arial"/>
                <a:cs typeface="Arial"/>
                <a:hlinkClick r:id="rId4" action="ppaction://hlinksldjump"/>
              </a:rPr>
              <a:t>positioning</a:t>
            </a:r>
            <a:r>
              <a:rPr sz="500" spc="-20" dirty="0">
                <a:latin typeface="Arial"/>
                <a:cs typeface="Arial"/>
                <a:hlinkClick r:id="rId4" action="ppaction://hlinksldjump"/>
              </a:rPr>
              <a:t> </a:t>
            </a:r>
            <a:r>
              <a:rPr sz="500" dirty="0">
                <a:latin typeface="Arial"/>
                <a:cs typeface="Arial"/>
                <a:hlinkClick r:id="rId4" action="ppaction://hlinksldjump"/>
              </a:rPr>
              <a:t>of</a:t>
            </a:r>
            <a:r>
              <a:rPr sz="500" spc="-20" dirty="0">
                <a:latin typeface="Arial"/>
                <a:cs typeface="Arial"/>
                <a:hlinkClick r:id="rId4" action="ppaction://hlinksldjump"/>
              </a:rPr>
              <a:t> </a:t>
            </a:r>
            <a:r>
              <a:rPr sz="500" spc="-10" dirty="0">
                <a:latin typeface="Arial"/>
                <a:cs typeface="Arial"/>
                <a:hlinkClick r:id="rId4" action="ppaction://hlinksldjump"/>
              </a:rPr>
              <a:t>nodes</a:t>
            </a:r>
            <a:endParaRPr sz="500">
              <a:latin typeface="Arial"/>
              <a:cs typeface="Arial"/>
            </a:endParaRPr>
          </a:p>
        </p:txBody>
      </p:sp>
      <p:pic>
        <p:nvPicPr>
          <p:cNvPr id="10" name="Picture 9">
            <a:extLst>
              <a:ext uri="{FF2B5EF4-FFF2-40B4-BE49-F238E27FC236}">
                <a16:creationId xmlns:a16="http://schemas.microsoft.com/office/drawing/2014/main" id="{09C95588-9A34-2621-8AF7-FBDE56D2A428}"/>
              </a:ext>
            </a:extLst>
          </p:cNvPr>
          <p:cNvPicPr>
            <a:picLocks noChangeAspect="1"/>
          </p:cNvPicPr>
          <p:nvPr/>
        </p:nvPicPr>
        <p:blipFill>
          <a:blip r:embed="rId5"/>
          <a:stretch>
            <a:fillRect/>
          </a:stretch>
        </p:blipFill>
        <p:spPr>
          <a:xfrm>
            <a:off x="154122" y="520234"/>
            <a:ext cx="4400860" cy="2400113"/>
          </a:xfrm>
          <a:prstGeom prst="rect">
            <a:avLst/>
          </a:prstGeom>
        </p:spPr>
      </p:pic>
    </p:spTree>
    <p:extLst>
      <p:ext uri="{BB962C8B-B14F-4D97-AF65-F5344CB8AC3E}">
        <p14:creationId xmlns:p14="http://schemas.microsoft.com/office/powerpoint/2010/main" val="2189307902"/>
      </p:ext>
    </p:extLst>
  </p:cSld>
  <p:clrMapOvr>
    <a:masterClrMapping/>
  </p:clrMapOvr>
  <p:transition>
    <p:fad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8417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Coordination</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784028" y="-1515"/>
            <a:ext cx="770890"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Distributed</a:t>
            </a:r>
            <a:r>
              <a:rPr sz="500" spc="-20"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event</a:t>
            </a:r>
            <a:r>
              <a:rPr sz="500" spc="-1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matching</a:t>
            </a:r>
            <a:endParaRPr sz="500">
              <a:latin typeface="Arial"/>
              <a:cs typeface="Arial"/>
            </a:endParaRPr>
          </a:p>
        </p:txBody>
      </p:sp>
      <p:sp>
        <p:nvSpPr>
          <p:cNvPr id="5" name="object 5"/>
          <p:cNvSpPr txBox="1"/>
          <p:nvPr/>
        </p:nvSpPr>
        <p:spPr>
          <a:xfrm>
            <a:off x="95300" y="197711"/>
            <a:ext cx="1814195" cy="20764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Distributed</a:t>
            </a:r>
            <a:r>
              <a:rPr sz="1200" spc="-65" dirty="0">
                <a:solidFill>
                  <a:srgbClr val="3333B2"/>
                </a:solidFill>
                <a:latin typeface="Arial"/>
                <a:cs typeface="Arial"/>
              </a:rPr>
              <a:t> </a:t>
            </a:r>
            <a:r>
              <a:rPr sz="1200" spc="-10" dirty="0">
                <a:solidFill>
                  <a:srgbClr val="3333B2"/>
                </a:solidFill>
                <a:latin typeface="Arial"/>
                <a:cs typeface="Arial"/>
              </a:rPr>
              <a:t>event</a:t>
            </a:r>
            <a:r>
              <a:rPr sz="1200" spc="-65" dirty="0">
                <a:solidFill>
                  <a:srgbClr val="3333B2"/>
                </a:solidFill>
                <a:latin typeface="Arial"/>
                <a:cs typeface="Arial"/>
              </a:rPr>
              <a:t> </a:t>
            </a:r>
            <a:r>
              <a:rPr sz="1200" spc="-10" dirty="0">
                <a:solidFill>
                  <a:srgbClr val="3333B2"/>
                </a:solidFill>
                <a:latin typeface="Arial"/>
                <a:cs typeface="Arial"/>
              </a:rPr>
              <a:t>matching</a:t>
            </a:r>
            <a:endParaRPr sz="1200">
              <a:latin typeface="Arial"/>
              <a:cs typeface="Arial"/>
            </a:endParaRPr>
          </a:p>
        </p:txBody>
      </p:sp>
      <p:pic>
        <p:nvPicPr>
          <p:cNvPr id="6" name="object 6"/>
          <p:cNvPicPr/>
          <p:nvPr/>
        </p:nvPicPr>
        <p:blipFill>
          <a:blip r:embed="rId4" cstate="print"/>
          <a:stretch>
            <a:fillRect/>
          </a:stretch>
        </p:blipFill>
        <p:spPr>
          <a:xfrm>
            <a:off x="735558" y="572968"/>
            <a:ext cx="3144591" cy="1092890"/>
          </a:xfrm>
          <a:prstGeom prst="rect">
            <a:avLst/>
          </a:prstGeom>
        </p:spPr>
      </p:pic>
      <p:sp>
        <p:nvSpPr>
          <p:cNvPr id="7" name="object 7"/>
          <p:cNvSpPr txBox="1"/>
          <p:nvPr/>
        </p:nvSpPr>
        <p:spPr>
          <a:xfrm>
            <a:off x="321894" y="1792330"/>
            <a:ext cx="3797935" cy="759460"/>
          </a:xfrm>
          <a:prstGeom prst="rect">
            <a:avLst/>
          </a:prstGeom>
        </p:spPr>
        <p:txBody>
          <a:bodyPr vert="horz" wrap="square" lIns="0" tIns="12065" rIns="0" bIns="0" rtlCol="0">
            <a:spAutoFit/>
          </a:bodyPr>
          <a:lstStyle/>
          <a:p>
            <a:pPr marL="38100">
              <a:lnSpc>
                <a:spcPct val="100000"/>
              </a:lnSpc>
              <a:spcBef>
                <a:spcPts val="95"/>
              </a:spcBef>
            </a:pPr>
            <a:r>
              <a:rPr sz="1000" spc="-10" dirty="0">
                <a:solidFill>
                  <a:srgbClr val="3333B2"/>
                </a:solidFill>
                <a:latin typeface="Arial"/>
                <a:cs typeface="Arial"/>
              </a:rPr>
              <a:t>Principle</a:t>
            </a:r>
            <a:endParaRPr sz="1000">
              <a:latin typeface="Arial"/>
              <a:cs typeface="Arial"/>
            </a:endParaRPr>
          </a:p>
          <a:p>
            <a:pPr marL="287020" indent="-116839">
              <a:lnSpc>
                <a:spcPct val="100000"/>
              </a:lnSpc>
              <a:spcBef>
                <a:spcPts val="695"/>
              </a:spcBef>
              <a:buClr>
                <a:srgbClr val="3333B2"/>
              </a:buClr>
              <a:buFont typeface="Menlo"/>
              <a:buChar char="•"/>
              <a:tabLst>
                <a:tab pos="287655" algn="l"/>
              </a:tabLst>
            </a:pPr>
            <a:r>
              <a:rPr sz="900" dirty="0">
                <a:latin typeface="Arial"/>
                <a:cs typeface="Arial"/>
              </a:rPr>
              <a:t>A</a:t>
            </a:r>
            <a:r>
              <a:rPr sz="900" spc="-30" dirty="0">
                <a:latin typeface="Arial"/>
                <a:cs typeface="Arial"/>
              </a:rPr>
              <a:t> </a:t>
            </a:r>
            <a:r>
              <a:rPr sz="900" dirty="0">
                <a:latin typeface="Arial"/>
                <a:cs typeface="Arial"/>
              </a:rPr>
              <a:t>process</a:t>
            </a:r>
            <a:r>
              <a:rPr sz="900" spc="-25" dirty="0">
                <a:latin typeface="Arial"/>
                <a:cs typeface="Arial"/>
              </a:rPr>
              <a:t> </a:t>
            </a:r>
            <a:r>
              <a:rPr sz="900" dirty="0">
                <a:latin typeface="Arial"/>
                <a:cs typeface="Arial"/>
              </a:rPr>
              <a:t>specifies</a:t>
            </a:r>
            <a:r>
              <a:rPr sz="900" spc="-25" dirty="0">
                <a:latin typeface="Arial"/>
                <a:cs typeface="Arial"/>
              </a:rPr>
              <a:t> </a:t>
            </a:r>
            <a:r>
              <a:rPr sz="900" dirty="0">
                <a:latin typeface="Arial"/>
                <a:cs typeface="Arial"/>
              </a:rPr>
              <a:t>in</a:t>
            </a:r>
            <a:r>
              <a:rPr sz="900" spc="-30" dirty="0">
                <a:latin typeface="Arial"/>
                <a:cs typeface="Arial"/>
              </a:rPr>
              <a:t> </a:t>
            </a:r>
            <a:r>
              <a:rPr sz="900" dirty="0">
                <a:latin typeface="Arial"/>
                <a:cs typeface="Arial"/>
              </a:rPr>
              <a:t>which</a:t>
            </a:r>
            <a:r>
              <a:rPr sz="900" spc="-25" dirty="0">
                <a:latin typeface="Arial"/>
                <a:cs typeface="Arial"/>
              </a:rPr>
              <a:t> </a:t>
            </a:r>
            <a:r>
              <a:rPr sz="900" spc="-10" dirty="0">
                <a:latin typeface="Arial"/>
                <a:cs typeface="Arial"/>
              </a:rPr>
              <a:t>events</a:t>
            </a:r>
            <a:r>
              <a:rPr sz="900" spc="-25" dirty="0">
                <a:latin typeface="Arial"/>
                <a:cs typeface="Arial"/>
              </a:rPr>
              <a:t> </a:t>
            </a:r>
            <a:r>
              <a:rPr sz="900" dirty="0">
                <a:latin typeface="Arial"/>
                <a:cs typeface="Arial"/>
              </a:rPr>
              <a:t>it</a:t>
            </a:r>
            <a:r>
              <a:rPr sz="900" spc="-30" dirty="0">
                <a:latin typeface="Arial"/>
                <a:cs typeface="Arial"/>
              </a:rPr>
              <a:t> </a:t>
            </a:r>
            <a:r>
              <a:rPr sz="900" dirty="0">
                <a:latin typeface="Arial"/>
                <a:cs typeface="Arial"/>
              </a:rPr>
              <a:t>is</a:t>
            </a:r>
            <a:r>
              <a:rPr sz="900" spc="-25" dirty="0">
                <a:latin typeface="Arial"/>
                <a:cs typeface="Arial"/>
              </a:rPr>
              <a:t> </a:t>
            </a:r>
            <a:r>
              <a:rPr sz="900" dirty="0">
                <a:latin typeface="Arial"/>
                <a:cs typeface="Arial"/>
              </a:rPr>
              <a:t>interested</a:t>
            </a:r>
            <a:r>
              <a:rPr sz="900" spc="-25" dirty="0">
                <a:latin typeface="Arial"/>
                <a:cs typeface="Arial"/>
              </a:rPr>
              <a:t> </a:t>
            </a:r>
            <a:r>
              <a:rPr sz="900" dirty="0">
                <a:latin typeface="Arial"/>
                <a:cs typeface="Arial"/>
              </a:rPr>
              <a:t>(</a:t>
            </a:r>
            <a:r>
              <a:rPr sz="900" dirty="0">
                <a:solidFill>
                  <a:srgbClr val="C80000"/>
                </a:solidFill>
                <a:latin typeface="Arial"/>
                <a:cs typeface="Arial"/>
              </a:rPr>
              <a:t>subscription</a:t>
            </a:r>
            <a:r>
              <a:rPr sz="900" spc="-30" dirty="0">
                <a:solidFill>
                  <a:srgbClr val="C80000"/>
                </a:solidFill>
                <a:latin typeface="Arial"/>
                <a:cs typeface="Arial"/>
              </a:rPr>
              <a:t> </a:t>
            </a:r>
            <a:r>
              <a:rPr sz="900" i="1" spc="-25" dirty="0">
                <a:latin typeface="Arial"/>
                <a:cs typeface="Arial"/>
              </a:rPr>
              <a:t>S</a:t>
            </a:r>
            <a:r>
              <a:rPr sz="900" spc="-25" dirty="0">
                <a:latin typeface="Arial"/>
                <a:cs typeface="Arial"/>
              </a:rPr>
              <a:t>)</a:t>
            </a:r>
            <a:endParaRPr sz="900">
              <a:latin typeface="Arial"/>
              <a:cs typeface="Arial"/>
            </a:endParaRPr>
          </a:p>
          <a:p>
            <a:pPr marL="285750" indent="-115570">
              <a:lnSpc>
                <a:spcPct val="100000"/>
              </a:lnSpc>
              <a:spcBef>
                <a:spcPts val="525"/>
              </a:spcBef>
              <a:buClr>
                <a:srgbClr val="3333B2"/>
              </a:buClr>
              <a:buFont typeface="Menlo"/>
              <a:buChar char="•"/>
              <a:tabLst>
                <a:tab pos="286385" algn="l"/>
              </a:tabLst>
            </a:pPr>
            <a:r>
              <a:rPr sz="900" dirty="0">
                <a:latin typeface="Arial"/>
                <a:cs typeface="Arial"/>
              </a:rPr>
              <a:t>When</a:t>
            </a:r>
            <a:r>
              <a:rPr sz="900" spc="-20" dirty="0">
                <a:latin typeface="Arial"/>
                <a:cs typeface="Arial"/>
              </a:rPr>
              <a:t> </a:t>
            </a:r>
            <a:r>
              <a:rPr sz="900" dirty="0">
                <a:latin typeface="Arial"/>
                <a:cs typeface="Arial"/>
              </a:rPr>
              <a:t>a</a:t>
            </a:r>
            <a:r>
              <a:rPr sz="900" spc="-20" dirty="0">
                <a:latin typeface="Arial"/>
                <a:cs typeface="Arial"/>
              </a:rPr>
              <a:t> </a:t>
            </a:r>
            <a:r>
              <a:rPr sz="900" dirty="0">
                <a:latin typeface="Arial"/>
                <a:cs typeface="Arial"/>
              </a:rPr>
              <a:t>process</a:t>
            </a:r>
            <a:r>
              <a:rPr sz="900" spc="-20" dirty="0">
                <a:latin typeface="Arial"/>
                <a:cs typeface="Arial"/>
              </a:rPr>
              <a:t> </a:t>
            </a:r>
            <a:r>
              <a:rPr sz="900" spc="-10" dirty="0">
                <a:solidFill>
                  <a:srgbClr val="C80000"/>
                </a:solidFill>
                <a:latin typeface="Arial"/>
                <a:cs typeface="Arial"/>
              </a:rPr>
              <a:t>publishes</a:t>
            </a:r>
            <a:r>
              <a:rPr sz="900" spc="-20" dirty="0">
                <a:solidFill>
                  <a:srgbClr val="C80000"/>
                </a:solidFill>
                <a:latin typeface="Arial"/>
                <a:cs typeface="Arial"/>
              </a:rPr>
              <a:t> </a:t>
            </a:r>
            <a:r>
              <a:rPr sz="900" dirty="0">
                <a:solidFill>
                  <a:srgbClr val="C80000"/>
                </a:solidFill>
                <a:latin typeface="Arial"/>
                <a:cs typeface="Arial"/>
              </a:rPr>
              <a:t>a</a:t>
            </a:r>
            <a:r>
              <a:rPr sz="900" spc="-20" dirty="0">
                <a:solidFill>
                  <a:srgbClr val="C80000"/>
                </a:solidFill>
                <a:latin typeface="Arial"/>
                <a:cs typeface="Arial"/>
              </a:rPr>
              <a:t> </a:t>
            </a:r>
            <a:r>
              <a:rPr sz="900" dirty="0">
                <a:solidFill>
                  <a:srgbClr val="C80000"/>
                </a:solidFill>
                <a:latin typeface="Arial"/>
                <a:cs typeface="Arial"/>
              </a:rPr>
              <a:t>notification</a:t>
            </a:r>
            <a:r>
              <a:rPr sz="900" spc="-20" dirty="0">
                <a:solidFill>
                  <a:srgbClr val="C80000"/>
                </a:solidFill>
                <a:latin typeface="Arial"/>
                <a:cs typeface="Arial"/>
              </a:rPr>
              <a:t> </a:t>
            </a:r>
            <a:r>
              <a:rPr sz="900" i="1" dirty="0">
                <a:latin typeface="Arial"/>
                <a:cs typeface="Arial"/>
              </a:rPr>
              <a:t>N</a:t>
            </a:r>
            <a:r>
              <a:rPr sz="900" i="1" spc="45" dirty="0">
                <a:latin typeface="Arial"/>
                <a:cs typeface="Arial"/>
              </a:rPr>
              <a:t> </a:t>
            </a:r>
            <a:r>
              <a:rPr sz="900" dirty="0">
                <a:latin typeface="Arial"/>
                <a:cs typeface="Arial"/>
              </a:rPr>
              <a:t>we</a:t>
            </a:r>
            <a:r>
              <a:rPr sz="900" spc="-20" dirty="0">
                <a:latin typeface="Arial"/>
                <a:cs typeface="Arial"/>
              </a:rPr>
              <a:t> </a:t>
            </a:r>
            <a:r>
              <a:rPr sz="900" dirty="0">
                <a:latin typeface="Arial"/>
                <a:cs typeface="Arial"/>
              </a:rPr>
              <a:t>need</a:t>
            </a:r>
            <a:r>
              <a:rPr sz="900" spc="-15" dirty="0">
                <a:latin typeface="Arial"/>
                <a:cs typeface="Arial"/>
              </a:rPr>
              <a:t> </a:t>
            </a:r>
            <a:r>
              <a:rPr sz="900" dirty="0">
                <a:latin typeface="Arial"/>
                <a:cs typeface="Arial"/>
              </a:rPr>
              <a:t>to</a:t>
            </a:r>
            <a:r>
              <a:rPr sz="900" spc="-20" dirty="0">
                <a:latin typeface="Arial"/>
                <a:cs typeface="Arial"/>
              </a:rPr>
              <a:t> </a:t>
            </a:r>
            <a:r>
              <a:rPr sz="900" dirty="0">
                <a:latin typeface="Arial"/>
                <a:cs typeface="Arial"/>
              </a:rPr>
              <a:t>see</a:t>
            </a:r>
            <a:r>
              <a:rPr sz="900" spc="-20" dirty="0">
                <a:latin typeface="Arial"/>
                <a:cs typeface="Arial"/>
              </a:rPr>
              <a:t> </a:t>
            </a:r>
            <a:r>
              <a:rPr sz="900" dirty="0">
                <a:latin typeface="Arial"/>
                <a:cs typeface="Arial"/>
              </a:rPr>
              <a:t>whether</a:t>
            </a:r>
            <a:r>
              <a:rPr sz="900" spc="-20" dirty="0">
                <a:latin typeface="Arial"/>
                <a:cs typeface="Arial"/>
              </a:rPr>
              <a:t> </a:t>
            </a:r>
            <a:r>
              <a:rPr sz="900" i="1" spc="-50" dirty="0">
                <a:latin typeface="Arial"/>
                <a:cs typeface="Arial"/>
              </a:rPr>
              <a:t>S</a:t>
            </a:r>
            <a:endParaRPr sz="900">
              <a:latin typeface="Arial"/>
              <a:cs typeface="Arial"/>
            </a:endParaRPr>
          </a:p>
          <a:p>
            <a:pPr marL="290830">
              <a:lnSpc>
                <a:spcPct val="100000"/>
              </a:lnSpc>
              <a:spcBef>
                <a:spcPts val="125"/>
              </a:spcBef>
            </a:pPr>
            <a:r>
              <a:rPr sz="900" dirty="0">
                <a:solidFill>
                  <a:srgbClr val="3333B2"/>
                </a:solidFill>
                <a:latin typeface="Arial"/>
                <a:cs typeface="Arial"/>
              </a:rPr>
              <a:t>matches</a:t>
            </a:r>
            <a:r>
              <a:rPr sz="900" spc="-40" dirty="0">
                <a:solidFill>
                  <a:srgbClr val="3333B2"/>
                </a:solidFill>
                <a:latin typeface="Arial"/>
                <a:cs typeface="Arial"/>
              </a:rPr>
              <a:t> </a:t>
            </a:r>
            <a:r>
              <a:rPr sz="900" i="1" spc="-25" dirty="0">
                <a:latin typeface="Arial"/>
                <a:cs typeface="Arial"/>
              </a:rPr>
              <a:t>N</a:t>
            </a:r>
            <a:r>
              <a:rPr sz="900" spc="-25" dirty="0">
                <a:latin typeface="Arial"/>
                <a:cs typeface="Arial"/>
              </a:rPr>
              <a:t>.</a:t>
            </a:r>
            <a:endParaRPr sz="900">
              <a:latin typeface="Arial"/>
              <a:cs typeface="Arial"/>
            </a:endParaRPr>
          </a:p>
        </p:txBody>
      </p:sp>
      <p:grpSp>
        <p:nvGrpSpPr>
          <p:cNvPr id="8" name="object 8"/>
          <p:cNvGrpSpPr/>
          <p:nvPr/>
        </p:nvGrpSpPr>
        <p:grpSpPr>
          <a:xfrm>
            <a:off x="0" y="3348469"/>
            <a:ext cx="4608195" cy="107950"/>
            <a:chOff x="0" y="3348469"/>
            <a:chExt cx="4608195" cy="107950"/>
          </a:xfrm>
        </p:grpSpPr>
        <p:sp>
          <p:nvSpPr>
            <p:cNvPr id="9" name="object 9"/>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0" name="object 10"/>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Tree>
    <p:extLst>
      <p:ext uri="{BB962C8B-B14F-4D97-AF65-F5344CB8AC3E}">
        <p14:creationId xmlns:p14="http://schemas.microsoft.com/office/powerpoint/2010/main" val="105716257"/>
      </p:ext>
    </p:extLst>
  </p:cSld>
  <p:clrMapOvr>
    <a:masterClrMapping/>
  </p:clrMapOvr>
  <p:transition>
    <p:fade/>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8417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Coordination</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784028" y="-1515"/>
            <a:ext cx="770890"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Distributed</a:t>
            </a:r>
            <a:r>
              <a:rPr sz="500" spc="-20"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event</a:t>
            </a:r>
            <a:r>
              <a:rPr sz="500" spc="-1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matching</a:t>
            </a:r>
            <a:endParaRPr sz="500">
              <a:latin typeface="Arial"/>
              <a:cs typeface="Arial"/>
            </a:endParaRPr>
          </a:p>
        </p:txBody>
      </p:sp>
      <p:sp>
        <p:nvSpPr>
          <p:cNvPr id="5" name="object 5"/>
          <p:cNvSpPr txBox="1"/>
          <p:nvPr/>
        </p:nvSpPr>
        <p:spPr>
          <a:xfrm>
            <a:off x="95300" y="197711"/>
            <a:ext cx="1814195" cy="20764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Distributed</a:t>
            </a:r>
            <a:r>
              <a:rPr sz="1200" spc="-65" dirty="0">
                <a:solidFill>
                  <a:srgbClr val="3333B2"/>
                </a:solidFill>
                <a:latin typeface="Arial"/>
                <a:cs typeface="Arial"/>
              </a:rPr>
              <a:t> </a:t>
            </a:r>
            <a:r>
              <a:rPr sz="1200" spc="-10" dirty="0">
                <a:solidFill>
                  <a:srgbClr val="3333B2"/>
                </a:solidFill>
                <a:latin typeface="Arial"/>
                <a:cs typeface="Arial"/>
              </a:rPr>
              <a:t>event</a:t>
            </a:r>
            <a:r>
              <a:rPr sz="1200" spc="-65" dirty="0">
                <a:solidFill>
                  <a:srgbClr val="3333B2"/>
                </a:solidFill>
                <a:latin typeface="Arial"/>
                <a:cs typeface="Arial"/>
              </a:rPr>
              <a:t> </a:t>
            </a:r>
            <a:r>
              <a:rPr sz="1200" spc="-10" dirty="0">
                <a:solidFill>
                  <a:srgbClr val="3333B2"/>
                </a:solidFill>
                <a:latin typeface="Arial"/>
                <a:cs typeface="Arial"/>
              </a:rPr>
              <a:t>matching</a:t>
            </a:r>
            <a:endParaRPr sz="1200">
              <a:latin typeface="Arial"/>
              <a:cs typeface="Arial"/>
            </a:endParaRPr>
          </a:p>
        </p:txBody>
      </p:sp>
      <p:pic>
        <p:nvPicPr>
          <p:cNvPr id="6" name="object 6"/>
          <p:cNvPicPr/>
          <p:nvPr/>
        </p:nvPicPr>
        <p:blipFill>
          <a:blip r:embed="rId4" cstate="print"/>
          <a:stretch>
            <a:fillRect/>
          </a:stretch>
        </p:blipFill>
        <p:spPr>
          <a:xfrm>
            <a:off x="735558" y="572968"/>
            <a:ext cx="3144591" cy="1092890"/>
          </a:xfrm>
          <a:prstGeom prst="rect">
            <a:avLst/>
          </a:prstGeom>
        </p:spPr>
      </p:pic>
      <p:sp>
        <p:nvSpPr>
          <p:cNvPr id="7" name="object 7"/>
          <p:cNvSpPr txBox="1"/>
          <p:nvPr/>
        </p:nvSpPr>
        <p:spPr>
          <a:xfrm>
            <a:off x="309194" y="1792330"/>
            <a:ext cx="3823335" cy="1242695"/>
          </a:xfrm>
          <a:prstGeom prst="rect">
            <a:avLst/>
          </a:prstGeom>
        </p:spPr>
        <p:txBody>
          <a:bodyPr vert="horz" wrap="square" lIns="0" tIns="12065" rIns="0" bIns="0" rtlCol="0">
            <a:spAutoFit/>
          </a:bodyPr>
          <a:lstStyle/>
          <a:p>
            <a:pPr marL="50800">
              <a:lnSpc>
                <a:spcPct val="100000"/>
              </a:lnSpc>
              <a:spcBef>
                <a:spcPts val="95"/>
              </a:spcBef>
            </a:pPr>
            <a:r>
              <a:rPr sz="1000" spc="-10" dirty="0">
                <a:solidFill>
                  <a:srgbClr val="3333B2"/>
                </a:solidFill>
                <a:latin typeface="Arial"/>
                <a:cs typeface="Arial"/>
              </a:rPr>
              <a:t>Principle</a:t>
            </a:r>
            <a:endParaRPr sz="1000">
              <a:latin typeface="Arial"/>
              <a:cs typeface="Arial"/>
            </a:endParaRPr>
          </a:p>
          <a:p>
            <a:pPr marL="299720" indent="-116839">
              <a:lnSpc>
                <a:spcPct val="100000"/>
              </a:lnSpc>
              <a:spcBef>
                <a:spcPts val="695"/>
              </a:spcBef>
              <a:buClr>
                <a:srgbClr val="3333B2"/>
              </a:buClr>
              <a:buFont typeface="Menlo"/>
              <a:buChar char="•"/>
              <a:tabLst>
                <a:tab pos="300355" algn="l"/>
              </a:tabLst>
            </a:pPr>
            <a:r>
              <a:rPr sz="900" dirty="0">
                <a:latin typeface="Arial"/>
                <a:cs typeface="Arial"/>
              </a:rPr>
              <a:t>A</a:t>
            </a:r>
            <a:r>
              <a:rPr sz="900" spc="-30" dirty="0">
                <a:latin typeface="Arial"/>
                <a:cs typeface="Arial"/>
              </a:rPr>
              <a:t> </a:t>
            </a:r>
            <a:r>
              <a:rPr sz="900" dirty="0">
                <a:latin typeface="Arial"/>
                <a:cs typeface="Arial"/>
              </a:rPr>
              <a:t>process</a:t>
            </a:r>
            <a:r>
              <a:rPr sz="900" spc="-25" dirty="0">
                <a:latin typeface="Arial"/>
                <a:cs typeface="Arial"/>
              </a:rPr>
              <a:t> </a:t>
            </a:r>
            <a:r>
              <a:rPr sz="900" dirty="0">
                <a:latin typeface="Arial"/>
                <a:cs typeface="Arial"/>
              </a:rPr>
              <a:t>specifies</a:t>
            </a:r>
            <a:r>
              <a:rPr sz="900" spc="-25" dirty="0">
                <a:latin typeface="Arial"/>
                <a:cs typeface="Arial"/>
              </a:rPr>
              <a:t> </a:t>
            </a:r>
            <a:r>
              <a:rPr sz="900" dirty="0">
                <a:latin typeface="Arial"/>
                <a:cs typeface="Arial"/>
              </a:rPr>
              <a:t>in</a:t>
            </a:r>
            <a:r>
              <a:rPr sz="900" spc="-30" dirty="0">
                <a:latin typeface="Arial"/>
                <a:cs typeface="Arial"/>
              </a:rPr>
              <a:t> </a:t>
            </a:r>
            <a:r>
              <a:rPr sz="900" dirty="0">
                <a:latin typeface="Arial"/>
                <a:cs typeface="Arial"/>
              </a:rPr>
              <a:t>which</a:t>
            </a:r>
            <a:r>
              <a:rPr sz="900" spc="-25" dirty="0">
                <a:latin typeface="Arial"/>
                <a:cs typeface="Arial"/>
              </a:rPr>
              <a:t> </a:t>
            </a:r>
            <a:r>
              <a:rPr sz="900" spc="-10" dirty="0">
                <a:latin typeface="Arial"/>
                <a:cs typeface="Arial"/>
              </a:rPr>
              <a:t>events</a:t>
            </a:r>
            <a:r>
              <a:rPr sz="900" spc="-25" dirty="0">
                <a:latin typeface="Arial"/>
                <a:cs typeface="Arial"/>
              </a:rPr>
              <a:t> </a:t>
            </a:r>
            <a:r>
              <a:rPr sz="900" dirty="0">
                <a:latin typeface="Arial"/>
                <a:cs typeface="Arial"/>
              </a:rPr>
              <a:t>it</a:t>
            </a:r>
            <a:r>
              <a:rPr sz="900" spc="-30" dirty="0">
                <a:latin typeface="Arial"/>
                <a:cs typeface="Arial"/>
              </a:rPr>
              <a:t> </a:t>
            </a:r>
            <a:r>
              <a:rPr sz="900" dirty="0">
                <a:latin typeface="Arial"/>
                <a:cs typeface="Arial"/>
              </a:rPr>
              <a:t>is</a:t>
            </a:r>
            <a:r>
              <a:rPr sz="900" spc="-25" dirty="0">
                <a:latin typeface="Arial"/>
                <a:cs typeface="Arial"/>
              </a:rPr>
              <a:t> </a:t>
            </a:r>
            <a:r>
              <a:rPr sz="900" dirty="0">
                <a:latin typeface="Arial"/>
                <a:cs typeface="Arial"/>
              </a:rPr>
              <a:t>interested</a:t>
            </a:r>
            <a:r>
              <a:rPr sz="900" spc="-25" dirty="0">
                <a:latin typeface="Arial"/>
                <a:cs typeface="Arial"/>
              </a:rPr>
              <a:t> </a:t>
            </a:r>
            <a:r>
              <a:rPr sz="900" dirty="0">
                <a:latin typeface="Arial"/>
                <a:cs typeface="Arial"/>
              </a:rPr>
              <a:t>(</a:t>
            </a:r>
            <a:r>
              <a:rPr sz="900" dirty="0">
                <a:solidFill>
                  <a:srgbClr val="C80000"/>
                </a:solidFill>
                <a:latin typeface="Arial"/>
                <a:cs typeface="Arial"/>
              </a:rPr>
              <a:t>subscription</a:t>
            </a:r>
            <a:r>
              <a:rPr sz="900" spc="-30" dirty="0">
                <a:solidFill>
                  <a:srgbClr val="C80000"/>
                </a:solidFill>
                <a:latin typeface="Arial"/>
                <a:cs typeface="Arial"/>
              </a:rPr>
              <a:t> </a:t>
            </a:r>
            <a:r>
              <a:rPr sz="900" i="1" spc="-25" dirty="0">
                <a:latin typeface="Arial"/>
                <a:cs typeface="Arial"/>
              </a:rPr>
              <a:t>S</a:t>
            </a:r>
            <a:r>
              <a:rPr sz="900" spc="-25" dirty="0">
                <a:latin typeface="Arial"/>
                <a:cs typeface="Arial"/>
              </a:rPr>
              <a:t>)</a:t>
            </a:r>
            <a:endParaRPr sz="900">
              <a:latin typeface="Arial"/>
              <a:cs typeface="Arial"/>
            </a:endParaRPr>
          </a:p>
          <a:p>
            <a:pPr marL="298450" indent="-115570">
              <a:lnSpc>
                <a:spcPct val="100000"/>
              </a:lnSpc>
              <a:spcBef>
                <a:spcPts val="525"/>
              </a:spcBef>
              <a:buClr>
                <a:srgbClr val="3333B2"/>
              </a:buClr>
              <a:buFont typeface="Menlo"/>
              <a:buChar char="•"/>
              <a:tabLst>
                <a:tab pos="299085" algn="l"/>
              </a:tabLst>
            </a:pPr>
            <a:r>
              <a:rPr sz="900" dirty="0">
                <a:latin typeface="Arial"/>
                <a:cs typeface="Arial"/>
              </a:rPr>
              <a:t>When</a:t>
            </a:r>
            <a:r>
              <a:rPr sz="900" spc="-20" dirty="0">
                <a:latin typeface="Arial"/>
                <a:cs typeface="Arial"/>
              </a:rPr>
              <a:t> </a:t>
            </a:r>
            <a:r>
              <a:rPr sz="900" dirty="0">
                <a:latin typeface="Arial"/>
                <a:cs typeface="Arial"/>
              </a:rPr>
              <a:t>a</a:t>
            </a:r>
            <a:r>
              <a:rPr sz="900" spc="-20" dirty="0">
                <a:latin typeface="Arial"/>
                <a:cs typeface="Arial"/>
              </a:rPr>
              <a:t> </a:t>
            </a:r>
            <a:r>
              <a:rPr sz="900" dirty="0">
                <a:latin typeface="Arial"/>
                <a:cs typeface="Arial"/>
              </a:rPr>
              <a:t>process</a:t>
            </a:r>
            <a:r>
              <a:rPr sz="900" spc="-20" dirty="0">
                <a:latin typeface="Arial"/>
                <a:cs typeface="Arial"/>
              </a:rPr>
              <a:t> </a:t>
            </a:r>
            <a:r>
              <a:rPr sz="900" spc="-10" dirty="0">
                <a:solidFill>
                  <a:srgbClr val="C80000"/>
                </a:solidFill>
                <a:latin typeface="Arial"/>
                <a:cs typeface="Arial"/>
              </a:rPr>
              <a:t>publishes</a:t>
            </a:r>
            <a:r>
              <a:rPr sz="900" spc="-20" dirty="0">
                <a:solidFill>
                  <a:srgbClr val="C80000"/>
                </a:solidFill>
                <a:latin typeface="Arial"/>
                <a:cs typeface="Arial"/>
              </a:rPr>
              <a:t> </a:t>
            </a:r>
            <a:r>
              <a:rPr sz="900" dirty="0">
                <a:solidFill>
                  <a:srgbClr val="C80000"/>
                </a:solidFill>
                <a:latin typeface="Arial"/>
                <a:cs typeface="Arial"/>
              </a:rPr>
              <a:t>a</a:t>
            </a:r>
            <a:r>
              <a:rPr sz="900" spc="-20" dirty="0">
                <a:solidFill>
                  <a:srgbClr val="C80000"/>
                </a:solidFill>
                <a:latin typeface="Arial"/>
                <a:cs typeface="Arial"/>
              </a:rPr>
              <a:t> </a:t>
            </a:r>
            <a:r>
              <a:rPr sz="900" dirty="0">
                <a:solidFill>
                  <a:srgbClr val="C80000"/>
                </a:solidFill>
                <a:latin typeface="Arial"/>
                <a:cs typeface="Arial"/>
              </a:rPr>
              <a:t>notification</a:t>
            </a:r>
            <a:r>
              <a:rPr sz="900" spc="-20" dirty="0">
                <a:solidFill>
                  <a:srgbClr val="C80000"/>
                </a:solidFill>
                <a:latin typeface="Arial"/>
                <a:cs typeface="Arial"/>
              </a:rPr>
              <a:t> </a:t>
            </a:r>
            <a:r>
              <a:rPr sz="900" i="1" dirty="0">
                <a:latin typeface="Arial"/>
                <a:cs typeface="Arial"/>
              </a:rPr>
              <a:t>N</a:t>
            </a:r>
            <a:r>
              <a:rPr sz="900" i="1" spc="45" dirty="0">
                <a:latin typeface="Arial"/>
                <a:cs typeface="Arial"/>
              </a:rPr>
              <a:t> </a:t>
            </a:r>
            <a:r>
              <a:rPr sz="900" dirty="0">
                <a:latin typeface="Arial"/>
                <a:cs typeface="Arial"/>
              </a:rPr>
              <a:t>we</a:t>
            </a:r>
            <a:r>
              <a:rPr sz="900" spc="-20" dirty="0">
                <a:latin typeface="Arial"/>
                <a:cs typeface="Arial"/>
              </a:rPr>
              <a:t> </a:t>
            </a:r>
            <a:r>
              <a:rPr sz="900" dirty="0">
                <a:latin typeface="Arial"/>
                <a:cs typeface="Arial"/>
              </a:rPr>
              <a:t>need</a:t>
            </a:r>
            <a:r>
              <a:rPr sz="900" spc="-15" dirty="0">
                <a:latin typeface="Arial"/>
                <a:cs typeface="Arial"/>
              </a:rPr>
              <a:t> </a:t>
            </a:r>
            <a:r>
              <a:rPr sz="900" dirty="0">
                <a:latin typeface="Arial"/>
                <a:cs typeface="Arial"/>
              </a:rPr>
              <a:t>to</a:t>
            </a:r>
            <a:r>
              <a:rPr sz="900" spc="-20" dirty="0">
                <a:latin typeface="Arial"/>
                <a:cs typeface="Arial"/>
              </a:rPr>
              <a:t> </a:t>
            </a:r>
            <a:r>
              <a:rPr sz="900" dirty="0">
                <a:latin typeface="Arial"/>
                <a:cs typeface="Arial"/>
              </a:rPr>
              <a:t>see</a:t>
            </a:r>
            <a:r>
              <a:rPr sz="900" spc="-20" dirty="0">
                <a:latin typeface="Arial"/>
                <a:cs typeface="Arial"/>
              </a:rPr>
              <a:t> </a:t>
            </a:r>
            <a:r>
              <a:rPr sz="900" dirty="0">
                <a:latin typeface="Arial"/>
                <a:cs typeface="Arial"/>
              </a:rPr>
              <a:t>whether</a:t>
            </a:r>
            <a:r>
              <a:rPr sz="900" spc="-20" dirty="0">
                <a:latin typeface="Arial"/>
                <a:cs typeface="Arial"/>
              </a:rPr>
              <a:t> </a:t>
            </a:r>
            <a:r>
              <a:rPr sz="900" i="1" spc="-50" dirty="0">
                <a:latin typeface="Arial"/>
                <a:cs typeface="Arial"/>
              </a:rPr>
              <a:t>S</a:t>
            </a:r>
            <a:endParaRPr sz="900">
              <a:latin typeface="Arial"/>
              <a:cs typeface="Arial"/>
            </a:endParaRPr>
          </a:p>
          <a:p>
            <a:pPr marL="303530">
              <a:lnSpc>
                <a:spcPct val="100000"/>
              </a:lnSpc>
              <a:spcBef>
                <a:spcPts val="125"/>
              </a:spcBef>
            </a:pPr>
            <a:r>
              <a:rPr sz="900" dirty="0">
                <a:solidFill>
                  <a:srgbClr val="3333B2"/>
                </a:solidFill>
                <a:latin typeface="Arial"/>
                <a:cs typeface="Arial"/>
              </a:rPr>
              <a:t>matches</a:t>
            </a:r>
            <a:r>
              <a:rPr sz="900" spc="-40" dirty="0">
                <a:solidFill>
                  <a:srgbClr val="3333B2"/>
                </a:solidFill>
                <a:latin typeface="Arial"/>
                <a:cs typeface="Arial"/>
              </a:rPr>
              <a:t> </a:t>
            </a:r>
            <a:r>
              <a:rPr sz="900" i="1" spc="-25" dirty="0">
                <a:latin typeface="Arial"/>
                <a:cs typeface="Arial"/>
              </a:rPr>
              <a:t>N</a:t>
            </a:r>
            <a:r>
              <a:rPr sz="900" spc="-25" dirty="0">
                <a:latin typeface="Arial"/>
                <a:cs typeface="Arial"/>
              </a:rPr>
              <a:t>.</a:t>
            </a:r>
            <a:endParaRPr sz="900">
              <a:latin typeface="Arial"/>
              <a:cs typeface="Arial"/>
            </a:endParaRPr>
          </a:p>
          <a:p>
            <a:pPr>
              <a:lnSpc>
                <a:spcPct val="100000"/>
              </a:lnSpc>
              <a:spcBef>
                <a:spcPts val="15"/>
              </a:spcBef>
            </a:pPr>
            <a:endParaRPr sz="1050">
              <a:latin typeface="Arial"/>
              <a:cs typeface="Arial"/>
            </a:endParaRPr>
          </a:p>
          <a:p>
            <a:pPr marL="50800">
              <a:lnSpc>
                <a:spcPct val="100000"/>
              </a:lnSpc>
            </a:pPr>
            <a:r>
              <a:rPr sz="1000" dirty="0">
                <a:solidFill>
                  <a:srgbClr val="C80000"/>
                </a:solidFill>
                <a:latin typeface="Arial"/>
                <a:cs typeface="Arial"/>
              </a:rPr>
              <a:t>Hard</a:t>
            </a:r>
            <a:r>
              <a:rPr sz="1000" spc="-30" dirty="0">
                <a:solidFill>
                  <a:srgbClr val="C80000"/>
                </a:solidFill>
                <a:latin typeface="Arial"/>
                <a:cs typeface="Arial"/>
              </a:rPr>
              <a:t> </a:t>
            </a:r>
            <a:r>
              <a:rPr sz="1000" spc="-20" dirty="0">
                <a:solidFill>
                  <a:srgbClr val="C80000"/>
                </a:solidFill>
                <a:latin typeface="Arial"/>
                <a:cs typeface="Arial"/>
              </a:rPr>
              <a:t>part</a:t>
            </a:r>
            <a:endParaRPr sz="1000">
              <a:latin typeface="Arial"/>
              <a:cs typeface="Arial"/>
            </a:endParaRPr>
          </a:p>
          <a:p>
            <a:pPr marL="50800">
              <a:lnSpc>
                <a:spcPct val="100000"/>
              </a:lnSpc>
              <a:spcBef>
                <a:spcPts val="295"/>
              </a:spcBef>
            </a:pPr>
            <a:r>
              <a:rPr sz="900" dirty="0">
                <a:latin typeface="Arial"/>
                <a:cs typeface="Arial"/>
              </a:rPr>
              <a:t>Implementing</a:t>
            </a:r>
            <a:r>
              <a:rPr sz="900" spc="-35" dirty="0">
                <a:latin typeface="Arial"/>
                <a:cs typeface="Arial"/>
              </a:rPr>
              <a:t> </a:t>
            </a:r>
            <a:r>
              <a:rPr sz="900" dirty="0">
                <a:latin typeface="Arial"/>
                <a:cs typeface="Arial"/>
              </a:rPr>
              <a:t>the</a:t>
            </a:r>
            <a:r>
              <a:rPr sz="900" spc="-30" dirty="0">
                <a:latin typeface="Arial"/>
                <a:cs typeface="Arial"/>
              </a:rPr>
              <a:t> </a:t>
            </a:r>
            <a:r>
              <a:rPr sz="900" dirty="0">
                <a:solidFill>
                  <a:srgbClr val="3333B2"/>
                </a:solidFill>
                <a:latin typeface="Arial"/>
                <a:cs typeface="Arial"/>
              </a:rPr>
              <a:t>match</a:t>
            </a:r>
            <a:r>
              <a:rPr sz="900" spc="-35" dirty="0">
                <a:solidFill>
                  <a:srgbClr val="3333B2"/>
                </a:solidFill>
                <a:latin typeface="Arial"/>
                <a:cs typeface="Arial"/>
              </a:rPr>
              <a:t> </a:t>
            </a:r>
            <a:r>
              <a:rPr sz="900" dirty="0">
                <a:latin typeface="Arial"/>
                <a:cs typeface="Arial"/>
              </a:rPr>
              <a:t>function</a:t>
            </a:r>
            <a:r>
              <a:rPr sz="900" spc="-30" dirty="0">
                <a:latin typeface="Arial"/>
                <a:cs typeface="Arial"/>
              </a:rPr>
              <a:t> </a:t>
            </a:r>
            <a:r>
              <a:rPr sz="900" dirty="0">
                <a:latin typeface="Arial"/>
                <a:cs typeface="Arial"/>
              </a:rPr>
              <a:t>in</a:t>
            </a:r>
            <a:r>
              <a:rPr sz="900" spc="-30" dirty="0">
                <a:latin typeface="Arial"/>
                <a:cs typeface="Arial"/>
              </a:rPr>
              <a:t> </a:t>
            </a:r>
            <a:r>
              <a:rPr sz="900" dirty="0">
                <a:latin typeface="Arial"/>
                <a:cs typeface="Arial"/>
              </a:rPr>
              <a:t>a</a:t>
            </a:r>
            <a:r>
              <a:rPr sz="900" spc="-35" dirty="0">
                <a:latin typeface="Arial"/>
                <a:cs typeface="Arial"/>
              </a:rPr>
              <a:t> </a:t>
            </a:r>
            <a:r>
              <a:rPr sz="900" dirty="0">
                <a:latin typeface="Arial"/>
                <a:cs typeface="Arial"/>
              </a:rPr>
              <a:t>scalable</a:t>
            </a:r>
            <a:r>
              <a:rPr sz="900" spc="-30" dirty="0">
                <a:latin typeface="Arial"/>
                <a:cs typeface="Arial"/>
              </a:rPr>
              <a:t> </a:t>
            </a:r>
            <a:r>
              <a:rPr sz="900" spc="-10" dirty="0">
                <a:latin typeface="Arial"/>
                <a:cs typeface="Arial"/>
              </a:rPr>
              <a:t>manner.</a:t>
            </a:r>
            <a:endParaRPr sz="900">
              <a:latin typeface="Arial"/>
              <a:cs typeface="Arial"/>
            </a:endParaRPr>
          </a:p>
        </p:txBody>
      </p:sp>
      <p:grpSp>
        <p:nvGrpSpPr>
          <p:cNvPr id="8" name="object 8"/>
          <p:cNvGrpSpPr/>
          <p:nvPr/>
        </p:nvGrpSpPr>
        <p:grpSpPr>
          <a:xfrm>
            <a:off x="0" y="3348469"/>
            <a:ext cx="4608195" cy="107950"/>
            <a:chOff x="0" y="3348469"/>
            <a:chExt cx="4608195" cy="107950"/>
          </a:xfrm>
        </p:grpSpPr>
        <p:sp>
          <p:nvSpPr>
            <p:cNvPr id="9" name="object 9"/>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0" name="object 10"/>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Tree>
    <p:extLst>
      <p:ext uri="{BB962C8B-B14F-4D97-AF65-F5344CB8AC3E}">
        <p14:creationId xmlns:p14="http://schemas.microsoft.com/office/powerpoint/2010/main" val="1144731474"/>
      </p:ext>
    </p:extLst>
  </p:cSld>
  <p:clrMapOvr>
    <a:masterClrMapping/>
  </p:clrMapOvr>
  <p:transition>
    <p:fade/>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742690" algn="l"/>
              </a:tabLst>
            </a:pPr>
            <a:r>
              <a:rPr sz="500" spc="-10" dirty="0">
                <a:latin typeface="Arial"/>
                <a:cs typeface="Arial"/>
                <a:hlinkClick r:id="rId3" action="ppaction://hlinksldjump"/>
              </a:rPr>
              <a:t>Coordination</a:t>
            </a:r>
            <a:r>
              <a:rPr sz="500" dirty="0">
                <a:latin typeface="Arial"/>
                <a:cs typeface="Arial"/>
              </a:rPr>
              <a:t>	</a:t>
            </a:r>
            <a:r>
              <a:rPr sz="500" dirty="0">
                <a:solidFill>
                  <a:srgbClr val="FFFFFF"/>
                </a:solidFill>
                <a:latin typeface="Arial"/>
                <a:cs typeface="Arial"/>
                <a:hlinkClick r:id="rId4" action="ppaction://hlinksldjump"/>
              </a:rPr>
              <a:t>Distributed</a:t>
            </a:r>
            <a:r>
              <a:rPr sz="500" spc="-20" dirty="0">
                <a:solidFill>
                  <a:srgbClr val="FFFFFF"/>
                </a:solidFill>
                <a:latin typeface="Arial"/>
                <a:cs typeface="Arial"/>
                <a:hlinkClick r:id="rId4" action="ppaction://hlinksldjump"/>
              </a:rPr>
              <a:t> </a:t>
            </a:r>
            <a:r>
              <a:rPr sz="500" spc="-10" dirty="0">
                <a:solidFill>
                  <a:srgbClr val="FFFFFF"/>
                </a:solidFill>
                <a:latin typeface="Arial"/>
                <a:cs typeface="Arial"/>
                <a:hlinkClick r:id="rId4" action="ppaction://hlinksldjump"/>
              </a:rPr>
              <a:t>event</a:t>
            </a:r>
            <a:r>
              <a:rPr sz="500" spc="-15" dirty="0">
                <a:solidFill>
                  <a:srgbClr val="FFFFFF"/>
                </a:solidFill>
                <a:latin typeface="Arial"/>
                <a:cs typeface="Arial"/>
                <a:hlinkClick r:id="rId4" action="ppaction://hlinksldjump"/>
              </a:rPr>
              <a:t> </a:t>
            </a:r>
            <a:r>
              <a:rPr sz="500" spc="-10" dirty="0">
                <a:solidFill>
                  <a:srgbClr val="FFFFFF"/>
                </a:solidFill>
                <a:latin typeface="Arial"/>
                <a:cs typeface="Arial"/>
                <a:hlinkClick r:id="rId4" action="ppaction://hlinksldjump"/>
              </a:rPr>
              <a:t>matching</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General</a:t>
            </a:r>
            <a:r>
              <a:rPr spc="-65" dirty="0"/>
              <a:t> </a:t>
            </a:r>
            <a:r>
              <a:rPr spc="-10" dirty="0"/>
              <a:t>approach</a:t>
            </a:r>
          </a:p>
        </p:txBody>
      </p:sp>
      <p:sp>
        <p:nvSpPr>
          <p:cNvPr id="4" name="object 4"/>
          <p:cNvSpPr txBox="1"/>
          <p:nvPr/>
        </p:nvSpPr>
        <p:spPr>
          <a:xfrm>
            <a:off x="328650" y="443244"/>
            <a:ext cx="3930015" cy="2680335"/>
          </a:xfrm>
          <a:prstGeom prst="rect">
            <a:avLst/>
          </a:prstGeom>
        </p:spPr>
        <p:txBody>
          <a:bodyPr vert="horz" wrap="square" lIns="0" tIns="83820" rIns="0" bIns="0" rtlCol="0">
            <a:spAutoFit/>
          </a:bodyPr>
          <a:lstStyle/>
          <a:p>
            <a:pPr marL="25400">
              <a:lnSpc>
                <a:spcPct val="100000"/>
              </a:lnSpc>
              <a:spcBef>
                <a:spcPts val="660"/>
              </a:spcBef>
            </a:pPr>
            <a:r>
              <a:rPr sz="1000" dirty="0">
                <a:solidFill>
                  <a:srgbClr val="3333B2"/>
                </a:solidFill>
                <a:latin typeface="Arial"/>
                <a:cs typeface="Arial"/>
              </a:rPr>
              <a:t>What</a:t>
            </a:r>
            <a:r>
              <a:rPr sz="1000" spc="-25" dirty="0">
                <a:solidFill>
                  <a:srgbClr val="3333B2"/>
                </a:solidFill>
                <a:latin typeface="Arial"/>
                <a:cs typeface="Arial"/>
              </a:rPr>
              <a:t> </a:t>
            </a:r>
            <a:r>
              <a:rPr sz="1000" dirty="0">
                <a:solidFill>
                  <a:srgbClr val="3333B2"/>
                </a:solidFill>
                <a:latin typeface="Arial"/>
                <a:cs typeface="Arial"/>
              </a:rPr>
              <a:t>is</a:t>
            </a:r>
            <a:r>
              <a:rPr sz="1000" spc="-20" dirty="0">
                <a:solidFill>
                  <a:srgbClr val="3333B2"/>
                </a:solidFill>
                <a:latin typeface="Arial"/>
                <a:cs typeface="Arial"/>
              </a:rPr>
              <a:t> </a:t>
            </a:r>
            <a:r>
              <a:rPr sz="1000" spc="-10" dirty="0">
                <a:solidFill>
                  <a:srgbClr val="3333B2"/>
                </a:solidFill>
                <a:latin typeface="Arial"/>
                <a:cs typeface="Arial"/>
              </a:rPr>
              <a:t>needed</a:t>
            </a:r>
            <a:endParaRPr sz="1000" dirty="0">
              <a:latin typeface="Arial"/>
              <a:cs typeface="Arial"/>
            </a:endParaRPr>
          </a:p>
          <a:p>
            <a:pPr marL="283845" indent="-120650">
              <a:lnSpc>
                <a:spcPct val="100000"/>
              </a:lnSpc>
              <a:spcBef>
                <a:spcPts val="500"/>
              </a:spcBef>
              <a:buClr>
                <a:srgbClr val="3333B2"/>
              </a:buClr>
              <a:buFont typeface="Menlo"/>
              <a:buChar char="•"/>
              <a:tabLst>
                <a:tab pos="284480" algn="l"/>
              </a:tabLst>
            </a:pPr>
            <a:r>
              <a:rPr sz="900" i="1" dirty="0">
                <a:solidFill>
                  <a:srgbClr val="C80000"/>
                </a:solidFill>
                <a:latin typeface="Arial"/>
                <a:cs typeface="Arial"/>
              </a:rPr>
              <a:t>sub2node</a:t>
            </a:r>
            <a:r>
              <a:rPr sz="900" dirty="0">
                <a:solidFill>
                  <a:srgbClr val="C80000"/>
                </a:solidFill>
                <a:latin typeface="Arial"/>
                <a:cs typeface="Arial"/>
              </a:rPr>
              <a:t>(</a:t>
            </a:r>
            <a:r>
              <a:rPr sz="900" i="1" dirty="0">
                <a:solidFill>
                  <a:srgbClr val="C80000"/>
                </a:solidFill>
                <a:latin typeface="Arial"/>
                <a:cs typeface="Arial"/>
              </a:rPr>
              <a:t>S</a:t>
            </a:r>
            <a:r>
              <a:rPr sz="900" dirty="0">
                <a:solidFill>
                  <a:srgbClr val="C80000"/>
                </a:solidFill>
                <a:latin typeface="Arial"/>
                <a:cs typeface="Arial"/>
              </a:rPr>
              <a:t>)</a:t>
            </a:r>
            <a:r>
              <a:rPr sz="900" dirty="0">
                <a:latin typeface="Arial"/>
                <a:cs typeface="Arial"/>
              </a:rPr>
              <a:t>:</a:t>
            </a:r>
            <a:r>
              <a:rPr sz="900" spc="45" dirty="0">
                <a:latin typeface="Arial"/>
                <a:cs typeface="Arial"/>
              </a:rPr>
              <a:t> </a:t>
            </a:r>
            <a:r>
              <a:rPr sz="900" dirty="0">
                <a:latin typeface="Arial"/>
                <a:cs typeface="Arial"/>
              </a:rPr>
              <a:t>map</a:t>
            </a:r>
            <a:r>
              <a:rPr sz="900" spc="-10" dirty="0">
                <a:latin typeface="Arial"/>
                <a:cs typeface="Arial"/>
              </a:rPr>
              <a:t> </a:t>
            </a:r>
            <a:r>
              <a:rPr sz="900" dirty="0">
                <a:latin typeface="Arial"/>
                <a:cs typeface="Arial"/>
              </a:rPr>
              <a:t>a</a:t>
            </a:r>
            <a:r>
              <a:rPr sz="900" spc="-5" dirty="0">
                <a:latin typeface="Arial"/>
                <a:cs typeface="Arial"/>
              </a:rPr>
              <a:t> </a:t>
            </a:r>
            <a:r>
              <a:rPr sz="900" dirty="0">
                <a:latin typeface="Arial"/>
                <a:cs typeface="Arial"/>
              </a:rPr>
              <a:t>subscription</a:t>
            </a:r>
            <a:r>
              <a:rPr sz="900" spc="-10" dirty="0">
                <a:latin typeface="Arial"/>
                <a:cs typeface="Arial"/>
              </a:rPr>
              <a:t> </a:t>
            </a:r>
            <a:r>
              <a:rPr sz="900" i="1" dirty="0">
                <a:latin typeface="Arial"/>
                <a:cs typeface="Arial"/>
              </a:rPr>
              <a:t>S</a:t>
            </a:r>
            <a:r>
              <a:rPr sz="900" i="1" spc="30" dirty="0">
                <a:latin typeface="Arial"/>
                <a:cs typeface="Arial"/>
              </a:rPr>
              <a:t> </a:t>
            </a:r>
            <a:r>
              <a:rPr sz="900" dirty="0">
                <a:latin typeface="Arial"/>
                <a:cs typeface="Arial"/>
              </a:rPr>
              <a:t>to</a:t>
            </a:r>
            <a:r>
              <a:rPr sz="900" spc="-5" dirty="0">
                <a:latin typeface="Arial"/>
                <a:cs typeface="Arial"/>
              </a:rPr>
              <a:t> </a:t>
            </a:r>
            <a:r>
              <a:rPr sz="900" dirty="0">
                <a:latin typeface="Arial"/>
                <a:cs typeface="Arial"/>
              </a:rPr>
              <a:t>a</a:t>
            </a:r>
            <a:r>
              <a:rPr sz="900" spc="-10" dirty="0">
                <a:latin typeface="Arial"/>
                <a:cs typeface="Arial"/>
              </a:rPr>
              <a:t> </a:t>
            </a:r>
            <a:r>
              <a:rPr sz="900" dirty="0">
                <a:latin typeface="Arial"/>
                <a:cs typeface="Arial"/>
              </a:rPr>
              <a:t>nonempty</a:t>
            </a:r>
            <a:r>
              <a:rPr sz="900" spc="-10" dirty="0">
                <a:latin typeface="Arial"/>
                <a:cs typeface="Arial"/>
              </a:rPr>
              <a:t> </a:t>
            </a:r>
            <a:r>
              <a:rPr sz="900" dirty="0">
                <a:latin typeface="Arial"/>
                <a:cs typeface="Arial"/>
              </a:rPr>
              <a:t>subset</a:t>
            </a:r>
            <a:r>
              <a:rPr sz="900" spc="-10" dirty="0">
                <a:latin typeface="Arial"/>
                <a:cs typeface="Arial"/>
              </a:rPr>
              <a:t> </a:t>
            </a:r>
            <a:r>
              <a:rPr sz="900" b="1" dirty="0">
                <a:latin typeface="Arial"/>
                <a:cs typeface="Arial"/>
              </a:rPr>
              <a:t>S</a:t>
            </a:r>
            <a:r>
              <a:rPr sz="900" b="1" spc="-10" dirty="0">
                <a:latin typeface="Arial"/>
                <a:cs typeface="Arial"/>
              </a:rPr>
              <a:t> </a:t>
            </a:r>
            <a:r>
              <a:rPr sz="900" dirty="0">
                <a:latin typeface="Arial"/>
                <a:cs typeface="Arial"/>
              </a:rPr>
              <a:t>of</a:t>
            </a:r>
            <a:r>
              <a:rPr sz="900" spc="-10" dirty="0">
                <a:latin typeface="Arial"/>
                <a:cs typeface="Arial"/>
              </a:rPr>
              <a:t> servers</a:t>
            </a:r>
            <a:endParaRPr sz="900" dirty="0">
              <a:latin typeface="Arial"/>
              <a:cs typeface="Arial"/>
            </a:endParaRPr>
          </a:p>
          <a:p>
            <a:pPr marL="31115" marR="128270" indent="253365">
              <a:lnSpc>
                <a:spcPts val="1600"/>
              </a:lnSpc>
              <a:spcBef>
                <a:spcPts val="45"/>
              </a:spcBef>
              <a:buClr>
                <a:srgbClr val="3333B2"/>
              </a:buClr>
              <a:buFont typeface="Menlo"/>
              <a:buChar char="•"/>
              <a:tabLst>
                <a:tab pos="284480" algn="l"/>
              </a:tabLst>
            </a:pPr>
            <a:r>
              <a:rPr sz="900" i="1" dirty="0">
                <a:solidFill>
                  <a:srgbClr val="C80000"/>
                </a:solidFill>
                <a:latin typeface="Arial"/>
                <a:cs typeface="Arial"/>
              </a:rPr>
              <a:t>not2node</a:t>
            </a:r>
            <a:r>
              <a:rPr sz="900" dirty="0">
                <a:solidFill>
                  <a:srgbClr val="C80000"/>
                </a:solidFill>
                <a:latin typeface="Arial"/>
                <a:cs typeface="Arial"/>
              </a:rPr>
              <a:t>(</a:t>
            </a:r>
            <a:r>
              <a:rPr sz="900" i="1" dirty="0">
                <a:solidFill>
                  <a:srgbClr val="C80000"/>
                </a:solidFill>
                <a:latin typeface="Arial"/>
                <a:cs typeface="Arial"/>
              </a:rPr>
              <a:t>N</a:t>
            </a:r>
            <a:r>
              <a:rPr sz="900" dirty="0">
                <a:solidFill>
                  <a:srgbClr val="C80000"/>
                </a:solidFill>
                <a:latin typeface="Arial"/>
                <a:cs typeface="Arial"/>
              </a:rPr>
              <a:t>)</a:t>
            </a:r>
            <a:r>
              <a:rPr sz="900" dirty="0">
                <a:latin typeface="Arial"/>
                <a:cs typeface="Arial"/>
              </a:rPr>
              <a:t>:</a:t>
            </a:r>
            <a:r>
              <a:rPr sz="900" spc="50" dirty="0">
                <a:latin typeface="Arial"/>
                <a:cs typeface="Arial"/>
              </a:rPr>
              <a:t> </a:t>
            </a:r>
            <a:r>
              <a:rPr sz="900" dirty="0">
                <a:latin typeface="Arial"/>
                <a:cs typeface="Arial"/>
              </a:rPr>
              <a:t>map</a:t>
            </a:r>
            <a:r>
              <a:rPr sz="900" spc="-10" dirty="0">
                <a:latin typeface="Arial"/>
                <a:cs typeface="Arial"/>
              </a:rPr>
              <a:t> </a:t>
            </a:r>
            <a:r>
              <a:rPr sz="900" dirty="0">
                <a:latin typeface="Arial"/>
                <a:cs typeface="Arial"/>
              </a:rPr>
              <a:t>a</a:t>
            </a:r>
            <a:r>
              <a:rPr sz="900" spc="-10" dirty="0">
                <a:latin typeface="Arial"/>
                <a:cs typeface="Arial"/>
              </a:rPr>
              <a:t> </a:t>
            </a:r>
            <a:r>
              <a:rPr sz="900" dirty="0">
                <a:latin typeface="Arial"/>
                <a:cs typeface="Arial"/>
              </a:rPr>
              <a:t>notification</a:t>
            </a:r>
            <a:r>
              <a:rPr sz="900" spc="-5" dirty="0">
                <a:latin typeface="Arial"/>
                <a:cs typeface="Arial"/>
              </a:rPr>
              <a:t> </a:t>
            </a:r>
            <a:r>
              <a:rPr sz="900" i="1" dirty="0">
                <a:latin typeface="Arial"/>
                <a:cs typeface="Arial"/>
              </a:rPr>
              <a:t>N</a:t>
            </a:r>
            <a:r>
              <a:rPr sz="900" i="1" spc="60" dirty="0">
                <a:latin typeface="Arial"/>
                <a:cs typeface="Arial"/>
              </a:rPr>
              <a:t> </a:t>
            </a:r>
            <a:r>
              <a:rPr sz="900" dirty="0">
                <a:latin typeface="Arial"/>
                <a:cs typeface="Arial"/>
              </a:rPr>
              <a:t>to</a:t>
            </a:r>
            <a:r>
              <a:rPr sz="900" spc="-10" dirty="0">
                <a:latin typeface="Arial"/>
                <a:cs typeface="Arial"/>
              </a:rPr>
              <a:t> </a:t>
            </a:r>
            <a:r>
              <a:rPr sz="900" dirty="0">
                <a:latin typeface="Arial"/>
                <a:cs typeface="Arial"/>
              </a:rPr>
              <a:t>a</a:t>
            </a:r>
            <a:r>
              <a:rPr sz="900" spc="-5" dirty="0">
                <a:latin typeface="Arial"/>
                <a:cs typeface="Arial"/>
              </a:rPr>
              <a:t> </a:t>
            </a:r>
            <a:r>
              <a:rPr sz="900" dirty="0">
                <a:latin typeface="Arial"/>
                <a:cs typeface="Arial"/>
              </a:rPr>
              <a:t>nonempty</a:t>
            </a:r>
            <a:r>
              <a:rPr sz="900" spc="-10" dirty="0">
                <a:latin typeface="Arial"/>
                <a:cs typeface="Arial"/>
              </a:rPr>
              <a:t> </a:t>
            </a:r>
            <a:r>
              <a:rPr sz="900" dirty="0">
                <a:latin typeface="Arial"/>
                <a:cs typeface="Arial"/>
              </a:rPr>
              <a:t>subset</a:t>
            </a:r>
            <a:r>
              <a:rPr sz="900" spc="-10" dirty="0">
                <a:latin typeface="Arial"/>
                <a:cs typeface="Arial"/>
              </a:rPr>
              <a:t> </a:t>
            </a:r>
            <a:r>
              <a:rPr sz="900" b="1" dirty="0">
                <a:latin typeface="Arial"/>
                <a:cs typeface="Arial"/>
              </a:rPr>
              <a:t>N</a:t>
            </a:r>
            <a:r>
              <a:rPr sz="900" b="1" spc="-5" dirty="0">
                <a:latin typeface="Arial"/>
                <a:cs typeface="Arial"/>
              </a:rPr>
              <a:t> </a:t>
            </a:r>
            <a:r>
              <a:rPr sz="900" dirty="0">
                <a:latin typeface="Arial"/>
                <a:cs typeface="Arial"/>
              </a:rPr>
              <a:t>of</a:t>
            </a:r>
            <a:r>
              <a:rPr sz="900" spc="-10" dirty="0">
                <a:latin typeface="Arial"/>
                <a:cs typeface="Arial"/>
              </a:rPr>
              <a:t> servers </a:t>
            </a:r>
            <a:r>
              <a:rPr sz="900" dirty="0">
                <a:latin typeface="Arial"/>
                <a:cs typeface="Arial"/>
              </a:rPr>
              <a:t>Make</a:t>
            </a:r>
            <a:r>
              <a:rPr sz="900" spc="-35" dirty="0">
                <a:latin typeface="Arial"/>
                <a:cs typeface="Arial"/>
              </a:rPr>
              <a:t> </a:t>
            </a:r>
            <a:r>
              <a:rPr sz="900" dirty="0">
                <a:latin typeface="Arial"/>
                <a:cs typeface="Arial"/>
              </a:rPr>
              <a:t>sure</a:t>
            </a:r>
            <a:r>
              <a:rPr sz="900" spc="-10" dirty="0">
                <a:latin typeface="Arial"/>
                <a:cs typeface="Arial"/>
              </a:rPr>
              <a:t> </a:t>
            </a:r>
            <a:r>
              <a:rPr sz="900" dirty="0">
                <a:latin typeface="Arial"/>
                <a:cs typeface="Arial"/>
              </a:rPr>
              <a:t>that</a:t>
            </a:r>
            <a:r>
              <a:rPr sz="900" spc="-15" dirty="0">
                <a:latin typeface="Arial"/>
                <a:cs typeface="Arial"/>
              </a:rPr>
              <a:t> </a:t>
            </a:r>
            <a:r>
              <a:rPr sz="900" b="1" spc="-10" dirty="0">
                <a:latin typeface="Arial"/>
                <a:cs typeface="Arial"/>
              </a:rPr>
              <a:t>S</a:t>
            </a:r>
            <a:r>
              <a:rPr sz="900" b="1" spc="-130" dirty="0">
                <a:latin typeface="Arial"/>
                <a:cs typeface="Arial"/>
              </a:rPr>
              <a:t> </a:t>
            </a:r>
            <a:r>
              <a:rPr sz="900" i="1" spc="50" dirty="0">
                <a:latin typeface="Menlo"/>
                <a:cs typeface="Menlo"/>
              </a:rPr>
              <a:t>∩</a:t>
            </a:r>
            <a:r>
              <a:rPr sz="900" i="1" spc="-420" dirty="0">
                <a:latin typeface="Menlo"/>
                <a:cs typeface="Menlo"/>
              </a:rPr>
              <a:t> </a:t>
            </a:r>
            <a:r>
              <a:rPr sz="900" b="1" dirty="0">
                <a:latin typeface="Arial"/>
                <a:cs typeface="Arial"/>
              </a:rPr>
              <a:t>N</a:t>
            </a:r>
            <a:r>
              <a:rPr sz="900" b="1" spc="-60" dirty="0">
                <a:latin typeface="Arial"/>
                <a:cs typeface="Arial"/>
              </a:rPr>
              <a:t> </a:t>
            </a:r>
            <a:r>
              <a:rPr sz="900" i="1" spc="-459" dirty="0">
                <a:latin typeface="Menlo"/>
                <a:cs typeface="Menlo"/>
              </a:rPr>
              <a:t≯</a:t>
            </a:r>
            <a:r>
              <a:rPr sz="900" spc="95" dirty="0">
                <a:latin typeface="Arial"/>
                <a:cs typeface="Arial"/>
              </a:rPr>
              <a:t>=</a:t>
            </a:r>
            <a:r>
              <a:rPr lang="en-US" sz="900" spc="-50" dirty="0">
                <a:latin typeface="Arial"/>
                <a:cs typeface="Arial"/>
              </a:rPr>
              <a:t> emptyset</a:t>
            </a:r>
            <a:endParaRPr sz="900" dirty="0">
              <a:latin typeface="Arial"/>
              <a:cs typeface="Arial"/>
            </a:endParaRPr>
          </a:p>
          <a:p>
            <a:pPr marL="31115">
              <a:lnSpc>
                <a:spcPct val="100000"/>
              </a:lnSpc>
              <a:spcBef>
                <a:spcPts val="675"/>
              </a:spcBef>
            </a:pPr>
            <a:r>
              <a:rPr sz="1000" spc="-10" dirty="0">
                <a:solidFill>
                  <a:srgbClr val="C80000"/>
                </a:solidFill>
                <a:latin typeface="Arial"/>
                <a:cs typeface="Arial"/>
              </a:rPr>
              <a:t>Observations</a:t>
            </a:r>
            <a:endParaRPr sz="1000" dirty="0">
              <a:latin typeface="Arial"/>
              <a:cs typeface="Arial"/>
            </a:endParaRPr>
          </a:p>
          <a:p>
            <a:pPr marL="283845" indent="-120650">
              <a:lnSpc>
                <a:spcPct val="100000"/>
              </a:lnSpc>
              <a:spcBef>
                <a:spcPts val="505"/>
              </a:spcBef>
              <a:buClr>
                <a:srgbClr val="3333B2"/>
              </a:buClr>
              <a:buFont typeface="Menlo"/>
              <a:buChar char="•"/>
              <a:tabLst>
                <a:tab pos="284480" algn="l"/>
              </a:tabLst>
            </a:pPr>
            <a:r>
              <a:rPr sz="900" spc="-10" dirty="0">
                <a:latin typeface="Arial"/>
                <a:cs typeface="Arial"/>
              </a:rPr>
              <a:t>Centralized</a:t>
            </a:r>
            <a:r>
              <a:rPr sz="900" spc="-15" dirty="0">
                <a:latin typeface="Arial"/>
                <a:cs typeface="Arial"/>
              </a:rPr>
              <a:t> </a:t>
            </a:r>
            <a:r>
              <a:rPr sz="900" dirty="0">
                <a:latin typeface="Arial"/>
                <a:cs typeface="Arial"/>
              </a:rPr>
              <a:t>solution</a:t>
            </a:r>
            <a:r>
              <a:rPr sz="900" spc="-10" dirty="0">
                <a:latin typeface="Arial"/>
                <a:cs typeface="Arial"/>
              </a:rPr>
              <a:t> </a:t>
            </a:r>
            <a:r>
              <a:rPr sz="900" dirty="0">
                <a:latin typeface="Arial"/>
                <a:cs typeface="Arial"/>
              </a:rPr>
              <a:t>is</a:t>
            </a:r>
            <a:r>
              <a:rPr sz="900" spc="-15" dirty="0">
                <a:latin typeface="Arial"/>
                <a:cs typeface="Arial"/>
              </a:rPr>
              <a:t> </a:t>
            </a:r>
            <a:r>
              <a:rPr sz="900" dirty="0">
                <a:latin typeface="Arial"/>
                <a:cs typeface="Arial"/>
              </a:rPr>
              <a:t>simple:</a:t>
            </a:r>
            <a:r>
              <a:rPr sz="900" spc="45" dirty="0">
                <a:latin typeface="Arial"/>
                <a:cs typeface="Arial"/>
              </a:rPr>
              <a:t> </a:t>
            </a:r>
            <a:r>
              <a:rPr sz="900" b="1" dirty="0">
                <a:latin typeface="Arial"/>
                <a:cs typeface="Arial"/>
              </a:rPr>
              <a:t>S</a:t>
            </a:r>
            <a:r>
              <a:rPr sz="900" b="1" spc="-60" dirty="0">
                <a:latin typeface="Arial"/>
                <a:cs typeface="Arial"/>
              </a:rPr>
              <a:t> </a:t>
            </a:r>
            <a:r>
              <a:rPr sz="900" spc="185" dirty="0">
                <a:latin typeface="Arial"/>
                <a:cs typeface="Arial"/>
              </a:rPr>
              <a:t>=</a:t>
            </a:r>
            <a:r>
              <a:rPr sz="900" spc="-60" dirty="0">
                <a:latin typeface="Arial"/>
                <a:cs typeface="Arial"/>
              </a:rPr>
              <a:t> </a:t>
            </a:r>
            <a:r>
              <a:rPr sz="900" b="1" dirty="0">
                <a:latin typeface="Arial"/>
                <a:cs typeface="Arial"/>
              </a:rPr>
              <a:t>N</a:t>
            </a:r>
            <a:r>
              <a:rPr sz="900" b="1" spc="-60" dirty="0">
                <a:latin typeface="Arial"/>
                <a:cs typeface="Arial"/>
              </a:rPr>
              <a:t> </a:t>
            </a:r>
            <a:r>
              <a:rPr sz="900" spc="185" dirty="0">
                <a:latin typeface="Arial"/>
                <a:cs typeface="Arial"/>
              </a:rPr>
              <a:t>=</a:t>
            </a:r>
            <a:r>
              <a:rPr sz="900" spc="-60" dirty="0">
                <a:latin typeface="Arial"/>
                <a:cs typeface="Arial"/>
              </a:rPr>
              <a:t> </a:t>
            </a:r>
            <a:r>
              <a:rPr sz="900" i="1" spc="-45" dirty="0">
                <a:latin typeface="Menlo"/>
                <a:cs typeface="Menlo"/>
              </a:rPr>
              <a:t>{</a:t>
            </a:r>
            <a:r>
              <a:rPr sz="900" i="1" spc="-45" dirty="0">
                <a:latin typeface="Arial"/>
                <a:cs typeface="Arial"/>
              </a:rPr>
              <a:t>s</a:t>
            </a:r>
            <a:r>
              <a:rPr sz="900" i="1" spc="-45" dirty="0">
                <a:latin typeface="Menlo"/>
                <a:cs typeface="Menlo"/>
              </a:rPr>
              <a:t>}</a:t>
            </a:r>
            <a:r>
              <a:rPr sz="900" spc="-45" dirty="0">
                <a:latin typeface="Arial"/>
                <a:cs typeface="Arial"/>
              </a:rPr>
              <a:t>,</a:t>
            </a:r>
            <a:r>
              <a:rPr sz="900" spc="-15" dirty="0">
                <a:latin typeface="Arial"/>
                <a:cs typeface="Arial"/>
              </a:rPr>
              <a:t> </a:t>
            </a:r>
            <a:r>
              <a:rPr sz="900" dirty="0">
                <a:latin typeface="Arial"/>
                <a:cs typeface="Arial"/>
              </a:rPr>
              <a:t>i.e.</a:t>
            </a:r>
            <a:r>
              <a:rPr sz="900" spc="50" dirty="0">
                <a:latin typeface="Arial"/>
                <a:cs typeface="Arial"/>
              </a:rPr>
              <a:t> </a:t>
            </a:r>
            <a:r>
              <a:rPr sz="900" dirty="0">
                <a:latin typeface="Arial"/>
                <a:cs typeface="Arial"/>
              </a:rPr>
              <a:t>a</a:t>
            </a:r>
            <a:r>
              <a:rPr sz="900" spc="-15" dirty="0">
                <a:latin typeface="Arial"/>
                <a:cs typeface="Arial"/>
              </a:rPr>
              <a:t> </a:t>
            </a:r>
            <a:r>
              <a:rPr sz="900" dirty="0">
                <a:latin typeface="Arial"/>
                <a:cs typeface="Arial"/>
              </a:rPr>
              <a:t>single</a:t>
            </a:r>
            <a:r>
              <a:rPr sz="900" spc="-10" dirty="0">
                <a:latin typeface="Arial"/>
                <a:cs typeface="Arial"/>
              </a:rPr>
              <a:t> server.</a:t>
            </a:r>
            <a:endParaRPr sz="900" dirty="0">
              <a:latin typeface="Arial"/>
              <a:cs typeface="Arial"/>
            </a:endParaRPr>
          </a:p>
          <a:p>
            <a:pPr marL="280035" marR="123825" indent="-116205">
              <a:lnSpc>
                <a:spcPct val="111600"/>
              </a:lnSpc>
              <a:spcBef>
                <a:spcPts val="400"/>
              </a:spcBef>
              <a:buFont typeface="Menlo"/>
              <a:buChar char="•"/>
              <a:tabLst>
                <a:tab pos="284480" algn="l"/>
              </a:tabLst>
            </a:pPr>
            <a:r>
              <a:rPr sz="900" spc="-30" dirty="0">
                <a:solidFill>
                  <a:srgbClr val="3333B2"/>
                </a:solidFill>
                <a:latin typeface="Arial"/>
                <a:cs typeface="Arial"/>
              </a:rPr>
              <a:t>Topic-</a:t>
            </a:r>
            <a:r>
              <a:rPr sz="900" dirty="0">
                <a:solidFill>
                  <a:srgbClr val="3333B2"/>
                </a:solidFill>
                <a:latin typeface="Arial"/>
                <a:cs typeface="Arial"/>
              </a:rPr>
              <a:t>based</a:t>
            </a:r>
            <a:r>
              <a:rPr sz="900" spc="-15" dirty="0">
                <a:solidFill>
                  <a:srgbClr val="3333B2"/>
                </a:solidFill>
                <a:latin typeface="Arial"/>
                <a:cs typeface="Arial"/>
              </a:rPr>
              <a:t> </a:t>
            </a:r>
            <a:r>
              <a:rPr sz="900" spc="-10" dirty="0">
                <a:solidFill>
                  <a:srgbClr val="3333B2"/>
                </a:solidFill>
                <a:latin typeface="Arial"/>
                <a:cs typeface="Arial"/>
              </a:rPr>
              <a:t>publish-</a:t>
            </a:r>
            <a:r>
              <a:rPr sz="900" dirty="0">
                <a:solidFill>
                  <a:srgbClr val="3333B2"/>
                </a:solidFill>
                <a:latin typeface="Arial"/>
                <a:cs typeface="Arial"/>
              </a:rPr>
              <a:t>subscribe</a:t>
            </a:r>
            <a:r>
              <a:rPr sz="900" spc="-15" dirty="0">
                <a:solidFill>
                  <a:srgbClr val="3333B2"/>
                </a:solidFill>
                <a:latin typeface="Arial"/>
                <a:cs typeface="Arial"/>
              </a:rPr>
              <a:t> </a:t>
            </a:r>
            <a:r>
              <a:rPr sz="900" dirty="0">
                <a:latin typeface="Arial"/>
                <a:cs typeface="Arial"/>
              </a:rPr>
              <a:t>is</a:t>
            </a:r>
            <a:r>
              <a:rPr sz="900" spc="-10" dirty="0">
                <a:latin typeface="Arial"/>
                <a:cs typeface="Arial"/>
              </a:rPr>
              <a:t> </a:t>
            </a:r>
            <a:r>
              <a:rPr sz="900" dirty="0">
                <a:latin typeface="Arial"/>
                <a:cs typeface="Arial"/>
              </a:rPr>
              <a:t>also</a:t>
            </a:r>
            <a:r>
              <a:rPr sz="900" spc="-15" dirty="0">
                <a:latin typeface="Arial"/>
                <a:cs typeface="Arial"/>
              </a:rPr>
              <a:t> </a:t>
            </a:r>
            <a:r>
              <a:rPr sz="900" dirty="0">
                <a:latin typeface="Arial"/>
                <a:cs typeface="Arial"/>
              </a:rPr>
              <a:t>simple:</a:t>
            </a:r>
            <a:r>
              <a:rPr sz="900" spc="45" dirty="0">
                <a:latin typeface="Arial"/>
                <a:cs typeface="Arial"/>
              </a:rPr>
              <a:t> </a:t>
            </a:r>
            <a:r>
              <a:rPr sz="900" dirty="0">
                <a:latin typeface="Arial"/>
                <a:cs typeface="Arial"/>
              </a:rPr>
              <a:t>each</a:t>
            </a:r>
            <a:r>
              <a:rPr sz="900" spc="-10" dirty="0">
                <a:latin typeface="Arial"/>
                <a:cs typeface="Arial"/>
              </a:rPr>
              <a:t> </a:t>
            </a:r>
            <a:r>
              <a:rPr sz="900" i="1" dirty="0">
                <a:latin typeface="Arial"/>
                <a:cs typeface="Arial"/>
              </a:rPr>
              <a:t>S</a:t>
            </a:r>
            <a:r>
              <a:rPr sz="900" i="1" spc="30" dirty="0">
                <a:latin typeface="Arial"/>
                <a:cs typeface="Arial"/>
              </a:rPr>
              <a:t> </a:t>
            </a:r>
            <a:r>
              <a:rPr sz="900" dirty="0">
                <a:latin typeface="Arial"/>
                <a:cs typeface="Arial"/>
              </a:rPr>
              <a:t>and</a:t>
            </a:r>
            <a:r>
              <a:rPr sz="900" spc="-15" dirty="0">
                <a:latin typeface="Arial"/>
                <a:cs typeface="Arial"/>
              </a:rPr>
              <a:t> </a:t>
            </a:r>
            <a:r>
              <a:rPr sz="900" i="1" dirty="0">
                <a:latin typeface="Arial"/>
                <a:cs typeface="Arial"/>
              </a:rPr>
              <a:t>N</a:t>
            </a:r>
            <a:r>
              <a:rPr sz="900" i="1" spc="55" dirty="0">
                <a:latin typeface="Arial"/>
                <a:cs typeface="Arial"/>
              </a:rPr>
              <a:t> </a:t>
            </a:r>
            <a:r>
              <a:rPr sz="900" dirty="0">
                <a:latin typeface="Arial"/>
                <a:cs typeface="Arial"/>
              </a:rPr>
              <a:t>is</a:t>
            </a:r>
            <a:r>
              <a:rPr sz="900" spc="-10" dirty="0">
                <a:latin typeface="Arial"/>
                <a:cs typeface="Arial"/>
              </a:rPr>
              <a:t> tagged </a:t>
            </a:r>
            <a:r>
              <a:rPr sz="900" dirty="0">
                <a:latin typeface="Arial"/>
                <a:cs typeface="Arial"/>
              </a:rPr>
              <a:t>with</a:t>
            </a:r>
            <a:r>
              <a:rPr sz="900" spc="-25" dirty="0">
                <a:latin typeface="Arial"/>
                <a:cs typeface="Arial"/>
              </a:rPr>
              <a:t> </a:t>
            </a:r>
            <a:r>
              <a:rPr sz="900" dirty="0">
                <a:latin typeface="Arial"/>
                <a:cs typeface="Arial"/>
              </a:rPr>
              <a:t>a</a:t>
            </a:r>
            <a:r>
              <a:rPr sz="900" spc="-25" dirty="0">
                <a:latin typeface="Arial"/>
                <a:cs typeface="Arial"/>
              </a:rPr>
              <a:t> </a:t>
            </a:r>
            <a:r>
              <a:rPr sz="900" dirty="0">
                <a:solidFill>
                  <a:srgbClr val="3333B2"/>
                </a:solidFill>
                <a:latin typeface="Arial"/>
                <a:cs typeface="Arial"/>
              </a:rPr>
              <a:t>single</a:t>
            </a:r>
            <a:r>
              <a:rPr sz="900" spc="-25" dirty="0">
                <a:solidFill>
                  <a:srgbClr val="3333B2"/>
                </a:solidFill>
                <a:latin typeface="Arial"/>
                <a:cs typeface="Arial"/>
              </a:rPr>
              <a:t> </a:t>
            </a:r>
            <a:r>
              <a:rPr sz="900" dirty="0">
                <a:solidFill>
                  <a:srgbClr val="3333B2"/>
                </a:solidFill>
                <a:latin typeface="Arial"/>
                <a:cs typeface="Arial"/>
              </a:rPr>
              <a:t>topic</a:t>
            </a:r>
            <a:r>
              <a:rPr sz="900" dirty="0">
                <a:latin typeface="Arial"/>
                <a:cs typeface="Arial"/>
              </a:rPr>
              <a:t>;</a:t>
            </a:r>
            <a:r>
              <a:rPr sz="900" spc="-25" dirty="0">
                <a:latin typeface="Arial"/>
                <a:cs typeface="Arial"/>
              </a:rPr>
              <a:t> </a:t>
            </a:r>
            <a:r>
              <a:rPr sz="900" dirty="0">
                <a:latin typeface="Arial"/>
                <a:cs typeface="Arial"/>
              </a:rPr>
              <a:t>each</a:t>
            </a:r>
            <a:r>
              <a:rPr sz="900" spc="-20" dirty="0">
                <a:latin typeface="Arial"/>
                <a:cs typeface="Arial"/>
              </a:rPr>
              <a:t> </a:t>
            </a:r>
            <a:r>
              <a:rPr sz="900" dirty="0">
                <a:latin typeface="Arial"/>
                <a:cs typeface="Arial"/>
              </a:rPr>
              <a:t>topic</a:t>
            </a:r>
            <a:r>
              <a:rPr sz="900" spc="-25" dirty="0">
                <a:latin typeface="Arial"/>
                <a:cs typeface="Arial"/>
              </a:rPr>
              <a:t> </a:t>
            </a:r>
            <a:r>
              <a:rPr sz="900" dirty="0">
                <a:latin typeface="Arial"/>
                <a:cs typeface="Arial"/>
              </a:rPr>
              <a:t>is</a:t>
            </a:r>
            <a:r>
              <a:rPr sz="900" spc="-25" dirty="0">
                <a:latin typeface="Arial"/>
                <a:cs typeface="Arial"/>
              </a:rPr>
              <a:t> </a:t>
            </a:r>
            <a:r>
              <a:rPr sz="900" dirty="0">
                <a:latin typeface="Arial"/>
                <a:cs typeface="Arial"/>
              </a:rPr>
              <a:t>handled</a:t>
            </a:r>
            <a:r>
              <a:rPr sz="900" spc="-25" dirty="0">
                <a:latin typeface="Arial"/>
                <a:cs typeface="Arial"/>
              </a:rPr>
              <a:t> </a:t>
            </a:r>
            <a:r>
              <a:rPr sz="900" dirty="0">
                <a:latin typeface="Arial"/>
                <a:cs typeface="Arial"/>
              </a:rPr>
              <a:t>by</a:t>
            </a:r>
            <a:r>
              <a:rPr sz="900" spc="-20" dirty="0">
                <a:latin typeface="Arial"/>
                <a:cs typeface="Arial"/>
              </a:rPr>
              <a:t> </a:t>
            </a:r>
            <a:r>
              <a:rPr sz="900" dirty="0">
                <a:latin typeface="Arial"/>
                <a:cs typeface="Arial"/>
              </a:rPr>
              <a:t>a</a:t>
            </a:r>
            <a:r>
              <a:rPr sz="900" spc="-25" dirty="0">
                <a:latin typeface="Arial"/>
                <a:cs typeface="Arial"/>
              </a:rPr>
              <a:t> </a:t>
            </a:r>
            <a:r>
              <a:rPr sz="900" dirty="0">
                <a:latin typeface="Arial"/>
                <a:cs typeface="Arial"/>
              </a:rPr>
              <a:t>single</a:t>
            </a:r>
            <a:r>
              <a:rPr sz="900" spc="-25" dirty="0">
                <a:latin typeface="Arial"/>
                <a:cs typeface="Arial"/>
              </a:rPr>
              <a:t> </a:t>
            </a:r>
            <a:r>
              <a:rPr sz="900" dirty="0">
                <a:latin typeface="Arial"/>
                <a:cs typeface="Arial"/>
              </a:rPr>
              <a:t>server</a:t>
            </a:r>
            <a:r>
              <a:rPr sz="900" spc="-25" dirty="0">
                <a:latin typeface="Arial"/>
                <a:cs typeface="Arial"/>
              </a:rPr>
              <a:t> (a </a:t>
            </a:r>
            <a:r>
              <a:rPr sz="900" spc="-10" dirty="0">
                <a:solidFill>
                  <a:srgbClr val="3333B2"/>
                </a:solidFill>
                <a:latin typeface="Arial"/>
                <a:cs typeface="Arial"/>
              </a:rPr>
              <a:t>rendezevous</a:t>
            </a:r>
            <a:r>
              <a:rPr sz="900" spc="-30" dirty="0">
                <a:solidFill>
                  <a:srgbClr val="3333B2"/>
                </a:solidFill>
                <a:latin typeface="Arial"/>
                <a:cs typeface="Arial"/>
              </a:rPr>
              <a:t> </a:t>
            </a:r>
            <a:r>
              <a:rPr sz="900" dirty="0">
                <a:solidFill>
                  <a:srgbClr val="3333B2"/>
                </a:solidFill>
                <a:latin typeface="Arial"/>
                <a:cs typeface="Arial"/>
              </a:rPr>
              <a:t>node</a:t>
            </a:r>
            <a:r>
              <a:rPr sz="900" dirty="0">
                <a:latin typeface="Arial"/>
                <a:cs typeface="Arial"/>
              </a:rPr>
              <a:t>).</a:t>
            </a:r>
            <a:r>
              <a:rPr sz="900" spc="25" dirty="0">
                <a:latin typeface="Arial"/>
                <a:cs typeface="Arial"/>
              </a:rPr>
              <a:t> </a:t>
            </a:r>
            <a:r>
              <a:rPr sz="900" spc="-10" dirty="0">
                <a:latin typeface="Arial"/>
                <a:cs typeface="Arial"/>
              </a:rPr>
              <a:t>Several</a:t>
            </a:r>
            <a:r>
              <a:rPr sz="900" spc="-30" dirty="0">
                <a:latin typeface="Arial"/>
                <a:cs typeface="Arial"/>
              </a:rPr>
              <a:t> </a:t>
            </a:r>
            <a:r>
              <a:rPr sz="900" dirty="0">
                <a:latin typeface="Arial"/>
                <a:cs typeface="Arial"/>
              </a:rPr>
              <a:t>topics</a:t>
            </a:r>
            <a:r>
              <a:rPr sz="900" spc="-30" dirty="0">
                <a:latin typeface="Arial"/>
                <a:cs typeface="Arial"/>
              </a:rPr>
              <a:t> </a:t>
            </a:r>
            <a:r>
              <a:rPr sz="900" dirty="0">
                <a:latin typeface="Arial"/>
                <a:cs typeface="Arial"/>
              </a:rPr>
              <a:t>may</a:t>
            </a:r>
            <a:r>
              <a:rPr sz="900" spc="-30" dirty="0">
                <a:latin typeface="Arial"/>
                <a:cs typeface="Arial"/>
              </a:rPr>
              <a:t> </a:t>
            </a:r>
            <a:r>
              <a:rPr sz="900" dirty="0">
                <a:latin typeface="Arial"/>
                <a:cs typeface="Arial"/>
              </a:rPr>
              <a:t>be</a:t>
            </a:r>
            <a:r>
              <a:rPr sz="900" spc="-30" dirty="0">
                <a:latin typeface="Arial"/>
                <a:cs typeface="Arial"/>
              </a:rPr>
              <a:t> </a:t>
            </a:r>
            <a:r>
              <a:rPr sz="900" dirty="0">
                <a:latin typeface="Arial"/>
                <a:cs typeface="Arial"/>
              </a:rPr>
              <a:t>handled</a:t>
            </a:r>
            <a:r>
              <a:rPr sz="900" spc="-30" dirty="0">
                <a:latin typeface="Arial"/>
                <a:cs typeface="Arial"/>
              </a:rPr>
              <a:t> </a:t>
            </a:r>
            <a:r>
              <a:rPr sz="900" dirty="0">
                <a:latin typeface="Arial"/>
                <a:cs typeface="Arial"/>
              </a:rPr>
              <a:t>by</a:t>
            </a:r>
            <a:r>
              <a:rPr sz="900" spc="-30" dirty="0">
                <a:latin typeface="Arial"/>
                <a:cs typeface="Arial"/>
              </a:rPr>
              <a:t> </a:t>
            </a:r>
            <a:r>
              <a:rPr sz="900" dirty="0">
                <a:latin typeface="Arial"/>
                <a:cs typeface="Arial"/>
              </a:rPr>
              <a:t>same</a:t>
            </a:r>
            <a:r>
              <a:rPr sz="900" spc="-30" dirty="0">
                <a:latin typeface="Arial"/>
                <a:cs typeface="Arial"/>
              </a:rPr>
              <a:t> </a:t>
            </a:r>
            <a:r>
              <a:rPr sz="900" spc="-10" dirty="0">
                <a:latin typeface="Arial"/>
                <a:cs typeface="Arial"/>
              </a:rPr>
              <a:t>server).</a:t>
            </a:r>
            <a:endParaRPr sz="900" dirty="0">
              <a:latin typeface="Arial"/>
              <a:cs typeface="Arial"/>
            </a:endParaRPr>
          </a:p>
          <a:p>
            <a:pPr marL="280035" marR="17780" indent="-116839">
              <a:lnSpc>
                <a:spcPct val="111600"/>
              </a:lnSpc>
              <a:spcBef>
                <a:spcPts val="395"/>
              </a:spcBef>
              <a:buFont typeface="Menlo"/>
              <a:buChar char="•"/>
              <a:tabLst>
                <a:tab pos="284480" algn="l"/>
              </a:tabLst>
            </a:pPr>
            <a:r>
              <a:rPr sz="900" spc="-10" dirty="0">
                <a:solidFill>
                  <a:srgbClr val="3333B2"/>
                </a:solidFill>
                <a:latin typeface="Arial"/>
                <a:cs typeface="Arial"/>
              </a:rPr>
              <a:t>Content-</a:t>
            </a:r>
            <a:r>
              <a:rPr sz="900" dirty="0">
                <a:solidFill>
                  <a:srgbClr val="3333B2"/>
                </a:solidFill>
                <a:latin typeface="Arial"/>
                <a:cs typeface="Arial"/>
              </a:rPr>
              <a:t>based</a:t>
            </a:r>
            <a:r>
              <a:rPr sz="900" spc="-20" dirty="0">
                <a:solidFill>
                  <a:srgbClr val="3333B2"/>
                </a:solidFill>
                <a:latin typeface="Arial"/>
                <a:cs typeface="Arial"/>
              </a:rPr>
              <a:t> </a:t>
            </a:r>
            <a:r>
              <a:rPr sz="900" spc="-10" dirty="0">
                <a:solidFill>
                  <a:srgbClr val="3333B2"/>
                </a:solidFill>
                <a:latin typeface="Arial"/>
                <a:cs typeface="Arial"/>
              </a:rPr>
              <a:t>publish-</a:t>
            </a:r>
            <a:r>
              <a:rPr sz="900" dirty="0">
                <a:solidFill>
                  <a:srgbClr val="3333B2"/>
                </a:solidFill>
                <a:latin typeface="Arial"/>
                <a:cs typeface="Arial"/>
              </a:rPr>
              <a:t>subscribe</a:t>
            </a:r>
            <a:r>
              <a:rPr sz="900" spc="-20" dirty="0">
                <a:solidFill>
                  <a:srgbClr val="3333B2"/>
                </a:solidFill>
                <a:latin typeface="Arial"/>
                <a:cs typeface="Arial"/>
              </a:rPr>
              <a:t> </a:t>
            </a:r>
            <a:r>
              <a:rPr sz="900" dirty="0">
                <a:latin typeface="Arial"/>
                <a:cs typeface="Arial"/>
              </a:rPr>
              <a:t>is</a:t>
            </a:r>
            <a:r>
              <a:rPr sz="900" spc="-15" dirty="0">
                <a:latin typeface="Arial"/>
                <a:cs typeface="Arial"/>
              </a:rPr>
              <a:t> </a:t>
            </a:r>
            <a:r>
              <a:rPr sz="900" dirty="0">
                <a:solidFill>
                  <a:srgbClr val="C80000"/>
                </a:solidFill>
                <a:latin typeface="Arial"/>
                <a:cs typeface="Arial"/>
              </a:rPr>
              <a:t>tough</a:t>
            </a:r>
            <a:r>
              <a:rPr sz="900" dirty="0">
                <a:latin typeface="Arial"/>
                <a:cs typeface="Arial"/>
              </a:rPr>
              <a:t>:</a:t>
            </a:r>
            <a:r>
              <a:rPr sz="900" spc="35" dirty="0">
                <a:latin typeface="Arial"/>
                <a:cs typeface="Arial"/>
              </a:rPr>
              <a:t> </a:t>
            </a:r>
            <a:r>
              <a:rPr sz="900" dirty="0">
                <a:latin typeface="Arial"/>
                <a:cs typeface="Arial"/>
              </a:rPr>
              <a:t>a</a:t>
            </a:r>
            <a:r>
              <a:rPr sz="900" spc="-15" dirty="0">
                <a:latin typeface="Arial"/>
                <a:cs typeface="Arial"/>
              </a:rPr>
              <a:t> </a:t>
            </a:r>
            <a:r>
              <a:rPr sz="900" dirty="0">
                <a:latin typeface="Arial"/>
                <a:cs typeface="Arial"/>
              </a:rPr>
              <a:t>subscription</a:t>
            </a:r>
            <a:r>
              <a:rPr sz="900" spc="-20" dirty="0">
                <a:latin typeface="Arial"/>
                <a:cs typeface="Arial"/>
              </a:rPr>
              <a:t> </a:t>
            </a:r>
            <a:r>
              <a:rPr sz="900" dirty="0">
                <a:latin typeface="Arial"/>
                <a:cs typeface="Arial"/>
              </a:rPr>
              <a:t>takes</a:t>
            </a:r>
            <a:r>
              <a:rPr sz="900" spc="-15" dirty="0">
                <a:latin typeface="Arial"/>
                <a:cs typeface="Arial"/>
              </a:rPr>
              <a:t> </a:t>
            </a:r>
            <a:r>
              <a:rPr sz="900" dirty="0">
                <a:latin typeface="Arial"/>
                <a:cs typeface="Arial"/>
              </a:rPr>
              <a:t>the</a:t>
            </a:r>
            <a:r>
              <a:rPr sz="900" spc="-20" dirty="0">
                <a:latin typeface="Arial"/>
                <a:cs typeface="Arial"/>
              </a:rPr>
              <a:t> form </a:t>
            </a:r>
            <a:r>
              <a:rPr sz="900" dirty="0">
                <a:latin typeface="Arial"/>
                <a:cs typeface="Arial"/>
              </a:rPr>
              <a:t>(</a:t>
            </a:r>
            <a:r>
              <a:rPr sz="900" i="1" dirty="0">
                <a:latin typeface="Arial"/>
                <a:cs typeface="Arial"/>
              </a:rPr>
              <a:t>attribute</a:t>
            </a:r>
            <a:r>
              <a:rPr sz="900" dirty="0">
                <a:latin typeface="Arial"/>
                <a:cs typeface="Arial"/>
              </a:rPr>
              <a:t>,</a:t>
            </a:r>
            <a:r>
              <a:rPr sz="900" spc="-35" dirty="0">
                <a:latin typeface="Arial"/>
                <a:cs typeface="Arial"/>
              </a:rPr>
              <a:t> </a:t>
            </a:r>
            <a:r>
              <a:rPr sz="900" i="1" dirty="0">
                <a:latin typeface="Arial"/>
                <a:cs typeface="Arial"/>
              </a:rPr>
              <a:t>value</a:t>
            </a:r>
            <a:r>
              <a:rPr sz="900" dirty="0">
                <a:latin typeface="Arial"/>
                <a:cs typeface="Arial"/>
              </a:rPr>
              <a:t>)</a:t>
            </a:r>
            <a:r>
              <a:rPr sz="900" spc="-30" dirty="0">
                <a:latin typeface="Arial"/>
                <a:cs typeface="Arial"/>
              </a:rPr>
              <a:t> </a:t>
            </a:r>
            <a:r>
              <a:rPr sz="900" spc="-10" dirty="0">
                <a:latin typeface="Arial"/>
                <a:cs typeface="Arial"/>
              </a:rPr>
              <a:t>pair,</a:t>
            </a:r>
            <a:r>
              <a:rPr sz="900" spc="-30" dirty="0">
                <a:latin typeface="Arial"/>
                <a:cs typeface="Arial"/>
              </a:rPr>
              <a:t> </a:t>
            </a:r>
            <a:r>
              <a:rPr sz="900" dirty="0">
                <a:latin typeface="Arial"/>
                <a:cs typeface="Arial"/>
              </a:rPr>
              <a:t>with</a:t>
            </a:r>
            <a:r>
              <a:rPr sz="900" spc="-30" dirty="0">
                <a:latin typeface="Arial"/>
                <a:cs typeface="Arial"/>
              </a:rPr>
              <a:t> </a:t>
            </a:r>
            <a:r>
              <a:rPr sz="900" spc="-10" dirty="0">
                <a:latin typeface="Arial"/>
                <a:cs typeface="Arial"/>
              </a:rPr>
              <a:t>example</a:t>
            </a:r>
            <a:r>
              <a:rPr sz="900" spc="-35" dirty="0">
                <a:latin typeface="Arial"/>
                <a:cs typeface="Arial"/>
              </a:rPr>
              <a:t> </a:t>
            </a:r>
            <a:r>
              <a:rPr sz="900" spc="-10" dirty="0">
                <a:latin typeface="Arial"/>
                <a:cs typeface="Arial"/>
              </a:rPr>
              <a:t>values:</a:t>
            </a:r>
            <a:endParaRPr sz="900" dirty="0">
              <a:latin typeface="Arial"/>
              <a:cs typeface="Arial"/>
            </a:endParaRPr>
          </a:p>
          <a:p>
            <a:pPr marL="537210" lvl="1" indent="-120650">
              <a:lnSpc>
                <a:spcPct val="100000"/>
              </a:lnSpc>
              <a:spcBef>
                <a:spcPts val="525"/>
              </a:spcBef>
              <a:buClr>
                <a:srgbClr val="C80000"/>
              </a:buClr>
              <a:buFont typeface="Menlo"/>
              <a:buChar char="•"/>
              <a:tabLst>
                <a:tab pos="537845" algn="l"/>
              </a:tabLst>
            </a:pPr>
            <a:r>
              <a:rPr sz="900" dirty="0">
                <a:solidFill>
                  <a:srgbClr val="3333B2"/>
                </a:solidFill>
                <a:latin typeface="Arial"/>
                <a:cs typeface="Arial"/>
              </a:rPr>
              <a:t>range</a:t>
            </a:r>
            <a:r>
              <a:rPr sz="900" dirty="0">
                <a:latin typeface="Arial"/>
                <a:cs typeface="Arial"/>
              </a:rPr>
              <a:t>:</a:t>
            </a:r>
            <a:r>
              <a:rPr sz="900" spc="40" dirty="0">
                <a:latin typeface="Arial"/>
                <a:cs typeface="Arial"/>
              </a:rPr>
              <a:t> </a:t>
            </a:r>
            <a:r>
              <a:rPr sz="900" spc="-10" dirty="0">
                <a:latin typeface="Arial"/>
                <a:cs typeface="Arial"/>
              </a:rPr>
              <a:t>“1</a:t>
            </a:r>
            <a:r>
              <a:rPr sz="900" spc="-55" dirty="0">
                <a:latin typeface="Arial"/>
                <a:cs typeface="Arial"/>
              </a:rPr>
              <a:t> </a:t>
            </a:r>
            <a:r>
              <a:rPr sz="900" i="1" spc="150" dirty="0">
                <a:latin typeface="Menlo"/>
                <a:cs typeface="Menlo"/>
              </a:rPr>
              <a:t>≤</a:t>
            </a:r>
            <a:r>
              <a:rPr sz="900" i="1" spc="-345" dirty="0">
                <a:latin typeface="Menlo"/>
                <a:cs typeface="Menlo"/>
              </a:rPr>
              <a:t> </a:t>
            </a:r>
            <a:r>
              <a:rPr sz="900" i="1" dirty="0">
                <a:latin typeface="Arial"/>
                <a:cs typeface="Arial"/>
              </a:rPr>
              <a:t>x</a:t>
            </a:r>
            <a:r>
              <a:rPr sz="900" i="1" spc="25" dirty="0">
                <a:latin typeface="Arial"/>
                <a:cs typeface="Arial"/>
              </a:rPr>
              <a:t> </a:t>
            </a:r>
            <a:r>
              <a:rPr sz="900" i="1" spc="60" dirty="0">
                <a:latin typeface="STIX Two Text"/>
                <a:cs typeface="STIX Two Text"/>
              </a:rPr>
              <a:t>&lt;</a:t>
            </a:r>
            <a:r>
              <a:rPr sz="900" i="1" spc="-10" dirty="0">
                <a:latin typeface="STIX Two Text"/>
                <a:cs typeface="STIX Two Text"/>
              </a:rPr>
              <a:t> </a:t>
            </a:r>
            <a:r>
              <a:rPr sz="900" spc="-25" dirty="0">
                <a:latin typeface="Arial"/>
                <a:cs typeface="Arial"/>
              </a:rPr>
              <a:t>10”</a:t>
            </a:r>
            <a:endParaRPr sz="900" dirty="0">
              <a:latin typeface="Arial"/>
              <a:cs typeface="Arial"/>
            </a:endParaRPr>
          </a:p>
          <a:p>
            <a:pPr marL="537210" lvl="1" indent="-120650">
              <a:lnSpc>
                <a:spcPct val="100000"/>
              </a:lnSpc>
              <a:spcBef>
                <a:spcPts val="125"/>
              </a:spcBef>
              <a:buClr>
                <a:srgbClr val="C80000"/>
              </a:buClr>
              <a:buFont typeface="Menlo"/>
              <a:buChar char="•"/>
              <a:tabLst>
                <a:tab pos="537845" algn="l"/>
              </a:tabLst>
            </a:pPr>
            <a:r>
              <a:rPr sz="900" dirty="0">
                <a:solidFill>
                  <a:srgbClr val="3333B2"/>
                </a:solidFill>
                <a:latin typeface="Arial"/>
                <a:cs typeface="Arial"/>
              </a:rPr>
              <a:t>containment</a:t>
            </a:r>
            <a:r>
              <a:rPr sz="900" dirty="0">
                <a:latin typeface="Arial"/>
                <a:cs typeface="Arial"/>
              </a:rPr>
              <a:t>:</a:t>
            </a:r>
            <a:r>
              <a:rPr sz="900" spc="45" dirty="0">
                <a:latin typeface="Arial"/>
                <a:cs typeface="Arial"/>
              </a:rPr>
              <a:t> </a:t>
            </a:r>
            <a:r>
              <a:rPr sz="900" dirty="0">
                <a:latin typeface="Arial"/>
                <a:cs typeface="Arial"/>
              </a:rPr>
              <a:t>“</a:t>
            </a:r>
            <a:r>
              <a:rPr sz="900" i="1" dirty="0">
                <a:latin typeface="Arial"/>
                <a:cs typeface="Arial"/>
              </a:rPr>
              <a:t>x</a:t>
            </a:r>
            <a:r>
              <a:rPr sz="900" i="1" spc="30" dirty="0">
                <a:latin typeface="Arial"/>
                <a:cs typeface="Arial"/>
              </a:rPr>
              <a:t> </a:t>
            </a:r>
            <a:r>
              <a:rPr sz="900" i="1" spc="50" dirty="0">
                <a:latin typeface="Menlo"/>
                <a:cs typeface="Menlo"/>
              </a:rPr>
              <a:t>∈</a:t>
            </a:r>
            <a:r>
              <a:rPr sz="900" i="1" spc="-345" dirty="0">
                <a:latin typeface="Menlo"/>
                <a:cs typeface="Menlo"/>
              </a:rPr>
              <a:t> </a:t>
            </a:r>
            <a:r>
              <a:rPr sz="900" i="1" spc="-10" dirty="0">
                <a:latin typeface="Menlo"/>
                <a:cs typeface="Menlo"/>
              </a:rPr>
              <a:t>{</a:t>
            </a:r>
            <a:r>
              <a:rPr sz="900" i="1" spc="-10" dirty="0">
                <a:latin typeface="Arial"/>
                <a:cs typeface="Arial"/>
              </a:rPr>
              <a:t>red</a:t>
            </a:r>
            <a:r>
              <a:rPr sz="900" i="1" spc="-10" dirty="0">
                <a:latin typeface="STIX Two Text"/>
                <a:cs typeface="STIX Two Text"/>
              </a:rPr>
              <a:t>,</a:t>
            </a:r>
            <a:r>
              <a:rPr sz="900" i="1" spc="-105" dirty="0">
                <a:latin typeface="STIX Two Text"/>
                <a:cs typeface="STIX Two Text"/>
              </a:rPr>
              <a:t> </a:t>
            </a:r>
            <a:r>
              <a:rPr sz="900" i="1" spc="-10" dirty="0">
                <a:latin typeface="Arial"/>
                <a:cs typeface="Arial"/>
              </a:rPr>
              <a:t>blue</a:t>
            </a:r>
            <a:r>
              <a:rPr sz="900" i="1" spc="-10" dirty="0">
                <a:latin typeface="Menlo"/>
                <a:cs typeface="Menlo"/>
              </a:rPr>
              <a:t>}</a:t>
            </a:r>
            <a:r>
              <a:rPr sz="900" spc="-10" dirty="0">
                <a:latin typeface="Arial"/>
                <a:cs typeface="Arial"/>
              </a:rPr>
              <a:t>”</a:t>
            </a:r>
            <a:endParaRPr sz="900" dirty="0">
              <a:latin typeface="Arial"/>
              <a:cs typeface="Arial"/>
            </a:endParaRPr>
          </a:p>
          <a:p>
            <a:pPr marL="537210" lvl="1" indent="-120650">
              <a:lnSpc>
                <a:spcPct val="100000"/>
              </a:lnSpc>
              <a:spcBef>
                <a:spcPts val="25"/>
              </a:spcBef>
              <a:buClr>
                <a:srgbClr val="C80000"/>
              </a:buClr>
              <a:buFont typeface="Menlo"/>
              <a:buChar char="•"/>
              <a:tabLst>
                <a:tab pos="537845" algn="l"/>
              </a:tabLst>
            </a:pPr>
            <a:r>
              <a:rPr sz="900" dirty="0">
                <a:solidFill>
                  <a:srgbClr val="3333B2"/>
                </a:solidFill>
                <a:latin typeface="Arial"/>
                <a:cs typeface="Arial"/>
              </a:rPr>
              <a:t>prefix</a:t>
            </a:r>
            <a:r>
              <a:rPr sz="900" spc="-40" dirty="0">
                <a:solidFill>
                  <a:srgbClr val="3333B2"/>
                </a:solidFill>
                <a:latin typeface="Arial"/>
                <a:cs typeface="Arial"/>
              </a:rPr>
              <a:t> </a:t>
            </a:r>
            <a:r>
              <a:rPr sz="900" dirty="0">
                <a:solidFill>
                  <a:srgbClr val="3333B2"/>
                </a:solidFill>
                <a:latin typeface="Arial"/>
                <a:cs typeface="Arial"/>
              </a:rPr>
              <a:t>and</a:t>
            </a:r>
            <a:r>
              <a:rPr sz="900" spc="-40" dirty="0">
                <a:solidFill>
                  <a:srgbClr val="3333B2"/>
                </a:solidFill>
                <a:latin typeface="Arial"/>
                <a:cs typeface="Arial"/>
              </a:rPr>
              <a:t> </a:t>
            </a:r>
            <a:r>
              <a:rPr sz="900" dirty="0">
                <a:solidFill>
                  <a:srgbClr val="3333B2"/>
                </a:solidFill>
                <a:latin typeface="Arial"/>
                <a:cs typeface="Arial"/>
              </a:rPr>
              <a:t>suffix</a:t>
            </a:r>
            <a:r>
              <a:rPr sz="900" spc="-35" dirty="0">
                <a:solidFill>
                  <a:srgbClr val="3333B2"/>
                </a:solidFill>
                <a:latin typeface="Arial"/>
                <a:cs typeface="Arial"/>
              </a:rPr>
              <a:t> </a:t>
            </a:r>
            <a:r>
              <a:rPr sz="900" dirty="0">
                <a:solidFill>
                  <a:srgbClr val="3333B2"/>
                </a:solidFill>
                <a:latin typeface="Arial"/>
                <a:cs typeface="Arial"/>
              </a:rPr>
              <a:t>expressions</a:t>
            </a:r>
            <a:r>
              <a:rPr sz="900" dirty="0">
                <a:latin typeface="Arial"/>
                <a:cs typeface="Arial"/>
              </a:rPr>
              <a:t>:</a:t>
            </a:r>
            <a:r>
              <a:rPr sz="900" spc="15" dirty="0">
                <a:latin typeface="Arial"/>
                <a:cs typeface="Arial"/>
              </a:rPr>
              <a:t> </a:t>
            </a:r>
            <a:r>
              <a:rPr sz="900" spc="95" dirty="0">
                <a:latin typeface="Arial"/>
                <a:cs typeface="Arial"/>
              </a:rPr>
              <a:t>“</a:t>
            </a:r>
            <a:r>
              <a:rPr sz="1000" spc="95" dirty="0">
                <a:latin typeface="Times New Roman"/>
                <a:cs typeface="Times New Roman"/>
              </a:rPr>
              <a:t>url.startswith("https")</a:t>
            </a:r>
            <a:r>
              <a:rPr sz="900" spc="95" dirty="0">
                <a:latin typeface="Arial"/>
                <a:cs typeface="Arial"/>
              </a:rPr>
              <a:t>”</a:t>
            </a:r>
            <a:endParaRPr sz="900" dirty="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822325"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5" action="ppaction://hlinksldjump"/>
              </a:rPr>
              <a:t>Centralized</a:t>
            </a:r>
            <a:r>
              <a:rPr sz="500" spc="60" dirty="0">
                <a:latin typeface="Arial"/>
                <a:cs typeface="Arial"/>
                <a:hlinkClick r:id="rId5" action="ppaction://hlinksldjump"/>
              </a:rPr>
              <a:t> </a:t>
            </a:r>
            <a:r>
              <a:rPr sz="500" spc="-10" dirty="0">
                <a:latin typeface="Arial"/>
                <a:cs typeface="Arial"/>
                <a:hlinkClick r:id="rId5" action="ppaction://hlinksldjump"/>
              </a:rPr>
              <a:t>implementations</a:t>
            </a:r>
            <a:endParaRPr sz="500">
              <a:latin typeface="Arial"/>
              <a:cs typeface="Arial"/>
            </a:endParaRPr>
          </a:p>
        </p:txBody>
      </p:sp>
    </p:spTree>
    <p:extLst>
      <p:ext uri="{BB962C8B-B14F-4D97-AF65-F5344CB8AC3E}">
        <p14:creationId xmlns:p14="http://schemas.microsoft.com/office/powerpoint/2010/main" val="169702592"/>
      </p:ext>
    </p:extLst>
  </p:cSld>
  <p:clrMapOvr>
    <a:masterClrMapping/>
  </p:clrMapOvr>
  <p:transition>
    <p:fade/>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8417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Coordination</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784028" y="-1515"/>
            <a:ext cx="770890"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Distributed</a:t>
            </a:r>
            <a:r>
              <a:rPr sz="500" spc="-20"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event</a:t>
            </a:r>
            <a:r>
              <a:rPr sz="500" spc="-1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matching</a:t>
            </a:r>
            <a:endParaRPr sz="500">
              <a:latin typeface="Arial"/>
              <a:cs typeface="Arial"/>
            </a:endParaRPr>
          </a:p>
        </p:txBody>
      </p:sp>
      <p:sp>
        <p:nvSpPr>
          <p:cNvPr id="5" name="object 5"/>
          <p:cNvSpPr txBox="1"/>
          <p:nvPr/>
        </p:nvSpPr>
        <p:spPr>
          <a:xfrm>
            <a:off x="95300" y="197711"/>
            <a:ext cx="1144270" cy="207645"/>
          </a:xfrm>
          <a:prstGeom prst="rect">
            <a:avLst/>
          </a:prstGeom>
        </p:spPr>
        <p:txBody>
          <a:bodyPr vert="horz" wrap="square" lIns="0" tIns="12065" rIns="0" bIns="0" rtlCol="0">
            <a:spAutoFit/>
          </a:bodyPr>
          <a:lstStyle/>
          <a:p>
            <a:pPr marL="12700">
              <a:lnSpc>
                <a:spcPct val="100000"/>
              </a:lnSpc>
              <a:spcBef>
                <a:spcPts val="95"/>
              </a:spcBef>
            </a:pPr>
            <a:r>
              <a:rPr sz="1200" spc="-10" dirty="0">
                <a:solidFill>
                  <a:srgbClr val="3333B2"/>
                </a:solidFill>
                <a:latin typeface="Arial"/>
                <a:cs typeface="Arial"/>
              </a:rPr>
              <a:t>Selective</a:t>
            </a:r>
            <a:r>
              <a:rPr sz="1200" spc="5" dirty="0">
                <a:solidFill>
                  <a:srgbClr val="3333B2"/>
                </a:solidFill>
                <a:latin typeface="Arial"/>
                <a:cs typeface="Arial"/>
              </a:rPr>
              <a:t> </a:t>
            </a:r>
            <a:r>
              <a:rPr sz="1200" spc="-10" dirty="0">
                <a:solidFill>
                  <a:srgbClr val="3333B2"/>
                </a:solidFill>
                <a:latin typeface="Arial"/>
                <a:cs typeface="Arial"/>
              </a:rPr>
              <a:t>routing</a:t>
            </a:r>
            <a:endParaRPr sz="1200">
              <a:latin typeface="Arial"/>
              <a:cs typeface="Arial"/>
            </a:endParaRPr>
          </a:p>
        </p:txBody>
      </p:sp>
      <p:pic>
        <p:nvPicPr>
          <p:cNvPr id="6" name="object 6"/>
          <p:cNvPicPr/>
          <p:nvPr/>
        </p:nvPicPr>
        <p:blipFill>
          <a:blip r:embed="rId4" cstate="print"/>
          <a:stretch>
            <a:fillRect/>
          </a:stretch>
        </p:blipFill>
        <p:spPr>
          <a:xfrm>
            <a:off x="565164" y="561627"/>
            <a:ext cx="1627409" cy="1024158"/>
          </a:xfrm>
          <a:prstGeom prst="rect">
            <a:avLst/>
          </a:prstGeom>
        </p:spPr>
      </p:pic>
      <p:pic>
        <p:nvPicPr>
          <p:cNvPr id="7" name="object 7"/>
          <p:cNvPicPr/>
          <p:nvPr/>
        </p:nvPicPr>
        <p:blipFill>
          <a:blip r:embed="rId5" cstate="print"/>
          <a:stretch>
            <a:fillRect/>
          </a:stretch>
        </p:blipFill>
        <p:spPr>
          <a:xfrm>
            <a:off x="2414106" y="561627"/>
            <a:ext cx="1627409" cy="1024158"/>
          </a:xfrm>
          <a:prstGeom prst="rect">
            <a:avLst/>
          </a:prstGeom>
        </p:spPr>
      </p:pic>
      <p:sp>
        <p:nvSpPr>
          <p:cNvPr id="8" name="object 8"/>
          <p:cNvSpPr txBox="1"/>
          <p:nvPr/>
        </p:nvSpPr>
        <p:spPr>
          <a:xfrm>
            <a:off x="397941" y="1626217"/>
            <a:ext cx="1672589" cy="384175"/>
          </a:xfrm>
          <a:prstGeom prst="rect">
            <a:avLst/>
          </a:prstGeom>
        </p:spPr>
        <p:txBody>
          <a:bodyPr vert="horz" wrap="square" lIns="0" tIns="12065" rIns="0" bIns="0" rtlCol="0">
            <a:spAutoFit/>
          </a:bodyPr>
          <a:lstStyle/>
          <a:p>
            <a:pPr marL="290195" algn="ctr">
              <a:lnSpc>
                <a:spcPct val="100000"/>
              </a:lnSpc>
              <a:spcBef>
                <a:spcPts val="95"/>
              </a:spcBef>
            </a:pPr>
            <a:r>
              <a:rPr sz="900" spc="-25" dirty="0">
                <a:latin typeface="Arial"/>
                <a:cs typeface="Arial"/>
              </a:rPr>
              <a:t>(a)</a:t>
            </a:r>
            <a:endParaRPr sz="900">
              <a:latin typeface="Arial"/>
              <a:cs typeface="Arial"/>
            </a:endParaRPr>
          </a:p>
          <a:p>
            <a:pPr marL="12700">
              <a:lnSpc>
                <a:spcPct val="100000"/>
              </a:lnSpc>
              <a:spcBef>
                <a:spcPts val="665"/>
              </a:spcBef>
            </a:pPr>
            <a:r>
              <a:rPr sz="900" dirty="0">
                <a:solidFill>
                  <a:srgbClr val="3333B2"/>
                </a:solidFill>
                <a:latin typeface="Arial"/>
                <a:cs typeface="Arial"/>
              </a:rPr>
              <a:t>(a)</a:t>
            </a:r>
            <a:r>
              <a:rPr sz="900" spc="445" dirty="0">
                <a:solidFill>
                  <a:srgbClr val="3333B2"/>
                </a:solidFill>
                <a:latin typeface="Arial"/>
                <a:cs typeface="Arial"/>
              </a:rPr>
              <a:t> </a:t>
            </a:r>
            <a:r>
              <a:rPr sz="900" dirty="0">
                <a:latin typeface="Arial"/>
                <a:cs typeface="Arial"/>
              </a:rPr>
              <a:t>first</a:t>
            </a:r>
            <a:r>
              <a:rPr sz="900" spc="-20" dirty="0">
                <a:latin typeface="Arial"/>
                <a:cs typeface="Arial"/>
              </a:rPr>
              <a:t> </a:t>
            </a:r>
            <a:r>
              <a:rPr sz="900" dirty="0">
                <a:latin typeface="Arial"/>
                <a:cs typeface="Arial"/>
              </a:rPr>
              <a:t>broadcast</a:t>
            </a:r>
            <a:r>
              <a:rPr sz="900" spc="-15" dirty="0">
                <a:latin typeface="Arial"/>
                <a:cs typeface="Arial"/>
              </a:rPr>
              <a:t> </a:t>
            </a:r>
            <a:r>
              <a:rPr sz="900" spc="-10" dirty="0">
                <a:latin typeface="Arial"/>
                <a:cs typeface="Arial"/>
              </a:rPr>
              <a:t>subscriptions</a:t>
            </a:r>
            <a:endParaRPr sz="900">
              <a:latin typeface="Arial"/>
              <a:cs typeface="Arial"/>
            </a:endParaRPr>
          </a:p>
        </p:txBody>
      </p:sp>
      <p:sp>
        <p:nvSpPr>
          <p:cNvPr id="9" name="object 9"/>
          <p:cNvSpPr txBox="1"/>
          <p:nvPr/>
        </p:nvSpPr>
        <p:spPr>
          <a:xfrm>
            <a:off x="3146214" y="1626217"/>
            <a:ext cx="165100" cy="162560"/>
          </a:xfrm>
          <a:prstGeom prst="rect">
            <a:avLst/>
          </a:prstGeom>
        </p:spPr>
        <p:txBody>
          <a:bodyPr vert="horz" wrap="square" lIns="0" tIns="12065" rIns="0" bIns="0" rtlCol="0">
            <a:spAutoFit/>
          </a:bodyPr>
          <a:lstStyle/>
          <a:p>
            <a:pPr marL="12700">
              <a:lnSpc>
                <a:spcPct val="100000"/>
              </a:lnSpc>
              <a:spcBef>
                <a:spcPts val="95"/>
              </a:spcBef>
            </a:pPr>
            <a:r>
              <a:rPr sz="900" spc="-25" dirty="0">
                <a:latin typeface="Arial"/>
                <a:cs typeface="Arial"/>
              </a:rPr>
              <a:t>(b)</a:t>
            </a:r>
            <a:endParaRPr sz="900">
              <a:latin typeface="Arial"/>
              <a:cs typeface="Arial"/>
            </a:endParaRPr>
          </a:p>
        </p:txBody>
      </p:sp>
      <p:sp>
        <p:nvSpPr>
          <p:cNvPr id="10" name="object 10"/>
          <p:cNvSpPr txBox="1"/>
          <p:nvPr/>
        </p:nvSpPr>
        <p:spPr>
          <a:xfrm>
            <a:off x="397941" y="2051781"/>
            <a:ext cx="3023870" cy="162560"/>
          </a:xfrm>
          <a:prstGeom prst="rect">
            <a:avLst/>
          </a:prstGeom>
        </p:spPr>
        <p:txBody>
          <a:bodyPr vert="horz" wrap="square" lIns="0" tIns="12065" rIns="0" bIns="0" rtlCol="0">
            <a:spAutoFit/>
          </a:bodyPr>
          <a:lstStyle/>
          <a:p>
            <a:pPr marL="12700">
              <a:lnSpc>
                <a:spcPct val="100000"/>
              </a:lnSpc>
              <a:spcBef>
                <a:spcPts val="95"/>
              </a:spcBef>
            </a:pPr>
            <a:r>
              <a:rPr sz="900" dirty="0">
                <a:solidFill>
                  <a:srgbClr val="3333B2"/>
                </a:solidFill>
                <a:latin typeface="Arial"/>
                <a:cs typeface="Arial"/>
              </a:rPr>
              <a:t>(b)</a:t>
            </a:r>
            <a:r>
              <a:rPr sz="900" spc="470" dirty="0">
                <a:solidFill>
                  <a:srgbClr val="3333B2"/>
                </a:solidFill>
                <a:latin typeface="Arial"/>
                <a:cs typeface="Arial"/>
              </a:rPr>
              <a:t> </a:t>
            </a:r>
            <a:r>
              <a:rPr sz="900" spc="-10" dirty="0">
                <a:latin typeface="Arial"/>
                <a:cs typeface="Arial"/>
              </a:rPr>
              <a:t>forward </a:t>
            </a:r>
            <a:r>
              <a:rPr sz="900" dirty="0">
                <a:latin typeface="Arial"/>
                <a:cs typeface="Arial"/>
              </a:rPr>
              <a:t>notifications</a:t>
            </a:r>
            <a:r>
              <a:rPr sz="900" spc="-15" dirty="0">
                <a:latin typeface="Arial"/>
                <a:cs typeface="Arial"/>
              </a:rPr>
              <a:t> </a:t>
            </a:r>
            <a:r>
              <a:rPr sz="900" dirty="0">
                <a:latin typeface="Arial"/>
                <a:cs typeface="Arial"/>
              </a:rPr>
              <a:t>only</a:t>
            </a:r>
            <a:r>
              <a:rPr sz="900" spc="-10" dirty="0">
                <a:latin typeface="Arial"/>
                <a:cs typeface="Arial"/>
              </a:rPr>
              <a:t> </a:t>
            </a:r>
            <a:r>
              <a:rPr sz="900" dirty="0">
                <a:latin typeface="Arial"/>
                <a:cs typeface="Arial"/>
              </a:rPr>
              <a:t>to</a:t>
            </a:r>
            <a:r>
              <a:rPr sz="900" spc="-15" dirty="0">
                <a:latin typeface="Arial"/>
                <a:cs typeface="Arial"/>
              </a:rPr>
              <a:t> </a:t>
            </a:r>
            <a:r>
              <a:rPr sz="900" spc="-10" dirty="0">
                <a:latin typeface="Arial"/>
                <a:cs typeface="Arial"/>
              </a:rPr>
              <a:t>relevant rendezvous</a:t>
            </a:r>
            <a:r>
              <a:rPr sz="900" spc="-15" dirty="0">
                <a:latin typeface="Arial"/>
                <a:cs typeface="Arial"/>
              </a:rPr>
              <a:t> </a:t>
            </a:r>
            <a:r>
              <a:rPr sz="900" spc="-10" dirty="0">
                <a:latin typeface="Arial"/>
                <a:cs typeface="Arial"/>
              </a:rPr>
              <a:t>nodes</a:t>
            </a:r>
            <a:endParaRPr sz="900">
              <a:latin typeface="Arial"/>
              <a:cs typeface="Arial"/>
            </a:endParaRPr>
          </a:p>
        </p:txBody>
      </p:sp>
      <p:grpSp>
        <p:nvGrpSpPr>
          <p:cNvPr id="11" name="object 11"/>
          <p:cNvGrpSpPr/>
          <p:nvPr/>
        </p:nvGrpSpPr>
        <p:grpSpPr>
          <a:xfrm>
            <a:off x="0" y="3348469"/>
            <a:ext cx="4608195" cy="107950"/>
            <a:chOff x="0" y="3348469"/>
            <a:chExt cx="4608195" cy="107950"/>
          </a:xfrm>
        </p:grpSpPr>
        <p:sp>
          <p:nvSpPr>
            <p:cNvPr id="12" name="object 12"/>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3" name="object 13"/>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4" name="object 14"/>
          <p:cNvSpPr txBox="1"/>
          <p:nvPr/>
        </p:nvSpPr>
        <p:spPr>
          <a:xfrm>
            <a:off x="53467" y="3349927"/>
            <a:ext cx="822325"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6" action="ppaction://hlinksldjump"/>
              </a:rPr>
              <a:t>Centralized</a:t>
            </a:r>
            <a:r>
              <a:rPr sz="500" spc="60" dirty="0">
                <a:latin typeface="Arial"/>
                <a:cs typeface="Arial"/>
                <a:hlinkClick r:id="rId6" action="ppaction://hlinksldjump"/>
              </a:rPr>
              <a:t> </a:t>
            </a:r>
            <a:r>
              <a:rPr sz="500" spc="-10" dirty="0">
                <a:latin typeface="Arial"/>
                <a:cs typeface="Arial"/>
                <a:hlinkClick r:id="rId6" action="ppaction://hlinksldjump"/>
              </a:rPr>
              <a:t>implementations</a:t>
            </a:r>
            <a:endParaRPr sz="500">
              <a:latin typeface="Arial"/>
              <a:cs typeface="Arial"/>
            </a:endParaRPr>
          </a:p>
        </p:txBody>
      </p:sp>
    </p:spTree>
    <p:extLst>
      <p:ext uri="{BB962C8B-B14F-4D97-AF65-F5344CB8AC3E}">
        <p14:creationId xmlns:p14="http://schemas.microsoft.com/office/powerpoint/2010/main" val="1037210219"/>
      </p:ext>
    </p:extLst>
  </p:cSld>
  <p:clrMapOvr>
    <a:masterClrMapping/>
  </p:clrMapOvr>
  <p:transition>
    <p:fade/>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8417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Coordination</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784028" y="-1515"/>
            <a:ext cx="770890"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Distributed</a:t>
            </a:r>
            <a:r>
              <a:rPr sz="500" spc="-20"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event</a:t>
            </a:r>
            <a:r>
              <a:rPr sz="500" spc="-1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matching</a:t>
            </a:r>
            <a:endParaRPr sz="500">
              <a:latin typeface="Arial"/>
              <a:cs typeface="Arial"/>
            </a:endParaRPr>
          </a:p>
        </p:txBody>
      </p:sp>
      <p:sp>
        <p:nvSpPr>
          <p:cNvPr id="5" name="object 5"/>
          <p:cNvSpPr txBox="1"/>
          <p:nvPr/>
        </p:nvSpPr>
        <p:spPr>
          <a:xfrm>
            <a:off x="95300" y="197711"/>
            <a:ext cx="1144270" cy="207645"/>
          </a:xfrm>
          <a:prstGeom prst="rect">
            <a:avLst/>
          </a:prstGeom>
        </p:spPr>
        <p:txBody>
          <a:bodyPr vert="horz" wrap="square" lIns="0" tIns="12065" rIns="0" bIns="0" rtlCol="0">
            <a:spAutoFit/>
          </a:bodyPr>
          <a:lstStyle/>
          <a:p>
            <a:pPr marL="12700">
              <a:lnSpc>
                <a:spcPct val="100000"/>
              </a:lnSpc>
              <a:spcBef>
                <a:spcPts val="95"/>
              </a:spcBef>
            </a:pPr>
            <a:r>
              <a:rPr sz="1200" spc="-10" dirty="0">
                <a:solidFill>
                  <a:srgbClr val="3333B2"/>
                </a:solidFill>
                <a:latin typeface="Arial"/>
                <a:cs typeface="Arial"/>
              </a:rPr>
              <a:t>Selective</a:t>
            </a:r>
            <a:r>
              <a:rPr sz="1200" spc="5" dirty="0">
                <a:solidFill>
                  <a:srgbClr val="3333B2"/>
                </a:solidFill>
                <a:latin typeface="Arial"/>
                <a:cs typeface="Arial"/>
              </a:rPr>
              <a:t> </a:t>
            </a:r>
            <a:r>
              <a:rPr sz="1200" spc="-10" dirty="0">
                <a:solidFill>
                  <a:srgbClr val="3333B2"/>
                </a:solidFill>
                <a:latin typeface="Arial"/>
                <a:cs typeface="Arial"/>
              </a:rPr>
              <a:t>routing</a:t>
            </a:r>
            <a:endParaRPr sz="1200">
              <a:latin typeface="Arial"/>
              <a:cs typeface="Arial"/>
            </a:endParaRPr>
          </a:p>
        </p:txBody>
      </p:sp>
      <p:pic>
        <p:nvPicPr>
          <p:cNvPr id="6" name="object 6"/>
          <p:cNvPicPr/>
          <p:nvPr/>
        </p:nvPicPr>
        <p:blipFill>
          <a:blip r:embed="rId4" cstate="print"/>
          <a:stretch>
            <a:fillRect/>
          </a:stretch>
        </p:blipFill>
        <p:spPr>
          <a:xfrm>
            <a:off x="565164" y="561627"/>
            <a:ext cx="1627409" cy="1024158"/>
          </a:xfrm>
          <a:prstGeom prst="rect">
            <a:avLst/>
          </a:prstGeom>
        </p:spPr>
      </p:pic>
      <p:pic>
        <p:nvPicPr>
          <p:cNvPr id="7" name="object 7"/>
          <p:cNvPicPr/>
          <p:nvPr/>
        </p:nvPicPr>
        <p:blipFill>
          <a:blip r:embed="rId5" cstate="print"/>
          <a:stretch>
            <a:fillRect/>
          </a:stretch>
        </p:blipFill>
        <p:spPr>
          <a:xfrm>
            <a:off x="2414106" y="561627"/>
            <a:ext cx="1627409" cy="1024158"/>
          </a:xfrm>
          <a:prstGeom prst="rect">
            <a:avLst/>
          </a:prstGeom>
        </p:spPr>
      </p:pic>
      <p:sp>
        <p:nvSpPr>
          <p:cNvPr id="8" name="object 8"/>
          <p:cNvSpPr txBox="1"/>
          <p:nvPr/>
        </p:nvSpPr>
        <p:spPr>
          <a:xfrm>
            <a:off x="397941" y="1626217"/>
            <a:ext cx="1672589" cy="384175"/>
          </a:xfrm>
          <a:prstGeom prst="rect">
            <a:avLst/>
          </a:prstGeom>
        </p:spPr>
        <p:txBody>
          <a:bodyPr vert="horz" wrap="square" lIns="0" tIns="12065" rIns="0" bIns="0" rtlCol="0">
            <a:spAutoFit/>
          </a:bodyPr>
          <a:lstStyle/>
          <a:p>
            <a:pPr marL="290195" algn="ctr">
              <a:lnSpc>
                <a:spcPct val="100000"/>
              </a:lnSpc>
              <a:spcBef>
                <a:spcPts val="95"/>
              </a:spcBef>
            </a:pPr>
            <a:r>
              <a:rPr sz="900" spc="-25" dirty="0">
                <a:latin typeface="Arial"/>
                <a:cs typeface="Arial"/>
              </a:rPr>
              <a:t>(a)</a:t>
            </a:r>
            <a:endParaRPr sz="900">
              <a:latin typeface="Arial"/>
              <a:cs typeface="Arial"/>
            </a:endParaRPr>
          </a:p>
          <a:p>
            <a:pPr marL="12700">
              <a:lnSpc>
                <a:spcPct val="100000"/>
              </a:lnSpc>
              <a:spcBef>
                <a:spcPts val="665"/>
              </a:spcBef>
            </a:pPr>
            <a:r>
              <a:rPr sz="900" dirty="0">
                <a:solidFill>
                  <a:srgbClr val="3333B2"/>
                </a:solidFill>
                <a:latin typeface="Arial"/>
                <a:cs typeface="Arial"/>
              </a:rPr>
              <a:t>(a)</a:t>
            </a:r>
            <a:r>
              <a:rPr sz="900" spc="445" dirty="0">
                <a:solidFill>
                  <a:srgbClr val="3333B2"/>
                </a:solidFill>
                <a:latin typeface="Arial"/>
                <a:cs typeface="Arial"/>
              </a:rPr>
              <a:t> </a:t>
            </a:r>
            <a:r>
              <a:rPr sz="900" dirty="0">
                <a:latin typeface="Arial"/>
                <a:cs typeface="Arial"/>
              </a:rPr>
              <a:t>first</a:t>
            </a:r>
            <a:r>
              <a:rPr sz="900" spc="-20" dirty="0">
                <a:latin typeface="Arial"/>
                <a:cs typeface="Arial"/>
              </a:rPr>
              <a:t> </a:t>
            </a:r>
            <a:r>
              <a:rPr sz="900" dirty="0">
                <a:latin typeface="Arial"/>
                <a:cs typeface="Arial"/>
              </a:rPr>
              <a:t>broadcast</a:t>
            </a:r>
            <a:r>
              <a:rPr sz="900" spc="-15" dirty="0">
                <a:latin typeface="Arial"/>
                <a:cs typeface="Arial"/>
              </a:rPr>
              <a:t> </a:t>
            </a:r>
            <a:r>
              <a:rPr sz="900" spc="-10" dirty="0">
                <a:latin typeface="Arial"/>
                <a:cs typeface="Arial"/>
              </a:rPr>
              <a:t>subscriptions</a:t>
            </a:r>
            <a:endParaRPr sz="900">
              <a:latin typeface="Arial"/>
              <a:cs typeface="Arial"/>
            </a:endParaRPr>
          </a:p>
        </p:txBody>
      </p:sp>
      <p:sp>
        <p:nvSpPr>
          <p:cNvPr id="9" name="object 9"/>
          <p:cNvSpPr txBox="1"/>
          <p:nvPr/>
        </p:nvSpPr>
        <p:spPr>
          <a:xfrm>
            <a:off x="3146214" y="1626217"/>
            <a:ext cx="165100" cy="162560"/>
          </a:xfrm>
          <a:prstGeom prst="rect">
            <a:avLst/>
          </a:prstGeom>
        </p:spPr>
        <p:txBody>
          <a:bodyPr vert="horz" wrap="square" lIns="0" tIns="12065" rIns="0" bIns="0" rtlCol="0">
            <a:spAutoFit/>
          </a:bodyPr>
          <a:lstStyle/>
          <a:p>
            <a:pPr marL="12700">
              <a:lnSpc>
                <a:spcPct val="100000"/>
              </a:lnSpc>
              <a:spcBef>
                <a:spcPts val="95"/>
              </a:spcBef>
            </a:pPr>
            <a:r>
              <a:rPr sz="900" spc="-25" dirty="0">
                <a:latin typeface="Arial"/>
                <a:cs typeface="Arial"/>
              </a:rPr>
              <a:t>(b)</a:t>
            </a:r>
            <a:endParaRPr sz="900">
              <a:latin typeface="Arial"/>
              <a:cs typeface="Arial"/>
            </a:endParaRPr>
          </a:p>
        </p:txBody>
      </p:sp>
      <p:sp>
        <p:nvSpPr>
          <p:cNvPr id="10" name="object 10"/>
          <p:cNvSpPr txBox="1"/>
          <p:nvPr/>
        </p:nvSpPr>
        <p:spPr>
          <a:xfrm>
            <a:off x="347294" y="2051781"/>
            <a:ext cx="3074670" cy="430530"/>
          </a:xfrm>
          <a:prstGeom prst="rect">
            <a:avLst/>
          </a:prstGeom>
        </p:spPr>
        <p:txBody>
          <a:bodyPr vert="horz" wrap="square" lIns="0" tIns="12065" rIns="0" bIns="0" rtlCol="0">
            <a:spAutoFit/>
          </a:bodyPr>
          <a:lstStyle/>
          <a:p>
            <a:pPr marL="62865">
              <a:lnSpc>
                <a:spcPct val="100000"/>
              </a:lnSpc>
              <a:spcBef>
                <a:spcPts val="95"/>
              </a:spcBef>
            </a:pPr>
            <a:r>
              <a:rPr sz="900" dirty="0">
                <a:solidFill>
                  <a:srgbClr val="3333B2"/>
                </a:solidFill>
                <a:latin typeface="Arial"/>
                <a:cs typeface="Arial"/>
              </a:rPr>
              <a:t>(b)</a:t>
            </a:r>
            <a:r>
              <a:rPr sz="900" spc="470" dirty="0">
                <a:solidFill>
                  <a:srgbClr val="3333B2"/>
                </a:solidFill>
                <a:latin typeface="Arial"/>
                <a:cs typeface="Arial"/>
              </a:rPr>
              <a:t> </a:t>
            </a:r>
            <a:r>
              <a:rPr sz="900" spc="-10" dirty="0">
                <a:latin typeface="Arial"/>
                <a:cs typeface="Arial"/>
              </a:rPr>
              <a:t>forward </a:t>
            </a:r>
            <a:r>
              <a:rPr sz="900" dirty="0">
                <a:latin typeface="Arial"/>
                <a:cs typeface="Arial"/>
              </a:rPr>
              <a:t>notifications</a:t>
            </a:r>
            <a:r>
              <a:rPr sz="900" spc="-15" dirty="0">
                <a:latin typeface="Arial"/>
                <a:cs typeface="Arial"/>
              </a:rPr>
              <a:t> </a:t>
            </a:r>
            <a:r>
              <a:rPr sz="900" dirty="0">
                <a:latin typeface="Arial"/>
                <a:cs typeface="Arial"/>
              </a:rPr>
              <a:t>only</a:t>
            </a:r>
            <a:r>
              <a:rPr sz="900" spc="-10" dirty="0">
                <a:latin typeface="Arial"/>
                <a:cs typeface="Arial"/>
              </a:rPr>
              <a:t> </a:t>
            </a:r>
            <a:r>
              <a:rPr sz="900" dirty="0">
                <a:latin typeface="Arial"/>
                <a:cs typeface="Arial"/>
              </a:rPr>
              <a:t>to</a:t>
            </a:r>
            <a:r>
              <a:rPr sz="900" spc="-15" dirty="0">
                <a:latin typeface="Arial"/>
                <a:cs typeface="Arial"/>
              </a:rPr>
              <a:t> </a:t>
            </a:r>
            <a:r>
              <a:rPr sz="900" spc="-10" dirty="0">
                <a:latin typeface="Arial"/>
                <a:cs typeface="Arial"/>
              </a:rPr>
              <a:t>relevant rendezvous</a:t>
            </a:r>
            <a:r>
              <a:rPr sz="900" spc="-15" dirty="0">
                <a:latin typeface="Arial"/>
                <a:cs typeface="Arial"/>
              </a:rPr>
              <a:t> </a:t>
            </a:r>
            <a:r>
              <a:rPr sz="900" spc="-10" dirty="0">
                <a:latin typeface="Arial"/>
                <a:cs typeface="Arial"/>
              </a:rPr>
              <a:t>nodes</a:t>
            </a:r>
            <a:endParaRPr sz="900">
              <a:latin typeface="Arial"/>
              <a:cs typeface="Arial"/>
            </a:endParaRPr>
          </a:p>
          <a:p>
            <a:pPr marL="12700">
              <a:lnSpc>
                <a:spcPct val="100000"/>
              </a:lnSpc>
              <a:spcBef>
                <a:spcPts val="910"/>
              </a:spcBef>
            </a:pPr>
            <a:r>
              <a:rPr sz="1000" dirty="0">
                <a:solidFill>
                  <a:srgbClr val="3333B2"/>
                </a:solidFill>
                <a:latin typeface="Arial"/>
                <a:cs typeface="Arial"/>
              </a:rPr>
              <a:t>Example</a:t>
            </a:r>
            <a:r>
              <a:rPr sz="1000" spc="-25" dirty="0">
                <a:solidFill>
                  <a:srgbClr val="3333B2"/>
                </a:solidFill>
                <a:latin typeface="Arial"/>
                <a:cs typeface="Arial"/>
              </a:rPr>
              <a:t> </a:t>
            </a:r>
            <a:r>
              <a:rPr sz="1000" dirty="0">
                <a:solidFill>
                  <a:srgbClr val="3333B2"/>
                </a:solidFill>
                <a:latin typeface="Arial"/>
                <a:cs typeface="Arial"/>
              </a:rPr>
              <a:t>of</a:t>
            </a:r>
            <a:r>
              <a:rPr sz="1000" spc="-25" dirty="0">
                <a:solidFill>
                  <a:srgbClr val="3333B2"/>
                </a:solidFill>
                <a:latin typeface="Arial"/>
                <a:cs typeface="Arial"/>
              </a:rPr>
              <a:t> </a:t>
            </a:r>
            <a:r>
              <a:rPr sz="1000" dirty="0">
                <a:solidFill>
                  <a:srgbClr val="3333B2"/>
                </a:solidFill>
                <a:latin typeface="Arial"/>
                <a:cs typeface="Arial"/>
              </a:rPr>
              <a:t>a</a:t>
            </a:r>
            <a:r>
              <a:rPr sz="1000" spc="-20" dirty="0">
                <a:solidFill>
                  <a:srgbClr val="3333B2"/>
                </a:solidFill>
                <a:latin typeface="Arial"/>
                <a:cs typeface="Arial"/>
              </a:rPr>
              <a:t> </a:t>
            </a:r>
            <a:r>
              <a:rPr sz="1000" dirty="0">
                <a:solidFill>
                  <a:srgbClr val="3333B2"/>
                </a:solidFill>
                <a:latin typeface="Arial"/>
                <a:cs typeface="Arial"/>
              </a:rPr>
              <a:t>(partially</a:t>
            </a:r>
            <a:r>
              <a:rPr sz="1000" spc="-25" dirty="0">
                <a:solidFill>
                  <a:srgbClr val="3333B2"/>
                </a:solidFill>
                <a:latin typeface="Arial"/>
                <a:cs typeface="Arial"/>
              </a:rPr>
              <a:t> </a:t>
            </a:r>
            <a:r>
              <a:rPr sz="1000" dirty="0">
                <a:solidFill>
                  <a:srgbClr val="3333B2"/>
                </a:solidFill>
                <a:latin typeface="Arial"/>
                <a:cs typeface="Arial"/>
              </a:rPr>
              <a:t>filled)</a:t>
            </a:r>
            <a:r>
              <a:rPr sz="1000" spc="-25" dirty="0">
                <a:solidFill>
                  <a:srgbClr val="3333B2"/>
                </a:solidFill>
                <a:latin typeface="Arial"/>
                <a:cs typeface="Arial"/>
              </a:rPr>
              <a:t> </a:t>
            </a:r>
            <a:r>
              <a:rPr sz="1000" dirty="0">
                <a:solidFill>
                  <a:srgbClr val="3333B2"/>
                </a:solidFill>
                <a:latin typeface="Arial"/>
                <a:cs typeface="Arial"/>
              </a:rPr>
              <a:t>routing</a:t>
            </a:r>
            <a:r>
              <a:rPr sz="1000" spc="-25" dirty="0">
                <a:solidFill>
                  <a:srgbClr val="3333B2"/>
                </a:solidFill>
                <a:latin typeface="Arial"/>
                <a:cs typeface="Arial"/>
              </a:rPr>
              <a:t> </a:t>
            </a:r>
            <a:r>
              <a:rPr sz="1000" spc="-20" dirty="0">
                <a:solidFill>
                  <a:srgbClr val="3333B2"/>
                </a:solidFill>
                <a:latin typeface="Arial"/>
                <a:cs typeface="Arial"/>
              </a:rPr>
              <a:t>table</a:t>
            </a:r>
            <a:endParaRPr sz="1000">
              <a:latin typeface="Arial"/>
              <a:cs typeface="Arial"/>
            </a:endParaRPr>
          </a:p>
        </p:txBody>
      </p:sp>
      <p:graphicFrame>
        <p:nvGraphicFramePr>
          <p:cNvPr id="11" name="object 11"/>
          <p:cNvGraphicFramePr>
            <a:graphicFrameLocks noGrp="1"/>
          </p:cNvGraphicFramePr>
          <p:nvPr/>
        </p:nvGraphicFramePr>
        <p:xfrm>
          <a:off x="1472615" y="2583853"/>
          <a:ext cx="1657350" cy="614680"/>
        </p:xfrm>
        <a:graphic>
          <a:graphicData uri="http://schemas.openxmlformats.org/drawingml/2006/table">
            <a:tbl>
              <a:tblPr firstRow="1" bandRow="1">
                <a:tableStyleId>{2D5ABB26-0587-4C30-8999-92F81FD0307C}</a:tableStyleId>
              </a:tblPr>
              <a:tblGrid>
                <a:gridCol w="921385">
                  <a:extLst>
                    <a:ext uri="{9D8B030D-6E8A-4147-A177-3AD203B41FA5}">
                      <a16:colId xmlns:a16="http://schemas.microsoft.com/office/drawing/2014/main" val="20000"/>
                    </a:ext>
                  </a:extLst>
                </a:gridCol>
                <a:gridCol w="735965">
                  <a:extLst>
                    <a:ext uri="{9D8B030D-6E8A-4147-A177-3AD203B41FA5}">
                      <a16:colId xmlns:a16="http://schemas.microsoft.com/office/drawing/2014/main" val="20001"/>
                    </a:ext>
                  </a:extLst>
                </a:gridCol>
              </a:tblGrid>
              <a:tr h="156845">
                <a:tc>
                  <a:txBody>
                    <a:bodyPr/>
                    <a:lstStyle/>
                    <a:p>
                      <a:pPr marL="78105">
                        <a:lnSpc>
                          <a:spcPct val="100000"/>
                        </a:lnSpc>
                        <a:spcBef>
                          <a:spcPts val="20"/>
                        </a:spcBef>
                      </a:pPr>
                      <a:r>
                        <a:rPr sz="800" b="1" spc="-10" dirty="0">
                          <a:latin typeface="Arial"/>
                          <a:cs typeface="Arial"/>
                        </a:rPr>
                        <a:t>Interface</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tc>
                  <a:txBody>
                    <a:bodyPr/>
                    <a:lstStyle/>
                    <a:p>
                      <a:pPr marL="78105">
                        <a:lnSpc>
                          <a:spcPct val="100000"/>
                        </a:lnSpc>
                        <a:spcBef>
                          <a:spcPts val="20"/>
                        </a:spcBef>
                      </a:pPr>
                      <a:r>
                        <a:rPr sz="800" b="1" spc="-10" dirty="0">
                          <a:latin typeface="Arial"/>
                          <a:cs typeface="Arial"/>
                        </a:rPr>
                        <a:t>Filter</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extLst>
                  <a:ext uri="{0D108BD9-81ED-4DB2-BD59-A6C34878D82A}">
                    <a16:rowId xmlns:a16="http://schemas.microsoft.com/office/drawing/2014/main" val="10000"/>
                  </a:ext>
                </a:extLst>
              </a:tr>
              <a:tr h="156845">
                <a:tc>
                  <a:txBody>
                    <a:bodyPr/>
                    <a:lstStyle/>
                    <a:p>
                      <a:pPr marL="78105">
                        <a:lnSpc>
                          <a:spcPct val="100000"/>
                        </a:lnSpc>
                        <a:spcBef>
                          <a:spcPts val="75"/>
                        </a:spcBef>
                      </a:pPr>
                      <a:r>
                        <a:rPr sz="800" spc="-60" dirty="0">
                          <a:latin typeface="Arial"/>
                          <a:cs typeface="Arial"/>
                        </a:rPr>
                        <a:t>To</a:t>
                      </a:r>
                      <a:r>
                        <a:rPr sz="800" spc="-5" dirty="0">
                          <a:latin typeface="Arial"/>
                          <a:cs typeface="Arial"/>
                        </a:rPr>
                        <a:t> </a:t>
                      </a:r>
                      <a:r>
                        <a:rPr sz="800" dirty="0">
                          <a:latin typeface="Arial"/>
                          <a:cs typeface="Arial"/>
                        </a:rPr>
                        <a:t>node</a:t>
                      </a:r>
                      <a:r>
                        <a:rPr sz="800" spc="-15" dirty="0">
                          <a:latin typeface="Arial"/>
                          <a:cs typeface="Arial"/>
                        </a:rPr>
                        <a:t> </a:t>
                      </a:r>
                      <a:r>
                        <a:rPr sz="800" spc="-50" dirty="0">
                          <a:latin typeface="Arial"/>
                          <a:cs typeface="Arial"/>
                        </a:rPr>
                        <a:t>3</a:t>
                      </a:r>
                      <a:endParaRPr sz="800">
                        <a:latin typeface="Arial"/>
                        <a:cs typeface="Arial"/>
                      </a:endParaRPr>
                    </a:p>
                  </a:txBody>
                  <a:tcPr marL="0" marR="0" marT="9525"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tc>
                  <a:txBody>
                    <a:bodyPr/>
                    <a:lstStyle/>
                    <a:p>
                      <a:pPr marL="78105">
                        <a:lnSpc>
                          <a:spcPct val="100000"/>
                        </a:lnSpc>
                        <a:spcBef>
                          <a:spcPts val="75"/>
                        </a:spcBef>
                      </a:pPr>
                      <a:r>
                        <a:rPr sz="800" i="1" dirty="0">
                          <a:latin typeface="Arial"/>
                          <a:cs typeface="Arial"/>
                        </a:rPr>
                        <a:t>a</a:t>
                      </a:r>
                      <a:r>
                        <a:rPr sz="800" i="1" spc="-10" dirty="0">
                          <a:latin typeface="Arial"/>
                          <a:cs typeface="Arial"/>
                        </a:rPr>
                        <a:t> </a:t>
                      </a:r>
                      <a:r>
                        <a:rPr sz="800" i="1" dirty="0">
                          <a:latin typeface="Menlo"/>
                          <a:cs typeface="Menlo"/>
                        </a:rPr>
                        <a:t>∈</a:t>
                      </a:r>
                      <a:r>
                        <a:rPr sz="800" i="1" spc="-270" dirty="0">
                          <a:latin typeface="Menlo"/>
                          <a:cs typeface="Menlo"/>
                        </a:rPr>
                        <a:t> </a:t>
                      </a:r>
                      <a:r>
                        <a:rPr sz="800" dirty="0">
                          <a:latin typeface="Arial"/>
                          <a:cs typeface="Arial"/>
                        </a:rPr>
                        <a:t>[0</a:t>
                      </a:r>
                      <a:r>
                        <a:rPr sz="800" i="1" dirty="0">
                          <a:latin typeface="STIX Two Text"/>
                          <a:cs typeface="STIX Two Text"/>
                        </a:rPr>
                        <a:t>,</a:t>
                      </a:r>
                      <a:r>
                        <a:rPr sz="800" i="1" spc="-80" dirty="0">
                          <a:latin typeface="STIX Two Text"/>
                          <a:cs typeface="STIX Two Text"/>
                        </a:rPr>
                        <a:t> </a:t>
                      </a:r>
                      <a:r>
                        <a:rPr sz="800" spc="-25" dirty="0">
                          <a:latin typeface="Arial"/>
                          <a:cs typeface="Arial"/>
                        </a:rPr>
                        <a:t>3]</a:t>
                      </a:r>
                      <a:endParaRPr sz="800">
                        <a:latin typeface="Arial"/>
                        <a:cs typeface="Arial"/>
                      </a:endParaRPr>
                    </a:p>
                  </a:txBody>
                  <a:tcPr marL="0" marR="0" marT="9525"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150495">
                <a:tc>
                  <a:txBody>
                    <a:bodyPr/>
                    <a:lstStyle/>
                    <a:p>
                      <a:pPr marL="78105">
                        <a:lnSpc>
                          <a:spcPct val="100000"/>
                        </a:lnSpc>
                        <a:spcBef>
                          <a:spcPts val="20"/>
                        </a:spcBef>
                      </a:pPr>
                      <a:r>
                        <a:rPr sz="800" spc="-60" dirty="0">
                          <a:latin typeface="Arial"/>
                          <a:cs typeface="Arial"/>
                        </a:rPr>
                        <a:t>To</a:t>
                      </a:r>
                      <a:r>
                        <a:rPr sz="800" spc="-5" dirty="0">
                          <a:latin typeface="Arial"/>
                          <a:cs typeface="Arial"/>
                        </a:rPr>
                        <a:t> </a:t>
                      </a:r>
                      <a:r>
                        <a:rPr sz="800" dirty="0">
                          <a:latin typeface="Arial"/>
                          <a:cs typeface="Arial"/>
                        </a:rPr>
                        <a:t>node</a:t>
                      </a:r>
                      <a:r>
                        <a:rPr sz="800" spc="-15" dirty="0">
                          <a:latin typeface="Arial"/>
                          <a:cs typeface="Arial"/>
                        </a:rPr>
                        <a:t> </a:t>
                      </a:r>
                      <a:r>
                        <a:rPr sz="800" spc="-50" dirty="0">
                          <a:latin typeface="Arial"/>
                          <a:cs typeface="Arial"/>
                        </a:rPr>
                        <a:t>4</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ct val="100000"/>
                        </a:lnSpc>
                        <a:spcBef>
                          <a:spcPts val="20"/>
                        </a:spcBef>
                      </a:pPr>
                      <a:r>
                        <a:rPr sz="800" i="1" dirty="0">
                          <a:latin typeface="Arial"/>
                          <a:cs typeface="Arial"/>
                        </a:rPr>
                        <a:t>a</a:t>
                      </a:r>
                      <a:r>
                        <a:rPr sz="800" i="1" spc="-10" dirty="0">
                          <a:latin typeface="Arial"/>
                          <a:cs typeface="Arial"/>
                        </a:rPr>
                        <a:t> </a:t>
                      </a:r>
                      <a:r>
                        <a:rPr sz="800" i="1" dirty="0">
                          <a:latin typeface="Menlo"/>
                          <a:cs typeface="Menlo"/>
                        </a:rPr>
                        <a:t>∈</a:t>
                      </a:r>
                      <a:r>
                        <a:rPr sz="800" i="1" spc="-270" dirty="0">
                          <a:latin typeface="Menlo"/>
                          <a:cs typeface="Menlo"/>
                        </a:rPr>
                        <a:t> </a:t>
                      </a:r>
                      <a:r>
                        <a:rPr sz="800" dirty="0">
                          <a:latin typeface="Arial"/>
                          <a:cs typeface="Arial"/>
                        </a:rPr>
                        <a:t>[2</a:t>
                      </a:r>
                      <a:r>
                        <a:rPr sz="800" i="1" dirty="0">
                          <a:latin typeface="STIX Two Text"/>
                          <a:cs typeface="STIX Two Text"/>
                        </a:rPr>
                        <a:t>,</a:t>
                      </a:r>
                      <a:r>
                        <a:rPr sz="800" i="1" spc="-80" dirty="0">
                          <a:latin typeface="STIX Two Text"/>
                          <a:cs typeface="STIX Two Text"/>
                        </a:rPr>
                        <a:t> </a:t>
                      </a:r>
                      <a:r>
                        <a:rPr sz="800" spc="-25" dirty="0">
                          <a:latin typeface="Arial"/>
                          <a:cs typeface="Arial"/>
                        </a:rPr>
                        <a:t>5]</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150495">
                <a:tc>
                  <a:txBody>
                    <a:bodyPr/>
                    <a:lstStyle/>
                    <a:p>
                      <a:pPr marL="78105">
                        <a:lnSpc>
                          <a:spcPct val="100000"/>
                        </a:lnSpc>
                        <a:spcBef>
                          <a:spcPts val="20"/>
                        </a:spcBef>
                      </a:pPr>
                      <a:r>
                        <a:rPr sz="800" spc="-25" dirty="0">
                          <a:latin typeface="Arial"/>
                          <a:cs typeface="Arial"/>
                        </a:rPr>
                        <a:t>Toward</a:t>
                      </a:r>
                      <a:r>
                        <a:rPr sz="800" spc="-20" dirty="0">
                          <a:latin typeface="Arial"/>
                          <a:cs typeface="Arial"/>
                        </a:rPr>
                        <a:t> </a:t>
                      </a:r>
                      <a:r>
                        <a:rPr sz="800" dirty="0">
                          <a:latin typeface="Arial"/>
                          <a:cs typeface="Arial"/>
                        </a:rPr>
                        <a:t>router</a:t>
                      </a:r>
                      <a:r>
                        <a:rPr sz="800" spc="-20" dirty="0">
                          <a:latin typeface="Arial"/>
                          <a:cs typeface="Arial"/>
                        </a:rPr>
                        <a:t> </a:t>
                      </a:r>
                      <a:r>
                        <a:rPr sz="800" i="1" spc="-25" dirty="0">
                          <a:latin typeface="Arial"/>
                          <a:cs typeface="Arial"/>
                        </a:rPr>
                        <a:t>R</a:t>
                      </a:r>
                      <a:r>
                        <a:rPr sz="900" i="1" spc="-37" baseline="-13888" dirty="0">
                          <a:latin typeface="Arial"/>
                          <a:cs typeface="Arial"/>
                        </a:rPr>
                        <a:t>1</a:t>
                      </a:r>
                      <a:endParaRPr sz="900" baseline="-13888">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ct val="100000"/>
                        </a:lnSpc>
                        <a:spcBef>
                          <a:spcPts val="20"/>
                        </a:spcBef>
                      </a:pPr>
                      <a:r>
                        <a:rPr sz="800" spc="-10" dirty="0">
                          <a:latin typeface="Arial"/>
                          <a:cs typeface="Arial"/>
                        </a:rPr>
                        <a:t>(unspecified)</a:t>
                      </a:r>
                      <a:endParaRPr sz="800">
                        <a:latin typeface="Arial"/>
                        <a:cs typeface="Arial"/>
                      </a:endParaRPr>
                    </a:p>
                  </a:txBody>
                  <a:tcPr marL="0" marR="0" marT="254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bl>
          </a:graphicData>
        </a:graphic>
      </p:graphicFrame>
      <p:grpSp>
        <p:nvGrpSpPr>
          <p:cNvPr id="12" name="object 12"/>
          <p:cNvGrpSpPr/>
          <p:nvPr/>
        </p:nvGrpSpPr>
        <p:grpSpPr>
          <a:xfrm>
            <a:off x="0" y="3348469"/>
            <a:ext cx="4608195" cy="107950"/>
            <a:chOff x="0" y="3348469"/>
            <a:chExt cx="4608195" cy="107950"/>
          </a:xfrm>
        </p:grpSpPr>
        <p:sp>
          <p:nvSpPr>
            <p:cNvPr id="13" name="object 13"/>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4" name="object 14"/>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5" name="object 15"/>
          <p:cNvSpPr txBox="1"/>
          <p:nvPr/>
        </p:nvSpPr>
        <p:spPr>
          <a:xfrm>
            <a:off x="53467" y="3349927"/>
            <a:ext cx="822325"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6" action="ppaction://hlinksldjump"/>
              </a:rPr>
              <a:t>Centralized</a:t>
            </a:r>
            <a:r>
              <a:rPr sz="500" spc="60" dirty="0">
                <a:latin typeface="Arial"/>
                <a:cs typeface="Arial"/>
                <a:hlinkClick r:id="rId6" action="ppaction://hlinksldjump"/>
              </a:rPr>
              <a:t> </a:t>
            </a:r>
            <a:r>
              <a:rPr sz="500" spc="-10" dirty="0">
                <a:latin typeface="Arial"/>
                <a:cs typeface="Arial"/>
                <a:hlinkClick r:id="rId6" action="ppaction://hlinksldjump"/>
              </a:rPr>
              <a:t>implementations</a:t>
            </a:r>
            <a:endParaRPr sz="500">
              <a:latin typeface="Arial"/>
              <a:cs typeface="Arial"/>
            </a:endParaRPr>
          </a:p>
        </p:txBody>
      </p:sp>
    </p:spTree>
    <p:extLst>
      <p:ext uri="{BB962C8B-B14F-4D97-AF65-F5344CB8AC3E}">
        <p14:creationId xmlns:p14="http://schemas.microsoft.com/office/powerpoint/2010/main" val="3295403689"/>
      </p:ext>
    </p:extLst>
  </p:cSld>
  <p:clrMapOvr>
    <a:masterClrMapping/>
  </p:clrMapOvr>
  <p:transition>
    <p:fade/>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742690" algn="l"/>
              </a:tabLst>
            </a:pPr>
            <a:r>
              <a:rPr sz="500" spc="-10" dirty="0">
                <a:latin typeface="Arial"/>
                <a:cs typeface="Arial"/>
                <a:hlinkClick r:id="rId2" action="ppaction://hlinksldjump"/>
              </a:rPr>
              <a:t>Coordination</a:t>
            </a:r>
            <a:r>
              <a:rPr sz="500" dirty="0">
                <a:latin typeface="Arial"/>
                <a:cs typeface="Arial"/>
              </a:rPr>
              <a:t>	</a:t>
            </a:r>
            <a:r>
              <a:rPr sz="500" dirty="0">
                <a:solidFill>
                  <a:srgbClr val="FFFFFF"/>
                </a:solidFill>
                <a:latin typeface="Arial"/>
                <a:cs typeface="Arial"/>
                <a:hlinkClick r:id="rId3" action="ppaction://hlinksldjump"/>
              </a:rPr>
              <a:t>Distributed</a:t>
            </a:r>
            <a:r>
              <a:rPr sz="500" spc="-20"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event</a:t>
            </a:r>
            <a:r>
              <a:rPr sz="500" spc="-1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matching</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Gossiping:</a:t>
            </a:r>
            <a:r>
              <a:rPr spc="40" dirty="0"/>
              <a:t> </a:t>
            </a:r>
            <a:r>
              <a:rPr spc="-10" dirty="0"/>
              <a:t>Sub-2-</a:t>
            </a:r>
            <a:r>
              <a:rPr spc="-25" dirty="0"/>
              <a:t>Sub</a:t>
            </a:r>
          </a:p>
        </p:txBody>
      </p:sp>
      <p:sp>
        <p:nvSpPr>
          <p:cNvPr id="4" name="object 4"/>
          <p:cNvSpPr/>
          <p:nvPr/>
        </p:nvSpPr>
        <p:spPr>
          <a:xfrm>
            <a:off x="3138830" y="2284476"/>
            <a:ext cx="76200" cy="0"/>
          </a:xfrm>
          <a:custGeom>
            <a:avLst/>
            <a:gdLst/>
            <a:ahLst/>
            <a:cxnLst/>
            <a:rect l="l" t="t" r="r" b="b"/>
            <a:pathLst>
              <a:path w="76200">
                <a:moveTo>
                  <a:pt x="0" y="0"/>
                </a:moveTo>
                <a:lnTo>
                  <a:pt x="75958" y="0"/>
                </a:lnTo>
              </a:path>
            </a:pathLst>
          </a:custGeom>
          <a:ln w="4559">
            <a:solidFill>
              <a:srgbClr val="000000"/>
            </a:solidFill>
          </a:ln>
        </p:spPr>
        <p:txBody>
          <a:bodyPr wrap="square" lIns="0" tIns="0" rIns="0" bIns="0" rtlCol="0"/>
          <a:lstStyle/>
          <a:p>
            <a:endParaRPr/>
          </a:p>
        </p:txBody>
      </p:sp>
      <p:sp>
        <p:nvSpPr>
          <p:cNvPr id="5" name="object 5"/>
          <p:cNvSpPr txBox="1"/>
          <p:nvPr/>
        </p:nvSpPr>
        <p:spPr>
          <a:xfrm>
            <a:off x="334594" y="421832"/>
            <a:ext cx="3870325" cy="1998980"/>
          </a:xfrm>
          <a:prstGeom prst="rect">
            <a:avLst/>
          </a:prstGeom>
        </p:spPr>
        <p:txBody>
          <a:bodyPr vert="horz" wrap="square" lIns="0" tIns="83820" rIns="0" bIns="0" rtlCol="0">
            <a:spAutoFit/>
          </a:bodyPr>
          <a:lstStyle/>
          <a:p>
            <a:pPr marL="25400">
              <a:lnSpc>
                <a:spcPct val="100000"/>
              </a:lnSpc>
              <a:spcBef>
                <a:spcPts val="660"/>
              </a:spcBef>
            </a:pPr>
            <a:r>
              <a:rPr sz="1000" spc="-10" dirty="0">
                <a:solidFill>
                  <a:srgbClr val="3333B2"/>
                </a:solidFill>
                <a:latin typeface="Arial"/>
                <a:cs typeface="Arial"/>
              </a:rPr>
              <a:t>Basics</a:t>
            </a:r>
            <a:endParaRPr sz="1000">
              <a:latin typeface="Arial"/>
              <a:cs typeface="Arial"/>
            </a:endParaRPr>
          </a:p>
          <a:p>
            <a:pPr marL="278130" marR="109855" indent="-120650">
              <a:lnSpc>
                <a:spcPct val="111600"/>
              </a:lnSpc>
              <a:spcBef>
                <a:spcPts val="375"/>
              </a:spcBef>
              <a:buClr>
                <a:srgbClr val="3333B2"/>
              </a:buClr>
              <a:buFont typeface="Menlo"/>
              <a:buChar char="•"/>
              <a:tabLst>
                <a:tab pos="278765" algn="l"/>
              </a:tabLst>
            </a:pPr>
            <a:r>
              <a:rPr sz="900" dirty="0">
                <a:solidFill>
                  <a:srgbClr val="C80000"/>
                </a:solidFill>
                <a:latin typeface="Arial"/>
                <a:cs typeface="Arial"/>
              </a:rPr>
              <a:t>Goal</a:t>
            </a:r>
            <a:r>
              <a:rPr sz="900" dirty="0">
                <a:latin typeface="Arial"/>
                <a:cs typeface="Arial"/>
              </a:rPr>
              <a:t>:</a:t>
            </a:r>
            <a:r>
              <a:rPr sz="900" spc="10" dirty="0">
                <a:latin typeface="Arial"/>
                <a:cs typeface="Arial"/>
              </a:rPr>
              <a:t> </a:t>
            </a:r>
            <a:r>
              <a:rPr sz="900" spc="-65" dirty="0">
                <a:latin typeface="Arial"/>
                <a:cs typeface="Arial"/>
              </a:rPr>
              <a:t>To</a:t>
            </a:r>
            <a:r>
              <a:rPr sz="900" spc="-5" dirty="0">
                <a:latin typeface="Arial"/>
                <a:cs typeface="Arial"/>
              </a:rPr>
              <a:t> </a:t>
            </a:r>
            <a:r>
              <a:rPr sz="900" dirty="0">
                <a:latin typeface="Arial"/>
                <a:cs typeface="Arial"/>
              </a:rPr>
              <a:t>realize</a:t>
            </a:r>
            <a:r>
              <a:rPr sz="900" spc="-25" dirty="0">
                <a:latin typeface="Arial"/>
                <a:cs typeface="Arial"/>
              </a:rPr>
              <a:t> </a:t>
            </a:r>
            <a:r>
              <a:rPr sz="900" spc="-10" dirty="0">
                <a:latin typeface="Arial"/>
                <a:cs typeface="Arial"/>
              </a:rPr>
              <a:t>scalability,</a:t>
            </a:r>
            <a:r>
              <a:rPr sz="900" spc="-25" dirty="0">
                <a:latin typeface="Arial"/>
                <a:cs typeface="Arial"/>
              </a:rPr>
              <a:t> </a:t>
            </a:r>
            <a:r>
              <a:rPr sz="900" dirty="0">
                <a:latin typeface="Arial"/>
                <a:cs typeface="Arial"/>
              </a:rPr>
              <a:t>make</a:t>
            </a:r>
            <a:r>
              <a:rPr sz="900" spc="-25" dirty="0">
                <a:latin typeface="Arial"/>
                <a:cs typeface="Arial"/>
              </a:rPr>
              <a:t> </a:t>
            </a:r>
            <a:r>
              <a:rPr sz="900" dirty="0">
                <a:latin typeface="Arial"/>
                <a:cs typeface="Arial"/>
              </a:rPr>
              <a:t>sure</a:t>
            </a:r>
            <a:r>
              <a:rPr sz="900" spc="-25" dirty="0">
                <a:latin typeface="Arial"/>
                <a:cs typeface="Arial"/>
              </a:rPr>
              <a:t> </a:t>
            </a:r>
            <a:r>
              <a:rPr sz="900" dirty="0">
                <a:latin typeface="Arial"/>
                <a:cs typeface="Arial"/>
              </a:rPr>
              <a:t>that</a:t>
            </a:r>
            <a:r>
              <a:rPr sz="900" spc="-25" dirty="0">
                <a:latin typeface="Arial"/>
                <a:cs typeface="Arial"/>
              </a:rPr>
              <a:t> </a:t>
            </a:r>
            <a:r>
              <a:rPr sz="900" dirty="0">
                <a:latin typeface="Arial"/>
                <a:cs typeface="Arial"/>
              </a:rPr>
              <a:t>subscribers</a:t>
            </a:r>
            <a:r>
              <a:rPr sz="900" spc="-25" dirty="0">
                <a:latin typeface="Arial"/>
                <a:cs typeface="Arial"/>
              </a:rPr>
              <a:t> </a:t>
            </a:r>
            <a:r>
              <a:rPr sz="900" dirty="0">
                <a:latin typeface="Arial"/>
                <a:cs typeface="Arial"/>
              </a:rPr>
              <a:t>with</a:t>
            </a:r>
            <a:r>
              <a:rPr sz="900" spc="-25" dirty="0">
                <a:latin typeface="Arial"/>
                <a:cs typeface="Arial"/>
              </a:rPr>
              <a:t> </a:t>
            </a:r>
            <a:r>
              <a:rPr sz="900" dirty="0">
                <a:latin typeface="Arial"/>
                <a:cs typeface="Arial"/>
              </a:rPr>
              <a:t>the</a:t>
            </a:r>
            <a:r>
              <a:rPr sz="900" spc="-25" dirty="0">
                <a:latin typeface="Arial"/>
                <a:cs typeface="Arial"/>
              </a:rPr>
              <a:t> </a:t>
            </a:r>
            <a:r>
              <a:rPr sz="900" spc="-20" dirty="0">
                <a:latin typeface="Arial"/>
                <a:cs typeface="Arial"/>
              </a:rPr>
              <a:t>same </a:t>
            </a:r>
            <a:r>
              <a:rPr sz="900" dirty="0">
                <a:latin typeface="Arial"/>
                <a:cs typeface="Arial"/>
              </a:rPr>
              <a:t>interests</a:t>
            </a:r>
            <a:r>
              <a:rPr sz="900" spc="-30" dirty="0">
                <a:latin typeface="Arial"/>
                <a:cs typeface="Arial"/>
              </a:rPr>
              <a:t> </a:t>
            </a:r>
            <a:r>
              <a:rPr sz="900" dirty="0">
                <a:latin typeface="Arial"/>
                <a:cs typeface="Arial"/>
              </a:rPr>
              <a:t>form</a:t>
            </a:r>
            <a:r>
              <a:rPr sz="900" spc="-25" dirty="0">
                <a:latin typeface="Arial"/>
                <a:cs typeface="Arial"/>
              </a:rPr>
              <a:t> </a:t>
            </a:r>
            <a:r>
              <a:rPr sz="900" dirty="0">
                <a:latin typeface="Arial"/>
                <a:cs typeface="Arial"/>
              </a:rPr>
              <a:t>just</a:t>
            </a:r>
            <a:r>
              <a:rPr sz="900" spc="-25" dirty="0">
                <a:latin typeface="Arial"/>
                <a:cs typeface="Arial"/>
              </a:rPr>
              <a:t> </a:t>
            </a:r>
            <a:r>
              <a:rPr sz="900" dirty="0">
                <a:latin typeface="Arial"/>
                <a:cs typeface="Arial"/>
              </a:rPr>
              <a:t>a</a:t>
            </a:r>
            <a:r>
              <a:rPr sz="900" spc="-25" dirty="0">
                <a:latin typeface="Arial"/>
                <a:cs typeface="Arial"/>
              </a:rPr>
              <a:t> </a:t>
            </a:r>
            <a:r>
              <a:rPr sz="900" dirty="0">
                <a:latin typeface="Arial"/>
                <a:cs typeface="Arial"/>
              </a:rPr>
              <a:t>single</a:t>
            </a:r>
            <a:r>
              <a:rPr sz="900" spc="-25" dirty="0">
                <a:latin typeface="Arial"/>
                <a:cs typeface="Arial"/>
              </a:rPr>
              <a:t> </a:t>
            </a:r>
            <a:r>
              <a:rPr sz="900" spc="-10" dirty="0">
                <a:latin typeface="Arial"/>
                <a:cs typeface="Arial"/>
              </a:rPr>
              <a:t>group</a:t>
            </a:r>
            <a:endParaRPr sz="900">
              <a:latin typeface="Arial"/>
              <a:cs typeface="Arial"/>
            </a:endParaRPr>
          </a:p>
          <a:p>
            <a:pPr marL="274320" marR="132715" indent="-116839">
              <a:lnSpc>
                <a:spcPct val="111600"/>
              </a:lnSpc>
              <a:buClr>
                <a:srgbClr val="3333B2"/>
              </a:buClr>
              <a:buFont typeface="Menlo"/>
              <a:buChar char="•"/>
              <a:tabLst>
                <a:tab pos="278765" algn="l"/>
              </a:tabLst>
            </a:pPr>
            <a:r>
              <a:rPr sz="900" dirty="0">
                <a:solidFill>
                  <a:srgbClr val="C80000"/>
                </a:solidFill>
                <a:latin typeface="Arial"/>
                <a:cs typeface="Arial"/>
              </a:rPr>
              <a:t>Model</a:t>
            </a:r>
            <a:r>
              <a:rPr sz="900" dirty="0">
                <a:latin typeface="Arial"/>
                <a:cs typeface="Arial"/>
              </a:rPr>
              <a:t>:</a:t>
            </a:r>
            <a:r>
              <a:rPr sz="900" spc="15" dirty="0">
                <a:latin typeface="Arial"/>
                <a:cs typeface="Arial"/>
              </a:rPr>
              <a:t> </a:t>
            </a:r>
            <a:r>
              <a:rPr sz="900" dirty="0">
                <a:latin typeface="Arial"/>
                <a:cs typeface="Arial"/>
              </a:rPr>
              <a:t>There</a:t>
            </a:r>
            <a:r>
              <a:rPr sz="900" spc="-20" dirty="0">
                <a:latin typeface="Arial"/>
                <a:cs typeface="Arial"/>
              </a:rPr>
              <a:t> </a:t>
            </a:r>
            <a:r>
              <a:rPr sz="900" dirty="0">
                <a:latin typeface="Arial"/>
                <a:cs typeface="Arial"/>
              </a:rPr>
              <a:t>are</a:t>
            </a:r>
            <a:r>
              <a:rPr sz="900" spc="-25" dirty="0">
                <a:latin typeface="Arial"/>
                <a:cs typeface="Arial"/>
              </a:rPr>
              <a:t> </a:t>
            </a:r>
            <a:r>
              <a:rPr sz="900" i="1" dirty="0">
                <a:latin typeface="Arial"/>
                <a:cs typeface="Arial"/>
              </a:rPr>
              <a:t>N</a:t>
            </a:r>
            <a:r>
              <a:rPr sz="900" i="1" spc="45" dirty="0">
                <a:latin typeface="Arial"/>
                <a:cs typeface="Arial"/>
              </a:rPr>
              <a:t> </a:t>
            </a:r>
            <a:r>
              <a:rPr sz="900" dirty="0">
                <a:latin typeface="Arial"/>
                <a:cs typeface="Arial"/>
              </a:rPr>
              <a:t>attributes</a:t>
            </a:r>
            <a:r>
              <a:rPr sz="900" spc="-25" dirty="0">
                <a:latin typeface="Arial"/>
                <a:cs typeface="Arial"/>
              </a:rPr>
              <a:t> </a:t>
            </a:r>
            <a:r>
              <a:rPr sz="900" i="1" spc="80" dirty="0">
                <a:latin typeface="Arial"/>
                <a:cs typeface="Arial"/>
              </a:rPr>
              <a:t>a</a:t>
            </a:r>
            <a:r>
              <a:rPr sz="1050" i="1" spc="120" baseline="-15873" dirty="0">
                <a:latin typeface="Arial"/>
                <a:cs typeface="Arial"/>
              </a:rPr>
              <a:t>1</a:t>
            </a:r>
            <a:r>
              <a:rPr sz="900" i="1" spc="80" dirty="0">
                <a:latin typeface="STIX Two Text"/>
                <a:cs typeface="STIX Two Text"/>
              </a:rPr>
              <a:t>,...,</a:t>
            </a:r>
            <a:r>
              <a:rPr sz="900" i="1" spc="-105" dirty="0">
                <a:latin typeface="STIX Two Text"/>
                <a:cs typeface="STIX Two Text"/>
              </a:rPr>
              <a:t> </a:t>
            </a:r>
            <a:r>
              <a:rPr sz="900" i="1" spc="-10" dirty="0">
                <a:latin typeface="Arial"/>
                <a:cs typeface="Arial"/>
              </a:rPr>
              <a:t>a</a:t>
            </a:r>
            <a:r>
              <a:rPr sz="1050" i="1" spc="-15" baseline="-15873" dirty="0">
                <a:latin typeface="Arial"/>
                <a:cs typeface="Arial"/>
              </a:rPr>
              <a:t>N</a:t>
            </a:r>
            <a:r>
              <a:rPr sz="1050" i="1" spc="-142" baseline="-15873" dirty="0">
                <a:latin typeface="Arial"/>
                <a:cs typeface="Arial"/>
              </a:rPr>
              <a:t> </a:t>
            </a:r>
            <a:r>
              <a:rPr sz="900" dirty="0">
                <a:latin typeface="Arial"/>
                <a:cs typeface="Arial"/>
              </a:rPr>
              <a:t>.</a:t>
            </a:r>
            <a:r>
              <a:rPr sz="900" spc="35" dirty="0">
                <a:latin typeface="Arial"/>
                <a:cs typeface="Arial"/>
              </a:rPr>
              <a:t> </a:t>
            </a:r>
            <a:r>
              <a:rPr sz="900" dirty="0">
                <a:latin typeface="Arial"/>
                <a:cs typeface="Arial"/>
              </a:rPr>
              <a:t>An</a:t>
            </a:r>
            <a:r>
              <a:rPr sz="900" spc="-25" dirty="0">
                <a:latin typeface="Arial"/>
                <a:cs typeface="Arial"/>
              </a:rPr>
              <a:t> </a:t>
            </a:r>
            <a:r>
              <a:rPr sz="900" dirty="0">
                <a:latin typeface="Arial"/>
                <a:cs typeface="Arial"/>
              </a:rPr>
              <a:t>attribute</a:t>
            </a:r>
            <a:r>
              <a:rPr sz="900" spc="-20" dirty="0">
                <a:latin typeface="Arial"/>
                <a:cs typeface="Arial"/>
              </a:rPr>
              <a:t> </a:t>
            </a:r>
            <a:r>
              <a:rPr sz="900" dirty="0">
                <a:latin typeface="Arial"/>
                <a:cs typeface="Arial"/>
              </a:rPr>
              <a:t>value</a:t>
            </a:r>
            <a:r>
              <a:rPr sz="900" spc="-25" dirty="0">
                <a:latin typeface="Arial"/>
                <a:cs typeface="Arial"/>
              </a:rPr>
              <a:t> </a:t>
            </a:r>
            <a:r>
              <a:rPr sz="900" dirty="0">
                <a:latin typeface="Arial"/>
                <a:cs typeface="Arial"/>
              </a:rPr>
              <a:t>is</a:t>
            </a:r>
            <a:r>
              <a:rPr sz="900" spc="-20" dirty="0">
                <a:latin typeface="Arial"/>
                <a:cs typeface="Arial"/>
              </a:rPr>
              <a:t> </a:t>
            </a:r>
            <a:r>
              <a:rPr sz="900" spc="-10" dirty="0">
                <a:latin typeface="Arial"/>
                <a:cs typeface="Arial"/>
              </a:rPr>
              <a:t>always (mappable</a:t>
            </a:r>
            <a:r>
              <a:rPr sz="900" spc="5" dirty="0">
                <a:latin typeface="Arial"/>
                <a:cs typeface="Arial"/>
              </a:rPr>
              <a:t> </a:t>
            </a:r>
            <a:r>
              <a:rPr sz="900" dirty="0">
                <a:latin typeface="Arial"/>
                <a:cs typeface="Arial"/>
              </a:rPr>
              <a:t>to)</a:t>
            </a:r>
            <a:r>
              <a:rPr sz="900" spc="10" dirty="0">
                <a:latin typeface="Arial"/>
                <a:cs typeface="Arial"/>
              </a:rPr>
              <a:t> </a:t>
            </a:r>
            <a:r>
              <a:rPr sz="900" dirty="0">
                <a:latin typeface="Arial"/>
                <a:cs typeface="Arial"/>
              </a:rPr>
              <a:t>a</a:t>
            </a:r>
            <a:r>
              <a:rPr sz="900" spc="5" dirty="0">
                <a:latin typeface="Arial"/>
                <a:cs typeface="Arial"/>
              </a:rPr>
              <a:t> </a:t>
            </a:r>
            <a:r>
              <a:rPr sz="900" spc="-10" dirty="0">
                <a:latin typeface="Arial"/>
                <a:cs typeface="Arial"/>
              </a:rPr>
              <a:t>floating-</a:t>
            </a:r>
            <a:r>
              <a:rPr sz="900" dirty="0">
                <a:latin typeface="Arial"/>
                <a:cs typeface="Arial"/>
              </a:rPr>
              <a:t>point</a:t>
            </a:r>
            <a:r>
              <a:rPr sz="900" spc="10" dirty="0">
                <a:latin typeface="Arial"/>
                <a:cs typeface="Arial"/>
              </a:rPr>
              <a:t> </a:t>
            </a:r>
            <a:r>
              <a:rPr sz="900" spc="-10" dirty="0">
                <a:latin typeface="Arial"/>
                <a:cs typeface="Arial"/>
              </a:rPr>
              <a:t>number.</a:t>
            </a:r>
            <a:endParaRPr sz="900">
              <a:latin typeface="Arial"/>
              <a:cs typeface="Arial"/>
            </a:endParaRPr>
          </a:p>
          <a:p>
            <a:pPr marL="278130" marR="17780" indent="-120650">
              <a:lnSpc>
                <a:spcPct val="111600"/>
              </a:lnSpc>
              <a:buClr>
                <a:srgbClr val="3333B2"/>
              </a:buClr>
              <a:buFont typeface="Menlo"/>
              <a:buChar char="•"/>
              <a:tabLst>
                <a:tab pos="278765" algn="l"/>
              </a:tabLst>
            </a:pPr>
            <a:r>
              <a:rPr sz="900" dirty="0">
                <a:solidFill>
                  <a:srgbClr val="C80000"/>
                </a:solidFill>
                <a:latin typeface="Arial"/>
                <a:cs typeface="Arial"/>
              </a:rPr>
              <a:t>Subscription</a:t>
            </a:r>
            <a:r>
              <a:rPr sz="900" dirty="0">
                <a:latin typeface="Arial"/>
                <a:cs typeface="Arial"/>
              </a:rPr>
              <a:t>:</a:t>
            </a:r>
            <a:r>
              <a:rPr sz="900" spc="25" dirty="0">
                <a:latin typeface="Arial"/>
                <a:cs typeface="Arial"/>
              </a:rPr>
              <a:t> </a:t>
            </a:r>
            <a:r>
              <a:rPr sz="900" spc="-25" dirty="0">
                <a:latin typeface="Arial"/>
                <a:cs typeface="Arial"/>
              </a:rPr>
              <a:t>Takes</a:t>
            </a:r>
            <a:r>
              <a:rPr sz="900" spc="-15" dirty="0">
                <a:latin typeface="Arial"/>
                <a:cs typeface="Arial"/>
              </a:rPr>
              <a:t> </a:t>
            </a:r>
            <a:r>
              <a:rPr sz="900" dirty="0">
                <a:latin typeface="Arial"/>
                <a:cs typeface="Arial"/>
              </a:rPr>
              <a:t>forms</a:t>
            </a:r>
            <a:r>
              <a:rPr sz="900" spc="-15" dirty="0">
                <a:latin typeface="Arial"/>
                <a:cs typeface="Arial"/>
              </a:rPr>
              <a:t> </a:t>
            </a:r>
            <a:r>
              <a:rPr sz="900" dirty="0">
                <a:latin typeface="Arial"/>
                <a:cs typeface="Arial"/>
              </a:rPr>
              <a:t>such</a:t>
            </a:r>
            <a:r>
              <a:rPr sz="900" spc="-15" dirty="0">
                <a:latin typeface="Arial"/>
                <a:cs typeface="Arial"/>
              </a:rPr>
              <a:t> </a:t>
            </a:r>
            <a:r>
              <a:rPr sz="900" dirty="0">
                <a:latin typeface="Arial"/>
                <a:cs typeface="Arial"/>
              </a:rPr>
              <a:t>as</a:t>
            </a:r>
            <a:r>
              <a:rPr sz="900" spc="-15" dirty="0">
                <a:latin typeface="Arial"/>
                <a:cs typeface="Arial"/>
              </a:rPr>
              <a:t> </a:t>
            </a:r>
            <a:r>
              <a:rPr sz="900" i="1" dirty="0">
                <a:latin typeface="Arial"/>
                <a:cs typeface="Arial"/>
              </a:rPr>
              <a:t>S</a:t>
            </a:r>
            <a:r>
              <a:rPr sz="900" i="1" spc="-20" dirty="0">
                <a:latin typeface="Arial"/>
                <a:cs typeface="Arial"/>
              </a:rPr>
              <a:t> </a:t>
            </a:r>
            <a:r>
              <a:rPr sz="900" spc="185" dirty="0">
                <a:latin typeface="Arial"/>
                <a:cs typeface="Arial"/>
              </a:rPr>
              <a:t>=</a:t>
            </a:r>
            <a:r>
              <a:rPr sz="900" spc="-60" dirty="0">
                <a:latin typeface="Arial"/>
                <a:cs typeface="Arial"/>
              </a:rPr>
              <a:t> </a:t>
            </a:r>
            <a:r>
              <a:rPr sz="900" i="1" spc="-55" dirty="0">
                <a:latin typeface="Menlo"/>
                <a:cs typeface="Menlo"/>
              </a:rPr>
              <a:t>⟨</a:t>
            </a:r>
            <a:r>
              <a:rPr sz="900" i="1" spc="-55" dirty="0">
                <a:latin typeface="Arial"/>
                <a:cs typeface="Arial"/>
              </a:rPr>
              <a:t>a</a:t>
            </a:r>
            <a:r>
              <a:rPr sz="1050" i="1" spc="-82" baseline="-15873" dirty="0">
                <a:latin typeface="Arial"/>
                <a:cs typeface="Arial"/>
              </a:rPr>
              <a:t>1</a:t>
            </a:r>
            <a:r>
              <a:rPr sz="1050" i="1" spc="60" baseline="-15873" dirty="0">
                <a:latin typeface="Arial"/>
                <a:cs typeface="Arial"/>
              </a:rPr>
              <a:t> </a:t>
            </a:r>
            <a:r>
              <a:rPr sz="900" i="1" spc="350" dirty="0">
                <a:latin typeface="Menlo"/>
                <a:cs typeface="Menlo"/>
              </a:rPr>
              <a:t>→</a:t>
            </a:r>
            <a:r>
              <a:rPr sz="900" i="1" spc="-345" dirty="0">
                <a:latin typeface="Menlo"/>
                <a:cs typeface="Menlo"/>
              </a:rPr>
              <a:t> </a:t>
            </a:r>
            <a:r>
              <a:rPr sz="900" dirty="0">
                <a:latin typeface="Arial"/>
                <a:cs typeface="Arial"/>
              </a:rPr>
              <a:t>3</a:t>
            </a:r>
            <a:r>
              <a:rPr sz="900" i="1" dirty="0">
                <a:latin typeface="STIX Two Text"/>
                <a:cs typeface="STIX Two Text"/>
              </a:rPr>
              <a:t>.</a:t>
            </a:r>
            <a:r>
              <a:rPr sz="900" dirty="0">
                <a:latin typeface="Arial"/>
                <a:cs typeface="Arial"/>
              </a:rPr>
              <a:t>0</a:t>
            </a:r>
            <a:r>
              <a:rPr sz="900" i="1" dirty="0">
                <a:latin typeface="STIX Two Text"/>
                <a:cs typeface="STIX Two Text"/>
              </a:rPr>
              <a:t>,</a:t>
            </a:r>
            <a:r>
              <a:rPr sz="900" i="1" spc="-105" dirty="0">
                <a:latin typeface="STIX Two Text"/>
                <a:cs typeface="STIX Two Text"/>
              </a:rPr>
              <a:t> </a:t>
            </a:r>
            <a:r>
              <a:rPr sz="900" i="1" dirty="0">
                <a:latin typeface="Arial"/>
                <a:cs typeface="Arial"/>
              </a:rPr>
              <a:t>a</a:t>
            </a:r>
            <a:r>
              <a:rPr sz="1050" i="1" baseline="-15873" dirty="0">
                <a:latin typeface="Arial"/>
                <a:cs typeface="Arial"/>
              </a:rPr>
              <a:t>4</a:t>
            </a:r>
            <a:r>
              <a:rPr sz="1050" i="1" spc="82" baseline="-15873" dirty="0">
                <a:latin typeface="Arial"/>
                <a:cs typeface="Arial"/>
              </a:rPr>
              <a:t> </a:t>
            </a:r>
            <a:r>
              <a:rPr sz="900" i="1" spc="350" dirty="0">
                <a:latin typeface="Menlo"/>
                <a:cs typeface="Menlo"/>
              </a:rPr>
              <a:t>→</a:t>
            </a:r>
            <a:r>
              <a:rPr sz="900" i="1" spc="-345" dirty="0">
                <a:latin typeface="Menlo"/>
                <a:cs typeface="Menlo"/>
              </a:rPr>
              <a:t> </a:t>
            </a:r>
            <a:r>
              <a:rPr sz="900" dirty="0">
                <a:latin typeface="Arial"/>
                <a:cs typeface="Arial"/>
              </a:rPr>
              <a:t>[0</a:t>
            </a:r>
            <a:r>
              <a:rPr sz="900" i="1" dirty="0">
                <a:latin typeface="STIX Two Text"/>
                <a:cs typeface="STIX Two Text"/>
              </a:rPr>
              <a:t>.</a:t>
            </a:r>
            <a:r>
              <a:rPr sz="900" dirty="0">
                <a:latin typeface="Arial"/>
                <a:cs typeface="Arial"/>
              </a:rPr>
              <a:t>0</a:t>
            </a:r>
            <a:r>
              <a:rPr sz="900" i="1" dirty="0">
                <a:latin typeface="STIX Two Text"/>
                <a:cs typeface="STIX Two Text"/>
              </a:rPr>
              <a:t>,</a:t>
            </a:r>
            <a:r>
              <a:rPr sz="900" i="1" spc="130" dirty="0">
                <a:latin typeface="STIX Two Text"/>
                <a:cs typeface="STIX Two Text"/>
              </a:rPr>
              <a:t> </a:t>
            </a:r>
            <a:r>
              <a:rPr sz="900" spc="-10" dirty="0">
                <a:latin typeface="Arial"/>
                <a:cs typeface="Arial"/>
              </a:rPr>
              <a:t>0</a:t>
            </a:r>
            <a:r>
              <a:rPr sz="900" i="1" spc="-10" dirty="0">
                <a:latin typeface="STIX Two Text"/>
                <a:cs typeface="STIX Two Text"/>
              </a:rPr>
              <a:t>.</a:t>
            </a:r>
            <a:r>
              <a:rPr sz="900" spc="-10" dirty="0">
                <a:latin typeface="Arial"/>
                <a:cs typeface="Arial"/>
              </a:rPr>
              <a:t>5)</a:t>
            </a:r>
            <a:r>
              <a:rPr sz="900" i="1" spc="-10" dirty="0">
                <a:latin typeface="Menlo"/>
                <a:cs typeface="Menlo"/>
              </a:rPr>
              <a:t>⟩</a:t>
            </a:r>
            <a:r>
              <a:rPr sz="900" spc="-10" dirty="0">
                <a:latin typeface="Arial"/>
                <a:cs typeface="Arial"/>
              </a:rPr>
              <a:t>:</a:t>
            </a:r>
            <a:r>
              <a:rPr sz="900" spc="40" dirty="0">
                <a:latin typeface="Arial"/>
                <a:cs typeface="Arial"/>
              </a:rPr>
              <a:t> </a:t>
            </a:r>
            <a:r>
              <a:rPr sz="900" i="1" spc="-25" dirty="0">
                <a:latin typeface="Arial"/>
                <a:cs typeface="Arial"/>
              </a:rPr>
              <a:t>a</a:t>
            </a:r>
            <a:r>
              <a:rPr sz="1050" i="1" spc="-37" baseline="-15873" dirty="0">
                <a:latin typeface="Arial"/>
                <a:cs typeface="Arial"/>
              </a:rPr>
              <a:t>1</a:t>
            </a:r>
            <a:r>
              <a:rPr sz="1050" i="1" spc="750" baseline="-15873" dirty="0">
                <a:latin typeface="Arial"/>
                <a:cs typeface="Arial"/>
              </a:rPr>
              <a:t> </a:t>
            </a:r>
            <a:r>
              <a:rPr sz="900" dirty="0">
                <a:latin typeface="Arial"/>
                <a:cs typeface="Arial"/>
              </a:rPr>
              <a:t>should</a:t>
            </a:r>
            <a:r>
              <a:rPr sz="900" spc="-30" dirty="0">
                <a:latin typeface="Arial"/>
                <a:cs typeface="Arial"/>
              </a:rPr>
              <a:t> </a:t>
            </a:r>
            <a:r>
              <a:rPr sz="900" dirty="0">
                <a:latin typeface="Arial"/>
                <a:cs typeface="Arial"/>
              </a:rPr>
              <a:t>be</a:t>
            </a:r>
            <a:r>
              <a:rPr sz="900" spc="-25" dirty="0">
                <a:latin typeface="Arial"/>
                <a:cs typeface="Arial"/>
              </a:rPr>
              <a:t> </a:t>
            </a:r>
            <a:r>
              <a:rPr sz="900" dirty="0">
                <a:latin typeface="Arial"/>
                <a:cs typeface="Arial"/>
              </a:rPr>
              <a:t>3.0;</a:t>
            </a:r>
            <a:r>
              <a:rPr sz="900" spc="-25" dirty="0">
                <a:latin typeface="Arial"/>
                <a:cs typeface="Arial"/>
              </a:rPr>
              <a:t> </a:t>
            </a:r>
            <a:r>
              <a:rPr sz="900" i="1" dirty="0">
                <a:latin typeface="Arial"/>
                <a:cs typeface="Arial"/>
              </a:rPr>
              <a:t>a</a:t>
            </a:r>
            <a:r>
              <a:rPr sz="1050" i="1" baseline="-15873" dirty="0">
                <a:latin typeface="Arial"/>
                <a:cs typeface="Arial"/>
              </a:rPr>
              <a:t>4</a:t>
            </a:r>
            <a:r>
              <a:rPr sz="1050" i="1" spc="127" baseline="-15873" dirty="0">
                <a:latin typeface="Arial"/>
                <a:cs typeface="Arial"/>
              </a:rPr>
              <a:t> </a:t>
            </a:r>
            <a:r>
              <a:rPr sz="900" dirty="0">
                <a:latin typeface="Arial"/>
                <a:cs typeface="Arial"/>
              </a:rPr>
              <a:t>should</a:t>
            </a:r>
            <a:r>
              <a:rPr sz="900" spc="-25" dirty="0">
                <a:latin typeface="Arial"/>
                <a:cs typeface="Arial"/>
              </a:rPr>
              <a:t> </a:t>
            </a:r>
            <a:r>
              <a:rPr sz="900" dirty="0">
                <a:latin typeface="Arial"/>
                <a:cs typeface="Arial"/>
              </a:rPr>
              <a:t>lie</a:t>
            </a:r>
            <a:r>
              <a:rPr sz="900" spc="-25" dirty="0">
                <a:latin typeface="Arial"/>
                <a:cs typeface="Arial"/>
              </a:rPr>
              <a:t> </a:t>
            </a:r>
            <a:r>
              <a:rPr sz="900" dirty="0">
                <a:latin typeface="Arial"/>
                <a:cs typeface="Arial"/>
              </a:rPr>
              <a:t>between</a:t>
            </a:r>
            <a:r>
              <a:rPr sz="900" spc="-25" dirty="0">
                <a:latin typeface="Arial"/>
                <a:cs typeface="Arial"/>
              </a:rPr>
              <a:t> </a:t>
            </a:r>
            <a:r>
              <a:rPr sz="900" dirty="0">
                <a:latin typeface="Arial"/>
                <a:cs typeface="Arial"/>
              </a:rPr>
              <a:t>0.0</a:t>
            </a:r>
            <a:r>
              <a:rPr sz="900" spc="-25" dirty="0">
                <a:latin typeface="Arial"/>
                <a:cs typeface="Arial"/>
              </a:rPr>
              <a:t> </a:t>
            </a:r>
            <a:r>
              <a:rPr sz="900" dirty="0">
                <a:latin typeface="Arial"/>
                <a:cs typeface="Arial"/>
              </a:rPr>
              <a:t>and</a:t>
            </a:r>
            <a:r>
              <a:rPr sz="900" spc="-25" dirty="0">
                <a:latin typeface="Arial"/>
                <a:cs typeface="Arial"/>
              </a:rPr>
              <a:t> </a:t>
            </a:r>
            <a:r>
              <a:rPr sz="900" dirty="0">
                <a:latin typeface="Arial"/>
                <a:cs typeface="Arial"/>
              </a:rPr>
              <a:t>0.5;</a:t>
            </a:r>
            <a:r>
              <a:rPr sz="900" spc="-25" dirty="0">
                <a:latin typeface="Arial"/>
                <a:cs typeface="Arial"/>
              </a:rPr>
              <a:t> </a:t>
            </a:r>
            <a:r>
              <a:rPr sz="900" dirty="0">
                <a:latin typeface="Arial"/>
                <a:cs typeface="Arial"/>
              </a:rPr>
              <a:t>other</a:t>
            </a:r>
            <a:r>
              <a:rPr sz="900" spc="-25" dirty="0">
                <a:latin typeface="Arial"/>
                <a:cs typeface="Arial"/>
              </a:rPr>
              <a:t> </a:t>
            </a:r>
            <a:r>
              <a:rPr sz="900" dirty="0">
                <a:latin typeface="Arial"/>
                <a:cs typeface="Arial"/>
              </a:rPr>
              <a:t>attribute</a:t>
            </a:r>
            <a:r>
              <a:rPr sz="900" spc="-25" dirty="0">
                <a:latin typeface="Arial"/>
                <a:cs typeface="Arial"/>
              </a:rPr>
              <a:t> </a:t>
            </a:r>
            <a:r>
              <a:rPr sz="900" spc="-10" dirty="0">
                <a:latin typeface="Arial"/>
                <a:cs typeface="Arial"/>
              </a:rPr>
              <a:t>values </a:t>
            </a:r>
            <a:r>
              <a:rPr sz="900" dirty="0">
                <a:latin typeface="Arial"/>
                <a:cs typeface="Arial"/>
              </a:rPr>
              <a:t>don’t</a:t>
            </a:r>
            <a:r>
              <a:rPr sz="900" spc="-25" dirty="0">
                <a:latin typeface="Arial"/>
                <a:cs typeface="Arial"/>
              </a:rPr>
              <a:t> </a:t>
            </a:r>
            <a:r>
              <a:rPr sz="900" spc="-10" dirty="0">
                <a:latin typeface="Arial"/>
                <a:cs typeface="Arial"/>
              </a:rPr>
              <a:t>matter.</a:t>
            </a:r>
            <a:endParaRPr sz="900">
              <a:latin typeface="Arial"/>
              <a:cs typeface="Arial"/>
            </a:endParaRPr>
          </a:p>
          <a:p>
            <a:pPr marL="25400">
              <a:lnSpc>
                <a:spcPct val="100000"/>
              </a:lnSpc>
              <a:spcBef>
                <a:spcPts val="975"/>
              </a:spcBef>
            </a:pPr>
            <a:r>
              <a:rPr sz="1000" spc="-10" dirty="0">
                <a:solidFill>
                  <a:srgbClr val="3333B2"/>
                </a:solidFill>
                <a:latin typeface="Arial"/>
                <a:cs typeface="Arial"/>
              </a:rPr>
              <a:t>Observations</a:t>
            </a:r>
            <a:endParaRPr sz="1000">
              <a:latin typeface="Arial"/>
              <a:cs typeface="Arial"/>
            </a:endParaRPr>
          </a:p>
          <a:p>
            <a:pPr marL="274320" indent="-116839">
              <a:lnSpc>
                <a:spcPct val="100000"/>
              </a:lnSpc>
              <a:spcBef>
                <a:spcPts val="500"/>
              </a:spcBef>
              <a:buClr>
                <a:srgbClr val="3333B2"/>
              </a:buClr>
              <a:buFont typeface="Menlo"/>
              <a:buChar char="•"/>
              <a:tabLst>
                <a:tab pos="274955" algn="l"/>
              </a:tabLst>
            </a:pPr>
            <a:r>
              <a:rPr sz="900" dirty="0">
                <a:latin typeface="Arial"/>
                <a:cs typeface="Arial"/>
              </a:rPr>
              <a:t>A</a:t>
            </a:r>
            <a:r>
              <a:rPr sz="900" spc="-20" dirty="0">
                <a:latin typeface="Arial"/>
                <a:cs typeface="Arial"/>
              </a:rPr>
              <a:t> </a:t>
            </a:r>
            <a:r>
              <a:rPr sz="900" dirty="0">
                <a:latin typeface="Arial"/>
                <a:cs typeface="Arial"/>
              </a:rPr>
              <a:t>subscription</a:t>
            </a:r>
            <a:r>
              <a:rPr sz="900" spc="-20" dirty="0">
                <a:latin typeface="Arial"/>
                <a:cs typeface="Arial"/>
              </a:rPr>
              <a:t> </a:t>
            </a:r>
            <a:r>
              <a:rPr sz="900" i="1" dirty="0">
                <a:latin typeface="Arial"/>
                <a:cs typeface="Arial"/>
              </a:rPr>
              <a:t>S</a:t>
            </a:r>
            <a:r>
              <a:rPr sz="1050" i="1" baseline="-15873" dirty="0">
                <a:latin typeface="Arial"/>
                <a:cs typeface="Arial"/>
              </a:rPr>
              <a:t>i</a:t>
            </a:r>
            <a:r>
              <a:rPr sz="1050" i="1" spc="217" baseline="-15873" dirty="0">
                <a:latin typeface="Arial"/>
                <a:cs typeface="Arial"/>
              </a:rPr>
              <a:t> </a:t>
            </a:r>
            <a:r>
              <a:rPr sz="900" dirty="0">
                <a:latin typeface="Arial"/>
                <a:cs typeface="Arial"/>
              </a:rPr>
              <a:t>specifies</a:t>
            </a:r>
            <a:r>
              <a:rPr sz="900" spc="-20" dirty="0">
                <a:latin typeface="Arial"/>
                <a:cs typeface="Arial"/>
              </a:rPr>
              <a:t> </a:t>
            </a:r>
            <a:r>
              <a:rPr sz="900" dirty="0">
                <a:latin typeface="Arial"/>
                <a:cs typeface="Arial"/>
              </a:rPr>
              <a:t>a</a:t>
            </a:r>
            <a:r>
              <a:rPr sz="900" spc="-15" dirty="0">
                <a:latin typeface="Arial"/>
                <a:cs typeface="Arial"/>
              </a:rPr>
              <a:t> </a:t>
            </a:r>
            <a:r>
              <a:rPr sz="900" dirty="0">
                <a:latin typeface="Arial"/>
                <a:cs typeface="Arial"/>
              </a:rPr>
              <a:t>subset</a:t>
            </a:r>
            <a:r>
              <a:rPr sz="900" spc="-20" dirty="0">
                <a:latin typeface="Arial"/>
                <a:cs typeface="Arial"/>
              </a:rPr>
              <a:t> </a:t>
            </a:r>
            <a:r>
              <a:rPr sz="900" b="1" dirty="0">
                <a:latin typeface="Arial"/>
                <a:cs typeface="Arial"/>
              </a:rPr>
              <a:t>S</a:t>
            </a:r>
            <a:r>
              <a:rPr sz="1050" b="1" baseline="-15873" dirty="0">
                <a:latin typeface="Arial"/>
                <a:cs typeface="Arial"/>
              </a:rPr>
              <a:t>i</a:t>
            </a:r>
            <a:r>
              <a:rPr sz="1050" b="1" spc="127" baseline="-15873" dirty="0">
                <a:latin typeface="Arial"/>
                <a:cs typeface="Arial"/>
              </a:rPr>
              <a:t> </a:t>
            </a:r>
            <a:r>
              <a:rPr sz="900" dirty="0">
                <a:latin typeface="Arial"/>
                <a:cs typeface="Arial"/>
              </a:rPr>
              <a:t>in</a:t>
            </a:r>
            <a:r>
              <a:rPr sz="900" spc="-20" dirty="0">
                <a:latin typeface="Arial"/>
                <a:cs typeface="Arial"/>
              </a:rPr>
              <a:t> </a:t>
            </a:r>
            <a:r>
              <a:rPr sz="900" dirty="0">
                <a:latin typeface="Arial"/>
                <a:cs typeface="Arial"/>
              </a:rPr>
              <a:t>a</a:t>
            </a:r>
            <a:r>
              <a:rPr sz="900" spc="-15" dirty="0">
                <a:latin typeface="Arial"/>
                <a:cs typeface="Arial"/>
              </a:rPr>
              <a:t> </a:t>
            </a:r>
            <a:r>
              <a:rPr sz="900" i="1" dirty="0">
                <a:latin typeface="Arial"/>
                <a:cs typeface="Arial"/>
              </a:rPr>
              <a:t>N</a:t>
            </a:r>
            <a:r>
              <a:rPr sz="900" dirty="0">
                <a:latin typeface="Arial"/>
                <a:cs typeface="Arial"/>
              </a:rPr>
              <a:t>-dimensional</a:t>
            </a:r>
            <a:r>
              <a:rPr sz="900" spc="-20" dirty="0">
                <a:latin typeface="Arial"/>
                <a:cs typeface="Arial"/>
              </a:rPr>
              <a:t> </a:t>
            </a:r>
            <a:r>
              <a:rPr sz="900" spc="-10" dirty="0">
                <a:latin typeface="Arial"/>
                <a:cs typeface="Arial"/>
              </a:rPr>
              <a:t>space.</a:t>
            </a:r>
            <a:endParaRPr sz="900">
              <a:latin typeface="Arial"/>
              <a:cs typeface="Arial"/>
            </a:endParaRPr>
          </a:p>
          <a:p>
            <a:pPr marL="273050" indent="-115570">
              <a:lnSpc>
                <a:spcPct val="100000"/>
              </a:lnSpc>
              <a:spcBef>
                <a:spcPts val="125"/>
              </a:spcBef>
              <a:buClr>
                <a:srgbClr val="3333B2"/>
              </a:buClr>
              <a:buFont typeface="Menlo"/>
              <a:buChar char="•"/>
              <a:tabLst>
                <a:tab pos="273685" algn="l"/>
              </a:tabLst>
            </a:pPr>
            <a:r>
              <a:rPr sz="900" dirty="0">
                <a:latin typeface="Arial"/>
                <a:cs typeface="Arial"/>
              </a:rPr>
              <a:t>We</a:t>
            </a:r>
            <a:r>
              <a:rPr sz="900" spc="-50" dirty="0">
                <a:latin typeface="Arial"/>
                <a:cs typeface="Arial"/>
              </a:rPr>
              <a:t> </a:t>
            </a:r>
            <a:r>
              <a:rPr sz="900" dirty="0">
                <a:latin typeface="Arial"/>
                <a:cs typeface="Arial"/>
              </a:rPr>
              <a:t>are</a:t>
            </a:r>
            <a:r>
              <a:rPr sz="900" spc="-30" dirty="0">
                <a:latin typeface="Arial"/>
                <a:cs typeface="Arial"/>
              </a:rPr>
              <a:t> </a:t>
            </a:r>
            <a:r>
              <a:rPr sz="900" dirty="0">
                <a:latin typeface="Arial"/>
                <a:cs typeface="Arial"/>
              </a:rPr>
              <a:t>interested</a:t>
            </a:r>
            <a:r>
              <a:rPr sz="900" spc="-25" dirty="0">
                <a:latin typeface="Arial"/>
                <a:cs typeface="Arial"/>
              </a:rPr>
              <a:t> </a:t>
            </a:r>
            <a:r>
              <a:rPr sz="900" dirty="0">
                <a:latin typeface="Arial"/>
                <a:cs typeface="Arial"/>
              </a:rPr>
              <a:t>only</a:t>
            </a:r>
            <a:r>
              <a:rPr sz="900" spc="-30" dirty="0">
                <a:latin typeface="Arial"/>
                <a:cs typeface="Arial"/>
              </a:rPr>
              <a:t> </a:t>
            </a:r>
            <a:r>
              <a:rPr sz="900" dirty="0">
                <a:latin typeface="Arial"/>
                <a:cs typeface="Arial"/>
              </a:rPr>
              <a:t>in</a:t>
            </a:r>
            <a:r>
              <a:rPr sz="900" spc="-25" dirty="0">
                <a:latin typeface="Arial"/>
                <a:cs typeface="Arial"/>
              </a:rPr>
              <a:t> </a:t>
            </a:r>
            <a:r>
              <a:rPr sz="900" dirty="0">
                <a:latin typeface="Arial"/>
                <a:cs typeface="Arial"/>
              </a:rPr>
              <a:t>notifications</a:t>
            </a:r>
            <a:r>
              <a:rPr sz="900" spc="-30" dirty="0">
                <a:latin typeface="Arial"/>
                <a:cs typeface="Arial"/>
              </a:rPr>
              <a:t> </a:t>
            </a:r>
            <a:r>
              <a:rPr sz="900" dirty="0">
                <a:latin typeface="Arial"/>
                <a:cs typeface="Arial"/>
              </a:rPr>
              <a:t>that</a:t>
            </a:r>
            <a:r>
              <a:rPr sz="900" spc="-25" dirty="0">
                <a:latin typeface="Arial"/>
                <a:cs typeface="Arial"/>
              </a:rPr>
              <a:t> </a:t>
            </a:r>
            <a:r>
              <a:rPr sz="900" dirty="0">
                <a:latin typeface="Arial"/>
                <a:cs typeface="Arial"/>
              </a:rPr>
              <a:t>fall</a:t>
            </a:r>
            <a:r>
              <a:rPr sz="900" spc="-30" dirty="0">
                <a:latin typeface="Arial"/>
                <a:cs typeface="Arial"/>
              </a:rPr>
              <a:t> </a:t>
            </a:r>
            <a:r>
              <a:rPr sz="900" dirty="0">
                <a:latin typeface="Arial"/>
                <a:cs typeface="Arial"/>
              </a:rPr>
              <a:t>into</a:t>
            </a:r>
            <a:r>
              <a:rPr sz="900" spc="-25" dirty="0">
                <a:latin typeface="Arial"/>
                <a:cs typeface="Arial"/>
              </a:rPr>
              <a:t> </a:t>
            </a:r>
            <a:r>
              <a:rPr sz="900" b="1" dirty="0">
                <a:latin typeface="Arial"/>
                <a:cs typeface="Arial"/>
              </a:rPr>
              <a:t>S</a:t>
            </a:r>
            <a:r>
              <a:rPr sz="900" b="1" spc="-65" dirty="0">
                <a:latin typeface="Arial"/>
                <a:cs typeface="Arial"/>
              </a:rPr>
              <a:t> </a:t>
            </a:r>
            <a:r>
              <a:rPr sz="900" spc="185" dirty="0">
                <a:latin typeface="Arial"/>
                <a:cs typeface="Arial"/>
              </a:rPr>
              <a:t>=</a:t>
            </a:r>
            <a:r>
              <a:rPr sz="900" spc="-60" dirty="0">
                <a:latin typeface="Arial"/>
                <a:cs typeface="Arial"/>
              </a:rPr>
              <a:t> </a:t>
            </a:r>
            <a:r>
              <a:rPr sz="900" i="1" spc="-20" dirty="0">
                <a:latin typeface="Menlo"/>
                <a:cs typeface="Menlo"/>
              </a:rPr>
              <a:t>∪</a:t>
            </a:r>
            <a:r>
              <a:rPr sz="900" b="1" spc="-20" dirty="0">
                <a:latin typeface="Arial"/>
                <a:cs typeface="Arial"/>
              </a:rPr>
              <a:t>S</a:t>
            </a:r>
            <a:r>
              <a:rPr sz="1050" b="1" spc="-30" baseline="-15873" dirty="0">
                <a:latin typeface="Arial"/>
                <a:cs typeface="Arial"/>
              </a:rPr>
              <a:t>i</a:t>
            </a:r>
            <a:r>
              <a:rPr sz="900" spc="-20" dirty="0">
                <a:latin typeface="Arial"/>
                <a:cs typeface="Arial"/>
              </a:rPr>
              <a:t>.</a:t>
            </a:r>
            <a:endParaRPr sz="900">
              <a:latin typeface="Arial"/>
              <a:cs typeface="Arial"/>
            </a:endParaRPr>
          </a:p>
        </p:txBody>
      </p:sp>
      <p:grpSp>
        <p:nvGrpSpPr>
          <p:cNvPr id="6" name="object 6"/>
          <p:cNvGrpSpPr/>
          <p:nvPr/>
        </p:nvGrpSpPr>
        <p:grpSpPr>
          <a:xfrm>
            <a:off x="0" y="3348469"/>
            <a:ext cx="4608195" cy="107950"/>
            <a:chOff x="0" y="3348469"/>
            <a:chExt cx="4608195" cy="107950"/>
          </a:xfrm>
        </p:grpSpPr>
        <p:sp>
          <p:nvSpPr>
            <p:cNvPr id="7" name="object 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9" name="object 9"/>
          <p:cNvSpPr txBox="1"/>
          <p:nvPr/>
        </p:nvSpPr>
        <p:spPr>
          <a:xfrm>
            <a:off x="53467" y="3349927"/>
            <a:ext cx="822325"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4" action="ppaction://hlinksldjump"/>
              </a:rPr>
              <a:t>Centralized</a:t>
            </a:r>
            <a:r>
              <a:rPr sz="500" spc="60" dirty="0">
                <a:latin typeface="Arial"/>
                <a:cs typeface="Arial"/>
                <a:hlinkClick r:id="rId4" action="ppaction://hlinksldjump"/>
              </a:rPr>
              <a:t> </a:t>
            </a:r>
            <a:r>
              <a:rPr sz="500" spc="-10" dirty="0">
                <a:latin typeface="Arial"/>
                <a:cs typeface="Arial"/>
                <a:hlinkClick r:id="rId4" action="ppaction://hlinksldjump"/>
              </a:rPr>
              <a:t>implementations</a:t>
            </a:r>
            <a:endParaRPr sz="500">
              <a:latin typeface="Arial"/>
              <a:cs typeface="Arial"/>
            </a:endParaRPr>
          </a:p>
        </p:txBody>
      </p:sp>
    </p:spTree>
    <p:extLst>
      <p:ext uri="{BB962C8B-B14F-4D97-AF65-F5344CB8AC3E}">
        <p14:creationId xmlns:p14="http://schemas.microsoft.com/office/powerpoint/2010/main" val="2816422834"/>
      </p:ext>
    </p:extLst>
  </p:cSld>
  <p:clrMapOvr>
    <a:masterClrMapping/>
  </p:clrMapOvr>
  <p:transition>
    <p:fade/>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742690" algn="l"/>
              </a:tabLst>
            </a:pPr>
            <a:r>
              <a:rPr sz="500" spc="-10" dirty="0">
                <a:latin typeface="Arial"/>
                <a:cs typeface="Arial"/>
                <a:hlinkClick r:id="rId2" action="ppaction://hlinksldjump"/>
              </a:rPr>
              <a:t>Coordination</a:t>
            </a:r>
            <a:r>
              <a:rPr sz="500" dirty="0">
                <a:latin typeface="Arial"/>
                <a:cs typeface="Arial"/>
              </a:rPr>
              <a:t>	</a:t>
            </a:r>
            <a:r>
              <a:rPr sz="500" dirty="0">
                <a:solidFill>
                  <a:srgbClr val="FFFFFF"/>
                </a:solidFill>
                <a:latin typeface="Arial"/>
                <a:cs typeface="Arial"/>
                <a:hlinkClick r:id="rId3" action="ppaction://hlinksldjump"/>
              </a:rPr>
              <a:t>Distributed</a:t>
            </a:r>
            <a:r>
              <a:rPr sz="500" spc="-20"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event</a:t>
            </a:r>
            <a:r>
              <a:rPr sz="500" spc="-1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matching</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Gossiping:</a:t>
            </a:r>
            <a:r>
              <a:rPr spc="40" dirty="0"/>
              <a:t> </a:t>
            </a:r>
            <a:r>
              <a:rPr spc="-10" dirty="0"/>
              <a:t>Sub-2-</a:t>
            </a:r>
            <a:r>
              <a:rPr spc="-25" dirty="0"/>
              <a:t>Sub</a:t>
            </a:r>
          </a:p>
        </p:txBody>
      </p:sp>
      <p:sp>
        <p:nvSpPr>
          <p:cNvPr id="4" name="object 4"/>
          <p:cNvSpPr/>
          <p:nvPr/>
        </p:nvSpPr>
        <p:spPr>
          <a:xfrm>
            <a:off x="3138830" y="2284476"/>
            <a:ext cx="76200" cy="0"/>
          </a:xfrm>
          <a:custGeom>
            <a:avLst/>
            <a:gdLst/>
            <a:ahLst/>
            <a:cxnLst/>
            <a:rect l="l" t="t" r="r" b="b"/>
            <a:pathLst>
              <a:path w="76200">
                <a:moveTo>
                  <a:pt x="0" y="0"/>
                </a:moveTo>
                <a:lnTo>
                  <a:pt x="75958" y="0"/>
                </a:lnTo>
              </a:path>
            </a:pathLst>
          </a:custGeom>
          <a:ln w="4559">
            <a:solidFill>
              <a:srgbClr val="000000"/>
            </a:solidFill>
          </a:ln>
        </p:spPr>
        <p:txBody>
          <a:bodyPr wrap="square" lIns="0" tIns="0" rIns="0" bIns="0" rtlCol="0"/>
          <a:lstStyle/>
          <a:p>
            <a:endParaRPr/>
          </a:p>
        </p:txBody>
      </p:sp>
      <p:sp>
        <p:nvSpPr>
          <p:cNvPr id="14" name="object 14"/>
          <p:cNvSpPr txBox="1"/>
          <p:nvPr/>
        </p:nvSpPr>
        <p:spPr>
          <a:xfrm>
            <a:off x="334594" y="421832"/>
            <a:ext cx="3870325" cy="2304029"/>
          </a:xfrm>
          <a:prstGeom prst="rect">
            <a:avLst/>
          </a:prstGeom>
        </p:spPr>
        <p:txBody>
          <a:bodyPr vert="horz" wrap="square" lIns="0" tIns="83820" rIns="0" bIns="0" rtlCol="0">
            <a:spAutoFit/>
          </a:bodyPr>
          <a:lstStyle/>
          <a:p>
            <a:pPr marL="25400">
              <a:lnSpc>
                <a:spcPct val="100000"/>
              </a:lnSpc>
              <a:spcBef>
                <a:spcPts val="660"/>
              </a:spcBef>
            </a:pPr>
            <a:r>
              <a:rPr sz="1000" spc="-10" dirty="0">
                <a:solidFill>
                  <a:srgbClr val="3333B2"/>
                </a:solidFill>
                <a:latin typeface="Arial"/>
                <a:cs typeface="Arial"/>
              </a:rPr>
              <a:t>Basics</a:t>
            </a:r>
            <a:endParaRPr sz="1000">
              <a:latin typeface="Arial"/>
              <a:cs typeface="Arial"/>
            </a:endParaRPr>
          </a:p>
          <a:p>
            <a:pPr marL="278130" marR="109855" indent="-120650">
              <a:lnSpc>
                <a:spcPct val="111600"/>
              </a:lnSpc>
              <a:spcBef>
                <a:spcPts val="375"/>
              </a:spcBef>
              <a:buClr>
                <a:srgbClr val="3333B2"/>
              </a:buClr>
              <a:buFont typeface="Menlo"/>
              <a:buChar char="•"/>
              <a:tabLst>
                <a:tab pos="278765" algn="l"/>
              </a:tabLst>
            </a:pPr>
            <a:r>
              <a:rPr sz="900" dirty="0">
                <a:solidFill>
                  <a:srgbClr val="C80000"/>
                </a:solidFill>
                <a:latin typeface="Arial"/>
                <a:cs typeface="Arial"/>
              </a:rPr>
              <a:t>Goal</a:t>
            </a:r>
            <a:r>
              <a:rPr sz="900" dirty="0">
                <a:latin typeface="Arial"/>
                <a:cs typeface="Arial"/>
              </a:rPr>
              <a:t>:</a:t>
            </a:r>
            <a:r>
              <a:rPr sz="900" spc="10" dirty="0">
                <a:latin typeface="Arial"/>
                <a:cs typeface="Arial"/>
              </a:rPr>
              <a:t> </a:t>
            </a:r>
            <a:r>
              <a:rPr sz="900" spc="-65" dirty="0">
                <a:latin typeface="Arial"/>
                <a:cs typeface="Arial"/>
              </a:rPr>
              <a:t>To</a:t>
            </a:r>
            <a:r>
              <a:rPr sz="900" spc="-5" dirty="0">
                <a:latin typeface="Arial"/>
                <a:cs typeface="Arial"/>
              </a:rPr>
              <a:t> </a:t>
            </a:r>
            <a:r>
              <a:rPr sz="900" dirty="0">
                <a:latin typeface="Arial"/>
                <a:cs typeface="Arial"/>
              </a:rPr>
              <a:t>realize</a:t>
            </a:r>
            <a:r>
              <a:rPr sz="900" spc="-25" dirty="0">
                <a:latin typeface="Arial"/>
                <a:cs typeface="Arial"/>
              </a:rPr>
              <a:t> </a:t>
            </a:r>
            <a:r>
              <a:rPr sz="900" spc="-10" dirty="0">
                <a:latin typeface="Arial"/>
                <a:cs typeface="Arial"/>
              </a:rPr>
              <a:t>scalability,</a:t>
            </a:r>
            <a:r>
              <a:rPr sz="900" spc="-25" dirty="0">
                <a:latin typeface="Arial"/>
                <a:cs typeface="Arial"/>
              </a:rPr>
              <a:t> </a:t>
            </a:r>
            <a:r>
              <a:rPr sz="900" dirty="0">
                <a:latin typeface="Arial"/>
                <a:cs typeface="Arial"/>
              </a:rPr>
              <a:t>make</a:t>
            </a:r>
            <a:r>
              <a:rPr sz="900" spc="-25" dirty="0">
                <a:latin typeface="Arial"/>
                <a:cs typeface="Arial"/>
              </a:rPr>
              <a:t> </a:t>
            </a:r>
            <a:r>
              <a:rPr sz="900" dirty="0">
                <a:latin typeface="Arial"/>
                <a:cs typeface="Arial"/>
              </a:rPr>
              <a:t>sure</a:t>
            </a:r>
            <a:r>
              <a:rPr sz="900" spc="-25" dirty="0">
                <a:latin typeface="Arial"/>
                <a:cs typeface="Arial"/>
              </a:rPr>
              <a:t> </a:t>
            </a:r>
            <a:r>
              <a:rPr sz="900" dirty="0">
                <a:latin typeface="Arial"/>
                <a:cs typeface="Arial"/>
              </a:rPr>
              <a:t>that</a:t>
            </a:r>
            <a:r>
              <a:rPr sz="900" spc="-25" dirty="0">
                <a:latin typeface="Arial"/>
                <a:cs typeface="Arial"/>
              </a:rPr>
              <a:t> </a:t>
            </a:r>
            <a:r>
              <a:rPr sz="900" dirty="0">
                <a:latin typeface="Arial"/>
                <a:cs typeface="Arial"/>
              </a:rPr>
              <a:t>subscribers</a:t>
            </a:r>
            <a:r>
              <a:rPr sz="900" spc="-25" dirty="0">
                <a:latin typeface="Arial"/>
                <a:cs typeface="Arial"/>
              </a:rPr>
              <a:t> </a:t>
            </a:r>
            <a:r>
              <a:rPr sz="900" dirty="0">
                <a:latin typeface="Arial"/>
                <a:cs typeface="Arial"/>
              </a:rPr>
              <a:t>with</a:t>
            </a:r>
            <a:r>
              <a:rPr sz="900" spc="-25" dirty="0">
                <a:latin typeface="Arial"/>
                <a:cs typeface="Arial"/>
              </a:rPr>
              <a:t> </a:t>
            </a:r>
            <a:r>
              <a:rPr sz="900" dirty="0">
                <a:latin typeface="Arial"/>
                <a:cs typeface="Arial"/>
              </a:rPr>
              <a:t>the</a:t>
            </a:r>
            <a:r>
              <a:rPr sz="900" spc="-25" dirty="0">
                <a:latin typeface="Arial"/>
                <a:cs typeface="Arial"/>
              </a:rPr>
              <a:t> </a:t>
            </a:r>
            <a:r>
              <a:rPr sz="900" spc="-20" dirty="0">
                <a:latin typeface="Arial"/>
                <a:cs typeface="Arial"/>
              </a:rPr>
              <a:t>same </a:t>
            </a:r>
            <a:r>
              <a:rPr sz="900" dirty="0">
                <a:latin typeface="Arial"/>
                <a:cs typeface="Arial"/>
              </a:rPr>
              <a:t>interests</a:t>
            </a:r>
            <a:r>
              <a:rPr sz="900" spc="-30" dirty="0">
                <a:latin typeface="Arial"/>
                <a:cs typeface="Arial"/>
              </a:rPr>
              <a:t> </a:t>
            </a:r>
            <a:r>
              <a:rPr sz="900" dirty="0">
                <a:latin typeface="Arial"/>
                <a:cs typeface="Arial"/>
              </a:rPr>
              <a:t>form</a:t>
            </a:r>
            <a:r>
              <a:rPr sz="900" spc="-25" dirty="0">
                <a:latin typeface="Arial"/>
                <a:cs typeface="Arial"/>
              </a:rPr>
              <a:t> </a:t>
            </a:r>
            <a:r>
              <a:rPr sz="900" dirty="0">
                <a:latin typeface="Arial"/>
                <a:cs typeface="Arial"/>
              </a:rPr>
              <a:t>just</a:t>
            </a:r>
            <a:r>
              <a:rPr sz="900" spc="-25" dirty="0">
                <a:latin typeface="Arial"/>
                <a:cs typeface="Arial"/>
              </a:rPr>
              <a:t> </a:t>
            </a:r>
            <a:r>
              <a:rPr sz="900" dirty="0">
                <a:latin typeface="Arial"/>
                <a:cs typeface="Arial"/>
              </a:rPr>
              <a:t>a</a:t>
            </a:r>
            <a:r>
              <a:rPr sz="900" spc="-25" dirty="0">
                <a:latin typeface="Arial"/>
                <a:cs typeface="Arial"/>
              </a:rPr>
              <a:t> </a:t>
            </a:r>
            <a:r>
              <a:rPr sz="900" dirty="0">
                <a:latin typeface="Arial"/>
                <a:cs typeface="Arial"/>
              </a:rPr>
              <a:t>single</a:t>
            </a:r>
            <a:r>
              <a:rPr sz="900" spc="-25" dirty="0">
                <a:latin typeface="Arial"/>
                <a:cs typeface="Arial"/>
              </a:rPr>
              <a:t> </a:t>
            </a:r>
            <a:r>
              <a:rPr sz="900" spc="-10" dirty="0">
                <a:latin typeface="Arial"/>
                <a:cs typeface="Arial"/>
              </a:rPr>
              <a:t>group</a:t>
            </a:r>
            <a:endParaRPr sz="900">
              <a:latin typeface="Arial"/>
              <a:cs typeface="Arial"/>
            </a:endParaRPr>
          </a:p>
          <a:p>
            <a:pPr marL="274320" marR="132715" indent="-116839">
              <a:lnSpc>
                <a:spcPct val="111600"/>
              </a:lnSpc>
              <a:buClr>
                <a:srgbClr val="3333B2"/>
              </a:buClr>
              <a:buFont typeface="Menlo"/>
              <a:buChar char="•"/>
              <a:tabLst>
                <a:tab pos="278765" algn="l"/>
              </a:tabLst>
            </a:pPr>
            <a:r>
              <a:rPr sz="900" dirty="0">
                <a:solidFill>
                  <a:srgbClr val="C80000"/>
                </a:solidFill>
                <a:latin typeface="Arial"/>
                <a:cs typeface="Arial"/>
              </a:rPr>
              <a:t>Model</a:t>
            </a:r>
            <a:r>
              <a:rPr sz="900" dirty="0">
                <a:latin typeface="Arial"/>
                <a:cs typeface="Arial"/>
              </a:rPr>
              <a:t>:</a:t>
            </a:r>
            <a:r>
              <a:rPr sz="900" spc="15" dirty="0">
                <a:latin typeface="Arial"/>
                <a:cs typeface="Arial"/>
              </a:rPr>
              <a:t> </a:t>
            </a:r>
            <a:r>
              <a:rPr sz="900" dirty="0">
                <a:latin typeface="Arial"/>
                <a:cs typeface="Arial"/>
              </a:rPr>
              <a:t>There</a:t>
            </a:r>
            <a:r>
              <a:rPr sz="900" spc="-20" dirty="0">
                <a:latin typeface="Arial"/>
                <a:cs typeface="Arial"/>
              </a:rPr>
              <a:t> </a:t>
            </a:r>
            <a:r>
              <a:rPr sz="900" dirty="0">
                <a:latin typeface="Arial"/>
                <a:cs typeface="Arial"/>
              </a:rPr>
              <a:t>are</a:t>
            </a:r>
            <a:r>
              <a:rPr sz="900" spc="-25" dirty="0">
                <a:latin typeface="Arial"/>
                <a:cs typeface="Arial"/>
              </a:rPr>
              <a:t> </a:t>
            </a:r>
            <a:r>
              <a:rPr sz="900" i="1" dirty="0">
                <a:latin typeface="Arial"/>
                <a:cs typeface="Arial"/>
              </a:rPr>
              <a:t>N</a:t>
            </a:r>
            <a:r>
              <a:rPr sz="900" i="1" spc="45" dirty="0">
                <a:latin typeface="Arial"/>
                <a:cs typeface="Arial"/>
              </a:rPr>
              <a:t> </a:t>
            </a:r>
            <a:r>
              <a:rPr sz="900" dirty="0">
                <a:latin typeface="Arial"/>
                <a:cs typeface="Arial"/>
              </a:rPr>
              <a:t>attributes</a:t>
            </a:r>
            <a:r>
              <a:rPr sz="900" spc="-25" dirty="0">
                <a:latin typeface="Arial"/>
                <a:cs typeface="Arial"/>
              </a:rPr>
              <a:t> </a:t>
            </a:r>
            <a:r>
              <a:rPr sz="900" i="1" spc="80" dirty="0">
                <a:latin typeface="Arial"/>
                <a:cs typeface="Arial"/>
              </a:rPr>
              <a:t>a</a:t>
            </a:r>
            <a:r>
              <a:rPr sz="1050" i="1" spc="120" baseline="-15873" dirty="0">
                <a:latin typeface="Arial"/>
                <a:cs typeface="Arial"/>
              </a:rPr>
              <a:t>1</a:t>
            </a:r>
            <a:r>
              <a:rPr sz="900" i="1" spc="80" dirty="0">
                <a:latin typeface="STIX Two Text"/>
                <a:cs typeface="STIX Two Text"/>
              </a:rPr>
              <a:t>,...,</a:t>
            </a:r>
            <a:r>
              <a:rPr sz="900" i="1" spc="-105" dirty="0">
                <a:latin typeface="STIX Two Text"/>
                <a:cs typeface="STIX Two Text"/>
              </a:rPr>
              <a:t> </a:t>
            </a:r>
            <a:r>
              <a:rPr sz="900" i="1" spc="-10" dirty="0">
                <a:latin typeface="Arial"/>
                <a:cs typeface="Arial"/>
              </a:rPr>
              <a:t>a</a:t>
            </a:r>
            <a:r>
              <a:rPr sz="1050" i="1" spc="-15" baseline="-15873" dirty="0">
                <a:latin typeface="Arial"/>
                <a:cs typeface="Arial"/>
              </a:rPr>
              <a:t>N</a:t>
            </a:r>
            <a:r>
              <a:rPr sz="1050" i="1" spc="-142" baseline="-15873" dirty="0">
                <a:latin typeface="Arial"/>
                <a:cs typeface="Arial"/>
              </a:rPr>
              <a:t> </a:t>
            </a:r>
            <a:r>
              <a:rPr sz="900" dirty="0">
                <a:latin typeface="Arial"/>
                <a:cs typeface="Arial"/>
              </a:rPr>
              <a:t>.</a:t>
            </a:r>
            <a:r>
              <a:rPr sz="900" spc="35" dirty="0">
                <a:latin typeface="Arial"/>
                <a:cs typeface="Arial"/>
              </a:rPr>
              <a:t> </a:t>
            </a:r>
            <a:r>
              <a:rPr sz="900" dirty="0">
                <a:latin typeface="Arial"/>
                <a:cs typeface="Arial"/>
              </a:rPr>
              <a:t>An</a:t>
            </a:r>
            <a:r>
              <a:rPr sz="900" spc="-25" dirty="0">
                <a:latin typeface="Arial"/>
                <a:cs typeface="Arial"/>
              </a:rPr>
              <a:t> </a:t>
            </a:r>
            <a:r>
              <a:rPr sz="900" dirty="0">
                <a:latin typeface="Arial"/>
                <a:cs typeface="Arial"/>
              </a:rPr>
              <a:t>attribute</a:t>
            </a:r>
            <a:r>
              <a:rPr sz="900" spc="-20" dirty="0">
                <a:latin typeface="Arial"/>
                <a:cs typeface="Arial"/>
              </a:rPr>
              <a:t> </a:t>
            </a:r>
            <a:r>
              <a:rPr sz="900" dirty="0">
                <a:latin typeface="Arial"/>
                <a:cs typeface="Arial"/>
              </a:rPr>
              <a:t>value</a:t>
            </a:r>
            <a:r>
              <a:rPr sz="900" spc="-25" dirty="0">
                <a:latin typeface="Arial"/>
                <a:cs typeface="Arial"/>
              </a:rPr>
              <a:t> </a:t>
            </a:r>
            <a:r>
              <a:rPr sz="900" dirty="0">
                <a:latin typeface="Arial"/>
                <a:cs typeface="Arial"/>
              </a:rPr>
              <a:t>is</a:t>
            </a:r>
            <a:r>
              <a:rPr sz="900" spc="-20" dirty="0">
                <a:latin typeface="Arial"/>
                <a:cs typeface="Arial"/>
              </a:rPr>
              <a:t> </a:t>
            </a:r>
            <a:r>
              <a:rPr sz="900" spc="-10" dirty="0">
                <a:latin typeface="Arial"/>
                <a:cs typeface="Arial"/>
              </a:rPr>
              <a:t>always (mappable</a:t>
            </a:r>
            <a:r>
              <a:rPr sz="900" spc="5" dirty="0">
                <a:latin typeface="Arial"/>
                <a:cs typeface="Arial"/>
              </a:rPr>
              <a:t> </a:t>
            </a:r>
            <a:r>
              <a:rPr sz="900" dirty="0">
                <a:latin typeface="Arial"/>
                <a:cs typeface="Arial"/>
              </a:rPr>
              <a:t>to)</a:t>
            </a:r>
            <a:r>
              <a:rPr sz="900" spc="10" dirty="0">
                <a:latin typeface="Arial"/>
                <a:cs typeface="Arial"/>
              </a:rPr>
              <a:t> </a:t>
            </a:r>
            <a:r>
              <a:rPr sz="900" dirty="0">
                <a:latin typeface="Arial"/>
                <a:cs typeface="Arial"/>
              </a:rPr>
              <a:t>a</a:t>
            </a:r>
            <a:r>
              <a:rPr sz="900" spc="5" dirty="0">
                <a:latin typeface="Arial"/>
                <a:cs typeface="Arial"/>
              </a:rPr>
              <a:t> </a:t>
            </a:r>
            <a:r>
              <a:rPr sz="900" spc="-10" dirty="0">
                <a:latin typeface="Arial"/>
                <a:cs typeface="Arial"/>
              </a:rPr>
              <a:t>floating-</a:t>
            </a:r>
            <a:r>
              <a:rPr sz="900" dirty="0">
                <a:latin typeface="Arial"/>
                <a:cs typeface="Arial"/>
              </a:rPr>
              <a:t>point</a:t>
            </a:r>
            <a:r>
              <a:rPr sz="900" spc="10" dirty="0">
                <a:latin typeface="Arial"/>
                <a:cs typeface="Arial"/>
              </a:rPr>
              <a:t> </a:t>
            </a:r>
            <a:r>
              <a:rPr sz="900" spc="-10" dirty="0">
                <a:latin typeface="Arial"/>
                <a:cs typeface="Arial"/>
              </a:rPr>
              <a:t>number.</a:t>
            </a:r>
            <a:endParaRPr sz="900">
              <a:latin typeface="Arial"/>
              <a:cs typeface="Arial"/>
            </a:endParaRPr>
          </a:p>
          <a:p>
            <a:pPr marL="278130" marR="17780" indent="-120650">
              <a:lnSpc>
                <a:spcPct val="111600"/>
              </a:lnSpc>
              <a:buClr>
                <a:srgbClr val="3333B2"/>
              </a:buClr>
              <a:buFont typeface="Menlo"/>
              <a:buChar char="•"/>
              <a:tabLst>
                <a:tab pos="278765" algn="l"/>
              </a:tabLst>
            </a:pPr>
            <a:r>
              <a:rPr sz="900" dirty="0">
                <a:solidFill>
                  <a:srgbClr val="C80000"/>
                </a:solidFill>
                <a:latin typeface="Arial"/>
                <a:cs typeface="Arial"/>
              </a:rPr>
              <a:t>Subscription</a:t>
            </a:r>
            <a:r>
              <a:rPr sz="900" dirty="0">
                <a:latin typeface="Arial"/>
                <a:cs typeface="Arial"/>
              </a:rPr>
              <a:t>:</a:t>
            </a:r>
            <a:r>
              <a:rPr sz="900" spc="25" dirty="0">
                <a:latin typeface="Arial"/>
                <a:cs typeface="Arial"/>
              </a:rPr>
              <a:t> </a:t>
            </a:r>
            <a:r>
              <a:rPr sz="900" spc="-25" dirty="0">
                <a:latin typeface="Arial"/>
                <a:cs typeface="Arial"/>
              </a:rPr>
              <a:t>Takes</a:t>
            </a:r>
            <a:r>
              <a:rPr sz="900" spc="-15" dirty="0">
                <a:latin typeface="Arial"/>
                <a:cs typeface="Arial"/>
              </a:rPr>
              <a:t> </a:t>
            </a:r>
            <a:r>
              <a:rPr sz="900" dirty="0">
                <a:latin typeface="Arial"/>
                <a:cs typeface="Arial"/>
              </a:rPr>
              <a:t>forms</a:t>
            </a:r>
            <a:r>
              <a:rPr sz="900" spc="-15" dirty="0">
                <a:latin typeface="Arial"/>
                <a:cs typeface="Arial"/>
              </a:rPr>
              <a:t> </a:t>
            </a:r>
            <a:r>
              <a:rPr sz="900" dirty="0">
                <a:latin typeface="Arial"/>
                <a:cs typeface="Arial"/>
              </a:rPr>
              <a:t>such</a:t>
            </a:r>
            <a:r>
              <a:rPr sz="900" spc="-15" dirty="0">
                <a:latin typeface="Arial"/>
                <a:cs typeface="Arial"/>
              </a:rPr>
              <a:t> </a:t>
            </a:r>
            <a:r>
              <a:rPr sz="900" dirty="0">
                <a:latin typeface="Arial"/>
                <a:cs typeface="Arial"/>
              </a:rPr>
              <a:t>as</a:t>
            </a:r>
            <a:r>
              <a:rPr sz="900" spc="-15" dirty="0">
                <a:latin typeface="Arial"/>
                <a:cs typeface="Arial"/>
              </a:rPr>
              <a:t> </a:t>
            </a:r>
            <a:r>
              <a:rPr sz="900" i="1" dirty="0">
                <a:latin typeface="Arial"/>
                <a:cs typeface="Arial"/>
              </a:rPr>
              <a:t>S</a:t>
            </a:r>
            <a:r>
              <a:rPr sz="900" i="1" spc="-20" dirty="0">
                <a:latin typeface="Arial"/>
                <a:cs typeface="Arial"/>
              </a:rPr>
              <a:t> </a:t>
            </a:r>
            <a:r>
              <a:rPr sz="900" spc="185" dirty="0">
                <a:latin typeface="Arial"/>
                <a:cs typeface="Arial"/>
              </a:rPr>
              <a:t>=</a:t>
            </a:r>
            <a:r>
              <a:rPr sz="900" spc="-60" dirty="0">
                <a:latin typeface="Arial"/>
                <a:cs typeface="Arial"/>
              </a:rPr>
              <a:t> </a:t>
            </a:r>
            <a:r>
              <a:rPr sz="900" i="1" spc="-55" dirty="0">
                <a:latin typeface="Menlo"/>
                <a:cs typeface="Menlo"/>
              </a:rPr>
              <a:t>⟨</a:t>
            </a:r>
            <a:r>
              <a:rPr sz="900" i="1" spc="-55" dirty="0">
                <a:latin typeface="Arial"/>
                <a:cs typeface="Arial"/>
              </a:rPr>
              <a:t>a</a:t>
            </a:r>
            <a:r>
              <a:rPr sz="1050" i="1" spc="-82" baseline="-15873" dirty="0">
                <a:latin typeface="Arial"/>
                <a:cs typeface="Arial"/>
              </a:rPr>
              <a:t>1</a:t>
            </a:r>
            <a:r>
              <a:rPr sz="1050" i="1" spc="60" baseline="-15873" dirty="0">
                <a:latin typeface="Arial"/>
                <a:cs typeface="Arial"/>
              </a:rPr>
              <a:t> </a:t>
            </a:r>
            <a:r>
              <a:rPr sz="900" i="1" spc="350" dirty="0">
                <a:latin typeface="Menlo"/>
                <a:cs typeface="Menlo"/>
              </a:rPr>
              <a:t>→</a:t>
            </a:r>
            <a:r>
              <a:rPr sz="900" i="1" spc="-345" dirty="0">
                <a:latin typeface="Menlo"/>
                <a:cs typeface="Menlo"/>
              </a:rPr>
              <a:t> </a:t>
            </a:r>
            <a:r>
              <a:rPr sz="900" dirty="0">
                <a:latin typeface="Arial"/>
                <a:cs typeface="Arial"/>
              </a:rPr>
              <a:t>3</a:t>
            </a:r>
            <a:r>
              <a:rPr sz="900" i="1" dirty="0">
                <a:latin typeface="STIX Two Text"/>
                <a:cs typeface="STIX Two Text"/>
              </a:rPr>
              <a:t>.</a:t>
            </a:r>
            <a:r>
              <a:rPr sz="900" dirty="0">
                <a:latin typeface="Arial"/>
                <a:cs typeface="Arial"/>
              </a:rPr>
              <a:t>0</a:t>
            </a:r>
            <a:r>
              <a:rPr sz="900" i="1" dirty="0">
                <a:latin typeface="STIX Two Text"/>
                <a:cs typeface="STIX Two Text"/>
              </a:rPr>
              <a:t>,</a:t>
            </a:r>
            <a:r>
              <a:rPr sz="900" i="1" spc="-105" dirty="0">
                <a:latin typeface="STIX Two Text"/>
                <a:cs typeface="STIX Two Text"/>
              </a:rPr>
              <a:t> </a:t>
            </a:r>
            <a:r>
              <a:rPr sz="900" i="1" dirty="0">
                <a:latin typeface="Arial"/>
                <a:cs typeface="Arial"/>
              </a:rPr>
              <a:t>a</a:t>
            </a:r>
            <a:r>
              <a:rPr sz="1050" i="1" baseline="-15873" dirty="0">
                <a:latin typeface="Arial"/>
                <a:cs typeface="Arial"/>
              </a:rPr>
              <a:t>4</a:t>
            </a:r>
            <a:r>
              <a:rPr sz="1050" i="1" spc="82" baseline="-15873" dirty="0">
                <a:latin typeface="Arial"/>
                <a:cs typeface="Arial"/>
              </a:rPr>
              <a:t> </a:t>
            </a:r>
            <a:r>
              <a:rPr sz="900" i="1" spc="350" dirty="0">
                <a:latin typeface="Menlo"/>
                <a:cs typeface="Menlo"/>
              </a:rPr>
              <a:t>→</a:t>
            </a:r>
            <a:r>
              <a:rPr sz="900" i="1" spc="-345" dirty="0">
                <a:latin typeface="Menlo"/>
                <a:cs typeface="Menlo"/>
              </a:rPr>
              <a:t> </a:t>
            </a:r>
            <a:r>
              <a:rPr sz="900" dirty="0">
                <a:latin typeface="Arial"/>
                <a:cs typeface="Arial"/>
              </a:rPr>
              <a:t>[0</a:t>
            </a:r>
            <a:r>
              <a:rPr sz="900" i="1" dirty="0">
                <a:latin typeface="STIX Two Text"/>
                <a:cs typeface="STIX Two Text"/>
              </a:rPr>
              <a:t>.</a:t>
            </a:r>
            <a:r>
              <a:rPr sz="900" dirty="0">
                <a:latin typeface="Arial"/>
                <a:cs typeface="Arial"/>
              </a:rPr>
              <a:t>0</a:t>
            </a:r>
            <a:r>
              <a:rPr sz="900" i="1" dirty="0">
                <a:latin typeface="STIX Two Text"/>
                <a:cs typeface="STIX Two Text"/>
              </a:rPr>
              <a:t>,</a:t>
            </a:r>
            <a:r>
              <a:rPr sz="900" i="1" spc="130" dirty="0">
                <a:latin typeface="STIX Two Text"/>
                <a:cs typeface="STIX Two Text"/>
              </a:rPr>
              <a:t> </a:t>
            </a:r>
            <a:r>
              <a:rPr sz="900" spc="-10" dirty="0">
                <a:latin typeface="Arial"/>
                <a:cs typeface="Arial"/>
              </a:rPr>
              <a:t>0</a:t>
            </a:r>
            <a:r>
              <a:rPr sz="900" i="1" spc="-10" dirty="0">
                <a:latin typeface="STIX Two Text"/>
                <a:cs typeface="STIX Two Text"/>
              </a:rPr>
              <a:t>.</a:t>
            </a:r>
            <a:r>
              <a:rPr sz="900" spc="-10" dirty="0">
                <a:latin typeface="Arial"/>
                <a:cs typeface="Arial"/>
              </a:rPr>
              <a:t>5)</a:t>
            </a:r>
            <a:r>
              <a:rPr sz="900" i="1" spc="-10" dirty="0">
                <a:latin typeface="Menlo"/>
                <a:cs typeface="Menlo"/>
              </a:rPr>
              <a:t>⟩</a:t>
            </a:r>
            <a:r>
              <a:rPr sz="900" spc="-10" dirty="0">
                <a:latin typeface="Arial"/>
                <a:cs typeface="Arial"/>
              </a:rPr>
              <a:t>:</a:t>
            </a:r>
            <a:r>
              <a:rPr sz="900" spc="40" dirty="0">
                <a:latin typeface="Arial"/>
                <a:cs typeface="Arial"/>
              </a:rPr>
              <a:t> </a:t>
            </a:r>
            <a:r>
              <a:rPr sz="900" i="1" spc="-25" dirty="0">
                <a:latin typeface="Arial"/>
                <a:cs typeface="Arial"/>
              </a:rPr>
              <a:t>a</a:t>
            </a:r>
            <a:r>
              <a:rPr sz="1050" i="1" spc="-37" baseline="-15873" dirty="0">
                <a:latin typeface="Arial"/>
                <a:cs typeface="Arial"/>
              </a:rPr>
              <a:t>1</a:t>
            </a:r>
            <a:r>
              <a:rPr sz="1050" i="1" spc="750" baseline="-15873" dirty="0">
                <a:latin typeface="Arial"/>
                <a:cs typeface="Arial"/>
              </a:rPr>
              <a:t> </a:t>
            </a:r>
            <a:r>
              <a:rPr sz="900" dirty="0">
                <a:latin typeface="Arial"/>
                <a:cs typeface="Arial"/>
              </a:rPr>
              <a:t>should</a:t>
            </a:r>
            <a:r>
              <a:rPr sz="900" spc="-30" dirty="0">
                <a:latin typeface="Arial"/>
                <a:cs typeface="Arial"/>
              </a:rPr>
              <a:t> </a:t>
            </a:r>
            <a:r>
              <a:rPr sz="900" dirty="0">
                <a:latin typeface="Arial"/>
                <a:cs typeface="Arial"/>
              </a:rPr>
              <a:t>be</a:t>
            </a:r>
            <a:r>
              <a:rPr sz="900" spc="-25" dirty="0">
                <a:latin typeface="Arial"/>
                <a:cs typeface="Arial"/>
              </a:rPr>
              <a:t> </a:t>
            </a:r>
            <a:r>
              <a:rPr sz="900" dirty="0">
                <a:latin typeface="Arial"/>
                <a:cs typeface="Arial"/>
              </a:rPr>
              <a:t>3.0;</a:t>
            </a:r>
            <a:r>
              <a:rPr sz="900" spc="-25" dirty="0">
                <a:latin typeface="Arial"/>
                <a:cs typeface="Arial"/>
              </a:rPr>
              <a:t> </a:t>
            </a:r>
            <a:r>
              <a:rPr sz="900" i="1" dirty="0">
                <a:latin typeface="Arial"/>
                <a:cs typeface="Arial"/>
              </a:rPr>
              <a:t>a</a:t>
            </a:r>
            <a:r>
              <a:rPr sz="1050" i="1" baseline="-15873" dirty="0">
                <a:latin typeface="Arial"/>
                <a:cs typeface="Arial"/>
              </a:rPr>
              <a:t>4</a:t>
            </a:r>
            <a:r>
              <a:rPr sz="1050" i="1" spc="127" baseline="-15873" dirty="0">
                <a:latin typeface="Arial"/>
                <a:cs typeface="Arial"/>
              </a:rPr>
              <a:t> </a:t>
            </a:r>
            <a:r>
              <a:rPr sz="900" dirty="0">
                <a:latin typeface="Arial"/>
                <a:cs typeface="Arial"/>
              </a:rPr>
              <a:t>should</a:t>
            </a:r>
            <a:r>
              <a:rPr sz="900" spc="-25" dirty="0">
                <a:latin typeface="Arial"/>
                <a:cs typeface="Arial"/>
              </a:rPr>
              <a:t> </a:t>
            </a:r>
            <a:r>
              <a:rPr sz="900" dirty="0">
                <a:latin typeface="Arial"/>
                <a:cs typeface="Arial"/>
              </a:rPr>
              <a:t>lie</a:t>
            </a:r>
            <a:r>
              <a:rPr sz="900" spc="-25" dirty="0">
                <a:latin typeface="Arial"/>
                <a:cs typeface="Arial"/>
              </a:rPr>
              <a:t> </a:t>
            </a:r>
            <a:r>
              <a:rPr sz="900" dirty="0">
                <a:latin typeface="Arial"/>
                <a:cs typeface="Arial"/>
              </a:rPr>
              <a:t>between</a:t>
            </a:r>
            <a:r>
              <a:rPr sz="900" spc="-25" dirty="0">
                <a:latin typeface="Arial"/>
                <a:cs typeface="Arial"/>
              </a:rPr>
              <a:t> </a:t>
            </a:r>
            <a:r>
              <a:rPr sz="900" dirty="0">
                <a:latin typeface="Arial"/>
                <a:cs typeface="Arial"/>
              </a:rPr>
              <a:t>0.0</a:t>
            </a:r>
            <a:r>
              <a:rPr sz="900" spc="-25" dirty="0">
                <a:latin typeface="Arial"/>
                <a:cs typeface="Arial"/>
              </a:rPr>
              <a:t> </a:t>
            </a:r>
            <a:r>
              <a:rPr sz="900" dirty="0">
                <a:latin typeface="Arial"/>
                <a:cs typeface="Arial"/>
              </a:rPr>
              <a:t>and</a:t>
            </a:r>
            <a:r>
              <a:rPr sz="900" spc="-25" dirty="0">
                <a:latin typeface="Arial"/>
                <a:cs typeface="Arial"/>
              </a:rPr>
              <a:t> </a:t>
            </a:r>
            <a:r>
              <a:rPr sz="900" dirty="0">
                <a:latin typeface="Arial"/>
                <a:cs typeface="Arial"/>
              </a:rPr>
              <a:t>0.5;</a:t>
            </a:r>
            <a:r>
              <a:rPr sz="900" spc="-25" dirty="0">
                <a:latin typeface="Arial"/>
                <a:cs typeface="Arial"/>
              </a:rPr>
              <a:t> </a:t>
            </a:r>
            <a:r>
              <a:rPr sz="900" dirty="0">
                <a:latin typeface="Arial"/>
                <a:cs typeface="Arial"/>
              </a:rPr>
              <a:t>other</a:t>
            </a:r>
            <a:r>
              <a:rPr sz="900" spc="-25" dirty="0">
                <a:latin typeface="Arial"/>
                <a:cs typeface="Arial"/>
              </a:rPr>
              <a:t> </a:t>
            </a:r>
            <a:r>
              <a:rPr sz="900" dirty="0">
                <a:latin typeface="Arial"/>
                <a:cs typeface="Arial"/>
              </a:rPr>
              <a:t>attribute</a:t>
            </a:r>
            <a:r>
              <a:rPr sz="900" spc="-25" dirty="0">
                <a:latin typeface="Arial"/>
                <a:cs typeface="Arial"/>
              </a:rPr>
              <a:t> </a:t>
            </a:r>
            <a:r>
              <a:rPr sz="900" spc="-10" dirty="0">
                <a:latin typeface="Arial"/>
                <a:cs typeface="Arial"/>
              </a:rPr>
              <a:t>values </a:t>
            </a:r>
            <a:r>
              <a:rPr sz="900" dirty="0">
                <a:latin typeface="Arial"/>
                <a:cs typeface="Arial"/>
              </a:rPr>
              <a:t>don’t</a:t>
            </a:r>
            <a:r>
              <a:rPr sz="900" spc="-25" dirty="0">
                <a:latin typeface="Arial"/>
                <a:cs typeface="Arial"/>
              </a:rPr>
              <a:t> </a:t>
            </a:r>
            <a:r>
              <a:rPr sz="900" spc="-10" dirty="0">
                <a:latin typeface="Arial"/>
                <a:cs typeface="Arial"/>
              </a:rPr>
              <a:t>matter.</a:t>
            </a:r>
            <a:endParaRPr sz="900">
              <a:latin typeface="Arial"/>
              <a:cs typeface="Arial"/>
            </a:endParaRPr>
          </a:p>
          <a:p>
            <a:pPr marL="25400">
              <a:lnSpc>
                <a:spcPct val="100000"/>
              </a:lnSpc>
              <a:spcBef>
                <a:spcPts val="975"/>
              </a:spcBef>
            </a:pPr>
            <a:r>
              <a:rPr sz="1000" spc="-10" dirty="0">
                <a:solidFill>
                  <a:srgbClr val="3333B2"/>
                </a:solidFill>
                <a:latin typeface="Arial"/>
                <a:cs typeface="Arial"/>
              </a:rPr>
              <a:t>Observations</a:t>
            </a:r>
            <a:endParaRPr sz="1000">
              <a:latin typeface="Arial"/>
              <a:cs typeface="Arial"/>
            </a:endParaRPr>
          </a:p>
          <a:p>
            <a:pPr marL="274320" indent="-116839">
              <a:lnSpc>
                <a:spcPct val="100000"/>
              </a:lnSpc>
              <a:spcBef>
                <a:spcPts val="500"/>
              </a:spcBef>
              <a:buClr>
                <a:srgbClr val="3333B2"/>
              </a:buClr>
              <a:buFont typeface="Menlo"/>
              <a:buChar char="•"/>
              <a:tabLst>
                <a:tab pos="274955" algn="l"/>
              </a:tabLst>
            </a:pPr>
            <a:r>
              <a:rPr sz="900" dirty="0">
                <a:latin typeface="Arial"/>
                <a:cs typeface="Arial"/>
              </a:rPr>
              <a:t>A</a:t>
            </a:r>
            <a:r>
              <a:rPr sz="900" spc="-20" dirty="0">
                <a:latin typeface="Arial"/>
                <a:cs typeface="Arial"/>
              </a:rPr>
              <a:t> </a:t>
            </a:r>
            <a:r>
              <a:rPr sz="900" dirty="0">
                <a:latin typeface="Arial"/>
                <a:cs typeface="Arial"/>
              </a:rPr>
              <a:t>subscription</a:t>
            </a:r>
            <a:r>
              <a:rPr sz="900" spc="-20" dirty="0">
                <a:latin typeface="Arial"/>
                <a:cs typeface="Arial"/>
              </a:rPr>
              <a:t> </a:t>
            </a:r>
            <a:r>
              <a:rPr sz="900" i="1" dirty="0">
                <a:latin typeface="Arial"/>
                <a:cs typeface="Arial"/>
              </a:rPr>
              <a:t>S</a:t>
            </a:r>
            <a:r>
              <a:rPr sz="1050" i="1" baseline="-15873" dirty="0">
                <a:latin typeface="Arial"/>
                <a:cs typeface="Arial"/>
              </a:rPr>
              <a:t>i</a:t>
            </a:r>
            <a:r>
              <a:rPr sz="1050" i="1" spc="217" baseline="-15873" dirty="0">
                <a:latin typeface="Arial"/>
                <a:cs typeface="Arial"/>
              </a:rPr>
              <a:t> </a:t>
            </a:r>
            <a:r>
              <a:rPr sz="900" dirty="0">
                <a:latin typeface="Arial"/>
                <a:cs typeface="Arial"/>
              </a:rPr>
              <a:t>specifies</a:t>
            </a:r>
            <a:r>
              <a:rPr sz="900" spc="-20" dirty="0">
                <a:latin typeface="Arial"/>
                <a:cs typeface="Arial"/>
              </a:rPr>
              <a:t> </a:t>
            </a:r>
            <a:r>
              <a:rPr sz="900" dirty="0">
                <a:latin typeface="Arial"/>
                <a:cs typeface="Arial"/>
              </a:rPr>
              <a:t>a</a:t>
            </a:r>
            <a:r>
              <a:rPr sz="900" spc="-15" dirty="0">
                <a:latin typeface="Arial"/>
                <a:cs typeface="Arial"/>
              </a:rPr>
              <a:t> </a:t>
            </a:r>
            <a:r>
              <a:rPr sz="900" dirty="0">
                <a:latin typeface="Arial"/>
                <a:cs typeface="Arial"/>
              </a:rPr>
              <a:t>subset</a:t>
            </a:r>
            <a:r>
              <a:rPr sz="900" spc="-20" dirty="0">
                <a:latin typeface="Arial"/>
                <a:cs typeface="Arial"/>
              </a:rPr>
              <a:t> </a:t>
            </a:r>
            <a:r>
              <a:rPr sz="900" b="1" dirty="0">
                <a:latin typeface="Arial"/>
                <a:cs typeface="Arial"/>
              </a:rPr>
              <a:t>S</a:t>
            </a:r>
            <a:r>
              <a:rPr sz="1050" b="1" baseline="-15873" dirty="0">
                <a:latin typeface="Arial"/>
                <a:cs typeface="Arial"/>
              </a:rPr>
              <a:t>i</a:t>
            </a:r>
            <a:r>
              <a:rPr sz="1050" b="1" spc="127" baseline="-15873" dirty="0">
                <a:latin typeface="Arial"/>
                <a:cs typeface="Arial"/>
              </a:rPr>
              <a:t> </a:t>
            </a:r>
            <a:r>
              <a:rPr sz="900" dirty="0">
                <a:latin typeface="Arial"/>
                <a:cs typeface="Arial"/>
              </a:rPr>
              <a:t>in</a:t>
            </a:r>
            <a:r>
              <a:rPr sz="900" spc="-20" dirty="0">
                <a:latin typeface="Arial"/>
                <a:cs typeface="Arial"/>
              </a:rPr>
              <a:t> </a:t>
            </a:r>
            <a:r>
              <a:rPr sz="900" dirty="0">
                <a:latin typeface="Arial"/>
                <a:cs typeface="Arial"/>
              </a:rPr>
              <a:t>a</a:t>
            </a:r>
            <a:r>
              <a:rPr sz="900" spc="-15" dirty="0">
                <a:latin typeface="Arial"/>
                <a:cs typeface="Arial"/>
              </a:rPr>
              <a:t> </a:t>
            </a:r>
            <a:r>
              <a:rPr sz="900" i="1" dirty="0">
                <a:latin typeface="Arial"/>
                <a:cs typeface="Arial"/>
              </a:rPr>
              <a:t>N</a:t>
            </a:r>
            <a:r>
              <a:rPr sz="900" dirty="0">
                <a:latin typeface="Arial"/>
                <a:cs typeface="Arial"/>
              </a:rPr>
              <a:t>-dimensional</a:t>
            </a:r>
            <a:r>
              <a:rPr sz="900" spc="-20" dirty="0">
                <a:latin typeface="Arial"/>
                <a:cs typeface="Arial"/>
              </a:rPr>
              <a:t> </a:t>
            </a:r>
            <a:r>
              <a:rPr sz="900" spc="-10" dirty="0">
                <a:latin typeface="Arial"/>
                <a:cs typeface="Arial"/>
              </a:rPr>
              <a:t>space.</a:t>
            </a:r>
            <a:endParaRPr sz="900">
              <a:latin typeface="Arial"/>
              <a:cs typeface="Arial"/>
            </a:endParaRPr>
          </a:p>
          <a:p>
            <a:pPr marL="273050" indent="-115570">
              <a:lnSpc>
                <a:spcPct val="100000"/>
              </a:lnSpc>
              <a:spcBef>
                <a:spcPts val="125"/>
              </a:spcBef>
              <a:buClr>
                <a:srgbClr val="3333B2"/>
              </a:buClr>
              <a:buFont typeface="Menlo"/>
              <a:buChar char="•"/>
              <a:tabLst>
                <a:tab pos="273685" algn="l"/>
              </a:tabLst>
            </a:pPr>
            <a:r>
              <a:rPr sz="900" dirty="0">
                <a:latin typeface="Arial"/>
                <a:cs typeface="Arial"/>
              </a:rPr>
              <a:t>We</a:t>
            </a:r>
            <a:r>
              <a:rPr sz="900" spc="-50" dirty="0">
                <a:latin typeface="Arial"/>
                <a:cs typeface="Arial"/>
              </a:rPr>
              <a:t> </a:t>
            </a:r>
            <a:r>
              <a:rPr sz="900" dirty="0">
                <a:latin typeface="Arial"/>
                <a:cs typeface="Arial"/>
              </a:rPr>
              <a:t>are</a:t>
            </a:r>
            <a:r>
              <a:rPr sz="900" spc="-30" dirty="0">
                <a:latin typeface="Arial"/>
                <a:cs typeface="Arial"/>
              </a:rPr>
              <a:t> </a:t>
            </a:r>
            <a:r>
              <a:rPr sz="900" dirty="0">
                <a:latin typeface="Arial"/>
                <a:cs typeface="Arial"/>
              </a:rPr>
              <a:t>interested</a:t>
            </a:r>
            <a:r>
              <a:rPr sz="900" spc="-25" dirty="0">
                <a:latin typeface="Arial"/>
                <a:cs typeface="Arial"/>
              </a:rPr>
              <a:t> </a:t>
            </a:r>
            <a:r>
              <a:rPr sz="900" dirty="0">
                <a:latin typeface="Arial"/>
                <a:cs typeface="Arial"/>
              </a:rPr>
              <a:t>only</a:t>
            </a:r>
            <a:r>
              <a:rPr sz="900" spc="-30" dirty="0">
                <a:latin typeface="Arial"/>
                <a:cs typeface="Arial"/>
              </a:rPr>
              <a:t> </a:t>
            </a:r>
            <a:r>
              <a:rPr sz="900" dirty="0">
                <a:latin typeface="Arial"/>
                <a:cs typeface="Arial"/>
              </a:rPr>
              <a:t>in</a:t>
            </a:r>
            <a:r>
              <a:rPr sz="900" spc="-25" dirty="0">
                <a:latin typeface="Arial"/>
                <a:cs typeface="Arial"/>
              </a:rPr>
              <a:t> </a:t>
            </a:r>
            <a:r>
              <a:rPr sz="900" dirty="0">
                <a:latin typeface="Arial"/>
                <a:cs typeface="Arial"/>
              </a:rPr>
              <a:t>notifications</a:t>
            </a:r>
            <a:r>
              <a:rPr sz="900" spc="-30" dirty="0">
                <a:latin typeface="Arial"/>
                <a:cs typeface="Arial"/>
              </a:rPr>
              <a:t> </a:t>
            </a:r>
            <a:r>
              <a:rPr sz="900" dirty="0">
                <a:latin typeface="Arial"/>
                <a:cs typeface="Arial"/>
              </a:rPr>
              <a:t>that</a:t>
            </a:r>
            <a:r>
              <a:rPr sz="900" spc="-25" dirty="0">
                <a:latin typeface="Arial"/>
                <a:cs typeface="Arial"/>
              </a:rPr>
              <a:t> </a:t>
            </a:r>
            <a:r>
              <a:rPr sz="900" dirty="0">
                <a:latin typeface="Arial"/>
                <a:cs typeface="Arial"/>
              </a:rPr>
              <a:t>fall</a:t>
            </a:r>
            <a:r>
              <a:rPr sz="900" spc="-30" dirty="0">
                <a:latin typeface="Arial"/>
                <a:cs typeface="Arial"/>
              </a:rPr>
              <a:t> </a:t>
            </a:r>
            <a:r>
              <a:rPr sz="900" dirty="0">
                <a:latin typeface="Arial"/>
                <a:cs typeface="Arial"/>
              </a:rPr>
              <a:t>into</a:t>
            </a:r>
            <a:r>
              <a:rPr sz="900" spc="-25" dirty="0">
                <a:latin typeface="Arial"/>
                <a:cs typeface="Arial"/>
              </a:rPr>
              <a:t> </a:t>
            </a:r>
            <a:r>
              <a:rPr sz="900" b="1" dirty="0">
                <a:latin typeface="Arial"/>
                <a:cs typeface="Arial"/>
              </a:rPr>
              <a:t>S</a:t>
            </a:r>
            <a:r>
              <a:rPr sz="900" b="1" spc="-65" dirty="0">
                <a:latin typeface="Arial"/>
                <a:cs typeface="Arial"/>
              </a:rPr>
              <a:t> </a:t>
            </a:r>
            <a:r>
              <a:rPr sz="900" spc="185" dirty="0">
                <a:latin typeface="Arial"/>
                <a:cs typeface="Arial"/>
              </a:rPr>
              <a:t>=</a:t>
            </a:r>
            <a:r>
              <a:rPr sz="900" spc="-60" dirty="0">
                <a:latin typeface="Arial"/>
                <a:cs typeface="Arial"/>
              </a:rPr>
              <a:t> </a:t>
            </a:r>
            <a:r>
              <a:rPr sz="900" i="1" spc="-20" dirty="0">
                <a:latin typeface="Menlo"/>
                <a:cs typeface="Menlo"/>
              </a:rPr>
              <a:t>∪</a:t>
            </a:r>
            <a:r>
              <a:rPr sz="900" b="1" spc="-20" dirty="0">
                <a:latin typeface="Arial"/>
                <a:cs typeface="Arial"/>
              </a:rPr>
              <a:t>S</a:t>
            </a:r>
            <a:r>
              <a:rPr sz="1050" b="1" spc="-30" baseline="-15873" dirty="0">
                <a:latin typeface="Arial"/>
                <a:cs typeface="Arial"/>
              </a:rPr>
              <a:t>i</a:t>
            </a:r>
            <a:r>
              <a:rPr sz="900" spc="-20" dirty="0">
                <a:latin typeface="Arial"/>
                <a:cs typeface="Arial"/>
              </a:rPr>
              <a:t>.</a:t>
            </a:r>
            <a:endParaRPr sz="900">
              <a:latin typeface="Arial"/>
              <a:cs typeface="Arial"/>
            </a:endParaRPr>
          </a:p>
          <a:p>
            <a:pPr>
              <a:lnSpc>
                <a:spcPct val="100000"/>
              </a:lnSpc>
              <a:spcBef>
                <a:spcPts val="10"/>
              </a:spcBef>
              <a:buClr>
                <a:srgbClr val="3333B2"/>
              </a:buClr>
              <a:buFont typeface="Menlo"/>
              <a:buChar char="•"/>
            </a:pPr>
            <a:endParaRPr sz="1000">
              <a:latin typeface="Arial"/>
              <a:cs typeface="Arial"/>
            </a:endParaRPr>
          </a:p>
          <a:p>
            <a:pPr marL="25400">
              <a:lnSpc>
                <a:spcPct val="100000"/>
              </a:lnSpc>
            </a:pPr>
            <a:endParaRPr sz="900">
              <a:latin typeface="Arial"/>
              <a:cs typeface="Arial"/>
            </a:endParaRPr>
          </a:p>
        </p:txBody>
      </p:sp>
      <p:grpSp>
        <p:nvGrpSpPr>
          <p:cNvPr id="15" name="object 15"/>
          <p:cNvGrpSpPr/>
          <p:nvPr/>
        </p:nvGrpSpPr>
        <p:grpSpPr>
          <a:xfrm>
            <a:off x="0" y="3348469"/>
            <a:ext cx="4608195" cy="107950"/>
            <a:chOff x="0" y="3348469"/>
            <a:chExt cx="4608195" cy="107950"/>
          </a:xfrm>
        </p:grpSpPr>
        <p:sp>
          <p:nvSpPr>
            <p:cNvPr id="16" name="object 1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7" name="object 1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8" name="object 18"/>
          <p:cNvSpPr txBox="1"/>
          <p:nvPr/>
        </p:nvSpPr>
        <p:spPr>
          <a:xfrm>
            <a:off x="53467" y="3349927"/>
            <a:ext cx="822325"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4" action="ppaction://hlinksldjump"/>
              </a:rPr>
              <a:t>Centralized</a:t>
            </a:r>
            <a:r>
              <a:rPr sz="500" spc="60" dirty="0">
                <a:latin typeface="Arial"/>
                <a:cs typeface="Arial"/>
                <a:hlinkClick r:id="rId4" action="ppaction://hlinksldjump"/>
              </a:rPr>
              <a:t> </a:t>
            </a:r>
            <a:r>
              <a:rPr sz="500" spc="-10" dirty="0">
                <a:latin typeface="Arial"/>
                <a:cs typeface="Arial"/>
                <a:hlinkClick r:id="rId4" action="ppaction://hlinksldjump"/>
              </a:rPr>
              <a:t>implementations</a:t>
            </a:r>
            <a:endParaRPr sz="500">
              <a:latin typeface="Arial"/>
              <a:cs typeface="Arial"/>
            </a:endParaRPr>
          </a:p>
        </p:txBody>
      </p:sp>
      <p:pic>
        <p:nvPicPr>
          <p:cNvPr id="19" name="Picture 18">
            <a:extLst>
              <a:ext uri="{FF2B5EF4-FFF2-40B4-BE49-F238E27FC236}">
                <a16:creationId xmlns:a16="http://schemas.microsoft.com/office/drawing/2014/main" id="{3451B3D9-12AE-43B5-0FE6-3AB1EF7EA2EF}"/>
              </a:ext>
            </a:extLst>
          </p:cNvPr>
          <p:cNvPicPr>
            <a:picLocks noChangeAspect="1"/>
          </p:cNvPicPr>
          <p:nvPr/>
        </p:nvPicPr>
        <p:blipFill>
          <a:blip r:embed="rId5"/>
          <a:stretch>
            <a:fillRect/>
          </a:stretch>
        </p:blipFill>
        <p:spPr>
          <a:xfrm>
            <a:off x="327020" y="2443074"/>
            <a:ext cx="3467472" cy="815876"/>
          </a:xfrm>
          <a:prstGeom prst="rect">
            <a:avLst/>
          </a:prstGeom>
        </p:spPr>
      </p:pic>
    </p:spTree>
    <p:extLst>
      <p:ext uri="{BB962C8B-B14F-4D97-AF65-F5344CB8AC3E}">
        <p14:creationId xmlns:p14="http://schemas.microsoft.com/office/powerpoint/2010/main" val="3069037922"/>
      </p:ext>
    </p:extLst>
  </p:cSld>
  <p:clrMapOvr>
    <a:masterClrMapping/>
  </p:clrMapOvr>
  <p:transition>
    <p:fade/>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8417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Coordination</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784028" y="-1515"/>
            <a:ext cx="770890"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Distributed</a:t>
            </a:r>
            <a:r>
              <a:rPr sz="500" spc="-20"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event</a:t>
            </a:r>
            <a:r>
              <a:rPr sz="500" spc="-1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matching</a:t>
            </a:r>
            <a:endParaRPr sz="500">
              <a:latin typeface="Arial"/>
              <a:cs typeface="Arial"/>
            </a:endParaRPr>
          </a:p>
        </p:txBody>
      </p:sp>
      <p:sp>
        <p:nvSpPr>
          <p:cNvPr id="5" name="object 5"/>
          <p:cNvSpPr txBox="1"/>
          <p:nvPr/>
        </p:nvSpPr>
        <p:spPr>
          <a:xfrm>
            <a:off x="95300" y="197711"/>
            <a:ext cx="1520825" cy="20764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Gossiping:</a:t>
            </a:r>
            <a:r>
              <a:rPr sz="1200" spc="40" dirty="0">
                <a:solidFill>
                  <a:srgbClr val="3333B2"/>
                </a:solidFill>
                <a:latin typeface="Arial"/>
                <a:cs typeface="Arial"/>
              </a:rPr>
              <a:t> </a:t>
            </a:r>
            <a:r>
              <a:rPr sz="1200" spc="-10" dirty="0">
                <a:solidFill>
                  <a:srgbClr val="3333B2"/>
                </a:solidFill>
                <a:latin typeface="Arial"/>
                <a:cs typeface="Arial"/>
              </a:rPr>
              <a:t>Sub-2-</a:t>
            </a:r>
            <a:r>
              <a:rPr sz="1200" spc="-25" dirty="0">
                <a:solidFill>
                  <a:srgbClr val="3333B2"/>
                </a:solidFill>
                <a:latin typeface="Arial"/>
                <a:cs typeface="Arial"/>
              </a:rPr>
              <a:t>Sub</a:t>
            </a:r>
            <a:endParaRPr sz="1200">
              <a:latin typeface="Arial"/>
              <a:cs typeface="Arial"/>
            </a:endParaRPr>
          </a:p>
        </p:txBody>
      </p:sp>
      <p:pic>
        <p:nvPicPr>
          <p:cNvPr id="6" name="object 6"/>
          <p:cNvPicPr/>
          <p:nvPr/>
        </p:nvPicPr>
        <p:blipFill>
          <a:blip r:embed="rId4" cstate="print"/>
          <a:stretch>
            <a:fillRect/>
          </a:stretch>
        </p:blipFill>
        <p:spPr>
          <a:xfrm>
            <a:off x="603797" y="575485"/>
            <a:ext cx="3409243" cy="1337020"/>
          </a:xfrm>
          <a:prstGeom prst="rect">
            <a:avLst/>
          </a:prstGeom>
        </p:spPr>
      </p:pic>
      <p:grpSp>
        <p:nvGrpSpPr>
          <p:cNvPr id="8" name="object 8"/>
          <p:cNvGrpSpPr/>
          <p:nvPr/>
        </p:nvGrpSpPr>
        <p:grpSpPr>
          <a:xfrm>
            <a:off x="0" y="3348469"/>
            <a:ext cx="4608195" cy="107950"/>
            <a:chOff x="0" y="3348469"/>
            <a:chExt cx="4608195" cy="107950"/>
          </a:xfrm>
        </p:grpSpPr>
        <p:sp>
          <p:nvSpPr>
            <p:cNvPr id="9" name="object 9"/>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0" name="object 10"/>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1" name="object 11"/>
          <p:cNvSpPr txBox="1"/>
          <p:nvPr/>
        </p:nvSpPr>
        <p:spPr>
          <a:xfrm>
            <a:off x="53467" y="3349927"/>
            <a:ext cx="822325"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5" action="ppaction://hlinksldjump"/>
              </a:rPr>
              <a:t>Centralized</a:t>
            </a:r>
            <a:r>
              <a:rPr sz="500" spc="60" dirty="0">
                <a:latin typeface="Arial"/>
                <a:cs typeface="Arial"/>
                <a:hlinkClick r:id="rId5" action="ppaction://hlinksldjump"/>
              </a:rPr>
              <a:t> </a:t>
            </a:r>
            <a:r>
              <a:rPr sz="500" spc="-10" dirty="0">
                <a:latin typeface="Arial"/>
                <a:cs typeface="Arial"/>
                <a:hlinkClick r:id="rId5" action="ppaction://hlinksldjump"/>
              </a:rPr>
              <a:t>implementations</a:t>
            </a:r>
            <a:endParaRPr sz="500">
              <a:latin typeface="Arial"/>
              <a:cs typeface="Arial"/>
            </a:endParaRPr>
          </a:p>
        </p:txBody>
      </p:sp>
      <p:pic>
        <p:nvPicPr>
          <p:cNvPr id="12" name="Picture 11">
            <a:extLst>
              <a:ext uri="{FF2B5EF4-FFF2-40B4-BE49-F238E27FC236}">
                <a16:creationId xmlns:a16="http://schemas.microsoft.com/office/drawing/2014/main" id="{E8D86EE0-FD0A-AD2A-5AA3-F5DF15F8E862}"/>
              </a:ext>
            </a:extLst>
          </p:cNvPr>
          <p:cNvPicPr>
            <a:picLocks noChangeAspect="1"/>
          </p:cNvPicPr>
          <p:nvPr/>
        </p:nvPicPr>
        <p:blipFill>
          <a:blip r:embed="rId6"/>
          <a:stretch>
            <a:fillRect/>
          </a:stretch>
        </p:blipFill>
        <p:spPr>
          <a:xfrm>
            <a:off x="313270" y="1989322"/>
            <a:ext cx="3981450" cy="1292964"/>
          </a:xfrm>
          <a:prstGeom prst="rect">
            <a:avLst/>
          </a:prstGeom>
        </p:spPr>
      </p:pic>
    </p:spTree>
    <p:extLst>
      <p:ext uri="{BB962C8B-B14F-4D97-AF65-F5344CB8AC3E}">
        <p14:creationId xmlns:p14="http://schemas.microsoft.com/office/powerpoint/2010/main" val="1477985544"/>
      </p:ext>
    </p:extLst>
  </p:cSld>
  <p:clrMapOvr>
    <a:masterClrMapping/>
  </p:clrMapOvr>
  <p:transition>
    <p:fade/>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742690" algn="l"/>
              </a:tabLst>
            </a:pPr>
            <a:r>
              <a:rPr sz="500" spc="-10" dirty="0">
                <a:latin typeface="Arial"/>
                <a:cs typeface="Arial"/>
                <a:hlinkClick r:id="rId2" action="ppaction://hlinksldjump"/>
              </a:rPr>
              <a:t>Coordination</a:t>
            </a:r>
            <a:r>
              <a:rPr sz="500" dirty="0">
                <a:latin typeface="Arial"/>
                <a:cs typeface="Arial"/>
              </a:rPr>
              <a:t>	</a:t>
            </a:r>
            <a:r>
              <a:rPr sz="500" dirty="0">
                <a:solidFill>
                  <a:srgbClr val="FFFFFF"/>
                </a:solidFill>
                <a:latin typeface="Arial"/>
                <a:cs typeface="Arial"/>
                <a:hlinkClick r:id="rId3" action="ppaction://hlinksldjump"/>
              </a:rPr>
              <a:t>Distributed</a:t>
            </a:r>
            <a:r>
              <a:rPr sz="500" spc="-20"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event</a:t>
            </a:r>
            <a:r>
              <a:rPr sz="500" spc="-1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matching</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Secure</a:t>
            </a:r>
            <a:r>
              <a:rPr spc="-40" dirty="0"/>
              <a:t> </a:t>
            </a:r>
            <a:r>
              <a:rPr spc="-10" dirty="0"/>
              <a:t>publish-subscribe</a:t>
            </a:r>
          </a:p>
        </p:txBody>
      </p:sp>
      <p:sp>
        <p:nvSpPr>
          <p:cNvPr id="4" name="object 4"/>
          <p:cNvSpPr txBox="1"/>
          <p:nvPr/>
        </p:nvSpPr>
        <p:spPr>
          <a:xfrm>
            <a:off x="328650" y="514774"/>
            <a:ext cx="3946525" cy="1424305"/>
          </a:xfrm>
          <a:prstGeom prst="rect">
            <a:avLst/>
          </a:prstGeom>
        </p:spPr>
        <p:txBody>
          <a:bodyPr vert="horz" wrap="square" lIns="0" tIns="12065" rIns="0" bIns="0" rtlCol="0">
            <a:spAutoFit/>
          </a:bodyPr>
          <a:lstStyle/>
          <a:p>
            <a:pPr marL="25400" algn="just">
              <a:lnSpc>
                <a:spcPct val="100000"/>
              </a:lnSpc>
              <a:spcBef>
                <a:spcPts val="95"/>
              </a:spcBef>
            </a:pPr>
            <a:r>
              <a:rPr sz="1000" dirty="0">
                <a:solidFill>
                  <a:srgbClr val="C80000"/>
                </a:solidFill>
                <a:latin typeface="Arial"/>
                <a:cs typeface="Arial"/>
              </a:rPr>
              <a:t>We</a:t>
            </a:r>
            <a:r>
              <a:rPr sz="1000" spc="-50" dirty="0">
                <a:solidFill>
                  <a:srgbClr val="C80000"/>
                </a:solidFill>
                <a:latin typeface="Arial"/>
                <a:cs typeface="Arial"/>
              </a:rPr>
              <a:t> </a:t>
            </a:r>
            <a:r>
              <a:rPr sz="1000" dirty="0">
                <a:solidFill>
                  <a:srgbClr val="C80000"/>
                </a:solidFill>
                <a:latin typeface="Arial"/>
                <a:cs typeface="Arial"/>
              </a:rPr>
              <a:t>are</a:t>
            </a:r>
            <a:r>
              <a:rPr sz="1000" spc="-40" dirty="0">
                <a:solidFill>
                  <a:srgbClr val="C80000"/>
                </a:solidFill>
                <a:latin typeface="Arial"/>
                <a:cs typeface="Arial"/>
              </a:rPr>
              <a:t> </a:t>
            </a:r>
            <a:r>
              <a:rPr sz="1000" dirty="0">
                <a:solidFill>
                  <a:srgbClr val="C80000"/>
                </a:solidFill>
                <a:latin typeface="Arial"/>
                <a:cs typeface="Arial"/>
              </a:rPr>
              <a:t>facing</a:t>
            </a:r>
            <a:r>
              <a:rPr sz="1000" spc="-40" dirty="0">
                <a:solidFill>
                  <a:srgbClr val="C80000"/>
                </a:solidFill>
                <a:latin typeface="Arial"/>
                <a:cs typeface="Arial"/>
              </a:rPr>
              <a:t> </a:t>
            </a:r>
            <a:r>
              <a:rPr sz="1000" dirty="0">
                <a:solidFill>
                  <a:srgbClr val="C80000"/>
                </a:solidFill>
                <a:latin typeface="Arial"/>
                <a:cs typeface="Arial"/>
              </a:rPr>
              <a:t>nasty</a:t>
            </a:r>
            <a:r>
              <a:rPr sz="1000" spc="-40" dirty="0">
                <a:solidFill>
                  <a:srgbClr val="C80000"/>
                </a:solidFill>
                <a:latin typeface="Arial"/>
                <a:cs typeface="Arial"/>
              </a:rPr>
              <a:t> </a:t>
            </a:r>
            <a:r>
              <a:rPr sz="1000" spc="-10" dirty="0">
                <a:solidFill>
                  <a:srgbClr val="C80000"/>
                </a:solidFill>
                <a:latin typeface="Arial"/>
                <a:cs typeface="Arial"/>
              </a:rPr>
              <a:t>dilemma’s</a:t>
            </a:r>
            <a:endParaRPr sz="1000">
              <a:latin typeface="Arial"/>
              <a:cs typeface="Arial"/>
            </a:endParaRPr>
          </a:p>
          <a:p>
            <a:pPr marL="283845" marR="17780" indent="-120650" algn="just">
              <a:lnSpc>
                <a:spcPct val="111600"/>
              </a:lnSpc>
              <a:spcBef>
                <a:spcPts val="580"/>
              </a:spcBef>
              <a:buClr>
                <a:srgbClr val="3333B2"/>
              </a:buClr>
              <a:buFont typeface="Menlo"/>
              <a:buChar char="•"/>
              <a:tabLst>
                <a:tab pos="284480" algn="l"/>
              </a:tabLst>
            </a:pPr>
            <a:r>
              <a:rPr sz="900" spc="-20" dirty="0">
                <a:solidFill>
                  <a:srgbClr val="C80000"/>
                </a:solidFill>
                <a:latin typeface="Arial"/>
                <a:cs typeface="Arial"/>
              </a:rPr>
              <a:t>Referential</a:t>
            </a:r>
            <a:r>
              <a:rPr sz="900" spc="-30" dirty="0">
                <a:solidFill>
                  <a:srgbClr val="C80000"/>
                </a:solidFill>
                <a:latin typeface="Arial"/>
                <a:cs typeface="Arial"/>
              </a:rPr>
              <a:t> </a:t>
            </a:r>
            <a:r>
              <a:rPr sz="900" spc="-10" dirty="0">
                <a:solidFill>
                  <a:srgbClr val="C80000"/>
                </a:solidFill>
                <a:latin typeface="Arial"/>
                <a:cs typeface="Arial"/>
              </a:rPr>
              <a:t>decoupling</a:t>
            </a:r>
            <a:r>
              <a:rPr sz="900" spc="-10" dirty="0">
                <a:latin typeface="Arial"/>
                <a:cs typeface="Arial"/>
              </a:rPr>
              <a:t>:</a:t>
            </a:r>
            <a:r>
              <a:rPr sz="900" spc="30" dirty="0">
                <a:latin typeface="Arial"/>
                <a:cs typeface="Arial"/>
              </a:rPr>
              <a:t> </a:t>
            </a:r>
            <a:r>
              <a:rPr sz="900" spc="-10" dirty="0">
                <a:latin typeface="Arial"/>
                <a:cs typeface="Arial"/>
              </a:rPr>
              <a:t>messages</a:t>
            </a:r>
            <a:r>
              <a:rPr sz="900" spc="-25" dirty="0">
                <a:latin typeface="Arial"/>
                <a:cs typeface="Arial"/>
              </a:rPr>
              <a:t> </a:t>
            </a:r>
            <a:r>
              <a:rPr sz="900" spc="-10" dirty="0">
                <a:latin typeface="Arial"/>
                <a:cs typeface="Arial"/>
              </a:rPr>
              <a:t>should</a:t>
            </a:r>
            <a:r>
              <a:rPr sz="900" spc="-25" dirty="0">
                <a:latin typeface="Arial"/>
                <a:cs typeface="Arial"/>
              </a:rPr>
              <a:t> </a:t>
            </a:r>
            <a:r>
              <a:rPr sz="900" dirty="0">
                <a:latin typeface="Arial"/>
                <a:cs typeface="Arial"/>
              </a:rPr>
              <a:t>be</a:t>
            </a:r>
            <a:r>
              <a:rPr sz="900" spc="-25" dirty="0">
                <a:latin typeface="Arial"/>
                <a:cs typeface="Arial"/>
              </a:rPr>
              <a:t> </a:t>
            </a:r>
            <a:r>
              <a:rPr sz="900" spc="-10" dirty="0">
                <a:latin typeface="Arial"/>
                <a:cs typeface="Arial"/>
              </a:rPr>
              <a:t>able</a:t>
            </a:r>
            <a:r>
              <a:rPr sz="900" spc="-25" dirty="0">
                <a:latin typeface="Arial"/>
                <a:cs typeface="Arial"/>
              </a:rPr>
              <a:t> </a:t>
            </a:r>
            <a:r>
              <a:rPr sz="900" dirty="0">
                <a:latin typeface="Arial"/>
                <a:cs typeface="Arial"/>
              </a:rPr>
              <a:t>to</a:t>
            </a:r>
            <a:r>
              <a:rPr sz="900" spc="-25" dirty="0">
                <a:latin typeface="Arial"/>
                <a:cs typeface="Arial"/>
              </a:rPr>
              <a:t> </a:t>
            </a:r>
            <a:r>
              <a:rPr sz="900" spc="-10" dirty="0">
                <a:latin typeface="Arial"/>
                <a:cs typeface="Arial"/>
              </a:rPr>
              <a:t>flow</a:t>
            </a:r>
            <a:r>
              <a:rPr sz="900" spc="-25" dirty="0">
                <a:latin typeface="Arial"/>
                <a:cs typeface="Arial"/>
              </a:rPr>
              <a:t> </a:t>
            </a:r>
            <a:r>
              <a:rPr sz="900" dirty="0">
                <a:latin typeface="Arial"/>
                <a:cs typeface="Arial"/>
              </a:rPr>
              <a:t>from</a:t>
            </a:r>
            <a:r>
              <a:rPr sz="900" spc="-25" dirty="0">
                <a:latin typeface="Arial"/>
                <a:cs typeface="Arial"/>
              </a:rPr>
              <a:t> </a:t>
            </a:r>
            <a:r>
              <a:rPr sz="900" dirty="0">
                <a:latin typeface="Arial"/>
                <a:cs typeface="Arial"/>
              </a:rPr>
              <a:t>a</a:t>
            </a:r>
            <a:r>
              <a:rPr sz="900" spc="-25" dirty="0">
                <a:latin typeface="Arial"/>
                <a:cs typeface="Arial"/>
              </a:rPr>
              <a:t> </a:t>
            </a:r>
            <a:r>
              <a:rPr sz="900" spc="-10" dirty="0">
                <a:latin typeface="Arial"/>
                <a:cs typeface="Arial"/>
              </a:rPr>
              <a:t>publisher </a:t>
            </a:r>
            <a:r>
              <a:rPr sz="900" dirty="0">
                <a:latin typeface="Arial"/>
                <a:cs typeface="Arial"/>
              </a:rPr>
              <a:t>to</a:t>
            </a:r>
            <a:r>
              <a:rPr sz="900" spc="-65" dirty="0">
                <a:latin typeface="Arial"/>
                <a:cs typeface="Arial"/>
              </a:rPr>
              <a:t> </a:t>
            </a:r>
            <a:r>
              <a:rPr sz="900" dirty="0">
                <a:latin typeface="Arial"/>
                <a:cs typeface="Arial"/>
              </a:rPr>
              <a:t>subscribers</a:t>
            </a:r>
            <a:r>
              <a:rPr sz="900" spc="-60" dirty="0">
                <a:latin typeface="Arial"/>
                <a:cs typeface="Arial"/>
              </a:rPr>
              <a:t> </a:t>
            </a:r>
            <a:r>
              <a:rPr sz="900" dirty="0">
                <a:latin typeface="Arial"/>
                <a:cs typeface="Arial"/>
              </a:rPr>
              <a:t>while</a:t>
            </a:r>
            <a:r>
              <a:rPr sz="900" spc="-55" dirty="0">
                <a:latin typeface="Arial"/>
                <a:cs typeface="Arial"/>
              </a:rPr>
              <a:t> </a:t>
            </a:r>
            <a:r>
              <a:rPr sz="900" spc="-10" dirty="0">
                <a:latin typeface="Arial"/>
                <a:cs typeface="Arial"/>
              </a:rPr>
              <a:t>guaranteeing </a:t>
            </a:r>
            <a:r>
              <a:rPr sz="900" dirty="0">
                <a:latin typeface="Arial"/>
                <a:cs typeface="Arial"/>
              </a:rPr>
              <a:t>mutual</a:t>
            </a:r>
            <a:r>
              <a:rPr sz="900" spc="-5" dirty="0">
                <a:latin typeface="Arial"/>
                <a:cs typeface="Arial"/>
              </a:rPr>
              <a:t> </a:t>
            </a:r>
            <a:r>
              <a:rPr sz="900" dirty="0">
                <a:latin typeface="Arial"/>
                <a:cs typeface="Arial"/>
              </a:rPr>
              <a:t>anonymity</a:t>
            </a:r>
            <a:r>
              <a:rPr sz="900" spc="-5" dirty="0">
                <a:latin typeface="Arial"/>
                <a:cs typeface="Arial"/>
              </a:rPr>
              <a:t> </a:t>
            </a:r>
            <a:r>
              <a:rPr sz="900" i="1" spc="185" dirty="0">
                <a:latin typeface="Menlo"/>
                <a:cs typeface="Menlo"/>
              </a:rPr>
              <a:t>⇒</a:t>
            </a:r>
            <a:r>
              <a:rPr sz="900" i="1" spc="-135" dirty="0">
                <a:latin typeface="Menlo"/>
                <a:cs typeface="Menlo"/>
              </a:rPr>
              <a:t> </a:t>
            </a:r>
            <a:r>
              <a:rPr sz="900" dirty="0">
                <a:latin typeface="Arial"/>
                <a:cs typeface="Arial"/>
              </a:rPr>
              <a:t>we</a:t>
            </a:r>
            <a:r>
              <a:rPr sz="900" spc="-10" dirty="0">
                <a:latin typeface="Arial"/>
                <a:cs typeface="Arial"/>
              </a:rPr>
              <a:t> </a:t>
            </a:r>
            <a:r>
              <a:rPr sz="900" dirty="0">
                <a:latin typeface="Arial"/>
                <a:cs typeface="Arial"/>
              </a:rPr>
              <a:t>cannot</a:t>
            </a:r>
            <a:r>
              <a:rPr sz="900" spc="-5" dirty="0">
                <a:latin typeface="Arial"/>
                <a:cs typeface="Arial"/>
              </a:rPr>
              <a:t> </a:t>
            </a:r>
            <a:r>
              <a:rPr sz="900" dirty="0">
                <a:latin typeface="Arial"/>
                <a:cs typeface="Arial"/>
              </a:rPr>
              <a:t>set</a:t>
            </a:r>
            <a:r>
              <a:rPr sz="900" spc="-5" dirty="0">
                <a:latin typeface="Arial"/>
                <a:cs typeface="Arial"/>
              </a:rPr>
              <a:t> </a:t>
            </a:r>
            <a:r>
              <a:rPr sz="900" spc="-25" dirty="0">
                <a:latin typeface="Arial"/>
                <a:cs typeface="Arial"/>
              </a:rPr>
              <a:t>up </a:t>
            </a:r>
            <a:r>
              <a:rPr sz="900" dirty="0">
                <a:latin typeface="Arial"/>
                <a:cs typeface="Arial"/>
              </a:rPr>
              <a:t>a</a:t>
            </a:r>
            <a:r>
              <a:rPr sz="900" spc="-25" dirty="0">
                <a:latin typeface="Arial"/>
                <a:cs typeface="Arial"/>
              </a:rPr>
              <a:t> </a:t>
            </a:r>
            <a:r>
              <a:rPr sz="900" dirty="0">
                <a:latin typeface="Arial"/>
                <a:cs typeface="Arial"/>
              </a:rPr>
              <a:t>secure</a:t>
            </a:r>
            <a:r>
              <a:rPr sz="900" spc="-20" dirty="0">
                <a:latin typeface="Arial"/>
                <a:cs typeface="Arial"/>
              </a:rPr>
              <a:t> </a:t>
            </a:r>
            <a:r>
              <a:rPr sz="900" spc="-10" dirty="0">
                <a:latin typeface="Arial"/>
                <a:cs typeface="Arial"/>
              </a:rPr>
              <a:t>channel.</a:t>
            </a:r>
            <a:endParaRPr sz="900">
              <a:latin typeface="Arial"/>
              <a:cs typeface="Arial"/>
            </a:endParaRPr>
          </a:p>
          <a:p>
            <a:pPr marL="283845" indent="-120650">
              <a:lnSpc>
                <a:spcPct val="100000"/>
              </a:lnSpc>
              <a:spcBef>
                <a:spcPts val="525"/>
              </a:spcBef>
              <a:buClr>
                <a:srgbClr val="3333B2"/>
              </a:buClr>
              <a:buFont typeface="Menlo"/>
              <a:buChar char="•"/>
              <a:tabLst>
                <a:tab pos="284480" algn="l"/>
              </a:tabLst>
            </a:pPr>
            <a:r>
              <a:rPr sz="900" dirty="0">
                <a:latin typeface="Arial"/>
                <a:cs typeface="Arial"/>
              </a:rPr>
              <a:t>Not</a:t>
            </a:r>
            <a:r>
              <a:rPr sz="900" spc="-35" dirty="0">
                <a:latin typeface="Arial"/>
                <a:cs typeface="Arial"/>
              </a:rPr>
              <a:t> </a:t>
            </a:r>
            <a:r>
              <a:rPr sz="900" dirty="0">
                <a:latin typeface="Arial"/>
                <a:cs typeface="Arial"/>
              </a:rPr>
              <a:t>knowing</a:t>
            </a:r>
            <a:r>
              <a:rPr sz="900" spc="-35" dirty="0">
                <a:latin typeface="Arial"/>
                <a:cs typeface="Arial"/>
              </a:rPr>
              <a:t> </a:t>
            </a:r>
            <a:r>
              <a:rPr sz="900" dirty="0">
                <a:latin typeface="Arial"/>
                <a:cs typeface="Arial"/>
              </a:rPr>
              <a:t>where</a:t>
            </a:r>
            <a:r>
              <a:rPr sz="900" spc="-35" dirty="0">
                <a:latin typeface="Arial"/>
                <a:cs typeface="Arial"/>
              </a:rPr>
              <a:t> </a:t>
            </a:r>
            <a:r>
              <a:rPr sz="900" dirty="0">
                <a:latin typeface="Arial"/>
                <a:cs typeface="Arial"/>
              </a:rPr>
              <a:t>messages</a:t>
            </a:r>
            <a:r>
              <a:rPr sz="900" spc="-35" dirty="0">
                <a:latin typeface="Arial"/>
                <a:cs typeface="Arial"/>
              </a:rPr>
              <a:t> </a:t>
            </a:r>
            <a:r>
              <a:rPr sz="900" dirty="0">
                <a:latin typeface="Arial"/>
                <a:cs typeface="Arial"/>
              </a:rPr>
              <a:t>come</a:t>
            </a:r>
            <a:r>
              <a:rPr sz="900" spc="-35" dirty="0">
                <a:latin typeface="Arial"/>
                <a:cs typeface="Arial"/>
              </a:rPr>
              <a:t> </a:t>
            </a:r>
            <a:r>
              <a:rPr sz="900" dirty="0">
                <a:latin typeface="Arial"/>
                <a:cs typeface="Arial"/>
              </a:rPr>
              <a:t>from</a:t>
            </a:r>
            <a:r>
              <a:rPr sz="900" spc="-30" dirty="0">
                <a:latin typeface="Arial"/>
                <a:cs typeface="Arial"/>
              </a:rPr>
              <a:t> </a:t>
            </a:r>
            <a:r>
              <a:rPr sz="900" dirty="0">
                <a:latin typeface="Arial"/>
                <a:cs typeface="Arial"/>
              </a:rPr>
              <a:t>imposes</a:t>
            </a:r>
            <a:r>
              <a:rPr sz="900" spc="-35" dirty="0">
                <a:latin typeface="Arial"/>
                <a:cs typeface="Arial"/>
              </a:rPr>
              <a:t> </a:t>
            </a:r>
            <a:r>
              <a:rPr sz="900" dirty="0">
                <a:solidFill>
                  <a:srgbClr val="C80000"/>
                </a:solidFill>
                <a:latin typeface="Arial"/>
                <a:cs typeface="Arial"/>
              </a:rPr>
              <a:t>integrity</a:t>
            </a:r>
            <a:r>
              <a:rPr sz="900" spc="-35" dirty="0">
                <a:solidFill>
                  <a:srgbClr val="C80000"/>
                </a:solidFill>
                <a:latin typeface="Arial"/>
                <a:cs typeface="Arial"/>
              </a:rPr>
              <a:t> </a:t>
            </a:r>
            <a:r>
              <a:rPr sz="900" spc="-10" dirty="0">
                <a:solidFill>
                  <a:srgbClr val="C80000"/>
                </a:solidFill>
                <a:latin typeface="Arial"/>
                <a:cs typeface="Arial"/>
              </a:rPr>
              <a:t>problems</a:t>
            </a:r>
            <a:r>
              <a:rPr sz="900" spc="-10" dirty="0">
                <a:latin typeface="Arial"/>
                <a:cs typeface="Arial"/>
              </a:rPr>
              <a:t>.</a:t>
            </a:r>
            <a:endParaRPr sz="900">
              <a:latin typeface="Arial"/>
              <a:cs typeface="Arial"/>
            </a:endParaRPr>
          </a:p>
          <a:p>
            <a:pPr marL="280035" marR="17780" indent="-116205">
              <a:lnSpc>
                <a:spcPct val="111600"/>
              </a:lnSpc>
              <a:spcBef>
                <a:spcPts val="400"/>
              </a:spcBef>
              <a:buClr>
                <a:srgbClr val="3333B2"/>
              </a:buClr>
              <a:buFont typeface="Menlo"/>
              <a:buChar char="•"/>
              <a:tabLst>
                <a:tab pos="280670" algn="l"/>
              </a:tabLst>
            </a:pPr>
            <a:r>
              <a:rPr sz="900" dirty="0">
                <a:latin typeface="Arial"/>
                <a:cs typeface="Arial"/>
              </a:rPr>
              <a:t>Assuming</a:t>
            </a:r>
            <a:r>
              <a:rPr sz="900" spc="-30" dirty="0">
                <a:latin typeface="Arial"/>
                <a:cs typeface="Arial"/>
              </a:rPr>
              <a:t> </a:t>
            </a:r>
            <a:r>
              <a:rPr sz="900" dirty="0">
                <a:latin typeface="Arial"/>
                <a:cs typeface="Arial"/>
              </a:rPr>
              <a:t>a</a:t>
            </a:r>
            <a:r>
              <a:rPr sz="900" spc="-30" dirty="0">
                <a:latin typeface="Arial"/>
                <a:cs typeface="Arial"/>
              </a:rPr>
              <a:t> </a:t>
            </a:r>
            <a:r>
              <a:rPr sz="900" dirty="0">
                <a:solidFill>
                  <a:srgbClr val="3333B2"/>
                </a:solidFill>
                <a:latin typeface="Arial"/>
                <a:cs typeface="Arial"/>
              </a:rPr>
              <a:t>trusted</a:t>
            </a:r>
            <a:r>
              <a:rPr sz="900" spc="-30" dirty="0">
                <a:solidFill>
                  <a:srgbClr val="3333B2"/>
                </a:solidFill>
                <a:latin typeface="Arial"/>
                <a:cs typeface="Arial"/>
              </a:rPr>
              <a:t> </a:t>
            </a:r>
            <a:r>
              <a:rPr sz="900" dirty="0">
                <a:solidFill>
                  <a:srgbClr val="3333B2"/>
                </a:solidFill>
                <a:latin typeface="Arial"/>
                <a:cs typeface="Arial"/>
              </a:rPr>
              <a:t>broker</a:t>
            </a:r>
            <a:r>
              <a:rPr sz="900" spc="-25" dirty="0">
                <a:solidFill>
                  <a:srgbClr val="3333B2"/>
                </a:solidFill>
                <a:latin typeface="Arial"/>
                <a:cs typeface="Arial"/>
              </a:rPr>
              <a:t> </a:t>
            </a:r>
            <a:r>
              <a:rPr sz="900" dirty="0">
                <a:latin typeface="Arial"/>
                <a:cs typeface="Arial"/>
              </a:rPr>
              <a:t>may</a:t>
            </a:r>
            <a:r>
              <a:rPr sz="900" spc="-30" dirty="0">
                <a:latin typeface="Arial"/>
                <a:cs typeface="Arial"/>
              </a:rPr>
              <a:t> </a:t>
            </a:r>
            <a:r>
              <a:rPr sz="900" dirty="0">
                <a:latin typeface="Arial"/>
                <a:cs typeface="Arial"/>
              </a:rPr>
              <a:t>easily</a:t>
            </a:r>
            <a:r>
              <a:rPr sz="900" spc="-30" dirty="0">
                <a:latin typeface="Arial"/>
                <a:cs typeface="Arial"/>
              </a:rPr>
              <a:t> </a:t>
            </a:r>
            <a:r>
              <a:rPr sz="900" dirty="0">
                <a:latin typeface="Arial"/>
                <a:cs typeface="Arial"/>
              </a:rPr>
              <a:t>be</a:t>
            </a:r>
            <a:r>
              <a:rPr sz="900" spc="-30" dirty="0">
                <a:latin typeface="Arial"/>
                <a:cs typeface="Arial"/>
              </a:rPr>
              <a:t> </a:t>
            </a:r>
            <a:r>
              <a:rPr sz="900" dirty="0">
                <a:latin typeface="Arial"/>
                <a:cs typeface="Arial"/>
              </a:rPr>
              <a:t>practically</a:t>
            </a:r>
            <a:r>
              <a:rPr sz="900" spc="-25" dirty="0">
                <a:latin typeface="Arial"/>
                <a:cs typeface="Arial"/>
              </a:rPr>
              <a:t> </a:t>
            </a:r>
            <a:r>
              <a:rPr sz="900" spc="-10" dirty="0">
                <a:latin typeface="Arial"/>
                <a:cs typeface="Arial"/>
              </a:rPr>
              <a:t>impossible,</a:t>
            </a:r>
            <a:r>
              <a:rPr sz="900" spc="-30" dirty="0">
                <a:latin typeface="Arial"/>
                <a:cs typeface="Arial"/>
              </a:rPr>
              <a:t> </a:t>
            </a:r>
            <a:r>
              <a:rPr sz="900" spc="-10" dirty="0">
                <a:latin typeface="Arial"/>
                <a:cs typeface="Arial"/>
              </a:rPr>
              <a:t>certainly </a:t>
            </a:r>
            <a:r>
              <a:rPr sz="900" dirty="0">
                <a:latin typeface="Arial"/>
                <a:cs typeface="Arial"/>
              </a:rPr>
              <a:t>when</a:t>
            </a:r>
            <a:r>
              <a:rPr sz="900" spc="-40" dirty="0">
                <a:latin typeface="Arial"/>
                <a:cs typeface="Arial"/>
              </a:rPr>
              <a:t> </a:t>
            </a:r>
            <a:r>
              <a:rPr sz="900" dirty="0">
                <a:latin typeface="Arial"/>
                <a:cs typeface="Arial"/>
              </a:rPr>
              <a:t>dealing</a:t>
            </a:r>
            <a:r>
              <a:rPr sz="900" spc="-25" dirty="0">
                <a:latin typeface="Arial"/>
                <a:cs typeface="Arial"/>
              </a:rPr>
              <a:t> </a:t>
            </a:r>
            <a:r>
              <a:rPr sz="900" dirty="0">
                <a:latin typeface="Arial"/>
                <a:cs typeface="Arial"/>
              </a:rPr>
              <a:t>with</a:t>
            </a:r>
            <a:r>
              <a:rPr sz="900" spc="-20" dirty="0">
                <a:latin typeface="Arial"/>
                <a:cs typeface="Arial"/>
              </a:rPr>
              <a:t> </a:t>
            </a:r>
            <a:r>
              <a:rPr sz="900" spc="-10" dirty="0">
                <a:latin typeface="Arial"/>
                <a:cs typeface="Arial"/>
              </a:rPr>
              <a:t>sensitive</a:t>
            </a:r>
            <a:r>
              <a:rPr sz="900" spc="-25" dirty="0">
                <a:latin typeface="Arial"/>
                <a:cs typeface="Arial"/>
              </a:rPr>
              <a:t> </a:t>
            </a:r>
            <a:r>
              <a:rPr sz="900" dirty="0">
                <a:latin typeface="Arial"/>
                <a:cs typeface="Arial"/>
              </a:rPr>
              <a:t>information</a:t>
            </a:r>
            <a:r>
              <a:rPr sz="900" spc="-20" dirty="0">
                <a:latin typeface="Arial"/>
                <a:cs typeface="Arial"/>
              </a:rPr>
              <a:t> </a:t>
            </a:r>
            <a:r>
              <a:rPr sz="900" i="1" spc="350" dirty="0">
                <a:latin typeface="Menlo"/>
                <a:cs typeface="Menlo"/>
              </a:rPr>
              <a:t>⇒</a:t>
            </a:r>
            <a:r>
              <a:rPr sz="900" i="1" spc="-295" dirty="0">
                <a:latin typeface="Menlo"/>
                <a:cs typeface="Menlo"/>
              </a:rPr>
              <a:t> </a:t>
            </a:r>
            <a:r>
              <a:rPr sz="900" dirty="0">
                <a:latin typeface="Arial"/>
                <a:cs typeface="Arial"/>
              </a:rPr>
              <a:t>we</a:t>
            </a:r>
            <a:r>
              <a:rPr sz="900" spc="-20" dirty="0">
                <a:latin typeface="Arial"/>
                <a:cs typeface="Arial"/>
              </a:rPr>
              <a:t> </a:t>
            </a:r>
            <a:r>
              <a:rPr sz="900" dirty="0">
                <a:latin typeface="Arial"/>
                <a:cs typeface="Arial"/>
              </a:rPr>
              <a:t>now</a:t>
            </a:r>
            <a:r>
              <a:rPr sz="900" spc="-25" dirty="0">
                <a:latin typeface="Arial"/>
                <a:cs typeface="Arial"/>
              </a:rPr>
              <a:t> </a:t>
            </a:r>
            <a:r>
              <a:rPr sz="900" spc="-10" dirty="0">
                <a:latin typeface="Arial"/>
                <a:cs typeface="Arial"/>
              </a:rPr>
              <a:t>have</a:t>
            </a:r>
            <a:r>
              <a:rPr sz="900" spc="-20" dirty="0">
                <a:latin typeface="Arial"/>
                <a:cs typeface="Arial"/>
              </a:rPr>
              <a:t> </a:t>
            </a:r>
            <a:r>
              <a:rPr sz="900" dirty="0">
                <a:latin typeface="Arial"/>
                <a:cs typeface="Arial"/>
              </a:rPr>
              <a:t>a</a:t>
            </a:r>
            <a:r>
              <a:rPr sz="900" spc="-25" dirty="0">
                <a:latin typeface="Arial"/>
                <a:cs typeface="Arial"/>
              </a:rPr>
              <a:t> </a:t>
            </a:r>
            <a:r>
              <a:rPr sz="900" spc="-10" dirty="0">
                <a:solidFill>
                  <a:srgbClr val="C80000"/>
                </a:solidFill>
                <a:latin typeface="Arial"/>
                <a:cs typeface="Arial"/>
              </a:rPr>
              <a:t>routing problem</a:t>
            </a:r>
            <a:r>
              <a:rPr sz="900" spc="-10" dirty="0">
                <a:latin typeface="Arial"/>
                <a:cs typeface="Arial"/>
              </a:rPr>
              <a:t>.</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100266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Secure</a:t>
            </a:r>
            <a:r>
              <a:rPr sz="500" spc="5" dirty="0">
                <a:latin typeface="Arial"/>
                <a:cs typeface="Arial"/>
                <a:hlinkClick r:id="rId4" action="ppaction://hlinksldjump"/>
              </a:rPr>
              <a:t> </a:t>
            </a:r>
            <a:r>
              <a:rPr sz="500" spc="-10" dirty="0">
                <a:latin typeface="Arial"/>
                <a:cs typeface="Arial"/>
                <a:hlinkClick r:id="rId4" action="ppaction://hlinksldjump"/>
              </a:rPr>
              <a:t>publish-</a:t>
            </a:r>
            <a:r>
              <a:rPr sz="500" dirty="0">
                <a:latin typeface="Arial"/>
                <a:cs typeface="Arial"/>
                <a:hlinkClick r:id="rId4" action="ppaction://hlinksldjump"/>
              </a:rPr>
              <a:t>subscribe</a:t>
            </a:r>
            <a:r>
              <a:rPr sz="500" spc="5" dirty="0">
                <a:latin typeface="Arial"/>
                <a:cs typeface="Arial"/>
                <a:hlinkClick r:id="rId4" action="ppaction://hlinksldjump"/>
              </a:rPr>
              <a:t> </a:t>
            </a:r>
            <a:r>
              <a:rPr sz="500" spc="-10" dirty="0">
                <a:latin typeface="Arial"/>
                <a:cs typeface="Arial"/>
                <a:hlinkClick r:id="rId4" action="ppaction://hlinksldjump"/>
              </a:rPr>
              <a:t>solutions</a:t>
            </a:r>
            <a:endParaRPr sz="500">
              <a:latin typeface="Arial"/>
              <a:cs typeface="Arial"/>
            </a:endParaRPr>
          </a:p>
        </p:txBody>
      </p:sp>
    </p:spTree>
    <p:extLst>
      <p:ext uri="{BB962C8B-B14F-4D97-AF65-F5344CB8AC3E}">
        <p14:creationId xmlns:p14="http://schemas.microsoft.com/office/powerpoint/2010/main" val="3014840131"/>
      </p:ext>
    </p:extLst>
  </p:cSld>
  <p:clrMapOvr>
    <a:masterClrMapping/>
  </p:clrMapOvr>
  <p:transition>
    <p:fade/>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742690" algn="l"/>
              </a:tabLst>
            </a:pPr>
            <a:r>
              <a:rPr sz="500" spc="-10" dirty="0">
                <a:latin typeface="Arial"/>
                <a:cs typeface="Arial"/>
                <a:hlinkClick r:id="rId2" action="ppaction://hlinksldjump"/>
              </a:rPr>
              <a:t>Coordination</a:t>
            </a:r>
            <a:r>
              <a:rPr sz="500" dirty="0">
                <a:latin typeface="Arial"/>
                <a:cs typeface="Arial"/>
              </a:rPr>
              <a:t>	</a:t>
            </a:r>
            <a:r>
              <a:rPr sz="500" dirty="0">
                <a:solidFill>
                  <a:srgbClr val="FFFFFF"/>
                </a:solidFill>
                <a:latin typeface="Arial"/>
                <a:cs typeface="Arial"/>
                <a:hlinkClick r:id="rId3" action="ppaction://hlinksldjump"/>
              </a:rPr>
              <a:t>Distributed</a:t>
            </a:r>
            <a:r>
              <a:rPr sz="500" spc="-20"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event</a:t>
            </a:r>
            <a:r>
              <a:rPr sz="500" spc="-1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matching</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Secure</a:t>
            </a:r>
            <a:r>
              <a:rPr spc="-40" dirty="0"/>
              <a:t> </a:t>
            </a:r>
            <a:r>
              <a:rPr spc="-10" dirty="0"/>
              <a:t>publish-subscribe</a:t>
            </a:r>
          </a:p>
        </p:txBody>
      </p:sp>
      <p:sp>
        <p:nvSpPr>
          <p:cNvPr id="4" name="object 4"/>
          <p:cNvSpPr txBox="1"/>
          <p:nvPr/>
        </p:nvSpPr>
        <p:spPr>
          <a:xfrm>
            <a:off x="309194" y="514774"/>
            <a:ext cx="3978910" cy="2465070"/>
          </a:xfrm>
          <a:prstGeom prst="rect">
            <a:avLst/>
          </a:prstGeom>
        </p:spPr>
        <p:txBody>
          <a:bodyPr vert="horz" wrap="square" lIns="0" tIns="12065" rIns="0" bIns="0" rtlCol="0">
            <a:spAutoFit/>
          </a:bodyPr>
          <a:lstStyle/>
          <a:p>
            <a:pPr marL="44450" algn="just">
              <a:lnSpc>
                <a:spcPct val="100000"/>
              </a:lnSpc>
              <a:spcBef>
                <a:spcPts val="95"/>
              </a:spcBef>
            </a:pPr>
            <a:r>
              <a:rPr sz="1000" dirty="0">
                <a:solidFill>
                  <a:srgbClr val="C80000"/>
                </a:solidFill>
                <a:latin typeface="Arial"/>
                <a:cs typeface="Arial"/>
              </a:rPr>
              <a:t>We</a:t>
            </a:r>
            <a:r>
              <a:rPr sz="1000" spc="-50" dirty="0">
                <a:solidFill>
                  <a:srgbClr val="C80000"/>
                </a:solidFill>
                <a:latin typeface="Arial"/>
                <a:cs typeface="Arial"/>
              </a:rPr>
              <a:t> </a:t>
            </a:r>
            <a:r>
              <a:rPr sz="1000" dirty="0">
                <a:solidFill>
                  <a:srgbClr val="C80000"/>
                </a:solidFill>
                <a:latin typeface="Arial"/>
                <a:cs typeface="Arial"/>
              </a:rPr>
              <a:t>are</a:t>
            </a:r>
            <a:r>
              <a:rPr sz="1000" spc="-40" dirty="0">
                <a:solidFill>
                  <a:srgbClr val="C80000"/>
                </a:solidFill>
                <a:latin typeface="Arial"/>
                <a:cs typeface="Arial"/>
              </a:rPr>
              <a:t> </a:t>
            </a:r>
            <a:r>
              <a:rPr sz="1000" dirty="0">
                <a:solidFill>
                  <a:srgbClr val="C80000"/>
                </a:solidFill>
                <a:latin typeface="Arial"/>
                <a:cs typeface="Arial"/>
              </a:rPr>
              <a:t>facing</a:t>
            </a:r>
            <a:r>
              <a:rPr sz="1000" spc="-40" dirty="0">
                <a:solidFill>
                  <a:srgbClr val="C80000"/>
                </a:solidFill>
                <a:latin typeface="Arial"/>
                <a:cs typeface="Arial"/>
              </a:rPr>
              <a:t> </a:t>
            </a:r>
            <a:r>
              <a:rPr sz="1000" dirty="0">
                <a:solidFill>
                  <a:srgbClr val="C80000"/>
                </a:solidFill>
                <a:latin typeface="Arial"/>
                <a:cs typeface="Arial"/>
              </a:rPr>
              <a:t>nasty</a:t>
            </a:r>
            <a:r>
              <a:rPr sz="1000" spc="-40" dirty="0">
                <a:solidFill>
                  <a:srgbClr val="C80000"/>
                </a:solidFill>
                <a:latin typeface="Arial"/>
                <a:cs typeface="Arial"/>
              </a:rPr>
              <a:t> </a:t>
            </a:r>
            <a:r>
              <a:rPr sz="1000" spc="-10" dirty="0">
                <a:solidFill>
                  <a:srgbClr val="C80000"/>
                </a:solidFill>
                <a:latin typeface="Arial"/>
                <a:cs typeface="Arial"/>
              </a:rPr>
              <a:t>dilemma’s</a:t>
            </a:r>
            <a:endParaRPr sz="1000">
              <a:latin typeface="Arial"/>
              <a:cs typeface="Arial"/>
            </a:endParaRPr>
          </a:p>
          <a:p>
            <a:pPr marL="303530" marR="30480" indent="-120650" algn="just">
              <a:lnSpc>
                <a:spcPct val="111600"/>
              </a:lnSpc>
              <a:spcBef>
                <a:spcPts val="580"/>
              </a:spcBef>
              <a:buClr>
                <a:srgbClr val="3333B2"/>
              </a:buClr>
              <a:buFont typeface="Menlo"/>
              <a:buChar char="•"/>
              <a:tabLst>
                <a:tab pos="304165" algn="l"/>
              </a:tabLst>
            </a:pPr>
            <a:r>
              <a:rPr sz="900" spc="-20" dirty="0">
                <a:solidFill>
                  <a:srgbClr val="C80000"/>
                </a:solidFill>
                <a:latin typeface="Arial"/>
                <a:cs typeface="Arial"/>
              </a:rPr>
              <a:t>Referential</a:t>
            </a:r>
            <a:r>
              <a:rPr sz="900" spc="-30" dirty="0">
                <a:solidFill>
                  <a:srgbClr val="C80000"/>
                </a:solidFill>
                <a:latin typeface="Arial"/>
                <a:cs typeface="Arial"/>
              </a:rPr>
              <a:t> </a:t>
            </a:r>
            <a:r>
              <a:rPr sz="900" spc="-10" dirty="0">
                <a:solidFill>
                  <a:srgbClr val="C80000"/>
                </a:solidFill>
                <a:latin typeface="Arial"/>
                <a:cs typeface="Arial"/>
              </a:rPr>
              <a:t>decoupling</a:t>
            </a:r>
            <a:r>
              <a:rPr sz="900" spc="-10" dirty="0">
                <a:latin typeface="Arial"/>
                <a:cs typeface="Arial"/>
              </a:rPr>
              <a:t>:</a:t>
            </a:r>
            <a:r>
              <a:rPr sz="900" spc="30" dirty="0">
                <a:latin typeface="Arial"/>
                <a:cs typeface="Arial"/>
              </a:rPr>
              <a:t> </a:t>
            </a:r>
            <a:r>
              <a:rPr sz="900" spc="-10" dirty="0">
                <a:latin typeface="Arial"/>
                <a:cs typeface="Arial"/>
              </a:rPr>
              <a:t>messages</a:t>
            </a:r>
            <a:r>
              <a:rPr sz="900" spc="-25" dirty="0">
                <a:latin typeface="Arial"/>
                <a:cs typeface="Arial"/>
              </a:rPr>
              <a:t> </a:t>
            </a:r>
            <a:r>
              <a:rPr sz="900" spc="-10" dirty="0">
                <a:latin typeface="Arial"/>
                <a:cs typeface="Arial"/>
              </a:rPr>
              <a:t>should</a:t>
            </a:r>
            <a:r>
              <a:rPr sz="900" spc="-25" dirty="0">
                <a:latin typeface="Arial"/>
                <a:cs typeface="Arial"/>
              </a:rPr>
              <a:t> </a:t>
            </a:r>
            <a:r>
              <a:rPr sz="900" dirty="0">
                <a:latin typeface="Arial"/>
                <a:cs typeface="Arial"/>
              </a:rPr>
              <a:t>be</a:t>
            </a:r>
            <a:r>
              <a:rPr sz="900" spc="-25" dirty="0">
                <a:latin typeface="Arial"/>
                <a:cs typeface="Arial"/>
              </a:rPr>
              <a:t> </a:t>
            </a:r>
            <a:r>
              <a:rPr sz="900" spc="-10" dirty="0">
                <a:latin typeface="Arial"/>
                <a:cs typeface="Arial"/>
              </a:rPr>
              <a:t>able</a:t>
            </a:r>
            <a:r>
              <a:rPr sz="900" spc="-25" dirty="0">
                <a:latin typeface="Arial"/>
                <a:cs typeface="Arial"/>
              </a:rPr>
              <a:t> </a:t>
            </a:r>
            <a:r>
              <a:rPr sz="900" dirty="0">
                <a:latin typeface="Arial"/>
                <a:cs typeface="Arial"/>
              </a:rPr>
              <a:t>to</a:t>
            </a:r>
            <a:r>
              <a:rPr sz="900" spc="-25" dirty="0">
                <a:latin typeface="Arial"/>
                <a:cs typeface="Arial"/>
              </a:rPr>
              <a:t> </a:t>
            </a:r>
            <a:r>
              <a:rPr sz="900" spc="-10" dirty="0">
                <a:latin typeface="Arial"/>
                <a:cs typeface="Arial"/>
              </a:rPr>
              <a:t>flow</a:t>
            </a:r>
            <a:r>
              <a:rPr sz="900" spc="-25" dirty="0">
                <a:latin typeface="Arial"/>
                <a:cs typeface="Arial"/>
              </a:rPr>
              <a:t> </a:t>
            </a:r>
            <a:r>
              <a:rPr sz="900" dirty="0">
                <a:latin typeface="Arial"/>
                <a:cs typeface="Arial"/>
              </a:rPr>
              <a:t>from</a:t>
            </a:r>
            <a:r>
              <a:rPr sz="900" spc="-25" dirty="0">
                <a:latin typeface="Arial"/>
                <a:cs typeface="Arial"/>
              </a:rPr>
              <a:t> </a:t>
            </a:r>
            <a:r>
              <a:rPr sz="900" dirty="0">
                <a:latin typeface="Arial"/>
                <a:cs typeface="Arial"/>
              </a:rPr>
              <a:t>a</a:t>
            </a:r>
            <a:r>
              <a:rPr sz="900" spc="-25" dirty="0">
                <a:latin typeface="Arial"/>
                <a:cs typeface="Arial"/>
              </a:rPr>
              <a:t> </a:t>
            </a:r>
            <a:r>
              <a:rPr sz="900" spc="-10" dirty="0">
                <a:latin typeface="Arial"/>
                <a:cs typeface="Arial"/>
              </a:rPr>
              <a:t>publisher </a:t>
            </a:r>
            <a:r>
              <a:rPr sz="900" dirty="0">
                <a:latin typeface="Arial"/>
                <a:cs typeface="Arial"/>
              </a:rPr>
              <a:t>to</a:t>
            </a:r>
            <a:r>
              <a:rPr sz="900" spc="-65" dirty="0">
                <a:latin typeface="Arial"/>
                <a:cs typeface="Arial"/>
              </a:rPr>
              <a:t> </a:t>
            </a:r>
            <a:r>
              <a:rPr sz="900" dirty="0">
                <a:latin typeface="Arial"/>
                <a:cs typeface="Arial"/>
              </a:rPr>
              <a:t>subscribers</a:t>
            </a:r>
            <a:r>
              <a:rPr sz="900" spc="-60" dirty="0">
                <a:latin typeface="Arial"/>
                <a:cs typeface="Arial"/>
              </a:rPr>
              <a:t> </a:t>
            </a:r>
            <a:r>
              <a:rPr sz="900" dirty="0">
                <a:latin typeface="Arial"/>
                <a:cs typeface="Arial"/>
              </a:rPr>
              <a:t>while</a:t>
            </a:r>
            <a:r>
              <a:rPr sz="900" spc="-55" dirty="0">
                <a:latin typeface="Arial"/>
                <a:cs typeface="Arial"/>
              </a:rPr>
              <a:t> </a:t>
            </a:r>
            <a:r>
              <a:rPr sz="900" spc="-10" dirty="0">
                <a:latin typeface="Arial"/>
                <a:cs typeface="Arial"/>
              </a:rPr>
              <a:t>guaranteeing </a:t>
            </a:r>
            <a:r>
              <a:rPr sz="900" dirty="0">
                <a:latin typeface="Arial"/>
                <a:cs typeface="Arial"/>
              </a:rPr>
              <a:t>mutual</a:t>
            </a:r>
            <a:r>
              <a:rPr sz="900" spc="-5" dirty="0">
                <a:latin typeface="Arial"/>
                <a:cs typeface="Arial"/>
              </a:rPr>
              <a:t> </a:t>
            </a:r>
            <a:r>
              <a:rPr sz="900" dirty="0">
                <a:latin typeface="Arial"/>
                <a:cs typeface="Arial"/>
              </a:rPr>
              <a:t>anonymity</a:t>
            </a:r>
            <a:r>
              <a:rPr sz="900" spc="-5" dirty="0">
                <a:latin typeface="Arial"/>
                <a:cs typeface="Arial"/>
              </a:rPr>
              <a:t> </a:t>
            </a:r>
            <a:r>
              <a:rPr sz="900" i="1" spc="185" dirty="0">
                <a:latin typeface="Menlo"/>
                <a:cs typeface="Menlo"/>
              </a:rPr>
              <a:t>⇒</a:t>
            </a:r>
            <a:r>
              <a:rPr sz="900" i="1" spc="-135" dirty="0">
                <a:latin typeface="Menlo"/>
                <a:cs typeface="Menlo"/>
              </a:rPr>
              <a:t> </a:t>
            </a:r>
            <a:r>
              <a:rPr sz="900" dirty="0">
                <a:latin typeface="Arial"/>
                <a:cs typeface="Arial"/>
              </a:rPr>
              <a:t>we</a:t>
            </a:r>
            <a:r>
              <a:rPr sz="900" spc="-10" dirty="0">
                <a:latin typeface="Arial"/>
                <a:cs typeface="Arial"/>
              </a:rPr>
              <a:t> </a:t>
            </a:r>
            <a:r>
              <a:rPr sz="900" dirty="0">
                <a:latin typeface="Arial"/>
                <a:cs typeface="Arial"/>
              </a:rPr>
              <a:t>cannot</a:t>
            </a:r>
            <a:r>
              <a:rPr sz="900" spc="-5" dirty="0">
                <a:latin typeface="Arial"/>
                <a:cs typeface="Arial"/>
              </a:rPr>
              <a:t> </a:t>
            </a:r>
            <a:r>
              <a:rPr sz="900" dirty="0">
                <a:latin typeface="Arial"/>
                <a:cs typeface="Arial"/>
              </a:rPr>
              <a:t>set</a:t>
            </a:r>
            <a:r>
              <a:rPr sz="900" spc="-5" dirty="0">
                <a:latin typeface="Arial"/>
                <a:cs typeface="Arial"/>
              </a:rPr>
              <a:t> </a:t>
            </a:r>
            <a:r>
              <a:rPr sz="900" spc="-25" dirty="0">
                <a:latin typeface="Arial"/>
                <a:cs typeface="Arial"/>
              </a:rPr>
              <a:t>up </a:t>
            </a:r>
            <a:r>
              <a:rPr sz="900" dirty="0">
                <a:latin typeface="Arial"/>
                <a:cs typeface="Arial"/>
              </a:rPr>
              <a:t>a</a:t>
            </a:r>
            <a:r>
              <a:rPr sz="900" spc="-25" dirty="0">
                <a:latin typeface="Arial"/>
                <a:cs typeface="Arial"/>
              </a:rPr>
              <a:t> </a:t>
            </a:r>
            <a:r>
              <a:rPr sz="900" dirty="0">
                <a:latin typeface="Arial"/>
                <a:cs typeface="Arial"/>
              </a:rPr>
              <a:t>secure</a:t>
            </a:r>
            <a:r>
              <a:rPr sz="900" spc="-20" dirty="0">
                <a:latin typeface="Arial"/>
                <a:cs typeface="Arial"/>
              </a:rPr>
              <a:t> </a:t>
            </a:r>
            <a:r>
              <a:rPr sz="900" spc="-10" dirty="0">
                <a:latin typeface="Arial"/>
                <a:cs typeface="Arial"/>
              </a:rPr>
              <a:t>channel.</a:t>
            </a:r>
            <a:endParaRPr sz="900">
              <a:latin typeface="Arial"/>
              <a:cs typeface="Arial"/>
            </a:endParaRPr>
          </a:p>
          <a:p>
            <a:pPr marL="303530" indent="-120650" algn="just">
              <a:lnSpc>
                <a:spcPct val="100000"/>
              </a:lnSpc>
              <a:spcBef>
                <a:spcPts val="525"/>
              </a:spcBef>
              <a:buClr>
                <a:srgbClr val="3333B2"/>
              </a:buClr>
              <a:buFont typeface="Menlo"/>
              <a:buChar char="•"/>
              <a:tabLst>
                <a:tab pos="304165" algn="l"/>
              </a:tabLst>
            </a:pPr>
            <a:r>
              <a:rPr sz="900" dirty="0">
                <a:latin typeface="Arial"/>
                <a:cs typeface="Arial"/>
              </a:rPr>
              <a:t>Not</a:t>
            </a:r>
            <a:r>
              <a:rPr sz="900" spc="-35" dirty="0">
                <a:latin typeface="Arial"/>
                <a:cs typeface="Arial"/>
              </a:rPr>
              <a:t> </a:t>
            </a:r>
            <a:r>
              <a:rPr sz="900" dirty="0">
                <a:latin typeface="Arial"/>
                <a:cs typeface="Arial"/>
              </a:rPr>
              <a:t>knowing</a:t>
            </a:r>
            <a:r>
              <a:rPr sz="900" spc="-35" dirty="0">
                <a:latin typeface="Arial"/>
                <a:cs typeface="Arial"/>
              </a:rPr>
              <a:t> </a:t>
            </a:r>
            <a:r>
              <a:rPr sz="900" dirty="0">
                <a:latin typeface="Arial"/>
                <a:cs typeface="Arial"/>
              </a:rPr>
              <a:t>where</a:t>
            </a:r>
            <a:r>
              <a:rPr sz="900" spc="-35" dirty="0">
                <a:latin typeface="Arial"/>
                <a:cs typeface="Arial"/>
              </a:rPr>
              <a:t> </a:t>
            </a:r>
            <a:r>
              <a:rPr sz="900" dirty="0">
                <a:latin typeface="Arial"/>
                <a:cs typeface="Arial"/>
              </a:rPr>
              <a:t>messages</a:t>
            </a:r>
            <a:r>
              <a:rPr sz="900" spc="-35" dirty="0">
                <a:latin typeface="Arial"/>
                <a:cs typeface="Arial"/>
              </a:rPr>
              <a:t> </a:t>
            </a:r>
            <a:r>
              <a:rPr sz="900" dirty="0">
                <a:latin typeface="Arial"/>
                <a:cs typeface="Arial"/>
              </a:rPr>
              <a:t>come</a:t>
            </a:r>
            <a:r>
              <a:rPr sz="900" spc="-35" dirty="0">
                <a:latin typeface="Arial"/>
                <a:cs typeface="Arial"/>
              </a:rPr>
              <a:t> </a:t>
            </a:r>
            <a:r>
              <a:rPr sz="900" dirty="0">
                <a:latin typeface="Arial"/>
                <a:cs typeface="Arial"/>
              </a:rPr>
              <a:t>from</a:t>
            </a:r>
            <a:r>
              <a:rPr sz="900" spc="-30" dirty="0">
                <a:latin typeface="Arial"/>
                <a:cs typeface="Arial"/>
              </a:rPr>
              <a:t> </a:t>
            </a:r>
            <a:r>
              <a:rPr sz="900" dirty="0">
                <a:latin typeface="Arial"/>
                <a:cs typeface="Arial"/>
              </a:rPr>
              <a:t>imposes</a:t>
            </a:r>
            <a:r>
              <a:rPr sz="900" spc="-35" dirty="0">
                <a:latin typeface="Arial"/>
                <a:cs typeface="Arial"/>
              </a:rPr>
              <a:t> </a:t>
            </a:r>
            <a:r>
              <a:rPr sz="900" dirty="0">
                <a:solidFill>
                  <a:srgbClr val="C80000"/>
                </a:solidFill>
                <a:latin typeface="Arial"/>
                <a:cs typeface="Arial"/>
              </a:rPr>
              <a:t>integrity</a:t>
            </a:r>
            <a:r>
              <a:rPr sz="900" spc="-35" dirty="0">
                <a:solidFill>
                  <a:srgbClr val="C80000"/>
                </a:solidFill>
                <a:latin typeface="Arial"/>
                <a:cs typeface="Arial"/>
              </a:rPr>
              <a:t> </a:t>
            </a:r>
            <a:r>
              <a:rPr sz="900" spc="-10" dirty="0">
                <a:solidFill>
                  <a:srgbClr val="C80000"/>
                </a:solidFill>
                <a:latin typeface="Arial"/>
                <a:cs typeface="Arial"/>
              </a:rPr>
              <a:t>problems</a:t>
            </a:r>
            <a:r>
              <a:rPr sz="900" spc="-10" dirty="0">
                <a:latin typeface="Arial"/>
                <a:cs typeface="Arial"/>
              </a:rPr>
              <a:t>.</a:t>
            </a:r>
            <a:endParaRPr sz="900">
              <a:latin typeface="Arial"/>
              <a:cs typeface="Arial"/>
            </a:endParaRPr>
          </a:p>
          <a:p>
            <a:pPr marL="299720" marR="30480" indent="-116205">
              <a:lnSpc>
                <a:spcPct val="111600"/>
              </a:lnSpc>
              <a:spcBef>
                <a:spcPts val="400"/>
              </a:spcBef>
              <a:buClr>
                <a:srgbClr val="3333B2"/>
              </a:buClr>
              <a:buFont typeface="Menlo"/>
              <a:buChar char="•"/>
              <a:tabLst>
                <a:tab pos="300355" algn="l"/>
              </a:tabLst>
            </a:pPr>
            <a:r>
              <a:rPr sz="900" dirty="0">
                <a:latin typeface="Arial"/>
                <a:cs typeface="Arial"/>
              </a:rPr>
              <a:t>Assuming</a:t>
            </a:r>
            <a:r>
              <a:rPr sz="900" spc="-30" dirty="0">
                <a:latin typeface="Arial"/>
                <a:cs typeface="Arial"/>
              </a:rPr>
              <a:t> </a:t>
            </a:r>
            <a:r>
              <a:rPr sz="900" dirty="0">
                <a:latin typeface="Arial"/>
                <a:cs typeface="Arial"/>
              </a:rPr>
              <a:t>a</a:t>
            </a:r>
            <a:r>
              <a:rPr sz="900" spc="-30" dirty="0">
                <a:latin typeface="Arial"/>
                <a:cs typeface="Arial"/>
              </a:rPr>
              <a:t> </a:t>
            </a:r>
            <a:r>
              <a:rPr sz="900" dirty="0">
                <a:solidFill>
                  <a:srgbClr val="3333B2"/>
                </a:solidFill>
                <a:latin typeface="Arial"/>
                <a:cs typeface="Arial"/>
              </a:rPr>
              <a:t>trusted</a:t>
            </a:r>
            <a:r>
              <a:rPr sz="900" spc="-30" dirty="0">
                <a:solidFill>
                  <a:srgbClr val="3333B2"/>
                </a:solidFill>
                <a:latin typeface="Arial"/>
                <a:cs typeface="Arial"/>
              </a:rPr>
              <a:t> </a:t>
            </a:r>
            <a:r>
              <a:rPr sz="900" dirty="0">
                <a:solidFill>
                  <a:srgbClr val="3333B2"/>
                </a:solidFill>
                <a:latin typeface="Arial"/>
                <a:cs typeface="Arial"/>
              </a:rPr>
              <a:t>broker</a:t>
            </a:r>
            <a:r>
              <a:rPr sz="900" spc="-25" dirty="0">
                <a:solidFill>
                  <a:srgbClr val="3333B2"/>
                </a:solidFill>
                <a:latin typeface="Arial"/>
                <a:cs typeface="Arial"/>
              </a:rPr>
              <a:t> </a:t>
            </a:r>
            <a:r>
              <a:rPr sz="900" dirty="0">
                <a:latin typeface="Arial"/>
                <a:cs typeface="Arial"/>
              </a:rPr>
              <a:t>may</a:t>
            </a:r>
            <a:r>
              <a:rPr sz="900" spc="-30" dirty="0">
                <a:latin typeface="Arial"/>
                <a:cs typeface="Arial"/>
              </a:rPr>
              <a:t> </a:t>
            </a:r>
            <a:r>
              <a:rPr sz="900" dirty="0">
                <a:latin typeface="Arial"/>
                <a:cs typeface="Arial"/>
              </a:rPr>
              <a:t>easily</a:t>
            </a:r>
            <a:r>
              <a:rPr sz="900" spc="-30" dirty="0">
                <a:latin typeface="Arial"/>
                <a:cs typeface="Arial"/>
              </a:rPr>
              <a:t> </a:t>
            </a:r>
            <a:r>
              <a:rPr sz="900" dirty="0">
                <a:latin typeface="Arial"/>
                <a:cs typeface="Arial"/>
              </a:rPr>
              <a:t>be</a:t>
            </a:r>
            <a:r>
              <a:rPr sz="900" spc="-30" dirty="0">
                <a:latin typeface="Arial"/>
                <a:cs typeface="Arial"/>
              </a:rPr>
              <a:t> </a:t>
            </a:r>
            <a:r>
              <a:rPr sz="900" dirty="0">
                <a:latin typeface="Arial"/>
                <a:cs typeface="Arial"/>
              </a:rPr>
              <a:t>practically</a:t>
            </a:r>
            <a:r>
              <a:rPr sz="900" spc="-25" dirty="0">
                <a:latin typeface="Arial"/>
                <a:cs typeface="Arial"/>
              </a:rPr>
              <a:t> </a:t>
            </a:r>
            <a:r>
              <a:rPr sz="900" spc="-10" dirty="0">
                <a:latin typeface="Arial"/>
                <a:cs typeface="Arial"/>
              </a:rPr>
              <a:t>impossible,</a:t>
            </a:r>
            <a:r>
              <a:rPr sz="900" spc="-30" dirty="0">
                <a:latin typeface="Arial"/>
                <a:cs typeface="Arial"/>
              </a:rPr>
              <a:t> </a:t>
            </a:r>
            <a:r>
              <a:rPr sz="900" spc="-10" dirty="0">
                <a:latin typeface="Arial"/>
                <a:cs typeface="Arial"/>
              </a:rPr>
              <a:t>certainly </a:t>
            </a:r>
            <a:r>
              <a:rPr sz="900" dirty="0">
                <a:latin typeface="Arial"/>
                <a:cs typeface="Arial"/>
              </a:rPr>
              <a:t>when</a:t>
            </a:r>
            <a:r>
              <a:rPr sz="900" spc="-40" dirty="0">
                <a:latin typeface="Arial"/>
                <a:cs typeface="Arial"/>
              </a:rPr>
              <a:t> </a:t>
            </a:r>
            <a:r>
              <a:rPr sz="900" dirty="0">
                <a:latin typeface="Arial"/>
                <a:cs typeface="Arial"/>
              </a:rPr>
              <a:t>dealing</a:t>
            </a:r>
            <a:r>
              <a:rPr sz="900" spc="-25" dirty="0">
                <a:latin typeface="Arial"/>
                <a:cs typeface="Arial"/>
              </a:rPr>
              <a:t> </a:t>
            </a:r>
            <a:r>
              <a:rPr sz="900" dirty="0">
                <a:latin typeface="Arial"/>
                <a:cs typeface="Arial"/>
              </a:rPr>
              <a:t>with</a:t>
            </a:r>
            <a:r>
              <a:rPr sz="900" spc="-20" dirty="0">
                <a:latin typeface="Arial"/>
                <a:cs typeface="Arial"/>
              </a:rPr>
              <a:t> </a:t>
            </a:r>
            <a:r>
              <a:rPr sz="900" spc="-10" dirty="0">
                <a:latin typeface="Arial"/>
                <a:cs typeface="Arial"/>
              </a:rPr>
              <a:t>sensitive</a:t>
            </a:r>
            <a:r>
              <a:rPr sz="900" spc="-25" dirty="0">
                <a:latin typeface="Arial"/>
                <a:cs typeface="Arial"/>
              </a:rPr>
              <a:t> </a:t>
            </a:r>
            <a:r>
              <a:rPr sz="900" dirty="0">
                <a:latin typeface="Arial"/>
                <a:cs typeface="Arial"/>
              </a:rPr>
              <a:t>information</a:t>
            </a:r>
            <a:r>
              <a:rPr sz="900" spc="-20" dirty="0">
                <a:latin typeface="Arial"/>
                <a:cs typeface="Arial"/>
              </a:rPr>
              <a:t> </a:t>
            </a:r>
            <a:r>
              <a:rPr sz="900" i="1" spc="350" dirty="0">
                <a:latin typeface="Menlo"/>
                <a:cs typeface="Menlo"/>
              </a:rPr>
              <a:t>⇒</a:t>
            </a:r>
            <a:r>
              <a:rPr sz="900" i="1" spc="-295" dirty="0">
                <a:latin typeface="Menlo"/>
                <a:cs typeface="Menlo"/>
              </a:rPr>
              <a:t> </a:t>
            </a:r>
            <a:r>
              <a:rPr sz="900" dirty="0">
                <a:latin typeface="Arial"/>
                <a:cs typeface="Arial"/>
              </a:rPr>
              <a:t>we</a:t>
            </a:r>
            <a:r>
              <a:rPr sz="900" spc="-20" dirty="0">
                <a:latin typeface="Arial"/>
                <a:cs typeface="Arial"/>
              </a:rPr>
              <a:t> </a:t>
            </a:r>
            <a:r>
              <a:rPr sz="900" dirty="0">
                <a:latin typeface="Arial"/>
                <a:cs typeface="Arial"/>
              </a:rPr>
              <a:t>now</a:t>
            </a:r>
            <a:r>
              <a:rPr sz="900" spc="-25" dirty="0">
                <a:latin typeface="Arial"/>
                <a:cs typeface="Arial"/>
              </a:rPr>
              <a:t> </a:t>
            </a:r>
            <a:r>
              <a:rPr sz="900" spc="-10" dirty="0">
                <a:latin typeface="Arial"/>
                <a:cs typeface="Arial"/>
              </a:rPr>
              <a:t>have</a:t>
            </a:r>
            <a:r>
              <a:rPr sz="900" spc="-20" dirty="0">
                <a:latin typeface="Arial"/>
                <a:cs typeface="Arial"/>
              </a:rPr>
              <a:t> </a:t>
            </a:r>
            <a:r>
              <a:rPr sz="900" dirty="0">
                <a:latin typeface="Arial"/>
                <a:cs typeface="Arial"/>
              </a:rPr>
              <a:t>a</a:t>
            </a:r>
            <a:r>
              <a:rPr sz="900" spc="-25" dirty="0">
                <a:latin typeface="Arial"/>
                <a:cs typeface="Arial"/>
              </a:rPr>
              <a:t> </a:t>
            </a:r>
            <a:r>
              <a:rPr sz="900" spc="-10" dirty="0">
                <a:solidFill>
                  <a:srgbClr val="C80000"/>
                </a:solidFill>
                <a:latin typeface="Arial"/>
                <a:cs typeface="Arial"/>
              </a:rPr>
              <a:t>routing problem</a:t>
            </a:r>
            <a:r>
              <a:rPr sz="900" spc="-10" dirty="0">
                <a:latin typeface="Arial"/>
                <a:cs typeface="Arial"/>
              </a:rPr>
              <a:t>.</a:t>
            </a:r>
            <a:endParaRPr sz="900">
              <a:latin typeface="Arial"/>
              <a:cs typeface="Arial"/>
            </a:endParaRPr>
          </a:p>
          <a:p>
            <a:pPr>
              <a:lnSpc>
                <a:spcPct val="100000"/>
              </a:lnSpc>
              <a:spcBef>
                <a:spcPts val="15"/>
              </a:spcBef>
              <a:buClr>
                <a:srgbClr val="3333B2"/>
              </a:buClr>
              <a:buFont typeface="Menlo"/>
              <a:buChar char="•"/>
            </a:pPr>
            <a:endParaRPr sz="1200">
              <a:latin typeface="Arial"/>
              <a:cs typeface="Arial"/>
            </a:endParaRPr>
          </a:p>
          <a:p>
            <a:pPr marL="50800">
              <a:lnSpc>
                <a:spcPct val="100000"/>
              </a:lnSpc>
              <a:spcBef>
                <a:spcPts val="5"/>
              </a:spcBef>
            </a:pPr>
            <a:r>
              <a:rPr sz="1000" spc="-10" dirty="0">
                <a:solidFill>
                  <a:srgbClr val="3333B2"/>
                </a:solidFill>
                <a:latin typeface="Arial"/>
                <a:cs typeface="Arial"/>
              </a:rPr>
              <a:t>Solution</a:t>
            </a:r>
            <a:endParaRPr sz="1000">
              <a:latin typeface="Arial"/>
              <a:cs typeface="Arial"/>
            </a:endParaRPr>
          </a:p>
          <a:p>
            <a:pPr marL="303530" marR="76835" indent="-120650">
              <a:lnSpc>
                <a:spcPct val="111600"/>
              </a:lnSpc>
              <a:spcBef>
                <a:spcPts val="375"/>
              </a:spcBef>
              <a:buClr>
                <a:srgbClr val="3333B2"/>
              </a:buClr>
              <a:buFont typeface="Menlo"/>
              <a:buChar char="•"/>
              <a:tabLst>
                <a:tab pos="300355" algn="l"/>
              </a:tabLst>
            </a:pPr>
            <a:r>
              <a:rPr sz="900" dirty="0">
                <a:latin typeface="Arial"/>
                <a:cs typeface="Arial"/>
              </a:rPr>
              <a:t>Allow</a:t>
            </a:r>
            <a:r>
              <a:rPr sz="900" spc="-35" dirty="0">
                <a:latin typeface="Arial"/>
                <a:cs typeface="Arial"/>
              </a:rPr>
              <a:t> </a:t>
            </a:r>
            <a:r>
              <a:rPr sz="900" dirty="0">
                <a:latin typeface="Arial"/>
                <a:cs typeface="Arial"/>
              </a:rPr>
              <a:t>for</a:t>
            </a:r>
            <a:r>
              <a:rPr sz="900" spc="-30" dirty="0">
                <a:latin typeface="Arial"/>
                <a:cs typeface="Arial"/>
              </a:rPr>
              <a:t> </a:t>
            </a:r>
            <a:r>
              <a:rPr sz="900" dirty="0">
                <a:latin typeface="Arial"/>
                <a:cs typeface="Arial"/>
              </a:rPr>
              <a:t>searching</a:t>
            </a:r>
            <a:r>
              <a:rPr sz="900" spc="-30" dirty="0">
                <a:latin typeface="Arial"/>
                <a:cs typeface="Arial"/>
              </a:rPr>
              <a:t> </a:t>
            </a:r>
            <a:r>
              <a:rPr sz="900" dirty="0">
                <a:latin typeface="Arial"/>
                <a:cs typeface="Arial"/>
              </a:rPr>
              <a:t>(and</a:t>
            </a:r>
            <a:r>
              <a:rPr sz="900" spc="-30" dirty="0">
                <a:latin typeface="Arial"/>
                <a:cs typeface="Arial"/>
              </a:rPr>
              <a:t> </a:t>
            </a:r>
            <a:r>
              <a:rPr sz="900" dirty="0">
                <a:latin typeface="Arial"/>
                <a:cs typeface="Arial"/>
              </a:rPr>
              <a:t>matching)</a:t>
            </a:r>
            <a:r>
              <a:rPr sz="900" spc="-30" dirty="0">
                <a:latin typeface="Arial"/>
                <a:cs typeface="Arial"/>
              </a:rPr>
              <a:t> </a:t>
            </a:r>
            <a:r>
              <a:rPr sz="900" dirty="0">
                <a:latin typeface="Arial"/>
                <a:cs typeface="Arial"/>
              </a:rPr>
              <a:t>on</a:t>
            </a:r>
            <a:r>
              <a:rPr sz="900" spc="-35" dirty="0">
                <a:latin typeface="Arial"/>
                <a:cs typeface="Arial"/>
              </a:rPr>
              <a:t> </a:t>
            </a:r>
            <a:r>
              <a:rPr sz="900" dirty="0">
                <a:latin typeface="Arial"/>
                <a:cs typeface="Arial"/>
              </a:rPr>
              <a:t>encrypted</a:t>
            </a:r>
            <a:r>
              <a:rPr sz="900" spc="-30" dirty="0">
                <a:latin typeface="Arial"/>
                <a:cs typeface="Arial"/>
              </a:rPr>
              <a:t> </a:t>
            </a:r>
            <a:r>
              <a:rPr sz="900" dirty="0">
                <a:latin typeface="Arial"/>
                <a:cs typeface="Arial"/>
              </a:rPr>
              <a:t>data,</a:t>
            </a:r>
            <a:r>
              <a:rPr sz="900" spc="-30" dirty="0">
                <a:latin typeface="Arial"/>
                <a:cs typeface="Arial"/>
              </a:rPr>
              <a:t> </a:t>
            </a:r>
            <a:r>
              <a:rPr sz="900" dirty="0">
                <a:latin typeface="Arial"/>
                <a:cs typeface="Arial"/>
              </a:rPr>
              <a:t>without</a:t>
            </a:r>
            <a:r>
              <a:rPr sz="900" spc="-30" dirty="0">
                <a:latin typeface="Arial"/>
                <a:cs typeface="Arial"/>
              </a:rPr>
              <a:t> </a:t>
            </a:r>
            <a:r>
              <a:rPr sz="900" dirty="0">
                <a:latin typeface="Arial"/>
                <a:cs typeface="Arial"/>
              </a:rPr>
              <a:t>the</a:t>
            </a:r>
            <a:r>
              <a:rPr sz="900" spc="-30" dirty="0">
                <a:latin typeface="Arial"/>
                <a:cs typeface="Arial"/>
              </a:rPr>
              <a:t> </a:t>
            </a:r>
            <a:r>
              <a:rPr sz="900" spc="-20" dirty="0">
                <a:latin typeface="Arial"/>
                <a:cs typeface="Arial"/>
              </a:rPr>
              <a:t>need </a:t>
            </a:r>
            <a:r>
              <a:rPr sz="900" dirty="0">
                <a:latin typeface="Arial"/>
                <a:cs typeface="Arial"/>
              </a:rPr>
              <a:t>for</a:t>
            </a:r>
            <a:r>
              <a:rPr sz="900" spc="-50" dirty="0">
                <a:latin typeface="Arial"/>
                <a:cs typeface="Arial"/>
              </a:rPr>
              <a:t> </a:t>
            </a:r>
            <a:r>
              <a:rPr sz="900" spc="-10" dirty="0">
                <a:latin typeface="Arial"/>
                <a:cs typeface="Arial"/>
              </a:rPr>
              <a:t>decryption.</a:t>
            </a:r>
            <a:endParaRPr sz="900">
              <a:latin typeface="Arial"/>
              <a:cs typeface="Arial"/>
            </a:endParaRPr>
          </a:p>
          <a:p>
            <a:pPr marL="303530" marR="268605" indent="-120650">
              <a:lnSpc>
                <a:spcPct val="111600"/>
              </a:lnSpc>
              <a:spcBef>
                <a:spcPts val="400"/>
              </a:spcBef>
              <a:buFont typeface="Menlo"/>
              <a:buChar char="•"/>
              <a:tabLst>
                <a:tab pos="304165" algn="l"/>
              </a:tabLst>
            </a:pPr>
            <a:r>
              <a:rPr sz="900" dirty="0">
                <a:solidFill>
                  <a:srgbClr val="3333B2"/>
                </a:solidFill>
                <a:latin typeface="Arial"/>
                <a:cs typeface="Arial"/>
              </a:rPr>
              <a:t>PEKS</a:t>
            </a:r>
            <a:r>
              <a:rPr sz="900" dirty="0">
                <a:latin typeface="Arial"/>
                <a:cs typeface="Arial"/>
              </a:rPr>
              <a:t>:</a:t>
            </a:r>
            <a:r>
              <a:rPr sz="900" spc="-25" dirty="0">
                <a:latin typeface="Arial"/>
                <a:cs typeface="Arial"/>
              </a:rPr>
              <a:t> </a:t>
            </a:r>
            <a:r>
              <a:rPr sz="900" spc="-10" dirty="0">
                <a:latin typeface="Arial"/>
                <a:cs typeface="Arial"/>
              </a:rPr>
              <a:t>accompany</a:t>
            </a:r>
            <a:r>
              <a:rPr sz="900" spc="-25" dirty="0">
                <a:latin typeface="Arial"/>
                <a:cs typeface="Arial"/>
              </a:rPr>
              <a:t> </a:t>
            </a:r>
            <a:r>
              <a:rPr sz="900" dirty="0">
                <a:latin typeface="Arial"/>
                <a:cs typeface="Arial"/>
              </a:rPr>
              <a:t>encryptyed</a:t>
            </a:r>
            <a:r>
              <a:rPr sz="900" spc="-20" dirty="0">
                <a:latin typeface="Arial"/>
                <a:cs typeface="Arial"/>
              </a:rPr>
              <a:t> </a:t>
            </a:r>
            <a:r>
              <a:rPr sz="900" dirty="0">
                <a:latin typeface="Arial"/>
                <a:cs typeface="Arial"/>
              </a:rPr>
              <a:t>messages</a:t>
            </a:r>
            <a:r>
              <a:rPr sz="900" spc="-25" dirty="0">
                <a:latin typeface="Arial"/>
                <a:cs typeface="Arial"/>
              </a:rPr>
              <a:t> </a:t>
            </a:r>
            <a:r>
              <a:rPr sz="900" dirty="0">
                <a:latin typeface="Arial"/>
                <a:cs typeface="Arial"/>
              </a:rPr>
              <a:t>with</a:t>
            </a:r>
            <a:r>
              <a:rPr sz="900" spc="-20" dirty="0">
                <a:latin typeface="Arial"/>
                <a:cs typeface="Arial"/>
              </a:rPr>
              <a:t> </a:t>
            </a:r>
            <a:r>
              <a:rPr sz="900" dirty="0">
                <a:latin typeface="Arial"/>
                <a:cs typeface="Arial"/>
              </a:rPr>
              <a:t>a</a:t>
            </a:r>
            <a:r>
              <a:rPr sz="900" spc="-25" dirty="0">
                <a:latin typeface="Arial"/>
                <a:cs typeface="Arial"/>
              </a:rPr>
              <a:t> </a:t>
            </a:r>
            <a:r>
              <a:rPr sz="900" dirty="0">
                <a:latin typeface="Arial"/>
                <a:cs typeface="Arial"/>
              </a:rPr>
              <a:t>collection</a:t>
            </a:r>
            <a:r>
              <a:rPr sz="900" spc="-25" dirty="0">
                <a:latin typeface="Arial"/>
                <a:cs typeface="Arial"/>
              </a:rPr>
              <a:t> </a:t>
            </a:r>
            <a:r>
              <a:rPr sz="900" dirty="0">
                <a:latin typeface="Arial"/>
                <a:cs typeface="Arial"/>
              </a:rPr>
              <a:t>of</a:t>
            </a:r>
            <a:r>
              <a:rPr sz="900" spc="-20" dirty="0">
                <a:latin typeface="Arial"/>
                <a:cs typeface="Arial"/>
              </a:rPr>
              <a:t> </a:t>
            </a:r>
            <a:r>
              <a:rPr sz="900" spc="-10" dirty="0">
                <a:latin typeface="Arial"/>
                <a:cs typeface="Arial"/>
              </a:rPr>
              <a:t>(again </a:t>
            </a:r>
            <a:r>
              <a:rPr sz="900" dirty="0">
                <a:latin typeface="Arial"/>
                <a:cs typeface="Arial"/>
              </a:rPr>
              <a:t>encrypted)</a:t>
            </a:r>
            <a:r>
              <a:rPr sz="900" spc="-30" dirty="0">
                <a:latin typeface="Arial"/>
                <a:cs typeface="Arial"/>
              </a:rPr>
              <a:t> </a:t>
            </a:r>
            <a:r>
              <a:rPr sz="900" spc="-10" dirty="0">
                <a:latin typeface="Arial"/>
                <a:cs typeface="Arial"/>
              </a:rPr>
              <a:t>keywords</a:t>
            </a:r>
            <a:r>
              <a:rPr sz="900" spc="-25" dirty="0">
                <a:latin typeface="Arial"/>
                <a:cs typeface="Arial"/>
              </a:rPr>
              <a:t> </a:t>
            </a:r>
            <a:r>
              <a:rPr sz="900" dirty="0">
                <a:latin typeface="Arial"/>
                <a:cs typeface="Arial"/>
              </a:rPr>
              <a:t>and</a:t>
            </a:r>
            <a:r>
              <a:rPr sz="900" spc="-30" dirty="0">
                <a:latin typeface="Arial"/>
                <a:cs typeface="Arial"/>
              </a:rPr>
              <a:t> </a:t>
            </a:r>
            <a:r>
              <a:rPr sz="900" dirty="0">
                <a:latin typeface="Arial"/>
                <a:cs typeface="Arial"/>
              </a:rPr>
              <a:t>search</a:t>
            </a:r>
            <a:r>
              <a:rPr sz="900" spc="-25" dirty="0">
                <a:latin typeface="Arial"/>
                <a:cs typeface="Arial"/>
              </a:rPr>
              <a:t> </a:t>
            </a:r>
            <a:r>
              <a:rPr sz="900" dirty="0">
                <a:latin typeface="Arial"/>
                <a:cs typeface="Arial"/>
              </a:rPr>
              <a:t>for</a:t>
            </a:r>
            <a:r>
              <a:rPr sz="900" spc="-25" dirty="0">
                <a:latin typeface="Arial"/>
                <a:cs typeface="Arial"/>
              </a:rPr>
              <a:t> </a:t>
            </a:r>
            <a:r>
              <a:rPr sz="900" dirty="0">
                <a:latin typeface="Arial"/>
                <a:cs typeface="Arial"/>
              </a:rPr>
              <a:t>matches</a:t>
            </a:r>
            <a:r>
              <a:rPr sz="900" spc="-30" dirty="0">
                <a:latin typeface="Arial"/>
                <a:cs typeface="Arial"/>
              </a:rPr>
              <a:t> </a:t>
            </a:r>
            <a:r>
              <a:rPr sz="900" dirty="0">
                <a:latin typeface="Arial"/>
                <a:cs typeface="Arial"/>
              </a:rPr>
              <a:t>on</a:t>
            </a:r>
            <a:r>
              <a:rPr sz="900" spc="-25" dirty="0">
                <a:latin typeface="Arial"/>
                <a:cs typeface="Arial"/>
              </a:rPr>
              <a:t> </a:t>
            </a:r>
            <a:r>
              <a:rPr sz="900" spc="-10" dirty="0">
                <a:latin typeface="Arial"/>
                <a:cs typeface="Arial"/>
              </a:rPr>
              <a:t>keywords.</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100266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Secure</a:t>
            </a:r>
            <a:r>
              <a:rPr sz="500" spc="5" dirty="0">
                <a:latin typeface="Arial"/>
                <a:cs typeface="Arial"/>
                <a:hlinkClick r:id="rId4" action="ppaction://hlinksldjump"/>
              </a:rPr>
              <a:t> </a:t>
            </a:r>
            <a:r>
              <a:rPr sz="500" spc="-10" dirty="0">
                <a:latin typeface="Arial"/>
                <a:cs typeface="Arial"/>
                <a:hlinkClick r:id="rId4" action="ppaction://hlinksldjump"/>
              </a:rPr>
              <a:t>publish-</a:t>
            </a:r>
            <a:r>
              <a:rPr sz="500" dirty="0">
                <a:latin typeface="Arial"/>
                <a:cs typeface="Arial"/>
                <a:hlinkClick r:id="rId4" action="ppaction://hlinksldjump"/>
              </a:rPr>
              <a:t>subscribe</a:t>
            </a:r>
            <a:r>
              <a:rPr sz="500" spc="5" dirty="0">
                <a:latin typeface="Arial"/>
                <a:cs typeface="Arial"/>
                <a:hlinkClick r:id="rId4" action="ppaction://hlinksldjump"/>
              </a:rPr>
              <a:t> </a:t>
            </a:r>
            <a:r>
              <a:rPr sz="500" spc="-10" dirty="0">
                <a:latin typeface="Arial"/>
                <a:cs typeface="Arial"/>
                <a:hlinkClick r:id="rId4" action="ppaction://hlinksldjump"/>
              </a:rPr>
              <a:t>solutions</a:t>
            </a:r>
            <a:endParaRPr sz="500">
              <a:latin typeface="Arial"/>
              <a:cs typeface="Arial"/>
            </a:endParaRPr>
          </a:p>
        </p:txBody>
      </p:sp>
    </p:spTree>
    <p:extLst>
      <p:ext uri="{BB962C8B-B14F-4D97-AF65-F5344CB8AC3E}">
        <p14:creationId xmlns:p14="http://schemas.microsoft.com/office/powerpoint/2010/main" val="3347358130"/>
      </p:ext>
    </p:extLst>
  </p:cSld>
  <p:clrMapOvr>
    <a:masterClrMapping/>
  </p:clrMapOvr>
  <p:transition>
    <p:fade/>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742690" algn="l"/>
              </a:tabLst>
            </a:pPr>
            <a:r>
              <a:rPr sz="500" spc="-10" dirty="0">
                <a:latin typeface="Arial"/>
                <a:cs typeface="Arial"/>
                <a:hlinkClick r:id="rId2" action="ppaction://hlinksldjump"/>
              </a:rPr>
              <a:t>Coordination</a:t>
            </a:r>
            <a:r>
              <a:rPr sz="500" dirty="0">
                <a:latin typeface="Arial"/>
                <a:cs typeface="Arial"/>
              </a:rPr>
              <a:t>	</a:t>
            </a:r>
            <a:r>
              <a:rPr sz="500" dirty="0">
                <a:solidFill>
                  <a:srgbClr val="FFFFFF"/>
                </a:solidFill>
                <a:latin typeface="Arial"/>
                <a:cs typeface="Arial"/>
                <a:hlinkClick r:id="rId3" action="ppaction://hlinksldjump"/>
              </a:rPr>
              <a:t>Distributed</a:t>
            </a:r>
            <a:r>
              <a:rPr sz="500" spc="-20"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event</a:t>
            </a:r>
            <a:r>
              <a:rPr sz="500" spc="-1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matching</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0" dirty="0"/>
              <a:t>Public-Key</a:t>
            </a:r>
            <a:r>
              <a:rPr spc="-50" dirty="0"/>
              <a:t> </a:t>
            </a:r>
            <a:r>
              <a:rPr dirty="0"/>
              <a:t>Encryption</a:t>
            </a:r>
            <a:r>
              <a:rPr spc="-45" dirty="0"/>
              <a:t> </a:t>
            </a:r>
            <a:r>
              <a:rPr dirty="0"/>
              <a:t>with</a:t>
            </a:r>
            <a:r>
              <a:rPr spc="-45" dirty="0"/>
              <a:t> </a:t>
            </a:r>
            <a:r>
              <a:rPr spc="-10" dirty="0"/>
              <a:t>Keyword</a:t>
            </a:r>
            <a:r>
              <a:rPr spc="-45" dirty="0"/>
              <a:t> </a:t>
            </a:r>
            <a:r>
              <a:rPr dirty="0"/>
              <a:t>Search</a:t>
            </a:r>
            <a:r>
              <a:rPr spc="-50" dirty="0"/>
              <a:t> </a:t>
            </a:r>
            <a:r>
              <a:rPr spc="-10" dirty="0"/>
              <a:t>(PEKS)</a:t>
            </a:r>
          </a:p>
        </p:txBody>
      </p:sp>
      <p:sp>
        <p:nvSpPr>
          <p:cNvPr id="4" name="object 4"/>
          <p:cNvSpPr txBox="1"/>
          <p:nvPr/>
        </p:nvSpPr>
        <p:spPr>
          <a:xfrm>
            <a:off x="334594" y="440525"/>
            <a:ext cx="3938270" cy="1513107"/>
          </a:xfrm>
          <a:prstGeom prst="rect">
            <a:avLst/>
          </a:prstGeom>
        </p:spPr>
        <p:txBody>
          <a:bodyPr vert="horz" wrap="square" lIns="0" tIns="83820" rIns="0" bIns="0" rtlCol="0">
            <a:spAutoFit/>
          </a:bodyPr>
          <a:lstStyle/>
          <a:p>
            <a:pPr marL="25400">
              <a:lnSpc>
                <a:spcPct val="100000"/>
              </a:lnSpc>
              <a:spcBef>
                <a:spcPts val="660"/>
              </a:spcBef>
            </a:pPr>
            <a:r>
              <a:rPr sz="1000" spc="-10" dirty="0">
                <a:solidFill>
                  <a:srgbClr val="3333B2"/>
                </a:solidFill>
                <a:latin typeface="Arial"/>
                <a:cs typeface="Arial"/>
              </a:rPr>
              <a:t>Basics</a:t>
            </a:r>
            <a:endParaRPr sz="1000">
              <a:latin typeface="Arial"/>
              <a:cs typeface="Arial"/>
            </a:endParaRPr>
          </a:p>
          <a:p>
            <a:pPr marL="278130" marR="69850" indent="-120650">
              <a:lnSpc>
                <a:spcPct val="111600"/>
              </a:lnSpc>
              <a:spcBef>
                <a:spcPts val="375"/>
              </a:spcBef>
              <a:buClr>
                <a:srgbClr val="3333B2"/>
              </a:buClr>
              <a:buFont typeface="Menlo"/>
              <a:buChar char="•"/>
              <a:tabLst>
                <a:tab pos="278765" algn="l"/>
              </a:tabLst>
            </a:pPr>
            <a:r>
              <a:rPr sz="900" dirty="0">
                <a:latin typeface="Arial"/>
                <a:cs typeface="Arial"/>
              </a:rPr>
              <a:t>Use</a:t>
            </a:r>
            <a:r>
              <a:rPr sz="900" spc="-35" dirty="0">
                <a:latin typeface="Arial"/>
                <a:cs typeface="Arial"/>
              </a:rPr>
              <a:t> </a:t>
            </a:r>
            <a:r>
              <a:rPr sz="900" dirty="0">
                <a:latin typeface="Arial"/>
                <a:cs typeface="Arial"/>
              </a:rPr>
              <a:t>a</a:t>
            </a:r>
            <a:r>
              <a:rPr sz="900" spc="-25" dirty="0">
                <a:latin typeface="Arial"/>
                <a:cs typeface="Arial"/>
              </a:rPr>
              <a:t> </a:t>
            </a:r>
            <a:r>
              <a:rPr sz="900" dirty="0">
                <a:latin typeface="Arial"/>
                <a:cs typeface="Arial"/>
              </a:rPr>
              <a:t>public</a:t>
            </a:r>
            <a:r>
              <a:rPr sz="900" spc="-20" dirty="0">
                <a:latin typeface="Arial"/>
                <a:cs typeface="Arial"/>
              </a:rPr>
              <a:t> </a:t>
            </a:r>
            <a:r>
              <a:rPr sz="900" dirty="0">
                <a:latin typeface="Arial"/>
                <a:cs typeface="Arial"/>
              </a:rPr>
              <a:t>key</a:t>
            </a:r>
            <a:r>
              <a:rPr sz="900" spc="-20" dirty="0">
                <a:latin typeface="Arial"/>
                <a:cs typeface="Arial"/>
              </a:rPr>
              <a:t> </a:t>
            </a:r>
            <a:r>
              <a:rPr sz="900" i="1" spc="-10" dirty="0">
                <a:latin typeface="Arial"/>
                <a:cs typeface="Arial"/>
              </a:rPr>
              <a:t>PK</a:t>
            </a:r>
            <a:r>
              <a:rPr sz="900" i="1" spc="-125" dirty="0">
                <a:latin typeface="Arial"/>
                <a:cs typeface="Arial"/>
              </a:rPr>
              <a:t> </a:t>
            </a:r>
            <a:r>
              <a:rPr sz="900" dirty="0">
                <a:latin typeface="Arial"/>
                <a:cs typeface="Arial"/>
              </a:rPr>
              <a:t>,</a:t>
            </a:r>
            <a:r>
              <a:rPr sz="900" spc="-20" dirty="0">
                <a:latin typeface="Arial"/>
                <a:cs typeface="Arial"/>
              </a:rPr>
              <a:t> </a:t>
            </a:r>
            <a:r>
              <a:rPr sz="900" dirty="0">
                <a:latin typeface="Arial"/>
                <a:cs typeface="Arial"/>
              </a:rPr>
              <a:t>message</a:t>
            </a:r>
            <a:r>
              <a:rPr sz="900" spc="-20" dirty="0">
                <a:latin typeface="Arial"/>
                <a:cs typeface="Arial"/>
              </a:rPr>
              <a:t> </a:t>
            </a:r>
            <a:r>
              <a:rPr sz="900" i="1" dirty="0">
                <a:latin typeface="Arial"/>
                <a:cs typeface="Arial"/>
              </a:rPr>
              <a:t>m</a:t>
            </a:r>
            <a:r>
              <a:rPr sz="900" i="1" spc="-5" dirty="0">
                <a:latin typeface="Arial"/>
                <a:cs typeface="Arial"/>
              </a:rPr>
              <a:t> </a:t>
            </a:r>
            <a:r>
              <a:rPr sz="900" dirty="0">
                <a:latin typeface="Arial"/>
                <a:cs typeface="Arial"/>
              </a:rPr>
              <a:t>and</a:t>
            </a:r>
            <a:r>
              <a:rPr sz="900" spc="-20" dirty="0">
                <a:latin typeface="Arial"/>
                <a:cs typeface="Arial"/>
              </a:rPr>
              <a:t> </a:t>
            </a:r>
            <a:r>
              <a:rPr sz="900" dirty="0">
                <a:latin typeface="Arial"/>
                <a:cs typeface="Arial"/>
              </a:rPr>
              <a:t>its</a:t>
            </a:r>
            <a:r>
              <a:rPr sz="900" spc="-20" dirty="0">
                <a:latin typeface="Arial"/>
                <a:cs typeface="Arial"/>
              </a:rPr>
              <a:t> </a:t>
            </a:r>
            <a:r>
              <a:rPr sz="900" i="1" dirty="0">
                <a:latin typeface="Arial"/>
                <a:cs typeface="Arial"/>
              </a:rPr>
              <a:t>n</a:t>
            </a:r>
            <a:r>
              <a:rPr sz="900" i="1" spc="-5" dirty="0">
                <a:latin typeface="Arial"/>
                <a:cs typeface="Arial"/>
              </a:rPr>
              <a:t> </a:t>
            </a:r>
            <a:r>
              <a:rPr sz="900" spc="-10" dirty="0">
                <a:latin typeface="Arial"/>
                <a:cs typeface="Arial"/>
              </a:rPr>
              <a:t>keywords</a:t>
            </a:r>
            <a:r>
              <a:rPr sz="900" spc="-20" dirty="0">
                <a:latin typeface="Arial"/>
                <a:cs typeface="Arial"/>
              </a:rPr>
              <a:t> </a:t>
            </a:r>
            <a:r>
              <a:rPr sz="900" i="1" spc="70" dirty="0">
                <a:latin typeface="Arial"/>
                <a:cs typeface="Arial"/>
              </a:rPr>
              <a:t>KW</a:t>
            </a:r>
            <a:r>
              <a:rPr sz="1050" i="1" spc="104" baseline="-15873" dirty="0">
                <a:latin typeface="Arial"/>
                <a:cs typeface="Arial"/>
              </a:rPr>
              <a:t>1</a:t>
            </a:r>
            <a:r>
              <a:rPr sz="900" i="1" spc="70" dirty="0">
                <a:latin typeface="STIX Two Text"/>
                <a:cs typeface="STIX Two Text"/>
              </a:rPr>
              <a:t>,...,</a:t>
            </a:r>
            <a:r>
              <a:rPr sz="900" i="1" spc="-105" dirty="0">
                <a:latin typeface="STIX Two Text"/>
                <a:cs typeface="STIX Two Text"/>
              </a:rPr>
              <a:t> </a:t>
            </a:r>
            <a:r>
              <a:rPr sz="900" i="1" dirty="0">
                <a:latin typeface="Arial"/>
                <a:cs typeface="Arial"/>
              </a:rPr>
              <a:t>KW</a:t>
            </a:r>
            <a:r>
              <a:rPr sz="1050" i="1" baseline="-11904" dirty="0">
                <a:latin typeface="Arial"/>
                <a:cs typeface="Arial"/>
              </a:rPr>
              <a:t>n</a:t>
            </a:r>
            <a:r>
              <a:rPr sz="1050" i="1" spc="135" baseline="-11904" dirty="0">
                <a:latin typeface="Arial"/>
                <a:cs typeface="Arial"/>
              </a:rPr>
              <a:t> </a:t>
            </a:r>
            <a:r>
              <a:rPr sz="900" spc="-25" dirty="0">
                <a:latin typeface="Arial"/>
                <a:cs typeface="Arial"/>
              </a:rPr>
              <a:t>are </a:t>
            </a:r>
            <a:r>
              <a:rPr sz="900" dirty="0">
                <a:latin typeface="Arial"/>
                <a:cs typeface="Arial"/>
              </a:rPr>
              <a:t>stored</a:t>
            </a:r>
            <a:r>
              <a:rPr sz="900" spc="-25" dirty="0">
                <a:latin typeface="Arial"/>
                <a:cs typeface="Arial"/>
              </a:rPr>
              <a:t> </a:t>
            </a:r>
            <a:r>
              <a:rPr sz="900" dirty="0">
                <a:latin typeface="Arial"/>
                <a:cs typeface="Arial"/>
              </a:rPr>
              <a:t>at</a:t>
            </a:r>
            <a:r>
              <a:rPr sz="900" spc="-20" dirty="0">
                <a:latin typeface="Arial"/>
                <a:cs typeface="Arial"/>
              </a:rPr>
              <a:t> </a:t>
            </a:r>
            <a:r>
              <a:rPr sz="900" dirty="0">
                <a:latin typeface="Arial"/>
                <a:cs typeface="Arial"/>
              </a:rPr>
              <a:t>a</a:t>
            </a:r>
            <a:r>
              <a:rPr sz="900" spc="-25" dirty="0">
                <a:latin typeface="Arial"/>
                <a:cs typeface="Arial"/>
              </a:rPr>
              <a:t> </a:t>
            </a:r>
            <a:r>
              <a:rPr sz="900" dirty="0">
                <a:latin typeface="Arial"/>
                <a:cs typeface="Arial"/>
              </a:rPr>
              <a:t>server</a:t>
            </a:r>
            <a:r>
              <a:rPr sz="900" spc="-20" dirty="0">
                <a:latin typeface="Arial"/>
                <a:cs typeface="Arial"/>
              </a:rPr>
              <a:t> </a:t>
            </a:r>
            <a:r>
              <a:rPr sz="900" dirty="0">
                <a:latin typeface="Arial"/>
                <a:cs typeface="Arial"/>
              </a:rPr>
              <a:t>as</a:t>
            </a:r>
            <a:r>
              <a:rPr sz="900" spc="-25" dirty="0">
                <a:latin typeface="Arial"/>
                <a:cs typeface="Arial"/>
              </a:rPr>
              <a:t> </a:t>
            </a:r>
            <a:r>
              <a:rPr sz="900" dirty="0">
                <a:latin typeface="Arial"/>
                <a:cs typeface="Arial"/>
              </a:rPr>
              <a:t>the</a:t>
            </a:r>
            <a:r>
              <a:rPr sz="900" spc="-20" dirty="0">
                <a:latin typeface="Arial"/>
                <a:cs typeface="Arial"/>
              </a:rPr>
              <a:t> </a:t>
            </a:r>
            <a:r>
              <a:rPr sz="900" dirty="0">
                <a:latin typeface="Arial"/>
                <a:cs typeface="Arial"/>
              </a:rPr>
              <a:t>message</a:t>
            </a:r>
            <a:r>
              <a:rPr sz="900" spc="-25" dirty="0">
                <a:latin typeface="Arial"/>
                <a:cs typeface="Arial"/>
              </a:rPr>
              <a:t> </a:t>
            </a:r>
            <a:r>
              <a:rPr sz="900" i="1" spc="-25" dirty="0">
                <a:latin typeface="Arial"/>
                <a:cs typeface="Arial"/>
              </a:rPr>
              <a:t>m</a:t>
            </a:r>
            <a:r>
              <a:rPr sz="1050" i="1" spc="-37" baseline="27777" dirty="0">
                <a:latin typeface="Menlo"/>
                <a:cs typeface="Menlo"/>
              </a:rPr>
              <a:t>∗</a:t>
            </a:r>
            <a:r>
              <a:rPr sz="900" spc="-25" dirty="0">
                <a:latin typeface="Arial"/>
                <a:cs typeface="Arial"/>
              </a:rPr>
              <a:t>:</a:t>
            </a:r>
            <a:endParaRPr sz="900">
              <a:latin typeface="Arial"/>
              <a:cs typeface="Arial"/>
            </a:endParaRPr>
          </a:p>
          <a:p>
            <a:pPr marL="330835">
              <a:lnSpc>
                <a:spcPct val="100000"/>
              </a:lnSpc>
              <a:spcBef>
                <a:spcPts val="975"/>
              </a:spcBef>
            </a:pPr>
            <a:r>
              <a:rPr sz="900" i="1" spc="-40" dirty="0">
                <a:latin typeface="Arial"/>
                <a:cs typeface="Arial"/>
              </a:rPr>
              <a:t>m</a:t>
            </a:r>
            <a:r>
              <a:rPr sz="1050" i="1" spc="-60" baseline="27777" dirty="0">
                <a:latin typeface="Menlo"/>
                <a:cs typeface="Menlo"/>
              </a:rPr>
              <a:t>∗</a:t>
            </a:r>
            <a:r>
              <a:rPr sz="1050" i="1" spc="-179" baseline="27777" dirty="0">
                <a:latin typeface="Menlo"/>
                <a:cs typeface="Menlo"/>
              </a:rPr>
              <a:t> </a:t>
            </a:r>
            <a:r>
              <a:rPr sz="900" spc="185" dirty="0">
                <a:latin typeface="Arial"/>
                <a:cs typeface="Arial"/>
              </a:rPr>
              <a:t>=</a:t>
            </a:r>
            <a:r>
              <a:rPr sz="900" dirty="0">
                <a:latin typeface="Arial"/>
                <a:cs typeface="Arial"/>
              </a:rPr>
              <a:t>[</a:t>
            </a:r>
            <a:r>
              <a:rPr sz="900" i="1" dirty="0">
                <a:latin typeface="Arial"/>
                <a:cs typeface="Arial"/>
              </a:rPr>
              <a:t>PK</a:t>
            </a:r>
            <a:r>
              <a:rPr sz="900" i="1" spc="-95" dirty="0">
                <a:latin typeface="Arial"/>
                <a:cs typeface="Arial"/>
              </a:rPr>
              <a:t> </a:t>
            </a:r>
            <a:r>
              <a:rPr sz="900" spc="-10" dirty="0">
                <a:latin typeface="Arial"/>
                <a:cs typeface="Arial"/>
              </a:rPr>
              <a:t>(</a:t>
            </a:r>
            <a:r>
              <a:rPr sz="900" i="1" spc="-10" dirty="0">
                <a:latin typeface="Arial"/>
                <a:cs typeface="Arial"/>
              </a:rPr>
              <a:t>m</a:t>
            </a:r>
            <a:r>
              <a:rPr sz="900" spc="-10" dirty="0">
                <a:latin typeface="Arial"/>
                <a:cs typeface="Arial"/>
              </a:rPr>
              <a:t>)</a:t>
            </a:r>
            <a:r>
              <a:rPr sz="900" i="1" spc="-10" dirty="0">
                <a:latin typeface="Menlo"/>
                <a:cs typeface="Menlo"/>
              </a:rPr>
              <a:t>|</a:t>
            </a:r>
            <a:r>
              <a:rPr sz="900" i="1" spc="-10" dirty="0">
                <a:latin typeface="Arial"/>
                <a:cs typeface="Arial"/>
              </a:rPr>
              <a:t>PEKS</a:t>
            </a:r>
            <a:r>
              <a:rPr sz="900" spc="-10" dirty="0">
                <a:latin typeface="Arial"/>
                <a:cs typeface="Arial"/>
              </a:rPr>
              <a:t>(</a:t>
            </a:r>
            <a:r>
              <a:rPr sz="900" i="1" spc="-10" dirty="0">
                <a:latin typeface="Arial"/>
                <a:cs typeface="Arial"/>
              </a:rPr>
              <a:t>PK</a:t>
            </a:r>
            <a:r>
              <a:rPr sz="900" i="1" spc="-10" dirty="0">
                <a:latin typeface="STIX Two Text"/>
                <a:cs typeface="STIX Two Text"/>
              </a:rPr>
              <a:t>,</a:t>
            </a:r>
            <a:r>
              <a:rPr sz="900" i="1" spc="-80" dirty="0">
                <a:latin typeface="STIX Two Text"/>
                <a:cs typeface="STIX Two Text"/>
              </a:rPr>
              <a:t> </a:t>
            </a:r>
            <a:r>
              <a:rPr sz="900" i="1" spc="-10" dirty="0">
                <a:latin typeface="Arial"/>
                <a:cs typeface="Arial"/>
              </a:rPr>
              <a:t>KW</a:t>
            </a:r>
            <a:r>
              <a:rPr sz="1050" i="1" spc="-15" baseline="-15873" dirty="0">
                <a:latin typeface="Arial"/>
                <a:cs typeface="Arial"/>
              </a:rPr>
              <a:t>1</a:t>
            </a:r>
            <a:r>
              <a:rPr sz="900" spc="-10" dirty="0">
                <a:latin typeface="Arial"/>
                <a:cs typeface="Arial"/>
              </a:rPr>
              <a:t>)</a:t>
            </a:r>
            <a:r>
              <a:rPr sz="900" i="1" spc="-10" dirty="0">
                <a:latin typeface="Menlo"/>
                <a:cs typeface="Menlo"/>
              </a:rPr>
              <a:t>|</a:t>
            </a:r>
            <a:r>
              <a:rPr sz="900" i="1" spc="-10" dirty="0">
                <a:latin typeface="Arial"/>
                <a:cs typeface="Arial"/>
              </a:rPr>
              <a:t>PEKS</a:t>
            </a:r>
            <a:r>
              <a:rPr sz="900" spc="-10" dirty="0">
                <a:latin typeface="Arial"/>
                <a:cs typeface="Arial"/>
              </a:rPr>
              <a:t>(</a:t>
            </a:r>
            <a:r>
              <a:rPr sz="900" i="1" spc="-10" dirty="0">
                <a:latin typeface="Arial"/>
                <a:cs typeface="Arial"/>
              </a:rPr>
              <a:t>PK</a:t>
            </a:r>
            <a:r>
              <a:rPr sz="900" i="1" spc="-10" dirty="0">
                <a:latin typeface="STIX Two Text"/>
                <a:cs typeface="STIX Two Text"/>
              </a:rPr>
              <a:t>,</a:t>
            </a:r>
            <a:r>
              <a:rPr sz="900" i="1" spc="-85" dirty="0">
                <a:latin typeface="STIX Two Text"/>
                <a:cs typeface="STIX Two Text"/>
              </a:rPr>
              <a:t> </a:t>
            </a:r>
            <a:r>
              <a:rPr sz="900" i="1" spc="-10" dirty="0">
                <a:latin typeface="Arial"/>
                <a:cs typeface="Arial"/>
              </a:rPr>
              <a:t>KW</a:t>
            </a:r>
            <a:r>
              <a:rPr sz="1050" i="1" spc="-15" baseline="-15873" dirty="0">
                <a:latin typeface="Arial"/>
                <a:cs typeface="Arial"/>
              </a:rPr>
              <a:t>2</a:t>
            </a:r>
            <a:r>
              <a:rPr sz="1050" i="1" spc="-127" baseline="-15873" dirty="0">
                <a:latin typeface="Arial"/>
                <a:cs typeface="Arial"/>
              </a:rPr>
              <a:t> </a:t>
            </a:r>
            <a:r>
              <a:rPr sz="900" spc="-130" dirty="0">
                <a:latin typeface="Arial"/>
                <a:cs typeface="Arial"/>
              </a:rPr>
              <a:t>)</a:t>
            </a:r>
            <a:r>
              <a:rPr sz="900" i="1" spc="-130" dirty="0">
                <a:latin typeface="Menlo"/>
                <a:cs typeface="Menlo"/>
              </a:rPr>
              <a:t>|</a:t>
            </a:r>
            <a:r>
              <a:rPr sz="900" i="1" spc="-300" dirty="0">
                <a:latin typeface="Menlo"/>
                <a:cs typeface="Menlo"/>
              </a:rPr>
              <a:t>···</a:t>
            </a:r>
            <a:r>
              <a:rPr sz="900" i="1" spc="-20" dirty="0">
                <a:latin typeface="Menlo"/>
                <a:cs typeface="Menlo"/>
              </a:rPr>
              <a:t>|</a:t>
            </a:r>
            <a:r>
              <a:rPr sz="900" i="1" spc="-20" dirty="0">
                <a:latin typeface="Arial"/>
                <a:cs typeface="Arial"/>
              </a:rPr>
              <a:t>PEKS</a:t>
            </a:r>
            <a:r>
              <a:rPr sz="900" spc="-20" dirty="0">
                <a:latin typeface="Arial"/>
                <a:cs typeface="Arial"/>
              </a:rPr>
              <a:t>(</a:t>
            </a:r>
            <a:r>
              <a:rPr sz="900" i="1" spc="-20" dirty="0">
                <a:latin typeface="Arial"/>
                <a:cs typeface="Arial"/>
              </a:rPr>
              <a:t>PK</a:t>
            </a:r>
            <a:r>
              <a:rPr sz="900" i="1" spc="-20" dirty="0">
                <a:latin typeface="STIX Two Text"/>
                <a:cs typeface="STIX Two Text"/>
              </a:rPr>
              <a:t>,</a:t>
            </a:r>
            <a:r>
              <a:rPr sz="900" i="1" spc="-85" dirty="0">
                <a:latin typeface="STIX Two Text"/>
                <a:cs typeface="STIX Two Text"/>
              </a:rPr>
              <a:t> </a:t>
            </a:r>
            <a:r>
              <a:rPr sz="900" i="1" spc="-10" dirty="0">
                <a:latin typeface="Arial"/>
                <a:cs typeface="Arial"/>
              </a:rPr>
              <a:t>KW</a:t>
            </a:r>
            <a:r>
              <a:rPr sz="1050" i="1" spc="-15" baseline="-11904" dirty="0">
                <a:latin typeface="Arial"/>
                <a:cs typeface="Arial"/>
              </a:rPr>
              <a:t>n</a:t>
            </a:r>
            <a:r>
              <a:rPr sz="1050" i="1" spc="-179" baseline="-11904" dirty="0">
                <a:latin typeface="Arial"/>
                <a:cs typeface="Arial"/>
              </a:rPr>
              <a:t> </a:t>
            </a:r>
            <a:r>
              <a:rPr sz="900" spc="-25" dirty="0">
                <a:latin typeface="Arial"/>
                <a:cs typeface="Arial"/>
              </a:rPr>
              <a:t>)]</a:t>
            </a:r>
            <a:endParaRPr sz="900">
              <a:latin typeface="Arial"/>
              <a:cs typeface="Arial"/>
            </a:endParaRPr>
          </a:p>
          <a:p>
            <a:pPr>
              <a:lnSpc>
                <a:spcPct val="100000"/>
              </a:lnSpc>
              <a:spcBef>
                <a:spcPts val="20"/>
              </a:spcBef>
            </a:pPr>
            <a:endParaRPr sz="1000">
              <a:latin typeface="Arial"/>
              <a:cs typeface="Arial"/>
            </a:endParaRPr>
          </a:p>
          <a:p>
            <a:pPr marL="274320" indent="-116839">
              <a:lnSpc>
                <a:spcPct val="100000"/>
              </a:lnSpc>
              <a:buClr>
                <a:srgbClr val="3333B2"/>
              </a:buClr>
              <a:buFont typeface="Menlo"/>
              <a:buChar char="•"/>
              <a:tabLst>
                <a:tab pos="274955" algn="l"/>
              </a:tabLst>
            </a:pPr>
            <a:r>
              <a:rPr sz="900" dirty="0">
                <a:latin typeface="Arial"/>
                <a:cs typeface="Arial"/>
              </a:rPr>
              <a:t>A</a:t>
            </a:r>
            <a:r>
              <a:rPr sz="900" spc="-15" dirty="0">
                <a:latin typeface="Arial"/>
                <a:cs typeface="Arial"/>
              </a:rPr>
              <a:t> </a:t>
            </a:r>
            <a:r>
              <a:rPr sz="900" dirty="0">
                <a:latin typeface="Arial"/>
                <a:cs typeface="Arial"/>
              </a:rPr>
              <a:t>subscriber</a:t>
            </a:r>
            <a:r>
              <a:rPr sz="900" spc="-10" dirty="0">
                <a:latin typeface="Arial"/>
                <a:cs typeface="Arial"/>
              </a:rPr>
              <a:t> </a:t>
            </a:r>
            <a:r>
              <a:rPr sz="900" dirty="0">
                <a:latin typeface="Arial"/>
                <a:cs typeface="Arial"/>
              </a:rPr>
              <a:t>gets</a:t>
            </a:r>
            <a:r>
              <a:rPr sz="900" spc="-15" dirty="0">
                <a:latin typeface="Arial"/>
                <a:cs typeface="Arial"/>
              </a:rPr>
              <a:t> </a:t>
            </a:r>
            <a:r>
              <a:rPr sz="900" dirty="0">
                <a:latin typeface="Arial"/>
                <a:cs typeface="Arial"/>
              </a:rPr>
              <a:t>the</a:t>
            </a:r>
            <a:r>
              <a:rPr sz="900" spc="-10" dirty="0">
                <a:latin typeface="Arial"/>
                <a:cs typeface="Arial"/>
              </a:rPr>
              <a:t> accompanying</a:t>
            </a:r>
            <a:r>
              <a:rPr sz="900" spc="-15" dirty="0">
                <a:latin typeface="Arial"/>
                <a:cs typeface="Arial"/>
              </a:rPr>
              <a:t> </a:t>
            </a:r>
            <a:r>
              <a:rPr sz="900" dirty="0">
                <a:latin typeface="Arial"/>
                <a:cs typeface="Arial"/>
              </a:rPr>
              <a:t>secret</a:t>
            </a:r>
            <a:r>
              <a:rPr sz="900" spc="-10" dirty="0">
                <a:latin typeface="Arial"/>
                <a:cs typeface="Arial"/>
              </a:rPr>
              <a:t> </a:t>
            </a:r>
            <a:r>
              <a:rPr sz="900" spc="-20" dirty="0">
                <a:latin typeface="Arial"/>
                <a:cs typeface="Arial"/>
              </a:rPr>
              <a:t>key.</a:t>
            </a:r>
            <a:endParaRPr sz="900">
              <a:latin typeface="Arial"/>
              <a:cs typeface="Arial"/>
            </a:endParaRPr>
          </a:p>
          <a:p>
            <a:pPr marL="278130" indent="-120650">
              <a:lnSpc>
                <a:spcPct val="100000"/>
              </a:lnSpc>
              <a:spcBef>
                <a:spcPts val="525"/>
              </a:spcBef>
              <a:buClr>
                <a:srgbClr val="3333B2"/>
              </a:buClr>
              <a:buFont typeface="Menlo"/>
              <a:buChar char="•"/>
              <a:tabLst>
                <a:tab pos="278765" algn="l"/>
              </a:tabLst>
            </a:pPr>
            <a:r>
              <a:rPr sz="900" dirty="0">
                <a:latin typeface="Arial"/>
                <a:cs typeface="Arial"/>
              </a:rPr>
              <a:t>For</a:t>
            </a:r>
            <a:r>
              <a:rPr sz="900" spc="-45" dirty="0">
                <a:latin typeface="Arial"/>
                <a:cs typeface="Arial"/>
              </a:rPr>
              <a:t> </a:t>
            </a:r>
            <a:r>
              <a:rPr sz="900" dirty="0">
                <a:latin typeface="Arial"/>
                <a:cs typeface="Arial"/>
              </a:rPr>
              <a:t>each</a:t>
            </a:r>
            <a:r>
              <a:rPr sz="900" spc="-25" dirty="0">
                <a:latin typeface="Arial"/>
                <a:cs typeface="Arial"/>
              </a:rPr>
              <a:t> </a:t>
            </a:r>
            <a:r>
              <a:rPr sz="900" spc="-10" dirty="0">
                <a:latin typeface="Arial"/>
                <a:cs typeface="Arial"/>
              </a:rPr>
              <a:t>keyword</a:t>
            </a:r>
            <a:r>
              <a:rPr sz="900" spc="-20" dirty="0">
                <a:latin typeface="Arial"/>
                <a:cs typeface="Arial"/>
              </a:rPr>
              <a:t> </a:t>
            </a:r>
            <a:r>
              <a:rPr sz="900" i="1" spc="-10" dirty="0">
                <a:latin typeface="Arial"/>
                <a:cs typeface="Arial"/>
              </a:rPr>
              <a:t>KW</a:t>
            </a:r>
            <a:r>
              <a:rPr sz="1050" i="1" spc="-15" baseline="-15873" dirty="0">
                <a:latin typeface="Arial"/>
                <a:cs typeface="Arial"/>
              </a:rPr>
              <a:t>i</a:t>
            </a:r>
            <a:r>
              <a:rPr sz="1050" i="1" spc="-127" baseline="-15873" dirty="0">
                <a:latin typeface="Arial"/>
                <a:cs typeface="Arial"/>
              </a:rPr>
              <a:t> </a:t>
            </a:r>
            <a:r>
              <a:rPr sz="900" dirty="0">
                <a:latin typeface="Arial"/>
                <a:cs typeface="Arial"/>
              </a:rPr>
              <a:t>,</a:t>
            </a:r>
            <a:r>
              <a:rPr sz="900" spc="-25" dirty="0">
                <a:latin typeface="Arial"/>
                <a:cs typeface="Arial"/>
              </a:rPr>
              <a:t> </a:t>
            </a:r>
            <a:r>
              <a:rPr sz="900" dirty="0">
                <a:latin typeface="Arial"/>
                <a:cs typeface="Arial"/>
              </a:rPr>
              <a:t>a</a:t>
            </a:r>
            <a:r>
              <a:rPr sz="900" spc="-25" dirty="0">
                <a:latin typeface="Arial"/>
                <a:cs typeface="Arial"/>
              </a:rPr>
              <a:t> </a:t>
            </a:r>
            <a:r>
              <a:rPr sz="900" dirty="0">
                <a:solidFill>
                  <a:srgbClr val="C80000"/>
                </a:solidFill>
                <a:latin typeface="Arial"/>
                <a:cs typeface="Arial"/>
              </a:rPr>
              <a:t>trapdoor</a:t>
            </a:r>
            <a:r>
              <a:rPr sz="900" spc="-20" dirty="0">
                <a:solidFill>
                  <a:srgbClr val="C80000"/>
                </a:solidFill>
                <a:latin typeface="Arial"/>
                <a:cs typeface="Arial"/>
              </a:rPr>
              <a:t> </a:t>
            </a:r>
            <a:r>
              <a:rPr sz="900" i="1" dirty="0">
                <a:latin typeface="Arial"/>
                <a:cs typeface="Arial"/>
              </a:rPr>
              <a:t>T</a:t>
            </a:r>
            <a:r>
              <a:rPr sz="1050" i="1" baseline="-15873" dirty="0">
                <a:latin typeface="Arial"/>
                <a:cs typeface="Arial"/>
              </a:rPr>
              <a:t>KW</a:t>
            </a:r>
            <a:r>
              <a:rPr sz="750" i="1" baseline="-33333" dirty="0">
                <a:latin typeface="Arial"/>
                <a:cs typeface="Arial"/>
              </a:rPr>
              <a:t>i</a:t>
            </a:r>
            <a:r>
              <a:rPr sz="750" i="1" spc="330" baseline="-33333" dirty="0">
                <a:latin typeface="Arial"/>
                <a:cs typeface="Arial"/>
              </a:rPr>
              <a:t> </a:t>
            </a:r>
            <a:r>
              <a:rPr sz="900" dirty="0">
                <a:latin typeface="Arial"/>
                <a:cs typeface="Arial"/>
              </a:rPr>
              <a:t>is</a:t>
            </a:r>
            <a:r>
              <a:rPr sz="900" spc="-25" dirty="0">
                <a:latin typeface="Arial"/>
                <a:cs typeface="Arial"/>
              </a:rPr>
              <a:t> </a:t>
            </a:r>
            <a:r>
              <a:rPr sz="900" dirty="0">
                <a:latin typeface="Arial"/>
                <a:cs typeface="Arial"/>
              </a:rPr>
              <a:t>generated:</a:t>
            </a:r>
            <a:r>
              <a:rPr sz="900" spc="35" dirty="0">
                <a:latin typeface="Arial"/>
                <a:cs typeface="Arial"/>
              </a:rPr>
              <a:t> </a:t>
            </a:r>
            <a:r>
              <a:rPr sz="900" i="1" spc="-10" dirty="0">
                <a:latin typeface="Arial"/>
                <a:cs typeface="Arial"/>
              </a:rPr>
              <a:t>T</a:t>
            </a:r>
            <a:r>
              <a:rPr sz="1050" i="1" spc="-15" baseline="-15873" dirty="0">
                <a:latin typeface="Arial"/>
                <a:cs typeface="Arial"/>
              </a:rPr>
              <a:t>W</a:t>
            </a:r>
            <a:r>
              <a:rPr sz="1050" i="1" spc="-75" baseline="-15873" dirty="0">
                <a:latin typeface="Arial"/>
                <a:cs typeface="Arial"/>
              </a:rPr>
              <a:t> </a:t>
            </a:r>
            <a:r>
              <a:rPr sz="900" dirty="0">
                <a:latin typeface="Arial"/>
                <a:cs typeface="Arial"/>
              </a:rPr>
              <a:t>(</a:t>
            </a:r>
            <a:r>
              <a:rPr sz="900" i="1" dirty="0">
                <a:latin typeface="Arial"/>
                <a:cs typeface="Arial"/>
              </a:rPr>
              <a:t>m</a:t>
            </a:r>
            <a:r>
              <a:rPr sz="1050" i="1" baseline="27777" dirty="0">
                <a:latin typeface="Menlo"/>
                <a:cs typeface="Menlo"/>
              </a:rPr>
              <a:t>∗</a:t>
            </a:r>
            <a:r>
              <a:rPr sz="900" dirty="0">
                <a:latin typeface="Arial"/>
                <a:cs typeface="Arial"/>
              </a:rPr>
              <a:t>)</a:t>
            </a:r>
            <a:r>
              <a:rPr sz="900" spc="-25" dirty="0">
                <a:latin typeface="Arial"/>
                <a:cs typeface="Arial"/>
              </a:rPr>
              <a:t> </a:t>
            </a:r>
            <a:r>
              <a:rPr sz="900" dirty="0">
                <a:latin typeface="Arial"/>
                <a:cs typeface="Arial"/>
              </a:rPr>
              <a:t>will</a:t>
            </a:r>
            <a:r>
              <a:rPr sz="900" spc="-20" dirty="0">
                <a:latin typeface="Arial"/>
                <a:cs typeface="Arial"/>
              </a:rPr>
              <a:t> </a:t>
            </a:r>
            <a:r>
              <a:rPr sz="900" spc="-10" dirty="0">
                <a:latin typeface="Arial"/>
                <a:cs typeface="Arial"/>
              </a:rPr>
              <a:t>return</a:t>
            </a:r>
            <a:endParaRPr sz="900">
              <a:latin typeface="Arial"/>
              <a:cs typeface="Arial"/>
            </a:endParaRPr>
          </a:p>
          <a:p>
            <a:pPr marL="278130">
              <a:lnSpc>
                <a:spcPct val="100000"/>
              </a:lnSpc>
              <a:spcBef>
                <a:spcPts val="125"/>
              </a:spcBef>
            </a:pPr>
            <a:r>
              <a:rPr sz="900" i="1" dirty="0">
                <a:latin typeface="Arial"/>
                <a:cs typeface="Arial"/>
              </a:rPr>
              <a:t>true</a:t>
            </a:r>
            <a:r>
              <a:rPr sz="900" i="1" spc="10" dirty="0">
                <a:latin typeface="Arial"/>
                <a:cs typeface="Arial"/>
              </a:rPr>
              <a:t> </a:t>
            </a:r>
            <a:r>
              <a:rPr sz="900" dirty="0">
                <a:latin typeface="Arial"/>
                <a:cs typeface="Arial"/>
              </a:rPr>
              <a:t>iff</a:t>
            </a:r>
            <a:r>
              <a:rPr sz="900" spc="-5" dirty="0">
                <a:latin typeface="Arial"/>
                <a:cs typeface="Arial"/>
              </a:rPr>
              <a:t> </a:t>
            </a:r>
            <a:r>
              <a:rPr sz="900" i="1" dirty="0">
                <a:latin typeface="Arial"/>
                <a:cs typeface="Arial"/>
              </a:rPr>
              <a:t>W</a:t>
            </a:r>
            <a:r>
              <a:rPr sz="900" i="1" spc="70" dirty="0">
                <a:latin typeface="Arial"/>
                <a:cs typeface="Arial"/>
              </a:rPr>
              <a:t> </a:t>
            </a:r>
            <a:r>
              <a:rPr sz="900" i="1" spc="50" dirty="0">
                <a:latin typeface="Menlo"/>
                <a:cs typeface="Menlo"/>
              </a:rPr>
              <a:t>∈</a:t>
            </a:r>
            <a:r>
              <a:rPr sz="900" i="1" spc="-345" dirty="0">
                <a:latin typeface="Menlo"/>
                <a:cs typeface="Menlo"/>
              </a:rPr>
              <a:t> </a:t>
            </a:r>
            <a:r>
              <a:rPr sz="900" i="1" spc="50" dirty="0">
                <a:latin typeface="Menlo"/>
                <a:cs typeface="Menlo"/>
              </a:rPr>
              <a:t>{</a:t>
            </a:r>
            <a:r>
              <a:rPr sz="900" i="1" spc="50" dirty="0">
                <a:latin typeface="Arial"/>
                <a:cs typeface="Arial"/>
              </a:rPr>
              <a:t>KW</a:t>
            </a:r>
            <a:r>
              <a:rPr sz="1050" i="1" spc="75" baseline="-15873" dirty="0">
                <a:latin typeface="Arial"/>
                <a:cs typeface="Arial"/>
              </a:rPr>
              <a:t>1</a:t>
            </a:r>
            <a:r>
              <a:rPr sz="900" i="1" spc="50" dirty="0">
                <a:latin typeface="STIX Two Text"/>
                <a:cs typeface="STIX Two Text"/>
              </a:rPr>
              <a:t>,...,</a:t>
            </a:r>
            <a:r>
              <a:rPr sz="900" i="1" spc="-105" dirty="0">
                <a:latin typeface="STIX Two Text"/>
                <a:cs typeface="STIX Two Text"/>
              </a:rPr>
              <a:t> </a:t>
            </a:r>
            <a:r>
              <a:rPr sz="900" i="1" spc="-20" dirty="0">
                <a:latin typeface="Arial"/>
                <a:cs typeface="Arial"/>
              </a:rPr>
              <a:t>KW</a:t>
            </a:r>
            <a:r>
              <a:rPr sz="1050" i="1" spc="-30" baseline="-11904" dirty="0">
                <a:latin typeface="Arial"/>
                <a:cs typeface="Arial"/>
              </a:rPr>
              <a:t>n</a:t>
            </a:r>
            <a:r>
              <a:rPr sz="900" i="1" spc="-20" dirty="0">
                <a:latin typeface="Menlo"/>
                <a:cs typeface="Menlo"/>
              </a:rPr>
              <a:t>}</a:t>
            </a:r>
            <a:r>
              <a:rPr sz="900" spc="-20" dirty="0">
                <a:latin typeface="Arial"/>
                <a:cs typeface="Arial"/>
              </a:rPr>
              <a:t>.</a:t>
            </a:r>
            <a:endParaRPr sz="900">
              <a:latin typeface="Arial"/>
              <a:cs typeface="Arial"/>
            </a:endParaRPr>
          </a:p>
        </p:txBody>
      </p:sp>
      <p:pic>
        <p:nvPicPr>
          <p:cNvPr id="5" name="object 5"/>
          <p:cNvPicPr/>
          <p:nvPr/>
        </p:nvPicPr>
        <p:blipFill>
          <a:blip r:embed="rId4" cstate="print"/>
          <a:stretch>
            <a:fillRect/>
          </a:stretch>
        </p:blipFill>
        <p:spPr>
          <a:xfrm>
            <a:off x="1088313" y="2098865"/>
            <a:ext cx="2431378" cy="1005611"/>
          </a:xfrm>
          <a:prstGeom prst="rect">
            <a:avLst/>
          </a:prstGeom>
        </p:spPr>
      </p:pic>
      <p:sp>
        <p:nvSpPr>
          <p:cNvPr id="6" name="object 6"/>
          <p:cNvSpPr txBox="1"/>
          <p:nvPr/>
        </p:nvSpPr>
        <p:spPr>
          <a:xfrm>
            <a:off x="1916112" y="3189330"/>
            <a:ext cx="42545" cy="116839"/>
          </a:xfrm>
          <a:prstGeom prst="rect">
            <a:avLst/>
          </a:prstGeom>
        </p:spPr>
        <p:txBody>
          <a:bodyPr vert="horz" wrap="square" lIns="0" tIns="12065" rIns="0" bIns="0" rtlCol="0">
            <a:spAutoFit/>
          </a:bodyPr>
          <a:lstStyle/>
          <a:p>
            <a:pPr marL="12700">
              <a:lnSpc>
                <a:spcPct val="100000"/>
              </a:lnSpc>
              <a:spcBef>
                <a:spcPts val="95"/>
              </a:spcBef>
            </a:pPr>
            <a:r>
              <a:rPr sz="600" i="1" spc="-5" dirty="0">
                <a:latin typeface="Arial"/>
                <a:cs typeface="Arial"/>
              </a:rPr>
              <a:t>i</a:t>
            </a:r>
            <a:endParaRPr sz="600">
              <a:latin typeface="Arial"/>
              <a:cs typeface="Arial"/>
            </a:endParaRPr>
          </a:p>
        </p:txBody>
      </p:sp>
      <p:sp>
        <p:nvSpPr>
          <p:cNvPr id="7" name="object 7"/>
          <p:cNvSpPr txBox="1"/>
          <p:nvPr/>
        </p:nvSpPr>
        <p:spPr>
          <a:xfrm>
            <a:off x="1727644" y="3129736"/>
            <a:ext cx="1161415" cy="147320"/>
          </a:xfrm>
          <a:prstGeom prst="rect">
            <a:avLst/>
          </a:prstGeom>
        </p:spPr>
        <p:txBody>
          <a:bodyPr vert="horz" wrap="square" lIns="0" tIns="12065" rIns="0" bIns="0" rtlCol="0">
            <a:spAutoFit/>
          </a:bodyPr>
          <a:lstStyle/>
          <a:p>
            <a:pPr marL="38100">
              <a:lnSpc>
                <a:spcPct val="100000"/>
              </a:lnSpc>
              <a:spcBef>
                <a:spcPts val="95"/>
              </a:spcBef>
            </a:pPr>
            <a:r>
              <a:rPr sz="800" i="1" dirty="0">
                <a:latin typeface="Arial"/>
                <a:cs typeface="Arial"/>
              </a:rPr>
              <a:t>KW</a:t>
            </a:r>
            <a:r>
              <a:rPr sz="900" i="1" baseline="27777" dirty="0">
                <a:latin typeface="Menlo"/>
                <a:cs typeface="Menlo"/>
              </a:rPr>
              <a:t>∗</a:t>
            </a:r>
            <a:r>
              <a:rPr sz="900" i="1" spc="-82" baseline="27777" dirty="0">
                <a:latin typeface="Menlo"/>
                <a:cs typeface="Menlo"/>
              </a:rPr>
              <a:t> </a:t>
            </a:r>
            <a:r>
              <a:rPr sz="800" spc="185" dirty="0">
                <a:latin typeface="Arial"/>
                <a:cs typeface="Arial"/>
              </a:rPr>
              <a:t>=</a:t>
            </a:r>
            <a:r>
              <a:rPr sz="800" spc="20" dirty="0">
                <a:latin typeface="Arial"/>
                <a:cs typeface="Arial"/>
              </a:rPr>
              <a:t> </a:t>
            </a:r>
            <a:r>
              <a:rPr sz="800" i="1" dirty="0">
                <a:latin typeface="Arial"/>
                <a:cs typeface="Arial"/>
              </a:rPr>
              <a:t>PEKS</a:t>
            </a:r>
            <a:r>
              <a:rPr sz="800" dirty="0">
                <a:latin typeface="Arial"/>
                <a:cs typeface="Arial"/>
              </a:rPr>
              <a:t>(</a:t>
            </a:r>
            <a:r>
              <a:rPr sz="800" i="1" dirty="0">
                <a:latin typeface="Arial"/>
                <a:cs typeface="Arial"/>
              </a:rPr>
              <a:t>PK</a:t>
            </a:r>
            <a:r>
              <a:rPr sz="800" i="1" dirty="0">
                <a:latin typeface="STIX Two Text"/>
                <a:cs typeface="STIX Two Text"/>
              </a:rPr>
              <a:t>,</a:t>
            </a:r>
            <a:r>
              <a:rPr sz="800" i="1" spc="-65" dirty="0">
                <a:latin typeface="STIX Two Text"/>
                <a:cs typeface="STIX Two Text"/>
              </a:rPr>
              <a:t> </a:t>
            </a:r>
            <a:r>
              <a:rPr sz="800" i="1" spc="-10" dirty="0">
                <a:latin typeface="Arial"/>
                <a:cs typeface="Arial"/>
              </a:rPr>
              <a:t>KW</a:t>
            </a:r>
            <a:r>
              <a:rPr sz="900" i="1" spc="-15" baseline="-13888" dirty="0">
                <a:latin typeface="Arial"/>
                <a:cs typeface="Arial"/>
              </a:rPr>
              <a:t>i</a:t>
            </a:r>
            <a:r>
              <a:rPr sz="900" i="1" spc="-52" baseline="-13888" dirty="0">
                <a:latin typeface="Arial"/>
                <a:cs typeface="Arial"/>
              </a:rPr>
              <a:t> </a:t>
            </a:r>
            <a:r>
              <a:rPr sz="800" spc="10" dirty="0">
                <a:latin typeface="Arial"/>
                <a:cs typeface="Arial"/>
              </a:rPr>
              <a:t>)</a:t>
            </a:r>
            <a:endParaRPr sz="800">
              <a:latin typeface="Arial"/>
              <a:cs typeface="Arial"/>
            </a:endParaRPr>
          </a:p>
        </p:txBody>
      </p:sp>
      <p:grpSp>
        <p:nvGrpSpPr>
          <p:cNvPr id="8" name="object 8"/>
          <p:cNvGrpSpPr/>
          <p:nvPr/>
        </p:nvGrpSpPr>
        <p:grpSpPr>
          <a:xfrm>
            <a:off x="0" y="3348469"/>
            <a:ext cx="4608195" cy="107950"/>
            <a:chOff x="0" y="3348469"/>
            <a:chExt cx="4608195" cy="107950"/>
          </a:xfrm>
        </p:grpSpPr>
        <p:sp>
          <p:nvSpPr>
            <p:cNvPr id="9" name="object 9"/>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0" name="object 10"/>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1" name="object 11"/>
          <p:cNvSpPr txBox="1"/>
          <p:nvPr/>
        </p:nvSpPr>
        <p:spPr>
          <a:xfrm>
            <a:off x="53467" y="3349927"/>
            <a:ext cx="100266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5" action="ppaction://hlinksldjump"/>
              </a:rPr>
              <a:t>Secure</a:t>
            </a:r>
            <a:r>
              <a:rPr sz="500" spc="5" dirty="0">
                <a:latin typeface="Arial"/>
                <a:cs typeface="Arial"/>
                <a:hlinkClick r:id="rId5" action="ppaction://hlinksldjump"/>
              </a:rPr>
              <a:t> </a:t>
            </a:r>
            <a:r>
              <a:rPr sz="500" spc="-10" dirty="0">
                <a:latin typeface="Arial"/>
                <a:cs typeface="Arial"/>
                <a:hlinkClick r:id="rId5" action="ppaction://hlinksldjump"/>
              </a:rPr>
              <a:t>publish-</a:t>
            </a:r>
            <a:r>
              <a:rPr sz="500" dirty="0">
                <a:latin typeface="Arial"/>
                <a:cs typeface="Arial"/>
                <a:hlinkClick r:id="rId5" action="ppaction://hlinksldjump"/>
              </a:rPr>
              <a:t>subscribe</a:t>
            </a:r>
            <a:r>
              <a:rPr sz="500" spc="5" dirty="0">
                <a:latin typeface="Arial"/>
                <a:cs typeface="Arial"/>
                <a:hlinkClick r:id="rId5" action="ppaction://hlinksldjump"/>
              </a:rPr>
              <a:t> </a:t>
            </a:r>
            <a:r>
              <a:rPr sz="500" spc="-10" dirty="0">
                <a:latin typeface="Arial"/>
                <a:cs typeface="Arial"/>
                <a:hlinkClick r:id="rId5" action="ppaction://hlinksldjump"/>
              </a:rPr>
              <a:t>solutions</a:t>
            </a:r>
            <a:endParaRPr sz="500">
              <a:latin typeface="Arial"/>
              <a:cs typeface="Arial"/>
            </a:endParaRPr>
          </a:p>
        </p:txBody>
      </p:sp>
    </p:spTree>
    <p:extLst>
      <p:ext uri="{BB962C8B-B14F-4D97-AF65-F5344CB8AC3E}">
        <p14:creationId xmlns:p14="http://schemas.microsoft.com/office/powerpoint/2010/main" val="2083889188"/>
      </p:ext>
    </p:extLst>
  </p:cSld>
  <p:clrMapOvr>
    <a:masterClrMapping/>
  </p:clrMapOvr>
  <p:transition>
    <p:fade/>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735704" algn="l"/>
              </a:tabLst>
            </a:pPr>
            <a:r>
              <a:rPr sz="500" spc="-10" dirty="0">
                <a:latin typeface="Arial"/>
                <a:cs typeface="Arial"/>
                <a:hlinkClick r:id="rId2" action="ppaction://hlinksldjump"/>
              </a:rPr>
              <a:t>Coordination</a:t>
            </a:r>
            <a:r>
              <a:rPr sz="500" dirty="0">
                <a:latin typeface="Arial"/>
                <a:cs typeface="Arial"/>
              </a:rPr>
              <a:t>	</a:t>
            </a:r>
            <a:r>
              <a:rPr sz="500" spc="-10" dirty="0">
                <a:solidFill>
                  <a:srgbClr val="FFFFFF"/>
                </a:solidFill>
                <a:latin typeface="Arial"/>
                <a:cs typeface="Arial"/>
                <a:hlinkClick r:id="rId3" action="ppaction://hlinksldjump"/>
              </a:rPr>
              <a:t>Gossip-</a:t>
            </a:r>
            <a:r>
              <a:rPr sz="500" dirty="0">
                <a:solidFill>
                  <a:srgbClr val="FFFFFF"/>
                </a:solidFill>
                <a:latin typeface="Arial"/>
                <a:cs typeface="Arial"/>
                <a:hlinkClick r:id="rId3" action="ppaction://hlinksldjump"/>
              </a:rPr>
              <a:t>based</a:t>
            </a:r>
            <a:r>
              <a:rPr sz="500" spc="30"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coordination</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0" dirty="0"/>
              <a:t>Gossip-</a:t>
            </a:r>
            <a:r>
              <a:rPr dirty="0"/>
              <a:t>based</a:t>
            </a:r>
            <a:r>
              <a:rPr spc="-40" dirty="0"/>
              <a:t> </a:t>
            </a:r>
            <a:r>
              <a:rPr dirty="0"/>
              <a:t>coordination:</a:t>
            </a:r>
            <a:r>
              <a:rPr spc="35" dirty="0"/>
              <a:t> </a:t>
            </a:r>
            <a:r>
              <a:rPr spc="-10" dirty="0"/>
              <a:t>aggregation</a:t>
            </a:r>
          </a:p>
        </p:txBody>
      </p:sp>
      <p:sp>
        <p:nvSpPr>
          <p:cNvPr id="4" name="object 4"/>
          <p:cNvSpPr txBox="1"/>
          <p:nvPr/>
        </p:nvSpPr>
        <p:spPr>
          <a:xfrm>
            <a:off x="330682" y="514774"/>
            <a:ext cx="3964940" cy="1443355"/>
          </a:xfrm>
          <a:prstGeom prst="rect">
            <a:avLst/>
          </a:prstGeom>
        </p:spPr>
        <p:txBody>
          <a:bodyPr vert="horz" wrap="square" lIns="0" tIns="12065" rIns="0" bIns="0" rtlCol="0">
            <a:spAutoFit/>
          </a:bodyPr>
          <a:lstStyle/>
          <a:p>
            <a:pPr marL="25400">
              <a:lnSpc>
                <a:spcPct val="100000"/>
              </a:lnSpc>
              <a:spcBef>
                <a:spcPts val="95"/>
              </a:spcBef>
            </a:pPr>
            <a:r>
              <a:rPr sz="1000" spc="-20" dirty="0">
                <a:solidFill>
                  <a:srgbClr val="3333B2"/>
                </a:solidFill>
                <a:latin typeface="Arial"/>
                <a:cs typeface="Arial"/>
              </a:rPr>
              <a:t>Typical apps</a:t>
            </a:r>
            <a:endParaRPr sz="1000">
              <a:latin typeface="Arial"/>
              <a:cs typeface="Arial"/>
            </a:endParaRPr>
          </a:p>
          <a:p>
            <a:pPr marL="281940" marR="41275" indent="-120650">
              <a:lnSpc>
                <a:spcPct val="111600"/>
              </a:lnSpc>
              <a:spcBef>
                <a:spcPts val="575"/>
              </a:spcBef>
              <a:buClr>
                <a:srgbClr val="3333B2"/>
              </a:buClr>
              <a:buFont typeface="Menlo"/>
              <a:buChar char="•"/>
              <a:tabLst>
                <a:tab pos="282575" algn="l"/>
              </a:tabLst>
            </a:pPr>
            <a:r>
              <a:rPr sz="900" dirty="0">
                <a:solidFill>
                  <a:srgbClr val="C80000"/>
                </a:solidFill>
                <a:latin typeface="Arial"/>
                <a:cs typeface="Arial"/>
              </a:rPr>
              <a:t>Data</a:t>
            </a:r>
            <a:r>
              <a:rPr sz="900" spc="-40" dirty="0">
                <a:solidFill>
                  <a:srgbClr val="C80000"/>
                </a:solidFill>
                <a:latin typeface="Arial"/>
                <a:cs typeface="Arial"/>
              </a:rPr>
              <a:t> </a:t>
            </a:r>
            <a:r>
              <a:rPr sz="900" spc="-10" dirty="0">
                <a:solidFill>
                  <a:srgbClr val="C80000"/>
                </a:solidFill>
                <a:latin typeface="Arial"/>
                <a:cs typeface="Arial"/>
              </a:rPr>
              <a:t>dissemination</a:t>
            </a:r>
            <a:r>
              <a:rPr sz="900" spc="-10" dirty="0">
                <a:latin typeface="Arial"/>
                <a:cs typeface="Arial"/>
              </a:rPr>
              <a:t>:</a:t>
            </a:r>
            <a:r>
              <a:rPr sz="900" spc="20" dirty="0">
                <a:latin typeface="Arial"/>
                <a:cs typeface="Arial"/>
              </a:rPr>
              <a:t> </a:t>
            </a:r>
            <a:r>
              <a:rPr sz="900" spc="-10" dirty="0">
                <a:latin typeface="Arial"/>
                <a:cs typeface="Arial"/>
              </a:rPr>
              <a:t>Perhaps</a:t>
            </a:r>
            <a:r>
              <a:rPr sz="900" spc="-35" dirty="0">
                <a:latin typeface="Arial"/>
                <a:cs typeface="Arial"/>
              </a:rPr>
              <a:t> </a:t>
            </a:r>
            <a:r>
              <a:rPr sz="900" dirty="0">
                <a:latin typeface="Arial"/>
                <a:cs typeface="Arial"/>
              </a:rPr>
              <a:t>the</a:t>
            </a:r>
            <a:r>
              <a:rPr sz="900" spc="-40" dirty="0">
                <a:latin typeface="Arial"/>
                <a:cs typeface="Arial"/>
              </a:rPr>
              <a:t> </a:t>
            </a:r>
            <a:r>
              <a:rPr sz="900" dirty="0">
                <a:latin typeface="Arial"/>
                <a:cs typeface="Arial"/>
              </a:rPr>
              <a:t>most</a:t>
            </a:r>
            <a:r>
              <a:rPr sz="900" spc="-35" dirty="0">
                <a:latin typeface="Arial"/>
                <a:cs typeface="Arial"/>
              </a:rPr>
              <a:t> </a:t>
            </a:r>
            <a:r>
              <a:rPr sz="900" dirty="0">
                <a:latin typeface="Arial"/>
                <a:cs typeface="Arial"/>
              </a:rPr>
              <a:t>important</a:t>
            </a:r>
            <a:r>
              <a:rPr sz="900" spc="-35" dirty="0">
                <a:latin typeface="Arial"/>
                <a:cs typeface="Arial"/>
              </a:rPr>
              <a:t> </a:t>
            </a:r>
            <a:r>
              <a:rPr sz="900" dirty="0">
                <a:latin typeface="Arial"/>
                <a:cs typeface="Arial"/>
              </a:rPr>
              <a:t>one.</a:t>
            </a:r>
            <a:r>
              <a:rPr sz="900" spc="15" dirty="0">
                <a:latin typeface="Arial"/>
                <a:cs typeface="Arial"/>
              </a:rPr>
              <a:t> </a:t>
            </a:r>
            <a:r>
              <a:rPr sz="900" dirty="0">
                <a:latin typeface="Arial"/>
                <a:cs typeface="Arial"/>
              </a:rPr>
              <a:t>Note</a:t>
            </a:r>
            <a:r>
              <a:rPr sz="900" spc="-35" dirty="0">
                <a:latin typeface="Arial"/>
                <a:cs typeface="Arial"/>
              </a:rPr>
              <a:t> </a:t>
            </a:r>
            <a:r>
              <a:rPr sz="900" dirty="0">
                <a:latin typeface="Arial"/>
                <a:cs typeface="Arial"/>
              </a:rPr>
              <a:t>that</a:t>
            </a:r>
            <a:r>
              <a:rPr sz="900" spc="-35" dirty="0">
                <a:latin typeface="Arial"/>
                <a:cs typeface="Arial"/>
              </a:rPr>
              <a:t> </a:t>
            </a:r>
            <a:r>
              <a:rPr sz="900" dirty="0">
                <a:latin typeface="Arial"/>
                <a:cs typeface="Arial"/>
              </a:rPr>
              <a:t>there</a:t>
            </a:r>
            <a:r>
              <a:rPr sz="900" spc="-35" dirty="0">
                <a:latin typeface="Arial"/>
                <a:cs typeface="Arial"/>
              </a:rPr>
              <a:t> </a:t>
            </a:r>
            <a:r>
              <a:rPr sz="900" spc="-25" dirty="0">
                <a:latin typeface="Arial"/>
                <a:cs typeface="Arial"/>
              </a:rPr>
              <a:t>are </a:t>
            </a:r>
            <a:r>
              <a:rPr sz="900" dirty="0">
                <a:latin typeface="Arial"/>
                <a:cs typeface="Arial"/>
              </a:rPr>
              <a:t>many</a:t>
            </a:r>
            <a:r>
              <a:rPr sz="900" spc="-40" dirty="0">
                <a:latin typeface="Arial"/>
                <a:cs typeface="Arial"/>
              </a:rPr>
              <a:t> </a:t>
            </a:r>
            <a:r>
              <a:rPr sz="900" dirty="0">
                <a:latin typeface="Arial"/>
                <a:cs typeface="Arial"/>
              </a:rPr>
              <a:t>variants</a:t>
            </a:r>
            <a:r>
              <a:rPr sz="900" spc="-35" dirty="0">
                <a:latin typeface="Arial"/>
                <a:cs typeface="Arial"/>
              </a:rPr>
              <a:t> </a:t>
            </a:r>
            <a:r>
              <a:rPr sz="900" dirty="0">
                <a:latin typeface="Arial"/>
                <a:cs typeface="Arial"/>
              </a:rPr>
              <a:t>of</a:t>
            </a:r>
            <a:r>
              <a:rPr sz="900" spc="-35" dirty="0">
                <a:latin typeface="Arial"/>
                <a:cs typeface="Arial"/>
              </a:rPr>
              <a:t> </a:t>
            </a:r>
            <a:r>
              <a:rPr sz="900" spc="-10" dirty="0">
                <a:latin typeface="Arial"/>
                <a:cs typeface="Arial"/>
              </a:rPr>
              <a:t>dissemination.</a:t>
            </a:r>
            <a:endParaRPr sz="900">
              <a:latin typeface="Arial"/>
              <a:cs typeface="Arial"/>
            </a:endParaRPr>
          </a:p>
          <a:p>
            <a:pPr marL="281940" marR="75565" indent="-120650">
              <a:lnSpc>
                <a:spcPct val="111600"/>
              </a:lnSpc>
              <a:spcBef>
                <a:spcPts val="400"/>
              </a:spcBef>
              <a:buClr>
                <a:srgbClr val="3333B2"/>
              </a:buClr>
              <a:buFont typeface="Menlo"/>
              <a:buChar char="•"/>
              <a:tabLst>
                <a:tab pos="282575" algn="l"/>
              </a:tabLst>
            </a:pPr>
            <a:r>
              <a:rPr sz="900" dirty="0">
                <a:solidFill>
                  <a:srgbClr val="C80000"/>
                </a:solidFill>
                <a:latin typeface="Arial"/>
                <a:cs typeface="Arial"/>
              </a:rPr>
              <a:t>Aggregation</a:t>
            </a:r>
            <a:r>
              <a:rPr sz="900" dirty="0">
                <a:latin typeface="Arial"/>
                <a:cs typeface="Arial"/>
              </a:rPr>
              <a:t>:</a:t>
            </a:r>
            <a:r>
              <a:rPr sz="900" spc="25" dirty="0">
                <a:latin typeface="Arial"/>
                <a:cs typeface="Arial"/>
              </a:rPr>
              <a:t> </a:t>
            </a:r>
            <a:r>
              <a:rPr sz="900" dirty="0">
                <a:latin typeface="Arial"/>
                <a:cs typeface="Arial"/>
              </a:rPr>
              <a:t>Let</a:t>
            </a:r>
            <a:r>
              <a:rPr sz="900" spc="-25" dirty="0">
                <a:latin typeface="Arial"/>
                <a:cs typeface="Arial"/>
              </a:rPr>
              <a:t> </a:t>
            </a:r>
            <a:r>
              <a:rPr sz="900" dirty="0">
                <a:latin typeface="Arial"/>
                <a:cs typeface="Arial"/>
              </a:rPr>
              <a:t>every</a:t>
            </a:r>
            <a:r>
              <a:rPr sz="900" spc="-20" dirty="0">
                <a:latin typeface="Arial"/>
                <a:cs typeface="Arial"/>
              </a:rPr>
              <a:t> </a:t>
            </a:r>
            <a:r>
              <a:rPr sz="900" dirty="0">
                <a:latin typeface="Arial"/>
                <a:cs typeface="Arial"/>
              </a:rPr>
              <a:t>node</a:t>
            </a:r>
            <a:r>
              <a:rPr sz="900" spc="-25" dirty="0">
                <a:latin typeface="Arial"/>
                <a:cs typeface="Arial"/>
              </a:rPr>
              <a:t> </a:t>
            </a:r>
            <a:r>
              <a:rPr sz="900" i="1" dirty="0">
                <a:latin typeface="Arial"/>
                <a:cs typeface="Arial"/>
              </a:rPr>
              <a:t>P</a:t>
            </a:r>
            <a:r>
              <a:rPr sz="1050" i="1" baseline="-15873" dirty="0">
                <a:latin typeface="Arial"/>
                <a:cs typeface="Arial"/>
              </a:rPr>
              <a:t>i</a:t>
            </a:r>
            <a:r>
              <a:rPr sz="1050" i="1" spc="202" baseline="-15873" dirty="0">
                <a:latin typeface="Arial"/>
                <a:cs typeface="Arial"/>
              </a:rPr>
              <a:t> </a:t>
            </a:r>
            <a:r>
              <a:rPr sz="900" dirty="0">
                <a:latin typeface="Arial"/>
                <a:cs typeface="Arial"/>
              </a:rPr>
              <a:t>maintain</a:t>
            </a:r>
            <a:r>
              <a:rPr sz="900" spc="-20" dirty="0">
                <a:latin typeface="Arial"/>
                <a:cs typeface="Arial"/>
              </a:rPr>
              <a:t> </a:t>
            </a:r>
            <a:r>
              <a:rPr sz="900" dirty="0">
                <a:latin typeface="Arial"/>
                <a:cs typeface="Arial"/>
              </a:rPr>
              <a:t>a</a:t>
            </a:r>
            <a:r>
              <a:rPr sz="900" spc="-25" dirty="0">
                <a:latin typeface="Arial"/>
                <a:cs typeface="Arial"/>
              </a:rPr>
              <a:t> </a:t>
            </a:r>
            <a:r>
              <a:rPr sz="900" spc="-10" dirty="0">
                <a:latin typeface="Arial"/>
                <a:cs typeface="Arial"/>
              </a:rPr>
              <a:t>variable</a:t>
            </a:r>
            <a:r>
              <a:rPr sz="900" spc="-20" dirty="0">
                <a:latin typeface="Arial"/>
                <a:cs typeface="Arial"/>
              </a:rPr>
              <a:t> </a:t>
            </a:r>
            <a:r>
              <a:rPr sz="900" i="1" spc="-10" dirty="0">
                <a:latin typeface="Arial"/>
                <a:cs typeface="Arial"/>
              </a:rPr>
              <a:t>v</a:t>
            </a:r>
            <a:r>
              <a:rPr sz="1050" i="1" spc="-15" baseline="-15873" dirty="0">
                <a:latin typeface="Arial"/>
                <a:cs typeface="Arial"/>
              </a:rPr>
              <a:t>i</a:t>
            </a:r>
            <a:r>
              <a:rPr sz="1050" i="1" spc="-127" baseline="-15873" dirty="0">
                <a:latin typeface="Arial"/>
                <a:cs typeface="Arial"/>
              </a:rPr>
              <a:t> </a:t>
            </a:r>
            <a:r>
              <a:rPr sz="900" dirty="0">
                <a:latin typeface="Arial"/>
                <a:cs typeface="Arial"/>
              </a:rPr>
              <a:t>.</a:t>
            </a:r>
            <a:r>
              <a:rPr sz="900" spc="30" dirty="0">
                <a:latin typeface="Arial"/>
                <a:cs typeface="Arial"/>
              </a:rPr>
              <a:t> </a:t>
            </a:r>
            <a:r>
              <a:rPr sz="900" dirty="0">
                <a:latin typeface="Arial"/>
                <a:cs typeface="Arial"/>
              </a:rPr>
              <a:t>When</a:t>
            </a:r>
            <a:r>
              <a:rPr sz="900" spc="-20" dirty="0">
                <a:latin typeface="Arial"/>
                <a:cs typeface="Arial"/>
              </a:rPr>
              <a:t> </a:t>
            </a:r>
            <a:r>
              <a:rPr sz="900" dirty="0">
                <a:latin typeface="Arial"/>
                <a:cs typeface="Arial"/>
              </a:rPr>
              <a:t>two</a:t>
            </a:r>
            <a:r>
              <a:rPr sz="900" spc="-20" dirty="0">
                <a:latin typeface="Arial"/>
                <a:cs typeface="Arial"/>
              </a:rPr>
              <a:t> </a:t>
            </a:r>
            <a:r>
              <a:rPr sz="900" spc="-10" dirty="0">
                <a:latin typeface="Arial"/>
                <a:cs typeface="Arial"/>
              </a:rPr>
              <a:t>nodes gossip,</a:t>
            </a:r>
            <a:r>
              <a:rPr sz="900" spc="-20" dirty="0">
                <a:latin typeface="Arial"/>
                <a:cs typeface="Arial"/>
              </a:rPr>
              <a:t> </a:t>
            </a:r>
            <a:r>
              <a:rPr sz="900" dirty="0">
                <a:latin typeface="Arial"/>
                <a:cs typeface="Arial"/>
              </a:rPr>
              <a:t>they</a:t>
            </a:r>
            <a:r>
              <a:rPr sz="900" spc="-15" dirty="0">
                <a:latin typeface="Arial"/>
                <a:cs typeface="Arial"/>
              </a:rPr>
              <a:t> </a:t>
            </a:r>
            <a:r>
              <a:rPr sz="900" dirty="0">
                <a:latin typeface="Arial"/>
                <a:cs typeface="Arial"/>
              </a:rPr>
              <a:t>each</a:t>
            </a:r>
            <a:r>
              <a:rPr sz="900" spc="-20" dirty="0">
                <a:latin typeface="Arial"/>
                <a:cs typeface="Arial"/>
              </a:rPr>
              <a:t> </a:t>
            </a:r>
            <a:r>
              <a:rPr sz="900" dirty="0">
                <a:latin typeface="Arial"/>
                <a:cs typeface="Arial"/>
              </a:rPr>
              <a:t>reset</a:t>
            </a:r>
            <a:r>
              <a:rPr sz="900" spc="-15" dirty="0">
                <a:latin typeface="Arial"/>
                <a:cs typeface="Arial"/>
              </a:rPr>
              <a:t> </a:t>
            </a:r>
            <a:r>
              <a:rPr sz="900" dirty="0">
                <a:latin typeface="Arial"/>
                <a:cs typeface="Arial"/>
              </a:rPr>
              <a:t>their</a:t>
            </a:r>
            <a:r>
              <a:rPr sz="900" spc="-20" dirty="0">
                <a:latin typeface="Arial"/>
                <a:cs typeface="Arial"/>
              </a:rPr>
              <a:t> </a:t>
            </a:r>
            <a:r>
              <a:rPr sz="900" spc="-10" dirty="0">
                <a:latin typeface="Arial"/>
                <a:cs typeface="Arial"/>
              </a:rPr>
              <a:t>variable</a:t>
            </a:r>
            <a:r>
              <a:rPr sz="900" spc="-15" dirty="0">
                <a:latin typeface="Arial"/>
                <a:cs typeface="Arial"/>
              </a:rPr>
              <a:t> </a:t>
            </a:r>
            <a:r>
              <a:rPr sz="900" spc="-25" dirty="0">
                <a:latin typeface="Arial"/>
                <a:cs typeface="Arial"/>
              </a:rPr>
              <a:t>to</a:t>
            </a:r>
            <a:endParaRPr sz="900">
              <a:latin typeface="Arial"/>
              <a:cs typeface="Arial"/>
            </a:endParaRPr>
          </a:p>
          <a:p>
            <a:pPr marL="234315" algn="ctr">
              <a:lnSpc>
                <a:spcPct val="100000"/>
              </a:lnSpc>
              <a:spcBef>
                <a:spcPts val="969"/>
              </a:spcBef>
            </a:pPr>
            <a:r>
              <a:rPr sz="900" i="1" spc="-10" dirty="0">
                <a:latin typeface="Arial"/>
                <a:cs typeface="Arial"/>
              </a:rPr>
              <a:t>v</a:t>
            </a:r>
            <a:r>
              <a:rPr sz="1050" i="1" spc="-15" baseline="-15873" dirty="0">
                <a:latin typeface="Arial"/>
                <a:cs typeface="Arial"/>
              </a:rPr>
              <a:t>i</a:t>
            </a:r>
            <a:r>
              <a:rPr sz="1050" i="1" spc="-112" baseline="-15873" dirty="0">
                <a:latin typeface="Arial"/>
                <a:cs typeface="Arial"/>
              </a:rPr>
              <a:t> </a:t>
            </a:r>
            <a:r>
              <a:rPr sz="900" i="1" dirty="0">
                <a:latin typeface="STIX Two Text"/>
                <a:cs typeface="STIX Two Text"/>
              </a:rPr>
              <a:t>,</a:t>
            </a:r>
            <a:r>
              <a:rPr sz="900" i="1" spc="-100" dirty="0">
                <a:latin typeface="STIX Two Text"/>
                <a:cs typeface="STIX Two Text"/>
              </a:rPr>
              <a:t> </a:t>
            </a:r>
            <a:r>
              <a:rPr sz="900" i="1" dirty="0">
                <a:latin typeface="Arial"/>
                <a:cs typeface="Arial"/>
              </a:rPr>
              <a:t>v</a:t>
            </a:r>
            <a:r>
              <a:rPr sz="1050" i="1" baseline="-15873" dirty="0">
                <a:latin typeface="Arial"/>
                <a:cs typeface="Arial"/>
              </a:rPr>
              <a:t>j</a:t>
            </a:r>
            <a:r>
              <a:rPr sz="1050" i="1" spc="209" baseline="-15873" dirty="0">
                <a:latin typeface="Arial"/>
                <a:cs typeface="Arial"/>
              </a:rPr>
              <a:t> </a:t>
            </a:r>
            <a:r>
              <a:rPr sz="900" i="1" spc="350" dirty="0">
                <a:latin typeface="Menlo"/>
                <a:cs typeface="Menlo"/>
              </a:rPr>
              <a:t>←</a:t>
            </a:r>
            <a:r>
              <a:rPr sz="900" i="1" spc="-325" dirty="0">
                <a:latin typeface="Menlo"/>
                <a:cs typeface="Menlo"/>
              </a:rPr>
              <a:t> </a:t>
            </a:r>
            <a:r>
              <a:rPr sz="900" dirty="0">
                <a:latin typeface="Arial"/>
                <a:cs typeface="Arial"/>
              </a:rPr>
              <a:t>(</a:t>
            </a:r>
            <a:r>
              <a:rPr sz="900" i="1" dirty="0">
                <a:latin typeface="Arial"/>
                <a:cs typeface="Arial"/>
              </a:rPr>
              <a:t>v</a:t>
            </a:r>
            <a:r>
              <a:rPr sz="1050" i="1" baseline="-15873" dirty="0">
                <a:latin typeface="Arial"/>
                <a:cs typeface="Arial"/>
              </a:rPr>
              <a:t>i</a:t>
            </a:r>
            <a:r>
              <a:rPr sz="1050" i="1" spc="82" baseline="-15873" dirty="0">
                <a:latin typeface="Arial"/>
                <a:cs typeface="Arial"/>
              </a:rPr>
              <a:t> </a:t>
            </a:r>
            <a:r>
              <a:rPr sz="900" spc="185" dirty="0">
                <a:latin typeface="Arial"/>
                <a:cs typeface="Arial"/>
              </a:rPr>
              <a:t>+</a:t>
            </a:r>
            <a:r>
              <a:rPr sz="900" spc="-120" dirty="0">
                <a:latin typeface="Arial"/>
                <a:cs typeface="Arial"/>
              </a:rPr>
              <a:t> </a:t>
            </a:r>
            <a:r>
              <a:rPr sz="900" i="1" spc="-10" dirty="0">
                <a:latin typeface="Arial"/>
                <a:cs typeface="Arial"/>
              </a:rPr>
              <a:t>v</a:t>
            </a:r>
            <a:r>
              <a:rPr sz="1050" i="1" spc="-15" baseline="-15873" dirty="0">
                <a:latin typeface="Arial"/>
                <a:cs typeface="Arial"/>
              </a:rPr>
              <a:t>j</a:t>
            </a:r>
            <a:r>
              <a:rPr sz="1050" i="1" spc="-112" baseline="-15873" dirty="0">
                <a:latin typeface="Arial"/>
                <a:cs typeface="Arial"/>
              </a:rPr>
              <a:t> </a:t>
            </a:r>
            <a:r>
              <a:rPr sz="900" spc="25" dirty="0">
                <a:latin typeface="Arial"/>
                <a:cs typeface="Arial"/>
              </a:rPr>
              <a:t>)</a:t>
            </a:r>
            <a:r>
              <a:rPr sz="900" i="1" spc="25" dirty="0">
                <a:latin typeface="STIX Two Text"/>
                <a:cs typeface="STIX Two Text"/>
              </a:rPr>
              <a:t>/</a:t>
            </a:r>
            <a:r>
              <a:rPr sz="900" spc="25" dirty="0">
                <a:latin typeface="Arial"/>
                <a:cs typeface="Arial"/>
              </a:rPr>
              <a:t>2</a:t>
            </a:r>
            <a:endParaRPr sz="900">
              <a:latin typeface="Arial"/>
              <a:cs typeface="Arial"/>
            </a:endParaRPr>
          </a:p>
          <a:p>
            <a:pPr marL="256540" algn="ctr">
              <a:lnSpc>
                <a:spcPct val="100000"/>
              </a:lnSpc>
              <a:spcBef>
                <a:spcPts val="1040"/>
              </a:spcBef>
            </a:pPr>
            <a:r>
              <a:rPr sz="1350" baseline="3086" dirty="0">
                <a:latin typeface="Arial"/>
                <a:cs typeface="Arial"/>
              </a:rPr>
              <a:t>Result:</a:t>
            </a:r>
            <a:r>
              <a:rPr sz="1350" spc="-52" baseline="3086" dirty="0">
                <a:latin typeface="Arial"/>
                <a:cs typeface="Arial"/>
              </a:rPr>
              <a:t> </a:t>
            </a:r>
            <a:r>
              <a:rPr sz="1350" baseline="3086" dirty="0">
                <a:latin typeface="Arial"/>
                <a:cs typeface="Arial"/>
              </a:rPr>
              <a:t>in</a:t>
            </a:r>
            <a:r>
              <a:rPr sz="1350" spc="-44" baseline="3086" dirty="0">
                <a:latin typeface="Arial"/>
                <a:cs typeface="Arial"/>
              </a:rPr>
              <a:t> </a:t>
            </a:r>
            <a:r>
              <a:rPr sz="1350" baseline="3086" dirty="0">
                <a:latin typeface="Arial"/>
                <a:cs typeface="Arial"/>
              </a:rPr>
              <a:t>the</a:t>
            </a:r>
            <a:r>
              <a:rPr sz="1350" spc="-44" baseline="3086" dirty="0">
                <a:latin typeface="Arial"/>
                <a:cs typeface="Arial"/>
              </a:rPr>
              <a:t> </a:t>
            </a:r>
            <a:r>
              <a:rPr sz="1350" baseline="3086" dirty="0">
                <a:latin typeface="Arial"/>
                <a:cs typeface="Arial"/>
              </a:rPr>
              <a:t>end</a:t>
            </a:r>
            <a:r>
              <a:rPr sz="1350" spc="-44" baseline="3086" dirty="0">
                <a:latin typeface="Arial"/>
                <a:cs typeface="Arial"/>
              </a:rPr>
              <a:t> </a:t>
            </a:r>
            <a:r>
              <a:rPr sz="1350" spc="-15" baseline="3086" dirty="0">
                <a:latin typeface="Arial"/>
                <a:cs typeface="Arial"/>
              </a:rPr>
              <a:t>each</a:t>
            </a:r>
            <a:r>
              <a:rPr sz="1350" spc="-37" baseline="3086" dirty="0">
                <a:latin typeface="Arial"/>
                <a:cs typeface="Arial"/>
              </a:rPr>
              <a:t> </a:t>
            </a:r>
            <a:r>
              <a:rPr sz="1350" spc="-15" baseline="3086" dirty="0">
                <a:latin typeface="Arial"/>
                <a:cs typeface="Arial"/>
              </a:rPr>
              <a:t>node</a:t>
            </a:r>
            <a:r>
              <a:rPr sz="1350" spc="-44" baseline="3086" dirty="0">
                <a:latin typeface="Arial"/>
                <a:cs typeface="Arial"/>
              </a:rPr>
              <a:t> </a:t>
            </a:r>
            <a:r>
              <a:rPr sz="1350" baseline="3086" dirty="0">
                <a:latin typeface="Arial"/>
                <a:cs typeface="Arial"/>
              </a:rPr>
              <a:t>will</a:t>
            </a:r>
            <a:r>
              <a:rPr sz="1350" spc="-44" baseline="3086" dirty="0">
                <a:latin typeface="Arial"/>
                <a:cs typeface="Arial"/>
              </a:rPr>
              <a:t> </a:t>
            </a:r>
            <a:r>
              <a:rPr sz="1350" spc="-30" baseline="3086" dirty="0">
                <a:latin typeface="Arial"/>
                <a:cs typeface="Arial"/>
              </a:rPr>
              <a:t>have</a:t>
            </a:r>
            <a:r>
              <a:rPr sz="1350" spc="-44" baseline="3086" dirty="0">
                <a:latin typeface="Arial"/>
                <a:cs typeface="Arial"/>
              </a:rPr>
              <a:t> </a:t>
            </a:r>
            <a:r>
              <a:rPr sz="1350" spc="-15" baseline="3086" dirty="0">
                <a:latin typeface="Arial"/>
                <a:cs typeface="Arial"/>
              </a:rPr>
              <a:t>computed</a:t>
            </a:r>
            <a:r>
              <a:rPr sz="1350" spc="-44" baseline="3086" dirty="0">
                <a:latin typeface="Arial"/>
                <a:cs typeface="Arial"/>
              </a:rPr>
              <a:t> </a:t>
            </a:r>
            <a:r>
              <a:rPr sz="1350" baseline="3086" dirty="0">
                <a:latin typeface="Arial"/>
                <a:cs typeface="Arial"/>
              </a:rPr>
              <a:t>the</a:t>
            </a:r>
            <a:r>
              <a:rPr sz="1350" spc="-44" baseline="3086" dirty="0">
                <a:latin typeface="Arial"/>
                <a:cs typeface="Arial"/>
              </a:rPr>
              <a:t> </a:t>
            </a:r>
            <a:r>
              <a:rPr sz="1350" spc="-30" baseline="3086" dirty="0">
                <a:latin typeface="Arial"/>
                <a:cs typeface="Arial"/>
              </a:rPr>
              <a:t>average</a:t>
            </a:r>
            <a:r>
              <a:rPr sz="1350" spc="-44" baseline="3086" dirty="0">
                <a:latin typeface="Arial"/>
                <a:cs typeface="Arial"/>
              </a:rPr>
              <a:t> </a:t>
            </a:r>
            <a:r>
              <a:rPr sz="1350" i="1" spc="-352" baseline="3086" dirty="0">
                <a:latin typeface="Arial"/>
                <a:cs typeface="Arial"/>
              </a:rPr>
              <a:t>v</a:t>
            </a:r>
            <a:r>
              <a:rPr sz="1350" spc="-352" baseline="9259" dirty="0">
                <a:latin typeface="Arial"/>
                <a:cs typeface="Arial"/>
              </a:rPr>
              <a:t>¯</a:t>
            </a:r>
            <a:r>
              <a:rPr sz="1350" spc="-22" baseline="9259" dirty="0">
                <a:latin typeface="Arial"/>
                <a:cs typeface="Arial"/>
              </a:rPr>
              <a:t> </a:t>
            </a:r>
            <a:r>
              <a:rPr sz="1350" spc="277" baseline="3086" dirty="0">
                <a:latin typeface="Arial"/>
                <a:cs typeface="Arial"/>
              </a:rPr>
              <a:t>=</a:t>
            </a:r>
            <a:r>
              <a:rPr sz="1350" spc="-89" baseline="3086" dirty="0">
                <a:latin typeface="Arial"/>
                <a:cs typeface="Arial"/>
              </a:rPr>
              <a:t> </a:t>
            </a:r>
            <a:r>
              <a:rPr sz="900" dirty="0">
                <a:latin typeface="Times New Roman"/>
                <a:cs typeface="Times New Roman"/>
              </a:rPr>
              <a:t>∑</a:t>
            </a:r>
            <a:r>
              <a:rPr sz="1050" i="1" baseline="-11904" dirty="0">
                <a:latin typeface="Arial"/>
                <a:cs typeface="Arial"/>
              </a:rPr>
              <a:t>i</a:t>
            </a:r>
            <a:r>
              <a:rPr sz="1050" i="1" spc="-15" baseline="-11904" dirty="0">
                <a:latin typeface="Arial"/>
                <a:cs typeface="Arial"/>
              </a:rPr>
              <a:t> </a:t>
            </a:r>
            <a:r>
              <a:rPr sz="1350" i="1" spc="-15" baseline="3086" dirty="0">
                <a:latin typeface="Arial"/>
                <a:cs typeface="Arial"/>
              </a:rPr>
              <a:t>v</a:t>
            </a:r>
            <a:r>
              <a:rPr sz="1050" i="1" spc="-15" baseline="-11904" dirty="0">
                <a:latin typeface="Arial"/>
                <a:cs typeface="Arial"/>
              </a:rPr>
              <a:t>i</a:t>
            </a:r>
            <a:r>
              <a:rPr sz="1050" i="1" spc="-127" baseline="-11904" dirty="0">
                <a:latin typeface="Arial"/>
                <a:cs typeface="Arial"/>
              </a:rPr>
              <a:t> </a:t>
            </a:r>
            <a:r>
              <a:rPr sz="1350" i="1" spc="-37" baseline="3086" dirty="0">
                <a:latin typeface="STIX Two Text"/>
                <a:cs typeface="STIX Two Text"/>
              </a:rPr>
              <a:t>/</a:t>
            </a:r>
            <a:r>
              <a:rPr sz="1350" i="1" spc="-37" baseline="3086" dirty="0">
                <a:latin typeface="Arial"/>
                <a:cs typeface="Arial"/>
              </a:rPr>
              <a:t>N</a:t>
            </a:r>
            <a:r>
              <a:rPr sz="1350" spc="-37" baseline="3086" dirty="0">
                <a:latin typeface="Arial"/>
                <a:cs typeface="Arial"/>
              </a:rPr>
              <a:t>.</a:t>
            </a:r>
            <a:endParaRPr sz="1350" baseline="3086">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366395"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3" action="ppaction://hlinksldjump"/>
              </a:rPr>
              <a:t>Aggregation</a:t>
            </a:r>
            <a:endParaRPr sz="500">
              <a:latin typeface="Arial"/>
              <a:cs typeface="Arial"/>
            </a:endParaRPr>
          </a:p>
        </p:txBody>
      </p:sp>
    </p:spTree>
  </p:cSld>
  <p:clrMapOvr>
    <a:masterClrMapping/>
  </p:clrMapOvr>
  <p:transition>
    <p:fade/>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735704" algn="l"/>
              </a:tabLst>
            </a:pPr>
            <a:r>
              <a:rPr sz="500" spc="-10" dirty="0">
                <a:latin typeface="Arial"/>
                <a:cs typeface="Arial"/>
                <a:hlinkClick r:id="rId2" action="ppaction://hlinksldjump"/>
              </a:rPr>
              <a:t>Coordination</a:t>
            </a:r>
            <a:r>
              <a:rPr sz="500" dirty="0">
                <a:latin typeface="Arial"/>
                <a:cs typeface="Arial"/>
              </a:rPr>
              <a:t>	</a:t>
            </a:r>
            <a:r>
              <a:rPr sz="500" spc="-10" dirty="0">
                <a:solidFill>
                  <a:srgbClr val="FFFFFF"/>
                </a:solidFill>
                <a:latin typeface="Arial"/>
                <a:cs typeface="Arial"/>
                <a:hlinkClick r:id="rId3" action="ppaction://hlinksldjump"/>
              </a:rPr>
              <a:t>Gossip-</a:t>
            </a:r>
            <a:r>
              <a:rPr sz="500" dirty="0">
                <a:solidFill>
                  <a:srgbClr val="FFFFFF"/>
                </a:solidFill>
                <a:latin typeface="Arial"/>
                <a:cs typeface="Arial"/>
                <a:hlinkClick r:id="rId3" action="ppaction://hlinksldjump"/>
              </a:rPr>
              <a:t>based</a:t>
            </a:r>
            <a:r>
              <a:rPr sz="500" spc="30"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coordination</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0" dirty="0"/>
              <a:t>Gossip-</a:t>
            </a:r>
            <a:r>
              <a:rPr dirty="0"/>
              <a:t>based</a:t>
            </a:r>
            <a:r>
              <a:rPr spc="-40" dirty="0"/>
              <a:t> </a:t>
            </a:r>
            <a:r>
              <a:rPr dirty="0"/>
              <a:t>coordination:</a:t>
            </a:r>
            <a:r>
              <a:rPr spc="35" dirty="0"/>
              <a:t> </a:t>
            </a:r>
            <a:r>
              <a:rPr spc="-10" dirty="0"/>
              <a:t>aggregation</a:t>
            </a:r>
          </a:p>
        </p:txBody>
      </p:sp>
      <p:sp>
        <p:nvSpPr>
          <p:cNvPr id="4" name="object 4"/>
          <p:cNvSpPr txBox="1"/>
          <p:nvPr/>
        </p:nvSpPr>
        <p:spPr>
          <a:xfrm>
            <a:off x="330682" y="514774"/>
            <a:ext cx="3964940" cy="1638300"/>
          </a:xfrm>
          <a:prstGeom prst="rect">
            <a:avLst/>
          </a:prstGeom>
        </p:spPr>
        <p:txBody>
          <a:bodyPr vert="horz" wrap="square" lIns="0" tIns="12065" rIns="0" bIns="0" rtlCol="0">
            <a:spAutoFit/>
          </a:bodyPr>
          <a:lstStyle/>
          <a:p>
            <a:pPr marL="25400">
              <a:lnSpc>
                <a:spcPct val="100000"/>
              </a:lnSpc>
              <a:spcBef>
                <a:spcPts val="95"/>
              </a:spcBef>
            </a:pPr>
            <a:r>
              <a:rPr sz="1000" spc="-20" dirty="0">
                <a:solidFill>
                  <a:srgbClr val="3333B2"/>
                </a:solidFill>
                <a:latin typeface="Arial"/>
                <a:cs typeface="Arial"/>
              </a:rPr>
              <a:t>Typical apps</a:t>
            </a:r>
            <a:endParaRPr sz="1000">
              <a:latin typeface="Arial"/>
              <a:cs typeface="Arial"/>
            </a:endParaRPr>
          </a:p>
          <a:p>
            <a:pPr marL="281940" marR="41275" indent="-120650">
              <a:lnSpc>
                <a:spcPct val="111600"/>
              </a:lnSpc>
              <a:spcBef>
                <a:spcPts val="575"/>
              </a:spcBef>
              <a:buClr>
                <a:srgbClr val="3333B2"/>
              </a:buClr>
              <a:buFont typeface="Menlo"/>
              <a:buChar char="•"/>
              <a:tabLst>
                <a:tab pos="282575" algn="l"/>
              </a:tabLst>
            </a:pPr>
            <a:r>
              <a:rPr sz="900" dirty="0">
                <a:solidFill>
                  <a:srgbClr val="C80000"/>
                </a:solidFill>
                <a:latin typeface="Arial"/>
                <a:cs typeface="Arial"/>
              </a:rPr>
              <a:t>Data</a:t>
            </a:r>
            <a:r>
              <a:rPr sz="900" spc="-40" dirty="0">
                <a:solidFill>
                  <a:srgbClr val="C80000"/>
                </a:solidFill>
                <a:latin typeface="Arial"/>
                <a:cs typeface="Arial"/>
              </a:rPr>
              <a:t> </a:t>
            </a:r>
            <a:r>
              <a:rPr sz="900" spc="-10" dirty="0">
                <a:solidFill>
                  <a:srgbClr val="C80000"/>
                </a:solidFill>
                <a:latin typeface="Arial"/>
                <a:cs typeface="Arial"/>
              </a:rPr>
              <a:t>dissemination</a:t>
            </a:r>
            <a:r>
              <a:rPr sz="900" spc="-10" dirty="0">
                <a:latin typeface="Arial"/>
                <a:cs typeface="Arial"/>
              </a:rPr>
              <a:t>:</a:t>
            </a:r>
            <a:r>
              <a:rPr sz="900" spc="20" dirty="0">
                <a:latin typeface="Arial"/>
                <a:cs typeface="Arial"/>
              </a:rPr>
              <a:t> </a:t>
            </a:r>
            <a:r>
              <a:rPr sz="900" spc="-10" dirty="0">
                <a:latin typeface="Arial"/>
                <a:cs typeface="Arial"/>
              </a:rPr>
              <a:t>Perhaps</a:t>
            </a:r>
            <a:r>
              <a:rPr sz="900" spc="-35" dirty="0">
                <a:latin typeface="Arial"/>
                <a:cs typeface="Arial"/>
              </a:rPr>
              <a:t> </a:t>
            </a:r>
            <a:r>
              <a:rPr sz="900" dirty="0">
                <a:latin typeface="Arial"/>
                <a:cs typeface="Arial"/>
              </a:rPr>
              <a:t>the</a:t>
            </a:r>
            <a:r>
              <a:rPr sz="900" spc="-40" dirty="0">
                <a:latin typeface="Arial"/>
                <a:cs typeface="Arial"/>
              </a:rPr>
              <a:t> </a:t>
            </a:r>
            <a:r>
              <a:rPr sz="900" dirty="0">
                <a:latin typeface="Arial"/>
                <a:cs typeface="Arial"/>
              </a:rPr>
              <a:t>most</a:t>
            </a:r>
            <a:r>
              <a:rPr sz="900" spc="-35" dirty="0">
                <a:latin typeface="Arial"/>
                <a:cs typeface="Arial"/>
              </a:rPr>
              <a:t> </a:t>
            </a:r>
            <a:r>
              <a:rPr sz="900" dirty="0">
                <a:latin typeface="Arial"/>
                <a:cs typeface="Arial"/>
              </a:rPr>
              <a:t>important</a:t>
            </a:r>
            <a:r>
              <a:rPr sz="900" spc="-35" dirty="0">
                <a:latin typeface="Arial"/>
                <a:cs typeface="Arial"/>
              </a:rPr>
              <a:t> </a:t>
            </a:r>
            <a:r>
              <a:rPr sz="900" dirty="0">
                <a:latin typeface="Arial"/>
                <a:cs typeface="Arial"/>
              </a:rPr>
              <a:t>one.</a:t>
            </a:r>
            <a:r>
              <a:rPr sz="900" spc="15" dirty="0">
                <a:latin typeface="Arial"/>
                <a:cs typeface="Arial"/>
              </a:rPr>
              <a:t> </a:t>
            </a:r>
            <a:r>
              <a:rPr sz="900" dirty="0">
                <a:latin typeface="Arial"/>
                <a:cs typeface="Arial"/>
              </a:rPr>
              <a:t>Note</a:t>
            </a:r>
            <a:r>
              <a:rPr sz="900" spc="-35" dirty="0">
                <a:latin typeface="Arial"/>
                <a:cs typeface="Arial"/>
              </a:rPr>
              <a:t> </a:t>
            </a:r>
            <a:r>
              <a:rPr sz="900" dirty="0">
                <a:latin typeface="Arial"/>
                <a:cs typeface="Arial"/>
              </a:rPr>
              <a:t>that</a:t>
            </a:r>
            <a:r>
              <a:rPr sz="900" spc="-35" dirty="0">
                <a:latin typeface="Arial"/>
                <a:cs typeface="Arial"/>
              </a:rPr>
              <a:t> </a:t>
            </a:r>
            <a:r>
              <a:rPr sz="900" dirty="0">
                <a:latin typeface="Arial"/>
                <a:cs typeface="Arial"/>
              </a:rPr>
              <a:t>there</a:t>
            </a:r>
            <a:r>
              <a:rPr sz="900" spc="-35" dirty="0">
                <a:latin typeface="Arial"/>
                <a:cs typeface="Arial"/>
              </a:rPr>
              <a:t> </a:t>
            </a:r>
            <a:r>
              <a:rPr sz="900" spc="-25" dirty="0">
                <a:latin typeface="Arial"/>
                <a:cs typeface="Arial"/>
              </a:rPr>
              <a:t>are </a:t>
            </a:r>
            <a:r>
              <a:rPr sz="900" dirty="0">
                <a:latin typeface="Arial"/>
                <a:cs typeface="Arial"/>
              </a:rPr>
              <a:t>many</a:t>
            </a:r>
            <a:r>
              <a:rPr sz="900" spc="-40" dirty="0">
                <a:latin typeface="Arial"/>
                <a:cs typeface="Arial"/>
              </a:rPr>
              <a:t> </a:t>
            </a:r>
            <a:r>
              <a:rPr sz="900" dirty="0">
                <a:latin typeface="Arial"/>
                <a:cs typeface="Arial"/>
              </a:rPr>
              <a:t>variants</a:t>
            </a:r>
            <a:r>
              <a:rPr sz="900" spc="-35" dirty="0">
                <a:latin typeface="Arial"/>
                <a:cs typeface="Arial"/>
              </a:rPr>
              <a:t> </a:t>
            </a:r>
            <a:r>
              <a:rPr sz="900" dirty="0">
                <a:latin typeface="Arial"/>
                <a:cs typeface="Arial"/>
              </a:rPr>
              <a:t>of</a:t>
            </a:r>
            <a:r>
              <a:rPr sz="900" spc="-35" dirty="0">
                <a:latin typeface="Arial"/>
                <a:cs typeface="Arial"/>
              </a:rPr>
              <a:t> </a:t>
            </a:r>
            <a:r>
              <a:rPr sz="900" spc="-10" dirty="0">
                <a:latin typeface="Arial"/>
                <a:cs typeface="Arial"/>
              </a:rPr>
              <a:t>dissemination.</a:t>
            </a:r>
            <a:endParaRPr sz="900">
              <a:latin typeface="Arial"/>
              <a:cs typeface="Arial"/>
            </a:endParaRPr>
          </a:p>
          <a:p>
            <a:pPr marL="281940" marR="75565" indent="-120650">
              <a:lnSpc>
                <a:spcPct val="111600"/>
              </a:lnSpc>
              <a:spcBef>
                <a:spcPts val="400"/>
              </a:spcBef>
              <a:buClr>
                <a:srgbClr val="3333B2"/>
              </a:buClr>
              <a:buFont typeface="Menlo"/>
              <a:buChar char="•"/>
              <a:tabLst>
                <a:tab pos="282575" algn="l"/>
              </a:tabLst>
            </a:pPr>
            <a:r>
              <a:rPr sz="900" dirty="0">
                <a:solidFill>
                  <a:srgbClr val="C80000"/>
                </a:solidFill>
                <a:latin typeface="Arial"/>
                <a:cs typeface="Arial"/>
              </a:rPr>
              <a:t>Aggregation</a:t>
            </a:r>
            <a:r>
              <a:rPr sz="900" dirty="0">
                <a:latin typeface="Arial"/>
                <a:cs typeface="Arial"/>
              </a:rPr>
              <a:t>:</a:t>
            </a:r>
            <a:r>
              <a:rPr sz="900" spc="25" dirty="0">
                <a:latin typeface="Arial"/>
                <a:cs typeface="Arial"/>
              </a:rPr>
              <a:t> </a:t>
            </a:r>
            <a:r>
              <a:rPr sz="900" dirty="0">
                <a:latin typeface="Arial"/>
                <a:cs typeface="Arial"/>
              </a:rPr>
              <a:t>Let</a:t>
            </a:r>
            <a:r>
              <a:rPr sz="900" spc="-25" dirty="0">
                <a:latin typeface="Arial"/>
                <a:cs typeface="Arial"/>
              </a:rPr>
              <a:t> </a:t>
            </a:r>
            <a:r>
              <a:rPr sz="900" dirty="0">
                <a:latin typeface="Arial"/>
                <a:cs typeface="Arial"/>
              </a:rPr>
              <a:t>every</a:t>
            </a:r>
            <a:r>
              <a:rPr sz="900" spc="-20" dirty="0">
                <a:latin typeface="Arial"/>
                <a:cs typeface="Arial"/>
              </a:rPr>
              <a:t> </a:t>
            </a:r>
            <a:r>
              <a:rPr sz="900" dirty="0">
                <a:latin typeface="Arial"/>
                <a:cs typeface="Arial"/>
              </a:rPr>
              <a:t>node</a:t>
            </a:r>
            <a:r>
              <a:rPr sz="900" spc="-25" dirty="0">
                <a:latin typeface="Arial"/>
                <a:cs typeface="Arial"/>
              </a:rPr>
              <a:t> </a:t>
            </a:r>
            <a:r>
              <a:rPr sz="900" i="1" dirty="0">
                <a:latin typeface="Arial"/>
                <a:cs typeface="Arial"/>
              </a:rPr>
              <a:t>P</a:t>
            </a:r>
            <a:r>
              <a:rPr sz="1050" i="1" baseline="-15873" dirty="0">
                <a:latin typeface="Arial"/>
                <a:cs typeface="Arial"/>
              </a:rPr>
              <a:t>i</a:t>
            </a:r>
            <a:r>
              <a:rPr sz="1050" i="1" spc="202" baseline="-15873" dirty="0">
                <a:latin typeface="Arial"/>
                <a:cs typeface="Arial"/>
              </a:rPr>
              <a:t> </a:t>
            </a:r>
            <a:r>
              <a:rPr sz="900" dirty="0">
                <a:latin typeface="Arial"/>
                <a:cs typeface="Arial"/>
              </a:rPr>
              <a:t>maintain</a:t>
            </a:r>
            <a:r>
              <a:rPr sz="900" spc="-20" dirty="0">
                <a:latin typeface="Arial"/>
                <a:cs typeface="Arial"/>
              </a:rPr>
              <a:t> </a:t>
            </a:r>
            <a:r>
              <a:rPr sz="900" dirty="0">
                <a:latin typeface="Arial"/>
                <a:cs typeface="Arial"/>
              </a:rPr>
              <a:t>a</a:t>
            </a:r>
            <a:r>
              <a:rPr sz="900" spc="-25" dirty="0">
                <a:latin typeface="Arial"/>
                <a:cs typeface="Arial"/>
              </a:rPr>
              <a:t> </a:t>
            </a:r>
            <a:r>
              <a:rPr sz="900" spc="-10" dirty="0">
                <a:latin typeface="Arial"/>
                <a:cs typeface="Arial"/>
              </a:rPr>
              <a:t>variable</a:t>
            </a:r>
            <a:r>
              <a:rPr sz="900" spc="-20" dirty="0">
                <a:latin typeface="Arial"/>
                <a:cs typeface="Arial"/>
              </a:rPr>
              <a:t> </a:t>
            </a:r>
            <a:r>
              <a:rPr sz="900" i="1" spc="-10" dirty="0">
                <a:latin typeface="Arial"/>
                <a:cs typeface="Arial"/>
              </a:rPr>
              <a:t>v</a:t>
            </a:r>
            <a:r>
              <a:rPr sz="1050" i="1" spc="-15" baseline="-15873" dirty="0">
                <a:latin typeface="Arial"/>
                <a:cs typeface="Arial"/>
              </a:rPr>
              <a:t>i</a:t>
            </a:r>
            <a:r>
              <a:rPr sz="1050" i="1" spc="-127" baseline="-15873" dirty="0">
                <a:latin typeface="Arial"/>
                <a:cs typeface="Arial"/>
              </a:rPr>
              <a:t> </a:t>
            </a:r>
            <a:r>
              <a:rPr sz="900" dirty="0">
                <a:latin typeface="Arial"/>
                <a:cs typeface="Arial"/>
              </a:rPr>
              <a:t>.</a:t>
            </a:r>
            <a:r>
              <a:rPr sz="900" spc="30" dirty="0">
                <a:latin typeface="Arial"/>
                <a:cs typeface="Arial"/>
              </a:rPr>
              <a:t> </a:t>
            </a:r>
            <a:r>
              <a:rPr sz="900" dirty="0">
                <a:latin typeface="Arial"/>
                <a:cs typeface="Arial"/>
              </a:rPr>
              <a:t>When</a:t>
            </a:r>
            <a:r>
              <a:rPr sz="900" spc="-20" dirty="0">
                <a:latin typeface="Arial"/>
                <a:cs typeface="Arial"/>
              </a:rPr>
              <a:t> </a:t>
            </a:r>
            <a:r>
              <a:rPr sz="900" dirty="0">
                <a:latin typeface="Arial"/>
                <a:cs typeface="Arial"/>
              </a:rPr>
              <a:t>two</a:t>
            </a:r>
            <a:r>
              <a:rPr sz="900" spc="-20" dirty="0">
                <a:latin typeface="Arial"/>
                <a:cs typeface="Arial"/>
              </a:rPr>
              <a:t> </a:t>
            </a:r>
            <a:r>
              <a:rPr sz="900" spc="-10" dirty="0">
                <a:latin typeface="Arial"/>
                <a:cs typeface="Arial"/>
              </a:rPr>
              <a:t>nodes gossip,</a:t>
            </a:r>
            <a:r>
              <a:rPr sz="900" spc="-20" dirty="0">
                <a:latin typeface="Arial"/>
                <a:cs typeface="Arial"/>
              </a:rPr>
              <a:t> </a:t>
            </a:r>
            <a:r>
              <a:rPr sz="900" dirty="0">
                <a:latin typeface="Arial"/>
                <a:cs typeface="Arial"/>
              </a:rPr>
              <a:t>they</a:t>
            </a:r>
            <a:r>
              <a:rPr sz="900" spc="-15" dirty="0">
                <a:latin typeface="Arial"/>
                <a:cs typeface="Arial"/>
              </a:rPr>
              <a:t> </a:t>
            </a:r>
            <a:r>
              <a:rPr sz="900" dirty="0">
                <a:latin typeface="Arial"/>
                <a:cs typeface="Arial"/>
              </a:rPr>
              <a:t>each</a:t>
            </a:r>
            <a:r>
              <a:rPr sz="900" spc="-20" dirty="0">
                <a:latin typeface="Arial"/>
                <a:cs typeface="Arial"/>
              </a:rPr>
              <a:t> </a:t>
            </a:r>
            <a:r>
              <a:rPr sz="900" dirty="0">
                <a:latin typeface="Arial"/>
                <a:cs typeface="Arial"/>
              </a:rPr>
              <a:t>reset</a:t>
            </a:r>
            <a:r>
              <a:rPr sz="900" spc="-15" dirty="0">
                <a:latin typeface="Arial"/>
                <a:cs typeface="Arial"/>
              </a:rPr>
              <a:t> </a:t>
            </a:r>
            <a:r>
              <a:rPr sz="900" dirty="0">
                <a:latin typeface="Arial"/>
                <a:cs typeface="Arial"/>
              </a:rPr>
              <a:t>their</a:t>
            </a:r>
            <a:r>
              <a:rPr sz="900" spc="-20" dirty="0">
                <a:latin typeface="Arial"/>
                <a:cs typeface="Arial"/>
              </a:rPr>
              <a:t> </a:t>
            </a:r>
            <a:r>
              <a:rPr sz="900" spc="-10" dirty="0">
                <a:latin typeface="Arial"/>
                <a:cs typeface="Arial"/>
              </a:rPr>
              <a:t>variable</a:t>
            </a:r>
            <a:r>
              <a:rPr sz="900" spc="-15" dirty="0">
                <a:latin typeface="Arial"/>
                <a:cs typeface="Arial"/>
              </a:rPr>
              <a:t> </a:t>
            </a:r>
            <a:r>
              <a:rPr sz="900" spc="-25" dirty="0">
                <a:latin typeface="Arial"/>
                <a:cs typeface="Arial"/>
              </a:rPr>
              <a:t>to</a:t>
            </a:r>
            <a:endParaRPr sz="900">
              <a:latin typeface="Arial"/>
              <a:cs typeface="Arial"/>
            </a:endParaRPr>
          </a:p>
          <a:p>
            <a:pPr marL="234315" algn="ctr">
              <a:lnSpc>
                <a:spcPct val="100000"/>
              </a:lnSpc>
              <a:spcBef>
                <a:spcPts val="969"/>
              </a:spcBef>
            </a:pPr>
            <a:r>
              <a:rPr sz="900" i="1" spc="-10" dirty="0">
                <a:latin typeface="Arial"/>
                <a:cs typeface="Arial"/>
              </a:rPr>
              <a:t>v</a:t>
            </a:r>
            <a:r>
              <a:rPr sz="1050" i="1" spc="-15" baseline="-15873" dirty="0">
                <a:latin typeface="Arial"/>
                <a:cs typeface="Arial"/>
              </a:rPr>
              <a:t>i</a:t>
            </a:r>
            <a:r>
              <a:rPr sz="1050" i="1" spc="-112" baseline="-15873" dirty="0">
                <a:latin typeface="Arial"/>
                <a:cs typeface="Arial"/>
              </a:rPr>
              <a:t> </a:t>
            </a:r>
            <a:r>
              <a:rPr sz="900" i="1" dirty="0">
                <a:latin typeface="STIX Two Text"/>
                <a:cs typeface="STIX Two Text"/>
              </a:rPr>
              <a:t>,</a:t>
            </a:r>
            <a:r>
              <a:rPr sz="900" i="1" spc="-100" dirty="0">
                <a:latin typeface="STIX Two Text"/>
                <a:cs typeface="STIX Two Text"/>
              </a:rPr>
              <a:t> </a:t>
            </a:r>
            <a:r>
              <a:rPr sz="900" i="1" dirty="0">
                <a:latin typeface="Arial"/>
                <a:cs typeface="Arial"/>
              </a:rPr>
              <a:t>v</a:t>
            </a:r>
            <a:r>
              <a:rPr sz="1050" i="1" baseline="-15873" dirty="0">
                <a:latin typeface="Arial"/>
                <a:cs typeface="Arial"/>
              </a:rPr>
              <a:t>j</a:t>
            </a:r>
            <a:r>
              <a:rPr sz="1050" i="1" spc="209" baseline="-15873" dirty="0">
                <a:latin typeface="Arial"/>
                <a:cs typeface="Arial"/>
              </a:rPr>
              <a:t> </a:t>
            </a:r>
            <a:r>
              <a:rPr sz="900" i="1" spc="350" dirty="0">
                <a:latin typeface="Menlo"/>
                <a:cs typeface="Menlo"/>
              </a:rPr>
              <a:t>←</a:t>
            </a:r>
            <a:r>
              <a:rPr sz="900" i="1" spc="-325" dirty="0">
                <a:latin typeface="Menlo"/>
                <a:cs typeface="Menlo"/>
              </a:rPr>
              <a:t> </a:t>
            </a:r>
            <a:r>
              <a:rPr sz="900" dirty="0">
                <a:latin typeface="Arial"/>
                <a:cs typeface="Arial"/>
              </a:rPr>
              <a:t>(</a:t>
            </a:r>
            <a:r>
              <a:rPr sz="900" i="1" dirty="0">
                <a:latin typeface="Arial"/>
                <a:cs typeface="Arial"/>
              </a:rPr>
              <a:t>v</a:t>
            </a:r>
            <a:r>
              <a:rPr sz="1050" i="1" baseline="-15873" dirty="0">
                <a:latin typeface="Arial"/>
                <a:cs typeface="Arial"/>
              </a:rPr>
              <a:t>i</a:t>
            </a:r>
            <a:r>
              <a:rPr sz="1050" i="1" spc="82" baseline="-15873" dirty="0">
                <a:latin typeface="Arial"/>
                <a:cs typeface="Arial"/>
              </a:rPr>
              <a:t> </a:t>
            </a:r>
            <a:r>
              <a:rPr sz="900" spc="185" dirty="0">
                <a:latin typeface="Arial"/>
                <a:cs typeface="Arial"/>
              </a:rPr>
              <a:t>+</a:t>
            </a:r>
            <a:r>
              <a:rPr sz="900" spc="-120" dirty="0">
                <a:latin typeface="Arial"/>
                <a:cs typeface="Arial"/>
              </a:rPr>
              <a:t> </a:t>
            </a:r>
            <a:r>
              <a:rPr sz="900" i="1" spc="-10" dirty="0">
                <a:latin typeface="Arial"/>
                <a:cs typeface="Arial"/>
              </a:rPr>
              <a:t>v</a:t>
            </a:r>
            <a:r>
              <a:rPr sz="1050" i="1" spc="-15" baseline="-15873" dirty="0">
                <a:latin typeface="Arial"/>
                <a:cs typeface="Arial"/>
              </a:rPr>
              <a:t>j</a:t>
            </a:r>
            <a:r>
              <a:rPr sz="1050" i="1" spc="-112" baseline="-15873" dirty="0">
                <a:latin typeface="Arial"/>
                <a:cs typeface="Arial"/>
              </a:rPr>
              <a:t> </a:t>
            </a:r>
            <a:r>
              <a:rPr sz="900" spc="25" dirty="0">
                <a:latin typeface="Arial"/>
                <a:cs typeface="Arial"/>
              </a:rPr>
              <a:t>)</a:t>
            </a:r>
            <a:r>
              <a:rPr sz="900" i="1" spc="25" dirty="0">
                <a:latin typeface="STIX Two Text"/>
                <a:cs typeface="STIX Two Text"/>
              </a:rPr>
              <a:t>/</a:t>
            </a:r>
            <a:r>
              <a:rPr sz="900" spc="25" dirty="0">
                <a:latin typeface="Arial"/>
                <a:cs typeface="Arial"/>
              </a:rPr>
              <a:t>2</a:t>
            </a:r>
            <a:endParaRPr sz="900">
              <a:latin typeface="Arial"/>
              <a:cs typeface="Arial"/>
            </a:endParaRPr>
          </a:p>
          <a:p>
            <a:pPr marL="281940">
              <a:lnSpc>
                <a:spcPct val="100000"/>
              </a:lnSpc>
              <a:spcBef>
                <a:spcPts val="1040"/>
              </a:spcBef>
            </a:pPr>
            <a:r>
              <a:rPr sz="1350" baseline="3086" dirty="0">
                <a:latin typeface="Arial"/>
                <a:cs typeface="Arial"/>
              </a:rPr>
              <a:t>Result:</a:t>
            </a:r>
            <a:r>
              <a:rPr sz="1350" spc="-52" baseline="3086" dirty="0">
                <a:latin typeface="Arial"/>
                <a:cs typeface="Arial"/>
              </a:rPr>
              <a:t> </a:t>
            </a:r>
            <a:r>
              <a:rPr sz="1350" baseline="3086" dirty="0">
                <a:latin typeface="Arial"/>
                <a:cs typeface="Arial"/>
              </a:rPr>
              <a:t>in</a:t>
            </a:r>
            <a:r>
              <a:rPr sz="1350" spc="-44" baseline="3086" dirty="0">
                <a:latin typeface="Arial"/>
                <a:cs typeface="Arial"/>
              </a:rPr>
              <a:t> </a:t>
            </a:r>
            <a:r>
              <a:rPr sz="1350" baseline="3086" dirty="0">
                <a:latin typeface="Arial"/>
                <a:cs typeface="Arial"/>
              </a:rPr>
              <a:t>the</a:t>
            </a:r>
            <a:r>
              <a:rPr sz="1350" spc="-44" baseline="3086" dirty="0">
                <a:latin typeface="Arial"/>
                <a:cs typeface="Arial"/>
              </a:rPr>
              <a:t> </a:t>
            </a:r>
            <a:r>
              <a:rPr sz="1350" baseline="3086" dirty="0">
                <a:latin typeface="Arial"/>
                <a:cs typeface="Arial"/>
              </a:rPr>
              <a:t>end</a:t>
            </a:r>
            <a:r>
              <a:rPr sz="1350" spc="-44" baseline="3086" dirty="0">
                <a:latin typeface="Arial"/>
                <a:cs typeface="Arial"/>
              </a:rPr>
              <a:t> </a:t>
            </a:r>
            <a:r>
              <a:rPr sz="1350" spc="-15" baseline="3086" dirty="0">
                <a:latin typeface="Arial"/>
                <a:cs typeface="Arial"/>
              </a:rPr>
              <a:t>each</a:t>
            </a:r>
            <a:r>
              <a:rPr sz="1350" spc="-37" baseline="3086" dirty="0">
                <a:latin typeface="Arial"/>
                <a:cs typeface="Arial"/>
              </a:rPr>
              <a:t> </a:t>
            </a:r>
            <a:r>
              <a:rPr sz="1350" spc="-15" baseline="3086" dirty="0">
                <a:latin typeface="Arial"/>
                <a:cs typeface="Arial"/>
              </a:rPr>
              <a:t>node</a:t>
            </a:r>
            <a:r>
              <a:rPr sz="1350" spc="-44" baseline="3086" dirty="0">
                <a:latin typeface="Arial"/>
                <a:cs typeface="Arial"/>
              </a:rPr>
              <a:t> </a:t>
            </a:r>
            <a:r>
              <a:rPr sz="1350" baseline="3086" dirty="0">
                <a:latin typeface="Arial"/>
                <a:cs typeface="Arial"/>
              </a:rPr>
              <a:t>will</a:t>
            </a:r>
            <a:r>
              <a:rPr sz="1350" spc="-44" baseline="3086" dirty="0">
                <a:latin typeface="Arial"/>
                <a:cs typeface="Arial"/>
              </a:rPr>
              <a:t> </a:t>
            </a:r>
            <a:r>
              <a:rPr sz="1350" spc="-30" baseline="3086" dirty="0">
                <a:latin typeface="Arial"/>
                <a:cs typeface="Arial"/>
              </a:rPr>
              <a:t>have</a:t>
            </a:r>
            <a:r>
              <a:rPr sz="1350" spc="-44" baseline="3086" dirty="0">
                <a:latin typeface="Arial"/>
                <a:cs typeface="Arial"/>
              </a:rPr>
              <a:t> </a:t>
            </a:r>
            <a:r>
              <a:rPr sz="1350" spc="-15" baseline="3086" dirty="0">
                <a:latin typeface="Arial"/>
                <a:cs typeface="Arial"/>
              </a:rPr>
              <a:t>computed</a:t>
            </a:r>
            <a:r>
              <a:rPr sz="1350" spc="-44" baseline="3086" dirty="0">
                <a:latin typeface="Arial"/>
                <a:cs typeface="Arial"/>
              </a:rPr>
              <a:t> </a:t>
            </a:r>
            <a:r>
              <a:rPr sz="1350" baseline="3086" dirty="0">
                <a:latin typeface="Arial"/>
                <a:cs typeface="Arial"/>
              </a:rPr>
              <a:t>the</a:t>
            </a:r>
            <a:r>
              <a:rPr sz="1350" spc="-44" baseline="3086" dirty="0">
                <a:latin typeface="Arial"/>
                <a:cs typeface="Arial"/>
              </a:rPr>
              <a:t> </a:t>
            </a:r>
            <a:r>
              <a:rPr sz="1350" spc="-30" baseline="3086" dirty="0">
                <a:latin typeface="Arial"/>
                <a:cs typeface="Arial"/>
              </a:rPr>
              <a:t>average</a:t>
            </a:r>
            <a:r>
              <a:rPr sz="1350" spc="-44" baseline="3086" dirty="0">
                <a:latin typeface="Arial"/>
                <a:cs typeface="Arial"/>
              </a:rPr>
              <a:t> </a:t>
            </a:r>
            <a:r>
              <a:rPr sz="1350" i="1" spc="-352" baseline="3086" dirty="0">
                <a:latin typeface="Arial"/>
                <a:cs typeface="Arial"/>
              </a:rPr>
              <a:t>v</a:t>
            </a:r>
            <a:r>
              <a:rPr sz="1350" spc="-352" baseline="9259" dirty="0">
                <a:latin typeface="Arial"/>
                <a:cs typeface="Arial"/>
              </a:rPr>
              <a:t>¯</a:t>
            </a:r>
            <a:r>
              <a:rPr sz="1350" spc="-22" baseline="9259" dirty="0">
                <a:latin typeface="Arial"/>
                <a:cs typeface="Arial"/>
              </a:rPr>
              <a:t> </a:t>
            </a:r>
            <a:r>
              <a:rPr sz="1350" spc="277" baseline="3086" dirty="0">
                <a:latin typeface="Arial"/>
                <a:cs typeface="Arial"/>
              </a:rPr>
              <a:t>=</a:t>
            </a:r>
            <a:r>
              <a:rPr sz="1350" spc="-89" baseline="3086" dirty="0">
                <a:latin typeface="Arial"/>
                <a:cs typeface="Arial"/>
              </a:rPr>
              <a:t> </a:t>
            </a:r>
            <a:r>
              <a:rPr sz="900" dirty="0">
                <a:latin typeface="Times New Roman"/>
                <a:cs typeface="Times New Roman"/>
              </a:rPr>
              <a:t>∑</a:t>
            </a:r>
            <a:r>
              <a:rPr sz="1050" i="1" baseline="-11904" dirty="0">
                <a:latin typeface="Arial"/>
                <a:cs typeface="Arial"/>
              </a:rPr>
              <a:t>i</a:t>
            </a:r>
            <a:r>
              <a:rPr sz="1050" i="1" spc="-15" baseline="-11904" dirty="0">
                <a:latin typeface="Arial"/>
                <a:cs typeface="Arial"/>
              </a:rPr>
              <a:t> </a:t>
            </a:r>
            <a:r>
              <a:rPr sz="1350" i="1" spc="-15" baseline="3086" dirty="0">
                <a:latin typeface="Arial"/>
                <a:cs typeface="Arial"/>
              </a:rPr>
              <a:t>v</a:t>
            </a:r>
            <a:r>
              <a:rPr sz="1050" i="1" spc="-15" baseline="-11904" dirty="0">
                <a:latin typeface="Arial"/>
                <a:cs typeface="Arial"/>
              </a:rPr>
              <a:t>i</a:t>
            </a:r>
            <a:r>
              <a:rPr sz="1050" i="1" spc="-127" baseline="-11904" dirty="0">
                <a:latin typeface="Arial"/>
                <a:cs typeface="Arial"/>
              </a:rPr>
              <a:t> </a:t>
            </a:r>
            <a:r>
              <a:rPr sz="1350" i="1" spc="-37" baseline="3086" dirty="0">
                <a:latin typeface="STIX Two Text"/>
                <a:cs typeface="STIX Two Text"/>
              </a:rPr>
              <a:t>/</a:t>
            </a:r>
            <a:r>
              <a:rPr sz="1350" i="1" spc="-37" baseline="3086" dirty="0">
                <a:latin typeface="Arial"/>
                <a:cs typeface="Arial"/>
              </a:rPr>
              <a:t>N</a:t>
            </a:r>
            <a:r>
              <a:rPr sz="1350" spc="-37" baseline="3086" dirty="0">
                <a:latin typeface="Arial"/>
                <a:cs typeface="Arial"/>
              </a:rPr>
              <a:t>.</a:t>
            </a:r>
            <a:endParaRPr sz="1350" baseline="3086">
              <a:latin typeface="Arial"/>
              <a:cs typeface="Arial"/>
            </a:endParaRPr>
          </a:p>
          <a:p>
            <a:pPr marL="276860" indent="-115570">
              <a:lnSpc>
                <a:spcPct val="100000"/>
              </a:lnSpc>
              <a:spcBef>
                <a:spcPts val="455"/>
              </a:spcBef>
              <a:buClr>
                <a:srgbClr val="3333B2"/>
              </a:buClr>
              <a:buFont typeface="Menlo"/>
              <a:buChar char="•"/>
              <a:tabLst>
                <a:tab pos="277495" algn="l"/>
              </a:tabLst>
            </a:pPr>
            <a:r>
              <a:rPr sz="900" dirty="0">
                <a:latin typeface="Arial"/>
                <a:cs typeface="Arial"/>
              </a:rPr>
              <a:t>What</a:t>
            </a:r>
            <a:r>
              <a:rPr sz="900" spc="-25" dirty="0">
                <a:latin typeface="Arial"/>
                <a:cs typeface="Arial"/>
              </a:rPr>
              <a:t> </a:t>
            </a:r>
            <a:r>
              <a:rPr sz="900" dirty="0">
                <a:latin typeface="Arial"/>
                <a:cs typeface="Arial"/>
              </a:rPr>
              <a:t>happens</a:t>
            </a:r>
            <a:r>
              <a:rPr sz="900" spc="-15" dirty="0">
                <a:latin typeface="Arial"/>
                <a:cs typeface="Arial"/>
              </a:rPr>
              <a:t> </a:t>
            </a:r>
            <a:r>
              <a:rPr sz="900" dirty="0">
                <a:latin typeface="Arial"/>
                <a:cs typeface="Arial"/>
              </a:rPr>
              <a:t>in</a:t>
            </a:r>
            <a:r>
              <a:rPr sz="900" spc="-10" dirty="0">
                <a:latin typeface="Arial"/>
                <a:cs typeface="Arial"/>
              </a:rPr>
              <a:t> </a:t>
            </a:r>
            <a:r>
              <a:rPr sz="900" dirty="0">
                <a:latin typeface="Arial"/>
                <a:cs typeface="Arial"/>
              </a:rPr>
              <a:t>the</a:t>
            </a:r>
            <a:r>
              <a:rPr sz="900" spc="-15" dirty="0">
                <a:latin typeface="Arial"/>
                <a:cs typeface="Arial"/>
              </a:rPr>
              <a:t> </a:t>
            </a:r>
            <a:r>
              <a:rPr sz="900" dirty="0">
                <a:latin typeface="Arial"/>
                <a:cs typeface="Arial"/>
              </a:rPr>
              <a:t>case</a:t>
            </a:r>
            <a:r>
              <a:rPr sz="900" spc="-10" dirty="0">
                <a:latin typeface="Arial"/>
                <a:cs typeface="Arial"/>
              </a:rPr>
              <a:t> </a:t>
            </a:r>
            <a:r>
              <a:rPr sz="900" dirty="0">
                <a:latin typeface="Arial"/>
                <a:cs typeface="Arial"/>
              </a:rPr>
              <a:t>that</a:t>
            </a:r>
            <a:r>
              <a:rPr sz="900" spc="-15" dirty="0">
                <a:latin typeface="Arial"/>
                <a:cs typeface="Arial"/>
              </a:rPr>
              <a:t> </a:t>
            </a:r>
            <a:r>
              <a:rPr sz="900" dirty="0">
                <a:latin typeface="Arial"/>
                <a:cs typeface="Arial"/>
              </a:rPr>
              <a:t>initially</a:t>
            </a:r>
            <a:r>
              <a:rPr sz="900" spc="-10" dirty="0">
                <a:latin typeface="Arial"/>
                <a:cs typeface="Arial"/>
              </a:rPr>
              <a:t> </a:t>
            </a:r>
            <a:r>
              <a:rPr sz="900" i="1" dirty="0">
                <a:latin typeface="Arial"/>
                <a:cs typeface="Arial"/>
              </a:rPr>
              <a:t>v</a:t>
            </a:r>
            <a:r>
              <a:rPr sz="1050" i="1" baseline="-15873" dirty="0">
                <a:latin typeface="Arial"/>
                <a:cs typeface="Arial"/>
              </a:rPr>
              <a:t>i</a:t>
            </a:r>
            <a:r>
              <a:rPr sz="1050" i="1" spc="150" baseline="-15873" dirty="0">
                <a:latin typeface="Arial"/>
                <a:cs typeface="Arial"/>
              </a:rPr>
              <a:t> </a:t>
            </a:r>
            <a:r>
              <a:rPr sz="900" spc="185" dirty="0">
                <a:latin typeface="Arial"/>
                <a:cs typeface="Arial"/>
              </a:rPr>
              <a:t>=</a:t>
            </a:r>
            <a:r>
              <a:rPr sz="900" spc="-60" dirty="0">
                <a:latin typeface="Arial"/>
                <a:cs typeface="Arial"/>
              </a:rPr>
              <a:t> </a:t>
            </a:r>
            <a:r>
              <a:rPr sz="900" dirty="0">
                <a:latin typeface="Arial"/>
                <a:cs typeface="Arial"/>
              </a:rPr>
              <a:t>1</a:t>
            </a:r>
            <a:r>
              <a:rPr sz="900" spc="-15" dirty="0">
                <a:latin typeface="Arial"/>
                <a:cs typeface="Arial"/>
              </a:rPr>
              <a:t> </a:t>
            </a:r>
            <a:r>
              <a:rPr sz="900" dirty="0">
                <a:latin typeface="Arial"/>
                <a:cs typeface="Arial"/>
              </a:rPr>
              <a:t>and</a:t>
            </a:r>
            <a:r>
              <a:rPr sz="900" spc="-10" dirty="0">
                <a:latin typeface="Arial"/>
                <a:cs typeface="Arial"/>
              </a:rPr>
              <a:t> </a:t>
            </a:r>
            <a:r>
              <a:rPr sz="900" i="1" dirty="0">
                <a:latin typeface="Arial"/>
                <a:cs typeface="Arial"/>
              </a:rPr>
              <a:t>v</a:t>
            </a:r>
            <a:r>
              <a:rPr sz="1050" i="1" baseline="-15873" dirty="0">
                <a:latin typeface="Arial"/>
                <a:cs typeface="Arial"/>
              </a:rPr>
              <a:t>j</a:t>
            </a:r>
            <a:r>
              <a:rPr sz="1050" i="1" spc="150" baseline="-15873" dirty="0">
                <a:latin typeface="Arial"/>
                <a:cs typeface="Arial"/>
              </a:rPr>
              <a:t> </a:t>
            </a:r>
            <a:r>
              <a:rPr sz="900" spc="185" dirty="0">
                <a:latin typeface="Arial"/>
                <a:cs typeface="Arial"/>
              </a:rPr>
              <a:t>=</a:t>
            </a:r>
            <a:r>
              <a:rPr sz="900" spc="-60" dirty="0">
                <a:latin typeface="Arial"/>
                <a:cs typeface="Arial"/>
              </a:rPr>
              <a:t> </a:t>
            </a:r>
            <a:r>
              <a:rPr sz="900" dirty="0">
                <a:latin typeface="Arial"/>
                <a:cs typeface="Arial"/>
              </a:rPr>
              <a:t>0</a:t>
            </a:r>
            <a:r>
              <a:rPr sz="900" i="1" dirty="0">
                <a:latin typeface="STIX Two Text"/>
                <a:cs typeface="STIX Two Text"/>
              </a:rPr>
              <a:t>,</a:t>
            </a:r>
            <a:r>
              <a:rPr sz="900" i="1" spc="-105" dirty="0">
                <a:latin typeface="STIX Two Text"/>
                <a:cs typeface="STIX Two Text"/>
              </a:rPr>
              <a:t> </a:t>
            </a:r>
            <a:r>
              <a:rPr sz="900" i="1" dirty="0">
                <a:latin typeface="Arial"/>
                <a:cs typeface="Arial"/>
              </a:rPr>
              <a:t>j</a:t>
            </a:r>
            <a:r>
              <a:rPr sz="900" i="1" spc="15" dirty="0">
                <a:latin typeface="Arial"/>
                <a:cs typeface="Arial"/>
              </a:rPr>
              <a:t> </a:t>
            </a:r>
            <a:r>
              <a:rPr sz="900" i="1" spc="-459" dirty="0">
                <a:latin typeface="Menlo"/>
                <a:cs typeface="Menlo"/>
              </a:rPr>
              <a:t≯</a:t>
            </a:r>
            <a:r>
              <a:rPr sz="900" spc="95" dirty="0">
                <a:latin typeface="Arial"/>
                <a:cs typeface="Arial"/>
              </a:rPr>
              <a:t>=</a:t>
            </a:r>
            <a:r>
              <a:rPr sz="900" spc="-55" dirty="0">
                <a:latin typeface="Arial"/>
                <a:cs typeface="Arial"/>
              </a:rPr>
              <a:t> </a:t>
            </a:r>
            <a:r>
              <a:rPr sz="900" i="1" spc="-10" dirty="0">
                <a:latin typeface="Arial"/>
                <a:cs typeface="Arial"/>
              </a:rPr>
              <a:t>i</a:t>
            </a:r>
            <a:r>
              <a:rPr sz="900" i="1" spc="-175" dirty="0">
                <a:latin typeface="Arial"/>
                <a:cs typeface="Arial"/>
              </a:rPr>
              <a:t> </a:t>
            </a:r>
            <a:r>
              <a:rPr sz="900" spc="-50" dirty="0">
                <a:latin typeface="Arial"/>
                <a:cs typeface="Arial"/>
              </a:rPr>
              <a:t>?</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366395"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3" action="ppaction://hlinksldjump"/>
              </a:rPr>
              <a:t>Aggregation</a:t>
            </a:r>
            <a:endParaRPr sz="500">
              <a:latin typeface="Arial"/>
              <a:cs typeface="Arial"/>
            </a:endParaRPr>
          </a:p>
        </p:txBody>
      </p:sp>
    </p:spTree>
  </p:cSld>
  <p:clrMapOvr>
    <a:masterClrMapping/>
  </p:clrMapOvr>
  <p:transition>
    <p:fade/>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735704" algn="l"/>
              </a:tabLst>
            </a:pPr>
            <a:r>
              <a:rPr sz="500" spc="-10" dirty="0">
                <a:latin typeface="Arial"/>
                <a:cs typeface="Arial"/>
                <a:hlinkClick r:id="rId2" action="ppaction://hlinksldjump"/>
              </a:rPr>
              <a:t>Coordination</a:t>
            </a:r>
            <a:r>
              <a:rPr sz="500" dirty="0">
                <a:latin typeface="Arial"/>
                <a:cs typeface="Arial"/>
              </a:rPr>
              <a:t>	</a:t>
            </a:r>
            <a:r>
              <a:rPr sz="500" spc="-10" dirty="0">
                <a:solidFill>
                  <a:srgbClr val="FFFFFF"/>
                </a:solidFill>
                <a:latin typeface="Arial"/>
                <a:cs typeface="Arial"/>
                <a:hlinkClick r:id="rId3" action="ppaction://hlinksldjump"/>
              </a:rPr>
              <a:t>Gossip-</a:t>
            </a:r>
            <a:r>
              <a:rPr sz="500" dirty="0">
                <a:solidFill>
                  <a:srgbClr val="FFFFFF"/>
                </a:solidFill>
                <a:latin typeface="Arial"/>
                <a:cs typeface="Arial"/>
                <a:hlinkClick r:id="rId3" action="ppaction://hlinksldjump"/>
              </a:rPr>
              <a:t>based</a:t>
            </a:r>
            <a:r>
              <a:rPr sz="500" spc="30"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coordination</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0" dirty="0"/>
              <a:t>Gossip-</a:t>
            </a:r>
            <a:r>
              <a:rPr dirty="0"/>
              <a:t>based</a:t>
            </a:r>
            <a:r>
              <a:rPr spc="-35" dirty="0"/>
              <a:t> </a:t>
            </a:r>
            <a:r>
              <a:rPr dirty="0"/>
              <a:t>coordination:</a:t>
            </a:r>
            <a:r>
              <a:rPr spc="35" dirty="0"/>
              <a:t> </a:t>
            </a:r>
            <a:r>
              <a:rPr dirty="0"/>
              <a:t>peer</a:t>
            </a:r>
            <a:r>
              <a:rPr spc="-35" dirty="0"/>
              <a:t> </a:t>
            </a:r>
            <a:r>
              <a:rPr spc="-10" dirty="0"/>
              <a:t>sampling</a:t>
            </a:r>
          </a:p>
        </p:txBody>
      </p:sp>
      <p:sp>
        <p:nvSpPr>
          <p:cNvPr id="4" name="object 4"/>
          <p:cNvSpPr txBox="1"/>
          <p:nvPr/>
        </p:nvSpPr>
        <p:spPr>
          <a:xfrm>
            <a:off x="321894" y="499476"/>
            <a:ext cx="3959225" cy="2584450"/>
          </a:xfrm>
          <a:prstGeom prst="rect">
            <a:avLst/>
          </a:prstGeom>
        </p:spPr>
        <p:txBody>
          <a:bodyPr vert="horz" wrap="square" lIns="0" tIns="27305" rIns="0" bIns="0" rtlCol="0">
            <a:spAutoFit/>
          </a:bodyPr>
          <a:lstStyle/>
          <a:p>
            <a:pPr marL="38100">
              <a:lnSpc>
                <a:spcPct val="100000"/>
              </a:lnSpc>
              <a:spcBef>
                <a:spcPts val="215"/>
              </a:spcBef>
            </a:pPr>
            <a:r>
              <a:rPr sz="1000" spc="-10" dirty="0">
                <a:solidFill>
                  <a:srgbClr val="3333B2"/>
                </a:solidFill>
                <a:latin typeface="Arial"/>
                <a:cs typeface="Arial"/>
              </a:rPr>
              <a:t>Problem</a:t>
            </a:r>
            <a:endParaRPr sz="1000">
              <a:latin typeface="Arial"/>
              <a:cs typeface="Arial"/>
            </a:endParaRPr>
          </a:p>
          <a:p>
            <a:pPr marL="38100" marR="30480">
              <a:lnSpc>
                <a:spcPts val="1210"/>
              </a:lnSpc>
              <a:spcBef>
                <a:spcPts val="35"/>
              </a:spcBef>
            </a:pPr>
            <a:r>
              <a:rPr sz="900" dirty="0">
                <a:latin typeface="Arial"/>
                <a:cs typeface="Arial"/>
              </a:rPr>
              <a:t>For</a:t>
            </a:r>
            <a:r>
              <a:rPr sz="900" spc="-20" dirty="0">
                <a:latin typeface="Arial"/>
                <a:cs typeface="Arial"/>
              </a:rPr>
              <a:t> </a:t>
            </a:r>
            <a:r>
              <a:rPr sz="900" dirty="0">
                <a:latin typeface="Arial"/>
                <a:cs typeface="Arial"/>
              </a:rPr>
              <a:t>many</a:t>
            </a:r>
            <a:r>
              <a:rPr sz="900" spc="-20" dirty="0">
                <a:latin typeface="Arial"/>
                <a:cs typeface="Arial"/>
              </a:rPr>
              <a:t> </a:t>
            </a:r>
            <a:r>
              <a:rPr sz="900" spc="-10" dirty="0">
                <a:latin typeface="Arial"/>
                <a:cs typeface="Arial"/>
              </a:rPr>
              <a:t>gossip-</a:t>
            </a:r>
            <a:r>
              <a:rPr sz="900" dirty="0">
                <a:latin typeface="Arial"/>
                <a:cs typeface="Arial"/>
              </a:rPr>
              <a:t>based</a:t>
            </a:r>
            <a:r>
              <a:rPr sz="900" spc="-20" dirty="0">
                <a:latin typeface="Arial"/>
                <a:cs typeface="Arial"/>
              </a:rPr>
              <a:t> </a:t>
            </a:r>
            <a:r>
              <a:rPr sz="900" spc="-10" dirty="0">
                <a:latin typeface="Arial"/>
                <a:cs typeface="Arial"/>
              </a:rPr>
              <a:t>applications,</a:t>
            </a:r>
            <a:r>
              <a:rPr sz="900" spc="-20" dirty="0">
                <a:latin typeface="Arial"/>
                <a:cs typeface="Arial"/>
              </a:rPr>
              <a:t> </a:t>
            </a:r>
            <a:r>
              <a:rPr sz="900" dirty="0">
                <a:latin typeface="Arial"/>
                <a:cs typeface="Arial"/>
              </a:rPr>
              <a:t>you</a:t>
            </a:r>
            <a:r>
              <a:rPr sz="900" spc="-20" dirty="0">
                <a:latin typeface="Arial"/>
                <a:cs typeface="Arial"/>
              </a:rPr>
              <a:t> </a:t>
            </a:r>
            <a:r>
              <a:rPr sz="900" dirty="0">
                <a:latin typeface="Arial"/>
                <a:cs typeface="Arial"/>
              </a:rPr>
              <a:t>need</a:t>
            </a:r>
            <a:r>
              <a:rPr sz="900" spc="-15" dirty="0">
                <a:latin typeface="Arial"/>
                <a:cs typeface="Arial"/>
              </a:rPr>
              <a:t> </a:t>
            </a:r>
            <a:r>
              <a:rPr sz="900" dirty="0">
                <a:latin typeface="Arial"/>
                <a:cs typeface="Arial"/>
              </a:rPr>
              <a:t>to</a:t>
            </a:r>
            <a:r>
              <a:rPr sz="900" spc="-20" dirty="0">
                <a:latin typeface="Arial"/>
                <a:cs typeface="Arial"/>
              </a:rPr>
              <a:t> </a:t>
            </a:r>
            <a:r>
              <a:rPr sz="900" dirty="0">
                <a:solidFill>
                  <a:srgbClr val="3333B2"/>
                </a:solidFill>
                <a:latin typeface="Arial"/>
                <a:cs typeface="Arial"/>
              </a:rPr>
              <a:t>select</a:t>
            </a:r>
            <a:r>
              <a:rPr sz="900" spc="-20" dirty="0">
                <a:solidFill>
                  <a:srgbClr val="3333B2"/>
                </a:solidFill>
                <a:latin typeface="Arial"/>
                <a:cs typeface="Arial"/>
              </a:rPr>
              <a:t> </a:t>
            </a:r>
            <a:r>
              <a:rPr sz="900" dirty="0">
                <a:solidFill>
                  <a:srgbClr val="3333B2"/>
                </a:solidFill>
                <a:latin typeface="Arial"/>
                <a:cs typeface="Arial"/>
              </a:rPr>
              <a:t>a</a:t>
            </a:r>
            <a:r>
              <a:rPr sz="900" spc="-20" dirty="0">
                <a:solidFill>
                  <a:srgbClr val="3333B2"/>
                </a:solidFill>
                <a:latin typeface="Arial"/>
                <a:cs typeface="Arial"/>
              </a:rPr>
              <a:t> </a:t>
            </a:r>
            <a:r>
              <a:rPr sz="900" dirty="0">
                <a:solidFill>
                  <a:srgbClr val="3333B2"/>
                </a:solidFill>
                <a:latin typeface="Arial"/>
                <a:cs typeface="Arial"/>
              </a:rPr>
              <a:t>peer</a:t>
            </a:r>
            <a:r>
              <a:rPr sz="900" spc="-20" dirty="0">
                <a:solidFill>
                  <a:srgbClr val="3333B2"/>
                </a:solidFill>
                <a:latin typeface="Arial"/>
                <a:cs typeface="Arial"/>
              </a:rPr>
              <a:t> </a:t>
            </a:r>
            <a:r>
              <a:rPr sz="900" dirty="0">
                <a:solidFill>
                  <a:srgbClr val="3333B2"/>
                </a:solidFill>
                <a:latin typeface="Arial"/>
                <a:cs typeface="Arial"/>
              </a:rPr>
              <a:t>uniformly</a:t>
            </a:r>
            <a:r>
              <a:rPr sz="900" spc="-15" dirty="0">
                <a:solidFill>
                  <a:srgbClr val="3333B2"/>
                </a:solidFill>
                <a:latin typeface="Arial"/>
                <a:cs typeface="Arial"/>
              </a:rPr>
              <a:t> </a:t>
            </a:r>
            <a:r>
              <a:rPr sz="900" spc="-25" dirty="0">
                <a:solidFill>
                  <a:srgbClr val="3333B2"/>
                </a:solidFill>
                <a:latin typeface="Arial"/>
                <a:cs typeface="Arial"/>
              </a:rPr>
              <a:t>at </a:t>
            </a:r>
            <a:r>
              <a:rPr sz="900" dirty="0">
                <a:solidFill>
                  <a:srgbClr val="3333B2"/>
                </a:solidFill>
                <a:latin typeface="Arial"/>
                <a:cs typeface="Arial"/>
              </a:rPr>
              <a:t>random</a:t>
            </a:r>
            <a:r>
              <a:rPr sz="900" spc="-30" dirty="0">
                <a:solidFill>
                  <a:srgbClr val="3333B2"/>
                </a:solidFill>
                <a:latin typeface="Arial"/>
                <a:cs typeface="Arial"/>
              </a:rPr>
              <a:t> </a:t>
            </a:r>
            <a:r>
              <a:rPr sz="900" dirty="0">
                <a:latin typeface="Arial"/>
                <a:cs typeface="Arial"/>
              </a:rPr>
              <a:t>from</a:t>
            </a:r>
            <a:r>
              <a:rPr sz="900" spc="-30" dirty="0">
                <a:latin typeface="Arial"/>
                <a:cs typeface="Arial"/>
              </a:rPr>
              <a:t> </a:t>
            </a:r>
            <a:r>
              <a:rPr sz="900" dirty="0">
                <a:latin typeface="Arial"/>
                <a:cs typeface="Arial"/>
              </a:rPr>
              <a:t>the</a:t>
            </a:r>
            <a:r>
              <a:rPr sz="900" spc="-30" dirty="0">
                <a:latin typeface="Arial"/>
                <a:cs typeface="Arial"/>
              </a:rPr>
              <a:t> </a:t>
            </a:r>
            <a:r>
              <a:rPr sz="900" dirty="0">
                <a:latin typeface="Arial"/>
                <a:cs typeface="Arial"/>
              </a:rPr>
              <a:t>entire</a:t>
            </a:r>
            <a:r>
              <a:rPr sz="900" spc="-30" dirty="0">
                <a:latin typeface="Arial"/>
                <a:cs typeface="Arial"/>
              </a:rPr>
              <a:t> </a:t>
            </a:r>
            <a:r>
              <a:rPr sz="900" dirty="0">
                <a:latin typeface="Arial"/>
                <a:cs typeface="Arial"/>
              </a:rPr>
              <a:t>network.</a:t>
            </a:r>
            <a:r>
              <a:rPr sz="900" spc="30" dirty="0">
                <a:latin typeface="Arial"/>
                <a:cs typeface="Arial"/>
              </a:rPr>
              <a:t> </a:t>
            </a:r>
            <a:r>
              <a:rPr sz="900" dirty="0">
                <a:latin typeface="Arial"/>
                <a:cs typeface="Arial"/>
              </a:rPr>
              <a:t>In</a:t>
            </a:r>
            <a:r>
              <a:rPr sz="900" spc="-30" dirty="0">
                <a:latin typeface="Arial"/>
                <a:cs typeface="Arial"/>
              </a:rPr>
              <a:t> </a:t>
            </a:r>
            <a:r>
              <a:rPr sz="900" dirty="0">
                <a:latin typeface="Arial"/>
                <a:cs typeface="Arial"/>
              </a:rPr>
              <a:t>principle,</a:t>
            </a:r>
            <a:r>
              <a:rPr sz="900" spc="-30" dirty="0">
                <a:latin typeface="Arial"/>
                <a:cs typeface="Arial"/>
              </a:rPr>
              <a:t> </a:t>
            </a:r>
            <a:r>
              <a:rPr sz="900" dirty="0">
                <a:latin typeface="Arial"/>
                <a:cs typeface="Arial"/>
              </a:rPr>
              <a:t>this</a:t>
            </a:r>
            <a:r>
              <a:rPr sz="900" spc="-30" dirty="0">
                <a:latin typeface="Arial"/>
                <a:cs typeface="Arial"/>
              </a:rPr>
              <a:t> </a:t>
            </a:r>
            <a:r>
              <a:rPr sz="900" dirty="0">
                <a:latin typeface="Arial"/>
                <a:cs typeface="Arial"/>
              </a:rPr>
              <a:t>means</a:t>
            </a:r>
            <a:r>
              <a:rPr sz="900" spc="-25" dirty="0">
                <a:latin typeface="Arial"/>
                <a:cs typeface="Arial"/>
              </a:rPr>
              <a:t> </a:t>
            </a:r>
            <a:r>
              <a:rPr sz="900" dirty="0">
                <a:latin typeface="Arial"/>
                <a:cs typeface="Arial"/>
              </a:rPr>
              <a:t>you</a:t>
            </a:r>
            <a:r>
              <a:rPr sz="900" spc="-30" dirty="0">
                <a:latin typeface="Arial"/>
                <a:cs typeface="Arial"/>
              </a:rPr>
              <a:t> </a:t>
            </a:r>
            <a:r>
              <a:rPr sz="900" dirty="0">
                <a:latin typeface="Arial"/>
                <a:cs typeface="Arial"/>
              </a:rPr>
              <a:t>need</a:t>
            </a:r>
            <a:r>
              <a:rPr sz="900" spc="-30" dirty="0">
                <a:latin typeface="Arial"/>
                <a:cs typeface="Arial"/>
              </a:rPr>
              <a:t> </a:t>
            </a:r>
            <a:r>
              <a:rPr sz="900" dirty="0">
                <a:latin typeface="Arial"/>
                <a:cs typeface="Arial"/>
              </a:rPr>
              <a:t>to</a:t>
            </a:r>
            <a:r>
              <a:rPr sz="900" spc="-30" dirty="0">
                <a:latin typeface="Arial"/>
                <a:cs typeface="Arial"/>
              </a:rPr>
              <a:t> </a:t>
            </a:r>
            <a:r>
              <a:rPr sz="900" dirty="0">
                <a:latin typeface="Arial"/>
                <a:cs typeface="Arial"/>
              </a:rPr>
              <a:t>know</a:t>
            </a:r>
            <a:r>
              <a:rPr sz="900" spc="-30" dirty="0">
                <a:latin typeface="Arial"/>
                <a:cs typeface="Arial"/>
              </a:rPr>
              <a:t> </a:t>
            </a:r>
            <a:r>
              <a:rPr sz="900" spc="-25" dirty="0">
                <a:latin typeface="Arial"/>
                <a:cs typeface="Arial"/>
              </a:rPr>
              <a:t>all </a:t>
            </a:r>
            <a:r>
              <a:rPr sz="900" dirty="0">
                <a:latin typeface="Arial"/>
                <a:cs typeface="Arial"/>
              </a:rPr>
              <a:t>other</a:t>
            </a:r>
            <a:r>
              <a:rPr sz="900" spc="-35" dirty="0">
                <a:latin typeface="Arial"/>
                <a:cs typeface="Arial"/>
              </a:rPr>
              <a:t> </a:t>
            </a:r>
            <a:r>
              <a:rPr sz="900" dirty="0">
                <a:latin typeface="Arial"/>
                <a:cs typeface="Arial"/>
              </a:rPr>
              <a:t>peers.</a:t>
            </a:r>
            <a:r>
              <a:rPr sz="900" spc="20" dirty="0">
                <a:latin typeface="Arial"/>
                <a:cs typeface="Arial"/>
              </a:rPr>
              <a:t> </a:t>
            </a:r>
            <a:r>
              <a:rPr sz="900" spc="-10" dirty="0">
                <a:solidFill>
                  <a:srgbClr val="C80000"/>
                </a:solidFill>
                <a:latin typeface="Arial"/>
                <a:cs typeface="Arial"/>
              </a:rPr>
              <a:t>Impossible</a:t>
            </a:r>
            <a:r>
              <a:rPr sz="900" spc="-10" dirty="0">
                <a:latin typeface="Arial"/>
                <a:cs typeface="Arial"/>
              </a:rPr>
              <a:t>?</a:t>
            </a:r>
            <a:endParaRPr sz="900">
              <a:latin typeface="Arial"/>
              <a:cs typeface="Arial"/>
            </a:endParaRPr>
          </a:p>
          <a:p>
            <a:pPr marL="38100">
              <a:lnSpc>
                <a:spcPct val="100000"/>
              </a:lnSpc>
              <a:spcBef>
                <a:spcPts val="745"/>
              </a:spcBef>
            </a:pPr>
            <a:r>
              <a:rPr sz="1000" spc="-10" dirty="0">
                <a:solidFill>
                  <a:srgbClr val="3333B2"/>
                </a:solidFill>
                <a:latin typeface="Arial"/>
                <a:cs typeface="Arial"/>
              </a:rPr>
              <a:t>Basics</a:t>
            </a:r>
            <a:endParaRPr sz="1000">
              <a:latin typeface="Arial"/>
              <a:cs typeface="Arial"/>
            </a:endParaRPr>
          </a:p>
          <a:p>
            <a:pPr marL="290830" indent="-120650">
              <a:lnSpc>
                <a:spcPct val="100000"/>
              </a:lnSpc>
              <a:spcBef>
                <a:spcPts val="500"/>
              </a:spcBef>
              <a:buClr>
                <a:srgbClr val="3333B2"/>
              </a:buClr>
              <a:buFont typeface="Menlo"/>
              <a:buChar char="•"/>
              <a:tabLst>
                <a:tab pos="291465" algn="l"/>
              </a:tabLst>
            </a:pPr>
            <a:r>
              <a:rPr sz="900" dirty="0">
                <a:latin typeface="Arial"/>
                <a:cs typeface="Arial"/>
              </a:rPr>
              <a:t>Each</a:t>
            </a:r>
            <a:r>
              <a:rPr sz="900" spc="-20" dirty="0">
                <a:latin typeface="Arial"/>
                <a:cs typeface="Arial"/>
              </a:rPr>
              <a:t> </a:t>
            </a:r>
            <a:r>
              <a:rPr sz="900" dirty="0">
                <a:latin typeface="Arial"/>
                <a:cs typeface="Arial"/>
              </a:rPr>
              <a:t>node</a:t>
            </a:r>
            <a:r>
              <a:rPr sz="900" spc="-15" dirty="0">
                <a:latin typeface="Arial"/>
                <a:cs typeface="Arial"/>
              </a:rPr>
              <a:t> </a:t>
            </a:r>
            <a:r>
              <a:rPr sz="900" dirty="0">
                <a:latin typeface="Arial"/>
                <a:cs typeface="Arial"/>
              </a:rPr>
              <a:t>maintains</a:t>
            </a:r>
            <a:r>
              <a:rPr sz="900" spc="-15" dirty="0">
                <a:latin typeface="Arial"/>
                <a:cs typeface="Arial"/>
              </a:rPr>
              <a:t> </a:t>
            </a:r>
            <a:r>
              <a:rPr sz="900" dirty="0">
                <a:latin typeface="Arial"/>
                <a:cs typeface="Arial"/>
              </a:rPr>
              <a:t>a</a:t>
            </a:r>
            <a:r>
              <a:rPr sz="900" spc="-15" dirty="0">
                <a:latin typeface="Arial"/>
                <a:cs typeface="Arial"/>
              </a:rPr>
              <a:t> </a:t>
            </a:r>
            <a:r>
              <a:rPr sz="900" dirty="0">
                <a:latin typeface="Arial"/>
                <a:cs typeface="Arial"/>
              </a:rPr>
              <a:t>list</a:t>
            </a:r>
            <a:r>
              <a:rPr sz="900" spc="-15" dirty="0">
                <a:latin typeface="Arial"/>
                <a:cs typeface="Arial"/>
              </a:rPr>
              <a:t> </a:t>
            </a:r>
            <a:r>
              <a:rPr sz="900" dirty="0">
                <a:latin typeface="Arial"/>
                <a:cs typeface="Arial"/>
              </a:rPr>
              <a:t>of</a:t>
            </a:r>
            <a:r>
              <a:rPr sz="900" spc="-15" dirty="0">
                <a:latin typeface="Arial"/>
                <a:cs typeface="Arial"/>
              </a:rPr>
              <a:t> </a:t>
            </a:r>
            <a:r>
              <a:rPr sz="900" i="1" dirty="0">
                <a:latin typeface="Arial"/>
                <a:cs typeface="Arial"/>
              </a:rPr>
              <a:t>c</a:t>
            </a:r>
            <a:r>
              <a:rPr sz="900" i="1" spc="30" dirty="0">
                <a:latin typeface="Arial"/>
                <a:cs typeface="Arial"/>
              </a:rPr>
              <a:t> </a:t>
            </a:r>
            <a:r>
              <a:rPr sz="900" spc="-10" dirty="0">
                <a:latin typeface="Arial"/>
                <a:cs typeface="Arial"/>
              </a:rPr>
              <a:t>references</a:t>
            </a:r>
            <a:r>
              <a:rPr sz="900" spc="-15" dirty="0">
                <a:latin typeface="Arial"/>
                <a:cs typeface="Arial"/>
              </a:rPr>
              <a:t> </a:t>
            </a:r>
            <a:r>
              <a:rPr sz="900" dirty="0">
                <a:latin typeface="Arial"/>
                <a:cs typeface="Arial"/>
              </a:rPr>
              <a:t>to</a:t>
            </a:r>
            <a:r>
              <a:rPr sz="900" spc="-15" dirty="0">
                <a:latin typeface="Arial"/>
                <a:cs typeface="Arial"/>
              </a:rPr>
              <a:t> </a:t>
            </a:r>
            <a:r>
              <a:rPr sz="900" dirty="0">
                <a:latin typeface="Arial"/>
                <a:cs typeface="Arial"/>
              </a:rPr>
              <a:t>other</a:t>
            </a:r>
            <a:r>
              <a:rPr sz="900" spc="-15" dirty="0">
                <a:latin typeface="Arial"/>
                <a:cs typeface="Arial"/>
              </a:rPr>
              <a:t> </a:t>
            </a:r>
            <a:r>
              <a:rPr sz="900" spc="-10" dirty="0">
                <a:latin typeface="Arial"/>
                <a:cs typeface="Arial"/>
              </a:rPr>
              <a:t>nodes</a:t>
            </a:r>
            <a:endParaRPr sz="900">
              <a:latin typeface="Arial"/>
              <a:cs typeface="Arial"/>
            </a:endParaRPr>
          </a:p>
          <a:p>
            <a:pPr marL="290830" marR="196215" indent="-120650">
              <a:lnSpc>
                <a:spcPct val="111600"/>
              </a:lnSpc>
              <a:spcBef>
                <a:spcPts val="400"/>
              </a:spcBef>
              <a:buClr>
                <a:srgbClr val="3333B2"/>
              </a:buClr>
              <a:buFont typeface="Menlo"/>
              <a:buChar char="•"/>
              <a:tabLst>
                <a:tab pos="291465" algn="l"/>
              </a:tabLst>
            </a:pPr>
            <a:r>
              <a:rPr sz="900" dirty="0">
                <a:solidFill>
                  <a:srgbClr val="C80000"/>
                </a:solidFill>
                <a:latin typeface="Arial"/>
                <a:cs typeface="Arial"/>
              </a:rPr>
              <a:t>Regularly</a:t>
            </a:r>
            <a:r>
              <a:rPr sz="900" dirty="0">
                <a:latin typeface="Arial"/>
                <a:cs typeface="Arial"/>
              </a:rPr>
              <a:t>,</a:t>
            </a:r>
            <a:r>
              <a:rPr sz="900" spc="-30" dirty="0">
                <a:latin typeface="Arial"/>
                <a:cs typeface="Arial"/>
              </a:rPr>
              <a:t> </a:t>
            </a:r>
            <a:r>
              <a:rPr sz="900" dirty="0">
                <a:latin typeface="Arial"/>
                <a:cs typeface="Arial"/>
              </a:rPr>
              <a:t>pick</a:t>
            </a:r>
            <a:r>
              <a:rPr sz="900" spc="-30" dirty="0">
                <a:latin typeface="Arial"/>
                <a:cs typeface="Arial"/>
              </a:rPr>
              <a:t> </a:t>
            </a:r>
            <a:r>
              <a:rPr sz="900" dirty="0">
                <a:latin typeface="Arial"/>
                <a:cs typeface="Arial"/>
              </a:rPr>
              <a:t>another</a:t>
            </a:r>
            <a:r>
              <a:rPr sz="900" spc="-25" dirty="0">
                <a:latin typeface="Arial"/>
                <a:cs typeface="Arial"/>
              </a:rPr>
              <a:t> </a:t>
            </a:r>
            <a:r>
              <a:rPr sz="900" dirty="0">
                <a:latin typeface="Arial"/>
                <a:cs typeface="Arial"/>
              </a:rPr>
              <a:t>node</a:t>
            </a:r>
            <a:r>
              <a:rPr sz="900" spc="-30" dirty="0">
                <a:latin typeface="Arial"/>
                <a:cs typeface="Arial"/>
              </a:rPr>
              <a:t> </a:t>
            </a:r>
            <a:r>
              <a:rPr sz="900" dirty="0">
                <a:latin typeface="Arial"/>
                <a:cs typeface="Arial"/>
              </a:rPr>
              <a:t>at</a:t>
            </a:r>
            <a:r>
              <a:rPr sz="900" spc="-30" dirty="0">
                <a:latin typeface="Arial"/>
                <a:cs typeface="Arial"/>
              </a:rPr>
              <a:t> </a:t>
            </a:r>
            <a:r>
              <a:rPr sz="900" dirty="0">
                <a:latin typeface="Arial"/>
                <a:cs typeface="Arial"/>
              </a:rPr>
              <a:t>random</a:t>
            </a:r>
            <a:r>
              <a:rPr sz="900" spc="-25" dirty="0">
                <a:latin typeface="Arial"/>
                <a:cs typeface="Arial"/>
              </a:rPr>
              <a:t> </a:t>
            </a:r>
            <a:r>
              <a:rPr sz="900" dirty="0">
                <a:latin typeface="Arial"/>
                <a:cs typeface="Arial"/>
              </a:rPr>
              <a:t>(from</a:t>
            </a:r>
            <a:r>
              <a:rPr sz="900" spc="-30" dirty="0">
                <a:latin typeface="Arial"/>
                <a:cs typeface="Arial"/>
              </a:rPr>
              <a:t> </a:t>
            </a:r>
            <a:r>
              <a:rPr sz="900" dirty="0">
                <a:latin typeface="Arial"/>
                <a:cs typeface="Arial"/>
              </a:rPr>
              <a:t>the</a:t>
            </a:r>
            <a:r>
              <a:rPr sz="900" spc="-25" dirty="0">
                <a:latin typeface="Arial"/>
                <a:cs typeface="Arial"/>
              </a:rPr>
              <a:t> </a:t>
            </a:r>
            <a:r>
              <a:rPr sz="900" dirty="0">
                <a:latin typeface="Arial"/>
                <a:cs typeface="Arial"/>
              </a:rPr>
              <a:t>list),</a:t>
            </a:r>
            <a:r>
              <a:rPr sz="900" spc="-30" dirty="0">
                <a:latin typeface="Arial"/>
                <a:cs typeface="Arial"/>
              </a:rPr>
              <a:t> </a:t>
            </a:r>
            <a:r>
              <a:rPr sz="900" dirty="0">
                <a:latin typeface="Arial"/>
                <a:cs typeface="Arial"/>
              </a:rPr>
              <a:t>and</a:t>
            </a:r>
            <a:r>
              <a:rPr sz="900" spc="-30" dirty="0">
                <a:latin typeface="Arial"/>
                <a:cs typeface="Arial"/>
              </a:rPr>
              <a:t> </a:t>
            </a:r>
            <a:r>
              <a:rPr sz="900" spc="-10" dirty="0">
                <a:solidFill>
                  <a:srgbClr val="3333B2"/>
                </a:solidFill>
                <a:latin typeface="Arial"/>
                <a:cs typeface="Arial"/>
              </a:rPr>
              <a:t>exchange </a:t>
            </a:r>
            <a:r>
              <a:rPr sz="900" dirty="0">
                <a:latin typeface="Arial"/>
                <a:cs typeface="Arial"/>
              </a:rPr>
              <a:t>roughly</a:t>
            </a:r>
            <a:r>
              <a:rPr sz="900" spc="45" dirty="0">
                <a:latin typeface="Arial"/>
                <a:cs typeface="Arial"/>
              </a:rPr>
              <a:t> </a:t>
            </a:r>
            <a:r>
              <a:rPr sz="900" i="1" dirty="0">
                <a:latin typeface="Arial"/>
                <a:cs typeface="Arial"/>
              </a:rPr>
              <a:t>c</a:t>
            </a:r>
            <a:r>
              <a:rPr sz="900" i="1" dirty="0">
                <a:latin typeface="STIX Two Text"/>
                <a:cs typeface="STIX Two Text"/>
              </a:rPr>
              <a:t>/</a:t>
            </a:r>
            <a:r>
              <a:rPr sz="900" dirty="0">
                <a:latin typeface="Arial"/>
                <a:cs typeface="Arial"/>
              </a:rPr>
              <a:t>2</a:t>
            </a:r>
            <a:r>
              <a:rPr sz="900" spc="50" dirty="0">
                <a:latin typeface="Arial"/>
                <a:cs typeface="Arial"/>
              </a:rPr>
              <a:t> </a:t>
            </a:r>
            <a:r>
              <a:rPr sz="900" spc="-10" dirty="0">
                <a:latin typeface="Arial"/>
                <a:cs typeface="Arial"/>
              </a:rPr>
              <a:t>references</a:t>
            </a:r>
            <a:endParaRPr sz="900">
              <a:latin typeface="Arial"/>
              <a:cs typeface="Arial"/>
            </a:endParaRPr>
          </a:p>
          <a:p>
            <a:pPr marL="290830" marR="136525" indent="-120650">
              <a:lnSpc>
                <a:spcPct val="111600"/>
              </a:lnSpc>
              <a:spcBef>
                <a:spcPts val="400"/>
              </a:spcBef>
              <a:buClr>
                <a:srgbClr val="3333B2"/>
              </a:buClr>
              <a:buFont typeface="Menlo"/>
              <a:buChar char="•"/>
              <a:tabLst>
                <a:tab pos="286385" algn="l"/>
              </a:tabLst>
            </a:pPr>
            <a:r>
              <a:rPr sz="900" dirty="0">
                <a:latin typeface="Arial"/>
                <a:cs typeface="Arial"/>
              </a:rPr>
              <a:t>When</a:t>
            </a:r>
            <a:r>
              <a:rPr sz="900" spc="-30" dirty="0">
                <a:latin typeface="Arial"/>
                <a:cs typeface="Arial"/>
              </a:rPr>
              <a:t> </a:t>
            </a:r>
            <a:r>
              <a:rPr sz="900" dirty="0">
                <a:latin typeface="Arial"/>
                <a:cs typeface="Arial"/>
              </a:rPr>
              <a:t>the</a:t>
            </a:r>
            <a:r>
              <a:rPr sz="900" spc="-25" dirty="0">
                <a:latin typeface="Arial"/>
                <a:cs typeface="Arial"/>
              </a:rPr>
              <a:t> </a:t>
            </a:r>
            <a:r>
              <a:rPr sz="900" dirty="0">
                <a:solidFill>
                  <a:srgbClr val="C80000"/>
                </a:solidFill>
                <a:latin typeface="Arial"/>
                <a:cs typeface="Arial"/>
              </a:rPr>
              <a:t>application</a:t>
            </a:r>
            <a:r>
              <a:rPr sz="900" spc="-25" dirty="0">
                <a:solidFill>
                  <a:srgbClr val="C80000"/>
                </a:solidFill>
                <a:latin typeface="Arial"/>
                <a:cs typeface="Arial"/>
              </a:rPr>
              <a:t> </a:t>
            </a:r>
            <a:r>
              <a:rPr sz="900" dirty="0">
                <a:latin typeface="Arial"/>
                <a:cs typeface="Arial"/>
              </a:rPr>
              <a:t>needs</a:t>
            </a:r>
            <a:r>
              <a:rPr sz="900" spc="-25"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select</a:t>
            </a:r>
            <a:r>
              <a:rPr sz="900" spc="-30" dirty="0">
                <a:latin typeface="Arial"/>
                <a:cs typeface="Arial"/>
              </a:rPr>
              <a:t> </a:t>
            </a:r>
            <a:r>
              <a:rPr sz="900" dirty="0">
                <a:latin typeface="Arial"/>
                <a:cs typeface="Arial"/>
              </a:rPr>
              <a:t>a</a:t>
            </a:r>
            <a:r>
              <a:rPr sz="900" spc="-25" dirty="0">
                <a:latin typeface="Arial"/>
                <a:cs typeface="Arial"/>
              </a:rPr>
              <a:t> </a:t>
            </a:r>
            <a:r>
              <a:rPr sz="900" dirty="0">
                <a:latin typeface="Arial"/>
                <a:cs typeface="Arial"/>
              </a:rPr>
              <a:t>node</a:t>
            </a:r>
            <a:r>
              <a:rPr sz="900" spc="-25" dirty="0">
                <a:latin typeface="Arial"/>
                <a:cs typeface="Arial"/>
              </a:rPr>
              <a:t> </a:t>
            </a:r>
            <a:r>
              <a:rPr sz="900" dirty="0">
                <a:latin typeface="Arial"/>
                <a:cs typeface="Arial"/>
              </a:rPr>
              <a:t>at</a:t>
            </a:r>
            <a:r>
              <a:rPr sz="900" spc="-25" dirty="0">
                <a:latin typeface="Arial"/>
                <a:cs typeface="Arial"/>
              </a:rPr>
              <a:t> </a:t>
            </a:r>
            <a:r>
              <a:rPr sz="900" dirty="0">
                <a:latin typeface="Arial"/>
                <a:cs typeface="Arial"/>
              </a:rPr>
              <a:t>random,</a:t>
            </a:r>
            <a:r>
              <a:rPr sz="900" spc="-25" dirty="0">
                <a:latin typeface="Arial"/>
                <a:cs typeface="Arial"/>
              </a:rPr>
              <a:t> </a:t>
            </a:r>
            <a:r>
              <a:rPr sz="900" dirty="0">
                <a:latin typeface="Arial"/>
                <a:cs typeface="Arial"/>
              </a:rPr>
              <a:t>it</a:t>
            </a:r>
            <a:r>
              <a:rPr sz="900" spc="-25" dirty="0">
                <a:latin typeface="Arial"/>
                <a:cs typeface="Arial"/>
              </a:rPr>
              <a:t> </a:t>
            </a:r>
            <a:r>
              <a:rPr sz="900" dirty="0">
                <a:latin typeface="Arial"/>
                <a:cs typeface="Arial"/>
              </a:rPr>
              <a:t>also</a:t>
            </a:r>
            <a:r>
              <a:rPr sz="900" spc="-30" dirty="0">
                <a:latin typeface="Arial"/>
                <a:cs typeface="Arial"/>
              </a:rPr>
              <a:t> </a:t>
            </a:r>
            <a:r>
              <a:rPr sz="900" dirty="0">
                <a:latin typeface="Arial"/>
                <a:cs typeface="Arial"/>
              </a:rPr>
              <a:t>picks</a:t>
            </a:r>
            <a:r>
              <a:rPr sz="900" spc="-25" dirty="0">
                <a:latin typeface="Arial"/>
                <a:cs typeface="Arial"/>
              </a:rPr>
              <a:t> </a:t>
            </a:r>
            <a:r>
              <a:rPr sz="900" spc="-50" dirty="0">
                <a:latin typeface="Arial"/>
                <a:cs typeface="Arial"/>
              </a:rPr>
              <a:t>a</a:t>
            </a:r>
            <a:r>
              <a:rPr sz="900" dirty="0">
                <a:latin typeface="Arial"/>
                <a:cs typeface="Arial"/>
              </a:rPr>
              <a:t> random</a:t>
            </a:r>
            <a:r>
              <a:rPr sz="900" spc="-25" dirty="0">
                <a:latin typeface="Arial"/>
                <a:cs typeface="Arial"/>
              </a:rPr>
              <a:t> </a:t>
            </a:r>
            <a:r>
              <a:rPr sz="900" dirty="0">
                <a:latin typeface="Arial"/>
                <a:cs typeface="Arial"/>
              </a:rPr>
              <a:t>one</a:t>
            </a:r>
            <a:r>
              <a:rPr sz="900" spc="-25" dirty="0">
                <a:latin typeface="Arial"/>
                <a:cs typeface="Arial"/>
              </a:rPr>
              <a:t> </a:t>
            </a:r>
            <a:r>
              <a:rPr sz="900" dirty="0">
                <a:latin typeface="Arial"/>
                <a:cs typeface="Arial"/>
              </a:rPr>
              <a:t>from</a:t>
            </a:r>
            <a:r>
              <a:rPr sz="900" spc="-25" dirty="0">
                <a:latin typeface="Arial"/>
                <a:cs typeface="Arial"/>
              </a:rPr>
              <a:t> </a:t>
            </a:r>
            <a:r>
              <a:rPr sz="900" dirty="0">
                <a:latin typeface="Arial"/>
                <a:cs typeface="Arial"/>
              </a:rPr>
              <a:t>from</a:t>
            </a:r>
            <a:r>
              <a:rPr sz="900" spc="-25" dirty="0">
                <a:latin typeface="Arial"/>
                <a:cs typeface="Arial"/>
              </a:rPr>
              <a:t> </a:t>
            </a:r>
            <a:r>
              <a:rPr sz="900" dirty="0">
                <a:latin typeface="Arial"/>
                <a:cs typeface="Arial"/>
              </a:rPr>
              <a:t>its</a:t>
            </a:r>
            <a:r>
              <a:rPr sz="900" spc="-25" dirty="0">
                <a:latin typeface="Arial"/>
                <a:cs typeface="Arial"/>
              </a:rPr>
              <a:t> </a:t>
            </a:r>
            <a:r>
              <a:rPr sz="900" dirty="0">
                <a:latin typeface="Arial"/>
                <a:cs typeface="Arial"/>
              </a:rPr>
              <a:t>local</a:t>
            </a:r>
            <a:r>
              <a:rPr sz="900" spc="-25" dirty="0">
                <a:latin typeface="Arial"/>
                <a:cs typeface="Arial"/>
              </a:rPr>
              <a:t> </a:t>
            </a:r>
            <a:r>
              <a:rPr sz="900" spc="-10" dirty="0">
                <a:latin typeface="Arial"/>
                <a:cs typeface="Arial"/>
              </a:rPr>
              <a:t>list.</a:t>
            </a:r>
            <a:endParaRPr sz="900">
              <a:latin typeface="Arial"/>
              <a:cs typeface="Arial"/>
            </a:endParaRPr>
          </a:p>
          <a:p>
            <a:pPr>
              <a:lnSpc>
                <a:spcPct val="100000"/>
              </a:lnSpc>
              <a:spcBef>
                <a:spcPts val="15"/>
              </a:spcBef>
            </a:pPr>
            <a:endParaRPr sz="1050">
              <a:latin typeface="Arial"/>
              <a:cs typeface="Arial"/>
            </a:endParaRPr>
          </a:p>
          <a:p>
            <a:pPr marL="38100">
              <a:lnSpc>
                <a:spcPct val="100000"/>
              </a:lnSpc>
            </a:pPr>
            <a:r>
              <a:rPr sz="1000" spc="-10" dirty="0">
                <a:solidFill>
                  <a:srgbClr val="C80000"/>
                </a:solidFill>
                <a:latin typeface="Arial"/>
                <a:cs typeface="Arial"/>
              </a:rPr>
              <a:t>Observation</a:t>
            </a:r>
            <a:endParaRPr sz="1000">
              <a:latin typeface="Arial"/>
              <a:cs typeface="Arial"/>
            </a:endParaRPr>
          </a:p>
          <a:p>
            <a:pPr marL="38100" marR="272415">
              <a:lnSpc>
                <a:spcPts val="1210"/>
              </a:lnSpc>
              <a:spcBef>
                <a:spcPts val="40"/>
              </a:spcBef>
            </a:pPr>
            <a:r>
              <a:rPr sz="900" spc="-10" dirty="0">
                <a:latin typeface="Arial"/>
                <a:cs typeface="Arial"/>
              </a:rPr>
              <a:t>Statistically,</a:t>
            </a:r>
            <a:r>
              <a:rPr sz="900" spc="-20" dirty="0">
                <a:latin typeface="Arial"/>
                <a:cs typeface="Arial"/>
              </a:rPr>
              <a:t> </a:t>
            </a:r>
            <a:r>
              <a:rPr sz="900" dirty="0">
                <a:latin typeface="Arial"/>
                <a:cs typeface="Arial"/>
              </a:rPr>
              <a:t>it</a:t>
            </a:r>
            <a:r>
              <a:rPr sz="900" spc="-15" dirty="0">
                <a:latin typeface="Arial"/>
                <a:cs typeface="Arial"/>
              </a:rPr>
              <a:t> </a:t>
            </a:r>
            <a:r>
              <a:rPr sz="900" dirty="0">
                <a:latin typeface="Arial"/>
                <a:cs typeface="Arial"/>
              </a:rPr>
              <a:t>turns</a:t>
            </a:r>
            <a:r>
              <a:rPr sz="900" spc="-20" dirty="0">
                <a:latin typeface="Arial"/>
                <a:cs typeface="Arial"/>
              </a:rPr>
              <a:t> </a:t>
            </a:r>
            <a:r>
              <a:rPr sz="900" dirty="0">
                <a:latin typeface="Arial"/>
                <a:cs typeface="Arial"/>
              </a:rPr>
              <a:t>out</a:t>
            </a:r>
            <a:r>
              <a:rPr sz="900" spc="-15" dirty="0">
                <a:latin typeface="Arial"/>
                <a:cs typeface="Arial"/>
              </a:rPr>
              <a:t> </a:t>
            </a:r>
            <a:r>
              <a:rPr sz="900" dirty="0">
                <a:latin typeface="Arial"/>
                <a:cs typeface="Arial"/>
              </a:rPr>
              <a:t>that</a:t>
            </a:r>
            <a:r>
              <a:rPr sz="900" spc="-15" dirty="0">
                <a:latin typeface="Arial"/>
                <a:cs typeface="Arial"/>
              </a:rPr>
              <a:t> </a:t>
            </a:r>
            <a:r>
              <a:rPr sz="900" dirty="0">
                <a:latin typeface="Arial"/>
                <a:cs typeface="Arial"/>
              </a:rPr>
              <a:t>the</a:t>
            </a:r>
            <a:r>
              <a:rPr sz="900" spc="-20" dirty="0">
                <a:latin typeface="Arial"/>
                <a:cs typeface="Arial"/>
              </a:rPr>
              <a:t> </a:t>
            </a:r>
            <a:r>
              <a:rPr sz="900" dirty="0">
                <a:latin typeface="Arial"/>
                <a:cs typeface="Arial"/>
              </a:rPr>
              <a:t>selection</a:t>
            </a:r>
            <a:r>
              <a:rPr sz="900" spc="-15" dirty="0">
                <a:latin typeface="Arial"/>
                <a:cs typeface="Arial"/>
              </a:rPr>
              <a:t> </a:t>
            </a:r>
            <a:r>
              <a:rPr sz="900" dirty="0">
                <a:latin typeface="Arial"/>
                <a:cs typeface="Arial"/>
              </a:rPr>
              <a:t>of</a:t>
            </a:r>
            <a:r>
              <a:rPr sz="900" spc="-20" dirty="0">
                <a:latin typeface="Arial"/>
                <a:cs typeface="Arial"/>
              </a:rPr>
              <a:t> </a:t>
            </a:r>
            <a:r>
              <a:rPr sz="900" dirty="0">
                <a:latin typeface="Arial"/>
                <a:cs typeface="Arial"/>
              </a:rPr>
              <a:t>a</a:t>
            </a:r>
            <a:r>
              <a:rPr sz="900" spc="-15" dirty="0">
                <a:latin typeface="Arial"/>
                <a:cs typeface="Arial"/>
              </a:rPr>
              <a:t> </a:t>
            </a:r>
            <a:r>
              <a:rPr sz="900" dirty="0">
                <a:latin typeface="Arial"/>
                <a:cs typeface="Arial"/>
              </a:rPr>
              <a:t>peer</a:t>
            </a:r>
            <a:r>
              <a:rPr sz="900" spc="-20" dirty="0">
                <a:latin typeface="Arial"/>
                <a:cs typeface="Arial"/>
              </a:rPr>
              <a:t> </a:t>
            </a:r>
            <a:r>
              <a:rPr sz="900" dirty="0">
                <a:latin typeface="Arial"/>
                <a:cs typeface="Arial"/>
              </a:rPr>
              <a:t>from</a:t>
            </a:r>
            <a:r>
              <a:rPr sz="900" spc="-15" dirty="0">
                <a:latin typeface="Arial"/>
                <a:cs typeface="Arial"/>
              </a:rPr>
              <a:t> </a:t>
            </a:r>
            <a:r>
              <a:rPr sz="900" dirty="0">
                <a:latin typeface="Arial"/>
                <a:cs typeface="Arial"/>
              </a:rPr>
              <a:t>the</a:t>
            </a:r>
            <a:r>
              <a:rPr sz="900" spc="-15" dirty="0">
                <a:latin typeface="Arial"/>
                <a:cs typeface="Arial"/>
              </a:rPr>
              <a:t> </a:t>
            </a:r>
            <a:r>
              <a:rPr sz="900" dirty="0">
                <a:latin typeface="Arial"/>
                <a:cs typeface="Arial"/>
              </a:rPr>
              <a:t>local</a:t>
            </a:r>
            <a:r>
              <a:rPr sz="900" spc="-20" dirty="0">
                <a:latin typeface="Arial"/>
                <a:cs typeface="Arial"/>
              </a:rPr>
              <a:t> </a:t>
            </a:r>
            <a:r>
              <a:rPr sz="900" dirty="0">
                <a:latin typeface="Arial"/>
                <a:cs typeface="Arial"/>
              </a:rPr>
              <a:t>list</a:t>
            </a:r>
            <a:r>
              <a:rPr sz="900" spc="-15" dirty="0">
                <a:latin typeface="Arial"/>
                <a:cs typeface="Arial"/>
              </a:rPr>
              <a:t> </a:t>
            </a:r>
            <a:r>
              <a:rPr sz="900" spc="-25" dirty="0">
                <a:latin typeface="Arial"/>
                <a:cs typeface="Arial"/>
              </a:rPr>
              <a:t>is </a:t>
            </a:r>
            <a:r>
              <a:rPr sz="900" spc="-10" dirty="0">
                <a:latin typeface="Arial"/>
                <a:cs typeface="Arial"/>
              </a:rPr>
              <a:t>indistinguishable</a:t>
            </a:r>
            <a:r>
              <a:rPr sz="900" spc="-20" dirty="0">
                <a:latin typeface="Arial"/>
                <a:cs typeface="Arial"/>
              </a:rPr>
              <a:t> </a:t>
            </a:r>
            <a:r>
              <a:rPr sz="900" dirty="0">
                <a:latin typeface="Arial"/>
                <a:cs typeface="Arial"/>
              </a:rPr>
              <a:t>from</a:t>
            </a:r>
            <a:r>
              <a:rPr sz="900" spc="-20" dirty="0">
                <a:latin typeface="Arial"/>
                <a:cs typeface="Arial"/>
              </a:rPr>
              <a:t> </a:t>
            </a:r>
            <a:r>
              <a:rPr sz="900" dirty="0">
                <a:latin typeface="Arial"/>
                <a:cs typeface="Arial"/>
              </a:rPr>
              <a:t>selecting</a:t>
            </a:r>
            <a:r>
              <a:rPr sz="900" spc="-15" dirty="0">
                <a:latin typeface="Arial"/>
                <a:cs typeface="Arial"/>
              </a:rPr>
              <a:t> </a:t>
            </a:r>
            <a:r>
              <a:rPr sz="900" dirty="0">
                <a:latin typeface="Arial"/>
                <a:cs typeface="Arial"/>
              </a:rPr>
              <a:t>uniformly</a:t>
            </a:r>
            <a:r>
              <a:rPr sz="900" spc="-20" dirty="0">
                <a:latin typeface="Arial"/>
                <a:cs typeface="Arial"/>
              </a:rPr>
              <a:t> </a:t>
            </a:r>
            <a:r>
              <a:rPr sz="900" dirty="0">
                <a:latin typeface="Arial"/>
                <a:cs typeface="Arial"/>
              </a:rPr>
              <a:t>at</a:t>
            </a:r>
            <a:r>
              <a:rPr sz="900" spc="-15" dirty="0">
                <a:latin typeface="Arial"/>
                <a:cs typeface="Arial"/>
              </a:rPr>
              <a:t> </a:t>
            </a:r>
            <a:r>
              <a:rPr sz="900" dirty="0">
                <a:latin typeface="Arial"/>
                <a:cs typeface="Arial"/>
              </a:rPr>
              <a:t>random</a:t>
            </a:r>
            <a:r>
              <a:rPr sz="900" spc="-20" dirty="0">
                <a:latin typeface="Arial"/>
                <a:cs typeface="Arial"/>
              </a:rPr>
              <a:t> </a:t>
            </a:r>
            <a:r>
              <a:rPr sz="900" dirty="0">
                <a:latin typeface="Arial"/>
                <a:cs typeface="Arial"/>
              </a:rPr>
              <a:t>peer</a:t>
            </a:r>
            <a:r>
              <a:rPr sz="900" spc="-15" dirty="0">
                <a:latin typeface="Arial"/>
                <a:cs typeface="Arial"/>
              </a:rPr>
              <a:t> </a:t>
            </a:r>
            <a:r>
              <a:rPr sz="900" dirty="0">
                <a:latin typeface="Arial"/>
                <a:cs typeface="Arial"/>
              </a:rPr>
              <a:t>from</a:t>
            </a:r>
            <a:r>
              <a:rPr sz="900" spc="-20" dirty="0">
                <a:latin typeface="Arial"/>
                <a:cs typeface="Arial"/>
              </a:rPr>
              <a:t> </a:t>
            </a:r>
            <a:r>
              <a:rPr sz="900" dirty="0">
                <a:latin typeface="Arial"/>
                <a:cs typeface="Arial"/>
              </a:rPr>
              <a:t>the</a:t>
            </a:r>
            <a:r>
              <a:rPr sz="900" spc="-15" dirty="0">
                <a:latin typeface="Arial"/>
                <a:cs typeface="Arial"/>
              </a:rPr>
              <a:t> </a:t>
            </a:r>
            <a:r>
              <a:rPr sz="900" spc="-10" dirty="0">
                <a:latin typeface="Arial"/>
                <a:cs typeface="Arial"/>
              </a:rPr>
              <a:t>entire network</a:t>
            </a:r>
            <a:endParaRPr sz="900">
              <a:latin typeface="Arial"/>
              <a:cs typeface="Arial"/>
            </a:endParaRPr>
          </a:p>
        </p:txBody>
      </p:sp>
      <p:sp>
        <p:nvSpPr>
          <p:cNvPr id="5" name="object 5"/>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6" name="object 6"/>
          <p:cNvSpPr txBox="1"/>
          <p:nvPr/>
        </p:nvSpPr>
        <p:spPr>
          <a:xfrm>
            <a:off x="53467" y="3346954"/>
            <a:ext cx="706120" cy="101600"/>
          </a:xfrm>
          <a:prstGeom prst="rect">
            <a:avLst/>
          </a:prstGeom>
        </p:spPr>
        <p:txBody>
          <a:bodyPr vert="horz" wrap="square" lIns="0" tIns="12065" rIns="0" bIns="0" rtlCol="0">
            <a:spAutoFit/>
          </a:bodyPr>
          <a:lstStyle/>
          <a:p>
            <a:pPr marL="12700">
              <a:lnSpc>
                <a:spcPct val="100000"/>
              </a:lnSpc>
              <a:spcBef>
                <a:spcPts val="95"/>
              </a:spcBef>
            </a:pPr>
            <a:r>
              <a:rPr sz="500" dirty="0">
                <a:latin typeface="Arial"/>
                <a:cs typeface="Arial"/>
                <a:hlinkClick r:id="rId4" action="ppaction://hlinksldjump"/>
              </a:rPr>
              <a:t>A</a:t>
            </a:r>
            <a:r>
              <a:rPr sz="500" spc="-10" dirty="0">
                <a:latin typeface="Arial"/>
                <a:cs typeface="Arial"/>
                <a:hlinkClick r:id="rId4" action="ppaction://hlinksldjump"/>
              </a:rPr>
              <a:t> peer-</a:t>
            </a:r>
            <a:r>
              <a:rPr sz="500" dirty="0">
                <a:latin typeface="Arial"/>
                <a:cs typeface="Arial"/>
                <a:hlinkClick r:id="rId4" action="ppaction://hlinksldjump"/>
              </a:rPr>
              <a:t>sampling</a:t>
            </a:r>
            <a:r>
              <a:rPr sz="500" spc="5" dirty="0">
                <a:latin typeface="Arial"/>
                <a:cs typeface="Arial"/>
                <a:hlinkClick r:id="rId4" action="ppaction://hlinksldjump"/>
              </a:rPr>
              <a:t> </a:t>
            </a:r>
            <a:r>
              <a:rPr sz="500" spc="-10" dirty="0">
                <a:latin typeface="Arial"/>
                <a:cs typeface="Arial"/>
                <a:hlinkClick r:id="rId4" action="ppaction://hlinksldjump"/>
              </a:rPr>
              <a:t>service</a:t>
            </a:r>
            <a:endParaRPr sz="500">
              <a:latin typeface="Arial"/>
              <a:cs typeface="Arial"/>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Tree>
  </p:cSld>
  <p:clrMapOvr>
    <a:masterClrMapping/>
  </p:clrMapOvr>
  <p:transition>
    <p:fade/>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735704" algn="l"/>
              </a:tabLst>
            </a:pPr>
            <a:r>
              <a:rPr sz="500" spc="-10" dirty="0">
                <a:latin typeface="Arial"/>
                <a:cs typeface="Arial"/>
                <a:hlinkClick r:id="rId2" action="ppaction://hlinksldjump"/>
              </a:rPr>
              <a:t>Coordination</a:t>
            </a:r>
            <a:r>
              <a:rPr sz="500" dirty="0">
                <a:latin typeface="Arial"/>
                <a:cs typeface="Arial"/>
              </a:rPr>
              <a:t>	</a:t>
            </a:r>
            <a:r>
              <a:rPr sz="500" spc="-10" dirty="0">
                <a:solidFill>
                  <a:srgbClr val="FFFFFF"/>
                </a:solidFill>
                <a:latin typeface="Arial"/>
                <a:cs typeface="Arial"/>
                <a:hlinkClick r:id="rId3" action="ppaction://hlinksldjump"/>
              </a:rPr>
              <a:t>Gossip-</a:t>
            </a:r>
            <a:r>
              <a:rPr sz="500" dirty="0">
                <a:solidFill>
                  <a:srgbClr val="FFFFFF"/>
                </a:solidFill>
                <a:latin typeface="Arial"/>
                <a:cs typeface="Arial"/>
                <a:hlinkClick r:id="rId3" action="ppaction://hlinksldjump"/>
              </a:rPr>
              <a:t>based</a:t>
            </a:r>
            <a:r>
              <a:rPr sz="500" spc="30"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coordination</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0" dirty="0"/>
              <a:t>Gossip-</a:t>
            </a:r>
            <a:r>
              <a:rPr dirty="0"/>
              <a:t>based</a:t>
            </a:r>
            <a:r>
              <a:rPr spc="-30" dirty="0"/>
              <a:t> </a:t>
            </a:r>
            <a:r>
              <a:rPr spc="-10" dirty="0"/>
              <a:t>overlay</a:t>
            </a:r>
            <a:r>
              <a:rPr spc="-30" dirty="0"/>
              <a:t> </a:t>
            </a:r>
            <a:r>
              <a:rPr spc="-10" dirty="0"/>
              <a:t>construction</a:t>
            </a:r>
          </a:p>
        </p:txBody>
      </p:sp>
      <p:sp>
        <p:nvSpPr>
          <p:cNvPr id="4" name="object 4"/>
          <p:cNvSpPr txBox="1"/>
          <p:nvPr/>
        </p:nvSpPr>
        <p:spPr>
          <a:xfrm>
            <a:off x="347294" y="499476"/>
            <a:ext cx="3573145" cy="649605"/>
          </a:xfrm>
          <a:prstGeom prst="rect">
            <a:avLst/>
          </a:prstGeom>
        </p:spPr>
        <p:txBody>
          <a:bodyPr vert="horz" wrap="square" lIns="0" tIns="27305" rIns="0" bIns="0" rtlCol="0">
            <a:spAutoFit/>
          </a:bodyPr>
          <a:lstStyle/>
          <a:p>
            <a:pPr marL="12700">
              <a:lnSpc>
                <a:spcPct val="100000"/>
              </a:lnSpc>
              <a:spcBef>
                <a:spcPts val="215"/>
              </a:spcBef>
            </a:pPr>
            <a:r>
              <a:rPr sz="1000" spc="-10" dirty="0">
                <a:solidFill>
                  <a:srgbClr val="3333B2"/>
                </a:solidFill>
                <a:latin typeface="Arial"/>
                <a:cs typeface="Arial"/>
              </a:rPr>
              <a:t>Essence</a:t>
            </a:r>
            <a:endParaRPr sz="1000">
              <a:latin typeface="Arial"/>
              <a:cs typeface="Arial"/>
            </a:endParaRPr>
          </a:p>
          <a:p>
            <a:pPr marL="12700" marR="5080">
              <a:lnSpc>
                <a:spcPts val="1210"/>
              </a:lnSpc>
              <a:spcBef>
                <a:spcPts val="35"/>
              </a:spcBef>
            </a:pPr>
            <a:r>
              <a:rPr sz="900" dirty="0">
                <a:latin typeface="Arial"/>
                <a:cs typeface="Arial"/>
              </a:rPr>
              <a:t>Maintain</a:t>
            </a:r>
            <a:r>
              <a:rPr sz="900" spc="-35" dirty="0">
                <a:latin typeface="Arial"/>
                <a:cs typeface="Arial"/>
              </a:rPr>
              <a:t> </a:t>
            </a:r>
            <a:r>
              <a:rPr sz="900" dirty="0">
                <a:latin typeface="Arial"/>
                <a:cs typeface="Arial"/>
              </a:rPr>
              <a:t>two</a:t>
            </a:r>
            <a:r>
              <a:rPr sz="900" spc="-35" dirty="0">
                <a:latin typeface="Arial"/>
                <a:cs typeface="Arial"/>
              </a:rPr>
              <a:t> </a:t>
            </a:r>
            <a:r>
              <a:rPr sz="900" dirty="0">
                <a:latin typeface="Arial"/>
                <a:cs typeface="Arial"/>
              </a:rPr>
              <a:t>local</a:t>
            </a:r>
            <a:r>
              <a:rPr sz="900" spc="-30" dirty="0">
                <a:latin typeface="Arial"/>
                <a:cs typeface="Arial"/>
              </a:rPr>
              <a:t> </a:t>
            </a:r>
            <a:r>
              <a:rPr sz="900" dirty="0">
                <a:latin typeface="Arial"/>
                <a:cs typeface="Arial"/>
              </a:rPr>
              <a:t>lists</a:t>
            </a:r>
            <a:r>
              <a:rPr sz="900" spc="-35" dirty="0">
                <a:latin typeface="Arial"/>
                <a:cs typeface="Arial"/>
              </a:rPr>
              <a:t> </a:t>
            </a:r>
            <a:r>
              <a:rPr sz="900" dirty="0">
                <a:latin typeface="Arial"/>
                <a:cs typeface="Arial"/>
              </a:rPr>
              <a:t>of</a:t>
            </a:r>
            <a:r>
              <a:rPr sz="900" spc="-30" dirty="0">
                <a:latin typeface="Arial"/>
                <a:cs typeface="Arial"/>
              </a:rPr>
              <a:t> </a:t>
            </a:r>
            <a:r>
              <a:rPr sz="900" dirty="0">
                <a:latin typeface="Arial"/>
                <a:cs typeface="Arial"/>
              </a:rPr>
              <a:t>neighbors.</a:t>
            </a:r>
            <a:r>
              <a:rPr sz="900" spc="20" dirty="0">
                <a:latin typeface="Arial"/>
                <a:cs typeface="Arial"/>
              </a:rPr>
              <a:t> </a:t>
            </a:r>
            <a:r>
              <a:rPr sz="900" dirty="0">
                <a:latin typeface="Arial"/>
                <a:cs typeface="Arial"/>
              </a:rPr>
              <a:t>The</a:t>
            </a:r>
            <a:r>
              <a:rPr sz="900" spc="-35" dirty="0">
                <a:latin typeface="Arial"/>
                <a:cs typeface="Arial"/>
              </a:rPr>
              <a:t> </a:t>
            </a:r>
            <a:r>
              <a:rPr sz="900" dirty="0">
                <a:latin typeface="Arial"/>
                <a:cs typeface="Arial"/>
              </a:rPr>
              <a:t>lowest</a:t>
            </a:r>
            <a:r>
              <a:rPr sz="900" spc="-30" dirty="0">
                <a:latin typeface="Arial"/>
                <a:cs typeface="Arial"/>
              </a:rPr>
              <a:t> </a:t>
            </a:r>
            <a:r>
              <a:rPr sz="900" dirty="0">
                <a:latin typeface="Arial"/>
                <a:cs typeface="Arial"/>
              </a:rPr>
              <a:t>is</a:t>
            </a:r>
            <a:r>
              <a:rPr sz="900" spc="-35" dirty="0">
                <a:latin typeface="Arial"/>
                <a:cs typeface="Arial"/>
              </a:rPr>
              <a:t> </a:t>
            </a:r>
            <a:r>
              <a:rPr sz="900" dirty="0">
                <a:latin typeface="Arial"/>
                <a:cs typeface="Arial"/>
              </a:rPr>
              <a:t>used</a:t>
            </a:r>
            <a:r>
              <a:rPr sz="900" spc="-30" dirty="0">
                <a:latin typeface="Arial"/>
                <a:cs typeface="Arial"/>
              </a:rPr>
              <a:t> </a:t>
            </a:r>
            <a:r>
              <a:rPr sz="900" dirty="0">
                <a:latin typeface="Arial"/>
                <a:cs typeface="Arial"/>
              </a:rPr>
              <a:t>for</a:t>
            </a:r>
            <a:r>
              <a:rPr sz="900" spc="-35" dirty="0">
                <a:latin typeface="Arial"/>
                <a:cs typeface="Arial"/>
              </a:rPr>
              <a:t> </a:t>
            </a:r>
            <a:r>
              <a:rPr sz="900" dirty="0">
                <a:latin typeface="Arial"/>
                <a:cs typeface="Arial"/>
              </a:rPr>
              <a:t>providing</a:t>
            </a:r>
            <a:r>
              <a:rPr sz="900" spc="-35" dirty="0">
                <a:latin typeface="Arial"/>
                <a:cs typeface="Arial"/>
              </a:rPr>
              <a:t> </a:t>
            </a:r>
            <a:r>
              <a:rPr sz="900" spc="-50" dirty="0">
                <a:latin typeface="Arial"/>
                <a:cs typeface="Arial"/>
              </a:rPr>
              <a:t>a</a:t>
            </a:r>
            <a:r>
              <a:rPr sz="900" spc="-10" dirty="0">
                <a:latin typeface="Arial"/>
                <a:cs typeface="Arial"/>
              </a:rPr>
              <a:t> </a:t>
            </a:r>
            <a:r>
              <a:rPr sz="900" spc="-10" dirty="0">
                <a:solidFill>
                  <a:srgbClr val="3333B2"/>
                </a:solidFill>
                <a:latin typeface="Arial"/>
                <a:cs typeface="Arial"/>
              </a:rPr>
              <a:t>peer-</a:t>
            </a:r>
            <a:r>
              <a:rPr sz="900" dirty="0">
                <a:solidFill>
                  <a:srgbClr val="3333B2"/>
                </a:solidFill>
                <a:latin typeface="Arial"/>
                <a:cs typeface="Arial"/>
              </a:rPr>
              <a:t>sampling</a:t>
            </a:r>
            <a:r>
              <a:rPr sz="900" spc="-20" dirty="0">
                <a:solidFill>
                  <a:srgbClr val="3333B2"/>
                </a:solidFill>
                <a:latin typeface="Arial"/>
                <a:cs typeface="Arial"/>
              </a:rPr>
              <a:t> </a:t>
            </a:r>
            <a:r>
              <a:rPr sz="900" dirty="0">
                <a:solidFill>
                  <a:srgbClr val="3333B2"/>
                </a:solidFill>
                <a:latin typeface="Arial"/>
                <a:cs typeface="Arial"/>
              </a:rPr>
              <a:t>service</a:t>
            </a:r>
            <a:r>
              <a:rPr sz="900" dirty="0">
                <a:latin typeface="Arial"/>
                <a:cs typeface="Arial"/>
              </a:rPr>
              <a:t>;</a:t>
            </a:r>
            <a:r>
              <a:rPr sz="900" spc="-20" dirty="0">
                <a:latin typeface="Arial"/>
                <a:cs typeface="Arial"/>
              </a:rPr>
              <a:t> </a:t>
            </a:r>
            <a:r>
              <a:rPr sz="900" dirty="0">
                <a:latin typeface="Arial"/>
                <a:cs typeface="Arial"/>
              </a:rPr>
              <a:t>the</a:t>
            </a:r>
            <a:r>
              <a:rPr sz="900" spc="-20" dirty="0">
                <a:latin typeface="Arial"/>
                <a:cs typeface="Arial"/>
              </a:rPr>
              <a:t> </a:t>
            </a:r>
            <a:r>
              <a:rPr sz="900" dirty="0">
                <a:latin typeface="Arial"/>
                <a:cs typeface="Arial"/>
              </a:rPr>
              <a:t>highest</a:t>
            </a:r>
            <a:r>
              <a:rPr sz="900" spc="-20" dirty="0">
                <a:latin typeface="Arial"/>
                <a:cs typeface="Arial"/>
              </a:rPr>
              <a:t> </a:t>
            </a:r>
            <a:r>
              <a:rPr sz="900" dirty="0">
                <a:latin typeface="Arial"/>
                <a:cs typeface="Arial"/>
              </a:rPr>
              <a:t>list</a:t>
            </a:r>
            <a:r>
              <a:rPr sz="900" spc="-20" dirty="0">
                <a:latin typeface="Arial"/>
                <a:cs typeface="Arial"/>
              </a:rPr>
              <a:t> </a:t>
            </a:r>
            <a:r>
              <a:rPr sz="900" dirty="0">
                <a:latin typeface="Arial"/>
                <a:cs typeface="Arial"/>
              </a:rPr>
              <a:t>is</a:t>
            </a:r>
            <a:r>
              <a:rPr sz="900" spc="-20" dirty="0">
                <a:latin typeface="Arial"/>
                <a:cs typeface="Arial"/>
              </a:rPr>
              <a:t> </a:t>
            </a:r>
            <a:r>
              <a:rPr sz="900" dirty="0">
                <a:latin typeface="Arial"/>
                <a:cs typeface="Arial"/>
              </a:rPr>
              <a:t>used</a:t>
            </a:r>
            <a:r>
              <a:rPr sz="900" spc="-20" dirty="0">
                <a:latin typeface="Arial"/>
                <a:cs typeface="Arial"/>
              </a:rPr>
              <a:t> </a:t>
            </a:r>
            <a:r>
              <a:rPr sz="900" dirty="0">
                <a:latin typeface="Arial"/>
                <a:cs typeface="Arial"/>
              </a:rPr>
              <a:t>to</a:t>
            </a:r>
            <a:r>
              <a:rPr sz="900" spc="-20" dirty="0">
                <a:latin typeface="Arial"/>
                <a:cs typeface="Arial"/>
              </a:rPr>
              <a:t> </a:t>
            </a:r>
            <a:r>
              <a:rPr sz="900" dirty="0">
                <a:latin typeface="Arial"/>
                <a:cs typeface="Arial"/>
              </a:rPr>
              <a:t>carefully</a:t>
            </a:r>
            <a:r>
              <a:rPr sz="900" spc="-20" dirty="0">
                <a:latin typeface="Arial"/>
                <a:cs typeface="Arial"/>
              </a:rPr>
              <a:t> </a:t>
            </a:r>
            <a:r>
              <a:rPr sz="900" spc="-10" dirty="0">
                <a:latin typeface="Arial"/>
                <a:cs typeface="Arial"/>
              </a:rPr>
              <a:t>select </a:t>
            </a:r>
            <a:r>
              <a:rPr sz="900" spc="-10" dirty="0">
                <a:solidFill>
                  <a:srgbClr val="3333B2"/>
                </a:solidFill>
                <a:latin typeface="Arial"/>
                <a:cs typeface="Arial"/>
              </a:rPr>
              <a:t>application-</a:t>
            </a:r>
            <a:r>
              <a:rPr sz="900" dirty="0">
                <a:solidFill>
                  <a:srgbClr val="3333B2"/>
                </a:solidFill>
                <a:latin typeface="Arial"/>
                <a:cs typeface="Arial"/>
              </a:rPr>
              <a:t>dependent</a:t>
            </a:r>
            <a:r>
              <a:rPr sz="900" spc="25" dirty="0">
                <a:solidFill>
                  <a:srgbClr val="3333B2"/>
                </a:solidFill>
                <a:latin typeface="Arial"/>
                <a:cs typeface="Arial"/>
              </a:rPr>
              <a:t> </a:t>
            </a:r>
            <a:r>
              <a:rPr sz="900" spc="-10" dirty="0">
                <a:solidFill>
                  <a:srgbClr val="3333B2"/>
                </a:solidFill>
                <a:latin typeface="Arial"/>
                <a:cs typeface="Arial"/>
              </a:rPr>
              <a:t>neighbors</a:t>
            </a:r>
            <a:r>
              <a:rPr sz="900" spc="-10" dirty="0">
                <a:latin typeface="Arial"/>
                <a:cs typeface="Arial"/>
              </a:rPr>
              <a:t>.</a:t>
            </a:r>
            <a:endParaRPr sz="900">
              <a:latin typeface="Arial"/>
              <a:cs typeface="Arial"/>
            </a:endParaRPr>
          </a:p>
        </p:txBody>
      </p:sp>
      <p:pic>
        <p:nvPicPr>
          <p:cNvPr id="5" name="object 5"/>
          <p:cNvPicPr/>
          <p:nvPr/>
        </p:nvPicPr>
        <p:blipFill>
          <a:blip r:embed="rId4" cstate="print"/>
          <a:stretch>
            <a:fillRect/>
          </a:stretch>
        </p:blipFill>
        <p:spPr>
          <a:xfrm>
            <a:off x="1256320" y="1259962"/>
            <a:ext cx="2096538" cy="954457"/>
          </a:xfrm>
          <a:prstGeom prst="rect">
            <a:avLst/>
          </a:prstGeom>
        </p:spPr>
      </p:pic>
      <p:grpSp>
        <p:nvGrpSpPr>
          <p:cNvPr id="6" name="object 6"/>
          <p:cNvGrpSpPr/>
          <p:nvPr/>
        </p:nvGrpSpPr>
        <p:grpSpPr>
          <a:xfrm>
            <a:off x="0" y="3348469"/>
            <a:ext cx="4608195" cy="107950"/>
            <a:chOff x="0" y="3348469"/>
            <a:chExt cx="4608195" cy="107950"/>
          </a:xfrm>
        </p:grpSpPr>
        <p:sp>
          <p:nvSpPr>
            <p:cNvPr id="7" name="object 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9" name="object 9"/>
          <p:cNvSpPr txBox="1"/>
          <p:nvPr/>
        </p:nvSpPr>
        <p:spPr>
          <a:xfrm>
            <a:off x="53467" y="3349927"/>
            <a:ext cx="993775"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5" action="ppaction://hlinksldjump"/>
              </a:rPr>
              <a:t>Gossip-</a:t>
            </a:r>
            <a:r>
              <a:rPr sz="500" dirty="0">
                <a:latin typeface="Arial"/>
                <a:cs typeface="Arial"/>
                <a:hlinkClick r:id="rId5" action="ppaction://hlinksldjump"/>
              </a:rPr>
              <a:t>based</a:t>
            </a:r>
            <a:r>
              <a:rPr sz="500" spc="20" dirty="0">
                <a:latin typeface="Arial"/>
                <a:cs typeface="Arial"/>
                <a:hlinkClick r:id="rId5" action="ppaction://hlinksldjump"/>
              </a:rPr>
              <a:t> </a:t>
            </a:r>
            <a:r>
              <a:rPr sz="500" spc="-10" dirty="0">
                <a:latin typeface="Arial"/>
                <a:cs typeface="Arial"/>
                <a:hlinkClick r:id="rId5" action="ppaction://hlinksldjump"/>
              </a:rPr>
              <a:t>overlay</a:t>
            </a:r>
            <a:r>
              <a:rPr sz="500" spc="25" dirty="0">
                <a:latin typeface="Arial"/>
                <a:cs typeface="Arial"/>
                <a:hlinkClick r:id="rId5" action="ppaction://hlinksldjump"/>
              </a:rPr>
              <a:t> </a:t>
            </a:r>
            <a:r>
              <a:rPr sz="500" spc="-10" dirty="0">
                <a:latin typeface="Arial"/>
                <a:cs typeface="Arial"/>
                <a:hlinkClick r:id="rId5" action="ppaction://hlinksldjump"/>
              </a:rPr>
              <a:t>construction</a:t>
            </a:r>
            <a:endParaRPr sz="500">
              <a:latin typeface="Arial"/>
              <a:cs typeface="Arial"/>
            </a:endParaRPr>
          </a:p>
        </p:txBody>
      </p:sp>
    </p:spTree>
  </p:cSld>
  <p:clrMapOvr>
    <a:masterClrMapping/>
  </p:clrMapOvr>
  <p:transition>
    <p:fade/>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735704" algn="l"/>
              </a:tabLst>
            </a:pPr>
            <a:r>
              <a:rPr sz="500" spc="-10" dirty="0">
                <a:latin typeface="Arial"/>
                <a:cs typeface="Arial"/>
                <a:hlinkClick r:id="rId2" action="ppaction://hlinksldjump"/>
              </a:rPr>
              <a:t>Coordination</a:t>
            </a:r>
            <a:r>
              <a:rPr sz="500" dirty="0">
                <a:latin typeface="Arial"/>
                <a:cs typeface="Arial"/>
              </a:rPr>
              <a:t>	</a:t>
            </a:r>
            <a:r>
              <a:rPr sz="500" spc="-10" dirty="0">
                <a:solidFill>
                  <a:srgbClr val="FFFFFF"/>
                </a:solidFill>
                <a:latin typeface="Arial"/>
                <a:cs typeface="Arial"/>
                <a:hlinkClick r:id="rId3" action="ppaction://hlinksldjump"/>
              </a:rPr>
              <a:t>Gossip-</a:t>
            </a:r>
            <a:r>
              <a:rPr sz="500" dirty="0">
                <a:solidFill>
                  <a:srgbClr val="FFFFFF"/>
                </a:solidFill>
                <a:latin typeface="Arial"/>
                <a:cs typeface="Arial"/>
                <a:hlinkClick r:id="rId3" action="ppaction://hlinksldjump"/>
              </a:rPr>
              <a:t>based</a:t>
            </a:r>
            <a:r>
              <a:rPr sz="500" spc="30"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coordination</a:t>
            </a:r>
            <a:endParaRPr sz="500">
              <a:latin typeface="Arial"/>
              <a:cs typeface="Arial"/>
            </a:endParaRPr>
          </a:p>
        </p:txBody>
      </p:sp>
      <p:sp>
        <p:nvSpPr>
          <p:cNvPr id="3" name="object 3"/>
          <p:cNvSpPr txBox="1">
            <a:spLocks noGrp="1"/>
          </p:cNvSpPr>
          <p:nvPr>
            <p:ph type="title"/>
          </p:nvPr>
        </p:nvSpPr>
        <p:spPr>
          <a:xfrm>
            <a:off x="95300" y="197711"/>
            <a:ext cx="3145790" cy="207645"/>
          </a:xfrm>
          <a:prstGeom prst="rect">
            <a:avLst/>
          </a:prstGeom>
        </p:spPr>
        <p:txBody>
          <a:bodyPr vert="horz" wrap="square" lIns="0" tIns="12065" rIns="0" bIns="0" rtlCol="0">
            <a:spAutoFit/>
          </a:bodyPr>
          <a:lstStyle/>
          <a:p>
            <a:pPr marL="12700">
              <a:lnSpc>
                <a:spcPct val="100000"/>
              </a:lnSpc>
              <a:spcBef>
                <a:spcPts val="95"/>
              </a:spcBef>
            </a:pPr>
            <a:r>
              <a:rPr spc="-10" dirty="0"/>
              <a:t>Gossip-</a:t>
            </a:r>
            <a:r>
              <a:rPr dirty="0"/>
              <a:t>based</a:t>
            </a:r>
            <a:r>
              <a:rPr spc="-30" dirty="0"/>
              <a:t> </a:t>
            </a:r>
            <a:r>
              <a:rPr spc="-10" dirty="0"/>
              <a:t>overlay</a:t>
            </a:r>
            <a:r>
              <a:rPr spc="-30" dirty="0"/>
              <a:t> </a:t>
            </a:r>
            <a:r>
              <a:rPr dirty="0"/>
              <a:t>construction:</a:t>
            </a:r>
            <a:r>
              <a:rPr spc="45" dirty="0"/>
              <a:t> </a:t>
            </a:r>
            <a:r>
              <a:rPr dirty="0"/>
              <a:t>a</a:t>
            </a:r>
            <a:r>
              <a:rPr spc="-25" dirty="0"/>
              <a:t> </a:t>
            </a:r>
            <a:r>
              <a:rPr dirty="0"/>
              <a:t>2D</a:t>
            </a:r>
            <a:r>
              <a:rPr spc="-30" dirty="0"/>
              <a:t> </a:t>
            </a:r>
            <a:r>
              <a:rPr spc="-20" dirty="0"/>
              <a:t>torus</a:t>
            </a:r>
          </a:p>
        </p:txBody>
      </p:sp>
      <p:sp>
        <p:nvSpPr>
          <p:cNvPr id="4" name="object 4"/>
          <p:cNvSpPr txBox="1"/>
          <p:nvPr/>
        </p:nvSpPr>
        <p:spPr>
          <a:xfrm>
            <a:off x="334594" y="398364"/>
            <a:ext cx="3851910" cy="1503680"/>
          </a:xfrm>
          <a:prstGeom prst="rect">
            <a:avLst/>
          </a:prstGeom>
        </p:spPr>
        <p:txBody>
          <a:bodyPr vert="horz" wrap="square" lIns="0" tIns="79375" rIns="0" bIns="0" rtlCol="0">
            <a:spAutoFit/>
          </a:bodyPr>
          <a:lstStyle/>
          <a:p>
            <a:pPr marL="25400">
              <a:lnSpc>
                <a:spcPct val="100000"/>
              </a:lnSpc>
              <a:spcBef>
                <a:spcPts val="625"/>
              </a:spcBef>
            </a:pPr>
            <a:r>
              <a:rPr sz="900" dirty="0">
                <a:latin typeface="Arial"/>
                <a:cs typeface="Arial"/>
              </a:rPr>
              <a:t>Consider</a:t>
            </a:r>
            <a:r>
              <a:rPr sz="900" spc="-30" dirty="0">
                <a:latin typeface="Arial"/>
                <a:cs typeface="Arial"/>
              </a:rPr>
              <a:t> </a:t>
            </a:r>
            <a:r>
              <a:rPr sz="900" dirty="0">
                <a:latin typeface="Arial"/>
                <a:cs typeface="Arial"/>
              </a:rPr>
              <a:t>a</a:t>
            </a:r>
            <a:r>
              <a:rPr sz="900" spc="-20" dirty="0">
                <a:latin typeface="Arial"/>
                <a:cs typeface="Arial"/>
              </a:rPr>
              <a:t> </a:t>
            </a:r>
            <a:r>
              <a:rPr sz="900" dirty="0">
                <a:latin typeface="Arial"/>
                <a:cs typeface="Arial"/>
              </a:rPr>
              <a:t>logical</a:t>
            </a:r>
            <a:r>
              <a:rPr sz="900" spc="-15" dirty="0">
                <a:latin typeface="Arial"/>
                <a:cs typeface="Arial"/>
              </a:rPr>
              <a:t> </a:t>
            </a:r>
            <a:r>
              <a:rPr sz="900" i="1" spc="-10" dirty="0">
                <a:latin typeface="Arial"/>
                <a:cs typeface="Arial"/>
              </a:rPr>
              <a:t>N</a:t>
            </a:r>
            <a:r>
              <a:rPr sz="900" i="1" spc="-60" dirty="0">
                <a:latin typeface="Arial"/>
                <a:cs typeface="Arial"/>
              </a:rPr>
              <a:t> </a:t>
            </a:r>
            <a:r>
              <a:rPr sz="900" i="1" spc="130" dirty="0">
                <a:latin typeface="Menlo"/>
                <a:cs typeface="Menlo"/>
              </a:rPr>
              <a:t>×</a:t>
            </a:r>
            <a:r>
              <a:rPr sz="900" i="1" spc="130" dirty="0">
                <a:latin typeface="Arial"/>
                <a:cs typeface="Arial"/>
              </a:rPr>
              <a:t>N</a:t>
            </a:r>
            <a:r>
              <a:rPr sz="900" i="1" spc="45" dirty="0">
                <a:latin typeface="Arial"/>
                <a:cs typeface="Arial"/>
              </a:rPr>
              <a:t> </a:t>
            </a:r>
            <a:r>
              <a:rPr sz="900" dirty="0">
                <a:latin typeface="Arial"/>
                <a:cs typeface="Arial"/>
              </a:rPr>
              <a:t>grid,</a:t>
            </a:r>
            <a:r>
              <a:rPr sz="900" spc="-15" dirty="0">
                <a:latin typeface="Arial"/>
                <a:cs typeface="Arial"/>
              </a:rPr>
              <a:t> </a:t>
            </a:r>
            <a:r>
              <a:rPr sz="900" dirty="0">
                <a:latin typeface="Arial"/>
                <a:cs typeface="Arial"/>
              </a:rPr>
              <a:t>with</a:t>
            </a:r>
            <a:r>
              <a:rPr sz="900" spc="-20" dirty="0">
                <a:latin typeface="Arial"/>
                <a:cs typeface="Arial"/>
              </a:rPr>
              <a:t> </a:t>
            </a:r>
            <a:r>
              <a:rPr sz="900" dirty="0">
                <a:latin typeface="Arial"/>
                <a:cs typeface="Arial"/>
              </a:rPr>
              <a:t>a</a:t>
            </a:r>
            <a:r>
              <a:rPr sz="900" spc="-20" dirty="0">
                <a:latin typeface="Arial"/>
                <a:cs typeface="Arial"/>
              </a:rPr>
              <a:t> </a:t>
            </a:r>
            <a:r>
              <a:rPr sz="900" dirty="0">
                <a:latin typeface="Arial"/>
                <a:cs typeface="Arial"/>
              </a:rPr>
              <a:t>node</a:t>
            </a:r>
            <a:r>
              <a:rPr sz="900" spc="-15" dirty="0">
                <a:latin typeface="Arial"/>
                <a:cs typeface="Arial"/>
              </a:rPr>
              <a:t> </a:t>
            </a:r>
            <a:r>
              <a:rPr sz="900" dirty="0">
                <a:latin typeface="Arial"/>
                <a:cs typeface="Arial"/>
              </a:rPr>
              <a:t>on</a:t>
            </a:r>
            <a:r>
              <a:rPr sz="900" spc="-20" dirty="0">
                <a:latin typeface="Arial"/>
                <a:cs typeface="Arial"/>
              </a:rPr>
              <a:t> </a:t>
            </a:r>
            <a:r>
              <a:rPr sz="900" dirty="0">
                <a:latin typeface="Arial"/>
                <a:cs typeface="Arial"/>
              </a:rPr>
              <a:t>each</a:t>
            </a:r>
            <a:r>
              <a:rPr sz="900" spc="-20" dirty="0">
                <a:latin typeface="Arial"/>
                <a:cs typeface="Arial"/>
              </a:rPr>
              <a:t> </a:t>
            </a:r>
            <a:r>
              <a:rPr sz="900" dirty="0">
                <a:latin typeface="Arial"/>
                <a:cs typeface="Arial"/>
              </a:rPr>
              <a:t>point</a:t>
            </a:r>
            <a:r>
              <a:rPr sz="900" spc="-15" dirty="0">
                <a:latin typeface="Arial"/>
                <a:cs typeface="Arial"/>
              </a:rPr>
              <a:t> </a:t>
            </a:r>
            <a:r>
              <a:rPr sz="900" dirty="0">
                <a:latin typeface="Arial"/>
                <a:cs typeface="Arial"/>
              </a:rPr>
              <a:t>of</a:t>
            </a:r>
            <a:r>
              <a:rPr sz="900" spc="-20" dirty="0">
                <a:latin typeface="Arial"/>
                <a:cs typeface="Arial"/>
              </a:rPr>
              <a:t> </a:t>
            </a:r>
            <a:r>
              <a:rPr sz="900" dirty="0">
                <a:latin typeface="Arial"/>
                <a:cs typeface="Arial"/>
              </a:rPr>
              <a:t>the</a:t>
            </a:r>
            <a:r>
              <a:rPr sz="900" spc="-20" dirty="0">
                <a:latin typeface="Arial"/>
                <a:cs typeface="Arial"/>
              </a:rPr>
              <a:t> grid.</a:t>
            </a:r>
            <a:endParaRPr sz="900">
              <a:latin typeface="Arial"/>
              <a:cs typeface="Arial"/>
            </a:endParaRPr>
          </a:p>
          <a:p>
            <a:pPr marL="278130" indent="-120650">
              <a:lnSpc>
                <a:spcPct val="100000"/>
              </a:lnSpc>
              <a:spcBef>
                <a:spcPts val="520"/>
              </a:spcBef>
              <a:buClr>
                <a:srgbClr val="3333B2"/>
              </a:buClr>
              <a:buFont typeface="Menlo"/>
              <a:buChar char="•"/>
              <a:tabLst>
                <a:tab pos="278765" algn="l"/>
              </a:tabLst>
            </a:pPr>
            <a:r>
              <a:rPr sz="900" dirty="0">
                <a:latin typeface="Arial"/>
                <a:cs typeface="Arial"/>
              </a:rPr>
              <a:t>Every</a:t>
            </a:r>
            <a:r>
              <a:rPr sz="900" spc="-25" dirty="0">
                <a:latin typeface="Arial"/>
                <a:cs typeface="Arial"/>
              </a:rPr>
              <a:t> </a:t>
            </a:r>
            <a:r>
              <a:rPr sz="900" dirty="0">
                <a:latin typeface="Arial"/>
                <a:cs typeface="Arial"/>
              </a:rPr>
              <a:t>node</a:t>
            </a:r>
            <a:r>
              <a:rPr sz="900" spc="-25" dirty="0">
                <a:latin typeface="Arial"/>
                <a:cs typeface="Arial"/>
              </a:rPr>
              <a:t> </a:t>
            </a:r>
            <a:r>
              <a:rPr sz="900" dirty="0">
                <a:latin typeface="Arial"/>
                <a:cs typeface="Arial"/>
              </a:rPr>
              <a:t>must</a:t>
            </a:r>
            <a:r>
              <a:rPr sz="900" spc="-20" dirty="0">
                <a:latin typeface="Arial"/>
                <a:cs typeface="Arial"/>
              </a:rPr>
              <a:t> </a:t>
            </a:r>
            <a:r>
              <a:rPr sz="900" dirty="0">
                <a:latin typeface="Arial"/>
                <a:cs typeface="Arial"/>
              </a:rPr>
              <a:t>maintain</a:t>
            </a:r>
            <a:r>
              <a:rPr sz="900" spc="-25" dirty="0">
                <a:latin typeface="Arial"/>
                <a:cs typeface="Arial"/>
              </a:rPr>
              <a:t> </a:t>
            </a:r>
            <a:r>
              <a:rPr sz="900" dirty="0">
                <a:latin typeface="Arial"/>
                <a:cs typeface="Arial"/>
              </a:rPr>
              <a:t>a</a:t>
            </a:r>
            <a:r>
              <a:rPr sz="900" spc="-20" dirty="0">
                <a:latin typeface="Arial"/>
                <a:cs typeface="Arial"/>
              </a:rPr>
              <a:t> </a:t>
            </a:r>
            <a:r>
              <a:rPr sz="900" dirty="0">
                <a:latin typeface="Arial"/>
                <a:cs typeface="Arial"/>
              </a:rPr>
              <a:t>list</a:t>
            </a:r>
            <a:r>
              <a:rPr sz="900" spc="-25" dirty="0">
                <a:latin typeface="Arial"/>
                <a:cs typeface="Arial"/>
              </a:rPr>
              <a:t> </a:t>
            </a:r>
            <a:r>
              <a:rPr sz="900" dirty="0">
                <a:latin typeface="Arial"/>
                <a:cs typeface="Arial"/>
              </a:rPr>
              <a:t>of</a:t>
            </a:r>
            <a:r>
              <a:rPr sz="900" spc="-25" dirty="0">
                <a:latin typeface="Arial"/>
                <a:cs typeface="Arial"/>
              </a:rPr>
              <a:t> </a:t>
            </a:r>
            <a:r>
              <a:rPr sz="900" i="1" dirty="0">
                <a:latin typeface="Arial"/>
                <a:cs typeface="Arial"/>
              </a:rPr>
              <a:t>c</a:t>
            </a:r>
            <a:r>
              <a:rPr sz="900" i="1" spc="25" dirty="0">
                <a:latin typeface="Arial"/>
                <a:cs typeface="Arial"/>
              </a:rPr>
              <a:t> </a:t>
            </a:r>
            <a:r>
              <a:rPr sz="900" dirty="0">
                <a:latin typeface="Arial"/>
                <a:cs typeface="Arial"/>
              </a:rPr>
              <a:t>nearest</a:t>
            </a:r>
            <a:r>
              <a:rPr sz="900" spc="-20" dirty="0">
                <a:latin typeface="Arial"/>
                <a:cs typeface="Arial"/>
              </a:rPr>
              <a:t> </a:t>
            </a:r>
            <a:r>
              <a:rPr sz="900" spc="-10" dirty="0">
                <a:latin typeface="Arial"/>
                <a:cs typeface="Arial"/>
              </a:rPr>
              <a:t>neighbors</a:t>
            </a:r>
            <a:endParaRPr sz="900">
              <a:latin typeface="Arial"/>
              <a:cs typeface="Arial"/>
            </a:endParaRPr>
          </a:p>
          <a:p>
            <a:pPr marL="278130" indent="-120650">
              <a:lnSpc>
                <a:spcPct val="100000"/>
              </a:lnSpc>
              <a:spcBef>
                <a:spcPts val="525"/>
              </a:spcBef>
              <a:buClr>
                <a:srgbClr val="3333B2"/>
              </a:buClr>
              <a:buFont typeface="Menlo"/>
              <a:buChar char="•"/>
              <a:tabLst>
                <a:tab pos="278765" algn="l"/>
              </a:tabLst>
            </a:pPr>
            <a:r>
              <a:rPr sz="900" dirty="0">
                <a:latin typeface="Arial"/>
                <a:cs typeface="Arial"/>
              </a:rPr>
              <a:t>Distance</a:t>
            </a:r>
            <a:r>
              <a:rPr sz="900" spc="25" dirty="0">
                <a:latin typeface="Arial"/>
                <a:cs typeface="Arial"/>
              </a:rPr>
              <a:t> </a:t>
            </a:r>
            <a:r>
              <a:rPr sz="900" dirty="0">
                <a:latin typeface="Arial"/>
                <a:cs typeface="Arial"/>
              </a:rPr>
              <a:t>between</a:t>
            </a:r>
            <a:r>
              <a:rPr sz="900" spc="25" dirty="0">
                <a:latin typeface="Arial"/>
                <a:cs typeface="Arial"/>
              </a:rPr>
              <a:t> </a:t>
            </a:r>
            <a:r>
              <a:rPr sz="900" dirty="0">
                <a:latin typeface="Arial"/>
                <a:cs typeface="Arial"/>
              </a:rPr>
              <a:t>node</a:t>
            </a:r>
            <a:r>
              <a:rPr sz="900" spc="25" dirty="0">
                <a:latin typeface="Arial"/>
                <a:cs typeface="Arial"/>
              </a:rPr>
              <a:t> </a:t>
            </a:r>
            <a:r>
              <a:rPr sz="900" dirty="0">
                <a:latin typeface="Arial"/>
                <a:cs typeface="Arial"/>
              </a:rPr>
              <a:t>at</a:t>
            </a:r>
            <a:r>
              <a:rPr sz="900" spc="25" dirty="0">
                <a:latin typeface="Arial"/>
                <a:cs typeface="Arial"/>
              </a:rPr>
              <a:t> </a:t>
            </a:r>
            <a:r>
              <a:rPr sz="900" dirty="0">
                <a:latin typeface="Arial"/>
                <a:cs typeface="Arial"/>
              </a:rPr>
              <a:t>(</a:t>
            </a:r>
            <a:r>
              <a:rPr sz="900" i="1" dirty="0">
                <a:latin typeface="Arial"/>
                <a:cs typeface="Arial"/>
              </a:rPr>
              <a:t>a</a:t>
            </a:r>
            <a:r>
              <a:rPr sz="1050" baseline="-15873" dirty="0">
                <a:latin typeface="Arial"/>
                <a:cs typeface="Arial"/>
              </a:rPr>
              <a:t>1</a:t>
            </a:r>
            <a:r>
              <a:rPr sz="900" i="1" dirty="0">
                <a:latin typeface="STIX Two Text"/>
                <a:cs typeface="STIX Two Text"/>
              </a:rPr>
              <a:t>,</a:t>
            </a:r>
            <a:r>
              <a:rPr sz="900" i="1" spc="-95" dirty="0">
                <a:latin typeface="STIX Two Text"/>
                <a:cs typeface="STIX Two Text"/>
              </a:rPr>
              <a:t> </a:t>
            </a:r>
            <a:r>
              <a:rPr sz="900" i="1" dirty="0">
                <a:latin typeface="Arial"/>
                <a:cs typeface="Arial"/>
              </a:rPr>
              <a:t>a</a:t>
            </a:r>
            <a:r>
              <a:rPr sz="1050" baseline="-15873" dirty="0">
                <a:latin typeface="Arial"/>
                <a:cs typeface="Arial"/>
              </a:rPr>
              <a:t>2</a:t>
            </a:r>
            <a:r>
              <a:rPr sz="900" dirty="0">
                <a:latin typeface="Arial"/>
                <a:cs typeface="Arial"/>
              </a:rPr>
              <a:t>)</a:t>
            </a:r>
            <a:r>
              <a:rPr sz="900" spc="25" dirty="0">
                <a:latin typeface="Arial"/>
                <a:cs typeface="Arial"/>
              </a:rPr>
              <a:t> </a:t>
            </a:r>
            <a:r>
              <a:rPr sz="900" dirty="0">
                <a:latin typeface="Arial"/>
                <a:cs typeface="Arial"/>
              </a:rPr>
              <a:t>and</a:t>
            </a:r>
            <a:r>
              <a:rPr sz="900" spc="25" dirty="0">
                <a:latin typeface="Arial"/>
                <a:cs typeface="Arial"/>
              </a:rPr>
              <a:t> </a:t>
            </a:r>
            <a:r>
              <a:rPr sz="900" dirty="0">
                <a:latin typeface="Arial"/>
                <a:cs typeface="Arial"/>
              </a:rPr>
              <a:t>(</a:t>
            </a:r>
            <a:r>
              <a:rPr sz="900" i="1" dirty="0">
                <a:latin typeface="Arial"/>
                <a:cs typeface="Arial"/>
              </a:rPr>
              <a:t>b</a:t>
            </a:r>
            <a:r>
              <a:rPr sz="1050" baseline="-15873" dirty="0">
                <a:latin typeface="Arial"/>
                <a:cs typeface="Arial"/>
              </a:rPr>
              <a:t>1</a:t>
            </a:r>
            <a:r>
              <a:rPr sz="900" i="1" dirty="0">
                <a:latin typeface="STIX Two Text"/>
                <a:cs typeface="STIX Two Text"/>
              </a:rPr>
              <a:t>,</a:t>
            </a:r>
            <a:r>
              <a:rPr sz="900" i="1" spc="-90" dirty="0">
                <a:latin typeface="STIX Two Text"/>
                <a:cs typeface="STIX Two Text"/>
              </a:rPr>
              <a:t> </a:t>
            </a:r>
            <a:r>
              <a:rPr sz="900" i="1" dirty="0">
                <a:latin typeface="Arial"/>
                <a:cs typeface="Arial"/>
              </a:rPr>
              <a:t>b</a:t>
            </a:r>
            <a:r>
              <a:rPr sz="1050" baseline="-15873" dirty="0">
                <a:latin typeface="Arial"/>
                <a:cs typeface="Arial"/>
              </a:rPr>
              <a:t>2</a:t>
            </a:r>
            <a:r>
              <a:rPr sz="900" dirty="0">
                <a:latin typeface="Arial"/>
                <a:cs typeface="Arial"/>
              </a:rPr>
              <a:t>)</a:t>
            </a:r>
            <a:r>
              <a:rPr sz="900" spc="25" dirty="0">
                <a:latin typeface="Arial"/>
                <a:cs typeface="Arial"/>
              </a:rPr>
              <a:t> </a:t>
            </a:r>
            <a:r>
              <a:rPr sz="900" dirty="0">
                <a:latin typeface="Arial"/>
                <a:cs typeface="Arial"/>
              </a:rPr>
              <a:t>is</a:t>
            </a:r>
            <a:r>
              <a:rPr sz="900" spc="25" dirty="0">
                <a:latin typeface="Arial"/>
                <a:cs typeface="Arial"/>
              </a:rPr>
              <a:t> </a:t>
            </a:r>
            <a:r>
              <a:rPr sz="900" i="1" dirty="0">
                <a:latin typeface="Arial"/>
                <a:cs typeface="Arial"/>
              </a:rPr>
              <a:t>d</a:t>
            </a:r>
            <a:r>
              <a:rPr sz="1050" baseline="-15873" dirty="0">
                <a:latin typeface="Arial"/>
                <a:cs typeface="Arial"/>
              </a:rPr>
              <a:t>1</a:t>
            </a:r>
            <a:r>
              <a:rPr sz="1050" spc="-7" baseline="-15873" dirty="0">
                <a:latin typeface="Arial"/>
                <a:cs typeface="Arial"/>
              </a:rPr>
              <a:t> </a:t>
            </a:r>
            <a:r>
              <a:rPr sz="900" spc="185" dirty="0">
                <a:latin typeface="Arial"/>
                <a:cs typeface="Arial"/>
              </a:rPr>
              <a:t>+</a:t>
            </a:r>
            <a:r>
              <a:rPr sz="900" spc="-114" dirty="0">
                <a:latin typeface="Arial"/>
                <a:cs typeface="Arial"/>
              </a:rPr>
              <a:t> </a:t>
            </a:r>
            <a:r>
              <a:rPr sz="900" i="1" dirty="0">
                <a:latin typeface="Arial"/>
                <a:cs typeface="Arial"/>
              </a:rPr>
              <a:t>d</a:t>
            </a:r>
            <a:r>
              <a:rPr sz="1050" baseline="-15873" dirty="0">
                <a:latin typeface="Arial"/>
                <a:cs typeface="Arial"/>
              </a:rPr>
              <a:t>2</a:t>
            </a:r>
            <a:r>
              <a:rPr sz="900" dirty="0">
                <a:latin typeface="Arial"/>
                <a:cs typeface="Arial"/>
              </a:rPr>
              <a:t>,</a:t>
            </a:r>
            <a:r>
              <a:rPr sz="900" spc="25" dirty="0">
                <a:latin typeface="Arial"/>
                <a:cs typeface="Arial"/>
              </a:rPr>
              <a:t> </a:t>
            </a:r>
            <a:r>
              <a:rPr sz="900" spc="-20" dirty="0">
                <a:latin typeface="Arial"/>
                <a:cs typeface="Arial"/>
              </a:rPr>
              <a:t>with</a:t>
            </a:r>
            <a:endParaRPr sz="900">
              <a:latin typeface="Arial"/>
              <a:cs typeface="Arial"/>
            </a:endParaRPr>
          </a:p>
          <a:p>
            <a:pPr marL="278130">
              <a:lnSpc>
                <a:spcPct val="100000"/>
              </a:lnSpc>
              <a:spcBef>
                <a:spcPts val="125"/>
              </a:spcBef>
            </a:pPr>
            <a:r>
              <a:rPr sz="900" i="1" dirty="0">
                <a:latin typeface="Arial"/>
                <a:cs typeface="Arial"/>
              </a:rPr>
              <a:t>d</a:t>
            </a:r>
            <a:r>
              <a:rPr sz="1050" i="1" baseline="-15873" dirty="0">
                <a:latin typeface="Arial"/>
                <a:cs typeface="Arial"/>
              </a:rPr>
              <a:t>i</a:t>
            </a:r>
            <a:r>
              <a:rPr sz="1050" i="1" spc="165" baseline="-15873" dirty="0">
                <a:latin typeface="Arial"/>
                <a:cs typeface="Arial"/>
              </a:rPr>
              <a:t> </a:t>
            </a:r>
            <a:r>
              <a:rPr sz="900" spc="185" dirty="0">
                <a:latin typeface="Arial"/>
                <a:cs typeface="Arial"/>
              </a:rPr>
              <a:t>=</a:t>
            </a:r>
            <a:r>
              <a:rPr sz="900" spc="-50" dirty="0">
                <a:latin typeface="Arial"/>
                <a:cs typeface="Arial"/>
              </a:rPr>
              <a:t> </a:t>
            </a:r>
            <a:r>
              <a:rPr sz="900" dirty="0">
                <a:latin typeface="Arial"/>
                <a:cs typeface="Arial"/>
              </a:rPr>
              <a:t>min(</a:t>
            </a:r>
            <a:r>
              <a:rPr sz="900" i="1" dirty="0">
                <a:latin typeface="Arial"/>
                <a:cs typeface="Arial"/>
              </a:rPr>
              <a:t>N</a:t>
            </a:r>
            <a:r>
              <a:rPr sz="900" i="1" spc="-60" dirty="0">
                <a:latin typeface="Arial"/>
                <a:cs typeface="Arial"/>
              </a:rPr>
              <a:t> </a:t>
            </a:r>
            <a:r>
              <a:rPr sz="900" i="1" dirty="0">
                <a:latin typeface="Menlo"/>
                <a:cs typeface="Menlo"/>
              </a:rPr>
              <a:t>−|</a:t>
            </a:r>
            <a:r>
              <a:rPr sz="900" i="1" dirty="0">
                <a:latin typeface="Arial"/>
                <a:cs typeface="Arial"/>
              </a:rPr>
              <a:t>a</a:t>
            </a:r>
            <a:r>
              <a:rPr sz="1050" i="1" baseline="-15873" dirty="0">
                <a:latin typeface="Arial"/>
                <a:cs typeface="Arial"/>
              </a:rPr>
              <a:t>i</a:t>
            </a:r>
            <a:r>
              <a:rPr sz="1050" i="1" spc="60" baseline="-15873" dirty="0">
                <a:latin typeface="Arial"/>
                <a:cs typeface="Arial"/>
              </a:rPr>
              <a:t> </a:t>
            </a:r>
            <a:r>
              <a:rPr sz="900" i="1" spc="85" dirty="0">
                <a:latin typeface="Menlo"/>
                <a:cs typeface="Menlo"/>
              </a:rPr>
              <a:t>−</a:t>
            </a:r>
            <a:r>
              <a:rPr sz="900" i="1" spc="85" dirty="0">
                <a:latin typeface="Arial"/>
                <a:cs typeface="Arial"/>
              </a:rPr>
              <a:t>b</a:t>
            </a:r>
            <a:r>
              <a:rPr sz="1050" i="1" spc="127" baseline="-15873" dirty="0">
                <a:latin typeface="Arial"/>
                <a:cs typeface="Arial"/>
              </a:rPr>
              <a:t>i</a:t>
            </a:r>
            <a:r>
              <a:rPr sz="1050" i="1" spc="-127" baseline="-15873" dirty="0">
                <a:latin typeface="Arial"/>
                <a:cs typeface="Arial"/>
              </a:rPr>
              <a:t> </a:t>
            </a:r>
            <a:r>
              <a:rPr sz="900" i="1" spc="-140" dirty="0">
                <a:latin typeface="Menlo"/>
                <a:cs typeface="Menlo"/>
              </a:rPr>
              <a:t>|</a:t>
            </a:r>
            <a:r>
              <a:rPr sz="900" i="1" spc="-140" dirty="0">
                <a:latin typeface="STIX Two Text"/>
                <a:cs typeface="STIX Two Text"/>
              </a:rPr>
              <a:t>,</a:t>
            </a:r>
            <a:r>
              <a:rPr sz="900" i="1" spc="-105" dirty="0">
                <a:latin typeface="STIX Two Text"/>
                <a:cs typeface="STIX Two Text"/>
              </a:rPr>
              <a:t> </a:t>
            </a:r>
            <a:r>
              <a:rPr sz="900" i="1" spc="-105" dirty="0">
                <a:latin typeface="Menlo"/>
                <a:cs typeface="Menlo"/>
              </a:rPr>
              <a:t>|</a:t>
            </a:r>
            <a:r>
              <a:rPr sz="900" i="1" spc="-105" dirty="0">
                <a:latin typeface="Arial"/>
                <a:cs typeface="Arial"/>
              </a:rPr>
              <a:t>a</a:t>
            </a:r>
            <a:r>
              <a:rPr sz="1050" i="1" spc="-157" baseline="-15873" dirty="0">
                <a:latin typeface="Arial"/>
                <a:cs typeface="Arial"/>
              </a:rPr>
              <a:t>i</a:t>
            </a:r>
            <a:r>
              <a:rPr sz="1050" i="1" spc="60" baseline="-15873" dirty="0">
                <a:latin typeface="Arial"/>
                <a:cs typeface="Arial"/>
              </a:rPr>
              <a:t> </a:t>
            </a:r>
            <a:r>
              <a:rPr sz="900" i="1" spc="85" dirty="0">
                <a:latin typeface="Menlo"/>
                <a:cs typeface="Menlo"/>
              </a:rPr>
              <a:t>−</a:t>
            </a:r>
            <a:r>
              <a:rPr sz="900" i="1" spc="85" dirty="0">
                <a:latin typeface="Arial"/>
                <a:cs typeface="Arial"/>
              </a:rPr>
              <a:t>b</a:t>
            </a:r>
            <a:r>
              <a:rPr sz="1050" i="1" spc="127" baseline="-15873" dirty="0">
                <a:latin typeface="Arial"/>
                <a:cs typeface="Arial"/>
              </a:rPr>
              <a:t>i</a:t>
            </a:r>
            <a:r>
              <a:rPr sz="1050" i="1" spc="-127" baseline="-15873" dirty="0">
                <a:latin typeface="Arial"/>
                <a:cs typeface="Arial"/>
              </a:rPr>
              <a:t> </a:t>
            </a:r>
            <a:r>
              <a:rPr sz="900" i="1" spc="-25" dirty="0">
                <a:latin typeface="Menlo"/>
                <a:cs typeface="Menlo"/>
              </a:rPr>
              <a:t>|</a:t>
            </a:r>
            <a:r>
              <a:rPr sz="900" spc="-25" dirty="0">
                <a:latin typeface="Arial"/>
                <a:cs typeface="Arial"/>
              </a:rPr>
              <a:t>)</a:t>
            </a:r>
            <a:endParaRPr sz="900">
              <a:latin typeface="Arial"/>
              <a:cs typeface="Arial"/>
            </a:endParaRPr>
          </a:p>
          <a:p>
            <a:pPr marL="278130" marR="165735" indent="-120650">
              <a:lnSpc>
                <a:spcPct val="111600"/>
              </a:lnSpc>
              <a:spcBef>
                <a:spcPts val="400"/>
              </a:spcBef>
              <a:buClr>
                <a:srgbClr val="3333B2"/>
              </a:buClr>
              <a:buFont typeface="Menlo"/>
              <a:buChar char="•"/>
              <a:tabLst>
                <a:tab pos="278765" algn="l"/>
              </a:tabLst>
            </a:pPr>
            <a:r>
              <a:rPr sz="900" dirty="0">
                <a:latin typeface="Arial"/>
                <a:cs typeface="Arial"/>
              </a:rPr>
              <a:t>Every</a:t>
            </a:r>
            <a:r>
              <a:rPr sz="900" spc="-25" dirty="0">
                <a:latin typeface="Arial"/>
                <a:cs typeface="Arial"/>
              </a:rPr>
              <a:t> </a:t>
            </a:r>
            <a:r>
              <a:rPr sz="900" dirty="0">
                <a:latin typeface="Arial"/>
                <a:cs typeface="Arial"/>
              </a:rPr>
              <a:t>node</a:t>
            </a:r>
            <a:r>
              <a:rPr sz="900" spc="-25" dirty="0">
                <a:latin typeface="Arial"/>
                <a:cs typeface="Arial"/>
              </a:rPr>
              <a:t> </a:t>
            </a:r>
            <a:r>
              <a:rPr sz="900" dirty="0">
                <a:latin typeface="Arial"/>
                <a:cs typeface="Arial"/>
              </a:rPr>
              <a:t>picks</a:t>
            </a:r>
            <a:r>
              <a:rPr sz="900" spc="-25" dirty="0">
                <a:latin typeface="Arial"/>
                <a:cs typeface="Arial"/>
              </a:rPr>
              <a:t> </a:t>
            </a:r>
            <a:r>
              <a:rPr sz="900" dirty="0">
                <a:latin typeface="Arial"/>
                <a:cs typeface="Arial"/>
              </a:rPr>
              <a:t>a</a:t>
            </a:r>
            <a:r>
              <a:rPr sz="900" spc="-25" dirty="0">
                <a:latin typeface="Arial"/>
                <a:cs typeface="Arial"/>
              </a:rPr>
              <a:t> </a:t>
            </a:r>
            <a:r>
              <a:rPr sz="900" dirty="0">
                <a:latin typeface="Arial"/>
                <a:cs typeface="Arial"/>
              </a:rPr>
              <a:t>random</a:t>
            </a:r>
            <a:r>
              <a:rPr sz="900" spc="-25" dirty="0">
                <a:latin typeface="Arial"/>
                <a:cs typeface="Arial"/>
              </a:rPr>
              <a:t> </a:t>
            </a:r>
            <a:r>
              <a:rPr sz="900" dirty="0">
                <a:latin typeface="Arial"/>
                <a:cs typeface="Arial"/>
              </a:rPr>
              <a:t>other</a:t>
            </a:r>
            <a:r>
              <a:rPr sz="900" spc="-25" dirty="0">
                <a:latin typeface="Arial"/>
                <a:cs typeface="Arial"/>
              </a:rPr>
              <a:t> </a:t>
            </a:r>
            <a:r>
              <a:rPr sz="900" dirty="0">
                <a:latin typeface="Arial"/>
                <a:cs typeface="Arial"/>
              </a:rPr>
              <a:t>node</a:t>
            </a:r>
            <a:r>
              <a:rPr sz="900" spc="-25" dirty="0">
                <a:latin typeface="Arial"/>
                <a:cs typeface="Arial"/>
              </a:rPr>
              <a:t> </a:t>
            </a:r>
            <a:r>
              <a:rPr sz="900" dirty="0">
                <a:latin typeface="Arial"/>
                <a:cs typeface="Arial"/>
              </a:rPr>
              <a:t>from</a:t>
            </a:r>
            <a:r>
              <a:rPr sz="900" spc="-25" dirty="0">
                <a:latin typeface="Arial"/>
                <a:cs typeface="Arial"/>
              </a:rPr>
              <a:t> </a:t>
            </a:r>
            <a:r>
              <a:rPr sz="900" dirty="0">
                <a:latin typeface="Arial"/>
                <a:cs typeface="Arial"/>
              </a:rPr>
              <a:t>its</a:t>
            </a:r>
            <a:r>
              <a:rPr sz="900" spc="-25" dirty="0">
                <a:latin typeface="Arial"/>
                <a:cs typeface="Arial"/>
              </a:rPr>
              <a:t> </a:t>
            </a:r>
            <a:r>
              <a:rPr sz="900" spc="-10" dirty="0">
                <a:latin typeface="Arial"/>
                <a:cs typeface="Arial"/>
              </a:rPr>
              <a:t>lowest-level</a:t>
            </a:r>
            <a:r>
              <a:rPr sz="900" spc="-25" dirty="0">
                <a:latin typeface="Arial"/>
                <a:cs typeface="Arial"/>
              </a:rPr>
              <a:t> </a:t>
            </a:r>
            <a:r>
              <a:rPr sz="900" dirty="0">
                <a:latin typeface="Arial"/>
                <a:cs typeface="Arial"/>
              </a:rPr>
              <a:t>list,</a:t>
            </a:r>
            <a:r>
              <a:rPr sz="900" spc="-25" dirty="0">
                <a:latin typeface="Arial"/>
                <a:cs typeface="Arial"/>
              </a:rPr>
              <a:t> and </a:t>
            </a:r>
            <a:r>
              <a:rPr sz="900" dirty="0">
                <a:latin typeface="Arial"/>
                <a:cs typeface="Arial"/>
              </a:rPr>
              <a:t>keeps</a:t>
            </a:r>
            <a:r>
              <a:rPr sz="900" spc="-25" dirty="0">
                <a:latin typeface="Arial"/>
                <a:cs typeface="Arial"/>
              </a:rPr>
              <a:t> </a:t>
            </a:r>
            <a:r>
              <a:rPr sz="900" dirty="0">
                <a:latin typeface="Arial"/>
                <a:cs typeface="Arial"/>
              </a:rPr>
              <a:t>only</a:t>
            </a:r>
            <a:r>
              <a:rPr sz="900" spc="-20" dirty="0">
                <a:latin typeface="Arial"/>
                <a:cs typeface="Arial"/>
              </a:rPr>
              <a:t> </a:t>
            </a:r>
            <a:r>
              <a:rPr sz="900" dirty="0">
                <a:latin typeface="Arial"/>
                <a:cs typeface="Arial"/>
              </a:rPr>
              <a:t>the</a:t>
            </a:r>
            <a:r>
              <a:rPr sz="900" spc="-20" dirty="0">
                <a:latin typeface="Arial"/>
                <a:cs typeface="Arial"/>
              </a:rPr>
              <a:t> </a:t>
            </a:r>
            <a:r>
              <a:rPr sz="900" dirty="0">
                <a:latin typeface="Arial"/>
                <a:cs typeface="Arial"/>
              </a:rPr>
              <a:t>closest</a:t>
            </a:r>
            <a:r>
              <a:rPr sz="900" spc="-25" dirty="0">
                <a:latin typeface="Arial"/>
                <a:cs typeface="Arial"/>
              </a:rPr>
              <a:t> </a:t>
            </a:r>
            <a:r>
              <a:rPr sz="900" dirty="0">
                <a:latin typeface="Arial"/>
                <a:cs typeface="Arial"/>
              </a:rPr>
              <a:t>one</a:t>
            </a:r>
            <a:r>
              <a:rPr sz="900" spc="-20" dirty="0">
                <a:latin typeface="Arial"/>
                <a:cs typeface="Arial"/>
              </a:rPr>
              <a:t> </a:t>
            </a:r>
            <a:r>
              <a:rPr sz="900" dirty="0">
                <a:latin typeface="Arial"/>
                <a:cs typeface="Arial"/>
              </a:rPr>
              <a:t>in</a:t>
            </a:r>
            <a:r>
              <a:rPr sz="900" spc="-20" dirty="0">
                <a:latin typeface="Arial"/>
                <a:cs typeface="Arial"/>
              </a:rPr>
              <a:t> </a:t>
            </a:r>
            <a:r>
              <a:rPr sz="900" dirty="0">
                <a:latin typeface="Arial"/>
                <a:cs typeface="Arial"/>
              </a:rPr>
              <a:t>its</a:t>
            </a:r>
            <a:r>
              <a:rPr sz="900" spc="-20" dirty="0">
                <a:latin typeface="Arial"/>
                <a:cs typeface="Arial"/>
              </a:rPr>
              <a:t> </a:t>
            </a:r>
            <a:r>
              <a:rPr sz="900" spc="-10" dirty="0">
                <a:latin typeface="Arial"/>
                <a:cs typeface="Arial"/>
              </a:rPr>
              <a:t>top-level</a:t>
            </a:r>
            <a:r>
              <a:rPr sz="900" spc="-25" dirty="0">
                <a:latin typeface="Arial"/>
                <a:cs typeface="Arial"/>
              </a:rPr>
              <a:t> </a:t>
            </a:r>
            <a:r>
              <a:rPr sz="900" spc="-10" dirty="0">
                <a:latin typeface="Arial"/>
                <a:cs typeface="Arial"/>
              </a:rPr>
              <a:t>list.</a:t>
            </a:r>
            <a:endParaRPr sz="900">
              <a:latin typeface="Arial"/>
              <a:cs typeface="Arial"/>
            </a:endParaRPr>
          </a:p>
          <a:p>
            <a:pPr marL="278130" marR="17780" indent="-120650">
              <a:lnSpc>
                <a:spcPct val="111600"/>
              </a:lnSpc>
              <a:spcBef>
                <a:spcPts val="400"/>
              </a:spcBef>
              <a:buClr>
                <a:srgbClr val="3333B2"/>
              </a:buClr>
              <a:buFont typeface="Menlo"/>
              <a:buChar char="•"/>
              <a:tabLst>
                <a:tab pos="278765" algn="l"/>
              </a:tabLst>
            </a:pPr>
            <a:r>
              <a:rPr sz="900" dirty="0">
                <a:latin typeface="Arial"/>
                <a:cs typeface="Arial"/>
              </a:rPr>
              <a:t>Once</a:t>
            </a:r>
            <a:r>
              <a:rPr sz="900" spc="-30" dirty="0">
                <a:latin typeface="Arial"/>
                <a:cs typeface="Arial"/>
              </a:rPr>
              <a:t> </a:t>
            </a:r>
            <a:r>
              <a:rPr sz="900" dirty="0">
                <a:latin typeface="Arial"/>
                <a:cs typeface="Arial"/>
              </a:rPr>
              <a:t>every</a:t>
            </a:r>
            <a:r>
              <a:rPr sz="900" spc="-30" dirty="0">
                <a:latin typeface="Arial"/>
                <a:cs typeface="Arial"/>
              </a:rPr>
              <a:t> </a:t>
            </a:r>
            <a:r>
              <a:rPr sz="900" dirty="0">
                <a:latin typeface="Arial"/>
                <a:cs typeface="Arial"/>
              </a:rPr>
              <a:t>node</a:t>
            </a:r>
            <a:r>
              <a:rPr sz="900" spc="-30" dirty="0">
                <a:latin typeface="Arial"/>
                <a:cs typeface="Arial"/>
              </a:rPr>
              <a:t> </a:t>
            </a:r>
            <a:r>
              <a:rPr sz="900" dirty="0">
                <a:latin typeface="Arial"/>
                <a:cs typeface="Arial"/>
              </a:rPr>
              <a:t>has</a:t>
            </a:r>
            <a:r>
              <a:rPr sz="900" spc="-30" dirty="0">
                <a:latin typeface="Arial"/>
                <a:cs typeface="Arial"/>
              </a:rPr>
              <a:t> </a:t>
            </a:r>
            <a:r>
              <a:rPr sz="900" spc="-10" dirty="0">
                <a:latin typeface="Arial"/>
                <a:cs typeface="Arial"/>
              </a:rPr>
              <a:t>picked</a:t>
            </a:r>
            <a:r>
              <a:rPr sz="900" spc="-30" dirty="0">
                <a:latin typeface="Arial"/>
                <a:cs typeface="Arial"/>
              </a:rPr>
              <a:t> </a:t>
            </a:r>
            <a:r>
              <a:rPr sz="900" dirty="0">
                <a:latin typeface="Arial"/>
                <a:cs typeface="Arial"/>
              </a:rPr>
              <a:t>and</a:t>
            </a:r>
            <a:r>
              <a:rPr sz="900" spc="-25" dirty="0">
                <a:latin typeface="Arial"/>
                <a:cs typeface="Arial"/>
              </a:rPr>
              <a:t> </a:t>
            </a:r>
            <a:r>
              <a:rPr sz="900" dirty="0">
                <a:latin typeface="Arial"/>
                <a:cs typeface="Arial"/>
              </a:rPr>
              <a:t>selected</a:t>
            </a:r>
            <a:r>
              <a:rPr sz="900" spc="-30" dirty="0">
                <a:latin typeface="Arial"/>
                <a:cs typeface="Arial"/>
              </a:rPr>
              <a:t> </a:t>
            </a:r>
            <a:r>
              <a:rPr sz="900" dirty="0">
                <a:latin typeface="Arial"/>
                <a:cs typeface="Arial"/>
              </a:rPr>
              <a:t>a</a:t>
            </a:r>
            <a:r>
              <a:rPr sz="900" spc="-30" dirty="0">
                <a:latin typeface="Arial"/>
                <a:cs typeface="Arial"/>
              </a:rPr>
              <a:t> </a:t>
            </a:r>
            <a:r>
              <a:rPr sz="900" dirty="0">
                <a:latin typeface="Arial"/>
                <a:cs typeface="Arial"/>
              </a:rPr>
              <a:t>random</a:t>
            </a:r>
            <a:r>
              <a:rPr sz="900" spc="-30" dirty="0">
                <a:latin typeface="Arial"/>
                <a:cs typeface="Arial"/>
              </a:rPr>
              <a:t> </a:t>
            </a:r>
            <a:r>
              <a:rPr sz="900" dirty="0">
                <a:latin typeface="Arial"/>
                <a:cs typeface="Arial"/>
              </a:rPr>
              <a:t>node,</a:t>
            </a:r>
            <a:r>
              <a:rPr sz="900" spc="-30" dirty="0">
                <a:latin typeface="Arial"/>
                <a:cs typeface="Arial"/>
              </a:rPr>
              <a:t> </a:t>
            </a:r>
            <a:r>
              <a:rPr sz="900" dirty="0">
                <a:latin typeface="Arial"/>
                <a:cs typeface="Arial"/>
              </a:rPr>
              <a:t>we</a:t>
            </a:r>
            <a:r>
              <a:rPr sz="900" spc="-30" dirty="0">
                <a:latin typeface="Arial"/>
                <a:cs typeface="Arial"/>
              </a:rPr>
              <a:t> </a:t>
            </a:r>
            <a:r>
              <a:rPr sz="900" spc="-10" dirty="0">
                <a:latin typeface="Arial"/>
                <a:cs typeface="Arial"/>
              </a:rPr>
              <a:t>move</a:t>
            </a:r>
            <a:r>
              <a:rPr sz="900" spc="-25" dirty="0">
                <a:latin typeface="Arial"/>
                <a:cs typeface="Arial"/>
              </a:rPr>
              <a:t> to </a:t>
            </a:r>
            <a:r>
              <a:rPr sz="900" dirty="0">
                <a:latin typeface="Arial"/>
                <a:cs typeface="Arial"/>
              </a:rPr>
              <a:t>the</a:t>
            </a:r>
            <a:r>
              <a:rPr sz="900" spc="-35" dirty="0">
                <a:latin typeface="Arial"/>
                <a:cs typeface="Arial"/>
              </a:rPr>
              <a:t> </a:t>
            </a:r>
            <a:r>
              <a:rPr sz="900" dirty="0">
                <a:latin typeface="Arial"/>
                <a:cs typeface="Arial"/>
              </a:rPr>
              <a:t>next</a:t>
            </a:r>
            <a:r>
              <a:rPr sz="900" spc="-35" dirty="0">
                <a:latin typeface="Arial"/>
                <a:cs typeface="Arial"/>
              </a:rPr>
              <a:t> </a:t>
            </a:r>
            <a:r>
              <a:rPr sz="900" spc="-10" dirty="0">
                <a:solidFill>
                  <a:srgbClr val="3333B2"/>
                </a:solidFill>
                <a:latin typeface="Arial"/>
                <a:cs typeface="Arial"/>
              </a:rPr>
              <a:t>round</a:t>
            </a:r>
            <a:endParaRPr sz="900">
              <a:latin typeface="Arial"/>
              <a:cs typeface="Arial"/>
            </a:endParaRPr>
          </a:p>
        </p:txBody>
      </p:sp>
      <p:pic>
        <p:nvPicPr>
          <p:cNvPr id="5" name="object 5"/>
          <p:cNvPicPr/>
          <p:nvPr/>
        </p:nvPicPr>
        <p:blipFill>
          <a:blip r:embed="rId4" cstate="print"/>
          <a:stretch>
            <a:fillRect/>
          </a:stretch>
        </p:blipFill>
        <p:spPr>
          <a:xfrm>
            <a:off x="689208" y="1995759"/>
            <a:ext cx="907401" cy="968282"/>
          </a:xfrm>
          <a:prstGeom prst="rect">
            <a:avLst/>
          </a:prstGeom>
        </p:spPr>
      </p:pic>
      <p:pic>
        <p:nvPicPr>
          <p:cNvPr id="6" name="object 6"/>
          <p:cNvPicPr/>
          <p:nvPr/>
        </p:nvPicPr>
        <p:blipFill>
          <a:blip r:embed="rId5" cstate="print"/>
          <a:stretch>
            <a:fillRect/>
          </a:stretch>
        </p:blipFill>
        <p:spPr>
          <a:xfrm>
            <a:off x="1850953" y="1995759"/>
            <a:ext cx="907401" cy="968282"/>
          </a:xfrm>
          <a:prstGeom prst="rect">
            <a:avLst/>
          </a:prstGeom>
        </p:spPr>
      </p:pic>
      <p:pic>
        <p:nvPicPr>
          <p:cNvPr id="7" name="object 7"/>
          <p:cNvPicPr/>
          <p:nvPr/>
        </p:nvPicPr>
        <p:blipFill>
          <a:blip r:embed="rId6" cstate="print"/>
          <a:stretch>
            <a:fillRect/>
          </a:stretch>
        </p:blipFill>
        <p:spPr>
          <a:xfrm>
            <a:off x="3012699" y="1995759"/>
            <a:ext cx="907401" cy="968282"/>
          </a:xfrm>
          <a:prstGeom prst="rect">
            <a:avLst/>
          </a:prstGeom>
        </p:spPr>
      </p:pic>
      <p:sp>
        <p:nvSpPr>
          <p:cNvPr id="8" name="object 8"/>
          <p:cNvSpPr txBox="1"/>
          <p:nvPr/>
        </p:nvSpPr>
        <p:spPr>
          <a:xfrm>
            <a:off x="783170" y="3018391"/>
            <a:ext cx="718185" cy="162560"/>
          </a:xfrm>
          <a:prstGeom prst="rect">
            <a:avLst/>
          </a:prstGeom>
        </p:spPr>
        <p:txBody>
          <a:bodyPr vert="horz" wrap="square" lIns="0" tIns="12065" rIns="0" bIns="0" rtlCol="0">
            <a:spAutoFit/>
          </a:bodyPr>
          <a:lstStyle/>
          <a:p>
            <a:pPr marL="12700">
              <a:lnSpc>
                <a:spcPct val="100000"/>
              </a:lnSpc>
              <a:spcBef>
                <a:spcPts val="95"/>
              </a:spcBef>
            </a:pPr>
            <a:r>
              <a:rPr sz="900" dirty="0">
                <a:latin typeface="Arial"/>
                <a:cs typeface="Arial"/>
              </a:rPr>
              <a:t>start</a:t>
            </a:r>
            <a:r>
              <a:rPr sz="900" spc="-5" dirty="0">
                <a:latin typeface="Arial"/>
                <a:cs typeface="Arial"/>
              </a:rPr>
              <a:t> </a:t>
            </a:r>
            <a:r>
              <a:rPr sz="900" dirty="0">
                <a:latin typeface="Arial"/>
                <a:cs typeface="Arial"/>
              </a:rPr>
              <a:t>(</a:t>
            </a:r>
            <a:r>
              <a:rPr sz="900" i="1" dirty="0">
                <a:latin typeface="Arial"/>
                <a:cs typeface="Arial"/>
              </a:rPr>
              <a:t>N</a:t>
            </a:r>
            <a:r>
              <a:rPr sz="900" i="1" spc="20" dirty="0">
                <a:latin typeface="Arial"/>
                <a:cs typeface="Arial"/>
              </a:rPr>
              <a:t> </a:t>
            </a:r>
            <a:r>
              <a:rPr sz="900" spc="185" dirty="0">
                <a:latin typeface="Arial"/>
                <a:cs typeface="Arial"/>
              </a:rPr>
              <a:t>=</a:t>
            </a:r>
            <a:r>
              <a:rPr sz="900" spc="-55" dirty="0">
                <a:latin typeface="Arial"/>
                <a:cs typeface="Arial"/>
              </a:rPr>
              <a:t> </a:t>
            </a:r>
            <a:r>
              <a:rPr sz="900" spc="-25" dirty="0">
                <a:latin typeface="Arial"/>
                <a:cs typeface="Arial"/>
              </a:rPr>
              <a:t>50)</a:t>
            </a:r>
            <a:endParaRPr sz="900">
              <a:latin typeface="Arial"/>
              <a:cs typeface="Arial"/>
            </a:endParaRPr>
          </a:p>
        </p:txBody>
      </p:sp>
      <p:sp>
        <p:nvSpPr>
          <p:cNvPr id="9" name="object 9"/>
          <p:cNvSpPr txBox="1"/>
          <p:nvPr/>
        </p:nvSpPr>
        <p:spPr>
          <a:xfrm>
            <a:off x="1939982" y="3018391"/>
            <a:ext cx="728345" cy="162560"/>
          </a:xfrm>
          <a:prstGeom prst="rect">
            <a:avLst/>
          </a:prstGeom>
        </p:spPr>
        <p:txBody>
          <a:bodyPr vert="horz" wrap="square" lIns="0" tIns="12065" rIns="0" bIns="0" rtlCol="0">
            <a:spAutoFit/>
          </a:bodyPr>
          <a:lstStyle/>
          <a:p>
            <a:pPr marL="12700">
              <a:lnSpc>
                <a:spcPct val="100000"/>
              </a:lnSpc>
              <a:spcBef>
                <a:spcPts val="95"/>
              </a:spcBef>
            </a:pPr>
            <a:r>
              <a:rPr sz="900" dirty="0">
                <a:latin typeface="Arial"/>
                <a:cs typeface="Arial"/>
              </a:rPr>
              <a:t>after</a:t>
            </a:r>
            <a:r>
              <a:rPr sz="900" spc="-20" dirty="0">
                <a:latin typeface="Arial"/>
                <a:cs typeface="Arial"/>
              </a:rPr>
              <a:t> </a:t>
            </a:r>
            <a:r>
              <a:rPr sz="900" dirty="0">
                <a:latin typeface="Arial"/>
                <a:cs typeface="Arial"/>
              </a:rPr>
              <a:t>5</a:t>
            </a:r>
            <a:r>
              <a:rPr sz="900" spc="-15" dirty="0">
                <a:latin typeface="Arial"/>
                <a:cs typeface="Arial"/>
              </a:rPr>
              <a:t> </a:t>
            </a:r>
            <a:r>
              <a:rPr sz="900" spc="-10" dirty="0">
                <a:latin typeface="Arial"/>
                <a:cs typeface="Arial"/>
              </a:rPr>
              <a:t>rounds</a:t>
            </a:r>
            <a:endParaRPr sz="900">
              <a:latin typeface="Arial"/>
              <a:cs typeface="Arial"/>
            </a:endParaRPr>
          </a:p>
        </p:txBody>
      </p:sp>
      <p:sp>
        <p:nvSpPr>
          <p:cNvPr id="10" name="object 10"/>
          <p:cNvSpPr txBox="1"/>
          <p:nvPr/>
        </p:nvSpPr>
        <p:spPr>
          <a:xfrm>
            <a:off x="3070061" y="3018391"/>
            <a:ext cx="791845" cy="162560"/>
          </a:xfrm>
          <a:prstGeom prst="rect">
            <a:avLst/>
          </a:prstGeom>
        </p:spPr>
        <p:txBody>
          <a:bodyPr vert="horz" wrap="square" lIns="0" tIns="12065" rIns="0" bIns="0" rtlCol="0">
            <a:spAutoFit/>
          </a:bodyPr>
          <a:lstStyle/>
          <a:p>
            <a:pPr marL="12700">
              <a:lnSpc>
                <a:spcPct val="100000"/>
              </a:lnSpc>
              <a:spcBef>
                <a:spcPts val="95"/>
              </a:spcBef>
            </a:pPr>
            <a:r>
              <a:rPr sz="900" dirty="0">
                <a:latin typeface="Arial"/>
                <a:cs typeface="Arial"/>
              </a:rPr>
              <a:t>after</a:t>
            </a:r>
            <a:r>
              <a:rPr sz="900" spc="-20" dirty="0">
                <a:latin typeface="Arial"/>
                <a:cs typeface="Arial"/>
              </a:rPr>
              <a:t> </a:t>
            </a:r>
            <a:r>
              <a:rPr sz="900" dirty="0">
                <a:latin typeface="Arial"/>
                <a:cs typeface="Arial"/>
              </a:rPr>
              <a:t>20</a:t>
            </a:r>
            <a:r>
              <a:rPr sz="900" spc="-20" dirty="0">
                <a:latin typeface="Arial"/>
                <a:cs typeface="Arial"/>
              </a:rPr>
              <a:t> </a:t>
            </a:r>
            <a:r>
              <a:rPr sz="900" spc="-10" dirty="0">
                <a:latin typeface="Arial"/>
                <a:cs typeface="Arial"/>
              </a:rPr>
              <a:t>rounds</a:t>
            </a:r>
            <a:endParaRPr sz="900">
              <a:latin typeface="Arial"/>
              <a:cs typeface="Arial"/>
            </a:endParaRPr>
          </a:p>
        </p:txBody>
      </p:sp>
      <p:grpSp>
        <p:nvGrpSpPr>
          <p:cNvPr id="11" name="object 11"/>
          <p:cNvGrpSpPr/>
          <p:nvPr/>
        </p:nvGrpSpPr>
        <p:grpSpPr>
          <a:xfrm>
            <a:off x="0" y="3348469"/>
            <a:ext cx="4608195" cy="107950"/>
            <a:chOff x="0" y="3348469"/>
            <a:chExt cx="4608195" cy="107950"/>
          </a:xfrm>
        </p:grpSpPr>
        <p:sp>
          <p:nvSpPr>
            <p:cNvPr id="12" name="object 12"/>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3" name="object 13"/>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4" name="object 14"/>
          <p:cNvSpPr txBox="1"/>
          <p:nvPr/>
        </p:nvSpPr>
        <p:spPr>
          <a:xfrm>
            <a:off x="53467" y="3349927"/>
            <a:ext cx="993775"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7" action="ppaction://hlinksldjump"/>
              </a:rPr>
              <a:t>Gossip-</a:t>
            </a:r>
            <a:r>
              <a:rPr sz="500" dirty="0">
                <a:latin typeface="Arial"/>
                <a:cs typeface="Arial"/>
                <a:hlinkClick r:id="rId7" action="ppaction://hlinksldjump"/>
              </a:rPr>
              <a:t>based</a:t>
            </a:r>
            <a:r>
              <a:rPr sz="500" spc="20" dirty="0">
                <a:latin typeface="Arial"/>
                <a:cs typeface="Arial"/>
                <a:hlinkClick r:id="rId7" action="ppaction://hlinksldjump"/>
              </a:rPr>
              <a:t> </a:t>
            </a:r>
            <a:r>
              <a:rPr sz="500" spc="-10" dirty="0">
                <a:latin typeface="Arial"/>
                <a:cs typeface="Arial"/>
                <a:hlinkClick r:id="rId7" action="ppaction://hlinksldjump"/>
              </a:rPr>
              <a:t>overlay</a:t>
            </a:r>
            <a:r>
              <a:rPr sz="500" spc="25" dirty="0">
                <a:latin typeface="Arial"/>
                <a:cs typeface="Arial"/>
                <a:hlinkClick r:id="rId7" action="ppaction://hlinksldjump"/>
              </a:rPr>
              <a:t> </a:t>
            </a:r>
            <a:r>
              <a:rPr sz="500" spc="-10" dirty="0">
                <a:latin typeface="Arial"/>
                <a:cs typeface="Arial"/>
                <a:hlinkClick r:id="rId7" action="ppaction://hlinksldjump"/>
              </a:rPr>
              <a:t>construction</a:t>
            </a:r>
            <a:endParaRPr sz="500">
              <a:latin typeface="Arial"/>
              <a:cs typeface="Arial"/>
            </a:endParaRPr>
          </a:p>
        </p:txBody>
      </p:sp>
    </p:spTree>
  </p:cSld>
  <p:clrMapOvr>
    <a:masterClrMapping/>
  </p:clrMapOvr>
  <p:transition>
    <p:fade/>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84175"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Coordination</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776688" y="-1515"/>
            <a:ext cx="777875"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FFFFFF"/>
                </a:solidFill>
                <a:latin typeface="Arial"/>
                <a:cs typeface="Arial"/>
                <a:hlinkClick r:id="rId3" action="ppaction://hlinksldjump"/>
              </a:rPr>
              <a:t>Gossip-</a:t>
            </a:r>
            <a:r>
              <a:rPr sz="500" dirty="0">
                <a:solidFill>
                  <a:srgbClr val="FFFFFF"/>
                </a:solidFill>
                <a:latin typeface="Arial"/>
                <a:cs typeface="Arial"/>
                <a:hlinkClick r:id="rId3" action="ppaction://hlinksldjump"/>
              </a:rPr>
              <a:t>based</a:t>
            </a:r>
            <a:r>
              <a:rPr sz="500" spc="30"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coordination</a:t>
            </a:r>
            <a:endParaRPr sz="500">
              <a:latin typeface="Arial"/>
              <a:cs typeface="Arial"/>
            </a:endParaRPr>
          </a:p>
        </p:txBody>
      </p:sp>
      <p:sp>
        <p:nvSpPr>
          <p:cNvPr id="5" name="object 5"/>
          <p:cNvSpPr txBox="1"/>
          <p:nvPr/>
        </p:nvSpPr>
        <p:spPr>
          <a:xfrm>
            <a:off x="95300" y="197711"/>
            <a:ext cx="2955925" cy="20764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A</a:t>
            </a:r>
            <a:r>
              <a:rPr sz="1200" spc="-20" dirty="0">
                <a:solidFill>
                  <a:srgbClr val="3333B2"/>
                </a:solidFill>
                <a:latin typeface="Arial"/>
                <a:cs typeface="Arial"/>
              </a:rPr>
              <a:t> </a:t>
            </a:r>
            <a:r>
              <a:rPr sz="1200" spc="-10" dirty="0">
                <a:solidFill>
                  <a:srgbClr val="3333B2"/>
                </a:solidFill>
                <a:latin typeface="Arial"/>
                <a:cs typeface="Arial"/>
              </a:rPr>
              <a:t>gossip-</a:t>
            </a:r>
            <a:r>
              <a:rPr sz="1200" dirty="0">
                <a:solidFill>
                  <a:srgbClr val="3333B2"/>
                </a:solidFill>
                <a:latin typeface="Arial"/>
                <a:cs typeface="Arial"/>
              </a:rPr>
              <a:t>based</a:t>
            </a:r>
            <a:r>
              <a:rPr sz="1200" spc="-20" dirty="0">
                <a:solidFill>
                  <a:srgbClr val="3333B2"/>
                </a:solidFill>
                <a:latin typeface="Arial"/>
                <a:cs typeface="Arial"/>
              </a:rPr>
              <a:t> </a:t>
            </a:r>
            <a:r>
              <a:rPr sz="1200" dirty="0">
                <a:solidFill>
                  <a:srgbClr val="3333B2"/>
                </a:solidFill>
                <a:latin typeface="Arial"/>
                <a:cs typeface="Arial"/>
              </a:rPr>
              <a:t>2D</a:t>
            </a:r>
            <a:r>
              <a:rPr sz="1200" spc="-20" dirty="0">
                <a:solidFill>
                  <a:srgbClr val="3333B2"/>
                </a:solidFill>
                <a:latin typeface="Arial"/>
                <a:cs typeface="Arial"/>
              </a:rPr>
              <a:t> </a:t>
            </a:r>
            <a:r>
              <a:rPr sz="1200" dirty="0">
                <a:solidFill>
                  <a:srgbClr val="3333B2"/>
                </a:solidFill>
                <a:latin typeface="Arial"/>
                <a:cs typeface="Arial"/>
              </a:rPr>
              <a:t>torus</a:t>
            </a:r>
            <a:r>
              <a:rPr sz="1200" spc="-20" dirty="0">
                <a:solidFill>
                  <a:srgbClr val="3333B2"/>
                </a:solidFill>
                <a:latin typeface="Arial"/>
                <a:cs typeface="Arial"/>
              </a:rPr>
              <a:t> </a:t>
            </a:r>
            <a:r>
              <a:rPr sz="1200" dirty="0">
                <a:solidFill>
                  <a:srgbClr val="3333B2"/>
                </a:solidFill>
                <a:latin typeface="Arial"/>
                <a:cs typeface="Arial"/>
              </a:rPr>
              <a:t>in</a:t>
            </a:r>
            <a:r>
              <a:rPr sz="1200" spc="-15" dirty="0">
                <a:solidFill>
                  <a:srgbClr val="3333B2"/>
                </a:solidFill>
                <a:latin typeface="Arial"/>
                <a:cs typeface="Arial"/>
              </a:rPr>
              <a:t> </a:t>
            </a:r>
            <a:r>
              <a:rPr sz="1200" dirty="0">
                <a:solidFill>
                  <a:srgbClr val="3333B2"/>
                </a:solidFill>
                <a:latin typeface="Arial"/>
                <a:cs typeface="Arial"/>
              </a:rPr>
              <a:t>Python</a:t>
            </a:r>
            <a:r>
              <a:rPr sz="1200" spc="-20" dirty="0">
                <a:solidFill>
                  <a:srgbClr val="3333B2"/>
                </a:solidFill>
                <a:latin typeface="Arial"/>
                <a:cs typeface="Arial"/>
              </a:rPr>
              <a:t> </a:t>
            </a:r>
            <a:r>
              <a:rPr sz="1200" spc="-10" dirty="0">
                <a:solidFill>
                  <a:srgbClr val="3333B2"/>
                </a:solidFill>
                <a:latin typeface="Arial"/>
                <a:cs typeface="Arial"/>
              </a:rPr>
              <a:t>(outline)</a:t>
            </a:r>
            <a:endParaRPr sz="1200">
              <a:latin typeface="Arial"/>
              <a:cs typeface="Arial"/>
            </a:endParaRPr>
          </a:p>
        </p:txBody>
      </p:sp>
      <p:sp>
        <p:nvSpPr>
          <p:cNvPr id="6" name="object 6"/>
          <p:cNvSpPr txBox="1"/>
          <p:nvPr/>
        </p:nvSpPr>
        <p:spPr>
          <a:xfrm>
            <a:off x="233425" y="561583"/>
            <a:ext cx="1031875" cy="132080"/>
          </a:xfrm>
          <a:prstGeom prst="rect">
            <a:avLst/>
          </a:prstGeom>
        </p:spPr>
        <p:txBody>
          <a:bodyPr vert="horz" wrap="square" lIns="0" tIns="12065" rIns="0" bIns="0" rtlCol="0">
            <a:spAutoFit/>
          </a:bodyPr>
          <a:lstStyle/>
          <a:p>
            <a:pPr marL="12700">
              <a:lnSpc>
                <a:spcPct val="100000"/>
              </a:lnSpc>
              <a:spcBef>
                <a:spcPts val="95"/>
              </a:spcBef>
            </a:pPr>
            <a:r>
              <a:rPr sz="500" dirty="0">
                <a:latin typeface="Times New Roman"/>
                <a:cs typeface="Times New Roman"/>
              </a:rPr>
              <a:t>1</a:t>
            </a:r>
            <a:r>
              <a:rPr sz="500" spc="459" dirty="0">
                <a:latin typeface="Times New Roman"/>
                <a:cs typeface="Times New Roman"/>
              </a:rPr>
              <a:t> </a:t>
            </a:r>
            <a:r>
              <a:rPr sz="700" b="1" spc="65" dirty="0">
                <a:solidFill>
                  <a:srgbClr val="FF0059"/>
                </a:solidFill>
                <a:latin typeface="Times New Roman"/>
                <a:cs typeface="Times New Roman"/>
              </a:rPr>
              <a:t>def</a:t>
            </a:r>
            <a:r>
              <a:rPr sz="700" b="1" spc="70" dirty="0">
                <a:solidFill>
                  <a:srgbClr val="FF0059"/>
                </a:solidFill>
                <a:latin typeface="Times New Roman"/>
                <a:cs typeface="Times New Roman"/>
              </a:rPr>
              <a:t> </a:t>
            </a:r>
            <a:r>
              <a:rPr sz="700" spc="35" dirty="0">
                <a:latin typeface="Times New Roman"/>
                <a:cs typeface="Times New Roman"/>
              </a:rPr>
              <a:t>maintainViews():</a:t>
            </a:r>
            <a:endParaRPr sz="700">
              <a:latin typeface="Times New Roman"/>
              <a:cs typeface="Times New Roman"/>
            </a:endParaRPr>
          </a:p>
        </p:txBody>
      </p:sp>
      <p:sp>
        <p:nvSpPr>
          <p:cNvPr id="7" name="object 7"/>
          <p:cNvSpPr txBox="1"/>
          <p:nvPr/>
        </p:nvSpPr>
        <p:spPr>
          <a:xfrm>
            <a:off x="429221" y="652681"/>
            <a:ext cx="3050540" cy="314325"/>
          </a:xfrm>
          <a:prstGeom prst="rect">
            <a:avLst/>
          </a:prstGeom>
        </p:spPr>
        <p:txBody>
          <a:bodyPr vert="horz" wrap="square" lIns="0" tIns="12065" rIns="0" bIns="0" rtlCol="0">
            <a:spAutoFit/>
          </a:bodyPr>
          <a:lstStyle/>
          <a:p>
            <a:pPr marL="12700">
              <a:lnSpc>
                <a:spcPts val="780"/>
              </a:lnSpc>
              <a:spcBef>
                <a:spcPts val="95"/>
              </a:spcBef>
            </a:pPr>
            <a:r>
              <a:rPr sz="700" b="1" spc="80" dirty="0">
                <a:solidFill>
                  <a:srgbClr val="FF0059"/>
                </a:solidFill>
                <a:latin typeface="Times New Roman"/>
                <a:cs typeface="Times New Roman"/>
              </a:rPr>
              <a:t>for</a:t>
            </a:r>
            <a:r>
              <a:rPr sz="700" b="1" spc="155" dirty="0">
                <a:solidFill>
                  <a:srgbClr val="FF0059"/>
                </a:solidFill>
                <a:latin typeface="Times New Roman"/>
                <a:cs typeface="Times New Roman"/>
              </a:rPr>
              <a:t> </a:t>
            </a:r>
            <a:r>
              <a:rPr sz="700" dirty="0">
                <a:latin typeface="Times New Roman"/>
                <a:cs typeface="Times New Roman"/>
              </a:rPr>
              <a:t>viewType</a:t>
            </a:r>
            <a:r>
              <a:rPr sz="700" spc="175" dirty="0">
                <a:latin typeface="Times New Roman"/>
                <a:cs typeface="Times New Roman"/>
              </a:rPr>
              <a:t> </a:t>
            </a:r>
            <a:r>
              <a:rPr sz="700" b="1" spc="100" dirty="0">
                <a:solidFill>
                  <a:srgbClr val="FF0059"/>
                </a:solidFill>
                <a:latin typeface="Times New Roman"/>
                <a:cs typeface="Times New Roman"/>
              </a:rPr>
              <a:t>in</a:t>
            </a:r>
            <a:r>
              <a:rPr sz="700" b="1" spc="204" dirty="0">
                <a:solidFill>
                  <a:srgbClr val="FF0059"/>
                </a:solidFill>
                <a:latin typeface="Times New Roman"/>
                <a:cs typeface="Times New Roman"/>
              </a:rPr>
              <a:t> </a:t>
            </a:r>
            <a:r>
              <a:rPr sz="700" dirty="0">
                <a:latin typeface="Times New Roman"/>
                <a:cs typeface="Times New Roman"/>
              </a:rPr>
              <a:t>[viewOverlay,</a:t>
            </a:r>
            <a:r>
              <a:rPr sz="700" spc="190" dirty="0">
                <a:latin typeface="Times New Roman"/>
                <a:cs typeface="Times New Roman"/>
              </a:rPr>
              <a:t> </a:t>
            </a:r>
            <a:r>
              <a:rPr sz="700" dirty="0">
                <a:latin typeface="Times New Roman"/>
                <a:cs typeface="Times New Roman"/>
              </a:rPr>
              <a:t>viewPSS]:</a:t>
            </a:r>
            <a:r>
              <a:rPr sz="700" spc="210" dirty="0">
                <a:latin typeface="Times New Roman"/>
                <a:cs typeface="Times New Roman"/>
              </a:rPr>
              <a:t> </a:t>
            </a:r>
            <a:r>
              <a:rPr sz="700" i="1" spc="65" dirty="0">
                <a:solidFill>
                  <a:srgbClr val="009600"/>
                </a:solidFill>
                <a:latin typeface="Times New Roman"/>
                <a:cs typeface="Times New Roman"/>
              </a:rPr>
              <a:t>#</a:t>
            </a:r>
            <a:r>
              <a:rPr sz="700" i="1" spc="200" dirty="0">
                <a:solidFill>
                  <a:srgbClr val="009600"/>
                </a:solidFill>
                <a:latin typeface="Times New Roman"/>
                <a:cs typeface="Times New Roman"/>
              </a:rPr>
              <a:t> </a:t>
            </a:r>
            <a:r>
              <a:rPr sz="700" i="1" dirty="0">
                <a:solidFill>
                  <a:srgbClr val="009600"/>
                </a:solidFill>
                <a:latin typeface="Times New Roman"/>
                <a:cs typeface="Times New Roman"/>
              </a:rPr>
              <a:t>For</a:t>
            </a:r>
            <a:r>
              <a:rPr sz="700" i="1" spc="170" dirty="0">
                <a:solidFill>
                  <a:srgbClr val="009600"/>
                </a:solidFill>
                <a:latin typeface="Times New Roman"/>
                <a:cs typeface="Times New Roman"/>
              </a:rPr>
              <a:t> </a:t>
            </a:r>
            <a:r>
              <a:rPr sz="700" i="1" dirty="0">
                <a:solidFill>
                  <a:srgbClr val="009600"/>
                </a:solidFill>
                <a:latin typeface="Times New Roman"/>
                <a:cs typeface="Times New Roman"/>
              </a:rPr>
              <a:t>each</a:t>
            </a:r>
            <a:r>
              <a:rPr sz="700" i="1" spc="180" dirty="0">
                <a:solidFill>
                  <a:srgbClr val="009600"/>
                </a:solidFill>
                <a:latin typeface="Times New Roman"/>
                <a:cs typeface="Times New Roman"/>
              </a:rPr>
              <a:t> </a:t>
            </a:r>
            <a:r>
              <a:rPr sz="700" i="1" spc="65" dirty="0">
                <a:solidFill>
                  <a:srgbClr val="009600"/>
                </a:solidFill>
                <a:latin typeface="Times New Roman"/>
                <a:cs typeface="Times New Roman"/>
              </a:rPr>
              <a:t>view,</a:t>
            </a:r>
            <a:r>
              <a:rPr sz="700" i="1" spc="210" dirty="0">
                <a:solidFill>
                  <a:srgbClr val="009600"/>
                </a:solidFill>
                <a:latin typeface="Times New Roman"/>
                <a:cs typeface="Times New Roman"/>
              </a:rPr>
              <a:t> </a:t>
            </a:r>
            <a:r>
              <a:rPr sz="700" i="1" dirty="0">
                <a:solidFill>
                  <a:srgbClr val="009600"/>
                </a:solidFill>
                <a:latin typeface="Times New Roman"/>
                <a:cs typeface="Times New Roman"/>
              </a:rPr>
              <a:t>do</a:t>
            </a:r>
            <a:r>
              <a:rPr sz="700" i="1" spc="180" dirty="0">
                <a:solidFill>
                  <a:srgbClr val="009600"/>
                </a:solidFill>
                <a:latin typeface="Times New Roman"/>
                <a:cs typeface="Times New Roman"/>
              </a:rPr>
              <a:t> </a:t>
            </a:r>
            <a:r>
              <a:rPr sz="700" i="1" spc="95" dirty="0">
                <a:solidFill>
                  <a:srgbClr val="009600"/>
                </a:solidFill>
                <a:latin typeface="Times New Roman"/>
                <a:cs typeface="Times New Roman"/>
              </a:rPr>
              <a:t>the</a:t>
            </a:r>
            <a:r>
              <a:rPr sz="700" i="1" spc="170" dirty="0">
                <a:solidFill>
                  <a:srgbClr val="009600"/>
                </a:solidFill>
                <a:latin typeface="Times New Roman"/>
                <a:cs typeface="Times New Roman"/>
              </a:rPr>
              <a:t> </a:t>
            </a:r>
            <a:r>
              <a:rPr sz="700" i="1" spc="-20" dirty="0">
                <a:solidFill>
                  <a:srgbClr val="009600"/>
                </a:solidFill>
                <a:latin typeface="Times New Roman"/>
                <a:cs typeface="Times New Roman"/>
              </a:rPr>
              <a:t>same</a:t>
            </a:r>
            <a:endParaRPr sz="700">
              <a:latin typeface="Times New Roman"/>
              <a:cs typeface="Times New Roman"/>
            </a:endParaRPr>
          </a:p>
          <a:p>
            <a:pPr marL="100330">
              <a:lnSpc>
                <a:spcPts val="715"/>
              </a:lnSpc>
            </a:pPr>
            <a:r>
              <a:rPr sz="700" dirty="0">
                <a:latin typeface="Times New Roman"/>
                <a:cs typeface="Times New Roman"/>
              </a:rPr>
              <a:t>peer[viewType]</a:t>
            </a:r>
            <a:r>
              <a:rPr sz="700" spc="330" dirty="0">
                <a:latin typeface="Times New Roman"/>
                <a:cs typeface="Times New Roman"/>
              </a:rPr>
              <a:t> </a:t>
            </a:r>
            <a:r>
              <a:rPr sz="700" dirty="0">
                <a:latin typeface="Times New Roman"/>
                <a:cs typeface="Times New Roman"/>
              </a:rPr>
              <a:t>=</a:t>
            </a:r>
            <a:r>
              <a:rPr sz="700" spc="300" dirty="0">
                <a:latin typeface="Times New Roman"/>
                <a:cs typeface="Times New Roman"/>
              </a:rPr>
              <a:t> </a:t>
            </a:r>
            <a:r>
              <a:rPr sz="700" spc="-20" dirty="0">
                <a:latin typeface="Times New Roman"/>
                <a:cs typeface="Times New Roman"/>
              </a:rPr>
              <a:t>None</a:t>
            </a:r>
            <a:endParaRPr sz="700">
              <a:latin typeface="Times New Roman"/>
              <a:cs typeface="Times New Roman"/>
            </a:endParaRPr>
          </a:p>
          <a:p>
            <a:pPr marL="101600">
              <a:lnSpc>
                <a:spcPts val="780"/>
              </a:lnSpc>
            </a:pPr>
            <a:r>
              <a:rPr sz="700" b="1" spc="175" dirty="0">
                <a:solidFill>
                  <a:srgbClr val="FF0059"/>
                </a:solidFill>
                <a:latin typeface="Times New Roman"/>
                <a:cs typeface="Times New Roman"/>
              </a:rPr>
              <a:t>if</a:t>
            </a:r>
            <a:r>
              <a:rPr sz="700" b="1" spc="135" dirty="0">
                <a:solidFill>
                  <a:srgbClr val="FF0059"/>
                </a:solidFill>
                <a:latin typeface="Times New Roman"/>
                <a:cs typeface="Times New Roman"/>
              </a:rPr>
              <a:t> </a:t>
            </a:r>
            <a:r>
              <a:rPr sz="700" spc="60" dirty="0">
                <a:latin typeface="Times New Roman"/>
                <a:cs typeface="Times New Roman"/>
              </a:rPr>
              <a:t>time</a:t>
            </a:r>
            <a:r>
              <a:rPr sz="700" spc="135" dirty="0">
                <a:latin typeface="Times New Roman"/>
                <a:cs typeface="Times New Roman"/>
              </a:rPr>
              <a:t> </a:t>
            </a:r>
            <a:r>
              <a:rPr sz="700" spc="120" dirty="0">
                <a:latin typeface="Times New Roman"/>
                <a:cs typeface="Times New Roman"/>
              </a:rPr>
              <a:t>to</a:t>
            </a:r>
            <a:r>
              <a:rPr sz="700" spc="125" dirty="0">
                <a:latin typeface="Times New Roman"/>
                <a:cs typeface="Times New Roman"/>
              </a:rPr>
              <a:t> </a:t>
            </a:r>
            <a:r>
              <a:rPr sz="700" spc="50" dirty="0">
                <a:latin typeface="Times New Roman"/>
                <a:cs typeface="Times New Roman"/>
              </a:rPr>
              <a:t>maintain</a:t>
            </a:r>
            <a:r>
              <a:rPr sz="700" spc="105" dirty="0">
                <a:latin typeface="Times New Roman"/>
                <a:cs typeface="Times New Roman"/>
              </a:rPr>
              <a:t> </a:t>
            </a:r>
            <a:r>
              <a:rPr sz="700" dirty="0">
                <a:latin typeface="Times New Roman"/>
                <a:cs typeface="Times New Roman"/>
              </a:rPr>
              <a:t>viewType:</a:t>
            </a:r>
            <a:r>
              <a:rPr sz="700" spc="175" dirty="0">
                <a:latin typeface="Times New Roman"/>
                <a:cs typeface="Times New Roman"/>
              </a:rPr>
              <a:t> </a:t>
            </a:r>
            <a:r>
              <a:rPr sz="700" i="1" spc="65" dirty="0">
                <a:solidFill>
                  <a:srgbClr val="009600"/>
                </a:solidFill>
                <a:latin typeface="Times New Roman"/>
                <a:cs typeface="Times New Roman"/>
              </a:rPr>
              <a:t>#</a:t>
            </a:r>
            <a:r>
              <a:rPr sz="700" i="1" spc="150" dirty="0">
                <a:solidFill>
                  <a:srgbClr val="009600"/>
                </a:solidFill>
                <a:latin typeface="Times New Roman"/>
                <a:cs typeface="Times New Roman"/>
              </a:rPr>
              <a:t> </a:t>
            </a:r>
            <a:r>
              <a:rPr sz="700" i="1" spc="70" dirty="0">
                <a:solidFill>
                  <a:srgbClr val="009600"/>
                </a:solidFill>
                <a:latin typeface="Times New Roman"/>
                <a:cs typeface="Times New Roman"/>
              </a:rPr>
              <a:t>This</a:t>
            </a:r>
            <a:r>
              <a:rPr sz="700" i="1" spc="120" dirty="0">
                <a:solidFill>
                  <a:srgbClr val="009600"/>
                </a:solidFill>
                <a:latin typeface="Times New Roman"/>
                <a:cs typeface="Times New Roman"/>
              </a:rPr>
              <a:t> </a:t>
            </a:r>
            <a:r>
              <a:rPr sz="700" i="1" dirty="0">
                <a:solidFill>
                  <a:srgbClr val="009600"/>
                </a:solidFill>
                <a:latin typeface="Times New Roman"/>
                <a:cs typeface="Times New Roman"/>
              </a:rPr>
              <a:t>viewType</a:t>
            </a:r>
            <a:r>
              <a:rPr sz="700" i="1" spc="110" dirty="0">
                <a:solidFill>
                  <a:srgbClr val="009600"/>
                </a:solidFill>
                <a:latin typeface="Times New Roman"/>
                <a:cs typeface="Times New Roman"/>
              </a:rPr>
              <a:t> </a:t>
            </a:r>
            <a:r>
              <a:rPr sz="700" i="1" dirty="0">
                <a:solidFill>
                  <a:srgbClr val="009600"/>
                </a:solidFill>
                <a:latin typeface="Times New Roman"/>
                <a:cs typeface="Times New Roman"/>
              </a:rPr>
              <a:t>needs</a:t>
            </a:r>
            <a:r>
              <a:rPr sz="700" i="1" spc="130" dirty="0">
                <a:solidFill>
                  <a:srgbClr val="009600"/>
                </a:solidFill>
                <a:latin typeface="Times New Roman"/>
                <a:cs typeface="Times New Roman"/>
              </a:rPr>
              <a:t> </a:t>
            </a:r>
            <a:r>
              <a:rPr sz="700" i="1" spc="120" dirty="0">
                <a:solidFill>
                  <a:srgbClr val="009600"/>
                </a:solidFill>
                <a:latin typeface="Times New Roman"/>
                <a:cs typeface="Times New Roman"/>
              </a:rPr>
              <a:t>to</a:t>
            </a:r>
            <a:r>
              <a:rPr sz="700" i="1" spc="150" dirty="0">
                <a:solidFill>
                  <a:srgbClr val="009600"/>
                </a:solidFill>
                <a:latin typeface="Times New Roman"/>
                <a:cs typeface="Times New Roman"/>
              </a:rPr>
              <a:t> </a:t>
            </a:r>
            <a:r>
              <a:rPr sz="700" i="1" spc="60" dirty="0">
                <a:solidFill>
                  <a:srgbClr val="009600"/>
                </a:solidFill>
                <a:latin typeface="Times New Roman"/>
                <a:cs typeface="Times New Roman"/>
              </a:rPr>
              <a:t>be</a:t>
            </a:r>
            <a:r>
              <a:rPr sz="700" i="1" spc="130" dirty="0">
                <a:solidFill>
                  <a:srgbClr val="009600"/>
                </a:solidFill>
                <a:latin typeface="Times New Roman"/>
                <a:cs typeface="Times New Roman"/>
              </a:rPr>
              <a:t> </a:t>
            </a:r>
            <a:r>
              <a:rPr sz="700" i="1" spc="-10" dirty="0">
                <a:solidFill>
                  <a:srgbClr val="009600"/>
                </a:solidFill>
                <a:latin typeface="Times New Roman"/>
                <a:cs typeface="Times New Roman"/>
              </a:rPr>
              <a:t>updated</a:t>
            </a:r>
            <a:endParaRPr sz="700">
              <a:latin typeface="Times New Roman"/>
              <a:cs typeface="Times New Roman"/>
            </a:endParaRPr>
          </a:p>
        </p:txBody>
      </p:sp>
      <p:sp>
        <p:nvSpPr>
          <p:cNvPr id="8" name="object 8"/>
          <p:cNvSpPr txBox="1"/>
          <p:nvPr/>
        </p:nvSpPr>
        <p:spPr>
          <a:xfrm>
            <a:off x="605916" y="925984"/>
            <a:ext cx="2874010" cy="132080"/>
          </a:xfrm>
          <a:prstGeom prst="rect">
            <a:avLst/>
          </a:prstGeom>
        </p:spPr>
        <p:txBody>
          <a:bodyPr vert="horz" wrap="square" lIns="0" tIns="12065" rIns="0" bIns="0" rtlCol="0">
            <a:spAutoFit/>
          </a:bodyPr>
          <a:lstStyle/>
          <a:p>
            <a:pPr marL="12700">
              <a:lnSpc>
                <a:spcPct val="100000"/>
              </a:lnSpc>
              <a:spcBef>
                <a:spcPts val="95"/>
              </a:spcBef>
              <a:tabLst>
                <a:tab pos="2185035" algn="l"/>
              </a:tabLst>
            </a:pPr>
            <a:r>
              <a:rPr sz="700" dirty="0">
                <a:latin typeface="Times New Roman"/>
                <a:cs typeface="Times New Roman"/>
              </a:rPr>
              <a:t>peer[viewType]</a:t>
            </a:r>
            <a:r>
              <a:rPr sz="700" spc="335" dirty="0">
                <a:latin typeface="Times New Roman"/>
                <a:cs typeface="Times New Roman"/>
              </a:rPr>
              <a:t> </a:t>
            </a:r>
            <a:r>
              <a:rPr sz="700" dirty="0">
                <a:latin typeface="Times New Roman"/>
                <a:cs typeface="Times New Roman"/>
              </a:rPr>
              <a:t>=</a:t>
            </a:r>
            <a:r>
              <a:rPr sz="700" spc="290" dirty="0">
                <a:latin typeface="Times New Roman"/>
                <a:cs typeface="Times New Roman"/>
              </a:rPr>
              <a:t> </a:t>
            </a:r>
            <a:r>
              <a:rPr sz="700" spc="-10" dirty="0">
                <a:latin typeface="Times New Roman"/>
                <a:cs typeface="Times New Roman"/>
              </a:rPr>
              <a:t>selectPeer(viewType)</a:t>
            </a:r>
            <a:r>
              <a:rPr sz="700" dirty="0">
                <a:latin typeface="Times New Roman"/>
                <a:cs typeface="Times New Roman"/>
              </a:rPr>
              <a:t>	</a:t>
            </a:r>
            <a:r>
              <a:rPr sz="700" i="1" spc="65" dirty="0">
                <a:solidFill>
                  <a:srgbClr val="009600"/>
                </a:solidFill>
                <a:latin typeface="Times New Roman"/>
                <a:cs typeface="Times New Roman"/>
              </a:rPr>
              <a:t>#</a:t>
            </a:r>
            <a:r>
              <a:rPr sz="700" i="1" spc="80" dirty="0">
                <a:solidFill>
                  <a:srgbClr val="009600"/>
                </a:solidFill>
                <a:latin typeface="Times New Roman"/>
                <a:cs typeface="Times New Roman"/>
              </a:rPr>
              <a:t> </a:t>
            </a:r>
            <a:r>
              <a:rPr sz="700" i="1" spc="85" dirty="0">
                <a:solidFill>
                  <a:srgbClr val="009600"/>
                </a:solidFill>
                <a:latin typeface="Times New Roman"/>
                <a:cs typeface="Times New Roman"/>
              </a:rPr>
              <a:t>Select </a:t>
            </a:r>
            <a:r>
              <a:rPr sz="700" i="1" spc="65" dirty="0">
                <a:solidFill>
                  <a:srgbClr val="009600"/>
                </a:solidFill>
                <a:latin typeface="Times New Roman"/>
                <a:cs typeface="Times New Roman"/>
              </a:rPr>
              <a:t>a</a:t>
            </a:r>
            <a:r>
              <a:rPr sz="700" i="1" spc="85" dirty="0">
                <a:solidFill>
                  <a:srgbClr val="009600"/>
                </a:solidFill>
                <a:latin typeface="Times New Roman"/>
                <a:cs typeface="Times New Roman"/>
              </a:rPr>
              <a:t> </a:t>
            </a:r>
            <a:r>
              <a:rPr sz="700" i="1" spc="40" dirty="0">
                <a:solidFill>
                  <a:srgbClr val="009600"/>
                </a:solidFill>
                <a:latin typeface="Times New Roman"/>
                <a:cs typeface="Times New Roman"/>
              </a:rPr>
              <a:t>peer</a:t>
            </a:r>
            <a:endParaRPr sz="700">
              <a:latin typeface="Times New Roman"/>
              <a:cs typeface="Times New Roman"/>
            </a:endParaRPr>
          </a:p>
        </p:txBody>
      </p:sp>
      <p:sp>
        <p:nvSpPr>
          <p:cNvPr id="9" name="object 9"/>
          <p:cNvSpPr txBox="1"/>
          <p:nvPr/>
        </p:nvSpPr>
        <p:spPr>
          <a:xfrm>
            <a:off x="605624" y="1017082"/>
            <a:ext cx="2830195" cy="132080"/>
          </a:xfrm>
          <a:prstGeom prst="rect">
            <a:avLst/>
          </a:prstGeom>
        </p:spPr>
        <p:txBody>
          <a:bodyPr vert="horz" wrap="square" lIns="0" tIns="12065" rIns="0" bIns="0" rtlCol="0">
            <a:spAutoFit/>
          </a:bodyPr>
          <a:lstStyle/>
          <a:p>
            <a:pPr marL="12700">
              <a:lnSpc>
                <a:spcPct val="100000"/>
              </a:lnSpc>
              <a:spcBef>
                <a:spcPts val="95"/>
              </a:spcBef>
              <a:tabLst>
                <a:tab pos="2185035" algn="l"/>
              </a:tabLst>
            </a:pPr>
            <a:r>
              <a:rPr sz="700" spc="95" dirty="0">
                <a:latin typeface="Times New Roman"/>
                <a:cs typeface="Times New Roman"/>
              </a:rPr>
              <a:t>links</a:t>
            </a:r>
            <a:r>
              <a:rPr sz="700" spc="405" dirty="0">
                <a:latin typeface="Times New Roman"/>
                <a:cs typeface="Times New Roman"/>
              </a:rPr>
              <a:t> </a:t>
            </a:r>
            <a:r>
              <a:rPr sz="700" dirty="0">
                <a:latin typeface="Times New Roman"/>
                <a:cs typeface="Times New Roman"/>
              </a:rPr>
              <a:t>=</a:t>
            </a:r>
            <a:r>
              <a:rPr sz="700" spc="390" dirty="0">
                <a:latin typeface="Times New Roman"/>
                <a:cs typeface="Times New Roman"/>
              </a:rPr>
              <a:t> </a:t>
            </a:r>
            <a:r>
              <a:rPr sz="700" dirty="0">
                <a:latin typeface="Times New Roman"/>
                <a:cs typeface="Times New Roman"/>
              </a:rPr>
              <a:t>selectLinks(viewType,</a:t>
            </a:r>
            <a:r>
              <a:rPr sz="700" spc="405" dirty="0">
                <a:latin typeface="Times New Roman"/>
                <a:cs typeface="Times New Roman"/>
              </a:rPr>
              <a:t> </a:t>
            </a:r>
            <a:r>
              <a:rPr sz="700" spc="-10" dirty="0">
                <a:latin typeface="Times New Roman"/>
                <a:cs typeface="Times New Roman"/>
              </a:rPr>
              <a:t>peer[viewType])</a:t>
            </a:r>
            <a:r>
              <a:rPr sz="700" dirty="0">
                <a:latin typeface="Times New Roman"/>
                <a:cs typeface="Times New Roman"/>
              </a:rPr>
              <a:t>	</a:t>
            </a:r>
            <a:r>
              <a:rPr sz="700" i="1" spc="65" dirty="0">
                <a:solidFill>
                  <a:srgbClr val="009600"/>
                </a:solidFill>
                <a:latin typeface="Times New Roman"/>
                <a:cs typeface="Times New Roman"/>
              </a:rPr>
              <a:t>#</a:t>
            </a:r>
            <a:r>
              <a:rPr sz="700" i="1" spc="85" dirty="0">
                <a:solidFill>
                  <a:srgbClr val="009600"/>
                </a:solidFill>
                <a:latin typeface="Times New Roman"/>
                <a:cs typeface="Times New Roman"/>
              </a:rPr>
              <a:t> Select</a:t>
            </a:r>
            <a:r>
              <a:rPr sz="700" i="1" spc="65" dirty="0">
                <a:solidFill>
                  <a:srgbClr val="009600"/>
                </a:solidFill>
                <a:latin typeface="Times New Roman"/>
                <a:cs typeface="Times New Roman"/>
              </a:rPr>
              <a:t> </a:t>
            </a:r>
            <a:r>
              <a:rPr sz="700" i="1" spc="80" dirty="0">
                <a:solidFill>
                  <a:srgbClr val="009600"/>
                </a:solidFill>
                <a:latin typeface="Times New Roman"/>
                <a:cs typeface="Times New Roman"/>
              </a:rPr>
              <a:t>links</a:t>
            </a:r>
            <a:endParaRPr sz="700">
              <a:latin typeface="Times New Roman"/>
              <a:cs typeface="Times New Roman"/>
            </a:endParaRPr>
          </a:p>
        </p:txBody>
      </p:sp>
      <p:sp>
        <p:nvSpPr>
          <p:cNvPr id="10" name="object 10"/>
          <p:cNvSpPr txBox="1"/>
          <p:nvPr/>
        </p:nvSpPr>
        <p:spPr>
          <a:xfrm>
            <a:off x="605408" y="1108179"/>
            <a:ext cx="3407410" cy="132080"/>
          </a:xfrm>
          <a:prstGeom prst="rect">
            <a:avLst/>
          </a:prstGeom>
        </p:spPr>
        <p:txBody>
          <a:bodyPr vert="horz" wrap="square" lIns="0" tIns="12065" rIns="0" bIns="0" rtlCol="0">
            <a:spAutoFit/>
          </a:bodyPr>
          <a:lstStyle/>
          <a:p>
            <a:pPr marL="12700">
              <a:lnSpc>
                <a:spcPct val="100000"/>
              </a:lnSpc>
              <a:spcBef>
                <a:spcPts val="95"/>
              </a:spcBef>
            </a:pPr>
            <a:r>
              <a:rPr sz="700" dirty="0">
                <a:latin typeface="Times New Roman"/>
                <a:cs typeface="Times New Roman"/>
              </a:rPr>
              <a:t>sendTo(peer[viewType],</a:t>
            </a:r>
            <a:r>
              <a:rPr sz="700" spc="325" dirty="0">
                <a:latin typeface="Times New Roman"/>
                <a:cs typeface="Times New Roman"/>
              </a:rPr>
              <a:t> </a:t>
            </a:r>
            <a:r>
              <a:rPr sz="700" dirty="0">
                <a:latin typeface="Times New Roman"/>
                <a:cs typeface="Times New Roman"/>
              </a:rPr>
              <a:t>Request[viewType],</a:t>
            </a:r>
            <a:r>
              <a:rPr sz="700" spc="335" dirty="0">
                <a:latin typeface="Times New Roman"/>
                <a:cs typeface="Times New Roman"/>
              </a:rPr>
              <a:t> </a:t>
            </a:r>
            <a:r>
              <a:rPr sz="700" spc="95" dirty="0">
                <a:latin typeface="Times New Roman"/>
                <a:cs typeface="Times New Roman"/>
              </a:rPr>
              <a:t>links)</a:t>
            </a:r>
            <a:r>
              <a:rPr sz="700" spc="375" dirty="0">
                <a:latin typeface="Times New Roman"/>
                <a:cs typeface="Times New Roman"/>
              </a:rPr>
              <a:t> </a:t>
            </a:r>
            <a:r>
              <a:rPr sz="700" i="1" spc="65" dirty="0">
                <a:solidFill>
                  <a:srgbClr val="009600"/>
                </a:solidFill>
                <a:latin typeface="Times New Roman"/>
                <a:cs typeface="Times New Roman"/>
              </a:rPr>
              <a:t>#</a:t>
            </a:r>
            <a:r>
              <a:rPr sz="700" i="1" spc="340" dirty="0">
                <a:solidFill>
                  <a:srgbClr val="009600"/>
                </a:solidFill>
                <a:latin typeface="Times New Roman"/>
                <a:cs typeface="Times New Roman"/>
              </a:rPr>
              <a:t> </a:t>
            </a:r>
            <a:r>
              <a:rPr sz="700" i="1" dirty="0">
                <a:solidFill>
                  <a:srgbClr val="009600"/>
                </a:solidFill>
                <a:latin typeface="Times New Roman"/>
                <a:cs typeface="Times New Roman"/>
              </a:rPr>
              <a:t>Send</a:t>
            </a:r>
            <a:r>
              <a:rPr sz="700" i="1" spc="295" dirty="0">
                <a:solidFill>
                  <a:srgbClr val="009600"/>
                </a:solidFill>
                <a:latin typeface="Times New Roman"/>
                <a:cs typeface="Times New Roman"/>
              </a:rPr>
              <a:t> </a:t>
            </a:r>
            <a:r>
              <a:rPr sz="700" i="1" spc="100" dirty="0">
                <a:solidFill>
                  <a:srgbClr val="009600"/>
                </a:solidFill>
                <a:latin typeface="Times New Roman"/>
                <a:cs typeface="Times New Roman"/>
              </a:rPr>
              <a:t>links</a:t>
            </a:r>
            <a:r>
              <a:rPr sz="700" i="1" spc="275" dirty="0">
                <a:solidFill>
                  <a:srgbClr val="009600"/>
                </a:solidFill>
                <a:latin typeface="Times New Roman"/>
                <a:cs typeface="Times New Roman"/>
              </a:rPr>
              <a:t> </a:t>
            </a:r>
            <a:r>
              <a:rPr sz="700" i="1" spc="-10" dirty="0">
                <a:solidFill>
                  <a:srgbClr val="009600"/>
                </a:solidFill>
                <a:latin typeface="Times New Roman"/>
                <a:cs typeface="Times New Roman"/>
              </a:rPr>
              <a:t>asynchronously</a:t>
            </a:r>
            <a:endParaRPr sz="700">
              <a:latin typeface="Times New Roman"/>
              <a:cs typeface="Times New Roman"/>
            </a:endParaRPr>
          </a:p>
        </p:txBody>
      </p:sp>
      <p:sp>
        <p:nvSpPr>
          <p:cNvPr id="11" name="object 11"/>
          <p:cNvSpPr txBox="1"/>
          <p:nvPr/>
        </p:nvSpPr>
        <p:spPr>
          <a:xfrm>
            <a:off x="195465" y="662803"/>
            <a:ext cx="101600" cy="2576195"/>
          </a:xfrm>
          <a:prstGeom prst="rect">
            <a:avLst/>
          </a:prstGeom>
        </p:spPr>
        <p:txBody>
          <a:bodyPr vert="horz" wrap="square" lIns="0" tIns="27305" rIns="0" bIns="0" rtlCol="0">
            <a:spAutoFit/>
          </a:bodyPr>
          <a:lstStyle/>
          <a:p>
            <a:pPr marL="50165">
              <a:lnSpc>
                <a:spcPct val="100000"/>
              </a:lnSpc>
              <a:spcBef>
                <a:spcPts val="215"/>
              </a:spcBef>
            </a:pPr>
            <a:r>
              <a:rPr sz="500" spc="45" dirty="0">
                <a:latin typeface="Times New Roman"/>
                <a:cs typeface="Times New Roman"/>
              </a:rPr>
              <a:t>2</a:t>
            </a:r>
            <a:endParaRPr sz="500">
              <a:latin typeface="Times New Roman"/>
              <a:cs typeface="Times New Roman"/>
            </a:endParaRPr>
          </a:p>
          <a:p>
            <a:pPr marL="50165">
              <a:lnSpc>
                <a:spcPct val="100000"/>
              </a:lnSpc>
              <a:spcBef>
                <a:spcPts val="120"/>
              </a:spcBef>
            </a:pPr>
            <a:r>
              <a:rPr sz="500" spc="45" dirty="0">
                <a:latin typeface="Times New Roman"/>
                <a:cs typeface="Times New Roman"/>
              </a:rPr>
              <a:t>3</a:t>
            </a:r>
            <a:endParaRPr sz="500">
              <a:latin typeface="Times New Roman"/>
              <a:cs typeface="Times New Roman"/>
            </a:endParaRPr>
          </a:p>
          <a:p>
            <a:pPr marL="50165">
              <a:lnSpc>
                <a:spcPct val="100000"/>
              </a:lnSpc>
              <a:spcBef>
                <a:spcPts val="114"/>
              </a:spcBef>
            </a:pPr>
            <a:r>
              <a:rPr sz="500" spc="45" dirty="0">
                <a:latin typeface="Times New Roman"/>
                <a:cs typeface="Times New Roman"/>
              </a:rPr>
              <a:t>4</a:t>
            </a:r>
            <a:endParaRPr sz="500">
              <a:latin typeface="Times New Roman"/>
              <a:cs typeface="Times New Roman"/>
            </a:endParaRPr>
          </a:p>
          <a:p>
            <a:pPr marL="50165">
              <a:lnSpc>
                <a:spcPct val="100000"/>
              </a:lnSpc>
              <a:spcBef>
                <a:spcPts val="120"/>
              </a:spcBef>
            </a:pPr>
            <a:r>
              <a:rPr sz="500" spc="45" dirty="0">
                <a:latin typeface="Times New Roman"/>
                <a:cs typeface="Times New Roman"/>
              </a:rPr>
              <a:t>5</a:t>
            </a:r>
            <a:endParaRPr sz="500">
              <a:latin typeface="Times New Roman"/>
              <a:cs typeface="Times New Roman"/>
            </a:endParaRPr>
          </a:p>
          <a:p>
            <a:pPr marL="50165">
              <a:lnSpc>
                <a:spcPct val="100000"/>
              </a:lnSpc>
              <a:spcBef>
                <a:spcPts val="114"/>
              </a:spcBef>
            </a:pPr>
            <a:r>
              <a:rPr sz="500" spc="45" dirty="0">
                <a:latin typeface="Times New Roman"/>
                <a:cs typeface="Times New Roman"/>
              </a:rPr>
              <a:t>6</a:t>
            </a:r>
            <a:endParaRPr sz="500">
              <a:latin typeface="Times New Roman"/>
              <a:cs typeface="Times New Roman"/>
            </a:endParaRPr>
          </a:p>
          <a:p>
            <a:pPr marL="50165">
              <a:lnSpc>
                <a:spcPct val="100000"/>
              </a:lnSpc>
              <a:spcBef>
                <a:spcPts val="120"/>
              </a:spcBef>
            </a:pPr>
            <a:r>
              <a:rPr sz="500" spc="45" dirty="0">
                <a:latin typeface="Times New Roman"/>
                <a:cs typeface="Times New Roman"/>
              </a:rPr>
              <a:t>7</a:t>
            </a:r>
            <a:endParaRPr sz="500">
              <a:latin typeface="Times New Roman"/>
              <a:cs typeface="Times New Roman"/>
            </a:endParaRPr>
          </a:p>
          <a:p>
            <a:pPr marL="50165">
              <a:lnSpc>
                <a:spcPct val="100000"/>
              </a:lnSpc>
              <a:spcBef>
                <a:spcPts val="114"/>
              </a:spcBef>
            </a:pPr>
            <a:r>
              <a:rPr sz="500" spc="45" dirty="0">
                <a:latin typeface="Times New Roman"/>
                <a:cs typeface="Times New Roman"/>
              </a:rPr>
              <a:t>8</a:t>
            </a:r>
            <a:endParaRPr sz="500">
              <a:latin typeface="Times New Roman"/>
              <a:cs typeface="Times New Roman"/>
            </a:endParaRPr>
          </a:p>
          <a:p>
            <a:pPr marL="50165">
              <a:lnSpc>
                <a:spcPct val="100000"/>
              </a:lnSpc>
              <a:spcBef>
                <a:spcPts val="114"/>
              </a:spcBef>
            </a:pPr>
            <a:r>
              <a:rPr sz="500" spc="45" dirty="0">
                <a:latin typeface="Times New Roman"/>
                <a:cs typeface="Times New Roman"/>
              </a:rPr>
              <a:t>9</a:t>
            </a:r>
            <a:endParaRPr sz="500">
              <a:latin typeface="Times New Roman"/>
              <a:cs typeface="Times New Roman"/>
            </a:endParaRPr>
          </a:p>
          <a:p>
            <a:pPr marL="12700">
              <a:lnSpc>
                <a:spcPct val="100000"/>
              </a:lnSpc>
              <a:spcBef>
                <a:spcPts val="120"/>
              </a:spcBef>
            </a:pPr>
            <a:r>
              <a:rPr sz="500" spc="-25" dirty="0">
                <a:latin typeface="Times New Roman"/>
                <a:cs typeface="Times New Roman"/>
              </a:rPr>
              <a:t>10</a:t>
            </a:r>
            <a:endParaRPr sz="500">
              <a:latin typeface="Times New Roman"/>
              <a:cs typeface="Times New Roman"/>
            </a:endParaRPr>
          </a:p>
          <a:p>
            <a:pPr marL="12700">
              <a:lnSpc>
                <a:spcPct val="100000"/>
              </a:lnSpc>
              <a:spcBef>
                <a:spcPts val="114"/>
              </a:spcBef>
            </a:pPr>
            <a:r>
              <a:rPr sz="500" spc="-25" dirty="0">
                <a:latin typeface="Times New Roman"/>
                <a:cs typeface="Times New Roman"/>
              </a:rPr>
              <a:t>11</a:t>
            </a:r>
            <a:endParaRPr sz="500">
              <a:latin typeface="Times New Roman"/>
              <a:cs typeface="Times New Roman"/>
            </a:endParaRPr>
          </a:p>
          <a:p>
            <a:pPr marL="12700">
              <a:lnSpc>
                <a:spcPct val="100000"/>
              </a:lnSpc>
              <a:spcBef>
                <a:spcPts val="120"/>
              </a:spcBef>
            </a:pPr>
            <a:r>
              <a:rPr sz="500" spc="-25" dirty="0">
                <a:latin typeface="Times New Roman"/>
                <a:cs typeface="Times New Roman"/>
              </a:rPr>
              <a:t>12</a:t>
            </a:r>
            <a:endParaRPr sz="500">
              <a:latin typeface="Times New Roman"/>
              <a:cs typeface="Times New Roman"/>
            </a:endParaRPr>
          </a:p>
          <a:p>
            <a:pPr marL="12700">
              <a:lnSpc>
                <a:spcPct val="100000"/>
              </a:lnSpc>
              <a:spcBef>
                <a:spcPts val="114"/>
              </a:spcBef>
            </a:pPr>
            <a:r>
              <a:rPr sz="500" spc="-25" dirty="0">
                <a:latin typeface="Times New Roman"/>
                <a:cs typeface="Times New Roman"/>
              </a:rPr>
              <a:t>13</a:t>
            </a:r>
            <a:endParaRPr sz="500">
              <a:latin typeface="Times New Roman"/>
              <a:cs typeface="Times New Roman"/>
            </a:endParaRPr>
          </a:p>
          <a:p>
            <a:pPr marL="12700">
              <a:lnSpc>
                <a:spcPct val="100000"/>
              </a:lnSpc>
              <a:spcBef>
                <a:spcPts val="120"/>
              </a:spcBef>
            </a:pPr>
            <a:r>
              <a:rPr sz="500" spc="-25" dirty="0">
                <a:latin typeface="Times New Roman"/>
                <a:cs typeface="Times New Roman"/>
              </a:rPr>
              <a:t>14</a:t>
            </a:r>
            <a:endParaRPr sz="500">
              <a:latin typeface="Times New Roman"/>
              <a:cs typeface="Times New Roman"/>
            </a:endParaRPr>
          </a:p>
          <a:p>
            <a:pPr marL="12700">
              <a:lnSpc>
                <a:spcPct val="100000"/>
              </a:lnSpc>
              <a:spcBef>
                <a:spcPts val="114"/>
              </a:spcBef>
            </a:pPr>
            <a:r>
              <a:rPr sz="500" spc="-25" dirty="0">
                <a:latin typeface="Times New Roman"/>
                <a:cs typeface="Times New Roman"/>
              </a:rPr>
              <a:t>15</a:t>
            </a:r>
            <a:endParaRPr sz="500">
              <a:latin typeface="Times New Roman"/>
              <a:cs typeface="Times New Roman"/>
            </a:endParaRPr>
          </a:p>
          <a:p>
            <a:pPr marL="12700">
              <a:lnSpc>
                <a:spcPct val="100000"/>
              </a:lnSpc>
              <a:spcBef>
                <a:spcPts val="120"/>
              </a:spcBef>
            </a:pPr>
            <a:r>
              <a:rPr sz="500" spc="-25" dirty="0">
                <a:latin typeface="Times New Roman"/>
                <a:cs typeface="Times New Roman"/>
              </a:rPr>
              <a:t>16</a:t>
            </a:r>
            <a:endParaRPr sz="500">
              <a:latin typeface="Times New Roman"/>
              <a:cs typeface="Times New Roman"/>
            </a:endParaRPr>
          </a:p>
          <a:p>
            <a:pPr marL="12700">
              <a:lnSpc>
                <a:spcPct val="100000"/>
              </a:lnSpc>
              <a:spcBef>
                <a:spcPts val="114"/>
              </a:spcBef>
            </a:pPr>
            <a:r>
              <a:rPr sz="500" spc="-25" dirty="0">
                <a:latin typeface="Times New Roman"/>
                <a:cs typeface="Times New Roman"/>
              </a:rPr>
              <a:t>17</a:t>
            </a:r>
            <a:endParaRPr sz="500">
              <a:latin typeface="Times New Roman"/>
              <a:cs typeface="Times New Roman"/>
            </a:endParaRPr>
          </a:p>
          <a:p>
            <a:pPr marL="12700">
              <a:lnSpc>
                <a:spcPct val="100000"/>
              </a:lnSpc>
              <a:spcBef>
                <a:spcPts val="120"/>
              </a:spcBef>
            </a:pPr>
            <a:r>
              <a:rPr sz="500" spc="-25" dirty="0">
                <a:latin typeface="Times New Roman"/>
                <a:cs typeface="Times New Roman"/>
              </a:rPr>
              <a:t>18</a:t>
            </a:r>
            <a:endParaRPr sz="500">
              <a:latin typeface="Times New Roman"/>
              <a:cs typeface="Times New Roman"/>
            </a:endParaRPr>
          </a:p>
          <a:p>
            <a:pPr marL="12700">
              <a:lnSpc>
                <a:spcPct val="100000"/>
              </a:lnSpc>
              <a:spcBef>
                <a:spcPts val="114"/>
              </a:spcBef>
            </a:pPr>
            <a:r>
              <a:rPr sz="500" spc="-25" dirty="0">
                <a:latin typeface="Times New Roman"/>
                <a:cs typeface="Times New Roman"/>
              </a:rPr>
              <a:t>19</a:t>
            </a:r>
            <a:endParaRPr sz="500">
              <a:latin typeface="Times New Roman"/>
              <a:cs typeface="Times New Roman"/>
            </a:endParaRPr>
          </a:p>
          <a:p>
            <a:pPr marL="12700">
              <a:lnSpc>
                <a:spcPct val="100000"/>
              </a:lnSpc>
              <a:spcBef>
                <a:spcPts val="120"/>
              </a:spcBef>
            </a:pPr>
            <a:r>
              <a:rPr sz="500" spc="-25" dirty="0">
                <a:latin typeface="Times New Roman"/>
                <a:cs typeface="Times New Roman"/>
              </a:rPr>
              <a:t>20</a:t>
            </a:r>
            <a:endParaRPr sz="500">
              <a:latin typeface="Times New Roman"/>
              <a:cs typeface="Times New Roman"/>
            </a:endParaRPr>
          </a:p>
          <a:p>
            <a:pPr marL="12700">
              <a:lnSpc>
                <a:spcPct val="100000"/>
              </a:lnSpc>
              <a:spcBef>
                <a:spcPts val="114"/>
              </a:spcBef>
            </a:pPr>
            <a:r>
              <a:rPr sz="500" spc="-25" dirty="0">
                <a:latin typeface="Times New Roman"/>
                <a:cs typeface="Times New Roman"/>
              </a:rPr>
              <a:t>21</a:t>
            </a:r>
            <a:endParaRPr sz="500">
              <a:latin typeface="Times New Roman"/>
              <a:cs typeface="Times New Roman"/>
            </a:endParaRPr>
          </a:p>
          <a:p>
            <a:pPr marL="12700">
              <a:lnSpc>
                <a:spcPct val="100000"/>
              </a:lnSpc>
              <a:spcBef>
                <a:spcPts val="114"/>
              </a:spcBef>
            </a:pPr>
            <a:r>
              <a:rPr sz="500" spc="-25" dirty="0">
                <a:latin typeface="Times New Roman"/>
                <a:cs typeface="Times New Roman"/>
              </a:rPr>
              <a:t>22</a:t>
            </a:r>
            <a:endParaRPr sz="500">
              <a:latin typeface="Times New Roman"/>
              <a:cs typeface="Times New Roman"/>
            </a:endParaRPr>
          </a:p>
          <a:p>
            <a:pPr marL="12700">
              <a:lnSpc>
                <a:spcPct val="100000"/>
              </a:lnSpc>
              <a:spcBef>
                <a:spcPts val="120"/>
              </a:spcBef>
            </a:pPr>
            <a:r>
              <a:rPr sz="500" spc="-25" dirty="0">
                <a:latin typeface="Times New Roman"/>
                <a:cs typeface="Times New Roman"/>
              </a:rPr>
              <a:t>23</a:t>
            </a:r>
            <a:endParaRPr sz="500">
              <a:latin typeface="Times New Roman"/>
              <a:cs typeface="Times New Roman"/>
            </a:endParaRPr>
          </a:p>
          <a:p>
            <a:pPr marL="12700">
              <a:lnSpc>
                <a:spcPct val="100000"/>
              </a:lnSpc>
              <a:spcBef>
                <a:spcPts val="114"/>
              </a:spcBef>
            </a:pPr>
            <a:r>
              <a:rPr sz="500" spc="-25" dirty="0">
                <a:latin typeface="Times New Roman"/>
                <a:cs typeface="Times New Roman"/>
              </a:rPr>
              <a:t>24</a:t>
            </a:r>
            <a:endParaRPr sz="500">
              <a:latin typeface="Times New Roman"/>
              <a:cs typeface="Times New Roman"/>
            </a:endParaRPr>
          </a:p>
          <a:p>
            <a:pPr marL="12700">
              <a:lnSpc>
                <a:spcPct val="100000"/>
              </a:lnSpc>
              <a:spcBef>
                <a:spcPts val="120"/>
              </a:spcBef>
            </a:pPr>
            <a:r>
              <a:rPr sz="500" spc="-25" dirty="0">
                <a:latin typeface="Times New Roman"/>
                <a:cs typeface="Times New Roman"/>
              </a:rPr>
              <a:t>25</a:t>
            </a:r>
            <a:endParaRPr sz="500">
              <a:latin typeface="Times New Roman"/>
              <a:cs typeface="Times New Roman"/>
            </a:endParaRPr>
          </a:p>
          <a:p>
            <a:pPr marL="12700">
              <a:lnSpc>
                <a:spcPct val="100000"/>
              </a:lnSpc>
              <a:spcBef>
                <a:spcPts val="114"/>
              </a:spcBef>
            </a:pPr>
            <a:r>
              <a:rPr sz="500" spc="-25" dirty="0">
                <a:latin typeface="Times New Roman"/>
                <a:cs typeface="Times New Roman"/>
              </a:rPr>
              <a:t>26</a:t>
            </a:r>
            <a:endParaRPr sz="500">
              <a:latin typeface="Times New Roman"/>
              <a:cs typeface="Times New Roman"/>
            </a:endParaRPr>
          </a:p>
          <a:p>
            <a:pPr marL="12700">
              <a:lnSpc>
                <a:spcPct val="100000"/>
              </a:lnSpc>
              <a:spcBef>
                <a:spcPts val="120"/>
              </a:spcBef>
            </a:pPr>
            <a:r>
              <a:rPr sz="500" spc="-25" dirty="0">
                <a:latin typeface="Times New Roman"/>
                <a:cs typeface="Times New Roman"/>
              </a:rPr>
              <a:t>27</a:t>
            </a:r>
            <a:endParaRPr sz="500">
              <a:latin typeface="Times New Roman"/>
              <a:cs typeface="Times New Roman"/>
            </a:endParaRPr>
          </a:p>
          <a:p>
            <a:pPr marL="12700">
              <a:lnSpc>
                <a:spcPct val="100000"/>
              </a:lnSpc>
              <a:spcBef>
                <a:spcPts val="114"/>
              </a:spcBef>
            </a:pPr>
            <a:r>
              <a:rPr sz="500" spc="-25" dirty="0">
                <a:latin typeface="Times New Roman"/>
                <a:cs typeface="Times New Roman"/>
              </a:rPr>
              <a:t>28</a:t>
            </a:r>
            <a:endParaRPr sz="500">
              <a:latin typeface="Times New Roman"/>
              <a:cs typeface="Times New Roman"/>
            </a:endParaRPr>
          </a:p>
          <a:p>
            <a:pPr marL="12700">
              <a:lnSpc>
                <a:spcPct val="100000"/>
              </a:lnSpc>
              <a:spcBef>
                <a:spcPts val="120"/>
              </a:spcBef>
            </a:pPr>
            <a:r>
              <a:rPr sz="500" spc="-25" dirty="0">
                <a:latin typeface="Times New Roman"/>
                <a:cs typeface="Times New Roman"/>
              </a:rPr>
              <a:t>29</a:t>
            </a:r>
            <a:endParaRPr sz="500">
              <a:latin typeface="Times New Roman"/>
              <a:cs typeface="Times New Roman"/>
            </a:endParaRPr>
          </a:p>
        </p:txBody>
      </p:sp>
      <p:sp>
        <p:nvSpPr>
          <p:cNvPr id="12" name="object 12"/>
          <p:cNvSpPr txBox="1"/>
          <p:nvPr/>
        </p:nvSpPr>
        <p:spPr>
          <a:xfrm>
            <a:off x="428485" y="1290373"/>
            <a:ext cx="3495040" cy="314325"/>
          </a:xfrm>
          <a:prstGeom prst="rect">
            <a:avLst/>
          </a:prstGeom>
        </p:spPr>
        <p:txBody>
          <a:bodyPr vert="horz" wrap="square" lIns="0" tIns="12065" rIns="0" bIns="0" rtlCol="0">
            <a:spAutoFit/>
          </a:bodyPr>
          <a:lstStyle/>
          <a:p>
            <a:pPr marL="12700">
              <a:lnSpc>
                <a:spcPts val="780"/>
              </a:lnSpc>
              <a:spcBef>
                <a:spcPts val="95"/>
              </a:spcBef>
            </a:pPr>
            <a:r>
              <a:rPr sz="700" b="1" dirty="0">
                <a:solidFill>
                  <a:srgbClr val="FF0059"/>
                </a:solidFill>
                <a:latin typeface="Times New Roman"/>
                <a:cs typeface="Times New Roman"/>
              </a:rPr>
              <a:t>while</a:t>
            </a:r>
            <a:r>
              <a:rPr sz="700" b="1" spc="300" dirty="0">
                <a:solidFill>
                  <a:srgbClr val="FF0059"/>
                </a:solidFill>
                <a:latin typeface="Times New Roman"/>
                <a:cs typeface="Times New Roman"/>
              </a:rPr>
              <a:t> </a:t>
            </a:r>
            <a:r>
              <a:rPr sz="700" spc="35" dirty="0">
                <a:latin typeface="Times New Roman"/>
                <a:cs typeface="Times New Roman"/>
              </a:rPr>
              <a:t>True:</a:t>
            </a:r>
            <a:endParaRPr sz="700">
              <a:latin typeface="Times New Roman"/>
              <a:cs typeface="Times New Roman"/>
            </a:endParaRPr>
          </a:p>
          <a:p>
            <a:pPr marL="100965">
              <a:lnSpc>
                <a:spcPts val="715"/>
              </a:lnSpc>
            </a:pPr>
            <a:r>
              <a:rPr sz="700" spc="55" dirty="0">
                <a:latin typeface="Times New Roman"/>
                <a:cs typeface="Times New Roman"/>
              </a:rPr>
              <a:t>block</a:t>
            </a:r>
            <a:r>
              <a:rPr sz="700" spc="235" dirty="0">
                <a:latin typeface="Times New Roman"/>
                <a:cs typeface="Times New Roman"/>
              </a:rPr>
              <a:t> </a:t>
            </a:r>
            <a:r>
              <a:rPr sz="700" dirty="0">
                <a:latin typeface="Times New Roman"/>
                <a:cs typeface="Times New Roman"/>
              </a:rPr>
              <a:t>=</a:t>
            </a:r>
            <a:r>
              <a:rPr sz="700" spc="275" dirty="0">
                <a:latin typeface="Times New Roman"/>
                <a:cs typeface="Times New Roman"/>
              </a:rPr>
              <a:t> </a:t>
            </a:r>
            <a:r>
              <a:rPr sz="700" dirty="0">
                <a:latin typeface="Times New Roman"/>
                <a:cs typeface="Times New Roman"/>
              </a:rPr>
              <a:t>(peer[viewOverlay]</a:t>
            </a:r>
            <a:r>
              <a:rPr sz="700" spc="254" dirty="0">
                <a:latin typeface="Times New Roman"/>
                <a:cs typeface="Times New Roman"/>
              </a:rPr>
              <a:t> </a:t>
            </a:r>
            <a:r>
              <a:rPr sz="700" spc="75" dirty="0">
                <a:latin typeface="Times New Roman"/>
                <a:cs typeface="Times New Roman"/>
              </a:rPr>
              <a:t>!=</a:t>
            </a:r>
            <a:r>
              <a:rPr sz="700" spc="225" dirty="0">
                <a:latin typeface="Times New Roman"/>
                <a:cs typeface="Times New Roman"/>
              </a:rPr>
              <a:t> </a:t>
            </a:r>
            <a:r>
              <a:rPr sz="700" dirty="0">
                <a:latin typeface="Times New Roman"/>
                <a:cs typeface="Times New Roman"/>
              </a:rPr>
              <a:t>None)</a:t>
            </a:r>
            <a:r>
              <a:rPr sz="700" spc="254" dirty="0">
                <a:latin typeface="Times New Roman"/>
                <a:cs typeface="Times New Roman"/>
              </a:rPr>
              <a:t> </a:t>
            </a:r>
            <a:r>
              <a:rPr sz="700" b="1" spc="60" dirty="0">
                <a:solidFill>
                  <a:srgbClr val="FF0059"/>
                </a:solidFill>
                <a:latin typeface="Times New Roman"/>
                <a:cs typeface="Times New Roman"/>
              </a:rPr>
              <a:t>or</a:t>
            </a:r>
            <a:r>
              <a:rPr sz="700" b="1" spc="254" dirty="0">
                <a:solidFill>
                  <a:srgbClr val="FF0059"/>
                </a:solidFill>
                <a:latin typeface="Times New Roman"/>
                <a:cs typeface="Times New Roman"/>
              </a:rPr>
              <a:t> </a:t>
            </a:r>
            <a:r>
              <a:rPr sz="700" dirty="0">
                <a:latin typeface="Times New Roman"/>
                <a:cs typeface="Times New Roman"/>
              </a:rPr>
              <a:t>(peer[viewPSS]</a:t>
            </a:r>
            <a:r>
              <a:rPr sz="700" spc="254" dirty="0">
                <a:latin typeface="Times New Roman"/>
                <a:cs typeface="Times New Roman"/>
              </a:rPr>
              <a:t> </a:t>
            </a:r>
            <a:r>
              <a:rPr sz="700" spc="75" dirty="0">
                <a:latin typeface="Times New Roman"/>
                <a:cs typeface="Times New Roman"/>
              </a:rPr>
              <a:t>!=</a:t>
            </a:r>
            <a:r>
              <a:rPr sz="700" spc="225" dirty="0">
                <a:latin typeface="Times New Roman"/>
                <a:cs typeface="Times New Roman"/>
              </a:rPr>
              <a:t> </a:t>
            </a:r>
            <a:r>
              <a:rPr sz="700" spc="-20" dirty="0">
                <a:latin typeface="Times New Roman"/>
                <a:cs typeface="Times New Roman"/>
              </a:rPr>
              <a:t>None)</a:t>
            </a:r>
            <a:endParaRPr sz="700">
              <a:latin typeface="Times New Roman"/>
              <a:cs typeface="Times New Roman"/>
            </a:endParaRPr>
          </a:p>
          <a:p>
            <a:pPr marL="101600">
              <a:lnSpc>
                <a:spcPts val="780"/>
              </a:lnSpc>
            </a:pPr>
            <a:r>
              <a:rPr sz="700" spc="70" dirty="0">
                <a:latin typeface="Times New Roman"/>
                <a:cs typeface="Times New Roman"/>
              </a:rPr>
              <a:t>sender,</a:t>
            </a:r>
            <a:r>
              <a:rPr sz="700" spc="165" dirty="0">
                <a:latin typeface="Times New Roman"/>
                <a:cs typeface="Times New Roman"/>
              </a:rPr>
              <a:t> </a:t>
            </a:r>
            <a:r>
              <a:rPr sz="700" dirty="0">
                <a:latin typeface="Times New Roman"/>
                <a:cs typeface="Times New Roman"/>
              </a:rPr>
              <a:t>msgType,</a:t>
            </a:r>
            <a:r>
              <a:rPr sz="700" spc="165" dirty="0">
                <a:latin typeface="Times New Roman"/>
                <a:cs typeface="Times New Roman"/>
              </a:rPr>
              <a:t> </a:t>
            </a:r>
            <a:r>
              <a:rPr sz="700" dirty="0">
                <a:latin typeface="Times New Roman"/>
                <a:cs typeface="Times New Roman"/>
              </a:rPr>
              <a:t>msgData</a:t>
            </a:r>
            <a:r>
              <a:rPr sz="700" spc="160" dirty="0">
                <a:latin typeface="Times New Roman"/>
                <a:cs typeface="Times New Roman"/>
              </a:rPr>
              <a:t> </a:t>
            </a:r>
            <a:r>
              <a:rPr sz="700" dirty="0">
                <a:latin typeface="Times New Roman"/>
                <a:cs typeface="Times New Roman"/>
              </a:rPr>
              <a:t>=</a:t>
            </a:r>
            <a:r>
              <a:rPr sz="700" spc="155" dirty="0">
                <a:latin typeface="Times New Roman"/>
                <a:cs typeface="Times New Roman"/>
              </a:rPr>
              <a:t> </a:t>
            </a:r>
            <a:r>
              <a:rPr sz="700" dirty="0">
                <a:latin typeface="Times New Roman"/>
                <a:cs typeface="Times New Roman"/>
              </a:rPr>
              <a:t>recvFromAny(block)</a:t>
            </a:r>
            <a:r>
              <a:rPr sz="700" spc="195" dirty="0">
                <a:latin typeface="Times New Roman"/>
                <a:cs typeface="Times New Roman"/>
              </a:rPr>
              <a:t> </a:t>
            </a:r>
            <a:r>
              <a:rPr sz="700" i="1" spc="65" dirty="0">
                <a:solidFill>
                  <a:srgbClr val="009600"/>
                </a:solidFill>
                <a:latin typeface="Times New Roman"/>
                <a:cs typeface="Times New Roman"/>
              </a:rPr>
              <a:t>#</a:t>
            </a:r>
            <a:r>
              <a:rPr sz="700" i="1" spc="170" dirty="0">
                <a:solidFill>
                  <a:srgbClr val="009600"/>
                </a:solidFill>
                <a:latin typeface="Times New Roman"/>
                <a:cs typeface="Times New Roman"/>
              </a:rPr>
              <a:t> </a:t>
            </a:r>
            <a:r>
              <a:rPr sz="700" i="1" dirty="0">
                <a:solidFill>
                  <a:srgbClr val="009600"/>
                </a:solidFill>
                <a:latin typeface="Times New Roman"/>
                <a:cs typeface="Times New Roman"/>
              </a:rPr>
              <a:t>Block</a:t>
            </a:r>
            <a:r>
              <a:rPr sz="700" i="1" spc="150" dirty="0">
                <a:solidFill>
                  <a:srgbClr val="009600"/>
                </a:solidFill>
                <a:latin typeface="Times New Roman"/>
                <a:cs typeface="Times New Roman"/>
              </a:rPr>
              <a:t> </a:t>
            </a:r>
            <a:r>
              <a:rPr sz="700" i="1" spc="195" dirty="0">
                <a:solidFill>
                  <a:srgbClr val="009600"/>
                </a:solidFill>
                <a:latin typeface="Times New Roman"/>
                <a:cs typeface="Times New Roman"/>
              </a:rPr>
              <a:t>if</a:t>
            </a:r>
            <a:r>
              <a:rPr sz="700" i="1" spc="140" dirty="0">
                <a:solidFill>
                  <a:srgbClr val="009600"/>
                </a:solidFill>
                <a:latin typeface="Times New Roman"/>
                <a:cs typeface="Times New Roman"/>
              </a:rPr>
              <a:t> </a:t>
            </a:r>
            <a:r>
              <a:rPr sz="700" i="1" spc="60" dirty="0">
                <a:solidFill>
                  <a:srgbClr val="009600"/>
                </a:solidFill>
                <a:latin typeface="Times New Roman"/>
                <a:cs typeface="Times New Roman"/>
              </a:rPr>
              <a:t>expecting</a:t>
            </a:r>
            <a:r>
              <a:rPr sz="700" i="1" spc="120" dirty="0">
                <a:solidFill>
                  <a:srgbClr val="009600"/>
                </a:solidFill>
                <a:latin typeface="Times New Roman"/>
                <a:cs typeface="Times New Roman"/>
              </a:rPr>
              <a:t> </a:t>
            </a:r>
            <a:r>
              <a:rPr sz="700" i="1" spc="-10" dirty="0">
                <a:solidFill>
                  <a:srgbClr val="009600"/>
                </a:solidFill>
                <a:latin typeface="Times New Roman"/>
                <a:cs typeface="Times New Roman"/>
              </a:rPr>
              <a:t>something</a:t>
            </a:r>
            <a:endParaRPr sz="700">
              <a:latin typeface="Times New Roman"/>
              <a:cs typeface="Times New Roman"/>
            </a:endParaRPr>
          </a:p>
        </p:txBody>
      </p:sp>
      <p:sp>
        <p:nvSpPr>
          <p:cNvPr id="13" name="object 13"/>
          <p:cNvSpPr txBox="1"/>
          <p:nvPr/>
        </p:nvSpPr>
        <p:spPr>
          <a:xfrm>
            <a:off x="517791" y="1654761"/>
            <a:ext cx="3317875" cy="1042669"/>
          </a:xfrm>
          <a:prstGeom prst="rect">
            <a:avLst/>
          </a:prstGeom>
        </p:spPr>
        <p:txBody>
          <a:bodyPr vert="horz" wrap="square" lIns="0" tIns="12065" rIns="0" bIns="0" rtlCol="0">
            <a:spAutoFit/>
          </a:bodyPr>
          <a:lstStyle/>
          <a:p>
            <a:pPr marL="13335">
              <a:lnSpc>
                <a:spcPts val="780"/>
              </a:lnSpc>
              <a:spcBef>
                <a:spcPts val="95"/>
              </a:spcBef>
            </a:pPr>
            <a:r>
              <a:rPr sz="700" b="1" spc="175" dirty="0">
                <a:solidFill>
                  <a:srgbClr val="FF0059"/>
                </a:solidFill>
                <a:latin typeface="Times New Roman"/>
                <a:cs typeface="Times New Roman"/>
              </a:rPr>
              <a:t>if</a:t>
            </a:r>
            <a:r>
              <a:rPr sz="700" b="1" spc="110" dirty="0">
                <a:solidFill>
                  <a:srgbClr val="FF0059"/>
                </a:solidFill>
                <a:latin typeface="Times New Roman"/>
                <a:cs typeface="Times New Roman"/>
              </a:rPr>
              <a:t> </a:t>
            </a:r>
            <a:r>
              <a:rPr sz="700" dirty="0">
                <a:latin typeface="Times New Roman"/>
                <a:cs typeface="Times New Roman"/>
              </a:rPr>
              <a:t>msg</a:t>
            </a:r>
            <a:r>
              <a:rPr sz="700" spc="110" dirty="0">
                <a:latin typeface="Times New Roman"/>
                <a:cs typeface="Times New Roman"/>
              </a:rPr>
              <a:t> </a:t>
            </a:r>
            <a:r>
              <a:rPr sz="700" dirty="0">
                <a:latin typeface="Times New Roman"/>
                <a:cs typeface="Times New Roman"/>
              </a:rPr>
              <a:t>==</a:t>
            </a:r>
            <a:r>
              <a:rPr sz="700" spc="105" dirty="0">
                <a:latin typeface="Times New Roman"/>
                <a:cs typeface="Times New Roman"/>
              </a:rPr>
              <a:t> </a:t>
            </a:r>
            <a:r>
              <a:rPr sz="700" dirty="0">
                <a:latin typeface="Times New Roman"/>
                <a:cs typeface="Times New Roman"/>
              </a:rPr>
              <a:t>None:</a:t>
            </a:r>
            <a:r>
              <a:rPr sz="700" spc="145" dirty="0">
                <a:latin typeface="Times New Roman"/>
                <a:cs typeface="Times New Roman"/>
              </a:rPr>
              <a:t> </a:t>
            </a:r>
            <a:r>
              <a:rPr sz="700" i="1" spc="65" dirty="0">
                <a:solidFill>
                  <a:srgbClr val="009600"/>
                </a:solidFill>
                <a:latin typeface="Times New Roman"/>
                <a:cs typeface="Times New Roman"/>
              </a:rPr>
              <a:t>#</a:t>
            </a:r>
            <a:r>
              <a:rPr sz="700" i="1" spc="120" dirty="0">
                <a:solidFill>
                  <a:srgbClr val="009600"/>
                </a:solidFill>
                <a:latin typeface="Times New Roman"/>
                <a:cs typeface="Times New Roman"/>
              </a:rPr>
              <a:t> </a:t>
            </a:r>
            <a:r>
              <a:rPr sz="700" i="1" spc="105" dirty="0">
                <a:solidFill>
                  <a:srgbClr val="009600"/>
                </a:solidFill>
                <a:latin typeface="Times New Roman"/>
                <a:cs typeface="Times New Roman"/>
              </a:rPr>
              <a:t>All </a:t>
            </a:r>
            <a:r>
              <a:rPr sz="700" i="1" dirty="0">
                <a:solidFill>
                  <a:srgbClr val="009600"/>
                </a:solidFill>
                <a:latin typeface="Times New Roman"/>
                <a:cs typeface="Times New Roman"/>
              </a:rPr>
              <a:t>work</a:t>
            </a:r>
            <a:r>
              <a:rPr sz="700" i="1" spc="100" dirty="0">
                <a:solidFill>
                  <a:srgbClr val="009600"/>
                </a:solidFill>
                <a:latin typeface="Times New Roman"/>
                <a:cs typeface="Times New Roman"/>
              </a:rPr>
              <a:t> </a:t>
            </a:r>
            <a:r>
              <a:rPr sz="700" i="1" spc="55" dirty="0">
                <a:solidFill>
                  <a:srgbClr val="009600"/>
                </a:solidFill>
                <a:latin typeface="Times New Roman"/>
                <a:cs typeface="Times New Roman"/>
              </a:rPr>
              <a:t>has</a:t>
            </a:r>
            <a:r>
              <a:rPr sz="700" i="1" spc="100" dirty="0">
                <a:solidFill>
                  <a:srgbClr val="009600"/>
                </a:solidFill>
                <a:latin typeface="Times New Roman"/>
                <a:cs typeface="Times New Roman"/>
              </a:rPr>
              <a:t> </a:t>
            </a:r>
            <a:r>
              <a:rPr sz="700" i="1" dirty="0">
                <a:solidFill>
                  <a:srgbClr val="009600"/>
                </a:solidFill>
                <a:latin typeface="Times New Roman"/>
                <a:cs typeface="Times New Roman"/>
              </a:rPr>
              <a:t>been</a:t>
            </a:r>
            <a:r>
              <a:rPr sz="700" i="1" spc="110" dirty="0">
                <a:solidFill>
                  <a:srgbClr val="009600"/>
                </a:solidFill>
                <a:latin typeface="Times New Roman"/>
                <a:cs typeface="Times New Roman"/>
              </a:rPr>
              <a:t> </a:t>
            </a:r>
            <a:r>
              <a:rPr sz="700" i="1" spc="50" dirty="0">
                <a:solidFill>
                  <a:srgbClr val="009600"/>
                </a:solidFill>
                <a:latin typeface="Times New Roman"/>
                <a:cs typeface="Times New Roman"/>
              </a:rPr>
              <a:t>done,</a:t>
            </a:r>
            <a:r>
              <a:rPr sz="700" i="1" spc="114" dirty="0">
                <a:solidFill>
                  <a:srgbClr val="009600"/>
                </a:solidFill>
                <a:latin typeface="Times New Roman"/>
                <a:cs typeface="Times New Roman"/>
              </a:rPr>
              <a:t> </a:t>
            </a:r>
            <a:r>
              <a:rPr sz="700" i="1" spc="60" dirty="0">
                <a:solidFill>
                  <a:srgbClr val="009600"/>
                </a:solidFill>
                <a:latin typeface="Times New Roman"/>
                <a:cs typeface="Times New Roman"/>
              </a:rPr>
              <a:t>simply</a:t>
            </a:r>
            <a:r>
              <a:rPr sz="700" i="1" spc="80" dirty="0">
                <a:solidFill>
                  <a:srgbClr val="009600"/>
                </a:solidFill>
                <a:latin typeface="Times New Roman"/>
                <a:cs typeface="Times New Roman"/>
              </a:rPr>
              <a:t> </a:t>
            </a:r>
            <a:r>
              <a:rPr sz="700" i="1" spc="75" dirty="0">
                <a:solidFill>
                  <a:srgbClr val="009600"/>
                </a:solidFill>
                <a:latin typeface="Times New Roman"/>
                <a:cs typeface="Times New Roman"/>
              </a:rPr>
              <a:t>return</a:t>
            </a:r>
            <a:r>
              <a:rPr sz="700" i="1" spc="90" dirty="0">
                <a:solidFill>
                  <a:srgbClr val="009600"/>
                </a:solidFill>
                <a:latin typeface="Times New Roman"/>
                <a:cs typeface="Times New Roman"/>
              </a:rPr>
              <a:t> </a:t>
            </a:r>
            <a:r>
              <a:rPr sz="700" i="1" dirty="0">
                <a:solidFill>
                  <a:srgbClr val="009600"/>
                </a:solidFill>
                <a:latin typeface="Times New Roman"/>
                <a:cs typeface="Times New Roman"/>
              </a:rPr>
              <a:t>from</a:t>
            </a:r>
            <a:r>
              <a:rPr sz="700" i="1" spc="105" dirty="0">
                <a:solidFill>
                  <a:srgbClr val="009600"/>
                </a:solidFill>
                <a:latin typeface="Times New Roman"/>
                <a:cs typeface="Times New Roman"/>
              </a:rPr>
              <a:t> </a:t>
            </a:r>
            <a:r>
              <a:rPr sz="700" i="1" spc="95" dirty="0">
                <a:solidFill>
                  <a:srgbClr val="009600"/>
                </a:solidFill>
                <a:latin typeface="Times New Roman"/>
                <a:cs typeface="Times New Roman"/>
              </a:rPr>
              <a:t>the</a:t>
            </a:r>
            <a:r>
              <a:rPr sz="700" i="1" spc="100" dirty="0">
                <a:solidFill>
                  <a:srgbClr val="009600"/>
                </a:solidFill>
                <a:latin typeface="Times New Roman"/>
                <a:cs typeface="Times New Roman"/>
              </a:rPr>
              <a:t> </a:t>
            </a:r>
            <a:r>
              <a:rPr sz="700" i="1" spc="85" dirty="0">
                <a:solidFill>
                  <a:srgbClr val="009600"/>
                </a:solidFill>
                <a:latin typeface="Times New Roman"/>
                <a:cs typeface="Times New Roman"/>
              </a:rPr>
              <a:t>call</a:t>
            </a:r>
            <a:endParaRPr sz="700">
              <a:latin typeface="Times New Roman"/>
              <a:cs typeface="Times New Roman"/>
            </a:endParaRPr>
          </a:p>
          <a:p>
            <a:pPr marL="99695">
              <a:lnSpc>
                <a:spcPts val="780"/>
              </a:lnSpc>
            </a:pPr>
            <a:r>
              <a:rPr sz="700" b="1" spc="-10" dirty="0">
                <a:solidFill>
                  <a:srgbClr val="FF0059"/>
                </a:solidFill>
                <a:latin typeface="Times New Roman"/>
                <a:cs typeface="Times New Roman"/>
              </a:rPr>
              <a:t>return</a:t>
            </a:r>
            <a:endParaRPr sz="700">
              <a:latin typeface="Times New Roman"/>
              <a:cs typeface="Times New Roman"/>
            </a:endParaRPr>
          </a:p>
          <a:p>
            <a:pPr marL="12700">
              <a:lnSpc>
                <a:spcPts val="780"/>
              </a:lnSpc>
              <a:spcBef>
                <a:spcPts val="595"/>
              </a:spcBef>
            </a:pPr>
            <a:r>
              <a:rPr sz="700" b="1" spc="80" dirty="0">
                <a:solidFill>
                  <a:srgbClr val="FF0059"/>
                </a:solidFill>
                <a:latin typeface="Times New Roman"/>
                <a:cs typeface="Times New Roman"/>
              </a:rPr>
              <a:t>for</a:t>
            </a:r>
            <a:r>
              <a:rPr sz="700" b="1" spc="155" dirty="0">
                <a:solidFill>
                  <a:srgbClr val="FF0059"/>
                </a:solidFill>
                <a:latin typeface="Times New Roman"/>
                <a:cs typeface="Times New Roman"/>
              </a:rPr>
              <a:t> </a:t>
            </a:r>
            <a:r>
              <a:rPr sz="700" dirty="0">
                <a:latin typeface="Times New Roman"/>
                <a:cs typeface="Times New Roman"/>
              </a:rPr>
              <a:t>viewType</a:t>
            </a:r>
            <a:r>
              <a:rPr sz="700" spc="175" dirty="0">
                <a:latin typeface="Times New Roman"/>
                <a:cs typeface="Times New Roman"/>
              </a:rPr>
              <a:t> </a:t>
            </a:r>
            <a:r>
              <a:rPr sz="700" b="1" spc="100" dirty="0">
                <a:solidFill>
                  <a:srgbClr val="FF0059"/>
                </a:solidFill>
                <a:latin typeface="Times New Roman"/>
                <a:cs typeface="Times New Roman"/>
              </a:rPr>
              <a:t>in</a:t>
            </a:r>
            <a:r>
              <a:rPr sz="700" b="1" spc="204" dirty="0">
                <a:solidFill>
                  <a:srgbClr val="FF0059"/>
                </a:solidFill>
                <a:latin typeface="Times New Roman"/>
                <a:cs typeface="Times New Roman"/>
              </a:rPr>
              <a:t> </a:t>
            </a:r>
            <a:r>
              <a:rPr sz="700" dirty="0">
                <a:latin typeface="Times New Roman"/>
                <a:cs typeface="Times New Roman"/>
              </a:rPr>
              <a:t>[viewOverlay,</a:t>
            </a:r>
            <a:r>
              <a:rPr sz="700" spc="190" dirty="0">
                <a:latin typeface="Times New Roman"/>
                <a:cs typeface="Times New Roman"/>
              </a:rPr>
              <a:t> </a:t>
            </a:r>
            <a:r>
              <a:rPr sz="700" dirty="0">
                <a:latin typeface="Times New Roman"/>
                <a:cs typeface="Times New Roman"/>
              </a:rPr>
              <a:t>viewPSS]:</a:t>
            </a:r>
            <a:r>
              <a:rPr sz="700" spc="210" dirty="0">
                <a:latin typeface="Times New Roman"/>
                <a:cs typeface="Times New Roman"/>
              </a:rPr>
              <a:t> </a:t>
            </a:r>
            <a:r>
              <a:rPr sz="700" i="1" spc="65" dirty="0">
                <a:solidFill>
                  <a:srgbClr val="009600"/>
                </a:solidFill>
                <a:latin typeface="Times New Roman"/>
                <a:cs typeface="Times New Roman"/>
              </a:rPr>
              <a:t>#</a:t>
            </a:r>
            <a:r>
              <a:rPr sz="700" i="1" spc="200" dirty="0">
                <a:solidFill>
                  <a:srgbClr val="009600"/>
                </a:solidFill>
                <a:latin typeface="Times New Roman"/>
                <a:cs typeface="Times New Roman"/>
              </a:rPr>
              <a:t> </a:t>
            </a:r>
            <a:r>
              <a:rPr sz="700" i="1" dirty="0">
                <a:solidFill>
                  <a:srgbClr val="009600"/>
                </a:solidFill>
                <a:latin typeface="Times New Roman"/>
                <a:cs typeface="Times New Roman"/>
              </a:rPr>
              <a:t>For</a:t>
            </a:r>
            <a:r>
              <a:rPr sz="700" i="1" spc="170" dirty="0">
                <a:solidFill>
                  <a:srgbClr val="009600"/>
                </a:solidFill>
                <a:latin typeface="Times New Roman"/>
                <a:cs typeface="Times New Roman"/>
              </a:rPr>
              <a:t> </a:t>
            </a:r>
            <a:r>
              <a:rPr sz="700" i="1" dirty="0">
                <a:solidFill>
                  <a:srgbClr val="009600"/>
                </a:solidFill>
                <a:latin typeface="Times New Roman"/>
                <a:cs typeface="Times New Roman"/>
              </a:rPr>
              <a:t>each</a:t>
            </a:r>
            <a:r>
              <a:rPr sz="700" i="1" spc="180" dirty="0">
                <a:solidFill>
                  <a:srgbClr val="009600"/>
                </a:solidFill>
                <a:latin typeface="Times New Roman"/>
                <a:cs typeface="Times New Roman"/>
              </a:rPr>
              <a:t> </a:t>
            </a:r>
            <a:r>
              <a:rPr sz="700" i="1" spc="65" dirty="0">
                <a:solidFill>
                  <a:srgbClr val="009600"/>
                </a:solidFill>
                <a:latin typeface="Times New Roman"/>
                <a:cs typeface="Times New Roman"/>
              </a:rPr>
              <a:t>view,</a:t>
            </a:r>
            <a:r>
              <a:rPr sz="700" i="1" spc="210" dirty="0">
                <a:solidFill>
                  <a:srgbClr val="009600"/>
                </a:solidFill>
                <a:latin typeface="Times New Roman"/>
                <a:cs typeface="Times New Roman"/>
              </a:rPr>
              <a:t> </a:t>
            </a:r>
            <a:r>
              <a:rPr sz="700" i="1" dirty="0">
                <a:solidFill>
                  <a:srgbClr val="009600"/>
                </a:solidFill>
                <a:latin typeface="Times New Roman"/>
                <a:cs typeface="Times New Roman"/>
              </a:rPr>
              <a:t>do</a:t>
            </a:r>
            <a:r>
              <a:rPr sz="700" i="1" spc="180" dirty="0">
                <a:solidFill>
                  <a:srgbClr val="009600"/>
                </a:solidFill>
                <a:latin typeface="Times New Roman"/>
                <a:cs typeface="Times New Roman"/>
              </a:rPr>
              <a:t> </a:t>
            </a:r>
            <a:r>
              <a:rPr sz="700" i="1" spc="95" dirty="0">
                <a:solidFill>
                  <a:srgbClr val="009600"/>
                </a:solidFill>
                <a:latin typeface="Times New Roman"/>
                <a:cs typeface="Times New Roman"/>
              </a:rPr>
              <a:t>the</a:t>
            </a:r>
            <a:r>
              <a:rPr sz="700" i="1" spc="170" dirty="0">
                <a:solidFill>
                  <a:srgbClr val="009600"/>
                </a:solidFill>
                <a:latin typeface="Times New Roman"/>
                <a:cs typeface="Times New Roman"/>
              </a:rPr>
              <a:t> </a:t>
            </a:r>
            <a:r>
              <a:rPr sz="700" i="1" spc="-20" dirty="0">
                <a:solidFill>
                  <a:srgbClr val="009600"/>
                </a:solidFill>
                <a:latin typeface="Times New Roman"/>
                <a:cs typeface="Times New Roman"/>
              </a:rPr>
              <a:t>same</a:t>
            </a:r>
            <a:endParaRPr sz="700">
              <a:latin typeface="Times New Roman"/>
              <a:cs typeface="Times New Roman"/>
            </a:endParaRPr>
          </a:p>
          <a:p>
            <a:pPr marL="101600">
              <a:lnSpc>
                <a:spcPts val="715"/>
              </a:lnSpc>
            </a:pPr>
            <a:r>
              <a:rPr sz="700" b="1" spc="175" dirty="0">
                <a:solidFill>
                  <a:srgbClr val="FF0059"/>
                </a:solidFill>
                <a:latin typeface="Times New Roman"/>
                <a:cs typeface="Times New Roman"/>
              </a:rPr>
              <a:t>if</a:t>
            </a:r>
            <a:r>
              <a:rPr sz="700" b="1" spc="125" dirty="0">
                <a:solidFill>
                  <a:srgbClr val="FF0059"/>
                </a:solidFill>
                <a:latin typeface="Times New Roman"/>
                <a:cs typeface="Times New Roman"/>
              </a:rPr>
              <a:t> </a:t>
            </a:r>
            <a:r>
              <a:rPr sz="700" dirty="0">
                <a:latin typeface="Times New Roman"/>
                <a:cs typeface="Times New Roman"/>
              </a:rPr>
              <a:t>msgType</a:t>
            </a:r>
            <a:r>
              <a:rPr sz="700" spc="130" dirty="0">
                <a:latin typeface="Times New Roman"/>
                <a:cs typeface="Times New Roman"/>
              </a:rPr>
              <a:t> </a:t>
            </a:r>
            <a:r>
              <a:rPr sz="700" dirty="0">
                <a:latin typeface="Times New Roman"/>
                <a:cs typeface="Times New Roman"/>
              </a:rPr>
              <a:t>==</a:t>
            </a:r>
            <a:r>
              <a:rPr sz="700" spc="130" dirty="0">
                <a:latin typeface="Times New Roman"/>
                <a:cs typeface="Times New Roman"/>
              </a:rPr>
              <a:t> </a:t>
            </a:r>
            <a:r>
              <a:rPr sz="700" dirty="0">
                <a:latin typeface="Times New Roman"/>
                <a:cs typeface="Times New Roman"/>
              </a:rPr>
              <a:t>Response[viewType]:</a:t>
            </a:r>
            <a:r>
              <a:rPr sz="700" spc="210" dirty="0">
                <a:latin typeface="Times New Roman"/>
                <a:cs typeface="Times New Roman"/>
              </a:rPr>
              <a:t>  </a:t>
            </a:r>
            <a:r>
              <a:rPr sz="700" i="1" spc="65" dirty="0">
                <a:solidFill>
                  <a:srgbClr val="009600"/>
                </a:solidFill>
                <a:latin typeface="Times New Roman"/>
                <a:cs typeface="Times New Roman"/>
              </a:rPr>
              <a:t>#</a:t>
            </a:r>
            <a:r>
              <a:rPr sz="700" i="1" spc="145" dirty="0">
                <a:solidFill>
                  <a:srgbClr val="009600"/>
                </a:solidFill>
                <a:latin typeface="Times New Roman"/>
                <a:cs typeface="Times New Roman"/>
              </a:rPr>
              <a:t> </a:t>
            </a:r>
            <a:r>
              <a:rPr sz="700" i="1" dirty="0">
                <a:solidFill>
                  <a:srgbClr val="009600"/>
                </a:solidFill>
                <a:latin typeface="Times New Roman"/>
                <a:cs typeface="Times New Roman"/>
              </a:rPr>
              <a:t>Response</a:t>
            </a:r>
            <a:r>
              <a:rPr sz="700" i="1" spc="125" dirty="0">
                <a:solidFill>
                  <a:srgbClr val="009600"/>
                </a:solidFill>
                <a:latin typeface="Times New Roman"/>
                <a:cs typeface="Times New Roman"/>
              </a:rPr>
              <a:t> </a:t>
            </a:r>
            <a:r>
              <a:rPr sz="700" i="1" spc="120" dirty="0">
                <a:solidFill>
                  <a:srgbClr val="009600"/>
                </a:solidFill>
                <a:latin typeface="Times New Roman"/>
                <a:cs typeface="Times New Roman"/>
              </a:rPr>
              <a:t>to </a:t>
            </a:r>
            <a:r>
              <a:rPr sz="700" i="1" spc="65" dirty="0">
                <a:solidFill>
                  <a:srgbClr val="009600"/>
                </a:solidFill>
                <a:latin typeface="Times New Roman"/>
                <a:cs typeface="Times New Roman"/>
              </a:rPr>
              <a:t>previously</a:t>
            </a:r>
            <a:r>
              <a:rPr sz="700" i="1" spc="110" dirty="0">
                <a:solidFill>
                  <a:srgbClr val="009600"/>
                </a:solidFill>
                <a:latin typeface="Times New Roman"/>
                <a:cs typeface="Times New Roman"/>
              </a:rPr>
              <a:t> </a:t>
            </a:r>
            <a:r>
              <a:rPr sz="700" i="1" spc="90" dirty="0">
                <a:solidFill>
                  <a:srgbClr val="009600"/>
                </a:solidFill>
                <a:latin typeface="Times New Roman"/>
                <a:cs typeface="Times New Roman"/>
              </a:rPr>
              <a:t>sent</a:t>
            </a:r>
            <a:r>
              <a:rPr sz="700" i="1" spc="125" dirty="0">
                <a:solidFill>
                  <a:srgbClr val="009600"/>
                </a:solidFill>
                <a:latin typeface="Times New Roman"/>
                <a:cs typeface="Times New Roman"/>
              </a:rPr>
              <a:t> </a:t>
            </a:r>
            <a:r>
              <a:rPr sz="700" i="1" spc="80" dirty="0">
                <a:solidFill>
                  <a:srgbClr val="009600"/>
                </a:solidFill>
                <a:latin typeface="Times New Roman"/>
                <a:cs typeface="Times New Roman"/>
              </a:rPr>
              <a:t>links</a:t>
            </a:r>
            <a:endParaRPr sz="700">
              <a:latin typeface="Times New Roman"/>
              <a:cs typeface="Times New Roman"/>
            </a:endParaRPr>
          </a:p>
          <a:p>
            <a:pPr marL="187960">
              <a:lnSpc>
                <a:spcPts val="780"/>
              </a:lnSpc>
            </a:pPr>
            <a:r>
              <a:rPr sz="700" dirty="0">
                <a:latin typeface="Times New Roman"/>
                <a:cs typeface="Times New Roman"/>
              </a:rPr>
              <a:t>updateOwnView(viewType,</a:t>
            </a:r>
            <a:r>
              <a:rPr sz="700" spc="140" dirty="0">
                <a:latin typeface="Times New Roman"/>
                <a:cs typeface="Times New Roman"/>
              </a:rPr>
              <a:t> </a:t>
            </a:r>
            <a:r>
              <a:rPr sz="700" dirty="0">
                <a:latin typeface="Times New Roman"/>
                <a:cs typeface="Times New Roman"/>
              </a:rPr>
              <a:t>msgData)</a:t>
            </a:r>
            <a:r>
              <a:rPr sz="700" spc="175" dirty="0">
                <a:latin typeface="Times New Roman"/>
                <a:cs typeface="Times New Roman"/>
              </a:rPr>
              <a:t> </a:t>
            </a:r>
            <a:r>
              <a:rPr sz="700" i="1" spc="65" dirty="0">
                <a:solidFill>
                  <a:srgbClr val="009600"/>
                </a:solidFill>
                <a:latin typeface="Times New Roman"/>
                <a:cs typeface="Times New Roman"/>
              </a:rPr>
              <a:t>#</a:t>
            </a:r>
            <a:r>
              <a:rPr sz="700" i="1" spc="150" dirty="0">
                <a:solidFill>
                  <a:srgbClr val="009600"/>
                </a:solidFill>
                <a:latin typeface="Times New Roman"/>
                <a:cs typeface="Times New Roman"/>
              </a:rPr>
              <a:t> </a:t>
            </a:r>
            <a:r>
              <a:rPr sz="700" i="1" spc="90" dirty="0">
                <a:solidFill>
                  <a:srgbClr val="009600"/>
                </a:solidFill>
                <a:latin typeface="Times New Roman"/>
                <a:cs typeface="Times New Roman"/>
              </a:rPr>
              <a:t>Just</a:t>
            </a:r>
            <a:r>
              <a:rPr sz="700" i="1" spc="114" dirty="0">
                <a:solidFill>
                  <a:srgbClr val="009600"/>
                </a:solidFill>
                <a:latin typeface="Times New Roman"/>
                <a:cs typeface="Times New Roman"/>
              </a:rPr>
              <a:t> </a:t>
            </a:r>
            <a:r>
              <a:rPr sz="700" i="1" dirty="0">
                <a:solidFill>
                  <a:srgbClr val="009600"/>
                </a:solidFill>
                <a:latin typeface="Times New Roman"/>
                <a:cs typeface="Times New Roman"/>
              </a:rPr>
              <a:t>update</a:t>
            </a:r>
            <a:r>
              <a:rPr sz="700" i="1" spc="125" dirty="0">
                <a:solidFill>
                  <a:srgbClr val="009600"/>
                </a:solidFill>
                <a:latin typeface="Times New Roman"/>
                <a:cs typeface="Times New Roman"/>
              </a:rPr>
              <a:t> </a:t>
            </a:r>
            <a:r>
              <a:rPr sz="700" i="1" spc="95" dirty="0">
                <a:solidFill>
                  <a:srgbClr val="009600"/>
                </a:solidFill>
                <a:latin typeface="Times New Roman"/>
                <a:cs typeface="Times New Roman"/>
              </a:rPr>
              <a:t>the</a:t>
            </a:r>
            <a:r>
              <a:rPr sz="700" i="1" spc="130" dirty="0">
                <a:solidFill>
                  <a:srgbClr val="009600"/>
                </a:solidFill>
                <a:latin typeface="Times New Roman"/>
                <a:cs typeface="Times New Roman"/>
              </a:rPr>
              <a:t> </a:t>
            </a:r>
            <a:r>
              <a:rPr sz="700" i="1" dirty="0">
                <a:solidFill>
                  <a:srgbClr val="009600"/>
                </a:solidFill>
                <a:latin typeface="Times New Roman"/>
                <a:cs typeface="Times New Roman"/>
              </a:rPr>
              <a:t>own</a:t>
            </a:r>
            <a:r>
              <a:rPr sz="700" i="1" spc="130" dirty="0">
                <a:solidFill>
                  <a:srgbClr val="009600"/>
                </a:solidFill>
                <a:latin typeface="Times New Roman"/>
                <a:cs typeface="Times New Roman"/>
              </a:rPr>
              <a:t> </a:t>
            </a:r>
            <a:r>
              <a:rPr sz="700" i="1" spc="30" dirty="0">
                <a:solidFill>
                  <a:srgbClr val="009600"/>
                </a:solidFill>
                <a:latin typeface="Times New Roman"/>
                <a:cs typeface="Times New Roman"/>
              </a:rPr>
              <a:t>view</a:t>
            </a:r>
            <a:endParaRPr sz="700">
              <a:latin typeface="Times New Roman"/>
              <a:cs typeface="Times New Roman"/>
            </a:endParaRPr>
          </a:p>
          <a:p>
            <a:pPr marL="100330">
              <a:lnSpc>
                <a:spcPts val="780"/>
              </a:lnSpc>
              <a:spcBef>
                <a:spcPts val="595"/>
              </a:spcBef>
            </a:pPr>
            <a:r>
              <a:rPr sz="700" b="1" spc="135" dirty="0">
                <a:solidFill>
                  <a:srgbClr val="FF0059"/>
                </a:solidFill>
                <a:latin typeface="Times New Roman"/>
                <a:cs typeface="Times New Roman"/>
              </a:rPr>
              <a:t>elif</a:t>
            </a:r>
            <a:r>
              <a:rPr sz="700" b="1" spc="195" dirty="0">
                <a:solidFill>
                  <a:srgbClr val="FF0059"/>
                </a:solidFill>
                <a:latin typeface="Times New Roman"/>
                <a:cs typeface="Times New Roman"/>
              </a:rPr>
              <a:t> </a:t>
            </a:r>
            <a:r>
              <a:rPr sz="700" dirty="0">
                <a:latin typeface="Times New Roman"/>
                <a:cs typeface="Times New Roman"/>
              </a:rPr>
              <a:t>msgType</a:t>
            </a:r>
            <a:r>
              <a:rPr sz="700" spc="210" dirty="0">
                <a:latin typeface="Times New Roman"/>
                <a:cs typeface="Times New Roman"/>
              </a:rPr>
              <a:t> </a:t>
            </a:r>
            <a:r>
              <a:rPr sz="700" dirty="0">
                <a:latin typeface="Times New Roman"/>
                <a:cs typeface="Times New Roman"/>
              </a:rPr>
              <a:t>==</a:t>
            </a:r>
            <a:r>
              <a:rPr sz="700" spc="215" dirty="0">
                <a:latin typeface="Times New Roman"/>
                <a:cs typeface="Times New Roman"/>
              </a:rPr>
              <a:t> </a:t>
            </a:r>
            <a:r>
              <a:rPr sz="700" dirty="0">
                <a:latin typeface="Times New Roman"/>
                <a:cs typeface="Times New Roman"/>
              </a:rPr>
              <a:t>Request[viewType]:</a:t>
            </a:r>
            <a:r>
              <a:rPr sz="700" spc="250" dirty="0">
                <a:latin typeface="Times New Roman"/>
                <a:cs typeface="Times New Roman"/>
              </a:rPr>
              <a:t> </a:t>
            </a:r>
            <a:r>
              <a:rPr sz="700" i="1" spc="65" dirty="0">
                <a:solidFill>
                  <a:srgbClr val="009600"/>
                </a:solidFill>
                <a:latin typeface="Times New Roman"/>
                <a:cs typeface="Times New Roman"/>
              </a:rPr>
              <a:t>#</a:t>
            </a:r>
            <a:r>
              <a:rPr sz="700" i="1" spc="229" dirty="0">
                <a:solidFill>
                  <a:srgbClr val="009600"/>
                </a:solidFill>
                <a:latin typeface="Times New Roman"/>
                <a:cs typeface="Times New Roman"/>
              </a:rPr>
              <a:t> </a:t>
            </a:r>
            <a:r>
              <a:rPr sz="700" i="1" dirty="0">
                <a:solidFill>
                  <a:srgbClr val="009600"/>
                </a:solidFill>
                <a:latin typeface="Times New Roman"/>
                <a:cs typeface="Times New Roman"/>
              </a:rPr>
              <a:t>Request</a:t>
            </a:r>
            <a:r>
              <a:rPr sz="700" i="1" spc="204" dirty="0">
                <a:solidFill>
                  <a:srgbClr val="009600"/>
                </a:solidFill>
                <a:latin typeface="Times New Roman"/>
                <a:cs typeface="Times New Roman"/>
              </a:rPr>
              <a:t> </a:t>
            </a:r>
            <a:r>
              <a:rPr sz="700" i="1" spc="105" dirty="0">
                <a:solidFill>
                  <a:srgbClr val="009600"/>
                </a:solidFill>
                <a:latin typeface="Times New Roman"/>
                <a:cs typeface="Times New Roman"/>
              </a:rPr>
              <a:t>for</a:t>
            </a:r>
            <a:r>
              <a:rPr sz="700" i="1" spc="195" dirty="0">
                <a:solidFill>
                  <a:srgbClr val="009600"/>
                </a:solidFill>
                <a:latin typeface="Times New Roman"/>
                <a:cs typeface="Times New Roman"/>
              </a:rPr>
              <a:t> </a:t>
            </a:r>
            <a:r>
              <a:rPr sz="700" i="1" dirty="0">
                <a:solidFill>
                  <a:srgbClr val="009600"/>
                </a:solidFill>
                <a:latin typeface="Times New Roman"/>
                <a:cs typeface="Times New Roman"/>
              </a:rPr>
              <a:t>exchanging</a:t>
            </a:r>
            <a:r>
              <a:rPr sz="700" i="1" spc="190" dirty="0">
                <a:solidFill>
                  <a:srgbClr val="009600"/>
                </a:solidFill>
                <a:latin typeface="Times New Roman"/>
                <a:cs typeface="Times New Roman"/>
              </a:rPr>
              <a:t> </a:t>
            </a:r>
            <a:r>
              <a:rPr sz="700" i="1" spc="80" dirty="0">
                <a:solidFill>
                  <a:srgbClr val="009600"/>
                </a:solidFill>
                <a:latin typeface="Times New Roman"/>
                <a:cs typeface="Times New Roman"/>
              </a:rPr>
              <a:t>links</a:t>
            </a:r>
            <a:endParaRPr sz="700">
              <a:latin typeface="Times New Roman"/>
              <a:cs typeface="Times New Roman"/>
            </a:endParaRPr>
          </a:p>
          <a:p>
            <a:pPr marL="276860" marR="5080" indent="-86995">
              <a:lnSpc>
                <a:spcPts val="720"/>
              </a:lnSpc>
              <a:spcBef>
                <a:spcPts val="65"/>
              </a:spcBef>
              <a:tabLst>
                <a:tab pos="1652905" algn="l"/>
                <a:tab pos="2139950" algn="l"/>
              </a:tabLst>
            </a:pPr>
            <a:r>
              <a:rPr sz="700" b="1" spc="175" dirty="0">
                <a:solidFill>
                  <a:srgbClr val="FF0059"/>
                </a:solidFill>
                <a:latin typeface="Times New Roman"/>
                <a:cs typeface="Times New Roman"/>
              </a:rPr>
              <a:t>if</a:t>
            </a:r>
            <a:r>
              <a:rPr sz="700" b="1" spc="204" dirty="0">
                <a:solidFill>
                  <a:srgbClr val="FF0059"/>
                </a:solidFill>
                <a:latin typeface="Times New Roman"/>
                <a:cs typeface="Times New Roman"/>
              </a:rPr>
              <a:t> </a:t>
            </a:r>
            <a:r>
              <a:rPr sz="700" dirty="0">
                <a:latin typeface="Times New Roman"/>
                <a:cs typeface="Times New Roman"/>
              </a:rPr>
              <a:t>peer[viewType]</a:t>
            </a:r>
            <a:r>
              <a:rPr sz="700" spc="240" dirty="0">
                <a:latin typeface="Times New Roman"/>
                <a:cs typeface="Times New Roman"/>
              </a:rPr>
              <a:t> </a:t>
            </a:r>
            <a:r>
              <a:rPr sz="700" dirty="0">
                <a:latin typeface="Times New Roman"/>
                <a:cs typeface="Times New Roman"/>
              </a:rPr>
              <a:t>==</a:t>
            </a:r>
            <a:r>
              <a:rPr sz="700" spc="210" dirty="0">
                <a:latin typeface="Times New Roman"/>
                <a:cs typeface="Times New Roman"/>
              </a:rPr>
              <a:t> </a:t>
            </a:r>
            <a:r>
              <a:rPr sz="700" spc="-20" dirty="0">
                <a:latin typeface="Times New Roman"/>
                <a:cs typeface="Times New Roman"/>
              </a:rPr>
              <a:t>None:</a:t>
            </a:r>
            <a:r>
              <a:rPr sz="700" dirty="0">
                <a:latin typeface="Times New Roman"/>
                <a:cs typeface="Times New Roman"/>
              </a:rPr>
              <a:t>	</a:t>
            </a:r>
            <a:r>
              <a:rPr sz="700" i="1" spc="65" dirty="0">
                <a:solidFill>
                  <a:srgbClr val="009600"/>
                </a:solidFill>
                <a:latin typeface="Times New Roman"/>
                <a:cs typeface="Times New Roman"/>
              </a:rPr>
              <a:t>#</a:t>
            </a:r>
            <a:r>
              <a:rPr sz="700" i="1" spc="150" dirty="0">
                <a:solidFill>
                  <a:srgbClr val="009600"/>
                </a:solidFill>
                <a:latin typeface="Times New Roman"/>
                <a:cs typeface="Times New Roman"/>
              </a:rPr>
              <a:t> </a:t>
            </a:r>
            <a:r>
              <a:rPr sz="700" i="1" dirty="0">
                <a:solidFill>
                  <a:srgbClr val="009600"/>
                </a:solidFill>
                <a:latin typeface="Times New Roman"/>
                <a:cs typeface="Times New Roman"/>
              </a:rPr>
              <a:t>No</a:t>
            </a:r>
            <a:r>
              <a:rPr sz="700" i="1" spc="114" dirty="0">
                <a:solidFill>
                  <a:srgbClr val="009600"/>
                </a:solidFill>
                <a:latin typeface="Times New Roman"/>
                <a:cs typeface="Times New Roman"/>
              </a:rPr>
              <a:t> </a:t>
            </a:r>
            <a:r>
              <a:rPr sz="700" i="1" spc="55" dirty="0">
                <a:solidFill>
                  <a:srgbClr val="009600"/>
                </a:solidFill>
                <a:latin typeface="Times New Roman"/>
                <a:cs typeface="Times New Roman"/>
              </a:rPr>
              <a:t>outstanding</a:t>
            </a:r>
            <a:r>
              <a:rPr sz="700" i="1" spc="100" dirty="0">
                <a:solidFill>
                  <a:srgbClr val="009600"/>
                </a:solidFill>
                <a:latin typeface="Times New Roman"/>
                <a:cs typeface="Times New Roman"/>
              </a:rPr>
              <a:t> </a:t>
            </a:r>
            <a:r>
              <a:rPr sz="700" i="1" dirty="0">
                <a:solidFill>
                  <a:srgbClr val="009600"/>
                </a:solidFill>
                <a:latin typeface="Times New Roman"/>
                <a:cs typeface="Times New Roman"/>
              </a:rPr>
              <a:t>exchange</a:t>
            </a:r>
            <a:r>
              <a:rPr sz="700" i="1" spc="105" dirty="0">
                <a:solidFill>
                  <a:srgbClr val="009600"/>
                </a:solidFill>
                <a:latin typeface="Times New Roman"/>
                <a:cs typeface="Times New Roman"/>
              </a:rPr>
              <a:t> </a:t>
            </a:r>
            <a:r>
              <a:rPr sz="700" i="1" spc="55" dirty="0">
                <a:solidFill>
                  <a:srgbClr val="009600"/>
                </a:solidFill>
                <a:latin typeface="Times New Roman"/>
                <a:cs typeface="Times New Roman"/>
              </a:rPr>
              <a:t>request </a:t>
            </a:r>
            <a:r>
              <a:rPr sz="700" spc="95" dirty="0">
                <a:latin typeface="Times New Roman"/>
                <a:cs typeface="Times New Roman"/>
              </a:rPr>
              <a:t>links</a:t>
            </a:r>
            <a:r>
              <a:rPr sz="700" spc="405" dirty="0">
                <a:latin typeface="Times New Roman"/>
                <a:cs typeface="Times New Roman"/>
              </a:rPr>
              <a:t> </a:t>
            </a:r>
            <a:r>
              <a:rPr sz="700" dirty="0">
                <a:latin typeface="Times New Roman"/>
                <a:cs typeface="Times New Roman"/>
              </a:rPr>
              <a:t>=</a:t>
            </a:r>
            <a:r>
              <a:rPr sz="700" spc="395" dirty="0">
                <a:latin typeface="Times New Roman"/>
                <a:cs typeface="Times New Roman"/>
              </a:rPr>
              <a:t> </a:t>
            </a:r>
            <a:r>
              <a:rPr sz="700" dirty="0">
                <a:latin typeface="Times New Roman"/>
                <a:cs typeface="Times New Roman"/>
              </a:rPr>
              <a:t>selectLinks(viewType,</a:t>
            </a:r>
            <a:r>
              <a:rPr sz="700" spc="395" dirty="0">
                <a:latin typeface="Times New Roman"/>
                <a:cs typeface="Times New Roman"/>
              </a:rPr>
              <a:t> </a:t>
            </a:r>
            <a:r>
              <a:rPr sz="700" spc="55" dirty="0">
                <a:latin typeface="Times New Roman"/>
                <a:cs typeface="Times New Roman"/>
              </a:rPr>
              <a:t>sender)</a:t>
            </a:r>
            <a:r>
              <a:rPr sz="700" dirty="0">
                <a:latin typeface="Times New Roman"/>
                <a:cs typeface="Times New Roman"/>
              </a:rPr>
              <a:t>	</a:t>
            </a:r>
            <a:r>
              <a:rPr sz="700" i="1" spc="65" dirty="0">
                <a:solidFill>
                  <a:srgbClr val="009600"/>
                </a:solidFill>
                <a:latin typeface="Times New Roman"/>
                <a:cs typeface="Times New Roman"/>
              </a:rPr>
              <a:t>#</a:t>
            </a:r>
            <a:r>
              <a:rPr sz="700" i="1" spc="85" dirty="0">
                <a:solidFill>
                  <a:srgbClr val="009600"/>
                </a:solidFill>
                <a:latin typeface="Times New Roman"/>
                <a:cs typeface="Times New Roman"/>
              </a:rPr>
              <a:t> Select</a:t>
            </a:r>
            <a:r>
              <a:rPr sz="700" i="1" spc="65" dirty="0">
                <a:solidFill>
                  <a:srgbClr val="009600"/>
                </a:solidFill>
                <a:latin typeface="Times New Roman"/>
                <a:cs typeface="Times New Roman"/>
              </a:rPr>
              <a:t> </a:t>
            </a:r>
            <a:r>
              <a:rPr sz="700" i="1" spc="80" dirty="0">
                <a:solidFill>
                  <a:srgbClr val="009600"/>
                </a:solidFill>
                <a:latin typeface="Times New Roman"/>
                <a:cs typeface="Times New Roman"/>
              </a:rPr>
              <a:t>links </a:t>
            </a:r>
            <a:r>
              <a:rPr sz="700" spc="45" dirty="0">
                <a:latin typeface="Times New Roman"/>
                <a:cs typeface="Times New Roman"/>
              </a:rPr>
              <a:t>sendTo(sender,</a:t>
            </a:r>
            <a:r>
              <a:rPr sz="700" spc="204" dirty="0">
                <a:latin typeface="Times New Roman"/>
                <a:cs typeface="Times New Roman"/>
              </a:rPr>
              <a:t> </a:t>
            </a:r>
            <a:r>
              <a:rPr sz="700" dirty="0">
                <a:latin typeface="Times New Roman"/>
                <a:cs typeface="Times New Roman"/>
              </a:rPr>
              <a:t>Response[viewType],</a:t>
            </a:r>
            <a:r>
              <a:rPr sz="700" spc="215" dirty="0">
                <a:latin typeface="Times New Roman"/>
                <a:cs typeface="Times New Roman"/>
              </a:rPr>
              <a:t> </a:t>
            </a:r>
            <a:r>
              <a:rPr sz="700" spc="95" dirty="0">
                <a:latin typeface="Times New Roman"/>
                <a:cs typeface="Times New Roman"/>
              </a:rPr>
              <a:t>links)</a:t>
            </a:r>
            <a:r>
              <a:rPr sz="700" spc="245" dirty="0">
                <a:latin typeface="Times New Roman"/>
                <a:cs typeface="Times New Roman"/>
              </a:rPr>
              <a:t> </a:t>
            </a:r>
            <a:r>
              <a:rPr sz="700" i="1" spc="65" dirty="0">
                <a:solidFill>
                  <a:srgbClr val="009600"/>
                </a:solidFill>
                <a:latin typeface="Times New Roman"/>
                <a:cs typeface="Times New Roman"/>
              </a:rPr>
              <a:t>#</a:t>
            </a:r>
            <a:r>
              <a:rPr sz="700" i="1" spc="210" dirty="0">
                <a:solidFill>
                  <a:srgbClr val="009600"/>
                </a:solidFill>
                <a:latin typeface="Times New Roman"/>
                <a:cs typeface="Times New Roman"/>
              </a:rPr>
              <a:t> </a:t>
            </a:r>
            <a:r>
              <a:rPr sz="700" i="1" dirty="0">
                <a:solidFill>
                  <a:srgbClr val="009600"/>
                </a:solidFill>
                <a:latin typeface="Times New Roman"/>
                <a:cs typeface="Times New Roman"/>
              </a:rPr>
              <a:t>Send</a:t>
            </a:r>
            <a:r>
              <a:rPr sz="700" i="1" spc="185" dirty="0">
                <a:solidFill>
                  <a:srgbClr val="009600"/>
                </a:solidFill>
                <a:latin typeface="Times New Roman"/>
                <a:cs typeface="Times New Roman"/>
              </a:rPr>
              <a:t> </a:t>
            </a:r>
            <a:r>
              <a:rPr sz="700" i="1" dirty="0">
                <a:solidFill>
                  <a:srgbClr val="009600"/>
                </a:solidFill>
                <a:latin typeface="Times New Roman"/>
                <a:cs typeface="Times New Roman"/>
              </a:rPr>
              <a:t>them</a:t>
            </a:r>
            <a:r>
              <a:rPr sz="700" i="1" spc="170" dirty="0">
                <a:solidFill>
                  <a:srgbClr val="009600"/>
                </a:solidFill>
                <a:latin typeface="Times New Roman"/>
                <a:cs typeface="Times New Roman"/>
              </a:rPr>
              <a:t> </a:t>
            </a:r>
            <a:r>
              <a:rPr sz="700" i="1" spc="-10" dirty="0">
                <a:solidFill>
                  <a:srgbClr val="009600"/>
                </a:solidFill>
                <a:latin typeface="Times New Roman"/>
                <a:cs typeface="Times New Roman"/>
              </a:rPr>
              <a:t>asynchronously</a:t>
            </a:r>
            <a:endParaRPr sz="700">
              <a:latin typeface="Times New Roman"/>
              <a:cs typeface="Times New Roman"/>
            </a:endParaRPr>
          </a:p>
        </p:txBody>
      </p:sp>
      <p:sp>
        <p:nvSpPr>
          <p:cNvPr id="14" name="object 14"/>
          <p:cNvSpPr txBox="1"/>
          <p:nvPr/>
        </p:nvSpPr>
        <p:spPr>
          <a:xfrm>
            <a:off x="781913" y="2656842"/>
            <a:ext cx="2653665" cy="132080"/>
          </a:xfrm>
          <a:prstGeom prst="rect">
            <a:avLst/>
          </a:prstGeom>
        </p:spPr>
        <p:txBody>
          <a:bodyPr vert="horz" wrap="square" lIns="0" tIns="12065" rIns="0" bIns="0" rtlCol="0">
            <a:spAutoFit/>
          </a:bodyPr>
          <a:lstStyle/>
          <a:p>
            <a:pPr marL="12700">
              <a:lnSpc>
                <a:spcPct val="100000"/>
              </a:lnSpc>
              <a:spcBef>
                <a:spcPts val="95"/>
              </a:spcBef>
              <a:tabLst>
                <a:tab pos="1875789" algn="l"/>
              </a:tabLst>
            </a:pPr>
            <a:r>
              <a:rPr sz="700" spc="-10" dirty="0">
                <a:latin typeface="Times New Roman"/>
                <a:cs typeface="Times New Roman"/>
              </a:rPr>
              <a:t>updateOwnView(viewType,msgData)</a:t>
            </a:r>
            <a:r>
              <a:rPr sz="700" dirty="0">
                <a:latin typeface="Times New Roman"/>
                <a:cs typeface="Times New Roman"/>
              </a:rPr>
              <a:t>	</a:t>
            </a:r>
            <a:r>
              <a:rPr sz="700" i="1" spc="65" dirty="0">
                <a:solidFill>
                  <a:srgbClr val="009600"/>
                </a:solidFill>
                <a:latin typeface="Times New Roman"/>
                <a:cs typeface="Times New Roman"/>
              </a:rPr>
              <a:t>#</a:t>
            </a:r>
            <a:r>
              <a:rPr sz="700" i="1" spc="110" dirty="0">
                <a:solidFill>
                  <a:srgbClr val="009600"/>
                </a:solidFill>
                <a:latin typeface="Times New Roman"/>
                <a:cs typeface="Times New Roman"/>
              </a:rPr>
              <a:t> </a:t>
            </a:r>
            <a:r>
              <a:rPr sz="700" i="1" dirty="0">
                <a:solidFill>
                  <a:srgbClr val="009600"/>
                </a:solidFill>
                <a:latin typeface="Times New Roman"/>
                <a:cs typeface="Times New Roman"/>
              </a:rPr>
              <a:t>Update</a:t>
            </a:r>
            <a:r>
              <a:rPr sz="700" i="1" spc="95" dirty="0">
                <a:solidFill>
                  <a:srgbClr val="009600"/>
                </a:solidFill>
                <a:latin typeface="Times New Roman"/>
                <a:cs typeface="Times New Roman"/>
              </a:rPr>
              <a:t> </a:t>
            </a:r>
            <a:r>
              <a:rPr sz="700" i="1" dirty="0">
                <a:solidFill>
                  <a:srgbClr val="009600"/>
                </a:solidFill>
                <a:latin typeface="Times New Roman"/>
                <a:cs typeface="Times New Roman"/>
              </a:rPr>
              <a:t>own</a:t>
            </a:r>
            <a:r>
              <a:rPr sz="700" i="1" spc="105" dirty="0">
                <a:solidFill>
                  <a:srgbClr val="009600"/>
                </a:solidFill>
                <a:latin typeface="Times New Roman"/>
                <a:cs typeface="Times New Roman"/>
              </a:rPr>
              <a:t> </a:t>
            </a:r>
            <a:r>
              <a:rPr sz="700" i="1" spc="30" dirty="0">
                <a:solidFill>
                  <a:srgbClr val="009600"/>
                </a:solidFill>
                <a:latin typeface="Times New Roman"/>
                <a:cs typeface="Times New Roman"/>
              </a:rPr>
              <a:t>view</a:t>
            </a:r>
            <a:endParaRPr sz="700">
              <a:latin typeface="Times New Roman"/>
              <a:cs typeface="Times New Roman"/>
            </a:endParaRPr>
          </a:p>
        </p:txBody>
      </p:sp>
      <p:sp>
        <p:nvSpPr>
          <p:cNvPr id="15" name="object 15"/>
          <p:cNvSpPr txBox="1"/>
          <p:nvPr/>
        </p:nvSpPr>
        <p:spPr>
          <a:xfrm>
            <a:off x="694486" y="2747939"/>
            <a:ext cx="3272154" cy="222885"/>
          </a:xfrm>
          <a:prstGeom prst="rect">
            <a:avLst/>
          </a:prstGeom>
        </p:spPr>
        <p:txBody>
          <a:bodyPr vert="horz" wrap="square" lIns="0" tIns="12065" rIns="0" bIns="0" rtlCol="0">
            <a:spAutoFit/>
          </a:bodyPr>
          <a:lstStyle/>
          <a:p>
            <a:pPr marL="12700">
              <a:lnSpc>
                <a:spcPts val="780"/>
              </a:lnSpc>
              <a:spcBef>
                <a:spcPts val="95"/>
              </a:spcBef>
            </a:pPr>
            <a:r>
              <a:rPr sz="700" b="1" spc="105" dirty="0">
                <a:solidFill>
                  <a:srgbClr val="FF0059"/>
                </a:solidFill>
                <a:latin typeface="Times New Roman"/>
                <a:cs typeface="Times New Roman"/>
              </a:rPr>
              <a:t>else</a:t>
            </a:r>
            <a:r>
              <a:rPr sz="700" spc="105" dirty="0">
                <a:latin typeface="Times New Roman"/>
                <a:cs typeface="Times New Roman"/>
              </a:rPr>
              <a:t>:</a:t>
            </a:r>
            <a:r>
              <a:rPr sz="700" spc="165" dirty="0">
                <a:latin typeface="Times New Roman"/>
                <a:cs typeface="Times New Roman"/>
              </a:rPr>
              <a:t> </a:t>
            </a:r>
            <a:r>
              <a:rPr sz="700" i="1" spc="65" dirty="0">
                <a:solidFill>
                  <a:srgbClr val="009600"/>
                </a:solidFill>
                <a:latin typeface="Times New Roman"/>
                <a:cs typeface="Times New Roman"/>
              </a:rPr>
              <a:t>#</a:t>
            </a:r>
            <a:r>
              <a:rPr sz="700" i="1" spc="140" dirty="0">
                <a:solidFill>
                  <a:srgbClr val="009600"/>
                </a:solidFill>
                <a:latin typeface="Times New Roman"/>
                <a:cs typeface="Times New Roman"/>
              </a:rPr>
              <a:t> </a:t>
            </a:r>
            <a:r>
              <a:rPr sz="700" i="1" spc="70" dirty="0">
                <a:solidFill>
                  <a:srgbClr val="009600"/>
                </a:solidFill>
                <a:latin typeface="Times New Roman"/>
                <a:cs typeface="Times New Roman"/>
              </a:rPr>
              <a:t>This</a:t>
            </a:r>
            <a:r>
              <a:rPr sz="700" i="1" spc="114" dirty="0">
                <a:solidFill>
                  <a:srgbClr val="009600"/>
                </a:solidFill>
                <a:latin typeface="Times New Roman"/>
                <a:cs typeface="Times New Roman"/>
              </a:rPr>
              <a:t> </a:t>
            </a:r>
            <a:r>
              <a:rPr sz="700" i="1" dirty="0">
                <a:solidFill>
                  <a:srgbClr val="009600"/>
                </a:solidFill>
                <a:latin typeface="Times New Roman"/>
                <a:cs typeface="Times New Roman"/>
              </a:rPr>
              <a:t>node</a:t>
            </a:r>
            <a:r>
              <a:rPr sz="700" i="1" spc="110" dirty="0">
                <a:solidFill>
                  <a:srgbClr val="009600"/>
                </a:solidFill>
                <a:latin typeface="Times New Roman"/>
                <a:cs typeface="Times New Roman"/>
              </a:rPr>
              <a:t> </a:t>
            </a:r>
            <a:r>
              <a:rPr sz="700" i="1" spc="55" dirty="0">
                <a:solidFill>
                  <a:srgbClr val="009600"/>
                </a:solidFill>
                <a:latin typeface="Times New Roman"/>
                <a:cs typeface="Times New Roman"/>
              </a:rPr>
              <a:t>already</a:t>
            </a:r>
            <a:r>
              <a:rPr sz="700" i="1" spc="120" dirty="0">
                <a:solidFill>
                  <a:srgbClr val="009600"/>
                </a:solidFill>
                <a:latin typeface="Times New Roman"/>
                <a:cs typeface="Times New Roman"/>
              </a:rPr>
              <a:t> </a:t>
            </a:r>
            <a:r>
              <a:rPr sz="700" i="1" spc="55" dirty="0">
                <a:solidFill>
                  <a:srgbClr val="009600"/>
                </a:solidFill>
                <a:latin typeface="Times New Roman"/>
                <a:cs typeface="Times New Roman"/>
              </a:rPr>
              <a:t>has</a:t>
            </a:r>
            <a:r>
              <a:rPr sz="700" i="1" spc="145" dirty="0">
                <a:solidFill>
                  <a:srgbClr val="009600"/>
                </a:solidFill>
                <a:latin typeface="Times New Roman"/>
                <a:cs typeface="Times New Roman"/>
              </a:rPr>
              <a:t> </a:t>
            </a:r>
            <a:r>
              <a:rPr sz="700" i="1" spc="65" dirty="0">
                <a:solidFill>
                  <a:srgbClr val="009600"/>
                </a:solidFill>
                <a:latin typeface="Times New Roman"/>
                <a:cs typeface="Times New Roman"/>
              </a:rPr>
              <a:t>a</a:t>
            </a:r>
            <a:r>
              <a:rPr sz="700" i="1" spc="135" dirty="0">
                <a:solidFill>
                  <a:srgbClr val="009600"/>
                </a:solidFill>
                <a:latin typeface="Times New Roman"/>
                <a:cs typeface="Times New Roman"/>
              </a:rPr>
              <a:t> </a:t>
            </a:r>
            <a:r>
              <a:rPr sz="700" i="1" dirty="0">
                <a:solidFill>
                  <a:srgbClr val="009600"/>
                </a:solidFill>
                <a:latin typeface="Times New Roman"/>
                <a:cs typeface="Times New Roman"/>
              </a:rPr>
              <a:t>pending</a:t>
            </a:r>
            <a:r>
              <a:rPr sz="700" i="1" spc="105" dirty="0">
                <a:solidFill>
                  <a:srgbClr val="009600"/>
                </a:solidFill>
                <a:latin typeface="Times New Roman"/>
                <a:cs typeface="Times New Roman"/>
              </a:rPr>
              <a:t> </a:t>
            </a:r>
            <a:r>
              <a:rPr sz="700" i="1" dirty="0">
                <a:solidFill>
                  <a:srgbClr val="009600"/>
                </a:solidFill>
                <a:latin typeface="Times New Roman"/>
                <a:cs typeface="Times New Roman"/>
              </a:rPr>
              <a:t>exchange</a:t>
            </a:r>
            <a:r>
              <a:rPr sz="700" i="1" spc="110" dirty="0">
                <a:solidFill>
                  <a:srgbClr val="009600"/>
                </a:solidFill>
                <a:latin typeface="Times New Roman"/>
                <a:cs typeface="Times New Roman"/>
              </a:rPr>
              <a:t> </a:t>
            </a:r>
            <a:r>
              <a:rPr sz="700" i="1" spc="75" dirty="0">
                <a:solidFill>
                  <a:srgbClr val="009600"/>
                </a:solidFill>
                <a:latin typeface="Times New Roman"/>
                <a:cs typeface="Times New Roman"/>
              </a:rPr>
              <a:t>request,</a:t>
            </a:r>
            <a:r>
              <a:rPr sz="700" i="1" spc="135" dirty="0">
                <a:solidFill>
                  <a:srgbClr val="009600"/>
                </a:solidFill>
                <a:latin typeface="Times New Roman"/>
                <a:cs typeface="Times New Roman"/>
              </a:rPr>
              <a:t> </a:t>
            </a:r>
            <a:r>
              <a:rPr sz="700" i="1" spc="60" dirty="0">
                <a:solidFill>
                  <a:srgbClr val="009600"/>
                </a:solidFill>
                <a:latin typeface="Times New Roman"/>
                <a:cs typeface="Times New Roman"/>
              </a:rPr>
              <a:t>ignore</a:t>
            </a:r>
            <a:r>
              <a:rPr sz="700" i="1" spc="110" dirty="0">
                <a:solidFill>
                  <a:srgbClr val="009600"/>
                </a:solidFill>
                <a:latin typeface="Times New Roman"/>
                <a:cs typeface="Times New Roman"/>
              </a:rPr>
              <a:t> </a:t>
            </a:r>
            <a:r>
              <a:rPr sz="700" i="1" spc="114" dirty="0">
                <a:solidFill>
                  <a:srgbClr val="009600"/>
                </a:solidFill>
                <a:latin typeface="Times New Roman"/>
                <a:cs typeface="Times New Roman"/>
              </a:rPr>
              <a:t>this</a:t>
            </a:r>
            <a:r>
              <a:rPr sz="700" i="1" spc="125" dirty="0">
                <a:solidFill>
                  <a:srgbClr val="009600"/>
                </a:solidFill>
                <a:latin typeface="Times New Roman"/>
                <a:cs typeface="Times New Roman"/>
              </a:rPr>
              <a:t> </a:t>
            </a:r>
            <a:r>
              <a:rPr sz="700" i="1" spc="-25" dirty="0">
                <a:solidFill>
                  <a:srgbClr val="009600"/>
                </a:solidFill>
                <a:latin typeface="Times New Roman"/>
                <a:cs typeface="Times New Roman"/>
              </a:rPr>
              <a:t>one</a:t>
            </a:r>
            <a:endParaRPr sz="700">
              <a:latin typeface="Times New Roman"/>
              <a:cs typeface="Times New Roman"/>
            </a:endParaRPr>
          </a:p>
          <a:p>
            <a:pPr marL="100330">
              <a:lnSpc>
                <a:spcPts val="780"/>
              </a:lnSpc>
            </a:pPr>
            <a:r>
              <a:rPr sz="700" spc="45" dirty="0">
                <a:latin typeface="Times New Roman"/>
                <a:cs typeface="Times New Roman"/>
              </a:rPr>
              <a:t>sendTo(sender,</a:t>
            </a:r>
            <a:r>
              <a:rPr sz="700" spc="400" dirty="0">
                <a:latin typeface="Times New Roman"/>
                <a:cs typeface="Times New Roman"/>
              </a:rPr>
              <a:t> </a:t>
            </a:r>
            <a:r>
              <a:rPr sz="700" spc="-10" dirty="0">
                <a:latin typeface="Times New Roman"/>
                <a:cs typeface="Times New Roman"/>
              </a:rPr>
              <a:t>IgnoreRequest[viewType])</a:t>
            </a:r>
            <a:endParaRPr sz="700">
              <a:latin typeface="Times New Roman"/>
              <a:cs typeface="Times New Roman"/>
            </a:endParaRPr>
          </a:p>
        </p:txBody>
      </p:sp>
      <p:sp>
        <p:nvSpPr>
          <p:cNvPr id="16" name="object 16"/>
          <p:cNvSpPr txBox="1"/>
          <p:nvPr/>
        </p:nvSpPr>
        <p:spPr>
          <a:xfrm>
            <a:off x="605916" y="3021231"/>
            <a:ext cx="3359785" cy="222885"/>
          </a:xfrm>
          <a:prstGeom prst="rect">
            <a:avLst/>
          </a:prstGeom>
        </p:spPr>
        <p:txBody>
          <a:bodyPr vert="horz" wrap="square" lIns="0" tIns="12065" rIns="0" bIns="0" rtlCol="0">
            <a:spAutoFit/>
          </a:bodyPr>
          <a:lstStyle/>
          <a:p>
            <a:pPr marL="12700">
              <a:lnSpc>
                <a:spcPts val="780"/>
              </a:lnSpc>
              <a:spcBef>
                <a:spcPts val="95"/>
              </a:spcBef>
            </a:pPr>
            <a:r>
              <a:rPr sz="700" b="1" spc="135" dirty="0">
                <a:solidFill>
                  <a:srgbClr val="FF0059"/>
                </a:solidFill>
                <a:latin typeface="Times New Roman"/>
                <a:cs typeface="Times New Roman"/>
              </a:rPr>
              <a:t>elif</a:t>
            </a:r>
            <a:r>
              <a:rPr sz="700" b="1" spc="175" dirty="0">
                <a:solidFill>
                  <a:srgbClr val="FF0059"/>
                </a:solidFill>
                <a:latin typeface="Times New Roman"/>
                <a:cs typeface="Times New Roman"/>
              </a:rPr>
              <a:t> </a:t>
            </a:r>
            <a:r>
              <a:rPr sz="700" dirty="0">
                <a:latin typeface="Times New Roman"/>
                <a:cs typeface="Times New Roman"/>
              </a:rPr>
              <a:t>msgType</a:t>
            </a:r>
            <a:r>
              <a:rPr sz="700" spc="190" dirty="0">
                <a:latin typeface="Times New Roman"/>
                <a:cs typeface="Times New Roman"/>
              </a:rPr>
              <a:t> </a:t>
            </a:r>
            <a:r>
              <a:rPr sz="700" dirty="0">
                <a:latin typeface="Times New Roman"/>
                <a:cs typeface="Times New Roman"/>
              </a:rPr>
              <a:t>==</a:t>
            </a:r>
            <a:r>
              <a:rPr sz="700" spc="180" dirty="0">
                <a:latin typeface="Times New Roman"/>
                <a:cs typeface="Times New Roman"/>
              </a:rPr>
              <a:t> </a:t>
            </a:r>
            <a:r>
              <a:rPr sz="700" dirty="0">
                <a:latin typeface="Times New Roman"/>
                <a:cs typeface="Times New Roman"/>
              </a:rPr>
              <a:t>IgnoreRequest[viewType]:</a:t>
            </a:r>
            <a:r>
              <a:rPr sz="700" spc="229" dirty="0">
                <a:latin typeface="Times New Roman"/>
                <a:cs typeface="Times New Roman"/>
              </a:rPr>
              <a:t> </a:t>
            </a:r>
            <a:r>
              <a:rPr sz="700" i="1" spc="65" dirty="0">
                <a:solidFill>
                  <a:srgbClr val="009600"/>
                </a:solidFill>
                <a:latin typeface="Times New Roman"/>
                <a:cs typeface="Times New Roman"/>
              </a:rPr>
              <a:t>#</a:t>
            </a:r>
            <a:r>
              <a:rPr sz="700" i="1" spc="204" dirty="0">
                <a:solidFill>
                  <a:srgbClr val="009600"/>
                </a:solidFill>
                <a:latin typeface="Times New Roman"/>
                <a:cs typeface="Times New Roman"/>
              </a:rPr>
              <a:t> </a:t>
            </a:r>
            <a:r>
              <a:rPr sz="700" i="1" dirty="0">
                <a:solidFill>
                  <a:srgbClr val="009600"/>
                </a:solidFill>
                <a:latin typeface="Times New Roman"/>
                <a:cs typeface="Times New Roman"/>
              </a:rPr>
              <a:t>Request</a:t>
            </a:r>
            <a:r>
              <a:rPr sz="700" i="1" spc="180" dirty="0">
                <a:solidFill>
                  <a:srgbClr val="009600"/>
                </a:solidFill>
                <a:latin typeface="Times New Roman"/>
                <a:cs typeface="Times New Roman"/>
              </a:rPr>
              <a:t> </a:t>
            </a:r>
            <a:r>
              <a:rPr sz="700" i="1" spc="55" dirty="0">
                <a:solidFill>
                  <a:srgbClr val="009600"/>
                </a:solidFill>
                <a:latin typeface="Times New Roman"/>
                <a:cs typeface="Times New Roman"/>
              </a:rPr>
              <a:t>has</a:t>
            </a:r>
            <a:r>
              <a:rPr sz="700" i="1" spc="190" dirty="0">
                <a:solidFill>
                  <a:srgbClr val="009600"/>
                </a:solidFill>
                <a:latin typeface="Times New Roman"/>
                <a:cs typeface="Times New Roman"/>
              </a:rPr>
              <a:t> </a:t>
            </a:r>
            <a:r>
              <a:rPr sz="700" i="1" dirty="0">
                <a:solidFill>
                  <a:srgbClr val="009600"/>
                </a:solidFill>
                <a:latin typeface="Times New Roman"/>
                <a:cs typeface="Times New Roman"/>
              </a:rPr>
              <a:t>been</a:t>
            </a:r>
            <a:r>
              <a:rPr sz="700" i="1" spc="195" dirty="0">
                <a:solidFill>
                  <a:srgbClr val="009600"/>
                </a:solidFill>
                <a:latin typeface="Times New Roman"/>
                <a:cs typeface="Times New Roman"/>
              </a:rPr>
              <a:t> </a:t>
            </a:r>
            <a:r>
              <a:rPr sz="700" i="1" spc="65" dirty="0">
                <a:solidFill>
                  <a:srgbClr val="009600"/>
                </a:solidFill>
                <a:latin typeface="Times New Roman"/>
                <a:cs typeface="Times New Roman"/>
              </a:rPr>
              <a:t>denied,</a:t>
            </a:r>
            <a:r>
              <a:rPr sz="700" i="1" spc="210" dirty="0">
                <a:solidFill>
                  <a:srgbClr val="009600"/>
                </a:solidFill>
                <a:latin typeface="Times New Roman"/>
                <a:cs typeface="Times New Roman"/>
              </a:rPr>
              <a:t> </a:t>
            </a:r>
            <a:r>
              <a:rPr sz="700" i="1" spc="80" dirty="0">
                <a:solidFill>
                  <a:srgbClr val="009600"/>
                </a:solidFill>
                <a:latin typeface="Times New Roman"/>
                <a:cs typeface="Times New Roman"/>
              </a:rPr>
              <a:t>give</a:t>
            </a:r>
            <a:r>
              <a:rPr sz="700" i="1" spc="200" dirty="0">
                <a:solidFill>
                  <a:srgbClr val="009600"/>
                </a:solidFill>
                <a:latin typeface="Times New Roman"/>
                <a:cs typeface="Times New Roman"/>
              </a:rPr>
              <a:t> </a:t>
            </a:r>
            <a:r>
              <a:rPr sz="700" i="1" spc="-25" dirty="0">
                <a:solidFill>
                  <a:srgbClr val="009600"/>
                </a:solidFill>
                <a:latin typeface="Times New Roman"/>
                <a:cs typeface="Times New Roman"/>
              </a:rPr>
              <a:t>up</a:t>
            </a:r>
            <a:endParaRPr sz="700">
              <a:latin typeface="Times New Roman"/>
              <a:cs typeface="Times New Roman"/>
            </a:endParaRPr>
          </a:p>
          <a:p>
            <a:pPr marL="100965">
              <a:lnSpc>
                <a:spcPts val="780"/>
              </a:lnSpc>
            </a:pPr>
            <a:r>
              <a:rPr sz="700" dirty="0">
                <a:latin typeface="Times New Roman"/>
                <a:cs typeface="Times New Roman"/>
              </a:rPr>
              <a:t>peer[viewType]</a:t>
            </a:r>
            <a:r>
              <a:rPr sz="700" spc="330" dirty="0">
                <a:latin typeface="Times New Roman"/>
                <a:cs typeface="Times New Roman"/>
              </a:rPr>
              <a:t> </a:t>
            </a:r>
            <a:r>
              <a:rPr sz="700" dirty="0">
                <a:latin typeface="Times New Roman"/>
                <a:cs typeface="Times New Roman"/>
              </a:rPr>
              <a:t>=</a:t>
            </a:r>
            <a:r>
              <a:rPr sz="700" spc="300" dirty="0">
                <a:latin typeface="Times New Roman"/>
                <a:cs typeface="Times New Roman"/>
              </a:rPr>
              <a:t> </a:t>
            </a:r>
            <a:r>
              <a:rPr sz="700" spc="-20" dirty="0">
                <a:latin typeface="Times New Roman"/>
                <a:cs typeface="Times New Roman"/>
              </a:rPr>
              <a:t>None</a:t>
            </a:r>
            <a:endParaRPr sz="700">
              <a:latin typeface="Times New Roman"/>
              <a:cs typeface="Times New Roman"/>
            </a:endParaRPr>
          </a:p>
        </p:txBody>
      </p:sp>
      <p:grpSp>
        <p:nvGrpSpPr>
          <p:cNvPr id="17" name="object 17"/>
          <p:cNvGrpSpPr/>
          <p:nvPr/>
        </p:nvGrpSpPr>
        <p:grpSpPr>
          <a:xfrm>
            <a:off x="0" y="3348469"/>
            <a:ext cx="4608195" cy="107950"/>
            <a:chOff x="0" y="3348469"/>
            <a:chExt cx="4608195" cy="107950"/>
          </a:xfrm>
        </p:grpSpPr>
        <p:sp>
          <p:nvSpPr>
            <p:cNvPr id="18" name="object 18"/>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9" name="object 19"/>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20" name="object 20"/>
          <p:cNvSpPr txBox="1"/>
          <p:nvPr/>
        </p:nvSpPr>
        <p:spPr>
          <a:xfrm>
            <a:off x="53467" y="3349927"/>
            <a:ext cx="993775"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4" action="ppaction://hlinksldjump"/>
              </a:rPr>
              <a:t>Gossip-</a:t>
            </a:r>
            <a:r>
              <a:rPr sz="500" dirty="0">
                <a:latin typeface="Arial"/>
                <a:cs typeface="Arial"/>
                <a:hlinkClick r:id="rId4" action="ppaction://hlinksldjump"/>
              </a:rPr>
              <a:t>based</a:t>
            </a:r>
            <a:r>
              <a:rPr sz="500" spc="20" dirty="0">
                <a:latin typeface="Arial"/>
                <a:cs typeface="Arial"/>
                <a:hlinkClick r:id="rId4" action="ppaction://hlinksldjump"/>
              </a:rPr>
              <a:t> </a:t>
            </a:r>
            <a:r>
              <a:rPr sz="500" spc="-10" dirty="0">
                <a:latin typeface="Arial"/>
                <a:cs typeface="Arial"/>
                <a:hlinkClick r:id="rId4" action="ppaction://hlinksldjump"/>
              </a:rPr>
              <a:t>overlay</a:t>
            </a:r>
            <a:r>
              <a:rPr sz="500" spc="25" dirty="0">
                <a:latin typeface="Arial"/>
                <a:cs typeface="Arial"/>
                <a:hlinkClick r:id="rId4" action="ppaction://hlinksldjump"/>
              </a:rPr>
              <a:t> </a:t>
            </a:r>
            <a:r>
              <a:rPr sz="500" spc="-10" dirty="0">
                <a:latin typeface="Arial"/>
                <a:cs typeface="Arial"/>
                <a:hlinkClick r:id="rId4" action="ppaction://hlinksldjump"/>
              </a:rPr>
              <a:t>construction</a:t>
            </a:r>
            <a:endParaRPr sz="500">
              <a:latin typeface="Arial"/>
              <a:cs typeface="Arial"/>
            </a:endParaRPr>
          </a:p>
        </p:txBody>
      </p:sp>
    </p:spTree>
  </p:cSld>
  <p:clrMapOvr>
    <a:masterClrMapping/>
  </p:clrMapOvr>
  <p:transition>
    <p:fade/>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735704" algn="l"/>
              </a:tabLst>
            </a:pPr>
            <a:r>
              <a:rPr sz="500" spc="-10" dirty="0">
                <a:latin typeface="Arial"/>
                <a:cs typeface="Arial"/>
                <a:hlinkClick r:id="rId2" action="ppaction://hlinksldjump"/>
              </a:rPr>
              <a:t>Coordination</a:t>
            </a:r>
            <a:r>
              <a:rPr sz="500" dirty="0">
                <a:latin typeface="Arial"/>
                <a:cs typeface="Arial"/>
              </a:rPr>
              <a:t>	</a:t>
            </a:r>
            <a:r>
              <a:rPr sz="500" spc="-10" dirty="0">
                <a:solidFill>
                  <a:srgbClr val="FFFFFF"/>
                </a:solidFill>
                <a:latin typeface="Arial"/>
                <a:cs typeface="Arial"/>
                <a:hlinkClick r:id="rId3" action="ppaction://hlinksldjump"/>
              </a:rPr>
              <a:t>Gossip-</a:t>
            </a:r>
            <a:r>
              <a:rPr sz="500" dirty="0">
                <a:solidFill>
                  <a:srgbClr val="FFFFFF"/>
                </a:solidFill>
                <a:latin typeface="Arial"/>
                <a:cs typeface="Arial"/>
                <a:hlinkClick r:id="rId3" action="ppaction://hlinksldjump"/>
              </a:rPr>
              <a:t>based</a:t>
            </a:r>
            <a:r>
              <a:rPr sz="500" spc="30"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coordination</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Secure</a:t>
            </a:r>
            <a:r>
              <a:rPr spc="-45" dirty="0"/>
              <a:t> </a:t>
            </a:r>
            <a:r>
              <a:rPr spc="-10" dirty="0"/>
              <a:t>gossiping</a:t>
            </a:r>
          </a:p>
        </p:txBody>
      </p:sp>
      <p:sp>
        <p:nvSpPr>
          <p:cNvPr id="4" name="object 4"/>
          <p:cNvSpPr txBox="1"/>
          <p:nvPr/>
        </p:nvSpPr>
        <p:spPr>
          <a:xfrm>
            <a:off x="347294" y="499476"/>
            <a:ext cx="3916045" cy="496570"/>
          </a:xfrm>
          <a:prstGeom prst="rect">
            <a:avLst/>
          </a:prstGeom>
        </p:spPr>
        <p:txBody>
          <a:bodyPr vert="horz" wrap="square" lIns="0" tIns="27305" rIns="0" bIns="0" rtlCol="0">
            <a:spAutoFit/>
          </a:bodyPr>
          <a:lstStyle/>
          <a:p>
            <a:pPr marL="12700">
              <a:lnSpc>
                <a:spcPct val="100000"/>
              </a:lnSpc>
              <a:spcBef>
                <a:spcPts val="215"/>
              </a:spcBef>
            </a:pPr>
            <a:r>
              <a:rPr sz="1000" dirty="0">
                <a:solidFill>
                  <a:srgbClr val="C80000"/>
                </a:solidFill>
                <a:latin typeface="Arial"/>
                <a:cs typeface="Arial"/>
              </a:rPr>
              <a:t>Dramatic</a:t>
            </a:r>
            <a:r>
              <a:rPr sz="1000" spc="-65" dirty="0">
                <a:solidFill>
                  <a:srgbClr val="C80000"/>
                </a:solidFill>
                <a:latin typeface="Arial"/>
                <a:cs typeface="Arial"/>
              </a:rPr>
              <a:t> </a:t>
            </a:r>
            <a:r>
              <a:rPr sz="1000" spc="-10" dirty="0">
                <a:solidFill>
                  <a:srgbClr val="C80000"/>
                </a:solidFill>
                <a:latin typeface="Arial"/>
                <a:cs typeface="Arial"/>
              </a:rPr>
              <a:t>attack</a:t>
            </a:r>
            <a:endParaRPr sz="1000">
              <a:latin typeface="Arial"/>
              <a:cs typeface="Arial"/>
            </a:endParaRPr>
          </a:p>
          <a:p>
            <a:pPr marL="12700" marR="5080">
              <a:lnSpc>
                <a:spcPts val="1210"/>
              </a:lnSpc>
              <a:spcBef>
                <a:spcPts val="35"/>
              </a:spcBef>
            </a:pPr>
            <a:r>
              <a:rPr sz="900" spc="-10" dirty="0">
                <a:latin typeface="Arial"/>
                <a:cs typeface="Arial"/>
              </a:rPr>
              <a:t>Consider</a:t>
            </a:r>
            <a:r>
              <a:rPr sz="900" spc="-25" dirty="0">
                <a:latin typeface="Arial"/>
                <a:cs typeface="Arial"/>
              </a:rPr>
              <a:t> </a:t>
            </a:r>
            <a:r>
              <a:rPr sz="900" dirty="0">
                <a:latin typeface="Arial"/>
                <a:cs typeface="Arial"/>
              </a:rPr>
              <a:t>when</a:t>
            </a:r>
            <a:r>
              <a:rPr sz="900" spc="-25" dirty="0">
                <a:latin typeface="Arial"/>
                <a:cs typeface="Arial"/>
              </a:rPr>
              <a:t> </a:t>
            </a:r>
            <a:r>
              <a:rPr sz="900" spc="-10" dirty="0">
                <a:latin typeface="Arial"/>
                <a:cs typeface="Arial"/>
              </a:rPr>
              <a:t>exchanging</a:t>
            </a:r>
            <a:r>
              <a:rPr sz="900" spc="-20" dirty="0">
                <a:latin typeface="Arial"/>
                <a:cs typeface="Arial"/>
              </a:rPr>
              <a:t> </a:t>
            </a:r>
            <a:r>
              <a:rPr sz="900" spc="-10" dirty="0">
                <a:latin typeface="Arial"/>
                <a:cs typeface="Arial"/>
              </a:rPr>
              <a:t>references,</a:t>
            </a:r>
            <a:r>
              <a:rPr sz="900" spc="-25" dirty="0">
                <a:latin typeface="Arial"/>
                <a:cs typeface="Arial"/>
              </a:rPr>
              <a:t> </a:t>
            </a:r>
            <a:r>
              <a:rPr sz="900" dirty="0">
                <a:latin typeface="Arial"/>
                <a:cs typeface="Arial"/>
              </a:rPr>
              <a:t>a</a:t>
            </a:r>
            <a:r>
              <a:rPr sz="900" spc="-20" dirty="0">
                <a:latin typeface="Arial"/>
                <a:cs typeface="Arial"/>
              </a:rPr>
              <a:t> </a:t>
            </a:r>
            <a:r>
              <a:rPr sz="900" dirty="0">
                <a:latin typeface="Arial"/>
                <a:cs typeface="Arial"/>
              </a:rPr>
              <a:t>set</a:t>
            </a:r>
            <a:r>
              <a:rPr sz="900" spc="-25" dirty="0">
                <a:latin typeface="Arial"/>
                <a:cs typeface="Arial"/>
              </a:rPr>
              <a:t> </a:t>
            </a:r>
            <a:r>
              <a:rPr sz="900" dirty="0">
                <a:latin typeface="Arial"/>
                <a:cs typeface="Arial"/>
              </a:rPr>
              <a:t>of</a:t>
            </a:r>
            <a:r>
              <a:rPr sz="900" spc="-25" dirty="0">
                <a:latin typeface="Arial"/>
                <a:cs typeface="Arial"/>
              </a:rPr>
              <a:t> </a:t>
            </a:r>
            <a:r>
              <a:rPr sz="900" spc="-10" dirty="0">
                <a:solidFill>
                  <a:srgbClr val="3333B2"/>
                </a:solidFill>
                <a:latin typeface="Arial"/>
                <a:cs typeface="Arial"/>
              </a:rPr>
              <a:t>colluding</a:t>
            </a:r>
            <a:r>
              <a:rPr sz="900" spc="-20" dirty="0">
                <a:solidFill>
                  <a:srgbClr val="3333B2"/>
                </a:solidFill>
                <a:latin typeface="Arial"/>
                <a:cs typeface="Arial"/>
              </a:rPr>
              <a:t> </a:t>
            </a:r>
            <a:r>
              <a:rPr sz="900" dirty="0">
                <a:solidFill>
                  <a:srgbClr val="3333B2"/>
                </a:solidFill>
                <a:latin typeface="Arial"/>
                <a:cs typeface="Arial"/>
              </a:rPr>
              <a:t>nodes</a:t>
            </a:r>
            <a:r>
              <a:rPr sz="900" spc="-25" dirty="0">
                <a:solidFill>
                  <a:srgbClr val="3333B2"/>
                </a:solidFill>
                <a:latin typeface="Arial"/>
                <a:cs typeface="Arial"/>
              </a:rPr>
              <a:t> </a:t>
            </a:r>
            <a:r>
              <a:rPr sz="900" spc="-10" dirty="0">
                <a:latin typeface="Arial"/>
                <a:cs typeface="Arial"/>
              </a:rPr>
              <a:t>systematically </a:t>
            </a:r>
            <a:r>
              <a:rPr sz="900" dirty="0">
                <a:latin typeface="Arial"/>
                <a:cs typeface="Arial"/>
              </a:rPr>
              <a:t>returns</a:t>
            </a:r>
            <a:r>
              <a:rPr sz="900" spc="-40" dirty="0">
                <a:latin typeface="Arial"/>
                <a:cs typeface="Arial"/>
              </a:rPr>
              <a:t> </a:t>
            </a:r>
            <a:r>
              <a:rPr sz="900" dirty="0">
                <a:latin typeface="Arial"/>
                <a:cs typeface="Arial"/>
              </a:rPr>
              <a:t>links</a:t>
            </a:r>
            <a:r>
              <a:rPr sz="900" spc="-20" dirty="0">
                <a:latin typeface="Arial"/>
                <a:cs typeface="Arial"/>
              </a:rPr>
              <a:t> </a:t>
            </a:r>
            <a:r>
              <a:rPr sz="900" dirty="0">
                <a:latin typeface="Arial"/>
                <a:cs typeface="Arial"/>
              </a:rPr>
              <a:t>only</a:t>
            </a:r>
            <a:r>
              <a:rPr sz="900" spc="-20" dirty="0">
                <a:latin typeface="Arial"/>
                <a:cs typeface="Arial"/>
              </a:rPr>
              <a:t> </a:t>
            </a:r>
            <a:r>
              <a:rPr sz="900" dirty="0">
                <a:latin typeface="Arial"/>
                <a:cs typeface="Arial"/>
              </a:rPr>
              <a:t>to</a:t>
            </a:r>
            <a:r>
              <a:rPr sz="900" spc="-20" dirty="0">
                <a:latin typeface="Arial"/>
                <a:cs typeface="Arial"/>
              </a:rPr>
              <a:t> </a:t>
            </a:r>
            <a:r>
              <a:rPr sz="900" dirty="0">
                <a:latin typeface="Arial"/>
                <a:cs typeface="Arial"/>
              </a:rPr>
              <a:t>each</a:t>
            </a:r>
            <a:r>
              <a:rPr sz="900" spc="-20" dirty="0">
                <a:latin typeface="Arial"/>
                <a:cs typeface="Arial"/>
              </a:rPr>
              <a:t> </a:t>
            </a:r>
            <a:r>
              <a:rPr sz="900" dirty="0">
                <a:latin typeface="Arial"/>
                <a:cs typeface="Arial"/>
              </a:rPr>
              <a:t>other</a:t>
            </a:r>
            <a:r>
              <a:rPr sz="900" spc="-20" dirty="0">
                <a:latin typeface="Arial"/>
                <a:cs typeface="Arial"/>
              </a:rPr>
              <a:t> </a:t>
            </a:r>
            <a:r>
              <a:rPr sz="900" i="1" spc="350" dirty="0">
                <a:latin typeface="Menlo"/>
                <a:cs typeface="Menlo"/>
              </a:rPr>
              <a:t>⇒</a:t>
            </a:r>
            <a:r>
              <a:rPr sz="900" i="1" spc="-295" dirty="0">
                <a:latin typeface="Menlo"/>
                <a:cs typeface="Menlo"/>
              </a:rPr>
              <a:t> </a:t>
            </a:r>
            <a:r>
              <a:rPr sz="900" dirty="0">
                <a:latin typeface="Arial"/>
                <a:cs typeface="Arial"/>
              </a:rPr>
              <a:t>we</a:t>
            </a:r>
            <a:r>
              <a:rPr sz="900" spc="-20" dirty="0">
                <a:latin typeface="Arial"/>
                <a:cs typeface="Arial"/>
              </a:rPr>
              <a:t> </a:t>
            </a:r>
            <a:r>
              <a:rPr sz="900" dirty="0">
                <a:latin typeface="Arial"/>
                <a:cs typeface="Arial"/>
              </a:rPr>
              <a:t>are</a:t>
            </a:r>
            <a:r>
              <a:rPr sz="900" spc="-20" dirty="0">
                <a:latin typeface="Arial"/>
                <a:cs typeface="Arial"/>
              </a:rPr>
              <a:t> </a:t>
            </a:r>
            <a:r>
              <a:rPr sz="900" dirty="0">
                <a:latin typeface="Arial"/>
                <a:cs typeface="Arial"/>
              </a:rPr>
              <a:t>dealing</a:t>
            </a:r>
            <a:r>
              <a:rPr sz="900" spc="-20" dirty="0">
                <a:latin typeface="Arial"/>
                <a:cs typeface="Arial"/>
              </a:rPr>
              <a:t> </a:t>
            </a:r>
            <a:r>
              <a:rPr sz="900" dirty="0">
                <a:latin typeface="Arial"/>
                <a:cs typeface="Arial"/>
              </a:rPr>
              <a:t>with</a:t>
            </a:r>
            <a:r>
              <a:rPr sz="900" spc="-20" dirty="0">
                <a:latin typeface="Arial"/>
                <a:cs typeface="Arial"/>
              </a:rPr>
              <a:t> </a:t>
            </a:r>
            <a:r>
              <a:rPr sz="900" dirty="0">
                <a:solidFill>
                  <a:srgbClr val="C80000"/>
                </a:solidFill>
                <a:latin typeface="Arial"/>
                <a:cs typeface="Arial"/>
              </a:rPr>
              <a:t>hub</a:t>
            </a:r>
            <a:r>
              <a:rPr sz="900" spc="-20" dirty="0">
                <a:solidFill>
                  <a:srgbClr val="C80000"/>
                </a:solidFill>
                <a:latin typeface="Arial"/>
                <a:cs typeface="Arial"/>
              </a:rPr>
              <a:t> </a:t>
            </a:r>
            <a:r>
              <a:rPr sz="900" spc="-10" dirty="0">
                <a:solidFill>
                  <a:srgbClr val="C80000"/>
                </a:solidFill>
                <a:latin typeface="Arial"/>
                <a:cs typeface="Arial"/>
              </a:rPr>
              <a:t>attack</a:t>
            </a:r>
            <a:r>
              <a:rPr sz="900" spc="-10" dirty="0">
                <a:latin typeface="Arial"/>
                <a:cs typeface="Arial"/>
              </a:rPr>
              <a:t>.</a:t>
            </a:r>
            <a:endParaRPr sz="900">
              <a:latin typeface="Arial"/>
              <a:cs typeface="Arial"/>
            </a:endParaRPr>
          </a:p>
        </p:txBody>
      </p:sp>
      <p:pic>
        <p:nvPicPr>
          <p:cNvPr id="5" name="object 5"/>
          <p:cNvPicPr/>
          <p:nvPr/>
        </p:nvPicPr>
        <p:blipFill>
          <a:blip r:embed="rId4" cstate="print"/>
          <a:stretch>
            <a:fillRect/>
          </a:stretch>
        </p:blipFill>
        <p:spPr>
          <a:xfrm>
            <a:off x="1065702" y="1148529"/>
            <a:ext cx="2480508" cy="1175110"/>
          </a:xfrm>
          <a:prstGeom prst="rect">
            <a:avLst/>
          </a:prstGeom>
        </p:spPr>
      </p:pic>
      <p:sp>
        <p:nvSpPr>
          <p:cNvPr id="6" name="object 6"/>
          <p:cNvSpPr txBox="1"/>
          <p:nvPr/>
        </p:nvSpPr>
        <p:spPr>
          <a:xfrm>
            <a:off x="343547" y="2513239"/>
            <a:ext cx="3879215" cy="649605"/>
          </a:xfrm>
          <a:prstGeom prst="rect">
            <a:avLst/>
          </a:prstGeom>
        </p:spPr>
        <p:txBody>
          <a:bodyPr vert="horz" wrap="square" lIns="0" tIns="27305" rIns="0" bIns="0" rtlCol="0">
            <a:spAutoFit/>
          </a:bodyPr>
          <a:lstStyle/>
          <a:p>
            <a:pPr marL="15875">
              <a:lnSpc>
                <a:spcPct val="100000"/>
              </a:lnSpc>
              <a:spcBef>
                <a:spcPts val="215"/>
              </a:spcBef>
            </a:pPr>
            <a:r>
              <a:rPr sz="1000" spc="-10" dirty="0">
                <a:solidFill>
                  <a:srgbClr val="3333B2"/>
                </a:solidFill>
                <a:latin typeface="Arial"/>
                <a:cs typeface="Arial"/>
              </a:rPr>
              <a:t>Situation</a:t>
            </a:r>
            <a:endParaRPr sz="1000">
              <a:latin typeface="Arial"/>
              <a:cs typeface="Arial"/>
            </a:endParaRPr>
          </a:p>
          <a:p>
            <a:pPr marL="12700" marR="5080" indent="-635">
              <a:lnSpc>
                <a:spcPts val="1210"/>
              </a:lnSpc>
              <a:spcBef>
                <a:spcPts val="35"/>
              </a:spcBef>
            </a:pPr>
            <a:r>
              <a:rPr sz="900" dirty="0">
                <a:latin typeface="Arial"/>
                <a:cs typeface="Arial"/>
              </a:rPr>
              <a:t>A</a:t>
            </a:r>
            <a:r>
              <a:rPr sz="900" spc="-30" dirty="0">
                <a:latin typeface="Arial"/>
                <a:cs typeface="Arial"/>
              </a:rPr>
              <a:t> </a:t>
            </a:r>
            <a:r>
              <a:rPr sz="900" dirty="0">
                <a:latin typeface="Arial"/>
                <a:cs typeface="Arial"/>
              </a:rPr>
              <a:t>network</a:t>
            </a:r>
            <a:r>
              <a:rPr sz="900" spc="-20" dirty="0">
                <a:latin typeface="Arial"/>
                <a:cs typeface="Arial"/>
              </a:rPr>
              <a:t> </a:t>
            </a:r>
            <a:r>
              <a:rPr sz="900" dirty="0">
                <a:latin typeface="Arial"/>
                <a:cs typeface="Arial"/>
              </a:rPr>
              <a:t>with</a:t>
            </a:r>
            <a:r>
              <a:rPr sz="900" spc="-25" dirty="0">
                <a:latin typeface="Arial"/>
                <a:cs typeface="Arial"/>
              </a:rPr>
              <a:t> </a:t>
            </a:r>
            <a:r>
              <a:rPr sz="900" dirty="0">
                <a:latin typeface="Arial"/>
                <a:cs typeface="Arial"/>
              </a:rPr>
              <a:t>100,000</a:t>
            </a:r>
            <a:r>
              <a:rPr sz="900" spc="-20" dirty="0">
                <a:latin typeface="Arial"/>
                <a:cs typeface="Arial"/>
              </a:rPr>
              <a:t> </a:t>
            </a:r>
            <a:r>
              <a:rPr sz="900" dirty="0">
                <a:latin typeface="Arial"/>
                <a:cs typeface="Arial"/>
              </a:rPr>
              <a:t>nodes,</a:t>
            </a:r>
            <a:r>
              <a:rPr sz="900" spc="-20" dirty="0">
                <a:latin typeface="Arial"/>
                <a:cs typeface="Arial"/>
              </a:rPr>
              <a:t> </a:t>
            </a:r>
            <a:r>
              <a:rPr sz="900" dirty="0">
                <a:latin typeface="Arial"/>
                <a:cs typeface="Arial"/>
              </a:rPr>
              <a:t>a</a:t>
            </a:r>
            <a:r>
              <a:rPr sz="900" spc="-25" dirty="0">
                <a:latin typeface="Arial"/>
                <a:cs typeface="Arial"/>
              </a:rPr>
              <a:t> </a:t>
            </a:r>
            <a:r>
              <a:rPr sz="900" dirty="0">
                <a:latin typeface="Arial"/>
                <a:cs typeface="Arial"/>
              </a:rPr>
              <a:t>local</a:t>
            </a:r>
            <a:r>
              <a:rPr sz="900" spc="-20" dirty="0">
                <a:latin typeface="Arial"/>
                <a:cs typeface="Arial"/>
              </a:rPr>
              <a:t> </a:t>
            </a:r>
            <a:r>
              <a:rPr sz="900" dirty="0">
                <a:latin typeface="Arial"/>
                <a:cs typeface="Arial"/>
              </a:rPr>
              <a:t>list</a:t>
            </a:r>
            <a:r>
              <a:rPr sz="900" spc="-20" dirty="0">
                <a:latin typeface="Arial"/>
                <a:cs typeface="Arial"/>
              </a:rPr>
              <a:t> </a:t>
            </a:r>
            <a:r>
              <a:rPr sz="900" dirty="0">
                <a:latin typeface="Arial"/>
                <a:cs typeface="Arial"/>
              </a:rPr>
              <a:t>size</a:t>
            </a:r>
            <a:r>
              <a:rPr sz="900" spc="-25" dirty="0">
                <a:latin typeface="Arial"/>
                <a:cs typeface="Arial"/>
              </a:rPr>
              <a:t> </a:t>
            </a:r>
            <a:r>
              <a:rPr sz="900" i="1" dirty="0">
                <a:latin typeface="Arial"/>
                <a:cs typeface="Arial"/>
              </a:rPr>
              <a:t>c</a:t>
            </a:r>
            <a:r>
              <a:rPr sz="900" i="1" spc="-20" dirty="0">
                <a:latin typeface="Arial"/>
                <a:cs typeface="Arial"/>
              </a:rPr>
              <a:t> </a:t>
            </a:r>
            <a:r>
              <a:rPr sz="900" spc="185" dirty="0">
                <a:latin typeface="Arial"/>
                <a:cs typeface="Arial"/>
              </a:rPr>
              <a:t>=</a:t>
            </a:r>
            <a:r>
              <a:rPr sz="900" spc="-65" dirty="0">
                <a:latin typeface="Arial"/>
                <a:cs typeface="Arial"/>
              </a:rPr>
              <a:t> </a:t>
            </a:r>
            <a:r>
              <a:rPr sz="900" dirty="0">
                <a:latin typeface="Arial"/>
                <a:cs typeface="Arial"/>
              </a:rPr>
              <a:t>30,</a:t>
            </a:r>
            <a:r>
              <a:rPr sz="900" spc="-20" dirty="0">
                <a:latin typeface="Arial"/>
                <a:cs typeface="Arial"/>
              </a:rPr>
              <a:t> </a:t>
            </a:r>
            <a:r>
              <a:rPr sz="900" dirty="0">
                <a:latin typeface="Arial"/>
                <a:cs typeface="Arial"/>
              </a:rPr>
              <a:t>and</a:t>
            </a:r>
            <a:r>
              <a:rPr sz="900" spc="-20" dirty="0">
                <a:latin typeface="Arial"/>
                <a:cs typeface="Arial"/>
              </a:rPr>
              <a:t> </a:t>
            </a:r>
            <a:r>
              <a:rPr sz="900" dirty="0">
                <a:latin typeface="Arial"/>
                <a:cs typeface="Arial"/>
              </a:rPr>
              <a:t>only</a:t>
            </a:r>
            <a:r>
              <a:rPr sz="900" spc="-25" dirty="0">
                <a:latin typeface="Arial"/>
                <a:cs typeface="Arial"/>
              </a:rPr>
              <a:t> </a:t>
            </a:r>
            <a:r>
              <a:rPr sz="900" dirty="0">
                <a:latin typeface="Arial"/>
                <a:cs typeface="Arial"/>
              </a:rPr>
              <a:t>30</a:t>
            </a:r>
            <a:r>
              <a:rPr sz="900" spc="-20" dirty="0">
                <a:latin typeface="Arial"/>
                <a:cs typeface="Arial"/>
              </a:rPr>
              <a:t> </a:t>
            </a:r>
            <a:r>
              <a:rPr sz="900" spc="-10" dirty="0">
                <a:latin typeface="Arial"/>
                <a:cs typeface="Arial"/>
              </a:rPr>
              <a:t>attackers. </a:t>
            </a:r>
            <a:r>
              <a:rPr sz="900" dirty="0">
                <a:latin typeface="Arial"/>
                <a:cs typeface="Arial"/>
              </a:rPr>
              <a:t>The</a:t>
            </a:r>
            <a:r>
              <a:rPr sz="900" spc="-30" dirty="0">
                <a:latin typeface="Arial"/>
                <a:cs typeface="Arial"/>
              </a:rPr>
              <a:t> </a:t>
            </a:r>
            <a:r>
              <a:rPr sz="900" spc="-10" dirty="0">
                <a:latin typeface="Arial"/>
                <a:cs typeface="Arial"/>
              </a:rPr>
              <a:t>y-</a:t>
            </a:r>
            <a:r>
              <a:rPr sz="900" dirty="0">
                <a:latin typeface="Arial"/>
                <a:cs typeface="Arial"/>
              </a:rPr>
              <a:t>axis</a:t>
            </a:r>
            <a:r>
              <a:rPr sz="900" spc="-30" dirty="0">
                <a:latin typeface="Arial"/>
                <a:cs typeface="Arial"/>
              </a:rPr>
              <a:t> </a:t>
            </a:r>
            <a:r>
              <a:rPr sz="900" dirty="0">
                <a:latin typeface="Arial"/>
                <a:cs typeface="Arial"/>
              </a:rPr>
              <a:t>shows</a:t>
            </a:r>
            <a:r>
              <a:rPr sz="900" spc="-25" dirty="0">
                <a:latin typeface="Arial"/>
                <a:cs typeface="Arial"/>
              </a:rPr>
              <a:t> </a:t>
            </a:r>
            <a:r>
              <a:rPr sz="900" dirty="0">
                <a:latin typeface="Arial"/>
                <a:cs typeface="Arial"/>
              </a:rPr>
              <a:t>the</a:t>
            </a:r>
            <a:r>
              <a:rPr sz="900" spc="-30" dirty="0">
                <a:latin typeface="Arial"/>
                <a:cs typeface="Arial"/>
              </a:rPr>
              <a:t> </a:t>
            </a:r>
            <a:r>
              <a:rPr sz="900" dirty="0">
                <a:latin typeface="Arial"/>
                <a:cs typeface="Arial"/>
              </a:rPr>
              <a:t>number</a:t>
            </a:r>
            <a:r>
              <a:rPr sz="900" spc="-30" dirty="0">
                <a:latin typeface="Arial"/>
                <a:cs typeface="Arial"/>
              </a:rPr>
              <a:t> </a:t>
            </a:r>
            <a:r>
              <a:rPr sz="900" dirty="0">
                <a:latin typeface="Arial"/>
                <a:cs typeface="Arial"/>
              </a:rPr>
              <a:t>of</a:t>
            </a:r>
            <a:r>
              <a:rPr sz="900" spc="-25" dirty="0">
                <a:latin typeface="Arial"/>
                <a:cs typeface="Arial"/>
              </a:rPr>
              <a:t> </a:t>
            </a:r>
            <a:r>
              <a:rPr sz="900" dirty="0">
                <a:latin typeface="Arial"/>
                <a:cs typeface="Arial"/>
              </a:rPr>
              <a:t>nodes</a:t>
            </a:r>
            <a:r>
              <a:rPr sz="900" spc="-30" dirty="0">
                <a:latin typeface="Arial"/>
                <a:cs typeface="Arial"/>
              </a:rPr>
              <a:t> </a:t>
            </a:r>
            <a:r>
              <a:rPr sz="900" dirty="0">
                <a:latin typeface="Arial"/>
                <a:cs typeface="Arial"/>
              </a:rPr>
              <a:t>with</a:t>
            </a:r>
            <a:r>
              <a:rPr sz="900" spc="-30" dirty="0">
                <a:latin typeface="Arial"/>
                <a:cs typeface="Arial"/>
              </a:rPr>
              <a:t> </a:t>
            </a:r>
            <a:r>
              <a:rPr sz="900" dirty="0">
                <a:latin typeface="Arial"/>
                <a:cs typeface="Arial"/>
              </a:rPr>
              <a:t>links</a:t>
            </a:r>
            <a:r>
              <a:rPr sz="900" spc="-30" dirty="0">
                <a:latin typeface="Arial"/>
                <a:cs typeface="Arial"/>
              </a:rPr>
              <a:t> </a:t>
            </a:r>
            <a:r>
              <a:rPr sz="900" dirty="0">
                <a:solidFill>
                  <a:srgbClr val="3333B2"/>
                </a:solidFill>
                <a:latin typeface="Arial"/>
                <a:cs typeface="Arial"/>
              </a:rPr>
              <a:t>only</a:t>
            </a:r>
            <a:r>
              <a:rPr sz="900" spc="-25" dirty="0">
                <a:solidFill>
                  <a:srgbClr val="3333B2"/>
                </a:solidFill>
                <a:latin typeface="Arial"/>
                <a:cs typeface="Arial"/>
              </a:rPr>
              <a:t> </a:t>
            </a:r>
            <a:r>
              <a:rPr sz="900" dirty="0">
                <a:latin typeface="Arial"/>
                <a:cs typeface="Arial"/>
              </a:rPr>
              <a:t>to</a:t>
            </a:r>
            <a:r>
              <a:rPr sz="900" spc="-30" dirty="0">
                <a:latin typeface="Arial"/>
                <a:cs typeface="Arial"/>
              </a:rPr>
              <a:t> </a:t>
            </a:r>
            <a:r>
              <a:rPr sz="900" dirty="0">
                <a:latin typeface="Arial"/>
                <a:cs typeface="Arial"/>
              </a:rPr>
              <a:t>the</a:t>
            </a:r>
            <a:r>
              <a:rPr sz="900" spc="-30" dirty="0">
                <a:latin typeface="Arial"/>
                <a:cs typeface="Arial"/>
              </a:rPr>
              <a:t> </a:t>
            </a:r>
            <a:r>
              <a:rPr sz="900" dirty="0">
                <a:latin typeface="Arial"/>
                <a:cs typeface="Arial"/>
              </a:rPr>
              <a:t>attackers.</a:t>
            </a:r>
            <a:r>
              <a:rPr sz="900" spc="30" dirty="0">
                <a:latin typeface="Arial"/>
                <a:cs typeface="Arial"/>
              </a:rPr>
              <a:t> </a:t>
            </a:r>
            <a:r>
              <a:rPr sz="900" spc="-10" dirty="0">
                <a:latin typeface="Arial"/>
                <a:cs typeface="Arial"/>
              </a:rPr>
              <a:t>After </a:t>
            </a:r>
            <a:r>
              <a:rPr sz="900" dirty="0">
                <a:latin typeface="Arial"/>
                <a:cs typeface="Arial"/>
              </a:rPr>
              <a:t>less</a:t>
            </a:r>
            <a:r>
              <a:rPr sz="900" spc="-25" dirty="0">
                <a:latin typeface="Arial"/>
                <a:cs typeface="Arial"/>
              </a:rPr>
              <a:t> </a:t>
            </a:r>
            <a:r>
              <a:rPr sz="900" dirty="0">
                <a:latin typeface="Arial"/>
                <a:cs typeface="Arial"/>
              </a:rPr>
              <a:t>than</a:t>
            </a:r>
            <a:r>
              <a:rPr sz="900" spc="-20" dirty="0">
                <a:latin typeface="Arial"/>
                <a:cs typeface="Arial"/>
              </a:rPr>
              <a:t> </a:t>
            </a:r>
            <a:r>
              <a:rPr sz="900" dirty="0">
                <a:latin typeface="Arial"/>
                <a:cs typeface="Arial"/>
              </a:rPr>
              <a:t>300</a:t>
            </a:r>
            <a:r>
              <a:rPr sz="900" spc="-20" dirty="0">
                <a:latin typeface="Arial"/>
                <a:cs typeface="Arial"/>
              </a:rPr>
              <a:t> </a:t>
            </a:r>
            <a:r>
              <a:rPr sz="900" dirty="0">
                <a:latin typeface="Arial"/>
                <a:cs typeface="Arial"/>
              </a:rPr>
              <a:t>rounds,</a:t>
            </a:r>
            <a:r>
              <a:rPr sz="900" spc="-20" dirty="0">
                <a:latin typeface="Arial"/>
                <a:cs typeface="Arial"/>
              </a:rPr>
              <a:t> </a:t>
            </a:r>
            <a:r>
              <a:rPr sz="900" dirty="0">
                <a:latin typeface="Arial"/>
                <a:cs typeface="Arial"/>
              </a:rPr>
              <a:t>the</a:t>
            </a:r>
            <a:r>
              <a:rPr sz="900" spc="-25" dirty="0">
                <a:latin typeface="Arial"/>
                <a:cs typeface="Arial"/>
              </a:rPr>
              <a:t> </a:t>
            </a:r>
            <a:r>
              <a:rPr sz="900" spc="-10" dirty="0">
                <a:latin typeface="Arial"/>
                <a:cs typeface="Arial"/>
              </a:rPr>
              <a:t>attackers</a:t>
            </a:r>
            <a:r>
              <a:rPr sz="900" spc="-20" dirty="0">
                <a:latin typeface="Arial"/>
                <a:cs typeface="Arial"/>
              </a:rPr>
              <a:t> </a:t>
            </a:r>
            <a:r>
              <a:rPr sz="900" spc="-10" dirty="0">
                <a:latin typeface="Arial"/>
                <a:cs typeface="Arial"/>
              </a:rPr>
              <a:t>have</a:t>
            </a:r>
            <a:r>
              <a:rPr sz="900" spc="-20" dirty="0">
                <a:latin typeface="Arial"/>
                <a:cs typeface="Arial"/>
              </a:rPr>
              <a:t> </a:t>
            </a:r>
            <a:r>
              <a:rPr sz="900" dirty="0">
                <a:latin typeface="Arial"/>
                <a:cs typeface="Arial"/>
              </a:rPr>
              <a:t>full</a:t>
            </a:r>
            <a:r>
              <a:rPr sz="900" spc="-20" dirty="0">
                <a:latin typeface="Arial"/>
                <a:cs typeface="Arial"/>
              </a:rPr>
              <a:t> </a:t>
            </a:r>
            <a:r>
              <a:rPr sz="900" spc="-10" dirty="0">
                <a:latin typeface="Arial"/>
                <a:cs typeface="Arial"/>
              </a:rPr>
              <a:t>control.</a:t>
            </a:r>
            <a:endParaRPr sz="900">
              <a:latin typeface="Arial"/>
              <a:cs typeface="Arial"/>
            </a:endParaRPr>
          </a:p>
        </p:txBody>
      </p:sp>
      <p:grpSp>
        <p:nvGrpSpPr>
          <p:cNvPr id="7" name="object 7"/>
          <p:cNvGrpSpPr/>
          <p:nvPr/>
        </p:nvGrpSpPr>
        <p:grpSpPr>
          <a:xfrm>
            <a:off x="0" y="3348469"/>
            <a:ext cx="4608195" cy="107950"/>
            <a:chOff x="0" y="3348469"/>
            <a:chExt cx="4608195" cy="107950"/>
          </a:xfrm>
        </p:grpSpPr>
        <p:sp>
          <p:nvSpPr>
            <p:cNvPr id="8" name="object 8"/>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9" name="object 9"/>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0" name="object 10"/>
          <p:cNvSpPr txBox="1"/>
          <p:nvPr/>
        </p:nvSpPr>
        <p:spPr>
          <a:xfrm>
            <a:off x="53467" y="3349927"/>
            <a:ext cx="51117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5" action="ppaction://hlinksldjump"/>
              </a:rPr>
              <a:t>Secure</a:t>
            </a:r>
            <a:r>
              <a:rPr sz="500" spc="-25" dirty="0">
                <a:latin typeface="Arial"/>
                <a:cs typeface="Arial"/>
                <a:hlinkClick r:id="rId5" action="ppaction://hlinksldjump"/>
              </a:rPr>
              <a:t> </a:t>
            </a:r>
            <a:r>
              <a:rPr sz="500" spc="-10" dirty="0">
                <a:latin typeface="Arial"/>
                <a:cs typeface="Arial"/>
                <a:hlinkClick r:id="rId5" action="ppaction://hlinksldjump"/>
              </a:rPr>
              <a:t>gossiping</a:t>
            </a:r>
            <a:endParaRPr sz="500">
              <a:latin typeface="Arial"/>
              <a:cs typeface="Arial"/>
            </a:endParaRPr>
          </a:p>
        </p:txBody>
      </p:sp>
    </p:spTree>
  </p:cSld>
  <p:clrMapOvr>
    <a:masterClrMapping/>
  </p:clrMapOvr>
  <p:transition>
    <p:fade/>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735704" algn="l"/>
              </a:tabLst>
            </a:pPr>
            <a:r>
              <a:rPr sz="500" spc="-10" dirty="0">
                <a:latin typeface="Arial"/>
                <a:cs typeface="Arial"/>
                <a:hlinkClick r:id="rId2" action="ppaction://hlinksldjump"/>
              </a:rPr>
              <a:t>Coordination</a:t>
            </a:r>
            <a:r>
              <a:rPr sz="500" dirty="0">
                <a:latin typeface="Arial"/>
                <a:cs typeface="Arial"/>
              </a:rPr>
              <a:t>	</a:t>
            </a:r>
            <a:r>
              <a:rPr sz="500" spc="-10" dirty="0">
                <a:solidFill>
                  <a:srgbClr val="FFFFFF"/>
                </a:solidFill>
                <a:latin typeface="Arial"/>
                <a:cs typeface="Arial"/>
                <a:hlinkClick r:id="rId3" action="ppaction://hlinksldjump"/>
              </a:rPr>
              <a:t>Gossip-</a:t>
            </a:r>
            <a:r>
              <a:rPr sz="500" dirty="0">
                <a:solidFill>
                  <a:srgbClr val="FFFFFF"/>
                </a:solidFill>
                <a:latin typeface="Arial"/>
                <a:cs typeface="Arial"/>
                <a:hlinkClick r:id="rId3" action="ppaction://hlinksldjump"/>
              </a:rPr>
              <a:t>based</a:t>
            </a:r>
            <a:r>
              <a:rPr sz="500" spc="30"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coordination</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A</a:t>
            </a:r>
            <a:r>
              <a:rPr spc="-35" dirty="0"/>
              <a:t> </a:t>
            </a:r>
            <a:r>
              <a:rPr dirty="0"/>
              <a:t>solution:</a:t>
            </a:r>
            <a:r>
              <a:rPr spc="40" dirty="0"/>
              <a:t> </a:t>
            </a:r>
            <a:r>
              <a:rPr dirty="0"/>
              <a:t>gathering</a:t>
            </a:r>
            <a:r>
              <a:rPr spc="-30" dirty="0"/>
              <a:t> </a:t>
            </a:r>
            <a:r>
              <a:rPr spc="-10" dirty="0"/>
              <a:t>statistics</a:t>
            </a:r>
          </a:p>
        </p:txBody>
      </p:sp>
      <p:sp>
        <p:nvSpPr>
          <p:cNvPr id="4" name="object 4"/>
          <p:cNvSpPr txBox="1"/>
          <p:nvPr/>
        </p:nvSpPr>
        <p:spPr>
          <a:xfrm>
            <a:off x="343547" y="451505"/>
            <a:ext cx="3917315" cy="301625"/>
          </a:xfrm>
          <a:prstGeom prst="rect">
            <a:avLst/>
          </a:prstGeom>
        </p:spPr>
        <p:txBody>
          <a:bodyPr vert="horz" wrap="square" lIns="0" tIns="10160" rIns="0" bIns="0" rtlCol="0">
            <a:spAutoFit/>
          </a:bodyPr>
          <a:lstStyle/>
          <a:p>
            <a:pPr marL="12700" marR="5080">
              <a:lnSpc>
                <a:spcPct val="101499"/>
              </a:lnSpc>
              <a:spcBef>
                <a:spcPts val="80"/>
              </a:spcBef>
            </a:pPr>
            <a:r>
              <a:rPr sz="900" dirty="0">
                <a:latin typeface="Arial"/>
                <a:cs typeface="Arial"/>
              </a:rPr>
              <a:t>This</a:t>
            </a:r>
            <a:r>
              <a:rPr sz="900" spc="-20" dirty="0">
                <a:latin typeface="Arial"/>
                <a:cs typeface="Arial"/>
              </a:rPr>
              <a:t> </a:t>
            </a:r>
            <a:r>
              <a:rPr sz="900" dirty="0">
                <a:latin typeface="Arial"/>
                <a:cs typeface="Arial"/>
              </a:rPr>
              <a:t>is</a:t>
            </a:r>
            <a:r>
              <a:rPr sz="900" spc="-20" dirty="0">
                <a:latin typeface="Arial"/>
                <a:cs typeface="Arial"/>
              </a:rPr>
              <a:t> </a:t>
            </a:r>
            <a:r>
              <a:rPr sz="900" dirty="0">
                <a:latin typeface="Arial"/>
                <a:cs typeface="Arial"/>
              </a:rPr>
              <a:t>what</a:t>
            </a:r>
            <a:r>
              <a:rPr sz="900" spc="-15" dirty="0">
                <a:latin typeface="Arial"/>
                <a:cs typeface="Arial"/>
              </a:rPr>
              <a:t> </a:t>
            </a:r>
            <a:r>
              <a:rPr sz="900" dirty="0">
                <a:latin typeface="Arial"/>
                <a:cs typeface="Arial"/>
              </a:rPr>
              <a:t>measuring</a:t>
            </a:r>
            <a:r>
              <a:rPr sz="900" spc="-20" dirty="0">
                <a:latin typeface="Arial"/>
                <a:cs typeface="Arial"/>
              </a:rPr>
              <a:t> </a:t>
            </a:r>
            <a:r>
              <a:rPr sz="900" dirty="0">
                <a:latin typeface="Arial"/>
                <a:cs typeface="Arial"/>
              </a:rPr>
              <a:t>indegree</a:t>
            </a:r>
            <a:r>
              <a:rPr sz="900" spc="-15" dirty="0">
                <a:latin typeface="Arial"/>
                <a:cs typeface="Arial"/>
              </a:rPr>
              <a:t> </a:t>
            </a:r>
            <a:r>
              <a:rPr sz="900" spc="-10" dirty="0">
                <a:latin typeface="Arial"/>
                <a:cs typeface="Arial"/>
              </a:rPr>
              <a:t>distributions</a:t>
            </a:r>
            <a:r>
              <a:rPr sz="900" spc="-20" dirty="0">
                <a:latin typeface="Arial"/>
                <a:cs typeface="Arial"/>
              </a:rPr>
              <a:t> </a:t>
            </a:r>
            <a:r>
              <a:rPr sz="900" dirty="0">
                <a:latin typeface="Arial"/>
                <a:cs typeface="Arial"/>
              </a:rPr>
              <a:t>tells</a:t>
            </a:r>
            <a:r>
              <a:rPr sz="900" spc="-20" dirty="0">
                <a:latin typeface="Arial"/>
                <a:cs typeface="Arial"/>
              </a:rPr>
              <a:t> </a:t>
            </a:r>
            <a:r>
              <a:rPr sz="900" dirty="0">
                <a:latin typeface="Arial"/>
                <a:cs typeface="Arial"/>
              </a:rPr>
              <a:t>us:</a:t>
            </a:r>
            <a:r>
              <a:rPr sz="900" spc="40" dirty="0">
                <a:latin typeface="Arial"/>
                <a:cs typeface="Arial"/>
              </a:rPr>
              <a:t> </a:t>
            </a:r>
            <a:r>
              <a:rPr sz="900" dirty="0">
                <a:latin typeface="Arial"/>
                <a:cs typeface="Arial"/>
              </a:rPr>
              <a:t>which</a:t>
            </a:r>
            <a:r>
              <a:rPr sz="900" spc="-15" dirty="0">
                <a:latin typeface="Arial"/>
                <a:cs typeface="Arial"/>
              </a:rPr>
              <a:t> </a:t>
            </a:r>
            <a:r>
              <a:rPr sz="900" dirty="0">
                <a:latin typeface="Arial"/>
                <a:cs typeface="Arial"/>
              </a:rPr>
              <a:t>fraction</a:t>
            </a:r>
            <a:r>
              <a:rPr sz="900" spc="-20" dirty="0">
                <a:latin typeface="Arial"/>
                <a:cs typeface="Arial"/>
              </a:rPr>
              <a:t> </a:t>
            </a:r>
            <a:r>
              <a:rPr sz="900" dirty="0">
                <a:latin typeface="Arial"/>
                <a:cs typeface="Arial"/>
              </a:rPr>
              <a:t>of</a:t>
            </a:r>
            <a:r>
              <a:rPr sz="900" spc="-20" dirty="0">
                <a:latin typeface="Arial"/>
                <a:cs typeface="Arial"/>
              </a:rPr>
              <a:t> </a:t>
            </a:r>
            <a:r>
              <a:rPr sz="900" spc="-10" dirty="0">
                <a:latin typeface="Arial"/>
                <a:cs typeface="Arial"/>
              </a:rPr>
              <a:t>nodes (y-</a:t>
            </a:r>
            <a:r>
              <a:rPr sz="900" dirty="0">
                <a:latin typeface="Arial"/>
                <a:cs typeface="Arial"/>
              </a:rPr>
              <a:t>axis)</a:t>
            </a:r>
            <a:r>
              <a:rPr sz="900" spc="-25" dirty="0">
                <a:latin typeface="Arial"/>
                <a:cs typeface="Arial"/>
              </a:rPr>
              <a:t> </a:t>
            </a:r>
            <a:r>
              <a:rPr sz="900" spc="-10" dirty="0">
                <a:latin typeface="Arial"/>
                <a:cs typeface="Arial"/>
              </a:rPr>
              <a:t>have</a:t>
            </a:r>
            <a:r>
              <a:rPr sz="900" spc="-25" dirty="0">
                <a:latin typeface="Arial"/>
                <a:cs typeface="Arial"/>
              </a:rPr>
              <a:t> </a:t>
            </a:r>
            <a:r>
              <a:rPr sz="900" dirty="0">
                <a:latin typeface="Arial"/>
                <a:cs typeface="Arial"/>
              </a:rPr>
              <a:t>how</a:t>
            </a:r>
            <a:r>
              <a:rPr sz="900" spc="-25" dirty="0">
                <a:latin typeface="Arial"/>
                <a:cs typeface="Arial"/>
              </a:rPr>
              <a:t> </a:t>
            </a:r>
            <a:r>
              <a:rPr sz="900" dirty="0">
                <a:latin typeface="Arial"/>
                <a:cs typeface="Arial"/>
              </a:rPr>
              <a:t>many</a:t>
            </a:r>
            <a:r>
              <a:rPr sz="900" spc="-25" dirty="0">
                <a:latin typeface="Arial"/>
                <a:cs typeface="Arial"/>
              </a:rPr>
              <a:t> </a:t>
            </a:r>
            <a:r>
              <a:rPr sz="900" dirty="0">
                <a:latin typeface="Arial"/>
                <a:cs typeface="Arial"/>
              </a:rPr>
              <a:t>other</a:t>
            </a:r>
            <a:r>
              <a:rPr sz="900" spc="-25" dirty="0">
                <a:latin typeface="Arial"/>
                <a:cs typeface="Arial"/>
              </a:rPr>
              <a:t> </a:t>
            </a:r>
            <a:r>
              <a:rPr sz="900" dirty="0">
                <a:latin typeface="Arial"/>
                <a:cs typeface="Arial"/>
              </a:rPr>
              <a:t>nodes</a:t>
            </a:r>
            <a:r>
              <a:rPr sz="900" spc="-25" dirty="0">
                <a:latin typeface="Arial"/>
                <a:cs typeface="Arial"/>
              </a:rPr>
              <a:t> </a:t>
            </a:r>
            <a:r>
              <a:rPr sz="900" dirty="0">
                <a:latin typeface="Arial"/>
                <a:cs typeface="Arial"/>
              </a:rPr>
              <a:t>pointing</a:t>
            </a:r>
            <a:r>
              <a:rPr sz="900" spc="-25"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them</a:t>
            </a:r>
            <a:r>
              <a:rPr sz="900" spc="-25" dirty="0">
                <a:latin typeface="Arial"/>
                <a:cs typeface="Arial"/>
              </a:rPr>
              <a:t> </a:t>
            </a:r>
            <a:r>
              <a:rPr sz="900" spc="-10" dirty="0">
                <a:latin typeface="Arial"/>
                <a:cs typeface="Arial"/>
              </a:rPr>
              <a:t>(x-axis)?</a:t>
            </a:r>
            <a:endParaRPr sz="900">
              <a:latin typeface="Arial"/>
              <a:cs typeface="Arial"/>
            </a:endParaRPr>
          </a:p>
        </p:txBody>
      </p:sp>
      <p:pic>
        <p:nvPicPr>
          <p:cNvPr id="5" name="object 5"/>
          <p:cNvPicPr/>
          <p:nvPr/>
        </p:nvPicPr>
        <p:blipFill>
          <a:blip r:embed="rId4" cstate="print"/>
          <a:stretch>
            <a:fillRect/>
          </a:stretch>
        </p:blipFill>
        <p:spPr>
          <a:xfrm>
            <a:off x="535241" y="1036116"/>
            <a:ext cx="961034" cy="817473"/>
          </a:xfrm>
          <a:prstGeom prst="rect">
            <a:avLst/>
          </a:prstGeom>
        </p:spPr>
      </p:pic>
      <p:pic>
        <p:nvPicPr>
          <p:cNvPr id="6" name="object 6"/>
          <p:cNvPicPr/>
          <p:nvPr/>
        </p:nvPicPr>
        <p:blipFill>
          <a:blip r:embed="rId5" cstate="print"/>
          <a:stretch>
            <a:fillRect/>
          </a:stretch>
        </p:blipFill>
        <p:spPr>
          <a:xfrm>
            <a:off x="1847621" y="1035202"/>
            <a:ext cx="960119" cy="818388"/>
          </a:xfrm>
          <a:prstGeom prst="rect">
            <a:avLst/>
          </a:prstGeom>
        </p:spPr>
      </p:pic>
      <p:pic>
        <p:nvPicPr>
          <p:cNvPr id="7" name="object 7"/>
          <p:cNvPicPr/>
          <p:nvPr/>
        </p:nvPicPr>
        <p:blipFill>
          <a:blip r:embed="rId6" cstate="print"/>
          <a:stretch>
            <a:fillRect/>
          </a:stretch>
        </p:blipFill>
        <p:spPr>
          <a:xfrm>
            <a:off x="3160001" y="1035202"/>
            <a:ext cx="961034" cy="818388"/>
          </a:xfrm>
          <a:prstGeom prst="rect">
            <a:avLst/>
          </a:prstGeom>
        </p:spPr>
      </p:pic>
      <p:sp>
        <p:nvSpPr>
          <p:cNvPr id="8" name="object 8"/>
          <p:cNvSpPr txBox="1"/>
          <p:nvPr/>
        </p:nvSpPr>
        <p:spPr>
          <a:xfrm>
            <a:off x="341947" y="2004267"/>
            <a:ext cx="3904615" cy="701040"/>
          </a:xfrm>
          <a:prstGeom prst="rect">
            <a:avLst/>
          </a:prstGeom>
        </p:spPr>
        <p:txBody>
          <a:bodyPr vert="horz" wrap="square" lIns="0" tIns="54610" rIns="0" bIns="0" rtlCol="0">
            <a:spAutoFit/>
          </a:bodyPr>
          <a:lstStyle/>
          <a:p>
            <a:pPr marL="17780">
              <a:lnSpc>
                <a:spcPct val="100000"/>
              </a:lnSpc>
              <a:spcBef>
                <a:spcPts val="430"/>
              </a:spcBef>
            </a:pPr>
            <a:r>
              <a:rPr sz="1000" dirty="0">
                <a:solidFill>
                  <a:srgbClr val="3333B2"/>
                </a:solidFill>
                <a:latin typeface="Arial"/>
                <a:cs typeface="Arial"/>
              </a:rPr>
              <a:t>Basic</a:t>
            </a:r>
            <a:r>
              <a:rPr sz="1000" spc="-30" dirty="0">
                <a:solidFill>
                  <a:srgbClr val="3333B2"/>
                </a:solidFill>
                <a:latin typeface="Arial"/>
                <a:cs typeface="Arial"/>
              </a:rPr>
              <a:t> </a:t>
            </a:r>
            <a:r>
              <a:rPr sz="1000" spc="-10" dirty="0">
                <a:solidFill>
                  <a:srgbClr val="3333B2"/>
                </a:solidFill>
                <a:latin typeface="Arial"/>
                <a:cs typeface="Arial"/>
              </a:rPr>
              <a:t>approach</a:t>
            </a:r>
            <a:endParaRPr sz="1000">
              <a:latin typeface="Arial"/>
              <a:cs typeface="Arial"/>
            </a:endParaRPr>
          </a:p>
          <a:p>
            <a:pPr marL="17780" marR="5080" indent="-5715">
              <a:lnSpc>
                <a:spcPct val="111600"/>
              </a:lnSpc>
              <a:spcBef>
                <a:spcPts val="170"/>
              </a:spcBef>
            </a:pPr>
            <a:r>
              <a:rPr sz="900" dirty="0">
                <a:latin typeface="Arial"/>
                <a:cs typeface="Arial"/>
              </a:rPr>
              <a:t>When</a:t>
            </a:r>
            <a:r>
              <a:rPr sz="900" spc="-25" dirty="0">
                <a:latin typeface="Arial"/>
                <a:cs typeface="Arial"/>
              </a:rPr>
              <a:t> </a:t>
            </a:r>
            <a:r>
              <a:rPr sz="900" dirty="0">
                <a:latin typeface="Arial"/>
                <a:cs typeface="Arial"/>
              </a:rPr>
              <a:t>a</a:t>
            </a:r>
            <a:r>
              <a:rPr sz="900" spc="-25" dirty="0">
                <a:latin typeface="Arial"/>
                <a:cs typeface="Arial"/>
              </a:rPr>
              <a:t> </a:t>
            </a:r>
            <a:r>
              <a:rPr sz="900" dirty="0">
                <a:latin typeface="Arial"/>
                <a:cs typeface="Arial"/>
              </a:rPr>
              <a:t>benign</a:t>
            </a:r>
            <a:r>
              <a:rPr sz="900" spc="-20" dirty="0">
                <a:latin typeface="Arial"/>
                <a:cs typeface="Arial"/>
              </a:rPr>
              <a:t> </a:t>
            </a:r>
            <a:r>
              <a:rPr sz="900" dirty="0">
                <a:latin typeface="Arial"/>
                <a:cs typeface="Arial"/>
              </a:rPr>
              <a:t>node</a:t>
            </a:r>
            <a:r>
              <a:rPr sz="900" spc="-25" dirty="0">
                <a:latin typeface="Arial"/>
                <a:cs typeface="Arial"/>
              </a:rPr>
              <a:t> </a:t>
            </a:r>
            <a:r>
              <a:rPr sz="900" dirty="0">
                <a:latin typeface="Arial"/>
                <a:cs typeface="Arial"/>
              </a:rPr>
              <a:t>initiates</a:t>
            </a:r>
            <a:r>
              <a:rPr sz="900" spc="-25" dirty="0">
                <a:latin typeface="Arial"/>
                <a:cs typeface="Arial"/>
              </a:rPr>
              <a:t> </a:t>
            </a:r>
            <a:r>
              <a:rPr sz="900" dirty="0">
                <a:latin typeface="Arial"/>
                <a:cs typeface="Arial"/>
              </a:rPr>
              <a:t>an</a:t>
            </a:r>
            <a:r>
              <a:rPr sz="900" spc="-20" dirty="0">
                <a:latin typeface="Arial"/>
                <a:cs typeface="Arial"/>
              </a:rPr>
              <a:t> </a:t>
            </a:r>
            <a:r>
              <a:rPr sz="900" spc="-10" dirty="0">
                <a:latin typeface="Arial"/>
                <a:cs typeface="Arial"/>
              </a:rPr>
              <a:t>exchange,</a:t>
            </a:r>
            <a:r>
              <a:rPr sz="900" spc="-25" dirty="0">
                <a:latin typeface="Arial"/>
                <a:cs typeface="Arial"/>
              </a:rPr>
              <a:t> </a:t>
            </a:r>
            <a:r>
              <a:rPr sz="900" dirty="0">
                <a:latin typeface="Arial"/>
                <a:cs typeface="Arial"/>
              </a:rPr>
              <a:t>it</a:t>
            </a:r>
            <a:r>
              <a:rPr sz="900" spc="-20" dirty="0">
                <a:latin typeface="Arial"/>
                <a:cs typeface="Arial"/>
              </a:rPr>
              <a:t> </a:t>
            </a:r>
            <a:r>
              <a:rPr sz="900" dirty="0">
                <a:latin typeface="Arial"/>
                <a:cs typeface="Arial"/>
              </a:rPr>
              <a:t>may</a:t>
            </a:r>
            <a:r>
              <a:rPr sz="900" spc="-25" dirty="0">
                <a:latin typeface="Arial"/>
                <a:cs typeface="Arial"/>
              </a:rPr>
              <a:t> </a:t>
            </a:r>
            <a:r>
              <a:rPr sz="900" dirty="0">
                <a:latin typeface="Arial"/>
                <a:cs typeface="Arial"/>
              </a:rPr>
              <a:t>either</a:t>
            </a:r>
            <a:r>
              <a:rPr sz="900" spc="-25" dirty="0">
                <a:latin typeface="Arial"/>
                <a:cs typeface="Arial"/>
              </a:rPr>
              <a:t> </a:t>
            </a:r>
            <a:r>
              <a:rPr sz="900" dirty="0">
                <a:latin typeface="Arial"/>
                <a:cs typeface="Arial"/>
              </a:rPr>
              <a:t>use</a:t>
            </a:r>
            <a:r>
              <a:rPr sz="900" spc="-20" dirty="0">
                <a:latin typeface="Arial"/>
                <a:cs typeface="Arial"/>
              </a:rPr>
              <a:t> </a:t>
            </a:r>
            <a:r>
              <a:rPr sz="900" dirty="0">
                <a:latin typeface="Arial"/>
                <a:cs typeface="Arial"/>
              </a:rPr>
              <a:t>the</a:t>
            </a:r>
            <a:r>
              <a:rPr sz="900" spc="-25" dirty="0">
                <a:latin typeface="Arial"/>
                <a:cs typeface="Arial"/>
              </a:rPr>
              <a:t> </a:t>
            </a:r>
            <a:r>
              <a:rPr sz="900" dirty="0">
                <a:latin typeface="Arial"/>
                <a:cs typeface="Arial"/>
              </a:rPr>
              <a:t>result</a:t>
            </a:r>
            <a:r>
              <a:rPr sz="900" spc="-25" dirty="0">
                <a:latin typeface="Arial"/>
                <a:cs typeface="Arial"/>
              </a:rPr>
              <a:t> for </a:t>
            </a:r>
            <a:r>
              <a:rPr sz="900" dirty="0">
                <a:latin typeface="Arial"/>
                <a:cs typeface="Arial"/>
              </a:rPr>
              <a:t>gathering</a:t>
            </a:r>
            <a:r>
              <a:rPr sz="900" spc="-25" dirty="0">
                <a:latin typeface="Arial"/>
                <a:cs typeface="Arial"/>
              </a:rPr>
              <a:t> </a:t>
            </a:r>
            <a:r>
              <a:rPr sz="900" dirty="0">
                <a:latin typeface="Arial"/>
                <a:cs typeface="Arial"/>
              </a:rPr>
              <a:t>statistics,</a:t>
            </a:r>
            <a:r>
              <a:rPr sz="900" spc="-25" dirty="0">
                <a:latin typeface="Arial"/>
                <a:cs typeface="Arial"/>
              </a:rPr>
              <a:t> </a:t>
            </a:r>
            <a:r>
              <a:rPr sz="900" dirty="0">
                <a:latin typeface="Arial"/>
                <a:cs typeface="Arial"/>
              </a:rPr>
              <a:t>or</a:t>
            </a:r>
            <a:r>
              <a:rPr sz="900" spc="-20" dirty="0">
                <a:latin typeface="Arial"/>
                <a:cs typeface="Arial"/>
              </a:rPr>
              <a:t> </a:t>
            </a:r>
            <a:r>
              <a:rPr sz="900" dirty="0">
                <a:latin typeface="Arial"/>
                <a:cs typeface="Arial"/>
              </a:rPr>
              <a:t>for</a:t>
            </a:r>
            <a:r>
              <a:rPr sz="900" spc="-25" dirty="0">
                <a:latin typeface="Arial"/>
                <a:cs typeface="Arial"/>
              </a:rPr>
              <a:t> </a:t>
            </a:r>
            <a:r>
              <a:rPr sz="900" dirty="0">
                <a:latin typeface="Arial"/>
                <a:cs typeface="Arial"/>
              </a:rPr>
              <a:t>updating</a:t>
            </a:r>
            <a:r>
              <a:rPr sz="900" spc="-20" dirty="0">
                <a:latin typeface="Arial"/>
                <a:cs typeface="Arial"/>
              </a:rPr>
              <a:t> </a:t>
            </a:r>
            <a:r>
              <a:rPr sz="900" dirty="0">
                <a:latin typeface="Arial"/>
                <a:cs typeface="Arial"/>
              </a:rPr>
              <a:t>its</a:t>
            </a:r>
            <a:r>
              <a:rPr sz="900" spc="-25" dirty="0">
                <a:latin typeface="Arial"/>
                <a:cs typeface="Arial"/>
              </a:rPr>
              <a:t> </a:t>
            </a:r>
            <a:r>
              <a:rPr sz="900" dirty="0">
                <a:latin typeface="Arial"/>
                <a:cs typeface="Arial"/>
              </a:rPr>
              <a:t>local</a:t>
            </a:r>
            <a:r>
              <a:rPr sz="900" spc="-20" dirty="0">
                <a:latin typeface="Arial"/>
                <a:cs typeface="Arial"/>
              </a:rPr>
              <a:t> </a:t>
            </a:r>
            <a:r>
              <a:rPr sz="900" dirty="0">
                <a:latin typeface="Arial"/>
                <a:cs typeface="Arial"/>
              </a:rPr>
              <a:t>list.</a:t>
            </a:r>
            <a:r>
              <a:rPr sz="900" spc="30" dirty="0">
                <a:latin typeface="Arial"/>
                <a:cs typeface="Arial"/>
              </a:rPr>
              <a:t> </a:t>
            </a:r>
            <a:r>
              <a:rPr sz="900" dirty="0">
                <a:latin typeface="Arial"/>
                <a:cs typeface="Arial"/>
              </a:rPr>
              <a:t>An</a:t>
            </a:r>
            <a:r>
              <a:rPr sz="900" spc="-20" dirty="0">
                <a:latin typeface="Arial"/>
                <a:cs typeface="Arial"/>
              </a:rPr>
              <a:t> </a:t>
            </a:r>
            <a:r>
              <a:rPr sz="900" spc="-10" dirty="0">
                <a:latin typeface="Arial"/>
                <a:cs typeface="Arial"/>
              </a:rPr>
              <a:t>attacker</a:t>
            </a:r>
            <a:r>
              <a:rPr sz="900" spc="-25" dirty="0">
                <a:latin typeface="Arial"/>
                <a:cs typeface="Arial"/>
              </a:rPr>
              <a:t> </a:t>
            </a:r>
            <a:r>
              <a:rPr sz="900" dirty="0">
                <a:latin typeface="Arial"/>
                <a:cs typeface="Arial"/>
              </a:rPr>
              <a:t>is</a:t>
            </a:r>
            <a:r>
              <a:rPr sz="900" spc="-20" dirty="0">
                <a:latin typeface="Arial"/>
                <a:cs typeface="Arial"/>
              </a:rPr>
              <a:t> </a:t>
            </a:r>
            <a:r>
              <a:rPr sz="900" dirty="0">
                <a:latin typeface="Arial"/>
                <a:cs typeface="Arial"/>
              </a:rPr>
              <a:t>in</a:t>
            </a:r>
            <a:r>
              <a:rPr sz="900" spc="-25" dirty="0">
                <a:latin typeface="Arial"/>
                <a:cs typeface="Arial"/>
              </a:rPr>
              <a:t> </a:t>
            </a:r>
            <a:r>
              <a:rPr sz="900" dirty="0">
                <a:latin typeface="Arial"/>
                <a:cs typeface="Arial"/>
              </a:rPr>
              <a:t>limbo:</a:t>
            </a:r>
            <a:r>
              <a:rPr sz="900" spc="35" dirty="0">
                <a:latin typeface="Arial"/>
                <a:cs typeface="Arial"/>
              </a:rPr>
              <a:t> </a:t>
            </a:r>
            <a:r>
              <a:rPr sz="900" dirty="0">
                <a:latin typeface="Arial"/>
                <a:cs typeface="Arial"/>
              </a:rPr>
              <a:t>will</a:t>
            </a:r>
            <a:r>
              <a:rPr sz="900" spc="-25" dirty="0">
                <a:latin typeface="Arial"/>
                <a:cs typeface="Arial"/>
              </a:rPr>
              <a:t> its </a:t>
            </a:r>
            <a:r>
              <a:rPr sz="900" dirty="0">
                <a:latin typeface="Arial"/>
                <a:cs typeface="Arial"/>
              </a:rPr>
              <a:t>response</a:t>
            </a:r>
            <a:r>
              <a:rPr sz="900" spc="-35" dirty="0">
                <a:latin typeface="Arial"/>
                <a:cs typeface="Arial"/>
              </a:rPr>
              <a:t> </a:t>
            </a:r>
            <a:r>
              <a:rPr sz="900" dirty="0">
                <a:latin typeface="Arial"/>
                <a:cs typeface="Arial"/>
              </a:rPr>
              <a:t>be</a:t>
            </a:r>
            <a:r>
              <a:rPr sz="900" spc="-30" dirty="0">
                <a:latin typeface="Arial"/>
                <a:cs typeface="Arial"/>
              </a:rPr>
              <a:t> </a:t>
            </a:r>
            <a:r>
              <a:rPr sz="900" dirty="0">
                <a:latin typeface="Arial"/>
                <a:cs typeface="Arial"/>
              </a:rPr>
              <a:t>used</a:t>
            </a:r>
            <a:r>
              <a:rPr sz="900" spc="-35" dirty="0">
                <a:latin typeface="Arial"/>
                <a:cs typeface="Arial"/>
              </a:rPr>
              <a:t> </a:t>
            </a:r>
            <a:r>
              <a:rPr sz="900" dirty="0">
                <a:latin typeface="Arial"/>
                <a:cs typeface="Arial"/>
              </a:rPr>
              <a:t>for</a:t>
            </a:r>
            <a:r>
              <a:rPr sz="900" spc="-30" dirty="0">
                <a:latin typeface="Arial"/>
                <a:cs typeface="Arial"/>
              </a:rPr>
              <a:t> </a:t>
            </a:r>
            <a:r>
              <a:rPr sz="900" dirty="0">
                <a:latin typeface="Arial"/>
                <a:cs typeface="Arial"/>
              </a:rPr>
              <a:t>statistical</a:t>
            </a:r>
            <a:r>
              <a:rPr sz="900" spc="-35" dirty="0">
                <a:latin typeface="Arial"/>
                <a:cs typeface="Arial"/>
              </a:rPr>
              <a:t> </a:t>
            </a:r>
            <a:r>
              <a:rPr sz="900" dirty="0">
                <a:latin typeface="Arial"/>
                <a:cs typeface="Arial"/>
              </a:rPr>
              <a:t>purposes</a:t>
            </a:r>
            <a:r>
              <a:rPr sz="900" spc="-30" dirty="0">
                <a:latin typeface="Arial"/>
                <a:cs typeface="Arial"/>
              </a:rPr>
              <a:t> </a:t>
            </a:r>
            <a:r>
              <a:rPr sz="900" dirty="0">
                <a:latin typeface="Arial"/>
                <a:cs typeface="Arial"/>
              </a:rPr>
              <a:t>or</a:t>
            </a:r>
            <a:r>
              <a:rPr sz="900" spc="-30" dirty="0">
                <a:latin typeface="Arial"/>
                <a:cs typeface="Arial"/>
              </a:rPr>
              <a:t> </a:t>
            </a:r>
            <a:r>
              <a:rPr sz="900" dirty="0">
                <a:latin typeface="Arial"/>
                <a:cs typeface="Arial"/>
              </a:rPr>
              <a:t>for</a:t>
            </a:r>
            <a:r>
              <a:rPr sz="900" spc="-35" dirty="0">
                <a:latin typeface="Arial"/>
                <a:cs typeface="Arial"/>
              </a:rPr>
              <a:t> </a:t>
            </a:r>
            <a:r>
              <a:rPr sz="900" dirty="0">
                <a:latin typeface="Arial"/>
                <a:cs typeface="Arial"/>
              </a:rPr>
              <a:t>functional</a:t>
            </a:r>
            <a:r>
              <a:rPr sz="900" spc="-30" dirty="0">
                <a:latin typeface="Arial"/>
                <a:cs typeface="Arial"/>
              </a:rPr>
              <a:t> </a:t>
            </a:r>
            <a:r>
              <a:rPr sz="900" spc="-10" dirty="0">
                <a:latin typeface="Arial"/>
                <a:cs typeface="Arial"/>
              </a:rPr>
              <a:t>purposes?</a:t>
            </a:r>
            <a:endParaRPr sz="900">
              <a:latin typeface="Arial"/>
              <a:cs typeface="Arial"/>
            </a:endParaRPr>
          </a:p>
        </p:txBody>
      </p:sp>
      <p:grpSp>
        <p:nvGrpSpPr>
          <p:cNvPr id="9" name="object 9"/>
          <p:cNvGrpSpPr/>
          <p:nvPr/>
        </p:nvGrpSpPr>
        <p:grpSpPr>
          <a:xfrm>
            <a:off x="0" y="3348469"/>
            <a:ext cx="4608195" cy="107950"/>
            <a:chOff x="0" y="3348469"/>
            <a:chExt cx="4608195" cy="107950"/>
          </a:xfrm>
        </p:grpSpPr>
        <p:sp>
          <p:nvSpPr>
            <p:cNvPr id="10" name="object 10"/>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1" name="object 11"/>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2" name="object 12"/>
          <p:cNvSpPr txBox="1"/>
          <p:nvPr/>
        </p:nvSpPr>
        <p:spPr>
          <a:xfrm>
            <a:off x="53467" y="3349927"/>
            <a:ext cx="51117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7" action="ppaction://hlinksldjump"/>
              </a:rPr>
              <a:t>Secure</a:t>
            </a:r>
            <a:r>
              <a:rPr sz="500" spc="-25" dirty="0">
                <a:latin typeface="Arial"/>
                <a:cs typeface="Arial"/>
                <a:hlinkClick r:id="rId7" action="ppaction://hlinksldjump"/>
              </a:rPr>
              <a:t> </a:t>
            </a:r>
            <a:r>
              <a:rPr sz="500" spc="-10" dirty="0">
                <a:latin typeface="Arial"/>
                <a:cs typeface="Arial"/>
                <a:hlinkClick r:id="rId7" action="ppaction://hlinksldjump"/>
              </a:rPr>
              <a:t>gossiping</a:t>
            </a:r>
            <a:endParaRPr sz="500">
              <a:latin typeface="Arial"/>
              <a:cs typeface="Arial"/>
            </a:endParaRPr>
          </a:p>
        </p:txBody>
      </p:sp>
    </p:spTree>
  </p:cSld>
  <p:clrMapOvr>
    <a:masterClrMapping/>
  </p:clrMapOvr>
  <p:transition>
    <p:fade/>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735704" algn="l"/>
              </a:tabLst>
            </a:pPr>
            <a:r>
              <a:rPr sz="500" spc="-10" dirty="0">
                <a:latin typeface="Arial"/>
                <a:cs typeface="Arial"/>
                <a:hlinkClick r:id="rId2" action="ppaction://hlinksldjump"/>
              </a:rPr>
              <a:t>Coordination</a:t>
            </a:r>
            <a:r>
              <a:rPr sz="500" dirty="0">
                <a:latin typeface="Arial"/>
                <a:cs typeface="Arial"/>
              </a:rPr>
              <a:t>	</a:t>
            </a:r>
            <a:r>
              <a:rPr sz="500" spc="-10" dirty="0">
                <a:solidFill>
                  <a:srgbClr val="FFFFFF"/>
                </a:solidFill>
                <a:latin typeface="Arial"/>
                <a:cs typeface="Arial"/>
                <a:hlinkClick r:id="rId3" action="ppaction://hlinksldjump"/>
              </a:rPr>
              <a:t>Gossip-</a:t>
            </a:r>
            <a:r>
              <a:rPr sz="500" dirty="0">
                <a:solidFill>
                  <a:srgbClr val="FFFFFF"/>
                </a:solidFill>
                <a:latin typeface="Arial"/>
                <a:cs typeface="Arial"/>
                <a:hlinkClick r:id="rId3" action="ppaction://hlinksldjump"/>
              </a:rPr>
              <a:t>based</a:t>
            </a:r>
            <a:r>
              <a:rPr sz="500" spc="30"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coordination</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A</a:t>
            </a:r>
            <a:r>
              <a:rPr spc="-35" dirty="0"/>
              <a:t> </a:t>
            </a:r>
            <a:r>
              <a:rPr dirty="0"/>
              <a:t>solution:</a:t>
            </a:r>
            <a:r>
              <a:rPr spc="40" dirty="0"/>
              <a:t> </a:t>
            </a:r>
            <a:r>
              <a:rPr dirty="0"/>
              <a:t>gathering</a:t>
            </a:r>
            <a:r>
              <a:rPr spc="-30" dirty="0"/>
              <a:t> </a:t>
            </a:r>
            <a:r>
              <a:rPr spc="-10" dirty="0"/>
              <a:t>statistics</a:t>
            </a:r>
          </a:p>
        </p:txBody>
      </p:sp>
      <p:sp>
        <p:nvSpPr>
          <p:cNvPr id="4" name="object 4"/>
          <p:cNvSpPr txBox="1"/>
          <p:nvPr/>
        </p:nvSpPr>
        <p:spPr>
          <a:xfrm>
            <a:off x="343547" y="451505"/>
            <a:ext cx="3917315" cy="301625"/>
          </a:xfrm>
          <a:prstGeom prst="rect">
            <a:avLst/>
          </a:prstGeom>
        </p:spPr>
        <p:txBody>
          <a:bodyPr vert="horz" wrap="square" lIns="0" tIns="10160" rIns="0" bIns="0" rtlCol="0">
            <a:spAutoFit/>
          </a:bodyPr>
          <a:lstStyle/>
          <a:p>
            <a:pPr marL="12700" marR="5080">
              <a:lnSpc>
                <a:spcPct val="101499"/>
              </a:lnSpc>
              <a:spcBef>
                <a:spcPts val="80"/>
              </a:spcBef>
            </a:pPr>
            <a:r>
              <a:rPr sz="900" dirty="0">
                <a:latin typeface="Arial"/>
                <a:cs typeface="Arial"/>
              </a:rPr>
              <a:t>This</a:t>
            </a:r>
            <a:r>
              <a:rPr sz="900" spc="-20" dirty="0">
                <a:latin typeface="Arial"/>
                <a:cs typeface="Arial"/>
              </a:rPr>
              <a:t> </a:t>
            </a:r>
            <a:r>
              <a:rPr sz="900" dirty="0">
                <a:latin typeface="Arial"/>
                <a:cs typeface="Arial"/>
              </a:rPr>
              <a:t>is</a:t>
            </a:r>
            <a:r>
              <a:rPr sz="900" spc="-20" dirty="0">
                <a:latin typeface="Arial"/>
                <a:cs typeface="Arial"/>
              </a:rPr>
              <a:t> </a:t>
            </a:r>
            <a:r>
              <a:rPr sz="900" dirty="0">
                <a:latin typeface="Arial"/>
                <a:cs typeface="Arial"/>
              </a:rPr>
              <a:t>what</a:t>
            </a:r>
            <a:r>
              <a:rPr sz="900" spc="-15" dirty="0">
                <a:latin typeface="Arial"/>
                <a:cs typeface="Arial"/>
              </a:rPr>
              <a:t> </a:t>
            </a:r>
            <a:r>
              <a:rPr sz="900" dirty="0">
                <a:latin typeface="Arial"/>
                <a:cs typeface="Arial"/>
              </a:rPr>
              <a:t>measuring</a:t>
            </a:r>
            <a:r>
              <a:rPr sz="900" spc="-20" dirty="0">
                <a:latin typeface="Arial"/>
                <a:cs typeface="Arial"/>
              </a:rPr>
              <a:t> </a:t>
            </a:r>
            <a:r>
              <a:rPr sz="900" dirty="0">
                <a:latin typeface="Arial"/>
                <a:cs typeface="Arial"/>
              </a:rPr>
              <a:t>indegree</a:t>
            </a:r>
            <a:r>
              <a:rPr sz="900" spc="-15" dirty="0">
                <a:latin typeface="Arial"/>
                <a:cs typeface="Arial"/>
              </a:rPr>
              <a:t> </a:t>
            </a:r>
            <a:r>
              <a:rPr sz="900" spc="-10" dirty="0">
                <a:latin typeface="Arial"/>
                <a:cs typeface="Arial"/>
              </a:rPr>
              <a:t>distributions</a:t>
            </a:r>
            <a:r>
              <a:rPr sz="900" spc="-20" dirty="0">
                <a:latin typeface="Arial"/>
                <a:cs typeface="Arial"/>
              </a:rPr>
              <a:t> </a:t>
            </a:r>
            <a:r>
              <a:rPr sz="900" dirty="0">
                <a:latin typeface="Arial"/>
                <a:cs typeface="Arial"/>
              </a:rPr>
              <a:t>tells</a:t>
            </a:r>
            <a:r>
              <a:rPr sz="900" spc="-20" dirty="0">
                <a:latin typeface="Arial"/>
                <a:cs typeface="Arial"/>
              </a:rPr>
              <a:t> </a:t>
            </a:r>
            <a:r>
              <a:rPr sz="900" dirty="0">
                <a:latin typeface="Arial"/>
                <a:cs typeface="Arial"/>
              </a:rPr>
              <a:t>us:</a:t>
            </a:r>
            <a:r>
              <a:rPr sz="900" spc="40" dirty="0">
                <a:latin typeface="Arial"/>
                <a:cs typeface="Arial"/>
              </a:rPr>
              <a:t> </a:t>
            </a:r>
            <a:r>
              <a:rPr sz="900" dirty="0">
                <a:latin typeface="Arial"/>
                <a:cs typeface="Arial"/>
              </a:rPr>
              <a:t>which</a:t>
            </a:r>
            <a:r>
              <a:rPr sz="900" spc="-15" dirty="0">
                <a:latin typeface="Arial"/>
                <a:cs typeface="Arial"/>
              </a:rPr>
              <a:t> </a:t>
            </a:r>
            <a:r>
              <a:rPr sz="900" dirty="0">
                <a:latin typeface="Arial"/>
                <a:cs typeface="Arial"/>
              </a:rPr>
              <a:t>fraction</a:t>
            </a:r>
            <a:r>
              <a:rPr sz="900" spc="-20" dirty="0">
                <a:latin typeface="Arial"/>
                <a:cs typeface="Arial"/>
              </a:rPr>
              <a:t> </a:t>
            </a:r>
            <a:r>
              <a:rPr sz="900" dirty="0">
                <a:latin typeface="Arial"/>
                <a:cs typeface="Arial"/>
              </a:rPr>
              <a:t>of</a:t>
            </a:r>
            <a:r>
              <a:rPr sz="900" spc="-20" dirty="0">
                <a:latin typeface="Arial"/>
                <a:cs typeface="Arial"/>
              </a:rPr>
              <a:t> </a:t>
            </a:r>
            <a:r>
              <a:rPr sz="900" spc="-10" dirty="0">
                <a:latin typeface="Arial"/>
                <a:cs typeface="Arial"/>
              </a:rPr>
              <a:t>nodes (y-</a:t>
            </a:r>
            <a:r>
              <a:rPr sz="900" dirty="0">
                <a:latin typeface="Arial"/>
                <a:cs typeface="Arial"/>
              </a:rPr>
              <a:t>axis)</a:t>
            </a:r>
            <a:r>
              <a:rPr sz="900" spc="-25" dirty="0">
                <a:latin typeface="Arial"/>
                <a:cs typeface="Arial"/>
              </a:rPr>
              <a:t> </a:t>
            </a:r>
            <a:r>
              <a:rPr sz="900" spc="-10" dirty="0">
                <a:latin typeface="Arial"/>
                <a:cs typeface="Arial"/>
              </a:rPr>
              <a:t>have</a:t>
            </a:r>
            <a:r>
              <a:rPr sz="900" spc="-25" dirty="0">
                <a:latin typeface="Arial"/>
                <a:cs typeface="Arial"/>
              </a:rPr>
              <a:t> </a:t>
            </a:r>
            <a:r>
              <a:rPr sz="900" dirty="0">
                <a:latin typeface="Arial"/>
                <a:cs typeface="Arial"/>
              </a:rPr>
              <a:t>how</a:t>
            </a:r>
            <a:r>
              <a:rPr sz="900" spc="-25" dirty="0">
                <a:latin typeface="Arial"/>
                <a:cs typeface="Arial"/>
              </a:rPr>
              <a:t> </a:t>
            </a:r>
            <a:r>
              <a:rPr sz="900" dirty="0">
                <a:latin typeface="Arial"/>
                <a:cs typeface="Arial"/>
              </a:rPr>
              <a:t>many</a:t>
            </a:r>
            <a:r>
              <a:rPr sz="900" spc="-25" dirty="0">
                <a:latin typeface="Arial"/>
                <a:cs typeface="Arial"/>
              </a:rPr>
              <a:t> </a:t>
            </a:r>
            <a:r>
              <a:rPr sz="900" dirty="0">
                <a:latin typeface="Arial"/>
                <a:cs typeface="Arial"/>
              </a:rPr>
              <a:t>other</a:t>
            </a:r>
            <a:r>
              <a:rPr sz="900" spc="-25" dirty="0">
                <a:latin typeface="Arial"/>
                <a:cs typeface="Arial"/>
              </a:rPr>
              <a:t> </a:t>
            </a:r>
            <a:r>
              <a:rPr sz="900" dirty="0">
                <a:latin typeface="Arial"/>
                <a:cs typeface="Arial"/>
              </a:rPr>
              <a:t>nodes</a:t>
            </a:r>
            <a:r>
              <a:rPr sz="900" spc="-25" dirty="0">
                <a:latin typeface="Arial"/>
                <a:cs typeface="Arial"/>
              </a:rPr>
              <a:t> </a:t>
            </a:r>
            <a:r>
              <a:rPr sz="900" dirty="0">
                <a:latin typeface="Arial"/>
                <a:cs typeface="Arial"/>
              </a:rPr>
              <a:t>pointing</a:t>
            </a:r>
            <a:r>
              <a:rPr sz="900" spc="-25"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them</a:t>
            </a:r>
            <a:r>
              <a:rPr sz="900" spc="-25" dirty="0">
                <a:latin typeface="Arial"/>
                <a:cs typeface="Arial"/>
              </a:rPr>
              <a:t> </a:t>
            </a:r>
            <a:r>
              <a:rPr sz="900" spc="-10" dirty="0">
                <a:latin typeface="Arial"/>
                <a:cs typeface="Arial"/>
              </a:rPr>
              <a:t>(x-axis)?</a:t>
            </a:r>
            <a:endParaRPr sz="900">
              <a:latin typeface="Arial"/>
              <a:cs typeface="Arial"/>
            </a:endParaRPr>
          </a:p>
        </p:txBody>
      </p:sp>
      <p:pic>
        <p:nvPicPr>
          <p:cNvPr id="5" name="object 5"/>
          <p:cNvPicPr/>
          <p:nvPr/>
        </p:nvPicPr>
        <p:blipFill>
          <a:blip r:embed="rId4" cstate="print"/>
          <a:stretch>
            <a:fillRect/>
          </a:stretch>
        </p:blipFill>
        <p:spPr>
          <a:xfrm>
            <a:off x="535241" y="1036116"/>
            <a:ext cx="961034" cy="817473"/>
          </a:xfrm>
          <a:prstGeom prst="rect">
            <a:avLst/>
          </a:prstGeom>
        </p:spPr>
      </p:pic>
      <p:pic>
        <p:nvPicPr>
          <p:cNvPr id="6" name="object 6"/>
          <p:cNvPicPr/>
          <p:nvPr/>
        </p:nvPicPr>
        <p:blipFill>
          <a:blip r:embed="rId5" cstate="print"/>
          <a:stretch>
            <a:fillRect/>
          </a:stretch>
        </p:blipFill>
        <p:spPr>
          <a:xfrm>
            <a:off x="1847621" y="1035202"/>
            <a:ext cx="960119" cy="818388"/>
          </a:xfrm>
          <a:prstGeom prst="rect">
            <a:avLst/>
          </a:prstGeom>
        </p:spPr>
      </p:pic>
      <p:pic>
        <p:nvPicPr>
          <p:cNvPr id="7" name="object 7"/>
          <p:cNvPicPr/>
          <p:nvPr/>
        </p:nvPicPr>
        <p:blipFill>
          <a:blip r:embed="rId6" cstate="print"/>
          <a:stretch>
            <a:fillRect/>
          </a:stretch>
        </p:blipFill>
        <p:spPr>
          <a:xfrm>
            <a:off x="3160001" y="1035202"/>
            <a:ext cx="961034" cy="818388"/>
          </a:xfrm>
          <a:prstGeom prst="rect">
            <a:avLst/>
          </a:prstGeom>
        </p:spPr>
      </p:pic>
      <p:sp>
        <p:nvSpPr>
          <p:cNvPr id="8" name="object 8"/>
          <p:cNvSpPr txBox="1"/>
          <p:nvPr/>
        </p:nvSpPr>
        <p:spPr>
          <a:xfrm>
            <a:off x="341947" y="2004267"/>
            <a:ext cx="3919220" cy="1259840"/>
          </a:xfrm>
          <a:prstGeom prst="rect">
            <a:avLst/>
          </a:prstGeom>
        </p:spPr>
        <p:txBody>
          <a:bodyPr vert="horz" wrap="square" lIns="0" tIns="54610" rIns="0" bIns="0" rtlCol="0">
            <a:spAutoFit/>
          </a:bodyPr>
          <a:lstStyle/>
          <a:p>
            <a:pPr marL="17780">
              <a:lnSpc>
                <a:spcPct val="100000"/>
              </a:lnSpc>
              <a:spcBef>
                <a:spcPts val="430"/>
              </a:spcBef>
            </a:pPr>
            <a:r>
              <a:rPr sz="1000" dirty="0">
                <a:solidFill>
                  <a:srgbClr val="3333B2"/>
                </a:solidFill>
                <a:latin typeface="Arial"/>
                <a:cs typeface="Arial"/>
              </a:rPr>
              <a:t>Basic</a:t>
            </a:r>
            <a:r>
              <a:rPr sz="1000" spc="-30" dirty="0">
                <a:solidFill>
                  <a:srgbClr val="3333B2"/>
                </a:solidFill>
                <a:latin typeface="Arial"/>
                <a:cs typeface="Arial"/>
              </a:rPr>
              <a:t> </a:t>
            </a:r>
            <a:r>
              <a:rPr sz="1000" spc="-10" dirty="0">
                <a:solidFill>
                  <a:srgbClr val="3333B2"/>
                </a:solidFill>
                <a:latin typeface="Arial"/>
                <a:cs typeface="Arial"/>
              </a:rPr>
              <a:t>approach</a:t>
            </a:r>
            <a:endParaRPr sz="1000">
              <a:latin typeface="Arial"/>
              <a:cs typeface="Arial"/>
            </a:endParaRPr>
          </a:p>
          <a:p>
            <a:pPr marL="17780" marR="19050" indent="-5715">
              <a:lnSpc>
                <a:spcPct val="111600"/>
              </a:lnSpc>
              <a:spcBef>
                <a:spcPts val="170"/>
              </a:spcBef>
            </a:pPr>
            <a:r>
              <a:rPr sz="900" dirty="0">
                <a:latin typeface="Arial"/>
                <a:cs typeface="Arial"/>
              </a:rPr>
              <a:t>When</a:t>
            </a:r>
            <a:r>
              <a:rPr sz="900" spc="-25" dirty="0">
                <a:latin typeface="Arial"/>
                <a:cs typeface="Arial"/>
              </a:rPr>
              <a:t> </a:t>
            </a:r>
            <a:r>
              <a:rPr sz="900" dirty="0">
                <a:latin typeface="Arial"/>
                <a:cs typeface="Arial"/>
              </a:rPr>
              <a:t>a</a:t>
            </a:r>
            <a:r>
              <a:rPr sz="900" spc="-25" dirty="0">
                <a:latin typeface="Arial"/>
                <a:cs typeface="Arial"/>
              </a:rPr>
              <a:t> </a:t>
            </a:r>
            <a:r>
              <a:rPr sz="900" dirty="0">
                <a:latin typeface="Arial"/>
                <a:cs typeface="Arial"/>
              </a:rPr>
              <a:t>benign</a:t>
            </a:r>
            <a:r>
              <a:rPr sz="900" spc="-20" dirty="0">
                <a:latin typeface="Arial"/>
                <a:cs typeface="Arial"/>
              </a:rPr>
              <a:t> </a:t>
            </a:r>
            <a:r>
              <a:rPr sz="900" dirty="0">
                <a:latin typeface="Arial"/>
                <a:cs typeface="Arial"/>
              </a:rPr>
              <a:t>node</a:t>
            </a:r>
            <a:r>
              <a:rPr sz="900" spc="-25" dirty="0">
                <a:latin typeface="Arial"/>
                <a:cs typeface="Arial"/>
              </a:rPr>
              <a:t> </a:t>
            </a:r>
            <a:r>
              <a:rPr sz="900" dirty="0">
                <a:latin typeface="Arial"/>
                <a:cs typeface="Arial"/>
              </a:rPr>
              <a:t>initiates</a:t>
            </a:r>
            <a:r>
              <a:rPr sz="900" spc="-25" dirty="0">
                <a:latin typeface="Arial"/>
                <a:cs typeface="Arial"/>
              </a:rPr>
              <a:t> </a:t>
            </a:r>
            <a:r>
              <a:rPr sz="900" dirty="0">
                <a:latin typeface="Arial"/>
                <a:cs typeface="Arial"/>
              </a:rPr>
              <a:t>an</a:t>
            </a:r>
            <a:r>
              <a:rPr sz="900" spc="-20" dirty="0">
                <a:latin typeface="Arial"/>
                <a:cs typeface="Arial"/>
              </a:rPr>
              <a:t> </a:t>
            </a:r>
            <a:r>
              <a:rPr sz="900" spc="-10" dirty="0">
                <a:latin typeface="Arial"/>
                <a:cs typeface="Arial"/>
              </a:rPr>
              <a:t>exchange,</a:t>
            </a:r>
            <a:r>
              <a:rPr sz="900" spc="-25" dirty="0">
                <a:latin typeface="Arial"/>
                <a:cs typeface="Arial"/>
              </a:rPr>
              <a:t> </a:t>
            </a:r>
            <a:r>
              <a:rPr sz="900" dirty="0">
                <a:latin typeface="Arial"/>
                <a:cs typeface="Arial"/>
              </a:rPr>
              <a:t>it</a:t>
            </a:r>
            <a:r>
              <a:rPr sz="900" spc="-20" dirty="0">
                <a:latin typeface="Arial"/>
                <a:cs typeface="Arial"/>
              </a:rPr>
              <a:t> </a:t>
            </a:r>
            <a:r>
              <a:rPr sz="900" dirty="0">
                <a:latin typeface="Arial"/>
                <a:cs typeface="Arial"/>
              </a:rPr>
              <a:t>may</a:t>
            </a:r>
            <a:r>
              <a:rPr sz="900" spc="-25" dirty="0">
                <a:latin typeface="Arial"/>
                <a:cs typeface="Arial"/>
              </a:rPr>
              <a:t> </a:t>
            </a:r>
            <a:r>
              <a:rPr sz="900" dirty="0">
                <a:latin typeface="Arial"/>
                <a:cs typeface="Arial"/>
              </a:rPr>
              <a:t>either</a:t>
            </a:r>
            <a:r>
              <a:rPr sz="900" spc="-25" dirty="0">
                <a:latin typeface="Arial"/>
                <a:cs typeface="Arial"/>
              </a:rPr>
              <a:t> </a:t>
            </a:r>
            <a:r>
              <a:rPr sz="900" dirty="0">
                <a:latin typeface="Arial"/>
                <a:cs typeface="Arial"/>
              </a:rPr>
              <a:t>use</a:t>
            </a:r>
            <a:r>
              <a:rPr sz="900" spc="-20" dirty="0">
                <a:latin typeface="Arial"/>
                <a:cs typeface="Arial"/>
              </a:rPr>
              <a:t> </a:t>
            </a:r>
            <a:r>
              <a:rPr sz="900" dirty="0">
                <a:latin typeface="Arial"/>
                <a:cs typeface="Arial"/>
              </a:rPr>
              <a:t>the</a:t>
            </a:r>
            <a:r>
              <a:rPr sz="900" spc="-25" dirty="0">
                <a:latin typeface="Arial"/>
                <a:cs typeface="Arial"/>
              </a:rPr>
              <a:t> </a:t>
            </a:r>
            <a:r>
              <a:rPr sz="900" dirty="0">
                <a:latin typeface="Arial"/>
                <a:cs typeface="Arial"/>
              </a:rPr>
              <a:t>result</a:t>
            </a:r>
            <a:r>
              <a:rPr sz="900" spc="-25" dirty="0">
                <a:latin typeface="Arial"/>
                <a:cs typeface="Arial"/>
              </a:rPr>
              <a:t> for </a:t>
            </a:r>
            <a:r>
              <a:rPr sz="900" dirty="0">
                <a:latin typeface="Arial"/>
                <a:cs typeface="Arial"/>
              </a:rPr>
              <a:t>gathering</a:t>
            </a:r>
            <a:r>
              <a:rPr sz="900" spc="-25" dirty="0">
                <a:latin typeface="Arial"/>
                <a:cs typeface="Arial"/>
              </a:rPr>
              <a:t> </a:t>
            </a:r>
            <a:r>
              <a:rPr sz="900" dirty="0">
                <a:latin typeface="Arial"/>
                <a:cs typeface="Arial"/>
              </a:rPr>
              <a:t>statistics,</a:t>
            </a:r>
            <a:r>
              <a:rPr sz="900" spc="-25" dirty="0">
                <a:latin typeface="Arial"/>
                <a:cs typeface="Arial"/>
              </a:rPr>
              <a:t> </a:t>
            </a:r>
            <a:r>
              <a:rPr sz="900" dirty="0">
                <a:latin typeface="Arial"/>
                <a:cs typeface="Arial"/>
              </a:rPr>
              <a:t>or</a:t>
            </a:r>
            <a:r>
              <a:rPr sz="900" spc="-20" dirty="0">
                <a:latin typeface="Arial"/>
                <a:cs typeface="Arial"/>
              </a:rPr>
              <a:t> </a:t>
            </a:r>
            <a:r>
              <a:rPr sz="900" dirty="0">
                <a:latin typeface="Arial"/>
                <a:cs typeface="Arial"/>
              </a:rPr>
              <a:t>for</a:t>
            </a:r>
            <a:r>
              <a:rPr sz="900" spc="-25" dirty="0">
                <a:latin typeface="Arial"/>
                <a:cs typeface="Arial"/>
              </a:rPr>
              <a:t> </a:t>
            </a:r>
            <a:r>
              <a:rPr sz="900" dirty="0">
                <a:latin typeface="Arial"/>
                <a:cs typeface="Arial"/>
              </a:rPr>
              <a:t>updating</a:t>
            </a:r>
            <a:r>
              <a:rPr sz="900" spc="-20" dirty="0">
                <a:latin typeface="Arial"/>
                <a:cs typeface="Arial"/>
              </a:rPr>
              <a:t> </a:t>
            </a:r>
            <a:r>
              <a:rPr sz="900" dirty="0">
                <a:latin typeface="Arial"/>
                <a:cs typeface="Arial"/>
              </a:rPr>
              <a:t>its</a:t>
            </a:r>
            <a:r>
              <a:rPr sz="900" spc="-25" dirty="0">
                <a:latin typeface="Arial"/>
                <a:cs typeface="Arial"/>
              </a:rPr>
              <a:t> </a:t>
            </a:r>
            <a:r>
              <a:rPr sz="900" dirty="0">
                <a:latin typeface="Arial"/>
                <a:cs typeface="Arial"/>
              </a:rPr>
              <a:t>local</a:t>
            </a:r>
            <a:r>
              <a:rPr sz="900" spc="-20" dirty="0">
                <a:latin typeface="Arial"/>
                <a:cs typeface="Arial"/>
              </a:rPr>
              <a:t> </a:t>
            </a:r>
            <a:r>
              <a:rPr sz="900" dirty="0">
                <a:latin typeface="Arial"/>
                <a:cs typeface="Arial"/>
              </a:rPr>
              <a:t>list.</a:t>
            </a:r>
            <a:r>
              <a:rPr sz="900" spc="30" dirty="0">
                <a:latin typeface="Arial"/>
                <a:cs typeface="Arial"/>
              </a:rPr>
              <a:t> </a:t>
            </a:r>
            <a:r>
              <a:rPr sz="900" dirty="0">
                <a:latin typeface="Arial"/>
                <a:cs typeface="Arial"/>
              </a:rPr>
              <a:t>An</a:t>
            </a:r>
            <a:r>
              <a:rPr sz="900" spc="-20" dirty="0">
                <a:latin typeface="Arial"/>
                <a:cs typeface="Arial"/>
              </a:rPr>
              <a:t> </a:t>
            </a:r>
            <a:r>
              <a:rPr sz="900" spc="-10" dirty="0">
                <a:latin typeface="Arial"/>
                <a:cs typeface="Arial"/>
              </a:rPr>
              <a:t>attacker</a:t>
            </a:r>
            <a:r>
              <a:rPr sz="900" spc="-25" dirty="0">
                <a:latin typeface="Arial"/>
                <a:cs typeface="Arial"/>
              </a:rPr>
              <a:t> </a:t>
            </a:r>
            <a:r>
              <a:rPr sz="900" dirty="0">
                <a:latin typeface="Arial"/>
                <a:cs typeface="Arial"/>
              </a:rPr>
              <a:t>is</a:t>
            </a:r>
            <a:r>
              <a:rPr sz="900" spc="-20" dirty="0">
                <a:latin typeface="Arial"/>
                <a:cs typeface="Arial"/>
              </a:rPr>
              <a:t> </a:t>
            </a:r>
            <a:r>
              <a:rPr sz="900" dirty="0">
                <a:latin typeface="Arial"/>
                <a:cs typeface="Arial"/>
              </a:rPr>
              <a:t>in</a:t>
            </a:r>
            <a:r>
              <a:rPr sz="900" spc="-25" dirty="0">
                <a:latin typeface="Arial"/>
                <a:cs typeface="Arial"/>
              </a:rPr>
              <a:t> </a:t>
            </a:r>
            <a:r>
              <a:rPr sz="900" dirty="0">
                <a:latin typeface="Arial"/>
                <a:cs typeface="Arial"/>
              </a:rPr>
              <a:t>limbo:</a:t>
            </a:r>
            <a:r>
              <a:rPr sz="900" spc="35" dirty="0">
                <a:latin typeface="Arial"/>
                <a:cs typeface="Arial"/>
              </a:rPr>
              <a:t> </a:t>
            </a:r>
            <a:r>
              <a:rPr sz="900" dirty="0">
                <a:latin typeface="Arial"/>
                <a:cs typeface="Arial"/>
              </a:rPr>
              <a:t>will</a:t>
            </a:r>
            <a:r>
              <a:rPr sz="900" spc="-25" dirty="0">
                <a:latin typeface="Arial"/>
                <a:cs typeface="Arial"/>
              </a:rPr>
              <a:t> its </a:t>
            </a:r>
            <a:r>
              <a:rPr sz="900" dirty="0">
                <a:latin typeface="Arial"/>
                <a:cs typeface="Arial"/>
              </a:rPr>
              <a:t>response</a:t>
            </a:r>
            <a:r>
              <a:rPr sz="900" spc="-35" dirty="0">
                <a:latin typeface="Arial"/>
                <a:cs typeface="Arial"/>
              </a:rPr>
              <a:t> </a:t>
            </a:r>
            <a:r>
              <a:rPr sz="900" dirty="0">
                <a:latin typeface="Arial"/>
                <a:cs typeface="Arial"/>
              </a:rPr>
              <a:t>be</a:t>
            </a:r>
            <a:r>
              <a:rPr sz="900" spc="-30" dirty="0">
                <a:latin typeface="Arial"/>
                <a:cs typeface="Arial"/>
              </a:rPr>
              <a:t> </a:t>
            </a:r>
            <a:r>
              <a:rPr sz="900" dirty="0">
                <a:latin typeface="Arial"/>
                <a:cs typeface="Arial"/>
              </a:rPr>
              <a:t>used</a:t>
            </a:r>
            <a:r>
              <a:rPr sz="900" spc="-35" dirty="0">
                <a:latin typeface="Arial"/>
                <a:cs typeface="Arial"/>
              </a:rPr>
              <a:t> </a:t>
            </a:r>
            <a:r>
              <a:rPr sz="900" dirty="0">
                <a:latin typeface="Arial"/>
                <a:cs typeface="Arial"/>
              </a:rPr>
              <a:t>for</a:t>
            </a:r>
            <a:r>
              <a:rPr sz="900" spc="-30" dirty="0">
                <a:latin typeface="Arial"/>
                <a:cs typeface="Arial"/>
              </a:rPr>
              <a:t> </a:t>
            </a:r>
            <a:r>
              <a:rPr sz="900" dirty="0">
                <a:latin typeface="Arial"/>
                <a:cs typeface="Arial"/>
              </a:rPr>
              <a:t>statistical</a:t>
            </a:r>
            <a:r>
              <a:rPr sz="900" spc="-35" dirty="0">
                <a:latin typeface="Arial"/>
                <a:cs typeface="Arial"/>
              </a:rPr>
              <a:t> </a:t>
            </a:r>
            <a:r>
              <a:rPr sz="900" dirty="0">
                <a:latin typeface="Arial"/>
                <a:cs typeface="Arial"/>
              </a:rPr>
              <a:t>purposes</a:t>
            </a:r>
            <a:r>
              <a:rPr sz="900" spc="-30" dirty="0">
                <a:latin typeface="Arial"/>
                <a:cs typeface="Arial"/>
              </a:rPr>
              <a:t> </a:t>
            </a:r>
            <a:r>
              <a:rPr sz="900" dirty="0">
                <a:latin typeface="Arial"/>
                <a:cs typeface="Arial"/>
              </a:rPr>
              <a:t>or</a:t>
            </a:r>
            <a:r>
              <a:rPr sz="900" spc="-30" dirty="0">
                <a:latin typeface="Arial"/>
                <a:cs typeface="Arial"/>
              </a:rPr>
              <a:t> </a:t>
            </a:r>
            <a:r>
              <a:rPr sz="900" dirty="0">
                <a:latin typeface="Arial"/>
                <a:cs typeface="Arial"/>
              </a:rPr>
              <a:t>for</a:t>
            </a:r>
            <a:r>
              <a:rPr sz="900" spc="-35" dirty="0">
                <a:latin typeface="Arial"/>
                <a:cs typeface="Arial"/>
              </a:rPr>
              <a:t> </a:t>
            </a:r>
            <a:r>
              <a:rPr sz="900" dirty="0">
                <a:latin typeface="Arial"/>
                <a:cs typeface="Arial"/>
              </a:rPr>
              <a:t>functional</a:t>
            </a:r>
            <a:r>
              <a:rPr sz="900" spc="-30" dirty="0">
                <a:latin typeface="Arial"/>
                <a:cs typeface="Arial"/>
              </a:rPr>
              <a:t> </a:t>
            </a:r>
            <a:r>
              <a:rPr sz="900" spc="-10" dirty="0">
                <a:latin typeface="Arial"/>
                <a:cs typeface="Arial"/>
              </a:rPr>
              <a:t>purposes?</a:t>
            </a:r>
            <a:endParaRPr sz="900">
              <a:latin typeface="Arial"/>
              <a:cs typeface="Arial"/>
            </a:endParaRPr>
          </a:p>
          <a:p>
            <a:pPr marL="17780">
              <a:lnSpc>
                <a:spcPct val="100000"/>
              </a:lnSpc>
              <a:spcBef>
                <a:spcPts val="810"/>
              </a:spcBef>
            </a:pPr>
            <a:r>
              <a:rPr sz="1000" spc="-10" dirty="0">
                <a:solidFill>
                  <a:srgbClr val="C80000"/>
                </a:solidFill>
                <a:latin typeface="Arial"/>
                <a:cs typeface="Arial"/>
              </a:rPr>
              <a:t>Observation</a:t>
            </a:r>
            <a:endParaRPr sz="1000">
              <a:latin typeface="Arial"/>
              <a:cs typeface="Arial"/>
            </a:endParaRPr>
          </a:p>
          <a:p>
            <a:pPr marL="17780" marR="5080" indent="-5715">
              <a:lnSpc>
                <a:spcPts val="1210"/>
              </a:lnSpc>
              <a:spcBef>
                <a:spcPts val="35"/>
              </a:spcBef>
            </a:pPr>
            <a:r>
              <a:rPr sz="900" dirty="0">
                <a:latin typeface="Arial"/>
                <a:cs typeface="Arial"/>
              </a:rPr>
              <a:t>When</a:t>
            </a:r>
            <a:r>
              <a:rPr sz="900" spc="-20" dirty="0">
                <a:latin typeface="Arial"/>
                <a:cs typeface="Arial"/>
              </a:rPr>
              <a:t> </a:t>
            </a:r>
            <a:r>
              <a:rPr sz="900" spc="-10" dirty="0">
                <a:latin typeface="Arial"/>
                <a:cs typeface="Arial"/>
              </a:rPr>
              <a:t>gathering</a:t>
            </a:r>
            <a:r>
              <a:rPr sz="900" spc="-15" dirty="0">
                <a:latin typeface="Arial"/>
                <a:cs typeface="Arial"/>
              </a:rPr>
              <a:t> </a:t>
            </a:r>
            <a:r>
              <a:rPr sz="900" spc="-10" dirty="0">
                <a:latin typeface="Arial"/>
                <a:cs typeface="Arial"/>
              </a:rPr>
              <a:t>statistics</a:t>
            </a:r>
            <a:r>
              <a:rPr sz="900" spc="-20" dirty="0">
                <a:latin typeface="Arial"/>
                <a:cs typeface="Arial"/>
              </a:rPr>
              <a:t> </a:t>
            </a:r>
            <a:r>
              <a:rPr sz="900" spc="-10" dirty="0">
                <a:latin typeface="Arial"/>
                <a:cs typeface="Arial"/>
              </a:rPr>
              <a:t>may</a:t>
            </a:r>
            <a:r>
              <a:rPr sz="900" spc="-15" dirty="0">
                <a:latin typeface="Arial"/>
                <a:cs typeface="Arial"/>
              </a:rPr>
              <a:t> </a:t>
            </a:r>
            <a:r>
              <a:rPr sz="900" spc="-10" dirty="0">
                <a:latin typeface="Arial"/>
                <a:cs typeface="Arial"/>
              </a:rPr>
              <a:t>reveal</a:t>
            </a:r>
            <a:r>
              <a:rPr sz="900" spc="-20" dirty="0">
                <a:latin typeface="Arial"/>
                <a:cs typeface="Arial"/>
              </a:rPr>
              <a:t> </a:t>
            </a:r>
            <a:r>
              <a:rPr sz="900" spc="-10" dirty="0">
                <a:latin typeface="Arial"/>
                <a:cs typeface="Arial"/>
              </a:rPr>
              <a:t>colluders,</a:t>
            </a:r>
            <a:r>
              <a:rPr sz="900" spc="-15" dirty="0">
                <a:latin typeface="Arial"/>
                <a:cs typeface="Arial"/>
              </a:rPr>
              <a:t> </a:t>
            </a:r>
            <a:r>
              <a:rPr sz="900" dirty="0">
                <a:latin typeface="Arial"/>
                <a:cs typeface="Arial"/>
              </a:rPr>
              <a:t>a</a:t>
            </a:r>
            <a:r>
              <a:rPr sz="900" spc="-20" dirty="0">
                <a:latin typeface="Arial"/>
                <a:cs typeface="Arial"/>
              </a:rPr>
              <a:t> </a:t>
            </a:r>
            <a:r>
              <a:rPr sz="900" spc="-10" dirty="0">
                <a:latin typeface="Arial"/>
                <a:cs typeface="Arial"/>
              </a:rPr>
              <a:t>colluding</a:t>
            </a:r>
            <a:r>
              <a:rPr sz="900" spc="-15" dirty="0">
                <a:latin typeface="Arial"/>
                <a:cs typeface="Arial"/>
              </a:rPr>
              <a:t> </a:t>
            </a:r>
            <a:r>
              <a:rPr sz="900" dirty="0">
                <a:latin typeface="Arial"/>
                <a:cs typeface="Arial"/>
              </a:rPr>
              <a:t>node</a:t>
            </a:r>
            <a:r>
              <a:rPr sz="900" spc="-20" dirty="0">
                <a:latin typeface="Arial"/>
                <a:cs typeface="Arial"/>
              </a:rPr>
              <a:t> </a:t>
            </a:r>
            <a:r>
              <a:rPr sz="900" dirty="0">
                <a:latin typeface="Arial"/>
                <a:cs typeface="Arial"/>
              </a:rPr>
              <a:t>will</a:t>
            </a:r>
            <a:r>
              <a:rPr sz="900" spc="-15" dirty="0">
                <a:latin typeface="Arial"/>
                <a:cs typeface="Arial"/>
              </a:rPr>
              <a:t> </a:t>
            </a:r>
            <a:r>
              <a:rPr sz="900" dirty="0">
                <a:latin typeface="Arial"/>
                <a:cs typeface="Arial"/>
              </a:rPr>
              <a:t>be</a:t>
            </a:r>
            <a:r>
              <a:rPr sz="900" spc="-20" dirty="0">
                <a:latin typeface="Arial"/>
                <a:cs typeface="Arial"/>
              </a:rPr>
              <a:t> </a:t>
            </a:r>
            <a:r>
              <a:rPr sz="900" spc="-10" dirty="0">
                <a:solidFill>
                  <a:srgbClr val="C80000"/>
                </a:solidFill>
                <a:latin typeface="Arial"/>
                <a:cs typeface="Arial"/>
              </a:rPr>
              <a:t>forced </a:t>
            </a:r>
            <a:r>
              <a:rPr sz="900" dirty="0">
                <a:latin typeface="Arial"/>
                <a:cs typeface="Arial"/>
              </a:rPr>
              <a:t>to</a:t>
            </a:r>
            <a:r>
              <a:rPr sz="900" spc="-25" dirty="0">
                <a:latin typeface="Arial"/>
                <a:cs typeface="Arial"/>
              </a:rPr>
              <a:t> </a:t>
            </a:r>
            <a:r>
              <a:rPr sz="900" spc="-10" dirty="0">
                <a:latin typeface="Arial"/>
                <a:cs typeface="Arial"/>
              </a:rPr>
              <a:t>behave</a:t>
            </a:r>
            <a:r>
              <a:rPr sz="900" spc="-20" dirty="0">
                <a:latin typeface="Arial"/>
                <a:cs typeface="Arial"/>
              </a:rPr>
              <a:t> </a:t>
            </a:r>
            <a:r>
              <a:rPr sz="900" dirty="0">
                <a:latin typeface="Arial"/>
                <a:cs typeface="Arial"/>
              </a:rPr>
              <a:t>according</a:t>
            </a:r>
            <a:r>
              <a:rPr sz="900" spc="-20" dirty="0">
                <a:latin typeface="Arial"/>
                <a:cs typeface="Arial"/>
              </a:rPr>
              <a:t> </a:t>
            </a:r>
            <a:r>
              <a:rPr sz="900" dirty="0">
                <a:latin typeface="Arial"/>
                <a:cs typeface="Arial"/>
              </a:rPr>
              <a:t>to</a:t>
            </a:r>
            <a:r>
              <a:rPr sz="900" spc="-20" dirty="0">
                <a:latin typeface="Arial"/>
                <a:cs typeface="Arial"/>
              </a:rPr>
              <a:t> </a:t>
            </a:r>
            <a:r>
              <a:rPr sz="900" dirty="0">
                <a:latin typeface="Arial"/>
                <a:cs typeface="Arial"/>
              </a:rPr>
              <a:t>the</a:t>
            </a:r>
            <a:r>
              <a:rPr sz="900" spc="-25" dirty="0">
                <a:latin typeface="Arial"/>
                <a:cs typeface="Arial"/>
              </a:rPr>
              <a:t> </a:t>
            </a:r>
            <a:r>
              <a:rPr sz="900" spc="-10" dirty="0">
                <a:latin typeface="Arial"/>
                <a:cs typeface="Arial"/>
              </a:rPr>
              <a:t>protocol.</a:t>
            </a:r>
            <a:endParaRPr sz="900">
              <a:latin typeface="Arial"/>
              <a:cs typeface="Arial"/>
            </a:endParaRPr>
          </a:p>
        </p:txBody>
      </p:sp>
      <p:grpSp>
        <p:nvGrpSpPr>
          <p:cNvPr id="9" name="object 9"/>
          <p:cNvGrpSpPr/>
          <p:nvPr/>
        </p:nvGrpSpPr>
        <p:grpSpPr>
          <a:xfrm>
            <a:off x="0" y="3348469"/>
            <a:ext cx="4608195" cy="107950"/>
            <a:chOff x="0" y="3348469"/>
            <a:chExt cx="4608195" cy="107950"/>
          </a:xfrm>
        </p:grpSpPr>
        <p:sp>
          <p:nvSpPr>
            <p:cNvPr id="10" name="object 10"/>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1" name="object 11"/>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2" name="object 12"/>
          <p:cNvSpPr txBox="1"/>
          <p:nvPr/>
        </p:nvSpPr>
        <p:spPr>
          <a:xfrm>
            <a:off x="53467" y="3349927"/>
            <a:ext cx="51117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7" action="ppaction://hlinksldjump"/>
              </a:rPr>
              <a:t>Secure</a:t>
            </a:r>
            <a:r>
              <a:rPr sz="500" spc="-25" dirty="0">
                <a:latin typeface="Arial"/>
                <a:cs typeface="Arial"/>
                <a:hlinkClick r:id="rId7" action="ppaction://hlinksldjump"/>
              </a:rPr>
              <a:t> </a:t>
            </a:r>
            <a:r>
              <a:rPr sz="500" spc="-10" dirty="0">
                <a:latin typeface="Arial"/>
                <a:cs typeface="Arial"/>
                <a:hlinkClick r:id="rId7" action="ppaction://hlinksldjump"/>
              </a:rPr>
              <a:t>gossiping</a:t>
            </a:r>
            <a:endParaRPr sz="500">
              <a:latin typeface="Arial"/>
              <a:cs typeface="Arial"/>
            </a:endParaRPr>
          </a:p>
        </p:txBody>
      </p:sp>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2866</TotalTime>
  <Words>8688</Words>
  <Application>Microsoft Office PowerPoint</Application>
  <PresentationFormat>Custom</PresentationFormat>
  <Paragraphs>1135</Paragraphs>
  <Slides>94</Slides>
  <Notes>6</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94</vt:i4>
      </vt:variant>
    </vt:vector>
  </HeadingPairs>
  <TitlesOfParts>
    <vt:vector size="102" baseType="lpstr">
      <vt:lpstr>Aptos</vt:lpstr>
      <vt:lpstr>Arial</vt:lpstr>
      <vt:lpstr>Calibri</vt:lpstr>
      <vt:lpstr>Menlo</vt:lpstr>
      <vt:lpstr>STIX Two Text</vt:lpstr>
      <vt:lpstr>Times New Roman</vt:lpstr>
      <vt:lpstr>Office Theme</vt:lpstr>
      <vt:lpstr>1_Office Theme</vt:lpstr>
      <vt:lpstr>PowerPoint Presentation</vt:lpstr>
      <vt:lpstr>Physical clocks</vt:lpstr>
      <vt:lpstr>Clock synchronization</vt:lpstr>
      <vt:lpstr>Clock drift</vt:lpstr>
      <vt:lpstr>PowerPoint Presentation</vt:lpstr>
      <vt:lpstr>Reference broadcast synchronization</vt:lpstr>
      <vt:lpstr>The Happened-before relationship</vt:lpstr>
      <vt:lpstr>The Happened-before relationship</vt:lpstr>
      <vt:lpstr>PowerPoint Presentation</vt:lpstr>
      <vt:lpstr>PowerPoint Presentation</vt:lpstr>
      <vt:lpstr>PowerPoint Presentation</vt:lpstr>
      <vt:lpstr>Logical clocks: solution</vt:lpstr>
      <vt:lpstr>PowerPoint Presentation</vt:lpstr>
      <vt:lpstr>PowerPoint Presentation</vt:lpstr>
      <vt:lpstr>PowerPoint Presentation</vt:lpstr>
      <vt:lpstr>Example: Totally ordered multicast</vt:lpstr>
      <vt:lpstr>Example: Totally ordered multicast</vt:lpstr>
      <vt:lpstr>Example: Totally ordered multicast</vt:lpstr>
      <vt:lpstr>PowerPoint Presentation</vt:lpstr>
      <vt:lpstr>PowerPoint Presentation</vt:lpstr>
      <vt:lpstr>Lamport’s clocks for mutual exclusion</vt:lpstr>
      <vt:lpstr>PowerPoint Presentation</vt:lpstr>
      <vt:lpstr>PowerPoint Presentation</vt:lpstr>
      <vt:lpstr>PowerPoint Presentation</vt:lpstr>
      <vt:lpstr>PowerPoint Presentation</vt:lpstr>
      <vt:lpstr>PowerPoint Presentation</vt:lpstr>
      <vt:lpstr>Causally ordered multicasting</vt:lpstr>
      <vt:lpstr>Causally ordered multicasting</vt:lpstr>
      <vt:lpstr>PowerPoint Presentation</vt:lpstr>
      <vt:lpstr>PowerPoint Presentation</vt:lpstr>
      <vt:lpstr>Mutual exclusion</vt:lpstr>
      <vt:lpstr>PowerPoint Presentation</vt:lpstr>
      <vt:lpstr>Mutual exclusion: Ricart &amp; Agrawala</vt:lpstr>
      <vt:lpstr>PowerPoint Presentation</vt:lpstr>
      <vt:lpstr>Mutual exclusion: Token ring algorithm</vt:lpstr>
      <vt:lpstr>Decentralized mutual exclusion</vt:lpstr>
      <vt:lpstr>Decentralized mutual exclusion</vt:lpstr>
      <vt:lpstr>Decentralized mutual exclusion</vt:lpstr>
      <vt:lpstr>Decentralized mutual exclusion</vt:lpstr>
      <vt:lpstr>Decentralized mutual exclusion</vt:lpstr>
      <vt:lpstr>PowerPoint Presentation</vt:lpstr>
      <vt:lpstr>PowerPoint Presentation</vt:lpstr>
      <vt:lpstr>PowerPoint Presentation</vt:lpstr>
      <vt:lpstr>Example: ZooKeeper</vt:lpstr>
      <vt:lpstr>ZooKeeper race condition</vt:lpstr>
      <vt:lpstr>PowerPoint Presentation</vt:lpstr>
      <vt:lpstr>ZooKeeper locking protocol</vt:lpstr>
      <vt:lpstr>Election algorithms</vt:lpstr>
      <vt:lpstr>Election algorithms</vt:lpstr>
      <vt:lpstr>PowerPoint Presentation</vt:lpstr>
      <vt:lpstr>Election by bullying</vt:lpstr>
      <vt:lpstr>PowerPoint Presentation</vt:lpstr>
      <vt:lpstr>Election in a ring</vt:lpstr>
      <vt:lpstr>PowerPoint Presentation</vt:lpstr>
      <vt:lpstr>Example: Leader election in ZooKeeper server group</vt:lpstr>
      <vt:lpstr>Example: Leader election in ZooKeeper server group</vt:lpstr>
      <vt:lpstr>PowerPoint Presentation</vt:lpstr>
      <vt:lpstr>Example: Leader election in Raft</vt:lpstr>
      <vt:lpstr>Example: Leader election in Raft</vt:lpstr>
      <vt:lpstr>Elections by proof of work</vt:lpstr>
      <vt:lpstr>Elections by proof of work</vt:lpstr>
      <vt:lpstr>Elections by proof of work</vt:lpstr>
      <vt:lpstr>Elections by proof of work</vt:lpstr>
      <vt:lpstr>PowerPoint Presentation</vt:lpstr>
      <vt:lpstr>PowerPoint Presentation</vt:lpstr>
      <vt:lpstr>PowerPoint Presentation</vt:lpstr>
      <vt:lpstr>PowerPoint Presentation</vt:lpstr>
      <vt:lpstr>Positioning nodes</vt:lpstr>
      <vt:lpstr>PowerPoint Presentation</vt:lpstr>
      <vt:lpstr>PowerPoint Presentation</vt:lpstr>
      <vt:lpstr>PowerPoint Presentation</vt:lpstr>
      <vt:lpstr>PowerPoint Presentation</vt:lpstr>
      <vt:lpstr>Computing position</vt:lpstr>
      <vt:lpstr>Vivaldi</vt:lpstr>
      <vt:lpstr>PowerPoint Presentation</vt:lpstr>
      <vt:lpstr>PowerPoint Presentation</vt:lpstr>
      <vt:lpstr>General approach</vt:lpstr>
      <vt:lpstr>PowerPoint Presentation</vt:lpstr>
      <vt:lpstr>PowerPoint Presentation</vt:lpstr>
      <vt:lpstr>Gossiping: Sub-2-Sub</vt:lpstr>
      <vt:lpstr>Gossiping: Sub-2-Sub</vt:lpstr>
      <vt:lpstr>PowerPoint Presentation</vt:lpstr>
      <vt:lpstr>Secure publish-subscribe</vt:lpstr>
      <vt:lpstr>Secure publish-subscribe</vt:lpstr>
      <vt:lpstr>Public-Key Encryption with Keyword Search (PEKS)</vt:lpstr>
      <vt:lpstr>Gossip-based coordination: aggregation</vt:lpstr>
      <vt:lpstr>Gossip-based coordination: aggregation</vt:lpstr>
      <vt:lpstr>Gossip-based coordination: peer sampling</vt:lpstr>
      <vt:lpstr>Gossip-based overlay construction</vt:lpstr>
      <vt:lpstr>Gossip-based overlay construction: a 2D torus</vt:lpstr>
      <vt:lpstr>PowerPoint Presentation</vt:lpstr>
      <vt:lpstr>Secure gossiping</vt:lpstr>
      <vt:lpstr>A solution: gathering statistics</vt:lpstr>
      <vt:lpstr>A solution: gathering statistics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Distributed Systems   (4th edition, version 01)</dc:title>
  <cp:lastModifiedBy>FA21-BAF-072 (MUHAMMAD KAWISH  )</cp:lastModifiedBy>
  <cp:revision>22</cp:revision>
  <dcterms:created xsi:type="dcterms:W3CDTF">2023-04-27T06:08:15Z</dcterms:created>
  <dcterms:modified xsi:type="dcterms:W3CDTF">2025-01-29T15:37:59Z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2023-04-27T00:00:00Z</vt:filetime>
  </property>
  <property fmtid="{D5CDD505-2E9C-101B-9397-08002B2CF9AE}" pid="3" name="Creator">
    <vt:lpwstr>LaTeX with Beamer class</vt:lpwstr>
  </property>
  <property fmtid="{D5CDD505-2E9C-101B-9397-08002B2CF9AE}" pid="4" name="LastSaved">
    <vt:filetime>2023-04-27T00:00:00Z</vt:filetime>
  </property>
  <property fmtid="{D5CDD505-2E9C-101B-9397-08002B2CF9AE}" pid="5" name="PTEX.Fullbanner">
    <vt:lpwstr>This is pdfTeX, Version 3.141592653-2.6-1.40.24 (TeX Live 2022) kpathsea version 6.3.4</vt:lpwstr>
  </property>
  <property fmtid="{D5CDD505-2E9C-101B-9397-08002B2CF9AE}" pid="6" name="Producer">
    <vt:lpwstr>pdfTeX-1.40.24</vt:lpwstr>
  </property>
</Properties>
</file>