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58" d="100"/>
          <a:sy n="158" d="100"/>
        </p:scale>
        <p:origin x="170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24511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5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15.xml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slide" Target="slide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slide" Target="slide3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slide" Target="slide39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image" Target="../media/image12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slide" Target="slide3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slide" Target="slide3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9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2.xml"/><Relationship Id="rId4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2.xml"/><Relationship Id="rId4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2.xml"/><Relationship Id="rId4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7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67.xml"/><Relationship Id="rId4" Type="http://schemas.openxmlformats.org/officeDocument/2006/relationships/image" Target="../media/image27.jp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4459" y="1196975"/>
            <a:ext cx="2819400" cy="57323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lang="en-US" sz="1400" b="1" dirty="0">
                <a:solidFill>
                  <a:srgbClr val="3333B2"/>
                </a:solidFill>
                <a:latin typeface="Arial"/>
                <a:cs typeface="Arial"/>
              </a:rPr>
              <a:t>CSC334 - Parallel &amp; </a:t>
            </a: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lang="en-US" sz="1400" b="1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4459" y="2720975"/>
            <a:ext cx="304800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35"/>
              </a:spcBef>
            </a:pPr>
            <a:r>
              <a:rPr lang="en-US" sz="1400" dirty="0">
                <a:latin typeface="Arial"/>
                <a:cs typeface="Arial"/>
              </a:rPr>
              <a:t>Mr. Aoun Haider, Ms. Muntaha Amjad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B585-3963-CA43-FDEC-0C7B8A8CDD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206375"/>
            <a:ext cx="866509" cy="865384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9EE9F7B3-5CC5-6668-A99A-920E93785BDE}"/>
              </a:ext>
            </a:extLst>
          </p:cNvPr>
          <p:cNvSpPr txBox="1"/>
          <p:nvPr/>
        </p:nvSpPr>
        <p:spPr>
          <a:xfrm>
            <a:off x="1446463" y="1933968"/>
            <a:ext cx="1943991" cy="311624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1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Arial"/>
                <a:cs typeface="Arial"/>
              </a:rPr>
              <a:t>Chapter 1: Introduction</a:t>
            </a:r>
            <a:endParaRPr kumimoji="0" sz="1100" b="0" i="1" u="none" strike="noStrike" kern="0" cap="none" spc="0" normalizeH="0" baseline="0" noProof="0" dirty="0">
              <a:ln>
                <a:noFill/>
              </a:ln>
              <a:solidFill>
                <a:schemeClr val="bg2">
                  <a:lumMod val="50000"/>
                </a:schemeClr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people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85850" y="1720908"/>
            <a:ext cx="5988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Centralized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7233" y="1720908"/>
            <a:ext cx="718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Decentralized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80928" y="1720908"/>
            <a:ext cx="5695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people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41350" y="1720908"/>
            <a:ext cx="3408679" cy="498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95"/>
              </a:spcBef>
              <a:tabLst>
                <a:tab pos="1457960" algn="l"/>
                <a:tab pos="285178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When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does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decentralized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become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distributed?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 dirty="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people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3250" y="1720908"/>
            <a:ext cx="3472179" cy="724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95"/>
              </a:spcBef>
              <a:tabLst>
                <a:tab pos="1496060" algn="l"/>
                <a:tab pos="288988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When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does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decentralized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become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distributed?</a:t>
            </a:r>
            <a:endParaRPr sz="100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people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3250" y="1720908"/>
            <a:ext cx="3472179" cy="8775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95"/>
              </a:spcBef>
              <a:tabLst>
                <a:tab pos="1496060" algn="l"/>
                <a:tab pos="288988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When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does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decentralized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become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distributed?</a:t>
            </a:r>
            <a:endParaRPr sz="100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system?</a:t>
            </a:r>
            <a:endParaRPr sz="90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97339" y="-1515"/>
            <a:ext cx="1357630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2028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200" spc="-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endParaRPr sz="1200">
              <a:latin typeface="Arial"/>
              <a:cs typeface="Arial"/>
            </a:endParaRPr>
          </a:p>
          <a:p>
            <a:pPr marL="258445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many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people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state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4728" y="1333041"/>
            <a:ext cx="580646" cy="33072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98688" y="792742"/>
            <a:ext cx="895637" cy="87102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7634" y="792742"/>
            <a:ext cx="895637" cy="87102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03250" y="1720908"/>
            <a:ext cx="3472179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4970">
              <a:lnSpc>
                <a:spcPct val="100000"/>
              </a:lnSpc>
              <a:spcBef>
                <a:spcPts val="95"/>
              </a:spcBef>
              <a:tabLst>
                <a:tab pos="1496060" algn="l"/>
                <a:tab pos="288988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When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does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decentralized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r>
              <a:rPr sz="10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become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distributed?</a:t>
            </a:r>
            <a:endParaRPr sz="100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system?</a:t>
            </a:r>
            <a:endParaRPr sz="900">
              <a:latin typeface="Arial"/>
              <a:cs typeface="Arial"/>
            </a:endParaRPr>
          </a:p>
          <a:p>
            <a:pPr marL="30543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6070" algn="l"/>
              </a:tabLst>
            </a:pPr>
            <a:r>
              <a:rPr sz="900" dirty="0">
                <a:latin typeface="Arial"/>
                <a:cs typeface="Arial"/>
              </a:rPr>
              <a:t>Adding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nodes?</a:t>
            </a:r>
            <a:endParaRPr sz="900">
              <a:latin typeface="Arial"/>
              <a:cs typeface="Arial"/>
            </a:endParaRPr>
          </a:p>
          <a:p>
            <a:pPr marL="3092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9880" algn="l"/>
              </a:tabLst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i="1" spc="165" dirty="0">
                <a:latin typeface="Arial"/>
                <a:cs typeface="Arial"/>
              </a:rPr>
              <a:t>&gt;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links....?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</a:t>
            </a:r>
            <a:r>
              <a:rPr spc="-7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514774"/>
            <a:ext cx="3941445" cy="914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views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realizing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Integrative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existing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larger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278130" marR="138430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Expansive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0" dirty="0">
                <a:latin typeface="Arial"/>
                <a:cs typeface="Arial"/>
              </a:rPr>
              <a:t> existing 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extended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Alternative</a:t>
            </a:r>
            <a:r>
              <a:rPr spc="-7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282" y="514774"/>
            <a:ext cx="3992245" cy="210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views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realizing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000">
              <a:latin typeface="Arial"/>
              <a:cs typeface="Arial"/>
            </a:endParaRPr>
          </a:p>
          <a:p>
            <a:pPr marL="307340" marR="42545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3079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Integrative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existing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larger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system.</a:t>
            </a:r>
            <a:endParaRPr sz="900">
              <a:latin typeface="Arial"/>
              <a:cs typeface="Arial"/>
            </a:endParaRPr>
          </a:p>
          <a:p>
            <a:pPr marL="303530" marR="163195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30797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Expansive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view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0" dirty="0">
                <a:latin typeface="Arial"/>
                <a:cs typeface="Arial"/>
              </a:rPr>
              <a:t> existing 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extended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additional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definitions</a:t>
            </a:r>
            <a:endParaRPr sz="1000">
              <a:latin typeface="Arial"/>
              <a:cs typeface="Arial"/>
            </a:endParaRPr>
          </a:p>
          <a:p>
            <a:pPr marL="307340" marR="40005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decentralized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networked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which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necessarily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multiple computers.</a:t>
            </a:r>
            <a:endParaRPr sz="900">
              <a:latin typeface="Arial"/>
              <a:cs typeface="Arial"/>
            </a:endParaRPr>
          </a:p>
          <a:p>
            <a:pPr marL="307340" marR="431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sufficiently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spread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computers.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Some</a:t>
            </a:r>
            <a:r>
              <a:rPr spc="-45" dirty="0"/>
              <a:t> </a:t>
            </a:r>
            <a:r>
              <a:rPr dirty="0"/>
              <a:t>common</a:t>
            </a:r>
            <a:r>
              <a:rPr spc="-45" dirty="0"/>
              <a:t> </a:t>
            </a:r>
            <a:r>
              <a:rPr spc="-10" dirty="0"/>
              <a:t>misconceptions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99476"/>
            <a:ext cx="3896995" cy="9302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endParaRPr sz="1000">
              <a:latin typeface="Arial"/>
              <a:cs typeface="Arial"/>
            </a:endParaRPr>
          </a:p>
          <a:p>
            <a:pPr marL="254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logically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physically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centralized.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Domain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System: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ts val="94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logically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physically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(massively)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Some</a:t>
            </a:r>
            <a:r>
              <a:rPr spc="-45" dirty="0"/>
              <a:t> </a:t>
            </a:r>
            <a:r>
              <a:rPr dirty="0"/>
              <a:t>common</a:t>
            </a:r>
            <a:r>
              <a:rPr spc="-45" dirty="0"/>
              <a:t> </a:t>
            </a:r>
            <a:r>
              <a:rPr spc="-10" dirty="0"/>
              <a:t>misconceptions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99476"/>
            <a:ext cx="3935095" cy="171894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endParaRPr sz="1000" dirty="0">
              <a:latin typeface="Arial"/>
              <a:cs typeface="Arial"/>
            </a:endParaRPr>
          </a:p>
          <a:p>
            <a:pPr marL="50800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logically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physically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centralized.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Domain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System:</a:t>
            </a:r>
            <a:endParaRPr sz="900" dirty="0">
              <a:latin typeface="Arial"/>
              <a:cs typeface="Arial"/>
            </a:endParaRPr>
          </a:p>
          <a:p>
            <a:pPr marL="303530" indent="-120650">
              <a:lnSpc>
                <a:spcPts val="940"/>
              </a:lnSpc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logically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endParaRPr sz="900" dirty="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latin typeface="Arial"/>
                <a:cs typeface="Arial"/>
              </a:rPr>
              <a:t>physically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(massively)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 dirty="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have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point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failure</a:t>
            </a:r>
            <a:endParaRPr sz="1000" dirty="0">
              <a:latin typeface="Arial"/>
              <a:cs typeface="Arial"/>
            </a:endParaRPr>
          </a:p>
          <a:p>
            <a:pPr marL="50800">
              <a:lnSpc>
                <a:spcPts val="1045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Generally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DNS).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often:</a:t>
            </a:r>
            <a:endParaRPr sz="900" dirty="0">
              <a:latin typeface="Arial"/>
              <a:cs typeface="Arial"/>
            </a:endParaRPr>
          </a:p>
          <a:p>
            <a:pPr marL="303530" indent="-120650">
              <a:lnSpc>
                <a:spcPts val="1045"/>
              </a:lnSpc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easier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</a:t>
            </a:r>
            <a:endParaRPr sz="900" dirty="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easier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robust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Some</a:t>
            </a:r>
            <a:r>
              <a:rPr spc="-45" dirty="0"/>
              <a:t> </a:t>
            </a:r>
            <a:r>
              <a:rPr dirty="0"/>
              <a:t>common</a:t>
            </a:r>
            <a:r>
              <a:rPr spc="-45" dirty="0"/>
              <a:t> </a:t>
            </a:r>
            <a:r>
              <a:rPr spc="-10" dirty="0"/>
              <a:t>misconceptions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6494" y="499476"/>
            <a:ext cx="3977004" cy="25082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endParaRPr sz="1000">
              <a:latin typeface="Arial"/>
              <a:cs typeface="Arial"/>
            </a:endParaRPr>
          </a:p>
          <a:p>
            <a:pPr marL="63500" marR="5969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logically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physically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centralized.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Domain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System:</a:t>
            </a:r>
            <a:endParaRPr sz="900">
              <a:latin typeface="Arial"/>
              <a:cs typeface="Arial"/>
            </a:endParaRPr>
          </a:p>
          <a:p>
            <a:pPr marL="316230" indent="-120650">
              <a:lnSpc>
                <a:spcPts val="940"/>
              </a:lnSpc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logically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endParaRPr sz="900">
              <a:latin typeface="Arial"/>
              <a:cs typeface="Arial"/>
            </a:endParaRPr>
          </a:p>
          <a:p>
            <a:pPr marL="3162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spc="-10" dirty="0">
                <a:latin typeface="Arial"/>
                <a:cs typeface="Arial"/>
              </a:rPr>
              <a:t>physically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(massively)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endParaRPr sz="900">
              <a:latin typeface="Arial"/>
              <a:cs typeface="Arial"/>
            </a:endParaRPr>
          </a:p>
          <a:p>
            <a:pPr marL="316230" indent="-120650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have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point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failure</a:t>
            </a:r>
            <a:endParaRPr sz="1000">
              <a:latin typeface="Arial"/>
              <a:cs typeface="Arial"/>
            </a:endParaRPr>
          </a:p>
          <a:p>
            <a:pPr marL="63500">
              <a:lnSpc>
                <a:spcPts val="1045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Generally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DNS).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often:</a:t>
            </a:r>
            <a:endParaRPr sz="900">
              <a:latin typeface="Arial"/>
              <a:cs typeface="Arial"/>
            </a:endParaRPr>
          </a:p>
          <a:p>
            <a:pPr marL="316230" indent="-120650">
              <a:lnSpc>
                <a:spcPts val="1045"/>
              </a:lnSpc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easier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</a:t>
            </a:r>
            <a:endParaRPr sz="900">
              <a:latin typeface="Arial"/>
              <a:cs typeface="Arial"/>
            </a:endParaRPr>
          </a:p>
          <a:p>
            <a:pPr marL="3162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easier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robust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Important</a:t>
            </a:r>
            <a:endParaRPr sz="1000">
              <a:latin typeface="Arial"/>
              <a:cs typeface="Arial"/>
            </a:endParaRPr>
          </a:p>
          <a:p>
            <a:pPr marL="63500" marR="177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many,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poorly</a:t>
            </a:r>
            <a:r>
              <a:rPr sz="900" spc="-10" dirty="0">
                <a:latin typeface="Arial"/>
                <a:cs typeface="Arial"/>
              </a:rPr>
              <a:t> founded,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misconceptions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regarding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scalability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fault tolerance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security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etc.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develop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skills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readily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understood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judge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misconceptions.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15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2" action="ppaction://hlinksldjump"/>
              </a:rPr>
              <a:t>Distributed versus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decentralized</a:t>
            </a:r>
            <a:r>
              <a:rPr sz="500" spc="5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78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  <a:tabLst>
                <a:tab pos="31559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55950" algn="l"/>
              </a:tabLst>
            </a:pPr>
            <a:endParaRPr sz="5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Perspectives</a:t>
            </a:r>
            <a:r>
              <a:rPr spc="-45" dirty="0"/>
              <a:t> </a:t>
            </a:r>
            <a:r>
              <a:rPr dirty="0"/>
              <a:t>on</a:t>
            </a:r>
            <a:r>
              <a:rPr spc="-45" dirty="0"/>
              <a:t> </a:t>
            </a:r>
            <a:r>
              <a:rPr dirty="0"/>
              <a:t>distributed</a:t>
            </a:r>
            <a:r>
              <a:rPr spc="-4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904" cy="1894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complex: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take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persepctives</a:t>
            </a:r>
            <a:endParaRPr sz="10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00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Architecture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common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kind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relationships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facilities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data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0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Coordination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application-</a:t>
            </a:r>
            <a:r>
              <a:rPr sz="900" dirty="0">
                <a:latin typeface="Arial"/>
                <a:cs typeface="Arial"/>
              </a:rPr>
              <a:t>independent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algorithms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Naming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resources?</a:t>
            </a:r>
            <a:endParaRPr sz="900" dirty="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00"/>
              </a:spcBef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Consistency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same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Fault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tolerance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partial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failures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83058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Studying</a:t>
            </a:r>
            <a:r>
              <a:rPr sz="5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650" y="-1515"/>
            <a:ext cx="1258989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2049780" cy="1332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do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want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achieve?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Overall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design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goals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Support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resources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Distribution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Openness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Scalability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650" y="-1515"/>
            <a:ext cx="1258989" cy="891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500" spc="-10" dirty="0">
                <a:solidFill>
                  <a:srgbClr val="FFFFFF"/>
                </a:solidFill>
                <a:latin typeface="Arial"/>
                <a:cs typeface="Arial"/>
              </a:rPr>
              <a:t>CSC334 – Parallel &amp; Distributed Computing</a:t>
            </a:r>
            <a:endParaRPr lang="en-US" sz="5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584575" cy="1995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Sharing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resources</a:t>
            </a: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Canonical</a:t>
            </a:r>
            <a:r>
              <a:rPr sz="1000" spc="-5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examples</a:t>
            </a:r>
            <a:endParaRPr sz="10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Cloud-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storage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files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Peer-</a:t>
            </a:r>
            <a:r>
              <a:rPr sz="900" spc="-10" dirty="0">
                <a:latin typeface="Arial"/>
                <a:cs typeface="Arial"/>
              </a:rPr>
              <a:t>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assisted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multimedia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streaming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Shared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(think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outsourced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systems)</a:t>
            </a:r>
            <a:endParaRPr sz="900" dirty="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Shared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Web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hosting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(think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content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networks)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 dirty="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 dirty="0">
              <a:latin typeface="Arial"/>
              <a:cs typeface="Arial"/>
            </a:endParaRPr>
          </a:p>
          <a:p>
            <a:pPr marL="540385">
              <a:lnSpc>
                <a:spcPct val="100000"/>
              </a:lnSpc>
              <a:spcBef>
                <a:spcPts val="45"/>
              </a:spcBef>
            </a:pPr>
            <a:r>
              <a:rPr sz="900" i="1" dirty="0">
                <a:latin typeface="Arial"/>
                <a:cs typeface="Arial"/>
              </a:rPr>
              <a:t>“The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network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computer”</a:t>
            </a:r>
            <a:endParaRPr sz="900" dirty="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latin typeface="Arial"/>
                <a:cs typeface="Arial"/>
              </a:rPr>
              <a:t>(quote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John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Gage,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Microsystems)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67" y="3346954"/>
            <a:ext cx="52260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Resource</a:t>
            </a:r>
            <a:r>
              <a:rPr sz="500" spc="-3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sharing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024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81" y="562907"/>
            <a:ext cx="3156238" cy="12375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350" y="1885089"/>
            <a:ext cx="3905250" cy="7023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transparency?</a:t>
            </a:r>
            <a:endParaRPr sz="1000">
              <a:latin typeface="Arial"/>
              <a:cs typeface="Arial"/>
            </a:endParaRPr>
          </a:p>
          <a:p>
            <a:pPr marL="18415" marR="50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phenomenon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which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distributed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attempts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9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that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processes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resources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physically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multiple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computers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possibly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separated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large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distances</a:t>
            </a:r>
            <a:r>
              <a:rPr sz="900" i="1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024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881" y="562907"/>
            <a:ext cx="3156238" cy="123750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1350" y="1885089"/>
            <a:ext cx="3905250" cy="12611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transparency?</a:t>
            </a:r>
            <a:endParaRPr sz="1000">
              <a:latin typeface="Arial"/>
              <a:cs typeface="Arial"/>
            </a:endParaRPr>
          </a:p>
          <a:p>
            <a:pPr marL="18415" marR="50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phenomenon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by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which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distributed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attempts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to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9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fact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that </a:t>
            </a:r>
            <a:r>
              <a:rPr sz="900" i="1" dirty="0">
                <a:latin typeface="Arial"/>
                <a:cs typeface="Arial"/>
              </a:rPr>
              <a:t>its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processes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resources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are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physically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900" i="1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multiple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computers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possibly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separated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large</a:t>
            </a:r>
            <a:r>
              <a:rPr sz="900" i="1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distances</a:t>
            </a:r>
            <a:r>
              <a:rPr sz="900" i="1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8415" marR="10795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Distribution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transparancy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techniques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layer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middleware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layer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7024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200" spc="-8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Types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3141" y="792708"/>
          <a:ext cx="3716654" cy="1859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Transparency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3333B2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Access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220979">
                        <a:lnSpc>
                          <a:spcPts val="1210"/>
                        </a:lnSpc>
                        <a:spcBef>
                          <a:spcPts val="3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differences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in data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representation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and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how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accessed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where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moved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another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429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while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use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Migration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move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another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Replication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replicated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39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Concurrency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object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shared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several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independent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users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Hide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failure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recovery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object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57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40995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Aiming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much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475990" cy="721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Aiming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much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hidden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Degree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transparency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514774"/>
            <a:ext cx="3943350" cy="1233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Aiming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much</a:t>
            </a:r>
            <a:endParaRPr sz="1000">
              <a:latin typeface="Arial"/>
              <a:cs typeface="Arial"/>
            </a:endParaRPr>
          </a:p>
          <a:p>
            <a:pPr marL="278765" indent="-117475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hidden</a:t>
            </a:r>
            <a:endParaRPr sz="900">
              <a:latin typeface="Arial"/>
              <a:cs typeface="Arial"/>
            </a:endParaRPr>
          </a:p>
          <a:p>
            <a:pPr marL="282575" marR="161925" indent="-120650">
              <a:lnSpc>
                <a:spcPct val="111600"/>
              </a:lnSpc>
              <a:spcBef>
                <a:spcPts val="29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Completely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hiding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(theoretically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practically)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impossible</a:t>
            </a:r>
            <a:endParaRPr sz="900">
              <a:latin typeface="Arial"/>
              <a:cs typeface="Arial"/>
            </a:endParaRPr>
          </a:p>
          <a:p>
            <a:pPr marL="531495" lvl="1" indent="-116839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one</a:t>
            </a:r>
            <a:endParaRPr sz="900">
              <a:latin typeface="Arial"/>
              <a:cs typeface="Arial"/>
            </a:endParaRPr>
          </a:p>
          <a:p>
            <a:pPr marL="535305" marR="17780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60" dirty="0">
                <a:latin typeface="Arial"/>
                <a:cs typeface="Arial"/>
              </a:rPr>
              <a:t>You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never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crash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Degree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transparency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514774"/>
            <a:ext cx="3943350" cy="1908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Aiming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full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much</a:t>
            </a:r>
            <a:endParaRPr sz="1000">
              <a:latin typeface="Arial"/>
              <a:cs typeface="Arial"/>
            </a:endParaRPr>
          </a:p>
          <a:p>
            <a:pPr marL="278765" indent="-117475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hidden</a:t>
            </a:r>
            <a:endParaRPr sz="900">
              <a:latin typeface="Arial"/>
              <a:cs typeface="Arial"/>
            </a:endParaRPr>
          </a:p>
          <a:p>
            <a:pPr marL="282575" marR="161925" indent="-120650">
              <a:lnSpc>
                <a:spcPct val="111600"/>
              </a:lnSpc>
              <a:spcBef>
                <a:spcPts val="295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Completely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hiding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(theoretically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practically)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impossible</a:t>
            </a:r>
            <a:endParaRPr sz="900">
              <a:latin typeface="Arial"/>
              <a:cs typeface="Arial"/>
            </a:endParaRPr>
          </a:p>
          <a:p>
            <a:pPr marL="531495" lvl="1" indent="-116839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45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slow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one</a:t>
            </a:r>
            <a:endParaRPr sz="900">
              <a:latin typeface="Arial"/>
              <a:cs typeface="Arial"/>
            </a:endParaRPr>
          </a:p>
          <a:p>
            <a:pPr marL="535305" marR="17780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spc="-60" dirty="0">
                <a:latin typeface="Arial"/>
                <a:cs typeface="Arial"/>
              </a:rPr>
              <a:t>You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never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operation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crash</a:t>
            </a:r>
            <a:endParaRPr sz="900">
              <a:latin typeface="Arial"/>
              <a:cs typeface="Arial"/>
            </a:endParaRPr>
          </a:p>
          <a:p>
            <a:pPr marL="282575" marR="26606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latin typeface="Arial"/>
                <a:cs typeface="Arial"/>
              </a:rPr>
              <a:t>Full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r>
              <a:rPr sz="900" dirty="0">
                <a:latin typeface="Arial"/>
                <a:cs typeface="Arial"/>
              </a:rPr>
              <a:t> will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cost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performance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exposing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distribution of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spc="-10" dirty="0">
                <a:latin typeface="Arial"/>
                <a:cs typeface="Arial"/>
              </a:rPr>
              <a:t>system</a:t>
            </a:r>
            <a:endParaRPr sz="900">
              <a:latin typeface="Arial"/>
              <a:cs typeface="Arial"/>
            </a:endParaRPr>
          </a:p>
          <a:p>
            <a:pPr marL="535305" lvl="1" indent="-120650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5940" algn="l"/>
              </a:tabLst>
            </a:pPr>
            <a:r>
              <a:rPr sz="900" spc="-10" dirty="0">
                <a:latin typeface="Arial"/>
                <a:cs typeface="Arial"/>
              </a:rPr>
              <a:t>Keeping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exactly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up-to-</a:t>
            </a:r>
            <a:r>
              <a:rPr sz="900" dirty="0">
                <a:latin typeface="Arial"/>
                <a:cs typeface="Arial"/>
              </a:rPr>
              <a:t>date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master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takes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time</a:t>
            </a:r>
            <a:endParaRPr sz="900">
              <a:latin typeface="Arial"/>
              <a:cs typeface="Arial"/>
            </a:endParaRPr>
          </a:p>
          <a:p>
            <a:pPr marL="535305" lvl="1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5940" algn="l"/>
              </a:tabLst>
            </a:pPr>
            <a:r>
              <a:rPr sz="900" dirty="0">
                <a:latin typeface="Arial"/>
                <a:cs typeface="Arial"/>
              </a:rPr>
              <a:t>Immediately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flushing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disk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fault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tolerance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53535" cy="1282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Exposing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distribution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may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be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good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(finding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friends)</a:t>
            </a:r>
            <a:endParaRPr sz="900">
              <a:latin typeface="Arial"/>
              <a:cs typeface="Arial"/>
            </a:endParaRPr>
          </a:p>
          <a:p>
            <a:pPr marL="537210" indent="-11493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zones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understand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what’s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(when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failing).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15130" cy="1917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Degree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transparency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Exposing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distribution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may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be</a:t>
            </a:r>
            <a:r>
              <a:rPr sz="1000" spc="-4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4C994C"/>
                </a:solidFill>
                <a:latin typeface="Arial"/>
                <a:cs typeface="Arial"/>
              </a:rPr>
              <a:t>good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(finding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friends)</a:t>
            </a:r>
            <a:endParaRPr sz="900">
              <a:latin typeface="Arial"/>
              <a:cs typeface="Arial"/>
            </a:endParaRPr>
          </a:p>
          <a:p>
            <a:pPr marL="549910" indent="-11493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zones</a:t>
            </a:r>
            <a:endParaRPr sz="900">
              <a:latin typeface="Arial"/>
              <a:cs typeface="Arial"/>
            </a:endParaRPr>
          </a:p>
          <a:p>
            <a:pPr marL="555625" marR="7874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understand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what’s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(when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failing).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Conclusion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Distribution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transparency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nice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goal,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achieving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story,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aimed</a:t>
            </a:r>
            <a:r>
              <a:rPr sz="900" spc="-25" dirty="0">
                <a:latin typeface="Arial"/>
                <a:cs typeface="Arial"/>
              </a:rPr>
              <a:t> at.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7245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Distribution</a:t>
            </a:r>
            <a:r>
              <a:rPr sz="500" spc="7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transparency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Openness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distributed</a:t>
            </a:r>
            <a:r>
              <a:rPr spc="-50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471706"/>
            <a:ext cx="3944620" cy="19500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434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  <a:p>
            <a:pPr marL="31115" marR="17780">
              <a:lnSpc>
                <a:spcPct val="111600"/>
              </a:lnSpc>
              <a:spcBef>
                <a:spcPts val="175"/>
              </a:spcBef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offers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can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easily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be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used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40" dirty="0">
                <a:latin typeface="Arial"/>
                <a:cs typeface="Arial"/>
              </a:rPr>
              <a:t>by,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integrated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 into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other</a:t>
            </a:r>
            <a:r>
              <a:rPr sz="900" i="1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open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distributed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system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itself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will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often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consist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of </a:t>
            </a:r>
            <a:r>
              <a:rPr sz="900" i="1" dirty="0">
                <a:latin typeface="Arial"/>
                <a:cs typeface="Arial"/>
              </a:rPr>
              <a:t>components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that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originate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from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elsewhere.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talking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about?</a:t>
            </a:r>
            <a:endParaRPr sz="1000">
              <a:latin typeface="Arial"/>
              <a:cs typeface="Arial"/>
            </a:endParaRPr>
          </a:p>
          <a:p>
            <a:pPr marL="31115" marR="61594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irrespective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underlying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environment: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well-</a:t>
            </a:r>
            <a:r>
              <a:rPr sz="900" dirty="0">
                <a:latin typeface="Arial"/>
                <a:cs typeface="Arial"/>
              </a:rPr>
              <a:t>defined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interfaces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interoperate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support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portability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extensible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Policies</a:t>
            </a:r>
            <a:r>
              <a:rPr spc="-50" dirty="0"/>
              <a:t> </a:t>
            </a:r>
            <a:r>
              <a:rPr dirty="0"/>
              <a:t>versus</a:t>
            </a:r>
            <a:r>
              <a:rPr spc="-50" dirty="0"/>
              <a:t> </a:t>
            </a:r>
            <a:r>
              <a:rPr spc="-10" dirty="0"/>
              <a:t>mechanisms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514774"/>
            <a:ext cx="3971925" cy="210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Implementing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openness: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policies</a:t>
            </a:r>
            <a:endParaRPr sz="10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cached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downloaded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perform?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QoS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requirements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bandwidth?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Implementing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openness: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000">
              <a:latin typeface="Arial"/>
              <a:cs typeface="Arial"/>
            </a:endParaRPr>
          </a:p>
          <a:p>
            <a:pPr marL="299720" indent="-116839">
              <a:lnSpc>
                <a:spcPct val="100000"/>
              </a:lnSpc>
              <a:spcBef>
                <a:spcPts val="70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Allow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(dynamic)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policies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Support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levels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trust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code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Provide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adjustable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QoS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parameters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Offer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algorithms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0" dirty="0"/>
              <a:t> </a:t>
            </a:r>
            <a:r>
              <a:rPr dirty="0"/>
              <a:t>strict</a:t>
            </a:r>
            <a:r>
              <a:rPr spc="-20" dirty="0"/>
              <a:t> </a:t>
            </a:r>
            <a:r>
              <a:rPr spc="-10" dirty="0"/>
              <a:t>separation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99476"/>
            <a:ext cx="3916679" cy="1234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stricter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mechanisms,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potentially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configuration </a:t>
            </a:r>
            <a:r>
              <a:rPr sz="900" dirty="0">
                <a:latin typeface="Arial"/>
                <a:cs typeface="Arial"/>
              </a:rPr>
              <a:t>parameters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Finding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balance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ct val="111600"/>
              </a:lnSpc>
              <a:spcBef>
                <a:spcPts val="180"/>
              </a:spcBef>
            </a:pPr>
            <a:r>
              <a:rPr sz="900" spc="-10" dirty="0">
                <a:latin typeface="Arial"/>
                <a:cs typeface="Arial"/>
              </a:rPr>
              <a:t>Hard-</a:t>
            </a:r>
            <a:r>
              <a:rPr sz="900" dirty="0">
                <a:latin typeface="Arial"/>
                <a:cs typeface="Arial"/>
              </a:rPr>
              <a:t>coding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simplifies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management,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flexibility.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obvious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4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Openness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Dependability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847" y="499476"/>
            <a:ext cx="3942715" cy="12338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8575" marR="17780" indent="-381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component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provides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clients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80" dirty="0">
                <a:latin typeface="Arial"/>
                <a:cs typeface="Arial"/>
              </a:rPr>
              <a:t>To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provide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 may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depend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component.</a:t>
            </a:r>
            <a:endParaRPr sz="900">
              <a:latin typeface="Arial"/>
              <a:cs typeface="Arial"/>
            </a:endParaRPr>
          </a:p>
          <a:p>
            <a:pPr marL="28575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Specifically</a:t>
            </a:r>
            <a:endParaRPr sz="1000">
              <a:latin typeface="Arial"/>
              <a:cs typeface="Arial"/>
            </a:endParaRPr>
          </a:p>
          <a:p>
            <a:pPr marL="28575" marR="17780" indent="-3810">
              <a:lnSpc>
                <a:spcPct val="111600"/>
              </a:lnSpc>
              <a:spcBef>
                <a:spcPts val="17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C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correctness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correctness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behavior.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(Components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channels.)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40855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Dependability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Requirements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related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dependability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9551" y="792708"/>
          <a:ext cx="3143885" cy="956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8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5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Requirement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Availability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Readiness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usage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Reliability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Continuity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delivery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Safety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Very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low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probability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catastrophes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Maintainability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easy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failed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system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repaired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Reliability</a:t>
            </a:r>
            <a:r>
              <a:rPr spc="-65" dirty="0"/>
              <a:t> </a:t>
            </a:r>
            <a:r>
              <a:rPr dirty="0"/>
              <a:t>versus</a:t>
            </a:r>
            <a:r>
              <a:rPr spc="-65" dirty="0"/>
              <a:t> </a:t>
            </a:r>
            <a:r>
              <a:rPr spc="-10" dirty="0"/>
              <a:t>availability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66654"/>
            <a:ext cx="3955415" cy="155067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4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Reliability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R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t</a:t>
            </a:r>
            <a:r>
              <a:rPr sz="1000" i="1" spc="-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of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component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335"/>
              </a:spcBef>
            </a:pPr>
            <a:r>
              <a:rPr sz="900" spc="-10" dirty="0">
                <a:latin typeface="Arial"/>
                <a:cs typeface="Arial"/>
              </a:rPr>
              <a:t>Conditional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10" dirty="0">
                <a:latin typeface="Arial"/>
                <a:cs typeface="Arial"/>
              </a:rPr>
              <a:t> functioning correctly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[0</a:t>
            </a:r>
            <a:r>
              <a:rPr sz="900" i="1" dirty="0">
                <a:latin typeface="Arial"/>
                <a:cs typeface="Arial"/>
              </a:rPr>
              <a:t>,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given</a:t>
            </a:r>
            <a:endParaRPr sz="9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0.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Traditional</a:t>
            </a:r>
            <a:r>
              <a:rPr sz="10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metrics</a:t>
            </a:r>
            <a:endParaRPr sz="10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MTTF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until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component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fails.</a:t>
            </a:r>
            <a:endParaRPr sz="900">
              <a:latin typeface="Arial"/>
              <a:cs typeface="Arial"/>
            </a:endParaRPr>
          </a:p>
          <a:p>
            <a:pPr marL="281940" marR="24701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65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900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Repair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MTTR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repair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component.</a:t>
            </a:r>
            <a:endParaRPr sz="900">
              <a:latin typeface="Arial"/>
              <a:cs typeface="Arial"/>
            </a:endParaRPr>
          </a:p>
          <a:p>
            <a:pPr marL="28194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Mean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Between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Failures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MTBF</a:t>
            </a:r>
            <a:r>
              <a:rPr sz="900" dirty="0">
                <a:latin typeface="Arial"/>
                <a:cs typeface="Arial"/>
              </a:rPr>
              <a:t>):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MTTF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+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MTTR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29286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Terminology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Failure,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error,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fault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4187" y="784237"/>
          <a:ext cx="3534408" cy="1074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9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R="6286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Term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493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not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living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up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to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specifications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Crashed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34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630">
                <a:tc>
                  <a:txBody>
                    <a:bodyPr/>
                    <a:lstStyle/>
                    <a:p>
                      <a:pPr marR="8128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Error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6319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Part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that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can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lead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failure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Programming</a:t>
                      </a:r>
                      <a:r>
                        <a:rPr sz="9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bug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R="8699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Cause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an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error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Sloppy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programmer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1061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Terminology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Handling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faults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0933" y="793788"/>
          <a:ext cx="3581398" cy="2181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33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55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20" dirty="0">
                          <a:latin typeface="Arial"/>
                          <a:cs typeface="Arial"/>
                        </a:rPr>
                        <a:t>Term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b="1" spc="-10" dirty="0">
                          <a:latin typeface="Arial"/>
                          <a:cs typeface="Arial"/>
                        </a:rPr>
                        <a:t>Example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15">
                <a:tc>
                  <a:txBody>
                    <a:bodyPr/>
                    <a:lstStyle/>
                    <a:p>
                      <a:pPr marL="78105" marR="32258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 prevention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Prevent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occurrence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392430">
                        <a:lnSpc>
                          <a:spcPct val="11160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Don’t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hire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sloppy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76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900" spc="-3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tolerance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2390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component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and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make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mask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the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occurrence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110489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Build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each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component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by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two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independent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</a:t>
                      </a:r>
                      <a:r>
                        <a:rPr sz="900" spc="-3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removal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651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048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presence,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number,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seriousness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fault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40957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Get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rid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sloppy 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78105" marR="294640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spc="-10" dirty="0">
                          <a:solidFill>
                            <a:srgbClr val="C80000"/>
                          </a:solidFill>
                          <a:latin typeface="Arial"/>
                          <a:cs typeface="Arial"/>
                        </a:rPr>
                        <a:t>Fault forecasting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7556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Estimate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current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presence,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future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incidence,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consequences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9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faults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 marR="89535">
                        <a:lnSpc>
                          <a:spcPct val="111600"/>
                        </a:lnSpc>
                        <a:spcBef>
                          <a:spcPts val="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Estimate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how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recruiter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doing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when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it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comes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hiring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sloppy</a:t>
                      </a:r>
                      <a:r>
                        <a:rPr sz="9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programmers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4089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Dependability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155950" cy="64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499307"/>
            <a:ext cx="3946525" cy="11442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111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7305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endParaRPr sz="10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</a:t>
            </a:r>
            <a:endParaRPr sz="900">
              <a:latin typeface="Arial"/>
              <a:cs typeface="Arial"/>
            </a:endParaRPr>
          </a:p>
          <a:p>
            <a:pPr marL="283845" marR="177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assets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25" dirty="0">
                <a:latin typeface="Arial"/>
                <a:cs typeface="Arial"/>
              </a:rPr>
              <a:t> way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On</a:t>
            </a:r>
            <a:r>
              <a:rPr spc="-2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5028" y="499307"/>
            <a:ext cx="3982720" cy="22275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dependable</a:t>
            </a:r>
            <a:endParaRPr sz="900">
              <a:latin typeface="Arial"/>
              <a:cs typeface="Arial"/>
            </a:endParaRPr>
          </a:p>
          <a:p>
            <a:pPr marL="48895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need</a:t>
            </a:r>
            <a:endParaRPr sz="10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Confidentiality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disclosed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parties</a:t>
            </a:r>
            <a:endParaRPr sz="900">
              <a:latin typeface="Arial"/>
              <a:cs typeface="Arial"/>
            </a:endParaRPr>
          </a:p>
          <a:p>
            <a:pPr marL="307975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alterations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assets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authorized</a:t>
            </a:r>
            <a:r>
              <a:rPr sz="900" spc="-25" dirty="0">
                <a:latin typeface="Arial"/>
                <a:cs typeface="Arial"/>
              </a:rPr>
              <a:t> way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Authorization,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Authentication,</a:t>
            </a:r>
            <a:r>
              <a:rPr sz="1000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Trust</a:t>
            </a:r>
            <a:endParaRPr sz="10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630"/>
              </a:spcBef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Authentication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verifying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correctness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claimed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identity</a:t>
            </a:r>
            <a:endParaRPr sz="900">
              <a:latin typeface="Arial"/>
              <a:cs typeface="Arial"/>
            </a:endParaRPr>
          </a:p>
          <a:p>
            <a:pPr marL="307975" indent="-121285">
              <a:lnSpc>
                <a:spcPct val="100000"/>
              </a:lnSpc>
              <a:spcBef>
                <a:spcPts val="425"/>
              </a:spcBef>
              <a:buFont typeface="Menlo"/>
              <a:buChar char="•"/>
              <a:tabLst>
                <a:tab pos="3086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Authorization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rights?</a:t>
            </a:r>
            <a:endParaRPr sz="900">
              <a:latin typeface="Arial"/>
              <a:cs typeface="Arial"/>
            </a:endParaRPr>
          </a:p>
          <a:p>
            <a:pPr marL="307975" marR="287655" indent="-120650">
              <a:lnSpc>
                <a:spcPct val="111600"/>
              </a:lnSpc>
              <a:spcBef>
                <a:spcPts val="300"/>
              </a:spcBef>
              <a:buFont typeface="Menlo"/>
              <a:buChar char="•"/>
              <a:tabLst>
                <a:tab pos="30861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Trust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entity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perform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particular </a:t>
            </a:r>
            <a:r>
              <a:rPr sz="900" dirty="0">
                <a:latin typeface="Arial"/>
                <a:cs typeface="Arial"/>
              </a:rPr>
              <a:t>actions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specific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expectation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497579" cy="1076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simple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It’s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decrypting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keys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900" i="1" spc="114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encrypt/decrypt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900" y="197711"/>
            <a:ext cx="4185285" cy="14124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Symmetric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cryptosystem</a:t>
            </a:r>
            <a:endParaRPr sz="1000">
              <a:latin typeface="Arial"/>
              <a:cs typeface="Arial"/>
            </a:endParaRPr>
          </a:p>
          <a:p>
            <a:pPr marL="28448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encryption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75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decryption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key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</a:t>
            </a:r>
            <a:r>
              <a:rPr sz="1050" i="1" spc="-15" baseline="-15873" dirty="0">
                <a:solidFill>
                  <a:srgbClr val="3333B2"/>
                </a:solidFill>
                <a:latin typeface="Arial"/>
                <a:cs typeface="Arial"/>
              </a:rPr>
              <a:t>K</a:t>
            </a:r>
            <a:r>
              <a:rPr sz="1050" i="1" spc="-75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289560" marR="30480">
              <a:lnSpc>
                <a:spcPct val="111600"/>
              </a:lnSpc>
              <a:spcBef>
                <a:spcPts val="5"/>
              </a:spcBef>
            </a:pPr>
            <a:r>
              <a:rPr sz="900" i="1" dirty="0">
                <a:latin typeface="Arial"/>
                <a:cs typeface="Arial"/>
              </a:rPr>
              <a:t>if 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E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then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67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.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Note: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descryption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key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kept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secret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Asymmetric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cryptosystem</a:t>
            </a:r>
            <a:endParaRPr sz="10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Distinguish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public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PK</a:t>
            </a:r>
            <a:r>
              <a:rPr sz="900" i="1" spc="-1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private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secret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key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SK</a:t>
            </a:r>
            <a:r>
              <a:rPr sz="900" i="1" spc="-1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spc="-1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9" name="object 2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C1CF09B-0A02-00B8-72BC-B6508B37C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37" y="1654678"/>
            <a:ext cx="3905250" cy="11287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10354" cy="1410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Secure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hashing</a:t>
            </a:r>
            <a:endParaRPr sz="1000">
              <a:latin typeface="Arial"/>
              <a:cs typeface="Arial"/>
            </a:endParaRPr>
          </a:p>
          <a:p>
            <a:pPr marL="289560" marR="151765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In </a:t>
            </a:r>
            <a:r>
              <a:rPr sz="900" spc="-10" dirty="0">
                <a:latin typeface="Arial"/>
                <a:cs typeface="Arial"/>
              </a:rPr>
              <a:t>practice,</a:t>
            </a:r>
            <a:r>
              <a:rPr sz="900" dirty="0">
                <a:latin typeface="Arial"/>
                <a:cs typeface="Arial"/>
              </a:rPr>
              <a:t> we use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secure hash functions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 returns a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fixed-length string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ts val="1005"/>
              </a:lnSpc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data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string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impossible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 </a:t>
            </a:r>
            <a:r>
              <a:rPr sz="900" spc="-20" dirty="0">
                <a:latin typeface="Arial"/>
                <a:cs typeface="Arial"/>
              </a:rPr>
              <a:t>with</a:t>
            </a:r>
            <a:endParaRPr sz="900">
              <a:latin typeface="Arial"/>
              <a:cs typeface="Arial"/>
            </a:endParaRPr>
          </a:p>
          <a:p>
            <a:pPr marL="542925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35754" cy="1922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Security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mechanisms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Secure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hashing</a:t>
            </a:r>
            <a:endParaRPr sz="1000">
              <a:latin typeface="Arial"/>
              <a:cs typeface="Arial"/>
            </a:endParaRPr>
          </a:p>
          <a:p>
            <a:pPr marL="302260" marR="164465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In </a:t>
            </a:r>
            <a:r>
              <a:rPr sz="900" spc="-10" dirty="0">
                <a:latin typeface="Arial"/>
                <a:cs typeface="Arial"/>
              </a:rPr>
              <a:t>practice,</a:t>
            </a:r>
            <a:r>
              <a:rPr sz="900" dirty="0">
                <a:latin typeface="Arial"/>
                <a:cs typeface="Arial"/>
              </a:rPr>
              <a:t> we use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secure hash functions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dirty="0">
                <a:latin typeface="Arial"/>
                <a:cs typeface="Arial"/>
              </a:rPr>
              <a:t>) returns a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fixed-length string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ts val="1005"/>
              </a:lnSpc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change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data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completely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different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string</a:t>
            </a:r>
            <a:endParaRPr sz="90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impossible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data </a:t>
            </a:r>
            <a:r>
              <a:rPr sz="900" spc="-20" dirty="0">
                <a:latin typeface="Arial"/>
                <a:cs typeface="Arial"/>
              </a:rPr>
              <a:t>with</a:t>
            </a:r>
            <a:endParaRPr sz="90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data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Practical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digital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signatures</a:t>
            </a:r>
            <a:endParaRPr sz="10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310"/>
              </a:spcBef>
            </a:pPr>
            <a:r>
              <a:rPr sz="900" dirty="0">
                <a:latin typeface="Arial"/>
                <a:cs typeface="Arial"/>
              </a:rPr>
              <a:t>Sign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Bob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Alice</a:t>
            </a:r>
            <a:r>
              <a:rPr sz="900" spc="-1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2" name="object 2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467" y="3349927"/>
            <a:ext cx="2552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Security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A3CEBDC-E66C-A32D-A356-207991441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75" y="2209617"/>
            <a:ext cx="3588504" cy="4792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89572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52729" marR="5080" indent="1079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adjective “scalable”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946525" cy="168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78130" marR="30480" indent="1079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adjective “scalable”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scales.</a:t>
            </a:r>
            <a:endParaRPr sz="9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least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(size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Maximum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(geographical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Number of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dirty="0">
                <a:latin typeface="Arial"/>
                <a:cs typeface="Arial"/>
              </a:rPr>
              <a:t> domains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(administrative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01795" cy="2473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Scale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0830" marR="273050" indent="10795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developers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modern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adjective “scalable”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clear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why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scales.</a:t>
            </a:r>
            <a:endParaRPr sz="9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least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(size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Maximum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(geographical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Number of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dirty="0">
                <a:latin typeface="Arial"/>
                <a:cs typeface="Arial"/>
              </a:rPr>
              <a:t> domains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(administrative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scalability)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Most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only,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certain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extent,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solution: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powerful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independently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Today,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challenge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geographical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administrative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242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Size</a:t>
            </a:r>
            <a:r>
              <a:rPr spc="-50" dirty="0"/>
              <a:t> </a:t>
            </a:r>
            <a:r>
              <a:rPr spc="-10" dirty="0"/>
              <a:t>scalability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904" cy="810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Root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capacity,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limited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CPUs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storage</a:t>
            </a:r>
            <a:r>
              <a:rPr sz="900" spc="-20" dirty="0">
                <a:latin typeface="Arial"/>
                <a:cs typeface="Arial"/>
              </a:rPr>
              <a:t> capacity, </a:t>
            </a:r>
            <a:r>
              <a:rPr sz="900" spc="-10" dirty="0">
                <a:latin typeface="Arial"/>
                <a:cs typeface="Arial"/>
              </a:rPr>
              <a:t>including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transfer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CPUs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disks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9731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Formal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service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can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modeled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queuing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1921" y="698907"/>
            <a:ext cx="2477565" cy="5459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9628" y="1365039"/>
            <a:ext cx="3587750" cy="1194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333375" marR="685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3302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infinite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capacity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arrival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dirty="0">
                <a:latin typeface="Arial"/>
                <a:cs typeface="Arial"/>
              </a:rPr>
              <a:t>influenced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length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processed.</a:t>
            </a:r>
            <a:endParaRPr sz="900">
              <a:latin typeface="Arial"/>
              <a:cs typeface="Arial"/>
            </a:endParaRPr>
          </a:p>
          <a:p>
            <a:pPr marL="329565" indent="-11747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30200" algn="l"/>
              </a:tabLst>
            </a:pPr>
            <a:r>
              <a:rPr sz="900" dirty="0">
                <a:latin typeface="Arial"/>
                <a:cs typeface="Arial"/>
              </a:rPr>
              <a:t>Arrival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λ</a:t>
            </a:r>
            <a:endParaRPr sz="900">
              <a:latin typeface="Arial"/>
              <a:cs typeface="Arial"/>
            </a:endParaRPr>
          </a:p>
          <a:p>
            <a:pPr marL="333375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34010" algn="l"/>
              </a:tabLst>
            </a:pPr>
            <a:r>
              <a:rPr sz="900" dirty="0">
                <a:latin typeface="Arial"/>
                <a:cs typeface="Arial"/>
              </a:rPr>
              <a:t>Processing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capacity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service: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µ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second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8001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Fraction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time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having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k</a:t>
            </a:r>
            <a:r>
              <a:rPr sz="1000" i="1" spc="7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requests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0D7C48C-5382-7493-4B10-01DF4AAE6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2720741"/>
            <a:ext cx="1308100" cy="45743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62013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Formal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Utilization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U</a:t>
            </a:r>
            <a:r>
              <a:rPr sz="1000" i="1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service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fraction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busy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3128" y="1310695"/>
            <a:ext cx="23920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Average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number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requests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0428" y="2281052"/>
            <a:ext cx="29591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Average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throughput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8" name="object 1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C49D820-B69F-B5C5-ACEE-F916E2947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802" y="813419"/>
            <a:ext cx="2457450" cy="3970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1DFC8D-81CB-FBCC-B532-39FD72FFDA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33" y="1599728"/>
            <a:ext cx="3998323" cy="50708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7B07C8-FA4D-8108-0A7A-697A20C771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787" y="2512240"/>
            <a:ext cx="2304415" cy="5094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00" y="197711"/>
            <a:ext cx="4148454" cy="4918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Formal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analysis</a:t>
            </a:r>
            <a:endParaRPr sz="1200">
              <a:latin typeface="Arial"/>
              <a:cs typeface="Arial"/>
            </a:endParaRPr>
          </a:p>
          <a:p>
            <a:pPr marL="251460" algn="ctr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Response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total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take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request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after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submissio</a:t>
            </a:r>
            <a:r>
              <a:rPr lang="en-US" sz="1000" spc="-10" dirty="0">
                <a:solidFill>
                  <a:srgbClr val="3333B2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7804" y="934240"/>
            <a:ext cx="2764155" cy="3854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468120">
              <a:lnSpc>
                <a:spcPct val="100000"/>
              </a:lnSpc>
              <a:spcBef>
                <a:spcPts val="434"/>
              </a:spcBef>
              <a:tabLst>
                <a:tab pos="1730375" algn="l"/>
                <a:tab pos="2202815" algn="l"/>
                <a:tab pos="2459355" algn="l"/>
              </a:tabLst>
            </a:pP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40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1050" u="sng" baseline="27777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050" spc="300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10" dirty="0">
                <a:latin typeface="Arial"/>
                <a:cs typeface="Arial"/>
              </a:rPr>
              <a:t> time.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1894" y="1222136"/>
            <a:ext cx="3531870" cy="1090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µ</a:t>
            </a:r>
            <a:endParaRPr sz="7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small,</a:t>
            </a:r>
            <a:r>
              <a:rPr sz="900" spc="-10" dirty="0">
                <a:latin typeface="Arial"/>
                <a:cs typeface="Arial"/>
              </a:rPr>
              <a:t> response-to-</a:t>
            </a:r>
            <a:r>
              <a:rPr sz="900" dirty="0">
                <a:latin typeface="Arial"/>
                <a:cs typeface="Arial"/>
              </a:rPr>
              <a:t>service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immediately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processed</a:t>
            </a:r>
            <a:endParaRPr sz="900">
              <a:latin typeface="Arial"/>
              <a:cs typeface="Arial"/>
            </a:endParaRPr>
          </a:p>
          <a:p>
            <a:pPr marL="290830" marR="50165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grinding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halt. </a:t>
            </a:r>
            <a:r>
              <a:rPr sz="900" dirty="0">
                <a:latin typeface="Arial"/>
                <a:cs typeface="Arial"/>
              </a:rPr>
              <a:t>Solution: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decrease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DD0778-59E8-56CF-B961-39204507E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666" y="776809"/>
            <a:ext cx="1808657" cy="39269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0" y="197711"/>
            <a:ext cx="4219575" cy="1866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geographical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530225" marR="45085" indent="-120650">
              <a:lnSpc>
                <a:spcPct val="111600"/>
              </a:lnSpc>
              <a:spcBef>
                <a:spcPts val="895"/>
              </a:spcBef>
              <a:buClr>
                <a:srgbClr val="3333B2"/>
              </a:buClr>
              <a:buFont typeface="Menlo"/>
              <a:buChar char="•"/>
              <a:tabLst>
                <a:tab pos="530860" algn="l"/>
              </a:tabLst>
            </a:pPr>
            <a:r>
              <a:rPr sz="900" dirty="0">
                <a:latin typeface="Arial"/>
                <a:cs typeface="Arial"/>
              </a:rPr>
              <a:t>Cannot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WAN: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assume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synchronous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client-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interactions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waits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Latency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prohibit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scheme.</a:t>
            </a:r>
            <a:endParaRPr sz="900">
              <a:latin typeface="Arial"/>
              <a:cs typeface="Arial"/>
            </a:endParaRPr>
          </a:p>
          <a:p>
            <a:pPr marL="530225" marR="4572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25145" algn="l"/>
              </a:tabLst>
            </a:pPr>
            <a:r>
              <a:rPr sz="900" spc="-20" dirty="0">
                <a:latin typeface="Arial"/>
                <a:cs typeface="Arial"/>
              </a:rPr>
              <a:t>WAN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inherently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unreliable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streaming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video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fail.</a:t>
            </a:r>
            <a:endParaRPr sz="900">
              <a:latin typeface="Arial"/>
              <a:cs typeface="Arial"/>
            </a:endParaRPr>
          </a:p>
          <a:p>
            <a:pPr marL="530225" marR="43180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5308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Lack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multipoint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broadcast cannot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deployed.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develop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separate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naming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directory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services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scalability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20210" cy="2767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administrative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scalability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302260" marR="431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Conflicting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policies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concerning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payment),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management,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spc="-10" dirty="0">
                <a:latin typeface="Arial"/>
                <a:cs typeface="Arial"/>
              </a:rPr>
              <a:t>security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Examples</a:t>
            </a:r>
            <a:endParaRPr sz="1000">
              <a:latin typeface="Arial"/>
              <a:cs typeface="Arial"/>
            </a:endParaRPr>
          </a:p>
          <a:p>
            <a:pPr marL="555625" marR="317500" indent="-120650">
              <a:lnSpc>
                <a:spcPct val="111600"/>
              </a:lnSpc>
              <a:spcBef>
                <a:spcPts val="56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Computational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grids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expensive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domains.</a:t>
            </a:r>
            <a:endParaRPr sz="900">
              <a:latin typeface="Arial"/>
              <a:cs typeface="Arial"/>
            </a:endParaRPr>
          </a:p>
          <a:p>
            <a:pPr marL="555625" marR="248285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Shared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equipment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radio </a:t>
            </a:r>
            <a:r>
              <a:rPr sz="900" dirty="0">
                <a:latin typeface="Arial"/>
                <a:cs typeface="Arial"/>
              </a:rPr>
              <a:t>telescope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constructed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network?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Exception:</a:t>
            </a:r>
            <a:r>
              <a:rPr sz="1000" spc="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several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peer-to-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peer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networks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File-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(based,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e.g.,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BitTorrent)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Peer-</a:t>
            </a:r>
            <a:r>
              <a:rPr sz="900" spc="-10" dirty="0">
                <a:latin typeface="Arial"/>
                <a:cs typeface="Arial"/>
              </a:rPr>
              <a:t>to-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telephony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(early</a:t>
            </a:r>
            <a:r>
              <a:rPr sz="900" spc="-10" dirty="0">
                <a:latin typeface="Arial"/>
                <a:cs typeface="Arial"/>
              </a:rPr>
              <a:t> versions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Skype)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ts val="1045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20" dirty="0">
                <a:latin typeface="Arial"/>
                <a:cs typeface="Arial"/>
              </a:rPr>
              <a:t>Peer-</a:t>
            </a:r>
            <a:r>
              <a:rPr sz="900" dirty="0">
                <a:latin typeface="Arial"/>
                <a:cs typeface="Arial"/>
              </a:rPr>
              <a:t>assisted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audio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streaming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(Spotify)</a:t>
            </a:r>
            <a:endParaRPr sz="900">
              <a:latin typeface="Arial"/>
              <a:cs typeface="Arial"/>
            </a:endParaRPr>
          </a:p>
          <a:p>
            <a:pPr marL="302260">
              <a:lnSpc>
                <a:spcPts val="1045"/>
              </a:lnSpc>
            </a:pPr>
            <a:r>
              <a:rPr sz="900" dirty="0">
                <a:latin typeface="Arial"/>
                <a:cs typeface="Arial"/>
              </a:rPr>
              <a:t>Note: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end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users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collaborate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administrative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entities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2875915" cy="1102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Hide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latencies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asynchronous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separate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Font typeface="Menlo"/>
              <a:buChar char="•"/>
              <a:tabLst>
                <a:tab pos="54356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Problem:</a:t>
            </a:r>
            <a:r>
              <a:rPr sz="9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model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114675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8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Facilitate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moving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computations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client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9994" y="929127"/>
            <a:ext cx="3896278" cy="869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994" y="1975288"/>
            <a:ext cx="3888364" cy="89756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561715" cy="1127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Partition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computations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across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multiple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machines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(Java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scripts)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naming services </a:t>
            </a:r>
            <a:r>
              <a:rPr sz="900" spc="-10" dirty="0">
                <a:latin typeface="Arial"/>
                <a:cs typeface="Arial"/>
              </a:rPr>
              <a:t>(DNS)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spc="-10" dirty="0">
                <a:latin typeface="Arial"/>
                <a:cs typeface="Arial"/>
              </a:rPr>
              <a:t>Decentralized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(WWW)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35425" cy="1439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Techniques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scaling</a:t>
            </a:r>
            <a:endParaRPr sz="1200">
              <a:latin typeface="Arial"/>
              <a:cs typeface="Arial"/>
            </a:endParaRPr>
          </a:p>
          <a:p>
            <a:pPr marL="289560" marR="30480">
              <a:lnSpc>
                <a:spcPct val="109600"/>
              </a:lnSpc>
              <a:spcBef>
                <a:spcPts val="6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caching: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Make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copies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available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 machines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Replicated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databases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Mirrored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Websites</a:t>
            </a:r>
            <a:endParaRPr sz="900">
              <a:latin typeface="Arial"/>
              <a:cs typeface="Arial"/>
            </a:endParaRPr>
          </a:p>
          <a:p>
            <a:pPr marL="537210" indent="-11493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Web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browsers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proxies)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caching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610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47820" cy="875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(cached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replicated),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inconsistencies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47820" cy="1231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(cached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replicated),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inconsistencies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rest.</a:t>
            </a:r>
            <a:endParaRPr sz="900">
              <a:latin typeface="Arial"/>
              <a:cs typeface="Arial"/>
            </a:endParaRPr>
          </a:p>
          <a:p>
            <a:pPr marL="542925" marR="5651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global synchronization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modification.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47820" cy="1435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857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(cached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replicated),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inconsistencies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rest.</a:t>
            </a:r>
            <a:endParaRPr sz="900">
              <a:latin typeface="Arial"/>
              <a:cs typeface="Arial"/>
            </a:endParaRPr>
          </a:p>
          <a:p>
            <a:pPr marL="542925" marR="5651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global synchronization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modification.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Global </a:t>
            </a:r>
            <a:r>
              <a:rPr sz="900" spc="-10" dirty="0">
                <a:latin typeface="Arial"/>
                <a:cs typeface="Arial"/>
              </a:rPr>
              <a:t>synchronization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precludes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63479" y="-1515"/>
            <a:ext cx="39116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Design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goals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73220" cy="2070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Scaling: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Applying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easy,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thing</a:t>
            </a:r>
            <a:endParaRPr sz="10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Having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(cached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replicated),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inconsistencies</a:t>
            </a:r>
            <a:r>
              <a:rPr sz="900" spc="-10" dirty="0">
                <a:latin typeface="Arial"/>
                <a:cs typeface="Arial"/>
              </a:rPr>
              <a:t>: </a:t>
            </a:r>
            <a:r>
              <a:rPr sz="900" dirty="0">
                <a:latin typeface="Arial"/>
                <a:cs typeface="Arial"/>
              </a:rPr>
              <a:t>modifying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rest.</a:t>
            </a:r>
            <a:endParaRPr sz="900">
              <a:latin typeface="Arial"/>
              <a:cs typeface="Arial"/>
            </a:endParaRPr>
          </a:p>
          <a:p>
            <a:pPr marL="555625" marR="6921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consistent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global synchronization</a:t>
            </a:r>
            <a:r>
              <a:rPr sz="900" spc="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modification.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Global </a:t>
            </a:r>
            <a:r>
              <a:rPr sz="900" spc="-10" dirty="0">
                <a:latin typeface="Arial"/>
                <a:cs typeface="Arial"/>
              </a:rPr>
              <a:t>synchronization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precludes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2260" marR="257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tolerate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inconsistencies,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global synchronization,</a:t>
            </a:r>
            <a:r>
              <a:rPr sz="900" dirty="0">
                <a:latin typeface="Arial"/>
                <a:cs typeface="Arial"/>
              </a:rPr>
              <a:t> but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tolerating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inconsistencies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application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dependent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10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Scalability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Parallel</a:t>
            </a:r>
            <a:r>
              <a:rPr spc="-40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307"/>
            <a:ext cx="3622675" cy="5994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spc="-10" dirty="0">
                <a:latin typeface="Arial"/>
                <a:cs typeface="Arial"/>
              </a:rPr>
              <a:t>High-performance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parallel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computing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Multiprocessor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multicore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versus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multicomputer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575" y="1113784"/>
            <a:ext cx="1203339" cy="10557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03770" y="1104488"/>
            <a:ext cx="1598858" cy="1060002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45" dirty="0"/>
              <a:t> </a:t>
            </a:r>
            <a:r>
              <a:rPr dirty="0"/>
              <a:t>shared</a:t>
            </a:r>
            <a:r>
              <a:rPr spc="-40" dirty="0"/>
              <a:t> </a:t>
            </a:r>
            <a:r>
              <a:rPr dirty="0"/>
              <a:t>memory</a:t>
            </a:r>
            <a:r>
              <a:rPr spc="-4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917315" cy="24060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indent="31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Multiprocessors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relatively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comparison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spc="-10" dirty="0">
                <a:latin typeface="Arial"/>
                <a:cs typeface="Arial"/>
              </a:rPr>
              <a:t>multicomputers,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processors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cores).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Try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implement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shared-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memory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model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multicomputer.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40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through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virtual-memory</a:t>
            </a:r>
            <a:r>
              <a:rPr sz="1000" spc="-3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techniques</a:t>
            </a:r>
            <a:endParaRPr sz="1000">
              <a:latin typeface="Arial"/>
              <a:cs typeface="Arial"/>
            </a:endParaRPr>
          </a:p>
          <a:p>
            <a:pPr marL="15875" marR="5080">
              <a:lnSpc>
                <a:spcPct val="111600"/>
              </a:lnSpc>
              <a:spcBef>
                <a:spcPts val="185"/>
              </a:spcBef>
            </a:pPr>
            <a:r>
              <a:rPr sz="900" dirty="0">
                <a:latin typeface="Arial"/>
                <a:cs typeface="Arial"/>
              </a:rPr>
              <a:t>Map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main-</a:t>
            </a:r>
            <a:r>
              <a:rPr sz="900" dirty="0">
                <a:latin typeface="Arial"/>
                <a:cs typeface="Arial"/>
              </a:rPr>
              <a:t>memory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processors)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virtual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address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addresses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 </a:t>
            </a:r>
            <a:r>
              <a:rPr sz="900" dirty="0">
                <a:latin typeface="Arial"/>
                <a:cs typeface="Arial"/>
              </a:rPr>
              <a:t>processor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traps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fetches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900" i="1" spc="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would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had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disk.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15875" marR="73660" algn="just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Performance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memory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compete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of </a:t>
            </a:r>
            <a:r>
              <a:rPr sz="900" spc="-10" dirty="0">
                <a:latin typeface="Arial"/>
                <a:cs typeface="Arial"/>
              </a:rPr>
              <a:t>multiprocessors,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failed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programmers.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has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widely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abandoned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now.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Cluster</a:t>
            </a:r>
            <a:r>
              <a:rPr spc="-4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756025" cy="557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Essentially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group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high-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connected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through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LAN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Homogeneous: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near-</a:t>
            </a:r>
            <a:r>
              <a:rPr sz="900" dirty="0">
                <a:latin typeface="Arial"/>
                <a:cs typeface="Arial"/>
              </a:rPr>
              <a:t>identical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hardware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Single,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tightly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coupled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managing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node(s)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9508" y="1237862"/>
            <a:ext cx="3026449" cy="161064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3869054" cy="1915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Grid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2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next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step: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plenty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everywhere</a:t>
            </a:r>
            <a:endParaRPr sz="10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Heterogeneous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Dispersed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organizations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wide-</a:t>
            </a:r>
            <a:r>
              <a:rPr sz="900" dirty="0">
                <a:latin typeface="Arial"/>
                <a:cs typeface="Arial"/>
              </a:rPr>
              <a:t>area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02260" marR="17780" indent="-3810" algn="just">
              <a:lnSpc>
                <a:spcPts val="1210"/>
              </a:lnSpc>
              <a:spcBef>
                <a:spcPts val="40"/>
              </a:spcBef>
            </a:pPr>
            <a:r>
              <a:rPr sz="900" spc="-65" dirty="0">
                <a:latin typeface="Arial"/>
                <a:cs typeface="Arial"/>
              </a:rPr>
              <a:t>To</a:t>
            </a:r>
            <a:r>
              <a:rPr sz="900" dirty="0">
                <a:latin typeface="Arial"/>
                <a:cs typeface="Arial"/>
              </a:rPr>
              <a:t> allow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collaborations,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grids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virtual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organizations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essence,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better: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authorization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allocation.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Architecture</a:t>
            </a:r>
            <a:r>
              <a:rPr spc="-55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grid</a:t>
            </a:r>
            <a:r>
              <a:rPr spc="-50" dirty="0"/>
              <a:t> </a:t>
            </a:r>
            <a:r>
              <a:rPr spc="-10" dirty="0"/>
              <a:t>computing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524" y="1078569"/>
            <a:ext cx="1770065" cy="11451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37689" y="441489"/>
            <a:ext cx="2146300" cy="23704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3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layers</a:t>
            </a:r>
            <a:endParaRPr sz="1000">
              <a:latin typeface="Arial"/>
              <a:cs typeface="Arial"/>
            </a:endParaRPr>
          </a:p>
          <a:p>
            <a:pPr marL="281940" marR="310515" indent="-114300">
              <a:lnSpc>
                <a:spcPct val="108400"/>
              </a:lnSpc>
              <a:spcBef>
                <a:spcPts val="155"/>
              </a:spcBef>
              <a:buFont typeface="Menlo"/>
              <a:buChar char="•"/>
              <a:tabLst>
                <a:tab pos="282575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Fabric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Provides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interfaces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local </a:t>
            </a:r>
            <a:r>
              <a:rPr sz="800" dirty="0">
                <a:latin typeface="Arial"/>
                <a:cs typeface="Arial"/>
              </a:rPr>
              <a:t>resources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(for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querying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state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and</a:t>
            </a:r>
            <a:r>
              <a:rPr sz="800" spc="-10" dirty="0">
                <a:latin typeface="Arial"/>
                <a:cs typeface="Arial"/>
              </a:rPr>
              <a:t> capabilities,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locking,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etc.)</a:t>
            </a:r>
            <a:endParaRPr sz="800">
              <a:latin typeface="Arial"/>
              <a:cs typeface="Arial"/>
            </a:endParaRPr>
          </a:p>
          <a:p>
            <a:pPr marL="281940" marR="17780" indent="-114300">
              <a:lnSpc>
                <a:spcPct val="108400"/>
              </a:lnSpc>
              <a:spcBef>
                <a:spcPts val="300"/>
              </a:spcBef>
              <a:buFont typeface="Menlo"/>
              <a:buChar char="•"/>
              <a:tabLst>
                <a:tab pos="282575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Connectivity</a:t>
            </a:r>
            <a:r>
              <a:rPr sz="800" dirty="0">
                <a:latin typeface="Arial"/>
                <a:cs typeface="Arial"/>
              </a:rPr>
              <a:t>: </a:t>
            </a:r>
            <a:r>
              <a:rPr sz="800" spc="-10" dirty="0">
                <a:latin typeface="Arial"/>
                <a:cs typeface="Arial"/>
              </a:rPr>
              <a:t>Communication/transaction </a:t>
            </a:r>
            <a:r>
              <a:rPr sz="800" dirty="0">
                <a:latin typeface="Arial"/>
                <a:cs typeface="Arial"/>
              </a:rPr>
              <a:t>protocols,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e.g.,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moving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data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between </a:t>
            </a:r>
            <a:r>
              <a:rPr sz="800" dirty="0">
                <a:latin typeface="Arial"/>
                <a:cs typeface="Arial"/>
              </a:rPr>
              <a:t>resources.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Also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various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authentication protocols.</a:t>
            </a:r>
            <a:endParaRPr sz="800">
              <a:latin typeface="Arial"/>
              <a:cs typeface="Arial"/>
            </a:endParaRPr>
          </a:p>
          <a:p>
            <a:pPr marL="281940" marR="118110" indent="-114300" algn="just">
              <a:lnSpc>
                <a:spcPct val="108400"/>
              </a:lnSpc>
              <a:spcBef>
                <a:spcPts val="300"/>
              </a:spcBef>
              <a:buFont typeface="Menlo"/>
              <a:buChar char="•"/>
              <a:tabLst>
                <a:tab pos="282575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Resource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Manages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single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resource, </a:t>
            </a:r>
            <a:r>
              <a:rPr sz="800" dirty="0">
                <a:latin typeface="Arial"/>
                <a:cs typeface="Arial"/>
              </a:rPr>
              <a:t>such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creating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processes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or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reading data.</a:t>
            </a:r>
            <a:endParaRPr sz="800">
              <a:latin typeface="Arial"/>
              <a:cs typeface="Arial"/>
            </a:endParaRPr>
          </a:p>
          <a:p>
            <a:pPr marL="281940" marR="154305" indent="-114300">
              <a:lnSpc>
                <a:spcPct val="108400"/>
              </a:lnSpc>
              <a:spcBef>
                <a:spcPts val="300"/>
              </a:spcBef>
              <a:buFont typeface="Menlo"/>
              <a:buChar char="•"/>
              <a:tabLst>
                <a:tab pos="282575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Collective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Handles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access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multiple </a:t>
            </a:r>
            <a:r>
              <a:rPr sz="800" dirty="0">
                <a:latin typeface="Arial"/>
                <a:cs typeface="Arial"/>
              </a:rPr>
              <a:t>resources: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discovery,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scheduling, replication.</a:t>
            </a:r>
            <a:endParaRPr sz="800">
              <a:latin typeface="Arial"/>
              <a:cs typeface="Arial"/>
            </a:endParaRPr>
          </a:p>
          <a:p>
            <a:pPr marL="281940" marR="229870" indent="-114300">
              <a:lnSpc>
                <a:spcPct val="108400"/>
              </a:lnSpc>
              <a:spcBef>
                <a:spcPts val="300"/>
              </a:spcBef>
              <a:buFont typeface="Menlo"/>
              <a:buChar char="•"/>
              <a:tabLst>
                <a:tab pos="282575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Application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Contains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actual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grid </a:t>
            </a:r>
            <a:r>
              <a:rPr sz="800" dirty="0">
                <a:latin typeface="Arial"/>
                <a:cs typeface="Arial"/>
              </a:rPr>
              <a:t>applications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single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organization.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114998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High-performance</a:t>
            </a:r>
            <a:r>
              <a:rPr sz="500" spc="3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computing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Integrating</a:t>
            </a:r>
            <a:r>
              <a:rPr spc="1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99476"/>
            <a:ext cx="3806190" cy="19691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Situation</a:t>
            </a:r>
            <a:endParaRPr sz="1000">
              <a:latin typeface="Arial"/>
              <a:cs typeface="Arial"/>
            </a:endParaRPr>
          </a:p>
          <a:p>
            <a:pPr marL="15875" marR="5016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Organizations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confronted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networked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achieving interoperability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painful.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12700" marR="762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server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 available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remote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clients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integration: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combine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for </a:t>
            </a:r>
            <a:r>
              <a:rPr sz="900" spc="-10" dirty="0">
                <a:latin typeface="Arial"/>
                <a:cs typeface="Arial"/>
              </a:rPr>
              <a:t>(different)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applications;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off;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coherent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Next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step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Allow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 </a:t>
            </a:r>
            <a:r>
              <a:rPr sz="900" spc="-10" dirty="0">
                <a:latin typeface="Arial"/>
                <a:cs typeface="Arial"/>
              </a:rPr>
              <a:t>application-to-</a:t>
            </a:r>
            <a:r>
              <a:rPr sz="900" dirty="0">
                <a:latin typeface="Arial"/>
                <a:cs typeface="Arial"/>
              </a:rPr>
              <a:t>application </a:t>
            </a:r>
            <a:r>
              <a:rPr sz="900" spc="-10" dirty="0">
                <a:latin typeface="Arial"/>
                <a:cs typeface="Arial"/>
              </a:rPr>
              <a:t>communication,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 to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Enterprise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900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Integration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information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26976"/>
            <a:ext cx="2404110" cy="489584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EAI: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(nested)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transactions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459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Transaction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3132" y="960564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78281" y="1111072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0089" y="1261567"/>
            <a:ext cx="30480" cy="0"/>
          </a:xfrm>
          <a:custGeom>
            <a:avLst/>
            <a:gdLst/>
            <a:ahLst/>
            <a:cxnLst/>
            <a:rect l="l" t="t" r="r" b="b"/>
            <a:pathLst>
              <a:path w="30480">
                <a:moveTo>
                  <a:pt x="0" y="0"/>
                </a:moveTo>
                <a:lnTo>
                  <a:pt x="3036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73303" y="691807"/>
          <a:ext cx="3456304" cy="915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3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Primitive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BEGIN</a:t>
                      </a:r>
                      <a:r>
                        <a:rPr sz="800" i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Mark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start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800" i="1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Terminate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transaction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commit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ABORT</a:t>
                      </a:r>
                      <a:r>
                        <a:rPr sz="800" i="1" spc="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TRANSACTION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Kill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transaction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restore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the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old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values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20" dirty="0">
                          <a:latin typeface="Arial"/>
                          <a:cs typeface="Arial"/>
                        </a:rPr>
                        <a:t>READ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Read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from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file,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table,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otherwise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-10" dirty="0">
                          <a:latin typeface="Arial"/>
                          <a:cs typeface="Arial"/>
                        </a:rPr>
                        <a:t>WRITE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Write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file,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table,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or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otherwise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2269" y="2096020"/>
            <a:ext cx="1246333" cy="1000658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4594" y="1828856"/>
            <a:ext cx="3917315" cy="800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Issue:</a:t>
            </a:r>
            <a:r>
              <a:rPr sz="1000" spc="7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all-or-nothing</a:t>
            </a:r>
            <a:endParaRPr sz="10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19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Atomic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happens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indivisibly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(seemingly)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5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does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violate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system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invariants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0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Isolated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not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mutual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interference</a:t>
            </a:r>
            <a:endParaRPr sz="800">
              <a:latin typeface="Arial"/>
              <a:cs typeface="Arial"/>
            </a:endParaRPr>
          </a:p>
          <a:p>
            <a:pPr marL="1694180" indent="-114300">
              <a:lnSpc>
                <a:spcPct val="100000"/>
              </a:lnSpc>
              <a:spcBef>
                <a:spcPts val="80"/>
              </a:spcBef>
              <a:buFont typeface="Menlo"/>
              <a:buChar char="•"/>
              <a:tabLst>
                <a:tab pos="1694814" algn="l"/>
              </a:tabLst>
            </a:pPr>
            <a:r>
              <a:rPr sz="800" dirty="0">
                <a:solidFill>
                  <a:srgbClr val="3333B2"/>
                </a:solidFill>
                <a:latin typeface="Arial"/>
                <a:cs typeface="Arial"/>
              </a:rPr>
              <a:t>Durable</a:t>
            </a:r>
            <a:r>
              <a:rPr sz="800" dirty="0">
                <a:latin typeface="Arial"/>
                <a:cs typeface="Arial"/>
              </a:rPr>
              <a:t>: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commit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means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changes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are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permanent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Distributed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information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57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TPM: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Transaction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Processing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Monitor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807" y="560420"/>
            <a:ext cx="3473470" cy="152372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3763" y="2177603"/>
            <a:ext cx="392112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indent="31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Often,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involved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across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several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TP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Monitor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responsible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Distributed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information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37922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EAI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637" y="560414"/>
            <a:ext cx="2662212" cy="14339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098057"/>
            <a:ext cx="3912870" cy="1067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offers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communication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facilities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integration</a:t>
            </a:r>
            <a:endParaRPr sz="1000">
              <a:latin typeface="Arial"/>
              <a:cs typeface="Arial"/>
            </a:endParaRPr>
          </a:p>
          <a:p>
            <a:pPr marL="246379" marR="5080" indent="-234315">
              <a:lnSpc>
                <a:spcPct val="111600"/>
              </a:lnSpc>
              <a:spcBef>
                <a:spcPts val="58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Procedure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Call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(RPC):</a:t>
            </a:r>
            <a:r>
              <a:rPr sz="900" spc="1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 </a:t>
            </a:r>
            <a:r>
              <a:rPr sz="900" dirty="0">
                <a:latin typeface="Arial"/>
                <a:cs typeface="Arial"/>
              </a:rPr>
              <a:t>call,</a:t>
            </a:r>
            <a:r>
              <a:rPr sz="900" spc="-20" dirty="0">
                <a:latin typeface="Arial"/>
                <a:cs typeface="Arial"/>
              </a:rPr>
              <a:t> packaged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responded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call.</a:t>
            </a:r>
            <a:endParaRPr sz="900">
              <a:latin typeface="Arial"/>
              <a:cs typeface="Arial"/>
            </a:endParaRPr>
          </a:p>
          <a:p>
            <a:pPr marL="246379" marR="27305" indent="-234315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Oriented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(MOM):</a:t>
            </a:r>
            <a:r>
              <a:rPr sz="900" spc="2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contact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10" dirty="0">
                <a:latin typeface="Arial"/>
                <a:cs typeface="Arial"/>
              </a:rPr>
              <a:t> 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published</a:t>
            </a:r>
            <a:r>
              <a:rPr sz="900" spc="-10" dirty="0">
                <a:latin typeface="Arial"/>
                <a:cs typeface="Arial"/>
              </a:rPr>
              <a:t>),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subscribed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Distributed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information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0" y="197711"/>
            <a:ext cx="4216400" cy="2349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integrate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applications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276860">
              <a:lnSpc>
                <a:spcPct val="100000"/>
              </a:lnSpc>
              <a:spcBef>
                <a:spcPts val="102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File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transfer:</a:t>
            </a:r>
            <a:r>
              <a:rPr sz="900" spc="19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Technically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flexible:</a:t>
            </a:r>
            <a:endParaRPr sz="900">
              <a:latin typeface="Arial"/>
              <a:cs typeface="Arial"/>
            </a:endParaRPr>
          </a:p>
          <a:p>
            <a:pPr marL="76390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764540" algn="l"/>
              </a:tabLst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layout</a:t>
            </a:r>
            <a:endParaRPr sz="900">
              <a:latin typeface="Arial"/>
              <a:cs typeface="Arial"/>
            </a:endParaRPr>
          </a:p>
          <a:p>
            <a:pPr marL="76390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764540" algn="l"/>
              </a:tabLst>
            </a:pPr>
            <a:r>
              <a:rPr sz="900" dirty="0">
                <a:latin typeface="Arial"/>
                <a:cs typeface="Arial"/>
              </a:rPr>
              <a:t>Figure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management</a:t>
            </a:r>
            <a:endParaRPr sz="900">
              <a:latin typeface="Arial"/>
              <a:cs typeface="Arial"/>
            </a:endParaRPr>
          </a:p>
          <a:p>
            <a:pPr marL="763905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764540" algn="l"/>
              </a:tabLst>
            </a:pPr>
            <a:r>
              <a:rPr sz="900" dirty="0">
                <a:latin typeface="Arial"/>
                <a:cs typeface="Arial"/>
              </a:rPr>
              <a:t>Update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propagation,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notifications.</a:t>
            </a:r>
            <a:endParaRPr sz="900">
              <a:latin typeface="Arial"/>
              <a:cs typeface="Arial"/>
            </a:endParaRPr>
          </a:p>
          <a:p>
            <a:pPr marL="511175" marR="43180" indent="-234315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Shared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database:</a:t>
            </a:r>
            <a:r>
              <a:rPr sz="900" spc="19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flexible,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scheme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risk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bottleneck.</a:t>
            </a:r>
            <a:endParaRPr sz="900">
              <a:latin typeface="Arial"/>
              <a:cs typeface="Arial"/>
            </a:endParaRPr>
          </a:p>
          <a:p>
            <a:pPr marL="511175" marR="252729" indent="-234315">
              <a:lnSpc>
                <a:spcPct val="111600"/>
              </a:lnSpc>
              <a:spcBef>
                <a:spcPts val="40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Remote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procedure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call:</a:t>
            </a:r>
            <a:r>
              <a:rPr sz="900" spc="2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Effective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spc="-10" dirty="0">
                <a:latin typeface="Arial"/>
                <a:cs typeface="Arial"/>
              </a:rPr>
              <a:t>needed.</a:t>
            </a:r>
            <a:endParaRPr sz="900">
              <a:latin typeface="Arial"/>
              <a:cs typeface="Arial"/>
            </a:endParaRPr>
          </a:p>
          <a:p>
            <a:pPr marL="511175" marR="43180" indent="-234315">
              <a:lnSpc>
                <a:spcPct val="111600"/>
              </a:lnSpc>
              <a:spcBef>
                <a:spcPts val="39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Messaging:</a:t>
            </a:r>
            <a:r>
              <a:rPr sz="900" spc="204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RPCs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callee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running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time.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decoupling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074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information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80" dirty="0"/>
              <a:t> </a:t>
            </a:r>
            <a:r>
              <a:rPr dirty="0"/>
              <a:t>pervasive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99476"/>
            <a:ext cx="3916679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651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Emerging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next-</a:t>
            </a:r>
            <a:r>
              <a:rPr sz="900" dirty="0">
                <a:latin typeface="Arial"/>
                <a:cs typeface="Arial"/>
              </a:rPr>
              <a:t>generation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small, </a:t>
            </a:r>
            <a:r>
              <a:rPr sz="900" dirty="0">
                <a:latin typeface="Arial"/>
                <a:cs typeface="Arial"/>
              </a:rPr>
              <a:t>mobile,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embedded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naturally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blends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user’s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(overlapping)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subtypes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80" dirty="0"/>
              <a:t> </a:t>
            </a:r>
            <a:r>
              <a:rPr dirty="0"/>
              <a:t>pervasive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99476"/>
            <a:ext cx="3949700" cy="12852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209" marR="2540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Emerging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next-</a:t>
            </a:r>
            <a:r>
              <a:rPr sz="900" dirty="0">
                <a:latin typeface="Arial"/>
                <a:cs typeface="Arial"/>
              </a:rPr>
              <a:t>generation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small, </a:t>
            </a:r>
            <a:r>
              <a:rPr sz="900" dirty="0">
                <a:latin typeface="Arial"/>
                <a:cs typeface="Arial"/>
              </a:rPr>
              <a:t>mobile,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embedded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naturally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blends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user’s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(overlapping)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subtypes</a:t>
            </a:r>
            <a:endParaRPr sz="10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Ubiquitous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continuously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present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i.e.,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continuous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80" dirty="0"/>
              <a:t> </a:t>
            </a:r>
            <a:r>
              <a:rPr dirty="0"/>
              <a:t>pervasive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99476"/>
            <a:ext cx="3949700" cy="16421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209" marR="2540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Emerging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next-</a:t>
            </a:r>
            <a:r>
              <a:rPr sz="900" dirty="0">
                <a:latin typeface="Arial"/>
                <a:cs typeface="Arial"/>
              </a:rPr>
              <a:t>generation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small, </a:t>
            </a:r>
            <a:r>
              <a:rPr sz="900" dirty="0">
                <a:latin typeface="Arial"/>
                <a:cs typeface="Arial"/>
              </a:rPr>
              <a:t>mobile,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embedded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naturally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blends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user’s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(overlapping)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subtypes</a:t>
            </a:r>
            <a:endParaRPr sz="10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Ubiquitous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continuously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present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i.e.,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continuous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 marL="281940" marR="129539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emphasis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inherently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mobile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Distributed</a:t>
            </a:r>
            <a:r>
              <a:rPr spc="-80" dirty="0"/>
              <a:t> </a:t>
            </a:r>
            <a:r>
              <a:rPr dirty="0"/>
              <a:t>pervasive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99476"/>
            <a:ext cx="3949700" cy="19989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9209" marR="2540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Emerging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next-</a:t>
            </a:r>
            <a:r>
              <a:rPr sz="900" dirty="0">
                <a:latin typeface="Arial"/>
                <a:cs typeface="Arial"/>
              </a:rPr>
              <a:t>generation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small, </a:t>
            </a:r>
            <a:r>
              <a:rPr sz="900" dirty="0">
                <a:latin typeface="Arial"/>
                <a:cs typeface="Arial"/>
              </a:rPr>
              <a:t>mobile,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embedded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characterized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naturally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blends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into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the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user’s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environment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(overlapping)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subtypes</a:t>
            </a:r>
            <a:endParaRPr sz="1000">
              <a:latin typeface="Arial"/>
              <a:cs typeface="Arial"/>
            </a:endParaRPr>
          </a:p>
          <a:p>
            <a:pPr marL="281940" marR="17780" indent="-120650">
              <a:lnSpc>
                <a:spcPct val="111600"/>
              </a:lnSpc>
              <a:spcBef>
                <a:spcPts val="58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Ubiquitous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continuously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present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i.e.,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continuous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user.</a:t>
            </a:r>
            <a:endParaRPr sz="900">
              <a:latin typeface="Arial"/>
              <a:cs typeface="Arial"/>
            </a:endParaRPr>
          </a:p>
          <a:p>
            <a:pPr marL="281940" marR="129539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emphasis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inherently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mobile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47625" indent="-116839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Sensor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actuator)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pervasive,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emphasis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actual (collaborative)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sensing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actuation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environment.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Ubiquitous</a:t>
            </a:r>
            <a:r>
              <a:rPr spc="-65" dirty="0"/>
              <a:t> </a:t>
            </a:r>
            <a:r>
              <a:rPr spc="-10" dirty="0"/>
              <a:t>systems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43244"/>
            <a:ext cx="3913504" cy="16751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elements</a:t>
            </a:r>
            <a:endParaRPr sz="1000">
              <a:latin typeface="Arial"/>
              <a:cs typeface="Arial"/>
            </a:endParaRPr>
          </a:p>
          <a:p>
            <a:pPr marL="265430" marR="411480" indent="-1587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Distribution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dirty="0">
                <a:latin typeface="Arial"/>
                <a:cs typeface="Arial"/>
              </a:rPr>
              <a:t> are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networked,</a:t>
            </a:r>
            <a:r>
              <a:rPr sz="900" dirty="0">
                <a:latin typeface="Arial"/>
                <a:cs typeface="Arial"/>
              </a:rPr>
              <a:t> distributed, and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accessible transparently</a:t>
            </a:r>
            <a:endParaRPr sz="900">
              <a:latin typeface="Arial"/>
              <a:cs typeface="Arial"/>
            </a:endParaRPr>
          </a:p>
          <a:p>
            <a:pPr marL="261620" indent="-15494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Interaction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Interaction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unobtrusive</a:t>
            </a:r>
            <a:endParaRPr sz="900">
              <a:latin typeface="Arial"/>
              <a:cs typeface="Arial"/>
            </a:endParaRPr>
          </a:p>
          <a:p>
            <a:pPr marL="265430" marR="5080" indent="-158750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Context awareness</a:t>
            </a:r>
            <a:r>
              <a:rPr sz="900" spc="-10" dirty="0">
                <a:latin typeface="Arial"/>
                <a:cs typeface="Arial"/>
              </a:rPr>
              <a:t>)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aware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user’s context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optimize interaction</a:t>
            </a:r>
            <a:endParaRPr sz="900">
              <a:latin typeface="Arial"/>
              <a:cs typeface="Arial"/>
            </a:endParaRPr>
          </a:p>
          <a:p>
            <a:pPr marL="265430" marR="45085" indent="-158750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Autonomy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autonomously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human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intervention,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highly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self-managed</a:t>
            </a:r>
            <a:endParaRPr sz="900">
              <a:latin typeface="Arial"/>
              <a:cs typeface="Arial"/>
            </a:endParaRPr>
          </a:p>
          <a:p>
            <a:pPr marL="265430" marR="5080" indent="-158750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262255" algn="l"/>
              </a:tabLst>
            </a:pPr>
            <a:r>
              <a:rPr sz="900" spc="-10" dirty="0">
                <a:latin typeface="Arial"/>
                <a:cs typeface="Arial"/>
              </a:rPr>
              <a:t>(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Intelligence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whole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handle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wide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range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dynamic </a:t>
            </a:r>
            <a:r>
              <a:rPr sz="900" dirty="0">
                <a:latin typeface="Arial"/>
                <a:cs typeface="Arial"/>
              </a:rPr>
              <a:t>actions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interactions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Mobile</a:t>
            </a:r>
            <a:r>
              <a:rPr spc="-4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953510" cy="16738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Distinctive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myriad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(smartphones,</a:t>
            </a:r>
            <a:r>
              <a:rPr sz="900" spc="-10" dirty="0">
                <a:latin typeface="Arial"/>
                <a:cs typeface="Arial"/>
              </a:rPr>
              <a:t> tablets,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GPS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devices, </a:t>
            </a:r>
            <a:r>
              <a:rPr sz="900" dirty="0">
                <a:latin typeface="Arial"/>
                <a:cs typeface="Arial"/>
              </a:rPr>
              <a:t>remote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controls,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badges).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device’s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reachability,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etc.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discovery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Maintaining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introduce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  <a:p>
            <a:pPr marL="278130" marR="2749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research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focused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devices.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popular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now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fruitless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research.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Mobile</a:t>
            </a:r>
            <a:r>
              <a:rPr spc="-45" dirty="0"/>
              <a:t> </a:t>
            </a:r>
            <a:r>
              <a:rPr spc="-10" dirty="0"/>
              <a:t>computing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43244"/>
            <a:ext cx="3978910" cy="23069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Distinctive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features</a:t>
            </a:r>
            <a:endParaRPr sz="1000">
              <a:latin typeface="Arial"/>
              <a:cs typeface="Arial"/>
            </a:endParaRPr>
          </a:p>
          <a:p>
            <a:pPr marL="290830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myriad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(smartphones,</a:t>
            </a:r>
            <a:r>
              <a:rPr sz="900" spc="-10" dirty="0">
                <a:latin typeface="Arial"/>
                <a:cs typeface="Arial"/>
              </a:rPr>
              <a:t> tablets,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GPS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devices, </a:t>
            </a:r>
            <a:r>
              <a:rPr sz="900" dirty="0">
                <a:latin typeface="Arial"/>
                <a:cs typeface="Arial"/>
              </a:rPr>
              <a:t>remote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controls,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active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badges).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device’s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expected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  <a:p>
            <a:pPr marL="2908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change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services,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reachability,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etc.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discovery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Maintaining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introduce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serious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problems.</a:t>
            </a:r>
            <a:endParaRPr sz="900">
              <a:latin typeface="Arial"/>
              <a:cs typeface="Arial"/>
            </a:endParaRPr>
          </a:p>
          <a:p>
            <a:pPr marL="290830" marR="28765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research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focused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directly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resources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devices.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popular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now </a:t>
            </a:r>
            <a:r>
              <a:rPr sz="900" dirty="0">
                <a:latin typeface="Arial"/>
                <a:cs typeface="Arial"/>
              </a:rPr>
              <a:t>considered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fruitless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research.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Bottomline</a:t>
            </a:r>
            <a:endParaRPr sz="1000">
              <a:latin typeface="Arial"/>
              <a:cs typeface="Arial"/>
            </a:endParaRPr>
          </a:p>
          <a:p>
            <a:pPr marL="38100" marR="10985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Mobile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connections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stationary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essentially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bringing </a:t>
            </a:r>
            <a:r>
              <a:rPr sz="900" dirty="0">
                <a:latin typeface="Arial"/>
                <a:cs typeface="Arial"/>
              </a:rPr>
              <a:t>mobile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position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cloud-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services.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2153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Mobile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5096" y="552739"/>
            <a:ext cx="2902991" cy="97019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759699" y="1553881"/>
            <a:ext cx="10890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Mobile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cloud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5096" y="1812630"/>
            <a:ext cx="2902991" cy="97019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68094" y="2813772"/>
            <a:ext cx="1071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Mobile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edge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computing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4040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Sensor</a:t>
            </a:r>
            <a:r>
              <a:rPr spc="-4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1063" y="499476"/>
            <a:ext cx="3188970" cy="9544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Characteristics</a:t>
            </a: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sensors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attached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are:</a:t>
            </a:r>
            <a:endParaRPr sz="900">
              <a:latin typeface="Arial"/>
              <a:cs typeface="Arial"/>
            </a:endParaRPr>
          </a:p>
          <a:p>
            <a:pPr marL="281940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(10s-1000s)</a:t>
            </a:r>
            <a:endParaRPr sz="900">
              <a:latin typeface="Arial"/>
              <a:cs typeface="Arial"/>
            </a:endParaRPr>
          </a:p>
          <a:p>
            <a:pPr marL="281940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Simple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(small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memory/compute/communication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capacity)</a:t>
            </a:r>
            <a:endParaRPr sz="900">
              <a:latin typeface="Arial"/>
              <a:cs typeface="Arial"/>
            </a:endParaRPr>
          </a:p>
          <a:p>
            <a:pPr marL="281940" indent="-121285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latin typeface="Arial"/>
                <a:cs typeface="Arial"/>
              </a:rPr>
              <a:t>Often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battery-powered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(or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battery-less)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84416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Sensor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databases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extremes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235" y="772768"/>
            <a:ext cx="3039856" cy="99254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207" y="1829300"/>
            <a:ext cx="3020125" cy="11046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81413" y="-1515"/>
            <a:ext cx="1273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simple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classification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of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2181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cloud-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edge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continuum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038" y="564114"/>
            <a:ext cx="3377336" cy="139302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48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Pervasive</a:t>
            </a:r>
            <a:r>
              <a:rPr sz="500" spc="1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05828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058285" cy="1053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1278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168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1890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topology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2093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topology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Latency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2297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topology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Latency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Bandwidth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infinite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2501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topology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Latency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Bandwidth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infinite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Transport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562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Introduction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44720" y="-1515"/>
            <a:ext cx="21018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Pitfalls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109085" cy="2705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Developing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systems: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Pitfalls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89560" marR="304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needlessly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complex,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mistakes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patching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made.</a:t>
            </a:r>
            <a:endParaRPr sz="9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False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often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hidden)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0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reliable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secure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homogeneous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topology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change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Latency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Bandwidth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infinite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spc="-10" dirty="0">
                <a:latin typeface="Arial"/>
                <a:cs typeface="Arial"/>
              </a:rPr>
              <a:t>Transport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zero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administrator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5306</Words>
  <Application>Microsoft Office PowerPoint</Application>
  <PresentationFormat>Custom</PresentationFormat>
  <Paragraphs>819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Arial</vt:lpstr>
      <vt:lpstr>Calibri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Alternative approach</vt:lpstr>
      <vt:lpstr>Alternative approach</vt:lpstr>
      <vt:lpstr>Some common misconceptions</vt:lpstr>
      <vt:lpstr>Some common misconceptions</vt:lpstr>
      <vt:lpstr>Some common misconceptions</vt:lpstr>
      <vt:lpstr>Perspectives on distributed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Degree of transparency</vt:lpstr>
      <vt:lpstr>Degree of transparency</vt:lpstr>
      <vt:lpstr>PowerPoint Presentation</vt:lpstr>
      <vt:lpstr>PowerPoint Presentation</vt:lpstr>
      <vt:lpstr>Openness of distributed systems</vt:lpstr>
      <vt:lpstr>Policies versus mechanisms</vt:lpstr>
      <vt:lpstr>On strict separation</vt:lpstr>
      <vt:lpstr>Dependability</vt:lpstr>
      <vt:lpstr>PowerPoint Presentation</vt:lpstr>
      <vt:lpstr>Reliability versus availability</vt:lpstr>
      <vt:lpstr>PowerPoint Presentation</vt:lpstr>
      <vt:lpstr>PowerPoint Presentation</vt:lpstr>
      <vt:lpstr>PowerPoint Presentation</vt:lpstr>
      <vt:lpstr>On security</vt:lpstr>
      <vt:lpstr>On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Size scalability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Parallel computing</vt:lpstr>
      <vt:lpstr>Distributed shared memory systems</vt:lpstr>
      <vt:lpstr>Cluster computing</vt:lpstr>
      <vt:lpstr>PowerPoint Presentation</vt:lpstr>
      <vt:lpstr>Architecture for grid computing</vt:lpstr>
      <vt:lpstr>Integrating applications</vt:lpstr>
      <vt:lpstr>PowerPoint Presentation</vt:lpstr>
      <vt:lpstr>PowerPoint Presentation</vt:lpstr>
      <vt:lpstr>PowerPoint Presentation</vt:lpstr>
      <vt:lpstr>PowerPoint Presentation</vt:lpstr>
      <vt:lpstr>Distributed pervasive systems</vt:lpstr>
      <vt:lpstr>Distributed pervasive systems</vt:lpstr>
      <vt:lpstr>Distributed pervasive systems</vt:lpstr>
      <vt:lpstr>Distributed pervasive systems</vt:lpstr>
      <vt:lpstr>Ubiquitous systems</vt:lpstr>
      <vt:lpstr>Mobile computing</vt:lpstr>
      <vt:lpstr>Mobile computing</vt:lpstr>
      <vt:lpstr>PowerPoint Presentation</vt:lpstr>
      <vt:lpstr>Sensor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FA21-BAF-072 (MUHAMMAD KAWISH  )</cp:lastModifiedBy>
  <cp:revision>4</cp:revision>
  <dcterms:created xsi:type="dcterms:W3CDTF">2023-04-27T05:42:13Z</dcterms:created>
  <dcterms:modified xsi:type="dcterms:W3CDTF">2025-01-18T16:06:38Z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