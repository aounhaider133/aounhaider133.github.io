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2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8" d="100"/>
          <a:sy n="158" d="100"/>
        </p:scale>
        <p:origin x="170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623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368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3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701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458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58064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783" y="1351115"/>
            <a:ext cx="3655060" cy="1400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460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21.xml"/><Relationship Id="rId7" Type="http://schemas.openxmlformats.org/officeDocument/2006/relationships/image" Target="../media/image1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8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8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3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9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9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1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1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CSC334 - Parallel &amp;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Distributed</a:t>
            </a:r>
            <a:r>
              <a:rPr kumimoji="0" sz="1400" b="1" i="0" u="none" strike="noStrike" kern="0" cap="none" spc="1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"/>
                <a:cs typeface="Arial"/>
              </a:rPr>
              <a:t>Computing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91E2BF-A6A0-AC80-E93D-ED3E8CF1D086}"/>
              </a:ext>
            </a:extLst>
          </p:cNvPr>
          <p:cNvSpPr txBox="1"/>
          <p:nvPr/>
        </p:nvSpPr>
        <p:spPr>
          <a:xfrm>
            <a:off x="1446463" y="1933968"/>
            <a:ext cx="1943991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Chapter </a:t>
            </a:r>
            <a:r>
              <a:rPr lang="en-US" sz="1100" b="1" i="1" dirty="0">
                <a:solidFill>
                  <a:srgbClr val="EEECE1">
                    <a:lumMod val="50000"/>
                  </a:srgbClr>
                </a:solidFill>
                <a:latin typeface="Arial"/>
                <a:cs typeface="Arial"/>
              </a:rPr>
              <a:t>4</a:t>
            </a: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: Communication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29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9371" y="745691"/>
            <a:ext cx="2327080" cy="16386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05025"/>
            <a:ext cx="2435860" cy="7562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Drawbacks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Focus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message-</a:t>
            </a:r>
            <a:r>
              <a:rPr sz="900" dirty="0">
                <a:latin typeface="Arial"/>
                <a:cs typeface="Arial"/>
              </a:rPr>
              <a:t>passing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Often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unneeded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unwanted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functionality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Violates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4147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Low-</a:t>
            </a:r>
            <a:r>
              <a:rPr spc="-10" dirty="0"/>
              <a:t>level</a:t>
            </a:r>
            <a:r>
              <a:rPr spc="-20" dirty="0"/>
              <a:t> </a:t>
            </a:r>
            <a:r>
              <a:rPr spc="-10" dirty="0"/>
              <a:t>layers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4304" cy="177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Recap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Physical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transmission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receiver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link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prescribes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transmission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frame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error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control</a:t>
            </a:r>
            <a:endParaRPr sz="900">
              <a:latin typeface="Arial"/>
              <a:cs typeface="Arial"/>
            </a:endParaRPr>
          </a:p>
          <a:p>
            <a:pPr marL="290830" marR="97155" indent="-120650">
              <a:lnSpc>
                <a:spcPct val="111600"/>
              </a:lnSpc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packets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routed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8100" marR="5143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lowest-level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 layer.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956050" cy="1456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Transport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endParaRPr sz="1000">
              <a:latin typeface="Arial"/>
              <a:cs typeface="Arial"/>
            </a:endParaRPr>
          </a:p>
          <a:p>
            <a:pPr marL="289560" marR="52705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 </a:t>
            </a:r>
            <a:r>
              <a:rPr sz="900" dirty="0">
                <a:latin typeface="Arial"/>
                <a:cs typeface="Arial"/>
              </a:rPr>
              <a:t>provides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10" dirty="0">
                <a:latin typeface="Arial"/>
                <a:cs typeface="Arial"/>
              </a:rPr>
              <a:t> 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facilities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most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Standard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Internet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TCP: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connection-</a:t>
            </a:r>
            <a:r>
              <a:rPr sz="900" dirty="0">
                <a:latin typeface="Arial"/>
                <a:cs typeface="Arial"/>
              </a:rPr>
              <a:t>oriented,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stream-</a:t>
            </a:r>
            <a:r>
              <a:rPr sz="900" dirty="0">
                <a:latin typeface="Arial"/>
                <a:cs typeface="Arial"/>
              </a:rPr>
              <a:t>oriented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UDP: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unreliable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(best-</a:t>
            </a:r>
            <a:r>
              <a:rPr sz="900" dirty="0">
                <a:latin typeface="Arial"/>
                <a:cs typeface="Arial"/>
              </a:rPr>
              <a:t>effort)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datagram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4147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Middleware</a:t>
            </a:r>
            <a:r>
              <a:rPr spc="-15" dirty="0"/>
              <a:t> </a:t>
            </a:r>
            <a:r>
              <a:rPr spc="-2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99476"/>
            <a:ext cx="3964304" cy="17945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Middleware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invented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common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protocols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59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 rich set of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(Un)marshaling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 data, necessary for </a:t>
            </a:r>
            <a:r>
              <a:rPr sz="900" spc="-10" dirty="0">
                <a:latin typeface="Arial"/>
                <a:cs typeface="Arial"/>
              </a:rPr>
              <a:t>integrated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caching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application-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specific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protocols...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such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as?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443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adapted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layering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scheme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246" y="765575"/>
            <a:ext cx="2517190" cy="15600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321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516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Distinguish...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979" y="817770"/>
            <a:ext cx="2699339" cy="15119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515670"/>
            <a:ext cx="2755900" cy="33210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225"/>
              </a:spcBef>
              <a:buFont typeface="Menlo"/>
              <a:buChar char="•"/>
              <a:tabLst>
                <a:tab pos="158750" algn="l"/>
              </a:tabLst>
            </a:pP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Transient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persistent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Asynchronous</a:t>
            </a:r>
            <a:r>
              <a:rPr sz="9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versus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synchronous</a:t>
            </a:r>
            <a:r>
              <a:rPr sz="9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4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7292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Transient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persistent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979" y="815992"/>
            <a:ext cx="2699339" cy="15119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513892"/>
            <a:ext cx="3613785" cy="63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6350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Transient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communication:</a:t>
            </a:r>
            <a:r>
              <a:rPr sz="900" spc="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Comm.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discards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delivered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receiver.</a:t>
            </a:r>
            <a:endParaRPr sz="900">
              <a:latin typeface="Arial"/>
              <a:cs typeface="Arial"/>
            </a:endParaRPr>
          </a:p>
          <a:p>
            <a:pPr marL="15811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Persistent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communication:</a:t>
            </a:r>
            <a:r>
              <a:rPr sz="900" spc="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deliver</a:t>
            </a:r>
            <a:r>
              <a:rPr sz="900" spc="-25" dirty="0">
                <a:latin typeface="Arial"/>
                <a:cs typeface="Arial"/>
              </a:rPr>
              <a:t> it.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4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506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Places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synchronization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979" y="816691"/>
            <a:ext cx="2699339" cy="15119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514590"/>
            <a:ext cx="1426845" cy="4851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4305" indent="-116839">
              <a:lnSpc>
                <a:spcPct val="100000"/>
              </a:lnSpc>
              <a:spcBef>
                <a:spcPts val="22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submission</a:t>
            </a:r>
            <a:endParaRPr sz="900">
              <a:latin typeface="Arial"/>
              <a:cs typeface="Arial"/>
            </a:endParaRPr>
          </a:p>
          <a:p>
            <a:pPr marL="15430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delivery</a:t>
            </a:r>
            <a:endParaRPr sz="900">
              <a:latin typeface="Arial"/>
              <a:cs typeface="Arial"/>
            </a:endParaRPr>
          </a:p>
          <a:p>
            <a:pPr marL="15430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processing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4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81145" cy="1461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Client/Server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89560" marR="43053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Client/Server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transient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synchronous</a:t>
            </a:r>
            <a:r>
              <a:rPr sz="9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45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Server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subsequently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3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06545" cy="232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Client/Server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302260" marR="44323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Client/Server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transient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synchronous</a:t>
            </a:r>
            <a:r>
              <a:rPr sz="9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45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Server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subsequently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them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Drawbacks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synchronous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Failures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immediately: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waiting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appropriate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(mail,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news)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3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82897" y="-1515"/>
            <a:ext cx="3721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Foundations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860165" cy="1181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Messaging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Message-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oriented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endParaRPr sz="10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Aims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persistent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asynchronous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queued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Sender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immediate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reply,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things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Middleware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tolerance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169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20" dirty="0">
                <a:latin typeface="Arial"/>
                <a:cs typeface="Arial"/>
                <a:hlinkClick r:id="rId3" action="ppaction://hlinksldjump"/>
              </a:rPr>
              <a:t>Types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35" dirty="0"/>
              <a:t> </a:t>
            </a:r>
            <a:r>
              <a:rPr dirty="0"/>
              <a:t>RPC</a:t>
            </a:r>
            <a:r>
              <a:rPr spc="-3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4604" y="443244"/>
            <a:ext cx="4014470" cy="18719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394335" indent="-116839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94970" algn="l"/>
              </a:tabLst>
            </a:pP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familiar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  <a:p>
            <a:pPr marL="393065" indent="-11557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93700" algn="l"/>
              </a:tabLst>
            </a:pPr>
            <a:r>
              <a:rPr sz="900" spc="-20" dirty="0">
                <a:latin typeface="Arial"/>
                <a:cs typeface="Arial"/>
              </a:rPr>
              <a:t>Well-</a:t>
            </a:r>
            <a:r>
              <a:rPr sz="900" dirty="0">
                <a:latin typeface="Arial"/>
                <a:cs typeface="Arial"/>
              </a:rPr>
              <a:t>engineered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isolation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(black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box)</a:t>
            </a:r>
            <a:endParaRPr sz="900">
              <a:latin typeface="Arial"/>
              <a:cs typeface="Arial"/>
            </a:endParaRPr>
          </a:p>
          <a:p>
            <a:pPr marL="39814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9497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fundamental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reason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 machine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25400" marR="231838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Communication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&amp;</a:t>
            </a:r>
            <a:r>
              <a:rPr sz="900" dirty="0">
                <a:latin typeface="Arial"/>
                <a:cs typeface="Arial"/>
              </a:rPr>
              <a:t> callee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hidden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using procedure-</a:t>
            </a:r>
            <a:r>
              <a:rPr sz="900" dirty="0">
                <a:latin typeface="Arial"/>
                <a:cs typeface="Arial"/>
              </a:rPr>
              <a:t>call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3610" y="1450278"/>
            <a:ext cx="1745735" cy="100611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121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Basic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RPC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operation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2778" y="-1515"/>
            <a:ext cx="6623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33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RPC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189" y="768085"/>
            <a:ext cx="3809304" cy="1792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3219" y="2683906"/>
            <a:ext cx="1676400" cy="577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indent="-137160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AutoNum type="arabicPeriod"/>
              <a:tabLst>
                <a:tab pos="149860" algn="l"/>
              </a:tabLst>
            </a:pPr>
            <a:r>
              <a:rPr sz="700" dirty="0">
                <a:latin typeface="Arial"/>
                <a:cs typeface="Arial"/>
              </a:rPr>
              <a:t>Client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procedure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calls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client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stub.</a:t>
            </a:r>
            <a:endParaRPr sz="700">
              <a:latin typeface="Arial"/>
              <a:cs typeface="Arial"/>
            </a:endParaRPr>
          </a:p>
          <a:p>
            <a:pPr marL="149225" indent="-137160">
              <a:lnSpc>
                <a:spcPct val="100000"/>
              </a:lnSpc>
              <a:spcBef>
                <a:spcPts val="40"/>
              </a:spcBef>
              <a:buClr>
                <a:srgbClr val="3333B2"/>
              </a:buClr>
              <a:buAutoNum type="arabicPeriod"/>
              <a:tabLst>
                <a:tab pos="149860" algn="l"/>
              </a:tabLst>
            </a:pPr>
            <a:r>
              <a:rPr sz="700" dirty="0">
                <a:latin typeface="Arial"/>
                <a:cs typeface="Arial"/>
              </a:rPr>
              <a:t>Stub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builds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message;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calls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local</a:t>
            </a:r>
            <a:r>
              <a:rPr sz="700" spc="-25" dirty="0">
                <a:latin typeface="Arial"/>
                <a:cs typeface="Arial"/>
              </a:rPr>
              <a:t> OS.</a:t>
            </a:r>
            <a:endParaRPr sz="700">
              <a:latin typeface="Arial"/>
              <a:cs typeface="Arial"/>
            </a:endParaRPr>
          </a:p>
          <a:p>
            <a:pPr marL="149225" indent="-137160">
              <a:lnSpc>
                <a:spcPct val="100000"/>
              </a:lnSpc>
              <a:spcBef>
                <a:spcPts val="35"/>
              </a:spcBef>
              <a:buClr>
                <a:srgbClr val="3333B2"/>
              </a:buClr>
              <a:buAutoNum type="arabicPeriod"/>
              <a:tabLst>
                <a:tab pos="149860" algn="l"/>
              </a:tabLst>
            </a:pPr>
            <a:r>
              <a:rPr sz="700" dirty="0">
                <a:latin typeface="Arial"/>
                <a:cs typeface="Arial"/>
              </a:rPr>
              <a:t>OS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sends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remote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OS.</a:t>
            </a:r>
            <a:endParaRPr sz="700">
              <a:latin typeface="Arial"/>
              <a:cs typeface="Arial"/>
            </a:endParaRPr>
          </a:p>
          <a:p>
            <a:pPr marL="149225" indent="-137160">
              <a:lnSpc>
                <a:spcPct val="100000"/>
              </a:lnSpc>
              <a:spcBef>
                <a:spcPts val="35"/>
              </a:spcBef>
              <a:buClr>
                <a:srgbClr val="3333B2"/>
              </a:buClr>
              <a:buAutoNum type="arabicPeriod"/>
              <a:tabLst>
                <a:tab pos="149860" algn="l"/>
              </a:tabLst>
            </a:pPr>
            <a:r>
              <a:rPr sz="700" dirty="0">
                <a:latin typeface="Arial"/>
                <a:cs typeface="Arial"/>
              </a:rPr>
              <a:t>Remote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gives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stub.</a:t>
            </a:r>
            <a:endParaRPr sz="700">
              <a:latin typeface="Arial"/>
              <a:cs typeface="Arial"/>
            </a:endParaRPr>
          </a:p>
          <a:p>
            <a:pPr marL="149225" indent="-137160">
              <a:lnSpc>
                <a:spcPct val="100000"/>
              </a:lnSpc>
              <a:spcBef>
                <a:spcPts val="40"/>
              </a:spcBef>
              <a:buClr>
                <a:srgbClr val="3333B2"/>
              </a:buClr>
              <a:buAutoNum type="arabicPeriod"/>
              <a:tabLst>
                <a:tab pos="149860" algn="l"/>
              </a:tabLst>
            </a:pPr>
            <a:r>
              <a:rPr sz="700" dirty="0">
                <a:latin typeface="Arial"/>
                <a:cs typeface="Arial"/>
              </a:rPr>
              <a:t>Stub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unpacks parameters;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calls</a:t>
            </a:r>
            <a:r>
              <a:rPr sz="700" spc="-10" dirty="0">
                <a:latin typeface="Arial"/>
                <a:cs typeface="Arial"/>
              </a:rPr>
              <a:t> server.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15400" y="2683906"/>
            <a:ext cx="1934210" cy="577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indent="-13779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AutoNum type="arabicPeriod" startAt="6"/>
              <a:tabLst>
                <a:tab pos="199390" algn="l"/>
              </a:tabLst>
            </a:pPr>
            <a:r>
              <a:rPr sz="700" dirty="0">
                <a:latin typeface="Arial"/>
                <a:cs typeface="Arial"/>
              </a:rPr>
              <a:t>Server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does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local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call;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returns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result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stub.</a:t>
            </a:r>
            <a:endParaRPr sz="700">
              <a:latin typeface="Arial"/>
              <a:cs typeface="Arial"/>
            </a:endParaRPr>
          </a:p>
          <a:p>
            <a:pPr marL="198755" indent="-137795">
              <a:lnSpc>
                <a:spcPct val="100000"/>
              </a:lnSpc>
              <a:spcBef>
                <a:spcPts val="40"/>
              </a:spcBef>
              <a:buClr>
                <a:srgbClr val="3333B2"/>
              </a:buClr>
              <a:buAutoNum type="arabicPeriod" startAt="6"/>
              <a:tabLst>
                <a:tab pos="199390" algn="l"/>
              </a:tabLst>
            </a:pPr>
            <a:r>
              <a:rPr sz="700" dirty="0">
                <a:latin typeface="Arial"/>
                <a:cs typeface="Arial"/>
              </a:rPr>
              <a:t>Stub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builds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message;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calls</a:t>
            </a:r>
            <a:r>
              <a:rPr sz="700" spc="-30" dirty="0">
                <a:latin typeface="Arial"/>
                <a:cs typeface="Arial"/>
              </a:rPr>
              <a:t> </a:t>
            </a:r>
            <a:r>
              <a:rPr sz="700" spc="-25" dirty="0">
                <a:latin typeface="Arial"/>
                <a:cs typeface="Arial"/>
              </a:rPr>
              <a:t>OS.</a:t>
            </a:r>
            <a:endParaRPr sz="700">
              <a:latin typeface="Arial"/>
              <a:cs typeface="Arial"/>
            </a:endParaRPr>
          </a:p>
          <a:p>
            <a:pPr marL="198755" indent="-137795">
              <a:lnSpc>
                <a:spcPct val="100000"/>
              </a:lnSpc>
              <a:spcBef>
                <a:spcPts val="35"/>
              </a:spcBef>
              <a:buClr>
                <a:srgbClr val="3333B2"/>
              </a:buClr>
              <a:buAutoNum type="arabicPeriod" startAt="6"/>
              <a:tabLst>
                <a:tab pos="199390" algn="l"/>
              </a:tabLst>
            </a:pPr>
            <a:r>
              <a:rPr sz="700" dirty="0">
                <a:latin typeface="Arial"/>
                <a:cs typeface="Arial"/>
              </a:rPr>
              <a:t>OS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sends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</a:t>
            </a:r>
            <a:r>
              <a:rPr sz="700" spc="-1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client’s </a:t>
            </a:r>
            <a:r>
              <a:rPr sz="700" spc="-25" dirty="0">
                <a:latin typeface="Arial"/>
                <a:cs typeface="Arial"/>
              </a:rPr>
              <a:t>OS.</a:t>
            </a:r>
            <a:endParaRPr sz="700">
              <a:latin typeface="Arial"/>
              <a:cs typeface="Arial"/>
            </a:endParaRPr>
          </a:p>
          <a:p>
            <a:pPr marL="198755" indent="-137795">
              <a:lnSpc>
                <a:spcPct val="100000"/>
              </a:lnSpc>
              <a:spcBef>
                <a:spcPts val="35"/>
              </a:spcBef>
              <a:buClr>
                <a:srgbClr val="3333B2"/>
              </a:buClr>
              <a:buAutoNum type="arabicPeriod" startAt="6"/>
              <a:tabLst>
                <a:tab pos="199390" algn="l"/>
              </a:tabLst>
            </a:pPr>
            <a:r>
              <a:rPr sz="700" spc="-10" dirty="0">
                <a:latin typeface="Arial"/>
                <a:cs typeface="Arial"/>
              </a:rPr>
              <a:t>Client’s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OS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gives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message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15" dirty="0">
                <a:latin typeface="Arial"/>
                <a:cs typeface="Arial"/>
              </a:rPr>
              <a:t> </a:t>
            </a:r>
            <a:r>
              <a:rPr sz="700" spc="-20" dirty="0">
                <a:latin typeface="Arial"/>
                <a:cs typeface="Arial"/>
              </a:rPr>
              <a:t>stub.</a:t>
            </a:r>
            <a:endParaRPr sz="700">
              <a:latin typeface="Arial"/>
              <a:cs typeface="Arial"/>
            </a:endParaRPr>
          </a:p>
          <a:p>
            <a:pPr marL="198755" indent="-186690">
              <a:lnSpc>
                <a:spcPct val="100000"/>
              </a:lnSpc>
              <a:spcBef>
                <a:spcPts val="40"/>
              </a:spcBef>
              <a:buClr>
                <a:srgbClr val="3333B2"/>
              </a:buClr>
              <a:buAutoNum type="arabicPeriod" startAt="6"/>
              <a:tabLst>
                <a:tab pos="199390" algn="l"/>
              </a:tabLst>
            </a:pPr>
            <a:r>
              <a:rPr sz="700" dirty="0">
                <a:latin typeface="Arial"/>
                <a:cs typeface="Arial"/>
              </a:rPr>
              <a:t>Client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stub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unpacks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result;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returns</a:t>
            </a:r>
            <a:r>
              <a:rPr sz="700" spc="-2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to</a:t>
            </a:r>
            <a:r>
              <a:rPr sz="700" spc="-20" dirty="0">
                <a:latin typeface="Arial"/>
                <a:cs typeface="Arial"/>
              </a:rPr>
              <a:t> </a:t>
            </a:r>
            <a:r>
              <a:rPr sz="700" spc="-10" dirty="0">
                <a:latin typeface="Arial"/>
                <a:cs typeface="Arial"/>
              </a:rPr>
              <a:t>client.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6121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Basic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RPC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operation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RPC:</a:t>
            </a:r>
            <a:r>
              <a:rPr spc="-35" dirty="0"/>
              <a:t> </a:t>
            </a:r>
            <a:r>
              <a:rPr spc="-10" dirty="0"/>
              <a:t>Parameter</a:t>
            </a:r>
            <a:r>
              <a:rPr spc="-35" dirty="0"/>
              <a:t> </a:t>
            </a:r>
            <a:r>
              <a:rPr spc="-10" dirty="0"/>
              <a:t>passing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982" y="514774"/>
            <a:ext cx="3971290" cy="205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There’s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just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wrapping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parameters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endParaRPr sz="1000">
              <a:latin typeface="Arial"/>
              <a:cs typeface="Arial"/>
            </a:endParaRPr>
          </a:p>
          <a:p>
            <a:pPr marL="294640" marR="3048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representations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(think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ordering)</a:t>
            </a:r>
            <a:endParaRPr sz="900">
              <a:latin typeface="Arial"/>
              <a:cs typeface="Arial"/>
            </a:endParaRPr>
          </a:p>
          <a:p>
            <a:pPr marL="294640" marR="148590" indent="-120650">
              <a:lnSpc>
                <a:spcPct val="111600"/>
              </a:lnSpc>
              <a:spcBef>
                <a:spcPts val="5"/>
              </a:spcBef>
              <a:buClr>
                <a:srgbClr val="3333B2"/>
              </a:buClr>
              <a:buFont typeface="Menlo"/>
              <a:buChar char="•"/>
              <a:tabLst>
                <a:tab pos="290195" algn="l"/>
              </a:tabLst>
            </a:pPr>
            <a:r>
              <a:rPr sz="900" dirty="0">
                <a:latin typeface="Arial"/>
                <a:cs typeface="Arial"/>
              </a:rPr>
              <a:t>Wrapping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transforming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sequence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of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bytes</a:t>
            </a:r>
            <a:endParaRPr sz="900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agree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encoding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919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(integers,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floats,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characters)</a:t>
            </a:r>
            <a:endParaRPr sz="900">
              <a:latin typeface="Arial"/>
              <a:cs typeface="Arial"/>
            </a:endParaRPr>
          </a:p>
          <a:p>
            <a:pPr marL="29464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complex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represented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(arrays,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unions)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41910" marR="3492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properly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interpret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transforming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into </a:t>
            </a:r>
            <a:r>
              <a:rPr sz="900" spc="-10" dirty="0">
                <a:latin typeface="Arial"/>
                <a:cs typeface="Arial"/>
              </a:rPr>
              <a:t>machine-</a:t>
            </a:r>
            <a:r>
              <a:rPr sz="900" dirty="0">
                <a:latin typeface="Arial"/>
                <a:cs typeface="Arial"/>
              </a:rPr>
              <a:t>dependent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representations.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Parameter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passing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RPC:</a:t>
            </a:r>
            <a:r>
              <a:rPr spc="-35" dirty="0"/>
              <a:t> </a:t>
            </a:r>
            <a:r>
              <a:rPr spc="-10" dirty="0"/>
              <a:t>Parameter</a:t>
            </a:r>
            <a:r>
              <a:rPr spc="-35" dirty="0"/>
              <a:t> </a:t>
            </a:r>
            <a:r>
              <a:rPr spc="-10" dirty="0"/>
              <a:t>passing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270" cy="86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in/copy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out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semantics: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executed,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assumed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values.</a:t>
            </a:r>
            <a:endParaRPr sz="900">
              <a:latin typeface="Arial"/>
              <a:cs typeface="Arial"/>
            </a:endParaRPr>
          </a:p>
          <a:p>
            <a:pPr marL="278130" marR="213360" indent="-120650">
              <a:lnSpc>
                <a:spcPct val="111600"/>
              </a:lnSpc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Excludes </a:t>
            </a:r>
            <a:r>
              <a:rPr sz="900" dirty="0">
                <a:latin typeface="Arial"/>
                <a:cs typeface="Arial"/>
              </a:rPr>
              <a:t>passing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references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(global)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Parameter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passing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RPC:</a:t>
            </a:r>
            <a:r>
              <a:rPr spc="-35" dirty="0"/>
              <a:t> </a:t>
            </a:r>
            <a:r>
              <a:rPr spc="-10" dirty="0"/>
              <a:t>Parameter</a:t>
            </a:r>
            <a:r>
              <a:rPr spc="-35" dirty="0"/>
              <a:t> </a:t>
            </a:r>
            <a:r>
              <a:rPr spc="-10" dirty="0"/>
              <a:t>passing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3670" cy="1344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in/copy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out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semantics: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executed,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assumed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values.</a:t>
            </a:r>
            <a:endParaRPr sz="900">
              <a:latin typeface="Arial"/>
              <a:cs typeface="Arial"/>
            </a:endParaRPr>
          </a:p>
          <a:p>
            <a:pPr marL="290830" marR="226060" indent="-120650">
              <a:lnSpc>
                <a:spcPct val="111600"/>
              </a:lnSpc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Excludes </a:t>
            </a:r>
            <a:r>
              <a:rPr sz="900" dirty="0">
                <a:latin typeface="Arial"/>
                <a:cs typeface="Arial"/>
              </a:rPr>
              <a:t>passing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references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(global)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Full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10" dirty="0">
                <a:latin typeface="Arial"/>
                <a:cs typeface="Arial"/>
              </a:rPr>
              <a:t> transparency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realized.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Parameter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passing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RPC:</a:t>
            </a:r>
            <a:r>
              <a:rPr spc="-35" dirty="0"/>
              <a:t> </a:t>
            </a:r>
            <a:r>
              <a:rPr spc="-10" dirty="0"/>
              <a:t>Parameter</a:t>
            </a:r>
            <a:r>
              <a:rPr spc="-35" dirty="0"/>
              <a:t> </a:t>
            </a:r>
            <a:r>
              <a:rPr spc="-10" dirty="0"/>
              <a:t>passing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028" y="514774"/>
            <a:ext cx="3980815" cy="213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307975" marR="30480" indent="-120650">
              <a:lnSpc>
                <a:spcPct val="111600"/>
              </a:lnSpc>
              <a:spcBef>
                <a:spcPts val="570"/>
              </a:spcBef>
              <a:buFont typeface="Menlo"/>
              <a:buChar char="•"/>
              <a:tabLst>
                <a:tab pos="30861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in/copy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out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semantics: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executed,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assumed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values.</a:t>
            </a:r>
            <a:endParaRPr sz="900">
              <a:latin typeface="Arial"/>
              <a:cs typeface="Arial"/>
            </a:endParaRPr>
          </a:p>
          <a:p>
            <a:pPr marL="307975" marR="226060" indent="-120650">
              <a:lnSpc>
                <a:spcPct val="111600"/>
              </a:lnSpc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All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Excludes </a:t>
            </a:r>
            <a:r>
              <a:rPr sz="900" dirty="0">
                <a:latin typeface="Arial"/>
                <a:cs typeface="Arial"/>
              </a:rPr>
              <a:t>passing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references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(global)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Full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10" dirty="0">
                <a:latin typeface="Arial"/>
                <a:cs typeface="Arial"/>
              </a:rPr>
              <a:t> transparency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realized.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reference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mechanism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enhances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0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latin typeface="Arial"/>
                <a:cs typeface="Arial"/>
              </a:rPr>
              <a:t>Remote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unified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latin typeface="Arial"/>
                <a:cs typeface="Arial"/>
              </a:rPr>
              <a:t>Remote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passed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parameter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RPCs</a:t>
            </a:r>
            <a:endParaRPr sz="9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stubs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sometimes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537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Parameter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passing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519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Asynchronous</a:t>
            </a:r>
            <a:r>
              <a:rPr spc="-85" dirty="0"/>
              <a:t> </a:t>
            </a:r>
            <a:r>
              <a:rPr spc="-20" dirty="0"/>
              <a:t>RPCs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723004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30" dirty="0">
                <a:latin typeface="Arial"/>
                <a:cs typeface="Arial"/>
              </a:rPr>
              <a:t>Try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request-</a:t>
            </a:r>
            <a:r>
              <a:rPr sz="900" dirty="0">
                <a:latin typeface="Arial"/>
                <a:cs typeface="Arial"/>
              </a:rPr>
              <a:t>reply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behavior,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continue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8031" y="1355091"/>
            <a:ext cx="2007428" cy="9892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422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Variations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on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RPC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2778" y="-1515"/>
            <a:ext cx="6623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Remote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procedure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call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4287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Sending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out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RPCs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Sending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RPC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0079" y="1202157"/>
            <a:ext cx="2042091" cy="158420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422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Variations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on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RPC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1803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Transient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messaging:</a:t>
            </a:r>
            <a:r>
              <a:rPr sz="12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sockets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Berkeley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socket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interface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2368" y="767410"/>
          <a:ext cx="3477895" cy="11614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189">
                <a:tc>
                  <a:txBody>
                    <a:bodyPr/>
                    <a:lstStyle/>
                    <a:p>
                      <a:pPr marL="78105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75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pPr marL="71755">
                        <a:lnSpc>
                          <a:spcPts val="765"/>
                        </a:lnSpc>
                      </a:pPr>
                      <a:r>
                        <a:rPr sz="1000" spc="75" dirty="0">
                          <a:latin typeface="Times New Roman"/>
                          <a:cs typeface="Times New Roman"/>
                        </a:rPr>
                        <a:t>socket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755" marR="127635">
                        <a:lnSpc>
                          <a:spcPct val="77000"/>
                        </a:lnSpc>
                        <a:spcBef>
                          <a:spcPts val="135"/>
                        </a:spcBef>
                      </a:pPr>
                      <a:r>
                        <a:rPr sz="1000" spc="55" dirty="0">
                          <a:latin typeface="Times New Roman"/>
                          <a:cs typeface="Times New Roman"/>
                        </a:rPr>
                        <a:t>bind </a:t>
                      </a:r>
                      <a:r>
                        <a:rPr sz="1000" spc="140" dirty="0">
                          <a:latin typeface="Times New Roman"/>
                          <a:cs typeface="Times New Roman"/>
                        </a:rPr>
                        <a:t>listen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755" marR="64135">
                        <a:lnSpc>
                          <a:spcPct val="74700"/>
                        </a:lnSpc>
                        <a:spcBef>
                          <a:spcPts val="845"/>
                        </a:spcBef>
                      </a:pPr>
                      <a:r>
                        <a:rPr sz="1000" spc="75" dirty="0">
                          <a:latin typeface="Times New Roman"/>
                          <a:cs typeface="Times New Roman"/>
                        </a:rPr>
                        <a:t>accept 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connect 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send </a:t>
                      </a:r>
                      <a:r>
                        <a:rPr sz="1000" spc="85" dirty="0">
                          <a:latin typeface="Times New Roman"/>
                          <a:cs typeface="Times New Roman"/>
                        </a:rPr>
                        <a:t>receive </a:t>
                      </a:r>
                      <a:r>
                        <a:rPr sz="1000" spc="90" dirty="0">
                          <a:latin typeface="Times New Roman"/>
                          <a:cs typeface="Times New Roman"/>
                        </a:rPr>
                        <a:t>close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Create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new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communication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point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Attach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socket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78105" marR="433070">
                        <a:lnSpc>
                          <a:spcPct val="104400"/>
                        </a:lnSpc>
                        <a:spcBef>
                          <a:spcPts val="50"/>
                        </a:spcBef>
                      </a:pPr>
                      <a:r>
                        <a:rPr sz="700" spc="-20" dirty="0">
                          <a:latin typeface="Arial"/>
                          <a:cs typeface="Arial"/>
                        </a:rPr>
                        <a:t>Tell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what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maximum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number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pending</a:t>
                      </a:r>
                      <a:r>
                        <a:rPr sz="7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connection</a:t>
                      </a:r>
                      <a:r>
                        <a:rPr sz="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requests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should</a:t>
                      </a:r>
                      <a:r>
                        <a:rPr sz="7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be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78105" marR="1017905">
                        <a:lnSpc>
                          <a:spcPct val="1044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7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caller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connection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request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arrives</a:t>
                      </a:r>
                      <a:r>
                        <a:rPr sz="7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Actively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attempt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establish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connection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some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over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connection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78105" marR="1242060">
                        <a:lnSpc>
                          <a:spcPct val="106400"/>
                        </a:lnSpc>
                        <a:spcBef>
                          <a:spcPts val="30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Receive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some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over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connection</a:t>
                      </a:r>
                      <a:r>
                        <a:rPr sz="7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Release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connection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148" y="2368521"/>
            <a:ext cx="3443112" cy="859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161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transient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messaging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sockets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26976"/>
            <a:ext cx="1548765" cy="76771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Sockets: Python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code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ts val="1160"/>
              </a:lnSpc>
              <a:spcBef>
                <a:spcPts val="459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84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8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1050" spc="22" baseline="-7936" dirty="0">
                <a:latin typeface="Times New Roman"/>
                <a:cs typeface="Times New Roman"/>
              </a:rPr>
              <a:t>*</a:t>
            </a:r>
            <a:endParaRPr sz="1050" baseline="-7936">
              <a:latin typeface="Times New Roman"/>
              <a:cs typeface="Times New Roman"/>
            </a:endParaRPr>
          </a:p>
          <a:p>
            <a:pPr marL="28956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28956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Server: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102" y="853709"/>
            <a:ext cx="2962910" cy="49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run(self):</a:t>
            </a:r>
            <a:endParaRPr sz="700">
              <a:latin typeface="Times New Roman"/>
              <a:cs typeface="Times New Roman"/>
            </a:endParaRPr>
          </a:p>
          <a:p>
            <a:pPr marL="102870" marR="1424940">
              <a:lnSpc>
                <a:spcPts val="720"/>
              </a:lnSpc>
              <a:spcBef>
                <a:spcPts val="65"/>
              </a:spcBef>
            </a:pP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socket(AF_INET,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spc="-90" dirty="0">
                <a:latin typeface="Times New Roman"/>
                <a:cs typeface="Times New Roman"/>
              </a:rPr>
              <a:t>SOCK_STREAM)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s.bind((HOST,</a:t>
            </a:r>
            <a:r>
              <a:rPr sz="700" spc="45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PORT))</a:t>
            </a:r>
            <a:endParaRPr sz="700">
              <a:latin typeface="Times New Roman"/>
              <a:cs typeface="Times New Roman"/>
            </a:endParaRPr>
          </a:p>
          <a:p>
            <a:pPr marL="102870">
              <a:lnSpc>
                <a:spcPts val="650"/>
              </a:lnSpc>
            </a:pPr>
            <a:r>
              <a:rPr sz="700" spc="90" dirty="0">
                <a:latin typeface="Times New Roman"/>
                <a:cs typeface="Times New Roman"/>
              </a:rPr>
              <a:t>s.listen(1)</a:t>
            </a:r>
            <a:endParaRPr sz="700">
              <a:latin typeface="Times New Roman"/>
              <a:cs typeface="Times New Roman"/>
            </a:endParaRPr>
          </a:p>
          <a:p>
            <a:pPr marL="102870">
              <a:lnSpc>
                <a:spcPts val="780"/>
              </a:lnSpc>
            </a:pPr>
            <a:r>
              <a:rPr sz="700" spc="60" dirty="0">
                <a:latin typeface="Times New Roman"/>
                <a:cs typeface="Times New Roman"/>
              </a:rPr>
              <a:t>(conn,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addr)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s.accept()</a:t>
            </a:r>
            <a:r>
              <a:rPr sz="700" spc="484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returns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socket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addr.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client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923" y="1309194"/>
            <a:ext cx="16351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10945" algn="l"/>
              </a:tabLst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forever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9785" y="1400291"/>
            <a:ext cx="229870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80" dirty="0">
                <a:latin typeface="Times New Roman"/>
                <a:cs typeface="Times New Roman"/>
              </a:rPr>
              <a:t>data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conn.recv(1024)</a:t>
            </a:r>
            <a:r>
              <a:rPr sz="700" spc="470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data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from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client</a:t>
            </a:r>
            <a:endParaRPr sz="700">
              <a:latin typeface="Times New Roman"/>
              <a:cs typeface="Times New Roman"/>
            </a:endParaRPr>
          </a:p>
          <a:p>
            <a:pPr marL="13335">
              <a:lnSpc>
                <a:spcPts val="780"/>
              </a:lnSpc>
              <a:tabLst>
                <a:tab pos="1122045" algn="l"/>
              </a:tabLst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not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data: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break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stop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if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client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stopped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4149" y="1582486"/>
            <a:ext cx="14160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return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sent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data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plus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"</a:t>
            </a:r>
            <a:r>
              <a:rPr sz="1050" i="1" spc="60" baseline="-7936" dirty="0">
                <a:solidFill>
                  <a:srgbClr val="009600"/>
                </a:solidFill>
                <a:latin typeface="Times New Roman"/>
                <a:cs typeface="Times New Roman"/>
              </a:rPr>
              <a:t>*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"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346" y="863831"/>
            <a:ext cx="101600" cy="9366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828" y="1582486"/>
            <a:ext cx="106235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 marR="30480" indent="88265">
              <a:lnSpc>
                <a:spcPts val="720"/>
              </a:lnSpc>
              <a:spcBef>
                <a:spcPts val="220"/>
              </a:spcBef>
            </a:pPr>
            <a:r>
              <a:rPr sz="700" spc="-10" dirty="0">
                <a:latin typeface="Times New Roman"/>
                <a:cs typeface="Times New Roman"/>
              </a:rPr>
              <a:t>conn.send(data+b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"</a:t>
            </a:r>
            <a:r>
              <a:rPr sz="1050" spc="-15" baseline="-7936" dirty="0">
                <a:solidFill>
                  <a:srgbClr val="C80000"/>
                </a:solidFill>
                <a:latin typeface="Times New Roman"/>
                <a:cs typeface="Times New Roman"/>
              </a:rPr>
              <a:t>*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"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conn.close()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9549" y="1673583"/>
            <a:ext cx="10121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close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connection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4" y="1882729"/>
            <a:ext cx="71945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Client: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102" y="2115390"/>
            <a:ext cx="3048000" cy="49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run(self):</a:t>
            </a:r>
            <a:endParaRPr sz="700">
              <a:latin typeface="Times New Roman"/>
              <a:cs typeface="Times New Roman"/>
            </a:endParaRPr>
          </a:p>
          <a:p>
            <a:pPr marL="102870">
              <a:lnSpc>
                <a:spcPts val="715"/>
              </a:lnSpc>
            </a:pP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socket(AF_INET,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SOCK_STREAM)</a:t>
            </a:r>
            <a:endParaRPr sz="700">
              <a:latin typeface="Times New Roman"/>
              <a:cs typeface="Times New Roman"/>
            </a:endParaRPr>
          </a:p>
          <a:p>
            <a:pPr marL="102870">
              <a:lnSpc>
                <a:spcPts val="715"/>
              </a:lnSpc>
            </a:pPr>
            <a:r>
              <a:rPr sz="700" dirty="0">
                <a:latin typeface="Times New Roman"/>
                <a:cs typeface="Times New Roman"/>
              </a:rPr>
              <a:t>s.connect((HOST,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PORT))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(block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until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accepted)</a:t>
            </a:r>
            <a:endParaRPr sz="700">
              <a:latin typeface="Times New Roman"/>
              <a:cs typeface="Times New Roman"/>
            </a:endParaRPr>
          </a:p>
          <a:p>
            <a:pPr marL="102870">
              <a:lnSpc>
                <a:spcPts val="715"/>
              </a:lnSpc>
            </a:pPr>
            <a:r>
              <a:rPr sz="700" spc="60" dirty="0">
                <a:latin typeface="Times New Roman"/>
                <a:cs typeface="Times New Roman"/>
              </a:rPr>
              <a:t>s.send(b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"Hello,</a:t>
            </a:r>
            <a:r>
              <a:rPr sz="700" spc="9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world"</a:t>
            </a:r>
            <a:r>
              <a:rPr sz="700" spc="50" dirty="0">
                <a:latin typeface="Times New Roman"/>
                <a:cs typeface="Times New Roman"/>
              </a:rPr>
              <a:t>)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same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data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80"/>
              </a:lnSpc>
              <a:tabLst>
                <a:tab pos="1165860" algn="l"/>
              </a:tabLst>
            </a:pPr>
            <a:r>
              <a:rPr sz="700" spc="80" dirty="0">
                <a:latin typeface="Times New Roman"/>
                <a:cs typeface="Times New Roman"/>
              </a:rPr>
              <a:t>data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s.recv(1024)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response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294" y="2125513"/>
            <a:ext cx="635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0923" y="2570876"/>
            <a:ext cx="524510" cy="3143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5240" marR="5080" indent="-3175" algn="just">
              <a:lnSpc>
                <a:spcPts val="720"/>
              </a:lnSpc>
              <a:spcBef>
                <a:spcPts val="220"/>
              </a:spcBef>
            </a:pP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55" dirty="0">
                <a:latin typeface="Times New Roman"/>
                <a:cs typeface="Times New Roman"/>
              </a:rPr>
              <a:t>(data) s.send(b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""</a:t>
            </a:r>
            <a:r>
              <a:rPr sz="700" spc="55" dirty="0">
                <a:latin typeface="Times New Roman"/>
                <a:cs typeface="Times New Roman"/>
              </a:rPr>
              <a:t>) </a:t>
            </a:r>
            <a:r>
              <a:rPr sz="700" spc="80" dirty="0">
                <a:latin typeface="Times New Roman"/>
                <a:cs typeface="Times New Roman"/>
              </a:rPr>
              <a:t>s.close()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96694" y="2570876"/>
            <a:ext cx="1188720" cy="3143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print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what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you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received</a:t>
            </a:r>
            <a:r>
              <a:rPr sz="700" i="1" spc="5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tell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close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close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connection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9" name="object 1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467" y="3349927"/>
            <a:ext cx="1161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transient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messaging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sockets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35" dirty="0"/>
              <a:t> </a:t>
            </a:r>
            <a:r>
              <a:rPr spc="-10" dirty="0"/>
              <a:t>sockets</a:t>
            </a:r>
            <a:r>
              <a:rPr spc="-30" dirty="0"/>
              <a:t> </a:t>
            </a:r>
            <a:r>
              <a:rPr dirty="0"/>
              <a:t>easier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work</a:t>
            </a:r>
            <a:r>
              <a:rPr spc="-30" dirty="0"/>
              <a:t> </a:t>
            </a:r>
            <a:r>
              <a:rPr spc="-20" dirty="0"/>
              <a:t>with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99476"/>
            <a:ext cx="3869054" cy="21539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209" marR="1809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Sockets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 </a:t>
            </a:r>
            <a:r>
              <a:rPr sz="900" spc="-20" dirty="0">
                <a:latin typeface="Arial"/>
                <a:cs typeface="Arial"/>
              </a:rPr>
              <a:t>However,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client-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setting).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Alternative: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ZeroMQ</a:t>
            </a:r>
            <a:endParaRPr sz="1000">
              <a:latin typeface="Arial"/>
              <a:cs typeface="Arial"/>
            </a:endParaRPr>
          </a:p>
          <a:p>
            <a:pPr marL="29209" marR="17780">
              <a:lnSpc>
                <a:spcPct val="1116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Provides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expression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pairing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sockets: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sending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receiving </a:t>
            </a:r>
            <a:r>
              <a:rPr sz="900" dirty="0">
                <a:latin typeface="Arial"/>
                <a:cs typeface="Arial"/>
              </a:rPr>
              <a:t>messages.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10" dirty="0">
                <a:latin typeface="Arial"/>
                <a:cs typeface="Arial"/>
              </a:rPr>
              <a:t> communication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asynchronous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patterns</a:t>
            </a:r>
            <a:endParaRPr sz="1000">
              <a:latin typeface="Arial"/>
              <a:cs typeface="Arial"/>
            </a:endParaRPr>
          </a:p>
          <a:p>
            <a:pPr marL="282575" indent="-12128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spc="-10" dirty="0">
                <a:latin typeface="Arial"/>
                <a:cs typeface="Arial"/>
              </a:rPr>
              <a:t>Request-reply</a:t>
            </a:r>
            <a:endParaRPr sz="900">
              <a:latin typeface="Arial"/>
              <a:cs typeface="Arial"/>
            </a:endParaRPr>
          </a:p>
          <a:p>
            <a:pPr marL="28257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spc="-10" dirty="0">
                <a:latin typeface="Arial"/>
                <a:cs typeface="Arial"/>
              </a:rPr>
              <a:t>Publish-subscribe</a:t>
            </a:r>
            <a:endParaRPr sz="900">
              <a:latin typeface="Arial"/>
              <a:cs typeface="Arial"/>
            </a:endParaRPr>
          </a:p>
          <a:p>
            <a:pPr marL="28257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spc="-10" dirty="0">
                <a:latin typeface="Arial"/>
                <a:cs typeface="Arial"/>
              </a:rPr>
              <a:t>Pipeline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883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transient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9709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Request-reply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591699"/>
            <a:ext cx="721995" cy="3282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2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zmq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server():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065" y="879160"/>
            <a:ext cx="1971039" cy="1042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>
              <a:lnSpc>
                <a:spcPts val="780"/>
              </a:lnSpc>
              <a:spcBef>
                <a:spcPts val="95"/>
              </a:spcBef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4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5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26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context.socket(zmq.REP)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80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6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50" dirty="0">
                <a:latin typeface="Times New Roman"/>
                <a:cs typeface="Times New Roman"/>
              </a:rPr>
              <a:t>socket.bind(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"tcp://</a:t>
            </a:r>
            <a:r>
              <a:rPr sz="1050" spc="75" baseline="-7936" dirty="0">
                <a:solidFill>
                  <a:srgbClr val="C80000"/>
                </a:solidFill>
                <a:latin typeface="Times New Roman"/>
                <a:cs typeface="Times New Roman"/>
              </a:rPr>
              <a:t>*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:12345"</a:t>
            </a:r>
            <a:r>
              <a:rPr sz="700" spc="5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75565">
              <a:lnSpc>
                <a:spcPts val="735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8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58775" algn="l"/>
              </a:tabLst>
            </a:pPr>
            <a:r>
              <a:rPr sz="500" spc="-50" dirty="0">
                <a:latin typeface="Times New Roman"/>
                <a:cs typeface="Times New Roman"/>
              </a:rPr>
              <a:t>9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dirty="0">
                <a:latin typeface="Times New Roman"/>
                <a:cs typeface="Times New Roman"/>
              </a:rPr>
              <a:t>message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socket.recv()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0680" algn="l"/>
              </a:tabLst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not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-20" dirty="0">
                <a:solidFill>
                  <a:srgbClr val="C80000"/>
                </a:solidFill>
                <a:latin typeface="Times New Roman"/>
                <a:cs typeface="Times New Roman"/>
              </a:rPr>
              <a:t>"STOP"</a:t>
            </a:r>
            <a:r>
              <a:rPr sz="700" spc="8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45" dirty="0">
                <a:latin typeface="Times New Roman"/>
                <a:cs typeface="Times New Roman"/>
              </a:rPr>
              <a:t>(message):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447675" algn="l"/>
              </a:tabLst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80" dirty="0">
                <a:latin typeface="Times New Roman"/>
                <a:cs typeface="Times New Roman"/>
              </a:rPr>
              <a:t>reply</a:t>
            </a:r>
            <a:r>
              <a:rPr sz="700" spc="38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95" dirty="0">
                <a:latin typeface="Times New Roman"/>
                <a:cs typeface="Times New Roman"/>
              </a:rPr>
              <a:t> </a:t>
            </a: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-10" dirty="0">
                <a:latin typeface="Times New Roman"/>
                <a:cs typeface="Times New Roman"/>
              </a:rPr>
              <a:t>(message.decode())+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r>
              <a:rPr sz="1050" spc="-15" baseline="-7936" dirty="0">
                <a:solidFill>
                  <a:srgbClr val="C80000"/>
                </a:solidFill>
                <a:latin typeface="Times New Roman"/>
                <a:cs typeface="Times New Roman"/>
              </a:rPr>
              <a:t>*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’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447675" algn="l"/>
              </a:tabLst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50" dirty="0">
                <a:latin typeface="Times New Roman"/>
                <a:cs typeface="Times New Roman"/>
              </a:rPr>
              <a:t>socket.send(reply.encode())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59410" algn="l"/>
              </a:tabLst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else</a:t>
            </a:r>
            <a:r>
              <a:rPr sz="700" spc="85" dirty="0">
                <a:latin typeface="Times New Roman"/>
                <a:cs typeface="Times New Roman"/>
              </a:rPr>
              <a:t>: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  <a:tabLst>
                <a:tab pos="447675" algn="l"/>
              </a:tabLst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break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2802" y="970257"/>
            <a:ext cx="110045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create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reply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bind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address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7389" y="1334645"/>
            <a:ext cx="1284605" cy="4051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 marR="304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wait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for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incoming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#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if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not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stop...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65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"</a:t>
            </a:r>
            <a:r>
              <a:rPr sz="1050" i="1" spc="97" baseline="-7936" dirty="0">
                <a:solidFill>
                  <a:srgbClr val="009600"/>
                </a:solidFill>
                <a:latin typeface="Times New Roman"/>
                <a:cs typeface="Times New Roman"/>
              </a:rPr>
              <a:t>*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"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it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away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(encoded)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2789" y="1790143"/>
            <a:ext cx="1232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break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out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of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loop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9600"/>
                </a:solidFill>
                <a:latin typeface="Times New Roman"/>
                <a:cs typeface="Times New Roman"/>
              </a:rPr>
              <a:t>end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5" y="1906545"/>
            <a:ext cx="760095" cy="197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60"/>
              </a:lnSpc>
              <a:spcBef>
                <a:spcPts val="95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16</a:t>
            </a:r>
            <a:r>
              <a:rPr sz="500" spc="490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client():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116" y="2063435"/>
            <a:ext cx="28308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tabLst>
                <a:tab pos="1786889" algn="l"/>
              </a:tabLst>
            </a:pP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context.socket(zmq.REQ)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5465" y="2073557"/>
            <a:ext cx="1016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269" y="2336726"/>
            <a:ext cx="28314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socket.connect(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"tcp://localhost:12345"</a:t>
            </a:r>
            <a:r>
              <a:rPr sz="700" spc="60" dirty="0">
                <a:latin typeface="Times New Roman"/>
                <a:cs typeface="Times New Roman"/>
              </a:rPr>
              <a:t>)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block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until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connected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116" y="2427823"/>
            <a:ext cx="1233805" cy="4051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spc="50" dirty="0">
                <a:latin typeface="Times New Roman"/>
                <a:cs typeface="Times New Roman"/>
              </a:rPr>
              <a:t>socket.send(b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"Hello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solidFill>
                  <a:srgbClr val="C80000"/>
                </a:solidFill>
                <a:latin typeface="Times New Roman"/>
                <a:cs typeface="Times New Roman"/>
              </a:rPr>
              <a:t>world"</a:t>
            </a:r>
            <a:r>
              <a:rPr sz="700" spc="40" dirty="0">
                <a:latin typeface="Times New Roman"/>
                <a:cs typeface="Times New Roman"/>
              </a:rPr>
              <a:t>) </a:t>
            </a:r>
            <a:r>
              <a:rPr sz="700" dirty="0">
                <a:latin typeface="Times New Roman"/>
                <a:cs typeface="Times New Roman"/>
              </a:rPr>
              <a:t>message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socket.recv() </a:t>
            </a:r>
            <a:r>
              <a:rPr sz="700" spc="-10" dirty="0">
                <a:latin typeface="Times New Roman"/>
                <a:cs typeface="Times New Roman"/>
              </a:rPr>
              <a:t>socket.send(b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"STOP"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b="1" spc="3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35" dirty="0">
                <a:latin typeface="Times New Roman"/>
                <a:cs typeface="Times New Roman"/>
              </a:rPr>
              <a:t>(message.decode())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2789" y="2427823"/>
            <a:ext cx="1012190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12700" marR="5080">
              <a:lnSpc>
                <a:spcPts val="720"/>
              </a:lnSpc>
              <a:spcBef>
                <a:spcPts val="6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block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until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response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tell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stop</a:t>
            </a:r>
            <a:r>
              <a:rPr sz="700" i="1" spc="5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print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result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8" name="object 1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3467" y="3349927"/>
            <a:ext cx="8883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transient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2230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Publish-subscribe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605868"/>
            <a:ext cx="1122045" cy="405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multiprocessing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zmq,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time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server():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065" y="970257"/>
            <a:ext cx="1751330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5565">
              <a:lnSpc>
                <a:spcPts val="780"/>
              </a:lnSpc>
              <a:spcBef>
                <a:spcPts val="95"/>
              </a:spcBef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5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6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229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229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context.socket(zmq.PUB)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7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50" dirty="0">
                <a:latin typeface="Times New Roman"/>
                <a:cs typeface="Times New Roman"/>
              </a:rPr>
              <a:t>socket.bind(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"tcp://</a:t>
            </a:r>
            <a:r>
              <a:rPr sz="1050" spc="75" baseline="-7936" dirty="0">
                <a:solidFill>
                  <a:srgbClr val="C80000"/>
                </a:solidFill>
                <a:latin typeface="Times New Roman"/>
                <a:cs typeface="Times New Roman"/>
              </a:rPr>
              <a:t>*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:12345"</a:t>
            </a:r>
            <a:r>
              <a:rPr sz="700" spc="5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270510" algn="l"/>
              </a:tabLst>
            </a:pPr>
            <a:r>
              <a:rPr sz="500" spc="-50" dirty="0">
                <a:latin typeface="Times New Roman"/>
                <a:cs typeface="Times New Roman"/>
              </a:rPr>
              <a:t>8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  <a:p>
            <a:pPr marL="75565">
              <a:lnSpc>
                <a:spcPts val="715"/>
              </a:lnSpc>
              <a:tabLst>
                <a:tab pos="359410" algn="l"/>
              </a:tabLst>
            </a:pPr>
            <a:r>
              <a:rPr sz="500" spc="-50" dirty="0">
                <a:latin typeface="Times New Roman"/>
                <a:cs typeface="Times New Roman"/>
              </a:rPr>
              <a:t>9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60" dirty="0">
                <a:latin typeface="Times New Roman"/>
                <a:cs typeface="Times New Roman"/>
              </a:rPr>
              <a:t>time.sleep(5)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15"/>
              </a:lnSpc>
              <a:tabLst>
                <a:tab pos="361950" algn="l"/>
              </a:tabLst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220" dirty="0">
                <a:latin typeface="Times New Roman"/>
                <a:cs typeface="Times New Roman"/>
              </a:rPr>
              <a:t>t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30" dirty="0">
                <a:solidFill>
                  <a:srgbClr val="C80000"/>
                </a:solidFill>
                <a:latin typeface="Times New Roman"/>
                <a:cs typeface="Times New Roman"/>
              </a:rPr>
              <a:t>"TIME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30" dirty="0">
                <a:solidFill>
                  <a:srgbClr val="C80000"/>
                </a:solidFill>
                <a:latin typeface="Times New Roman"/>
                <a:cs typeface="Times New Roman"/>
              </a:rPr>
              <a:t>"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time.asctime()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  <a:tabLst>
                <a:tab pos="359410" algn="l"/>
              </a:tabLst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r>
              <a:rPr sz="500" dirty="0">
                <a:latin typeface="Times New Roman"/>
                <a:cs typeface="Times New Roman"/>
              </a:rPr>
              <a:t>	</a:t>
            </a:r>
            <a:r>
              <a:rPr sz="700" spc="55" dirty="0">
                <a:latin typeface="Times New Roman"/>
                <a:cs typeface="Times New Roman"/>
              </a:rPr>
              <a:t>socket.send(t.encode())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1359" y="1061354"/>
            <a:ext cx="1277620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create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publisher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r>
              <a:rPr sz="700" i="1" spc="5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bind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address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1359" y="1334645"/>
            <a:ext cx="10121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wait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every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5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seconds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1359" y="1516852"/>
            <a:ext cx="11887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publish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current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time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5" y="1699046"/>
            <a:ext cx="7600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13</a:t>
            </a:r>
            <a:r>
              <a:rPr sz="500" spc="490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client():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116" y="1790143"/>
            <a:ext cx="1764664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  <a:p>
            <a:pPr marL="12700" marR="5080">
              <a:lnSpc>
                <a:spcPts val="720"/>
              </a:lnSpc>
              <a:spcBef>
                <a:spcPts val="65"/>
              </a:spcBef>
            </a:pP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context.socket(zmq.SUB)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socket.connect(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"tcp://localhost:12345"</a:t>
            </a:r>
            <a:r>
              <a:rPr sz="700" spc="5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1359" y="1881240"/>
            <a:ext cx="1277620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subscriber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 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269" y="2063435"/>
            <a:ext cx="31413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socket.setsockopt(zmq.SUBSCRIBE,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b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"TIME"</a:t>
            </a:r>
            <a:r>
              <a:rPr sz="700" dirty="0">
                <a:latin typeface="Times New Roman"/>
                <a:cs typeface="Times New Roman"/>
              </a:rPr>
              <a:t>)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subscribe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9600"/>
                </a:solidFill>
                <a:latin typeface="Times New Roman"/>
                <a:cs typeface="Times New Roman"/>
              </a:rPr>
              <a:t>TIME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465" y="1800266"/>
            <a:ext cx="1016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9221" y="2245629"/>
            <a:ext cx="18561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77595" algn="l"/>
              </a:tabLst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220" dirty="0">
                <a:latin typeface="Times New Roman"/>
                <a:cs typeface="Times New Roman"/>
              </a:rPr>
              <a:t>i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range</a:t>
            </a:r>
            <a:r>
              <a:rPr sz="700" spc="45" dirty="0">
                <a:latin typeface="Times New Roman"/>
                <a:cs typeface="Times New Roman"/>
              </a:rPr>
              <a:t>(5):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Five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iterations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7347" y="2336726"/>
            <a:ext cx="29190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time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socket.recv()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related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subscription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055" y="2427823"/>
            <a:ext cx="181228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55" dirty="0">
                <a:latin typeface="Times New Roman"/>
                <a:cs typeface="Times New Roman"/>
              </a:rPr>
              <a:t>(time.decode())</a:t>
            </a:r>
            <a:r>
              <a:rPr sz="700" spc="46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print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result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0" name="object 2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467" y="3349927"/>
            <a:ext cx="8883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transient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5657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Pipeline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605868"/>
            <a:ext cx="810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producer():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425" y="707088"/>
            <a:ext cx="6350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116" y="696965"/>
            <a:ext cx="1677670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  <a:p>
            <a:pPr marL="12700" marR="50165">
              <a:lnSpc>
                <a:spcPts val="720"/>
              </a:lnSpc>
              <a:spcBef>
                <a:spcPts val="65"/>
              </a:spcBef>
            </a:pP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context.socket(zmq.PUSH)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socket.bind(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"tcp://127.0.0.1:12345"</a:t>
            </a:r>
            <a:r>
              <a:rPr sz="700" spc="5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spcBef>
                <a:spcPts val="58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  <a:p>
            <a:pPr marL="100965" marR="5080" indent="-635">
              <a:lnSpc>
                <a:spcPts val="720"/>
              </a:lnSpc>
              <a:spcBef>
                <a:spcPts val="65"/>
              </a:spcBef>
            </a:pPr>
            <a:r>
              <a:rPr sz="700" dirty="0">
                <a:latin typeface="Times New Roman"/>
                <a:cs typeface="Times New Roman"/>
              </a:rPr>
              <a:t>workload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random.randint(1,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100) </a:t>
            </a:r>
            <a:r>
              <a:rPr sz="700" spc="-10" dirty="0">
                <a:latin typeface="Times New Roman"/>
                <a:cs typeface="Times New Roman"/>
              </a:rPr>
              <a:t>socket.send(pickle.dumps(workload))</a:t>
            </a:r>
            <a:r>
              <a:rPr sz="700" spc="500" dirty="0">
                <a:latin typeface="Times New Roman"/>
                <a:cs typeface="Times New Roman"/>
              </a:rPr>
              <a:t>   </a:t>
            </a:r>
            <a:r>
              <a:rPr sz="700" spc="-10" dirty="0">
                <a:latin typeface="Times New Roman"/>
                <a:cs typeface="Times New Roman"/>
              </a:rPr>
              <a:t>time.sleep(workload/NWORKERS)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2789" y="788062"/>
            <a:ext cx="110045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push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bind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address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2789" y="1152451"/>
            <a:ext cx="141097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compute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workload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workload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worker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balance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production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by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waiting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5" y="1451060"/>
            <a:ext cx="847725" cy="197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60"/>
              </a:lnSpc>
              <a:spcBef>
                <a:spcPts val="95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11</a:t>
            </a:r>
            <a:r>
              <a:rPr sz="500" spc="490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worker(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id</a:t>
            </a:r>
            <a:r>
              <a:rPr sz="700" spc="50" dirty="0">
                <a:latin typeface="Times New Roman"/>
                <a:cs typeface="Times New Roman"/>
              </a:rPr>
              <a:t>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116" y="1607949"/>
            <a:ext cx="10579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5" dirty="0">
                <a:latin typeface="Times New Roman"/>
                <a:cs typeface="Times New Roman"/>
              </a:rPr>
              <a:t>context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zmq.Context()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269" y="1699046"/>
            <a:ext cx="2786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86889" algn="l"/>
              </a:tabLst>
            </a:pP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context.socket(zmq.PULL)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create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pull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socket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269" y="1790143"/>
            <a:ext cx="29197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socket.connect(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"tcp://localhost:12345"</a:t>
            </a:r>
            <a:r>
              <a:rPr sz="700" spc="60" dirty="0">
                <a:latin typeface="Times New Roman"/>
                <a:cs typeface="Times New Roman"/>
              </a:rPr>
              <a:t>)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the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producer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465" y="1618072"/>
            <a:ext cx="101600" cy="6635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485" y="1972338"/>
            <a:ext cx="163385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  <a:p>
            <a:pPr marL="100965" marR="5080">
              <a:lnSpc>
                <a:spcPts val="720"/>
              </a:lnSpc>
              <a:spcBef>
                <a:spcPts val="65"/>
              </a:spcBef>
            </a:pPr>
            <a:r>
              <a:rPr sz="700" dirty="0">
                <a:latin typeface="Times New Roman"/>
                <a:cs typeface="Times New Roman"/>
              </a:rPr>
              <a:t>work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pickle.loads(socket.recv()) </a:t>
            </a:r>
            <a:r>
              <a:rPr sz="700" spc="40" dirty="0">
                <a:latin typeface="Times New Roman"/>
                <a:cs typeface="Times New Roman"/>
              </a:rPr>
              <a:t>time.sleep(work)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47074" y="2063435"/>
            <a:ext cx="1277620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work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from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source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pretend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work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9" name="object 1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467" y="3349927"/>
            <a:ext cx="8883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transient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355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MPI: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lots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flexibility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needed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Representative</a:t>
            </a:r>
            <a:r>
              <a:rPr sz="10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1426" y="112584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91426" y="130954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1426" y="164636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1426" y="183008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426" y="20138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1426" y="219750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1426" y="253432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91426" y="271804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13067" y="792022"/>
          <a:ext cx="3776979" cy="2134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BSEND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Append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outgoing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buffer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SEND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 marR="350520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wait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copied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or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remote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buffer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SSEND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wait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transmission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starts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90" dirty="0">
                          <a:latin typeface="Times New Roman"/>
                          <a:cs typeface="Times New Roman"/>
                        </a:rPr>
                        <a:t>SENDRECV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wait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reply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ISEND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Pass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reference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outgoing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message,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continue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ISSEND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 marR="220979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Pass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reference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outgoing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message,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wait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until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receipt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starts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RECV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Receive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message;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there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none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70" dirty="0">
                          <a:latin typeface="Times New Roman"/>
                          <a:cs typeface="Times New Roman"/>
                        </a:rPr>
                        <a:t>MPI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IRECV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273050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there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incoming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message,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but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not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block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6" name="object 1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467" y="3349927"/>
            <a:ext cx="8883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transient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1102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Queue-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messaging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possible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combinations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953" y="800862"/>
            <a:ext cx="326376" cy="18426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5968" y="800862"/>
            <a:ext cx="326376" cy="18426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11984" y="815731"/>
            <a:ext cx="326376" cy="182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7999" y="815731"/>
            <a:ext cx="326376" cy="182654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2668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8" action="ppaction://hlinksldjump"/>
              </a:rPr>
              <a:t>Message-</a:t>
            </a:r>
            <a:r>
              <a:rPr sz="500" dirty="0">
                <a:latin typeface="Arial"/>
                <a:cs typeface="Arial"/>
                <a:hlinkClick r:id="rId8" action="ppaction://hlinksldjump"/>
              </a:rPr>
              <a:t>oriented</a:t>
            </a:r>
            <a:r>
              <a:rPr sz="500" spc="5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8" action="ppaction://hlinksldjump"/>
              </a:rPr>
              <a:t>persistent</a:t>
            </a:r>
            <a:r>
              <a:rPr sz="500" spc="5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Message-</a:t>
            </a:r>
            <a:r>
              <a:rPr dirty="0"/>
              <a:t>oriented</a:t>
            </a:r>
            <a:r>
              <a:rPr spc="-10" dirty="0"/>
              <a:t> middleware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04615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Asynchronous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persistent</a:t>
            </a:r>
            <a:r>
              <a:rPr sz="900" spc="-10" dirty="0">
                <a:latin typeface="Arial"/>
                <a:cs typeface="Arial"/>
              </a:rPr>
              <a:t> 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middleware-level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queues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buffers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4883" y="1351115"/>
          <a:ext cx="3573145" cy="1400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PUT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Append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queue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GET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 marR="368935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until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queue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nonempty,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remove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first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message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POLL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 marR="177165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queue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messages,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remove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first.</a:t>
                      </a:r>
                      <a:r>
                        <a:rPr sz="9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Never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block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NOTIFY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77800">
                        <a:lnSpc>
                          <a:spcPts val="121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Install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handler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called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put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into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queue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2668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oriented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persistent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General</a:t>
            </a:r>
            <a:r>
              <a:rPr spc="-65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70520"/>
            <a:ext cx="3904615" cy="96011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Queue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managers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Queues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queue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managers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extracting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route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046" y="1534568"/>
            <a:ext cx="2858242" cy="127703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2668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Message-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oriented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persistent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Message</a:t>
            </a:r>
            <a:r>
              <a:rPr spc="-55" dirty="0"/>
              <a:t> </a:t>
            </a:r>
            <a:r>
              <a:rPr spc="-10" dirty="0"/>
              <a:t>broker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46525" cy="14382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Message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common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all </a:t>
            </a:r>
            <a:r>
              <a:rPr sz="900" spc="-1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structure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representation)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Broker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handles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application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heterogeneity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MQ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spc="-20" dirty="0">
                <a:latin typeface="Arial"/>
                <a:cs typeface="Arial"/>
              </a:rPr>
              <a:t>Transforms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target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spc="-10" dirty="0">
                <a:latin typeface="Arial"/>
                <a:cs typeface="Arial"/>
              </a:rPr>
              <a:t>Very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application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gateway</a:t>
            </a:r>
            <a:endParaRPr sz="900">
              <a:latin typeface="Arial"/>
              <a:cs typeface="Arial"/>
            </a:endParaRPr>
          </a:p>
          <a:p>
            <a:pPr marL="278130" marR="16129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subject-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capabilities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publish-subscribe </a:t>
            </a:r>
            <a:r>
              <a:rPr sz="900" spc="-10" dirty="0">
                <a:latin typeface="Arial"/>
                <a:cs typeface="Arial"/>
              </a:rPr>
              <a:t>capabilities)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2668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Message-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oriented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persistent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501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broker:</a:t>
            </a:r>
            <a:r>
              <a:rPr sz="12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general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193" y="562848"/>
            <a:ext cx="3299626" cy="125227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2668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Message-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oriented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persistent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15" dirty="0"/>
              <a:t> </a:t>
            </a:r>
            <a:r>
              <a:rPr spc="-20" dirty="0"/>
              <a:t>AMQP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0842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Lack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standardization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Advanced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Message-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Queuing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intended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role</a:t>
            </a:r>
            <a:r>
              <a:rPr sz="900" spc="-25" dirty="0">
                <a:latin typeface="Arial"/>
                <a:cs typeface="Arial"/>
              </a:rPr>
              <a:t> as,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TCP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protocol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implementations.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0953" y="1254505"/>
            <a:ext cx="2646212" cy="12715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7294" y="2611944"/>
            <a:ext cx="391604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(stable)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connection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container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(possibly </a:t>
            </a:r>
            <a:r>
              <a:rPr sz="900" dirty="0">
                <a:latin typeface="Arial"/>
                <a:cs typeface="Arial"/>
              </a:rPr>
              <a:t>ephemeral)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one-way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channels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Two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one-way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channels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session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link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akin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socket,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6173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Advanced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Message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Queuing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Protocol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(AMQP)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631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AMQP-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producer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591699"/>
            <a:ext cx="811530" cy="3282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rabbitpy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producer():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812" y="879160"/>
            <a:ext cx="327469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50" dirty="0">
                <a:latin typeface="Times New Roman"/>
                <a:cs typeface="Times New Roman"/>
              </a:rPr>
              <a:t>connection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rabbitpy.Connection()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RabbitMQ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tabLst>
                <a:tab pos="1565910" algn="l"/>
              </a:tabLst>
            </a:pPr>
            <a:r>
              <a:rPr sz="700" spc="50" dirty="0">
                <a:latin typeface="Times New Roman"/>
                <a:cs typeface="Times New Roman"/>
              </a:rPr>
              <a:t>channel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connection.channel()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channel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on</a:t>
            </a:r>
            <a:r>
              <a:rPr sz="700" i="1" spc="1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connection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465" y="889282"/>
            <a:ext cx="101600" cy="1665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990" y="1152451"/>
            <a:ext cx="314134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exchange</a:t>
            </a:r>
            <a:r>
              <a:rPr sz="700" spc="409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409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rabbitpy.Exchange(channel,</a:t>
            </a:r>
            <a:r>
              <a:rPr sz="700" spc="445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’exchange’</a:t>
            </a:r>
            <a:r>
              <a:rPr sz="700" dirty="0">
                <a:latin typeface="Times New Roman"/>
                <a:cs typeface="Times New Roman"/>
              </a:rPr>
              <a:t>)</a:t>
            </a:r>
            <a:r>
              <a:rPr sz="700" spc="46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41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3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700" i="1" spc="3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exchange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spc="45" dirty="0">
                <a:latin typeface="Times New Roman"/>
                <a:cs typeface="Times New Roman"/>
              </a:rPr>
              <a:t>exchange.declare()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269" y="1425755"/>
            <a:ext cx="28308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queue1</a:t>
            </a:r>
            <a:r>
              <a:rPr sz="700" spc="3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rabbitpy.Queue(channel,</a:t>
            </a:r>
            <a:r>
              <a:rPr sz="700" spc="400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’example1’</a:t>
            </a:r>
            <a:r>
              <a:rPr sz="700" dirty="0">
                <a:latin typeface="Times New Roman"/>
                <a:cs typeface="Times New Roman"/>
              </a:rPr>
              <a:t>)</a:t>
            </a:r>
            <a:r>
              <a:rPr sz="700" spc="42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3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3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1st</a:t>
            </a:r>
            <a:r>
              <a:rPr sz="700" i="1" spc="3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spc="45" dirty="0">
                <a:latin typeface="Times New Roman"/>
                <a:cs typeface="Times New Roman"/>
              </a:rPr>
              <a:t>queue1.declare()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269" y="1699046"/>
            <a:ext cx="28308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queue2</a:t>
            </a:r>
            <a:r>
              <a:rPr sz="700" spc="3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rabbitpy.Queue(channel,</a:t>
            </a:r>
            <a:r>
              <a:rPr sz="700" spc="405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’example2’</a:t>
            </a:r>
            <a:r>
              <a:rPr sz="700" dirty="0">
                <a:latin typeface="Times New Roman"/>
                <a:cs typeface="Times New Roman"/>
              </a:rPr>
              <a:t>)</a:t>
            </a:r>
            <a:r>
              <a:rPr sz="700" spc="42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3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Create</a:t>
            </a:r>
            <a:r>
              <a:rPr sz="700" i="1" spc="3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2nd</a:t>
            </a:r>
            <a:r>
              <a:rPr sz="700" i="1" spc="3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spc="45" dirty="0">
                <a:latin typeface="Times New Roman"/>
                <a:cs typeface="Times New Roman"/>
              </a:rPr>
              <a:t>queue2.declare()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269" y="1972338"/>
            <a:ext cx="296291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queue1.bind(exchange,</a:t>
            </a:r>
            <a:r>
              <a:rPr sz="700" spc="280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’example-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key’</a:t>
            </a:r>
            <a:r>
              <a:rPr sz="700" spc="65" dirty="0">
                <a:latin typeface="Times New Roman"/>
                <a:cs typeface="Times New Roman"/>
              </a:rPr>
              <a:t>)</a:t>
            </a:r>
            <a:r>
              <a:rPr sz="700" spc="30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Bind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queue1</a:t>
            </a:r>
            <a:r>
              <a:rPr sz="700" i="1" spc="2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2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2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single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queue2.bind(exchange,</a:t>
            </a:r>
            <a:r>
              <a:rPr sz="700" spc="285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’example-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key’</a:t>
            </a:r>
            <a:r>
              <a:rPr sz="700" spc="65" dirty="0">
                <a:latin typeface="Times New Roman"/>
                <a:cs typeface="Times New Roman"/>
              </a:rPr>
              <a:t>)</a:t>
            </a:r>
            <a:r>
              <a:rPr sz="700" spc="31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Bind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queue2</a:t>
            </a:r>
            <a:r>
              <a:rPr sz="700" i="1" spc="2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25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2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same</a:t>
            </a:r>
            <a:r>
              <a:rPr sz="700" i="1" spc="2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key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990" y="2245629"/>
            <a:ext cx="3405504" cy="3143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dirty="0">
                <a:latin typeface="Times New Roman"/>
                <a:cs typeface="Times New Roman"/>
              </a:rPr>
              <a:t>message</a:t>
            </a:r>
            <a:r>
              <a:rPr sz="700" spc="409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41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rabbitpy.Message(channel,</a:t>
            </a:r>
            <a:r>
              <a:rPr sz="700" spc="450" dirty="0">
                <a:latin typeface="Times New Roman"/>
                <a:cs typeface="Times New Roman"/>
              </a:rPr>
              <a:t> 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’Test</a:t>
            </a:r>
            <a:r>
              <a:rPr sz="700" spc="37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message’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r>
              <a:rPr sz="700" spc="500" dirty="0">
                <a:latin typeface="Times New Roman"/>
                <a:cs typeface="Times New Roman"/>
              </a:rPr>
              <a:t>   </a:t>
            </a:r>
            <a:r>
              <a:rPr sz="700" dirty="0">
                <a:latin typeface="Times New Roman"/>
                <a:cs typeface="Times New Roman"/>
              </a:rPr>
              <a:t>message.publish(exchange,</a:t>
            </a:r>
            <a:r>
              <a:rPr sz="700" spc="285" dirty="0"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’example-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key’</a:t>
            </a:r>
            <a:r>
              <a:rPr sz="700" spc="65" dirty="0">
                <a:latin typeface="Times New Roman"/>
                <a:cs typeface="Times New Roman"/>
              </a:rPr>
              <a:t>)</a:t>
            </a:r>
            <a:r>
              <a:rPr sz="700" spc="30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Publish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2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using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2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key </a:t>
            </a:r>
            <a:r>
              <a:rPr sz="700" spc="50" dirty="0">
                <a:latin typeface="Times New Roman"/>
                <a:cs typeface="Times New Roman"/>
              </a:rPr>
              <a:t>exchange.delete()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16173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Message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Queuing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Protocol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(AMQP)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79571" y="-1515"/>
            <a:ext cx="9753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Message-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3310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AMQP-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consumer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591699"/>
            <a:ext cx="811530" cy="3282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rabbitpy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consumer():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812" y="879160"/>
            <a:ext cx="1545590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-635">
              <a:lnSpc>
                <a:spcPts val="720"/>
              </a:lnSpc>
              <a:spcBef>
                <a:spcPts val="220"/>
              </a:spcBef>
            </a:pPr>
            <a:r>
              <a:rPr sz="700" spc="50" dirty="0">
                <a:latin typeface="Times New Roman"/>
                <a:cs typeface="Times New Roman"/>
              </a:rPr>
              <a:t>connection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rabbitpy.Connection() </a:t>
            </a:r>
            <a:r>
              <a:rPr sz="700" spc="50" dirty="0">
                <a:latin typeface="Times New Roman"/>
                <a:cs typeface="Times New Roman"/>
              </a:rPr>
              <a:t>channel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connection.channel()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465" y="889282"/>
            <a:ext cx="101600" cy="15741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8485" y="1152451"/>
            <a:ext cx="19418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queue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rabbitpy.Queue(channel,</a:t>
            </a:r>
            <a:r>
              <a:rPr sz="700" spc="180" dirty="0">
                <a:latin typeface="Times New Roman"/>
                <a:cs typeface="Times New Roman"/>
              </a:rPr>
              <a:t> 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’example1’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485" y="1334645"/>
            <a:ext cx="3006725" cy="49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While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there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are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messages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in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queue,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fetch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them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using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Basic.Get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1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50" dirty="0">
                <a:latin typeface="Times New Roman"/>
                <a:cs typeface="Times New Roman"/>
              </a:rPr>
              <a:t>(queue)</a:t>
            </a:r>
            <a:r>
              <a:rPr sz="700" spc="18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&gt;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0: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15"/>
              </a:lnSpc>
            </a:pPr>
            <a:r>
              <a:rPr sz="700" dirty="0">
                <a:latin typeface="Times New Roman"/>
                <a:cs typeface="Times New Roman"/>
              </a:rPr>
              <a:t>message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queue.get()</a:t>
            </a:r>
            <a:endParaRPr sz="700">
              <a:latin typeface="Times New Roman"/>
              <a:cs typeface="Times New Roman"/>
            </a:endParaRPr>
          </a:p>
          <a:p>
            <a:pPr marL="100330" marR="802005">
              <a:lnSpc>
                <a:spcPts val="720"/>
              </a:lnSpc>
              <a:spcBef>
                <a:spcPts val="6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dirty="0">
                <a:latin typeface="Times New Roman"/>
                <a:cs typeface="Times New Roman"/>
              </a:rPr>
              <a:t>(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’Message</a:t>
            </a:r>
            <a:r>
              <a:rPr sz="700" spc="19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Q1:</a:t>
            </a:r>
            <a:r>
              <a:rPr sz="700" spc="2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%s’</a:t>
            </a:r>
            <a:r>
              <a:rPr sz="700" spc="27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-175" dirty="0">
                <a:latin typeface="Times New Roman"/>
                <a:cs typeface="Times New Roman"/>
              </a:rPr>
              <a:t>%</a:t>
            </a:r>
            <a:r>
              <a:rPr sz="700" spc="21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message.body.decode())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message.ack()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485" y="1881240"/>
            <a:ext cx="2209800" cy="58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queue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65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rabbitpy.Queue(channel,</a:t>
            </a:r>
            <a:r>
              <a:rPr sz="700" spc="180" dirty="0">
                <a:latin typeface="Times New Roman"/>
                <a:cs typeface="Times New Roman"/>
              </a:rPr>
              <a:t> 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’example2’</a:t>
            </a:r>
            <a:r>
              <a:rPr sz="700" spc="-10" dirty="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spcBef>
                <a:spcPts val="5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1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50" dirty="0">
                <a:latin typeface="Times New Roman"/>
                <a:cs typeface="Times New Roman"/>
              </a:rPr>
              <a:t>(queue)</a:t>
            </a:r>
            <a:r>
              <a:rPr sz="700" spc="18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&gt;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0: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15"/>
              </a:lnSpc>
            </a:pPr>
            <a:r>
              <a:rPr sz="700" dirty="0">
                <a:latin typeface="Times New Roman"/>
                <a:cs typeface="Times New Roman"/>
              </a:rPr>
              <a:t>message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queue.get()</a:t>
            </a:r>
            <a:endParaRPr sz="700">
              <a:latin typeface="Times New Roman"/>
              <a:cs typeface="Times New Roman"/>
            </a:endParaRPr>
          </a:p>
          <a:p>
            <a:pPr marL="100330" marR="5080">
              <a:lnSpc>
                <a:spcPts val="720"/>
              </a:lnSpc>
              <a:spcBef>
                <a:spcPts val="6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dirty="0">
                <a:latin typeface="Times New Roman"/>
                <a:cs typeface="Times New Roman"/>
              </a:rPr>
              <a:t>(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’Message</a:t>
            </a:r>
            <a:r>
              <a:rPr sz="700" spc="19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Q2:</a:t>
            </a:r>
            <a:r>
              <a:rPr sz="700" spc="2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%s’</a:t>
            </a:r>
            <a:r>
              <a:rPr sz="700" spc="27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-175" dirty="0">
                <a:latin typeface="Times New Roman"/>
                <a:cs typeface="Times New Roman"/>
              </a:rPr>
              <a:t>%</a:t>
            </a:r>
            <a:r>
              <a:rPr sz="700" spc="21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message.body.decode())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message.ack()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16173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Advanced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Message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Queuing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Protocol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(AMQP)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Application-level</a:t>
            </a:r>
            <a:r>
              <a:rPr spc="5" dirty="0"/>
              <a:t> </a:t>
            </a:r>
            <a:r>
              <a:rPr spc="-10" dirty="0"/>
              <a:t>multicasting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878579" cy="853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Organize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overlay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disseminate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data: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59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Oftentimes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tree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paths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spc="-10" dirty="0">
                <a:latin typeface="Arial"/>
                <a:cs typeface="Arial"/>
              </a:rPr>
              <a:t>Alternatively,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mesh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networks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537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Application-level</a:t>
            </a:r>
            <a:r>
              <a:rPr sz="500" spc="5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tree-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6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multicasting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Application-level</a:t>
            </a:r>
            <a:r>
              <a:rPr spc="10" dirty="0"/>
              <a:t> </a:t>
            </a:r>
            <a:r>
              <a:rPr spc="-10" dirty="0"/>
              <a:t>multicasting</a:t>
            </a:r>
            <a:r>
              <a:rPr spc="5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spc="-10" dirty="0"/>
              <a:t>Chord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55720" cy="165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Initiator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identifier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mid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Lookup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succ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mid</a:t>
            </a:r>
            <a:r>
              <a:rPr sz="900" i="1" spc="-1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mid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Request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succ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mid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root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join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root.</a:t>
            </a:r>
            <a:endParaRPr sz="900">
              <a:latin typeface="Arial"/>
              <a:cs typeface="Arial"/>
            </a:endParaRPr>
          </a:p>
          <a:p>
            <a:pPr marL="273050" indent="-15367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736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arrives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Q</a:t>
            </a:r>
            <a:r>
              <a:rPr sz="900" spc="-25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426084" lvl="1" indent="-120650" algn="ctr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426720" algn="l"/>
              </a:tabLst>
            </a:pP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forwarder</a:t>
            </a:r>
            <a:r>
              <a:rPr sz="900" spc="-10" dirty="0">
                <a:latin typeface="Arial"/>
                <a:cs typeface="Arial"/>
              </a:rPr>
              <a:t>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  <a:p>
            <a:pPr marL="246379" algn="ctr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becomes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child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Join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request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continues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forwarded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31495" marR="17780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child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need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forward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join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request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anymore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537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Application-level</a:t>
            </a:r>
            <a:r>
              <a:rPr sz="500" spc="5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tree-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6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multicasting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21539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ALM: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costs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metrics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884" y="776534"/>
            <a:ext cx="2321618" cy="12576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204939"/>
            <a:ext cx="376364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3175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Link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stress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cross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 </a:t>
            </a:r>
            <a:r>
              <a:rPr sz="900" dirty="0">
                <a:latin typeface="Arial"/>
                <a:cs typeface="Arial"/>
              </a:rPr>
              <a:t>link?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9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cross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60" dirty="0">
                <a:latin typeface="Menlo"/>
                <a:cs typeface="Menlo"/>
              </a:rPr>
              <a:t>⟨</a:t>
            </a:r>
            <a:r>
              <a:rPr sz="900" i="1" spc="-60" dirty="0">
                <a:latin typeface="Arial"/>
                <a:cs typeface="Arial"/>
              </a:rPr>
              <a:t>Ra,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70" dirty="0">
                <a:latin typeface="Arial"/>
                <a:cs typeface="Arial"/>
              </a:rPr>
              <a:t>Rb</a:t>
            </a:r>
            <a:r>
              <a:rPr sz="900" i="1" spc="-70" dirty="0">
                <a:latin typeface="Menlo"/>
                <a:cs typeface="Menlo"/>
              </a:rPr>
              <a:t>⟩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twice.</a:t>
            </a:r>
            <a:endParaRPr sz="900">
              <a:latin typeface="Arial"/>
              <a:cs typeface="Arial"/>
            </a:endParaRPr>
          </a:p>
          <a:p>
            <a:pPr marL="15811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Stretch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Ratio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ALM-level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path.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73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ALM,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47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stretch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73/47.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1537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Application-level</a:t>
            </a:r>
            <a:r>
              <a:rPr sz="500" spc="5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tree-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6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multicasting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Flooding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71856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will </a:t>
            </a:r>
            <a:r>
              <a:rPr sz="900" spc="-10" dirty="0">
                <a:latin typeface="Arial"/>
                <a:cs typeface="Arial"/>
              </a:rPr>
              <a:t>forward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except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spc="-10" dirty="0">
                <a:latin typeface="Arial"/>
                <a:cs typeface="Arial"/>
              </a:rPr>
              <a:t>before.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7953" y="1172789"/>
            <a:ext cx="2773268" cy="113614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12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Flooding-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5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multicasting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Flooding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71856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will </a:t>
            </a:r>
            <a:r>
              <a:rPr sz="900" spc="-10" dirty="0">
                <a:latin typeface="Arial"/>
                <a:cs typeface="Arial"/>
              </a:rPr>
              <a:t>forward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except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spc="-10" dirty="0">
                <a:latin typeface="Arial"/>
                <a:cs typeface="Arial"/>
              </a:rPr>
              <a:t>before.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7953" y="1172789"/>
            <a:ext cx="2773268" cy="11361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7728" y="2483534"/>
            <a:ext cx="396875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Variation</a:t>
            </a:r>
            <a:endParaRPr sz="1000">
              <a:latin typeface="Arial"/>
              <a:cs typeface="Arial"/>
            </a:endParaRPr>
          </a:p>
          <a:p>
            <a:pPr marL="41910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flood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possibly</a:t>
            </a:r>
            <a:r>
              <a:rPr sz="900" spc="-20" dirty="0">
                <a:latin typeface="Arial"/>
                <a:cs typeface="Arial"/>
              </a:rPr>
              <a:t> even </a:t>
            </a:r>
            <a:r>
              <a:rPr sz="900" spc="-10" dirty="0">
                <a:latin typeface="Arial"/>
                <a:cs typeface="Arial"/>
              </a:rPr>
              <a:t>dependent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own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(i.e.,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node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degree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degree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81280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Flooding-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5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multicasting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476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Epidemic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Assume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write–write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conflicts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Update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lazy,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immediate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Eventually,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forms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epidemics</a:t>
            </a:r>
            <a:endParaRPr sz="1000">
              <a:latin typeface="Arial"/>
              <a:cs typeface="Arial"/>
            </a:endParaRPr>
          </a:p>
          <a:p>
            <a:pPr marL="555625" marR="84455" indent="-120650">
              <a:lnSpc>
                <a:spcPct val="111600"/>
              </a:lnSpc>
              <a:spcBef>
                <a:spcPts val="56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Anti-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entropy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regularly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random,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differences,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both </a:t>
            </a:r>
            <a:r>
              <a:rPr sz="900" spc="-10" dirty="0">
                <a:latin typeface="Arial"/>
                <a:cs typeface="Arial"/>
              </a:rPr>
              <a:t>afterwards</a:t>
            </a:r>
            <a:endParaRPr sz="900">
              <a:latin typeface="Arial"/>
              <a:cs typeface="Arial"/>
            </a:endParaRPr>
          </a:p>
          <a:p>
            <a:pPr marL="555625" marR="43180" indent="-120650" algn="just">
              <a:lnSpc>
                <a:spcPct val="111600"/>
              </a:lnSpc>
              <a:spcBef>
                <a:spcPts val="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Rumor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spreading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been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contaminated</a:t>
            </a:r>
            <a:r>
              <a:rPr sz="900" spc="-10" dirty="0">
                <a:latin typeface="Arial"/>
                <a:cs typeface="Arial"/>
              </a:rPr>
              <a:t>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tells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several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about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(contaminating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well).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130" cy="181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Anti-entropy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random.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Pull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Q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Push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Q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Push-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pull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8450" marR="17780" indent="317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push-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takes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log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))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rounds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disseminate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round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initiative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Anti-</a:t>
            </a:r>
            <a:r>
              <a:rPr dirty="0"/>
              <a:t>entropy:</a:t>
            </a:r>
            <a:r>
              <a:rPr spc="1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99476"/>
            <a:ext cx="3941445" cy="11322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9209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source,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Arial"/>
                <a:cs typeface="Arial"/>
              </a:rPr>
              <a:t>th</a:t>
            </a:r>
            <a:r>
              <a:rPr sz="1050" i="1" spc="150" baseline="27777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Analysis: staying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ignorant</a:t>
            </a:r>
            <a:endParaRPr sz="1000">
              <a:latin typeface="Arial"/>
              <a:cs typeface="Arial"/>
            </a:endParaRPr>
          </a:p>
          <a:p>
            <a:pPr marL="282575" marR="16256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77495" algn="l"/>
              </a:tabLst>
            </a:pPr>
            <a:r>
              <a:rPr sz="900" dirty="0">
                <a:latin typeface="Arial"/>
                <a:cs typeface="Arial"/>
              </a:rPr>
              <a:t>With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pull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202" baseline="-15873" dirty="0">
                <a:latin typeface="Arial"/>
                <a:cs typeface="Arial"/>
              </a:rPr>
              <a:t> </a:t>
            </a:r>
            <a:r>
              <a:rPr sz="1050" spc="112" baseline="-15873" dirty="0">
                <a:latin typeface="Arial"/>
                <a:cs typeface="Arial"/>
              </a:rPr>
              <a:t>+1</a:t>
            </a:r>
            <a:r>
              <a:rPr sz="1050" spc="8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1050" baseline="27777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 node was not updated during the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Arial"/>
                <a:cs typeface="Arial"/>
              </a:rPr>
              <a:t>th</a:t>
            </a:r>
            <a:r>
              <a:rPr sz="1050" i="1" spc="157" baseline="27777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ignorant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7899" y="1710413"/>
            <a:ext cx="4064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380" algn="l"/>
              </a:tabLst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+1</a:t>
            </a:r>
            <a:r>
              <a:rPr sz="700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148" y="1660291"/>
            <a:ext cx="1381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indent="-11493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Menlo"/>
              <a:buChar char="•"/>
              <a:tabLst>
                <a:tab pos="127635" algn="l"/>
                <a:tab pos="94170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push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100" dirty="0">
                <a:latin typeface="Menlo"/>
                <a:cs typeface="Menlo"/>
              </a:rPr>
              <a:t>−</a:t>
            </a:r>
            <a:endParaRPr sz="900">
              <a:latin typeface="Menlo"/>
              <a:cs typeface="Menl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79307" y="1758391"/>
            <a:ext cx="189230" cy="0"/>
          </a:xfrm>
          <a:custGeom>
            <a:avLst/>
            <a:gdLst/>
            <a:ahLst/>
            <a:cxnLst/>
            <a:rect l="l" t="t" r="r" b="b"/>
            <a:pathLst>
              <a:path w="189230">
                <a:moveTo>
                  <a:pt x="0" y="0"/>
                </a:moveTo>
                <a:lnTo>
                  <a:pt x="18882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66607" y="1727951"/>
            <a:ext cx="21462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25" dirty="0">
                <a:latin typeface="Arial"/>
                <a:cs typeface="Arial"/>
              </a:rPr>
              <a:t>N</a:t>
            </a:r>
            <a:r>
              <a:rPr sz="700" i="1" spc="25" dirty="0">
                <a:latin typeface="Menlo"/>
                <a:cs typeface="Menlo"/>
              </a:rPr>
              <a:t>−</a:t>
            </a:r>
            <a:r>
              <a:rPr sz="700" spc="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0620" y="1660291"/>
            <a:ext cx="711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5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6394" y="1644258"/>
            <a:ext cx="4311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1770" algn="l"/>
              </a:tabLst>
            </a:pPr>
            <a:r>
              <a:rPr sz="1050" spc="-75" baseline="3968" dirty="0">
                <a:latin typeface="Arial"/>
                <a:cs typeface="Arial"/>
              </a:rPr>
              <a:t>1</a:t>
            </a:r>
            <a:r>
              <a:rPr sz="1050" baseline="3968" dirty="0">
                <a:latin typeface="Arial"/>
                <a:cs typeface="Arial"/>
              </a:rPr>
              <a:t>	</a:t>
            </a:r>
            <a:r>
              <a:rPr sz="700" spc="30" dirty="0">
                <a:latin typeface="Arial"/>
                <a:cs typeface="Arial"/>
              </a:rPr>
              <a:t>(</a:t>
            </a:r>
            <a:r>
              <a:rPr sz="700" i="1" spc="30" dirty="0">
                <a:latin typeface="Arial"/>
                <a:cs typeface="Arial"/>
              </a:rPr>
              <a:t>N</a:t>
            </a:r>
            <a:r>
              <a:rPr sz="700" i="1" spc="30" dirty="0">
                <a:latin typeface="Menlo"/>
                <a:cs typeface="Menlo"/>
              </a:rPr>
              <a:t>−</a:t>
            </a:r>
            <a:r>
              <a:rPr sz="700" spc="3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2049" y="1684803"/>
            <a:ext cx="400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" dirty="0"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1549" y="1644258"/>
            <a:ext cx="328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"/>
                <a:cs typeface="Arial"/>
              </a:rPr>
              <a:t>)(1</a:t>
            </a:r>
            <a:r>
              <a:rPr sz="700" i="1" dirty="0">
                <a:latin typeface="Menlo"/>
                <a:cs typeface="Menlo"/>
              </a:rPr>
              <a:t>−</a:t>
            </a:r>
            <a:r>
              <a:rPr sz="700" i="1" dirty="0">
                <a:latin typeface="Arial"/>
                <a:cs typeface="Arial"/>
              </a:rPr>
              <a:t>p</a:t>
            </a:r>
            <a:r>
              <a:rPr sz="700" i="1" spc="215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546" y="1644258"/>
            <a:ext cx="1435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25" dirty="0">
                <a:latin typeface="Menlo"/>
                <a:cs typeface="Menlo"/>
              </a:rPr>
              <a:t>−</a:t>
            </a:r>
            <a:r>
              <a:rPr sz="700" spc="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3182" y="1710413"/>
            <a:ext cx="8604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740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6080" y="1660291"/>
            <a:ext cx="1557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5134" algn="l"/>
              </a:tabLst>
            </a:pPr>
            <a:r>
              <a:rPr sz="900" i="1" spc="150" dirty="0">
                <a:latin typeface="Menlo"/>
                <a:cs typeface="Menlo"/>
              </a:rPr>
              <a:t>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e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2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2048" y="1811518"/>
            <a:ext cx="3656965" cy="523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43180">
              <a:lnSpc>
                <a:spcPct val="111600"/>
              </a:lnSpc>
              <a:spcBef>
                <a:spcPts val="100"/>
              </a:spcBef>
            </a:pP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ignorant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Arial"/>
                <a:cs typeface="Arial"/>
              </a:rPr>
              <a:t>th</a:t>
            </a:r>
            <a:r>
              <a:rPr sz="1050" i="1" spc="135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node </a:t>
            </a:r>
            <a:r>
              <a:rPr sz="900" dirty="0">
                <a:latin typeface="Arial"/>
                <a:cs typeface="Arial"/>
              </a:rPr>
              <a:t>chooses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round.</a:t>
            </a:r>
            <a:endParaRPr sz="900">
              <a:latin typeface="Arial"/>
              <a:cs typeface="Arial"/>
            </a:endParaRPr>
          </a:p>
          <a:p>
            <a:pPr marL="165100" indent="-114935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16573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push-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pull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1050" baseline="27777" dirty="0">
                <a:latin typeface="Arial"/>
                <a:cs typeface="Arial"/>
              </a:rPr>
              <a:t>2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i="1" spc="35" dirty="0">
                <a:latin typeface="Arial"/>
                <a:cs typeface="Arial"/>
              </a:rPr>
              <a:t>e</a:t>
            </a:r>
            <a:r>
              <a:rPr sz="1050" i="1" spc="52" baseline="27777" dirty="0">
                <a:latin typeface="Menlo"/>
                <a:cs typeface="Menlo"/>
              </a:rPr>
              <a:t>−</a:t>
            </a:r>
            <a:r>
              <a:rPr sz="1050" spc="52" baseline="27777" dirty="0">
                <a:latin typeface="Arial"/>
                <a:cs typeface="Arial"/>
              </a:rPr>
              <a:t>1</a:t>
            </a:r>
            <a:r>
              <a:rPr sz="900" spc="3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8" name="object 1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335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Anti-entropy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742" y="626308"/>
            <a:ext cx="3096798" cy="11361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742" y="1974819"/>
            <a:ext cx="3096798" cy="107554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Rumor</a:t>
            </a:r>
            <a:r>
              <a:rPr spc="-45" dirty="0"/>
              <a:t> </a:t>
            </a:r>
            <a:r>
              <a:rPr spc="-10" dirty="0"/>
              <a:t>spreading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99476"/>
            <a:ext cx="3942715" cy="14097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 algn="just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28575" marR="13462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report,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dirty="0">
                <a:latin typeface="Arial"/>
                <a:cs typeface="Arial"/>
              </a:rPr>
              <a:t>contacted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contacting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1904" dirty="0">
                <a:latin typeface="Arial"/>
                <a:cs typeface="Arial"/>
              </a:rPr>
              <a:t>stop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575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ignorant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unaware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update),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1350" i="1" baseline="-27777" dirty="0">
                <a:latin typeface="Arial"/>
                <a:cs typeface="Arial"/>
              </a:rPr>
              <a:t>s</a:t>
            </a:r>
            <a:r>
              <a:rPr sz="1350" i="1" spc="-22" baseline="-27777" dirty="0">
                <a:latin typeface="Arial"/>
                <a:cs typeface="Arial"/>
              </a:rPr>
              <a:t> </a:t>
            </a:r>
            <a:r>
              <a:rPr sz="1350" spc="277" baseline="-27777" dirty="0">
                <a:latin typeface="Arial"/>
                <a:cs typeface="Arial"/>
              </a:rPr>
              <a:t>=</a:t>
            </a:r>
            <a:r>
              <a:rPr sz="1350" spc="-60" baseline="-27777" dirty="0">
                <a:latin typeface="Arial"/>
                <a:cs typeface="Arial"/>
              </a:rPr>
              <a:t> </a:t>
            </a:r>
            <a:r>
              <a:rPr sz="1350" i="1" spc="-15" baseline="-27777" dirty="0">
                <a:latin typeface="Arial"/>
                <a:cs typeface="Arial"/>
              </a:rPr>
              <a:t>e</a:t>
            </a:r>
            <a:r>
              <a:rPr sz="700" i="1" spc="-10" dirty="0">
                <a:latin typeface="Menlo"/>
                <a:cs typeface="Menlo"/>
              </a:rPr>
              <a:t>−</a:t>
            </a:r>
            <a:r>
              <a:rPr sz="700" spc="-10" dirty="0">
                <a:latin typeface="Arial"/>
                <a:cs typeface="Arial"/>
              </a:rPr>
              <a:t>(1</a:t>
            </a:r>
            <a:r>
              <a:rPr sz="700" i="1" spc="-10" dirty="0">
                <a:latin typeface="Arial"/>
                <a:cs typeface="Arial"/>
              </a:rPr>
              <a:t>/p</a:t>
            </a:r>
            <a:r>
              <a:rPr sz="1050" i="1" spc="-15" baseline="-19841" dirty="0">
                <a:latin typeface="Arial"/>
                <a:cs typeface="Arial"/>
              </a:rPr>
              <a:t>stop</a:t>
            </a:r>
            <a:r>
              <a:rPr sz="700" spc="-10" dirty="0">
                <a:latin typeface="Arial"/>
                <a:cs typeface="Arial"/>
              </a:rPr>
              <a:t>+1)(1</a:t>
            </a:r>
            <a:r>
              <a:rPr sz="700" i="1" spc="-10" dirty="0">
                <a:latin typeface="Menlo"/>
                <a:cs typeface="Menlo"/>
              </a:rPr>
              <a:t>−</a:t>
            </a:r>
            <a:r>
              <a:rPr sz="700" i="1" spc="-10" dirty="0">
                <a:latin typeface="Arial"/>
                <a:cs typeface="Arial"/>
              </a:rPr>
              <a:t>s</a:t>
            </a:r>
            <a:r>
              <a:rPr sz="700" spc="-10" dirty="0"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Formal</a:t>
            </a:r>
            <a:r>
              <a:rPr spc="-6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23029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s</a:t>
            </a:r>
            <a:r>
              <a:rPr sz="900" i="1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denote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fraction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(i.e.,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susceptible</a:t>
            </a:r>
            <a:r>
              <a:rPr sz="900" spc="-10" dirty="0">
                <a:latin typeface="Arial"/>
                <a:cs typeface="Arial"/>
              </a:rPr>
              <a:t>;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900" i="1" spc="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infected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dirty="0">
                <a:latin typeface="Arial"/>
                <a:cs typeface="Arial"/>
              </a:rPr>
              <a:t>updated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removed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theory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epidemics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875" y="1511735"/>
            <a:ext cx="582295" cy="7626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93370" indent="-281305">
              <a:lnSpc>
                <a:spcPct val="100000"/>
              </a:lnSpc>
              <a:spcBef>
                <a:spcPts val="465"/>
              </a:spcBef>
              <a:buFont typeface="Arial"/>
              <a:buAutoNum type="arabicParenBoth"/>
              <a:tabLst>
                <a:tab pos="294005" algn="l"/>
              </a:tabLst>
            </a:pPr>
            <a:r>
              <a:rPr sz="900" i="1" spc="-10" dirty="0">
                <a:latin typeface="Arial"/>
                <a:cs typeface="Arial"/>
              </a:rPr>
              <a:t>ds/dt</a:t>
            </a:r>
            <a:endParaRPr sz="900">
              <a:latin typeface="Arial"/>
              <a:cs typeface="Arial"/>
            </a:endParaRPr>
          </a:p>
          <a:p>
            <a:pPr marL="293370" indent="-281305">
              <a:lnSpc>
                <a:spcPct val="100000"/>
              </a:lnSpc>
              <a:spcBef>
                <a:spcPts val="365"/>
              </a:spcBef>
              <a:buFont typeface="Arial"/>
              <a:buAutoNum type="arabicParenBoth"/>
              <a:tabLst>
                <a:tab pos="294005" algn="l"/>
              </a:tabLst>
            </a:pPr>
            <a:r>
              <a:rPr sz="900" i="1" spc="40" dirty="0">
                <a:latin typeface="Arial"/>
                <a:cs typeface="Arial"/>
              </a:rPr>
              <a:t>di/dt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293370" algn="l"/>
              </a:tabLst>
            </a:pPr>
            <a:r>
              <a:rPr sz="900" i="1" spc="300" dirty="0">
                <a:latin typeface="Menlo"/>
                <a:cs typeface="Menlo"/>
              </a:rPr>
              <a:t>⇒</a:t>
            </a:r>
            <a:r>
              <a:rPr sz="900" i="1" dirty="0">
                <a:latin typeface="Menlo"/>
                <a:cs typeface="Menlo"/>
              </a:rPr>
              <a:t>	</a:t>
            </a:r>
            <a:r>
              <a:rPr sz="900" i="1" spc="40" dirty="0">
                <a:latin typeface="Arial"/>
                <a:cs typeface="Arial"/>
              </a:rPr>
              <a:t>di/ds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293370" algn="l"/>
              </a:tabLst>
            </a:pPr>
            <a:r>
              <a:rPr sz="900" i="1" spc="300" dirty="0">
                <a:latin typeface="Menlo"/>
                <a:cs typeface="Menlo"/>
              </a:rPr>
              <a:t>⇒</a:t>
            </a:r>
            <a:r>
              <a:rPr sz="900" i="1" dirty="0">
                <a:latin typeface="Menlo"/>
                <a:cs typeface="Menlo"/>
              </a:rPr>
              <a:t>	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(</a:t>
            </a:r>
            <a:r>
              <a:rPr sz="900" i="1" spc="-25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1129" y="1899681"/>
            <a:ext cx="1033780" cy="191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7875">
              <a:lnSpc>
                <a:spcPts val="530"/>
              </a:lnSpc>
              <a:spcBef>
                <a:spcPts val="95"/>
              </a:spcBef>
            </a:pPr>
            <a:r>
              <a:rPr sz="1050" i="1" u="sng" spc="-15" baseline="1984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stop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ts val="770"/>
              </a:lnSpc>
            </a:pPr>
            <a:r>
              <a:rPr sz="900" i="1" spc="65" dirty="0">
                <a:latin typeface="Menlo"/>
                <a:cs typeface="Menlo"/>
              </a:rPr>
              <a:t>−</a:t>
            </a:r>
            <a:r>
              <a:rPr sz="900" spc="65" dirty="0">
                <a:latin typeface="Arial"/>
                <a:cs typeface="Arial"/>
              </a:rPr>
              <a:t>(1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35" dirty="0">
                <a:latin typeface="Arial"/>
                <a:cs typeface="Arial"/>
              </a:rPr>
              <a:t>+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3565" y="1511735"/>
            <a:ext cx="1308735" cy="7626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65"/>
              </a:spcBef>
            </a:pPr>
            <a:r>
              <a:rPr sz="900" spc="185" dirty="0">
                <a:latin typeface="Arial"/>
                <a:cs typeface="Arial"/>
              </a:rPr>
              <a:t>=</a:t>
            </a:r>
            <a:r>
              <a:rPr sz="900" spc="250" dirty="0">
                <a:latin typeface="Arial"/>
                <a:cs typeface="Arial"/>
              </a:rPr>
              <a:t>  </a:t>
            </a:r>
            <a:r>
              <a:rPr sz="900" i="1" spc="70" dirty="0">
                <a:latin typeface="Menlo"/>
                <a:cs typeface="Menlo"/>
              </a:rPr>
              <a:t>−</a:t>
            </a:r>
            <a:r>
              <a:rPr sz="900" i="1" spc="70" dirty="0">
                <a:latin typeface="Arial"/>
                <a:cs typeface="Arial"/>
              </a:rPr>
              <a:t>s</a:t>
            </a:r>
            <a:r>
              <a:rPr sz="900" i="1" spc="-100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00" spc="185" dirty="0">
                <a:latin typeface="Arial"/>
                <a:cs typeface="Arial"/>
              </a:rPr>
              <a:t>=</a:t>
            </a:r>
            <a:r>
              <a:rPr sz="900" spc="320" dirty="0">
                <a:latin typeface="Arial"/>
                <a:cs typeface="Arial"/>
              </a:rPr>
              <a:t> 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i="1" spc="-75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−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i="1" spc="114" dirty="0">
                <a:latin typeface="Menlo"/>
                <a:cs typeface="Menlo"/>
              </a:rPr>
              <a:t>−</a:t>
            </a:r>
            <a:r>
              <a:rPr sz="900" i="1" spc="114" dirty="0">
                <a:latin typeface="Arial"/>
                <a:cs typeface="Arial"/>
              </a:rPr>
              <a:t>s</a:t>
            </a:r>
            <a:r>
              <a:rPr sz="900" spc="114" dirty="0">
                <a:latin typeface="Arial"/>
                <a:cs typeface="Arial"/>
              </a:rPr>
              <a:t>)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900" spc="190" dirty="0">
                <a:latin typeface="Arial"/>
                <a:cs typeface="Arial"/>
              </a:rPr>
              <a:t>=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65"/>
              </a:spcBef>
            </a:pPr>
            <a:r>
              <a:rPr sz="900" spc="190" dirty="0">
                <a:latin typeface="Arial"/>
                <a:cs typeface="Arial"/>
              </a:rPr>
              <a:t>=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1129" y="1982749"/>
            <a:ext cx="1670050" cy="29146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07314" algn="ctr">
              <a:lnSpc>
                <a:spcPct val="100000"/>
              </a:lnSpc>
              <a:spcBef>
                <a:spcPts val="175"/>
              </a:spcBef>
            </a:pPr>
            <a:r>
              <a:rPr sz="700" i="1" spc="-5" dirty="0">
                <a:latin typeface="Arial"/>
                <a:cs typeface="Arial"/>
              </a:rPr>
              <a:t>s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spc="65" dirty="0">
                <a:latin typeface="Menlo"/>
                <a:cs typeface="Menlo"/>
              </a:rPr>
              <a:t>−</a:t>
            </a:r>
            <a:r>
              <a:rPr sz="900" spc="65" dirty="0">
                <a:latin typeface="Arial"/>
                <a:cs typeface="Arial"/>
              </a:rPr>
              <a:t>(1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i="1" spc="-7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1050" i="1" spc="7" baseline="-11904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ln(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950" y="2415696"/>
            <a:ext cx="3796029" cy="5715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Wrap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up</a:t>
            </a:r>
            <a:endParaRPr sz="1000">
              <a:latin typeface="Arial"/>
              <a:cs typeface="Arial"/>
            </a:endParaRPr>
          </a:p>
          <a:p>
            <a:pPr marL="43815" marR="30480">
              <a:lnSpc>
                <a:spcPts val="1390"/>
              </a:lnSpc>
              <a:spcBef>
                <a:spcPts val="80"/>
              </a:spcBef>
            </a:pP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32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1050" i="1" spc="127" baseline="-11904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32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spc="114" dirty="0">
                <a:latin typeface="Menlo"/>
                <a:cs typeface="Menlo"/>
              </a:rPr>
              <a:t>−</a:t>
            </a:r>
            <a:r>
              <a:rPr sz="900" i="1" spc="114" dirty="0">
                <a:latin typeface="Arial"/>
                <a:cs typeface="Arial"/>
              </a:rPr>
              <a:t>s</a:t>
            </a:r>
            <a:r>
              <a:rPr sz="900" spc="114" dirty="0">
                <a:latin typeface="Arial"/>
                <a:cs typeface="Arial"/>
              </a:rPr>
              <a:t>)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Arial"/>
                <a:cs typeface="Arial"/>
              </a:rPr>
              <a:t>stop</a:t>
            </a:r>
            <a:r>
              <a:rPr sz="1050" i="1" spc="-7" baseline="-11904" dirty="0">
                <a:latin typeface="Arial"/>
                <a:cs typeface="Arial"/>
              </a:rPr>
              <a:t> </a:t>
            </a:r>
            <a:r>
              <a:rPr sz="900" i="1" spc="-300" dirty="0">
                <a:latin typeface="Menlo"/>
                <a:cs typeface="Menlo"/>
              </a:rPr>
              <a:t>·</a:t>
            </a:r>
            <a:r>
              <a:rPr sz="900" i="1" spc="-40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ln(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).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looking for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0, which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35714" dirty="0">
                <a:latin typeface="Menlo"/>
                <a:cs typeface="Menlo"/>
              </a:rPr>
              <a:t>−</a:t>
            </a:r>
            <a:r>
              <a:rPr sz="1050" spc="-15" baseline="35714" dirty="0">
                <a:latin typeface="Arial"/>
                <a:cs typeface="Arial"/>
              </a:rPr>
              <a:t>(1</a:t>
            </a:r>
            <a:r>
              <a:rPr sz="1050" i="1" spc="-15" baseline="35714" dirty="0">
                <a:latin typeface="Arial"/>
                <a:cs typeface="Arial"/>
              </a:rPr>
              <a:t>/p</a:t>
            </a:r>
            <a:r>
              <a:rPr sz="1050" i="1" spc="-15" baseline="19841" dirty="0">
                <a:latin typeface="Arial"/>
                <a:cs typeface="Arial"/>
              </a:rPr>
              <a:t>stop</a:t>
            </a:r>
            <a:r>
              <a:rPr sz="1050" spc="-15" baseline="35714" dirty="0">
                <a:latin typeface="Arial"/>
                <a:cs typeface="Arial"/>
              </a:rPr>
              <a:t>+1)(1</a:t>
            </a:r>
            <a:r>
              <a:rPr sz="1050" i="1" spc="-15" baseline="35714" dirty="0">
                <a:latin typeface="Menlo"/>
                <a:cs typeface="Menlo"/>
              </a:rPr>
              <a:t>−</a:t>
            </a:r>
            <a:r>
              <a:rPr sz="1050" i="1" spc="-15" baseline="35714" dirty="0">
                <a:latin typeface="Arial"/>
                <a:cs typeface="Arial"/>
              </a:rPr>
              <a:t>s</a:t>
            </a:r>
            <a:r>
              <a:rPr sz="1050" spc="-15" baseline="35714" dirty="0">
                <a:latin typeface="Arial"/>
                <a:cs typeface="Arial"/>
              </a:rPr>
              <a:t>)</a:t>
            </a:r>
            <a:endParaRPr sz="1050" baseline="35714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865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Rumor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spreading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effect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stopping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954" y="815068"/>
            <a:ext cx="1809170" cy="115020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44355" y="781138"/>
          <a:ext cx="136906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 gridSpan="3"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Consider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10,000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nodes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65405">
                        <a:lnSpc>
                          <a:spcPts val="900"/>
                        </a:lnSpc>
                        <a:spcBef>
                          <a:spcPts val="285"/>
                        </a:spcBef>
                      </a:pPr>
                      <a:r>
                        <a:rPr sz="1200" spc="-15" baseline="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i="1" spc="-15" baseline="13888" dirty="0">
                          <a:latin typeface="Arial"/>
                          <a:cs typeface="Arial"/>
                        </a:rPr>
                        <a:t>/p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stop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-37" baseline="-9259" dirty="0">
                          <a:latin typeface="Arial"/>
                          <a:cs typeface="Arial"/>
                        </a:rPr>
                        <a:t>s</a:t>
                      </a:r>
                      <a:endParaRPr sz="900" baseline="-9259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203188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2032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059520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595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019827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198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006977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70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002516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000918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000336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641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7228" y="-1515"/>
            <a:ext cx="7175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865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Rumor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spreading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effect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stopping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954" y="815068"/>
            <a:ext cx="1809170" cy="115020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44355" y="781138"/>
          <a:ext cx="1369060" cy="143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 gridSpan="3"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Consider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10,000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nodes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65405">
                        <a:lnSpc>
                          <a:spcPts val="900"/>
                        </a:lnSpc>
                        <a:spcBef>
                          <a:spcPts val="285"/>
                        </a:spcBef>
                      </a:pPr>
                      <a:r>
                        <a:rPr sz="1200" spc="-15" baseline="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200" i="1" spc="-15" baseline="13888" dirty="0">
                          <a:latin typeface="Arial"/>
                          <a:cs typeface="Arial"/>
                        </a:rPr>
                        <a:t>/p</a:t>
                      </a:r>
                      <a:r>
                        <a:rPr sz="700" i="1" spc="-10" dirty="0">
                          <a:latin typeface="Arial"/>
                          <a:cs typeface="Arial"/>
                        </a:rPr>
                        <a:t>stop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spc="-2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-37" baseline="-9259" dirty="0">
                          <a:latin typeface="Arial"/>
                          <a:cs typeface="Arial"/>
                        </a:rPr>
                        <a:t>s</a:t>
                      </a:r>
                      <a:endParaRPr sz="900" baseline="-9259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203188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2032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059520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595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019827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198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006977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70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002516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000918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000336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47294" y="2292754"/>
            <a:ext cx="366077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updated,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rumor </a:t>
            </a:r>
            <a:r>
              <a:rPr sz="900" dirty="0">
                <a:latin typeface="Arial"/>
                <a:cs typeface="Arial"/>
              </a:rPr>
              <a:t>spreading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enough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spc="-10" dirty="0"/>
              <a:t>values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2482"/>
            <a:ext cx="3880485" cy="12598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Fundamental</a:t>
            </a:r>
            <a:r>
              <a:rPr sz="1000" spc="-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removal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propagate.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Instead,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epidemic algorithms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17780" marR="33083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Removal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registered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inserting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death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certificate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60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Communication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Multicast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communication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spc="-10" dirty="0"/>
              <a:t>values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950" y="514774"/>
            <a:ext cx="3959860" cy="164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remove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death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certificate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allowed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stay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ever)</a:t>
            </a:r>
            <a:endParaRPr sz="1000">
              <a:latin typeface="Arial"/>
              <a:cs typeface="Arial"/>
            </a:endParaRPr>
          </a:p>
          <a:p>
            <a:pPr marL="296545" marR="137795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Run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algorithm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known </a:t>
            </a:r>
            <a:r>
              <a:rPr sz="900" spc="-10" dirty="0">
                <a:latin typeface="Arial"/>
                <a:cs typeface="Arial"/>
              </a:rPr>
              <a:t>everywhere,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certificates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(looks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like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garbage collection)</a:t>
            </a:r>
            <a:endParaRPr sz="900">
              <a:latin typeface="Arial"/>
              <a:cs typeface="Arial"/>
            </a:endParaRPr>
          </a:p>
          <a:p>
            <a:pPr marL="29654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337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certificates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maximum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certificate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risk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all </a:t>
            </a:r>
            <a:r>
              <a:rPr sz="900" spc="-10" dirty="0">
                <a:latin typeface="Arial"/>
                <a:cs typeface="Arial"/>
              </a:rPr>
              <a:t>servers)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necessary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607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data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dissemination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1498</TotalTime>
  <Words>4064</Words>
  <Application>Microsoft Office PowerPoint</Application>
  <PresentationFormat>Custom</PresentationFormat>
  <Paragraphs>693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Menlo</vt:lpstr>
      <vt:lpstr>Times New Roman</vt:lpstr>
      <vt:lpstr>Office Theme</vt:lpstr>
      <vt:lpstr>1_Office Theme</vt:lpstr>
      <vt:lpstr>PowerPoint Presentation</vt:lpstr>
      <vt:lpstr>PowerPoint Presentation</vt:lpstr>
      <vt:lpstr>Low-level layers</vt:lpstr>
      <vt:lpstr>PowerPoint Presentation</vt:lpstr>
      <vt:lpstr>Middleware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RPC operation</vt:lpstr>
      <vt:lpstr>PowerPoint Presentation</vt:lpstr>
      <vt:lpstr>RPC: Parameter passing</vt:lpstr>
      <vt:lpstr>RPC: Parameter passing</vt:lpstr>
      <vt:lpstr>RPC: Parameter passing</vt:lpstr>
      <vt:lpstr>RPC: Parameter passing</vt:lpstr>
      <vt:lpstr>Asynchronous RPCs</vt:lpstr>
      <vt:lpstr>PowerPoint Presentation</vt:lpstr>
      <vt:lpstr>PowerPoint Presentation</vt:lpstr>
      <vt:lpstr>PowerPoint Presentation</vt:lpstr>
      <vt:lpstr>Making sockets easier to work with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Message-oriented middleware</vt:lpstr>
      <vt:lpstr>General model</vt:lpstr>
      <vt:lpstr>Message broker</vt:lpstr>
      <vt:lpstr>PowerPoint Presentation</vt:lpstr>
      <vt:lpstr>Example: AMQP</vt:lpstr>
      <vt:lpstr>PowerPoint Presentation</vt:lpstr>
      <vt:lpstr>PowerPoint Presentation</vt:lpstr>
      <vt:lpstr>Application-level multicasting</vt:lpstr>
      <vt:lpstr>Application-level multicasting in Chord</vt:lpstr>
      <vt:lpstr>PowerPoint Presentation</vt:lpstr>
      <vt:lpstr>Flooding</vt:lpstr>
      <vt:lpstr>Flooding</vt:lpstr>
      <vt:lpstr>PowerPoint Presentation</vt:lpstr>
      <vt:lpstr>PowerPoint Presentation</vt:lpstr>
      <vt:lpstr>Anti-entropy: analysis</vt:lpstr>
      <vt:lpstr>PowerPoint Presentation</vt:lpstr>
      <vt:lpstr>Rumor spreading</vt:lpstr>
      <vt:lpstr>Formal analysis</vt:lpstr>
      <vt:lpstr>PowerPoint Presentation</vt:lpstr>
      <vt:lpstr>PowerPoint Presentation</vt:lpstr>
      <vt:lpstr>Deleting values</vt:lpstr>
      <vt:lpstr>Deleting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3</cp:revision>
  <dcterms:created xsi:type="dcterms:W3CDTF">2023-04-27T06:06:18Z</dcterms:created>
  <dcterms:modified xsi:type="dcterms:W3CDTF">2025-01-21T16:41:23Z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