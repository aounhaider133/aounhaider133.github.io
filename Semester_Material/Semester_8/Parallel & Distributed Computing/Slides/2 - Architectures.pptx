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Lst>
  <p:notesMasterIdLst>
    <p:notesMasterId r:id="rId55"/>
  </p:notesMasterIdLst>
  <p:sldIdLst>
    <p:sldId id="307"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309" r:id="rId20"/>
    <p:sldId id="273" r:id="rId21"/>
    <p:sldId id="274" r:id="rId22"/>
    <p:sldId id="275" r:id="rId23"/>
    <p:sldId id="276" r:id="rId24"/>
    <p:sldId id="277" r:id="rId25"/>
    <p:sldId id="278" r:id="rId26"/>
    <p:sldId id="279" r:id="rId27"/>
    <p:sldId id="280" r:id="rId28"/>
    <p:sldId id="281" r:id="rId29"/>
    <p:sldId id="282" r:id="rId30"/>
    <p:sldId id="283"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284" r:id="rId50"/>
    <p:sldId id="285" r:id="rId51"/>
    <p:sldId id="286" r:id="rId52"/>
    <p:sldId id="287" r:id="rId53"/>
    <p:sldId id="288" r:id="rId54"/>
  </p:sldIdLst>
  <p:sldSz cx="4610100" cy="3460750"/>
  <p:notesSz cx="4610100" cy="3460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7926" autoAdjust="0"/>
  </p:normalViewPr>
  <p:slideViewPr>
    <p:cSldViewPr>
      <p:cViewPr varScale="1">
        <p:scale>
          <a:sx n="146" d="100"/>
          <a:sy n="146" d="100"/>
        </p:scale>
        <p:origin x="1866" y="11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heme" Target="theme/theme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87844EEA-EC17-4A0F-AD83-18580B064EB0}" type="datetimeFigureOut">
              <a:rPr lang="en-US" smtClean="0"/>
              <a:t>1/18/2025</a:t>
            </a:fld>
            <a:endParaRPr lang="en-US"/>
          </a:p>
        </p:txBody>
      </p:sp>
      <p:sp>
        <p:nvSpPr>
          <p:cNvPr id="4" name="Slide Image Placeholder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97073C57-4F47-4283-843C-E0B8B0CFBDE4}" type="slidenum">
              <a:rPr lang="en-US" smtClean="0"/>
              <a:t>‹#›</a:t>
            </a:fld>
            <a:endParaRPr lang="en-US"/>
          </a:p>
        </p:txBody>
      </p:sp>
    </p:spTree>
    <p:extLst>
      <p:ext uri="{BB962C8B-B14F-4D97-AF65-F5344CB8AC3E}">
        <p14:creationId xmlns:p14="http://schemas.microsoft.com/office/powerpoint/2010/main" val="17260476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1 wants to call method doit(</a:t>
            </a:r>
            <a:r>
              <a:rPr lang="en-US" dirty="0" err="1"/>
              <a:t>val</a:t>
            </a:r>
            <a:r>
              <a:rPr lang="en-US" dirty="0"/>
              <a:t>) on object B which is stored on Application 2 on another machine. Use object method invocation protocol to call method of other process using remote call with the help of interceptor at transport level.</a:t>
            </a:r>
          </a:p>
        </p:txBody>
      </p:sp>
      <p:sp>
        <p:nvSpPr>
          <p:cNvPr id="4" name="Slide Number Placeholder 3"/>
          <p:cNvSpPr>
            <a:spLocks noGrp="1"/>
          </p:cNvSpPr>
          <p:nvPr>
            <p:ph type="sldNum" sz="quarter" idx="5"/>
          </p:nvPr>
        </p:nvSpPr>
        <p:spPr/>
        <p:txBody>
          <a:bodyPr/>
          <a:lstStyle/>
          <a:p>
            <a:fld id="{97073C57-4F47-4283-843C-E0B8B0CFBDE4}" type="slidenum">
              <a:rPr lang="en-US" smtClean="0"/>
              <a:t>26</a:t>
            </a:fld>
            <a:endParaRPr lang="en-US"/>
          </a:p>
        </p:txBody>
      </p:sp>
    </p:spTree>
    <p:extLst>
      <p:ext uri="{BB962C8B-B14F-4D97-AF65-F5344CB8AC3E}">
        <p14:creationId xmlns:p14="http://schemas.microsoft.com/office/powerpoint/2010/main" val="34459614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 Client vs Fat Client (Cost vs Performance)</a:t>
            </a:r>
          </a:p>
        </p:txBody>
      </p:sp>
      <p:sp>
        <p:nvSpPr>
          <p:cNvPr id="4" name="Slide Number Placeholder 3"/>
          <p:cNvSpPr>
            <a:spLocks noGrp="1"/>
          </p:cNvSpPr>
          <p:nvPr>
            <p:ph type="sldNum" sz="quarter" idx="5"/>
          </p:nvPr>
        </p:nvSpPr>
        <p:spPr/>
        <p:txBody>
          <a:bodyPr/>
          <a:lstStyle/>
          <a:p>
            <a:fld id="{97073C57-4F47-4283-843C-E0B8B0CFBDE4}" type="slidenum">
              <a:rPr lang="en-US" smtClean="0"/>
              <a:t>28</a:t>
            </a:fld>
            <a:endParaRPr lang="en-US"/>
          </a:p>
        </p:txBody>
      </p:sp>
    </p:spTree>
    <p:extLst>
      <p:ext uri="{BB962C8B-B14F-4D97-AF65-F5344CB8AC3E}">
        <p14:creationId xmlns:p14="http://schemas.microsoft.com/office/powerpoint/2010/main" val="15691762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Horizontal</a:t>
            </a:r>
            <a:r>
              <a:rPr lang="en-US" dirty="0"/>
              <a:t>: Physical division across machines for the same task (e.g., multiple web servers for load sharing).</a:t>
            </a:r>
          </a:p>
          <a:p>
            <a:r>
              <a:rPr lang="en-US" b="1" dirty="0"/>
              <a:t>Vertical</a:t>
            </a:r>
            <a:r>
              <a:rPr lang="en-US" dirty="0"/>
              <a:t>: Logical division into layers (e.g., UI, business logic, database), which can run on the same or different machines.</a:t>
            </a:r>
          </a:p>
          <a:p>
            <a:r>
              <a:rPr lang="en-US" dirty="0"/>
              <a:t>Each node acts as both client and server in P2P</a:t>
            </a:r>
          </a:p>
        </p:txBody>
      </p:sp>
      <p:sp>
        <p:nvSpPr>
          <p:cNvPr id="4" name="Slide Number Placeholder 3"/>
          <p:cNvSpPr>
            <a:spLocks noGrp="1"/>
          </p:cNvSpPr>
          <p:nvPr>
            <p:ph type="sldNum" sz="quarter" idx="5"/>
          </p:nvPr>
        </p:nvSpPr>
        <p:spPr/>
        <p:txBody>
          <a:bodyPr/>
          <a:lstStyle/>
          <a:p>
            <a:fld id="{97073C57-4F47-4283-843C-E0B8B0CFBDE4}" type="slidenum">
              <a:rPr lang="en-US" smtClean="0"/>
              <a:t>30</a:t>
            </a:fld>
            <a:endParaRPr lang="en-US"/>
          </a:p>
        </p:txBody>
      </p:sp>
    </p:spTree>
    <p:extLst>
      <p:ext uri="{BB962C8B-B14F-4D97-AF65-F5344CB8AC3E}">
        <p14:creationId xmlns:p14="http://schemas.microsoft.com/office/powerpoint/2010/main" val="12136102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Broker = Super-peer (Knows about list of peers or weak-peers)</a:t>
            </a:r>
          </a:p>
          <a:p>
            <a:r>
              <a:rPr lang="en-US" dirty="0"/>
              <a:t>Each weak peer will contact other with the help of strong peer by sending request to it which will further lookup and responsible for forwarding the request to direct destination weak peer or neighbor strong-peer who knows about the corresponding weak-peer and so on..</a:t>
            </a:r>
          </a:p>
        </p:txBody>
      </p:sp>
      <p:sp>
        <p:nvSpPr>
          <p:cNvPr id="4" name="Slide Number Placeholder 3"/>
          <p:cNvSpPr>
            <a:spLocks noGrp="1"/>
          </p:cNvSpPr>
          <p:nvPr>
            <p:ph type="sldNum" sz="quarter" idx="5"/>
          </p:nvPr>
        </p:nvSpPr>
        <p:spPr/>
        <p:txBody>
          <a:bodyPr/>
          <a:lstStyle/>
          <a:p>
            <a:fld id="{97073C57-4F47-4283-843C-E0B8B0CFBDE4}" type="slidenum">
              <a:rPr lang="en-US" smtClean="0"/>
              <a:t>36</a:t>
            </a:fld>
            <a:endParaRPr lang="en-US"/>
          </a:p>
        </p:txBody>
      </p:sp>
    </p:spTree>
    <p:extLst>
      <p:ext uri="{BB962C8B-B14F-4D97-AF65-F5344CB8AC3E}">
        <p14:creationId xmlns:p14="http://schemas.microsoft.com/office/powerpoint/2010/main" val="31943909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sz="1200" b="0" i="0">
                <a:solidFill>
                  <a:srgbClr val="3333B2"/>
                </a:solidFill>
                <a:latin typeface="Arial"/>
                <a:cs typeface="Arial"/>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7" name="bg object 17"/>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200" b="0" i="0">
                <a:solidFill>
                  <a:srgbClr val="3333B2"/>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rgbClr val="3333B2"/>
                </a:solidFill>
                <a:latin typeface="Arial"/>
                <a:cs typeface="Arial"/>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1/18/2025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rgbClr val="3333B2"/>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1/18/2025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1/18/2025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sz="1200" b="0" i="0">
                <a:solidFill>
                  <a:srgbClr val="3333B2"/>
                </a:solidFill>
                <a:latin typeface="Arial"/>
                <a:cs typeface="Arial"/>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078165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7" name="bg object 17"/>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200" b="0" i="0">
                <a:solidFill>
                  <a:srgbClr val="3333B2"/>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172273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rgbClr val="3333B2"/>
                </a:solidFill>
                <a:latin typeface="Arial"/>
                <a:cs typeface="Arial"/>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1/18/2025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300488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rgbClr val="3333B2"/>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1/18/2025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727418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1/18/2025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23865410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2" name="Holder 2"/>
          <p:cNvSpPr>
            <a:spLocks noGrp="1"/>
          </p:cNvSpPr>
          <p:nvPr>
            <p:ph type="title"/>
          </p:nvPr>
        </p:nvSpPr>
        <p:spPr>
          <a:xfrm>
            <a:off x="95300" y="197711"/>
            <a:ext cx="2999105" cy="207645"/>
          </a:xfrm>
          <a:prstGeom prst="rect">
            <a:avLst/>
          </a:prstGeom>
        </p:spPr>
        <p:txBody>
          <a:bodyPr wrap="square" lIns="0" tIns="0" rIns="0" bIns="0">
            <a:spAutoFit/>
          </a:bodyPr>
          <a:lstStyle>
            <a:lvl1pPr>
              <a:defRPr sz="1200" b="0" i="0">
                <a:solidFill>
                  <a:srgbClr val="3333B2"/>
                </a:solidFill>
                <a:latin typeface="Arial"/>
                <a:cs typeface="Arial"/>
              </a:defRPr>
            </a:lvl1pPr>
          </a:lstStyle>
          <a:p>
            <a:endParaRPr/>
          </a:p>
        </p:txBody>
      </p:sp>
      <p:sp>
        <p:nvSpPr>
          <p:cNvPr id="3" name="Holder 3"/>
          <p:cNvSpPr>
            <a:spLocks noGrp="1"/>
          </p:cNvSpPr>
          <p:nvPr>
            <p:ph type="body" idx="1"/>
          </p:nvPr>
        </p:nvSpPr>
        <p:spPr>
          <a:xfrm>
            <a:off x="309194" y="1369435"/>
            <a:ext cx="3929379" cy="125603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1567434" y="3218497"/>
            <a:ext cx="1475232" cy="17303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1/18/2025</a:t>
            </a:fld>
            <a:endParaRPr lang="en-US"/>
          </a:p>
        </p:txBody>
      </p:sp>
      <p:sp>
        <p:nvSpPr>
          <p:cNvPr id="6" name="Holder 6"/>
          <p:cNvSpPr>
            <a:spLocks noGrp="1"/>
          </p:cNvSpPr>
          <p:nvPr>
            <p:ph type="sldNum" sz="quarter" idx="7"/>
          </p:nvPr>
        </p:nvSpPr>
        <p:spPr>
          <a:xfrm>
            <a:off x="3319272" y="3218497"/>
            <a:ext cx="1060323" cy="17303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2" name="Holder 2"/>
          <p:cNvSpPr>
            <a:spLocks noGrp="1"/>
          </p:cNvSpPr>
          <p:nvPr>
            <p:ph type="title"/>
          </p:nvPr>
        </p:nvSpPr>
        <p:spPr>
          <a:xfrm>
            <a:off x="95300" y="197711"/>
            <a:ext cx="2451100" cy="207645"/>
          </a:xfrm>
          <a:prstGeom prst="rect">
            <a:avLst/>
          </a:prstGeom>
        </p:spPr>
        <p:txBody>
          <a:bodyPr wrap="square" lIns="0" tIns="0" rIns="0" bIns="0">
            <a:spAutoFit/>
          </a:bodyPr>
          <a:lstStyle>
            <a:lvl1pPr>
              <a:defRPr sz="1200" b="0" i="0">
                <a:solidFill>
                  <a:srgbClr val="3333B2"/>
                </a:solidFill>
                <a:latin typeface="Arial"/>
                <a:cs typeface="Arial"/>
              </a:defRPr>
            </a:lvl1pPr>
          </a:lstStyle>
          <a:p>
            <a:endParaRPr/>
          </a:p>
        </p:txBody>
      </p:sp>
      <p:sp>
        <p:nvSpPr>
          <p:cNvPr id="3" name="Holder 3"/>
          <p:cNvSpPr>
            <a:spLocks noGrp="1"/>
          </p:cNvSpPr>
          <p:nvPr>
            <p:ph type="body" idx="1"/>
          </p:nvPr>
        </p:nvSpPr>
        <p:spPr>
          <a:xfrm>
            <a:off x="230505" y="795972"/>
            <a:ext cx="4149090"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567434" y="3218497"/>
            <a:ext cx="1475232" cy="17303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1/18/2025</a:t>
            </a:fld>
            <a:endParaRPr lang="en-US"/>
          </a:p>
        </p:txBody>
      </p:sp>
      <p:sp>
        <p:nvSpPr>
          <p:cNvPr id="6" name="Holder 6"/>
          <p:cNvSpPr>
            <a:spLocks noGrp="1"/>
          </p:cNvSpPr>
          <p:nvPr>
            <p:ph type="sldNum" sz="quarter" idx="7"/>
          </p:nvPr>
        </p:nvSpPr>
        <p:spPr>
          <a:xfrm>
            <a:off x="3319272" y="3218497"/>
            <a:ext cx="1060323" cy="17303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4159916304"/>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 Target="slide2.xml"/><Relationship Id="rId1" Type="http://schemas.openxmlformats.org/officeDocument/2006/relationships/slideLayout" Target="../slideLayouts/slideLayout5.xml"/><Relationship Id="rId6" Type="http://schemas.openxmlformats.org/officeDocument/2006/relationships/slide" Target="slide3.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3.xml"/></Relationships>
</file>

<file path=ppt/slides/_rels/slide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 Target="slide2.xml"/><Relationship Id="rId1" Type="http://schemas.openxmlformats.org/officeDocument/2006/relationships/slideLayout" Target="../slideLayouts/slideLayout2.xml"/><Relationship Id="rId5" Type="http://schemas.openxmlformats.org/officeDocument/2006/relationships/slide" Target="slide9.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BucketName.s3.amazonaws.com/ObjectName" TargetMode="Externa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9.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9.xml"/></Relationships>
</file>

<file path=ppt/slides/_rels/slide13.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17.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17.xml"/></Relationships>
</file>

<file path=ppt/slides/_rels/slide22.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23.xml"/></Relationships>
</file>

<file path=ppt/slides/_rels/slide24.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slide" Target="slide2.xml"/><Relationship Id="rId1" Type="http://schemas.openxmlformats.org/officeDocument/2006/relationships/slideLayout" Target="../slideLayouts/slideLayout5.xml"/><Relationship Id="rId6" Type="http://schemas.openxmlformats.org/officeDocument/2006/relationships/slide" Target="slide23.xml"/><Relationship Id="rId5" Type="http://schemas.openxmlformats.org/officeDocument/2006/relationships/image" Target="../media/image15.png"/><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23.xml"/></Relationships>
</file>

<file path=ppt/slides/_rels/slide2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slide" Target="slide23.xml"/><Relationship Id="rId5" Type="http://schemas.openxmlformats.org/officeDocument/2006/relationships/image" Target="../media/image16.png"/><Relationship Id="rId4" Type="http://schemas.openxmlformats.org/officeDocument/2006/relationships/slide" Target="slide22.xml"/></Relationships>
</file>

<file path=ppt/slides/_rels/slide27.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slide" Target="slide28.xml"/><Relationship Id="rId5" Type="http://schemas.openxmlformats.org/officeDocument/2006/relationships/image" Target="../media/image18.jpg"/><Relationship Id="rId4" Type="http://schemas.openxmlformats.org/officeDocument/2006/relationships/slide" Target="slide27.xml"/></Relationships>
</file>

<file path=ppt/slides/_rels/slide29.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28.xml"/><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slide" Target="slide30.xml"/><Relationship Id="rId5" Type="http://schemas.openxmlformats.org/officeDocument/2006/relationships/image" Target="../media/image20.jpg"/><Relationship Id="rId4" Type="http://schemas.openxmlformats.org/officeDocument/2006/relationships/slide" Target="slide52.xml"/></Relationships>
</file>

<file path=ppt/slides/_rels/slide31.xml.rels><?xml version="1.0" encoding="UTF-8" standalone="yes"?>
<Relationships xmlns="http://schemas.openxmlformats.org/package/2006/relationships"><Relationship Id="rId3" Type="http://schemas.openxmlformats.org/officeDocument/2006/relationships/slide" Target="slide52.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30.xml"/></Relationships>
</file>

<file path=ppt/slides/_rels/slide32.xml.rels><?xml version="1.0" encoding="UTF-8" standalone="yes"?>
<Relationships xmlns="http://schemas.openxmlformats.org/package/2006/relationships"><Relationship Id="rId3" Type="http://schemas.openxmlformats.org/officeDocument/2006/relationships/slide" Target="slide52.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30.xml"/><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3" Type="http://schemas.openxmlformats.org/officeDocument/2006/relationships/slide" Target="slide52.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33.xml"/></Relationships>
</file>

<file path=ppt/slides/_rels/slide34.xml.rels><?xml version="1.0" encoding="UTF-8" standalone="yes"?>
<Relationships xmlns="http://schemas.openxmlformats.org/package/2006/relationships"><Relationship Id="rId3" Type="http://schemas.openxmlformats.org/officeDocument/2006/relationships/slide" Target="slide52.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33.xml"/></Relationships>
</file>

<file path=ppt/slides/_rels/slide35.xml.rels><?xml version="1.0" encoding="UTF-8" standalone="yes"?>
<Relationships xmlns="http://schemas.openxmlformats.org/package/2006/relationships"><Relationship Id="rId3" Type="http://schemas.openxmlformats.org/officeDocument/2006/relationships/slide" Target="slide52.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33.xml"/></Relationships>
</file>

<file path=ppt/slides/_rels/slide3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slide" Target="slide36.xml"/><Relationship Id="rId5" Type="http://schemas.openxmlformats.org/officeDocument/2006/relationships/image" Target="../media/image22.jpg"/><Relationship Id="rId4" Type="http://schemas.openxmlformats.org/officeDocument/2006/relationships/slide" Target="slide52.xml"/></Relationships>
</file>

<file path=ppt/slides/_rels/slide37.xml.rels><?xml version="1.0" encoding="UTF-8" standalone="yes"?>
<Relationships xmlns="http://schemas.openxmlformats.org/package/2006/relationships"><Relationship Id="rId3" Type="http://schemas.openxmlformats.org/officeDocument/2006/relationships/slide" Target="slide52.xml"/><Relationship Id="rId2" Type="http://schemas.openxmlformats.org/officeDocument/2006/relationships/slide" Target="slide2.xml"/><Relationship Id="rId1" Type="http://schemas.openxmlformats.org/officeDocument/2006/relationships/slideLayout" Target="../slideLayouts/slideLayout2.xml"/><Relationship Id="rId5" Type="http://schemas.openxmlformats.org/officeDocument/2006/relationships/slide" Target="slide37.xml"/><Relationship Id="rId4" Type="http://schemas.openxmlformats.org/officeDocument/2006/relationships/image" Target="../media/image23.png"/></Relationships>
</file>

<file path=ppt/slides/_rels/slide38.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39.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slide" Target="slide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slide" Target="slide2.xml"/><Relationship Id="rId1" Type="http://schemas.openxmlformats.org/officeDocument/2006/relationships/slideLayout" Target="../slideLayouts/slideLayout2.xml"/><Relationship Id="rId5" Type="http://schemas.openxmlformats.org/officeDocument/2006/relationships/slide" Target="slide40.xml"/><Relationship Id="rId4" Type="http://schemas.openxmlformats.org/officeDocument/2006/relationships/image" Target="../media/image25.jpg"/></Relationships>
</file>

<file path=ppt/slides/_rels/slide41.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40.xml"/></Relationships>
</file>

<file path=ppt/slides/_rels/slide42.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slide" Target="slide2.xml"/><Relationship Id="rId1" Type="http://schemas.openxmlformats.org/officeDocument/2006/relationships/slideLayout" Target="../slideLayouts/slideLayout2.xml"/><Relationship Id="rId4" Type="http://schemas.openxmlformats.org/officeDocument/2006/relationships/slide" Target="slide40.xml"/></Relationships>
</file>

<file path=ppt/slides/_rels/slide43.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43.xml"/><Relationship Id="rId4" Type="http://schemas.openxmlformats.org/officeDocument/2006/relationships/image" Target="../media/image26.jpg"/></Relationships>
</file>

<file path=ppt/slides/_rels/slide44.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43.xml"/><Relationship Id="rId4" Type="http://schemas.openxmlformats.org/officeDocument/2006/relationships/image" Target="../media/image26.jpg"/></Relationships>
</file>

<file path=ppt/slides/_rels/slide45.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43.xml"/><Relationship Id="rId4" Type="http://schemas.openxmlformats.org/officeDocument/2006/relationships/image" Target="../media/image27.jpg"/></Relationships>
</file>

<file path=ppt/slides/_rels/slide46.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43.xml"/><Relationship Id="rId4" Type="http://schemas.openxmlformats.org/officeDocument/2006/relationships/image" Target="../media/image28.jpg"/></Relationships>
</file>

<file path=ppt/slides/_rels/slide47.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43.xml"/><Relationship Id="rId4" Type="http://schemas.openxmlformats.org/officeDocument/2006/relationships/image" Target="../media/image29.jpg"/></Relationships>
</file>

<file path=ppt/slides/_rels/slide48.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slide" Target="slide2.xml"/><Relationship Id="rId1" Type="http://schemas.openxmlformats.org/officeDocument/2006/relationships/slideLayout" Target="../slideLayouts/slideLayout2.xml"/><Relationship Id="rId6" Type="http://schemas.openxmlformats.org/officeDocument/2006/relationships/slide" Target="slide48.xml"/><Relationship Id="rId5" Type="http://schemas.openxmlformats.org/officeDocument/2006/relationships/image" Target="../media/image31.jpg"/><Relationship Id="rId4" Type="http://schemas.openxmlformats.org/officeDocument/2006/relationships/image" Target="../media/image30.jpg"/></Relationships>
</file>

<file path=ppt/slides/_rels/slide49.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48.xml"/><Relationship Id="rId4" Type="http://schemas.openxmlformats.org/officeDocument/2006/relationships/image" Target="../media/image32.png"/></Relationships>
</file>

<file path=ppt/slides/_rels/slide50.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50.xml"/><Relationship Id="rId4" Type="http://schemas.openxmlformats.org/officeDocument/2006/relationships/image" Target="../media/image33.png"/></Relationships>
</file>

<file path=ppt/slides/_rels/slide51.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slide" Target="slide50.xml"/><Relationship Id="rId4" Type="http://schemas.openxmlformats.org/officeDocument/2006/relationships/image" Target="../media/image34.png"/></Relationships>
</file>

<file path=ppt/slides/_rels/slide52.xml.rels><?xml version="1.0" encoding="UTF-8" standalone="yes"?>
<Relationships xmlns="http://schemas.openxmlformats.org/package/2006/relationships"><Relationship Id="rId3" Type="http://schemas.openxmlformats.org/officeDocument/2006/relationships/slide" Target="slide52.xml"/><Relationship Id="rId2" Type="http://schemas.openxmlformats.org/officeDocument/2006/relationships/slide" Target="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4459" y="1196975"/>
            <a:ext cx="2819400" cy="573234"/>
          </a:xfrm>
          <a:prstGeom prst="rect">
            <a:avLst/>
          </a:prstGeom>
        </p:spPr>
        <p:txBody>
          <a:bodyPr vert="horz" wrap="square" lIns="0" tIns="140970" rIns="0" bIns="0" rtlCol="0">
            <a:spAutoFit/>
          </a:bodyPr>
          <a:lstStyle/>
          <a:p>
            <a:pPr marL="0" marR="0" lvl="0" indent="0" algn="ctr" defTabSz="914400" eaLnBrk="1" fontAlgn="auto" latinLnBrk="0" hangingPunct="1">
              <a:lnSpc>
                <a:spcPct val="100000"/>
              </a:lnSpc>
              <a:spcBef>
                <a:spcPts val="1110"/>
              </a:spcBef>
              <a:spcAft>
                <a:spcPts val="0"/>
              </a:spcAft>
              <a:buClrTx/>
              <a:buSzTx/>
              <a:buFontTx/>
              <a:buNone/>
              <a:tabLst/>
              <a:defRPr/>
            </a:pPr>
            <a:r>
              <a:rPr kumimoji="0" lang="en-US" sz="1400" b="1" i="0" u="none" strike="noStrike" kern="0" cap="none" spc="0" normalizeH="0" baseline="0" noProof="0" dirty="0">
                <a:ln>
                  <a:noFill/>
                </a:ln>
                <a:solidFill>
                  <a:srgbClr val="3333B2"/>
                </a:solidFill>
                <a:effectLst/>
                <a:uLnTx/>
                <a:uFillTx/>
                <a:latin typeface="Arial"/>
                <a:cs typeface="Arial"/>
              </a:rPr>
              <a:t>CSC334 - Parallel &amp; </a:t>
            </a:r>
            <a:r>
              <a:rPr kumimoji="0" sz="1400" b="1" i="0" u="none" strike="noStrike" kern="0" cap="none" spc="0" normalizeH="0" baseline="0" noProof="0" dirty="0">
                <a:ln>
                  <a:noFill/>
                </a:ln>
                <a:solidFill>
                  <a:srgbClr val="3333B2"/>
                </a:solidFill>
                <a:effectLst/>
                <a:uLnTx/>
                <a:uFillTx/>
                <a:latin typeface="Arial"/>
                <a:cs typeface="Arial"/>
              </a:rPr>
              <a:t>Distributed</a:t>
            </a:r>
            <a:r>
              <a:rPr kumimoji="0" sz="1400" b="1" i="0" u="none" strike="noStrike" kern="0" cap="none" spc="120" normalizeH="0" baseline="0" noProof="0" dirty="0">
                <a:ln>
                  <a:noFill/>
                </a:ln>
                <a:solidFill>
                  <a:srgbClr val="3333B2"/>
                </a:solidFill>
                <a:effectLst/>
                <a:uLnTx/>
                <a:uFillTx/>
                <a:latin typeface="Arial"/>
                <a:cs typeface="Arial"/>
              </a:rPr>
              <a:t> </a:t>
            </a:r>
            <a:r>
              <a:rPr kumimoji="0" lang="en-US" sz="1400" b="1" i="0" u="none" strike="noStrike" kern="0" cap="none" spc="-10" normalizeH="0" baseline="0" noProof="0" dirty="0">
                <a:ln>
                  <a:noFill/>
                </a:ln>
                <a:solidFill>
                  <a:srgbClr val="3333B2"/>
                </a:solidFill>
                <a:effectLst/>
                <a:uLnTx/>
                <a:uFillTx/>
                <a:latin typeface="Arial"/>
                <a:cs typeface="Arial"/>
              </a:rPr>
              <a:t>Computing</a:t>
            </a:r>
            <a:endParaRPr kumimoji="0" sz="1400" b="0" i="0" u="none" strike="noStrike" kern="0" cap="none" spc="0" normalizeH="0" baseline="0" noProof="0" dirty="0">
              <a:ln>
                <a:noFill/>
              </a:ln>
              <a:solidFill>
                <a:sysClr val="windowText" lastClr="000000"/>
              </a:solidFill>
              <a:effectLst/>
              <a:uLnTx/>
              <a:uFillTx/>
              <a:latin typeface="Arial"/>
              <a:cs typeface="Arial"/>
            </a:endParaRPr>
          </a:p>
        </p:txBody>
      </p:sp>
      <p:sp>
        <p:nvSpPr>
          <p:cNvPr id="3" name="object 3"/>
          <p:cNvSpPr txBox="1"/>
          <p:nvPr/>
        </p:nvSpPr>
        <p:spPr>
          <a:xfrm>
            <a:off x="894459" y="2720975"/>
            <a:ext cx="3048000" cy="232756"/>
          </a:xfrm>
          <a:prstGeom prst="rect">
            <a:avLst/>
          </a:prstGeom>
        </p:spPr>
        <p:txBody>
          <a:bodyPr vert="horz" wrap="square" lIns="0" tIns="17145" rIns="0" bIns="0" rtlCol="0">
            <a:spAutoFit/>
          </a:bodyPr>
          <a:lstStyle/>
          <a:p>
            <a:pPr marL="12700" marR="0" lvl="0" indent="0" algn="l" defTabSz="914400" eaLnBrk="1" fontAlgn="auto" latinLnBrk="0" hangingPunct="1">
              <a:lnSpc>
                <a:spcPct val="100000"/>
              </a:lnSpc>
              <a:spcBef>
                <a:spcPts val="135"/>
              </a:spcBef>
              <a:spcAft>
                <a:spcPts val="0"/>
              </a:spcAft>
              <a:buClrTx/>
              <a:buSzTx/>
              <a:buFontTx/>
              <a:buNone/>
              <a:tabLst/>
              <a:defRPr/>
            </a:pPr>
            <a:r>
              <a:rPr kumimoji="0" lang="en-US" sz="1400" b="0" i="0" u="none" strike="noStrike" kern="0" cap="none" spc="0" normalizeH="0" baseline="0" noProof="0" dirty="0">
                <a:ln>
                  <a:noFill/>
                </a:ln>
                <a:solidFill>
                  <a:sysClr val="windowText" lastClr="000000"/>
                </a:solidFill>
                <a:effectLst/>
                <a:uLnTx/>
                <a:uFillTx/>
                <a:latin typeface="Arial"/>
                <a:cs typeface="Arial"/>
              </a:rPr>
              <a:t>Mr. Aoun Haider, Ms. Muntaha Amjad</a:t>
            </a:r>
          </a:p>
        </p:txBody>
      </p:sp>
      <p:pic>
        <p:nvPicPr>
          <p:cNvPr id="5" name="Picture 4">
            <a:extLst>
              <a:ext uri="{FF2B5EF4-FFF2-40B4-BE49-F238E27FC236}">
                <a16:creationId xmlns:a16="http://schemas.microsoft.com/office/drawing/2014/main" id="{5E8DB585-3963-CA43-FDEC-0C7B8A8CDD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71650" y="206375"/>
            <a:ext cx="866509" cy="865384"/>
          </a:xfrm>
          <a:prstGeom prst="rect">
            <a:avLst/>
          </a:prstGeom>
        </p:spPr>
      </p:pic>
      <p:sp>
        <p:nvSpPr>
          <p:cNvPr id="4" name="object 2">
            <a:extLst>
              <a:ext uri="{FF2B5EF4-FFF2-40B4-BE49-F238E27FC236}">
                <a16:creationId xmlns:a16="http://schemas.microsoft.com/office/drawing/2014/main" id="{9E91E2BF-A6A0-AC80-E93D-ED3E8CF1D086}"/>
              </a:ext>
            </a:extLst>
          </p:cNvPr>
          <p:cNvSpPr txBox="1"/>
          <p:nvPr/>
        </p:nvSpPr>
        <p:spPr>
          <a:xfrm>
            <a:off x="1446463" y="1933968"/>
            <a:ext cx="1943991" cy="311624"/>
          </a:xfrm>
          <a:prstGeom prst="rect">
            <a:avLst/>
          </a:prstGeom>
        </p:spPr>
        <p:txBody>
          <a:bodyPr vert="horz" wrap="square" lIns="0" tIns="140970" rIns="0" bIns="0" rtlCol="0">
            <a:spAutoFit/>
          </a:bodyPr>
          <a:lstStyle/>
          <a:p>
            <a:pPr marL="0" marR="0" lvl="0" indent="0" algn="ctr" defTabSz="914400" eaLnBrk="1" fontAlgn="auto" latinLnBrk="0" hangingPunct="1">
              <a:lnSpc>
                <a:spcPct val="100000"/>
              </a:lnSpc>
              <a:spcBef>
                <a:spcPts val="1110"/>
              </a:spcBef>
              <a:spcAft>
                <a:spcPts val="0"/>
              </a:spcAft>
              <a:buClrTx/>
              <a:buSzTx/>
              <a:buFontTx/>
              <a:buNone/>
              <a:tabLst/>
              <a:defRPr/>
            </a:pPr>
            <a:r>
              <a:rPr kumimoji="0" lang="en-US" sz="1100" b="1" i="1" u="none" strike="noStrike" kern="0" cap="none" spc="0" normalizeH="0" baseline="0" noProof="0" dirty="0">
                <a:ln>
                  <a:noFill/>
                </a:ln>
                <a:solidFill>
                  <a:schemeClr val="bg2">
                    <a:lumMod val="50000"/>
                  </a:schemeClr>
                </a:solidFill>
                <a:effectLst/>
                <a:uLnTx/>
                <a:uFillTx/>
                <a:latin typeface="Arial"/>
                <a:cs typeface="Arial"/>
              </a:rPr>
              <a:t>Chapter 2: Architectures</a:t>
            </a:r>
            <a:endParaRPr kumimoji="0" sz="1100" b="0" i="1" u="none" strike="noStrike" kern="0" cap="none" spc="0" normalizeH="0" baseline="0" noProof="0" dirty="0">
              <a:ln>
                <a:noFill/>
              </a:ln>
              <a:solidFill>
                <a:schemeClr val="bg2">
                  <a:lumMod val="50000"/>
                </a:schemeClr>
              </a:solidFill>
              <a:effectLst/>
              <a:uLnTx/>
              <a:uFillTx/>
              <a:latin typeface="Arial"/>
              <a:cs typeface="Arial"/>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Architectures</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998925" y="-1515"/>
            <a:ext cx="555625"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2" action="ppaction://hlinksldjump"/>
              </a:rPr>
              <a:t>Architectural</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styles</a:t>
            </a:r>
            <a:endParaRPr sz="500">
              <a:latin typeface="Arial"/>
              <a:cs typeface="Arial"/>
            </a:endParaRPr>
          </a:p>
        </p:txBody>
      </p:sp>
      <p:sp>
        <p:nvSpPr>
          <p:cNvPr id="5" name="object 5"/>
          <p:cNvSpPr txBox="1"/>
          <p:nvPr/>
        </p:nvSpPr>
        <p:spPr>
          <a:xfrm>
            <a:off x="57200" y="197711"/>
            <a:ext cx="3999865" cy="2248535"/>
          </a:xfrm>
          <a:prstGeom prst="rect">
            <a:avLst/>
          </a:prstGeom>
        </p:spPr>
        <p:txBody>
          <a:bodyPr vert="horz" wrap="square" lIns="0" tIns="12065" rIns="0" bIns="0" rtlCol="0">
            <a:spAutoFit/>
          </a:bodyPr>
          <a:lstStyle/>
          <a:p>
            <a:pPr marL="50800">
              <a:lnSpc>
                <a:spcPct val="100000"/>
              </a:lnSpc>
              <a:spcBef>
                <a:spcPts val="95"/>
              </a:spcBef>
            </a:pPr>
            <a:r>
              <a:rPr sz="1200" spc="-10" dirty="0">
                <a:solidFill>
                  <a:srgbClr val="3333B2"/>
                </a:solidFill>
                <a:latin typeface="Arial"/>
                <a:cs typeface="Arial"/>
              </a:rPr>
              <a:t>Architectural</a:t>
            </a:r>
            <a:r>
              <a:rPr sz="1200" spc="40" dirty="0">
                <a:solidFill>
                  <a:srgbClr val="3333B2"/>
                </a:solidFill>
                <a:latin typeface="Arial"/>
                <a:cs typeface="Arial"/>
              </a:rPr>
              <a:t> </a:t>
            </a:r>
            <a:r>
              <a:rPr sz="1200" spc="-10" dirty="0">
                <a:solidFill>
                  <a:srgbClr val="3333B2"/>
                </a:solidFill>
                <a:latin typeface="Arial"/>
                <a:cs typeface="Arial"/>
              </a:rPr>
              <a:t>styles</a:t>
            </a:r>
            <a:endParaRPr sz="1200">
              <a:latin typeface="Arial"/>
              <a:cs typeface="Arial"/>
            </a:endParaRPr>
          </a:p>
          <a:p>
            <a:pPr marL="302260">
              <a:lnSpc>
                <a:spcPct val="100000"/>
              </a:lnSpc>
              <a:spcBef>
                <a:spcPts val="1055"/>
              </a:spcBef>
            </a:pPr>
            <a:r>
              <a:rPr sz="1000" dirty="0">
                <a:solidFill>
                  <a:srgbClr val="3333B2"/>
                </a:solidFill>
                <a:latin typeface="Arial"/>
                <a:cs typeface="Arial"/>
              </a:rPr>
              <a:t>Basic</a:t>
            </a:r>
            <a:r>
              <a:rPr sz="1000" spc="-30" dirty="0">
                <a:solidFill>
                  <a:srgbClr val="3333B2"/>
                </a:solidFill>
                <a:latin typeface="Arial"/>
                <a:cs typeface="Arial"/>
              </a:rPr>
              <a:t> </a:t>
            </a:r>
            <a:r>
              <a:rPr sz="1000" spc="-20" dirty="0">
                <a:solidFill>
                  <a:srgbClr val="3333B2"/>
                </a:solidFill>
                <a:latin typeface="Arial"/>
                <a:cs typeface="Arial"/>
              </a:rPr>
              <a:t>idea</a:t>
            </a:r>
            <a:endParaRPr sz="1000">
              <a:latin typeface="Arial"/>
              <a:cs typeface="Arial"/>
            </a:endParaRPr>
          </a:p>
          <a:p>
            <a:pPr marL="298450">
              <a:lnSpc>
                <a:spcPct val="100000"/>
              </a:lnSpc>
              <a:spcBef>
                <a:spcPts val="105"/>
              </a:spcBef>
            </a:pPr>
            <a:r>
              <a:rPr sz="900" dirty="0">
                <a:latin typeface="Arial"/>
                <a:cs typeface="Arial"/>
              </a:rPr>
              <a:t>A</a:t>
            </a:r>
            <a:r>
              <a:rPr sz="900" spc="-10" dirty="0">
                <a:latin typeface="Arial"/>
                <a:cs typeface="Arial"/>
              </a:rPr>
              <a:t> </a:t>
            </a:r>
            <a:r>
              <a:rPr sz="900" dirty="0">
                <a:latin typeface="Arial"/>
                <a:cs typeface="Arial"/>
              </a:rPr>
              <a:t>style</a:t>
            </a:r>
            <a:r>
              <a:rPr sz="900" spc="-5" dirty="0">
                <a:latin typeface="Arial"/>
                <a:cs typeface="Arial"/>
              </a:rPr>
              <a:t> </a:t>
            </a:r>
            <a:r>
              <a:rPr sz="900" dirty="0">
                <a:latin typeface="Arial"/>
                <a:cs typeface="Arial"/>
              </a:rPr>
              <a:t>is</a:t>
            </a:r>
            <a:r>
              <a:rPr sz="900" spc="-5" dirty="0">
                <a:latin typeface="Arial"/>
                <a:cs typeface="Arial"/>
              </a:rPr>
              <a:t> </a:t>
            </a:r>
            <a:r>
              <a:rPr sz="900" spc="-10" dirty="0">
                <a:latin typeface="Arial"/>
                <a:cs typeface="Arial"/>
              </a:rPr>
              <a:t>formulated</a:t>
            </a:r>
            <a:r>
              <a:rPr sz="900" spc="-5" dirty="0">
                <a:latin typeface="Arial"/>
                <a:cs typeface="Arial"/>
              </a:rPr>
              <a:t> </a:t>
            </a:r>
            <a:r>
              <a:rPr sz="900" dirty="0">
                <a:latin typeface="Arial"/>
                <a:cs typeface="Arial"/>
              </a:rPr>
              <a:t>in</a:t>
            </a:r>
            <a:r>
              <a:rPr sz="900" spc="-5" dirty="0">
                <a:latin typeface="Arial"/>
                <a:cs typeface="Arial"/>
              </a:rPr>
              <a:t> </a:t>
            </a:r>
            <a:r>
              <a:rPr sz="900" dirty="0">
                <a:latin typeface="Arial"/>
                <a:cs typeface="Arial"/>
              </a:rPr>
              <a:t>terms</a:t>
            </a:r>
            <a:r>
              <a:rPr sz="900" spc="-5" dirty="0">
                <a:latin typeface="Arial"/>
                <a:cs typeface="Arial"/>
              </a:rPr>
              <a:t> </a:t>
            </a:r>
            <a:r>
              <a:rPr sz="900" spc="-25" dirty="0">
                <a:latin typeface="Arial"/>
                <a:cs typeface="Arial"/>
              </a:rPr>
              <a:t>of</a:t>
            </a:r>
            <a:endParaRPr sz="900">
              <a:latin typeface="Arial"/>
              <a:cs typeface="Arial"/>
            </a:endParaRPr>
          </a:p>
          <a:p>
            <a:pPr marL="551815" indent="-116839">
              <a:lnSpc>
                <a:spcPct val="100000"/>
              </a:lnSpc>
              <a:spcBef>
                <a:spcPts val="525"/>
              </a:spcBef>
              <a:buClr>
                <a:srgbClr val="3333B2"/>
              </a:buClr>
              <a:buFont typeface="Apple Symbols"/>
              <a:buChar char="•"/>
              <a:tabLst>
                <a:tab pos="552450" algn="l"/>
              </a:tabLst>
            </a:pPr>
            <a:r>
              <a:rPr sz="900" spc="-10" dirty="0">
                <a:latin typeface="Arial"/>
                <a:cs typeface="Arial"/>
              </a:rPr>
              <a:t>(replaceable) </a:t>
            </a:r>
            <a:r>
              <a:rPr sz="900" dirty="0">
                <a:latin typeface="Arial"/>
                <a:cs typeface="Arial"/>
              </a:rPr>
              <a:t>components</a:t>
            </a:r>
            <a:r>
              <a:rPr sz="900" spc="-10" dirty="0">
                <a:latin typeface="Arial"/>
                <a:cs typeface="Arial"/>
              </a:rPr>
              <a:t> </a:t>
            </a:r>
            <a:r>
              <a:rPr sz="900" dirty="0">
                <a:latin typeface="Arial"/>
                <a:cs typeface="Arial"/>
              </a:rPr>
              <a:t>with</a:t>
            </a:r>
            <a:r>
              <a:rPr sz="900" spc="-10" dirty="0">
                <a:latin typeface="Arial"/>
                <a:cs typeface="Arial"/>
              </a:rPr>
              <a:t> well-</a:t>
            </a:r>
            <a:r>
              <a:rPr sz="900" dirty="0">
                <a:latin typeface="Arial"/>
                <a:cs typeface="Arial"/>
              </a:rPr>
              <a:t>defined</a:t>
            </a:r>
            <a:r>
              <a:rPr sz="900" spc="-10" dirty="0">
                <a:latin typeface="Arial"/>
                <a:cs typeface="Arial"/>
              </a:rPr>
              <a:t> interfaces</a:t>
            </a:r>
            <a:endParaRPr sz="900">
              <a:latin typeface="Arial"/>
              <a:cs typeface="Arial"/>
            </a:endParaRPr>
          </a:p>
          <a:p>
            <a:pPr marL="555625" indent="-120650">
              <a:lnSpc>
                <a:spcPct val="100000"/>
              </a:lnSpc>
              <a:spcBef>
                <a:spcPts val="125"/>
              </a:spcBef>
              <a:buClr>
                <a:srgbClr val="3333B2"/>
              </a:buClr>
              <a:buFont typeface="Apple Symbols"/>
              <a:buChar char="•"/>
              <a:tabLst>
                <a:tab pos="556260" algn="l"/>
              </a:tabLst>
            </a:pPr>
            <a:r>
              <a:rPr sz="900" dirty="0">
                <a:latin typeface="Arial"/>
                <a:cs typeface="Arial"/>
              </a:rPr>
              <a:t>the</a:t>
            </a:r>
            <a:r>
              <a:rPr sz="900" spc="-30" dirty="0">
                <a:latin typeface="Arial"/>
                <a:cs typeface="Arial"/>
              </a:rPr>
              <a:t> </a:t>
            </a:r>
            <a:r>
              <a:rPr sz="900" spc="-10" dirty="0">
                <a:latin typeface="Arial"/>
                <a:cs typeface="Arial"/>
              </a:rPr>
              <a:t>way</a:t>
            </a:r>
            <a:r>
              <a:rPr sz="900" spc="-30" dirty="0">
                <a:latin typeface="Arial"/>
                <a:cs typeface="Arial"/>
              </a:rPr>
              <a:t> </a:t>
            </a:r>
            <a:r>
              <a:rPr sz="900" dirty="0">
                <a:latin typeface="Arial"/>
                <a:cs typeface="Arial"/>
              </a:rPr>
              <a:t>that</a:t>
            </a:r>
            <a:r>
              <a:rPr sz="900" spc="-30" dirty="0">
                <a:latin typeface="Arial"/>
                <a:cs typeface="Arial"/>
              </a:rPr>
              <a:t> </a:t>
            </a:r>
            <a:r>
              <a:rPr sz="900" dirty="0">
                <a:latin typeface="Arial"/>
                <a:cs typeface="Arial"/>
              </a:rPr>
              <a:t>components</a:t>
            </a:r>
            <a:r>
              <a:rPr sz="900" spc="-25" dirty="0">
                <a:latin typeface="Arial"/>
                <a:cs typeface="Arial"/>
              </a:rPr>
              <a:t> </a:t>
            </a:r>
            <a:r>
              <a:rPr sz="900" dirty="0">
                <a:latin typeface="Arial"/>
                <a:cs typeface="Arial"/>
              </a:rPr>
              <a:t>are</a:t>
            </a:r>
            <a:r>
              <a:rPr sz="900" spc="-30" dirty="0">
                <a:latin typeface="Arial"/>
                <a:cs typeface="Arial"/>
              </a:rPr>
              <a:t> </a:t>
            </a:r>
            <a:r>
              <a:rPr sz="900" dirty="0">
                <a:latin typeface="Arial"/>
                <a:cs typeface="Arial"/>
              </a:rPr>
              <a:t>connected</a:t>
            </a:r>
            <a:r>
              <a:rPr sz="900" spc="-30"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each</a:t>
            </a:r>
            <a:r>
              <a:rPr sz="900" spc="-25" dirty="0">
                <a:latin typeface="Arial"/>
                <a:cs typeface="Arial"/>
              </a:rPr>
              <a:t> </a:t>
            </a:r>
            <a:r>
              <a:rPr sz="900" spc="-10" dirty="0">
                <a:latin typeface="Arial"/>
                <a:cs typeface="Arial"/>
              </a:rPr>
              <a:t>other</a:t>
            </a:r>
            <a:endParaRPr sz="900">
              <a:latin typeface="Arial"/>
              <a:cs typeface="Arial"/>
            </a:endParaRPr>
          </a:p>
          <a:p>
            <a:pPr marL="555625" indent="-120650">
              <a:lnSpc>
                <a:spcPct val="100000"/>
              </a:lnSpc>
              <a:spcBef>
                <a:spcPts val="125"/>
              </a:spcBef>
              <a:buClr>
                <a:srgbClr val="3333B2"/>
              </a:buClr>
              <a:buFont typeface="Apple Symbols"/>
              <a:buChar char="•"/>
              <a:tabLst>
                <a:tab pos="556260" algn="l"/>
              </a:tabLst>
            </a:pPr>
            <a:r>
              <a:rPr sz="900" dirty="0">
                <a:latin typeface="Arial"/>
                <a:cs typeface="Arial"/>
              </a:rPr>
              <a:t>the</a:t>
            </a:r>
            <a:r>
              <a:rPr sz="900" spc="-20" dirty="0">
                <a:latin typeface="Arial"/>
                <a:cs typeface="Arial"/>
              </a:rPr>
              <a:t> </a:t>
            </a:r>
            <a:r>
              <a:rPr sz="900" dirty="0">
                <a:latin typeface="Arial"/>
                <a:cs typeface="Arial"/>
              </a:rPr>
              <a:t>data</a:t>
            </a:r>
            <a:r>
              <a:rPr sz="900" spc="-20" dirty="0">
                <a:latin typeface="Arial"/>
                <a:cs typeface="Arial"/>
              </a:rPr>
              <a:t> </a:t>
            </a:r>
            <a:r>
              <a:rPr sz="900" spc="-10" dirty="0">
                <a:latin typeface="Arial"/>
                <a:cs typeface="Arial"/>
              </a:rPr>
              <a:t>exchanged</a:t>
            </a:r>
            <a:r>
              <a:rPr sz="900" spc="-20" dirty="0">
                <a:latin typeface="Arial"/>
                <a:cs typeface="Arial"/>
              </a:rPr>
              <a:t> </a:t>
            </a:r>
            <a:r>
              <a:rPr sz="900" dirty="0">
                <a:latin typeface="Arial"/>
                <a:cs typeface="Arial"/>
              </a:rPr>
              <a:t>between</a:t>
            </a:r>
            <a:r>
              <a:rPr sz="900" spc="-20" dirty="0">
                <a:latin typeface="Arial"/>
                <a:cs typeface="Arial"/>
              </a:rPr>
              <a:t> </a:t>
            </a:r>
            <a:r>
              <a:rPr sz="900" spc="-10" dirty="0">
                <a:latin typeface="Arial"/>
                <a:cs typeface="Arial"/>
              </a:rPr>
              <a:t>components</a:t>
            </a:r>
            <a:endParaRPr sz="900">
              <a:latin typeface="Arial"/>
              <a:cs typeface="Arial"/>
            </a:endParaRPr>
          </a:p>
          <a:p>
            <a:pPr marL="555625" marR="63500" indent="-120650">
              <a:lnSpc>
                <a:spcPct val="111600"/>
              </a:lnSpc>
              <a:buClr>
                <a:srgbClr val="3333B2"/>
              </a:buClr>
              <a:buFont typeface="Apple Symbols"/>
              <a:buChar char="•"/>
              <a:tabLst>
                <a:tab pos="556260" algn="l"/>
              </a:tabLst>
            </a:pPr>
            <a:r>
              <a:rPr sz="900" dirty="0">
                <a:latin typeface="Arial"/>
                <a:cs typeface="Arial"/>
              </a:rPr>
              <a:t>how</a:t>
            </a:r>
            <a:r>
              <a:rPr sz="900" spc="-35" dirty="0">
                <a:latin typeface="Arial"/>
                <a:cs typeface="Arial"/>
              </a:rPr>
              <a:t> </a:t>
            </a:r>
            <a:r>
              <a:rPr sz="900" dirty="0">
                <a:latin typeface="Arial"/>
                <a:cs typeface="Arial"/>
              </a:rPr>
              <a:t>these</a:t>
            </a:r>
            <a:r>
              <a:rPr sz="900" spc="-35" dirty="0">
                <a:latin typeface="Arial"/>
                <a:cs typeface="Arial"/>
              </a:rPr>
              <a:t> </a:t>
            </a:r>
            <a:r>
              <a:rPr sz="900" dirty="0">
                <a:latin typeface="Arial"/>
                <a:cs typeface="Arial"/>
              </a:rPr>
              <a:t>components</a:t>
            </a:r>
            <a:r>
              <a:rPr sz="900" spc="-30" dirty="0">
                <a:latin typeface="Arial"/>
                <a:cs typeface="Arial"/>
              </a:rPr>
              <a:t> </a:t>
            </a:r>
            <a:r>
              <a:rPr sz="900" dirty="0">
                <a:latin typeface="Arial"/>
                <a:cs typeface="Arial"/>
              </a:rPr>
              <a:t>and</a:t>
            </a:r>
            <a:r>
              <a:rPr sz="900" spc="-35" dirty="0">
                <a:latin typeface="Arial"/>
                <a:cs typeface="Arial"/>
              </a:rPr>
              <a:t> </a:t>
            </a:r>
            <a:r>
              <a:rPr sz="900" dirty="0">
                <a:latin typeface="Arial"/>
                <a:cs typeface="Arial"/>
              </a:rPr>
              <a:t>connectors</a:t>
            </a:r>
            <a:r>
              <a:rPr sz="900" spc="-35" dirty="0">
                <a:latin typeface="Arial"/>
                <a:cs typeface="Arial"/>
              </a:rPr>
              <a:t> </a:t>
            </a:r>
            <a:r>
              <a:rPr sz="900" dirty="0">
                <a:latin typeface="Arial"/>
                <a:cs typeface="Arial"/>
              </a:rPr>
              <a:t>are</a:t>
            </a:r>
            <a:r>
              <a:rPr sz="900" spc="-30" dirty="0">
                <a:latin typeface="Arial"/>
                <a:cs typeface="Arial"/>
              </a:rPr>
              <a:t> </a:t>
            </a:r>
            <a:r>
              <a:rPr sz="900" dirty="0">
                <a:latin typeface="Arial"/>
                <a:cs typeface="Arial"/>
              </a:rPr>
              <a:t>jointly</a:t>
            </a:r>
            <a:r>
              <a:rPr sz="900" spc="-35" dirty="0">
                <a:latin typeface="Arial"/>
                <a:cs typeface="Arial"/>
              </a:rPr>
              <a:t> </a:t>
            </a:r>
            <a:r>
              <a:rPr sz="900" dirty="0">
                <a:latin typeface="Arial"/>
                <a:cs typeface="Arial"/>
              </a:rPr>
              <a:t>configured</a:t>
            </a:r>
            <a:r>
              <a:rPr sz="900" spc="-35" dirty="0">
                <a:latin typeface="Arial"/>
                <a:cs typeface="Arial"/>
              </a:rPr>
              <a:t> </a:t>
            </a:r>
            <a:r>
              <a:rPr sz="900" dirty="0">
                <a:latin typeface="Arial"/>
                <a:cs typeface="Arial"/>
              </a:rPr>
              <a:t>into</a:t>
            </a:r>
            <a:r>
              <a:rPr sz="900" spc="-30" dirty="0">
                <a:latin typeface="Arial"/>
                <a:cs typeface="Arial"/>
              </a:rPr>
              <a:t> </a:t>
            </a:r>
            <a:r>
              <a:rPr sz="900" spc="-50" dirty="0">
                <a:latin typeface="Arial"/>
                <a:cs typeface="Arial"/>
              </a:rPr>
              <a:t>a</a:t>
            </a:r>
            <a:r>
              <a:rPr sz="900" spc="-10" dirty="0">
                <a:latin typeface="Arial"/>
                <a:cs typeface="Arial"/>
              </a:rPr>
              <a:t> system.</a:t>
            </a:r>
            <a:endParaRPr sz="900">
              <a:latin typeface="Arial"/>
              <a:cs typeface="Arial"/>
            </a:endParaRPr>
          </a:p>
          <a:p>
            <a:pPr>
              <a:lnSpc>
                <a:spcPct val="100000"/>
              </a:lnSpc>
              <a:spcBef>
                <a:spcPts val="25"/>
              </a:spcBef>
            </a:pPr>
            <a:endParaRPr sz="1200">
              <a:latin typeface="Arial"/>
              <a:cs typeface="Arial"/>
            </a:endParaRPr>
          </a:p>
          <a:p>
            <a:pPr marL="302260">
              <a:lnSpc>
                <a:spcPct val="100000"/>
              </a:lnSpc>
            </a:pPr>
            <a:r>
              <a:rPr sz="1000" spc="-10" dirty="0">
                <a:solidFill>
                  <a:srgbClr val="3333B2"/>
                </a:solidFill>
                <a:latin typeface="Arial"/>
                <a:cs typeface="Arial"/>
              </a:rPr>
              <a:t>Connector</a:t>
            </a:r>
            <a:endParaRPr sz="1000">
              <a:latin typeface="Arial"/>
              <a:cs typeface="Arial"/>
            </a:endParaRPr>
          </a:p>
          <a:p>
            <a:pPr marL="302260" marR="17780" indent="-3810">
              <a:lnSpc>
                <a:spcPts val="1210"/>
              </a:lnSpc>
              <a:spcBef>
                <a:spcPts val="35"/>
              </a:spcBef>
            </a:pPr>
            <a:r>
              <a:rPr sz="900" dirty="0">
                <a:latin typeface="Arial"/>
                <a:cs typeface="Arial"/>
              </a:rPr>
              <a:t>A</a:t>
            </a:r>
            <a:r>
              <a:rPr sz="900" spc="-20" dirty="0">
                <a:latin typeface="Arial"/>
                <a:cs typeface="Arial"/>
              </a:rPr>
              <a:t> </a:t>
            </a:r>
            <a:r>
              <a:rPr sz="900" dirty="0">
                <a:latin typeface="Arial"/>
                <a:cs typeface="Arial"/>
              </a:rPr>
              <a:t>mechanism</a:t>
            </a:r>
            <a:r>
              <a:rPr sz="900" spc="-20" dirty="0">
                <a:latin typeface="Arial"/>
                <a:cs typeface="Arial"/>
              </a:rPr>
              <a:t> </a:t>
            </a:r>
            <a:r>
              <a:rPr sz="900" dirty="0">
                <a:latin typeface="Arial"/>
                <a:cs typeface="Arial"/>
              </a:rPr>
              <a:t>that</a:t>
            </a:r>
            <a:r>
              <a:rPr sz="900" spc="-20" dirty="0">
                <a:latin typeface="Arial"/>
                <a:cs typeface="Arial"/>
              </a:rPr>
              <a:t> </a:t>
            </a:r>
            <a:r>
              <a:rPr sz="900" dirty="0">
                <a:latin typeface="Arial"/>
                <a:cs typeface="Arial"/>
              </a:rPr>
              <a:t>mediates</a:t>
            </a:r>
            <a:r>
              <a:rPr sz="900" spc="-15" dirty="0">
                <a:latin typeface="Arial"/>
                <a:cs typeface="Arial"/>
              </a:rPr>
              <a:t> </a:t>
            </a:r>
            <a:r>
              <a:rPr sz="900" spc="-10" dirty="0">
                <a:latin typeface="Arial"/>
                <a:cs typeface="Arial"/>
              </a:rPr>
              <a:t>communication,</a:t>
            </a:r>
            <a:r>
              <a:rPr sz="900" spc="-20" dirty="0">
                <a:latin typeface="Arial"/>
                <a:cs typeface="Arial"/>
              </a:rPr>
              <a:t> </a:t>
            </a:r>
            <a:r>
              <a:rPr sz="900" dirty="0">
                <a:latin typeface="Arial"/>
                <a:cs typeface="Arial"/>
              </a:rPr>
              <a:t>coordination,</a:t>
            </a:r>
            <a:r>
              <a:rPr sz="900" spc="-20" dirty="0">
                <a:latin typeface="Arial"/>
                <a:cs typeface="Arial"/>
              </a:rPr>
              <a:t> </a:t>
            </a:r>
            <a:r>
              <a:rPr sz="900" dirty="0">
                <a:latin typeface="Arial"/>
                <a:cs typeface="Arial"/>
              </a:rPr>
              <a:t>or</a:t>
            </a:r>
            <a:r>
              <a:rPr sz="900" spc="-20" dirty="0">
                <a:latin typeface="Arial"/>
                <a:cs typeface="Arial"/>
              </a:rPr>
              <a:t> </a:t>
            </a:r>
            <a:r>
              <a:rPr sz="900" spc="-10" dirty="0">
                <a:latin typeface="Arial"/>
                <a:cs typeface="Arial"/>
              </a:rPr>
              <a:t>cooperation </a:t>
            </a:r>
            <a:r>
              <a:rPr sz="900" dirty="0">
                <a:latin typeface="Arial"/>
                <a:cs typeface="Arial"/>
              </a:rPr>
              <a:t>among</a:t>
            </a:r>
            <a:r>
              <a:rPr sz="900" spc="-35" dirty="0">
                <a:latin typeface="Arial"/>
                <a:cs typeface="Arial"/>
              </a:rPr>
              <a:t> </a:t>
            </a:r>
            <a:r>
              <a:rPr sz="900" dirty="0">
                <a:latin typeface="Arial"/>
                <a:cs typeface="Arial"/>
              </a:rPr>
              <a:t>components.</a:t>
            </a:r>
            <a:r>
              <a:rPr sz="900" spc="20" dirty="0">
                <a:latin typeface="Arial"/>
                <a:cs typeface="Arial"/>
              </a:rPr>
              <a:t> </a:t>
            </a:r>
            <a:r>
              <a:rPr sz="900" dirty="0">
                <a:solidFill>
                  <a:srgbClr val="3333B2"/>
                </a:solidFill>
                <a:latin typeface="Arial"/>
                <a:cs typeface="Arial"/>
              </a:rPr>
              <a:t>Example</a:t>
            </a:r>
            <a:r>
              <a:rPr sz="900" dirty="0">
                <a:latin typeface="Arial"/>
                <a:cs typeface="Arial"/>
              </a:rPr>
              <a:t>:</a:t>
            </a:r>
            <a:r>
              <a:rPr sz="900" spc="20" dirty="0">
                <a:latin typeface="Arial"/>
                <a:cs typeface="Arial"/>
              </a:rPr>
              <a:t> </a:t>
            </a:r>
            <a:r>
              <a:rPr sz="900" spc="-10" dirty="0">
                <a:latin typeface="Arial"/>
                <a:cs typeface="Arial"/>
              </a:rPr>
              <a:t>facilities</a:t>
            </a:r>
            <a:r>
              <a:rPr sz="900" spc="-35" dirty="0">
                <a:latin typeface="Arial"/>
                <a:cs typeface="Arial"/>
              </a:rPr>
              <a:t> </a:t>
            </a:r>
            <a:r>
              <a:rPr sz="900" dirty="0">
                <a:latin typeface="Arial"/>
                <a:cs typeface="Arial"/>
              </a:rPr>
              <a:t>for</a:t>
            </a:r>
            <a:r>
              <a:rPr sz="900" spc="-30" dirty="0">
                <a:latin typeface="Arial"/>
                <a:cs typeface="Arial"/>
              </a:rPr>
              <a:t> </a:t>
            </a:r>
            <a:r>
              <a:rPr sz="900" dirty="0">
                <a:latin typeface="Arial"/>
                <a:cs typeface="Arial"/>
              </a:rPr>
              <a:t>(remote)</a:t>
            </a:r>
            <a:r>
              <a:rPr sz="900" spc="-35" dirty="0">
                <a:latin typeface="Arial"/>
                <a:cs typeface="Arial"/>
              </a:rPr>
              <a:t> </a:t>
            </a:r>
            <a:r>
              <a:rPr sz="900" dirty="0">
                <a:latin typeface="Arial"/>
                <a:cs typeface="Arial"/>
              </a:rPr>
              <a:t>procedure</a:t>
            </a:r>
            <a:r>
              <a:rPr sz="900" spc="-30" dirty="0">
                <a:latin typeface="Arial"/>
                <a:cs typeface="Arial"/>
              </a:rPr>
              <a:t> </a:t>
            </a:r>
            <a:r>
              <a:rPr sz="900" spc="-20" dirty="0">
                <a:latin typeface="Arial"/>
                <a:cs typeface="Arial"/>
              </a:rPr>
              <a:t>call, </a:t>
            </a:r>
            <a:r>
              <a:rPr sz="900" dirty="0">
                <a:latin typeface="Arial"/>
                <a:cs typeface="Arial"/>
              </a:rPr>
              <a:t>messaging,</a:t>
            </a:r>
            <a:r>
              <a:rPr sz="900" spc="-35" dirty="0">
                <a:latin typeface="Arial"/>
                <a:cs typeface="Arial"/>
              </a:rPr>
              <a:t> </a:t>
            </a:r>
            <a:r>
              <a:rPr sz="900" dirty="0">
                <a:latin typeface="Arial"/>
                <a:cs typeface="Arial"/>
              </a:rPr>
              <a:t>or</a:t>
            </a:r>
            <a:r>
              <a:rPr sz="900" spc="-30" dirty="0">
                <a:latin typeface="Arial"/>
                <a:cs typeface="Arial"/>
              </a:rPr>
              <a:t> </a:t>
            </a:r>
            <a:r>
              <a:rPr sz="900" spc="-10" dirty="0">
                <a:latin typeface="Arial"/>
                <a:cs typeface="Arial"/>
              </a:rPr>
              <a:t>streaming.</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Architectures</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998925" y="-1515"/>
            <a:ext cx="555625"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2" action="ppaction://hlinksldjump"/>
              </a:rPr>
              <a:t>Architectural</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styles</a:t>
            </a:r>
            <a:endParaRPr sz="500">
              <a:latin typeface="Arial"/>
              <a:cs typeface="Arial"/>
            </a:endParaRPr>
          </a:p>
        </p:txBody>
      </p:sp>
      <p:sp>
        <p:nvSpPr>
          <p:cNvPr id="5" name="object 5"/>
          <p:cNvSpPr txBox="1"/>
          <p:nvPr/>
        </p:nvSpPr>
        <p:spPr>
          <a:xfrm>
            <a:off x="95300" y="197711"/>
            <a:ext cx="1983105" cy="494665"/>
          </a:xfrm>
          <a:prstGeom prst="rect">
            <a:avLst/>
          </a:prstGeom>
        </p:spPr>
        <p:txBody>
          <a:bodyPr vert="horz" wrap="square" lIns="0" tIns="12065" rIns="0" bIns="0" rtlCol="0">
            <a:spAutoFit/>
          </a:bodyPr>
          <a:lstStyle/>
          <a:p>
            <a:pPr marL="12700">
              <a:lnSpc>
                <a:spcPct val="100000"/>
              </a:lnSpc>
              <a:spcBef>
                <a:spcPts val="95"/>
              </a:spcBef>
            </a:pPr>
            <a:r>
              <a:rPr sz="1200" spc="-10" dirty="0">
                <a:solidFill>
                  <a:srgbClr val="3333B2"/>
                </a:solidFill>
                <a:latin typeface="Arial"/>
                <a:cs typeface="Arial"/>
              </a:rPr>
              <a:t>Layered</a:t>
            </a:r>
            <a:r>
              <a:rPr sz="1200" spc="-45" dirty="0">
                <a:solidFill>
                  <a:srgbClr val="3333B2"/>
                </a:solidFill>
                <a:latin typeface="Arial"/>
                <a:cs typeface="Arial"/>
              </a:rPr>
              <a:t> </a:t>
            </a:r>
            <a:r>
              <a:rPr sz="1200" spc="-10" dirty="0">
                <a:solidFill>
                  <a:srgbClr val="3333B2"/>
                </a:solidFill>
                <a:latin typeface="Arial"/>
                <a:cs typeface="Arial"/>
              </a:rPr>
              <a:t>architecture</a:t>
            </a:r>
            <a:endParaRPr sz="1200">
              <a:latin typeface="Arial"/>
              <a:cs typeface="Arial"/>
            </a:endParaRPr>
          </a:p>
          <a:p>
            <a:pPr marL="264160">
              <a:lnSpc>
                <a:spcPct val="100000"/>
              </a:lnSpc>
              <a:spcBef>
                <a:spcPts val="1055"/>
              </a:spcBef>
            </a:pPr>
            <a:r>
              <a:rPr sz="1000" spc="-10" dirty="0">
                <a:solidFill>
                  <a:srgbClr val="3333B2"/>
                </a:solidFill>
                <a:latin typeface="Arial"/>
                <a:cs typeface="Arial"/>
              </a:rPr>
              <a:t>Different</a:t>
            </a:r>
            <a:r>
              <a:rPr sz="1000" spc="-5" dirty="0">
                <a:solidFill>
                  <a:srgbClr val="3333B2"/>
                </a:solidFill>
                <a:latin typeface="Arial"/>
                <a:cs typeface="Arial"/>
              </a:rPr>
              <a:t> </a:t>
            </a:r>
            <a:r>
              <a:rPr sz="1000" spc="-10" dirty="0">
                <a:solidFill>
                  <a:srgbClr val="3333B2"/>
                </a:solidFill>
                <a:latin typeface="Arial"/>
                <a:cs typeface="Arial"/>
              </a:rPr>
              <a:t>layered</a:t>
            </a:r>
            <a:r>
              <a:rPr sz="1000" dirty="0">
                <a:solidFill>
                  <a:srgbClr val="3333B2"/>
                </a:solidFill>
                <a:latin typeface="Arial"/>
                <a:cs typeface="Arial"/>
              </a:rPr>
              <a:t> </a:t>
            </a:r>
            <a:r>
              <a:rPr sz="1000" spc="-10" dirty="0">
                <a:solidFill>
                  <a:srgbClr val="3333B2"/>
                </a:solidFill>
                <a:latin typeface="Arial"/>
                <a:cs typeface="Arial"/>
              </a:rPr>
              <a:t>organizations</a:t>
            </a:r>
            <a:endParaRPr sz="1000">
              <a:latin typeface="Arial"/>
              <a:cs typeface="Arial"/>
            </a:endParaRPr>
          </a:p>
        </p:txBody>
      </p:sp>
      <p:pic>
        <p:nvPicPr>
          <p:cNvPr id="6" name="object 6"/>
          <p:cNvPicPr/>
          <p:nvPr/>
        </p:nvPicPr>
        <p:blipFill>
          <a:blip r:embed="rId3" cstate="print"/>
          <a:stretch>
            <a:fillRect/>
          </a:stretch>
        </p:blipFill>
        <p:spPr>
          <a:xfrm>
            <a:off x="642107" y="811420"/>
            <a:ext cx="873549" cy="1759503"/>
          </a:xfrm>
          <a:prstGeom prst="rect">
            <a:avLst/>
          </a:prstGeom>
        </p:spPr>
      </p:pic>
      <p:pic>
        <p:nvPicPr>
          <p:cNvPr id="7" name="object 7"/>
          <p:cNvPicPr/>
          <p:nvPr/>
        </p:nvPicPr>
        <p:blipFill>
          <a:blip r:embed="rId4" cstate="print"/>
          <a:stretch>
            <a:fillRect/>
          </a:stretch>
        </p:blipFill>
        <p:spPr>
          <a:xfrm>
            <a:off x="1791500" y="888581"/>
            <a:ext cx="874814" cy="1667164"/>
          </a:xfrm>
          <a:prstGeom prst="rect">
            <a:avLst/>
          </a:prstGeom>
        </p:spPr>
      </p:pic>
      <p:pic>
        <p:nvPicPr>
          <p:cNvPr id="8" name="object 8"/>
          <p:cNvPicPr/>
          <p:nvPr/>
        </p:nvPicPr>
        <p:blipFill>
          <a:blip r:embed="rId5" cstate="print"/>
          <a:stretch>
            <a:fillRect/>
          </a:stretch>
        </p:blipFill>
        <p:spPr>
          <a:xfrm>
            <a:off x="2945991" y="1207340"/>
            <a:ext cx="1040110" cy="1138427"/>
          </a:xfrm>
          <a:prstGeom prst="rect">
            <a:avLst/>
          </a:prstGeom>
        </p:spPr>
      </p:pic>
      <p:sp>
        <p:nvSpPr>
          <p:cNvPr id="9" name="object 9"/>
          <p:cNvSpPr txBox="1"/>
          <p:nvPr/>
        </p:nvSpPr>
        <p:spPr>
          <a:xfrm>
            <a:off x="994714" y="2653367"/>
            <a:ext cx="165100" cy="162560"/>
          </a:xfrm>
          <a:prstGeom prst="rect">
            <a:avLst/>
          </a:prstGeom>
        </p:spPr>
        <p:txBody>
          <a:bodyPr vert="horz" wrap="square" lIns="0" tIns="12065" rIns="0" bIns="0" rtlCol="0">
            <a:spAutoFit/>
          </a:bodyPr>
          <a:lstStyle/>
          <a:p>
            <a:pPr marL="12700">
              <a:lnSpc>
                <a:spcPct val="100000"/>
              </a:lnSpc>
              <a:spcBef>
                <a:spcPts val="95"/>
              </a:spcBef>
            </a:pPr>
            <a:r>
              <a:rPr sz="900" spc="-25" dirty="0">
                <a:latin typeface="Arial"/>
                <a:cs typeface="Arial"/>
              </a:rPr>
              <a:t>(a)</a:t>
            </a:r>
            <a:endParaRPr sz="900">
              <a:latin typeface="Arial"/>
              <a:cs typeface="Arial"/>
            </a:endParaRPr>
          </a:p>
        </p:txBody>
      </p:sp>
      <p:sp>
        <p:nvSpPr>
          <p:cNvPr id="10" name="object 10"/>
          <p:cNvSpPr txBox="1"/>
          <p:nvPr/>
        </p:nvSpPr>
        <p:spPr>
          <a:xfrm>
            <a:off x="2147909" y="2653367"/>
            <a:ext cx="165100" cy="162560"/>
          </a:xfrm>
          <a:prstGeom prst="rect">
            <a:avLst/>
          </a:prstGeom>
        </p:spPr>
        <p:txBody>
          <a:bodyPr vert="horz" wrap="square" lIns="0" tIns="12065" rIns="0" bIns="0" rtlCol="0">
            <a:spAutoFit/>
          </a:bodyPr>
          <a:lstStyle/>
          <a:p>
            <a:pPr marL="12700">
              <a:lnSpc>
                <a:spcPct val="100000"/>
              </a:lnSpc>
              <a:spcBef>
                <a:spcPts val="95"/>
              </a:spcBef>
            </a:pPr>
            <a:r>
              <a:rPr sz="900" spc="-25" dirty="0">
                <a:latin typeface="Arial"/>
                <a:cs typeface="Arial"/>
              </a:rPr>
              <a:t>(b)</a:t>
            </a:r>
            <a:endParaRPr sz="900">
              <a:latin typeface="Arial"/>
              <a:cs typeface="Arial"/>
            </a:endParaRPr>
          </a:p>
        </p:txBody>
      </p:sp>
      <p:sp>
        <p:nvSpPr>
          <p:cNvPr id="11" name="object 11"/>
          <p:cNvSpPr txBox="1"/>
          <p:nvPr/>
        </p:nvSpPr>
        <p:spPr>
          <a:xfrm>
            <a:off x="3378082" y="2653367"/>
            <a:ext cx="158750" cy="162560"/>
          </a:xfrm>
          <a:prstGeom prst="rect">
            <a:avLst/>
          </a:prstGeom>
        </p:spPr>
        <p:txBody>
          <a:bodyPr vert="horz" wrap="square" lIns="0" tIns="12065" rIns="0" bIns="0" rtlCol="0">
            <a:spAutoFit/>
          </a:bodyPr>
          <a:lstStyle/>
          <a:p>
            <a:pPr marL="12700">
              <a:lnSpc>
                <a:spcPct val="100000"/>
              </a:lnSpc>
              <a:spcBef>
                <a:spcPts val="95"/>
              </a:spcBef>
            </a:pPr>
            <a:r>
              <a:rPr sz="900" spc="-25" dirty="0">
                <a:latin typeface="Arial"/>
                <a:cs typeface="Arial"/>
              </a:rPr>
              <a:t>(c)</a:t>
            </a:r>
            <a:endParaRPr sz="900">
              <a:latin typeface="Arial"/>
              <a:cs typeface="Arial"/>
            </a:endParaRPr>
          </a:p>
        </p:txBody>
      </p:sp>
      <p:grpSp>
        <p:nvGrpSpPr>
          <p:cNvPr id="12" name="object 12"/>
          <p:cNvGrpSpPr/>
          <p:nvPr/>
        </p:nvGrpSpPr>
        <p:grpSpPr>
          <a:xfrm>
            <a:off x="0" y="3348469"/>
            <a:ext cx="4608195" cy="107950"/>
            <a:chOff x="0" y="3348469"/>
            <a:chExt cx="4608195" cy="107950"/>
          </a:xfrm>
        </p:grpSpPr>
        <p:sp>
          <p:nvSpPr>
            <p:cNvPr id="13" name="object 13"/>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4" name="object 14"/>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5" name="object 15"/>
          <p:cNvSpPr txBox="1"/>
          <p:nvPr/>
        </p:nvSpPr>
        <p:spPr>
          <a:xfrm>
            <a:off x="53467" y="3349927"/>
            <a:ext cx="63055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6" action="ppaction://hlinksldjump"/>
              </a:rPr>
              <a:t>Layered</a:t>
            </a:r>
            <a:r>
              <a:rPr sz="500" spc="20" dirty="0">
                <a:latin typeface="Arial"/>
                <a:cs typeface="Arial"/>
                <a:hlinkClick r:id="rId6" action="ppaction://hlinksldjump"/>
              </a:rPr>
              <a:t> </a:t>
            </a:r>
            <a:r>
              <a:rPr sz="500" spc="-10" dirty="0">
                <a:latin typeface="Arial"/>
                <a:cs typeface="Arial"/>
                <a:hlinkClick r:id="rId6" action="ppaction://hlinksldjump"/>
              </a:rPr>
              <a:t>architectures</a:t>
            </a:r>
            <a:endParaRPr sz="500">
              <a:latin typeface="Arial"/>
              <a:cs typeface="Arial"/>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Architectures</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998925" y="-1515"/>
            <a:ext cx="555625"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2" action="ppaction://hlinksldjump"/>
              </a:rPr>
              <a:t>Architectural</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styles</a:t>
            </a:r>
            <a:endParaRPr sz="500">
              <a:latin typeface="Arial"/>
              <a:cs typeface="Arial"/>
            </a:endParaRPr>
          </a:p>
        </p:txBody>
      </p:sp>
      <p:sp>
        <p:nvSpPr>
          <p:cNvPr id="5" name="object 5"/>
          <p:cNvSpPr txBox="1"/>
          <p:nvPr/>
        </p:nvSpPr>
        <p:spPr>
          <a:xfrm>
            <a:off x="95300" y="197711"/>
            <a:ext cx="2388235" cy="49466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Example:</a:t>
            </a:r>
            <a:r>
              <a:rPr sz="1200" spc="65" dirty="0">
                <a:solidFill>
                  <a:srgbClr val="3333B2"/>
                </a:solidFill>
                <a:latin typeface="Arial"/>
                <a:cs typeface="Arial"/>
              </a:rPr>
              <a:t> </a:t>
            </a:r>
            <a:r>
              <a:rPr sz="1200" spc="-10" dirty="0">
                <a:solidFill>
                  <a:srgbClr val="3333B2"/>
                </a:solidFill>
                <a:latin typeface="Arial"/>
                <a:cs typeface="Arial"/>
              </a:rPr>
              <a:t>communication</a:t>
            </a:r>
            <a:r>
              <a:rPr sz="1200" spc="-15" dirty="0">
                <a:solidFill>
                  <a:srgbClr val="3333B2"/>
                </a:solidFill>
                <a:latin typeface="Arial"/>
                <a:cs typeface="Arial"/>
              </a:rPr>
              <a:t> </a:t>
            </a:r>
            <a:r>
              <a:rPr sz="1200" spc="-10" dirty="0">
                <a:solidFill>
                  <a:srgbClr val="3333B2"/>
                </a:solidFill>
                <a:latin typeface="Arial"/>
                <a:cs typeface="Arial"/>
              </a:rPr>
              <a:t>protocols</a:t>
            </a:r>
            <a:endParaRPr sz="1200">
              <a:latin typeface="Arial"/>
              <a:cs typeface="Arial"/>
            </a:endParaRPr>
          </a:p>
          <a:p>
            <a:pPr marL="264160">
              <a:lnSpc>
                <a:spcPct val="100000"/>
              </a:lnSpc>
              <a:spcBef>
                <a:spcPts val="1055"/>
              </a:spcBef>
            </a:pPr>
            <a:r>
              <a:rPr sz="1000" dirty="0">
                <a:solidFill>
                  <a:srgbClr val="3333B2"/>
                </a:solidFill>
                <a:latin typeface="Arial"/>
                <a:cs typeface="Arial"/>
              </a:rPr>
              <a:t>Protocol,</a:t>
            </a:r>
            <a:r>
              <a:rPr sz="1000" spc="-40" dirty="0">
                <a:solidFill>
                  <a:srgbClr val="3333B2"/>
                </a:solidFill>
                <a:latin typeface="Arial"/>
                <a:cs typeface="Arial"/>
              </a:rPr>
              <a:t> </a:t>
            </a:r>
            <a:r>
              <a:rPr sz="1000" dirty="0">
                <a:solidFill>
                  <a:srgbClr val="3333B2"/>
                </a:solidFill>
                <a:latin typeface="Arial"/>
                <a:cs typeface="Arial"/>
              </a:rPr>
              <a:t>service,</a:t>
            </a:r>
            <a:r>
              <a:rPr sz="1000" spc="-35" dirty="0">
                <a:solidFill>
                  <a:srgbClr val="3333B2"/>
                </a:solidFill>
                <a:latin typeface="Arial"/>
                <a:cs typeface="Arial"/>
              </a:rPr>
              <a:t> </a:t>
            </a:r>
            <a:r>
              <a:rPr sz="1000" spc="-10" dirty="0">
                <a:solidFill>
                  <a:srgbClr val="3333B2"/>
                </a:solidFill>
                <a:latin typeface="Arial"/>
                <a:cs typeface="Arial"/>
              </a:rPr>
              <a:t>interface</a:t>
            </a:r>
            <a:endParaRPr sz="1000">
              <a:latin typeface="Arial"/>
              <a:cs typeface="Arial"/>
            </a:endParaRPr>
          </a:p>
        </p:txBody>
      </p:sp>
      <p:pic>
        <p:nvPicPr>
          <p:cNvPr id="6" name="object 6"/>
          <p:cNvPicPr/>
          <p:nvPr/>
        </p:nvPicPr>
        <p:blipFill>
          <a:blip r:embed="rId3" cstate="print"/>
          <a:stretch>
            <a:fillRect/>
          </a:stretch>
        </p:blipFill>
        <p:spPr>
          <a:xfrm>
            <a:off x="759790" y="791886"/>
            <a:ext cx="3084625" cy="1593267"/>
          </a:xfrm>
          <a:prstGeom prst="rect">
            <a:avLst/>
          </a:prstGeom>
        </p:spPr>
      </p:pic>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63055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Layered</a:t>
            </a:r>
            <a:r>
              <a:rPr sz="500" spc="20" dirty="0">
                <a:latin typeface="Arial"/>
                <a:cs typeface="Arial"/>
                <a:hlinkClick r:id="rId4" action="ppaction://hlinksldjump"/>
              </a:rPr>
              <a:t> </a:t>
            </a:r>
            <a:r>
              <a:rPr sz="500" spc="-10" dirty="0">
                <a:latin typeface="Arial"/>
                <a:cs typeface="Arial"/>
                <a:hlinkClick r:id="rId4" action="ppaction://hlinksldjump"/>
              </a:rPr>
              <a:t>architectures</a:t>
            </a:r>
            <a:endParaRPr sz="500">
              <a:latin typeface="Arial"/>
              <a:cs typeface="Arial"/>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Architectures</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998925" y="-1515"/>
            <a:ext cx="555625"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2" action="ppaction://hlinksldjump"/>
              </a:rPr>
              <a:t>Architectural</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styles</a:t>
            </a:r>
            <a:endParaRPr sz="500">
              <a:latin typeface="Arial"/>
              <a:cs typeface="Arial"/>
            </a:endParaRPr>
          </a:p>
        </p:txBody>
      </p:sp>
      <p:sp>
        <p:nvSpPr>
          <p:cNvPr id="5" name="object 5"/>
          <p:cNvSpPr txBox="1"/>
          <p:nvPr/>
        </p:nvSpPr>
        <p:spPr>
          <a:xfrm>
            <a:off x="57200" y="197711"/>
            <a:ext cx="3271520" cy="955040"/>
          </a:xfrm>
          <a:prstGeom prst="rect">
            <a:avLst/>
          </a:prstGeom>
        </p:spPr>
        <p:txBody>
          <a:bodyPr vert="horz" wrap="square" lIns="0" tIns="12065" rIns="0" bIns="0" rtlCol="0">
            <a:spAutoFit/>
          </a:bodyPr>
          <a:lstStyle/>
          <a:p>
            <a:pPr marL="50800">
              <a:lnSpc>
                <a:spcPct val="100000"/>
              </a:lnSpc>
              <a:spcBef>
                <a:spcPts val="95"/>
              </a:spcBef>
            </a:pPr>
            <a:r>
              <a:rPr sz="1200" spc="-55" dirty="0">
                <a:solidFill>
                  <a:srgbClr val="3333B2"/>
                </a:solidFill>
                <a:latin typeface="Arial"/>
                <a:cs typeface="Arial"/>
              </a:rPr>
              <a:t>Two-</a:t>
            </a:r>
            <a:r>
              <a:rPr sz="1200" dirty="0">
                <a:solidFill>
                  <a:srgbClr val="3333B2"/>
                </a:solidFill>
                <a:latin typeface="Arial"/>
                <a:cs typeface="Arial"/>
              </a:rPr>
              <a:t>party</a:t>
            </a:r>
            <a:r>
              <a:rPr sz="1200" spc="45" dirty="0">
                <a:solidFill>
                  <a:srgbClr val="3333B2"/>
                </a:solidFill>
                <a:latin typeface="Arial"/>
                <a:cs typeface="Arial"/>
              </a:rPr>
              <a:t> </a:t>
            </a:r>
            <a:r>
              <a:rPr sz="1200" spc="-10" dirty="0">
                <a:solidFill>
                  <a:srgbClr val="3333B2"/>
                </a:solidFill>
                <a:latin typeface="Arial"/>
                <a:cs typeface="Arial"/>
              </a:rPr>
              <a:t>communication</a:t>
            </a:r>
            <a:endParaRPr sz="1200">
              <a:latin typeface="Arial"/>
              <a:cs typeface="Arial"/>
            </a:endParaRPr>
          </a:p>
          <a:p>
            <a:pPr marL="302260">
              <a:lnSpc>
                <a:spcPts val="1160"/>
              </a:lnSpc>
              <a:spcBef>
                <a:spcPts val="1055"/>
              </a:spcBef>
            </a:pPr>
            <a:r>
              <a:rPr sz="1000" spc="-10" dirty="0">
                <a:solidFill>
                  <a:srgbClr val="3333B2"/>
                </a:solidFill>
                <a:latin typeface="Arial"/>
                <a:cs typeface="Arial"/>
              </a:rPr>
              <a:t>Server</a:t>
            </a:r>
            <a:endParaRPr sz="1000">
              <a:latin typeface="Arial"/>
              <a:cs typeface="Arial"/>
            </a:endParaRPr>
          </a:p>
          <a:p>
            <a:pPr marL="264795">
              <a:lnSpc>
                <a:spcPts val="800"/>
              </a:lnSpc>
            </a:pPr>
            <a:r>
              <a:rPr sz="500" dirty="0">
                <a:latin typeface="Times New Roman"/>
                <a:cs typeface="Times New Roman"/>
              </a:rPr>
              <a:t>1</a:t>
            </a:r>
            <a:r>
              <a:rPr sz="500" spc="484" dirty="0">
                <a:latin typeface="Times New Roman"/>
                <a:cs typeface="Times New Roman"/>
              </a:rPr>
              <a:t> </a:t>
            </a:r>
            <a:r>
              <a:rPr sz="700" b="1" dirty="0">
                <a:solidFill>
                  <a:srgbClr val="FF0059"/>
                </a:solidFill>
                <a:latin typeface="Times New Roman"/>
                <a:cs typeface="Times New Roman"/>
              </a:rPr>
              <a:t>from</a:t>
            </a:r>
            <a:r>
              <a:rPr sz="700" b="1" spc="85" dirty="0">
                <a:solidFill>
                  <a:srgbClr val="FF0059"/>
                </a:solidFill>
                <a:latin typeface="Times New Roman"/>
                <a:cs typeface="Times New Roman"/>
              </a:rPr>
              <a:t> </a:t>
            </a:r>
            <a:r>
              <a:rPr sz="700" spc="65" dirty="0">
                <a:latin typeface="Times New Roman"/>
                <a:cs typeface="Times New Roman"/>
              </a:rPr>
              <a:t>socket</a:t>
            </a:r>
            <a:r>
              <a:rPr sz="700" spc="480" dirty="0">
                <a:latin typeface="Times New Roman"/>
                <a:cs typeface="Times New Roman"/>
              </a:rPr>
              <a:t> </a:t>
            </a:r>
            <a:r>
              <a:rPr sz="700" b="1" dirty="0">
                <a:solidFill>
                  <a:srgbClr val="FF0059"/>
                </a:solidFill>
                <a:latin typeface="Times New Roman"/>
                <a:cs typeface="Times New Roman"/>
              </a:rPr>
              <a:t>import</a:t>
            </a:r>
            <a:r>
              <a:rPr sz="700" b="1" spc="110" dirty="0">
                <a:solidFill>
                  <a:srgbClr val="FF0059"/>
                </a:solidFill>
                <a:latin typeface="Times New Roman"/>
                <a:cs typeface="Times New Roman"/>
              </a:rPr>
              <a:t> </a:t>
            </a:r>
            <a:r>
              <a:rPr sz="1050" spc="22" baseline="-7936" dirty="0">
                <a:latin typeface="Times New Roman"/>
                <a:cs typeface="Times New Roman"/>
              </a:rPr>
              <a:t>*</a:t>
            </a:r>
            <a:endParaRPr sz="1050" baseline="-7936">
              <a:latin typeface="Times New Roman"/>
              <a:cs typeface="Times New Roman"/>
            </a:endParaRPr>
          </a:p>
          <a:p>
            <a:pPr marL="264795">
              <a:lnSpc>
                <a:spcPts val="560"/>
              </a:lnSpc>
              <a:spcBef>
                <a:spcPts val="80"/>
              </a:spcBef>
            </a:pPr>
            <a:r>
              <a:rPr sz="500" spc="45" dirty="0">
                <a:latin typeface="Times New Roman"/>
                <a:cs typeface="Times New Roman"/>
              </a:rPr>
              <a:t>2</a:t>
            </a:r>
            <a:endParaRPr sz="500">
              <a:latin typeface="Times New Roman"/>
              <a:cs typeface="Times New Roman"/>
            </a:endParaRPr>
          </a:p>
          <a:p>
            <a:pPr marL="264795">
              <a:lnSpc>
                <a:spcPts val="735"/>
              </a:lnSpc>
            </a:pPr>
            <a:r>
              <a:rPr sz="500" dirty="0">
                <a:latin typeface="Times New Roman"/>
                <a:cs typeface="Times New Roman"/>
              </a:rPr>
              <a:t>3</a:t>
            </a:r>
            <a:r>
              <a:rPr sz="500" spc="220" dirty="0">
                <a:latin typeface="Times New Roman"/>
                <a:cs typeface="Times New Roman"/>
              </a:rPr>
              <a:t>  </a:t>
            </a:r>
            <a:r>
              <a:rPr sz="700" spc="140" dirty="0">
                <a:latin typeface="Times New Roman"/>
                <a:cs typeface="Times New Roman"/>
              </a:rPr>
              <a:t>s</a:t>
            </a:r>
            <a:r>
              <a:rPr sz="700" spc="170" dirty="0">
                <a:latin typeface="Times New Roman"/>
                <a:cs typeface="Times New Roman"/>
              </a:rPr>
              <a:t> </a:t>
            </a:r>
            <a:r>
              <a:rPr sz="700" dirty="0">
                <a:latin typeface="Times New Roman"/>
                <a:cs typeface="Times New Roman"/>
              </a:rPr>
              <a:t>=</a:t>
            </a:r>
            <a:r>
              <a:rPr sz="700" spc="135" dirty="0">
                <a:latin typeface="Times New Roman"/>
                <a:cs typeface="Times New Roman"/>
              </a:rPr>
              <a:t> </a:t>
            </a:r>
            <a:r>
              <a:rPr sz="700" dirty="0">
                <a:latin typeface="Times New Roman"/>
                <a:cs typeface="Times New Roman"/>
              </a:rPr>
              <a:t>socket(AF_INET,</a:t>
            </a:r>
            <a:r>
              <a:rPr sz="700" spc="130" dirty="0">
                <a:latin typeface="Times New Roman"/>
                <a:cs typeface="Times New Roman"/>
              </a:rPr>
              <a:t> </a:t>
            </a:r>
            <a:r>
              <a:rPr sz="700" spc="-25" dirty="0">
                <a:latin typeface="Times New Roman"/>
                <a:cs typeface="Times New Roman"/>
              </a:rPr>
              <a:t>SOCK_STREAM)</a:t>
            </a:r>
            <a:endParaRPr sz="700">
              <a:latin typeface="Times New Roman"/>
              <a:cs typeface="Times New Roman"/>
            </a:endParaRPr>
          </a:p>
          <a:p>
            <a:pPr marL="264795">
              <a:lnSpc>
                <a:spcPts val="715"/>
              </a:lnSpc>
            </a:pPr>
            <a:r>
              <a:rPr sz="500" dirty="0">
                <a:latin typeface="Times New Roman"/>
                <a:cs typeface="Times New Roman"/>
              </a:rPr>
              <a:t>4</a:t>
            </a:r>
            <a:r>
              <a:rPr sz="500" spc="475" dirty="0">
                <a:latin typeface="Times New Roman"/>
                <a:cs typeface="Times New Roman"/>
              </a:rPr>
              <a:t> </a:t>
            </a:r>
            <a:r>
              <a:rPr sz="700" spc="60" dirty="0">
                <a:latin typeface="Times New Roman"/>
                <a:cs typeface="Times New Roman"/>
              </a:rPr>
              <a:t>(conn,</a:t>
            </a:r>
            <a:r>
              <a:rPr sz="700" spc="100" dirty="0">
                <a:latin typeface="Times New Roman"/>
                <a:cs typeface="Times New Roman"/>
              </a:rPr>
              <a:t> </a:t>
            </a:r>
            <a:r>
              <a:rPr sz="700" spc="65" dirty="0">
                <a:latin typeface="Times New Roman"/>
                <a:cs typeface="Times New Roman"/>
              </a:rPr>
              <a:t>addr)</a:t>
            </a:r>
            <a:r>
              <a:rPr sz="700" spc="120" dirty="0">
                <a:latin typeface="Times New Roman"/>
                <a:cs typeface="Times New Roman"/>
              </a:rPr>
              <a:t> </a:t>
            </a:r>
            <a:r>
              <a:rPr sz="700" dirty="0">
                <a:latin typeface="Times New Roman"/>
                <a:cs typeface="Times New Roman"/>
              </a:rPr>
              <a:t>=</a:t>
            </a:r>
            <a:r>
              <a:rPr sz="700" spc="120" dirty="0">
                <a:latin typeface="Times New Roman"/>
                <a:cs typeface="Times New Roman"/>
              </a:rPr>
              <a:t> </a:t>
            </a:r>
            <a:r>
              <a:rPr sz="700" spc="80" dirty="0">
                <a:latin typeface="Times New Roman"/>
                <a:cs typeface="Times New Roman"/>
              </a:rPr>
              <a:t>s.accept()</a:t>
            </a:r>
            <a:r>
              <a:rPr sz="700" spc="484" dirty="0">
                <a:latin typeface="Times New Roman"/>
                <a:cs typeface="Times New Roman"/>
              </a:rPr>
              <a:t> </a:t>
            </a:r>
            <a:r>
              <a:rPr sz="700" i="1" spc="65" dirty="0">
                <a:solidFill>
                  <a:srgbClr val="009600"/>
                </a:solidFill>
                <a:latin typeface="Times New Roman"/>
                <a:cs typeface="Times New Roman"/>
              </a:rPr>
              <a:t>#</a:t>
            </a:r>
            <a:r>
              <a:rPr sz="700" i="1" spc="95" dirty="0">
                <a:solidFill>
                  <a:srgbClr val="009600"/>
                </a:solidFill>
                <a:latin typeface="Times New Roman"/>
                <a:cs typeface="Times New Roman"/>
              </a:rPr>
              <a:t> </a:t>
            </a:r>
            <a:r>
              <a:rPr sz="700" i="1" spc="70" dirty="0">
                <a:solidFill>
                  <a:srgbClr val="009600"/>
                </a:solidFill>
                <a:latin typeface="Times New Roman"/>
                <a:cs typeface="Times New Roman"/>
              </a:rPr>
              <a:t>returns</a:t>
            </a:r>
            <a:r>
              <a:rPr sz="700" i="1" spc="75" dirty="0">
                <a:solidFill>
                  <a:srgbClr val="009600"/>
                </a:solidFill>
                <a:latin typeface="Times New Roman"/>
                <a:cs typeface="Times New Roman"/>
              </a:rPr>
              <a:t> </a:t>
            </a:r>
            <a:r>
              <a:rPr sz="700" i="1" dirty="0">
                <a:solidFill>
                  <a:srgbClr val="009600"/>
                </a:solidFill>
                <a:latin typeface="Times New Roman"/>
                <a:cs typeface="Times New Roman"/>
              </a:rPr>
              <a:t>new</a:t>
            </a:r>
            <a:r>
              <a:rPr sz="700" i="1" spc="80" dirty="0">
                <a:solidFill>
                  <a:srgbClr val="009600"/>
                </a:solidFill>
                <a:latin typeface="Times New Roman"/>
                <a:cs typeface="Times New Roman"/>
              </a:rPr>
              <a:t> </a:t>
            </a:r>
            <a:r>
              <a:rPr sz="700" i="1" spc="75" dirty="0">
                <a:solidFill>
                  <a:srgbClr val="009600"/>
                </a:solidFill>
                <a:latin typeface="Times New Roman"/>
                <a:cs typeface="Times New Roman"/>
              </a:rPr>
              <a:t>socket </a:t>
            </a:r>
            <a:r>
              <a:rPr sz="700" i="1" dirty="0">
                <a:solidFill>
                  <a:srgbClr val="009600"/>
                </a:solidFill>
                <a:latin typeface="Times New Roman"/>
                <a:cs typeface="Times New Roman"/>
              </a:rPr>
              <a:t>and</a:t>
            </a:r>
            <a:r>
              <a:rPr sz="700" i="1" spc="85" dirty="0">
                <a:solidFill>
                  <a:srgbClr val="009600"/>
                </a:solidFill>
                <a:latin typeface="Times New Roman"/>
                <a:cs typeface="Times New Roman"/>
              </a:rPr>
              <a:t> </a:t>
            </a:r>
            <a:r>
              <a:rPr sz="700" i="1" spc="60" dirty="0">
                <a:solidFill>
                  <a:srgbClr val="009600"/>
                </a:solidFill>
                <a:latin typeface="Times New Roman"/>
                <a:cs typeface="Times New Roman"/>
              </a:rPr>
              <a:t>addr.</a:t>
            </a:r>
            <a:r>
              <a:rPr sz="700" i="1" spc="95" dirty="0">
                <a:solidFill>
                  <a:srgbClr val="009600"/>
                </a:solidFill>
                <a:latin typeface="Times New Roman"/>
                <a:cs typeface="Times New Roman"/>
              </a:rPr>
              <a:t> client</a:t>
            </a:r>
            <a:endParaRPr sz="700">
              <a:latin typeface="Times New Roman"/>
              <a:cs typeface="Times New Roman"/>
            </a:endParaRPr>
          </a:p>
          <a:p>
            <a:pPr marL="264795">
              <a:lnSpc>
                <a:spcPts val="780"/>
              </a:lnSpc>
              <a:tabLst>
                <a:tab pos="1569720" algn="l"/>
              </a:tabLst>
            </a:pPr>
            <a:r>
              <a:rPr sz="500" dirty="0">
                <a:latin typeface="Times New Roman"/>
                <a:cs typeface="Times New Roman"/>
              </a:rPr>
              <a:t>5</a:t>
            </a:r>
            <a:r>
              <a:rPr sz="500" spc="245" dirty="0">
                <a:latin typeface="Times New Roman"/>
                <a:cs typeface="Times New Roman"/>
              </a:rPr>
              <a:t>  </a:t>
            </a:r>
            <a:r>
              <a:rPr sz="700" b="1" dirty="0">
                <a:solidFill>
                  <a:srgbClr val="FF0059"/>
                </a:solidFill>
                <a:latin typeface="Times New Roman"/>
                <a:cs typeface="Times New Roman"/>
              </a:rPr>
              <a:t>while</a:t>
            </a:r>
            <a:r>
              <a:rPr sz="700" b="1" spc="145" dirty="0">
                <a:solidFill>
                  <a:srgbClr val="FF0059"/>
                </a:solidFill>
                <a:latin typeface="Times New Roman"/>
                <a:cs typeface="Times New Roman"/>
              </a:rPr>
              <a:t> </a:t>
            </a:r>
            <a:r>
              <a:rPr sz="700" spc="35" dirty="0">
                <a:latin typeface="Times New Roman"/>
                <a:cs typeface="Times New Roman"/>
              </a:rPr>
              <a:t>True:</a:t>
            </a:r>
            <a:r>
              <a:rPr sz="700" dirty="0">
                <a:latin typeface="Times New Roman"/>
                <a:cs typeface="Times New Roman"/>
              </a:rPr>
              <a:t>	</a:t>
            </a:r>
            <a:r>
              <a:rPr sz="700" i="1" spc="65" dirty="0">
                <a:solidFill>
                  <a:srgbClr val="009600"/>
                </a:solidFill>
                <a:latin typeface="Times New Roman"/>
                <a:cs typeface="Times New Roman"/>
              </a:rPr>
              <a:t>#</a:t>
            </a:r>
            <a:r>
              <a:rPr sz="700" i="1" spc="75" dirty="0">
                <a:solidFill>
                  <a:srgbClr val="009600"/>
                </a:solidFill>
                <a:latin typeface="Times New Roman"/>
                <a:cs typeface="Times New Roman"/>
              </a:rPr>
              <a:t> </a:t>
            </a:r>
            <a:r>
              <a:rPr sz="700" i="1" spc="60" dirty="0">
                <a:solidFill>
                  <a:srgbClr val="009600"/>
                </a:solidFill>
                <a:latin typeface="Times New Roman"/>
                <a:cs typeface="Times New Roman"/>
              </a:rPr>
              <a:t>forever</a:t>
            </a:r>
            <a:endParaRPr sz="700">
              <a:latin typeface="Times New Roman"/>
              <a:cs typeface="Times New Roman"/>
            </a:endParaRPr>
          </a:p>
        </p:txBody>
      </p:sp>
      <p:sp>
        <p:nvSpPr>
          <p:cNvPr id="6" name="object 6"/>
          <p:cNvSpPr txBox="1"/>
          <p:nvPr/>
        </p:nvSpPr>
        <p:spPr>
          <a:xfrm>
            <a:off x="479298" y="1111824"/>
            <a:ext cx="3102610" cy="314325"/>
          </a:xfrm>
          <a:prstGeom prst="rect">
            <a:avLst/>
          </a:prstGeom>
        </p:spPr>
        <p:txBody>
          <a:bodyPr vert="horz" wrap="square" lIns="0" tIns="12065" rIns="0" bIns="0" rtlCol="0">
            <a:spAutoFit/>
          </a:bodyPr>
          <a:lstStyle/>
          <a:p>
            <a:pPr marL="38100">
              <a:lnSpc>
                <a:spcPts val="780"/>
              </a:lnSpc>
              <a:spcBef>
                <a:spcPts val="95"/>
              </a:spcBef>
            </a:pPr>
            <a:r>
              <a:rPr sz="700" spc="80" dirty="0">
                <a:latin typeface="Times New Roman"/>
                <a:cs typeface="Times New Roman"/>
              </a:rPr>
              <a:t>data</a:t>
            </a:r>
            <a:r>
              <a:rPr sz="700" spc="170" dirty="0">
                <a:latin typeface="Times New Roman"/>
                <a:cs typeface="Times New Roman"/>
              </a:rPr>
              <a:t> </a:t>
            </a:r>
            <a:r>
              <a:rPr sz="700" dirty="0">
                <a:latin typeface="Times New Roman"/>
                <a:cs typeface="Times New Roman"/>
              </a:rPr>
              <a:t>=</a:t>
            </a:r>
            <a:r>
              <a:rPr sz="700" spc="175" dirty="0">
                <a:latin typeface="Times New Roman"/>
                <a:cs typeface="Times New Roman"/>
              </a:rPr>
              <a:t> </a:t>
            </a:r>
            <a:r>
              <a:rPr sz="700" dirty="0">
                <a:latin typeface="Times New Roman"/>
                <a:cs typeface="Times New Roman"/>
              </a:rPr>
              <a:t>conn.recv(1024)</a:t>
            </a:r>
            <a:r>
              <a:rPr sz="700" spc="470" dirty="0">
                <a:latin typeface="Times New Roman"/>
                <a:cs typeface="Times New Roman"/>
              </a:rPr>
              <a:t>  </a:t>
            </a:r>
            <a:r>
              <a:rPr sz="700" i="1" spc="65" dirty="0">
                <a:solidFill>
                  <a:srgbClr val="009600"/>
                </a:solidFill>
                <a:latin typeface="Times New Roman"/>
                <a:cs typeface="Times New Roman"/>
              </a:rPr>
              <a:t>#</a:t>
            </a:r>
            <a:r>
              <a:rPr sz="700" i="1" spc="175" dirty="0">
                <a:solidFill>
                  <a:srgbClr val="009600"/>
                </a:solidFill>
                <a:latin typeface="Times New Roman"/>
                <a:cs typeface="Times New Roman"/>
              </a:rPr>
              <a:t> </a:t>
            </a:r>
            <a:r>
              <a:rPr sz="700" i="1" spc="70" dirty="0">
                <a:solidFill>
                  <a:srgbClr val="009600"/>
                </a:solidFill>
                <a:latin typeface="Times New Roman"/>
                <a:cs typeface="Times New Roman"/>
              </a:rPr>
              <a:t>receive</a:t>
            </a:r>
            <a:r>
              <a:rPr sz="700" i="1" spc="140" dirty="0">
                <a:solidFill>
                  <a:srgbClr val="009600"/>
                </a:solidFill>
                <a:latin typeface="Times New Roman"/>
                <a:cs typeface="Times New Roman"/>
              </a:rPr>
              <a:t> </a:t>
            </a:r>
            <a:r>
              <a:rPr sz="700" i="1" spc="60" dirty="0">
                <a:solidFill>
                  <a:srgbClr val="009600"/>
                </a:solidFill>
                <a:latin typeface="Times New Roman"/>
                <a:cs typeface="Times New Roman"/>
              </a:rPr>
              <a:t>data</a:t>
            </a:r>
            <a:r>
              <a:rPr sz="700" i="1" spc="145" dirty="0">
                <a:solidFill>
                  <a:srgbClr val="009600"/>
                </a:solidFill>
                <a:latin typeface="Times New Roman"/>
                <a:cs typeface="Times New Roman"/>
              </a:rPr>
              <a:t> </a:t>
            </a:r>
            <a:r>
              <a:rPr sz="700" i="1" dirty="0">
                <a:solidFill>
                  <a:srgbClr val="009600"/>
                </a:solidFill>
                <a:latin typeface="Times New Roman"/>
                <a:cs typeface="Times New Roman"/>
              </a:rPr>
              <a:t>from</a:t>
            </a:r>
            <a:r>
              <a:rPr sz="700" i="1" spc="140" dirty="0">
                <a:solidFill>
                  <a:srgbClr val="009600"/>
                </a:solidFill>
                <a:latin typeface="Times New Roman"/>
                <a:cs typeface="Times New Roman"/>
              </a:rPr>
              <a:t> </a:t>
            </a:r>
            <a:r>
              <a:rPr sz="700" i="1" spc="95" dirty="0">
                <a:solidFill>
                  <a:srgbClr val="009600"/>
                </a:solidFill>
                <a:latin typeface="Times New Roman"/>
                <a:cs typeface="Times New Roman"/>
              </a:rPr>
              <a:t>client</a:t>
            </a:r>
            <a:endParaRPr sz="700">
              <a:latin typeface="Times New Roman"/>
              <a:cs typeface="Times New Roman"/>
            </a:endParaRPr>
          </a:p>
          <a:p>
            <a:pPr marL="38735">
              <a:lnSpc>
                <a:spcPts val="715"/>
              </a:lnSpc>
              <a:tabLst>
                <a:tab pos="1147445" algn="l"/>
              </a:tabLst>
            </a:pPr>
            <a:r>
              <a:rPr sz="700" b="1" spc="175" dirty="0">
                <a:solidFill>
                  <a:srgbClr val="FF0059"/>
                </a:solidFill>
                <a:latin typeface="Times New Roman"/>
                <a:cs typeface="Times New Roman"/>
              </a:rPr>
              <a:t>if</a:t>
            </a:r>
            <a:r>
              <a:rPr sz="700" b="1" spc="75" dirty="0">
                <a:solidFill>
                  <a:srgbClr val="FF0059"/>
                </a:solidFill>
                <a:latin typeface="Times New Roman"/>
                <a:cs typeface="Times New Roman"/>
              </a:rPr>
              <a:t> </a:t>
            </a:r>
            <a:r>
              <a:rPr sz="700" b="1" spc="55" dirty="0">
                <a:solidFill>
                  <a:srgbClr val="FF0059"/>
                </a:solidFill>
                <a:latin typeface="Times New Roman"/>
                <a:cs typeface="Times New Roman"/>
              </a:rPr>
              <a:t>not</a:t>
            </a:r>
            <a:r>
              <a:rPr sz="700" b="1" spc="70" dirty="0">
                <a:solidFill>
                  <a:srgbClr val="FF0059"/>
                </a:solidFill>
                <a:latin typeface="Times New Roman"/>
                <a:cs typeface="Times New Roman"/>
              </a:rPr>
              <a:t> </a:t>
            </a:r>
            <a:r>
              <a:rPr sz="700" spc="90" dirty="0">
                <a:latin typeface="Times New Roman"/>
                <a:cs typeface="Times New Roman"/>
              </a:rPr>
              <a:t>data:</a:t>
            </a:r>
            <a:r>
              <a:rPr sz="700" spc="85" dirty="0">
                <a:latin typeface="Times New Roman"/>
                <a:cs typeface="Times New Roman"/>
              </a:rPr>
              <a:t> </a:t>
            </a:r>
            <a:r>
              <a:rPr sz="700" b="1" spc="-10" dirty="0">
                <a:solidFill>
                  <a:srgbClr val="FF0059"/>
                </a:solidFill>
                <a:latin typeface="Times New Roman"/>
                <a:cs typeface="Times New Roman"/>
              </a:rPr>
              <a:t>break</a:t>
            </a:r>
            <a:r>
              <a:rPr sz="700" b="1" dirty="0">
                <a:solidFill>
                  <a:srgbClr val="FF0059"/>
                </a:solidFill>
                <a:latin typeface="Times New Roman"/>
                <a:cs typeface="Times New Roman"/>
              </a:rPr>
              <a:t>	</a:t>
            </a:r>
            <a:r>
              <a:rPr sz="700" i="1" spc="65" dirty="0">
                <a:solidFill>
                  <a:srgbClr val="009600"/>
                </a:solidFill>
                <a:latin typeface="Times New Roman"/>
                <a:cs typeface="Times New Roman"/>
              </a:rPr>
              <a:t>#</a:t>
            </a:r>
            <a:r>
              <a:rPr sz="700" i="1" spc="85" dirty="0">
                <a:solidFill>
                  <a:srgbClr val="009600"/>
                </a:solidFill>
                <a:latin typeface="Times New Roman"/>
                <a:cs typeface="Times New Roman"/>
              </a:rPr>
              <a:t> </a:t>
            </a:r>
            <a:r>
              <a:rPr sz="700" i="1" spc="80" dirty="0">
                <a:solidFill>
                  <a:srgbClr val="009600"/>
                </a:solidFill>
                <a:latin typeface="Times New Roman"/>
                <a:cs typeface="Times New Roman"/>
              </a:rPr>
              <a:t>stop</a:t>
            </a:r>
            <a:r>
              <a:rPr sz="700" i="1" spc="75" dirty="0">
                <a:solidFill>
                  <a:srgbClr val="009600"/>
                </a:solidFill>
                <a:latin typeface="Times New Roman"/>
                <a:cs typeface="Times New Roman"/>
              </a:rPr>
              <a:t> </a:t>
            </a:r>
            <a:r>
              <a:rPr sz="700" i="1" spc="195" dirty="0">
                <a:solidFill>
                  <a:srgbClr val="009600"/>
                </a:solidFill>
                <a:latin typeface="Times New Roman"/>
                <a:cs typeface="Times New Roman"/>
              </a:rPr>
              <a:t>if</a:t>
            </a:r>
            <a:r>
              <a:rPr sz="700" i="1" spc="75" dirty="0">
                <a:solidFill>
                  <a:srgbClr val="009600"/>
                </a:solidFill>
                <a:latin typeface="Times New Roman"/>
                <a:cs typeface="Times New Roman"/>
              </a:rPr>
              <a:t> </a:t>
            </a:r>
            <a:r>
              <a:rPr sz="700" i="1" spc="105" dirty="0">
                <a:solidFill>
                  <a:srgbClr val="009600"/>
                </a:solidFill>
                <a:latin typeface="Times New Roman"/>
                <a:cs typeface="Times New Roman"/>
              </a:rPr>
              <a:t>client</a:t>
            </a:r>
            <a:r>
              <a:rPr sz="700" i="1" spc="55" dirty="0">
                <a:solidFill>
                  <a:srgbClr val="009600"/>
                </a:solidFill>
                <a:latin typeface="Times New Roman"/>
                <a:cs typeface="Times New Roman"/>
              </a:rPr>
              <a:t> </a:t>
            </a:r>
            <a:r>
              <a:rPr sz="700" i="1" spc="40" dirty="0">
                <a:solidFill>
                  <a:srgbClr val="009600"/>
                </a:solidFill>
                <a:latin typeface="Times New Roman"/>
                <a:cs typeface="Times New Roman"/>
              </a:rPr>
              <a:t>stopped</a:t>
            </a:r>
            <a:endParaRPr sz="700">
              <a:latin typeface="Times New Roman"/>
              <a:cs typeface="Times New Roman"/>
            </a:endParaRPr>
          </a:p>
          <a:p>
            <a:pPr marL="38100">
              <a:lnSpc>
                <a:spcPts val="780"/>
              </a:lnSpc>
            </a:pPr>
            <a:r>
              <a:rPr sz="700" dirty="0">
                <a:latin typeface="Times New Roman"/>
                <a:cs typeface="Times New Roman"/>
              </a:rPr>
              <a:t>msg</a:t>
            </a:r>
            <a:r>
              <a:rPr sz="700" spc="110" dirty="0">
                <a:latin typeface="Times New Roman"/>
                <a:cs typeface="Times New Roman"/>
              </a:rPr>
              <a:t> </a:t>
            </a:r>
            <a:r>
              <a:rPr sz="700" dirty="0">
                <a:latin typeface="Times New Roman"/>
                <a:cs typeface="Times New Roman"/>
              </a:rPr>
              <a:t>=</a:t>
            </a:r>
            <a:r>
              <a:rPr sz="700" spc="105" dirty="0">
                <a:latin typeface="Times New Roman"/>
                <a:cs typeface="Times New Roman"/>
              </a:rPr>
              <a:t> </a:t>
            </a:r>
            <a:r>
              <a:rPr sz="700" spc="50" dirty="0">
                <a:latin typeface="Times New Roman"/>
                <a:cs typeface="Times New Roman"/>
              </a:rPr>
              <a:t>data.decode()+</a:t>
            </a:r>
            <a:r>
              <a:rPr sz="700" spc="50" dirty="0">
                <a:solidFill>
                  <a:srgbClr val="C80000"/>
                </a:solidFill>
                <a:latin typeface="Times New Roman"/>
                <a:cs typeface="Times New Roman"/>
              </a:rPr>
              <a:t>"</a:t>
            </a:r>
            <a:r>
              <a:rPr sz="1050" spc="75" baseline="-7936" dirty="0">
                <a:solidFill>
                  <a:srgbClr val="C80000"/>
                </a:solidFill>
                <a:latin typeface="Times New Roman"/>
                <a:cs typeface="Times New Roman"/>
              </a:rPr>
              <a:t>*</a:t>
            </a:r>
            <a:r>
              <a:rPr sz="700" spc="50" dirty="0">
                <a:solidFill>
                  <a:srgbClr val="C80000"/>
                </a:solidFill>
                <a:latin typeface="Times New Roman"/>
                <a:cs typeface="Times New Roman"/>
              </a:rPr>
              <a:t>"</a:t>
            </a:r>
            <a:r>
              <a:rPr sz="700" spc="165" dirty="0">
                <a:solidFill>
                  <a:srgbClr val="C80000"/>
                </a:solidFill>
                <a:latin typeface="Times New Roman"/>
                <a:cs typeface="Times New Roman"/>
              </a:rPr>
              <a:t>  </a:t>
            </a:r>
            <a:r>
              <a:rPr sz="700" i="1" spc="65" dirty="0">
                <a:solidFill>
                  <a:srgbClr val="009600"/>
                </a:solidFill>
                <a:latin typeface="Times New Roman"/>
                <a:cs typeface="Times New Roman"/>
              </a:rPr>
              <a:t>#</a:t>
            </a:r>
            <a:r>
              <a:rPr sz="700" i="1" spc="105" dirty="0">
                <a:solidFill>
                  <a:srgbClr val="009600"/>
                </a:solidFill>
                <a:latin typeface="Times New Roman"/>
                <a:cs typeface="Times New Roman"/>
              </a:rPr>
              <a:t> </a:t>
            </a:r>
            <a:r>
              <a:rPr sz="700" i="1" spc="55" dirty="0">
                <a:solidFill>
                  <a:srgbClr val="009600"/>
                </a:solidFill>
                <a:latin typeface="Times New Roman"/>
                <a:cs typeface="Times New Roman"/>
              </a:rPr>
              <a:t>process</a:t>
            </a:r>
            <a:r>
              <a:rPr sz="700" i="1" spc="80" dirty="0">
                <a:solidFill>
                  <a:srgbClr val="009600"/>
                </a:solidFill>
                <a:latin typeface="Times New Roman"/>
                <a:cs typeface="Times New Roman"/>
              </a:rPr>
              <a:t> </a:t>
            </a:r>
            <a:r>
              <a:rPr sz="700" i="1" spc="95" dirty="0">
                <a:solidFill>
                  <a:srgbClr val="009600"/>
                </a:solidFill>
                <a:latin typeface="Times New Roman"/>
                <a:cs typeface="Times New Roman"/>
              </a:rPr>
              <a:t>the</a:t>
            </a:r>
            <a:r>
              <a:rPr sz="700" i="1" spc="80" dirty="0">
                <a:solidFill>
                  <a:srgbClr val="009600"/>
                </a:solidFill>
                <a:latin typeface="Times New Roman"/>
                <a:cs typeface="Times New Roman"/>
              </a:rPr>
              <a:t> </a:t>
            </a:r>
            <a:r>
              <a:rPr sz="700" i="1" dirty="0">
                <a:solidFill>
                  <a:srgbClr val="009600"/>
                </a:solidFill>
                <a:latin typeface="Times New Roman"/>
                <a:cs typeface="Times New Roman"/>
              </a:rPr>
              <a:t>incoming</a:t>
            </a:r>
            <a:r>
              <a:rPr sz="700" i="1" spc="75" dirty="0">
                <a:solidFill>
                  <a:srgbClr val="009600"/>
                </a:solidFill>
                <a:latin typeface="Times New Roman"/>
                <a:cs typeface="Times New Roman"/>
              </a:rPr>
              <a:t> </a:t>
            </a:r>
            <a:r>
              <a:rPr sz="700" i="1" spc="60" dirty="0">
                <a:solidFill>
                  <a:srgbClr val="009600"/>
                </a:solidFill>
                <a:latin typeface="Times New Roman"/>
                <a:cs typeface="Times New Roman"/>
              </a:rPr>
              <a:t>data</a:t>
            </a:r>
            <a:r>
              <a:rPr sz="700" i="1" spc="85" dirty="0">
                <a:solidFill>
                  <a:srgbClr val="009600"/>
                </a:solidFill>
                <a:latin typeface="Times New Roman"/>
                <a:cs typeface="Times New Roman"/>
              </a:rPr>
              <a:t> </a:t>
            </a:r>
            <a:r>
              <a:rPr sz="700" i="1" spc="100" dirty="0">
                <a:solidFill>
                  <a:srgbClr val="009600"/>
                </a:solidFill>
                <a:latin typeface="Times New Roman"/>
                <a:cs typeface="Times New Roman"/>
              </a:rPr>
              <a:t>into</a:t>
            </a:r>
            <a:r>
              <a:rPr sz="700" i="1" spc="105" dirty="0">
                <a:solidFill>
                  <a:srgbClr val="009600"/>
                </a:solidFill>
                <a:latin typeface="Times New Roman"/>
                <a:cs typeface="Times New Roman"/>
              </a:rPr>
              <a:t> </a:t>
            </a:r>
            <a:r>
              <a:rPr sz="700" i="1" spc="65" dirty="0">
                <a:solidFill>
                  <a:srgbClr val="009600"/>
                </a:solidFill>
                <a:latin typeface="Times New Roman"/>
                <a:cs typeface="Times New Roman"/>
              </a:rPr>
              <a:t>a</a:t>
            </a:r>
            <a:r>
              <a:rPr sz="700" i="1" spc="100" dirty="0">
                <a:solidFill>
                  <a:srgbClr val="009600"/>
                </a:solidFill>
                <a:latin typeface="Times New Roman"/>
                <a:cs typeface="Times New Roman"/>
              </a:rPr>
              <a:t> </a:t>
            </a:r>
            <a:r>
              <a:rPr sz="700" i="1" spc="35" dirty="0">
                <a:solidFill>
                  <a:srgbClr val="009600"/>
                </a:solidFill>
                <a:latin typeface="Times New Roman"/>
                <a:cs typeface="Times New Roman"/>
              </a:rPr>
              <a:t>response</a:t>
            </a:r>
            <a:endParaRPr sz="700">
              <a:latin typeface="Times New Roman"/>
              <a:cs typeface="Times New Roman"/>
            </a:endParaRPr>
          </a:p>
        </p:txBody>
      </p:sp>
      <p:sp>
        <p:nvSpPr>
          <p:cNvPr id="7" name="object 7"/>
          <p:cNvSpPr txBox="1"/>
          <p:nvPr/>
        </p:nvSpPr>
        <p:spPr>
          <a:xfrm>
            <a:off x="309346" y="1121947"/>
            <a:ext cx="63500" cy="389890"/>
          </a:xfrm>
          <a:prstGeom prst="rect">
            <a:avLst/>
          </a:prstGeom>
        </p:spPr>
        <p:txBody>
          <a:bodyPr vert="horz" wrap="square" lIns="0" tIns="27305" rIns="0" bIns="0" rtlCol="0">
            <a:spAutoFit/>
          </a:bodyPr>
          <a:lstStyle/>
          <a:p>
            <a:pPr marL="12700">
              <a:lnSpc>
                <a:spcPct val="100000"/>
              </a:lnSpc>
              <a:spcBef>
                <a:spcPts val="215"/>
              </a:spcBef>
            </a:pPr>
            <a:r>
              <a:rPr sz="500" spc="45" dirty="0">
                <a:latin typeface="Times New Roman"/>
                <a:cs typeface="Times New Roman"/>
              </a:rPr>
              <a:t>6</a:t>
            </a:r>
            <a:endParaRPr sz="500">
              <a:latin typeface="Times New Roman"/>
              <a:cs typeface="Times New Roman"/>
            </a:endParaRPr>
          </a:p>
          <a:p>
            <a:pPr marL="12700">
              <a:lnSpc>
                <a:spcPct val="100000"/>
              </a:lnSpc>
              <a:spcBef>
                <a:spcPts val="120"/>
              </a:spcBef>
            </a:pPr>
            <a:r>
              <a:rPr sz="500" spc="45" dirty="0">
                <a:latin typeface="Times New Roman"/>
                <a:cs typeface="Times New Roman"/>
              </a:rPr>
              <a:t>7</a:t>
            </a:r>
            <a:endParaRPr sz="500">
              <a:latin typeface="Times New Roman"/>
              <a:cs typeface="Times New Roman"/>
            </a:endParaRPr>
          </a:p>
          <a:p>
            <a:pPr marL="12700">
              <a:lnSpc>
                <a:spcPct val="100000"/>
              </a:lnSpc>
              <a:spcBef>
                <a:spcPts val="114"/>
              </a:spcBef>
            </a:pPr>
            <a:r>
              <a:rPr sz="500" spc="45" dirty="0">
                <a:latin typeface="Times New Roman"/>
                <a:cs typeface="Times New Roman"/>
              </a:rPr>
              <a:t>8</a:t>
            </a:r>
            <a:endParaRPr sz="500">
              <a:latin typeface="Times New Roman"/>
              <a:cs typeface="Times New Roman"/>
            </a:endParaRPr>
          </a:p>
          <a:p>
            <a:pPr marL="12700">
              <a:lnSpc>
                <a:spcPct val="100000"/>
              </a:lnSpc>
              <a:spcBef>
                <a:spcPts val="120"/>
              </a:spcBef>
            </a:pPr>
            <a:r>
              <a:rPr sz="500" spc="45" dirty="0">
                <a:latin typeface="Times New Roman"/>
                <a:cs typeface="Times New Roman"/>
              </a:rPr>
              <a:t>9</a:t>
            </a:r>
            <a:endParaRPr sz="500">
              <a:latin typeface="Times New Roman"/>
              <a:cs typeface="Times New Roman"/>
            </a:endParaRPr>
          </a:p>
        </p:txBody>
      </p:sp>
      <p:sp>
        <p:nvSpPr>
          <p:cNvPr id="8" name="object 8"/>
          <p:cNvSpPr txBox="1"/>
          <p:nvPr/>
        </p:nvSpPr>
        <p:spPr>
          <a:xfrm>
            <a:off x="504698" y="1385115"/>
            <a:ext cx="2077720" cy="132080"/>
          </a:xfrm>
          <a:prstGeom prst="rect">
            <a:avLst/>
          </a:prstGeom>
        </p:spPr>
        <p:txBody>
          <a:bodyPr vert="horz" wrap="square" lIns="0" tIns="12065" rIns="0" bIns="0" rtlCol="0">
            <a:spAutoFit/>
          </a:bodyPr>
          <a:lstStyle/>
          <a:p>
            <a:pPr marL="12700">
              <a:lnSpc>
                <a:spcPct val="100000"/>
              </a:lnSpc>
              <a:spcBef>
                <a:spcPts val="95"/>
              </a:spcBef>
            </a:pPr>
            <a:r>
              <a:rPr sz="700" dirty="0">
                <a:latin typeface="Times New Roman"/>
                <a:cs typeface="Times New Roman"/>
              </a:rPr>
              <a:t>conn.send(msg.encode())</a:t>
            </a:r>
            <a:r>
              <a:rPr sz="700" spc="350" dirty="0">
                <a:latin typeface="Times New Roman"/>
                <a:cs typeface="Times New Roman"/>
              </a:rPr>
              <a:t>  </a:t>
            </a:r>
            <a:r>
              <a:rPr sz="700" i="1" spc="65" dirty="0">
                <a:solidFill>
                  <a:srgbClr val="009600"/>
                </a:solidFill>
                <a:latin typeface="Times New Roman"/>
                <a:cs typeface="Times New Roman"/>
              </a:rPr>
              <a:t>#</a:t>
            </a:r>
            <a:r>
              <a:rPr sz="700" i="1" spc="254" dirty="0">
                <a:solidFill>
                  <a:srgbClr val="009600"/>
                </a:solidFill>
                <a:latin typeface="Times New Roman"/>
                <a:cs typeface="Times New Roman"/>
              </a:rPr>
              <a:t> </a:t>
            </a:r>
            <a:r>
              <a:rPr sz="700" i="1" spc="75" dirty="0">
                <a:solidFill>
                  <a:srgbClr val="009600"/>
                </a:solidFill>
                <a:latin typeface="Times New Roman"/>
                <a:cs typeface="Times New Roman"/>
              </a:rPr>
              <a:t>return</a:t>
            </a:r>
            <a:r>
              <a:rPr sz="700" i="1" spc="229" dirty="0">
                <a:solidFill>
                  <a:srgbClr val="009600"/>
                </a:solidFill>
                <a:latin typeface="Times New Roman"/>
                <a:cs typeface="Times New Roman"/>
              </a:rPr>
              <a:t> </a:t>
            </a:r>
            <a:r>
              <a:rPr sz="700" i="1" spc="95" dirty="0">
                <a:solidFill>
                  <a:srgbClr val="009600"/>
                </a:solidFill>
                <a:latin typeface="Times New Roman"/>
                <a:cs typeface="Times New Roman"/>
              </a:rPr>
              <a:t>the</a:t>
            </a:r>
            <a:r>
              <a:rPr sz="700" i="1" spc="220" dirty="0">
                <a:solidFill>
                  <a:srgbClr val="009600"/>
                </a:solidFill>
                <a:latin typeface="Times New Roman"/>
                <a:cs typeface="Times New Roman"/>
              </a:rPr>
              <a:t> </a:t>
            </a:r>
            <a:r>
              <a:rPr sz="700" i="1" spc="35" dirty="0">
                <a:solidFill>
                  <a:srgbClr val="009600"/>
                </a:solidFill>
                <a:latin typeface="Times New Roman"/>
                <a:cs typeface="Times New Roman"/>
              </a:rPr>
              <a:t>response</a:t>
            </a:r>
            <a:endParaRPr sz="700">
              <a:latin typeface="Times New Roman"/>
              <a:cs typeface="Times New Roman"/>
            </a:endParaRPr>
          </a:p>
        </p:txBody>
      </p:sp>
      <p:sp>
        <p:nvSpPr>
          <p:cNvPr id="9" name="object 9"/>
          <p:cNvSpPr txBox="1"/>
          <p:nvPr/>
        </p:nvSpPr>
        <p:spPr>
          <a:xfrm>
            <a:off x="258546" y="1476212"/>
            <a:ext cx="3168650" cy="1211580"/>
          </a:xfrm>
          <a:prstGeom prst="rect">
            <a:avLst/>
          </a:prstGeom>
        </p:spPr>
        <p:txBody>
          <a:bodyPr vert="horz" wrap="square" lIns="0" tIns="12065" rIns="0" bIns="0" rtlCol="0">
            <a:spAutoFit/>
          </a:bodyPr>
          <a:lstStyle/>
          <a:p>
            <a:pPr marL="25400">
              <a:lnSpc>
                <a:spcPct val="100000"/>
              </a:lnSpc>
              <a:spcBef>
                <a:spcPts val="95"/>
              </a:spcBef>
              <a:tabLst>
                <a:tab pos="1368425" algn="l"/>
              </a:tabLst>
            </a:pPr>
            <a:r>
              <a:rPr sz="500" dirty="0">
                <a:latin typeface="Times New Roman"/>
                <a:cs typeface="Times New Roman"/>
              </a:rPr>
              <a:t>10</a:t>
            </a:r>
            <a:r>
              <a:rPr sz="500" spc="190" dirty="0">
                <a:latin typeface="Times New Roman"/>
                <a:cs typeface="Times New Roman"/>
              </a:rPr>
              <a:t>  </a:t>
            </a:r>
            <a:r>
              <a:rPr sz="700" spc="55" dirty="0">
                <a:latin typeface="Times New Roman"/>
                <a:cs typeface="Times New Roman"/>
              </a:rPr>
              <a:t>conn.close()</a:t>
            </a:r>
            <a:r>
              <a:rPr sz="700" dirty="0">
                <a:latin typeface="Times New Roman"/>
                <a:cs typeface="Times New Roman"/>
              </a:rPr>
              <a:t>	</a:t>
            </a:r>
            <a:r>
              <a:rPr sz="700" i="1" spc="65" dirty="0">
                <a:solidFill>
                  <a:srgbClr val="009600"/>
                </a:solidFill>
                <a:latin typeface="Times New Roman"/>
                <a:cs typeface="Times New Roman"/>
              </a:rPr>
              <a:t>#</a:t>
            </a:r>
            <a:r>
              <a:rPr sz="700" i="1" spc="80" dirty="0">
                <a:solidFill>
                  <a:srgbClr val="009600"/>
                </a:solidFill>
                <a:latin typeface="Times New Roman"/>
                <a:cs typeface="Times New Roman"/>
              </a:rPr>
              <a:t> close</a:t>
            </a:r>
            <a:r>
              <a:rPr sz="700" i="1" spc="65" dirty="0">
                <a:solidFill>
                  <a:srgbClr val="009600"/>
                </a:solidFill>
                <a:latin typeface="Times New Roman"/>
                <a:cs typeface="Times New Roman"/>
              </a:rPr>
              <a:t> </a:t>
            </a:r>
            <a:r>
              <a:rPr sz="700" i="1" spc="95" dirty="0">
                <a:solidFill>
                  <a:srgbClr val="009600"/>
                </a:solidFill>
                <a:latin typeface="Times New Roman"/>
                <a:cs typeface="Times New Roman"/>
              </a:rPr>
              <a:t>the</a:t>
            </a:r>
            <a:r>
              <a:rPr sz="700" i="1" spc="55" dirty="0">
                <a:solidFill>
                  <a:srgbClr val="009600"/>
                </a:solidFill>
                <a:latin typeface="Times New Roman"/>
                <a:cs typeface="Times New Roman"/>
              </a:rPr>
              <a:t> </a:t>
            </a:r>
            <a:r>
              <a:rPr sz="700" i="1" spc="40" dirty="0">
                <a:solidFill>
                  <a:srgbClr val="009600"/>
                </a:solidFill>
                <a:latin typeface="Times New Roman"/>
                <a:cs typeface="Times New Roman"/>
              </a:rPr>
              <a:t>connection</a:t>
            </a:r>
            <a:endParaRPr sz="700">
              <a:latin typeface="Times New Roman"/>
              <a:cs typeface="Times New Roman"/>
            </a:endParaRPr>
          </a:p>
          <a:p>
            <a:pPr>
              <a:lnSpc>
                <a:spcPct val="100000"/>
              </a:lnSpc>
            </a:pPr>
            <a:endParaRPr sz="700">
              <a:latin typeface="Times New Roman"/>
              <a:cs typeface="Times New Roman"/>
            </a:endParaRPr>
          </a:p>
          <a:p>
            <a:pPr marL="100965">
              <a:lnSpc>
                <a:spcPts val="1160"/>
              </a:lnSpc>
            </a:pPr>
            <a:r>
              <a:rPr sz="1000" spc="-10" dirty="0">
                <a:solidFill>
                  <a:srgbClr val="3333B2"/>
                </a:solidFill>
                <a:latin typeface="Arial"/>
                <a:cs typeface="Arial"/>
              </a:rPr>
              <a:t>Client</a:t>
            </a:r>
            <a:endParaRPr sz="1000">
              <a:latin typeface="Arial"/>
              <a:cs typeface="Arial"/>
            </a:endParaRPr>
          </a:p>
          <a:p>
            <a:pPr marL="63500">
              <a:lnSpc>
                <a:spcPts val="800"/>
              </a:lnSpc>
            </a:pPr>
            <a:r>
              <a:rPr sz="500" dirty="0">
                <a:latin typeface="Times New Roman"/>
                <a:cs typeface="Times New Roman"/>
              </a:rPr>
              <a:t>1</a:t>
            </a:r>
            <a:r>
              <a:rPr sz="500" spc="484" dirty="0">
                <a:latin typeface="Times New Roman"/>
                <a:cs typeface="Times New Roman"/>
              </a:rPr>
              <a:t> </a:t>
            </a:r>
            <a:r>
              <a:rPr sz="700" b="1" dirty="0">
                <a:solidFill>
                  <a:srgbClr val="FF0059"/>
                </a:solidFill>
                <a:latin typeface="Times New Roman"/>
                <a:cs typeface="Times New Roman"/>
              </a:rPr>
              <a:t>from</a:t>
            </a:r>
            <a:r>
              <a:rPr sz="700" b="1" spc="85" dirty="0">
                <a:solidFill>
                  <a:srgbClr val="FF0059"/>
                </a:solidFill>
                <a:latin typeface="Times New Roman"/>
                <a:cs typeface="Times New Roman"/>
              </a:rPr>
              <a:t> </a:t>
            </a:r>
            <a:r>
              <a:rPr sz="700" spc="65" dirty="0">
                <a:latin typeface="Times New Roman"/>
                <a:cs typeface="Times New Roman"/>
              </a:rPr>
              <a:t>socket</a:t>
            </a:r>
            <a:r>
              <a:rPr sz="700" spc="480" dirty="0">
                <a:latin typeface="Times New Roman"/>
                <a:cs typeface="Times New Roman"/>
              </a:rPr>
              <a:t> </a:t>
            </a:r>
            <a:r>
              <a:rPr sz="700" b="1" dirty="0">
                <a:solidFill>
                  <a:srgbClr val="FF0059"/>
                </a:solidFill>
                <a:latin typeface="Times New Roman"/>
                <a:cs typeface="Times New Roman"/>
              </a:rPr>
              <a:t>import</a:t>
            </a:r>
            <a:r>
              <a:rPr sz="700" b="1" spc="110" dirty="0">
                <a:solidFill>
                  <a:srgbClr val="FF0059"/>
                </a:solidFill>
                <a:latin typeface="Times New Roman"/>
                <a:cs typeface="Times New Roman"/>
              </a:rPr>
              <a:t> </a:t>
            </a:r>
            <a:r>
              <a:rPr sz="1050" spc="22" baseline="-7936" dirty="0">
                <a:latin typeface="Times New Roman"/>
                <a:cs typeface="Times New Roman"/>
              </a:rPr>
              <a:t>*</a:t>
            </a:r>
            <a:endParaRPr sz="1050" baseline="-7936">
              <a:latin typeface="Times New Roman"/>
              <a:cs typeface="Times New Roman"/>
            </a:endParaRPr>
          </a:p>
          <a:p>
            <a:pPr marL="63500">
              <a:lnSpc>
                <a:spcPts val="560"/>
              </a:lnSpc>
              <a:spcBef>
                <a:spcPts val="80"/>
              </a:spcBef>
            </a:pPr>
            <a:r>
              <a:rPr sz="500" spc="45" dirty="0">
                <a:latin typeface="Times New Roman"/>
                <a:cs typeface="Times New Roman"/>
              </a:rPr>
              <a:t>2</a:t>
            </a:r>
            <a:endParaRPr sz="500">
              <a:latin typeface="Times New Roman"/>
              <a:cs typeface="Times New Roman"/>
            </a:endParaRPr>
          </a:p>
          <a:p>
            <a:pPr marL="63500">
              <a:lnSpc>
                <a:spcPts val="735"/>
              </a:lnSpc>
            </a:pPr>
            <a:r>
              <a:rPr sz="500" dirty="0">
                <a:latin typeface="Times New Roman"/>
                <a:cs typeface="Times New Roman"/>
              </a:rPr>
              <a:t>3</a:t>
            </a:r>
            <a:r>
              <a:rPr sz="500" spc="220" dirty="0">
                <a:latin typeface="Times New Roman"/>
                <a:cs typeface="Times New Roman"/>
              </a:rPr>
              <a:t>  </a:t>
            </a:r>
            <a:r>
              <a:rPr sz="700" spc="140" dirty="0">
                <a:latin typeface="Times New Roman"/>
                <a:cs typeface="Times New Roman"/>
              </a:rPr>
              <a:t>s</a:t>
            </a:r>
            <a:r>
              <a:rPr sz="700" spc="170" dirty="0">
                <a:latin typeface="Times New Roman"/>
                <a:cs typeface="Times New Roman"/>
              </a:rPr>
              <a:t> </a:t>
            </a:r>
            <a:r>
              <a:rPr sz="700" dirty="0">
                <a:latin typeface="Times New Roman"/>
                <a:cs typeface="Times New Roman"/>
              </a:rPr>
              <a:t>=</a:t>
            </a:r>
            <a:r>
              <a:rPr sz="700" spc="135" dirty="0">
                <a:latin typeface="Times New Roman"/>
                <a:cs typeface="Times New Roman"/>
              </a:rPr>
              <a:t> </a:t>
            </a:r>
            <a:r>
              <a:rPr sz="700" dirty="0">
                <a:latin typeface="Times New Roman"/>
                <a:cs typeface="Times New Roman"/>
              </a:rPr>
              <a:t>socket(AF_INET,</a:t>
            </a:r>
            <a:r>
              <a:rPr sz="700" spc="130" dirty="0">
                <a:latin typeface="Times New Roman"/>
                <a:cs typeface="Times New Roman"/>
              </a:rPr>
              <a:t> </a:t>
            </a:r>
            <a:r>
              <a:rPr sz="700" spc="-25" dirty="0">
                <a:latin typeface="Times New Roman"/>
                <a:cs typeface="Times New Roman"/>
              </a:rPr>
              <a:t>SOCK_STREAM)</a:t>
            </a:r>
            <a:endParaRPr sz="700">
              <a:latin typeface="Times New Roman"/>
              <a:cs typeface="Times New Roman"/>
            </a:endParaRPr>
          </a:p>
          <a:p>
            <a:pPr marL="63500">
              <a:lnSpc>
                <a:spcPts val="715"/>
              </a:lnSpc>
            </a:pPr>
            <a:r>
              <a:rPr sz="500" dirty="0">
                <a:latin typeface="Times New Roman"/>
                <a:cs typeface="Times New Roman"/>
              </a:rPr>
              <a:t>4</a:t>
            </a:r>
            <a:r>
              <a:rPr sz="500" spc="210" dirty="0">
                <a:latin typeface="Times New Roman"/>
                <a:cs typeface="Times New Roman"/>
              </a:rPr>
              <a:t>  </a:t>
            </a:r>
            <a:r>
              <a:rPr sz="700" dirty="0">
                <a:latin typeface="Times New Roman"/>
                <a:cs typeface="Times New Roman"/>
              </a:rPr>
              <a:t>s.connect((HOST,</a:t>
            </a:r>
            <a:r>
              <a:rPr sz="700" spc="140" dirty="0">
                <a:latin typeface="Times New Roman"/>
                <a:cs typeface="Times New Roman"/>
              </a:rPr>
              <a:t> </a:t>
            </a:r>
            <a:r>
              <a:rPr sz="700" spc="-10" dirty="0">
                <a:latin typeface="Times New Roman"/>
                <a:cs typeface="Times New Roman"/>
              </a:rPr>
              <a:t>PORT))</a:t>
            </a:r>
            <a:r>
              <a:rPr sz="700" spc="145" dirty="0">
                <a:latin typeface="Times New Roman"/>
                <a:cs typeface="Times New Roman"/>
              </a:rPr>
              <a:t> </a:t>
            </a:r>
            <a:r>
              <a:rPr sz="700" i="1" spc="65" dirty="0">
                <a:solidFill>
                  <a:srgbClr val="009600"/>
                </a:solidFill>
                <a:latin typeface="Times New Roman"/>
                <a:cs typeface="Times New Roman"/>
              </a:rPr>
              <a:t>#</a:t>
            </a:r>
            <a:r>
              <a:rPr sz="700" i="1" spc="130" dirty="0">
                <a:solidFill>
                  <a:srgbClr val="009600"/>
                </a:solidFill>
                <a:latin typeface="Times New Roman"/>
                <a:cs typeface="Times New Roman"/>
              </a:rPr>
              <a:t> </a:t>
            </a:r>
            <a:r>
              <a:rPr sz="700" i="1" spc="50" dirty="0">
                <a:solidFill>
                  <a:srgbClr val="009600"/>
                </a:solidFill>
                <a:latin typeface="Times New Roman"/>
                <a:cs typeface="Times New Roman"/>
              </a:rPr>
              <a:t>connect</a:t>
            </a:r>
            <a:r>
              <a:rPr sz="700" i="1" spc="114" dirty="0">
                <a:solidFill>
                  <a:srgbClr val="009600"/>
                </a:solidFill>
                <a:latin typeface="Times New Roman"/>
                <a:cs typeface="Times New Roman"/>
              </a:rPr>
              <a:t> </a:t>
            </a:r>
            <a:r>
              <a:rPr sz="700" i="1" spc="120" dirty="0">
                <a:solidFill>
                  <a:srgbClr val="009600"/>
                </a:solidFill>
                <a:latin typeface="Times New Roman"/>
                <a:cs typeface="Times New Roman"/>
              </a:rPr>
              <a:t>to</a:t>
            </a:r>
            <a:r>
              <a:rPr sz="700" i="1" spc="114" dirty="0">
                <a:solidFill>
                  <a:srgbClr val="009600"/>
                </a:solidFill>
                <a:latin typeface="Times New Roman"/>
                <a:cs typeface="Times New Roman"/>
              </a:rPr>
              <a:t> </a:t>
            </a:r>
            <a:r>
              <a:rPr sz="700" i="1" spc="75" dirty="0">
                <a:solidFill>
                  <a:srgbClr val="009600"/>
                </a:solidFill>
                <a:latin typeface="Times New Roman"/>
                <a:cs typeface="Times New Roman"/>
              </a:rPr>
              <a:t>server</a:t>
            </a:r>
            <a:r>
              <a:rPr sz="700" i="1" spc="130" dirty="0">
                <a:solidFill>
                  <a:srgbClr val="009600"/>
                </a:solidFill>
                <a:latin typeface="Times New Roman"/>
                <a:cs typeface="Times New Roman"/>
              </a:rPr>
              <a:t> </a:t>
            </a:r>
            <a:r>
              <a:rPr sz="700" i="1" spc="65" dirty="0">
                <a:solidFill>
                  <a:srgbClr val="009600"/>
                </a:solidFill>
                <a:latin typeface="Times New Roman"/>
                <a:cs typeface="Times New Roman"/>
              </a:rPr>
              <a:t>(block</a:t>
            </a:r>
            <a:r>
              <a:rPr sz="700" i="1" spc="100" dirty="0">
                <a:solidFill>
                  <a:srgbClr val="009600"/>
                </a:solidFill>
                <a:latin typeface="Times New Roman"/>
                <a:cs typeface="Times New Roman"/>
              </a:rPr>
              <a:t> </a:t>
            </a:r>
            <a:r>
              <a:rPr sz="700" i="1" spc="110" dirty="0">
                <a:solidFill>
                  <a:srgbClr val="009600"/>
                </a:solidFill>
                <a:latin typeface="Times New Roman"/>
                <a:cs typeface="Times New Roman"/>
              </a:rPr>
              <a:t>until</a:t>
            </a:r>
            <a:r>
              <a:rPr sz="700" i="1" spc="100" dirty="0">
                <a:solidFill>
                  <a:srgbClr val="009600"/>
                </a:solidFill>
                <a:latin typeface="Times New Roman"/>
                <a:cs typeface="Times New Roman"/>
              </a:rPr>
              <a:t> </a:t>
            </a:r>
            <a:r>
              <a:rPr sz="700" i="1" spc="40" dirty="0">
                <a:solidFill>
                  <a:srgbClr val="009600"/>
                </a:solidFill>
                <a:latin typeface="Times New Roman"/>
                <a:cs typeface="Times New Roman"/>
              </a:rPr>
              <a:t>accepted)</a:t>
            </a:r>
            <a:endParaRPr sz="700">
              <a:latin typeface="Times New Roman"/>
              <a:cs typeface="Times New Roman"/>
            </a:endParaRPr>
          </a:p>
          <a:p>
            <a:pPr marL="63500">
              <a:lnSpc>
                <a:spcPts val="715"/>
              </a:lnSpc>
              <a:tabLst>
                <a:tab pos="1235075" algn="l"/>
              </a:tabLst>
            </a:pPr>
            <a:r>
              <a:rPr sz="500" dirty="0">
                <a:latin typeface="Times New Roman"/>
                <a:cs typeface="Times New Roman"/>
              </a:rPr>
              <a:t>5</a:t>
            </a:r>
            <a:r>
              <a:rPr sz="500" spc="445" dirty="0">
                <a:latin typeface="Times New Roman"/>
                <a:cs typeface="Times New Roman"/>
              </a:rPr>
              <a:t> </a:t>
            </a:r>
            <a:r>
              <a:rPr sz="700" dirty="0">
                <a:latin typeface="Times New Roman"/>
                <a:cs typeface="Times New Roman"/>
              </a:rPr>
              <a:t>msg</a:t>
            </a:r>
            <a:r>
              <a:rPr sz="700" spc="95" dirty="0">
                <a:latin typeface="Times New Roman"/>
                <a:cs typeface="Times New Roman"/>
              </a:rPr>
              <a:t> </a:t>
            </a:r>
            <a:r>
              <a:rPr sz="700" dirty="0">
                <a:latin typeface="Times New Roman"/>
                <a:cs typeface="Times New Roman"/>
              </a:rPr>
              <a:t>=</a:t>
            </a:r>
            <a:r>
              <a:rPr sz="700" spc="114" dirty="0">
                <a:latin typeface="Times New Roman"/>
                <a:cs typeface="Times New Roman"/>
              </a:rPr>
              <a:t> </a:t>
            </a:r>
            <a:r>
              <a:rPr sz="700" spc="50" dirty="0">
                <a:solidFill>
                  <a:srgbClr val="C80000"/>
                </a:solidFill>
                <a:latin typeface="Times New Roman"/>
                <a:cs typeface="Times New Roman"/>
              </a:rPr>
              <a:t>"Hello</a:t>
            </a:r>
            <a:r>
              <a:rPr sz="700" spc="65" dirty="0">
                <a:solidFill>
                  <a:srgbClr val="C80000"/>
                </a:solidFill>
                <a:latin typeface="Times New Roman"/>
                <a:cs typeface="Times New Roman"/>
              </a:rPr>
              <a:t> </a:t>
            </a:r>
            <a:r>
              <a:rPr sz="700" spc="-10" dirty="0">
                <a:solidFill>
                  <a:srgbClr val="C80000"/>
                </a:solidFill>
                <a:latin typeface="Times New Roman"/>
                <a:cs typeface="Times New Roman"/>
              </a:rPr>
              <a:t>World"</a:t>
            </a:r>
            <a:r>
              <a:rPr sz="700" dirty="0">
                <a:solidFill>
                  <a:srgbClr val="C80000"/>
                </a:solidFill>
                <a:latin typeface="Times New Roman"/>
                <a:cs typeface="Times New Roman"/>
              </a:rPr>
              <a:t>	</a:t>
            </a:r>
            <a:r>
              <a:rPr sz="700" i="1" spc="65" dirty="0">
                <a:solidFill>
                  <a:srgbClr val="009600"/>
                </a:solidFill>
                <a:latin typeface="Times New Roman"/>
                <a:cs typeface="Times New Roman"/>
              </a:rPr>
              <a:t>#</a:t>
            </a:r>
            <a:r>
              <a:rPr sz="700" i="1" spc="100" dirty="0">
                <a:solidFill>
                  <a:srgbClr val="009600"/>
                </a:solidFill>
                <a:latin typeface="Times New Roman"/>
                <a:cs typeface="Times New Roman"/>
              </a:rPr>
              <a:t> </a:t>
            </a:r>
            <a:r>
              <a:rPr sz="700" i="1" dirty="0">
                <a:solidFill>
                  <a:srgbClr val="009600"/>
                </a:solidFill>
                <a:latin typeface="Times New Roman"/>
                <a:cs typeface="Times New Roman"/>
              </a:rPr>
              <a:t>compose</a:t>
            </a:r>
            <a:r>
              <a:rPr sz="700" i="1" spc="100" dirty="0">
                <a:solidFill>
                  <a:srgbClr val="009600"/>
                </a:solidFill>
                <a:latin typeface="Times New Roman"/>
                <a:cs typeface="Times New Roman"/>
              </a:rPr>
              <a:t> </a:t>
            </a:r>
            <a:r>
              <a:rPr sz="700" i="1" spc="65" dirty="0">
                <a:solidFill>
                  <a:srgbClr val="009600"/>
                </a:solidFill>
                <a:latin typeface="Times New Roman"/>
                <a:cs typeface="Times New Roman"/>
              </a:rPr>
              <a:t>a</a:t>
            </a:r>
            <a:r>
              <a:rPr sz="700" i="1" spc="100" dirty="0">
                <a:solidFill>
                  <a:srgbClr val="009600"/>
                </a:solidFill>
                <a:latin typeface="Times New Roman"/>
                <a:cs typeface="Times New Roman"/>
              </a:rPr>
              <a:t> </a:t>
            </a:r>
            <a:r>
              <a:rPr sz="700" i="1" spc="-10" dirty="0">
                <a:solidFill>
                  <a:srgbClr val="009600"/>
                </a:solidFill>
                <a:latin typeface="Times New Roman"/>
                <a:cs typeface="Times New Roman"/>
              </a:rPr>
              <a:t>message</a:t>
            </a:r>
            <a:endParaRPr sz="700">
              <a:latin typeface="Times New Roman"/>
              <a:cs typeface="Times New Roman"/>
            </a:endParaRPr>
          </a:p>
          <a:p>
            <a:pPr marL="63500">
              <a:lnSpc>
                <a:spcPts val="715"/>
              </a:lnSpc>
              <a:tabLst>
                <a:tab pos="1235075" algn="l"/>
              </a:tabLst>
            </a:pPr>
            <a:r>
              <a:rPr sz="500" dirty="0">
                <a:latin typeface="Times New Roman"/>
                <a:cs typeface="Times New Roman"/>
              </a:rPr>
              <a:t>6</a:t>
            </a:r>
            <a:r>
              <a:rPr sz="500" spc="480" dirty="0">
                <a:latin typeface="Times New Roman"/>
                <a:cs typeface="Times New Roman"/>
              </a:rPr>
              <a:t> </a:t>
            </a:r>
            <a:r>
              <a:rPr sz="700" spc="35" dirty="0">
                <a:latin typeface="Times New Roman"/>
                <a:cs typeface="Times New Roman"/>
              </a:rPr>
              <a:t>s.send(msg.encode())</a:t>
            </a:r>
            <a:r>
              <a:rPr sz="700" dirty="0">
                <a:latin typeface="Times New Roman"/>
                <a:cs typeface="Times New Roman"/>
              </a:rPr>
              <a:t>	</a:t>
            </a:r>
            <a:r>
              <a:rPr sz="700" i="1" spc="65" dirty="0">
                <a:solidFill>
                  <a:srgbClr val="009600"/>
                </a:solidFill>
                <a:latin typeface="Times New Roman"/>
                <a:cs typeface="Times New Roman"/>
              </a:rPr>
              <a:t>#</a:t>
            </a:r>
            <a:r>
              <a:rPr sz="700" i="1" spc="80" dirty="0">
                <a:solidFill>
                  <a:srgbClr val="009600"/>
                </a:solidFill>
                <a:latin typeface="Times New Roman"/>
                <a:cs typeface="Times New Roman"/>
              </a:rPr>
              <a:t> </a:t>
            </a:r>
            <a:r>
              <a:rPr sz="700" i="1" spc="50" dirty="0">
                <a:solidFill>
                  <a:srgbClr val="009600"/>
                </a:solidFill>
                <a:latin typeface="Times New Roman"/>
                <a:cs typeface="Times New Roman"/>
              </a:rPr>
              <a:t>send</a:t>
            </a:r>
            <a:r>
              <a:rPr sz="700" i="1" spc="65" dirty="0">
                <a:solidFill>
                  <a:srgbClr val="009600"/>
                </a:solidFill>
                <a:latin typeface="Times New Roman"/>
                <a:cs typeface="Times New Roman"/>
              </a:rPr>
              <a:t> </a:t>
            </a:r>
            <a:r>
              <a:rPr sz="700" i="1" spc="95" dirty="0">
                <a:solidFill>
                  <a:srgbClr val="009600"/>
                </a:solidFill>
                <a:latin typeface="Times New Roman"/>
                <a:cs typeface="Times New Roman"/>
              </a:rPr>
              <a:t>the</a:t>
            </a:r>
            <a:r>
              <a:rPr sz="700" i="1" spc="65" dirty="0">
                <a:solidFill>
                  <a:srgbClr val="009600"/>
                </a:solidFill>
                <a:latin typeface="Times New Roman"/>
                <a:cs typeface="Times New Roman"/>
              </a:rPr>
              <a:t> </a:t>
            </a:r>
            <a:r>
              <a:rPr sz="700" i="1" spc="-10" dirty="0">
                <a:solidFill>
                  <a:srgbClr val="009600"/>
                </a:solidFill>
                <a:latin typeface="Times New Roman"/>
                <a:cs typeface="Times New Roman"/>
              </a:rPr>
              <a:t>message</a:t>
            </a:r>
            <a:endParaRPr sz="700">
              <a:latin typeface="Times New Roman"/>
              <a:cs typeface="Times New Roman"/>
            </a:endParaRPr>
          </a:p>
          <a:p>
            <a:pPr marL="63500">
              <a:lnSpc>
                <a:spcPts val="715"/>
              </a:lnSpc>
              <a:tabLst>
                <a:tab pos="1235075" algn="l"/>
              </a:tabLst>
            </a:pPr>
            <a:r>
              <a:rPr sz="500" dirty="0">
                <a:latin typeface="Times New Roman"/>
                <a:cs typeface="Times New Roman"/>
              </a:rPr>
              <a:t>7</a:t>
            </a:r>
            <a:r>
              <a:rPr sz="500" spc="445" dirty="0">
                <a:latin typeface="Times New Roman"/>
                <a:cs typeface="Times New Roman"/>
              </a:rPr>
              <a:t> </a:t>
            </a:r>
            <a:r>
              <a:rPr sz="700" spc="80" dirty="0">
                <a:latin typeface="Times New Roman"/>
                <a:cs typeface="Times New Roman"/>
              </a:rPr>
              <a:t>data</a:t>
            </a:r>
            <a:r>
              <a:rPr sz="700" spc="100" dirty="0">
                <a:latin typeface="Times New Roman"/>
                <a:cs typeface="Times New Roman"/>
              </a:rPr>
              <a:t> </a:t>
            </a:r>
            <a:r>
              <a:rPr sz="700" dirty="0">
                <a:latin typeface="Times New Roman"/>
                <a:cs typeface="Times New Roman"/>
              </a:rPr>
              <a:t>=</a:t>
            </a:r>
            <a:r>
              <a:rPr sz="700" spc="114" dirty="0">
                <a:latin typeface="Times New Roman"/>
                <a:cs typeface="Times New Roman"/>
              </a:rPr>
              <a:t> </a:t>
            </a:r>
            <a:r>
              <a:rPr sz="700" spc="45" dirty="0">
                <a:latin typeface="Times New Roman"/>
                <a:cs typeface="Times New Roman"/>
              </a:rPr>
              <a:t>s.recv(1024)</a:t>
            </a:r>
            <a:r>
              <a:rPr sz="700" dirty="0">
                <a:latin typeface="Times New Roman"/>
                <a:cs typeface="Times New Roman"/>
              </a:rPr>
              <a:t>	</a:t>
            </a:r>
            <a:r>
              <a:rPr sz="700" i="1" spc="65" dirty="0">
                <a:solidFill>
                  <a:srgbClr val="009600"/>
                </a:solidFill>
                <a:latin typeface="Times New Roman"/>
                <a:cs typeface="Times New Roman"/>
              </a:rPr>
              <a:t>#</a:t>
            </a:r>
            <a:r>
              <a:rPr sz="700" i="1" spc="80" dirty="0">
                <a:solidFill>
                  <a:srgbClr val="009600"/>
                </a:solidFill>
                <a:latin typeface="Times New Roman"/>
                <a:cs typeface="Times New Roman"/>
              </a:rPr>
              <a:t> </a:t>
            </a:r>
            <a:r>
              <a:rPr sz="700" i="1" spc="70" dirty="0">
                <a:solidFill>
                  <a:srgbClr val="009600"/>
                </a:solidFill>
                <a:latin typeface="Times New Roman"/>
                <a:cs typeface="Times New Roman"/>
              </a:rPr>
              <a:t>receive</a:t>
            </a:r>
            <a:r>
              <a:rPr sz="700" i="1" spc="65" dirty="0">
                <a:solidFill>
                  <a:srgbClr val="009600"/>
                </a:solidFill>
                <a:latin typeface="Times New Roman"/>
                <a:cs typeface="Times New Roman"/>
              </a:rPr>
              <a:t> </a:t>
            </a:r>
            <a:r>
              <a:rPr sz="700" i="1" spc="95" dirty="0">
                <a:solidFill>
                  <a:srgbClr val="009600"/>
                </a:solidFill>
                <a:latin typeface="Times New Roman"/>
                <a:cs typeface="Times New Roman"/>
              </a:rPr>
              <a:t>the</a:t>
            </a:r>
            <a:r>
              <a:rPr sz="700" i="1" spc="60" dirty="0">
                <a:solidFill>
                  <a:srgbClr val="009600"/>
                </a:solidFill>
                <a:latin typeface="Times New Roman"/>
                <a:cs typeface="Times New Roman"/>
              </a:rPr>
              <a:t> </a:t>
            </a:r>
            <a:r>
              <a:rPr sz="700" i="1" spc="35" dirty="0">
                <a:solidFill>
                  <a:srgbClr val="009600"/>
                </a:solidFill>
                <a:latin typeface="Times New Roman"/>
                <a:cs typeface="Times New Roman"/>
              </a:rPr>
              <a:t>response</a:t>
            </a:r>
            <a:endParaRPr sz="700">
              <a:latin typeface="Times New Roman"/>
              <a:cs typeface="Times New Roman"/>
            </a:endParaRPr>
          </a:p>
          <a:p>
            <a:pPr marL="63500">
              <a:lnSpc>
                <a:spcPts val="715"/>
              </a:lnSpc>
              <a:tabLst>
                <a:tab pos="1235075" algn="l"/>
              </a:tabLst>
            </a:pPr>
            <a:r>
              <a:rPr sz="500" dirty="0">
                <a:latin typeface="Times New Roman"/>
                <a:cs typeface="Times New Roman"/>
              </a:rPr>
              <a:t>8</a:t>
            </a:r>
            <a:r>
              <a:rPr sz="500" spc="455" dirty="0">
                <a:latin typeface="Times New Roman"/>
                <a:cs typeface="Times New Roman"/>
              </a:rPr>
              <a:t> </a:t>
            </a:r>
            <a:r>
              <a:rPr sz="700" b="1" spc="50" dirty="0">
                <a:solidFill>
                  <a:srgbClr val="FF0059"/>
                </a:solidFill>
                <a:latin typeface="Times New Roman"/>
                <a:cs typeface="Times New Roman"/>
              </a:rPr>
              <a:t>print</a:t>
            </a:r>
            <a:r>
              <a:rPr sz="700" spc="50" dirty="0">
                <a:latin typeface="Times New Roman"/>
                <a:cs typeface="Times New Roman"/>
              </a:rPr>
              <a:t>(data.decode())</a:t>
            </a:r>
            <a:r>
              <a:rPr sz="700" dirty="0">
                <a:latin typeface="Times New Roman"/>
                <a:cs typeface="Times New Roman"/>
              </a:rPr>
              <a:t>	</a:t>
            </a:r>
            <a:r>
              <a:rPr sz="700" i="1" spc="65" dirty="0">
                <a:solidFill>
                  <a:srgbClr val="009600"/>
                </a:solidFill>
                <a:latin typeface="Times New Roman"/>
                <a:cs typeface="Times New Roman"/>
              </a:rPr>
              <a:t>#</a:t>
            </a:r>
            <a:r>
              <a:rPr sz="700" i="1" spc="80" dirty="0">
                <a:solidFill>
                  <a:srgbClr val="009600"/>
                </a:solidFill>
                <a:latin typeface="Times New Roman"/>
                <a:cs typeface="Times New Roman"/>
              </a:rPr>
              <a:t> </a:t>
            </a:r>
            <a:r>
              <a:rPr sz="700" i="1" spc="95" dirty="0">
                <a:solidFill>
                  <a:srgbClr val="009600"/>
                </a:solidFill>
                <a:latin typeface="Times New Roman"/>
                <a:cs typeface="Times New Roman"/>
              </a:rPr>
              <a:t>print</a:t>
            </a:r>
            <a:r>
              <a:rPr sz="700" i="1" spc="65" dirty="0">
                <a:solidFill>
                  <a:srgbClr val="009600"/>
                </a:solidFill>
                <a:latin typeface="Times New Roman"/>
                <a:cs typeface="Times New Roman"/>
              </a:rPr>
              <a:t> </a:t>
            </a:r>
            <a:r>
              <a:rPr sz="700" i="1" spc="95" dirty="0">
                <a:solidFill>
                  <a:srgbClr val="009600"/>
                </a:solidFill>
                <a:latin typeface="Times New Roman"/>
                <a:cs typeface="Times New Roman"/>
              </a:rPr>
              <a:t>the</a:t>
            </a:r>
            <a:r>
              <a:rPr sz="700" i="1" spc="65" dirty="0">
                <a:solidFill>
                  <a:srgbClr val="009600"/>
                </a:solidFill>
                <a:latin typeface="Times New Roman"/>
                <a:cs typeface="Times New Roman"/>
              </a:rPr>
              <a:t> </a:t>
            </a:r>
            <a:r>
              <a:rPr sz="700" i="1" spc="90" dirty="0">
                <a:solidFill>
                  <a:srgbClr val="009600"/>
                </a:solidFill>
                <a:latin typeface="Times New Roman"/>
                <a:cs typeface="Times New Roman"/>
              </a:rPr>
              <a:t>result</a:t>
            </a:r>
            <a:endParaRPr sz="700">
              <a:latin typeface="Times New Roman"/>
              <a:cs typeface="Times New Roman"/>
            </a:endParaRPr>
          </a:p>
          <a:p>
            <a:pPr marL="63500">
              <a:lnSpc>
                <a:spcPts val="780"/>
              </a:lnSpc>
              <a:tabLst>
                <a:tab pos="1235075" algn="l"/>
              </a:tabLst>
            </a:pPr>
            <a:r>
              <a:rPr sz="500" dirty="0">
                <a:latin typeface="Times New Roman"/>
                <a:cs typeface="Times New Roman"/>
              </a:rPr>
              <a:t>9</a:t>
            </a:r>
            <a:r>
              <a:rPr sz="500" spc="480" dirty="0">
                <a:latin typeface="Times New Roman"/>
                <a:cs typeface="Times New Roman"/>
              </a:rPr>
              <a:t> </a:t>
            </a:r>
            <a:r>
              <a:rPr sz="700" spc="80" dirty="0">
                <a:latin typeface="Times New Roman"/>
                <a:cs typeface="Times New Roman"/>
              </a:rPr>
              <a:t>s.close()</a:t>
            </a:r>
            <a:r>
              <a:rPr sz="700" dirty="0">
                <a:latin typeface="Times New Roman"/>
                <a:cs typeface="Times New Roman"/>
              </a:rPr>
              <a:t>	</a:t>
            </a:r>
            <a:r>
              <a:rPr sz="700" i="1" spc="65" dirty="0">
                <a:solidFill>
                  <a:srgbClr val="009600"/>
                </a:solidFill>
                <a:latin typeface="Times New Roman"/>
                <a:cs typeface="Times New Roman"/>
              </a:rPr>
              <a:t>#</a:t>
            </a:r>
            <a:r>
              <a:rPr sz="700" i="1" spc="80" dirty="0">
                <a:solidFill>
                  <a:srgbClr val="009600"/>
                </a:solidFill>
                <a:latin typeface="Times New Roman"/>
                <a:cs typeface="Times New Roman"/>
              </a:rPr>
              <a:t> close</a:t>
            </a:r>
            <a:r>
              <a:rPr sz="700" i="1" spc="65" dirty="0">
                <a:solidFill>
                  <a:srgbClr val="009600"/>
                </a:solidFill>
                <a:latin typeface="Times New Roman"/>
                <a:cs typeface="Times New Roman"/>
              </a:rPr>
              <a:t> </a:t>
            </a:r>
            <a:r>
              <a:rPr sz="700" i="1" spc="95" dirty="0">
                <a:solidFill>
                  <a:srgbClr val="009600"/>
                </a:solidFill>
                <a:latin typeface="Times New Roman"/>
                <a:cs typeface="Times New Roman"/>
              </a:rPr>
              <a:t>the</a:t>
            </a:r>
            <a:r>
              <a:rPr sz="700" i="1" spc="55" dirty="0">
                <a:solidFill>
                  <a:srgbClr val="009600"/>
                </a:solidFill>
                <a:latin typeface="Times New Roman"/>
                <a:cs typeface="Times New Roman"/>
              </a:rPr>
              <a:t> </a:t>
            </a:r>
            <a:r>
              <a:rPr sz="700" i="1" spc="40" dirty="0">
                <a:solidFill>
                  <a:srgbClr val="009600"/>
                </a:solidFill>
                <a:latin typeface="Times New Roman"/>
                <a:cs typeface="Times New Roman"/>
              </a:rPr>
              <a:t>connection</a:t>
            </a:r>
            <a:endParaRPr sz="700">
              <a:latin typeface="Times New Roman"/>
              <a:cs typeface="Times New Roman"/>
            </a:endParaRPr>
          </a:p>
        </p:txBody>
      </p:sp>
      <p:grpSp>
        <p:nvGrpSpPr>
          <p:cNvPr id="10" name="object 10"/>
          <p:cNvGrpSpPr/>
          <p:nvPr/>
        </p:nvGrpSpPr>
        <p:grpSpPr>
          <a:xfrm>
            <a:off x="0" y="3348469"/>
            <a:ext cx="4608195" cy="107950"/>
            <a:chOff x="0" y="3348469"/>
            <a:chExt cx="4608195" cy="107950"/>
          </a:xfrm>
        </p:grpSpPr>
        <p:sp>
          <p:nvSpPr>
            <p:cNvPr id="11" name="object 11"/>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2" name="object 12"/>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3" name="object 13"/>
          <p:cNvSpPr txBox="1"/>
          <p:nvPr/>
        </p:nvSpPr>
        <p:spPr>
          <a:xfrm>
            <a:off x="53467" y="3349927"/>
            <a:ext cx="63055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Layered</a:t>
            </a:r>
            <a:r>
              <a:rPr sz="500" spc="20" dirty="0">
                <a:latin typeface="Arial"/>
                <a:cs typeface="Arial"/>
                <a:hlinkClick r:id="rId3" action="ppaction://hlinksldjump"/>
              </a:rPr>
              <a:t> </a:t>
            </a:r>
            <a:r>
              <a:rPr sz="500" spc="-10" dirty="0">
                <a:latin typeface="Arial"/>
                <a:cs typeface="Arial"/>
                <a:hlinkClick r:id="rId3" action="ppaction://hlinksldjump"/>
              </a:rPr>
              <a:t>architectures</a:t>
            </a:r>
            <a:endParaRPr sz="500">
              <a:latin typeface="Arial"/>
              <a:cs typeface="Arial"/>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57954" algn="l"/>
              </a:tabLst>
            </a:pPr>
            <a:r>
              <a:rPr sz="500" spc="-10" dirty="0">
                <a:latin typeface="Arial"/>
                <a:cs typeface="Arial"/>
                <a:hlinkClick r:id="rId2" action="ppaction://hlinksldjump"/>
              </a:rPr>
              <a:t>Architectures</a:t>
            </a:r>
            <a:r>
              <a:rPr sz="500" dirty="0">
                <a:latin typeface="Arial"/>
                <a:cs typeface="Arial"/>
              </a:rPr>
              <a:t>	</a:t>
            </a:r>
            <a:r>
              <a:rPr sz="500" spc="-10" dirty="0">
                <a:solidFill>
                  <a:srgbClr val="FFFFFF"/>
                </a:solidFill>
                <a:latin typeface="Arial"/>
                <a:cs typeface="Arial"/>
                <a:hlinkClick r:id="rId2" action="ppaction://hlinksldjump"/>
              </a:rPr>
              <a:t>Architectural</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styles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Application</a:t>
            </a:r>
            <a:r>
              <a:rPr spc="-65" dirty="0"/>
              <a:t> </a:t>
            </a:r>
            <a:r>
              <a:rPr spc="-10" dirty="0"/>
              <a:t>Layering</a:t>
            </a:r>
          </a:p>
        </p:txBody>
      </p:sp>
      <p:sp>
        <p:nvSpPr>
          <p:cNvPr id="4" name="object 4"/>
          <p:cNvSpPr txBox="1"/>
          <p:nvPr/>
        </p:nvSpPr>
        <p:spPr>
          <a:xfrm>
            <a:off x="330682" y="514774"/>
            <a:ext cx="3941445" cy="1169035"/>
          </a:xfrm>
          <a:prstGeom prst="rect">
            <a:avLst/>
          </a:prstGeom>
        </p:spPr>
        <p:txBody>
          <a:bodyPr vert="horz" wrap="square" lIns="0" tIns="12065" rIns="0" bIns="0" rtlCol="0">
            <a:spAutoFit/>
          </a:bodyPr>
          <a:lstStyle/>
          <a:p>
            <a:pPr marL="25400">
              <a:lnSpc>
                <a:spcPct val="100000"/>
              </a:lnSpc>
              <a:spcBef>
                <a:spcPts val="95"/>
              </a:spcBef>
            </a:pPr>
            <a:r>
              <a:rPr sz="1000" spc="-20" dirty="0">
                <a:solidFill>
                  <a:srgbClr val="3333B2"/>
                </a:solidFill>
                <a:latin typeface="Arial"/>
                <a:cs typeface="Arial"/>
              </a:rPr>
              <a:t>Traditional</a:t>
            </a:r>
            <a:r>
              <a:rPr sz="1000" spc="25" dirty="0">
                <a:solidFill>
                  <a:srgbClr val="3333B2"/>
                </a:solidFill>
                <a:latin typeface="Arial"/>
                <a:cs typeface="Arial"/>
              </a:rPr>
              <a:t> </a:t>
            </a:r>
            <a:r>
              <a:rPr sz="1000" spc="-10" dirty="0">
                <a:solidFill>
                  <a:srgbClr val="3333B2"/>
                </a:solidFill>
                <a:latin typeface="Arial"/>
                <a:cs typeface="Arial"/>
              </a:rPr>
              <a:t>three-layered</a:t>
            </a:r>
            <a:r>
              <a:rPr sz="1000" spc="25" dirty="0">
                <a:solidFill>
                  <a:srgbClr val="3333B2"/>
                </a:solidFill>
                <a:latin typeface="Arial"/>
                <a:cs typeface="Arial"/>
              </a:rPr>
              <a:t> </a:t>
            </a:r>
            <a:r>
              <a:rPr sz="1000" spc="-20" dirty="0">
                <a:solidFill>
                  <a:srgbClr val="3333B2"/>
                </a:solidFill>
                <a:latin typeface="Arial"/>
                <a:cs typeface="Arial"/>
              </a:rPr>
              <a:t>view</a:t>
            </a:r>
            <a:endParaRPr sz="1000">
              <a:latin typeface="Arial"/>
              <a:cs typeface="Arial"/>
            </a:endParaRPr>
          </a:p>
          <a:p>
            <a:pPr marL="281940" marR="337820" indent="-120650">
              <a:lnSpc>
                <a:spcPct val="111600"/>
              </a:lnSpc>
              <a:spcBef>
                <a:spcPts val="575"/>
              </a:spcBef>
              <a:buFont typeface="Apple Symbols"/>
              <a:buChar char="•"/>
              <a:tabLst>
                <a:tab pos="282575" algn="l"/>
              </a:tabLst>
            </a:pPr>
            <a:r>
              <a:rPr sz="900" spc="-10" dirty="0">
                <a:solidFill>
                  <a:srgbClr val="3333B2"/>
                </a:solidFill>
                <a:latin typeface="Arial"/>
                <a:cs typeface="Arial"/>
              </a:rPr>
              <a:t>Application-interface layer</a:t>
            </a:r>
            <a:r>
              <a:rPr sz="900" spc="-5" dirty="0">
                <a:solidFill>
                  <a:srgbClr val="3333B2"/>
                </a:solidFill>
                <a:latin typeface="Arial"/>
                <a:cs typeface="Arial"/>
              </a:rPr>
              <a:t> </a:t>
            </a:r>
            <a:r>
              <a:rPr sz="900" dirty="0">
                <a:latin typeface="Arial"/>
                <a:cs typeface="Arial"/>
              </a:rPr>
              <a:t>contains</a:t>
            </a:r>
            <a:r>
              <a:rPr sz="900" spc="-5" dirty="0">
                <a:latin typeface="Arial"/>
                <a:cs typeface="Arial"/>
              </a:rPr>
              <a:t> </a:t>
            </a:r>
            <a:r>
              <a:rPr sz="900" dirty="0">
                <a:latin typeface="Arial"/>
                <a:cs typeface="Arial"/>
              </a:rPr>
              <a:t>units</a:t>
            </a:r>
            <a:r>
              <a:rPr sz="900" spc="-5" dirty="0">
                <a:latin typeface="Arial"/>
                <a:cs typeface="Arial"/>
              </a:rPr>
              <a:t> </a:t>
            </a:r>
            <a:r>
              <a:rPr sz="900" dirty="0">
                <a:latin typeface="Arial"/>
                <a:cs typeface="Arial"/>
              </a:rPr>
              <a:t>for</a:t>
            </a:r>
            <a:r>
              <a:rPr sz="900" spc="-5" dirty="0">
                <a:latin typeface="Arial"/>
                <a:cs typeface="Arial"/>
              </a:rPr>
              <a:t> </a:t>
            </a:r>
            <a:r>
              <a:rPr sz="900" spc="-10" dirty="0">
                <a:latin typeface="Arial"/>
                <a:cs typeface="Arial"/>
              </a:rPr>
              <a:t>interfacing</a:t>
            </a:r>
            <a:r>
              <a:rPr sz="900" spc="-5" dirty="0">
                <a:latin typeface="Arial"/>
                <a:cs typeface="Arial"/>
              </a:rPr>
              <a:t> </a:t>
            </a:r>
            <a:r>
              <a:rPr sz="900" dirty="0">
                <a:latin typeface="Arial"/>
                <a:cs typeface="Arial"/>
              </a:rPr>
              <a:t>to</a:t>
            </a:r>
            <a:r>
              <a:rPr sz="900" spc="-5" dirty="0">
                <a:latin typeface="Arial"/>
                <a:cs typeface="Arial"/>
              </a:rPr>
              <a:t> </a:t>
            </a:r>
            <a:r>
              <a:rPr sz="900" dirty="0">
                <a:latin typeface="Arial"/>
                <a:cs typeface="Arial"/>
              </a:rPr>
              <a:t>users</a:t>
            </a:r>
            <a:r>
              <a:rPr sz="900" spc="-10" dirty="0">
                <a:latin typeface="Arial"/>
                <a:cs typeface="Arial"/>
              </a:rPr>
              <a:t> </a:t>
            </a:r>
            <a:r>
              <a:rPr sz="900" spc="-35" dirty="0">
                <a:latin typeface="Arial"/>
                <a:cs typeface="Arial"/>
              </a:rPr>
              <a:t>or </a:t>
            </a:r>
            <a:r>
              <a:rPr sz="900" dirty="0">
                <a:latin typeface="Arial"/>
                <a:cs typeface="Arial"/>
              </a:rPr>
              <a:t>external</a:t>
            </a:r>
            <a:r>
              <a:rPr sz="900" spc="-50" dirty="0">
                <a:latin typeface="Arial"/>
                <a:cs typeface="Arial"/>
              </a:rPr>
              <a:t> </a:t>
            </a:r>
            <a:r>
              <a:rPr sz="900" spc="-10" dirty="0">
                <a:latin typeface="Arial"/>
                <a:cs typeface="Arial"/>
              </a:rPr>
              <a:t>applications</a:t>
            </a:r>
            <a:endParaRPr sz="900">
              <a:latin typeface="Arial"/>
              <a:cs typeface="Arial"/>
            </a:endParaRPr>
          </a:p>
          <a:p>
            <a:pPr marL="281940" marR="183515" indent="-120650">
              <a:lnSpc>
                <a:spcPct val="111600"/>
              </a:lnSpc>
              <a:buFont typeface="Apple Symbols"/>
              <a:buChar char="•"/>
              <a:tabLst>
                <a:tab pos="282575" algn="l"/>
              </a:tabLst>
            </a:pPr>
            <a:r>
              <a:rPr sz="900" dirty="0">
                <a:solidFill>
                  <a:srgbClr val="3333B2"/>
                </a:solidFill>
                <a:latin typeface="Arial"/>
                <a:cs typeface="Arial"/>
              </a:rPr>
              <a:t>Processing</a:t>
            </a:r>
            <a:r>
              <a:rPr sz="900" spc="-35" dirty="0">
                <a:solidFill>
                  <a:srgbClr val="3333B2"/>
                </a:solidFill>
                <a:latin typeface="Arial"/>
                <a:cs typeface="Arial"/>
              </a:rPr>
              <a:t> </a:t>
            </a:r>
            <a:r>
              <a:rPr sz="900" spc="-10" dirty="0">
                <a:solidFill>
                  <a:srgbClr val="3333B2"/>
                </a:solidFill>
                <a:latin typeface="Arial"/>
                <a:cs typeface="Arial"/>
              </a:rPr>
              <a:t>layer</a:t>
            </a:r>
            <a:r>
              <a:rPr sz="900" spc="-30" dirty="0">
                <a:solidFill>
                  <a:srgbClr val="3333B2"/>
                </a:solidFill>
                <a:latin typeface="Arial"/>
                <a:cs typeface="Arial"/>
              </a:rPr>
              <a:t> </a:t>
            </a:r>
            <a:r>
              <a:rPr sz="900" dirty="0">
                <a:latin typeface="Arial"/>
                <a:cs typeface="Arial"/>
              </a:rPr>
              <a:t>contains</a:t>
            </a:r>
            <a:r>
              <a:rPr sz="900" spc="-30" dirty="0">
                <a:latin typeface="Arial"/>
                <a:cs typeface="Arial"/>
              </a:rPr>
              <a:t> </a:t>
            </a:r>
            <a:r>
              <a:rPr sz="900" dirty="0">
                <a:latin typeface="Arial"/>
                <a:cs typeface="Arial"/>
              </a:rPr>
              <a:t>the</a:t>
            </a:r>
            <a:r>
              <a:rPr sz="900" spc="-35" dirty="0">
                <a:latin typeface="Arial"/>
                <a:cs typeface="Arial"/>
              </a:rPr>
              <a:t> </a:t>
            </a:r>
            <a:r>
              <a:rPr sz="900" dirty="0">
                <a:latin typeface="Arial"/>
                <a:cs typeface="Arial"/>
              </a:rPr>
              <a:t>functions</a:t>
            </a:r>
            <a:r>
              <a:rPr sz="900" spc="-30" dirty="0">
                <a:latin typeface="Arial"/>
                <a:cs typeface="Arial"/>
              </a:rPr>
              <a:t> </a:t>
            </a:r>
            <a:r>
              <a:rPr sz="900" dirty="0">
                <a:latin typeface="Arial"/>
                <a:cs typeface="Arial"/>
              </a:rPr>
              <a:t>of</a:t>
            </a:r>
            <a:r>
              <a:rPr sz="900" spc="-30" dirty="0">
                <a:latin typeface="Arial"/>
                <a:cs typeface="Arial"/>
              </a:rPr>
              <a:t> </a:t>
            </a:r>
            <a:r>
              <a:rPr sz="900" dirty="0">
                <a:latin typeface="Arial"/>
                <a:cs typeface="Arial"/>
              </a:rPr>
              <a:t>an</a:t>
            </a:r>
            <a:r>
              <a:rPr sz="900" spc="-35" dirty="0">
                <a:latin typeface="Arial"/>
                <a:cs typeface="Arial"/>
              </a:rPr>
              <a:t> </a:t>
            </a:r>
            <a:r>
              <a:rPr sz="900" dirty="0">
                <a:latin typeface="Arial"/>
                <a:cs typeface="Arial"/>
              </a:rPr>
              <a:t>application,</a:t>
            </a:r>
            <a:r>
              <a:rPr sz="900" spc="-30" dirty="0">
                <a:latin typeface="Arial"/>
                <a:cs typeface="Arial"/>
              </a:rPr>
              <a:t> </a:t>
            </a:r>
            <a:r>
              <a:rPr sz="900" dirty="0">
                <a:latin typeface="Arial"/>
                <a:cs typeface="Arial"/>
              </a:rPr>
              <a:t>i.e.,</a:t>
            </a:r>
            <a:r>
              <a:rPr sz="900" spc="-30" dirty="0">
                <a:latin typeface="Arial"/>
                <a:cs typeface="Arial"/>
              </a:rPr>
              <a:t> </a:t>
            </a:r>
            <a:r>
              <a:rPr sz="900" spc="-10" dirty="0">
                <a:latin typeface="Arial"/>
                <a:cs typeface="Arial"/>
              </a:rPr>
              <a:t>without </a:t>
            </a:r>
            <a:r>
              <a:rPr sz="900" dirty="0">
                <a:latin typeface="Arial"/>
                <a:cs typeface="Arial"/>
              </a:rPr>
              <a:t>specific</a:t>
            </a:r>
            <a:r>
              <a:rPr sz="900" spc="-45" dirty="0">
                <a:latin typeface="Arial"/>
                <a:cs typeface="Arial"/>
              </a:rPr>
              <a:t> </a:t>
            </a:r>
            <a:r>
              <a:rPr sz="900" spc="-20" dirty="0">
                <a:latin typeface="Arial"/>
                <a:cs typeface="Arial"/>
              </a:rPr>
              <a:t>data</a:t>
            </a:r>
            <a:endParaRPr sz="900">
              <a:latin typeface="Arial"/>
              <a:cs typeface="Arial"/>
            </a:endParaRPr>
          </a:p>
          <a:p>
            <a:pPr marL="281940" marR="17780" indent="-120650">
              <a:lnSpc>
                <a:spcPct val="111600"/>
              </a:lnSpc>
              <a:buFont typeface="Apple Symbols"/>
              <a:buChar char="•"/>
              <a:tabLst>
                <a:tab pos="282575" algn="l"/>
              </a:tabLst>
            </a:pPr>
            <a:r>
              <a:rPr sz="900" dirty="0">
                <a:solidFill>
                  <a:srgbClr val="3333B2"/>
                </a:solidFill>
                <a:latin typeface="Arial"/>
                <a:cs typeface="Arial"/>
              </a:rPr>
              <a:t>Data</a:t>
            </a:r>
            <a:r>
              <a:rPr sz="900" spc="-25" dirty="0">
                <a:solidFill>
                  <a:srgbClr val="3333B2"/>
                </a:solidFill>
                <a:latin typeface="Arial"/>
                <a:cs typeface="Arial"/>
              </a:rPr>
              <a:t> </a:t>
            </a:r>
            <a:r>
              <a:rPr sz="900" spc="-10" dirty="0">
                <a:solidFill>
                  <a:srgbClr val="3333B2"/>
                </a:solidFill>
                <a:latin typeface="Arial"/>
                <a:cs typeface="Arial"/>
              </a:rPr>
              <a:t>layer</a:t>
            </a:r>
            <a:r>
              <a:rPr sz="900" spc="-25" dirty="0">
                <a:solidFill>
                  <a:srgbClr val="3333B2"/>
                </a:solidFill>
                <a:latin typeface="Arial"/>
                <a:cs typeface="Arial"/>
              </a:rPr>
              <a:t> </a:t>
            </a:r>
            <a:r>
              <a:rPr sz="900" spc="-10" dirty="0">
                <a:latin typeface="Arial"/>
                <a:cs typeface="Arial"/>
              </a:rPr>
              <a:t>contains</a:t>
            </a:r>
            <a:r>
              <a:rPr sz="900" spc="-20"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data</a:t>
            </a:r>
            <a:r>
              <a:rPr sz="900" spc="-20"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client</a:t>
            </a:r>
            <a:r>
              <a:rPr sz="900" spc="-25" dirty="0">
                <a:latin typeface="Arial"/>
                <a:cs typeface="Arial"/>
              </a:rPr>
              <a:t> </a:t>
            </a:r>
            <a:r>
              <a:rPr sz="900" spc="-10" dirty="0">
                <a:latin typeface="Arial"/>
                <a:cs typeface="Arial"/>
              </a:rPr>
              <a:t>wants</a:t>
            </a:r>
            <a:r>
              <a:rPr sz="900" spc="-20" dirty="0">
                <a:latin typeface="Arial"/>
                <a:cs typeface="Arial"/>
              </a:rPr>
              <a:t> </a:t>
            </a:r>
            <a:r>
              <a:rPr sz="900" dirty="0">
                <a:latin typeface="Arial"/>
                <a:cs typeface="Arial"/>
              </a:rPr>
              <a:t>to</a:t>
            </a:r>
            <a:r>
              <a:rPr sz="900" spc="-25" dirty="0">
                <a:latin typeface="Arial"/>
                <a:cs typeface="Arial"/>
              </a:rPr>
              <a:t> </a:t>
            </a:r>
            <a:r>
              <a:rPr sz="900" spc="-10" dirty="0">
                <a:latin typeface="Arial"/>
                <a:cs typeface="Arial"/>
              </a:rPr>
              <a:t>manipulate</a:t>
            </a:r>
            <a:r>
              <a:rPr sz="900" spc="-20" dirty="0">
                <a:latin typeface="Arial"/>
                <a:cs typeface="Arial"/>
              </a:rPr>
              <a:t> </a:t>
            </a:r>
            <a:r>
              <a:rPr sz="900" spc="-10" dirty="0">
                <a:latin typeface="Arial"/>
                <a:cs typeface="Arial"/>
              </a:rPr>
              <a:t>through</a:t>
            </a:r>
            <a:r>
              <a:rPr sz="900" spc="-25" dirty="0">
                <a:latin typeface="Arial"/>
                <a:cs typeface="Arial"/>
              </a:rPr>
              <a:t> the </a:t>
            </a:r>
            <a:r>
              <a:rPr sz="900" dirty="0">
                <a:latin typeface="Arial"/>
                <a:cs typeface="Arial"/>
              </a:rPr>
              <a:t>application</a:t>
            </a:r>
            <a:r>
              <a:rPr sz="900" spc="-50" dirty="0">
                <a:latin typeface="Arial"/>
                <a:cs typeface="Arial"/>
              </a:rPr>
              <a:t> </a:t>
            </a:r>
            <a:r>
              <a:rPr sz="900" spc="-10" dirty="0">
                <a:latin typeface="Arial"/>
                <a:cs typeface="Arial"/>
              </a:rPr>
              <a:t>components</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63055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Layered</a:t>
            </a:r>
            <a:r>
              <a:rPr sz="500" spc="20" dirty="0">
                <a:latin typeface="Arial"/>
                <a:cs typeface="Arial"/>
                <a:hlinkClick r:id="rId3" action="ppaction://hlinksldjump"/>
              </a:rPr>
              <a:t> </a:t>
            </a:r>
            <a:r>
              <a:rPr sz="500" spc="-10" dirty="0">
                <a:latin typeface="Arial"/>
                <a:cs typeface="Arial"/>
                <a:hlinkClick r:id="rId3" action="ppaction://hlinksldjump"/>
              </a:rPr>
              <a:t>architectures</a:t>
            </a:r>
            <a:endParaRPr sz="500">
              <a:latin typeface="Arial"/>
              <a:cs typeface="Arial"/>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57954" algn="l"/>
              </a:tabLst>
            </a:pPr>
            <a:r>
              <a:rPr sz="500" spc="-10" dirty="0">
                <a:latin typeface="Arial"/>
                <a:cs typeface="Arial"/>
                <a:hlinkClick r:id="rId2" action="ppaction://hlinksldjump"/>
              </a:rPr>
              <a:t>Architectures</a:t>
            </a:r>
            <a:r>
              <a:rPr sz="500" dirty="0">
                <a:latin typeface="Arial"/>
                <a:cs typeface="Arial"/>
              </a:rPr>
              <a:t>	</a:t>
            </a:r>
            <a:r>
              <a:rPr sz="500" spc="-10" dirty="0">
                <a:solidFill>
                  <a:srgbClr val="FFFFFF"/>
                </a:solidFill>
                <a:latin typeface="Arial"/>
                <a:cs typeface="Arial"/>
                <a:hlinkClick r:id="rId2" action="ppaction://hlinksldjump"/>
              </a:rPr>
              <a:t>Architectural</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styles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Application</a:t>
            </a:r>
            <a:r>
              <a:rPr spc="-65" dirty="0"/>
              <a:t> </a:t>
            </a:r>
            <a:r>
              <a:rPr spc="-10" dirty="0"/>
              <a:t>Layering</a:t>
            </a:r>
          </a:p>
        </p:txBody>
      </p:sp>
      <p:sp>
        <p:nvSpPr>
          <p:cNvPr id="4" name="object 4"/>
          <p:cNvSpPr txBox="1"/>
          <p:nvPr/>
        </p:nvSpPr>
        <p:spPr>
          <a:xfrm>
            <a:off x="317982" y="514774"/>
            <a:ext cx="3966845" cy="1802764"/>
          </a:xfrm>
          <a:prstGeom prst="rect">
            <a:avLst/>
          </a:prstGeom>
        </p:spPr>
        <p:txBody>
          <a:bodyPr vert="horz" wrap="square" lIns="0" tIns="12065" rIns="0" bIns="0" rtlCol="0">
            <a:spAutoFit/>
          </a:bodyPr>
          <a:lstStyle/>
          <a:p>
            <a:pPr marL="38100">
              <a:lnSpc>
                <a:spcPct val="100000"/>
              </a:lnSpc>
              <a:spcBef>
                <a:spcPts val="95"/>
              </a:spcBef>
            </a:pPr>
            <a:r>
              <a:rPr sz="1000" spc="-20" dirty="0">
                <a:solidFill>
                  <a:srgbClr val="3333B2"/>
                </a:solidFill>
                <a:latin typeface="Arial"/>
                <a:cs typeface="Arial"/>
              </a:rPr>
              <a:t>Traditional</a:t>
            </a:r>
            <a:r>
              <a:rPr sz="1000" spc="25" dirty="0">
                <a:solidFill>
                  <a:srgbClr val="3333B2"/>
                </a:solidFill>
                <a:latin typeface="Arial"/>
                <a:cs typeface="Arial"/>
              </a:rPr>
              <a:t> </a:t>
            </a:r>
            <a:r>
              <a:rPr sz="1000" spc="-10" dirty="0">
                <a:solidFill>
                  <a:srgbClr val="3333B2"/>
                </a:solidFill>
                <a:latin typeface="Arial"/>
                <a:cs typeface="Arial"/>
              </a:rPr>
              <a:t>three-layered</a:t>
            </a:r>
            <a:r>
              <a:rPr sz="1000" spc="25" dirty="0">
                <a:solidFill>
                  <a:srgbClr val="3333B2"/>
                </a:solidFill>
                <a:latin typeface="Arial"/>
                <a:cs typeface="Arial"/>
              </a:rPr>
              <a:t> </a:t>
            </a:r>
            <a:r>
              <a:rPr sz="1000" spc="-20" dirty="0">
                <a:solidFill>
                  <a:srgbClr val="3333B2"/>
                </a:solidFill>
                <a:latin typeface="Arial"/>
                <a:cs typeface="Arial"/>
              </a:rPr>
              <a:t>view</a:t>
            </a:r>
            <a:endParaRPr sz="1000" dirty="0">
              <a:latin typeface="Arial"/>
              <a:cs typeface="Arial"/>
            </a:endParaRPr>
          </a:p>
          <a:p>
            <a:pPr marL="294640" marR="350520" indent="-120650">
              <a:lnSpc>
                <a:spcPct val="111600"/>
              </a:lnSpc>
              <a:spcBef>
                <a:spcPts val="575"/>
              </a:spcBef>
              <a:buFont typeface="Apple Symbols"/>
              <a:buChar char="•"/>
              <a:tabLst>
                <a:tab pos="295275" algn="l"/>
              </a:tabLst>
            </a:pPr>
            <a:r>
              <a:rPr sz="900" spc="-10" dirty="0">
                <a:solidFill>
                  <a:srgbClr val="3333B2"/>
                </a:solidFill>
                <a:latin typeface="Arial"/>
                <a:cs typeface="Arial"/>
              </a:rPr>
              <a:t>Application-interface layer</a:t>
            </a:r>
            <a:r>
              <a:rPr sz="900" spc="-5" dirty="0">
                <a:solidFill>
                  <a:srgbClr val="3333B2"/>
                </a:solidFill>
                <a:latin typeface="Arial"/>
                <a:cs typeface="Arial"/>
              </a:rPr>
              <a:t> </a:t>
            </a:r>
            <a:r>
              <a:rPr sz="900" dirty="0">
                <a:latin typeface="Arial"/>
                <a:cs typeface="Arial"/>
              </a:rPr>
              <a:t>contains</a:t>
            </a:r>
            <a:r>
              <a:rPr sz="900" spc="-5" dirty="0">
                <a:latin typeface="Arial"/>
                <a:cs typeface="Arial"/>
              </a:rPr>
              <a:t> </a:t>
            </a:r>
            <a:r>
              <a:rPr sz="900" dirty="0">
                <a:latin typeface="Arial"/>
                <a:cs typeface="Arial"/>
              </a:rPr>
              <a:t>units</a:t>
            </a:r>
            <a:r>
              <a:rPr sz="900" spc="-5" dirty="0">
                <a:latin typeface="Arial"/>
                <a:cs typeface="Arial"/>
              </a:rPr>
              <a:t> </a:t>
            </a:r>
            <a:r>
              <a:rPr sz="900" dirty="0">
                <a:latin typeface="Arial"/>
                <a:cs typeface="Arial"/>
              </a:rPr>
              <a:t>for</a:t>
            </a:r>
            <a:r>
              <a:rPr sz="900" spc="-5" dirty="0">
                <a:latin typeface="Arial"/>
                <a:cs typeface="Arial"/>
              </a:rPr>
              <a:t> </a:t>
            </a:r>
            <a:r>
              <a:rPr sz="900" spc="-10" dirty="0">
                <a:latin typeface="Arial"/>
                <a:cs typeface="Arial"/>
              </a:rPr>
              <a:t>interfacing</a:t>
            </a:r>
            <a:r>
              <a:rPr sz="900" spc="-5" dirty="0">
                <a:latin typeface="Arial"/>
                <a:cs typeface="Arial"/>
              </a:rPr>
              <a:t> </a:t>
            </a:r>
            <a:r>
              <a:rPr sz="900" dirty="0">
                <a:latin typeface="Arial"/>
                <a:cs typeface="Arial"/>
              </a:rPr>
              <a:t>to</a:t>
            </a:r>
            <a:r>
              <a:rPr sz="900" spc="-5" dirty="0">
                <a:latin typeface="Arial"/>
                <a:cs typeface="Arial"/>
              </a:rPr>
              <a:t> </a:t>
            </a:r>
            <a:r>
              <a:rPr sz="900" dirty="0">
                <a:latin typeface="Arial"/>
                <a:cs typeface="Arial"/>
              </a:rPr>
              <a:t>users</a:t>
            </a:r>
            <a:r>
              <a:rPr sz="900" spc="-10" dirty="0">
                <a:latin typeface="Arial"/>
                <a:cs typeface="Arial"/>
              </a:rPr>
              <a:t> </a:t>
            </a:r>
            <a:r>
              <a:rPr sz="900" spc="-35" dirty="0">
                <a:latin typeface="Arial"/>
                <a:cs typeface="Arial"/>
              </a:rPr>
              <a:t>or </a:t>
            </a:r>
            <a:r>
              <a:rPr sz="900" dirty="0">
                <a:latin typeface="Arial"/>
                <a:cs typeface="Arial"/>
              </a:rPr>
              <a:t>external</a:t>
            </a:r>
            <a:r>
              <a:rPr sz="900" spc="-50" dirty="0">
                <a:latin typeface="Arial"/>
                <a:cs typeface="Arial"/>
              </a:rPr>
              <a:t> </a:t>
            </a:r>
            <a:r>
              <a:rPr sz="900" spc="-10" dirty="0">
                <a:latin typeface="Arial"/>
                <a:cs typeface="Arial"/>
              </a:rPr>
              <a:t>applications</a:t>
            </a:r>
            <a:endParaRPr sz="900" dirty="0">
              <a:latin typeface="Arial"/>
              <a:cs typeface="Arial"/>
            </a:endParaRPr>
          </a:p>
          <a:p>
            <a:pPr marL="294640" marR="196215" indent="-120650">
              <a:lnSpc>
                <a:spcPct val="111600"/>
              </a:lnSpc>
              <a:buFont typeface="Apple Symbols"/>
              <a:buChar char="•"/>
              <a:tabLst>
                <a:tab pos="295275" algn="l"/>
              </a:tabLst>
            </a:pPr>
            <a:r>
              <a:rPr sz="900" dirty="0">
                <a:solidFill>
                  <a:srgbClr val="3333B2"/>
                </a:solidFill>
                <a:latin typeface="Arial"/>
                <a:cs typeface="Arial"/>
              </a:rPr>
              <a:t>Processing</a:t>
            </a:r>
            <a:r>
              <a:rPr sz="900" spc="-35" dirty="0">
                <a:solidFill>
                  <a:srgbClr val="3333B2"/>
                </a:solidFill>
                <a:latin typeface="Arial"/>
                <a:cs typeface="Arial"/>
              </a:rPr>
              <a:t> </a:t>
            </a:r>
            <a:r>
              <a:rPr sz="900" spc="-10" dirty="0">
                <a:solidFill>
                  <a:srgbClr val="3333B2"/>
                </a:solidFill>
                <a:latin typeface="Arial"/>
                <a:cs typeface="Arial"/>
              </a:rPr>
              <a:t>layer</a:t>
            </a:r>
            <a:r>
              <a:rPr sz="900" spc="-30" dirty="0">
                <a:solidFill>
                  <a:srgbClr val="3333B2"/>
                </a:solidFill>
                <a:latin typeface="Arial"/>
                <a:cs typeface="Arial"/>
              </a:rPr>
              <a:t> </a:t>
            </a:r>
            <a:r>
              <a:rPr sz="900" dirty="0">
                <a:latin typeface="Arial"/>
                <a:cs typeface="Arial"/>
              </a:rPr>
              <a:t>contains</a:t>
            </a:r>
            <a:r>
              <a:rPr sz="900" spc="-30" dirty="0">
                <a:latin typeface="Arial"/>
                <a:cs typeface="Arial"/>
              </a:rPr>
              <a:t> </a:t>
            </a:r>
            <a:r>
              <a:rPr sz="900" dirty="0">
                <a:latin typeface="Arial"/>
                <a:cs typeface="Arial"/>
              </a:rPr>
              <a:t>the</a:t>
            </a:r>
            <a:r>
              <a:rPr sz="900" spc="-35" dirty="0">
                <a:latin typeface="Arial"/>
                <a:cs typeface="Arial"/>
              </a:rPr>
              <a:t> </a:t>
            </a:r>
            <a:r>
              <a:rPr sz="900" dirty="0">
                <a:latin typeface="Arial"/>
                <a:cs typeface="Arial"/>
              </a:rPr>
              <a:t>functions</a:t>
            </a:r>
            <a:r>
              <a:rPr sz="900" spc="-30" dirty="0">
                <a:latin typeface="Arial"/>
                <a:cs typeface="Arial"/>
              </a:rPr>
              <a:t> </a:t>
            </a:r>
            <a:r>
              <a:rPr sz="900" dirty="0">
                <a:latin typeface="Arial"/>
                <a:cs typeface="Arial"/>
              </a:rPr>
              <a:t>of</a:t>
            </a:r>
            <a:r>
              <a:rPr sz="900" spc="-30" dirty="0">
                <a:latin typeface="Arial"/>
                <a:cs typeface="Arial"/>
              </a:rPr>
              <a:t> </a:t>
            </a:r>
            <a:r>
              <a:rPr sz="900" dirty="0">
                <a:latin typeface="Arial"/>
                <a:cs typeface="Arial"/>
              </a:rPr>
              <a:t>an</a:t>
            </a:r>
            <a:r>
              <a:rPr sz="900" spc="-35" dirty="0">
                <a:latin typeface="Arial"/>
                <a:cs typeface="Arial"/>
              </a:rPr>
              <a:t> </a:t>
            </a:r>
            <a:r>
              <a:rPr sz="900" dirty="0">
                <a:latin typeface="Arial"/>
                <a:cs typeface="Arial"/>
              </a:rPr>
              <a:t>application,</a:t>
            </a:r>
            <a:r>
              <a:rPr sz="900" spc="-30" dirty="0">
                <a:latin typeface="Arial"/>
                <a:cs typeface="Arial"/>
              </a:rPr>
              <a:t> </a:t>
            </a:r>
            <a:r>
              <a:rPr sz="900" dirty="0">
                <a:latin typeface="Arial"/>
                <a:cs typeface="Arial"/>
              </a:rPr>
              <a:t>i.e.,</a:t>
            </a:r>
            <a:r>
              <a:rPr sz="900" spc="-30" dirty="0">
                <a:latin typeface="Arial"/>
                <a:cs typeface="Arial"/>
              </a:rPr>
              <a:t> </a:t>
            </a:r>
            <a:r>
              <a:rPr sz="900" spc="-10" dirty="0">
                <a:latin typeface="Arial"/>
                <a:cs typeface="Arial"/>
              </a:rPr>
              <a:t>without </a:t>
            </a:r>
            <a:r>
              <a:rPr sz="900" dirty="0">
                <a:latin typeface="Arial"/>
                <a:cs typeface="Arial"/>
              </a:rPr>
              <a:t>specific</a:t>
            </a:r>
            <a:r>
              <a:rPr sz="900" spc="-45" dirty="0">
                <a:latin typeface="Arial"/>
                <a:cs typeface="Arial"/>
              </a:rPr>
              <a:t> </a:t>
            </a:r>
            <a:r>
              <a:rPr sz="900" spc="-20" dirty="0">
                <a:latin typeface="Arial"/>
                <a:cs typeface="Arial"/>
              </a:rPr>
              <a:t>data</a:t>
            </a:r>
            <a:endParaRPr sz="900" dirty="0">
              <a:latin typeface="Arial"/>
              <a:cs typeface="Arial"/>
            </a:endParaRPr>
          </a:p>
          <a:p>
            <a:pPr marL="294640" marR="30480" indent="-120650">
              <a:lnSpc>
                <a:spcPct val="111600"/>
              </a:lnSpc>
              <a:buFont typeface="Apple Symbols"/>
              <a:buChar char="•"/>
              <a:tabLst>
                <a:tab pos="295275" algn="l"/>
              </a:tabLst>
            </a:pPr>
            <a:r>
              <a:rPr sz="900" dirty="0">
                <a:solidFill>
                  <a:srgbClr val="3333B2"/>
                </a:solidFill>
                <a:latin typeface="Arial"/>
                <a:cs typeface="Arial"/>
              </a:rPr>
              <a:t>Data</a:t>
            </a:r>
            <a:r>
              <a:rPr sz="900" spc="-25" dirty="0">
                <a:solidFill>
                  <a:srgbClr val="3333B2"/>
                </a:solidFill>
                <a:latin typeface="Arial"/>
                <a:cs typeface="Arial"/>
              </a:rPr>
              <a:t> </a:t>
            </a:r>
            <a:r>
              <a:rPr sz="900" spc="-10" dirty="0">
                <a:solidFill>
                  <a:srgbClr val="3333B2"/>
                </a:solidFill>
                <a:latin typeface="Arial"/>
                <a:cs typeface="Arial"/>
              </a:rPr>
              <a:t>layer</a:t>
            </a:r>
            <a:r>
              <a:rPr sz="900" spc="-25" dirty="0">
                <a:solidFill>
                  <a:srgbClr val="3333B2"/>
                </a:solidFill>
                <a:latin typeface="Arial"/>
                <a:cs typeface="Arial"/>
              </a:rPr>
              <a:t> </a:t>
            </a:r>
            <a:r>
              <a:rPr sz="900" spc="-10" dirty="0">
                <a:latin typeface="Arial"/>
                <a:cs typeface="Arial"/>
              </a:rPr>
              <a:t>contains</a:t>
            </a:r>
            <a:r>
              <a:rPr sz="900" spc="-20"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data</a:t>
            </a:r>
            <a:r>
              <a:rPr sz="900" spc="-20"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client</a:t>
            </a:r>
            <a:r>
              <a:rPr sz="900" spc="-25" dirty="0">
                <a:latin typeface="Arial"/>
                <a:cs typeface="Arial"/>
              </a:rPr>
              <a:t> </a:t>
            </a:r>
            <a:r>
              <a:rPr sz="900" spc="-10" dirty="0">
                <a:latin typeface="Arial"/>
                <a:cs typeface="Arial"/>
              </a:rPr>
              <a:t>wants</a:t>
            </a:r>
            <a:r>
              <a:rPr sz="900" spc="-20" dirty="0">
                <a:latin typeface="Arial"/>
                <a:cs typeface="Arial"/>
              </a:rPr>
              <a:t> </a:t>
            </a:r>
            <a:r>
              <a:rPr sz="900" dirty="0">
                <a:latin typeface="Arial"/>
                <a:cs typeface="Arial"/>
              </a:rPr>
              <a:t>to</a:t>
            </a:r>
            <a:r>
              <a:rPr sz="900" spc="-25" dirty="0">
                <a:latin typeface="Arial"/>
                <a:cs typeface="Arial"/>
              </a:rPr>
              <a:t> </a:t>
            </a:r>
            <a:r>
              <a:rPr sz="900" spc="-10" dirty="0">
                <a:latin typeface="Arial"/>
                <a:cs typeface="Arial"/>
              </a:rPr>
              <a:t>manipulate</a:t>
            </a:r>
            <a:r>
              <a:rPr sz="900" spc="-20" dirty="0">
                <a:latin typeface="Arial"/>
                <a:cs typeface="Arial"/>
              </a:rPr>
              <a:t> </a:t>
            </a:r>
            <a:r>
              <a:rPr sz="900" spc="-10" dirty="0">
                <a:latin typeface="Arial"/>
                <a:cs typeface="Arial"/>
              </a:rPr>
              <a:t>through</a:t>
            </a:r>
            <a:r>
              <a:rPr sz="900" spc="-25" dirty="0">
                <a:latin typeface="Arial"/>
                <a:cs typeface="Arial"/>
              </a:rPr>
              <a:t> the </a:t>
            </a:r>
            <a:r>
              <a:rPr sz="900" dirty="0">
                <a:latin typeface="Arial"/>
                <a:cs typeface="Arial"/>
              </a:rPr>
              <a:t>application</a:t>
            </a:r>
            <a:r>
              <a:rPr sz="900" spc="-50" dirty="0">
                <a:latin typeface="Arial"/>
                <a:cs typeface="Arial"/>
              </a:rPr>
              <a:t> </a:t>
            </a:r>
            <a:r>
              <a:rPr sz="900" spc="-10" dirty="0">
                <a:latin typeface="Arial"/>
                <a:cs typeface="Arial"/>
              </a:rPr>
              <a:t>components</a:t>
            </a:r>
            <a:endParaRPr sz="900" dirty="0">
              <a:latin typeface="Arial"/>
              <a:cs typeface="Arial"/>
            </a:endParaRPr>
          </a:p>
          <a:p>
            <a:pPr>
              <a:lnSpc>
                <a:spcPct val="100000"/>
              </a:lnSpc>
              <a:spcBef>
                <a:spcPts val="15"/>
              </a:spcBef>
            </a:pPr>
            <a:endParaRPr sz="1200" dirty="0">
              <a:latin typeface="Arial"/>
              <a:cs typeface="Arial"/>
            </a:endParaRPr>
          </a:p>
          <a:p>
            <a:pPr marL="41910">
              <a:lnSpc>
                <a:spcPct val="100000"/>
              </a:lnSpc>
              <a:spcBef>
                <a:spcPts val="5"/>
              </a:spcBef>
            </a:pPr>
            <a:r>
              <a:rPr sz="1000" spc="-10" dirty="0">
                <a:solidFill>
                  <a:srgbClr val="C80000"/>
                </a:solidFill>
                <a:latin typeface="Arial"/>
                <a:cs typeface="Arial"/>
              </a:rPr>
              <a:t>Observation</a:t>
            </a:r>
            <a:endParaRPr sz="1000" dirty="0">
              <a:latin typeface="Arial"/>
              <a:cs typeface="Arial"/>
            </a:endParaRPr>
          </a:p>
          <a:p>
            <a:pPr marL="41910" marR="28575" indent="-3810">
              <a:lnSpc>
                <a:spcPts val="1210"/>
              </a:lnSpc>
              <a:spcBef>
                <a:spcPts val="35"/>
              </a:spcBef>
            </a:pPr>
            <a:r>
              <a:rPr sz="900" dirty="0">
                <a:latin typeface="Arial"/>
                <a:cs typeface="Arial"/>
              </a:rPr>
              <a:t>This</a:t>
            </a:r>
            <a:r>
              <a:rPr sz="900" spc="-30" dirty="0">
                <a:latin typeface="Arial"/>
                <a:cs typeface="Arial"/>
              </a:rPr>
              <a:t> </a:t>
            </a:r>
            <a:r>
              <a:rPr sz="900" spc="-20" dirty="0">
                <a:latin typeface="Arial"/>
                <a:cs typeface="Arial"/>
              </a:rPr>
              <a:t>layering</a:t>
            </a:r>
            <a:r>
              <a:rPr sz="900" spc="-25" dirty="0">
                <a:latin typeface="Arial"/>
                <a:cs typeface="Arial"/>
              </a:rPr>
              <a:t> </a:t>
            </a:r>
            <a:r>
              <a:rPr sz="900" dirty="0">
                <a:latin typeface="Arial"/>
                <a:cs typeface="Arial"/>
              </a:rPr>
              <a:t>is</a:t>
            </a:r>
            <a:r>
              <a:rPr sz="900" spc="-30" dirty="0">
                <a:latin typeface="Arial"/>
                <a:cs typeface="Arial"/>
              </a:rPr>
              <a:t> </a:t>
            </a:r>
            <a:r>
              <a:rPr sz="900" spc="-20" dirty="0">
                <a:latin typeface="Arial"/>
                <a:cs typeface="Arial"/>
              </a:rPr>
              <a:t>found</a:t>
            </a:r>
            <a:r>
              <a:rPr sz="900" spc="-25" dirty="0">
                <a:latin typeface="Arial"/>
                <a:cs typeface="Arial"/>
              </a:rPr>
              <a:t> </a:t>
            </a:r>
            <a:r>
              <a:rPr sz="900" dirty="0">
                <a:latin typeface="Arial"/>
                <a:cs typeface="Arial"/>
              </a:rPr>
              <a:t>in</a:t>
            </a:r>
            <a:r>
              <a:rPr sz="900" spc="-25" dirty="0">
                <a:latin typeface="Arial"/>
                <a:cs typeface="Arial"/>
              </a:rPr>
              <a:t> </a:t>
            </a:r>
            <a:r>
              <a:rPr sz="900" spc="-10" dirty="0">
                <a:latin typeface="Arial"/>
                <a:cs typeface="Arial"/>
              </a:rPr>
              <a:t>many</a:t>
            </a:r>
            <a:r>
              <a:rPr sz="900" spc="-30" dirty="0">
                <a:latin typeface="Arial"/>
                <a:cs typeface="Arial"/>
              </a:rPr>
              <a:t> </a:t>
            </a:r>
            <a:r>
              <a:rPr sz="900" spc="-10" dirty="0">
                <a:latin typeface="Arial"/>
                <a:cs typeface="Arial"/>
              </a:rPr>
              <a:t>distributed</a:t>
            </a:r>
            <a:r>
              <a:rPr sz="900" spc="-25" dirty="0">
                <a:latin typeface="Arial"/>
                <a:cs typeface="Arial"/>
              </a:rPr>
              <a:t> </a:t>
            </a:r>
            <a:r>
              <a:rPr sz="900" spc="-10" dirty="0">
                <a:latin typeface="Arial"/>
                <a:cs typeface="Arial"/>
              </a:rPr>
              <a:t>information</a:t>
            </a:r>
            <a:r>
              <a:rPr sz="900" spc="-30" dirty="0">
                <a:latin typeface="Arial"/>
                <a:cs typeface="Arial"/>
              </a:rPr>
              <a:t> </a:t>
            </a:r>
            <a:r>
              <a:rPr sz="900" spc="-10" dirty="0">
                <a:latin typeface="Arial"/>
                <a:cs typeface="Arial"/>
              </a:rPr>
              <a:t>systems,</a:t>
            </a:r>
            <a:r>
              <a:rPr sz="900" spc="-25" dirty="0">
                <a:latin typeface="Arial"/>
                <a:cs typeface="Arial"/>
              </a:rPr>
              <a:t> </a:t>
            </a:r>
            <a:r>
              <a:rPr sz="900" spc="-10" dirty="0">
                <a:latin typeface="Arial"/>
                <a:cs typeface="Arial"/>
              </a:rPr>
              <a:t>using</a:t>
            </a:r>
            <a:r>
              <a:rPr sz="900" spc="-25" dirty="0">
                <a:latin typeface="Arial"/>
                <a:cs typeface="Arial"/>
              </a:rPr>
              <a:t> </a:t>
            </a:r>
            <a:r>
              <a:rPr sz="900" spc="-10" dirty="0">
                <a:latin typeface="Arial"/>
                <a:cs typeface="Arial"/>
              </a:rPr>
              <a:t>traditional </a:t>
            </a:r>
            <a:r>
              <a:rPr sz="900" dirty="0">
                <a:latin typeface="Arial"/>
                <a:cs typeface="Arial"/>
              </a:rPr>
              <a:t>database</a:t>
            </a:r>
            <a:r>
              <a:rPr sz="900" spc="-20" dirty="0">
                <a:latin typeface="Arial"/>
                <a:cs typeface="Arial"/>
              </a:rPr>
              <a:t> </a:t>
            </a:r>
            <a:r>
              <a:rPr sz="900" dirty="0">
                <a:latin typeface="Arial"/>
                <a:cs typeface="Arial"/>
              </a:rPr>
              <a:t>technology</a:t>
            </a:r>
            <a:r>
              <a:rPr sz="900" spc="-15" dirty="0">
                <a:latin typeface="Arial"/>
                <a:cs typeface="Arial"/>
              </a:rPr>
              <a:t> </a:t>
            </a:r>
            <a:r>
              <a:rPr sz="900" dirty="0">
                <a:latin typeface="Arial"/>
                <a:cs typeface="Arial"/>
              </a:rPr>
              <a:t>and</a:t>
            </a:r>
            <a:r>
              <a:rPr sz="900" spc="-20" dirty="0">
                <a:latin typeface="Arial"/>
                <a:cs typeface="Arial"/>
              </a:rPr>
              <a:t> </a:t>
            </a:r>
            <a:r>
              <a:rPr sz="900" spc="-10" dirty="0">
                <a:latin typeface="Arial"/>
                <a:cs typeface="Arial"/>
              </a:rPr>
              <a:t>accompanying</a:t>
            </a:r>
            <a:r>
              <a:rPr sz="900" spc="-15" dirty="0">
                <a:latin typeface="Arial"/>
                <a:cs typeface="Arial"/>
              </a:rPr>
              <a:t> </a:t>
            </a:r>
            <a:r>
              <a:rPr sz="900" spc="-10" dirty="0">
                <a:latin typeface="Arial"/>
                <a:cs typeface="Arial"/>
              </a:rPr>
              <a:t>applications.</a:t>
            </a:r>
            <a:endParaRPr sz="900" dirty="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63055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Layered</a:t>
            </a:r>
            <a:r>
              <a:rPr sz="500" spc="20" dirty="0">
                <a:latin typeface="Arial"/>
                <a:cs typeface="Arial"/>
                <a:hlinkClick r:id="rId3" action="ppaction://hlinksldjump"/>
              </a:rPr>
              <a:t> </a:t>
            </a:r>
            <a:r>
              <a:rPr sz="500" spc="-10" dirty="0">
                <a:latin typeface="Arial"/>
                <a:cs typeface="Arial"/>
                <a:hlinkClick r:id="rId3" action="ppaction://hlinksldjump"/>
              </a:rPr>
              <a:t>architectures</a:t>
            </a:r>
            <a:endParaRPr sz="500">
              <a:latin typeface="Arial"/>
              <a:cs typeface="Arial"/>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Architectures</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998925" y="-1515"/>
            <a:ext cx="555625"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2" action="ppaction://hlinksldjump"/>
              </a:rPr>
              <a:t>Architectural</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styles</a:t>
            </a:r>
            <a:endParaRPr sz="500">
              <a:latin typeface="Arial"/>
              <a:cs typeface="Arial"/>
            </a:endParaRPr>
          </a:p>
        </p:txBody>
      </p:sp>
      <p:sp>
        <p:nvSpPr>
          <p:cNvPr id="5" name="object 5"/>
          <p:cNvSpPr txBox="1"/>
          <p:nvPr/>
        </p:nvSpPr>
        <p:spPr>
          <a:xfrm>
            <a:off x="95300" y="197711"/>
            <a:ext cx="2149475" cy="49466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Application</a:t>
            </a:r>
            <a:r>
              <a:rPr sz="1200" spc="-65" dirty="0">
                <a:solidFill>
                  <a:srgbClr val="3333B2"/>
                </a:solidFill>
                <a:latin typeface="Arial"/>
                <a:cs typeface="Arial"/>
              </a:rPr>
              <a:t> </a:t>
            </a:r>
            <a:r>
              <a:rPr sz="1200" spc="-10" dirty="0">
                <a:solidFill>
                  <a:srgbClr val="3333B2"/>
                </a:solidFill>
                <a:latin typeface="Arial"/>
                <a:cs typeface="Arial"/>
              </a:rPr>
              <a:t>Layering</a:t>
            </a:r>
            <a:endParaRPr sz="1200">
              <a:latin typeface="Arial"/>
              <a:cs typeface="Arial"/>
            </a:endParaRPr>
          </a:p>
          <a:p>
            <a:pPr marL="264160">
              <a:lnSpc>
                <a:spcPct val="100000"/>
              </a:lnSpc>
              <a:spcBef>
                <a:spcPts val="1055"/>
              </a:spcBef>
            </a:pPr>
            <a:r>
              <a:rPr sz="1000" dirty="0">
                <a:solidFill>
                  <a:srgbClr val="3333B2"/>
                </a:solidFill>
                <a:latin typeface="Arial"/>
                <a:cs typeface="Arial"/>
              </a:rPr>
              <a:t>Example:</a:t>
            </a:r>
            <a:r>
              <a:rPr sz="1000" spc="25" dirty="0">
                <a:solidFill>
                  <a:srgbClr val="3333B2"/>
                </a:solidFill>
                <a:latin typeface="Arial"/>
                <a:cs typeface="Arial"/>
              </a:rPr>
              <a:t> </a:t>
            </a:r>
            <a:r>
              <a:rPr sz="1000" dirty="0">
                <a:solidFill>
                  <a:srgbClr val="3333B2"/>
                </a:solidFill>
                <a:latin typeface="Arial"/>
                <a:cs typeface="Arial"/>
              </a:rPr>
              <a:t>a</a:t>
            </a:r>
            <a:r>
              <a:rPr sz="1000" spc="-30" dirty="0">
                <a:solidFill>
                  <a:srgbClr val="3333B2"/>
                </a:solidFill>
                <a:latin typeface="Arial"/>
                <a:cs typeface="Arial"/>
              </a:rPr>
              <a:t> </a:t>
            </a:r>
            <a:r>
              <a:rPr sz="1000" dirty="0">
                <a:solidFill>
                  <a:srgbClr val="3333B2"/>
                </a:solidFill>
                <a:latin typeface="Arial"/>
                <a:cs typeface="Arial"/>
              </a:rPr>
              <a:t>simple</a:t>
            </a:r>
            <a:r>
              <a:rPr sz="1000" spc="-30" dirty="0">
                <a:solidFill>
                  <a:srgbClr val="3333B2"/>
                </a:solidFill>
                <a:latin typeface="Arial"/>
                <a:cs typeface="Arial"/>
              </a:rPr>
              <a:t> </a:t>
            </a:r>
            <a:r>
              <a:rPr sz="1000" dirty="0">
                <a:solidFill>
                  <a:srgbClr val="3333B2"/>
                </a:solidFill>
                <a:latin typeface="Arial"/>
                <a:cs typeface="Arial"/>
              </a:rPr>
              <a:t>search</a:t>
            </a:r>
            <a:r>
              <a:rPr sz="1000" spc="-30" dirty="0">
                <a:solidFill>
                  <a:srgbClr val="3333B2"/>
                </a:solidFill>
                <a:latin typeface="Arial"/>
                <a:cs typeface="Arial"/>
              </a:rPr>
              <a:t> </a:t>
            </a:r>
            <a:r>
              <a:rPr sz="1000" spc="-10" dirty="0">
                <a:solidFill>
                  <a:srgbClr val="3333B2"/>
                </a:solidFill>
                <a:latin typeface="Arial"/>
                <a:cs typeface="Arial"/>
              </a:rPr>
              <a:t>engine</a:t>
            </a:r>
            <a:endParaRPr sz="1000">
              <a:latin typeface="Arial"/>
              <a:cs typeface="Arial"/>
            </a:endParaRPr>
          </a:p>
        </p:txBody>
      </p:sp>
      <p:pic>
        <p:nvPicPr>
          <p:cNvPr id="6" name="object 6"/>
          <p:cNvPicPr/>
          <p:nvPr/>
        </p:nvPicPr>
        <p:blipFill>
          <a:blip r:embed="rId3" cstate="print"/>
          <a:stretch>
            <a:fillRect/>
          </a:stretch>
        </p:blipFill>
        <p:spPr>
          <a:xfrm>
            <a:off x="858268" y="797506"/>
            <a:ext cx="3088934" cy="1731675"/>
          </a:xfrm>
          <a:prstGeom prst="rect">
            <a:avLst/>
          </a:prstGeom>
        </p:spPr>
      </p:pic>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63055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Layered</a:t>
            </a:r>
            <a:r>
              <a:rPr sz="500" spc="20" dirty="0">
                <a:latin typeface="Arial"/>
                <a:cs typeface="Arial"/>
                <a:hlinkClick r:id="rId4" action="ppaction://hlinksldjump"/>
              </a:rPr>
              <a:t> </a:t>
            </a:r>
            <a:r>
              <a:rPr sz="500" spc="-10" dirty="0">
                <a:latin typeface="Arial"/>
                <a:cs typeface="Arial"/>
                <a:hlinkClick r:id="rId4" action="ppaction://hlinksldjump"/>
              </a:rPr>
              <a:t>architectures</a:t>
            </a:r>
            <a:endParaRPr sz="500">
              <a:latin typeface="Arial"/>
              <a:cs typeface="Arial"/>
            </a:endParaRPr>
          </a:p>
        </p:txBody>
      </p:sp>
      <p:sp>
        <p:nvSpPr>
          <p:cNvPr id="11" name="TextBox 10">
            <a:extLst>
              <a:ext uri="{FF2B5EF4-FFF2-40B4-BE49-F238E27FC236}">
                <a16:creationId xmlns:a16="http://schemas.microsoft.com/office/drawing/2014/main" id="{07291DD9-4AF3-6D10-E547-80472B02A2B7}"/>
              </a:ext>
            </a:extLst>
          </p:cNvPr>
          <p:cNvSpPr txBox="1"/>
          <p:nvPr/>
        </p:nvSpPr>
        <p:spPr>
          <a:xfrm>
            <a:off x="120700" y="2569493"/>
            <a:ext cx="4433850" cy="738664"/>
          </a:xfrm>
          <a:prstGeom prst="rect">
            <a:avLst/>
          </a:prstGeom>
          <a:noFill/>
        </p:spPr>
        <p:txBody>
          <a:bodyPr wrap="square" rtlCol="0">
            <a:spAutoFit/>
          </a:bodyPr>
          <a:lstStyle/>
          <a:p>
            <a:pPr algn="just"/>
            <a:r>
              <a:rPr lang="en-US" sz="700" dirty="0"/>
              <a:t>Consider example of information retrieval system (search engine) where we provide the search query in plain text which is converted to database query and further processed and result returned by database, which contains list of results against our search and represented in html document format by using ranking algorithms. Each layer is performing different tasks. User is manipulating data using application (interface) layer which further propagates to processing and data layer. We can divide our application into as many layers we want depending upon the problem domain.</a:t>
            </a: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57954" algn="l"/>
              </a:tabLst>
            </a:pPr>
            <a:r>
              <a:rPr sz="500" spc="-10" dirty="0">
                <a:latin typeface="Arial"/>
                <a:cs typeface="Arial"/>
                <a:hlinkClick r:id="rId2" action="ppaction://hlinksldjump"/>
              </a:rPr>
              <a:t>Architectures</a:t>
            </a:r>
            <a:r>
              <a:rPr sz="500" dirty="0">
                <a:latin typeface="Arial"/>
                <a:cs typeface="Arial"/>
              </a:rPr>
              <a:t>	</a:t>
            </a:r>
            <a:r>
              <a:rPr sz="500" spc="-10" dirty="0">
                <a:solidFill>
                  <a:srgbClr val="FFFFFF"/>
                </a:solidFill>
                <a:latin typeface="Arial"/>
                <a:cs typeface="Arial"/>
                <a:hlinkClick r:id="rId2" action="ppaction://hlinksldjump"/>
              </a:rPr>
              <a:t>Architectural</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styles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Object-</a:t>
            </a:r>
            <a:r>
              <a:rPr dirty="0"/>
              <a:t>based</a:t>
            </a:r>
            <a:r>
              <a:rPr spc="-10" dirty="0"/>
              <a:t> style</a:t>
            </a:r>
          </a:p>
        </p:txBody>
      </p:sp>
      <p:sp>
        <p:nvSpPr>
          <p:cNvPr id="4" name="object 4"/>
          <p:cNvSpPr txBox="1"/>
          <p:nvPr/>
        </p:nvSpPr>
        <p:spPr>
          <a:xfrm>
            <a:off x="347294" y="499476"/>
            <a:ext cx="3913504" cy="649605"/>
          </a:xfrm>
          <a:prstGeom prst="rect">
            <a:avLst/>
          </a:prstGeom>
        </p:spPr>
        <p:txBody>
          <a:bodyPr vert="horz" wrap="square" lIns="0" tIns="27305" rIns="0" bIns="0" rtlCol="0">
            <a:spAutoFit/>
          </a:bodyPr>
          <a:lstStyle/>
          <a:p>
            <a:pPr marL="12700">
              <a:lnSpc>
                <a:spcPct val="100000"/>
              </a:lnSpc>
              <a:spcBef>
                <a:spcPts val="215"/>
              </a:spcBef>
            </a:pPr>
            <a:r>
              <a:rPr sz="1000" spc="-10" dirty="0">
                <a:solidFill>
                  <a:srgbClr val="3333B2"/>
                </a:solidFill>
                <a:latin typeface="Arial"/>
                <a:cs typeface="Arial"/>
              </a:rPr>
              <a:t>Essence</a:t>
            </a:r>
            <a:endParaRPr sz="1000">
              <a:latin typeface="Arial"/>
              <a:cs typeface="Arial"/>
            </a:endParaRPr>
          </a:p>
          <a:p>
            <a:pPr marL="12700" marR="5080">
              <a:lnSpc>
                <a:spcPts val="1210"/>
              </a:lnSpc>
              <a:spcBef>
                <a:spcPts val="35"/>
              </a:spcBef>
            </a:pPr>
            <a:r>
              <a:rPr sz="900" dirty="0">
                <a:latin typeface="Arial"/>
                <a:cs typeface="Arial"/>
              </a:rPr>
              <a:t>Components</a:t>
            </a:r>
            <a:r>
              <a:rPr sz="900" spc="-35" dirty="0">
                <a:latin typeface="Arial"/>
                <a:cs typeface="Arial"/>
              </a:rPr>
              <a:t> </a:t>
            </a:r>
            <a:r>
              <a:rPr sz="900" dirty="0">
                <a:latin typeface="Arial"/>
                <a:cs typeface="Arial"/>
              </a:rPr>
              <a:t>are</a:t>
            </a:r>
            <a:r>
              <a:rPr sz="900" spc="-35" dirty="0">
                <a:latin typeface="Arial"/>
                <a:cs typeface="Arial"/>
              </a:rPr>
              <a:t> </a:t>
            </a:r>
            <a:r>
              <a:rPr sz="900" dirty="0">
                <a:latin typeface="Arial"/>
                <a:cs typeface="Arial"/>
              </a:rPr>
              <a:t>objects,</a:t>
            </a:r>
            <a:r>
              <a:rPr sz="900" spc="-40" dirty="0">
                <a:latin typeface="Arial"/>
                <a:cs typeface="Arial"/>
              </a:rPr>
              <a:t> </a:t>
            </a:r>
            <a:r>
              <a:rPr sz="900" dirty="0">
                <a:latin typeface="Arial"/>
                <a:cs typeface="Arial"/>
              </a:rPr>
              <a:t>connected</a:t>
            </a:r>
            <a:r>
              <a:rPr sz="900" spc="-35" dirty="0">
                <a:latin typeface="Arial"/>
                <a:cs typeface="Arial"/>
              </a:rPr>
              <a:t> </a:t>
            </a:r>
            <a:r>
              <a:rPr sz="900" dirty="0">
                <a:latin typeface="Arial"/>
                <a:cs typeface="Arial"/>
              </a:rPr>
              <a:t>to</a:t>
            </a:r>
            <a:r>
              <a:rPr sz="900" spc="-35" dirty="0">
                <a:latin typeface="Arial"/>
                <a:cs typeface="Arial"/>
              </a:rPr>
              <a:t> </a:t>
            </a:r>
            <a:r>
              <a:rPr sz="900" dirty="0">
                <a:latin typeface="Arial"/>
                <a:cs typeface="Arial"/>
              </a:rPr>
              <a:t>each</a:t>
            </a:r>
            <a:r>
              <a:rPr sz="900" spc="-35" dirty="0">
                <a:latin typeface="Arial"/>
                <a:cs typeface="Arial"/>
              </a:rPr>
              <a:t> </a:t>
            </a:r>
            <a:r>
              <a:rPr sz="900" dirty="0">
                <a:latin typeface="Arial"/>
                <a:cs typeface="Arial"/>
              </a:rPr>
              <a:t>other</a:t>
            </a:r>
            <a:r>
              <a:rPr sz="900" spc="-35" dirty="0">
                <a:latin typeface="Arial"/>
                <a:cs typeface="Arial"/>
              </a:rPr>
              <a:t> </a:t>
            </a:r>
            <a:r>
              <a:rPr sz="900" dirty="0">
                <a:latin typeface="Arial"/>
                <a:cs typeface="Arial"/>
              </a:rPr>
              <a:t>through</a:t>
            </a:r>
            <a:r>
              <a:rPr sz="900" spc="-35" dirty="0">
                <a:latin typeface="Arial"/>
                <a:cs typeface="Arial"/>
              </a:rPr>
              <a:t> </a:t>
            </a:r>
            <a:r>
              <a:rPr sz="900" dirty="0">
                <a:latin typeface="Arial"/>
                <a:cs typeface="Arial"/>
              </a:rPr>
              <a:t>procedure</a:t>
            </a:r>
            <a:r>
              <a:rPr sz="900" spc="-35" dirty="0">
                <a:latin typeface="Arial"/>
                <a:cs typeface="Arial"/>
              </a:rPr>
              <a:t> </a:t>
            </a:r>
            <a:r>
              <a:rPr sz="900" spc="-10" dirty="0">
                <a:latin typeface="Arial"/>
                <a:cs typeface="Arial"/>
              </a:rPr>
              <a:t>calls. </a:t>
            </a:r>
            <a:r>
              <a:rPr sz="900" dirty="0">
                <a:latin typeface="Arial"/>
                <a:cs typeface="Arial"/>
              </a:rPr>
              <a:t>Objects</a:t>
            </a:r>
            <a:r>
              <a:rPr sz="900" spc="-25" dirty="0">
                <a:latin typeface="Arial"/>
                <a:cs typeface="Arial"/>
              </a:rPr>
              <a:t> </a:t>
            </a:r>
            <a:r>
              <a:rPr sz="900" dirty="0">
                <a:latin typeface="Arial"/>
                <a:cs typeface="Arial"/>
              </a:rPr>
              <a:t>may</a:t>
            </a:r>
            <a:r>
              <a:rPr sz="900" spc="-25" dirty="0">
                <a:latin typeface="Arial"/>
                <a:cs typeface="Arial"/>
              </a:rPr>
              <a:t> </a:t>
            </a:r>
            <a:r>
              <a:rPr sz="900" dirty="0">
                <a:latin typeface="Arial"/>
                <a:cs typeface="Arial"/>
              </a:rPr>
              <a:t>be</a:t>
            </a:r>
            <a:r>
              <a:rPr sz="900" spc="-25" dirty="0">
                <a:latin typeface="Arial"/>
                <a:cs typeface="Arial"/>
              </a:rPr>
              <a:t> </a:t>
            </a:r>
            <a:r>
              <a:rPr sz="900" dirty="0">
                <a:latin typeface="Arial"/>
                <a:cs typeface="Arial"/>
              </a:rPr>
              <a:t>placed</a:t>
            </a:r>
            <a:r>
              <a:rPr sz="900" spc="-30" dirty="0">
                <a:latin typeface="Arial"/>
                <a:cs typeface="Arial"/>
              </a:rPr>
              <a:t> </a:t>
            </a:r>
            <a:r>
              <a:rPr sz="900" dirty="0">
                <a:latin typeface="Arial"/>
                <a:cs typeface="Arial"/>
              </a:rPr>
              <a:t>on</a:t>
            </a:r>
            <a:r>
              <a:rPr sz="900" spc="-25" dirty="0">
                <a:latin typeface="Arial"/>
                <a:cs typeface="Arial"/>
              </a:rPr>
              <a:t> </a:t>
            </a:r>
            <a:r>
              <a:rPr sz="900" spc="-10" dirty="0">
                <a:latin typeface="Arial"/>
                <a:cs typeface="Arial"/>
              </a:rPr>
              <a:t>different</a:t>
            </a:r>
            <a:r>
              <a:rPr sz="900" spc="-25" dirty="0">
                <a:latin typeface="Arial"/>
                <a:cs typeface="Arial"/>
              </a:rPr>
              <a:t> </a:t>
            </a:r>
            <a:r>
              <a:rPr sz="900" dirty="0">
                <a:latin typeface="Arial"/>
                <a:cs typeface="Arial"/>
              </a:rPr>
              <a:t>machines;</a:t>
            </a:r>
            <a:r>
              <a:rPr sz="900" spc="-25" dirty="0">
                <a:latin typeface="Arial"/>
                <a:cs typeface="Arial"/>
              </a:rPr>
              <a:t> </a:t>
            </a:r>
            <a:r>
              <a:rPr sz="900" dirty="0">
                <a:latin typeface="Arial"/>
                <a:cs typeface="Arial"/>
              </a:rPr>
              <a:t>calls</a:t>
            </a:r>
            <a:r>
              <a:rPr sz="900" spc="-25" dirty="0">
                <a:latin typeface="Arial"/>
                <a:cs typeface="Arial"/>
              </a:rPr>
              <a:t> </a:t>
            </a:r>
            <a:r>
              <a:rPr sz="900" dirty="0">
                <a:latin typeface="Arial"/>
                <a:cs typeface="Arial"/>
              </a:rPr>
              <a:t>can</a:t>
            </a:r>
            <a:r>
              <a:rPr sz="900" spc="-25" dirty="0">
                <a:latin typeface="Arial"/>
                <a:cs typeface="Arial"/>
              </a:rPr>
              <a:t> </a:t>
            </a:r>
            <a:r>
              <a:rPr sz="900" dirty="0">
                <a:latin typeface="Arial"/>
                <a:cs typeface="Arial"/>
              </a:rPr>
              <a:t>thus</a:t>
            </a:r>
            <a:r>
              <a:rPr sz="900" spc="-25" dirty="0">
                <a:latin typeface="Arial"/>
                <a:cs typeface="Arial"/>
              </a:rPr>
              <a:t> </a:t>
            </a:r>
            <a:r>
              <a:rPr sz="900" spc="-10" dirty="0">
                <a:latin typeface="Arial"/>
                <a:cs typeface="Arial"/>
              </a:rPr>
              <a:t>execute</a:t>
            </a:r>
            <a:r>
              <a:rPr sz="900" spc="-25" dirty="0">
                <a:latin typeface="Arial"/>
                <a:cs typeface="Arial"/>
              </a:rPr>
              <a:t> </a:t>
            </a:r>
            <a:r>
              <a:rPr sz="900" dirty="0">
                <a:latin typeface="Arial"/>
                <a:cs typeface="Arial"/>
              </a:rPr>
              <a:t>across</a:t>
            </a:r>
            <a:r>
              <a:rPr sz="900" spc="-25" dirty="0">
                <a:latin typeface="Arial"/>
                <a:cs typeface="Arial"/>
              </a:rPr>
              <a:t> </a:t>
            </a:r>
            <a:r>
              <a:rPr sz="900" spc="-50" dirty="0">
                <a:latin typeface="Arial"/>
                <a:cs typeface="Arial"/>
              </a:rPr>
              <a:t>a</a:t>
            </a:r>
            <a:r>
              <a:rPr sz="900" spc="-10" dirty="0">
                <a:latin typeface="Arial"/>
                <a:cs typeface="Arial"/>
              </a:rPr>
              <a:t> network.</a:t>
            </a:r>
            <a:endParaRPr sz="900">
              <a:latin typeface="Arial"/>
              <a:cs typeface="Arial"/>
            </a:endParaRPr>
          </a:p>
        </p:txBody>
      </p:sp>
      <p:pic>
        <p:nvPicPr>
          <p:cNvPr id="5" name="object 5"/>
          <p:cNvPicPr/>
          <p:nvPr/>
        </p:nvPicPr>
        <p:blipFill>
          <a:blip r:embed="rId3" cstate="print"/>
          <a:stretch>
            <a:fillRect/>
          </a:stretch>
        </p:blipFill>
        <p:spPr>
          <a:xfrm>
            <a:off x="471371" y="1407741"/>
            <a:ext cx="1863692" cy="843701"/>
          </a:xfrm>
          <a:prstGeom prst="rect">
            <a:avLst/>
          </a:prstGeom>
        </p:spPr>
      </p:pic>
      <p:pic>
        <p:nvPicPr>
          <p:cNvPr id="6" name="object 6"/>
          <p:cNvPicPr/>
          <p:nvPr/>
        </p:nvPicPr>
        <p:blipFill>
          <a:blip r:embed="rId4" cstate="print"/>
          <a:stretch>
            <a:fillRect/>
          </a:stretch>
        </p:blipFill>
        <p:spPr>
          <a:xfrm>
            <a:off x="2715874" y="1376629"/>
            <a:ext cx="1283893" cy="874814"/>
          </a:xfrm>
          <a:prstGeom prst="rect">
            <a:avLst/>
          </a:prstGeom>
        </p:spPr>
      </p:pic>
      <p:sp>
        <p:nvSpPr>
          <p:cNvPr id="7" name="object 7"/>
          <p:cNvSpPr txBox="1"/>
          <p:nvPr/>
        </p:nvSpPr>
        <p:spPr>
          <a:xfrm>
            <a:off x="347294" y="2342989"/>
            <a:ext cx="3845560" cy="547370"/>
          </a:xfrm>
          <a:prstGeom prst="rect">
            <a:avLst/>
          </a:prstGeom>
        </p:spPr>
        <p:txBody>
          <a:bodyPr vert="horz" wrap="square" lIns="0" tIns="54610" rIns="0" bIns="0" rtlCol="0">
            <a:spAutoFit/>
          </a:bodyPr>
          <a:lstStyle/>
          <a:p>
            <a:pPr marL="12700">
              <a:lnSpc>
                <a:spcPct val="100000"/>
              </a:lnSpc>
              <a:spcBef>
                <a:spcPts val="430"/>
              </a:spcBef>
            </a:pPr>
            <a:r>
              <a:rPr sz="1000" spc="-10" dirty="0">
                <a:solidFill>
                  <a:srgbClr val="3333B2"/>
                </a:solidFill>
                <a:latin typeface="Arial"/>
                <a:cs typeface="Arial"/>
              </a:rPr>
              <a:t>Encapsulation</a:t>
            </a:r>
            <a:endParaRPr sz="1000">
              <a:latin typeface="Arial"/>
              <a:cs typeface="Arial"/>
            </a:endParaRPr>
          </a:p>
          <a:p>
            <a:pPr marL="12700" marR="5080">
              <a:lnSpc>
                <a:spcPct val="111600"/>
              </a:lnSpc>
              <a:spcBef>
                <a:spcPts val="170"/>
              </a:spcBef>
            </a:pPr>
            <a:r>
              <a:rPr sz="900" dirty="0">
                <a:latin typeface="Arial"/>
                <a:cs typeface="Arial"/>
              </a:rPr>
              <a:t>Objects</a:t>
            </a:r>
            <a:r>
              <a:rPr sz="900" spc="-30" dirty="0">
                <a:latin typeface="Arial"/>
                <a:cs typeface="Arial"/>
              </a:rPr>
              <a:t> </a:t>
            </a:r>
            <a:r>
              <a:rPr sz="900" dirty="0">
                <a:latin typeface="Arial"/>
                <a:cs typeface="Arial"/>
              </a:rPr>
              <a:t>are</a:t>
            </a:r>
            <a:r>
              <a:rPr sz="900" spc="-30" dirty="0">
                <a:latin typeface="Arial"/>
                <a:cs typeface="Arial"/>
              </a:rPr>
              <a:t> </a:t>
            </a:r>
            <a:r>
              <a:rPr sz="900" dirty="0">
                <a:latin typeface="Arial"/>
                <a:cs typeface="Arial"/>
              </a:rPr>
              <a:t>said</a:t>
            </a:r>
            <a:r>
              <a:rPr sz="900" spc="-25" dirty="0">
                <a:latin typeface="Arial"/>
                <a:cs typeface="Arial"/>
              </a:rPr>
              <a:t> </a:t>
            </a:r>
            <a:r>
              <a:rPr sz="900" dirty="0">
                <a:latin typeface="Arial"/>
                <a:cs typeface="Arial"/>
              </a:rPr>
              <a:t>to</a:t>
            </a:r>
            <a:r>
              <a:rPr sz="900" spc="-30" dirty="0">
                <a:latin typeface="Arial"/>
                <a:cs typeface="Arial"/>
              </a:rPr>
              <a:t> </a:t>
            </a:r>
            <a:r>
              <a:rPr sz="900" dirty="0">
                <a:solidFill>
                  <a:srgbClr val="C80000"/>
                </a:solidFill>
                <a:latin typeface="Arial"/>
                <a:cs typeface="Arial"/>
              </a:rPr>
              <a:t>encapsulate</a:t>
            </a:r>
            <a:r>
              <a:rPr sz="900" spc="-25" dirty="0">
                <a:solidFill>
                  <a:srgbClr val="C80000"/>
                </a:solidFill>
                <a:latin typeface="Arial"/>
                <a:cs typeface="Arial"/>
              </a:rPr>
              <a:t> </a:t>
            </a:r>
            <a:r>
              <a:rPr sz="900" dirty="0">
                <a:solidFill>
                  <a:srgbClr val="C80000"/>
                </a:solidFill>
                <a:latin typeface="Arial"/>
                <a:cs typeface="Arial"/>
              </a:rPr>
              <a:t>data</a:t>
            </a:r>
            <a:r>
              <a:rPr sz="900" spc="-30" dirty="0">
                <a:solidFill>
                  <a:srgbClr val="C80000"/>
                </a:solidFill>
                <a:latin typeface="Arial"/>
                <a:cs typeface="Arial"/>
              </a:rPr>
              <a:t> </a:t>
            </a:r>
            <a:r>
              <a:rPr sz="900" dirty="0">
                <a:latin typeface="Arial"/>
                <a:cs typeface="Arial"/>
              </a:rPr>
              <a:t>and</a:t>
            </a:r>
            <a:r>
              <a:rPr sz="900" spc="-25" dirty="0">
                <a:latin typeface="Arial"/>
                <a:cs typeface="Arial"/>
              </a:rPr>
              <a:t> </a:t>
            </a:r>
            <a:r>
              <a:rPr sz="900" dirty="0">
                <a:latin typeface="Arial"/>
                <a:cs typeface="Arial"/>
              </a:rPr>
              <a:t>offer</a:t>
            </a:r>
            <a:r>
              <a:rPr sz="900" spc="-30" dirty="0">
                <a:latin typeface="Arial"/>
                <a:cs typeface="Arial"/>
              </a:rPr>
              <a:t> </a:t>
            </a:r>
            <a:r>
              <a:rPr sz="900" dirty="0">
                <a:solidFill>
                  <a:srgbClr val="C80000"/>
                </a:solidFill>
                <a:latin typeface="Arial"/>
                <a:cs typeface="Arial"/>
              </a:rPr>
              <a:t>methods</a:t>
            </a:r>
            <a:r>
              <a:rPr sz="900" spc="-30" dirty="0">
                <a:solidFill>
                  <a:srgbClr val="C80000"/>
                </a:solidFill>
                <a:latin typeface="Arial"/>
                <a:cs typeface="Arial"/>
              </a:rPr>
              <a:t> </a:t>
            </a:r>
            <a:r>
              <a:rPr sz="900" dirty="0">
                <a:solidFill>
                  <a:srgbClr val="C80000"/>
                </a:solidFill>
                <a:latin typeface="Arial"/>
                <a:cs typeface="Arial"/>
              </a:rPr>
              <a:t>on</a:t>
            </a:r>
            <a:r>
              <a:rPr sz="900" spc="-25" dirty="0">
                <a:solidFill>
                  <a:srgbClr val="C80000"/>
                </a:solidFill>
                <a:latin typeface="Arial"/>
                <a:cs typeface="Arial"/>
              </a:rPr>
              <a:t> </a:t>
            </a:r>
            <a:r>
              <a:rPr sz="900" dirty="0">
                <a:solidFill>
                  <a:srgbClr val="C80000"/>
                </a:solidFill>
                <a:latin typeface="Arial"/>
                <a:cs typeface="Arial"/>
              </a:rPr>
              <a:t>that</a:t>
            </a:r>
            <a:r>
              <a:rPr sz="900" spc="-30" dirty="0">
                <a:solidFill>
                  <a:srgbClr val="C80000"/>
                </a:solidFill>
                <a:latin typeface="Arial"/>
                <a:cs typeface="Arial"/>
              </a:rPr>
              <a:t> </a:t>
            </a:r>
            <a:r>
              <a:rPr sz="900" dirty="0">
                <a:solidFill>
                  <a:srgbClr val="C80000"/>
                </a:solidFill>
                <a:latin typeface="Arial"/>
                <a:cs typeface="Arial"/>
              </a:rPr>
              <a:t>data</a:t>
            </a:r>
            <a:r>
              <a:rPr sz="900" spc="-25" dirty="0">
                <a:solidFill>
                  <a:srgbClr val="C80000"/>
                </a:solidFill>
                <a:latin typeface="Arial"/>
                <a:cs typeface="Arial"/>
              </a:rPr>
              <a:t> </a:t>
            </a:r>
            <a:r>
              <a:rPr sz="900" spc="-10" dirty="0">
                <a:latin typeface="Arial"/>
                <a:cs typeface="Arial"/>
              </a:rPr>
              <a:t>without revealing</a:t>
            </a:r>
            <a:r>
              <a:rPr sz="900" spc="-15" dirty="0">
                <a:latin typeface="Arial"/>
                <a:cs typeface="Arial"/>
              </a:rPr>
              <a:t> </a:t>
            </a:r>
            <a:r>
              <a:rPr sz="900" dirty="0">
                <a:latin typeface="Arial"/>
                <a:cs typeface="Arial"/>
              </a:rPr>
              <a:t>the</a:t>
            </a:r>
            <a:r>
              <a:rPr sz="900" spc="-15" dirty="0">
                <a:latin typeface="Arial"/>
                <a:cs typeface="Arial"/>
              </a:rPr>
              <a:t> </a:t>
            </a:r>
            <a:r>
              <a:rPr sz="900" dirty="0">
                <a:latin typeface="Arial"/>
                <a:cs typeface="Arial"/>
              </a:rPr>
              <a:t>internal</a:t>
            </a:r>
            <a:r>
              <a:rPr sz="900" spc="-10" dirty="0">
                <a:latin typeface="Arial"/>
                <a:cs typeface="Arial"/>
              </a:rPr>
              <a:t> implementation.</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86868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5" action="ppaction://hlinksldjump"/>
              </a:rPr>
              <a:t>Service-</a:t>
            </a:r>
            <a:r>
              <a:rPr sz="500" dirty="0">
                <a:latin typeface="Arial"/>
                <a:cs typeface="Arial"/>
                <a:hlinkClick r:id="rId5" action="ppaction://hlinksldjump"/>
              </a:rPr>
              <a:t>oriented</a:t>
            </a:r>
            <a:r>
              <a:rPr sz="500" spc="50" dirty="0">
                <a:latin typeface="Arial"/>
                <a:cs typeface="Arial"/>
                <a:hlinkClick r:id="rId5" action="ppaction://hlinksldjump"/>
              </a:rPr>
              <a:t> </a:t>
            </a:r>
            <a:r>
              <a:rPr sz="500" spc="-10" dirty="0">
                <a:latin typeface="Arial"/>
                <a:cs typeface="Arial"/>
                <a:hlinkClick r:id="rId5" action="ppaction://hlinksldjump"/>
              </a:rPr>
              <a:t>architectures</a:t>
            </a:r>
            <a:endParaRPr sz="500">
              <a:latin typeface="Arial"/>
              <a:cs typeface="Arial"/>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57954" algn="l"/>
              </a:tabLst>
            </a:pPr>
            <a:r>
              <a:rPr sz="500" spc="-10" dirty="0">
                <a:latin typeface="Arial"/>
                <a:cs typeface="Arial"/>
                <a:hlinkClick r:id="rId2" action="ppaction://hlinksldjump"/>
              </a:rPr>
              <a:t>Architectures</a:t>
            </a:r>
            <a:r>
              <a:rPr sz="500" dirty="0">
                <a:latin typeface="Arial"/>
                <a:cs typeface="Arial"/>
              </a:rPr>
              <a:t>	</a:t>
            </a:r>
            <a:r>
              <a:rPr sz="500" spc="-10" dirty="0">
                <a:solidFill>
                  <a:srgbClr val="FFFFFF"/>
                </a:solidFill>
                <a:latin typeface="Arial"/>
                <a:cs typeface="Arial"/>
                <a:hlinkClick r:id="rId2" action="ppaction://hlinksldjump"/>
              </a:rPr>
              <a:t>Architectural</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styles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RESTful</a:t>
            </a:r>
            <a:r>
              <a:rPr spc="-50" dirty="0"/>
              <a:t> </a:t>
            </a:r>
            <a:r>
              <a:rPr spc="-10" dirty="0"/>
              <a:t>architectures</a:t>
            </a:r>
          </a:p>
        </p:txBody>
      </p:sp>
      <p:sp>
        <p:nvSpPr>
          <p:cNvPr id="4" name="object 4"/>
          <p:cNvSpPr txBox="1"/>
          <p:nvPr/>
        </p:nvSpPr>
        <p:spPr>
          <a:xfrm>
            <a:off x="343547" y="499476"/>
            <a:ext cx="3920490" cy="1797050"/>
          </a:xfrm>
          <a:prstGeom prst="rect">
            <a:avLst/>
          </a:prstGeom>
        </p:spPr>
        <p:txBody>
          <a:bodyPr vert="horz" wrap="square" lIns="0" tIns="27305" rIns="0" bIns="0" rtlCol="0">
            <a:spAutoFit/>
          </a:bodyPr>
          <a:lstStyle/>
          <a:p>
            <a:pPr marL="15875">
              <a:lnSpc>
                <a:spcPct val="100000"/>
              </a:lnSpc>
              <a:spcBef>
                <a:spcPts val="215"/>
              </a:spcBef>
            </a:pPr>
            <a:r>
              <a:rPr sz="1000" spc="-10" dirty="0">
                <a:solidFill>
                  <a:srgbClr val="3333B2"/>
                </a:solidFill>
                <a:latin typeface="Arial"/>
                <a:cs typeface="Arial"/>
              </a:rPr>
              <a:t>Essence</a:t>
            </a:r>
            <a:endParaRPr sz="1000">
              <a:latin typeface="Arial"/>
              <a:cs typeface="Arial"/>
            </a:endParaRPr>
          </a:p>
          <a:p>
            <a:pPr marL="12700" marR="5080">
              <a:lnSpc>
                <a:spcPts val="1210"/>
              </a:lnSpc>
              <a:spcBef>
                <a:spcPts val="35"/>
              </a:spcBef>
            </a:pPr>
            <a:r>
              <a:rPr sz="900" spc="-10" dirty="0">
                <a:latin typeface="Arial"/>
                <a:cs typeface="Arial"/>
              </a:rPr>
              <a:t>View</a:t>
            </a:r>
            <a:r>
              <a:rPr sz="900" spc="-40" dirty="0">
                <a:latin typeface="Arial"/>
                <a:cs typeface="Arial"/>
              </a:rPr>
              <a:t> </a:t>
            </a:r>
            <a:r>
              <a:rPr sz="900" dirty="0">
                <a:latin typeface="Arial"/>
                <a:cs typeface="Arial"/>
              </a:rPr>
              <a:t>a</a:t>
            </a:r>
            <a:r>
              <a:rPr sz="900" spc="-35" dirty="0">
                <a:latin typeface="Arial"/>
                <a:cs typeface="Arial"/>
              </a:rPr>
              <a:t> </a:t>
            </a:r>
            <a:r>
              <a:rPr sz="900" spc="-10" dirty="0">
                <a:latin typeface="Arial"/>
                <a:cs typeface="Arial"/>
              </a:rPr>
              <a:t>distributed</a:t>
            </a:r>
            <a:r>
              <a:rPr sz="900" spc="-35" dirty="0">
                <a:latin typeface="Arial"/>
                <a:cs typeface="Arial"/>
              </a:rPr>
              <a:t> </a:t>
            </a:r>
            <a:r>
              <a:rPr sz="900" spc="-10" dirty="0">
                <a:latin typeface="Arial"/>
                <a:cs typeface="Arial"/>
              </a:rPr>
              <a:t>system</a:t>
            </a:r>
            <a:r>
              <a:rPr sz="900" spc="-35" dirty="0">
                <a:latin typeface="Arial"/>
                <a:cs typeface="Arial"/>
              </a:rPr>
              <a:t> </a:t>
            </a:r>
            <a:r>
              <a:rPr sz="900" dirty="0">
                <a:latin typeface="Arial"/>
                <a:cs typeface="Arial"/>
              </a:rPr>
              <a:t>as</a:t>
            </a:r>
            <a:r>
              <a:rPr sz="900" spc="-35" dirty="0">
                <a:latin typeface="Arial"/>
                <a:cs typeface="Arial"/>
              </a:rPr>
              <a:t> </a:t>
            </a:r>
            <a:r>
              <a:rPr sz="900" dirty="0">
                <a:latin typeface="Arial"/>
                <a:cs typeface="Arial"/>
              </a:rPr>
              <a:t>a</a:t>
            </a:r>
            <a:r>
              <a:rPr sz="900" spc="-35" dirty="0">
                <a:latin typeface="Arial"/>
                <a:cs typeface="Arial"/>
              </a:rPr>
              <a:t> </a:t>
            </a:r>
            <a:r>
              <a:rPr sz="900" spc="-10" dirty="0">
                <a:latin typeface="Arial"/>
                <a:cs typeface="Arial"/>
              </a:rPr>
              <a:t>collection</a:t>
            </a:r>
            <a:r>
              <a:rPr sz="900" spc="-35" dirty="0">
                <a:latin typeface="Arial"/>
                <a:cs typeface="Arial"/>
              </a:rPr>
              <a:t> </a:t>
            </a:r>
            <a:r>
              <a:rPr sz="900" dirty="0">
                <a:latin typeface="Arial"/>
                <a:cs typeface="Arial"/>
              </a:rPr>
              <a:t>of</a:t>
            </a:r>
            <a:r>
              <a:rPr sz="900" spc="-35" dirty="0">
                <a:latin typeface="Arial"/>
                <a:cs typeface="Arial"/>
              </a:rPr>
              <a:t> </a:t>
            </a:r>
            <a:r>
              <a:rPr sz="900" spc="-10" dirty="0">
                <a:latin typeface="Arial"/>
                <a:cs typeface="Arial"/>
              </a:rPr>
              <a:t>resources,</a:t>
            </a:r>
            <a:r>
              <a:rPr sz="900" spc="-30" dirty="0">
                <a:latin typeface="Arial"/>
                <a:cs typeface="Arial"/>
              </a:rPr>
              <a:t> </a:t>
            </a:r>
            <a:r>
              <a:rPr sz="900" spc="-10" dirty="0">
                <a:latin typeface="Arial"/>
                <a:cs typeface="Arial"/>
              </a:rPr>
              <a:t>individually</a:t>
            </a:r>
            <a:r>
              <a:rPr sz="900" spc="-35" dirty="0">
                <a:latin typeface="Arial"/>
                <a:cs typeface="Arial"/>
              </a:rPr>
              <a:t> </a:t>
            </a:r>
            <a:r>
              <a:rPr sz="900" spc="-10" dirty="0">
                <a:latin typeface="Arial"/>
                <a:cs typeface="Arial"/>
              </a:rPr>
              <a:t>managed</a:t>
            </a:r>
            <a:r>
              <a:rPr sz="900" spc="-30" dirty="0">
                <a:latin typeface="Arial"/>
                <a:cs typeface="Arial"/>
              </a:rPr>
              <a:t> </a:t>
            </a:r>
            <a:r>
              <a:rPr sz="900" spc="-25" dirty="0">
                <a:latin typeface="Arial"/>
                <a:cs typeface="Arial"/>
              </a:rPr>
              <a:t>by </a:t>
            </a:r>
            <a:r>
              <a:rPr sz="900" dirty="0">
                <a:latin typeface="Arial"/>
                <a:cs typeface="Arial"/>
              </a:rPr>
              <a:t>components.</a:t>
            </a:r>
            <a:r>
              <a:rPr sz="900" spc="25" dirty="0">
                <a:latin typeface="Arial"/>
                <a:cs typeface="Arial"/>
              </a:rPr>
              <a:t> </a:t>
            </a:r>
            <a:r>
              <a:rPr sz="900" dirty="0">
                <a:latin typeface="Arial"/>
                <a:cs typeface="Arial"/>
              </a:rPr>
              <a:t>Resources</a:t>
            </a:r>
            <a:r>
              <a:rPr sz="900" spc="-30" dirty="0">
                <a:latin typeface="Arial"/>
                <a:cs typeface="Arial"/>
              </a:rPr>
              <a:t> </a:t>
            </a:r>
            <a:r>
              <a:rPr sz="900" dirty="0">
                <a:latin typeface="Arial"/>
                <a:cs typeface="Arial"/>
              </a:rPr>
              <a:t>may</a:t>
            </a:r>
            <a:r>
              <a:rPr sz="900" spc="-30" dirty="0">
                <a:latin typeface="Arial"/>
                <a:cs typeface="Arial"/>
              </a:rPr>
              <a:t> </a:t>
            </a:r>
            <a:r>
              <a:rPr sz="900" dirty="0">
                <a:latin typeface="Arial"/>
                <a:cs typeface="Arial"/>
              </a:rPr>
              <a:t>be</a:t>
            </a:r>
            <a:r>
              <a:rPr sz="900" spc="-30" dirty="0">
                <a:latin typeface="Arial"/>
                <a:cs typeface="Arial"/>
              </a:rPr>
              <a:t> </a:t>
            </a:r>
            <a:r>
              <a:rPr sz="900" dirty="0">
                <a:latin typeface="Arial"/>
                <a:cs typeface="Arial"/>
              </a:rPr>
              <a:t>added,</a:t>
            </a:r>
            <a:r>
              <a:rPr sz="900" spc="-30" dirty="0">
                <a:latin typeface="Arial"/>
                <a:cs typeface="Arial"/>
              </a:rPr>
              <a:t> </a:t>
            </a:r>
            <a:r>
              <a:rPr sz="900" spc="-10" dirty="0">
                <a:latin typeface="Arial"/>
                <a:cs typeface="Arial"/>
              </a:rPr>
              <a:t>removed,</a:t>
            </a:r>
            <a:r>
              <a:rPr sz="900" spc="-30" dirty="0">
                <a:latin typeface="Arial"/>
                <a:cs typeface="Arial"/>
              </a:rPr>
              <a:t> </a:t>
            </a:r>
            <a:r>
              <a:rPr sz="900" spc="-10" dirty="0">
                <a:latin typeface="Arial"/>
                <a:cs typeface="Arial"/>
              </a:rPr>
              <a:t>retrieved,</a:t>
            </a:r>
            <a:r>
              <a:rPr sz="900" spc="-25" dirty="0">
                <a:latin typeface="Arial"/>
                <a:cs typeface="Arial"/>
              </a:rPr>
              <a:t> </a:t>
            </a:r>
            <a:r>
              <a:rPr sz="900" dirty="0">
                <a:latin typeface="Arial"/>
                <a:cs typeface="Arial"/>
              </a:rPr>
              <a:t>and</a:t>
            </a:r>
            <a:r>
              <a:rPr sz="900" spc="-30" dirty="0">
                <a:latin typeface="Arial"/>
                <a:cs typeface="Arial"/>
              </a:rPr>
              <a:t> </a:t>
            </a:r>
            <a:r>
              <a:rPr sz="900" dirty="0">
                <a:latin typeface="Arial"/>
                <a:cs typeface="Arial"/>
              </a:rPr>
              <a:t>modified</a:t>
            </a:r>
            <a:r>
              <a:rPr sz="900" spc="-30" dirty="0">
                <a:latin typeface="Arial"/>
                <a:cs typeface="Arial"/>
              </a:rPr>
              <a:t> </a:t>
            </a:r>
            <a:r>
              <a:rPr sz="900" spc="-25" dirty="0">
                <a:latin typeface="Arial"/>
                <a:cs typeface="Arial"/>
              </a:rPr>
              <a:t>by </a:t>
            </a:r>
            <a:r>
              <a:rPr sz="900" dirty="0">
                <a:latin typeface="Arial"/>
                <a:cs typeface="Arial"/>
              </a:rPr>
              <a:t>(remote)</a:t>
            </a:r>
            <a:r>
              <a:rPr sz="900" spc="-40" dirty="0">
                <a:latin typeface="Arial"/>
                <a:cs typeface="Arial"/>
              </a:rPr>
              <a:t> </a:t>
            </a:r>
            <a:r>
              <a:rPr sz="900" spc="-10" dirty="0">
                <a:latin typeface="Arial"/>
                <a:cs typeface="Arial"/>
              </a:rPr>
              <a:t>applications.</a:t>
            </a:r>
            <a:endParaRPr sz="900">
              <a:latin typeface="Arial"/>
              <a:cs typeface="Arial"/>
            </a:endParaRPr>
          </a:p>
          <a:p>
            <a:pPr marL="269240" indent="-158750">
              <a:lnSpc>
                <a:spcPct val="100000"/>
              </a:lnSpc>
              <a:spcBef>
                <a:spcPts val="455"/>
              </a:spcBef>
              <a:buClr>
                <a:srgbClr val="3333B2"/>
              </a:buClr>
              <a:buAutoNum type="arabicPeriod"/>
              <a:tabLst>
                <a:tab pos="269875" algn="l"/>
              </a:tabLst>
            </a:pPr>
            <a:r>
              <a:rPr sz="900" dirty="0">
                <a:latin typeface="Arial"/>
                <a:cs typeface="Arial"/>
              </a:rPr>
              <a:t>Resources</a:t>
            </a:r>
            <a:r>
              <a:rPr sz="900" spc="-35" dirty="0">
                <a:latin typeface="Arial"/>
                <a:cs typeface="Arial"/>
              </a:rPr>
              <a:t> </a:t>
            </a:r>
            <a:r>
              <a:rPr sz="900" dirty="0">
                <a:latin typeface="Arial"/>
                <a:cs typeface="Arial"/>
              </a:rPr>
              <a:t>are</a:t>
            </a:r>
            <a:r>
              <a:rPr sz="900" spc="-30" dirty="0">
                <a:latin typeface="Arial"/>
                <a:cs typeface="Arial"/>
              </a:rPr>
              <a:t> </a:t>
            </a:r>
            <a:r>
              <a:rPr sz="900" dirty="0">
                <a:latin typeface="Arial"/>
                <a:cs typeface="Arial"/>
              </a:rPr>
              <a:t>identified</a:t>
            </a:r>
            <a:r>
              <a:rPr sz="900" spc="-30" dirty="0">
                <a:latin typeface="Arial"/>
                <a:cs typeface="Arial"/>
              </a:rPr>
              <a:t> </a:t>
            </a:r>
            <a:r>
              <a:rPr sz="900" dirty="0">
                <a:latin typeface="Arial"/>
                <a:cs typeface="Arial"/>
              </a:rPr>
              <a:t>through</a:t>
            </a:r>
            <a:r>
              <a:rPr sz="900" spc="-30"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single</a:t>
            </a:r>
            <a:r>
              <a:rPr sz="900" spc="-30" dirty="0">
                <a:latin typeface="Arial"/>
                <a:cs typeface="Arial"/>
              </a:rPr>
              <a:t> </a:t>
            </a:r>
            <a:r>
              <a:rPr sz="900" dirty="0">
                <a:latin typeface="Arial"/>
                <a:cs typeface="Arial"/>
              </a:rPr>
              <a:t>naming</a:t>
            </a:r>
            <a:r>
              <a:rPr sz="900" spc="-35" dirty="0">
                <a:latin typeface="Arial"/>
                <a:cs typeface="Arial"/>
              </a:rPr>
              <a:t> </a:t>
            </a:r>
            <a:r>
              <a:rPr sz="900" spc="-10" dirty="0">
                <a:latin typeface="Arial"/>
                <a:cs typeface="Arial"/>
              </a:rPr>
              <a:t>scheme</a:t>
            </a:r>
            <a:endParaRPr sz="900">
              <a:latin typeface="Arial"/>
              <a:cs typeface="Arial"/>
            </a:endParaRPr>
          </a:p>
          <a:p>
            <a:pPr marL="265430" indent="-154940">
              <a:lnSpc>
                <a:spcPct val="100000"/>
              </a:lnSpc>
              <a:spcBef>
                <a:spcPts val="125"/>
              </a:spcBef>
              <a:buClr>
                <a:srgbClr val="3333B2"/>
              </a:buClr>
              <a:buAutoNum type="arabicPeriod"/>
              <a:tabLst>
                <a:tab pos="266065" algn="l"/>
              </a:tabLst>
            </a:pPr>
            <a:r>
              <a:rPr sz="900" dirty="0">
                <a:latin typeface="Arial"/>
                <a:cs typeface="Arial"/>
              </a:rPr>
              <a:t>All</a:t>
            </a:r>
            <a:r>
              <a:rPr sz="900" spc="-30" dirty="0">
                <a:latin typeface="Arial"/>
                <a:cs typeface="Arial"/>
              </a:rPr>
              <a:t> </a:t>
            </a:r>
            <a:r>
              <a:rPr sz="900" dirty="0">
                <a:latin typeface="Arial"/>
                <a:cs typeface="Arial"/>
              </a:rPr>
              <a:t>services</a:t>
            </a:r>
            <a:r>
              <a:rPr sz="900" spc="-25" dirty="0">
                <a:latin typeface="Arial"/>
                <a:cs typeface="Arial"/>
              </a:rPr>
              <a:t> </a:t>
            </a:r>
            <a:r>
              <a:rPr sz="900" dirty="0">
                <a:latin typeface="Arial"/>
                <a:cs typeface="Arial"/>
              </a:rPr>
              <a:t>offer</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same</a:t>
            </a:r>
            <a:r>
              <a:rPr sz="900" spc="-25" dirty="0">
                <a:latin typeface="Arial"/>
                <a:cs typeface="Arial"/>
              </a:rPr>
              <a:t> </a:t>
            </a:r>
            <a:r>
              <a:rPr sz="900" spc="-10" dirty="0">
                <a:latin typeface="Arial"/>
                <a:cs typeface="Arial"/>
              </a:rPr>
              <a:t>interface</a:t>
            </a:r>
            <a:endParaRPr sz="900">
              <a:latin typeface="Arial"/>
              <a:cs typeface="Arial"/>
            </a:endParaRPr>
          </a:p>
          <a:p>
            <a:pPr marL="269240" indent="-158750">
              <a:lnSpc>
                <a:spcPct val="100000"/>
              </a:lnSpc>
              <a:spcBef>
                <a:spcPts val="125"/>
              </a:spcBef>
              <a:buClr>
                <a:srgbClr val="3333B2"/>
              </a:buClr>
              <a:buAutoNum type="arabicPeriod"/>
              <a:tabLst>
                <a:tab pos="269875" algn="l"/>
              </a:tabLst>
            </a:pPr>
            <a:r>
              <a:rPr sz="900" dirty="0">
                <a:latin typeface="Arial"/>
                <a:cs typeface="Arial"/>
              </a:rPr>
              <a:t>Messages</a:t>
            </a:r>
            <a:r>
              <a:rPr sz="900" spc="-20" dirty="0">
                <a:latin typeface="Arial"/>
                <a:cs typeface="Arial"/>
              </a:rPr>
              <a:t> </a:t>
            </a:r>
            <a:r>
              <a:rPr sz="900" dirty="0">
                <a:latin typeface="Arial"/>
                <a:cs typeface="Arial"/>
              </a:rPr>
              <a:t>sent</a:t>
            </a:r>
            <a:r>
              <a:rPr sz="900" spc="-15" dirty="0">
                <a:latin typeface="Arial"/>
                <a:cs typeface="Arial"/>
              </a:rPr>
              <a:t> </a:t>
            </a:r>
            <a:r>
              <a:rPr sz="900" dirty="0">
                <a:latin typeface="Arial"/>
                <a:cs typeface="Arial"/>
              </a:rPr>
              <a:t>to</a:t>
            </a:r>
            <a:r>
              <a:rPr sz="900" spc="-15" dirty="0">
                <a:latin typeface="Arial"/>
                <a:cs typeface="Arial"/>
              </a:rPr>
              <a:t> </a:t>
            </a:r>
            <a:r>
              <a:rPr sz="900" dirty="0">
                <a:latin typeface="Arial"/>
                <a:cs typeface="Arial"/>
              </a:rPr>
              <a:t>or</a:t>
            </a:r>
            <a:r>
              <a:rPr sz="900" spc="-15" dirty="0">
                <a:latin typeface="Arial"/>
                <a:cs typeface="Arial"/>
              </a:rPr>
              <a:t> </a:t>
            </a:r>
            <a:r>
              <a:rPr sz="900" dirty="0">
                <a:latin typeface="Arial"/>
                <a:cs typeface="Arial"/>
              </a:rPr>
              <a:t>from</a:t>
            </a:r>
            <a:r>
              <a:rPr sz="900" spc="-15" dirty="0">
                <a:latin typeface="Arial"/>
                <a:cs typeface="Arial"/>
              </a:rPr>
              <a:t> </a:t>
            </a:r>
            <a:r>
              <a:rPr sz="900" dirty="0">
                <a:latin typeface="Arial"/>
                <a:cs typeface="Arial"/>
              </a:rPr>
              <a:t>a</a:t>
            </a:r>
            <a:r>
              <a:rPr sz="900" spc="-15" dirty="0">
                <a:latin typeface="Arial"/>
                <a:cs typeface="Arial"/>
              </a:rPr>
              <a:t> </a:t>
            </a:r>
            <a:r>
              <a:rPr sz="900" dirty="0">
                <a:latin typeface="Arial"/>
                <a:cs typeface="Arial"/>
              </a:rPr>
              <a:t>service</a:t>
            </a:r>
            <a:r>
              <a:rPr sz="900" spc="-15" dirty="0">
                <a:latin typeface="Arial"/>
                <a:cs typeface="Arial"/>
              </a:rPr>
              <a:t> </a:t>
            </a:r>
            <a:r>
              <a:rPr sz="900" dirty="0">
                <a:latin typeface="Arial"/>
                <a:cs typeface="Arial"/>
              </a:rPr>
              <a:t>are</a:t>
            </a:r>
            <a:r>
              <a:rPr sz="900" spc="-20" dirty="0">
                <a:latin typeface="Arial"/>
                <a:cs typeface="Arial"/>
              </a:rPr>
              <a:t> </a:t>
            </a:r>
            <a:r>
              <a:rPr sz="900" dirty="0">
                <a:latin typeface="Arial"/>
                <a:cs typeface="Arial"/>
              </a:rPr>
              <a:t>fully</a:t>
            </a:r>
            <a:r>
              <a:rPr sz="900" spc="-15" dirty="0">
                <a:latin typeface="Arial"/>
                <a:cs typeface="Arial"/>
              </a:rPr>
              <a:t> </a:t>
            </a:r>
            <a:r>
              <a:rPr sz="900" spc="-10" dirty="0">
                <a:latin typeface="Arial"/>
                <a:cs typeface="Arial"/>
              </a:rPr>
              <a:t>self-described</a:t>
            </a:r>
            <a:endParaRPr sz="900">
              <a:latin typeface="Arial"/>
              <a:cs typeface="Arial"/>
            </a:endParaRPr>
          </a:p>
          <a:p>
            <a:pPr marL="269240" marR="389890" indent="-158750">
              <a:lnSpc>
                <a:spcPct val="111600"/>
              </a:lnSpc>
              <a:buClr>
                <a:srgbClr val="3333B2"/>
              </a:buClr>
              <a:buAutoNum type="arabicPeriod"/>
              <a:tabLst>
                <a:tab pos="266065" algn="l"/>
              </a:tabLst>
            </a:pPr>
            <a:r>
              <a:rPr sz="900" dirty="0">
                <a:latin typeface="Arial"/>
                <a:cs typeface="Arial"/>
              </a:rPr>
              <a:t>After</a:t>
            </a:r>
            <a:r>
              <a:rPr sz="900" spc="-25" dirty="0">
                <a:latin typeface="Arial"/>
                <a:cs typeface="Arial"/>
              </a:rPr>
              <a:t> </a:t>
            </a:r>
            <a:r>
              <a:rPr sz="900" spc="-10" dirty="0">
                <a:latin typeface="Arial"/>
                <a:cs typeface="Arial"/>
              </a:rPr>
              <a:t>executing</a:t>
            </a:r>
            <a:r>
              <a:rPr sz="900" spc="-25" dirty="0">
                <a:latin typeface="Arial"/>
                <a:cs typeface="Arial"/>
              </a:rPr>
              <a:t> </a:t>
            </a:r>
            <a:r>
              <a:rPr sz="900" dirty="0">
                <a:latin typeface="Arial"/>
                <a:cs typeface="Arial"/>
              </a:rPr>
              <a:t>an</a:t>
            </a:r>
            <a:r>
              <a:rPr sz="900" spc="-25" dirty="0">
                <a:latin typeface="Arial"/>
                <a:cs typeface="Arial"/>
              </a:rPr>
              <a:t> </a:t>
            </a:r>
            <a:r>
              <a:rPr sz="900" dirty="0">
                <a:latin typeface="Arial"/>
                <a:cs typeface="Arial"/>
              </a:rPr>
              <a:t>operation</a:t>
            </a:r>
            <a:r>
              <a:rPr sz="900" spc="-25" dirty="0">
                <a:latin typeface="Arial"/>
                <a:cs typeface="Arial"/>
              </a:rPr>
              <a:t> </a:t>
            </a:r>
            <a:r>
              <a:rPr sz="900" dirty="0">
                <a:latin typeface="Arial"/>
                <a:cs typeface="Arial"/>
              </a:rPr>
              <a:t>at</a:t>
            </a:r>
            <a:r>
              <a:rPr sz="900" spc="-25"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service,</a:t>
            </a:r>
            <a:r>
              <a:rPr sz="900" spc="-25"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component</a:t>
            </a:r>
            <a:r>
              <a:rPr sz="900" spc="-25" dirty="0">
                <a:latin typeface="Arial"/>
                <a:cs typeface="Arial"/>
              </a:rPr>
              <a:t> </a:t>
            </a:r>
            <a:r>
              <a:rPr sz="900" spc="-10" dirty="0">
                <a:latin typeface="Arial"/>
                <a:cs typeface="Arial"/>
              </a:rPr>
              <a:t>forgets everything </a:t>
            </a:r>
            <a:r>
              <a:rPr sz="900" dirty="0">
                <a:latin typeface="Arial"/>
                <a:cs typeface="Arial"/>
              </a:rPr>
              <a:t>about</a:t>
            </a:r>
            <a:r>
              <a:rPr sz="900" spc="-5" dirty="0">
                <a:latin typeface="Arial"/>
                <a:cs typeface="Arial"/>
              </a:rPr>
              <a:t> </a:t>
            </a:r>
            <a:r>
              <a:rPr sz="900" dirty="0">
                <a:latin typeface="Arial"/>
                <a:cs typeface="Arial"/>
              </a:rPr>
              <a:t>the</a:t>
            </a:r>
            <a:r>
              <a:rPr sz="900" spc="-10" dirty="0">
                <a:latin typeface="Arial"/>
                <a:cs typeface="Arial"/>
              </a:rPr>
              <a:t> caller</a:t>
            </a:r>
            <a:endParaRPr sz="900">
              <a:latin typeface="Arial"/>
              <a:cs typeface="Arial"/>
            </a:endParaRPr>
          </a:p>
          <a:p>
            <a:pPr>
              <a:lnSpc>
                <a:spcPct val="100000"/>
              </a:lnSpc>
              <a:spcBef>
                <a:spcPts val="30"/>
              </a:spcBef>
            </a:pPr>
            <a:endParaRPr sz="1200">
              <a:latin typeface="Arial"/>
              <a:cs typeface="Arial"/>
            </a:endParaRPr>
          </a:p>
          <a:p>
            <a:pPr marL="15875">
              <a:lnSpc>
                <a:spcPct val="100000"/>
              </a:lnSpc>
            </a:pPr>
            <a:r>
              <a:rPr sz="1000" dirty="0">
                <a:solidFill>
                  <a:srgbClr val="3333B2"/>
                </a:solidFill>
                <a:latin typeface="Arial"/>
                <a:cs typeface="Arial"/>
              </a:rPr>
              <a:t>Basic</a:t>
            </a:r>
            <a:r>
              <a:rPr sz="1000" spc="-30" dirty="0">
                <a:solidFill>
                  <a:srgbClr val="3333B2"/>
                </a:solidFill>
                <a:latin typeface="Arial"/>
                <a:cs typeface="Arial"/>
              </a:rPr>
              <a:t> </a:t>
            </a:r>
            <a:r>
              <a:rPr sz="1000" spc="-10" dirty="0">
                <a:solidFill>
                  <a:srgbClr val="3333B2"/>
                </a:solidFill>
                <a:latin typeface="Arial"/>
                <a:cs typeface="Arial"/>
              </a:rPr>
              <a:t>operations</a:t>
            </a:r>
            <a:endParaRPr sz="1000">
              <a:latin typeface="Arial"/>
              <a:cs typeface="Arial"/>
            </a:endParaRPr>
          </a:p>
        </p:txBody>
      </p:sp>
      <p:graphicFrame>
        <p:nvGraphicFramePr>
          <p:cNvPr id="5" name="object 5"/>
          <p:cNvGraphicFramePr>
            <a:graphicFrameLocks noGrp="1"/>
          </p:cNvGraphicFramePr>
          <p:nvPr/>
        </p:nvGraphicFramePr>
        <p:xfrm>
          <a:off x="856691" y="2396248"/>
          <a:ext cx="2889885" cy="706120"/>
        </p:xfrm>
        <a:graphic>
          <a:graphicData uri="http://schemas.openxmlformats.org/drawingml/2006/table">
            <a:tbl>
              <a:tblPr firstRow="1" bandRow="1">
                <a:tableStyleId>{2D5ABB26-0587-4C30-8999-92F81FD0307C}</a:tableStyleId>
              </a:tblPr>
              <a:tblGrid>
                <a:gridCol w="575310">
                  <a:extLst>
                    <a:ext uri="{9D8B030D-6E8A-4147-A177-3AD203B41FA5}">
                      <a16:colId xmlns:a16="http://schemas.microsoft.com/office/drawing/2014/main" val="20000"/>
                    </a:ext>
                  </a:extLst>
                </a:gridCol>
                <a:gridCol w="2314575">
                  <a:extLst>
                    <a:ext uri="{9D8B030D-6E8A-4147-A177-3AD203B41FA5}">
                      <a16:colId xmlns:a16="http://schemas.microsoft.com/office/drawing/2014/main" val="20001"/>
                    </a:ext>
                  </a:extLst>
                </a:gridCol>
              </a:tblGrid>
              <a:tr h="145415">
                <a:tc>
                  <a:txBody>
                    <a:bodyPr/>
                    <a:lstStyle/>
                    <a:p>
                      <a:pPr marL="78105">
                        <a:lnSpc>
                          <a:spcPct val="100000"/>
                        </a:lnSpc>
                        <a:spcBef>
                          <a:spcPts val="55"/>
                        </a:spcBef>
                      </a:pPr>
                      <a:r>
                        <a:rPr sz="700" b="1" spc="-10" dirty="0">
                          <a:latin typeface="Arial"/>
                          <a:cs typeface="Arial"/>
                        </a:rPr>
                        <a:t>Operation</a:t>
                      </a:r>
                      <a:endParaRPr sz="700">
                        <a:latin typeface="Arial"/>
                        <a:cs typeface="Arial"/>
                      </a:endParaRPr>
                    </a:p>
                  </a:txBody>
                  <a:tcPr marL="0" marR="0" marT="698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marL="78105">
                        <a:lnSpc>
                          <a:spcPct val="100000"/>
                        </a:lnSpc>
                        <a:spcBef>
                          <a:spcPts val="55"/>
                        </a:spcBef>
                      </a:pPr>
                      <a:r>
                        <a:rPr sz="700" b="1" spc="-10" dirty="0">
                          <a:latin typeface="Arial"/>
                          <a:cs typeface="Arial"/>
                        </a:rPr>
                        <a:t>Description</a:t>
                      </a:r>
                      <a:endParaRPr sz="700">
                        <a:latin typeface="Arial"/>
                        <a:cs typeface="Arial"/>
                      </a:endParaRPr>
                    </a:p>
                  </a:txBody>
                  <a:tcPr marL="0" marR="0" marT="6985"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145415">
                <a:tc>
                  <a:txBody>
                    <a:bodyPr/>
                    <a:lstStyle/>
                    <a:p>
                      <a:pPr marL="71755">
                        <a:lnSpc>
                          <a:spcPts val="1010"/>
                        </a:lnSpc>
                      </a:pPr>
                      <a:r>
                        <a:rPr sz="1000" spc="-25" dirty="0">
                          <a:latin typeface="Times New Roman"/>
                          <a:cs typeface="Times New Roman"/>
                        </a:rPr>
                        <a:t>PUT</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marL="78105">
                        <a:lnSpc>
                          <a:spcPct val="100000"/>
                        </a:lnSpc>
                        <a:spcBef>
                          <a:spcPts val="110"/>
                        </a:spcBef>
                      </a:pPr>
                      <a:r>
                        <a:rPr sz="700" dirty="0">
                          <a:latin typeface="Arial"/>
                          <a:cs typeface="Arial"/>
                        </a:rPr>
                        <a:t>Create</a:t>
                      </a:r>
                      <a:r>
                        <a:rPr sz="700" spc="-25" dirty="0">
                          <a:latin typeface="Arial"/>
                          <a:cs typeface="Arial"/>
                        </a:rPr>
                        <a:t> </a:t>
                      </a:r>
                      <a:r>
                        <a:rPr sz="700" dirty="0">
                          <a:latin typeface="Arial"/>
                          <a:cs typeface="Arial"/>
                        </a:rPr>
                        <a:t>a</a:t>
                      </a:r>
                      <a:r>
                        <a:rPr sz="700" spc="-25" dirty="0">
                          <a:latin typeface="Arial"/>
                          <a:cs typeface="Arial"/>
                        </a:rPr>
                        <a:t> </a:t>
                      </a:r>
                      <a:r>
                        <a:rPr sz="700" dirty="0">
                          <a:latin typeface="Arial"/>
                          <a:cs typeface="Arial"/>
                        </a:rPr>
                        <a:t>new</a:t>
                      </a:r>
                      <a:r>
                        <a:rPr sz="700" spc="-20" dirty="0">
                          <a:latin typeface="Arial"/>
                          <a:cs typeface="Arial"/>
                        </a:rPr>
                        <a:t> </a:t>
                      </a:r>
                      <a:r>
                        <a:rPr sz="700" spc="-10" dirty="0">
                          <a:latin typeface="Arial"/>
                          <a:cs typeface="Arial"/>
                        </a:rPr>
                        <a:t>resource</a:t>
                      </a:r>
                      <a:endParaRPr sz="700">
                        <a:latin typeface="Arial"/>
                        <a:cs typeface="Arial"/>
                      </a:endParaRPr>
                    </a:p>
                  </a:txBody>
                  <a:tcPr marL="0" marR="0" marT="1397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38430">
                <a:tc>
                  <a:txBody>
                    <a:bodyPr/>
                    <a:lstStyle/>
                    <a:p>
                      <a:pPr marL="71755">
                        <a:lnSpc>
                          <a:spcPts val="955"/>
                        </a:lnSpc>
                      </a:pPr>
                      <a:r>
                        <a:rPr sz="1000" spc="-25" dirty="0">
                          <a:latin typeface="Times New Roman"/>
                          <a:cs typeface="Times New Roman"/>
                        </a:rPr>
                        <a:t>GET</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55"/>
                        </a:spcBef>
                      </a:pPr>
                      <a:r>
                        <a:rPr sz="700" spc="-10" dirty="0">
                          <a:latin typeface="Arial"/>
                          <a:cs typeface="Arial"/>
                        </a:rPr>
                        <a:t>Retrieve</a:t>
                      </a:r>
                      <a:r>
                        <a:rPr sz="700" spc="-15" dirty="0">
                          <a:latin typeface="Arial"/>
                          <a:cs typeface="Arial"/>
                        </a:rPr>
                        <a:t> </a:t>
                      </a:r>
                      <a:r>
                        <a:rPr sz="700" dirty="0">
                          <a:latin typeface="Arial"/>
                          <a:cs typeface="Arial"/>
                        </a:rPr>
                        <a:t>the</a:t>
                      </a:r>
                      <a:r>
                        <a:rPr sz="700" spc="-15" dirty="0">
                          <a:latin typeface="Arial"/>
                          <a:cs typeface="Arial"/>
                        </a:rPr>
                        <a:t> </a:t>
                      </a:r>
                      <a:r>
                        <a:rPr sz="700" dirty="0">
                          <a:latin typeface="Arial"/>
                          <a:cs typeface="Arial"/>
                        </a:rPr>
                        <a:t>state</a:t>
                      </a:r>
                      <a:r>
                        <a:rPr sz="700" spc="-10" dirty="0">
                          <a:latin typeface="Arial"/>
                          <a:cs typeface="Arial"/>
                        </a:rPr>
                        <a:t> </a:t>
                      </a:r>
                      <a:r>
                        <a:rPr sz="700" dirty="0">
                          <a:latin typeface="Arial"/>
                          <a:cs typeface="Arial"/>
                        </a:rPr>
                        <a:t>of</a:t>
                      </a:r>
                      <a:r>
                        <a:rPr sz="700" spc="-15" dirty="0">
                          <a:latin typeface="Arial"/>
                          <a:cs typeface="Arial"/>
                        </a:rPr>
                        <a:t> </a:t>
                      </a:r>
                      <a:r>
                        <a:rPr sz="700" dirty="0">
                          <a:latin typeface="Arial"/>
                          <a:cs typeface="Arial"/>
                        </a:rPr>
                        <a:t>a</a:t>
                      </a:r>
                      <a:r>
                        <a:rPr sz="700" spc="-15" dirty="0">
                          <a:latin typeface="Arial"/>
                          <a:cs typeface="Arial"/>
                        </a:rPr>
                        <a:t> </a:t>
                      </a:r>
                      <a:r>
                        <a:rPr sz="700" dirty="0">
                          <a:latin typeface="Arial"/>
                          <a:cs typeface="Arial"/>
                        </a:rPr>
                        <a:t>resource</a:t>
                      </a:r>
                      <a:r>
                        <a:rPr sz="700" spc="-10" dirty="0">
                          <a:latin typeface="Arial"/>
                          <a:cs typeface="Arial"/>
                        </a:rPr>
                        <a:t> </a:t>
                      </a:r>
                      <a:r>
                        <a:rPr sz="700" dirty="0">
                          <a:latin typeface="Arial"/>
                          <a:cs typeface="Arial"/>
                        </a:rPr>
                        <a:t>in</a:t>
                      </a:r>
                      <a:r>
                        <a:rPr sz="700" spc="-15" dirty="0">
                          <a:latin typeface="Arial"/>
                          <a:cs typeface="Arial"/>
                        </a:rPr>
                        <a:t> </a:t>
                      </a:r>
                      <a:r>
                        <a:rPr sz="700" dirty="0">
                          <a:latin typeface="Arial"/>
                          <a:cs typeface="Arial"/>
                        </a:rPr>
                        <a:t>some</a:t>
                      </a:r>
                      <a:r>
                        <a:rPr sz="700" spc="-15" dirty="0">
                          <a:latin typeface="Arial"/>
                          <a:cs typeface="Arial"/>
                        </a:rPr>
                        <a:t> </a:t>
                      </a:r>
                      <a:r>
                        <a:rPr sz="700" spc="-10" dirty="0">
                          <a:latin typeface="Arial"/>
                          <a:cs typeface="Arial"/>
                        </a:rPr>
                        <a:t>representation</a:t>
                      </a:r>
                      <a:endParaRPr sz="700">
                        <a:latin typeface="Arial"/>
                        <a:cs typeface="Arial"/>
                      </a:endParaRPr>
                    </a:p>
                  </a:txBody>
                  <a:tcPr marL="0" marR="0" marT="698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138430">
                <a:tc>
                  <a:txBody>
                    <a:bodyPr/>
                    <a:lstStyle/>
                    <a:p>
                      <a:pPr marL="71755">
                        <a:lnSpc>
                          <a:spcPts val="955"/>
                        </a:lnSpc>
                      </a:pPr>
                      <a:r>
                        <a:rPr sz="1000" spc="-10" dirty="0">
                          <a:latin typeface="Times New Roman"/>
                          <a:cs typeface="Times New Roman"/>
                        </a:rPr>
                        <a:t>DELETE</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55"/>
                        </a:spcBef>
                      </a:pPr>
                      <a:r>
                        <a:rPr sz="700" dirty="0">
                          <a:latin typeface="Arial"/>
                          <a:cs typeface="Arial"/>
                        </a:rPr>
                        <a:t>Delete</a:t>
                      </a:r>
                      <a:r>
                        <a:rPr sz="700" spc="-20" dirty="0">
                          <a:latin typeface="Arial"/>
                          <a:cs typeface="Arial"/>
                        </a:rPr>
                        <a:t> </a:t>
                      </a:r>
                      <a:r>
                        <a:rPr sz="700" dirty="0">
                          <a:latin typeface="Arial"/>
                          <a:cs typeface="Arial"/>
                        </a:rPr>
                        <a:t>a</a:t>
                      </a:r>
                      <a:r>
                        <a:rPr sz="700" spc="-15" dirty="0">
                          <a:latin typeface="Arial"/>
                          <a:cs typeface="Arial"/>
                        </a:rPr>
                        <a:t> </a:t>
                      </a:r>
                      <a:r>
                        <a:rPr sz="700" spc="-10" dirty="0">
                          <a:latin typeface="Arial"/>
                          <a:cs typeface="Arial"/>
                        </a:rPr>
                        <a:t>resource</a:t>
                      </a:r>
                      <a:endParaRPr sz="700">
                        <a:latin typeface="Arial"/>
                        <a:cs typeface="Arial"/>
                      </a:endParaRPr>
                    </a:p>
                  </a:txBody>
                  <a:tcPr marL="0" marR="0" marT="698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r h="138430">
                <a:tc>
                  <a:txBody>
                    <a:bodyPr/>
                    <a:lstStyle/>
                    <a:p>
                      <a:pPr marL="71755">
                        <a:lnSpc>
                          <a:spcPts val="955"/>
                        </a:lnSpc>
                      </a:pPr>
                      <a:r>
                        <a:rPr sz="1000" spc="-20" dirty="0">
                          <a:latin typeface="Times New Roman"/>
                          <a:cs typeface="Times New Roman"/>
                        </a:rPr>
                        <a:t>POST</a:t>
                      </a:r>
                      <a:endParaRPr sz="1000">
                        <a:latin typeface="Times New Roman"/>
                        <a:cs typeface="Times New Roman"/>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8105">
                        <a:lnSpc>
                          <a:spcPct val="100000"/>
                        </a:lnSpc>
                        <a:spcBef>
                          <a:spcPts val="55"/>
                        </a:spcBef>
                      </a:pPr>
                      <a:r>
                        <a:rPr sz="700" dirty="0">
                          <a:latin typeface="Arial"/>
                          <a:cs typeface="Arial"/>
                        </a:rPr>
                        <a:t>Modify</a:t>
                      </a:r>
                      <a:r>
                        <a:rPr sz="700" spc="-15" dirty="0">
                          <a:latin typeface="Arial"/>
                          <a:cs typeface="Arial"/>
                        </a:rPr>
                        <a:t> </a:t>
                      </a:r>
                      <a:r>
                        <a:rPr sz="700" dirty="0">
                          <a:latin typeface="Arial"/>
                          <a:cs typeface="Arial"/>
                        </a:rPr>
                        <a:t>a</a:t>
                      </a:r>
                      <a:r>
                        <a:rPr sz="700" spc="-10" dirty="0">
                          <a:latin typeface="Arial"/>
                          <a:cs typeface="Arial"/>
                        </a:rPr>
                        <a:t> </a:t>
                      </a:r>
                      <a:r>
                        <a:rPr sz="700" dirty="0">
                          <a:latin typeface="Arial"/>
                          <a:cs typeface="Arial"/>
                        </a:rPr>
                        <a:t>resource</a:t>
                      </a:r>
                      <a:r>
                        <a:rPr sz="700" spc="-10" dirty="0">
                          <a:latin typeface="Arial"/>
                          <a:cs typeface="Arial"/>
                        </a:rPr>
                        <a:t> </a:t>
                      </a:r>
                      <a:r>
                        <a:rPr sz="700" dirty="0">
                          <a:latin typeface="Arial"/>
                          <a:cs typeface="Arial"/>
                        </a:rPr>
                        <a:t>by</a:t>
                      </a:r>
                      <a:r>
                        <a:rPr sz="700" spc="-15" dirty="0">
                          <a:latin typeface="Arial"/>
                          <a:cs typeface="Arial"/>
                        </a:rPr>
                        <a:t> </a:t>
                      </a:r>
                      <a:r>
                        <a:rPr sz="700" spc="-10" dirty="0">
                          <a:latin typeface="Arial"/>
                          <a:cs typeface="Arial"/>
                        </a:rPr>
                        <a:t>transferring </a:t>
                      </a:r>
                      <a:r>
                        <a:rPr sz="700" dirty="0">
                          <a:latin typeface="Arial"/>
                          <a:cs typeface="Arial"/>
                        </a:rPr>
                        <a:t>a</a:t>
                      </a:r>
                      <a:r>
                        <a:rPr sz="700" spc="-10" dirty="0">
                          <a:latin typeface="Arial"/>
                          <a:cs typeface="Arial"/>
                        </a:rPr>
                        <a:t> </a:t>
                      </a:r>
                      <a:r>
                        <a:rPr sz="700" dirty="0">
                          <a:latin typeface="Arial"/>
                          <a:cs typeface="Arial"/>
                        </a:rPr>
                        <a:t>new</a:t>
                      </a:r>
                      <a:r>
                        <a:rPr sz="700" spc="-15" dirty="0">
                          <a:latin typeface="Arial"/>
                          <a:cs typeface="Arial"/>
                        </a:rPr>
                        <a:t> </a:t>
                      </a:r>
                      <a:r>
                        <a:rPr sz="700" spc="-20" dirty="0">
                          <a:latin typeface="Arial"/>
                          <a:cs typeface="Arial"/>
                        </a:rPr>
                        <a:t>state</a:t>
                      </a:r>
                      <a:endParaRPr sz="700">
                        <a:latin typeface="Arial"/>
                        <a:cs typeface="Arial"/>
                      </a:endParaRPr>
                    </a:p>
                  </a:txBody>
                  <a:tcPr marL="0" marR="0" marT="698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4"/>
                  </a:ext>
                </a:extLst>
              </a:tr>
            </a:tbl>
          </a:graphicData>
        </a:graphic>
      </p:graphicFrame>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86868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Service-</a:t>
            </a:r>
            <a:r>
              <a:rPr sz="500" dirty="0">
                <a:latin typeface="Arial"/>
                <a:cs typeface="Arial"/>
                <a:hlinkClick r:id="rId3" action="ppaction://hlinksldjump"/>
              </a:rPr>
              <a:t>oriented</a:t>
            </a:r>
            <a:r>
              <a:rPr sz="500" spc="50" dirty="0">
                <a:latin typeface="Arial"/>
                <a:cs typeface="Arial"/>
                <a:hlinkClick r:id="rId3" action="ppaction://hlinksldjump"/>
              </a:rPr>
              <a:t> </a:t>
            </a:r>
            <a:r>
              <a:rPr sz="500" spc="-10" dirty="0">
                <a:latin typeface="Arial"/>
                <a:cs typeface="Arial"/>
                <a:hlinkClick r:id="rId3" action="ppaction://hlinksldjump"/>
              </a:rPr>
              <a:t>architectures</a:t>
            </a:r>
            <a:endParaRPr sz="500">
              <a:latin typeface="Arial"/>
              <a:cs typeface="Arial"/>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57954" algn="l"/>
              </a:tabLst>
            </a:pPr>
            <a:r>
              <a:rPr sz="500" spc="-10" dirty="0">
                <a:latin typeface="Arial"/>
                <a:cs typeface="Arial"/>
                <a:hlinkClick r:id="rId2" action="ppaction://hlinksldjump"/>
              </a:rPr>
              <a:t>Architectures</a:t>
            </a:r>
            <a:r>
              <a:rPr sz="500" dirty="0">
                <a:latin typeface="Arial"/>
                <a:cs typeface="Arial"/>
              </a:rPr>
              <a:t>	</a:t>
            </a:r>
            <a:r>
              <a:rPr sz="500" spc="-10" dirty="0">
                <a:solidFill>
                  <a:srgbClr val="FFFFFF"/>
                </a:solidFill>
                <a:latin typeface="Arial"/>
                <a:cs typeface="Arial"/>
                <a:hlinkClick r:id="rId2" action="ppaction://hlinksldjump"/>
              </a:rPr>
              <a:t>Architectural</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styles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Example:</a:t>
            </a:r>
            <a:r>
              <a:rPr spc="15" dirty="0"/>
              <a:t> </a:t>
            </a:r>
            <a:r>
              <a:rPr spc="-10" dirty="0"/>
              <a:t>Amazon’s</a:t>
            </a:r>
            <a:r>
              <a:rPr spc="-50" dirty="0"/>
              <a:t> </a:t>
            </a:r>
            <a:r>
              <a:rPr dirty="0"/>
              <a:t>Simple</a:t>
            </a:r>
            <a:r>
              <a:rPr spc="-55" dirty="0"/>
              <a:t> </a:t>
            </a:r>
            <a:r>
              <a:rPr dirty="0"/>
              <a:t>Storage</a:t>
            </a:r>
            <a:r>
              <a:rPr spc="-50" dirty="0"/>
              <a:t> </a:t>
            </a:r>
            <a:r>
              <a:rPr spc="-10" dirty="0"/>
              <a:t>Service</a:t>
            </a:r>
          </a:p>
        </p:txBody>
      </p:sp>
      <p:sp>
        <p:nvSpPr>
          <p:cNvPr id="4" name="object 4"/>
          <p:cNvSpPr txBox="1"/>
          <p:nvPr/>
        </p:nvSpPr>
        <p:spPr>
          <a:xfrm>
            <a:off x="305282" y="499476"/>
            <a:ext cx="3968115" cy="1968500"/>
          </a:xfrm>
          <a:prstGeom prst="rect">
            <a:avLst/>
          </a:prstGeom>
        </p:spPr>
        <p:txBody>
          <a:bodyPr vert="horz" wrap="square" lIns="0" tIns="27305" rIns="0" bIns="0" rtlCol="0">
            <a:spAutoFit/>
          </a:bodyPr>
          <a:lstStyle/>
          <a:p>
            <a:pPr marL="54610">
              <a:lnSpc>
                <a:spcPct val="100000"/>
              </a:lnSpc>
              <a:spcBef>
                <a:spcPts val="215"/>
              </a:spcBef>
            </a:pPr>
            <a:r>
              <a:rPr sz="1000" spc="-10" dirty="0">
                <a:solidFill>
                  <a:srgbClr val="3333B2"/>
                </a:solidFill>
                <a:latin typeface="Arial"/>
                <a:cs typeface="Arial"/>
              </a:rPr>
              <a:t>Essence</a:t>
            </a:r>
            <a:endParaRPr sz="1000" dirty="0">
              <a:latin typeface="Arial"/>
              <a:cs typeface="Arial"/>
            </a:endParaRPr>
          </a:p>
          <a:p>
            <a:pPr marL="54610" marR="17780">
              <a:lnSpc>
                <a:spcPct val="105600"/>
              </a:lnSpc>
              <a:spcBef>
                <a:spcPts val="45"/>
              </a:spcBef>
            </a:pPr>
            <a:r>
              <a:rPr sz="900" spc="-10" dirty="0">
                <a:solidFill>
                  <a:srgbClr val="C80000"/>
                </a:solidFill>
                <a:latin typeface="Arial"/>
                <a:cs typeface="Arial"/>
              </a:rPr>
              <a:t>Objects</a:t>
            </a:r>
            <a:r>
              <a:rPr sz="900" spc="-30" dirty="0">
                <a:solidFill>
                  <a:srgbClr val="C80000"/>
                </a:solidFill>
                <a:latin typeface="Arial"/>
                <a:cs typeface="Arial"/>
              </a:rPr>
              <a:t> </a:t>
            </a:r>
            <a:r>
              <a:rPr sz="900" spc="-10" dirty="0">
                <a:latin typeface="Arial"/>
                <a:cs typeface="Arial"/>
              </a:rPr>
              <a:t>(i.e.,</a:t>
            </a:r>
            <a:r>
              <a:rPr sz="900" spc="-25" dirty="0">
                <a:latin typeface="Arial"/>
                <a:cs typeface="Arial"/>
              </a:rPr>
              <a:t> </a:t>
            </a:r>
            <a:r>
              <a:rPr sz="900" dirty="0">
                <a:latin typeface="Arial"/>
                <a:cs typeface="Arial"/>
              </a:rPr>
              <a:t>files)</a:t>
            </a:r>
            <a:r>
              <a:rPr sz="900" spc="-25" dirty="0">
                <a:latin typeface="Arial"/>
                <a:cs typeface="Arial"/>
              </a:rPr>
              <a:t> </a:t>
            </a:r>
            <a:r>
              <a:rPr sz="900" dirty="0">
                <a:latin typeface="Arial"/>
                <a:cs typeface="Arial"/>
              </a:rPr>
              <a:t>are</a:t>
            </a:r>
            <a:r>
              <a:rPr sz="900" spc="-25" dirty="0">
                <a:latin typeface="Arial"/>
                <a:cs typeface="Arial"/>
              </a:rPr>
              <a:t> </a:t>
            </a:r>
            <a:r>
              <a:rPr sz="900" spc="-10" dirty="0">
                <a:latin typeface="Arial"/>
                <a:cs typeface="Arial"/>
              </a:rPr>
              <a:t>placed</a:t>
            </a:r>
            <a:r>
              <a:rPr sz="900" spc="-25" dirty="0">
                <a:latin typeface="Arial"/>
                <a:cs typeface="Arial"/>
              </a:rPr>
              <a:t> </a:t>
            </a:r>
            <a:r>
              <a:rPr sz="900" dirty="0">
                <a:latin typeface="Arial"/>
                <a:cs typeface="Arial"/>
              </a:rPr>
              <a:t>into</a:t>
            </a:r>
            <a:r>
              <a:rPr sz="900" spc="-25" dirty="0">
                <a:latin typeface="Arial"/>
                <a:cs typeface="Arial"/>
              </a:rPr>
              <a:t> </a:t>
            </a:r>
            <a:r>
              <a:rPr sz="900" spc="-20" dirty="0">
                <a:solidFill>
                  <a:srgbClr val="C80000"/>
                </a:solidFill>
                <a:latin typeface="Arial"/>
                <a:cs typeface="Arial"/>
              </a:rPr>
              <a:t>buckets</a:t>
            </a:r>
            <a:r>
              <a:rPr sz="900" spc="-25" dirty="0">
                <a:solidFill>
                  <a:srgbClr val="C80000"/>
                </a:solidFill>
                <a:latin typeface="Arial"/>
                <a:cs typeface="Arial"/>
              </a:rPr>
              <a:t> </a:t>
            </a:r>
            <a:r>
              <a:rPr sz="900" spc="-10" dirty="0">
                <a:latin typeface="Arial"/>
                <a:cs typeface="Arial"/>
              </a:rPr>
              <a:t>(i.e.,</a:t>
            </a:r>
            <a:r>
              <a:rPr sz="900" spc="-25" dirty="0">
                <a:latin typeface="Arial"/>
                <a:cs typeface="Arial"/>
              </a:rPr>
              <a:t> </a:t>
            </a:r>
            <a:r>
              <a:rPr sz="900" spc="-10" dirty="0">
                <a:latin typeface="Arial"/>
                <a:cs typeface="Arial"/>
              </a:rPr>
              <a:t>directories).</a:t>
            </a:r>
            <a:r>
              <a:rPr sz="900" spc="30" dirty="0">
                <a:latin typeface="Arial"/>
                <a:cs typeface="Arial"/>
              </a:rPr>
              <a:t> </a:t>
            </a:r>
            <a:r>
              <a:rPr sz="900" spc="-20" dirty="0">
                <a:latin typeface="Arial"/>
                <a:cs typeface="Arial"/>
              </a:rPr>
              <a:t>Buckets</a:t>
            </a:r>
            <a:r>
              <a:rPr sz="900" spc="-25" dirty="0">
                <a:latin typeface="Arial"/>
                <a:cs typeface="Arial"/>
              </a:rPr>
              <a:t> </a:t>
            </a:r>
            <a:r>
              <a:rPr sz="900" spc="-10" dirty="0">
                <a:latin typeface="Arial"/>
                <a:cs typeface="Arial"/>
              </a:rPr>
              <a:t>cannot</a:t>
            </a:r>
            <a:r>
              <a:rPr sz="900" spc="-25" dirty="0">
                <a:latin typeface="Arial"/>
                <a:cs typeface="Arial"/>
              </a:rPr>
              <a:t> be </a:t>
            </a:r>
            <a:r>
              <a:rPr sz="900" dirty="0">
                <a:latin typeface="Arial"/>
                <a:cs typeface="Arial"/>
              </a:rPr>
              <a:t>placed</a:t>
            </a:r>
            <a:r>
              <a:rPr sz="900" spc="-30" dirty="0">
                <a:latin typeface="Arial"/>
                <a:cs typeface="Arial"/>
              </a:rPr>
              <a:t> </a:t>
            </a:r>
            <a:r>
              <a:rPr sz="900" dirty="0">
                <a:latin typeface="Arial"/>
                <a:cs typeface="Arial"/>
              </a:rPr>
              <a:t>into</a:t>
            </a:r>
            <a:r>
              <a:rPr sz="900" spc="-20" dirty="0">
                <a:latin typeface="Arial"/>
                <a:cs typeface="Arial"/>
              </a:rPr>
              <a:t> </a:t>
            </a:r>
            <a:r>
              <a:rPr sz="900" spc="-10" dirty="0">
                <a:latin typeface="Arial"/>
                <a:cs typeface="Arial"/>
              </a:rPr>
              <a:t>buckets.</a:t>
            </a:r>
            <a:r>
              <a:rPr sz="900" spc="40" dirty="0">
                <a:latin typeface="Arial"/>
                <a:cs typeface="Arial"/>
              </a:rPr>
              <a:t> </a:t>
            </a:r>
            <a:r>
              <a:rPr sz="900" dirty="0">
                <a:latin typeface="Arial"/>
                <a:cs typeface="Arial"/>
              </a:rPr>
              <a:t>Operations</a:t>
            </a:r>
            <a:r>
              <a:rPr sz="900" spc="-20" dirty="0">
                <a:latin typeface="Arial"/>
                <a:cs typeface="Arial"/>
              </a:rPr>
              <a:t> </a:t>
            </a:r>
            <a:r>
              <a:rPr sz="900" dirty="0">
                <a:latin typeface="Arial"/>
                <a:cs typeface="Arial"/>
              </a:rPr>
              <a:t>on</a:t>
            </a:r>
            <a:r>
              <a:rPr sz="900" spc="204" dirty="0">
                <a:latin typeface="Arial"/>
                <a:cs typeface="Arial"/>
              </a:rPr>
              <a:t> </a:t>
            </a:r>
            <a:r>
              <a:rPr sz="1000" i="1" spc="-10" dirty="0">
                <a:latin typeface="Times New Roman"/>
                <a:cs typeface="Times New Roman"/>
              </a:rPr>
              <a:t>ObjectName</a:t>
            </a:r>
            <a:r>
              <a:rPr sz="1000" spc="-80" dirty="0">
                <a:latin typeface="Times New Roman"/>
                <a:cs typeface="Times New Roman"/>
              </a:rPr>
              <a:t> </a:t>
            </a:r>
            <a:r>
              <a:rPr sz="900" dirty="0">
                <a:latin typeface="Arial"/>
                <a:cs typeface="Arial"/>
              </a:rPr>
              <a:t>in</a:t>
            </a:r>
            <a:r>
              <a:rPr sz="900" spc="-15" dirty="0">
                <a:latin typeface="Arial"/>
                <a:cs typeface="Arial"/>
              </a:rPr>
              <a:t> </a:t>
            </a:r>
            <a:r>
              <a:rPr sz="900" dirty="0">
                <a:latin typeface="Arial"/>
                <a:cs typeface="Arial"/>
              </a:rPr>
              <a:t>bucket</a:t>
            </a:r>
            <a:r>
              <a:rPr sz="900" spc="204" dirty="0">
                <a:latin typeface="Arial"/>
                <a:cs typeface="Arial"/>
              </a:rPr>
              <a:t> </a:t>
            </a:r>
            <a:r>
              <a:rPr sz="1000" i="1" spc="-10" dirty="0">
                <a:latin typeface="Times New Roman"/>
                <a:cs typeface="Times New Roman"/>
              </a:rPr>
              <a:t>BucketName</a:t>
            </a:r>
            <a:r>
              <a:rPr sz="1000" spc="-10" dirty="0">
                <a:latin typeface="Times New Roman"/>
                <a:cs typeface="Times New Roman"/>
              </a:rPr>
              <a:t> </a:t>
            </a:r>
            <a:r>
              <a:rPr sz="900" dirty="0">
                <a:latin typeface="Arial"/>
                <a:cs typeface="Arial"/>
              </a:rPr>
              <a:t>require</a:t>
            </a:r>
            <a:r>
              <a:rPr sz="900" spc="-20" dirty="0">
                <a:latin typeface="Arial"/>
                <a:cs typeface="Arial"/>
              </a:rPr>
              <a:t> </a:t>
            </a:r>
            <a:r>
              <a:rPr sz="900" dirty="0">
                <a:latin typeface="Arial"/>
                <a:cs typeface="Arial"/>
              </a:rPr>
              <a:t>the</a:t>
            </a:r>
            <a:r>
              <a:rPr sz="900" spc="-15" dirty="0">
                <a:latin typeface="Arial"/>
                <a:cs typeface="Arial"/>
              </a:rPr>
              <a:t> </a:t>
            </a:r>
            <a:r>
              <a:rPr sz="900" spc="-10" dirty="0">
                <a:latin typeface="Arial"/>
                <a:cs typeface="Arial"/>
              </a:rPr>
              <a:t>following</a:t>
            </a:r>
            <a:r>
              <a:rPr sz="900" spc="-15" dirty="0">
                <a:latin typeface="Arial"/>
                <a:cs typeface="Arial"/>
              </a:rPr>
              <a:t> </a:t>
            </a:r>
            <a:r>
              <a:rPr sz="900" spc="-10" dirty="0">
                <a:latin typeface="Arial"/>
                <a:cs typeface="Arial"/>
              </a:rPr>
              <a:t>identifier:</a:t>
            </a:r>
            <a:endParaRPr sz="900" dirty="0">
              <a:latin typeface="Arial"/>
              <a:cs typeface="Arial"/>
            </a:endParaRPr>
          </a:p>
          <a:p>
            <a:pPr marL="22860" algn="ctr">
              <a:lnSpc>
                <a:spcPct val="100000"/>
              </a:lnSpc>
              <a:spcBef>
                <a:spcPts val="819"/>
              </a:spcBef>
            </a:pPr>
            <a:r>
              <a:rPr sz="1000" spc="-10" dirty="0">
                <a:latin typeface="Times New Roman"/>
                <a:cs typeface="Times New Roman"/>
                <a:hlinkClick r:id="rId3"/>
              </a:rPr>
              <a:t>http://BucketName.s3.amazonaws.com/ObjectName</a:t>
            </a:r>
            <a:endParaRPr sz="1000" dirty="0">
              <a:latin typeface="Times New Roman"/>
              <a:cs typeface="Times New Roman"/>
            </a:endParaRPr>
          </a:p>
          <a:p>
            <a:pPr>
              <a:lnSpc>
                <a:spcPct val="100000"/>
              </a:lnSpc>
            </a:pPr>
            <a:endParaRPr sz="1000" dirty="0">
              <a:latin typeface="Times New Roman"/>
              <a:cs typeface="Times New Roman"/>
            </a:endParaRPr>
          </a:p>
          <a:p>
            <a:pPr marL="50800">
              <a:lnSpc>
                <a:spcPct val="100000"/>
              </a:lnSpc>
              <a:spcBef>
                <a:spcPts val="600"/>
              </a:spcBef>
            </a:pPr>
            <a:r>
              <a:rPr sz="1000" spc="-20" dirty="0">
                <a:solidFill>
                  <a:srgbClr val="4C994C"/>
                </a:solidFill>
                <a:latin typeface="Arial"/>
                <a:cs typeface="Arial"/>
              </a:rPr>
              <a:t>Typical </a:t>
            </a:r>
            <a:r>
              <a:rPr sz="1000" spc="-10" dirty="0">
                <a:solidFill>
                  <a:srgbClr val="4C994C"/>
                </a:solidFill>
                <a:latin typeface="Arial"/>
                <a:cs typeface="Arial"/>
              </a:rPr>
              <a:t>operations</a:t>
            </a:r>
            <a:endParaRPr sz="1000" dirty="0">
              <a:latin typeface="Arial"/>
              <a:cs typeface="Arial"/>
            </a:endParaRPr>
          </a:p>
          <a:p>
            <a:pPr marL="50800">
              <a:lnSpc>
                <a:spcPct val="100000"/>
              </a:lnSpc>
              <a:spcBef>
                <a:spcPts val="300"/>
              </a:spcBef>
            </a:pPr>
            <a:r>
              <a:rPr sz="900" dirty="0">
                <a:latin typeface="Arial"/>
                <a:cs typeface="Arial"/>
              </a:rPr>
              <a:t>All</a:t>
            </a:r>
            <a:r>
              <a:rPr sz="900" spc="-30" dirty="0">
                <a:latin typeface="Arial"/>
                <a:cs typeface="Arial"/>
              </a:rPr>
              <a:t> </a:t>
            </a:r>
            <a:r>
              <a:rPr sz="900" dirty="0">
                <a:latin typeface="Arial"/>
                <a:cs typeface="Arial"/>
              </a:rPr>
              <a:t>operations</a:t>
            </a:r>
            <a:r>
              <a:rPr sz="900" spc="-30" dirty="0">
                <a:latin typeface="Arial"/>
                <a:cs typeface="Arial"/>
              </a:rPr>
              <a:t> </a:t>
            </a:r>
            <a:r>
              <a:rPr sz="900" dirty="0">
                <a:latin typeface="Arial"/>
                <a:cs typeface="Arial"/>
              </a:rPr>
              <a:t>are</a:t>
            </a:r>
            <a:r>
              <a:rPr sz="900" spc="-30" dirty="0">
                <a:latin typeface="Arial"/>
                <a:cs typeface="Arial"/>
              </a:rPr>
              <a:t> </a:t>
            </a:r>
            <a:r>
              <a:rPr sz="900" dirty="0">
                <a:latin typeface="Arial"/>
                <a:cs typeface="Arial"/>
              </a:rPr>
              <a:t>carried</a:t>
            </a:r>
            <a:r>
              <a:rPr sz="900" spc="-25" dirty="0">
                <a:latin typeface="Arial"/>
                <a:cs typeface="Arial"/>
              </a:rPr>
              <a:t> </a:t>
            </a:r>
            <a:r>
              <a:rPr sz="900" dirty="0">
                <a:latin typeface="Arial"/>
                <a:cs typeface="Arial"/>
              </a:rPr>
              <a:t>out</a:t>
            </a:r>
            <a:r>
              <a:rPr sz="900" spc="-30" dirty="0">
                <a:latin typeface="Arial"/>
                <a:cs typeface="Arial"/>
              </a:rPr>
              <a:t> </a:t>
            </a:r>
            <a:r>
              <a:rPr sz="900" dirty="0">
                <a:latin typeface="Arial"/>
                <a:cs typeface="Arial"/>
              </a:rPr>
              <a:t>by</a:t>
            </a:r>
            <a:r>
              <a:rPr sz="900" spc="-30" dirty="0">
                <a:latin typeface="Arial"/>
                <a:cs typeface="Arial"/>
              </a:rPr>
              <a:t> </a:t>
            </a:r>
            <a:r>
              <a:rPr sz="900" dirty="0">
                <a:latin typeface="Arial"/>
                <a:cs typeface="Arial"/>
              </a:rPr>
              <a:t>sending</a:t>
            </a:r>
            <a:r>
              <a:rPr sz="900" spc="-30" dirty="0">
                <a:latin typeface="Arial"/>
                <a:cs typeface="Arial"/>
              </a:rPr>
              <a:t> </a:t>
            </a:r>
            <a:r>
              <a:rPr sz="900" dirty="0">
                <a:latin typeface="Arial"/>
                <a:cs typeface="Arial"/>
              </a:rPr>
              <a:t>HTTP</a:t>
            </a:r>
            <a:r>
              <a:rPr sz="900" spc="-25" dirty="0">
                <a:latin typeface="Arial"/>
                <a:cs typeface="Arial"/>
              </a:rPr>
              <a:t> </a:t>
            </a:r>
            <a:r>
              <a:rPr sz="900" spc="-10" dirty="0">
                <a:latin typeface="Arial"/>
                <a:cs typeface="Arial"/>
              </a:rPr>
              <a:t>requests:</a:t>
            </a:r>
            <a:endParaRPr sz="900" dirty="0">
              <a:latin typeface="Arial"/>
              <a:cs typeface="Arial"/>
            </a:endParaRPr>
          </a:p>
          <a:p>
            <a:pPr marL="307340" indent="-120650">
              <a:lnSpc>
                <a:spcPct val="100000"/>
              </a:lnSpc>
              <a:spcBef>
                <a:spcPts val="425"/>
              </a:spcBef>
              <a:buClr>
                <a:srgbClr val="3333B2"/>
              </a:buClr>
              <a:buFont typeface="Apple Symbols"/>
              <a:buChar char="•"/>
              <a:tabLst>
                <a:tab pos="307975" algn="l"/>
              </a:tabLst>
            </a:pPr>
            <a:r>
              <a:rPr sz="900" dirty="0">
                <a:latin typeface="Arial"/>
                <a:cs typeface="Arial"/>
              </a:rPr>
              <a:t>Create</a:t>
            </a:r>
            <a:r>
              <a:rPr sz="900" spc="-50"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bucket/object:</a:t>
            </a:r>
            <a:r>
              <a:rPr sz="900" spc="200" dirty="0">
                <a:latin typeface="Arial"/>
                <a:cs typeface="Arial"/>
              </a:rPr>
              <a:t> </a:t>
            </a:r>
            <a:r>
              <a:rPr sz="1000" spc="-100" dirty="0">
                <a:latin typeface="Times New Roman"/>
                <a:cs typeface="Times New Roman"/>
              </a:rPr>
              <a:t>PUT</a:t>
            </a:r>
            <a:r>
              <a:rPr sz="900" spc="-100" dirty="0">
                <a:latin typeface="Arial"/>
                <a:cs typeface="Arial"/>
              </a:rPr>
              <a:t>,</a:t>
            </a:r>
            <a:r>
              <a:rPr sz="900" spc="-5" dirty="0">
                <a:latin typeface="Arial"/>
                <a:cs typeface="Arial"/>
              </a:rPr>
              <a:t> </a:t>
            </a:r>
            <a:r>
              <a:rPr sz="900" dirty="0">
                <a:latin typeface="Arial"/>
                <a:cs typeface="Arial"/>
              </a:rPr>
              <a:t>along</a:t>
            </a:r>
            <a:r>
              <a:rPr sz="900" spc="-25" dirty="0">
                <a:latin typeface="Arial"/>
                <a:cs typeface="Arial"/>
              </a:rPr>
              <a:t> </a:t>
            </a:r>
            <a:r>
              <a:rPr sz="900" dirty="0">
                <a:latin typeface="Arial"/>
                <a:cs typeface="Arial"/>
              </a:rPr>
              <a:t>with</a:t>
            </a:r>
            <a:r>
              <a:rPr sz="900" spc="-25" dirty="0">
                <a:latin typeface="Arial"/>
                <a:cs typeface="Arial"/>
              </a:rPr>
              <a:t> </a:t>
            </a:r>
            <a:r>
              <a:rPr sz="900" dirty="0">
                <a:latin typeface="Arial"/>
                <a:cs typeface="Arial"/>
              </a:rPr>
              <a:t>the</a:t>
            </a:r>
            <a:r>
              <a:rPr sz="900" spc="-25" dirty="0">
                <a:latin typeface="Arial"/>
                <a:cs typeface="Arial"/>
              </a:rPr>
              <a:t> URI</a:t>
            </a:r>
            <a:endParaRPr sz="900" dirty="0">
              <a:latin typeface="Arial"/>
              <a:cs typeface="Arial"/>
            </a:endParaRPr>
          </a:p>
          <a:p>
            <a:pPr marL="307340" indent="-120650">
              <a:lnSpc>
                <a:spcPct val="100000"/>
              </a:lnSpc>
              <a:spcBef>
                <a:spcPts val="5"/>
              </a:spcBef>
              <a:buClr>
                <a:srgbClr val="3333B2"/>
              </a:buClr>
              <a:buFont typeface="Apple Symbols"/>
              <a:buChar char="•"/>
              <a:tabLst>
                <a:tab pos="307975" algn="l"/>
              </a:tabLst>
            </a:pPr>
            <a:r>
              <a:rPr sz="900" dirty="0">
                <a:latin typeface="Arial"/>
                <a:cs typeface="Arial"/>
              </a:rPr>
              <a:t>Listing</a:t>
            </a:r>
            <a:r>
              <a:rPr sz="900" spc="-25" dirty="0">
                <a:latin typeface="Arial"/>
                <a:cs typeface="Arial"/>
              </a:rPr>
              <a:t> </a:t>
            </a:r>
            <a:r>
              <a:rPr sz="900" dirty="0">
                <a:latin typeface="Arial"/>
                <a:cs typeface="Arial"/>
              </a:rPr>
              <a:t>objects:</a:t>
            </a:r>
            <a:r>
              <a:rPr sz="900" spc="210" dirty="0">
                <a:latin typeface="Arial"/>
                <a:cs typeface="Arial"/>
              </a:rPr>
              <a:t> </a:t>
            </a:r>
            <a:r>
              <a:rPr sz="1000" spc="-130" dirty="0">
                <a:latin typeface="Times New Roman"/>
                <a:cs typeface="Times New Roman"/>
              </a:rPr>
              <a:t>GET</a:t>
            </a:r>
            <a:r>
              <a:rPr sz="1000" spc="-80" dirty="0">
                <a:latin typeface="Times New Roman"/>
                <a:cs typeface="Times New Roman"/>
              </a:rPr>
              <a:t> </a:t>
            </a:r>
            <a:r>
              <a:rPr sz="900" dirty="0">
                <a:latin typeface="Arial"/>
                <a:cs typeface="Arial"/>
              </a:rPr>
              <a:t>on</a:t>
            </a:r>
            <a:r>
              <a:rPr sz="900" spc="-15" dirty="0">
                <a:latin typeface="Arial"/>
                <a:cs typeface="Arial"/>
              </a:rPr>
              <a:t> </a:t>
            </a:r>
            <a:r>
              <a:rPr sz="900" dirty="0">
                <a:latin typeface="Arial"/>
                <a:cs typeface="Arial"/>
              </a:rPr>
              <a:t>a</a:t>
            </a:r>
            <a:r>
              <a:rPr sz="900" spc="-15" dirty="0">
                <a:latin typeface="Arial"/>
                <a:cs typeface="Arial"/>
              </a:rPr>
              <a:t> </a:t>
            </a:r>
            <a:r>
              <a:rPr sz="900" spc="-10" dirty="0">
                <a:latin typeface="Arial"/>
                <a:cs typeface="Arial"/>
              </a:rPr>
              <a:t>bucket</a:t>
            </a:r>
            <a:r>
              <a:rPr sz="900" spc="-20" dirty="0">
                <a:latin typeface="Arial"/>
                <a:cs typeface="Arial"/>
              </a:rPr>
              <a:t> name</a:t>
            </a:r>
            <a:endParaRPr sz="900" dirty="0">
              <a:latin typeface="Arial"/>
              <a:cs typeface="Arial"/>
            </a:endParaRPr>
          </a:p>
          <a:p>
            <a:pPr marL="307340" indent="-120650">
              <a:lnSpc>
                <a:spcPct val="100000"/>
              </a:lnSpc>
              <a:spcBef>
                <a:spcPts val="5"/>
              </a:spcBef>
              <a:buClr>
                <a:srgbClr val="3333B2"/>
              </a:buClr>
              <a:buFont typeface="Apple Symbols"/>
              <a:buChar char="•"/>
              <a:tabLst>
                <a:tab pos="307975" algn="l"/>
              </a:tabLst>
            </a:pPr>
            <a:r>
              <a:rPr sz="900" dirty="0">
                <a:latin typeface="Arial"/>
                <a:cs typeface="Arial"/>
              </a:rPr>
              <a:t>Reading</a:t>
            </a:r>
            <a:r>
              <a:rPr sz="900" spc="-25" dirty="0">
                <a:latin typeface="Arial"/>
                <a:cs typeface="Arial"/>
              </a:rPr>
              <a:t> </a:t>
            </a:r>
            <a:r>
              <a:rPr sz="900" dirty="0">
                <a:latin typeface="Arial"/>
                <a:cs typeface="Arial"/>
              </a:rPr>
              <a:t>an</a:t>
            </a:r>
            <a:r>
              <a:rPr sz="900" spc="-15" dirty="0">
                <a:latin typeface="Arial"/>
                <a:cs typeface="Arial"/>
              </a:rPr>
              <a:t> </a:t>
            </a:r>
            <a:r>
              <a:rPr sz="900" dirty="0">
                <a:latin typeface="Arial"/>
                <a:cs typeface="Arial"/>
              </a:rPr>
              <a:t>object:</a:t>
            </a:r>
            <a:r>
              <a:rPr sz="900" spc="220" dirty="0">
                <a:latin typeface="Arial"/>
                <a:cs typeface="Arial"/>
              </a:rPr>
              <a:t> </a:t>
            </a:r>
            <a:r>
              <a:rPr sz="1000" spc="-130" dirty="0">
                <a:latin typeface="Times New Roman"/>
                <a:cs typeface="Times New Roman"/>
              </a:rPr>
              <a:t>GET</a:t>
            </a:r>
            <a:r>
              <a:rPr sz="1000" spc="-80" dirty="0">
                <a:latin typeface="Times New Roman"/>
                <a:cs typeface="Times New Roman"/>
              </a:rPr>
              <a:t> </a:t>
            </a:r>
            <a:r>
              <a:rPr sz="900" dirty="0">
                <a:latin typeface="Arial"/>
                <a:cs typeface="Arial"/>
              </a:rPr>
              <a:t>on</a:t>
            </a:r>
            <a:r>
              <a:rPr sz="900" spc="-15" dirty="0">
                <a:latin typeface="Arial"/>
                <a:cs typeface="Arial"/>
              </a:rPr>
              <a:t> </a:t>
            </a:r>
            <a:r>
              <a:rPr sz="900" dirty="0">
                <a:latin typeface="Arial"/>
                <a:cs typeface="Arial"/>
              </a:rPr>
              <a:t>a</a:t>
            </a:r>
            <a:r>
              <a:rPr sz="900" spc="-15" dirty="0">
                <a:latin typeface="Arial"/>
                <a:cs typeface="Arial"/>
              </a:rPr>
              <a:t> </a:t>
            </a:r>
            <a:r>
              <a:rPr sz="900" dirty="0">
                <a:latin typeface="Arial"/>
                <a:cs typeface="Arial"/>
              </a:rPr>
              <a:t>full</a:t>
            </a:r>
            <a:r>
              <a:rPr sz="900" spc="-15" dirty="0">
                <a:latin typeface="Arial"/>
                <a:cs typeface="Arial"/>
              </a:rPr>
              <a:t> </a:t>
            </a:r>
            <a:r>
              <a:rPr sz="900" spc="-25" dirty="0">
                <a:latin typeface="Arial"/>
                <a:cs typeface="Arial"/>
              </a:rPr>
              <a:t>URI</a:t>
            </a:r>
            <a:endParaRPr sz="900" dirty="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86868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Service-</a:t>
            </a:r>
            <a:r>
              <a:rPr sz="500" dirty="0">
                <a:latin typeface="Arial"/>
                <a:cs typeface="Arial"/>
                <a:hlinkClick r:id="rId4" action="ppaction://hlinksldjump"/>
              </a:rPr>
              <a:t>oriented</a:t>
            </a:r>
            <a:r>
              <a:rPr sz="500" spc="50" dirty="0">
                <a:latin typeface="Arial"/>
                <a:cs typeface="Arial"/>
                <a:hlinkClick r:id="rId4" action="ppaction://hlinksldjump"/>
              </a:rPr>
              <a:t> </a:t>
            </a:r>
            <a:r>
              <a:rPr sz="500" spc="-10" dirty="0">
                <a:latin typeface="Arial"/>
                <a:cs typeface="Arial"/>
                <a:hlinkClick r:id="rId4" action="ppaction://hlinksldjump"/>
              </a:rPr>
              <a:t>architectures</a:t>
            </a:r>
            <a:endParaRPr sz="500">
              <a:latin typeface="Arial"/>
              <a:cs typeface="Arial"/>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57954" algn="l"/>
              </a:tabLst>
            </a:pPr>
            <a:r>
              <a:rPr sz="500" spc="-10" dirty="0">
                <a:latin typeface="Arial"/>
                <a:cs typeface="Arial"/>
                <a:hlinkClick r:id="rId2" action="ppaction://hlinksldjump"/>
              </a:rPr>
              <a:t>Architectures</a:t>
            </a:r>
            <a:r>
              <a:rPr sz="500" dirty="0">
                <a:latin typeface="Arial"/>
                <a:cs typeface="Arial"/>
              </a:rPr>
              <a:t>	</a:t>
            </a:r>
            <a:r>
              <a:rPr sz="500" spc="-10" dirty="0">
                <a:solidFill>
                  <a:srgbClr val="FFFFFF"/>
                </a:solidFill>
                <a:latin typeface="Arial"/>
                <a:cs typeface="Arial"/>
                <a:hlinkClick r:id="rId2" action="ppaction://hlinksldjump"/>
              </a:rPr>
              <a:t>Architectural</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styles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On</a:t>
            </a:r>
            <a:r>
              <a:rPr spc="-25" dirty="0"/>
              <a:t> </a:t>
            </a:r>
            <a:r>
              <a:rPr spc="-10" dirty="0"/>
              <a:t>interfaces</a:t>
            </a:r>
          </a:p>
        </p:txBody>
      </p:sp>
      <p:sp>
        <p:nvSpPr>
          <p:cNvPr id="4" name="object 4"/>
          <p:cNvSpPr txBox="1"/>
          <p:nvPr/>
        </p:nvSpPr>
        <p:spPr>
          <a:xfrm>
            <a:off x="343128" y="499476"/>
            <a:ext cx="3916045" cy="751840"/>
          </a:xfrm>
          <a:prstGeom prst="rect">
            <a:avLst/>
          </a:prstGeom>
        </p:spPr>
        <p:txBody>
          <a:bodyPr vert="horz" wrap="square" lIns="0" tIns="27305" rIns="0" bIns="0" rtlCol="0">
            <a:spAutoFit/>
          </a:bodyPr>
          <a:lstStyle/>
          <a:p>
            <a:pPr marL="16510">
              <a:lnSpc>
                <a:spcPct val="100000"/>
              </a:lnSpc>
              <a:spcBef>
                <a:spcPts val="215"/>
              </a:spcBef>
            </a:pPr>
            <a:r>
              <a:rPr sz="1000" spc="-10" dirty="0">
                <a:solidFill>
                  <a:srgbClr val="C80000"/>
                </a:solidFill>
                <a:latin typeface="Arial"/>
                <a:cs typeface="Arial"/>
              </a:rPr>
              <a:t>Issue</a:t>
            </a:r>
            <a:endParaRPr sz="1000">
              <a:latin typeface="Arial"/>
              <a:cs typeface="Arial"/>
            </a:endParaRPr>
          </a:p>
          <a:p>
            <a:pPr marL="16510" marR="5080">
              <a:lnSpc>
                <a:spcPts val="1210"/>
              </a:lnSpc>
              <a:spcBef>
                <a:spcPts val="35"/>
              </a:spcBef>
            </a:pPr>
            <a:r>
              <a:rPr sz="900" spc="-10" dirty="0">
                <a:latin typeface="Arial"/>
                <a:cs typeface="Arial"/>
              </a:rPr>
              <a:t>Many</a:t>
            </a:r>
            <a:r>
              <a:rPr sz="900" spc="-25" dirty="0">
                <a:latin typeface="Arial"/>
                <a:cs typeface="Arial"/>
              </a:rPr>
              <a:t> </a:t>
            </a:r>
            <a:r>
              <a:rPr sz="900" dirty="0">
                <a:latin typeface="Arial"/>
                <a:cs typeface="Arial"/>
              </a:rPr>
              <a:t>people</a:t>
            </a:r>
            <a:r>
              <a:rPr sz="900" spc="-25" dirty="0">
                <a:latin typeface="Arial"/>
                <a:cs typeface="Arial"/>
              </a:rPr>
              <a:t> </a:t>
            </a:r>
            <a:r>
              <a:rPr sz="900" dirty="0">
                <a:latin typeface="Arial"/>
                <a:cs typeface="Arial"/>
              </a:rPr>
              <a:t>like</a:t>
            </a:r>
            <a:r>
              <a:rPr sz="900" spc="-20" dirty="0">
                <a:latin typeface="Arial"/>
                <a:cs typeface="Arial"/>
              </a:rPr>
              <a:t> </a:t>
            </a:r>
            <a:r>
              <a:rPr sz="900" spc="-10" dirty="0">
                <a:latin typeface="Arial"/>
                <a:cs typeface="Arial"/>
              </a:rPr>
              <a:t>RESTful</a:t>
            </a:r>
            <a:r>
              <a:rPr sz="900" spc="-25" dirty="0">
                <a:latin typeface="Arial"/>
                <a:cs typeface="Arial"/>
              </a:rPr>
              <a:t> </a:t>
            </a:r>
            <a:r>
              <a:rPr sz="900" spc="-10" dirty="0">
                <a:latin typeface="Arial"/>
                <a:cs typeface="Arial"/>
              </a:rPr>
              <a:t>approaches</a:t>
            </a:r>
            <a:r>
              <a:rPr sz="900" spc="-20" dirty="0">
                <a:latin typeface="Arial"/>
                <a:cs typeface="Arial"/>
              </a:rPr>
              <a:t> </a:t>
            </a:r>
            <a:r>
              <a:rPr sz="900" spc="-10" dirty="0">
                <a:latin typeface="Arial"/>
                <a:cs typeface="Arial"/>
              </a:rPr>
              <a:t>because</a:t>
            </a:r>
            <a:r>
              <a:rPr sz="900" spc="-25" dirty="0">
                <a:latin typeface="Arial"/>
                <a:cs typeface="Arial"/>
              </a:rPr>
              <a:t> </a:t>
            </a:r>
            <a:r>
              <a:rPr sz="900" dirty="0">
                <a:latin typeface="Arial"/>
                <a:cs typeface="Arial"/>
              </a:rPr>
              <a:t>the</a:t>
            </a:r>
            <a:r>
              <a:rPr sz="900" spc="-20" dirty="0">
                <a:latin typeface="Arial"/>
                <a:cs typeface="Arial"/>
              </a:rPr>
              <a:t> </a:t>
            </a:r>
            <a:r>
              <a:rPr sz="900" spc="-10" dirty="0">
                <a:latin typeface="Arial"/>
                <a:cs typeface="Arial"/>
              </a:rPr>
              <a:t>interface</a:t>
            </a:r>
            <a:r>
              <a:rPr sz="900" spc="-25"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service</a:t>
            </a:r>
            <a:r>
              <a:rPr sz="900" spc="-25" dirty="0">
                <a:latin typeface="Arial"/>
                <a:cs typeface="Arial"/>
              </a:rPr>
              <a:t> </a:t>
            </a:r>
            <a:r>
              <a:rPr sz="900" dirty="0">
                <a:latin typeface="Arial"/>
                <a:cs typeface="Arial"/>
              </a:rPr>
              <a:t>is</a:t>
            </a:r>
            <a:r>
              <a:rPr sz="900" spc="-20" dirty="0">
                <a:latin typeface="Arial"/>
                <a:cs typeface="Arial"/>
              </a:rPr>
              <a:t> </a:t>
            </a:r>
            <a:r>
              <a:rPr sz="900" spc="-25" dirty="0">
                <a:latin typeface="Arial"/>
                <a:cs typeface="Arial"/>
              </a:rPr>
              <a:t>so </a:t>
            </a:r>
            <a:r>
              <a:rPr sz="900" dirty="0">
                <a:latin typeface="Arial"/>
                <a:cs typeface="Arial"/>
              </a:rPr>
              <a:t>simple.</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catch</a:t>
            </a:r>
            <a:r>
              <a:rPr sz="900" spc="-25" dirty="0">
                <a:latin typeface="Arial"/>
                <a:cs typeface="Arial"/>
              </a:rPr>
              <a:t> </a:t>
            </a:r>
            <a:r>
              <a:rPr sz="900" dirty="0">
                <a:latin typeface="Arial"/>
                <a:cs typeface="Arial"/>
              </a:rPr>
              <a:t>is</a:t>
            </a:r>
            <a:r>
              <a:rPr sz="900" spc="-25"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much</a:t>
            </a:r>
            <a:r>
              <a:rPr sz="900" spc="-25" dirty="0">
                <a:latin typeface="Arial"/>
                <a:cs typeface="Arial"/>
              </a:rPr>
              <a:t> </a:t>
            </a:r>
            <a:r>
              <a:rPr sz="900" dirty="0">
                <a:latin typeface="Arial"/>
                <a:cs typeface="Arial"/>
              </a:rPr>
              <a:t>needs</a:t>
            </a:r>
            <a:r>
              <a:rPr sz="900" spc="-2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be</a:t>
            </a:r>
            <a:r>
              <a:rPr sz="900" spc="-25" dirty="0">
                <a:latin typeface="Arial"/>
                <a:cs typeface="Arial"/>
              </a:rPr>
              <a:t> </a:t>
            </a:r>
            <a:r>
              <a:rPr sz="900" dirty="0">
                <a:latin typeface="Arial"/>
                <a:cs typeface="Arial"/>
              </a:rPr>
              <a:t>done</a:t>
            </a:r>
            <a:r>
              <a:rPr sz="900" spc="-25" dirty="0">
                <a:latin typeface="Arial"/>
                <a:cs typeface="Arial"/>
              </a:rPr>
              <a:t> </a:t>
            </a:r>
            <a:r>
              <a:rPr sz="900" dirty="0">
                <a:latin typeface="Arial"/>
                <a:cs typeface="Arial"/>
              </a:rPr>
              <a:t>in</a:t>
            </a:r>
            <a:r>
              <a:rPr sz="900" spc="-25" dirty="0">
                <a:latin typeface="Arial"/>
                <a:cs typeface="Arial"/>
              </a:rPr>
              <a:t> </a:t>
            </a:r>
            <a:r>
              <a:rPr sz="900" dirty="0">
                <a:latin typeface="Arial"/>
                <a:cs typeface="Arial"/>
              </a:rPr>
              <a:t>the</a:t>
            </a:r>
            <a:r>
              <a:rPr sz="900" spc="-25" dirty="0">
                <a:latin typeface="Arial"/>
                <a:cs typeface="Arial"/>
              </a:rPr>
              <a:t> </a:t>
            </a:r>
            <a:r>
              <a:rPr sz="900" dirty="0">
                <a:solidFill>
                  <a:srgbClr val="3333B2"/>
                </a:solidFill>
                <a:latin typeface="Arial"/>
                <a:cs typeface="Arial"/>
              </a:rPr>
              <a:t>parameter</a:t>
            </a:r>
            <a:r>
              <a:rPr sz="900" spc="-25" dirty="0">
                <a:solidFill>
                  <a:srgbClr val="3333B2"/>
                </a:solidFill>
                <a:latin typeface="Arial"/>
                <a:cs typeface="Arial"/>
              </a:rPr>
              <a:t> </a:t>
            </a:r>
            <a:r>
              <a:rPr sz="900" spc="-10" dirty="0">
                <a:solidFill>
                  <a:srgbClr val="3333B2"/>
                </a:solidFill>
                <a:latin typeface="Arial"/>
                <a:cs typeface="Arial"/>
              </a:rPr>
              <a:t>space</a:t>
            </a:r>
            <a:r>
              <a:rPr sz="900" spc="-10" dirty="0">
                <a:latin typeface="Arial"/>
                <a:cs typeface="Arial"/>
              </a:rPr>
              <a:t>.</a:t>
            </a:r>
            <a:endParaRPr sz="900">
              <a:latin typeface="Arial"/>
              <a:cs typeface="Arial"/>
            </a:endParaRPr>
          </a:p>
          <a:p>
            <a:pPr marL="12700">
              <a:lnSpc>
                <a:spcPct val="100000"/>
              </a:lnSpc>
              <a:spcBef>
                <a:spcPts val="750"/>
              </a:spcBef>
            </a:pPr>
            <a:r>
              <a:rPr sz="1000" dirty="0">
                <a:solidFill>
                  <a:srgbClr val="3333B2"/>
                </a:solidFill>
                <a:latin typeface="Arial"/>
                <a:cs typeface="Arial"/>
              </a:rPr>
              <a:t>Amazon</a:t>
            </a:r>
            <a:r>
              <a:rPr sz="1000" spc="-45" dirty="0">
                <a:solidFill>
                  <a:srgbClr val="3333B2"/>
                </a:solidFill>
                <a:latin typeface="Arial"/>
                <a:cs typeface="Arial"/>
              </a:rPr>
              <a:t> </a:t>
            </a:r>
            <a:r>
              <a:rPr sz="1000" dirty="0">
                <a:solidFill>
                  <a:srgbClr val="3333B2"/>
                </a:solidFill>
                <a:latin typeface="Arial"/>
                <a:cs typeface="Arial"/>
              </a:rPr>
              <a:t>S3</a:t>
            </a:r>
            <a:r>
              <a:rPr sz="1000" spc="-40" dirty="0">
                <a:solidFill>
                  <a:srgbClr val="3333B2"/>
                </a:solidFill>
                <a:latin typeface="Arial"/>
                <a:cs typeface="Arial"/>
              </a:rPr>
              <a:t> </a:t>
            </a:r>
            <a:r>
              <a:rPr sz="1000" dirty="0">
                <a:solidFill>
                  <a:srgbClr val="3333B2"/>
                </a:solidFill>
                <a:latin typeface="Arial"/>
                <a:cs typeface="Arial"/>
              </a:rPr>
              <a:t>SOAP</a:t>
            </a:r>
            <a:r>
              <a:rPr sz="1000" spc="-45" dirty="0">
                <a:solidFill>
                  <a:srgbClr val="3333B2"/>
                </a:solidFill>
                <a:latin typeface="Arial"/>
                <a:cs typeface="Arial"/>
              </a:rPr>
              <a:t> </a:t>
            </a:r>
            <a:r>
              <a:rPr sz="1000" spc="-10" dirty="0">
                <a:solidFill>
                  <a:srgbClr val="3333B2"/>
                </a:solidFill>
                <a:latin typeface="Arial"/>
                <a:cs typeface="Arial"/>
              </a:rPr>
              <a:t>interface</a:t>
            </a:r>
            <a:endParaRPr sz="1000">
              <a:latin typeface="Arial"/>
              <a:cs typeface="Arial"/>
            </a:endParaRPr>
          </a:p>
        </p:txBody>
      </p:sp>
      <p:pic>
        <p:nvPicPr>
          <p:cNvPr id="5" name="object 5"/>
          <p:cNvPicPr/>
          <p:nvPr/>
        </p:nvPicPr>
        <p:blipFill>
          <a:blip r:embed="rId3" cstate="print"/>
          <a:stretch>
            <a:fillRect/>
          </a:stretch>
        </p:blipFill>
        <p:spPr>
          <a:xfrm>
            <a:off x="727549" y="1330620"/>
            <a:ext cx="3130155" cy="923699"/>
          </a:xfrm>
          <a:prstGeom prst="rect">
            <a:avLst/>
          </a:prstGeom>
        </p:spPr>
      </p:pic>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86868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Service-</a:t>
            </a:r>
            <a:r>
              <a:rPr sz="500" dirty="0">
                <a:latin typeface="Arial"/>
                <a:cs typeface="Arial"/>
                <a:hlinkClick r:id="rId4" action="ppaction://hlinksldjump"/>
              </a:rPr>
              <a:t>oriented</a:t>
            </a:r>
            <a:r>
              <a:rPr sz="500" spc="50" dirty="0">
                <a:latin typeface="Arial"/>
                <a:cs typeface="Arial"/>
                <a:hlinkClick r:id="rId4" action="ppaction://hlinksldjump"/>
              </a:rPr>
              <a:t> </a:t>
            </a:r>
            <a:r>
              <a:rPr sz="500" spc="-10" dirty="0">
                <a:latin typeface="Arial"/>
                <a:cs typeface="Arial"/>
                <a:hlinkClick r:id="rId4" action="ppaction://hlinksldjump"/>
              </a:rPr>
              <a:t>architectures</a:t>
            </a:r>
            <a:endParaRPr sz="500">
              <a:latin typeface="Arial"/>
              <a:cs typeface="Arial"/>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57954" algn="l"/>
              </a:tabLst>
            </a:pPr>
            <a:r>
              <a:rPr sz="500" spc="-10" dirty="0">
                <a:latin typeface="Arial"/>
                <a:cs typeface="Arial"/>
                <a:hlinkClick r:id="rId2" action="ppaction://hlinksldjump"/>
              </a:rPr>
              <a:t>Architectures</a:t>
            </a:r>
            <a:r>
              <a:rPr sz="500" dirty="0">
                <a:latin typeface="Arial"/>
                <a:cs typeface="Arial"/>
              </a:rPr>
              <a:t>	</a:t>
            </a:r>
            <a:r>
              <a:rPr sz="500" spc="-10" dirty="0">
                <a:solidFill>
                  <a:srgbClr val="FFFFFF"/>
                </a:solidFill>
                <a:latin typeface="Arial"/>
                <a:cs typeface="Arial"/>
                <a:hlinkClick r:id="rId2" action="ppaction://hlinksldjump"/>
              </a:rPr>
              <a:t>Architectural</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styles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On</a:t>
            </a:r>
            <a:r>
              <a:rPr spc="-25" dirty="0"/>
              <a:t> </a:t>
            </a:r>
            <a:r>
              <a:rPr spc="-10" dirty="0"/>
              <a:t>interfaces</a:t>
            </a:r>
          </a:p>
        </p:txBody>
      </p:sp>
      <p:sp>
        <p:nvSpPr>
          <p:cNvPr id="4" name="object 4"/>
          <p:cNvSpPr txBox="1"/>
          <p:nvPr/>
        </p:nvSpPr>
        <p:spPr>
          <a:xfrm>
            <a:off x="343547" y="489362"/>
            <a:ext cx="3917315" cy="533400"/>
          </a:xfrm>
          <a:prstGeom prst="rect">
            <a:avLst/>
          </a:prstGeom>
        </p:spPr>
        <p:txBody>
          <a:bodyPr vert="horz" wrap="square" lIns="0" tIns="37465" rIns="0" bIns="0" rtlCol="0">
            <a:spAutoFit/>
          </a:bodyPr>
          <a:lstStyle/>
          <a:p>
            <a:pPr marL="15875">
              <a:lnSpc>
                <a:spcPct val="100000"/>
              </a:lnSpc>
              <a:spcBef>
                <a:spcPts val="295"/>
              </a:spcBef>
            </a:pPr>
            <a:r>
              <a:rPr sz="1000" spc="-10" dirty="0">
                <a:solidFill>
                  <a:srgbClr val="3333B2"/>
                </a:solidFill>
                <a:latin typeface="Arial"/>
                <a:cs typeface="Arial"/>
              </a:rPr>
              <a:t>Simplifications</a:t>
            </a:r>
            <a:endParaRPr sz="1000">
              <a:latin typeface="Arial"/>
              <a:cs typeface="Arial"/>
            </a:endParaRPr>
          </a:p>
          <a:p>
            <a:pPr marL="15875" marR="5080" indent="-3810">
              <a:lnSpc>
                <a:spcPct val="100000"/>
              </a:lnSpc>
              <a:spcBef>
                <a:spcPts val="195"/>
              </a:spcBef>
            </a:pPr>
            <a:r>
              <a:rPr sz="900" spc="-10" dirty="0">
                <a:latin typeface="Arial"/>
                <a:cs typeface="Arial"/>
              </a:rPr>
              <a:t>Assume</a:t>
            </a:r>
            <a:r>
              <a:rPr sz="900" spc="-55" dirty="0">
                <a:latin typeface="Arial"/>
                <a:cs typeface="Arial"/>
              </a:rPr>
              <a:t> </a:t>
            </a:r>
            <a:r>
              <a:rPr sz="900" dirty="0">
                <a:latin typeface="Arial"/>
                <a:cs typeface="Arial"/>
              </a:rPr>
              <a:t>an</a:t>
            </a:r>
            <a:r>
              <a:rPr sz="900" spc="-45" dirty="0">
                <a:latin typeface="Arial"/>
                <a:cs typeface="Arial"/>
              </a:rPr>
              <a:t> </a:t>
            </a:r>
            <a:r>
              <a:rPr sz="900" dirty="0">
                <a:latin typeface="Arial"/>
                <a:cs typeface="Arial"/>
              </a:rPr>
              <a:t>interface</a:t>
            </a:r>
            <a:r>
              <a:rPr sz="900" spc="175" dirty="0">
                <a:latin typeface="Arial"/>
                <a:cs typeface="Arial"/>
              </a:rPr>
              <a:t> </a:t>
            </a:r>
            <a:r>
              <a:rPr sz="1000" spc="65" dirty="0">
                <a:latin typeface="Times New Roman"/>
                <a:cs typeface="Times New Roman"/>
              </a:rPr>
              <a:t>bucket</a:t>
            </a:r>
            <a:r>
              <a:rPr sz="1000" spc="-80" dirty="0">
                <a:latin typeface="Times New Roman"/>
                <a:cs typeface="Times New Roman"/>
              </a:rPr>
              <a:t> </a:t>
            </a:r>
            <a:r>
              <a:rPr sz="900" spc="-10" dirty="0">
                <a:latin typeface="Arial"/>
                <a:cs typeface="Arial"/>
              </a:rPr>
              <a:t>offering</a:t>
            </a:r>
            <a:r>
              <a:rPr sz="900" spc="-35" dirty="0">
                <a:latin typeface="Arial"/>
                <a:cs typeface="Arial"/>
              </a:rPr>
              <a:t> </a:t>
            </a:r>
            <a:r>
              <a:rPr sz="900" dirty="0">
                <a:latin typeface="Arial"/>
                <a:cs typeface="Arial"/>
              </a:rPr>
              <a:t>an</a:t>
            </a:r>
            <a:r>
              <a:rPr sz="900" spc="-40" dirty="0">
                <a:latin typeface="Arial"/>
                <a:cs typeface="Arial"/>
              </a:rPr>
              <a:t> </a:t>
            </a:r>
            <a:r>
              <a:rPr sz="900" dirty="0">
                <a:latin typeface="Arial"/>
                <a:cs typeface="Arial"/>
              </a:rPr>
              <a:t>operation</a:t>
            </a:r>
            <a:r>
              <a:rPr sz="900" spc="175" dirty="0">
                <a:latin typeface="Arial"/>
                <a:cs typeface="Arial"/>
              </a:rPr>
              <a:t> </a:t>
            </a:r>
            <a:r>
              <a:rPr sz="1000" spc="85" dirty="0">
                <a:latin typeface="Times New Roman"/>
                <a:cs typeface="Times New Roman"/>
              </a:rPr>
              <a:t>create</a:t>
            </a:r>
            <a:r>
              <a:rPr sz="900" spc="85" dirty="0">
                <a:latin typeface="Arial"/>
                <a:cs typeface="Arial"/>
              </a:rPr>
              <a:t>,</a:t>
            </a:r>
            <a:r>
              <a:rPr sz="900" spc="-40" dirty="0">
                <a:latin typeface="Arial"/>
                <a:cs typeface="Arial"/>
              </a:rPr>
              <a:t> </a:t>
            </a:r>
            <a:r>
              <a:rPr sz="900" spc="-10" dirty="0">
                <a:latin typeface="Arial"/>
                <a:cs typeface="Arial"/>
              </a:rPr>
              <a:t>requiring</a:t>
            </a:r>
            <a:r>
              <a:rPr sz="900" spc="-35" dirty="0">
                <a:latin typeface="Arial"/>
                <a:cs typeface="Arial"/>
              </a:rPr>
              <a:t> </a:t>
            </a:r>
            <a:r>
              <a:rPr sz="900" dirty="0">
                <a:latin typeface="Arial"/>
                <a:cs typeface="Arial"/>
              </a:rPr>
              <a:t>an</a:t>
            </a:r>
            <a:r>
              <a:rPr sz="900" spc="-35" dirty="0">
                <a:latin typeface="Arial"/>
                <a:cs typeface="Arial"/>
              </a:rPr>
              <a:t> </a:t>
            </a:r>
            <a:r>
              <a:rPr sz="900" spc="-10" dirty="0">
                <a:latin typeface="Arial"/>
                <a:cs typeface="Arial"/>
              </a:rPr>
              <a:t>input </a:t>
            </a:r>
            <a:r>
              <a:rPr sz="900" dirty="0">
                <a:latin typeface="Arial"/>
                <a:cs typeface="Arial"/>
              </a:rPr>
              <a:t>string</a:t>
            </a:r>
            <a:r>
              <a:rPr sz="900" spc="-15" dirty="0">
                <a:latin typeface="Arial"/>
                <a:cs typeface="Arial"/>
              </a:rPr>
              <a:t> </a:t>
            </a:r>
            <a:r>
              <a:rPr sz="900" dirty="0">
                <a:latin typeface="Arial"/>
                <a:cs typeface="Arial"/>
              </a:rPr>
              <a:t>such</a:t>
            </a:r>
            <a:r>
              <a:rPr sz="900" spc="-15" dirty="0">
                <a:latin typeface="Arial"/>
                <a:cs typeface="Arial"/>
              </a:rPr>
              <a:t> </a:t>
            </a:r>
            <a:r>
              <a:rPr sz="900" dirty="0">
                <a:latin typeface="Arial"/>
                <a:cs typeface="Arial"/>
              </a:rPr>
              <a:t>as</a:t>
            </a:r>
            <a:r>
              <a:rPr sz="900" spc="215" dirty="0">
                <a:latin typeface="Arial"/>
                <a:cs typeface="Arial"/>
              </a:rPr>
              <a:t> </a:t>
            </a:r>
            <a:r>
              <a:rPr sz="1000" dirty="0">
                <a:latin typeface="Times New Roman"/>
                <a:cs typeface="Times New Roman"/>
              </a:rPr>
              <a:t>mybucket</a:t>
            </a:r>
            <a:r>
              <a:rPr sz="900" dirty="0">
                <a:latin typeface="Arial"/>
                <a:cs typeface="Arial"/>
              </a:rPr>
              <a:t>,</a:t>
            </a:r>
            <a:r>
              <a:rPr sz="900" spc="-15" dirty="0">
                <a:latin typeface="Arial"/>
                <a:cs typeface="Arial"/>
              </a:rPr>
              <a:t> </a:t>
            </a:r>
            <a:r>
              <a:rPr sz="900" dirty="0">
                <a:latin typeface="Arial"/>
                <a:cs typeface="Arial"/>
              </a:rPr>
              <a:t>for</a:t>
            </a:r>
            <a:r>
              <a:rPr sz="900" spc="-10" dirty="0">
                <a:latin typeface="Arial"/>
                <a:cs typeface="Arial"/>
              </a:rPr>
              <a:t> </a:t>
            </a:r>
            <a:r>
              <a:rPr sz="900" dirty="0">
                <a:latin typeface="Arial"/>
                <a:cs typeface="Arial"/>
              </a:rPr>
              <a:t>creating</a:t>
            </a:r>
            <a:r>
              <a:rPr sz="900" spc="-15" dirty="0">
                <a:latin typeface="Arial"/>
                <a:cs typeface="Arial"/>
              </a:rPr>
              <a:t> </a:t>
            </a:r>
            <a:r>
              <a:rPr sz="900" dirty="0">
                <a:latin typeface="Arial"/>
                <a:cs typeface="Arial"/>
              </a:rPr>
              <a:t>a</a:t>
            </a:r>
            <a:r>
              <a:rPr sz="900" spc="-15" dirty="0">
                <a:latin typeface="Arial"/>
                <a:cs typeface="Arial"/>
              </a:rPr>
              <a:t> </a:t>
            </a:r>
            <a:r>
              <a:rPr sz="900" spc="-10" dirty="0">
                <a:latin typeface="Arial"/>
                <a:cs typeface="Arial"/>
              </a:rPr>
              <a:t>bucket</a:t>
            </a:r>
            <a:r>
              <a:rPr sz="900" spc="-15" dirty="0">
                <a:latin typeface="Arial"/>
                <a:cs typeface="Arial"/>
              </a:rPr>
              <a:t> </a:t>
            </a:r>
            <a:r>
              <a:rPr sz="900" spc="-10" dirty="0">
                <a:latin typeface="Arial"/>
                <a:cs typeface="Arial"/>
              </a:rPr>
              <a:t>“mybucket.”</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86868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Service-</a:t>
            </a:r>
            <a:r>
              <a:rPr sz="500" dirty="0">
                <a:latin typeface="Arial"/>
                <a:cs typeface="Arial"/>
                <a:hlinkClick r:id="rId3" action="ppaction://hlinksldjump"/>
              </a:rPr>
              <a:t>oriented</a:t>
            </a:r>
            <a:r>
              <a:rPr sz="500" spc="50" dirty="0">
                <a:latin typeface="Arial"/>
                <a:cs typeface="Arial"/>
                <a:hlinkClick r:id="rId3" action="ppaction://hlinksldjump"/>
              </a:rPr>
              <a:t> </a:t>
            </a:r>
            <a:r>
              <a:rPr sz="500" spc="-10" dirty="0">
                <a:latin typeface="Arial"/>
                <a:cs typeface="Arial"/>
                <a:hlinkClick r:id="rId3" action="ppaction://hlinksldjump"/>
              </a:rPr>
              <a:t>architectures</a:t>
            </a:r>
            <a:endParaRPr sz="500">
              <a:latin typeface="Arial"/>
              <a:cs typeface="Arial"/>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57954" algn="l"/>
              </a:tabLst>
            </a:pPr>
            <a:r>
              <a:rPr sz="500" spc="-10" dirty="0">
                <a:latin typeface="Arial"/>
                <a:cs typeface="Arial"/>
                <a:hlinkClick r:id="rId2" action="ppaction://hlinksldjump"/>
              </a:rPr>
              <a:t>Architectures</a:t>
            </a:r>
            <a:r>
              <a:rPr sz="500" dirty="0">
                <a:latin typeface="Arial"/>
                <a:cs typeface="Arial"/>
              </a:rPr>
              <a:t>	</a:t>
            </a:r>
            <a:r>
              <a:rPr sz="500" spc="-10" dirty="0">
                <a:solidFill>
                  <a:srgbClr val="FFFFFF"/>
                </a:solidFill>
                <a:latin typeface="Arial"/>
                <a:cs typeface="Arial"/>
                <a:hlinkClick r:id="rId2" action="ppaction://hlinksldjump"/>
              </a:rPr>
              <a:t>Architectural</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styles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On</a:t>
            </a:r>
            <a:r>
              <a:rPr spc="-25" dirty="0"/>
              <a:t> </a:t>
            </a:r>
            <a:r>
              <a:rPr spc="-10" dirty="0"/>
              <a:t>interfaces</a:t>
            </a:r>
          </a:p>
        </p:txBody>
      </p:sp>
      <p:sp>
        <p:nvSpPr>
          <p:cNvPr id="4" name="object 4"/>
          <p:cNvSpPr txBox="1"/>
          <p:nvPr/>
        </p:nvSpPr>
        <p:spPr>
          <a:xfrm>
            <a:off x="343547" y="489362"/>
            <a:ext cx="3917315" cy="1086485"/>
          </a:xfrm>
          <a:prstGeom prst="rect">
            <a:avLst/>
          </a:prstGeom>
        </p:spPr>
        <p:txBody>
          <a:bodyPr vert="horz" wrap="square" lIns="0" tIns="37465" rIns="0" bIns="0" rtlCol="0">
            <a:spAutoFit/>
          </a:bodyPr>
          <a:lstStyle/>
          <a:p>
            <a:pPr marL="15875">
              <a:lnSpc>
                <a:spcPct val="100000"/>
              </a:lnSpc>
              <a:spcBef>
                <a:spcPts val="295"/>
              </a:spcBef>
            </a:pPr>
            <a:r>
              <a:rPr sz="1000" spc="-10" dirty="0">
                <a:solidFill>
                  <a:srgbClr val="3333B2"/>
                </a:solidFill>
                <a:latin typeface="Arial"/>
                <a:cs typeface="Arial"/>
              </a:rPr>
              <a:t>Simplifications</a:t>
            </a:r>
            <a:endParaRPr sz="1000">
              <a:latin typeface="Arial"/>
              <a:cs typeface="Arial"/>
            </a:endParaRPr>
          </a:p>
          <a:p>
            <a:pPr marL="15875" marR="5080" indent="-3810">
              <a:lnSpc>
                <a:spcPct val="100000"/>
              </a:lnSpc>
              <a:spcBef>
                <a:spcPts val="195"/>
              </a:spcBef>
            </a:pPr>
            <a:r>
              <a:rPr sz="900" spc="-10" dirty="0">
                <a:latin typeface="Arial"/>
                <a:cs typeface="Arial"/>
              </a:rPr>
              <a:t>Assume</a:t>
            </a:r>
            <a:r>
              <a:rPr sz="900" spc="-55" dirty="0">
                <a:latin typeface="Arial"/>
                <a:cs typeface="Arial"/>
              </a:rPr>
              <a:t> </a:t>
            </a:r>
            <a:r>
              <a:rPr sz="900" dirty="0">
                <a:latin typeface="Arial"/>
                <a:cs typeface="Arial"/>
              </a:rPr>
              <a:t>an</a:t>
            </a:r>
            <a:r>
              <a:rPr sz="900" spc="-45" dirty="0">
                <a:latin typeface="Arial"/>
                <a:cs typeface="Arial"/>
              </a:rPr>
              <a:t> </a:t>
            </a:r>
            <a:r>
              <a:rPr sz="900" dirty="0">
                <a:latin typeface="Arial"/>
                <a:cs typeface="Arial"/>
              </a:rPr>
              <a:t>interface</a:t>
            </a:r>
            <a:r>
              <a:rPr sz="900" spc="175" dirty="0">
                <a:latin typeface="Arial"/>
                <a:cs typeface="Arial"/>
              </a:rPr>
              <a:t> </a:t>
            </a:r>
            <a:r>
              <a:rPr sz="1000" spc="65" dirty="0">
                <a:latin typeface="Times New Roman"/>
                <a:cs typeface="Times New Roman"/>
              </a:rPr>
              <a:t>bucket</a:t>
            </a:r>
            <a:r>
              <a:rPr sz="1000" spc="-80" dirty="0">
                <a:latin typeface="Times New Roman"/>
                <a:cs typeface="Times New Roman"/>
              </a:rPr>
              <a:t> </a:t>
            </a:r>
            <a:r>
              <a:rPr sz="900" spc="-10" dirty="0">
                <a:latin typeface="Arial"/>
                <a:cs typeface="Arial"/>
              </a:rPr>
              <a:t>offering</a:t>
            </a:r>
            <a:r>
              <a:rPr sz="900" spc="-35" dirty="0">
                <a:latin typeface="Arial"/>
                <a:cs typeface="Arial"/>
              </a:rPr>
              <a:t> </a:t>
            </a:r>
            <a:r>
              <a:rPr sz="900" dirty="0">
                <a:latin typeface="Arial"/>
                <a:cs typeface="Arial"/>
              </a:rPr>
              <a:t>an</a:t>
            </a:r>
            <a:r>
              <a:rPr sz="900" spc="-40" dirty="0">
                <a:latin typeface="Arial"/>
                <a:cs typeface="Arial"/>
              </a:rPr>
              <a:t> </a:t>
            </a:r>
            <a:r>
              <a:rPr sz="900" dirty="0">
                <a:latin typeface="Arial"/>
                <a:cs typeface="Arial"/>
              </a:rPr>
              <a:t>operation</a:t>
            </a:r>
            <a:r>
              <a:rPr sz="900" spc="175" dirty="0">
                <a:latin typeface="Arial"/>
                <a:cs typeface="Arial"/>
              </a:rPr>
              <a:t> </a:t>
            </a:r>
            <a:r>
              <a:rPr sz="1000" spc="85" dirty="0">
                <a:latin typeface="Times New Roman"/>
                <a:cs typeface="Times New Roman"/>
              </a:rPr>
              <a:t>create</a:t>
            </a:r>
            <a:r>
              <a:rPr sz="900" spc="85" dirty="0">
                <a:latin typeface="Arial"/>
                <a:cs typeface="Arial"/>
              </a:rPr>
              <a:t>,</a:t>
            </a:r>
            <a:r>
              <a:rPr sz="900" spc="-40" dirty="0">
                <a:latin typeface="Arial"/>
                <a:cs typeface="Arial"/>
              </a:rPr>
              <a:t> </a:t>
            </a:r>
            <a:r>
              <a:rPr sz="900" spc="-10" dirty="0">
                <a:latin typeface="Arial"/>
                <a:cs typeface="Arial"/>
              </a:rPr>
              <a:t>requiring</a:t>
            </a:r>
            <a:r>
              <a:rPr sz="900" spc="-35" dirty="0">
                <a:latin typeface="Arial"/>
                <a:cs typeface="Arial"/>
              </a:rPr>
              <a:t> </a:t>
            </a:r>
            <a:r>
              <a:rPr sz="900" dirty="0">
                <a:latin typeface="Arial"/>
                <a:cs typeface="Arial"/>
              </a:rPr>
              <a:t>an</a:t>
            </a:r>
            <a:r>
              <a:rPr sz="900" spc="-35" dirty="0">
                <a:latin typeface="Arial"/>
                <a:cs typeface="Arial"/>
              </a:rPr>
              <a:t> </a:t>
            </a:r>
            <a:r>
              <a:rPr sz="900" spc="-10" dirty="0">
                <a:latin typeface="Arial"/>
                <a:cs typeface="Arial"/>
              </a:rPr>
              <a:t>input </a:t>
            </a:r>
            <a:r>
              <a:rPr sz="900" dirty="0">
                <a:latin typeface="Arial"/>
                <a:cs typeface="Arial"/>
              </a:rPr>
              <a:t>string</a:t>
            </a:r>
            <a:r>
              <a:rPr sz="900" spc="-15" dirty="0">
                <a:latin typeface="Arial"/>
                <a:cs typeface="Arial"/>
              </a:rPr>
              <a:t> </a:t>
            </a:r>
            <a:r>
              <a:rPr sz="900" dirty="0">
                <a:latin typeface="Arial"/>
                <a:cs typeface="Arial"/>
              </a:rPr>
              <a:t>such</a:t>
            </a:r>
            <a:r>
              <a:rPr sz="900" spc="-15" dirty="0">
                <a:latin typeface="Arial"/>
                <a:cs typeface="Arial"/>
              </a:rPr>
              <a:t> </a:t>
            </a:r>
            <a:r>
              <a:rPr sz="900" dirty="0">
                <a:latin typeface="Arial"/>
                <a:cs typeface="Arial"/>
              </a:rPr>
              <a:t>as</a:t>
            </a:r>
            <a:r>
              <a:rPr sz="900" spc="215" dirty="0">
                <a:latin typeface="Arial"/>
                <a:cs typeface="Arial"/>
              </a:rPr>
              <a:t> </a:t>
            </a:r>
            <a:r>
              <a:rPr sz="1000" dirty="0">
                <a:latin typeface="Times New Roman"/>
                <a:cs typeface="Times New Roman"/>
              </a:rPr>
              <a:t>mybucket</a:t>
            </a:r>
            <a:r>
              <a:rPr sz="900" dirty="0">
                <a:latin typeface="Arial"/>
                <a:cs typeface="Arial"/>
              </a:rPr>
              <a:t>,</a:t>
            </a:r>
            <a:r>
              <a:rPr sz="900" spc="-15" dirty="0">
                <a:latin typeface="Arial"/>
                <a:cs typeface="Arial"/>
              </a:rPr>
              <a:t> </a:t>
            </a:r>
            <a:r>
              <a:rPr sz="900" dirty="0">
                <a:latin typeface="Arial"/>
                <a:cs typeface="Arial"/>
              </a:rPr>
              <a:t>for</a:t>
            </a:r>
            <a:r>
              <a:rPr sz="900" spc="-10" dirty="0">
                <a:latin typeface="Arial"/>
                <a:cs typeface="Arial"/>
              </a:rPr>
              <a:t> </a:t>
            </a:r>
            <a:r>
              <a:rPr sz="900" dirty="0">
                <a:latin typeface="Arial"/>
                <a:cs typeface="Arial"/>
              </a:rPr>
              <a:t>creating</a:t>
            </a:r>
            <a:r>
              <a:rPr sz="900" spc="-15" dirty="0">
                <a:latin typeface="Arial"/>
                <a:cs typeface="Arial"/>
              </a:rPr>
              <a:t> </a:t>
            </a:r>
            <a:r>
              <a:rPr sz="900" dirty="0">
                <a:latin typeface="Arial"/>
                <a:cs typeface="Arial"/>
              </a:rPr>
              <a:t>a</a:t>
            </a:r>
            <a:r>
              <a:rPr sz="900" spc="-15" dirty="0">
                <a:latin typeface="Arial"/>
                <a:cs typeface="Arial"/>
              </a:rPr>
              <a:t> </a:t>
            </a:r>
            <a:r>
              <a:rPr sz="900" spc="-10" dirty="0">
                <a:latin typeface="Arial"/>
                <a:cs typeface="Arial"/>
              </a:rPr>
              <a:t>bucket</a:t>
            </a:r>
            <a:r>
              <a:rPr sz="900" spc="-15" dirty="0">
                <a:latin typeface="Arial"/>
                <a:cs typeface="Arial"/>
              </a:rPr>
              <a:t> </a:t>
            </a:r>
            <a:r>
              <a:rPr sz="900" spc="-10" dirty="0">
                <a:latin typeface="Arial"/>
                <a:cs typeface="Arial"/>
              </a:rPr>
              <a:t>“mybucket.”</a:t>
            </a:r>
            <a:endParaRPr sz="900">
              <a:latin typeface="Arial"/>
              <a:cs typeface="Arial"/>
            </a:endParaRPr>
          </a:p>
          <a:p>
            <a:pPr marL="15875">
              <a:lnSpc>
                <a:spcPts val="1180"/>
              </a:lnSpc>
              <a:spcBef>
                <a:spcPts val="800"/>
              </a:spcBef>
            </a:pPr>
            <a:r>
              <a:rPr sz="1000" spc="-20" dirty="0">
                <a:solidFill>
                  <a:srgbClr val="4C994C"/>
                </a:solidFill>
                <a:latin typeface="Arial"/>
                <a:cs typeface="Arial"/>
              </a:rPr>
              <a:t>SOAP</a:t>
            </a:r>
            <a:endParaRPr sz="1000">
              <a:latin typeface="Arial"/>
              <a:cs typeface="Arial"/>
            </a:endParaRPr>
          </a:p>
          <a:p>
            <a:pPr marL="269240" marR="2045335" indent="-6350">
              <a:lnSpc>
                <a:spcPts val="1210"/>
              </a:lnSpc>
              <a:spcBef>
                <a:spcPts val="10"/>
              </a:spcBef>
            </a:pPr>
            <a:r>
              <a:rPr sz="1000" i="1" spc="65" dirty="0">
                <a:latin typeface="Times New Roman"/>
                <a:cs typeface="Times New Roman"/>
              </a:rPr>
              <a:t>import</a:t>
            </a:r>
            <a:r>
              <a:rPr sz="1000" i="1" spc="200" dirty="0">
                <a:latin typeface="Times New Roman"/>
                <a:cs typeface="Times New Roman"/>
              </a:rPr>
              <a:t> </a:t>
            </a:r>
            <a:r>
              <a:rPr sz="1000" i="1" spc="65" dirty="0">
                <a:latin typeface="Times New Roman"/>
                <a:cs typeface="Times New Roman"/>
              </a:rPr>
              <a:t>bucket </a:t>
            </a:r>
            <a:r>
              <a:rPr sz="1000" i="1" spc="60" dirty="0">
                <a:latin typeface="Times New Roman"/>
                <a:cs typeface="Times New Roman"/>
              </a:rPr>
              <a:t>bucket.create("mybucket")</a:t>
            </a:r>
            <a:endParaRPr sz="1000">
              <a:latin typeface="Times New Roman"/>
              <a:cs typeface="Times New Roman"/>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86868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Service-</a:t>
            </a:r>
            <a:r>
              <a:rPr sz="500" dirty="0">
                <a:latin typeface="Arial"/>
                <a:cs typeface="Arial"/>
                <a:hlinkClick r:id="rId3" action="ppaction://hlinksldjump"/>
              </a:rPr>
              <a:t>oriented</a:t>
            </a:r>
            <a:r>
              <a:rPr sz="500" spc="50" dirty="0">
                <a:latin typeface="Arial"/>
                <a:cs typeface="Arial"/>
                <a:hlinkClick r:id="rId3" action="ppaction://hlinksldjump"/>
              </a:rPr>
              <a:t> </a:t>
            </a:r>
            <a:r>
              <a:rPr sz="500" spc="-10" dirty="0">
                <a:latin typeface="Arial"/>
                <a:cs typeface="Arial"/>
                <a:hlinkClick r:id="rId3" action="ppaction://hlinksldjump"/>
              </a:rPr>
              <a:t>architectures</a:t>
            </a:r>
            <a:endParaRPr sz="500">
              <a:latin typeface="Arial"/>
              <a:cs typeface="Arial"/>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57954" algn="l"/>
              </a:tabLst>
            </a:pPr>
            <a:r>
              <a:rPr sz="500" spc="-10" dirty="0">
                <a:latin typeface="Arial"/>
                <a:cs typeface="Arial"/>
                <a:hlinkClick r:id="rId2" action="ppaction://hlinksldjump"/>
              </a:rPr>
              <a:t>Architectures</a:t>
            </a:r>
            <a:r>
              <a:rPr sz="500" dirty="0">
                <a:latin typeface="Arial"/>
                <a:cs typeface="Arial"/>
              </a:rPr>
              <a:t>	</a:t>
            </a:r>
            <a:r>
              <a:rPr sz="500" spc="-10" dirty="0">
                <a:solidFill>
                  <a:srgbClr val="FFFFFF"/>
                </a:solidFill>
                <a:latin typeface="Arial"/>
                <a:cs typeface="Arial"/>
                <a:hlinkClick r:id="rId2" action="ppaction://hlinksldjump"/>
              </a:rPr>
              <a:t>Architectural</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styles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On</a:t>
            </a:r>
            <a:r>
              <a:rPr spc="-25" dirty="0"/>
              <a:t> </a:t>
            </a:r>
            <a:r>
              <a:rPr spc="-10" dirty="0"/>
              <a:t>interfaces</a:t>
            </a:r>
          </a:p>
        </p:txBody>
      </p:sp>
      <p:sp>
        <p:nvSpPr>
          <p:cNvPr id="4" name="object 4"/>
          <p:cNvSpPr txBox="1"/>
          <p:nvPr/>
        </p:nvSpPr>
        <p:spPr>
          <a:xfrm>
            <a:off x="343547" y="489362"/>
            <a:ext cx="3917315" cy="1553210"/>
          </a:xfrm>
          <a:prstGeom prst="rect">
            <a:avLst/>
          </a:prstGeom>
        </p:spPr>
        <p:txBody>
          <a:bodyPr vert="horz" wrap="square" lIns="0" tIns="37465" rIns="0" bIns="0" rtlCol="0">
            <a:spAutoFit/>
          </a:bodyPr>
          <a:lstStyle/>
          <a:p>
            <a:pPr marL="15875">
              <a:lnSpc>
                <a:spcPct val="100000"/>
              </a:lnSpc>
              <a:spcBef>
                <a:spcPts val="295"/>
              </a:spcBef>
            </a:pPr>
            <a:r>
              <a:rPr sz="1000" spc="-10" dirty="0">
                <a:solidFill>
                  <a:srgbClr val="3333B2"/>
                </a:solidFill>
                <a:latin typeface="Arial"/>
                <a:cs typeface="Arial"/>
              </a:rPr>
              <a:t>Simplifications</a:t>
            </a:r>
            <a:endParaRPr sz="1000">
              <a:latin typeface="Arial"/>
              <a:cs typeface="Arial"/>
            </a:endParaRPr>
          </a:p>
          <a:p>
            <a:pPr marL="15875" marR="5080" indent="-3810">
              <a:lnSpc>
                <a:spcPct val="100000"/>
              </a:lnSpc>
              <a:spcBef>
                <a:spcPts val="195"/>
              </a:spcBef>
            </a:pPr>
            <a:r>
              <a:rPr sz="900" spc="-10" dirty="0">
                <a:latin typeface="Arial"/>
                <a:cs typeface="Arial"/>
              </a:rPr>
              <a:t>Assume</a:t>
            </a:r>
            <a:r>
              <a:rPr sz="900" spc="-55" dirty="0">
                <a:latin typeface="Arial"/>
                <a:cs typeface="Arial"/>
              </a:rPr>
              <a:t> </a:t>
            </a:r>
            <a:r>
              <a:rPr sz="900" dirty="0">
                <a:latin typeface="Arial"/>
                <a:cs typeface="Arial"/>
              </a:rPr>
              <a:t>an</a:t>
            </a:r>
            <a:r>
              <a:rPr sz="900" spc="-45" dirty="0">
                <a:latin typeface="Arial"/>
                <a:cs typeface="Arial"/>
              </a:rPr>
              <a:t> </a:t>
            </a:r>
            <a:r>
              <a:rPr sz="900" dirty="0">
                <a:latin typeface="Arial"/>
                <a:cs typeface="Arial"/>
              </a:rPr>
              <a:t>interface</a:t>
            </a:r>
            <a:r>
              <a:rPr sz="900" spc="175" dirty="0">
                <a:latin typeface="Arial"/>
                <a:cs typeface="Arial"/>
              </a:rPr>
              <a:t> </a:t>
            </a:r>
            <a:r>
              <a:rPr sz="1000" spc="65" dirty="0">
                <a:latin typeface="Times New Roman"/>
                <a:cs typeface="Times New Roman"/>
              </a:rPr>
              <a:t>bucket</a:t>
            </a:r>
            <a:r>
              <a:rPr sz="1000" spc="-80" dirty="0">
                <a:latin typeface="Times New Roman"/>
                <a:cs typeface="Times New Roman"/>
              </a:rPr>
              <a:t> </a:t>
            </a:r>
            <a:r>
              <a:rPr sz="900" spc="-10" dirty="0">
                <a:latin typeface="Arial"/>
                <a:cs typeface="Arial"/>
              </a:rPr>
              <a:t>offering</a:t>
            </a:r>
            <a:r>
              <a:rPr sz="900" spc="-35" dirty="0">
                <a:latin typeface="Arial"/>
                <a:cs typeface="Arial"/>
              </a:rPr>
              <a:t> </a:t>
            </a:r>
            <a:r>
              <a:rPr sz="900" dirty="0">
                <a:latin typeface="Arial"/>
                <a:cs typeface="Arial"/>
              </a:rPr>
              <a:t>an</a:t>
            </a:r>
            <a:r>
              <a:rPr sz="900" spc="-40" dirty="0">
                <a:latin typeface="Arial"/>
                <a:cs typeface="Arial"/>
              </a:rPr>
              <a:t> </a:t>
            </a:r>
            <a:r>
              <a:rPr sz="900" dirty="0">
                <a:latin typeface="Arial"/>
                <a:cs typeface="Arial"/>
              </a:rPr>
              <a:t>operation</a:t>
            </a:r>
            <a:r>
              <a:rPr sz="900" spc="175" dirty="0">
                <a:latin typeface="Arial"/>
                <a:cs typeface="Arial"/>
              </a:rPr>
              <a:t> </a:t>
            </a:r>
            <a:r>
              <a:rPr sz="1000" spc="85" dirty="0">
                <a:latin typeface="Times New Roman"/>
                <a:cs typeface="Times New Roman"/>
              </a:rPr>
              <a:t>create</a:t>
            </a:r>
            <a:r>
              <a:rPr sz="900" spc="85" dirty="0">
                <a:latin typeface="Arial"/>
                <a:cs typeface="Arial"/>
              </a:rPr>
              <a:t>,</a:t>
            </a:r>
            <a:r>
              <a:rPr sz="900" spc="-40" dirty="0">
                <a:latin typeface="Arial"/>
                <a:cs typeface="Arial"/>
              </a:rPr>
              <a:t> </a:t>
            </a:r>
            <a:r>
              <a:rPr sz="900" spc="-10" dirty="0">
                <a:latin typeface="Arial"/>
                <a:cs typeface="Arial"/>
              </a:rPr>
              <a:t>requiring</a:t>
            </a:r>
            <a:r>
              <a:rPr sz="900" spc="-35" dirty="0">
                <a:latin typeface="Arial"/>
                <a:cs typeface="Arial"/>
              </a:rPr>
              <a:t> </a:t>
            </a:r>
            <a:r>
              <a:rPr sz="900" dirty="0">
                <a:latin typeface="Arial"/>
                <a:cs typeface="Arial"/>
              </a:rPr>
              <a:t>an</a:t>
            </a:r>
            <a:r>
              <a:rPr sz="900" spc="-35" dirty="0">
                <a:latin typeface="Arial"/>
                <a:cs typeface="Arial"/>
              </a:rPr>
              <a:t> </a:t>
            </a:r>
            <a:r>
              <a:rPr sz="900" spc="-10" dirty="0">
                <a:latin typeface="Arial"/>
                <a:cs typeface="Arial"/>
              </a:rPr>
              <a:t>input </a:t>
            </a:r>
            <a:r>
              <a:rPr sz="900" dirty="0">
                <a:latin typeface="Arial"/>
                <a:cs typeface="Arial"/>
              </a:rPr>
              <a:t>string</a:t>
            </a:r>
            <a:r>
              <a:rPr sz="900" spc="-15" dirty="0">
                <a:latin typeface="Arial"/>
                <a:cs typeface="Arial"/>
              </a:rPr>
              <a:t> </a:t>
            </a:r>
            <a:r>
              <a:rPr sz="900" dirty="0">
                <a:latin typeface="Arial"/>
                <a:cs typeface="Arial"/>
              </a:rPr>
              <a:t>such</a:t>
            </a:r>
            <a:r>
              <a:rPr sz="900" spc="-15" dirty="0">
                <a:latin typeface="Arial"/>
                <a:cs typeface="Arial"/>
              </a:rPr>
              <a:t> </a:t>
            </a:r>
            <a:r>
              <a:rPr sz="900" dirty="0">
                <a:latin typeface="Arial"/>
                <a:cs typeface="Arial"/>
              </a:rPr>
              <a:t>as</a:t>
            </a:r>
            <a:r>
              <a:rPr sz="900" spc="215" dirty="0">
                <a:latin typeface="Arial"/>
                <a:cs typeface="Arial"/>
              </a:rPr>
              <a:t> </a:t>
            </a:r>
            <a:r>
              <a:rPr sz="1000" dirty="0">
                <a:latin typeface="Times New Roman"/>
                <a:cs typeface="Times New Roman"/>
              </a:rPr>
              <a:t>mybucket</a:t>
            </a:r>
            <a:r>
              <a:rPr sz="900" dirty="0">
                <a:latin typeface="Arial"/>
                <a:cs typeface="Arial"/>
              </a:rPr>
              <a:t>,</a:t>
            </a:r>
            <a:r>
              <a:rPr sz="900" spc="-15" dirty="0">
                <a:latin typeface="Arial"/>
                <a:cs typeface="Arial"/>
              </a:rPr>
              <a:t> </a:t>
            </a:r>
            <a:r>
              <a:rPr sz="900" dirty="0">
                <a:latin typeface="Arial"/>
                <a:cs typeface="Arial"/>
              </a:rPr>
              <a:t>for</a:t>
            </a:r>
            <a:r>
              <a:rPr sz="900" spc="-10" dirty="0">
                <a:latin typeface="Arial"/>
                <a:cs typeface="Arial"/>
              </a:rPr>
              <a:t> </a:t>
            </a:r>
            <a:r>
              <a:rPr sz="900" dirty="0">
                <a:latin typeface="Arial"/>
                <a:cs typeface="Arial"/>
              </a:rPr>
              <a:t>creating</a:t>
            </a:r>
            <a:r>
              <a:rPr sz="900" spc="-15" dirty="0">
                <a:latin typeface="Arial"/>
                <a:cs typeface="Arial"/>
              </a:rPr>
              <a:t> </a:t>
            </a:r>
            <a:r>
              <a:rPr sz="900" dirty="0">
                <a:latin typeface="Arial"/>
                <a:cs typeface="Arial"/>
              </a:rPr>
              <a:t>a</a:t>
            </a:r>
            <a:r>
              <a:rPr sz="900" spc="-15" dirty="0">
                <a:latin typeface="Arial"/>
                <a:cs typeface="Arial"/>
              </a:rPr>
              <a:t> </a:t>
            </a:r>
            <a:r>
              <a:rPr sz="900" spc="-10" dirty="0">
                <a:latin typeface="Arial"/>
                <a:cs typeface="Arial"/>
              </a:rPr>
              <a:t>bucket</a:t>
            </a:r>
            <a:r>
              <a:rPr sz="900" spc="-15" dirty="0">
                <a:latin typeface="Arial"/>
                <a:cs typeface="Arial"/>
              </a:rPr>
              <a:t> </a:t>
            </a:r>
            <a:r>
              <a:rPr sz="900" spc="-10" dirty="0">
                <a:latin typeface="Arial"/>
                <a:cs typeface="Arial"/>
              </a:rPr>
              <a:t>“mybucket.”</a:t>
            </a:r>
            <a:endParaRPr sz="900">
              <a:latin typeface="Arial"/>
              <a:cs typeface="Arial"/>
            </a:endParaRPr>
          </a:p>
          <a:p>
            <a:pPr marL="15875">
              <a:lnSpc>
                <a:spcPts val="1180"/>
              </a:lnSpc>
              <a:spcBef>
                <a:spcPts val="800"/>
              </a:spcBef>
            </a:pPr>
            <a:r>
              <a:rPr sz="1000" spc="-20" dirty="0">
                <a:solidFill>
                  <a:srgbClr val="4C994C"/>
                </a:solidFill>
                <a:latin typeface="Arial"/>
                <a:cs typeface="Arial"/>
              </a:rPr>
              <a:t>SOAP</a:t>
            </a:r>
            <a:endParaRPr sz="1000">
              <a:latin typeface="Arial"/>
              <a:cs typeface="Arial"/>
            </a:endParaRPr>
          </a:p>
          <a:p>
            <a:pPr marL="269240" marR="2045335" indent="-6350">
              <a:lnSpc>
                <a:spcPts val="1210"/>
              </a:lnSpc>
              <a:spcBef>
                <a:spcPts val="10"/>
              </a:spcBef>
            </a:pPr>
            <a:r>
              <a:rPr sz="1000" i="1" spc="65" dirty="0">
                <a:latin typeface="Times New Roman"/>
                <a:cs typeface="Times New Roman"/>
              </a:rPr>
              <a:t>import</a:t>
            </a:r>
            <a:r>
              <a:rPr sz="1000" i="1" spc="200" dirty="0">
                <a:latin typeface="Times New Roman"/>
                <a:cs typeface="Times New Roman"/>
              </a:rPr>
              <a:t> </a:t>
            </a:r>
            <a:r>
              <a:rPr sz="1000" i="1" spc="65" dirty="0">
                <a:latin typeface="Times New Roman"/>
                <a:cs typeface="Times New Roman"/>
              </a:rPr>
              <a:t>bucket </a:t>
            </a:r>
            <a:r>
              <a:rPr sz="1000" i="1" spc="60" dirty="0">
                <a:latin typeface="Times New Roman"/>
                <a:cs typeface="Times New Roman"/>
              </a:rPr>
              <a:t>bucket.create("mybucket")</a:t>
            </a:r>
            <a:endParaRPr sz="1000">
              <a:latin typeface="Times New Roman"/>
              <a:cs typeface="Times New Roman"/>
            </a:endParaRPr>
          </a:p>
          <a:p>
            <a:pPr>
              <a:lnSpc>
                <a:spcPct val="100000"/>
              </a:lnSpc>
              <a:spcBef>
                <a:spcPts val="35"/>
              </a:spcBef>
            </a:pPr>
            <a:endParaRPr sz="1100">
              <a:latin typeface="Times New Roman"/>
              <a:cs typeface="Times New Roman"/>
            </a:endParaRPr>
          </a:p>
          <a:p>
            <a:pPr marL="15875">
              <a:lnSpc>
                <a:spcPts val="1165"/>
              </a:lnSpc>
            </a:pPr>
            <a:r>
              <a:rPr sz="1000" spc="-10" dirty="0">
                <a:solidFill>
                  <a:srgbClr val="4C994C"/>
                </a:solidFill>
                <a:latin typeface="Arial"/>
                <a:cs typeface="Arial"/>
              </a:rPr>
              <a:t>RESTful</a:t>
            </a:r>
            <a:endParaRPr sz="1000">
              <a:latin typeface="Arial"/>
              <a:cs typeface="Arial"/>
            </a:endParaRPr>
          </a:p>
          <a:p>
            <a:pPr marL="262890">
              <a:lnSpc>
                <a:spcPts val="1165"/>
              </a:lnSpc>
            </a:pPr>
            <a:r>
              <a:rPr sz="1000" i="1" spc="-60" dirty="0">
                <a:latin typeface="Times New Roman"/>
                <a:cs typeface="Times New Roman"/>
              </a:rPr>
              <a:t>PUT</a:t>
            </a:r>
            <a:r>
              <a:rPr sz="1000" i="1" spc="55" dirty="0">
                <a:latin typeface="Times New Roman"/>
                <a:cs typeface="Times New Roman"/>
              </a:rPr>
              <a:t> "https://mybucket.s3.amazonsws.com/"</a:t>
            </a:r>
            <a:endParaRPr sz="1000">
              <a:latin typeface="Times New Roman"/>
              <a:cs typeface="Times New Roman"/>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86868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Service-</a:t>
            </a:r>
            <a:r>
              <a:rPr sz="500" dirty="0">
                <a:latin typeface="Arial"/>
                <a:cs typeface="Arial"/>
                <a:hlinkClick r:id="rId3" action="ppaction://hlinksldjump"/>
              </a:rPr>
              <a:t>oriented</a:t>
            </a:r>
            <a:r>
              <a:rPr sz="500" spc="50" dirty="0">
                <a:latin typeface="Arial"/>
                <a:cs typeface="Arial"/>
                <a:hlinkClick r:id="rId3" action="ppaction://hlinksldjump"/>
              </a:rPr>
              <a:t> </a:t>
            </a:r>
            <a:r>
              <a:rPr sz="500" spc="-10" dirty="0">
                <a:latin typeface="Arial"/>
                <a:cs typeface="Arial"/>
                <a:hlinkClick r:id="rId3" action="ppaction://hlinksldjump"/>
              </a:rPr>
              <a:t>architectures</a:t>
            </a:r>
            <a:endParaRPr sz="500">
              <a:latin typeface="Arial"/>
              <a:cs typeface="Arial"/>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957954" algn="l"/>
              </a:tabLst>
            </a:pPr>
            <a:r>
              <a:rPr sz="500" spc="-10" dirty="0">
                <a:latin typeface="Arial"/>
                <a:cs typeface="Arial"/>
                <a:hlinkClick r:id="rId2" action="ppaction://hlinksldjump"/>
              </a:rPr>
              <a:t>Architectures</a:t>
            </a:r>
            <a:r>
              <a:rPr sz="500" dirty="0">
                <a:latin typeface="Arial"/>
                <a:cs typeface="Arial"/>
              </a:rPr>
              <a:t>	</a:t>
            </a:r>
            <a:r>
              <a:rPr sz="500" spc="-10" dirty="0">
                <a:solidFill>
                  <a:srgbClr val="FFFFFF"/>
                </a:solidFill>
                <a:latin typeface="Arial"/>
                <a:cs typeface="Arial"/>
                <a:hlinkClick r:id="rId2" action="ppaction://hlinksldjump"/>
              </a:rPr>
              <a:t>Architectural</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styles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On</a:t>
            </a:r>
            <a:r>
              <a:rPr spc="-25" dirty="0"/>
              <a:t> </a:t>
            </a:r>
            <a:r>
              <a:rPr spc="-10" dirty="0"/>
              <a:t>interfaces</a:t>
            </a:r>
          </a:p>
        </p:txBody>
      </p:sp>
      <p:sp>
        <p:nvSpPr>
          <p:cNvPr id="4" name="object 4"/>
          <p:cNvSpPr txBox="1"/>
          <p:nvPr/>
        </p:nvSpPr>
        <p:spPr>
          <a:xfrm>
            <a:off x="343547" y="489362"/>
            <a:ext cx="3917315" cy="2027555"/>
          </a:xfrm>
          <a:prstGeom prst="rect">
            <a:avLst/>
          </a:prstGeom>
        </p:spPr>
        <p:txBody>
          <a:bodyPr vert="horz" wrap="square" lIns="0" tIns="37465" rIns="0" bIns="0" rtlCol="0">
            <a:spAutoFit/>
          </a:bodyPr>
          <a:lstStyle/>
          <a:p>
            <a:pPr marL="15875">
              <a:lnSpc>
                <a:spcPct val="100000"/>
              </a:lnSpc>
              <a:spcBef>
                <a:spcPts val="295"/>
              </a:spcBef>
            </a:pPr>
            <a:r>
              <a:rPr sz="1000" spc="-10" dirty="0">
                <a:solidFill>
                  <a:srgbClr val="3333B2"/>
                </a:solidFill>
                <a:latin typeface="Arial"/>
                <a:cs typeface="Arial"/>
              </a:rPr>
              <a:t>Simplifications</a:t>
            </a:r>
            <a:endParaRPr sz="1000" dirty="0">
              <a:latin typeface="Arial"/>
              <a:cs typeface="Arial"/>
            </a:endParaRPr>
          </a:p>
          <a:p>
            <a:pPr marL="15875" marR="5080" indent="-3810">
              <a:lnSpc>
                <a:spcPct val="100000"/>
              </a:lnSpc>
              <a:spcBef>
                <a:spcPts val="195"/>
              </a:spcBef>
            </a:pPr>
            <a:r>
              <a:rPr sz="900" spc="-10" dirty="0">
                <a:latin typeface="Arial"/>
                <a:cs typeface="Arial"/>
              </a:rPr>
              <a:t>Assume</a:t>
            </a:r>
            <a:r>
              <a:rPr sz="900" spc="-55" dirty="0">
                <a:latin typeface="Arial"/>
                <a:cs typeface="Arial"/>
              </a:rPr>
              <a:t> </a:t>
            </a:r>
            <a:r>
              <a:rPr sz="900" dirty="0">
                <a:latin typeface="Arial"/>
                <a:cs typeface="Arial"/>
              </a:rPr>
              <a:t>an</a:t>
            </a:r>
            <a:r>
              <a:rPr sz="900" spc="-45" dirty="0">
                <a:latin typeface="Arial"/>
                <a:cs typeface="Arial"/>
              </a:rPr>
              <a:t> </a:t>
            </a:r>
            <a:r>
              <a:rPr sz="900" dirty="0">
                <a:latin typeface="Arial"/>
                <a:cs typeface="Arial"/>
              </a:rPr>
              <a:t>interface</a:t>
            </a:r>
            <a:r>
              <a:rPr sz="900" spc="175" dirty="0">
                <a:latin typeface="Arial"/>
                <a:cs typeface="Arial"/>
              </a:rPr>
              <a:t> </a:t>
            </a:r>
            <a:r>
              <a:rPr sz="1000" spc="65" dirty="0">
                <a:latin typeface="Times New Roman"/>
                <a:cs typeface="Times New Roman"/>
              </a:rPr>
              <a:t>bucket</a:t>
            </a:r>
            <a:r>
              <a:rPr sz="1000" spc="-80" dirty="0">
                <a:latin typeface="Times New Roman"/>
                <a:cs typeface="Times New Roman"/>
              </a:rPr>
              <a:t> </a:t>
            </a:r>
            <a:r>
              <a:rPr sz="900" spc="-10" dirty="0">
                <a:latin typeface="Arial"/>
                <a:cs typeface="Arial"/>
              </a:rPr>
              <a:t>offering</a:t>
            </a:r>
            <a:r>
              <a:rPr sz="900" spc="-35" dirty="0">
                <a:latin typeface="Arial"/>
                <a:cs typeface="Arial"/>
              </a:rPr>
              <a:t> </a:t>
            </a:r>
            <a:r>
              <a:rPr sz="900" dirty="0">
                <a:latin typeface="Arial"/>
                <a:cs typeface="Arial"/>
              </a:rPr>
              <a:t>an</a:t>
            </a:r>
            <a:r>
              <a:rPr sz="900" spc="-40" dirty="0">
                <a:latin typeface="Arial"/>
                <a:cs typeface="Arial"/>
              </a:rPr>
              <a:t> </a:t>
            </a:r>
            <a:r>
              <a:rPr sz="900" dirty="0">
                <a:latin typeface="Arial"/>
                <a:cs typeface="Arial"/>
              </a:rPr>
              <a:t>operation</a:t>
            </a:r>
            <a:r>
              <a:rPr sz="900" spc="175" dirty="0">
                <a:latin typeface="Arial"/>
                <a:cs typeface="Arial"/>
              </a:rPr>
              <a:t> </a:t>
            </a:r>
            <a:r>
              <a:rPr sz="1000" spc="85" dirty="0">
                <a:latin typeface="Times New Roman"/>
                <a:cs typeface="Times New Roman"/>
              </a:rPr>
              <a:t>create</a:t>
            </a:r>
            <a:r>
              <a:rPr sz="900" spc="85" dirty="0">
                <a:latin typeface="Arial"/>
                <a:cs typeface="Arial"/>
              </a:rPr>
              <a:t>,</a:t>
            </a:r>
            <a:r>
              <a:rPr sz="900" spc="-40" dirty="0">
                <a:latin typeface="Arial"/>
                <a:cs typeface="Arial"/>
              </a:rPr>
              <a:t> </a:t>
            </a:r>
            <a:r>
              <a:rPr sz="900" spc="-10" dirty="0">
                <a:latin typeface="Arial"/>
                <a:cs typeface="Arial"/>
              </a:rPr>
              <a:t>requiring</a:t>
            </a:r>
            <a:r>
              <a:rPr sz="900" spc="-35" dirty="0">
                <a:latin typeface="Arial"/>
                <a:cs typeface="Arial"/>
              </a:rPr>
              <a:t> </a:t>
            </a:r>
            <a:r>
              <a:rPr sz="900" dirty="0">
                <a:latin typeface="Arial"/>
                <a:cs typeface="Arial"/>
              </a:rPr>
              <a:t>an</a:t>
            </a:r>
            <a:r>
              <a:rPr sz="900" spc="-35" dirty="0">
                <a:latin typeface="Arial"/>
                <a:cs typeface="Arial"/>
              </a:rPr>
              <a:t> </a:t>
            </a:r>
            <a:r>
              <a:rPr sz="900" spc="-10" dirty="0">
                <a:latin typeface="Arial"/>
                <a:cs typeface="Arial"/>
              </a:rPr>
              <a:t>input </a:t>
            </a:r>
            <a:r>
              <a:rPr sz="900" dirty="0">
                <a:latin typeface="Arial"/>
                <a:cs typeface="Arial"/>
              </a:rPr>
              <a:t>string</a:t>
            </a:r>
            <a:r>
              <a:rPr sz="900" spc="-15" dirty="0">
                <a:latin typeface="Arial"/>
                <a:cs typeface="Arial"/>
              </a:rPr>
              <a:t> </a:t>
            </a:r>
            <a:r>
              <a:rPr sz="900" dirty="0">
                <a:latin typeface="Arial"/>
                <a:cs typeface="Arial"/>
              </a:rPr>
              <a:t>such</a:t>
            </a:r>
            <a:r>
              <a:rPr sz="900" spc="-15" dirty="0">
                <a:latin typeface="Arial"/>
                <a:cs typeface="Arial"/>
              </a:rPr>
              <a:t> </a:t>
            </a:r>
            <a:r>
              <a:rPr sz="900" dirty="0">
                <a:latin typeface="Arial"/>
                <a:cs typeface="Arial"/>
              </a:rPr>
              <a:t>as</a:t>
            </a:r>
            <a:r>
              <a:rPr sz="900" spc="215" dirty="0">
                <a:latin typeface="Arial"/>
                <a:cs typeface="Arial"/>
              </a:rPr>
              <a:t> </a:t>
            </a:r>
            <a:r>
              <a:rPr sz="1000" dirty="0">
                <a:latin typeface="Times New Roman"/>
                <a:cs typeface="Times New Roman"/>
              </a:rPr>
              <a:t>mybucket</a:t>
            </a:r>
            <a:r>
              <a:rPr sz="900" dirty="0">
                <a:latin typeface="Arial"/>
                <a:cs typeface="Arial"/>
              </a:rPr>
              <a:t>,</a:t>
            </a:r>
            <a:r>
              <a:rPr sz="900" spc="-15" dirty="0">
                <a:latin typeface="Arial"/>
                <a:cs typeface="Arial"/>
              </a:rPr>
              <a:t> </a:t>
            </a:r>
            <a:r>
              <a:rPr sz="900" dirty="0">
                <a:latin typeface="Arial"/>
                <a:cs typeface="Arial"/>
              </a:rPr>
              <a:t>for</a:t>
            </a:r>
            <a:r>
              <a:rPr sz="900" spc="-10" dirty="0">
                <a:latin typeface="Arial"/>
                <a:cs typeface="Arial"/>
              </a:rPr>
              <a:t> </a:t>
            </a:r>
            <a:r>
              <a:rPr sz="900" dirty="0">
                <a:latin typeface="Arial"/>
                <a:cs typeface="Arial"/>
              </a:rPr>
              <a:t>creating</a:t>
            </a:r>
            <a:r>
              <a:rPr sz="900" spc="-15" dirty="0">
                <a:latin typeface="Arial"/>
                <a:cs typeface="Arial"/>
              </a:rPr>
              <a:t> </a:t>
            </a:r>
            <a:r>
              <a:rPr sz="900" dirty="0">
                <a:latin typeface="Arial"/>
                <a:cs typeface="Arial"/>
              </a:rPr>
              <a:t>a</a:t>
            </a:r>
            <a:r>
              <a:rPr sz="900" spc="-15" dirty="0">
                <a:latin typeface="Arial"/>
                <a:cs typeface="Arial"/>
              </a:rPr>
              <a:t> </a:t>
            </a:r>
            <a:r>
              <a:rPr sz="900" spc="-10" dirty="0">
                <a:latin typeface="Arial"/>
                <a:cs typeface="Arial"/>
              </a:rPr>
              <a:t>bucket</a:t>
            </a:r>
            <a:r>
              <a:rPr sz="900" spc="-15" dirty="0">
                <a:latin typeface="Arial"/>
                <a:cs typeface="Arial"/>
              </a:rPr>
              <a:t> </a:t>
            </a:r>
            <a:r>
              <a:rPr sz="900" spc="-10" dirty="0">
                <a:latin typeface="Arial"/>
                <a:cs typeface="Arial"/>
              </a:rPr>
              <a:t>“mybucket.”</a:t>
            </a:r>
            <a:endParaRPr sz="900" dirty="0">
              <a:latin typeface="Arial"/>
              <a:cs typeface="Arial"/>
            </a:endParaRPr>
          </a:p>
          <a:p>
            <a:pPr marL="15875">
              <a:lnSpc>
                <a:spcPts val="1180"/>
              </a:lnSpc>
              <a:spcBef>
                <a:spcPts val="800"/>
              </a:spcBef>
            </a:pPr>
            <a:r>
              <a:rPr sz="1000" spc="-20" dirty="0">
                <a:solidFill>
                  <a:srgbClr val="4C994C"/>
                </a:solidFill>
                <a:latin typeface="Arial"/>
                <a:cs typeface="Arial"/>
              </a:rPr>
              <a:t>SOAP</a:t>
            </a:r>
            <a:endParaRPr sz="1000" dirty="0">
              <a:latin typeface="Arial"/>
              <a:cs typeface="Arial"/>
            </a:endParaRPr>
          </a:p>
          <a:p>
            <a:pPr marL="269240" marR="2045335" indent="-6350">
              <a:lnSpc>
                <a:spcPts val="1210"/>
              </a:lnSpc>
              <a:spcBef>
                <a:spcPts val="10"/>
              </a:spcBef>
            </a:pPr>
            <a:r>
              <a:rPr sz="1000" i="1" spc="65" dirty="0">
                <a:latin typeface="Times New Roman"/>
                <a:cs typeface="Times New Roman"/>
              </a:rPr>
              <a:t>import</a:t>
            </a:r>
            <a:r>
              <a:rPr sz="1000" i="1" spc="200" dirty="0">
                <a:latin typeface="Times New Roman"/>
                <a:cs typeface="Times New Roman"/>
              </a:rPr>
              <a:t> </a:t>
            </a:r>
            <a:r>
              <a:rPr sz="1000" i="1" spc="65" dirty="0">
                <a:latin typeface="Times New Roman"/>
                <a:cs typeface="Times New Roman"/>
              </a:rPr>
              <a:t>bucket </a:t>
            </a:r>
            <a:r>
              <a:rPr sz="1000" i="1" spc="60" dirty="0">
                <a:latin typeface="Times New Roman"/>
                <a:cs typeface="Times New Roman"/>
              </a:rPr>
              <a:t>bucket.create("mybucket")</a:t>
            </a:r>
            <a:endParaRPr sz="1000" dirty="0">
              <a:latin typeface="Times New Roman"/>
              <a:cs typeface="Times New Roman"/>
            </a:endParaRPr>
          </a:p>
          <a:p>
            <a:pPr>
              <a:lnSpc>
                <a:spcPct val="100000"/>
              </a:lnSpc>
              <a:spcBef>
                <a:spcPts val="35"/>
              </a:spcBef>
            </a:pPr>
            <a:endParaRPr sz="1100" dirty="0">
              <a:latin typeface="Times New Roman"/>
              <a:cs typeface="Times New Roman"/>
            </a:endParaRPr>
          </a:p>
          <a:p>
            <a:pPr marL="15875">
              <a:lnSpc>
                <a:spcPts val="1165"/>
              </a:lnSpc>
            </a:pPr>
            <a:r>
              <a:rPr sz="1000" spc="-10" dirty="0">
                <a:solidFill>
                  <a:srgbClr val="4C994C"/>
                </a:solidFill>
                <a:latin typeface="Arial"/>
                <a:cs typeface="Arial"/>
              </a:rPr>
              <a:t>RESTful</a:t>
            </a:r>
            <a:endParaRPr sz="1000" dirty="0">
              <a:latin typeface="Arial"/>
              <a:cs typeface="Arial"/>
            </a:endParaRPr>
          </a:p>
          <a:p>
            <a:pPr marL="262890">
              <a:lnSpc>
                <a:spcPts val="1165"/>
              </a:lnSpc>
            </a:pPr>
            <a:r>
              <a:rPr sz="1000" i="1" spc="-60" dirty="0">
                <a:latin typeface="Times New Roman"/>
                <a:cs typeface="Times New Roman"/>
              </a:rPr>
              <a:t>PUT</a:t>
            </a:r>
            <a:r>
              <a:rPr sz="1000" i="1" spc="55" dirty="0">
                <a:latin typeface="Times New Roman"/>
                <a:cs typeface="Times New Roman"/>
              </a:rPr>
              <a:t> "https://mybucket.s3.amazonsws.com/"</a:t>
            </a:r>
            <a:endParaRPr sz="1000" dirty="0">
              <a:latin typeface="Times New Roman"/>
              <a:cs typeface="Times New Roman"/>
            </a:endParaRPr>
          </a:p>
          <a:p>
            <a:pPr>
              <a:lnSpc>
                <a:spcPct val="100000"/>
              </a:lnSpc>
              <a:spcBef>
                <a:spcPts val="25"/>
              </a:spcBef>
            </a:pPr>
            <a:endParaRPr sz="1150" dirty="0">
              <a:latin typeface="Times New Roman"/>
              <a:cs typeface="Times New Roman"/>
            </a:endParaRPr>
          </a:p>
          <a:p>
            <a:pPr marL="15875">
              <a:lnSpc>
                <a:spcPct val="100000"/>
              </a:lnSpc>
            </a:pPr>
            <a:r>
              <a:rPr sz="1000" spc="-10" dirty="0">
                <a:solidFill>
                  <a:srgbClr val="3333B2"/>
                </a:solidFill>
                <a:latin typeface="Arial"/>
                <a:cs typeface="Arial"/>
              </a:rPr>
              <a:t>Conclusions</a:t>
            </a:r>
            <a:endParaRPr sz="1000" dirty="0">
              <a:latin typeface="Arial"/>
              <a:cs typeface="Arial"/>
            </a:endParaRPr>
          </a:p>
          <a:p>
            <a:pPr marL="12700">
              <a:lnSpc>
                <a:spcPct val="100000"/>
              </a:lnSpc>
              <a:spcBef>
                <a:spcPts val="105"/>
              </a:spcBef>
            </a:pPr>
            <a:r>
              <a:rPr sz="900" dirty="0">
                <a:latin typeface="Arial"/>
                <a:cs typeface="Arial"/>
              </a:rPr>
              <a:t>Are</a:t>
            </a:r>
            <a:r>
              <a:rPr sz="900" spc="-25" dirty="0">
                <a:latin typeface="Arial"/>
                <a:cs typeface="Arial"/>
              </a:rPr>
              <a:t> </a:t>
            </a:r>
            <a:r>
              <a:rPr sz="900" dirty="0">
                <a:latin typeface="Arial"/>
                <a:cs typeface="Arial"/>
              </a:rPr>
              <a:t>there</a:t>
            </a:r>
            <a:r>
              <a:rPr sz="900" spc="-25" dirty="0">
                <a:latin typeface="Arial"/>
                <a:cs typeface="Arial"/>
              </a:rPr>
              <a:t> </a:t>
            </a:r>
            <a:r>
              <a:rPr sz="900" dirty="0">
                <a:latin typeface="Arial"/>
                <a:cs typeface="Arial"/>
              </a:rPr>
              <a:t>any</a:t>
            </a:r>
            <a:r>
              <a:rPr sz="900" spc="-20" dirty="0">
                <a:latin typeface="Arial"/>
                <a:cs typeface="Arial"/>
              </a:rPr>
              <a:t> </a:t>
            </a:r>
            <a:r>
              <a:rPr sz="900" dirty="0">
                <a:latin typeface="Arial"/>
                <a:cs typeface="Arial"/>
              </a:rPr>
              <a:t>to</a:t>
            </a:r>
            <a:r>
              <a:rPr sz="900" spc="-25" dirty="0">
                <a:latin typeface="Arial"/>
                <a:cs typeface="Arial"/>
              </a:rPr>
              <a:t> </a:t>
            </a:r>
            <a:r>
              <a:rPr sz="900" spc="-20" dirty="0">
                <a:latin typeface="Arial"/>
                <a:cs typeface="Arial"/>
              </a:rPr>
              <a:t>draw?</a:t>
            </a:r>
            <a:endParaRPr sz="900" dirty="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86868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Service-</a:t>
            </a:r>
            <a:r>
              <a:rPr sz="500" dirty="0">
                <a:latin typeface="Arial"/>
                <a:cs typeface="Arial"/>
                <a:hlinkClick r:id="rId3" action="ppaction://hlinksldjump"/>
              </a:rPr>
              <a:t>oriented</a:t>
            </a:r>
            <a:r>
              <a:rPr sz="500" spc="50" dirty="0">
                <a:latin typeface="Arial"/>
                <a:cs typeface="Arial"/>
                <a:hlinkClick r:id="rId3" action="ppaction://hlinksldjump"/>
              </a:rPr>
              <a:t> </a:t>
            </a:r>
            <a:r>
              <a:rPr sz="500" spc="-10" dirty="0">
                <a:latin typeface="Arial"/>
                <a:cs typeface="Arial"/>
                <a:hlinkClick r:id="rId3" action="ppaction://hlinksldjump"/>
              </a:rPr>
              <a:t>architectures</a:t>
            </a:r>
            <a:endParaRPr sz="500">
              <a:latin typeface="Arial"/>
              <a:cs typeface="Arial"/>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Architectures</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998925" y="-1515"/>
            <a:ext cx="555625"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2" action="ppaction://hlinksldjump"/>
              </a:rPr>
              <a:t>Architectural</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styles</a:t>
            </a:r>
            <a:endParaRPr sz="500">
              <a:latin typeface="Arial"/>
              <a:cs typeface="Arial"/>
            </a:endParaRPr>
          </a:p>
        </p:txBody>
      </p:sp>
      <p:sp>
        <p:nvSpPr>
          <p:cNvPr id="5" name="object 5"/>
          <p:cNvSpPr txBox="1"/>
          <p:nvPr/>
        </p:nvSpPr>
        <p:spPr>
          <a:xfrm>
            <a:off x="95300" y="197711"/>
            <a:ext cx="2138045" cy="494665"/>
          </a:xfrm>
          <a:prstGeom prst="rect">
            <a:avLst/>
          </a:prstGeom>
        </p:spPr>
        <p:txBody>
          <a:bodyPr vert="horz" wrap="square" lIns="0" tIns="12065" rIns="0" bIns="0" rtlCol="0">
            <a:spAutoFit/>
          </a:bodyPr>
          <a:lstStyle/>
          <a:p>
            <a:pPr marL="12700">
              <a:lnSpc>
                <a:spcPct val="100000"/>
              </a:lnSpc>
              <a:spcBef>
                <a:spcPts val="95"/>
              </a:spcBef>
            </a:pPr>
            <a:r>
              <a:rPr sz="1200" spc="-10" dirty="0">
                <a:solidFill>
                  <a:srgbClr val="3333B2"/>
                </a:solidFill>
                <a:latin typeface="Arial"/>
                <a:cs typeface="Arial"/>
              </a:rPr>
              <a:t>Coordination</a:t>
            </a:r>
            <a:endParaRPr sz="1200" dirty="0">
              <a:latin typeface="Arial"/>
              <a:cs typeface="Arial"/>
            </a:endParaRPr>
          </a:p>
          <a:p>
            <a:pPr marL="260350">
              <a:lnSpc>
                <a:spcPct val="100000"/>
              </a:lnSpc>
              <a:spcBef>
                <a:spcPts val="1055"/>
              </a:spcBef>
            </a:pPr>
            <a:r>
              <a:rPr sz="1000" spc="-20" dirty="0">
                <a:solidFill>
                  <a:srgbClr val="3333B2"/>
                </a:solidFill>
                <a:latin typeface="Arial"/>
                <a:cs typeface="Arial"/>
              </a:rPr>
              <a:t>Temporal</a:t>
            </a:r>
            <a:r>
              <a:rPr sz="1000" spc="-5" dirty="0">
                <a:solidFill>
                  <a:srgbClr val="3333B2"/>
                </a:solidFill>
                <a:latin typeface="Arial"/>
                <a:cs typeface="Arial"/>
              </a:rPr>
              <a:t> </a:t>
            </a:r>
            <a:r>
              <a:rPr sz="1000" dirty="0">
                <a:solidFill>
                  <a:srgbClr val="3333B2"/>
                </a:solidFill>
                <a:latin typeface="Arial"/>
                <a:cs typeface="Arial"/>
              </a:rPr>
              <a:t>and</a:t>
            </a:r>
            <a:r>
              <a:rPr sz="1000" spc="-5" dirty="0">
                <a:solidFill>
                  <a:srgbClr val="3333B2"/>
                </a:solidFill>
                <a:latin typeface="Arial"/>
                <a:cs typeface="Arial"/>
              </a:rPr>
              <a:t> </a:t>
            </a:r>
            <a:r>
              <a:rPr sz="1000" spc="-10" dirty="0">
                <a:solidFill>
                  <a:srgbClr val="3333B2"/>
                </a:solidFill>
                <a:latin typeface="Arial"/>
                <a:cs typeface="Arial"/>
              </a:rPr>
              <a:t>referential</a:t>
            </a:r>
            <a:r>
              <a:rPr sz="1000" dirty="0">
                <a:solidFill>
                  <a:srgbClr val="3333B2"/>
                </a:solidFill>
                <a:latin typeface="Arial"/>
                <a:cs typeface="Arial"/>
              </a:rPr>
              <a:t> </a:t>
            </a:r>
            <a:r>
              <a:rPr sz="1000" spc="-10" dirty="0">
                <a:solidFill>
                  <a:srgbClr val="3333B2"/>
                </a:solidFill>
                <a:latin typeface="Arial"/>
                <a:cs typeface="Arial"/>
              </a:rPr>
              <a:t>coupling</a:t>
            </a:r>
            <a:endParaRPr sz="1000" dirty="0">
              <a:latin typeface="Arial"/>
              <a:cs typeface="Arial"/>
            </a:endParaRPr>
          </a:p>
        </p:txBody>
      </p:sp>
      <p:graphicFrame>
        <p:nvGraphicFramePr>
          <p:cNvPr id="6" name="object 6"/>
          <p:cNvGraphicFramePr>
            <a:graphicFrameLocks noGrp="1"/>
          </p:cNvGraphicFramePr>
          <p:nvPr/>
        </p:nvGraphicFramePr>
        <p:xfrm>
          <a:off x="540880" y="793788"/>
          <a:ext cx="3521075" cy="425450"/>
        </p:xfrm>
        <a:graphic>
          <a:graphicData uri="http://schemas.openxmlformats.org/drawingml/2006/table">
            <a:tbl>
              <a:tblPr firstRow="1" bandRow="1">
                <a:tableStyleId>{2D5ABB26-0587-4C30-8999-92F81FD0307C}</a:tableStyleId>
              </a:tblPr>
              <a:tblGrid>
                <a:gridCol w="1303020">
                  <a:extLst>
                    <a:ext uri="{9D8B030D-6E8A-4147-A177-3AD203B41FA5}">
                      <a16:colId xmlns:a16="http://schemas.microsoft.com/office/drawing/2014/main" val="20000"/>
                    </a:ext>
                  </a:extLst>
                </a:gridCol>
                <a:gridCol w="1112520">
                  <a:extLst>
                    <a:ext uri="{9D8B030D-6E8A-4147-A177-3AD203B41FA5}">
                      <a16:colId xmlns:a16="http://schemas.microsoft.com/office/drawing/2014/main" val="20001"/>
                    </a:ext>
                  </a:extLst>
                </a:gridCol>
                <a:gridCol w="1105535">
                  <a:extLst>
                    <a:ext uri="{9D8B030D-6E8A-4147-A177-3AD203B41FA5}">
                      <a16:colId xmlns:a16="http://schemas.microsoft.com/office/drawing/2014/main" val="20002"/>
                    </a:ext>
                  </a:extLst>
                </a:gridCol>
              </a:tblGrid>
              <a:tr h="144145">
                <a:tc>
                  <a:txBody>
                    <a:bodyPr/>
                    <a:lstStyle/>
                    <a:p>
                      <a:pPr>
                        <a:lnSpc>
                          <a:spcPct val="100000"/>
                        </a:lnSpc>
                      </a:pPr>
                      <a:endParaRPr sz="700">
                        <a:latin typeface="Times New Roman"/>
                        <a:cs typeface="Times New Roman"/>
                      </a:endParaRPr>
                    </a:p>
                  </a:txBody>
                  <a:tcPr marL="0" marR="0" marT="0" marB="0">
                    <a:lnL w="6350">
                      <a:solidFill>
                        <a:srgbClr val="000000"/>
                      </a:solidFill>
                      <a:prstDash val="solid"/>
                    </a:lnL>
                    <a:lnR w="19050">
                      <a:solidFill>
                        <a:srgbClr val="000000"/>
                      </a:solidFill>
                      <a:prstDash val="solid"/>
                    </a:lnR>
                    <a:lnT w="6350">
                      <a:solidFill>
                        <a:srgbClr val="000000"/>
                      </a:solidFill>
                      <a:prstDash val="solid"/>
                    </a:lnT>
                    <a:lnB w="19050">
                      <a:solidFill>
                        <a:srgbClr val="000000"/>
                      </a:solidFill>
                      <a:prstDash val="solid"/>
                    </a:lnB>
                  </a:tcPr>
                </a:tc>
                <a:tc>
                  <a:txBody>
                    <a:bodyPr/>
                    <a:lstStyle/>
                    <a:p>
                      <a:pPr marL="6350" algn="ctr">
                        <a:lnSpc>
                          <a:spcPts val="910"/>
                        </a:lnSpc>
                      </a:pPr>
                      <a:r>
                        <a:rPr sz="800" b="1" spc="-10" dirty="0">
                          <a:latin typeface="Arial"/>
                          <a:cs typeface="Arial"/>
                        </a:rPr>
                        <a:t>Temporally</a:t>
                      </a:r>
                      <a:r>
                        <a:rPr sz="800" b="1" spc="-15" dirty="0">
                          <a:latin typeface="Arial"/>
                          <a:cs typeface="Arial"/>
                        </a:rPr>
                        <a:t> </a:t>
                      </a:r>
                      <a:r>
                        <a:rPr sz="800" b="1" spc="-10" dirty="0">
                          <a:latin typeface="Arial"/>
                          <a:cs typeface="Arial"/>
                        </a:rPr>
                        <a:t>coupled</a:t>
                      </a:r>
                      <a:endParaRPr sz="800">
                        <a:latin typeface="Arial"/>
                        <a:cs typeface="Arial"/>
                      </a:endParaRPr>
                    </a:p>
                  </a:txBody>
                  <a:tcPr marL="0" marR="0" marT="0" marB="0">
                    <a:lnL w="190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algn="ctr">
                        <a:lnSpc>
                          <a:spcPts val="910"/>
                        </a:lnSpc>
                      </a:pPr>
                      <a:r>
                        <a:rPr sz="800" b="1" spc="-10" dirty="0">
                          <a:latin typeface="Arial"/>
                          <a:cs typeface="Arial"/>
                        </a:rPr>
                        <a:t>Temporally</a:t>
                      </a:r>
                      <a:r>
                        <a:rPr sz="800" b="1" spc="-15" dirty="0">
                          <a:latin typeface="Arial"/>
                          <a:cs typeface="Arial"/>
                        </a:rPr>
                        <a:t> </a:t>
                      </a:r>
                      <a:r>
                        <a:rPr sz="800" b="1" spc="-10" dirty="0">
                          <a:latin typeface="Arial"/>
                          <a:cs typeface="Arial"/>
                        </a:rPr>
                        <a:t>coupled</a:t>
                      </a:r>
                      <a:endParaRPr sz="8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144145">
                <a:tc>
                  <a:txBody>
                    <a:bodyPr/>
                    <a:lstStyle/>
                    <a:p>
                      <a:pPr marR="77470" algn="r">
                        <a:lnSpc>
                          <a:spcPct val="100000"/>
                        </a:lnSpc>
                      </a:pPr>
                      <a:r>
                        <a:rPr sz="800" b="1" spc="-10" dirty="0">
                          <a:latin typeface="Arial"/>
                          <a:cs typeface="Arial"/>
                        </a:rPr>
                        <a:t>Referentially</a:t>
                      </a:r>
                      <a:r>
                        <a:rPr sz="800" b="1" spc="50" dirty="0">
                          <a:latin typeface="Arial"/>
                          <a:cs typeface="Arial"/>
                        </a:rPr>
                        <a:t> </a:t>
                      </a:r>
                      <a:r>
                        <a:rPr sz="800" b="1" spc="-10" dirty="0">
                          <a:latin typeface="Arial"/>
                          <a:cs typeface="Arial"/>
                        </a:rPr>
                        <a:t>coupled</a:t>
                      </a:r>
                      <a:endParaRPr sz="800">
                        <a:latin typeface="Arial"/>
                        <a:cs typeface="Arial"/>
                      </a:endParaRPr>
                    </a:p>
                  </a:txBody>
                  <a:tcPr marL="0" marR="0" marT="0" marB="0">
                    <a:lnL w="6350">
                      <a:solidFill>
                        <a:srgbClr val="000000"/>
                      </a:solidFill>
                      <a:prstDash val="solid"/>
                    </a:lnL>
                    <a:lnR w="19050">
                      <a:solidFill>
                        <a:srgbClr val="000000"/>
                      </a:solidFill>
                      <a:prstDash val="solid"/>
                    </a:lnR>
                    <a:lnT w="19050">
                      <a:solidFill>
                        <a:srgbClr val="000000"/>
                      </a:solidFill>
                      <a:prstDash val="solid"/>
                    </a:lnT>
                    <a:lnB w="6350">
                      <a:solidFill>
                        <a:srgbClr val="000000"/>
                      </a:solidFill>
                      <a:prstDash val="solid"/>
                    </a:lnB>
                  </a:tcPr>
                </a:tc>
                <a:tc>
                  <a:txBody>
                    <a:bodyPr/>
                    <a:lstStyle/>
                    <a:p>
                      <a:pPr marL="6350" algn="ctr">
                        <a:lnSpc>
                          <a:spcPct val="100000"/>
                        </a:lnSpc>
                      </a:pPr>
                      <a:r>
                        <a:rPr sz="800" spc="-10" dirty="0">
                          <a:latin typeface="Arial"/>
                          <a:cs typeface="Arial"/>
                        </a:rPr>
                        <a:t>Direct</a:t>
                      </a:r>
                      <a:endParaRPr sz="800">
                        <a:latin typeface="Arial"/>
                        <a:cs typeface="Arial"/>
                      </a:endParaRPr>
                    </a:p>
                  </a:txBody>
                  <a:tcPr marL="0" marR="0" marT="0" marB="0">
                    <a:lnL w="190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algn="ctr">
                        <a:lnSpc>
                          <a:spcPct val="100000"/>
                        </a:lnSpc>
                      </a:pPr>
                      <a:r>
                        <a:rPr sz="800" spc="-10" dirty="0">
                          <a:latin typeface="Arial"/>
                          <a:cs typeface="Arial"/>
                        </a:rPr>
                        <a:t>Mailbox</a:t>
                      </a:r>
                      <a:endParaRPr sz="800">
                        <a:latin typeface="Arial"/>
                        <a:cs typeface="Arial"/>
                      </a:endParaRPr>
                    </a:p>
                  </a:txBody>
                  <a:tcPr marL="0" marR="0" marT="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37160">
                <a:tc>
                  <a:txBody>
                    <a:bodyPr/>
                    <a:lstStyle/>
                    <a:p>
                      <a:pPr marR="77470" algn="r">
                        <a:lnSpc>
                          <a:spcPts val="910"/>
                        </a:lnSpc>
                      </a:pPr>
                      <a:r>
                        <a:rPr sz="800" b="1" spc="-10" dirty="0">
                          <a:latin typeface="Arial"/>
                          <a:cs typeface="Arial"/>
                        </a:rPr>
                        <a:t>Referentially</a:t>
                      </a:r>
                      <a:r>
                        <a:rPr sz="800" b="1" spc="50" dirty="0">
                          <a:latin typeface="Arial"/>
                          <a:cs typeface="Arial"/>
                        </a:rPr>
                        <a:t> </a:t>
                      </a:r>
                      <a:r>
                        <a:rPr sz="800" b="1" spc="-10" dirty="0">
                          <a:latin typeface="Arial"/>
                          <a:cs typeface="Arial"/>
                        </a:rPr>
                        <a:t>decoupled</a:t>
                      </a:r>
                      <a:endParaRPr sz="800">
                        <a:latin typeface="Arial"/>
                        <a:cs typeface="Arial"/>
                      </a:endParaRPr>
                    </a:p>
                  </a:txBody>
                  <a:tcPr marL="0" marR="0" marT="0" marB="0">
                    <a:lnL w="6350">
                      <a:solidFill>
                        <a:srgbClr val="000000"/>
                      </a:solidFill>
                      <a:prstDash val="solid"/>
                    </a:lnL>
                    <a:lnR w="19050">
                      <a:solidFill>
                        <a:srgbClr val="000000"/>
                      </a:solidFill>
                      <a:prstDash val="solid"/>
                    </a:lnR>
                    <a:lnT w="6350">
                      <a:solidFill>
                        <a:srgbClr val="000000"/>
                      </a:solidFill>
                      <a:prstDash val="solid"/>
                    </a:lnT>
                    <a:lnB w="6350">
                      <a:solidFill>
                        <a:srgbClr val="000000"/>
                      </a:solidFill>
                      <a:prstDash val="solid"/>
                    </a:lnB>
                  </a:tcPr>
                </a:tc>
                <a:tc>
                  <a:txBody>
                    <a:bodyPr/>
                    <a:lstStyle/>
                    <a:p>
                      <a:pPr marL="6350" algn="ctr">
                        <a:lnSpc>
                          <a:spcPts val="910"/>
                        </a:lnSpc>
                      </a:pPr>
                      <a:r>
                        <a:rPr sz="800" spc="-10" dirty="0">
                          <a:latin typeface="Arial"/>
                          <a:cs typeface="Arial"/>
                        </a:rPr>
                        <a:t>Event-based</a:t>
                      </a:r>
                      <a:endParaRPr sz="800">
                        <a:latin typeface="Arial"/>
                        <a:cs typeface="Arial"/>
                      </a:endParaRPr>
                    </a:p>
                  </a:txBody>
                  <a:tcPr marL="0" marR="0" marT="0" marB="0">
                    <a:lnL w="190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910"/>
                        </a:lnSpc>
                      </a:pPr>
                      <a:r>
                        <a:rPr sz="800" dirty="0">
                          <a:latin typeface="Arial"/>
                          <a:cs typeface="Arial"/>
                        </a:rPr>
                        <a:t>Shared</a:t>
                      </a:r>
                      <a:r>
                        <a:rPr sz="800" spc="-30" dirty="0">
                          <a:latin typeface="Arial"/>
                          <a:cs typeface="Arial"/>
                        </a:rPr>
                        <a:t> </a:t>
                      </a:r>
                      <a:r>
                        <a:rPr sz="800" dirty="0">
                          <a:latin typeface="Arial"/>
                          <a:cs typeface="Arial"/>
                        </a:rPr>
                        <a:t>data</a:t>
                      </a:r>
                      <a:r>
                        <a:rPr sz="800" spc="-25" dirty="0">
                          <a:latin typeface="Arial"/>
                          <a:cs typeface="Arial"/>
                        </a:rPr>
                        <a:t> </a:t>
                      </a:r>
                      <a:r>
                        <a:rPr sz="800" spc="-10" dirty="0">
                          <a:latin typeface="Arial"/>
                          <a:cs typeface="Arial"/>
                        </a:rPr>
                        <a:t>space</a:t>
                      </a:r>
                      <a:endParaRPr sz="8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bl>
          </a:graphicData>
        </a:graphic>
      </p:graphicFrame>
      <p:sp>
        <p:nvSpPr>
          <p:cNvPr id="7" name="object 7"/>
          <p:cNvSpPr txBox="1"/>
          <p:nvPr/>
        </p:nvSpPr>
        <p:spPr>
          <a:xfrm>
            <a:off x="347294" y="1439651"/>
            <a:ext cx="2076450" cy="177800"/>
          </a:xfrm>
          <a:prstGeom prst="rect">
            <a:avLst/>
          </a:prstGeom>
        </p:spPr>
        <p:txBody>
          <a:bodyPr vert="horz" wrap="square" lIns="0" tIns="12065" rIns="0" bIns="0" rtlCol="0">
            <a:spAutoFit/>
          </a:bodyPr>
          <a:lstStyle/>
          <a:p>
            <a:pPr marL="12700">
              <a:lnSpc>
                <a:spcPct val="100000"/>
              </a:lnSpc>
              <a:spcBef>
                <a:spcPts val="95"/>
              </a:spcBef>
            </a:pPr>
            <a:r>
              <a:rPr sz="1000" spc="-10" dirty="0">
                <a:solidFill>
                  <a:srgbClr val="3333B2"/>
                </a:solidFill>
                <a:latin typeface="Arial"/>
                <a:cs typeface="Arial"/>
              </a:rPr>
              <a:t>Event-</a:t>
            </a:r>
            <a:r>
              <a:rPr sz="1000" dirty="0">
                <a:solidFill>
                  <a:srgbClr val="3333B2"/>
                </a:solidFill>
                <a:latin typeface="Arial"/>
                <a:cs typeface="Arial"/>
              </a:rPr>
              <a:t>based</a:t>
            </a:r>
            <a:r>
              <a:rPr sz="1000" spc="-30" dirty="0">
                <a:solidFill>
                  <a:srgbClr val="3333B2"/>
                </a:solidFill>
                <a:latin typeface="Arial"/>
                <a:cs typeface="Arial"/>
              </a:rPr>
              <a:t> </a:t>
            </a:r>
            <a:r>
              <a:rPr sz="1000" dirty="0">
                <a:solidFill>
                  <a:srgbClr val="3333B2"/>
                </a:solidFill>
                <a:latin typeface="Arial"/>
                <a:cs typeface="Arial"/>
              </a:rPr>
              <a:t>and</a:t>
            </a:r>
            <a:r>
              <a:rPr sz="1000" spc="-25" dirty="0">
                <a:solidFill>
                  <a:srgbClr val="3333B2"/>
                </a:solidFill>
                <a:latin typeface="Arial"/>
                <a:cs typeface="Arial"/>
              </a:rPr>
              <a:t> </a:t>
            </a:r>
            <a:r>
              <a:rPr sz="1000" dirty="0">
                <a:solidFill>
                  <a:srgbClr val="3333B2"/>
                </a:solidFill>
                <a:latin typeface="Arial"/>
                <a:cs typeface="Arial"/>
              </a:rPr>
              <a:t>Shared</a:t>
            </a:r>
            <a:r>
              <a:rPr sz="1000" spc="-30" dirty="0">
                <a:solidFill>
                  <a:srgbClr val="3333B2"/>
                </a:solidFill>
                <a:latin typeface="Arial"/>
                <a:cs typeface="Arial"/>
              </a:rPr>
              <a:t> </a:t>
            </a:r>
            <a:r>
              <a:rPr sz="1000" dirty="0">
                <a:solidFill>
                  <a:srgbClr val="3333B2"/>
                </a:solidFill>
                <a:latin typeface="Arial"/>
                <a:cs typeface="Arial"/>
              </a:rPr>
              <a:t>data</a:t>
            </a:r>
            <a:r>
              <a:rPr sz="1000" spc="-25" dirty="0">
                <a:solidFill>
                  <a:srgbClr val="3333B2"/>
                </a:solidFill>
                <a:latin typeface="Arial"/>
                <a:cs typeface="Arial"/>
              </a:rPr>
              <a:t> </a:t>
            </a:r>
            <a:r>
              <a:rPr sz="1000" spc="-10" dirty="0">
                <a:solidFill>
                  <a:srgbClr val="3333B2"/>
                </a:solidFill>
                <a:latin typeface="Arial"/>
                <a:cs typeface="Arial"/>
              </a:rPr>
              <a:t>space</a:t>
            </a:r>
            <a:endParaRPr sz="1000">
              <a:latin typeface="Arial"/>
              <a:cs typeface="Arial"/>
            </a:endParaRPr>
          </a:p>
        </p:txBody>
      </p:sp>
      <p:pic>
        <p:nvPicPr>
          <p:cNvPr id="8" name="object 8"/>
          <p:cNvPicPr/>
          <p:nvPr/>
        </p:nvPicPr>
        <p:blipFill>
          <a:blip r:embed="rId3" cstate="print"/>
          <a:stretch>
            <a:fillRect/>
          </a:stretch>
        </p:blipFill>
        <p:spPr>
          <a:xfrm>
            <a:off x="533715" y="1849299"/>
            <a:ext cx="1772595" cy="981905"/>
          </a:xfrm>
          <a:prstGeom prst="rect">
            <a:avLst/>
          </a:prstGeom>
        </p:spPr>
      </p:pic>
      <p:pic>
        <p:nvPicPr>
          <p:cNvPr id="9" name="object 9"/>
          <p:cNvPicPr/>
          <p:nvPr/>
        </p:nvPicPr>
        <p:blipFill>
          <a:blip r:embed="rId4" cstate="print"/>
          <a:stretch>
            <a:fillRect/>
          </a:stretch>
        </p:blipFill>
        <p:spPr>
          <a:xfrm>
            <a:off x="2530242" y="1850542"/>
            <a:ext cx="1468082" cy="1055768"/>
          </a:xfrm>
          <a:prstGeom prst="rect">
            <a:avLst/>
          </a:prstGeom>
        </p:spPr>
      </p:pic>
      <p:grpSp>
        <p:nvGrpSpPr>
          <p:cNvPr id="10" name="object 10"/>
          <p:cNvGrpSpPr/>
          <p:nvPr/>
        </p:nvGrpSpPr>
        <p:grpSpPr>
          <a:xfrm>
            <a:off x="0" y="3348469"/>
            <a:ext cx="4608195" cy="107950"/>
            <a:chOff x="0" y="3348469"/>
            <a:chExt cx="4608195" cy="107950"/>
          </a:xfrm>
        </p:grpSpPr>
        <p:sp>
          <p:nvSpPr>
            <p:cNvPr id="11" name="object 11"/>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2" name="object 12"/>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3" name="object 13"/>
          <p:cNvSpPr txBox="1"/>
          <p:nvPr/>
        </p:nvSpPr>
        <p:spPr>
          <a:xfrm>
            <a:off x="53467" y="3349927"/>
            <a:ext cx="90424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5" action="ppaction://hlinksldjump"/>
              </a:rPr>
              <a:t>Publish-</a:t>
            </a:r>
            <a:r>
              <a:rPr sz="500" dirty="0">
                <a:latin typeface="Arial"/>
                <a:cs typeface="Arial"/>
                <a:hlinkClick r:id="rId5" action="ppaction://hlinksldjump"/>
              </a:rPr>
              <a:t>subscribe</a:t>
            </a:r>
            <a:r>
              <a:rPr sz="500" spc="30" dirty="0">
                <a:latin typeface="Arial"/>
                <a:cs typeface="Arial"/>
                <a:hlinkClick r:id="rId5" action="ppaction://hlinksldjump"/>
              </a:rPr>
              <a:t> </a:t>
            </a:r>
            <a:r>
              <a:rPr sz="500" spc="-10" dirty="0">
                <a:latin typeface="Arial"/>
                <a:cs typeface="Arial"/>
                <a:hlinkClick r:id="rId5" action="ppaction://hlinksldjump"/>
              </a:rPr>
              <a:t>architectures</a:t>
            </a:r>
            <a:endParaRPr sz="500">
              <a:latin typeface="Arial"/>
              <a:cs typeface="Arial"/>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4921B-A378-AB83-08D7-44A9C3F9F40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5F5B344-5CCC-6876-8C1A-8845DEF0A65D}"/>
              </a:ext>
            </a:extLst>
          </p:cNvPr>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Architectures</a:t>
            </a:r>
            <a:endParaRPr sz="500">
              <a:latin typeface="Arial"/>
              <a:cs typeface="Arial"/>
            </a:endParaRPr>
          </a:p>
        </p:txBody>
      </p:sp>
      <p:sp>
        <p:nvSpPr>
          <p:cNvPr id="3" name="object 3">
            <a:extLst>
              <a:ext uri="{FF2B5EF4-FFF2-40B4-BE49-F238E27FC236}">
                <a16:creationId xmlns:a16="http://schemas.microsoft.com/office/drawing/2014/main" id="{47FFCE4C-3239-AEDE-5CC8-E280E0E8CE96}"/>
              </a:ext>
            </a:extLst>
          </p:cNvPr>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a:extLst>
              <a:ext uri="{FF2B5EF4-FFF2-40B4-BE49-F238E27FC236}">
                <a16:creationId xmlns:a16="http://schemas.microsoft.com/office/drawing/2014/main" id="{42F5BC54-A7C8-AF46-7F65-356DA836748D}"/>
              </a:ext>
            </a:extLst>
          </p:cNvPr>
          <p:cNvSpPr txBox="1"/>
          <p:nvPr/>
        </p:nvSpPr>
        <p:spPr>
          <a:xfrm>
            <a:off x="3998925" y="-1515"/>
            <a:ext cx="555625"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2" action="ppaction://hlinksldjump"/>
              </a:rPr>
              <a:t>Architectural</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styles</a:t>
            </a:r>
            <a:endParaRPr sz="500">
              <a:latin typeface="Arial"/>
              <a:cs typeface="Arial"/>
            </a:endParaRPr>
          </a:p>
        </p:txBody>
      </p:sp>
      <p:sp>
        <p:nvSpPr>
          <p:cNvPr id="5" name="object 5">
            <a:extLst>
              <a:ext uri="{FF2B5EF4-FFF2-40B4-BE49-F238E27FC236}">
                <a16:creationId xmlns:a16="http://schemas.microsoft.com/office/drawing/2014/main" id="{3CB845A4-32F6-1859-6B31-B9719C1C0F13}"/>
              </a:ext>
            </a:extLst>
          </p:cNvPr>
          <p:cNvSpPr txBox="1"/>
          <p:nvPr/>
        </p:nvSpPr>
        <p:spPr>
          <a:xfrm>
            <a:off x="95300" y="197711"/>
            <a:ext cx="2138045" cy="494665"/>
          </a:xfrm>
          <a:prstGeom prst="rect">
            <a:avLst/>
          </a:prstGeom>
        </p:spPr>
        <p:txBody>
          <a:bodyPr vert="horz" wrap="square" lIns="0" tIns="12065" rIns="0" bIns="0" rtlCol="0">
            <a:spAutoFit/>
          </a:bodyPr>
          <a:lstStyle/>
          <a:p>
            <a:pPr marL="12700">
              <a:lnSpc>
                <a:spcPct val="100000"/>
              </a:lnSpc>
              <a:spcBef>
                <a:spcPts val="95"/>
              </a:spcBef>
            </a:pPr>
            <a:r>
              <a:rPr sz="1200" spc="-10" dirty="0">
                <a:solidFill>
                  <a:srgbClr val="3333B2"/>
                </a:solidFill>
                <a:latin typeface="Arial"/>
                <a:cs typeface="Arial"/>
              </a:rPr>
              <a:t>Coordination</a:t>
            </a:r>
            <a:endParaRPr sz="1200" dirty="0">
              <a:latin typeface="Arial"/>
              <a:cs typeface="Arial"/>
            </a:endParaRPr>
          </a:p>
          <a:p>
            <a:pPr marL="260350">
              <a:lnSpc>
                <a:spcPct val="100000"/>
              </a:lnSpc>
              <a:spcBef>
                <a:spcPts val="1055"/>
              </a:spcBef>
            </a:pPr>
            <a:r>
              <a:rPr sz="1000" spc="-20" dirty="0">
                <a:solidFill>
                  <a:srgbClr val="3333B2"/>
                </a:solidFill>
                <a:latin typeface="Arial"/>
                <a:cs typeface="Arial"/>
              </a:rPr>
              <a:t>Temporal</a:t>
            </a:r>
            <a:r>
              <a:rPr sz="1000" spc="-5" dirty="0">
                <a:solidFill>
                  <a:srgbClr val="3333B2"/>
                </a:solidFill>
                <a:latin typeface="Arial"/>
                <a:cs typeface="Arial"/>
              </a:rPr>
              <a:t> </a:t>
            </a:r>
            <a:r>
              <a:rPr sz="1000" dirty="0">
                <a:solidFill>
                  <a:srgbClr val="3333B2"/>
                </a:solidFill>
                <a:latin typeface="Arial"/>
                <a:cs typeface="Arial"/>
              </a:rPr>
              <a:t>and</a:t>
            </a:r>
            <a:r>
              <a:rPr sz="1000" spc="-5" dirty="0">
                <a:solidFill>
                  <a:srgbClr val="3333B2"/>
                </a:solidFill>
                <a:latin typeface="Arial"/>
                <a:cs typeface="Arial"/>
              </a:rPr>
              <a:t> </a:t>
            </a:r>
            <a:r>
              <a:rPr sz="1000" spc="-10" dirty="0">
                <a:solidFill>
                  <a:srgbClr val="3333B2"/>
                </a:solidFill>
                <a:latin typeface="Arial"/>
                <a:cs typeface="Arial"/>
              </a:rPr>
              <a:t>referential</a:t>
            </a:r>
            <a:r>
              <a:rPr sz="1000" dirty="0">
                <a:solidFill>
                  <a:srgbClr val="3333B2"/>
                </a:solidFill>
                <a:latin typeface="Arial"/>
                <a:cs typeface="Arial"/>
              </a:rPr>
              <a:t> </a:t>
            </a:r>
            <a:r>
              <a:rPr sz="1000" spc="-10" dirty="0">
                <a:solidFill>
                  <a:srgbClr val="3333B2"/>
                </a:solidFill>
                <a:latin typeface="Arial"/>
                <a:cs typeface="Arial"/>
              </a:rPr>
              <a:t>coupling</a:t>
            </a:r>
            <a:endParaRPr sz="1000" dirty="0">
              <a:latin typeface="Arial"/>
              <a:cs typeface="Arial"/>
            </a:endParaRPr>
          </a:p>
        </p:txBody>
      </p:sp>
      <p:graphicFrame>
        <p:nvGraphicFramePr>
          <p:cNvPr id="6" name="object 6">
            <a:extLst>
              <a:ext uri="{FF2B5EF4-FFF2-40B4-BE49-F238E27FC236}">
                <a16:creationId xmlns:a16="http://schemas.microsoft.com/office/drawing/2014/main" id="{20B49661-F372-C448-8AB3-5305A2D95E74}"/>
              </a:ext>
            </a:extLst>
          </p:cNvPr>
          <p:cNvGraphicFramePr>
            <a:graphicFrameLocks noGrp="1"/>
          </p:cNvGraphicFramePr>
          <p:nvPr/>
        </p:nvGraphicFramePr>
        <p:xfrm>
          <a:off x="540880" y="793788"/>
          <a:ext cx="3521075" cy="425450"/>
        </p:xfrm>
        <a:graphic>
          <a:graphicData uri="http://schemas.openxmlformats.org/drawingml/2006/table">
            <a:tbl>
              <a:tblPr firstRow="1" bandRow="1">
                <a:tableStyleId>{2D5ABB26-0587-4C30-8999-92F81FD0307C}</a:tableStyleId>
              </a:tblPr>
              <a:tblGrid>
                <a:gridCol w="1303020">
                  <a:extLst>
                    <a:ext uri="{9D8B030D-6E8A-4147-A177-3AD203B41FA5}">
                      <a16:colId xmlns:a16="http://schemas.microsoft.com/office/drawing/2014/main" val="20000"/>
                    </a:ext>
                  </a:extLst>
                </a:gridCol>
                <a:gridCol w="1112520">
                  <a:extLst>
                    <a:ext uri="{9D8B030D-6E8A-4147-A177-3AD203B41FA5}">
                      <a16:colId xmlns:a16="http://schemas.microsoft.com/office/drawing/2014/main" val="20001"/>
                    </a:ext>
                  </a:extLst>
                </a:gridCol>
                <a:gridCol w="1105535">
                  <a:extLst>
                    <a:ext uri="{9D8B030D-6E8A-4147-A177-3AD203B41FA5}">
                      <a16:colId xmlns:a16="http://schemas.microsoft.com/office/drawing/2014/main" val="20002"/>
                    </a:ext>
                  </a:extLst>
                </a:gridCol>
              </a:tblGrid>
              <a:tr h="144145">
                <a:tc>
                  <a:txBody>
                    <a:bodyPr/>
                    <a:lstStyle/>
                    <a:p>
                      <a:pPr>
                        <a:lnSpc>
                          <a:spcPct val="100000"/>
                        </a:lnSpc>
                      </a:pPr>
                      <a:endParaRPr sz="700">
                        <a:latin typeface="Times New Roman"/>
                        <a:cs typeface="Times New Roman"/>
                      </a:endParaRPr>
                    </a:p>
                  </a:txBody>
                  <a:tcPr marL="0" marR="0" marT="0" marB="0">
                    <a:lnL w="6350">
                      <a:solidFill>
                        <a:srgbClr val="000000"/>
                      </a:solidFill>
                      <a:prstDash val="solid"/>
                    </a:lnL>
                    <a:lnR w="19050">
                      <a:solidFill>
                        <a:srgbClr val="000000"/>
                      </a:solidFill>
                      <a:prstDash val="solid"/>
                    </a:lnR>
                    <a:lnT w="6350">
                      <a:solidFill>
                        <a:srgbClr val="000000"/>
                      </a:solidFill>
                      <a:prstDash val="solid"/>
                    </a:lnT>
                    <a:lnB w="19050">
                      <a:solidFill>
                        <a:srgbClr val="000000"/>
                      </a:solidFill>
                      <a:prstDash val="solid"/>
                    </a:lnB>
                  </a:tcPr>
                </a:tc>
                <a:tc>
                  <a:txBody>
                    <a:bodyPr/>
                    <a:lstStyle/>
                    <a:p>
                      <a:pPr marL="6350" algn="ctr">
                        <a:lnSpc>
                          <a:spcPts val="910"/>
                        </a:lnSpc>
                      </a:pPr>
                      <a:r>
                        <a:rPr sz="800" b="1" spc="-10" dirty="0">
                          <a:latin typeface="Arial"/>
                          <a:cs typeface="Arial"/>
                        </a:rPr>
                        <a:t>Temporally</a:t>
                      </a:r>
                      <a:r>
                        <a:rPr sz="800" b="1" spc="-15" dirty="0">
                          <a:latin typeface="Arial"/>
                          <a:cs typeface="Arial"/>
                        </a:rPr>
                        <a:t> </a:t>
                      </a:r>
                      <a:r>
                        <a:rPr sz="800" b="1" spc="-10" dirty="0">
                          <a:latin typeface="Arial"/>
                          <a:cs typeface="Arial"/>
                        </a:rPr>
                        <a:t>coupled</a:t>
                      </a:r>
                      <a:endParaRPr sz="800">
                        <a:latin typeface="Arial"/>
                        <a:cs typeface="Arial"/>
                      </a:endParaRPr>
                    </a:p>
                  </a:txBody>
                  <a:tcPr marL="0" marR="0" marT="0" marB="0">
                    <a:lnL w="190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tc>
                  <a:txBody>
                    <a:bodyPr/>
                    <a:lstStyle/>
                    <a:p>
                      <a:pPr algn="ctr">
                        <a:lnSpc>
                          <a:spcPts val="910"/>
                        </a:lnSpc>
                      </a:pPr>
                      <a:r>
                        <a:rPr sz="800" b="1" spc="-10" dirty="0">
                          <a:latin typeface="Arial"/>
                          <a:cs typeface="Arial"/>
                        </a:rPr>
                        <a:t>Temporally</a:t>
                      </a:r>
                      <a:r>
                        <a:rPr sz="800" b="1" spc="-15" dirty="0">
                          <a:latin typeface="Arial"/>
                          <a:cs typeface="Arial"/>
                        </a:rPr>
                        <a:t> </a:t>
                      </a:r>
                      <a:r>
                        <a:rPr sz="800" b="1" spc="-10" dirty="0">
                          <a:latin typeface="Arial"/>
                          <a:cs typeface="Arial"/>
                        </a:rPr>
                        <a:t>coupled</a:t>
                      </a:r>
                      <a:endParaRPr sz="8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19050">
                      <a:solidFill>
                        <a:srgbClr val="000000"/>
                      </a:solidFill>
                      <a:prstDash val="solid"/>
                    </a:lnB>
                  </a:tcPr>
                </a:tc>
                <a:extLst>
                  <a:ext uri="{0D108BD9-81ED-4DB2-BD59-A6C34878D82A}">
                    <a16:rowId xmlns:a16="http://schemas.microsoft.com/office/drawing/2014/main" val="10000"/>
                  </a:ext>
                </a:extLst>
              </a:tr>
              <a:tr h="144145">
                <a:tc>
                  <a:txBody>
                    <a:bodyPr/>
                    <a:lstStyle/>
                    <a:p>
                      <a:pPr marR="77470" algn="r">
                        <a:lnSpc>
                          <a:spcPct val="100000"/>
                        </a:lnSpc>
                      </a:pPr>
                      <a:r>
                        <a:rPr sz="800" b="1" spc="-10" dirty="0">
                          <a:latin typeface="Arial"/>
                          <a:cs typeface="Arial"/>
                        </a:rPr>
                        <a:t>Referentially</a:t>
                      </a:r>
                      <a:r>
                        <a:rPr sz="800" b="1" spc="50" dirty="0">
                          <a:latin typeface="Arial"/>
                          <a:cs typeface="Arial"/>
                        </a:rPr>
                        <a:t> </a:t>
                      </a:r>
                      <a:r>
                        <a:rPr sz="800" b="1" spc="-10" dirty="0">
                          <a:latin typeface="Arial"/>
                          <a:cs typeface="Arial"/>
                        </a:rPr>
                        <a:t>coupled</a:t>
                      </a:r>
                      <a:endParaRPr sz="800">
                        <a:latin typeface="Arial"/>
                        <a:cs typeface="Arial"/>
                      </a:endParaRPr>
                    </a:p>
                  </a:txBody>
                  <a:tcPr marL="0" marR="0" marT="0" marB="0">
                    <a:lnL w="6350">
                      <a:solidFill>
                        <a:srgbClr val="000000"/>
                      </a:solidFill>
                      <a:prstDash val="solid"/>
                    </a:lnL>
                    <a:lnR w="19050">
                      <a:solidFill>
                        <a:srgbClr val="000000"/>
                      </a:solidFill>
                      <a:prstDash val="solid"/>
                    </a:lnR>
                    <a:lnT w="19050">
                      <a:solidFill>
                        <a:srgbClr val="000000"/>
                      </a:solidFill>
                      <a:prstDash val="solid"/>
                    </a:lnT>
                    <a:lnB w="6350">
                      <a:solidFill>
                        <a:srgbClr val="000000"/>
                      </a:solidFill>
                      <a:prstDash val="solid"/>
                    </a:lnB>
                  </a:tcPr>
                </a:tc>
                <a:tc>
                  <a:txBody>
                    <a:bodyPr/>
                    <a:lstStyle/>
                    <a:p>
                      <a:pPr marL="6350" algn="ctr">
                        <a:lnSpc>
                          <a:spcPct val="100000"/>
                        </a:lnSpc>
                      </a:pPr>
                      <a:r>
                        <a:rPr sz="800" spc="-10" dirty="0">
                          <a:latin typeface="Arial"/>
                          <a:cs typeface="Arial"/>
                        </a:rPr>
                        <a:t>Direct</a:t>
                      </a:r>
                      <a:endParaRPr sz="800">
                        <a:latin typeface="Arial"/>
                        <a:cs typeface="Arial"/>
                      </a:endParaRPr>
                    </a:p>
                  </a:txBody>
                  <a:tcPr marL="0" marR="0" marT="0" marB="0">
                    <a:lnL w="190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tc>
                  <a:txBody>
                    <a:bodyPr/>
                    <a:lstStyle/>
                    <a:p>
                      <a:pPr algn="ctr">
                        <a:lnSpc>
                          <a:spcPct val="100000"/>
                        </a:lnSpc>
                      </a:pPr>
                      <a:r>
                        <a:rPr sz="800" spc="-10" dirty="0">
                          <a:latin typeface="Arial"/>
                          <a:cs typeface="Arial"/>
                        </a:rPr>
                        <a:t>Mailbox</a:t>
                      </a:r>
                      <a:endParaRPr sz="800">
                        <a:latin typeface="Arial"/>
                        <a:cs typeface="Arial"/>
                      </a:endParaRPr>
                    </a:p>
                  </a:txBody>
                  <a:tcPr marL="0" marR="0" marT="0" marB="0">
                    <a:lnL w="6350">
                      <a:solidFill>
                        <a:srgbClr val="000000"/>
                      </a:solidFill>
                      <a:prstDash val="solid"/>
                    </a:lnL>
                    <a:lnR w="6350">
                      <a:solidFill>
                        <a:srgbClr val="000000"/>
                      </a:solidFill>
                      <a:prstDash val="solid"/>
                    </a:lnR>
                    <a:lnT w="190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37160">
                <a:tc>
                  <a:txBody>
                    <a:bodyPr/>
                    <a:lstStyle/>
                    <a:p>
                      <a:pPr marR="77470" algn="r">
                        <a:lnSpc>
                          <a:spcPts val="910"/>
                        </a:lnSpc>
                      </a:pPr>
                      <a:r>
                        <a:rPr sz="800" b="1" spc="-10" dirty="0">
                          <a:latin typeface="Arial"/>
                          <a:cs typeface="Arial"/>
                        </a:rPr>
                        <a:t>Referentially</a:t>
                      </a:r>
                      <a:r>
                        <a:rPr sz="800" b="1" spc="50" dirty="0">
                          <a:latin typeface="Arial"/>
                          <a:cs typeface="Arial"/>
                        </a:rPr>
                        <a:t> </a:t>
                      </a:r>
                      <a:r>
                        <a:rPr sz="800" b="1" spc="-10" dirty="0">
                          <a:latin typeface="Arial"/>
                          <a:cs typeface="Arial"/>
                        </a:rPr>
                        <a:t>decoupled</a:t>
                      </a:r>
                      <a:endParaRPr sz="800">
                        <a:latin typeface="Arial"/>
                        <a:cs typeface="Arial"/>
                      </a:endParaRPr>
                    </a:p>
                  </a:txBody>
                  <a:tcPr marL="0" marR="0" marT="0" marB="0">
                    <a:lnL w="6350">
                      <a:solidFill>
                        <a:srgbClr val="000000"/>
                      </a:solidFill>
                      <a:prstDash val="solid"/>
                    </a:lnL>
                    <a:lnR w="19050">
                      <a:solidFill>
                        <a:srgbClr val="000000"/>
                      </a:solidFill>
                      <a:prstDash val="solid"/>
                    </a:lnR>
                    <a:lnT w="6350">
                      <a:solidFill>
                        <a:srgbClr val="000000"/>
                      </a:solidFill>
                      <a:prstDash val="solid"/>
                    </a:lnT>
                    <a:lnB w="6350">
                      <a:solidFill>
                        <a:srgbClr val="000000"/>
                      </a:solidFill>
                      <a:prstDash val="solid"/>
                    </a:lnB>
                  </a:tcPr>
                </a:tc>
                <a:tc>
                  <a:txBody>
                    <a:bodyPr/>
                    <a:lstStyle/>
                    <a:p>
                      <a:pPr marL="6350" algn="ctr">
                        <a:lnSpc>
                          <a:spcPts val="910"/>
                        </a:lnSpc>
                      </a:pPr>
                      <a:r>
                        <a:rPr sz="800" spc="-10" dirty="0">
                          <a:latin typeface="Arial"/>
                          <a:cs typeface="Arial"/>
                        </a:rPr>
                        <a:t>Event-based</a:t>
                      </a:r>
                      <a:endParaRPr sz="800">
                        <a:latin typeface="Arial"/>
                        <a:cs typeface="Arial"/>
                      </a:endParaRPr>
                    </a:p>
                  </a:txBody>
                  <a:tcPr marL="0" marR="0" marT="0" marB="0">
                    <a:lnL w="190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algn="ctr">
                        <a:lnSpc>
                          <a:spcPts val="910"/>
                        </a:lnSpc>
                      </a:pPr>
                      <a:r>
                        <a:rPr sz="800" dirty="0">
                          <a:latin typeface="Arial"/>
                          <a:cs typeface="Arial"/>
                        </a:rPr>
                        <a:t>Shared</a:t>
                      </a:r>
                      <a:r>
                        <a:rPr sz="800" spc="-30" dirty="0">
                          <a:latin typeface="Arial"/>
                          <a:cs typeface="Arial"/>
                        </a:rPr>
                        <a:t> </a:t>
                      </a:r>
                      <a:r>
                        <a:rPr sz="800" dirty="0">
                          <a:latin typeface="Arial"/>
                          <a:cs typeface="Arial"/>
                        </a:rPr>
                        <a:t>data</a:t>
                      </a:r>
                      <a:r>
                        <a:rPr sz="800" spc="-25" dirty="0">
                          <a:latin typeface="Arial"/>
                          <a:cs typeface="Arial"/>
                        </a:rPr>
                        <a:t> </a:t>
                      </a:r>
                      <a:r>
                        <a:rPr sz="800" spc="-10" dirty="0">
                          <a:latin typeface="Arial"/>
                          <a:cs typeface="Arial"/>
                        </a:rPr>
                        <a:t>space</a:t>
                      </a:r>
                      <a:endParaRPr sz="800">
                        <a:latin typeface="Arial"/>
                        <a:cs typeface="Arial"/>
                      </a:endParaRPr>
                    </a:p>
                  </a:txBody>
                  <a:tcPr marL="0" marR="0" marT="0"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bl>
          </a:graphicData>
        </a:graphic>
      </p:graphicFrame>
      <p:grpSp>
        <p:nvGrpSpPr>
          <p:cNvPr id="10" name="object 10">
            <a:extLst>
              <a:ext uri="{FF2B5EF4-FFF2-40B4-BE49-F238E27FC236}">
                <a16:creationId xmlns:a16="http://schemas.microsoft.com/office/drawing/2014/main" id="{B109DE5E-A645-84CF-A23D-CC7C3FC6AE95}"/>
              </a:ext>
            </a:extLst>
          </p:cNvPr>
          <p:cNvGrpSpPr/>
          <p:nvPr/>
        </p:nvGrpSpPr>
        <p:grpSpPr>
          <a:xfrm>
            <a:off x="0" y="3348469"/>
            <a:ext cx="4608195" cy="107950"/>
            <a:chOff x="0" y="3348469"/>
            <a:chExt cx="4608195" cy="107950"/>
          </a:xfrm>
        </p:grpSpPr>
        <p:sp>
          <p:nvSpPr>
            <p:cNvPr id="11" name="object 11">
              <a:extLst>
                <a:ext uri="{FF2B5EF4-FFF2-40B4-BE49-F238E27FC236}">
                  <a16:creationId xmlns:a16="http://schemas.microsoft.com/office/drawing/2014/main" id="{AA08456D-C187-5479-B540-64936037457E}"/>
                </a:ext>
              </a:extLst>
            </p:cNvPr>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2" name="object 12">
              <a:extLst>
                <a:ext uri="{FF2B5EF4-FFF2-40B4-BE49-F238E27FC236}">
                  <a16:creationId xmlns:a16="http://schemas.microsoft.com/office/drawing/2014/main" id="{34FAD487-AFCE-2B5E-1625-C2975FDBC87D}"/>
                </a:ext>
              </a:extLst>
            </p:cNvPr>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3" name="object 13">
            <a:extLst>
              <a:ext uri="{FF2B5EF4-FFF2-40B4-BE49-F238E27FC236}">
                <a16:creationId xmlns:a16="http://schemas.microsoft.com/office/drawing/2014/main" id="{19566E07-2411-F8A1-B796-6AD2B2E8D50D}"/>
              </a:ext>
            </a:extLst>
          </p:cNvPr>
          <p:cNvSpPr txBox="1"/>
          <p:nvPr/>
        </p:nvSpPr>
        <p:spPr>
          <a:xfrm>
            <a:off x="53467" y="3349927"/>
            <a:ext cx="90424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Publish-</a:t>
            </a:r>
            <a:r>
              <a:rPr sz="500" dirty="0">
                <a:latin typeface="Arial"/>
                <a:cs typeface="Arial"/>
                <a:hlinkClick r:id="rId3" action="ppaction://hlinksldjump"/>
              </a:rPr>
              <a:t>subscribe</a:t>
            </a:r>
            <a:r>
              <a:rPr sz="500" spc="30" dirty="0">
                <a:latin typeface="Arial"/>
                <a:cs typeface="Arial"/>
                <a:hlinkClick r:id="rId3" action="ppaction://hlinksldjump"/>
              </a:rPr>
              <a:t> </a:t>
            </a:r>
            <a:r>
              <a:rPr sz="500" spc="-10" dirty="0">
                <a:latin typeface="Arial"/>
                <a:cs typeface="Arial"/>
                <a:hlinkClick r:id="rId3" action="ppaction://hlinksldjump"/>
              </a:rPr>
              <a:t>architectures</a:t>
            </a:r>
            <a:endParaRPr sz="500">
              <a:latin typeface="Arial"/>
              <a:cs typeface="Arial"/>
            </a:endParaRPr>
          </a:p>
        </p:txBody>
      </p:sp>
      <p:sp>
        <p:nvSpPr>
          <p:cNvPr id="15" name="TextBox 14">
            <a:extLst>
              <a:ext uri="{FF2B5EF4-FFF2-40B4-BE49-F238E27FC236}">
                <a16:creationId xmlns:a16="http://schemas.microsoft.com/office/drawing/2014/main" id="{6D929D22-BAAF-8FE0-123B-2A1CCFD190D3}"/>
              </a:ext>
            </a:extLst>
          </p:cNvPr>
          <p:cNvSpPr txBox="1"/>
          <p:nvPr/>
        </p:nvSpPr>
        <p:spPr>
          <a:xfrm>
            <a:off x="250952" y="1320650"/>
            <a:ext cx="4359148" cy="1985159"/>
          </a:xfrm>
          <a:prstGeom prst="rect">
            <a:avLst/>
          </a:prstGeom>
          <a:noFill/>
        </p:spPr>
        <p:txBody>
          <a:bodyPr wrap="square">
            <a:spAutoFit/>
          </a:bodyPr>
          <a:lstStyle/>
          <a:p>
            <a:pPr marL="15875" marR="5080" indent="-3810">
              <a:lnSpc>
                <a:spcPct val="100000"/>
              </a:lnSpc>
              <a:spcBef>
                <a:spcPts val="195"/>
              </a:spcBef>
            </a:pPr>
            <a:r>
              <a:rPr lang="en-US" sz="900" b="1" spc="-10" dirty="0">
                <a:solidFill>
                  <a:schemeClr val="tx2"/>
                </a:solidFill>
                <a:latin typeface="Arial"/>
                <a:cs typeface="Arial"/>
              </a:rPr>
              <a:t>Referentially coupled:</a:t>
            </a:r>
            <a:r>
              <a:rPr lang="en-US" sz="900" spc="-10" dirty="0">
                <a:solidFill>
                  <a:schemeClr val="tx2"/>
                </a:solidFill>
                <a:latin typeface="Arial"/>
                <a:cs typeface="Arial"/>
              </a:rPr>
              <a:t> </a:t>
            </a:r>
            <a:r>
              <a:rPr lang="en-US" sz="900" spc="-10" dirty="0">
                <a:latin typeface="Arial"/>
                <a:cs typeface="Arial"/>
              </a:rPr>
              <a:t>Components knows about identity of each other</a:t>
            </a:r>
          </a:p>
          <a:p>
            <a:pPr marL="15875" marR="5080" indent="-3810">
              <a:spcBef>
                <a:spcPts val="195"/>
              </a:spcBef>
            </a:pPr>
            <a:r>
              <a:rPr lang="en-US" sz="900" b="1" spc="-10" dirty="0">
                <a:solidFill>
                  <a:schemeClr val="tx2"/>
                </a:solidFill>
                <a:latin typeface="Arial"/>
                <a:cs typeface="Arial"/>
              </a:rPr>
              <a:t>Referentially decoupled:</a:t>
            </a:r>
            <a:r>
              <a:rPr lang="en-US" sz="900" spc="-10" dirty="0">
                <a:solidFill>
                  <a:schemeClr val="tx2"/>
                </a:solidFill>
                <a:latin typeface="Arial"/>
                <a:cs typeface="Arial"/>
              </a:rPr>
              <a:t> </a:t>
            </a:r>
            <a:r>
              <a:rPr lang="en-US" sz="900" spc="-10" dirty="0">
                <a:latin typeface="Arial"/>
                <a:cs typeface="Arial"/>
              </a:rPr>
              <a:t>Components does not know about identity of each other</a:t>
            </a:r>
            <a:endParaRPr lang="en-US" sz="900" dirty="0">
              <a:latin typeface="Arial"/>
              <a:cs typeface="Arial"/>
            </a:endParaRPr>
          </a:p>
          <a:p>
            <a:pPr marL="15875" marR="5080" indent="-3810">
              <a:lnSpc>
                <a:spcPct val="100000"/>
              </a:lnSpc>
              <a:spcBef>
                <a:spcPts val="195"/>
              </a:spcBef>
            </a:pPr>
            <a:r>
              <a:rPr lang="en-US" sz="900" b="1" dirty="0">
                <a:solidFill>
                  <a:schemeClr val="tx2"/>
                </a:solidFill>
                <a:latin typeface="Arial"/>
                <a:cs typeface="Arial"/>
              </a:rPr>
              <a:t>Temporally coupled:</a:t>
            </a:r>
            <a:r>
              <a:rPr lang="en-US" sz="900" dirty="0">
                <a:solidFill>
                  <a:schemeClr val="tx2"/>
                </a:solidFill>
                <a:latin typeface="Arial"/>
                <a:cs typeface="Arial"/>
              </a:rPr>
              <a:t> </a:t>
            </a:r>
            <a:r>
              <a:rPr lang="en-US" sz="900" dirty="0">
                <a:latin typeface="Arial"/>
                <a:cs typeface="Arial"/>
              </a:rPr>
              <a:t>Both components must be available while coordination</a:t>
            </a:r>
          </a:p>
          <a:p>
            <a:pPr marL="15875" marR="5080" indent="-3810">
              <a:spcBef>
                <a:spcPts val="195"/>
              </a:spcBef>
            </a:pPr>
            <a:r>
              <a:rPr lang="en-US" sz="900" b="1" dirty="0">
                <a:solidFill>
                  <a:schemeClr val="tx2"/>
                </a:solidFill>
                <a:latin typeface="Arial"/>
                <a:cs typeface="Arial"/>
              </a:rPr>
              <a:t>Temporally coupled:</a:t>
            </a:r>
            <a:r>
              <a:rPr lang="en-US" sz="900" dirty="0">
                <a:solidFill>
                  <a:schemeClr val="tx2"/>
                </a:solidFill>
                <a:latin typeface="Arial"/>
                <a:cs typeface="Arial"/>
              </a:rPr>
              <a:t> </a:t>
            </a:r>
            <a:r>
              <a:rPr lang="en-US" sz="900" dirty="0">
                <a:latin typeface="Arial"/>
                <a:cs typeface="Arial"/>
              </a:rPr>
              <a:t>Both components may be available while coordination</a:t>
            </a:r>
          </a:p>
          <a:p>
            <a:pPr marL="15875" marR="5080" indent="-3810">
              <a:spcBef>
                <a:spcPts val="195"/>
              </a:spcBef>
            </a:pPr>
            <a:endParaRPr lang="en-US" sz="900" dirty="0">
              <a:latin typeface="Arial"/>
              <a:cs typeface="Arial"/>
            </a:endParaRPr>
          </a:p>
          <a:p>
            <a:pPr marL="15875" marR="5080" indent="-3810">
              <a:spcBef>
                <a:spcPts val="195"/>
              </a:spcBef>
            </a:pPr>
            <a:r>
              <a:rPr lang="en-US" sz="900" b="1" i="1" dirty="0">
                <a:solidFill>
                  <a:schemeClr val="accent1"/>
                </a:solidFill>
                <a:latin typeface="Arial"/>
                <a:cs typeface="Arial"/>
              </a:rPr>
              <a:t>Example:</a:t>
            </a:r>
          </a:p>
          <a:p>
            <a:pPr marL="15875" marR="5080" indent="-3810">
              <a:spcBef>
                <a:spcPts val="195"/>
              </a:spcBef>
            </a:pPr>
            <a:r>
              <a:rPr lang="en-US" sz="900" b="1" dirty="0">
                <a:latin typeface="Arial"/>
                <a:cs typeface="Arial"/>
              </a:rPr>
              <a:t>Direct:</a:t>
            </a:r>
            <a:r>
              <a:rPr lang="en-US" sz="900" dirty="0">
                <a:latin typeface="Arial"/>
                <a:cs typeface="Arial"/>
              </a:rPr>
              <a:t> Phone call (both sides must be present at same time)</a:t>
            </a:r>
          </a:p>
          <a:p>
            <a:pPr marL="15875" marR="5080" indent="-3810">
              <a:spcBef>
                <a:spcPts val="195"/>
              </a:spcBef>
            </a:pPr>
            <a:r>
              <a:rPr lang="en-US" sz="900" b="1" dirty="0">
                <a:latin typeface="Arial"/>
                <a:cs typeface="Arial"/>
              </a:rPr>
              <a:t>Mailbox:</a:t>
            </a:r>
            <a:r>
              <a:rPr lang="en-US" sz="900" dirty="0">
                <a:latin typeface="Arial"/>
                <a:cs typeface="Arial"/>
              </a:rPr>
              <a:t> Email messages (receiver can be offline)</a:t>
            </a:r>
          </a:p>
          <a:p>
            <a:pPr marL="15875" marR="5080" indent="-3810">
              <a:spcBef>
                <a:spcPts val="195"/>
              </a:spcBef>
            </a:pPr>
            <a:r>
              <a:rPr lang="en-US" sz="900" b="1" dirty="0">
                <a:latin typeface="Arial"/>
                <a:cs typeface="Arial"/>
              </a:rPr>
              <a:t>Event based:</a:t>
            </a:r>
            <a:r>
              <a:rPr lang="en-US" sz="900" dirty="0">
                <a:latin typeface="Arial"/>
                <a:cs typeface="Arial"/>
              </a:rPr>
              <a:t> Sender publishes the event and subscriber consumes (notifications)</a:t>
            </a:r>
          </a:p>
          <a:p>
            <a:pPr marL="15875" marR="5080" indent="-3810">
              <a:spcBef>
                <a:spcPts val="195"/>
              </a:spcBef>
            </a:pPr>
            <a:r>
              <a:rPr lang="en-US" sz="900" b="1" dirty="0">
                <a:latin typeface="Arial"/>
                <a:cs typeface="Arial"/>
              </a:rPr>
              <a:t>Shared data space:</a:t>
            </a:r>
            <a:r>
              <a:rPr lang="en-US" sz="900" dirty="0">
                <a:latin typeface="Arial"/>
                <a:cs typeface="Arial"/>
              </a:rPr>
              <a:t> Both send and receive data from shared address space without knowing each other, any time</a:t>
            </a:r>
          </a:p>
        </p:txBody>
      </p:sp>
    </p:spTree>
    <p:extLst>
      <p:ext uri="{BB962C8B-B14F-4D97-AF65-F5344CB8AC3E}">
        <p14:creationId xmlns:p14="http://schemas.microsoft.com/office/powerpoint/2010/main" val="737874341"/>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Architectures</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998925" y="-1515"/>
            <a:ext cx="555625"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2" action="ppaction://hlinksldjump"/>
              </a:rPr>
              <a:t>Architectural</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styles</a:t>
            </a:r>
            <a:endParaRPr sz="500">
              <a:latin typeface="Arial"/>
              <a:cs typeface="Arial"/>
            </a:endParaRPr>
          </a:p>
        </p:txBody>
      </p:sp>
      <p:sp>
        <p:nvSpPr>
          <p:cNvPr id="5" name="object 5"/>
          <p:cNvSpPr txBox="1"/>
          <p:nvPr/>
        </p:nvSpPr>
        <p:spPr>
          <a:xfrm>
            <a:off x="57200" y="197711"/>
            <a:ext cx="4241165" cy="2016125"/>
          </a:xfrm>
          <a:prstGeom prst="rect">
            <a:avLst/>
          </a:prstGeom>
        </p:spPr>
        <p:txBody>
          <a:bodyPr vert="horz" wrap="square" lIns="0" tIns="12065" rIns="0" bIns="0" rtlCol="0">
            <a:spAutoFit/>
          </a:bodyPr>
          <a:lstStyle/>
          <a:p>
            <a:pPr marL="50800">
              <a:lnSpc>
                <a:spcPct val="100000"/>
              </a:lnSpc>
              <a:spcBef>
                <a:spcPts val="95"/>
              </a:spcBef>
            </a:pPr>
            <a:r>
              <a:rPr sz="1200" dirty="0">
                <a:solidFill>
                  <a:srgbClr val="3333B2"/>
                </a:solidFill>
                <a:latin typeface="Arial"/>
                <a:cs typeface="Arial"/>
              </a:rPr>
              <a:t>Example:</a:t>
            </a:r>
            <a:r>
              <a:rPr sz="1200" spc="30" dirty="0">
                <a:solidFill>
                  <a:srgbClr val="3333B2"/>
                </a:solidFill>
                <a:latin typeface="Arial"/>
                <a:cs typeface="Arial"/>
              </a:rPr>
              <a:t> </a:t>
            </a:r>
            <a:r>
              <a:rPr sz="1200" dirty="0">
                <a:solidFill>
                  <a:srgbClr val="3333B2"/>
                </a:solidFill>
                <a:latin typeface="Arial"/>
                <a:cs typeface="Arial"/>
              </a:rPr>
              <a:t>Linda</a:t>
            </a:r>
            <a:r>
              <a:rPr sz="1200" spc="-35" dirty="0">
                <a:solidFill>
                  <a:srgbClr val="3333B2"/>
                </a:solidFill>
                <a:latin typeface="Arial"/>
                <a:cs typeface="Arial"/>
              </a:rPr>
              <a:t> </a:t>
            </a:r>
            <a:r>
              <a:rPr sz="1200" dirty="0">
                <a:solidFill>
                  <a:srgbClr val="3333B2"/>
                </a:solidFill>
                <a:latin typeface="Arial"/>
                <a:cs typeface="Arial"/>
              </a:rPr>
              <a:t>tuple</a:t>
            </a:r>
            <a:r>
              <a:rPr sz="1200" spc="-40" dirty="0">
                <a:solidFill>
                  <a:srgbClr val="3333B2"/>
                </a:solidFill>
                <a:latin typeface="Arial"/>
                <a:cs typeface="Arial"/>
              </a:rPr>
              <a:t> </a:t>
            </a:r>
            <a:r>
              <a:rPr sz="1200" spc="-10" dirty="0">
                <a:solidFill>
                  <a:srgbClr val="3333B2"/>
                </a:solidFill>
                <a:latin typeface="Arial"/>
                <a:cs typeface="Arial"/>
              </a:rPr>
              <a:t>space</a:t>
            </a:r>
            <a:endParaRPr sz="1200">
              <a:latin typeface="Arial"/>
              <a:cs typeface="Arial"/>
            </a:endParaRPr>
          </a:p>
          <a:p>
            <a:pPr marL="298450">
              <a:lnSpc>
                <a:spcPct val="100000"/>
              </a:lnSpc>
              <a:spcBef>
                <a:spcPts val="1055"/>
              </a:spcBef>
            </a:pPr>
            <a:r>
              <a:rPr sz="1000" dirty="0">
                <a:solidFill>
                  <a:srgbClr val="3333B2"/>
                </a:solidFill>
                <a:latin typeface="Arial"/>
                <a:cs typeface="Arial"/>
              </a:rPr>
              <a:t>Three</a:t>
            </a:r>
            <a:r>
              <a:rPr sz="1000" spc="-45" dirty="0">
                <a:solidFill>
                  <a:srgbClr val="3333B2"/>
                </a:solidFill>
                <a:latin typeface="Arial"/>
                <a:cs typeface="Arial"/>
              </a:rPr>
              <a:t> </a:t>
            </a:r>
            <a:r>
              <a:rPr sz="1000" dirty="0">
                <a:solidFill>
                  <a:srgbClr val="3333B2"/>
                </a:solidFill>
                <a:latin typeface="Arial"/>
                <a:cs typeface="Arial"/>
              </a:rPr>
              <a:t>simple</a:t>
            </a:r>
            <a:r>
              <a:rPr sz="1000" spc="-30" dirty="0">
                <a:solidFill>
                  <a:srgbClr val="3333B2"/>
                </a:solidFill>
                <a:latin typeface="Arial"/>
                <a:cs typeface="Arial"/>
              </a:rPr>
              <a:t> </a:t>
            </a:r>
            <a:r>
              <a:rPr sz="1000" spc="-10" dirty="0">
                <a:solidFill>
                  <a:srgbClr val="3333B2"/>
                </a:solidFill>
                <a:latin typeface="Arial"/>
                <a:cs typeface="Arial"/>
              </a:rPr>
              <a:t>operations</a:t>
            </a:r>
            <a:endParaRPr sz="1000">
              <a:latin typeface="Arial"/>
              <a:cs typeface="Arial"/>
            </a:endParaRPr>
          </a:p>
          <a:p>
            <a:pPr marL="549910" indent="-114935">
              <a:lnSpc>
                <a:spcPct val="100000"/>
              </a:lnSpc>
              <a:spcBef>
                <a:spcPts val="695"/>
              </a:spcBef>
              <a:buClr>
                <a:srgbClr val="3333B2"/>
              </a:buClr>
              <a:buFont typeface="Apple Symbols"/>
              <a:buChar char="•"/>
              <a:tabLst>
                <a:tab pos="550545" algn="l"/>
              </a:tabLst>
            </a:pPr>
            <a:r>
              <a:rPr sz="900" spc="120" dirty="0">
                <a:latin typeface="Times New Roman"/>
                <a:cs typeface="Times New Roman"/>
              </a:rPr>
              <a:t>in(t)</a:t>
            </a:r>
            <a:r>
              <a:rPr sz="900" spc="120" dirty="0">
                <a:latin typeface="Arial"/>
                <a:cs typeface="Arial"/>
              </a:rPr>
              <a:t>:</a:t>
            </a:r>
            <a:r>
              <a:rPr sz="900" spc="35" dirty="0">
                <a:latin typeface="Arial"/>
                <a:cs typeface="Arial"/>
              </a:rPr>
              <a:t> </a:t>
            </a:r>
            <a:r>
              <a:rPr sz="900" spc="-10" dirty="0">
                <a:latin typeface="Arial"/>
                <a:cs typeface="Arial"/>
              </a:rPr>
              <a:t>remove</a:t>
            </a:r>
            <a:r>
              <a:rPr sz="900" spc="-20"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tuple</a:t>
            </a:r>
            <a:r>
              <a:rPr sz="900" spc="-15" dirty="0">
                <a:latin typeface="Arial"/>
                <a:cs typeface="Arial"/>
              </a:rPr>
              <a:t> </a:t>
            </a:r>
            <a:r>
              <a:rPr sz="900" dirty="0">
                <a:latin typeface="Arial"/>
                <a:cs typeface="Arial"/>
              </a:rPr>
              <a:t>matching</a:t>
            </a:r>
            <a:r>
              <a:rPr sz="900" spc="-20" dirty="0">
                <a:latin typeface="Arial"/>
                <a:cs typeface="Arial"/>
              </a:rPr>
              <a:t> </a:t>
            </a:r>
            <a:r>
              <a:rPr sz="900" dirty="0">
                <a:latin typeface="Arial"/>
                <a:cs typeface="Arial"/>
              </a:rPr>
              <a:t>template</a:t>
            </a:r>
            <a:r>
              <a:rPr sz="900" spc="160" dirty="0">
                <a:latin typeface="Arial"/>
                <a:cs typeface="Arial"/>
              </a:rPr>
              <a:t> </a:t>
            </a:r>
            <a:r>
              <a:rPr sz="900" spc="235" dirty="0">
                <a:latin typeface="Times New Roman"/>
                <a:cs typeface="Times New Roman"/>
              </a:rPr>
              <a:t>t</a:t>
            </a:r>
            <a:endParaRPr sz="900">
              <a:latin typeface="Times New Roman"/>
              <a:cs typeface="Times New Roman"/>
            </a:endParaRPr>
          </a:p>
          <a:p>
            <a:pPr marL="549910" indent="-114935">
              <a:lnSpc>
                <a:spcPct val="100000"/>
              </a:lnSpc>
              <a:spcBef>
                <a:spcPts val="125"/>
              </a:spcBef>
              <a:buClr>
                <a:srgbClr val="3333B2"/>
              </a:buClr>
              <a:buFont typeface="Apple Symbols"/>
              <a:buChar char="•"/>
              <a:tabLst>
                <a:tab pos="550545" algn="l"/>
              </a:tabLst>
            </a:pPr>
            <a:r>
              <a:rPr sz="900" spc="110" dirty="0">
                <a:latin typeface="Times New Roman"/>
                <a:cs typeface="Times New Roman"/>
              </a:rPr>
              <a:t>rd(t)</a:t>
            </a:r>
            <a:r>
              <a:rPr sz="900" spc="110" dirty="0">
                <a:latin typeface="Arial"/>
                <a:cs typeface="Arial"/>
              </a:rPr>
              <a:t>:</a:t>
            </a:r>
            <a:r>
              <a:rPr sz="900" spc="30" dirty="0">
                <a:latin typeface="Arial"/>
                <a:cs typeface="Arial"/>
              </a:rPr>
              <a:t> </a:t>
            </a:r>
            <a:r>
              <a:rPr sz="900" dirty="0">
                <a:latin typeface="Arial"/>
                <a:cs typeface="Arial"/>
              </a:rPr>
              <a:t>obtain</a:t>
            </a:r>
            <a:r>
              <a:rPr sz="900" spc="-20" dirty="0">
                <a:latin typeface="Arial"/>
                <a:cs typeface="Arial"/>
              </a:rPr>
              <a:t> </a:t>
            </a:r>
            <a:r>
              <a:rPr sz="900" dirty="0">
                <a:latin typeface="Arial"/>
                <a:cs typeface="Arial"/>
              </a:rPr>
              <a:t>copy</a:t>
            </a:r>
            <a:r>
              <a:rPr sz="900" spc="-25"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tuple</a:t>
            </a:r>
            <a:r>
              <a:rPr sz="900" spc="-25" dirty="0">
                <a:latin typeface="Arial"/>
                <a:cs typeface="Arial"/>
              </a:rPr>
              <a:t> </a:t>
            </a:r>
            <a:r>
              <a:rPr sz="900" dirty="0">
                <a:latin typeface="Arial"/>
                <a:cs typeface="Arial"/>
              </a:rPr>
              <a:t>matching</a:t>
            </a:r>
            <a:r>
              <a:rPr sz="900" spc="-20" dirty="0">
                <a:latin typeface="Arial"/>
                <a:cs typeface="Arial"/>
              </a:rPr>
              <a:t> </a:t>
            </a:r>
            <a:r>
              <a:rPr sz="900" dirty="0">
                <a:latin typeface="Arial"/>
                <a:cs typeface="Arial"/>
              </a:rPr>
              <a:t>template</a:t>
            </a:r>
            <a:r>
              <a:rPr sz="900" spc="150" dirty="0">
                <a:latin typeface="Arial"/>
                <a:cs typeface="Arial"/>
              </a:rPr>
              <a:t> </a:t>
            </a:r>
            <a:r>
              <a:rPr sz="900" spc="235" dirty="0">
                <a:latin typeface="Times New Roman"/>
                <a:cs typeface="Times New Roman"/>
              </a:rPr>
              <a:t>t</a:t>
            </a:r>
            <a:endParaRPr sz="900">
              <a:latin typeface="Times New Roman"/>
              <a:cs typeface="Times New Roman"/>
            </a:endParaRPr>
          </a:p>
          <a:p>
            <a:pPr marL="549910" indent="-114935">
              <a:lnSpc>
                <a:spcPct val="100000"/>
              </a:lnSpc>
              <a:spcBef>
                <a:spcPts val="125"/>
              </a:spcBef>
              <a:buClr>
                <a:srgbClr val="3333B2"/>
              </a:buClr>
              <a:buFont typeface="Apple Symbols"/>
              <a:buChar char="•"/>
              <a:tabLst>
                <a:tab pos="550545" algn="l"/>
              </a:tabLst>
            </a:pPr>
            <a:r>
              <a:rPr sz="900" spc="100" dirty="0">
                <a:latin typeface="Times New Roman"/>
                <a:cs typeface="Times New Roman"/>
              </a:rPr>
              <a:t>out(t)</a:t>
            </a:r>
            <a:r>
              <a:rPr sz="900" spc="100" dirty="0">
                <a:latin typeface="Arial"/>
                <a:cs typeface="Arial"/>
              </a:rPr>
              <a:t>:</a:t>
            </a:r>
            <a:r>
              <a:rPr sz="900" spc="45" dirty="0">
                <a:latin typeface="Arial"/>
                <a:cs typeface="Arial"/>
              </a:rPr>
              <a:t> </a:t>
            </a:r>
            <a:r>
              <a:rPr sz="900" dirty="0">
                <a:latin typeface="Arial"/>
                <a:cs typeface="Arial"/>
              </a:rPr>
              <a:t>add</a:t>
            </a:r>
            <a:r>
              <a:rPr sz="900" spc="-10" dirty="0">
                <a:latin typeface="Arial"/>
                <a:cs typeface="Arial"/>
              </a:rPr>
              <a:t> </a:t>
            </a:r>
            <a:r>
              <a:rPr sz="900" dirty="0">
                <a:latin typeface="Arial"/>
                <a:cs typeface="Arial"/>
              </a:rPr>
              <a:t>tuple</a:t>
            </a:r>
            <a:r>
              <a:rPr sz="900" spc="170" dirty="0">
                <a:latin typeface="Arial"/>
                <a:cs typeface="Arial"/>
              </a:rPr>
              <a:t> </a:t>
            </a:r>
            <a:r>
              <a:rPr sz="900" spc="285" dirty="0">
                <a:latin typeface="Times New Roman"/>
                <a:cs typeface="Times New Roman"/>
              </a:rPr>
              <a:t>t</a:t>
            </a:r>
            <a:r>
              <a:rPr sz="900" spc="-55" dirty="0">
                <a:latin typeface="Times New Roman"/>
                <a:cs typeface="Times New Roman"/>
              </a:rPr>
              <a:t> </a:t>
            </a:r>
            <a:r>
              <a:rPr sz="900" dirty="0">
                <a:latin typeface="Arial"/>
                <a:cs typeface="Arial"/>
              </a:rPr>
              <a:t>to</a:t>
            </a:r>
            <a:r>
              <a:rPr sz="900" spc="-10" dirty="0">
                <a:latin typeface="Arial"/>
                <a:cs typeface="Arial"/>
              </a:rPr>
              <a:t> </a:t>
            </a:r>
            <a:r>
              <a:rPr sz="900" dirty="0">
                <a:latin typeface="Arial"/>
                <a:cs typeface="Arial"/>
              </a:rPr>
              <a:t>the</a:t>
            </a:r>
            <a:r>
              <a:rPr sz="900" spc="-10" dirty="0">
                <a:latin typeface="Arial"/>
                <a:cs typeface="Arial"/>
              </a:rPr>
              <a:t> </a:t>
            </a:r>
            <a:r>
              <a:rPr sz="900" dirty="0">
                <a:latin typeface="Arial"/>
                <a:cs typeface="Arial"/>
              </a:rPr>
              <a:t>tuple</a:t>
            </a:r>
            <a:r>
              <a:rPr sz="900" spc="-10" dirty="0">
                <a:latin typeface="Arial"/>
                <a:cs typeface="Arial"/>
              </a:rPr>
              <a:t> space</a:t>
            </a:r>
            <a:endParaRPr sz="900">
              <a:latin typeface="Arial"/>
              <a:cs typeface="Arial"/>
            </a:endParaRPr>
          </a:p>
          <a:p>
            <a:pPr>
              <a:lnSpc>
                <a:spcPct val="100000"/>
              </a:lnSpc>
              <a:spcBef>
                <a:spcPts val="20"/>
              </a:spcBef>
              <a:buClr>
                <a:srgbClr val="3333B2"/>
              </a:buClr>
              <a:buFont typeface="Apple Symbols"/>
              <a:buChar char="•"/>
            </a:pPr>
            <a:endParaRPr sz="1200">
              <a:latin typeface="Arial"/>
              <a:cs typeface="Arial"/>
            </a:endParaRPr>
          </a:p>
          <a:p>
            <a:pPr marL="302260">
              <a:lnSpc>
                <a:spcPct val="100000"/>
              </a:lnSpc>
            </a:pPr>
            <a:r>
              <a:rPr sz="1000" dirty="0">
                <a:solidFill>
                  <a:srgbClr val="3333B2"/>
                </a:solidFill>
                <a:latin typeface="Arial"/>
                <a:cs typeface="Arial"/>
              </a:rPr>
              <a:t>More</a:t>
            </a:r>
            <a:r>
              <a:rPr sz="1000" spc="-30" dirty="0">
                <a:solidFill>
                  <a:srgbClr val="3333B2"/>
                </a:solidFill>
                <a:latin typeface="Arial"/>
                <a:cs typeface="Arial"/>
              </a:rPr>
              <a:t> </a:t>
            </a:r>
            <a:r>
              <a:rPr sz="1000" spc="-10" dirty="0">
                <a:solidFill>
                  <a:srgbClr val="3333B2"/>
                </a:solidFill>
                <a:latin typeface="Arial"/>
                <a:cs typeface="Arial"/>
              </a:rPr>
              <a:t>details</a:t>
            </a:r>
            <a:endParaRPr sz="1000">
              <a:latin typeface="Arial"/>
              <a:cs typeface="Arial"/>
            </a:endParaRPr>
          </a:p>
          <a:p>
            <a:pPr marL="555625" marR="49530" indent="-120650">
              <a:lnSpc>
                <a:spcPct val="111600"/>
              </a:lnSpc>
              <a:spcBef>
                <a:spcPts val="375"/>
              </a:spcBef>
              <a:buClr>
                <a:srgbClr val="3333B2"/>
              </a:buClr>
              <a:buFont typeface="Apple Symbols"/>
              <a:buChar char="•"/>
              <a:tabLst>
                <a:tab pos="556260" algn="l"/>
              </a:tabLst>
            </a:pPr>
            <a:r>
              <a:rPr sz="900" dirty="0">
                <a:latin typeface="Arial"/>
                <a:cs typeface="Arial"/>
              </a:rPr>
              <a:t>Calling</a:t>
            </a:r>
            <a:r>
              <a:rPr sz="900" spc="155" dirty="0">
                <a:latin typeface="Arial"/>
                <a:cs typeface="Arial"/>
              </a:rPr>
              <a:t> </a:t>
            </a:r>
            <a:r>
              <a:rPr sz="900" spc="125" dirty="0">
                <a:latin typeface="Times New Roman"/>
                <a:cs typeface="Times New Roman"/>
              </a:rPr>
              <a:t>out(t)</a:t>
            </a:r>
            <a:r>
              <a:rPr sz="900" spc="-55" dirty="0">
                <a:latin typeface="Times New Roman"/>
                <a:cs typeface="Times New Roman"/>
              </a:rPr>
              <a:t> </a:t>
            </a:r>
            <a:r>
              <a:rPr sz="900" dirty="0">
                <a:latin typeface="Arial"/>
                <a:cs typeface="Arial"/>
              </a:rPr>
              <a:t>twice</a:t>
            </a:r>
            <a:r>
              <a:rPr sz="900" spc="-20" dirty="0">
                <a:latin typeface="Arial"/>
                <a:cs typeface="Arial"/>
              </a:rPr>
              <a:t> </a:t>
            </a:r>
            <a:r>
              <a:rPr sz="900" dirty="0">
                <a:latin typeface="Arial"/>
                <a:cs typeface="Arial"/>
              </a:rPr>
              <a:t>in</a:t>
            </a:r>
            <a:r>
              <a:rPr sz="900" spc="-20" dirty="0">
                <a:latin typeface="Arial"/>
                <a:cs typeface="Arial"/>
              </a:rPr>
              <a:t> </a:t>
            </a:r>
            <a:r>
              <a:rPr sz="900" dirty="0">
                <a:latin typeface="Arial"/>
                <a:cs typeface="Arial"/>
              </a:rPr>
              <a:t>a</a:t>
            </a:r>
            <a:r>
              <a:rPr sz="900" spc="-15" dirty="0">
                <a:latin typeface="Arial"/>
                <a:cs typeface="Arial"/>
              </a:rPr>
              <a:t> </a:t>
            </a:r>
            <a:r>
              <a:rPr sz="900" spc="-10" dirty="0">
                <a:latin typeface="Arial"/>
                <a:cs typeface="Arial"/>
              </a:rPr>
              <a:t>row,</a:t>
            </a:r>
            <a:r>
              <a:rPr sz="900" spc="-20" dirty="0">
                <a:latin typeface="Arial"/>
                <a:cs typeface="Arial"/>
              </a:rPr>
              <a:t> </a:t>
            </a:r>
            <a:r>
              <a:rPr sz="900" dirty="0">
                <a:latin typeface="Arial"/>
                <a:cs typeface="Arial"/>
              </a:rPr>
              <a:t>leads</a:t>
            </a:r>
            <a:r>
              <a:rPr sz="900" spc="-15"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storing</a:t>
            </a:r>
            <a:r>
              <a:rPr sz="900" spc="-15" dirty="0">
                <a:latin typeface="Arial"/>
                <a:cs typeface="Arial"/>
              </a:rPr>
              <a:t> </a:t>
            </a:r>
            <a:r>
              <a:rPr sz="900" dirty="0">
                <a:solidFill>
                  <a:srgbClr val="C80000"/>
                </a:solidFill>
                <a:latin typeface="Arial"/>
                <a:cs typeface="Arial"/>
              </a:rPr>
              <a:t>two</a:t>
            </a:r>
            <a:r>
              <a:rPr sz="900" spc="-20" dirty="0">
                <a:solidFill>
                  <a:srgbClr val="C80000"/>
                </a:solidFill>
                <a:latin typeface="Arial"/>
                <a:cs typeface="Arial"/>
              </a:rPr>
              <a:t> </a:t>
            </a:r>
            <a:r>
              <a:rPr sz="900" dirty="0">
                <a:latin typeface="Arial"/>
                <a:cs typeface="Arial"/>
              </a:rPr>
              <a:t>copies</a:t>
            </a:r>
            <a:r>
              <a:rPr sz="900" spc="-15" dirty="0">
                <a:latin typeface="Arial"/>
                <a:cs typeface="Arial"/>
              </a:rPr>
              <a:t> </a:t>
            </a:r>
            <a:r>
              <a:rPr sz="900" dirty="0">
                <a:latin typeface="Arial"/>
                <a:cs typeface="Arial"/>
              </a:rPr>
              <a:t>of</a:t>
            </a:r>
            <a:r>
              <a:rPr sz="900" spc="-20" dirty="0">
                <a:latin typeface="Arial"/>
                <a:cs typeface="Arial"/>
              </a:rPr>
              <a:t> </a:t>
            </a:r>
            <a:r>
              <a:rPr sz="900" dirty="0">
                <a:latin typeface="Arial"/>
                <a:cs typeface="Arial"/>
              </a:rPr>
              <a:t>tuple</a:t>
            </a:r>
            <a:r>
              <a:rPr sz="900" spc="160" dirty="0">
                <a:latin typeface="Arial"/>
                <a:cs typeface="Arial"/>
              </a:rPr>
              <a:t> </a:t>
            </a:r>
            <a:r>
              <a:rPr sz="900" spc="285" dirty="0">
                <a:latin typeface="Times New Roman"/>
                <a:cs typeface="Times New Roman"/>
              </a:rPr>
              <a:t>t</a:t>
            </a:r>
            <a:r>
              <a:rPr sz="900" spc="-55" dirty="0">
                <a:latin typeface="Times New Roman"/>
                <a:cs typeface="Times New Roman"/>
              </a:rPr>
              <a:t> </a:t>
            </a:r>
            <a:r>
              <a:rPr sz="900" spc="295" dirty="0">
                <a:latin typeface="Apple Symbols"/>
                <a:cs typeface="Apple Symbols"/>
              </a:rPr>
              <a:t>⇒</a:t>
            </a:r>
            <a:r>
              <a:rPr sz="900" spc="-65" dirty="0">
                <a:latin typeface="Apple Symbols"/>
                <a:cs typeface="Apple Symbols"/>
              </a:rPr>
              <a:t> </a:t>
            </a:r>
            <a:r>
              <a:rPr sz="900" spc="-50" dirty="0">
                <a:latin typeface="Arial"/>
                <a:cs typeface="Arial"/>
              </a:rPr>
              <a:t>a</a:t>
            </a:r>
            <a:r>
              <a:rPr sz="900" dirty="0">
                <a:latin typeface="Arial"/>
                <a:cs typeface="Arial"/>
              </a:rPr>
              <a:t> tuple</a:t>
            </a:r>
            <a:r>
              <a:rPr sz="900" spc="-25" dirty="0">
                <a:latin typeface="Arial"/>
                <a:cs typeface="Arial"/>
              </a:rPr>
              <a:t> </a:t>
            </a:r>
            <a:r>
              <a:rPr sz="900" dirty="0">
                <a:latin typeface="Arial"/>
                <a:cs typeface="Arial"/>
              </a:rPr>
              <a:t>space</a:t>
            </a:r>
            <a:r>
              <a:rPr sz="900" spc="-20"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modeled</a:t>
            </a:r>
            <a:r>
              <a:rPr sz="900" spc="-25" dirty="0">
                <a:latin typeface="Arial"/>
                <a:cs typeface="Arial"/>
              </a:rPr>
              <a:t> </a:t>
            </a:r>
            <a:r>
              <a:rPr sz="900" dirty="0">
                <a:latin typeface="Arial"/>
                <a:cs typeface="Arial"/>
              </a:rPr>
              <a:t>as</a:t>
            </a:r>
            <a:r>
              <a:rPr sz="900" spc="-20" dirty="0">
                <a:latin typeface="Arial"/>
                <a:cs typeface="Arial"/>
              </a:rPr>
              <a:t> </a:t>
            </a:r>
            <a:r>
              <a:rPr sz="900" dirty="0">
                <a:latin typeface="Arial"/>
                <a:cs typeface="Arial"/>
              </a:rPr>
              <a:t>a</a:t>
            </a:r>
            <a:r>
              <a:rPr sz="900" spc="-20" dirty="0">
                <a:latin typeface="Arial"/>
                <a:cs typeface="Arial"/>
              </a:rPr>
              <a:t> </a:t>
            </a:r>
            <a:r>
              <a:rPr sz="900" spc="-10" dirty="0">
                <a:solidFill>
                  <a:srgbClr val="3333B2"/>
                </a:solidFill>
                <a:latin typeface="Arial"/>
                <a:cs typeface="Arial"/>
              </a:rPr>
              <a:t>multiset</a:t>
            </a:r>
            <a:r>
              <a:rPr sz="900" spc="-10" dirty="0">
                <a:latin typeface="Arial"/>
                <a:cs typeface="Arial"/>
              </a:rPr>
              <a:t>.</a:t>
            </a:r>
            <a:endParaRPr sz="900">
              <a:latin typeface="Arial"/>
              <a:cs typeface="Arial"/>
            </a:endParaRPr>
          </a:p>
          <a:p>
            <a:pPr marL="555625" marR="43180" indent="-120650">
              <a:lnSpc>
                <a:spcPct val="111600"/>
              </a:lnSpc>
              <a:buClr>
                <a:srgbClr val="3333B2"/>
              </a:buClr>
              <a:buFont typeface="Apple Symbols"/>
              <a:buChar char="•"/>
              <a:tabLst>
                <a:tab pos="556260" algn="l"/>
              </a:tabLst>
            </a:pPr>
            <a:r>
              <a:rPr sz="900" dirty="0">
                <a:latin typeface="Arial"/>
                <a:cs typeface="Arial"/>
              </a:rPr>
              <a:t>Both</a:t>
            </a:r>
            <a:r>
              <a:rPr sz="900" spc="155" dirty="0">
                <a:latin typeface="Arial"/>
                <a:cs typeface="Arial"/>
              </a:rPr>
              <a:t> </a:t>
            </a:r>
            <a:r>
              <a:rPr sz="900" spc="140" dirty="0">
                <a:latin typeface="Times New Roman"/>
                <a:cs typeface="Times New Roman"/>
              </a:rPr>
              <a:t>in</a:t>
            </a:r>
            <a:r>
              <a:rPr sz="900" spc="-55" dirty="0">
                <a:latin typeface="Times New Roman"/>
                <a:cs typeface="Times New Roman"/>
              </a:rPr>
              <a:t> </a:t>
            </a:r>
            <a:r>
              <a:rPr sz="900" dirty="0">
                <a:latin typeface="Arial"/>
                <a:cs typeface="Arial"/>
              </a:rPr>
              <a:t>and</a:t>
            </a:r>
            <a:r>
              <a:rPr sz="900" spc="160" dirty="0">
                <a:latin typeface="Arial"/>
                <a:cs typeface="Arial"/>
              </a:rPr>
              <a:t> </a:t>
            </a:r>
            <a:r>
              <a:rPr sz="900" spc="114" dirty="0">
                <a:latin typeface="Times New Roman"/>
                <a:cs typeface="Times New Roman"/>
              </a:rPr>
              <a:t>rd</a:t>
            </a:r>
            <a:r>
              <a:rPr sz="900" spc="-55" dirty="0">
                <a:latin typeface="Times New Roman"/>
                <a:cs typeface="Times New Roman"/>
              </a:rPr>
              <a:t> </a:t>
            </a:r>
            <a:r>
              <a:rPr sz="900" dirty="0">
                <a:latin typeface="Arial"/>
                <a:cs typeface="Arial"/>
              </a:rPr>
              <a:t>are</a:t>
            </a:r>
            <a:r>
              <a:rPr sz="900" spc="-20" dirty="0">
                <a:latin typeface="Arial"/>
                <a:cs typeface="Arial"/>
              </a:rPr>
              <a:t> </a:t>
            </a:r>
            <a:r>
              <a:rPr sz="900" spc="-10" dirty="0">
                <a:solidFill>
                  <a:srgbClr val="3333B2"/>
                </a:solidFill>
                <a:latin typeface="Arial"/>
                <a:cs typeface="Arial"/>
              </a:rPr>
              <a:t>blocking</a:t>
            </a:r>
            <a:r>
              <a:rPr sz="900" spc="-15" dirty="0">
                <a:solidFill>
                  <a:srgbClr val="3333B2"/>
                </a:solidFill>
                <a:latin typeface="Arial"/>
                <a:cs typeface="Arial"/>
              </a:rPr>
              <a:t> </a:t>
            </a:r>
            <a:r>
              <a:rPr sz="900" dirty="0">
                <a:latin typeface="Arial"/>
                <a:cs typeface="Arial"/>
              </a:rPr>
              <a:t>operations:</a:t>
            </a:r>
            <a:r>
              <a:rPr sz="900" spc="35" dirty="0">
                <a:latin typeface="Arial"/>
                <a:cs typeface="Arial"/>
              </a:rPr>
              <a:t> </a:t>
            </a:r>
            <a:r>
              <a:rPr sz="900" dirty="0">
                <a:latin typeface="Arial"/>
                <a:cs typeface="Arial"/>
              </a:rPr>
              <a:t>the</a:t>
            </a:r>
            <a:r>
              <a:rPr sz="900" spc="-15" dirty="0">
                <a:latin typeface="Arial"/>
                <a:cs typeface="Arial"/>
              </a:rPr>
              <a:t> </a:t>
            </a:r>
            <a:r>
              <a:rPr sz="900" dirty="0">
                <a:latin typeface="Arial"/>
                <a:cs typeface="Arial"/>
              </a:rPr>
              <a:t>caller</a:t>
            </a:r>
            <a:r>
              <a:rPr sz="900" spc="-20" dirty="0">
                <a:latin typeface="Arial"/>
                <a:cs typeface="Arial"/>
              </a:rPr>
              <a:t> </a:t>
            </a:r>
            <a:r>
              <a:rPr sz="900" dirty="0">
                <a:latin typeface="Arial"/>
                <a:cs typeface="Arial"/>
              </a:rPr>
              <a:t>will</a:t>
            </a:r>
            <a:r>
              <a:rPr sz="900" spc="-15" dirty="0">
                <a:latin typeface="Arial"/>
                <a:cs typeface="Arial"/>
              </a:rPr>
              <a:t> </a:t>
            </a:r>
            <a:r>
              <a:rPr sz="900" dirty="0">
                <a:latin typeface="Arial"/>
                <a:cs typeface="Arial"/>
              </a:rPr>
              <a:t>be</a:t>
            </a:r>
            <a:r>
              <a:rPr sz="900" spc="-20" dirty="0">
                <a:latin typeface="Arial"/>
                <a:cs typeface="Arial"/>
              </a:rPr>
              <a:t> </a:t>
            </a:r>
            <a:r>
              <a:rPr sz="900" spc="-10" dirty="0">
                <a:latin typeface="Arial"/>
                <a:cs typeface="Arial"/>
              </a:rPr>
              <a:t>blocked</a:t>
            </a:r>
            <a:r>
              <a:rPr sz="900" spc="-15" dirty="0">
                <a:latin typeface="Arial"/>
                <a:cs typeface="Arial"/>
              </a:rPr>
              <a:t> </a:t>
            </a:r>
            <a:r>
              <a:rPr sz="900" dirty="0">
                <a:latin typeface="Arial"/>
                <a:cs typeface="Arial"/>
              </a:rPr>
              <a:t>until</a:t>
            </a:r>
            <a:r>
              <a:rPr sz="900" spc="-20" dirty="0">
                <a:latin typeface="Arial"/>
                <a:cs typeface="Arial"/>
              </a:rPr>
              <a:t> </a:t>
            </a:r>
            <a:r>
              <a:rPr sz="900" spc="-50" dirty="0">
                <a:latin typeface="Arial"/>
                <a:cs typeface="Arial"/>
              </a:rPr>
              <a:t>a</a:t>
            </a:r>
            <a:r>
              <a:rPr sz="900" dirty="0">
                <a:latin typeface="Arial"/>
                <a:cs typeface="Arial"/>
              </a:rPr>
              <a:t> matching</a:t>
            </a:r>
            <a:r>
              <a:rPr sz="900" spc="-30" dirty="0">
                <a:latin typeface="Arial"/>
                <a:cs typeface="Arial"/>
              </a:rPr>
              <a:t> </a:t>
            </a:r>
            <a:r>
              <a:rPr sz="900" dirty="0">
                <a:latin typeface="Arial"/>
                <a:cs typeface="Arial"/>
              </a:rPr>
              <a:t>tuple</a:t>
            </a:r>
            <a:r>
              <a:rPr sz="900" spc="-30" dirty="0">
                <a:latin typeface="Arial"/>
                <a:cs typeface="Arial"/>
              </a:rPr>
              <a:t> </a:t>
            </a:r>
            <a:r>
              <a:rPr sz="900" dirty="0">
                <a:latin typeface="Arial"/>
                <a:cs typeface="Arial"/>
              </a:rPr>
              <a:t>is</a:t>
            </a:r>
            <a:r>
              <a:rPr sz="900" spc="-30" dirty="0">
                <a:latin typeface="Arial"/>
                <a:cs typeface="Arial"/>
              </a:rPr>
              <a:t> </a:t>
            </a:r>
            <a:r>
              <a:rPr sz="900" dirty="0">
                <a:latin typeface="Arial"/>
                <a:cs typeface="Arial"/>
              </a:rPr>
              <a:t>found,</a:t>
            </a:r>
            <a:r>
              <a:rPr sz="900" spc="-30" dirty="0">
                <a:latin typeface="Arial"/>
                <a:cs typeface="Arial"/>
              </a:rPr>
              <a:t> </a:t>
            </a:r>
            <a:r>
              <a:rPr sz="900" dirty="0">
                <a:latin typeface="Arial"/>
                <a:cs typeface="Arial"/>
              </a:rPr>
              <a:t>or</a:t>
            </a:r>
            <a:r>
              <a:rPr sz="900" spc="-30" dirty="0">
                <a:latin typeface="Arial"/>
                <a:cs typeface="Arial"/>
              </a:rPr>
              <a:t> </a:t>
            </a:r>
            <a:r>
              <a:rPr sz="900" dirty="0">
                <a:latin typeface="Arial"/>
                <a:cs typeface="Arial"/>
              </a:rPr>
              <a:t>has</a:t>
            </a:r>
            <a:r>
              <a:rPr sz="900" spc="-30" dirty="0">
                <a:latin typeface="Arial"/>
                <a:cs typeface="Arial"/>
              </a:rPr>
              <a:t> </a:t>
            </a:r>
            <a:r>
              <a:rPr sz="900" dirty="0">
                <a:latin typeface="Arial"/>
                <a:cs typeface="Arial"/>
              </a:rPr>
              <a:t>become</a:t>
            </a:r>
            <a:r>
              <a:rPr sz="900" spc="-30" dirty="0">
                <a:latin typeface="Arial"/>
                <a:cs typeface="Arial"/>
              </a:rPr>
              <a:t> </a:t>
            </a:r>
            <a:r>
              <a:rPr sz="900" spc="-10" dirty="0">
                <a:latin typeface="Arial"/>
                <a:cs typeface="Arial"/>
              </a:rPr>
              <a:t>available.</a:t>
            </a:r>
            <a:endParaRPr sz="900">
              <a:latin typeface="Arial"/>
              <a:cs typeface="Arial"/>
            </a:endParaRPr>
          </a:p>
        </p:txBody>
      </p:sp>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90424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Publish-</a:t>
            </a:r>
            <a:r>
              <a:rPr sz="500" dirty="0">
                <a:latin typeface="Arial"/>
                <a:cs typeface="Arial"/>
                <a:hlinkClick r:id="rId3" action="ppaction://hlinksldjump"/>
              </a:rPr>
              <a:t>subscribe</a:t>
            </a:r>
            <a:r>
              <a:rPr sz="500" spc="30" dirty="0">
                <a:latin typeface="Arial"/>
                <a:cs typeface="Arial"/>
                <a:hlinkClick r:id="rId3" action="ppaction://hlinksldjump"/>
              </a:rPr>
              <a:t> </a:t>
            </a:r>
            <a:r>
              <a:rPr sz="500" spc="-10" dirty="0">
                <a:latin typeface="Arial"/>
                <a:cs typeface="Arial"/>
                <a:hlinkClick r:id="rId3" action="ppaction://hlinksldjump"/>
              </a:rPr>
              <a:t>architectures</a:t>
            </a:r>
            <a:endParaRPr sz="500">
              <a:latin typeface="Arial"/>
              <a:cs typeface="Arial"/>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Architectures</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998925" y="-1515"/>
            <a:ext cx="555625"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2" action="ppaction://hlinksldjump"/>
              </a:rPr>
              <a:t>Architectural</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styles</a:t>
            </a:r>
            <a:endParaRPr sz="500">
              <a:latin typeface="Arial"/>
              <a:cs typeface="Arial"/>
            </a:endParaRPr>
          </a:p>
        </p:txBody>
      </p:sp>
      <p:sp>
        <p:nvSpPr>
          <p:cNvPr id="5" name="object 5"/>
          <p:cNvSpPr txBox="1"/>
          <p:nvPr/>
        </p:nvSpPr>
        <p:spPr>
          <a:xfrm>
            <a:off x="423214" y="868154"/>
            <a:ext cx="259715" cy="162560"/>
          </a:xfrm>
          <a:prstGeom prst="rect">
            <a:avLst/>
          </a:prstGeom>
        </p:spPr>
        <p:txBody>
          <a:bodyPr vert="horz" wrap="square" lIns="0" tIns="12065" rIns="0" bIns="0" rtlCol="0">
            <a:spAutoFit/>
          </a:bodyPr>
          <a:lstStyle/>
          <a:p>
            <a:pPr marL="12700">
              <a:lnSpc>
                <a:spcPct val="100000"/>
              </a:lnSpc>
              <a:spcBef>
                <a:spcPts val="95"/>
              </a:spcBef>
            </a:pPr>
            <a:r>
              <a:rPr sz="900" spc="-20" dirty="0">
                <a:solidFill>
                  <a:srgbClr val="3333B2"/>
                </a:solidFill>
                <a:latin typeface="Arial"/>
                <a:cs typeface="Arial"/>
              </a:rPr>
              <a:t>Bob</a:t>
            </a:r>
            <a:r>
              <a:rPr sz="900" spc="-20" dirty="0">
                <a:latin typeface="Arial"/>
                <a:cs typeface="Arial"/>
              </a:rPr>
              <a:t>:</a:t>
            </a:r>
            <a:endParaRPr sz="900">
              <a:latin typeface="Arial"/>
              <a:cs typeface="Arial"/>
            </a:endParaRPr>
          </a:p>
        </p:txBody>
      </p:sp>
      <p:sp>
        <p:nvSpPr>
          <p:cNvPr id="6" name="object 6"/>
          <p:cNvSpPr txBox="1"/>
          <p:nvPr/>
        </p:nvSpPr>
        <p:spPr>
          <a:xfrm>
            <a:off x="95300" y="92311"/>
            <a:ext cx="2798445" cy="845185"/>
          </a:xfrm>
          <a:prstGeom prst="rect">
            <a:avLst/>
          </a:prstGeom>
        </p:spPr>
        <p:txBody>
          <a:bodyPr vert="horz" wrap="square" lIns="0" tIns="117475" rIns="0" bIns="0" rtlCol="0">
            <a:spAutoFit/>
          </a:bodyPr>
          <a:lstStyle/>
          <a:p>
            <a:pPr marR="889635" algn="ctr">
              <a:lnSpc>
                <a:spcPct val="100000"/>
              </a:lnSpc>
              <a:spcBef>
                <a:spcPts val="925"/>
              </a:spcBef>
            </a:pPr>
            <a:r>
              <a:rPr sz="1200" dirty="0">
                <a:solidFill>
                  <a:srgbClr val="3333B2"/>
                </a:solidFill>
                <a:latin typeface="Arial"/>
                <a:cs typeface="Arial"/>
              </a:rPr>
              <a:t>Example:</a:t>
            </a:r>
            <a:r>
              <a:rPr sz="1200" spc="30" dirty="0">
                <a:solidFill>
                  <a:srgbClr val="3333B2"/>
                </a:solidFill>
                <a:latin typeface="Arial"/>
                <a:cs typeface="Arial"/>
              </a:rPr>
              <a:t> </a:t>
            </a:r>
            <a:r>
              <a:rPr sz="1200" dirty="0">
                <a:solidFill>
                  <a:srgbClr val="3333B2"/>
                </a:solidFill>
                <a:latin typeface="Arial"/>
                <a:cs typeface="Arial"/>
              </a:rPr>
              <a:t>Linda</a:t>
            </a:r>
            <a:r>
              <a:rPr sz="1200" spc="-35" dirty="0">
                <a:solidFill>
                  <a:srgbClr val="3333B2"/>
                </a:solidFill>
                <a:latin typeface="Arial"/>
                <a:cs typeface="Arial"/>
              </a:rPr>
              <a:t> </a:t>
            </a:r>
            <a:r>
              <a:rPr sz="1200" dirty="0">
                <a:solidFill>
                  <a:srgbClr val="3333B2"/>
                </a:solidFill>
                <a:latin typeface="Arial"/>
                <a:cs typeface="Arial"/>
              </a:rPr>
              <a:t>tuple</a:t>
            </a:r>
            <a:r>
              <a:rPr sz="1200" spc="-40" dirty="0">
                <a:solidFill>
                  <a:srgbClr val="3333B2"/>
                </a:solidFill>
                <a:latin typeface="Arial"/>
                <a:cs typeface="Arial"/>
              </a:rPr>
              <a:t> </a:t>
            </a:r>
            <a:r>
              <a:rPr sz="1200" spc="-10" dirty="0">
                <a:solidFill>
                  <a:srgbClr val="3333B2"/>
                </a:solidFill>
                <a:latin typeface="Arial"/>
                <a:cs typeface="Arial"/>
              </a:rPr>
              <a:t>space</a:t>
            </a:r>
            <a:endParaRPr sz="1200" dirty="0">
              <a:latin typeface="Arial"/>
              <a:cs typeface="Arial"/>
            </a:endParaRPr>
          </a:p>
          <a:p>
            <a:pPr marL="938530">
              <a:lnSpc>
                <a:spcPts val="780"/>
              </a:lnSpc>
              <a:spcBef>
                <a:spcPts val="480"/>
              </a:spcBef>
            </a:pPr>
            <a:r>
              <a:rPr sz="500" dirty="0">
                <a:latin typeface="Times New Roman"/>
                <a:cs typeface="Times New Roman"/>
              </a:rPr>
              <a:t>1</a:t>
            </a:r>
            <a:r>
              <a:rPr sz="500" spc="204" dirty="0">
                <a:latin typeface="Times New Roman"/>
                <a:cs typeface="Times New Roman"/>
              </a:rPr>
              <a:t>  </a:t>
            </a:r>
            <a:r>
              <a:rPr sz="700" b="1" dirty="0">
                <a:solidFill>
                  <a:srgbClr val="FF0059"/>
                </a:solidFill>
                <a:latin typeface="Times New Roman"/>
                <a:cs typeface="Times New Roman"/>
              </a:rPr>
              <a:t>import</a:t>
            </a:r>
            <a:r>
              <a:rPr sz="700" b="1" spc="114" dirty="0">
                <a:solidFill>
                  <a:srgbClr val="FF0059"/>
                </a:solidFill>
                <a:latin typeface="Times New Roman"/>
                <a:cs typeface="Times New Roman"/>
              </a:rPr>
              <a:t> </a:t>
            </a:r>
            <a:r>
              <a:rPr sz="700" spc="75" dirty="0">
                <a:latin typeface="Times New Roman"/>
                <a:cs typeface="Times New Roman"/>
              </a:rPr>
              <a:t>linda</a:t>
            </a:r>
            <a:endParaRPr sz="700" dirty="0">
              <a:latin typeface="Times New Roman"/>
              <a:cs typeface="Times New Roman"/>
            </a:endParaRPr>
          </a:p>
          <a:p>
            <a:pPr marL="938530">
              <a:lnSpc>
                <a:spcPts val="780"/>
              </a:lnSpc>
            </a:pPr>
            <a:r>
              <a:rPr sz="500" dirty="0">
                <a:latin typeface="Times New Roman"/>
                <a:cs typeface="Times New Roman"/>
              </a:rPr>
              <a:t>2</a:t>
            </a:r>
            <a:r>
              <a:rPr sz="500" spc="455" dirty="0">
                <a:latin typeface="Times New Roman"/>
                <a:cs typeface="Times New Roman"/>
              </a:rPr>
              <a:t> </a:t>
            </a:r>
            <a:r>
              <a:rPr sz="700" spc="60" dirty="0">
                <a:latin typeface="Times New Roman"/>
                <a:cs typeface="Times New Roman"/>
              </a:rPr>
              <a:t>linda.connect()</a:t>
            </a:r>
            <a:endParaRPr sz="700" dirty="0">
              <a:latin typeface="Times New Roman"/>
              <a:cs typeface="Times New Roman"/>
            </a:endParaRPr>
          </a:p>
          <a:p>
            <a:pPr marR="875030" algn="ctr">
              <a:lnSpc>
                <a:spcPts val="560"/>
              </a:lnSpc>
              <a:spcBef>
                <a:spcPts val="75"/>
              </a:spcBef>
            </a:pPr>
            <a:r>
              <a:rPr sz="500" spc="45" dirty="0">
                <a:latin typeface="Times New Roman"/>
                <a:cs typeface="Times New Roman"/>
              </a:rPr>
              <a:t>3</a:t>
            </a:r>
            <a:endParaRPr sz="500" dirty="0">
              <a:latin typeface="Times New Roman"/>
              <a:cs typeface="Times New Roman"/>
            </a:endParaRPr>
          </a:p>
          <a:p>
            <a:pPr marL="938530">
              <a:lnSpc>
                <a:spcPts val="735"/>
              </a:lnSpc>
            </a:pPr>
            <a:r>
              <a:rPr sz="500" dirty="0">
                <a:latin typeface="Times New Roman"/>
                <a:cs typeface="Times New Roman"/>
              </a:rPr>
              <a:t>4</a:t>
            </a:r>
            <a:r>
              <a:rPr sz="500" spc="450" dirty="0">
                <a:latin typeface="Times New Roman"/>
                <a:cs typeface="Times New Roman"/>
              </a:rPr>
              <a:t> </a:t>
            </a:r>
            <a:r>
              <a:rPr sz="700" spc="60" dirty="0">
                <a:latin typeface="Times New Roman"/>
                <a:cs typeface="Times New Roman"/>
              </a:rPr>
              <a:t>blog</a:t>
            </a:r>
            <a:r>
              <a:rPr sz="700" spc="95" dirty="0">
                <a:latin typeface="Times New Roman"/>
                <a:cs typeface="Times New Roman"/>
              </a:rPr>
              <a:t> </a:t>
            </a:r>
            <a:r>
              <a:rPr sz="700" dirty="0">
                <a:latin typeface="Times New Roman"/>
                <a:cs typeface="Times New Roman"/>
              </a:rPr>
              <a:t>=</a:t>
            </a:r>
            <a:r>
              <a:rPr sz="700" spc="100" dirty="0">
                <a:latin typeface="Times New Roman"/>
                <a:cs typeface="Times New Roman"/>
              </a:rPr>
              <a:t> </a:t>
            </a:r>
            <a:r>
              <a:rPr sz="700" spc="40" dirty="0">
                <a:latin typeface="Times New Roman"/>
                <a:cs typeface="Times New Roman"/>
              </a:rPr>
              <a:t>linda.TupleSpace()</a:t>
            </a:r>
            <a:endParaRPr sz="700" dirty="0">
              <a:latin typeface="Times New Roman"/>
              <a:cs typeface="Times New Roman"/>
            </a:endParaRPr>
          </a:p>
          <a:p>
            <a:pPr marL="938530">
              <a:lnSpc>
                <a:spcPts val="780"/>
              </a:lnSpc>
            </a:pPr>
            <a:r>
              <a:rPr sz="500" dirty="0">
                <a:latin typeface="Times New Roman"/>
                <a:cs typeface="Times New Roman"/>
              </a:rPr>
              <a:t>5</a:t>
            </a:r>
            <a:r>
              <a:rPr sz="500" spc="455" dirty="0">
                <a:latin typeface="Times New Roman"/>
                <a:cs typeface="Times New Roman"/>
              </a:rPr>
              <a:t> </a:t>
            </a:r>
            <a:r>
              <a:rPr sz="700" spc="45" dirty="0">
                <a:latin typeface="Times New Roman"/>
                <a:cs typeface="Times New Roman"/>
              </a:rPr>
              <a:t>linda.universe._out((</a:t>
            </a:r>
            <a:r>
              <a:rPr sz="700" spc="45" dirty="0">
                <a:solidFill>
                  <a:srgbClr val="C80000"/>
                </a:solidFill>
                <a:latin typeface="Times New Roman"/>
                <a:cs typeface="Times New Roman"/>
              </a:rPr>
              <a:t>"MicroBlog"</a:t>
            </a:r>
            <a:r>
              <a:rPr sz="700" spc="45" dirty="0">
                <a:latin typeface="Times New Roman"/>
                <a:cs typeface="Times New Roman"/>
              </a:rPr>
              <a:t>,blog))</a:t>
            </a:r>
            <a:endParaRPr sz="700" dirty="0">
              <a:latin typeface="Times New Roman"/>
              <a:cs typeface="Times New Roman"/>
            </a:endParaRPr>
          </a:p>
        </p:txBody>
      </p:sp>
      <p:sp>
        <p:nvSpPr>
          <p:cNvPr id="7" name="object 7"/>
          <p:cNvSpPr txBox="1"/>
          <p:nvPr/>
        </p:nvSpPr>
        <p:spPr>
          <a:xfrm>
            <a:off x="983475" y="922181"/>
            <a:ext cx="3017520" cy="561975"/>
          </a:xfrm>
          <a:prstGeom prst="rect">
            <a:avLst/>
          </a:prstGeom>
        </p:spPr>
        <p:txBody>
          <a:bodyPr vert="horz" wrap="square" lIns="0" tIns="12065" rIns="0" bIns="0" rtlCol="0">
            <a:spAutoFit/>
          </a:bodyPr>
          <a:lstStyle/>
          <a:p>
            <a:pPr marL="50165">
              <a:lnSpc>
                <a:spcPts val="560"/>
              </a:lnSpc>
              <a:spcBef>
                <a:spcPts val="95"/>
              </a:spcBef>
            </a:pPr>
            <a:r>
              <a:rPr sz="500" spc="45" dirty="0">
                <a:latin typeface="Times New Roman"/>
                <a:cs typeface="Times New Roman"/>
              </a:rPr>
              <a:t>6</a:t>
            </a:r>
            <a:endParaRPr sz="500" dirty="0">
              <a:latin typeface="Times New Roman"/>
              <a:cs typeface="Times New Roman"/>
            </a:endParaRPr>
          </a:p>
          <a:p>
            <a:pPr marL="50165">
              <a:lnSpc>
                <a:spcPts val="800"/>
              </a:lnSpc>
            </a:pPr>
            <a:r>
              <a:rPr sz="500" dirty="0">
                <a:latin typeface="Times New Roman"/>
                <a:cs typeface="Times New Roman"/>
              </a:rPr>
              <a:t>7</a:t>
            </a:r>
            <a:r>
              <a:rPr sz="500" spc="480" dirty="0">
                <a:latin typeface="Times New Roman"/>
                <a:cs typeface="Times New Roman"/>
              </a:rPr>
              <a:t> </a:t>
            </a:r>
            <a:r>
              <a:rPr sz="700" spc="60" dirty="0">
                <a:latin typeface="Times New Roman"/>
                <a:cs typeface="Times New Roman"/>
              </a:rPr>
              <a:t>blog</a:t>
            </a:r>
            <a:r>
              <a:rPr sz="700" spc="114" dirty="0">
                <a:latin typeface="Times New Roman"/>
                <a:cs typeface="Times New Roman"/>
              </a:rPr>
              <a:t> </a:t>
            </a:r>
            <a:r>
              <a:rPr sz="700" dirty="0">
                <a:latin typeface="Times New Roman"/>
                <a:cs typeface="Times New Roman"/>
              </a:rPr>
              <a:t>=</a:t>
            </a:r>
            <a:r>
              <a:rPr sz="700" spc="110" dirty="0">
                <a:latin typeface="Times New Roman"/>
                <a:cs typeface="Times New Roman"/>
              </a:rPr>
              <a:t> </a:t>
            </a:r>
            <a:r>
              <a:rPr sz="700" spc="40" dirty="0">
                <a:latin typeface="Times New Roman"/>
                <a:cs typeface="Times New Roman"/>
              </a:rPr>
              <a:t>linda.universe._rd((</a:t>
            </a:r>
            <a:r>
              <a:rPr sz="700" spc="40" dirty="0">
                <a:solidFill>
                  <a:srgbClr val="C80000"/>
                </a:solidFill>
                <a:latin typeface="Times New Roman"/>
                <a:cs typeface="Times New Roman"/>
              </a:rPr>
              <a:t>"MicroBlog"</a:t>
            </a:r>
            <a:r>
              <a:rPr sz="700" spc="40" dirty="0">
                <a:latin typeface="Times New Roman"/>
                <a:cs typeface="Times New Roman"/>
              </a:rPr>
              <a:t>,linda.TupleSpace))[1]</a:t>
            </a:r>
            <a:endParaRPr sz="700" dirty="0">
              <a:latin typeface="Times New Roman"/>
              <a:cs typeface="Times New Roman"/>
            </a:endParaRPr>
          </a:p>
          <a:p>
            <a:pPr marL="50165">
              <a:lnSpc>
                <a:spcPts val="560"/>
              </a:lnSpc>
              <a:spcBef>
                <a:spcPts val="80"/>
              </a:spcBef>
            </a:pPr>
            <a:r>
              <a:rPr sz="500" spc="45" dirty="0">
                <a:latin typeface="Times New Roman"/>
                <a:cs typeface="Times New Roman"/>
              </a:rPr>
              <a:t>8</a:t>
            </a:r>
            <a:endParaRPr sz="500" dirty="0">
              <a:latin typeface="Times New Roman"/>
              <a:cs typeface="Times New Roman"/>
            </a:endParaRPr>
          </a:p>
          <a:p>
            <a:pPr marL="50165">
              <a:lnSpc>
                <a:spcPts val="735"/>
              </a:lnSpc>
            </a:pPr>
            <a:r>
              <a:rPr sz="500" dirty="0">
                <a:latin typeface="Times New Roman"/>
                <a:cs typeface="Times New Roman"/>
              </a:rPr>
              <a:t>9</a:t>
            </a:r>
            <a:r>
              <a:rPr sz="500" spc="185" dirty="0">
                <a:latin typeface="Times New Roman"/>
                <a:cs typeface="Times New Roman"/>
              </a:rPr>
              <a:t>  </a:t>
            </a:r>
            <a:r>
              <a:rPr sz="700" spc="65" dirty="0">
                <a:latin typeface="Times New Roman"/>
                <a:cs typeface="Times New Roman"/>
              </a:rPr>
              <a:t>blog._out((</a:t>
            </a:r>
            <a:r>
              <a:rPr sz="700" spc="65" dirty="0">
                <a:solidFill>
                  <a:srgbClr val="C80000"/>
                </a:solidFill>
                <a:latin typeface="Times New Roman"/>
                <a:cs typeface="Times New Roman"/>
              </a:rPr>
              <a:t>"bob"</a:t>
            </a:r>
            <a:r>
              <a:rPr sz="700" spc="65" dirty="0">
                <a:latin typeface="Times New Roman"/>
                <a:cs typeface="Times New Roman"/>
              </a:rPr>
              <a:t>,</a:t>
            </a:r>
            <a:r>
              <a:rPr sz="700" spc="65" dirty="0">
                <a:solidFill>
                  <a:srgbClr val="C80000"/>
                </a:solidFill>
                <a:latin typeface="Times New Roman"/>
                <a:cs typeface="Times New Roman"/>
              </a:rPr>
              <a:t>"distsys"</a:t>
            </a:r>
            <a:r>
              <a:rPr sz="700" spc="65" dirty="0">
                <a:latin typeface="Times New Roman"/>
                <a:cs typeface="Times New Roman"/>
              </a:rPr>
              <a:t>,</a:t>
            </a:r>
            <a:r>
              <a:rPr sz="700" spc="65" dirty="0">
                <a:solidFill>
                  <a:srgbClr val="C80000"/>
                </a:solidFill>
                <a:latin typeface="Times New Roman"/>
                <a:cs typeface="Times New Roman"/>
              </a:rPr>
              <a:t>"I</a:t>
            </a:r>
            <a:r>
              <a:rPr sz="700" spc="140" dirty="0">
                <a:solidFill>
                  <a:srgbClr val="C80000"/>
                </a:solidFill>
                <a:latin typeface="Times New Roman"/>
                <a:cs typeface="Times New Roman"/>
              </a:rPr>
              <a:t> </a:t>
            </a:r>
            <a:r>
              <a:rPr sz="700" dirty="0">
                <a:solidFill>
                  <a:srgbClr val="C80000"/>
                </a:solidFill>
                <a:latin typeface="Times New Roman"/>
                <a:cs typeface="Times New Roman"/>
              </a:rPr>
              <a:t>am</a:t>
            </a:r>
            <a:r>
              <a:rPr sz="700" spc="100" dirty="0">
                <a:solidFill>
                  <a:srgbClr val="C80000"/>
                </a:solidFill>
                <a:latin typeface="Times New Roman"/>
                <a:cs typeface="Times New Roman"/>
              </a:rPr>
              <a:t> </a:t>
            </a:r>
            <a:r>
              <a:rPr sz="700" spc="55" dirty="0">
                <a:solidFill>
                  <a:srgbClr val="C80000"/>
                </a:solidFill>
                <a:latin typeface="Times New Roman"/>
                <a:cs typeface="Times New Roman"/>
              </a:rPr>
              <a:t>studying</a:t>
            </a:r>
            <a:r>
              <a:rPr sz="700" spc="90" dirty="0">
                <a:solidFill>
                  <a:srgbClr val="C80000"/>
                </a:solidFill>
                <a:latin typeface="Times New Roman"/>
                <a:cs typeface="Times New Roman"/>
              </a:rPr>
              <a:t> </a:t>
            </a:r>
            <a:r>
              <a:rPr sz="700" dirty="0">
                <a:solidFill>
                  <a:srgbClr val="C80000"/>
                </a:solidFill>
                <a:latin typeface="Times New Roman"/>
                <a:cs typeface="Times New Roman"/>
              </a:rPr>
              <a:t>chap</a:t>
            </a:r>
            <a:r>
              <a:rPr sz="700" spc="120" dirty="0">
                <a:solidFill>
                  <a:srgbClr val="C80000"/>
                </a:solidFill>
                <a:latin typeface="Times New Roman"/>
                <a:cs typeface="Times New Roman"/>
              </a:rPr>
              <a:t> </a:t>
            </a:r>
            <a:r>
              <a:rPr sz="700" spc="70" dirty="0">
                <a:solidFill>
                  <a:srgbClr val="C80000"/>
                </a:solidFill>
                <a:latin typeface="Times New Roman"/>
                <a:cs typeface="Times New Roman"/>
              </a:rPr>
              <a:t>2"</a:t>
            </a:r>
            <a:r>
              <a:rPr sz="700" spc="70" dirty="0">
                <a:latin typeface="Times New Roman"/>
                <a:cs typeface="Times New Roman"/>
              </a:rPr>
              <a:t>))</a:t>
            </a:r>
            <a:endParaRPr sz="700" dirty="0">
              <a:latin typeface="Times New Roman"/>
              <a:cs typeface="Times New Roman"/>
            </a:endParaRPr>
          </a:p>
          <a:p>
            <a:pPr marL="12700">
              <a:lnSpc>
                <a:spcPts val="715"/>
              </a:lnSpc>
            </a:pPr>
            <a:r>
              <a:rPr sz="500" dirty="0">
                <a:latin typeface="Times New Roman"/>
                <a:cs typeface="Times New Roman"/>
              </a:rPr>
              <a:t>10</a:t>
            </a:r>
            <a:r>
              <a:rPr sz="500" spc="240" dirty="0">
                <a:latin typeface="Times New Roman"/>
                <a:cs typeface="Times New Roman"/>
              </a:rPr>
              <a:t>  </a:t>
            </a:r>
            <a:r>
              <a:rPr sz="700" spc="55" dirty="0">
                <a:latin typeface="Times New Roman"/>
                <a:cs typeface="Times New Roman"/>
              </a:rPr>
              <a:t>blog._out((</a:t>
            </a:r>
            <a:r>
              <a:rPr sz="700" spc="55" dirty="0">
                <a:solidFill>
                  <a:srgbClr val="C80000"/>
                </a:solidFill>
                <a:latin typeface="Times New Roman"/>
                <a:cs typeface="Times New Roman"/>
              </a:rPr>
              <a:t>"bob"</a:t>
            </a:r>
            <a:r>
              <a:rPr sz="700" spc="55" dirty="0">
                <a:latin typeface="Times New Roman"/>
                <a:cs typeface="Times New Roman"/>
              </a:rPr>
              <a:t>,</a:t>
            </a:r>
            <a:r>
              <a:rPr sz="700" spc="55" dirty="0">
                <a:solidFill>
                  <a:srgbClr val="C80000"/>
                </a:solidFill>
                <a:latin typeface="Times New Roman"/>
                <a:cs typeface="Times New Roman"/>
              </a:rPr>
              <a:t>"distsys"</a:t>
            </a:r>
            <a:r>
              <a:rPr sz="700" spc="55" dirty="0">
                <a:latin typeface="Times New Roman"/>
                <a:cs typeface="Times New Roman"/>
              </a:rPr>
              <a:t>,</a:t>
            </a:r>
            <a:r>
              <a:rPr sz="700" spc="55" dirty="0">
                <a:solidFill>
                  <a:srgbClr val="C80000"/>
                </a:solidFill>
                <a:latin typeface="Times New Roman"/>
                <a:cs typeface="Times New Roman"/>
              </a:rPr>
              <a:t>"The</a:t>
            </a:r>
            <a:r>
              <a:rPr sz="700" spc="150" dirty="0">
                <a:solidFill>
                  <a:srgbClr val="C80000"/>
                </a:solidFill>
                <a:latin typeface="Times New Roman"/>
                <a:cs typeface="Times New Roman"/>
              </a:rPr>
              <a:t> </a:t>
            </a:r>
            <a:r>
              <a:rPr sz="700" spc="85" dirty="0">
                <a:solidFill>
                  <a:srgbClr val="C80000"/>
                </a:solidFill>
                <a:latin typeface="Times New Roman"/>
                <a:cs typeface="Times New Roman"/>
              </a:rPr>
              <a:t>linda</a:t>
            </a:r>
            <a:r>
              <a:rPr sz="700" spc="135" dirty="0">
                <a:solidFill>
                  <a:srgbClr val="C80000"/>
                </a:solidFill>
                <a:latin typeface="Times New Roman"/>
                <a:cs typeface="Times New Roman"/>
              </a:rPr>
              <a:t> </a:t>
            </a:r>
            <a:r>
              <a:rPr sz="700" dirty="0">
                <a:solidFill>
                  <a:srgbClr val="C80000"/>
                </a:solidFill>
                <a:latin typeface="Times New Roman"/>
                <a:cs typeface="Times New Roman"/>
              </a:rPr>
              <a:t>example’s</a:t>
            </a:r>
            <a:r>
              <a:rPr sz="700" spc="165" dirty="0">
                <a:solidFill>
                  <a:srgbClr val="C80000"/>
                </a:solidFill>
                <a:latin typeface="Times New Roman"/>
                <a:cs typeface="Times New Roman"/>
              </a:rPr>
              <a:t> </a:t>
            </a:r>
            <a:r>
              <a:rPr sz="700" spc="95" dirty="0">
                <a:solidFill>
                  <a:srgbClr val="C80000"/>
                </a:solidFill>
                <a:latin typeface="Times New Roman"/>
                <a:cs typeface="Times New Roman"/>
              </a:rPr>
              <a:t>pretty</a:t>
            </a:r>
            <a:r>
              <a:rPr sz="700" spc="135" dirty="0">
                <a:solidFill>
                  <a:srgbClr val="C80000"/>
                </a:solidFill>
                <a:latin typeface="Times New Roman"/>
                <a:cs typeface="Times New Roman"/>
              </a:rPr>
              <a:t> </a:t>
            </a:r>
            <a:r>
              <a:rPr sz="700" spc="55" dirty="0">
                <a:solidFill>
                  <a:srgbClr val="C80000"/>
                </a:solidFill>
                <a:latin typeface="Times New Roman"/>
                <a:cs typeface="Times New Roman"/>
              </a:rPr>
              <a:t>simple"</a:t>
            </a:r>
            <a:r>
              <a:rPr sz="700" spc="55" dirty="0">
                <a:latin typeface="Times New Roman"/>
                <a:cs typeface="Times New Roman"/>
              </a:rPr>
              <a:t>))</a:t>
            </a:r>
            <a:endParaRPr sz="700" dirty="0">
              <a:latin typeface="Times New Roman"/>
              <a:cs typeface="Times New Roman"/>
            </a:endParaRPr>
          </a:p>
          <a:p>
            <a:pPr marL="12700">
              <a:lnSpc>
                <a:spcPts val="780"/>
              </a:lnSpc>
            </a:pPr>
            <a:r>
              <a:rPr sz="500" dirty="0">
                <a:latin typeface="Times New Roman"/>
                <a:cs typeface="Times New Roman"/>
              </a:rPr>
              <a:t>11</a:t>
            </a:r>
            <a:r>
              <a:rPr sz="500" spc="210" dirty="0">
                <a:latin typeface="Times New Roman"/>
                <a:cs typeface="Times New Roman"/>
              </a:rPr>
              <a:t>  </a:t>
            </a:r>
            <a:r>
              <a:rPr sz="700" spc="50" dirty="0">
                <a:latin typeface="Times New Roman"/>
                <a:cs typeface="Times New Roman"/>
              </a:rPr>
              <a:t>blog._out((</a:t>
            </a:r>
            <a:r>
              <a:rPr sz="700" spc="50" dirty="0">
                <a:solidFill>
                  <a:srgbClr val="C80000"/>
                </a:solidFill>
                <a:latin typeface="Times New Roman"/>
                <a:cs typeface="Times New Roman"/>
              </a:rPr>
              <a:t>"bob"</a:t>
            </a:r>
            <a:r>
              <a:rPr sz="700" spc="50" dirty="0">
                <a:latin typeface="Times New Roman"/>
                <a:cs typeface="Times New Roman"/>
              </a:rPr>
              <a:t>,</a:t>
            </a:r>
            <a:r>
              <a:rPr sz="700" spc="50" dirty="0">
                <a:solidFill>
                  <a:srgbClr val="C80000"/>
                </a:solidFill>
                <a:latin typeface="Times New Roman"/>
                <a:cs typeface="Times New Roman"/>
              </a:rPr>
              <a:t>"gtcn"</a:t>
            </a:r>
            <a:r>
              <a:rPr sz="700" spc="50" dirty="0">
                <a:latin typeface="Times New Roman"/>
                <a:cs typeface="Times New Roman"/>
              </a:rPr>
              <a:t>,</a:t>
            </a:r>
            <a:r>
              <a:rPr sz="700" spc="50" dirty="0">
                <a:solidFill>
                  <a:srgbClr val="C80000"/>
                </a:solidFill>
                <a:latin typeface="Times New Roman"/>
                <a:cs typeface="Times New Roman"/>
              </a:rPr>
              <a:t>"Cool</a:t>
            </a:r>
            <a:r>
              <a:rPr sz="700" spc="125" dirty="0">
                <a:solidFill>
                  <a:srgbClr val="C80000"/>
                </a:solidFill>
                <a:latin typeface="Times New Roman"/>
                <a:cs typeface="Times New Roman"/>
              </a:rPr>
              <a:t> </a:t>
            </a:r>
            <a:r>
              <a:rPr sz="700" spc="45" dirty="0">
                <a:solidFill>
                  <a:srgbClr val="C80000"/>
                </a:solidFill>
                <a:latin typeface="Times New Roman"/>
                <a:cs typeface="Times New Roman"/>
              </a:rPr>
              <a:t>book!"</a:t>
            </a:r>
            <a:r>
              <a:rPr sz="700" spc="45" dirty="0">
                <a:latin typeface="Times New Roman"/>
                <a:cs typeface="Times New Roman"/>
              </a:rPr>
              <a:t>))</a:t>
            </a:r>
            <a:endParaRPr sz="700" dirty="0">
              <a:latin typeface="Times New Roman"/>
              <a:cs typeface="Times New Roman"/>
            </a:endParaRPr>
          </a:p>
        </p:txBody>
      </p:sp>
      <p:sp>
        <p:nvSpPr>
          <p:cNvPr id="8" name="object 8"/>
          <p:cNvSpPr/>
          <p:nvPr/>
        </p:nvSpPr>
        <p:spPr>
          <a:xfrm>
            <a:off x="359994" y="1483487"/>
            <a:ext cx="3742690" cy="0"/>
          </a:xfrm>
          <a:custGeom>
            <a:avLst/>
            <a:gdLst/>
            <a:ahLst/>
            <a:cxnLst/>
            <a:rect l="l" t="t" r="r" b="b"/>
            <a:pathLst>
              <a:path w="3742690">
                <a:moveTo>
                  <a:pt x="0" y="0"/>
                </a:moveTo>
                <a:lnTo>
                  <a:pt x="3742385" y="0"/>
                </a:lnTo>
              </a:path>
            </a:pathLst>
          </a:custGeom>
          <a:ln w="5054">
            <a:solidFill>
              <a:srgbClr val="000000"/>
            </a:solidFill>
          </a:ln>
        </p:spPr>
        <p:txBody>
          <a:bodyPr wrap="square" lIns="0" tIns="0" rIns="0" bIns="0" rtlCol="0"/>
          <a:lstStyle/>
          <a:p>
            <a:endParaRPr/>
          </a:p>
        </p:txBody>
      </p:sp>
      <p:sp>
        <p:nvSpPr>
          <p:cNvPr id="9" name="object 9"/>
          <p:cNvSpPr txBox="1"/>
          <p:nvPr/>
        </p:nvSpPr>
        <p:spPr>
          <a:xfrm>
            <a:off x="423214" y="1720425"/>
            <a:ext cx="304165" cy="162560"/>
          </a:xfrm>
          <a:prstGeom prst="rect">
            <a:avLst/>
          </a:prstGeom>
        </p:spPr>
        <p:txBody>
          <a:bodyPr vert="horz" wrap="square" lIns="0" tIns="12065" rIns="0" bIns="0" rtlCol="0">
            <a:spAutoFit/>
          </a:bodyPr>
          <a:lstStyle/>
          <a:p>
            <a:pPr marL="12700">
              <a:lnSpc>
                <a:spcPct val="100000"/>
              </a:lnSpc>
              <a:spcBef>
                <a:spcPts val="95"/>
              </a:spcBef>
            </a:pPr>
            <a:r>
              <a:rPr sz="900" spc="-10" dirty="0">
                <a:solidFill>
                  <a:srgbClr val="3333B2"/>
                </a:solidFill>
                <a:latin typeface="Arial"/>
                <a:cs typeface="Arial"/>
              </a:rPr>
              <a:t>Alice</a:t>
            </a:r>
            <a:r>
              <a:rPr sz="900" spc="-10" dirty="0">
                <a:latin typeface="Arial"/>
                <a:cs typeface="Arial"/>
              </a:rPr>
              <a:t>:</a:t>
            </a:r>
            <a:endParaRPr sz="900">
              <a:latin typeface="Arial"/>
              <a:cs typeface="Arial"/>
            </a:endParaRPr>
          </a:p>
        </p:txBody>
      </p:sp>
      <p:sp>
        <p:nvSpPr>
          <p:cNvPr id="10" name="object 10"/>
          <p:cNvSpPr txBox="1"/>
          <p:nvPr/>
        </p:nvSpPr>
        <p:spPr>
          <a:xfrm>
            <a:off x="1021435" y="1475857"/>
            <a:ext cx="3023870" cy="678815"/>
          </a:xfrm>
          <a:prstGeom prst="rect">
            <a:avLst/>
          </a:prstGeom>
        </p:spPr>
        <p:txBody>
          <a:bodyPr vert="horz" wrap="square" lIns="0" tIns="12065" rIns="0" bIns="0" rtlCol="0">
            <a:spAutoFit/>
          </a:bodyPr>
          <a:lstStyle/>
          <a:p>
            <a:pPr marL="12700">
              <a:lnSpc>
                <a:spcPts val="780"/>
              </a:lnSpc>
              <a:spcBef>
                <a:spcPts val="95"/>
              </a:spcBef>
            </a:pPr>
            <a:r>
              <a:rPr sz="500" dirty="0">
                <a:latin typeface="Times New Roman"/>
                <a:cs typeface="Times New Roman"/>
              </a:rPr>
              <a:t>1</a:t>
            </a:r>
            <a:r>
              <a:rPr sz="500" spc="204" dirty="0">
                <a:latin typeface="Times New Roman"/>
                <a:cs typeface="Times New Roman"/>
              </a:rPr>
              <a:t>  </a:t>
            </a:r>
            <a:r>
              <a:rPr sz="700" b="1" dirty="0">
                <a:solidFill>
                  <a:srgbClr val="FF0059"/>
                </a:solidFill>
                <a:latin typeface="Times New Roman"/>
                <a:cs typeface="Times New Roman"/>
              </a:rPr>
              <a:t>import</a:t>
            </a:r>
            <a:r>
              <a:rPr sz="700" b="1" spc="114" dirty="0">
                <a:solidFill>
                  <a:srgbClr val="FF0059"/>
                </a:solidFill>
                <a:latin typeface="Times New Roman"/>
                <a:cs typeface="Times New Roman"/>
              </a:rPr>
              <a:t> </a:t>
            </a:r>
            <a:r>
              <a:rPr sz="700" spc="75" dirty="0">
                <a:latin typeface="Times New Roman"/>
                <a:cs typeface="Times New Roman"/>
              </a:rPr>
              <a:t>linda</a:t>
            </a:r>
            <a:endParaRPr sz="700" dirty="0">
              <a:latin typeface="Times New Roman"/>
              <a:cs typeface="Times New Roman"/>
            </a:endParaRPr>
          </a:p>
          <a:p>
            <a:pPr marL="12700">
              <a:lnSpc>
                <a:spcPts val="780"/>
              </a:lnSpc>
            </a:pPr>
            <a:r>
              <a:rPr sz="500" dirty="0">
                <a:latin typeface="Times New Roman"/>
                <a:cs typeface="Times New Roman"/>
              </a:rPr>
              <a:t>2</a:t>
            </a:r>
            <a:r>
              <a:rPr sz="500" spc="455" dirty="0">
                <a:latin typeface="Times New Roman"/>
                <a:cs typeface="Times New Roman"/>
              </a:rPr>
              <a:t> </a:t>
            </a:r>
            <a:r>
              <a:rPr sz="700" spc="60" dirty="0">
                <a:latin typeface="Times New Roman"/>
                <a:cs typeface="Times New Roman"/>
              </a:rPr>
              <a:t>linda.connect()</a:t>
            </a:r>
            <a:endParaRPr sz="700" dirty="0">
              <a:latin typeface="Times New Roman"/>
              <a:cs typeface="Times New Roman"/>
            </a:endParaRPr>
          </a:p>
          <a:p>
            <a:pPr marL="12700">
              <a:lnSpc>
                <a:spcPts val="560"/>
              </a:lnSpc>
              <a:spcBef>
                <a:spcPts val="80"/>
              </a:spcBef>
            </a:pPr>
            <a:r>
              <a:rPr sz="500" spc="45" dirty="0">
                <a:latin typeface="Times New Roman"/>
                <a:cs typeface="Times New Roman"/>
              </a:rPr>
              <a:t>3</a:t>
            </a:r>
            <a:endParaRPr sz="500" dirty="0">
              <a:latin typeface="Times New Roman"/>
              <a:cs typeface="Times New Roman"/>
            </a:endParaRPr>
          </a:p>
          <a:p>
            <a:pPr marL="12700">
              <a:lnSpc>
                <a:spcPts val="800"/>
              </a:lnSpc>
            </a:pPr>
            <a:r>
              <a:rPr sz="500" dirty="0">
                <a:latin typeface="Times New Roman"/>
                <a:cs typeface="Times New Roman"/>
              </a:rPr>
              <a:t>4</a:t>
            </a:r>
            <a:r>
              <a:rPr sz="500" spc="480" dirty="0">
                <a:latin typeface="Times New Roman"/>
                <a:cs typeface="Times New Roman"/>
              </a:rPr>
              <a:t> </a:t>
            </a:r>
            <a:r>
              <a:rPr sz="700" spc="60" dirty="0">
                <a:latin typeface="Times New Roman"/>
                <a:cs typeface="Times New Roman"/>
              </a:rPr>
              <a:t>blog</a:t>
            </a:r>
            <a:r>
              <a:rPr sz="700" spc="114" dirty="0">
                <a:latin typeface="Times New Roman"/>
                <a:cs typeface="Times New Roman"/>
              </a:rPr>
              <a:t> </a:t>
            </a:r>
            <a:r>
              <a:rPr sz="700" dirty="0">
                <a:latin typeface="Times New Roman"/>
                <a:cs typeface="Times New Roman"/>
              </a:rPr>
              <a:t>=</a:t>
            </a:r>
            <a:r>
              <a:rPr sz="700" spc="110" dirty="0">
                <a:latin typeface="Times New Roman"/>
                <a:cs typeface="Times New Roman"/>
              </a:rPr>
              <a:t> </a:t>
            </a:r>
            <a:r>
              <a:rPr sz="700" spc="40" dirty="0">
                <a:latin typeface="Times New Roman"/>
                <a:cs typeface="Times New Roman"/>
              </a:rPr>
              <a:t>linda.universe._rd((</a:t>
            </a:r>
            <a:r>
              <a:rPr sz="700" spc="40" dirty="0">
                <a:solidFill>
                  <a:srgbClr val="C80000"/>
                </a:solidFill>
                <a:latin typeface="Times New Roman"/>
                <a:cs typeface="Times New Roman"/>
              </a:rPr>
              <a:t>"MicroBlog"</a:t>
            </a:r>
            <a:r>
              <a:rPr sz="700" spc="40" dirty="0">
                <a:latin typeface="Times New Roman"/>
                <a:cs typeface="Times New Roman"/>
              </a:rPr>
              <a:t>,linda.TupleSpace))[1]</a:t>
            </a:r>
            <a:endParaRPr sz="700" dirty="0">
              <a:latin typeface="Times New Roman"/>
              <a:cs typeface="Times New Roman"/>
            </a:endParaRPr>
          </a:p>
          <a:p>
            <a:pPr marL="12700">
              <a:lnSpc>
                <a:spcPts val="560"/>
              </a:lnSpc>
              <a:spcBef>
                <a:spcPts val="75"/>
              </a:spcBef>
            </a:pPr>
            <a:r>
              <a:rPr sz="500" spc="45" dirty="0">
                <a:latin typeface="Times New Roman"/>
                <a:cs typeface="Times New Roman"/>
              </a:rPr>
              <a:t>5</a:t>
            </a:r>
            <a:endParaRPr sz="500" dirty="0">
              <a:latin typeface="Times New Roman"/>
              <a:cs typeface="Times New Roman"/>
            </a:endParaRPr>
          </a:p>
          <a:p>
            <a:pPr marL="12700">
              <a:lnSpc>
                <a:spcPts val="735"/>
              </a:lnSpc>
            </a:pPr>
            <a:r>
              <a:rPr sz="500" dirty="0">
                <a:latin typeface="Times New Roman"/>
                <a:cs typeface="Times New Roman"/>
              </a:rPr>
              <a:t>6</a:t>
            </a:r>
            <a:r>
              <a:rPr sz="500" spc="200" dirty="0">
                <a:latin typeface="Times New Roman"/>
                <a:cs typeface="Times New Roman"/>
              </a:rPr>
              <a:t>  </a:t>
            </a:r>
            <a:r>
              <a:rPr sz="700" spc="65" dirty="0">
                <a:latin typeface="Times New Roman"/>
                <a:cs typeface="Times New Roman"/>
              </a:rPr>
              <a:t>blog._out((</a:t>
            </a:r>
            <a:r>
              <a:rPr sz="700" spc="65" dirty="0">
                <a:solidFill>
                  <a:srgbClr val="C80000"/>
                </a:solidFill>
                <a:latin typeface="Times New Roman"/>
                <a:cs typeface="Times New Roman"/>
              </a:rPr>
              <a:t>"alice"</a:t>
            </a:r>
            <a:r>
              <a:rPr sz="700" spc="65" dirty="0">
                <a:latin typeface="Times New Roman"/>
                <a:cs typeface="Times New Roman"/>
              </a:rPr>
              <a:t>,</a:t>
            </a:r>
            <a:r>
              <a:rPr sz="700" spc="65" dirty="0">
                <a:solidFill>
                  <a:srgbClr val="C80000"/>
                </a:solidFill>
                <a:latin typeface="Times New Roman"/>
                <a:cs typeface="Times New Roman"/>
              </a:rPr>
              <a:t>"gtcn"</a:t>
            </a:r>
            <a:r>
              <a:rPr sz="700" spc="65" dirty="0">
                <a:latin typeface="Times New Roman"/>
                <a:cs typeface="Times New Roman"/>
              </a:rPr>
              <a:t>,</a:t>
            </a:r>
            <a:r>
              <a:rPr sz="700" spc="65" dirty="0">
                <a:solidFill>
                  <a:srgbClr val="C80000"/>
                </a:solidFill>
                <a:latin typeface="Times New Roman"/>
                <a:cs typeface="Times New Roman"/>
              </a:rPr>
              <a:t>"This</a:t>
            </a:r>
            <a:r>
              <a:rPr sz="700" spc="114" dirty="0">
                <a:solidFill>
                  <a:srgbClr val="C80000"/>
                </a:solidFill>
                <a:latin typeface="Times New Roman"/>
                <a:cs typeface="Times New Roman"/>
              </a:rPr>
              <a:t> </a:t>
            </a:r>
            <a:r>
              <a:rPr sz="700" dirty="0">
                <a:solidFill>
                  <a:srgbClr val="C80000"/>
                </a:solidFill>
                <a:latin typeface="Times New Roman"/>
                <a:cs typeface="Times New Roman"/>
              </a:rPr>
              <a:t>graph</a:t>
            </a:r>
            <a:r>
              <a:rPr sz="700" spc="105" dirty="0">
                <a:solidFill>
                  <a:srgbClr val="C80000"/>
                </a:solidFill>
                <a:latin typeface="Times New Roman"/>
                <a:cs typeface="Times New Roman"/>
              </a:rPr>
              <a:t> </a:t>
            </a:r>
            <a:r>
              <a:rPr sz="700" spc="65" dirty="0">
                <a:solidFill>
                  <a:srgbClr val="C80000"/>
                </a:solidFill>
                <a:latin typeface="Times New Roman"/>
                <a:cs typeface="Times New Roman"/>
              </a:rPr>
              <a:t>theory</a:t>
            </a:r>
            <a:r>
              <a:rPr sz="700" spc="105" dirty="0">
                <a:solidFill>
                  <a:srgbClr val="C80000"/>
                </a:solidFill>
                <a:latin typeface="Times New Roman"/>
                <a:cs typeface="Times New Roman"/>
              </a:rPr>
              <a:t> </a:t>
            </a:r>
            <a:r>
              <a:rPr sz="700" spc="110" dirty="0">
                <a:solidFill>
                  <a:srgbClr val="C80000"/>
                </a:solidFill>
                <a:latin typeface="Times New Roman"/>
                <a:cs typeface="Times New Roman"/>
              </a:rPr>
              <a:t>stuff</a:t>
            </a:r>
            <a:r>
              <a:rPr sz="700" spc="120" dirty="0">
                <a:solidFill>
                  <a:srgbClr val="C80000"/>
                </a:solidFill>
                <a:latin typeface="Times New Roman"/>
                <a:cs typeface="Times New Roman"/>
              </a:rPr>
              <a:t> </a:t>
            </a:r>
            <a:r>
              <a:rPr sz="700" spc="155" dirty="0">
                <a:solidFill>
                  <a:srgbClr val="C80000"/>
                </a:solidFill>
                <a:latin typeface="Times New Roman"/>
                <a:cs typeface="Times New Roman"/>
              </a:rPr>
              <a:t>is</a:t>
            </a:r>
            <a:r>
              <a:rPr sz="700" spc="120" dirty="0">
                <a:solidFill>
                  <a:srgbClr val="C80000"/>
                </a:solidFill>
                <a:latin typeface="Times New Roman"/>
                <a:cs typeface="Times New Roman"/>
              </a:rPr>
              <a:t> </a:t>
            </a:r>
            <a:r>
              <a:rPr sz="700" spc="80" dirty="0">
                <a:solidFill>
                  <a:srgbClr val="C80000"/>
                </a:solidFill>
                <a:latin typeface="Times New Roman"/>
                <a:cs typeface="Times New Roman"/>
              </a:rPr>
              <a:t>not</a:t>
            </a:r>
            <a:r>
              <a:rPr sz="700" spc="120" dirty="0">
                <a:solidFill>
                  <a:srgbClr val="C80000"/>
                </a:solidFill>
                <a:latin typeface="Times New Roman"/>
                <a:cs typeface="Times New Roman"/>
              </a:rPr>
              <a:t> </a:t>
            </a:r>
            <a:r>
              <a:rPr sz="700" spc="60" dirty="0">
                <a:solidFill>
                  <a:srgbClr val="C80000"/>
                </a:solidFill>
                <a:latin typeface="Times New Roman"/>
                <a:cs typeface="Times New Roman"/>
              </a:rPr>
              <a:t>easy"</a:t>
            </a:r>
            <a:r>
              <a:rPr sz="700" spc="60" dirty="0">
                <a:latin typeface="Times New Roman"/>
                <a:cs typeface="Times New Roman"/>
              </a:rPr>
              <a:t>))</a:t>
            </a:r>
            <a:endParaRPr sz="700" dirty="0">
              <a:latin typeface="Times New Roman"/>
              <a:cs typeface="Times New Roman"/>
            </a:endParaRPr>
          </a:p>
          <a:p>
            <a:pPr marL="12700">
              <a:lnSpc>
                <a:spcPts val="780"/>
              </a:lnSpc>
            </a:pPr>
            <a:r>
              <a:rPr sz="500" dirty="0">
                <a:latin typeface="Times New Roman"/>
                <a:cs typeface="Times New Roman"/>
              </a:rPr>
              <a:t>7</a:t>
            </a:r>
            <a:r>
              <a:rPr sz="500" spc="220" dirty="0">
                <a:latin typeface="Times New Roman"/>
                <a:cs typeface="Times New Roman"/>
              </a:rPr>
              <a:t>  </a:t>
            </a:r>
            <a:r>
              <a:rPr sz="700" spc="75" dirty="0">
                <a:latin typeface="Times New Roman"/>
                <a:cs typeface="Times New Roman"/>
              </a:rPr>
              <a:t>blog._out((</a:t>
            </a:r>
            <a:r>
              <a:rPr sz="700" spc="75" dirty="0">
                <a:solidFill>
                  <a:srgbClr val="C80000"/>
                </a:solidFill>
                <a:latin typeface="Times New Roman"/>
                <a:cs typeface="Times New Roman"/>
              </a:rPr>
              <a:t>"alice"</a:t>
            </a:r>
            <a:r>
              <a:rPr sz="700" spc="75" dirty="0">
                <a:latin typeface="Times New Roman"/>
                <a:cs typeface="Times New Roman"/>
              </a:rPr>
              <a:t>,</a:t>
            </a:r>
            <a:r>
              <a:rPr sz="700" spc="75" dirty="0">
                <a:solidFill>
                  <a:srgbClr val="C80000"/>
                </a:solidFill>
                <a:latin typeface="Times New Roman"/>
                <a:cs typeface="Times New Roman"/>
              </a:rPr>
              <a:t>"distsys"</a:t>
            </a:r>
            <a:r>
              <a:rPr sz="700" spc="75" dirty="0">
                <a:latin typeface="Times New Roman"/>
                <a:cs typeface="Times New Roman"/>
              </a:rPr>
              <a:t>,</a:t>
            </a:r>
            <a:r>
              <a:rPr sz="700" spc="75" dirty="0">
                <a:solidFill>
                  <a:srgbClr val="C80000"/>
                </a:solidFill>
                <a:latin typeface="Times New Roman"/>
                <a:cs typeface="Times New Roman"/>
              </a:rPr>
              <a:t>"I</a:t>
            </a:r>
            <a:r>
              <a:rPr sz="700" spc="155" dirty="0">
                <a:solidFill>
                  <a:srgbClr val="C80000"/>
                </a:solidFill>
                <a:latin typeface="Times New Roman"/>
                <a:cs typeface="Times New Roman"/>
              </a:rPr>
              <a:t> </a:t>
            </a:r>
            <a:r>
              <a:rPr sz="700" spc="105" dirty="0">
                <a:solidFill>
                  <a:srgbClr val="C80000"/>
                </a:solidFill>
                <a:latin typeface="Times New Roman"/>
                <a:cs typeface="Times New Roman"/>
              </a:rPr>
              <a:t>like</a:t>
            </a:r>
            <a:r>
              <a:rPr sz="700" spc="120" dirty="0">
                <a:solidFill>
                  <a:srgbClr val="C80000"/>
                </a:solidFill>
                <a:latin typeface="Times New Roman"/>
                <a:cs typeface="Times New Roman"/>
              </a:rPr>
              <a:t> </a:t>
            </a:r>
            <a:r>
              <a:rPr sz="700" dirty="0">
                <a:solidFill>
                  <a:srgbClr val="C80000"/>
                </a:solidFill>
                <a:latin typeface="Times New Roman"/>
                <a:cs typeface="Times New Roman"/>
              </a:rPr>
              <a:t>systems</a:t>
            </a:r>
            <a:r>
              <a:rPr sz="700" spc="120" dirty="0">
                <a:solidFill>
                  <a:srgbClr val="C80000"/>
                </a:solidFill>
                <a:latin typeface="Times New Roman"/>
                <a:cs typeface="Times New Roman"/>
              </a:rPr>
              <a:t> </a:t>
            </a:r>
            <a:r>
              <a:rPr sz="700" dirty="0">
                <a:solidFill>
                  <a:srgbClr val="C80000"/>
                </a:solidFill>
                <a:latin typeface="Times New Roman"/>
                <a:cs typeface="Times New Roman"/>
              </a:rPr>
              <a:t>more</a:t>
            </a:r>
            <a:r>
              <a:rPr sz="700" spc="130" dirty="0">
                <a:solidFill>
                  <a:srgbClr val="C80000"/>
                </a:solidFill>
                <a:latin typeface="Times New Roman"/>
                <a:cs typeface="Times New Roman"/>
              </a:rPr>
              <a:t> </a:t>
            </a:r>
            <a:r>
              <a:rPr sz="700" spc="70" dirty="0">
                <a:solidFill>
                  <a:srgbClr val="C80000"/>
                </a:solidFill>
                <a:latin typeface="Times New Roman"/>
                <a:cs typeface="Times New Roman"/>
              </a:rPr>
              <a:t>than</a:t>
            </a:r>
            <a:r>
              <a:rPr sz="700" spc="120" dirty="0">
                <a:solidFill>
                  <a:srgbClr val="C80000"/>
                </a:solidFill>
                <a:latin typeface="Times New Roman"/>
                <a:cs typeface="Times New Roman"/>
              </a:rPr>
              <a:t> </a:t>
            </a:r>
            <a:r>
              <a:rPr sz="700" spc="55" dirty="0">
                <a:solidFill>
                  <a:srgbClr val="C80000"/>
                </a:solidFill>
                <a:latin typeface="Times New Roman"/>
                <a:cs typeface="Times New Roman"/>
              </a:rPr>
              <a:t>graphs"</a:t>
            </a:r>
            <a:r>
              <a:rPr sz="700" spc="55" dirty="0">
                <a:latin typeface="Times New Roman"/>
                <a:cs typeface="Times New Roman"/>
              </a:rPr>
              <a:t>))</a:t>
            </a:r>
            <a:endParaRPr sz="700" dirty="0">
              <a:latin typeface="Times New Roman"/>
              <a:cs typeface="Times New Roman"/>
            </a:endParaRPr>
          </a:p>
        </p:txBody>
      </p:sp>
      <p:sp>
        <p:nvSpPr>
          <p:cNvPr id="11" name="object 11"/>
          <p:cNvSpPr/>
          <p:nvPr/>
        </p:nvSpPr>
        <p:spPr>
          <a:xfrm>
            <a:off x="359994" y="2153564"/>
            <a:ext cx="3742690" cy="0"/>
          </a:xfrm>
          <a:custGeom>
            <a:avLst/>
            <a:gdLst/>
            <a:ahLst/>
            <a:cxnLst/>
            <a:rect l="l" t="t" r="r" b="b"/>
            <a:pathLst>
              <a:path w="3742690">
                <a:moveTo>
                  <a:pt x="0" y="0"/>
                </a:moveTo>
                <a:lnTo>
                  <a:pt x="3742385" y="0"/>
                </a:lnTo>
              </a:path>
            </a:pathLst>
          </a:custGeom>
          <a:ln w="5054">
            <a:solidFill>
              <a:srgbClr val="000000"/>
            </a:solidFill>
          </a:ln>
        </p:spPr>
        <p:txBody>
          <a:bodyPr wrap="square" lIns="0" tIns="0" rIns="0" bIns="0" rtlCol="0"/>
          <a:lstStyle/>
          <a:p>
            <a:endParaRPr/>
          </a:p>
        </p:txBody>
      </p:sp>
      <p:sp>
        <p:nvSpPr>
          <p:cNvPr id="12" name="object 12"/>
          <p:cNvSpPr txBox="1"/>
          <p:nvPr/>
        </p:nvSpPr>
        <p:spPr>
          <a:xfrm>
            <a:off x="423214" y="2618239"/>
            <a:ext cx="377825" cy="162560"/>
          </a:xfrm>
          <a:prstGeom prst="rect">
            <a:avLst/>
          </a:prstGeom>
        </p:spPr>
        <p:txBody>
          <a:bodyPr vert="horz" wrap="square" lIns="0" tIns="12065" rIns="0" bIns="0" rtlCol="0">
            <a:spAutoFit/>
          </a:bodyPr>
          <a:lstStyle/>
          <a:p>
            <a:pPr marL="12700">
              <a:lnSpc>
                <a:spcPct val="100000"/>
              </a:lnSpc>
              <a:spcBef>
                <a:spcPts val="95"/>
              </a:spcBef>
            </a:pPr>
            <a:r>
              <a:rPr sz="900" spc="-10" dirty="0">
                <a:solidFill>
                  <a:srgbClr val="3333B2"/>
                </a:solidFill>
                <a:latin typeface="Arial"/>
                <a:cs typeface="Arial"/>
              </a:rPr>
              <a:t>Chuck</a:t>
            </a:r>
            <a:r>
              <a:rPr sz="900" spc="-10" dirty="0">
                <a:latin typeface="Arial"/>
                <a:cs typeface="Arial"/>
              </a:rPr>
              <a:t>:</a:t>
            </a:r>
            <a:endParaRPr sz="900">
              <a:latin typeface="Arial"/>
              <a:cs typeface="Arial"/>
            </a:endParaRPr>
          </a:p>
        </p:txBody>
      </p:sp>
      <p:sp>
        <p:nvSpPr>
          <p:cNvPr id="13" name="object 13"/>
          <p:cNvSpPr txBox="1"/>
          <p:nvPr/>
        </p:nvSpPr>
        <p:spPr>
          <a:xfrm>
            <a:off x="983475" y="2145921"/>
            <a:ext cx="2841625" cy="1134110"/>
          </a:xfrm>
          <a:prstGeom prst="rect">
            <a:avLst/>
          </a:prstGeom>
        </p:spPr>
        <p:txBody>
          <a:bodyPr vert="horz" wrap="square" lIns="0" tIns="12065" rIns="0" bIns="0" rtlCol="0">
            <a:spAutoFit/>
          </a:bodyPr>
          <a:lstStyle/>
          <a:p>
            <a:pPr marL="50165">
              <a:lnSpc>
                <a:spcPts val="780"/>
              </a:lnSpc>
              <a:spcBef>
                <a:spcPts val="95"/>
              </a:spcBef>
            </a:pPr>
            <a:r>
              <a:rPr sz="500" dirty="0">
                <a:latin typeface="Times New Roman"/>
                <a:cs typeface="Times New Roman"/>
              </a:rPr>
              <a:t>1</a:t>
            </a:r>
            <a:r>
              <a:rPr sz="500" spc="204" dirty="0">
                <a:latin typeface="Times New Roman"/>
                <a:cs typeface="Times New Roman"/>
              </a:rPr>
              <a:t>  </a:t>
            </a:r>
            <a:r>
              <a:rPr sz="700" b="1" dirty="0">
                <a:solidFill>
                  <a:srgbClr val="FF0059"/>
                </a:solidFill>
                <a:latin typeface="Times New Roman"/>
                <a:cs typeface="Times New Roman"/>
              </a:rPr>
              <a:t>import</a:t>
            </a:r>
            <a:r>
              <a:rPr sz="700" b="1" spc="114" dirty="0">
                <a:solidFill>
                  <a:srgbClr val="FF0059"/>
                </a:solidFill>
                <a:latin typeface="Times New Roman"/>
                <a:cs typeface="Times New Roman"/>
              </a:rPr>
              <a:t> </a:t>
            </a:r>
            <a:r>
              <a:rPr sz="700" spc="75" dirty="0">
                <a:latin typeface="Times New Roman"/>
                <a:cs typeface="Times New Roman"/>
              </a:rPr>
              <a:t>linda</a:t>
            </a:r>
            <a:endParaRPr sz="700">
              <a:latin typeface="Times New Roman"/>
              <a:cs typeface="Times New Roman"/>
            </a:endParaRPr>
          </a:p>
          <a:p>
            <a:pPr marL="50165">
              <a:lnSpc>
                <a:spcPts val="780"/>
              </a:lnSpc>
            </a:pPr>
            <a:r>
              <a:rPr sz="500" dirty="0">
                <a:latin typeface="Times New Roman"/>
                <a:cs typeface="Times New Roman"/>
              </a:rPr>
              <a:t>2</a:t>
            </a:r>
            <a:r>
              <a:rPr sz="500" spc="455" dirty="0">
                <a:latin typeface="Times New Roman"/>
                <a:cs typeface="Times New Roman"/>
              </a:rPr>
              <a:t> </a:t>
            </a:r>
            <a:r>
              <a:rPr sz="700" spc="60" dirty="0">
                <a:latin typeface="Times New Roman"/>
                <a:cs typeface="Times New Roman"/>
              </a:rPr>
              <a:t>linda.connect()</a:t>
            </a:r>
            <a:endParaRPr sz="700">
              <a:latin typeface="Times New Roman"/>
              <a:cs typeface="Times New Roman"/>
            </a:endParaRPr>
          </a:p>
          <a:p>
            <a:pPr marL="50165">
              <a:lnSpc>
                <a:spcPts val="560"/>
              </a:lnSpc>
              <a:spcBef>
                <a:spcPts val="80"/>
              </a:spcBef>
            </a:pPr>
            <a:r>
              <a:rPr sz="500" spc="45" dirty="0">
                <a:latin typeface="Times New Roman"/>
                <a:cs typeface="Times New Roman"/>
              </a:rPr>
              <a:t>3</a:t>
            </a:r>
            <a:endParaRPr sz="500">
              <a:latin typeface="Times New Roman"/>
              <a:cs typeface="Times New Roman"/>
            </a:endParaRPr>
          </a:p>
          <a:p>
            <a:pPr marL="50165">
              <a:lnSpc>
                <a:spcPts val="800"/>
              </a:lnSpc>
            </a:pPr>
            <a:r>
              <a:rPr sz="500" dirty="0">
                <a:latin typeface="Times New Roman"/>
                <a:cs typeface="Times New Roman"/>
              </a:rPr>
              <a:t>4</a:t>
            </a:r>
            <a:r>
              <a:rPr sz="500" spc="480" dirty="0">
                <a:latin typeface="Times New Roman"/>
                <a:cs typeface="Times New Roman"/>
              </a:rPr>
              <a:t> </a:t>
            </a:r>
            <a:r>
              <a:rPr sz="700" spc="60" dirty="0">
                <a:latin typeface="Times New Roman"/>
                <a:cs typeface="Times New Roman"/>
              </a:rPr>
              <a:t>blog</a:t>
            </a:r>
            <a:r>
              <a:rPr sz="700" spc="114" dirty="0">
                <a:latin typeface="Times New Roman"/>
                <a:cs typeface="Times New Roman"/>
              </a:rPr>
              <a:t> </a:t>
            </a:r>
            <a:r>
              <a:rPr sz="700" dirty="0">
                <a:latin typeface="Times New Roman"/>
                <a:cs typeface="Times New Roman"/>
              </a:rPr>
              <a:t>=</a:t>
            </a:r>
            <a:r>
              <a:rPr sz="700" spc="110" dirty="0">
                <a:latin typeface="Times New Roman"/>
                <a:cs typeface="Times New Roman"/>
              </a:rPr>
              <a:t> </a:t>
            </a:r>
            <a:r>
              <a:rPr sz="700" spc="40" dirty="0">
                <a:latin typeface="Times New Roman"/>
                <a:cs typeface="Times New Roman"/>
              </a:rPr>
              <a:t>linda.universe._rd((</a:t>
            </a:r>
            <a:r>
              <a:rPr sz="700" spc="40" dirty="0">
                <a:solidFill>
                  <a:srgbClr val="C80000"/>
                </a:solidFill>
                <a:latin typeface="Times New Roman"/>
                <a:cs typeface="Times New Roman"/>
              </a:rPr>
              <a:t>"MicroBlog"</a:t>
            </a:r>
            <a:r>
              <a:rPr sz="700" spc="40" dirty="0">
                <a:latin typeface="Times New Roman"/>
                <a:cs typeface="Times New Roman"/>
              </a:rPr>
              <a:t>,linda.TupleSpace))[1]</a:t>
            </a:r>
            <a:endParaRPr sz="700">
              <a:latin typeface="Times New Roman"/>
              <a:cs typeface="Times New Roman"/>
            </a:endParaRPr>
          </a:p>
          <a:p>
            <a:pPr marL="50165">
              <a:lnSpc>
                <a:spcPts val="560"/>
              </a:lnSpc>
              <a:spcBef>
                <a:spcPts val="75"/>
              </a:spcBef>
            </a:pPr>
            <a:r>
              <a:rPr sz="500" spc="45" dirty="0">
                <a:latin typeface="Times New Roman"/>
                <a:cs typeface="Times New Roman"/>
              </a:rPr>
              <a:t>5</a:t>
            </a:r>
            <a:endParaRPr sz="500">
              <a:latin typeface="Times New Roman"/>
              <a:cs typeface="Times New Roman"/>
            </a:endParaRPr>
          </a:p>
          <a:p>
            <a:pPr marL="50165">
              <a:lnSpc>
                <a:spcPts val="735"/>
              </a:lnSpc>
            </a:pPr>
            <a:r>
              <a:rPr sz="500" dirty="0">
                <a:latin typeface="Times New Roman"/>
                <a:cs typeface="Times New Roman"/>
              </a:rPr>
              <a:t>6</a:t>
            </a:r>
            <a:r>
              <a:rPr sz="500" spc="455" dirty="0">
                <a:latin typeface="Times New Roman"/>
                <a:cs typeface="Times New Roman"/>
              </a:rPr>
              <a:t> </a:t>
            </a:r>
            <a:r>
              <a:rPr sz="700" spc="120" dirty="0">
                <a:latin typeface="Times New Roman"/>
                <a:cs typeface="Times New Roman"/>
              </a:rPr>
              <a:t>t1</a:t>
            </a:r>
            <a:r>
              <a:rPr sz="700" spc="110" dirty="0">
                <a:latin typeface="Times New Roman"/>
                <a:cs typeface="Times New Roman"/>
              </a:rPr>
              <a:t> </a:t>
            </a:r>
            <a:r>
              <a:rPr sz="700" dirty="0">
                <a:latin typeface="Times New Roman"/>
                <a:cs typeface="Times New Roman"/>
              </a:rPr>
              <a:t>=</a:t>
            </a:r>
            <a:r>
              <a:rPr sz="700" spc="95" dirty="0">
                <a:latin typeface="Times New Roman"/>
                <a:cs typeface="Times New Roman"/>
              </a:rPr>
              <a:t> </a:t>
            </a:r>
            <a:r>
              <a:rPr sz="700" spc="60" dirty="0">
                <a:latin typeface="Times New Roman"/>
                <a:cs typeface="Times New Roman"/>
              </a:rPr>
              <a:t>blog._rd((</a:t>
            </a:r>
            <a:r>
              <a:rPr sz="700" spc="60" dirty="0">
                <a:solidFill>
                  <a:srgbClr val="C80000"/>
                </a:solidFill>
                <a:latin typeface="Times New Roman"/>
                <a:cs typeface="Times New Roman"/>
              </a:rPr>
              <a:t>"bob"</a:t>
            </a:r>
            <a:r>
              <a:rPr sz="700" spc="60" dirty="0">
                <a:latin typeface="Times New Roman"/>
                <a:cs typeface="Times New Roman"/>
              </a:rPr>
              <a:t>,</a:t>
            </a:r>
            <a:r>
              <a:rPr sz="700" spc="60" dirty="0">
                <a:solidFill>
                  <a:srgbClr val="C80000"/>
                </a:solidFill>
                <a:latin typeface="Times New Roman"/>
                <a:cs typeface="Times New Roman"/>
              </a:rPr>
              <a:t>"distsys"</a:t>
            </a:r>
            <a:r>
              <a:rPr sz="700" spc="60" dirty="0">
                <a:latin typeface="Times New Roman"/>
                <a:cs typeface="Times New Roman"/>
              </a:rPr>
              <a:t>,</a:t>
            </a:r>
            <a:r>
              <a:rPr sz="700" b="1" spc="60" dirty="0">
                <a:solidFill>
                  <a:srgbClr val="FF0059"/>
                </a:solidFill>
                <a:latin typeface="Times New Roman"/>
                <a:cs typeface="Times New Roman"/>
              </a:rPr>
              <a:t>str</a:t>
            </a:r>
            <a:r>
              <a:rPr sz="700" spc="60" dirty="0">
                <a:latin typeface="Times New Roman"/>
                <a:cs typeface="Times New Roman"/>
              </a:rPr>
              <a:t>))</a:t>
            </a:r>
            <a:endParaRPr sz="700">
              <a:latin typeface="Times New Roman"/>
              <a:cs typeface="Times New Roman"/>
            </a:endParaRPr>
          </a:p>
          <a:p>
            <a:pPr marL="50165">
              <a:lnSpc>
                <a:spcPts val="715"/>
              </a:lnSpc>
            </a:pPr>
            <a:r>
              <a:rPr sz="500" dirty="0">
                <a:latin typeface="Times New Roman"/>
                <a:cs typeface="Times New Roman"/>
              </a:rPr>
              <a:t>7</a:t>
            </a:r>
            <a:r>
              <a:rPr sz="500" spc="455" dirty="0">
                <a:latin typeface="Times New Roman"/>
                <a:cs typeface="Times New Roman"/>
              </a:rPr>
              <a:t> </a:t>
            </a:r>
            <a:r>
              <a:rPr sz="700" spc="120" dirty="0">
                <a:latin typeface="Times New Roman"/>
                <a:cs typeface="Times New Roman"/>
              </a:rPr>
              <a:t>t2</a:t>
            </a:r>
            <a:r>
              <a:rPr sz="700" spc="110" dirty="0">
                <a:latin typeface="Times New Roman"/>
                <a:cs typeface="Times New Roman"/>
              </a:rPr>
              <a:t> </a:t>
            </a:r>
            <a:r>
              <a:rPr sz="700" dirty="0">
                <a:latin typeface="Times New Roman"/>
                <a:cs typeface="Times New Roman"/>
              </a:rPr>
              <a:t>=</a:t>
            </a:r>
            <a:r>
              <a:rPr sz="700" spc="95" dirty="0">
                <a:latin typeface="Times New Roman"/>
                <a:cs typeface="Times New Roman"/>
              </a:rPr>
              <a:t> </a:t>
            </a:r>
            <a:r>
              <a:rPr sz="700" spc="65" dirty="0">
                <a:latin typeface="Times New Roman"/>
                <a:cs typeface="Times New Roman"/>
              </a:rPr>
              <a:t>blog._rd((</a:t>
            </a:r>
            <a:r>
              <a:rPr sz="700" spc="65" dirty="0">
                <a:solidFill>
                  <a:srgbClr val="C80000"/>
                </a:solidFill>
                <a:latin typeface="Times New Roman"/>
                <a:cs typeface="Times New Roman"/>
              </a:rPr>
              <a:t>"alice"</a:t>
            </a:r>
            <a:r>
              <a:rPr sz="700" spc="65" dirty="0">
                <a:latin typeface="Times New Roman"/>
                <a:cs typeface="Times New Roman"/>
              </a:rPr>
              <a:t>,</a:t>
            </a:r>
            <a:r>
              <a:rPr sz="700" spc="65" dirty="0">
                <a:solidFill>
                  <a:srgbClr val="C80000"/>
                </a:solidFill>
                <a:latin typeface="Times New Roman"/>
                <a:cs typeface="Times New Roman"/>
              </a:rPr>
              <a:t>"gtcn"</a:t>
            </a:r>
            <a:r>
              <a:rPr sz="700" spc="65" dirty="0">
                <a:latin typeface="Times New Roman"/>
                <a:cs typeface="Times New Roman"/>
              </a:rPr>
              <a:t>,</a:t>
            </a:r>
            <a:r>
              <a:rPr sz="700" b="1" spc="65" dirty="0">
                <a:solidFill>
                  <a:srgbClr val="FF0059"/>
                </a:solidFill>
                <a:latin typeface="Times New Roman"/>
                <a:cs typeface="Times New Roman"/>
              </a:rPr>
              <a:t>str</a:t>
            </a:r>
            <a:r>
              <a:rPr sz="700" spc="65" dirty="0">
                <a:latin typeface="Times New Roman"/>
                <a:cs typeface="Times New Roman"/>
              </a:rPr>
              <a:t>))</a:t>
            </a:r>
            <a:endParaRPr sz="700">
              <a:latin typeface="Times New Roman"/>
              <a:cs typeface="Times New Roman"/>
            </a:endParaRPr>
          </a:p>
          <a:p>
            <a:pPr marL="50165">
              <a:lnSpc>
                <a:spcPts val="780"/>
              </a:lnSpc>
            </a:pPr>
            <a:r>
              <a:rPr sz="500" dirty="0">
                <a:latin typeface="Times New Roman"/>
                <a:cs typeface="Times New Roman"/>
              </a:rPr>
              <a:t>8</a:t>
            </a:r>
            <a:r>
              <a:rPr sz="500" spc="455" dirty="0">
                <a:latin typeface="Times New Roman"/>
                <a:cs typeface="Times New Roman"/>
              </a:rPr>
              <a:t> </a:t>
            </a:r>
            <a:r>
              <a:rPr sz="700" spc="120" dirty="0">
                <a:latin typeface="Times New Roman"/>
                <a:cs typeface="Times New Roman"/>
              </a:rPr>
              <a:t>t3</a:t>
            </a:r>
            <a:r>
              <a:rPr sz="700" spc="110" dirty="0">
                <a:latin typeface="Times New Roman"/>
                <a:cs typeface="Times New Roman"/>
              </a:rPr>
              <a:t> </a:t>
            </a:r>
            <a:r>
              <a:rPr sz="700" dirty="0">
                <a:latin typeface="Times New Roman"/>
                <a:cs typeface="Times New Roman"/>
              </a:rPr>
              <a:t>=</a:t>
            </a:r>
            <a:r>
              <a:rPr sz="700" spc="95" dirty="0">
                <a:latin typeface="Times New Roman"/>
                <a:cs typeface="Times New Roman"/>
              </a:rPr>
              <a:t> </a:t>
            </a:r>
            <a:r>
              <a:rPr sz="700" spc="55" dirty="0">
                <a:latin typeface="Times New Roman"/>
                <a:cs typeface="Times New Roman"/>
              </a:rPr>
              <a:t>blog._rd((</a:t>
            </a:r>
            <a:r>
              <a:rPr sz="700" spc="55" dirty="0">
                <a:solidFill>
                  <a:srgbClr val="C80000"/>
                </a:solidFill>
                <a:latin typeface="Times New Roman"/>
                <a:cs typeface="Times New Roman"/>
              </a:rPr>
              <a:t>"bob"</a:t>
            </a:r>
            <a:r>
              <a:rPr sz="700" spc="55" dirty="0">
                <a:latin typeface="Times New Roman"/>
                <a:cs typeface="Times New Roman"/>
              </a:rPr>
              <a:t>,</a:t>
            </a:r>
            <a:r>
              <a:rPr sz="700" spc="55" dirty="0">
                <a:solidFill>
                  <a:srgbClr val="C80000"/>
                </a:solidFill>
                <a:latin typeface="Times New Roman"/>
                <a:cs typeface="Times New Roman"/>
              </a:rPr>
              <a:t>"gtcn"</a:t>
            </a:r>
            <a:r>
              <a:rPr sz="700" spc="55" dirty="0">
                <a:latin typeface="Times New Roman"/>
                <a:cs typeface="Times New Roman"/>
              </a:rPr>
              <a:t>,</a:t>
            </a:r>
            <a:r>
              <a:rPr sz="700" b="1" spc="55" dirty="0">
                <a:solidFill>
                  <a:srgbClr val="FF0059"/>
                </a:solidFill>
                <a:latin typeface="Times New Roman"/>
                <a:cs typeface="Times New Roman"/>
              </a:rPr>
              <a:t>str</a:t>
            </a:r>
            <a:r>
              <a:rPr sz="700" spc="55" dirty="0">
                <a:latin typeface="Times New Roman"/>
                <a:cs typeface="Times New Roman"/>
              </a:rPr>
              <a:t>))</a:t>
            </a:r>
            <a:endParaRPr sz="700">
              <a:latin typeface="Times New Roman"/>
              <a:cs typeface="Times New Roman"/>
            </a:endParaRPr>
          </a:p>
          <a:p>
            <a:pPr marL="50165">
              <a:lnSpc>
                <a:spcPts val="560"/>
              </a:lnSpc>
              <a:spcBef>
                <a:spcPts val="80"/>
              </a:spcBef>
            </a:pPr>
            <a:r>
              <a:rPr sz="500" spc="45" dirty="0">
                <a:latin typeface="Times New Roman"/>
                <a:cs typeface="Times New Roman"/>
              </a:rPr>
              <a:t>9</a:t>
            </a:r>
            <a:endParaRPr sz="500">
              <a:latin typeface="Times New Roman"/>
              <a:cs typeface="Times New Roman"/>
            </a:endParaRPr>
          </a:p>
          <a:p>
            <a:pPr marL="12700">
              <a:lnSpc>
                <a:spcPts val="735"/>
              </a:lnSpc>
            </a:pPr>
            <a:r>
              <a:rPr sz="500" dirty="0">
                <a:latin typeface="Times New Roman"/>
                <a:cs typeface="Times New Roman"/>
              </a:rPr>
              <a:t>10</a:t>
            </a:r>
            <a:r>
              <a:rPr sz="500" spc="475" dirty="0">
                <a:latin typeface="Times New Roman"/>
                <a:cs typeface="Times New Roman"/>
              </a:rPr>
              <a:t> </a:t>
            </a:r>
            <a:r>
              <a:rPr sz="700" b="1" spc="65" dirty="0">
                <a:solidFill>
                  <a:srgbClr val="FF0059"/>
                </a:solidFill>
                <a:latin typeface="Times New Roman"/>
                <a:cs typeface="Times New Roman"/>
              </a:rPr>
              <a:t>print</a:t>
            </a:r>
            <a:r>
              <a:rPr sz="700" b="1" spc="95" dirty="0">
                <a:solidFill>
                  <a:srgbClr val="FF0059"/>
                </a:solidFill>
                <a:latin typeface="Times New Roman"/>
                <a:cs typeface="Times New Roman"/>
              </a:rPr>
              <a:t> </a:t>
            </a:r>
            <a:r>
              <a:rPr sz="700" spc="95" dirty="0">
                <a:latin typeface="Times New Roman"/>
                <a:cs typeface="Times New Roman"/>
              </a:rPr>
              <a:t>t1</a:t>
            </a:r>
            <a:endParaRPr sz="700">
              <a:latin typeface="Times New Roman"/>
              <a:cs typeface="Times New Roman"/>
            </a:endParaRPr>
          </a:p>
          <a:p>
            <a:pPr marL="12700">
              <a:lnSpc>
                <a:spcPts val="715"/>
              </a:lnSpc>
            </a:pPr>
            <a:r>
              <a:rPr sz="500" dirty="0">
                <a:latin typeface="Times New Roman"/>
                <a:cs typeface="Times New Roman"/>
              </a:rPr>
              <a:t>11</a:t>
            </a:r>
            <a:r>
              <a:rPr sz="500" spc="475" dirty="0">
                <a:latin typeface="Times New Roman"/>
                <a:cs typeface="Times New Roman"/>
              </a:rPr>
              <a:t> </a:t>
            </a:r>
            <a:r>
              <a:rPr sz="700" b="1" spc="65" dirty="0">
                <a:solidFill>
                  <a:srgbClr val="FF0059"/>
                </a:solidFill>
                <a:latin typeface="Times New Roman"/>
                <a:cs typeface="Times New Roman"/>
              </a:rPr>
              <a:t>print</a:t>
            </a:r>
            <a:r>
              <a:rPr sz="700" b="1" spc="95" dirty="0">
                <a:solidFill>
                  <a:srgbClr val="FF0059"/>
                </a:solidFill>
                <a:latin typeface="Times New Roman"/>
                <a:cs typeface="Times New Roman"/>
              </a:rPr>
              <a:t> </a:t>
            </a:r>
            <a:r>
              <a:rPr sz="700" spc="95" dirty="0">
                <a:latin typeface="Times New Roman"/>
                <a:cs typeface="Times New Roman"/>
              </a:rPr>
              <a:t>t2</a:t>
            </a:r>
            <a:endParaRPr sz="700">
              <a:latin typeface="Times New Roman"/>
              <a:cs typeface="Times New Roman"/>
            </a:endParaRPr>
          </a:p>
          <a:p>
            <a:pPr marL="12700">
              <a:lnSpc>
                <a:spcPts val="780"/>
              </a:lnSpc>
            </a:pPr>
            <a:r>
              <a:rPr sz="500" dirty="0">
                <a:latin typeface="Times New Roman"/>
                <a:cs typeface="Times New Roman"/>
              </a:rPr>
              <a:t>12</a:t>
            </a:r>
            <a:r>
              <a:rPr sz="500" spc="475" dirty="0">
                <a:latin typeface="Times New Roman"/>
                <a:cs typeface="Times New Roman"/>
              </a:rPr>
              <a:t> </a:t>
            </a:r>
            <a:r>
              <a:rPr sz="700" b="1" spc="65" dirty="0">
                <a:solidFill>
                  <a:srgbClr val="FF0059"/>
                </a:solidFill>
                <a:latin typeface="Times New Roman"/>
                <a:cs typeface="Times New Roman"/>
              </a:rPr>
              <a:t>print</a:t>
            </a:r>
            <a:r>
              <a:rPr sz="700" b="1" spc="95" dirty="0">
                <a:solidFill>
                  <a:srgbClr val="FF0059"/>
                </a:solidFill>
                <a:latin typeface="Times New Roman"/>
                <a:cs typeface="Times New Roman"/>
              </a:rPr>
              <a:t> </a:t>
            </a:r>
            <a:r>
              <a:rPr sz="700" spc="95" dirty="0">
                <a:latin typeface="Times New Roman"/>
                <a:cs typeface="Times New Roman"/>
              </a:rPr>
              <a:t>t3</a:t>
            </a:r>
            <a:endParaRPr sz="700">
              <a:latin typeface="Times New Roman"/>
              <a:cs typeface="Times New Roman"/>
            </a:endParaRPr>
          </a:p>
        </p:txBody>
      </p:sp>
      <p:grpSp>
        <p:nvGrpSpPr>
          <p:cNvPr id="14" name="object 14"/>
          <p:cNvGrpSpPr/>
          <p:nvPr/>
        </p:nvGrpSpPr>
        <p:grpSpPr>
          <a:xfrm>
            <a:off x="0" y="3348469"/>
            <a:ext cx="4608195" cy="107950"/>
            <a:chOff x="0" y="3348469"/>
            <a:chExt cx="4608195" cy="107950"/>
          </a:xfrm>
        </p:grpSpPr>
        <p:sp>
          <p:nvSpPr>
            <p:cNvPr id="15" name="object 15"/>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6" name="object 16"/>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7" name="object 17"/>
          <p:cNvSpPr txBox="1"/>
          <p:nvPr/>
        </p:nvSpPr>
        <p:spPr>
          <a:xfrm>
            <a:off x="53467" y="3349927"/>
            <a:ext cx="90424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3" action="ppaction://hlinksldjump"/>
              </a:rPr>
              <a:t>Publish-</a:t>
            </a:r>
            <a:r>
              <a:rPr sz="500" dirty="0">
                <a:latin typeface="Arial"/>
                <a:cs typeface="Arial"/>
                <a:hlinkClick r:id="rId3" action="ppaction://hlinksldjump"/>
              </a:rPr>
              <a:t>subscribe</a:t>
            </a:r>
            <a:r>
              <a:rPr sz="500" spc="30" dirty="0">
                <a:latin typeface="Arial"/>
                <a:cs typeface="Arial"/>
                <a:hlinkClick r:id="rId3" action="ppaction://hlinksldjump"/>
              </a:rPr>
              <a:t> </a:t>
            </a:r>
            <a:r>
              <a:rPr sz="500" spc="-10" dirty="0">
                <a:latin typeface="Arial"/>
                <a:cs typeface="Arial"/>
                <a:hlinkClick r:id="rId3" action="ppaction://hlinksldjump"/>
              </a:rPr>
              <a:t>architectures</a:t>
            </a:r>
            <a:endParaRPr sz="500">
              <a:latin typeface="Arial"/>
              <a:cs typeface="Arial"/>
            </a:endParaRP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Architectures</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998925" y="-1515"/>
            <a:ext cx="555625"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2" action="ppaction://hlinksldjump"/>
              </a:rPr>
              <a:t>Architectural</a:t>
            </a:r>
            <a:r>
              <a:rPr sz="500" spc="90" dirty="0">
                <a:solidFill>
                  <a:srgbClr val="FFFFFF"/>
                </a:solidFill>
                <a:latin typeface="Arial"/>
                <a:cs typeface="Arial"/>
                <a:hlinkClick r:id="rId2" action="ppaction://hlinksldjump"/>
              </a:rPr>
              <a:t> </a:t>
            </a:r>
            <a:r>
              <a:rPr sz="500" spc="-10" dirty="0">
                <a:solidFill>
                  <a:srgbClr val="FFFFFF"/>
                </a:solidFill>
                <a:latin typeface="Arial"/>
                <a:cs typeface="Arial"/>
                <a:hlinkClick r:id="rId2" action="ppaction://hlinksldjump"/>
              </a:rPr>
              <a:t>styles</a:t>
            </a:r>
            <a:endParaRPr sz="500">
              <a:latin typeface="Arial"/>
              <a:cs typeface="Arial"/>
            </a:endParaRPr>
          </a:p>
        </p:txBody>
      </p:sp>
      <p:sp>
        <p:nvSpPr>
          <p:cNvPr id="5" name="object 5"/>
          <p:cNvSpPr txBox="1"/>
          <p:nvPr/>
        </p:nvSpPr>
        <p:spPr>
          <a:xfrm>
            <a:off x="69900" y="197711"/>
            <a:ext cx="3749040" cy="1077595"/>
          </a:xfrm>
          <a:prstGeom prst="rect">
            <a:avLst/>
          </a:prstGeom>
        </p:spPr>
        <p:txBody>
          <a:bodyPr vert="horz" wrap="square" lIns="0" tIns="12065" rIns="0" bIns="0" rtlCol="0">
            <a:spAutoFit/>
          </a:bodyPr>
          <a:lstStyle/>
          <a:p>
            <a:pPr marL="38100">
              <a:lnSpc>
                <a:spcPct val="100000"/>
              </a:lnSpc>
              <a:spcBef>
                <a:spcPts val="95"/>
              </a:spcBef>
            </a:pPr>
            <a:r>
              <a:rPr sz="1200" dirty="0">
                <a:solidFill>
                  <a:srgbClr val="3333B2"/>
                </a:solidFill>
                <a:latin typeface="Arial"/>
                <a:cs typeface="Arial"/>
              </a:rPr>
              <a:t>Publish</a:t>
            </a:r>
            <a:r>
              <a:rPr sz="1200" spc="-50" dirty="0">
                <a:solidFill>
                  <a:srgbClr val="3333B2"/>
                </a:solidFill>
                <a:latin typeface="Arial"/>
                <a:cs typeface="Arial"/>
              </a:rPr>
              <a:t> </a:t>
            </a:r>
            <a:r>
              <a:rPr sz="1200" dirty="0">
                <a:solidFill>
                  <a:srgbClr val="3333B2"/>
                </a:solidFill>
                <a:latin typeface="Arial"/>
                <a:cs typeface="Arial"/>
              </a:rPr>
              <a:t>and</a:t>
            </a:r>
            <a:r>
              <a:rPr sz="1200" spc="-45" dirty="0">
                <a:solidFill>
                  <a:srgbClr val="3333B2"/>
                </a:solidFill>
                <a:latin typeface="Arial"/>
                <a:cs typeface="Arial"/>
              </a:rPr>
              <a:t> </a:t>
            </a:r>
            <a:r>
              <a:rPr sz="1200" spc="-10" dirty="0">
                <a:solidFill>
                  <a:srgbClr val="3333B2"/>
                </a:solidFill>
                <a:latin typeface="Arial"/>
                <a:cs typeface="Arial"/>
              </a:rPr>
              <a:t>subscribe</a:t>
            </a:r>
            <a:endParaRPr sz="1200">
              <a:latin typeface="Arial"/>
              <a:cs typeface="Arial"/>
            </a:endParaRPr>
          </a:p>
          <a:p>
            <a:pPr marL="289560">
              <a:lnSpc>
                <a:spcPct val="100000"/>
              </a:lnSpc>
              <a:spcBef>
                <a:spcPts val="1055"/>
              </a:spcBef>
            </a:pPr>
            <a:r>
              <a:rPr sz="1000" dirty="0">
                <a:solidFill>
                  <a:srgbClr val="3333B2"/>
                </a:solidFill>
                <a:latin typeface="Arial"/>
                <a:cs typeface="Arial"/>
              </a:rPr>
              <a:t>Issue:</a:t>
            </a:r>
            <a:r>
              <a:rPr sz="1000" spc="30" dirty="0">
                <a:solidFill>
                  <a:srgbClr val="3333B2"/>
                </a:solidFill>
                <a:latin typeface="Arial"/>
                <a:cs typeface="Arial"/>
              </a:rPr>
              <a:t> </a:t>
            </a:r>
            <a:r>
              <a:rPr sz="1000" dirty="0">
                <a:solidFill>
                  <a:srgbClr val="3333B2"/>
                </a:solidFill>
                <a:latin typeface="Arial"/>
                <a:cs typeface="Arial"/>
              </a:rPr>
              <a:t>how</a:t>
            </a:r>
            <a:r>
              <a:rPr sz="1000" spc="-30" dirty="0">
                <a:solidFill>
                  <a:srgbClr val="3333B2"/>
                </a:solidFill>
                <a:latin typeface="Arial"/>
                <a:cs typeface="Arial"/>
              </a:rPr>
              <a:t> </a:t>
            </a:r>
            <a:r>
              <a:rPr sz="1000" dirty="0">
                <a:solidFill>
                  <a:srgbClr val="3333B2"/>
                </a:solidFill>
                <a:latin typeface="Arial"/>
                <a:cs typeface="Arial"/>
              </a:rPr>
              <a:t>to</a:t>
            </a:r>
            <a:r>
              <a:rPr sz="1000" spc="-25" dirty="0">
                <a:solidFill>
                  <a:srgbClr val="3333B2"/>
                </a:solidFill>
                <a:latin typeface="Arial"/>
                <a:cs typeface="Arial"/>
              </a:rPr>
              <a:t> </a:t>
            </a:r>
            <a:r>
              <a:rPr sz="1000" dirty="0">
                <a:solidFill>
                  <a:srgbClr val="3333B2"/>
                </a:solidFill>
                <a:latin typeface="Arial"/>
                <a:cs typeface="Arial"/>
              </a:rPr>
              <a:t>match</a:t>
            </a:r>
            <a:r>
              <a:rPr sz="1000" spc="-30" dirty="0">
                <a:solidFill>
                  <a:srgbClr val="3333B2"/>
                </a:solidFill>
                <a:latin typeface="Arial"/>
                <a:cs typeface="Arial"/>
              </a:rPr>
              <a:t> </a:t>
            </a:r>
            <a:r>
              <a:rPr sz="1000" spc="-10" dirty="0">
                <a:solidFill>
                  <a:srgbClr val="3333B2"/>
                </a:solidFill>
                <a:latin typeface="Arial"/>
                <a:cs typeface="Arial"/>
              </a:rPr>
              <a:t>events?</a:t>
            </a:r>
            <a:endParaRPr sz="1000">
              <a:latin typeface="Arial"/>
              <a:cs typeface="Arial"/>
            </a:endParaRPr>
          </a:p>
          <a:p>
            <a:pPr marL="539115" indent="-116839">
              <a:lnSpc>
                <a:spcPct val="100000"/>
              </a:lnSpc>
              <a:spcBef>
                <a:spcPts val="505"/>
              </a:spcBef>
              <a:buClr>
                <a:srgbClr val="3333B2"/>
              </a:buClr>
              <a:buFont typeface="Apple Symbols"/>
              <a:buChar char="•"/>
              <a:tabLst>
                <a:tab pos="539750" algn="l"/>
              </a:tabLst>
            </a:pPr>
            <a:r>
              <a:rPr sz="900" dirty="0">
                <a:latin typeface="Arial"/>
                <a:cs typeface="Arial"/>
              </a:rPr>
              <a:t>Assume</a:t>
            </a:r>
            <a:r>
              <a:rPr sz="900" spc="-20" dirty="0">
                <a:latin typeface="Arial"/>
                <a:cs typeface="Arial"/>
              </a:rPr>
              <a:t> </a:t>
            </a:r>
            <a:r>
              <a:rPr sz="900" spc="-10" dirty="0">
                <a:latin typeface="Arial"/>
                <a:cs typeface="Arial"/>
              </a:rPr>
              <a:t>events</a:t>
            </a:r>
            <a:r>
              <a:rPr sz="900" spc="-15" dirty="0">
                <a:latin typeface="Arial"/>
                <a:cs typeface="Arial"/>
              </a:rPr>
              <a:t> </a:t>
            </a:r>
            <a:r>
              <a:rPr sz="900" dirty="0">
                <a:latin typeface="Arial"/>
                <a:cs typeface="Arial"/>
              </a:rPr>
              <a:t>are</a:t>
            </a:r>
            <a:r>
              <a:rPr sz="900" spc="-15" dirty="0">
                <a:latin typeface="Arial"/>
                <a:cs typeface="Arial"/>
              </a:rPr>
              <a:t> </a:t>
            </a:r>
            <a:r>
              <a:rPr sz="900" dirty="0">
                <a:latin typeface="Arial"/>
                <a:cs typeface="Arial"/>
              </a:rPr>
              <a:t>described</a:t>
            </a:r>
            <a:r>
              <a:rPr sz="900" spc="-20" dirty="0">
                <a:latin typeface="Arial"/>
                <a:cs typeface="Arial"/>
              </a:rPr>
              <a:t> </a:t>
            </a:r>
            <a:r>
              <a:rPr sz="900" dirty="0">
                <a:latin typeface="Arial"/>
                <a:cs typeface="Arial"/>
              </a:rPr>
              <a:t>by</a:t>
            </a:r>
            <a:r>
              <a:rPr sz="900" spc="-15" dirty="0">
                <a:latin typeface="Arial"/>
                <a:cs typeface="Arial"/>
              </a:rPr>
              <a:t> </a:t>
            </a:r>
            <a:r>
              <a:rPr sz="900" spc="-10" dirty="0">
                <a:solidFill>
                  <a:srgbClr val="3333B2"/>
                </a:solidFill>
                <a:latin typeface="Arial"/>
                <a:cs typeface="Arial"/>
              </a:rPr>
              <a:t>(attribute,value)</a:t>
            </a:r>
            <a:r>
              <a:rPr sz="900" spc="-15" dirty="0">
                <a:solidFill>
                  <a:srgbClr val="3333B2"/>
                </a:solidFill>
                <a:latin typeface="Arial"/>
                <a:cs typeface="Arial"/>
              </a:rPr>
              <a:t> </a:t>
            </a:r>
            <a:r>
              <a:rPr sz="900" spc="-10" dirty="0">
                <a:latin typeface="Arial"/>
                <a:cs typeface="Arial"/>
              </a:rPr>
              <a:t>pairs</a:t>
            </a:r>
            <a:endParaRPr sz="900">
              <a:latin typeface="Arial"/>
              <a:cs typeface="Arial"/>
            </a:endParaRPr>
          </a:p>
          <a:p>
            <a:pPr marL="542925" indent="-120650">
              <a:lnSpc>
                <a:spcPct val="100000"/>
              </a:lnSpc>
              <a:spcBef>
                <a:spcPts val="425"/>
              </a:spcBef>
              <a:buClr>
                <a:srgbClr val="3333B2"/>
              </a:buClr>
              <a:buFont typeface="Apple Symbols"/>
              <a:buChar char="•"/>
              <a:tabLst>
                <a:tab pos="543560" algn="l"/>
              </a:tabLst>
            </a:pPr>
            <a:r>
              <a:rPr sz="900" spc="-10" dirty="0">
                <a:solidFill>
                  <a:srgbClr val="C80000"/>
                </a:solidFill>
                <a:latin typeface="Arial"/>
                <a:cs typeface="Arial"/>
              </a:rPr>
              <a:t>topic-</a:t>
            </a:r>
            <a:r>
              <a:rPr sz="900" dirty="0">
                <a:solidFill>
                  <a:srgbClr val="C80000"/>
                </a:solidFill>
                <a:latin typeface="Arial"/>
                <a:cs typeface="Arial"/>
              </a:rPr>
              <a:t>based</a:t>
            </a:r>
            <a:r>
              <a:rPr sz="900" spc="-30" dirty="0">
                <a:solidFill>
                  <a:srgbClr val="C80000"/>
                </a:solidFill>
                <a:latin typeface="Arial"/>
                <a:cs typeface="Arial"/>
              </a:rPr>
              <a:t> </a:t>
            </a:r>
            <a:r>
              <a:rPr sz="900" dirty="0">
                <a:solidFill>
                  <a:srgbClr val="C80000"/>
                </a:solidFill>
                <a:latin typeface="Arial"/>
                <a:cs typeface="Arial"/>
              </a:rPr>
              <a:t>subscription</a:t>
            </a:r>
            <a:r>
              <a:rPr sz="900" dirty="0">
                <a:latin typeface="Arial"/>
                <a:cs typeface="Arial"/>
              </a:rPr>
              <a:t>:</a:t>
            </a:r>
            <a:r>
              <a:rPr sz="900" spc="30" dirty="0">
                <a:latin typeface="Arial"/>
                <a:cs typeface="Arial"/>
              </a:rPr>
              <a:t> </a:t>
            </a:r>
            <a:r>
              <a:rPr sz="900" dirty="0">
                <a:latin typeface="Arial"/>
                <a:cs typeface="Arial"/>
              </a:rPr>
              <a:t>specify</a:t>
            </a:r>
            <a:r>
              <a:rPr sz="900" spc="-30"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a:t>
            </a:r>
            <a:r>
              <a:rPr sz="900" dirty="0">
                <a:solidFill>
                  <a:srgbClr val="3333B2"/>
                </a:solidFill>
                <a:latin typeface="Arial"/>
                <a:cs typeface="Arial"/>
              </a:rPr>
              <a:t>attribute</a:t>
            </a:r>
            <a:r>
              <a:rPr sz="900" spc="-30" dirty="0">
                <a:solidFill>
                  <a:srgbClr val="3333B2"/>
                </a:solidFill>
                <a:latin typeface="Arial"/>
                <a:cs typeface="Arial"/>
              </a:rPr>
              <a:t> </a:t>
            </a:r>
            <a:r>
              <a:rPr sz="900" dirty="0">
                <a:solidFill>
                  <a:srgbClr val="3333B2"/>
                </a:solidFill>
                <a:latin typeface="Arial"/>
                <a:cs typeface="Arial"/>
              </a:rPr>
              <a:t>=</a:t>
            </a:r>
            <a:r>
              <a:rPr sz="900" spc="-25" dirty="0">
                <a:solidFill>
                  <a:srgbClr val="3333B2"/>
                </a:solidFill>
                <a:latin typeface="Arial"/>
                <a:cs typeface="Arial"/>
              </a:rPr>
              <a:t> </a:t>
            </a:r>
            <a:r>
              <a:rPr sz="900" dirty="0">
                <a:solidFill>
                  <a:srgbClr val="3333B2"/>
                </a:solidFill>
                <a:latin typeface="Arial"/>
                <a:cs typeface="Arial"/>
              </a:rPr>
              <a:t>value</a:t>
            </a:r>
            <a:r>
              <a:rPr sz="900" dirty="0">
                <a:latin typeface="Arial"/>
                <a:cs typeface="Arial"/>
              </a:rPr>
              <a:t>”</a:t>
            </a:r>
            <a:r>
              <a:rPr sz="900" spc="-30" dirty="0">
                <a:latin typeface="Arial"/>
                <a:cs typeface="Arial"/>
              </a:rPr>
              <a:t> </a:t>
            </a:r>
            <a:r>
              <a:rPr sz="900" spc="-10" dirty="0">
                <a:latin typeface="Arial"/>
                <a:cs typeface="Arial"/>
              </a:rPr>
              <a:t>series</a:t>
            </a:r>
            <a:endParaRPr sz="900">
              <a:latin typeface="Arial"/>
              <a:cs typeface="Arial"/>
            </a:endParaRPr>
          </a:p>
          <a:p>
            <a:pPr marL="542925" indent="-120650">
              <a:lnSpc>
                <a:spcPct val="100000"/>
              </a:lnSpc>
              <a:spcBef>
                <a:spcPts val="425"/>
              </a:spcBef>
              <a:buClr>
                <a:srgbClr val="3333B2"/>
              </a:buClr>
              <a:buFont typeface="Apple Symbols"/>
              <a:buChar char="•"/>
              <a:tabLst>
                <a:tab pos="543560" algn="l"/>
              </a:tabLst>
            </a:pPr>
            <a:r>
              <a:rPr sz="900" spc="-10" dirty="0">
                <a:solidFill>
                  <a:srgbClr val="C80000"/>
                </a:solidFill>
                <a:latin typeface="Arial"/>
                <a:cs typeface="Arial"/>
              </a:rPr>
              <a:t>content-</a:t>
            </a:r>
            <a:r>
              <a:rPr sz="900" dirty="0">
                <a:solidFill>
                  <a:srgbClr val="C80000"/>
                </a:solidFill>
                <a:latin typeface="Arial"/>
                <a:cs typeface="Arial"/>
              </a:rPr>
              <a:t>based</a:t>
            </a:r>
            <a:r>
              <a:rPr sz="900" spc="-25" dirty="0">
                <a:solidFill>
                  <a:srgbClr val="C80000"/>
                </a:solidFill>
                <a:latin typeface="Arial"/>
                <a:cs typeface="Arial"/>
              </a:rPr>
              <a:t> </a:t>
            </a:r>
            <a:r>
              <a:rPr sz="900" dirty="0">
                <a:solidFill>
                  <a:srgbClr val="C80000"/>
                </a:solidFill>
                <a:latin typeface="Arial"/>
                <a:cs typeface="Arial"/>
              </a:rPr>
              <a:t>subscription</a:t>
            </a:r>
            <a:r>
              <a:rPr sz="900" dirty="0">
                <a:latin typeface="Arial"/>
                <a:cs typeface="Arial"/>
              </a:rPr>
              <a:t>:</a:t>
            </a:r>
            <a:r>
              <a:rPr sz="900" spc="30" dirty="0">
                <a:latin typeface="Arial"/>
                <a:cs typeface="Arial"/>
              </a:rPr>
              <a:t> </a:t>
            </a:r>
            <a:r>
              <a:rPr sz="900" dirty="0">
                <a:latin typeface="Arial"/>
                <a:cs typeface="Arial"/>
              </a:rPr>
              <a:t>specify</a:t>
            </a:r>
            <a:r>
              <a:rPr sz="900" spc="-20"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a:t>
            </a:r>
            <a:r>
              <a:rPr sz="900" dirty="0">
                <a:solidFill>
                  <a:srgbClr val="3333B2"/>
                </a:solidFill>
                <a:latin typeface="Arial"/>
                <a:cs typeface="Arial"/>
              </a:rPr>
              <a:t>attribute</a:t>
            </a:r>
            <a:r>
              <a:rPr sz="900" spc="-20" dirty="0">
                <a:solidFill>
                  <a:srgbClr val="3333B2"/>
                </a:solidFill>
                <a:latin typeface="Arial"/>
                <a:cs typeface="Arial"/>
              </a:rPr>
              <a:t> </a:t>
            </a:r>
            <a:r>
              <a:rPr sz="900" spc="75" dirty="0">
                <a:solidFill>
                  <a:srgbClr val="3333B2"/>
                </a:solidFill>
                <a:latin typeface="Apple Symbols"/>
                <a:cs typeface="Apple Symbols"/>
              </a:rPr>
              <a:t>∈</a:t>
            </a:r>
            <a:r>
              <a:rPr sz="900" spc="-75" dirty="0">
                <a:solidFill>
                  <a:srgbClr val="3333B2"/>
                </a:solidFill>
                <a:latin typeface="Apple Symbols"/>
                <a:cs typeface="Apple Symbols"/>
              </a:rPr>
              <a:t> </a:t>
            </a:r>
            <a:r>
              <a:rPr sz="900" dirty="0">
                <a:solidFill>
                  <a:srgbClr val="3333B2"/>
                </a:solidFill>
                <a:latin typeface="Arial"/>
                <a:cs typeface="Arial"/>
              </a:rPr>
              <a:t>range</a:t>
            </a:r>
            <a:r>
              <a:rPr sz="900" dirty="0">
                <a:latin typeface="Arial"/>
                <a:cs typeface="Arial"/>
              </a:rPr>
              <a:t>”</a:t>
            </a:r>
            <a:r>
              <a:rPr sz="900" spc="-20" dirty="0">
                <a:latin typeface="Arial"/>
                <a:cs typeface="Arial"/>
              </a:rPr>
              <a:t> </a:t>
            </a:r>
            <a:r>
              <a:rPr sz="900" spc="-10" dirty="0">
                <a:latin typeface="Arial"/>
                <a:cs typeface="Arial"/>
              </a:rPr>
              <a:t>series</a:t>
            </a:r>
            <a:endParaRPr sz="900">
              <a:latin typeface="Arial"/>
              <a:cs typeface="Arial"/>
            </a:endParaRPr>
          </a:p>
        </p:txBody>
      </p:sp>
      <p:pic>
        <p:nvPicPr>
          <p:cNvPr id="6" name="object 6"/>
          <p:cNvPicPr/>
          <p:nvPr/>
        </p:nvPicPr>
        <p:blipFill>
          <a:blip r:embed="rId3" cstate="print"/>
          <a:stretch>
            <a:fillRect/>
          </a:stretch>
        </p:blipFill>
        <p:spPr>
          <a:xfrm>
            <a:off x="719734" y="1386415"/>
            <a:ext cx="3144591" cy="1092890"/>
          </a:xfrm>
          <a:prstGeom prst="rect">
            <a:avLst/>
          </a:prstGeom>
        </p:spPr>
      </p:pic>
      <p:sp>
        <p:nvSpPr>
          <p:cNvPr id="7" name="object 7"/>
          <p:cNvSpPr txBox="1"/>
          <p:nvPr/>
        </p:nvSpPr>
        <p:spPr>
          <a:xfrm>
            <a:off x="343547" y="2565169"/>
            <a:ext cx="3736975" cy="496570"/>
          </a:xfrm>
          <a:prstGeom prst="rect">
            <a:avLst/>
          </a:prstGeom>
        </p:spPr>
        <p:txBody>
          <a:bodyPr vert="horz" wrap="square" lIns="0" tIns="27305" rIns="0" bIns="0" rtlCol="0">
            <a:spAutoFit/>
          </a:bodyPr>
          <a:lstStyle/>
          <a:p>
            <a:pPr marL="15875">
              <a:lnSpc>
                <a:spcPct val="100000"/>
              </a:lnSpc>
              <a:spcBef>
                <a:spcPts val="215"/>
              </a:spcBef>
            </a:pPr>
            <a:r>
              <a:rPr sz="1000" spc="-10" dirty="0">
                <a:solidFill>
                  <a:srgbClr val="C80000"/>
                </a:solidFill>
                <a:latin typeface="Arial"/>
                <a:cs typeface="Arial"/>
              </a:rPr>
              <a:t>Observation</a:t>
            </a:r>
            <a:endParaRPr sz="1000">
              <a:latin typeface="Arial"/>
              <a:cs typeface="Arial"/>
            </a:endParaRPr>
          </a:p>
          <a:p>
            <a:pPr marL="12700" marR="5080" indent="3175">
              <a:lnSpc>
                <a:spcPts val="1210"/>
              </a:lnSpc>
              <a:spcBef>
                <a:spcPts val="35"/>
              </a:spcBef>
            </a:pPr>
            <a:r>
              <a:rPr sz="900" spc="-10" dirty="0">
                <a:latin typeface="Arial"/>
                <a:cs typeface="Arial"/>
              </a:rPr>
              <a:t>Content-</a:t>
            </a:r>
            <a:r>
              <a:rPr sz="900" dirty="0">
                <a:latin typeface="Arial"/>
                <a:cs typeface="Arial"/>
              </a:rPr>
              <a:t>based</a:t>
            </a:r>
            <a:r>
              <a:rPr sz="900" spc="-30" dirty="0">
                <a:latin typeface="Arial"/>
                <a:cs typeface="Arial"/>
              </a:rPr>
              <a:t> </a:t>
            </a:r>
            <a:r>
              <a:rPr sz="900" dirty="0">
                <a:latin typeface="Arial"/>
                <a:cs typeface="Arial"/>
              </a:rPr>
              <a:t>subscriptions</a:t>
            </a:r>
            <a:r>
              <a:rPr sz="900" spc="-30" dirty="0">
                <a:latin typeface="Arial"/>
                <a:cs typeface="Arial"/>
              </a:rPr>
              <a:t> </a:t>
            </a:r>
            <a:r>
              <a:rPr sz="900" dirty="0">
                <a:latin typeface="Arial"/>
                <a:cs typeface="Arial"/>
              </a:rPr>
              <a:t>may</a:t>
            </a:r>
            <a:r>
              <a:rPr sz="900" spc="-30" dirty="0">
                <a:latin typeface="Arial"/>
                <a:cs typeface="Arial"/>
              </a:rPr>
              <a:t> </a:t>
            </a:r>
            <a:r>
              <a:rPr sz="900" dirty="0">
                <a:latin typeface="Arial"/>
                <a:cs typeface="Arial"/>
              </a:rPr>
              <a:t>easily</a:t>
            </a:r>
            <a:r>
              <a:rPr sz="900" spc="-30" dirty="0">
                <a:latin typeface="Arial"/>
                <a:cs typeface="Arial"/>
              </a:rPr>
              <a:t> </a:t>
            </a:r>
            <a:r>
              <a:rPr sz="900" spc="-10" dirty="0">
                <a:latin typeface="Arial"/>
                <a:cs typeface="Arial"/>
              </a:rPr>
              <a:t>have</a:t>
            </a:r>
            <a:r>
              <a:rPr sz="900" spc="-30" dirty="0">
                <a:latin typeface="Arial"/>
                <a:cs typeface="Arial"/>
              </a:rPr>
              <a:t> </a:t>
            </a:r>
            <a:r>
              <a:rPr sz="900" dirty="0">
                <a:latin typeface="Arial"/>
                <a:cs typeface="Arial"/>
              </a:rPr>
              <a:t>serious</a:t>
            </a:r>
            <a:r>
              <a:rPr sz="900" spc="-30" dirty="0">
                <a:latin typeface="Arial"/>
                <a:cs typeface="Arial"/>
              </a:rPr>
              <a:t> </a:t>
            </a:r>
            <a:r>
              <a:rPr sz="900" dirty="0">
                <a:latin typeface="Arial"/>
                <a:cs typeface="Arial"/>
              </a:rPr>
              <a:t>scalability</a:t>
            </a:r>
            <a:r>
              <a:rPr sz="900" spc="-30" dirty="0">
                <a:latin typeface="Arial"/>
                <a:cs typeface="Arial"/>
              </a:rPr>
              <a:t> </a:t>
            </a:r>
            <a:r>
              <a:rPr sz="900" spc="-10" dirty="0">
                <a:latin typeface="Arial"/>
                <a:cs typeface="Arial"/>
              </a:rPr>
              <a:t>problems (</a:t>
            </a:r>
            <a:r>
              <a:rPr sz="900" spc="-10" dirty="0">
                <a:solidFill>
                  <a:srgbClr val="3333B2"/>
                </a:solidFill>
                <a:latin typeface="Arial"/>
                <a:cs typeface="Arial"/>
              </a:rPr>
              <a:t>why?</a:t>
            </a:r>
            <a:r>
              <a:rPr sz="900" spc="-10" dirty="0">
                <a:latin typeface="Arial"/>
                <a:cs typeface="Arial"/>
              </a:rPr>
              <a:t>)</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90424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Publish-</a:t>
            </a:r>
            <a:r>
              <a:rPr sz="500" dirty="0">
                <a:latin typeface="Arial"/>
                <a:cs typeface="Arial"/>
                <a:hlinkClick r:id="rId4" action="ppaction://hlinksldjump"/>
              </a:rPr>
              <a:t>subscribe</a:t>
            </a:r>
            <a:r>
              <a:rPr sz="500" spc="30" dirty="0">
                <a:latin typeface="Arial"/>
                <a:cs typeface="Arial"/>
                <a:hlinkClick r:id="rId4" action="ppaction://hlinksldjump"/>
              </a:rPr>
              <a:t> </a:t>
            </a:r>
            <a:r>
              <a:rPr sz="500" spc="-10" dirty="0">
                <a:latin typeface="Arial"/>
                <a:cs typeface="Arial"/>
                <a:hlinkClick r:id="rId4" action="ppaction://hlinksldjump"/>
              </a:rPr>
              <a:t>architectures</a:t>
            </a:r>
            <a:endParaRPr sz="500">
              <a:latin typeface="Arial"/>
              <a:cs typeface="Arial"/>
            </a:endParaRP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Architectures</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526167" y="-1515"/>
            <a:ext cx="102870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3" action="ppaction://hlinksldjump"/>
              </a:rPr>
              <a:t>Middleware</a:t>
            </a:r>
            <a:r>
              <a:rPr sz="500" dirty="0">
                <a:solidFill>
                  <a:srgbClr val="FFFFFF"/>
                </a:solidFill>
                <a:latin typeface="Arial"/>
                <a:cs typeface="Arial"/>
                <a:hlinkClick r:id="rId3" action="ppaction://hlinksldjump"/>
              </a:rPr>
              <a:t> and distributed </a:t>
            </a:r>
            <a:r>
              <a:rPr sz="500" spc="-10" dirty="0">
                <a:solidFill>
                  <a:srgbClr val="FFFFFF"/>
                </a:solidFill>
                <a:latin typeface="Arial"/>
                <a:cs typeface="Arial"/>
                <a:hlinkClick r:id="rId3" action="ppaction://hlinksldjump"/>
              </a:rPr>
              <a:t>systems</a:t>
            </a:r>
            <a:endParaRPr sz="500">
              <a:latin typeface="Arial"/>
              <a:cs typeface="Arial"/>
            </a:endParaRPr>
          </a:p>
        </p:txBody>
      </p:sp>
      <p:sp>
        <p:nvSpPr>
          <p:cNvPr id="5" name="object 5"/>
          <p:cNvSpPr txBox="1"/>
          <p:nvPr/>
        </p:nvSpPr>
        <p:spPr>
          <a:xfrm>
            <a:off x="95300" y="197711"/>
            <a:ext cx="2873375"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Middleware:</a:t>
            </a:r>
            <a:r>
              <a:rPr sz="1200" spc="20" dirty="0">
                <a:solidFill>
                  <a:srgbClr val="3333B2"/>
                </a:solidFill>
                <a:latin typeface="Arial"/>
                <a:cs typeface="Arial"/>
              </a:rPr>
              <a:t> </a:t>
            </a:r>
            <a:r>
              <a:rPr sz="1200" dirty="0">
                <a:solidFill>
                  <a:srgbClr val="3333B2"/>
                </a:solidFill>
                <a:latin typeface="Arial"/>
                <a:cs typeface="Arial"/>
              </a:rPr>
              <a:t>the</a:t>
            </a:r>
            <a:r>
              <a:rPr sz="1200" spc="-45" dirty="0">
                <a:solidFill>
                  <a:srgbClr val="3333B2"/>
                </a:solidFill>
                <a:latin typeface="Arial"/>
                <a:cs typeface="Arial"/>
              </a:rPr>
              <a:t> </a:t>
            </a:r>
            <a:r>
              <a:rPr sz="1200" dirty="0">
                <a:solidFill>
                  <a:srgbClr val="3333B2"/>
                </a:solidFill>
                <a:latin typeface="Arial"/>
                <a:cs typeface="Arial"/>
              </a:rPr>
              <a:t>OS</a:t>
            </a:r>
            <a:r>
              <a:rPr sz="1200" spc="-50" dirty="0">
                <a:solidFill>
                  <a:srgbClr val="3333B2"/>
                </a:solidFill>
                <a:latin typeface="Arial"/>
                <a:cs typeface="Arial"/>
              </a:rPr>
              <a:t> </a:t>
            </a:r>
            <a:r>
              <a:rPr sz="1200" dirty="0">
                <a:solidFill>
                  <a:srgbClr val="3333B2"/>
                </a:solidFill>
                <a:latin typeface="Arial"/>
                <a:cs typeface="Arial"/>
              </a:rPr>
              <a:t>of</a:t>
            </a:r>
            <a:r>
              <a:rPr sz="1200" spc="-45" dirty="0">
                <a:solidFill>
                  <a:srgbClr val="3333B2"/>
                </a:solidFill>
                <a:latin typeface="Arial"/>
                <a:cs typeface="Arial"/>
              </a:rPr>
              <a:t> </a:t>
            </a:r>
            <a:r>
              <a:rPr sz="1200" dirty="0">
                <a:solidFill>
                  <a:srgbClr val="3333B2"/>
                </a:solidFill>
                <a:latin typeface="Arial"/>
                <a:cs typeface="Arial"/>
              </a:rPr>
              <a:t>distributed</a:t>
            </a:r>
            <a:r>
              <a:rPr sz="1200" spc="-45" dirty="0">
                <a:solidFill>
                  <a:srgbClr val="3333B2"/>
                </a:solidFill>
                <a:latin typeface="Arial"/>
                <a:cs typeface="Arial"/>
              </a:rPr>
              <a:t> </a:t>
            </a:r>
            <a:r>
              <a:rPr sz="1200" spc="-10" dirty="0">
                <a:solidFill>
                  <a:srgbClr val="3333B2"/>
                </a:solidFill>
                <a:latin typeface="Arial"/>
                <a:cs typeface="Arial"/>
              </a:rPr>
              <a:t>systems</a:t>
            </a:r>
            <a:endParaRPr sz="1200">
              <a:latin typeface="Arial"/>
              <a:cs typeface="Arial"/>
            </a:endParaRPr>
          </a:p>
        </p:txBody>
      </p:sp>
      <p:pic>
        <p:nvPicPr>
          <p:cNvPr id="6" name="object 6"/>
          <p:cNvPicPr/>
          <p:nvPr/>
        </p:nvPicPr>
        <p:blipFill>
          <a:blip r:embed="rId4" cstate="print"/>
          <a:stretch>
            <a:fillRect/>
          </a:stretch>
        </p:blipFill>
        <p:spPr>
          <a:xfrm>
            <a:off x="700128" y="452761"/>
            <a:ext cx="3178743" cy="1586606"/>
          </a:xfrm>
          <a:prstGeom prst="rect">
            <a:avLst/>
          </a:prstGeom>
        </p:spPr>
      </p:pic>
      <p:sp>
        <p:nvSpPr>
          <p:cNvPr id="7" name="object 7"/>
          <p:cNvSpPr txBox="1"/>
          <p:nvPr/>
        </p:nvSpPr>
        <p:spPr>
          <a:xfrm>
            <a:off x="341350" y="2103740"/>
            <a:ext cx="3902710" cy="496570"/>
          </a:xfrm>
          <a:prstGeom prst="rect">
            <a:avLst/>
          </a:prstGeom>
        </p:spPr>
        <p:txBody>
          <a:bodyPr vert="horz" wrap="square" lIns="0" tIns="27305" rIns="0" bIns="0" rtlCol="0">
            <a:spAutoFit/>
          </a:bodyPr>
          <a:lstStyle/>
          <a:p>
            <a:pPr marL="12700">
              <a:lnSpc>
                <a:spcPct val="100000"/>
              </a:lnSpc>
              <a:spcBef>
                <a:spcPts val="215"/>
              </a:spcBef>
            </a:pPr>
            <a:r>
              <a:rPr sz="1000" dirty="0">
                <a:solidFill>
                  <a:srgbClr val="3333B2"/>
                </a:solidFill>
                <a:latin typeface="Arial"/>
                <a:cs typeface="Arial"/>
              </a:rPr>
              <a:t>What</a:t>
            </a:r>
            <a:r>
              <a:rPr sz="1000" spc="-35" dirty="0">
                <a:solidFill>
                  <a:srgbClr val="3333B2"/>
                </a:solidFill>
                <a:latin typeface="Arial"/>
                <a:cs typeface="Arial"/>
              </a:rPr>
              <a:t> </a:t>
            </a:r>
            <a:r>
              <a:rPr sz="1000" dirty="0">
                <a:solidFill>
                  <a:srgbClr val="3333B2"/>
                </a:solidFill>
                <a:latin typeface="Arial"/>
                <a:cs typeface="Arial"/>
              </a:rPr>
              <a:t>does</a:t>
            </a:r>
            <a:r>
              <a:rPr sz="1000" spc="-20" dirty="0">
                <a:solidFill>
                  <a:srgbClr val="3333B2"/>
                </a:solidFill>
                <a:latin typeface="Arial"/>
                <a:cs typeface="Arial"/>
              </a:rPr>
              <a:t> </a:t>
            </a:r>
            <a:r>
              <a:rPr sz="1000" dirty="0">
                <a:solidFill>
                  <a:srgbClr val="3333B2"/>
                </a:solidFill>
                <a:latin typeface="Arial"/>
                <a:cs typeface="Arial"/>
              </a:rPr>
              <a:t>it</a:t>
            </a:r>
            <a:r>
              <a:rPr sz="1000" spc="-20" dirty="0">
                <a:solidFill>
                  <a:srgbClr val="3333B2"/>
                </a:solidFill>
                <a:latin typeface="Arial"/>
                <a:cs typeface="Arial"/>
              </a:rPr>
              <a:t> </a:t>
            </a:r>
            <a:r>
              <a:rPr sz="1000" spc="-10" dirty="0">
                <a:solidFill>
                  <a:srgbClr val="3333B2"/>
                </a:solidFill>
                <a:latin typeface="Arial"/>
                <a:cs typeface="Arial"/>
              </a:rPr>
              <a:t>contain?</a:t>
            </a:r>
            <a:endParaRPr sz="1000">
              <a:latin typeface="Arial"/>
              <a:cs typeface="Arial"/>
            </a:endParaRPr>
          </a:p>
          <a:p>
            <a:pPr marL="18415" marR="5080">
              <a:lnSpc>
                <a:spcPts val="1210"/>
              </a:lnSpc>
              <a:spcBef>
                <a:spcPts val="35"/>
              </a:spcBef>
            </a:pPr>
            <a:r>
              <a:rPr sz="900" dirty="0">
                <a:latin typeface="Arial"/>
                <a:cs typeface="Arial"/>
              </a:rPr>
              <a:t>Commonly</a:t>
            </a:r>
            <a:r>
              <a:rPr sz="900" spc="-35" dirty="0">
                <a:latin typeface="Arial"/>
                <a:cs typeface="Arial"/>
              </a:rPr>
              <a:t> </a:t>
            </a:r>
            <a:r>
              <a:rPr sz="900" dirty="0">
                <a:latin typeface="Arial"/>
                <a:cs typeface="Arial"/>
              </a:rPr>
              <a:t>used</a:t>
            </a:r>
            <a:r>
              <a:rPr sz="900" spc="-30" dirty="0">
                <a:latin typeface="Arial"/>
                <a:cs typeface="Arial"/>
              </a:rPr>
              <a:t> </a:t>
            </a:r>
            <a:r>
              <a:rPr sz="900" dirty="0">
                <a:latin typeface="Arial"/>
                <a:cs typeface="Arial"/>
              </a:rPr>
              <a:t>components</a:t>
            </a:r>
            <a:r>
              <a:rPr sz="900" spc="-35" dirty="0">
                <a:latin typeface="Arial"/>
                <a:cs typeface="Arial"/>
              </a:rPr>
              <a:t> </a:t>
            </a:r>
            <a:r>
              <a:rPr sz="900" dirty="0">
                <a:latin typeface="Arial"/>
                <a:cs typeface="Arial"/>
              </a:rPr>
              <a:t>and</a:t>
            </a:r>
            <a:r>
              <a:rPr sz="900" spc="-30" dirty="0">
                <a:latin typeface="Arial"/>
                <a:cs typeface="Arial"/>
              </a:rPr>
              <a:t> </a:t>
            </a:r>
            <a:r>
              <a:rPr sz="900" dirty="0">
                <a:latin typeface="Arial"/>
                <a:cs typeface="Arial"/>
              </a:rPr>
              <a:t>functions</a:t>
            </a:r>
            <a:r>
              <a:rPr sz="900" spc="-35" dirty="0">
                <a:latin typeface="Arial"/>
                <a:cs typeface="Arial"/>
              </a:rPr>
              <a:t> </a:t>
            </a:r>
            <a:r>
              <a:rPr sz="900" dirty="0">
                <a:latin typeface="Arial"/>
                <a:cs typeface="Arial"/>
              </a:rPr>
              <a:t>that</a:t>
            </a:r>
            <a:r>
              <a:rPr sz="900" spc="-30" dirty="0">
                <a:latin typeface="Arial"/>
                <a:cs typeface="Arial"/>
              </a:rPr>
              <a:t> </a:t>
            </a:r>
            <a:r>
              <a:rPr sz="900" dirty="0">
                <a:latin typeface="Arial"/>
                <a:cs typeface="Arial"/>
              </a:rPr>
              <a:t>need</a:t>
            </a:r>
            <a:r>
              <a:rPr sz="900" spc="-35" dirty="0">
                <a:latin typeface="Arial"/>
                <a:cs typeface="Arial"/>
              </a:rPr>
              <a:t> </a:t>
            </a:r>
            <a:r>
              <a:rPr sz="900" dirty="0">
                <a:latin typeface="Arial"/>
                <a:cs typeface="Arial"/>
              </a:rPr>
              <a:t>not</a:t>
            </a:r>
            <a:r>
              <a:rPr sz="900" spc="-30" dirty="0">
                <a:latin typeface="Arial"/>
                <a:cs typeface="Arial"/>
              </a:rPr>
              <a:t> </a:t>
            </a:r>
            <a:r>
              <a:rPr sz="900" dirty="0">
                <a:latin typeface="Arial"/>
                <a:cs typeface="Arial"/>
              </a:rPr>
              <a:t>be</a:t>
            </a:r>
            <a:r>
              <a:rPr sz="900" spc="-30" dirty="0">
                <a:latin typeface="Arial"/>
                <a:cs typeface="Arial"/>
              </a:rPr>
              <a:t> </a:t>
            </a:r>
            <a:r>
              <a:rPr sz="900" dirty="0">
                <a:latin typeface="Arial"/>
                <a:cs typeface="Arial"/>
              </a:rPr>
              <a:t>implemented</a:t>
            </a:r>
            <a:r>
              <a:rPr sz="900" spc="-35" dirty="0">
                <a:latin typeface="Arial"/>
                <a:cs typeface="Arial"/>
              </a:rPr>
              <a:t> </a:t>
            </a:r>
            <a:r>
              <a:rPr sz="900" spc="-25" dirty="0">
                <a:latin typeface="Arial"/>
                <a:cs typeface="Arial"/>
              </a:rPr>
              <a:t>by </a:t>
            </a:r>
            <a:r>
              <a:rPr sz="900" dirty="0">
                <a:latin typeface="Arial"/>
                <a:cs typeface="Arial"/>
              </a:rPr>
              <a:t>applications</a:t>
            </a:r>
            <a:r>
              <a:rPr sz="900" spc="-55" dirty="0">
                <a:latin typeface="Arial"/>
                <a:cs typeface="Arial"/>
              </a:rPr>
              <a:t> </a:t>
            </a:r>
            <a:r>
              <a:rPr sz="900" spc="-10" dirty="0">
                <a:latin typeface="Arial"/>
                <a:cs typeface="Arial"/>
              </a:rPr>
              <a:t>separately.</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484879" algn="l"/>
              </a:tabLst>
            </a:pPr>
            <a:r>
              <a:rPr sz="500" spc="-10" dirty="0">
                <a:latin typeface="Arial"/>
                <a:cs typeface="Arial"/>
                <a:hlinkClick r:id="rId2" action="ppaction://hlinksldjump"/>
              </a:rPr>
              <a:t>Architectures</a:t>
            </a:r>
            <a:r>
              <a:rPr sz="500" dirty="0">
                <a:latin typeface="Arial"/>
                <a:cs typeface="Arial"/>
              </a:rPr>
              <a:t>	</a:t>
            </a:r>
            <a:r>
              <a:rPr sz="500" spc="-10" dirty="0">
                <a:solidFill>
                  <a:srgbClr val="FFFFFF"/>
                </a:solidFill>
                <a:latin typeface="Arial"/>
                <a:cs typeface="Arial"/>
                <a:hlinkClick r:id="rId3" action="ppaction://hlinksldjump"/>
              </a:rPr>
              <a:t>Middleware</a:t>
            </a:r>
            <a:r>
              <a:rPr sz="500" dirty="0">
                <a:solidFill>
                  <a:srgbClr val="FFFFFF"/>
                </a:solidFill>
                <a:latin typeface="Arial"/>
                <a:cs typeface="Arial"/>
                <a:hlinkClick r:id="rId3" action="ppaction://hlinksldjump"/>
              </a:rPr>
              <a:t> and distributed </a:t>
            </a:r>
            <a:r>
              <a:rPr sz="500" spc="-10" dirty="0">
                <a:solidFill>
                  <a:srgbClr val="FFFFFF"/>
                </a:solidFill>
                <a:latin typeface="Arial"/>
                <a:cs typeface="Arial"/>
                <a:hlinkClick r:id="rId3" action="ppaction://hlinksldjump"/>
              </a:rPr>
              <a:t>systems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Using</a:t>
            </a:r>
            <a:r>
              <a:rPr spc="-40" dirty="0"/>
              <a:t> </a:t>
            </a:r>
            <a:r>
              <a:rPr dirty="0"/>
              <a:t>legacy</a:t>
            </a:r>
            <a:r>
              <a:rPr spc="-35" dirty="0"/>
              <a:t> </a:t>
            </a:r>
            <a:r>
              <a:rPr dirty="0"/>
              <a:t>to</a:t>
            </a:r>
            <a:r>
              <a:rPr spc="-35" dirty="0"/>
              <a:t> </a:t>
            </a:r>
            <a:r>
              <a:rPr dirty="0"/>
              <a:t>build</a:t>
            </a:r>
            <a:r>
              <a:rPr spc="-40" dirty="0"/>
              <a:t> </a:t>
            </a:r>
            <a:r>
              <a:rPr spc="-10" dirty="0"/>
              <a:t>middleware</a:t>
            </a:r>
          </a:p>
        </p:txBody>
      </p:sp>
      <p:sp>
        <p:nvSpPr>
          <p:cNvPr id="4" name="object 4"/>
          <p:cNvSpPr txBox="1"/>
          <p:nvPr/>
        </p:nvSpPr>
        <p:spPr>
          <a:xfrm>
            <a:off x="343547" y="499476"/>
            <a:ext cx="3917315" cy="1055370"/>
          </a:xfrm>
          <a:prstGeom prst="rect">
            <a:avLst/>
          </a:prstGeom>
        </p:spPr>
        <p:txBody>
          <a:bodyPr vert="horz" wrap="square" lIns="0" tIns="27305" rIns="0" bIns="0" rtlCol="0">
            <a:spAutoFit/>
          </a:bodyPr>
          <a:lstStyle/>
          <a:p>
            <a:pPr marL="15875">
              <a:lnSpc>
                <a:spcPct val="100000"/>
              </a:lnSpc>
              <a:spcBef>
                <a:spcPts val="215"/>
              </a:spcBef>
            </a:pPr>
            <a:r>
              <a:rPr sz="1000" spc="-10" dirty="0">
                <a:solidFill>
                  <a:srgbClr val="3333B2"/>
                </a:solidFill>
                <a:latin typeface="Arial"/>
                <a:cs typeface="Arial"/>
              </a:rPr>
              <a:t>Problem</a:t>
            </a:r>
            <a:endParaRPr sz="1000">
              <a:latin typeface="Arial"/>
              <a:cs typeface="Arial"/>
            </a:endParaRPr>
          </a:p>
          <a:p>
            <a:pPr marL="15875" marR="5080" indent="-3810">
              <a:lnSpc>
                <a:spcPts val="1210"/>
              </a:lnSpc>
              <a:spcBef>
                <a:spcPts val="35"/>
              </a:spcBef>
            </a:pPr>
            <a:r>
              <a:rPr sz="900" dirty="0">
                <a:latin typeface="Arial"/>
                <a:cs typeface="Arial"/>
              </a:rPr>
              <a:t>The</a:t>
            </a:r>
            <a:r>
              <a:rPr sz="900" spc="-25" dirty="0">
                <a:latin typeface="Arial"/>
                <a:cs typeface="Arial"/>
              </a:rPr>
              <a:t> </a:t>
            </a:r>
            <a:r>
              <a:rPr sz="900" spc="-20" dirty="0">
                <a:latin typeface="Arial"/>
                <a:cs typeface="Arial"/>
              </a:rPr>
              <a:t>interfaces</a:t>
            </a:r>
            <a:r>
              <a:rPr sz="900" spc="-25" dirty="0">
                <a:latin typeface="Arial"/>
                <a:cs typeface="Arial"/>
              </a:rPr>
              <a:t> </a:t>
            </a:r>
            <a:r>
              <a:rPr sz="900" spc="-20" dirty="0">
                <a:latin typeface="Arial"/>
                <a:cs typeface="Arial"/>
              </a:rPr>
              <a:t>offered</a:t>
            </a:r>
            <a:r>
              <a:rPr sz="900" spc="-25" dirty="0">
                <a:latin typeface="Arial"/>
                <a:cs typeface="Arial"/>
              </a:rPr>
              <a:t> </a:t>
            </a:r>
            <a:r>
              <a:rPr sz="900" dirty="0">
                <a:latin typeface="Arial"/>
                <a:cs typeface="Arial"/>
              </a:rPr>
              <a:t>by</a:t>
            </a:r>
            <a:r>
              <a:rPr sz="900" spc="-25"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legacy</a:t>
            </a:r>
            <a:r>
              <a:rPr sz="900" spc="-25" dirty="0">
                <a:latin typeface="Arial"/>
                <a:cs typeface="Arial"/>
              </a:rPr>
              <a:t> </a:t>
            </a:r>
            <a:r>
              <a:rPr sz="900" spc="-20" dirty="0">
                <a:latin typeface="Arial"/>
                <a:cs typeface="Arial"/>
              </a:rPr>
              <a:t>component</a:t>
            </a:r>
            <a:r>
              <a:rPr sz="900" spc="-25" dirty="0">
                <a:latin typeface="Arial"/>
                <a:cs typeface="Arial"/>
              </a:rPr>
              <a:t> </a:t>
            </a:r>
            <a:r>
              <a:rPr sz="900" dirty="0">
                <a:latin typeface="Arial"/>
                <a:cs typeface="Arial"/>
              </a:rPr>
              <a:t>are</a:t>
            </a:r>
            <a:r>
              <a:rPr sz="900" spc="-25" dirty="0">
                <a:latin typeface="Arial"/>
                <a:cs typeface="Arial"/>
              </a:rPr>
              <a:t> </a:t>
            </a:r>
            <a:r>
              <a:rPr sz="900" spc="-10" dirty="0">
                <a:latin typeface="Arial"/>
                <a:cs typeface="Arial"/>
              </a:rPr>
              <a:t>most</a:t>
            </a:r>
            <a:r>
              <a:rPr sz="900" spc="-20" dirty="0">
                <a:latin typeface="Arial"/>
                <a:cs typeface="Arial"/>
              </a:rPr>
              <a:t> </a:t>
            </a:r>
            <a:r>
              <a:rPr sz="900" spc="-10" dirty="0">
                <a:latin typeface="Arial"/>
                <a:cs typeface="Arial"/>
              </a:rPr>
              <a:t>likely</a:t>
            </a:r>
            <a:r>
              <a:rPr sz="900" spc="-25" dirty="0">
                <a:latin typeface="Arial"/>
                <a:cs typeface="Arial"/>
              </a:rPr>
              <a:t> </a:t>
            </a:r>
            <a:r>
              <a:rPr sz="900" dirty="0">
                <a:latin typeface="Arial"/>
                <a:cs typeface="Arial"/>
              </a:rPr>
              <a:t>not</a:t>
            </a:r>
            <a:r>
              <a:rPr sz="900" spc="-25" dirty="0">
                <a:latin typeface="Arial"/>
                <a:cs typeface="Arial"/>
              </a:rPr>
              <a:t> </a:t>
            </a:r>
            <a:r>
              <a:rPr sz="900" spc="-10" dirty="0">
                <a:latin typeface="Arial"/>
                <a:cs typeface="Arial"/>
              </a:rPr>
              <a:t>suitable</a:t>
            </a:r>
            <a:r>
              <a:rPr sz="900" spc="-25" dirty="0">
                <a:latin typeface="Arial"/>
                <a:cs typeface="Arial"/>
              </a:rPr>
              <a:t> </a:t>
            </a:r>
            <a:r>
              <a:rPr sz="900" spc="-10" dirty="0">
                <a:latin typeface="Arial"/>
                <a:cs typeface="Arial"/>
              </a:rPr>
              <a:t>for</a:t>
            </a:r>
            <a:r>
              <a:rPr sz="900" spc="-25" dirty="0">
                <a:latin typeface="Arial"/>
                <a:cs typeface="Arial"/>
              </a:rPr>
              <a:t> all </a:t>
            </a:r>
            <a:r>
              <a:rPr sz="900" spc="-10" dirty="0">
                <a:latin typeface="Arial"/>
                <a:cs typeface="Arial"/>
              </a:rPr>
              <a:t>applications.</a:t>
            </a:r>
            <a:endParaRPr sz="900">
              <a:latin typeface="Arial"/>
              <a:cs typeface="Arial"/>
            </a:endParaRPr>
          </a:p>
          <a:p>
            <a:pPr marL="15875">
              <a:lnSpc>
                <a:spcPct val="100000"/>
              </a:lnSpc>
              <a:spcBef>
                <a:spcPts val="750"/>
              </a:spcBef>
            </a:pPr>
            <a:r>
              <a:rPr sz="1000" spc="-10" dirty="0">
                <a:solidFill>
                  <a:srgbClr val="3333B2"/>
                </a:solidFill>
                <a:latin typeface="Arial"/>
                <a:cs typeface="Arial"/>
              </a:rPr>
              <a:t>Solution</a:t>
            </a:r>
            <a:endParaRPr sz="1000">
              <a:latin typeface="Arial"/>
              <a:cs typeface="Arial"/>
            </a:endParaRPr>
          </a:p>
          <a:p>
            <a:pPr marL="15875" marR="26034" indent="-3810">
              <a:lnSpc>
                <a:spcPts val="1210"/>
              </a:lnSpc>
              <a:spcBef>
                <a:spcPts val="35"/>
              </a:spcBef>
            </a:pPr>
            <a:r>
              <a:rPr sz="900" dirty="0">
                <a:latin typeface="Arial"/>
                <a:cs typeface="Arial"/>
              </a:rPr>
              <a:t>A</a:t>
            </a:r>
            <a:r>
              <a:rPr sz="900" spc="-20" dirty="0">
                <a:latin typeface="Arial"/>
                <a:cs typeface="Arial"/>
              </a:rPr>
              <a:t> </a:t>
            </a:r>
            <a:r>
              <a:rPr sz="900" dirty="0">
                <a:solidFill>
                  <a:srgbClr val="C80000"/>
                </a:solidFill>
                <a:latin typeface="Arial"/>
                <a:cs typeface="Arial"/>
              </a:rPr>
              <a:t>wrapper</a:t>
            </a:r>
            <a:r>
              <a:rPr sz="900" spc="-20" dirty="0">
                <a:solidFill>
                  <a:srgbClr val="C80000"/>
                </a:solidFill>
                <a:latin typeface="Arial"/>
                <a:cs typeface="Arial"/>
              </a:rPr>
              <a:t> </a:t>
            </a:r>
            <a:r>
              <a:rPr sz="900" dirty="0">
                <a:latin typeface="Arial"/>
                <a:cs typeface="Arial"/>
              </a:rPr>
              <a:t>or</a:t>
            </a:r>
            <a:r>
              <a:rPr sz="900" spc="-20" dirty="0">
                <a:latin typeface="Arial"/>
                <a:cs typeface="Arial"/>
              </a:rPr>
              <a:t> </a:t>
            </a:r>
            <a:r>
              <a:rPr sz="900" dirty="0">
                <a:solidFill>
                  <a:srgbClr val="C80000"/>
                </a:solidFill>
                <a:latin typeface="Arial"/>
                <a:cs typeface="Arial"/>
              </a:rPr>
              <a:t>adapter</a:t>
            </a:r>
            <a:r>
              <a:rPr sz="900" spc="-20" dirty="0">
                <a:solidFill>
                  <a:srgbClr val="C80000"/>
                </a:solidFill>
                <a:latin typeface="Arial"/>
                <a:cs typeface="Arial"/>
              </a:rPr>
              <a:t> </a:t>
            </a:r>
            <a:r>
              <a:rPr sz="900" dirty="0">
                <a:latin typeface="Arial"/>
                <a:cs typeface="Arial"/>
              </a:rPr>
              <a:t>offers</a:t>
            </a:r>
            <a:r>
              <a:rPr sz="900" spc="-20" dirty="0">
                <a:latin typeface="Arial"/>
                <a:cs typeface="Arial"/>
              </a:rPr>
              <a:t> </a:t>
            </a:r>
            <a:r>
              <a:rPr sz="900" dirty="0">
                <a:latin typeface="Arial"/>
                <a:cs typeface="Arial"/>
              </a:rPr>
              <a:t>an</a:t>
            </a:r>
            <a:r>
              <a:rPr sz="900" spc="-15" dirty="0">
                <a:latin typeface="Arial"/>
                <a:cs typeface="Arial"/>
              </a:rPr>
              <a:t> </a:t>
            </a:r>
            <a:r>
              <a:rPr sz="900" spc="-10" dirty="0">
                <a:latin typeface="Arial"/>
                <a:cs typeface="Arial"/>
              </a:rPr>
              <a:t>interface</a:t>
            </a:r>
            <a:r>
              <a:rPr sz="900" spc="-20" dirty="0">
                <a:latin typeface="Arial"/>
                <a:cs typeface="Arial"/>
              </a:rPr>
              <a:t> </a:t>
            </a:r>
            <a:r>
              <a:rPr sz="900" spc="-10" dirty="0">
                <a:latin typeface="Arial"/>
                <a:cs typeface="Arial"/>
              </a:rPr>
              <a:t>acceptable</a:t>
            </a:r>
            <a:r>
              <a:rPr sz="900" spc="-20"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client</a:t>
            </a:r>
            <a:r>
              <a:rPr sz="900" spc="-15" dirty="0">
                <a:latin typeface="Arial"/>
                <a:cs typeface="Arial"/>
              </a:rPr>
              <a:t> </a:t>
            </a:r>
            <a:r>
              <a:rPr sz="900" dirty="0">
                <a:latin typeface="Arial"/>
                <a:cs typeface="Arial"/>
              </a:rPr>
              <a:t>application.</a:t>
            </a:r>
            <a:r>
              <a:rPr sz="900" spc="35" dirty="0">
                <a:latin typeface="Arial"/>
                <a:cs typeface="Arial"/>
              </a:rPr>
              <a:t> </a:t>
            </a:r>
            <a:r>
              <a:rPr sz="900" spc="-25" dirty="0">
                <a:latin typeface="Arial"/>
                <a:cs typeface="Arial"/>
              </a:rPr>
              <a:t>Its </a:t>
            </a:r>
            <a:r>
              <a:rPr sz="900" dirty="0">
                <a:latin typeface="Arial"/>
                <a:cs typeface="Arial"/>
              </a:rPr>
              <a:t>functions</a:t>
            </a:r>
            <a:r>
              <a:rPr sz="900" spc="-15" dirty="0">
                <a:latin typeface="Arial"/>
                <a:cs typeface="Arial"/>
              </a:rPr>
              <a:t> </a:t>
            </a:r>
            <a:r>
              <a:rPr sz="900" dirty="0">
                <a:latin typeface="Arial"/>
                <a:cs typeface="Arial"/>
              </a:rPr>
              <a:t>are</a:t>
            </a:r>
            <a:r>
              <a:rPr sz="900" spc="-15" dirty="0">
                <a:latin typeface="Arial"/>
                <a:cs typeface="Arial"/>
              </a:rPr>
              <a:t> </a:t>
            </a:r>
            <a:r>
              <a:rPr sz="900" spc="-10" dirty="0">
                <a:latin typeface="Arial"/>
                <a:cs typeface="Arial"/>
              </a:rPr>
              <a:t>transformed</a:t>
            </a:r>
            <a:r>
              <a:rPr sz="900" spc="-15" dirty="0">
                <a:latin typeface="Arial"/>
                <a:cs typeface="Arial"/>
              </a:rPr>
              <a:t> </a:t>
            </a:r>
            <a:r>
              <a:rPr sz="900" dirty="0">
                <a:latin typeface="Arial"/>
                <a:cs typeface="Arial"/>
              </a:rPr>
              <a:t>into</a:t>
            </a:r>
            <a:r>
              <a:rPr sz="900" spc="-15" dirty="0">
                <a:latin typeface="Arial"/>
                <a:cs typeface="Arial"/>
              </a:rPr>
              <a:t> </a:t>
            </a:r>
            <a:r>
              <a:rPr sz="900" dirty="0">
                <a:latin typeface="Arial"/>
                <a:cs typeface="Arial"/>
              </a:rPr>
              <a:t>those</a:t>
            </a:r>
            <a:r>
              <a:rPr sz="900" spc="-15" dirty="0">
                <a:latin typeface="Arial"/>
                <a:cs typeface="Arial"/>
              </a:rPr>
              <a:t> </a:t>
            </a:r>
            <a:r>
              <a:rPr sz="900" spc="-10" dirty="0">
                <a:latin typeface="Arial"/>
                <a:cs typeface="Arial"/>
              </a:rPr>
              <a:t>available</a:t>
            </a:r>
            <a:r>
              <a:rPr sz="900" spc="-15" dirty="0">
                <a:latin typeface="Arial"/>
                <a:cs typeface="Arial"/>
              </a:rPr>
              <a:t> </a:t>
            </a:r>
            <a:r>
              <a:rPr sz="900" dirty="0">
                <a:latin typeface="Arial"/>
                <a:cs typeface="Arial"/>
              </a:rPr>
              <a:t>at</a:t>
            </a:r>
            <a:r>
              <a:rPr sz="900" spc="-10" dirty="0">
                <a:latin typeface="Arial"/>
                <a:cs typeface="Arial"/>
              </a:rPr>
              <a:t> </a:t>
            </a:r>
            <a:r>
              <a:rPr sz="900" dirty="0">
                <a:latin typeface="Arial"/>
                <a:cs typeface="Arial"/>
              </a:rPr>
              <a:t>the</a:t>
            </a:r>
            <a:r>
              <a:rPr sz="900" spc="-15" dirty="0">
                <a:latin typeface="Arial"/>
                <a:cs typeface="Arial"/>
              </a:rPr>
              <a:t> </a:t>
            </a:r>
            <a:r>
              <a:rPr sz="900" spc="-10" dirty="0">
                <a:latin typeface="Arial"/>
                <a:cs typeface="Arial"/>
              </a:rPr>
              <a:t>component.</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70929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Middleware</a:t>
            </a:r>
            <a:r>
              <a:rPr sz="500" spc="45" dirty="0">
                <a:latin typeface="Arial"/>
                <a:cs typeface="Arial"/>
                <a:hlinkClick r:id="rId4" action="ppaction://hlinksldjump"/>
              </a:rPr>
              <a:t> </a:t>
            </a:r>
            <a:r>
              <a:rPr sz="500" spc="-10" dirty="0">
                <a:latin typeface="Arial"/>
                <a:cs typeface="Arial"/>
                <a:hlinkClick r:id="rId4" action="ppaction://hlinksldjump"/>
              </a:rPr>
              <a:t>organization</a:t>
            </a:r>
            <a:endParaRPr sz="500">
              <a:latin typeface="Arial"/>
              <a:cs typeface="Arial"/>
            </a:endParaRPr>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Architectures</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526167" y="-1515"/>
            <a:ext cx="102870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3" action="ppaction://hlinksldjump"/>
              </a:rPr>
              <a:t>Middleware</a:t>
            </a:r>
            <a:r>
              <a:rPr sz="500" dirty="0">
                <a:solidFill>
                  <a:srgbClr val="FFFFFF"/>
                </a:solidFill>
                <a:latin typeface="Arial"/>
                <a:cs typeface="Arial"/>
                <a:hlinkClick r:id="rId3" action="ppaction://hlinksldjump"/>
              </a:rPr>
              <a:t> and distributed </a:t>
            </a:r>
            <a:r>
              <a:rPr sz="500" spc="-10" dirty="0">
                <a:solidFill>
                  <a:srgbClr val="FFFFFF"/>
                </a:solidFill>
                <a:latin typeface="Arial"/>
                <a:cs typeface="Arial"/>
                <a:hlinkClick r:id="rId3" action="ppaction://hlinksldjump"/>
              </a:rPr>
              <a:t>systems</a:t>
            </a:r>
            <a:endParaRPr sz="500">
              <a:latin typeface="Arial"/>
              <a:cs typeface="Arial"/>
            </a:endParaRPr>
          </a:p>
        </p:txBody>
      </p:sp>
      <p:sp>
        <p:nvSpPr>
          <p:cNvPr id="5" name="object 5"/>
          <p:cNvSpPr txBox="1"/>
          <p:nvPr/>
        </p:nvSpPr>
        <p:spPr>
          <a:xfrm>
            <a:off x="95300" y="197711"/>
            <a:ext cx="2583815" cy="49466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Organizing</a:t>
            </a:r>
            <a:r>
              <a:rPr sz="1200" spc="-65" dirty="0">
                <a:solidFill>
                  <a:srgbClr val="3333B2"/>
                </a:solidFill>
                <a:latin typeface="Arial"/>
                <a:cs typeface="Arial"/>
              </a:rPr>
              <a:t> </a:t>
            </a:r>
            <a:r>
              <a:rPr sz="1200" spc="-10" dirty="0">
                <a:solidFill>
                  <a:srgbClr val="3333B2"/>
                </a:solidFill>
                <a:latin typeface="Arial"/>
                <a:cs typeface="Arial"/>
              </a:rPr>
              <a:t>wrappers</a:t>
            </a:r>
            <a:endParaRPr sz="1200">
              <a:latin typeface="Arial"/>
              <a:cs typeface="Arial"/>
            </a:endParaRPr>
          </a:p>
          <a:p>
            <a:pPr marL="260350">
              <a:lnSpc>
                <a:spcPct val="100000"/>
              </a:lnSpc>
              <a:spcBef>
                <a:spcPts val="1055"/>
              </a:spcBef>
            </a:pPr>
            <a:r>
              <a:rPr sz="1000" spc="-45" dirty="0">
                <a:solidFill>
                  <a:srgbClr val="3333B2"/>
                </a:solidFill>
                <a:latin typeface="Arial"/>
                <a:cs typeface="Arial"/>
              </a:rPr>
              <a:t>Two</a:t>
            </a:r>
            <a:r>
              <a:rPr sz="1000" spc="-20" dirty="0">
                <a:solidFill>
                  <a:srgbClr val="3333B2"/>
                </a:solidFill>
                <a:latin typeface="Arial"/>
                <a:cs typeface="Arial"/>
              </a:rPr>
              <a:t> </a:t>
            </a:r>
            <a:r>
              <a:rPr sz="1000" dirty="0">
                <a:solidFill>
                  <a:srgbClr val="3333B2"/>
                </a:solidFill>
                <a:latin typeface="Arial"/>
                <a:cs typeface="Arial"/>
              </a:rPr>
              <a:t>solutions:</a:t>
            </a:r>
            <a:r>
              <a:rPr sz="1000" spc="45" dirty="0">
                <a:solidFill>
                  <a:srgbClr val="3333B2"/>
                </a:solidFill>
                <a:latin typeface="Arial"/>
                <a:cs typeface="Arial"/>
              </a:rPr>
              <a:t> </a:t>
            </a:r>
            <a:r>
              <a:rPr sz="1000" spc="-10" dirty="0">
                <a:solidFill>
                  <a:srgbClr val="3333B2"/>
                </a:solidFill>
                <a:latin typeface="Arial"/>
                <a:cs typeface="Arial"/>
              </a:rPr>
              <a:t>1-on-</a:t>
            </a:r>
            <a:r>
              <a:rPr sz="1000" dirty="0">
                <a:solidFill>
                  <a:srgbClr val="3333B2"/>
                </a:solidFill>
                <a:latin typeface="Arial"/>
                <a:cs typeface="Arial"/>
              </a:rPr>
              <a:t>1</a:t>
            </a:r>
            <a:r>
              <a:rPr sz="1000" spc="-20" dirty="0">
                <a:solidFill>
                  <a:srgbClr val="3333B2"/>
                </a:solidFill>
                <a:latin typeface="Arial"/>
                <a:cs typeface="Arial"/>
              </a:rPr>
              <a:t> </a:t>
            </a:r>
            <a:r>
              <a:rPr sz="1000" dirty="0">
                <a:solidFill>
                  <a:srgbClr val="3333B2"/>
                </a:solidFill>
                <a:latin typeface="Arial"/>
                <a:cs typeface="Arial"/>
              </a:rPr>
              <a:t>or</a:t>
            </a:r>
            <a:r>
              <a:rPr sz="1000" spc="-20" dirty="0">
                <a:solidFill>
                  <a:srgbClr val="3333B2"/>
                </a:solidFill>
                <a:latin typeface="Arial"/>
                <a:cs typeface="Arial"/>
              </a:rPr>
              <a:t> </a:t>
            </a:r>
            <a:r>
              <a:rPr sz="1000" dirty="0">
                <a:solidFill>
                  <a:srgbClr val="3333B2"/>
                </a:solidFill>
                <a:latin typeface="Arial"/>
                <a:cs typeface="Arial"/>
              </a:rPr>
              <a:t>through</a:t>
            </a:r>
            <a:r>
              <a:rPr sz="1000" spc="-15" dirty="0">
                <a:solidFill>
                  <a:srgbClr val="3333B2"/>
                </a:solidFill>
                <a:latin typeface="Arial"/>
                <a:cs typeface="Arial"/>
              </a:rPr>
              <a:t> </a:t>
            </a:r>
            <a:r>
              <a:rPr sz="1000" dirty="0">
                <a:solidFill>
                  <a:srgbClr val="3333B2"/>
                </a:solidFill>
                <a:latin typeface="Arial"/>
                <a:cs typeface="Arial"/>
              </a:rPr>
              <a:t>a</a:t>
            </a:r>
            <a:r>
              <a:rPr sz="1000" spc="-20" dirty="0">
                <a:solidFill>
                  <a:srgbClr val="3333B2"/>
                </a:solidFill>
                <a:latin typeface="Arial"/>
                <a:cs typeface="Arial"/>
              </a:rPr>
              <a:t> </a:t>
            </a:r>
            <a:r>
              <a:rPr sz="1000" spc="-10" dirty="0">
                <a:solidFill>
                  <a:srgbClr val="3333B2"/>
                </a:solidFill>
                <a:latin typeface="Arial"/>
                <a:cs typeface="Arial"/>
              </a:rPr>
              <a:t>broker</a:t>
            </a:r>
            <a:endParaRPr sz="1000">
              <a:latin typeface="Arial"/>
              <a:cs typeface="Arial"/>
            </a:endParaRPr>
          </a:p>
        </p:txBody>
      </p:sp>
      <p:pic>
        <p:nvPicPr>
          <p:cNvPr id="6" name="object 6"/>
          <p:cNvPicPr/>
          <p:nvPr/>
        </p:nvPicPr>
        <p:blipFill>
          <a:blip r:embed="rId4" cstate="print"/>
          <a:stretch>
            <a:fillRect/>
          </a:stretch>
        </p:blipFill>
        <p:spPr>
          <a:xfrm>
            <a:off x="893684" y="795077"/>
            <a:ext cx="1138807" cy="868493"/>
          </a:xfrm>
          <a:prstGeom prst="rect">
            <a:avLst/>
          </a:prstGeom>
        </p:spPr>
      </p:pic>
      <p:pic>
        <p:nvPicPr>
          <p:cNvPr id="7" name="object 7"/>
          <p:cNvPicPr/>
          <p:nvPr/>
        </p:nvPicPr>
        <p:blipFill>
          <a:blip r:embed="rId5" cstate="print"/>
          <a:stretch>
            <a:fillRect/>
          </a:stretch>
        </p:blipFill>
        <p:spPr>
          <a:xfrm>
            <a:off x="2834786" y="880582"/>
            <a:ext cx="874496" cy="779190"/>
          </a:xfrm>
          <a:prstGeom prst="rect">
            <a:avLst/>
          </a:prstGeom>
        </p:spPr>
      </p:pic>
      <p:sp>
        <p:nvSpPr>
          <p:cNvPr id="8" name="object 8"/>
          <p:cNvSpPr txBox="1"/>
          <p:nvPr/>
        </p:nvSpPr>
        <p:spPr>
          <a:xfrm>
            <a:off x="321894" y="1938787"/>
            <a:ext cx="2719705" cy="596958"/>
          </a:xfrm>
          <a:prstGeom prst="rect">
            <a:avLst/>
          </a:prstGeom>
        </p:spPr>
        <p:txBody>
          <a:bodyPr vert="horz" wrap="square" lIns="0" tIns="12065" rIns="0" bIns="0" rtlCol="0">
            <a:spAutoFit/>
          </a:bodyPr>
          <a:lstStyle/>
          <a:p>
            <a:pPr marL="38100">
              <a:lnSpc>
                <a:spcPct val="100000"/>
              </a:lnSpc>
              <a:spcBef>
                <a:spcPts val="95"/>
              </a:spcBef>
            </a:pPr>
            <a:r>
              <a:rPr sz="1000" spc="-10" dirty="0">
                <a:solidFill>
                  <a:srgbClr val="3333B2"/>
                </a:solidFill>
                <a:latin typeface="Arial"/>
                <a:cs typeface="Arial"/>
              </a:rPr>
              <a:t>Complexity </a:t>
            </a:r>
            <a:r>
              <a:rPr sz="1000" dirty="0">
                <a:solidFill>
                  <a:srgbClr val="3333B2"/>
                </a:solidFill>
                <a:latin typeface="Arial"/>
                <a:cs typeface="Arial"/>
              </a:rPr>
              <a:t>with</a:t>
            </a:r>
            <a:r>
              <a:rPr sz="1000" spc="-5" dirty="0">
                <a:solidFill>
                  <a:srgbClr val="3333B2"/>
                </a:solidFill>
                <a:latin typeface="Arial"/>
                <a:cs typeface="Arial"/>
              </a:rPr>
              <a:t> </a:t>
            </a:r>
            <a:r>
              <a:rPr sz="1000" i="1" dirty="0">
                <a:solidFill>
                  <a:srgbClr val="3333B2"/>
                </a:solidFill>
                <a:latin typeface="Arial"/>
                <a:cs typeface="Arial"/>
              </a:rPr>
              <a:t>N</a:t>
            </a:r>
            <a:r>
              <a:rPr sz="1000" i="1" spc="75" dirty="0">
                <a:solidFill>
                  <a:srgbClr val="3333B2"/>
                </a:solidFill>
                <a:latin typeface="Arial"/>
                <a:cs typeface="Arial"/>
              </a:rPr>
              <a:t> </a:t>
            </a:r>
            <a:r>
              <a:rPr sz="1000" spc="-10" dirty="0">
                <a:solidFill>
                  <a:srgbClr val="3333B2"/>
                </a:solidFill>
                <a:latin typeface="Arial"/>
                <a:cs typeface="Arial"/>
              </a:rPr>
              <a:t>applications</a:t>
            </a:r>
            <a:endParaRPr sz="1000" dirty="0">
              <a:latin typeface="Arial"/>
              <a:cs typeface="Arial"/>
            </a:endParaRPr>
          </a:p>
          <a:p>
            <a:pPr marL="290830" indent="-120650">
              <a:lnSpc>
                <a:spcPct val="100000"/>
              </a:lnSpc>
              <a:spcBef>
                <a:spcPts val="700"/>
              </a:spcBef>
              <a:buFont typeface="Apple Symbols"/>
              <a:buChar char="•"/>
              <a:tabLst>
                <a:tab pos="291465" algn="l"/>
              </a:tabLst>
            </a:pPr>
            <a:r>
              <a:rPr sz="900" spc="-10" dirty="0">
                <a:solidFill>
                  <a:srgbClr val="3333B2"/>
                </a:solidFill>
                <a:latin typeface="Arial"/>
                <a:cs typeface="Arial"/>
              </a:rPr>
              <a:t>1-on-</a:t>
            </a:r>
            <a:r>
              <a:rPr sz="900" dirty="0">
                <a:solidFill>
                  <a:srgbClr val="3333B2"/>
                </a:solidFill>
                <a:latin typeface="Arial"/>
                <a:cs typeface="Arial"/>
              </a:rPr>
              <a:t>1</a:t>
            </a:r>
            <a:r>
              <a:rPr sz="900" dirty="0">
                <a:latin typeface="Arial"/>
                <a:cs typeface="Arial"/>
              </a:rPr>
              <a:t>:</a:t>
            </a:r>
            <a:r>
              <a:rPr sz="900" spc="105" dirty="0">
                <a:latin typeface="Arial"/>
                <a:cs typeface="Arial"/>
              </a:rPr>
              <a:t> </a:t>
            </a:r>
            <a:r>
              <a:rPr sz="900" dirty="0">
                <a:latin typeface="Arial"/>
                <a:cs typeface="Arial"/>
              </a:rPr>
              <a:t>requires</a:t>
            </a:r>
            <a:r>
              <a:rPr sz="900" spc="40" dirty="0">
                <a:latin typeface="Arial"/>
                <a:cs typeface="Arial"/>
              </a:rPr>
              <a:t> </a:t>
            </a:r>
            <a:r>
              <a:rPr sz="900" i="1" spc="-10" dirty="0">
                <a:latin typeface="Arial"/>
                <a:cs typeface="Arial"/>
              </a:rPr>
              <a:t>N</a:t>
            </a:r>
            <a:r>
              <a:rPr sz="900" i="1" spc="-25" dirty="0">
                <a:latin typeface="Arial"/>
                <a:cs typeface="Arial"/>
              </a:rPr>
              <a:t> </a:t>
            </a:r>
            <a:r>
              <a:rPr sz="900" spc="145" dirty="0">
                <a:latin typeface="Apple Symbols"/>
                <a:cs typeface="Apple Symbols"/>
              </a:rPr>
              <a:t>×</a:t>
            </a:r>
            <a:r>
              <a:rPr sz="900" spc="145" dirty="0">
                <a:latin typeface="Arial"/>
                <a:cs typeface="Arial"/>
              </a:rPr>
              <a:t>(</a:t>
            </a:r>
            <a:r>
              <a:rPr sz="900" i="1" spc="145" dirty="0">
                <a:latin typeface="Arial"/>
                <a:cs typeface="Arial"/>
              </a:rPr>
              <a:t>N</a:t>
            </a:r>
            <a:r>
              <a:rPr sz="900" i="1" spc="-30" dirty="0">
                <a:latin typeface="Arial"/>
                <a:cs typeface="Arial"/>
              </a:rPr>
              <a:t> </a:t>
            </a:r>
            <a:r>
              <a:rPr sz="900" spc="160" dirty="0">
                <a:latin typeface="Apple Symbols"/>
                <a:cs typeface="Apple Symbols"/>
              </a:rPr>
              <a:t>−</a:t>
            </a:r>
            <a:r>
              <a:rPr sz="900" spc="-155" dirty="0">
                <a:latin typeface="Apple Symbols"/>
                <a:cs typeface="Apple Symbols"/>
              </a:rPr>
              <a:t> </a:t>
            </a:r>
            <a:r>
              <a:rPr sz="900" dirty="0">
                <a:latin typeface="Arial"/>
                <a:cs typeface="Arial"/>
              </a:rPr>
              <a:t>1)</a:t>
            </a:r>
            <a:r>
              <a:rPr sz="900" spc="-20" dirty="0">
                <a:latin typeface="Arial"/>
                <a:cs typeface="Arial"/>
              </a:rPr>
              <a:t> </a:t>
            </a:r>
            <a:r>
              <a:rPr sz="900" spc="185" dirty="0">
                <a:latin typeface="Arial"/>
                <a:cs typeface="Arial"/>
              </a:rPr>
              <a:t>=</a:t>
            </a:r>
            <a:r>
              <a:rPr sz="900" spc="-25" dirty="0">
                <a:latin typeface="Arial"/>
                <a:cs typeface="Arial"/>
              </a:rPr>
              <a:t> </a:t>
            </a:r>
            <a:r>
              <a:rPr sz="900" i="1" dirty="0">
                <a:latin typeface="Arial"/>
                <a:cs typeface="Arial"/>
              </a:rPr>
              <a:t>O</a:t>
            </a:r>
            <a:r>
              <a:rPr sz="900" dirty="0">
                <a:latin typeface="Arial"/>
                <a:cs typeface="Arial"/>
              </a:rPr>
              <a:t>(</a:t>
            </a:r>
            <a:r>
              <a:rPr sz="900" i="1" dirty="0">
                <a:latin typeface="Arial"/>
                <a:cs typeface="Arial"/>
              </a:rPr>
              <a:t>N</a:t>
            </a:r>
            <a:r>
              <a:rPr sz="1050" baseline="27777" dirty="0">
                <a:latin typeface="Arial"/>
                <a:cs typeface="Arial"/>
              </a:rPr>
              <a:t>2</a:t>
            </a:r>
            <a:r>
              <a:rPr sz="900" dirty="0">
                <a:latin typeface="Arial"/>
                <a:cs typeface="Arial"/>
              </a:rPr>
              <a:t>)</a:t>
            </a:r>
            <a:r>
              <a:rPr sz="900" spc="40" dirty="0">
                <a:latin typeface="Arial"/>
                <a:cs typeface="Arial"/>
              </a:rPr>
              <a:t> </a:t>
            </a:r>
            <a:r>
              <a:rPr sz="900" spc="-10" dirty="0">
                <a:latin typeface="Arial"/>
                <a:cs typeface="Arial"/>
              </a:rPr>
              <a:t>wrappers</a:t>
            </a:r>
            <a:endParaRPr sz="900" dirty="0">
              <a:latin typeface="Arial"/>
              <a:cs typeface="Arial"/>
            </a:endParaRPr>
          </a:p>
          <a:p>
            <a:pPr marL="290830" indent="-120650">
              <a:lnSpc>
                <a:spcPct val="100000"/>
              </a:lnSpc>
              <a:spcBef>
                <a:spcPts val="525"/>
              </a:spcBef>
              <a:buFont typeface="Apple Symbols"/>
              <a:buChar char="•"/>
              <a:tabLst>
                <a:tab pos="291465" algn="l"/>
              </a:tabLst>
            </a:pPr>
            <a:r>
              <a:rPr sz="900" dirty="0">
                <a:solidFill>
                  <a:srgbClr val="3333B2"/>
                </a:solidFill>
                <a:latin typeface="Arial"/>
                <a:cs typeface="Arial"/>
              </a:rPr>
              <a:t>broker</a:t>
            </a:r>
            <a:r>
              <a:rPr sz="900" dirty="0">
                <a:latin typeface="Arial"/>
                <a:cs typeface="Arial"/>
              </a:rPr>
              <a:t>:</a:t>
            </a:r>
            <a:r>
              <a:rPr sz="900" spc="25" dirty="0">
                <a:latin typeface="Arial"/>
                <a:cs typeface="Arial"/>
              </a:rPr>
              <a:t> </a:t>
            </a:r>
            <a:r>
              <a:rPr sz="900" dirty="0">
                <a:latin typeface="Arial"/>
                <a:cs typeface="Arial"/>
              </a:rPr>
              <a:t>requires</a:t>
            </a:r>
            <a:r>
              <a:rPr sz="900" spc="-25" dirty="0">
                <a:latin typeface="Arial"/>
                <a:cs typeface="Arial"/>
              </a:rPr>
              <a:t> </a:t>
            </a:r>
            <a:r>
              <a:rPr sz="900" dirty="0">
                <a:latin typeface="Arial"/>
                <a:cs typeface="Arial"/>
              </a:rPr>
              <a:t>2</a:t>
            </a:r>
            <a:r>
              <a:rPr sz="900" i="1" dirty="0">
                <a:latin typeface="Arial"/>
                <a:cs typeface="Arial"/>
              </a:rPr>
              <a:t>N</a:t>
            </a:r>
            <a:r>
              <a:rPr sz="900" i="1" spc="-5" dirty="0">
                <a:latin typeface="Arial"/>
                <a:cs typeface="Arial"/>
              </a:rPr>
              <a:t> </a:t>
            </a:r>
            <a:r>
              <a:rPr sz="900" spc="185" dirty="0">
                <a:latin typeface="Arial"/>
                <a:cs typeface="Arial"/>
              </a:rPr>
              <a:t>=</a:t>
            </a:r>
            <a:r>
              <a:rPr sz="900" spc="-60" dirty="0">
                <a:latin typeface="Arial"/>
                <a:cs typeface="Arial"/>
              </a:rPr>
              <a:t> </a:t>
            </a:r>
            <a:r>
              <a:rPr sz="900" i="1" spc="50" dirty="0">
                <a:latin typeface="Arial"/>
                <a:cs typeface="Arial"/>
              </a:rPr>
              <a:t>O</a:t>
            </a:r>
            <a:r>
              <a:rPr sz="900" spc="50" dirty="0">
                <a:latin typeface="Arial"/>
                <a:cs typeface="Arial"/>
              </a:rPr>
              <a:t>(</a:t>
            </a:r>
            <a:r>
              <a:rPr sz="900" i="1" spc="50" dirty="0">
                <a:latin typeface="Arial"/>
                <a:cs typeface="Arial"/>
              </a:rPr>
              <a:t>N</a:t>
            </a:r>
            <a:r>
              <a:rPr sz="900" spc="50" dirty="0">
                <a:latin typeface="Arial"/>
                <a:cs typeface="Arial"/>
              </a:rPr>
              <a:t>)</a:t>
            </a:r>
            <a:r>
              <a:rPr sz="900" spc="-25" dirty="0">
                <a:latin typeface="Arial"/>
                <a:cs typeface="Arial"/>
              </a:rPr>
              <a:t> </a:t>
            </a:r>
            <a:r>
              <a:rPr sz="900" spc="-10" dirty="0">
                <a:latin typeface="Arial"/>
                <a:cs typeface="Arial"/>
              </a:rPr>
              <a:t>wrappers</a:t>
            </a:r>
            <a:endParaRPr lang="en-US" sz="900" spc="-10" dirty="0">
              <a:latin typeface="Arial"/>
              <a:cs typeface="Arial"/>
            </a:endParaRPr>
          </a:p>
        </p:txBody>
      </p:sp>
      <p:grpSp>
        <p:nvGrpSpPr>
          <p:cNvPr id="9" name="object 9"/>
          <p:cNvGrpSpPr/>
          <p:nvPr/>
        </p:nvGrpSpPr>
        <p:grpSpPr>
          <a:xfrm>
            <a:off x="0" y="3348469"/>
            <a:ext cx="4608195" cy="107950"/>
            <a:chOff x="0" y="3348469"/>
            <a:chExt cx="4608195" cy="107950"/>
          </a:xfrm>
        </p:grpSpPr>
        <p:sp>
          <p:nvSpPr>
            <p:cNvPr id="10" name="object 10"/>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1" name="object 11"/>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2" name="object 12"/>
          <p:cNvSpPr txBox="1"/>
          <p:nvPr/>
        </p:nvSpPr>
        <p:spPr>
          <a:xfrm>
            <a:off x="53467" y="3349927"/>
            <a:ext cx="70929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6" action="ppaction://hlinksldjump"/>
              </a:rPr>
              <a:t>Middleware</a:t>
            </a:r>
            <a:r>
              <a:rPr sz="500" spc="45" dirty="0">
                <a:latin typeface="Arial"/>
                <a:cs typeface="Arial"/>
                <a:hlinkClick r:id="rId6" action="ppaction://hlinksldjump"/>
              </a:rPr>
              <a:t> </a:t>
            </a:r>
            <a:r>
              <a:rPr sz="500" spc="-10" dirty="0">
                <a:latin typeface="Arial"/>
                <a:cs typeface="Arial"/>
                <a:hlinkClick r:id="rId6" action="ppaction://hlinksldjump"/>
              </a:rPr>
              <a:t>organization</a:t>
            </a:r>
            <a:endParaRPr sz="500">
              <a:latin typeface="Arial"/>
              <a:cs typeface="Arial"/>
            </a:endParaRPr>
          </a:p>
        </p:txBody>
      </p:sp>
      <p:sp>
        <p:nvSpPr>
          <p:cNvPr id="13" name="TextBox 12">
            <a:extLst>
              <a:ext uri="{FF2B5EF4-FFF2-40B4-BE49-F238E27FC236}">
                <a16:creationId xmlns:a16="http://schemas.microsoft.com/office/drawing/2014/main" id="{BD99D61E-F2BD-AAB1-FB68-206885670E25}"/>
              </a:ext>
            </a:extLst>
          </p:cNvPr>
          <p:cNvSpPr txBox="1"/>
          <p:nvPr/>
        </p:nvSpPr>
        <p:spPr>
          <a:xfrm>
            <a:off x="448437" y="2720975"/>
            <a:ext cx="3986989" cy="400110"/>
          </a:xfrm>
          <a:prstGeom prst="rect">
            <a:avLst/>
          </a:prstGeom>
          <a:noFill/>
        </p:spPr>
        <p:txBody>
          <a:bodyPr wrap="none" rtlCol="0">
            <a:spAutoFit/>
          </a:bodyPr>
          <a:lstStyle/>
          <a:p>
            <a:r>
              <a:rPr lang="en-US" sz="1000" b="1" dirty="0"/>
              <a:t>Less # of wrappers are required if a broker( single interface for</a:t>
            </a:r>
          </a:p>
          <a:p>
            <a:r>
              <a:rPr lang="en-US" sz="1000" b="1" dirty="0"/>
              <a:t>applications for compatibility) is used.</a:t>
            </a:r>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484879" algn="l"/>
              </a:tabLst>
            </a:pPr>
            <a:r>
              <a:rPr sz="500" spc="-10" dirty="0">
                <a:latin typeface="Arial"/>
                <a:cs typeface="Arial"/>
                <a:hlinkClick r:id="rId2" action="ppaction://hlinksldjump"/>
              </a:rPr>
              <a:t>Architectures</a:t>
            </a:r>
            <a:r>
              <a:rPr sz="500" dirty="0">
                <a:latin typeface="Arial"/>
                <a:cs typeface="Arial"/>
              </a:rPr>
              <a:t>	</a:t>
            </a:r>
            <a:r>
              <a:rPr sz="500" spc="-10" dirty="0">
                <a:solidFill>
                  <a:srgbClr val="FFFFFF"/>
                </a:solidFill>
                <a:latin typeface="Arial"/>
                <a:cs typeface="Arial"/>
                <a:hlinkClick r:id="rId3" action="ppaction://hlinksldjump"/>
              </a:rPr>
              <a:t>Middleware</a:t>
            </a:r>
            <a:r>
              <a:rPr sz="500" dirty="0">
                <a:solidFill>
                  <a:srgbClr val="FFFFFF"/>
                </a:solidFill>
                <a:latin typeface="Arial"/>
                <a:cs typeface="Arial"/>
                <a:hlinkClick r:id="rId3" action="ppaction://hlinksldjump"/>
              </a:rPr>
              <a:t> and distributed </a:t>
            </a:r>
            <a:r>
              <a:rPr sz="500" spc="-10" dirty="0">
                <a:solidFill>
                  <a:srgbClr val="FFFFFF"/>
                </a:solidFill>
                <a:latin typeface="Arial"/>
                <a:cs typeface="Arial"/>
                <a:hlinkClick r:id="rId3" action="ppaction://hlinksldjump"/>
              </a:rPr>
              <a:t>systems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Developing</a:t>
            </a:r>
            <a:r>
              <a:rPr spc="-60" dirty="0"/>
              <a:t> </a:t>
            </a:r>
            <a:r>
              <a:rPr dirty="0"/>
              <a:t>adaptable</a:t>
            </a:r>
            <a:r>
              <a:rPr spc="-60" dirty="0"/>
              <a:t> </a:t>
            </a:r>
            <a:r>
              <a:rPr spc="-10" dirty="0"/>
              <a:t>middleware</a:t>
            </a:r>
          </a:p>
        </p:txBody>
      </p:sp>
      <p:sp>
        <p:nvSpPr>
          <p:cNvPr id="4" name="object 4"/>
          <p:cNvSpPr txBox="1"/>
          <p:nvPr/>
        </p:nvSpPr>
        <p:spPr>
          <a:xfrm>
            <a:off x="343204" y="499476"/>
            <a:ext cx="3920490" cy="496570"/>
          </a:xfrm>
          <a:prstGeom prst="rect">
            <a:avLst/>
          </a:prstGeom>
        </p:spPr>
        <p:txBody>
          <a:bodyPr vert="horz" wrap="square" lIns="0" tIns="27305" rIns="0" bIns="0" rtlCol="0">
            <a:spAutoFit/>
          </a:bodyPr>
          <a:lstStyle/>
          <a:p>
            <a:pPr marL="16510">
              <a:lnSpc>
                <a:spcPct val="100000"/>
              </a:lnSpc>
              <a:spcBef>
                <a:spcPts val="215"/>
              </a:spcBef>
            </a:pPr>
            <a:r>
              <a:rPr sz="1000" spc="-10" dirty="0">
                <a:solidFill>
                  <a:srgbClr val="3333B2"/>
                </a:solidFill>
                <a:latin typeface="Arial"/>
                <a:cs typeface="Arial"/>
              </a:rPr>
              <a:t>Problem</a:t>
            </a:r>
            <a:endParaRPr sz="1000">
              <a:latin typeface="Arial"/>
              <a:cs typeface="Arial"/>
            </a:endParaRPr>
          </a:p>
          <a:p>
            <a:pPr marL="12700" marR="5080" indent="3810">
              <a:lnSpc>
                <a:spcPts val="1210"/>
              </a:lnSpc>
              <a:spcBef>
                <a:spcPts val="35"/>
              </a:spcBef>
            </a:pPr>
            <a:r>
              <a:rPr sz="900" spc="-10" dirty="0">
                <a:latin typeface="Arial"/>
                <a:cs typeface="Arial"/>
              </a:rPr>
              <a:t>Middleware</a:t>
            </a:r>
            <a:r>
              <a:rPr sz="900" spc="-30" dirty="0">
                <a:latin typeface="Arial"/>
                <a:cs typeface="Arial"/>
              </a:rPr>
              <a:t> </a:t>
            </a:r>
            <a:r>
              <a:rPr sz="900" dirty="0">
                <a:latin typeface="Arial"/>
                <a:cs typeface="Arial"/>
              </a:rPr>
              <a:t>contains</a:t>
            </a:r>
            <a:r>
              <a:rPr sz="900" spc="-30" dirty="0">
                <a:latin typeface="Arial"/>
                <a:cs typeface="Arial"/>
              </a:rPr>
              <a:t> </a:t>
            </a:r>
            <a:r>
              <a:rPr sz="900" dirty="0">
                <a:latin typeface="Arial"/>
                <a:cs typeface="Arial"/>
              </a:rPr>
              <a:t>solutions</a:t>
            </a:r>
            <a:r>
              <a:rPr sz="900" spc="-25"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are</a:t>
            </a:r>
            <a:r>
              <a:rPr sz="900" spc="-30" dirty="0">
                <a:latin typeface="Arial"/>
                <a:cs typeface="Arial"/>
              </a:rPr>
              <a:t> </a:t>
            </a:r>
            <a:r>
              <a:rPr sz="900" dirty="0">
                <a:latin typeface="Arial"/>
                <a:cs typeface="Arial"/>
              </a:rPr>
              <a:t>good</a:t>
            </a:r>
            <a:r>
              <a:rPr sz="900" spc="-25" dirty="0">
                <a:latin typeface="Arial"/>
                <a:cs typeface="Arial"/>
              </a:rPr>
              <a:t> </a:t>
            </a:r>
            <a:r>
              <a:rPr sz="900" dirty="0">
                <a:latin typeface="Arial"/>
                <a:cs typeface="Arial"/>
              </a:rPr>
              <a:t>for</a:t>
            </a:r>
            <a:r>
              <a:rPr sz="900" spc="-30" dirty="0">
                <a:latin typeface="Arial"/>
                <a:cs typeface="Arial"/>
              </a:rPr>
              <a:t> </a:t>
            </a:r>
            <a:r>
              <a:rPr sz="900" dirty="0">
                <a:solidFill>
                  <a:srgbClr val="3333B2"/>
                </a:solidFill>
                <a:latin typeface="Arial"/>
                <a:cs typeface="Arial"/>
              </a:rPr>
              <a:t>most</a:t>
            </a:r>
            <a:r>
              <a:rPr sz="900" spc="-25" dirty="0">
                <a:solidFill>
                  <a:srgbClr val="3333B2"/>
                </a:solidFill>
                <a:latin typeface="Arial"/>
                <a:cs typeface="Arial"/>
              </a:rPr>
              <a:t> </a:t>
            </a:r>
            <a:r>
              <a:rPr sz="900" dirty="0">
                <a:latin typeface="Arial"/>
                <a:cs typeface="Arial"/>
              </a:rPr>
              <a:t>applications</a:t>
            </a:r>
            <a:r>
              <a:rPr sz="900" spc="-25" dirty="0">
                <a:latin typeface="Arial"/>
                <a:cs typeface="Arial"/>
              </a:rPr>
              <a:t> </a:t>
            </a:r>
            <a:r>
              <a:rPr sz="900" spc="295" dirty="0">
                <a:latin typeface="Apple Symbols"/>
                <a:cs typeface="Apple Symbols"/>
              </a:rPr>
              <a:t>⇒</a:t>
            </a:r>
            <a:r>
              <a:rPr sz="900" spc="-75" dirty="0">
                <a:latin typeface="Apple Symbols"/>
                <a:cs typeface="Apple Symbols"/>
              </a:rPr>
              <a:t> </a:t>
            </a:r>
            <a:r>
              <a:rPr sz="900" dirty="0">
                <a:latin typeface="Arial"/>
                <a:cs typeface="Arial"/>
              </a:rPr>
              <a:t>you</a:t>
            </a:r>
            <a:r>
              <a:rPr sz="900" spc="-30" dirty="0">
                <a:latin typeface="Arial"/>
                <a:cs typeface="Arial"/>
              </a:rPr>
              <a:t> </a:t>
            </a:r>
            <a:r>
              <a:rPr sz="900" spc="-25" dirty="0">
                <a:latin typeface="Arial"/>
                <a:cs typeface="Arial"/>
              </a:rPr>
              <a:t>may </a:t>
            </a:r>
            <a:r>
              <a:rPr sz="900" dirty="0">
                <a:latin typeface="Arial"/>
                <a:cs typeface="Arial"/>
              </a:rPr>
              <a:t>want</a:t>
            </a:r>
            <a:r>
              <a:rPr sz="900" spc="-35" dirty="0">
                <a:latin typeface="Arial"/>
                <a:cs typeface="Arial"/>
              </a:rPr>
              <a:t> </a:t>
            </a:r>
            <a:r>
              <a:rPr sz="900" dirty="0">
                <a:latin typeface="Arial"/>
                <a:cs typeface="Arial"/>
              </a:rPr>
              <a:t>to</a:t>
            </a:r>
            <a:r>
              <a:rPr sz="900" spc="-35" dirty="0">
                <a:latin typeface="Arial"/>
                <a:cs typeface="Arial"/>
              </a:rPr>
              <a:t> </a:t>
            </a:r>
            <a:r>
              <a:rPr sz="900" dirty="0">
                <a:latin typeface="Arial"/>
                <a:cs typeface="Arial"/>
              </a:rPr>
              <a:t>adapt</a:t>
            </a:r>
            <a:r>
              <a:rPr sz="900" spc="-30" dirty="0">
                <a:latin typeface="Arial"/>
                <a:cs typeface="Arial"/>
              </a:rPr>
              <a:t> </a:t>
            </a:r>
            <a:r>
              <a:rPr sz="900" dirty="0">
                <a:latin typeface="Arial"/>
                <a:cs typeface="Arial"/>
              </a:rPr>
              <a:t>its</a:t>
            </a:r>
            <a:r>
              <a:rPr sz="900" spc="-35" dirty="0">
                <a:latin typeface="Arial"/>
                <a:cs typeface="Arial"/>
              </a:rPr>
              <a:t> </a:t>
            </a:r>
            <a:r>
              <a:rPr sz="900" dirty="0">
                <a:latin typeface="Arial"/>
                <a:cs typeface="Arial"/>
              </a:rPr>
              <a:t>behavior</a:t>
            </a:r>
            <a:r>
              <a:rPr sz="900" spc="-35" dirty="0">
                <a:latin typeface="Arial"/>
                <a:cs typeface="Arial"/>
              </a:rPr>
              <a:t> </a:t>
            </a:r>
            <a:r>
              <a:rPr sz="900" dirty="0">
                <a:latin typeface="Arial"/>
                <a:cs typeface="Arial"/>
              </a:rPr>
              <a:t>for</a:t>
            </a:r>
            <a:r>
              <a:rPr sz="900" spc="-30" dirty="0">
                <a:latin typeface="Arial"/>
                <a:cs typeface="Arial"/>
              </a:rPr>
              <a:t> </a:t>
            </a:r>
            <a:r>
              <a:rPr sz="900" dirty="0">
                <a:latin typeface="Arial"/>
                <a:cs typeface="Arial"/>
              </a:rPr>
              <a:t>specific</a:t>
            </a:r>
            <a:r>
              <a:rPr sz="900" spc="-35" dirty="0">
                <a:latin typeface="Arial"/>
                <a:cs typeface="Arial"/>
              </a:rPr>
              <a:t> </a:t>
            </a:r>
            <a:r>
              <a:rPr sz="900" spc="-10" dirty="0">
                <a:latin typeface="Arial"/>
                <a:cs typeface="Arial"/>
              </a:rPr>
              <a:t>applications.</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70929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4" action="ppaction://hlinksldjump"/>
              </a:rPr>
              <a:t>Middleware</a:t>
            </a:r>
            <a:r>
              <a:rPr sz="500" spc="45" dirty="0">
                <a:latin typeface="Arial"/>
                <a:cs typeface="Arial"/>
                <a:hlinkClick r:id="rId4" action="ppaction://hlinksldjump"/>
              </a:rPr>
              <a:t> </a:t>
            </a:r>
            <a:r>
              <a:rPr sz="500" spc="-10" dirty="0">
                <a:latin typeface="Arial"/>
                <a:cs typeface="Arial"/>
                <a:hlinkClick r:id="rId4" action="ppaction://hlinksldjump"/>
              </a:rPr>
              <a:t>organization</a:t>
            </a:r>
            <a:endParaRPr sz="500">
              <a:latin typeface="Arial"/>
              <a:cs typeface="Arial"/>
            </a:endParaRP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3" action="ppaction://hlinksldjump"/>
              </a:rPr>
              <a:t>Architectures</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526167" y="-1515"/>
            <a:ext cx="1028700"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4" action="ppaction://hlinksldjump"/>
              </a:rPr>
              <a:t>Middleware</a:t>
            </a:r>
            <a:r>
              <a:rPr sz="500" dirty="0">
                <a:solidFill>
                  <a:srgbClr val="FFFFFF"/>
                </a:solidFill>
                <a:latin typeface="Arial"/>
                <a:cs typeface="Arial"/>
                <a:hlinkClick r:id="rId4" action="ppaction://hlinksldjump"/>
              </a:rPr>
              <a:t> and distributed </a:t>
            </a:r>
            <a:r>
              <a:rPr sz="500" spc="-10" dirty="0">
                <a:solidFill>
                  <a:srgbClr val="FFFFFF"/>
                </a:solidFill>
                <a:latin typeface="Arial"/>
                <a:cs typeface="Arial"/>
                <a:hlinkClick r:id="rId4" action="ppaction://hlinksldjump"/>
              </a:rPr>
              <a:t>systems</a:t>
            </a:r>
            <a:endParaRPr sz="500">
              <a:latin typeface="Arial"/>
              <a:cs typeface="Arial"/>
            </a:endParaRPr>
          </a:p>
        </p:txBody>
      </p:sp>
      <p:sp>
        <p:nvSpPr>
          <p:cNvPr id="5" name="object 5"/>
          <p:cNvSpPr txBox="1"/>
          <p:nvPr/>
        </p:nvSpPr>
        <p:spPr>
          <a:xfrm>
            <a:off x="95300" y="197711"/>
            <a:ext cx="2251710"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Intercept</a:t>
            </a:r>
            <a:r>
              <a:rPr sz="1200" spc="-35" dirty="0">
                <a:solidFill>
                  <a:srgbClr val="3333B2"/>
                </a:solidFill>
                <a:latin typeface="Arial"/>
                <a:cs typeface="Arial"/>
              </a:rPr>
              <a:t> </a:t>
            </a:r>
            <a:r>
              <a:rPr sz="1200" dirty="0">
                <a:solidFill>
                  <a:srgbClr val="3333B2"/>
                </a:solidFill>
                <a:latin typeface="Arial"/>
                <a:cs typeface="Arial"/>
              </a:rPr>
              <a:t>the</a:t>
            </a:r>
            <a:r>
              <a:rPr sz="1200" spc="-35" dirty="0">
                <a:solidFill>
                  <a:srgbClr val="3333B2"/>
                </a:solidFill>
                <a:latin typeface="Arial"/>
                <a:cs typeface="Arial"/>
              </a:rPr>
              <a:t> </a:t>
            </a:r>
            <a:r>
              <a:rPr sz="1200" dirty="0">
                <a:solidFill>
                  <a:srgbClr val="3333B2"/>
                </a:solidFill>
                <a:latin typeface="Arial"/>
                <a:cs typeface="Arial"/>
              </a:rPr>
              <a:t>usual</a:t>
            </a:r>
            <a:r>
              <a:rPr sz="1200" spc="-35" dirty="0">
                <a:solidFill>
                  <a:srgbClr val="3333B2"/>
                </a:solidFill>
                <a:latin typeface="Arial"/>
                <a:cs typeface="Arial"/>
              </a:rPr>
              <a:t> </a:t>
            </a:r>
            <a:r>
              <a:rPr sz="1200" dirty="0">
                <a:solidFill>
                  <a:srgbClr val="3333B2"/>
                </a:solidFill>
                <a:latin typeface="Arial"/>
                <a:cs typeface="Arial"/>
              </a:rPr>
              <a:t>flow</a:t>
            </a:r>
            <a:r>
              <a:rPr sz="1200" spc="-30" dirty="0">
                <a:solidFill>
                  <a:srgbClr val="3333B2"/>
                </a:solidFill>
                <a:latin typeface="Arial"/>
                <a:cs typeface="Arial"/>
              </a:rPr>
              <a:t> </a:t>
            </a:r>
            <a:r>
              <a:rPr sz="1200" dirty="0">
                <a:solidFill>
                  <a:srgbClr val="3333B2"/>
                </a:solidFill>
                <a:latin typeface="Arial"/>
                <a:cs typeface="Arial"/>
              </a:rPr>
              <a:t>of</a:t>
            </a:r>
            <a:r>
              <a:rPr sz="1200" spc="-35" dirty="0">
                <a:solidFill>
                  <a:srgbClr val="3333B2"/>
                </a:solidFill>
                <a:latin typeface="Arial"/>
                <a:cs typeface="Arial"/>
              </a:rPr>
              <a:t> </a:t>
            </a:r>
            <a:r>
              <a:rPr sz="1200" spc="-10" dirty="0">
                <a:solidFill>
                  <a:srgbClr val="3333B2"/>
                </a:solidFill>
                <a:latin typeface="Arial"/>
                <a:cs typeface="Arial"/>
              </a:rPr>
              <a:t>control</a:t>
            </a:r>
            <a:endParaRPr sz="1200">
              <a:latin typeface="Arial"/>
              <a:cs typeface="Arial"/>
            </a:endParaRPr>
          </a:p>
        </p:txBody>
      </p:sp>
      <p:pic>
        <p:nvPicPr>
          <p:cNvPr id="6" name="object 6"/>
          <p:cNvPicPr/>
          <p:nvPr/>
        </p:nvPicPr>
        <p:blipFill>
          <a:blip r:embed="rId5" cstate="print"/>
          <a:stretch>
            <a:fillRect/>
          </a:stretch>
        </p:blipFill>
        <p:spPr>
          <a:xfrm>
            <a:off x="713435" y="774580"/>
            <a:ext cx="3185068" cy="2373463"/>
          </a:xfrm>
          <a:prstGeom prst="rect">
            <a:avLst/>
          </a:prstGeom>
        </p:spPr>
      </p:pic>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709295"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6" action="ppaction://hlinksldjump"/>
              </a:rPr>
              <a:t>Middleware</a:t>
            </a:r>
            <a:r>
              <a:rPr sz="500" spc="45" dirty="0">
                <a:latin typeface="Arial"/>
                <a:cs typeface="Arial"/>
                <a:hlinkClick r:id="rId6" action="ppaction://hlinksldjump"/>
              </a:rPr>
              <a:t> </a:t>
            </a:r>
            <a:r>
              <a:rPr sz="500" spc="-10" dirty="0">
                <a:latin typeface="Arial"/>
                <a:cs typeface="Arial"/>
                <a:hlinkClick r:id="rId6" action="ppaction://hlinksldjump"/>
              </a:rPr>
              <a:t>organization</a:t>
            </a:r>
            <a:endParaRPr sz="500">
              <a:latin typeface="Arial"/>
              <a:cs typeface="Arial"/>
            </a:endParaRP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Architectures</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02608" y="-1515"/>
            <a:ext cx="852169"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3" action="ppaction://hlinksldjump"/>
              </a:rPr>
              <a:t>Layered-</a:t>
            </a:r>
            <a:r>
              <a:rPr sz="500" dirty="0">
                <a:solidFill>
                  <a:srgbClr val="FFFFFF"/>
                </a:solidFill>
                <a:latin typeface="Arial"/>
                <a:cs typeface="Arial"/>
                <a:hlinkClick r:id="rId3" action="ppaction://hlinksldjump"/>
              </a:rPr>
              <a:t>system</a:t>
            </a:r>
            <a:r>
              <a:rPr sz="500" spc="1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architectures</a:t>
            </a:r>
            <a:endParaRPr sz="500">
              <a:latin typeface="Arial"/>
              <a:cs typeface="Arial"/>
            </a:endParaRPr>
          </a:p>
        </p:txBody>
      </p:sp>
      <p:sp>
        <p:nvSpPr>
          <p:cNvPr id="5" name="object 5"/>
          <p:cNvSpPr txBox="1"/>
          <p:nvPr/>
        </p:nvSpPr>
        <p:spPr>
          <a:xfrm>
            <a:off x="69900" y="197711"/>
            <a:ext cx="3547745" cy="1308100"/>
          </a:xfrm>
          <a:prstGeom prst="rect">
            <a:avLst/>
          </a:prstGeom>
        </p:spPr>
        <p:txBody>
          <a:bodyPr vert="horz" wrap="square" lIns="0" tIns="12065" rIns="0" bIns="0" rtlCol="0">
            <a:spAutoFit/>
          </a:bodyPr>
          <a:lstStyle/>
          <a:p>
            <a:pPr marL="38100">
              <a:lnSpc>
                <a:spcPct val="100000"/>
              </a:lnSpc>
              <a:spcBef>
                <a:spcPts val="95"/>
              </a:spcBef>
            </a:pPr>
            <a:r>
              <a:rPr sz="1200" spc="-10" dirty="0">
                <a:solidFill>
                  <a:srgbClr val="3333B2"/>
                </a:solidFill>
                <a:latin typeface="Arial"/>
                <a:cs typeface="Arial"/>
              </a:rPr>
              <a:t>Centralized</a:t>
            </a:r>
            <a:r>
              <a:rPr sz="1200" spc="-20" dirty="0">
                <a:solidFill>
                  <a:srgbClr val="3333B2"/>
                </a:solidFill>
                <a:latin typeface="Arial"/>
                <a:cs typeface="Arial"/>
              </a:rPr>
              <a:t> </a:t>
            </a:r>
            <a:r>
              <a:rPr sz="1200" dirty="0">
                <a:solidFill>
                  <a:srgbClr val="3333B2"/>
                </a:solidFill>
                <a:latin typeface="Arial"/>
                <a:cs typeface="Arial"/>
              </a:rPr>
              <a:t>system</a:t>
            </a:r>
            <a:r>
              <a:rPr sz="1200" spc="-15" dirty="0">
                <a:solidFill>
                  <a:srgbClr val="3333B2"/>
                </a:solidFill>
                <a:latin typeface="Arial"/>
                <a:cs typeface="Arial"/>
              </a:rPr>
              <a:t> </a:t>
            </a:r>
            <a:r>
              <a:rPr sz="1200" spc="-10" dirty="0">
                <a:solidFill>
                  <a:srgbClr val="3333B2"/>
                </a:solidFill>
                <a:latin typeface="Arial"/>
                <a:cs typeface="Arial"/>
              </a:rPr>
              <a:t>architectures</a:t>
            </a:r>
            <a:endParaRPr sz="1200">
              <a:latin typeface="Arial"/>
              <a:cs typeface="Arial"/>
            </a:endParaRPr>
          </a:p>
          <a:p>
            <a:pPr marL="289560">
              <a:lnSpc>
                <a:spcPct val="100000"/>
              </a:lnSpc>
              <a:spcBef>
                <a:spcPts val="1055"/>
              </a:spcBef>
            </a:pPr>
            <a:r>
              <a:rPr sz="1000" dirty="0">
                <a:solidFill>
                  <a:srgbClr val="3333B2"/>
                </a:solidFill>
                <a:latin typeface="Arial"/>
                <a:cs typeface="Arial"/>
              </a:rPr>
              <a:t>Basic</a:t>
            </a:r>
            <a:r>
              <a:rPr sz="1000" spc="-60" dirty="0">
                <a:solidFill>
                  <a:srgbClr val="3333B2"/>
                </a:solidFill>
                <a:latin typeface="Arial"/>
                <a:cs typeface="Arial"/>
              </a:rPr>
              <a:t> </a:t>
            </a:r>
            <a:r>
              <a:rPr sz="1000" dirty="0">
                <a:solidFill>
                  <a:srgbClr val="3333B2"/>
                </a:solidFill>
                <a:latin typeface="Arial"/>
                <a:cs typeface="Arial"/>
              </a:rPr>
              <a:t>Client–Server</a:t>
            </a:r>
            <a:r>
              <a:rPr sz="1000" spc="-45" dirty="0">
                <a:solidFill>
                  <a:srgbClr val="3333B2"/>
                </a:solidFill>
                <a:latin typeface="Arial"/>
                <a:cs typeface="Arial"/>
              </a:rPr>
              <a:t> </a:t>
            </a:r>
            <a:r>
              <a:rPr sz="1000" spc="-10" dirty="0">
                <a:solidFill>
                  <a:srgbClr val="3333B2"/>
                </a:solidFill>
                <a:latin typeface="Arial"/>
                <a:cs typeface="Arial"/>
              </a:rPr>
              <a:t>Model</a:t>
            </a:r>
            <a:endParaRPr sz="1000">
              <a:latin typeface="Arial"/>
              <a:cs typeface="Arial"/>
            </a:endParaRPr>
          </a:p>
          <a:p>
            <a:pPr marL="289560">
              <a:lnSpc>
                <a:spcPct val="100000"/>
              </a:lnSpc>
              <a:spcBef>
                <a:spcPts val="105"/>
              </a:spcBef>
            </a:pPr>
            <a:r>
              <a:rPr sz="900" spc="-10" dirty="0">
                <a:latin typeface="Arial"/>
                <a:cs typeface="Arial"/>
              </a:rPr>
              <a:t>Characteristics:</a:t>
            </a:r>
            <a:endParaRPr sz="900">
              <a:latin typeface="Arial"/>
              <a:cs typeface="Arial"/>
            </a:endParaRPr>
          </a:p>
          <a:p>
            <a:pPr marL="539115" indent="-116839">
              <a:lnSpc>
                <a:spcPct val="100000"/>
              </a:lnSpc>
              <a:spcBef>
                <a:spcPts val="525"/>
              </a:spcBef>
              <a:buClr>
                <a:srgbClr val="3333B2"/>
              </a:buClr>
              <a:buFont typeface="Apple Symbols"/>
              <a:buChar char="•"/>
              <a:tabLst>
                <a:tab pos="539750" algn="l"/>
              </a:tabLst>
            </a:pPr>
            <a:r>
              <a:rPr sz="900" dirty="0">
                <a:latin typeface="Arial"/>
                <a:cs typeface="Arial"/>
              </a:rPr>
              <a:t>There</a:t>
            </a:r>
            <a:r>
              <a:rPr sz="900" spc="-35" dirty="0">
                <a:latin typeface="Arial"/>
                <a:cs typeface="Arial"/>
              </a:rPr>
              <a:t> </a:t>
            </a:r>
            <a:r>
              <a:rPr sz="900" dirty="0">
                <a:latin typeface="Arial"/>
                <a:cs typeface="Arial"/>
              </a:rPr>
              <a:t>are</a:t>
            </a:r>
            <a:r>
              <a:rPr sz="900" spc="-30" dirty="0">
                <a:latin typeface="Arial"/>
                <a:cs typeface="Arial"/>
              </a:rPr>
              <a:t> </a:t>
            </a:r>
            <a:r>
              <a:rPr sz="900" dirty="0">
                <a:latin typeface="Arial"/>
                <a:cs typeface="Arial"/>
              </a:rPr>
              <a:t>processes</a:t>
            </a:r>
            <a:r>
              <a:rPr sz="900" spc="-35" dirty="0">
                <a:latin typeface="Arial"/>
                <a:cs typeface="Arial"/>
              </a:rPr>
              <a:t> </a:t>
            </a:r>
            <a:r>
              <a:rPr sz="900" dirty="0">
                <a:latin typeface="Arial"/>
                <a:cs typeface="Arial"/>
              </a:rPr>
              <a:t>offering</a:t>
            </a:r>
            <a:r>
              <a:rPr sz="900" spc="-30" dirty="0">
                <a:latin typeface="Arial"/>
                <a:cs typeface="Arial"/>
              </a:rPr>
              <a:t> </a:t>
            </a:r>
            <a:r>
              <a:rPr sz="900" dirty="0">
                <a:latin typeface="Arial"/>
                <a:cs typeface="Arial"/>
              </a:rPr>
              <a:t>services</a:t>
            </a:r>
            <a:r>
              <a:rPr sz="900" spc="-35" dirty="0">
                <a:latin typeface="Arial"/>
                <a:cs typeface="Arial"/>
              </a:rPr>
              <a:t> </a:t>
            </a:r>
            <a:r>
              <a:rPr sz="900" spc="-10" dirty="0">
                <a:latin typeface="Arial"/>
                <a:cs typeface="Arial"/>
              </a:rPr>
              <a:t>(</a:t>
            </a:r>
            <a:r>
              <a:rPr sz="900" spc="-10" dirty="0">
                <a:solidFill>
                  <a:srgbClr val="C80000"/>
                </a:solidFill>
                <a:latin typeface="Arial"/>
                <a:cs typeface="Arial"/>
              </a:rPr>
              <a:t>servers</a:t>
            </a:r>
            <a:r>
              <a:rPr sz="900" spc="-10" dirty="0">
                <a:latin typeface="Arial"/>
                <a:cs typeface="Arial"/>
              </a:rPr>
              <a:t>)</a:t>
            </a:r>
            <a:endParaRPr sz="900">
              <a:latin typeface="Arial"/>
              <a:cs typeface="Arial"/>
            </a:endParaRPr>
          </a:p>
          <a:p>
            <a:pPr marL="539115" indent="-116839">
              <a:lnSpc>
                <a:spcPct val="100000"/>
              </a:lnSpc>
              <a:spcBef>
                <a:spcPts val="125"/>
              </a:spcBef>
              <a:buClr>
                <a:srgbClr val="3333B2"/>
              </a:buClr>
              <a:buFont typeface="Apple Symbols"/>
              <a:buChar char="•"/>
              <a:tabLst>
                <a:tab pos="539750" algn="l"/>
              </a:tabLst>
            </a:pPr>
            <a:r>
              <a:rPr sz="900" dirty="0">
                <a:latin typeface="Arial"/>
                <a:cs typeface="Arial"/>
              </a:rPr>
              <a:t>There</a:t>
            </a:r>
            <a:r>
              <a:rPr sz="900" spc="-25" dirty="0">
                <a:latin typeface="Arial"/>
                <a:cs typeface="Arial"/>
              </a:rPr>
              <a:t> </a:t>
            </a:r>
            <a:r>
              <a:rPr sz="900" dirty="0">
                <a:latin typeface="Arial"/>
                <a:cs typeface="Arial"/>
              </a:rPr>
              <a:t>are</a:t>
            </a:r>
            <a:r>
              <a:rPr sz="900" spc="-25" dirty="0">
                <a:latin typeface="Arial"/>
                <a:cs typeface="Arial"/>
              </a:rPr>
              <a:t> </a:t>
            </a:r>
            <a:r>
              <a:rPr sz="900" dirty="0">
                <a:latin typeface="Arial"/>
                <a:cs typeface="Arial"/>
              </a:rPr>
              <a:t>processes</a:t>
            </a:r>
            <a:r>
              <a:rPr sz="900" spc="-25"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use</a:t>
            </a:r>
            <a:r>
              <a:rPr sz="900" spc="-25" dirty="0">
                <a:latin typeface="Arial"/>
                <a:cs typeface="Arial"/>
              </a:rPr>
              <a:t> </a:t>
            </a:r>
            <a:r>
              <a:rPr sz="900" dirty="0">
                <a:latin typeface="Arial"/>
                <a:cs typeface="Arial"/>
              </a:rPr>
              <a:t>services</a:t>
            </a:r>
            <a:r>
              <a:rPr sz="900" spc="-25" dirty="0">
                <a:latin typeface="Arial"/>
                <a:cs typeface="Arial"/>
              </a:rPr>
              <a:t> </a:t>
            </a:r>
            <a:r>
              <a:rPr sz="900" spc="-10" dirty="0">
                <a:latin typeface="Arial"/>
                <a:cs typeface="Arial"/>
              </a:rPr>
              <a:t>(</a:t>
            </a:r>
            <a:r>
              <a:rPr sz="900" spc="-10" dirty="0">
                <a:solidFill>
                  <a:srgbClr val="C80000"/>
                </a:solidFill>
                <a:latin typeface="Arial"/>
                <a:cs typeface="Arial"/>
              </a:rPr>
              <a:t>clients</a:t>
            </a:r>
            <a:r>
              <a:rPr sz="900" spc="-10" dirty="0">
                <a:latin typeface="Arial"/>
                <a:cs typeface="Arial"/>
              </a:rPr>
              <a:t>)</a:t>
            </a:r>
            <a:endParaRPr sz="900">
              <a:latin typeface="Arial"/>
              <a:cs typeface="Arial"/>
            </a:endParaRPr>
          </a:p>
          <a:p>
            <a:pPr marL="542925" indent="-120650">
              <a:lnSpc>
                <a:spcPct val="100000"/>
              </a:lnSpc>
              <a:spcBef>
                <a:spcPts val="125"/>
              </a:spcBef>
              <a:buClr>
                <a:srgbClr val="3333B2"/>
              </a:buClr>
              <a:buFont typeface="Apple Symbols"/>
              <a:buChar char="•"/>
              <a:tabLst>
                <a:tab pos="543560" algn="l"/>
              </a:tabLst>
            </a:pPr>
            <a:r>
              <a:rPr sz="900" dirty="0">
                <a:latin typeface="Arial"/>
                <a:cs typeface="Arial"/>
              </a:rPr>
              <a:t>Clients</a:t>
            </a:r>
            <a:r>
              <a:rPr sz="900" spc="-20" dirty="0">
                <a:latin typeface="Arial"/>
                <a:cs typeface="Arial"/>
              </a:rPr>
              <a:t> </a:t>
            </a:r>
            <a:r>
              <a:rPr sz="900" dirty="0">
                <a:latin typeface="Arial"/>
                <a:cs typeface="Arial"/>
              </a:rPr>
              <a:t>and</a:t>
            </a:r>
            <a:r>
              <a:rPr sz="900" spc="-15" dirty="0">
                <a:latin typeface="Arial"/>
                <a:cs typeface="Arial"/>
              </a:rPr>
              <a:t> </a:t>
            </a:r>
            <a:r>
              <a:rPr sz="900" dirty="0">
                <a:latin typeface="Arial"/>
                <a:cs typeface="Arial"/>
              </a:rPr>
              <a:t>servers</a:t>
            </a:r>
            <a:r>
              <a:rPr sz="900" spc="-15" dirty="0">
                <a:latin typeface="Arial"/>
                <a:cs typeface="Arial"/>
              </a:rPr>
              <a:t> </a:t>
            </a:r>
            <a:r>
              <a:rPr sz="900" dirty="0">
                <a:latin typeface="Arial"/>
                <a:cs typeface="Arial"/>
              </a:rPr>
              <a:t>can</a:t>
            </a:r>
            <a:r>
              <a:rPr sz="900" spc="-20" dirty="0">
                <a:latin typeface="Arial"/>
                <a:cs typeface="Arial"/>
              </a:rPr>
              <a:t> </a:t>
            </a:r>
            <a:r>
              <a:rPr sz="900" dirty="0">
                <a:latin typeface="Arial"/>
                <a:cs typeface="Arial"/>
              </a:rPr>
              <a:t>be</a:t>
            </a:r>
            <a:r>
              <a:rPr sz="900" spc="-15" dirty="0">
                <a:latin typeface="Arial"/>
                <a:cs typeface="Arial"/>
              </a:rPr>
              <a:t> </a:t>
            </a:r>
            <a:r>
              <a:rPr sz="900" dirty="0">
                <a:latin typeface="Arial"/>
                <a:cs typeface="Arial"/>
              </a:rPr>
              <a:t>on</a:t>
            </a:r>
            <a:r>
              <a:rPr sz="900" spc="-15" dirty="0">
                <a:latin typeface="Arial"/>
                <a:cs typeface="Arial"/>
              </a:rPr>
              <a:t> </a:t>
            </a:r>
            <a:r>
              <a:rPr sz="900" spc="-10" dirty="0">
                <a:latin typeface="Arial"/>
                <a:cs typeface="Arial"/>
              </a:rPr>
              <a:t>different</a:t>
            </a:r>
            <a:r>
              <a:rPr sz="900" spc="-15" dirty="0">
                <a:latin typeface="Arial"/>
                <a:cs typeface="Arial"/>
              </a:rPr>
              <a:t> </a:t>
            </a:r>
            <a:r>
              <a:rPr sz="900" spc="-10" dirty="0">
                <a:latin typeface="Arial"/>
                <a:cs typeface="Arial"/>
              </a:rPr>
              <a:t>machines</a:t>
            </a:r>
            <a:endParaRPr sz="900">
              <a:latin typeface="Arial"/>
              <a:cs typeface="Arial"/>
            </a:endParaRPr>
          </a:p>
          <a:p>
            <a:pPr marL="542925" indent="-120650">
              <a:lnSpc>
                <a:spcPct val="100000"/>
              </a:lnSpc>
              <a:spcBef>
                <a:spcPts val="125"/>
              </a:spcBef>
              <a:buClr>
                <a:srgbClr val="3333B2"/>
              </a:buClr>
              <a:buFont typeface="Apple Symbols"/>
              <a:buChar char="•"/>
              <a:tabLst>
                <a:tab pos="543560" algn="l"/>
              </a:tabLst>
            </a:pPr>
            <a:r>
              <a:rPr sz="900" dirty="0">
                <a:latin typeface="Arial"/>
                <a:cs typeface="Arial"/>
              </a:rPr>
              <a:t>Clients</a:t>
            </a:r>
            <a:r>
              <a:rPr sz="900" spc="-35" dirty="0">
                <a:latin typeface="Arial"/>
                <a:cs typeface="Arial"/>
              </a:rPr>
              <a:t> </a:t>
            </a:r>
            <a:r>
              <a:rPr sz="900" spc="-10" dirty="0">
                <a:latin typeface="Arial"/>
                <a:cs typeface="Arial"/>
              </a:rPr>
              <a:t>follow</a:t>
            </a:r>
            <a:r>
              <a:rPr sz="900" spc="-35" dirty="0">
                <a:latin typeface="Arial"/>
                <a:cs typeface="Arial"/>
              </a:rPr>
              <a:t> </a:t>
            </a:r>
            <a:r>
              <a:rPr sz="900" dirty="0">
                <a:latin typeface="Arial"/>
                <a:cs typeface="Arial"/>
              </a:rPr>
              <a:t>request/reply</a:t>
            </a:r>
            <a:r>
              <a:rPr sz="900" spc="-35" dirty="0">
                <a:latin typeface="Arial"/>
                <a:cs typeface="Arial"/>
              </a:rPr>
              <a:t> </a:t>
            </a:r>
            <a:r>
              <a:rPr sz="900" dirty="0">
                <a:latin typeface="Arial"/>
                <a:cs typeface="Arial"/>
              </a:rPr>
              <a:t>model</a:t>
            </a:r>
            <a:r>
              <a:rPr sz="900" spc="-30" dirty="0">
                <a:latin typeface="Arial"/>
                <a:cs typeface="Arial"/>
              </a:rPr>
              <a:t> </a:t>
            </a:r>
            <a:r>
              <a:rPr sz="900" dirty="0">
                <a:latin typeface="Arial"/>
                <a:cs typeface="Arial"/>
              </a:rPr>
              <a:t>regarding</a:t>
            </a:r>
            <a:r>
              <a:rPr sz="900" spc="-35" dirty="0">
                <a:latin typeface="Arial"/>
                <a:cs typeface="Arial"/>
              </a:rPr>
              <a:t> </a:t>
            </a:r>
            <a:r>
              <a:rPr sz="900" dirty="0">
                <a:latin typeface="Arial"/>
                <a:cs typeface="Arial"/>
              </a:rPr>
              <a:t>using</a:t>
            </a:r>
            <a:r>
              <a:rPr sz="900" spc="-35" dirty="0">
                <a:latin typeface="Arial"/>
                <a:cs typeface="Arial"/>
              </a:rPr>
              <a:t> </a:t>
            </a:r>
            <a:r>
              <a:rPr sz="900" spc="-10" dirty="0">
                <a:latin typeface="Arial"/>
                <a:cs typeface="Arial"/>
              </a:rPr>
              <a:t>services</a:t>
            </a:r>
            <a:endParaRPr sz="900">
              <a:latin typeface="Arial"/>
              <a:cs typeface="Arial"/>
            </a:endParaRPr>
          </a:p>
        </p:txBody>
      </p:sp>
      <p:pic>
        <p:nvPicPr>
          <p:cNvPr id="6" name="object 6"/>
          <p:cNvPicPr/>
          <p:nvPr/>
        </p:nvPicPr>
        <p:blipFill>
          <a:blip r:embed="rId4" cstate="print"/>
          <a:stretch>
            <a:fillRect/>
          </a:stretch>
        </p:blipFill>
        <p:spPr>
          <a:xfrm>
            <a:off x="1168631" y="1640771"/>
            <a:ext cx="2307406" cy="508413"/>
          </a:xfrm>
          <a:prstGeom prst="rect">
            <a:avLst/>
          </a:prstGeom>
        </p:spPr>
      </p:pic>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92964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3" action="ppaction://hlinksldjump"/>
              </a:rPr>
              <a:t>Simple</a:t>
            </a:r>
            <a:r>
              <a:rPr sz="500" spc="5" dirty="0">
                <a:latin typeface="Arial"/>
                <a:cs typeface="Arial"/>
                <a:hlinkClick r:id="rId3" action="ppaction://hlinksldjump"/>
              </a:rPr>
              <a:t> </a:t>
            </a:r>
            <a:r>
              <a:rPr sz="500" spc="-10" dirty="0">
                <a:latin typeface="Arial"/>
                <a:cs typeface="Arial"/>
                <a:hlinkClick r:id="rId3" action="ppaction://hlinksldjump"/>
              </a:rPr>
              <a:t>client-</a:t>
            </a:r>
            <a:r>
              <a:rPr sz="500" dirty="0">
                <a:latin typeface="Arial"/>
                <a:cs typeface="Arial"/>
                <a:hlinkClick r:id="rId3" action="ppaction://hlinksldjump"/>
              </a:rPr>
              <a:t>server</a:t>
            </a:r>
            <a:r>
              <a:rPr sz="500" spc="5" dirty="0">
                <a:latin typeface="Arial"/>
                <a:cs typeface="Arial"/>
                <a:hlinkClick r:id="rId3" action="ppaction://hlinksldjump"/>
              </a:rPr>
              <a:t> </a:t>
            </a:r>
            <a:r>
              <a:rPr sz="500" spc="-10" dirty="0">
                <a:latin typeface="Arial"/>
                <a:cs typeface="Arial"/>
                <a:hlinkClick r:id="rId3" action="ppaction://hlinksldjump"/>
              </a:rPr>
              <a:t>architecture</a:t>
            </a:r>
            <a:endParaRPr sz="500">
              <a:latin typeface="Arial"/>
              <a:cs typeface="Arial"/>
            </a:endParaRP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3" action="ppaction://hlinksldjump"/>
              </a:rPr>
              <a:t>Architectures</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02608" y="-1515"/>
            <a:ext cx="852169"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4" action="ppaction://hlinksldjump"/>
              </a:rPr>
              <a:t>Layered-</a:t>
            </a:r>
            <a:r>
              <a:rPr sz="500" dirty="0">
                <a:solidFill>
                  <a:srgbClr val="FFFFFF"/>
                </a:solidFill>
                <a:latin typeface="Arial"/>
                <a:cs typeface="Arial"/>
                <a:hlinkClick r:id="rId4" action="ppaction://hlinksldjump"/>
              </a:rPr>
              <a:t>system</a:t>
            </a:r>
            <a:r>
              <a:rPr sz="500" spc="10" dirty="0">
                <a:solidFill>
                  <a:srgbClr val="FFFFFF"/>
                </a:solidFill>
                <a:latin typeface="Arial"/>
                <a:cs typeface="Arial"/>
                <a:hlinkClick r:id="rId4" action="ppaction://hlinksldjump"/>
              </a:rPr>
              <a:t> </a:t>
            </a:r>
            <a:r>
              <a:rPr sz="500" spc="-10" dirty="0">
                <a:solidFill>
                  <a:srgbClr val="FFFFFF"/>
                </a:solidFill>
                <a:latin typeface="Arial"/>
                <a:cs typeface="Arial"/>
                <a:hlinkClick r:id="rId4" action="ppaction://hlinksldjump"/>
              </a:rPr>
              <a:t>architectures</a:t>
            </a:r>
            <a:endParaRPr sz="500">
              <a:latin typeface="Arial"/>
              <a:cs typeface="Arial"/>
            </a:endParaRPr>
          </a:p>
        </p:txBody>
      </p:sp>
      <p:sp>
        <p:nvSpPr>
          <p:cNvPr id="5" name="object 5"/>
          <p:cNvSpPr txBox="1"/>
          <p:nvPr/>
        </p:nvSpPr>
        <p:spPr>
          <a:xfrm>
            <a:off x="57200" y="197711"/>
            <a:ext cx="3291840" cy="1311275"/>
          </a:xfrm>
          <a:prstGeom prst="rect">
            <a:avLst/>
          </a:prstGeom>
        </p:spPr>
        <p:txBody>
          <a:bodyPr vert="horz" wrap="square" lIns="0" tIns="12065" rIns="0" bIns="0" rtlCol="0">
            <a:spAutoFit/>
          </a:bodyPr>
          <a:lstStyle/>
          <a:p>
            <a:pPr marL="50800">
              <a:lnSpc>
                <a:spcPct val="100000"/>
              </a:lnSpc>
              <a:spcBef>
                <a:spcPts val="95"/>
              </a:spcBef>
            </a:pPr>
            <a:r>
              <a:rPr sz="1200" spc="-10" dirty="0">
                <a:solidFill>
                  <a:srgbClr val="3333B2"/>
                </a:solidFill>
                <a:latin typeface="Arial"/>
                <a:cs typeface="Arial"/>
              </a:rPr>
              <a:t>Multi-</a:t>
            </a:r>
            <a:r>
              <a:rPr sz="1200" dirty="0">
                <a:solidFill>
                  <a:srgbClr val="3333B2"/>
                </a:solidFill>
                <a:latin typeface="Arial"/>
                <a:cs typeface="Arial"/>
              </a:rPr>
              <a:t>tiered</a:t>
            </a:r>
            <a:r>
              <a:rPr sz="1200" spc="-15" dirty="0">
                <a:solidFill>
                  <a:srgbClr val="3333B2"/>
                </a:solidFill>
                <a:latin typeface="Arial"/>
                <a:cs typeface="Arial"/>
              </a:rPr>
              <a:t> </a:t>
            </a:r>
            <a:r>
              <a:rPr sz="1200" spc="-10" dirty="0">
                <a:solidFill>
                  <a:srgbClr val="3333B2"/>
                </a:solidFill>
                <a:latin typeface="Arial"/>
                <a:cs typeface="Arial"/>
              </a:rPr>
              <a:t>centralized </a:t>
            </a:r>
            <a:r>
              <a:rPr sz="1200" dirty="0">
                <a:solidFill>
                  <a:srgbClr val="3333B2"/>
                </a:solidFill>
                <a:latin typeface="Arial"/>
                <a:cs typeface="Arial"/>
              </a:rPr>
              <a:t>system</a:t>
            </a:r>
            <a:r>
              <a:rPr sz="1200" spc="-15" dirty="0">
                <a:solidFill>
                  <a:srgbClr val="3333B2"/>
                </a:solidFill>
                <a:latin typeface="Arial"/>
                <a:cs typeface="Arial"/>
              </a:rPr>
              <a:t> </a:t>
            </a:r>
            <a:r>
              <a:rPr sz="1200" spc="-10" dirty="0">
                <a:solidFill>
                  <a:srgbClr val="3333B2"/>
                </a:solidFill>
                <a:latin typeface="Arial"/>
                <a:cs typeface="Arial"/>
              </a:rPr>
              <a:t>architectures</a:t>
            </a:r>
            <a:endParaRPr sz="1200">
              <a:latin typeface="Arial"/>
              <a:cs typeface="Arial"/>
            </a:endParaRPr>
          </a:p>
          <a:p>
            <a:pPr marL="302260">
              <a:lnSpc>
                <a:spcPct val="100000"/>
              </a:lnSpc>
              <a:spcBef>
                <a:spcPts val="910"/>
              </a:spcBef>
            </a:pPr>
            <a:r>
              <a:rPr sz="1000" dirty="0">
                <a:solidFill>
                  <a:srgbClr val="3333B2"/>
                </a:solidFill>
                <a:latin typeface="Arial"/>
                <a:cs typeface="Arial"/>
              </a:rPr>
              <a:t>Some</a:t>
            </a:r>
            <a:r>
              <a:rPr sz="1000" spc="-45" dirty="0">
                <a:solidFill>
                  <a:srgbClr val="3333B2"/>
                </a:solidFill>
                <a:latin typeface="Arial"/>
                <a:cs typeface="Arial"/>
              </a:rPr>
              <a:t> </a:t>
            </a:r>
            <a:r>
              <a:rPr sz="1000" dirty="0">
                <a:solidFill>
                  <a:srgbClr val="3333B2"/>
                </a:solidFill>
                <a:latin typeface="Arial"/>
                <a:cs typeface="Arial"/>
              </a:rPr>
              <a:t>traditional</a:t>
            </a:r>
            <a:r>
              <a:rPr sz="1000" spc="-45" dirty="0">
                <a:solidFill>
                  <a:srgbClr val="3333B2"/>
                </a:solidFill>
                <a:latin typeface="Arial"/>
                <a:cs typeface="Arial"/>
              </a:rPr>
              <a:t> </a:t>
            </a:r>
            <a:r>
              <a:rPr sz="1000" spc="-10" dirty="0">
                <a:solidFill>
                  <a:srgbClr val="3333B2"/>
                </a:solidFill>
                <a:latin typeface="Arial"/>
                <a:cs typeface="Arial"/>
              </a:rPr>
              <a:t>organizations</a:t>
            </a:r>
            <a:endParaRPr sz="1000">
              <a:latin typeface="Arial"/>
              <a:cs typeface="Arial"/>
            </a:endParaRPr>
          </a:p>
          <a:p>
            <a:pPr marL="555625" indent="-120650">
              <a:lnSpc>
                <a:spcPct val="100000"/>
              </a:lnSpc>
              <a:spcBef>
                <a:spcPts val="705"/>
              </a:spcBef>
              <a:buClr>
                <a:srgbClr val="3333B2"/>
              </a:buClr>
              <a:buFont typeface="Apple Symbols"/>
              <a:buChar char="•"/>
              <a:tabLst>
                <a:tab pos="556260" algn="l"/>
              </a:tabLst>
            </a:pPr>
            <a:r>
              <a:rPr sz="900" spc="-10" dirty="0">
                <a:solidFill>
                  <a:srgbClr val="C80000"/>
                </a:solidFill>
                <a:latin typeface="Arial"/>
                <a:cs typeface="Arial"/>
              </a:rPr>
              <a:t>Single-</a:t>
            </a:r>
            <a:r>
              <a:rPr sz="900" dirty="0">
                <a:solidFill>
                  <a:srgbClr val="C80000"/>
                </a:solidFill>
                <a:latin typeface="Arial"/>
                <a:cs typeface="Arial"/>
              </a:rPr>
              <a:t>tiered:</a:t>
            </a:r>
            <a:r>
              <a:rPr sz="900" spc="95" dirty="0">
                <a:solidFill>
                  <a:srgbClr val="C80000"/>
                </a:solidFill>
                <a:latin typeface="Arial"/>
                <a:cs typeface="Arial"/>
              </a:rPr>
              <a:t> </a:t>
            </a:r>
            <a:r>
              <a:rPr sz="900" dirty="0">
                <a:latin typeface="Arial"/>
                <a:cs typeface="Arial"/>
              </a:rPr>
              <a:t>dumb</a:t>
            </a:r>
            <a:r>
              <a:rPr sz="900" spc="25" dirty="0">
                <a:latin typeface="Arial"/>
                <a:cs typeface="Arial"/>
              </a:rPr>
              <a:t> </a:t>
            </a:r>
            <a:r>
              <a:rPr sz="900" spc="-10" dirty="0">
                <a:latin typeface="Arial"/>
                <a:cs typeface="Arial"/>
              </a:rPr>
              <a:t>terminal/mainframe</a:t>
            </a:r>
            <a:r>
              <a:rPr sz="900" spc="30" dirty="0">
                <a:latin typeface="Arial"/>
                <a:cs typeface="Arial"/>
              </a:rPr>
              <a:t> </a:t>
            </a:r>
            <a:r>
              <a:rPr sz="900" spc="-10" dirty="0">
                <a:latin typeface="Arial"/>
                <a:cs typeface="Arial"/>
              </a:rPr>
              <a:t>configuration</a:t>
            </a:r>
            <a:endParaRPr sz="900">
              <a:latin typeface="Arial"/>
              <a:cs typeface="Arial"/>
            </a:endParaRPr>
          </a:p>
          <a:p>
            <a:pPr marL="555625" indent="-120650">
              <a:lnSpc>
                <a:spcPct val="100000"/>
              </a:lnSpc>
              <a:spcBef>
                <a:spcPts val="125"/>
              </a:spcBef>
              <a:buClr>
                <a:srgbClr val="3333B2"/>
              </a:buClr>
              <a:buFont typeface="Apple Symbols"/>
              <a:buChar char="•"/>
              <a:tabLst>
                <a:tab pos="556260" algn="l"/>
              </a:tabLst>
            </a:pPr>
            <a:r>
              <a:rPr sz="900" spc="-35" dirty="0">
                <a:solidFill>
                  <a:srgbClr val="C80000"/>
                </a:solidFill>
                <a:latin typeface="Arial"/>
                <a:cs typeface="Arial"/>
              </a:rPr>
              <a:t>Two-</a:t>
            </a:r>
            <a:r>
              <a:rPr sz="900" dirty="0">
                <a:solidFill>
                  <a:srgbClr val="C80000"/>
                </a:solidFill>
                <a:latin typeface="Arial"/>
                <a:cs typeface="Arial"/>
              </a:rPr>
              <a:t>tiered:</a:t>
            </a:r>
            <a:r>
              <a:rPr sz="900" spc="15" dirty="0">
                <a:solidFill>
                  <a:srgbClr val="C80000"/>
                </a:solidFill>
                <a:latin typeface="Arial"/>
                <a:cs typeface="Arial"/>
              </a:rPr>
              <a:t> </a:t>
            </a:r>
            <a:r>
              <a:rPr sz="900" dirty="0">
                <a:latin typeface="Arial"/>
                <a:cs typeface="Arial"/>
              </a:rPr>
              <a:t>client/single</a:t>
            </a:r>
            <a:r>
              <a:rPr sz="900" spc="-35" dirty="0">
                <a:latin typeface="Arial"/>
                <a:cs typeface="Arial"/>
              </a:rPr>
              <a:t> </a:t>
            </a:r>
            <a:r>
              <a:rPr sz="900" dirty="0">
                <a:latin typeface="Arial"/>
                <a:cs typeface="Arial"/>
              </a:rPr>
              <a:t>server</a:t>
            </a:r>
            <a:r>
              <a:rPr sz="900" spc="-35" dirty="0">
                <a:latin typeface="Arial"/>
                <a:cs typeface="Arial"/>
              </a:rPr>
              <a:t> </a:t>
            </a:r>
            <a:r>
              <a:rPr sz="900" spc="-10" dirty="0">
                <a:latin typeface="Arial"/>
                <a:cs typeface="Arial"/>
              </a:rPr>
              <a:t>configuration</a:t>
            </a:r>
            <a:endParaRPr sz="900">
              <a:latin typeface="Arial"/>
              <a:cs typeface="Arial"/>
            </a:endParaRPr>
          </a:p>
          <a:p>
            <a:pPr marL="555625" indent="-120650">
              <a:lnSpc>
                <a:spcPct val="100000"/>
              </a:lnSpc>
              <a:spcBef>
                <a:spcPts val="125"/>
              </a:spcBef>
              <a:buClr>
                <a:srgbClr val="3333B2"/>
              </a:buClr>
              <a:buFont typeface="Apple Symbols"/>
              <a:buChar char="•"/>
              <a:tabLst>
                <a:tab pos="556260" algn="l"/>
              </a:tabLst>
            </a:pPr>
            <a:r>
              <a:rPr sz="900" spc="-10" dirty="0">
                <a:solidFill>
                  <a:srgbClr val="C80000"/>
                </a:solidFill>
                <a:latin typeface="Arial"/>
                <a:cs typeface="Arial"/>
              </a:rPr>
              <a:t>Three-</a:t>
            </a:r>
            <a:r>
              <a:rPr sz="900" dirty="0">
                <a:solidFill>
                  <a:srgbClr val="C80000"/>
                </a:solidFill>
                <a:latin typeface="Arial"/>
                <a:cs typeface="Arial"/>
              </a:rPr>
              <a:t>tiered:</a:t>
            </a:r>
            <a:r>
              <a:rPr sz="900" spc="30" dirty="0">
                <a:solidFill>
                  <a:srgbClr val="C80000"/>
                </a:solidFill>
                <a:latin typeface="Arial"/>
                <a:cs typeface="Arial"/>
              </a:rPr>
              <a:t> </a:t>
            </a:r>
            <a:r>
              <a:rPr sz="900" dirty="0">
                <a:latin typeface="Arial"/>
                <a:cs typeface="Arial"/>
              </a:rPr>
              <a:t>each</a:t>
            </a:r>
            <a:r>
              <a:rPr sz="900" spc="-20" dirty="0">
                <a:latin typeface="Arial"/>
                <a:cs typeface="Arial"/>
              </a:rPr>
              <a:t> </a:t>
            </a:r>
            <a:r>
              <a:rPr sz="900" spc="-10" dirty="0">
                <a:latin typeface="Arial"/>
                <a:cs typeface="Arial"/>
              </a:rPr>
              <a:t>layer</a:t>
            </a:r>
            <a:r>
              <a:rPr sz="900" spc="-20" dirty="0">
                <a:latin typeface="Arial"/>
                <a:cs typeface="Arial"/>
              </a:rPr>
              <a:t> </a:t>
            </a:r>
            <a:r>
              <a:rPr sz="900" dirty="0">
                <a:latin typeface="Arial"/>
                <a:cs typeface="Arial"/>
              </a:rPr>
              <a:t>on</a:t>
            </a:r>
            <a:r>
              <a:rPr sz="900" spc="-20" dirty="0">
                <a:latin typeface="Arial"/>
                <a:cs typeface="Arial"/>
              </a:rPr>
              <a:t> </a:t>
            </a:r>
            <a:r>
              <a:rPr sz="900" dirty="0">
                <a:latin typeface="Arial"/>
                <a:cs typeface="Arial"/>
              </a:rPr>
              <a:t>separate</a:t>
            </a:r>
            <a:r>
              <a:rPr sz="900" spc="-25" dirty="0">
                <a:latin typeface="Arial"/>
                <a:cs typeface="Arial"/>
              </a:rPr>
              <a:t> </a:t>
            </a:r>
            <a:r>
              <a:rPr sz="900" spc="-10" dirty="0">
                <a:latin typeface="Arial"/>
                <a:cs typeface="Arial"/>
              </a:rPr>
              <a:t>machine</a:t>
            </a:r>
            <a:endParaRPr sz="900">
              <a:latin typeface="Arial"/>
              <a:cs typeface="Arial"/>
            </a:endParaRPr>
          </a:p>
          <a:p>
            <a:pPr>
              <a:lnSpc>
                <a:spcPct val="100000"/>
              </a:lnSpc>
              <a:spcBef>
                <a:spcPts val="30"/>
              </a:spcBef>
            </a:pPr>
            <a:endParaRPr sz="1000">
              <a:latin typeface="Arial"/>
              <a:cs typeface="Arial"/>
            </a:endParaRPr>
          </a:p>
          <a:p>
            <a:pPr marL="298450">
              <a:lnSpc>
                <a:spcPct val="100000"/>
              </a:lnSpc>
            </a:pPr>
            <a:r>
              <a:rPr sz="1000" spc="-20" dirty="0">
                <a:solidFill>
                  <a:srgbClr val="3333B2"/>
                </a:solidFill>
                <a:latin typeface="Arial"/>
                <a:cs typeface="Arial"/>
              </a:rPr>
              <a:t>Traditional</a:t>
            </a:r>
            <a:r>
              <a:rPr sz="1000" spc="5" dirty="0">
                <a:solidFill>
                  <a:srgbClr val="3333B2"/>
                </a:solidFill>
                <a:latin typeface="Arial"/>
                <a:cs typeface="Arial"/>
              </a:rPr>
              <a:t> </a:t>
            </a:r>
            <a:r>
              <a:rPr sz="1000" spc="-10" dirty="0">
                <a:solidFill>
                  <a:srgbClr val="3333B2"/>
                </a:solidFill>
                <a:latin typeface="Arial"/>
                <a:cs typeface="Arial"/>
              </a:rPr>
              <a:t>two-</a:t>
            </a:r>
            <a:r>
              <a:rPr sz="1000" dirty="0">
                <a:solidFill>
                  <a:srgbClr val="3333B2"/>
                </a:solidFill>
                <a:latin typeface="Arial"/>
                <a:cs typeface="Arial"/>
              </a:rPr>
              <a:t>tiered</a:t>
            </a:r>
            <a:r>
              <a:rPr sz="1000" spc="10" dirty="0">
                <a:solidFill>
                  <a:srgbClr val="3333B2"/>
                </a:solidFill>
                <a:latin typeface="Arial"/>
                <a:cs typeface="Arial"/>
              </a:rPr>
              <a:t> </a:t>
            </a:r>
            <a:r>
              <a:rPr sz="1000" spc="-10" dirty="0">
                <a:solidFill>
                  <a:srgbClr val="3333B2"/>
                </a:solidFill>
                <a:latin typeface="Arial"/>
                <a:cs typeface="Arial"/>
              </a:rPr>
              <a:t>configurations</a:t>
            </a:r>
            <a:endParaRPr sz="1000">
              <a:latin typeface="Arial"/>
              <a:cs typeface="Arial"/>
            </a:endParaRPr>
          </a:p>
        </p:txBody>
      </p:sp>
      <p:pic>
        <p:nvPicPr>
          <p:cNvPr id="6" name="object 6"/>
          <p:cNvPicPr/>
          <p:nvPr/>
        </p:nvPicPr>
        <p:blipFill>
          <a:blip r:embed="rId5" cstate="print"/>
          <a:stretch>
            <a:fillRect/>
          </a:stretch>
        </p:blipFill>
        <p:spPr>
          <a:xfrm>
            <a:off x="403192" y="1614255"/>
            <a:ext cx="3735620" cy="1377038"/>
          </a:xfrm>
          <a:prstGeom prst="rect">
            <a:avLst/>
          </a:prstGeom>
        </p:spPr>
      </p:pic>
      <p:sp>
        <p:nvSpPr>
          <p:cNvPr id="7" name="object 7"/>
          <p:cNvSpPr txBox="1"/>
          <p:nvPr/>
        </p:nvSpPr>
        <p:spPr>
          <a:xfrm>
            <a:off x="652538" y="3017807"/>
            <a:ext cx="165100" cy="162560"/>
          </a:xfrm>
          <a:prstGeom prst="rect">
            <a:avLst/>
          </a:prstGeom>
        </p:spPr>
        <p:txBody>
          <a:bodyPr vert="horz" wrap="square" lIns="0" tIns="12065" rIns="0" bIns="0" rtlCol="0">
            <a:spAutoFit/>
          </a:bodyPr>
          <a:lstStyle/>
          <a:p>
            <a:pPr marL="12700">
              <a:lnSpc>
                <a:spcPct val="100000"/>
              </a:lnSpc>
              <a:spcBef>
                <a:spcPts val="95"/>
              </a:spcBef>
            </a:pPr>
            <a:r>
              <a:rPr sz="900" spc="-25" dirty="0">
                <a:latin typeface="Arial"/>
                <a:cs typeface="Arial"/>
              </a:rPr>
              <a:t>(a)</a:t>
            </a:r>
            <a:endParaRPr sz="900">
              <a:latin typeface="Arial"/>
              <a:cs typeface="Arial"/>
            </a:endParaRPr>
          </a:p>
        </p:txBody>
      </p:sp>
      <p:sp>
        <p:nvSpPr>
          <p:cNvPr id="8" name="object 8"/>
          <p:cNvSpPr txBox="1"/>
          <p:nvPr/>
        </p:nvSpPr>
        <p:spPr>
          <a:xfrm>
            <a:off x="1439744" y="3017807"/>
            <a:ext cx="165100" cy="162560"/>
          </a:xfrm>
          <a:prstGeom prst="rect">
            <a:avLst/>
          </a:prstGeom>
        </p:spPr>
        <p:txBody>
          <a:bodyPr vert="horz" wrap="square" lIns="0" tIns="12065" rIns="0" bIns="0" rtlCol="0">
            <a:spAutoFit/>
          </a:bodyPr>
          <a:lstStyle/>
          <a:p>
            <a:pPr marL="12700">
              <a:lnSpc>
                <a:spcPct val="100000"/>
              </a:lnSpc>
              <a:spcBef>
                <a:spcPts val="95"/>
              </a:spcBef>
            </a:pPr>
            <a:r>
              <a:rPr sz="900" spc="-25" dirty="0">
                <a:latin typeface="Arial"/>
                <a:cs typeface="Arial"/>
              </a:rPr>
              <a:t>(b)</a:t>
            </a:r>
            <a:endParaRPr sz="900">
              <a:latin typeface="Arial"/>
              <a:cs typeface="Arial"/>
            </a:endParaRPr>
          </a:p>
        </p:txBody>
      </p:sp>
      <p:sp>
        <p:nvSpPr>
          <p:cNvPr id="9" name="object 9"/>
          <p:cNvSpPr txBox="1"/>
          <p:nvPr/>
        </p:nvSpPr>
        <p:spPr>
          <a:xfrm>
            <a:off x="2226836" y="3017807"/>
            <a:ext cx="158750" cy="162560"/>
          </a:xfrm>
          <a:prstGeom prst="rect">
            <a:avLst/>
          </a:prstGeom>
        </p:spPr>
        <p:txBody>
          <a:bodyPr vert="horz" wrap="square" lIns="0" tIns="12065" rIns="0" bIns="0" rtlCol="0">
            <a:spAutoFit/>
          </a:bodyPr>
          <a:lstStyle/>
          <a:p>
            <a:pPr marL="12700">
              <a:lnSpc>
                <a:spcPct val="100000"/>
              </a:lnSpc>
              <a:spcBef>
                <a:spcPts val="95"/>
              </a:spcBef>
            </a:pPr>
            <a:r>
              <a:rPr sz="900" spc="-25" dirty="0">
                <a:latin typeface="Arial"/>
                <a:cs typeface="Arial"/>
              </a:rPr>
              <a:t>(c)</a:t>
            </a:r>
            <a:endParaRPr sz="900">
              <a:latin typeface="Arial"/>
              <a:cs typeface="Arial"/>
            </a:endParaRPr>
          </a:p>
        </p:txBody>
      </p:sp>
      <p:sp>
        <p:nvSpPr>
          <p:cNvPr id="10" name="object 10"/>
          <p:cNvSpPr txBox="1"/>
          <p:nvPr/>
        </p:nvSpPr>
        <p:spPr>
          <a:xfrm>
            <a:off x="3007665" y="3017807"/>
            <a:ext cx="165100" cy="162560"/>
          </a:xfrm>
          <a:prstGeom prst="rect">
            <a:avLst/>
          </a:prstGeom>
        </p:spPr>
        <p:txBody>
          <a:bodyPr vert="horz" wrap="square" lIns="0" tIns="12065" rIns="0" bIns="0" rtlCol="0">
            <a:spAutoFit/>
          </a:bodyPr>
          <a:lstStyle/>
          <a:p>
            <a:pPr marL="12700">
              <a:lnSpc>
                <a:spcPct val="100000"/>
              </a:lnSpc>
              <a:spcBef>
                <a:spcPts val="95"/>
              </a:spcBef>
            </a:pPr>
            <a:r>
              <a:rPr sz="900" spc="-25" dirty="0">
                <a:latin typeface="Arial"/>
                <a:cs typeface="Arial"/>
              </a:rPr>
              <a:t>(d)</a:t>
            </a:r>
            <a:endParaRPr sz="900">
              <a:latin typeface="Arial"/>
              <a:cs typeface="Arial"/>
            </a:endParaRPr>
          </a:p>
        </p:txBody>
      </p:sp>
      <p:sp>
        <p:nvSpPr>
          <p:cNvPr id="11" name="object 11"/>
          <p:cNvSpPr txBox="1"/>
          <p:nvPr/>
        </p:nvSpPr>
        <p:spPr>
          <a:xfrm>
            <a:off x="3794757" y="3017807"/>
            <a:ext cx="165100" cy="162560"/>
          </a:xfrm>
          <a:prstGeom prst="rect">
            <a:avLst/>
          </a:prstGeom>
        </p:spPr>
        <p:txBody>
          <a:bodyPr vert="horz" wrap="square" lIns="0" tIns="12065" rIns="0" bIns="0" rtlCol="0">
            <a:spAutoFit/>
          </a:bodyPr>
          <a:lstStyle/>
          <a:p>
            <a:pPr marL="12700">
              <a:lnSpc>
                <a:spcPct val="100000"/>
              </a:lnSpc>
              <a:spcBef>
                <a:spcPts val="95"/>
              </a:spcBef>
            </a:pPr>
            <a:r>
              <a:rPr sz="900" spc="-25" dirty="0">
                <a:latin typeface="Arial"/>
                <a:cs typeface="Arial"/>
              </a:rPr>
              <a:t>(e)</a:t>
            </a:r>
            <a:endParaRPr sz="900">
              <a:latin typeface="Arial"/>
              <a:cs typeface="Arial"/>
            </a:endParaRPr>
          </a:p>
        </p:txBody>
      </p:sp>
      <p:grpSp>
        <p:nvGrpSpPr>
          <p:cNvPr id="12" name="object 12"/>
          <p:cNvGrpSpPr/>
          <p:nvPr/>
        </p:nvGrpSpPr>
        <p:grpSpPr>
          <a:xfrm>
            <a:off x="0" y="3348469"/>
            <a:ext cx="4608195" cy="107950"/>
            <a:chOff x="0" y="3348469"/>
            <a:chExt cx="4608195" cy="107950"/>
          </a:xfrm>
        </p:grpSpPr>
        <p:sp>
          <p:nvSpPr>
            <p:cNvPr id="13" name="object 13"/>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4" name="object 14"/>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5" name="object 15"/>
          <p:cNvSpPr txBox="1"/>
          <p:nvPr/>
        </p:nvSpPr>
        <p:spPr>
          <a:xfrm>
            <a:off x="53467" y="3349927"/>
            <a:ext cx="70421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6" action="ppaction://hlinksldjump"/>
              </a:rPr>
              <a:t>Multitiered</a:t>
            </a:r>
            <a:r>
              <a:rPr sz="500" spc="-30" dirty="0">
                <a:latin typeface="Arial"/>
                <a:cs typeface="Arial"/>
                <a:hlinkClick r:id="rId6" action="ppaction://hlinksldjump"/>
              </a:rPr>
              <a:t> </a:t>
            </a:r>
            <a:r>
              <a:rPr sz="500" spc="-10" dirty="0">
                <a:latin typeface="Arial"/>
                <a:cs typeface="Arial"/>
                <a:hlinkClick r:id="rId6" action="ppaction://hlinksldjump"/>
              </a:rPr>
              <a:t>Architectures</a:t>
            </a:r>
            <a:endParaRPr sz="500">
              <a:latin typeface="Arial"/>
              <a:cs typeface="Arial"/>
            </a:endParaRP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Architectures</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02608" y="-1515"/>
            <a:ext cx="852169"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3" action="ppaction://hlinksldjump"/>
              </a:rPr>
              <a:t>Layered-</a:t>
            </a:r>
            <a:r>
              <a:rPr sz="500" dirty="0">
                <a:solidFill>
                  <a:srgbClr val="FFFFFF"/>
                </a:solidFill>
                <a:latin typeface="Arial"/>
                <a:cs typeface="Arial"/>
                <a:hlinkClick r:id="rId3" action="ppaction://hlinksldjump"/>
              </a:rPr>
              <a:t>system</a:t>
            </a:r>
            <a:r>
              <a:rPr sz="500" spc="1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architectures</a:t>
            </a:r>
            <a:endParaRPr sz="500">
              <a:latin typeface="Arial"/>
              <a:cs typeface="Arial"/>
            </a:endParaRPr>
          </a:p>
        </p:txBody>
      </p:sp>
      <p:sp>
        <p:nvSpPr>
          <p:cNvPr id="5" name="object 5"/>
          <p:cNvSpPr txBox="1"/>
          <p:nvPr/>
        </p:nvSpPr>
        <p:spPr>
          <a:xfrm>
            <a:off x="95300" y="197711"/>
            <a:ext cx="2735580" cy="49466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Being</a:t>
            </a:r>
            <a:r>
              <a:rPr sz="1200" spc="-30" dirty="0">
                <a:solidFill>
                  <a:srgbClr val="3333B2"/>
                </a:solidFill>
                <a:latin typeface="Arial"/>
                <a:cs typeface="Arial"/>
              </a:rPr>
              <a:t> </a:t>
            </a:r>
            <a:r>
              <a:rPr sz="1200" dirty="0">
                <a:solidFill>
                  <a:srgbClr val="3333B2"/>
                </a:solidFill>
                <a:latin typeface="Arial"/>
                <a:cs typeface="Arial"/>
              </a:rPr>
              <a:t>client</a:t>
            </a:r>
            <a:r>
              <a:rPr sz="1200" spc="-30" dirty="0">
                <a:solidFill>
                  <a:srgbClr val="3333B2"/>
                </a:solidFill>
                <a:latin typeface="Arial"/>
                <a:cs typeface="Arial"/>
              </a:rPr>
              <a:t> </a:t>
            </a:r>
            <a:r>
              <a:rPr sz="1200" dirty="0">
                <a:solidFill>
                  <a:srgbClr val="3333B2"/>
                </a:solidFill>
                <a:latin typeface="Arial"/>
                <a:cs typeface="Arial"/>
              </a:rPr>
              <a:t>and</a:t>
            </a:r>
            <a:r>
              <a:rPr sz="1200" spc="-25" dirty="0">
                <a:solidFill>
                  <a:srgbClr val="3333B2"/>
                </a:solidFill>
                <a:latin typeface="Arial"/>
                <a:cs typeface="Arial"/>
              </a:rPr>
              <a:t> </a:t>
            </a:r>
            <a:r>
              <a:rPr sz="1200" dirty="0">
                <a:solidFill>
                  <a:srgbClr val="3333B2"/>
                </a:solidFill>
                <a:latin typeface="Arial"/>
                <a:cs typeface="Arial"/>
              </a:rPr>
              <a:t>server</a:t>
            </a:r>
            <a:r>
              <a:rPr sz="1200" spc="-30" dirty="0">
                <a:solidFill>
                  <a:srgbClr val="3333B2"/>
                </a:solidFill>
                <a:latin typeface="Arial"/>
                <a:cs typeface="Arial"/>
              </a:rPr>
              <a:t> </a:t>
            </a:r>
            <a:r>
              <a:rPr sz="1200" dirty="0">
                <a:solidFill>
                  <a:srgbClr val="3333B2"/>
                </a:solidFill>
                <a:latin typeface="Arial"/>
                <a:cs typeface="Arial"/>
              </a:rPr>
              <a:t>at</a:t>
            </a:r>
            <a:r>
              <a:rPr sz="1200" spc="-30" dirty="0">
                <a:solidFill>
                  <a:srgbClr val="3333B2"/>
                </a:solidFill>
                <a:latin typeface="Arial"/>
                <a:cs typeface="Arial"/>
              </a:rPr>
              <a:t> </a:t>
            </a:r>
            <a:r>
              <a:rPr sz="1200" dirty="0">
                <a:solidFill>
                  <a:srgbClr val="3333B2"/>
                </a:solidFill>
                <a:latin typeface="Arial"/>
                <a:cs typeface="Arial"/>
              </a:rPr>
              <a:t>the</a:t>
            </a:r>
            <a:r>
              <a:rPr sz="1200" spc="-25" dirty="0">
                <a:solidFill>
                  <a:srgbClr val="3333B2"/>
                </a:solidFill>
                <a:latin typeface="Arial"/>
                <a:cs typeface="Arial"/>
              </a:rPr>
              <a:t> </a:t>
            </a:r>
            <a:r>
              <a:rPr sz="1200" dirty="0">
                <a:solidFill>
                  <a:srgbClr val="3333B2"/>
                </a:solidFill>
                <a:latin typeface="Arial"/>
                <a:cs typeface="Arial"/>
              </a:rPr>
              <a:t>same</a:t>
            </a:r>
            <a:r>
              <a:rPr sz="1200" spc="-30" dirty="0">
                <a:solidFill>
                  <a:srgbClr val="3333B2"/>
                </a:solidFill>
                <a:latin typeface="Arial"/>
                <a:cs typeface="Arial"/>
              </a:rPr>
              <a:t> </a:t>
            </a:r>
            <a:r>
              <a:rPr sz="1200" spc="-20" dirty="0">
                <a:solidFill>
                  <a:srgbClr val="3333B2"/>
                </a:solidFill>
                <a:latin typeface="Arial"/>
                <a:cs typeface="Arial"/>
              </a:rPr>
              <a:t>time</a:t>
            </a:r>
            <a:endParaRPr sz="1200">
              <a:latin typeface="Arial"/>
              <a:cs typeface="Arial"/>
            </a:endParaRPr>
          </a:p>
          <a:p>
            <a:pPr marL="260350">
              <a:lnSpc>
                <a:spcPct val="100000"/>
              </a:lnSpc>
              <a:spcBef>
                <a:spcPts val="1055"/>
              </a:spcBef>
            </a:pPr>
            <a:r>
              <a:rPr sz="1000" spc="-10" dirty="0">
                <a:solidFill>
                  <a:srgbClr val="3333B2"/>
                </a:solidFill>
                <a:latin typeface="Arial"/>
                <a:cs typeface="Arial"/>
              </a:rPr>
              <a:t>Three-</a:t>
            </a:r>
            <a:r>
              <a:rPr sz="1000" dirty="0">
                <a:solidFill>
                  <a:srgbClr val="3333B2"/>
                </a:solidFill>
                <a:latin typeface="Arial"/>
                <a:cs typeface="Arial"/>
              </a:rPr>
              <a:t>tiered </a:t>
            </a:r>
            <a:r>
              <a:rPr sz="1000" spc="-10" dirty="0">
                <a:solidFill>
                  <a:srgbClr val="3333B2"/>
                </a:solidFill>
                <a:latin typeface="Arial"/>
                <a:cs typeface="Arial"/>
              </a:rPr>
              <a:t>architecture</a:t>
            </a:r>
            <a:endParaRPr sz="1000">
              <a:latin typeface="Arial"/>
              <a:cs typeface="Arial"/>
            </a:endParaRPr>
          </a:p>
        </p:txBody>
      </p:sp>
      <p:pic>
        <p:nvPicPr>
          <p:cNvPr id="6" name="object 6"/>
          <p:cNvPicPr/>
          <p:nvPr/>
        </p:nvPicPr>
        <p:blipFill>
          <a:blip r:embed="rId4" cstate="print"/>
          <a:stretch>
            <a:fillRect/>
          </a:stretch>
        </p:blipFill>
        <p:spPr>
          <a:xfrm>
            <a:off x="1130183" y="849914"/>
            <a:ext cx="2350221" cy="875324"/>
          </a:xfrm>
          <a:prstGeom prst="rect">
            <a:avLst/>
          </a:prstGeom>
        </p:spPr>
      </p:pic>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70421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Multitiered</a:t>
            </a:r>
            <a:r>
              <a:rPr sz="500" spc="-30" dirty="0">
                <a:latin typeface="Arial"/>
                <a:cs typeface="Arial"/>
                <a:hlinkClick r:id="rId5" action="ppaction://hlinksldjump"/>
              </a:rPr>
              <a:t> </a:t>
            </a:r>
            <a:r>
              <a:rPr sz="500" spc="-10" dirty="0">
                <a:latin typeface="Arial"/>
                <a:cs typeface="Arial"/>
                <a:hlinkClick r:id="rId5" action="ppaction://hlinksldjump"/>
              </a:rPr>
              <a:t>Architectures</a:t>
            </a:r>
            <a:endParaRPr sz="500">
              <a:latin typeface="Arial"/>
              <a:cs typeface="Arial"/>
            </a:endParaRP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186430" algn="l"/>
              </a:tabLst>
            </a:pPr>
            <a:r>
              <a:rPr sz="500" spc="-10" dirty="0">
                <a:latin typeface="Arial"/>
                <a:cs typeface="Arial"/>
                <a:hlinkClick r:id="rId3" action="ppaction://hlinksldjump"/>
              </a:rPr>
              <a:t>Architectures</a:t>
            </a:r>
            <a:r>
              <a:rPr sz="500" dirty="0">
                <a:latin typeface="Arial"/>
                <a:cs typeface="Arial"/>
              </a:rPr>
              <a:t>	</a:t>
            </a:r>
            <a:r>
              <a:rPr sz="500" dirty="0">
                <a:solidFill>
                  <a:srgbClr val="FFFFFF"/>
                </a:solidFill>
                <a:latin typeface="Arial"/>
                <a:cs typeface="Arial"/>
                <a:hlinkClick r:id="rId4" action="ppaction://hlinksldjump"/>
              </a:rPr>
              <a:t>Symmetrically</a:t>
            </a:r>
            <a:r>
              <a:rPr sz="500" spc="-40" dirty="0">
                <a:solidFill>
                  <a:srgbClr val="FFFFFF"/>
                </a:solidFill>
                <a:latin typeface="Arial"/>
                <a:cs typeface="Arial"/>
                <a:hlinkClick r:id="rId4" action="ppaction://hlinksldjump"/>
              </a:rPr>
              <a:t> </a:t>
            </a:r>
            <a:r>
              <a:rPr sz="500" dirty="0">
                <a:solidFill>
                  <a:srgbClr val="FFFFFF"/>
                </a:solidFill>
                <a:latin typeface="Arial"/>
                <a:cs typeface="Arial"/>
                <a:hlinkClick r:id="rId4" action="ppaction://hlinksldjump"/>
              </a:rPr>
              <a:t>distributed</a:t>
            </a:r>
            <a:r>
              <a:rPr sz="500" spc="-30" dirty="0">
                <a:solidFill>
                  <a:srgbClr val="FFFFFF"/>
                </a:solidFill>
                <a:latin typeface="Arial"/>
                <a:cs typeface="Arial"/>
                <a:hlinkClick r:id="rId4" action="ppaction://hlinksldjump"/>
              </a:rPr>
              <a:t> </a:t>
            </a:r>
            <a:r>
              <a:rPr sz="500" dirty="0">
                <a:solidFill>
                  <a:srgbClr val="FFFFFF"/>
                </a:solidFill>
                <a:latin typeface="Arial"/>
                <a:cs typeface="Arial"/>
                <a:hlinkClick r:id="rId4" action="ppaction://hlinksldjump"/>
              </a:rPr>
              <a:t>system</a:t>
            </a:r>
            <a:r>
              <a:rPr sz="500" spc="-25" dirty="0">
                <a:solidFill>
                  <a:srgbClr val="FFFFFF"/>
                </a:solidFill>
                <a:latin typeface="Arial"/>
                <a:cs typeface="Arial"/>
                <a:hlinkClick r:id="rId4" action="ppaction://hlinksldjump"/>
              </a:rPr>
              <a:t> </a:t>
            </a:r>
            <a:r>
              <a:rPr sz="500" spc="-10" dirty="0">
                <a:solidFill>
                  <a:srgbClr val="FFFFFF"/>
                </a:solidFill>
                <a:latin typeface="Arial"/>
                <a:cs typeface="Arial"/>
                <a:hlinkClick r:id="rId4" action="ppaction://hlinksldjump"/>
              </a:rPr>
              <a:t>architectures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Structured</a:t>
            </a:r>
            <a:r>
              <a:rPr spc="-50" dirty="0"/>
              <a:t> </a:t>
            </a:r>
            <a:r>
              <a:rPr spc="-25" dirty="0"/>
              <a:t>P2P</a:t>
            </a:r>
          </a:p>
        </p:txBody>
      </p:sp>
      <p:sp>
        <p:nvSpPr>
          <p:cNvPr id="4" name="object 4"/>
          <p:cNvSpPr txBox="1"/>
          <p:nvPr/>
        </p:nvSpPr>
        <p:spPr>
          <a:xfrm>
            <a:off x="347294" y="499476"/>
            <a:ext cx="3913504" cy="1121410"/>
          </a:xfrm>
          <a:prstGeom prst="rect">
            <a:avLst/>
          </a:prstGeom>
        </p:spPr>
        <p:txBody>
          <a:bodyPr vert="horz" wrap="square" lIns="0" tIns="27305" rIns="0" bIns="0" rtlCol="0">
            <a:spAutoFit/>
          </a:bodyPr>
          <a:lstStyle/>
          <a:p>
            <a:pPr marL="12700">
              <a:lnSpc>
                <a:spcPct val="100000"/>
              </a:lnSpc>
              <a:spcBef>
                <a:spcPts val="215"/>
              </a:spcBef>
            </a:pPr>
            <a:r>
              <a:rPr sz="1000" spc="-10" dirty="0">
                <a:solidFill>
                  <a:srgbClr val="3333B2"/>
                </a:solidFill>
                <a:latin typeface="Arial"/>
                <a:cs typeface="Arial"/>
              </a:rPr>
              <a:t>Essence</a:t>
            </a:r>
            <a:endParaRPr sz="1000">
              <a:latin typeface="Arial"/>
              <a:cs typeface="Arial"/>
            </a:endParaRPr>
          </a:p>
          <a:p>
            <a:pPr marL="12700" marR="5080">
              <a:lnSpc>
                <a:spcPts val="1210"/>
              </a:lnSpc>
              <a:spcBef>
                <a:spcPts val="35"/>
              </a:spcBef>
            </a:pPr>
            <a:r>
              <a:rPr sz="900" spc="-10" dirty="0">
                <a:latin typeface="Arial"/>
                <a:cs typeface="Arial"/>
              </a:rPr>
              <a:t>Make</a:t>
            </a:r>
            <a:r>
              <a:rPr sz="900" spc="-30" dirty="0">
                <a:latin typeface="Arial"/>
                <a:cs typeface="Arial"/>
              </a:rPr>
              <a:t> </a:t>
            </a:r>
            <a:r>
              <a:rPr sz="900" dirty="0">
                <a:latin typeface="Arial"/>
                <a:cs typeface="Arial"/>
              </a:rPr>
              <a:t>use</a:t>
            </a:r>
            <a:r>
              <a:rPr sz="900" spc="-25" dirty="0">
                <a:latin typeface="Arial"/>
                <a:cs typeface="Arial"/>
              </a:rPr>
              <a:t> </a:t>
            </a:r>
            <a:r>
              <a:rPr sz="900" dirty="0">
                <a:latin typeface="Arial"/>
                <a:cs typeface="Arial"/>
              </a:rPr>
              <a:t>of</a:t>
            </a:r>
            <a:r>
              <a:rPr sz="900" spc="-30" dirty="0">
                <a:latin typeface="Arial"/>
                <a:cs typeface="Arial"/>
              </a:rPr>
              <a:t> </a:t>
            </a:r>
            <a:r>
              <a:rPr sz="900" dirty="0">
                <a:latin typeface="Arial"/>
                <a:cs typeface="Arial"/>
              </a:rPr>
              <a:t>a</a:t>
            </a:r>
            <a:r>
              <a:rPr sz="900" spc="-25" dirty="0">
                <a:latin typeface="Arial"/>
                <a:cs typeface="Arial"/>
              </a:rPr>
              <a:t> </a:t>
            </a:r>
            <a:r>
              <a:rPr sz="900" spc="-10" dirty="0">
                <a:solidFill>
                  <a:srgbClr val="3333B2"/>
                </a:solidFill>
                <a:latin typeface="Arial"/>
                <a:cs typeface="Arial"/>
              </a:rPr>
              <a:t>semantic-</a:t>
            </a:r>
            <a:r>
              <a:rPr sz="900" dirty="0">
                <a:solidFill>
                  <a:srgbClr val="3333B2"/>
                </a:solidFill>
                <a:latin typeface="Arial"/>
                <a:cs typeface="Arial"/>
              </a:rPr>
              <a:t>free</a:t>
            </a:r>
            <a:r>
              <a:rPr sz="900" spc="-25" dirty="0">
                <a:solidFill>
                  <a:srgbClr val="3333B2"/>
                </a:solidFill>
                <a:latin typeface="Arial"/>
                <a:cs typeface="Arial"/>
              </a:rPr>
              <a:t> </a:t>
            </a:r>
            <a:r>
              <a:rPr sz="900" dirty="0">
                <a:solidFill>
                  <a:srgbClr val="3333B2"/>
                </a:solidFill>
                <a:latin typeface="Arial"/>
                <a:cs typeface="Arial"/>
              </a:rPr>
              <a:t>index</a:t>
            </a:r>
            <a:r>
              <a:rPr sz="900" dirty="0">
                <a:latin typeface="Arial"/>
                <a:cs typeface="Arial"/>
              </a:rPr>
              <a:t>:</a:t>
            </a:r>
            <a:r>
              <a:rPr sz="900" spc="25" dirty="0">
                <a:latin typeface="Arial"/>
                <a:cs typeface="Arial"/>
              </a:rPr>
              <a:t> </a:t>
            </a:r>
            <a:r>
              <a:rPr sz="900" dirty="0">
                <a:latin typeface="Arial"/>
                <a:cs typeface="Arial"/>
              </a:rPr>
              <a:t>each</a:t>
            </a:r>
            <a:r>
              <a:rPr sz="900" spc="-25" dirty="0">
                <a:latin typeface="Arial"/>
                <a:cs typeface="Arial"/>
              </a:rPr>
              <a:t> </a:t>
            </a:r>
            <a:r>
              <a:rPr sz="900" dirty="0">
                <a:latin typeface="Arial"/>
                <a:cs typeface="Arial"/>
              </a:rPr>
              <a:t>data</a:t>
            </a:r>
            <a:r>
              <a:rPr sz="900" spc="-30" dirty="0">
                <a:latin typeface="Arial"/>
                <a:cs typeface="Arial"/>
              </a:rPr>
              <a:t> </a:t>
            </a:r>
            <a:r>
              <a:rPr sz="900" dirty="0">
                <a:latin typeface="Arial"/>
                <a:cs typeface="Arial"/>
              </a:rPr>
              <a:t>item</a:t>
            </a:r>
            <a:r>
              <a:rPr sz="900" spc="-25" dirty="0">
                <a:latin typeface="Arial"/>
                <a:cs typeface="Arial"/>
              </a:rPr>
              <a:t> </a:t>
            </a:r>
            <a:r>
              <a:rPr sz="900" dirty="0">
                <a:latin typeface="Arial"/>
                <a:cs typeface="Arial"/>
              </a:rPr>
              <a:t>is</a:t>
            </a:r>
            <a:r>
              <a:rPr sz="900" spc="-30" dirty="0">
                <a:latin typeface="Arial"/>
                <a:cs typeface="Arial"/>
              </a:rPr>
              <a:t> </a:t>
            </a:r>
            <a:r>
              <a:rPr sz="900" spc="-10" dirty="0">
                <a:latin typeface="Arial"/>
                <a:cs typeface="Arial"/>
              </a:rPr>
              <a:t>uniquely</a:t>
            </a:r>
            <a:r>
              <a:rPr sz="900" spc="-25" dirty="0">
                <a:latin typeface="Arial"/>
                <a:cs typeface="Arial"/>
              </a:rPr>
              <a:t> </a:t>
            </a:r>
            <a:r>
              <a:rPr sz="900" spc="-10" dirty="0">
                <a:latin typeface="Arial"/>
                <a:cs typeface="Arial"/>
              </a:rPr>
              <a:t>associated</a:t>
            </a:r>
            <a:r>
              <a:rPr sz="900" spc="-25" dirty="0">
                <a:latin typeface="Arial"/>
                <a:cs typeface="Arial"/>
              </a:rPr>
              <a:t> </a:t>
            </a:r>
            <a:r>
              <a:rPr sz="900" spc="-20" dirty="0">
                <a:latin typeface="Arial"/>
                <a:cs typeface="Arial"/>
              </a:rPr>
              <a:t>with </a:t>
            </a:r>
            <a:r>
              <a:rPr sz="900" dirty="0">
                <a:latin typeface="Arial"/>
                <a:cs typeface="Arial"/>
              </a:rPr>
              <a:t>a</a:t>
            </a:r>
            <a:r>
              <a:rPr sz="900" spc="-25" dirty="0">
                <a:latin typeface="Arial"/>
                <a:cs typeface="Arial"/>
              </a:rPr>
              <a:t> </a:t>
            </a:r>
            <a:r>
              <a:rPr sz="900" spc="-30" dirty="0">
                <a:latin typeface="Arial"/>
                <a:cs typeface="Arial"/>
              </a:rPr>
              <a:t>key,</a:t>
            </a:r>
            <a:r>
              <a:rPr sz="900" spc="-25" dirty="0">
                <a:latin typeface="Arial"/>
                <a:cs typeface="Arial"/>
              </a:rPr>
              <a:t> </a:t>
            </a:r>
            <a:r>
              <a:rPr sz="900" dirty="0">
                <a:latin typeface="Arial"/>
                <a:cs typeface="Arial"/>
              </a:rPr>
              <a:t>in</a:t>
            </a:r>
            <a:r>
              <a:rPr sz="900" spc="-20" dirty="0">
                <a:latin typeface="Arial"/>
                <a:cs typeface="Arial"/>
              </a:rPr>
              <a:t> </a:t>
            </a:r>
            <a:r>
              <a:rPr sz="900" dirty="0">
                <a:latin typeface="Arial"/>
                <a:cs typeface="Arial"/>
              </a:rPr>
              <a:t>turn</a:t>
            </a:r>
            <a:r>
              <a:rPr sz="900" spc="-25" dirty="0">
                <a:latin typeface="Arial"/>
                <a:cs typeface="Arial"/>
              </a:rPr>
              <a:t> </a:t>
            </a:r>
            <a:r>
              <a:rPr sz="900" dirty="0">
                <a:latin typeface="Arial"/>
                <a:cs typeface="Arial"/>
              </a:rPr>
              <a:t>used</a:t>
            </a:r>
            <a:r>
              <a:rPr sz="900" spc="-25" dirty="0">
                <a:latin typeface="Arial"/>
                <a:cs typeface="Arial"/>
              </a:rPr>
              <a:t> </a:t>
            </a:r>
            <a:r>
              <a:rPr sz="900" dirty="0">
                <a:latin typeface="Arial"/>
                <a:cs typeface="Arial"/>
              </a:rPr>
              <a:t>as</a:t>
            </a:r>
            <a:r>
              <a:rPr sz="900" spc="-20" dirty="0">
                <a:latin typeface="Arial"/>
                <a:cs typeface="Arial"/>
              </a:rPr>
              <a:t> </a:t>
            </a:r>
            <a:r>
              <a:rPr sz="900" dirty="0">
                <a:latin typeface="Arial"/>
                <a:cs typeface="Arial"/>
              </a:rPr>
              <a:t>an</a:t>
            </a:r>
            <a:r>
              <a:rPr sz="900" spc="-25" dirty="0">
                <a:latin typeface="Arial"/>
                <a:cs typeface="Arial"/>
              </a:rPr>
              <a:t> </a:t>
            </a:r>
            <a:r>
              <a:rPr sz="900" dirty="0">
                <a:latin typeface="Arial"/>
                <a:cs typeface="Arial"/>
              </a:rPr>
              <a:t>index.</a:t>
            </a:r>
            <a:r>
              <a:rPr sz="900" spc="30" dirty="0">
                <a:latin typeface="Arial"/>
                <a:cs typeface="Arial"/>
              </a:rPr>
              <a:t> </a:t>
            </a:r>
            <a:r>
              <a:rPr sz="900" dirty="0">
                <a:latin typeface="Arial"/>
                <a:cs typeface="Arial"/>
              </a:rPr>
              <a:t>Common</a:t>
            </a:r>
            <a:r>
              <a:rPr sz="900" spc="-20" dirty="0">
                <a:latin typeface="Arial"/>
                <a:cs typeface="Arial"/>
              </a:rPr>
              <a:t> </a:t>
            </a:r>
            <a:r>
              <a:rPr sz="900" dirty="0">
                <a:latin typeface="Arial"/>
                <a:cs typeface="Arial"/>
              </a:rPr>
              <a:t>practice:</a:t>
            </a:r>
            <a:r>
              <a:rPr sz="900" spc="30" dirty="0">
                <a:latin typeface="Arial"/>
                <a:cs typeface="Arial"/>
              </a:rPr>
              <a:t> </a:t>
            </a:r>
            <a:r>
              <a:rPr sz="900" dirty="0">
                <a:latin typeface="Arial"/>
                <a:cs typeface="Arial"/>
              </a:rPr>
              <a:t>use</a:t>
            </a:r>
            <a:r>
              <a:rPr sz="900" spc="-25" dirty="0">
                <a:latin typeface="Arial"/>
                <a:cs typeface="Arial"/>
              </a:rPr>
              <a:t> </a:t>
            </a:r>
            <a:r>
              <a:rPr sz="900" dirty="0">
                <a:latin typeface="Arial"/>
                <a:cs typeface="Arial"/>
              </a:rPr>
              <a:t>a</a:t>
            </a:r>
            <a:r>
              <a:rPr sz="900" spc="-20" dirty="0">
                <a:latin typeface="Arial"/>
                <a:cs typeface="Arial"/>
              </a:rPr>
              <a:t> </a:t>
            </a:r>
            <a:r>
              <a:rPr sz="900" dirty="0">
                <a:solidFill>
                  <a:srgbClr val="C80000"/>
                </a:solidFill>
                <a:latin typeface="Arial"/>
                <a:cs typeface="Arial"/>
              </a:rPr>
              <a:t>hash</a:t>
            </a:r>
            <a:r>
              <a:rPr sz="900" spc="-25" dirty="0">
                <a:solidFill>
                  <a:srgbClr val="C80000"/>
                </a:solidFill>
                <a:latin typeface="Arial"/>
                <a:cs typeface="Arial"/>
              </a:rPr>
              <a:t> </a:t>
            </a:r>
            <a:r>
              <a:rPr sz="900" spc="-10" dirty="0">
                <a:solidFill>
                  <a:srgbClr val="C80000"/>
                </a:solidFill>
                <a:latin typeface="Arial"/>
                <a:cs typeface="Arial"/>
              </a:rPr>
              <a:t>function</a:t>
            </a:r>
            <a:endParaRPr sz="900">
              <a:latin typeface="Arial"/>
              <a:cs typeface="Arial"/>
            </a:endParaRPr>
          </a:p>
          <a:p>
            <a:pPr marL="911860">
              <a:lnSpc>
                <a:spcPct val="100000"/>
              </a:lnSpc>
              <a:spcBef>
                <a:spcPts val="310"/>
              </a:spcBef>
            </a:pPr>
            <a:r>
              <a:rPr sz="900" i="1" dirty="0">
                <a:latin typeface="Arial"/>
                <a:cs typeface="Arial"/>
              </a:rPr>
              <a:t>key</a:t>
            </a:r>
            <a:r>
              <a:rPr sz="900" dirty="0">
                <a:latin typeface="Arial"/>
                <a:cs typeface="Arial"/>
              </a:rPr>
              <a:t>(</a:t>
            </a:r>
            <a:r>
              <a:rPr sz="900" i="1" dirty="0">
                <a:latin typeface="Arial"/>
                <a:cs typeface="Arial"/>
              </a:rPr>
              <a:t>data item</a:t>
            </a:r>
            <a:r>
              <a:rPr sz="900" dirty="0">
                <a:latin typeface="Arial"/>
                <a:cs typeface="Arial"/>
              </a:rPr>
              <a:t>)</a:t>
            </a:r>
            <a:r>
              <a:rPr sz="900" spc="-50" dirty="0">
                <a:latin typeface="Arial"/>
                <a:cs typeface="Arial"/>
              </a:rPr>
              <a:t> </a:t>
            </a:r>
            <a:r>
              <a:rPr sz="900" spc="185" dirty="0">
                <a:latin typeface="Arial"/>
                <a:cs typeface="Arial"/>
              </a:rPr>
              <a:t>=</a:t>
            </a:r>
            <a:r>
              <a:rPr sz="900" spc="-45" dirty="0">
                <a:latin typeface="Arial"/>
                <a:cs typeface="Arial"/>
              </a:rPr>
              <a:t> </a:t>
            </a:r>
            <a:r>
              <a:rPr sz="900" i="1" dirty="0">
                <a:latin typeface="Arial"/>
                <a:cs typeface="Arial"/>
              </a:rPr>
              <a:t>hash</a:t>
            </a:r>
            <a:r>
              <a:rPr sz="900" dirty="0">
                <a:latin typeface="Arial"/>
                <a:cs typeface="Arial"/>
              </a:rPr>
              <a:t>(</a:t>
            </a:r>
            <a:r>
              <a:rPr sz="900" i="1" dirty="0">
                <a:latin typeface="Arial"/>
                <a:cs typeface="Arial"/>
              </a:rPr>
              <a:t>data </a:t>
            </a:r>
            <a:r>
              <a:rPr sz="900" i="1" spc="-10" dirty="0">
                <a:latin typeface="Arial"/>
                <a:cs typeface="Arial"/>
              </a:rPr>
              <a:t>item’s</a:t>
            </a:r>
            <a:r>
              <a:rPr sz="900" i="1" spc="5" dirty="0">
                <a:latin typeface="Arial"/>
                <a:cs typeface="Arial"/>
              </a:rPr>
              <a:t> </a:t>
            </a:r>
            <a:r>
              <a:rPr sz="900" i="1" spc="-10" dirty="0">
                <a:latin typeface="Arial"/>
                <a:cs typeface="Arial"/>
              </a:rPr>
              <a:t>value</a:t>
            </a:r>
            <a:r>
              <a:rPr sz="900" spc="-10" dirty="0">
                <a:latin typeface="Arial"/>
                <a:cs typeface="Arial"/>
              </a:rPr>
              <a:t>)</a:t>
            </a:r>
            <a:r>
              <a:rPr sz="900" i="1" spc="-10" dirty="0">
                <a:latin typeface="Arial"/>
                <a:cs typeface="Arial"/>
              </a:rPr>
              <a:t>.</a:t>
            </a:r>
            <a:endParaRPr sz="900">
              <a:latin typeface="Arial"/>
              <a:cs typeface="Arial"/>
            </a:endParaRPr>
          </a:p>
          <a:p>
            <a:pPr marL="12700">
              <a:lnSpc>
                <a:spcPct val="100000"/>
              </a:lnSpc>
              <a:spcBef>
                <a:spcPts val="375"/>
              </a:spcBef>
            </a:pPr>
            <a:r>
              <a:rPr sz="900" dirty="0">
                <a:latin typeface="Arial"/>
                <a:cs typeface="Arial"/>
              </a:rPr>
              <a:t>P2P</a:t>
            </a:r>
            <a:r>
              <a:rPr sz="900" spc="-20" dirty="0">
                <a:latin typeface="Arial"/>
                <a:cs typeface="Arial"/>
              </a:rPr>
              <a:t> </a:t>
            </a:r>
            <a:r>
              <a:rPr sz="900" dirty="0">
                <a:latin typeface="Arial"/>
                <a:cs typeface="Arial"/>
              </a:rPr>
              <a:t>system</a:t>
            </a:r>
            <a:r>
              <a:rPr sz="900" spc="-20" dirty="0">
                <a:latin typeface="Arial"/>
                <a:cs typeface="Arial"/>
              </a:rPr>
              <a:t> </a:t>
            </a:r>
            <a:r>
              <a:rPr sz="900" dirty="0">
                <a:latin typeface="Arial"/>
                <a:cs typeface="Arial"/>
              </a:rPr>
              <a:t>now</a:t>
            </a:r>
            <a:r>
              <a:rPr sz="900" spc="-20" dirty="0">
                <a:latin typeface="Arial"/>
                <a:cs typeface="Arial"/>
              </a:rPr>
              <a:t> </a:t>
            </a:r>
            <a:r>
              <a:rPr sz="900" spc="-10" dirty="0">
                <a:latin typeface="Arial"/>
                <a:cs typeface="Arial"/>
              </a:rPr>
              <a:t>responsible</a:t>
            </a:r>
            <a:r>
              <a:rPr sz="900" spc="-20" dirty="0">
                <a:latin typeface="Arial"/>
                <a:cs typeface="Arial"/>
              </a:rPr>
              <a:t> </a:t>
            </a:r>
            <a:r>
              <a:rPr sz="900" dirty="0">
                <a:latin typeface="Arial"/>
                <a:cs typeface="Arial"/>
              </a:rPr>
              <a:t>for</a:t>
            </a:r>
            <a:r>
              <a:rPr sz="900" spc="-20" dirty="0">
                <a:latin typeface="Arial"/>
                <a:cs typeface="Arial"/>
              </a:rPr>
              <a:t> </a:t>
            </a:r>
            <a:r>
              <a:rPr sz="900" dirty="0">
                <a:latin typeface="Arial"/>
                <a:cs typeface="Arial"/>
              </a:rPr>
              <a:t>storing</a:t>
            </a:r>
            <a:r>
              <a:rPr sz="900" spc="-20" dirty="0">
                <a:latin typeface="Arial"/>
                <a:cs typeface="Arial"/>
              </a:rPr>
              <a:t> </a:t>
            </a:r>
            <a:r>
              <a:rPr sz="900" spc="-10" dirty="0">
                <a:latin typeface="Arial"/>
                <a:cs typeface="Arial"/>
              </a:rPr>
              <a:t>(</a:t>
            </a:r>
            <a:r>
              <a:rPr sz="900" i="1" spc="-10" dirty="0">
                <a:latin typeface="Arial"/>
                <a:cs typeface="Arial"/>
              </a:rPr>
              <a:t>key</a:t>
            </a:r>
            <a:r>
              <a:rPr sz="900" spc="-10" dirty="0">
                <a:latin typeface="Arial"/>
                <a:cs typeface="Arial"/>
              </a:rPr>
              <a:t>,</a:t>
            </a:r>
            <a:r>
              <a:rPr sz="900" i="1" spc="-10" dirty="0">
                <a:latin typeface="Arial"/>
                <a:cs typeface="Arial"/>
              </a:rPr>
              <a:t>value</a:t>
            </a:r>
            <a:r>
              <a:rPr sz="900" spc="-10" dirty="0">
                <a:latin typeface="Arial"/>
                <a:cs typeface="Arial"/>
              </a:rPr>
              <a:t>)</a:t>
            </a:r>
            <a:r>
              <a:rPr sz="900" spc="-15" dirty="0">
                <a:latin typeface="Arial"/>
                <a:cs typeface="Arial"/>
              </a:rPr>
              <a:t> </a:t>
            </a:r>
            <a:r>
              <a:rPr sz="900" spc="-10" dirty="0">
                <a:latin typeface="Arial"/>
                <a:cs typeface="Arial"/>
              </a:rPr>
              <a:t>pairs.</a:t>
            </a:r>
            <a:endParaRPr sz="900">
              <a:latin typeface="Arial"/>
              <a:cs typeface="Arial"/>
            </a:endParaRPr>
          </a:p>
          <a:p>
            <a:pPr marL="12700">
              <a:lnSpc>
                <a:spcPct val="100000"/>
              </a:lnSpc>
              <a:spcBef>
                <a:spcPts val="810"/>
              </a:spcBef>
            </a:pPr>
            <a:r>
              <a:rPr sz="1000" dirty="0">
                <a:solidFill>
                  <a:srgbClr val="4C994C"/>
                </a:solidFill>
                <a:latin typeface="Arial"/>
                <a:cs typeface="Arial"/>
              </a:rPr>
              <a:t>Simple</a:t>
            </a:r>
            <a:r>
              <a:rPr sz="1000" spc="-55" dirty="0">
                <a:solidFill>
                  <a:srgbClr val="4C994C"/>
                </a:solidFill>
                <a:latin typeface="Arial"/>
                <a:cs typeface="Arial"/>
              </a:rPr>
              <a:t> </a:t>
            </a:r>
            <a:r>
              <a:rPr sz="1000" dirty="0">
                <a:solidFill>
                  <a:srgbClr val="4C994C"/>
                </a:solidFill>
                <a:latin typeface="Arial"/>
                <a:cs typeface="Arial"/>
              </a:rPr>
              <a:t>example:</a:t>
            </a:r>
            <a:r>
              <a:rPr sz="1000" spc="5" dirty="0">
                <a:solidFill>
                  <a:srgbClr val="4C994C"/>
                </a:solidFill>
                <a:latin typeface="Arial"/>
                <a:cs typeface="Arial"/>
              </a:rPr>
              <a:t> </a:t>
            </a:r>
            <a:r>
              <a:rPr sz="1000" spc="-10" dirty="0">
                <a:solidFill>
                  <a:srgbClr val="4C994C"/>
                </a:solidFill>
                <a:latin typeface="Arial"/>
                <a:cs typeface="Arial"/>
              </a:rPr>
              <a:t>hypercube</a:t>
            </a:r>
            <a:endParaRPr sz="1000">
              <a:latin typeface="Arial"/>
              <a:cs typeface="Arial"/>
            </a:endParaRPr>
          </a:p>
        </p:txBody>
      </p:sp>
      <p:pic>
        <p:nvPicPr>
          <p:cNvPr id="5" name="object 5"/>
          <p:cNvPicPr/>
          <p:nvPr/>
        </p:nvPicPr>
        <p:blipFill>
          <a:blip r:embed="rId5" cstate="print"/>
          <a:stretch>
            <a:fillRect/>
          </a:stretch>
        </p:blipFill>
        <p:spPr>
          <a:xfrm>
            <a:off x="1029652" y="1725067"/>
            <a:ext cx="2547548" cy="986966"/>
          </a:xfrm>
          <a:prstGeom prst="rect">
            <a:avLst/>
          </a:prstGeom>
        </p:spPr>
      </p:pic>
      <p:sp>
        <p:nvSpPr>
          <p:cNvPr id="6" name="object 6"/>
          <p:cNvSpPr txBox="1"/>
          <p:nvPr/>
        </p:nvSpPr>
        <p:spPr>
          <a:xfrm>
            <a:off x="317804" y="2747407"/>
            <a:ext cx="3900170" cy="332105"/>
          </a:xfrm>
          <a:prstGeom prst="rect">
            <a:avLst/>
          </a:prstGeom>
        </p:spPr>
        <p:txBody>
          <a:bodyPr vert="horz" wrap="square" lIns="0" tIns="12700" rIns="0" bIns="0" rtlCol="0">
            <a:spAutoFit/>
          </a:bodyPr>
          <a:lstStyle/>
          <a:p>
            <a:pPr marL="38100" marR="30480" indent="3810">
              <a:lnSpc>
                <a:spcPct val="111600"/>
              </a:lnSpc>
              <a:spcBef>
                <a:spcPts val="100"/>
              </a:spcBef>
            </a:pPr>
            <a:r>
              <a:rPr sz="900" dirty="0">
                <a:latin typeface="Arial"/>
                <a:cs typeface="Arial"/>
              </a:rPr>
              <a:t>Looking</a:t>
            </a:r>
            <a:r>
              <a:rPr sz="900" spc="-20" dirty="0">
                <a:latin typeface="Arial"/>
                <a:cs typeface="Arial"/>
              </a:rPr>
              <a:t> </a:t>
            </a:r>
            <a:r>
              <a:rPr sz="900" dirty="0">
                <a:latin typeface="Arial"/>
                <a:cs typeface="Arial"/>
              </a:rPr>
              <a:t>up</a:t>
            </a:r>
            <a:r>
              <a:rPr sz="900" spc="-5" dirty="0">
                <a:latin typeface="Arial"/>
                <a:cs typeface="Arial"/>
              </a:rPr>
              <a:t> </a:t>
            </a:r>
            <a:r>
              <a:rPr sz="900" i="1" dirty="0">
                <a:latin typeface="Arial"/>
                <a:cs typeface="Arial"/>
              </a:rPr>
              <a:t>d</a:t>
            </a:r>
            <a:r>
              <a:rPr sz="900" i="1" spc="80" dirty="0">
                <a:latin typeface="Arial"/>
                <a:cs typeface="Arial"/>
              </a:rPr>
              <a:t> </a:t>
            </a:r>
            <a:r>
              <a:rPr sz="900" dirty="0">
                <a:latin typeface="Arial"/>
                <a:cs typeface="Arial"/>
              </a:rPr>
              <a:t>with</a:t>
            </a:r>
            <a:r>
              <a:rPr sz="900" spc="-10" dirty="0">
                <a:latin typeface="Arial"/>
                <a:cs typeface="Arial"/>
              </a:rPr>
              <a:t> </a:t>
            </a:r>
            <a:r>
              <a:rPr sz="900" dirty="0">
                <a:solidFill>
                  <a:srgbClr val="C80000"/>
                </a:solidFill>
                <a:latin typeface="Arial"/>
                <a:cs typeface="Arial"/>
              </a:rPr>
              <a:t>key</a:t>
            </a:r>
            <a:r>
              <a:rPr sz="900" spc="-5" dirty="0">
                <a:solidFill>
                  <a:srgbClr val="C80000"/>
                </a:solidFill>
                <a:latin typeface="Arial"/>
                <a:cs typeface="Arial"/>
              </a:rPr>
              <a:t> </a:t>
            </a:r>
            <a:r>
              <a:rPr sz="900" i="1" dirty="0">
                <a:latin typeface="Arial"/>
                <a:cs typeface="Arial"/>
              </a:rPr>
              <a:t>k</a:t>
            </a:r>
            <a:r>
              <a:rPr sz="900" i="1" spc="30" dirty="0">
                <a:latin typeface="Arial"/>
                <a:cs typeface="Arial"/>
              </a:rPr>
              <a:t> </a:t>
            </a:r>
            <a:r>
              <a:rPr sz="900" spc="75" dirty="0">
                <a:latin typeface="Apple Symbols"/>
                <a:cs typeface="Apple Symbols"/>
              </a:rPr>
              <a:t>∈</a:t>
            </a:r>
            <a:r>
              <a:rPr sz="900" spc="-100" dirty="0">
                <a:latin typeface="Apple Symbols"/>
                <a:cs typeface="Apple Symbols"/>
              </a:rPr>
              <a:t> </a:t>
            </a:r>
            <a:r>
              <a:rPr sz="900" dirty="0">
                <a:latin typeface="Apple Symbols"/>
                <a:cs typeface="Apple Symbols"/>
              </a:rPr>
              <a:t>{</a:t>
            </a:r>
            <a:r>
              <a:rPr sz="900" dirty="0">
                <a:latin typeface="Arial"/>
                <a:cs typeface="Arial"/>
              </a:rPr>
              <a:t>0</a:t>
            </a:r>
            <a:r>
              <a:rPr sz="900" i="1" dirty="0">
                <a:latin typeface="Arial"/>
                <a:cs typeface="Arial"/>
              </a:rPr>
              <a:t>,</a:t>
            </a:r>
            <a:r>
              <a:rPr sz="900" i="1" spc="-155" dirty="0">
                <a:latin typeface="Arial"/>
                <a:cs typeface="Arial"/>
              </a:rPr>
              <a:t> </a:t>
            </a:r>
            <a:r>
              <a:rPr sz="900" spc="-10" dirty="0">
                <a:latin typeface="Arial"/>
                <a:cs typeface="Arial"/>
              </a:rPr>
              <a:t>1</a:t>
            </a:r>
            <a:r>
              <a:rPr sz="900" i="1" spc="-10" dirty="0">
                <a:latin typeface="Arial"/>
                <a:cs typeface="Arial"/>
              </a:rPr>
              <a:t>,</a:t>
            </a:r>
            <a:r>
              <a:rPr sz="900" i="1" spc="-155" dirty="0">
                <a:latin typeface="Arial"/>
                <a:cs typeface="Arial"/>
              </a:rPr>
              <a:t> </a:t>
            </a:r>
            <a:r>
              <a:rPr sz="900" spc="60" dirty="0">
                <a:latin typeface="Arial"/>
                <a:cs typeface="Arial"/>
              </a:rPr>
              <a:t>2</a:t>
            </a:r>
            <a:r>
              <a:rPr sz="900" i="1" spc="60" dirty="0">
                <a:latin typeface="Arial"/>
                <a:cs typeface="Arial"/>
              </a:rPr>
              <a:t>,...,</a:t>
            </a:r>
            <a:r>
              <a:rPr sz="900" i="1" spc="-155" dirty="0">
                <a:latin typeface="Arial"/>
                <a:cs typeface="Arial"/>
              </a:rPr>
              <a:t> </a:t>
            </a:r>
            <a:r>
              <a:rPr sz="900" dirty="0">
                <a:latin typeface="Arial"/>
                <a:cs typeface="Arial"/>
              </a:rPr>
              <a:t>2</a:t>
            </a:r>
            <a:r>
              <a:rPr sz="1050" baseline="27777" dirty="0">
                <a:latin typeface="Arial"/>
                <a:cs typeface="Arial"/>
              </a:rPr>
              <a:t>4</a:t>
            </a:r>
            <a:r>
              <a:rPr sz="1050" spc="-44" baseline="27777" dirty="0">
                <a:latin typeface="Arial"/>
                <a:cs typeface="Arial"/>
              </a:rPr>
              <a:t> </a:t>
            </a:r>
            <a:r>
              <a:rPr sz="900" spc="160" dirty="0">
                <a:latin typeface="Apple Symbols"/>
                <a:cs typeface="Apple Symbols"/>
              </a:rPr>
              <a:t>−</a:t>
            </a:r>
            <a:r>
              <a:rPr sz="900" spc="-180" dirty="0">
                <a:latin typeface="Apple Symbols"/>
                <a:cs typeface="Apple Symbols"/>
              </a:rPr>
              <a:t> </a:t>
            </a:r>
            <a:r>
              <a:rPr sz="900" spc="75" dirty="0">
                <a:latin typeface="Arial"/>
                <a:cs typeface="Arial"/>
              </a:rPr>
              <a:t>1</a:t>
            </a:r>
            <a:r>
              <a:rPr sz="900" spc="75" dirty="0">
                <a:latin typeface="Apple Symbols"/>
                <a:cs typeface="Apple Symbols"/>
              </a:rPr>
              <a:t>}</a:t>
            </a:r>
            <a:r>
              <a:rPr sz="900" spc="-55" dirty="0">
                <a:latin typeface="Apple Symbols"/>
                <a:cs typeface="Apple Symbols"/>
              </a:rPr>
              <a:t> </a:t>
            </a:r>
            <a:r>
              <a:rPr sz="900" dirty="0">
                <a:latin typeface="Arial"/>
                <a:cs typeface="Arial"/>
              </a:rPr>
              <a:t>means</a:t>
            </a:r>
            <a:r>
              <a:rPr sz="900" spc="-10" dirty="0">
                <a:latin typeface="Arial"/>
                <a:cs typeface="Arial"/>
              </a:rPr>
              <a:t> </a:t>
            </a:r>
            <a:r>
              <a:rPr sz="900" dirty="0">
                <a:solidFill>
                  <a:srgbClr val="3333B2"/>
                </a:solidFill>
                <a:latin typeface="Arial"/>
                <a:cs typeface="Arial"/>
              </a:rPr>
              <a:t>routing</a:t>
            </a:r>
            <a:r>
              <a:rPr sz="900" spc="-5" dirty="0">
                <a:solidFill>
                  <a:srgbClr val="3333B2"/>
                </a:solidFill>
                <a:latin typeface="Arial"/>
                <a:cs typeface="Arial"/>
              </a:rPr>
              <a:t> </a:t>
            </a:r>
            <a:r>
              <a:rPr sz="900" dirty="0">
                <a:latin typeface="Arial"/>
                <a:cs typeface="Arial"/>
              </a:rPr>
              <a:t>request</a:t>
            </a:r>
            <a:r>
              <a:rPr sz="900" spc="-10" dirty="0">
                <a:latin typeface="Arial"/>
                <a:cs typeface="Arial"/>
              </a:rPr>
              <a:t> </a:t>
            </a:r>
            <a:r>
              <a:rPr sz="900" dirty="0">
                <a:latin typeface="Arial"/>
                <a:cs typeface="Arial"/>
              </a:rPr>
              <a:t>to</a:t>
            </a:r>
            <a:r>
              <a:rPr sz="900" spc="-10" dirty="0">
                <a:latin typeface="Arial"/>
                <a:cs typeface="Arial"/>
              </a:rPr>
              <a:t> </a:t>
            </a:r>
            <a:r>
              <a:rPr sz="900" spc="-20" dirty="0">
                <a:latin typeface="Arial"/>
                <a:cs typeface="Arial"/>
              </a:rPr>
              <a:t>node </a:t>
            </a:r>
            <a:r>
              <a:rPr sz="900" dirty="0">
                <a:latin typeface="Arial"/>
                <a:cs typeface="Arial"/>
              </a:rPr>
              <a:t>with</a:t>
            </a:r>
            <a:r>
              <a:rPr sz="900" spc="-35" dirty="0">
                <a:latin typeface="Arial"/>
                <a:cs typeface="Arial"/>
              </a:rPr>
              <a:t> </a:t>
            </a:r>
            <a:r>
              <a:rPr sz="900" dirty="0">
                <a:solidFill>
                  <a:srgbClr val="C80000"/>
                </a:solidFill>
                <a:latin typeface="Arial"/>
                <a:cs typeface="Arial"/>
              </a:rPr>
              <a:t>identifier</a:t>
            </a:r>
            <a:r>
              <a:rPr sz="900" spc="-20" dirty="0">
                <a:solidFill>
                  <a:srgbClr val="C80000"/>
                </a:solidFill>
                <a:latin typeface="Arial"/>
                <a:cs typeface="Arial"/>
              </a:rPr>
              <a:t> </a:t>
            </a:r>
            <a:r>
              <a:rPr sz="900" i="1" spc="-10" dirty="0">
                <a:latin typeface="Arial"/>
                <a:cs typeface="Arial"/>
              </a:rPr>
              <a:t>k</a:t>
            </a:r>
            <a:r>
              <a:rPr sz="900" i="1" spc="-165" dirty="0">
                <a:latin typeface="Arial"/>
                <a:cs typeface="Arial"/>
              </a:rPr>
              <a:t> </a:t>
            </a:r>
            <a:r>
              <a:rPr sz="900" spc="-50" dirty="0">
                <a:latin typeface="Arial"/>
                <a:cs typeface="Arial"/>
              </a:rPr>
              <a:t>.</a:t>
            </a:r>
            <a:endParaRPr sz="900">
              <a:latin typeface="Arial"/>
              <a:cs typeface="Arial"/>
            </a:endParaRPr>
          </a:p>
        </p:txBody>
      </p:sp>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93345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6" action="ppaction://hlinksldjump"/>
              </a:rPr>
              <a:t>Structured</a:t>
            </a:r>
            <a:r>
              <a:rPr sz="500" spc="10" dirty="0">
                <a:latin typeface="Arial"/>
                <a:cs typeface="Arial"/>
                <a:hlinkClick r:id="rId6" action="ppaction://hlinksldjump"/>
              </a:rPr>
              <a:t> </a:t>
            </a:r>
            <a:r>
              <a:rPr sz="500" spc="-10" dirty="0">
                <a:latin typeface="Arial"/>
                <a:cs typeface="Arial"/>
                <a:hlinkClick r:id="rId6" action="ppaction://hlinksldjump"/>
              </a:rPr>
              <a:t>peer-to-</a:t>
            </a:r>
            <a:r>
              <a:rPr sz="500" dirty="0">
                <a:latin typeface="Arial"/>
                <a:cs typeface="Arial"/>
                <a:hlinkClick r:id="rId6" action="ppaction://hlinksldjump"/>
              </a:rPr>
              <a:t>peer</a:t>
            </a:r>
            <a:r>
              <a:rPr sz="500" spc="10" dirty="0">
                <a:latin typeface="Arial"/>
                <a:cs typeface="Arial"/>
                <a:hlinkClick r:id="rId6" action="ppaction://hlinksldjump"/>
              </a:rPr>
              <a:t> </a:t>
            </a:r>
            <a:r>
              <a:rPr sz="500" spc="-10" dirty="0">
                <a:latin typeface="Arial"/>
                <a:cs typeface="Arial"/>
                <a:hlinkClick r:id="rId6" action="ppaction://hlinksldjump"/>
              </a:rPr>
              <a:t>systems</a:t>
            </a:r>
            <a:endParaRPr sz="500">
              <a:latin typeface="Arial"/>
              <a:cs typeface="Arial"/>
            </a:endParaRP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186430" algn="l"/>
              </a:tabLst>
            </a:pPr>
            <a:r>
              <a:rPr sz="500" spc="-10" dirty="0">
                <a:latin typeface="Arial"/>
                <a:cs typeface="Arial"/>
                <a:hlinkClick r:id="rId2" action="ppaction://hlinksldjump"/>
              </a:rPr>
              <a:t>Architectures</a:t>
            </a:r>
            <a:r>
              <a:rPr sz="500" dirty="0">
                <a:latin typeface="Arial"/>
                <a:cs typeface="Arial"/>
              </a:rPr>
              <a:t>	</a:t>
            </a:r>
            <a:r>
              <a:rPr sz="500" dirty="0">
                <a:solidFill>
                  <a:srgbClr val="FFFFFF"/>
                </a:solidFill>
                <a:latin typeface="Arial"/>
                <a:cs typeface="Arial"/>
                <a:hlinkClick r:id="rId3" action="ppaction://hlinksldjump"/>
              </a:rPr>
              <a:t>Symmetrically</a:t>
            </a:r>
            <a:r>
              <a:rPr sz="500" spc="-4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distributed</a:t>
            </a:r>
            <a:r>
              <a:rPr sz="500" spc="-3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system</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architectures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Example:</a:t>
            </a:r>
            <a:r>
              <a:rPr spc="15" dirty="0"/>
              <a:t> </a:t>
            </a:r>
            <a:r>
              <a:rPr spc="-10" dirty="0"/>
              <a:t>Chord</a:t>
            </a:r>
          </a:p>
        </p:txBody>
      </p:sp>
      <p:sp>
        <p:nvSpPr>
          <p:cNvPr id="4" name="object 4"/>
          <p:cNvSpPr txBox="1"/>
          <p:nvPr/>
        </p:nvSpPr>
        <p:spPr>
          <a:xfrm>
            <a:off x="334594" y="514774"/>
            <a:ext cx="3960495" cy="1015365"/>
          </a:xfrm>
          <a:prstGeom prst="rect">
            <a:avLst/>
          </a:prstGeom>
        </p:spPr>
        <p:txBody>
          <a:bodyPr vert="horz" wrap="square" lIns="0" tIns="12065" rIns="0" bIns="0" rtlCol="0">
            <a:spAutoFit/>
          </a:bodyPr>
          <a:lstStyle/>
          <a:p>
            <a:pPr marL="25400">
              <a:lnSpc>
                <a:spcPct val="100000"/>
              </a:lnSpc>
              <a:spcBef>
                <a:spcPts val="95"/>
              </a:spcBef>
            </a:pPr>
            <a:r>
              <a:rPr sz="1000" spc="-10" dirty="0">
                <a:solidFill>
                  <a:srgbClr val="3333B2"/>
                </a:solidFill>
                <a:latin typeface="Arial"/>
                <a:cs typeface="Arial"/>
              </a:rPr>
              <a:t>Principle</a:t>
            </a:r>
            <a:endParaRPr sz="1000">
              <a:latin typeface="Arial"/>
              <a:cs typeface="Arial"/>
            </a:endParaRPr>
          </a:p>
          <a:p>
            <a:pPr marL="278130" indent="-120650">
              <a:lnSpc>
                <a:spcPct val="100000"/>
              </a:lnSpc>
              <a:spcBef>
                <a:spcPts val="695"/>
              </a:spcBef>
              <a:buClr>
                <a:srgbClr val="3333B2"/>
              </a:buClr>
              <a:buFont typeface="Apple Symbols"/>
              <a:buChar char="•"/>
              <a:tabLst>
                <a:tab pos="278765" algn="l"/>
              </a:tabLst>
            </a:pPr>
            <a:r>
              <a:rPr sz="900" dirty="0">
                <a:latin typeface="Arial"/>
                <a:cs typeface="Arial"/>
              </a:rPr>
              <a:t>Nodes</a:t>
            </a:r>
            <a:r>
              <a:rPr sz="900" spc="-25" dirty="0">
                <a:latin typeface="Arial"/>
                <a:cs typeface="Arial"/>
              </a:rPr>
              <a:t> </a:t>
            </a:r>
            <a:r>
              <a:rPr sz="900" dirty="0">
                <a:latin typeface="Arial"/>
                <a:cs typeface="Arial"/>
              </a:rPr>
              <a:t>are</a:t>
            </a:r>
            <a:r>
              <a:rPr sz="900" spc="-25" dirty="0">
                <a:latin typeface="Arial"/>
                <a:cs typeface="Arial"/>
              </a:rPr>
              <a:t> </a:t>
            </a:r>
            <a:r>
              <a:rPr sz="900" spc="-10" dirty="0">
                <a:latin typeface="Arial"/>
                <a:cs typeface="Arial"/>
              </a:rPr>
              <a:t>logically</a:t>
            </a:r>
            <a:r>
              <a:rPr sz="900" spc="-25" dirty="0">
                <a:latin typeface="Arial"/>
                <a:cs typeface="Arial"/>
              </a:rPr>
              <a:t> </a:t>
            </a:r>
            <a:r>
              <a:rPr sz="900" spc="-10" dirty="0">
                <a:latin typeface="Arial"/>
                <a:cs typeface="Arial"/>
              </a:rPr>
              <a:t>organized</a:t>
            </a:r>
            <a:r>
              <a:rPr sz="900" spc="-25" dirty="0">
                <a:latin typeface="Arial"/>
                <a:cs typeface="Arial"/>
              </a:rPr>
              <a:t> </a:t>
            </a:r>
            <a:r>
              <a:rPr sz="900" dirty="0">
                <a:latin typeface="Arial"/>
                <a:cs typeface="Arial"/>
              </a:rPr>
              <a:t>in</a:t>
            </a:r>
            <a:r>
              <a:rPr sz="900" spc="-25"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ring.</a:t>
            </a:r>
            <a:r>
              <a:rPr sz="900" spc="30" dirty="0">
                <a:latin typeface="Arial"/>
                <a:cs typeface="Arial"/>
              </a:rPr>
              <a:t> </a:t>
            </a:r>
            <a:r>
              <a:rPr sz="900" dirty="0">
                <a:latin typeface="Arial"/>
                <a:cs typeface="Arial"/>
              </a:rPr>
              <a:t>Each</a:t>
            </a:r>
            <a:r>
              <a:rPr sz="900" spc="-25" dirty="0">
                <a:latin typeface="Arial"/>
                <a:cs typeface="Arial"/>
              </a:rPr>
              <a:t> </a:t>
            </a:r>
            <a:r>
              <a:rPr sz="900" dirty="0">
                <a:latin typeface="Arial"/>
                <a:cs typeface="Arial"/>
              </a:rPr>
              <a:t>node</a:t>
            </a:r>
            <a:r>
              <a:rPr sz="900" spc="-25" dirty="0">
                <a:latin typeface="Arial"/>
                <a:cs typeface="Arial"/>
              </a:rPr>
              <a:t> </a:t>
            </a:r>
            <a:r>
              <a:rPr sz="900" dirty="0">
                <a:latin typeface="Arial"/>
                <a:cs typeface="Arial"/>
              </a:rPr>
              <a:t>has</a:t>
            </a:r>
            <a:r>
              <a:rPr sz="900" spc="-25" dirty="0">
                <a:latin typeface="Arial"/>
                <a:cs typeface="Arial"/>
              </a:rPr>
              <a:t> </a:t>
            </a:r>
            <a:r>
              <a:rPr sz="900" dirty="0">
                <a:latin typeface="Arial"/>
                <a:cs typeface="Arial"/>
              </a:rPr>
              <a:t>an</a:t>
            </a:r>
            <a:r>
              <a:rPr sz="900" spc="-25" dirty="0">
                <a:latin typeface="Arial"/>
                <a:cs typeface="Arial"/>
              </a:rPr>
              <a:t> </a:t>
            </a:r>
            <a:r>
              <a:rPr sz="900" i="1" spc="-10" dirty="0">
                <a:latin typeface="Arial"/>
                <a:cs typeface="Arial"/>
              </a:rPr>
              <a:t>m</a:t>
            </a:r>
            <a:r>
              <a:rPr sz="900" spc="-10" dirty="0">
                <a:latin typeface="Arial"/>
                <a:cs typeface="Arial"/>
              </a:rPr>
              <a:t>-</a:t>
            </a:r>
            <a:r>
              <a:rPr sz="900" dirty="0">
                <a:latin typeface="Arial"/>
                <a:cs typeface="Arial"/>
              </a:rPr>
              <a:t>bit</a:t>
            </a:r>
            <a:r>
              <a:rPr sz="900" spc="-25" dirty="0">
                <a:latin typeface="Arial"/>
                <a:cs typeface="Arial"/>
              </a:rPr>
              <a:t> </a:t>
            </a:r>
            <a:r>
              <a:rPr sz="900" spc="-10" dirty="0">
                <a:solidFill>
                  <a:srgbClr val="C80000"/>
                </a:solidFill>
                <a:latin typeface="Arial"/>
                <a:cs typeface="Arial"/>
              </a:rPr>
              <a:t>identifier</a:t>
            </a:r>
            <a:r>
              <a:rPr sz="900" spc="-10" dirty="0">
                <a:latin typeface="Arial"/>
                <a:cs typeface="Arial"/>
              </a:rPr>
              <a:t>.</a:t>
            </a:r>
            <a:endParaRPr sz="900">
              <a:latin typeface="Arial"/>
              <a:cs typeface="Arial"/>
            </a:endParaRPr>
          </a:p>
          <a:p>
            <a:pPr marL="278130" indent="-120650">
              <a:lnSpc>
                <a:spcPct val="100000"/>
              </a:lnSpc>
              <a:spcBef>
                <a:spcPts val="125"/>
              </a:spcBef>
              <a:buClr>
                <a:srgbClr val="3333B2"/>
              </a:buClr>
              <a:buFont typeface="Apple Symbols"/>
              <a:buChar char="•"/>
              <a:tabLst>
                <a:tab pos="278765" algn="l"/>
              </a:tabLst>
            </a:pPr>
            <a:r>
              <a:rPr sz="900" dirty="0">
                <a:latin typeface="Arial"/>
                <a:cs typeface="Arial"/>
              </a:rPr>
              <a:t>Each</a:t>
            </a:r>
            <a:r>
              <a:rPr sz="900" spc="-20" dirty="0">
                <a:latin typeface="Arial"/>
                <a:cs typeface="Arial"/>
              </a:rPr>
              <a:t> </a:t>
            </a:r>
            <a:r>
              <a:rPr sz="900" dirty="0">
                <a:latin typeface="Arial"/>
                <a:cs typeface="Arial"/>
              </a:rPr>
              <a:t>data</a:t>
            </a:r>
            <a:r>
              <a:rPr sz="900" spc="-20" dirty="0">
                <a:latin typeface="Arial"/>
                <a:cs typeface="Arial"/>
              </a:rPr>
              <a:t> </a:t>
            </a:r>
            <a:r>
              <a:rPr sz="900" dirty="0">
                <a:latin typeface="Arial"/>
                <a:cs typeface="Arial"/>
              </a:rPr>
              <a:t>item</a:t>
            </a:r>
            <a:r>
              <a:rPr sz="900" spc="-20"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hashed</a:t>
            </a:r>
            <a:r>
              <a:rPr sz="900" spc="-20"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an</a:t>
            </a:r>
            <a:r>
              <a:rPr sz="900" spc="-15" dirty="0">
                <a:latin typeface="Arial"/>
                <a:cs typeface="Arial"/>
              </a:rPr>
              <a:t> </a:t>
            </a:r>
            <a:r>
              <a:rPr sz="900" i="1" dirty="0">
                <a:latin typeface="Arial"/>
                <a:cs typeface="Arial"/>
              </a:rPr>
              <a:t>m</a:t>
            </a:r>
            <a:r>
              <a:rPr sz="900" dirty="0">
                <a:latin typeface="Arial"/>
                <a:cs typeface="Arial"/>
              </a:rPr>
              <a:t>-bit</a:t>
            </a:r>
            <a:r>
              <a:rPr sz="900" spc="-20" dirty="0">
                <a:latin typeface="Arial"/>
                <a:cs typeface="Arial"/>
              </a:rPr>
              <a:t> </a:t>
            </a:r>
            <a:r>
              <a:rPr sz="900" spc="-20" dirty="0">
                <a:solidFill>
                  <a:srgbClr val="C80000"/>
                </a:solidFill>
                <a:latin typeface="Arial"/>
                <a:cs typeface="Arial"/>
              </a:rPr>
              <a:t>key</a:t>
            </a:r>
            <a:r>
              <a:rPr sz="900" spc="-20" dirty="0">
                <a:latin typeface="Arial"/>
                <a:cs typeface="Arial"/>
              </a:rPr>
              <a:t>.</a:t>
            </a:r>
            <a:endParaRPr sz="900">
              <a:latin typeface="Arial"/>
              <a:cs typeface="Arial"/>
            </a:endParaRPr>
          </a:p>
          <a:p>
            <a:pPr marL="278130" marR="259079" indent="-120650">
              <a:lnSpc>
                <a:spcPct val="111600"/>
              </a:lnSpc>
              <a:buClr>
                <a:srgbClr val="3333B2"/>
              </a:buClr>
              <a:buFont typeface="Apple Symbols"/>
              <a:buChar char="•"/>
              <a:tabLst>
                <a:tab pos="278765" algn="l"/>
              </a:tabLst>
            </a:pPr>
            <a:r>
              <a:rPr sz="900" dirty="0">
                <a:latin typeface="Arial"/>
                <a:cs typeface="Arial"/>
              </a:rPr>
              <a:t>Data</a:t>
            </a:r>
            <a:r>
              <a:rPr sz="900" spc="-45" dirty="0">
                <a:latin typeface="Arial"/>
                <a:cs typeface="Arial"/>
              </a:rPr>
              <a:t> </a:t>
            </a:r>
            <a:r>
              <a:rPr sz="900" dirty="0">
                <a:latin typeface="Arial"/>
                <a:cs typeface="Arial"/>
              </a:rPr>
              <a:t>item</a:t>
            </a:r>
            <a:r>
              <a:rPr sz="900" spc="-20" dirty="0">
                <a:latin typeface="Arial"/>
                <a:cs typeface="Arial"/>
              </a:rPr>
              <a:t> </a:t>
            </a:r>
            <a:r>
              <a:rPr sz="900" dirty="0">
                <a:latin typeface="Arial"/>
                <a:cs typeface="Arial"/>
              </a:rPr>
              <a:t>with</a:t>
            </a:r>
            <a:r>
              <a:rPr sz="900" spc="-25" dirty="0">
                <a:latin typeface="Arial"/>
                <a:cs typeface="Arial"/>
              </a:rPr>
              <a:t> </a:t>
            </a:r>
            <a:r>
              <a:rPr sz="900" dirty="0">
                <a:latin typeface="Arial"/>
                <a:cs typeface="Arial"/>
              </a:rPr>
              <a:t>key</a:t>
            </a:r>
            <a:r>
              <a:rPr sz="900" spc="-20" dirty="0">
                <a:latin typeface="Arial"/>
                <a:cs typeface="Arial"/>
              </a:rPr>
              <a:t> </a:t>
            </a:r>
            <a:r>
              <a:rPr sz="900" i="1" dirty="0">
                <a:latin typeface="Arial"/>
                <a:cs typeface="Arial"/>
              </a:rPr>
              <a:t>k</a:t>
            </a:r>
            <a:r>
              <a:rPr sz="900" i="1" spc="60"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stored</a:t>
            </a:r>
            <a:r>
              <a:rPr sz="900" spc="-25" dirty="0">
                <a:latin typeface="Arial"/>
                <a:cs typeface="Arial"/>
              </a:rPr>
              <a:t> </a:t>
            </a:r>
            <a:r>
              <a:rPr sz="900" dirty="0">
                <a:latin typeface="Arial"/>
                <a:cs typeface="Arial"/>
              </a:rPr>
              <a:t>at</a:t>
            </a:r>
            <a:r>
              <a:rPr sz="900" spc="-20" dirty="0">
                <a:latin typeface="Arial"/>
                <a:cs typeface="Arial"/>
              </a:rPr>
              <a:t> </a:t>
            </a:r>
            <a:r>
              <a:rPr sz="900" dirty="0">
                <a:latin typeface="Arial"/>
                <a:cs typeface="Arial"/>
              </a:rPr>
              <a:t>node</a:t>
            </a:r>
            <a:r>
              <a:rPr sz="900" spc="-25" dirty="0">
                <a:latin typeface="Arial"/>
                <a:cs typeface="Arial"/>
              </a:rPr>
              <a:t> </a:t>
            </a:r>
            <a:r>
              <a:rPr sz="900" dirty="0">
                <a:latin typeface="Arial"/>
                <a:cs typeface="Arial"/>
              </a:rPr>
              <a:t>with</a:t>
            </a:r>
            <a:r>
              <a:rPr sz="900" spc="-20" dirty="0">
                <a:latin typeface="Arial"/>
                <a:cs typeface="Arial"/>
              </a:rPr>
              <a:t> </a:t>
            </a:r>
            <a:r>
              <a:rPr sz="900" dirty="0">
                <a:latin typeface="Arial"/>
                <a:cs typeface="Arial"/>
              </a:rPr>
              <a:t>smallest</a:t>
            </a:r>
            <a:r>
              <a:rPr sz="900" spc="-25" dirty="0">
                <a:latin typeface="Arial"/>
                <a:cs typeface="Arial"/>
              </a:rPr>
              <a:t> </a:t>
            </a:r>
            <a:r>
              <a:rPr sz="900" dirty="0">
                <a:latin typeface="Arial"/>
                <a:cs typeface="Arial"/>
              </a:rPr>
              <a:t>identifier</a:t>
            </a:r>
            <a:r>
              <a:rPr sz="900" spc="-20" dirty="0">
                <a:latin typeface="Arial"/>
                <a:cs typeface="Arial"/>
              </a:rPr>
              <a:t> </a:t>
            </a:r>
            <a:r>
              <a:rPr sz="900" i="1" dirty="0">
                <a:latin typeface="Arial"/>
                <a:cs typeface="Arial"/>
              </a:rPr>
              <a:t>id</a:t>
            </a:r>
            <a:r>
              <a:rPr sz="900" i="1" spc="15" dirty="0">
                <a:latin typeface="Arial"/>
                <a:cs typeface="Arial"/>
              </a:rPr>
              <a:t> </a:t>
            </a:r>
            <a:r>
              <a:rPr sz="900" spc="114" dirty="0">
                <a:latin typeface="Apple Symbols"/>
                <a:cs typeface="Apple Symbols"/>
              </a:rPr>
              <a:t>≥</a:t>
            </a:r>
            <a:r>
              <a:rPr sz="900" spc="-105" dirty="0">
                <a:latin typeface="Apple Symbols"/>
                <a:cs typeface="Apple Symbols"/>
              </a:rPr>
              <a:t> </a:t>
            </a:r>
            <a:r>
              <a:rPr sz="900" i="1" spc="-10" dirty="0">
                <a:latin typeface="Arial"/>
                <a:cs typeface="Arial"/>
              </a:rPr>
              <a:t>k</a:t>
            </a:r>
            <a:r>
              <a:rPr sz="900" i="1" spc="-165" dirty="0">
                <a:latin typeface="Arial"/>
                <a:cs typeface="Arial"/>
              </a:rPr>
              <a:t> </a:t>
            </a:r>
            <a:r>
              <a:rPr sz="900" spc="-50" dirty="0">
                <a:latin typeface="Arial"/>
                <a:cs typeface="Arial"/>
              </a:rPr>
              <a:t>,</a:t>
            </a:r>
            <a:r>
              <a:rPr sz="900" dirty="0">
                <a:latin typeface="Arial"/>
                <a:cs typeface="Arial"/>
              </a:rPr>
              <a:t> called</a:t>
            </a:r>
            <a:r>
              <a:rPr sz="900" spc="-40" dirty="0">
                <a:latin typeface="Arial"/>
                <a:cs typeface="Arial"/>
              </a:rPr>
              <a:t> </a:t>
            </a:r>
            <a:r>
              <a:rPr sz="900" dirty="0">
                <a:latin typeface="Arial"/>
                <a:cs typeface="Arial"/>
              </a:rPr>
              <a:t>the</a:t>
            </a:r>
            <a:r>
              <a:rPr sz="900" spc="-30" dirty="0">
                <a:latin typeface="Arial"/>
                <a:cs typeface="Arial"/>
              </a:rPr>
              <a:t> </a:t>
            </a:r>
            <a:r>
              <a:rPr sz="900" dirty="0">
                <a:solidFill>
                  <a:srgbClr val="C80000"/>
                </a:solidFill>
                <a:latin typeface="Arial"/>
                <a:cs typeface="Arial"/>
              </a:rPr>
              <a:t>successor</a:t>
            </a:r>
            <a:r>
              <a:rPr sz="900" spc="-30" dirty="0">
                <a:solidFill>
                  <a:srgbClr val="C80000"/>
                </a:solidFill>
                <a:latin typeface="Arial"/>
                <a:cs typeface="Arial"/>
              </a:rPr>
              <a:t> </a:t>
            </a:r>
            <a:r>
              <a:rPr sz="900" dirty="0">
                <a:latin typeface="Arial"/>
                <a:cs typeface="Arial"/>
              </a:rPr>
              <a:t>of</a:t>
            </a:r>
            <a:r>
              <a:rPr sz="900" spc="-30" dirty="0">
                <a:latin typeface="Arial"/>
                <a:cs typeface="Arial"/>
              </a:rPr>
              <a:t> </a:t>
            </a:r>
            <a:r>
              <a:rPr sz="900" dirty="0">
                <a:latin typeface="Arial"/>
                <a:cs typeface="Arial"/>
              </a:rPr>
              <a:t>key</a:t>
            </a:r>
            <a:r>
              <a:rPr sz="900" spc="-30" dirty="0">
                <a:latin typeface="Arial"/>
                <a:cs typeface="Arial"/>
              </a:rPr>
              <a:t> </a:t>
            </a:r>
            <a:r>
              <a:rPr sz="900" i="1" spc="-10" dirty="0">
                <a:latin typeface="Arial"/>
                <a:cs typeface="Arial"/>
              </a:rPr>
              <a:t>k</a:t>
            </a:r>
            <a:r>
              <a:rPr sz="900" i="1" spc="-165" dirty="0">
                <a:latin typeface="Arial"/>
                <a:cs typeface="Arial"/>
              </a:rPr>
              <a:t> </a:t>
            </a:r>
            <a:r>
              <a:rPr sz="900" spc="-50" dirty="0">
                <a:latin typeface="Arial"/>
                <a:cs typeface="Arial"/>
              </a:rPr>
              <a:t>.</a:t>
            </a:r>
            <a:endParaRPr sz="900">
              <a:latin typeface="Arial"/>
              <a:cs typeface="Arial"/>
            </a:endParaRPr>
          </a:p>
          <a:p>
            <a:pPr marL="274320" indent="-116839">
              <a:lnSpc>
                <a:spcPct val="100000"/>
              </a:lnSpc>
              <a:spcBef>
                <a:spcPts val="125"/>
              </a:spcBef>
              <a:buClr>
                <a:srgbClr val="3333B2"/>
              </a:buClr>
              <a:buFont typeface="Apple Symbols"/>
              <a:buChar char="•"/>
              <a:tabLst>
                <a:tab pos="274955" algn="l"/>
              </a:tabLst>
            </a:pPr>
            <a:r>
              <a:rPr sz="900" dirty="0">
                <a:latin typeface="Arial"/>
                <a:cs typeface="Arial"/>
              </a:rPr>
              <a:t>The</a:t>
            </a:r>
            <a:r>
              <a:rPr sz="900" spc="-20" dirty="0">
                <a:latin typeface="Arial"/>
                <a:cs typeface="Arial"/>
              </a:rPr>
              <a:t> </a:t>
            </a:r>
            <a:r>
              <a:rPr sz="900" dirty="0">
                <a:latin typeface="Arial"/>
                <a:cs typeface="Arial"/>
              </a:rPr>
              <a:t>ring</a:t>
            </a:r>
            <a:r>
              <a:rPr sz="900" spc="-15" dirty="0">
                <a:latin typeface="Arial"/>
                <a:cs typeface="Arial"/>
              </a:rPr>
              <a:t> </a:t>
            </a:r>
            <a:r>
              <a:rPr sz="900" dirty="0">
                <a:latin typeface="Arial"/>
                <a:cs typeface="Arial"/>
              </a:rPr>
              <a:t>is</a:t>
            </a:r>
            <a:r>
              <a:rPr sz="900" spc="-20" dirty="0">
                <a:latin typeface="Arial"/>
                <a:cs typeface="Arial"/>
              </a:rPr>
              <a:t> </a:t>
            </a:r>
            <a:r>
              <a:rPr sz="900" spc="-10" dirty="0">
                <a:latin typeface="Arial"/>
                <a:cs typeface="Arial"/>
              </a:rPr>
              <a:t>extended</a:t>
            </a:r>
            <a:r>
              <a:rPr sz="900" spc="-15" dirty="0">
                <a:latin typeface="Arial"/>
                <a:cs typeface="Arial"/>
              </a:rPr>
              <a:t> </a:t>
            </a:r>
            <a:r>
              <a:rPr sz="900" dirty="0">
                <a:latin typeface="Arial"/>
                <a:cs typeface="Arial"/>
              </a:rPr>
              <a:t>with</a:t>
            </a:r>
            <a:r>
              <a:rPr sz="900" spc="-15" dirty="0">
                <a:latin typeface="Arial"/>
                <a:cs typeface="Arial"/>
              </a:rPr>
              <a:t> </a:t>
            </a:r>
            <a:r>
              <a:rPr sz="900" dirty="0">
                <a:latin typeface="Arial"/>
                <a:cs typeface="Arial"/>
              </a:rPr>
              <a:t>various</a:t>
            </a:r>
            <a:r>
              <a:rPr sz="900" spc="-20" dirty="0">
                <a:latin typeface="Arial"/>
                <a:cs typeface="Arial"/>
              </a:rPr>
              <a:t> </a:t>
            </a:r>
            <a:r>
              <a:rPr sz="900" dirty="0">
                <a:solidFill>
                  <a:srgbClr val="3333B2"/>
                </a:solidFill>
                <a:latin typeface="Arial"/>
                <a:cs typeface="Arial"/>
              </a:rPr>
              <a:t>shortcut</a:t>
            </a:r>
            <a:r>
              <a:rPr sz="900" spc="-15" dirty="0">
                <a:solidFill>
                  <a:srgbClr val="3333B2"/>
                </a:solidFill>
                <a:latin typeface="Arial"/>
                <a:cs typeface="Arial"/>
              </a:rPr>
              <a:t> </a:t>
            </a:r>
            <a:r>
              <a:rPr sz="900" dirty="0">
                <a:solidFill>
                  <a:srgbClr val="3333B2"/>
                </a:solidFill>
                <a:latin typeface="Arial"/>
                <a:cs typeface="Arial"/>
              </a:rPr>
              <a:t>links</a:t>
            </a:r>
            <a:r>
              <a:rPr sz="900" spc="-15" dirty="0">
                <a:solidFill>
                  <a:srgbClr val="3333B2"/>
                </a:solidFill>
                <a:latin typeface="Arial"/>
                <a:cs typeface="Arial"/>
              </a:rPr>
              <a:t> </a:t>
            </a:r>
            <a:r>
              <a:rPr sz="900" dirty="0">
                <a:latin typeface="Arial"/>
                <a:cs typeface="Arial"/>
              </a:rPr>
              <a:t>to</a:t>
            </a:r>
            <a:r>
              <a:rPr sz="900" spc="-20" dirty="0">
                <a:latin typeface="Arial"/>
                <a:cs typeface="Arial"/>
              </a:rPr>
              <a:t> </a:t>
            </a:r>
            <a:r>
              <a:rPr sz="900" dirty="0">
                <a:latin typeface="Arial"/>
                <a:cs typeface="Arial"/>
              </a:rPr>
              <a:t>other</a:t>
            </a:r>
            <a:r>
              <a:rPr sz="900" spc="-15" dirty="0">
                <a:latin typeface="Arial"/>
                <a:cs typeface="Arial"/>
              </a:rPr>
              <a:t> </a:t>
            </a:r>
            <a:r>
              <a:rPr sz="900" spc="-10" dirty="0">
                <a:latin typeface="Arial"/>
                <a:cs typeface="Arial"/>
              </a:rPr>
              <a:t>nodes.</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93345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Structured</a:t>
            </a:r>
            <a:r>
              <a:rPr sz="500" spc="10" dirty="0">
                <a:latin typeface="Arial"/>
                <a:cs typeface="Arial"/>
                <a:hlinkClick r:id="rId4" action="ppaction://hlinksldjump"/>
              </a:rPr>
              <a:t> </a:t>
            </a:r>
            <a:r>
              <a:rPr sz="500" spc="-10" dirty="0">
                <a:latin typeface="Arial"/>
                <a:cs typeface="Arial"/>
                <a:hlinkClick r:id="rId4" action="ppaction://hlinksldjump"/>
              </a:rPr>
              <a:t>peer-to-</a:t>
            </a:r>
            <a:r>
              <a:rPr sz="500" dirty="0">
                <a:latin typeface="Arial"/>
                <a:cs typeface="Arial"/>
                <a:hlinkClick r:id="rId4" action="ppaction://hlinksldjump"/>
              </a:rPr>
              <a:t>peer</a:t>
            </a:r>
            <a:r>
              <a:rPr sz="500" spc="10" dirty="0">
                <a:latin typeface="Arial"/>
                <a:cs typeface="Arial"/>
                <a:hlinkClick r:id="rId4" action="ppaction://hlinksldjump"/>
              </a:rPr>
              <a:t> </a:t>
            </a:r>
            <a:r>
              <a:rPr sz="500" spc="-10" dirty="0">
                <a:latin typeface="Arial"/>
                <a:cs typeface="Arial"/>
                <a:hlinkClick r:id="rId4" action="ppaction://hlinksldjump"/>
              </a:rPr>
              <a:t>systems</a:t>
            </a:r>
            <a:endParaRPr sz="500">
              <a:latin typeface="Arial"/>
              <a:cs typeface="Arial"/>
            </a:endParaRP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Architectures</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227832" y="-1515"/>
            <a:ext cx="1327150"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Symmetrically</a:t>
            </a:r>
            <a:r>
              <a:rPr sz="500" spc="-4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distributed</a:t>
            </a:r>
            <a:r>
              <a:rPr sz="500" spc="-3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system</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architectures</a:t>
            </a:r>
            <a:endParaRPr sz="500">
              <a:latin typeface="Arial"/>
              <a:cs typeface="Arial"/>
            </a:endParaRPr>
          </a:p>
        </p:txBody>
      </p:sp>
      <p:sp>
        <p:nvSpPr>
          <p:cNvPr id="5" name="object 5"/>
          <p:cNvSpPr txBox="1"/>
          <p:nvPr/>
        </p:nvSpPr>
        <p:spPr>
          <a:xfrm>
            <a:off x="95300" y="197711"/>
            <a:ext cx="1123950"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Example:</a:t>
            </a:r>
            <a:r>
              <a:rPr sz="1200" spc="15" dirty="0">
                <a:solidFill>
                  <a:srgbClr val="3333B2"/>
                </a:solidFill>
                <a:latin typeface="Arial"/>
                <a:cs typeface="Arial"/>
              </a:rPr>
              <a:t> </a:t>
            </a:r>
            <a:r>
              <a:rPr sz="1200" spc="-10" dirty="0">
                <a:solidFill>
                  <a:srgbClr val="3333B2"/>
                </a:solidFill>
                <a:latin typeface="Arial"/>
                <a:cs typeface="Arial"/>
              </a:rPr>
              <a:t>Chord</a:t>
            </a:r>
            <a:endParaRPr sz="1200">
              <a:latin typeface="Arial"/>
              <a:cs typeface="Arial"/>
            </a:endParaRPr>
          </a:p>
        </p:txBody>
      </p:sp>
      <p:pic>
        <p:nvPicPr>
          <p:cNvPr id="6" name="object 6"/>
          <p:cNvPicPr/>
          <p:nvPr/>
        </p:nvPicPr>
        <p:blipFill>
          <a:blip r:embed="rId4" cstate="print"/>
          <a:stretch>
            <a:fillRect/>
          </a:stretch>
        </p:blipFill>
        <p:spPr>
          <a:xfrm>
            <a:off x="476431" y="678294"/>
            <a:ext cx="3725499" cy="2397023"/>
          </a:xfrm>
          <a:prstGeom prst="rect">
            <a:avLst/>
          </a:prstGeom>
        </p:spPr>
      </p:pic>
      <p:sp>
        <p:nvSpPr>
          <p:cNvPr id="7" name="object 7"/>
          <p:cNvSpPr txBox="1"/>
          <p:nvPr/>
        </p:nvSpPr>
        <p:spPr>
          <a:xfrm>
            <a:off x="1661782" y="3115762"/>
            <a:ext cx="1322070" cy="162560"/>
          </a:xfrm>
          <a:prstGeom prst="rect">
            <a:avLst/>
          </a:prstGeom>
        </p:spPr>
        <p:txBody>
          <a:bodyPr vert="horz" wrap="square" lIns="0" tIns="12065" rIns="0" bIns="0" rtlCol="0">
            <a:spAutoFit/>
          </a:bodyPr>
          <a:lstStyle/>
          <a:p>
            <a:pPr marL="12700">
              <a:lnSpc>
                <a:spcPct val="100000"/>
              </a:lnSpc>
              <a:spcBef>
                <a:spcPts val="95"/>
              </a:spcBef>
            </a:pPr>
            <a:r>
              <a:rPr sz="900" i="1" spc="-25" dirty="0">
                <a:latin typeface="Arial"/>
                <a:cs typeface="Arial"/>
              </a:rPr>
              <a:t>lookup</a:t>
            </a:r>
            <a:r>
              <a:rPr sz="900" spc="-25" dirty="0">
                <a:latin typeface="Arial"/>
                <a:cs typeface="Arial"/>
              </a:rPr>
              <a:t>(3)@9</a:t>
            </a:r>
            <a:r>
              <a:rPr sz="900" spc="-45" dirty="0">
                <a:latin typeface="Arial"/>
                <a:cs typeface="Arial"/>
              </a:rPr>
              <a:t> </a:t>
            </a:r>
            <a:r>
              <a:rPr sz="900" dirty="0">
                <a:latin typeface="Arial"/>
                <a:cs typeface="Arial"/>
              </a:rPr>
              <a:t>:</a:t>
            </a:r>
            <a:r>
              <a:rPr sz="900" spc="-45" dirty="0">
                <a:latin typeface="Arial"/>
                <a:cs typeface="Arial"/>
              </a:rPr>
              <a:t> </a:t>
            </a:r>
            <a:r>
              <a:rPr sz="900" spc="-10" dirty="0">
                <a:latin typeface="Arial"/>
                <a:cs typeface="Arial"/>
              </a:rPr>
              <a:t>28</a:t>
            </a:r>
            <a:r>
              <a:rPr sz="900" spc="-45" dirty="0">
                <a:latin typeface="Arial"/>
                <a:cs typeface="Arial"/>
              </a:rPr>
              <a:t> </a:t>
            </a:r>
            <a:r>
              <a:rPr sz="900" spc="245" dirty="0">
                <a:latin typeface="Apple Symbols"/>
                <a:cs typeface="Apple Symbols"/>
              </a:rPr>
              <a:t>→</a:t>
            </a:r>
            <a:r>
              <a:rPr sz="900" spc="-95" dirty="0">
                <a:latin typeface="Apple Symbols"/>
                <a:cs typeface="Apple Symbols"/>
              </a:rPr>
              <a:t> </a:t>
            </a:r>
            <a:r>
              <a:rPr sz="900" dirty="0">
                <a:latin typeface="Arial"/>
                <a:cs typeface="Arial"/>
              </a:rPr>
              <a:t>1</a:t>
            </a:r>
            <a:r>
              <a:rPr sz="900" spc="-45" dirty="0">
                <a:latin typeface="Arial"/>
                <a:cs typeface="Arial"/>
              </a:rPr>
              <a:t> </a:t>
            </a:r>
            <a:r>
              <a:rPr sz="900" spc="245" dirty="0">
                <a:latin typeface="Apple Symbols"/>
                <a:cs typeface="Apple Symbols"/>
              </a:rPr>
              <a:t>→</a:t>
            </a:r>
            <a:r>
              <a:rPr sz="900" spc="-95" dirty="0">
                <a:latin typeface="Apple Symbols"/>
                <a:cs typeface="Apple Symbols"/>
              </a:rPr>
              <a:t> </a:t>
            </a:r>
            <a:r>
              <a:rPr sz="900" spc="-50" dirty="0">
                <a:latin typeface="Arial"/>
                <a:cs typeface="Arial"/>
              </a:rPr>
              <a:t>4</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93345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Structured</a:t>
            </a:r>
            <a:r>
              <a:rPr sz="500" spc="10" dirty="0">
                <a:latin typeface="Arial"/>
                <a:cs typeface="Arial"/>
                <a:hlinkClick r:id="rId5" action="ppaction://hlinksldjump"/>
              </a:rPr>
              <a:t> </a:t>
            </a:r>
            <a:r>
              <a:rPr sz="500" spc="-10" dirty="0">
                <a:latin typeface="Arial"/>
                <a:cs typeface="Arial"/>
                <a:hlinkClick r:id="rId5" action="ppaction://hlinksldjump"/>
              </a:rPr>
              <a:t>peer-to-</a:t>
            </a:r>
            <a:r>
              <a:rPr sz="500" dirty="0">
                <a:latin typeface="Arial"/>
                <a:cs typeface="Arial"/>
                <a:hlinkClick r:id="rId5" action="ppaction://hlinksldjump"/>
              </a:rPr>
              <a:t>peer</a:t>
            </a:r>
            <a:r>
              <a:rPr sz="500" spc="10" dirty="0">
                <a:latin typeface="Arial"/>
                <a:cs typeface="Arial"/>
                <a:hlinkClick r:id="rId5" action="ppaction://hlinksldjump"/>
              </a:rPr>
              <a:t> </a:t>
            </a:r>
            <a:r>
              <a:rPr sz="500" spc="-10" dirty="0">
                <a:latin typeface="Arial"/>
                <a:cs typeface="Arial"/>
                <a:hlinkClick r:id="rId5" action="ppaction://hlinksldjump"/>
              </a:rPr>
              <a:t>systems</a:t>
            </a:r>
            <a:endParaRPr sz="500">
              <a:latin typeface="Arial"/>
              <a:cs typeface="Arial"/>
            </a:endParaRP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186430" algn="l"/>
              </a:tabLst>
            </a:pPr>
            <a:r>
              <a:rPr sz="500" spc="-10" dirty="0">
                <a:latin typeface="Arial"/>
                <a:cs typeface="Arial"/>
                <a:hlinkClick r:id="rId2" action="ppaction://hlinksldjump"/>
              </a:rPr>
              <a:t>Architectures</a:t>
            </a:r>
            <a:r>
              <a:rPr sz="500" dirty="0">
                <a:latin typeface="Arial"/>
                <a:cs typeface="Arial"/>
              </a:rPr>
              <a:t>	</a:t>
            </a:r>
            <a:r>
              <a:rPr sz="500" dirty="0">
                <a:solidFill>
                  <a:srgbClr val="FFFFFF"/>
                </a:solidFill>
                <a:latin typeface="Arial"/>
                <a:cs typeface="Arial"/>
                <a:hlinkClick r:id="rId3" action="ppaction://hlinksldjump"/>
              </a:rPr>
              <a:t>Symmetrically</a:t>
            </a:r>
            <a:r>
              <a:rPr sz="500" spc="-4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distributed</a:t>
            </a:r>
            <a:r>
              <a:rPr sz="500" spc="-3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system</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architectures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Unstructured</a:t>
            </a:r>
            <a:r>
              <a:rPr spc="-60" dirty="0"/>
              <a:t> </a:t>
            </a:r>
            <a:r>
              <a:rPr spc="-25" dirty="0"/>
              <a:t>P2P</a:t>
            </a:r>
          </a:p>
        </p:txBody>
      </p:sp>
      <p:sp>
        <p:nvSpPr>
          <p:cNvPr id="4" name="object 4"/>
          <p:cNvSpPr txBox="1"/>
          <p:nvPr/>
        </p:nvSpPr>
        <p:spPr>
          <a:xfrm>
            <a:off x="334594" y="499476"/>
            <a:ext cx="3940810" cy="2101215"/>
          </a:xfrm>
          <a:prstGeom prst="rect">
            <a:avLst/>
          </a:prstGeom>
        </p:spPr>
        <p:txBody>
          <a:bodyPr vert="horz" wrap="square" lIns="0" tIns="27305" rIns="0" bIns="0" rtlCol="0">
            <a:spAutoFit/>
          </a:bodyPr>
          <a:lstStyle/>
          <a:p>
            <a:pPr marL="25400">
              <a:lnSpc>
                <a:spcPct val="100000"/>
              </a:lnSpc>
              <a:spcBef>
                <a:spcPts val="215"/>
              </a:spcBef>
            </a:pPr>
            <a:r>
              <a:rPr sz="1000" spc="-10" dirty="0">
                <a:solidFill>
                  <a:srgbClr val="3333B2"/>
                </a:solidFill>
                <a:latin typeface="Arial"/>
                <a:cs typeface="Arial"/>
              </a:rPr>
              <a:t>Essence</a:t>
            </a:r>
            <a:endParaRPr sz="1000">
              <a:latin typeface="Arial"/>
              <a:cs typeface="Arial"/>
            </a:endParaRPr>
          </a:p>
          <a:p>
            <a:pPr marL="25400" marR="17780">
              <a:lnSpc>
                <a:spcPts val="1210"/>
              </a:lnSpc>
              <a:spcBef>
                <a:spcPts val="35"/>
              </a:spcBef>
            </a:pPr>
            <a:r>
              <a:rPr sz="900" dirty="0">
                <a:latin typeface="Arial"/>
                <a:cs typeface="Arial"/>
              </a:rPr>
              <a:t>Each</a:t>
            </a:r>
            <a:r>
              <a:rPr sz="900" spc="-30" dirty="0">
                <a:latin typeface="Arial"/>
                <a:cs typeface="Arial"/>
              </a:rPr>
              <a:t> </a:t>
            </a:r>
            <a:r>
              <a:rPr sz="900" dirty="0">
                <a:latin typeface="Arial"/>
                <a:cs typeface="Arial"/>
              </a:rPr>
              <a:t>node</a:t>
            </a:r>
            <a:r>
              <a:rPr sz="900" spc="-25" dirty="0">
                <a:latin typeface="Arial"/>
                <a:cs typeface="Arial"/>
              </a:rPr>
              <a:t> </a:t>
            </a:r>
            <a:r>
              <a:rPr sz="900" dirty="0">
                <a:latin typeface="Arial"/>
                <a:cs typeface="Arial"/>
              </a:rPr>
              <a:t>maintains</a:t>
            </a:r>
            <a:r>
              <a:rPr sz="900" spc="-25" dirty="0">
                <a:latin typeface="Arial"/>
                <a:cs typeface="Arial"/>
              </a:rPr>
              <a:t> </a:t>
            </a:r>
            <a:r>
              <a:rPr sz="900" dirty="0">
                <a:latin typeface="Arial"/>
                <a:cs typeface="Arial"/>
              </a:rPr>
              <a:t>an</a:t>
            </a:r>
            <a:r>
              <a:rPr sz="900" spc="-25" dirty="0">
                <a:latin typeface="Arial"/>
                <a:cs typeface="Arial"/>
              </a:rPr>
              <a:t> </a:t>
            </a:r>
            <a:r>
              <a:rPr sz="900" dirty="0">
                <a:latin typeface="Arial"/>
                <a:cs typeface="Arial"/>
              </a:rPr>
              <a:t>ad</a:t>
            </a:r>
            <a:r>
              <a:rPr sz="900" spc="-30" dirty="0">
                <a:latin typeface="Arial"/>
                <a:cs typeface="Arial"/>
              </a:rPr>
              <a:t> </a:t>
            </a:r>
            <a:r>
              <a:rPr sz="900" dirty="0">
                <a:latin typeface="Arial"/>
                <a:cs typeface="Arial"/>
              </a:rPr>
              <a:t>hoc</a:t>
            </a:r>
            <a:r>
              <a:rPr sz="900" spc="-25" dirty="0">
                <a:latin typeface="Arial"/>
                <a:cs typeface="Arial"/>
              </a:rPr>
              <a:t> </a:t>
            </a:r>
            <a:r>
              <a:rPr sz="900" dirty="0">
                <a:latin typeface="Arial"/>
                <a:cs typeface="Arial"/>
              </a:rPr>
              <a:t>list</a:t>
            </a:r>
            <a:r>
              <a:rPr sz="900" spc="-25"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neighbors.</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resulting</a:t>
            </a:r>
            <a:r>
              <a:rPr sz="900" spc="-25" dirty="0">
                <a:latin typeface="Arial"/>
                <a:cs typeface="Arial"/>
              </a:rPr>
              <a:t> </a:t>
            </a:r>
            <a:r>
              <a:rPr sz="900" spc="-10" dirty="0">
                <a:latin typeface="Arial"/>
                <a:cs typeface="Arial"/>
              </a:rPr>
              <a:t>overlay </a:t>
            </a:r>
            <a:r>
              <a:rPr sz="900" spc="-20" dirty="0">
                <a:latin typeface="Arial"/>
                <a:cs typeface="Arial"/>
              </a:rPr>
              <a:t>resembles</a:t>
            </a:r>
            <a:r>
              <a:rPr sz="900" spc="-45" dirty="0">
                <a:latin typeface="Arial"/>
                <a:cs typeface="Arial"/>
              </a:rPr>
              <a:t> </a:t>
            </a:r>
            <a:r>
              <a:rPr sz="900" dirty="0">
                <a:latin typeface="Arial"/>
                <a:cs typeface="Arial"/>
              </a:rPr>
              <a:t>a</a:t>
            </a:r>
            <a:r>
              <a:rPr sz="900" spc="-35" dirty="0">
                <a:latin typeface="Arial"/>
                <a:cs typeface="Arial"/>
              </a:rPr>
              <a:t> </a:t>
            </a:r>
            <a:r>
              <a:rPr sz="900" spc="-10" dirty="0">
                <a:solidFill>
                  <a:srgbClr val="C80000"/>
                </a:solidFill>
                <a:latin typeface="Arial"/>
                <a:cs typeface="Arial"/>
              </a:rPr>
              <a:t>random</a:t>
            </a:r>
            <a:r>
              <a:rPr sz="900" spc="-30" dirty="0">
                <a:solidFill>
                  <a:srgbClr val="C80000"/>
                </a:solidFill>
                <a:latin typeface="Arial"/>
                <a:cs typeface="Arial"/>
              </a:rPr>
              <a:t> </a:t>
            </a:r>
            <a:r>
              <a:rPr sz="900" dirty="0">
                <a:solidFill>
                  <a:srgbClr val="C80000"/>
                </a:solidFill>
                <a:latin typeface="Arial"/>
                <a:cs typeface="Arial"/>
              </a:rPr>
              <a:t>graph</a:t>
            </a:r>
            <a:r>
              <a:rPr sz="900" dirty="0">
                <a:latin typeface="Arial"/>
                <a:cs typeface="Arial"/>
              </a:rPr>
              <a:t>:</a:t>
            </a:r>
            <a:r>
              <a:rPr sz="900" spc="25" dirty="0">
                <a:latin typeface="Arial"/>
                <a:cs typeface="Arial"/>
              </a:rPr>
              <a:t> </a:t>
            </a:r>
            <a:r>
              <a:rPr sz="900" dirty="0">
                <a:latin typeface="Arial"/>
                <a:cs typeface="Arial"/>
              </a:rPr>
              <a:t>an</a:t>
            </a:r>
            <a:r>
              <a:rPr sz="900" spc="-25" dirty="0">
                <a:latin typeface="Arial"/>
                <a:cs typeface="Arial"/>
              </a:rPr>
              <a:t> </a:t>
            </a:r>
            <a:r>
              <a:rPr sz="900" spc="-10" dirty="0">
                <a:latin typeface="Arial"/>
                <a:cs typeface="Arial"/>
              </a:rPr>
              <a:t>edge</a:t>
            </a:r>
            <a:r>
              <a:rPr sz="900" spc="-30" dirty="0">
                <a:latin typeface="Arial"/>
                <a:cs typeface="Arial"/>
              </a:rPr>
              <a:t> </a:t>
            </a:r>
            <a:r>
              <a:rPr sz="900" dirty="0">
                <a:latin typeface="Apple Symbols"/>
                <a:cs typeface="Apple Symbols"/>
              </a:rPr>
              <a:t>⟨</a:t>
            </a:r>
            <a:r>
              <a:rPr sz="900" i="1" dirty="0">
                <a:latin typeface="Arial"/>
                <a:cs typeface="Arial"/>
              </a:rPr>
              <a:t>u,</a:t>
            </a:r>
            <a:r>
              <a:rPr sz="900" i="1" spc="-155" dirty="0">
                <a:latin typeface="Arial"/>
                <a:cs typeface="Arial"/>
              </a:rPr>
              <a:t> </a:t>
            </a:r>
            <a:r>
              <a:rPr sz="900" i="1" spc="-10" dirty="0">
                <a:latin typeface="Arial"/>
                <a:cs typeface="Arial"/>
              </a:rPr>
              <a:t>v</a:t>
            </a:r>
            <a:r>
              <a:rPr sz="900" i="1" spc="-160" dirty="0">
                <a:latin typeface="Arial"/>
                <a:cs typeface="Arial"/>
              </a:rPr>
              <a:t> </a:t>
            </a:r>
            <a:r>
              <a:rPr sz="900" dirty="0">
                <a:latin typeface="Apple Symbols"/>
                <a:cs typeface="Apple Symbols"/>
              </a:rPr>
              <a:t>⟩</a:t>
            </a:r>
            <a:r>
              <a:rPr sz="900" spc="-75" dirty="0">
                <a:latin typeface="Apple Symbols"/>
                <a:cs typeface="Apple Symbols"/>
              </a:rPr>
              <a:t> </a:t>
            </a:r>
            <a:r>
              <a:rPr sz="900" spc="-10" dirty="0">
                <a:latin typeface="Arial"/>
                <a:cs typeface="Arial"/>
              </a:rPr>
              <a:t>exists</a:t>
            </a:r>
            <a:r>
              <a:rPr sz="900" spc="-30" dirty="0">
                <a:latin typeface="Arial"/>
                <a:cs typeface="Arial"/>
              </a:rPr>
              <a:t> </a:t>
            </a:r>
            <a:r>
              <a:rPr sz="900" dirty="0">
                <a:latin typeface="Arial"/>
                <a:cs typeface="Arial"/>
              </a:rPr>
              <a:t>only</a:t>
            </a:r>
            <a:r>
              <a:rPr sz="900" spc="-25" dirty="0">
                <a:latin typeface="Arial"/>
                <a:cs typeface="Arial"/>
              </a:rPr>
              <a:t> </a:t>
            </a:r>
            <a:r>
              <a:rPr sz="900" dirty="0">
                <a:latin typeface="Arial"/>
                <a:cs typeface="Arial"/>
              </a:rPr>
              <a:t>with</a:t>
            </a:r>
            <a:r>
              <a:rPr sz="900" spc="-30"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certain</a:t>
            </a:r>
            <a:r>
              <a:rPr sz="900" spc="-25" dirty="0">
                <a:latin typeface="Arial"/>
                <a:cs typeface="Arial"/>
              </a:rPr>
              <a:t> </a:t>
            </a:r>
            <a:r>
              <a:rPr sz="900" spc="-10" dirty="0">
                <a:latin typeface="Arial"/>
                <a:cs typeface="Arial"/>
              </a:rPr>
              <a:t>probability </a:t>
            </a:r>
            <a:r>
              <a:rPr sz="900" dirty="0">
                <a:latin typeface="Arial"/>
                <a:cs typeface="Arial"/>
              </a:rPr>
              <a:t>P[</a:t>
            </a:r>
            <a:r>
              <a:rPr sz="900" dirty="0">
                <a:latin typeface="Apple Symbols"/>
                <a:cs typeface="Apple Symbols"/>
              </a:rPr>
              <a:t>⟨</a:t>
            </a:r>
            <a:r>
              <a:rPr sz="900" i="1" dirty="0">
                <a:latin typeface="Arial"/>
                <a:cs typeface="Arial"/>
              </a:rPr>
              <a:t>u,</a:t>
            </a:r>
            <a:r>
              <a:rPr sz="900" i="1" spc="-150" dirty="0">
                <a:latin typeface="Arial"/>
                <a:cs typeface="Arial"/>
              </a:rPr>
              <a:t> </a:t>
            </a:r>
            <a:r>
              <a:rPr sz="900" i="1" spc="-10" dirty="0">
                <a:latin typeface="Arial"/>
                <a:cs typeface="Arial"/>
              </a:rPr>
              <a:t>v</a:t>
            </a:r>
            <a:r>
              <a:rPr sz="900" i="1" spc="-155" dirty="0">
                <a:latin typeface="Arial"/>
                <a:cs typeface="Arial"/>
              </a:rPr>
              <a:t> </a:t>
            </a:r>
            <a:r>
              <a:rPr sz="900" spc="-25" dirty="0">
                <a:latin typeface="Apple Symbols"/>
                <a:cs typeface="Apple Symbols"/>
              </a:rPr>
              <a:t>⟩</a:t>
            </a:r>
            <a:r>
              <a:rPr sz="900" spc="-25" dirty="0">
                <a:latin typeface="Arial"/>
                <a:cs typeface="Arial"/>
              </a:rPr>
              <a:t>].</a:t>
            </a:r>
            <a:endParaRPr sz="900">
              <a:latin typeface="Arial"/>
              <a:cs typeface="Arial"/>
            </a:endParaRPr>
          </a:p>
          <a:p>
            <a:pPr marL="25400">
              <a:lnSpc>
                <a:spcPct val="100000"/>
              </a:lnSpc>
              <a:spcBef>
                <a:spcPts val="745"/>
              </a:spcBef>
            </a:pPr>
            <a:r>
              <a:rPr sz="1000" spc="-10" dirty="0">
                <a:solidFill>
                  <a:srgbClr val="3333B2"/>
                </a:solidFill>
                <a:latin typeface="Arial"/>
                <a:cs typeface="Arial"/>
              </a:rPr>
              <a:t>Searching</a:t>
            </a:r>
            <a:endParaRPr sz="1000">
              <a:latin typeface="Arial"/>
              <a:cs typeface="Arial"/>
            </a:endParaRPr>
          </a:p>
          <a:p>
            <a:pPr marL="278130" marR="39370" indent="-120650">
              <a:lnSpc>
                <a:spcPct val="111600"/>
              </a:lnSpc>
              <a:spcBef>
                <a:spcPts val="580"/>
              </a:spcBef>
              <a:buClr>
                <a:srgbClr val="3333B2"/>
              </a:buClr>
              <a:buFont typeface="Apple Symbols"/>
              <a:buChar char="•"/>
              <a:tabLst>
                <a:tab pos="278765" algn="l"/>
              </a:tabLst>
            </a:pPr>
            <a:r>
              <a:rPr sz="900" dirty="0">
                <a:solidFill>
                  <a:srgbClr val="C80000"/>
                </a:solidFill>
                <a:latin typeface="Arial"/>
                <a:cs typeface="Arial"/>
              </a:rPr>
              <a:t>Flooding</a:t>
            </a:r>
            <a:r>
              <a:rPr sz="900" dirty="0">
                <a:latin typeface="Arial"/>
                <a:cs typeface="Arial"/>
              </a:rPr>
              <a:t>:</a:t>
            </a:r>
            <a:r>
              <a:rPr sz="900" spc="25" dirty="0">
                <a:latin typeface="Arial"/>
                <a:cs typeface="Arial"/>
              </a:rPr>
              <a:t> </a:t>
            </a:r>
            <a:r>
              <a:rPr sz="900" dirty="0">
                <a:latin typeface="Arial"/>
                <a:cs typeface="Arial"/>
              </a:rPr>
              <a:t>issuing</a:t>
            </a:r>
            <a:r>
              <a:rPr sz="900" spc="-25" dirty="0">
                <a:latin typeface="Arial"/>
                <a:cs typeface="Arial"/>
              </a:rPr>
              <a:t> </a:t>
            </a:r>
            <a:r>
              <a:rPr sz="900" dirty="0">
                <a:latin typeface="Arial"/>
                <a:cs typeface="Arial"/>
              </a:rPr>
              <a:t>node</a:t>
            </a:r>
            <a:r>
              <a:rPr sz="900" spc="-30" dirty="0">
                <a:latin typeface="Arial"/>
                <a:cs typeface="Arial"/>
              </a:rPr>
              <a:t> </a:t>
            </a:r>
            <a:r>
              <a:rPr sz="900" i="1" dirty="0">
                <a:latin typeface="Arial"/>
                <a:cs typeface="Arial"/>
              </a:rPr>
              <a:t>u</a:t>
            </a:r>
            <a:r>
              <a:rPr sz="900" i="1" spc="10" dirty="0">
                <a:latin typeface="Arial"/>
                <a:cs typeface="Arial"/>
              </a:rPr>
              <a:t> </a:t>
            </a:r>
            <a:r>
              <a:rPr sz="900" dirty="0">
                <a:latin typeface="Arial"/>
                <a:cs typeface="Arial"/>
              </a:rPr>
              <a:t>passes</a:t>
            </a:r>
            <a:r>
              <a:rPr sz="900" spc="-30" dirty="0">
                <a:latin typeface="Arial"/>
                <a:cs typeface="Arial"/>
              </a:rPr>
              <a:t> </a:t>
            </a:r>
            <a:r>
              <a:rPr sz="900" dirty="0">
                <a:latin typeface="Arial"/>
                <a:cs typeface="Arial"/>
              </a:rPr>
              <a:t>request</a:t>
            </a:r>
            <a:r>
              <a:rPr sz="900" spc="-25" dirty="0">
                <a:latin typeface="Arial"/>
                <a:cs typeface="Arial"/>
              </a:rPr>
              <a:t> </a:t>
            </a:r>
            <a:r>
              <a:rPr sz="900" dirty="0">
                <a:latin typeface="Arial"/>
                <a:cs typeface="Arial"/>
              </a:rPr>
              <a:t>for</a:t>
            </a:r>
            <a:r>
              <a:rPr sz="900" spc="-25" dirty="0">
                <a:latin typeface="Arial"/>
                <a:cs typeface="Arial"/>
              </a:rPr>
              <a:t> </a:t>
            </a:r>
            <a:r>
              <a:rPr sz="900" i="1" dirty="0">
                <a:latin typeface="Arial"/>
                <a:cs typeface="Arial"/>
              </a:rPr>
              <a:t>d</a:t>
            </a:r>
            <a:r>
              <a:rPr sz="900" i="1" spc="5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all</a:t>
            </a:r>
            <a:r>
              <a:rPr sz="900" spc="-25" dirty="0">
                <a:latin typeface="Arial"/>
                <a:cs typeface="Arial"/>
              </a:rPr>
              <a:t> </a:t>
            </a:r>
            <a:r>
              <a:rPr sz="900" dirty="0">
                <a:latin typeface="Arial"/>
                <a:cs typeface="Arial"/>
              </a:rPr>
              <a:t>neighbors.</a:t>
            </a:r>
            <a:r>
              <a:rPr sz="900" spc="25" dirty="0">
                <a:latin typeface="Arial"/>
                <a:cs typeface="Arial"/>
              </a:rPr>
              <a:t> </a:t>
            </a:r>
            <a:r>
              <a:rPr sz="900" spc="-10" dirty="0">
                <a:latin typeface="Arial"/>
                <a:cs typeface="Arial"/>
              </a:rPr>
              <a:t>Request </a:t>
            </a:r>
            <a:r>
              <a:rPr sz="900" dirty="0">
                <a:latin typeface="Arial"/>
                <a:cs typeface="Arial"/>
              </a:rPr>
              <a:t>is</a:t>
            </a:r>
            <a:r>
              <a:rPr sz="900" spc="-25" dirty="0">
                <a:latin typeface="Arial"/>
                <a:cs typeface="Arial"/>
              </a:rPr>
              <a:t> </a:t>
            </a:r>
            <a:r>
              <a:rPr sz="900" dirty="0">
                <a:latin typeface="Arial"/>
                <a:cs typeface="Arial"/>
              </a:rPr>
              <a:t>ignored</a:t>
            </a:r>
            <a:r>
              <a:rPr sz="900" spc="-25" dirty="0">
                <a:latin typeface="Arial"/>
                <a:cs typeface="Arial"/>
              </a:rPr>
              <a:t> </a:t>
            </a:r>
            <a:r>
              <a:rPr sz="900" dirty="0">
                <a:latin typeface="Arial"/>
                <a:cs typeface="Arial"/>
              </a:rPr>
              <a:t>when</a:t>
            </a:r>
            <a:r>
              <a:rPr sz="900" spc="-20" dirty="0">
                <a:latin typeface="Arial"/>
                <a:cs typeface="Arial"/>
              </a:rPr>
              <a:t> </a:t>
            </a:r>
            <a:r>
              <a:rPr sz="900" dirty="0">
                <a:latin typeface="Arial"/>
                <a:cs typeface="Arial"/>
              </a:rPr>
              <a:t>receiving</a:t>
            </a:r>
            <a:r>
              <a:rPr sz="900" spc="-25" dirty="0">
                <a:latin typeface="Arial"/>
                <a:cs typeface="Arial"/>
              </a:rPr>
              <a:t> </a:t>
            </a:r>
            <a:r>
              <a:rPr sz="900" dirty="0">
                <a:latin typeface="Arial"/>
                <a:cs typeface="Arial"/>
              </a:rPr>
              <a:t>node</a:t>
            </a:r>
            <a:r>
              <a:rPr sz="900" spc="-20" dirty="0">
                <a:latin typeface="Arial"/>
                <a:cs typeface="Arial"/>
              </a:rPr>
              <a:t> </a:t>
            </a:r>
            <a:r>
              <a:rPr sz="900" dirty="0">
                <a:latin typeface="Arial"/>
                <a:cs typeface="Arial"/>
              </a:rPr>
              <a:t>had</a:t>
            </a:r>
            <a:r>
              <a:rPr sz="900" spc="-25" dirty="0">
                <a:latin typeface="Arial"/>
                <a:cs typeface="Arial"/>
              </a:rPr>
              <a:t> </a:t>
            </a:r>
            <a:r>
              <a:rPr sz="900" dirty="0">
                <a:latin typeface="Arial"/>
                <a:cs typeface="Arial"/>
              </a:rPr>
              <a:t>seen</a:t>
            </a:r>
            <a:r>
              <a:rPr sz="900" spc="-25" dirty="0">
                <a:latin typeface="Arial"/>
                <a:cs typeface="Arial"/>
              </a:rPr>
              <a:t> </a:t>
            </a:r>
            <a:r>
              <a:rPr sz="900" dirty="0">
                <a:latin typeface="Arial"/>
                <a:cs typeface="Arial"/>
              </a:rPr>
              <a:t>it</a:t>
            </a:r>
            <a:r>
              <a:rPr sz="900" spc="-20" dirty="0">
                <a:latin typeface="Arial"/>
                <a:cs typeface="Arial"/>
              </a:rPr>
              <a:t> </a:t>
            </a:r>
            <a:r>
              <a:rPr sz="900" dirty="0">
                <a:latin typeface="Arial"/>
                <a:cs typeface="Arial"/>
              </a:rPr>
              <a:t>before.</a:t>
            </a:r>
            <a:r>
              <a:rPr sz="900" spc="30" dirty="0">
                <a:latin typeface="Arial"/>
                <a:cs typeface="Arial"/>
              </a:rPr>
              <a:t> </a:t>
            </a:r>
            <a:r>
              <a:rPr sz="900" spc="-10" dirty="0">
                <a:latin typeface="Arial"/>
                <a:cs typeface="Arial"/>
              </a:rPr>
              <a:t>Otherwise,</a:t>
            </a:r>
            <a:r>
              <a:rPr sz="900" spc="-20" dirty="0">
                <a:latin typeface="Arial"/>
                <a:cs typeface="Arial"/>
              </a:rPr>
              <a:t> </a:t>
            </a:r>
            <a:r>
              <a:rPr sz="900" i="1" spc="-50" dirty="0">
                <a:latin typeface="Arial"/>
                <a:cs typeface="Arial"/>
              </a:rPr>
              <a:t>v</a:t>
            </a:r>
            <a:r>
              <a:rPr sz="900" i="1" dirty="0">
                <a:latin typeface="Arial"/>
                <a:cs typeface="Arial"/>
              </a:rPr>
              <a:t> </a:t>
            </a:r>
            <a:r>
              <a:rPr sz="900" dirty="0">
                <a:latin typeface="Arial"/>
                <a:cs typeface="Arial"/>
              </a:rPr>
              <a:t>searches</a:t>
            </a:r>
            <a:r>
              <a:rPr sz="900" spc="-30" dirty="0">
                <a:latin typeface="Arial"/>
                <a:cs typeface="Arial"/>
              </a:rPr>
              <a:t> </a:t>
            </a:r>
            <a:r>
              <a:rPr sz="900" dirty="0">
                <a:latin typeface="Arial"/>
                <a:cs typeface="Arial"/>
              </a:rPr>
              <a:t>locally</a:t>
            </a:r>
            <a:r>
              <a:rPr sz="900" spc="-30" dirty="0">
                <a:latin typeface="Arial"/>
                <a:cs typeface="Arial"/>
              </a:rPr>
              <a:t> </a:t>
            </a:r>
            <a:r>
              <a:rPr sz="900" dirty="0">
                <a:latin typeface="Arial"/>
                <a:cs typeface="Arial"/>
              </a:rPr>
              <a:t>for</a:t>
            </a:r>
            <a:r>
              <a:rPr sz="900" spc="-30" dirty="0">
                <a:latin typeface="Arial"/>
                <a:cs typeface="Arial"/>
              </a:rPr>
              <a:t> </a:t>
            </a:r>
            <a:r>
              <a:rPr sz="900" i="1" dirty="0">
                <a:latin typeface="Arial"/>
                <a:cs typeface="Arial"/>
              </a:rPr>
              <a:t>d</a:t>
            </a:r>
            <a:r>
              <a:rPr sz="900" i="1" spc="50" dirty="0">
                <a:latin typeface="Arial"/>
                <a:cs typeface="Arial"/>
              </a:rPr>
              <a:t> </a:t>
            </a:r>
            <a:r>
              <a:rPr sz="900" dirty="0">
                <a:latin typeface="Arial"/>
                <a:cs typeface="Arial"/>
              </a:rPr>
              <a:t>(recursively).</a:t>
            </a:r>
            <a:r>
              <a:rPr sz="900" spc="25" dirty="0">
                <a:latin typeface="Arial"/>
                <a:cs typeface="Arial"/>
              </a:rPr>
              <a:t> </a:t>
            </a:r>
            <a:r>
              <a:rPr sz="900" dirty="0">
                <a:latin typeface="Arial"/>
                <a:cs typeface="Arial"/>
              </a:rPr>
              <a:t>May</a:t>
            </a:r>
            <a:r>
              <a:rPr sz="900" spc="-30" dirty="0">
                <a:latin typeface="Arial"/>
                <a:cs typeface="Arial"/>
              </a:rPr>
              <a:t> </a:t>
            </a:r>
            <a:r>
              <a:rPr sz="900" dirty="0">
                <a:latin typeface="Arial"/>
                <a:cs typeface="Arial"/>
              </a:rPr>
              <a:t>be</a:t>
            </a:r>
            <a:r>
              <a:rPr sz="900" spc="-30" dirty="0">
                <a:latin typeface="Arial"/>
                <a:cs typeface="Arial"/>
              </a:rPr>
              <a:t> </a:t>
            </a:r>
            <a:r>
              <a:rPr sz="900" dirty="0">
                <a:latin typeface="Arial"/>
                <a:cs typeface="Arial"/>
              </a:rPr>
              <a:t>limited</a:t>
            </a:r>
            <a:r>
              <a:rPr sz="900" spc="-30" dirty="0">
                <a:latin typeface="Arial"/>
                <a:cs typeface="Arial"/>
              </a:rPr>
              <a:t> </a:t>
            </a:r>
            <a:r>
              <a:rPr sz="900" dirty="0">
                <a:latin typeface="Arial"/>
                <a:cs typeface="Arial"/>
              </a:rPr>
              <a:t>by</a:t>
            </a:r>
            <a:r>
              <a:rPr sz="900" spc="-30" dirty="0">
                <a:latin typeface="Arial"/>
                <a:cs typeface="Arial"/>
              </a:rPr>
              <a:t> </a:t>
            </a:r>
            <a:r>
              <a:rPr sz="900" dirty="0">
                <a:latin typeface="Arial"/>
                <a:cs typeface="Arial"/>
              </a:rPr>
              <a:t>a</a:t>
            </a:r>
            <a:r>
              <a:rPr sz="900" spc="-30" dirty="0">
                <a:latin typeface="Arial"/>
                <a:cs typeface="Arial"/>
              </a:rPr>
              <a:t> </a:t>
            </a:r>
            <a:r>
              <a:rPr sz="900" spc="-10" dirty="0">
                <a:solidFill>
                  <a:srgbClr val="C80000"/>
                </a:solidFill>
                <a:latin typeface="Arial"/>
                <a:cs typeface="Arial"/>
              </a:rPr>
              <a:t>Time-</a:t>
            </a:r>
            <a:r>
              <a:rPr sz="900" spc="-50" dirty="0">
                <a:solidFill>
                  <a:srgbClr val="C80000"/>
                </a:solidFill>
                <a:latin typeface="Arial"/>
                <a:cs typeface="Arial"/>
              </a:rPr>
              <a:t>To-</a:t>
            </a:r>
            <a:r>
              <a:rPr sz="900" dirty="0">
                <a:solidFill>
                  <a:srgbClr val="C80000"/>
                </a:solidFill>
                <a:latin typeface="Arial"/>
                <a:cs typeface="Arial"/>
              </a:rPr>
              <a:t>Live</a:t>
            </a:r>
            <a:r>
              <a:rPr sz="900" dirty="0">
                <a:latin typeface="Arial"/>
                <a:cs typeface="Arial"/>
              </a:rPr>
              <a:t>:</a:t>
            </a:r>
            <a:r>
              <a:rPr sz="900" spc="25" dirty="0">
                <a:latin typeface="Arial"/>
                <a:cs typeface="Arial"/>
              </a:rPr>
              <a:t> </a:t>
            </a:r>
            <a:r>
              <a:rPr sz="900" spc="-50" dirty="0">
                <a:latin typeface="Arial"/>
                <a:cs typeface="Arial"/>
              </a:rPr>
              <a:t>a</a:t>
            </a:r>
            <a:r>
              <a:rPr sz="900" dirty="0">
                <a:latin typeface="Arial"/>
                <a:cs typeface="Arial"/>
              </a:rPr>
              <a:t> maximum</a:t>
            </a:r>
            <a:r>
              <a:rPr sz="900" spc="-40" dirty="0">
                <a:latin typeface="Arial"/>
                <a:cs typeface="Arial"/>
              </a:rPr>
              <a:t> </a:t>
            </a:r>
            <a:r>
              <a:rPr sz="900" dirty="0">
                <a:latin typeface="Arial"/>
                <a:cs typeface="Arial"/>
              </a:rPr>
              <a:t>number</a:t>
            </a:r>
            <a:r>
              <a:rPr sz="900" spc="-35" dirty="0">
                <a:latin typeface="Arial"/>
                <a:cs typeface="Arial"/>
              </a:rPr>
              <a:t> </a:t>
            </a:r>
            <a:r>
              <a:rPr sz="900" dirty="0">
                <a:latin typeface="Arial"/>
                <a:cs typeface="Arial"/>
              </a:rPr>
              <a:t>of</a:t>
            </a:r>
            <a:r>
              <a:rPr sz="900" spc="-40" dirty="0">
                <a:latin typeface="Arial"/>
                <a:cs typeface="Arial"/>
              </a:rPr>
              <a:t> </a:t>
            </a:r>
            <a:r>
              <a:rPr sz="900" spc="-20" dirty="0">
                <a:latin typeface="Arial"/>
                <a:cs typeface="Arial"/>
              </a:rPr>
              <a:t>hops.</a:t>
            </a:r>
            <a:endParaRPr sz="900">
              <a:latin typeface="Arial"/>
              <a:cs typeface="Arial"/>
            </a:endParaRPr>
          </a:p>
          <a:p>
            <a:pPr marL="278130" marR="60960" indent="-120650">
              <a:lnSpc>
                <a:spcPct val="111600"/>
              </a:lnSpc>
              <a:spcBef>
                <a:spcPts val="400"/>
              </a:spcBef>
              <a:buClr>
                <a:srgbClr val="3333B2"/>
              </a:buClr>
              <a:buFont typeface="Apple Symbols"/>
              <a:buChar char="•"/>
              <a:tabLst>
                <a:tab pos="278765" algn="l"/>
              </a:tabLst>
            </a:pPr>
            <a:r>
              <a:rPr sz="900" dirty="0">
                <a:solidFill>
                  <a:srgbClr val="C80000"/>
                </a:solidFill>
                <a:latin typeface="Arial"/>
                <a:cs typeface="Arial"/>
              </a:rPr>
              <a:t>Random</a:t>
            </a:r>
            <a:r>
              <a:rPr sz="900" spc="-30" dirty="0">
                <a:solidFill>
                  <a:srgbClr val="C80000"/>
                </a:solidFill>
                <a:latin typeface="Arial"/>
                <a:cs typeface="Arial"/>
              </a:rPr>
              <a:t> </a:t>
            </a:r>
            <a:r>
              <a:rPr sz="900" dirty="0">
                <a:solidFill>
                  <a:srgbClr val="C80000"/>
                </a:solidFill>
                <a:latin typeface="Arial"/>
                <a:cs typeface="Arial"/>
              </a:rPr>
              <a:t>walk</a:t>
            </a:r>
            <a:r>
              <a:rPr sz="900" dirty="0">
                <a:latin typeface="Arial"/>
                <a:cs typeface="Arial"/>
              </a:rPr>
              <a:t>:</a:t>
            </a:r>
            <a:r>
              <a:rPr sz="900" spc="25" dirty="0">
                <a:latin typeface="Arial"/>
                <a:cs typeface="Arial"/>
              </a:rPr>
              <a:t> </a:t>
            </a:r>
            <a:r>
              <a:rPr sz="900" dirty="0">
                <a:latin typeface="Arial"/>
                <a:cs typeface="Arial"/>
              </a:rPr>
              <a:t>issuing</a:t>
            </a:r>
            <a:r>
              <a:rPr sz="900" spc="-30" dirty="0">
                <a:latin typeface="Arial"/>
                <a:cs typeface="Arial"/>
              </a:rPr>
              <a:t> </a:t>
            </a:r>
            <a:r>
              <a:rPr sz="900" dirty="0">
                <a:latin typeface="Arial"/>
                <a:cs typeface="Arial"/>
              </a:rPr>
              <a:t>node</a:t>
            </a:r>
            <a:r>
              <a:rPr sz="900" spc="-30" dirty="0">
                <a:latin typeface="Arial"/>
                <a:cs typeface="Arial"/>
              </a:rPr>
              <a:t> </a:t>
            </a:r>
            <a:r>
              <a:rPr sz="900" i="1" dirty="0">
                <a:latin typeface="Arial"/>
                <a:cs typeface="Arial"/>
              </a:rPr>
              <a:t>u</a:t>
            </a:r>
            <a:r>
              <a:rPr sz="900" i="1" spc="10" dirty="0">
                <a:latin typeface="Arial"/>
                <a:cs typeface="Arial"/>
              </a:rPr>
              <a:t> </a:t>
            </a:r>
            <a:r>
              <a:rPr sz="900" dirty="0">
                <a:latin typeface="Arial"/>
                <a:cs typeface="Arial"/>
              </a:rPr>
              <a:t>passes</a:t>
            </a:r>
            <a:r>
              <a:rPr sz="900" spc="-30" dirty="0">
                <a:latin typeface="Arial"/>
                <a:cs typeface="Arial"/>
              </a:rPr>
              <a:t> </a:t>
            </a:r>
            <a:r>
              <a:rPr sz="900" dirty="0">
                <a:latin typeface="Arial"/>
                <a:cs typeface="Arial"/>
              </a:rPr>
              <a:t>request</a:t>
            </a:r>
            <a:r>
              <a:rPr sz="900" spc="-30" dirty="0">
                <a:latin typeface="Arial"/>
                <a:cs typeface="Arial"/>
              </a:rPr>
              <a:t> </a:t>
            </a:r>
            <a:r>
              <a:rPr sz="900" dirty="0">
                <a:latin typeface="Arial"/>
                <a:cs typeface="Arial"/>
              </a:rPr>
              <a:t>for</a:t>
            </a:r>
            <a:r>
              <a:rPr sz="900" spc="-30" dirty="0">
                <a:latin typeface="Arial"/>
                <a:cs typeface="Arial"/>
              </a:rPr>
              <a:t> </a:t>
            </a:r>
            <a:r>
              <a:rPr sz="900" i="1" dirty="0">
                <a:latin typeface="Arial"/>
                <a:cs typeface="Arial"/>
              </a:rPr>
              <a:t>d</a:t>
            </a:r>
            <a:r>
              <a:rPr sz="900" i="1" spc="55"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randomly</a:t>
            </a:r>
            <a:r>
              <a:rPr sz="900" spc="-30" dirty="0">
                <a:latin typeface="Arial"/>
                <a:cs typeface="Arial"/>
              </a:rPr>
              <a:t> </a:t>
            </a:r>
            <a:r>
              <a:rPr sz="900" spc="-10" dirty="0">
                <a:latin typeface="Arial"/>
                <a:cs typeface="Arial"/>
              </a:rPr>
              <a:t>chosen neighbor,</a:t>
            </a:r>
            <a:r>
              <a:rPr sz="900" spc="-20" dirty="0">
                <a:latin typeface="Arial"/>
                <a:cs typeface="Arial"/>
              </a:rPr>
              <a:t> </a:t>
            </a:r>
            <a:r>
              <a:rPr sz="900" i="1" spc="-10" dirty="0">
                <a:latin typeface="Arial"/>
                <a:cs typeface="Arial"/>
              </a:rPr>
              <a:t>v</a:t>
            </a:r>
            <a:r>
              <a:rPr sz="900" i="1" spc="-160" dirty="0">
                <a:latin typeface="Arial"/>
                <a:cs typeface="Arial"/>
              </a:rPr>
              <a:t> </a:t>
            </a:r>
            <a:r>
              <a:rPr sz="900" dirty="0">
                <a:latin typeface="Arial"/>
                <a:cs typeface="Arial"/>
              </a:rPr>
              <a:t>.</a:t>
            </a:r>
            <a:r>
              <a:rPr sz="900" spc="45" dirty="0">
                <a:latin typeface="Arial"/>
                <a:cs typeface="Arial"/>
              </a:rPr>
              <a:t> </a:t>
            </a:r>
            <a:r>
              <a:rPr sz="900" dirty="0">
                <a:latin typeface="Arial"/>
                <a:cs typeface="Arial"/>
              </a:rPr>
              <a:t>If</a:t>
            </a:r>
            <a:r>
              <a:rPr sz="900" spc="-15" dirty="0">
                <a:latin typeface="Arial"/>
                <a:cs typeface="Arial"/>
              </a:rPr>
              <a:t> </a:t>
            </a:r>
            <a:r>
              <a:rPr sz="900" i="1" dirty="0">
                <a:latin typeface="Arial"/>
                <a:cs typeface="Arial"/>
              </a:rPr>
              <a:t>v</a:t>
            </a:r>
            <a:r>
              <a:rPr sz="900" i="1" spc="80" dirty="0">
                <a:latin typeface="Arial"/>
                <a:cs typeface="Arial"/>
              </a:rPr>
              <a:t> </a:t>
            </a:r>
            <a:r>
              <a:rPr sz="900" dirty="0">
                <a:latin typeface="Arial"/>
                <a:cs typeface="Arial"/>
              </a:rPr>
              <a:t>does</a:t>
            </a:r>
            <a:r>
              <a:rPr sz="900" spc="-10" dirty="0">
                <a:latin typeface="Arial"/>
                <a:cs typeface="Arial"/>
              </a:rPr>
              <a:t> </a:t>
            </a:r>
            <a:r>
              <a:rPr sz="900" dirty="0">
                <a:latin typeface="Arial"/>
                <a:cs typeface="Arial"/>
              </a:rPr>
              <a:t>not</a:t>
            </a:r>
            <a:r>
              <a:rPr sz="900" spc="-15" dirty="0">
                <a:latin typeface="Arial"/>
                <a:cs typeface="Arial"/>
              </a:rPr>
              <a:t> </a:t>
            </a:r>
            <a:r>
              <a:rPr sz="900" spc="-10" dirty="0">
                <a:latin typeface="Arial"/>
                <a:cs typeface="Arial"/>
              </a:rPr>
              <a:t>have </a:t>
            </a:r>
            <a:r>
              <a:rPr sz="900" i="1" spc="-10" dirty="0">
                <a:latin typeface="Arial"/>
                <a:cs typeface="Arial"/>
              </a:rPr>
              <a:t>d</a:t>
            </a:r>
            <a:r>
              <a:rPr sz="900" i="1" spc="-165" dirty="0">
                <a:latin typeface="Arial"/>
                <a:cs typeface="Arial"/>
              </a:rPr>
              <a:t> </a:t>
            </a:r>
            <a:r>
              <a:rPr sz="900" dirty="0">
                <a:latin typeface="Arial"/>
                <a:cs typeface="Arial"/>
              </a:rPr>
              <a:t>,</a:t>
            </a:r>
            <a:r>
              <a:rPr sz="900" spc="-15" dirty="0">
                <a:latin typeface="Arial"/>
                <a:cs typeface="Arial"/>
              </a:rPr>
              <a:t> </a:t>
            </a:r>
            <a:r>
              <a:rPr sz="900" dirty="0">
                <a:latin typeface="Arial"/>
                <a:cs typeface="Arial"/>
              </a:rPr>
              <a:t>it</a:t>
            </a:r>
            <a:r>
              <a:rPr sz="900" spc="-10" dirty="0">
                <a:latin typeface="Arial"/>
                <a:cs typeface="Arial"/>
              </a:rPr>
              <a:t> forwards</a:t>
            </a:r>
            <a:r>
              <a:rPr sz="900" spc="-15" dirty="0">
                <a:latin typeface="Arial"/>
                <a:cs typeface="Arial"/>
              </a:rPr>
              <a:t> </a:t>
            </a:r>
            <a:r>
              <a:rPr sz="900" dirty="0">
                <a:latin typeface="Arial"/>
                <a:cs typeface="Arial"/>
              </a:rPr>
              <a:t>request</a:t>
            </a:r>
            <a:r>
              <a:rPr sz="900" spc="-10" dirty="0">
                <a:latin typeface="Arial"/>
                <a:cs typeface="Arial"/>
              </a:rPr>
              <a:t> </a:t>
            </a:r>
            <a:r>
              <a:rPr sz="900" dirty="0">
                <a:latin typeface="Arial"/>
                <a:cs typeface="Arial"/>
              </a:rPr>
              <a:t>to</a:t>
            </a:r>
            <a:r>
              <a:rPr sz="900" spc="-15" dirty="0">
                <a:latin typeface="Arial"/>
                <a:cs typeface="Arial"/>
              </a:rPr>
              <a:t> </a:t>
            </a:r>
            <a:r>
              <a:rPr sz="900" dirty="0">
                <a:latin typeface="Arial"/>
                <a:cs typeface="Arial"/>
              </a:rPr>
              <a:t>one</a:t>
            </a:r>
            <a:r>
              <a:rPr sz="900" spc="-10" dirty="0">
                <a:latin typeface="Arial"/>
                <a:cs typeface="Arial"/>
              </a:rPr>
              <a:t> </a:t>
            </a:r>
            <a:r>
              <a:rPr sz="900" dirty="0">
                <a:latin typeface="Arial"/>
                <a:cs typeface="Arial"/>
              </a:rPr>
              <a:t>of</a:t>
            </a:r>
            <a:r>
              <a:rPr sz="900" spc="-15" dirty="0">
                <a:latin typeface="Arial"/>
                <a:cs typeface="Arial"/>
              </a:rPr>
              <a:t> </a:t>
            </a:r>
            <a:r>
              <a:rPr sz="900" i="1" spc="-25" dirty="0">
                <a:latin typeface="Arial"/>
                <a:cs typeface="Arial"/>
              </a:rPr>
              <a:t>its </a:t>
            </a:r>
            <a:r>
              <a:rPr sz="900" dirty="0">
                <a:latin typeface="Arial"/>
                <a:cs typeface="Arial"/>
              </a:rPr>
              <a:t>randomly</a:t>
            </a:r>
            <a:r>
              <a:rPr sz="900" spc="-40" dirty="0">
                <a:latin typeface="Arial"/>
                <a:cs typeface="Arial"/>
              </a:rPr>
              <a:t> </a:t>
            </a:r>
            <a:r>
              <a:rPr sz="900" dirty="0">
                <a:latin typeface="Arial"/>
                <a:cs typeface="Arial"/>
              </a:rPr>
              <a:t>chosen</a:t>
            </a:r>
            <a:r>
              <a:rPr sz="900" spc="-35" dirty="0">
                <a:latin typeface="Arial"/>
                <a:cs typeface="Arial"/>
              </a:rPr>
              <a:t> </a:t>
            </a:r>
            <a:r>
              <a:rPr sz="900" dirty="0">
                <a:latin typeface="Arial"/>
                <a:cs typeface="Arial"/>
              </a:rPr>
              <a:t>neighbors,</a:t>
            </a:r>
            <a:r>
              <a:rPr sz="900" spc="-35" dirty="0">
                <a:latin typeface="Arial"/>
                <a:cs typeface="Arial"/>
              </a:rPr>
              <a:t> </a:t>
            </a:r>
            <a:r>
              <a:rPr sz="900" dirty="0">
                <a:latin typeface="Arial"/>
                <a:cs typeface="Arial"/>
              </a:rPr>
              <a:t>and</a:t>
            </a:r>
            <a:r>
              <a:rPr sz="900" spc="-40" dirty="0">
                <a:latin typeface="Arial"/>
                <a:cs typeface="Arial"/>
              </a:rPr>
              <a:t> </a:t>
            </a:r>
            <a:r>
              <a:rPr sz="900" dirty="0">
                <a:latin typeface="Arial"/>
                <a:cs typeface="Arial"/>
              </a:rPr>
              <a:t>so</a:t>
            </a:r>
            <a:r>
              <a:rPr sz="900" spc="-35" dirty="0">
                <a:latin typeface="Arial"/>
                <a:cs typeface="Arial"/>
              </a:rPr>
              <a:t> </a:t>
            </a:r>
            <a:r>
              <a:rPr sz="900" spc="-25" dirty="0">
                <a:latin typeface="Arial"/>
                <a:cs typeface="Arial"/>
              </a:rPr>
              <a:t>on.</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100393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Unstructured</a:t>
            </a:r>
            <a:r>
              <a:rPr sz="500" spc="5" dirty="0">
                <a:latin typeface="Arial"/>
                <a:cs typeface="Arial"/>
                <a:hlinkClick r:id="rId4" action="ppaction://hlinksldjump"/>
              </a:rPr>
              <a:t> </a:t>
            </a:r>
            <a:r>
              <a:rPr sz="500" spc="-10" dirty="0">
                <a:latin typeface="Arial"/>
                <a:cs typeface="Arial"/>
                <a:hlinkClick r:id="rId4" action="ppaction://hlinksldjump"/>
              </a:rPr>
              <a:t>peer-to-</a:t>
            </a:r>
            <a:r>
              <a:rPr sz="500" dirty="0">
                <a:latin typeface="Arial"/>
                <a:cs typeface="Arial"/>
                <a:hlinkClick r:id="rId4" action="ppaction://hlinksldjump"/>
              </a:rPr>
              <a:t>peer</a:t>
            </a:r>
            <a:r>
              <a:rPr sz="500" spc="10" dirty="0">
                <a:latin typeface="Arial"/>
                <a:cs typeface="Arial"/>
                <a:hlinkClick r:id="rId4" action="ppaction://hlinksldjump"/>
              </a:rPr>
              <a:t> </a:t>
            </a:r>
            <a:r>
              <a:rPr sz="500" spc="-10" dirty="0">
                <a:latin typeface="Arial"/>
                <a:cs typeface="Arial"/>
                <a:hlinkClick r:id="rId4" action="ppaction://hlinksldjump"/>
              </a:rPr>
              <a:t>systems</a:t>
            </a:r>
            <a:endParaRPr sz="500">
              <a:latin typeface="Arial"/>
              <a:cs typeface="Arial"/>
            </a:endParaRP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186430" algn="l"/>
              </a:tabLst>
            </a:pPr>
            <a:r>
              <a:rPr sz="500" spc="-10" dirty="0">
                <a:latin typeface="Arial"/>
                <a:cs typeface="Arial"/>
                <a:hlinkClick r:id="rId2" action="ppaction://hlinksldjump"/>
              </a:rPr>
              <a:t>Architectures</a:t>
            </a:r>
            <a:r>
              <a:rPr sz="500" dirty="0">
                <a:latin typeface="Arial"/>
                <a:cs typeface="Arial"/>
              </a:rPr>
              <a:t>	</a:t>
            </a:r>
            <a:r>
              <a:rPr sz="500" dirty="0">
                <a:solidFill>
                  <a:srgbClr val="FFFFFF"/>
                </a:solidFill>
                <a:latin typeface="Arial"/>
                <a:cs typeface="Arial"/>
                <a:hlinkClick r:id="rId3" action="ppaction://hlinksldjump"/>
              </a:rPr>
              <a:t>Symmetrically</a:t>
            </a:r>
            <a:r>
              <a:rPr sz="500" spc="-4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distributed</a:t>
            </a:r>
            <a:r>
              <a:rPr sz="500" spc="-3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system</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architectures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Flooding</a:t>
            </a:r>
            <a:r>
              <a:rPr spc="-65" dirty="0"/>
              <a:t> </a:t>
            </a:r>
            <a:r>
              <a:rPr dirty="0"/>
              <a:t>versus</a:t>
            </a:r>
            <a:r>
              <a:rPr spc="-60" dirty="0"/>
              <a:t> </a:t>
            </a:r>
            <a:r>
              <a:rPr dirty="0"/>
              <a:t>random</a:t>
            </a:r>
            <a:r>
              <a:rPr spc="-60" dirty="0"/>
              <a:t> </a:t>
            </a:r>
            <a:r>
              <a:rPr spc="-20" dirty="0"/>
              <a:t>walk</a:t>
            </a:r>
          </a:p>
        </p:txBody>
      </p:sp>
      <p:sp>
        <p:nvSpPr>
          <p:cNvPr id="4" name="object 4"/>
          <p:cNvSpPr txBox="1"/>
          <p:nvPr/>
        </p:nvSpPr>
        <p:spPr>
          <a:xfrm>
            <a:off x="343547" y="499476"/>
            <a:ext cx="3710304" cy="902335"/>
          </a:xfrm>
          <a:prstGeom prst="rect">
            <a:avLst/>
          </a:prstGeom>
        </p:spPr>
        <p:txBody>
          <a:bodyPr vert="horz" wrap="square" lIns="0" tIns="27305" rIns="0" bIns="0" rtlCol="0">
            <a:spAutoFit/>
          </a:bodyPr>
          <a:lstStyle/>
          <a:p>
            <a:pPr marL="15875">
              <a:lnSpc>
                <a:spcPct val="100000"/>
              </a:lnSpc>
              <a:spcBef>
                <a:spcPts val="215"/>
              </a:spcBef>
            </a:pPr>
            <a:r>
              <a:rPr sz="1000" spc="-10" dirty="0">
                <a:solidFill>
                  <a:srgbClr val="3333B2"/>
                </a:solidFill>
                <a:latin typeface="Arial"/>
                <a:cs typeface="Arial"/>
              </a:rPr>
              <a:t>Model</a:t>
            </a:r>
            <a:endParaRPr sz="1000">
              <a:latin typeface="Arial"/>
              <a:cs typeface="Arial"/>
            </a:endParaRPr>
          </a:p>
          <a:p>
            <a:pPr marL="15875" marR="5080" indent="-3810">
              <a:lnSpc>
                <a:spcPts val="1210"/>
              </a:lnSpc>
              <a:spcBef>
                <a:spcPts val="35"/>
              </a:spcBef>
            </a:pPr>
            <a:r>
              <a:rPr sz="900" dirty="0">
                <a:latin typeface="Arial"/>
                <a:cs typeface="Arial"/>
              </a:rPr>
              <a:t>Assume</a:t>
            </a:r>
            <a:r>
              <a:rPr sz="900" spc="-25" dirty="0">
                <a:latin typeface="Arial"/>
                <a:cs typeface="Arial"/>
              </a:rPr>
              <a:t> </a:t>
            </a:r>
            <a:r>
              <a:rPr sz="900" i="1" dirty="0">
                <a:latin typeface="Arial"/>
                <a:cs typeface="Arial"/>
              </a:rPr>
              <a:t>N</a:t>
            </a:r>
            <a:r>
              <a:rPr sz="900" i="1" spc="45" dirty="0">
                <a:latin typeface="Arial"/>
                <a:cs typeface="Arial"/>
              </a:rPr>
              <a:t> </a:t>
            </a:r>
            <a:r>
              <a:rPr sz="900" dirty="0">
                <a:latin typeface="Arial"/>
                <a:cs typeface="Arial"/>
              </a:rPr>
              <a:t>nodes</a:t>
            </a:r>
            <a:r>
              <a:rPr sz="900" spc="-25" dirty="0">
                <a:latin typeface="Arial"/>
                <a:cs typeface="Arial"/>
              </a:rPr>
              <a:t> </a:t>
            </a:r>
            <a:r>
              <a:rPr sz="900" dirty="0">
                <a:latin typeface="Arial"/>
                <a:cs typeface="Arial"/>
              </a:rPr>
              <a:t>and</a:t>
            </a:r>
            <a:r>
              <a:rPr sz="900" spc="-20"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each</a:t>
            </a:r>
            <a:r>
              <a:rPr sz="900" spc="-25" dirty="0">
                <a:latin typeface="Arial"/>
                <a:cs typeface="Arial"/>
              </a:rPr>
              <a:t> </a:t>
            </a:r>
            <a:r>
              <a:rPr sz="900" dirty="0">
                <a:latin typeface="Arial"/>
                <a:cs typeface="Arial"/>
              </a:rPr>
              <a:t>data</a:t>
            </a:r>
            <a:r>
              <a:rPr sz="900" spc="-20" dirty="0">
                <a:latin typeface="Arial"/>
                <a:cs typeface="Arial"/>
              </a:rPr>
              <a:t> </a:t>
            </a:r>
            <a:r>
              <a:rPr sz="900" dirty="0">
                <a:latin typeface="Arial"/>
                <a:cs typeface="Arial"/>
              </a:rPr>
              <a:t>item</a:t>
            </a:r>
            <a:r>
              <a:rPr sz="900" spc="-25"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replicated</a:t>
            </a:r>
            <a:r>
              <a:rPr sz="900" spc="-25" dirty="0">
                <a:latin typeface="Arial"/>
                <a:cs typeface="Arial"/>
              </a:rPr>
              <a:t> </a:t>
            </a:r>
            <a:r>
              <a:rPr sz="900" dirty="0">
                <a:latin typeface="Arial"/>
                <a:cs typeface="Arial"/>
              </a:rPr>
              <a:t>across</a:t>
            </a:r>
            <a:r>
              <a:rPr sz="900" spc="-20" dirty="0">
                <a:latin typeface="Arial"/>
                <a:cs typeface="Arial"/>
              </a:rPr>
              <a:t> </a:t>
            </a:r>
            <a:r>
              <a:rPr sz="900" i="1" dirty="0">
                <a:latin typeface="Arial"/>
                <a:cs typeface="Arial"/>
              </a:rPr>
              <a:t>r</a:t>
            </a:r>
            <a:r>
              <a:rPr sz="900" i="1" spc="75" dirty="0">
                <a:latin typeface="Arial"/>
                <a:cs typeface="Arial"/>
              </a:rPr>
              <a:t> </a:t>
            </a:r>
            <a:r>
              <a:rPr sz="900" spc="-10" dirty="0">
                <a:latin typeface="Arial"/>
                <a:cs typeface="Arial"/>
              </a:rPr>
              <a:t>randomly </a:t>
            </a:r>
            <a:r>
              <a:rPr sz="900" dirty="0">
                <a:latin typeface="Arial"/>
                <a:cs typeface="Arial"/>
              </a:rPr>
              <a:t>chosen</a:t>
            </a:r>
            <a:r>
              <a:rPr sz="900" spc="-35" dirty="0">
                <a:latin typeface="Arial"/>
                <a:cs typeface="Arial"/>
              </a:rPr>
              <a:t> </a:t>
            </a:r>
            <a:r>
              <a:rPr sz="900" spc="-10" dirty="0">
                <a:latin typeface="Arial"/>
                <a:cs typeface="Arial"/>
              </a:rPr>
              <a:t>nodes.</a:t>
            </a:r>
            <a:endParaRPr sz="900">
              <a:latin typeface="Arial"/>
              <a:cs typeface="Arial"/>
            </a:endParaRPr>
          </a:p>
          <a:p>
            <a:pPr marL="15875">
              <a:lnSpc>
                <a:spcPct val="100000"/>
              </a:lnSpc>
              <a:spcBef>
                <a:spcPts val="750"/>
              </a:spcBef>
            </a:pPr>
            <a:r>
              <a:rPr sz="1000" dirty="0">
                <a:solidFill>
                  <a:srgbClr val="3333B2"/>
                </a:solidFill>
                <a:latin typeface="Arial"/>
                <a:cs typeface="Arial"/>
              </a:rPr>
              <a:t>Random</a:t>
            </a:r>
            <a:r>
              <a:rPr sz="1000" spc="-45" dirty="0">
                <a:solidFill>
                  <a:srgbClr val="3333B2"/>
                </a:solidFill>
                <a:latin typeface="Arial"/>
                <a:cs typeface="Arial"/>
              </a:rPr>
              <a:t> </a:t>
            </a:r>
            <a:r>
              <a:rPr sz="1000" spc="-20" dirty="0">
                <a:solidFill>
                  <a:srgbClr val="3333B2"/>
                </a:solidFill>
                <a:latin typeface="Arial"/>
                <a:cs typeface="Arial"/>
              </a:rPr>
              <a:t>walk</a:t>
            </a:r>
            <a:endParaRPr sz="1000">
              <a:latin typeface="Arial"/>
              <a:cs typeface="Arial"/>
            </a:endParaRPr>
          </a:p>
          <a:p>
            <a:pPr marL="15875">
              <a:lnSpc>
                <a:spcPct val="100000"/>
              </a:lnSpc>
              <a:spcBef>
                <a:spcPts val="100"/>
              </a:spcBef>
            </a:pPr>
            <a:r>
              <a:rPr sz="900" spc="-20" dirty="0">
                <a:latin typeface="Arial"/>
                <a:cs typeface="Arial"/>
              </a:rPr>
              <a:t>P[</a:t>
            </a:r>
            <a:r>
              <a:rPr sz="900" i="1" spc="-20" dirty="0">
                <a:latin typeface="Arial"/>
                <a:cs typeface="Arial"/>
              </a:rPr>
              <a:t>k</a:t>
            </a:r>
            <a:r>
              <a:rPr sz="900" i="1" spc="-165" dirty="0">
                <a:latin typeface="Arial"/>
                <a:cs typeface="Arial"/>
              </a:rPr>
              <a:t> </a:t>
            </a:r>
            <a:r>
              <a:rPr sz="900" dirty="0">
                <a:latin typeface="Arial"/>
                <a:cs typeface="Arial"/>
              </a:rPr>
              <a:t>]</a:t>
            </a:r>
            <a:r>
              <a:rPr sz="900" spc="-25" dirty="0">
                <a:latin typeface="Arial"/>
                <a:cs typeface="Arial"/>
              </a:rPr>
              <a:t> </a:t>
            </a:r>
            <a:r>
              <a:rPr sz="900" dirty="0">
                <a:latin typeface="Arial"/>
                <a:cs typeface="Arial"/>
              </a:rPr>
              <a:t>probability</a:t>
            </a:r>
            <a:r>
              <a:rPr sz="900" spc="-20" dirty="0">
                <a:latin typeface="Arial"/>
                <a:cs typeface="Arial"/>
              </a:rPr>
              <a:t> </a:t>
            </a:r>
            <a:r>
              <a:rPr sz="900" dirty="0">
                <a:latin typeface="Arial"/>
                <a:cs typeface="Arial"/>
              </a:rPr>
              <a:t>that</a:t>
            </a:r>
            <a:r>
              <a:rPr sz="900" spc="-20" dirty="0">
                <a:latin typeface="Arial"/>
                <a:cs typeface="Arial"/>
              </a:rPr>
              <a:t> </a:t>
            </a:r>
            <a:r>
              <a:rPr sz="900" dirty="0">
                <a:latin typeface="Arial"/>
                <a:cs typeface="Arial"/>
              </a:rPr>
              <a:t>item</a:t>
            </a:r>
            <a:r>
              <a:rPr sz="900" spc="-20"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found</a:t>
            </a:r>
            <a:r>
              <a:rPr sz="900" spc="-15" dirty="0">
                <a:latin typeface="Arial"/>
                <a:cs typeface="Arial"/>
              </a:rPr>
              <a:t> </a:t>
            </a:r>
            <a:r>
              <a:rPr sz="900" dirty="0">
                <a:latin typeface="Arial"/>
                <a:cs typeface="Arial"/>
              </a:rPr>
              <a:t>after</a:t>
            </a:r>
            <a:r>
              <a:rPr sz="900" spc="-20" dirty="0">
                <a:latin typeface="Arial"/>
                <a:cs typeface="Arial"/>
              </a:rPr>
              <a:t> </a:t>
            </a:r>
            <a:r>
              <a:rPr sz="900" i="1" dirty="0">
                <a:latin typeface="Arial"/>
                <a:cs typeface="Arial"/>
              </a:rPr>
              <a:t>k</a:t>
            </a:r>
            <a:r>
              <a:rPr sz="900" i="1" spc="65" dirty="0">
                <a:latin typeface="Arial"/>
                <a:cs typeface="Arial"/>
              </a:rPr>
              <a:t> </a:t>
            </a:r>
            <a:r>
              <a:rPr sz="900" spc="-10" dirty="0">
                <a:latin typeface="Arial"/>
                <a:cs typeface="Arial"/>
              </a:rPr>
              <a:t>attempts:</a:t>
            </a:r>
            <a:endParaRPr sz="900">
              <a:latin typeface="Arial"/>
              <a:cs typeface="Arial"/>
            </a:endParaRPr>
          </a:p>
        </p:txBody>
      </p:sp>
      <p:sp>
        <p:nvSpPr>
          <p:cNvPr id="5" name="object 5"/>
          <p:cNvSpPr txBox="1"/>
          <p:nvPr/>
        </p:nvSpPr>
        <p:spPr>
          <a:xfrm>
            <a:off x="1729016" y="1526890"/>
            <a:ext cx="1149985" cy="162560"/>
          </a:xfrm>
          <a:prstGeom prst="rect">
            <a:avLst/>
          </a:prstGeom>
        </p:spPr>
        <p:txBody>
          <a:bodyPr vert="horz" wrap="square" lIns="0" tIns="12065" rIns="0" bIns="0" rtlCol="0">
            <a:spAutoFit/>
          </a:bodyPr>
          <a:lstStyle/>
          <a:p>
            <a:pPr marL="38100">
              <a:lnSpc>
                <a:spcPct val="100000"/>
              </a:lnSpc>
              <a:spcBef>
                <a:spcPts val="95"/>
              </a:spcBef>
            </a:pPr>
            <a:r>
              <a:rPr sz="900" spc="-20" dirty="0">
                <a:latin typeface="Arial"/>
                <a:cs typeface="Arial"/>
              </a:rPr>
              <a:t>P[</a:t>
            </a:r>
            <a:r>
              <a:rPr sz="900" i="1" spc="-20" dirty="0">
                <a:latin typeface="Arial"/>
                <a:cs typeface="Arial"/>
              </a:rPr>
              <a:t>k</a:t>
            </a:r>
            <a:r>
              <a:rPr sz="900" i="1" spc="-160" dirty="0">
                <a:latin typeface="Arial"/>
                <a:cs typeface="Arial"/>
              </a:rPr>
              <a:t> </a:t>
            </a:r>
            <a:r>
              <a:rPr sz="900" dirty="0">
                <a:latin typeface="Arial"/>
                <a:cs typeface="Arial"/>
              </a:rPr>
              <a:t>]</a:t>
            </a:r>
            <a:r>
              <a:rPr sz="900" spc="-45" dirty="0">
                <a:latin typeface="Arial"/>
                <a:cs typeface="Arial"/>
              </a:rPr>
              <a:t> </a:t>
            </a:r>
            <a:r>
              <a:rPr sz="900" spc="185" dirty="0">
                <a:latin typeface="Arial"/>
                <a:cs typeface="Arial"/>
              </a:rPr>
              <a:t>=</a:t>
            </a:r>
            <a:r>
              <a:rPr sz="900" spc="90" dirty="0">
                <a:latin typeface="Arial"/>
                <a:cs typeface="Arial"/>
              </a:rPr>
              <a:t> </a:t>
            </a:r>
            <a:r>
              <a:rPr sz="1350" u="sng" spc="-97" baseline="37037" dirty="0">
                <a:uFill>
                  <a:solidFill>
                    <a:srgbClr val="000000"/>
                  </a:solidFill>
                </a:uFill>
                <a:latin typeface="Times New Roman"/>
                <a:cs typeface="Times New Roman"/>
              </a:rPr>
              <a:t> </a:t>
            </a:r>
            <a:r>
              <a:rPr sz="1350" i="1" u="sng" baseline="37037" dirty="0">
                <a:uFill>
                  <a:solidFill>
                    <a:srgbClr val="000000"/>
                  </a:solidFill>
                </a:uFill>
                <a:latin typeface="Arial"/>
                <a:cs typeface="Arial"/>
              </a:rPr>
              <a:t>r</a:t>
            </a:r>
            <a:r>
              <a:rPr sz="1350" i="1" u="sng" spc="37" baseline="37037" dirty="0">
                <a:uFill>
                  <a:solidFill>
                    <a:srgbClr val="000000"/>
                  </a:solidFill>
                </a:uFill>
                <a:latin typeface="Arial"/>
                <a:cs typeface="Arial"/>
              </a:rPr>
              <a:t> </a:t>
            </a:r>
            <a:r>
              <a:rPr sz="1350" i="1" spc="-195" baseline="37037" dirty="0">
                <a:latin typeface="Arial"/>
                <a:cs typeface="Arial"/>
              </a:rPr>
              <a:t> </a:t>
            </a:r>
            <a:r>
              <a:rPr sz="900" dirty="0">
                <a:latin typeface="Arial"/>
                <a:cs typeface="Arial"/>
              </a:rPr>
              <a:t>(1</a:t>
            </a:r>
            <a:r>
              <a:rPr sz="900" spc="-120" dirty="0">
                <a:latin typeface="Arial"/>
                <a:cs typeface="Arial"/>
              </a:rPr>
              <a:t> </a:t>
            </a:r>
            <a:r>
              <a:rPr sz="900" spc="160" dirty="0">
                <a:latin typeface="Apple Symbols"/>
                <a:cs typeface="Apple Symbols"/>
              </a:rPr>
              <a:t>−</a:t>
            </a:r>
            <a:r>
              <a:rPr sz="900" spc="-45" dirty="0">
                <a:latin typeface="Apple Symbols"/>
                <a:cs typeface="Apple Symbols"/>
              </a:rPr>
              <a:t> </a:t>
            </a:r>
            <a:r>
              <a:rPr sz="1350" u="sng" spc="-97" baseline="37037" dirty="0">
                <a:uFill>
                  <a:solidFill>
                    <a:srgbClr val="000000"/>
                  </a:solidFill>
                </a:uFill>
                <a:latin typeface="Times New Roman"/>
                <a:cs typeface="Times New Roman"/>
              </a:rPr>
              <a:t> </a:t>
            </a:r>
            <a:r>
              <a:rPr sz="1350" i="1" u="sng" baseline="37037" dirty="0">
                <a:uFill>
                  <a:solidFill>
                    <a:srgbClr val="000000"/>
                  </a:solidFill>
                </a:uFill>
                <a:latin typeface="Arial"/>
                <a:cs typeface="Arial"/>
              </a:rPr>
              <a:t>r</a:t>
            </a:r>
            <a:r>
              <a:rPr sz="1350" i="1" u="sng" spc="37" baseline="37037" dirty="0">
                <a:uFill>
                  <a:solidFill>
                    <a:srgbClr val="000000"/>
                  </a:solidFill>
                </a:uFill>
                <a:latin typeface="Arial"/>
                <a:cs typeface="Arial"/>
              </a:rPr>
              <a:t> </a:t>
            </a:r>
            <a:r>
              <a:rPr sz="1350" i="1" spc="-187" baseline="37037" dirty="0">
                <a:latin typeface="Arial"/>
                <a:cs typeface="Arial"/>
              </a:rPr>
              <a:t> </a:t>
            </a:r>
            <a:r>
              <a:rPr sz="900" dirty="0">
                <a:latin typeface="Arial"/>
                <a:cs typeface="Arial"/>
              </a:rPr>
              <a:t>)</a:t>
            </a:r>
            <a:r>
              <a:rPr sz="1050" i="1" baseline="27777" dirty="0">
                <a:latin typeface="Arial"/>
                <a:cs typeface="Arial"/>
              </a:rPr>
              <a:t>k</a:t>
            </a:r>
            <a:r>
              <a:rPr sz="1050" i="1" spc="-187" baseline="27777" dirty="0">
                <a:latin typeface="Arial"/>
                <a:cs typeface="Arial"/>
              </a:rPr>
              <a:t> </a:t>
            </a:r>
            <a:r>
              <a:rPr sz="1050" spc="44" baseline="27777" dirty="0">
                <a:latin typeface="Apple Symbols"/>
                <a:cs typeface="Apple Symbols"/>
              </a:rPr>
              <a:t>−</a:t>
            </a:r>
            <a:r>
              <a:rPr sz="1050" spc="44" baseline="27777" dirty="0">
                <a:latin typeface="Arial"/>
                <a:cs typeface="Arial"/>
              </a:rPr>
              <a:t>1</a:t>
            </a:r>
            <a:r>
              <a:rPr sz="900" i="1" spc="30" dirty="0">
                <a:latin typeface="Arial"/>
                <a:cs typeface="Arial"/>
              </a:rPr>
              <a:t>.</a:t>
            </a:r>
            <a:endParaRPr sz="900">
              <a:latin typeface="Arial"/>
              <a:cs typeface="Arial"/>
            </a:endParaRPr>
          </a:p>
        </p:txBody>
      </p:sp>
      <p:sp>
        <p:nvSpPr>
          <p:cNvPr id="6" name="object 6"/>
          <p:cNvSpPr txBox="1"/>
          <p:nvPr/>
        </p:nvSpPr>
        <p:spPr>
          <a:xfrm>
            <a:off x="347294" y="1537541"/>
            <a:ext cx="3562985" cy="433705"/>
          </a:xfrm>
          <a:prstGeom prst="rect">
            <a:avLst/>
          </a:prstGeom>
        </p:spPr>
        <p:txBody>
          <a:bodyPr vert="horz" wrap="square" lIns="0" tIns="79375" rIns="0" bIns="0" rtlCol="0">
            <a:spAutoFit/>
          </a:bodyPr>
          <a:lstStyle/>
          <a:p>
            <a:pPr marL="434975" algn="ctr">
              <a:lnSpc>
                <a:spcPct val="100000"/>
              </a:lnSpc>
              <a:spcBef>
                <a:spcPts val="625"/>
              </a:spcBef>
              <a:tabLst>
                <a:tab pos="784860" algn="l"/>
              </a:tabLst>
            </a:pPr>
            <a:r>
              <a:rPr sz="900" i="1" spc="-50" dirty="0">
                <a:latin typeface="Arial"/>
                <a:cs typeface="Arial"/>
              </a:rPr>
              <a:t>N</a:t>
            </a:r>
            <a:r>
              <a:rPr sz="900" i="1" dirty="0">
                <a:latin typeface="Arial"/>
                <a:cs typeface="Arial"/>
              </a:rPr>
              <a:t>	</a:t>
            </a:r>
            <a:r>
              <a:rPr sz="900" i="1" spc="-50" dirty="0">
                <a:latin typeface="Arial"/>
                <a:cs typeface="Arial"/>
              </a:rPr>
              <a:t>N</a:t>
            </a:r>
            <a:endParaRPr sz="900">
              <a:latin typeface="Arial"/>
              <a:cs typeface="Arial"/>
            </a:endParaRPr>
          </a:p>
          <a:p>
            <a:pPr marL="12700">
              <a:lnSpc>
                <a:spcPct val="100000"/>
              </a:lnSpc>
              <a:spcBef>
                <a:spcPts val="530"/>
              </a:spcBef>
            </a:pPr>
            <a:r>
              <a:rPr sz="900" i="1" dirty="0">
                <a:latin typeface="Arial"/>
                <a:cs typeface="Arial"/>
              </a:rPr>
              <a:t>S</a:t>
            </a:r>
            <a:r>
              <a:rPr sz="900" i="1" spc="20" dirty="0">
                <a:latin typeface="Arial"/>
                <a:cs typeface="Arial"/>
              </a:rPr>
              <a:t> </a:t>
            </a:r>
            <a:r>
              <a:rPr sz="900" dirty="0">
                <a:latin typeface="Arial"/>
                <a:cs typeface="Arial"/>
              </a:rPr>
              <a:t>(“search</a:t>
            </a:r>
            <a:r>
              <a:rPr sz="900" spc="-20" dirty="0">
                <a:latin typeface="Arial"/>
                <a:cs typeface="Arial"/>
              </a:rPr>
              <a:t> </a:t>
            </a:r>
            <a:r>
              <a:rPr sz="900" dirty="0">
                <a:latin typeface="Arial"/>
                <a:cs typeface="Arial"/>
              </a:rPr>
              <a:t>size”)</a:t>
            </a:r>
            <a:r>
              <a:rPr sz="900" spc="-25" dirty="0">
                <a:latin typeface="Arial"/>
                <a:cs typeface="Arial"/>
              </a:rPr>
              <a:t> </a:t>
            </a:r>
            <a:r>
              <a:rPr sz="900" dirty="0">
                <a:latin typeface="Arial"/>
                <a:cs typeface="Arial"/>
              </a:rPr>
              <a:t>is</a:t>
            </a:r>
            <a:r>
              <a:rPr sz="900" spc="-20" dirty="0">
                <a:latin typeface="Arial"/>
                <a:cs typeface="Arial"/>
              </a:rPr>
              <a:t> </a:t>
            </a:r>
            <a:r>
              <a:rPr sz="900" spc="-10" dirty="0">
                <a:latin typeface="Arial"/>
                <a:cs typeface="Arial"/>
              </a:rPr>
              <a:t>expected</a:t>
            </a:r>
            <a:r>
              <a:rPr sz="900" spc="-20" dirty="0">
                <a:latin typeface="Arial"/>
                <a:cs typeface="Arial"/>
              </a:rPr>
              <a:t> </a:t>
            </a:r>
            <a:r>
              <a:rPr sz="900" dirty="0">
                <a:latin typeface="Arial"/>
                <a:cs typeface="Arial"/>
              </a:rPr>
              <a:t>number</a:t>
            </a:r>
            <a:r>
              <a:rPr sz="900" spc="-20" dirty="0">
                <a:latin typeface="Arial"/>
                <a:cs typeface="Arial"/>
              </a:rPr>
              <a:t> </a:t>
            </a:r>
            <a:r>
              <a:rPr sz="900" dirty="0">
                <a:latin typeface="Arial"/>
                <a:cs typeface="Arial"/>
              </a:rPr>
              <a:t>of</a:t>
            </a:r>
            <a:r>
              <a:rPr sz="900" spc="-20" dirty="0">
                <a:latin typeface="Arial"/>
                <a:cs typeface="Arial"/>
              </a:rPr>
              <a:t> </a:t>
            </a:r>
            <a:r>
              <a:rPr sz="900" dirty="0">
                <a:latin typeface="Arial"/>
                <a:cs typeface="Arial"/>
              </a:rPr>
              <a:t>nodes</a:t>
            </a:r>
            <a:r>
              <a:rPr sz="900" spc="-25" dirty="0">
                <a:latin typeface="Arial"/>
                <a:cs typeface="Arial"/>
              </a:rPr>
              <a:t> </a:t>
            </a:r>
            <a:r>
              <a:rPr sz="900" dirty="0">
                <a:latin typeface="Arial"/>
                <a:cs typeface="Arial"/>
              </a:rPr>
              <a:t>that</a:t>
            </a:r>
            <a:r>
              <a:rPr sz="900" spc="-20" dirty="0">
                <a:latin typeface="Arial"/>
                <a:cs typeface="Arial"/>
              </a:rPr>
              <a:t> </a:t>
            </a:r>
            <a:r>
              <a:rPr sz="900" dirty="0">
                <a:latin typeface="Arial"/>
                <a:cs typeface="Arial"/>
              </a:rPr>
              <a:t>need</a:t>
            </a:r>
            <a:r>
              <a:rPr sz="900" spc="-20"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be</a:t>
            </a:r>
            <a:r>
              <a:rPr sz="900" spc="-20" dirty="0">
                <a:latin typeface="Arial"/>
                <a:cs typeface="Arial"/>
              </a:rPr>
              <a:t> </a:t>
            </a:r>
            <a:r>
              <a:rPr sz="900" spc="-10" dirty="0">
                <a:latin typeface="Arial"/>
                <a:cs typeface="Arial"/>
              </a:rPr>
              <a:t>probed:</a:t>
            </a:r>
            <a:endParaRPr sz="900">
              <a:latin typeface="Arial"/>
              <a:cs typeface="Arial"/>
            </a:endParaRPr>
          </a:p>
        </p:txBody>
      </p:sp>
      <p:sp>
        <p:nvSpPr>
          <p:cNvPr id="7" name="object 7"/>
          <p:cNvSpPr txBox="1"/>
          <p:nvPr/>
        </p:nvSpPr>
        <p:spPr>
          <a:xfrm>
            <a:off x="1026515" y="2300391"/>
            <a:ext cx="201295" cy="132080"/>
          </a:xfrm>
          <a:prstGeom prst="rect">
            <a:avLst/>
          </a:prstGeom>
        </p:spPr>
        <p:txBody>
          <a:bodyPr vert="horz" wrap="square" lIns="0" tIns="12065" rIns="0" bIns="0" rtlCol="0">
            <a:spAutoFit/>
          </a:bodyPr>
          <a:lstStyle/>
          <a:p>
            <a:pPr marL="12700">
              <a:lnSpc>
                <a:spcPct val="100000"/>
              </a:lnSpc>
              <a:spcBef>
                <a:spcPts val="95"/>
              </a:spcBef>
            </a:pPr>
            <a:r>
              <a:rPr sz="700" i="1" spc="-10" dirty="0">
                <a:latin typeface="Arial"/>
                <a:cs typeface="Arial"/>
              </a:rPr>
              <a:t>k</a:t>
            </a:r>
            <a:r>
              <a:rPr sz="700" i="1" spc="-120" dirty="0">
                <a:latin typeface="Arial"/>
                <a:cs typeface="Arial"/>
              </a:rPr>
              <a:t> </a:t>
            </a:r>
            <a:r>
              <a:rPr sz="700" spc="50" dirty="0">
                <a:latin typeface="Arial"/>
                <a:cs typeface="Arial"/>
              </a:rPr>
              <a:t>=1</a:t>
            </a:r>
            <a:endParaRPr sz="700">
              <a:latin typeface="Arial"/>
              <a:cs typeface="Arial"/>
            </a:endParaRPr>
          </a:p>
        </p:txBody>
      </p:sp>
      <p:sp>
        <p:nvSpPr>
          <p:cNvPr id="8" name="object 8"/>
          <p:cNvSpPr txBox="1"/>
          <p:nvPr/>
        </p:nvSpPr>
        <p:spPr>
          <a:xfrm>
            <a:off x="1078928" y="2053744"/>
            <a:ext cx="756920" cy="132080"/>
          </a:xfrm>
          <a:prstGeom prst="rect">
            <a:avLst/>
          </a:prstGeom>
        </p:spPr>
        <p:txBody>
          <a:bodyPr vert="horz" wrap="square" lIns="0" tIns="12065" rIns="0" bIns="0" rtlCol="0">
            <a:spAutoFit/>
          </a:bodyPr>
          <a:lstStyle/>
          <a:p>
            <a:pPr marL="12700">
              <a:lnSpc>
                <a:spcPct val="100000"/>
              </a:lnSpc>
              <a:spcBef>
                <a:spcPts val="95"/>
              </a:spcBef>
              <a:tabLst>
                <a:tab pos="679450" algn="l"/>
              </a:tabLst>
            </a:pPr>
            <a:r>
              <a:rPr sz="700" i="1" spc="-50" dirty="0">
                <a:latin typeface="Arial"/>
                <a:cs typeface="Arial"/>
              </a:rPr>
              <a:t>N</a:t>
            </a:r>
            <a:r>
              <a:rPr sz="700" i="1" dirty="0">
                <a:latin typeface="Arial"/>
                <a:cs typeface="Arial"/>
              </a:rPr>
              <a:t>	</a:t>
            </a:r>
            <a:r>
              <a:rPr sz="700" i="1" spc="-50" dirty="0">
                <a:latin typeface="Arial"/>
                <a:cs typeface="Arial"/>
              </a:rPr>
              <a:t>N</a:t>
            </a:r>
            <a:endParaRPr sz="700">
              <a:latin typeface="Arial"/>
              <a:cs typeface="Arial"/>
            </a:endParaRPr>
          </a:p>
        </p:txBody>
      </p:sp>
      <p:sp>
        <p:nvSpPr>
          <p:cNvPr id="9" name="object 9"/>
          <p:cNvSpPr txBox="1"/>
          <p:nvPr/>
        </p:nvSpPr>
        <p:spPr>
          <a:xfrm>
            <a:off x="1693798" y="2300391"/>
            <a:ext cx="201295" cy="132080"/>
          </a:xfrm>
          <a:prstGeom prst="rect">
            <a:avLst/>
          </a:prstGeom>
        </p:spPr>
        <p:txBody>
          <a:bodyPr vert="horz" wrap="square" lIns="0" tIns="12065" rIns="0" bIns="0" rtlCol="0">
            <a:spAutoFit/>
          </a:bodyPr>
          <a:lstStyle/>
          <a:p>
            <a:pPr marL="12700">
              <a:lnSpc>
                <a:spcPct val="100000"/>
              </a:lnSpc>
              <a:spcBef>
                <a:spcPts val="95"/>
              </a:spcBef>
            </a:pPr>
            <a:r>
              <a:rPr sz="700" i="1" spc="-10" dirty="0">
                <a:latin typeface="Arial"/>
                <a:cs typeface="Arial"/>
              </a:rPr>
              <a:t>k</a:t>
            </a:r>
            <a:r>
              <a:rPr sz="700" i="1" spc="-120" dirty="0">
                <a:latin typeface="Arial"/>
                <a:cs typeface="Arial"/>
              </a:rPr>
              <a:t> </a:t>
            </a:r>
            <a:r>
              <a:rPr sz="700" spc="50" dirty="0">
                <a:latin typeface="Arial"/>
                <a:cs typeface="Arial"/>
              </a:rPr>
              <a:t>=1</a:t>
            </a:r>
            <a:endParaRPr sz="700">
              <a:latin typeface="Arial"/>
              <a:cs typeface="Arial"/>
            </a:endParaRPr>
          </a:p>
        </p:txBody>
      </p:sp>
      <p:sp>
        <p:nvSpPr>
          <p:cNvPr id="10" name="object 10"/>
          <p:cNvSpPr txBox="1"/>
          <p:nvPr/>
        </p:nvSpPr>
        <p:spPr>
          <a:xfrm>
            <a:off x="2028710" y="2073028"/>
            <a:ext cx="116839" cy="162560"/>
          </a:xfrm>
          <a:prstGeom prst="rect">
            <a:avLst/>
          </a:prstGeom>
        </p:spPr>
        <p:txBody>
          <a:bodyPr vert="horz" wrap="square" lIns="0" tIns="12065" rIns="0" bIns="0" rtlCol="0">
            <a:spAutoFit/>
          </a:bodyPr>
          <a:lstStyle/>
          <a:p>
            <a:pPr marL="12700">
              <a:lnSpc>
                <a:spcPct val="100000"/>
              </a:lnSpc>
              <a:spcBef>
                <a:spcPts val="95"/>
              </a:spcBef>
            </a:pPr>
            <a:r>
              <a:rPr sz="900" u="sng" spc="-75" dirty="0">
                <a:uFill>
                  <a:solidFill>
                    <a:srgbClr val="000000"/>
                  </a:solidFill>
                </a:uFill>
                <a:latin typeface="Times New Roman"/>
                <a:cs typeface="Times New Roman"/>
              </a:rPr>
              <a:t> </a:t>
            </a:r>
            <a:r>
              <a:rPr sz="900" i="1" u="sng" spc="-50" dirty="0">
                <a:uFill>
                  <a:solidFill>
                    <a:srgbClr val="000000"/>
                  </a:solidFill>
                </a:uFill>
                <a:latin typeface="Arial"/>
                <a:cs typeface="Arial"/>
              </a:rPr>
              <a:t>r</a:t>
            </a:r>
            <a:r>
              <a:rPr sz="900" i="1" u="sng" spc="500" dirty="0">
                <a:uFill>
                  <a:solidFill>
                    <a:srgbClr val="000000"/>
                  </a:solidFill>
                </a:uFill>
                <a:latin typeface="Arial"/>
                <a:cs typeface="Arial"/>
              </a:rPr>
              <a:t> </a:t>
            </a:r>
            <a:endParaRPr sz="900">
              <a:latin typeface="Arial"/>
              <a:cs typeface="Arial"/>
            </a:endParaRPr>
          </a:p>
        </p:txBody>
      </p:sp>
      <p:sp>
        <p:nvSpPr>
          <p:cNvPr id="11" name="object 11"/>
          <p:cNvSpPr txBox="1"/>
          <p:nvPr/>
        </p:nvSpPr>
        <p:spPr>
          <a:xfrm>
            <a:off x="2353589" y="2103089"/>
            <a:ext cx="399415" cy="162560"/>
          </a:xfrm>
          <a:prstGeom prst="rect">
            <a:avLst/>
          </a:prstGeom>
        </p:spPr>
        <p:txBody>
          <a:bodyPr vert="horz" wrap="square" lIns="0" tIns="12065" rIns="0" bIns="0" rtlCol="0">
            <a:spAutoFit/>
          </a:bodyPr>
          <a:lstStyle/>
          <a:p>
            <a:pPr marL="38100">
              <a:lnSpc>
                <a:spcPct val="100000"/>
              </a:lnSpc>
              <a:spcBef>
                <a:spcPts val="95"/>
              </a:spcBef>
            </a:pPr>
            <a:r>
              <a:rPr sz="1350" i="1" u="sng" baseline="15432" dirty="0">
                <a:uFill>
                  <a:solidFill>
                    <a:srgbClr val="000000"/>
                  </a:solidFill>
                </a:uFill>
                <a:latin typeface="Arial"/>
                <a:cs typeface="Arial"/>
              </a:rPr>
              <a:t>r</a:t>
            </a:r>
            <a:r>
              <a:rPr sz="1350" i="1" u="sng" spc="7" baseline="15432" dirty="0">
                <a:uFill>
                  <a:solidFill>
                    <a:srgbClr val="000000"/>
                  </a:solidFill>
                </a:uFill>
                <a:latin typeface="Arial"/>
                <a:cs typeface="Arial"/>
              </a:rPr>
              <a:t> </a:t>
            </a:r>
            <a:r>
              <a:rPr sz="1350" i="1" spc="337" baseline="15432" dirty="0">
                <a:latin typeface="Arial"/>
                <a:cs typeface="Arial"/>
              </a:rPr>
              <a:t> </a:t>
            </a:r>
            <a:r>
              <a:rPr sz="700" i="1" spc="-10" dirty="0">
                <a:latin typeface="Arial"/>
                <a:cs typeface="Arial"/>
              </a:rPr>
              <a:t>k</a:t>
            </a:r>
            <a:r>
              <a:rPr sz="700" i="1" spc="-125" dirty="0">
                <a:latin typeface="Arial"/>
                <a:cs typeface="Arial"/>
              </a:rPr>
              <a:t> </a:t>
            </a:r>
            <a:r>
              <a:rPr sz="700" spc="25" dirty="0">
                <a:latin typeface="Apple Symbols"/>
                <a:cs typeface="Apple Symbols"/>
              </a:rPr>
              <a:t>−</a:t>
            </a:r>
            <a:r>
              <a:rPr sz="700" spc="25" dirty="0">
                <a:latin typeface="Arial"/>
                <a:cs typeface="Arial"/>
              </a:rPr>
              <a:t>1</a:t>
            </a:r>
            <a:endParaRPr sz="700">
              <a:latin typeface="Arial"/>
              <a:cs typeface="Arial"/>
            </a:endParaRPr>
          </a:p>
        </p:txBody>
      </p:sp>
      <p:sp>
        <p:nvSpPr>
          <p:cNvPr id="12" name="object 12"/>
          <p:cNvSpPr txBox="1"/>
          <p:nvPr/>
        </p:nvSpPr>
        <p:spPr>
          <a:xfrm>
            <a:off x="778230" y="2100014"/>
            <a:ext cx="3051810" cy="222250"/>
          </a:xfrm>
          <a:prstGeom prst="rect">
            <a:avLst/>
          </a:prstGeom>
        </p:spPr>
        <p:txBody>
          <a:bodyPr vert="horz" wrap="square" lIns="0" tIns="11430" rIns="0" bIns="0" rtlCol="0">
            <a:spAutoFit/>
          </a:bodyPr>
          <a:lstStyle/>
          <a:p>
            <a:pPr marL="38100">
              <a:lnSpc>
                <a:spcPct val="100000"/>
              </a:lnSpc>
              <a:spcBef>
                <a:spcPts val="90"/>
              </a:spcBef>
              <a:tabLst>
                <a:tab pos="1967864" algn="l"/>
              </a:tabLst>
            </a:pPr>
            <a:r>
              <a:rPr sz="900" i="1" dirty="0">
                <a:latin typeface="Arial"/>
                <a:cs typeface="Arial"/>
              </a:rPr>
              <a:t>S</a:t>
            </a:r>
            <a:r>
              <a:rPr sz="900" i="1" spc="-5" dirty="0">
                <a:latin typeface="Arial"/>
                <a:cs typeface="Arial"/>
              </a:rPr>
              <a:t> </a:t>
            </a:r>
            <a:r>
              <a:rPr sz="900" spc="185" dirty="0">
                <a:latin typeface="Arial"/>
                <a:cs typeface="Arial"/>
              </a:rPr>
              <a:t>=</a:t>
            </a:r>
            <a:r>
              <a:rPr sz="900" spc="200" dirty="0">
                <a:latin typeface="Arial"/>
                <a:cs typeface="Arial"/>
              </a:rPr>
              <a:t> </a:t>
            </a:r>
            <a:r>
              <a:rPr sz="1950" baseline="-8547" dirty="0">
                <a:latin typeface="Times New Roman"/>
                <a:cs typeface="Times New Roman"/>
              </a:rPr>
              <a:t>∑</a:t>
            </a:r>
            <a:r>
              <a:rPr sz="1950" spc="30" baseline="-8547" dirty="0">
                <a:latin typeface="Times New Roman"/>
                <a:cs typeface="Times New Roman"/>
              </a:rPr>
              <a:t> </a:t>
            </a:r>
            <a:r>
              <a:rPr sz="900" i="1" dirty="0">
                <a:latin typeface="Arial"/>
                <a:cs typeface="Arial"/>
              </a:rPr>
              <a:t>k</a:t>
            </a:r>
            <a:r>
              <a:rPr sz="900" i="1" spc="-35" dirty="0">
                <a:latin typeface="Arial"/>
                <a:cs typeface="Arial"/>
              </a:rPr>
              <a:t> </a:t>
            </a:r>
            <a:r>
              <a:rPr sz="900" dirty="0">
                <a:latin typeface="Apple Symbols"/>
                <a:cs typeface="Apple Symbols"/>
              </a:rPr>
              <a:t>·</a:t>
            </a:r>
            <a:r>
              <a:rPr sz="900" spc="-175" dirty="0">
                <a:latin typeface="Apple Symbols"/>
                <a:cs typeface="Apple Symbols"/>
              </a:rPr>
              <a:t> </a:t>
            </a:r>
            <a:r>
              <a:rPr sz="900" spc="-20" dirty="0">
                <a:latin typeface="Arial"/>
                <a:cs typeface="Arial"/>
              </a:rPr>
              <a:t>P[</a:t>
            </a:r>
            <a:r>
              <a:rPr sz="900" i="1" spc="-20" dirty="0">
                <a:latin typeface="Arial"/>
                <a:cs typeface="Arial"/>
              </a:rPr>
              <a:t>k</a:t>
            </a:r>
            <a:r>
              <a:rPr sz="900" i="1" spc="-160" dirty="0">
                <a:latin typeface="Arial"/>
                <a:cs typeface="Arial"/>
              </a:rPr>
              <a:t> </a:t>
            </a:r>
            <a:r>
              <a:rPr sz="900" dirty="0">
                <a:latin typeface="Arial"/>
                <a:cs typeface="Arial"/>
              </a:rPr>
              <a:t>]</a:t>
            </a:r>
            <a:r>
              <a:rPr sz="900" spc="-45" dirty="0">
                <a:latin typeface="Arial"/>
                <a:cs typeface="Arial"/>
              </a:rPr>
              <a:t> </a:t>
            </a:r>
            <a:r>
              <a:rPr sz="900" spc="185" dirty="0">
                <a:latin typeface="Arial"/>
                <a:cs typeface="Arial"/>
              </a:rPr>
              <a:t>=</a:t>
            </a:r>
            <a:r>
              <a:rPr sz="900" spc="195" dirty="0">
                <a:latin typeface="Arial"/>
                <a:cs typeface="Arial"/>
              </a:rPr>
              <a:t> </a:t>
            </a:r>
            <a:r>
              <a:rPr sz="1950" baseline="-8547" dirty="0">
                <a:latin typeface="Times New Roman"/>
                <a:cs typeface="Times New Roman"/>
              </a:rPr>
              <a:t>∑</a:t>
            </a:r>
            <a:r>
              <a:rPr sz="1950" spc="30" baseline="-8547" dirty="0">
                <a:latin typeface="Times New Roman"/>
                <a:cs typeface="Times New Roman"/>
              </a:rPr>
              <a:t> </a:t>
            </a:r>
            <a:r>
              <a:rPr sz="900" i="1" dirty="0">
                <a:latin typeface="Arial"/>
                <a:cs typeface="Arial"/>
              </a:rPr>
              <a:t>k</a:t>
            </a:r>
            <a:r>
              <a:rPr sz="900" i="1" spc="-30" dirty="0">
                <a:latin typeface="Arial"/>
                <a:cs typeface="Arial"/>
              </a:rPr>
              <a:t> </a:t>
            </a:r>
            <a:r>
              <a:rPr sz="900" dirty="0">
                <a:latin typeface="Apple Symbols"/>
                <a:cs typeface="Apple Symbols"/>
              </a:rPr>
              <a:t>·</a:t>
            </a:r>
            <a:r>
              <a:rPr sz="900" spc="-50" dirty="0">
                <a:latin typeface="Apple Symbols"/>
                <a:cs typeface="Apple Symbols"/>
              </a:rPr>
              <a:t> </a:t>
            </a:r>
            <a:r>
              <a:rPr sz="1350" i="1" spc="-15" baseline="-37037" dirty="0">
                <a:latin typeface="Arial"/>
                <a:cs typeface="Arial"/>
              </a:rPr>
              <a:t>N</a:t>
            </a:r>
            <a:r>
              <a:rPr sz="1350" i="1" spc="-89" baseline="-37037" dirty="0">
                <a:latin typeface="Arial"/>
                <a:cs typeface="Arial"/>
              </a:rPr>
              <a:t> </a:t>
            </a:r>
            <a:r>
              <a:rPr sz="900" dirty="0">
                <a:latin typeface="Arial"/>
                <a:cs typeface="Arial"/>
              </a:rPr>
              <a:t>(1</a:t>
            </a:r>
            <a:r>
              <a:rPr sz="900" spc="-125" dirty="0">
                <a:latin typeface="Arial"/>
                <a:cs typeface="Arial"/>
              </a:rPr>
              <a:t> </a:t>
            </a:r>
            <a:r>
              <a:rPr sz="900" spc="160" dirty="0">
                <a:latin typeface="Apple Symbols"/>
                <a:cs typeface="Apple Symbols"/>
              </a:rPr>
              <a:t>−</a:t>
            </a:r>
            <a:r>
              <a:rPr sz="900" spc="-50" dirty="0">
                <a:latin typeface="Apple Symbols"/>
                <a:cs typeface="Apple Symbols"/>
              </a:rPr>
              <a:t> </a:t>
            </a:r>
            <a:r>
              <a:rPr sz="1350" i="1" spc="-15" baseline="-37037" dirty="0">
                <a:latin typeface="Arial"/>
                <a:cs typeface="Arial"/>
              </a:rPr>
              <a:t>N</a:t>
            </a:r>
            <a:r>
              <a:rPr sz="1350" i="1" spc="-89" baseline="-37037" dirty="0">
                <a:latin typeface="Arial"/>
                <a:cs typeface="Arial"/>
              </a:rPr>
              <a:t> </a:t>
            </a:r>
            <a:r>
              <a:rPr sz="900" spc="5" dirty="0">
                <a:latin typeface="Arial"/>
                <a:cs typeface="Arial"/>
              </a:rPr>
              <a:t>)</a:t>
            </a:r>
            <a:r>
              <a:rPr sz="900" dirty="0">
                <a:latin typeface="Arial"/>
                <a:cs typeface="Arial"/>
              </a:rPr>
              <a:t>	</a:t>
            </a:r>
            <a:r>
              <a:rPr sz="900" spc="145" dirty="0">
                <a:latin typeface="Apple Symbols"/>
                <a:cs typeface="Apple Symbols"/>
              </a:rPr>
              <a:t>≈</a:t>
            </a:r>
            <a:r>
              <a:rPr sz="900" spc="-105" dirty="0">
                <a:latin typeface="Apple Symbols"/>
                <a:cs typeface="Apple Symbols"/>
              </a:rPr>
              <a:t> </a:t>
            </a:r>
            <a:r>
              <a:rPr sz="900" i="1" spc="80" dirty="0">
                <a:latin typeface="Arial"/>
                <a:cs typeface="Arial"/>
              </a:rPr>
              <a:t>N/r </a:t>
            </a:r>
            <a:r>
              <a:rPr sz="900" dirty="0">
                <a:latin typeface="Arial"/>
                <a:cs typeface="Arial"/>
              </a:rPr>
              <a:t>for</a:t>
            </a:r>
            <a:r>
              <a:rPr sz="900" spc="-10" dirty="0">
                <a:latin typeface="Arial"/>
                <a:cs typeface="Arial"/>
              </a:rPr>
              <a:t> </a:t>
            </a:r>
            <a:r>
              <a:rPr sz="900" dirty="0">
                <a:latin typeface="Arial"/>
                <a:cs typeface="Arial"/>
              </a:rPr>
              <a:t>1</a:t>
            </a:r>
            <a:r>
              <a:rPr sz="900" spc="-55" dirty="0">
                <a:latin typeface="Arial"/>
                <a:cs typeface="Arial"/>
              </a:rPr>
              <a:t> </a:t>
            </a:r>
            <a:r>
              <a:rPr sz="900" spc="229" dirty="0">
                <a:latin typeface="Apple Symbols"/>
                <a:cs typeface="Apple Symbols"/>
              </a:rPr>
              <a:t>≪</a:t>
            </a:r>
            <a:r>
              <a:rPr sz="900" spc="-105" dirty="0">
                <a:latin typeface="Apple Symbols"/>
                <a:cs typeface="Apple Symbols"/>
              </a:rPr>
              <a:t> </a:t>
            </a:r>
            <a:r>
              <a:rPr sz="900" i="1" dirty="0">
                <a:latin typeface="Arial"/>
                <a:cs typeface="Arial"/>
              </a:rPr>
              <a:t>r</a:t>
            </a:r>
            <a:r>
              <a:rPr sz="900" i="1" spc="45" dirty="0">
                <a:latin typeface="Arial"/>
                <a:cs typeface="Arial"/>
              </a:rPr>
              <a:t> </a:t>
            </a:r>
            <a:r>
              <a:rPr sz="900" spc="165" dirty="0">
                <a:latin typeface="Apple Symbols"/>
                <a:cs typeface="Apple Symbols"/>
              </a:rPr>
              <a:t>≤</a:t>
            </a:r>
            <a:r>
              <a:rPr sz="900" spc="-105" dirty="0">
                <a:latin typeface="Apple Symbols"/>
                <a:cs typeface="Apple Symbols"/>
              </a:rPr>
              <a:t> </a:t>
            </a:r>
            <a:r>
              <a:rPr sz="900" i="1" spc="-25" dirty="0">
                <a:latin typeface="Arial"/>
                <a:cs typeface="Arial"/>
              </a:rPr>
              <a:t>N.</a:t>
            </a:r>
            <a:endParaRPr sz="900">
              <a:latin typeface="Arial"/>
              <a:cs typeface="Arial"/>
            </a:endParaRPr>
          </a:p>
        </p:txBody>
      </p:sp>
      <p:grpSp>
        <p:nvGrpSpPr>
          <p:cNvPr id="13" name="object 13"/>
          <p:cNvGrpSpPr/>
          <p:nvPr/>
        </p:nvGrpSpPr>
        <p:grpSpPr>
          <a:xfrm>
            <a:off x="0" y="3348469"/>
            <a:ext cx="4608195" cy="107950"/>
            <a:chOff x="0" y="3348469"/>
            <a:chExt cx="4608195" cy="107950"/>
          </a:xfrm>
        </p:grpSpPr>
        <p:sp>
          <p:nvSpPr>
            <p:cNvPr id="14" name="object 14"/>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5" name="object 15"/>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6" name="object 16"/>
          <p:cNvSpPr txBox="1"/>
          <p:nvPr/>
        </p:nvSpPr>
        <p:spPr>
          <a:xfrm>
            <a:off x="53467" y="3349927"/>
            <a:ext cx="100393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Unstructured</a:t>
            </a:r>
            <a:r>
              <a:rPr sz="500" spc="5" dirty="0">
                <a:latin typeface="Arial"/>
                <a:cs typeface="Arial"/>
                <a:hlinkClick r:id="rId4" action="ppaction://hlinksldjump"/>
              </a:rPr>
              <a:t> </a:t>
            </a:r>
            <a:r>
              <a:rPr sz="500" spc="-10" dirty="0">
                <a:latin typeface="Arial"/>
                <a:cs typeface="Arial"/>
                <a:hlinkClick r:id="rId4" action="ppaction://hlinksldjump"/>
              </a:rPr>
              <a:t>peer-to-</a:t>
            </a:r>
            <a:r>
              <a:rPr sz="500" dirty="0">
                <a:latin typeface="Arial"/>
                <a:cs typeface="Arial"/>
                <a:hlinkClick r:id="rId4" action="ppaction://hlinksldjump"/>
              </a:rPr>
              <a:t>peer</a:t>
            </a:r>
            <a:r>
              <a:rPr sz="500" spc="10" dirty="0">
                <a:latin typeface="Arial"/>
                <a:cs typeface="Arial"/>
                <a:hlinkClick r:id="rId4" action="ppaction://hlinksldjump"/>
              </a:rPr>
              <a:t> </a:t>
            </a:r>
            <a:r>
              <a:rPr sz="500" spc="-10" dirty="0">
                <a:latin typeface="Arial"/>
                <a:cs typeface="Arial"/>
                <a:hlinkClick r:id="rId4" action="ppaction://hlinksldjump"/>
              </a:rPr>
              <a:t>systems</a:t>
            </a:r>
            <a:endParaRPr sz="500">
              <a:latin typeface="Arial"/>
              <a:cs typeface="Arial"/>
            </a:endParaRP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186430" algn="l"/>
              </a:tabLst>
            </a:pPr>
            <a:r>
              <a:rPr sz="500" spc="-10" dirty="0">
                <a:latin typeface="Arial"/>
                <a:cs typeface="Arial"/>
                <a:hlinkClick r:id="rId2" action="ppaction://hlinksldjump"/>
              </a:rPr>
              <a:t>Architectures</a:t>
            </a:r>
            <a:r>
              <a:rPr sz="500" dirty="0">
                <a:latin typeface="Arial"/>
                <a:cs typeface="Arial"/>
              </a:rPr>
              <a:t>	</a:t>
            </a:r>
            <a:r>
              <a:rPr sz="500" dirty="0">
                <a:solidFill>
                  <a:srgbClr val="FFFFFF"/>
                </a:solidFill>
                <a:latin typeface="Arial"/>
                <a:cs typeface="Arial"/>
                <a:hlinkClick r:id="rId3" action="ppaction://hlinksldjump"/>
              </a:rPr>
              <a:t>Symmetrically</a:t>
            </a:r>
            <a:r>
              <a:rPr sz="500" spc="-4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distributed</a:t>
            </a:r>
            <a:r>
              <a:rPr sz="500" spc="-3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system</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architectures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Flooding</a:t>
            </a:r>
            <a:r>
              <a:rPr spc="-65" dirty="0"/>
              <a:t> </a:t>
            </a:r>
            <a:r>
              <a:rPr dirty="0"/>
              <a:t>versus</a:t>
            </a:r>
            <a:r>
              <a:rPr spc="-60" dirty="0"/>
              <a:t> </a:t>
            </a:r>
            <a:r>
              <a:rPr dirty="0"/>
              <a:t>random</a:t>
            </a:r>
            <a:r>
              <a:rPr spc="-60" dirty="0"/>
              <a:t> </a:t>
            </a:r>
            <a:r>
              <a:rPr spc="-20" dirty="0"/>
              <a:t>walk</a:t>
            </a:r>
          </a:p>
        </p:txBody>
      </p:sp>
      <p:sp>
        <p:nvSpPr>
          <p:cNvPr id="4" name="object 4"/>
          <p:cNvSpPr txBox="1"/>
          <p:nvPr/>
        </p:nvSpPr>
        <p:spPr>
          <a:xfrm>
            <a:off x="334594" y="514774"/>
            <a:ext cx="3560445" cy="710565"/>
          </a:xfrm>
          <a:prstGeom prst="rect">
            <a:avLst/>
          </a:prstGeom>
        </p:spPr>
        <p:txBody>
          <a:bodyPr vert="horz" wrap="square" lIns="0" tIns="12065" rIns="0" bIns="0" rtlCol="0">
            <a:spAutoFit/>
          </a:bodyPr>
          <a:lstStyle/>
          <a:p>
            <a:pPr marL="25400">
              <a:lnSpc>
                <a:spcPct val="100000"/>
              </a:lnSpc>
              <a:spcBef>
                <a:spcPts val="95"/>
              </a:spcBef>
            </a:pPr>
            <a:r>
              <a:rPr sz="1000" spc="-10" dirty="0">
                <a:solidFill>
                  <a:srgbClr val="3333B2"/>
                </a:solidFill>
                <a:latin typeface="Arial"/>
                <a:cs typeface="Arial"/>
              </a:rPr>
              <a:t>Flooding</a:t>
            </a:r>
            <a:endParaRPr sz="1000">
              <a:latin typeface="Arial"/>
              <a:cs typeface="Arial"/>
            </a:endParaRPr>
          </a:p>
          <a:p>
            <a:pPr marL="278130" indent="-120650">
              <a:lnSpc>
                <a:spcPct val="100000"/>
              </a:lnSpc>
              <a:spcBef>
                <a:spcPts val="710"/>
              </a:spcBef>
              <a:buClr>
                <a:srgbClr val="3333B2"/>
              </a:buClr>
              <a:buFont typeface="Apple Symbols"/>
              <a:buChar char="•"/>
              <a:tabLst>
                <a:tab pos="278765" algn="l"/>
              </a:tabLst>
            </a:pPr>
            <a:r>
              <a:rPr sz="900" dirty="0">
                <a:latin typeface="Arial"/>
                <a:cs typeface="Arial"/>
              </a:rPr>
              <a:t>Flood</a:t>
            </a:r>
            <a:r>
              <a:rPr sz="900" spc="-30" dirty="0">
                <a:latin typeface="Arial"/>
                <a:cs typeface="Arial"/>
              </a:rPr>
              <a:t> </a:t>
            </a:r>
            <a:r>
              <a:rPr sz="900" dirty="0">
                <a:latin typeface="Arial"/>
                <a:cs typeface="Arial"/>
              </a:rPr>
              <a:t>to</a:t>
            </a:r>
            <a:r>
              <a:rPr sz="900" spc="-25" dirty="0">
                <a:latin typeface="Arial"/>
                <a:cs typeface="Arial"/>
              </a:rPr>
              <a:t> </a:t>
            </a:r>
            <a:r>
              <a:rPr sz="900" i="1" dirty="0">
                <a:latin typeface="Arial"/>
                <a:cs typeface="Arial"/>
              </a:rPr>
              <a:t>d</a:t>
            </a:r>
            <a:r>
              <a:rPr sz="900" i="1" spc="60" dirty="0">
                <a:latin typeface="Arial"/>
                <a:cs typeface="Arial"/>
              </a:rPr>
              <a:t> </a:t>
            </a:r>
            <a:r>
              <a:rPr sz="900" dirty="0">
                <a:latin typeface="Arial"/>
                <a:cs typeface="Arial"/>
              </a:rPr>
              <a:t>randomly</a:t>
            </a:r>
            <a:r>
              <a:rPr sz="900" spc="-30" dirty="0">
                <a:latin typeface="Arial"/>
                <a:cs typeface="Arial"/>
              </a:rPr>
              <a:t> </a:t>
            </a:r>
            <a:r>
              <a:rPr sz="900" dirty="0">
                <a:latin typeface="Arial"/>
                <a:cs typeface="Arial"/>
              </a:rPr>
              <a:t>chosen</a:t>
            </a:r>
            <a:r>
              <a:rPr sz="900" spc="-25" dirty="0">
                <a:latin typeface="Arial"/>
                <a:cs typeface="Arial"/>
              </a:rPr>
              <a:t> </a:t>
            </a:r>
            <a:r>
              <a:rPr sz="900" spc="-10" dirty="0">
                <a:latin typeface="Arial"/>
                <a:cs typeface="Arial"/>
              </a:rPr>
              <a:t>neighbors</a:t>
            </a:r>
            <a:endParaRPr sz="900">
              <a:latin typeface="Arial"/>
              <a:cs typeface="Arial"/>
            </a:endParaRPr>
          </a:p>
          <a:p>
            <a:pPr marL="274320" marR="17780" indent="-116839">
              <a:lnSpc>
                <a:spcPct val="111600"/>
              </a:lnSpc>
              <a:buClr>
                <a:srgbClr val="3333B2"/>
              </a:buClr>
              <a:buFont typeface="Apple Symbols"/>
              <a:buChar char="•"/>
              <a:tabLst>
                <a:tab pos="274955" algn="l"/>
              </a:tabLst>
            </a:pPr>
            <a:r>
              <a:rPr sz="900" dirty="0">
                <a:latin typeface="Arial"/>
                <a:cs typeface="Arial"/>
              </a:rPr>
              <a:t>After </a:t>
            </a:r>
            <a:r>
              <a:rPr sz="900" i="1" dirty="0">
                <a:latin typeface="Arial"/>
                <a:cs typeface="Arial"/>
              </a:rPr>
              <a:t>k</a:t>
            </a:r>
            <a:r>
              <a:rPr sz="900" i="1" spc="95" dirty="0">
                <a:latin typeface="Arial"/>
                <a:cs typeface="Arial"/>
              </a:rPr>
              <a:t> </a:t>
            </a:r>
            <a:r>
              <a:rPr sz="900" dirty="0">
                <a:latin typeface="Arial"/>
                <a:cs typeface="Arial"/>
              </a:rPr>
              <a:t>steps, some</a:t>
            </a:r>
            <a:r>
              <a:rPr sz="900" spc="5" dirty="0">
                <a:latin typeface="Arial"/>
                <a:cs typeface="Arial"/>
              </a:rPr>
              <a:t> </a:t>
            </a:r>
            <a:r>
              <a:rPr sz="900" i="1" dirty="0">
                <a:latin typeface="Arial"/>
                <a:cs typeface="Arial"/>
              </a:rPr>
              <a:t>R</a:t>
            </a:r>
            <a:r>
              <a:rPr sz="900" dirty="0">
                <a:latin typeface="Arial"/>
                <a:cs typeface="Arial"/>
              </a:rPr>
              <a:t>(</a:t>
            </a:r>
            <a:r>
              <a:rPr sz="900" i="1" dirty="0">
                <a:latin typeface="Arial"/>
                <a:cs typeface="Arial"/>
              </a:rPr>
              <a:t>k</a:t>
            </a:r>
            <a:r>
              <a:rPr sz="900" i="1" spc="-165" dirty="0">
                <a:latin typeface="Arial"/>
                <a:cs typeface="Arial"/>
              </a:rPr>
              <a:t> </a:t>
            </a:r>
            <a:r>
              <a:rPr sz="900" spc="55" dirty="0">
                <a:latin typeface="Arial"/>
                <a:cs typeface="Arial"/>
              </a:rPr>
              <a:t>)</a:t>
            </a:r>
            <a:r>
              <a:rPr sz="900" spc="-50" dirty="0">
                <a:latin typeface="Arial"/>
                <a:cs typeface="Arial"/>
              </a:rPr>
              <a:t> </a:t>
            </a:r>
            <a:r>
              <a:rPr sz="900" spc="185" dirty="0">
                <a:latin typeface="Arial"/>
                <a:cs typeface="Arial"/>
              </a:rPr>
              <a:t>=</a:t>
            </a:r>
            <a:r>
              <a:rPr sz="900" spc="-45" dirty="0">
                <a:latin typeface="Arial"/>
                <a:cs typeface="Arial"/>
              </a:rPr>
              <a:t> </a:t>
            </a:r>
            <a:r>
              <a:rPr sz="900" i="1" dirty="0">
                <a:latin typeface="Arial"/>
                <a:cs typeface="Arial"/>
              </a:rPr>
              <a:t>d</a:t>
            </a:r>
            <a:r>
              <a:rPr sz="900" i="1" spc="-35" dirty="0">
                <a:latin typeface="Arial"/>
                <a:cs typeface="Arial"/>
              </a:rPr>
              <a:t> </a:t>
            </a:r>
            <a:r>
              <a:rPr sz="900" dirty="0">
                <a:latin typeface="Apple Symbols"/>
                <a:cs typeface="Apple Symbols"/>
              </a:rPr>
              <a:t>·</a:t>
            </a:r>
            <a:r>
              <a:rPr sz="900" spc="-180" dirty="0">
                <a:latin typeface="Apple Symbols"/>
                <a:cs typeface="Apple Symbols"/>
              </a:rPr>
              <a:t> </a:t>
            </a:r>
            <a:r>
              <a:rPr sz="900" dirty="0">
                <a:latin typeface="Arial"/>
                <a:cs typeface="Arial"/>
              </a:rPr>
              <a:t>(</a:t>
            </a:r>
            <a:r>
              <a:rPr sz="900" i="1" dirty="0">
                <a:latin typeface="Arial"/>
                <a:cs typeface="Arial"/>
              </a:rPr>
              <a:t>d</a:t>
            </a:r>
            <a:r>
              <a:rPr sz="900" i="1" spc="-30" dirty="0">
                <a:latin typeface="Arial"/>
                <a:cs typeface="Arial"/>
              </a:rPr>
              <a:t> </a:t>
            </a:r>
            <a:r>
              <a:rPr sz="900" spc="160" dirty="0">
                <a:latin typeface="Apple Symbols"/>
                <a:cs typeface="Apple Symbols"/>
              </a:rPr>
              <a:t>−</a:t>
            </a:r>
            <a:r>
              <a:rPr sz="900" spc="-180" dirty="0">
                <a:latin typeface="Apple Symbols"/>
                <a:cs typeface="Apple Symbols"/>
              </a:rPr>
              <a:t> </a:t>
            </a:r>
            <a:r>
              <a:rPr sz="900" dirty="0">
                <a:latin typeface="Arial"/>
                <a:cs typeface="Arial"/>
              </a:rPr>
              <a:t>1)</a:t>
            </a:r>
            <a:r>
              <a:rPr sz="1050" i="1" baseline="27777" dirty="0">
                <a:latin typeface="Arial"/>
                <a:cs typeface="Arial"/>
              </a:rPr>
              <a:t>k</a:t>
            </a:r>
            <a:r>
              <a:rPr sz="1050" i="1" spc="-179" baseline="27777" dirty="0">
                <a:latin typeface="Arial"/>
                <a:cs typeface="Arial"/>
              </a:rPr>
              <a:t> </a:t>
            </a:r>
            <a:r>
              <a:rPr sz="1050" spc="89" baseline="27777" dirty="0">
                <a:latin typeface="Apple Symbols"/>
                <a:cs typeface="Apple Symbols"/>
              </a:rPr>
              <a:t>−</a:t>
            </a:r>
            <a:r>
              <a:rPr sz="1050" spc="89" baseline="27777" dirty="0">
                <a:latin typeface="Arial"/>
                <a:cs typeface="Arial"/>
              </a:rPr>
              <a:t>1</a:t>
            </a:r>
            <a:r>
              <a:rPr sz="1050" spc="165" baseline="27777" dirty="0">
                <a:latin typeface="Arial"/>
                <a:cs typeface="Arial"/>
              </a:rPr>
              <a:t> </a:t>
            </a:r>
            <a:r>
              <a:rPr sz="900" dirty="0">
                <a:latin typeface="Arial"/>
                <a:cs typeface="Arial"/>
              </a:rPr>
              <a:t>will </a:t>
            </a:r>
            <a:r>
              <a:rPr sz="900" spc="-10" dirty="0">
                <a:latin typeface="Arial"/>
                <a:cs typeface="Arial"/>
              </a:rPr>
              <a:t>have</a:t>
            </a:r>
            <a:r>
              <a:rPr sz="900" dirty="0">
                <a:latin typeface="Arial"/>
                <a:cs typeface="Arial"/>
              </a:rPr>
              <a:t> been</a:t>
            </a:r>
            <a:r>
              <a:rPr sz="900" spc="5" dirty="0">
                <a:latin typeface="Arial"/>
                <a:cs typeface="Arial"/>
              </a:rPr>
              <a:t> </a:t>
            </a:r>
            <a:r>
              <a:rPr sz="900" spc="-10" dirty="0">
                <a:latin typeface="Arial"/>
                <a:cs typeface="Arial"/>
              </a:rPr>
              <a:t>reached </a:t>
            </a:r>
            <a:r>
              <a:rPr sz="900" dirty="0">
                <a:latin typeface="Arial"/>
                <a:cs typeface="Arial"/>
              </a:rPr>
              <a:t>(assuming</a:t>
            </a:r>
            <a:r>
              <a:rPr sz="900" spc="-25" dirty="0">
                <a:latin typeface="Arial"/>
                <a:cs typeface="Arial"/>
              </a:rPr>
              <a:t> </a:t>
            </a:r>
            <a:r>
              <a:rPr sz="900" i="1" dirty="0">
                <a:latin typeface="Arial"/>
                <a:cs typeface="Arial"/>
              </a:rPr>
              <a:t>k</a:t>
            </a:r>
            <a:r>
              <a:rPr sz="900" i="1" spc="65" dirty="0">
                <a:latin typeface="Arial"/>
                <a:cs typeface="Arial"/>
              </a:rPr>
              <a:t> </a:t>
            </a:r>
            <a:r>
              <a:rPr sz="900" dirty="0">
                <a:latin typeface="Arial"/>
                <a:cs typeface="Arial"/>
              </a:rPr>
              <a:t>is</a:t>
            </a:r>
            <a:r>
              <a:rPr sz="900" spc="-20" dirty="0">
                <a:latin typeface="Arial"/>
                <a:cs typeface="Arial"/>
              </a:rPr>
              <a:t> </a:t>
            </a:r>
            <a:r>
              <a:rPr sz="900" spc="-10" dirty="0">
                <a:latin typeface="Arial"/>
                <a:cs typeface="Arial"/>
              </a:rPr>
              <a:t>small).</a:t>
            </a:r>
            <a:endParaRPr sz="900">
              <a:latin typeface="Arial"/>
              <a:cs typeface="Arial"/>
            </a:endParaRPr>
          </a:p>
        </p:txBody>
      </p:sp>
      <p:sp>
        <p:nvSpPr>
          <p:cNvPr id="5" name="object 5"/>
          <p:cNvSpPr txBox="1"/>
          <p:nvPr/>
        </p:nvSpPr>
        <p:spPr>
          <a:xfrm>
            <a:off x="2584018" y="1283997"/>
            <a:ext cx="89535" cy="132080"/>
          </a:xfrm>
          <a:prstGeom prst="rect">
            <a:avLst/>
          </a:prstGeom>
        </p:spPr>
        <p:txBody>
          <a:bodyPr vert="horz" wrap="square" lIns="0" tIns="12065" rIns="0" bIns="0" rtlCol="0">
            <a:spAutoFit/>
          </a:bodyPr>
          <a:lstStyle/>
          <a:p>
            <a:pPr marL="12700">
              <a:lnSpc>
                <a:spcPct val="100000"/>
              </a:lnSpc>
              <a:spcBef>
                <a:spcPts val="95"/>
              </a:spcBef>
            </a:pPr>
            <a:r>
              <a:rPr sz="700" i="1" spc="-5" dirty="0">
                <a:latin typeface="Arial"/>
                <a:cs typeface="Arial"/>
              </a:rPr>
              <a:t>N</a:t>
            </a:r>
            <a:endParaRPr sz="700">
              <a:latin typeface="Arial"/>
              <a:cs typeface="Arial"/>
            </a:endParaRPr>
          </a:p>
        </p:txBody>
      </p:sp>
      <p:sp>
        <p:nvSpPr>
          <p:cNvPr id="6" name="object 6"/>
          <p:cNvSpPr txBox="1"/>
          <p:nvPr/>
        </p:nvSpPr>
        <p:spPr>
          <a:xfrm>
            <a:off x="454748" y="1216337"/>
            <a:ext cx="3763010" cy="162560"/>
          </a:xfrm>
          <a:prstGeom prst="rect">
            <a:avLst/>
          </a:prstGeom>
        </p:spPr>
        <p:txBody>
          <a:bodyPr vert="horz" wrap="square" lIns="0" tIns="12065" rIns="0" bIns="0" rtlCol="0">
            <a:spAutoFit/>
          </a:bodyPr>
          <a:lstStyle/>
          <a:p>
            <a:pPr marL="152400" indent="-114935">
              <a:lnSpc>
                <a:spcPct val="100000"/>
              </a:lnSpc>
              <a:spcBef>
                <a:spcPts val="95"/>
              </a:spcBef>
              <a:buClr>
                <a:srgbClr val="3333B2"/>
              </a:buClr>
              <a:buFont typeface="Apple Symbols"/>
              <a:buChar char="•"/>
              <a:tabLst>
                <a:tab pos="153035" algn="l"/>
              </a:tabLst>
            </a:pPr>
            <a:r>
              <a:rPr sz="900" dirty="0">
                <a:latin typeface="Arial"/>
                <a:cs typeface="Arial"/>
              </a:rPr>
              <a:t>With</a:t>
            </a:r>
            <a:r>
              <a:rPr sz="900" spc="-25" dirty="0">
                <a:latin typeface="Arial"/>
                <a:cs typeface="Arial"/>
              </a:rPr>
              <a:t> </a:t>
            </a:r>
            <a:r>
              <a:rPr sz="900" dirty="0">
                <a:latin typeface="Arial"/>
                <a:cs typeface="Arial"/>
              </a:rPr>
              <a:t>fraction</a:t>
            </a:r>
            <a:r>
              <a:rPr sz="900" spc="-10" dirty="0">
                <a:latin typeface="Arial"/>
                <a:cs typeface="Arial"/>
              </a:rPr>
              <a:t> </a:t>
            </a:r>
            <a:r>
              <a:rPr sz="900" i="1" spc="95" dirty="0">
                <a:latin typeface="Arial"/>
                <a:cs typeface="Arial"/>
              </a:rPr>
              <a:t>r/N</a:t>
            </a:r>
            <a:r>
              <a:rPr sz="900" i="1" spc="60" dirty="0">
                <a:latin typeface="Arial"/>
                <a:cs typeface="Arial"/>
              </a:rPr>
              <a:t> </a:t>
            </a:r>
            <a:r>
              <a:rPr sz="900" dirty="0">
                <a:latin typeface="Arial"/>
                <a:cs typeface="Arial"/>
              </a:rPr>
              <a:t>nodes</a:t>
            </a:r>
            <a:r>
              <a:rPr sz="900" spc="-10" dirty="0">
                <a:latin typeface="Arial"/>
                <a:cs typeface="Arial"/>
              </a:rPr>
              <a:t> </a:t>
            </a:r>
            <a:r>
              <a:rPr sz="900" dirty="0">
                <a:latin typeface="Arial"/>
                <a:cs typeface="Arial"/>
              </a:rPr>
              <a:t>having</a:t>
            </a:r>
            <a:r>
              <a:rPr sz="900" spc="-10" dirty="0">
                <a:latin typeface="Arial"/>
                <a:cs typeface="Arial"/>
              </a:rPr>
              <a:t> </a:t>
            </a:r>
            <a:r>
              <a:rPr sz="900" dirty="0">
                <a:latin typeface="Arial"/>
                <a:cs typeface="Arial"/>
              </a:rPr>
              <a:t>data,</a:t>
            </a:r>
            <a:r>
              <a:rPr sz="900" spc="-10" dirty="0">
                <a:latin typeface="Arial"/>
                <a:cs typeface="Arial"/>
              </a:rPr>
              <a:t> </a:t>
            </a:r>
            <a:r>
              <a:rPr sz="900" dirty="0">
                <a:latin typeface="Arial"/>
                <a:cs typeface="Arial"/>
              </a:rPr>
              <a:t>if</a:t>
            </a:r>
            <a:r>
              <a:rPr sz="900" spc="105" dirty="0">
                <a:latin typeface="Arial"/>
                <a:cs typeface="Arial"/>
              </a:rPr>
              <a:t> </a:t>
            </a:r>
            <a:r>
              <a:rPr sz="1050" u="sng" spc="-89" baseline="27777" dirty="0">
                <a:uFill>
                  <a:solidFill>
                    <a:srgbClr val="000000"/>
                  </a:solidFill>
                </a:uFill>
                <a:latin typeface="Times New Roman"/>
                <a:cs typeface="Times New Roman"/>
              </a:rPr>
              <a:t> </a:t>
            </a:r>
            <a:r>
              <a:rPr sz="1050" i="1" u="sng" baseline="27777" dirty="0">
                <a:uFill>
                  <a:solidFill>
                    <a:srgbClr val="000000"/>
                  </a:solidFill>
                </a:uFill>
                <a:latin typeface="Arial"/>
                <a:cs typeface="Arial"/>
              </a:rPr>
              <a:t>r</a:t>
            </a:r>
            <a:r>
              <a:rPr sz="1050" i="1" u="sng" spc="7" baseline="27777" dirty="0">
                <a:uFill>
                  <a:solidFill>
                    <a:srgbClr val="000000"/>
                  </a:solidFill>
                </a:uFill>
                <a:latin typeface="Arial"/>
                <a:cs typeface="Arial"/>
              </a:rPr>
              <a:t> </a:t>
            </a:r>
            <a:r>
              <a:rPr sz="1050" i="1" spc="60" baseline="27777" dirty="0">
                <a:latin typeface="Arial"/>
                <a:cs typeface="Arial"/>
              </a:rPr>
              <a:t> </a:t>
            </a:r>
            <a:r>
              <a:rPr sz="900" dirty="0">
                <a:latin typeface="Apple Symbols"/>
                <a:cs typeface="Apple Symbols"/>
              </a:rPr>
              <a:t>·</a:t>
            </a:r>
            <a:r>
              <a:rPr sz="900" spc="-180" dirty="0">
                <a:latin typeface="Apple Symbols"/>
                <a:cs typeface="Apple Symbols"/>
              </a:rPr>
              <a:t> </a:t>
            </a:r>
            <a:r>
              <a:rPr sz="900" i="1" dirty="0">
                <a:latin typeface="Arial"/>
                <a:cs typeface="Arial"/>
              </a:rPr>
              <a:t>R</a:t>
            </a:r>
            <a:r>
              <a:rPr sz="900" dirty="0">
                <a:latin typeface="Arial"/>
                <a:cs typeface="Arial"/>
              </a:rPr>
              <a:t>(</a:t>
            </a:r>
            <a:r>
              <a:rPr sz="900" i="1" dirty="0">
                <a:latin typeface="Arial"/>
                <a:cs typeface="Arial"/>
              </a:rPr>
              <a:t>k</a:t>
            </a:r>
            <a:r>
              <a:rPr sz="900" i="1" spc="-165" dirty="0">
                <a:latin typeface="Arial"/>
                <a:cs typeface="Arial"/>
              </a:rPr>
              <a:t> </a:t>
            </a:r>
            <a:r>
              <a:rPr sz="900" spc="55" dirty="0">
                <a:latin typeface="Arial"/>
                <a:cs typeface="Arial"/>
              </a:rPr>
              <a:t>)</a:t>
            </a:r>
            <a:r>
              <a:rPr sz="900" spc="-60" dirty="0">
                <a:latin typeface="Arial"/>
                <a:cs typeface="Arial"/>
              </a:rPr>
              <a:t> </a:t>
            </a:r>
            <a:r>
              <a:rPr sz="900" spc="114" dirty="0">
                <a:latin typeface="Apple Symbols"/>
                <a:cs typeface="Apple Symbols"/>
              </a:rPr>
              <a:t>≥</a:t>
            </a:r>
            <a:r>
              <a:rPr sz="900" spc="-105" dirty="0">
                <a:latin typeface="Apple Symbols"/>
                <a:cs typeface="Apple Symbols"/>
              </a:rPr>
              <a:t> </a:t>
            </a:r>
            <a:r>
              <a:rPr sz="900" dirty="0">
                <a:latin typeface="Arial"/>
                <a:cs typeface="Arial"/>
              </a:rPr>
              <a:t>1,</a:t>
            </a:r>
            <a:r>
              <a:rPr sz="900" spc="-10" dirty="0">
                <a:latin typeface="Arial"/>
                <a:cs typeface="Arial"/>
              </a:rPr>
              <a:t> </a:t>
            </a:r>
            <a:r>
              <a:rPr sz="900" dirty="0">
                <a:latin typeface="Arial"/>
                <a:cs typeface="Arial"/>
              </a:rPr>
              <a:t>we</a:t>
            </a:r>
            <a:r>
              <a:rPr sz="900" spc="-10" dirty="0">
                <a:latin typeface="Arial"/>
                <a:cs typeface="Arial"/>
              </a:rPr>
              <a:t> </a:t>
            </a:r>
            <a:r>
              <a:rPr sz="900" dirty="0">
                <a:latin typeface="Arial"/>
                <a:cs typeface="Arial"/>
              </a:rPr>
              <a:t>will</a:t>
            </a:r>
            <a:r>
              <a:rPr sz="900" spc="-10" dirty="0">
                <a:latin typeface="Arial"/>
                <a:cs typeface="Arial"/>
              </a:rPr>
              <a:t> have found</a:t>
            </a:r>
            <a:endParaRPr sz="900">
              <a:latin typeface="Arial"/>
              <a:cs typeface="Arial"/>
            </a:endParaRPr>
          </a:p>
        </p:txBody>
      </p:sp>
      <p:sp>
        <p:nvSpPr>
          <p:cNvPr id="7" name="object 7"/>
          <p:cNvSpPr txBox="1"/>
          <p:nvPr/>
        </p:nvSpPr>
        <p:spPr>
          <a:xfrm>
            <a:off x="309194" y="1369435"/>
            <a:ext cx="3929379" cy="1256030"/>
          </a:xfrm>
          <a:prstGeom prst="rect">
            <a:avLst/>
          </a:prstGeom>
        </p:spPr>
        <p:txBody>
          <a:bodyPr vert="horz" wrap="square" lIns="0" tIns="12065" rIns="0" bIns="0" rtlCol="0">
            <a:spAutoFit/>
          </a:bodyPr>
          <a:lstStyle/>
          <a:p>
            <a:pPr marL="303530">
              <a:lnSpc>
                <a:spcPct val="100000"/>
              </a:lnSpc>
              <a:spcBef>
                <a:spcPts val="95"/>
              </a:spcBef>
            </a:pPr>
            <a:r>
              <a:rPr sz="900" dirty="0">
                <a:latin typeface="Arial"/>
                <a:cs typeface="Arial"/>
              </a:rPr>
              <a:t>the</a:t>
            </a:r>
            <a:r>
              <a:rPr sz="900" spc="-30" dirty="0">
                <a:latin typeface="Arial"/>
                <a:cs typeface="Arial"/>
              </a:rPr>
              <a:t> </a:t>
            </a:r>
            <a:r>
              <a:rPr sz="900" dirty="0">
                <a:latin typeface="Arial"/>
                <a:cs typeface="Arial"/>
              </a:rPr>
              <a:t>data</a:t>
            </a:r>
            <a:r>
              <a:rPr sz="900" spc="-20" dirty="0">
                <a:latin typeface="Arial"/>
                <a:cs typeface="Arial"/>
              </a:rPr>
              <a:t> </a:t>
            </a:r>
            <a:r>
              <a:rPr sz="900" spc="-10" dirty="0">
                <a:latin typeface="Arial"/>
                <a:cs typeface="Arial"/>
              </a:rPr>
              <a:t>item.</a:t>
            </a:r>
            <a:endParaRPr sz="900">
              <a:latin typeface="Arial"/>
              <a:cs typeface="Arial"/>
            </a:endParaRPr>
          </a:p>
          <a:p>
            <a:pPr>
              <a:lnSpc>
                <a:spcPct val="100000"/>
              </a:lnSpc>
              <a:spcBef>
                <a:spcPts val="20"/>
              </a:spcBef>
            </a:pPr>
            <a:endParaRPr sz="1050">
              <a:latin typeface="Arial"/>
              <a:cs typeface="Arial"/>
            </a:endParaRPr>
          </a:p>
          <a:p>
            <a:pPr marL="50800">
              <a:lnSpc>
                <a:spcPct val="100000"/>
              </a:lnSpc>
            </a:pPr>
            <a:r>
              <a:rPr sz="1000" spc="-10" dirty="0">
                <a:solidFill>
                  <a:srgbClr val="4C994C"/>
                </a:solidFill>
                <a:latin typeface="Arial"/>
                <a:cs typeface="Arial"/>
              </a:rPr>
              <a:t>Comparison</a:t>
            </a:r>
            <a:endParaRPr sz="1000">
              <a:latin typeface="Arial"/>
              <a:cs typeface="Arial"/>
            </a:endParaRPr>
          </a:p>
          <a:p>
            <a:pPr marL="303530" indent="-120650">
              <a:lnSpc>
                <a:spcPct val="100000"/>
              </a:lnSpc>
              <a:spcBef>
                <a:spcPts val="695"/>
              </a:spcBef>
              <a:buClr>
                <a:srgbClr val="3333B2"/>
              </a:buClr>
              <a:buFont typeface="Apple Symbols"/>
              <a:buChar char="•"/>
              <a:tabLst>
                <a:tab pos="304165" algn="l"/>
              </a:tabLst>
            </a:pPr>
            <a:r>
              <a:rPr sz="900" dirty="0">
                <a:latin typeface="Arial"/>
                <a:cs typeface="Arial"/>
              </a:rPr>
              <a:t>If</a:t>
            </a:r>
            <a:r>
              <a:rPr sz="900" spc="-20" dirty="0">
                <a:latin typeface="Arial"/>
                <a:cs typeface="Arial"/>
              </a:rPr>
              <a:t> </a:t>
            </a:r>
            <a:r>
              <a:rPr sz="900" i="1" spc="95" dirty="0">
                <a:latin typeface="Arial"/>
                <a:cs typeface="Arial"/>
              </a:rPr>
              <a:t>r/N</a:t>
            </a:r>
            <a:r>
              <a:rPr sz="900" i="1" spc="10" dirty="0">
                <a:latin typeface="Arial"/>
                <a:cs typeface="Arial"/>
              </a:rPr>
              <a:t> </a:t>
            </a:r>
            <a:r>
              <a:rPr sz="900" spc="185" dirty="0">
                <a:latin typeface="Arial"/>
                <a:cs typeface="Arial"/>
              </a:rPr>
              <a:t>=</a:t>
            </a:r>
            <a:r>
              <a:rPr sz="900" spc="-60" dirty="0">
                <a:latin typeface="Arial"/>
                <a:cs typeface="Arial"/>
              </a:rPr>
              <a:t> </a:t>
            </a:r>
            <a:r>
              <a:rPr sz="900" dirty="0">
                <a:latin typeface="Arial"/>
                <a:cs typeface="Arial"/>
              </a:rPr>
              <a:t>0</a:t>
            </a:r>
            <a:r>
              <a:rPr sz="900" i="1" dirty="0">
                <a:latin typeface="Arial"/>
                <a:cs typeface="Arial"/>
              </a:rPr>
              <a:t>.</a:t>
            </a:r>
            <a:r>
              <a:rPr sz="900" dirty="0">
                <a:latin typeface="Arial"/>
                <a:cs typeface="Arial"/>
              </a:rPr>
              <a:t>001,</a:t>
            </a:r>
            <a:r>
              <a:rPr sz="900" spc="-15" dirty="0">
                <a:latin typeface="Arial"/>
                <a:cs typeface="Arial"/>
              </a:rPr>
              <a:t> </a:t>
            </a:r>
            <a:r>
              <a:rPr sz="900" dirty="0">
                <a:latin typeface="Arial"/>
                <a:cs typeface="Arial"/>
              </a:rPr>
              <a:t>then</a:t>
            </a:r>
            <a:r>
              <a:rPr sz="900" spc="-10" dirty="0">
                <a:latin typeface="Arial"/>
                <a:cs typeface="Arial"/>
              </a:rPr>
              <a:t> </a:t>
            </a:r>
            <a:r>
              <a:rPr sz="900" i="1" dirty="0">
                <a:latin typeface="Arial"/>
                <a:cs typeface="Arial"/>
              </a:rPr>
              <a:t>S</a:t>
            </a:r>
            <a:r>
              <a:rPr sz="900" i="1" spc="-15" dirty="0">
                <a:latin typeface="Arial"/>
                <a:cs typeface="Arial"/>
              </a:rPr>
              <a:t> </a:t>
            </a:r>
            <a:r>
              <a:rPr sz="900" spc="145" dirty="0">
                <a:latin typeface="Apple Symbols"/>
                <a:cs typeface="Apple Symbols"/>
              </a:rPr>
              <a:t>≈</a:t>
            </a:r>
            <a:r>
              <a:rPr sz="900" spc="-105" dirty="0">
                <a:latin typeface="Apple Symbols"/>
                <a:cs typeface="Apple Symbols"/>
              </a:rPr>
              <a:t> </a:t>
            </a:r>
            <a:r>
              <a:rPr sz="900" spc="-20" dirty="0">
                <a:latin typeface="Arial"/>
                <a:cs typeface="Arial"/>
              </a:rPr>
              <a:t>1000</a:t>
            </a:r>
            <a:endParaRPr sz="900">
              <a:latin typeface="Arial"/>
              <a:cs typeface="Arial"/>
            </a:endParaRPr>
          </a:p>
          <a:p>
            <a:pPr marL="298450" indent="-115570">
              <a:lnSpc>
                <a:spcPct val="100000"/>
              </a:lnSpc>
              <a:spcBef>
                <a:spcPts val="520"/>
              </a:spcBef>
              <a:buClr>
                <a:srgbClr val="3333B2"/>
              </a:buClr>
              <a:buFont typeface="Apple Symbols"/>
              <a:buChar char="•"/>
              <a:tabLst>
                <a:tab pos="299085" algn="l"/>
              </a:tabLst>
            </a:pPr>
            <a:r>
              <a:rPr sz="900" dirty="0">
                <a:latin typeface="Arial"/>
                <a:cs typeface="Arial"/>
              </a:rPr>
              <a:t>With</a:t>
            </a:r>
            <a:r>
              <a:rPr sz="900" spc="-25" dirty="0">
                <a:latin typeface="Arial"/>
                <a:cs typeface="Arial"/>
              </a:rPr>
              <a:t> </a:t>
            </a:r>
            <a:r>
              <a:rPr sz="900" dirty="0">
                <a:latin typeface="Arial"/>
                <a:cs typeface="Arial"/>
              </a:rPr>
              <a:t>flooding</a:t>
            </a:r>
            <a:r>
              <a:rPr sz="900" spc="-20" dirty="0">
                <a:latin typeface="Arial"/>
                <a:cs typeface="Arial"/>
              </a:rPr>
              <a:t> </a:t>
            </a:r>
            <a:r>
              <a:rPr sz="900" dirty="0">
                <a:latin typeface="Arial"/>
                <a:cs typeface="Arial"/>
              </a:rPr>
              <a:t>and</a:t>
            </a:r>
            <a:r>
              <a:rPr sz="900" spc="-15" dirty="0">
                <a:latin typeface="Arial"/>
                <a:cs typeface="Arial"/>
              </a:rPr>
              <a:t> </a:t>
            </a:r>
            <a:r>
              <a:rPr sz="900" i="1" dirty="0">
                <a:latin typeface="Arial"/>
                <a:cs typeface="Arial"/>
              </a:rPr>
              <a:t>d</a:t>
            </a:r>
            <a:r>
              <a:rPr sz="900" i="1" spc="20" dirty="0">
                <a:latin typeface="Arial"/>
                <a:cs typeface="Arial"/>
              </a:rPr>
              <a:t> </a:t>
            </a:r>
            <a:r>
              <a:rPr sz="900" spc="185" dirty="0">
                <a:latin typeface="Arial"/>
                <a:cs typeface="Arial"/>
              </a:rPr>
              <a:t>=</a:t>
            </a:r>
            <a:r>
              <a:rPr sz="900" spc="-60" dirty="0">
                <a:latin typeface="Arial"/>
                <a:cs typeface="Arial"/>
              </a:rPr>
              <a:t> </a:t>
            </a:r>
            <a:r>
              <a:rPr sz="900" spc="-10" dirty="0">
                <a:latin typeface="Arial"/>
                <a:cs typeface="Arial"/>
              </a:rPr>
              <a:t>10</a:t>
            </a:r>
            <a:r>
              <a:rPr sz="900" i="1" spc="-10" dirty="0">
                <a:latin typeface="Arial"/>
                <a:cs typeface="Arial"/>
              </a:rPr>
              <a:t>,</a:t>
            </a:r>
            <a:r>
              <a:rPr sz="900" i="1" spc="-155" dirty="0">
                <a:latin typeface="Arial"/>
                <a:cs typeface="Arial"/>
              </a:rPr>
              <a:t> </a:t>
            </a:r>
            <a:r>
              <a:rPr sz="900" i="1" dirty="0">
                <a:latin typeface="Arial"/>
                <a:cs typeface="Arial"/>
              </a:rPr>
              <a:t>k</a:t>
            </a:r>
            <a:r>
              <a:rPr sz="900" i="1" spc="20" dirty="0">
                <a:latin typeface="Arial"/>
                <a:cs typeface="Arial"/>
              </a:rPr>
              <a:t> </a:t>
            </a:r>
            <a:r>
              <a:rPr sz="900" spc="185" dirty="0">
                <a:latin typeface="Arial"/>
                <a:cs typeface="Arial"/>
              </a:rPr>
              <a:t>=</a:t>
            </a:r>
            <a:r>
              <a:rPr sz="900" spc="-60" dirty="0">
                <a:latin typeface="Arial"/>
                <a:cs typeface="Arial"/>
              </a:rPr>
              <a:t> </a:t>
            </a:r>
            <a:r>
              <a:rPr sz="900" dirty="0">
                <a:latin typeface="Arial"/>
                <a:cs typeface="Arial"/>
              </a:rPr>
              <a:t>4,</a:t>
            </a:r>
            <a:r>
              <a:rPr sz="900" spc="-20" dirty="0">
                <a:latin typeface="Arial"/>
                <a:cs typeface="Arial"/>
              </a:rPr>
              <a:t> </a:t>
            </a:r>
            <a:r>
              <a:rPr sz="900" dirty="0">
                <a:latin typeface="Arial"/>
                <a:cs typeface="Arial"/>
              </a:rPr>
              <a:t>we</a:t>
            </a:r>
            <a:r>
              <a:rPr sz="900" spc="-15" dirty="0">
                <a:latin typeface="Arial"/>
                <a:cs typeface="Arial"/>
              </a:rPr>
              <a:t> </a:t>
            </a:r>
            <a:r>
              <a:rPr sz="900" dirty="0">
                <a:latin typeface="Arial"/>
                <a:cs typeface="Arial"/>
              </a:rPr>
              <a:t>contact</a:t>
            </a:r>
            <a:r>
              <a:rPr sz="900" spc="-15" dirty="0">
                <a:latin typeface="Arial"/>
                <a:cs typeface="Arial"/>
              </a:rPr>
              <a:t> </a:t>
            </a:r>
            <a:r>
              <a:rPr sz="900" dirty="0">
                <a:latin typeface="Arial"/>
                <a:cs typeface="Arial"/>
              </a:rPr>
              <a:t>7290</a:t>
            </a:r>
            <a:r>
              <a:rPr sz="900" spc="-20" dirty="0">
                <a:latin typeface="Arial"/>
                <a:cs typeface="Arial"/>
              </a:rPr>
              <a:t> </a:t>
            </a:r>
            <a:r>
              <a:rPr sz="900" spc="-10" dirty="0">
                <a:latin typeface="Arial"/>
                <a:cs typeface="Arial"/>
              </a:rPr>
              <a:t>nodes.</a:t>
            </a:r>
            <a:endParaRPr sz="900">
              <a:latin typeface="Arial"/>
              <a:cs typeface="Arial"/>
            </a:endParaRPr>
          </a:p>
          <a:p>
            <a:pPr marL="303530" marR="43180" indent="-120650">
              <a:lnSpc>
                <a:spcPct val="111600"/>
              </a:lnSpc>
              <a:spcBef>
                <a:spcPts val="400"/>
              </a:spcBef>
              <a:buClr>
                <a:srgbClr val="3333B2"/>
              </a:buClr>
              <a:buFont typeface="Apple Symbols"/>
              <a:buChar char="•"/>
              <a:tabLst>
                <a:tab pos="304165" algn="l"/>
              </a:tabLst>
            </a:pPr>
            <a:r>
              <a:rPr sz="900" dirty="0">
                <a:latin typeface="Arial"/>
                <a:cs typeface="Arial"/>
              </a:rPr>
              <a:t>Random</a:t>
            </a:r>
            <a:r>
              <a:rPr sz="900" spc="-25" dirty="0">
                <a:latin typeface="Arial"/>
                <a:cs typeface="Arial"/>
              </a:rPr>
              <a:t> </a:t>
            </a:r>
            <a:r>
              <a:rPr sz="900" dirty="0">
                <a:latin typeface="Arial"/>
                <a:cs typeface="Arial"/>
              </a:rPr>
              <a:t>walks</a:t>
            </a:r>
            <a:r>
              <a:rPr sz="900" spc="-25" dirty="0">
                <a:latin typeface="Arial"/>
                <a:cs typeface="Arial"/>
              </a:rPr>
              <a:t> </a:t>
            </a:r>
            <a:r>
              <a:rPr sz="900" dirty="0">
                <a:latin typeface="Arial"/>
                <a:cs typeface="Arial"/>
              </a:rPr>
              <a:t>are</a:t>
            </a:r>
            <a:r>
              <a:rPr sz="900" spc="-25" dirty="0">
                <a:latin typeface="Arial"/>
                <a:cs typeface="Arial"/>
              </a:rPr>
              <a:t> </a:t>
            </a:r>
            <a:r>
              <a:rPr sz="900" dirty="0">
                <a:latin typeface="Arial"/>
                <a:cs typeface="Arial"/>
              </a:rPr>
              <a:t>more</a:t>
            </a:r>
            <a:r>
              <a:rPr sz="900" spc="-25" dirty="0">
                <a:latin typeface="Arial"/>
                <a:cs typeface="Arial"/>
              </a:rPr>
              <a:t> </a:t>
            </a:r>
            <a:r>
              <a:rPr sz="900" spc="-10" dirty="0">
                <a:latin typeface="Arial"/>
                <a:cs typeface="Arial"/>
              </a:rPr>
              <a:t>communication</a:t>
            </a:r>
            <a:r>
              <a:rPr sz="900" spc="-20" dirty="0">
                <a:latin typeface="Arial"/>
                <a:cs typeface="Arial"/>
              </a:rPr>
              <a:t> </a:t>
            </a:r>
            <a:r>
              <a:rPr sz="900" dirty="0">
                <a:latin typeface="Arial"/>
                <a:cs typeface="Arial"/>
              </a:rPr>
              <a:t>efficient,</a:t>
            </a:r>
            <a:r>
              <a:rPr sz="900" spc="-25" dirty="0">
                <a:latin typeface="Arial"/>
                <a:cs typeface="Arial"/>
              </a:rPr>
              <a:t> </a:t>
            </a:r>
            <a:r>
              <a:rPr sz="900" dirty="0">
                <a:latin typeface="Arial"/>
                <a:cs typeface="Arial"/>
              </a:rPr>
              <a:t>but</a:t>
            </a:r>
            <a:r>
              <a:rPr sz="900" spc="-25" dirty="0">
                <a:latin typeface="Arial"/>
                <a:cs typeface="Arial"/>
              </a:rPr>
              <a:t> </a:t>
            </a:r>
            <a:r>
              <a:rPr sz="900" dirty="0">
                <a:latin typeface="Arial"/>
                <a:cs typeface="Arial"/>
              </a:rPr>
              <a:t>might</a:t>
            </a:r>
            <a:r>
              <a:rPr sz="900" spc="-25" dirty="0">
                <a:latin typeface="Arial"/>
                <a:cs typeface="Arial"/>
              </a:rPr>
              <a:t> </a:t>
            </a:r>
            <a:r>
              <a:rPr sz="900" dirty="0">
                <a:latin typeface="Arial"/>
                <a:cs typeface="Arial"/>
              </a:rPr>
              <a:t>take</a:t>
            </a:r>
            <a:r>
              <a:rPr sz="900" spc="-25" dirty="0">
                <a:latin typeface="Arial"/>
                <a:cs typeface="Arial"/>
              </a:rPr>
              <a:t> </a:t>
            </a:r>
            <a:r>
              <a:rPr sz="900" spc="-10" dirty="0">
                <a:latin typeface="Arial"/>
                <a:cs typeface="Arial"/>
              </a:rPr>
              <a:t>longer </a:t>
            </a:r>
            <a:r>
              <a:rPr sz="900" dirty="0">
                <a:latin typeface="Arial"/>
                <a:cs typeface="Arial"/>
              </a:rPr>
              <a:t>before</a:t>
            </a:r>
            <a:r>
              <a:rPr sz="900" spc="-35" dirty="0">
                <a:latin typeface="Arial"/>
                <a:cs typeface="Arial"/>
              </a:rPr>
              <a:t> </a:t>
            </a:r>
            <a:r>
              <a:rPr sz="900" dirty="0">
                <a:latin typeface="Arial"/>
                <a:cs typeface="Arial"/>
              </a:rPr>
              <a:t>they</a:t>
            </a:r>
            <a:r>
              <a:rPr sz="900" spc="-35" dirty="0">
                <a:latin typeface="Arial"/>
                <a:cs typeface="Arial"/>
              </a:rPr>
              <a:t> </a:t>
            </a:r>
            <a:r>
              <a:rPr sz="900" dirty="0">
                <a:latin typeface="Arial"/>
                <a:cs typeface="Arial"/>
              </a:rPr>
              <a:t>find</a:t>
            </a:r>
            <a:r>
              <a:rPr sz="900" spc="-35" dirty="0">
                <a:latin typeface="Arial"/>
                <a:cs typeface="Arial"/>
              </a:rPr>
              <a:t> </a:t>
            </a:r>
            <a:r>
              <a:rPr sz="900" dirty="0">
                <a:latin typeface="Arial"/>
                <a:cs typeface="Arial"/>
              </a:rPr>
              <a:t>the</a:t>
            </a:r>
            <a:r>
              <a:rPr sz="900" spc="-35" dirty="0">
                <a:latin typeface="Arial"/>
                <a:cs typeface="Arial"/>
              </a:rPr>
              <a:t> </a:t>
            </a:r>
            <a:r>
              <a:rPr sz="900" spc="-10" dirty="0">
                <a:latin typeface="Arial"/>
                <a:cs typeface="Arial"/>
              </a:rPr>
              <a:t>result.</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100393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Unstructured</a:t>
            </a:r>
            <a:r>
              <a:rPr sz="500" spc="5" dirty="0">
                <a:latin typeface="Arial"/>
                <a:cs typeface="Arial"/>
                <a:hlinkClick r:id="rId4" action="ppaction://hlinksldjump"/>
              </a:rPr>
              <a:t> </a:t>
            </a:r>
            <a:r>
              <a:rPr sz="500" spc="-10" dirty="0">
                <a:latin typeface="Arial"/>
                <a:cs typeface="Arial"/>
                <a:hlinkClick r:id="rId4" action="ppaction://hlinksldjump"/>
              </a:rPr>
              <a:t>peer-to-</a:t>
            </a:r>
            <a:r>
              <a:rPr sz="500" dirty="0">
                <a:latin typeface="Arial"/>
                <a:cs typeface="Arial"/>
                <a:hlinkClick r:id="rId4" action="ppaction://hlinksldjump"/>
              </a:rPr>
              <a:t>peer</a:t>
            </a:r>
            <a:r>
              <a:rPr sz="500" spc="10" dirty="0">
                <a:latin typeface="Arial"/>
                <a:cs typeface="Arial"/>
                <a:hlinkClick r:id="rId4" action="ppaction://hlinksldjump"/>
              </a:rPr>
              <a:t> </a:t>
            </a:r>
            <a:r>
              <a:rPr sz="500" spc="-10" dirty="0">
                <a:latin typeface="Arial"/>
                <a:cs typeface="Arial"/>
                <a:hlinkClick r:id="rId4" action="ppaction://hlinksldjump"/>
              </a:rPr>
              <a:t>systems</a:t>
            </a:r>
            <a:endParaRPr sz="500">
              <a:latin typeface="Arial"/>
              <a:cs typeface="Arial"/>
            </a:endParaRP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186430" algn="l"/>
              </a:tabLst>
            </a:pPr>
            <a:r>
              <a:rPr sz="500" spc="-10" dirty="0">
                <a:latin typeface="Arial"/>
                <a:cs typeface="Arial"/>
                <a:hlinkClick r:id="rId3" action="ppaction://hlinksldjump"/>
              </a:rPr>
              <a:t>Architectures</a:t>
            </a:r>
            <a:r>
              <a:rPr sz="500" dirty="0">
                <a:latin typeface="Arial"/>
                <a:cs typeface="Arial"/>
              </a:rPr>
              <a:t>	</a:t>
            </a:r>
            <a:r>
              <a:rPr sz="500" dirty="0">
                <a:solidFill>
                  <a:srgbClr val="FFFFFF"/>
                </a:solidFill>
                <a:latin typeface="Arial"/>
                <a:cs typeface="Arial"/>
                <a:hlinkClick r:id="rId4" action="ppaction://hlinksldjump"/>
              </a:rPr>
              <a:t>Symmetrically</a:t>
            </a:r>
            <a:r>
              <a:rPr sz="500" spc="-40" dirty="0">
                <a:solidFill>
                  <a:srgbClr val="FFFFFF"/>
                </a:solidFill>
                <a:latin typeface="Arial"/>
                <a:cs typeface="Arial"/>
                <a:hlinkClick r:id="rId4" action="ppaction://hlinksldjump"/>
              </a:rPr>
              <a:t> </a:t>
            </a:r>
            <a:r>
              <a:rPr sz="500" dirty="0">
                <a:solidFill>
                  <a:srgbClr val="FFFFFF"/>
                </a:solidFill>
                <a:latin typeface="Arial"/>
                <a:cs typeface="Arial"/>
                <a:hlinkClick r:id="rId4" action="ppaction://hlinksldjump"/>
              </a:rPr>
              <a:t>distributed</a:t>
            </a:r>
            <a:r>
              <a:rPr sz="500" spc="-30" dirty="0">
                <a:solidFill>
                  <a:srgbClr val="FFFFFF"/>
                </a:solidFill>
                <a:latin typeface="Arial"/>
                <a:cs typeface="Arial"/>
                <a:hlinkClick r:id="rId4" action="ppaction://hlinksldjump"/>
              </a:rPr>
              <a:t> </a:t>
            </a:r>
            <a:r>
              <a:rPr sz="500" dirty="0">
                <a:solidFill>
                  <a:srgbClr val="FFFFFF"/>
                </a:solidFill>
                <a:latin typeface="Arial"/>
                <a:cs typeface="Arial"/>
                <a:hlinkClick r:id="rId4" action="ppaction://hlinksldjump"/>
              </a:rPr>
              <a:t>system</a:t>
            </a:r>
            <a:r>
              <a:rPr sz="500" spc="-25" dirty="0">
                <a:solidFill>
                  <a:srgbClr val="FFFFFF"/>
                </a:solidFill>
                <a:latin typeface="Arial"/>
                <a:cs typeface="Arial"/>
                <a:hlinkClick r:id="rId4" action="ppaction://hlinksldjump"/>
              </a:rPr>
              <a:t> </a:t>
            </a:r>
            <a:r>
              <a:rPr sz="500" spc="-10" dirty="0">
                <a:solidFill>
                  <a:srgbClr val="FFFFFF"/>
                </a:solidFill>
                <a:latin typeface="Arial"/>
                <a:cs typeface="Arial"/>
                <a:hlinkClick r:id="rId4" action="ppaction://hlinksldjump"/>
              </a:rPr>
              <a:t>architectures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Super-</a:t>
            </a:r>
            <a:r>
              <a:rPr dirty="0"/>
              <a:t>peer</a:t>
            </a:r>
            <a:r>
              <a:rPr spc="-15" dirty="0"/>
              <a:t> </a:t>
            </a:r>
            <a:r>
              <a:rPr spc="-10" dirty="0"/>
              <a:t>networks</a:t>
            </a:r>
          </a:p>
        </p:txBody>
      </p:sp>
      <p:sp>
        <p:nvSpPr>
          <p:cNvPr id="4" name="object 4"/>
          <p:cNvSpPr txBox="1"/>
          <p:nvPr/>
        </p:nvSpPr>
        <p:spPr>
          <a:xfrm>
            <a:off x="334594" y="499476"/>
            <a:ext cx="3912235" cy="1006475"/>
          </a:xfrm>
          <a:prstGeom prst="rect">
            <a:avLst/>
          </a:prstGeom>
        </p:spPr>
        <p:txBody>
          <a:bodyPr vert="horz" wrap="square" lIns="0" tIns="27305" rIns="0" bIns="0" rtlCol="0">
            <a:spAutoFit/>
          </a:bodyPr>
          <a:lstStyle/>
          <a:p>
            <a:pPr marL="25400">
              <a:lnSpc>
                <a:spcPct val="100000"/>
              </a:lnSpc>
              <a:spcBef>
                <a:spcPts val="215"/>
              </a:spcBef>
            </a:pPr>
            <a:r>
              <a:rPr sz="1000" spc="-10" dirty="0">
                <a:solidFill>
                  <a:srgbClr val="3333B2"/>
                </a:solidFill>
                <a:latin typeface="Arial"/>
                <a:cs typeface="Arial"/>
              </a:rPr>
              <a:t>Essence</a:t>
            </a:r>
            <a:endParaRPr sz="1000">
              <a:latin typeface="Arial"/>
              <a:cs typeface="Arial"/>
            </a:endParaRPr>
          </a:p>
          <a:p>
            <a:pPr marL="25400">
              <a:lnSpc>
                <a:spcPct val="100000"/>
              </a:lnSpc>
              <a:spcBef>
                <a:spcPts val="105"/>
              </a:spcBef>
            </a:pPr>
            <a:r>
              <a:rPr sz="900" dirty="0">
                <a:latin typeface="Arial"/>
                <a:cs typeface="Arial"/>
              </a:rPr>
              <a:t>It</a:t>
            </a:r>
            <a:r>
              <a:rPr sz="900" spc="-30" dirty="0">
                <a:latin typeface="Arial"/>
                <a:cs typeface="Arial"/>
              </a:rPr>
              <a:t> </a:t>
            </a:r>
            <a:r>
              <a:rPr sz="900" dirty="0">
                <a:latin typeface="Arial"/>
                <a:cs typeface="Arial"/>
              </a:rPr>
              <a:t>is</a:t>
            </a:r>
            <a:r>
              <a:rPr sz="900" spc="-30" dirty="0">
                <a:latin typeface="Arial"/>
                <a:cs typeface="Arial"/>
              </a:rPr>
              <a:t> </a:t>
            </a:r>
            <a:r>
              <a:rPr sz="900" spc="-10" dirty="0">
                <a:latin typeface="Arial"/>
                <a:cs typeface="Arial"/>
              </a:rPr>
              <a:t>sometimes</a:t>
            </a:r>
            <a:r>
              <a:rPr sz="900" spc="-30" dirty="0">
                <a:latin typeface="Arial"/>
                <a:cs typeface="Arial"/>
              </a:rPr>
              <a:t> </a:t>
            </a:r>
            <a:r>
              <a:rPr sz="900" spc="-10" dirty="0">
                <a:latin typeface="Arial"/>
                <a:cs typeface="Arial"/>
              </a:rPr>
              <a:t>sensible</a:t>
            </a:r>
            <a:r>
              <a:rPr sz="900" spc="-30" dirty="0">
                <a:latin typeface="Arial"/>
                <a:cs typeface="Arial"/>
              </a:rPr>
              <a:t> </a:t>
            </a:r>
            <a:r>
              <a:rPr sz="900" dirty="0">
                <a:latin typeface="Arial"/>
                <a:cs typeface="Arial"/>
              </a:rPr>
              <a:t>to</a:t>
            </a:r>
            <a:r>
              <a:rPr sz="900" spc="-30" dirty="0">
                <a:latin typeface="Arial"/>
                <a:cs typeface="Arial"/>
              </a:rPr>
              <a:t> </a:t>
            </a:r>
            <a:r>
              <a:rPr sz="900" spc="-10" dirty="0">
                <a:latin typeface="Arial"/>
                <a:cs typeface="Arial"/>
              </a:rPr>
              <a:t>break</a:t>
            </a:r>
            <a:r>
              <a:rPr sz="900" spc="-30" dirty="0">
                <a:latin typeface="Arial"/>
                <a:cs typeface="Arial"/>
              </a:rPr>
              <a:t> </a:t>
            </a:r>
            <a:r>
              <a:rPr sz="900" dirty="0">
                <a:latin typeface="Arial"/>
                <a:cs typeface="Arial"/>
              </a:rPr>
              <a:t>the</a:t>
            </a:r>
            <a:r>
              <a:rPr sz="900" spc="-30" dirty="0">
                <a:latin typeface="Arial"/>
                <a:cs typeface="Arial"/>
              </a:rPr>
              <a:t> </a:t>
            </a:r>
            <a:r>
              <a:rPr sz="900" spc="-10" dirty="0">
                <a:latin typeface="Arial"/>
                <a:cs typeface="Arial"/>
              </a:rPr>
              <a:t>symmetry</a:t>
            </a:r>
            <a:r>
              <a:rPr sz="900" spc="-25" dirty="0">
                <a:latin typeface="Arial"/>
                <a:cs typeface="Arial"/>
              </a:rPr>
              <a:t> </a:t>
            </a:r>
            <a:r>
              <a:rPr sz="900" dirty="0">
                <a:latin typeface="Arial"/>
                <a:cs typeface="Arial"/>
              </a:rPr>
              <a:t>in</a:t>
            </a:r>
            <a:r>
              <a:rPr sz="900" spc="-30" dirty="0">
                <a:latin typeface="Arial"/>
                <a:cs typeface="Arial"/>
              </a:rPr>
              <a:t> </a:t>
            </a:r>
            <a:r>
              <a:rPr sz="900" dirty="0">
                <a:latin typeface="Arial"/>
                <a:cs typeface="Arial"/>
              </a:rPr>
              <a:t>pure</a:t>
            </a:r>
            <a:r>
              <a:rPr sz="900" spc="-30" dirty="0">
                <a:latin typeface="Arial"/>
                <a:cs typeface="Arial"/>
              </a:rPr>
              <a:t> </a:t>
            </a:r>
            <a:r>
              <a:rPr sz="900" spc="-20" dirty="0">
                <a:latin typeface="Arial"/>
                <a:cs typeface="Arial"/>
              </a:rPr>
              <a:t>peer-to-</a:t>
            </a:r>
            <a:r>
              <a:rPr sz="900" dirty="0">
                <a:latin typeface="Arial"/>
                <a:cs typeface="Arial"/>
              </a:rPr>
              <a:t>peer</a:t>
            </a:r>
            <a:r>
              <a:rPr sz="900" spc="-30" dirty="0">
                <a:latin typeface="Arial"/>
                <a:cs typeface="Arial"/>
              </a:rPr>
              <a:t> </a:t>
            </a:r>
            <a:r>
              <a:rPr sz="900" spc="-10" dirty="0">
                <a:latin typeface="Arial"/>
                <a:cs typeface="Arial"/>
              </a:rPr>
              <a:t>networks:</a:t>
            </a:r>
            <a:endParaRPr sz="900">
              <a:latin typeface="Arial"/>
              <a:cs typeface="Arial"/>
            </a:endParaRPr>
          </a:p>
          <a:p>
            <a:pPr marL="278130" marR="224790" indent="-120650">
              <a:lnSpc>
                <a:spcPct val="111600"/>
              </a:lnSpc>
              <a:spcBef>
                <a:spcPts val="400"/>
              </a:spcBef>
              <a:buClr>
                <a:srgbClr val="3333B2"/>
              </a:buClr>
              <a:buFont typeface="Apple Symbols"/>
              <a:buChar char="•"/>
              <a:tabLst>
                <a:tab pos="273685" algn="l"/>
              </a:tabLst>
            </a:pPr>
            <a:r>
              <a:rPr sz="900" dirty="0">
                <a:latin typeface="Arial"/>
                <a:cs typeface="Arial"/>
              </a:rPr>
              <a:t>When</a:t>
            </a:r>
            <a:r>
              <a:rPr sz="900" spc="-40" dirty="0">
                <a:latin typeface="Arial"/>
                <a:cs typeface="Arial"/>
              </a:rPr>
              <a:t> </a:t>
            </a:r>
            <a:r>
              <a:rPr sz="900" dirty="0">
                <a:latin typeface="Arial"/>
                <a:cs typeface="Arial"/>
              </a:rPr>
              <a:t>searching</a:t>
            </a:r>
            <a:r>
              <a:rPr sz="900" spc="-40" dirty="0">
                <a:latin typeface="Arial"/>
                <a:cs typeface="Arial"/>
              </a:rPr>
              <a:t> </a:t>
            </a:r>
            <a:r>
              <a:rPr sz="900" dirty="0">
                <a:latin typeface="Arial"/>
                <a:cs typeface="Arial"/>
              </a:rPr>
              <a:t>in</a:t>
            </a:r>
            <a:r>
              <a:rPr sz="900" spc="-40" dirty="0">
                <a:latin typeface="Arial"/>
                <a:cs typeface="Arial"/>
              </a:rPr>
              <a:t> </a:t>
            </a:r>
            <a:r>
              <a:rPr sz="900" dirty="0">
                <a:latin typeface="Arial"/>
                <a:cs typeface="Arial"/>
              </a:rPr>
              <a:t>unstructured</a:t>
            </a:r>
            <a:r>
              <a:rPr sz="900" spc="-40" dirty="0">
                <a:latin typeface="Arial"/>
                <a:cs typeface="Arial"/>
              </a:rPr>
              <a:t> </a:t>
            </a:r>
            <a:r>
              <a:rPr sz="900" dirty="0">
                <a:latin typeface="Arial"/>
                <a:cs typeface="Arial"/>
              </a:rPr>
              <a:t>P2P</a:t>
            </a:r>
            <a:r>
              <a:rPr sz="900" spc="-40" dirty="0">
                <a:latin typeface="Arial"/>
                <a:cs typeface="Arial"/>
              </a:rPr>
              <a:t> </a:t>
            </a:r>
            <a:r>
              <a:rPr sz="900" dirty="0">
                <a:latin typeface="Arial"/>
                <a:cs typeface="Arial"/>
              </a:rPr>
              <a:t>systems,</a:t>
            </a:r>
            <a:r>
              <a:rPr sz="900" spc="-40" dirty="0">
                <a:latin typeface="Arial"/>
                <a:cs typeface="Arial"/>
              </a:rPr>
              <a:t> </a:t>
            </a:r>
            <a:r>
              <a:rPr sz="900" dirty="0">
                <a:latin typeface="Arial"/>
                <a:cs typeface="Arial"/>
              </a:rPr>
              <a:t>having</a:t>
            </a:r>
            <a:r>
              <a:rPr sz="900" spc="-40" dirty="0">
                <a:latin typeface="Arial"/>
                <a:cs typeface="Arial"/>
              </a:rPr>
              <a:t> </a:t>
            </a:r>
            <a:r>
              <a:rPr sz="900" dirty="0">
                <a:solidFill>
                  <a:srgbClr val="C80000"/>
                </a:solidFill>
                <a:latin typeface="Arial"/>
                <a:cs typeface="Arial"/>
              </a:rPr>
              <a:t>index</a:t>
            </a:r>
            <a:r>
              <a:rPr sz="900" spc="-40" dirty="0">
                <a:solidFill>
                  <a:srgbClr val="C80000"/>
                </a:solidFill>
                <a:latin typeface="Arial"/>
                <a:cs typeface="Arial"/>
              </a:rPr>
              <a:t> </a:t>
            </a:r>
            <a:r>
              <a:rPr sz="900" spc="-10" dirty="0">
                <a:solidFill>
                  <a:srgbClr val="C80000"/>
                </a:solidFill>
                <a:latin typeface="Arial"/>
                <a:cs typeface="Arial"/>
              </a:rPr>
              <a:t>servers </a:t>
            </a:r>
            <a:r>
              <a:rPr sz="900" spc="-10" dirty="0">
                <a:latin typeface="Arial"/>
                <a:cs typeface="Arial"/>
              </a:rPr>
              <a:t>improves</a:t>
            </a:r>
            <a:r>
              <a:rPr sz="900" spc="-5" dirty="0">
                <a:latin typeface="Arial"/>
                <a:cs typeface="Arial"/>
              </a:rPr>
              <a:t> </a:t>
            </a:r>
            <a:r>
              <a:rPr sz="900" spc="-10" dirty="0">
                <a:latin typeface="Arial"/>
                <a:cs typeface="Arial"/>
              </a:rPr>
              <a:t>performance</a:t>
            </a:r>
            <a:endParaRPr sz="900">
              <a:latin typeface="Arial"/>
              <a:cs typeface="Arial"/>
            </a:endParaRPr>
          </a:p>
          <a:p>
            <a:pPr marL="278130" marR="17780" indent="-120650">
              <a:lnSpc>
                <a:spcPct val="111600"/>
              </a:lnSpc>
              <a:buClr>
                <a:srgbClr val="3333B2"/>
              </a:buClr>
              <a:buFont typeface="Apple Symbols"/>
              <a:buChar char="•"/>
              <a:tabLst>
                <a:tab pos="278765" algn="l"/>
              </a:tabLst>
            </a:pPr>
            <a:r>
              <a:rPr sz="900" dirty="0">
                <a:latin typeface="Arial"/>
                <a:cs typeface="Arial"/>
              </a:rPr>
              <a:t>Deciding</a:t>
            </a:r>
            <a:r>
              <a:rPr sz="900" spc="-30" dirty="0">
                <a:latin typeface="Arial"/>
                <a:cs typeface="Arial"/>
              </a:rPr>
              <a:t> </a:t>
            </a:r>
            <a:r>
              <a:rPr sz="900" dirty="0">
                <a:latin typeface="Arial"/>
                <a:cs typeface="Arial"/>
              </a:rPr>
              <a:t>where</a:t>
            </a:r>
            <a:r>
              <a:rPr sz="900" spc="-2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store</a:t>
            </a:r>
            <a:r>
              <a:rPr sz="900" spc="-25" dirty="0">
                <a:latin typeface="Arial"/>
                <a:cs typeface="Arial"/>
              </a:rPr>
              <a:t> </a:t>
            </a:r>
            <a:r>
              <a:rPr sz="900" dirty="0">
                <a:latin typeface="Arial"/>
                <a:cs typeface="Arial"/>
              </a:rPr>
              <a:t>data</a:t>
            </a:r>
            <a:r>
              <a:rPr sz="900" spc="-25" dirty="0">
                <a:latin typeface="Arial"/>
                <a:cs typeface="Arial"/>
              </a:rPr>
              <a:t> </a:t>
            </a:r>
            <a:r>
              <a:rPr sz="900" dirty="0">
                <a:latin typeface="Arial"/>
                <a:cs typeface="Arial"/>
              </a:rPr>
              <a:t>can</a:t>
            </a:r>
            <a:r>
              <a:rPr sz="900" spc="-25" dirty="0">
                <a:latin typeface="Arial"/>
                <a:cs typeface="Arial"/>
              </a:rPr>
              <a:t> </a:t>
            </a:r>
            <a:r>
              <a:rPr sz="900" dirty="0">
                <a:latin typeface="Arial"/>
                <a:cs typeface="Arial"/>
              </a:rPr>
              <a:t>often</a:t>
            </a:r>
            <a:r>
              <a:rPr sz="900" spc="-25" dirty="0">
                <a:latin typeface="Arial"/>
                <a:cs typeface="Arial"/>
              </a:rPr>
              <a:t> </a:t>
            </a:r>
            <a:r>
              <a:rPr sz="900" dirty="0">
                <a:latin typeface="Arial"/>
                <a:cs typeface="Arial"/>
              </a:rPr>
              <a:t>be</a:t>
            </a:r>
            <a:r>
              <a:rPr sz="900" spc="-30" dirty="0">
                <a:latin typeface="Arial"/>
                <a:cs typeface="Arial"/>
              </a:rPr>
              <a:t> </a:t>
            </a:r>
            <a:r>
              <a:rPr sz="900" dirty="0">
                <a:latin typeface="Arial"/>
                <a:cs typeface="Arial"/>
              </a:rPr>
              <a:t>done</a:t>
            </a:r>
            <a:r>
              <a:rPr sz="900" spc="-25" dirty="0">
                <a:latin typeface="Arial"/>
                <a:cs typeface="Arial"/>
              </a:rPr>
              <a:t> </a:t>
            </a:r>
            <a:r>
              <a:rPr sz="900" dirty="0">
                <a:latin typeface="Arial"/>
                <a:cs typeface="Arial"/>
              </a:rPr>
              <a:t>more</a:t>
            </a:r>
            <a:r>
              <a:rPr sz="900" spc="-25" dirty="0">
                <a:latin typeface="Arial"/>
                <a:cs typeface="Arial"/>
              </a:rPr>
              <a:t> </a:t>
            </a:r>
            <a:r>
              <a:rPr sz="900" dirty="0">
                <a:latin typeface="Arial"/>
                <a:cs typeface="Arial"/>
              </a:rPr>
              <a:t>efficiently</a:t>
            </a:r>
            <a:r>
              <a:rPr sz="900" spc="-25" dirty="0">
                <a:latin typeface="Arial"/>
                <a:cs typeface="Arial"/>
              </a:rPr>
              <a:t> </a:t>
            </a:r>
            <a:r>
              <a:rPr sz="900" spc="-10" dirty="0">
                <a:latin typeface="Arial"/>
                <a:cs typeface="Arial"/>
              </a:rPr>
              <a:t>through </a:t>
            </a:r>
            <a:r>
              <a:rPr sz="900" spc="-10" dirty="0">
                <a:solidFill>
                  <a:srgbClr val="C80000"/>
                </a:solidFill>
                <a:latin typeface="Arial"/>
                <a:cs typeface="Arial"/>
              </a:rPr>
              <a:t>brokers</a:t>
            </a:r>
            <a:r>
              <a:rPr sz="900" spc="-10" dirty="0">
                <a:latin typeface="Arial"/>
                <a:cs typeface="Arial"/>
              </a:rPr>
              <a:t>.</a:t>
            </a:r>
            <a:endParaRPr sz="900">
              <a:latin typeface="Arial"/>
              <a:cs typeface="Arial"/>
            </a:endParaRPr>
          </a:p>
        </p:txBody>
      </p:sp>
      <p:pic>
        <p:nvPicPr>
          <p:cNvPr id="5" name="object 5"/>
          <p:cNvPicPr/>
          <p:nvPr/>
        </p:nvPicPr>
        <p:blipFill>
          <a:blip r:embed="rId5" cstate="print"/>
          <a:stretch>
            <a:fillRect/>
          </a:stretch>
        </p:blipFill>
        <p:spPr>
          <a:xfrm>
            <a:off x="1009874" y="1645142"/>
            <a:ext cx="2585711" cy="1182207"/>
          </a:xfrm>
          <a:prstGeom prst="rect">
            <a:avLst/>
          </a:prstGeom>
        </p:spPr>
      </p:pic>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133604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6" action="ppaction://hlinksldjump"/>
              </a:rPr>
              <a:t>Hierarchically</a:t>
            </a:r>
            <a:r>
              <a:rPr sz="500" spc="65" dirty="0">
                <a:latin typeface="Arial"/>
                <a:cs typeface="Arial"/>
                <a:hlinkClick r:id="rId6" action="ppaction://hlinksldjump"/>
              </a:rPr>
              <a:t> </a:t>
            </a:r>
            <a:r>
              <a:rPr sz="500" spc="-10" dirty="0">
                <a:latin typeface="Arial"/>
                <a:cs typeface="Arial"/>
                <a:hlinkClick r:id="rId6" action="ppaction://hlinksldjump"/>
              </a:rPr>
              <a:t>organized</a:t>
            </a:r>
            <a:r>
              <a:rPr sz="500" spc="65" dirty="0">
                <a:latin typeface="Arial"/>
                <a:cs typeface="Arial"/>
                <a:hlinkClick r:id="rId6" action="ppaction://hlinksldjump"/>
              </a:rPr>
              <a:t> </a:t>
            </a:r>
            <a:r>
              <a:rPr sz="500" spc="-10" dirty="0">
                <a:latin typeface="Arial"/>
                <a:cs typeface="Arial"/>
                <a:hlinkClick r:id="rId6" action="ppaction://hlinksldjump"/>
              </a:rPr>
              <a:t>peer-to-</a:t>
            </a:r>
            <a:r>
              <a:rPr sz="500" dirty="0">
                <a:latin typeface="Arial"/>
                <a:cs typeface="Arial"/>
                <a:hlinkClick r:id="rId6" action="ppaction://hlinksldjump"/>
              </a:rPr>
              <a:t>peer</a:t>
            </a:r>
            <a:r>
              <a:rPr sz="500" spc="70" dirty="0">
                <a:latin typeface="Arial"/>
                <a:cs typeface="Arial"/>
                <a:hlinkClick r:id="rId6" action="ppaction://hlinksldjump"/>
              </a:rPr>
              <a:t> </a:t>
            </a:r>
            <a:r>
              <a:rPr sz="500" spc="-10" dirty="0">
                <a:latin typeface="Arial"/>
                <a:cs typeface="Arial"/>
                <a:hlinkClick r:id="rId6" action="ppaction://hlinksldjump"/>
              </a:rPr>
              <a:t>networks</a:t>
            </a:r>
            <a:endParaRPr sz="500">
              <a:latin typeface="Arial"/>
              <a:cs typeface="Arial"/>
            </a:endParaRPr>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186430" algn="l"/>
              </a:tabLst>
            </a:pPr>
            <a:r>
              <a:rPr sz="500" spc="-10" dirty="0">
                <a:latin typeface="Arial"/>
                <a:cs typeface="Arial"/>
                <a:hlinkClick r:id="rId2" action="ppaction://hlinksldjump"/>
              </a:rPr>
              <a:t>Architectures</a:t>
            </a:r>
            <a:r>
              <a:rPr sz="500" dirty="0">
                <a:latin typeface="Arial"/>
                <a:cs typeface="Arial"/>
              </a:rPr>
              <a:t>	</a:t>
            </a:r>
            <a:r>
              <a:rPr sz="500" dirty="0">
                <a:solidFill>
                  <a:srgbClr val="FFFFFF"/>
                </a:solidFill>
                <a:latin typeface="Arial"/>
                <a:cs typeface="Arial"/>
                <a:hlinkClick r:id="rId3" action="ppaction://hlinksldjump"/>
              </a:rPr>
              <a:t>Symmetrically</a:t>
            </a:r>
            <a:r>
              <a:rPr sz="500" spc="-4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distributed</a:t>
            </a:r>
            <a:r>
              <a:rPr sz="500" spc="-3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system</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architectures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Collaboration:</a:t>
            </a:r>
            <a:r>
              <a:rPr spc="30" dirty="0"/>
              <a:t> </a:t>
            </a:r>
            <a:r>
              <a:rPr dirty="0"/>
              <a:t>The</a:t>
            </a:r>
            <a:r>
              <a:rPr spc="-35" dirty="0"/>
              <a:t> </a:t>
            </a:r>
            <a:r>
              <a:rPr spc="-20" dirty="0"/>
              <a:t>BitTorrent</a:t>
            </a:r>
            <a:r>
              <a:rPr spc="-40" dirty="0"/>
              <a:t> </a:t>
            </a:r>
            <a:r>
              <a:rPr spc="-20" dirty="0"/>
              <a:t>case</a:t>
            </a:r>
          </a:p>
        </p:txBody>
      </p:sp>
      <p:sp>
        <p:nvSpPr>
          <p:cNvPr id="4" name="object 4"/>
          <p:cNvSpPr txBox="1"/>
          <p:nvPr/>
        </p:nvSpPr>
        <p:spPr>
          <a:xfrm>
            <a:off x="334594" y="514774"/>
            <a:ext cx="3832860" cy="1015365"/>
          </a:xfrm>
          <a:prstGeom prst="rect">
            <a:avLst/>
          </a:prstGeom>
        </p:spPr>
        <p:txBody>
          <a:bodyPr vert="horz" wrap="square" lIns="0" tIns="12065" rIns="0" bIns="0" rtlCol="0">
            <a:spAutoFit/>
          </a:bodyPr>
          <a:lstStyle/>
          <a:p>
            <a:pPr marL="25400">
              <a:lnSpc>
                <a:spcPct val="100000"/>
              </a:lnSpc>
              <a:spcBef>
                <a:spcPts val="95"/>
              </a:spcBef>
            </a:pPr>
            <a:r>
              <a:rPr sz="1000" dirty="0">
                <a:solidFill>
                  <a:srgbClr val="3333B2"/>
                </a:solidFill>
                <a:latin typeface="Arial"/>
                <a:cs typeface="Arial"/>
              </a:rPr>
              <a:t>Principle:</a:t>
            </a:r>
            <a:r>
              <a:rPr sz="1000" spc="30" dirty="0">
                <a:solidFill>
                  <a:srgbClr val="3333B2"/>
                </a:solidFill>
                <a:latin typeface="Arial"/>
                <a:cs typeface="Arial"/>
              </a:rPr>
              <a:t> </a:t>
            </a:r>
            <a:r>
              <a:rPr sz="1000" dirty="0">
                <a:solidFill>
                  <a:srgbClr val="3333B2"/>
                </a:solidFill>
                <a:latin typeface="Arial"/>
                <a:cs typeface="Arial"/>
              </a:rPr>
              <a:t>search</a:t>
            </a:r>
            <a:r>
              <a:rPr sz="1000" spc="-30" dirty="0">
                <a:solidFill>
                  <a:srgbClr val="3333B2"/>
                </a:solidFill>
                <a:latin typeface="Arial"/>
                <a:cs typeface="Arial"/>
              </a:rPr>
              <a:t> </a:t>
            </a:r>
            <a:r>
              <a:rPr sz="1000" dirty="0">
                <a:solidFill>
                  <a:srgbClr val="3333B2"/>
                </a:solidFill>
                <a:latin typeface="Arial"/>
                <a:cs typeface="Arial"/>
              </a:rPr>
              <a:t>for</a:t>
            </a:r>
            <a:r>
              <a:rPr sz="1000" spc="-25" dirty="0">
                <a:solidFill>
                  <a:srgbClr val="3333B2"/>
                </a:solidFill>
                <a:latin typeface="Arial"/>
                <a:cs typeface="Arial"/>
              </a:rPr>
              <a:t> </a:t>
            </a:r>
            <a:r>
              <a:rPr sz="1000" dirty="0">
                <a:solidFill>
                  <a:srgbClr val="3333B2"/>
                </a:solidFill>
                <a:latin typeface="Arial"/>
                <a:cs typeface="Arial"/>
              </a:rPr>
              <a:t>a</a:t>
            </a:r>
            <a:r>
              <a:rPr sz="1000" spc="-30" dirty="0">
                <a:solidFill>
                  <a:srgbClr val="3333B2"/>
                </a:solidFill>
                <a:latin typeface="Arial"/>
                <a:cs typeface="Arial"/>
              </a:rPr>
              <a:t> </a:t>
            </a:r>
            <a:r>
              <a:rPr sz="1000" dirty="0">
                <a:solidFill>
                  <a:srgbClr val="3333B2"/>
                </a:solidFill>
                <a:latin typeface="Arial"/>
                <a:cs typeface="Arial"/>
              </a:rPr>
              <a:t>file</a:t>
            </a:r>
            <a:r>
              <a:rPr sz="1000" spc="-30" dirty="0">
                <a:solidFill>
                  <a:srgbClr val="3333B2"/>
                </a:solidFill>
                <a:latin typeface="Arial"/>
                <a:cs typeface="Arial"/>
              </a:rPr>
              <a:t> </a:t>
            </a:r>
            <a:r>
              <a:rPr sz="1000" i="1" spc="-50" dirty="0">
                <a:solidFill>
                  <a:srgbClr val="3333B2"/>
                </a:solidFill>
                <a:latin typeface="Arial"/>
                <a:cs typeface="Arial"/>
              </a:rPr>
              <a:t>F</a:t>
            </a:r>
            <a:endParaRPr sz="1000">
              <a:latin typeface="Arial"/>
              <a:cs typeface="Arial"/>
            </a:endParaRPr>
          </a:p>
          <a:p>
            <a:pPr marL="278130" indent="-120650">
              <a:lnSpc>
                <a:spcPct val="100000"/>
              </a:lnSpc>
              <a:spcBef>
                <a:spcPts val="695"/>
              </a:spcBef>
              <a:buClr>
                <a:srgbClr val="3333B2"/>
              </a:buClr>
              <a:buFont typeface="Apple Symbols"/>
              <a:buChar char="•"/>
              <a:tabLst>
                <a:tab pos="278765" algn="l"/>
              </a:tabLst>
            </a:pPr>
            <a:r>
              <a:rPr sz="900" dirty="0">
                <a:latin typeface="Arial"/>
                <a:cs typeface="Arial"/>
              </a:rPr>
              <a:t>Lookup</a:t>
            </a:r>
            <a:r>
              <a:rPr sz="900" spc="-20" dirty="0">
                <a:latin typeface="Arial"/>
                <a:cs typeface="Arial"/>
              </a:rPr>
              <a:t> </a:t>
            </a:r>
            <a:r>
              <a:rPr sz="900" dirty="0">
                <a:latin typeface="Arial"/>
                <a:cs typeface="Arial"/>
              </a:rPr>
              <a:t>file</a:t>
            </a:r>
            <a:r>
              <a:rPr sz="900" spc="-15" dirty="0">
                <a:latin typeface="Arial"/>
                <a:cs typeface="Arial"/>
              </a:rPr>
              <a:t> </a:t>
            </a:r>
            <a:r>
              <a:rPr sz="900" dirty="0">
                <a:latin typeface="Arial"/>
                <a:cs typeface="Arial"/>
              </a:rPr>
              <a:t>at</a:t>
            </a:r>
            <a:r>
              <a:rPr sz="900" spc="-20" dirty="0">
                <a:latin typeface="Arial"/>
                <a:cs typeface="Arial"/>
              </a:rPr>
              <a:t> </a:t>
            </a:r>
            <a:r>
              <a:rPr sz="900" dirty="0">
                <a:latin typeface="Arial"/>
                <a:cs typeface="Arial"/>
              </a:rPr>
              <a:t>a</a:t>
            </a:r>
            <a:r>
              <a:rPr sz="900" spc="-15" dirty="0">
                <a:latin typeface="Arial"/>
                <a:cs typeface="Arial"/>
              </a:rPr>
              <a:t> </a:t>
            </a:r>
            <a:r>
              <a:rPr sz="900" dirty="0">
                <a:latin typeface="Arial"/>
                <a:cs typeface="Arial"/>
              </a:rPr>
              <a:t>global</a:t>
            </a:r>
            <a:r>
              <a:rPr sz="900" spc="-20" dirty="0">
                <a:latin typeface="Arial"/>
                <a:cs typeface="Arial"/>
              </a:rPr>
              <a:t> </a:t>
            </a:r>
            <a:r>
              <a:rPr sz="900" dirty="0">
                <a:latin typeface="Arial"/>
                <a:cs typeface="Arial"/>
              </a:rPr>
              <a:t>directory</a:t>
            </a:r>
            <a:r>
              <a:rPr sz="900" spc="-15" dirty="0">
                <a:latin typeface="Arial"/>
                <a:cs typeface="Arial"/>
              </a:rPr>
              <a:t> </a:t>
            </a:r>
            <a:r>
              <a:rPr sz="900" spc="295" dirty="0">
                <a:latin typeface="Apple Symbols"/>
                <a:cs typeface="Apple Symbols"/>
              </a:rPr>
              <a:t>⇒</a:t>
            </a:r>
            <a:r>
              <a:rPr sz="900" spc="-70" dirty="0">
                <a:latin typeface="Apple Symbols"/>
                <a:cs typeface="Apple Symbols"/>
              </a:rPr>
              <a:t> </a:t>
            </a:r>
            <a:r>
              <a:rPr sz="900" dirty="0">
                <a:latin typeface="Arial"/>
                <a:cs typeface="Arial"/>
              </a:rPr>
              <a:t>returns</a:t>
            </a:r>
            <a:r>
              <a:rPr sz="900" spc="-15" dirty="0">
                <a:latin typeface="Arial"/>
                <a:cs typeface="Arial"/>
              </a:rPr>
              <a:t> </a:t>
            </a:r>
            <a:r>
              <a:rPr sz="900" dirty="0">
                <a:latin typeface="Arial"/>
                <a:cs typeface="Arial"/>
              </a:rPr>
              <a:t>a</a:t>
            </a:r>
            <a:r>
              <a:rPr sz="900" spc="-20" dirty="0">
                <a:latin typeface="Arial"/>
                <a:cs typeface="Arial"/>
              </a:rPr>
              <a:t> </a:t>
            </a:r>
            <a:r>
              <a:rPr sz="900" dirty="0">
                <a:solidFill>
                  <a:srgbClr val="C80000"/>
                </a:solidFill>
                <a:latin typeface="Arial"/>
                <a:cs typeface="Arial"/>
              </a:rPr>
              <a:t>torrent</a:t>
            </a:r>
            <a:r>
              <a:rPr sz="900" spc="-15" dirty="0">
                <a:solidFill>
                  <a:srgbClr val="C80000"/>
                </a:solidFill>
                <a:latin typeface="Arial"/>
                <a:cs typeface="Arial"/>
              </a:rPr>
              <a:t> </a:t>
            </a:r>
            <a:r>
              <a:rPr sz="900" spc="-20" dirty="0">
                <a:solidFill>
                  <a:srgbClr val="C80000"/>
                </a:solidFill>
                <a:latin typeface="Arial"/>
                <a:cs typeface="Arial"/>
              </a:rPr>
              <a:t>file</a:t>
            </a:r>
            <a:endParaRPr sz="900">
              <a:latin typeface="Arial"/>
              <a:cs typeface="Arial"/>
            </a:endParaRPr>
          </a:p>
          <a:p>
            <a:pPr marL="278130" marR="17780" indent="-120650">
              <a:lnSpc>
                <a:spcPct val="111600"/>
              </a:lnSpc>
              <a:buClr>
                <a:srgbClr val="3333B2"/>
              </a:buClr>
              <a:buFont typeface="Apple Symbols"/>
              <a:buChar char="•"/>
              <a:tabLst>
                <a:tab pos="274955" algn="l"/>
              </a:tabLst>
            </a:pPr>
            <a:r>
              <a:rPr sz="900" spc="-20" dirty="0">
                <a:latin typeface="Arial"/>
                <a:cs typeface="Arial"/>
              </a:rPr>
              <a:t>Torrent</a:t>
            </a:r>
            <a:r>
              <a:rPr sz="900" spc="-25" dirty="0">
                <a:latin typeface="Arial"/>
                <a:cs typeface="Arial"/>
              </a:rPr>
              <a:t> </a:t>
            </a:r>
            <a:r>
              <a:rPr sz="900" dirty="0">
                <a:latin typeface="Arial"/>
                <a:cs typeface="Arial"/>
              </a:rPr>
              <a:t>file</a:t>
            </a:r>
            <a:r>
              <a:rPr sz="900" spc="-25" dirty="0">
                <a:latin typeface="Arial"/>
                <a:cs typeface="Arial"/>
              </a:rPr>
              <a:t> </a:t>
            </a:r>
            <a:r>
              <a:rPr sz="900" dirty="0">
                <a:latin typeface="Arial"/>
                <a:cs typeface="Arial"/>
              </a:rPr>
              <a:t>contains</a:t>
            </a:r>
            <a:r>
              <a:rPr sz="900" spc="-25" dirty="0">
                <a:latin typeface="Arial"/>
                <a:cs typeface="Arial"/>
              </a:rPr>
              <a:t> </a:t>
            </a:r>
            <a:r>
              <a:rPr sz="900" spc="-10" dirty="0">
                <a:latin typeface="Arial"/>
                <a:cs typeface="Arial"/>
              </a:rPr>
              <a:t>reference</a:t>
            </a:r>
            <a:r>
              <a:rPr sz="900" spc="-25" dirty="0">
                <a:latin typeface="Arial"/>
                <a:cs typeface="Arial"/>
              </a:rPr>
              <a:t> </a:t>
            </a:r>
            <a:r>
              <a:rPr sz="900" dirty="0">
                <a:latin typeface="Arial"/>
                <a:cs typeface="Arial"/>
              </a:rPr>
              <a:t>to</a:t>
            </a:r>
            <a:r>
              <a:rPr sz="900" spc="-25" dirty="0">
                <a:latin typeface="Arial"/>
                <a:cs typeface="Arial"/>
              </a:rPr>
              <a:t> </a:t>
            </a:r>
            <a:r>
              <a:rPr sz="900" dirty="0">
                <a:solidFill>
                  <a:srgbClr val="C80000"/>
                </a:solidFill>
                <a:latin typeface="Arial"/>
                <a:cs typeface="Arial"/>
              </a:rPr>
              <a:t>tracker</a:t>
            </a:r>
            <a:r>
              <a:rPr sz="900" dirty="0">
                <a:latin typeface="Arial"/>
                <a:cs typeface="Arial"/>
              </a:rPr>
              <a:t>:</a:t>
            </a:r>
            <a:r>
              <a:rPr sz="900" spc="30"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server</a:t>
            </a:r>
            <a:r>
              <a:rPr sz="900" spc="-25" dirty="0">
                <a:latin typeface="Arial"/>
                <a:cs typeface="Arial"/>
              </a:rPr>
              <a:t> </a:t>
            </a:r>
            <a:r>
              <a:rPr sz="900" dirty="0">
                <a:latin typeface="Arial"/>
                <a:cs typeface="Arial"/>
              </a:rPr>
              <a:t>keeping</a:t>
            </a:r>
            <a:r>
              <a:rPr sz="900" spc="-25" dirty="0">
                <a:latin typeface="Arial"/>
                <a:cs typeface="Arial"/>
              </a:rPr>
              <a:t> </a:t>
            </a:r>
            <a:r>
              <a:rPr sz="900" dirty="0">
                <a:latin typeface="Arial"/>
                <a:cs typeface="Arial"/>
              </a:rPr>
              <a:t>an</a:t>
            </a:r>
            <a:r>
              <a:rPr sz="900" spc="-25" dirty="0">
                <a:latin typeface="Arial"/>
                <a:cs typeface="Arial"/>
              </a:rPr>
              <a:t> </a:t>
            </a:r>
            <a:r>
              <a:rPr sz="900" spc="-10" dirty="0">
                <a:latin typeface="Arial"/>
                <a:cs typeface="Arial"/>
              </a:rPr>
              <a:t>accurate </a:t>
            </a:r>
            <a:r>
              <a:rPr sz="900" dirty="0">
                <a:latin typeface="Arial"/>
                <a:cs typeface="Arial"/>
              </a:rPr>
              <a:t>account</a:t>
            </a:r>
            <a:r>
              <a:rPr sz="900" spc="-40" dirty="0">
                <a:latin typeface="Arial"/>
                <a:cs typeface="Arial"/>
              </a:rPr>
              <a:t> </a:t>
            </a:r>
            <a:r>
              <a:rPr sz="900" dirty="0">
                <a:latin typeface="Arial"/>
                <a:cs typeface="Arial"/>
              </a:rPr>
              <a:t>of</a:t>
            </a:r>
            <a:r>
              <a:rPr sz="900" spc="-25" dirty="0">
                <a:latin typeface="Arial"/>
                <a:cs typeface="Arial"/>
              </a:rPr>
              <a:t> </a:t>
            </a:r>
            <a:r>
              <a:rPr sz="900" dirty="0">
                <a:solidFill>
                  <a:srgbClr val="3333B2"/>
                </a:solidFill>
                <a:latin typeface="Arial"/>
                <a:cs typeface="Arial"/>
              </a:rPr>
              <a:t>active</a:t>
            </a:r>
            <a:r>
              <a:rPr sz="900" spc="-30" dirty="0">
                <a:solidFill>
                  <a:srgbClr val="3333B2"/>
                </a:solidFill>
                <a:latin typeface="Arial"/>
                <a:cs typeface="Arial"/>
              </a:rPr>
              <a:t> </a:t>
            </a:r>
            <a:r>
              <a:rPr sz="900" dirty="0">
                <a:latin typeface="Arial"/>
                <a:cs typeface="Arial"/>
              </a:rPr>
              <a:t>nodes</a:t>
            </a:r>
            <a:r>
              <a:rPr sz="900" spc="-25" dirty="0">
                <a:latin typeface="Arial"/>
                <a:cs typeface="Arial"/>
              </a:rPr>
              <a:t> </a:t>
            </a:r>
            <a:r>
              <a:rPr sz="900" dirty="0">
                <a:latin typeface="Arial"/>
                <a:cs typeface="Arial"/>
              </a:rPr>
              <a:t>that</a:t>
            </a:r>
            <a:r>
              <a:rPr sz="900" spc="-30" dirty="0">
                <a:latin typeface="Arial"/>
                <a:cs typeface="Arial"/>
              </a:rPr>
              <a:t> </a:t>
            </a:r>
            <a:r>
              <a:rPr sz="900" spc="-10" dirty="0">
                <a:latin typeface="Arial"/>
                <a:cs typeface="Arial"/>
              </a:rPr>
              <a:t>have</a:t>
            </a:r>
            <a:r>
              <a:rPr sz="900" spc="-25" dirty="0">
                <a:latin typeface="Arial"/>
                <a:cs typeface="Arial"/>
              </a:rPr>
              <a:t> </a:t>
            </a:r>
            <a:r>
              <a:rPr sz="900" dirty="0">
                <a:latin typeface="Arial"/>
                <a:cs typeface="Arial"/>
              </a:rPr>
              <a:t>(chunks</a:t>
            </a:r>
            <a:r>
              <a:rPr sz="900" spc="-30" dirty="0">
                <a:latin typeface="Arial"/>
                <a:cs typeface="Arial"/>
              </a:rPr>
              <a:t> </a:t>
            </a:r>
            <a:r>
              <a:rPr sz="900" dirty="0">
                <a:latin typeface="Arial"/>
                <a:cs typeface="Arial"/>
              </a:rPr>
              <a:t>of)</a:t>
            </a:r>
            <a:r>
              <a:rPr sz="900" spc="-25" dirty="0">
                <a:latin typeface="Arial"/>
                <a:cs typeface="Arial"/>
              </a:rPr>
              <a:t> </a:t>
            </a:r>
            <a:r>
              <a:rPr sz="900" i="1" spc="-10" dirty="0">
                <a:latin typeface="Arial"/>
                <a:cs typeface="Arial"/>
              </a:rPr>
              <a:t>F</a:t>
            </a:r>
            <a:r>
              <a:rPr sz="900" i="1" spc="-140" dirty="0">
                <a:latin typeface="Arial"/>
                <a:cs typeface="Arial"/>
              </a:rPr>
              <a:t> </a:t>
            </a:r>
            <a:r>
              <a:rPr sz="900" spc="-50" dirty="0">
                <a:latin typeface="Arial"/>
                <a:cs typeface="Arial"/>
              </a:rPr>
              <a:t>.</a:t>
            </a:r>
            <a:endParaRPr sz="900">
              <a:latin typeface="Arial"/>
              <a:cs typeface="Arial"/>
            </a:endParaRPr>
          </a:p>
          <a:p>
            <a:pPr marL="278130" marR="125730" indent="-120650">
              <a:lnSpc>
                <a:spcPct val="111600"/>
              </a:lnSpc>
              <a:buClr>
                <a:srgbClr val="3333B2"/>
              </a:buClr>
              <a:buFont typeface="Apple Symbols"/>
              <a:buChar char="•"/>
              <a:tabLst>
                <a:tab pos="278765" algn="l"/>
              </a:tabLst>
            </a:pPr>
            <a:r>
              <a:rPr sz="900" i="1" dirty="0">
                <a:latin typeface="Arial"/>
                <a:cs typeface="Arial"/>
              </a:rPr>
              <a:t>P</a:t>
            </a:r>
            <a:r>
              <a:rPr sz="900" i="1" spc="30" dirty="0">
                <a:latin typeface="Arial"/>
                <a:cs typeface="Arial"/>
              </a:rPr>
              <a:t> </a:t>
            </a:r>
            <a:r>
              <a:rPr sz="900" dirty="0">
                <a:latin typeface="Arial"/>
                <a:cs typeface="Arial"/>
              </a:rPr>
              <a:t>can</a:t>
            </a:r>
            <a:r>
              <a:rPr sz="900" spc="-25" dirty="0">
                <a:latin typeface="Arial"/>
                <a:cs typeface="Arial"/>
              </a:rPr>
              <a:t> </a:t>
            </a:r>
            <a:r>
              <a:rPr sz="900" dirty="0">
                <a:latin typeface="Arial"/>
                <a:cs typeface="Arial"/>
              </a:rPr>
              <a:t>join</a:t>
            </a:r>
            <a:r>
              <a:rPr sz="900" spc="-30" dirty="0">
                <a:latin typeface="Arial"/>
                <a:cs typeface="Arial"/>
              </a:rPr>
              <a:t> </a:t>
            </a:r>
            <a:r>
              <a:rPr sz="900" dirty="0">
                <a:solidFill>
                  <a:srgbClr val="C80000"/>
                </a:solidFill>
                <a:latin typeface="Arial"/>
                <a:cs typeface="Arial"/>
              </a:rPr>
              <a:t>swarm</a:t>
            </a:r>
            <a:r>
              <a:rPr sz="900" dirty="0">
                <a:latin typeface="Arial"/>
                <a:cs typeface="Arial"/>
              </a:rPr>
              <a:t>,</a:t>
            </a:r>
            <a:r>
              <a:rPr sz="900" spc="-25" dirty="0">
                <a:latin typeface="Arial"/>
                <a:cs typeface="Arial"/>
              </a:rPr>
              <a:t> </a:t>
            </a:r>
            <a:r>
              <a:rPr sz="900" dirty="0">
                <a:latin typeface="Arial"/>
                <a:cs typeface="Arial"/>
              </a:rPr>
              <a:t>get</a:t>
            </a:r>
            <a:r>
              <a:rPr sz="900" spc="-25"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chunk</a:t>
            </a:r>
            <a:r>
              <a:rPr sz="900" spc="-30" dirty="0">
                <a:latin typeface="Arial"/>
                <a:cs typeface="Arial"/>
              </a:rPr>
              <a:t> </a:t>
            </a:r>
            <a:r>
              <a:rPr sz="900" dirty="0">
                <a:latin typeface="Arial"/>
                <a:cs typeface="Arial"/>
              </a:rPr>
              <a:t>for</a:t>
            </a:r>
            <a:r>
              <a:rPr sz="900" spc="-25" dirty="0">
                <a:latin typeface="Arial"/>
                <a:cs typeface="Arial"/>
              </a:rPr>
              <a:t> </a:t>
            </a:r>
            <a:r>
              <a:rPr sz="900" dirty="0">
                <a:latin typeface="Arial"/>
                <a:cs typeface="Arial"/>
              </a:rPr>
              <a:t>free,</a:t>
            </a:r>
            <a:r>
              <a:rPr sz="900" spc="-25" dirty="0">
                <a:latin typeface="Arial"/>
                <a:cs typeface="Arial"/>
              </a:rPr>
              <a:t> </a:t>
            </a:r>
            <a:r>
              <a:rPr sz="900" dirty="0">
                <a:latin typeface="Arial"/>
                <a:cs typeface="Arial"/>
              </a:rPr>
              <a:t>and</a:t>
            </a:r>
            <a:r>
              <a:rPr sz="900" spc="-30" dirty="0">
                <a:latin typeface="Arial"/>
                <a:cs typeface="Arial"/>
              </a:rPr>
              <a:t> </a:t>
            </a:r>
            <a:r>
              <a:rPr sz="900" dirty="0">
                <a:latin typeface="Arial"/>
                <a:cs typeface="Arial"/>
              </a:rPr>
              <a:t>then</a:t>
            </a:r>
            <a:r>
              <a:rPr sz="900" spc="-25" dirty="0">
                <a:latin typeface="Arial"/>
                <a:cs typeface="Arial"/>
              </a:rPr>
              <a:t> </a:t>
            </a:r>
            <a:r>
              <a:rPr sz="900" dirty="0">
                <a:latin typeface="Arial"/>
                <a:cs typeface="Arial"/>
              </a:rPr>
              <a:t>trade</a:t>
            </a:r>
            <a:r>
              <a:rPr sz="900" spc="-25"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copy</a:t>
            </a:r>
            <a:r>
              <a:rPr sz="900" spc="-25" dirty="0">
                <a:latin typeface="Arial"/>
                <a:cs typeface="Arial"/>
              </a:rPr>
              <a:t> </a:t>
            </a:r>
            <a:r>
              <a:rPr sz="900" dirty="0">
                <a:latin typeface="Arial"/>
                <a:cs typeface="Arial"/>
              </a:rPr>
              <a:t>of</a:t>
            </a:r>
            <a:r>
              <a:rPr sz="900" spc="-25" dirty="0">
                <a:latin typeface="Arial"/>
                <a:cs typeface="Arial"/>
              </a:rPr>
              <a:t> </a:t>
            </a:r>
            <a:r>
              <a:rPr sz="900" spc="-20" dirty="0">
                <a:latin typeface="Arial"/>
                <a:cs typeface="Arial"/>
              </a:rPr>
              <a:t>that </a:t>
            </a:r>
            <a:r>
              <a:rPr sz="900" dirty="0">
                <a:latin typeface="Arial"/>
                <a:cs typeface="Arial"/>
              </a:rPr>
              <a:t>chunk</a:t>
            </a:r>
            <a:r>
              <a:rPr sz="900" spc="-25" dirty="0">
                <a:latin typeface="Arial"/>
                <a:cs typeface="Arial"/>
              </a:rPr>
              <a:t> </a:t>
            </a:r>
            <a:r>
              <a:rPr sz="900" dirty="0">
                <a:latin typeface="Arial"/>
                <a:cs typeface="Arial"/>
              </a:rPr>
              <a:t>for</a:t>
            </a:r>
            <a:r>
              <a:rPr sz="900" spc="-20" dirty="0">
                <a:latin typeface="Arial"/>
                <a:cs typeface="Arial"/>
              </a:rPr>
              <a:t> </a:t>
            </a:r>
            <a:r>
              <a:rPr sz="900" dirty="0">
                <a:latin typeface="Arial"/>
                <a:cs typeface="Arial"/>
              </a:rPr>
              <a:t>another</a:t>
            </a:r>
            <a:r>
              <a:rPr sz="900" spc="-25" dirty="0">
                <a:latin typeface="Arial"/>
                <a:cs typeface="Arial"/>
              </a:rPr>
              <a:t> </a:t>
            </a:r>
            <a:r>
              <a:rPr sz="900" dirty="0">
                <a:latin typeface="Arial"/>
                <a:cs typeface="Arial"/>
              </a:rPr>
              <a:t>one</a:t>
            </a:r>
            <a:r>
              <a:rPr sz="900" spc="-20" dirty="0">
                <a:latin typeface="Arial"/>
                <a:cs typeface="Arial"/>
              </a:rPr>
              <a:t> </a:t>
            </a:r>
            <a:r>
              <a:rPr sz="900" dirty="0">
                <a:latin typeface="Arial"/>
                <a:cs typeface="Arial"/>
              </a:rPr>
              <a:t>with</a:t>
            </a:r>
            <a:r>
              <a:rPr sz="900" spc="-25" dirty="0">
                <a:latin typeface="Arial"/>
                <a:cs typeface="Arial"/>
              </a:rPr>
              <a:t> </a:t>
            </a:r>
            <a:r>
              <a:rPr sz="900" dirty="0">
                <a:latin typeface="Arial"/>
                <a:cs typeface="Arial"/>
              </a:rPr>
              <a:t>a</a:t>
            </a:r>
            <a:r>
              <a:rPr sz="900" spc="-20" dirty="0">
                <a:latin typeface="Arial"/>
                <a:cs typeface="Arial"/>
              </a:rPr>
              <a:t> </a:t>
            </a:r>
            <a:r>
              <a:rPr sz="900" dirty="0">
                <a:latin typeface="Arial"/>
                <a:cs typeface="Arial"/>
              </a:rPr>
              <a:t>peer</a:t>
            </a:r>
            <a:r>
              <a:rPr sz="900" spc="-25" dirty="0">
                <a:latin typeface="Arial"/>
                <a:cs typeface="Arial"/>
              </a:rPr>
              <a:t> </a:t>
            </a:r>
            <a:r>
              <a:rPr sz="900" i="1" dirty="0">
                <a:latin typeface="Arial"/>
                <a:cs typeface="Arial"/>
              </a:rPr>
              <a:t>Q</a:t>
            </a:r>
            <a:r>
              <a:rPr sz="900" i="1" spc="20" dirty="0">
                <a:latin typeface="Arial"/>
                <a:cs typeface="Arial"/>
              </a:rPr>
              <a:t> </a:t>
            </a:r>
            <a:r>
              <a:rPr sz="900" dirty="0">
                <a:latin typeface="Arial"/>
                <a:cs typeface="Arial"/>
              </a:rPr>
              <a:t>also</a:t>
            </a:r>
            <a:r>
              <a:rPr sz="900" spc="-20" dirty="0">
                <a:latin typeface="Arial"/>
                <a:cs typeface="Arial"/>
              </a:rPr>
              <a:t> </a:t>
            </a:r>
            <a:r>
              <a:rPr sz="900" dirty="0">
                <a:latin typeface="Arial"/>
                <a:cs typeface="Arial"/>
              </a:rPr>
              <a:t>in</a:t>
            </a:r>
            <a:r>
              <a:rPr sz="900" spc="-20" dirty="0">
                <a:latin typeface="Arial"/>
                <a:cs typeface="Arial"/>
              </a:rPr>
              <a:t> </a:t>
            </a:r>
            <a:r>
              <a:rPr sz="900" dirty="0">
                <a:latin typeface="Arial"/>
                <a:cs typeface="Arial"/>
              </a:rPr>
              <a:t>the</a:t>
            </a:r>
            <a:r>
              <a:rPr sz="900" spc="-25" dirty="0">
                <a:latin typeface="Arial"/>
                <a:cs typeface="Arial"/>
              </a:rPr>
              <a:t> </a:t>
            </a:r>
            <a:r>
              <a:rPr sz="900" spc="-10" dirty="0">
                <a:latin typeface="Arial"/>
                <a:cs typeface="Arial"/>
              </a:rPr>
              <a:t>swarm.</a:t>
            </a:r>
            <a:endParaRPr sz="900">
              <a:latin typeface="Arial"/>
              <a:cs typeface="Arial"/>
            </a:endParaRPr>
          </a:p>
        </p:txBody>
      </p:sp>
      <p:pic>
        <p:nvPicPr>
          <p:cNvPr id="5" name="object 5"/>
          <p:cNvPicPr/>
          <p:nvPr/>
        </p:nvPicPr>
        <p:blipFill>
          <a:blip r:embed="rId4" cstate="print"/>
          <a:stretch>
            <a:fillRect/>
          </a:stretch>
        </p:blipFill>
        <p:spPr>
          <a:xfrm>
            <a:off x="498633" y="1692570"/>
            <a:ext cx="3618332" cy="1081055"/>
          </a:xfrm>
          <a:prstGeom prst="rect">
            <a:avLst/>
          </a:prstGeom>
        </p:spPr>
      </p:pic>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58102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Example:</a:t>
            </a:r>
            <a:r>
              <a:rPr sz="500" spc="5" dirty="0">
                <a:latin typeface="Arial"/>
                <a:cs typeface="Arial"/>
                <a:hlinkClick r:id="rId5" action="ppaction://hlinksldjump"/>
              </a:rPr>
              <a:t> </a:t>
            </a:r>
            <a:r>
              <a:rPr sz="500" spc="-10" dirty="0">
                <a:latin typeface="Arial"/>
                <a:cs typeface="Arial"/>
                <a:hlinkClick r:id="rId5" action="ppaction://hlinksldjump"/>
              </a:rPr>
              <a:t>BitTorrent</a:t>
            </a:r>
            <a:endParaRPr sz="500">
              <a:latin typeface="Arial"/>
              <a:cs typeface="Arial"/>
            </a:endParaRPr>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Architectures</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47782" y="-1515"/>
            <a:ext cx="80708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Hybrid</a:t>
            </a:r>
            <a:r>
              <a:rPr sz="500" spc="-2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system</a:t>
            </a:r>
            <a:r>
              <a:rPr sz="500" spc="-2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architectures</a:t>
            </a:r>
            <a:endParaRPr sz="500">
              <a:latin typeface="Arial"/>
              <a:cs typeface="Arial"/>
            </a:endParaRPr>
          </a:p>
        </p:txBody>
      </p:sp>
      <p:sp>
        <p:nvSpPr>
          <p:cNvPr id="5" name="object 5"/>
          <p:cNvSpPr txBox="1"/>
          <p:nvPr/>
        </p:nvSpPr>
        <p:spPr>
          <a:xfrm>
            <a:off x="95300" y="197711"/>
            <a:ext cx="1164590"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Cloud</a:t>
            </a:r>
            <a:r>
              <a:rPr sz="1200" spc="-40" dirty="0">
                <a:solidFill>
                  <a:srgbClr val="3333B2"/>
                </a:solidFill>
                <a:latin typeface="Arial"/>
                <a:cs typeface="Arial"/>
              </a:rPr>
              <a:t> </a:t>
            </a:r>
            <a:r>
              <a:rPr sz="1200" spc="-10" dirty="0">
                <a:solidFill>
                  <a:srgbClr val="3333B2"/>
                </a:solidFill>
                <a:latin typeface="Arial"/>
                <a:cs typeface="Arial"/>
              </a:rPr>
              <a:t>computing</a:t>
            </a:r>
            <a:endParaRPr sz="1200">
              <a:latin typeface="Arial"/>
              <a:cs typeface="Arial"/>
            </a:endParaRPr>
          </a:p>
        </p:txBody>
      </p:sp>
      <p:pic>
        <p:nvPicPr>
          <p:cNvPr id="6" name="object 6"/>
          <p:cNvPicPr/>
          <p:nvPr/>
        </p:nvPicPr>
        <p:blipFill>
          <a:blip r:embed="rId4" cstate="print"/>
          <a:stretch>
            <a:fillRect/>
          </a:stretch>
        </p:blipFill>
        <p:spPr>
          <a:xfrm>
            <a:off x="510415" y="557889"/>
            <a:ext cx="3584783" cy="1562919"/>
          </a:xfrm>
          <a:prstGeom prst="rect">
            <a:avLst/>
          </a:prstGeom>
        </p:spPr>
      </p:pic>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50038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3" action="ppaction://hlinksldjump"/>
              </a:rPr>
              <a:t>Cloud</a:t>
            </a:r>
            <a:r>
              <a:rPr sz="500" spc="-20" dirty="0">
                <a:latin typeface="Arial"/>
                <a:cs typeface="Arial"/>
                <a:hlinkClick r:id="rId3" action="ppaction://hlinksldjump"/>
              </a:rPr>
              <a:t> </a:t>
            </a:r>
            <a:r>
              <a:rPr sz="500" spc="-10" dirty="0">
                <a:latin typeface="Arial"/>
                <a:cs typeface="Arial"/>
                <a:hlinkClick r:id="rId3" action="ppaction://hlinksldjump"/>
              </a:rPr>
              <a:t>computing</a:t>
            </a:r>
            <a:endParaRPr sz="500">
              <a:latin typeface="Arial"/>
              <a:cs typeface="Arial"/>
            </a:endParaRPr>
          </a:p>
        </p:txBody>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706495" algn="l"/>
              </a:tabLst>
            </a:pPr>
            <a:r>
              <a:rPr sz="500" spc="-10" dirty="0">
                <a:latin typeface="Arial"/>
                <a:cs typeface="Arial"/>
                <a:hlinkClick r:id="rId2" action="ppaction://hlinksldjump"/>
              </a:rPr>
              <a:t>Architectures</a:t>
            </a:r>
            <a:r>
              <a:rPr sz="500" dirty="0">
                <a:latin typeface="Arial"/>
                <a:cs typeface="Arial"/>
              </a:rPr>
              <a:t>	</a:t>
            </a:r>
            <a:r>
              <a:rPr sz="500" dirty="0">
                <a:solidFill>
                  <a:srgbClr val="FFFFFF"/>
                </a:solidFill>
                <a:latin typeface="Arial"/>
                <a:cs typeface="Arial"/>
                <a:hlinkClick r:id="rId3" action="ppaction://hlinksldjump"/>
              </a:rPr>
              <a:t>Hybrid</a:t>
            </a:r>
            <a:r>
              <a:rPr sz="500" spc="-2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system</a:t>
            </a:r>
            <a:r>
              <a:rPr sz="500" spc="-2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architectures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Cloud</a:t>
            </a:r>
            <a:r>
              <a:rPr spc="-40" dirty="0"/>
              <a:t> </a:t>
            </a:r>
            <a:r>
              <a:rPr spc="-10" dirty="0"/>
              <a:t>computing</a:t>
            </a:r>
          </a:p>
        </p:txBody>
      </p:sp>
      <p:sp>
        <p:nvSpPr>
          <p:cNvPr id="4" name="object 4"/>
          <p:cNvSpPr txBox="1"/>
          <p:nvPr/>
        </p:nvSpPr>
        <p:spPr>
          <a:xfrm>
            <a:off x="334594" y="514774"/>
            <a:ext cx="3926840" cy="1932939"/>
          </a:xfrm>
          <a:prstGeom prst="rect">
            <a:avLst/>
          </a:prstGeom>
        </p:spPr>
        <p:txBody>
          <a:bodyPr vert="horz" wrap="square" lIns="0" tIns="12065" rIns="0" bIns="0" rtlCol="0">
            <a:spAutoFit/>
          </a:bodyPr>
          <a:lstStyle/>
          <a:p>
            <a:pPr marL="25400">
              <a:lnSpc>
                <a:spcPct val="100000"/>
              </a:lnSpc>
              <a:spcBef>
                <a:spcPts val="95"/>
              </a:spcBef>
            </a:pPr>
            <a:r>
              <a:rPr sz="1000" dirty="0">
                <a:solidFill>
                  <a:srgbClr val="3333B2"/>
                </a:solidFill>
                <a:latin typeface="Arial"/>
                <a:cs typeface="Arial"/>
              </a:rPr>
              <a:t>Make</a:t>
            </a:r>
            <a:r>
              <a:rPr sz="1000" spc="-45" dirty="0">
                <a:solidFill>
                  <a:srgbClr val="3333B2"/>
                </a:solidFill>
                <a:latin typeface="Arial"/>
                <a:cs typeface="Arial"/>
              </a:rPr>
              <a:t> </a:t>
            </a:r>
            <a:r>
              <a:rPr sz="1000" dirty="0">
                <a:solidFill>
                  <a:srgbClr val="3333B2"/>
                </a:solidFill>
                <a:latin typeface="Arial"/>
                <a:cs typeface="Arial"/>
              </a:rPr>
              <a:t>a</a:t>
            </a:r>
            <a:r>
              <a:rPr sz="1000" spc="-45" dirty="0">
                <a:solidFill>
                  <a:srgbClr val="3333B2"/>
                </a:solidFill>
                <a:latin typeface="Arial"/>
                <a:cs typeface="Arial"/>
              </a:rPr>
              <a:t> </a:t>
            </a:r>
            <a:r>
              <a:rPr sz="1000" dirty="0">
                <a:solidFill>
                  <a:srgbClr val="3333B2"/>
                </a:solidFill>
                <a:latin typeface="Arial"/>
                <a:cs typeface="Arial"/>
              </a:rPr>
              <a:t>distinction</a:t>
            </a:r>
            <a:r>
              <a:rPr sz="1000" spc="-40" dirty="0">
                <a:solidFill>
                  <a:srgbClr val="3333B2"/>
                </a:solidFill>
                <a:latin typeface="Arial"/>
                <a:cs typeface="Arial"/>
              </a:rPr>
              <a:t> </a:t>
            </a:r>
            <a:r>
              <a:rPr sz="1000" dirty="0">
                <a:solidFill>
                  <a:srgbClr val="3333B2"/>
                </a:solidFill>
                <a:latin typeface="Arial"/>
                <a:cs typeface="Arial"/>
              </a:rPr>
              <a:t>between</a:t>
            </a:r>
            <a:r>
              <a:rPr sz="1000" spc="-45" dirty="0">
                <a:solidFill>
                  <a:srgbClr val="3333B2"/>
                </a:solidFill>
                <a:latin typeface="Arial"/>
                <a:cs typeface="Arial"/>
              </a:rPr>
              <a:t> </a:t>
            </a:r>
            <a:r>
              <a:rPr sz="1000" dirty="0">
                <a:solidFill>
                  <a:srgbClr val="3333B2"/>
                </a:solidFill>
                <a:latin typeface="Arial"/>
                <a:cs typeface="Arial"/>
              </a:rPr>
              <a:t>four</a:t>
            </a:r>
            <a:r>
              <a:rPr sz="1000" spc="-40" dirty="0">
                <a:solidFill>
                  <a:srgbClr val="3333B2"/>
                </a:solidFill>
                <a:latin typeface="Arial"/>
                <a:cs typeface="Arial"/>
              </a:rPr>
              <a:t> </a:t>
            </a:r>
            <a:r>
              <a:rPr sz="1000" spc="-10" dirty="0">
                <a:solidFill>
                  <a:srgbClr val="3333B2"/>
                </a:solidFill>
                <a:latin typeface="Arial"/>
                <a:cs typeface="Arial"/>
              </a:rPr>
              <a:t>layers</a:t>
            </a:r>
            <a:endParaRPr sz="1000">
              <a:latin typeface="Arial"/>
              <a:cs typeface="Arial"/>
            </a:endParaRPr>
          </a:p>
          <a:p>
            <a:pPr marL="278130" marR="40640" indent="-120650">
              <a:lnSpc>
                <a:spcPct val="111600"/>
              </a:lnSpc>
              <a:spcBef>
                <a:spcPts val="575"/>
              </a:spcBef>
              <a:buClr>
                <a:srgbClr val="3333B2"/>
              </a:buClr>
              <a:buFont typeface="Apple Symbols"/>
              <a:buChar char="•"/>
              <a:tabLst>
                <a:tab pos="278765" algn="l"/>
              </a:tabLst>
            </a:pPr>
            <a:r>
              <a:rPr sz="900" dirty="0">
                <a:solidFill>
                  <a:srgbClr val="C80000"/>
                </a:solidFill>
                <a:latin typeface="Arial"/>
                <a:cs typeface="Arial"/>
              </a:rPr>
              <a:t>Hardware</a:t>
            </a:r>
            <a:r>
              <a:rPr sz="900" dirty="0">
                <a:latin typeface="Arial"/>
                <a:cs typeface="Arial"/>
              </a:rPr>
              <a:t>:</a:t>
            </a:r>
            <a:r>
              <a:rPr sz="900" spc="20" dirty="0">
                <a:latin typeface="Arial"/>
                <a:cs typeface="Arial"/>
              </a:rPr>
              <a:t> </a:t>
            </a:r>
            <a:r>
              <a:rPr sz="900" spc="-10" dirty="0">
                <a:latin typeface="Arial"/>
                <a:cs typeface="Arial"/>
              </a:rPr>
              <a:t>Processors,</a:t>
            </a:r>
            <a:r>
              <a:rPr sz="900" spc="-30" dirty="0">
                <a:latin typeface="Arial"/>
                <a:cs typeface="Arial"/>
              </a:rPr>
              <a:t> </a:t>
            </a:r>
            <a:r>
              <a:rPr sz="900" dirty="0">
                <a:latin typeface="Arial"/>
                <a:cs typeface="Arial"/>
              </a:rPr>
              <a:t>routers,</a:t>
            </a:r>
            <a:r>
              <a:rPr sz="900" spc="-35" dirty="0">
                <a:latin typeface="Arial"/>
                <a:cs typeface="Arial"/>
              </a:rPr>
              <a:t> </a:t>
            </a:r>
            <a:r>
              <a:rPr sz="900" dirty="0">
                <a:latin typeface="Arial"/>
                <a:cs typeface="Arial"/>
              </a:rPr>
              <a:t>power</a:t>
            </a:r>
            <a:r>
              <a:rPr sz="900" spc="-30" dirty="0">
                <a:latin typeface="Arial"/>
                <a:cs typeface="Arial"/>
              </a:rPr>
              <a:t> </a:t>
            </a:r>
            <a:r>
              <a:rPr sz="900" dirty="0">
                <a:latin typeface="Arial"/>
                <a:cs typeface="Arial"/>
              </a:rPr>
              <a:t>and</a:t>
            </a:r>
            <a:r>
              <a:rPr sz="900" spc="-30" dirty="0">
                <a:latin typeface="Arial"/>
                <a:cs typeface="Arial"/>
              </a:rPr>
              <a:t> </a:t>
            </a:r>
            <a:r>
              <a:rPr sz="900" dirty="0">
                <a:latin typeface="Arial"/>
                <a:cs typeface="Arial"/>
              </a:rPr>
              <a:t>cooling</a:t>
            </a:r>
            <a:r>
              <a:rPr sz="900" spc="-35" dirty="0">
                <a:latin typeface="Arial"/>
                <a:cs typeface="Arial"/>
              </a:rPr>
              <a:t> </a:t>
            </a:r>
            <a:r>
              <a:rPr sz="900" dirty="0">
                <a:latin typeface="Arial"/>
                <a:cs typeface="Arial"/>
              </a:rPr>
              <a:t>systems.</a:t>
            </a:r>
            <a:r>
              <a:rPr sz="900" spc="25" dirty="0">
                <a:latin typeface="Arial"/>
                <a:cs typeface="Arial"/>
              </a:rPr>
              <a:t> </a:t>
            </a:r>
            <a:r>
              <a:rPr sz="900" spc="-10" dirty="0">
                <a:latin typeface="Arial"/>
                <a:cs typeface="Arial"/>
              </a:rPr>
              <a:t>Customers </a:t>
            </a:r>
            <a:r>
              <a:rPr sz="900" dirty="0">
                <a:latin typeface="Arial"/>
                <a:cs typeface="Arial"/>
              </a:rPr>
              <a:t>normally</a:t>
            </a:r>
            <a:r>
              <a:rPr sz="900" spc="-25" dirty="0">
                <a:latin typeface="Arial"/>
                <a:cs typeface="Arial"/>
              </a:rPr>
              <a:t> </a:t>
            </a:r>
            <a:r>
              <a:rPr sz="900" spc="-10" dirty="0">
                <a:latin typeface="Arial"/>
                <a:cs typeface="Arial"/>
              </a:rPr>
              <a:t>never</a:t>
            </a:r>
            <a:r>
              <a:rPr sz="900" spc="-20" dirty="0">
                <a:latin typeface="Arial"/>
                <a:cs typeface="Arial"/>
              </a:rPr>
              <a:t> </a:t>
            </a:r>
            <a:r>
              <a:rPr sz="900" dirty="0">
                <a:latin typeface="Arial"/>
                <a:cs typeface="Arial"/>
              </a:rPr>
              <a:t>get</a:t>
            </a:r>
            <a:r>
              <a:rPr sz="900" spc="-20"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see</a:t>
            </a:r>
            <a:r>
              <a:rPr sz="900" spc="-20" dirty="0">
                <a:latin typeface="Arial"/>
                <a:cs typeface="Arial"/>
              </a:rPr>
              <a:t> </a:t>
            </a:r>
            <a:r>
              <a:rPr sz="900" spc="-10" dirty="0">
                <a:latin typeface="Arial"/>
                <a:cs typeface="Arial"/>
              </a:rPr>
              <a:t>these.</a:t>
            </a:r>
            <a:endParaRPr sz="900">
              <a:latin typeface="Arial"/>
              <a:cs typeface="Arial"/>
            </a:endParaRPr>
          </a:p>
          <a:p>
            <a:pPr marL="278130" marR="244475" indent="-120650">
              <a:lnSpc>
                <a:spcPct val="111600"/>
              </a:lnSpc>
              <a:spcBef>
                <a:spcPts val="400"/>
              </a:spcBef>
              <a:buClr>
                <a:srgbClr val="3333B2"/>
              </a:buClr>
              <a:buFont typeface="Apple Symbols"/>
              <a:buChar char="•"/>
              <a:tabLst>
                <a:tab pos="278765" algn="l"/>
              </a:tabLst>
            </a:pPr>
            <a:r>
              <a:rPr sz="900" dirty="0">
                <a:solidFill>
                  <a:srgbClr val="C80000"/>
                </a:solidFill>
                <a:latin typeface="Arial"/>
                <a:cs typeface="Arial"/>
              </a:rPr>
              <a:t>Infrastructure</a:t>
            </a:r>
            <a:r>
              <a:rPr sz="900" dirty="0">
                <a:latin typeface="Arial"/>
                <a:cs typeface="Arial"/>
              </a:rPr>
              <a:t>:</a:t>
            </a:r>
            <a:r>
              <a:rPr sz="900" spc="20" dirty="0">
                <a:latin typeface="Arial"/>
                <a:cs typeface="Arial"/>
              </a:rPr>
              <a:t> </a:t>
            </a:r>
            <a:r>
              <a:rPr sz="900" spc="-10" dirty="0">
                <a:latin typeface="Arial"/>
                <a:cs typeface="Arial"/>
              </a:rPr>
              <a:t>Deploys</a:t>
            </a:r>
            <a:r>
              <a:rPr sz="900" spc="-30" dirty="0">
                <a:latin typeface="Arial"/>
                <a:cs typeface="Arial"/>
              </a:rPr>
              <a:t> </a:t>
            </a:r>
            <a:r>
              <a:rPr sz="900" dirty="0">
                <a:latin typeface="Arial"/>
                <a:cs typeface="Arial"/>
              </a:rPr>
              <a:t>virtualization</a:t>
            </a:r>
            <a:r>
              <a:rPr sz="900" spc="-30" dirty="0">
                <a:latin typeface="Arial"/>
                <a:cs typeface="Arial"/>
              </a:rPr>
              <a:t> </a:t>
            </a:r>
            <a:r>
              <a:rPr sz="900" dirty="0">
                <a:latin typeface="Arial"/>
                <a:cs typeface="Arial"/>
              </a:rPr>
              <a:t>techniques.</a:t>
            </a:r>
            <a:r>
              <a:rPr sz="900" spc="25" dirty="0">
                <a:latin typeface="Arial"/>
                <a:cs typeface="Arial"/>
              </a:rPr>
              <a:t> </a:t>
            </a:r>
            <a:r>
              <a:rPr sz="900" spc="-10" dirty="0">
                <a:latin typeface="Arial"/>
                <a:cs typeface="Arial"/>
              </a:rPr>
              <a:t>Evolves</a:t>
            </a:r>
            <a:r>
              <a:rPr sz="900" spc="-30" dirty="0">
                <a:latin typeface="Arial"/>
                <a:cs typeface="Arial"/>
              </a:rPr>
              <a:t> </a:t>
            </a:r>
            <a:r>
              <a:rPr sz="900" spc="-10" dirty="0">
                <a:latin typeface="Arial"/>
                <a:cs typeface="Arial"/>
              </a:rPr>
              <a:t>around </a:t>
            </a:r>
            <a:r>
              <a:rPr sz="900" dirty="0">
                <a:latin typeface="Arial"/>
                <a:cs typeface="Arial"/>
              </a:rPr>
              <a:t>allocating</a:t>
            </a:r>
            <a:r>
              <a:rPr sz="900" spc="-20" dirty="0">
                <a:latin typeface="Arial"/>
                <a:cs typeface="Arial"/>
              </a:rPr>
              <a:t> </a:t>
            </a:r>
            <a:r>
              <a:rPr sz="900" dirty="0">
                <a:latin typeface="Arial"/>
                <a:cs typeface="Arial"/>
              </a:rPr>
              <a:t>and</a:t>
            </a:r>
            <a:r>
              <a:rPr sz="900" spc="-20" dirty="0">
                <a:latin typeface="Arial"/>
                <a:cs typeface="Arial"/>
              </a:rPr>
              <a:t> </a:t>
            </a:r>
            <a:r>
              <a:rPr sz="900" dirty="0">
                <a:latin typeface="Arial"/>
                <a:cs typeface="Arial"/>
              </a:rPr>
              <a:t>managing</a:t>
            </a:r>
            <a:r>
              <a:rPr sz="900" spc="-20" dirty="0">
                <a:latin typeface="Arial"/>
                <a:cs typeface="Arial"/>
              </a:rPr>
              <a:t> </a:t>
            </a:r>
            <a:r>
              <a:rPr sz="900" dirty="0">
                <a:latin typeface="Arial"/>
                <a:cs typeface="Arial"/>
              </a:rPr>
              <a:t>virtual</a:t>
            </a:r>
            <a:r>
              <a:rPr sz="900" spc="-20" dirty="0">
                <a:latin typeface="Arial"/>
                <a:cs typeface="Arial"/>
              </a:rPr>
              <a:t> </a:t>
            </a:r>
            <a:r>
              <a:rPr sz="900" dirty="0">
                <a:latin typeface="Arial"/>
                <a:cs typeface="Arial"/>
              </a:rPr>
              <a:t>storage</a:t>
            </a:r>
            <a:r>
              <a:rPr sz="900" spc="-20" dirty="0">
                <a:latin typeface="Arial"/>
                <a:cs typeface="Arial"/>
              </a:rPr>
              <a:t> </a:t>
            </a:r>
            <a:r>
              <a:rPr sz="900" spc="-10" dirty="0">
                <a:latin typeface="Arial"/>
                <a:cs typeface="Arial"/>
              </a:rPr>
              <a:t>devices</a:t>
            </a:r>
            <a:r>
              <a:rPr sz="900" spc="-20" dirty="0">
                <a:latin typeface="Arial"/>
                <a:cs typeface="Arial"/>
              </a:rPr>
              <a:t> </a:t>
            </a:r>
            <a:r>
              <a:rPr sz="900" dirty="0">
                <a:latin typeface="Arial"/>
                <a:cs typeface="Arial"/>
              </a:rPr>
              <a:t>and</a:t>
            </a:r>
            <a:r>
              <a:rPr sz="900" spc="-20" dirty="0">
                <a:latin typeface="Arial"/>
                <a:cs typeface="Arial"/>
              </a:rPr>
              <a:t> </a:t>
            </a:r>
            <a:r>
              <a:rPr sz="900" dirty="0">
                <a:latin typeface="Arial"/>
                <a:cs typeface="Arial"/>
              </a:rPr>
              <a:t>virtual</a:t>
            </a:r>
            <a:r>
              <a:rPr sz="900" spc="-20" dirty="0">
                <a:latin typeface="Arial"/>
                <a:cs typeface="Arial"/>
              </a:rPr>
              <a:t> </a:t>
            </a:r>
            <a:r>
              <a:rPr sz="900" spc="-10" dirty="0">
                <a:latin typeface="Arial"/>
                <a:cs typeface="Arial"/>
              </a:rPr>
              <a:t>servers.</a:t>
            </a:r>
            <a:endParaRPr sz="900">
              <a:latin typeface="Arial"/>
              <a:cs typeface="Arial"/>
            </a:endParaRPr>
          </a:p>
          <a:p>
            <a:pPr marL="278130" marR="53975" indent="-120650">
              <a:lnSpc>
                <a:spcPct val="111600"/>
              </a:lnSpc>
              <a:spcBef>
                <a:spcPts val="395"/>
              </a:spcBef>
              <a:buClr>
                <a:srgbClr val="3333B2"/>
              </a:buClr>
              <a:buFont typeface="Apple Symbols"/>
              <a:buChar char="•"/>
              <a:tabLst>
                <a:tab pos="278765" algn="l"/>
              </a:tabLst>
            </a:pPr>
            <a:r>
              <a:rPr sz="900" dirty="0">
                <a:solidFill>
                  <a:srgbClr val="C80000"/>
                </a:solidFill>
                <a:latin typeface="Arial"/>
                <a:cs typeface="Arial"/>
              </a:rPr>
              <a:t>Platform</a:t>
            </a:r>
            <a:r>
              <a:rPr sz="900" dirty="0">
                <a:latin typeface="Arial"/>
                <a:cs typeface="Arial"/>
              </a:rPr>
              <a:t>:</a:t>
            </a:r>
            <a:r>
              <a:rPr sz="900" spc="35" dirty="0">
                <a:latin typeface="Arial"/>
                <a:cs typeface="Arial"/>
              </a:rPr>
              <a:t> </a:t>
            </a:r>
            <a:r>
              <a:rPr sz="900" dirty="0">
                <a:latin typeface="Arial"/>
                <a:cs typeface="Arial"/>
              </a:rPr>
              <a:t>Provides</a:t>
            </a:r>
            <a:r>
              <a:rPr sz="900" spc="-20" dirty="0">
                <a:latin typeface="Arial"/>
                <a:cs typeface="Arial"/>
              </a:rPr>
              <a:t> </a:t>
            </a:r>
            <a:r>
              <a:rPr sz="900" spc="-10" dirty="0">
                <a:latin typeface="Arial"/>
                <a:cs typeface="Arial"/>
              </a:rPr>
              <a:t>higher-level</a:t>
            </a:r>
            <a:r>
              <a:rPr sz="900" spc="-20" dirty="0">
                <a:latin typeface="Arial"/>
                <a:cs typeface="Arial"/>
              </a:rPr>
              <a:t> </a:t>
            </a:r>
            <a:r>
              <a:rPr sz="900" spc="-10" dirty="0">
                <a:latin typeface="Arial"/>
                <a:cs typeface="Arial"/>
              </a:rPr>
              <a:t>abstractions</a:t>
            </a:r>
            <a:r>
              <a:rPr sz="900" spc="-25" dirty="0">
                <a:latin typeface="Arial"/>
                <a:cs typeface="Arial"/>
              </a:rPr>
              <a:t> </a:t>
            </a:r>
            <a:r>
              <a:rPr sz="900" dirty="0">
                <a:latin typeface="Arial"/>
                <a:cs typeface="Arial"/>
              </a:rPr>
              <a:t>for</a:t>
            </a:r>
            <a:r>
              <a:rPr sz="900" spc="-20" dirty="0">
                <a:latin typeface="Arial"/>
                <a:cs typeface="Arial"/>
              </a:rPr>
              <a:t> </a:t>
            </a:r>
            <a:r>
              <a:rPr sz="900" dirty="0">
                <a:latin typeface="Arial"/>
                <a:cs typeface="Arial"/>
              </a:rPr>
              <a:t>storage</a:t>
            </a:r>
            <a:r>
              <a:rPr sz="900" spc="-20" dirty="0">
                <a:latin typeface="Arial"/>
                <a:cs typeface="Arial"/>
              </a:rPr>
              <a:t> </a:t>
            </a:r>
            <a:r>
              <a:rPr sz="900" dirty="0">
                <a:latin typeface="Arial"/>
                <a:cs typeface="Arial"/>
              </a:rPr>
              <a:t>and</a:t>
            </a:r>
            <a:r>
              <a:rPr sz="900" spc="-20" dirty="0">
                <a:latin typeface="Arial"/>
                <a:cs typeface="Arial"/>
              </a:rPr>
              <a:t> such. </a:t>
            </a:r>
            <a:r>
              <a:rPr sz="900" dirty="0">
                <a:latin typeface="Arial"/>
                <a:cs typeface="Arial"/>
              </a:rPr>
              <a:t>Example:</a:t>
            </a:r>
            <a:r>
              <a:rPr sz="900" spc="15" dirty="0">
                <a:latin typeface="Arial"/>
                <a:cs typeface="Arial"/>
              </a:rPr>
              <a:t> </a:t>
            </a:r>
            <a:r>
              <a:rPr sz="900" dirty="0">
                <a:latin typeface="Arial"/>
                <a:cs typeface="Arial"/>
              </a:rPr>
              <a:t>Amazon</a:t>
            </a:r>
            <a:r>
              <a:rPr sz="900" spc="-35" dirty="0">
                <a:latin typeface="Arial"/>
                <a:cs typeface="Arial"/>
              </a:rPr>
              <a:t> </a:t>
            </a:r>
            <a:r>
              <a:rPr sz="900" dirty="0">
                <a:latin typeface="Arial"/>
                <a:cs typeface="Arial"/>
              </a:rPr>
              <a:t>S3</a:t>
            </a:r>
            <a:r>
              <a:rPr sz="900" spc="-35" dirty="0">
                <a:latin typeface="Arial"/>
                <a:cs typeface="Arial"/>
              </a:rPr>
              <a:t> </a:t>
            </a:r>
            <a:r>
              <a:rPr sz="900" dirty="0">
                <a:latin typeface="Arial"/>
                <a:cs typeface="Arial"/>
              </a:rPr>
              <a:t>storage</a:t>
            </a:r>
            <a:r>
              <a:rPr sz="900" spc="-35" dirty="0">
                <a:latin typeface="Arial"/>
                <a:cs typeface="Arial"/>
              </a:rPr>
              <a:t> </a:t>
            </a:r>
            <a:r>
              <a:rPr sz="900" dirty="0">
                <a:latin typeface="Arial"/>
                <a:cs typeface="Arial"/>
              </a:rPr>
              <a:t>system</a:t>
            </a:r>
            <a:r>
              <a:rPr sz="900" spc="-35" dirty="0">
                <a:latin typeface="Arial"/>
                <a:cs typeface="Arial"/>
              </a:rPr>
              <a:t> </a:t>
            </a:r>
            <a:r>
              <a:rPr sz="900" dirty="0">
                <a:latin typeface="Arial"/>
                <a:cs typeface="Arial"/>
              </a:rPr>
              <a:t>offers</a:t>
            </a:r>
            <a:r>
              <a:rPr sz="900" spc="-35" dirty="0">
                <a:latin typeface="Arial"/>
                <a:cs typeface="Arial"/>
              </a:rPr>
              <a:t> </a:t>
            </a:r>
            <a:r>
              <a:rPr sz="900" dirty="0">
                <a:latin typeface="Arial"/>
                <a:cs typeface="Arial"/>
              </a:rPr>
              <a:t>an</a:t>
            </a:r>
            <a:r>
              <a:rPr sz="900" spc="-35" dirty="0">
                <a:latin typeface="Arial"/>
                <a:cs typeface="Arial"/>
              </a:rPr>
              <a:t> </a:t>
            </a:r>
            <a:r>
              <a:rPr sz="900" dirty="0">
                <a:latin typeface="Arial"/>
                <a:cs typeface="Arial"/>
              </a:rPr>
              <a:t>API</a:t>
            </a:r>
            <a:r>
              <a:rPr sz="900" spc="-35" dirty="0">
                <a:latin typeface="Arial"/>
                <a:cs typeface="Arial"/>
              </a:rPr>
              <a:t> </a:t>
            </a:r>
            <a:r>
              <a:rPr sz="900" dirty="0">
                <a:latin typeface="Arial"/>
                <a:cs typeface="Arial"/>
              </a:rPr>
              <a:t>for</a:t>
            </a:r>
            <a:r>
              <a:rPr sz="900" spc="-40" dirty="0">
                <a:latin typeface="Arial"/>
                <a:cs typeface="Arial"/>
              </a:rPr>
              <a:t> </a:t>
            </a:r>
            <a:r>
              <a:rPr sz="900" dirty="0">
                <a:latin typeface="Arial"/>
                <a:cs typeface="Arial"/>
              </a:rPr>
              <a:t>(locally</a:t>
            </a:r>
            <a:r>
              <a:rPr sz="900" spc="-35" dirty="0">
                <a:latin typeface="Arial"/>
                <a:cs typeface="Arial"/>
              </a:rPr>
              <a:t> </a:t>
            </a:r>
            <a:r>
              <a:rPr sz="900" spc="-10" dirty="0">
                <a:latin typeface="Arial"/>
                <a:cs typeface="Arial"/>
              </a:rPr>
              <a:t>created) </a:t>
            </a:r>
            <a:r>
              <a:rPr sz="900" dirty="0">
                <a:latin typeface="Arial"/>
                <a:cs typeface="Arial"/>
              </a:rPr>
              <a:t>files</a:t>
            </a:r>
            <a:r>
              <a:rPr sz="900" spc="-2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be</a:t>
            </a:r>
            <a:r>
              <a:rPr sz="900" spc="-20" dirty="0">
                <a:latin typeface="Arial"/>
                <a:cs typeface="Arial"/>
              </a:rPr>
              <a:t> </a:t>
            </a:r>
            <a:r>
              <a:rPr sz="900" dirty="0">
                <a:latin typeface="Arial"/>
                <a:cs typeface="Arial"/>
              </a:rPr>
              <a:t>organized</a:t>
            </a:r>
            <a:r>
              <a:rPr sz="900" spc="-25" dirty="0">
                <a:latin typeface="Arial"/>
                <a:cs typeface="Arial"/>
              </a:rPr>
              <a:t> </a:t>
            </a:r>
            <a:r>
              <a:rPr sz="900" dirty="0">
                <a:latin typeface="Arial"/>
                <a:cs typeface="Arial"/>
              </a:rPr>
              <a:t>and</a:t>
            </a:r>
            <a:r>
              <a:rPr sz="900" spc="-20" dirty="0">
                <a:latin typeface="Arial"/>
                <a:cs typeface="Arial"/>
              </a:rPr>
              <a:t> </a:t>
            </a:r>
            <a:r>
              <a:rPr sz="900" dirty="0">
                <a:latin typeface="Arial"/>
                <a:cs typeface="Arial"/>
              </a:rPr>
              <a:t>stored</a:t>
            </a:r>
            <a:r>
              <a:rPr sz="900" spc="-25" dirty="0">
                <a:latin typeface="Arial"/>
                <a:cs typeface="Arial"/>
              </a:rPr>
              <a:t> </a:t>
            </a:r>
            <a:r>
              <a:rPr sz="900" dirty="0">
                <a:latin typeface="Arial"/>
                <a:cs typeface="Arial"/>
              </a:rPr>
              <a:t>in</a:t>
            </a:r>
            <a:r>
              <a:rPr sz="900" spc="-20" dirty="0">
                <a:latin typeface="Arial"/>
                <a:cs typeface="Arial"/>
              </a:rPr>
              <a:t> </a:t>
            </a:r>
            <a:r>
              <a:rPr sz="900" spc="-10" dirty="0">
                <a:latin typeface="Arial"/>
                <a:cs typeface="Arial"/>
              </a:rPr>
              <a:t>so-</a:t>
            </a:r>
            <a:r>
              <a:rPr sz="900" dirty="0">
                <a:latin typeface="Arial"/>
                <a:cs typeface="Arial"/>
              </a:rPr>
              <a:t>called</a:t>
            </a:r>
            <a:r>
              <a:rPr sz="900" spc="-25" dirty="0">
                <a:latin typeface="Arial"/>
                <a:cs typeface="Arial"/>
              </a:rPr>
              <a:t> </a:t>
            </a:r>
            <a:r>
              <a:rPr sz="900" spc="-10" dirty="0">
                <a:solidFill>
                  <a:srgbClr val="3333B2"/>
                </a:solidFill>
                <a:latin typeface="Arial"/>
                <a:cs typeface="Arial"/>
              </a:rPr>
              <a:t>buckets</a:t>
            </a:r>
            <a:r>
              <a:rPr sz="900" spc="-10" dirty="0">
                <a:latin typeface="Arial"/>
                <a:cs typeface="Arial"/>
              </a:rPr>
              <a:t>.</a:t>
            </a:r>
            <a:endParaRPr sz="900">
              <a:latin typeface="Arial"/>
              <a:cs typeface="Arial"/>
            </a:endParaRPr>
          </a:p>
          <a:p>
            <a:pPr marL="278130" marR="17780" indent="-120650">
              <a:lnSpc>
                <a:spcPct val="111600"/>
              </a:lnSpc>
              <a:spcBef>
                <a:spcPts val="400"/>
              </a:spcBef>
              <a:buClr>
                <a:srgbClr val="3333B2"/>
              </a:buClr>
              <a:buFont typeface="Apple Symbols"/>
              <a:buChar char="•"/>
              <a:tabLst>
                <a:tab pos="278765" algn="l"/>
              </a:tabLst>
            </a:pPr>
            <a:r>
              <a:rPr sz="900" dirty="0">
                <a:solidFill>
                  <a:srgbClr val="C80000"/>
                </a:solidFill>
                <a:latin typeface="Arial"/>
                <a:cs typeface="Arial"/>
              </a:rPr>
              <a:t>Application</a:t>
            </a:r>
            <a:r>
              <a:rPr sz="900" dirty="0">
                <a:latin typeface="Arial"/>
                <a:cs typeface="Arial"/>
              </a:rPr>
              <a:t>:</a:t>
            </a:r>
            <a:r>
              <a:rPr sz="900" spc="35" dirty="0">
                <a:latin typeface="Arial"/>
                <a:cs typeface="Arial"/>
              </a:rPr>
              <a:t> </a:t>
            </a:r>
            <a:r>
              <a:rPr sz="900" dirty="0">
                <a:latin typeface="Arial"/>
                <a:cs typeface="Arial"/>
              </a:rPr>
              <a:t>Actual</a:t>
            </a:r>
            <a:r>
              <a:rPr sz="900" spc="-20" dirty="0">
                <a:latin typeface="Arial"/>
                <a:cs typeface="Arial"/>
              </a:rPr>
              <a:t> </a:t>
            </a:r>
            <a:r>
              <a:rPr sz="900" spc="-10" dirty="0">
                <a:latin typeface="Arial"/>
                <a:cs typeface="Arial"/>
              </a:rPr>
              <a:t>applications,</a:t>
            </a:r>
            <a:r>
              <a:rPr sz="900" spc="-25" dirty="0">
                <a:latin typeface="Arial"/>
                <a:cs typeface="Arial"/>
              </a:rPr>
              <a:t> </a:t>
            </a:r>
            <a:r>
              <a:rPr sz="900" dirty="0">
                <a:latin typeface="Arial"/>
                <a:cs typeface="Arial"/>
              </a:rPr>
              <a:t>such</a:t>
            </a:r>
            <a:r>
              <a:rPr sz="900" spc="-20" dirty="0">
                <a:latin typeface="Arial"/>
                <a:cs typeface="Arial"/>
              </a:rPr>
              <a:t> </a:t>
            </a:r>
            <a:r>
              <a:rPr sz="900" dirty="0">
                <a:latin typeface="Arial"/>
                <a:cs typeface="Arial"/>
              </a:rPr>
              <a:t>as</a:t>
            </a:r>
            <a:r>
              <a:rPr sz="900" spc="-20" dirty="0">
                <a:latin typeface="Arial"/>
                <a:cs typeface="Arial"/>
              </a:rPr>
              <a:t> </a:t>
            </a:r>
            <a:r>
              <a:rPr sz="900" dirty="0">
                <a:latin typeface="Arial"/>
                <a:cs typeface="Arial"/>
              </a:rPr>
              <a:t>office</a:t>
            </a:r>
            <a:r>
              <a:rPr sz="900" spc="-20" dirty="0">
                <a:latin typeface="Arial"/>
                <a:cs typeface="Arial"/>
              </a:rPr>
              <a:t> </a:t>
            </a:r>
            <a:r>
              <a:rPr sz="900" dirty="0">
                <a:latin typeface="Arial"/>
                <a:cs typeface="Arial"/>
              </a:rPr>
              <a:t>suites</a:t>
            </a:r>
            <a:r>
              <a:rPr sz="900" spc="-20" dirty="0">
                <a:latin typeface="Arial"/>
                <a:cs typeface="Arial"/>
              </a:rPr>
              <a:t> </a:t>
            </a:r>
            <a:r>
              <a:rPr sz="900" dirty="0">
                <a:latin typeface="Arial"/>
                <a:cs typeface="Arial"/>
              </a:rPr>
              <a:t>(text</a:t>
            </a:r>
            <a:r>
              <a:rPr sz="900" spc="-20" dirty="0">
                <a:latin typeface="Arial"/>
                <a:cs typeface="Arial"/>
              </a:rPr>
              <a:t> </a:t>
            </a:r>
            <a:r>
              <a:rPr sz="900" spc="-10" dirty="0">
                <a:latin typeface="Arial"/>
                <a:cs typeface="Arial"/>
              </a:rPr>
              <a:t>processors, </a:t>
            </a:r>
            <a:r>
              <a:rPr sz="900" dirty="0">
                <a:latin typeface="Arial"/>
                <a:cs typeface="Arial"/>
              </a:rPr>
              <a:t>spreadsheet</a:t>
            </a:r>
            <a:r>
              <a:rPr sz="900" spc="-20" dirty="0">
                <a:latin typeface="Arial"/>
                <a:cs typeface="Arial"/>
              </a:rPr>
              <a:t> </a:t>
            </a:r>
            <a:r>
              <a:rPr sz="900" spc="-10" dirty="0">
                <a:latin typeface="Arial"/>
                <a:cs typeface="Arial"/>
              </a:rPr>
              <a:t>applications,</a:t>
            </a:r>
            <a:r>
              <a:rPr sz="900" spc="-15" dirty="0">
                <a:latin typeface="Arial"/>
                <a:cs typeface="Arial"/>
              </a:rPr>
              <a:t> </a:t>
            </a:r>
            <a:r>
              <a:rPr sz="900" dirty="0">
                <a:latin typeface="Arial"/>
                <a:cs typeface="Arial"/>
              </a:rPr>
              <a:t>presentation</a:t>
            </a:r>
            <a:r>
              <a:rPr sz="900" spc="-20" dirty="0">
                <a:latin typeface="Arial"/>
                <a:cs typeface="Arial"/>
              </a:rPr>
              <a:t> </a:t>
            </a:r>
            <a:r>
              <a:rPr sz="900" dirty="0">
                <a:latin typeface="Arial"/>
                <a:cs typeface="Arial"/>
              </a:rPr>
              <a:t>applications).</a:t>
            </a:r>
            <a:r>
              <a:rPr sz="900" spc="40" dirty="0">
                <a:latin typeface="Arial"/>
                <a:cs typeface="Arial"/>
              </a:rPr>
              <a:t> </a:t>
            </a:r>
            <a:r>
              <a:rPr sz="900" spc="-10" dirty="0">
                <a:latin typeface="Arial"/>
                <a:cs typeface="Arial"/>
              </a:rPr>
              <a:t>Comparable</a:t>
            </a:r>
            <a:r>
              <a:rPr sz="900" spc="-15" dirty="0">
                <a:latin typeface="Arial"/>
                <a:cs typeface="Arial"/>
              </a:rPr>
              <a:t> </a:t>
            </a:r>
            <a:r>
              <a:rPr sz="900" dirty="0">
                <a:latin typeface="Arial"/>
                <a:cs typeface="Arial"/>
              </a:rPr>
              <a:t>to</a:t>
            </a:r>
            <a:r>
              <a:rPr sz="900" spc="-15" dirty="0">
                <a:latin typeface="Arial"/>
                <a:cs typeface="Arial"/>
              </a:rPr>
              <a:t> </a:t>
            </a:r>
            <a:r>
              <a:rPr sz="900" spc="-25" dirty="0">
                <a:latin typeface="Arial"/>
                <a:cs typeface="Arial"/>
              </a:rPr>
              <a:t>the </a:t>
            </a:r>
            <a:r>
              <a:rPr sz="900" dirty="0">
                <a:latin typeface="Arial"/>
                <a:cs typeface="Arial"/>
              </a:rPr>
              <a:t>suite</a:t>
            </a:r>
            <a:r>
              <a:rPr sz="900" spc="-25"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apps</a:t>
            </a:r>
            <a:r>
              <a:rPr sz="900" spc="-25" dirty="0">
                <a:latin typeface="Arial"/>
                <a:cs typeface="Arial"/>
              </a:rPr>
              <a:t> </a:t>
            </a:r>
            <a:r>
              <a:rPr sz="900" dirty="0">
                <a:latin typeface="Arial"/>
                <a:cs typeface="Arial"/>
              </a:rPr>
              <a:t>shipped</a:t>
            </a:r>
            <a:r>
              <a:rPr sz="900" spc="-20" dirty="0">
                <a:latin typeface="Arial"/>
                <a:cs typeface="Arial"/>
              </a:rPr>
              <a:t> </a:t>
            </a:r>
            <a:r>
              <a:rPr sz="900" dirty="0">
                <a:latin typeface="Arial"/>
                <a:cs typeface="Arial"/>
              </a:rPr>
              <a:t>with</a:t>
            </a:r>
            <a:r>
              <a:rPr sz="900" spc="-25" dirty="0">
                <a:latin typeface="Arial"/>
                <a:cs typeface="Arial"/>
              </a:rPr>
              <a:t> </a:t>
            </a:r>
            <a:r>
              <a:rPr sz="900" spc="-10" dirty="0">
                <a:latin typeface="Arial"/>
                <a:cs typeface="Arial"/>
              </a:rPr>
              <a:t>OSes.</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500380"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3" action="ppaction://hlinksldjump"/>
              </a:rPr>
              <a:t>Cloud</a:t>
            </a:r>
            <a:r>
              <a:rPr sz="500" spc="-20" dirty="0">
                <a:latin typeface="Arial"/>
                <a:cs typeface="Arial"/>
                <a:hlinkClick r:id="rId3" action="ppaction://hlinksldjump"/>
              </a:rPr>
              <a:t> </a:t>
            </a:r>
            <a:r>
              <a:rPr sz="500" spc="-10" dirty="0">
                <a:latin typeface="Arial"/>
                <a:cs typeface="Arial"/>
                <a:hlinkClick r:id="rId3" action="ppaction://hlinksldjump"/>
              </a:rPr>
              <a:t>computing</a:t>
            </a:r>
            <a:endParaRPr sz="500">
              <a:latin typeface="Arial"/>
              <a:cs typeface="Arial"/>
            </a:endParaRPr>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706495" algn="l"/>
              </a:tabLst>
            </a:pPr>
            <a:r>
              <a:rPr sz="500" spc="-10" dirty="0">
                <a:latin typeface="Arial"/>
                <a:cs typeface="Arial"/>
                <a:hlinkClick r:id="rId2" action="ppaction://hlinksldjump"/>
              </a:rPr>
              <a:t>Architectures</a:t>
            </a:r>
            <a:r>
              <a:rPr sz="500" dirty="0">
                <a:latin typeface="Arial"/>
                <a:cs typeface="Arial"/>
              </a:rPr>
              <a:t>	</a:t>
            </a:r>
            <a:r>
              <a:rPr sz="500" dirty="0">
                <a:solidFill>
                  <a:srgbClr val="FFFFFF"/>
                </a:solidFill>
                <a:latin typeface="Arial"/>
                <a:cs typeface="Arial"/>
                <a:hlinkClick r:id="rId3" action="ppaction://hlinksldjump"/>
              </a:rPr>
              <a:t>Hybrid</a:t>
            </a:r>
            <a:r>
              <a:rPr sz="500" spc="-2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system</a:t>
            </a:r>
            <a:r>
              <a:rPr sz="500" spc="-2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architectures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spc="-10" dirty="0"/>
              <a:t>Edge-</a:t>
            </a:r>
            <a:r>
              <a:rPr dirty="0"/>
              <a:t>server</a:t>
            </a:r>
            <a:r>
              <a:rPr spc="-20" dirty="0"/>
              <a:t> </a:t>
            </a:r>
            <a:r>
              <a:rPr spc="-10" dirty="0"/>
              <a:t>architecture</a:t>
            </a:r>
          </a:p>
        </p:txBody>
      </p:sp>
      <p:sp>
        <p:nvSpPr>
          <p:cNvPr id="4" name="object 4"/>
          <p:cNvSpPr txBox="1"/>
          <p:nvPr/>
        </p:nvSpPr>
        <p:spPr>
          <a:xfrm>
            <a:off x="347294" y="499476"/>
            <a:ext cx="3912870" cy="496570"/>
          </a:xfrm>
          <a:prstGeom prst="rect">
            <a:avLst/>
          </a:prstGeom>
        </p:spPr>
        <p:txBody>
          <a:bodyPr vert="horz" wrap="square" lIns="0" tIns="27305" rIns="0" bIns="0" rtlCol="0">
            <a:spAutoFit/>
          </a:bodyPr>
          <a:lstStyle/>
          <a:p>
            <a:pPr marL="12700">
              <a:lnSpc>
                <a:spcPct val="100000"/>
              </a:lnSpc>
              <a:spcBef>
                <a:spcPts val="215"/>
              </a:spcBef>
            </a:pPr>
            <a:r>
              <a:rPr sz="1000" spc="-10" dirty="0">
                <a:solidFill>
                  <a:srgbClr val="3333B2"/>
                </a:solidFill>
                <a:latin typeface="Arial"/>
                <a:cs typeface="Arial"/>
              </a:rPr>
              <a:t>Essence</a:t>
            </a:r>
            <a:endParaRPr sz="1000">
              <a:latin typeface="Arial"/>
              <a:cs typeface="Arial"/>
            </a:endParaRPr>
          </a:p>
          <a:p>
            <a:pPr marL="12700" marR="5080">
              <a:lnSpc>
                <a:spcPts val="1210"/>
              </a:lnSpc>
              <a:spcBef>
                <a:spcPts val="35"/>
              </a:spcBef>
            </a:pPr>
            <a:r>
              <a:rPr sz="900" spc="-10" dirty="0">
                <a:latin typeface="Arial"/>
                <a:cs typeface="Arial"/>
              </a:rPr>
              <a:t>Systems</a:t>
            </a:r>
            <a:r>
              <a:rPr sz="900" spc="-35" dirty="0">
                <a:latin typeface="Arial"/>
                <a:cs typeface="Arial"/>
              </a:rPr>
              <a:t> </a:t>
            </a:r>
            <a:r>
              <a:rPr sz="900" spc="-10" dirty="0">
                <a:latin typeface="Arial"/>
                <a:cs typeface="Arial"/>
              </a:rPr>
              <a:t>deployed</a:t>
            </a:r>
            <a:r>
              <a:rPr sz="900" spc="-30" dirty="0">
                <a:latin typeface="Arial"/>
                <a:cs typeface="Arial"/>
              </a:rPr>
              <a:t> </a:t>
            </a:r>
            <a:r>
              <a:rPr sz="900" dirty="0">
                <a:latin typeface="Arial"/>
                <a:cs typeface="Arial"/>
              </a:rPr>
              <a:t>on</a:t>
            </a:r>
            <a:r>
              <a:rPr sz="900" spc="-30"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Internet</a:t>
            </a:r>
            <a:r>
              <a:rPr sz="900" spc="-35" dirty="0">
                <a:latin typeface="Arial"/>
                <a:cs typeface="Arial"/>
              </a:rPr>
              <a:t> </a:t>
            </a:r>
            <a:r>
              <a:rPr sz="900" dirty="0">
                <a:latin typeface="Arial"/>
                <a:cs typeface="Arial"/>
              </a:rPr>
              <a:t>where</a:t>
            </a:r>
            <a:r>
              <a:rPr sz="900" spc="-30" dirty="0">
                <a:latin typeface="Arial"/>
                <a:cs typeface="Arial"/>
              </a:rPr>
              <a:t> </a:t>
            </a:r>
            <a:r>
              <a:rPr sz="900" spc="-10" dirty="0">
                <a:latin typeface="Arial"/>
                <a:cs typeface="Arial"/>
              </a:rPr>
              <a:t>servers</a:t>
            </a:r>
            <a:r>
              <a:rPr sz="900" spc="-30" dirty="0">
                <a:latin typeface="Arial"/>
                <a:cs typeface="Arial"/>
              </a:rPr>
              <a:t> </a:t>
            </a:r>
            <a:r>
              <a:rPr sz="900" dirty="0">
                <a:latin typeface="Arial"/>
                <a:cs typeface="Arial"/>
              </a:rPr>
              <a:t>are</a:t>
            </a:r>
            <a:r>
              <a:rPr sz="900" spc="-30" dirty="0">
                <a:latin typeface="Arial"/>
                <a:cs typeface="Arial"/>
              </a:rPr>
              <a:t> </a:t>
            </a:r>
            <a:r>
              <a:rPr sz="900" dirty="0">
                <a:latin typeface="Arial"/>
                <a:cs typeface="Arial"/>
              </a:rPr>
              <a:t>placed</a:t>
            </a:r>
            <a:r>
              <a:rPr sz="900" spc="-35" dirty="0">
                <a:latin typeface="Arial"/>
                <a:cs typeface="Arial"/>
              </a:rPr>
              <a:t> </a:t>
            </a:r>
            <a:r>
              <a:rPr sz="900" dirty="0">
                <a:solidFill>
                  <a:srgbClr val="3333B2"/>
                </a:solidFill>
                <a:latin typeface="Arial"/>
                <a:cs typeface="Arial"/>
              </a:rPr>
              <a:t>at</a:t>
            </a:r>
            <a:r>
              <a:rPr sz="900" spc="-30" dirty="0">
                <a:solidFill>
                  <a:srgbClr val="3333B2"/>
                </a:solidFill>
                <a:latin typeface="Arial"/>
                <a:cs typeface="Arial"/>
              </a:rPr>
              <a:t> </a:t>
            </a:r>
            <a:r>
              <a:rPr sz="900" dirty="0">
                <a:solidFill>
                  <a:srgbClr val="3333B2"/>
                </a:solidFill>
                <a:latin typeface="Arial"/>
                <a:cs typeface="Arial"/>
              </a:rPr>
              <a:t>the</a:t>
            </a:r>
            <a:r>
              <a:rPr sz="900" spc="-30" dirty="0">
                <a:solidFill>
                  <a:srgbClr val="3333B2"/>
                </a:solidFill>
                <a:latin typeface="Arial"/>
                <a:cs typeface="Arial"/>
              </a:rPr>
              <a:t> </a:t>
            </a:r>
            <a:r>
              <a:rPr sz="900" dirty="0">
                <a:solidFill>
                  <a:srgbClr val="3333B2"/>
                </a:solidFill>
                <a:latin typeface="Arial"/>
                <a:cs typeface="Arial"/>
              </a:rPr>
              <a:t>edge</a:t>
            </a:r>
            <a:r>
              <a:rPr sz="900" spc="-30" dirty="0">
                <a:solidFill>
                  <a:srgbClr val="3333B2"/>
                </a:solidFill>
                <a:latin typeface="Arial"/>
                <a:cs typeface="Arial"/>
              </a:rPr>
              <a:t> </a:t>
            </a:r>
            <a:r>
              <a:rPr sz="900" dirty="0">
                <a:latin typeface="Arial"/>
                <a:cs typeface="Arial"/>
              </a:rPr>
              <a:t>of</a:t>
            </a:r>
            <a:r>
              <a:rPr sz="900" spc="-35" dirty="0">
                <a:latin typeface="Arial"/>
                <a:cs typeface="Arial"/>
              </a:rPr>
              <a:t> </a:t>
            </a:r>
            <a:r>
              <a:rPr sz="900" spc="-25" dirty="0">
                <a:latin typeface="Arial"/>
                <a:cs typeface="Arial"/>
              </a:rPr>
              <a:t>the </a:t>
            </a:r>
            <a:r>
              <a:rPr sz="900" dirty="0">
                <a:latin typeface="Arial"/>
                <a:cs typeface="Arial"/>
              </a:rPr>
              <a:t>network:</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boundary</a:t>
            </a:r>
            <a:r>
              <a:rPr sz="900" spc="-25" dirty="0">
                <a:latin typeface="Arial"/>
                <a:cs typeface="Arial"/>
              </a:rPr>
              <a:t> </a:t>
            </a:r>
            <a:r>
              <a:rPr sz="900" dirty="0">
                <a:latin typeface="Arial"/>
                <a:cs typeface="Arial"/>
              </a:rPr>
              <a:t>between</a:t>
            </a:r>
            <a:r>
              <a:rPr sz="900" spc="-25" dirty="0">
                <a:latin typeface="Arial"/>
                <a:cs typeface="Arial"/>
              </a:rPr>
              <a:t> </a:t>
            </a:r>
            <a:r>
              <a:rPr sz="900" dirty="0">
                <a:latin typeface="Arial"/>
                <a:cs typeface="Arial"/>
              </a:rPr>
              <a:t>enterprise</a:t>
            </a:r>
            <a:r>
              <a:rPr sz="900" spc="-30" dirty="0">
                <a:latin typeface="Arial"/>
                <a:cs typeface="Arial"/>
              </a:rPr>
              <a:t> </a:t>
            </a:r>
            <a:r>
              <a:rPr sz="900" dirty="0">
                <a:latin typeface="Arial"/>
                <a:cs typeface="Arial"/>
              </a:rPr>
              <a:t>networks</a:t>
            </a:r>
            <a:r>
              <a:rPr sz="900" spc="-25" dirty="0">
                <a:latin typeface="Arial"/>
                <a:cs typeface="Arial"/>
              </a:rPr>
              <a:t> </a:t>
            </a:r>
            <a:r>
              <a:rPr sz="900" dirty="0">
                <a:latin typeface="Arial"/>
                <a:cs typeface="Arial"/>
              </a:rPr>
              <a:t>and</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actual</a:t>
            </a:r>
            <a:r>
              <a:rPr sz="900" spc="-30" dirty="0">
                <a:latin typeface="Arial"/>
                <a:cs typeface="Arial"/>
              </a:rPr>
              <a:t> </a:t>
            </a:r>
            <a:r>
              <a:rPr sz="900" spc="-10" dirty="0">
                <a:latin typeface="Arial"/>
                <a:cs typeface="Arial"/>
              </a:rPr>
              <a:t>Internet.</a:t>
            </a:r>
            <a:endParaRPr sz="900">
              <a:latin typeface="Arial"/>
              <a:cs typeface="Arial"/>
            </a:endParaRPr>
          </a:p>
        </p:txBody>
      </p:sp>
      <p:pic>
        <p:nvPicPr>
          <p:cNvPr id="5" name="object 5"/>
          <p:cNvPicPr/>
          <p:nvPr/>
        </p:nvPicPr>
        <p:blipFill>
          <a:blip r:embed="rId4" cstate="print"/>
          <a:stretch>
            <a:fillRect/>
          </a:stretch>
        </p:blipFill>
        <p:spPr>
          <a:xfrm>
            <a:off x="585050" y="1098341"/>
            <a:ext cx="3438052" cy="1683047"/>
          </a:xfrm>
          <a:prstGeom prst="rect">
            <a:avLst/>
          </a:prstGeom>
        </p:spPr>
      </p:pic>
      <p:grpSp>
        <p:nvGrpSpPr>
          <p:cNvPr id="6" name="object 6"/>
          <p:cNvGrpSpPr/>
          <p:nvPr/>
        </p:nvGrpSpPr>
        <p:grpSpPr>
          <a:xfrm>
            <a:off x="0" y="3348469"/>
            <a:ext cx="4608195" cy="107950"/>
            <a:chOff x="0" y="3348469"/>
            <a:chExt cx="4608195" cy="107950"/>
          </a:xfrm>
        </p:grpSpPr>
        <p:sp>
          <p:nvSpPr>
            <p:cNvPr id="7" name="object 7"/>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8" name="object 8"/>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9" name="object 9"/>
          <p:cNvSpPr txBox="1"/>
          <p:nvPr/>
        </p:nvSpPr>
        <p:spPr>
          <a:xfrm>
            <a:off x="53467" y="3349927"/>
            <a:ext cx="81343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The </a:t>
            </a:r>
            <a:r>
              <a:rPr sz="500" spc="-10" dirty="0">
                <a:latin typeface="Arial"/>
                <a:cs typeface="Arial"/>
                <a:hlinkClick r:id="rId5" action="ppaction://hlinksldjump"/>
              </a:rPr>
              <a:t>edge-</a:t>
            </a:r>
            <a:r>
              <a:rPr sz="500" dirty="0">
                <a:latin typeface="Arial"/>
                <a:cs typeface="Arial"/>
                <a:hlinkClick r:id="rId5" action="ppaction://hlinksldjump"/>
              </a:rPr>
              <a:t>cloud</a:t>
            </a:r>
            <a:r>
              <a:rPr sz="500" spc="5" dirty="0">
                <a:latin typeface="Arial"/>
                <a:cs typeface="Arial"/>
                <a:hlinkClick r:id="rId5" action="ppaction://hlinksldjump"/>
              </a:rPr>
              <a:t> </a:t>
            </a:r>
            <a:r>
              <a:rPr sz="500" spc="-10" dirty="0">
                <a:latin typeface="Arial"/>
                <a:cs typeface="Arial"/>
                <a:hlinkClick r:id="rId5" action="ppaction://hlinksldjump"/>
              </a:rPr>
              <a:t>architecture</a:t>
            </a:r>
            <a:endParaRPr sz="500">
              <a:latin typeface="Arial"/>
              <a:cs typeface="Arial"/>
            </a:endParaRPr>
          </a:p>
        </p:txBody>
      </p:sp>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706495" algn="l"/>
              </a:tabLst>
            </a:pPr>
            <a:r>
              <a:rPr sz="500" spc="-10" dirty="0">
                <a:latin typeface="Arial"/>
                <a:cs typeface="Arial"/>
                <a:hlinkClick r:id="rId2" action="ppaction://hlinksldjump"/>
              </a:rPr>
              <a:t>Architectures</a:t>
            </a:r>
            <a:r>
              <a:rPr sz="500" dirty="0">
                <a:latin typeface="Arial"/>
                <a:cs typeface="Arial"/>
              </a:rPr>
              <a:t>	</a:t>
            </a:r>
            <a:r>
              <a:rPr sz="500" dirty="0">
                <a:solidFill>
                  <a:srgbClr val="FFFFFF"/>
                </a:solidFill>
                <a:latin typeface="Arial"/>
                <a:cs typeface="Arial"/>
                <a:hlinkClick r:id="rId3" action="ppaction://hlinksldjump"/>
              </a:rPr>
              <a:t>Hybrid</a:t>
            </a:r>
            <a:r>
              <a:rPr sz="500" spc="-2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system</a:t>
            </a:r>
            <a:r>
              <a:rPr sz="500" spc="-2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architectures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Reasons</a:t>
            </a:r>
            <a:r>
              <a:rPr spc="-50" dirty="0"/>
              <a:t> </a:t>
            </a:r>
            <a:r>
              <a:rPr dirty="0"/>
              <a:t>for</a:t>
            </a:r>
            <a:r>
              <a:rPr spc="-45" dirty="0"/>
              <a:t> </a:t>
            </a:r>
            <a:r>
              <a:rPr dirty="0"/>
              <a:t>having</a:t>
            </a:r>
            <a:r>
              <a:rPr spc="-45" dirty="0"/>
              <a:t> </a:t>
            </a:r>
            <a:r>
              <a:rPr dirty="0"/>
              <a:t>an</a:t>
            </a:r>
            <a:r>
              <a:rPr spc="-45" dirty="0"/>
              <a:t> </a:t>
            </a:r>
            <a:r>
              <a:rPr dirty="0"/>
              <a:t>edge</a:t>
            </a:r>
            <a:r>
              <a:rPr spc="-45" dirty="0"/>
              <a:t> </a:t>
            </a:r>
            <a:r>
              <a:rPr spc="-10" dirty="0"/>
              <a:t>infrastructure</a:t>
            </a:r>
          </a:p>
        </p:txBody>
      </p:sp>
      <p:sp>
        <p:nvSpPr>
          <p:cNvPr id="4" name="object 4"/>
          <p:cNvSpPr txBox="1"/>
          <p:nvPr/>
        </p:nvSpPr>
        <p:spPr>
          <a:xfrm>
            <a:off x="334594" y="514774"/>
            <a:ext cx="3961129" cy="1883410"/>
          </a:xfrm>
          <a:prstGeom prst="rect">
            <a:avLst/>
          </a:prstGeom>
        </p:spPr>
        <p:txBody>
          <a:bodyPr vert="horz" wrap="square" lIns="0" tIns="12065" rIns="0" bIns="0" rtlCol="0">
            <a:spAutoFit/>
          </a:bodyPr>
          <a:lstStyle/>
          <a:p>
            <a:pPr marL="25400">
              <a:lnSpc>
                <a:spcPct val="100000"/>
              </a:lnSpc>
              <a:spcBef>
                <a:spcPts val="95"/>
              </a:spcBef>
            </a:pPr>
            <a:r>
              <a:rPr sz="1000" dirty="0">
                <a:solidFill>
                  <a:srgbClr val="3333B2"/>
                </a:solidFill>
                <a:latin typeface="Arial"/>
                <a:cs typeface="Arial"/>
              </a:rPr>
              <a:t>Commonly</a:t>
            </a:r>
            <a:r>
              <a:rPr sz="1000" spc="-20" dirty="0">
                <a:solidFill>
                  <a:srgbClr val="3333B2"/>
                </a:solidFill>
                <a:latin typeface="Arial"/>
                <a:cs typeface="Arial"/>
              </a:rPr>
              <a:t> </a:t>
            </a:r>
            <a:r>
              <a:rPr sz="1000" dirty="0">
                <a:solidFill>
                  <a:srgbClr val="3333B2"/>
                </a:solidFill>
                <a:latin typeface="Arial"/>
                <a:cs typeface="Arial"/>
              </a:rPr>
              <a:t>(and</a:t>
            </a:r>
            <a:r>
              <a:rPr sz="1000" spc="-15" dirty="0">
                <a:solidFill>
                  <a:srgbClr val="3333B2"/>
                </a:solidFill>
                <a:latin typeface="Arial"/>
                <a:cs typeface="Arial"/>
              </a:rPr>
              <a:t> </a:t>
            </a:r>
            <a:r>
              <a:rPr sz="1000" dirty="0">
                <a:solidFill>
                  <a:srgbClr val="3333B2"/>
                </a:solidFill>
                <a:latin typeface="Arial"/>
                <a:cs typeface="Arial"/>
              </a:rPr>
              <a:t>often</a:t>
            </a:r>
            <a:r>
              <a:rPr sz="1000" spc="-20" dirty="0">
                <a:solidFill>
                  <a:srgbClr val="3333B2"/>
                </a:solidFill>
                <a:latin typeface="Arial"/>
                <a:cs typeface="Arial"/>
              </a:rPr>
              <a:t> </a:t>
            </a:r>
            <a:r>
              <a:rPr sz="1000" spc="-10" dirty="0">
                <a:solidFill>
                  <a:srgbClr val="3333B2"/>
                </a:solidFill>
                <a:latin typeface="Arial"/>
                <a:cs typeface="Arial"/>
              </a:rPr>
              <a:t>misconceived)</a:t>
            </a:r>
            <a:r>
              <a:rPr sz="1000" spc="-15" dirty="0">
                <a:solidFill>
                  <a:srgbClr val="3333B2"/>
                </a:solidFill>
                <a:latin typeface="Arial"/>
                <a:cs typeface="Arial"/>
              </a:rPr>
              <a:t> </a:t>
            </a:r>
            <a:r>
              <a:rPr sz="1000" spc="-10" dirty="0">
                <a:solidFill>
                  <a:srgbClr val="3333B2"/>
                </a:solidFill>
                <a:latin typeface="Arial"/>
                <a:cs typeface="Arial"/>
              </a:rPr>
              <a:t>arguments</a:t>
            </a:r>
            <a:endParaRPr sz="1000">
              <a:latin typeface="Arial"/>
              <a:cs typeface="Arial"/>
            </a:endParaRPr>
          </a:p>
          <a:p>
            <a:pPr marL="278130" marR="39370" indent="-120650">
              <a:lnSpc>
                <a:spcPct val="111600"/>
              </a:lnSpc>
              <a:spcBef>
                <a:spcPts val="580"/>
              </a:spcBef>
              <a:buFont typeface="Apple Symbols"/>
              <a:buChar char="•"/>
              <a:tabLst>
                <a:tab pos="278765" algn="l"/>
              </a:tabLst>
            </a:pPr>
            <a:r>
              <a:rPr sz="900" dirty="0">
                <a:solidFill>
                  <a:srgbClr val="3333B2"/>
                </a:solidFill>
                <a:latin typeface="Arial"/>
                <a:cs typeface="Arial"/>
              </a:rPr>
              <a:t>Latency</a:t>
            </a:r>
            <a:r>
              <a:rPr sz="900" spc="-25" dirty="0">
                <a:solidFill>
                  <a:srgbClr val="3333B2"/>
                </a:solidFill>
                <a:latin typeface="Arial"/>
                <a:cs typeface="Arial"/>
              </a:rPr>
              <a:t> </a:t>
            </a:r>
            <a:r>
              <a:rPr sz="900" dirty="0">
                <a:solidFill>
                  <a:srgbClr val="3333B2"/>
                </a:solidFill>
                <a:latin typeface="Arial"/>
                <a:cs typeface="Arial"/>
              </a:rPr>
              <a:t>and</a:t>
            </a:r>
            <a:r>
              <a:rPr sz="900" spc="-25" dirty="0">
                <a:solidFill>
                  <a:srgbClr val="3333B2"/>
                </a:solidFill>
                <a:latin typeface="Arial"/>
                <a:cs typeface="Arial"/>
              </a:rPr>
              <a:t> </a:t>
            </a:r>
            <a:r>
              <a:rPr sz="900" dirty="0">
                <a:solidFill>
                  <a:srgbClr val="3333B2"/>
                </a:solidFill>
                <a:latin typeface="Arial"/>
                <a:cs typeface="Arial"/>
              </a:rPr>
              <a:t>bandwidth</a:t>
            </a:r>
            <a:r>
              <a:rPr sz="900" dirty="0">
                <a:latin typeface="Arial"/>
                <a:cs typeface="Arial"/>
              </a:rPr>
              <a:t>:</a:t>
            </a:r>
            <a:r>
              <a:rPr sz="900" spc="35" dirty="0">
                <a:latin typeface="Arial"/>
                <a:cs typeface="Arial"/>
              </a:rPr>
              <a:t> </a:t>
            </a:r>
            <a:r>
              <a:rPr sz="900" dirty="0">
                <a:latin typeface="Arial"/>
                <a:cs typeface="Arial"/>
              </a:rPr>
              <a:t>Especially</a:t>
            </a:r>
            <a:r>
              <a:rPr sz="900" spc="-25" dirty="0">
                <a:latin typeface="Arial"/>
                <a:cs typeface="Arial"/>
              </a:rPr>
              <a:t> </a:t>
            </a:r>
            <a:r>
              <a:rPr sz="900" dirty="0">
                <a:latin typeface="Arial"/>
                <a:cs typeface="Arial"/>
              </a:rPr>
              <a:t>important</a:t>
            </a:r>
            <a:r>
              <a:rPr sz="900" spc="-25" dirty="0">
                <a:latin typeface="Arial"/>
                <a:cs typeface="Arial"/>
              </a:rPr>
              <a:t> </a:t>
            </a:r>
            <a:r>
              <a:rPr sz="900" dirty="0">
                <a:latin typeface="Arial"/>
                <a:cs typeface="Arial"/>
              </a:rPr>
              <a:t>for</a:t>
            </a:r>
            <a:r>
              <a:rPr sz="900" spc="-25" dirty="0">
                <a:latin typeface="Arial"/>
                <a:cs typeface="Arial"/>
              </a:rPr>
              <a:t> </a:t>
            </a:r>
            <a:r>
              <a:rPr sz="900" dirty="0">
                <a:latin typeface="Arial"/>
                <a:cs typeface="Arial"/>
              </a:rPr>
              <a:t>certain</a:t>
            </a:r>
            <a:r>
              <a:rPr sz="900" spc="-20" dirty="0">
                <a:latin typeface="Arial"/>
                <a:cs typeface="Arial"/>
              </a:rPr>
              <a:t> </a:t>
            </a:r>
            <a:r>
              <a:rPr sz="900" spc="-10" dirty="0">
                <a:latin typeface="Arial"/>
                <a:cs typeface="Arial"/>
              </a:rPr>
              <a:t>real-</a:t>
            </a:r>
            <a:r>
              <a:rPr sz="900" spc="-20" dirty="0">
                <a:latin typeface="Arial"/>
                <a:cs typeface="Arial"/>
              </a:rPr>
              <a:t>time </a:t>
            </a:r>
            <a:r>
              <a:rPr sz="900" spc="-10" dirty="0">
                <a:latin typeface="Arial"/>
                <a:cs typeface="Arial"/>
              </a:rPr>
              <a:t>applications, </a:t>
            </a:r>
            <a:r>
              <a:rPr sz="900" dirty="0">
                <a:latin typeface="Arial"/>
                <a:cs typeface="Arial"/>
              </a:rPr>
              <a:t>such</a:t>
            </a:r>
            <a:r>
              <a:rPr sz="900" spc="-10" dirty="0">
                <a:latin typeface="Arial"/>
                <a:cs typeface="Arial"/>
              </a:rPr>
              <a:t> </a:t>
            </a:r>
            <a:r>
              <a:rPr sz="900" dirty="0">
                <a:latin typeface="Arial"/>
                <a:cs typeface="Arial"/>
              </a:rPr>
              <a:t>as</a:t>
            </a:r>
            <a:r>
              <a:rPr sz="900" spc="-10" dirty="0">
                <a:latin typeface="Arial"/>
                <a:cs typeface="Arial"/>
              </a:rPr>
              <a:t> augmented/virtual </a:t>
            </a:r>
            <a:r>
              <a:rPr sz="900" dirty="0">
                <a:latin typeface="Arial"/>
                <a:cs typeface="Arial"/>
              </a:rPr>
              <a:t>reality</a:t>
            </a:r>
            <a:r>
              <a:rPr sz="900" spc="-10" dirty="0">
                <a:latin typeface="Arial"/>
                <a:cs typeface="Arial"/>
              </a:rPr>
              <a:t> applications.</a:t>
            </a:r>
            <a:r>
              <a:rPr sz="900" spc="50" dirty="0">
                <a:latin typeface="Arial"/>
                <a:cs typeface="Arial"/>
              </a:rPr>
              <a:t> </a:t>
            </a:r>
            <a:r>
              <a:rPr sz="900" spc="-10" dirty="0">
                <a:latin typeface="Arial"/>
                <a:cs typeface="Arial"/>
              </a:rPr>
              <a:t>Many people </a:t>
            </a:r>
            <a:r>
              <a:rPr sz="900" dirty="0">
                <a:latin typeface="Arial"/>
                <a:cs typeface="Arial"/>
              </a:rPr>
              <a:t>underestimate</a:t>
            </a:r>
            <a:r>
              <a:rPr sz="900" spc="-30"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latency</a:t>
            </a:r>
            <a:r>
              <a:rPr sz="900" spc="-30" dirty="0">
                <a:latin typeface="Arial"/>
                <a:cs typeface="Arial"/>
              </a:rPr>
              <a:t> </a:t>
            </a:r>
            <a:r>
              <a:rPr sz="900" dirty="0">
                <a:latin typeface="Arial"/>
                <a:cs typeface="Arial"/>
              </a:rPr>
              <a:t>and</a:t>
            </a:r>
            <a:r>
              <a:rPr sz="900" spc="-30" dirty="0">
                <a:latin typeface="Arial"/>
                <a:cs typeface="Arial"/>
              </a:rPr>
              <a:t> </a:t>
            </a:r>
            <a:r>
              <a:rPr sz="900" dirty="0">
                <a:latin typeface="Arial"/>
                <a:cs typeface="Arial"/>
              </a:rPr>
              <a:t>bandwidth</a:t>
            </a:r>
            <a:r>
              <a:rPr sz="900" spc="-30"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the</a:t>
            </a:r>
            <a:r>
              <a:rPr sz="900" spc="-30" dirty="0">
                <a:latin typeface="Arial"/>
                <a:cs typeface="Arial"/>
              </a:rPr>
              <a:t> </a:t>
            </a:r>
            <a:r>
              <a:rPr sz="900" spc="-10" dirty="0">
                <a:latin typeface="Arial"/>
                <a:cs typeface="Arial"/>
              </a:rPr>
              <a:t>cloud.</a:t>
            </a:r>
            <a:endParaRPr sz="900">
              <a:latin typeface="Arial"/>
              <a:cs typeface="Arial"/>
            </a:endParaRPr>
          </a:p>
          <a:p>
            <a:pPr marL="274320" marR="24130" indent="-116205">
              <a:lnSpc>
                <a:spcPct val="111600"/>
              </a:lnSpc>
              <a:spcBef>
                <a:spcPts val="400"/>
              </a:spcBef>
              <a:buFont typeface="Apple Symbols"/>
              <a:buChar char="•"/>
              <a:tabLst>
                <a:tab pos="278765" algn="l"/>
              </a:tabLst>
            </a:pPr>
            <a:r>
              <a:rPr sz="900" dirty="0">
                <a:solidFill>
                  <a:srgbClr val="3333B2"/>
                </a:solidFill>
                <a:latin typeface="Arial"/>
                <a:cs typeface="Arial"/>
              </a:rPr>
              <a:t>Reliability</a:t>
            </a:r>
            <a:r>
              <a:rPr sz="900" dirty="0">
                <a:latin typeface="Arial"/>
                <a:cs typeface="Arial"/>
              </a:rPr>
              <a:t>:</a:t>
            </a:r>
            <a:r>
              <a:rPr sz="900" spc="20" dirty="0">
                <a:latin typeface="Arial"/>
                <a:cs typeface="Arial"/>
              </a:rPr>
              <a:t> </a:t>
            </a:r>
            <a:r>
              <a:rPr sz="900" dirty="0">
                <a:latin typeface="Arial"/>
                <a:cs typeface="Arial"/>
              </a:rPr>
              <a:t>The</a:t>
            </a:r>
            <a:r>
              <a:rPr sz="900" spc="-25" dirty="0">
                <a:latin typeface="Arial"/>
                <a:cs typeface="Arial"/>
              </a:rPr>
              <a:t> </a:t>
            </a:r>
            <a:r>
              <a:rPr sz="900" spc="-10" dirty="0">
                <a:latin typeface="Arial"/>
                <a:cs typeface="Arial"/>
              </a:rPr>
              <a:t>connection</a:t>
            </a:r>
            <a:r>
              <a:rPr sz="900" spc="-30"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cloud</a:t>
            </a:r>
            <a:r>
              <a:rPr sz="900" spc="-30" dirty="0">
                <a:latin typeface="Arial"/>
                <a:cs typeface="Arial"/>
              </a:rPr>
              <a:t> </a:t>
            </a:r>
            <a:r>
              <a:rPr sz="900" dirty="0">
                <a:latin typeface="Arial"/>
                <a:cs typeface="Arial"/>
              </a:rPr>
              <a:t>is</a:t>
            </a:r>
            <a:r>
              <a:rPr sz="900" spc="-30" dirty="0">
                <a:latin typeface="Arial"/>
                <a:cs typeface="Arial"/>
              </a:rPr>
              <a:t> </a:t>
            </a:r>
            <a:r>
              <a:rPr sz="900" dirty="0">
                <a:latin typeface="Arial"/>
                <a:cs typeface="Arial"/>
              </a:rPr>
              <a:t>often</a:t>
            </a:r>
            <a:r>
              <a:rPr sz="900" spc="-30" dirty="0">
                <a:latin typeface="Arial"/>
                <a:cs typeface="Arial"/>
              </a:rPr>
              <a:t> </a:t>
            </a:r>
            <a:r>
              <a:rPr sz="900" spc="-10" dirty="0">
                <a:latin typeface="Arial"/>
                <a:cs typeface="Arial"/>
              </a:rPr>
              <a:t>assumed</a:t>
            </a:r>
            <a:r>
              <a:rPr sz="900" spc="-30"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be</a:t>
            </a:r>
            <a:r>
              <a:rPr sz="900" spc="-30" dirty="0">
                <a:latin typeface="Arial"/>
                <a:cs typeface="Arial"/>
              </a:rPr>
              <a:t> </a:t>
            </a:r>
            <a:r>
              <a:rPr sz="900" spc="-10" dirty="0">
                <a:latin typeface="Arial"/>
                <a:cs typeface="Arial"/>
              </a:rPr>
              <a:t>unreliable, </a:t>
            </a:r>
            <a:r>
              <a:rPr sz="900" dirty="0">
                <a:latin typeface="Arial"/>
                <a:cs typeface="Arial"/>
              </a:rPr>
              <a:t>which</a:t>
            </a:r>
            <a:r>
              <a:rPr sz="900" spc="-35" dirty="0">
                <a:latin typeface="Arial"/>
                <a:cs typeface="Arial"/>
              </a:rPr>
              <a:t> </a:t>
            </a:r>
            <a:r>
              <a:rPr sz="900" dirty="0">
                <a:latin typeface="Arial"/>
                <a:cs typeface="Arial"/>
              </a:rPr>
              <a:t>is</a:t>
            </a:r>
            <a:r>
              <a:rPr sz="900" spc="-30" dirty="0">
                <a:latin typeface="Arial"/>
                <a:cs typeface="Arial"/>
              </a:rPr>
              <a:t> </a:t>
            </a:r>
            <a:r>
              <a:rPr sz="900" dirty="0">
                <a:latin typeface="Arial"/>
                <a:cs typeface="Arial"/>
              </a:rPr>
              <a:t>often</a:t>
            </a:r>
            <a:r>
              <a:rPr sz="900" spc="-30"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false</a:t>
            </a:r>
            <a:r>
              <a:rPr sz="900" spc="-30" dirty="0">
                <a:latin typeface="Arial"/>
                <a:cs typeface="Arial"/>
              </a:rPr>
              <a:t> </a:t>
            </a:r>
            <a:r>
              <a:rPr sz="900" dirty="0">
                <a:latin typeface="Arial"/>
                <a:cs typeface="Arial"/>
              </a:rPr>
              <a:t>assumption.</a:t>
            </a:r>
            <a:r>
              <a:rPr sz="900" spc="25" dirty="0">
                <a:latin typeface="Arial"/>
                <a:cs typeface="Arial"/>
              </a:rPr>
              <a:t> </a:t>
            </a:r>
            <a:r>
              <a:rPr sz="900" dirty="0">
                <a:latin typeface="Arial"/>
                <a:cs typeface="Arial"/>
              </a:rPr>
              <a:t>There</a:t>
            </a:r>
            <a:r>
              <a:rPr sz="900" spc="-30" dirty="0">
                <a:latin typeface="Arial"/>
                <a:cs typeface="Arial"/>
              </a:rPr>
              <a:t> </a:t>
            </a:r>
            <a:r>
              <a:rPr sz="900" dirty="0">
                <a:latin typeface="Arial"/>
                <a:cs typeface="Arial"/>
              </a:rPr>
              <a:t>may</a:t>
            </a:r>
            <a:r>
              <a:rPr sz="900" spc="-30" dirty="0">
                <a:latin typeface="Arial"/>
                <a:cs typeface="Arial"/>
              </a:rPr>
              <a:t> </a:t>
            </a:r>
            <a:r>
              <a:rPr sz="900" dirty="0">
                <a:latin typeface="Arial"/>
                <a:cs typeface="Arial"/>
              </a:rPr>
              <a:t>be</a:t>
            </a:r>
            <a:r>
              <a:rPr sz="900" spc="-35" dirty="0">
                <a:latin typeface="Arial"/>
                <a:cs typeface="Arial"/>
              </a:rPr>
              <a:t> </a:t>
            </a:r>
            <a:r>
              <a:rPr sz="900" dirty="0">
                <a:latin typeface="Arial"/>
                <a:cs typeface="Arial"/>
              </a:rPr>
              <a:t>critical</a:t>
            </a:r>
            <a:r>
              <a:rPr sz="900" spc="-30" dirty="0">
                <a:latin typeface="Arial"/>
                <a:cs typeface="Arial"/>
              </a:rPr>
              <a:t> </a:t>
            </a:r>
            <a:r>
              <a:rPr sz="900" dirty="0">
                <a:latin typeface="Arial"/>
                <a:cs typeface="Arial"/>
              </a:rPr>
              <a:t>situations</a:t>
            </a:r>
            <a:r>
              <a:rPr sz="900" spc="-30" dirty="0">
                <a:latin typeface="Arial"/>
                <a:cs typeface="Arial"/>
              </a:rPr>
              <a:t> </a:t>
            </a:r>
            <a:r>
              <a:rPr sz="900" spc="-25" dirty="0">
                <a:latin typeface="Arial"/>
                <a:cs typeface="Arial"/>
              </a:rPr>
              <a:t>in </a:t>
            </a:r>
            <a:r>
              <a:rPr sz="900" dirty="0">
                <a:latin typeface="Arial"/>
                <a:cs typeface="Arial"/>
              </a:rPr>
              <a:t>which</a:t>
            </a:r>
            <a:r>
              <a:rPr sz="900" spc="-30" dirty="0">
                <a:latin typeface="Arial"/>
                <a:cs typeface="Arial"/>
              </a:rPr>
              <a:t> </a:t>
            </a:r>
            <a:r>
              <a:rPr sz="900" spc="-10" dirty="0">
                <a:latin typeface="Arial"/>
                <a:cs typeface="Arial"/>
              </a:rPr>
              <a:t>extremely</a:t>
            </a:r>
            <a:r>
              <a:rPr sz="900" spc="-25" dirty="0">
                <a:latin typeface="Arial"/>
                <a:cs typeface="Arial"/>
              </a:rPr>
              <a:t> </a:t>
            </a:r>
            <a:r>
              <a:rPr sz="900" dirty="0">
                <a:latin typeface="Arial"/>
                <a:cs typeface="Arial"/>
              </a:rPr>
              <a:t>high</a:t>
            </a:r>
            <a:r>
              <a:rPr sz="900" spc="-30" dirty="0">
                <a:latin typeface="Arial"/>
                <a:cs typeface="Arial"/>
              </a:rPr>
              <a:t> </a:t>
            </a:r>
            <a:r>
              <a:rPr sz="900" dirty="0">
                <a:latin typeface="Arial"/>
                <a:cs typeface="Arial"/>
              </a:rPr>
              <a:t>connectivity</a:t>
            </a:r>
            <a:r>
              <a:rPr sz="900" spc="-25" dirty="0">
                <a:latin typeface="Arial"/>
                <a:cs typeface="Arial"/>
              </a:rPr>
              <a:t> </a:t>
            </a:r>
            <a:r>
              <a:rPr sz="900" dirty="0">
                <a:latin typeface="Arial"/>
                <a:cs typeface="Arial"/>
              </a:rPr>
              <a:t>guarantees</a:t>
            </a:r>
            <a:r>
              <a:rPr sz="900" spc="-30" dirty="0">
                <a:latin typeface="Arial"/>
                <a:cs typeface="Arial"/>
              </a:rPr>
              <a:t> </a:t>
            </a:r>
            <a:r>
              <a:rPr sz="900" dirty="0">
                <a:latin typeface="Arial"/>
                <a:cs typeface="Arial"/>
              </a:rPr>
              <a:t>are</a:t>
            </a:r>
            <a:r>
              <a:rPr sz="900" spc="-25" dirty="0">
                <a:latin typeface="Arial"/>
                <a:cs typeface="Arial"/>
              </a:rPr>
              <a:t> </a:t>
            </a:r>
            <a:r>
              <a:rPr sz="900" spc="-10" dirty="0">
                <a:latin typeface="Arial"/>
                <a:cs typeface="Arial"/>
              </a:rPr>
              <a:t>needed.</a:t>
            </a:r>
            <a:endParaRPr sz="900">
              <a:latin typeface="Arial"/>
              <a:cs typeface="Arial"/>
            </a:endParaRPr>
          </a:p>
          <a:p>
            <a:pPr marL="278130" marR="17780" indent="-120650">
              <a:lnSpc>
                <a:spcPct val="111600"/>
              </a:lnSpc>
              <a:spcBef>
                <a:spcPts val="400"/>
              </a:spcBef>
              <a:buFont typeface="Apple Symbols"/>
              <a:buChar char="•"/>
              <a:tabLst>
                <a:tab pos="278765" algn="l"/>
              </a:tabLst>
            </a:pPr>
            <a:r>
              <a:rPr sz="900" dirty="0">
                <a:solidFill>
                  <a:srgbClr val="3333B2"/>
                </a:solidFill>
                <a:latin typeface="Arial"/>
                <a:cs typeface="Arial"/>
              </a:rPr>
              <a:t>Security</a:t>
            </a:r>
            <a:r>
              <a:rPr sz="900" spc="-30" dirty="0">
                <a:solidFill>
                  <a:srgbClr val="3333B2"/>
                </a:solidFill>
                <a:latin typeface="Arial"/>
                <a:cs typeface="Arial"/>
              </a:rPr>
              <a:t> </a:t>
            </a:r>
            <a:r>
              <a:rPr sz="900" dirty="0">
                <a:solidFill>
                  <a:srgbClr val="3333B2"/>
                </a:solidFill>
                <a:latin typeface="Arial"/>
                <a:cs typeface="Arial"/>
              </a:rPr>
              <a:t>and</a:t>
            </a:r>
            <a:r>
              <a:rPr sz="900" spc="-30" dirty="0">
                <a:solidFill>
                  <a:srgbClr val="3333B2"/>
                </a:solidFill>
                <a:latin typeface="Arial"/>
                <a:cs typeface="Arial"/>
              </a:rPr>
              <a:t> </a:t>
            </a:r>
            <a:r>
              <a:rPr sz="900" dirty="0">
                <a:solidFill>
                  <a:srgbClr val="3333B2"/>
                </a:solidFill>
                <a:latin typeface="Arial"/>
                <a:cs typeface="Arial"/>
              </a:rPr>
              <a:t>privacy</a:t>
            </a:r>
            <a:r>
              <a:rPr sz="900" dirty="0">
                <a:latin typeface="Arial"/>
                <a:cs typeface="Arial"/>
              </a:rPr>
              <a:t>:</a:t>
            </a:r>
            <a:r>
              <a:rPr sz="900" spc="30" dirty="0">
                <a:latin typeface="Arial"/>
                <a:cs typeface="Arial"/>
              </a:rPr>
              <a:t> </a:t>
            </a:r>
            <a:r>
              <a:rPr sz="900" dirty="0">
                <a:latin typeface="Arial"/>
                <a:cs typeface="Arial"/>
              </a:rPr>
              <a:t>The</a:t>
            </a:r>
            <a:r>
              <a:rPr sz="900" spc="-30" dirty="0">
                <a:latin typeface="Arial"/>
                <a:cs typeface="Arial"/>
              </a:rPr>
              <a:t> </a:t>
            </a:r>
            <a:r>
              <a:rPr sz="900" dirty="0">
                <a:latin typeface="Arial"/>
                <a:cs typeface="Arial"/>
              </a:rPr>
              <a:t>implicit</a:t>
            </a:r>
            <a:r>
              <a:rPr sz="900" spc="-30" dirty="0">
                <a:latin typeface="Arial"/>
                <a:cs typeface="Arial"/>
              </a:rPr>
              <a:t> </a:t>
            </a:r>
            <a:r>
              <a:rPr sz="900" dirty="0">
                <a:latin typeface="Arial"/>
                <a:cs typeface="Arial"/>
              </a:rPr>
              <a:t>assumption</a:t>
            </a:r>
            <a:r>
              <a:rPr sz="900" spc="-25" dirty="0">
                <a:latin typeface="Arial"/>
                <a:cs typeface="Arial"/>
              </a:rPr>
              <a:t> </a:t>
            </a:r>
            <a:r>
              <a:rPr sz="900" dirty="0">
                <a:latin typeface="Arial"/>
                <a:cs typeface="Arial"/>
              </a:rPr>
              <a:t>is</a:t>
            </a:r>
            <a:r>
              <a:rPr sz="900" spc="-30" dirty="0">
                <a:latin typeface="Arial"/>
                <a:cs typeface="Arial"/>
              </a:rPr>
              <a:t> </a:t>
            </a:r>
            <a:r>
              <a:rPr sz="900" dirty="0">
                <a:latin typeface="Arial"/>
                <a:cs typeface="Arial"/>
              </a:rPr>
              <a:t>often</a:t>
            </a:r>
            <a:r>
              <a:rPr sz="900" spc="-25" dirty="0">
                <a:latin typeface="Arial"/>
                <a:cs typeface="Arial"/>
              </a:rPr>
              <a:t> </a:t>
            </a:r>
            <a:r>
              <a:rPr sz="900" dirty="0">
                <a:latin typeface="Arial"/>
                <a:cs typeface="Arial"/>
              </a:rPr>
              <a:t>that</a:t>
            </a:r>
            <a:r>
              <a:rPr sz="900" spc="-30" dirty="0">
                <a:latin typeface="Arial"/>
                <a:cs typeface="Arial"/>
              </a:rPr>
              <a:t> </a:t>
            </a:r>
            <a:r>
              <a:rPr sz="900" dirty="0">
                <a:latin typeface="Arial"/>
                <a:cs typeface="Arial"/>
              </a:rPr>
              <a:t>when</a:t>
            </a:r>
            <a:r>
              <a:rPr sz="900" spc="-30" dirty="0">
                <a:latin typeface="Arial"/>
                <a:cs typeface="Arial"/>
              </a:rPr>
              <a:t> </a:t>
            </a:r>
            <a:r>
              <a:rPr sz="900" spc="-10" dirty="0">
                <a:latin typeface="Arial"/>
                <a:cs typeface="Arial"/>
              </a:rPr>
              <a:t>assets </a:t>
            </a:r>
            <a:r>
              <a:rPr sz="900" dirty="0">
                <a:latin typeface="Arial"/>
                <a:cs typeface="Arial"/>
              </a:rPr>
              <a:t>are</a:t>
            </a:r>
            <a:r>
              <a:rPr sz="900" spc="-30" dirty="0">
                <a:latin typeface="Arial"/>
                <a:cs typeface="Arial"/>
              </a:rPr>
              <a:t> </a:t>
            </a:r>
            <a:r>
              <a:rPr sz="900" spc="-20" dirty="0">
                <a:latin typeface="Arial"/>
                <a:cs typeface="Arial"/>
              </a:rPr>
              <a:t>nearby,</a:t>
            </a:r>
            <a:r>
              <a:rPr sz="900" spc="-30" dirty="0">
                <a:latin typeface="Arial"/>
                <a:cs typeface="Arial"/>
              </a:rPr>
              <a:t> </a:t>
            </a:r>
            <a:r>
              <a:rPr sz="900" dirty="0">
                <a:latin typeface="Arial"/>
                <a:cs typeface="Arial"/>
              </a:rPr>
              <a:t>they</a:t>
            </a:r>
            <a:r>
              <a:rPr sz="900" spc="-25" dirty="0">
                <a:latin typeface="Arial"/>
                <a:cs typeface="Arial"/>
              </a:rPr>
              <a:t> </a:t>
            </a:r>
            <a:r>
              <a:rPr sz="900" dirty="0">
                <a:latin typeface="Arial"/>
                <a:cs typeface="Arial"/>
              </a:rPr>
              <a:t>can</a:t>
            </a:r>
            <a:r>
              <a:rPr sz="900" spc="-30" dirty="0">
                <a:latin typeface="Arial"/>
                <a:cs typeface="Arial"/>
              </a:rPr>
              <a:t> </a:t>
            </a:r>
            <a:r>
              <a:rPr sz="900" dirty="0">
                <a:latin typeface="Arial"/>
                <a:cs typeface="Arial"/>
              </a:rPr>
              <a:t>be</a:t>
            </a:r>
            <a:r>
              <a:rPr sz="900" spc="-25" dirty="0">
                <a:latin typeface="Arial"/>
                <a:cs typeface="Arial"/>
              </a:rPr>
              <a:t> </a:t>
            </a:r>
            <a:r>
              <a:rPr sz="900" dirty="0">
                <a:latin typeface="Arial"/>
                <a:cs typeface="Arial"/>
              </a:rPr>
              <a:t>made</a:t>
            </a:r>
            <a:r>
              <a:rPr sz="900" spc="-30" dirty="0">
                <a:latin typeface="Arial"/>
                <a:cs typeface="Arial"/>
              </a:rPr>
              <a:t> </a:t>
            </a:r>
            <a:r>
              <a:rPr sz="900" dirty="0">
                <a:latin typeface="Arial"/>
                <a:cs typeface="Arial"/>
              </a:rPr>
              <a:t>better</a:t>
            </a:r>
            <a:r>
              <a:rPr sz="900" spc="-30" dirty="0">
                <a:latin typeface="Arial"/>
                <a:cs typeface="Arial"/>
              </a:rPr>
              <a:t> </a:t>
            </a:r>
            <a:r>
              <a:rPr sz="900" dirty="0">
                <a:latin typeface="Arial"/>
                <a:cs typeface="Arial"/>
              </a:rPr>
              <a:t>protected.</a:t>
            </a:r>
            <a:r>
              <a:rPr sz="900" spc="30" dirty="0">
                <a:latin typeface="Arial"/>
                <a:cs typeface="Arial"/>
              </a:rPr>
              <a:t> </a:t>
            </a:r>
            <a:r>
              <a:rPr sz="900" dirty="0">
                <a:latin typeface="Arial"/>
                <a:cs typeface="Arial"/>
              </a:rPr>
              <a:t>Practice</a:t>
            </a:r>
            <a:r>
              <a:rPr sz="900" spc="-30" dirty="0">
                <a:latin typeface="Arial"/>
                <a:cs typeface="Arial"/>
              </a:rPr>
              <a:t> </a:t>
            </a:r>
            <a:r>
              <a:rPr sz="900" dirty="0">
                <a:latin typeface="Arial"/>
                <a:cs typeface="Arial"/>
              </a:rPr>
              <a:t>shows</a:t>
            </a:r>
            <a:r>
              <a:rPr sz="900" spc="-30" dirty="0">
                <a:latin typeface="Arial"/>
                <a:cs typeface="Arial"/>
              </a:rPr>
              <a:t> </a:t>
            </a:r>
            <a:r>
              <a:rPr sz="900" dirty="0">
                <a:latin typeface="Arial"/>
                <a:cs typeface="Arial"/>
              </a:rPr>
              <a:t>that</a:t>
            </a:r>
            <a:r>
              <a:rPr sz="900" spc="-25" dirty="0">
                <a:latin typeface="Arial"/>
                <a:cs typeface="Arial"/>
              </a:rPr>
              <a:t> </a:t>
            </a:r>
            <a:r>
              <a:rPr sz="900" spc="-20" dirty="0">
                <a:latin typeface="Arial"/>
                <a:cs typeface="Arial"/>
              </a:rPr>
              <a:t>this </a:t>
            </a:r>
            <a:r>
              <a:rPr sz="900" dirty="0">
                <a:latin typeface="Arial"/>
                <a:cs typeface="Arial"/>
              </a:rPr>
              <a:t>assumption</a:t>
            </a:r>
            <a:r>
              <a:rPr sz="900" spc="-40" dirty="0">
                <a:latin typeface="Arial"/>
                <a:cs typeface="Arial"/>
              </a:rPr>
              <a:t> </a:t>
            </a:r>
            <a:r>
              <a:rPr sz="900" dirty="0">
                <a:latin typeface="Arial"/>
                <a:cs typeface="Arial"/>
              </a:rPr>
              <a:t>is</a:t>
            </a:r>
            <a:r>
              <a:rPr sz="900" spc="-40" dirty="0">
                <a:latin typeface="Arial"/>
                <a:cs typeface="Arial"/>
              </a:rPr>
              <a:t> </a:t>
            </a:r>
            <a:r>
              <a:rPr sz="900" dirty="0">
                <a:latin typeface="Arial"/>
                <a:cs typeface="Arial"/>
              </a:rPr>
              <a:t>generally</a:t>
            </a:r>
            <a:r>
              <a:rPr sz="900" spc="-35" dirty="0">
                <a:latin typeface="Arial"/>
                <a:cs typeface="Arial"/>
              </a:rPr>
              <a:t> </a:t>
            </a:r>
            <a:r>
              <a:rPr sz="900" dirty="0">
                <a:latin typeface="Arial"/>
                <a:cs typeface="Arial"/>
              </a:rPr>
              <a:t>false.</a:t>
            </a:r>
            <a:r>
              <a:rPr sz="900" spc="15" dirty="0">
                <a:latin typeface="Arial"/>
                <a:cs typeface="Arial"/>
              </a:rPr>
              <a:t> </a:t>
            </a:r>
            <a:r>
              <a:rPr sz="900" spc="-20" dirty="0">
                <a:latin typeface="Arial"/>
                <a:cs typeface="Arial"/>
              </a:rPr>
              <a:t>However,</a:t>
            </a:r>
            <a:r>
              <a:rPr sz="900" spc="-40" dirty="0">
                <a:latin typeface="Arial"/>
                <a:cs typeface="Arial"/>
              </a:rPr>
              <a:t> </a:t>
            </a:r>
            <a:r>
              <a:rPr sz="900" dirty="0">
                <a:latin typeface="Arial"/>
                <a:cs typeface="Arial"/>
              </a:rPr>
              <a:t>securely</a:t>
            </a:r>
            <a:r>
              <a:rPr sz="900" spc="-35" dirty="0">
                <a:latin typeface="Arial"/>
                <a:cs typeface="Arial"/>
              </a:rPr>
              <a:t> </a:t>
            </a:r>
            <a:r>
              <a:rPr sz="900" dirty="0">
                <a:latin typeface="Arial"/>
                <a:cs typeface="Arial"/>
              </a:rPr>
              <a:t>handling</a:t>
            </a:r>
            <a:r>
              <a:rPr sz="900" spc="-40" dirty="0">
                <a:latin typeface="Arial"/>
                <a:cs typeface="Arial"/>
              </a:rPr>
              <a:t> </a:t>
            </a:r>
            <a:r>
              <a:rPr sz="900" spc="-20" dirty="0">
                <a:latin typeface="Arial"/>
                <a:cs typeface="Arial"/>
              </a:rPr>
              <a:t>data </a:t>
            </a:r>
            <a:r>
              <a:rPr sz="900" dirty="0">
                <a:latin typeface="Arial"/>
                <a:cs typeface="Arial"/>
              </a:rPr>
              <a:t>operations</a:t>
            </a:r>
            <a:r>
              <a:rPr sz="900" spc="-35" dirty="0">
                <a:latin typeface="Arial"/>
                <a:cs typeface="Arial"/>
              </a:rPr>
              <a:t> </a:t>
            </a:r>
            <a:r>
              <a:rPr sz="900" dirty="0">
                <a:latin typeface="Arial"/>
                <a:cs typeface="Arial"/>
              </a:rPr>
              <a:t>in</a:t>
            </a:r>
            <a:r>
              <a:rPr sz="900" spc="-30" dirty="0">
                <a:latin typeface="Arial"/>
                <a:cs typeface="Arial"/>
              </a:rPr>
              <a:t> </a:t>
            </a:r>
            <a:r>
              <a:rPr sz="900" dirty="0">
                <a:latin typeface="Arial"/>
                <a:cs typeface="Arial"/>
              </a:rPr>
              <a:t>the</a:t>
            </a:r>
            <a:r>
              <a:rPr sz="900" spc="-35" dirty="0">
                <a:latin typeface="Arial"/>
                <a:cs typeface="Arial"/>
              </a:rPr>
              <a:t> </a:t>
            </a:r>
            <a:r>
              <a:rPr sz="900" dirty="0">
                <a:latin typeface="Arial"/>
                <a:cs typeface="Arial"/>
              </a:rPr>
              <a:t>cloud</a:t>
            </a:r>
            <a:r>
              <a:rPr sz="900" spc="-30" dirty="0">
                <a:latin typeface="Arial"/>
                <a:cs typeface="Arial"/>
              </a:rPr>
              <a:t> </a:t>
            </a:r>
            <a:r>
              <a:rPr sz="900" dirty="0">
                <a:latin typeface="Arial"/>
                <a:cs typeface="Arial"/>
              </a:rPr>
              <a:t>may</a:t>
            </a:r>
            <a:r>
              <a:rPr sz="900" spc="-30" dirty="0">
                <a:latin typeface="Arial"/>
                <a:cs typeface="Arial"/>
              </a:rPr>
              <a:t> </a:t>
            </a:r>
            <a:r>
              <a:rPr sz="900" dirty="0">
                <a:latin typeface="Arial"/>
                <a:cs typeface="Arial"/>
              </a:rPr>
              <a:t>be</a:t>
            </a:r>
            <a:r>
              <a:rPr sz="900" spc="-35" dirty="0">
                <a:latin typeface="Arial"/>
                <a:cs typeface="Arial"/>
              </a:rPr>
              <a:t> </a:t>
            </a:r>
            <a:r>
              <a:rPr sz="900" dirty="0">
                <a:latin typeface="Arial"/>
                <a:cs typeface="Arial"/>
              </a:rPr>
              <a:t>trickier</a:t>
            </a:r>
            <a:r>
              <a:rPr sz="900" spc="-30" dirty="0">
                <a:latin typeface="Arial"/>
                <a:cs typeface="Arial"/>
              </a:rPr>
              <a:t> </a:t>
            </a:r>
            <a:r>
              <a:rPr sz="900" dirty="0">
                <a:latin typeface="Arial"/>
                <a:cs typeface="Arial"/>
              </a:rPr>
              <a:t>than</a:t>
            </a:r>
            <a:r>
              <a:rPr sz="900" spc="-35" dirty="0">
                <a:latin typeface="Arial"/>
                <a:cs typeface="Arial"/>
              </a:rPr>
              <a:t> </a:t>
            </a:r>
            <a:r>
              <a:rPr sz="900" dirty="0">
                <a:latin typeface="Arial"/>
                <a:cs typeface="Arial"/>
              </a:rPr>
              <a:t>within</a:t>
            </a:r>
            <a:r>
              <a:rPr sz="900" spc="-30" dirty="0">
                <a:latin typeface="Arial"/>
                <a:cs typeface="Arial"/>
              </a:rPr>
              <a:t> </a:t>
            </a:r>
            <a:r>
              <a:rPr sz="900" dirty="0">
                <a:latin typeface="Arial"/>
                <a:cs typeface="Arial"/>
              </a:rPr>
              <a:t>your</a:t>
            </a:r>
            <a:r>
              <a:rPr sz="900" spc="-30" dirty="0">
                <a:latin typeface="Arial"/>
                <a:cs typeface="Arial"/>
              </a:rPr>
              <a:t> </a:t>
            </a:r>
            <a:r>
              <a:rPr sz="900" dirty="0">
                <a:latin typeface="Arial"/>
                <a:cs typeface="Arial"/>
              </a:rPr>
              <a:t>own</a:t>
            </a:r>
            <a:r>
              <a:rPr sz="900" spc="-35" dirty="0">
                <a:latin typeface="Arial"/>
                <a:cs typeface="Arial"/>
              </a:rPr>
              <a:t> </a:t>
            </a:r>
            <a:r>
              <a:rPr sz="900" spc="-10" dirty="0">
                <a:latin typeface="Arial"/>
                <a:cs typeface="Arial"/>
              </a:rPr>
              <a:t>organization.</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81343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The </a:t>
            </a:r>
            <a:r>
              <a:rPr sz="500" spc="-10" dirty="0">
                <a:latin typeface="Arial"/>
                <a:cs typeface="Arial"/>
                <a:hlinkClick r:id="rId4" action="ppaction://hlinksldjump"/>
              </a:rPr>
              <a:t>edge-</a:t>
            </a:r>
            <a:r>
              <a:rPr sz="500" dirty="0">
                <a:latin typeface="Arial"/>
                <a:cs typeface="Arial"/>
                <a:hlinkClick r:id="rId4" action="ppaction://hlinksldjump"/>
              </a:rPr>
              <a:t>cloud</a:t>
            </a:r>
            <a:r>
              <a:rPr sz="500" spc="5" dirty="0">
                <a:latin typeface="Arial"/>
                <a:cs typeface="Arial"/>
                <a:hlinkClick r:id="rId4" action="ppaction://hlinksldjump"/>
              </a:rPr>
              <a:t> </a:t>
            </a:r>
            <a:r>
              <a:rPr sz="500" spc="-10" dirty="0">
                <a:latin typeface="Arial"/>
                <a:cs typeface="Arial"/>
                <a:hlinkClick r:id="rId4" action="ppaction://hlinksldjump"/>
              </a:rPr>
              <a:t>architecture</a:t>
            </a:r>
            <a:endParaRPr sz="500">
              <a:latin typeface="Arial"/>
              <a:cs typeface="Arial"/>
            </a:endParaRPr>
          </a:p>
        </p:txBody>
      </p:sp>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706495" algn="l"/>
              </a:tabLst>
            </a:pPr>
            <a:r>
              <a:rPr sz="500" spc="-10" dirty="0">
                <a:latin typeface="Arial"/>
                <a:cs typeface="Arial"/>
                <a:hlinkClick r:id="rId2" action="ppaction://hlinksldjump"/>
              </a:rPr>
              <a:t>Architectures</a:t>
            </a:r>
            <a:r>
              <a:rPr sz="500" dirty="0">
                <a:latin typeface="Arial"/>
                <a:cs typeface="Arial"/>
              </a:rPr>
              <a:t>	</a:t>
            </a:r>
            <a:r>
              <a:rPr sz="500" dirty="0">
                <a:solidFill>
                  <a:srgbClr val="FFFFFF"/>
                </a:solidFill>
                <a:latin typeface="Arial"/>
                <a:cs typeface="Arial"/>
                <a:hlinkClick r:id="rId3" action="ppaction://hlinksldjump"/>
              </a:rPr>
              <a:t>Hybrid</a:t>
            </a:r>
            <a:r>
              <a:rPr sz="500" spc="-2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system</a:t>
            </a:r>
            <a:r>
              <a:rPr sz="500" spc="-2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architectures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Edge</a:t>
            </a:r>
            <a:r>
              <a:rPr spc="-35" dirty="0"/>
              <a:t> </a:t>
            </a:r>
            <a:r>
              <a:rPr spc="-10" dirty="0"/>
              <a:t>orchestration</a:t>
            </a:r>
          </a:p>
        </p:txBody>
      </p:sp>
      <p:sp>
        <p:nvSpPr>
          <p:cNvPr id="4" name="object 4"/>
          <p:cNvSpPr txBox="1"/>
          <p:nvPr/>
        </p:nvSpPr>
        <p:spPr>
          <a:xfrm>
            <a:off x="321894" y="514774"/>
            <a:ext cx="3964304" cy="2010410"/>
          </a:xfrm>
          <a:prstGeom prst="rect">
            <a:avLst/>
          </a:prstGeom>
        </p:spPr>
        <p:txBody>
          <a:bodyPr vert="horz" wrap="square" lIns="0" tIns="12065" rIns="0" bIns="0" rtlCol="0">
            <a:spAutoFit/>
          </a:bodyPr>
          <a:lstStyle/>
          <a:p>
            <a:pPr marL="38100">
              <a:lnSpc>
                <a:spcPct val="100000"/>
              </a:lnSpc>
              <a:spcBef>
                <a:spcPts val="95"/>
              </a:spcBef>
            </a:pPr>
            <a:r>
              <a:rPr sz="1000" dirty="0">
                <a:solidFill>
                  <a:srgbClr val="3333B2"/>
                </a:solidFill>
                <a:latin typeface="Arial"/>
                <a:cs typeface="Arial"/>
              </a:rPr>
              <a:t>Managing</a:t>
            </a:r>
            <a:r>
              <a:rPr sz="1000" spc="-30" dirty="0">
                <a:solidFill>
                  <a:srgbClr val="3333B2"/>
                </a:solidFill>
                <a:latin typeface="Arial"/>
                <a:cs typeface="Arial"/>
              </a:rPr>
              <a:t> </a:t>
            </a:r>
            <a:r>
              <a:rPr sz="1000" dirty="0">
                <a:solidFill>
                  <a:srgbClr val="3333B2"/>
                </a:solidFill>
                <a:latin typeface="Arial"/>
                <a:cs typeface="Arial"/>
              </a:rPr>
              <a:t>resources</a:t>
            </a:r>
            <a:r>
              <a:rPr sz="1000" spc="-30" dirty="0">
                <a:solidFill>
                  <a:srgbClr val="3333B2"/>
                </a:solidFill>
                <a:latin typeface="Arial"/>
                <a:cs typeface="Arial"/>
              </a:rPr>
              <a:t> </a:t>
            </a:r>
            <a:r>
              <a:rPr sz="1000" dirty="0">
                <a:solidFill>
                  <a:srgbClr val="3333B2"/>
                </a:solidFill>
                <a:latin typeface="Arial"/>
                <a:cs typeface="Arial"/>
              </a:rPr>
              <a:t>at</a:t>
            </a:r>
            <a:r>
              <a:rPr sz="1000" spc="-30" dirty="0">
                <a:solidFill>
                  <a:srgbClr val="3333B2"/>
                </a:solidFill>
                <a:latin typeface="Arial"/>
                <a:cs typeface="Arial"/>
              </a:rPr>
              <a:t> </a:t>
            </a:r>
            <a:r>
              <a:rPr sz="1000" dirty="0">
                <a:solidFill>
                  <a:srgbClr val="3333B2"/>
                </a:solidFill>
                <a:latin typeface="Arial"/>
                <a:cs typeface="Arial"/>
              </a:rPr>
              <a:t>the</a:t>
            </a:r>
            <a:r>
              <a:rPr sz="1000" spc="-30" dirty="0">
                <a:solidFill>
                  <a:srgbClr val="3333B2"/>
                </a:solidFill>
                <a:latin typeface="Arial"/>
                <a:cs typeface="Arial"/>
              </a:rPr>
              <a:t> </a:t>
            </a:r>
            <a:r>
              <a:rPr sz="1000" dirty="0">
                <a:solidFill>
                  <a:srgbClr val="3333B2"/>
                </a:solidFill>
                <a:latin typeface="Arial"/>
                <a:cs typeface="Arial"/>
              </a:rPr>
              <a:t>edge</a:t>
            </a:r>
            <a:r>
              <a:rPr sz="1000" spc="-30" dirty="0">
                <a:solidFill>
                  <a:srgbClr val="3333B2"/>
                </a:solidFill>
                <a:latin typeface="Arial"/>
                <a:cs typeface="Arial"/>
              </a:rPr>
              <a:t> </a:t>
            </a:r>
            <a:r>
              <a:rPr sz="1000" dirty="0">
                <a:solidFill>
                  <a:srgbClr val="3333B2"/>
                </a:solidFill>
                <a:latin typeface="Arial"/>
                <a:cs typeface="Arial"/>
              </a:rPr>
              <a:t>may</a:t>
            </a:r>
            <a:r>
              <a:rPr sz="1000" spc="-30" dirty="0">
                <a:solidFill>
                  <a:srgbClr val="3333B2"/>
                </a:solidFill>
                <a:latin typeface="Arial"/>
                <a:cs typeface="Arial"/>
              </a:rPr>
              <a:t> </a:t>
            </a:r>
            <a:r>
              <a:rPr sz="1000" dirty="0">
                <a:solidFill>
                  <a:srgbClr val="3333B2"/>
                </a:solidFill>
                <a:latin typeface="Arial"/>
                <a:cs typeface="Arial"/>
              </a:rPr>
              <a:t>be</a:t>
            </a:r>
            <a:r>
              <a:rPr sz="1000" spc="-30" dirty="0">
                <a:solidFill>
                  <a:srgbClr val="3333B2"/>
                </a:solidFill>
                <a:latin typeface="Arial"/>
                <a:cs typeface="Arial"/>
              </a:rPr>
              <a:t> </a:t>
            </a:r>
            <a:r>
              <a:rPr sz="1000" dirty="0">
                <a:solidFill>
                  <a:srgbClr val="3333B2"/>
                </a:solidFill>
                <a:latin typeface="Arial"/>
                <a:cs typeface="Arial"/>
              </a:rPr>
              <a:t>trickier</a:t>
            </a:r>
            <a:r>
              <a:rPr sz="1000" spc="-30" dirty="0">
                <a:solidFill>
                  <a:srgbClr val="3333B2"/>
                </a:solidFill>
                <a:latin typeface="Arial"/>
                <a:cs typeface="Arial"/>
              </a:rPr>
              <a:t> </a:t>
            </a:r>
            <a:r>
              <a:rPr sz="1000" dirty="0">
                <a:solidFill>
                  <a:srgbClr val="3333B2"/>
                </a:solidFill>
                <a:latin typeface="Arial"/>
                <a:cs typeface="Arial"/>
              </a:rPr>
              <a:t>than</a:t>
            </a:r>
            <a:r>
              <a:rPr sz="1000" spc="-30" dirty="0">
                <a:solidFill>
                  <a:srgbClr val="3333B2"/>
                </a:solidFill>
                <a:latin typeface="Arial"/>
                <a:cs typeface="Arial"/>
              </a:rPr>
              <a:t> </a:t>
            </a:r>
            <a:r>
              <a:rPr sz="1000" dirty="0">
                <a:solidFill>
                  <a:srgbClr val="3333B2"/>
                </a:solidFill>
                <a:latin typeface="Arial"/>
                <a:cs typeface="Arial"/>
              </a:rPr>
              <a:t>in</a:t>
            </a:r>
            <a:r>
              <a:rPr sz="1000" spc="-30" dirty="0">
                <a:solidFill>
                  <a:srgbClr val="3333B2"/>
                </a:solidFill>
                <a:latin typeface="Arial"/>
                <a:cs typeface="Arial"/>
              </a:rPr>
              <a:t> </a:t>
            </a:r>
            <a:r>
              <a:rPr sz="1000" dirty="0">
                <a:solidFill>
                  <a:srgbClr val="3333B2"/>
                </a:solidFill>
                <a:latin typeface="Arial"/>
                <a:cs typeface="Arial"/>
              </a:rPr>
              <a:t>the</a:t>
            </a:r>
            <a:r>
              <a:rPr sz="1000" spc="-30" dirty="0">
                <a:solidFill>
                  <a:srgbClr val="3333B2"/>
                </a:solidFill>
                <a:latin typeface="Arial"/>
                <a:cs typeface="Arial"/>
              </a:rPr>
              <a:t> </a:t>
            </a:r>
            <a:r>
              <a:rPr sz="1000" spc="-10" dirty="0">
                <a:solidFill>
                  <a:srgbClr val="3333B2"/>
                </a:solidFill>
                <a:latin typeface="Arial"/>
                <a:cs typeface="Arial"/>
              </a:rPr>
              <a:t>cloud</a:t>
            </a:r>
            <a:endParaRPr sz="1000">
              <a:latin typeface="Arial"/>
              <a:cs typeface="Arial"/>
            </a:endParaRPr>
          </a:p>
          <a:p>
            <a:pPr marL="290830" marR="436880" indent="-120650">
              <a:lnSpc>
                <a:spcPct val="111600"/>
              </a:lnSpc>
              <a:spcBef>
                <a:spcPts val="580"/>
              </a:spcBef>
              <a:buClr>
                <a:srgbClr val="3333B2"/>
              </a:buClr>
              <a:buFont typeface="Apple Symbols"/>
              <a:buChar char="•"/>
              <a:tabLst>
                <a:tab pos="291465" algn="l"/>
              </a:tabLst>
            </a:pPr>
            <a:r>
              <a:rPr sz="900" dirty="0">
                <a:solidFill>
                  <a:srgbClr val="C80000"/>
                </a:solidFill>
                <a:latin typeface="Arial"/>
                <a:cs typeface="Arial"/>
              </a:rPr>
              <a:t>Resource</a:t>
            </a:r>
            <a:r>
              <a:rPr sz="900" spc="-25" dirty="0">
                <a:solidFill>
                  <a:srgbClr val="C80000"/>
                </a:solidFill>
                <a:latin typeface="Arial"/>
                <a:cs typeface="Arial"/>
              </a:rPr>
              <a:t> </a:t>
            </a:r>
            <a:r>
              <a:rPr sz="900" dirty="0">
                <a:solidFill>
                  <a:srgbClr val="C80000"/>
                </a:solidFill>
                <a:latin typeface="Arial"/>
                <a:cs typeface="Arial"/>
              </a:rPr>
              <a:t>allocation</a:t>
            </a:r>
            <a:r>
              <a:rPr sz="900" dirty="0">
                <a:latin typeface="Arial"/>
                <a:cs typeface="Arial"/>
              </a:rPr>
              <a:t>:</a:t>
            </a:r>
            <a:r>
              <a:rPr sz="900" spc="30" dirty="0">
                <a:latin typeface="Arial"/>
                <a:cs typeface="Arial"/>
              </a:rPr>
              <a:t> </a:t>
            </a:r>
            <a:r>
              <a:rPr sz="900" dirty="0">
                <a:latin typeface="Arial"/>
                <a:cs typeface="Arial"/>
              </a:rPr>
              <a:t>we</a:t>
            </a:r>
            <a:r>
              <a:rPr sz="900" spc="-20" dirty="0">
                <a:latin typeface="Arial"/>
                <a:cs typeface="Arial"/>
              </a:rPr>
              <a:t> </a:t>
            </a:r>
            <a:r>
              <a:rPr sz="900" dirty="0">
                <a:latin typeface="Arial"/>
                <a:cs typeface="Arial"/>
              </a:rPr>
              <a:t>need</a:t>
            </a:r>
            <a:r>
              <a:rPr sz="900" spc="-25"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guarantee</a:t>
            </a:r>
            <a:r>
              <a:rPr sz="900" spc="-25" dirty="0">
                <a:latin typeface="Arial"/>
                <a:cs typeface="Arial"/>
              </a:rPr>
              <a:t> </a:t>
            </a:r>
            <a:r>
              <a:rPr sz="900" dirty="0">
                <a:latin typeface="Arial"/>
                <a:cs typeface="Arial"/>
              </a:rPr>
              <a:t>the</a:t>
            </a:r>
            <a:r>
              <a:rPr sz="900" spc="-20" dirty="0">
                <a:latin typeface="Arial"/>
                <a:cs typeface="Arial"/>
              </a:rPr>
              <a:t> </a:t>
            </a:r>
            <a:r>
              <a:rPr sz="900" spc="-10" dirty="0">
                <a:latin typeface="Arial"/>
                <a:cs typeface="Arial"/>
              </a:rPr>
              <a:t>availability</a:t>
            </a:r>
            <a:r>
              <a:rPr sz="900" spc="-25" dirty="0">
                <a:latin typeface="Arial"/>
                <a:cs typeface="Arial"/>
              </a:rPr>
              <a:t> </a:t>
            </a:r>
            <a:r>
              <a:rPr sz="900" dirty="0">
                <a:latin typeface="Arial"/>
                <a:cs typeface="Arial"/>
              </a:rPr>
              <a:t>of</a:t>
            </a:r>
            <a:r>
              <a:rPr sz="900" spc="-25" dirty="0">
                <a:latin typeface="Arial"/>
                <a:cs typeface="Arial"/>
              </a:rPr>
              <a:t> the </a:t>
            </a:r>
            <a:r>
              <a:rPr sz="900" dirty="0">
                <a:latin typeface="Arial"/>
                <a:cs typeface="Arial"/>
              </a:rPr>
              <a:t>resources</a:t>
            </a:r>
            <a:r>
              <a:rPr sz="900" spc="-35" dirty="0">
                <a:latin typeface="Arial"/>
                <a:cs typeface="Arial"/>
              </a:rPr>
              <a:t> </a:t>
            </a:r>
            <a:r>
              <a:rPr sz="900" dirty="0">
                <a:latin typeface="Arial"/>
                <a:cs typeface="Arial"/>
              </a:rPr>
              <a:t>required</a:t>
            </a:r>
            <a:r>
              <a:rPr sz="900" spc="-30"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perform</a:t>
            </a:r>
            <a:r>
              <a:rPr sz="900" spc="-30" dirty="0">
                <a:latin typeface="Arial"/>
                <a:cs typeface="Arial"/>
              </a:rPr>
              <a:t> </a:t>
            </a:r>
            <a:r>
              <a:rPr sz="900" dirty="0">
                <a:latin typeface="Arial"/>
                <a:cs typeface="Arial"/>
              </a:rPr>
              <a:t>a</a:t>
            </a:r>
            <a:r>
              <a:rPr sz="900" spc="-30" dirty="0">
                <a:latin typeface="Arial"/>
                <a:cs typeface="Arial"/>
              </a:rPr>
              <a:t> </a:t>
            </a:r>
            <a:r>
              <a:rPr sz="900" spc="-10" dirty="0">
                <a:latin typeface="Arial"/>
                <a:cs typeface="Arial"/>
              </a:rPr>
              <a:t>service.</a:t>
            </a:r>
            <a:endParaRPr sz="900">
              <a:latin typeface="Arial"/>
              <a:cs typeface="Arial"/>
            </a:endParaRPr>
          </a:p>
          <a:p>
            <a:pPr marL="290830" marR="338455" indent="-120650">
              <a:lnSpc>
                <a:spcPct val="111600"/>
              </a:lnSpc>
              <a:spcBef>
                <a:spcPts val="300"/>
              </a:spcBef>
              <a:buClr>
                <a:srgbClr val="3333B2"/>
              </a:buClr>
              <a:buFont typeface="Apple Symbols"/>
              <a:buChar char="•"/>
              <a:tabLst>
                <a:tab pos="291465" algn="l"/>
              </a:tabLst>
            </a:pPr>
            <a:r>
              <a:rPr sz="900" dirty="0">
                <a:solidFill>
                  <a:srgbClr val="C80000"/>
                </a:solidFill>
                <a:latin typeface="Arial"/>
                <a:cs typeface="Arial"/>
              </a:rPr>
              <a:t>Service</a:t>
            </a:r>
            <a:r>
              <a:rPr sz="900" spc="-25" dirty="0">
                <a:solidFill>
                  <a:srgbClr val="C80000"/>
                </a:solidFill>
                <a:latin typeface="Arial"/>
                <a:cs typeface="Arial"/>
              </a:rPr>
              <a:t> </a:t>
            </a:r>
            <a:r>
              <a:rPr sz="900" dirty="0">
                <a:solidFill>
                  <a:srgbClr val="C80000"/>
                </a:solidFill>
                <a:latin typeface="Arial"/>
                <a:cs typeface="Arial"/>
              </a:rPr>
              <a:t>placement</a:t>
            </a:r>
            <a:r>
              <a:rPr sz="900" dirty="0">
                <a:latin typeface="Arial"/>
                <a:cs typeface="Arial"/>
              </a:rPr>
              <a:t>:</a:t>
            </a:r>
            <a:r>
              <a:rPr sz="900" spc="30" dirty="0">
                <a:latin typeface="Arial"/>
                <a:cs typeface="Arial"/>
              </a:rPr>
              <a:t> </a:t>
            </a:r>
            <a:r>
              <a:rPr sz="900" dirty="0">
                <a:latin typeface="Arial"/>
                <a:cs typeface="Arial"/>
              </a:rPr>
              <a:t>we</a:t>
            </a:r>
            <a:r>
              <a:rPr sz="900" spc="-25" dirty="0">
                <a:latin typeface="Arial"/>
                <a:cs typeface="Arial"/>
              </a:rPr>
              <a:t> </a:t>
            </a:r>
            <a:r>
              <a:rPr sz="900" dirty="0">
                <a:latin typeface="Arial"/>
                <a:cs typeface="Arial"/>
              </a:rPr>
              <a:t>need</a:t>
            </a:r>
            <a:r>
              <a:rPr sz="900" spc="-2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decide</a:t>
            </a:r>
            <a:r>
              <a:rPr sz="900" spc="-20" dirty="0">
                <a:latin typeface="Arial"/>
                <a:cs typeface="Arial"/>
              </a:rPr>
              <a:t> </a:t>
            </a:r>
            <a:r>
              <a:rPr sz="900" dirty="0">
                <a:solidFill>
                  <a:srgbClr val="3333B2"/>
                </a:solidFill>
                <a:latin typeface="Arial"/>
                <a:cs typeface="Arial"/>
              </a:rPr>
              <a:t>when</a:t>
            </a:r>
            <a:r>
              <a:rPr sz="900" spc="-25" dirty="0">
                <a:solidFill>
                  <a:srgbClr val="3333B2"/>
                </a:solidFill>
                <a:latin typeface="Arial"/>
                <a:cs typeface="Arial"/>
              </a:rPr>
              <a:t> </a:t>
            </a:r>
            <a:r>
              <a:rPr sz="900" dirty="0">
                <a:latin typeface="Arial"/>
                <a:cs typeface="Arial"/>
              </a:rPr>
              <a:t>and</a:t>
            </a:r>
            <a:r>
              <a:rPr sz="900" spc="-25" dirty="0">
                <a:latin typeface="Arial"/>
                <a:cs typeface="Arial"/>
              </a:rPr>
              <a:t> </a:t>
            </a:r>
            <a:r>
              <a:rPr sz="900" dirty="0">
                <a:solidFill>
                  <a:srgbClr val="3333B2"/>
                </a:solidFill>
                <a:latin typeface="Arial"/>
                <a:cs typeface="Arial"/>
              </a:rPr>
              <a:t>where</a:t>
            </a:r>
            <a:r>
              <a:rPr sz="900" spc="-25" dirty="0">
                <a:solidFill>
                  <a:srgbClr val="3333B2"/>
                </a:solidFill>
                <a:latin typeface="Arial"/>
                <a:cs typeface="Arial"/>
              </a:rPr>
              <a:t> </a:t>
            </a:r>
            <a:r>
              <a:rPr sz="900" dirty="0">
                <a:latin typeface="Arial"/>
                <a:cs typeface="Arial"/>
              </a:rPr>
              <a:t>to</a:t>
            </a:r>
            <a:r>
              <a:rPr sz="900" spc="-25" dirty="0">
                <a:latin typeface="Arial"/>
                <a:cs typeface="Arial"/>
              </a:rPr>
              <a:t> </a:t>
            </a:r>
            <a:r>
              <a:rPr sz="900" dirty="0">
                <a:latin typeface="Arial"/>
                <a:cs typeface="Arial"/>
              </a:rPr>
              <a:t>place</a:t>
            </a:r>
            <a:r>
              <a:rPr sz="900" spc="-20" dirty="0">
                <a:latin typeface="Arial"/>
                <a:cs typeface="Arial"/>
              </a:rPr>
              <a:t> </a:t>
            </a:r>
            <a:r>
              <a:rPr sz="900" spc="-50" dirty="0">
                <a:latin typeface="Arial"/>
                <a:cs typeface="Arial"/>
              </a:rPr>
              <a:t>a</a:t>
            </a:r>
            <a:r>
              <a:rPr sz="900" dirty="0">
                <a:latin typeface="Arial"/>
                <a:cs typeface="Arial"/>
              </a:rPr>
              <a:t> service.</a:t>
            </a:r>
            <a:r>
              <a:rPr sz="900" spc="25" dirty="0">
                <a:latin typeface="Arial"/>
                <a:cs typeface="Arial"/>
              </a:rPr>
              <a:t> </a:t>
            </a:r>
            <a:r>
              <a:rPr sz="900" dirty="0">
                <a:latin typeface="Arial"/>
                <a:cs typeface="Arial"/>
              </a:rPr>
              <a:t>This</a:t>
            </a:r>
            <a:r>
              <a:rPr sz="900" spc="-30" dirty="0">
                <a:latin typeface="Arial"/>
                <a:cs typeface="Arial"/>
              </a:rPr>
              <a:t> </a:t>
            </a:r>
            <a:r>
              <a:rPr sz="900" dirty="0">
                <a:latin typeface="Arial"/>
                <a:cs typeface="Arial"/>
              </a:rPr>
              <a:t>is</a:t>
            </a:r>
            <a:r>
              <a:rPr sz="900" spc="-25" dirty="0">
                <a:latin typeface="Arial"/>
                <a:cs typeface="Arial"/>
              </a:rPr>
              <a:t> </a:t>
            </a:r>
            <a:r>
              <a:rPr sz="900" dirty="0">
                <a:latin typeface="Arial"/>
                <a:cs typeface="Arial"/>
              </a:rPr>
              <a:t>notably</a:t>
            </a:r>
            <a:r>
              <a:rPr sz="900" spc="-30" dirty="0">
                <a:latin typeface="Arial"/>
                <a:cs typeface="Arial"/>
              </a:rPr>
              <a:t> </a:t>
            </a:r>
            <a:r>
              <a:rPr sz="900" spc="-10" dirty="0">
                <a:latin typeface="Arial"/>
                <a:cs typeface="Arial"/>
              </a:rPr>
              <a:t>relevant</a:t>
            </a:r>
            <a:r>
              <a:rPr sz="900" spc="-30" dirty="0">
                <a:latin typeface="Arial"/>
                <a:cs typeface="Arial"/>
              </a:rPr>
              <a:t> </a:t>
            </a:r>
            <a:r>
              <a:rPr sz="900" dirty="0">
                <a:latin typeface="Arial"/>
                <a:cs typeface="Arial"/>
              </a:rPr>
              <a:t>for</a:t>
            </a:r>
            <a:r>
              <a:rPr sz="900" spc="-25" dirty="0">
                <a:latin typeface="Arial"/>
                <a:cs typeface="Arial"/>
              </a:rPr>
              <a:t> </a:t>
            </a:r>
            <a:r>
              <a:rPr sz="900" dirty="0">
                <a:latin typeface="Arial"/>
                <a:cs typeface="Arial"/>
              </a:rPr>
              <a:t>mobile</a:t>
            </a:r>
            <a:r>
              <a:rPr sz="900" spc="-30" dirty="0">
                <a:latin typeface="Arial"/>
                <a:cs typeface="Arial"/>
              </a:rPr>
              <a:t> </a:t>
            </a:r>
            <a:r>
              <a:rPr sz="900" spc="-10" dirty="0">
                <a:latin typeface="Arial"/>
                <a:cs typeface="Arial"/>
              </a:rPr>
              <a:t>applications.</a:t>
            </a:r>
            <a:endParaRPr sz="900">
              <a:latin typeface="Arial"/>
              <a:cs typeface="Arial"/>
            </a:endParaRPr>
          </a:p>
          <a:p>
            <a:pPr marL="290830" marR="30480" indent="-120650">
              <a:lnSpc>
                <a:spcPct val="111600"/>
              </a:lnSpc>
              <a:spcBef>
                <a:spcPts val="300"/>
              </a:spcBef>
              <a:buClr>
                <a:srgbClr val="3333B2"/>
              </a:buClr>
              <a:buFont typeface="Apple Symbols"/>
              <a:buChar char="•"/>
              <a:tabLst>
                <a:tab pos="291465" algn="l"/>
              </a:tabLst>
            </a:pPr>
            <a:r>
              <a:rPr sz="900" dirty="0">
                <a:solidFill>
                  <a:srgbClr val="C80000"/>
                </a:solidFill>
                <a:latin typeface="Arial"/>
                <a:cs typeface="Arial"/>
              </a:rPr>
              <a:t>Edge</a:t>
            </a:r>
            <a:r>
              <a:rPr sz="900" spc="-35" dirty="0">
                <a:solidFill>
                  <a:srgbClr val="C80000"/>
                </a:solidFill>
                <a:latin typeface="Arial"/>
                <a:cs typeface="Arial"/>
              </a:rPr>
              <a:t> </a:t>
            </a:r>
            <a:r>
              <a:rPr sz="900" dirty="0">
                <a:solidFill>
                  <a:srgbClr val="C80000"/>
                </a:solidFill>
                <a:latin typeface="Arial"/>
                <a:cs typeface="Arial"/>
              </a:rPr>
              <a:t>selection</a:t>
            </a:r>
            <a:r>
              <a:rPr sz="900" dirty="0">
                <a:latin typeface="Arial"/>
                <a:cs typeface="Arial"/>
              </a:rPr>
              <a:t>:</a:t>
            </a:r>
            <a:r>
              <a:rPr sz="900" spc="25" dirty="0">
                <a:latin typeface="Arial"/>
                <a:cs typeface="Arial"/>
              </a:rPr>
              <a:t> </a:t>
            </a:r>
            <a:r>
              <a:rPr sz="900" dirty="0">
                <a:latin typeface="Arial"/>
                <a:cs typeface="Arial"/>
              </a:rPr>
              <a:t>we</a:t>
            </a:r>
            <a:r>
              <a:rPr sz="900" spc="-30" dirty="0">
                <a:latin typeface="Arial"/>
                <a:cs typeface="Arial"/>
              </a:rPr>
              <a:t> </a:t>
            </a:r>
            <a:r>
              <a:rPr sz="900" dirty="0">
                <a:latin typeface="Arial"/>
                <a:cs typeface="Arial"/>
              </a:rPr>
              <a:t>need</a:t>
            </a:r>
            <a:r>
              <a:rPr sz="900" spc="-30"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decide</a:t>
            </a:r>
            <a:r>
              <a:rPr sz="900" spc="-30" dirty="0">
                <a:latin typeface="Arial"/>
                <a:cs typeface="Arial"/>
              </a:rPr>
              <a:t> </a:t>
            </a:r>
            <a:r>
              <a:rPr sz="900" dirty="0">
                <a:latin typeface="Arial"/>
                <a:cs typeface="Arial"/>
              </a:rPr>
              <a:t>which</a:t>
            </a:r>
            <a:r>
              <a:rPr sz="900" spc="-30" dirty="0">
                <a:latin typeface="Arial"/>
                <a:cs typeface="Arial"/>
              </a:rPr>
              <a:t> </a:t>
            </a:r>
            <a:r>
              <a:rPr sz="900" dirty="0">
                <a:latin typeface="Arial"/>
                <a:cs typeface="Arial"/>
              </a:rPr>
              <a:t>edge</a:t>
            </a:r>
            <a:r>
              <a:rPr sz="900" spc="-30" dirty="0">
                <a:latin typeface="Arial"/>
                <a:cs typeface="Arial"/>
              </a:rPr>
              <a:t> </a:t>
            </a:r>
            <a:r>
              <a:rPr sz="900" dirty="0">
                <a:latin typeface="Arial"/>
                <a:cs typeface="Arial"/>
              </a:rPr>
              <a:t>infrastructure</a:t>
            </a:r>
            <a:r>
              <a:rPr sz="900" spc="-30" dirty="0">
                <a:latin typeface="Arial"/>
                <a:cs typeface="Arial"/>
              </a:rPr>
              <a:t> </a:t>
            </a:r>
            <a:r>
              <a:rPr sz="900" dirty="0">
                <a:latin typeface="Arial"/>
                <a:cs typeface="Arial"/>
              </a:rPr>
              <a:t>should</a:t>
            </a:r>
            <a:r>
              <a:rPr sz="900" spc="-30" dirty="0">
                <a:latin typeface="Arial"/>
                <a:cs typeface="Arial"/>
              </a:rPr>
              <a:t> </a:t>
            </a:r>
            <a:r>
              <a:rPr sz="900" spc="-25" dirty="0">
                <a:latin typeface="Arial"/>
                <a:cs typeface="Arial"/>
              </a:rPr>
              <a:t>be </a:t>
            </a:r>
            <a:r>
              <a:rPr sz="900" spc="-10" dirty="0">
                <a:latin typeface="Arial"/>
                <a:cs typeface="Arial"/>
              </a:rPr>
              <a:t>used</a:t>
            </a:r>
            <a:r>
              <a:rPr sz="900" spc="-35" dirty="0">
                <a:latin typeface="Arial"/>
                <a:cs typeface="Arial"/>
              </a:rPr>
              <a:t> </a:t>
            </a:r>
            <a:r>
              <a:rPr sz="900" spc="-10" dirty="0">
                <a:latin typeface="Arial"/>
                <a:cs typeface="Arial"/>
              </a:rPr>
              <a:t>when</a:t>
            </a:r>
            <a:r>
              <a:rPr sz="900" spc="-30" dirty="0">
                <a:latin typeface="Arial"/>
                <a:cs typeface="Arial"/>
              </a:rPr>
              <a:t> </a:t>
            </a:r>
            <a:r>
              <a:rPr sz="900" dirty="0">
                <a:latin typeface="Arial"/>
                <a:cs typeface="Arial"/>
              </a:rPr>
              <a:t>a</a:t>
            </a:r>
            <a:r>
              <a:rPr sz="900" spc="-30" dirty="0">
                <a:latin typeface="Arial"/>
                <a:cs typeface="Arial"/>
              </a:rPr>
              <a:t> </a:t>
            </a:r>
            <a:r>
              <a:rPr sz="900" spc="-10" dirty="0">
                <a:latin typeface="Arial"/>
                <a:cs typeface="Arial"/>
              </a:rPr>
              <a:t>service</a:t>
            </a:r>
            <a:r>
              <a:rPr sz="900" spc="-30" dirty="0">
                <a:latin typeface="Arial"/>
                <a:cs typeface="Arial"/>
              </a:rPr>
              <a:t> </a:t>
            </a:r>
            <a:r>
              <a:rPr sz="900" spc="-10" dirty="0">
                <a:latin typeface="Arial"/>
                <a:cs typeface="Arial"/>
              </a:rPr>
              <a:t>needs</a:t>
            </a:r>
            <a:r>
              <a:rPr sz="900" spc="-30"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be</a:t>
            </a:r>
            <a:r>
              <a:rPr sz="900" spc="-30" dirty="0">
                <a:latin typeface="Arial"/>
                <a:cs typeface="Arial"/>
              </a:rPr>
              <a:t> </a:t>
            </a:r>
            <a:r>
              <a:rPr sz="900" spc="-10" dirty="0">
                <a:latin typeface="Arial"/>
                <a:cs typeface="Arial"/>
              </a:rPr>
              <a:t>offered.</a:t>
            </a:r>
            <a:r>
              <a:rPr sz="900" spc="25" dirty="0">
                <a:latin typeface="Arial"/>
                <a:cs typeface="Arial"/>
              </a:rPr>
              <a:t> </a:t>
            </a:r>
            <a:r>
              <a:rPr sz="900" dirty="0">
                <a:latin typeface="Arial"/>
                <a:cs typeface="Arial"/>
              </a:rPr>
              <a:t>The</a:t>
            </a:r>
            <a:r>
              <a:rPr sz="900" spc="-30" dirty="0">
                <a:latin typeface="Arial"/>
                <a:cs typeface="Arial"/>
              </a:rPr>
              <a:t> </a:t>
            </a:r>
            <a:r>
              <a:rPr sz="900" spc="-10" dirty="0">
                <a:latin typeface="Arial"/>
                <a:cs typeface="Arial"/>
              </a:rPr>
              <a:t>closest</a:t>
            </a:r>
            <a:r>
              <a:rPr sz="900" spc="-30" dirty="0">
                <a:latin typeface="Arial"/>
                <a:cs typeface="Arial"/>
              </a:rPr>
              <a:t> </a:t>
            </a:r>
            <a:r>
              <a:rPr sz="900" dirty="0">
                <a:latin typeface="Arial"/>
                <a:cs typeface="Arial"/>
              </a:rPr>
              <a:t>one</a:t>
            </a:r>
            <a:r>
              <a:rPr sz="900" spc="-30" dirty="0">
                <a:latin typeface="Arial"/>
                <a:cs typeface="Arial"/>
              </a:rPr>
              <a:t> </a:t>
            </a:r>
            <a:r>
              <a:rPr sz="900" spc="-20" dirty="0">
                <a:latin typeface="Arial"/>
                <a:cs typeface="Arial"/>
              </a:rPr>
              <a:t>may</a:t>
            </a:r>
            <a:r>
              <a:rPr sz="900" spc="-30" dirty="0">
                <a:latin typeface="Arial"/>
                <a:cs typeface="Arial"/>
              </a:rPr>
              <a:t> </a:t>
            </a:r>
            <a:r>
              <a:rPr sz="900" dirty="0">
                <a:latin typeface="Arial"/>
                <a:cs typeface="Arial"/>
              </a:rPr>
              <a:t>not</a:t>
            </a:r>
            <a:r>
              <a:rPr sz="900" spc="-35" dirty="0">
                <a:latin typeface="Arial"/>
                <a:cs typeface="Arial"/>
              </a:rPr>
              <a:t> </a:t>
            </a:r>
            <a:r>
              <a:rPr sz="900" dirty="0">
                <a:latin typeface="Arial"/>
                <a:cs typeface="Arial"/>
              </a:rPr>
              <a:t>be</a:t>
            </a:r>
            <a:r>
              <a:rPr sz="900" spc="-30" dirty="0">
                <a:latin typeface="Arial"/>
                <a:cs typeface="Arial"/>
              </a:rPr>
              <a:t> </a:t>
            </a:r>
            <a:r>
              <a:rPr sz="900" spc="-25" dirty="0">
                <a:latin typeface="Arial"/>
                <a:cs typeface="Arial"/>
              </a:rPr>
              <a:t>the </a:t>
            </a:r>
            <a:r>
              <a:rPr sz="900" dirty="0">
                <a:latin typeface="Arial"/>
                <a:cs typeface="Arial"/>
              </a:rPr>
              <a:t>best</a:t>
            </a:r>
            <a:r>
              <a:rPr sz="900" spc="-25" dirty="0">
                <a:latin typeface="Arial"/>
                <a:cs typeface="Arial"/>
              </a:rPr>
              <a:t> </a:t>
            </a:r>
            <a:r>
              <a:rPr sz="900" spc="-20" dirty="0">
                <a:latin typeface="Arial"/>
                <a:cs typeface="Arial"/>
              </a:rPr>
              <a:t>one.</a:t>
            </a:r>
            <a:endParaRPr sz="900">
              <a:latin typeface="Arial"/>
              <a:cs typeface="Arial"/>
            </a:endParaRPr>
          </a:p>
          <a:p>
            <a:pPr>
              <a:lnSpc>
                <a:spcPct val="100000"/>
              </a:lnSpc>
              <a:spcBef>
                <a:spcPts val="20"/>
              </a:spcBef>
            </a:pPr>
            <a:endParaRPr sz="1050">
              <a:latin typeface="Arial"/>
              <a:cs typeface="Arial"/>
            </a:endParaRPr>
          </a:p>
          <a:p>
            <a:pPr marL="38100">
              <a:lnSpc>
                <a:spcPct val="100000"/>
              </a:lnSpc>
            </a:pPr>
            <a:r>
              <a:rPr sz="1000" spc="-10" dirty="0">
                <a:solidFill>
                  <a:srgbClr val="C80000"/>
                </a:solidFill>
                <a:latin typeface="Arial"/>
                <a:cs typeface="Arial"/>
              </a:rPr>
              <a:t>Observation</a:t>
            </a:r>
            <a:endParaRPr sz="1000">
              <a:latin typeface="Arial"/>
              <a:cs typeface="Arial"/>
            </a:endParaRPr>
          </a:p>
          <a:p>
            <a:pPr marL="33655" marR="324485">
              <a:lnSpc>
                <a:spcPts val="1210"/>
              </a:lnSpc>
              <a:spcBef>
                <a:spcPts val="35"/>
              </a:spcBef>
            </a:pPr>
            <a:r>
              <a:rPr sz="900" dirty="0">
                <a:latin typeface="Arial"/>
                <a:cs typeface="Arial"/>
              </a:rPr>
              <a:t>There</a:t>
            </a:r>
            <a:r>
              <a:rPr sz="900" spc="-30" dirty="0">
                <a:latin typeface="Arial"/>
                <a:cs typeface="Arial"/>
              </a:rPr>
              <a:t> </a:t>
            </a:r>
            <a:r>
              <a:rPr sz="900" dirty="0">
                <a:latin typeface="Arial"/>
                <a:cs typeface="Arial"/>
              </a:rPr>
              <a:t>is</a:t>
            </a:r>
            <a:r>
              <a:rPr sz="900" spc="-25" dirty="0">
                <a:latin typeface="Arial"/>
                <a:cs typeface="Arial"/>
              </a:rPr>
              <a:t> </a:t>
            </a:r>
            <a:r>
              <a:rPr sz="900" dirty="0">
                <a:latin typeface="Arial"/>
                <a:cs typeface="Arial"/>
              </a:rPr>
              <a:t>still</a:t>
            </a:r>
            <a:r>
              <a:rPr sz="900" spc="-30"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lot</a:t>
            </a:r>
            <a:r>
              <a:rPr sz="900" spc="-25" dirty="0">
                <a:latin typeface="Arial"/>
                <a:cs typeface="Arial"/>
              </a:rPr>
              <a:t> </a:t>
            </a:r>
            <a:r>
              <a:rPr sz="900" dirty="0">
                <a:latin typeface="Arial"/>
                <a:cs typeface="Arial"/>
              </a:rPr>
              <a:t>of</a:t>
            </a:r>
            <a:r>
              <a:rPr sz="900" spc="-30" dirty="0">
                <a:latin typeface="Arial"/>
                <a:cs typeface="Arial"/>
              </a:rPr>
              <a:t> </a:t>
            </a:r>
            <a:r>
              <a:rPr sz="900" dirty="0">
                <a:latin typeface="Arial"/>
                <a:cs typeface="Arial"/>
              </a:rPr>
              <a:t>buzz</a:t>
            </a:r>
            <a:r>
              <a:rPr sz="900" spc="-25" dirty="0">
                <a:latin typeface="Arial"/>
                <a:cs typeface="Arial"/>
              </a:rPr>
              <a:t> </a:t>
            </a:r>
            <a:r>
              <a:rPr sz="900" dirty="0">
                <a:latin typeface="Arial"/>
                <a:cs typeface="Arial"/>
              </a:rPr>
              <a:t>about</a:t>
            </a:r>
            <a:r>
              <a:rPr sz="900" spc="-30" dirty="0">
                <a:latin typeface="Arial"/>
                <a:cs typeface="Arial"/>
              </a:rPr>
              <a:t> </a:t>
            </a:r>
            <a:r>
              <a:rPr sz="900" dirty="0">
                <a:latin typeface="Arial"/>
                <a:cs typeface="Arial"/>
              </a:rPr>
              <a:t>edge</a:t>
            </a:r>
            <a:r>
              <a:rPr sz="900" spc="-25" dirty="0">
                <a:latin typeface="Arial"/>
                <a:cs typeface="Arial"/>
              </a:rPr>
              <a:t> </a:t>
            </a:r>
            <a:r>
              <a:rPr sz="900" dirty="0">
                <a:latin typeface="Arial"/>
                <a:cs typeface="Arial"/>
              </a:rPr>
              <a:t>infrastructures</a:t>
            </a:r>
            <a:r>
              <a:rPr sz="900" spc="-25" dirty="0">
                <a:latin typeface="Arial"/>
                <a:cs typeface="Arial"/>
              </a:rPr>
              <a:t> </a:t>
            </a:r>
            <a:r>
              <a:rPr sz="900" dirty="0">
                <a:latin typeface="Arial"/>
                <a:cs typeface="Arial"/>
              </a:rPr>
              <a:t>and</a:t>
            </a:r>
            <a:r>
              <a:rPr sz="900" spc="-30" dirty="0">
                <a:latin typeface="Arial"/>
                <a:cs typeface="Arial"/>
              </a:rPr>
              <a:t> </a:t>
            </a:r>
            <a:r>
              <a:rPr sz="900" dirty="0">
                <a:latin typeface="Arial"/>
                <a:cs typeface="Arial"/>
              </a:rPr>
              <a:t>computing,</a:t>
            </a:r>
            <a:r>
              <a:rPr sz="900" spc="-25" dirty="0">
                <a:latin typeface="Arial"/>
                <a:cs typeface="Arial"/>
              </a:rPr>
              <a:t> yet </a:t>
            </a:r>
            <a:r>
              <a:rPr sz="900" dirty="0">
                <a:latin typeface="Arial"/>
                <a:cs typeface="Arial"/>
              </a:rPr>
              <a:t>whether</a:t>
            </a:r>
            <a:r>
              <a:rPr sz="900" spc="-30" dirty="0">
                <a:latin typeface="Arial"/>
                <a:cs typeface="Arial"/>
              </a:rPr>
              <a:t> </a:t>
            </a:r>
            <a:r>
              <a:rPr sz="900" dirty="0">
                <a:latin typeface="Arial"/>
                <a:cs typeface="Arial"/>
              </a:rPr>
              <a:t>all</a:t>
            </a:r>
            <a:r>
              <a:rPr sz="900" spc="-30" dirty="0">
                <a:latin typeface="Arial"/>
                <a:cs typeface="Arial"/>
              </a:rPr>
              <a:t> </a:t>
            </a:r>
            <a:r>
              <a:rPr sz="900" dirty="0">
                <a:latin typeface="Arial"/>
                <a:cs typeface="Arial"/>
              </a:rPr>
              <a:t>that</a:t>
            </a:r>
            <a:r>
              <a:rPr sz="900" spc="-30" dirty="0">
                <a:latin typeface="Arial"/>
                <a:cs typeface="Arial"/>
              </a:rPr>
              <a:t> </a:t>
            </a:r>
            <a:r>
              <a:rPr sz="900" dirty="0">
                <a:latin typeface="Arial"/>
                <a:cs typeface="Arial"/>
              </a:rPr>
              <a:t>buzz</a:t>
            </a:r>
            <a:r>
              <a:rPr sz="900" spc="-30" dirty="0">
                <a:latin typeface="Arial"/>
                <a:cs typeface="Arial"/>
              </a:rPr>
              <a:t> </a:t>
            </a:r>
            <a:r>
              <a:rPr sz="900" dirty="0">
                <a:latin typeface="Arial"/>
                <a:cs typeface="Arial"/>
              </a:rPr>
              <a:t>makes</a:t>
            </a:r>
            <a:r>
              <a:rPr sz="900" spc="-30" dirty="0">
                <a:latin typeface="Arial"/>
                <a:cs typeface="Arial"/>
              </a:rPr>
              <a:t> </a:t>
            </a:r>
            <a:r>
              <a:rPr sz="900" dirty="0">
                <a:latin typeface="Arial"/>
                <a:cs typeface="Arial"/>
              </a:rPr>
              <a:t>any</a:t>
            </a:r>
            <a:r>
              <a:rPr sz="900" spc="-30" dirty="0">
                <a:latin typeface="Arial"/>
                <a:cs typeface="Arial"/>
              </a:rPr>
              <a:t> </a:t>
            </a:r>
            <a:r>
              <a:rPr sz="900" dirty="0">
                <a:latin typeface="Arial"/>
                <a:cs typeface="Arial"/>
              </a:rPr>
              <a:t>sense</a:t>
            </a:r>
            <a:r>
              <a:rPr sz="900" spc="-30" dirty="0">
                <a:latin typeface="Arial"/>
                <a:cs typeface="Arial"/>
              </a:rPr>
              <a:t> </a:t>
            </a:r>
            <a:r>
              <a:rPr sz="900" dirty="0">
                <a:latin typeface="Arial"/>
                <a:cs typeface="Arial"/>
              </a:rPr>
              <a:t>remains</a:t>
            </a:r>
            <a:r>
              <a:rPr sz="900" spc="-30"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be</a:t>
            </a:r>
            <a:r>
              <a:rPr sz="900" spc="-25" dirty="0">
                <a:latin typeface="Arial"/>
                <a:cs typeface="Arial"/>
              </a:rPr>
              <a:t> </a:t>
            </a:r>
            <a:r>
              <a:rPr sz="900" spc="-10" dirty="0">
                <a:latin typeface="Arial"/>
                <a:cs typeface="Arial"/>
              </a:rPr>
              <a:t>seen.</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8" name="object 8"/>
          <p:cNvSpPr txBox="1"/>
          <p:nvPr/>
        </p:nvSpPr>
        <p:spPr>
          <a:xfrm>
            <a:off x="53467" y="3349927"/>
            <a:ext cx="81343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4" action="ppaction://hlinksldjump"/>
              </a:rPr>
              <a:t>The </a:t>
            </a:r>
            <a:r>
              <a:rPr sz="500" spc="-10" dirty="0">
                <a:latin typeface="Arial"/>
                <a:cs typeface="Arial"/>
                <a:hlinkClick r:id="rId4" action="ppaction://hlinksldjump"/>
              </a:rPr>
              <a:t>edge-</a:t>
            </a:r>
            <a:r>
              <a:rPr sz="500" dirty="0">
                <a:latin typeface="Arial"/>
                <a:cs typeface="Arial"/>
                <a:hlinkClick r:id="rId4" action="ppaction://hlinksldjump"/>
              </a:rPr>
              <a:t>cloud</a:t>
            </a:r>
            <a:r>
              <a:rPr sz="500" spc="5" dirty="0">
                <a:latin typeface="Arial"/>
                <a:cs typeface="Arial"/>
                <a:hlinkClick r:id="rId4" action="ppaction://hlinksldjump"/>
              </a:rPr>
              <a:t> </a:t>
            </a:r>
            <a:r>
              <a:rPr sz="500" spc="-10" dirty="0">
                <a:latin typeface="Arial"/>
                <a:cs typeface="Arial"/>
                <a:hlinkClick r:id="rId4" action="ppaction://hlinksldjump"/>
              </a:rPr>
              <a:t>architecture</a:t>
            </a:r>
            <a:endParaRPr sz="500">
              <a:latin typeface="Arial"/>
              <a:cs typeface="Arial"/>
            </a:endParaRPr>
          </a:p>
        </p:txBody>
      </p:sp>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Architectures</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47782" y="-1515"/>
            <a:ext cx="80708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Hybrid</a:t>
            </a:r>
            <a:r>
              <a:rPr sz="500" spc="-2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system</a:t>
            </a:r>
            <a:r>
              <a:rPr sz="500" spc="-2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architectures</a:t>
            </a:r>
            <a:endParaRPr sz="500">
              <a:latin typeface="Arial"/>
              <a:cs typeface="Arial"/>
            </a:endParaRPr>
          </a:p>
        </p:txBody>
      </p:sp>
      <p:sp>
        <p:nvSpPr>
          <p:cNvPr id="5" name="object 5"/>
          <p:cNvSpPr txBox="1"/>
          <p:nvPr/>
        </p:nvSpPr>
        <p:spPr>
          <a:xfrm>
            <a:off x="95300" y="197711"/>
            <a:ext cx="2546350" cy="469265"/>
          </a:xfrm>
          <a:prstGeom prst="rect">
            <a:avLst/>
          </a:prstGeom>
        </p:spPr>
        <p:txBody>
          <a:bodyPr vert="horz" wrap="square" lIns="0" tIns="12065" rIns="0" bIns="0" rtlCol="0">
            <a:spAutoFit/>
          </a:bodyPr>
          <a:lstStyle/>
          <a:p>
            <a:pPr marL="12700">
              <a:lnSpc>
                <a:spcPct val="100000"/>
              </a:lnSpc>
              <a:spcBef>
                <a:spcPts val="95"/>
              </a:spcBef>
            </a:pPr>
            <a:r>
              <a:rPr sz="1200" spc="-10" dirty="0">
                <a:solidFill>
                  <a:srgbClr val="3333B2"/>
                </a:solidFill>
                <a:latin typeface="Arial"/>
                <a:cs typeface="Arial"/>
              </a:rPr>
              <a:t>Blockchains</a:t>
            </a:r>
            <a:endParaRPr sz="1200">
              <a:latin typeface="Arial"/>
              <a:cs typeface="Arial"/>
            </a:endParaRPr>
          </a:p>
          <a:p>
            <a:pPr marL="264160">
              <a:lnSpc>
                <a:spcPct val="100000"/>
              </a:lnSpc>
              <a:spcBef>
                <a:spcPts val="855"/>
              </a:spcBef>
            </a:pPr>
            <a:r>
              <a:rPr sz="1000" dirty="0">
                <a:solidFill>
                  <a:srgbClr val="3333B2"/>
                </a:solidFill>
                <a:latin typeface="Arial"/>
                <a:cs typeface="Arial"/>
              </a:rPr>
              <a:t>Principle</a:t>
            </a:r>
            <a:r>
              <a:rPr sz="1000" spc="-20" dirty="0">
                <a:solidFill>
                  <a:srgbClr val="3333B2"/>
                </a:solidFill>
                <a:latin typeface="Arial"/>
                <a:cs typeface="Arial"/>
              </a:rPr>
              <a:t> </a:t>
            </a:r>
            <a:r>
              <a:rPr sz="1000" dirty="0">
                <a:solidFill>
                  <a:srgbClr val="3333B2"/>
                </a:solidFill>
                <a:latin typeface="Arial"/>
                <a:cs typeface="Arial"/>
              </a:rPr>
              <a:t>working</a:t>
            </a:r>
            <a:r>
              <a:rPr sz="1000" spc="-20" dirty="0">
                <a:solidFill>
                  <a:srgbClr val="3333B2"/>
                </a:solidFill>
                <a:latin typeface="Arial"/>
                <a:cs typeface="Arial"/>
              </a:rPr>
              <a:t> </a:t>
            </a:r>
            <a:r>
              <a:rPr sz="1000" dirty="0">
                <a:solidFill>
                  <a:srgbClr val="3333B2"/>
                </a:solidFill>
                <a:latin typeface="Arial"/>
                <a:cs typeface="Arial"/>
              </a:rPr>
              <a:t>of</a:t>
            </a:r>
            <a:r>
              <a:rPr sz="1000" spc="-15" dirty="0">
                <a:solidFill>
                  <a:srgbClr val="3333B2"/>
                </a:solidFill>
                <a:latin typeface="Arial"/>
                <a:cs typeface="Arial"/>
              </a:rPr>
              <a:t> </a:t>
            </a:r>
            <a:r>
              <a:rPr sz="1000" dirty="0">
                <a:solidFill>
                  <a:srgbClr val="3333B2"/>
                </a:solidFill>
                <a:latin typeface="Arial"/>
                <a:cs typeface="Arial"/>
              </a:rPr>
              <a:t>a</a:t>
            </a:r>
            <a:r>
              <a:rPr sz="1000" spc="-20" dirty="0">
                <a:solidFill>
                  <a:srgbClr val="3333B2"/>
                </a:solidFill>
                <a:latin typeface="Arial"/>
                <a:cs typeface="Arial"/>
              </a:rPr>
              <a:t> </a:t>
            </a:r>
            <a:r>
              <a:rPr sz="1000" spc="-10" dirty="0">
                <a:solidFill>
                  <a:srgbClr val="3333B2"/>
                </a:solidFill>
                <a:latin typeface="Arial"/>
                <a:cs typeface="Arial"/>
              </a:rPr>
              <a:t>blockchain</a:t>
            </a:r>
            <a:r>
              <a:rPr sz="1000" spc="-15" dirty="0">
                <a:solidFill>
                  <a:srgbClr val="3333B2"/>
                </a:solidFill>
                <a:latin typeface="Arial"/>
                <a:cs typeface="Arial"/>
              </a:rPr>
              <a:t> </a:t>
            </a:r>
            <a:r>
              <a:rPr sz="1000" spc="-10" dirty="0">
                <a:solidFill>
                  <a:srgbClr val="3333B2"/>
                </a:solidFill>
                <a:latin typeface="Arial"/>
                <a:cs typeface="Arial"/>
              </a:rPr>
              <a:t>system</a:t>
            </a:r>
            <a:endParaRPr sz="1000">
              <a:latin typeface="Arial"/>
              <a:cs typeface="Arial"/>
            </a:endParaRPr>
          </a:p>
        </p:txBody>
      </p:sp>
      <p:pic>
        <p:nvPicPr>
          <p:cNvPr id="6" name="object 6"/>
          <p:cNvPicPr/>
          <p:nvPr/>
        </p:nvPicPr>
        <p:blipFill>
          <a:blip r:embed="rId4" cstate="print"/>
          <a:stretch>
            <a:fillRect/>
          </a:stretch>
        </p:blipFill>
        <p:spPr>
          <a:xfrm>
            <a:off x="1015872" y="678636"/>
            <a:ext cx="2543330" cy="1749092"/>
          </a:xfrm>
          <a:prstGeom prst="rect">
            <a:avLst/>
          </a:prstGeom>
        </p:spPr>
      </p:pic>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70993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5" action="ppaction://hlinksldjump"/>
              </a:rPr>
              <a:t>Blockchain</a:t>
            </a:r>
            <a:r>
              <a:rPr sz="500" spc="60" dirty="0">
                <a:latin typeface="Arial"/>
                <a:cs typeface="Arial"/>
                <a:hlinkClick r:id="rId5" action="ppaction://hlinksldjump"/>
              </a:rPr>
              <a:t> </a:t>
            </a:r>
            <a:r>
              <a:rPr sz="500" spc="-10" dirty="0">
                <a:latin typeface="Arial"/>
                <a:cs typeface="Arial"/>
                <a:hlinkClick r:id="rId5" action="ppaction://hlinksldjump"/>
              </a:rPr>
              <a:t>architectures</a:t>
            </a:r>
            <a:endParaRPr sz="500">
              <a:latin typeface="Arial"/>
              <a:cs typeface="Arial"/>
            </a:endParaRPr>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Architectures</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47782" y="-1515"/>
            <a:ext cx="80708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Hybrid</a:t>
            </a:r>
            <a:r>
              <a:rPr sz="500" spc="-2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system</a:t>
            </a:r>
            <a:r>
              <a:rPr sz="500" spc="-2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architectures</a:t>
            </a:r>
            <a:endParaRPr sz="500">
              <a:latin typeface="Arial"/>
              <a:cs typeface="Arial"/>
            </a:endParaRPr>
          </a:p>
        </p:txBody>
      </p:sp>
      <p:sp>
        <p:nvSpPr>
          <p:cNvPr id="5" name="object 5"/>
          <p:cNvSpPr txBox="1"/>
          <p:nvPr/>
        </p:nvSpPr>
        <p:spPr>
          <a:xfrm>
            <a:off x="95300" y="197711"/>
            <a:ext cx="2546350" cy="469265"/>
          </a:xfrm>
          <a:prstGeom prst="rect">
            <a:avLst/>
          </a:prstGeom>
        </p:spPr>
        <p:txBody>
          <a:bodyPr vert="horz" wrap="square" lIns="0" tIns="12065" rIns="0" bIns="0" rtlCol="0">
            <a:spAutoFit/>
          </a:bodyPr>
          <a:lstStyle/>
          <a:p>
            <a:pPr marL="12700">
              <a:lnSpc>
                <a:spcPct val="100000"/>
              </a:lnSpc>
              <a:spcBef>
                <a:spcPts val="95"/>
              </a:spcBef>
            </a:pPr>
            <a:r>
              <a:rPr sz="1200" spc="-10" dirty="0">
                <a:solidFill>
                  <a:srgbClr val="3333B2"/>
                </a:solidFill>
                <a:latin typeface="Arial"/>
                <a:cs typeface="Arial"/>
              </a:rPr>
              <a:t>Blockchains</a:t>
            </a:r>
            <a:endParaRPr sz="1200">
              <a:latin typeface="Arial"/>
              <a:cs typeface="Arial"/>
            </a:endParaRPr>
          </a:p>
          <a:p>
            <a:pPr marL="264160">
              <a:lnSpc>
                <a:spcPct val="100000"/>
              </a:lnSpc>
              <a:spcBef>
                <a:spcPts val="855"/>
              </a:spcBef>
            </a:pPr>
            <a:r>
              <a:rPr sz="1000" dirty="0">
                <a:solidFill>
                  <a:srgbClr val="3333B2"/>
                </a:solidFill>
                <a:latin typeface="Arial"/>
                <a:cs typeface="Arial"/>
              </a:rPr>
              <a:t>Principle</a:t>
            </a:r>
            <a:r>
              <a:rPr sz="1000" spc="-20" dirty="0">
                <a:solidFill>
                  <a:srgbClr val="3333B2"/>
                </a:solidFill>
                <a:latin typeface="Arial"/>
                <a:cs typeface="Arial"/>
              </a:rPr>
              <a:t> </a:t>
            </a:r>
            <a:r>
              <a:rPr sz="1000" dirty="0">
                <a:solidFill>
                  <a:srgbClr val="3333B2"/>
                </a:solidFill>
                <a:latin typeface="Arial"/>
                <a:cs typeface="Arial"/>
              </a:rPr>
              <a:t>working</a:t>
            </a:r>
            <a:r>
              <a:rPr sz="1000" spc="-20" dirty="0">
                <a:solidFill>
                  <a:srgbClr val="3333B2"/>
                </a:solidFill>
                <a:latin typeface="Arial"/>
                <a:cs typeface="Arial"/>
              </a:rPr>
              <a:t> </a:t>
            </a:r>
            <a:r>
              <a:rPr sz="1000" dirty="0">
                <a:solidFill>
                  <a:srgbClr val="3333B2"/>
                </a:solidFill>
                <a:latin typeface="Arial"/>
                <a:cs typeface="Arial"/>
              </a:rPr>
              <a:t>of</a:t>
            </a:r>
            <a:r>
              <a:rPr sz="1000" spc="-15" dirty="0">
                <a:solidFill>
                  <a:srgbClr val="3333B2"/>
                </a:solidFill>
                <a:latin typeface="Arial"/>
                <a:cs typeface="Arial"/>
              </a:rPr>
              <a:t> </a:t>
            </a:r>
            <a:r>
              <a:rPr sz="1000" dirty="0">
                <a:solidFill>
                  <a:srgbClr val="3333B2"/>
                </a:solidFill>
                <a:latin typeface="Arial"/>
                <a:cs typeface="Arial"/>
              </a:rPr>
              <a:t>a</a:t>
            </a:r>
            <a:r>
              <a:rPr sz="1000" spc="-20" dirty="0">
                <a:solidFill>
                  <a:srgbClr val="3333B2"/>
                </a:solidFill>
                <a:latin typeface="Arial"/>
                <a:cs typeface="Arial"/>
              </a:rPr>
              <a:t> </a:t>
            </a:r>
            <a:r>
              <a:rPr sz="1000" spc="-10" dirty="0">
                <a:solidFill>
                  <a:srgbClr val="3333B2"/>
                </a:solidFill>
                <a:latin typeface="Arial"/>
                <a:cs typeface="Arial"/>
              </a:rPr>
              <a:t>blockchain</a:t>
            </a:r>
            <a:r>
              <a:rPr sz="1000" spc="-15" dirty="0">
                <a:solidFill>
                  <a:srgbClr val="3333B2"/>
                </a:solidFill>
                <a:latin typeface="Arial"/>
                <a:cs typeface="Arial"/>
              </a:rPr>
              <a:t> </a:t>
            </a:r>
            <a:r>
              <a:rPr sz="1000" spc="-10" dirty="0">
                <a:solidFill>
                  <a:srgbClr val="3333B2"/>
                </a:solidFill>
                <a:latin typeface="Arial"/>
                <a:cs typeface="Arial"/>
              </a:rPr>
              <a:t>system</a:t>
            </a:r>
            <a:endParaRPr sz="1000">
              <a:latin typeface="Arial"/>
              <a:cs typeface="Arial"/>
            </a:endParaRPr>
          </a:p>
        </p:txBody>
      </p:sp>
      <p:pic>
        <p:nvPicPr>
          <p:cNvPr id="6" name="object 6"/>
          <p:cNvPicPr/>
          <p:nvPr/>
        </p:nvPicPr>
        <p:blipFill>
          <a:blip r:embed="rId4" cstate="print"/>
          <a:stretch>
            <a:fillRect/>
          </a:stretch>
        </p:blipFill>
        <p:spPr>
          <a:xfrm>
            <a:off x="1015872" y="678636"/>
            <a:ext cx="2543330" cy="1749092"/>
          </a:xfrm>
          <a:prstGeom prst="rect">
            <a:avLst/>
          </a:prstGeom>
        </p:spPr>
      </p:pic>
      <p:sp>
        <p:nvSpPr>
          <p:cNvPr id="7" name="object 7"/>
          <p:cNvSpPr txBox="1"/>
          <p:nvPr/>
        </p:nvSpPr>
        <p:spPr>
          <a:xfrm>
            <a:off x="321894" y="2458632"/>
            <a:ext cx="3566795" cy="832485"/>
          </a:xfrm>
          <a:prstGeom prst="rect">
            <a:avLst/>
          </a:prstGeom>
        </p:spPr>
        <p:txBody>
          <a:bodyPr vert="horz" wrap="square" lIns="0" tIns="83820" rIns="0" bIns="0" rtlCol="0">
            <a:spAutoFit/>
          </a:bodyPr>
          <a:lstStyle/>
          <a:p>
            <a:pPr marL="38100">
              <a:lnSpc>
                <a:spcPct val="100000"/>
              </a:lnSpc>
              <a:spcBef>
                <a:spcPts val="660"/>
              </a:spcBef>
            </a:pPr>
            <a:r>
              <a:rPr sz="1000" spc="-10" dirty="0">
                <a:solidFill>
                  <a:srgbClr val="3333B2"/>
                </a:solidFill>
                <a:latin typeface="Arial"/>
                <a:cs typeface="Arial"/>
              </a:rPr>
              <a:t>Observations</a:t>
            </a:r>
            <a:endParaRPr sz="1000">
              <a:latin typeface="Arial"/>
              <a:cs typeface="Arial"/>
            </a:endParaRPr>
          </a:p>
          <a:p>
            <a:pPr marL="290830" indent="-120650">
              <a:lnSpc>
                <a:spcPct val="100000"/>
              </a:lnSpc>
              <a:spcBef>
                <a:spcPts val="500"/>
              </a:spcBef>
              <a:buClr>
                <a:srgbClr val="3333B2"/>
              </a:buClr>
              <a:buFont typeface="Apple Symbols"/>
              <a:buChar char="•"/>
              <a:tabLst>
                <a:tab pos="291465" algn="l"/>
              </a:tabLst>
            </a:pPr>
            <a:r>
              <a:rPr sz="900" dirty="0">
                <a:latin typeface="Arial"/>
                <a:cs typeface="Arial"/>
              </a:rPr>
              <a:t>Blocks</a:t>
            </a:r>
            <a:r>
              <a:rPr sz="900" spc="-25" dirty="0">
                <a:latin typeface="Arial"/>
                <a:cs typeface="Arial"/>
              </a:rPr>
              <a:t> </a:t>
            </a:r>
            <a:r>
              <a:rPr sz="900" dirty="0">
                <a:latin typeface="Arial"/>
                <a:cs typeface="Arial"/>
              </a:rPr>
              <a:t>are</a:t>
            </a:r>
            <a:r>
              <a:rPr sz="900" spc="-20" dirty="0">
                <a:latin typeface="Arial"/>
                <a:cs typeface="Arial"/>
              </a:rPr>
              <a:t> </a:t>
            </a:r>
            <a:r>
              <a:rPr sz="900" dirty="0">
                <a:latin typeface="Arial"/>
                <a:cs typeface="Arial"/>
              </a:rPr>
              <a:t>organized</a:t>
            </a:r>
            <a:r>
              <a:rPr sz="900" spc="-20" dirty="0">
                <a:latin typeface="Arial"/>
                <a:cs typeface="Arial"/>
              </a:rPr>
              <a:t> </a:t>
            </a:r>
            <a:r>
              <a:rPr sz="900" dirty="0">
                <a:latin typeface="Arial"/>
                <a:cs typeface="Arial"/>
              </a:rPr>
              <a:t>into</a:t>
            </a:r>
            <a:r>
              <a:rPr sz="900" spc="-20" dirty="0">
                <a:latin typeface="Arial"/>
                <a:cs typeface="Arial"/>
              </a:rPr>
              <a:t> </a:t>
            </a:r>
            <a:r>
              <a:rPr sz="900" dirty="0">
                <a:latin typeface="Arial"/>
                <a:cs typeface="Arial"/>
              </a:rPr>
              <a:t>an</a:t>
            </a:r>
            <a:r>
              <a:rPr sz="900" spc="-20" dirty="0">
                <a:latin typeface="Arial"/>
                <a:cs typeface="Arial"/>
              </a:rPr>
              <a:t> </a:t>
            </a:r>
            <a:r>
              <a:rPr sz="900" spc="-10" dirty="0">
                <a:latin typeface="Arial"/>
                <a:cs typeface="Arial"/>
              </a:rPr>
              <a:t>unforgeable</a:t>
            </a:r>
            <a:r>
              <a:rPr sz="900" spc="-20" dirty="0">
                <a:latin typeface="Arial"/>
                <a:cs typeface="Arial"/>
              </a:rPr>
              <a:t> </a:t>
            </a:r>
            <a:r>
              <a:rPr sz="900" spc="-10" dirty="0">
                <a:solidFill>
                  <a:srgbClr val="3333B2"/>
                </a:solidFill>
                <a:latin typeface="Arial"/>
                <a:cs typeface="Arial"/>
              </a:rPr>
              <a:t>append-</a:t>
            </a:r>
            <a:r>
              <a:rPr sz="900" dirty="0">
                <a:solidFill>
                  <a:srgbClr val="3333B2"/>
                </a:solidFill>
                <a:latin typeface="Arial"/>
                <a:cs typeface="Arial"/>
              </a:rPr>
              <a:t>only</a:t>
            </a:r>
            <a:r>
              <a:rPr sz="900" spc="-20" dirty="0">
                <a:solidFill>
                  <a:srgbClr val="3333B2"/>
                </a:solidFill>
                <a:latin typeface="Arial"/>
                <a:cs typeface="Arial"/>
              </a:rPr>
              <a:t> </a:t>
            </a:r>
            <a:r>
              <a:rPr sz="900" spc="-10" dirty="0">
                <a:latin typeface="Arial"/>
                <a:cs typeface="Arial"/>
              </a:rPr>
              <a:t>chain</a:t>
            </a:r>
            <a:endParaRPr sz="900">
              <a:latin typeface="Arial"/>
              <a:cs typeface="Arial"/>
            </a:endParaRPr>
          </a:p>
          <a:p>
            <a:pPr marL="290830" indent="-120650">
              <a:lnSpc>
                <a:spcPct val="100000"/>
              </a:lnSpc>
              <a:spcBef>
                <a:spcPts val="425"/>
              </a:spcBef>
              <a:buClr>
                <a:srgbClr val="3333B2"/>
              </a:buClr>
              <a:buFont typeface="Apple Symbols"/>
              <a:buChar char="•"/>
              <a:tabLst>
                <a:tab pos="291465" algn="l"/>
              </a:tabLst>
            </a:pPr>
            <a:r>
              <a:rPr sz="900" dirty="0">
                <a:latin typeface="Arial"/>
                <a:cs typeface="Arial"/>
              </a:rPr>
              <a:t>Each</a:t>
            </a:r>
            <a:r>
              <a:rPr sz="900" spc="-10" dirty="0">
                <a:latin typeface="Arial"/>
                <a:cs typeface="Arial"/>
              </a:rPr>
              <a:t> block</a:t>
            </a:r>
            <a:r>
              <a:rPr sz="900" spc="-5" dirty="0">
                <a:latin typeface="Arial"/>
                <a:cs typeface="Arial"/>
              </a:rPr>
              <a:t> </a:t>
            </a:r>
            <a:r>
              <a:rPr sz="900" dirty="0">
                <a:latin typeface="Arial"/>
                <a:cs typeface="Arial"/>
              </a:rPr>
              <a:t>in</a:t>
            </a:r>
            <a:r>
              <a:rPr sz="900" spc="-5" dirty="0">
                <a:latin typeface="Arial"/>
                <a:cs typeface="Arial"/>
              </a:rPr>
              <a:t> </a:t>
            </a:r>
            <a:r>
              <a:rPr sz="900" dirty="0">
                <a:latin typeface="Arial"/>
                <a:cs typeface="Arial"/>
              </a:rPr>
              <a:t>the</a:t>
            </a:r>
            <a:r>
              <a:rPr sz="900" spc="-5" dirty="0">
                <a:latin typeface="Arial"/>
                <a:cs typeface="Arial"/>
              </a:rPr>
              <a:t> </a:t>
            </a:r>
            <a:r>
              <a:rPr sz="900" spc="-10" dirty="0">
                <a:latin typeface="Arial"/>
                <a:cs typeface="Arial"/>
              </a:rPr>
              <a:t>blockchain</a:t>
            </a:r>
            <a:r>
              <a:rPr sz="900" spc="-5" dirty="0">
                <a:latin typeface="Arial"/>
                <a:cs typeface="Arial"/>
              </a:rPr>
              <a:t> </a:t>
            </a:r>
            <a:r>
              <a:rPr sz="900" dirty="0">
                <a:latin typeface="Arial"/>
                <a:cs typeface="Arial"/>
              </a:rPr>
              <a:t>is</a:t>
            </a:r>
            <a:r>
              <a:rPr sz="900" spc="-5" dirty="0">
                <a:latin typeface="Arial"/>
                <a:cs typeface="Arial"/>
              </a:rPr>
              <a:t> </a:t>
            </a:r>
            <a:r>
              <a:rPr sz="900" spc="-10" dirty="0">
                <a:solidFill>
                  <a:srgbClr val="3333B2"/>
                </a:solidFill>
                <a:latin typeface="Arial"/>
                <a:cs typeface="Arial"/>
              </a:rPr>
              <a:t>immutable</a:t>
            </a:r>
            <a:r>
              <a:rPr sz="900" spc="-5" dirty="0">
                <a:solidFill>
                  <a:srgbClr val="3333B2"/>
                </a:solidFill>
                <a:latin typeface="Arial"/>
                <a:cs typeface="Arial"/>
              </a:rPr>
              <a:t> </a:t>
            </a:r>
            <a:r>
              <a:rPr sz="900" spc="295" dirty="0">
                <a:latin typeface="Apple Symbols"/>
                <a:cs typeface="Apple Symbols"/>
              </a:rPr>
              <a:t>⇒</a:t>
            </a:r>
            <a:r>
              <a:rPr sz="900" spc="-60" dirty="0">
                <a:latin typeface="Apple Symbols"/>
                <a:cs typeface="Apple Symbols"/>
              </a:rPr>
              <a:t> </a:t>
            </a:r>
            <a:r>
              <a:rPr sz="900" spc="-10" dirty="0">
                <a:latin typeface="Arial"/>
                <a:cs typeface="Arial"/>
              </a:rPr>
              <a:t>massive</a:t>
            </a:r>
            <a:r>
              <a:rPr sz="900" spc="-5" dirty="0">
                <a:latin typeface="Arial"/>
                <a:cs typeface="Arial"/>
              </a:rPr>
              <a:t> </a:t>
            </a:r>
            <a:r>
              <a:rPr sz="900" spc="-10" dirty="0">
                <a:latin typeface="Arial"/>
                <a:cs typeface="Arial"/>
              </a:rPr>
              <a:t>replication</a:t>
            </a:r>
            <a:endParaRPr sz="900">
              <a:latin typeface="Arial"/>
              <a:cs typeface="Arial"/>
            </a:endParaRPr>
          </a:p>
          <a:p>
            <a:pPr marL="287020" indent="-116839">
              <a:lnSpc>
                <a:spcPct val="100000"/>
              </a:lnSpc>
              <a:spcBef>
                <a:spcPts val="425"/>
              </a:spcBef>
              <a:buClr>
                <a:srgbClr val="3333B2"/>
              </a:buClr>
              <a:buFont typeface="Apple Symbols"/>
              <a:buChar char="•"/>
              <a:tabLst>
                <a:tab pos="287655" algn="l"/>
              </a:tabLst>
            </a:pPr>
            <a:r>
              <a:rPr sz="900" dirty="0">
                <a:latin typeface="Arial"/>
                <a:cs typeface="Arial"/>
              </a:rPr>
              <a:t>The</a:t>
            </a:r>
            <a:r>
              <a:rPr sz="900" spc="-25" dirty="0">
                <a:latin typeface="Arial"/>
                <a:cs typeface="Arial"/>
              </a:rPr>
              <a:t> </a:t>
            </a:r>
            <a:r>
              <a:rPr sz="900" dirty="0">
                <a:latin typeface="Arial"/>
                <a:cs typeface="Arial"/>
              </a:rPr>
              <a:t>real</a:t>
            </a:r>
            <a:r>
              <a:rPr sz="900" spc="-20" dirty="0">
                <a:latin typeface="Arial"/>
                <a:cs typeface="Arial"/>
              </a:rPr>
              <a:t> </a:t>
            </a:r>
            <a:r>
              <a:rPr sz="900" dirty="0">
                <a:latin typeface="Arial"/>
                <a:cs typeface="Arial"/>
              </a:rPr>
              <a:t>snag</a:t>
            </a:r>
            <a:r>
              <a:rPr sz="900" spc="-20" dirty="0">
                <a:latin typeface="Arial"/>
                <a:cs typeface="Arial"/>
              </a:rPr>
              <a:t> </a:t>
            </a:r>
            <a:r>
              <a:rPr sz="900" dirty="0">
                <a:latin typeface="Arial"/>
                <a:cs typeface="Arial"/>
              </a:rPr>
              <a:t>lies</a:t>
            </a:r>
            <a:r>
              <a:rPr sz="900" spc="-20" dirty="0">
                <a:latin typeface="Arial"/>
                <a:cs typeface="Arial"/>
              </a:rPr>
              <a:t> </a:t>
            </a:r>
            <a:r>
              <a:rPr sz="900" dirty="0">
                <a:latin typeface="Arial"/>
                <a:cs typeface="Arial"/>
              </a:rPr>
              <a:t>in</a:t>
            </a:r>
            <a:r>
              <a:rPr sz="900" spc="-20" dirty="0">
                <a:latin typeface="Arial"/>
                <a:cs typeface="Arial"/>
              </a:rPr>
              <a:t> </a:t>
            </a:r>
            <a:r>
              <a:rPr sz="900" dirty="0">
                <a:latin typeface="Arial"/>
                <a:cs typeface="Arial"/>
              </a:rPr>
              <a:t>who</a:t>
            </a:r>
            <a:r>
              <a:rPr sz="900" spc="-20"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allowed</a:t>
            </a:r>
            <a:r>
              <a:rPr sz="900" spc="-20"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append</a:t>
            </a:r>
            <a:r>
              <a:rPr sz="900" spc="-20" dirty="0">
                <a:latin typeface="Arial"/>
                <a:cs typeface="Arial"/>
              </a:rPr>
              <a:t> </a:t>
            </a:r>
            <a:r>
              <a:rPr sz="900" dirty="0">
                <a:latin typeface="Arial"/>
                <a:cs typeface="Arial"/>
              </a:rPr>
              <a:t>a</a:t>
            </a:r>
            <a:r>
              <a:rPr sz="900" spc="-20" dirty="0">
                <a:latin typeface="Arial"/>
                <a:cs typeface="Arial"/>
              </a:rPr>
              <a:t> </a:t>
            </a:r>
            <a:r>
              <a:rPr sz="900" spc="-10" dirty="0">
                <a:latin typeface="Arial"/>
                <a:cs typeface="Arial"/>
              </a:rPr>
              <a:t>block</a:t>
            </a:r>
            <a:r>
              <a:rPr sz="900" spc="-20"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chain</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70993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5" action="ppaction://hlinksldjump"/>
              </a:rPr>
              <a:t>Blockchain</a:t>
            </a:r>
            <a:r>
              <a:rPr sz="500" spc="60" dirty="0">
                <a:latin typeface="Arial"/>
                <a:cs typeface="Arial"/>
                <a:hlinkClick r:id="rId5" action="ppaction://hlinksldjump"/>
              </a:rPr>
              <a:t> </a:t>
            </a:r>
            <a:r>
              <a:rPr sz="500" spc="-10" dirty="0">
                <a:latin typeface="Arial"/>
                <a:cs typeface="Arial"/>
                <a:hlinkClick r:id="rId5" action="ppaction://hlinksldjump"/>
              </a:rPr>
              <a:t>architectures</a:t>
            </a:r>
            <a:endParaRPr sz="500">
              <a:latin typeface="Arial"/>
              <a:cs typeface="Arial"/>
            </a:endParaRPr>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Architectures</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47782" y="-1515"/>
            <a:ext cx="80708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Hybrid</a:t>
            </a:r>
            <a:r>
              <a:rPr sz="500" spc="-2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system</a:t>
            </a:r>
            <a:r>
              <a:rPr sz="500" spc="-2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architectures</a:t>
            </a:r>
            <a:endParaRPr sz="500">
              <a:latin typeface="Arial"/>
              <a:cs typeface="Arial"/>
            </a:endParaRPr>
          </a:p>
        </p:txBody>
      </p:sp>
      <p:sp>
        <p:nvSpPr>
          <p:cNvPr id="5" name="object 5"/>
          <p:cNvSpPr txBox="1"/>
          <p:nvPr/>
        </p:nvSpPr>
        <p:spPr>
          <a:xfrm>
            <a:off x="95300" y="197711"/>
            <a:ext cx="2830830" cy="49466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Appending</a:t>
            </a:r>
            <a:r>
              <a:rPr sz="1200" spc="-55" dirty="0">
                <a:solidFill>
                  <a:srgbClr val="3333B2"/>
                </a:solidFill>
                <a:latin typeface="Arial"/>
                <a:cs typeface="Arial"/>
              </a:rPr>
              <a:t> </a:t>
            </a:r>
            <a:r>
              <a:rPr sz="1200" dirty="0">
                <a:solidFill>
                  <a:srgbClr val="3333B2"/>
                </a:solidFill>
                <a:latin typeface="Arial"/>
                <a:cs typeface="Arial"/>
              </a:rPr>
              <a:t>a</a:t>
            </a:r>
            <a:r>
              <a:rPr sz="1200" spc="-55" dirty="0">
                <a:solidFill>
                  <a:srgbClr val="3333B2"/>
                </a:solidFill>
                <a:latin typeface="Arial"/>
                <a:cs typeface="Arial"/>
              </a:rPr>
              <a:t> </a:t>
            </a:r>
            <a:r>
              <a:rPr sz="1200" dirty="0">
                <a:solidFill>
                  <a:srgbClr val="3333B2"/>
                </a:solidFill>
                <a:latin typeface="Arial"/>
                <a:cs typeface="Arial"/>
              </a:rPr>
              <a:t>block:</a:t>
            </a:r>
            <a:r>
              <a:rPr sz="1200" spc="10" dirty="0">
                <a:solidFill>
                  <a:srgbClr val="3333B2"/>
                </a:solidFill>
                <a:latin typeface="Arial"/>
                <a:cs typeface="Arial"/>
              </a:rPr>
              <a:t> </a:t>
            </a:r>
            <a:r>
              <a:rPr sz="1200" dirty="0">
                <a:solidFill>
                  <a:srgbClr val="3333B2"/>
                </a:solidFill>
                <a:latin typeface="Arial"/>
                <a:cs typeface="Arial"/>
              </a:rPr>
              <a:t>distributed</a:t>
            </a:r>
            <a:r>
              <a:rPr sz="1200" spc="-55" dirty="0">
                <a:solidFill>
                  <a:srgbClr val="3333B2"/>
                </a:solidFill>
                <a:latin typeface="Arial"/>
                <a:cs typeface="Arial"/>
              </a:rPr>
              <a:t> </a:t>
            </a:r>
            <a:r>
              <a:rPr sz="1200" spc="-10" dirty="0">
                <a:solidFill>
                  <a:srgbClr val="3333B2"/>
                </a:solidFill>
                <a:latin typeface="Arial"/>
                <a:cs typeface="Arial"/>
              </a:rPr>
              <a:t>consensus</a:t>
            </a:r>
            <a:endParaRPr sz="1200">
              <a:latin typeface="Arial"/>
              <a:cs typeface="Arial"/>
            </a:endParaRPr>
          </a:p>
          <a:p>
            <a:pPr marL="264160">
              <a:lnSpc>
                <a:spcPct val="100000"/>
              </a:lnSpc>
              <a:spcBef>
                <a:spcPts val="1055"/>
              </a:spcBef>
            </a:pPr>
            <a:r>
              <a:rPr sz="1000" spc="-10" dirty="0">
                <a:solidFill>
                  <a:srgbClr val="3333B2"/>
                </a:solidFill>
                <a:latin typeface="Arial"/>
                <a:cs typeface="Arial"/>
              </a:rPr>
              <a:t>Centralized</a:t>
            </a:r>
            <a:r>
              <a:rPr sz="1000" spc="25" dirty="0">
                <a:solidFill>
                  <a:srgbClr val="3333B2"/>
                </a:solidFill>
                <a:latin typeface="Arial"/>
                <a:cs typeface="Arial"/>
              </a:rPr>
              <a:t> </a:t>
            </a:r>
            <a:r>
              <a:rPr sz="1000" spc="-10" dirty="0">
                <a:solidFill>
                  <a:srgbClr val="3333B2"/>
                </a:solidFill>
                <a:latin typeface="Arial"/>
                <a:cs typeface="Arial"/>
              </a:rPr>
              <a:t>solution</a:t>
            </a:r>
            <a:endParaRPr sz="1000">
              <a:latin typeface="Arial"/>
              <a:cs typeface="Arial"/>
            </a:endParaRPr>
          </a:p>
        </p:txBody>
      </p:sp>
      <p:pic>
        <p:nvPicPr>
          <p:cNvPr id="6" name="object 6"/>
          <p:cNvPicPr/>
          <p:nvPr/>
        </p:nvPicPr>
        <p:blipFill>
          <a:blip r:embed="rId4" cstate="print"/>
          <a:stretch>
            <a:fillRect/>
          </a:stretch>
        </p:blipFill>
        <p:spPr>
          <a:xfrm>
            <a:off x="1231252" y="767685"/>
            <a:ext cx="2145483" cy="1126341"/>
          </a:xfrm>
          <a:prstGeom prst="rect">
            <a:avLst/>
          </a:prstGeom>
        </p:spPr>
      </p:pic>
      <p:sp>
        <p:nvSpPr>
          <p:cNvPr id="7" name="object 7"/>
          <p:cNvSpPr txBox="1"/>
          <p:nvPr/>
        </p:nvSpPr>
        <p:spPr>
          <a:xfrm>
            <a:off x="343547" y="2017863"/>
            <a:ext cx="3872865" cy="496570"/>
          </a:xfrm>
          <a:prstGeom prst="rect">
            <a:avLst/>
          </a:prstGeom>
        </p:spPr>
        <p:txBody>
          <a:bodyPr vert="horz" wrap="square" lIns="0" tIns="27305" rIns="0" bIns="0" rtlCol="0">
            <a:spAutoFit/>
          </a:bodyPr>
          <a:lstStyle/>
          <a:p>
            <a:pPr marL="15875">
              <a:lnSpc>
                <a:spcPct val="100000"/>
              </a:lnSpc>
              <a:spcBef>
                <a:spcPts val="215"/>
              </a:spcBef>
            </a:pPr>
            <a:r>
              <a:rPr sz="1000" spc="-10" dirty="0">
                <a:solidFill>
                  <a:srgbClr val="3333B2"/>
                </a:solidFill>
                <a:latin typeface="Arial"/>
                <a:cs typeface="Arial"/>
              </a:rPr>
              <a:t>Observation</a:t>
            </a:r>
            <a:endParaRPr sz="1000">
              <a:latin typeface="Arial"/>
              <a:cs typeface="Arial"/>
            </a:endParaRPr>
          </a:p>
          <a:p>
            <a:pPr marL="15875" marR="5080" indent="-3810">
              <a:lnSpc>
                <a:spcPts val="1210"/>
              </a:lnSpc>
              <a:spcBef>
                <a:spcPts val="35"/>
              </a:spcBef>
            </a:pPr>
            <a:r>
              <a:rPr sz="900" dirty="0">
                <a:latin typeface="Arial"/>
                <a:cs typeface="Arial"/>
              </a:rPr>
              <a:t>A</a:t>
            </a:r>
            <a:r>
              <a:rPr sz="900" spc="-20" dirty="0">
                <a:latin typeface="Arial"/>
                <a:cs typeface="Arial"/>
              </a:rPr>
              <a:t> </a:t>
            </a:r>
            <a:r>
              <a:rPr sz="900" dirty="0">
                <a:latin typeface="Arial"/>
                <a:cs typeface="Arial"/>
              </a:rPr>
              <a:t>single</a:t>
            </a:r>
            <a:r>
              <a:rPr sz="900" spc="-20" dirty="0">
                <a:latin typeface="Arial"/>
                <a:cs typeface="Arial"/>
              </a:rPr>
              <a:t> </a:t>
            </a:r>
            <a:r>
              <a:rPr sz="900" dirty="0">
                <a:latin typeface="Arial"/>
                <a:cs typeface="Arial"/>
              </a:rPr>
              <a:t>entity</a:t>
            </a:r>
            <a:r>
              <a:rPr sz="900" spc="-20" dirty="0">
                <a:latin typeface="Arial"/>
                <a:cs typeface="Arial"/>
              </a:rPr>
              <a:t> </a:t>
            </a:r>
            <a:r>
              <a:rPr sz="900" dirty="0">
                <a:latin typeface="Arial"/>
                <a:cs typeface="Arial"/>
              </a:rPr>
              <a:t>decides</a:t>
            </a:r>
            <a:r>
              <a:rPr sz="900" spc="-20" dirty="0">
                <a:latin typeface="Arial"/>
                <a:cs typeface="Arial"/>
              </a:rPr>
              <a:t> </a:t>
            </a:r>
            <a:r>
              <a:rPr sz="900" dirty="0">
                <a:latin typeface="Arial"/>
                <a:cs typeface="Arial"/>
              </a:rPr>
              <a:t>on</a:t>
            </a:r>
            <a:r>
              <a:rPr sz="900" spc="-20" dirty="0">
                <a:latin typeface="Arial"/>
                <a:cs typeface="Arial"/>
              </a:rPr>
              <a:t> </a:t>
            </a:r>
            <a:r>
              <a:rPr sz="900" dirty="0">
                <a:latin typeface="Arial"/>
                <a:cs typeface="Arial"/>
              </a:rPr>
              <a:t>which</a:t>
            </a:r>
            <a:r>
              <a:rPr sz="900" spc="-15" dirty="0">
                <a:latin typeface="Arial"/>
                <a:cs typeface="Arial"/>
              </a:rPr>
              <a:t> </a:t>
            </a:r>
            <a:r>
              <a:rPr sz="900" spc="-10" dirty="0">
                <a:latin typeface="Arial"/>
                <a:cs typeface="Arial"/>
              </a:rPr>
              <a:t>validator</a:t>
            </a:r>
            <a:r>
              <a:rPr sz="900" spc="-20" dirty="0">
                <a:latin typeface="Arial"/>
                <a:cs typeface="Arial"/>
              </a:rPr>
              <a:t> </a:t>
            </a:r>
            <a:r>
              <a:rPr sz="900" dirty="0">
                <a:latin typeface="Arial"/>
                <a:cs typeface="Arial"/>
              </a:rPr>
              <a:t>can</a:t>
            </a:r>
            <a:r>
              <a:rPr sz="900" spc="-20" dirty="0">
                <a:latin typeface="Arial"/>
                <a:cs typeface="Arial"/>
              </a:rPr>
              <a:t> </a:t>
            </a:r>
            <a:r>
              <a:rPr sz="900" dirty="0">
                <a:latin typeface="Arial"/>
                <a:cs typeface="Arial"/>
              </a:rPr>
              <a:t>go</a:t>
            </a:r>
            <a:r>
              <a:rPr sz="900" spc="-20" dirty="0">
                <a:latin typeface="Arial"/>
                <a:cs typeface="Arial"/>
              </a:rPr>
              <a:t> </a:t>
            </a:r>
            <a:r>
              <a:rPr sz="900" dirty="0">
                <a:latin typeface="Arial"/>
                <a:cs typeface="Arial"/>
              </a:rPr>
              <a:t>ahead</a:t>
            </a:r>
            <a:r>
              <a:rPr sz="900" spc="-20" dirty="0">
                <a:latin typeface="Arial"/>
                <a:cs typeface="Arial"/>
              </a:rPr>
              <a:t> </a:t>
            </a:r>
            <a:r>
              <a:rPr sz="900" dirty="0">
                <a:latin typeface="Arial"/>
                <a:cs typeface="Arial"/>
              </a:rPr>
              <a:t>and</a:t>
            </a:r>
            <a:r>
              <a:rPr sz="900" spc="-20" dirty="0">
                <a:latin typeface="Arial"/>
                <a:cs typeface="Arial"/>
              </a:rPr>
              <a:t> </a:t>
            </a:r>
            <a:r>
              <a:rPr sz="900" dirty="0">
                <a:latin typeface="Arial"/>
                <a:cs typeface="Arial"/>
              </a:rPr>
              <a:t>append</a:t>
            </a:r>
            <a:r>
              <a:rPr sz="900" spc="-15" dirty="0">
                <a:latin typeface="Arial"/>
                <a:cs typeface="Arial"/>
              </a:rPr>
              <a:t> </a:t>
            </a:r>
            <a:r>
              <a:rPr sz="900" dirty="0">
                <a:latin typeface="Arial"/>
                <a:cs typeface="Arial"/>
              </a:rPr>
              <a:t>a</a:t>
            </a:r>
            <a:r>
              <a:rPr sz="900" spc="-20" dirty="0">
                <a:latin typeface="Arial"/>
                <a:cs typeface="Arial"/>
              </a:rPr>
              <a:t> </a:t>
            </a:r>
            <a:r>
              <a:rPr sz="900" spc="-10" dirty="0">
                <a:latin typeface="Arial"/>
                <a:cs typeface="Arial"/>
              </a:rPr>
              <a:t>block. </a:t>
            </a:r>
            <a:r>
              <a:rPr sz="900" dirty="0">
                <a:latin typeface="Arial"/>
                <a:cs typeface="Arial"/>
              </a:rPr>
              <a:t>Does</a:t>
            </a:r>
            <a:r>
              <a:rPr sz="900" spc="-25" dirty="0">
                <a:latin typeface="Arial"/>
                <a:cs typeface="Arial"/>
              </a:rPr>
              <a:t> </a:t>
            </a:r>
            <a:r>
              <a:rPr sz="900" dirty="0">
                <a:latin typeface="Arial"/>
                <a:cs typeface="Arial"/>
              </a:rPr>
              <a:t>not</a:t>
            </a:r>
            <a:r>
              <a:rPr sz="900" spc="-20" dirty="0">
                <a:latin typeface="Arial"/>
                <a:cs typeface="Arial"/>
              </a:rPr>
              <a:t> </a:t>
            </a:r>
            <a:r>
              <a:rPr sz="900" dirty="0">
                <a:latin typeface="Arial"/>
                <a:cs typeface="Arial"/>
              </a:rPr>
              <a:t>fit</a:t>
            </a:r>
            <a:r>
              <a:rPr sz="900" spc="-20"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design</a:t>
            </a:r>
            <a:r>
              <a:rPr sz="900" spc="-20" dirty="0">
                <a:latin typeface="Arial"/>
                <a:cs typeface="Arial"/>
              </a:rPr>
              <a:t> </a:t>
            </a:r>
            <a:r>
              <a:rPr sz="900" dirty="0">
                <a:latin typeface="Arial"/>
                <a:cs typeface="Arial"/>
              </a:rPr>
              <a:t>goals</a:t>
            </a:r>
            <a:r>
              <a:rPr sz="900" spc="-20" dirty="0">
                <a:latin typeface="Arial"/>
                <a:cs typeface="Arial"/>
              </a:rPr>
              <a:t> </a:t>
            </a:r>
            <a:r>
              <a:rPr sz="900" dirty="0">
                <a:latin typeface="Arial"/>
                <a:cs typeface="Arial"/>
              </a:rPr>
              <a:t>of</a:t>
            </a:r>
            <a:r>
              <a:rPr sz="900" spc="-20" dirty="0">
                <a:latin typeface="Arial"/>
                <a:cs typeface="Arial"/>
              </a:rPr>
              <a:t> </a:t>
            </a:r>
            <a:r>
              <a:rPr sz="900" spc="-10" dirty="0">
                <a:latin typeface="Arial"/>
                <a:cs typeface="Arial"/>
              </a:rPr>
              <a:t>blockchains.</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70993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5" action="ppaction://hlinksldjump"/>
              </a:rPr>
              <a:t>Blockchain</a:t>
            </a:r>
            <a:r>
              <a:rPr sz="500" spc="60" dirty="0">
                <a:latin typeface="Arial"/>
                <a:cs typeface="Arial"/>
                <a:hlinkClick r:id="rId5" action="ppaction://hlinksldjump"/>
              </a:rPr>
              <a:t> </a:t>
            </a:r>
            <a:r>
              <a:rPr sz="500" spc="-10" dirty="0">
                <a:latin typeface="Arial"/>
                <a:cs typeface="Arial"/>
                <a:hlinkClick r:id="rId5" action="ppaction://hlinksldjump"/>
              </a:rPr>
              <a:t>architectures</a:t>
            </a:r>
            <a:endParaRPr sz="500">
              <a:latin typeface="Arial"/>
              <a:cs typeface="Arial"/>
            </a:endParaRPr>
          </a:p>
        </p:txBody>
      </p:sp>
    </p:spTree>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Architectures</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47782" y="-1515"/>
            <a:ext cx="80708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Hybrid</a:t>
            </a:r>
            <a:r>
              <a:rPr sz="500" spc="-2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system</a:t>
            </a:r>
            <a:r>
              <a:rPr sz="500" spc="-2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architectures</a:t>
            </a:r>
            <a:endParaRPr sz="500">
              <a:latin typeface="Arial"/>
              <a:cs typeface="Arial"/>
            </a:endParaRPr>
          </a:p>
        </p:txBody>
      </p:sp>
      <p:sp>
        <p:nvSpPr>
          <p:cNvPr id="5" name="object 5"/>
          <p:cNvSpPr txBox="1"/>
          <p:nvPr/>
        </p:nvSpPr>
        <p:spPr>
          <a:xfrm>
            <a:off x="95300" y="197711"/>
            <a:ext cx="2830830" cy="49466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Appending</a:t>
            </a:r>
            <a:r>
              <a:rPr sz="1200" spc="-55" dirty="0">
                <a:solidFill>
                  <a:srgbClr val="3333B2"/>
                </a:solidFill>
                <a:latin typeface="Arial"/>
                <a:cs typeface="Arial"/>
              </a:rPr>
              <a:t> </a:t>
            </a:r>
            <a:r>
              <a:rPr sz="1200" dirty="0">
                <a:solidFill>
                  <a:srgbClr val="3333B2"/>
                </a:solidFill>
                <a:latin typeface="Arial"/>
                <a:cs typeface="Arial"/>
              </a:rPr>
              <a:t>a</a:t>
            </a:r>
            <a:r>
              <a:rPr sz="1200" spc="-55" dirty="0">
                <a:solidFill>
                  <a:srgbClr val="3333B2"/>
                </a:solidFill>
                <a:latin typeface="Arial"/>
                <a:cs typeface="Arial"/>
              </a:rPr>
              <a:t> </a:t>
            </a:r>
            <a:r>
              <a:rPr sz="1200" dirty="0">
                <a:solidFill>
                  <a:srgbClr val="3333B2"/>
                </a:solidFill>
                <a:latin typeface="Arial"/>
                <a:cs typeface="Arial"/>
              </a:rPr>
              <a:t>block:</a:t>
            </a:r>
            <a:r>
              <a:rPr sz="1200" spc="10" dirty="0">
                <a:solidFill>
                  <a:srgbClr val="3333B2"/>
                </a:solidFill>
                <a:latin typeface="Arial"/>
                <a:cs typeface="Arial"/>
              </a:rPr>
              <a:t> </a:t>
            </a:r>
            <a:r>
              <a:rPr sz="1200" dirty="0">
                <a:solidFill>
                  <a:srgbClr val="3333B2"/>
                </a:solidFill>
                <a:latin typeface="Arial"/>
                <a:cs typeface="Arial"/>
              </a:rPr>
              <a:t>distributed</a:t>
            </a:r>
            <a:r>
              <a:rPr sz="1200" spc="-55" dirty="0">
                <a:solidFill>
                  <a:srgbClr val="3333B2"/>
                </a:solidFill>
                <a:latin typeface="Arial"/>
                <a:cs typeface="Arial"/>
              </a:rPr>
              <a:t> </a:t>
            </a:r>
            <a:r>
              <a:rPr sz="1200" spc="-10" dirty="0">
                <a:solidFill>
                  <a:srgbClr val="3333B2"/>
                </a:solidFill>
                <a:latin typeface="Arial"/>
                <a:cs typeface="Arial"/>
              </a:rPr>
              <a:t>consensus</a:t>
            </a:r>
            <a:endParaRPr sz="1200">
              <a:latin typeface="Arial"/>
              <a:cs typeface="Arial"/>
            </a:endParaRPr>
          </a:p>
          <a:p>
            <a:pPr marL="264160">
              <a:lnSpc>
                <a:spcPct val="100000"/>
              </a:lnSpc>
              <a:spcBef>
                <a:spcPts val="1055"/>
              </a:spcBef>
            </a:pPr>
            <a:r>
              <a:rPr sz="1000" dirty="0">
                <a:solidFill>
                  <a:srgbClr val="3333B2"/>
                </a:solidFill>
                <a:latin typeface="Arial"/>
                <a:cs typeface="Arial"/>
              </a:rPr>
              <a:t>Distributed</a:t>
            </a:r>
            <a:r>
              <a:rPr sz="1000" spc="-55" dirty="0">
                <a:solidFill>
                  <a:srgbClr val="3333B2"/>
                </a:solidFill>
                <a:latin typeface="Arial"/>
                <a:cs typeface="Arial"/>
              </a:rPr>
              <a:t> </a:t>
            </a:r>
            <a:r>
              <a:rPr sz="1000" dirty="0">
                <a:solidFill>
                  <a:srgbClr val="3333B2"/>
                </a:solidFill>
                <a:latin typeface="Arial"/>
                <a:cs typeface="Arial"/>
              </a:rPr>
              <a:t>solution</a:t>
            </a:r>
            <a:r>
              <a:rPr sz="1000" spc="-50" dirty="0">
                <a:solidFill>
                  <a:srgbClr val="3333B2"/>
                </a:solidFill>
                <a:latin typeface="Arial"/>
                <a:cs typeface="Arial"/>
              </a:rPr>
              <a:t> </a:t>
            </a:r>
            <a:r>
              <a:rPr sz="1000" spc="-10" dirty="0">
                <a:solidFill>
                  <a:srgbClr val="3333B2"/>
                </a:solidFill>
                <a:latin typeface="Arial"/>
                <a:cs typeface="Arial"/>
              </a:rPr>
              <a:t>(permissioned)</a:t>
            </a:r>
            <a:endParaRPr sz="1000">
              <a:latin typeface="Arial"/>
              <a:cs typeface="Arial"/>
            </a:endParaRPr>
          </a:p>
        </p:txBody>
      </p:sp>
      <p:pic>
        <p:nvPicPr>
          <p:cNvPr id="6" name="object 6"/>
          <p:cNvPicPr/>
          <p:nvPr/>
        </p:nvPicPr>
        <p:blipFill>
          <a:blip r:embed="rId4" cstate="print"/>
          <a:stretch>
            <a:fillRect/>
          </a:stretch>
        </p:blipFill>
        <p:spPr>
          <a:xfrm>
            <a:off x="1231252" y="791980"/>
            <a:ext cx="2145483" cy="1126341"/>
          </a:xfrm>
          <a:prstGeom prst="rect">
            <a:avLst/>
          </a:prstGeom>
        </p:spPr>
      </p:pic>
      <p:sp>
        <p:nvSpPr>
          <p:cNvPr id="7" name="object 7"/>
          <p:cNvSpPr txBox="1"/>
          <p:nvPr/>
        </p:nvSpPr>
        <p:spPr>
          <a:xfrm>
            <a:off x="321894" y="1985926"/>
            <a:ext cx="3963670" cy="1138555"/>
          </a:xfrm>
          <a:prstGeom prst="rect">
            <a:avLst/>
          </a:prstGeom>
        </p:spPr>
        <p:txBody>
          <a:bodyPr vert="horz" wrap="square" lIns="0" tIns="83820" rIns="0" bIns="0" rtlCol="0">
            <a:spAutoFit/>
          </a:bodyPr>
          <a:lstStyle/>
          <a:p>
            <a:pPr marL="38100">
              <a:lnSpc>
                <a:spcPct val="100000"/>
              </a:lnSpc>
              <a:spcBef>
                <a:spcPts val="660"/>
              </a:spcBef>
            </a:pPr>
            <a:r>
              <a:rPr sz="1000" spc="-10" dirty="0">
                <a:solidFill>
                  <a:srgbClr val="3333B2"/>
                </a:solidFill>
                <a:latin typeface="Arial"/>
                <a:cs typeface="Arial"/>
              </a:rPr>
              <a:t>Observation</a:t>
            </a:r>
            <a:endParaRPr sz="1000">
              <a:latin typeface="Arial"/>
              <a:cs typeface="Arial"/>
            </a:endParaRPr>
          </a:p>
          <a:p>
            <a:pPr marL="287020" marR="102235" indent="-116205">
              <a:lnSpc>
                <a:spcPct val="111600"/>
              </a:lnSpc>
              <a:spcBef>
                <a:spcPts val="375"/>
              </a:spcBef>
              <a:buClr>
                <a:srgbClr val="3333B2"/>
              </a:buClr>
              <a:buFont typeface="Apple Symbols"/>
              <a:buChar char="•"/>
              <a:tabLst>
                <a:tab pos="287655" algn="l"/>
              </a:tabLst>
            </a:pPr>
            <a:r>
              <a:rPr sz="900" dirty="0">
                <a:latin typeface="Arial"/>
                <a:cs typeface="Arial"/>
              </a:rPr>
              <a:t>A</a:t>
            </a:r>
            <a:r>
              <a:rPr sz="900" spc="-25" dirty="0">
                <a:latin typeface="Arial"/>
                <a:cs typeface="Arial"/>
              </a:rPr>
              <a:t> </a:t>
            </a:r>
            <a:r>
              <a:rPr sz="900" dirty="0">
                <a:latin typeface="Arial"/>
                <a:cs typeface="Arial"/>
              </a:rPr>
              <a:t>selected,</a:t>
            </a:r>
            <a:r>
              <a:rPr sz="900" spc="-25" dirty="0">
                <a:latin typeface="Arial"/>
                <a:cs typeface="Arial"/>
              </a:rPr>
              <a:t> </a:t>
            </a:r>
            <a:r>
              <a:rPr sz="900" spc="-10" dirty="0">
                <a:latin typeface="Arial"/>
                <a:cs typeface="Arial"/>
              </a:rPr>
              <a:t>relatively</a:t>
            </a:r>
            <a:r>
              <a:rPr sz="900" spc="-20" dirty="0">
                <a:latin typeface="Arial"/>
                <a:cs typeface="Arial"/>
              </a:rPr>
              <a:t> </a:t>
            </a:r>
            <a:r>
              <a:rPr sz="900" dirty="0">
                <a:latin typeface="Arial"/>
                <a:cs typeface="Arial"/>
              </a:rPr>
              <a:t>small</a:t>
            </a:r>
            <a:r>
              <a:rPr sz="900" spc="-25" dirty="0">
                <a:latin typeface="Arial"/>
                <a:cs typeface="Arial"/>
              </a:rPr>
              <a:t> </a:t>
            </a:r>
            <a:r>
              <a:rPr sz="900" dirty="0">
                <a:latin typeface="Arial"/>
                <a:cs typeface="Arial"/>
              </a:rPr>
              <a:t>group</a:t>
            </a:r>
            <a:r>
              <a:rPr sz="900" spc="-25" dirty="0">
                <a:latin typeface="Arial"/>
                <a:cs typeface="Arial"/>
              </a:rPr>
              <a:t> </a:t>
            </a:r>
            <a:r>
              <a:rPr sz="900" dirty="0">
                <a:latin typeface="Arial"/>
                <a:cs typeface="Arial"/>
              </a:rPr>
              <a:t>of</a:t>
            </a:r>
            <a:r>
              <a:rPr sz="900" spc="-20" dirty="0">
                <a:latin typeface="Arial"/>
                <a:cs typeface="Arial"/>
              </a:rPr>
              <a:t> </a:t>
            </a:r>
            <a:r>
              <a:rPr sz="900" dirty="0">
                <a:latin typeface="Arial"/>
                <a:cs typeface="Arial"/>
              </a:rPr>
              <a:t>servers</a:t>
            </a:r>
            <a:r>
              <a:rPr sz="900" spc="-25" dirty="0">
                <a:latin typeface="Arial"/>
                <a:cs typeface="Arial"/>
              </a:rPr>
              <a:t> </a:t>
            </a:r>
            <a:r>
              <a:rPr sz="900" dirty="0">
                <a:latin typeface="Arial"/>
                <a:cs typeface="Arial"/>
              </a:rPr>
              <a:t>jointly</a:t>
            </a:r>
            <a:r>
              <a:rPr sz="900" spc="-25" dirty="0">
                <a:latin typeface="Arial"/>
                <a:cs typeface="Arial"/>
              </a:rPr>
              <a:t> </a:t>
            </a:r>
            <a:r>
              <a:rPr sz="900" dirty="0">
                <a:latin typeface="Arial"/>
                <a:cs typeface="Arial"/>
              </a:rPr>
              <a:t>reach</a:t>
            </a:r>
            <a:r>
              <a:rPr sz="900" spc="-20" dirty="0">
                <a:latin typeface="Arial"/>
                <a:cs typeface="Arial"/>
              </a:rPr>
              <a:t> </a:t>
            </a:r>
            <a:r>
              <a:rPr sz="900" dirty="0">
                <a:latin typeface="Arial"/>
                <a:cs typeface="Arial"/>
              </a:rPr>
              <a:t>consensus</a:t>
            </a:r>
            <a:r>
              <a:rPr sz="900" spc="-25" dirty="0">
                <a:latin typeface="Arial"/>
                <a:cs typeface="Arial"/>
              </a:rPr>
              <a:t> on </a:t>
            </a:r>
            <a:r>
              <a:rPr sz="900" dirty="0">
                <a:latin typeface="Arial"/>
                <a:cs typeface="Arial"/>
              </a:rPr>
              <a:t>which</a:t>
            </a:r>
            <a:r>
              <a:rPr sz="900" spc="-10" dirty="0">
                <a:latin typeface="Arial"/>
                <a:cs typeface="Arial"/>
              </a:rPr>
              <a:t> validator </a:t>
            </a:r>
            <a:r>
              <a:rPr sz="900" dirty="0">
                <a:latin typeface="Arial"/>
                <a:cs typeface="Arial"/>
              </a:rPr>
              <a:t>can</a:t>
            </a:r>
            <a:r>
              <a:rPr sz="900" spc="-10" dirty="0">
                <a:latin typeface="Arial"/>
                <a:cs typeface="Arial"/>
              </a:rPr>
              <a:t> </a:t>
            </a:r>
            <a:r>
              <a:rPr sz="900" dirty="0">
                <a:latin typeface="Arial"/>
                <a:cs typeface="Arial"/>
              </a:rPr>
              <a:t>go</a:t>
            </a:r>
            <a:r>
              <a:rPr sz="900" spc="-10" dirty="0">
                <a:latin typeface="Arial"/>
                <a:cs typeface="Arial"/>
              </a:rPr>
              <a:t> ahead.</a:t>
            </a:r>
            <a:endParaRPr sz="900">
              <a:latin typeface="Arial"/>
              <a:cs typeface="Arial"/>
            </a:endParaRPr>
          </a:p>
          <a:p>
            <a:pPr marL="290830" marR="30480" indent="-120650">
              <a:lnSpc>
                <a:spcPct val="111600"/>
              </a:lnSpc>
              <a:spcBef>
                <a:spcPts val="300"/>
              </a:spcBef>
              <a:buClr>
                <a:srgbClr val="3333B2"/>
              </a:buClr>
              <a:buFont typeface="Apple Symbols"/>
              <a:buChar char="•"/>
              <a:tabLst>
                <a:tab pos="291465" algn="l"/>
              </a:tabLst>
            </a:pPr>
            <a:r>
              <a:rPr sz="900" dirty="0">
                <a:latin typeface="Arial"/>
                <a:cs typeface="Arial"/>
              </a:rPr>
              <a:t>None</a:t>
            </a:r>
            <a:r>
              <a:rPr sz="900" spc="-25" dirty="0">
                <a:latin typeface="Arial"/>
                <a:cs typeface="Arial"/>
              </a:rPr>
              <a:t> </a:t>
            </a:r>
            <a:r>
              <a:rPr sz="900" dirty="0">
                <a:latin typeface="Arial"/>
                <a:cs typeface="Arial"/>
              </a:rPr>
              <a:t>of</a:t>
            </a:r>
            <a:r>
              <a:rPr sz="900" spc="-20" dirty="0">
                <a:latin typeface="Arial"/>
                <a:cs typeface="Arial"/>
              </a:rPr>
              <a:t> </a:t>
            </a:r>
            <a:r>
              <a:rPr sz="900" dirty="0">
                <a:latin typeface="Arial"/>
                <a:cs typeface="Arial"/>
              </a:rPr>
              <a:t>these</a:t>
            </a:r>
            <a:r>
              <a:rPr sz="900" spc="-20" dirty="0">
                <a:latin typeface="Arial"/>
                <a:cs typeface="Arial"/>
              </a:rPr>
              <a:t> </a:t>
            </a:r>
            <a:r>
              <a:rPr sz="900" dirty="0">
                <a:latin typeface="Arial"/>
                <a:cs typeface="Arial"/>
              </a:rPr>
              <a:t>servers</a:t>
            </a:r>
            <a:r>
              <a:rPr sz="900" spc="-20" dirty="0">
                <a:latin typeface="Arial"/>
                <a:cs typeface="Arial"/>
              </a:rPr>
              <a:t> </a:t>
            </a:r>
            <a:r>
              <a:rPr sz="900" dirty="0">
                <a:latin typeface="Arial"/>
                <a:cs typeface="Arial"/>
              </a:rPr>
              <a:t>needs</a:t>
            </a:r>
            <a:r>
              <a:rPr sz="900" spc="-25"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be</a:t>
            </a:r>
            <a:r>
              <a:rPr sz="900" spc="-20" dirty="0">
                <a:latin typeface="Arial"/>
                <a:cs typeface="Arial"/>
              </a:rPr>
              <a:t> </a:t>
            </a:r>
            <a:r>
              <a:rPr sz="900" dirty="0">
                <a:latin typeface="Arial"/>
                <a:cs typeface="Arial"/>
              </a:rPr>
              <a:t>trusted,</a:t>
            </a:r>
            <a:r>
              <a:rPr sz="900" spc="-25" dirty="0">
                <a:latin typeface="Arial"/>
                <a:cs typeface="Arial"/>
              </a:rPr>
              <a:t> </a:t>
            </a:r>
            <a:r>
              <a:rPr sz="900" dirty="0">
                <a:latin typeface="Arial"/>
                <a:cs typeface="Arial"/>
              </a:rPr>
              <a:t>as</a:t>
            </a:r>
            <a:r>
              <a:rPr sz="900" spc="-20" dirty="0">
                <a:latin typeface="Arial"/>
                <a:cs typeface="Arial"/>
              </a:rPr>
              <a:t> </a:t>
            </a:r>
            <a:r>
              <a:rPr sz="900" dirty="0">
                <a:latin typeface="Arial"/>
                <a:cs typeface="Arial"/>
              </a:rPr>
              <a:t>long</a:t>
            </a:r>
            <a:r>
              <a:rPr sz="900" spc="-20" dirty="0">
                <a:latin typeface="Arial"/>
                <a:cs typeface="Arial"/>
              </a:rPr>
              <a:t> </a:t>
            </a:r>
            <a:r>
              <a:rPr sz="900" dirty="0">
                <a:latin typeface="Arial"/>
                <a:cs typeface="Arial"/>
              </a:rPr>
              <a:t>as</a:t>
            </a:r>
            <a:r>
              <a:rPr sz="900" spc="-20" dirty="0">
                <a:latin typeface="Arial"/>
                <a:cs typeface="Arial"/>
              </a:rPr>
              <a:t> </a:t>
            </a:r>
            <a:r>
              <a:rPr sz="900" dirty="0">
                <a:latin typeface="Arial"/>
                <a:cs typeface="Arial"/>
              </a:rPr>
              <a:t>roughly</a:t>
            </a:r>
            <a:r>
              <a:rPr sz="900" spc="-25" dirty="0">
                <a:latin typeface="Arial"/>
                <a:cs typeface="Arial"/>
              </a:rPr>
              <a:t> </a:t>
            </a:r>
            <a:r>
              <a:rPr sz="900" spc="-10" dirty="0">
                <a:latin typeface="Arial"/>
                <a:cs typeface="Arial"/>
              </a:rPr>
              <a:t>two-thirds behave</a:t>
            </a:r>
            <a:r>
              <a:rPr sz="900" spc="-25" dirty="0">
                <a:latin typeface="Arial"/>
                <a:cs typeface="Arial"/>
              </a:rPr>
              <a:t> </a:t>
            </a:r>
            <a:r>
              <a:rPr sz="900" dirty="0">
                <a:latin typeface="Arial"/>
                <a:cs typeface="Arial"/>
              </a:rPr>
              <a:t>according</a:t>
            </a:r>
            <a:r>
              <a:rPr sz="900" spc="-2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their</a:t>
            </a:r>
            <a:r>
              <a:rPr sz="900" spc="-25" dirty="0">
                <a:latin typeface="Arial"/>
                <a:cs typeface="Arial"/>
              </a:rPr>
              <a:t> </a:t>
            </a:r>
            <a:r>
              <a:rPr sz="900" spc="-10" dirty="0">
                <a:latin typeface="Arial"/>
                <a:cs typeface="Arial"/>
              </a:rPr>
              <a:t>specifications.</a:t>
            </a:r>
            <a:endParaRPr sz="900">
              <a:latin typeface="Arial"/>
              <a:cs typeface="Arial"/>
            </a:endParaRPr>
          </a:p>
          <a:p>
            <a:pPr marL="290830" indent="-120650">
              <a:lnSpc>
                <a:spcPct val="100000"/>
              </a:lnSpc>
              <a:spcBef>
                <a:spcPts val="425"/>
              </a:spcBef>
              <a:buClr>
                <a:srgbClr val="3333B2"/>
              </a:buClr>
              <a:buFont typeface="Apple Symbols"/>
              <a:buChar char="•"/>
              <a:tabLst>
                <a:tab pos="291465" algn="l"/>
              </a:tabLst>
            </a:pPr>
            <a:r>
              <a:rPr sz="900" dirty="0">
                <a:latin typeface="Arial"/>
                <a:cs typeface="Arial"/>
              </a:rPr>
              <a:t>In</a:t>
            </a:r>
            <a:r>
              <a:rPr sz="900" spc="-20" dirty="0">
                <a:latin typeface="Arial"/>
                <a:cs typeface="Arial"/>
              </a:rPr>
              <a:t> </a:t>
            </a:r>
            <a:r>
              <a:rPr sz="900" spc="-10" dirty="0">
                <a:latin typeface="Arial"/>
                <a:cs typeface="Arial"/>
              </a:rPr>
              <a:t>practice,</a:t>
            </a:r>
            <a:r>
              <a:rPr sz="900" spc="-15" dirty="0">
                <a:latin typeface="Arial"/>
                <a:cs typeface="Arial"/>
              </a:rPr>
              <a:t> </a:t>
            </a:r>
            <a:r>
              <a:rPr sz="900" dirty="0">
                <a:latin typeface="Arial"/>
                <a:cs typeface="Arial"/>
              </a:rPr>
              <a:t>only</a:t>
            </a:r>
            <a:r>
              <a:rPr sz="900" spc="-15" dirty="0">
                <a:latin typeface="Arial"/>
                <a:cs typeface="Arial"/>
              </a:rPr>
              <a:t> </a:t>
            </a:r>
            <a:r>
              <a:rPr sz="900" dirty="0">
                <a:latin typeface="Arial"/>
                <a:cs typeface="Arial"/>
              </a:rPr>
              <a:t>a</a:t>
            </a:r>
            <a:r>
              <a:rPr sz="900" spc="-15" dirty="0">
                <a:latin typeface="Arial"/>
                <a:cs typeface="Arial"/>
              </a:rPr>
              <a:t> </a:t>
            </a:r>
            <a:r>
              <a:rPr sz="900" spc="-10" dirty="0">
                <a:latin typeface="Arial"/>
                <a:cs typeface="Arial"/>
              </a:rPr>
              <a:t>few</a:t>
            </a:r>
            <a:r>
              <a:rPr sz="900" spc="-20" dirty="0">
                <a:latin typeface="Arial"/>
                <a:cs typeface="Arial"/>
              </a:rPr>
              <a:t> </a:t>
            </a:r>
            <a:r>
              <a:rPr sz="900" dirty="0">
                <a:latin typeface="Arial"/>
                <a:cs typeface="Arial"/>
              </a:rPr>
              <a:t>tens</a:t>
            </a:r>
            <a:r>
              <a:rPr sz="900" spc="-15" dirty="0">
                <a:latin typeface="Arial"/>
                <a:cs typeface="Arial"/>
              </a:rPr>
              <a:t> </a:t>
            </a:r>
            <a:r>
              <a:rPr sz="900" dirty="0">
                <a:latin typeface="Arial"/>
                <a:cs typeface="Arial"/>
              </a:rPr>
              <a:t>of</a:t>
            </a:r>
            <a:r>
              <a:rPr sz="900" spc="-15" dirty="0">
                <a:latin typeface="Arial"/>
                <a:cs typeface="Arial"/>
              </a:rPr>
              <a:t> </a:t>
            </a:r>
            <a:r>
              <a:rPr sz="900" dirty="0">
                <a:latin typeface="Arial"/>
                <a:cs typeface="Arial"/>
              </a:rPr>
              <a:t>servers</a:t>
            </a:r>
            <a:r>
              <a:rPr sz="900" spc="-15" dirty="0">
                <a:latin typeface="Arial"/>
                <a:cs typeface="Arial"/>
              </a:rPr>
              <a:t> </a:t>
            </a:r>
            <a:r>
              <a:rPr sz="900" dirty="0">
                <a:latin typeface="Arial"/>
                <a:cs typeface="Arial"/>
              </a:rPr>
              <a:t>can</a:t>
            </a:r>
            <a:r>
              <a:rPr sz="900" spc="-15" dirty="0">
                <a:latin typeface="Arial"/>
                <a:cs typeface="Arial"/>
              </a:rPr>
              <a:t> </a:t>
            </a:r>
            <a:r>
              <a:rPr sz="900" dirty="0">
                <a:latin typeface="Arial"/>
                <a:cs typeface="Arial"/>
              </a:rPr>
              <a:t>be</a:t>
            </a:r>
            <a:r>
              <a:rPr sz="900" spc="-20" dirty="0">
                <a:latin typeface="Arial"/>
                <a:cs typeface="Arial"/>
              </a:rPr>
              <a:t> </a:t>
            </a:r>
            <a:r>
              <a:rPr sz="900" spc="-10" dirty="0">
                <a:latin typeface="Arial"/>
                <a:cs typeface="Arial"/>
              </a:rPr>
              <a:t>accommodated.</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70993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5" action="ppaction://hlinksldjump"/>
              </a:rPr>
              <a:t>Blockchain</a:t>
            </a:r>
            <a:r>
              <a:rPr sz="500" spc="60" dirty="0">
                <a:latin typeface="Arial"/>
                <a:cs typeface="Arial"/>
                <a:hlinkClick r:id="rId5" action="ppaction://hlinksldjump"/>
              </a:rPr>
              <a:t> </a:t>
            </a:r>
            <a:r>
              <a:rPr sz="500" spc="-10" dirty="0">
                <a:latin typeface="Arial"/>
                <a:cs typeface="Arial"/>
                <a:hlinkClick r:id="rId5" action="ppaction://hlinksldjump"/>
              </a:rPr>
              <a:t>architectures</a:t>
            </a:r>
            <a:endParaRPr sz="500">
              <a:latin typeface="Arial"/>
              <a:cs typeface="Arial"/>
            </a:endParaRPr>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Architectures</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47782" y="-1515"/>
            <a:ext cx="807085" cy="101600"/>
          </a:xfrm>
          <a:prstGeom prst="rect">
            <a:avLst/>
          </a:prstGeom>
        </p:spPr>
        <p:txBody>
          <a:bodyPr vert="horz" wrap="square" lIns="0" tIns="12065" rIns="0" bIns="0" rtlCol="0">
            <a:spAutoFit/>
          </a:bodyPr>
          <a:lstStyle/>
          <a:p>
            <a:pPr marL="12700">
              <a:lnSpc>
                <a:spcPct val="100000"/>
              </a:lnSpc>
              <a:spcBef>
                <a:spcPts val="95"/>
              </a:spcBef>
            </a:pPr>
            <a:r>
              <a:rPr sz="500" dirty="0">
                <a:solidFill>
                  <a:srgbClr val="FFFFFF"/>
                </a:solidFill>
                <a:latin typeface="Arial"/>
                <a:cs typeface="Arial"/>
                <a:hlinkClick r:id="rId3" action="ppaction://hlinksldjump"/>
              </a:rPr>
              <a:t>Hybrid</a:t>
            </a:r>
            <a:r>
              <a:rPr sz="500" spc="-2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system</a:t>
            </a:r>
            <a:r>
              <a:rPr sz="500" spc="-2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architectures</a:t>
            </a:r>
            <a:endParaRPr sz="500">
              <a:latin typeface="Arial"/>
              <a:cs typeface="Arial"/>
            </a:endParaRPr>
          </a:p>
        </p:txBody>
      </p:sp>
      <p:sp>
        <p:nvSpPr>
          <p:cNvPr id="5" name="object 5"/>
          <p:cNvSpPr txBox="1"/>
          <p:nvPr/>
        </p:nvSpPr>
        <p:spPr>
          <a:xfrm>
            <a:off x="95300" y="197711"/>
            <a:ext cx="2830830" cy="49466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Appending</a:t>
            </a:r>
            <a:r>
              <a:rPr sz="1200" spc="-55" dirty="0">
                <a:solidFill>
                  <a:srgbClr val="3333B2"/>
                </a:solidFill>
                <a:latin typeface="Arial"/>
                <a:cs typeface="Arial"/>
              </a:rPr>
              <a:t> </a:t>
            </a:r>
            <a:r>
              <a:rPr sz="1200" dirty="0">
                <a:solidFill>
                  <a:srgbClr val="3333B2"/>
                </a:solidFill>
                <a:latin typeface="Arial"/>
                <a:cs typeface="Arial"/>
              </a:rPr>
              <a:t>a</a:t>
            </a:r>
            <a:r>
              <a:rPr sz="1200" spc="-55" dirty="0">
                <a:solidFill>
                  <a:srgbClr val="3333B2"/>
                </a:solidFill>
                <a:latin typeface="Arial"/>
                <a:cs typeface="Arial"/>
              </a:rPr>
              <a:t> </a:t>
            </a:r>
            <a:r>
              <a:rPr sz="1200" dirty="0">
                <a:solidFill>
                  <a:srgbClr val="3333B2"/>
                </a:solidFill>
                <a:latin typeface="Arial"/>
                <a:cs typeface="Arial"/>
              </a:rPr>
              <a:t>block:</a:t>
            </a:r>
            <a:r>
              <a:rPr sz="1200" spc="10" dirty="0">
                <a:solidFill>
                  <a:srgbClr val="3333B2"/>
                </a:solidFill>
                <a:latin typeface="Arial"/>
                <a:cs typeface="Arial"/>
              </a:rPr>
              <a:t> </a:t>
            </a:r>
            <a:r>
              <a:rPr sz="1200" dirty="0">
                <a:solidFill>
                  <a:srgbClr val="3333B2"/>
                </a:solidFill>
                <a:latin typeface="Arial"/>
                <a:cs typeface="Arial"/>
              </a:rPr>
              <a:t>distributed</a:t>
            </a:r>
            <a:r>
              <a:rPr sz="1200" spc="-55" dirty="0">
                <a:solidFill>
                  <a:srgbClr val="3333B2"/>
                </a:solidFill>
                <a:latin typeface="Arial"/>
                <a:cs typeface="Arial"/>
              </a:rPr>
              <a:t> </a:t>
            </a:r>
            <a:r>
              <a:rPr sz="1200" spc="-10" dirty="0">
                <a:solidFill>
                  <a:srgbClr val="3333B2"/>
                </a:solidFill>
                <a:latin typeface="Arial"/>
                <a:cs typeface="Arial"/>
              </a:rPr>
              <a:t>consensus</a:t>
            </a:r>
            <a:endParaRPr sz="1200">
              <a:latin typeface="Arial"/>
              <a:cs typeface="Arial"/>
            </a:endParaRPr>
          </a:p>
          <a:p>
            <a:pPr marL="264160">
              <a:lnSpc>
                <a:spcPct val="100000"/>
              </a:lnSpc>
              <a:spcBef>
                <a:spcPts val="1055"/>
              </a:spcBef>
            </a:pPr>
            <a:r>
              <a:rPr sz="1000" spc="-10" dirty="0">
                <a:solidFill>
                  <a:srgbClr val="3333B2"/>
                </a:solidFill>
                <a:latin typeface="Arial"/>
                <a:cs typeface="Arial"/>
              </a:rPr>
              <a:t>Decentralized</a:t>
            </a:r>
            <a:r>
              <a:rPr sz="1000" spc="-5" dirty="0">
                <a:solidFill>
                  <a:srgbClr val="3333B2"/>
                </a:solidFill>
                <a:latin typeface="Arial"/>
                <a:cs typeface="Arial"/>
              </a:rPr>
              <a:t> </a:t>
            </a:r>
            <a:r>
              <a:rPr sz="1000" dirty="0">
                <a:solidFill>
                  <a:srgbClr val="3333B2"/>
                </a:solidFill>
                <a:latin typeface="Arial"/>
                <a:cs typeface="Arial"/>
              </a:rPr>
              <a:t>solution </a:t>
            </a:r>
            <a:r>
              <a:rPr sz="1000" spc="-10" dirty="0">
                <a:solidFill>
                  <a:srgbClr val="3333B2"/>
                </a:solidFill>
                <a:latin typeface="Arial"/>
                <a:cs typeface="Arial"/>
              </a:rPr>
              <a:t>(permisionless)</a:t>
            </a:r>
            <a:endParaRPr sz="1000">
              <a:latin typeface="Arial"/>
              <a:cs typeface="Arial"/>
            </a:endParaRPr>
          </a:p>
        </p:txBody>
      </p:sp>
      <p:pic>
        <p:nvPicPr>
          <p:cNvPr id="6" name="object 6"/>
          <p:cNvPicPr/>
          <p:nvPr/>
        </p:nvPicPr>
        <p:blipFill>
          <a:blip r:embed="rId4" cstate="print"/>
          <a:stretch>
            <a:fillRect/>
          </a:stretch>
        </p:blipFill>
        <p:spPr>
          <a:xfrm>
            <a:off x="1231252" y="791980"/>
            <a:ext cx="2145483" cy="1126341"/>
          </a:xfrm>
          <a:prstGeom prst="rect">
            <a:avLst/>
          </a:prstGeom>
        </p:spPr>
      </p:pic>
      <p:sp>
        <p:nvSpPr>
          <p:cNvPr id="7" name="object 7"/>
          <p:cNvSpPr txBox="1"/>
          <p:nvPr/>
        </p:nvSpPr>
        <p:spPr>
          <a:xfrm>
            <a:off x="321894" y="1985926"/>
            <a:ext cx="3964304" cy="947419"/>
          </a:xfrm>
          <a:prstGeom prst="rect">
            <a:avLst/>
          </a:prstGeom>
        </p:spPr>
        <p:txBody>
          <a:bodyPr vert="horz" wrap="square" lIns="0" tIns="83820" rIns="0" bIns="0" rtlCol="0">
            <a:spAutoFit/>
          </a:bodyPr>
          <a:lstStyle/>
          <a:p>
            <a:pPr marL="38100">
              <a:lnSpc>
                <a:spcPct val="100000"/>
              </a:lnSpc>
              <a:spcBef>
                <a:spcPts val="660"/>
              </a:spcBef>
            </a:pPr>
            <a:r>
              <a:rPr sz="1000" spc="-10" dirty="0">
                <a:solidFill>
                  <a:srgbClr val="3333B2"/>
                </a:solidFill>
                <a:latin typeface="Arial"/>
                <a:cs typeface="Arial"/>
              </a:rPr>
              <a:t>Observation</a:t>
            </a:r>
            <a:endParaRPr sz="1000">
              <a:latin typeface="Arial"/>
              <a:cs typeface="Arial"/>
            </a:endParaRPr>
          </a:p>
          <a:p>
            <a:pPr marL="290830" marR="198120" indent="-120650">
              <a:lnSpc>
                <a:spcPct val="111600"/>
              </a:lnSpc>
              <a:spcBef>
                <a:spcPts val="375"/>
              </a:spcBef>
              <a:buClr>
                <a:srgbClr val="3333B2"/>
              </a:buClr>
              <a:buFont typeface="Apple Symbols"/>
              <a:buChar char="•"/>
              <a:tabLst>
                <a:tab pos="291465" algn="l"/>
              </a:tabLst>
            </a:pPr>
            <a:r>
              <a:rPr sz="900" dirty="0">
                <a:latin typeface="Arial"/>
                <a:cs typeface="Arial"/>
              </a:rPr>
              <a:t>Participants</a:t>
            </a:r>
            <a:r>
              <a:rPr sz="900" spc="-20" dirty="0">
                <a:latin typeface="Arial"/>
                <a:cs typeface="Arial"/>
              </a:rPr>
              <a:t> </a:t>
            </a:r>
            <a:r>
              <a:rPr sz="900" spc="-10" dirty="0">
                <a:latin typeface="Arial"/>
                <a:cs typeface="Arial"/>
              </a:rPr>
              <a:t>collectively</a:t>
            </a:r>
            <a:r>
              <a:rPr sz="900" spc="-20" dirty="0">
                <a:latin typeface="Arial"/>
                <a:cs typeface="Arial"/>
              </a:rPr>
              <a:t> </a:t>
            </a:r>
            <a:r>
              <a:rPr sz="900" dirty="0">
                <a:latin typeface="Arial"/>
                <a:cs typeface="Arial"/>
              </a:rPr>
              <a:t>engage</a:t>
            </a:r>
            <a:r>
              <a:rPr sz="900" spc="-20" dirty="0">
                <a:latin typeface="Arial"/>
                <a:cs typeface="Arial"/>
              </a:rPr>
              <a:t> </a:t>
            </a:r>
            <a:r>
              <a:rPr sz="900" dirty="0">
                <a:latin typeface="Arial"/>
                <a:cs typeface="Arial"/>
              </a:rPr>
              <a:t>in</a:t>
            </a:r>
            <a:r>
              <a:rPr sz="900" spc="-20" dirty="0">
                <a:latin typeface="Arial"/>
                <a:cs typeface="Arial"/>
              </a:rPr>
              <a:t> </a:t>
            </a:r>
            <a:r>
              <a:rPr sz="900" dirty="0">
                <a:latin typeface="Arial"/>
                <a:cs typeface="Arial"/>
              </a:rPr>
              <a:t>a</a:t>
            </a:r>
            <a:r>
              <a:rPr sz="900" spc="-20" dirty="0">
                <a:latin typeface="Arial"/>
                <a:cs typeface="Arial"/>
              </a:rPr>
              <a:t> </a:t>
            </a:r>
            <a:r>
              <a:rPr sz="900" dirty="0">
                <a:solidFill>
                  <a:srgbClr val="C80000"/>
                </a:solidFill>
                <a:latin typeface="Arial"/>
                <a:cs typeface="Arial"/>
              </a:rPr>
              <a:t>leader</a:t>
            </a:r>
            <a:r>
              <a:rPr sz="900" spc="-20" dirty="0">
                <a:solidFill>
                  <a:srgbClr val="C80000"/>
                </a:solidFill>
                <a:latin typeface="Arial"/>
                <a:cs typeface="Arial"/>
              </a:rPr>
              <a:t> </a:t>
            </a:r>
            <a:r>
              <a:rPr sz="900" dirty="0">
                <a:solidFill>
                  <a:srgbClr val="C80000"/>
                </a:solidFill>
                <a:latin typeface="Arial"/>
                <a:cs typeface="Arial"/>
              </a:rPr>
              <a:t>election</a:t>
            </a:r>
            <a:r>
              <a:rPr sz="900" dirty="0">
                <a:latin typeface="Arial"/>
                <a:cs typeface="Arial"/>
              </a:rPr>
              <a:t>.</a:t>
            </a:r>
            <a:r>
              <a:rPr sz="900" spc="40" dirty="0">
                <a:latin typeface="Arial"/>
                <a:cs typeface="Arial"/>
              </a:rPr>
              <a:t> </a:t>
            </a:r>
            <a:r>
              <a:rPr sz="900" dirty="0">
                <a:latin typeface="Arial"/>
                <a:cs typeface="Arial"/>
              </a:rPr>
              <a:t>Only</a:t>
            </a:r>
            <a:r>
              <a:rPr sz="900" spc="-20" dirty="0">
                <a:latin typeface="Arial"/>
                <a:cs typeface="Arial"/>
              </a:rPr>
              <a:t> </a:t>
            </a:r>
            <a:r>
              <a:rPr sz="900" dirty="0">
                <a:latin typeface="Arial"/>
                <a:cs typeface="Arial"/>
              </a:rPr>
              <a:t>the</a:t>
            </a:r>
            <a:r>
              <a:rPr sz="900" spc="-20" dirty="0">
                <a:latin typeface="Arial"/>
                <a:cs typeface="Arial"/>
              </a:rPr>
              <a:t> </a:t>
            </a:r>
            <a:r>
              <a:rPr sz="900" spc="-10" dirty="0">
                <a:latin typeface="Arial"/>
                <a:cs typeface="Arial"/>
              </a:rPr>
              <a:t>elected </a:t>
            </a:r>
            <a:r>
              <a:rPr sz="900" dirty="0">
                <a:latin typeface="Arial"/>
                <a:cs typeface="Arial"/>
              </a:rPr>
              <a:t>leader</a:t>
            </a:r>
            <a:r>
              <a:rPr sz="900" spc="-20" dirty="0">
                <a:latin typeface="Arial"/>
                <a:cs typeface="Arial"/>
              </a:rPr>
              <a:t> </a:t>
            </a:r>
            <a:r>
              <a:rPr sz="900" dirty="0">
                <a:latin typeface="Arial"/>
                <a:cs typeface="Arial"/>
              </a:rPr>
              <a:t>is</a:t>
            </a:r>
            <a:r>
              <a:rPr sz="900" spc="-20" dirty="0">
                <a:latin typeface="Arial"/>
                <a:cs typeface="Arial"/>
              </a:rPr>
              <a:t> </a:t>
            </a:r>
            <a:r>
              <a:rPr sz="900" dirty="0">
                <a:latin typeface="Arial"/>
                <a:cs typeface="Arial"/>
              </a:rPr>
              <a:t>allowed</a:t>
            </a:r>
            <a:r>
              <a:rPr sz="900" spc="-15"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append</a:t>
            </a:r>
            <a:r>
              <a:rPr sz="900" spc="-20" dirty="0">
                <a:latin typeface="Arial"/>
                <a:cs typeface="Arial"/>
              </a:rPr>
              <a:t> </a:t>
            </a:r>
            <a:r>
              <a:rPr sz="900" dirty="0">
                <a:latin typeface="Arial"/>
                <a:cs typeface="Arial"/>
              </a:rPr>
              <a:t>a</a:t>
            </a:r>
            <a:r>
              <a:rPr sz="900" spc="-15" dirty="0">
                <a:latin typeface="Arial"/>
                <a:cs typeface="Arial"/>
              </a:rPr>
              <a:t> </a:t>
            </a:r>
            <a:r>
              <a:rPr sz="900" spc="-10" dirty="0">
                <a:latin typeface="Arial"/>
                <a:cs typeface="Arial"/>
              </a:rPr>
              <a:t>block</a:t>
            </a:r>
            <a:r>
              <a:rPr sz="900" spc="-20" dirty="0">
                <a:latin typeface="Arial"/>
                <a:cs typeface="Arial"/>
              </a:rPr>
              <a:t> </a:t>
            </a:r>
            <a:r>
              <a:rPr sz="900" dirty="0">
                <a:latin typeface="Arial"/>
                <a:cs typeface="Arial"/>
              </a:rPr>
              <a:t>of</a:t>
            </a:r>
            <a:r>
              <a:rPr sz="900" spc="-20" dirty="0">
                <a:latin typeface="Arial"/>
                <a:cs typeface="Arial"/>
              </a:rPr>
              <a:t> </a:t>
            </a:r>
            <a:r>
              <a:rPr sz="900" spc="-10" dirty="0">
                <a:latin typeface="Arial"/>
                <a:cs typeface="Arial"/>
              </a:rPr>
              <a:t>validated</a:t>
            </a:r>
            <a:r>
              <a:rPr sz="900" spc="-15" dirty="0">
                <a:latin typeface="Arial"/>
                <a:cs typeface="Arial"/>
              </a:rPr>
              <a:t> </a:t>
            </a:r>
            <a:r>
              <a:rPr sz="900" spc="-10" dirty="0">
                <a:latin typeface="Arial"/>
                <a:cs typeface="Arial"/>
              </a:rPr>
              <a:t>transactions.</a:t>
            </a:r>
            <a:endParaRPr sz="900">
              <a:latin typeface="Arial"/>
              <a:cs typeface="Arial"/>
            </a:endParaRPr>
          </a:p>
          <a:p>
            <a:pPr marL="290830" marR="30480" indent="-120650">
              <a:lnSpc>
                <a:spcPct val="111600"/>
              </a:lnSpc>
              <a:spcBef>
                <a:spcPts val="300"/>
              </a:spcBef>
              <a:buClr>
                <a:srgbClr val="3333B2"/>
              </a:buClr>
              <a:buFont typeface="Apple Symbols"/>
              <a:buChar char="•"/>
              <a:tabLst>
                <a:tab pos="291465" algn="l"/>
              </a:tabLst>
            </a:pPr>
            <a:r>
              <a:rPr sz="900" spc="-10" dirty="0">
                <a:latin typeface="Arial"/>
                <a:cs typeface="Arial"/>
              </a:rPr>
              <a:t>Large-</a:t>
            </a:r>
            <a:r>
              <a:rPr sz="900" dirty="0">
                <a:latin typeface="Arial"/>
                <a:cs typeface="Arial"/>
              </a:rPr>
              <a:t>scale,</a:t>
            </a:r>
            <a:r>
              <a:rPr sz="900" spc="-25" dirty="0">
                <a:latin typeface="Arial"/>
                <a:cs typeface="Arial"/>
              </a:rPr>
              <a:t> </a:t>
            </a:r>
            <a:r>
              <a:rPr sz="900" spc="-10" dirty="0">
                <a:latin typeface="Arial"/>
                <a:cs typeface="Arial"/>
              </a:rPr>
              <a:t>decentralized</a:t>
            </a:r>
            <a:r>
              <a:rPr sz="900" spc="-25" dirty="0">
                <a:latin typeface="Arial"/>
                <a:cs typeface="Arial"/>
              </a:rPr>
              <a:t> </a:t>
            </a:r>
            <a:r>
              <a:rPr sz="900" dirty="0">
                <a:latin typeface="Arial"/>
                <a:cs typeface="Arial"/>
              </a:rPr>
              <a:t>leader</a:t>
            </a:r>
            <a:r>
              <a:rPr sz="900" spc="-20" dirty="0">
                <a:latin typeface="Arial"/>
                <a:cs typeface="Arial"/>
              </a:rPr>
              <a:t> </a:t>
            </a:r>
            <a:r>
              <a:rPr sz="900" dirty="0">
                <a:latin typeface="Arial"/>
                <a:cs typeface="Arial"/>
              </a:rPr>
              <a:t>election</a:t>
            </a:r>
            <a:r>
              <a:rPr sz="900" spc="-25" dirty="0">
                <a:latin typeface="Arial"/>
                <a:cs typeface="Arial"/>
              </a:rPr>
              <a:t> </a:t>
            </a:r>
            <a:r>
              <a:rPr sz="900" dirty="0">
                <a:latin typeface="Arial"/>
                <a:cs typeface="Arial"/>
              </a:rPr>
              <a:t>that</a:t>
            </a:r>
            <a:r>
              <a:rPr sz="900" spc="-25" dirty="0">
                <a:latin typeface="Arial"/>
                <a:cs typeface="Arial"/>
              </a:rPr>
              <a:t> </a:t>
            </a:r>
            <a:r>
              <a:rPr sz="900" dirty="0">
                <a:latin typeface="Arial"/>
                <a:cs typeface="Arial"/>
              </a:rPr>
              <a:t>is</a:t>
            </a:r>
            <a:r>
              <a:rPr sz="900" spc="-20" dirty="0">
                <a:latin typeface="Arial"/>
                <a:cs typeface="Arial"/>
              </a:rPr>
              <a:t> </a:t>
            </a:r>
            <a:r>
              <a:rPr sz="900" spc="-10" dirty="0">
                <a:latin typeface="Arial"/>
                <a:cs typeface="Arial"/>
              </a:rPr>
              <a:t>fair,</a:t>
            </a:r>
            <a:r>
              <a:rPr sz="900" spc="-25" dirty="0">
                <a:latin typeface="Arial"/>
                <a:cs typeface="Arial"/>
              </a:rPr>
              <a:t> </a:t>
            </a:r>
            <a:r>
              <a:rPr sz="900" dirty="0">
                <a:latin typeface="Arial"/>
                <a:cs typeface="Arial"/>
              </a:rPr>
              <a:t>robust,</a:t>
            </a:r>
            <a:r>
              <a:rPr sz="900" spc="-20" dirty="0">
                <a:latin typeface="Arial"/>
                <a:cs typeface="Arial"/>
              </a:rPr>
              <a:t> </a:t>
            </a:r>
            <a:r>
              <a:rPr sz="900" dirty="0">
                <a:latin typeface="Arial"/>
                <a:cs typeface="Arial"/>
              </a:rPr>
              <a:t>secure,</a:t>
            </a:r>
            <a:r>
              <a:rPr sz="900" spc="-25" dirty="0">
                <a:latin typeface="Arial"/>
                <a:cs typeface="Arial"/>
              </a:rPr>
              <a:t> and </a:t>
            </a:r>
            <a:r>
              <a:rPr sz="900" dirty="0">
                <a:latin typeface="Arial"/>
                <a:cs typeface="Arial"/>
              </a:rPr>
              <a:t>so</a:t>
            </a:r>
            <a:r>
              <a:rPr sz="900" spc="-25" dirty="0">
                <a:latin typeface="Arial"/>
                <a:cs typeface="Arial"/>
              </a:rPr>
              <a:t> </a:t>
            </a:r>
            <a:r>
              <a:rPr sz="900" dirty="0">
                <a:latin typeface="Arial"/>
                <a:cs typeface="Arial"/>
              </a:rPr>
              <a:t>on,</a:t>
            </a:r>
            <a:r>
              <a:rPr sz="900" spc="-20" dirty="0">
                <a:latin typeface="Arial"/>
                <a:cs typeface="Arial"/>
              </a:rPr>
              <a:t> </a:t>
            </a:r>
            <a:r>
              <a:rPr sz="900" dirty="0">
                <a:latin typeface="Arial"/>
                <a:cs typeface="Arial"/>
              </a:rPr>
              <a:t>is</a:t>
            </a:r>
            <a:r>
              <a:rPr sz="900" spc="-25" dirty="0">
                <a:latin typeface="Arial"/>
                <a:cs typeface="Arial"/>
              </a:rPr>
              <a:t> </a:t>
            </a:r>
            <a:r>
              <a:rPr sz="900" dirty="0">
                <a:latin typeface="Arial"/>
                <a:cs typeface="Arial"/>
              </a:rPr>
              <a:t>far</a:t>
            </a:r>
            <a:r>
              <a:rPr sz="900" spc="-20" dirty="0">
                <a:latin typeface="Arial"/>
                <a:cs typeface="Arial"/>
              </a:rPr>
              <a:t> </a:t>
            </a:r>
            <a:r>
              <a:rPr sz="900" dirty="0">
                <a:latin typeface="Arial"/>
                <a:cs typeface="Arial"/>
              </a:rPr>
              <a:t>from</a:t>
            </a:r>
            <a:r>
              <a:rPr sz="900" spc="-25" dirty="0">
                <a:latin typeface="Arial"/>
                <a:cs typeface="Arial"/>
              </a:rPr>
              <a:t> </a:t>
            </a:r>
            <a:r>
              <a:rPr sz="900" spc="-10" dirty="0">
                <a:latin typeface="Arial"/>
                <a:cs typeface="Arial"/>
              </a:rPr>
              <a:t>trivial.</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53467" y="3349927"/>
            <a:ext cx="709930" cy="104139"/>
          </a:xfrm>
          <a:prstGeom prst="rect">
            <a:avLst/>
          </a:prstGeom>
        </p:spPr>
        <p:txBody>
          <a:bodyPr vert="horz" wrap="square" lIns="0" tIns="9525" rIns="0" bIns="0" rtlCol="0">
            <a:spAutoFit/>
          </a:bodyPr>
          <a:lstStyle/>
          <a:p>
            <a:pPr marL="12700">
              <a:lnSpc>
                <a:spcPct val="100000"/>
              </a:lnSpc>
              <a:spcBef>
                <a:spcPts val="75"/>
              </a:spcBef>
            </a:pPr>
            <a:r>
              <a:rPr sz="500" spc="-10" dirty="0">
                <a:latin typeface="Arial"/>
                <a:cs typeface="Arial"/>
                <a:hlinkClick r:id="rId5" action="ppaction://hlinksldjump"/>
              </a:rPr>
              <a:t>Blockchain</a:t>
            </a:r>
            <a:r>
              <a:rPr sz="500" spc="60" dirty="0">
                <a:latin typeface="Arial"/>
                <a:cs typeface="Arial"/>
                <a:hlinkClick r:id="rId5" action="ppaction://hlinksldjump"/>
              </a:rPr>
              <a:t> </a:t>
            </a:r>
            <a:r>
              <a:rPr sz="500" spc="-10" dirty="0">
                <a:latin typeface="Arial"/>
                <a:cs typeface="Arial"/>
                <a:hlinkClick r:id="rId5" action="ppaction://hlinksldjump"/>
              </a:rPr>
              <a:t>architectures</a:t>
            </a:r>
            <a:endParaRPr sz="500">
              <a:latin typeface="Arial"/>
              <a:cs typeface="Arial"/>
            </a:endParaRPr>
          </a:p>
        </p:txBody>
      </p:sp>
    </p:spTree>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661410" algn="l"/>
              </a:tabLst>
            </a:pPr>
            <a:r>
              <a:rPr sz="500" spc="-10" dirty="0">
                <a:latin typeface="Arial"/>
                <a:cs typeface="Arial"/>
                <a:hlinkClick r:id="rId2" action="ppaction://hlinksldjump"/>
              </a:rPr>
              <a:t>Architectures</a:t>
            </a:r>
            <a:r>
              <a:rPr sz="500" dirty="0">
                <a:latin typeface="Arial"/>
                <a:cs typeface="Arial"/>
              </a:rPr>
              <a:t>	</a:t>
            </a:r>
            <a:r>
              <a:rPr sz="500" spc="-10" dirty="0">
                <a:solidFill>
                  <a:srgbClr val="FFFFFF"/>
                </a:solidFill>
                <a:latin typeface="Arial"/>
                <a:cs typeface="Arial"/>
                <a:hlinkClick r:id="rId3" action="ppaction://hlinksldjump"/>
              </a:rPr>
              <a:t>Layered-</a:t>
            </a:r>
            <a:r>
              <a:rPr sz="500" dirty="0">
                <a:solidFill>
                  <a:srgbClr val="FFFFFF"/>
                </a:solidFill>
                <a:latin typeface="Arial"/>
                <a:cs typeface="Arial"/>
                <a:hlinkClick r:id="rId3" action="ppaction://hlinksldjump"/>
              </a:rPr>
              <a:t>system</a:t>
            </a:r>
            <a:r>
              <a:rPr sz="500" spc="1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architectures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Example:</a:t>
            </a:r>
            <a:r>
              <a:rPr spc="35" dirty="0"/>
              <a:t> </a:t>
            </a:r>
            <a:r>
              <a:rPr dirty="0"/>
              <a:t>The</a:t>
            </a:r>
            <a:r>
              <a:rPr spc="-40" dirty="0"/>
              <a:t> </a:t>
            </a:r>
            <a:r>
              <a:rPr dirty="0"/>
              <a:t>Network</a:t>
            </a:r>
            <a:r>
              <a:rPr spc="-35" dirty="0"/>
              <a:t> </a:t>
            </a:r>
            <a:r>
              <a:rPr dirty="0"/>
              <a:t>File</a:t>
            </a:r>
            <a:r>
              <a:rPr spc="-35" dirty="0"/>
              <a:t> </a:t>
            </a:r>
            <a:r>
              <a:rPr spc="-10" dirty="0"/>
              <a:t>System</a:t>
            </a:r>
          </a:p>
        </p:txBody>
      </p:sp>
      <p:sp>
        <p:nvSpPr>
          <p:cNvPr id="4" name="object 4"/>
          <p:cNvSpPr txBox="1"/>
          <p:nvPr/>
        </p:nvSpPr>
        <p:spPr>
          <a:xfrm>
            <a:off x="343382" y="499476"/>
            <a:ext cx="3816350" cy="904875"/>
          </a:xfrm>
          <a:prstGeom prst="rect">
            <a:avLst/>
          </a:prstGeom>
        </p:spPr>
        <p:txBody>
          <a:bodyPr vert="horz" wrap="square" lIns="0" tIns="27305" rIns="0" bIns="0" rtlCol="0">
            <a:spAutoFit/>
          </a:bodyPr>
          <a:lstStyle/>
          <a:p>
            <a:pPr marL="16510">
              <a:lnSpc>
                <a:spcPct val="100000"/>
              </a:lnSpc>
              <a:spcBef>
                <a:spcPts val="215"/>
              </a:spcBef>
            </a:pPr>
            <a:r>
              <a:rPr sz="1000" spc="-10" dirty="0">
                <a:solidFill>
                  <a:srgbClr val="3333B2"/>
                </a:solidFill>
                <a:latin typeface="Arial"/>
                <a:cs typeface="Arial"/>
              </a:rPr>
              <a:t>Foundations</a:t>
            </a:r>
            <a:endParaRPr sz="1000">
              <a:latin typeface="Arial"/>
              <a:cs typeface="Arial"/>
            </a:endParaRPr>
          </a:p>
          <a:p>
            <a:pPr marL="16510" marR="5080">
              <a:lnSpc>
                <a:spcPts val="1210"/>
              </a:lnSpc>
              <a:spcBef>
                <a:spcPts val="35"/>
              </a:spcBef>
            </a:pPr>
            <a:r>
              <a:rPr sz="900" dirty="0">
                <a:latin typeface="Arial"/>
                <a:cs typeface="Arial"/>
              </a:rPr>
              <a:t>Each</a:t>
            </a:r>
            <a:r>
              <a:rPr sz="900" spc="-20" dirty="0">
                <a:latin typeface="Arial"/>
                <a:cs typeface="Arial"/>
              </a:rPr>
              <a:t> </a:t>
            </a:r>
            <a:r>
              <a:rPr sz="900" dirty="0">
                <a:latin typeface="Arial"/>
                <a:cs typeface="Arial"/>
              </a:rPr>
              <a:t>NFS</a:t>
            </a:r>
            <a:r>
              <a:rPr sz="900" spc="-20" dirty="0">
                <a:latin typeface="Arial"/>
                <a:cs typeface="Arial"/>
              </a:rPr>
              <a:t> </a:t>
            </a:r>
            <a:r>
              <a:rPr sz="900" dirty="0">
                <a:latin typeface="Arial"/>
                <a:cs typeface="Arial"/>
              </a:rPr>
              <a:t>server</a:t>
            </a:r>
            <a:r>
              <a:rPr sz="900" spc="-20" dirty="0">
                <a:latin typeface="Arial"/>
                <a:cs typeface="Arial"/>
              </a:rPr>
              <a:t> </a:t>
            </a:r>
            <a:r>
              <a:rPr sz="900" dirty="0">
                <a:latin typeface="Arial"/>
                <a:cs typeface="Arial"/>
              </a:rPr>
              <a:t>provides</a:t>
            </a:r>
            <a:r>
              <a:rPr sz="900" spc="-20" dirty="0">
                <a:latin typeface="Arial"/>
                <a:cs typeface="Arial"/>
              </a:rPr>
              <a:t> </a:t>
            </a:r>
            <a:r>
              <a:rPr sz="900" dirty="0">
                <a:latin typeface="Arial"/>
                <a:cs typeface="Arial"/>
              </a:rPr>
              <a:t>a</a:t>
            </a:r>
            <a:r>
              <a:rPr sz="900" spc="-20" dirty="0">
                <a:latin typeface="Arial"/>
                <a:cs typeface="Arial"/>
              </a:rPr>
              <a:t> </a:t>
            </a:r>
            <a:r>
              <a:rPr sz="900" spc="-10" dirty="0">
                <a:latin typeface="Arial"/>
                <a:cs typeface="Arial"/>
              </a:rPr>
              <a:t>standardized</a:t>
            </a:r>
            <a:r>
              <a:rPr sz="900" spc="-20" dirty="0">
                <a:latin typeface="Arial"/>
                <a:cs typeface="Arial"/>
              </a:rPr>
              <a:t> </a:t>
            </a:r>
            <a:r>
              <a:rPr sz="900" dirty="0">
                <a:latin typeface="Arial"/>
                <a:cs typeface="Arial"/>
              </a:rPr>
              <a:t>view</a:t>
            </a:r>
            <a:r>
              <a:rPr sz="900" spc="-20" dirty="0">
                <a:latin typeface="Arial"/>
                <a:cs typeface="Arial"/>
              </a:rPr>
              <a:t> </a:t>
            </a:r>
            <a:r>
              <a:rPr sz="900" dirty="0">
                <a:latin typeface="Arial"/>
                <a:cs typeface="Arial"/>
              </a:rPr>
              <a:t>of</a:t>
            </a:r>
            <a:r>
              <a:rPr sz="900" spc="-20" dirty="0">
                <a:latin typeface="Arial"/>
                <a:cs typeface="Arial"/>
              </a:rPr>
              <a:t> </a:t>
            </a:r>
            <a:r>
              <a:rPr sz="900" dirty="0">
                <a:latin typeface="Arial"/>
                <a:cs typeface="Arial"/>
              </a:rPr>
              <a:t>its</a:t>
            </a:r>
            <a:r>
              <a:rPr sz="900" spc="-20" dirty="0">
                <a:latin typeface="Arial"/>
                <a:cs typeface="Arial"/>
              </a:rPr>
              <a:t> </a:t>
            </a:r>
            <a:r>
              <a:rPr sz="900" dirty="0">
                <a:latin typeface="Arial"/>
                <a:cs typeface="Arial"/>
              </a:rPr>
              <a:t>local</a:t>
            </a:r>
            <a:r>
              <a:rPr sz="900" spc="-20" dirty="0">
                <a:latin typeface="Arial"/>
                <a:cs typeface="Arial"/>
              </a:rPr>
              <a:t> </a:t>
            </a:r>
            <a:r>
              <a:rPr sz="900" dirty="0">
                <a:latin typeface="Arial"/>
                <a:cs typeface="Arial"/>
              </a:rPr>
              <a:t>file</a:t>
            </a:r>
            <a:r>
              <a:rPr sz="900" spc="-20" dirty="0">
                <a:latin typeface="Arial"/>
                <a:cs typeface="Arial"/>
              </a:rPr>
              <a:t> </a:t>
            </a:r>
            <a:r>
              <a:rPr sz="900" dirty="0">
                <a:latin typeface="Arial"/>
                <a:cs typeface="Arial"/>
              </a:rPr>
              <a:t>system:</a:t>
            </a:r>
            <a:r>
              <a:rPr sz="900" spc="40" dirty="0">
                <a:latin typeface="Arial"/>
                <a:cs typeface="Arial"/>
              </a:rPr>
              <a:t> </a:t>
            </a:r>
            <a:r>
              <a:rPr sz="900" spc="-20" dirty="0">
                <a:latin typeface="Arial"/>
                <a:cs typeface="Arial"/>
              </a:rPr>
              <a:t>each </a:t>
            </a:r>
            <a:r>
              <a:rPr sz="900" dirty="0">
                <a:latin typeface="Arial"/>
                <a:cs typeface="Arial"/>
              </a:rPr>
              <a:t>server</a:t>
            </a:r>
            <a:r>
              <a:rPr sz="900" spc="-15" dirty="0">
                <a:latin typeface="Arial"/>
                <a:cs typeface="Arial"/>
              </a:rPr>
              <a:t> </a:t>
            </a:r>
            <a:r>
              <a:rPr sz="900" dirty="0">
                <a:latin typeface="Arial"/>
                <a:cs typeface="Arial"/>
              </a:rPr>
              <a:t>supports</a:t>
            </a:r>
            <a:r>
              <a:rPr sz="900" spc="-15" dirty="0">
                <a:latin typeface="Arial"/>
                <a:cs typeface="Arial"/>
              </a:rPr>
              <a:t> </a:t>
            </a:r>
            <a:r>
              <a:rPr sz="900" dirty="0">
                <a:latin typeface="Arial"/>
                <a:cs typeface="Arial"/>
              </a:rPr>
              <a:t>the</a:t>
            </a:r>
            <a:r>
              <a:rPr sz="900" spc="-10" dirty="0">
                <a:latin typeface="Arial"/>
                <a:cs typeface="Arial"/>
              </a:rPr>
              <a:t> </a:t>
            </a:r>
            <a:r>
              <a:rPr sz="900" dirty="0">
                <a:latin typeface="Arial"/>
                <a:cs typeface="Arial"/>
              </a:rPr>
              <a:t>same</a:t>
            </a:r>
            <a:r>
              <a:rPr sz="900" spc="-15" dirty="0">
                <a:latin typeface="Arial"/>
                <a:cs typeface="Arial"/>
              </a:rPr>
              <a:t> </a:t>
            </a:r>
            <a:r>
              <a:rPr sz="900" dirty="0">
                <a:latin typeface="Arial"/>
                <a:cs typeface="Arial"/>
              </a:rPr>
              <a:t>model,</a:t>
            </a:r>
            <a:r>
              <a:rPr sz="900" spc="-15" dirty="0">
                <a:latin typeface="Arial"/>
                <a:cs typeface="Arial"/>
              </a:rPr>
              <a:t> </a:t>
            </a:r>
            <a:r>
              <a:rPr sz="900" dirty="0">
                <a:latin typeface="Arial"/>
                <a:cs typeface="Arial"/>
              </a:rPr>
              <a:t>regardless</a:t>
            </a:r>
            <a:r>
              <a:rPr sz="900" spc="-10" dirty="0">
                <a:latin typeface="Arial"/>
                <a:cs typeface="Arial"/>
              </a:rPr>
              <a:t> </a:t>
            </a:r>
            <a:r>
              <a:rPr sz="900" dirty="0">
                <a:latin typeface="Arial"/>
                <a:cs typeface="Arial"/>
              </a:rPr>
              <a:t>the</a:t>
            </a:r>
            <a:r>
              <a:rPr sz="900" spc="-15" dirty="0">
                <a:latin typeface="Arial"/>
                <a:cs typeface="Arial"/>
              </a:rPr>
              <a:t> </a:t>
            </a:r>
            <a:r>
              <a:rPr sz="900" spc="-10" dirty="0">
                <a:latin typeface="Arial"/>
                <a:cs typeface="Arial"/>
              </a:rPr>
              <a:t>implementation</a:t>
            </a:r>
            <a:r>
              <a:rPr sz="900" spc="-15" dirty="0">
                <a:latin typeface="Arial"/>
                <a:cs typeface="Arial"/>
              </a:rPr>
              <a:t> </a:t>
            </a:r>
            <a:r>
              <a:rPr sz="900" dirty="0">
                <a:latin typeface="Arial"/>
                <a:cs typeface="Arial"/>
              </a:rPr>
              <a:t>of</a:t>
            </a:r>
            <a:r>
              <a:rPr sz="900" spc="-10" dirty="0">
                <a:latin typeface="Arial"/>
                <a:cs typeface="Arial"/>
              </a:rPr>
              <a:t> </a:t>
            </a:r>
            <a:r>
              <a:rPr sz="900" dirty="0">
                <a:latin typeface="Arial"/>
                <a:cs typeface="Arial"/>
              </a:rPr>
              <a:t>the</a:t>
            </a:r>
            <a:r>
              <a:rPr sz="900" spc="-15" dirty="0">
                <a:latin typeface="Arial"/>
                <a:cs typeface="Arial"/>
              </a:rPr>
              <a:t> </a:t>
            </a:r>
            <a:r>
              <a:rPr sz="900" spc="-20" dirty="0">
                <a:latin typeface="Arial"/>
                <a:cs typeface="Arial"/>
              </a:rPr>
              <a:t>file </a:t>
            </a:r>
            <a:r>
              <a:rPr sz="900" spc="-10" dirty="0">
                <a:latin typeface="Arial"/>
                <a:cs typeface="Arial"/>
              </a:rPr>
              <a:t>system.</a:t>
            </a:r>
            <a:endParaRPr sz="900">
              <a:latin typeface="Arial"/>
              <a:cs typeface="Arial"/>
            </a:endParaRPr>
          </a:p>
          <a:p>
            <a:pPr marL="12700">
              <a:lnSpc>
                <a:spcPct val="100000"/>
              </a:lnSpc>
              <a:spcBef>
                <a:spcPts val="745"/>
              </a:spcBef>
            </a:pPr>
            <a:r>
              <a:rPr sz="1000" dirty="0">
                <a:solidFill>
                  <a:srgbClr val="3333B2"/>
                </a:solidFill>
                <a:latin typeface="Arial"/>
                <a:cs typeface="Arial"/>
              </a:rPr>
              <a:t>The</a:t>
            </a:r>
            <a:r>
              <a:rPr sz="1000" spc="-30" dirty="0">
                <a:solidFill>
                  <a:srgbClr val="3333B2"/>
                </a:solidFill>
                <a:latin typeface="Arial"/>
                <a:cs typeface="Arial"/>
              </a:rPr>
              <a:t> </a:t>
            </a:r>
            <a:r>
              <a:rPr sz="1000" dirty="0">
                <a:solidFill>
                  <a:srgbClr val="3333B2"/>
                </a:solidFill>
                <a:latin typeface="Arial"/>
                <a:cs typeface="Arial"/>
              </a:rPr>
              <a:t>NFS</a:t>
            </a:r>
            <a:r>
              <a:rPr sz="1000" spc="-30" dirty="0">
                <a:solidFill>
                  <a:srgbClr val="3333B2"/>
                </a:solidFill>
                <a:latin typeface="Arial"/>
                <a:cs typeface="Arial"/>
              </a:rPr>
              <a:t> </a:t>
            </a:r>
            <a:r>
              <a:rPr sz="1000" dirty="0">
                <a:solidFill>
                  <a:srgbClr val="3333B2"/>
                </a:solidFill>
                <a:latin typeface="Arial"/>
                <a:cs typeface="Arial"/>
              </a:rPr>
              <a:t>remote</a:t>
            </a:r>
            <a:r>
              <a:rPr sz="1000" spc="-30" dirty="0">
                <a:solidFill>
                  <a:srgbClr val="3333B2"/>
                </a:solidFill>
                <a:latin typeface="Arial"/>
                <a:cs typeface="Arial"/>
              </a:rPr>
              <a:t> </a:t>
            </a:r>
            <a:r>
              <a:rPr sz="1000" dirty="0">
                <a:solidFill>
                  <a:srgbClr val="3333B2"/>
                </a:solidFill>
                <a:latin typeface="Arial"/>
                <a:cs typeface="Arial"/>
              </a:rPr>
              <a:t>access</a:t>
            </a:r>
            <a:r>
              <a:rPr sz="1000" spc="-30" dirty="0">
                <a:solidFill>
                  <a:srgbClr val="3333B2"/>
                </a:solidFill>
                <a:latin typeface="Arial"/>
                <a:cs typeface="Arial"/>
              </a:rPr>
              <a:t> </a:t>
            </a:r>
            <a:r>
              <a:rPr sz="1000" spc="-10" dirty="0">
                <a:solidFill>
                  <a:srgbClr val="3333B2"/>
                </a:solidFill>
                <a:latin typeface="Arial"/>
                <a:cs typeface="Arial"/>
              </a:rPr>
              <a:t>model</a:t>
            </a:r>
            <a:endParaRPr sz="1000">
              <a:latin typeface="Arial"/>
              <a:cs typeface="Arial"/>
            </a:endParaRPr>
          </a:p>
        </p:txBody>
      </p:sp>
      <p:pic>
        <p:nvPicPr>
          <p:cNvPr id="5" name="object 5"/>
          <p:cNvPicPr/>
          <p:nvPr/>
        </p:nvPicPr>
        <p:blipFill>
          <a:blip r:embed="rId4" cstate="print"/>
          <a:stretch>
            <a:fillRect/>
          </a:stretch>
        </p:blipFill>
        <p:spPr>
          <a:xfrm>
            <a:off x="565599" y="1540623"/>
            <a:ext cx="1568500" cy="881722"/>
          </a:xfrm>
          <a:prstGeom prst="rect">
            <a:avLst/>
          </a:prstGeom>
        </p:spPr>
      </p:pic>
      <p:pic>
        <p:nvPicPr>
          <p:cNvPr id="6" name="object 6"/>
          <p:cNvPicPr/>
          <p:nvPr/>
        </p:nvPicPr>
        <p:blipFill>
          <a:blip r:embed="rId5" cstate="print"/>
          <a:stretch>
            <a:fillRect/>
          </a:stretch>
        </p:blipFill>
        <p:spPr>
          <a:xfrm>
            <a:off x="2359293" y="1415386"/>
            <a:ext cx="1688105" cy="1133462"/>
          </a:xfrm>
          <a:prstGeom prst="rect">
            <a:avLst/>
          </a:prstGeom>
        </p:spPr>
      </p:pic>
      <p:sp>
        <p:nvSpPr>
          <p:cNvPr id="7" name="object 7"/>
          <p:cNvSpPr txBox="1"/>
          <p:nvPr/>
        </p:nvSpPr>
        <p:spPr>
          <a:xfrm>
            <a:off x="946035" y="2643944"/>
            <a:ext cx="2708275" cy="162560"/>
          </a:xfrm>
          <a:prstGeom prst="rect">
            <a:avLst/>
          </a:prstGeom>
        </p:spPr>
        <p:txBody>
          <a:bodyPr vert="horz" wrap="square" lIns="0" tIns="12065" rIns="0" bIns="0" rtlCol="0">
            <a:spAutoFit/>
          </a:bodyPr>
          <a:lstStyle/>
          <a:p>
            <a:pPr marL="12700">
              <a:lnSpc>
                <a:spcPct val="100000"/>
              </a:lnSpc>
              <a:spcBef>
                <a:spcPts val="95"/>
              </a:spcBef>
              <a:tabLst>
                <a:tab pos="1816735" algn="l"/>
              </a:tabLst>
            </a:pPr>
            <a:r>
              <a:rPr sz="900" dirty="0">
                <a:latin typeface="Arial"/>
                <a:cs typeface="Arial"/>
              </a:rPr>
              <a:t>Remote</a:t>
            </a:r>
            <a:r>
              <a:rPr sz="900" spc="-40" dirty="0">
                <a:latin typeface="Arial"/>
                <a:cs typeface="Arial"/>
              </a:rPr>
              <a:t> </a:t>
            </a:r>
            <a:r>
              <a:rPr sz="900" spc="-10" dirty="0">
                <a:latin typeface="Arial"/>
                <a:cs typeface="Arial"/>
              </a:rPr>
              <a:t>access</a:t>
            </a:r>
            <a:r>
              <a:rPr sz="900" dirty="0">
                <a:latin typeface="Arial"/>
                <a:cs typeface="Arial"/>
              </a:rPr>
              <a:t>	</a:t>
            </a:r>
            <a:r>
              <a:rPr sz="900" spc="-10" dirty="0">
                <a:latin typeface="Arial"/>
                <a:cs typeface="Arial"/>
              </a:rPr>
              <a:t>Upload/download</a:t>
            </a:r>
            <a:endParaRPr sz="900">
              <a:latin typeface="Arial"/>
              <a:cs typeface="Arial"/>
            </a:endParaRPr>
          </a:p>
        </p:txBody>
      </p:sp>
      <p:sp>
        <p:nvSpPr>
          <p:cNvPr id="8" name="object 8"/>
          <p:cNvSpPr txBox="1"/>
          <p:nvPr/>
        </p:nvSpPr>
        <p:spPr>
          <a:xfrm>
            <a:off x="347294" y="2721722"/>
            <a:ext cx="3837940" cy="496570"/>
          </a:xfrm>
          <a:prstGeom prst="rect">
            <a:avLst/>
          </a:prstGeom>
        </p:spPr>
        <p:txBody>
          <a:bodyPr vert="horz" wrap="square" lIns="0" tIns="27305" rIns="0" bIns="0" rtlCol="0">
            <a:spAutoFit/>
          </a:bodyPr>
          <a:lstStyle/>
          <a:p>
            <a:pPr marL="12700">
              <a:lnSpc>
                <a:spcPct val="100000"/>
              </a:lnSpc>
              <a:spcBef>
                <a:spcPts val="215"/>
              </a:spcBef>
            </a:pPr>
            <a:r>
              <a:rPr sz="1000" spc="-20" dirty="0">
                <a:solidFill>
                  <a:srgbClr val="4C994C"/>
                </a:solidFill>
                <a:latin typeface="Arial"/>
                <a:cs typeface="Arial"/>
              </a:rPr>
              <a:t>Note</a:t>
            </a:r>
            <a:endParaRPr sz="1000">
              <a:latin typeface="Arial"/>
              <a:cs typeface="Arial"/>
            </a:endParaRPr>
          </a:p>
          <a:p>
            <a:pPr marL="12700" marR="5080">
              <a:lnSpc>
                <a:spcPts val="1210"/>
              </a:lnSpc>
              <a:spcBef>
                <a:spcPts val="35"/>
              </a:spcBef>
            </a:pPr>
            <a:r>
              <a:rPr sz="900" dirty="0">
                <a:latin typeface="Arial"/>
                <a:cs typeface="Arial"/>
              </a:rPr>
              <a:t>FTP</a:t>
            </a:r>
            <a:r>
              <a:rPr sz="900" spc="-20" dirty="0">
                <a:latin typeface="Arial"/>
                <a:cs typeface="Arial"/>
              </a:rPr>
              <a:t> </a:t>
            </a:r>
            <a:r>
              <a:rPr sz="900" dirty="0">
                <a:latin typeface="Arial"/>
                <a:cs typeface="Arial"/>
              </a:rPr>
              <a:t>is</a:t>
            </a:r>
            <a:r>
              <a:rPr sz="900" spc="-15" dirty="0">
                <a:latin typeface="Arial"/>
                <a:cs typeface="Arial"/>
              </a:rPr>
              <a:t> </a:t>
            </a:r>
            <a:r>
              <a:rPr sz="900" dirty="0">
                <a:latin typeface="Arial"/>
                <a:cs typeface="Arial"/>
              </a:rPr>
              <a:t>a</a:t>
            </a:r>
            <a:r>
              <a:rPr sz="900" spc="-15" dirty="0">
                <a:latin typeface="Arial"/>
                <a:cs typeface="Arial"/>
              </a:rPr>
              <a:t> </a:t>
            </a:r>
            <a:r>
              <a:rPr sz="900" dirty="0">
                <a:latin typeface="Arial"/>
                <a:cs typeface="Arial"/>
              </a:rPr>
              <a:t>typical</a:t>
            </a:r>
            <a:r>
              <a:rPr sz="900" spc="-15" dirty="0">
                <a:latin typeface="Arial"/>
                <a:cs typeface="Arial"/>
              </a:rPr>
              <a:t> </a:t>
            </a:r>
            <a:r>
              <a:rPr sz="900" spc="-10" dirty="0">
                <a:latin typeface="Arial"/>
                <a:cs typeface="Arial"/>
              </a:rPr>
              <a:t>upload/download</a:t>
            </a:r>
            <a:r>
              <a:rPr sz="900" spc="-15" dirty="0">
                <a:latin typeface="Arial"/>
                <a:cs typeface="Arial"/>
              </a:rPr>
              <a:t> </a:t>
            </a:r>
            <a:r>
              <a:rPr sz="900" dirty="0">
                <a:latin typeface="Arial"/>
                <a:cs typeface="Arial"/>
              </a:rPr>
              <a:t>model.</a:t>
            </a:r>
            <a:r>
              <a:rPr sz="900" spc="40" dirty="0">
                <a:latin typeface="Arial"/>
                <a:cs typeface="Arial"/>
              </a:rPr>
              <a:t> </a:t>
            </a:r>
            <a:r>
              <a:rPr sz="900" dirty="0">
                <a:latin typeface="Arial"/>
                <a:cs typeface="Arial"/>
              </a:rPr>
              <a:t>The</a:t>
            </a:r>
            <a:r>
              <a:rPr sz="900" spc="-15" dirty="0">
                <a:latin typeface="Arial"/>
                <a:cs typeface="Arial"/>
              </a:rPr>
              <a:t> </a:t>
            </a:r>
            <a:r>
              <a:rPr sz="900" dirty="0">
                <a:latin typeface="Arial"/>
                <a:cs typeface="Arial"/>
              </a:rPr>
              <a:t>same</a:t>
            </a:r>
            <a:r>
              <a:rPr sz="900" spc="-15" dirty="0">
                <a:latin typeface="Arial"/>
                <a:cs typeface="Arial"/>
              </a:rPr>
              <a:t> </a:t>
            </a:r>
            <a:r>
              <a:rPr sz="900" dirty="0">
                <a:latin typeface="Arial"/>
                <a:cs typeface="Arial"/>
              </a:rPr>
              <a:t>can</a:t>
            </a:r>
            <a:r>
              <a:rPr sz="900" spc="-20" dirty="0">
                <a:latin typeface="Arial"/>
                <a:cs typeface="Arial"/>
              </a:rPr>
              <a:t> </a:t>
            </a:r>
            <a:r>
              <a:rPr sz="900" dirty="0">
                <a:latin typeface="Arial"/>
                <a:cs typeface="Arial"/>
              </a:rPr>
              <a:t>be</a:t>
            </a:r>
            <a:r>
              <a:rPr sz="900" spc="-15" dirty="0">
                <a:latin typeface="Arial"/>
                <a:cs typeface="Arial"/>
              </a:rPr>
              <a:t> </a:t>
            </a:r>
            <a:r>
              <a:rPr sz="900" dirty="0">
                <a:latin typeface="Arial"/>
                <a:cs typeface="Arial"/>
              </a:rPr>
              <a:t>said</a:t>
            </a:r>
            <a:r>
              <a:rPr sz="900" spc="-15" dirty="0">
                <a:latin typeface="Arial"/>
                <a:cs typeface="Arial"/>
              </a:rPr>
              <a:t> </a:t>
            </a:r>
            <a:r>
              <a:rPr sz="900" dirty="0">
                <a:latin typeface="Arial"/>
                <a:cs typeface="Arial"/>
              </a:rPr>
              <a:t>for</a:t>
            </a:r>
            <a:r>
              <a:rPr sz="900" spc="-15" dirty="0">
                <a:latin typeface="Arial"/>
                <a:cs typeface="Arial"/>
              </a:rPr>
              <a:t> </a:t>
            </a:r>
            <a:r>
              <a:rPr sz="900" spc="-10" dirty="0">
                <a:latin typeface="Arial"/>
                <a:cs typeface="Arial"/>
              </a:rPr>
              <a:t>systems </a:t>
            </a:r>
            <a:r>
              <a:rPr sz="900" dirty="0">
                <a:latin typeface="Arial"/>
                <a:cs typeface="Arial"/>
              </a:rPr>
              <a:t>like</a:t>
            </a:r>
            <a:r>
              <a:rPr sz="900" spc="-40" dirty="0">
                <a:latin typeface="Arial"/>
                <a:cs typeface="Arial"/>
              </a:rPr>
              <a:t> </a:t>
            </a:r>
            <a:r>
              <a:rPr sz="900" spc="-10" dirty="0">
                <a:latin typeface="Arial"/>
                <a:cs typeface="Arial"/>
              </a:rPr>
              <a:t>Dropbox.</a:t>
            </a:r>
            <a:endParaRPr sz="900">
              <a:latin typeface="Arial"/>
              <a:cs typeface="Arial"/>
            </a:endParaRPr>
          </a:p>
        </p:txBody>
      </p:sp>
      <p:grpSp>
        <p:nvGrpSpPr>
          <p:cNvPr id="9" name="object 9"/>
          <p:cNvGrpSpPr/>
          <p:nvPr/>
        </p:nvGrpSpPr>
        <p:grpSpPr>
          <a:xfrm>
            <a:off x="0" y="3348469"/>
            <a:ext cx="4608195" cy="107950"/>
            <a:chOff x="0" y="3348469"/>
            <a:chExt cx="4608195" cy="107950"/>
          </a:xfrm>
        </p:grpSpPr>
        <p:sp>
          <p:nvSpPr>
            <p:cNvPr id="10" name="object 10"/>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1" name="object 11"/>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2" name="object 12"/>
          <p:cNvSpPr txBox="1"/>
          <p:nvPr/>
        </p:nvSpPr>
        <p:spPr>
          <a:xfrm>
            <a:off x="53467" y="3349927"/>
            <a:ext cx="10179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6" action="ppaction://hlinksldjump"/>
              </a:rPr>
              <a:t>Example:</a:t>
            </a:r>
            <a:r>
              <a:rPr sz="500" spc="10" dirty="0">
                <a:latin typeface="Arial"/>
                <a:cs typeface="Arial"/>
                <a:hlinkClick r:id="rId6" action="ppaction://hlinksldjump"/>
              </a:rPr>
              <a:t> </a:t>
            </a:r>
            <a:r>
              <a:rPr sz="500" dirty="0">
                <a:latin typeface="Arial"/>
                <a:cs typeface="Arial"/>
                <a:hlinkClick r:id="rId6" action="ppaction://hlinksldjump"/>
              </a:rPr>
              <a:t>The</a:t>
            </a:r>
            <a:r>
              <a:rPr sz="500" spc="-15" dirty="0">
                <a:latin typeface="Arial"/>
                <a:cs typeface="Arial"/>
                <a:hlinkClick r:id="rId6" action="ppaction://hlinksldjump"/>
              </a:rPr>
              <a:t> </a:t>
            </a:r>
            <a:r>
              <a:rPr sz="500" dirty="0">
                <a:latin typeface="Arial"/>
                <a:cs typeface="Arial"/>
                <a:hlinkClick r:id="rId6" action="ppaction://hlinksldjump"/>
              </a:rPr>
              <a:t>Network</a:t>
            </a:r>
            <a:r>
              <a:rPr sz="500" spc="-20" dirty="0">
                <a:latin typeface="Arial"/>
                <a:cs typeface="Arial"/>
                <a:hlinkClick r:id="rId6" action="ppaction://hlinksldjump"/>
              </a:rPr>
              <a:t> </a:t>
            </a:r>
            <a:r>
              <a:rPr sz="500" dirty="0">
                <a:latin typeface="Arial"/>
                <a:cs typeface="Arial"/>
                <a:hlinkClick r:id="rId6" action="ppaction://hlinksldjump"/>
              </a:rPr>
              <a:t>File</a:t>
            </a:r>
            <a:r>
              <a:rPr sz="500" spc="-20" dirty="0">
                <a:latin typeface="Arial"/>
                <a:cs typeface="Arial"/>
                <a:hlinkClick r:id="rId6" action="ppaction://hlinksldjump"/>
              </a:rPr>
              <a:t> </a:t>
            </a:r>
            <a:r>
              <a:rPr sz="500" spc="-10" dirty="0">
                <a:latin typeface="Arial"/>
                <a:cs typeface="Arial"/>
                <a:hlinkClick r:id="rId6" action="ppaction://hlinksldjump"/>
              </a:rPr>
              <a:t>System</a:t>
            </a:r>
            <a:endParaRPr sz="500">
              <a:latin typeface="Arial"/>
              <a:cs typeface="Arial"/>
            </a:endParaRPr>
          </a:p>
        </p:txBody>
      </p:sp>
    </p:spTree>
    <p:extLst>
      <p:ext uri="{BB962C8B-B14F-4D97-AF65-F5344CB8AC3E}">
        <p14:creationId xmlns:p14="http://schemas.microsoft.com/office/powerpoint/2010/main" val="3078411670"/>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Architectures</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02608" y="-1515"/>
            <a:ext cx="852169"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3" action="ppaction://hlinksldjump"/>
              </a:rPr>
              <a:t>Layered-</a:t>
            </a:r>
            <a:r>
              <a:rPr sz="500" dirty="0">
                <a:solidFill>
                  <a:srgbClr val="FFFFFF"/>
                </a:solidFill>
                <a:latin typeface="Arial"/>
                <a:cs typeface="Arial"/>
                <a:hlinkClick r:id="rId3" action="ppaction://hlinksldjump"/>
              </a:rPr>
              <a:t>system</a:t>
            </a:r>
            <a:r>
              <a:rPr sz="500" spc="1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architectures</a:t>
            </a:r>
            <a:endParaRPr sz="500">
              <a:latin typeface="Arial"/>
              <a:cs typeface="Arial"/>
            </a:endParaRPr>
          </a:p>
        </p:txBody>
      </p:sp>
      <p:sp>
        <p:nvSpPr>
          <p:cNvPr id="5" name="object 5"/>
          <p:cNvSpPr txBox="1"/>
          <p:nvPr/>
        </p:nvSpPr>
        <p:spPr>
          <a:xfrm>
            <a:off x="95300" y="197711"/>
            <a:ext cx="1164590" cy="20764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NFS</a:t>
            </a:r>
            <a:r>
              <a:rPr sz="1200" spc="-30" dirty="0">
                <a:solidFill>
                  <a:srgbClr val="3333B2"/>
                </a:solidFill>
                <a:latin typeface="Arial"/>
                <a:cs typeface="Arial"/>
              </a:rPr>
              <a:t> </a:t>
            </a:r>
            <a:r>
              <a:rPr sz="1200" spc="-10" dirty="0">
                <a:solidFill>
                  <a:srgbClr val="3333B2"/>
                </a:solidFill>
                <a:latin typeface="Arial"/>
                <a:cs typeface="Arial"/>
              </a:rPr>
              <a:t>architecture</a:t>
            </a:r>
            <a:endParaRPr sz="1200">
              <a:latin typeface="Arial"/>
              <a:cs typeface="Arial"/>
            </a:endParaRPr>
          </a:p>
        </p:txBody>
      </p:sp>
      <p:pic>
        <p:nvPicPr>
          <p:cNvPr id="6" name="object 6"/>
          <p:cNvPicPr/>
          <p:nvPr/>
        </p:nvPicPr>
        <p:blipFill>
          <a:blip r:embed="rId4" cstate="print"/>
          <a:stretch>
            <a:fillRect/>
          </a:stretch>
        </p:blipFill>
        <p:spPr>
          <a:xfrm>
            <a:off x="366317" y="471858"/>
            <a:ext cx="3896568" cy="1871457"/>
          </a:xfrm>
          <a:prstGeom prst="rect">
            <a:avLst/>
          </a:prstGeom>
        </p:spPr>
      </p:pic>
      <p:grpSp>
        <p:nvGrpSpPr>
          <p:cNvPr id="7" name="object 7"/>
          <p:cNvGrpSpPr/>
          <p:nvPr/>
        </p:nvGrpSpPr>
        <p:grpSpPr>
          <a:xfrm>
            <a:off x="0" y="3348469"/>
            <a:ext cx="4608195" cy="107950"/>
            <a:chOff x="0" y="3348469"/>
            <a:chExt cx="4608195" cy="107950"/>
          </a:xfrm>
        </p:grpSpPr>
        <p:sp>
          <p:nvSpPr>
            <p:cNvPr id="8" name="object 8"/>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9" name="object 9"/>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0" name="object 10"/>
          <p:cNvSpPr txBox="1"/>
          <p:nvPr/>
        </p:nvSpPr>
        <p:spPr>
          <a:xfrm>
            <a:off x="53467" y="3349927"/>
            <a:ext cx="101790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Example:</a:t>
            </a:r>
            <a:r>
              <a:rPr sz="500" spc="10" dirty="0">
                <a:latin typeface="Arial"/>
                <a:cs typeface="Arial"/>
                <a:hlinkClick r:id="rId5" action="ppaction://hlinksldjump"/>
              </a:rPr>
              <a:t> </a:t>
            </a:r>
            <a:r>
              <a:rPr sz="500" dirty="0">
                <a:latin typeface="Arial"/>
                <a:cs typeface="Arial"/>
                <a:hlinkClick r:id="rId5" action="ppaction://hlinksldjump"/>
              </a:rPr>
              <a:t>The</a:t>
            </a:r>
            <a:r>
              <a:rPr sz="500" spc="-15" dirty="0">
                <a:latin typeface="Arial"/>
                <a:cs typeface="Arial"/>
                <a:hlinkClick r:id="rId5" action="ppaction://hlinksldjump"/>
              </a:rPr>
              <a:t> </a:t>
            </a:r>
            <a:r>
              <a:rPr sz="500" dirty="0">
                <a:latin typeface="Arial"/>
                <a:cs typeface="Arial"/>
                <a:hlinkClick r:id="rId5" action="ppaction://hlinksldjump"/>
              </a:rPr>
              <a:t>Network</a:t>
            </a:r>
            <a:r>
              <a:rPr sz="500" spc="-20" dirty="0">
                <a:latin typeface="Arial"/>
                <a:cs typeface="Arial"/>
                <a:hlinkClick r:id="rId5" action="ppaction://hlinksldjump"/>
              </a:rPr>
              <a:t> </a:t>
            </a:r>
            <a:r>
              <a:rPr sz="500" dirty="0">
                <a:latin typeface="Arial"/>
                <a:cs typeface="Arial"/>
                <a:hlinkClick r:id="rId5" action="ppaction://hlinksldjump"/>
              </a:rPr>
              <a:t>File</a:t>
            </a:r>
            <a:r>
              <a:rPr sz="500" spc="-20" dirty="0">
                <a:latin typeface="Arial"/>
                <a:cs typeface="Arial"/>
                <a:hlinkClick r:id="rId5" action="ppaction://hlinksldjump"/>
              </a:rPr>
              <a:t> </a:t>
            </a:r>
            <a:r>
              <a:rPr sz="500" spc="-10" dirty="0">
                <a:latin typeface="Arial"/>
                <a:cs typeface="Arial"/>
                <a:hlinkClick r:id="rId5" action="ppaction://hlinksldjump"/>
              </a:rPr>
              <a:t>System</a:t>
            </a:r>
            <a:endParaRPr sz="500">
              <a:latin typeface="Arial"/>
              <a:cs typeface="Arial"/>
            </a:endParaRPr>
          </a:p>
        </p:txBody>
      </p:sp>
    </p:spTree>
    <p:extLst>
      <p:ext uri="{BB962C8B-B14F-4D97-AF65-F5344CB8AC3E}">
        <p14:creationId xmlns:p14="http://schemas.microsoft.com/office/powerpoint/2010/main" val="549522680"/>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Architectures</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02608" y="-1515"/>
            <a:ext cx="852169"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3" action="ppaction://hlinksldjump"/>
              </a:rPr>
              <a:t>Layered-</a:t>
            </a:r>
            <a:r>
              <a:rPr sz="500" dirty="0">
                <a:solidFill>
                  <a:srgbClr val="FFFFFF"/>
                </a:solidFill>
                <a:latin typeface="Arial"/>
                <a:cs typeface="Arial"/>
                <a:hlinkClick r:id="rId3" action="ppaction://hlinksldjump"/>
              </a:rPr>
              <a:t>system</a:t>
            </a:r>
            <a:r>
              <a:rPr sz="500" spc="1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architectures</a:t>
            </a:r>
            <a:endParaRPr sz="500">
              <a:latin typeface="Arial"/>
              <a:cs typeface="Arial"/>
            </a:endParaRPr>
          </a:p>
        </p:txBody>
      </p:sp>
      <p:sp>
        <p:nvSpPr>
          <p:cNvPr id="5" name="object 5"/>
          <p:cNvSpPr txBox="1"/>
          <p:nvPr/>
        </p:nvSpPr>
        <p:spPr>
          <a:xfrm>
            <a:off x="95300" y="197711"/>
            <a:ext cx="2065020" cy="49466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Example:</a:t>
            </a:r>
            <a:r>
              <a:rPr sz="1200" spc="15" dirty="0">
                <a:solidFill>
                  <a:srgbClr val="3333B2"/>
                </a:solidFill>
                <a:latin typeface="Arial"/>
                <a:cs typeface="Arial"/>
              </a:rPr>
              <a:t> </a:t>
            </a:r>
            <a:r>
              <a:rPr sz="1200" dirty="0">
                <a:solidFill>
                  <a:srgbClr val="3333B2"/>
                </a:solidFill>
                <a:latin typeface="Arial"/>
                <a:cs typeface="Arial"/>
              </a:rPr>
              <a:t>Simple</a:t>
            </a:r>
            <a:r>
              <a:rPr sz="1200" spc="-50" dirty="0">
                <a:solidFill>
                  <a:srgbClr val="3333B2"/>
                </a:solidFill>
                <a:latin typeface="Arial"/>
                <a:cs typeface="Arial"/>
              </a:rPr>
              <a:t> </a:t>
            </a:r>
            <a:r>
              <a:rPr sz="1200" dirty="0">
                <a:solidFill>
                  <a:srgbClr val="3333B2"/>
                </a:solidFill>
                <a:latin typeface="Arial"/>
                <a:cs typeface="Arial"/>
              </a:rPr>
              <a:t>Web</a:t>
            </a:r>
            <a:r>
              <a:rPr sz="1200" spc="-55" dirty="0">
                <a:solidFill>
                  <a:srgbClr val="3333B2"/>
                </a:solidFill>
                <a:latin typeface="Arial"/>
                <a:cs typeface="Arial"/>
              </a:rPr>
              <a:t> </a:t>
            </a:r>
            <a:r>
              <a:rPr sz="1200" spc="-10" dirty="0">
                <a:solidFill>
                  <a:srgbClr val="3333B2"/>
                </a:solidFill>
                <a:latin typeface="Arial"/>
                <a:cs typeface="Arial"/>
              </a:rPr>
              <a:t>servers</a:t>
            </a:r>
            <a:endParaRPr sz="1200">
              <a:latin typeface="Arial"/>
              <a:cs typeface="Arial"/>
            </a:endParaRPr>
          </a:p>
          <a:p>
            <a:pPr marL="264160">
              <a:lnSpc>
                <a:spcPct val="100000"/>
              </a:lnSpc>
              <a:spcBef>
                <a:spcPts val="1055"/>
              </a:spcBef>
            </a:pPr>
            <a:r>
              <a:rPr sz="1000" dirty="0">
                <a:solidFill>
                  <a:srgbClr val="3333B2"/>
                </a:solidFill>
                <a:latin typeface="Arial"/>
                <a:cs typeface="Arial"/>
              </a:rPr>
              <a:t>Back</a:t>
            </a:r>
            <a:r>
              <a:rPr sz="1000" spc="-25" dirty="0">
                <a:solidFill>
                  <a:srgbClr val="3333B2"/>
                </a:solidFill>
                <a:latin typeface="Arial"/>
                <a:cs typeface="Arial"/>
              </a:rPr>
              <a:t> </a:t>
            </a:r>
            <a:r>
              <a:rPr sz="1000" dirty="0">
                <a:solidFill>
                  <a:srgbClr val="3333B2"/>
                </a:solidFill>
                <a:latin typeface="Arial"/>
                <a:cs typeface="Arial"/>
              </a:rPr>
              <a:t>in</a:t>
            </a:r>
            <a:r>
              <a:rPr sz="1000" spc="-25" dirty="0">
                <a:solidFill>
                  <a:srgbClr val="3333B2"/>
                </a:solidFill>
                <a:latin typeface="Arial"/>
                <a:cs typeface="Arial"/>
              </a:rPr>
              <a:t> </a:t>
            </a:r>
            <a:r>
              <a:rPr sz="1000" dirty="0">
                <a:solidFill>
                  <a:srgbClr val="3333B2"/>
                </a:solidFill>
                <a:latin typeface="Arial"/>
                <a:cs typeface="Arial"/>
              </a:rPr>
              <a:t>the</a:t>
            </a:r>
            <a:r>
              <a:rPr sz="1000" spc="-25" dirty="0">
                <a:solidFill>
                  <a:srgbClr val="3333B2"/>
                </a:solidFill>
                <a:latin typeface="Arial"/>
                <a:cs typeface="Arial"/>
              </a:rPr>
              <a:t> </a:t>
            </a:r>
            <a:r>
              <a:rPr sz="1000" dirty="0">
                <a:solidFill>
                  <a:srgbClr val="3333B2"/>
                </a:solidFill>
                <a:latin typeface="Arial"/>
                <a:cs typeface="Arial"/>
              </a:rPr>
              <a:t>old</a:t>
            </a:r>
            <a:r>
              <a:rPr sz="1000" spc="-25" dirty="0">
                <a:solidFill>
                  <a:srgbClr val="3333B2"/>
                </a:solidFill>
                <a:latin typeface="Arial"/>
                <a:cs typeface="Arial"/>
              </a:rPr>
              <a:t> </a:t>
            </a:r>
            <a:r>
              <a:rPr sz="1000" spc="-10" dirty="0">
                <a:solidFill>
                  <a:srgbClr val="3333B2"/>
                </a:solidFill>
                <a:latin typeface="Arial"/>
                <a:cs typeface="Arial"/>
              </a:rPr>
              <a:t>days...</a:t>
            </a:r>
            <a:endParaRPr sz="1000">
              <a:latin typeface="Arial"/>
              <a:cs typeface="Arial"/>
            </a:endParaRPr>
          </a:p>
        </p:txBody>
      </p:sp>
      <p:pic>
        <p:nvPicPr>
          <p:cNvPr id="6" name="object 6"/>
          <p:cNvPicPr/>
          <p:nvPr/>
        </p:nvPicPr>
        <p:blipFill>
          <a:blip r:embed="rId4" cstate="print"/>
          <a:stretch>
            <a:fillRect/>
          </a:stretch>
        </p:blipFill>
        <p:spPr>
          <a:xfrm>
            <a:off x="983298" y="714207"/>
            <a:ext cx="2612277" cy="1273774"/>
          </a:xfrm>
          <a:prstGeom prst="rect">
            <a:avLst/>
          </a:prstGeom>
        </p:spPr>
      </p:pic>
      <p:sp>
        <p:nvSpPr>
          <p:cNvPr id="7" name="object 7"/>
          <p:cNvSpPr txBox="1"/>
          <p:nvPr/>
        </p:nvSpPr>
        <p:spPr>
          <a:xfrm>
            <a:off x="321894" y="2101804"/>
            <a:ext cx="3482340" cy="784860"/>
          </a:xfrm>
          <a:prstGeom prst="rect">
            <a:avLst/>
          </a:prstGeom>
        </p:spPr>
        <p:txBody>
          <a:bodyPr vert="horz" wrap="square" lIns="0" tIns="12065" rIns="0" bIns="0" rtlCol="0">
            <a:spAutoFit/>
          </a:bodyPr>
          <a:lstStyle/>
          <a:p>
            <a:pPr marL="38100">
              <a:lnSpc>
                <a:spcPct val="100000"/>
              </a:lnSpc>
              <a:spcBef>
                <a:spcPts val="95"/>
              </a:spcBef>
            </a:pPr>
            <a:r>
              <a:rPr sz="1000" dirty="0">
                <a:solidFill>
                  <a:srgbClr val="3333B2"/>
                </a:solidFill>
                <a:latin typeface="Arial"/>
                <a:cs typeface="Arial"/>
              </a:rPr>
              <a:t>...life</a:t>
            </a:r>
            <a:r>
              <a:rPr sz="1000" spc="-50" dirty="0">
                <a:solidFill>
                  <a:srgbClr val="3333B2"/>
                </a:solidFill>
                <a:latin typeface="Arial"/>
                <a:cs typeface="Arial"/>
              </a:rPr>
              <a:t> </a:t>
            </a:r>
            <a:r>
              <a:rPr sz="1000" dirty="0">
                <a:solidFill>
                  <a:srgbClr val="3333B2"/>
                </a:solidFill>
                <a:latin typeface="Arial"/>
                <a:cs typeface="Arial"/>
              </a:rPr>
              <a:t>was</a:t>
            </a:r>
            <a:r>
              <a:rPr sz="1000" spc="-45" dirty="0">
                <a:solidFill>
                  <a:srgbClr val="3333B2"/>
                </a:solidFill>
                <a:latin typeface="Arial"/>
                <a:cs typeface="Arial"/>
              </a:rPr>
              <a:t> </a:t>
            </a:r>
            <a:r>
              <a:rPr sz="1000" spc="-10" dirty="0">
                <a:solidFill>
                  <a:srgbClr val="3333B2"/>
                </a:solidFill>
                <a:latin typeface="Arial"/>
                <a:cs typeface="Arial"/>
              </a:rPr>
              <a:t>simple:</a:t>
            </a:r>
            <a:endParaRPr sz="1000">
              <a:latin typeface="Arial"/>
              <a:cs typeface="Arial"/>
            </a:endParaRPr>
          </a:p>
          <a:p>
            <a:pPr marL="287020" indent="-116839">
              <a:lnSpc>
                <a:spcPct val="100000"/>
              </a:lnSpc>
              <a:spcBef>
                <a:spcPts val="695"/>
              </a:spcBef>
              <a:buClr>
                <a:srgbClr val="3333B2"/>
              </a:buClr>
              <a:buFont typeface="Apple Symbols"/>
              <a:buChar char="•"/>
              <a:tabLst>
                <a:tab pos="287655" algn="l"/>
              </a:tabLst>
            </a:pPr>
            <a:r>
              <a:rPr sz="900" dirty="0">
                <a:latin typeface="Arial"/>
                <a:cs typeface="Arial"/>
              </a:rPr>
              <a:t>A</a:t>
            </a:r>
            <a:r>
              <a:rPr sz="900" spc="-30" dirty="0">
                <a:latin typeface="Arial"/>
                <a:cs typeface="Arial"/>
              </a:rPr>
              <a:t> </a:t>
            </a:r>
            <a:r>
              <a:rPr sz="900" dirty="0">
                <a:latin typeface="Arial"/>
                <a:cs typeface="Arial"/>
              </a:rPr>
              <a:t>website</a:t>
            </a:r>
            <a:r>
              <a:rPr sz="900" spc="-25" dirty="0">
                <a:latin typeface="Arial"/>
                <a:cs typeface="Arial"/>
              </a:rPr>
              <a:t> </a:t>
            </a:r>
            <a:r>
              <a:rPr sz="900" dirty="0">
                <a:latin typeface="Arial"/>
                <a:cs typeface="Arial"/>
              </a:rPr>
              <a:t>consisted</a:t>
            </a:r>
            <a:r>
              <a:rPr sz="900" spc="-25" dirty="0">
                <a:latin typeface="Arial"/>
                <a:cs typeface="Arial"/>
              </a:rPr>
              <a:t> </a:t>
            </a:r>
            <a:r>
              <a:rPr sz="900" dirty="0">
                <a:latin typeface="Arial"/>
                <a:cs typeface="Arial"/>
              </a:rPr>
              <a:t>as</a:t>
            </a:r>
            <a:r>
              <a:rPr sz="900" spc="-25"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collection</a:t>
            </a:r>
            <a:r>
              <a:rPr sz="900" spc="-25"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HTML</a:t>
            </a:r>
            <a:r>
              <a:rPr sz="900" spc="-25" dirty="0">
                <a:latin typeface="Arial"/>
                <a:cs typeface="Arial"/>
              </a:rPr>
              <a:t> </a:t>
            </a:r>
            <a:r>
              <a:rPr sz="900" spc="-10" dirty="0">
                <a:latin typeface="Arial"/>
                <a:cs typeface="Arial"/>
              </a:rPr>
              <a:t>files</a:t>
            </a:r>
            <a:endParaRPr sz="900">
              <a:latin typeface="Arial"/>
              <a:cs typeface="Arial"/>
            </a:endParaRPr>
          </a:p>
          <a:p>
            <a:pPr marL="290830" indent="-120650">
              <a:lnSpc>
                <a:spcPct val="100000"/>
              </a:lnSpc>
              <a:spcBef>
                <a:spcPts val="425"/>
              </a:spcBef>
              <a:buClr>
                <a:srgbClr val="3333B2"/>
              </a:buClr>
              <a:buFont typeface="Apple Symbols"/>
              <a:buChar char="•"/>
              <a:tabLst>
                <a:tab pos="291465" algn="l"/>
              </a:tabLst>
            </a:pPr>
            <a:r>
              <a:rPr sz="900" dirty="0">
                <a:latin typeface="Arial"/>
                <a:cs typeface="Arial"/>
              </a:rPr>
              <a:t>HTML</a:t>
            </a:r>
            <a:r>
              <a:rPr sz="900" spc="-20" dirty="0">
                <a:latin typeface="Arial"/>
                <a:cs typeface="Arial"/>
              </a:rPr>
              <a:t> </a:t>
            </a:r>
            <a:r>
              <a:rPr sz="900" dirty="0">
                <a:latin typeface="Arial"/>
                <a:cs typeface="Arial"/>
              </a:rPr>
              <a:t>files</a:t>
            </a:r>
            <a:r>
              <a:rPr sz="900" spc="-20" dirty="0">
                <a:latin typeface="Arial"/>
                <a:cs typeface="Arial"/>
              </a:rPr>
              <a:t> </a:t>
            </a:r>
            <a:r>
              <a:rPr sz="900" dirty="0">
                <a:latin typeface="Arial"/>
                <a:cs typeface="Arial"/>
              </a:rPr>
              <a:t>could</a:t>
            </a:r>
            <a:r>
              <a:rPr sz="900" spc="-20" dirty="0">
                <a:latin typeface="Arial"/>
                <a:cs typeface="Arial"/>
              </a:rPr>
              <a:t> </a:t>
            </a:r>
            <a:r>
              <a:rPr sz="900" dirty="0">
                <a:latin typeface="Arial"/>
                <a:cs typeface="Arial"/>
              </a:rPr>
              <a:t>be</a:t>
            </a:r>
            <a:r>
              <a:rPr sz="900" spc="-15" dirty="0">
                <a:latin typeface="Arial"/>
                <a:cs typeface="Arial"/>
              </a:rPr>
              <a:t> </a:t>
            </a:r>
            <a:r>
              <a:rPr sz="900" spc="-10" dirty="0">
                <a:latin typeface="Arial"/>
                <a:cs typeface="Arial"/>
              </a:rPr>
              <a:t>referred</a:t>
            </a:r>
            <a:r>
              <a:rPr sz="900" spc="-20" dirty="0">
                <a:latin typeface="Arial"/>
                <a:cs typeface="Arial"/>
              </a:rPr>
              <a:t> </a:t>
            </a:r>
            <a:r>
              <a:rPr sz="900" dirty="0">
                <a:latin typeface="Arial"/>
                <a:cs typeface="Arial"/>
              </a:rPr>
              <a:t>to</a:t>
            </a:r>
            <a:r>
              <a:rPr sz="900" spc="-20" dirty="0">
                <a:latin typeface="Arial"/>
                <a:cs typeface="Arial"/>
              </a:rPr>
              <a:t> </a:t>
            </a:r>
            <a:r>
              <a:rPr sz="900" dirty="0">
                <a:latin typeface="Arial"/>
                <a:cs typeface="Arial"/>
              </a:rPr>
              <a:t>each</a:t>
            </a:r>
            <a:r>
              <a:rPr sz="900" spc="-15" dirty="0">
                <a:latin typeface="Arial"/>
                <a:cs typeface="Arial"/>
              </a:rPr>
              <a:t> </a:t>
            </a:r>
            <a:r>
              <a:rPr sz="900" dirty="0">
                <a:latin typeface="Arial"/>
                <a:cs typeface="Arial"/>
              </a:rPr>
              <a:t>other</a:t>
            </a:r>
            <a:r>
              <a:rPr sz="900" spc="-20" dirty="0">
                <a:latin typeface="Arial"/>
                <a:cs typeface="Arial"/>
              </a:rPr>
              <a:t> </a:t>
            </a:r>
            <a:r>
              <a:rPr sz="900" dirty="0">
                <a:latin typeface="Arial"/>
                <a:cs typeface="Arial"/>
              </a:rPr>
              <a:t>by</a:t>
            </a:r>
            <a:r>
              <a:rPr sz="900" spc="-20" dirty="0">
                <a:latin typeface="Arial"/>
                <a:cs typeface="Arial"/>
              </a:rPr>
              <a:t> </a:t>
            </a:r>
            <a:r>
              <a:rPr sz="900" dirty="0">
                <a:latin typeface="Arial"/>
                <a:cs typeface="Arial"/>
              </a:rPr>
              <a:t>a</a:t>
            </a:r>
            <a:r>
              <a:rPr sz="900" spc="-20" dirty="0">
                <a:latin typeface="Arial"/>
                <a:cs typeface="Arial"/>
              </a:rPr>
              <a:t> </a:t>
            </a:r>
            <a:r>
              <a:rPr sz="900" spc="-10" dirty="0">
                <a:solidFill>
                  <a:srgbClr val="3333B2"/>
                </a:solidFill>
                <a:latin typeface="Arial"/>
                <a:cs typeface="Arial"/>
              </a:rPr>
              <a:t>hyperlink</a:t>
            </a:r>
            <a:endParaRPr sz="900">
              <a:latin typeface="Arial"/>
              <a:cs typeface="Arial"/>
            </a:endParaRPr>
          </a:p>
          <a:p>
            <a:pPr marL="287020" indent="-116839">
              <a:lnSpc>
                <a:spcPct val="100000"/>
              </a:lnSpc>
              <a:spcBef>
                <a:spcPts val="425"/>
              </a:spcBef>
              <a:buClr>
                <a:srgbClr val="3333B2"/>
              </a:buClr>
              <a:buFont typeface="Apple Symbols"/>
              <a:buChar char="•"/>
              <a:tabLst>
                <a:tab pos="287655" algn="l"/>
              </a:tabLst>
            </a:pPr>
            <a:r>
              <a:rPr sz="900" dirty="0">
                <a:latin typeface="Arial"/>
                <a:cs typeface="Arial"/>
              </a:rPr>
              <a:t>A</a:t>
            </a:r>
            <a:r>
              <a:rPr sz="900" spc="-35" dirty="0">
                <a:latin typeface="Arial"/>
                <a:cs typeface="Arial"/>
              </a:rPr>
              <a:t> </a:t>
            </a:r>
            <a:r>
              <a:rPr sz="900" dirty="0">
                <a:latin typeface="Arial"/>
                <a:cs typeface="Arial"/>
              </a:rPr>
              <a:t>Web</a:t>
            </a:r>
            <a:r>
              <a:rPr sz="900" spc="-30" dirty="0">
                <a:latin typeface="Arial"/>
                <a:cs typeface="Arial"/>
              </a:rPr>
              <a:t> </a:t>
            </a:r>
            <a:r>
              <a:rPr sz="900" dirty="0">
                <a:latin typeface="Arial"/>
                <a:cs typeface="Arial"/>
              </a:rPr>
              <a:t>server</a:t>
            </a:r>
            <a:r>
              <a:rPr sz="900" spc="-30" dirty="0">
                <a:latin typeface="Arial"/>
                <a:cs typeface="Arial"/>
              </a:rPr>
              <a:t> </a:t>
            </a:r>
            <a:r>
              <a:rPr sz="900" dirty="0">
                <a:latin typeface="Arial"/>
                <a:cs typeface="Arial"/>
              </a:rPr>
              <a:t>essentially</a:t>
            </a:r>
            <a:r>
              <a:rPr sz="900" spc="-35" dirty="0">
                <a:latin typeface="Arial"/>
                <a:cs typeface="Arial"/>
              </a:rPr>
              <a:t> </a:t>
            </a:r>
            <a:r>
              <a:rPr sz="900" dirty="0">
                <a:latin typeface="Arial"/>
                <a:cs typeface="Arial"/>
              </a:rPr>
              <a:t>needed</a:t>
            </a:r>
            <a:r>
              <a:rPr sz="900" spc="-30" dirty="0">
                <a:latin typeface="Arial"/>
                <a:cs typeface="Arial"/>
              </a:rPr>
              <a:t> </a:t>
            </a:r>
            <a:r>
              <a:rPr sz="900" dirty="0">
                <a:latin typeface="Arial"/>
                <a:cs typeface="Arial"/>
              </a:rPr>
              <a:t>only</a:t>
            </a:r>
            <a:r>
              <a:rPr sz="900" spc="-30" dirty="0">
                <a:latin typeface="Arial"/>
                <a:cs typeface="Arial"/>
              </a:rPr>
              <a:t> </a:t>
            </a:r>
            <a:r>
              <a:rPr sz="900" dirty="0">
                <a:latin typeface="Arial"/>
                <a:cs typeface="Arial"/>
              </a:rPr>
              <a:t>a</a:t>
            </a:r>
            <a:r>
              <a:rPr sz="900" spc="-35" dirty="0">
                <a:latin typeface="Arial"/>
                <a:cs typeface="Arial"/>
              </a:rPr>
              <a:t> </a:t>
            </a:r>
            <a:r>
              <a:rPr sz="900" dirty="0">
                <a:latin typeface="Arial"/>
                <a:cs typeface="Arial"/>
              </a:rPr>
              <a:t>hyperlink</a:t>
            </a:r>
            <a:r>
              <a:rPr sz="900" spc="-30"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fetch</a:t>
            </a:r>
            <a:r>
              <a:rPr sz="900" spc="-30" dirty="0">
                <a:latin typeface="Arial"/>
                <a:cs typeface="Arial"/>
              </a:rPr>
              <a:t> </a:t>
            </a:r>
            <a:r>
              <a:rPr sz="900" dirty="0">
                <a:latin typeface="Arial"/>
                <a:cs typeface="Arial"/>
              </a:rPr>
              <a:t>a</a:t>
            </a:r>
            <a:r>
              <a:rPr sz="900" spc="-35" dirty="0">
                <a:latin typeface="Arial"/>
                <a:cs typeface="Arial"/>
              </a:rPr>
              <a:t> </a:t>
            </a:r>
            <a:r>
              <a:rPr sz="900" spc="-20" dirty="0">
                <a:latin typeface="Arial"/>
                <a:cs typeface="Arial"/>
              </a:rPr>
              <a:t>file</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480148" y="2928127"/>
            <a:ext cx="82550" cy="139700"/>
          </a:xfrm>
          <a:prstGeom prst="rect">
            <a:avLst/>
          </a:prstGeom>
        </p:spPr>
        <p:txBody>
          <a:bodyPr vert="horz" wrap="square" lIns="0" tIns="0" rIns="0" bIns="0" rtlCol="0">
            <a:spAutoFit/>
          </a:bodyPr>
          <a:lstStyle/>
          <a:p>
            <a:pPr marL="12700">
              <a:lnSpc>
                <a:spcPts val="950"/>
              </a:lnSpc>
            </a:pPr>
            <a:r>
              <a:rPr sz="900" spc="105" dirty="0">
                <a:solidFill>
                  <a:srgbClr val="3333B2"/>
                </a:solidFill>
                <a:latin typeface="Apple Symbols"/>
                <a:cs typeface="Apple Symbols"/>
              </a:rPr>
              <a:t>•</a:t>
            </a:r>
            <a:endParaRPr sz="900">
              <a:latin typeface="Apple Symbols"/>
              <a:cs typeface="Apple Symbols"/>
            </a:endParaRPr>
          </a:p>
        </p:txBody>
      </p:sp>
      <p:sp>
        <p:nvSpPr>
          <p:cNvPr id="12" name="object 12"/>
          <p:cNvSpPr txBox="1"/>
          <p:nvPr/>
        </p:nvSpPr>
        <p:spPr>
          <a:xfrm>
            <a:off x="596595" y="2920822"/>
            <a:ext cx="3115945" cy="166370"/>
          </a:xfrm>
          <a:prstGeom prst="rect">
            <a:avLst/>
          </a:prstGeom>
        </p:spPr>
        <p:txBody>
          <a:bodyPr vert="horz" wrap="square" lIns="0" tIns="6985" rIns="0" bIns="0" rtlCol="0">
            <a:spAutoFit/>
          </a:bodyPr>
          <a:lstStyle/>
          <a:p>
            <a:pPr marL="12700">
              <a:lnSpc>
                <a:spcPct val="100000"/>
              </a:lnSpc>
              <a:spcBef>
                <a:spcPts val="55"/>
              </a:spcBef>
            </a:pPr>
            <a:r>
              <a:rPr sz="900" dirty="0">
                <a:latin typeface="Arial"/>
                <a:cs typeface="Arial"/>
              </a:rPr>
              <a:t>A</a:t>
            </a:r>
            <a:r>
              <a:rPr sz="900" spc="-25" dirty="0">
                <a:latin typeface="Arial"/>
                <a:cs typeface="Arial"/>
              </a:rPr>
              <a:t> </a:t>
            </a:r>
            <a:r>
              <a:rPr sz="900" dirty="0">
                <a:latin typeface="Arial"/>
                <a:cs typeface="Arial"/>
              </a:rPr>
              <a:t>browser</a:t>
            </a:r>
            <a:r>
              <a:rPr sz="900" spc="-25" dirty="0">
                <a:latin typeface="Arial"/>
                <a:cs typeface="Arial"/>
              </a:rPr>
              <a:t> </a:t>
            </a:r>
            <a:r>
              <a:rPr sz="900" dirty="0">
                <a:latin typeface="Arial"/>
                <a:cs typeface="Arial"/>
              </a:rPr>
              <a:t>took</a:t>
            </a:r>
            <a:r>
              <a:rPr sz="900" spc="-20" dirty="0">
                <a:latin typeface="Arial"/>
                <a:cs typeface="Arial"/>
              </a:rPr>
              <a:t> </a:t>
            </a:r>
            <a:r>
              <a:rPr sz="900" dirty="0">
                <a:latin typeface="Arial"/>
                <a:cs typeface="Arial"/>
              </a:rPr>
              <a:t>care</a:t>
            </a:r>
            <a:r>
              <a:rPr sz="900" spc="-25"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properly</a:t>
            </a:r>
            <a:r>
              <a:rPr sz="900" spc="-20" dirty="0">
                <a:latin typeface="Arial"/>
                <a:cs typeface="Arial"/>
              </a:rPr>
              <a:t> </a:t>
            </a:r>
            <a:r>
              <a:rPr sz="900" dirty="0">
                <a:latin typeface="Arial"/>
                <a:cs typeface="Arial"/>
              </a:rPr>
              <a:t>rendering</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content</a:t>
            </a:r>
            <a:r>
              <a:rPr sz="900" spc="-20"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a</a:t>
            </a:r>
            <a:r>
              <a:rPr sz="900" spc="-25" dirty="0">
                <a:latin typeface="Arial"/>
                <a:cs typeface="Arial"/>
              </a:rPr>
              <a:t> </a:t>
            </a:r>
            <a:r>
              <a:rPr sz="900" spc="-20" dirty="0">
                <a:latin typeface="Arial"/>
                <a:cs typeface="Arial"/>
              </a:rPr>
              <a:t>file</a:t>
            </a:r>
            <a:endParaRPr sz="900">
              <a:latin typeface="Arial"/>
              <a:cs typeface="Arial"/>
            </a:endParaRPr>
          </a:p>
        </p:txBody>
      </p:sp>
      <p:sp>
        <p:nvSpPr>
          <p:cNvPr id="13" name="object 13"/>
          <p:cNvSpPr txBox="1"/>
          <p:nvPr/>
        </p:nvSpPr>
        <p:spPr>
          <a:xfrm>
            <a:off x="53467" y="3349927"/>
            <a:ext cx="56578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Example:</a:t>
            </a:r>
            <a:r>
              <a:rPr sz="500" spc="10" dirty="0">
                <a:latin typeface="Arial"/>
                <a:cs typeface="Arial"/>
                <a:hlinkClick r:id="rId5" action="ppaction://hlinksldjump"/>
              </a:rPr>
              <a:t> </a:t>
            </a:r>
            <a:r>
              <a:rPr sz="500" dirty="0">
                <a:latin typeface="Arial"/>
                <a:cs typeface="Arial"/>
                <a:hlinkClick r:id="rId5" action="ppaction://hlinksldjump"/>
              </a:rPr>
              <a:t>The</a:t>
            </a:r>
            <a:r>
              <a:rPr sz="500" spc="-15" dirty="0">
                <a:latin typeface="Arial"/>
                <a:cs typeface="Arial"/>
                <a:hlinkClick r:id="rId5" action="ppaction://hlinksldjump"/>
              </a:rPr>
              <a:t> </a:t>
            </a:r>
            <a:r>
              <a:rPr sz="500" spc="-25" dirty="0">
                <a:latin typeface="Arial"/>
                <a:cs typeface="Arial"/>
                <a:hlinkClick r:id="rId5" action="ppaction://hlinksldjump"/>
              </a:rPr>
              <a:t>Web</a:t>
            </a:r>
            <a:endParaRPr sz="500">
              <a:latin typeface="Arial"/>
              <a:cs typeface="Arial"/>
            </a:endParaRPr>
          </a:p>
        </p:txBody>
      </p:sp>
    </p:spTree>
    <p:extLst>
      <p:ext uri="{BB962C8B-B14F-4D97-AF65-F5344CB8AC3E}">
        <p14:creationId xmlns:p14="http://schemas.microsoft.com/office/powerpoint/2010/main" val="3267203656"/>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394970" cy="101600"/>
          </a:xfrm>
          <a:prstGeom prst="rect">
            <a:avLst/>
          </a:prstGeom>
        </p:spPr>
        <p:txBody>
          <a:bodyPr vert="horz" wrap="square" lIns="0" tIns="12065" rIns="0" bIns="0" rtlCol="0">
            <a:spAutoFit/>
          </a:bodyPr>
          <a:lstStyle/>
          <a:p>
            <a:pPr marL="12700">
              <a:lnSpc>
                <a:spcPct val="100000"/>
              </a:lnSpc>
              <a:spcBef>
                <a:spcPts val="95"/>
              </a:spcBef>
            </a:pPr>
            <a:r>
              <a:rPr sz="500" spc="-10" dirty="0">
                <a:latin typeface="Arial"/>
                <a:cs typeface="Arial"/>
                <a:hlinkClick r:id="rId2" action="ppaction://hlinksldjump"/>
              </a:rPr>
              <a:t>Architectures</a:t>
            </a:r>
            <a:endParaRPr sz="500">
              <a:latin typeface="Arial"/>
              <a:cs typeface="Arial"/>
            </a:endParaRPr>
          </a:p>
        </p:txBody>
      </p:sp>
      <p:sp>
        <p:nvSpPr>
          <p:cNvPr id="3" name="object 3"/>
          <p:cNvSpPr/>
          <p:nvPr/>
        </p:nvSpPr>
        <p:spPr>
          <a:xfrm>
            <a:off x="2303995" y="0"/>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sp>
        <p:nvSpPr>
          <p:cNvPr id="4" name="object 4"/>
          <p:cNvSpPr txBox="1"/>
          <p:nvPr/>
        </p:nvSpPr>
        <p:spPr>
          <a:xfrm>
            <a:off x="3702608" y="-1515"/>
            <a:ext cx="852169" cy="101600"/>
          </a:xfrm>
          <a:prstGeom prst="rect">
            <a:avLst/>
          </a:prstGeom>
        </p:spPr>
        <p:txBody>
          <a:bodyPr vert="horz" wrap="square" lIns="0" tIns="12065" rIns="0" bIns="0" rtlCol="0">
            <a:spAutoFit/>
          </a:bodyPr>
          <a:lstStyle/>
          <a:p>
            <a:pPr marL="12700">
              <a:lnSpc>
                <a:spcPct val="100000"/>
              </a:lnSpc>
              <a:spcBef>
                <a:spcPts val="95"/>
              </a:spcBef>
            </a:pPr>
            <a:r>
              <a:rPr sz="500" spc="-10" dirty="0">
                <a:solidFill>
                  <a:srgbClr val="FFFFFF"/>
                </a:solidFill>
                <a:latin typeface="Arial"/>
                <a:cs typeface="Arial"/>
                <a:hlinkClick r:id="rId3" action="ppaction://hlinksldjump"/>
              </a:rPr>
              <a:t>Layered-</a:t>
            </a:r>
            <a:r>
              <a:rPr sz="500" dirty="0">
                <a:solidFill>
                  <a:srgbClr val="FFFFFF"/>
                </a:solidFill>
                <a:latin typeface="Arial"/>
                <a:cs typeface="Arial"/>
                <a:hlinkClick r:id="rId3" action="ppaction://hlinksldjump"/>
              </a:rPr>
              <a:t>system</a:t>
            </a:r>
            <a:r>
              <a:rPr sz="500" spc="10"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architectures</a:t>
            </a:r>
            <a:endParaRPr sz="500">
              <a:latin typeface="Arial"/>
              <a:cs typeface="Arial"/>
            </a:endParaRPr>
          </a:p>
        </p:txBody>
      </p:sp>
      <p:sp>
        <p:nvSpPr>
          <p:cNvPr id="5" name="object 5"/>
          <p:cNvSpPr txBox="1"/>
          <p:nvPr/>
        </p:nvSpPr>
        <p:spPr>
          <a:xfrm>
            <a:off x="95300" y="197711"/>
            <a:ext cx="2859405" cy="494665"/>
          </a:xfrm>
          <a:prstGeom prst="rect">
            <a:avLst/>
          </a:prstGeom>
        </p:spPr>
        <p:txBody>
          <a:bodyPr vert="horz" wrap="square" lIns="0" tIns="12065" rIns="0" bIns="0" rtlCol="0">
            <a:spAutoFit/>
          </a:bodyPr>
          <a:lstStyle/>
          <a:p>
            <a:pPr marL="12700">
              <a:lnSpc>
                <a:spcPct val="100000"/>
              </a:lnSpc>
              <a:spcBef>
                <a:spcPts val="95"/>
              </a:spcBef>
            </a:pPr>
            <a:r>
              <a:rPr sz="1200" dirty="0">
                <a:solidFill>
                  <a:srgbClr val="3333B2"/>
                </a:solidFill>
                <a:latin typeface="Arial"/>
                <a:cs typeface="Arial"/>
              </a:rPr>
              <a:t>Example</a:t>
            </a:r>
            <a:r>
              <a:rPr sz="1200" spc="-60" dirty="0">
                <a:solidFill>
                  <a:srgbClr val="3333B2"/>
                </a:solidFill>
                <a:latin typeface="Arial"/>
                <a:cs typeface="Arial"/>
              </a:rPr>
              <a:t> </a:t>
            </a:r>
            <a:r>
              <a:rPr sz="1200" dirty="0">
                <a:solidFill>
                  <a:srgbClr val="3333B2"/>
                </a:solidFill>
                <a:latin typeface="Arial"/>
                <a:cs typeface="Arial"/>
              </a:rPr>
              <a:t>(cnt’d):</a:t>
            </a:r>
            <a:r>
              <a:rPr sz="1200" spc="15" dirty="0">
                <a:solidFill>
                  <a:srgbClr val="3333B2"/>
                </a:solidFill>
                <a:latin typeface="Arial"/>
                <a:cs typeface="Arial"/>
              </a:rPr>
              <a:t> </a:t>
            </a:r>
            <a:r>
              <a:rPr sz="1200" dirty="0">
                <a:solidFill>
                  <a:srgbClr val="3333B2"/>
                </a:solidFill>
                <a:latin typeface="Arial"/>
                <a:cs typeface="Arial"/>
              </a:rPr>
              <a:t>Less</a:t>
            </a:r>
            <a:r>
              <a:rPr sz="1200" spc="-60" dirty="0">
                <a:solidFill>
                  <a:srgbClr val="3333B2"/>
                </a:solidFill>
                <a:latin typeface="Arial"/>
                <a:cs typeface="Arial"/>
              </a:rPr>
              <a:t> </a:t>
            </a:r>
            <a:r>
              <a:rPr sz="1200" dirty="0">
                <a:solidFill>
                  <a:srgbClr val="3333B2"/>
                </a:solidFill>
                <a:latin typeface="Arial"/>
                <a:cs typeface="Arial"/>
              </a:rPr>
              <a:t>simple</a:t>
            </a:r>
            <a:r>
              <a:rPr sz="1200" spc="-55" dirty="0">
                <a:solidFill>
                  <a:srgbClr val="3333B2"/>
                </a:solidFill>
                <a:latin typeface="Arial"/>
                <a:cs typeface="Arial"/>
              </a:rPr>
              <a:t> </a:t>
            </a:r>
            <a:r>
              <a:rPr sz="1200" dirty="0">
                <a:solidFill>
                  <a:srgbClr val="3333B2"/>
                </a:solidFill>
                <a:latin typeface="Arial"/>
                <a:cs typeface="Arial"/>
              </a:rPr>
              <a:t>Web</a:t>
            </a:r>
            <a:r>
              <a:rPr sz="1200" spc="-55" dirty="0">
                <a:solidFill>
                  <a:srgbClr val="3333B2"/>
                </a:solidFill>
                <a:latin typeface="Arial"/>
                <a:cs typeface="Arial"/>
              </a:rPr>
              <a:t> </a:t>
            </a:r>
            <a:r>
              <a:rPr sz="1200" spc="-10" dirty="0">
                <a:solidFill>
                  <a:srgbClr val="3333B2"/>
                </a:solidFill>
                <a:latin typeface="Arial"/>
                <a:cs typeface="Arial"/>
              </a:rPr>
              <a:t>servers</a:t>
            </a:r>
            <a:endParaRPr sz="1200">
              <a:latin typeface="Arial"/>
              <a:cs typeface="Arial"/>
            </a:endParaRPr>
          </a:p>
          <a:p>
            <a:pPr marL="264160">
              <a:lnSpc>
                <a:spcPct val="100000"/>
              </a:lnSpc>
              <a:spcBef>
                <a:spcPts val="1055"/>
              </a:spcBef>
            </a:pPr>
            <a:r>
              <a:rPr sz="1000" dirty="0">
                <a:solidFill>
                  <a:srgbClr val="3333B2"/>
                </a:solidFill>
                <a:latin typeface="Arial"/>
                <a:cs typeface="Arial"/>
              </a:rPr>
              <a:t>Still</a:t>
            </a:r>
            <a:r>
              <a:rPr sz="1000" spc="-25" dirty="0">
                <a:solidFill>
                  <a:srgbClr val="3333B2"/>
                </a:solidFill>
                <a:latin typeface="Arial"/>
                <a:cs typeface="Arial"/>
              </a:rPr>
              <a:t> </a:t>
            </a:r>
            <a:r>
              <a:rPr sz="1000" dirty="0">
                <a:solidFill>
                  <a:srgbClr val="3333B2"/>
                </a:solidFill>
                <a:latin typeface="Arial"/>
                <a:cs typeface="Arial"/>
              </a:rPr>
              <a:t>back</a:t>
            </a:r>
            <a:r>
              <a:rPr sz="1000" spc="-25" dirty="0">
                <a:solidFill>
                  <a:srgbClr val="3333B2"/>
                </a:solidFill>
                <a:latin typeface="Arial"/>
                <a:cs typeface="Arial"/>
              </a:rPr>
              <a:t> </a:t>
            </a:r>
            <a:r>
              <a:rPr sz="1000" dirty="0">
                <a:solidFill>
                  <a:srgbClr val="3333B2"/>
                </a:solidFill>
                <a:latin typeface="Arial"/>
                <a:cs typeface="Arial"/>
              </a:rPr>
              <a:t>in</a:t>
            </a:r>
            <a:r>
              <a:rPr sz="1000" spc="-25" dirty="0">
                <a:solidFill>
                  <a:srgbClr val="3333B2"/>
                </a:solidFill>
                <a:latin typeface="Arial"/>
                <a:cs typeface="Arial"/>
              </a:rPr>
              <a:t> </a:t>
            </a:r>
            <a:r>
              <a:rPr sz="1000" dirty="0">
                <a:solidFill>
                  <a:srgbClr val="3333B2"/>
                </a:solidFill>
                <a:latin typeface="Arial"/>
                <a:cs typeface="Arial"/>
              </a:rPr>
              <a:t>the</a:t>
            </a:r>
            <a:r>
              <a:rPr sz="1000" spc="-20" dirty="0">
                <a:solidFill>
                  <a:srgbClr val="3333B2"/>
                </a:solidFill>
                <a:latin typeface="Arial"/>
                <a:cs typeface="Arial"/>
              </a:rPr>
              <a:t> </a:t>
            </a:r>
            <a:r>
              <a:rPr sz="1000" dirty="0">
                <a:solidFill>
                  <a:srgbClr val="3333B2"/>
                </a:solidFill>
                <a:latin typeface="Arial"/>
                <a:cs typeface="Arial"/>
              </a:rPr>
              <a:t>old</a:t>
            </a:r>
            <a:r>
              <a:rPr sz="1000" spc="-25" dirty="0">
                <a:solidFill>
                  <a:srgbClr val="3333B2"/>
                </a:solidFill>
                <a:latin typeface="Arial"/>
                <a:cs typeface="Arial"/>
              </a:rPr>
              <a:t> </a:t>
            </a:r>
            <a:r>
              <a:rPr sz="1000" spc="-10" dirty="0">
                <a:solidFill>
                  <a:srgbClr val="3333B2"/>
                </a:solidFill>
                <a:latin typeface="Arial"/>
                <a:cs typeface="Arial"/>
              </a:rPr>
              <a:t>days...</a:t>
            </a:r>
            <a:endParaRPr sz="1000">
              <a:latin typeface="Arial"/>
              <a:cs typeface="Arial"/>
            </a:endParaRPr>
          </a:p>
        </p:txBody>
      </p:sp>
      <p:pic>
        <p:nvPicPr>
          <p:cNvPr id="6" name="object 6"/>
          <p:cNvPicPr/>
          <p:nvPr/>
        </p:nvPicPr>
        <p:blipFill>
          <a:blip r:embed="rId4" cstate="print"/>
          <a:stretch>
            <a:fillRect/>
          </a:stretch>
        </p:blipFill>
        <p:spPr>
          <a:xfrm>
            <a:off x="739775" y="716774"/>
            <a:ext cx="3103107" cy="1067147"/>
          </a:xfrm>
          <a:prstGeom prst="rect">
            <a:avLst/>
          </a:prstGeom>
        </p:spPr>
      </p:pic>
      <p:sp>
        <p:nvSpPr>
          <p:cNvPr id="7" name="object 7"/>
          <p:cNvSpPr txBox="1"/>
          <p:nvPr/>
        </p:nvSpPr>
        <p:spPr>
          <a:xfrm>
            <a:off x="321894" y="1901538"/>
            <a:ext cx="3779520" cy="975994"/>
          </a:xfrm>
          <a:prstGeom prst="rect">
            <a:avLst/>
          </a:prstGeom>
        </p:spPr>
        <p:txBody>
          <a:bodyPr vert="horz" wrap="square" lIns="0" tIns="12065" rIns="0" bIns="0" rtlCol="0">
            <a:spAutoFit/>
          </a:bodyPr>
          <a:lstStyle/>
          <a:p>
            <a:pPr marL="38100">
              <a:lnSpc>
                <a:spcPct val="100000"/>
              </a:lnSpc>
              <a:spcBef>
                <a:spcPts val="95"/>
              </a:spcBef>
            </a:pPr>
            <a:r>
              <a:rPr sz="1000" dirty="0">
                <a:solidFill>
                  <a:srgbClr val="3333B2"/>
                </a:solidFill>
                <a:latin typeface="Arial"/>
                <a:cs typeface="Arial"/>
              </a:rPr>
              <a:t>...life</a:t>
            </a:r>
            <a:r>
              <a:rPr sz="1000" spc="-35" dirty="0">
                <a:solidFill>
                  <a:srgbClr val="3333B2"/>
                </a:solidFill>
                <a:latin typeface="Arial"/>
                <a:cs typeface="Arial"/>
              </a:rPr>
              <a:t> </a:t>
            </a:r>
            <a:r>
              <a:rPr sz="1000" dirty="0">
                <a:solidFill>
                  <a:srgbClr val="3333B2"/>
                </a:solidFill>
                <a:latin typeface="Arial"/>
                <a:cs typeface="Arial"/>
              </a:rPr>
              <a:t>became</a:t>
            </a:r>
            <a:r>
              <a:rPr sz="1000" spc="-30" dirty="0">
                <a:solidFill>
                  <a:srgbClr val="3333B2"/>
                </a:solidFill>
                <a:latin typeface="Arial"/>
                <a:cs typeface="Arial"/>
              </a:rPr>
              <a:t> </a:t>
            </a:r>
            <a:r>
              <a:rPr sz="1000" dirty="0">
                <a:solidFill>
                  <a:srgbClr val="3333B2"/>
                </a:solidFill>
                <a:latin typeface="Arial"/>
                <a:cs typeface="Arial"/>
              </a:rPr>
              <a:t>a</a:t>
            </a:r>
            <a:r>
              <a:rPr sz="1000" spc="-30" dirty="0">
                <a:solidFill>
                  <a:srgbClr val="3333B2"/>
                </a:solidFill>
                <a:latin typeface="Arial"/>
                <a:cs typeface="Arial"/>
              </a:rPr>
              <a:t> </a:t>
            </a:r>
            <a:r>
              <a:rPr sz="1000" dirty="0">
                <a:solidFill>
                  <a:srgbClr val="3333B2"/>
                </a:solidFill>
                <a:latin typeface="Arial"/>
                <a:cs typeface="Arial"/>
              </a:rPr>
              <a:t>bit</a:t>
            </a:r>
            <a:r>
              <a:rPr sz="1000" spc="-30" dirty="0">
                <a:solidFill>
                  <a:srgbClr val="3333B2"/>
                </a:solidFill>
                <a:latin typeface="Arial"/>
                <a:cs typeface="Arial"/>
              </a:rPr>
              <a:t> </a:t>
            </a:r>
            <a:r>
              <a:rPr sz="1000" dirty="0">
                <a:solidFill>
                  <a:srgbClr val="3333B2"/>
                </a:solidFill>
                <a:latin typeface="Arial"/>
                <a:cs typeface="Arial"/>
              </a:rPr>
              <a:t>more</a:t>
            </a:r>
            <a:r>
              <a:rPr sz="1000" spc="-30" dirty="0">
                <a:solidFill>
                  <a:srgbClr val="3333B2"/>
                </a:solidFill>
                <a:latin typeface="Arial"/>
                <a:cs typeface="Arial"/>
              </a:rPr>
              <a:t> </a:t>
            </a:r>
            <a:r>
              <a:rPr sz="1000" spc="-10" dirty="0">
                <a:solidFill>
                  <a:srgbClr val="3333B2"/>
                </a:solidFill>
                <a:latin typeface="Arial"/>
                <a:cs typeface="Arial"/>
              </a:rPr>
              <a:t>complicated:</a:t>
            </a:r>
            <a:endParaRPr sz="1000">
              <a:latin typeface="Arial"/>
              <a:cs typeface="Arial"/>
            </a:endParaRPr>
          </a:p>
          <a:p>
            <a:pPr marL="287020" indent="-116839">
              <a:lnSpc>
                <a:spcPct val="100000"/>
              </a:lnSpc>
              <a:spcBef>
                <a:spcPts val="695"/>
              </a:spcBef>
              <a:buClr>
                <a:srgbClr val="3333B2"/>
              </a:buClr>
              <a:buFont typeface="Apple Symbols"/>
              <a:buChar char="•"/>
              <a:tabLst>
                <a:tab pos="287655" algn="l"/>
              </a:tabLst>
            </a:pPr>
            <a:r>
              <a:rPr sz="900" dirty="0">
                <a:latin typeface="Arial"/>
                <a:cs typeface="Arial"/>
              </a:rPr>
              <a:t>A</a:t>
            </a:r>
            <a:r>
              <a:rPr sz="900" spc="-30" dirty="0">
                <a:latin typeface="Arial"/>
                <a:cs typeface="Arial"/>
              </a:rPr>
              <a:t> </a:t>
            </a:r>
            <a:r>
              <a:rPr sz="900" dirty="0">
                <a:latin typeface="Arial"/>
                <a:cs typeface="Arial"/>
              </a:rPr>
              <a:t>website</a:t>
            </a:r>
            <a:r>
              <a:rPr sz="900" spc="-30" dirty="0">
                <a:latin typeface="Arial"/>
                <a:cs typeface="Arial"/>
              </a:rPr>
              <a:t> </a:t>
            </a:r>
            <a:r>
              <a:rPr sz="900" dirty="0">
                <a:latin typeface="Arial"/>
                <a:cs typeface="Arial"/>
              </a:rPr>
              <a:t>was</a:t>
            </a:r>
            <a:r>
              <a:rPr sz="900" spc="-30" dirty="0">
                <a:latin typeface="Arial"/>
                <a:cs typeface="Arial"/>
              </a:rPr>
              <a:t> </a:t>
            </a:r>
            <a:r>
              <a:rPr sz="900" dirty="0">
                <a:latin typeface="Arial"/>
                <a:cs typeface="Arial"/>
              </a:rPr>
              <a:t>built</a:t>
            </a:r>
            <a:r>
              <a:rPr sz="900" spc="-35" dirty="0">
                <a:latin typeface="Arial"/>
                <a:cs typeface="Arial"/>
              </a:rPr>
              <a:t> </a:t>
            </a:r>
            <a:r>
              <a:rPr sz="900" dirty="0">
                <a:latin typeface="Arial"/>
                <a:cs typeface="Arial"/>
              </a:rPr>
              <a:t>around</a:t>
            </a:r>
            <a:r>
              <a:rPr sz="900" spc="-30" dirty="0">
                <a:latin typeface="Arial"/>
                <a:cs typeface="Arial"/>
              </a:rPr>
              <a:t> </a:t>
            </a:r>
            <a:r>
              <a:rPr sz="900" dirty="0">
                <a:latin typeface="Arial"/>
                <a:cs typeface="Arial"/>
              </a:rPr>
              <a:t>a</a:t>
            </a:r>
            <a:r>
              <a:rPr sz="900" spc="-30" dirty="0">
                <a:latin typeface="Arial"/>
                <a:cs typeface="Arial"/>
              </a:rPr>
              <a:t> </a:t>
            </a:r>
            <a:r>
              <a:rPr sz="900" dirty="0">
                <a:latin typeface="Arial"/>
                <a:cs typeface="Arial"/>
              </a:rPr>
              <a:t>database</a:t>
            </a:r>
            <a:r>
              <a:rPr sz="900" spc="-30" dirty="0">
                <a:latin typeface="Arial"/>
                <a:cs typeface="Arial"/>
              </a:rPr>
              <a:t> </a:t>
            </a:r>
            <a:r>
              <a:rPr sz="900" dirty="0">
                <a:latin typeface="Arial"/>
                <a:cs typeface="Arial"/>
              </a:rPr>
              <a:t>with</a:t>
            </a:r>
            <a:r>
              <a:rPr sz="900" spc="-30" dirty="0">
                <a:latin typeface="Arial"/>
                <a:cs typeface="Arial"/>
              </a:rPr>
              <a:t> </a:t>
            </a:r>
            <a:r>
              <a:rPr sz="900" spc="-10" dirty="0">
                <a:latin typeface="Arial"/>
                <a:cs typeface="Arial"/>
              </a:rPr>
              <a:t>content</a:t>
            </a:r>
            <a:endParaRPr sz="900">
              <a:latin typeface="Arial"/>
              <a:cs typeface="Arial"/>
            </a:endParaRPr>
          </a:p>
          <a:p>
            <a:pPr marL="287020" indent="-116839">
              <a:lnSpc>
                <a:spcPct val="100000"/>
              </a:lnSpc>
              <a:spcBef>
                <a:spcPts val="425"/>
              </a:spcBef>
              <a:buClr>
                <a:srgbClr val="3333B2"/>
              </a:buClr>
              <a:buFont typeface="Apple Symbols"/>
              <a:buChar char="•"/>
              <a:tabLst>
                <a:tab pos="287655" algn="l"/>
              </a:tabLst>
            </a:pPr>
            <a:r>
              <a:rPr sz="900" dirty="0">
                <a:latin typeface="Arial"/>
                <a:cs typeface="Arial"/>
              </a:rPr>
              <a:t>A</a:t>
            </a:r>
            <a:r>
              <a:rPr sz="900" spc="-15" dirty="0">
                <a:latin typeface="Arial"/>
                <a:cs typeface="Arial"/>
              </a:rPr>
              <a:t> </a:t>
            </a:r>
            <a:r>
              <a:rPr sz="900" spc="-10" dirty="0">
                <a:latin typeface="Arial"/>
                <a:cs typeface="Arial"/>
              </a:rPr>
              <a:t>Webpage</a:t>
            </a:r>
            <a:r>
              <a:rPr sz="900" spc="-15" dirty="0">
                <a:latin typeface="Arial"/>
                <a:cs typeface="Arial"/>
              </a:rPr>
              <a:t> </a:t>
            </a:r>
            <a:r>
              <a:rPr sz="900" dirty="0">
                <a:latin typeface="Arial"/>
                <a:cs typeface="Arial"/>
              </a:rPr>
              <a:t>could</a:t>
            </a:r>
            <a:r>
              <a:rPr sz="900" spc="-10" dirty="0">
                <a:latin typeface="Arial"/>
                <a:cs typeface="Arial"/>
              </a:rPr>
              <a:t> </a:t>
            </a:r>
            <a:r>
              <a:rPr sz="900" dirty="0">
                <a:latin typeface="Arial"/>
                <a:cs typeface="Arial"/>
              </a:rPr>
              <a:t>still</a:t>
            </a:r>
            <a:r>
              <a:rPr sz="900" spc="-15" dirty="0">
                <a:latin typeface="Arial"/>
                <a:cs typeface="Arial"/>
              </a:rPr>
              <a:t> </a:t>
            </a:r>
            <a:r>
              <a:rPr sz="900" dirty="0">
                <a:latin typeface="Arial"/>
                <a:cs typeface="Arial"/>
              </a:rPr>
              <a:t>be</a:t>
            </a:r>
            <a:r>
              <a:rPr sz="900" spc="-15" dirty="0">
                <a:latin typeface="Arial"/>
                <a:cs typeface="Arial"/>
              </a:rPr>
              <a:t> </a:t>
            </a:r>
            <a:r>
              <a:rPr sz="900" spc="-10" dirty="0">
                <a:latin typeface="Arial"/>
                <a:cs typeface="Arial"/>
              </a:rPr>
              <a:t>referred </a:t>
            </a:r>
            <a:r>
              <a:rPr sz="900" dirty="0">
                <a:latin typeface="Arial"/>
                <a:cs typeface="Arial"/>
              </a:rPr>
              <a:t>to</a:t>
            </a:r>
            <a:r>
              <a:rPr sz="900" spc="-15" dirty="0">
                <a:latin typeface="Arial"/>
                <a:cs typeface="Arial"/>
              </a:rPr>
              <a:t> </a:t>
            </a:r>
            <a:r>
              <a:rPr sz="900" dirty="0">
                <a:latin typeface="Arial"/>
                <a:cs typeface="Arial"/>
              </a:rPr>
              <a:t>by</a:t>
            </a:r>
            <a:r>
              <a:rPr sz="900" spc="-10" dirty="0">
                <a:latin typeface="Arial"/>
                <a:cs typeface="Arial"/>
              </a:rPr>
              <a:t> </a:t>
            </a:r>
            <a:r>
              <a:rPr sz="900" dirty="0">
                <a:latin typeface="Arial"/>
                <a:cs typeface="Arial"/>
              </a:rPr>
              <a:t>a</a:t>
            </a:r>
            <a:r>
              <a:rPr sz="900" spc="-15" dirty="0">
                <a:latin typeface="Arial"/>
                <a:cs typeface="Arial"/>
              </a:rPr>
              <a:t> </a:t>
            </a:r>
            <a:r>
              <a:rPr sz="900" spc="-10" dirty="0">
                <a:solidFill>
                  <a:srgbClr val="3333B2"/>
                </a:solidFill>
                <a:latin typeface="Arial"/>
                <a:cs typeface="Arial"/>
              </a:rPr>
              <a:t>hyperlink</a:t>
            </a:r>
            <a:endParaRPr sz="900">
              <a:latin typeface="Arial"/>
              <a:cs typeface="Arial"/>
            </a:endParaRPr>
          </a:p>
          <a:p>
            <a:pPr marL="287020" indent="-116839">
              <a:lnSpc>
                <a:spcPct val="100000"/>
              </a:lnSpc>
              <a:spcBef>
                <a:spcPts val="425"/>
              </a:spcBef>
              <a:buClr>
                <a:srgbClr val="3333B2"/>
              </a:buClr>
              <a:buFont typeface="Apple Symbols"/>
              <a:buChar char="•"/>
              <a:tabLst>
                <a:tab pos="287655" algn="l"/>
              </a:tabLst>
            </a:pPr>
            <a:r>
              <a:rPr sz="900" dirty="0">
                <a:latin typeface="Arial"/>
                <a:cs typeface="Arial"/>
              </a:rPr>
              <a:t>A</a:t>
            </a:r>
            <a:r>
              <a:rPr sz="900" spc="-35" dirty="0">
                <a:latin typeface="Arial"/>
                <a:cs typeface="Arial"/>
              </a:rPr>
              <a:t> </a:t>
            </a:r>
            <a:r>
              <a:rPr sz="900" dirty="0">
                <a:latin typeface="Arial"/>
                <a:cs typeface="Arial"/>
              </a:rPr>
              <a:t>Web</a:t>
            </a:r>
            <a:r>
              <a:rPr sz="900" spc="-30" dirty="0">
                <a:latin typeface="Arial"/>
                <a:cs typeface="Arial"/>
              </a:rPr>
              <a:t> </a:t>
            </a:r>
            <a:r>
              <a:rPr sz="900" dirty="0">
                <a:latin typeface="Arial"/>
                <a:cs typeface="Arial"/>
              </a:rPr>
              <a:t>server</a:t>
            </a:r>
            <a:r>
              <a:rPr sz="900" spc="-30" dirty="0">
                <a:latin typeface="Arial"/>
                <a:cs typeface="Arial"/>
              </a:rPr>
              <a:t> </a:t>
            </a:r>
            <a:r>
              <a:rPr sz="900" dirty="0">
                <a:latin typeface="Arial"/>
                <a:cs typeface="Arial"/>
              </a:rPr>
              <a:t>essentially</a:t>
            </a:r>
            <a:r>
              <a:rPr sz="900" spc="-35" dirty="0">
                <a:latin typeface="Arial"/>
                <a:cs typeface="Arial"/>
              </a:rPr>
              <a:t> </a:t>
            </a:r>
            <a:r>
              <a:rPr sz="900" dirty="0">
                <a:latin typeface="Arial"/>
                <a:cs typeface="Arial"/>
              </a:rPr>
              <a:t>needed</a:t>
            </a:r>
            <a:r>
              <a:rPr sz="900" spc="-30" dirty="0">
                <a:latin typeface="Arial"/>
                <a:cs typeface="Arial"/>
              </a:rPr>
              <a:t> </a:t>
            </a:r>
            <a:r>
              <a:rPr sz="900" dirty="0">
                <a:latin typeface="Arial"/>
                <a:cs typeface="Arial"/>
              </a:rPr>
              <a:t>only</a:t>
            </a:r>
            <a:r>
              <a:rPr sz="900" spc="-30" dirty="0">
                <a:latin typeface="Arial"/>
                <a:cs typeface="Arial"/>
              </a:rPr>
              <a:t> </a:t>
            </a:r>
            <a:r>
              <a:rPr sz="900" dirty="0">
                <a:latin typeface="Arial"/>
                <a:cs typeface="Arial"/>
              </a:rPr>
              <a:t>a</a:t>
            </a:r>
            <a:r>
              <a:rPr sz="900" spc="-35" dirty="0">
                <a:latin typeface="Arial"/>
                <a:cs typeface="Arial"/>
              </a:rPr>
              <a:t> </a:t>
            </a:r>
            <a:r>
              <a:rPr sz="900" dirty="0">
                <a:latin typeface="Arial"/>
                <a:cs typeface="Arial"/>
              </a:rPr>
              <a:t>hyperlink</a:t>
            </a:r>
            <a:r>
              <a:rPr sz="900" spc="-30" dirty="0">
                <a:latin typeface="Arial"/>
                <a:cs typeface="Arial"/>
              </a:rPr>
              <a:t> </a:t>
            </a:r>
            <a:r>
              <a:rPr sz="900" dirty="0">
                <a:latin typeface="Arial"/>
                <a:cs typeface="Arial"/>
              </a:rPr>
              <a:t>to</a:t>
            </a:r>
            <a:r>
              <a:rPr sz="900" spc="-30" dirty="0">
                <a:latin typeface="Arial"/>
                <a:cs typeface="Arial"/>
              </a:rPr>
              <a:t> </a:t>
            </a:r>
            <a:r>
              <a:rPr sz="900" dirty="0">
                <a:latin typeface="Arial"/>
                <a:cs typeface="Arial"/>
              </a:rPr>
              <a:t>fetch</a:t>
            </a:r>
            <a:r>
              <a:rPr sz="900" spc="-30" dirty="0">
                <a:latin typeface="Arial"/>
                <a:cs typeface="Arial"/>
              </a:rPr>
              <a:t> </a:t>
            </a:r>
            <a:r>
              <a:rPr sz="900" dirty="0">
                <a:latin typeface="Arial"/>
                <a:cs typeface="Arial"/>
              </a:rPr>
              <a:t>a</a:t>
            </a:r>
            <a:r>
              <a:rPr sz="900" spc="-35" dirty="0">
                <a:latin typeface="Arial"/>
                <a:cs typeface="Arial"/>
              </a:rPr>
              <a:t> </a:t>
            </a:r>
            <a:r>
              <a:rPr sz="900" spc="-20" dirty="0">
                <a:latin typeface="Arial"/>
                <a:cs typeface="Arial"/>
              </a:rPr>
              <a:t>file</a:t>
            </a:r>
            <a:endParaRPr sz="900">
              <a:latin typeface="Arial"/>
              <a:cs typeface="Arial"/>
            </a:endParaRPr>
          </a:p>
          <a:p>
            <a:pPr marL="287020" indent="-116839">
              <a:lnSpc>
                <a:spcPct val="100000"/>
              </a:lnSpc>
              <a:spcBef>
                <a:spcPts val="420"/>
              </a:spcBef>
              <a:buClr>
                <a:srgbClr val="3333B2"/>
              </a:buClr>
              <a:buFont typeface="Apple Symbols"/>
              <a:buChar char="•"/>
              <a:tabLst>
                <a:tab pos="287655" algn="l"/>
              </a:tabLst>
            </a:pPr>
            <a:r>
              <a:rPr sz="900" dirty="0">
                <a:latin typeface="Arial"/>
                <a:cs typeface="Arial"/>
              </a:rPr>
              <a:t>A</a:t>
            </a:r>
            <a:r>
              <a:rPr sz="900" spc="-30" dirty="0">
                <a:latin typeface="Arial"/>
                <a:cs typeface="Arial"/>
              </a:rPr>
              <a:t> </a:t>
            </a:r>
            <a:r>
              <a:rPr sz="900" dirty="0">
                <a:latin typeface="Arial"/>
                <a:cs typeface="Arial"/>
              </a:rPr>
              <a:t>separate</a:t>
            </a:r>
            <a:r>
              <a:rPr sz="900" spc="-30" dirty="0">
                <a:latin typeface="Arial"/>
                <a:cs typeface="Arial"/>
              </a:rPr>
              <a:t> </a:t>
            </a:r>
            <a:r>
              <a:rPr sz="900" dirty="0">
                <a:latin typeface="Arial"/>
                <a:cs typeface="Arial"/>
              </a:rPr>
              <a:t>program</a:t>
            </a:r>
            <a:r>
              <a:rPr sz="900" spc="-30" dirty="0">
                <a:latin typeface="Arial"/>
                <a:cs typeface="Arial"/>
              </a:rPr>
              <a:t> </a:t>
            </a:r>
            <a:r>
              <a:rPr sz="900" dirty="0">
                <a:latin typeface="Arial"/>
                <a:cs typeface="Arial"/>
              </a:rPr>
              <a:t>(</a:t>
            </a:r>
            <a:r>
              <a:rPr sz="900" dirty="0">
                <a:solidFill>
                  <a:srgbClr val="C80000"/>
                </a:solidFill>
                <a:latin typeface="Arial"/>
                <a:cs typeface="Arial"/>
              </a:rPr>
              <a:t>Common</a:t>
            </a:r>
            <a:r>
              <a:rPr sz="900" spc="-25" dirty="0">
                <a:solidFill>
                  <a:srgbClr val="C80000"/>
                </a:solidFill>
                <a:latin typeface="Arial"/>
                <a:cs typeface="Arial"/>
              </a:rPr>
              <a:t> </a:t>
            </a:r>
            <a:r>
              <a:rPr sz="900" spc="-10" dirty="0">
                <a:solidFill>
                  <a:srgbClr val="C80000"/>
                </a:solidFill>
                <a:latin typeface="Arial"/>
                <a:cs typeface="Arial"/>
              </a:rPr>
              <a:t>Gateway</a:t>
            </a:r>
            <a:r>
              <a:rPr sz="900" spc="-30" dirty="0">
                <a:solidFill>
                  <a:srgbClr val="C80000"/>
                </a:solidFill>
                <a:latin typeface="Arial"/>
                <a:cs typeface="Arial"/>
              </a:rPr>
              <a:t> </a:t>
            </a:r>
            <a:r>
              <a:rPr sz="900" spc="-10" dirty="0">
                <a:solidFill>
                  <a:srgbClr val="C80000"/>
                </a:solidFill>
                <a:latin typeface="Arial"/>
                <a:cs typeface="Arial"/>
              </a:rPr>
              <a:t>Interface</a:t>
            </a:r>
            <a:r>
              <a:rPr sz="900" spc="-10" dirty="0">
                <a:latin typeface="Arial"/>
                <a:cs typeface="Arial"/>
              </a:rPr>
              <a:t>)</a:t>
            </a:r>
            <a:r>
              <a:rPr sz="900" spc="-30" dirty="0">
                <a:latin typeface="Arial"/>
                <a:cs typeface="Arial"/>
              </a:rPr>
              <a:t> </a:t>
            </a:r>
            <a:r>
              <a:rPr sz="900" dirty="0">
                <a:solidFill>
                  <a:srgbClr val="3333B2"/>
                </a:solidFill>
                <a:latin typeface="Arial"/>
                <a:cs typeface="Arial"/>
              </a:rPr>
              <a:t>composed</a:t>
            </a:r>
            <a:r>
              <a:rPr sz="900" spc="-30" dirty="0">
                <a:solidFill>
                  <a:srgbClr val="3333B2"/>
                </a:solidFill>
                <a:latin typeface="Arial"/>
                <a:cs typeface="Arial"/>
              </a:rPr>
              <a:t> </a:t>
            </a:r>
            <a:r>
              <a:rPr sz="900" dirty="0">
                <a:latin typeface="Arial"/>
                <a:cs typeface="Arial"/>
              </a:rPr>
              <a:t>a</a:t>
            </a:r>
            <a:r>
              <a:rPr sz="900" spc="-25" dirty="0">
                <a:latin typeface="Arial"/>
                <a:cs typeface="Arial"/>
              </a:rPr>
              <a:t> </a:t>
            </a:r>
            <a:r>
              <a:rPr sz="900" spc="-20" dirty="0">
                <a:latin typeface="Arial"/>
                <a:cs typeface="Arial"/>
              </a:rPr>
              <a:t>page</a:t>
            </a:r>
            <a:endParaRPr sz="900">
              <a:latin typeface="Arial"/>
              <a:cs typeface="Arial"/>
            </a:endParaRPr>
          </a:p>
        </p:txBody>
      </p:sp>
      <p:grpSp>
        <p:nvGrpSpPr>
          <p:cNvPr id="8" name="object 8"/>
          <p:cNvGrpSpPr/>
          <p:nvPr/>
        </p:nvGrpSpPr>
        <p:grpSpPr>
          <a:xfrm>
            <a:off x="0" y="3348469"/>
            <a:ext cx="4608195" cy="107950"/>
            <a:chOff x="0" y="3348469"/>
            <a:chExt cx="4608195" cy="107950"/>
          </a:xfrm>
        </p:grpSpPr>
        <p:sp>
          <p:nvSpPr>
            <p:cNvPr id="9" name="object 9"/>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10" name="object 10"/>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
        <p:nvSpPr>
          <p:cNvPr id="11" name="object 11"/>
          <p:cNvSpPr txBox="1"/>
          <p:nvPr/>
        </p:nvSpPr>
        <p:spPr>
          <a:xfrm>
            <a:off x="480148" y="2928127"/>
            <a:ext cx="82550" cy="139700"/>
          </a:xfrm>
          <a:prstGeom prst="rect">
            <a:avLst/>
          </a:prstGeom>
        </p:spPr>
        <p:txBody>
          <a:bodyPr vert="horz" wrap="square" lIns="0" tIns="0" rIns="0" bIns="0" rtlCol="0">
            <a:spAutoFit/>
          </a:bodyPr>
          <a:lstStyle/>
          <a:p>
            <a:pPr marL="12700">
              <a:lnSpc>
                <a:spcPts val="950"/>
              </a:lnSpc>
            </a:pPr>
            <a:r>
              <a:rPr sz="900" spc="105" dirty="0">
                <a:solidFill>
                  <a:srgbClr val="3333B2"/>
                </a:solidFill>
                <a:latin typeface="Apple Symbols"/>
                <a:cs typeface="Apple Symbols"/>
              </a:rPr>
              <a:t>•</a:t>
            </a:r>
            <a:endParaRPr sz="900">
              <a:latin typeface="Apple Symbols"/>
              <a:cs typeface="Apple Symbols"/>
            </a:endParaRPr>
          </a:p>
        </p:txBody>
      </p:sp>
      <p:sp>
        <p:nvSpPr>
          <p:cNvPr id="12" name="object 12"/>
          <p:cNvSpPr txBox="1"/>
          <p:nvPr/>
        </p:nvSpPr>
        <p:spPr>
          <a:xfrm>
            <a:off x="596595" y="2920822"/>
            <a:ext cx="3115945" cy="166370"/>
          </a:xfrm>
          <a:prstGeom prst="rect">
            <a:avLst/>
          </a:prstGeom>
        </p:spPr>
        <p:txBody>
          <a:bodyPr vert="horz" wrap="square" lIns="0" tIns="6985" rIns="0" bIns="0" rtlCol="0">
            <a:spAutoFit/>
          </a:bodyPr>
          <a:lstStyle/>
          <a:p>
            <a:pPr marL="12700">
              <a:lnSpc>
                <a:spcPct val="100000"/>
              </a:lnSpc>
              <a:spcBef>
                <a:spcPts val="55"/>
              </a:spcBef>
            </a:pPr>
            <a:r>
              <a:rPr sz="900" dirty="0">
                <a:latin typeface="Arial"/>
                <a:cs typeface="Arial"/>
              </a:rPr>
              <a:t>A</a:t>
            </a:r>
            <a:r>
              <a:rPr sz="900" spc="-25" dirty="0">
                <a:latin typeface="Arial"/>
                <a:cs typeface="Arial"/>
              </a:rPr>
              <a:t> </a:t>
            </a:r>
            <a:r>
              <a:rPr sz="900" dirty="0">
                <a:latin typeface="Arial"/>
                <a:cs typeface="Arial"/>
              </a:rPr>
              <a:t>browser</a:t>
            </a:r>
            <a:r>
              <a:rPr sz="900" spc="-25" dirty="0">
                <a:latin typeface="Arial"/>
                <a:cs typeface="Arial"/>
              </a:rPr>
              <a:t> </a:t>
            </a:r>
            <a:r>
              <a:rPr sz="900" dirty="0">
                <a:latin typeface="Arial"/>
                <a:cs typeface="Arial"/>
              </a:rPr>
              <a:t>took</a:t>
            </a:r>
            <a:r>
              <a:rPr sz="900" spc="-20" dirty="0">
                <a:latin typeface="Arial"/>
                <a:cs typeface="Arial"/>
              </a:rPr>
              <a:t> </a:t>
            </a:r>
            <a:r>
              <a:rPr sz="900" dirty="0">
                <a:latin typeface="Arial"/>
                <a:cs typeface="Arial"/>
              </a:rPr>
              <a:t>care</a:t>
            </a:r>
            <a:r>
              <a:rPr sz="900" spc="-25"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properly</a:t>
            </a:r>
            <a:r>
              <a:rPr sz="900" spc="-20" dirty="0">
                <a:latin typeface="Arial"/>
                <a:cs typeface="Arial"/>
              </a:rPr>
              <a:t> </a:t>
            </a:r>
            <a:r>
              <a:rPr sz="900" dirty="0">
                <a:latin typeface="Arial"/>
                <a:cs typeface="Arial"/>
              </a:rPr>
              <a:t>rendering</a:t>
            </a:r>
            <a:r>
              <a:rPr sz="900" spc="-25" dirty="0">
                <a:latin typeface="Arial"/>
                <a:cs typeface="Arial"/>
              </a:rPr>
              <a:t> </a:t>
            </a:r>
            <a:r>
              <a:rPr sz="900" dirty="0">
                <a:latin typeface="Arial"/>
                <a:cs typeface="Arial"/>
              </a:rPr>
              <a:t>the</a:t>
            </a:r>
            <a:r>
              <a:rPr sz="900" spc="-25" dirty="0">
                <a:latin typeface="Arial"/>
                <a:cs typeface="Arial"/>
              </a:rPr>
              <a:t> </a:t>
            </a:r>
            <a:r>
              <a:rPr sz="900" dirty="0">
                <a:latin typeface="Arial"/>
                <a:cs typeface="Arial"/>
              </a:rPr>
              <a:t>content</a:t>
            </a:r>
            <a:r>
              <a:rPr sz="900" spc="-20"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a</a:t>
            </a:r>
            <a:r>
              <a:rPr sz="900" spc="-25" dirty="0">
                <a:latin typeface="Arial"/>
                <a:cs typeface="Arial"/>
              </a:rPr>
              <a:t> </a:t>
            </a:r>
            <a:r>
              <a:rPr sz="900" spc="-20" dirty="0">
                <a:latin typeface="Arial"/>
                <a:cs typeface="Arial"/>
              </a:rPr>
              <a:t>file</a:t>
            </a:r>
            <a:endParaRPr sz="900">
              <a:latin typeface="Arial"/>
              <a:cs typeface="Arial"/>
            </a:endParaRPr>
          </a:p>
        </p:txBody>
      </p:sp>
      <p:sp>
        <p:nvSpPr>
          <p:cNvPr id="13" name="object 13"/>
          <p:cNvSpPr txBox="1"/>
          <p:nvPr/>
        </p:nvSpPr>
        <p:spPr>
          <a:xfrm>
            <a:off x="53467" y="3349927"/>
            <a:ext cx="565785" cy="104139"/>
          </a:xfrm>
          <a:prstGeom prst="rect">
            <a:avLst/>
          </a:prstGeom>
        </p:spPr>
        <p:txBody>
          <a:bodyPr vert="horz" wrap="square" lIns="0" tIns="9525" rIns="0" bIns="0" rtlCol="0">
            <a:spAutoFit/>
          </a:bodyPr>
          <a:lstStyle/>
          <a:p>
            <a:pPr marL="12700">
              <a:lnSpc>
                <a:spcPct val="100000"/>
              </a:lnSpc>
              <a:spcBef>
                <a:spcPts val="75"/>
              </a:spcBef>
            </a:pPr>
            <a:r>
              <a:rPr sz="500" dirty="0">
                <a:latin typeface="Arial"/>
                <a:cs typeface="Arial"/>
                <a:hlinkClick r:id="rId5" action="ppaction://hlinksldjump"/>
              </a:rPr>
              <a:t>Example:</a:t>
            </a:r>
            <a:r>
              <a:rPr sz="500" spc="10" dirty="0">
                <a:latin typeface="Arial"/>
                <a:cs typeface="Arial"/>
                <a:hlinkClick r:id="rId5" action="ppaction://hlinksldjump"/>
              </a:rPr>
              <a:t> </a:t>
            </a:r>
            <a:r>
              <a:rPr sz="500" dirty="0">
                <a:latin typeface="Arial"/>
                <a:cs typeface="Arial"/>
                <a:hlinkClick r:id="rId5" action="ppaction://hlinksldjump"/>
              </a:rPr>
              <a:t>The</a:t>
            </a:r>
            <a:r>
              <a:rPr sz="500" spc="-15" dirty="0">
                <a:latin typeface="Arial"/>
                <a:cs typeface="Arial"/>
                <a:hlinkClick r:id="rId5" action="ppaction://hlinksldjump"/>
              </a:rPr>
              <a:t> </a:t>
            </a:r>
            <a:r>
              <a:rPr sz="500" spc="-25" dirty="0">
                <a:latin typeface="Arial"/>
                <a:cs typeface="Arial"/>
                <a:hlinkClick r:id="rId5" action="ppaction://hlinksldjump"/>
              </a:rPr>
              <a:t>Web</a:t>
            </a:r>
            <a:endParaRPr sz="500">
              <a:latin typeface="Arial"/>
              <a:cs typeface="Arial"/>
            </a:endParaRPr>
          </a:p>
        </p:txBody>
      </p:sp>
    </p:spTree>
    <p:extLst>
      <p:ext uri="{BB962C8B-B14F-4D97-AF65-F5344CB8AC3E}">
        <p14:creationId xmlns:p14="http://schemas.microsoft.com/office/powerpoint/2010/main" val="2830501889"/>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3467" y="-1515"/>
            <a:ext cx="4501515" cy="101600"/>
          </a:xfrm>
          <a:prstGeom prst="rect">
            <a:avLst/>
          </a:prstGeom>
        </p:spPr>
        <p:txBody>
          <a:bodyPr vert="horz" wrap="square" lIns="0" tIns="12065" rIns="0" bIns="0" rtlCol="0">
            <a:spAutoFit/>
          </a:bodyPr>
          <a:lstStyle/>
          <a:p>
            <a:pPr marL="12700">
              <a:lnSpc>
                <a:spcPct val="100000"/>
              </a:lnSpc>
              <a:spcBef>
                <a:spcPts val="95"/>
              </a:spcBef>
              <a:tabLst>
                <a:tab pos="3186430" algn="l"/>
              </a:tabLst>
            </a:pPr>
            <a:r>
              <a:rPr sz="500" spc="-10" dirty="0">
                <a:latin typeface="Arial"/>
                <a:cs typeface="Arial"/>
                <a:hlinkClick r:id="rId2" action="ppaction://hlinksldjump"/>
              </a:rPr>
              <a:t>Architectures</a:t>
            </a:r>
            <a:r>
              <a:rPr sz="500" dirty="0">
                <a:latin typeface="Arial"/>
                <a:cs typeface="Arial"/>
              </a:rPr>
              <a:t>	</a:t>
            </a:r>
            <a:r>
              <a:rPr sz="500" dirty="0">
                <a:solidFill>
                  <a:srgbClr val="FFFFFF"/>
                </a:solidFill>
                <a:latin typeface="Arial"/>
                <a:cs typeface="Arial"/>
                <a:hlinkClick r:id="rId3" action="ppaction://hlinksldjump"/>
              </a:rPr>
              <a:t>Symmetrically</a:t>
            </a:r>
            <a:r>
              <a:rPr sz="500" spc="-4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distributed</a:t>
            </a:r>
            <a:r>
              <a:rPr sz="500" spc="-30" dirty="0">
                <a:solidFill>
                  <a:srgbClr val="FFFFFF"/>
                </a:solidFill>
                <a:latin typeface="Arial"/>
                <a:cs typeface="Arial"/>
                <a:hlinkClick r:id="rId3" action="ppaction://hlinksldjump"/>
              </a:rPr>
              <a:t> </a:t>
            </a:r>
            <a:r>
              <a:rPr sz="500" dirty="0">
                <a:solidFill>
                  <a:srgbClr val="FFFFFF"/>
                </a:solidFill>
                <a:latin typeface="Arial"/>
                <a:cs typeface="Arial"/>
                <a:hlinkClick r:id="rId3" action="ppaction://hlinksldjump"/>
              </a:rPr>
              <a:t>system</a:t>
            </a:r>
            <a:r>
              <a:rPr sz="500" spc="-25" dirty="0">
                <a:solidFill>
                  <a:srgbClr val="FFFFFF"/>
                </a:solidFill>
                <a:latin typeface="Arial"/>
                <a:cs typeface="Arial"/>
                <a:hlinkClick r:id="rId3" action="ppaction://hlinksldjump"/>
              </a:rPr>
              <a:t> </a:t>
            </a:r>
            <a:r>
              <a:rPr sz="500" spc="-10" dirty="0">
                <a:solidFill>
                  <a:srgbClr val="FFFFFF"/>
                </a:solidFill>
                <a:latin typeface="Arial"/>
                <a:cs typeface="Arial"/>
                <a:hlinkClick r:id="rId3" action="ppaction://hlinksldjump"/>
              </a:rPr>
              <a:t>architectures</a:t>
            </a:r>
            <a:endParaRPr sz="500">
              <a:latin typeface="Arial"/>
              <a:cs typeface="Arial"/>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Alternative</a:t>
            </a:r>
            <a:r>
              <a:rPr spc="-70" dirty="0"/>
              <a:t> </a:t>
            </a:r>
            <a:r>
              <a:rPr spc="-10" dirty="0"/>
              <a:t>organizations</a:t>
            </a:r>
          </a:p>
        </p:txBody>
      </p:sp>
      <p:sp>
        <p:nvSpPr>
          <p:cNvPr id="4" name="object 4"/>
          <p:cNvSpPr txBox="1"/>
          <p:nvPr/>
        </p:nvSpPr>
        <p:spPr>
          <a:xfrm>
            <a:off x="343128" y="499476"/>
            <a:ext cx="3919854" cy="1791970"/>
          </a:xfrm>
          <a:prstGeom prst="rect">
            <a:avLst/>
          </a:prstGeom>
        </p:spPr>
        <p:txBody>
          <a:bodyPr vert="horz" wrap="square" lIns="0" tIns="27305" rIns="0" bIns="0" rtlCol="0">
            <a:spAutoFit/>
          </a:bodyPr>
          <a:lstStyle/>
          <a:p>
            <a:pPr marL="12700">
              <a:lnSpc>
                <a:spcPct val="100000"/>
              </a:lnSpc>
              <a:spcBef>
                <a:spcPts val="215"/>
              </a:spcBef>
            </a:pPr>
            <a:r>
              <a:rPr sz="1000" spc="-10" dirty="0">
                <a:solidFill>
                  <a:srgbClr val="3333B2"/>
                </a:solidFill>
                <a:latin typeface="Arial"/>
                <a:cs typeface="Arial"/>
              </a:rPr>
              <a:t>Vertical</a:t>
            </a:r>
            <a:r>
              <a:rPr sz="1000" spc="-5" dirty="0">
                <a:solidFill>
                  <a:srgbClr val="3333B2"/>
                </a:solidFill>
                <a:latin typeface="Arial"/>
                <a:cs typeface="Arial"/>
              </a:rPr>
              <a:t> </a:t>
            </a:r>
            <a:r>
              <a:rPr sz="1000" spc="-10" dirty="0">
                <a:solidFill>
                  <a:srgbClr val="3333B2"/>
                </a:solidFill>
                <a:latin typeface="Arial"/>
                <a:cs typeface="Arial"/>
              </a:rPr>
              <a:t>distribution</a:t>
            </a:r>
            <a:endParaRPr sz="1000">
              <a:latin typeface="Arial"/>
              <a:cs typeface="Arial"/>
            </a:endParaRPr>
          </a:p>
          <a:p>
            <a:pPr marL="16510" marR="225425">
              <a:lnSpc>
                <a:spcPts val="1210"/>
              </a:lnSpc>
              <a:spcBef>
                <a:spcPts val="35"/>
              </a:spcBef>
            </a:pPr>
            <a:r>
              <a:rPr sz="900" dirty="0">
                <a:latin typeface="Arial"/>
                <a:cs typeface="Arial"/>
              </a:rPr>
              <a:t>Comes</a:t>
            </a:r>
            <a:r>
              <a:rPr sz="900" spc="-35" dirty="0">
                <a:latin typeface="Arial"/>
                <a:cs typeface="Arial"/>
              </a:rPr>
              <a:t> </a:t>
            </a:r>
            <a:r>
              <a:rPr sz="900" dirty="0">
                <a:latin typeface="Arial"/>
                <a:cs typeface="Arial"/>
              </a:rPr>
              <a:t>from</a:t>
            </a:r>
            <a:r>
              <a:rPr sz="900" spc="-35" dirty="0">
                <a:latin typeface="Arial"/>
                <a:cs typeface="Arial"/>
              </a:rPr>
              <a:t> </a:t>
            </a:r>
            <a:r>
              <a:rPr sz="900" dirty="0">
                <a:latin typeface="Arial"/>
                <a:cs typeface="Arial"/>
              </a:rPr>
              <a:t>dividing</a:t>
            </a:r>
            <a:r>
              <a:rPr sz="900" spc="-35" dirty="0">
                <a:latin typeface="Arial"/>
                <a:cs typeface="Arial"/>
              </a:rPr>
              <a:t> </a:t>
            </a:r>
            <a:r>
              <a:rPr sz="900" dirty="0">
                <a:latin typeface="Arial"/>
                <a:cs typeface="Arial"/>
              </a:rPr>
              <a:t>distributed</a:t>
            </a:r>
            <a:r>
              <a:rPr sz="900" spc="-30" dirty="0">
                <a:latin typeface="Arial"/>
                <a:cs typeface="Arial"/>
              </a:rPr>
              <a:t> </a:t>
            </a:r>
            <a:r>
              <a:rPr sz="900" dirty="0">
                <a:latin typeface="Arial"/>
                <a:cs typeface="Arial"/>
              </a:rPr>
              <a:t>applications</a:t>
            </a:r>
            <a:r>
              <a:rPr sz="900" spc="-35" dirty="0">
                <a:latin typeface="Arial"/>
                <a:cs typeface="Arial"/>
              </a:rPr>
              <a:t> </a:t>
            </a:r>
            <a:r>
              <a:rPr sz="900" dirty="0">
                <a:latin typeface="Arial"/>
                <a:cs typeface="Arial"/>
              </a:rPr>
              <a:t>into</a:t>
            </a:r>
            <a:r>
              <a:rPr sz="900" spc="-35" dirty="0">
                <a:latin typeface="Arial"/>
                <a:cs typeface="Arial"/>
              </a:rPr>
              <a:t> </a:t>
            </a:r>
            <a:r>
              <a:rPr sz="900" dirty="0">
                <a:latin typeface="Arial"/>
                <a:cs typeface="Arial"/>
              </a:rPr>
              <a:t>three</a:t>
            </a:r>
            <a:r>
              <a:rPr sz="900" spc="-35" dirty="0">
                <a:latin typeface="Arial"/>
                <a:cs typeface="Arial"/>
              </a:rPr>
              <a:t> </a:t>
            </a:r>
            <a:r>
              <a:rPr sz="900" dirty="0">
                <a:latin typeface="Arial"/>
                <a:cs typeface="Arial"/>
              </a:rPr>
              <a:t>logical</a:t>
            </a:r>
            <a:r>
              <a:rPr sz="900" spc="-30" dirty="0">
                <a:latin typeface="Arial"/>
                <a:cs typeface="Arial"/>
              </a:rPr>
              <a:t> </a:t>
            </a:r>
            <a:r>
              <a:rPr sz="900" spc="-10" dirty="0">
                <a:latin typeface="Arial"/>
                <a:cs typeface="Arial"/>
              </a:rPr>
              <a:t>layers,</a:t>
            </a:r>
            <a:r>
              <a:rPr sz="900" spc="-35" dirty="0">
                <a:latin typeface="Arial"/>
                <a:cs typeface="Arial"/>
              </a:rPr>
              <a:t> </a:t>
            </a:r>
            <a:r>
              <a:rPr sz="900" spc="-25" dirty="0">
                <a:latin typeface="Arial"/>
                <a:cs typeface="Arial"/>
              </a:rPr>
              <a:t>and </a:t>
            </a:r>
            <a:r>
              <a:rPr sz="900" dirty="0">
                <a:latin typeface="Arial"/>
                <a:cs typeface="Arial"/>
              </a:rPr>
              <a:t>running</a:t>
            </a:r>
            <a:r>
              <a:rPr sz="900" spc="-25"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components</a:t>
            </a:r>
            <a:r>
              <a:rPr sz="900" spc="-20" dirty="0">
                <a:latin typeface="Arial"/>
                <a:cs typeface="Arial"/>
              </a:rPr>
              <a:t> </a:t>
            </a:r>
            <a:r>
              <a:rPr sz="900" dirty="0">
                <a:latin typeface="Arial"/>
                <a:cs typeface="Arial"/>
              </a:rPr>
              <a:t>from</a:t>
            </a:r>
            <a:r>
              <a:rPr sz="900" spc="-20" dirty="0">
                <a:latin typeface="Arial"/>
                <a:cs typeface="Arial"/>
              </a:rPr>
              <a:t> </a:t>
            </a:r>
            <a:r>
              <a:rPr sz="900" dirty="0">
                <a:latin typeface="Arial"/>
                <a:cs typeface="Arial"/>
              </a:rPr>
              <a:t>each</a:t>
            </a:r>
            <a:r>
              <a:rPr sz="900" spc="-20" dirty="0">
                <a:latin typeface="Arial"/>
                <a:cs typeface="Arial"/>
              </a:rPr>
              <a:t> </a:t>
            </a:r>
            <a:r>
              <a:rPr sz="900" spc="-10" dirty="0">
                <a:latin typeface="Arial"/>
                <a:cs typeface="Arial"/>
              </a:rPr>
              <a:t>layer</a:t>
            </a:r>
            <a:r>
              <a:rPr sz="900" spc="-20" dirty="0">
                <a:latin typeface="Arial"/>
                <a:cs typeface="Arial"/>
              </a:rPr>
              <a:t> </a:t>
            </a:r>
            <a:r>
              <a:rPr sz="900" dirty="0">
                <a:latin typeface="Arial"/>
                <a:cs typeface="Arial"/>
              </a:rPr>
              <a:t>on</a:t>
            </a:r>
            <a:r>
              <a:rPr sz="900" spc="-20" dirty="0">
                <a:latin typeface="Arial"/>
                <a:cs typeface="Arial"/>
              </a:rPr>
              <a:t> </a:t>
            </a:r>
            <a:r>
              <a:rPr sz="900" dirty="0">
                <a:latin typeface="Arial"/>
                <a:cs typeface="Arial"/>
              </a:rPr>
              <a:t>a</a:t>
            </a:r>
            <a:r>
              <a:rPr sz="900" spc="-20" dirty="0">
                <a:latin typeface="Arial"/>
                <a:cs typeface="Arial"/>
              </a:rPr>
              <a:t> </a:t>
            </a:r>
            <a:r>
              <a:rPr sz="900" spc="-10" dirty="0">
                <a:latin typeface="Arial"/>
                <a:cs typeface="Arial"/>
              </a:rPr>
              <a:t>different</a:t>
            </a:r>
            <a:r>
              <a:rPr sz="900" spc="-20" dirty="0">
                <a:latin typeface="Arial"/>
                <a:cs typeface="Arial"/>
              </a:rPr>
              <a:t> </a:t>
            </a:r>
            <a:r>
              <a:rPr sz="900" dirty="0">
                <a:latin typeface="Arial"/>
                <a:cs typeface="Arial"/>
              </a:rPr>
              <a:t>server</a:t>
            </a:r>
            <a:r>
              <a:rPr sz="900" spc="-20" dirty="0">
                <a:latin typeface="Arial"/>
                <a:cs typeface="Arial"/>
              </a:rPr>
              <a:t> </a:t>
            </a:r>
            <a:r>
              <a:rPr sz="900" spc="-10" dirty="0">
                <a:latin typeface="Arial"/>
                <a:cs typeface="Arial"/>
              </a:rPr>
              <a:t>(machine).</a:t>
            </a:r>
            <a:endParaRPr sz="900">
              <a:latin typeface="Arial"/>
              <a:cs typeface="Arial"/>
            </a:endParaRPr>
          </a:p>
          <a:p>
            <a:pPr marL="16510">
              <a:lnSpc>
                <a:spcPct val="100000"/>
              </a:lnSpc>
              <a:spcBef>
                <a:spcPts val="750"/>
              </a:spcBef>
            </a:pPr>
            <a:r>
              <a:rPr sz="1000" dirty="0">
                <a:solidFill>
                  <a:srgbClr val="3333B2"/>
                </a:solidFill>
                <a:latin typeface="Arial"/>
                <a:cs typeface="Arial"/>
              </a:rPr>
              <a:t>Horizontal</a:t>
            </a:r>
            <a:r>
              <a:rPr sz="1000" spc="-65" dirty="0">
                <a:solidFill>
                  <a:srgbClr val="3333B2"/>
                </a:solidFill>
                <a:latin typeface="Arial"/>
                <a:cs typeface="Arial"/>
              </a:rPr>
              <a:t> </a:t>
            </a:r>
            <a:r>
              <a:rPr sz="1000" spc="-10" dirty="0">
                <a:solidFill>
                  <a:srgbClr val="3333B2"/>
                </a:solidFill>
                <a:latin typeface="Arial"/>
                <a:cs typeface="Arial"/>
              </a:rPr>
              <a:t>distribution</a:t>
            </a:r>
            <a:endParaRPr sz="1000">
              <a:latin typeface="Arial"/>
              <a:cs typeface="Arial"/>
            </a:endParaRPr>
          </a:p>
          <a:p>
            <a:pPr marL="16510" marR="22225" indent="-3810">
              <a:lnSpc>
                <a:spcPts val="1210"/>
              </a:lnSpc>
              <a:spcBef>
                <a:spcPts val="35"/>
              </a:spcBef>
            </a:pPr>
            <a:r>
              <a:rPr sz="900" dirty="0">
                <a:latin typeface="Arial"/>
                <a:cs typeface="Arial"/>
              </a:rPr>
              <a:t>A</a:t>
            </a:r>
            <a:r>
              <a:rPr sz="900" spc="-15" dirty="0">
                <a:latin typeface="Arial"/>
                <a:cs typeface="Arial"/>
              </a:rPr>
              <a:t> </a:t>
            </a:r>
            <a:r>
              <a:rPr sz="900" dirty="0">
                <a:latin typeface="Arial"/>
                <a:cs typeface="Arial"/>
              </a:rPr>
              <a:t>client</a:t>
            </a:r>
            <a:r>
              <a:rPr sz="900" spc="-15" dirty="0">
                <a:latin typeface="Arial"/>
                <a:cs typeface="Arial"/>
              </a:rPr>
              <a:t> </a:t>
            </a:r>
            <a:r>
              <a:rPr sz="900" dirty="0">
                <a:latin typeface="Arial"/>
                <a:cs typeface="Arial"/>
              </a:rPr>
              <a:t>or</a:t>
            </a:r>
            <a:r>
              <a:rPr sz="900" spc="-15" dirty="0">
                <a:latin typeface="Arial"/>
                <a:cs typeface="Arial"/>
              </a:rPr>
              <a:t> </a:t>
            </a:r>
            <a:r>
              <a:rPr sz="900" dirty="0">
                <a:latin typeface="Arial"/>
                <a:cs typeface="Arial"/>
              </a:rPr>
              <a:t>server</a:t>
            </a:r>
            <a:r>
              <a:rPr sz="900" spc="-15" dirty="0">
                <a:latin typeface="Arial"/>
                <a:cs typeface="Arial"/>
              </a:rPr>
              <a:t> </a:t>
            </a:r>
            <a:r>
              <a:rPr sz="900" dirty="0">
                <a:latin typeface="Arial"/>
                <a:cs typeface="Arial"/>
              </a:rPr>
              <a:t>may</a:t>
            </a:r>
            <a:r>
              <a:rPr sz="900" spc="-15" dirty="0">
                <a:latin typeface="Arial"/>
                <a:cs typeface="Arial"/>
              </a:rPr>
              <a:t> </a:t>
            </a:r>
            <a:r>
              <a:rPr sz="900" dirty="0">
                <a:latin typeface="Arial"/>
                <a:cs typeface="Arial"/>
              </a:rPr>
              <a:t>be</a:t>
            </a:r>
            <a:r>
              <a:rPr sz="900" spc="-15" dirty="0">
                <a:latin typeface="Arial"/>
                <a:cs typeface="Arial"/>
              </a:rPr>
              <a:t> </a:t>
            </a:r>
            <a:r>
              <a:rPr sz="900" spc="-10" dirty="0">
                <a:latin typeface="Arial"/>
                <a:cs typeface="Arial"/>
              </a:rPr>
              <a:t>physically</a:t>
            </a:r>
            <a:r>
              <a:rPr sz="900" spc="-15" dirty="0">
                <a:latin typeface="Arial"/>
                <a:cs typeface="Arial"/>
              </a:rPr>
              <a:t> </a:t>
            </a:r>
            <a:r>
              <a:rPr sz="900" dirty="0">
                <a:latin typeface="Arial"/>
                <a:cs typeface="Arial"/>
              </a:rPr>
              <a:t>split</a:t>
            </a:r>
            <a:r>
              <a:rPr sz="900" spc="-15" dirty="0">
                <a:latin typeface="Arial"/>
                <a:cs typeface="Arial"/>
              </a:rPr>
              <a:t> </a:t>
            </a:r>
            <a:r>
              <a:rPr sz="900" dirty="0">
                <a:latin typeface="Arial"/>
                <a:cs typeface="Arial"/>
              </a:rPr>
              <a:t>up</a:t>
            </a:r>
            <a:r>
              <a:rPr sz="900" spc="-15" dirty="0">
                <a:latin typeface="Arial"/>
                <a:cs typeface="Arial"/>
              </a:rPr>
              <a:t> </a:t>
            </a:r>
            <a:r>
              <a:rPr sz="900" dirty="0">
                <a:latin typeface="Arial"/>
                <a:cs typeface="Arial"/>
              </a:rPr>
              <a:t>into</a:t>
            </a:r>
            <a:r>
              <a:rPr sz="900" spc="-15" dirty="0">
                <a:latin typeface="Arial"/>
                <a:cs typeface="Arial"/>
              </a:rPr>
              <a:t> </a:t>
            </a:r>
            <a:r>
              <a:rPr sz="900" dirty="0">
                <a:latin typeface="Arial"/>
                <a:cs typeface="Arial"/>
              </a:rPr>
              <a:t>logically</a:t>
            </a:r>
            <a:r>
              <a:rPr sz="900" spc="-15" dirty="0">
                <a:latin typeface="Arial"/>
                <a:cs typeface="Arial"/>
              </a:rPr>
              <a:t> </a:t>
            </a:r>
            <a:r>
              <a:rPr sz="900" spc="-10" dirty="0">
                <a:latin typeface="Arial"/>
                <a:cs typeface="Arial"/>
              </a:rPr>
              <a:t>equivalent</a:t>
            </a:r>
            <a:r>
              <a:rPr sz="900" spc="-15" dirty="0">
                <a:latin typeface="Arial"/>
                <a:cs typeface="Arial"/>
              </a:rPr>
              <a:t> </a:t>
            </a:r>
            <a:r>
              <a:rPr sz="900" dirty="0">
                <a:latin typeface="Arial"/>
                <a:cs typeface="Arial"/>
              </a:rPr>
              <a:t>parts,</a:t>
            </a:r>
            <a:r>
              <a:rPr sz="900" spc="-15" dirty="0">
                <a:latin typeface="Arial"/>
                <a:cs typeface="Arial"/>
              </a:rPr>
              <a:t> </a:t>
            </a:r>
            <a:r>
              <a:rPr sz="900" spc="-25" dirty="0">
                <a:latin typeface="Arial"/>
                <a:cs typeface="Arial"/>
              </a:rPr>
              <a:t>but </a:t>
            </a:r>
            <a:r>
              <a:rPr sz="900" dirty="0">
                <a:latin typeface="Arial"/>
                <a:cs typeface="Arial"/>
              </a:rPr>
              <a:t>each</a:t>
            </a:r>
            <a:r>
              <a:rPr sz="900" spc="-25" dirty="0">
                <a:latin typeface="Arial"/>
                <a:cs typeface="Arial"/>
              </a:rPr>
              <a:t> </a:t>
            </a:r>
            <a:r>
              <a:rPr sz="900" dirty="0">
                <a:latin typeface="Arial"/>
                <a:cs typeface="Arial"/>
              </a:rPr>
              <a:t>part</a:t>
            </a:r>
            <a:r>
              <a:rPr sz="900" spc="-20" dirty="0">
                <a:latin typeface="Arial"/>
                <a:cs typeface="Arial"/>
              </a:rPr>
              <a:t> </a:t>
            </a:r>
            <a:r>
              <a:rPr sz="900" dirty="0">
                <a:latin typeface="Arial"/>
                <a:cs typeface="Arial"/>
              </a:rPr>
              <a:t>is</a:t>
            </a:r>
            <a:r>
              <a:rPr sz="900" spc="-25" dirty="0">
                <a:latin typeface="Arial"/>
                <a:cs typeface="Arial"/>
              </a:rPr>
              <a:t> </a:t>
            </a:r>
            <a:r>
              <a:rPr sz="900" dirty="0">
                <a:latin typeface="Arial"/>
                <a:cs typeface="Arial"/>
              </a:rPr>
              <a:t>operating</a:t>
            </a:r>
            <a:r>
              <a:rPr sz="900" spc="-20" dirty="0">
                <a:latin typeface="Arial"/>
                <a:cs typeface="Arial"/>
              </a:rPr>
              <a:t> </a:t>
            </a:r>
            <a:r>
              <a:rPr sz="900" dirty="0">
                <a:latin typeface="Arial"/>
                <a:cs typeface="Arial"/>
              </a:rPr>
              <a:t>on</a:t>
            </a:r>
            <a:r>
              <a:rPr sz="900" spc="-20" dirty="0">
                <a:latin typeface="Arial"/>
                <a:cs typeface="Arial"/>
              </a:rPr>
              <a:t> </a:t>
            </a:r>
            <a:r>
              <a:rPr sz="900" dirty="0">
                <a:latin typeface="Arial"/>
                <a:cs typeface="Arial"/>
              </a:rPr>
              <a:t>its</a:t>
            </a:r>
            <a:r>
              <a:rPr sz="900" spc="-25" dirty="0">
                <a:latin typeface="Arial"/>
                <a:cs typeface="Arial"/>
              </a:rPr>
              <a:t> </a:t>
            </a:r>
            <a:r>
              <a:rPr sz="900" dirty="0">
                <a:latin typeface="Arial"/>
                <a:cs typeface="Arial"/>
              </a:rPr>
              <a:t>own</a:t>
            </a:r>
            <a:r>
              <a:rPr sz="900" spc="-20" dirty="0">
                <a:latin typeface="Arial"/>
                <a:cs typeface="Arial"/>
              </a:rPr>
              <a:t> </a:t>
            </a:r>
            <a:r>
              <a:rPr sz="900" dirty="0">
                <a:latin typeface="Arial"/>
                <a:cs typeface="Arial"/>
              </a:rPr>
              <a:t>share</a:t>
            </a:r>
            <a:r>
              <a:rPr sz="900" spc="-20" dirty="0">
                <a:latin typeface="Arial"/>
                <a:cs typeface="Arial"/>
              </a:rPr>
              <a:t> </a:t>
            </a:r>
            <a:r>
              <a:rPr sz="900" dirty="0">
                <a:latin typeface="Arial"/>
                <a:cs typeface="Arial"/>
              </a:rPr>
              <a:t>of</a:t>
            </a:r>
            <a:r>
              <a:rPr sz="900" spc="-25"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complete</a:t>
            </a:r>
            <a:r>
              <a:rPr sz="900" spc="-20" dirty="0">
                <a:latin typeface="Arial"/>
                <a:cs typeface="Arial"/>
              </a:rPr>
              <a:t> </a:t>
            </a:r>
            <a:r>
              <a:rPr sz="900" dirty="0">
                <a:latin typeface="Arial"/>
                <a:cs typeface="Arial"/>
              </a:rPr>
              <a:t>data</a:t>
            </a:r>
            <a:r>
              <a:rPr sz="900" spc="-25" dirty="0">
                <a:latin typeface="Arial"/>
                <a:cs typeface="Arial"/>
              </a:rPr>
              <a:t> </a:t>
            </a:r>
            <a:r>
              <a:rPr sz="900" spc="-20" dirty="0">
                <a:latin typeface="Arial"/>
                <a:cs typeface="Arial"/>
              </a:rPr>
              <a:t>set.</a:t>
            </a:r>
            <a:endParaRPr sz="900">
              <a:latin typeface="Arial"/>
              <a:cs typeface="Arial"/>
            </a:endParaRPr>
          </a:p>
          <a:p>
            <a:pPr marL="16510">
              <a:lnSpc>
                <a:spcPct val="100000"/>
              </a:lnSpc>
              <a:spcBef>
                <a:spcPts val="745"/>
              </a:spcBef>
            </a:pPr>
            <a:r>
              <a:rPr sz="1000" spc="-20" dirty="0">
                <a:solidFill>
                  <a:srgbClr val="3333B2"/>
                </a:solidFill>
                <a:latin typeface="Arial"/>
                <a:cs typeface="Arial"/>
              </a:rPr>
              <a:t>Peer-</a:t>
            </a:r>
            <a:r>
              <a:rPr sz="1000" spc="-10" dirty="0">
                <a:solidFill>
                  <a:srgbClr val="3333B2"/>
                </a:solidFill>
                <a:latin typeface="Arial"/>
                <a:cs typeface="Arial"/>
              </a:rPr>
              <a:t>to-</a:t>
            </a:r>
            <a:r>
              <a:rPr sz="1000" dirty="0">
                <a:solidFill>
                  <a:srgbClr val="3333B2"/>
                </a:solidFill>
                <a:latin typeface="Arial"/>
                <a:cs typeface="Arial"/>
              </a:rPr>
              <a:t>peer</a:t>
            </a:r>
            <a:r>
              <a:rPr sz="1000" spc="15" dirty="0">
                <a:solidFill>
                  <a:srgbClr val="3333B2"/>
                </a:solidFill>
                <a:latin typeface="Arial"/>
                <a:cs typeface="Arial"/>
              </a:rPr>
              <a:t> </a:t>
            </a:r>
            <a:r>
              <a:rPr sz="1000" spc="-10" dirty="0">
                <a:solidFill>
                  <a:srgbClr val="3333B2"/>
                </a:solidFill>
                <a:latin typeface="Arial"/>
                <a:cs typeface="Arial"/>
              </a:rPr>
              <a:t>architectures</a:t>
            </a:r>
            <a:endParaRPr sz="1000">
              <a:latin typeface="Arial"/>
              <a:cs typeface="Arial"/>
            </a:endParaRPr>
          </a:p>
          <a:p>
            <a:pPr marL="16510" marR="5080">
              <a:lnSpc>
                <a:spcPct val="111600"/>
              </a:lnSpc>
              <a:spcBef>
                <a:spcPts val="170"/>
              </a:spcBef>
            </a:pPr>
            <a:r>
              <a:rPr sz="900" dirty="0">
                <a:latin typeface="Arial"/>
                <a:cs typeface="Arial"/>
              </a:rPr>
              <a:t>Processes</a:t>
            </a:r>
            <a:r>
              <a:rPr sz="900" spc="-25" dirty="0">
                <a:latin typeface="Arial"/>
                <a:cs typeface="Arial"/>
              </a:rPr>
              <a:t> </a:t>
            </a:r>
            <a:r>
              <a:rPr sz="900" dirty="0">
                <a:latin typeface="Arial"/>
                <a:cs typeface="Arial"/>
              </a:rPr>
              <a:t>are</a:t>
            </a:r>
            <a:r>
              <a:rPr sz="900" spc="-25" dirty="0">
                <a:latin typeface="Arial"/>
                <a:cs typeface="Arial"/>
              </a:rPr>
              <a:t> </a:t>
            </a:r>
            <a:r>
              <a:rPr sz="900" dirty="0">
                <a:latin typeface="Arial"/>
                <a:cs typeface="Arial"/>
              </a:rPr>
              <a:t>all</a:t>
            </a:r>
            <a:r>
              <a:rPr sz="900" spc="-20" dirty="0">
                <a:latin typeface="Arial"/>
                <a:cs typeface="Arial"/>
              </a:rPr>
              <a:t> </a:t>
            </a:r>
            <a:r>
              <a:rPr sz="900" dirty="0">
                <a:latin typeface="Arial"/>
                <a:cs typeface="Arial"/>
              </a:rPr>
              <a:t>equal:</a:t>
            </a:r>
            <a:r>
              <a:rPr sz="900" spc="30"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functions</a:t>
            </a:r>
            <a:r>
              <a:rPr sz="900" spc="-25" dirty="0">
                <a:latin typeface="Arial"/>
                <a:cs typeface="Arial"/>
              </a:rPr>
              <a:t> </a:t>
            </a:r>
            <a:r>
              <a:rPr sz="900" dirty="0">
                <a:latin typeface="Arial"/>
                <a:cs typeface="Arial"/>
              </a:rPr>
              <a:t>that</a:t>
            </a:r>
            <a:r>
              <a:rPr sz="900" spc="-20" dirty="0">
                <a:latin typeface="Arial"/>
                <a:cs typeface="Arial"/>
              </a:rPr>
              <a:t> </a:t>
            </a:r>
            <a:r>
              <a:rPr sz="900" dirty="0">
                <a:latin typeface="Arial"/>
                <a:cs typeface="Arial"/>
              </a:rPr>
              <a:t>need</a:t>
            </a:r>
            <a:r>
              <a:rPr sz="900" spc="-25" dirty="0">
                <a:latin typeface="Arial"/>
                <a:cs typeface="Arial"/>
              </a:rPr>
              <a:t> </a:t>
            </a:r>
            <a:r>
              <a:rPr sz="900" dirty="0">
                <a:latin typeface="Arial"/>
                <a:cs typeface="Arial"/>
              </a:rPr>
              <a:t>to</a:t>
            </a:r>
            <a:r>
              <a:rPr sz="900" spc="-25" dirty="0">
                <a:latin typeface="Arial"/>
                <a:cs typeface="Arial"/>
              </a:rPr>
              <a:t> </a:t>
            </a:r>
            <a:r>
              <a:rPr sz="900" dirty="0">
                <a:latin typeface="Arial"/>
                <a:cs typeface="Arial"/>
              </a:rPr>
              <a:t>be</a:t>
            </a:r>
            <a:r>
              <a:rPr sz="900" spc="-20" dirty="0">
                <a:latin typeface="Arial"/>
                <a:cs typeface="Arial"/>
              </a:rPr>
              <a:t> </a:t>
            </a:r>
            <a:r>
              <a:rPr sz="900" dirty="0">
                <a:latin typeface="Arial"/>
                <a:cs typeface="Arial"/>
              </a:rPr>
              <a:t>carried</a:t>
            </a:r>
            <a:r>
              <a:rPr sz="900" spc="-25" dirty="0">
                <a:latin typeface="Arial"/>
                <a:cs typeface="Arial"/>
              </a:rPr>
              <a:t> </a:t>
            </a:r>
            <a:r>
              <a:rPr sz="900" dirty="0">
                <a:latin typeface="Arial"/>
                <a:cs typeface="Arial"/>
              </a:rPr>
              <a:t>out</a:t>
            </a:r>
            <a:r>
              <a:rPr sz="900" spc="-20" dirty="0">
                <a:latin typeface="Arial"/>
                <a:cs typeface="Arial"/>
              </a:rPr>
              <a:t> </a:t>
            </a:r>
            <a:r>
              <a:rPr sz="900" spc="-25" dirty="0">
                <a:latin typeface="Arial"/>
                <a:cs typeface="Arial"/>
              </a:rPr>
              <a:t>are </a:t>
            </a:r>
            <a:r>
              <a:rPr sz="900" spc="-10" dirty="0">
                <a:latin typeface="Arial"/>
                <a:cs typeface="Arial"/>
              </a:rPr>
              <a:t>represented</a:t>
            </a:r>
            <a:r>
              <a:rPr sz="900" spc="-25" dirty="0">
                <a:latin typeface="Arial"/>
                <a:cs typeface="Arial"/>
              </a:rPr>
              <a:t> </a:t>
            </a:r>
            <a:r>
              <a:rPr sz="900" dirty="0">
                <a:latin typeface="Arial"/>
                <a:cs typeface="Arial"/>
              </a:rPr>
              <a:t>by</a:t>
            </a:r>
            <a:r>
              <a:rPr sz="900" spc="-20" dirty="0">
                <a:latin typeface="Arial"/>
                <a:cs typeface="Arial"/>
              </a:rPr>
              <a:t> </a:t>
            </a:r>
            <a:r>
              <a:rPr sz="900" spc="-10" dirty="0">
                <a:latin typeface="Arial"/>
                <a:cs typeface="Arial"/>
              </a:rPr>
              <a:t>every</a:t>
            </a:r>
            <a:r>
              <a:rPr sz="900" spc="-20" dirty="0">
                <a:latin typeface="Arial"/>
                <a:cs typeface="Arial"/>
              </a:rPr>
              <a:t> </a:t>
            </a:r>
            <a:r>
              <a:rPr sz="900" spc="-10" dirty="0">
                <a:latin typeface="Arial"/>
                <a:cs typeface="Arial"/>
              </a:rPr>
              <a:t>process</a:t>
            </a:r>
            <a:r>
              <a:rPr sz="900" spc="-25" dirty="0">
                <a:latin typeface="Arial"/>
                <a:cs typeface="Arial"/>
              </a:rPr>
              <a:t> </a:t>
            </a:r>
            <a:r>
              <a:rPr sz="900" spc="295" dirty="0">
                <a:latin typeface="Apple Symbols"/>
                <a:cs typeface="Apple Symbols"/>
              </a:rPr>
              <a:t>⇒</a:t>
            </a:r>
            <a:r>
              <a:rPr sz="900" spc="-70" dirty="0">
                <a:latin typeface="Apple Symbols"/>
                <a:cs typeface="Apple Symbols"/>
              </a:rPr>
              <a:t> </a:t>
            </a:r>
            <a:r>
              <a:rPr sz="900" dirty="0">
                <a:latin typeface="Arial"/>
                <a:cs typeface="Arial"/>
              </a:rPr>
              <a:t>each</a:t>
            </a:r>
            <a:r>
              <a:rPr sz="900" spc="-20" dirty="0">
                <a:latin typeface="Arial"/>
                <a:cs typeface="Arial"/>
              </a:rPr>
              <a:t> </a:t>
            </a:r>
            <a:r>
              <a:rPr sz="900" spc="-10" dirty="0">
                <a:latin typeface="Arial"/>
                <a:cs typeface="Arial"/>
              </a:rPr>
              <a:t>process</a:t>
            </a:r>
            <a:r>
              <a:rPr sz="900" spc="-25" dirty="0">
                <a:latin typeface="Arial"/>
                <a:cs typeface="Arial"/>
              </a:rPr>
              <a:t> </a:t>
            </a:r>
            <a:r>
              <a:rPr sz="900" dirty="0">
                <a:latin typeface="Arial"/>
                <a:cs typeface="Arial"/>
              </a:rPr>
              <a:t>will</a:t>
            </a:r>
            <a:r>
              <a:rPr sz="900" spc="-20" dirty="0">
                <a:latin typeface="Arial"/>
                <a:cs typeface="Arial"/>
              </a:rPr>
              <a:t> </a:t>
            </a:r>
            <a:r>
              <a:rPr sz="900" dirty="0">
                <a:latin typeface="Arial"/>
                <a:cs typeface="Arial"/>
              </a:rPr>
              <a:t>act</a:t>
            </a:r>
            <a:r>
              <a:rPr sz="900" spc="-20" dirty="0">
                <a:latin typeface="Arial"/>
                <a:cs typeface="Arial"/>
              </a:rPr>
              <a:t> </a:t>
            </a:r>
            <a:r>
              <a:rPr sz="900" dirty="0">
                <a:latin typeface="Arial"/>
                <a:cs typeface="Arial"/>
              </a:rPr>
              <a:t>as</a:t>
            </a:r>
            <a:r>
              <a:rPr sz="900" spc="-20" dirty="0">
                <a:latin typeface="Arial"/>
                <a:cs typeface="Arial"/>
              </a:rPr>
              <a:t> </a:t>
            </a:r>
            <a:r>
              <a:rPr sz="900" dirty="0">
                <a:latin typeface="Arial"/>
                <a:cs typeface="Arial"/>
              </a:rPr>
              <a:t>a</a:t>
            </a:r>
            <a:r>
              <a:rPr sz="900" spc="-25" dirty="0">
                <a:latin typeface="Arial"/>
                <a:cs typeface="Arial"/>
              </a:rPr>
              <a:t> </a:t>
            </a:r>
            <a:r>
              <a:rPr sz="900" dirty="0">
                <a:latin typeface="Arial"/>
                <a:cs typeface="Arial"/>
              </a:rPr>
              <a:t>client</a:t>
            </a:r>
            <a:r>
              <a:rPr sz="900" spc="-20" dirty="0">
                <a:latin typeface="Arial"/>
                <a:cs typeface="Arial"/>
              </a:rPr>
              <a:t> </a:t>
            </a:r>
            <a:r>
              <a:rPr sz="900" dirty="0">
                <a:latin typeface="Arial"/>
                <a:cs typeface="Arial"/>
              </a:rPr>
              <a:t>and</a:t>
            </a:r>
            <a:r>
              <a:rPr sz="900" spc="-20" dirty="0">
                <a:latin typeface="Arial"/>
                <a:cs typeface="Arial"/>
              </a:rPr>
              <a:t> </a:t>
            </a:r>
            <a:r>
              <a:rPr sz="900" dirty="0">
                <a:latin typeface="Arial"/>
                <a:cs typeface="Arial"/>
              </a:rPr>
              <a:t>a</a:t>
            </a:r>
            <a:r>
              <a:rPr sz="900" spc="-25" dirty="0">
                <a:latin typeface="Arial"/>
                <a:cs typeface="Arial"/>
              </a:rPr>
              <a:t> </a:t>
            </a:r>
            <a:r>
              <a:rPr sz="900" spc="-10" dirty="0">
                <a:latin typeface="Arial"/>
                <a:cs typeface="Arial"/>
              </a:rPr>
              <a:t>server </a:t>
            </a:r>
            <a:r>
              <a:rPr sz="900" dirty="0">
                <a:latin typeface="Arial"/>
                <a:cs typeface="Arial"/>
              </a:rPr>
              <a:t>at</a:t>
            </a:r>
            <a:r>
              <a:rPr sz="900" spc="-25" dirty="0">
                <a:latin typeface="Arial"/>
                <a:cs typeface="Arial"/>
              </a:rPr>
              <a:t> </a:t>
            </a:r>
            <a:r>
              <a:rPr sz="900" dirty="0">
                <a:latin typeface="Arial"/>
                <a:cs typeface="Arial"/>
              </a:rPr>
              <a:t>the</a:t>
            </a:r>
            <a:r>
              <a:rPr sz="900" spc="-20" dirty="0">
                <a:latin typeface="Arial"/>
                <a:cs typeface="Arial"/>
              </a:rPr>
              <a:t> </a:t>
            </a:r>
            <a:r>
              <a:rPr sz="900" dirty="0">
                <a:latin typeface="Arial"/>
                <a:cs typeface="Arial"/>
              </a:rPr>
              <a:t>same</a:t>
            </a:r>
            <a:r>
              <a:rPr sz="900" spc="-20" dirty="0">
                <a:latin typeface="Arial"/>
                <a:cs typeface="Arial"/>
              </a:rPr>
              <a:t> </a:t>
            </a:r>
            <a:r>
              <a:rPr sz="900" dirty="0">
                <a:latin typeface="Arial"/>
                <a:cs typeface="Arial"/>
              </a:rPr>
              <a:t>time</a:t>
            </a:r>
            <a:r>
              <a:rPr sz="900" spc="-20" dirty="0">
                <a:latin typeface="Arial"/>
                <a:cs typeface="Arial"/>
              </a:rPr>
              <a:t> </a:t>
            </a:r>
            <a:r>
              <a:rPr sz="900" dirty="0">
                <a:latin typeface="Arial"/>
                <a:cs typeface="Arial"/>
              </a:rPr>
              <a:t>(i.e.,</a:t>
            </a:r>
            <a:r>
              <a:rPr sz="900" spc="-25" dirty="0">
                <a:latin typeface="Arial"/>
                <a:cs typeface="Arial"/>
              </a:rPr>
              <a:t> </a:t>
            </a:r>
            <a:r>
              <a:rPr sz="900" dirty="0">
                <a:latin typeface="Arial"/>
                <a:cs typeface="Arial"/>
              </a:rPr>
              <a:t>acting</a:t>
            </a:r>
            <a:r>
              <a:rPr sz="900" spc="-20" dirty="0">
                <a:latin typeface="Arial"/>
                <a:cs typeface="Arial"/>
              </a:rPr>
              <a:t> </a:t>
            </a:r>
            <a:r>
              <a:rPr sz="900" dirty="0">
                <a:latin typeface="Arial"/>
                <a:cs typeface="Arial"/>
              </a:rPr>
              <a:t>as</a:t>
            </a:r>
            <a:r>
              <a:rPr sz="900" spc="-20" dirty="0">
                <a:latin typeface="Arial"/>
                <a:cs typeface="Arial"/>
              </a:rPr>
              <a:t> </a:t>
            </a:r>
            <a:r>
              <a:rPr sz="900" dirty="0">
                <a:latin typeface="Arial"/>
                <a:cs typeface="Arial"/>
              </a:rPr>
              <a:t>a</a:t>
            </a:r>
            <a:r>
              <a:rPr sz="900" spc="-25" dirty="0">
                <a:latin typeface="Arial"/>
                <a:cs typeface="Arial"/>
              </a:rPr>
              <a:t> </a:t>
            </a:r>
            <a:r>
              <a:rPr sz="900" spc="-10" dirty="0">
                <a:solidFill>
                  <a:srgbClr val="C80000"/>
                </a:solidFill>
                <a:latin typeface="Arial"/>
                <a:cs typeface="Arial"/>
              </a:rPr>
              <a:t>servant</a:t>
            </a:r>
            <a:r>
              <a:rPr sz="900" spc="-10" dirty="0">
                <a:latin typeface="Arial"/>
                <a:cs typeface="Arial"/>
              </a:rPr>
              <a:t>).</a:t>
            </a:r>
            <a:endParaRPr sz="900">
              <a:latin typeface="Arial"/>
              <a:cs typeface="Arial"/>
            </a:endParaRPr>
          </a:p>
        </p:txBody>
      </p:sp>
      <p:grpSp>
        <p:nvGrpSpPr>
          <p:cNvPr id="5" name="object 5"/>
          <p:cNvGrpSpPr/>
          <p:nvPr/>
        </p:nvGrpSpPr>
        <p:grpSpPr>
          <a:xfrm>
            <a:off x="0" y="3348469"/>
            <a:ext cx="4608195" cy="107950"/>
            <a:chOff x="0" y="3348469"/>
            <a:chExt cx="4608195" cy="107950"/>
          </a:xfrm>
        </p:grpSpPr>
        <p:sp>
          <p:nvSpPr>
            <p:cNvPr id="6" name="object 6"/>
            <p:cNvSpPr/>
            <p:nvPr/>
          </p:nvSpPr>
          <p:spPr>
            <a:xfrm>
              <a:off x="0"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ADADE0"/>
            </a:solidFill>
          </p:spPr>
          <p:txBody>
            <a:bodyPr wrap="square" lIns="0" tIns="0" rIns="0" bIns="0" rtlCol="0"/>
            <a:lstStyle/>
            <a:p>
              <a:endParaRPr/>
            </a:p>
          </p:txBody>
        </p:sp>
        <p:sp>
          <p:nvSpPr>
            <p:cNvPr id="7" name="object 7"/>
            <p:cNvSpPr/>
            <p:nvPr/>
          </p:nvSpPr>
          <p:spPr>
            <a:xfrm>
              <a:off x="2303995" y="3348469"/>
              <a:ext cx="2304415" cy="107950"/>
            </a:xfrm>
            <a:custGeom>
              <a:avLst/>
              <a:gdLst/>
              <a:ahLst/>
              <a:cxnLst/>
              <a:rect l="l" t="t" r="r" b="b"/>
              <a:pathLst>
                <a:path w="2304415" h="107950">
                  <a:moveTo>
                    <a:pt x="2303995" y="0"/>
                  </a:moveTo>
                  <a:lnTo>
                    <a:pt x="0" y="0"/>
                  </a:lnTo>
                  <a:lnTo>
                    <a:pt x="0" y="107530"/>
                  </a:lnTo>
                  <a:lnTo>
                    <a:pt x="2303995" y="107530"/>
                  </a:lnTo>
                  <a:lnTo>
                    <a:pt x="2303995" y="0"/>
                  </a:lnTo>
                  <a:close/>
                </a:path>
              </a:pathLst>
            </a:custGeom>
            <a:solidFill>
              <a:srgbClr val="8484D1"/>
            </a:solidFill>
          </p:spPr>
          <p:txBody>
            <a:bodyPr wrap="square" lIns="0" tIns="0" rIns="0" bIns="0" rtlCol="0"/>
            <a:lstStyle/>
            <a:p>
              <a:endParaRPr/>
            </a:p>
          </p:txBody>
        </p:sp>
      </p:grpSp>
    </p:spTree>
    <p:extLst>
      <p:ext uri="{BB962C8B-B14F-4D97-AF65-F5344CB8AC3E}">
        <p14:creationId xmlns:p14="http://schemas.microsoft.com/office/powerpoint/2010/main" val="1055629087"/>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126</TotalTime>
  <Words>3842</Words>
  <Application>Microsoft Office PowerPoint</Application>
  <PresentationFormat>Custom</PresentationFormat>
  <Paragraphs>520</Paragraphs>
  <Slides>52</Slides>
  <Notes>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52</vt:i4>
      </vt:variant>
    </vt:vector>
  </HeadingPairs>
  <TitlesOfParts>
    <vt:vector size="59" baseType="lpstr">
      <vt:lpstr>Apple Symbols</vt:lpstr>
      <vt:lpstr>Aptos</vt:lpstr>
      <vt:lpstr>Arial</vt:lpstr>
      <vt:lpstr>Calibri</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Application Layering</vt:lpstr>
      <vt:lpstr>Application Layering</vt:lpstr>
      <vt:lpstr>PowerPoint Presentation</vt:lpstr>
      <vt:lpstr>Object-based style</vt:lpstr>
      <vt:lpstr>RESTful architectures</vt:lpstr>
      <vt:lpstr>Example: Amazon’s Simple Storage Service</vt:lpstr>
      <vt:lpstr>On interfaces</vt:lpstr>
      <vt:lpstr>On interfaces</vt:lpstr>
      <vt:lpstr>On interfaces</vt:lpstr>
      <vt:lpstr>On interfaces</vt:lpstr>
      <vt:lpstr>On interfaces</vt:lpstr>
      <vt:lpstr>PowerPoint Presentation</vt:lpstr>
      <vt:lpstr>PowerPoint Presentation</vt:lpstr>
      <vt:lpstr>PowerPoint Presentation</vt:lpstr>
      <vt:lpstr>PowerPoint Presentation</vt:lpstr>
      <vt:lpstr>PowerPoint Presentation</vt:lpstr>
      <vt:lpstr>PowerPoint Presentation</vt:lpstr>
      <vt:lpstr>Using legacy to build middleware</vt:lpstr>
      <vt:lpstr>PowerPoint Presentation</vt:lpstr>
      <vt:lpstr>Developing adaptable middleware</vt:lpstr>
      <vt:lpstr>PowerPoint Presentation</vt:lpstr>
      <vt:lpstr>PowerPoint Presentation</vt:lpstr>
      <vt:lpstr>PowerPoint Presentation</vt:lpstr>
      <vt:lpstr>PowerPoint Presentation</vt:lpstr>
      <vt:lpstr>Structured P2P</vt:lpstr>
      <vt:lpstr>Example: Chord</vt:lpstr>
      <vt:lpstr>PowerPoint Presentation</vt:lpstr>
      <vt:lpstr>Unstructured P2P</vt:lpstr>
      <vt:lpstr>Flooding versus random walk</vt:lpstr>
      <vt:lpstr>Flooding versus random walk</vt:lpstr>
      <vt:lpstr>Super-peer networks</vt:lpstr>
      <vt:lpstr>Collaboration: The BitTorrent case</vt:lpstr>
      <vt:lpstr>PowerPoint Presentation</vt:lpstr>
      <vt:lpstr>Cloud computing</vt:lpstr>
      <vt:lpstr>Edge-server architecture</vt:lpstr>
      <vt:lpstr>Reasons for having an edge infrastructure</vt:lpstr>
      <vt:lpstr>Edge orchestration</vt:lpstr>
      <vt:lpstr>PowerPoint Presentation</vt:lpstr>
      <vt:lpstr>PowerPoint Presentation</vt:lpstr>
      <vt:lpstr>PowerPoint Presentation</vt:lpstr>
      <vt:lpstr>PowerPoint Presentation</vt:lpstr>
      <vt:lpstr>PowerPoint Presentation</vt:lpstr>
      <vt:lpstr>Example: The Network File System</vt:lpstr>
      <vt:lpstr>PowerPoint Presentation</vt:lpstr>
      <vt:lpstr>PowerPoint Presentation</vt:lpstr>
      <vt:lpstr>PowerPoint Presentation</vt:lpstr>
      <vt:lpstr>Alternative organizations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Systems   (4th edition, version 01)</dc:title>
  <cp:lastModifiedBy>FA21-BAF-072 (MUHAMMAD KAWISH  )</cp:lastModifiedBy>
  <cp:revision>15</cp:revision>
  <dcterms:created xsi:type="dcterms:W3CDTF">2023-04-27T06:02:17Z</dcterms:created>
  <dcterms:modified xsi:type="dcterms:W3CDTF">2025-01-18T18:09:18Z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2023-04-27T00:00:00Z</vt:filetime>
  </property>
  <property fmtid="{D5CDD505-2E9C-101B-9397-08002B2CF9AE}" pid="3" name="Creator">
    <vt:lpwstr>LaTeX with Beamer class</vt:lpwstr>
  </property>
  <property fmtid="{D5CDD505-2E9C-101B-9397-08002B2CF9AE}" pid="4" name="LastSaved">
    <vt:filetime>2023-04-27T00:00:00Z</vt:filetime>
  </property>
  <property fmtid="{D5CDD505-2E9C-101B-9397-08002B2CF9AE}" pid="5" name="PTEX.Fullbanner">
    <vt:lpwstr>This is pdfTeX, Version 3.141592653-2.6-1.40.24 (TeX Live 2022) kpathsea version 6.3.4</vt:lpwstr>
  </property>
  <property fmtid="{D5CDD505-2E9C-101B-9397-08002B2CF9AE}" pid="6" name="Producer">
    <vt:lpwstr>pdfTeX-1.40.24</vt:lpwstr>
  </property>
</Properties>
</file>