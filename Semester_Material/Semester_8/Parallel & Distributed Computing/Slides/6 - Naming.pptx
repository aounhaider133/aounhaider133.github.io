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2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58" d="100"/>
          <a:sy n="158" d="100"/>
        </p:scale>
        <p:origin x="170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23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302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9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47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689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405574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6290" y="1708886"/>
            <a:ext cx="3415665" cy="1212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256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9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0.xml"/><Relationship Id="rId4" Type="http://schemas.openxmlformats.org/officeDocument/2006/relationships/hyperlink" Target="http://www.distributed-systems.net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0.xml"/><Relationship Id="rId4" Type="http://schemas.openxmlformats.org/officeDocument/2006/relationships/hyperlink" Target="http://www.distributed-systems.net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0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0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8.xml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8.xml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2.xml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6.xml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6.xml"/><Relationship Id="rId4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0.xml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slide" Target="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8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CSC334 - Parallel &amp;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Distributed</a:t>
            </a:r>
            <a:r>
              <a:rPr kumimoji="0" sz="1400" b="1" i="0" u="none" strike="noStrike" kern="0" cap="none" spc="1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Computing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91E2BF-A6A0-AC80-E93D-ED3E8CF1D086}"/>
              </a:ext>
            </a:extLst>
          </p:cNvPr>
          <p:cNvSpPr txBox="1"/>
          <p:nvPr/>
        </p:nvSpPr>
        <p:spPr>
          <a:xfrm>
            <a:off x="1446463" y="1933968"/>
            <a:ext cx="1943991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Chapter 6: Naming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37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Names,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identifiers,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1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addresses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12084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Names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an </a:t>
            </a:r>
            <a:r>
              <a:rPr sz="900" spc="-10" dirty="0">
                <a:latin typeface="Arial"/>
                <a:cs typeface="Arial"/>
              </a:rPr>
              <a:t>entity,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point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address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location-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independent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addresses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offered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37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Names,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identifiers,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1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addresses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6679" cy="176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can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comparison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Identifier: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having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specific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properties</a:t>
            </a:r>
            <a:endParaRPr sz="1000">
              <a:latin typeface="Arial"/>
              <a:cs typeface="Arial"/>
            </a:endParaRPr>
          </a:p>
          <a:p>
            <a:pPr marL="265430" indent="-154940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entity.</a:t>
            </a:r>
            <a:endParaRPr sz="900">
              <a:latin typeface="Arial"/>
              <a:cs typeface="Arial"/>
            </a:endParaRPr>
          </a:p>
          <a:p>
            <a:pPr marL="26924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referred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identifier.</a:t>
            </a:r>
            <a:endParaRPr sz="900">
              <a:latin typeface="Arial"/>
              <a:cs typeface="Arial"/>
            </a:endParaRPr>
          </a:p>
          <a:p>
            <a:pPr marL="265430" indent="-15494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reused).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necessarily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153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Broadcasting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Broadcast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ID,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requesting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return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current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address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beyond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local-</a:t>
            </a:r>
            <a:r>
              <a:rPr sz="900" dirty="0">
                <a:latin typeface="Arial"/>
                <a:cs typeface="Arial"/>
              </a:rPr>
              <a:t>area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Address</a:t>
            </a:r>
            <a:r>
              <a:rPr sz="1000" spc="-5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Resolution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Protocol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(ARP)</a:t>
            </a:r>
            <a:endParaRPr sz="1000">
              <a:latin typeface="Arial"/>
              <a:cs typeface="Arial"/>
            </a:endParaRPr>
          </a:p>
          <a:p>
            <a:pPr marL="302260" marR="17780" indent="-3810">
              <a:lnSpc>
                <a:spcPct val="111600"/>
              </a:lnSpc>
              <a:spcBef>
                <a:spcPts val="170"/>
              </a:spcBef>
            </a:pPr>
            <a:r>
              <a:rPr sz="900" spc="-8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MAC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associated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broadcast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“who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address”?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solutions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82415" cy="1791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Forwarding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pointers</a:t>
            </a:r>
            <a:endParaRPr sz="1200">
              <a:latin typeface="Arial"/>
              <a:cs typeface="Arial"/>
            </a:endParaRPr>
          </a:p>
          <a:p>
            <a:pPr marL="2838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moves,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leaves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behind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pointer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next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endParaRPr sz="1000">
              <a:latin typeface="Arial"/>
              <a:cs typeface="Arial"/>
            </a:endParaRPr>
          </a:p>
          <a:p>
            <a:pPr marL="542925" marR="13970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Dereferencing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entirely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transparent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simply 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Update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found</a:t>
            </a:r>
            <a:endParaRPr sz="900">
              <a:latin typeface="Arial"/>
              <a:cs typeface="Arial"/>
            </a:endParaRPr>
          </a:p>
          <a:p>
            <a:pPr marL="542925" marR="3429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Geographical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scalability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reduction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needed):</a:t>
            </a:r>
            <a:endParaRPr sz="900">
              <a:latin typeface="Arial"/>
              <a:cs typeface="Arial"/>
            </a:endParaRPr>
          </a:p>
          <a:p>
            <a:pPr marL="795655" lvl="1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796290" algn="l"/>
              </a:tabLst>
            </a:pPr>
            <a:r>
              <a:rPr sz="900" dirty="0">
                <a:latin typeface="Arial"/>
                <a:cs typeface="Arial"/>
              </a:rPr>
              <a:t>Long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tolerant</a:t>
            </a:r>
            <a:endParaRPr sz="900">
              <a:latin typeface="Arial"/>
              <a:cs typeface="Arial"/>
            </a:endParaRPr>
          </a:p>
          <a:p>
            <a:pPr marL="795655" lvl="1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796290" algn="l"/>
              </a:tabLst>
            </a:pPr>
            <a:r>
              <a:rPr sz="900" dirty="0">
                <a:latin typeface="Arial"/>
                <a:cs typeface="Arial"/>
              </a:rPr>
              <a:t>Increased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dereferencing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solutions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1028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Home-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approaches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tiered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scheme: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home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keep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track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Entity’s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home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address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foreign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address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foreign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359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Home-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4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IP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281" y="561643"/>
            <a:ext cx="3777051" cy="221126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359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Home-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27779" cy="176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Home-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approaches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home-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Home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endParaRPr sz="900">
              <a:latin typeface="Arial"/>
              <a:cs typeface="Arial"/>
            </a:endParaRPr>
          </a:p>
          <a:p>
            <a:pPr marL="555625" marR="13335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Home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fixed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unnecessary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burden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 </a:t>
            </a:r>
            <a:r>
              <a:rPr sz="900" dirty="0">
                <a:latin typeface="Arial"/>
                <a:cs typeface="Arial"/>
              </a:rPr>
              <a:t>permanently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Poor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geographical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scalability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Permanent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tackled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(DNS)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359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Home-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37990" cy="2072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Illustrative: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-bit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identifier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-bit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Entity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jurisdiction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≥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  <a:p>
            <a:pPr marL="551815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(called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successor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Nonsolution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linear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ring.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</a:t>
            </a:r>
            <a:endParaRPr sz="10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speak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23385" cy="124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finger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tables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finger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table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spc="-10" dirty="0">
                <a:latin typeface="Arial"/>
                <a:cs typeface="Arial"/>
              </a:rPr>
              <a:t>entries:</a:t>
            </a:r>
            <a:endParaRPr sz="900">
              <a:latin typeface="Arial"/>
              <a:cs typeface="Arial"/>
            </a:endParaRPr>
          </a:p>
          <a:p>
            <a:pPr marL="497840" algn="ctr">
              <a:lnSpc>
                <a:spcPct val="100000"/>
              </a:lnSpc>
              <a:spcBef>
                <a:spcPts val="975"/>
              </a:spcBef>
            </a:pP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9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2</a:t>
            </a:r>
            <a:r>
              <a:rPr sz="1050" i="1" spc="44" baseline="27777" dirty="0">
                <a:latin typeface="Arial"/>
                <a:cs typeface="Arial"/>
              </a:rPr>
              <a:t>i</a:t>
            </a:r>
            <a:r>
              <a:rPr sz="1050" i="1" spc="44" baseline="27777" dirty="0">
                <a:latin typeface="Menlo"/>
                <a:cs typeface="Menlo"/>
              </a:rPr>
              <a:t>−</a:t>
            </a:r>
            <a:r>
              <a:rPr sz="1050" spc="44" baseline="27777" dirty="0">
                <a:latin typeface="Arial"/>
                <a:cs typeface="Arial"/>
              </a:rPr>
              <a:t>1</a:t>
            </a:r>
            <a:r>
              <a:rPr sz="900" spc="3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04825" algn="ctr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succeeding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i="1" spc="-15" baseline="27777" dirty="0">
                <a:latin typeface="Menlo"/>
                <a:cs typeface="Menlo"/>
              </a:rPr>
              <a:t>−</a:t>
            </a:r>
            <a:r>
              <a:rPr sz="1050" spc="-15" baseline="27777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23385" cy="175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finger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tables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finger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table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spc="-10" dirty="0">
                <a:latin typeface="Arial"/>
                <a:cs typeface="Arial"/>
              </a:rPr>
              <a:t>entries:</a:t>
            </a:r>
            <a:endParaRPr sz="900">
              <a:latin typeface="Arial"/>
              <a:cs typeface="Arial"/>
            </a:endParaRPr>
          </a:p>
          <a:p>
            <a:pPr marL="1774825">
              <a:lnSpc>
                <a:spcPct val="100000"/>
              </a:lnSpc>
              <a:spcBef>
                <a:spcPts val="975"/>
              </a:spcBef>
            </a:pP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9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2</a:t>
            </a:r>
            <a:r>
              <a:rPr sz="1050" i="1" spc="44" baseline="27777" dirty="0">
                <a:latin typeface="Arial"/>
                <a:cs typeface="Arial"/>
              </a:rPr>
              <a:t>i</a:t>
            </a:r>
            <a:r>
              <a:rPr sz="1050" i="1" spc="44" baseline="27777" dirty="0">
                <a:latin typeface="Menlo"/>
                <a:cs typeface="Menlo"/>
              </a:rPr>
              <a:t>−</a:t>
            </a:r>
            <a:r>
              <a:rPr sz="1050" spc="44" baseline="27777" dirty="0">
                <a:latin typeface="Arial"/>
                <a:cs typeface="Arial"/>
              </a:rPr>
              <a:t>1</a:t>
            </a:r>
            <a:r>
              <a:rPr sz="900" spc="3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succeeding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i="1" spc="-15" baseline="27777" dirty="0">
                <a:latin typeface="Menlo"/>
                <a:cs typeface="Menlo"/>
              </a:rPr>
              <a:t>−</a:t>
            </a:r>
            <a:r>
              <a:rPr sz="1050" spc="-15" baseline="27777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j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spc="-10" dirty="0">
                <a:latin typeface="Arial"/>
                <a:cs typeface="Arial"/>
              </a:rPr>
              <a:t>satisfying</a:t>
            </a:r>
            <a:endParaRPr sz="900">
              <a:latin typeface="Arial"/>
              <a:cs typeface="Arial"/>
            </a:endParaRPr>
          </a:p>
          <a:p>
            <a:pPr marL="1688464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4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1]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23385" cy="1979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finger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tables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finger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table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spc="-10" dirty="0">
                <a:latin typeface="Arial"/>
                <a:cs typeface="Arial"/>
              </a:rPr>
              <a:t>entries:</a:t>
            </a:r>
            <a:endParaRPr sz="900">
              <a:latin typeface="Arial"/>
              <a:cs typeface="Arial"/>
            </a:endParaRPr>
          </a:p>
          <a:p>
            <a:pPr marL="1774825">
              <a:lnSpc>
                <a:spcPct val="100000"/>
              </a:lnSpc>
              <a:spcBef>
                <a:spcPts val="975"/>
              </a:spcBef>
            </a:pP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9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2</a:t>
            </a:r>
            <a:r>
              <a:rPr sz="1050" i="1" spc="44" baseline="27777" dirty="0">
                <a:latin typeface="Arial"/>
                <a:cs typeface="Arial"/>
              </a:rPr>
              <a:t>i</a:t>
            </a:r>
            <a:r>
              <a:rPr sz="1050" i="1" spc="44" baseline="27777" dirty="0">
                <a:latin typeface="Menlo"/>
                <a:cs typeface="Menlo"/>
              </a:rPr>
              <a:t>−</a:t>
            </a:r>
            <a:r>
              <a:rPr sz="1050" spc="44" baseline="27777" dirty="0">
                <a:latin typeface="Arial"/>
                <a:cs typeface="Arial"/>
              </a:rPr>
              <a:t>1</a:t>
            </a:r>
            <a:r>
              <a:rPr sz="900" spc="3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succeeding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1050" i="1" spc="-15" baseline="27777" dirty="0">
                <a:latin typeface="Arial"/>
                <a:cs typeface="Arial"/>
              </a:rPr>
              <a:t>i</a:t>
            </a:r>
            <a:r>
              <a:rPr sz="1050" i="1" spc="-15" baseline="27777" dirty="0">
                <a:latin typeface="Menlo"/>
                <a:cs typeface="Menlo"/>
              </a:rPr>
              <a:t>−</a:t>
            </a:r>
            <a:r>
              <a:rPr sz="1050" spc="-15" baseline="27777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j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spc="-10" dirty="0">
                <a:latin typeface="Arial"/>
                <a:cs typeface="Arial"/>
              </a:rPr>
              <a:t>satisfying</a:t>
            </a:r>
            <a:endParaRPr sz="900">
              <a:latin typeface="Arial"/>
              <a:cs typeface="Arial"/>
            </a:endParaRPr>
          </a:p>
          <a:p>
            <a:pPr marL="1688464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4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1]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[1],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[1]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383915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lookup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Resolving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26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10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12</a:t>
            </a:r>
            <a:r>
              <a:rPr sz="1000" i="1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3333B2"/>
                </a:solidFill>
                <a:latin typeface="Arial"/>
                <a:cs typeface="Arial"/>
              </a:rPr>
              <a:t>28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642" y="772331"/>
            <a:ext cx="2395100" cy="245365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144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Python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640073"/>
            <a:ext cx="852805" cy="23241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ChordNode: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102" y="836437"/>
            <a:ext cx="344932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u="sng" spc="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50" dirty="0">
                <a:latin typeface="Times New Roman"/>
                <a:cs typeface="Times New Roman"/>
              </a:rPr>
              <a:t>succNode(self,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key):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715"/>
              </a:lnSpc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(key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&lt;=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self.nodeSet[0]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35" dirty="0">
                <a:solidFill>
                  <a:srgbClr val="FF0059"/>
                </a:solidFill>
                <a:latin typeface="Times New Roman"/>
                <a:cs typeface="Times New Roman"/>
              </a:rPr>
              <a:t>or</a:t>
            </a:r>
            <a:endParaRPr sz="700">
              <a:latin typeface="Times New Roman"/>
              <a:cs typeface="Times New Roman"/>
            </a:endParaRPr>
          </a:p>
          <a:p>
            <a:pPr marL="278130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key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&gt;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self.nodeSet[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60" dirty="0">
                <a:latin typeface="Times New Roman"/>
                <a:cs typeface="Times New Roman"/>
              </a:rPr>
              <a:t>(self.nodeSet)-</a:t>
            </a:r>
            <a:r>
              <a:rPr sz="700" spc="120" dirty="0">
                <a:latin typeface="Times New Roman"/>
                <a:cs typeface="Times New Roman"/>
              </a:rPr>
              <a:t>1]):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is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segment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for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which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0936" y="1109728"/>
            <a:ext cx="11893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is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responsible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659" y="1109728"/>
            <a:ext cx="163322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695">
              <a:lnSpc>
                <a:spcPts val="780"/>
              </a:lnSpc>
              <a:spcBef>
                <a:spcPts val="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3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self.nodeSet[0]</a:t>
            </a:r>
            <a:endParaRPr sz="700">
              <a:latin typeface="Times New Roman"/>
              <a:cs typeface="Times New Roman"/>
            </a:endParaRPr>
          </a:p>
          <a:p>
            <a:pPr marL="101600" marR="5080" indent="-89535">
              <a:lnSpc>
                <a:spcPts val="720"/>
              </a:lnSpc>
              <a:spcBef>
                <a:spcPts val="65"/>
              </a:spcBef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i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range</a:t>
            </a:r>
            <a:r>
              <a:rPr sz="700" spc="50" dirty="0">
                <a:latin typeface="Times New Roman"/>
                <a:cs typeface="Times New Roman"/>
              </a:rPr>
              <a:t>(1,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50" dirty="0">
                <a:latin typeface="Times New Roman"/>
                <a:cs typeface="Times New Roman"/>
              </a:rPr>
              <a:t>(self.nodeSet)): 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(key</a:t>
            </a:r>
            <a:r>
              <a:rPr sz="700" spc="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&lt;=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self.nodeSet[i]):</a:t>
            </a:r>
            <a:endParaRPr sz="700">
              <a:latin typeface="Times New Roman"/>
              <a:cs typeface="Times New Roman"/>
            </a:endParaRPr>
          </a:p>
          <a:p>
            <a:pPr marL="188595">
              <a:lnSpc>
                <a:spcPts val="710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3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self.nodeSet[i]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346" y="846559"/>
            <a:ext cx="101600" cy="22123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26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0936" y="1291922"/>
            <a:ext cx="14109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is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segment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for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which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(i+1)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may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be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responsible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102" y="1565226"/>
            <a:ext cx="3803650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 </a:t>
            </a:r>
            <a:r>
              <a:rPr sz="700" u="sng" spc="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90" dirty="0">
                <a:latin typeface="Times New Roman"/>
                <a:cs typeface="Times New Roman"/>
              </a:rPr>
              <a:t>finger(self,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140" dirty="0">
                <a:latin typeface="Times New Roman"/>
                <a:cs typeface="Times New Roman"/>
              </a:rPr>
              <a:t>i):</a:t>
            </a:r>
            <a:endParaRPr sz="700">
              <a:latin typeface="Times New Roman"/>
              <a:cs typeface="Times New Roman"/>
            </a:endParaRPr>
          </a:p>
          <a:p>
            <a:pPr marL="99695">
              <a:lnSpc>
                <a:spcPts val="780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1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self.</a:t>
            </a:r>
            <a:r>
              <a:rPr sz="700" u="sng" spc="3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succNode((self.nodeID</a:t>
            </a:r>
            <a:r>
              <a:rPr sz="700" spc="2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245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pow</a:t>
            </a:r>
            <a:r>
              <a:rPr sz="700" dirty="0">
                <a:latin typeface="Times New Roman"/>
                <a:cs typeface="Times New Roman"/>
              </a:rPr>
              <a:t>(2,i-</a:t>
            </a:r>
            <a:r>
              <a:rPr sz="700" spc="100" dirty="0">
                <a:latin typeface="Times New Roman"/>
                <a:cs typeface="Times New Roman"/>
              </a:rPr>
              <a:t>1))</a:t>
            </a:r>
            <a:r>
              <a:rPr sz="700" spc="235" dirty="0">
                <a:latin typeface="Times New Roman"/>
                <a:cs typeface="Times New Roman"/>
              </a:rPr>
              <a:t> </a:t>
            </a:r>
            <a:r>
              <a:rPr sz="700" spc="-175" dirty="0">
                <a:latin typeface="Times New Roman"/>
                <a:cs typeface="Times New Roman"/>
              </a:rPr>
              <a:t>%</a:t>
            </a:r>
            <a:r>
              <a:rPr sz="700" spc="240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self.MAXPROC)</a:t>
            </a:r>
            <a:r>
              <a:rPr sz="700" spc="26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succ(p+2ˆ(i-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1))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spcBef>
                <a:spcPts val="5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2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u="sng" spc="2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700" spc="-10" dirty="0">
                <a:latin typeface="Times New Roman"/>
                <a:cs typeface="Times New Roman"/>
              </a:rPr>
              <a:t>recomputeFingerTable(self):</a:t>
            </a:r>
            <a:endParaRPr sz="700">
              <a:latin typeface="Times New Roman"/>
              <a:cs typeface="Times New Roman"/>
            </a:endParaRPr>
          </a:p>
          <a:p>
            <a:pPr marL="100330" marR="225425">
              <a:lnSpc>
                <a:spcPts val="720"/>
              </a:lnSpc>
              <a:spcBef>
                <a:spcPts val="65"/>
              </a:spcBef>
              <a:tabLst>
                <a:tab pos="2981325" algn="l"/>
              </a:tabLst>
            </a:pPr>
            <a:r>
              <a:rPr sz="700" spc="70" dirty="0">
                <a:latin typeface="Times New Roman"/>
                <a:cs typeface="Times New Roman"/>
              </a:rPr>
              <a:t>self.FT[0]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self.nodeSet[(self.nodeInd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180" dirty="0">
                <a:latin typeface="Times New Roman"/>
                <a:cs typeface="Times New Roman"/>
              </a:rPr>
              <a:t>-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1)%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50" dirty="0">
                <a:latin typeface="Times New Roman"/>
                <a:cs typeface="Times New Roman"/>
              </a:rPr>
              <a:t>(self.nodeSet)]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Predecessor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self.FT[1:]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[self.</a:t>
            </a:r>
            <a:r>
              <a:rPr sz="700" u="sng" spc="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95" dirty="0">
                <a:latin typeface="Times New Roman"/>
                <a:cs typeface="Times New Roman"/>
              </a:rPr>
              <a:t>finger(i)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i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range</a:t>
            </a:r>
            <a:r>
              <a:rPr sz="700" spc="60" dirty="0">
                <a:latin typeface="Times New Roman"/>
                <a:cs typeface="Times New Roman"/>
              </a:rPr>
              <a:t>(1,self.nBits+1)]</a:t>
            </a:r>
            <a:r>
              <a:rPr sz="700" spc="459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Successors </a:t>
            </a:r>
            <a:r>
              <a:rPr sz="700" spc="40" dirty="0">
                <a:latin typeface="Times New Roman"/>
                <a:cs typeface="Times New Roman"/>
              </a:rPr>
              <a:t>self.FT.append(self.nodeID)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102" y="2294003"/>
            <a:ext cx="3491229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u="sng" spc="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50" dirty="0">
                <a:latin typeface="Times New Roman"/>
                <a:cs typeface="Times New Roman"/>
              </a:rPr>
              <a:t>localSuccNode(self,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key):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780"/>
              </a:lnSpc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3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self.</a:t>
            </a:r>
            <a:r>
              <a:rPr sz="7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inbetween(key,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self.FT[0]+1,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self.nodeID+1):</a:t>
            </a:r>
            <a:r>
              <a:rPr sz="700" spc="204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(pred,self]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289" y="2476197"/>
            <a:ext cx="35839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06650" algn="l"/>
              </a:tabLst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3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self.nodeID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is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responsible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228" y="2567295"/>
            <a:ext cx="344995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700" b="1" spc="12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self.</a:t>
            </a:r>
            <a:r>
              <a:rPr sz="7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inbetween(key,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self.nodeID+1,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self.FT[1]):</a:t>
            </a:r>
            <a:r>
              <a:rPr sz="700" spc="200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(self,FT[1]]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9289" y="2658391"/>
            <a:ext cx="7924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3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self.FT[1]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3785" y="2658391"/>
            <a:ext cx="10566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successor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responsible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672" y="2749489"/>
            <a:ext cx="35369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4280" algn="l"/>
              </a:tabLst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i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range</a:t>
            </a:r>
            <a:r>
              <a:rPr sz="700" spc="45" dirty="0">
                <a:latin typeface="Times New Roman"/>
                <a:cs typeface="Times New Roman"/>
              </a:rPr>
              <a:t>(1,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self.nBits+2):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go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through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rest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of</a:t>
            </a:r>
            <a:r>
              <a:rPr sz="700" i="1" spc="1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9600"/>
                </a:solidFill>
                <a:latin typeface="Times New Roman"/>
                <a:cs typeface="Times New Roman"/>
              </a:rPr>
              <a:t>FT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0979" y="2840586"/>
            <a:ext cx="34931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4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latin typeface="Times New Roman"/>
                <a:cs typeface="Times New Roman"/>
              </a:rPr>
              <a:t>self.</a:t>
            </a:r>
            <a:r>
              <a:rPr sz="700" u="sng" spc="2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inbetween(key,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self.FT[i],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self.FT[(i+1)]):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[FT[i],FT[i+1])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859" y="2931683"/>
            <a:ext cx="7905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3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self.FT[i]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3785" y="2931683"/>
            <a:ext cx="10128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FT[i]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is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responsible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3" name="object 2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8140" cy="120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Exploiting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proximity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4160" marR="508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erratic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 transfers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very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apart.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7355" cy="171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Exploiting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proximity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9560" marR="4826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erratic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 transfers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very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apart.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Topology-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aware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assignment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node, make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network.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difficult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7355" cy="252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Exploiting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proximity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9560" marR="4826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erratic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 transfers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very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apart.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Topology-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aware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assignment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node, make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network.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difficult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42925" marR="3352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Proximity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routing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successor,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spc="-10" dirty="0">
                <a:latin typeface="Arial"/>
                <a:cs typeface="Arial"/>
              </a:rPr>
              <a:t>forward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closest.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9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Chord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 marL="542925" marR="50800">
              <a:lnSpc>
                <a:spcPct val="111600"/>
              </a:lnSpc>
            </a:pPr>
            <a:r>
              <a:rPr sz="900" i="1" dirty="0">
                <a:latin typeface="Arial"/>
                <a:cs typeface="Arial"/>
              </a:rPr>
              <a:t>INT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Menlo"/>
                <a:cs typeface="Menlo"/>
              </a:rPr>
              <a:t>−</a:t>
            </a:r>
            <a:r>
              <a:rPr sz="1050" baseline="27777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i="1" spc="44" baseline="27777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1].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 pointers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</a:t>
            </a:r>
            <a:r>
              <a:rPr sz="900" dirty="0">
                <a:latin typeface="Arial"/>
                <a:cs typeface="Arial"/>
              </a:rPr>
              <a:t>in </a:t>
            </a:r>
            <a:r>
              <a:rPr sz="900" i="1" spc="-10" dirty="0">
                <a:latin typeface="Arial"/>
                <a:cs typeface="Arial"/>
              </a:rPr>
              <a:t>INT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37355" cy="2886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Exploiting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proximity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9560" marR="4826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erratic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 transfers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very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apart.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Topology-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aware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assignment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node, make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network.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difficult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42925" marR="3352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Proximity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routing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successor,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spc="-10" dirty="0">
                <a:latin typeface="Arial"/>
                <a:cs typeface="Arial"/>
              </a:rPr>
              <a:t>forward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closest.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9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Chord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FT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 marL="542925" marR="50800">
              <a:lnSpc>
                <a:spcPct val="111600"/>
              </a:lnSpc>
            </a:pPr>
            <a:r>
              <a:rPr sz="900" i="1" dirty="0">
                <a:latin typeface="Arial"/>
                <a:cs typeface="Arial"/>
              </a:rPr>
              <a:t>INT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Menlo"/>
                <a:cs typeface="Menlo"/>
              </a:rPr>
              <a:t>−</a:t>
            </a:r>
            <a:r>
              <a:rPr sz="1050" baseline="27777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i="1" spc="44" baseline="27777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1].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 pointers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</a:t>
            </a:r>
            <a:r>
              <a:rPr sz="900" dirty="0">
                <a:latin typeface="Arial"/>
                <a:cs typeface="Arial"/>
              </a:rPr>
              <a:t>in </a:t>
            </a:r>
            <a:r>
              <a:rPr sz="900" i="1" spc="-10" dirty="0">
                <a:latin typeface="Arial"/>
                <a:cs typeface="Arial"/>
              </a:rPr>
              <a:t>INT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42925" marR="18859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Proximity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neighbor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selection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who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Chord),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673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tables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26976"/>
            <a:ext cx="4164965" cy="120142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Hierarchical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(HLS)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Build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underlying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divided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into </a:t>
            </a:r>
            <a:r>
              <a:rPr sz="900" dirty="0">
                <a:latin typeface="Arial"/>
                <a:cs typeface="Arial"/>
              </a:rPr>
              <a:t>hierarchical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domains.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domain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directory node.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117" y="1432137"/>
            <a:ext cx="3333773" cy="137324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57334"/>
            <a:ext cx="4161790" cy="14979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HLS: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Tree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Invariants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intermediate</a:t>
            </a:r>
            <a:r>
              <a:rPr sz="900" spc="-20" dirty="0">
                <a:latin typeface="Arial"/>
                <a:cs typeface="Arial"/>
              </a:rPr>
              <a:t> node</a:t>
            </a:r>
            <a:endParaRPr sz="900">
              <a:latin typeface="Arial"/>
              <a:cs typeface="Arial"/>
            </a:endParaRPr>
          </a:p>
          <a:p>
            <a:pPr marL="542925" marR="3175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Intermediate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child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subtree </a:t>
            </a:r>
            <a:r>
              <a:rPr sz="900" dirty="0">
                <a:latin typeface="Arial"/>
                <a:cs typeface="Arial"/>
              </a:rPr>
              <a:t>rooted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child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entities</a:t>
            </a:r>
            <a:endParaRPr sz="900">
              <a:latin typeface="Arial"/>
              <a:cs typeface="Arial"/>
            </a:endParaRPr>
          </a:p>
          <a:p>
            <a:pPr marL="289560" marR="30480">
              <a:lnSpc>
                <a:spcPct val="109600"/>
              </a:lnSpc>
              <a:spcBef>
                <a:spcPts val="5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information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having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addresses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leaf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domains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931" y="1738318"/>
            <a:ext cx="2900461" cy="155533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639820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HLS: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Lookup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Start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node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follow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downward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up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Upward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lookup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stops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root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Looking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3287" y="1655796"/>
            <a:ext cx="2377729" cy="146070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39565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HLS: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Insert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operation</a:t>
            </a:r>
            <a:endParaRPr sz="1200">
              <a:latin typeface="Arial"/>
              <a:cs typeface="Arial"/>
            </a:endParaRPr>
          </a:p>
          <a:p>
            <a:pPr marL="264160" marR="5080" indent="-4445">
              <a:lnSpc>
                <a:spcPct val="109600"/>
              </a:lnSpc>
              <a:spcBef>
                <a:spcPts val="6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insert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forwarded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first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knows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about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.</a:t>
            </a:r>
            <a:r>
              <a:rPr sz="10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(b)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chain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forwarding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pointers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leaf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created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116" y="1088367"/>
            <a:ext cx="1753554" cy="15520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8157" y="1319265"/>
            <a:ext cx="1889297" cy="10544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4935" y="2751920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1185" y="2751920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217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scale?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260350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design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flaw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all </a:t>
            </a:r>
            <a:r>
              <a:rPr sz="900" dirty="0">
                <a:latin typeface="Arial"/>
                <a:cs typeface="Arial"/>
              </a:rPr>
              <a:t>identifiers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logical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design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physical implementation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total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Menlo"/>
                <a:cs typeface="Menlo"/>
              </a:rPr>
              <a:t>{</a:t>
            </a:r>
            <a:r>
              <a:rPr sz="900" i="1" spc="-25" dirty="0">
                <a:latin typeface="Arial"/>
                <a:cs typeface="Arial"/>
              </a:rPr>
              <a:t>H</a:t>
            </a:r>
            <a:r>
              <a:rPr sz="1050" i="1" spc="-37" baseline="-15873" dirty="0">
                <a:latin typeface="Arial"/>
                <a:cs typeface="Arial"/>
              </a:rPr>
              <a:t>1</a:t>
            </a:r>
            <a:r>
              <a:rPr sz="900" i="1" spc="-25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1050" i="1" spc="-15" baseline="-15873" dirty="0">
                <a:latin typeface="Arial"/>
                <a:cs typeface="Arial"/>
              </a:rPr>
              <a:t>N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}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host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542925" marR="28003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domain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0</a:t>
            </a:r>
            <a:r>
              <a:rPr sz="900" dirty="0">
                <a:latin typeface="Arial"/>
                <a:cs typeface="Arial"/>
              </a:rPr>
              <a:t> denotes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domain.</a:t>
            </a:r>
            <a:endParaRPr sz="900">
              <a:latin typeface="Arial"/>
              <a:cs typeface="Arial"/>
            </a:endParaRPr>
          </a:p>
          <a:p>
            <a:pPr marL="542925" marR="16319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i="1" spc="-10" dirty="0">
                <a:latin typeface="Arial"/>
                <a:cs typeface="Arial"/>
              </a:rPr>
              <a:t>LS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for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1384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scale?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000">
              <a:latin typeface="Arial"/>
              <a:cs typeface="Arial"/>
            </a:endParaRPr>
          </a:p>
          <a:p>
            <a:pPr marL="542925" marR="30734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Choose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per-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basis</a:t>
            </a:r>
            <a:endParaRPr sz="900">
              <a:latin typeface="Arial"/>
              <a:cs typeface="Arial"/>
            </a:endParaRPr>
          </a:p>
          <a:p>
            <a:pPr marL="791845" lvl="1" indent="-116839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792480" algn="l"/>
              </a:tabLst>
            </a:pPr>
            <a:r>
              <a:rPr sz="900" dirty="0">
                <a:latin typeface="Arial"/>
                <a:cs typeface="Arial"/>
              </a:rPr>
              <a:t>(at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intermediate)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2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Implement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</a:t>
            </a:r>
            <a:r>
              <a:rPr sz="900" spc="-25" dirty="0">
                <a:latin typeface="Arial"/>
                <a:cs typeface="Arial"/>
              </a:rPr>
              <a:t> of </a:t>
            </a:r>
            <a:r>
              <a:rPr sz="900" dirty="0">
                <a:latin typeface="Arial"/>
                <a:cs typeface="Arial"/>
              </a:rPr>
              <a:t>storing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0530" cy="1656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HLS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scale?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b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7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10" dirty="0">
                <a:latin typeface="Menlo"/>
                <a:cs typeface="Menlo"/>
              </a:rPr>
              <a:t>{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k,1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k,2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k,N</a:t>
            </a:r>
            <a:r>
              <a:rPr sz="750" i="1" baseline="-33333" dirty="0">
                <a:latin typeface="Arial"/>
                <a:cs typeface="Arial"/>
              </a:rPr>
              <a:t>k</a:t>
            </a:r>
            <a:r>
              <a:rPr sz="750" i="1" spc="15" baseline="-33333" dirty="0">
                <a:latin typeface="Arial"/>
                <a:cs typeface="Arial"/>
              </a:rPr>
              <a:t> </a:t>
            </a:r>
            <a:r>
              <a:rPr sz="900" i="1" spc="-105" dirty="0">
                <a:latin typeface="Menlo"/>
                <a:cs typeface="Menlo"/>
              </a:rPr>
              <a:t>}</a:t>
            </a:r>
            <a:r>
              <a:rPr sz="900" i="1" spc="-29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domains at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baseline="-15873" dirty="0">
                <a:latin typeface="Arial"/>
                <a:cs typeface="Arial"/>
              </a:rPr>
              <a:t>0</a:t>
            </a:r>
            <a:r>
              <a:rPr sz="1050" spc="7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150" dirty="0">
                <a:latin typeface="Menlo"/>
                <a:cs typeface="Menlo"/>
              </a:rPr>
              <a:t>|</a:t>
            </a:r>
            <a:r>
              <a:rPr sz="900" b="1" spc="-150" dirty="0">
                <a:latin typeface="Arial"/>
                <a:cs typeface="Arial"/>
              </a:rPr>
              <a:t>D</a:t>
            </a:r>
            <a:r>
              <a:rPr sz="1050" spc="-225" baseline="-15873" dirty="0">
                <a:latin typeface="Arial"/>
                <a:cs typeface="Arial"/>
              </a:rPr>
              <a:t>0</a:t>
            </a:r>
            <a:r>
              <a:rPr sz="900" i="1" spc="-150" dirty="0">
                <a:latin typeface="Menlo"/>
                <a:cs typeface="Menlo"/>
              </a:rPr>
              <a:t>|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partitioned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subsets,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each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domains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k,i</a:t>
            </a:r>
            <a:r>
              <a:rPr sz="1050" i="1" spc="26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515" y="1957908"/>
            <a:ext cx="3126882" cy="11860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73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</a:t>
            </a:r>
            <a:r>
              <a:rPr sz="500" spc="8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approaches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645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Flat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64025" cy="3077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flat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99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302260" marR="9271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name-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Two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approaches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45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Secure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identifier-to-</a:t>
            </a:r>
            <a:r>
              <a:rPr sz="900" dirty="0">
                <a:latin typeface="Arial"/>
                <a:cs typeface="Arial"/>
              </a:rPr>
              <a:t>entity </a:t>
            </a:r>
            <a:r>
              <a:rPr sz="900" spc="-10" dirty="0">
                <a:latin typeface="Arial"/>
                <a:cs typeface="Arial"/>
              </a:rPr>
              <a:t>association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name-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Self-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certifying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names</a:t>
            </a:r>
            <a:endParaRPr sz="1000">
              <a:latin typeface="Arial"/>
              <a:cs typeface="Arial"/>
            </a:endParaRPr>
          </a:p>
          <a:p>
            <a:pPr marL="302260" marR="19558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derived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(part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flat </a:t>
            </a:r>
            <a:r>
              <a:rPr sz="900" spc="-10" dirty="0">
                <a:latin typeface="Arial"/>
                <a:cs typeface="Arial"/>
              </a:rPr>
              <a:t>name: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id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entity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hash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 associated with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 </a:t>
            </a:r>
            <a:r>
              <a:rPr sz="900" i="1" spc="-10" dirty="0">
                <a:latin typeface="Arial"/>
                <a:cs typeface="Arial"/>
              </a:rPr>
              <a:t>entity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read-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entities,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otherwise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id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entity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public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key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entity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additional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verifiable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digital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signature.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1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Securing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name-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resolution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Much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involved: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discussion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deferred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discussing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DNS.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553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Secure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flat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97711"/>
            <a:ext cx="8782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space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394586"/>
            <a:ext cx="3890645" cy="8070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graph</a:t>
            </a:r>
            <a:endParaRPr sz="1000">
              <a:latin typeface="Arial"/>
              <a:cs typeface="Arial"/>
            </a:endParaRPr>
          </a:p>
          <a:p>
            <a:pPr marL="16510" marR="5080" indent="-38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graph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leaf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(named)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directory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graph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root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632" y="1302981"/>
            <a:ext cx="2958647" cy="12320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547" y="2735853"/>
            <a:ext cx="3526154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(node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identifier,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edge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label)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127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spaces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166110" cy="133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2838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easily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attributes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25" dirty="0">
                <a:latin typeface="Arial"/>
                <a:cs typeface="Arial"/>
              </a:rPr>
              <a:t>Type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Nicknames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25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4127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spaces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19424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easily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attributes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spc="-25" dirty="0">
                <a:latin typeface="Arial"/>
                <a:cs typeface="Arial"/>
              </a:rPr>
              <a:t>Type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Address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Nicknames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5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298450" marR="17780" indent="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Directory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attributes,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besides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table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(identifier,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label)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4127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spaces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resolution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77888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(initial)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resolution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047" y="499476"/>
            <a:ext cx="3943350" cy="17252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034" marR="156210">
              <a:lnSpc>
                <a:spcPts val="1210"/>
              </a:lnSpc>
              <a:spcBef>
                <a:spcPts val="35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(initial)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node?</a:t>
            </a:r>
            <a:endParaRPr sz="900">
              <a:latin typeface="Arial"/>
              <a:cs typeface="Arial"/>
            </a:endParaRPr>
          </a:p>
          <a:p>
            <a:pPr marL="25400" marR="17780" indent="4445">
              <a:lnSpc>
                <a:spcPct val="109600"/>
              </a:lnSpc>
              <a:spcBef>
                <a:spcPts val="5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Closure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mechanism: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mechanism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select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implicit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from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which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start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resolution</a:t>
            </a:r>
            <a:endParaRPr sz="1000">
              <a:latin typeface="Arial"/>
              <a:cs typeface="Arial"/>
            </a:endParaRPr>
          </a:p>
          <a:p>
            <a:pPr marL="276225" indent="-114300">
              <a:lnSpc>
                <a:spcPct val="100000"/>
              </a:lnSpc>
              <a:spcBef>
                <a:spcPts val="405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76860" algn="l"/>
              </a:tabLst>
            </a:pPr>
            <a:r>
              <a:rPr sz="1000" spc="55" dirty="0">
                <a:latin typeface="Times New Roman"/>
                <a:cs typeface="Times New Roman"/>
                <a:hlinkClick r:id="rId4"/>
              </a:rPr>
              <a:t>www.distributed-</a:t>
            </a:r>
            <a:r>
              <a:rPr sz="1000" spc="70" dirty="0">
                <a:latin typeface="Times New Roman"/>
                <a:cs typeface="Times New Roman"/>
                <a:hlinkClick r:id="rId4"/>
              </a:rPr>
              <a:t>systems.net</a:t>
            </a:r>
            <a:r>
              <a:rPr sz="900" spc="70" dirty="0">
                <a:latin typeface="Arial"/>
                <a:cs typeface="Arial"/>
                <a:hlinkClick r:id="rId4"/>
              </a:rPr>
              <a:t>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282575" marR="364490" indent="-120650">
              <a:lnSpc>
                <a:spcPts val="1210"/>
              </a:lnSpc>
              <a:spcBef>
                <a:spcPts val="40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76860" algn="l"/>
              </a:tabLst>
            </a:pPr>
            <a:r>
              <a:rPr sz="1000" dirty="0">
                <a:latin typeface="Times New Roman"/>
                <a:cs typeface="Times New Roman"/>
              </a:rPr>
              <a:t>/home/maarten/mbox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NFS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(possible recursive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search)</a:t>
            </a:r>
            <a:endParaRPr sz="900">
              <a:latin typeface="Arial"/>
              <a:cs typeface="Arial"/>
            </a:endParaRPr>
          </a:p>
          <a:p>
            <a:pPr marL="276225" indent="-114300">
              <a:lnSpc>
                <a:spcPts val="1160"/>
              </a:lnSpc>
              <a:buClr>
                <a:srgbClr val="3333B2"/>
              </a:buClr>
              <a:buSzPct val="90000"/>
              <a:buFont typeface="Menlo"/>
              <a:buChar char="•"/>
              <a:tabLst>
                <a:tab pos="276860" algn="l"/>
              </a:tabLst>
            </a:pPr>
            <a:r>
              <a:rPr sz="1000" dirty="0">
                <a:latin typeface="Times New Roman"/>
                <a:cs typeface="Times New Roman"/>
              </a:rPr>
              <a:t>0031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598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7784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dial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phone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endParaRPr sz="900">
              <a:latin typeface="Arial"/>
              <a:cs typeface="Arial"/>
            </a:endParaRPr>
          </a:p>
          <a:p>
            <a:pPr marL="276225" indent="-114300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76860" algn="l"/>
              </a:tabLst>
            </a:pPr>
            <a:r>
              <a:rPr sz="1000" spc="60" dirty="0">
                <a:latin typeface="Times New Roman"/>
                <a:cs typeface="Times New Roman"/>
              </a:rPr>
              <a:t>77.167.55.6</a:t>
            </a:r>
            <a:r>
              <a:rPr sz="900" spc="6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resolution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347" y="499476"/>
            <a:ext cx="3968750" cy="22047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735" marR="168910">
              <a:lnSpc>
                <a:spcPts val="1210"/>
              </a:lnSpc>
              <a:spcBef>
                <a:spcPts val="35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(initial)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node?</a:t>
            </a:r>
            <a:endParaRPr sz="900">
              <a:latin typeface="Arial"/>
              <a:cs typeface="Arial"/>
            </a:endParaRPr>
          </a:p>
          <a:p>
            <a:pPr marL="38100" marR="30480" indent="4445">
              <a:lnSpc>
                <a:spcPct val="109600"/>
              </a:lnSpc>
              <a:spcBef>
                <a:spcPts val="5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Closure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mechanism: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mechanism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select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implicit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context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from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which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start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resolution</a:t>
            </a:r>
            <a:endParaRPr sz="1000">
              <a:latin typeface="Arial"/>
              <a:cs typeface="Arial"/>
            </a:endParaRPr>
          </a:p>
          <a:p>
            <a:pPr marL="288925" indent="-114300">
              <a:lnSpc>
                <a:spcPct val="100000"/>
              </a:lnSpc>
              <a:spcBef>
                <a:spcPts val="405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89560" algn="l"/>
              </a:tabLst>
            </a:pPr>
            <a:r>
              <a:rPr sz="1000" spc="55" dirty="0">
                <a:latin typeface="Times New Roman"/>
                <a:cs typeface="Times New Roman"/>
                <a:hlinkClick r:id="rId4"/>
              </a:rPr>
              <a:t>www.distributed-</a:t>
            </a:r>
            <a:r>
              <a:rPr sz="1000" spc="70" dirty="0">
                <a:latin typeface="Times New Roman"/>
                <a:cs typeface="Times New Roman"/>
                <a:hlinkClick r:id="rId4"/>
              </a:rPr>
              <a:t>systems.net</a:t>
            </a:r>
            <a:r>
              <a:rPr sz="900" spc="70" dirty="0">
                <a:latin typeface="Arial"/>
                <a:cs typeface="Arial"/>
                <a:hlinkClick r:id="rId4"/>
              </a:rPr>
              <a:t>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295275" marR="377190" indent="-120650">
              <a:lnSpc>
                <a:spcPts val="1210"/>
              </a:lnSpc>
              <a:spcBef>
                <a:spcPts val="40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89560" algn="l"/>
              </a:tabLst>
            </a:pPr>
            <a:r>
              <a:rPr sz="1000" dirty="0">
                <a:latin typeface="Times New Roman"/>
                <a:cs typeface="Times New Roman"/>
              </a:rPr>
              <a:t>/home/maarten/mbox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NFS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(possible recursive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search)</a:t>
            </a:r>
            <a:endParaRPr sz="900">
              <a:latin typeface="Arial"/>
              <a:cs typeface="Arial"/>
            </a:endParaRPr>
          </a:p>
          <a:p>
            <a:pPr marL="288925" indent="-114300">
              <a:lnSpc>
                <a:spcPts val="1160"/>
              </a:lnSpc>
              <a:buClr>
                <a:srgbClr val="3333B2"/>
              </a:buClr>
              <a:buSzPct val="90000"/>
              <a:buFont typeface="Menlo"/>
              <a:buChar char="•"/>
              <a:tabLst>
                <a:tab pos="289560" algn="l"/>
              </a:tabLst>
            </a:pPr>
            <a:r>
              <a:rPr sz="1000" dirty="0">
                <a:latin typeface="Times New Roman"/>
                <a:cs typeface="Times New Roman"/>
              </a:rPr>
              <a:t>0031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20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598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7784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dial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phone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endParaRPr sz="900">
              <a:latin typeface="Arial"/>
              <a:cs typeface="Arial"/>
            </a:endParaRPr>
          </a:p>
          <a:p>
            <a:pPr marL="288925" indent="-114300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SzPct val="90000"/>
              <a:buFont typeface="Menlo"/>
              <a:buChar char="•"/>
              <a:tabLst>
                <a:tab pos="289560" algn="l"/>
              </a:tabLst>
            </a:pPr>
            <a:r>
              <a:rPr sz="1000" spc="60" dirty="0">
                <a:latin typeface="Times New Roman"/>
                <a:cs typeface="Times New Roman"/>
              </a:rPr>
              <a:t>77.167.55.6</a:t>
            </a:r>
            <a:r>
              <a:rPr sz="900" spc="6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explicit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–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start?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linking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476"/>
            <a:ext cx="3817620" cy="12592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Hard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link</a:t>
            </a:r>
            <a:endParaRPr sz="1000">
              <a:latin typeface="Arial"/>
              <a:cs typeface="Arial"/>
            </a:endParaRPr>
          </a:p>
          <a:p>
            <a:pPr marL="30480" marR="177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path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resolved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graph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another.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Soft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link:</a:t>
            </a:r>
            <a:r>
              <a:rPr sz="10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Allow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N</a:t>
            </a:r>
            <a:r>
              <a:rPr sz="1000" i="1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contain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node</a:t>
            </a:r>
            <a:endParaRPr sz="1000">
              <a:latin typeface="Arial"/>
              <a:cs typeface="Arial"/>
            </a:endParaRPr>
          </a:p>
          <a:p>
            <a:pPr marL="28321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83845" algn="l"/>
              </a:tabLst>
            </a:pP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(leading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8321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3845" algn="l"/>
              </a:tabLst>
            </a:pP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yielding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28321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3845" algn="l"/>
              </a:tabLst>
            </a:pPr>
            <a:r>
              <a:rPr sz="900" dirty="0">
                <a:latin typeface="Arial"/>
                <a:cs typeface="Arial"/>
              </a:rPr>
              <a:t>Name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linking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99476"/>
            <a:ext cx="3938904" cy="22275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Hard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link</a:t>
            </a:r>
            <a:endParaRPr sz="1000">
              <a:latin typeface="Arial"/>
              <a:cs typeface="Arial"/>
            </a:endParaRPr>
          </a:p>
          <a:p>
            <a:pPr marL="50800" marR="11874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path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resolved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graph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another.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Soft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link:</a:t>
            </a:r>
            <a:r>
              <a:rPr sz="10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Allow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N</a:t>
            </a:r>
            <a:r>
              <a:rPr sz="1000" i="1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contain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node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(leading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yielding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Name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303530" marR="9080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determines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content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node,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25" dirty="0">
                <a:latin typeface="Arial"/>
                <a:cs typeface="Arial"/>
              </a:rPr>
              <a:t> to.</a:t>
            </a:r>
            <a:endParaRPr sz="900">
              <a:latin typeface="Arial"/>
              <a:cs typeface="Arial"/>
            </a:endParaRPr>
          </a:p>
          <a:p>
            <a:pPr marL="303530" marR="431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resolution </a:t>
            </a:r>
            <a:r>
              <a:rPr sz="900" dirty="0">
                <a:latin typeface="Arial"/>
                <a:cs typeface="Arial"/>
              </a:rPr>
              <a:t>given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86479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linking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concept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symbolic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link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explained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graph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3199" y="800069"/>
            <a:ext cx="2509183" cy="12918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300307"/>
            <a:ext cx="1457325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n5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name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Mounting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982" y="499476"/>
            <a:ext cx="3968750" cy="25857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41910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merge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spaces </a:t>
            </a:r>
            <a:r>
              <a:rPr sz="900" spc="-10" dirty="0">
                <a:latin typeface="Arial"/>
                <a:cs typeface="Arial"/>
              </a:rPr>
              <a:t>transparently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mounting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associating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identifier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 </a:t>
            </a:r>
            <a:r>
              <a:rPr sz="900" spc="-20" dirty="0">
                <a:latin typeface="Arial"/>
                <a:cs typeface="Arial"/>
              </a:rPr>
              <a:t>name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Terminology</a:t>
            </a:r>
            <a:endParaRPr sz="1000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Foreign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space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accessed</a:t>
            </a:r>
            <a:endParaRPr sz="900">
              <a:latin typeface="Arial"/>
              <a:cs typeface="Arial"/>
            </a:endParaRPr>
          </a:p>
          <a:p>
            <a:pPr marL="294640" marR="18224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Mount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point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node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foreign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space</a:t>
            </a:r>
            <a:endParaRPr sz="900">
              <a:latin typeface="Arial"/>
              <a:cs typeface="Arial"/>
            </a:endParaRPr>
          </a:p>
          <a:p>
            <a:pPr marL="294640" marR="13652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Mounting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point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foreign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continue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resolution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Mounting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  <a:p>
            <a:pPr marL="291465" indent="-155575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AutoNum type="arabicPeriod"/>
              <a:tabLst>
                <a:tab pos="2921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protocol.</a:t>
            </a:r>
            <a:endParaRPr sz="900">
              <a:latin typeface="Arial"/>
              <a:cs typeface="Arial"/>
            </a:endParaRPr>
          </a:p>
          <a:p>
            <a:pPr marL="291465" indent="-15557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921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91465" indent="-15557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921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mounting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foreign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26976"/>
            <a:ext cx="3955415" cy="4895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Mounting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Mounting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spaces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through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specific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237" y="726506"/>
            <a:ext cx="3410757" cy="221847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8640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resolution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846829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graph.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846829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graph.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872229" cy="12852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graph.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  <a:p>
            <a:pPr marL="278130" marR="4953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Global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aspect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administrations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872229" cy="1744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graph.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  <a:p>
            <a:pPr marL="278130" marR="4953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Global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aspect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administrations</a:t>
            </a:r>
            <a:endParaRPr sz="900">
              <a:latin typeface="Arial"/>
              <a:cs typeface="Arial"/>
            </a:endParaRPr>
          </a:p>
          <a:p>
            <a:pPr marL="278130" marR="74295" indent="-120650" algn="just">
              <a:lnSpc>
                <a:spcPct val="111600"/>
              </a:lnSpc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Administrational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mid-level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grouped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 administration.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22040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25400" marR="8445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graph.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  <a:p>
            <a:pPr marL="278130" marR="116839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Global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aspect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administrations</a:t>
            </a:r>
            <a:endParaRPr sz="900">
              <a:latin typeface="Arial"/>
              <a:cs typeface="Arial"/>
            </a:endParaRPr>
          </a:p>
          <a:p>
            <a:pPr marL="278130" marR="141605" indent="-120650" algn="just">
              <a:lnSpc>
                <a:spcPct val="111600"/>
              </a:lnSpc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Administrational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mid-level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grouped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 administration.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Managerial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level:</a:t>
            </a:r>
            <a:r>
              <a:rPr sz="9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low-level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 </a:t>
            </a:r>
            <a:r>
              <a:rPr sz="900" dirty="0">
                <a:latin typeface="Arial"/>
                <a:cs typeface="Arial"/>
              </a:rPr>
              <a:t>administration.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effectively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mapping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97711"/>
            <a:ext cx="19577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Name-</a:t>
            </a:r>
            <a:r>
              <a:rPr dirty="0"/>
              <a:t>space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365106"/>
            <a:ext cx="3773804" cy="359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partitioning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DNS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space,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including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 files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833" y="801497"/>
            <a:ext cx="3863387" cy="248641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948429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Name-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  <a:p>
            <a:pPr marL="264160" marR="5080" indent="-4445">
              <a:lnSpc>
                <a:spcPct val="109600"/>
              </a:lnSpc>
              <a:spcBef>
                <a:spcPts val="6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61796" y="924928"/>
          <a:ext cx="3079749" cy="1753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Global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Administrational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Managerial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Worldwide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Organization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Department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Few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Many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Vast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numbers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Seconds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Milliseconds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Immediate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Lazy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Immediate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Immediate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Many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None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few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None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Yes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Yes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Sometimes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145"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9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Geographical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scale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Nodes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3: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Responsiveness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4:</a:t>
                      </a:r>
                      <a:r>
                        <a:rPr sz="9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propagation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5: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Replicas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6:</a:t>
                      </a:r>
                      <a:r>
                        <a:rPr sz="9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Client-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side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caching?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Iterative</a:t>
            </a:r>
            <a:r>
              <a:rPr spc="-20" dirty="0"/>
              <a:t> </a:t>
            </a:r>
            <a:r>
              <a:rPr dirty="0"/>
              <a:t>name</a:t>
            </a:r>
            <a:r>
              <a:rPr spc="-20" dirty="0"/>
              <a:t> </a:t>
            </a:r>
            <a:r>
              <a:rPr spc="-10" dirty="0"/>
              <a:t>resolution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00232"/>
            <a:ext cx="3895725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rial"/>
              <a:buAutoNum type="arabicPeriod"/>
              <a:tabLst>
                <a:tab pos="278765" algn="l"/>
              </a:tabLst>
            </a:pP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name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,...,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262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dir</a:t>
            </a:r>
            <a:endParaRPr sz="900">
              <a:latin typeface="Arial"/>
              <a:cs typeface="Arial"/>
            </a:endParaRPr>
          </a:p>
          <a:p>
            <a:pPr marL="274320" marR="17780" indent="-154940">
              <a:lnSpc>
                <a:spcPct val="111600"/>
              </a:lnSpc>
              <a:buClr>
                <a:srgbClr val="3333B2"/>
              </a:buClr>
              <a:buFont typeface="Arial"/>
              <a:buAutoNum type="arabicPeriod"/>
              <a:tabLst>
                <a:tab pos="278765" algn="l"/>
              </a:tabLst>
            </a:pP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resolves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name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27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dir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returning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identification </a:t>
            </a:r>
            <a:r>
              <a:rPr sz="900" dirty="0">
                <a:latin typeface="Arial"/>
                <a:cs typeface="Arial"/>
              </a:rPr>
              <a:t>(address)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dir</a:t>
            </a:r>
            <a:r>
              <a:rPr sz="1050" i="1" spc="-30" baseline="-15873" dirty="0">
                <a:latin typeface="Arial"/>
                <a:cs typeface="Arial"/>
              </a:rPr>
              <a:t>1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...,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etc.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503" y="1474058"/>
            <a:ext cx="3142802" cy="168304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96603"/>
            <a:ext cx="3909060" cy="12299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Recursive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resolution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542925" indent="-1587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rial"/>
              <a:buAutoNum type="arabicPeriod"/>
              <a:tabLst>
                <a:tab pos="543560" algn="l"/>
              </a:tabLst>
            </a:pP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name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,...,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262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dir</a:t>
            </a:r>
            <a:endParaRPr sz="900">
              <a:latin typeface="Arial"/>
              <a:cs typeface="Arial"/>
            </a:endParaRPr>
          </a:p>
          <a:p>
            <a:pPr marL="542925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rial"/>
              <a:buAutoNum type="arabicPeriod"/>
              <a:tabLst>
                <a:tab pos="543560" algn="l"/>
              </a:tabLst>
            </a:pP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resolves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name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26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dir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sends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resolve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dir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...,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name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dir</a:t>
            </a:r>
            <a:r>
              <a:rPr sz="1050" i="1" spc="-15" baseline="-15873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42925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rial"/>
              <a:buAutoNum type="arabicPeriod" startAt="3"/>
              <a:tabLst>
                <a:tab pos="543560" algn="l"/>
              </a:tabLst>
            </a:pP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Server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608" y="1439260"/>
            <a:ext cx="3059841" cy="155153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196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recursive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resolution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352" y="557827"/>
            <a:ext cx="3582551" cy="142370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Scalability</a:t>
            </a:r>
            <a:r>
              <a:rPr spc="-60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78777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Size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scalability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per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trouble.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Scalability</a:t>
            </a:r>
            <a:r>
              <a:rPr spc="-60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787775" cy="1261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Size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scalability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per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trouble.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17780" marR="13335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administrational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</a:t>
            </a:r>
            <a:r>
              <a:rPr sz="900" dirty="0">
                <a:latin typeface="Arial"/>
                <a:cs typeface="Arial"/>
              </a:rPr>
              <a:t>hardly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mapping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Scalability</a:t>
            </a:r>
            <a:r>
              <a:rPr spc="-60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919220" cy="19735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Size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scalability</a:t>
            </a:r>
            <a:endParaRPr sz="1000">
              <a:latin typeface="Arial"/>
              <a:cs typeface="Arial"/>
            </a:endParaRPr>
          </a:p>
          <a:p>
            <a:pPr marL="17780" marR="13589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per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trouble.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17780" marR="144145" indent="-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administrational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</a:t>
            </a:r>
            <a:r>
              <a:rPr sz="900" dirty="0">
                <a:latin typeface="Arial"/>
                <a:cs typeface="Arial"/>
              </a:rPr>
              <a:t>hardly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mapping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important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address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represented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contacted.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traditional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name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unsuitable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entities.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Scalability</a:t>
            </a:r>
            <a:r>
              <a:rPr spc="-60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464471"/>
            <a:ext cx="3763010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We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need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ensure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resolution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process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scales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across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large</a:t>
            </a:r>
            <a:r>
              <a:rPr sz="1000" spc="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geographical</a:t>
            </a:r>
            <a:r>
              <a:rPr sz="1000" spc="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distances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312" y="935758"/>
            <a:ext cx="3353582" cy="12155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7294" y="2358680"/>
            <a:ext cx="388302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anywhere,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introduce</a:t>
            </a:r>
            <a:r>
              <a:rPr sz="900" spc="-25" dirty="0">
                <a:latin typeface="Arial"/>
                <a:cs typeface="Arial"/>
              </a:rPr>
              <a:t> an </a:t>
            </a:r>
            <a:r>
              <a:rPr sz="900" dirty="0">
                <a:latin typeface="Arial"/>
                <a:cs typeface="Arial"/>
              </a:rPr>
              <a:t>implicit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dependency.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66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space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067" y="-1515"/>
            <a:ext cx="4552315" cy="1532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995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DNS</a:t>
            </a:r>
            <a:endParaRPr sz="1200">
              <a:latin typeface="Arial"/>
              <a:cs typeface="Arial"/>
            </a:endParaRPr>
          </a:p>
          <a:p>
            <a:pPr marL="331470">
              <a:lnSpc>
                <a:spcPct val="100000"/>
              </a:lnSpc>
              <a:spcBef>
                <a:spcPts val="4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584835" marR="328295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85470" algn="l"/>
              </a:tabLst>
            </a:pPr>
            <a:r>
              <a:rPr sz="900" spc="-10" dirty="0">
                <a:latin typeface="Arial"/>
                <a:cs typeface="Arial"/>
              </a:rPr>
              <a:t>Hierarchically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one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label.</a:t>
            </a:r>
            <a:endParaRPr sz="900">
              <a:latin typeface="Arial"/>
              <a:cs typeface="Arial"/>
            </a:endParaRPr>
          </a:p>
          <a:p>
            <a:pPr marL="58483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8547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domain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subtree</a:t>
            </a:r>
            <a:endParaRPr sz="900">
              <a:latin typeface="Arial"/>
              <a:cs typeface="Arial"/>
            </a:endParaRPr>
          </a:p>
          <a:p>
            <a:pPr marL="58483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8547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domain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domain’s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node.</a:t>
            </a:r>
            <a:endParaRPr sz="900">
              <a:latin typeface="Arial"/>
              <a:cs typeface="Arial"/>
            </a:endParaRPr>
          </a:p>
          <a:p>
            <a:pPr marL="331470">
              <a:lnSpc>
                <a:spcPct val="100000"/>
              </a:lnSpc>
              <a:spcBef>
                <a:spcPts val="8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Information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2645" y="1606143"/>
          <a:ext cx="3018155" cy="1517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20" dirty="0">
                          <a:latin typeface="Arial"/>
                          <a:cs typeface="Arial"/>
                        </a:rPr>
                        <a:t>Type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Refers</a:t>
                      </a:r>
                      <a:r>
                        <a:rPr sz="8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to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SOA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Zone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Holds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info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represented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zone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Host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IP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addr.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host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this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represents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MX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Domain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Mail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server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handle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mail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this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node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SRV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Domain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Server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handling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specific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service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Zone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server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represented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zone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CNAME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Node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Symbolic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link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PTR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Host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Canonical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host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HINFO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Host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Info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this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host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TXT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kind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info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considered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useful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061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 The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Domain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9067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Modern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DNS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81" y="552747"/>
            <a:ext cx="3156238" cy="8550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3940" y="1420426"/>
            <a:ext cx="29171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traditional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implementation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DNS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881" y="1863311"/>
            <a:ext cx="3156238" cy="8550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55877" y="2731003"/>
            <a:ext cx="16929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DNS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07061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Example: The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Domain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Name</a:t>
            </a:r>
            <a:r>
              <a:rPr sz="500" spc="-1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00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Secure</a:t>
            </a:r>
            <a:r>
              <a:rPr spc="-45" dirty="0"/>
              <a:t> </a:t>
            </a:r>
            <a:r>
              <a:rPr spc="-25" dirty="0"/>
              <a:t>DNS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72482"/>
            <a:ext cx="3867150" cy="25603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29209" marR="177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Resource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signed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zone. Examples:</a:t>
            </a:r>
            <a:endParaRPr sz="900">
              <a:latin typeface="Arial"/>
              <a:cs typeface="Arial"/>
            </a:endParaRPr>
          </a:p>
          <a:p>
            <a:pPr marL="27813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IPv4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zone</a:t>
            </a:r>
            <a:endParaRPr sz="900">
              <a:latin typeface="Arial"/>
              <a:cs typeface="Arial"/>
            </a:endParaRPr>
          </a:p>
          <a:p>
            <a:pPr marL="27813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IPv6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zone</a:t>
            </a:r>
            <a:endParaRPr sz="900">
              <a:latin typeface="Arial"/>
              <a:cs typeface="Arial"/>
            </a:endParaRPr>
          </a:p>
          <a:p>
            <a:pPr marL="278130" indent="-116839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zone</a:t>
            </a:r>
            <a:endParaRPr sz="900">
              <a:latin typeface="Arial"/>
              <a:cs typeface="Arial"/>
            </a:endParaRPr>
          </a:p>
          <a:p>
            <a:pPr marL="29209" marR="322580" indent="-3810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resource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zone,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zone-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signing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Trusting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signatures</a:t>
            </a:r>
            <a:endParaRPr sz="1000">
              <a:latin typeface="Arial"/>
              <a:cs typeface="Arial"/>
            </a:endParaRPr>
          </a:p>
          <a:p>
            <a:pPr marL="281940" marR="12700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zone-</a:t>
            </a:r>
            <a:r>
              <a:rPr sz="900" dirty="0">
                <a:latin typeface="Arial"/>
                <a:cs typeface="Arial"/>
              </a:rPr>
              <a:t>signing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dirty="0">
                <a:latin typeface="Arial"/>
                <a:cs typeface="Arial"/>
              </a:rPr>
              <a:t>signed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key-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signing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1940" marR="4699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key-</a:t>
            </a:r>
            <a:r>
              <a:rPr sz="900" dirty="0">
                <a:latin typeface="Arial"/>
                <a:cs typeface="Arial"/>
              </a:rPr>
              <a:t>signing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stored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at,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signed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parent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zone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061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 The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Domain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Name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8693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DNS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015" y="545261"/>
            <a:ext cx="2993566" cy="8666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8134" y="1501881"/>
            <a:ext cx="3746500" cy="158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Building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trust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chain</a:t>
            </a:r>
            <a:endParaRPr sz="1000">
              <a:latin typeface="Arial"/>
              <a:cs typeface="Arial"/>
            </a:endParaRPr>
          </a:p>
          <a:p>
            <a:pPr marL="294640" marR="304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resource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records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RR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HZ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signed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SKZ</a:t>
            </a:r>
            <a:r>
              <a:rPr sz="1050" i="1" spc="-30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i="1" dirty="0">
                <a:latin typeface="Arial"/>
                <a:cs typeface="Arial"/>
              </a:rPr>
              <a:t>SZK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7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ZSK</a:t>
            </a:r>
            <a:r>
              <a:rPr sz="1050" i="1" spc="-30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  <a:p>
            <a:pPr marL="29083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(Set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ZSK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HK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SKK</a:t>
            </a:r>
            <a:r>
              <a:rPr sz="1050" i="1" spc="-30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i="1" dirty="0">
                <a:latin typeface="Arial"/>
                <a:cs typeface="Arial"/>
              </a:rPr>
              <a:t>SKK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7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KSK</a:t>
            </a:r>
            <a:r>
              <a:rPr sz="1050" i="1" spc="-30" baseline="-15873" dirty="0">
                <a:latin typeface="Arial"/>
                <a:cs typeface="Arial"/>
              </a:rPr>
              <a:t>k</a:t>
            </a:r>
            <a:endParaRPr sz="1050" baseline="-1587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verify</a:t>
            </a:r>
            <a:r>
              <a:rPr sz="9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signature</a:t>
            </a:r>
            <a:r>
              <a:rPr sz="9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SKZ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HZ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RR</a:t>
            </a:r>
            <a:r>
              <a:rPr sz="900" dirty="0">
                <a:latin typeface="Arial"/>
                <a:cs typeface="Arial"/>
              </a:rPr>
              <a:t>))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checking</a:t>
            </a:r>
            <a:endParaRPr sz="900">
              <a:latin typeface="Arial"/>
              <a:cs typeface="Arial"/>
            </a:endParaRPr>
          </a:p>
          <a:p>
            <a:pPr marL="961390" algn="ctr">
              <a:lnSpc>
                <a:spcPct val="100000"/>
              </a:lnSpc>
              <a:spcBef>
                <a:spcPts val="865"/>
              </a:spcBef>
            </a:pPr>
            <a:r>
              <a:rPr sz="700" spc="-40" dirty="0">
                <a:latin typeface="Arial"/>
                <a:cs typeface="Arial"/>
              </a:rPr>
              <a:t>?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1985" y="3047723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379" y="2999188"/>
            <a:ext cx="189166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ZSK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SKZ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HZ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RR</a:t>
            </a:r>
            <a:r>
              <a:rPr sz="900" dirty="0">
                <a:latin typeface="Arial"/>
                <a:cs typeface="Arial"/>
              </a:rPr>
              <a:t>)))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HZ</a:t>
            </a:r>
            <a:r>
              <a:rPr sz="900" i="1" spc="4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RR</a:t>
            </a:r>
            <a:r>
              <a:rPr sz="900" spc="-2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07061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 The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Domain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Name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547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NFS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965" y="576877"/>
            <a:ext cx="3830804" cy="17816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2462134"/>
            <a:ext cx="3865879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export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imported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mounting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different (nonsharable)</a:t>
            </a:r>
            <a:r>
              <a:rPr sz="900" spc="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namespaces</a:t>
            </a:r>
            <a:r>
              <a:rPr sz="900" spc="-10" dirty="0">
                <a:latin typeface="Arial"/>
                <a:cs typeface="Arial"/>
              </a:rPr>
              <a:t>!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0179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Network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File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11333" y="-1515"/>
            <a:ext cx="5435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Structured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929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Mounting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nested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directories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038" y="579226"/>
            <a:ext cx="3880044" cy="233786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179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Network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File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Attribute-</a:t>
            </a:r>
            <a:r>
              <a:rPr dirty="0"/>
              <a:t>based </a:t>
            </a:r>
            <a:r>
              <a:rPr spc="-10" dirty="0"/>
              <a:t>naming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76682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convenient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entities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traditional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directory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(aka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yellow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pages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Directory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Attribute-</a:t>
            </a:r>
            <a:r>
              <a:rPr dirty="0"/>
              <a:t>based </a:t>
            </a:r>
            <a:r>
              <a:rPr spc="-10" dirty="0"/>
              <a:t>naming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766820" cy="12084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convenient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entities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traditional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directory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(aka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yellow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pages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2700" marR="546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Lookup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requested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attribute</a:t>
            </a:r>
            <a:r>
              <a:rPr sz="9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actual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attribute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inspect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all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entities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(in </a:t>
            </a:r>
            <a:r>
              <a:rPr sz="900" spc="-10" dirty="0">
                <a:latin typeface="Arial"/>
                <a:cs typeface="Arial"/>
              </a:rPr>
              <a:t>principle).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Directory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50" dirty="0"/>
              <a:t> </a:t>
            </a:r>
            <a:r>
              <a:rPr dirty="0"/>
              <a:t>directory</a:t>
            </a:r>
            <a:r>
              <a:rPr spc="-4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70520"/>
            <a:ext cx="3913504" cy="1136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scalable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searching</a:t>
            </a:r>
            <a:endParaRPr sz="1000">
              <a:latin typeface="Arial"/>
              <a:cs typeface="Arial"/>
            </a:endParaRPr>
          </a:p>
          <a:p>
            <a:pPr marL="12700" marR="7239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Implement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combine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traditional </a:t>
            </a:r>
            <a:r>
              <a:rPr sz="900" dirty="0">
                <a:latin typeface="Arial"/>
                <a:cs typeface="Arial"/>
              </a:rPr>
              <a:t>structured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Lightweight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Directory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(LDAP)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attribute,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uniquely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named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lookups.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6970" y="2616263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2647" y="2748483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8087" y="2880703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34390" y="1708886"/>
          <a:ext cx="3334384" cy="1212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Attribute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Abbr.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Value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78105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Country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55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55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Locality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Amsterdam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Organization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VU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University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OrganizationalUnit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OU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Computer</a:t>
                      </a:r>
                      <a:r>
                        <a:rPr sz="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Science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CommonName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CN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Main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Mail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Servers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–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137.37.20.3,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130.37.24.6,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137.37.20.10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FTP</a:t>
                      </a:r>
                      <a:r>
                        <a:rPr sz="8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–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130.37.20.20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L="78105">
                        <a:lnSpc>
                          <a:spcPts val="944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WWW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4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–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44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130.37.20.20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10388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Hierarchical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implementations: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LDAP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LDAP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17933"/>
            <a:ext cx="3947795" cy="15081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Directory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LDAP </a:t>
            </a:r>
            <a:r>
              <a:rPr sz="900" spc="-10" dirty="0"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87020" marR="281940" indent="-116839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attributes </a:t>
            </a:r>
            <a:r>
              <a:rPr sz="900" dirty="0">
                <a:latin typeface="Arial"/>
                <a:cs typeface="Arial"/>
              </a:rPr>
              <a:t>(called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Relative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Distinguished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looked</a:t>
            </a:r>
            <a:r>
              <a:rPr sz="900" spc="-25" dirty="0">
                <a:latin typeface="Arial"/>
                <a:cs typeface="Arial"/>
              </a:rPr>
              <a:t> up.</a:t>
            </a:r>
            <a:endParaRPr sz="900">
              <a:latin typeface="Arial"/>
              <a:cs typeface="Arial"/>
            </a:endParaRPr>
          </a:p>
          <a:p>
            <a:pPr marL="290830" marR="30099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Directory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Information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Tree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graph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LDAP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directory </a:t>
            </a:r>
            <a:r>
              <a:rPr sz="900" dirty="0">
                <a:latin typeface="Arial"/>
                <a:cs typeface="Arial"/>
              </a:rPr>
              <a:t>service;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entry.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directory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information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tree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995" y="2032635"/>
            <a:ext cx="2474023" cy="11579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388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implementations: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LDAP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5443" y="-1515"/>
            <a:ext cx="6794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55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LDAP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directory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entries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having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HostName</a:t>
            </a:r>
            <a:r>
              <a:rPr sz="1000" i="1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RDN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0885" y="793788"/>
          <a:ext cx="3841748" cy="1156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Attribute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Value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Attribute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Value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Locality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Amsterdam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Locality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Amsterdam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Organization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VU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University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Organization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VU</a:t>
                      </a:r>
                      <a:r>
                        <a:rPr sz="800" i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University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OrganizationalUnit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Computer</a:t>
                      </a:r>
                      <a:r>
                        <a:rPr sz="800" i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Science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OrganizationalUnit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Computer</a:t>
                      </a:r>
                      <a:r>
                        <a:rPr sz="800" i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Science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CommonName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Main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 server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CommonName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Main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 server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HostName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20" dirty="0">
                          <a:latin typeface="Arial"/>
                          <a:cs typeface="Arial"/>
                        </a:rPr>
                        <a:t>star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HostName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zephyr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HostAddress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192.31.231.42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HostAddress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137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.37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.20.10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21894" y="2017362"/>
            <a:ext cx="3735756" cy="16222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 marR="30480">
              <a:lnSpc>
                <a:spcPts val="1040"/>
              </a:lnSpc>
              <a:spcBef>
                <a:spcPts val="265"/>
              </a:spcBef>
            </a:pPr>
            <a:r>
              <a:rPr sz="800" dirty="0">
                <a:latin typeface="Arial"/>
                <a:cs typeface="Arial"/>
              </a:rPr>
              <a:t>Result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of</a:t>
            </a:r>
            <a:r>
              <a:rPr sz="800" spc="204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search("</a:t>
            </a:r>
            <a:r>
              <a:rPr sz="900" dirty="0">
                <a:latin typeface="Times New Roman"/>
                <a:cs typeface="Times New Roman"/>
              </a:rPr>
              <a:t>(C=NL)(O=VU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University)(OU=</a:t>
            </a:r>
            <a:r>
              <a:rPr sz="1400" spc="-15" baseline="-8333" dirty="0">
                <a:latin typeface="Times New Roman"/>
                <a:cs typeface="Times New Roman"/>
              </a:rPr>
              <a:t>*</a:t>
            </a:r>
            <a:r>
              <a:rPr sz="900" spc="-10" dirty="0">
                <a:latin typeface="Times New Roman"/>
                <a:cs typeface="Times New Roman"/>
              </a:rPr>
              <a:t>)(CN=Main</a:t>
            </a:r>
            <a:r>
              <a:rPr lang="en-US" sz="900" spc="-10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server)"</a:t>
            </a:r>
            <a:r>
              <a:rPr sz="1000" spc="105" dirty="0">
                <a:latin typeface="Times New Roman"/>
                <a:cs typeface="Times New Roman"/>
              </a:rPr>
              <a:t>)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0388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Hierarchical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implementations: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LDAP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75443" y="-1515"/>
            <a:ext cx="6794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279971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index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889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9028BC-0EFB-9680-B10F-BB47DA6AF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31" y="598688"/>
            <a:ext cx="4075519" cy="227749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Drawbacks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distributed</a:t>
            </a:r>
            <a:r>
              <a:rPr spc="-40" dirty="0"/>
              <a:t> </a:t>
            </a:r>
            <a:r>
              <a:rPr spc="-10" dirty="0"/>
              <a:t>index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37684"/>
            <a:ext cx="3938904" cy="1174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Quite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few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involving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marL="266700" marR="17780" indent="-10922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Imagine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looking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</a:t>
            </a:r>
            <a:r>
              <a:rPr sz="900" i="1" spc="-10" dirty="0">
                <a:latin typeface="Arial"/>
                <a:cs typeface="Arial"/>
              </a:rPr>
              <a:t>lastName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Smith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∧</a:t>
            </a:r>
            <a:r>
              <a:rPr sz="900" i="1" dirty="0">
                <a:latin typeface="Arial"/>
                <a:cs typeface="Arial"/>
              </a:rPr>
              <a:t>firstName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Pheriby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”: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people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named “Smith.”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(easy)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range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queries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</a:t>
            </a:r>
            <a:r>
              <a:rPr sz="900" i="1" dirty="0">
                <a:latin typeface="Arial"/>
                <a:cs typeface="Arial"/>
              </a:rPr>
              <a:t>price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i="1" spc="-10" dirty="0">
                <a:latin typeface="Arial"/>
                <a:cs typeface="Arial"/>
              </a:rPr>
              <a:t>1000</a:t>
            </a:r>
            <a:r>
              <a:rPr sz="900" i="1" spc="-8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2500</a:t>
            </a:r>
            <a:r>
              <a:rPr sz="900" spc="-10" dirty="0">
                <a:latin typeface="Arial"/>
                <a:cs typeface="Arial"/>
              </a:rPr>
              <a:t>].”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89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Alternative:</a:t>
            </a:r>
            <a:r>
              <a:rPr spc="35" dirty="0"/>
              <a:t> </a:t>
            </a:r>
            <a:r>
              <a:rPr dirty="0"/>
              <a:t>map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attributes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dimension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spc="-10" dirty="0"/>
              <a:t>index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38853"/>
            <a:ext cx="3839210" cy="1096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Space-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filling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curves:</a:t>
            </a:r>
            <a:r>
              <a:rPr sz="10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Map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-dimensional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covered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{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27777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,...,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1050" i="1" spc="-15" baseline="27777" dirty="0">
                <a:latin typeface="Arial"/>
                <a:cs typeface="Arial"/>
              </a:rPr>
              <a:t>N</a:t>
            </a:r>
            <a:r>
              <a:rPr sz="1050" i="1" spc="-127" baseline="27777" dirty="0">
                <a:latin typeface="Arial"/>
                <a:cs typeface="Arial"/>
              </a:rPr>
              <a:t> </a:t>
            </a:r>
            <a:r>
              <a:rPr sz="900" i="1" spc="-50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dimension</a:t>
            </a:r>
            <a:endParaRPr sz="900">
              <a:latin typeface="Arial"/>
              <a:cs typeface="Arial"/>
            </a:endParaRPr>
          </a:p>
          <a:p>
            <a:pPr marL="278130" marR="93980" indent="-158750">
              <a:lnSpc>
                <a:spcPct val="111600"/>
              </a:lnSpc>
              <a:buClr>
                <a:srgbClr val="3333B2"/>
              </a:buClr>
              <a:buAutoNum type="arabicPeriod" startAt="2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Hashing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among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Hilbert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space-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filling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curve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order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(b)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order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116" y="28726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295" y="1643019"/>
            <a:ext cx="1334244" cy="13483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53271" y="28726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4563" y="1647920"/>
            <a:ext cx="1390997" cy="134347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889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Decentralized</a:t>
            </a:r>
            <a:r>
              <a:rPr sz="500" spc="7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41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Attribute-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5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Space-</a:t>
            </a:r>
            <a:r>
              <a:rPr dirty="0"/>
              <a:t>filling</a:t>
            </a:r>
            <a:r>
              <a:rPr spc="-15" dirty="0"/>
              <a:t> </a:t>
            </a:r>
            <a:r>
              <a:rPr spc="-20" dirty="0"/>
              <a:t>curve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99476"/>
            <a:ext cx="3963670" cy="164401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Once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curve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been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drawn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two-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case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Hilbert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baseline="27777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225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subsquares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baseline="27777" dirty="0">
                <a:latin typeface="Arial"/>
                <a:cs typeface="Arial"/>
              </a:rPr>
              <a:t>2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217" baseline="27777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indices.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rectangle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case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intersects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subsquares,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corresponding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series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of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indices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R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entities</a:t>
            </a:r>
            <a:endParaRPr sz="1000">
              <a:latin typeface="Arial"/>
              <a:cs typeface="Arial"/>
            </a:endParaRPr>
          </a:p>
          <a:p>
            <a:pPr marL="38100" marR="42545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mapped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DHT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89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57281" y="-1515"/>
            <a:ext cx="6978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</a:t>
            </a:r>
            <a:r>
              <a:rPr sz="500" spc="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networking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383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Named-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networking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611" y="534976"/>
            <a:ext cx="2719935" cy="11858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9194" y="1724928"/>
            <a:ext cx="3989070" cy="15494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303530" marR="1320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latin typeface="Arial"/>
                <a:cs typeface="Arial"/>
              </a:rPr>
              <a:t>Retrieve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name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not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address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9720" marR="43180" indent="-116205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routes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stored.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NDN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architecture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Internet,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95"/>
              </a:spcBef>
            </a:pPr>
            <a:r>
              <a:rPr sz="900" i="1" dirty="0">
                <a:latin typeface="Arial"/>
                <a:cs typeface="Arial"/>
              </a:rPr>
              <a:t>/distributed</a:t>
            </a:r>
            <a:r>
              <a:rPr sz="1000" dirty="0">
                <a:latin typeface="Times New Roman"/>
                <a:cs typeface="Times New Roman"/>
              </a:rPr>
              <a:t>-</a:t>
            </a:r>
            <a:r>
              <a:rPr sz="900" i="1" dirty="0">
                <a:latin typeface="Arial"/>
                <a:cs typeface="Arial"/>
              </a:rPr>
              <a:t>systems.net/books/Distributed</a:t>
            </a:r>
            <a:r>
              <a:rPr sz="900" i="1" spc="310" dirty="0">
                <a:latin typeface="Arial"/>
                <a:cs typeface="Arial"/>
              </a:rPr>
              <a:t>  </a:t>
            </a:r>
            <a:r>
              <a:rPr sz="900" i="1" spc="-10" dirty="0">
                <a:latin typeface="Arial"/>
                <a:cs typeface="Arial"/>
              </a:rPr>
              <a:t>Systems/4/01/Naming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67" y="3346954"/>
            <a:ext cx="2120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Basics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163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</a:t>
            </a:r>
            <a:r>
              <a:rPr sz="500" spc="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networking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Routing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3931"/>
            <a:ext cx="3912870" cy="16941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6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40"/>
              </a:spcBef>
            </a:pP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attempting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as</a:t>
            </a:r>
            <a:endParaRPr sz="9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90"/>
              </a:spcBef>
            </a:pPr>
            <a:r>
              <a:rPr sz="900" i="1" dirty="0">
                <a:latin typeface="Arial"/>
                <a:cs typeface="Arial"/>
              </a:rPr>
              <a:t>distributed</a:t>
            </a: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900" i="1" dirty="0">
                <a:latin typeface="Arial"/>
                <a:cs typeface="Arial"/>
              </a:rPr>
              <a:t>systems.net/books/Distributed</a:t>
            </a:r>
            <a:r>
              <a:rPr sz="900" i="1" spc="210" dirty="0">
                <a:latin typeface="Arial"/>
                <a:cs typeface="Arial"/>
              </a:rPr>
              <a:t>  </a:t>
            </a:r>
            <a:r>
              <a:rPr sz="900" i="1" spc="-10" dirty="0">
                <a:latin typeface="Arial"/>
                <a:cs typeface="Arial"/>
              </a:rPr>
              <a:t>Systems/4/01/Naming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ts val="1060"/>
              </a:lnSpc>
              <a:spcBef>
                <a:spcPts val="725"/>
              </a:spcBef>
            </a:pP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IPv6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</a:t>
            </a:r>
            <a:endParaRPr sz="900">
              <a:latin typeface="Arial"/>
              <a:cs typeface="Arial"/>
            </a:endParaRPr>
          </a:p>
          <a:p>
            <a:pPr marL="269240">
              <a:lnSpc>
                <a:spcPts val="1180"/>
              </a:lnSpc>
            </a:pPr>
            <a:r>
              <a:rPr sz="900" i="1" spc="-10" dirty="0">
                <a:latin typeface="Arial"/>
                <a:cs typeface="Arial"/>
              </a:rPr>
              <a:t>2001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610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508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108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192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87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108</a:t>
            </a:r>
            <a:r>
              <a:rPr sz="1000" i="1" spc="-10" dirty="0">
                <a:latin typeface="Times New Roman"/>
                <a:cs typeface="Times New Roman"/>
              </a:rPr>
              <a:t>:</a:t>
            </a:r>
            <a:r>
              <a:rPr sz="900" i="1" spc="-10" dirty="0"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1000" spc="-5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Theres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fundamental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difference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25" dirty="0">
                <a:latin typeface="Arial"/>
                <a:cs typeface="Arial"/>
              </a:rPr>
              <a:t> or </a:t>
            </a:r>
            <a:r>
              <a:rPr sz="900" dirty="0">
                <a:latin typeface="Arial"/>
                <a:cs typeface="Arial"/>
              </a:rPr>
              <a:t>address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prefix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announced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global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substrate</a:t>
            </a:r>
            <a:r>
              <a:rPr sz="900" spc="-10" dirty="0">
                <a:latin typeface="Arial"/>
                <a:cs typeface="Arial"/>
              </a:rPr>
              <a:t>,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IPv4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BGP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routers.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2438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Routing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438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Naming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57281" y="-1515"/>
            <a:ext cx="6978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Named-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</a:t>
            </a:r>
            <a:r>
              <a:rPr sz="500" spc="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networking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5486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276" y="564178"/>
            <a:ext cx="3472494" cy="11539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5091" y="1730763"/>
            <a:ext cx="33978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Forwarding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destination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854" y="2023114"/>
            <a:ext cx="3287527" cy="10580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8047" y="3093753"/>
            <a:ext cx="3234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Returning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router)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toward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2438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Routing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5051</Words>
  <Application>Microsoft Office PowerPoint</Application>
  <PresentationFormat>Custom</PresentationFormat>
  <Paragraphs>743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Menlo</vt:lpstr>
      <vt:lpstr>Times New Roman</vt:lpstr>
      <vt:lpstr>Office Theme</vt:lpstr>
      <vt:lpstr>1_Office Theme</vt:lpstr>
      <vt:lpstr>PowerPoint Presentation</vt:lpstr>
      <vt:lpstr>Naming</vt:lpstr>
      <vt:lpstr>Identifiers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Name space</vt:lpstr>
      <vt:lpstr>PowerPoint Presentation</vt:lpstr>
      <vt:lpstr>PowerPoint Presentation</vt:lpstr>
      <vt:lpstr>Name resolution</vt:lpstr>
      <vt:lpstr>Name resolution</vt:lpstr>
      <vt:lpstr>Name resolution</vt:lpstr>
      <vt:lpstr>Name linking</vt:lpstr>
      <vt:lpstr>Name linking</vt:lpstr>
      <vt:lpstr>PowerPoint Presentation</vt:lpstr>
      <vt:lpstr>Mounting</vt:lpstr>
      <vt:lpstr>PowerPoint Presentation</vt:lpstr>
      <vt:lpstr>Name-space implementation</vt:lpstr>
      <vt:lpstr>Name-space implementation</vt:lpstr>
      <vt:lpstr>Name-space implementation</vt:lpstr>
      <vt:lpstr>Name-space implementation</vt:lpstr>
      <vt:lpstr>Name-space implementation</vt:lpstr>
      <vt:lpstr>Name-space implementation</vt:lpstr>
      <vt:lpstr>PowerPoint Presentation</vt:lpstr>
      <vt:lpstr>Iterative name resolution</vt:lpstr>
      <vt:lpstr>PowerPoint Presentation</vt:lpstr>
      <vt:lpstr>PowerPoint Presentation</vt:lpstr>
      <vt:lpstr>Scalability issues</vt:lpstr>
      <vt:lpstr>Scalability issues</vt:lpstr>
      <vt:lpstr>Scalability issues</vt:lpstr>
      <vt:lpstr>Scalability issues</vt:lpstr>
      <vt:lpstr>PowerPoint Presentation</vt:lpstr>
      <vt:lpstr>PowerPoint Presentation</vt:lpstr>
      <vt:lpstr>Secure DNS</vt:lpstr>
      <vt:lpstr>PowerPoint Presentation</vt:lpstr>
      <vt:lpstr>PowerPoint Presentation</vt:lpstr>
      <vt:lpstr>PowerPoint Presentation</vt:lpstr>
      <vt:lpstr>Attribute-based naming</vt:lpstr>
      <vt:lpstr>Attribute-based naming</vt:lpstr>
      <vt:lpstr>Implementing directory services</vt:lpstr>
      <vt:lpstr>LDAP</vt:lpstr>
      <vt:lpstr>PowerPoint Presentation</vt:lpstr>
      <vt:lpstr>PowerPoint Presentation</vt:lpstr>
      <vt:lpstr>Drawbacks of distributed index</vt:lpstr>
      <vt:lpstr>Alternative: map all attributes to 1 dimension and then index</vt:lpstr>
      <vt:lpstr>Space-filling curve</vt:lpstr>
      <vt:lpstr>PowerPoint Presentation</vt:lpstr>
      <vt:lpstr>Routing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2</cp:revision>
  <dcterms:created xsi:type="dcterms:W3CDTF">2023-04-27T06:22:42Z</dcterms:created>
  <dcterms:modified xsi:type="dcterms:W3CDTF">2025-01-23T11:52:49Z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