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Lst>
  <p:notesMasterIdLst>
    <p:notesMasterId r:id="rId120"/>
  </p:notesMasterIdLst>
  <p:sldIdLst>
    <p:sldId id="363" r:id="rId3"/>
    <p:sldId id="257" r:id="rId4"/>
    <p:sldId id="258" r:id="rId5"/>
    <p:sldId id="259" r:id="rId6"/>
    <p:sldId id="260" r:id="rId7"/>
    <p:sldId id="261" r:id="rId8"/>
    <p:sldId id="262" r:id="rId9"/>
    <p:sldId id="263" r:id="rId10"/>
    <p:sldId id="264" r:id="rId11"/>
    <p:sldId id="265" r:id="rId12"/>
    <p:sldId id="266" r:id="rId13"/>
    <p:sldId id="267" r:id="rId14"/>
    <p:sldId id="268" r:id="rId15"/>
    <p:sldId id="364"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65" r:id="rId80"/>
    <p:sldId id="366" r:id="rId81"/>
    <p:sldId id="367" r:id="rId82"/>
    <p:sldId id="368" r:id="rId83"/>
    <p:sldId id="369" r:id="rId84"/>
    <p:sldId id="370" r:id="rId85"/>
    <p:sldId id="371" r:id="rId86"/>
    <p:sldId id="372" r:id="rId87"/>
    <p:sldId id="373" r:id="rId88"/>
    <p:sldId id="332" r:id="rId89"/>
    <p:sldId id="333" r:id="rId90"/>
    <p:sldId id="334" r:id="rId91"/>
    <p:sldId id="335" r:id="rId92"/>
    <p:sldId id="336" r:id="rId93"/>
    <p:sldId id="337" r:id="rId94"/>
    <p:sldId id="338" r:id="rId95"/>
    <p:sldId id="339" r:id="rId96"/>
    <p:sldId id="340" r:id="rId97"/>
    <p:sldId id="341" r:id="rId98"/>
    <p:sldId id="342" r:id="rId99"/>
    <p:sldId id="343" r:id="rId100"/>
    <p:sldId id="344" r:id="rId101"/>
    <p:sldId id="345" r:id="rId102"/>
    <p:sldId id="346" r:id="rId103"/>
    <p:sldId id="347" r:id="rId104"/>
    <p:sldId id="348" r:id="rId105"/>
    <p:sldId id="349" r:id="rId106"/>
    <p:sldId id="350" r:id="rId107"/>
    <p:sldId id="351" r:id="rId108"/>
    <p:sldId id="352" r:id="rId109"/>
    <p:sldId id="353" r:id="rId110"/>
    <p:sldId id="354" r:id="rId111"/>
    <p:sldId id="355" r:id="rId112"/>
    <p:sldId id="356" r:id="rId113"/>
    <p:sldId id="357" r:id="rId114"/>
    <p:sldId id="358" r:id="rId115"/>
    <p:sldId id="359" r:id="rId116"/>
    <p:sldId id="360" r:id="rId117"/>
    <p:sldId id="361" r:id="rId118"/>
    <p:sldId id="362" r:id="rId119"/>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189" autoAdjust="0"/>
  </p:normalViewPr>
  <p:slideViewPr>
    <p:cSldViewPr>
      <p:cViewPr varScale="1">
        <p:scale>
          <a:sx n="155" d="100"/>
          <a:sy n="155" d="100"/>
        </p:scale>
        <p:origin x="1746" y="12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theme" Target="theme/theme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tableStyles" Target="tableStyle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presProps" Target="presProp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B02FAEA1-E53B-4883-8ECA-8194EDC9C12E}" type="datetimeFigureOut">
              <a:rPr lang="en-US" smtClean="0"/>
              <a:t>2/3/2025</a:t>
            </a:fld>
            <a:endParaRPr lang="en-US"/>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B5410A09-9387-429E-8A69-75A41F983EFC}" type="slidenum">
              <a:rPr lang="en-US" smtClean="0"/>
              <a:t>‹#›</a:t>
            </a:fld>
            <a:endParaRPr lang="en-US"/>
          </a:p>
        </p:txBody>
      </p:sp>
    </p:spTree>
    <p:extLst>
      <p:ext uri="{BB962C8B-B14F-4D97-AF65-F5344CB8AC3E}">
        <p14:creationId xmlns:p14="http://schemas.microsoft.com/office/powerpoint/2010/main" val="2406228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Receive omission:</a:t>
            </a:r>
            <a:r>
              <a:rPr lang="en-US" dirty="0"/>
              <a:t> client and server connected but no thread is listening to incoming request</a:t>
            </a:r>
          </a:p>
          <a:p>
            <a:r>
              <a:rPr lang="en-US" b="1" dirty="0"/>
              <a:t>Send omission:</a:t>
            </a:r>
            <a:r>
              <a:rPr lang="en-US" dirty="0"/>
              <a:t> Sender buffer overflows and content discarded</a:t>
            </a:r>
          </a:p>
          <a:p>
            <a:r>
              <a:rPr lang="en-US" b="1" dirty="0"/>
              <a:t>Timing failure:</a:t>
            </a:r>
            <a:r>
              <a:rPr lang="en-US" dirty="0"/>
              <a:t> Video streaming providing data too soon (Receiver out of space) or too late(performance degradation).</a:t>
            </a:r>
          </a:p>
          <a:p>
            <a:r>
              <a:rPr lang="en-US" b="1" dirty="0"/>
              <a:t>Value failure:</a:t>
            </a:r>
            <a:r>
              <a:rPr lang="en-US" dirty="0"/>
              <a:t> Search engine that systematically returns Web pages not related to any of the search terms used.</a:t>
            </a:r>
          </a:p>
        </p:txBody>
      </p:sp>
      <p:sp>
        <p:nvSpPr>
          <p:cNvPr id="4" name="Slide Number Placeholder 3"/>
          <p:cNvSpPr>
            <a:spLocks noGrp="1"/>
          </p:cNvSpPr>
          <p:nvPr>
            <p:ph type="sldNum" sz="quarter" idx="5"/>
          </p:nvPr>
        </p:nvSpPr>
        <p:spPr/>
        <p:txBody>
          <a:bodyPr/>
          <a:lstStyle/>
          <a:p>
            <a:fld id="{B5410A09-9387-429E-8A69-75A41F983EFC}" type="slidenum">
              <a:rPr lang="en-US" smtClean="0"/>
              <a:t>8</a:t>
            </a:fld>
            <a:endParaRPr lang="en-US"/>
          </a:p>
        </p:txBody>
      </p:sp>
    </p:spTree>
    <p:extLst>
      <p:ext uri="{BB962C8B-B14F-4D97-AF65-F5344CB8AC3E}">
        <p14:creationId xmlns:p14="http://schemas.microsoft.com/office/powerpoint/2010/main" val="39316966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5410A09-9387-429E-8A69-75A41F983EFC}" type="slidenum">
              <a:rPr lang="en-US" smtClean="0"/>
              <a:t>15</a:t>
            </a:fld>
            <a:endParaRPr lang="en-US"/>
          </a:p>
        </p:txBody>
      </p:sp>
    </p:spTree>
    <p:extLst>
      <p:ext uri="{BB962C8B-B14F-4D97-AF65-F5344CB8AC3E}">
        <p14:creationId xmlns:p14="http://schemas.microsoft.com/office/powerpoint/2010/main" val="34216528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user sends a money transfer request to a bank server and it executes the required RPC but crashes before sending confirmation message, now client assuming issue on other end, sends same request again, should same transaction be performed again? </a:t>
            </a:r>
            <a:r>
              <a:rPr lang="en-US" b="1" u="sng" dirty="0"/>
              <a:t>Solution</a:t>
            </a:r>
            <a:r>
              <a:rPr lang="en-US" dirty="0"/>
              <a:t>: Use sequence numbers to entertain same request on once (idempotent)</a:t>
            </a:r>
          </a:p>
        </p:txBody>
      </p:sp>
      <p:sp>
        <p:nvSpPr>
          <p:cNvPr id="4" name="Slide Number Placeholder 3"/>
          <p:cNvSpPr>
            <a:spLocks noGrp="1"/>
          </p:cNvSpPr>
          <p:nvPr>
            <p:ph type="sldNum" sz="quarter" idx="5"/>
          </p:nvPr>
        </p:nvSpPr>
        <p:spPr/>
        <p:txBody>
          <a:bodyPr/>
          <a:lstStyle/>
          <a:p>
            <a:fld id="{B5410A09-9387-429E-8A69-75A41F983EFC}" type="slidenum">
              <a:rPr lang="en-US" smtClean="0"/>
              <a:t>73</a:t>
            </a:fld>
            <a:endParaRPr lang="en-US"/>
          </a:p>
        </p:txBody>
      </p:sp>
    </p:spTree>
    <p:extLst>
      <p:ext uri="{BB962C8B-B14F-4D97-AF65-F5344CB8AC3E}">
        <p14:creationId xmlns:p14="http://schemas.microsoft.com/office/powerpoint/2010/main" val="2579829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 asked the server to return 2GB bytes of 10 files, and client crashed after sending the request, now on server side, all the files are locked (also shared one) and cannot be used by any other and leads towards orphaned computation leading towards wastage of resources. If orphaned is killed, all associated locks will be lost, if it has initiated some other process, it will be difficult to trace back.</a:t>
            </a:r>
          </a:p>
          <a:p>
            <a:r>
              <a:rPr lang="en-US" b="1" dirty="0"/>
              <a:t>Incarnation:</a:t>
            </a:r>
            <a:r>
              <a:rPr lang="en-US" dirty="0"/>
              <a:t> Identity of a node that performed in a distributed system, crashed and came back again. [Version of a specific entity state]</a:t>
            </a:r>
          </a:p>
        </p:txBody>
      </p:sp>
      <p:sp>
        <p:nvSpPr>
          <p:cNvPr id="4" name="Slide Number Placeholder 3"/>
          <p:cNvSpPr>
            <a:spLocks noGrp="1"/>
          </p:cNvSpPr>
          <p:nvPr>
            <p:ph type="sldNum" sz="quarter" idx="5"/>
          </p:nvPr>
        </p:nvSpPr>
        <p:spPr/>
        <p:txBody>
          <a:bodyPr/>
          <a:lstStyle/>
          <a:p>
            <a:fld id="{B5410A09-9387-429E-8A69-75A41F983EFC}" type="slidenum">
              <a:rPr lang="en-US" smtClean="0"/>
              <a:t>74</a:t>
            </a:fld>
            <a:endParaRPr lang="en-US"/>
          </a:p>
        </p:txBody>
      </p:sp>
    </p:spTree>
    <p:extLst>
      <p:ext uri="{BB962C8B-B14F-4D97-AF65-F5344CB8AC3E}">
        <p14:creationId xmlns:p14="http://schemas.microsoft.com/office/powerpoint/2010/main" val="35971452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5410A09-9387-429E-8A69-75A41F983EFC}" type="slidenum">
              <a:rPr lang="en-US" smtClean="0"/>
              <a:t>77</a:t>
            </a:fld>
            <a:endParaRPr lang="en-US"/>
          </a:p>
        </p:txBody>
      </p:sp>
    </p:spTree>
    <p:extLst>
      <p:ext uri="{BB962C8B-B14F-4D97-AF65-F5344CB8AC3E}">
        <p14:creationId xmlns:p14="http://schemas.microsoft.com/office/powerpoint/2010/main" val="10095303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52074-BAF3-AB0D-4CA1-D805E98516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9BEAE2-EC83-7ED4-075A-AFD914784F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A91030-3365-3334-0BB6-7CF563E1A3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C9C631-DA7D-327A-C315-76BD114FBE28}"/>
              </a:ext>
            </a:extLst>
          </p:cNvPr>
          <p:cNvSpPr>
            <a:spLocks noGrp="1"/>
          </p:cNvSpPr>
          <p:nvPr>
            <p:ph type="sldNum" sz="quarter" idx="5"/>
          </p:nvPr>
        </p:nvSpPr>
        <p:spPr/>
        <p:txBody>
          <a:bodyPr/>
          <a:lstStyle/>
          <a:p>
            <a:fld id="{B5410A09-9387-429E-8A69-75A41F983EFC}" type="slidenum">
              <a:rPr lang="en-US" smtClean="0"/>
              <a:t>78</a:t>
            </a:fld>
            <a:endParaRPr lang="en-US"/>
          </a:p>
        </p:txBody>
      </p:sp>
    </p:spTree>
    <p:extLst>
      <p:ext uri="{BB962C8B-B14F-4D97-AF65-F5344CB8AC3E}">
        <p14:creationId xmlns:p14="http://schemas.microsoft.com/office/powerpoint/2010/main" val="25558987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1A2CA-4432-CCDD-5B79-8AE7086194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93CE1C-70CB-F2AC-0CA8-8A2277C2B4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1BF45A-8F8E-5DE2-B592-305B4A5734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8EB2C4-4DD2-E177-C945-AF7F8FDE0727}"/>
              </a:ext>
            </a:extLst>
          </p:cNvPr>
          <p:cNvSpPr>
            <a:spLocks noGrp="1"/>
          </p:cNvSpPr>
          <p:nvPr>
            <p:ph type="sldNum" sz="quarter" idx="5"/>
          </p:nvPr>
        </p:nvSpPr>
        <p:spPr/>
        <p:txBody>
          <a:bodyPr/>
          <a:lstStyle/>
          <a:p>
            <a:fld id="{B5410A09-9387-429E-8A69-75A41F983EFC}" type="slidenum">
              <a:rPr lang="en-US" smtClean="0"/>
              <a:t>79</a:t>
            </a:fld>
            <a:endParaRPr lang="en-US"/>
          </a:p>
        </p:txBody>
      </p:sp>
    </p:spTree>
    <p:extLst>
      <p:ext uri="{BB962C8B-B14F-4D97-AF65-F5344CB8AC3E}">
        <p14:creationId xmlns:p14="http://schemas.microsoft.com/office/powerpoint/2010/main" val="15874796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4D350-2366-BC97-865B-4008849A90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CD9653-CF03-A9BB-F0C8-28FADD6CBA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3F83C1-2CE8-9F13-0083-4FABEBB59E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8E851D-D222-BF64-35FA-C4B8CF43D0DD}"/>
              </a:ext>
            </a:extLst>
          </p:cNvPr>
          <p:cNvSpPr>
            <a:spLocks noGrp="1"/>
          </p:cNvSpPr>
          <p:nvPr>
            <p:ph type="sldNum" sz="quarter" idx="5"/>
          </p:nvPr>
        </p:nvSpPr>
        <p:spPr/>
        <p:txBody>
          <a:bodyPr/>
          <a:lstStyle/>
          <a:p>
            <a:fld id="{B5410A09-9387-429E-8A69-75A41F983EFC}" type="slidenum">
              <a:rPr lang="en-US" smtClean="0"/>
              <a:t>80</a:t>
            </a:fld>
            <a:endParaRPr lang="en-US"/>
          </a:p>
        </p:txBody>
      </p:sp>
    </p:spTree>
    <p:extLst>
      <p:ext uri="{BB962C8B-B14F-4D97-AF65-F5344CB8AC3E}">
        <p14:creationId xmlns:p14="http://schemas.microsoft.com/office/powerpoint/2010/main" val="26975187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5B8D2-17F4-253A-CB4C-75487F825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DB1999-6FCE-404E-10C9-A40E7B679F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4233D-AC10-3713-8B52-A8BE7AE6E4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67292F-E7A1-4B25-FE69-711F5799F840}"/>
              </a:ext>
            </a:extLst>
          </p:cNvPr>
          <p:cNvSpPr>
            <a:spLocks noGrp="1"/>
          </p:cNvSpPr>
          <p:nvPr>
            <p:ph type="sldNum" sz="quarter" idx="5"/>
          </p:nvPr>
        </p:nvSpPr>
        <p:spPr/>
        <p:txBody>
          <a:bodyPr/>
          <a:lstStyle/>
          <a:p>
            <a:fld id="{B5410A09-9387-429E-8A69-75A41F983EFC}" type="slidenum">
              <a:rPr lang="en-US" smtClean="0"/>
              <a:t>81</a:t>
            </a:fld>
            <a:endParaRPr lang="en-US"/>
          </a:p>
        </p:txBody>
      </p:sp>
    </p:spTree>
    <p:extLst>
      <p:ext uri="{BB962C8B-B14F-4D97-AF65-F5344CB8AC3E}">
        <p14:creationId xmlns:p14="http://schemas.microsoft.com/office/powerpoint/2010/main" val="30684218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A42A4-3AD2-0ED5-F1A3-136D799778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4381E0-FBC8-7B41-1737-6AE9B710EA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F8A10C-67B5-3CA5-F1A0-AB76A25952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73E94A-0C52-CE92-C2E4-E920D95A6D0A}"/>
              </a:ext>
            </a:extLst>
          </p:cNvPr>
          <p:cNvSpPr>
            <a:spLocks noGrp="1"/>
          </p:cNvSpPr>
          <p:nvPr>
            <p:ph type="sldNum" sz="quarter" idx="5"/>
          </p:nvPr>
        </p:nvSpPr>
        <p:spPr/>
        <p:txBody>
          <a:bodyPr/>
          <a:lstStyle/>
          <a:p>
            <a:fld id="{B5410A09-9387-429E-8A69-75A41F983EFC}" type="slidenum">
              <a:rPr lang="en-US" smtClean="0"/>
              <a:t>82</a:t>
            </a:fld>
            <a:endParaRPr lang="en-US"/>
          </a:p>
        </p:txBody>
      </p:sp>
    </p:spTree>
    <p:extLst>
      <p:ext uri="{BB962C8B-B14F-4D97-AF65-F5344CB8AC3E}">
        <p14:creationId xmlns:p14="http://schemas.microsoft.com/office/powerpoint/2010/main" val="17678687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BB781-3F11-56F5-9ABE-C34AA4BC9B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130A04-F0C8-45FB-A059-54BCC88E38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1E94B9-4931-8EB5-712E-B93E4B9634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89D5E5-3237-B2BB-6E09-3E62D6AC85FB}"/>
              </a:ext>
            </a:extLst>
          </p:cNvPr>
          <p:cNvSpPr>
            <a:spLocks noGrp="1"/>
          </p:cNvSpPr>
          <p:nvPr>
            <p:ph type="sldNum" sz="quarter" idx="5"/>
          </p:nvPr>
        </p:nvSpPr>
        <p:spPr/>
        <p:txBody>
          <a:bodyPr/>
          <a:lstStyle/>
          <a:p>
            <a:fld id="{B5410A09-9387-429E-8A69-75A41F983EFC}" type="slidenum">
              <a:rPr lang="en-US" smtClean="0"/>
              <a:t>83</a:t>
            </a:fld>
            <a:endParaRPr lang="en-US"/>
          </a:p>
        </p:txBody>
      </p:sp>
    </p:spTree>
    <p:extLst>
      <p:ext uri="{BB962C8B-B14F-4D97-AF65-F5344CB8AC3E}">
        <p14:creationId xmlns:p14="http://schemas.microsoft.com/office/powerpoint/2010/main" val="26529949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BF633-91B0-21C2-4424-E8FDDC49E1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D4277-402A-978B-2AEF-BE8AC2D6A8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4E88F9-A2BB-F556-CEF2-04760BAF4EAD}"/>
              </a:ext>
            </a:extLst>
          </p:cNvPr>
          <p:cNvSpPr>
            <a:spLocks noGrp="1"/>
          </p:cNvSpPr>
          <p:nvPr>
            <p:ph type="body" idx="1"/>
          </p:nvPr>
        </p:nvSpPr>
        <p:spPr/>
        <p:txBody>
          <a:bodyPr/>
          <a:lstStyle/>
          <a:p>
            <a:r>
              <a:rPr lang="en-US" dirty="0"/>
              <a:t>View change message will be sent by the process who wants to join or leave the group or about some other failed process which should be removed from current view.</a:t>
            </a:r>
          </a:p>
        </p:txBody>
      </p:sp>
      <p:sp>
        <p:nvSpPr>
          <p:cNvPr id="4" name="Slide Number Placeholder 3">
            <a:extLst>
              <a:ext uri="{FF2B5EF4-FFF2-40B4-BE49-F238E27FC236}">
                <a16:creationId xmlns:a16="http://schemas.microsoft.com/office/drawing/2014/main" id="{FFF7460A-5E4A-7849-ACD4-73A6758FBFA8}"/>
              </a:ext>
            </a:extLst>
          </p:cNvPr>
          <p:cNvSpPr>
            <a:spLocks noGrp="1"/>
          </p:cNvSpPr>
          <p:nvPr>
            <p:ph type="sldNum" sz="quarter" idx="5"/>
          </p:nvPr>
        </p:nvSpPr>
        <p:spPr/>
        <p:txBody>
          <a:bodyPr/>
          <a:lstStyle/>
          <a:p>
            <a:fld id="{B5410A09-9387-429E-8A69-75A41F983EFC}" type="slidenum">
              <a:rPr lang="en-US" smtClean="0"/>
              <a:t>84</a:t>
            </a:fld>
            <a:endParaRPr lang="en-US"/>
          </a:p>
        </p:txBody>
      </p:sp>
    </p:spTree>
    <p:extLst>
      <p:ext uri="{BB962C8B-B14F-4D97-AF65-F5344CB8AC3E}">
        <p14:creationId xmlns:p14="http://schemas.microsoft.com/office/powerpoint/2010/main" val="24891899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8BAAE-571E-4311-E65B-926B9FE3E9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54587C-55CA-A0A4-5891-F6557A3514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0E7393-0546-748F-3742-86965C5B69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6612BB-C7D6-36E5-2F4E-A0A173CA1BE7}"/>
              </a:ext>
            </a:extLst>
          </p:cNvPr>
          <p:cNvSpPr>
            <a:spLocks noGrp="1"/>
          </p:cNvSpPr>
          <p:nvPr>
            <p:ph type="sldNum" sz="quarter" idx="5"/>
          </p:nvPr>
        </p:nvSpPr>
        <p:spPr/>
        <p:txBody>
          <a:bodyPr/>
          <a:lstStyle/>
          <a:p>
            <a:fld id="{B5410A09-9387-429E-8A69-75A41F983EFC}" type="slidenum">
              <a:rPr lang="en-US" smtClean="0"/>
              <a:t>85</a:t>
            </a:fld>
            <a:endParaRPr lang="en-US"/>
          </a:p>
        </p:txBody>
      </p:sp>
    </p:spTree>
    <p:extLst>
      <p:ext uri="{BB962C8B-B14F-4D97-AF65-F5344CB8AC3E}">
        <p14:creationId xmlns:p14="http://schemas.microsoft.com/office/powerpoint/2010/main" val="17704488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0C7F2-AF10-A62C-9980-F740B79A40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434DFC-6F63-D08E-0FC8-E3AB1DAC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3366A8-31E7-9097-39E7-4DAD35D45D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5305A4-65A6-6964-4A49-5299B3F937E4}"/>
              </a:ext>
            </a:extLst>
          </p:cNvPr>
          <p:cNvSpPr>
            <a:spLocks noGrp="1"/>
          </p:cNvSpPr>
          <p:nvPr>
            <p:ph type="sldNum" sz="quarter" idx="5"/>
          </p:nvPr>
        </p:nvSpPr>
        <p:spPr/>
        <p:txBody>
          <a:bodyPr/>
          <a:lstStyle/>
          <a:p>
            <a:fld id="{B5410A09-9387-429E-8A69-75A41F983EFC}" type="slidenum">
              <a:rPr lang="en-US" smtClean="0"/>
              <a:t>86</a:t>
            </a:fld>
            <a:endParaRPr lang="en-US"/>
          </a:p>
        </p:txBody>
      </p:sp>
    </p:spTree>
    <p:extLst>
      <p:ext uri="{BB962C8B-B14F-4D97-AF65-F5344CB8AC3E}">
        <p14:creationId xmlns:p14="http://schemas.microsoft.com/office/powerpoint/2010/main" val="592256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Packet retransmission in reliable communication is an example of backward error recovery.</a:t>
            </a:r>
          </a:p>
        </p:txBody>
      </p:sp>
      <p:sp>
        <p:nvSpPr>
          <p:cNvPr id="4" name="Slide Number Placeholder 3"/>
          <p:cNvSpPr>
            <a:spLocks noGrp="1"/>
          </p:cNvSpPr>
          <p:nvPr>
            <p:ph type="sldNum" sz="quarter" idx="5"/>
          </p:nvPr>
        </p:nvSpPr>
        <p:spPr/>
        <p:txBody>
          <a:bodyPr/>
          <a:lstStyle/>
          <a:p>
            <a:fld id="{B5410A09-9387-429E-8A69-75A41F983EFC}" type="slidenum">
              <a:rPr lang="en-US" smtClean="0"/>
              <a:t>99</a:t>
            </a:fld>
            <a:endParaRPr lang="en-US"/>
          </a:p>
        </p:txBody>
      </p:sp>
    </p:spTree>
    <p:extLst>
      <p:ext uri="{BB962C8B-B14F-4D97-AF65-F5344CB8AC3E}">
        <p14:creationId xmlns:p14="http://schemas.microsoft.com/office/powerpoint/2010/main" val="18740593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work before crash</a:t>
            </a:r>
          </a:p>
        </p:txBody>
      </p:sp>
      <p:sp>
        <p:nvSpPr>
          <p:cNvPr id="4" name="Slide Number Placeholder 3"/>
          <p:cNvSpPr>
            <a:spLocks noGrp="1"/>
          </p:cNvSpPr>
          <p:nvPr>
            <p:ph type="sldNum" sz="quarter" idx="5"/>
          </p:nvPr>
        </p:nvSpPr>
        <p:spPr/>
        <p:txBody>
          <a:bodyPr/>
          <a:lstStyle/>
          <a:p>
            <a:fld id="{B5410A09-9387-429E-8A69-75A41F983EFC}" type="slidenum">
              <a:rPr lang="en-US" smtClean="0"/>
              <a:t>116</a:t>
            </a:fld>
            <a:endParaRPr lang="en-US"/>
          </a:p>
        </p:txBody>
      </p:sp>
    </p:spTree>
    <p:extLst>
      <p:ext uri="{BB962C8B-B14F-4D97-AF65-F5344CB8AC3E}">
        <p14:creationId xmlns:p14="http://schemas.microsoft.com/office/powerpoint/2010/main" val="1697558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sz="1200" b="0" i="0">
                <a:solidFill>
                  <a:srgbClr val="3333B2"/>
                </a:solidFill>
                <a:latin typeface="Arial"/>
                <a:cs typeface="Arial"/>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7" name="bg object 17"/>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200" b="0" i="0">
                <a:solidFill>
                  <a:srgbClr val="3333B2"/>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3333B2"/>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2/3/2025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3333B2"/>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2/3/2025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2/3/2025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sz="1200" b="0" i="0">
                <a:solidFill>
                  <a:srgbClr val="3333B2"/>
                </a:solidFill>
                <a:latin typeface="Arial"/>
                <a:cs typeface="Arial"/>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051417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7" name="bg object 17"/>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200" b="0" i="0">
                <a:solidFill>
                  <a:srgbClr val="3333B2"/>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7428654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3333B2"/>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2/3/2025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942942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3333B2"/>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2/3/2025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784135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2/3/2025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63872807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2" name="Holder 2"/>
          <p:cNvSpPr>
            <a:spLocks noGrp="1"/>
          </p:cNvSpPr>
          <p:nvPr>
            <p:ph type="title"/>
          </p:nvPr>
        </p:nvSpPr>
        <p:spPr>
          <a:xfrm>
            <a:off x="82600" y="197711"/>
            <a:ext cx="3009265" cy="207645"/>
          </a:xfrm>
          <a:prstGeom prst="rect">
            <a:avLst/>
          </a:prstGeom>
        </p:spPr>
        <p:txBody>
          <a:bodyPr wrap="square" lIns="0" tIns="0" rIns="0" bIns="0">
            <a:spAutoFit/>
          </a:bodyPr>
          <a:lstStyle>
            <a:lvl1pPr>
              <a:defRPr sz="1200" b="0" i="0">
                <a:solidFill>
                  <a:srgbClr val="3333B2"/>
                </a:solidFill>
                <a:latin typeface="Arial"/>
                <a:cs typeface="Arial"/>
              </a:defRPr>
            </a:lvl1pPr>
          </a:lstStyle>
          <a:p>
            <a:endParaRPr/>
          </a:p>
        </p:txBody>
      </p:sp>
      <p:sp>
        <p:nvSpPr>
          <p:cNvPr id="3" name="Holder 3"/>
          <p:cNvSpPr>
            <a:spLocks noGrp="1"/>
          </p:cNvSpPr>
          <p:nvPr>
            <p:ph type="body" idx="1"/>
          </p:nvPr>
        </p:nvSpPr>
        <p:spPr>
          <a:xfrm>
            <a:off x="1240777" y="1352880"/>
            <a:ext cx="2126615" cy="81597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2/3/2025</a:t>
            </a:fld>
            <a:endParaRPr lang="en-US"/>
          </a:p>
        </p:txBody>
      </p:sp>
      <p:sp>
        <p:nvSpPr>
          <p:cNvPr id="6" name="Holder 6"/>
          <p:cNvSpPr>
            <a:spLocks noGrp="1"/>
          </p:cNvSpPr>
          <p:nvPr>
            <p:ph type="sldNum" sz="quarter" idx="7"/>
          </p:nvPr>
        </p:nvSpPr>
        <p:spPr>
          <a:xfrm>
            <a:off x="3319272" y="3218497"/>
            <a:ext cx="1060323" cy="17303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2" name="Holder 2"/>
          <p:cNvSpPr>
            <a:spLocks noGrp="1"/>
          </p:cNvSpPr>
          <p:nvPr>
            <p:ph type="title"/>
          </p:nvPr>
        </p:nvSpPr>
        <p:spPr>
          <a:xfrm>
            <a:off x="95300" y="197711"/>
            <a:ext cx="2451100" cy="207645"/>
          </a:xfrm>
          <a:prstGeom prst="rect">
            <a:avLst/>
          </a:prstGeom>
        </p:spPr>
        <p:txBody>
          <a:bodyPr wrap="square" lIns="0" tIns="0" rIns="0" bIns="0">
            <a:spAutoFit/>
          </a:bodyPr>
          <a:lstStyle>
            <a:lvl1pPr>
              <a:defRPr sz="1200" b="0" i="0">
                <a:solidFill>
                  <a:srgbClr val="3333B2"/>
                </a:solidFill>
                <a:latin typeface="Arial"/>
                <a:cs typeface="Arial"/>
              </a:defRPr>
            </a:lvl1pPr>
          </a:lstStyle>
          <a:p>
            <a:endParaRPr/>
          </a:p>
        </p:txBody>
      </p:sp>
      <p:sp>
        <p:nvSpPr>
          <p:cNvPr id="3" name="Holder 3"/>
          <p:cNvSpPr>
            <a:spLocks noGrp="1"/>
          </p:cNvSpPr>
          <p:nvPr>
            <p:ph type="body" idx="1"/>
          </p:nvPr>
        </p:nvSpPr>
        <p:spPr>
          <a:xfrm>
            <a:off x="230505" y="795972"/>
            <a:ext cx="4149090"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2/3/2025</a:t>
            </a:fld>
            <a:endParaRPr lang="en-US"/>
          </a:p>
        </p:txBody>
      </p:sp>
      <p:sp>
        <p:nvSpPr>
          <p:cNvPr id="6" name="Holder 6"/>
          <p:cNvSpPr>
            <a:spLocks noGrp="1"/>
          </p:cNvSpPr>
          <p:nvPr>
            <p:ph type="sldNum" sz="quarter" idx="7"/>
          </p:nvPr>
        </p:nvSpPr>
        <p:spPr>
          <a:xfrm>
            <a:off x="3319272" y="3218497"/>
            <a:ext cx="1060323" cy="17303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17161814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slide" Target="slide8.xml"/></Relationships>
</file>

<file path=ppt/slides/_rels/slide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slide" Target="slide15.xml"/></Relationships>
</file>

<file path=ppt/slides/_rels/slide16.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16.xml"/></Relationships>
</file>

<file path=ppt/slides/_rels/slide17.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16.xml"/></Relationships>
</file>

<file path=ppt/slides/_rels/slide18.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16.xml"/></Relationships>
</file>

<file path=ppt/slides/_rels/slide19.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19.xml"/></Relationships>
</file>

<file path=ppt/slides/_rels/slide20.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9.xml"/></Relationships>
</file>

<file path=ppt/slides/_rels/slide21.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9.xml"/></Relationships>
</file>

<file path=ppt/slides/_rels/slide22.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19.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19.xml"/></Relationships>
</file>

<file path=ppt/slides/_rels/slide24.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9.xml"/></Relationships>
</file>

<file path=ppt/slides/_rels/slide25.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9.xml"/></Relationships>
</file>

<file path=ppt/slides/_rels/slide26.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19.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27.xml"/></Relationships>
</file>

<file path=ppt/slides/_rels/slide28.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27.xml"/></Relationships>
</file>

<file path=ppt/slides/_rels/slide29.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27.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27.xml"/></Relationships>
</file>

<file path=ppt/slides/_rels/slide31.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27.xml"/><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27.xml"/><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27.xml"/><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27.xml"/><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27.xml"/><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27.xml"/></Relationships>
</file>

<file path=ppt/slides/_rels/slide37.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27.xml"/></Relationships>
</file>

<file path=ppt/slides/_rels/slide38.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slide" Target="slide27.xml"/><Relationship Id="rId4" Type="http://schemas.openxmlformats.org/officeDocument/2006/relationships/image" Target="../media/image11.png"/></Relationships>
</file>

<file path=ppt/slides/_rels/slide39.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27.xml"/></Relationships>
</file>

<file path=ppt/slides/_rels/slide40.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27.xml"/></Relationships>
</file>

<file path=ppt/slides/_rels/slide41.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27.xml"/></Relationships>
</file>

<file path=ppt/slides/_rels/slide42.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27.xml"/></Relationships>
</file>

<file path=ppt/slides/_rels/slide43.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27.xml"/></Relationships>
</file>

<file path=ppt/slides/_rels/slide44.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27.xml"/></Relationships>
</file>

<file path=ppt/slides/_rels/slide45.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27.xml"/></Relationships>
</file>

<file path=ppt/slides/_rels/slide46.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27.xml"/></Relationships>
</file>

<file path=ppt/slides/_rels/slide47.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27.xml"/></Relationships>
</file>

<file path=ppt/slides/_rels/slide48.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27.xml"/><Relationship Id="rId4" Type="http://schemas.openxmlformats.org/officeDocument/2006/relationships/image" Target="../media/image12.png"/></Relationships>
</file>

<file path=ppt/slides/_rels/slide49.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27.xml"/><Relationship Id="rId4" Type="http://schemas.openxmlformats.org/officeDocument/2006/relationships/image" Target="../media/image13.png"/></Relationships>
</file>

<file path=ppt/slides/_rels/slide50.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27.xml"/><Relationship Id="rId4" Type="http://schemas.openxmlformats.org/officeDocument/2006/relationships/image" Target="../media/image13.png"/></Relationships>
</file>

<file path=ppt/slides/_rels/slide51.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6" Type="http://schemas.openxmlformats.org/officeDocument/2006/relationships/slide" Target="slide51.xml"/><Relationship Id="rId5" Type="http://schemas.openxmlformats.org/officeDocument/2006/relationships/image" Target="../media/image15.png"/><Relationship Id="rId4" Type="http://schemas.openxmlformats.org/officeDocument/2006/relationships/image" Target="../media/image14.png"/></Relationships>
</file>

<file path=ppt/slides/_rels/slide52.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51.xml"/></Relationships>
</file>

<file path=ppt/slides/_rels/slide53.xml.rels><?xml version="1.0" encoding="UTF-8" standalone="yes"?>
<Relationships xmlns="http://schemas.openxmlformats.org/package/2006/relationships"><Relationship Id="rId3" Type="http://schemas.openxmlformats.org/officeDocument/2006/relationships/slide" Target="slide15.xml"/><Relationship Id="rId7" Type="http://schemas.openxmlformats.org/officeDocument/2006/relationships/slide" Target="slide51.xml"/><Relationship Id="rId2" Type="http://schemas.openxmlformats.org/officeDocument/2006/relationships/slide" Target="slide2.xml"/><Relationship Id="rId1" Type="http://schemas.openxmlformats.org/officeDocument/2006/relationships/slideLayout" Target="../slideLayouts/slideLayout5.xml"/><Relationship Id="rId6" Type="http://schemas.openxmlformats.org/officeDocument/2006/relationships/image" Target="../media/image18.jpg"/><Relationship Id="rId5" Type="http://schemas.openxmlformats.org/officeDocument/2006/relationships/image" Target="../media/image17.jpg"/><Relationship Id="rId4" Type="http://schemas.openxmlformats.org/officeDocument/2006/relationships/image" Target="../media/image16.jpg"/></Relationships>
</file>

<file path=ppt/slides/_rels/slide54.xml.rels><?xml version="1.0" encoding="UTF-8" standalone="yes"?>
<Relationships xmlns="http://schemas.openxmlformats.org/package/2006/relationships"><Relationship Id="rId3" Type="http://schemas.openxmlformats.org/officeDocument/2006/relationships/slide" Target="slide15.xml"/><Relationship Id="rId7" Type="http://schemas.openxmlformats.org/officeDocument/2006/relationships/slide" Target="slide51.xml"/><Relationship Id="rId2" Type="http://schemas.openxmlformats.org/officeDocument/2006/relationships/slide" Target="slide2.xml"/><Relationship Id="rId1" Type="http://schemas.openxmlformats.org/officeDocument/2006/relationships/slideLayout" Target="../slideLayouts/slideLayout5.xml"/><Relationship Id="rId6" Type="http://schemas.openxmlformats.org/officeDocument/2006/relationships/image" Target="../media/image20.jpg"/><Relationship Id="rId5" Type="http://schemas.openxmlformats.org/officeDocument/2006/relationships/image" Target="../media/image19.jpg"/><Relationship Id="rId4" Type="http://schemas.openxmlformats.org/officeDocument/2006/relationships/image" Target="../media/image16.jpg"/></Relationships>
</file>

<file path=ppt/slides/_rels/slide55.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51.xml"/></Relationships>
</file>

<file path=ppt/slides/_rels/slide56.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51.xml"/><Relationship Id="rId4" Type="http://schemas.openxmlformats.org/officeDocument/2006/relationships/image" Target="../media/image21.png"/></Relationships>
</file>

<file path=ppt/slides/_rels/slide57.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51.xml"/><Relationship Id="rId4" Type="http://schemas.openxmlformats.org/officeDocument/2006/relationships/image" Target="../media/image21.png"/></Relationships>
</file>

<file path=ppt/slides/_rels/slide58.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51.xml"/><Relationship Id="rId4" Type="http://schemas.openxmlformats.org/officeDocument/2006/relationships/image" Target="../media/image21.png"/></Relationships>
</file>

<file path=ppt/slides/_rels/slide59.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51.xml"/><Relationship Id="rId4" Type="http://schemas.openxmlformats.org/officeDocument/2006/relationships/image" Target="../media/image21.png"/></Relationships>
</file>

<file path=ppt/slides/_rels/slide60.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51.xml"/></Relationships>
</file>

<file path=ppt/slides/_rels/slide61.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61.xml"/></Relationships>
</file>

<file path=ppt/slides/_rels/slide62.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61.xml"/><Relationship Id="rId4" Type="http://schemas.openxmlformats.org/officeDocument/2006/relationships/image" Target="../media/image22.png"/></Relationships>
</file>

<file path=ppt/slides/_rels/slide63.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61.xml"/></Relationships>
</file>

<file path=ppt/slides/_rels/slide64.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61.xml"/></Relationships>
</file>

<file path=ppt/slides/_rels/slide65.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61.xml"/></Relationships>
</file>

<file path=ppt/slides/_rels/slide66.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66.xml"/></Relationships>
</file>

<file path=ppt/slides/_rels/slide67.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66.xml"/></Relationships>
</file>

<file path=ppt/slides/_rels/slide68.xml.rels><?xml version="1.0" encoding="UTF-8" standalone="yes"?>
<Relationships xmlns="http://schemas.openxmlformats.org/package/2006/relationships"><Relationship Id="rId3" Type="http://schemas.openxmlformats.org/officeDocument/2006/relationships/slide" Target="slide68.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3" Type="http://schemas.openxmlformats.org/officeDocument/2006/relationships/slide" Target="slide68.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slide" Target="slide68.xml"/><Relationship Id="rId2" Type="http://schemas.openxmlformats.org/officeDocument/2006/relationships/slide" Target="slide2.xml"/><Relationship Id="rId1" Type="http://schemas.openxmlformats.org/officeDocument/2006/relationships/slideLayout" Target="../slideLayouts/slideLayout5.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71.xml.rels><?xml version="1.0" encoding="UTF-8" standalone="yes"?>
<Relationships xmlns="http://schemas.openxmlformats.org/package/2006/relationships"><Relationship Id="rId3" Type="http://schemas.openxmlformats.org/officeDocument/2006/relationships/slide" Target="slide68.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slide" Target="slide68.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7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slide" Target="slide68.xml"/></Relationships>
</file>

<file path=ppt/slides/_rels/slide7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slide" Target="slide68.xml"/></Relationships>
</file>

<file path=ppt/slides/_rels/slide75.xml.rels><?xml version="1.0" encoding="UTF-8" standalone="yes"?>
<Relationships xmlns="http://schemas.openxmlformats.org/package/2006/relationships"><Relationship Id="rId3" Type="http://schemas.openxmlformats.org/officeDocument/2006/relationships/slide" Target="slide75.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image" Target="../media/image27.jpg"/></Relationships>
</file>

<file path=ppt/slides/_rels/slide76.xml.rels><?xml version="1.0" encoding="UTF-8" standalone="yes"?>
<Relationships xmlns="http://schemas.openxmlformats.org/package/2006/relationships"><Relationship Id="rId3" Type="http://schemas.openxmlformats.org/officeDocument/2006/relationships/slide" Target="slide75.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slide" Target="slide75.xml"/></Relationships>
</file>

<file path=ppt/slides/_rels/slide7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slide" Target="slide75.xml"/></Relationships>
</file>

<file path=ppt/slides/_rels/slide7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slide" Target="slide75.xml"/></Relationships>
</file>

<file path=ppt/slides/_rels/slide8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slide" Target="slide75.xml"/></Relationships>
</file>

<file path=ppt/slides/_rels/slide8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slide" Target="slide75.xml"/></Relationships>
</file>

<file path=ppt/slides/_rels/slide8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slide" Target="slide75.xml"/></Relationships>
</file>

<file path=ppt/slides/_rels/slide8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slide" Target="slide75.xml"/></Relationships>
</file>

<file path=ppt/slides/_rels/slide8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slide" Target="slide75.xml"/></Relationships>
</file>

<file path=ppt/slides/_rels/slide8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slide" Target="slide75.xml"/></Relationships>
</file>

<file path=ppt/slides/_rels/slide8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slide" Target="slide75.xml"/></Relationships>
</file>

<file path=ppt/slides/_rels/slide87.xml.rels><?xml version="1.0" encoding="UTF-8" standalone="yes"?>
<Relationships xmlns="http://schemas.openxmlformats.org/package/2006/relationships"><Relationship Id="rId3" Type="http://schemas.openxmlformats.org/officeDocument/2006/relationships/slide" Target="slide87.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slide" Target="slide87.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slide" Target="slide87.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image" Target="../media/image36.jpg"/><Relationship Id="rId4" Type="http://schemas.openxmlformats.org/officeDocument/2006/relationships/image" Target="../media/image35.jpg"/></Relationships>
</file>

<file path=ppt/slides/_rels/slide90.xml.rels><?xml version="1.0" encoding="UTF-8" standalone="yes"?>
<Relationships xmlns="http://schemas.openxmlformats.org/package/2006/relationships"><Relationship Id="rId3" Type="http://schemas.openxmlformats.org/officeDocument/2006/relationships/slide" Target="slide87.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3" Type="http://schemas.openxmlformats.org/officeDocument/2006/relationships/slide" Target="slide87.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3" Type="http://schemas.openxmlformats.org/officeDocument/2006/relationships/slide" Target="slide87.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3" Type="http://schemas.openxmlformats.org/officeDocument/2006/relationships/slide" Target="slide87.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3" Type="http://schemas.openxmlformats.org/officeDocument/2006/relationships/slide" Target="slide87.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slide" Target="slide87.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slide" Target="slide87.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slide" Target="slide87.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3" Type="http://schemas.openxmlformats.org/officeDocument/2006/relationships/slide" Target="slide87.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slide" Target="slide99.xml"/></Relationships>
</file>

<file path=ppt/slides/_rels/slide100.xml.rels><?xml version="1.0" encoding="UTF-8" standalone="yes"?>
<Relationships xmlns="http://schemas.openxmlformats.org/package/2006/relationships"><Relationship Id="rId3" Type="http://schemas.openxmlformats.org/officeDocument/2006/relationships/slide" Target="slide99.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100.xml"/><Relationship Id="rId4" Type="http://schemas.openxmlformats.org/officeDocument/2006/relationships/image" Target="../media/image37.png"/></Relationships>
</file>

<file path=ppt/slides/_rels/slide101.xml.rels><?xml version="1.0" encoding="UTF-8" standalone="yes"?>
<Relationships xmlns="http://schemas.openxmlformats.org/package/2006/relationships"><Relationship Id="rId3" Type="http://schemas.openxmlformats.org/officeDocument/2006/relationships/slide" Target="slide99.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00.xml"/></Relationships>
</file>

<file path=ppt/slides/_rels/slide102.xml.rels><?xml version="1.0" encoding="UTF-8" standalone="yes"?>
<Relationships xmlns="http://schemas.openxmlformats.org/package/2006/relationships"><Relationship Id="rId3" Type="http://schemas.openxmlformats.org/officeDocument/2006/relationships/slide" Target="slide99.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00.xml"/></Relationships>
</file>

<file path=ppt/slides/_rels/slide103.xml.rels><?xml version="1.0" encoding="UTF-8" standalone="yes"?>
<Relationships xmlns="http://schemas.openxmlformats.org/package/2006/relationships"><Relationship Id="rId3" Type="http://schemas.openxmlformats.org/officeDocument/2006/relationships/slide" Target="slide99.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00.xml"/></Relationships>
</file>

<file path=ppt/slides/_rels/slide104.xml.rels><?xml version="1.0" encoding="UTF-8" standalone="yes"?>
<Relationships xmlns="http://schemas.openxmlformats.org/package/2006/relationships"><Relationship Id="rId3" Type="http://schemas.openxmlformats.org/officeDocument/2006/relationships/slide" Target="slide99.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00.xml"/></Relationships>
</file>

<file path=ppt/slides/_rels/slide105.xml.rels><?xml version="1.0" encoding="UTF-8" standalone="yes"?>
<Relationships xmlns="http://schemas.openxmlformats.org/package/2006/relationships"><Relationship Id="rId3" Type="http://schemas.openxmlformats.org/officeDocument/2006/relationships/slide" Target="slide99.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00.xml"/></Relationships>
</file>

<file path=ppt/slides/_rels/slide106.xml.rels><?xml version="1.0" encoding="UTF-8" standalone="yes"?>
<Relationships xmlns="http://schemas.openxmlformats.org/package/2006/relationships"><Relationship Id="rId3" Type="http://schemas.openxmlformats.org/officeDocument/2006/relationships/slide" Target="slide99.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100.xml"/><Relationship Id="rId4" Type="http://schemas.openxmlformats.org/officeDocument/2006/relationships/image" Target="../media/image38.png"/></Relationships>
</file>

<file path=ppt/slides/_rels/slide107.xml.rels><?xml version="1.0" encoding="UTF-8" standalone="yes"?>
<Relationships xmlns="http://schemas.openxmlformats.org/package/2006/relationships"><Relationship Id="rId3" Type="http://schemas.openxmlformats.org/officeDocument/2006/relationships/slide" Target="slide99.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00.xml"/></Relationships>
</file>

<file path=ppt/slides/_rels/slide108.xml.rels><?xml version="1.0" encoding="UTF-8" standalone="yes"?>
<Relationships xmlns="http://schemas.openxmlformats.org/package/2006/relationships"><Relationship Id="rId3" Type="http://schemas.openxmlformats.org/officeDocument/2006/relationships/slide" Target="slide99.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00.xml"/></Relationships>
</file>

<file path=ppt/slides/_rels/slide109.xml.rels><?xml version="1.0" encoding="UTF-8" standalone="yes"?>
<Relationships xmlns="http://schemas.openxmlformats.org/package/2006/relationships"><Relationship Id="rId3" Type="http://schemas.openxmlformats.org/officeDocument/2006/relationships/slide" Target="slide99.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00.xml"/></Relationships>
</file>

<file path=ppt/slides/_rels/slide110.xml.rels><?xml version="1.0" encoding="UTF-8" standalone="yes"?>
<Relationships xmlns="http://schemas.openxmlformats.org/package/2006/relationships"><Relationship Id="rId3" Type="http://schemas.openxmlformats.org/officeDocument/2006/relationships/slide" Target="slide99.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00.xml"/></Relationships>
</file>

<file path=ppt/slides/_rels/slide111.xml.rels><?xml version="1.0" encoding="UTF-8" standalone="yes"?>
<Relationships xmlns="http://schemas.openxmlformats.org/package/2006/relationships"><Relationship Id="rId3" Type="http://schemas.openxmlformats.org/officeDocument/2006/relationships/slide" Target="slide99.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00.xml"/></Relationships>
</file>

<file path=ppt/slides/_rels/slide112.xml.rels><?xml version="1.0" encoding="UTF-8" standalone="yes"?>
<Relationships xmlns="http://schemas.openxmlformats.org/package/2006/relationships"><Relationship Id="rId3" Type="http://schemas.openxmlformats.org/officeDocument/2006/relationships/slide" Target="slide99.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00.xml"/></Relationships>
</file>

<file path=ppt/slides/_rels/slide113.xml.rels><?xml version="1.0" encoding="UTF-8" standalone="yes"?>
<Relationships xmlns="http://schemas.openxmlformats.org/package/2006/relationships"><Relationship Id="rId3" Type="http://schemas.openxmlformats.org/officeDocument/2006/relationships/slide" Target="slide99.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13.xml"/></Relationships>
</file>

<file path=ppt/slides/_rels/slide114.xml.rels><?xml version="1.0" encoding="UTF-8" standalone="yes"?>
<Relationships xmlns="http://schemas.openxmlformats.org/package/2006/relationships"><Relationship Id="rId3" Type="http://schemas.openxmlformats.org/officeDocument/2006/relationships/slide" Target="slide99.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113.xml"/><Relationship Id="rId4" Type="http://schemas.openxmlformats.org/officeDocument/2006/relationships/image" Target="../media/image39.png"/></Relationships>
</file>

<file path=ppt/slides/_rels/slide115.xml.rels><?xml version="1.0" encoding="UTF-8" standalone="yes"?>
<Relationships xmlns="http://schemas.openxmlformats.org/package/2006/relationships"><Relationship Id="rId3" Type="http://schemas.openxmlformats.org/officeDocument/2006/relationships/slide" Target="slide99.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13.xml"/></Relationships>
</file>

<file path=ppt/slides/_rels/slide11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6.xml"/><Relationship Id="rId1" Type="http://schemas.openxmlformats.org/officeDocument/2006/relationships/slideLayout" Target="../slideLayouts/slideLayout5.xml"/><Relationship Id="rId5" Type="http://schemas.openxmlformats.org/officeDocument/2006/relationships/slide" Target="slide113.xml"/><Relationship Id="rId4" Type="http://schemas.openxmlformats.org/officeDocument/2006/relationships/slide" Target="slide99.xml"/></Relationships>
</file>

<file path=ppt/slides/_rels/slide117.xml.rels><?xml version="1.0" encoding="UTF-8" standalone="yes"?>
<Relationships xmlns="http://schemas.openxmlformats.org/package/2006/relationships"><Relationship Id="rId3" Type="http://schemas.openxmlformats.org/officeDocument/2006/relationships/slide" Target="slide99.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1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4459" y="1196975"/>
            <a:ext cx="2819400" cy="573234"/>
          </a:xfrm>
          <a:prstGeom prst="rect">
            <a:avLst/>
          </a:prstGeom>
        </p:spPr>
        <p:txBody>
          <a:bodyPr vert="horz" wrap="square" lIns="0" tIns="140970" rIns="0" bIns="0" rtlCol="0">
            <a:spAutoFit/>
          </a:bodyPr>
          <a:lstStyle/>
          <a:p>
            <a:pPr marL="0" marR="0" lvl="0" indent="0" algn="ctr" defTabSz="914400" eaLnBrk="1" fontAlgn="auto" latinLnBrk="0" hangingPunct="1">
              <a:lnSpc>
                <a:spcPct val="100000"/>
              </a:lnSpc>
              <a:spcBef>
                <a:spcPts val="1110"/>
              </a:spcBef>
              <a:spcAft>
                <a:spcPts val="0"/>
              </a:spcAft>
              <a:buClrTx/>
              <a:buSzTx/>
              <a:buFontTx/>
              <a:buNone/>
              <a:tabLst/>
              <a:defRPr/>
            </a:pPr>
            <a:r>
              <a:rPr kumimoji="0" lang="en-US" sz="1400" b="1" i="0" u="none" strike="noStrike" kern="0" cap="none" spc="0" normalizeH="0" baseline="0" noProof="0" dirty="0">
                <a:ln>
                  <a:noFill/>
                </a:ln>
                <a:solidFill>
                  <a:srgbClr val="3333B2"/>
                </a:solidFill>
                <a:effectLst/>
                <a:uLnTx/>
                <a:uFillTx/>
                <a:latin typeface="Arial"/>
                <a:cs typeface="Arial"/>
              </a:rPr>
              <a:t>CSC334 - Parallel &amp; </a:t>
            </a:r>
            <a:r>
              <a:rPr kumimoji="0" sz="1400" b="1" i="0" u="none" strike="noStrike" kern="0" cap="none" spc="0" normalizeH="0" baseline="0" noProof="0" dirty="0">
                <a:ln>
                  <a:noFill/>
                </a:ln>
                <a:solidFill>
                  <a:srgbClr val="3333B2"/>
                </a:solidFill>
                <a:effectLst/>
                <a:uLnTx/>
                <a:uFillTx/>
                <a:latin typeface="Arial"/>
                <a:cs typeface="Arial"/>
              </a:rPr>
              <a:t>Distributed</a:t>
            </a:r>
            <a:r>
              <a:rPr kumimoji="0" sz="1400" b="1" i="0" u="none" strike="noStrike" kern="0" cap="none" spc="120" normalizeH="0" baseline="0" noProof="0" dirty="0">
                <a:ln>
                  <a:noFill/>
                </a:ln>
                <a:solidFill>
                  <a:srgbClr val="3333B2"/>
                </a:solidFill>
                <a:effectLst/>
                <a:uLnTx/>
                <a:uFillTx/>
                <a:latin typeface="Arial"/>
                <a:cs typeface="Arial"/>
              </a:rPr>
              <a:t> </a:t>
            </a:r>
            <a:r>
              <a:rPr kumimoji="0" lang="en-US" sz="1400" b="1" i="0" u="none" strike="noStrike" kern="0" cap="none" spc="-10" normalizeH="0" baseline="0" noProof="0" dirty="0">
                <a:ln>
                  <a:noFill/>
                </a:ln>
                <a:solidFill>
                  <a:srgbClr val="3333B2"/>
                </a:solidFill>
                <a:effectLst/>
                <a:uLnTx/>
                <a:uFillTx/>
                <a:latin typeface="Arial"/>
                <a:cs typeface="Arial"/>
              </a:rPr>
              <a:t>Computing</a:t>
            </a:r>
            <a:endParaRPr kumimoji="0" sz="1400" b="0" i="0" u="none" strike="noStrike" kern="0" cap="none" spc="0" normalizeH="0" baseline="0" noProof="0" dirty="0">
              <a:ln>
                <a:noFill/>
              </a:ln>
              <a:solidFill>
                <a:sysClr val="windowText" lastClr="000000"/>
              </a:solidFill>
              <a:effectLst/>
              <a:uLnTx/>
              <a:uFillTx/>
              <a:latin typeface="Arial"/>
              <a:cs typeface="Arial"/>
            </a:endParaRPr>
          </a:p>
        </p:txBody>
      </p:sp>
      <p:sp>
        <p:nvSpPr>
          <p:cNvPr id="3" name="object 3"/>
          <p:cNvSpPr txBox="1"/>
          <p:nvPr/>
        </p:nvSpPr>
        <p:spPr>
          <a:xfrm>
            <a:off x="894459" y="2720975"/>
            <a:ext cx="3048000" cy="232756"/>
          </a:xfrm>
          <a:prstGeom prst="rect">
            <a:avLst/>
          </a:prstGeom>
        </p:spPr>
        <p:txBody>
          <a:bodyPr vert="horz" wrap="square" lIns="0" tIns="17145" rIns="0" bIns="0" rtlCol="0">
            <a:spAutoFit/>
          </a:bodyPr>
          <a:lstStyle/>
          <a:p>
            <a:pPr marL="12700" marR="0" lvl="0" indent="0" algn="l" defTabSz="914400" eaLnBrk="1" fontAlgn="auto" latinLnBrk="0" hangingPunct="1">
              <a:lnSpc>
                <a:spcPct val="100000"/>
              </a:lnSpc>
              <a:spcBef>
                <a:spcPts val="135"/>
              </a:spcBef>
              <a:spcAft>
                <a:spcPts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latin typeface="Arial"/>
                <a:cs typeface="Arial"/>
              </a:rPr>
              <a:t>Mr. Aoun Haider, Ms. Muntaha Amjad</a:t>
            </a:r>
          </a:p>
        </p:txBody>
      </p:sp>
      <p:pic>
        <p:nvPicPr>
          <p:cNvPr id="5" name="Picture 4">
            <a:extLst>
              <a:ext uri="{FF2B5EF4-FFF2-40B4-BE49-F238E27FC236}">
                <a16:creationId xmlns:a16="http://schemas.microsoft.com/office/drawing/2014/main" id="{5E8DB585-3963-CA43-FDEC-0C7B8A8CDD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1650" y="206375"/>
            <a:ext cx="866509" cy="865384"/>
          </a:xfrm>
          <a:prstGeom prst="rect">
            <a:avLst/>
          </a:prstGeom>
        </p:spPr>
      </p:pic>
      <p:sp>
        <p:nvSpPr>
          <p:cNvPr id="4" name="object 2">
            <a:extLst>
              <a:ext uri="{FF2B5EF4-FFF2-40B4-BE49-F238E27FC236}">
                <a16:creationId xmlns:a16="http://schemas.microsoft.com/office/drawing/2014/main" id="{9E91E2BF-A6A0-AC80-E93D-ED3E8CF1D086}"/>
              </a:ext>
            </a:extLst>
          </p:cNvPr>
          <p:cNvSpPr txBox="1"/>
          <p:nvPr/>
        </p:nvSpPr>
        <p:spPr>
          <a:xfrm>
            <a:off x="952055" y="1933968"/>
            <a:ext cx="2761804" cy="311624"/>
          </a:xfrm>
          <a:prstGeom prst="rect">
            <a:avLst/>
          </a:prstGeom>
        </p:spPr>
        <p:txBody>
          <a:bodyPr vert="horz" wrap="square" lIns="0" tIns="140970" rIns="0" bIns="0" rtlCol="0">
            <a:spAutoFit/>
          </a:bodyPr>
          <a:lstStyle/>
          <a:p>
            <a:pPr marL="0" marR="0" lvl="0" indent="0" algn="ctr" defTabSz="914400" eaLnBrk="1" fontAlgn="auto" latinLnBrk="0" hangingPunct="1">
              <a:lnSpc>
                <a:spcPct val="100000"/>
              </a:lnSpc>
              <a:spcBef>
                <a:spcPts val="1110"/>
              </a:spcBef>
              <a:spcAft>
                <a:spcPts val="0"/>
              </a:spcAft>
              <a:buClrTx/>
              <a:buSzTx/>
              <a:buFontTx/>
              <a:buNone/>
              <a:tabLst/>
              <a:defRPr/>
            </a:pPr>
            <a:r>
              <a:rPr kumimoji="0" lang="en-US" sz="1100" b="1" i="1" u="none" strike="noStrike" kern="0" cap="none" spc="0" normalizeH="0" baseline="0" noProof="0" dirty="0">
                <a:ln>
                  <a:noFill/>
                </a:ln>
                <a:solidFill>
                  <a:srgbClr val="EEECE1">
                    <a:lumMod val="50000"/>
                  </a:srgbClr>
                </a:solidFill>
                <a:effectLst/>
                <a:uLnTx/>
                <a:uFillTx/>
                <a:latin typeface="Arial"/>
                <a:cs typeface="Arial"/>
              </a:rPr>
              <a:t>Chapter 8: </a:t>
            </a:r>
            <a:r>
              <a:rPr lang="en-US" sz="1100" b="1" i="1" dirty="0">
                <a:solidFill>
                  <a:srgbClr val="EEECE1">
                    <a:lumMod val="50000"/>
                  </a:srgbClr>
                </a:solidFill>
                <a:latin typeface="Arial"/>
                <a:cs typeface="Arial"/>
              </a:rPr>
              <a:t>Fault Tolerance</a:t>
            </a:r>
            <a:endParaRPr kumimoji="0" sz="1100" b="0" i="1" u="none" strike="noStrike" kern="0" cap="none" spc="0" normalizeH="0" baseline="0" noProof="0" dirty="0">
              <a:ln>
                <a:noFill/>
              </a:ln>
              <a:solidFill>
                <a:srgbClr val="EEECE1">
                  <a:lumMod val="50000"/>
                </a:srgbClr>
              </a:solidFill>
              <a:effectLst/>
              <a:uLnTx/>
              <a:uFillTx/>
              <a:latin typeface="Arial"/>
              <a:cs typeface="Arial"/>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674745"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2" action="ppaction://hlinksldjump"/>
              </a:rPr>
              <a:t>Introduction</a:t>
            </a:r>
            <a:r>
              <a:rPr sz="500" spc="-25" dirty="0">
                <a:solidFill>
                  <a:srgbClr val="FFFFFF"/>
                </a:solidFill>
                <a:latin typeface="Arial"/>
                <a:cs typeface="Arial"/>
                <a:hlinkClick r:id="rId2" action="ppaction://hlinksldjump"/>
              </a:rPr>
              <a:t> </a:t>
            </a:r>
            <a:r>
              <a:rPr sz="500" dirty="0">
                <a:solidFill>
                  <a:srgbClr val="FFFFFF"/>
                </a:solidFill>
                <a:latin typeface="Arial"/>
                <a:cs typeface="Arial"/>
                <a:hlinkClick r:id="rId2" action="ppaction://hlinksldjump"/>
              </a:rPr>
              <a:t>to</a:t>
            </a:r>
            <a:r>
              <a:rPr sz="500" spc="-25" dirty="0">
                <a:solidFill>
                  <a:srgbClr val="FFFFFF"/>
                </a:solidFill>
                <a:latin typeface="Arial"/>
                <a:cs typeface="Arial"/>
                <a:hlinkClick r:id="rId2" action="ppaction://hlinksldjump"/>
              </a:rPr>
              <a:t> </a:t>
            </a:r>
            <a:r>
              <a:rPr sz="500" dirty="0">
                <a:solidFill>
                  <a:srgbClr val="FFFFFF"/>
                </a:solidFill>
                <a:latin typeface="Arial"/>
                <a:cs typeface="Arial"/>
                <a:hlinkClick r:id="rId2" action="ppaction://hlinksldjump"/>
              </a:rPr>
              <a:t>fault</a:t>
            </a:r>
            <a:r>
              <a:rPr sz="500" spc="-2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tolerance</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spc="-10" dirty="0"/>
              <a:t>Dependability</a:t>
            </a:r>
          </a:p>
        </p:txBody>
      </p:sp>
      <p:sp>
        <p:nvSpPr>
          <p:cNvPr id="4" name="object 4"/>
          <p:cNvSpPr txBox="1"/>
          <p:nvPr/>
        </p:nvSpPr>
        <p:spPr>
          <a:xfrm>
            <a:off x="330847" y="499476"/>
            <a:ext cx="3942715" cy="1233805"/>
          </a:xfrm>
          <a:prstGeom prst="rect">
            <a:avLst/>
          </a:prstGeom>
        </p:spPr>
        <p:txBody>
          <a:bodyPr vert="horz" wrap="square" lIns="0" tIns="27305" rIns="0" bIns="0" rtlCol="0">
            <a:spAutoFit/>
          </a:bodyPr>
          <a:lstStyle/>
          <a:p>
            <a:pPr marL="28575">
              <a:lnSpc>
                <a:spcPct val="100000"/>
              </a:lnSpc>
              <a:spcBef>
                <a:spcPts val="215"/>
              </a:spcBef>
            </a:pPr>
            <a:r>
              <a:rPr sz="1000" spc="-10" dirty="0">
                <a:solidFill>
                  <a:srgbClr val="3333B2"/>
                </a:solidFill>
                <a:latin typeface="Arial"/>
                <a:cs typeface="Arial"/>
              </a:rPr>
              <a:t>Basics</a:t>
            </a:r>
            <a:endParaRPr sz="1000">
              <a:latin typeface="Arial"/>
              <a:cs typeface="Arial"/>
            </a:endParaRPr>
          </a:p>
          <a:p>
            <a:pPr marL="28575" marR="17780" indent="-3810" algn="just">
              <a:lnSpc>
                <a:spcPts val="1210"/>
              </a:lnSpc>
              <a:spcBef>
                <a:spcPts val="35"/>
              </a:spcBef>
            </a:pPr>
            <a:r>
              <a:rPr sz="900" dirty="0">
                <a:latin typeface="Arial"/>
                <a:cs typeface="Arial"/>
              </a:rPr>
              <a:t>A</a:t>
            </a:r>
            <a:r>
              <a:rPr sz="900" spc="-50" dirty="0">
                <a:latin typeface="Arial"/>
                <a:cs typeface="Arial"/>
              </a:rPr>
              <a:t> </a:t>
            </a:r>
            <a:r>
              <a:rPr sz="900" spc="-10" dirty="0">
                <a:solidFill>
                  <a:srgbClr val="3333B2"/>
                </a:solidFill>
                <a:latin typeface="Arial"/>
                <a:cs typeface="Arial"/>
              </a:rPr>
              <a:t>component</a:t>
            </a:r>
            <a:r>
              <a:rPr sz="900" spc="-15" dirty="0">
                <a:solidFill>
                  <a:srgbClr val="3333B2"/>
                </a:solidFill>
                <a:latin typeface="Arial"/>
                <a:cs typeface="Arial"/>
              </a:rPr>
              <a:t> </a:t>
            </a:r>
            <a:r>
              <a:rPr sz="900" spc="-10" dirty="0">
                <a:latin typeface="Arial"/>
                <a:cs typeface="Arial"/>
              </a:rPr>
              <a:t>provides</a:t>
            </a:r>
            <a:r>
              <a:rPr sz="900" spc="-15" dirty="0">
                <a:latin typeface="Arial"/>
                <a:cs typeface="Arial"/>
              </a:rPr>
              <a:t> </a:t>
            </a:r>
            <a:r>
              <a:rPr sz="900" dirty="0">
                <a:solidFill>
                  <a:srgbClr val="3333B2"/>
                </a:solidFill>
                <a:latin typeface="Arial"/>
                <a:cs typeface="Arial"/>
              </a:rPr>
              <a:t>services</a:t>
            </a:r>
            <a:r>
              <a:rPr sz="900" spc="-15" dirty="0">
                <a:solidFill>
                  <a:srgbClr val="3333B2"/>
                </a:solidFill>
                <a:latin typeface="Arial"/>
                <a:cs typeface="Arial"/>
              </a:rPr>
              <a:t> </a:t>
            </a:r>
            <a:r>
              <a:rPr sz="900" dirty="0">
                <a:latin typeface="Arial"/>
                <a:cs typeface="Arial"/>
              </a:rPr>
              <a:t>to</a:t>
            </a:r>
            <a:r>
              <a:rPr sz="900" spc="-15" dirty="0">
                <a:latin typeface="Arial"/>
                <a:cs typeface="Arial"/>
              </a:rPr>
              <a:t> </a:t>
            </a:r>
            <a:r>
              <a:rPr sz="900" dirty="0">
                <a:solidFill>
                  <a:srgbClr val="3333B2"/>
                </a:solidFill>
                <a:latin typeface="Arial"/>
                <a:cs typeface="Arial"/>
              </a:rPr>
              <a:t>clients</a:t>
            </a:r>
            <a:r>
              <a:rPr sz="900" dirty="0">
                <a:latin typeface="Arial"/>
                <a:cs typeface="Arial"/>
              </a:rPr>
              <a:t>.</a:t>
            </a:r>
            <a:r>
              <a:rPr sz="900" spc="45" dirty="0">
                <a:latin typeface="Arial"/>
                <a:cs typeface="Arial"/>
              </a:rPr>
              <a:t> </a:t>
            </a:r>
            <a:r>
              <a:rPr sz="900" spc="-80" dirty="0">
                <a:latin typeface="Arial"/>
                <a:cs typeface="Arial"/>
              </a:rPr>
              <a:t>To</a:t>
            </a:r>
            <a:r>
              <a:rPr sz="900" spc="15" dirty="0">
                <a:latin typeface="Arial"/>
                <a:cs typeface="Arial"/>
              </a:rPr>
              <a:t> </a:t>
            </a:r>
            <a:r>
              <a:rPr sz="900" spc="-10" dirty="0">
                <a:latin typeface="Arial"/>
                <a:cs typeface="Arial"/>
              </a:rPr>
              <a:t>provide</a:t>
            </a:r>
            <a:r>
              <a:rPr sz="900" spc="-15" dirty="0">
                <a:latin typeface="Arial"/>
                <a:cs typeface="Arial"/>
              </a:rPr>
              <a:t> </a:t>
            </a:r>
            <a:r>
              <a:rPr sz="900" spc="-10" dirty="0">
                <a:latin typeface="Arial"/>
                <a:cs typeface="Arial"/>
              </a:rPr>
              <a:t>services,</a:t>
            </a:r>
            <a:r>
              <a:rPr sz="900" spc="-15" dirty="0">
                <a:latin typeface="Arial"/>
                <a:cs typeface="Arial"/>
              </a:rPr>
              <a:t> </a:t>
            </a:r>
            <a:r>
              <a:rPr sz="900" dirty="0">
                <a:latin typeface="Arial"/>
                <a:cs typeface="Arial"/>
              </a:rPr>
              <a:t>the</a:t>
            </a:r>
            <a:r>
              <a:rPr sz="900" spc="-15" dirty="0">
                <a:latin typeface="Arial"/>
                <a:cs typeface="Arial"/>
              </a:rPr>
              <a:t> </a:t>
            </a:r>
            <a:r>
              <a:rPr sz="900" spc="-10" dirty="0">
                <a:latin typeface="Arial"/>
                <a:cs typeface="Arial"/>
              </a:rPr>
              <a:t>component may</a:t>
            </a:r>
            <a:r>
              <a:rPr sz="900" spc="-55" dirty="0">
                <a:latin typeface="Arial"/>
                <a:cs typeface="Arial"/>
              </a:rPr>
              <a:t> </a:t>
            </a:r>
            <a:r>
              <a:rPr sz="900" dirty="0">
                <a:latin typeface="Arial"/>
                <a:cs typeface="Arial"/>
              </a:rPr>
              <a:t>require</a:t>
            </a:r>
            <a:r>
              <a:rPr sz="900" spc="-60" dirty="0">
                <a:latin typeface="Arial"/>
                <a:cs typeface="Arial"/>
              </a:rPr>
              <a:t> </a:t>
            </a:r>
            <a:r>
              <a:rPr sz="900" dirty="0">
                <a:latin typeface="Arial"/>
                <a:cs typeface="Arial"/>
              </a:rPr>
              <a:t>the</a:t>
            </a:r>
            <a:r>
              <a:rPr sz="900" spc="-65" dirty="0">
                <a:latin typeface="Arial"/>
                <a:cs typeface="Arial"/>
              </a:rPr>
              <a:t> </a:t>
            </a:r>
            <a:r>
              <a:rPr sz="900" dirty="0">
                <a:latin typeface="Arial"/>
                <a:cs typeface="Arial"/>
              </a:rPr>
              <a:t>services</a:t>
            </a:r>
            <a:r>
              <a:rPr sz="900" spc="-55" dirty="0">
                <a:latin typeface="Arial"/>
                <a:cs typeface="Arial"/>
              </a:rPr>
              <a:t> </a:t>
            </a:r>
            <a:r>
              <a:rPr sz="900" dirty="0">
                <a:latin typeface="Arial"/>
                <a:cs typeface="Arial"/>
              </a:rPr>
              <a:t>from</a:t>
            </a:r>
            <a:r>
              <a:rPr sz="900" spc="-15" dirty="0">
                <a:latin typeface="Arial"/>
                <a:cs typeface="Arial"/>
              </a:rPr>
              <a:t> </a:t>
            </a:r>
            <a:r>
              <a:rPr sz="900" dirty="0">
                <a:latin typeface="Arial"/>
                <a:cs typeface="Arial"/>
              </a:rPr>
              <a:t>other</a:t>
            </a:r>
            <a:r>
              <a:rPr sz="900" spc="-15" dirty="0">
                <a:latin typeface="Arial"/>
                <a:cs typeface="Arial"/>
              </a:rPr>
              <a:t> </a:t>
            </a:r>
            <a:r>
              <a:rPr sz="900" spc="-10" dirty="0">
                <a:latin typeface="Arial"/>
                <a:cs typeface="Arial"/>
              </a:rPr>
              <a:t>components</a:t>
            </a:r>
            <a:r>
              <a:rPr sz="900" spc="-15" dirty="0">
                <a:latin typeface="Arial"/>
                <a:cs typeface="Arial"/>
              </a:rPr>
              <a:t> </a:t>
            </a:r>
            <a:r>
              <a:rPr sz="900" i="1" spc="185" dirty="0">
                <a:latin typeface="Menlo"/>
                <a:cs typeface="Menlo"/>
              </a:rPr>
              <a:t>⇒</a:t>
            </a:r>
            <a:r>
              <a:rPr sz="900" i="1" spc="-135" dirty="0">
                <a:latin typeface="Menlo"/>
                <a:cs typeface="Menlo"/>
              </a:rPr>
              <a:t> </a:t>
            </a:r>
            <a:r>
              <a:rPr sz="900" dirty="0">
                <a:latin typeface="Arial"/>
                <a:cs typeface="Arial"/>
              </a:rPr>
              <a:t>a</a:t>
            </a:r>
            <a:r>
              <a:rPr sz="900" spc="-15" dirty="0">
                <a:latin typeface="Arial"/>
                <a:cs typeface="Arial"/>
              </a:rPr>
              <a:t> </a:t>
            </a:r>
            <a:r>
              <a:rPr sz="900" spc="-10" dirty="0">
                <a:latin typeface="Arial"/>
                <a:cs typeface="Arial"/>
              </a:rPr>
              <a:t>component</a:t>
            </a:r>
            <a:r>
              <a:rPr sz="900" spc="-15" dirty="0">
                <a:latin typeface="Arial"/>
                <a:cs typeface="Arial"/>
              </a:rPr>
              <a:t> </a:t>
            </a:r>
            <a:r>
              <a:rPr sz="900" spc="-10" dirty="0">
                <a:latin typeface="Arial"/>
                <a:cs typeface="Arial"/>
              </a:rPr>
              <a:t>may</a:t>
            </a:r>
            <a:r>
              <a:rPr sz="900" spc="-15" dirty="0">
                <a:latin typeface="Arial"/>
                <a:cs typeface="Arial"/>
              </a:rPr>
              <a:t> </a:t>
            </a:r>
            <a:r>
              <a:rPr sz="900" spc="-10" dirty="0">
                <a:solidFill>
                  <a:srgbClr val="C80000"/>
                </a:solidFill>
                <a:latin typeface="Arial"/>
                <a:cs typeface="Arial"/>
              </a:rPr>
              <a:t>depend </a:t>
            </a:r>
            <a:r>
              <a:rPr sz="900" dirty="0">
                <a:latin typeface="Arial"/>
                <a:cs typeface="Arial"/>
              </a:rPr>
              <a:t>on</a:t>
            </a:r>
            <a:r>
              <a:rPr sz="900" spc="-25" dirty="0">
                <a:latin typeface="Arial"/>
                <a:cs typeface="Arial"/>
              </a:rPr>
              <a:t> </a:t>
            </a:r>
            <a:r>
              <a:rPr sz="900" dirty="0">
                <a:latin typeface="Arial"/>
                <a:cs typeface="Arial"/>
              </a:rPr>
              <a:t>some</a:t>
            </a:r>
            <a:r>
              <a:rPr sz="900" spc="-20" dirty="0">
                <a:latin typeface="Arial"/>
                <a:cs typeface="Arial"/>
              </a:rPr>
              <a:t> </a:t>
            </a:r>
            <a:r>
              <a:rPr sz="900" dirty="0">
                <a:latin typeface="Arial"/>
                <a:cs typeface="Arial"/>
              </a:rPr>
              <a:t>other</a:t>
            </a:r>
            <a:r>
              <a:rPr sz="900" spc="-25" dirty="0">
                <a:latin typeface="Arial"/>
                <a:cs typeface="Arial"/>
              </a:rPr>
              <a:t> </a:t>
            </a:r>
            <a:r>
              <a:rPr sz="900" spc="-10" dirty="0">
                <a:latin typeface="Arial"/>
                <a:cs typeface="Arial"/>
              </a:rPr>
              <a:t>component.</a:t>
            </a:r>
            <a:endParaRPr sz="900">
              <a:latin typeface="Arial"/>
              <a:cs typeface="Arial"/>
            </a:endParaRPr>
          </a:p>
          <a:p>
            <a:pPr marL="28575">
              <a:lnSpc>
                <a:spcPct val="100000"/>
              </a:lnSpc>
              <a:spcBef>
                <a:spcPts val="745"/>
              </a:spcBef>
            </a:pPr>
            <a:r>
              <a:rPr sz="1000" spc="-10" dirty="0">
                <a:solidFill>
                  <a:srgbClr val="3333B2"/>
                </a:solidFill>
                <a:latin typeface="Arial"/>
                <a:cs typeface="Arial"/>
              </a:rPr>
              <a:t>Specifically</a:t>
            </a:r>
            <a:endParaRPr sz="1000">
              <a:latin typeface="Arial"/>
              <a:cs typeface="Arial"/>
            </a:endParaRPr>
          </a:p>
          <a:p>
            <a:pPr marL="28575" marR="17780" indent="-3810">
              <a:lnSpc>
                <a:spcPct val="111600"/>
              </a:lnSpc>
              <a:spcBef>
                <a:spcPts val="175"/>
              </a:spcBef>
            </a:pPr>
            <a:r>
              <a:rPr sz="900" dirty="0">
                <a:latin typeface="Arial"/>
                <a:cs typeface="Arial"/>
              </a:rPr>
              <a:t>A</a:t>
            </a:r>
            <a:r>
              <a:rPr sz="900" spc="-50" dirty="0">
                <a:latin typeface="Arial"/>
                <a:cs typeface="Arial"/>
              </a:rPr>
              <a:t> </a:t>
            </a:r>
            <a:r>
              <a:rPr sz="900" dirty="0">
                <a:latin typeface="Arial"/>
                <a:cs typeface="Arial"/>
              </a:rPr>
              <a:t>component</a:t>
            </a:r>
            <a:r>
              <a:rPr sz="900" spc="-25" dirty="0">
                <a:latin typeface="Arial"/>
                <a:cs typeface="Arial"/>
              </a:rPr>
              <a:t> </a:t>
            </a:r>
            <a:r>
              <a:rPr sz="900" i="1" dirty="0">
                <a:latin typeface="Arial"/>
                <a:cs typeface="Arial"/>
              </a:rPr>
              <a:t>C</a:t>
            </a:r>
            <a:r>
              <a:rPr sz="900" i="1" spc="30" dirty="0">
                <a:latin typeface="Arial"/>
                <a:cs typeface="Arial"/>
              </a:rPr>
              <a:t> </a:t>
            </a:r>
            <a:r>
              <a:rPr sz="900" dirty="0">
                <a:latin typeface="Arial"/>
                <a:cs typeface="Arial"/>
              </a:rPr>
              <a:t>depends</a:t>
            </a:r>
            <a:r>
              <a:rPr sz="900" spc="-25" dirty="0">
                <a:latin typeface="Arial"/>
                <a:cs typeface="Arial"/>
              </a:rPr>
              <a:t> </a:t>
            </a:r>
            <a:r>
              <a:rPr sz="900" dirty="0">
                <a:latin typeface="Arial"/>
                <a:cs typeface="Arial"/>
              </a:rPr>
              <a:t>on</a:t>
            </a:r>
            <a:r>
              <a:rPr sz="900" spc="-25" dirty="0">
                <a:latin typeface="Arial"/>
                <a:cs typeface="Arial"/>
              </a:rPr>
              <a:t> </a:t>
            </a:r>
            <a:r>
              <a:rPr sz="900" i="1" spc="-25" dirty="0">
                <a:latin typeface="Arial"/>
                <a:cs typeface="Arial"/>
              </a:rPr>
              <a:t>C</a:t>
            </a:r>
            <a:r>
              <a:rPr sz="1050" i="1" spc="-37" baseline="27777" dirty="0">
                <a:latin typeface="Menlo"/>
                <a:cs typeface="Menlo"/>
              </a:rPr>
              <a:t>∗</a:t>
            </a:r>
            <a:r>
              <a:rPr sz="1050" i="1" spc="-187" baseline="27777" dirty="0">
                <a:latin typeface="Menlo"/>
                <a:cs typeface="Menlo"/>
              </a:rPr>
              <a:t> </a:t>
            </a:r>
            <a:r>
              <a:rPr sz="900" dirty="0">
                <a:latin typeface="Arial"/>
                <a:cs typeface="Arial"/>
              </a:rPr>
              <a:t>if</a:t>
            </a:r>
            <a:r>
              <a:rPr sz="900" spc="-25" dirty="0">
                <a:latin typeface="Arial"/>
                <a:cs typeface="Arial"/>
              </a:rPr>
              <a:t> </a:t>
            </a:r>
            <a:r>
              <a:rPr sz="900" dirty="0">
                <a:latin typeface="Arial"/>
                <a:cs typeface="Arial"/>
              </a:rPr>
              <a:t>the</a:t>
            </a:r>
            <a:r>
              <a:rPr sz="900" spc="-20" dirty="0">
                <a:latin typeface="Arial"/>
                <a:cs typeface="Arial"/>
              </a:rPr>
              <a:t> </a:t>
            </a:r>
            <a:r>
              <a:rPr sz="900" dirty="0">
                <a:solidFill>
                  <a:srgbClr val="3333B2"/>
                </a:solidFill>
                <a:latin typeface="Arial"/>
                <a:cs typeface="Arial"/>
              </a:rPr>
              <a:t>correctness</a:t>
            </a:r>
            <a:r>
              <a:rPr sz="900" spc="-25" dirty="0">
                <a:solidFill>
                  <a:srgbClr val="3333B2"/>
                </a:solidFill>
                <a:latin typeface="Arial"/>
                <a:cs typeface="Arial"/>
              </a:rPr>
              <a:t> </a:t>
            </a:r>
            <a:r>
              <a:rPr sz="900" dirty="0">
                <a:latin typeface="Arial"/>
                <a:cs typeface="Arial"/>
              </a:rPr>
              <a:t>of</a:t>
            </a:r>
            <a:r>
              <a:rPr sz="900" spc="-25" dirty="0">
                <a:latin typeface="Arial"/>
                <a:cs typeface="Arial"/>
              </a:rPr>
              <a:t> </a:t>
            </a:r>
            <a:r>
              <a:rPr sz="900" i="1" dirty="0">
                <a:latin typeface="Arial"/>
                <a:cs typeface="Arial"/>
              </a:rPr>
              <a:t>C</a:t>
            </a:r>
            <a:r>
              <a:rPr sz="900" dirty="0">
                <a:latin typeface="Arial"/>
                <a:cs typeface="Arial"/>
              </a:rPr>
              <a:t>’s</a:t>
            </a:r>
            <a:r>
              <a:rPr sz="900" spc="-25" dirty="0">
                <a:latin typeface="Arial"/>
                <a:cs typeface="Arial"/>
              </a:rPr>
              <a:t> </a:t>
            </a:r>
            <a:r>
              <a:rPr sz="900" dirty="0">
                <a:latin typeface="Arial"/>
                <a:cs typeface="Arial"/>
              </a:rPr>
              <a:t>behavior</a:t>
            </a:r>
            <a:r>
              <a:rPr sz="900" spc="-25" dirty="0">
                <a:latin typeface="Arial"/>
                <a:cs typeface="Arial"/>
              </a:rPr>
              <a:t> </a:t>
            </a:r>
            <a:r>
              <a:rPr sz="900" dirty="0">
                <a:latin typeface="Arial"/>
                <a:cs typeface="Arial"/>
              </a:rPr>
              <a:t>depends</a:t>
            </a:r>
            <a:r>
              <a:rPr sz="900" spc="-20" dirty="0">
                <a:latin typeface="Arial"/>
                <a:cs typeface="Arial"/>
              </a:rPr>
              <a:t> </a:t>
            </a:r>
            <a:r>
              <a:rPr sz="900" spc="-25" dirty="0">
                <a:latin typeface="Arial"/>
                <a:cs typeface="Arial"/>
              </a:rPr>
              <a:t>on </a:t>
            </a:r>
            <a:r>
              <a:rPr sz="900" dirty="0">
                <a:latin typeface="Arial"/>
                <a:cs typeface="Arial"/>
              </a:rPr>
              <a:t>the</a:t>
            </a:r>
            <a:r>
              <a:rPr sz="900" spc="-40" dirty="0">
                <a:latin typeface="Arial"/>
                <a:cs typeface="Arial"/>
              </a:rPr>
              <a:t> </a:t>
            </a:r>
            <a:r>
              <a:rPr sz="900" dirty="0">
                <a:latin typeface="Arial"/>
                <a:cs typeface="Arial"/>
              </a:rPr>
              <a:t>correctness</a:t>
            </a:r>
            <a:r>
              <a:rPr sz="900" spc="-40" dirty="0">
                <a:latin typeface="Arial"/>
                <a:cs typeface="Arial"/>
              </a:rPr>
              <a:t> </a:t>
            </a:r>
            <a:r>
              <a:rPr sz="900" dirty="0">
                <a:latin typeface="Arial"/>
                <a:cs typeface="Arial"/>
              </a:rPr>
              <a:t>of</a:t>
            </a:r>
            <a:r>
              <a:rPr sz="900" spc="-40" dirty="0">
                <a:latin typeface="Arial"/>
                <a:cs typeface="Arial"/>
              </a:rPr>
              <a:t> </a:t>
            </a:r>
            <a:r>
              <a:rPr sz="900" i="1" dirty="0">
                <a:latin typeface="Arial"/>
                <a:cs typeface="Arial"/>
              </a:rPr>
              <a:t>C</a:t>
            </a:r>
            <a:r>
              <a:rPr sz="1050" i="1" baseline="27777" dirty="0">
                <a:latin typeface="Menlo"/>
                <a:cs typeface="Menlo"/>
              </a:rPr>
              <a:t>∗</a:t>
            </a:r>
            <a:r>
              <a:rPr sz="900" dirty="0">
                <a:latin typeface="Arial"/>
                <a:cs typeface="Arial"/>
              </a:rPr>
              <a:t>’s</a:t>
            </a:r>
            <a:r>
              <a:rPr sz="900" spc="-40" dirty="0">
                <a:latin typeface="Arial"/>
                <a:cs typeface="Arial"/>
              </a:rPr>
              <a:t> </a:t>
            </a:r>
            <a:r>
              <a:rPr sz="900" dirty="0">
                <a:latin typeface="Arial"/>
                <a:cs typeface="Arial"/>
              </a:rPr>
              <a:t>behavior.</a:t>
            </a:r>
            <a:r>
              <a:rPr sz="900" spc="10" dirty="0">
                <a:latin typeface="Arial"/>
                <a:cs typeface="Arial"/>
              </a:rPr>
              <a:t> </a:t>
            </a:r>
            <a:r>
              <a:rPr sz="900" dirty="0">
                <a:latin typeface="Arial"/>
                <a:cs typeface="Arial"/>
              </a:rPr>
              <a:t>(Components</a:t>
            </a:r>
            <a:r>
              <a:rPr sz="900" spc="-40" dirty="0">
                <a:latin typeface="Arial"/>
                <a:cs typeface="Arial"/>
              </a:rPr>
              <a:t> </a:t>
            </a:r>
            <a:r>
              <a:rPr sz="900" dirty="0">
                <a:latin typeface="Arial"/>
                <a:cs typeface="Arial"/>
              </a:rPr>
              <a:t>are</a:t>
            </a:r>
            <a:r>
              <a:rPr sz="900" spc="-40" dirty="0">
                <a:latin typeface="Arial"/>
                <a:cs typeface="Arial"/>
              </a:rPr>
              <a:t> </a:t>
            </a:r>
            <a:r>
              <a:rPr sz="900" dirty="0">
                <a:latin typeface="Arial"/>
                <a:cs typeface="Arial"/>
              </a:rPr>
              <a:t>processes</a:t>
            </a:r>
            <a:r>
              <a:rPr sz="900" spc="-40" dirty="0">
                <a:latin typeface="Arial"/>
                <a:cs typeface="Arial"/>
              </a:rPr>
              <a:t> </a:t>
            </a:r>
            <a:r>
              <a:rPr sz="900" dirty="0">
                <a:latin typeface="Arial"/>
                <a:cs typeface="Arial"/>
              </a:rPr>
              <a:t>or</a:t>
            </a:r>
            <a:r>
              <a:rPr sz="900" spc="-40" dirty="0">
                <a:latin typeface="Arial"/>
                <a:cs typeface="Arial"/>
              </a:rPr>
              <a:t> </a:t>
            </a:r>
            <a:r>
              <a:rPr sz="900" spc="-10" dirty="0">
                <a:latin typeface="Arial"/>
                <a:cs typeface="Arial"/>
              </a:rPr>
              <a:t>channels.)</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45085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2" action="ppaction://hlinksldjump"/>
              </a:rPr>
              <a:t>Basic</a:t>
            </a:r>
            <a:r>
              <a:rPr sz="500" spc="-20" dirty="0">
                <a:latin typeface="Arial"/>
                <a:cs typeface="Arial"/>
                <a:hlinkClick r:id="rId2" action="ppaction://hlinksldjump"/>
              </a:rPr>
              <a:t> </a:t>
            </a:r>
            <a:r>
              <a:rPr sz="500" spc="-10" dirty="0">
                <a:latin typeface="Arial"/>
                <a:cs typeface="Arial"/>
                <a:hlinkClick r:id="rId2" action="ppaction://hlinksldjump"/>
              </a:rPr>
              <a:t>concepts</a:t>
            </a:r>
            <a:endParaRPr sz="500">
              <a:latin typeface="Arial"/>
              <a:cs typeface="Arial"/>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674745"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2" action="ppaction://hlinksldjump"/>
              </a:rPr>
              <a:t>Introduction</a:t>
            </a:r>
            <a:r>
              <a:rPr sz="500" spc="-25" dirty="0">
                <a:solidFill>
                  <a:srgbClr val="FFFFFF"/>
                </a:solidFill>
                <a:latin typeface="Arial"/>
                <a:cs typeface="Arial"/>
                <a:hlinkClick r:id="rId2" action="ppaction://hlinksldjump"/>
              </a:rPr>
              <a:t> </a:t>
            </a:r>
            <a:r>
              <a:rPr sz="500" dirty="0">
                <a:solidFill>
                  <a:srgbClr val="FFFFFF"/>
                </a:solidFill>
                <a:latin typeface="Arial"/>
                <a:cs typeface="Arial"/>
                <a:hlinkClick r:id="rId2" action="ppaction://hlinksldjump"/>
              </a:rPr>
              <a:t>to</a:t>
            </a:r>
            <a:r>
              <a:rPr sz="500" spc="-25" dirty="0">
                <a:solidFill>
                  <a:srgbClr val="FFFFFF"/>
                </a:solidFill>
                <a:latin typeface="Arial"/>
                <a:cs typeface="Arial"/>
                <a:hlinkClick r:id="rId2" action="ppaction://hlinksldjump"/>
              </a:rPr>
              <a:t> </a:t>
            </a:r>
            <a:r>
              <a:rPr sz="500" dirty="0">
                <a:solidFill>
                  <a:srgbClr val="FFFFFF"/>
                </a:solidFill>
                <a:latin typeface="Arial"/>
                <a:cs typeface="Arial"/>
                <a:hlinkClick r:id="rId2" action="ppaction://hlinksldjump"/>
              </a:rPr>
              <a:t>fault</a:t>
            </a:r>
            <a:r>
              <a:rPr sz="500" spc="-2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tolerance</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spc="-10" dirty="0"/>
              <a:t>Dependability</a:t>
            </a:r>
          </a:p>
        </p:txBody>
      </p:sp>
      <p:sp>
        <p:nvSpPr>
          <p:cNvPr id="4" name="object 4"/>
          <p:cNvSpPr txBox="1"/>
          <p:nvPr/>
        </p:nvSpPr>
        <p:spPr>
          <a:xfrm>
            <a:off x="330847" y="499476"/>
            <a:ext cx="3942715" cy="1489075"/>
          </a:xfrm>
          <a:prstGeom prst="rect">
            <a:avLst/>
          </a:prstGeom>
        </p:spPr>
        <p:txBody>
          <a:bodyPr vert="horz" wrap="square" lIns="0" tIns="27305" rIns="0" bIns="0" rtlCol="0">
            <a:spAutoFit/>
          </a:bodyPr>
          <a:lstStyle/>
          <a:p>
            <a:pPr marL="28575">
              <a:lnSpc>
                <a:spcPct val="100000"/>
              </a:lnSpc>
              <a:spcBef>
                <a:spcPts val="215"/>
              </a:spcBef>
            </a:pPr>
            <a:r>
              <a:rPr sz="1000" spc="-10" dirty="0">
                <a:solidFill>
                  <a:srgbClr val="3333B2"/>
                </a:solidFill>
                <a:latin typeface="Arial"/>
                <a:cs typeface="Arial"/>
              </a:rPr>
              <a:t>Basics</a:t>
            </a:r>
            <a:endParaRPr sz="1000" dirty="0">
              <a:latin typeface="Arial"/>
              <a:cs typeface="Arial"/>
            </a:endParaRPr>
          </a:p>
          <a:p>
            <a:pPr marL="28575" marR="17780" indent="-3810" algn="just">
              <a:lnSpc>
                <a:spcPts val="1210"/>
              </a:lnSpc>
              <a:spcBef>
                <a:spcPts val="35"/>
              </a:spcBef>
            </a:pPr>
            <a:r>
              <a:rPr sz="900" dirty="0">
                <a:latin typeface="Arial"/>
                <a:cs typeface="Arial"/>
              </a:rPr>
              <a:t>A</a:t>
            </a:r>
            <a:r>
              <a:rPr sz="900" spc="-50" dirty="0">
                <a:latin typeface="Arial"/>
                <a:cs typeface="Arial"/>
              </a:rPr>
              <a:t> </a:t>
            </a:r>
            <a:r>
              <a:rPr sz="900" spc="-10" dirty="0">
                <a:solidFill>
                  <a:srgbClr val="3333B2"/>
                </a:solidFill>
                <a:latin typeface="Arial"/>
                <a:cs typeface="Arial"/>
              </a:rPr>
              <a:t>component</a:t>
            </a:r>
            <a:r>
              <a:rPr sz="900" spc="-15" dirty="0">
                <a:solidFill>
                  <a:srgbClr val="3333B2"/>
                </a:solidFill>
                <a:latin typeface="Arial"/>
                <a:cs typeface="Arial"/>
              </a:rPr>
              <a:t> </a:t>
            </a:r>
            <a:r>
              <a:rPr sz="900" spc="-10" dirty="0">
                <a:latin typeface="Arial"/>
                <a:cs typeface="Arial"/>
              </a:rPr>
              <a:t>provides</a:t>
            </a:r>
            <a:r>
              <a:rPr sz="900" spc="-15" dirty="0">
                <a:latin typeface="Arial"/>
                <a:cs typeface="Arial"/>
              </a:rPr>
              <a:t> </a:t>
            </a:r>
            <a:r>
              <a:rPr sz="900" dirty="0">
                <a:solidFill>
                  <a:srgbClr val="3333B2"/>
                </a:solidFill>
                <a:latin typeface="Arial"/>
                <a:cs typeface="Arial"/>
              </a:rPr>
              <a:t>services</a:t>
            </a:r>
            <a:r>
              <a:rPr sz="900" spc="-15" dirty="0">
                <a:solidFill>
                  <a:srgbClr val="3333B2"/>
                </a:solidFill>
                <a:latin typeface="Arial"/>
                <a:cs typeface="Arial"/>
              </a:rPr>
              <a:t> </a:t>
            </a:r>
            <a:r>
              <a:rPr sz="900" dirty="0">
                <a:latin typeface="Arial"/>
                <a:cs typeface="Arial"/>
              </a:rPr>
              <a:t>to</a:t>
            </a:r>
            <a:r>
              <a:rPr sz="900" spc="-15" dirty="0">
                <a:latin typeface="Arial"/>
                <a:cs typeface="Arial"/>
              </a:rPr>
              <a:t> </a:t>
            </a:r>
            <a:r>
              <a:rPr sz="900" dirty="0">
                <a:solidFill>
                  <a:srgbClr val="3333B2"/>
                </a:solidFill>
                <a:latin typeface="Arial"/>
                <a:cs typeface="Arial"/>
              </a:rPr>
              <a:t>clients</a:t>
            </a:r>
            <a:r>
              <a:rPr sz="900" dirty="0">
                <a:latin typeface="Arial"/>
                <a:cs typeface="Arial"/>
              </a:rPr>
              <a:t>.</a:t>
            </a:r>
            <a:r>
              <a:rPr sz="900" spc="45" dirty="0">
                <a:latin typeface="Arial"/>
                <a:cs typeface="Arial"/>
              </a:rPr>
              <a:t> </a:t>
            </a:r>
            <a:r>
              <a:rPr sz="900" spc="-80" dirty="0">
                <a:latin typeface="Arial"/>
                <a:cs typeface="Arial"/>
              </a:rPr>
              <a:t>To</a:t>
            </a:r>
            <a:r>
              <a:rPr sz="900" spc="15" dirty="0">
                <a:latin typeface="Arial"/>
                <a:cs typeface="Arial"/>
              </a:rPr>
              <a:t> </a:t>
            </a:r>
            <a:r>
              <a:rPr sz="900" spc="-10" dirty="0">
                <a:latin typeface="Arial"/>
                <a:cs typeface="Arial"/>
              </a:rPr>
              <a:t>provide</a:t>
            </a:r>
            <a:r>
              <a:rPr sz="900" spc="-15" dirty="0">
                <a:latin typeface="Arial"/>
                <a:cs typeface="Arial"/>
              </a:rPr>
              <a:t> </a:t>
            </a:r>
            <a:r>
              <a:rPr sz="900" spc="-10" dirty="0">
                <a:latin typeface="Arial"/>
                <a:cs typeface="Arial"/>
              </a:rPr>
              <a:t>services,</a:t>
            </a:r>
            <a:r>
              <a:rPr sz="900" spc="-15" dirty="0">
                <a:latin typeface="Arial"/>
                <a:cs typeface="Arial"/>
              </a:rPr>
              <a:t> </a:t>
            </a:r>
            <a:r>
              <a:rPr sz="900" dirty="0">
                <a:latin typeface="Arial"/>
                <a:cs typeface="Arial"/>
              </a:rPr>
              <a:t>the</a:t>
            </a:r>
            <a:r>
              <a:rPr sz="900" spc="-15" dirty="0">
                <a:latin typeface="Arial"/>
                <a:cs typeface="Arial"/>
              </a:rPr>
              <a:t> </a:t>
            </a:r>
            <a:r>
              <a:rPr sz="900" spc="-10" dirty="0">
                <a:latin typeface="Arial"/>
                <a:cs typeface="Arial"/>
              </a:rPr>
              <a:t>component may</a:t>
            </a:r>
            <a:r>
              <a:rPr sz="900" spc="-55" dirty="0">
                <a:latin typeface="Arial"/>
                <a:cs typeface="Arial"/>
              </a:rPr>
              <a:t> </a:t>
            </a:r>
            <a:r>
              <a:rPr sz="900" dirty="0">
                <a:latin typeface="Arial"/>
                <a:cs typeface="Arial"/>
              </a:rPr>
              <a:t>require</a:t>
            </a:r>
            <a:r>
              <a:rPr sz="900" spc="-60" dirty="0">
                <a:latin typeface="Arial"/>
                <a:cs typeface="Arial"/>
              </a:rPr>
              <a:t> </a:t>
            </a:r>
            <a:r>
              <a:rPr sz="900" dirty="0">
                <a:latin typeface="Arial"/>
                <a:cs typeface="Arial"/>
              </a:rPr>
              <a:t>the</a:t>
            </a:r>
            <a:r>
              <a:rPr sz="900" spc="-65" dirty="0">
                <a:latin typeface="Arial"/>
                <a:cs typeface="Arial"/>
              </a:rPr>
              <a:t> </a:t>
            </a:r>
            <a:r>
              <a:rPr sz="900" dirty="0">
                <a:latin typeface="Arial"/>
                <a:cs typeface="Arial"/>
              </a:rPr>
              <a:t>services</a:t>
            </a:r>
            <a:r>
              <a:rPr sz="900" spc="-55" dirty="0">
                <a:latin typeface="Arial"/>
                <a:cs typeface="Arial"/>
              </a:rPr>
              <a:t> </a:t>
            </a:r>
            <a:r>
              <a:rPr sz="900" dirty="0">
                <a:latin typeface="Arial"/>
                <a:cs typeface="Arial"/>
              </a:rPr>
              <a:t>from</a:t>
            </a:r>
            <a:r>
              <a:rPr sz="900" spc="-15" dirty="0">
                <a:latin typeface="Arial"/>
                <a:cs typeface="Arial"/>
              </a:rPr>
              <a:t> </a:t>
            </a:r>
            <a:r>
              <a:rPr sz="900" dirty="0">
                <a:latin typeface="Arial"/>
                <a:cs typeface="Arial"/>
              </a:rPr>
              <a:t>other</a:t>
            </a:r>
            <a:r>
              <a:rPr sz="900" spc="-15" dirty="0">
                <a:latin typeface="Arial"/>
                <a:cs typeface="Arial"/>
              </a:rPr>
              <a:t> </a:t>
            </a:r>
            <a:r>
              <a:rPr sz="900" spc="-10" dirty="0">
                <a:latin typeface="Arial"/>
                <a:cs typeface="Arial"/>
              </a:rPr>
              <a:t>components</a:t>
            </a:r>
            <a:r>
              <a:rPr sz="900" spc="-15" dirty="0">
                <a:latin typeface="Arial"/>
                <a:cs typeface="Arial"/>
              </a:rPr>
              <a:t> </a:t>
            </a:r>
            <a:r>
              <a:rPr sz="900" i="1" spc="185" dirty="0">
                <a:latin typeface="Menlo"/>
                <a:cs typeface="Menlo"/>
              </a:rPr>
              <a:t>⇒</a:t>
            </a:r>
            <a:r>
              <a:rPr sz="900" i="1" spc="-135" dirty="0">
                <a:latin typeface="Menlo"/>
                <a:cs typeface="Menlo"/>
              </a:rPr>
              <a:t> </a:t>
            </a:r>
            <a:r>
              <a:rPr sz="900" dirty="0">
                <a:latin typeface="Arial"/>
                <a:cs typeface="Arial"/>
              </a:rPr>
              <a:t>a</a:t>
            </a:r>
            <a:r>
              <a:rPr sz="900" spc="-15" dirty="0">
                <a:latin typeface="Arial"/>
                <a:cs typeface="Arial"/>
              </a:rPr>
              <a:t> </a:t>
            </a:r>
            <a:r>
              <a:rPr sz="900" spc="-10" dirty="0">
                <a:latin typeface="Arial"/>
                <a:cs typeface="Arial"/>
              </a:rPr>
              <a:t>component</a:t>
            </a:r>
            <a:r>
              <a:rPr sz="900" spc="-15" dirty="0">
                <a:latin typeface="Arial"/>
                <a:cs typeface="Arial"/>
              </a:rPr>
              <a:t> </a:t>
            </a:r>
            <a:r>
              <a:rPr sz="900" spc="-10" dirty="0">
                <a:latin typeface="Arial"/>
                <a:cs typeface="Arial"/>
              </a:rPr>
              <a:t>may</a:t>
            </a:r>
            <a:r>
              <a:rPr sz="900" spc="-15" dirty="0">
                <a:latin typeface="Arial"/>
                <a:cs typeface="Arial"/>
              </a:rPr>
              <a:t> </a:t>
            </a:r>
            <a:r>
              <a:rPr sz="900" spc="-10" dirty="0">
                <a:solidFill>
                  <a:srgbClr val="C80000"/>
                </a:solidFill>
                <a:latin typeface="Arial"/>
                <a:cs typeface="Arial"/>
              </a:rPr>
              <a:t>depend </a:t>
            </a:r>
            <a:r>
              <a:rPr sz="900" dirty="0">
                <a:latin typeface="Arial"/>
                <a:cs typeface="Arial"/>
              </a:rPr>
              <a:t>on</a:t>
            </a:r>
            <a:r>
              <a:rPr sz="900" spc="-25" dirty="0">
                <a:latin typeface="Arial"/>
                <a:cs typeface="Arial"/>
              </a:rPr>
              <a:t> </a:t>
            </a:r>
            <a:r>
              <a:rPr sz="900" dirty="0">
                <a:latin typeface="Arial"/>
                <a:cs typeface="Arial"/>
              </a:rPr>
              <a:t>some</a:t>
            </a:r>
            <a:r>
              <a:rPr sz="900" spc="-20" dirty="0">
                <a:latin typeface="Arial"/>
                <a:cs typeface="Arial"/>
              </a:rPr>
              <a:t> </a:t>
            </a:r>
            <a:r>
              <a:rPr sz="900" dirty="0">
                <a:latin typeface="Arial"/>
                <a:cs typeface="Arial"/>
              </a:rPr>
              <a:t>other</a:t>
            </a:r>
            <a:r>
              <a:rPr sz="900" spc="-25" dirty="0">
                <a:latin typeface="Arial"/>
                <a:cs typeface="Arial"/>
              </a:rPr>
              <a:t> </a:t>
            </a:r>
            <a:r>
              <a:rPr sz="900" spc="-10" dirty="0">
                <a:latin typeface="Arial"/>
                <a:cs typeface="Arial"/>
              </a:rPr>
              <a:t>component.</a:t>
            </a:r>
            <a:endParaRPr sz="900" dirty="0">
              <a:latin typeface="Arial"/>
              <a:cs typeface="Arial"/>
            </a:endParaRPr>
          </a:p>
          <a:p>
            <a:pPr marL="28575">
              <a:lnSpc>
                <a:spcPct val="100000"/>
              </a:lnSpc>
              <a:spcBef>
                <a:spcPts val="745"/>
              </a:spcBef>
            </a:pPr>
            <a:r>
              <a:rPr sz="1000" spc="-10" dirty="0">
                <a:solidFill>
                  <a:srgbClr val="3333B2"/>
                </a:solidFill>
                <a:latin typeface="Arial"/>
                <a:cs typeface="Arial"/>
              </a:rPr>
              <a:t>Specifically</a:t>
            </a:r>
            <a:endParaRPr sz="1000" dirty="0">
              <a:latin typeface="Arial"/>
              <a:cs typeface="Arial"/>
            </a:endParaRPr>
          </a:p>
          <a:p>
            <a:pPr marL="28575" marR="17780" indent="-3810">
              <a:lnSpc>
                <a:spcPct val="111600"/>
              </a:lnSpc>
              <a:spcBef>
                <a:spcPts val="175"/>
              </a:spcBef>
            </a:pPr>
            <a:r>
              <a:rPr sz="900" dirty="0">
                <a:latin typeface="Arial"/>
                <a:cs typeface="Arial"/>
              </a:rPr>
              <a:t>A</a:t>
            </a:r>
            <a:r>
              <a:rPr sz="900" spc="-50" dirty="0">
                <a:latin typeface="Arial"/>
                <a:cs typeface="Arial"/>
              </a:rPr>
              <a:t> </a:t>
            </a:r>
            <a:r>
              <a:rPr sz="900" dirty="0">
                <a:latin typeface="Arial"/>
                <a:cs typeface="Arial"/>
              </a:rPr>
              <a:t>component</a:t>
            </a:r>
            <a:r>
              <a:rPr sz="900" spc="-25" dirty="0">
                <a:latin typeface="Arial"/>
                <a:cs typeface="Arial"/>
              </a:rPr>
              <a:t> </a:t>
            </a:r>
            <a:r>
              <a:rPr sz="900" i="1" dirty="0">
                <a:latin typeface="Arial"/>
                <a:cs typeface="Arial"/>
              </a:rPr>
              <a:t>C</a:t>
            </a:r>
            <a:r>
              <a:rPr sz="900" i="1" spc="30" dirty="0">
                <a:latin typeface="Arial"/>
                <a:cs typeface="Arial"/>
              </a:rPr>
              <a:t> </a:t>
            </a:r>
            <a:r>
              <a:rPr sz="900" dirty="0">
                <a:latin typeface="Arial"/>
                <a:cs typeface="Arial"/>
              </a:rPr>
              <a:t>depends</a:t>
            </a:r>
            <a:r>
              <a:rPr sz="900" spc="-25" dirty="0">
                <a:latin typeface="Arial"/>
                <a:cs typeface="Arial"/>
              </a:rPr>
              <a:t> </a:t>
            </a:r>
            <a:r>
              <a:rPr sz="900" dirty="0">
                <a:latin typeface="Arial"/>
                <a:cs typeface="Arial"/>
              </a:rPr>
              <a:t>on</a:t>
            </a:r>
            <a:r>
              <a:rPr sz="900" spc="-25" dirty="0">
                <a:latin typeface="Arial"/>
                <a:cs typeface="Arial"/>
              </a:rPr>
              <a:t> </a:t>
            </a:r>
            <a:r>
              <a:rPr sz="900" i="1" spc="-25" dirty="0">
                <a:latin typeface="Arial"/>
                <a:cs typeface="Arial"/>
              </a:rPr>
              <a:t>C</a:t>
            </a:r>
            <a:r>
              <a:rPr sz="1050" i="1" spc="-37" baseline="27777" dirty="0">
                <a:latin typeface="Menlo"/>
                <a:cs typeface="Menlo"/>
              </a:rPr>
              <a:t>∗</a:t>
            </a:r>
            <a:r>
              <a:rPr sz="1050" i="1" spc="-187" baseline="27777" dirty="0">
                <a:latin typeface="Menlo"/>
                <a:cs typeface="Menlo"/>
              </a:rPr>
              <a:t> </a:t>
            </a:r>
            <a:r>
              <a:rPr sz="900" dirty="0">
                <a:latin typeface="Arial"/>
                <a:cs typeface="Arial"/>
              </a:rPr>
              <a:t>if</a:t>
            </a:r>
            <a:r>
              <a:rPr sz="900" spc="-25" dirty="0">
                <a:latin typeface="Arial"/>
                <a:cs typeface="Arial"/>
              </a:rPr>
              <a:t> </a:t>
            </a:r>
            <a:r>
              <a:rPr sz="900" dirty="0">
                <a:latin typeface="Arial"/>
                <a:cs typeface="Arial"/>
              </a:rPr>
              <a:t>the</a:t>
            </a:r>
            <a:r>
              <a:rPr sz="900" spc="-20" dirty="0">
                <a:latin typeface="Arial"/>
                <a:cs typeface="Arial"/>
              </a:rPr>
              <a:t> </a:t>
            </a:r>
            <a:r>
              <a:rPr sz="900" dirty="0">
                <a:solidFill>
                  <a:srgbClr val="3333B2"/>
                </a:solidFill>
                <a:latin typeface="Arial"/>
                <a:cs typeface="Arial"/>
              </a:rPr>
              <a:t>correctness</a:t>
            </a:r>
            <a:r>
              <a:rPr sz="900" spc="-25" dirty="0">
                <a:solidFill>
                  <a:srgbClr val="3333B2"/>
                </a:solidFill>
                <a:latin typeface="Arial"/>
                <a:cs typeface="Arial"/>
              </a:rPr>
              <a:t> </a:t>
            </a:r>
            <a:r>
              <a:rPr sz="900" dirty="0">
                <a:latin typeface="Arial"/>
                <a:cs typeface="Arial"/>
              </a:rPr>
              <a:t>of</a:t>
            </a:r>
            <a:r>
              <a:rPr sz="900" spc="-25" dirty="0">
                <a:latin typeface="Arial"/>
                <a:cs typeface="Arial"/>
              </a:rPr>
              <a:t> </a:t>
            </a:r>
            <a:r>
              <a:rPr sz="900" i="1" dirty="0">
                <a:latin typeface="Arial"/>
                <a:cs typeface="Arial"/>
              </a:rPr>
              <a:t>C</a:t>
            </a:r>
            <a:r>
              <a:rPr sz="900" dirty="0">
                <a:latin typeface="Arial"/>
                <a:cs typeface="Arial"/>
              </a:rPr>
              <a:t>’s</a:t>
            </a:r>
            <a:r>
              <a:rPr sz="900" spc="-25" dirty="0">
                <a:latin typeface="Arial"/>
                <a:cs typeface="Arial"/>
              </a:rPr>
              <a:t> </a:t>
            </a:r>
            <a:r>
              <a:rPr sz="900" dirty="0">
                <a:latin typeface="Arial"/>
                <a:cs typeface="Arial"/>
              </a:rPr>
              <a:t>behavior</a:t>
            </a:r>
            <a:r>
              <a:rPr sz="900" spc="-25" dirty="0">
                <a:latin typeface="Arial"/>
                <a:cs typeface="Arial"/>
              </a:rPr>
              <a:t> </a:t>
            </a:r>
            <a:r>
              <a:rPr sz="900" dirty="0">
                <a:latin typeface="Arial"/>
                <a:cs typeface="Arial"/>
              </a:rPr>
              <a:t>depends</a:t>
            </a:r>
            <a:r>
              <a:rPr sz="900" spc="-20" dirty="0">
                <a:latin typeface="Arial"/>
                <a:cs typeface="Arial"/>
              </a:rPr>
              <a:t> </a:t>
            </a:r>
            <a:r>
              <a:rPr sz="900" spc="-25" dirty="0">
                <a:latin typeface="Arial"/>
                <a:cs typeface="Arial"/>
              </a:rPr>
              <a:t>on </a:t>
            </a:r>
            <a:r>
              <a:rPr sz="900" dirty="0">
                <a:latin typeface="Arial"/>
                <a:cs typeface="Arial"/>
              </a:rPr>
              <a:t>the</a:t>
            </a:r>
            <a:r>
              <a:rPr sz="900" spc="-40" dirty="0">
                <a:latin typeface="Arial"/>
                <a:cs typeface="Arial"/>
              </a:rPr>
              <a:t> </a:t>
            </a:r>
            <a:r>
              <a:rPr sz="900" dirty="0">
                <a:latin typeface="Arial"/>
                <a:cs typeface="Arial"/>
              </a:rPr>
              <a:t>correctness</a:t>
            </a:r>
            <a:r>
              <a:rPr sz="900" spc="-40" dirty="0">
                <a:latin typeface="Arial"/>
                <a:cs typeface="Arial"/>
              </a:rPr>
              <a:t> </a:t>
            </a:r>
            <a:r>
              <a:rPr sz="900" dirty="0">
                <a:latin typeface="Arial"/>
                <a:cs typeface="Arial"/>
              </a:rPr>
              <a:t>of</a:t>
            </a:r>
            <a:r>
              <a:rPr sz="900" spc="-40" dirty="0">
                <a:latin typeface="Arial"/>
                <a:cs typeface="Arial"/>
              </a:rPr>
              <a:t> </a:t>
            </a:r>
            <a:r>
              <a:rPr sz="900" i="1" dirty="0">
                <a:latin typeface="Arial"/>
                <a:cs typeface="Arial"/>
              </a:rPr>
              <a:t>C</a:t>
            </a:r>
            <a:r>
              <a:rPr sz="1050" i="1" baseline="27777" dirty="0">
                <a:latin typeface="Menlo"/>
                <a:cs typeface="Menlo"/>
              </a:rPr>
              <a:t>∗</a:t>
            </a:r>
            <a:r>
              <a:rPr sz="900" dirty="0">
                <a:latin typeface="Arial"/>
                <a:cs typeface="Arial"/>
              </a:rPr>
              <a:t>’s</a:t>
            </a:r>
            <a:r>
              <a:rPr sz="900" spc="-40" dirty="0">
                <a:latin typeface="Arial"/>
                <a:cs typeface="Arial"/>
              </a:rPr>
              <a:t> </a:t>
            </a:r>
            <a:r>
              <a:rPr sz="900" dirty="0">
                <a:latin typeface="Arial"/>
                <a:cs typeface="Arial"/>
              </a:rPr>
              <a:t>behavior.</a:t>
            </a:r>
            <a:r>
              <a:rPr sz="900" spc="10" dirty="0">
                <a:latin typeface="Arial"/>
                <a:cs typeface="Arial"/>
              </a:rPr>
              <a:t> </a:t>
            </a:r>
            <a:r>
              <a:rPr sz="900" dirty="0">
                <a:latin typeface="Arial"/>
                <a:cs typeface="Arial"/>
              </a:rPr>
              <a:t>(Components</a:t>
            </a:r>
            <a:r>
              <a:rPr sz="900" spc="-40" dirty="0">
                <a:latin typeface="Arial"/>
                <a:cs typeface="Arial"/>
              </a:rPr>
              <a:t> </a:t>
            </a:r>
            <a:r>
              <a:rPr sz="900" dirty="0">
                <a:latin typeface="Arial"/>
                <a:cs typeface="Arial"/>
              </a:rPr>
              <a:t>are</a:t>
            </a:r>
            <a:r>
              <a:rPr sz="900" spc="-40" dirty="0">
                <a:latin typeface="Arial"/>
                <a:cs typeface="Arial"/>
              </a:rPr>
              <a:t> </a:t>
            </a:r>
            <a:r>
              <a:rPr sz="900" dirty="0">
                <a:latin typeface="Arial"/>
                <a:cs typeface="Arial"/>
              </a:rPr>
              <a:t>processes</a:t>
            </a:r>
            <a:r>
              <a:rPr sz="900" spc="-40" dirty="0">
                <a:latin typeface="Arial"/>
                <a:cs typeface="Arial"/>
              </a:rPr>
              <a:t> </a:t>
            </a:r>
            <a:r>
              <a:rPr sz="900" dirty="0">
                <a:latin typeface="Arial"/>
                <a:cs typeface="Arial"/>
              </a:rPr>
              <a:t>or</a:t>
            </a:r>
            <a:r>
              <a:rPr sz="900" spc="-40" dirty="0">
                <a:latin typeface="Arial"/>
                <a:cs typeface="Arial"/>
              </a:rPr>
              <a:t> </a:t>
            </a:r>
            <a:r>
              <a:rPr sz="900" spc="-10" dirty="0">
                <a:latin typeface="Arial"/>
                <a:cs typeface="Arial"/>
              </a:rPr>
              <a:t>channels.)</a:t>
            </a:r>
            <a:endParaRPr sz="900" dirty="0">
              <a:latin typeface="Arial"/>
              <a:cs typeface="Arial"/>
            </a:endParaRPr>
          </a:p>
          <a:p>
            <a:pPr marL="28575">
              <a:lnSpc>
                <a:spcPct val="100000"/>
              </a:lnSpc>
              <a:spcBef>
                <a:spcPts val="810"/>
              </a:spcBef>
            </a:pPr>
            <a:r>
              <a:rPr sz="1000" dirty="0">
                <a:solidFill>
                  <a:srgbClr val="3333B2"/>
                </a:solidFill>
                <a:latin typeface="Arial"/>
                <a:cs typeface="Arial"/>
              </a:rPr>
              <a:t>Requirements</a:t>
            </a:r>
            <a:r>
              <a:rPr sz="1000" spc="-40" dirty="0">
                <a:solidFill>
                  <a:srgbClr val="3333B2"/>
                </a:solidFill>
                <a:latin typeface="Arial"/>
                <a:cs typeface="Arial"/>
              </a:rPr>
              <a:t> </a:t>
            </a:r>
            <a:r>
              <a:rPr sz="1000" dirty="0">
                <a:solidFill>
                  <a:srgbClr val="3333B2"/>
                </a:solidFill>
                <a:latin typeface="Arial"/>
                <a:cs typeface="Arial"/>
              </a:rPr>
              <a:t>related</a:t>
            </a:r>
            <a:r>
              <a:rPr sz="1000" spc="-40" dirty="0">
                <a:solidFill>
                  <a:srgbClr val="3333B2"/>
                </a:solidFill>
                <a:latin typeface="Arial"/>
                <a:cs typeface="Arial"/>
              </a:rPr>
              <a:t> </a:t>
            </a:r>
            <a:r>
              <a:rPr sz="1000" dirty="0">
                <a:solidFill>
                  <a:srgbClr val="3333B2"/>
                </a:solidFill>
                <a:latin typeface="Arial"/>
                <a:cs typeface="Arial"/>
              </a:rPr>
              <a:t>to</a:t>
            </a:r>
            <a:r>
              <a:rPr sz="1000" spc="-40" dirty="0">
                <a:solidFill>
                  <a:srgbClr val="3333B2"/>
                </a:solidFill>
                <a:latin typeface="Arial"/>
                <a:cs typeface="Arial"/>
              </a:rPr>
              <a:t> </a:t>
            </a:r>
            <a:r>
              <a:rPr sz="1000" spc="-10" dirty="0">
                <a:solidFill>
                  <a:srgbClr val="3333B2"/>
                </a:solidFill>
                <a:latin typeface="Arial"/>
                <a:cs typeface="Arial"/>
              </a:rPr>
              <a:t>dependability</a:t>
            </a:r>
            <a:endParaRPr sz="1000" dirty="0">
              <a:latin typeface="Arial"/>
              <a:cs typeface="Arial"/>
            </a:endParaRPr>
          </a:p>
        </p:txBody>
      </p:sp>
      <p:graphicFrame>
        <p:nvGraphicFramePr>
          <p:cNvPr id="5" name="object 5"/>
          <p:cNvGraphicFramePr>
            <a:graphicFrameLocks noGrp="1"/>
          </p:cNvGraphicFramePr>
          <p:nvPr/>
        </p:nvGraphicFramePr>
        <p:xfrm>
          <a:off x="729551" y="2088984"/>
          <a:ext cx="3143885" cy="956945"/>
        </p:xfrm>
        <a:graphic>
          <a:graphicData uri="http://schemas.openxmlformats.org/drawingml/2006/table">
            <a:tbl>
              <a:tblPr firstRow="1" bandRow="1">
                <a:tableStyleId>{2D5ABB26-0587-4C30-8999-92F81FD0307C}</a:tableStyleId>
              </a:tblPr>
              <a:tblGrid>
                <a:gridCol w="878205">
                  <a:extLst>
                    <a:ext uri="{9D8B030D-6E8A-4147-A177-3AD203B41FA5}">
                      <a16:colId xmlns:a16="http://schemas.microsoft.com/office/drawing/2014/main" val="20000"/>
                    </a:ext>
                  </a:extLst>
                </a:gridCol>
                <a:gridCol w="2265680">
                  <a:extLst>
                    <a:ext uri="{9D8B030D-6E8A-4147-A177-3AD203B41FA5}">
                      <a16:colId xmlns:a16="http://schemas.microsoft.com/office/drawing/2014/main" val="20001"/>
                    </a:ext>
                  </a:extLst>
                </a:gridCol>
              </a:tblGrid>
              <a:tr h="195580">
                <a:tc>
                  <a:txBody>
                    <a:bodyPr/>
                    <a:lstStyle/>
                    <a:p>
                      <a:pPr marL="78105">
                        <a:lnSpc>
                          <a:spcPct val="100000"/>
                        </a:lnSpc>
                        <a:spcBef>
                          <a:spcPts val="130"/>
                        </a:spcBef>
                      </a:pPr>
                      <a:r>
                        <a:rPr sz="900" b="1" spc="-10" dirty="0">
                          <a:latin typeface="Arial"/>
                          <a:cs typeface="Arial"/>
                        </a:rPr>
                        <a:t>Requirement</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130"/>
                        </a:spcBef>
                      </a:pPr>
                      <a:r>
                        <a:rPr sz="900" b="1" spc="-10" dirty="0">
                          <a:latin typeface="Arial"/>
                          <a:cs typeface="Arial"/>
                        </a:rPr>
                        <a:t>Description</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95580">
                <a:tc>
                  <a:txBody>
                    <a:bodyPr/>
                    <a:lstStyle/>
                    <a:p>
                      <a:pPr marL="78105">
                        <a:lnSpc>
                          <a:spcPct val="100000"/>
                        </a:lnSpc>
                        <a:spcBef>
                          <a:spcPts val="185"/>
                        </a:spcBef>
                      </a:pPr>
                      <a:r>
                        <a:rPr sz="900" spc="-10" dirty="0">
                          <a:solidFill>
                            <a:srgbClr val="C80000"/>
                          </a:solidFill>
                          <a:latin typeface="Arial"/>
                          <a:cs typeface="Arial"/>
                        </a:rPr>
                        <a:t>Availability</a:t>
                      </a:r>
                      <a:endParaRPr sz="900">
                        <a:latin typeface="Arial"/>
                        <a:cs typeface="Arial"/>
                      </a:endParaRPr>
                    </a:p>
                  </a:txBody>
                  <a:tcPr marL="0" marR="0" marT="2349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a:lnSpc>
                          <a:spcPct val="100000"/>
                        </a:lnSpc>
                        <a:spcBef>
                          <a:spcPts val="185"/>
                        </a:spcBef>
                      </a:pPr>
                      <a:r>
                        <a:rPr sz="900" dirty="0">
                          <a:latin typeface="Arial"/>
                          <a:cs typeface="Arial"/>
                        </a:rPr>
                        <a:t>Readiness</a:t>
                      </a:r>
                      <a:r>
                        <a:rPr sz="900" spc="-50" dirty="0">
                          <a:latin typeface="Arial"/>
                          <a:cs typeface="Arial"/>
                        </a:rPr>
                        <a:t> </a:t>
                      </a:r>
                      <a:r>
                        <a:rPr sz="900" dirty="0">
                          <a:latin typeface="Arial"/>
                          <a:cs typeface="Arial"/>
                        </a:rPr>
                        <a:t>for</a:t>
                      </a:r>
                      <a:r>
                        <a:rPr sz="900" spc="-45" dirty="0">
                          <a:latin typeface="Arial"/>
                          <a:cs typeface="Arial"/>
                        </a:rPr>
                        <a:t> </a:t>
                      </a:r>
                      <a:r>
                        <a:rPr sz="900" spc="-10" dirty="0">
                          <a:latin typeface="Arial"/>
                          <a:cs typeface="Arial"/>
                        </a:rPr>
                        <a:t>usage</a:t>
                      </a:r>
                      <a:endParaRPr sz="900">
                        <a:latin typeface="Arial"/>
                        <a:cs typeface="Arial"/>
                      </a:endParaRPr>
                    </a:p>
                  </a:txBody>
                  <a:tcPr marL="0" marR="0" marT="2349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88595">
                <a:tc>
                  <a:txBody>
                    <a:bodyPr/>
                    <a:lstStyle/>
                    <a:p>
                      <a:pPr marL="78105">
                        <a:lnSpc>
                          <a:spcPct val="100000"/>
                        </a:lnSpc>
                        <a:spcBef>
                          <a:spcPts val="130"/>
                        </a:spcBef>
                      </a:pPr>
                      <a:r>
                        <a:rPr sz="900" spc="-10" dirty="0">
                          <a:solidFill>
                            <a:srgbClr val="C80000"/>
                          </a:solidFill>
                          <a:latin typeface="Arial"/>
                          <a:cs typeface="Arial"/>
                        </a:rPr>
                        <a:t>Reliability</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130"/>
                        </a:spcBef>
                      </a:pPr>
                      <a:r>
                        <a:rPr sz="900" dirty="0">
                          <a:latin typeface="Arial"/>
                          <a:cs typeface="Arial"/>
                        </a:rPr>
                        <a:t>Continuity</a:t>
                      </a:r>
                      <a:r>
                        <a:rPr sz="900" spc="-30"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service</a:t>
                      </a:r>
                      <a:r>
                        <a:rPr sz="900" spc="-25" dirty="0">
                          <a:latin typeface="Arial"/>
                          <a:cs typeface="Arial"/>
                        </a:rPr>
                        <a:t> </a:t>
                      </a:r>
                      <a:r>
                        <a:rPr sz="900" spc="-10" dirty="0">
                          <a:latin typeface="Arial"/>
                          <a:cs typeface="Arial"/>
                        </a:rPr>
                        <a:t>delivery</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188595">
                <a:tc>
                  <a:txBody>
                    <a:bodyPr/>
                    <a:lstStyle/>
                    <a:p>
                      <a:pPr marL="78105">
                        <a:lnSpc>
                          <a:spcPct val="100000"/>
                        </a:lnSpc>
                        <a:spcBef>
                          <a:spcPts val="130"/>
                        </a:spcBef>
                      </a:pPr>
                      <a:r>
                        <a:rPr sz="900" spc="-10" dirty="0">
                          <a:solidFill>
                            <a:srgbClr val="C80000"/>
                          </a:solidFill>
                          <a:latin typeface="Arial"/>
                          <a:cs typeface="Arial"/>
                        </a:rPr>
                        <a:t>Safety</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130"/>
                        </a:spcBef>
                      </a:pPr>
                      <a:r>
                        <a:rPr sz="900" spc="-10" dirty="0">
                          <a:latin typeface="Arial"/>
                          <a:cs typeface="Arial"/>
                        </a:rPr>
                        <a:t>Very</a:t>
                      </a:r>
                      <a:r>
                        <a:rPr sz="900" spc="-35" dirty="0">
                          <a:latin typeface="Arial"/>
                          <a:cs typeface="Arial"/>
                        </a:rPr>
                        <a:t> </a:t>
                      </a:r>
                      <a:r>
                        <a:rPr sz="900" dirty="0">
                          <a:latin typeface="Arial"/>
                          <a:cs typeface="Arial"/>
                        </a:rPr>
                        <a:t>low</a:t>
                      </a:r>
                      <a:r>
                        <a:rPr sz="900" spc="-30" dirty="0">
                          <a:latin typeface="Arial"/>
                          <a:cs typeface="Arial"/>
                        </a:rPr>
                        <a:t> </a:t>
                      </a:r>
                      <a:r>
                        <a:rPr sz="900" dirty="0">
                          <a:latin typeface="Arial"/>
                          <a:cs typeface="Arial"/>
                        </a:rPr>
                        <a:t>probability</a:t>
                      </a:r>
                      <a:r>
                        <a:rPr sz="900" spc="-30" dirty="0">
                          <a:latin typeface="Arial"/>
                          <a:cs typeface="Arial"/>
                        </a:rPr>
                        <a:t> </a:t>
                      </a:r>
                      <a:r>
                        <a:rPr sz="900" dirty="0">
                          <a:latin typeface="Arial"/>
                          <a:cs typeface="Arial"/>
                        </a:rPr>
                        <a:t>of</a:t>
                      </a:r>
                      <a:r>
                        <a:rPr sz="900" spc="-35" dirty="0">
                          <a:latin typeface="Arial"/>
                          <a:cs typeface="Arial"/>
                        </a:rPr>
                        <a:t> </a:t>
                      </a:r>
                      <a:r>
                        <a:rPr sz="900" spc="-10" dirty="0">
                          <a:latin typeface="Arial"/>
                          <a:cs typeface="Arial"/>
                        </a:rPr>
                        <a:t>catastrophes</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188595">
                <a:tc>
                  <a:txBody>
                    <a:bodyPr/>
                    <a:lstStyle/>
                    <a:p>
                      <a:pPr marL="78105">
                        <a:lnSpc>
                          <a:spcPct val="100000"/>
                        </a:lnSpc>
                        <a:spcBef>
                          <a:spcPts val="130"/>
                        </a:spcBef>
                      </a:pPr>
                      <a:r>
                        <a:rPr sz="900" spc="-10" dirty="0">
                          <a:solidFill>
                            <a:srgbClr val="C80000"/>
                          </a:solidFill>
                          <a:latin typeface="Arial"/>
                          <a:cs typeface="Arial"/>
                        </a:rPr>
                        <a:t>Maintainability</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130"/>
                        </a:spcBef>
                      </a:pPr>
                      <a:r>
                        <a:rPr sz="900" dirty="0">
                          <a:latin typeface="Arial"/>
                          <a:cs typeface="Arial"/>
                        </a:rPr>
                        <a:t>How</a:t>
                      </a:r>
                      <a:r>
                        <a:rPr sz="900" spc="-30" dirty="0">
                          <a:latin typeface="Arial"/>
                          <a:cs typeface="Arial"/>
                        </a:rPr>
                        <a:t> </a:t>
                      </a:r>
                      <a:r>
                        <a:rPr sz="900" dirty="0">
                          <a:latin typeface="Arial"/>
                          <a:cs typeface="Arial"/>
                        </a:rPr>
                        <a:t>easy</a:t>
                      </a:r>
                      <a:r>
                        <a:rPr sz="900" spc="-30" dirty="0">
                          <a:latin typeface="Arial"/>
                          <a:cs typeface="Arial"/>
                        </a:rPr>
                        <a:t> </a:t>
                      </a:r>
                      <a:r>
                        <a:rPr sz="900" dirty="0">
                          <a:latin typeface="Arial"/>
                          <a:cs typeface="Arial"/>
                        </a:rPr>
                        <a:t>can</a:t>
                      </a:r>
                      <a:r>
                        <a:rPr sz="900" spc="-25"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failed</a:t>
                      </a:r>
                      <a:r>
                        <a:rPr sz="900" spc="-30" dirty="0">
                          <a:latin typeface="Arial"/>
                          <a:cs typeface="Arial"/>
                        </a:rPr>
                        <a:t> </a:t>
                      </a:r>
                      <a:r>
                        <a:rPr sz="900" dirty="0">
                          <a:latin typeface="Arial"/>
                          <a:cs typeface="Arial"/>
                        </a:rPr>
                        <a:t>system</a:t>
                      </a:r>
                      <a:r>
                        <a:rPr sz="900" spc="-25" dirty="0">
                          <a:latin typeface="Arial"/>
                          <a:cs typeface="Arial"/>
                        </a:rPr>
                        <a:t> </a:t>
                      </a:r>
                      <a:r>
                        <a:rPr sz="900" dirty="0">
                          <a:latin typeface="Arial"/>
                          <a:cs typeface="Arial"/>
                        </a:rPr>
                        <a:t>be</a:t>
                      </a:r>
                      <a:r>
                        <a:rPr sz="900" spc="-30" dirty="0">
                          <a:latin typeface="Arial"/>
                          <a:cs typeface="Arial"/>
                        </a:rPr>
                        <a:t> </a:t>
                      </a:r>
                      <a:r>
                        <a:rPr sz="900" spc="-10" dirty="0">
                          <a:latin typeface="Arial"/>
                          <a:cs typeface="Arial"/>
                        </a:rPr>
                        <a:t>repaired</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bl>
          </a:graphicData>
        </a:graphic>
      </p:graphicFrame>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45085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2" action="ppaction://hlinksldjump"/>
              </a:rPr>
              <a:t>Basic</a:t>
            </a:r>
            <a:r>
              <a:rPr sz="500" spc="-20" dirty="0">
                <a:latin typeface="Arial"/>
                <a:cs typeface="Arial"/>
                <a:hlinkClick r:id="rId2" action="ppaction://hlinksldjump"/>
              </a:rPr>
              <a:t> </a:t>
            </a:r>
            <a:r>
              <a:rPr sz="500" spc="-10" dirty="0">
                <a:latin typeface="Arial"/>
                <a:cs typeface="Arial"/>
                <a:hlinkClick r:id="rId2" action="ppaction://hlinksldjump"/>
              </a:rPr>
              <a:t>concepts</a:t>
            </a:r>
            <a:endParaRPr sz="500">
              <a:latin typeface="Arial"/>
              <a:cs typeface="Arial"/>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674745"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2" action="ppaction://hlinksldjump"/>
              </a:rPr>
              <a:t>Introduction</a:t>
            </a:r>
            <a:r>
              <a:rPr sz="500" spc="-25" dirty="0">
                <a:solidFill>
                  <a:srgbClr val="FFFFFF"/>
                </a:solidFill>
                <a:latin typeface="Arial"/>
                <a:cs typeface="Arial"/>
                <a:hlinkClick r:id="rId2" action="ppaction://hlinksldjump"/>
              </a:rPr>
              <a:t> </a:t>
            </a:r>
            <a:r>
              <a:rPr sz="500" dirty="0">
                <a:solidFill>
                  <a:srgbClr val="FFFFFF"/>
                </a:solidFill>
                <a:latin typeface="Arial"/>
                <a:cs typeface="Arial"/>
                <a:hlinkClick r:id="rId2" action="ppaction://hlinksldjump"/>
              </a:rPr>
              <a:t>to</a:t>
            </a:r>
            <a:r>
              <a:rPr sz="500" spc="-25" dirty="0">
                <a:solidFill>
                  <a:srgbClr val="FFFFFF"/>
                </a:solidFill>
                <a:latin typeface="Arial"/>
                <a:cs typeface="Arial"/>
                <a:hlinkClick r:id="rId2" action="ppaction://hlinksldjump"/>
              </a:rPr>
              <a:t> </a:t>
            </a:r>
            <a:r>
              <a:rPr sz="500" dirty="0">
                <a:solidFill>
                  <a:srgbClr val="FFFFFF"/>
                </a:solidFill>
                <a:latin typeface="Arial"/>
                <a:cs typeface="Arial"/>
                <a:hlinkClick r:id="rId2" action="ppaction://hlinksldjump"/>
              </a:rPr>
              <a:t>fault</a:t>
            </a:r>
            <a:r>
              <a:rPr sz="500" spc="-2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tolerance</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Reliability</a:t>
            </a:r>
            <a:r>
              <a:rPr spc="-65" dirty="0"/>
              <a:t> </a:t>
            </a:r>
            <a:r>
              <a:rPr dirty="0"/>
              <a:t>versus</a:t>
            </a:r>
            <a:r>
              <a:rPr spc="-65" dirty="0"/>
              <a:t> </a:t>
            </a:r>
            <a:r>
              <a:rPr spc="-10" dirty="0"/>
              <a:t>availability</a:t>
            </a:r>
          </a:p>
        </p:txBody>
      </p:sp>
      <p:sp>
        <p:nvSpPr>
          <p:cNvPr id="4" name="object 4"/>
          <p:cNvSpPr txBox="1"/>
          <p:nvPr/>
        </p:nvSpPr>
        <p:spPr>
          <a:xfrm>
            <a:off x="330682" y="466654"/>
            <a:ext cx="3955415" cy="1474470"/>
          </a:xfrm>
          <a:prstGeom prst="rect">
            <a:avLst/>
          </a:prstGeom>
        </p:spPr>
        <p:txBody>
          <a:bodyPr vert="horz" wrap="square" lIns="0" tIns="60325" rIns="0" bIns="0" rtlCol="0">
            <a:spAutoFit/>
          </a:bodyPr>
          <a:lstStyle/>
          <a:p>
            <a:pPr marL="29209">
              <a:lnSpc>
                <a:spcPct val="100000"/>
              </a:lnSpc>
              <a:spcBef>
                <a:spcPts val="475"/>
              </a:spcBef>
            </a:pPr>
            <a:r>
              <a:rPr sz="1000" dirty="0">
                <a:solidFill>
                  <a:srgbClr val="3333B2"/>
                </a:solidFill>
                <a:latin typeface="Arial"/>
                <a:cs typeface="Arial"/>
              </a:rPr>
              <a:t>Reliability</a:t>
            </a:r>
            <a:r>
              <a:rPr sz="1000" spc="-10" dirty="0">
                <a:solidFill>
                  <a:srgbClr val="3333B2"/>
                </a:solidFill>
                <a:latin typeface="Arial"/>
                <a:cs typeface="Arial"/>
              </a:rPr>
              <a:t> </a:t>
            </a:r>
            <a:r>
              <a:rPr sz="1000" i="1" dirty="0">
                <a:solidFill>
                  <a:srgbClr val="3333B2"/>
                </a:solidFill>
                <a:latin typeface="Arial"/>
                <a:cs typeface="Arial"/>
              </a:rPr>
              <a:t>R</a:t>
            </a:r>
            <a:r>
              <a:rPr sz="1000" dirty="0">
                <a:solidFill>
                  <a:srgbClr val="3333B2"/>
                </a:solidFill>
                <a:latin typeface="Arial"/>
                <a:cs typeface="Arial"/>
              </a:rPr>
              <a:t>(</a:t>
            </a:r>
            <a:r>
              <a:rPr sz="1000" i="1" dirty="0">
                <a:solidFill>
                  <a:srgbClr val="3333B2"/>
                </a:solidFill>
                <a:latin typeface="Arial"/>
                <a:cs typeface="Arial"/>
              </a:rPr>
              <a:t>t</a:t>
            </a:r>
            <a:r>
              <a:rPr sz="1000" i="1" spc="-190" dirty="0">
                <a:solidFill>
                  <a:srgbClr val="3333B2"/>
                </a:solidFill>
                <a:latin typeface="Arial"/>
                <a:cs typeface="Arial"/>
              </a:rPr>
              <a:t> </a:t>
            </a:r>
            <a:r>
              <a:rPr sz="1000" spc="50" dirty="0">
                <a:solidFill>
                  <a:srgbClr val="3333B2"/>
                </a:solidFill>
                <a:latin typeface="Arial"/>
                <a:cs typeface="Arial"/>
              </a:rPr>
              <a:t>)</a:t>
            </a:r>
            <a:r>
              <a:rPr sz="1000" dirty="0">
                <a:solidFill>
                  <a:srgbClr val="3333B2"/>
                </a:solidFill>
                <a:latin typeface="Arial"/>
                <a:cs typeface="Arial"/>
              </a:rPr>
              <a:t> of</a:t>
            </a:r>
            <a:r>
              <a:rPr sz="1000" spc="-5" dirty="0">
                <a:solidFill>
                  <a:srgbClr val="3333B2"/>
                </a:solidFill>
                <a:latin typeface="Arial"/>
                <a:cs typeface="Arial"/>
              </a:rPr>
              <a:t> </a:t>
            </a:r>
            <a:r>
              <a:rPr sz="1000" dirty="0">
                <a:solidFill>
                  <a:srgbClr val="3333B2"/>
                </a:solidFill>
                <a:latin typeface="Arial"/>
                <a:cs typeface="Arial"/>
              </a:rPr>
              <a:t>component</a:t>
            </a:r>
            <a:r>
              <a:rPr sz="1000" spc="-5" dirty="0">
                <a:solidFill>
                  <a:srgbClr val="3333B2"/>
                </a:solidFill>
                <a:latin typeface="Arial"/>
                <a:cs typeface="Arial"/>
              </a:rPr>
              <a:t> </a:t>
            </a:r>
            <a:r>
              <a:rPr sz="1000" i="1" spc="-50" dirty="0">
                <a:solidFill>
                  <a:srgbClr val="3333B2"/>
                </a:solidFill>
                <a:latin typeface="Arial"/>
                <a:cs typeface="Arial"/>
              </a:rPr>
              <a:t>C</a:t>
            </a:r>
            <a:endParaRPr sz="1000">
              <a:latin typeface="Arial"/>
              <a:cs typeface="Arial"/>
            </a:endParaRPr>
          </a:p>
          <a:p>
            <a:pPr marL="29209">
              <a:lnSpc>
                <a:spcPct val="100000"/>
              </a:lnSpc>
              <a:spcBef>
                <a:spcPts val="335"/>
              </a:spcBef>
            </a:pPr>
            <a:r>
              <a:rPr sz="900" spc="-10" dirty="0">
                <a:latin typeface="Arial"/>
                <a:cs typeface="Arial"/>
              </a:rPr>
              <a:t>Conditional</a:t>
            </a:r>
            <a:r>
              <a:rPr sz="900" spc="-15" dirty="0">
                <a:latin typeface="Arial"/>
                <a:cs typeface="Arial"/>
              </a:rPr>
              <a:t> </a:t>
            </a:r>
            <a:r>
              <a:rPr sz="900" spc="-10" dirty="0">
                <a:latin typeface="Arial"/>
                <a:cs typeface="Arial"/>
              </a:rPr>
              <a:t>probability </a:t>
            </a:r>
            <a:r>
              <a:rPr sz="900" dirty="0">
                <a:latin typeface="Arial"/>
                <a:cs typeface="Arial"/>
              </a:rPr>
              <a:t>that</a:t>
            </a:r>
            <a:r>
              <a:rPr sz="900" spc="-5" dirty="0">
                <a:latin typeface="Arial"/>
                <a:cs typeface="Arial"/>
              </a:rPr>
              <a:t> </a:t>
            </a:r>
            <a:r>
              <a:rPr sz="900" i="1" dirty="0">
                <a:latin typeface="Arial"/>
                <a:cs typeface="Arial"/>
              </a:rPr>
              <a:t>C</a:t>
            </a:r>
            <a:r>
              <a:rPr sz="900" i="1" spc="45" dirty="0">
                <a:latin typeface="Arial"/>
                <a:cs typeface="Arial"/>
              </a:rPr>
              <a:t> </a:t>
            </a:r>
            <a:r>
              <a:rPr sz="900" dirty="0">
                <a:latin typeface="Arial"/>
                <a:cs typeface="Arial"/>
              </a:rPr>
              <a:t>has</a:t>
            </a:r>
            <a:r>
              <a:rPr sz="900" spc="-10" dirty="0">
                <a:latin typeface="Arial"/>
                <a:cs typeface="Arial"/>
              </a:rPr>
              <a:t> </a:t>
            </a:r>
            <a:r>
              <a:rPr sz="900" dirty="0">
                <a:latin typeface="Arial"/>
                <a:cs typeface="Arial"/>
              </a:rPr>
              <a:t>been</a:t>
            </a:r>
            <a:r>
              <a:rPr sz="900" spc="-10" dirty="0">
                <a:latin typeface="Arial"/>
                <a:cs typeface="Arial"/>
              </a:rPr>
              <a:t> functioning correctly </a:t>
            </a:r>
            <a:r>
              <a:rPr sz="900" dirty="0">
                <a:latin typeface="Arial"/>
                <a:cs typeface="Arial"/>
              </a:rPr>
              <a:t>during</a:t>
            </a:r>
            <a:r>
              <a:rPr sz="900" spc="-5" dirty="0">
                <a:latin typeface="Arial"/>
                <a:cs typeface="Arial"/>
              </a:rPr>
              <a:t> </a:t>
            </a:r>
            <a:r>
              <a:rPr sz="900" dirty="0">
                <a:latin typeface="Arial"/>
                <a:cs typeface="Arial"/>
              </a:rPr>
              <a:t>[0</a:t>
            </a:r>
            <a:r>
              <a:rPr sz="900" i="1" dirty="0">
                <a:latin typeface="Arial"/>
                <a:cs typeface="Arial"/>
              </a:rPr>
              <a:t>,</a:t>
            </a:r>
            <a:r>
              <a:rPr sz="900" i="1" spc="-155" dirty="0">
                <a:latin typeface="Arial"/>
                <a:cs typeface="Arial"/>
              </a:rPr>
              <a:t> </a:t>
            </a:r>
            <a:r>
              <a:rPr sz="900" i="1" spc="-10" dirty="0">
                <a:latin typeface="Arial"/>
                <a:cs typeface="Arial"/>
              </a:rPr>
              <a:t>t</a:t>
            </a:r>
            <a:r>
              <a:rPr sz="900" i="1" spc="-170" dirty="0">
                <a:latin typeface="Arial"/>
                <a:cs typeface="Arial"/>
              </a:rPr>
              <a:t> </a:t>
            </a:r>
            <a:r>
              <a:rPr sz="900" spc="55" dirty="0">
                <a:latin typeface="Arial"/>
                <a:cs typeface="Arial"/>
              </a:rPr>
              <a:t>)</a:t>
            </a:r>
            <a:r>
              <a:rPr sz="900" spc="-10" dirty="0">
                <a:latin typeface="Arial"/>
                <a:cs typeface="Arial"/>
              </a:rPr>
              <a:t> given</a:t>
            </a:r>
            <a:endParaRPr sz="900">
              <a:latin typeface="Arial"/>
              <a:cs typeface="Arial"/>
            </a:endParaRPr>
          </a:p>
          <a:p>
            <a:pPr marL="29209">
              <a:lnSpc>
                <a:spcPct val="100000"/>
              </a:lnSpc>
              <a:spcBef>
                <a:spcPts val="125"/>
              </a:spcBef>
            </a:pPr>
            <a:r>
              <a:rPr sz="900" i="1" dirty="0">
                <a:latin typeface="Arial"/>
                <a:cs typeface="Arial"/>
              </a:rPr>
              <a:t>C</a:t>
            </a:r>
            <a:r>
              <a:rPr sz="900" i="1" spc="20" dirty="0">
                <a:latin typeface="Arial"/>
                <a:cs typeface="Arial"/>
              </a:rPr>
              <a:t> </a:t>
            </a:r>
            <a:r>
              <a:rPr sz="900" dirty="0">
                <a:latin typeface="Arial"/>
                <a:cs typeface="Arial"/>
              </a:rPr>
              <a:t>was</a:t>
            </a:r>
            <a:r>
              <a:rPr sz="900" spc="-20" dirty="0">
                <a:latin typeface="Arial"/>
                <a:cs typeface="Arial"/>
              </a:rPr>
              <a:t> </a:t>
            </a:r>
            <a:r>
              <a:rPr sz="900" dirty="0">
                <a:latin typeface="Arial"/>
                <a:cs typeface="Arial"/>
              </a:rPr>
              <a:t>functioning</a:t>
            </a:r>
            <a:r>
              <a:rPr sz="900" spc="-25" dirty="0">
                <a:latin typeface="Arial"/>
                <a:cs typeface="Arial"/>
              </a:rPr>
              <a:t> </a:t>
            </a:r>
            <a:r>
              <a:rPr sz="900" dirty="0">
                <a:latin typeface="Arial"/>
                <a:cs typeface="Arial"/>
              </a:rPr>
              <a:t>correctly</a:t>
            </a:r>
            <a:r>
              <a:rPr sz="900" spc="-20" dirty="0">
                <a:latin typeface="Arial"/>
                <a:cs typeface="Arial"/>
              </a:rPr>
              <a:t> </a:t>
            </a:r>
            <a:r>
              <a:rPr sz="900" dirty="0">
                <a:latin typeface="Arial"/>
                <a:cs typeface="Arial"/>
              </a:rPr>
              <a:t>at</a:t>
            </a:r>
            <a:r>
              <a:rPr sz="900" spc="-20" dirty="0">
                <a:latin typeface="Arial"/>
                <a:cs typeface="Arial"/>
              </a:rPr>
              <a:t> </a:t>
            </a:r>
            <a:r>
              <a:rPr sz="900" dirty="0">
                <a:latin typeface="Arial"/>
                <a:cs typeface="Arial"/>
              </a:rPr>
              <a:t>time</a:t>
            </a:r>
            <a:r>
              <a:rPr sz="900" spc="-25" dirty="0">
                <a:latin typeface="Arial"/>
                <a:cs typeface="Arial"/>
              </a:rPr>
              <a:t> </a:t>
            </a:r>
            <a:r>
              <a:rPr sz="900" i="1" dirty="0">
                <a:latin typeface="Arial"/>
                <a:cs typeface="Arial"/>
              </a:rPr>
              <a:t>T</a:t>
            </a:r>
            <a:r>
              <a:rPr sz="900" i="1" spc="50" dirty="0">
                <a:latin typeface="Arial"/>
                <a:cs typeface="Arial"/>
              </a:rPr>
              <a:t> </a:t>
            </a:r>
            <a:r>
              <a:rPr sz="900" spc="185" dirty="0">
                <a:latin typeface="Arial"/>
                <a:cs typeface="Arial"/>
              </a:rPr>
              <a:t>=</a:t>
            </a:r>
            <a:r>
              <a:rPr sz="900" spc="-65" dirty="0">
                <a:latin typeface="Arial"/>
                <a:cs typeface="Arial"/>
              </a:rPr>
              <a:t> </a:t>
            </a:r>
            <a:r>
              <a:rPr sz="900" spc="-25" dirty="0">
                <a:latin typeface="Arial"/>
                <a:cs typeface="Arial"/>
              </a:rPr>
              <a:t>0.</a:t>
            </a:r>
            <a:endParaRPr sz="900">
              <a:latin typeface="Arial"/>
              <a:cs typeface="Arial"/>
            </a:endParaRPr>
          </a:p>
          <a:p>
            <a:pPr marL="25400">
              <a:lnSpc>
                <a:spcPct val="100000"/>
              </a:lnSpc>
              <a:spcBef>
                <a:spcPts val="815"/>
              </a:spcBef>
            </a:pPr>
            <a:r>
              <a:rPr sz="1000" spc="-20" dirty="0">
                <a:solidFill>
                  <a:srgbClr val="3333B2"/>
                </a:solidFill>
                <a:latin typeface="Arial"/>
                <a:cs typeface="Arial"/>
              </a:rPr>
              <a:t>Traditional</a:t>
            </a:r>
            <a:r>
              <a:rPr sz="1000" spc="35" dirty="0">
                <a:solidFill>
                  <a:srgbClr val="3333B2"/>
                </a:solidFill>
                <a:latin typeface="Arial"/>
                <a:cs typeface="Arial"/>
              </a:rPr>
              <a:t> </a:t>
            </a:r>
            <a:r>
              <a:rPr sz="1000" spc="-10" dirty="0">
                <a:solidFill>
                  <a:srgbClr val="3333B2"/>
                </a:solidFill>
                <a:latin typeface="Arial"/>
                <a:cs typeface="Arial"/>
              </a:rPr>
              <a:t>metrics</a:t>
            </a:r>
            <a:endParaRPr sz="1000">
              <a:latin typeface="Arial"/>
              <a:cs typeface="Arial"/>
            </a:endParaRPr>
          </a:p>
          <a:p>
            <a:pPr marL="281940" indent="-120650">
              <a:lnSpc>
                <a:spcPct val="100000"/>
              </a:lnSpc>
              <a:spcBef>
                <a:spcPts val="500"/>
              </a:spcBef>
              <a:buClr>
                <a:srgbClr val="3333B2"/>
              </a:buClr>
              <a:buFont typeface="Menlo"/>
              <a:buChar char="•"/>
              <a:tabLst>
                <a:tab pos="282575" algn="l"/>
              </a:tabLst>
            </a:pPr>
            <a:r>
              <a:rPr sz="900" dirty="0">
                <a:solidFill>
                  <a:srgbClr val="C80000"/>
                </a:solidFill>
                <a:latin typeface="Arial"/>
                <a:cs typeface="Arial"/>
              </a:rPr>
              <a:t>Mean</a:t>
            </a:r>
            <a:r>
              <a:rPr sz="900" spc="-40" dirty="0">
                <a:solidFill>
                  <a:srgbClr val="C80000"/>
                </a:solidFill>
                <a:latin typeface="Arial"/>
                <a:cs typeface="Arial"/>
              </a:rPr>
              <a:t> </a:t>
            </a:r>
            <a:r>
              <a:rPr sz="900" dirty="0">
                <a:solidFill>
                  <a:srgbClr val="C80000"/>
                </a:solidFill>
                <a:latin typeface="Arial"/>
                <a:cs typeface="Arial"/>
              </a:rPr>
              <a:t>Time</a:t>
            </a:r>
            <a:r>
              <a:rPr sz="900" spc="-25" dirty="0">
                <a:solidFill>
                  <a:srgbClr val="C80000"/>
                </a:solidFill>
                <a:latin typeface="Arial"/>
                <a:cs typeface="Arial"/>
              </a:rPr>
              <a:t> </a:t>
            </a:r>
            <a:r>
              <a:rPr sz="900" spc="-65" dirty="0">
                <a:solidFill>
                  <a:srgbClr val="C80000"/>
                </a:solidFill>
                <a:latin typeface="Arial"/>
                <a:cs typeface="Arial"/>
              </a:rPr>
              <a:t>To</a:t>
            </a:r>
            <a:r>
              <a:rPr sz="900" spc="-5" dirty="0">
                <a:solidFill>
                  <a:srgbClr val="C80000"/>
                </a:solidFill>
                <a:latin typeface="Arial"/>
                <a:cs typeface="Arial"/>
              </a:rPr>
              <a:t> </a:t>
            </a:r>
            <a:r>
              <a:rPr sz="900" spc="-10" dirty="0">
                <a:solidFill>
                  <a:srgbClr val="C80000"/>
                </a:solidFill>
                <a:latin typeface="Arial"/>
                <a:cs typeface="Arial"/>
              </a:rPr>
              <a:t>Failure</a:t>
            </a:r>
            <a:r>
              <a:rPr sz="900" spc="-20" dirty="0">
                <a:solidFill>
                  <a:srgbClr val="C80000"/>
                </a:solidFill>
                <a:latin typeface="Arial"/>
                <a:cs typeface="Arial"/>
              </a:rPr>
              <a:t> </a:t>
            </a:r>
            <a:r>
              <a:rPr sz="900" dirty="0">
                <a:latin typeface="Arial"/>
                <a:cs typeface="Arial"/>
              </a:rPr>
              <a:t>(</a:t>
            </a:r>
            <a:r>
              <a:rPr sz="900" i="1" dirty="0">
                <a:solidFill>
                  <a:srgbClr val="3333B2"/>
                </a:solidFill>
                <a:latin typeface="Arial"/>
                <a:cs typeface="Arial"/>
              </a:rPr>
              <a:t>MTTF</a:t>
            </a:r>
            <a:r>
              <a:rPr sz="900" dirty="0">
                <a:latin typeface="Arial"/>
                <a:cs typeface="Arial"/>
              </a:rPr>
              <a:t>):</a:t>
            </a:r>
            <a:r>
              <a:rPr sz="900" spc="35" dirty="0">
                <a:latin typeface="Arial"/>
                <a:cs typeface="Arial"/>
              </a:rPr>
              <a:t> </a:t>
            </a:r>
            <a:r>
              <a:rPr sz="900" dirty="0">
                <a:latin typeface="Arial"/>
                <a:cs typeface="Arial"/>
              </a:rPr>
              <a:t>The</a:t>
            </a:r>
            <a:r>
              <a:rPr sz="900" spc="-20" dirty="0">
                <a:latin typeface="Arial"/>
                <a:cs typeface="Arial"/>
              </a:rPr>
              <a:t> </a:t>
            </a:r>
            <a:r>
              <a:rPr sz="900" spc="-10" dirty="0">
                <a:latin typeface="Arial"/>
                <a:cs typeface="Arial"/>
              </a:rPr>
              <a:t>average</a:t>
            </a:r>
            <a:r>
              <a:rPr sz="900" spc="-25" dirty="0">
                <a:latin typeface="Arial"/>
                <a:cs typeface="Arial"/>
              </a:rPr>
              <a:t> </a:t>
            </a:r>
            <a:r>
              <a:rPr sz="900" dirty="0">
                <a:latin typeface="Arial"/>
                <a:cs typeface="Arial"/>
              </a:rPr>
              <a:t>time</a:t>
            </a:r>
            <a:r>
              <a:rPr sz="900" spc="-20" dirty="0">
                <a:latin typeface="Arial"/>
                <a:cs typeface="Arial"/>
              </a:rPr>
              <a:t> </a:t>
            </a:r>
            <a:r>
              <a:rPr sz="900" dirty="0">
                <a:latin typeface="Arial"/>
                <a:cs typeface="Arial"/>
              </a:rPr>
              <a:t>until</a:t>
            </a:r>
            <a:r>
              <a:rPr sz="900" spc="-25"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component</a:t>
            </a:r>
            <a:r>
              <a:rPr sz="900" spc="-20" dirty="0">
                <a:latin typeface="Arial"/>
                <a:cs typeface="Arial"/>
              </a:rPr>
              <a:t> </a:t>
            </a:r>
            <a:r>
              <a:rPr sz="900" spc="-10" dirty="0">
                <a:latin typeface="Arial"/>
                <a:cs typeface="Arial"/>
              </a:rPr>
              <a:t>fails.</a:t>
            </a:r>
            <a:endParaRPr sz="900">
              <a:latin typeface="Arial"/>
              <a:cs typeface="Arial"/>
            </a:endParaRPr>
          </a:p>
          <a:p>
            <a:pPr marL="281940" marR="247015" indent="-120650">
              <a:lnSpc>
                <a:spcPct val="111600"/>
              </a:lnSpc>
              <a:buClr>
                <a:srgbClr val="3333B2"/>
              </a:buClr>
              <a:buFont typeface="Menlo"/>
              <a:buChar char="•"/>
              <a:tabLst>
                <a:tab pos="282575" algn="l"/>
              </a:tabLst>
            </a:pPr>
            <a:r>
              <a:rPr sz="900" dirty="0">
                <a:solidFill>
                  <a:srgbClr val="C80000"/>
                </a:solidFill>
                <a:latin typeface="Arial"/>
                <a:cs typeface="Arial"/>
              </a:rPr>
              <a:t>Mean</a:t>
            </a:r>
            <a:r>
              <a:rPr sz="900" spc="-45" dirty="0">
                <a:solidFill>
                  <a:srgbClr val="C80000"/>
                </a:solidFill>
                <a:latin typeface="Arial"/>
                <a:cs typeface="Arial"/>
              </a:rPr>
              <a:t> </a:t>
            </a:r>
            <a:r>
              <a:rPr sz="900" dirty="0">
                <a:solidFill>
                  <a:srgbClr val="C80000"/>
                </a:solidFill>
                <a:latin typeface="Arial"/>
                <a:cs typeface="Arial"/>
              </a:rPr>
              <a:t>Time</a:t>
            </a:r>
            <a:r>
              <a:rPr sz="900" spc="-25" dirty="0">
                <a:solidFill>
                  <a:srgbClr val="C80000"/>
                </a:solidFill>
                <a:latin typeface="Arial"/>
                <a:cs typeface="Arial"/>
              </a:rPr>
              <a:t> </a:t>
            </a:r>
            <a:r>
              <a:rPr sz="900" spc="-65" dirty="0">
                <a:solidFill>
                  <a:srgbClr val="C80000"/>
                </a:solidFill>
                <a:latin typeface="Arial"/>
                <a:cs typeface="Arial"/>
              </a:rPr>
              <a:t>To</a:t>
            </a:r>
            <a:r>
              <a:rPr sz="900" spc="-5" dirty="0">
                <a:solidFill>
                  <a:srgbClr val="C80000"/>
                </a:solidFill>
                <a:latin typeface="Arial"/>
                <a:cs typeface="Arial"/>
              </a:rPr>
              <a:t> </a:t>
            </a:r>
            <a:r>
              <a:rPr sz="900" dirty="0">
                <a:solidFill>
                  <a:srgbClr val="C80000"/>
                </a:solidFill>
                <a:latin typeface="Arial"/>
                <a:cs typeface="Arial"/>
              </a:rPr>
              <a:t>Repair</a:t>
            </a:r>
            <a:r>
              <a:rPr sz="900" spc="-20" dirty="0">
                <a:solidFill>
                  <a:srgbClr val="C80000"/>
                </a:solidFill>
                <a:latin typeface="Arial"/>
                <a:cs typeface="Arial"/>
              </a:rPr>
              <a:t> </a:t>
            </a:r>
            <a:r>
              <a:rPr sz="900" dirty="0">
                <a:latin typeface="Arial"/>
                <a:cs typeface="Arial"/>
              </a:rPr>
              <a:t>(</a:t>
            </a:r>
            <a:r>
              <a:rPr sz="900" i="1" dirty="0">
                <a:solidFill>
                  <a:srgbClr val="3333B2"/>
                </a:solidFill>
                <a:latin typeface="Arial"/>
                <a:cs typeface="Arial"/>
              </a:rPr>
              <a:t>MTTR</a:t>
            </a:r>
            <a:r>
              <a:rPr sz="900" dirty="0">
                <a:latin typeface="Arial"/>
                <a:cs typeface="Arial"/>
              </a:rPr>
              <a:t>):</a:t>
            </a:r>
            <a:r>
              <a:rPr sz="900" spc="30" dirty="0">
                <a:latin typeface="Arial"/>
                <a:cs typeface="Arial"/>
              </a:rPr>
              <a:t> </a:t>
            </a:r>
            <a:r>
              <a:rPr sz="900" dirty="0">
                <a:latin typeface="Arial"/>
                <a:cs typeface="Arial"/>
              </a:rPr>
              <a:t>The</a:t>
            </a:r>
            <a:r>
              <a:rPr sz="900" spc="-25" dirty="0">
                <a:latin typeface="Arial"/>
                <a:cs typeface="Arial"/>
              </a:rPr>
              <a:t> </a:t>
            </a:r>
            <a:r>
              <a:rPr sz="900" spc="-10" dirty="0">
                <a:latin typeface="Arial"/>
                <a:cs typeface="Arial"/>
              </a:rPr>
              <a:t>average</a:t>
            </a:r>
            <a:r>
              <a:rPr sz="900" spc="-20" dirty="0">
                <a:latin typeface="Arial"/>
                <a:cs typeface="Arial"/>
              </a:rPr>
              <a:t> </a:t>
            </a:r>
            <a:r>
              <a:rPr sz="900" dirty="0">
                <a:latin typeface="Arial"/>
                <a:cs typeface="Arial"/>
              </a:rPr>
              <a:t>time</a:t>
            </a:r>
            <a:r>
              <a:rPr sz="900" spc="-25" dirty="0">
                <a:latin typeface="Arial"/>
                <a:cs typeface="Arial"/>
              </a:rPr>
              <a:t> </a:t>
            </a:r>
            <a:r>
              <a:rPr sz="900" dirty="0">
                <a:latin typeface="Arial"/>
                <a:cs typeface="Arial"/>
              </a:rPr>
              <a:t>needed</a:t>
            </a:r>
            <a:r>
              <a:rPr sz="900" spc="-25"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repair</a:t>
            </a:r>
            <a:r>
              <a:rPr sz="900" spc="-25" dirty="0">
                <a:latin typeface="Arial"/>
                <a:cs typeface="Arial"/>
              </a:rPr>
              <a:t> </a:t>
            </a:r>
            <a:r>
              <a:rPr sz="900" spc="-50" dirty="0">
                <a:latin typeface="Arial"/>
                <a:cs typeface="Arial"/>
              </a:rPr>
              <a:t>a</a:t>
            </a:r>
            <a:r>
              <a:rPr sz="900" spc="-10" dirty="0">
                <a:latin typeface="Arial"/>
                <a:cs typeface="Arial"/>
              </a:rPr>
              <a:t> component.</a:t>
            </a:r>
            <a:endParaRPr sz="900">
              <a:latin typeface="Arial"/>
              <a:cs typeface="Arial"/>
            </a:endParaRPr>
          </a:p>
          <a:p>
            <a:pPr marL="281940" indent="-120650">
              <a:lnSpc>
                <a:spcPct val="100000"/>
              </a:lnSpc>
              <a:spcBef>
                <a:spcPts val="125"/>
              </a:spcBef>
              <a:buClr>
                <a:srgbClr val="3333B2"/>
              </a:buClr>
              <a:buFont typeface="Menlo"/>
              <a:buChar char="•"/>
              <a:tabLst>
                <a:tab pos="282575" algn="l"/>
              </a:tabLst>
            </a:pPr>
            <a:r>
              <a:rPr sz="900" dirty="0">
                <a:solidFill>
                  <a:srgbClr val="C80000"/>
                </a:solidFill>
                <a:latin typeface="Arial"/>
                <a:cs typeface="Arial"/>
              </a:rPr>
              <a:t>Mean</a:t>
            </a:r>
            <a:r>
              <a:rPr sz="900" spc="-30" dirty="0">
                <a:solidFill>
                  <a:srgbClr val="C80000"/>
                </a:solidFill>
                <a:latin typeface="Arial"/>
                <a:cs typeface="Arial"/>
              </a:rPr>
              <a:t> </a:t>
            </a:r>
            <a:r>
              <a:rPr sz="900" dirty="0">
                <a:solidFill>
                  <a:srgbClr val="C80000"/>
                </a:solidFill>
                <a:latin typeface="Arial"/>
                <a:cs typeface="Arial"/>
              </a:rPr>
              <a:t>Time</a:t>
            </a:r>
            <a:r>
              <a:rPr sz="900" spc="-25" dirty="0">
                <a:solidFill>
                  <a:srgbClr val="C80000"/>
                </a:solidFill>
                <a:latin typeface="Arial"/>
                <a:cs typeface="Arial"/>
              </a:rPr>
              <a:t> </a:t>
            </a:r>
            <a:r>
              <a:rPr sz="900" dirty="0">
                <a:solidFill>
                  <a:srgbClr val="C80000"/>
                </a:solidFill>
                <a:latin typeface="Arial"/>
                <a:cs typeface="Arial"/>
              </a:rPr>
              <a:t>Between</a:t>
            </a:r>
            <a:r>
              <a:rPr sz="900" spc="-30" dirty="0">
                <a:solidFill>
                  <a:srgbClr val="C80000"/>
                </a:solidFill>
                <a:latin typeface="Arial"/>
                <a:cs typeface="Arial"/>
              </a:rPr>
              <a:t> </a:t>
            </a:r>
            <a:r>
              <a:rPr sz="900" spc="-10" dirty="0">
                <a:solidFill>
                  <a:srgbClr val="C80000"/>
                </a:solidFill>
                <a:latin typeface="Arial"/>
                <a:cs typeface="Arial"/>
              </a:rPr>
              <a:t>Failures</a:t>
            </a:r>
            <a:r>
              <a:rPr sz="900" spc="-25" dirty="0">
                <a:solidFill>
                  <a:srgbClr val="C80000"/>
                </a:solidFill>
                <a:latin typeface="Arial"/>
                <a:cs typeface="Arial"/>
              </a:rPr>
              <a:t> </a:t>
            </a:r>
            <a:r>
              <a:rPr sz="900" dirty="0">
                <a:latin typeface="Arial"/>
                <a:cs typeface="Arial"/>
              </a:rPr>
              <a:t>(</a:t>
            </a:r>
            <a:r>
              <a:rPr sz="900" i="1" dirty="0">
                <a:solidFill>
                  <a:srgbClr val="3333B2"/>
                </a:solidFill>
                <a:latin typeface="Arial"/>
                <a:cs typeface="Arial"/>
              </a:rPr>
              <a:t>MTBF</a:t>
            </a:r>
            <a:r>
              <a:rPr sz="900" dirty="0">
                <a:latin typeface="Arial"/>
                <a:cs typeface="Arial"/>
              </a:rPr>
              <a:t>):</a:t>
            </a:r>
            <a:r>
              <a:rPr sz="900" spc="30" dirty="0">
                <a:latin typeface="Arial"/>
                <a:cs typeface="Arial"/>
              </a:rPr>
              <a:t> </a:t>
            </a:r>
            <a:r>
              <a:rPr sz="900" dirty="0">
                <a:latin typeface="Arial"/>
                <a:cs typeface="Arial"/>
              </a:rPr>
              <a:t>Simply</a:t>
            </a:r>
            <a:r>
              <a:rPr sz="900" spc="-30" dirty="0">
                <a:latin typeface="Arial"/>
                <a:cs typeface="Arial"/>
              </a:rPr>
              <a:t> </a:t>
            </a:r>
            <a:r>
              <a:rPr sz="900" i="1" dirty="0">
                <a:latin typeface="Arial"/>
                <a:cs typeface="Arial"/>
              </a:rPr>
              <a:t>MTTF</a:t>
            </a:r>
            <a:r>
              <a:rPr sz="900" i="1" spc="-25" dirty="0">
                <a:latin typeface="Arial"/>
                <a:cs typeface="Arial"/>
              </a:rPr>
              <a:t> </a:t>
            </a:r>
            <a:r>
              <a:rPr sz="900" dirty="0">
                <a:latin typeface="Arial"/>
                <a:cs typeface="Arial"/>
              </a:rPr>
              <a:t>+</a:t>
            </a:r>
            <a:r>
              <a:rPr sz="900" spc="-25" dirty="0">
                <a:latin typeface="Arial"/>
                <a:cs typeface="Arial"/>
              </a:rPr>
              <a:t> </a:t>
            </a:r>
            <a:r>
              <a:rPr sz="900" i="1" spc="-20" dirty="0">
                <a:latin typeface="Arial"/>
                <a:cs typeface="Arial"/>
              </a:rPr>
              <a:t>MTTR</a:t>
            </a:r>
            <a:r>
              <a:rPr sz="900" spc="-20" dirty="0">
                <a:latin typeface="Arial"/>
                <a:cs typeface="Arial"/>
              </a:rPr>
              <a:t>.</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45085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2" action="ppaction://hlinksldjump"/>
              </a:rPr>
              <a:t>Basic</a:t>
            </a:r>
            <a:r>
              <a:rPr sz="500" spc="-20" dirty="0">
                <a:latin typeface="Arial"/>
                <a:cs typeface="Arial"/>
                <a:hlinkClick r:id="rId2" action="ppaction://hlinksldjump"/>
              </a:rPr>
              <a:t> </a:t>
            </a:r>
            <a:r>
              <a:rPr sz="500" spc="-10" dirty="0">
                <a:latin typeface="Arial"/>
                <a:cs typeface="Arial"/>
                <a:hlinkClick r:id="rId2" action="ppaction://hlinksldjump"/>
              </a:rPr>
              <a:t>concepts</a:t>
            </a:r>
            <a:endParaRPr sz="500">
              <a:latin typeface="Arial"/>
              <a:cs typeface="Arial"/>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674745"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2" action="ppaction://hlinksldjump"/>
              </a:rPr>
              <a:t>Introduction</a:t>
            </a:r>
            <a:r>
              <a:rPr sz="500" spc="-25" dirty="0">
                <a:solidFill>
                  <a:srgbClr val="FFFFFF"/>
                </a:solidFill>
                <a:latin typeface="Arial"/>
                <a:cs typeface="Arial"/>
                <a:hlinkClick r:id="rId2" action="ppaction://hlinksldjump"/>
              </a:rPr>
              <a:t> </a:t>
            </a:r>
            <a:r>
              <a:rPr sz="500" dirty="0">
                <a:solidFill>
                  <a:srgbClr val="FFFFFF"/>
                </a:solidFill>
                <a:latin typeface="Arial"/>
                <a:cs typeface="Arial"/>
                <a:hlinkClick r:id="rId2" action="ppaction://hlinksldjump"/>
              </a:rPr>
              <a:t>to</a:t>
            </a:r>
            <a:r>
              <a:rPr sz="500" spc="-25" dirty="0">
                <a:solidFill>
                  <a:srgbClr val="FFFFFF"/>
                </a:solidFill>
                <a:latin typeface="Arial"/>
                <a:cs typeface="Arial"/>
                <a:hlinkClick r:id="rId2" action="ppaction://hlinksldjump"/>
              </a:rPr>
              <a:t> </a:t>
            </a:r>
            <a:r>
              <a:rPr sz="500" dirty="0">
                <a:solidFill>
                  <a:srgbClr val="FFFFFF"/>
                </a:solidFill>
                <a:latin typeface="Arial"/>
                <a:cs typeface="Arial"/>
                <a:hlinkClick r:id="rId2" action="ppaction://hlinksldjump"/>
              </a:rPr>
              <a:t>fault</a:t>
            </a:r>
            <a:r>
              <a:rPr sz="500" spc="-2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tolerance</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Reliability</a:t>
            </a:r>
            <a:r>
              <a:rPr spc="-65" dirty="0"/>
              <a:t> </a:t>
            </a:r>
            <a:r>
              <a:rPr dirty="0"/>
              <a:t>versus</a:t>
            </a:r>
            <a:r>
              <a:rPr spc="-65" dirty="0"/>
              <a:t> </a:t>
            </a:r>
            <a:r>
              <a:rPr spc="-10" dirty="0"/>
              <a:t>availability</a:t>
            </a:r>
          </a:p>
        </p:txBody>
      </p:sp>
      <p:sp>
        <p:nvSpPr>
          <p:cNvPr id="4" name="object 4"/>
          <p:cNvSpPr txBox="1"/>
          <p:nvPr/>
        </p:nvSpPr>
        <p:spPr>
          <a:xfrm>
            <a:off x="292328" y="466654"/>
            <a:ext cx="3869690" cy="1507490"/>
          </a:xfrm>
          <a:prstGeom prst="rect">
            <a:avLst/>
          </a:prstGeom>
        </p:spPr>
        <p:txBody>
          <a:bodyPr vert="horz" wrap="square" lIns="0" tIns="60325" rIns="0" bIns="0" rtlCol="0">
            <a:spAutoFit/>
          </a:bodyPr>
          <a:lstStyle/>
          <a:p>
            <a:pPr marL="63500">
              <a:lnSpc>
                <a:spcPct val="100000"/>
              </a:lnSpc>
              <a:spcBef>
                <a:spcPts val="475"/>
              </a:spcBef>
            </a:pPr>
            <a:r>
              <a:rPr sz="1000" spc="-10" dirty="0">
                <a:solidFill>
                  <a:srgbClr val="3333B2"/>
                </a:solidFill>
                <a:latin typeface="Arial"/>
                <a:cs typeface="Arial"/>
              </a:rPr>
              <a:t>Availability </a:t>
            </a:r>
            <a:r>
              <a:rPr sz="1000" i="1" dirty="0">
                <a:solidFill>
                  <a:srgbClr val="3333B2"/>
                </a:solidFill>
                <a:latin typeface="Arial"/>
                <a:cs typeface="Arial"/>
              </a:rPr>
              <a:t>A</a:t>
            </a:r>
            <a:r>
              <a:rPr sz="1000" dirty="0">
                <a:solidFill>
                  <a:srgbClr val="3333B2"/>
                </a:solidFill>
                <a:latin typeface="Arial"/>
                <a:cs typeface="Arial"/>
              </a:rPr>
              <a:t>(</a:t>
            </a:r>
            <a:r>
              <a:rPr sz="1000" i="1" dirty="0">
                <a:solidFill>
                  <a:srgbClr val="3333B2"/>
                </a:solidFill>
                <a:latin typeface="Arial"/>
                <a:cs typeface="Arial"/>
              </a:rPr>
              <a:t>t</a:t>
            </a:r>
            <a:r>
              <a:rPr sz="1000" i="1" spc="-190" dirty="0">
                <a:solidFill>
                  <a:srgbClr val="3333B2"/>
                </a:solidFill>
                <a:latin typeface="Arial"/>
                <a:cs typeface="Arial"/>
              </a:rPr>
              <a:t> </a:t>
            </a:r>
            <a:r>
              <a:rPr sz="1000" spc="50" dirty="0">
                <a:solidFill>
                  <a:srgbClr val="3333B2"/>
                </a:solidFill>
                <a:latin typeface="Arial"/>
                <a:cs typeface="Arial"/>
              </a:rPr>
              <a:t>)</a:t>
            </a:r>
            <a:r>
              <a:rPr sz="1000" dirty="0">
                <a:solidFill>
                  <a:srgbClr val="3333B2"/>
                </a:solidFill>
                <a:latin typeface="Arial"/>
                <a:cs typeface="Arial"/>
              </a:rPr>
              <a:t> of</a:t>
            </a:r>
            <a:r>
              <a:rPr sz="1000" spc="-5" dirty="0">
                <a:solidFill>
                  <a:srgbClr val="3333B2"/>
                </a:solidFill>
                <a:latin typeface="Arial"/>
                <a:cs typeface="Arial"/>
              </a:rPr>
              <a:t> </a:t>
            </a:r>
            <a:r>
              <a:rPr sz="1000" dirty="0">
                <a:solidFill>
                  <a:srgbClr val="3333B2"/>
                </a:solidFill>
                <a:latin typeface="Arial"/>
                <a:cs typeface="Arial"/>
              </a:rPr>
              <a:t>component</a:t>
            </a:r>
            <a:r>
              <a:rPr sz="1000" spc="-5" dirty="0">
                <a:solidFill>
                  <a:srgbClr val="3333B2"/>
                </a:solidFill>
                <a:latin typeface="Arial"/>
                <a:cs typeface="Arial"/>
              </a:rPr>
              <a:t> </a:t>
            </a:r>
            <a:r>
              <a:rPr sz="1000" i="1" spc="-50" dirty="0">
                <a:solidFill>
                  <a:srgbClr val="3333B2"/>
                </a:solidFill>
                <a:latin typeface="Arial"/>
                <a:cs typeface="Arial"/>
              </a:rPr>
              <a:t>C</a:t>
            </a:r>
            <a:endParaRPr sz="1000" dirty="0">
              <a:latin typeface="Arial"/>
              <a:cs typeface="Arial"/>
            </a:endParaRPr>
          </a:p>
          <a:p>
            <a:pPr marL="63500">
              <a:lnSpc>
                <a:spcPct val="100000"/>
              </a:lnSpc>
              <a:spcBef>
                <a:spcPts val="335"/>
              </a:spcBef>
            </a:pPr>
            <a:r>
              <a:rPr sz="900" spc="-10" dirty="0">
                <a:solidFill>
                  <a:srgbClr val="3333B2"/>
                </a:solidFill>
                <a:latin typeface="Arial"/>
                <a:cs typeface="Arial"/>
              </a:rPr>
              <a:t>Average</a:t>
            </a:r>
            <a:r>
              <a:rPr sz="900" spc="-30" dirty="0">
                <a:solidFill>
                  <a:srgbClr val="3333B2"/>
                </a:solidFill>
                <a:latin typeface="Arial"/>
                <a:cs typeface="Arial"/>
              </a:rPr>
              <a:t> </a:t>
            </a:r>
            <a:r>
              <a:rPr sz="900" dirty="0">
                <a:solidFill>
                  <a:srgbClr val="3333B2"/>
                </a:solidFill>
                <a:latin typeface="Arial"/>
                <a:cs typeface="Arial"/>
              </a:rPr>
              <a:t>fraction</a:t>
            </a:r>
            <a:r>
              <a:rPr sz="900" spc="-20" dirty="0">
                <a:solidFill>
                  <a:srgbClr val="3333B2"/>
                </a:solidFill>
                <a:latin typeface="Arial"/>
                <a:cs typeface="Arial"/>
              </a:rPr>
              <a:t> </a:t>
            </a:r>
            <a:r>
              <a:rPr sz="900" dirty="0">
                <a:latin typeface="Arial"/>
                <a:cs typeface="Arial"/>
              </a:rPr>
              <a:t>of</a:t>
            </a:r>
            <a:r>
              <a:rPr sz="900" spc="-15" dirty="0">
                <a:latin typeface="Arial"/>
                <a:cs typeface="Arial"/>
              </a:rPr>
              <a:t> </a:t>
            </a:r>
            <a:r>
              <a:rPr sz="900" dirty="0">
                <a:latin typeface="Arial"/>
                <a:cs typeface="Arial"/>
              </a:rPr>
              <a:t>time</a:t>
            </a:r>
            <a:r>
              <a:rPr sz="900" spc="-20" dirty="0">
                <a:latin typeface="Arial"/>
                <a:cs typeface="Arial"/>
              </a:rPr>
              <a:t> </a:t>
            </a:r>
            <a:r>
              <a:rPr sz="900" dirty="0">
                <a:latin typeface="Arial"/>
                <a:cs typeface="Arial"/>
              </a:rPr>
              <a:t>that</a:t>
            </a:r>
            <a:r>
              <a:rPr sz="900" spc="-20" dirty="0">
                <a:latin typeface="Arial"/>
                <a:cs typeface="Arial"/>
              </a:rPr>
              <a:t> </a:t>
            </a:r>
            <a:r>
              <a:rPr sz="900" i="1" dirty="0">
                <a:latin typeface="Arial"/>
                <a:cs typeface="Arial"/>
              </a:rPr>
              <a:t>C</a:t>
            </a:r>
            <a:r>
              <a:rPr sz="900" i="1" spc="35" dirty="0">
                <a:latin typeface="Arial"/>
                <a:cs typeface="Arial"/>
              </a:rPr>
              <a:t> </a:t>
            </a:r>
            <a:r>
              <a:rPr sz="900" dirty="0">
                <a:latin typeface="Arial"/>
                <a:cs typeface="Arial"/>
              </a:rPr>
              <a:t>has</a:t>
            </a:r>
            <a:r>
              <a:rPr sz="900" spc="-20" dirty="0">
                <a:latin typeface="Arial"/>
                <a:cs typeface="Arial"/>
              </a:rPr>
              <a:t> </a:t>
            </a:r>
            <a:r>
              <a:rPr sz="900" dirty="0">
                <a:latin typeface="Arial"/>
                <a:cs typeface="Arial"/>
              </a:rPr>
              <a:t>been</a:t>
            </a:r>
            <a:r>
              <a:rPr sz="900" spc="-20" dirty="0">
                <a:latin typeface="Arial"/>
                <a:cs typeface="Arial"/>
              </a:rPr>
              <a:t> </a:t>
            </a:r>
            <a:r>
              <a:rPr sz="900" spc="-10" dirty="0">
                <a:latin typeface="Arial"/>
                <a:cs typeface="Arial"/>
              </a:rPr>
              <a:t>up-and-</a:t>
            </a:r>
            <a:r>
              <a:rPr sz="900" dirty="0">
                <a:latin typeface="Arial"/>
                <a:cs typeface="Arial"/>
              </a:rPr>
              <a:t>running</a:t>
            </a:r>
            <a:r>
              <a:rPr sz="900" spc="-15" dirty="0">
                <a:latin typeface="Arial"/>
                <a:cs typeface="Arial"/>
              </a:rPr>
              <a:t> </a:t>
            </a:r>
            <a:r>
              <a:rPr sz="900" dirty="0">
                <a:latin typeface="Arial"/>
                <a:cs typeface="Arial"/>
              </a:rPr>
              <a:t>in</a:t>
            </a:r>
            <a:r>
              <a:rPr sz="900" spc="-20" dirty="0">
                <a:latin typeface="Arial"/>
                <a:cs typeface="Arial"/>
              </a:rPr>
              <a:t> </a:t>
            </a:r>
            <a:r>
              <a:rPr sz="900" dirty="0">
                <a:latin typeface="Arial"/>
                <a:cs typeface="Arial"/>
              </a:rPr>
              <a:t>interval</a:t>
            </a:r>
            <a:r>
              <a:rPr sz="900" spc="-20" dirty="0">
                <a:latin typeface="Arial"/>
                <a:cs typeface="Arial"/>
              </a:rPr>
              <a:t> </a:t>
            </a:r>
            <a:r>
              <a:rPr sz="900" dirty="0">
                <a:latin typeface="Arial"/>
                <a:cs typeface="Arial"/>
              </a:rPr>
              <a:t>[0</a:t>
            </a:r>
            <a:r>
              <a:rPr sz="900" i="1" dirty="0">
                <a:latin typeface="Arial"/>
                <a:cs typeface="Arial"/>
              </a:rPr>
              <a:t>,</a:t>
            </a:r>
            <a:r>
              <a:rPr sz="900" i="1" spc="-155" dirty="0">
                <a:latin typeface="Arial"/>
                <a:cs typeface="Arial"/>
              </a:rPr>
              <a:t> </a:t>
            </a:r>
            <a:r>
              <a:rPr sz="900" i="1" spc="-10" dirty="0">
                <a:latin typeface="Arial"/>
                <a:cs typeface="Arial"/>
              </a:rPr>
              <a:t>t</a:t>
            </a:r>
            <a:r>
              <a:rPr sz="900" i="1" spc="-170" dirty="0">
                <a:latin typeface="Arial"/>
                <a:cs typeface="Arial"/>
              </a:rPr>
              <a:t> </a:t>
            </a:r>
            <a:r>
              <a:rPr sz="900" spc="-25" dirty="0">
                <a:latin typeface="Arial"/>
                <a:cs typeface="Arial"/>
              </a:rPr>
              <a:t>).</a:t>
            </a:r>
            <a:endParaRPr sz="900" dirty="0">
              <a:latin typeface="Arial"/>
              <a:cs typeface="Arial"/>
            </a:endParaRPr>
          </a:p>
          <a:p>
            <a:pPr marL="320675" indent="-121285">
              <a:lnSpc>
                <a:spcPct val="100000"/>
              </a:lnSpc>
              <a:spcBef>
                <a:spcPts val="525"/>
              </a:spcBef>
              <a:buClr>
                <a:srgbClr val="3333B2"/>
              </a:buClr>
              <a:buFont typeface="Menlo"/>
              <a:buChar char="•"/>
              <a:tabLst>
                <a:tab pos="321310" algn="l"/>
              </a:tabLst>
            </a:pPr>
            <a:r>
              <a:rPr sz="900" spc="-10" dirty="0">
                <a:latin typeface="Arial"/>
                <a:cs typeface="Arial"/>
              </a:rPr>
              <a:t>Long-</a:t>
            </a:r>
            <a:r>
              <a:rPr sz="900" dirty="0">
                <a:latin typeface="Arial"/>
                <a:cs typeface="Arial"/>
              </a:rPr>
              <a:t>term</a:t>
            </a:r>
            <a:r>
              <a:rPr sz="900" spc="10" dirty="0">
                <a:latin typeface="Arial"/>
                <a:cs typeface="Arial"/>
              </a:rPr>
              <a:t> </a:t>
            </a:r>
            <a:r>
              <a:rPr sz="900" spc="-10" dirty="0">
                <a:latin typeface="Arial"/>
                <a:cs typeface="Arial"/>
              </a:rPr>
              <a:t>availability</a:t>
            </a:r>
            <a:r>
              <a:rPr sz="900" spc="10" dirty="0">
                <a:latin typeface="Arial"/>
                <a:cs typeface="Arial"/>
              </a:rPr>
              <a:t> </a:t>
            </a:r>
            <a:r>
              <a:rPr sz="900" i="1" dirty="0">
                <a:latin typeface="Arial"/>
                <a:cs typeface="Arial"/>
              </a:rPr>
              <a:t>A</a:t>
            </a:r>
            <a:r>
              <a:rPr sz="900" dirty="0">
                <a:latin typeface="Arial"/>
                <a:cs typeface="Arial"/>
              </a:rPr>
              <a:t>:</a:t>
            </a:r>
            <a:r>
              <a:rPr sz="900" spc="75" dirty="0">
                <a:latin typeface="Arial"/>
                <a:cs typeface="Arial"/>
              </a:rPr>
              <a:t> </a:t>
            </a:r>
            <a:r>
              <a:rPr sz="900" i="1" spc="-20" dirty="0">
                <a:latin typeface="Arial"/>
                <a:cs typeface="Arial"/>
              </a:rPr>
              <a:t>A</a:t>
            </a:r>
            <a:r>
              <a:rPr sz="900" spc="-20" dirty="0">
                <a:latin typeface="Arial"/>
                <a:cs typeface="Arial"/>
              </a:rPr>
              <a:t>(∞)</a:t>
            </a:r>
            <a:endParaRPr sz="900" dirty="0">
              <a:latin typeface="Arial"/>
              <a:cs typeface="Arial"/>
            </a:endParaRPr>
          </a:p>
          <a:p>
            <a:pPr marL="320675" indent="-121285">
              <a:lnSpc>
                <a:spcPts val="955"/>
              </a:lnSpc>
              <a:spcBef>
                <a:spcPts val="290"/>
              </a:spcBef>
              <a:buClr>
                <a:srgbClr val="3333B2"/>
              </a:buClr>
              <a:buFont typeface="Menlo"/>
              <a:buChar char="•"/>
              <a:tabLst>
                <a:tab pos="321310" algn="l"/>
                <a:tab pos="1541145" algn="l"/>
                <a:tab pos="2039620" algn="l"/>
              </a:tabLst>
            </a:pPr>
            <a:r>
              <a:rPr sz="1350" baseline="-21604" dirty="0">
                <a:solidFill>
                  <a:srgbClr val="C80000"/>
                </a:solidFill>
                <a:latin typeface="Arial"/>
                <a:cs typeface="Arial"/>
              </a:rPr>
              <a:t>Note:</a:t>
            </a:r>
            <a:r>
              <a:rPr sz="1350" spc="97" baseline="-21604" dirty="0">
                <a:solidFill>
                  <a:srgbClr val="C80000"/>
                </a:solidFill>
                <a:latin typeface="Arial"/>
                <a:cs typeface="Arial"/>
              </a:rPr>
              <a:t> </a:t>
            </a:r>
            <a:r>
              <a:rPr sz="1350" i="1" baseline="-21604" dirty="0">
                <a:latin typeface="Arial"/>
                <a:cs typeface="Arial"/>
              </a:rPr>
              <a:t>A</a:t>
            </a:r>
            <a:r>
              <a:rPr sz="1350" i="1" spc="-75" baseline="-21604" dirty="0">
                <a:latin typeface="Arial"/>
                <a:cs typeface="Arial"/>
              </a:rPr>
              <a:t> </a:t>
            </a:r>
            <a:r>
              <a:rPr sz="1350" spc="277" baseline="-21604" dirty="0">
                <a:latin typeface="Arial"/>
                <a:cs typeface="Arial"/>
              </a:rPr>
              <a:t>=</a:t>
            </a:r>
            <a:r>
              <a:rPr sz="1350" spc="157" baseline="-21604" dirty="0">
                <a:latin typeface="Arial"/>
                <a:cs typeface="Arial"/>
              </a:rPr>
              <a:t> </a:t>
            </a:r>
            <a:r>
              <a:rPr sz="900" i="1" u="sng" dirty="0">
                <a:uFill>
                  <a:solidFill>
                    <a:srgbClr val="000000"/>
                  </a:solidFill>
                </a:uFill>
                <a:latin typeface="Arial"/>
                <a:cs typeface="Arial"/>
              </a:rPr>
              <a:t>MTTF</a:t>
            </a:r>
            <a:r>
              <a:rPr sz="900" i="1" spc="105" dirty="0">
                <a:latin typeface="Arial"/>
                <a:cs typeface="Arial"/>
              </a:rPr>
              <a:t> </a:t>
            </a:r>
            <a:r>
              <a:rPr sz="1350" spc="277" baseline="-21604" dirty="0">
                <a:latin typeface="Arial"/>
                <a:cs typeface="Arial"/>
              </a:rPr>
              <a:t>=</a:t>
            </a:r>
            <a:r>
              <a:rPr sz="1350" spc="112" baseline="-21604" dirty="0">
                <a:latin typeface="Arial"/>
                <a:cs typeface="Arial"/>
              </a:rPr>
              <a:t> </a:t>
            </a:r>
            <a:r>
              <a:rPr sz="900" u="sng" dirty="0">
                <a:uFill>
                  <a:solidFill>
                    <a:srgbClr val="000000"/>
                  </a:solidFill>
                </a:uFill>
                <a:latin typeface="Times New Roman"/>
                <a:cs typeface="Times New Roman"/>
              </a:rPr>
              <a:t>	</a:t>
            </a:r>
            <a:r>
              <a:rPr sz="900" i="1" u="sng" spc="-20" dirty="0">
                <a:uFill>
                  <a:solidFill>
                    <a:srgbClr val="000000"/>
                  </a:solidFill>
                </a:uFill>
                <a:latin typeface="Arial"/>
                <a:cs typeface="Arial"/>
              </a:rPr>
              <a:t>MTTF</a:t>
            </a:r>
            <a:r>
              <a:rPr sz="900" i="1" u="sng" dirty="0">
                <a:uFill>
                  <a:solidFill>
                    <a:srgbClr val="000000"/>
                  </a:solidFill>
                </a:uFill>
                <a:latin typeface="Arial"/>
                <a:cs typeface="Arial"/>
              </a:rPr>
              <a:t>	</a:t>
            </a:r>
            <a:endParaRPr sz="900" dirty="0">
              <a:latin typeface="Arial"/>
              <a:cs typeface="Arial"/>
            </a:endParaRPr>
          </a:p>
          <a:p>
            <a:pPr marL="864235">
              <a:lnSpc>
                <a:spcPts val="955"/>
              </a:lnSpc>
              <a:tabLst>
                <a:tab pos="1346200" algn="l"/>
              </a:tabLst>
            </a:pPr>
            <a:r>
              <a:rPr sz="900" i="1" spc="-20" dirty="0">
                <a:latin typeface="Arial"/>
                <a:cs typeface="Arial"/>
              </a:rPr>
              <a:t>MTBF</a:t>
            </a:r>
            <a:r>
              <a:rPr sz="900" i="1" dirty="0">
                <a:latin typeface="Arial"/>
                <a:cs typeface="Arial"/>
              </a:rPr>
              <a:t>	</a:t>
            </a:r>
            <a:r>
              <a:rPr sz="900" i="1" spc="-10" dirty="0">
                <a:latin typeface="Arial"/>
                <a:cs typeface="Arial"/>
              </a:rPr>
              <a:t>MTTF</a:t>
            </a:r>
            <a:r>
              <a:rPr sz="700" spc="-10" dirty="0">
                <a:latin typeface="Arial"/>
                <a:cs typeface="Arial"/>
              </a:rPr>
              <a:t>+</a:t>
            </a:r>
            <a:r>
              <a:rPr sz="900" i="1" spc="-10" dirty="0">
                <a:latin typeface="Arial"/>
                <a:cs typeface="Arial"/>
              </a:rPr>
              <a:t>MTTR</a:t>
            </a:r>
            <a:endParaRPr sz="900" dirty="0">
              <a:latin typeface="Arial"/>
              <a:cs typeface="Arial"/>
            </a:endParaRPr>
          </a:p>
          <a:p>
            <a:pPr>
              <a:lnSpc>
                <a:spcPct val="100000"/>
              </a:lnSpc>
              <a:spcBef>
                <a:spcPts val="20"/>
              </a:spcBef>
            </a:pPr>
            <a:endParaRPr sz="1100" dirty="0">
              <a:latin typeface="Arial"/>
              <a:cs typeface="Arial"/>
            </a:endParaRPr>
          </a:p>
          <a:p>
            <a:pPr marL="67310">
              <a:lnSpc>
                <a:spcPct val="100000"/>
              </a:lnSpc>
            </a:pPr>
            <a:r>
              <a:rPr sz="1000" spc="-10" dirty="0">
                <a:solidFill>
                  <a:srgbClr val="C80000"/>
                </a:solidFill>
                <a:latin typeface="Arial"/>
                <a:cs typeface="Arial"/>
              </a:rPr>
              <a:t>Observation</a:t>
            </a:r>
            <a:endParaRPr sz="1000" dirty="0">
              <a:latin typeface="Arial"/>
              <a:cs typeface="Arial"/>
            </a:endParaRPr>
          </a:p>
          <a:p>
            <a:pPr marL="63500" marR="17780" indent="3810">
              <a:lnSpc>
                <a:spcPts val="1210"/>
              </a:lnSpc>
              <a:spcBef>
                <a:spcPts val="35"/>
              </a:spcBef>
            </a:pPr>
            <a:r>
              <a:rPr sz="900" dirty="0">
                <a:solidFill>
                  <a:srgbClr val="3333B2"/>
                </a:solidFill>
                <a:latin typeface="Arial"/>
                <a:cs typeface="Arial"/>
              </a:rPr>
              <a:t>Reliability</a:t>
            </a:r>
            <a:r>
              <a:rPr sz="900" spc="-25" dirty="0">
                <a:solidFill>
                  <a:srgbClr val="3333B2"/>
                </a:solidFill>
                <a:latin typeface="Arial"/>
                <a:cs typeface="Arial"/>
              </a:rPr>
              <a:t> </a:t>
            </a:r>
            <a:r>
              <a:rPr sz="900" dirty="0">
                <a:latin typeface="Arial"/>
                <a:cs typeface="Arial"/>
              </a:rPr>
              <a:t>and</a:t>
            </a:r>
            <a:r>
              <a:rPr sz="900" spc="-25" dirty="0">
                <a:latin typeface="Arial"/>
                <a:cs typeface="Arial"/>
              </a:rPr>
              <a:t> </a:t>
            </a:r>
            <a:r>
              <a:rPr sz="900" spc="-10" dirty="0">
                <a:solidFill>
                  <a:srgbClr val="3333B2"/>
                </a:solidFill>
                <a:latin typeface="Arial"/>
                <a:cs typeface="Arial"/>
              </a:rPr>
              <a:t>availability</a:t>
            </a:r>
            <a:r>
              <a:rPr sz="900" spc="-25" dirty="0">
                <a:solidFill>
                  <a:srgbClr val="3333B2"/>
                </a:solidFill>
                <a:latin typeface="Arial"/>
                <a:cs typeface="Arial"/>
              </a:rPr>
              <a:t> </a:t>
            </a:r>
            <a:r>
              <a:rPr sz="900" dirty="0">
                <a:latin typeface="Arial"/>
                <a:cs typeface="Arial"/>
              </a:rPr>
              <a:t>make</a:t>
            </a:r>
            <a:r>
              <a:rPr sz="900" spc="-25" dirty="0">
                <a:latin typeface="Arial"/>
                <a:cs typeface="Arial"/>
              </a:rPr>
              <a:t> </a:t>
            </a:r>
            <a:r>
              <a:rPr sz="900" dirty="0">
                <a:latin typeface="Arial"/>
                <a:cs typeface="Arial"/>
              </a:rPr>
              <a:t>sense</a:t>
            </a:r>
            <a:r>
              <a:rPr sz="900" spc="-25" dirty="0">
                <a:latin typeface="Arial"/>
                <a:cs typeface="Arial"/>
              </a:rPr>
              <a:t> </a:t>
            </a:r>
            <a:r>
              <a:rPr sz="900" dirty="0">
                <a:latin typeface="Arial"/>
                <a:cs typeface="Arial"/>
              </a:rPr>
              <a:t>only</a:t>
            </a:r>
            <a:r>
              <a:rPr sz="900" spc="-25" dirty="0">
                <a:latin typeface="Arial"/>
                <a:cs typeface="Arial"/>
              </a:rPr>
              <a:t> </a:t>
            </a:r>
            <a:r>
              <a:rPr sz="900" dirty="0">
                <a:latin typeface="Arial"/>
                <a:cs typeface="Arial"/>
              </a:rPr>
              <a:t>if</a:t>
            </a:r>
            <a:r>
              <a:rPr sz="900" spc="-25" dirty="0">
                <a:latin typeface="Arial"/>
                <a:cs typeface="Arial"/>
              </a:rPr>
              <a:t> </a:t>
            </a:r>
            <a:r>
              <a:rPr sz="900" dirty="0">
                <a:latin typeface="Arial"/>
                <a:cs typeface="Arial"/>
              </a:rPr>
              <a:t>we</a:t>
            </a:r>
            <a:r>
              <a:rPr sz="900" spc="-20" dirty="0">
                <a:latin typeface="Arial"/>
                <a:cs typeface="Arial"/>
              </a:rPr>
              <a:t> </a:t>
            </a:r>
            <a:r>
              <a:rPr sz="900" spc="-10" dirty="0">
                <a:latin typeface="Arial"/>
                <a:cs typeface="Arial"/>
              </a:rPr>
              <a:t>have</a:t>
            </a:r>
            <a:r>
              <a:rPr sz="900" spc="-25" dirty="0">
                <a:latin typeface="Arial"/>
                <a:cs typeface="Arial"/>
              </a:rPr>
              <a:t> </a:t>
            </a:r>
            <a:r>
              <a:rPr sz="900" dirty="0">
                <a:latin typeface="Arial"/>
                <a:cs typeface="Arial"/>
              </a:rPr>
              <a:t>an</a:t>
            </a:r>
            <a:r>
              <a:rPr sz="900" spc="-25" dirty="0">
                <a:latin typeface="Arial"/>
                <a:cs typeface="Arial"/>
              </a:rPr>
              <a:t> </a:t>
            </a:r>
            <a:r>
              <a:rPr sz="900" dirty="0">
                <a:latin typeface="Arial"/>
                <a:cs typeface="Arial"/>
              </a:rPr>
              <a:t>accurate</a:t>
            </a:r>
            <a:r>
              <a:rPr sz="900" spc="-25" dirty="0">
                <a:latin typeface="Arial"/>
                <a:cs typeface="Arial"/>
              </a:rPr>
              <a:t> </a:t>
            </a:r>
            <a:r>
              <a:rPr sz="900" dirty="0">
                <a:latin typeface="Arial"/>
                <a:cs typeface="Arial"/>
              </a:rPr>
              <a:t>notion</a:t>
            </a:r>
            <a:r>
              <a:rPr sz="900" spc="-25" dirty="0">
                <a:latin typeface="Arial"/>
                <a:cs typeface="Arial"/>
              </a:rPr>
              <a:t> of </a:t>
            </a:r>
            <a:r>
              <a:rPr sz="900" dirty="0">
                <a:latin typeface="Arial"/>
                <a:cs typeface="Arial"/>
              </a:rPr>
              <a:t>what</a:t>
            </a:r>
            <a:r>
              <a:rPr sz="900" spc="-35" dirty="0">
                <a:latin typeface="Arial"/>
                <a:cs typeface="Arial"/>
              </a:rPr>
              <a:t> </a:t>
            </a:r>
            <a:r>
              <a:rPr sz="900" dirty="0">
                <a:latin typeface="Arial"/>
                <a:cs typeface="Arial"/>
              </a:rPr>
              <a:t>a</a:t>
            </a:r>
            <a:r>
              <a:rPr sz="900" spc="-30" dirty="0">
                <a:latin typeface="Arial"/>
                <a:cs typeface="Arial"/>
              </a:rPr>
              <a:t> </a:t>
            </a:r>
            <a:r>
              <a:rPr sz="900" dirty="0">
                <a:solidFill>
                  <a:srgbClr val="C80000"/>
                </a:solidFill>
                <a:latin typeface="Arial"/>
                <a:cs typeface="Arial"/>
              </a:rPr>
              <a:t>failure</a:t>
            </a:r>
            <a:r>
              <a:rPr sz="900" spc="-35" dirty="0">
                <a:solidFill>
                  <a:srgbClr val="C80000"/>
                </a:solidFill>
                <a:latin typeface="Arial"/>
                <a:cs typeface="Arial"/>
              </a:rPr>
              <a:t> </a:t>
            </a:r>
            <a:r>
              <a:rPr sz="900" dirty="0">
                <a:latin typeface="Arial"/>
                <a:cs typeface="Arial"/>
              </a:rPr>
              <a:t>actually</a:t>
            </a:r>
            <a:r>
              <a:rPr sz="900" spc="-30" dirty="0">
                <a:latin typeface="Arial"/>
                <a:cs typeface="Arial"/>
              </a:rPr>
              <a:t> </a:t>
            </a:r>
            <a:r>
              <a:rPr sz="900" spc="-25" dirty="0">
                <a:latin typeface="Arial"/>
                <a:cs typeface="Arial"/>
              </a:rPr>
              <a:t>is.</a:t>
            </a:r>
            <a:endParaRPr sz="900" dirty="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45085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2" action="ppaction://hlinksldjump"/>
              </a:rPr>
              <a:t>Basic</a:t>
            </a:r>
            <a:r>
              <a:rPr sz="500" spc="-20" dirty="0">
                <a:latin typeface="Arial"/>
                <a:cs typeface="Arial"/>
                <a:hlinkClick r:id="rId2" action="ppaction://hlinksldjump"/>
              </a:rPr>
              <a:t> </a:t>
            </a:r>
            <a:r>
              <a:rPr sz="500" spc="-10" dirty="0">
                <a:latin typeface="Arial"/>
                <a:cs typeface="Arial"/>
                <a:hlinkClick r:id="rId2" action="ppaction://hlinksldjump"/>
              </a:rPr>
              <a:t>concepts</a:t>
            </a:r>
            <a:endParaRPr sz="500">
              <a:latin typeface="Arial"/>
              <a:cs typeface="Arial"/>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15842" y="-1515"/>
            <a:ext cx="83883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2" action="ppaction://hlinksldjump"/>
              </a:rPr>
              <a:t>Introduction</a:t>
            </a:r>
            <a:r>
              <a:rPr sz="500" spc="-25" dirty="0">
                <a:solidFill>
                  <a:srgbClr val="FFFFFF"/>
                </a:solidFill>
                <a:latin typeface="Arial"/>
                <a:cs typeface="Arial"/>
                <a:hlinkClick r:id="rId2" action="ppaction://hlinksldjump"/>
              </a:rPr>
              <a:t> </a:t>
            </a:r>
            <a:r>
              <a:rPr sz="500" dirty="0">
                <a:solidFill>
                  <a:srgbClr val="FFFFFF"/>
                </a:solidFill>
                <a:latin typeface="Arial"/>
                <a:cs typeface="Arial"/>
                <a:hlinkClick r:id="rId2" action="ppaction://hlinksldjump"/>
              </a:rPr>
              <a:t>to</a:t>
            </a:r>
            <a:r>
              <a:rPr sz="500" spc="-25" dirty="0">
                <a:solidFill>
                  <a:srgbClr val="FFFFFF"/>
                </a:solidFill>
                <a:latin typeface="Arial"/>
                <a:cs typeface="Arial"/>
                <a:hlinkClick r:id="rId2" action="ppaction://hlinksldjump"/>
              </a:rPr>
              <a:t> </a:t>
            </a:r>
            <a:r>
              <a:rPr sz="500" dirty="0">
                <a:solidFill>
                  <a:srgbClr val="FFFFFF"/>
                </a:solidFill>
                <a:latin typeface="Arial"/>
                <a:cs typeface="Arial"/>
                <a:hlinkClick r:id="rId2" action="ppaction://hlinksldjump"/>
              </a:rPr>
              <a:t>fault</a:t>
            </a:r>
            <a:r>
              <a:rPr sz="500" spc="-2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tolerance</a:t>
            </a:r>
            <a:endParaRPr sz="500">
              <a:latin typeface="Arial"/>
              <a:cs typeface="Arial"/>
            </a:endParaRPr>
          </a:p>
        </p:txBody>
      </p:sp>
      <p:sp>
        <p:nvSpPr>
          <p:cNvPr id="5" name="object 5"/>
          <p:cNvSpPr txBox="1"/>
          <p:nvPr/>
        </p:nvSpPr>
        <p:spPr>
          <a:xfrm>
            <a:off x="95300" y="197711"/>
            <a:ext cx="1292860" cy="494665"/>
          </a:xfrm>
          <a:prstGeom prst="rect">
            <a:avLst/>
          </a:prstGeom>
        </p:spPr>
        <p:txBody>
          <a:bodyPr vert="horz" wrap="square" lIns="0" tIns="12065" rIns="0" bIns="0" rtlCol="0">
            <a:spAutoFit/>
          </a:bodyPr>
          <a:lstStyle/>
          <a:p>
            <a:pPr marL="12700">
              <a:lnSpc>
                <a:spcPct val="100000"/>
              </a:lnSpc>
              <a:spcBef>
                <a:spcPts val="95"/>
              </a:spcBef>
            </a:pPr>
            <a:r>
              <a:rPr sz="1200" spc="-10" dirty="0">
                <a:solidFill>
                  <a:srgbClr val="3333B2"/>
                </a:solidFill>
                <a:latin typeface="Arial"/>
                <a:cs typeface="Arial"/>
              </a:rPr>
              <a:t>Terminology</a:t>
            </a:r>
            <a:endParaRPr sz="1200" dirty="0">
              <a:latin typeface="Arial"/>
              <a:cs typeface="Arial"/>
            </a:endParaRPr>
          </a:p>
          <a:p>
            <a:pPr marL="264160">
              <a:lnSpc>
                <a:spcPct val="100000"/>
              </a:lnSpc>
              <a:spcBef>
                <a:spcPts val="1055"/>
              </a:spcBef>
            </a:pPr>
            <a:r>
              <a:rPr sz="1000" spc="-10" dirty="0">
                <a:solidFill>
                  <a:srgbClr val="3333B2"/>
                </a:solidFill>
                <a:latin typeface="Arial"/>
                <a:cs typeface="Arial"/>
              </a:rPr>
              <a:t>Failure,</a:t>
            </a:r>
            <a:r>
              <a:rPr sz="1000" spc="-25" dirty="0">
                <a:solidFill>
                  <a:srgbClr val="3333B2"/>
                </a:solidFill>
                <a:latin typeface="Arial"/>
                <a:cs typeface="Arial"/>
              </a:rPr>
              <a:t> </a:t>
            </a:r>
            <a:r>
              <a:rPr sz="1000" spc="-10" dirty="0">
                <a:solidFill>
                  <a:srgbClr val="3333B2"/>
                </a:solidFill>
                <a:latin typeface="Arial"/>
                <a:cs typeface="Arial"/>
              </a:rPr>
              <a:t>error,</a:t>
            </a:r>
            <a:r>
              <a:rPr sz="1000" spc="-20" dirty="0">
                <a:solidFill>
                  <a:srgbClr val="3333B2"/>
                </a:solidFill>
                <a:latin typeface="Arial"/>
                <a:cs typeface="Arial"/>
              </a:rPr>
              <a:t> </a:t>
            </a:r>
            <a:r>
              <a:rPr sz="1000" spc="-10" dirty="0">
                <a:solidFill>
                  <a:srgbClr val="3333B2"/>
                </a:solidFill>
                <a:latin typeface="Arial"/>
                <a:cs typeface="Arial"/>
              </a:rPr>
              <a:t>fault</a:t>
            </a:r>
            <a:endParaRPr sz="1000" dirty="0">
              <a:latin typeface="Arial"/>
              <a:cs typeface="Arial"/>
            </a:endParaRPr>
          </a:p>
        </p:txBody>
      </p:sp>
      <p:graphicFrame>
        <p:nvGraphicFramePr>
          <p:cNvPr id="6" name="object 6"/>
          <p:cNvGraphicFramePr>
            <a:graphicFrameLocks noGrp="1"/>
          </p:cNvGraphicFramePr>
          <p:nvPr/>
        </p:nvGraphicFramePr>
        <p:xfrm>
          <a:off x="534187" y="784237"/>
          <a:ext cx="3534408" cy="1074420"/>
        </p:xfrm>
        <a:graphic>
          <a:graphicData uri="http://schemas.openxmlformats.org/drawingml/2006/table">
            <a:tbl>
              <a:tblPr firstRow="1" bandRow="1">
                <a:tableStyleId>{2D5ABB26-0587-4C30-8999-92F81FD0307C}</a:tableStyleId>
              </a:tblPr>
              <a:tblGrid>
                <a:gridCol w="499109">
                  <a:extLst>
                    <a:ext uri="{9D8B030D-6E8A-4147-A177-3AD203B41FA5}">
                      <a16:colId xmlns:a16="http://schemas.microsoft.com/office/drawing/2014/main" val="20000"/>
                    </a:ext>
                  </a:extLst>
                </a:gridCol>
                <a:gridCol w="1711960">
                  <a:extLst>
                    <a:ext uri="{9D8B030D-6E8A-4147-A177-3AD203B41FA5}">
                      <a16:colId xmlns:a16="http://schemas.microsoft.com/office/drawing/2014/main" val="20001"/>
                    </a:ext>
                  </a:extLst>
                </a:gridCol>
                <a:gridCol w="1323339">
                  <a:extLst>
                    <a:ext uri="{9D8B030D-6E8A-4147-A177-3AD203B41FA5}">
                      <a16:colId xmlns:a16="http://schemas.microsoft.com/office/drawing/2014/main" val="20002"/>
                    </a:ext>
                  </a:extLst>
                </a:gridCol>
              </a:tblGrid>
              <a:tr h="195580">
                <a:tc>
                  <a:txBody>
                    <a:bodyPr/>
                    <a:lstStyle/>
                    <a:p>
                      <a:pPr marR="62865" algn="ctr">
                        <a:lnSpc>
                          <a:spcPct val="100000"/>
                        </a:lnSpc>
                        <a:spcBef>
                          <a:spcPts val="130"/>
                        </a:spcBef>
                      </a:pPr>
                      <a:r>
                        <a:rPr sz="900" b="1" spc="-20" dirty="0">
                          <a:latin typeface="Arial"/>
                          <a:cs typeface="Arial"/>
                        </a:rPr>
                        <a:t>Term</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130"/>
                        </a:spcBef>
                      </a:pPr>
                      <a:r>
                        <a:rPr sz="900" b="1" spc="-10" dirty="0">
                          <a:latin typeface="Arial"/>
                          <a:cs typeface="Arial"/>
                        </a:rPr>
                        <a:t>Description</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130"/>
                        </a:spcBef>
                      </a:pPr>
                      <a:r>
                        <a:rPr sz="900" b="1" spc="-10" dirty="0">
                          <a:latin typeface="Arial"/>
                          <a:cs typeface="Arial"/>
                        </a:rPr>
                        <a:t>Example</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348615">
                <a:tc>
                  <a:txBody>
                    <a:bodyPr/>
                    <a:lstStyle/>
                    <a:p>
                      <a:pPr algn="ctr">
                        <a:lnSpc>
                          <a:spcPct val="100000"/>
                        </a:lnSpc>
                        <a:spcBef>
                          <a:spcPts val="185"/>
                        </a:spcBef>
                      </a:pPr>
                      <a:r>
                        <a:rPr sz="900" spc="-10" dirty="0">
                          <a:solidFill>
                            <a:srgbClr val="C80000"/>
                          </a:solidFill>
                          <a:latin typeface="Arial"/>
                          <a:cs typeface="Arial"/>
                        </a:rPr>
                        <a:t>Failure</a:t>
                      </a:r>
                      <a:endParaRPr sz="900">
                        <a:latin typeface="Arial"/>
                        <a:cs typeface="Arial"/>
                      </a:endParaRPr>
                    </a:p>
                  </a:txBody>
                  <a:tcPr marL="0" marR="0" marT="2349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marR="74930">
                        <a:lnSpc>
                          <a:spcPct val="111600"/>
                        </a:lnSpc>
                        <a:spcBef>
                          <a:spcPts val="60"/>
                        </a:spcBef>
                      </a:pPr>
                      <a:r>
                        <a:rPr sz="900" dirty="0">
                          <a:latin typeface="Arial"/>
                          <a:cs typeface="Arial"/>
                        </a:rPr>
                        <a:t>A</a:t>
                      </a:r>
                      <a:r>
                        <a:rPr sz="900" spc="-25" dirty="0">
                          <a:latin typeface="Arial"/>
                          <a:cs typeface="Arial"/>
                        </a:rPr>
                        <a:t> </a:t>
                      </a:r>
                      <a:r>
                        <a:rPr sz="900" dirty="0">
                          <a:latin typeface="Arial"/>
                          <a:cs typeface="Arial"/>
                        </a:rPr>
                        <a:t>component</a:t>
                      </a:r>
                      <a:r>
                        <a:rPr sz="900" spc="-20"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not</a:t>
                      </a:r>
                      <a:r>
                        <a:rPr sz="900" spc="-25" dirty="0">
                          <a:latin typeface="Arial"/>
                          <a:cs typeface="Arial"/>
                        </a:rPr>
                        <a:t> </a:t>
                      </a:r>
                      <a:r>
                        <a:rPr sz="900" dirty="0">
                          <a:latin typeface="Arial"/>
                          <a:cs typeface="Arial"/>
                        </a:rPr>
                        <a:t>living</a:t>
                      </a:r>
                      <a:r>
                        <a:rPr sz="900" spc="-20" dirty="0">
                          <a:latin typeface="Arial"/>
                          <a:cs typeface="Arial"/>
                        </a:rPr>
                        <a:t> </a:t>
                      </a:r>
                      <a:r>
                        <a:rPr sz="900" dirty="0">
                          <a:latin typeface="Arial"/>
                          <a:cs typeface="Arial"/>
                        </a:rPr>
                        <a:t>up</a:t>
                      </a:r>
                      <a:r>
                        <a:rPr sz="900" spc="-25" dirty="0">
                          <a:latin typeface="Arial"/>
                          <a:cs typeface="Arial"/>
                        </a:rPr>
                        <a:t> to </a:t>
                      </a:r>
                      <a:r>
                        <a:rPr sz="900" dirty="0">
                          <a:latin typeface="Arial"/>
                          <a:cs typeface="Arial"/>
                        </a:rPr>
                        <a:t>its</a:t>
                      </a:r>
                      <a:r>
                        <a:rPr sz="900" spc="-15" dirty="0">
                          <a:latin typeface="Arial"/>
                          <a:cs typeface="Arial"/>
                        </a:rPr>
                        <a:t> </a:t>
                      </a:r>
                      <a:r>
                        <a:rPr sz="900" spc="-10" dirty="0">
                          <a:latin typeface="Arial"/>
                          <a:cs typeface="Arial"/>
                        </a:rPr>
                        <a:t>specifications</a:t>
                      </a:r>
                      <a:endParaRPr sz="900">
                        <a:latin typeface="Arial"/>
                        <a:cs typeface="Arial"/>
                      </a:endParaRPr>
                    </a:p>
                  </a:txBody>
                  <a:tcPr marL="0" marR="0" marT="762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a:lnSpc>
                          <a:spcPct val="100000"/>
                        </a:lnSpc>
                        <a:spcBef>
                          <a:spcPts val="185"/>
                        </a:spcBef>
                      </a:pPr>
                      <a:r>
                        <a:rPr sz="900" dirty="0">
                          <a:latin typeface="Arial"/>
                          <a:cs typeface="Arial"/>
                        </a:rPr>
                        <a:t>Crashed</a:t>
                      </a:r>
                      <a:r>
                        <a:rPr sz="900" spc="-50" dirty="0">
                          <a:latin typeface="Arial"/>
                          <a:cs typeface="Arial"/>
                        </a:rPr>
                        <a:t> </a:t>
                      </a:r>
                      <a:r>
                        <a:rPr sz="900" spc="-10" dirty="0">
                          <a:latin typeface="Arial"/>
                          <a:cs typeface="Arial"/>
                        </a:rPr>
                        <a:t>program</a:t>
                      </a:r>
                      <a:endParaRPr sz="900">
                        <a:latin typeface="Arial"/>
                        <a:cs typeface="Arial"/>
                      </a:endParaRPr>
                    </a:p>
                  </a:txBody>
                  <a:tcPr marL="0" marR="0" marT="2349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41630">
                <a:tc>
                  <a:txBody>
                    <a:bodyPr/>
                    <a:lstStyle/>
                    <a:p>
                      <a:pPr marR="81280" algn="ctr">
                        <a:lnSpc>
                          <a:spcPct val="100000"/>
                        </a:lnSpc>
                        <a:spcBef>
                          <a:spcPts val="130"/>
                        </a:spcBef>
                      </a:pPr>
                      <a:r>
                        <a:rPr sz="900" spc="-10" dirty="0">
                          <a:solidFill>
                            <a:srgbClr val="C80000"/>
                          </a:solidFill>
                          <a:latin typeface="Arial"/>
                          <a:cs typeface="Arial"/>
                        </a:rPr>
                        <a:t>Error</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marR="163195">
                        <a:lnSpc>
                          <a:spcPct val="111600"/>
                        </a:lnSpc>
                        <a:spcBef>
                          <a:spcPts val="5"/>
                        </a:spcBef>
                      </a:pPr>
                      <a:r>
                        <a:rPr sz="900" dirty="0">
                          <a:latin typeface="Arial"/>
                          <a:cs typeface="Arial"/>
                        </a:rPr>
                        <a:t>Part</a:t>
                      </a:r>
                      <a:r>
                        <a:rPr sz="900" spc="-25"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component</a:t>
                      </a:r>
                      <a:r>
                        <a:rPr sz="900" spc="-20" dirty="0">
                          <a:latin typeface="Arial"/>
                          <a:cs typeface="Arial"/>
                        </a:rPr>
                        <a:t> </a:t>
                      </a:r>
                      <a:r>
                        <a:rPr sz="900" dirty="0">
                          <a:latin typeface="Arial"/>
                          <a:cs typeface="Arial"/>
                        </a:rPr>
                        <a:t>that</a:t>
                      </a:r>
                      <a:r>
                        <a:rPr sz="900" spc="-25" dirty="0">
                          <a:latin typeface="Arial"/>
                          <a:cs typeface="Arial"/>
                        </a:rPr>
                        <a:t> can </a:t>
                      </a:r>
                      <a:r>
                        <a:rPr sz="900" dirty="0">
                          <a:latin typeface="Arial"/>
                          <a:cs typeface="Arial"/>
                        </a:rPr>
                        <a:t>lead</a:t>
                      </a:r>
                      <a:r>
                        <a:rPr sz="900" spc="-15" dirty="0">
                          <a:latin typeface="Arial"/>
                          <a:cs typeface="Arial"/>
                        </a:rPr>
                        <a:t> </a:t>
                      </a:r>
                      <a:r>
                        <a:rPr sz="900" dirty="0">
                          <a:latin typeface="Arial"/>
                          <a:cs typeface="Arial"/>
                        </a:rPr>
                        <a:t>to</a:t>
                      </a:r>
                      <a:r>
                        <a:rPr sz="900" spc="-15" dirty="0">
                          <a:latin typeface="Arial"/>
                          <a:cs typeface="Arial"/>
                        </a:rPr>
                        <a:t> </a:t>
                      </a:r>
                      <a:r>
                        <a:rPr sz="900" dirty="0">
                          <a:latin typeface="Arial"/>
                          <a:cs typeface="Arial"/>
                        </a:rPr>
                        <a:t>a</a:t>
                      </a:r>
                      <a:r>
                        <a:rPr sz="900" spc="-15" dirty="0">
                          <a:latin typeface="Arial"/>
                          <a:cs typeface="Arial"/>
                        </a:rPr>
                        <a:t> </a:t>
                      </a:r>
                      <a:r>
                        <a:rPr sz="900" spc="-10" dirty="0">
                          <a:latin typeface="Arial"/>
                          <a:cs typeface="Arial"/>
                        </a:rPr>
                        <a:t>failure</a:t>
                      </a:r>
                      <a:endParaRPr sz="900">
                        <a:latin typeface="Arial"/>
                        <a:cs typeface="Arial"/>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130"/>
                        </a:spcBef>
                      </a:pPr>
                      <a:r>
                        <a:rPr sz="900" spc="-10" dirty="0">
                          <a:latin typeface="Arial"/>
                          <a:cs typeface="Arial"/>
                        </a:rPr>
                        <a:t>Programming</a:t>
                      </a:r>
                      <a:r>
                        <a:rPr sz="900" spc="30" dirty="0">
                          <a:latin typeface="Arial"/>
                          <a:cs typeface="Arial"/>
                        </a:rPr>
                        <a:t> </a:t>
                      </a:r>
                      <a:r>
                        <a:rPr sz="900" spc="-25" dirty="0">
                          <a:latin typeface="Arial"/>
                          <a:cs typeface="Arial"/>
                        </a:rPr>
                        <a:t>bug</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188595">
                <a:tc>
                  <a:txBody>
                    <a:bodyPr/>
                    <a:lstStyle/>
                    <a:p>
                      <a:pPr marR="86995" algn="ctr">
                        <a:lnSpc>
                          <a:spcPct val="100000"/>
                        </a:lnSpc>
                        <a:spcBef>
                          <a:spcPts val="130"/>
                        </a:spcBef>
                      </a:pPr>
                      <a:r>
                        <a:rPr sz="900" spc="-10" dirty="0">
                          <a:solidFill>
                            <a:srgbClr val="C80000"/>
                          </a:solidFill>
                          <a:latin typeface="Arial"/>
                          <a:cs typeface="Arial"/>
                        </a:rPr>
                        <a:t>Fault</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130"/>
                        </a:spcBef>
                      </a:pPr>
                      <a:r>
                        <a:rPr sz="900" dirty="0">
                          <a:latin typeface="Arial"/>
                          <a:cs typeface="Arial"/>
                        </a:rPr>
                        <a:t>Cause</a:t>
                      </a:r>
                      <a:r>
                        <a:rPr sz="900" spc="-20" dirty="0">
                          <a:latin typeface="Arial"/>
                          <a:cs typeface="Arial"/>
                        </a:rPr>
                        <a:t> </a:t>
                      </a:r>
                      <a:r>
                        <a:rPr sz="900" dirty="0">
                          <a:latin typeface="Arial"/>
                          <a:cs typeface="Arial"/>
                        </a:rPr>
                        <a:t>of</a:t>
                      </a:r>
                      <a:r>
                        <a:rPr sz="900" spc="-20" dirty="0">
                          <a:latin typeface="Arial"/>
                          <a:cs typeface="Arial"/>
                        </a:rPr>
                        <a:t> </a:t>
                      </a:r>
                      <a:r>
                        <a:rPr sz="900" dirty="0">
                          <a:latin typeface="Arial"/>
                          <a:cs typeface="Arial"/>
                        </a:rPr>
                        <a:t>an</a:t>
                      </a:r>
                      <a:r>
                        <a:rPr sz="900" spc="-20" dirty="0">
                          <a:latin typeface="Arial"/>
                          <a:cs typeface="Arial"/>
                        </a:rPr>
                        <a:t> </a:t>
                      </a:r>
                      <a:r>
                        <a:rPr sz="900" spc="-10" dirty="0">
                          <a:latin typeface="Arial"/>
                          <a:cs typeface="Arial"/>
                        </a:rPr>
                        <a:t>error</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130"/>
                        </a:spcBef>
                      </a:pPr>
                      <a:r>
                        <a:rPr sz="900" spc="-10" dirty="0">
                          <a:latin typeface="Arial"/>
                          <a:cs typeface="Arial"/>
                        </a:rPr>
                        <a:t>Sloppy</a:t>
                      </a:r>
                      <a:r>
                        <a:rPr sz="900" spc="-5" dirty="0">
                          <a:latin typeface="Arial"/>
                          <a:cs typeface="Arial"/>
                        </a:rPr>
                        <a:t> </a:t>
                      </a:r>
                      <a:r>
                        <a:rPr sz="900" spc="-10" dirty="0">
                          <a:latin typeface="Arial"/>
                          <a:cs typeface="Arial"/>
                        </a:rPr>
                        <a:t>programmer</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45085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2" action="ppaction://hlinksldjump"/>
              </a:rPr>
              <a:t>Basic</a:t>
            </a:r>
            <a:r>
              <a:rPr sz="500" spc="-20" dirty="0">
                <a:latin typeface="Arial"/>
                <a:cs typeface="Arial"/>
                <a:hlinkClick r:id="rId2" action="ppaction://hlinksldjump"/>
              </a:rPr>
              <a:t> </a:t>
            </a:r>
            <a:r>
              <a:rPr sz="500" spc="-10" dirty="0">
                <a:latin typeface="Arial"/>
                <a:cs typeface="Arial"/>
                <a:hlinkClick r:id="rId2" action="ppaction://hlinksldjump"/>
              </a:rPr>
              <a:t>concepts</a:t>
            </a:r>
            <a:endParaRPr sz="500">
              <a:latin typeface="Arial"/>
              <a:cs typeface="Arial"/>
            </a:endParaRPr>
          </a:p>
        </p:txBody>
      </p:sp>
      <p:sp>
        <p:nvSpPr>
          <p:cNvPr id="11" name="object 4">
            <a:extLst>
              <a:ext uri="{FF2B5EF4-FFF2-40B4-BE49-F238E27FC236}">
                <a16:creationId xmlns:a16="http://schemas.microsoft.com/office/drawing/2014/main" id="{F35E3645-3E6E-1A60-7ED2-6193FD49A6B4}"/>
              </a:ext>
            </a:extLst>
          </p:cNvPr>
          <p:cNvSpPr txBox="1"/>
          <p:nvPr/>
        </p:nvSpPr>
        <p:spPr>
          <a:xfrm>
            <a:off x="400050" y="1945068"/>
            <a:ext cx="3942715" cy="867545"/>
          </a:xfrm>
          <a:prstGeom prst="rect">
            <a:avLst/>
          </a:prstGeom>
        </p:spPr>
        <p:txBody>
          <a:bodyPr vert="horz" wrap="square" lIns="0" tIns="27305" rIns="0" bIns="0" rtlCol="0">
            <a:spAutoFit/>
          </a:bodyPr>
          <a:lstStyle/>
          <a:p>
            <a:pPr marL="28575" marR="17780" indent="-3810">
              <a:lnSpc>
                <a:spcPct val="111600"/>
              </a:lnSpc>
              <a:spcBef>
                <a:spcPts val="175"/>
              </a:spcBef>
            </a:pPr>
            <a:r>
              <a:rPr lang="en-US" sz="900" dirty="0">
                <a:latin typeface="Arial"/>
                <a:cs typeface="Arial"/>
              </a:rPr>
              <a:t>Faults are classified as:</a:t>
            </a:r>
          </a:p>
          <a:p>
            <a:pPr marL="28575" marR="17780" indent="-3810">
              <a:lnSpc>
                <a:spcPct val="111600"/>
              </a:lnSpc>
              <a:spcBef>
                <a:spcPts val="175"/>
              </a:spcBef>
            </a:pPr>
            <a:r>
              <a:rPr lang="en-US" sz="900" spc="-10" dirty="0">
                <a:solidFill>
                  <a:srgbClr val="3333B2"/>
                </a:solidFill>
                <a:latin typeface="Arial"/>
                <a:cs typeface="Arial"/>
              </a:rPr>
              <a:t>Transient</a:t>
            </a:r>
            <a:r>
              <a:rPr lang="en-US" sz="900" dirty="0">
                <a:latin typeface="Arial"/>
                <a:cs typeface="Arial"/>
              </a:rPr>
              <a:t> occurs once and disappears</a:t>
            </a:r>
          </a:p>
          <a:p>
            <a:pPr marL="28575" marR="17780" indent="-3810">
              <a:lnSpc>
                <a:spcPct val="111600"/>
              </a:lnSpc>
              <a:spcBef>
                <a:spcPts val="175"/>
              </a:spcBef>
            </a:pPr>
            <a:r>
              <a:rPr lang="en-US" sz="900" spc="-10" dirty="0">
                <a:solidFill>
                  <a:srgbClr val="3333B2"/>
                </a:solidFill>
                <a:latin typeface="Arial"/>
                <a:cs typeface="Arial"/>
              </a:rPr>
              <a:t>Intermittent</a:t>
            </a:r>
            <a:r>
              <a:rPr lang="en-US" sz="900" dirty="0">
                <a:latin typeface="Arial"/>
                <a:cs typeface="Arial"/>
              </a:rPr>
              <a:t> occurs, then vanishes then reappears, and so on</a:t>
            </a:r>
          </a:p>
          <a:p>
            <a:pPr marL="28575" marR="17780" indent="-3810">
              <a:lnSpc>
                <a:spcPct val="111600"/>
              </a:lnSpc>
              <a:spcBef>
                <a:spcPts val="175"/>
              </a:spcBef>
            </a:pPr>
            <a:r>
              <a:rPr lang="en-US" sz="900" spc="-10" dirty="0">
                <a:solidFill>
                  <a:srgbClr val="3333B2"/>
                </a:solidFill>
                <a:latin typeface="Arial"/>
                <a:cs typeface="Arial"/>
              </a:rPr>
              <a:t>Permanent </a:t>
            </a:r>
            <a:r>
              <a:rPr lang="en-US" sz="900" dirty="0">
                <a:latin typeface="Arial"/>
                <a:cs typeface="Arial"/>
              </a:rPr>
              <a:t>continues to exist until the faulty component is replaced (disk-head crash, burnt-out chips)</a:t>
            </a:r>
            <a:endParaRPr sz="900" dirty="0">
              <a:latin typeface="Arial"/>
              <a:cs typeface="Arial"/>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15842" y="-1515"/>
            <a:ext cx="83883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2" action="ppaction://hlinksldjump"/>
              </a:rPr>
              <a:t>Introduction</a:t>
            </a:r>
            <a:r>
              <a:rPr sz="500" spc="-25" dirty="0">
                <a:solidFill>
                  <a:srgbClr val="FFFFFF"/>
                </a:solidFill>
                <a:latin typeface="Arial"/>
                <a:cs typeface="Arial"/>
                <a:hlinkClick r:id="rId2" action="ppaction://hlinksldjump"/>
              </a:rPr>
              <a:t> </a:t>
            </a:r>
            <a:r>
              <a:rPr sz="500" dirty="0">
                <a:solidFill>
                  <a:srgbClr val="FFFFFF"/>
                </a:solidFill>
                <a:latin typeface="Arial"/>
                <a:cs typeface="Arial"/>
                <a:hlinkClick r:id="rId2" action="ppaction://hlinksldjump"/>
              </a:rPr>
              <a:t>to</a:t>
            </a:r>
            <a:r>
              <a:rPr sz="500" spc="-25" dirty="0">
                <a:solidFill>
                  <a:srgbClr val="FFFFFF"/>
                </a:solidFill>
                <a:latin typeface="Arial"/>
                <a:cs typeface="Arial"/>
                <a:hlinkClick r:id="rId2" action="ppaction://hlinksldjump"/>
              </a:rPr>
              <a:t> </a:t>
            </a:r>
            <a:r>
              <a:rPr sz="500" dirty="0">
                <a:solidFill>
                  <a:srgbClr val="FFFFFF"/>
                </a:solidFill>
                <a:latin typeface="Arial"/>
                <a:cs typeface="Arial"/>
                <a:hlinkClick r:id="rId2" action="ppaction://hlinksldjump"/>
              </a:rPr>
              <a:t>fault</a:t>
            </a:r>
            <a:r>
              <a:rPr sz="500" spc="-2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tolerance</a:t>
            </a:r>
            <a:endParaRPr sz="500">
              <a:latin typeface="Arial"/>
              <a:cs typeface="Arial"/>
            </a:endParaRPr>
          </a:p>
        </p:txBody>
      </p:sp>
      <p:sp>
        <p:nvSpPr>
          <p:cNvPr id="5" name="object 5"/>
          <p:cNvSpPr txBox="1"/>
          <p:nvPr/>
        </p:nvSpPr>
        <p:spPr>
          <a:xfrm>
            <a:off x="95300" y="197711"/>
            <a:ext cx="1110615" cy="494665"/>
          </a:xfrm>
          <a:prstGeom prst="rect">
            <a:avLst/>
          </a:prstGeom>
        </p:spPr>
        <p:txBody>
          <a:bodyPr vert="horz" wrap="square" lIns="0" tIns="12065" rIns="0" bIns="0" rtlCol="0">
            <a:spAutoFit/>
          </a:bodyPr>
          <a:lstStyle/>
          <a:p>
            <a:pPr marL="12700">
              <a:lnSpc>
                <a:spcPct val="100000"/>
              </a:lnSpc>
              <a:spcBef>
                <a:spcPts val="95"/>
              </a:spcBef>
            </a:pPr>
            <a:r>
              <a:rPr sz="1200" spc="-10" dirty="0">
                <a:solidFill>
                  <a:srgbClr val="3333B2"/>
                </a:solidFill>
                <a:latin typeface="Arial"/>
                <a:cs typeface="Arial"/>
              </a:rPr>
              <a:t>Terminology</a:t>
            </a:r>
            <a:endParaRPr sz="1200">
              <a:latin typeface="Arial"/>
              <a:cs typeface="Arial"/>
            </a:endParaRPr>
          </a:p>
          <a:p>
            <a:pPr marL="264160">
              <a:lnSpc>
                <a:spcPct val="100000"/>
              </a:lnSpc>
              <a:spcBef>
                <a:spcPts val="1055"/>
              </a:spcBef>
            </a:pPr>
            <a:r>
              <a:rPr sz="1000" dirty="0">
                <a:solidFill>
                  <a:srgbClr val="3333B2"/>
                </a:solidFill>
                <a:latin typeface="Arial"/>
                <a:cs typeface="Arial"/>
              </a:rPr>
              <a:t>Handling</a:t>
            </a:r>
            <a:r>
              <a:rPr sz="1000" spc="-45" dirty="0">
                <a:solidFill>
                  <a:srgbClr val="3333B2"/>
                </a:solidFill>
                <a:latin typeface="Arial"/>
                <a:cs typeface="Arial"/>
              </a:rPr>
              <a:t> </a:t>
            </a:r>
            <a:r>
              <a:rPr sz="1000" spc="-10" dirty="0">
                <a:solidFill>
                  <a:srgbClr val="3333B2"/>
                </a:solidFill>
                <a:latin typeface="Arial"/>
                <a:cs typeface="Arial"/>
              </a:rPr>
              <a:t>faults</a:t>
            </a:r>
            <a:endParaRPr sz="1000">
              <a:latin typeface="Arial"/>
              <a:cs typeface="Arial"/>
            </a:endParaRPr>
          </a:p>
        </p:txBody>
      </p:sp>
      <p:graphicFrame>
        <p:nvGraphicFramePr>
          <p:cNvPr id="6" name="object 6"/>
          <p:cNvGraphicFramePr>
            <a:graphicFrameLocks noGrp="1"/>
          </p:cNvGraphicFramePr>
          <p:nvPr/>
        </p:nvGraphicFramePr>
        <p:xfrm>
          <a:off x="510933" y="793788"/>
          <a:ext cx="3581398" cy="2334260"/>
        </p:xfrm>
        <a:graphic>
          <a:graphicData uri="http://schemas.openxmlformats.org/drawingml/2006/table">
            <a:tbl>
              <a:tblPr firstRow="1" bandRow="1">
                <a:tableStyleId>{2D5ABB26-0587-4C30-8999-92F81FD0307C}</a:tableStyleId>
              </a:tblPr>
              <a:tblGrid>
                <a:gridCol w="934719">
                  <a:extLst>
                    <a:ext uri="{9D8B030D-6E8A-4147-A177-3AD203B41FA5}">
                      <a16:colId xmlns:a16="http://schemas.microsoft.com/office/drawing/2014/main" val="20000"/>
                    </a:ext>
                  </a:extLst>
                </a:gridCol>
                <a:gridCol w="1323340">
                  <a:extLst>
                    <a:ext uri="{9D8B030D-6E8A-4147-A177-3AD203B41FA5}">
                      <a16:colId xmlns:a16="http://schemas.microsoft.com/office/drawing/2014/main" val="20001"/>
                    </a:ext>
                  </a:extLst>
                </a:gridCol>
                <a:gridCol w="1323339">
                  <a:extLst>
                    <a:ext uri="{9D8B030D-6E8A-4147-A177-3AD203B41FA5}">
                      <a16:colId xmlns:a16="http://schemas.microsoft.com/office/drawing/2014/main" val="20002"/>
                    </a:ext>
                  </a:extLst>
                </a:gridCol>
              </a:tblGrid>
              <a:tr h="195580">
                <a:tc>
                  <a:txBody>
                    <a:bodyPr/>
                    <a:lstStyle/>
                    <a:p>
                      <a:pPr marL="78105">
                        <a:lnSpc>
                          <a:spcPct val="100000"/>
                        </a:lnSpc>
                        <a:spcBef>
                          <a:spcPts val="130"/>
                        </a:spcBef>
                      </a:pPr>
                      <a:r>
                        <a:rPr sz="900" b="1" spc="-20" dirty="0">
                          <a:latin typeface="Arial"/>
                          <a:cs typeface="Arial"/>
                        </a:rPr>
                        <a:t>Term</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130"/>
                        </a:spcBef>
                      </a:pPr>
                      <a:r>
                        <a:rPr sz="900" b="1" spc="-10" dirty="0">
                          <a:latin typeface="Arial"/>
                          <a:cs typeface="Arial"/>
                        </a:rPr>
                        <a:t>Description</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130"/>
                        </a:spcBef>
                      </a:pPr>
                      <a:r>
                        <a:rPr sz="900" b="1" spc="-10" dirty="0">
                          <a:latin typeface="Arial"/>
                          <a:cs typeface="Arial"/>
                        </a:rPr>
                        <a:t>Example</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348615">
                <a:tc>
                  <a:txBody>
                    <a:bodyPr/>
                    <a:lstStyle/>
                    <a:p>
                      <a:pPr marL="78105" marR="322580">
                        <a:lnSpc>
                          <a:spcPct val="111600"/>
                        </a:lnSpc>
                        <a:spcBef>
                          <a:spcPts val="60"/>
                        </a:spcBef>
                      </a:pPr>
                      <a:r>
                        <a:rPr sz="900" spc="-10" dirty="0">
                          <a:solidFill>
                            <a:srgbClr val="C80000"/>
                          </a:solidFill>
                          <a:latin typeface="Arial"/>
                          <a:cs typeface="Arial"/>
                        </a:rPr>
                        <a:t>Fault prevention</a:t>
                      </a:r>
                      <a:endParaRPr sz="900">
                        <a:latin typeface="Arial"/>
                        <a:cs typeface="Arial"/>
                      </a:endParaRPr>
                    </a:p>
                  </a:txBody>
                  <a:tcPr marL="0" marR="0" marT="762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marR="70485">
                        <a:lnSpc>
                          <a:spcPct val="111600"/>
                        </a:lnSpc>
                        <a:spcBef>
                          <a:spcPts val="60"/>
                        </a:spcBef>
                      </a:pPr>
                      <a:r>
                        <a:rPr sz="900" spc="-10" dirty="0">
                          <a:latin typeface="Arial"/>
                          <a:cs typeface="Arial"/>
                        </a:rPr>
                        <a:t>Prevent</a:t>
                      </a:r>
                      <a:r>
                        <a:rPr sz="900" spc="-20" dirty="0">
                          <a:latin typeface="Arial"/>
                          <a:cs typeface="Arial"/>
                        </a:rPr>
                        <a:t> </a:t>
                      </a:r>
                      <a:r>
                        <a:rPr sz="900" dirty="0">
                          <a:latin typeface="Arial"/>
                          <a:cs typeface="Arial"/>
                        </a:rPr>
                        <a:t>the</a:t>
                      </a:r>
                      <a:r>
                        <a:rPr sz="900" spc="-20" dirty="0">
                          <a:latin typeface="Arial"/>
                          <a:cs typeface="Arial"/>
                        </a:rPr>
                        <a:t> </a:t>
                      </a:r>
                      <a:r>
                        <a:rPr sz="900" spc="-10" dirty="0">
                          <a:latin typeface="Arial"/>
                          <a:cs typeface="Arial"/>
                        </a:rPr>
                        <a:t>occurrence </a:t>
                      </a:r>
                      <a:r>
                        <a:rPr sz="900" dirty="0">
                          <a:latin typeface="Arial"/>
                          <a:cs typeface="Arial"/>
                        </a:rPr>
                        <a:t>of</a:t>
                      </a:r>
                      <a:r>
                        <a:rPr sz="900" spc="-15" dirty="0">
                          <a:latin typeface="Arial"/>
                          <a:cs typeface="Arial"/>
                        </a:rPr>
                        <a:t> </a:t>
                      </a:r>
                      <a:r>
                        <a:rPr sz="900" dirty="0">
                          <a:latin typeface="Arial"/>
                          <a:cs typeface="Arial"/>
                        </a:rPr>
                        <a:t>a</a:t>
                      </a:r>
                      <a:r>
                        <a:rPr sz="900" spc="-10" dirty="0">
                          <a:latin typeface="Arial"/>
                          <a:cs typeface="Arial"/>
                        </a:rPr>
                        <a:t> </a:t>
                      </a:r>
                      <a:r>
                        <a:rPr sz="900" spc="-20" dirty="0">
                          <a:latin typeface="Arial"/>
                          <a:cs typeface="Arial"/>
                        </a:rPr>
                        <a:t>fault</a:t>
                      </a:r>
                      <a:endParaRPr sz="900">
                        <a:latin typeface="Arial"/>
                        <a:cs typeface="Arial"/>
                      </a:endParaRPr>
                    </a:p>
                  </a:txBody>
                  <a:tcPr marL="0" marR="0" marT="762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marR="392430">
                        <a:lnSpc>
                          <a:spcPct val="111600"/>
                        </a:lnSpc>
                        <a:spcBef>
                          <a:spcPts val="60"/>
                        </a:spcBef>
                      </a:pPr>
                      <a:r>
                        <a:rPr sz="900" dirty="0">
                          <a:latin typeface="Arial"/>
                          <a:cs typeface="Arial"/>
                        </a:rPr>
                        <a:t>Don’t</a:t>
                      </a:r>
                      <a:r>
                        <a:rPr sz="900" spc="-25" dirty="0">
                          <a:latin typeface="Arial"/>
                          <a:cs typeface="Arial"/>
                        </a:rPr>
                        <a:t> </a:t>
                      </a:r>
                      <a:r>
                        <a:rPr sz="900" dirty="0">
                          <a:latin typeface="Arial"/>
                          <a:cs typeface="Arial"/>
                        </a:rPr>
                        <a:t>hire</a:t>
                      </a:r>
                      <a:r>
                        <a:rPr sz="900" spc="-25" dirty="0">
                          <a:latin typeface="Arial"/>
                          <a:cs typeface="Arial"/>
                        </a:rPr>
                        <a:t> </a:t>
                      </a:r>
                      <a:r>
                        <a:rPr sz="900" spc="-10" dirty="0">
                          <a:latin typeface="Arial"/>
                          <a:cs typeface="Arial"/>
                        </a:rPr>
                        <a:t>sloppy programmers</a:t>
                      </a:r>
                      <a:endParaRPr sz="900">
                        <a:latin typeface="Arial"/>
                        <a:cs typeface="Arial"/>
                      </a:endParaRPr>
                    </a:p>
                  </a:txBody>
                  <a:tcPr marL="0" marR="0" marT="762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647700">
                <a:tc>
                  <a:txBody>
                    <a:bodyPr/>
                    <a:lstStyle/>
                    <a:p>
                      <a:pPr marL="78105">
                        <a:lnSpc>
                          <a:spcPct val="100000"/>
                        </a:lnSpc>
                        <a:spcBef>
                          <a:spcPts val="130"/>
                        </a:spcBef>
                      </a:pPr>
                      <a:r>
                        <a:rPr sz="900" spc="-10" dirty="0">
                          <a:solidFill>
                            <a:srgbClr val="C80000"/>
                          </a:solidFill>
                          <a:latin typeface="Arial"/>
                          <a:cs typeface="Arial"/>
                        </a:rPr>
                        <a:t>Fault</a:t>
                      </a:r>
                      <a:r>
                        <a:rPr sz="900" spc="-30" dirty="0">
                          <a:solidFill>
                            <a:srgbClr val="C80000"/>
                          </a:solidFill>
                          <a:latin typeface="Arial"/>
                          <a:cs typeface="Arial"/>
                        </a:rPr>
                        <a:t> </a:t>
                      </a:r>
                      <a:r>
                        <a:rPr sz="900" spc="-10" dirty="0">
                          <a:solidFill>
                            <a:srgbClr val="C80000"/>
                          </a:solidFill>
                          <a:latin typeface="Arial"/>
                          <a:cs typeface="Arial"/>
                        </a:rPr>
                        <a:t>tolerance</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marR="167005">
                        <a:lnSpc>
                          <a:spcPct val="111600"/>
                        </a:lnSpc>
                        <a:spcBef>
                          <a:spcPts val="5"/>
                        </a:spcBef>
                      </a:pPr>
                      <a:r>
                        <a:rPr sz="900" dirty="0">
                          <a:latin typeface="Arial"/>
                          <a:cs typeface="Arial"/>
                        </a:rPr>
                        <a:t>Build</a:t>
                      </a:r>
                      <a:r>
                        <a:rPr sz="900" spc="-30" dirty="0">
                          <a:latin typeface="Arial"/>
                          <a:cs typeface="Arial"/>
                        </a:rPr>
                        <a:t> </a:t>
                      </a:r>
                      <a:r>
                        <a:rPr sz="900" dirty="0">
                          <a:latin typeface="Arial"/>
                          <a:cs typeface="Arial"/>
                        </a:rPr>
                        <a:t>a</a:t>
                      </a:r>
                      <a:r>
                        <a:rPr sz="900" spc="-15" dirty="0">
                          <a:latin typeface="Arial"/>
                          <a:cs typeface="Arial"/>
                        </a:rPr>
                        <a:t> </a:t>
                      </a:r>
                      <a:r>
                        <a:rPr sz="900" spc="-10" dirty="0">
                          <a:latin typeface="Arial"/>
                          <a:cs typeface="Arial"/>
                        </a:rPr>
                        <a:t>component </a:t>
                      </a:r>
                      <a:r>
                        <a:rPr sz="900" dirty="0">
                          <a:latin typeface="Arial"/>
                          <a:cs typeface="Arial"/>
                        </a:rPr>
                        <a:t>such</a:t>
                      </a:r>
                      <a:r>
                        <a:rPr sz="900" spc="-20" dirty="0">
                          <a:latin typeface="Arial"/>
                          <a:cs typeface="Arial"/>
                        </a:rPr>
                        <a:t> </a:t>
                      </a:r>
                      <a:r>
                        <a:rPr sz="900" dirty="0">
                          <a:latin typeface="Arial"/>
                          <a:cs typeface="Arial"/>
                        </a:rPr>
                        <a:t>that</a:t>
                      </a:r>
                      <a:r>
                        <a:rPr sz="900" spc="-20" dirty="0">
                          <a:latin typeface="Arial"/>
                          <a:cs typeface="Arial"/>
                        </a:rPr>
                        <a:t> </a:t>
                      </a:r>
                      <a:r>
                        <a:rPr sz="900" dirty="0">
                          <a:latin typeface="Arial"/>
                          <a:cs typeface="Arial"/>
                        </a:rPr>
                        <a:t>it</a:t>
                      </a:r>
                      <a:r>
                        <a:rPr sz="900" spc="-15" dirty="0">
                          <a:latin typeface="Arial"/>
                          <a:cs typeface="Arial"/>
                        </a:rPr>
                        <a:t> </a:t>
                      </a:r>
                      <a:r>
                        <a:rPr sz="900" dirty="0">
                          <a:latin typeface="Arial"/>
                          <a:cs typeface="Arial"/>
                        </a:rPr>
                        <a:t>can</a:t>
                      </a:r>
                      <a:r>
                        <a:rPr sz="900" spc="-20" dirty="0">
                          <a:latin typeface="Arial"/>
                          <a:cs typeface="Arial"/>
                        </a:rPr>
                        <a:t> mask </a:t>
                      </a:r>
                      <a:r>
                        <a:rPr sz="900" dirty="0">
                          <a:latin typeface="Arial"/>
                          <a:cs typeface="Arial"/>
                        </a:rPr>
                        <a:t>the</a:t>
                      </a:r>
                      <a:r>
                        <a:rPr sz="900" spc="-30" dirty="0">
                          <a:latin typeface="Arial"/>
                          <a:cs typeface="Arial"/>
                        </a:rPr>
                        <a:t> </a:t>
                      </a:r>
                      <a:r>
                        <a:rPr sz="900" dirty="0">
                          <a:latin typeface="Arial"/>
                          <a:cs typeface="Arial"/>
                        </a:rPr>
                        <a:t>occurrence</a:t>
                      </a:r>
                      <a:r>
                        <a:rPr sz="900" spc="-25" dirty="0">
                          <a:latin typeface="Arial"/>
                          <a:cs typeface="Arial"/>
                        </a:rPr>
                        <a:t> </a:t>
                      </a:r>
                      <a:r>
                        <a:rPr sz="900" dirty="0">
                          <a:latin typeface="Arial"/>
                          <a:cs typeface="Arial"/>
                        </a:rPr>
                        <a:t>of</a:t>
                      </a:r>
                      <a:r>
                        <a:rPr sz="900" spc="-25" dirty="0">
                          <a:latin typeface="Arial"/>
                          <a:cs typeface="Arial"/>
                        </a:rPr>
                        <a:t> </a:t>
                      </a:r>
                      <a:r>
                        <a:rPr sz="900" spc="-50" dirty="0">
                          <a:latin typeface="Arial"/>
                          <a:cs typeface="Arial"/>
                        </a:rPr>
                        <a:t>a</a:t>
                      </a:r>
                      <a:r>
                        <a:rPr sz="900" spc="-10" dirty="0">
                          <a:latin typeface="Arial"/>
                          <a:cs typeface="Arial"/>
                        </a:rPr>
                        <a:t> fault</a:t>
                      </a:r>
                      <a:endParaRPr sz="900">
                        <a:latin typeface="Arial"/>
                        <a:cs typeface="Arial"/>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marR="110489">
                        <a:lnSpc>
                          <a:spcPct val="111600"/>
                        </a:lnSpc>
                        <a:spcBef>
                          <a:spcPts val="5"/>
                        </a:spcBef>
                      </a:pPr>
                      <a:r>
                        <a:rPr sz="900" dirty="0">
                          <a:latin typeface="Arial"/>
                          <a:cs typeface="Arial"/>
                        </a:rPr>
                        <a:t>Build</a:t>
                      </a:r>
                      <a:r>
                        <a:rPr sz="900" spc="-25" dirty="0">
                          <a:latin typeface="Arial"/>
                          <a:cs typeface="Arial"/>
                        </a:rPr>
                        <a:t> </a:t>
                      </a:r>
                      <a:r>
                        <a:rPr sz="900" dirty="0">
                          <a:latin typeface="Arial"/>
                          <a:cs typeface="Arial"/>
                        </a:rPr>
                        <a:t>each</a:t>
                      </a:r>
                      <a:r>
                        <a:rPr sz="900" spc="-25" dirty="0">
                          <a:latin typeface="Arial"/>
                          <a:cs typeface="Arial"/>
                        </a:rPr>
                        <a:t> </a:t>
                      </a:r>
                      <a:r>
                        <a:rPr sz="900" spc="-10" dirty="0">
                          <a:latin typeface="Arial"/>
                          <a:cs typeface="Arial"/>
                        </a:rPr>
                        <a:t>component </a:t>
                      </a:r>
                      <a:r>
                        <a:rPr sz="900" dirty="0">
                          <a:latin typeface="Arial"/>
                          <a:cs typeface="Arial"/>
                        </a:rPr>
                        <a:t>by</a:t>
                      </a:r>
                      <a:r>
                        <a:rPr sz="900" spc="-35" dirty="0">
                          <a:latin typeface="Arial"/>
                          <a:cs typeface="Arial"/>
                        </a:rPr>
                        <a:t> </a:t>
                      </a:r>
                      <a:r>
                        <a:rPr sz="900" dirty="0">
                          <a:latin typeface="Arial"/>
                          <a:cs typeface="Arial"/>
                        </a:rPr>
                        <a:t>two</a:t>
                      </a:r>
                      <a:r>
                        <a:rPr sz="900" spc="-30" dirty="0">
                          <a:latin typeface="Arial"/>
                          <a:cs typeface="Arial"/>
                        </a:rPr>
                        <a:t> </a:t>
                      </a:r>
                      <a:r>
                        <a:rPr sz="900" spc="-10" dirty="0">
                          <a:latin typeface="Arial"/>
                          <a:cs typeface="Arial"/>
                        </a:rPr>
                        <a:t>independent programmers</a:t>
                      </a:r>
                      <a:endParaRPr sz="900">
                        <a:latin typeface="Arial"/>
                        <a:cs typeface="Arial"/>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94665">
                <a:tc>
                  <a:txBody>
                    <a:bodyPr/>
                    <a:lstStyle/>
                    <a:p>
                      <a:pPr marL="78105">
                        <a:lnSpc>
                          <a:spcPct val="100000"/>
                        </a:lnSpc>
                        <a:spcBef>
                          <a:spcPts val="130"/>
                        </a:spcBef>
                      </a:pPr>
                      <a:r>
                        <a:rPr sz="900" spc="-10" dirty="0">
                          <a:solidFill>
                            <a:srgbClr val="C80000"/>
                          </a:solidFill>
                          <a:latin typeface="Arial"/>
                          <a:cs typeface="Arial"/>
                        </a:rPr>
                        <a:t>Fault</a:t>
                      </a:r>
                      <a:r>
                        <a:rPr sz="900" spc="-30" dirty="0">
                          <a:solidFill>
                            <a:srgbClr val="C80000"/>
                          </a:solidFill>
                          <a:latin typeface="Arial"/>
                          <a:cs typeface="Arial"/>
                        </a:rPr>
                        <a:t> </a:t>
                      </a:r>
                      <a:r>
                        <a:rPr sz="900" spc="-10" dirty="0">
                          <a:solidFill>
                            <a:srgbClr val="C80000"/>
                          </a:solidFill>
                          <a:latin typeface="Arial"/>
                          <a:cs typeface="Arial"/>
                        </a:rPr>
                        <a:t>removal</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marR="70485">
                        <a:lnSpc>
                          <a:spcPct val="111600"/>
                        </a:lnSpc>
                        <a:spcBef>
                          <a:spcPts val="5"/>
                        </a:spcBef>
                      </a:pPr>
                      <a:r>
                        <a:rPr sz="900" dirty="0">
                          <a:latin typeface="Arial"/>
                          <a:cs typeface="Arial"/>
                        </a:rPr>
                        <a:t>Reduce</a:t>
                      </a:r>
                      <a:r>
                        <a:rPr sz="900" spc="-30" dirty="0">
                          <a:latin typeface="Arial"/>
                          <a:cs typeface="Arial"/>
                        </a:rPr>
                        <a:t> </a:t>
                      </a:r>
                      <a:r>
                        <a:rPr sz="900" dirty="0">
                          <a:latin typeface="Arial"/>
                          <a:cs typeface="Arial"/>
                        </a:rPr>
                        <a:t>the</a:t>
                      </a:r>
                      <a:r>
                        <a:rPr sz="900" spc="-25" dirty="0">
                          <a:latin typeface="Arial"/>
                          <a:cs typeface="Arial"/>
                        </a:rPr>
                        <a:t> </a:t>
                      </a:r>
                      <a:r>
                        <a:rPr sz="900" spc="-10" dirty="0">
                          <a:latin typeface="Arial"/>
                          <a:cs typeface="Arial"/>
                        </a:rPr>
                        <a:t>presence, </a:t>
                      </a:r>
                      <a:r>
                        <a:rPr sz="900" spc="-20" dirty="0">
                          <a:latin typeface="Arial"/>
                          <a:cs typeface="Arial"/>
                        </a:rPr>
                        <a:t>number,</a:t>
                      </a:r>
                      <a:r>
                        <a:rPr sz="900" spc="-5" dirty="0">
                          <a:latin typeface="Arial"/>
                          <a:cs typeface="Arial"/>
                        </a:rPr>
                        <a:t> </a:t>
                      </a:r>
                      <a:r>
                        <a:rPr sz="900" dirty="0">
                          <a:latin typeface="Arial"/>
                          <a:cs typeface="Arial"/>
                        </a:rPr>
                        <a:t>or</a:t>
                      </a:r>
                      <a:r>
                        <a:rPr sz="900" spc="-5" dirty="0">
                          <a:latin typeface="Arial"/>
                          <a:cs typeface="Arial"/>
                        </a:rPr>
                        <a:t> </a:t>
                      </a:r>
                      <a:r>
                        <a:rPr sz="900" spc="-10" dirty="0">
                          <a:latin typeface="Arial"/>
                          <a:cs typeface="Arial"/>
                        </a:rPr>
                        <a:t>seriousness </a:t>
                      </a:r>
                      <a:r>
                        <a:rPr sz="900" dirty="0">
                          <a:latin typeface="Arial"/>
                          <a:cs typeface="Arial"/>
                        </a:rPr>
                        <a:t>of</a:t>
                      </a:r>
                      <a:r>
                        <a:rPr sz="900" spc="-15" dirty="0">
                          <a:latin typeface="Arial"/>
                          <a:cs typeface="Arial"/>
                        </a:rPr>
                        <a:t> </a:t>
                      </a:r>
                      <a:r>
                        <a:rPr sz="900" dirty="0">
                          <a:latin typeface="Arial"/>
                          <a:cs typeface="Arial"/>
                        </a:rPr>
                        <a:t>a</a:t>
                      </a:r>
                      <a:r>
                        <a:rPr sz="900" spc="-10" dirty="0">
                          <a:latin typeface="Arial"/>
                          <a:cs typeface="Arial"/>
                        </a:rPr>
                        <a:t> </a:t>
                      </a:r>
                      <a:r>
                        <a:rPr sz="900" spc="-20" dirty="0">
                          <a:latin typeface="Arial"/>
                          <a:cs typeface="Arial"/>
                        </a:rPr>
                        <a:t>fault</a:t>
                      </a:r>
                      <a:endParaRPr sz="900">
                        <a:latin typeface="Arial"/>
                        <a:cs typeface="Arial"/>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marR="409575">
                        <a:lnSpc>
                          <a:spcPct val="111600"/>
                        </a:lnSpc>
                        <a:spcBef>
                          <a:spcPts val="5"/>
                        </a:spcBef>
                      </a:pPr>
                      <a:r>
                        <a:rPr sz="900" dirty="0">
                          <a:latin typeface="Arial"/>
                          <a:cs typeface="Arial"/>
                        </a:rPr>
                        <a:t>Get</a:t>
                      </a:r>
                      <a:r>
                        <a:rPr sz="900" spc="-15" dirty="0">
                          <a:latin typeface="Arial"/>
                          <a:cs typeface="Arial"/>
                        </a:rPr>
                        <a:t> </a:t>
                      </a:r>
                      <a:r>
                        <a:rPr sz="900" dirty="0">
                          <a:latin typeface="Arial"/>
                          <a:cs typeface="Arial"/>
                        </a:rPr>
                        <a:t>rid</a:t>
                      </a:r>
                      <a:r>
                        <a:rPr sz="900" spc="-10" dirty="0">
                          <a:latin typeface="Arial"/>
                          <a:cs typeface="Arial"/>
                        </a:rPr>
                        <a:t> </a:t>
                      </a:r>
                      <a:r>
                        <a:rPr sz="900" dirty="0">
                          <a:latin typeface="Arial"/>
                          <a:cs typeface="Arial"/>
                        </a:rPr>
                        <a:t>of</a:t>
                      </a:r>
                      <a:r>
                        <a:rPr sz="900" spc="-15" dirty="0">
                          <a:latin typeface="Arial"/>
                          <a:cs typeface="Arial"/>
                        </a:rPr>
                        <a:t> </a:t>
                      </a:r>
                      <a:r>
                        <a:rPr sz="900" spc="-10" dirty="0">
                          <a:latin typeface="Arial"/>
                          <a:cs typeface="Arial"/>
                        </a:rPr>
                        <a:t>sloppy programmers</a:t>
                      </a:r>
                      <a:endParaRPr sz="900">
                        <a:latin typeface="Arial"/>
                        <a:cs typeface="Arial"/>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647700">
                <a:tc>
                  <a:txBody>
                    <a:bodyPr/>
                    <a:lstStyle/>
                    <a:p>
                      <a:pPr marL="78105" marR="294640">
                        <a:lnSpc>
                          <a:spcPct val="111600"/>
                        </a:lnSpc>
                        <a:spcBef>
                          <a:spcPts val="5"/>
                        </a:spcBef>
                      </a:pPr>
                      <a:r>
                        <a:rPr sz="900" spc="-10" dirty="0">
                          <a:solidFill>
                            <a:srgbClr val="C80000"/>
                          </a:solidFill>
                          <a:latin typeface="Arial"/>
                          <a:cs typeface="Arial"/>
                        </a:rPr>
                        <a:t>Fault forecasting</a:t>
                      </a:r>
                      <a:endParaRPr sz="900">
                        <a:latin typeface="Arial"/>
                        <a:cs typeface="Arial"/>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marR="75565">
                        <a:lnSpc>
                          <a:spcPct val="111600"/>
                        </a:lnSpc>
                        <a:spcBef>
                          <a:spcPts val="5"/>
                        </a:spcBef>
                      </a:pPr>
                      <a:r>
                        <a:rPr sz="900" dirty="0">
                          <a:latin typeface="Arial"/>
                          <a:cs typeface="Arial"/>
                        </a:rPr>
                        <a:t>Estimate</a:t>
                      </a:r>
                      <a:r>
                        <a:rPr sz="900" spc="-50" dirty="0">
                          <a:latin typeface="Arial"/>
                          <a:cs typeface="Arial"/>
                        </a:rPr>
                        <a:t> </a:t>
                      </a:r>
                      <a:r>
                        <a:rPr sz="900" spc="-10" dirty="0">
                          <a:latin typeface="Arial"/>
                          <a:cs typeface="Arial"/>
                        </a:rPr>
                        <a:t>current </a:t>
                      </a:r>
                      <a:r>
                        <a:rPr sz="900" dirty="0">
                          <a:latin typeface="Arial"/>
                          <a:cs typeface="Arial"/>
                        </a:rPr>
                        <a:t>presence,</a:t>
                      </a:r>
                      <a:r>
                        <a:rPr sz="900" spc="-60" dirty="0">
                          <a:latin typeface="Arial"/>
                          <a:cs typeface="Arial"/>
                        </a:rPr>
                        <a:t> </a:t>
                      </a:r>
                      <a:r>
                        <a:rPr sz="900" spc="-10" dirty="0">
                          <a:latin typeface="Arial"/>
                          <a:cs typeface="Arial"/>
                        </a:rPr>
                        <a:t>future </a:t>
                      </a:r>
                      <a:r>
                        <a:rPr sz="900" dirty="0">
                          <a:latin typeface="Arial"/>
                          <a:cs typeface="Arial"/>
                        </a:rPr>
                        <a:t>incidence,</a:t>
                      </a:r>
                      <a:r>
                        <a:rPr sz="900" spc="-65" dirty="0">
                          <a:latin typeface="Arial"/>
                          <a:cs typeface="Arial"/>
                        </a:rPr>
                        <a:t> </a:t>
                      </a:r>
                      <a:r>
                        <a:rPr sz="900" spc="-25" dirty="0">
                          <a:latin typeface="Arial"/>
                          <a:cs typeface="Arial"/>
                        </a:rPr>
                        <a:t>and </a:t>
                      </a:r>
                      <a:r>
                        <a:rPr sz="900" spc="-10" dirty="0">
                          <a:latin typeface="Arial"/>
                          <a:cs typeface="Arial"/>
                        </a:rPr>
                        <a:t>consequences</a:t>
                      </a:r>
                      <a:r>
                        <a:rPr sz="900" spc="20" dirty="0">
                          <a:latin typeface="Arial"/>
                          <a:cs typeface="Arial"/>
                        </a:rPr>
                        <a:t> </a:t>
                      </a:r>
                      <a:r>
                        <a:rPr sz="900" dirty="0">
                          <a:latin typeface="Arial"/>
                          <a:cs typeface="Arial"/>
                        </a:rPr>
                        <a:t>of</a:t>
                      </a:r>
                      <a:r>
                        <a:rPr sz="900" spc="20" dirty="0">
                          <a:latin typeface="Arial"/>
                          <a:cs typeface="Arial"/>
                        </a:rPr>
                        <a:t> </a:t>
                      </a:r>
                      <a:r>
                        <a:rPr sz="900" spc="-10" dirty="0">
                          <a:latin typeface="Arial"/>
                          <a:cs typeface="Arial"/>
                        </a:rPr>
                        <a:t>faults</a:t>
                      </a:r>
                      <a:endParaRPr sz="900">
                        <a:latin typeface="Arial"/>
                        <a:cs typeface="Arial"/>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marR="89535">
                        <a:lnSpc>
                          <a:spcPct val="111600"/>
                        </a:lnSpc>
                        <a:spcBef>
                          <a:spcPts val="5"/>
                        </a:spcBef>
                      </a:pPr>
                      <a:r>
                        <a:rPr sz="900" dirty="0">
                          <a:latin typeface="Arial"/>
                          <a:cs typeface="Arial"/>
                        </a:rPr>
                        <a:t>Estimate</a:t>
                      </a:r>
                      <a:r>
                        <a:rPr sz="900" spc="-40" dirty="0">
                          <a:latin typeface="Arial"/>
                          <a:cs typeface="Arial"/>
                        </a:rPr>
                        <a:t> </a:t>
                      </a:r>
                      <a:r>
                        <a:rPr sz="900" dirty="0">
                          <a:latin typeface="Arial"/>
                          <a:cs typeface="Arial"/>
                        </a:rPr>
                        <a:t>how</a:t>
                      </a:r>
                      <a:r>
                        <a:rPr sz="900" spc="-40" dirty="0">
                          <a:latin typeface="Arial"/>
                          <a:cs typeface="Arial"/>
                        </a:rPr>
                        <a:t> </a:t>
                      </a:r>
                      <a:r>
                        <a:rPr sz="900" spc="-50" dirty="0">
                          <a:latin typeface="Arial"/>
                          <a:cs typeface="Arial"/>
                        </a:rPr>
                        <a:t>a</a:t>
                      </a:r>
                      <a:r>
                        <a:rPr sz="900" dirty="0">
                          <a:latin typeface="Arial"/>
                          <a:cs typeface="Arial"/>
                        </a:rPr>
                        <a:t> recruiter</a:t>
                      </a:r>
                      <a:r>
                        <a:rPr sz="900" spc="-25"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doing</a:t>
                      </a:r>
                      <a:r>
                        <a:rPr sz="900" spc="-25" dirty="0">
                          <a:latin typeface="Arial"/>
                          <a:cs typeface="Arial"/>
                        </a:rPr>
                        <a:t> </a:t>
                      </a:r>
                      <a:r>
                        <a:rPr sz="900" spc="-20" dirty="0">
                          <a:latin typeface="Arial"/>
                          <a:cs typeface="Arial"/>
                        </a:rPr>
                        <a:t>when </a:t>
                      </a:r>
                      <a:r>
                        <a:rPr sz="900" dirty="0">
                          <a:latin typeface="Arial"/>
                          <a:cs typeface="Arial"/>
                        </a:rPr>
                        <a:t>it</a:t>
                      </a:r>
                      <a:r>
                        <a:rPr sz="900" spc="-20" dirty="0">
                          <a:latin typeface="Arial"/>
                          <a:cs typeface="Arial"/>
                        </a:rPr>
                        <a:t> </a:t>
                      </a:r>
                      <a:r>
                        <a:rPr sz="900" dirty="0">
                          <a:latin typeface="Arial"/>
                          <a:cs typeface="Arial"/>
                        </a:rPr>
                        <a:t>comes</a:t>
                      </a:r>
                      <a:r>
                        <a:rPr sz="900" spc="-20" dirty="0">
                          <a:latin typeface="Arial"/>
                          <a:cs typeface="Arial"/>
                        </a:rPr>
                        <a:t> </a:t>
                      </a:r>
                      <a:r>
                        <a:rPr sz="900" dirty="0">
                          <a:latin typeface="Arial"/>
                          <a:cs typeface="Arial"/>
                        </a:rPr>
                        <a:t>to</a:t>
                      </a:r>
                      <a:r>
                        <a:rPr sz="900" spc="-15" dirty="0">
                          <a:latin typeface="Arial"/>
                          <a:cs typeface="Arial"/>
                        </a:rPr>
                        <a:t> </a:t>
                      </a:r>
                      <a:r>
                        <a:rPr sz="900" spc="-10" dirty="0">
                          <a:latin typeface="Arial"/>
                          <a:cs typeface="Arial"/>
                        </a:rPr>
                        <a:t>hiring </a:t>
                      </a:r>
                      <a:r>
                        <a:rPr sz="900" dirty="0">
                          <a:latin typeface="Arial"/>
                          <a:cs typeface="Arial"/>
                        </a:rPr>
                        <a:t>sloppy</a:t>
                      </a:r>
                      <a:r>
                        <a:rPr sz="900" spc="-65" dirty="0">
                          <a:latin typeface="Arial"/>
                          <a:cs typeface="Arial"/>
                        </a:rPr>
                        <a:t> </a:t>
                      </a:r>
                      <a:r>
                        <a:rPr sz="900" spc="-10" dirty="0">
                          <a:latin typeface="Arial"/>
                          <a:cs typeface="Arial"/>
                        </a:rPr>
                        <a:t>programmers</a:t>
                      </a:r>
                      <a:endParaRPr sz="900">
                        <a:latin typeface="Arial"/>
                        <a:cs typeface="Arial"/>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bl>
          </a:graphicData>
        </a:graphic>
      </p:graphicFrame>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45085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2" action="ppaction://hlinksldjump"/>
              </a:rPr>
              <a:t>Basic</a:t>
            </a:r>
            <a:r>
              <a:rPr sz="500" spc="-20" dirty="0">
                <a:latin typeface="Arial"/>
                <a:cs typeface="Arial"/>
                <a:hlinkClick r:id="rId2" action="ppaction://hlinksldjump"/>
              </a:rPr>
              <a:t> </a:t>
            </a:r>
            <a:r>
              <a:rPr sz="500" spc="-10" dirty="0">
                <a:latin typeface="Arial"/>
                <a:cs typeface="Arial"/>
                <a:hlinkClick r:id="rId2" action="ppaction://hlinksldjump"/>
              </a:rPr>
              <a:t>concepts</a:t>
            </a:r>
            <a:endParaRPr sz="500">
              <a:latin typeface="Arial"/>
              <a:cs typeface="Arial"/>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3" action="ppaction://hlinksldjump"/>
              </a:rPr>
              <a:t>Fault</a:t>
            </a:r>
            <a:r>
              <a:rPr sz="500" spc="5" dirty="0">
                <a:latin typeface="Arial"/>
                <a:cs typeface="Arial"/>
                <a:hlinkClick r:id="rId3" action="ppaction://hlinksldjump"/>
              </a:rPr>
              <a:t> </a:t>
            </a:r>
            <a:r>
              <a:rPr sz="500" spc="-10" dirty="0">
                <a:latin typeface="Arial"/>
                <a:cs typeface="Arial"/>
                <a:hlinkClick r:id="rId3"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15842" y="-1515"/>
            <a:ext cx="83883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Introduction</a:t>
            </a:r>
            <a:r>
              <a:rPr sz="500" spc="-25"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to</a:t>
            </a:r>
            <a:r>
              <a:rPr sz="500" spc="-25"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fault</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tolerance</a:t>
            </a:r>
            <a:endParaRPr sz="500">
              <a:latin typeface="Arial"/>
              <a:cs typeface="Arial"/>
            </a:endParaRPr>
          </a:p>
        </p:txBody>
      </p:sp>
      <p:sp>
        <p:nvSpPr>
          <p:cNvPr id="5" name="object 5"/>
          <p:cNvSpPr txBox="1"/>
          <p:nvPr/>
        </p:nvSpPr>
        <p:spPr>
          <a:xfrm>
            <a:off x="95300" y="197711"/>
            <a:ext cx="1183005" cy="494665"/>
          </a:xfrm>
          <a:prstGeom prst="rect">
            <a:avLst/>
          </a:prstGeom>
        </p:spPr>
        <p:txBody>
          <a:bodyPr vert="horz" wrap="square" lIns="0" tIns="12065" rIns="0" bIns="0" rtlCol="0">
            <a:spAutoFit/>
          </a:bodyPr>
          <a:lstStyle/>
          <a:p>
            <a:pPr marL="12700">
              <a:lnSpc>
                <a:spcPct val="100000"/>
              </a:lnSpc>
              <a:spcBef>
                <a:spcPts val="95"/>
              </a:spcBef>
            </a:pPr>
            <a:r>
              <a:rPr sz="1200" spc="-10" dirty="0">
                <a:solidFill>
                  <a:srgbClr val="3333B2"/>
                </a:solidFill>
                <a:latin typeface="Arial"/>
                <a:cs typeface="Arial"/>
              </a:rPr>
              <a:t>Failure</a:t>
            </a:r>
            <a:r>
              <a:rPr sz="1200" spc="-35" dirty="0">
                <a:solidFill>
                  <a:srgbClr val="3333B2"/>
                </a:solidFill>
                <a:latin typeface="Arial"/>
                <a:cs typeface="Arial"/>
              </a:rPr>
              <a:t> </a:t>
            </a:r>
            <a:r>
              <a:rPr sz="1200" spc="-10" dirty="0">
                <a:solidFill>
                  <a:srgbClr val="3333B2"/>
                </a:solidFill>
                <a:latin typeface="Arial"/>
                <a:cs typeface="Arial"/>
              </a:rPr>
              <a:t>models</a:t>
            </a:r>
            <a:endParaRPr sz="1200">
              <a:latin typeface="Arial"/>
              <a:cs typeface="Arial"/>
            </a:endParaRPr>
          </a:p>
          <a:p>
            <a:pPr marL="260350">
              <a:lnSpc>
                <a:spcPct val="100000"/>
              </a:lnSpc>
              <a:spcBef>
                <a:spcPts val="1055"/>
              </a:spcBef>
            </a:pPr>
            <a:r>
              <a:rPr sz="1000" spc="-25" dirty="0">
                <a:solidFill>
                  <a:srgbClr val="3333B2"/>
                </a:solidFill>
                <a:latin typeface="Arial"/>
                <a:cs typeface="Arial"/>
              </a:rPr>
              <a:t>Types </a:t>
            </a:r>
            <a:r>
              <a:rPr sz="1000" dirty="0">
                <a:solidFill>
                  <a:srgbClr val="3333B2"/>
                </a:solidFill>
                <a:latin typeface="Arial"/>
                <a:cs typeface="Arial"/>
              </a:rPr>
              <a:t>of</a:t>
            </a:r>
            <a:r>
              <a:rPr sz="1000" spc="-20" dirty="0">
                <a:solidFill>
                  <a:srgbClr val="3333B2"/>
                </a:solidFill>
                <a:latin typeface="Arial"/>
                <a:cs typeface="Arial"/>
              </a:rPr>
              <a:t> </a:t>
            </a:r>
            <a:r>
              <a:rPr sz="1000" spc="-10" dirty="0">
                <a:solidFill>
                  <a:srgbClr val="3333B2"/>
                </a:solidFill>
                <a:latin typeface="Arial"/>
                <a:cs typeface="Arial"/>
              </a:rPr>
              <a:t>failures</a:t>
            </a:r>
            <a:endParaRPr sz="1000">
              <a:latin typeface="Arial"/>
              <a:cs typeface="Arial"/>
            </a:endParaRPr>
          </a:p>
        </p:txBody>
      </p:sp>
      <p:graphicFrame>
        <p:nvGraphicFramePr>
          <p:cNvPr id="6" name="object 6"/>
          <p:cNvGraphicFramePr>
            <a:graphicFrameLocks noGrp="1"/>
          </p:cNvGraphicFramePr>
          <p:nvPr/>
        </p:nvGraphicFramePr>
        <p:xfrm>
          <a:off x="360006" y="945807"/>
          <a:ext cx="3901440" cy="2032635"/>
        </p:xfrm>
        <a:graphic>
          <a:graphicData uri="http://schemas.openxmlformats.org/drawingml/2006/table">
            <a:tbl>
              <a:tblPr firstRow="1" bandRow="1">
                <a:tableStyleId>{2D5ABB26-0587-4C30-8999-92F81FD0307C}</a:tableStyleId>
              </a:tblPr>
              <a:tblGrid>
                <a:gridCol w="1411605">
                  <a:extLst>
                    <a:ext uri="{9D8B030D-6E8A-4147-A177-3AD203B41FA5}">
                      <a16:colId xmlns:a16="http://schemas.microsoft.com/office/drawing/2014/main" val="20000"/>
                    </a:ext>
                  </a:extLst>
                </a:gridCol>
                <a:gridCol w="2489835">
                  <a:extLst>
                    <a:ext uri="{9D8B030D-6E8A-4147-A177-3AD203B41FA5}">
                      <a16:colId xmlns:a16="http://schemas.microsoft.com/office/drawing/2014/main" val="20001"/>
                    </a:ext>
                  </a:extLst>
                </a:gridCol>
              </a:tblGrid>
              <a:tr h="195580">
                <a:tc>
                  <a:txBody>
                    <a:bodyPr/>
                    <a:lstStyle/>
                    <a:p>
                      <a:pPr marL="78105">
                        <a:lnSpc>
                          <a:spcPct val="100000"/>
                        </a:lnSpc>
                        <a:spcBef>
                          <a:spcPts val="130"/>
                        </a:spcBef>
                      </a:pPr>
                      <a:r>
                        <a:rPr sz="900" b="1" spc="-20" dirty="0">
                          <a:latin typeface="Arial"/>
                          <a:cs typeface="Arial"/>
                        </a:rPr>
                        <a:t>Type</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130"/>
                        </a:spcBef>
                      </a:pPr>
                      <a:r>
                        <a:rPr sz="900" b="1" dirty="0">
                          <a:latin typeface="Arial"/>
                          <a:cs typeface="Arial"/>
                        </a:rPr>
                        <a:t>Description</a:t>
                      </a:r>
                      <a:r>
                        <a:rPr sz="900" b="1" spc="-30" dirty="0">
                          <a:latin typeface="Arial"/>
                          <a:cs typeface="Arial"/>
                        </a:rPr>
                        <a:t> </a:t>
                      </a:r>
                      <a:r>
                        <a:rPr sz="900" b="1" dirty="0">
                          <a:latin typeface="Arial"/>
                          <a:cs typeface="Arial"/>
                        </a:rPr>
                        <a:t>of</a:t>
                      </a:r>
                      <a:r>
                        <a:rPr sz="900" b="1" spc="-25" dirty="0">
                          <a:latin typeface="Arial"/>
                          <a:cs typeface="Arial"/>
                        </a:rPr>
                        <a:t> </a:t>
                      </a:r>
                      <a:r>
                        <a:rPr sz="900" b="1" spc="-10" dirty="0">
                          <a:latin typeface="Arial"/>
                          <a:cs typeface="Arial"/>
                        </a:rPr>
                        <a:t>server’s</a:t>
                      </a:r>
                      <a:r>
                        <a:rPr sz="900" b="1" spc="-25" dirty="0">
                          <a:latin typeface="Arial"/>
                          <a:cs typeface="Arial"/>
                        </a:rPr>
                        <a:t> </a:t>
                      </a:r>
                      <a:r>
                        <a:rPr sz="900" b="1" spc="-10" dirty="0">
                          <a:latin typeface="Arial"/>
                          <a:cs typeface="Arial"/>
                        </a:rPr>
                        <a:t>behavior</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95580">
                <a:tc>
                  <a:txBody>
                    <a:bodyPr/>
                    <a:lstStyle/>
                    <a:p>
                      <a:pPr marL="78105">
                        <a:lnSpc>
                          <a:spcPct val="100000"/>
                        </a:lnSpc>
                        <a:spcBef>
                          <a:spcPts val="185"/>
                        </a:spcBef>
                      </a:pPr>
                      <a:r>
                        <a:rPr sz="900" dirty="0">
                          <a:solidFill>
                            <a:srgbClr val="C80000"/>
                          </a:solidFill>
                          <a:latin typeface="Arial"/>
                          <a:cs typeface="Arial"/>
                        </a:rPr>
                        <a:t>Crash</a:t>
                      </a:r>
                      <a:r>
                        <a:rPr sz="900" spc="-40" dirty="0">
                          <a:solidFill>
                            <a:srgbClr val="C80000"/>
                          </a:solidFill>
                          <a:latin typeface="Arial"/>
                          <a:cs typeface="Arial"/>
                        </a:rPr>
                        <a:t> </a:t>
                      </a:r>
                      <a:r>
                        <a:rPr sz="900" spc="-10" dirty="0">
                          <a:solidFill>
                            <a:srgbClr val="C80000"/>
                          </a:solidFill>
                          <a:latin typeface="Arial"/>
                          <a:cs typeface="Arial"/>
                        </a:rPr>
                        <a:t>failure</a:t>
                      </a:r>
                      <a:endParaRPr sz="900">
                        <a:latin typeface="Arial"/>
                        <a:cs typeface="Arial"/>
                      </a:endParaRPr>
                    </a:p>
                  </a:txBody>
                  <a:tcPr marL="0" marR="0" marT="2349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a:lnSpc>
                          <a:spcPct val="100000"/>
                        </a:lnSpc>
                        <a:spcBef>
                          <a:spcPts val="185"/>
                        </a:spcBef>
                      </a:pPr>
                      <a:r>
                        <a:rPr sz="900" dirty="0">
                          <a:latin typeface="Arial"/>
                          <a:cs typeface="Arial"/>
                        </a:rPr>
                        <a:t>Halts,</a:t>
                      </a:r>
                      <a:r>
                        <a:rPr sz="900" spc="-30" dirty="0">
                          <a:latin typeface="Arial"/>
                          <a:cs typeface="Arial"/>
                        </a:rPr>
                        <a:t> </a:t>
                      </a:r>
                      <a:r>
                        <a:rPr sz="900" dirty="0">
                          <a:latin typeface="Arial"/>
                          <a:cs typeface="Arial"/>
                        </a:rPr>
                        <a:t>but</a:t>
                      </a:r>
                      <a:r>
                        <a:rPr sz="900" spc="-30"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working</a:t>
                      </a:r>
                      <a:r>
                        <a:rPr sz="900" spc="-30" dirty="0">
                          <a:latin typeface="Arial"/>
                          <a:cs typeface="Arial"/>
                        </a:rPr>
                        <a:t> </a:t>
                      </a:r>
                      <a:r>
                        <a:rPr sz="900" dirty="0">
                          <a:latin typeface="Arial"/>
                          <a:cs typeface="Arial"/>
                        </a:rPr>
                        <a:t>correctly</a:t>
                      </a:r>
                      <a:r>
                        <a:rPr sz="900" spc="-30" dirty="0">
                          <a:latin typeface="Arial"/>
                          <a:cs typeface="Arial"/>
                        </a:rPr>
                        <a:t> </a:t>
                      </a:r>
                      <a:r>
                        <a:rPr sz="900" dirty="0">
                          <a:latin typeface="Arial"/>
                          <a:cs typeface="Arial"/>
                        </a:rPr>
                        <a:t>until</a:t>
                      </a:r>
                      <a:r>
                        <a:rPr sz="900" spc="-25" dirty="0">
                          <a:latin typeface="Arial"/>
                          <a:cs typeface="Arial"/>
                        </a:rPr>
                        <a:t> </a:t>
                      </a:r>
                      <a:r>
                        <a:rPr sz="900" dirty="0">
                          <a:latin typeface="Arial"/>
                          <a:cs typeface="Arial"/>
                        </a:rPr>
                        <a:t>it</a:t>
                      </a:r>
                      <a:r>
                        <a:rPr sz="900" spc="-30" dirty="0">
                          <a:latin typeface="Arial"/>
                          <a:cs typeface="Arial"/>
                        </a:rPr>
                        <a:t> </a:t>
                      </a:r>
                      <a:r>
                        <a:rPr sz="900" spc="-10" dirty="0">
                          <a:latin typeface="Arial"/>
                          <a:cs typeface="Arial"/>
                        </a:rPr>
                        <a:t>halts</a:t>
                      </a:r>
                      <a:endParaRPr sz="900">
                        <a:latin typeface="Arial"/>
                        <a:cs typeface="Arial"/>
                      </a:endParaRPr>
                    </a:p>
                  </a:txBody>
                  <a:tcPr marL="0" marR="0" marT="2349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555625">
                <a:tc>
                  <a:txBody>
                    <a:bodyPr/>
                    <a:lstStyle/>
                    <a:p>
                      <a:pPr marL="78105">
                        <a:lnSpc>
                          <a:spcPct val="100000"/>
                        </a:lnSpc>
                        <a:spcBef>
                          <a:spcPts val="130"/>
                        </a:spcBef>
                      </a:pPr>
                      <a:r>
                        <a:rPr sz="900" dirty="0">
                          <a:solidFill>
                            <a:srgbClr val="C80000"/>
                          </a:solidFill>
                          <a:latin typeface="Arial"/>
                          <a:cs typeface="Arial"/>
                        </a:rPr>
                        <a:t>Omission</a:t>
                      </a:r>
                      <a:r>
                        <a:rPr sz="900" spc="-45" dirty="0">
                          <a:solidFill>
                            <a:srgbClr val="C80000"/>
                          </a:solidFill>
                          <a:latin typeface="Arial"/>
                          <a:cs typeface="Arial"/>
                        </a:rPr>
                        <a:t> </a:t>
                      </a:r>
                      <a:r>
                        <a:rPr sz="900" spc="-10" dirty="0">
                          <a:solidFill>
                            <a:srgbClr val="C80000"/>
                          </a:solidFill>
                          <a:latin typeface="Arial"/>
                          <a:cs typeface="Arial"/>
                        </a:rPr>
                        <a:t>failure</a:t>
                      </a:r>
                      <a:endParaRPr sz="900">
                        <a:latin typeface="Arial"/>
                        <a:cs typeface="Arial"/>
                      </a:endParaRPr>
                    </a:p>
                    <a:p>
                      <a:pPr marL="229870" marR="283845">
                        <a:lnSpc>
                          <a:spcPct val="133900"/>
                        </a:lnSpc>
                      </a:pPr>
                      <a:r>
                        <a:rPr sz="900" i="1" spc="-10" dirty="0">
                          <a:latin typeface="Arial"/>
                          <a:cs typeface="Arial"/>
                        </a:rPr>
                        <a:t>Receive</a:t>
                      </a:r>
                      <a:r>
                        <a:rPr sz="900" i="1" spc="5" dirty="0">
                          <a:latin typeface="Arial"/>
                          <a:cs typeface="Arial"/>
                        </a:rPr>
                        <a:t> </a:t>
                      </a:r>
                      <a:r>
                        <a:rPr sz="900" i="1" spc="-10" dirty="0">
                          <a:latin typeface="Arial"/>
                          <a:cs typeface="Arial"/>
                        </a:rPr>
                        <a:t>omission </a:t>
                      </a:r>
                      <a:r>
                        <a:rPr sz="900" i="1" dirty="0">
                          <a:latin typeface="Arial"/>
                          <a:cs typeface="Arial"/>
                        </a:rPr>
                        <a:t>Send</a:t>
                      </a:r>
                      <a:r>
                        <a:rPr sz="900" i="1" spc="-30" dirty="0">
                          <a:latin typeface="Arial"/>
                          <a:cs typeface="Arial"/>
                        </a:rPr>
                        <a:t> </a:t>
                      </a:r>
                      <a:r>
                        <a:rPr sz="900" i="1" spc="-10" dirty="0">
                          <a:latin typeface="Arial"/>
                          <a:cs typeface="Arial"/>
                        </a:rPr>
                        <a:t>omission</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130"/>
                        </a:spcBef>
                      </a:pPr>
                      <a:r>
                        <a:rPr sz="900" spc="-10" dirty="0">
                          <a:latin typeface="Arial"/>
                          <a:cs typeface="Arial"/>
                        </a:rPr>
                        <a:t>Fails</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respond</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incoming</a:t>
                      </a:r>
                      <a:r>
                        <a:rPr sz="900" spc="-25" dirty="0">
                          <a:latin typeface="Arial"/>
                          <a:cs typeface="Arial"/>
                        </a:rPr>
                        <a:t> </a:t>
                      </a:r>
                      <a:r>
                        <a:rPr sz="900" spc="-10" dirty="0">
                          <a:latin typeface="Arial"/>
                          <a:cs typeface="Arial"/>
                        </a:rPr>
                        <a:t>requests</a:t>
                      </a:r>
                      <a:endParaRPr sz="900">
                        <a:latin typeface="Arial"/>
                        <a:cs typeface="Arial"/>
                      </a:endParaRPr>
                    </a:p>
                    <a:p>
                      <a:pPr marL="78105" marR="608330">
                        <a:lnSpc>
                          <a:spcPct val="133900"/>
                        </a:lnSpc>
                      </a:pPr>
                      <a:r>
                        <a:rPr sz="900" spc="-10" dirty="0">
                          <a:latin typeface="Arial"/>
                          <a:cs typeface="Arial"/>
                        </a:rPr>
                        <a:t>Fails</a:t>
                      </a:r>
                      <a:r>
                        <a:rPr sz="900" spc="-35" dirty="0">
                          <a:latin typeface="Arial"/>
                          <a:cs typeface="Arial"/>
                        </a:rPr>
                        <a:t> </a:t>
                      </a:r>
                      <a:r>
                        <a:rPr sz="900" dirty="0">
                          <a:latin typeface="Arial"/>
                          <a:cs typeface="Arial"/>
                        </a:rPr>
                        <a:t>to</a:t>
                      </a:r>
                      <a:r>
                        <a:rPr sz="900" spc="-35" dirty="0">
                          <a:latin typeface="Arial"/>
                          <a:cs typeface="Arial"/>
                        </a:rPr>
                        <a:t> </a:t>
                      </a:r>
                      <a:r>
                        <a:rPr sz="900" dirty="0">
                          <a:latin typeface="Arial"/>
                          <a:cs typeface="Arial"/>
                        </a:rPr>
                        <a:t>receive</a:t>
                      </a:r>
                      <a:r>
                        <a:rPr sz="900" spc="-30" dirty="0">
                          <a:latin typeface="Arial"/>
                          <a:cs typeface="Arial"/>
                        </a:rPr>
                        <a:t> </a:t>
                      </a:r>
                      <a:r>
                        <a:rPr sz="900" dirty="0">
                          <a:latin typeface="Arial"/>
                          <a:cs typeface="Arial"/>
                        </a:rPr>
                        <a:t>incoming</a:t>
                      </a:r>
                      <a:r>
                        <a:rPr sz="900" spc="-35" dirty="0">
                          <a:latin typeface="Arial"/>
                          <a:cs typeface="Arial"/>
                        </a:rPr>
                        <a:t> </a:t>
                      </a:r>
                      <a:r>
                        <a:rPr sz="900" spc="-10" dirty="0">
                          <a:latin typeface="Arial"/>
                          <a:cs typeface="Arial"/>
                        </a:rPr>
                        <a:t>messages Fails</a:t>
                      </a:r>
                      <a:r>
                        <a:rPr sz="900" spc="-20"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send</a:t>
                      </a:r>
                      <a:r>
                        <a:rPr sz="900" spc="-20" dirty="0">
                          <a:latin typeface="Arial"/>
                          <a:cs typeface="Arial"/>
                        </a:rPr>
                        <a:t> </a:t>
                      </a:r>
                      <a:r>
                        <a:rPr sz="900" spc="-10" dirty="0">
                          <a:latin typeface="Arial"/>
                          <a:cs typeface="Arial"/>
                        </a:rPr>
                        <a:t>messages</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188595">
                <a:tc>
                  <a:txBody>
                    <a:bodyPr/>
                    <a:lstStyle/>
                    <a:p>
                      <a:pPr marL="78105">
                        <a:lnSpc>
                          <a:spcPct val="100000"/>
                        </a:lnSpc>
                        <a:spcBef>
                          <a:spcPts val="130"/>
                        </a:spcBef>
                      </a:pPr>
                      <a:r>
                        <a:rPr sz="900" dirty="0">
                          <a:solidFill>
                            <a:srgbClr val="C80000"/>
                          </a:solidFill>
                          <a:latin typeface="Arial"/>
                          <a:cs typeface="Arial"/>
                        </a:rPr>
                        <a:t>Timing</a:t>
                      </a:r>
                      <a:r>
                        <a:rPr sz="900" spc="-35" dirty="0">
                          <a:solidFill>
                            <a:srgbClr val="C80000"/>
                          </a:solidFill>
                          <a:latin typeface="Arial"/>
                          <a:cs typeface="Arial"/>
                        </a:rPr>
                        <a:t> </a:t>
                      </a:r>
                      <a:r>
                        <a:rPr sz="900" spc="-10" dirty="0">
                          <a:solidFill>
                            <a:srgbClr val="C80000"/>
                          </a:solidFill>
                          <a:latin typeface="Arial"/>
                          <a:cs typeface="Arial"/>
                        </a:rPr>
                        <a:t>failure</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130"/>
                        </a:spcBef>
                      </a:pPr>
                      <a:r>
                        <a:rPr sz="900" dirty="0">
                          <a:latin typeface="Arial"/>
                          <a:cs typeface="Arial"/>
                        </a:rPr>
                        <a:t>Response</a:t>
                      </a:r>
                      <a:r>
                        <a:rPr sz="900" spc="-30" dirty="0">
                          <a:latin typeface="Arial"/>
                          <a:cs typeface="Arial"/>
                        </a:rPr>
                        <a:t> </a:t>
                      </a:r>
                      <a:r>
                        <a:rPr sz="900" dirty="0">
                          <a:latin typeface="Arial"/>
                          <a:cs typeface="Arial"/>
                        </a:rPr>
                        <a:t>lies</a:t>
                      </a:r>
                      <a:r>
                        <a:rPr sz="900" spc="-30" dirty="0">
                          <a:latin typeface="Arial"/>
                          <a:cs typeface="Arial"/>
                        </a:rPr>
                        <a:t> </a:t>
                      </a:r>
                      <a:r>
                        <a:rPr sz="900" dirty="0">
                          <a:latin typeface="Arial"/>
                          <a:cs typeface="Arial"/>
                        </a:rPr>
                        <a:t>outside</a:t>
                      </a:r>
                      <a:r>
                        <a:rPr sz="900" spc="-3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specified</a:t>
                      </a:r>
                      <a:r>
                        <a:rPr sz="900" spc="-30" dirty="0">
                          <a:latin typeface="Arial"/>
                          <a:cs typeface="Arial"/>
                        </a:rPr>
                        <a:t> </a:t>
                      </a:r>
                      <a:r>
                        <a:rPr sz="900" dirty="0">
                          <a:latin typeface="Arial"/>
                          <a:cs typeface="Arial"/>
                        </a:rPr>
                        <a:t>time</a:t>
                      </a:r>
                      <a:r>
                        <a:rPr sz="900" spc="-30" dirty="0">
                          <a:latin typeface="Arial"/>
                          <a:cs typeface="Arial"/>
                        </a:rPr>
                        <a:t> </a:t>
                      </a:r>
                      <a:r>
                        <a:rPr sz="900" spc="-10" dirty="0">
                          <a:latin typeface="Arial"/>
                          <a:cs typeface="Arial"/>
                        </a:rPr>
                        <a:t>interval</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555625">
                <a:tc>
                  <a:txBody>
                    <a:bodyPr/>
                    <a:lstStyle/>
                    <a:p>
                      <a:pPr marL="78105">
                        <a:lnSpc>
                          <a:spcPct val="100000"/>
                        </a:lnSpc>
                        <a:spcBef>
                          <a:spcPts val="130"/>
                        </a:spcBef>
                      </a:pPr>
                      <a:r>
                        <a:rPr sz="900" dirty="0">
                          <a:solidFill>
                            <a:srgbClr val="C80000"/>
                          </a:solidFill>
                          <a:latin typeface="Arial"/>
                          <a:cs typeface="Arial"/>
                        </a:rPr>
                        <a:t>Response</a:t>
                      </a:r>
                      <a:r>
                        <a:rPr sz="900" spc="-50" dirty="0">
                          <a:solidFill>
                            <a:srgbClr val="C80000"/>
                          </a:solidFill>
                          <a:latin typeface="Arial"/>
                          <a:cs typeface="Arial"/>
                        </a:rPr>
                        <a:t> </a:t>
                      </a:r>
                      <a:r>
                        <a:rPr sz="900" spc="-10" dirty="0">
                          <a:solidFill>
                            <a:srgbClr val="C80000"/>
                          </a:solidFill>
                          <a:latin typeface="Arial"/>
                          <a:cs typeface="Arial"/>
                        </a:rPr>
                        <a:t>failure</a:t>
                      </a:r>
                      <a:endParaRPr sz="900">
                        <a:latin typeface="Arial"/>
                        <a:cs typeface="Arial"/>
                      </a:endParaRPr>
                    </a:p>
                    <a:p>
                      <a:pPr marL="229870">
                        <a:lnSpc>
                          <a:spcPct val="100000"/>
                        </a:lnSpc>
                        <a:spcBef>
                          <a:spcPts val="370"/>
                        </a:spcBef>
                      </a:pPr>
                      <a:r>
                        <a:rPr sz="900" i="1" spc="-10" dirty="0">
                          <a:latin typeface="Arial"/>
                          <a:cs typeface="Arial"/>
                        </a:rPr>
                        <a:t>Value</a:t>
                      </a:r>
                      <a:r>
                        <a:rPr sz="900" i="1" spc="-45" dirty="0">
                          <a:latin typeface="Arial"/>
                          <a:cs typeface="Arial"/>
                        </a:rPr>
                        <a:t> </a:t>
                      </a:r>
                      <a:r>
                        <a:rPr sz="900" i="1" spc="-10" dirty="0">
                          <a:latin typeface="Arial"/>
                          <a:cs typeface="Arial"/>
                        </a:rPr>
                        <a:t>failure</a:t>
                      </a:r>
                      <a:endParaRPr sz="900">
                        <a:latin typeface="Arial"/>
                        <a:cs typeface="Arial"/>
                      </a:endParaRPr>
                    </a:p>
                    <a:p>
                      <a:pPr marL="229870">
                        <a:lnSpc>
                          <a:spcPct val="100000"/>
                        </a:lnSpc>
                        <a:spcBef>
                          <a:spcPts val="365"/>
                        </a:spcBef>
                      </a:pPr>
                      <a:r>
                        <a:rPr sz="900" i="1" spc="-10" dirty="0">
                          <a:latin typeface="Arial"/>
                          <a:cs typeface="Arial"/>
                        </a:rPr>
                        <a:t>State-</a:t>
                      </a:r>
                      <a:r>
                        <a:rPr sz="900" i="1" dirty="0">
                          <a:latin typeface="Arial"/>
                          <a:cs typeface="Arial"/>
                        </a:rPr>
                        <a:t>transition</a:t>
                      </a:r>
                      <a:r>
                        <a:rPr sz="900" i="1" spc="-20" dirty="0">
                          <a:latin typeface="Arial"/>
                          <a:cs typeface="Arial"/>
                        </a:rPr>
                        <a:t> </a:t>
                      </a:r>
                      <a:r>
                        <a:rPr sz="900" i="1" spc="-10" dirty="0">
                          <a:latin typeface="Arial"/>
                          <a:cs typeface="Arial"/>
                        </a:rPr>
                        <a:t>failure</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130"/>
                        </a:spcBef>
                      </a:pPr>
                      <a:r>
                        <a:rPr sz="900" dirty="0">
                          <a:latin typeface="Arial"/>
                          <a:cs typeface="Arial"/>
                        </a:rPr>
                        <a:t>Response</a:t>
                      </a:r>
                      <a:r>
                        <a:rPr sz="900" spc="-30" dirty="0">
                          <a:latin typeface="Arial"/>
                          <a:cs typeface="Arial"/>
                        </a:rPr>
                        <a:t> </a:t>
                      </a:r>
                      <a:r>
                        <a:rPr sz="900" dirty="0">
                          <a:latin typeface="Arial"/>
                          <a:cs typeface="Arial"/>
                        </a:rPr>
                        <a:t>is</a:t>
                      </a:r>
                      <a:r>
                        <a:rPr sz="900" spc="-30" dirty="0">
                          <a:latin typeface="Arial"/>
                          <a:cs typeface="Arial"/>
                        </a:rPr>
                        <a:t> </a:t>
                      </a:r>
                      <a:r>
                        <a:rPr sz="900" spc="-10" dirty="0">
                          <a:latin typeface="Arial"/>
                          <a:cs typeface="Arial"/>
                        </a:rPr>
                        <a:t>incorrect</a:t>
                      </a:r>
                      <a:endParaRPr sz="900">
                        <a:latin typeface="Arial"/>
                        <a:cs typeface="Arial"/>
                      </a:endParaRPr>
                    </a:p>
                    <a:p>
                      <a:pPr marL="78105" marR="402590">
                        <a:lnSpc>
                          <a:spcPct val="133900"/>
                        </a:lnSpc>
                      </a:pPr>
                      <a:r>
                        <a:rPr sz="900" dirty="0">
                          <a:latin typeface="Arial"/>
                          <a:cs typeface="Arial"/>
                        </a:rPr>
                        <a:t>The</a:t>
                      </a:r>
                      <a:r>
                        <a:rPr sz="900" spc="-30" dirty="0">
                          <a:latin typeface="Arial"/>
                          <a:cs typeface="Arial"/>
                        </a:rPr>
                        <a:t> </a:t>
                      </a:r>
                      <a:r>
                        <a:rPr sz="900" dirty="0">
                          <a:latin typeface="Arial"/>
                          <a:cs typeface="Arial"/>
                        </a:rPr>
                        <a:t>value</a:t>
                      </a:r>
                      <a:r>
                        <a:rPr sz="900" spc="-25"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response</a:t>
                      </a:r>
                      <a:r>
                        <a:rPr sz="900" spc="-25" dirty="0">
                          <a:latin typeface="Arial"/>
                          <a:cs typeface="Arial"/>
                        </a:rPr>
                        <a:t> </a:t>
                      </a:r>
                      <a:r>
                        <a:rPr sz="900" dirty="0">
                          <a:latin typeface="Arial"/>
                          <a:cs typeface="Arial"/>
                        </a:rPr>
                        <a:t>is</a:t>
                      </a:r>
                      <a:r>
                        <a:rPr sz="900" spc="-30" dirty="0">
                          <a:latin typeface="Arial"/>
                          <a:cs typeface="Arial"/>
                        </a:rPr>
                        <a:t> </a:t>
                      </a:r>
                      <a:r>
                        <a:rPr sz="900" spc="-20" dirty="0">
                          <a:latin typeface="Arial"/>
                          <a:cs typeface="Arial"/>
                        </a:rPr>
                        <a:t>wrong </a:t>
                      </a:r>
                      <a:r>
                        <a:rPr sz="900" spc="-10" dirty="0">
                          <a:latin typeface="Arial"/>
                          <a:cs typeface="Arial"/>
                        </a:rPr>
                        <a:t>Deviates</a:t>
                      </a:r>
                      <a:r>
                        <a:rPr sz="900" spc="-20" dirty="0">
                          <a:latin typeface="Arial"/>
                          <a:cs typeface="Arial"/>
                        </a:rPr>
                        <a:t> </a:t>
                      </a:r>
                      <a:r>
                        <a:rPr sz="900" dirty="0">
                          <a:latin typeface="Arial"/>
                          <a:cs typeface="Arial"/>
                        </a:rPr>
                        <a:t>from</a:t>
                      </a:r>
                      <a:r>
                        <a:rPr sz="900" spc="-20"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correct</a:t>
                      </a:r>
                      <a:r>
                        <a:rPr sz="900" spc="-15" dirty="0">
                          <a:latin typeface="Arial"/>
                          <a:cs typeface="Arial"/>
                        </a:rPr>
                        <a:t> </a:t>
                      </a:r>
                      <a:r>
                        <a:rPr sz="900" dirty="0">
                          <a:latin typeface="Arial"/>
                          <a:cs typeface="Arial"/>
                        </a:rPr>
                        <a:t>flow</a:t>
                      </a:r>
                      <a:r>
                        <a:rPr sz="900" spc="-20" dirty="0">
                          <a:latin typeface="Arial"/>
                          <a:cs typeface="Arial"/>
                        </a:rPr>
                        <a:t> </a:t>
                      </a:r>
                      <a:r>
                        <a:rPr sz="900" dirty="0">
                          <a:latin typeface="Arial"/>
                          <a:cs typeface="Arial"/>
                        </a:rPr>
                        <a:t>of</a:t>
                      </a:r>
                      <a:r>
                        <a:rPr sz="900" spc="-20" dirty="0">
                          <a:latin typeface="Arial"/>
                          <a:cs typeface="Arial"/>
                        </a:rPr>
                        <a:t> </a:t>
                      </a:r>
                      <a:r>
                        <a:rPr sz="900" spc="-10" dirty="0">
                          <a:latin typeface="Arial"/>
                          <a:cs typeface="Arial"/>
                        </a:rPr>
                        <a:t>control</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341630">
                <a:tc>
                  <a:txBody>
                    <a:bodyPr/>
                    <a:lstStyle/>
                    <a:p>
                      <a:pPr marL="78105">
                        <a:lnSpc>
                          <a:spcPct val="100000"/>
                        </a:lnSpc>
                        <a:spcBef>
                          <a:spcPts val="130"/>
                        </a:spcBef>
                      </a:pPr>
                      <a:r>
                        <a:rPr sz="900" dirty="0">
                          <a:solidFill>
                            <a:srgbClr val="C80000"/>
                          </a:solidFill>
                          <a:latin typeface="Arial"/>
                          <a:cs typeface="Arial"/>
                        </a:rPr>
                        <a:t>Arbitrary</a:t>
                      </a:r>
                      <a:r>
                        <a:rPr sz="900" spc="-25" dirty="0">
                          <a:solidFill>
                            <a:srgbClr val="C80000"/>
                          </a:solidFill>
                          <a:latin typeface="Arial"/>
                          <a:cs typeface="Arial"/>
                        </a:rPr>
                        <a:t> </a:t>
                      </a:r>
                      <a:r>
                        <a:rPr sz="900" spc="-10" dirty="0">
                          <a:solidFill>
                            <a:srgbClr val="C80000"/>
                          </a:solidFill>
                          <a:latin typeface="Arial"/>
                          <a:cs typeface="Arial"/>
                        </a:rPr>
                        <a:t>failure</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marR="67945">
                        <a:lnSpc>
                          <a:spcPct val="111600"/>
                        </a:lnSpc>
                        <a:spcBef>
                          <a:spcPts val="5"/>
                        </a:spcBef>
                      </a:pPr>
                      <a:r>
                        <a:rPr sz="900" dirty="0">
                          <a:latin typeface="Arial"/>
                          <a:cs typeface="Arial"/>
                        </a:rPr>
                        <a:t>May</a:t>
                      </a:r>
                      <a:r>
                        <a:rPr sz="900" spc="100" dirty="0">
                          <a:latin typeface="Arial"/>
                          <a:cs typeface="Arial"/>
                        </a:rPr>
                        <a:t> </a:t>
                      </a:r>
                      <a:r>
                        <a:rPr sz="900" dirty="0">
                          <a:latin typeface="Arial"/>
                          <a:cs typeface="Arial"/>
                        </a:rPr>
                        <a:t>produce</a:t>
                      </a:r>
                      <a:r>
                        <a:rPr sz="900" spc="105" dirty="0">
                          <a:latin typeface="Arial"/>
                          <a:cs typeface="Arial"/>
                        </a:rPr>
                        <a:t> </a:t>
                      </a:r>
                      <a:r>
                        <a:rPr sz="900" dirty="0">
                          <a:latin typeface="Arial"/>
                          <a:cs typeface="Arial"/>
                        </a:rPr>
                        <a:t>arbitrary</a:t>
                      </a:r>
                      <a:r>
                        <a:rPr sz="900" spc="100" dirty="0">
                          <a:latin typeface="Arial"/>
                          <a:cs typeface="Arial"/>
                        </a:rPr>
                        <a:t> </a:t>
                      </a:r>
                      <a:r>
                        <a:rPr sz="900" dirty="0">
                          <a:latin typeface="Arial"/>
                          <a:cs typeface="Arial"/>
                        </a:rPr>
                        <a:t>responses</a:t>
                      </a:r>
                      <a:r>
                        <a:rPr sz="900" spc="105" dirty="0">
                          <a:latin typeface="Arial"/>
                          <a:cs typeface="Arial"/>
                        </a:rPr>
                        <a:t> </a:t>
                      </a:r>
                      <a:r>
                        <a:rPr sz="900" dirty="0">
                          <a:latin typeface="Arial"/>
                          <a:cs typeface="Arial"/>
                        </a:rPr>
                        <a:t>at</a:t>
                      </a:r>
                      <a:r>
                        <a:rPr sz="900" spc="105" dirty="0">
                          <a:latin typeface="Arial"/>
                          <a:cs typeface="Arial"/>
                        </a:rPr>
                        <a:t> </a:t>
                      </a:r>
                      <a:r>
                        <a:rPr sz="900" spc="-10" dirty="0">
                          <a:latin typeface="Arial"/>
                          <a:cs typeface="Arial"/>
                        </a:rPr>
                        <a:t>arbitrary times</a:t>
                      </a:r>
                      <a:endParaRPr sz="900">
                        <a:latin typeface="Arial"/>
                        <a:cs typeface="Arial"/>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bl>
          </a:graphicData>
        </a:graphic>
      </p:graphicFrame>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43751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Failure</a:t>
            </a:r>
            <a:r>
              <a:rPr sz="500" spc="20" dirty="0">
                <a:latin typeface="Arial"/>
                <a:cs typeface="Arial"/>
                <a:hlinkClick r:id="rId4" action="ppaction://hlinksldjump"/>
              </a:rPr>
              <a:t> </a:t>
            </a:r>
            <a:r>
              <a:rPr sz="500" spc="-10" dirty="0">
                <a:latin typeface="Arial"/>
                <a:cs typeface="Arial"/>
                <a:hlinkClick r:id="rId4" action="ppaction://hlinksldjump"/>
              </a:rPr>
              <a:t>models</a:t>
            </a:r>
            <a:endParaRPr sz="500">
              <a:latin typeface="Arial"/>
              <a:cs typeface="Arial"/>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674745"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2" action="ppaction://hlinksldjump"/>
              </a:rPr>
              <a:t>Introduction</a:t>
            </a:r>
            <a:r>
              <a:rPr sz="500" spc="-25" dirty="0">
                <a:solidFill>
                  <a:srgbClr val="FFFFFF"/>
                </a:solidFill>
                <a:latin typeface="Arial"/>
                <a:cs typeface="Arial"/>
                <a:hlinkClick r:id="rId2" action="ppaction://hlinksldjump"/>
              </a:rPr>
              <a:t> </a:t>
            </a:r>
            <a:r>
              <a:rPr sz="500" dirty="0">
                <a:solidFill>
                  <a:srgbClr val="FFFFFF"/>
                </a:solidFill>
                <a:latin typeface="Arial"/>
                <a:cs typeface="Arial"/>
                <a:hlinkClick r:id="rId2" action="ppaction://hlinksldjump"/>
              </a:rPr>
              <a:t>to</a:t>
            </a:r>
            <a:r>
              <a:rPr sz="500" spc="-25" dirty="0">
                <a:solidFill>
                  <a:srgbClr val="FFFFFF"/>
                </a:solidFill>
                <a:latin typeface="Arial"/>
                <a:cs typeface="Arial"/>
                <a:hlinkClick r:id="rId2" action="ppaction://hlinksldjump"/>
              </a:rPr>
              <a:t> </a:t>
            </a:r>
            <a:r>
              <a:rPr sz="500" dirty="0">
                <a:solidFill>
                  <a:srgbClr val="FFFFFF"/>
                </a:solidFill>
                <a:latin typeface="Arial"/>
                <a:cs typeface="Arial"/>
                <a:hlinkClick r:id="rId2" action="ppaction://hlinksldjump"/>
              </a:rPr>
              <a:t>fault</a:t>
            </a:r>
            <a:r>
              <a:rPr sz="500" spc="-2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tolerance</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Dependability</a:t>
            </a:r>
            <a:r>
              <a:rPr spc="-75" dirty="0"/>
              <a:t> </a:t>
            </a:r>
            <a:r>
              <a:rPr dirty="0"/>
              <a:t>versus</a:t>
            </a:r>
            <a:r>
              <a:rPr spc="-75" dirty="0"/>
              <a:t> </a:t>
            </a:r>
            <a:r>
              <a:rPr spc="-10" dirty="0"/>
              <a:t>security</a:t>
            </a:r>
          </a:p>
        </p:txBody>
      </p:sp>
      <p:sp>
        <p:nvSpPr>
          <p:cNvPr id="4" name="object 4"/>
          <p:cNvSpPr txBox="1"/>
          <p:nvPr/>
        </p:nvSpPr>
        <p:spPr>
          <a:xfrm>
            <a:off x="330847" y="499476"/>
            <a:ext cx="3942715" cy="1209675"/>
          </a:xfrm>
          <a:prstGeom prst="rect">
            <a:avLst/>
          </a:prstGeom>
        </p:spPr>
        <p:txBody>
          <a:bodyPr vert="horz" wrap="square" lIns="0" tIns="27305" rIns="0" bIns="0" rtlCol="0">
            <a:spAutoFit/>
          </a:bodyPr>
          <a:lstStyle/>
          <a:p>
            <a:pPr marL="28575">
              <a:lnSpc>
                <a:spcPct val="100000"/>
              </a:lnSpc>
              <a:spcBef>
                <a:spcPts val="215"/>
              </a:spcBef>
            </a:pPr>
            <a:r>
              <a:rPr sz="1000" dirty="0">
                <a:solidFill>
                  <a:srgbClr val="3333B2"/>
                </a:solidFill>
                <a:latin typeface="Arial"/>
                <a:cs typeface="Arial"/>
              </a:rPr>
              <a:t>Omission</a:t>
            </a:r>
            <a:r>
              <a:rPr sz="1000" spc="-55" dirty="0">
                <a:solidFill>
                  <a:srgbClr val="3333B2"/>
                </a:solidFill>
                <a:latin typeface="Arial"/>
                <a:cs typeface="Arial"/>
              </a:rPr>
              <a:t> </a:t>
            </a:r>
            <a:r>
              <a:rPr sz="1000" dirty="0">
                <a:solidFill>
                  <a:srgbClr val="3333B2"/>
                </a:solidFill>
                <a:latin typeface="Arial"/>
                <a:cs typeface="Arial"/>
              </a:rPr>
              <a:t>versus</a:t>
            </a:r>
            <a:r>
              <a:rPr sz="1000" spc="-55" dirty="0">
                <a:solidFill>
                  <a:srgbClr val="3333B2"/>
                </a:solidFill>
                <a:latin typeface="Arial"/>
                <a:cs typeface="Arial"/>
              </a:rPr>
              <a:t> </a:t>
            </a:r>
            <a:r>
              <a:rPr sz="1000" spc="-10" dirty="0">
                <a:solidFill>
                  <a:srgbClr val="3333B2"/>
                </a:solidFill>
                <a:latin typeface="Arial"/>
                <a:cs typeface="Arial"/>
              </a:rPr>
              <a:t>commission</a:t>
            </a:r>
            <a:endParaRPr sz="1000">
              <a:latin typeface="Arial"/>
              <a:cs typeface="Arial"/>
            </a:endParaRPr>
          </a:p>
          <a:p>
            <a:pPr marL="28575" marR="19050" indent="-3810">
              <a:lnSpc>
                <a:spcPts val="1210"/>
              </a:lnSpc>
              <a:spcBef>
                <a:spcPts val="35"/>
              </a:spcBef>
            </a:pPr>
            <a:r>
              <a:rPr sz="900" dirty="0">
                <a:latin typeface="Arial"/>
                <a:cs typeface="Arial"/>
              </a:rPr>
              <a:t>Arbitrary</a:t>
            </a:r>
            <a:r>
              <a:rPr sz="900" spc="-30" dirty="0">
                <a:latin typeface="Arial"/>
                <a:cs typeface="Arial"/>
              </a:rPr>
              <a:t> </a:t>
            </a:r>
            <a:r>
              <a:rPr sz="900" spc="-10" dirty="0">
                <a:latin typeface="Arial"/>
                <a:cs typeface="Arial"/>
              </a:rPr>
              <a:t>failures</a:t>
            </a:r>
            <a:r>
              <a:rPr sz="900" spc="-25" dirty="0">
                <a:latin typeface="Arial"/>
                <a:cs typeface="Arial"/>
              </a:rPr>
              <a:t> </a:t>
            </a:r>
            <a:r>
              <a:rPr sz="900" dirty="0">
                <a:latin typeface="Arial"/>
                <a:cs typeface="Arial"/>
              </a:rPr>
              <a:t>are</a:t>
            </a:r>
            <a:r>
              <a:rPr sz="900" spc="-30" dirty="0">
                <a:latin typeface="Arial"/>
                <a:cs typeface="Arial"/>
              </a:rPr>
              <a:t> </a:t>
            </a:r>
            <a:r>
              <a:rPr sz="900" spc="-10" dirty="0">
                <a:latin typeface="Arial"/>
                <a:cs typeface="Arial"/>
              </a:rPr>
              <a:t>sometimes</a:t>
            </a:r>
            <a:r>
              <a:rPr sz="900" spc="-25" dirty="0">
                <a:latin typeface="Arial"/>
                <a:cs typeface="Arial"/>
              </a:rPr>
              <a:t> </a:t>
            </a:r>
            <a:r>
              <a:rPr sz="900" spc="-10" dirty="0">
                <a:latin typeface="Arial"/>
                <a:cs typeface="Arial"/>
              </a:rPr>
              <a:t>qualified</a:t>
            </a:r>
            <a:r>
              <a:rPr sz="900" spc="-25" dirty="0">
                <a:latin typeface="Arial"/>
                <a:cs typeface="Arial"/>
              </a:rPr>
              <a:t> </a:t>
            </a:r>
            <a:r>
              <a:rPr sz="900" dirty="0">
                <a:latin typeface="Arial"/>
                <a:cs typeface="Arial"/>
              </a:rPr>
              <a:t>as</a:t>
            </a:r>
            <a:r>
              <a:rPr sz="900" spc="-30" dirty="0">
                <a:latin typeface="Arial"/>
                <a:cs typeface="Arial"/>
              </a:rPr>
              <a:t> </a:t>
            </a:r>
            <a:r>
              <a:rPr sz="900" dirty="0">
                <a:solidFill>
                  <a:srgbClr val="3333B2"/>
                </a:solidFill>
                <a:latin typeface="Arial"/>
                <a:cs typeface="Arial"/>
              </a:rPr>
              <a:t>malicious</a:t>
            </a:r>
            <a:r>
              <a:rPr sz="900" dirty="0">
                <a:latin typeface="Arial"/>
                <a:cs typeface="Arial"/>
              </a:rPr>
              <a:t>.</a:t>
            </a:r>
            <a:r>
              <a:rPr sz="900" spc="30" dirty="0">
                <a:latin typeface="Arial"/>
                <a:cs typeface="Arial"/>
              </a:rPr>
              <a:t> </a:t>
            </a:r>
            <a:r>
              <a:rPr sz="900" dirty="0">
                <a:latin typeface="Arial"/>
                <a:cs typeface="Arial"/>
              </a:rPr>
              <a:t>It</a:t>
            </a:r>
            <a:r>
              <a:rPr sz="900" spc="-30"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better</a:t>
            </a:r>
            <a:r>
              <a:rPr sz="900" spc="-25" dirty="0">
                <a:latin typeface="Arial"/>
                <a:cs typeface="Arial"/>
              </a:rPr>
              <a:t> </a:t>
            </a:r>
            <a:r>
              <a:rPr sz="900" dirty="0">
                <a:latin typeface="Arial"/>
                <a:cs typeface="Arial"/>
              </a:rPr>
              <a:t>to</a:t>
            </a:r>
            <a:r>
              <a:rPr sz="900" spc="-30" dirty="0">
                <a:latin typeface="Arial"/>
                <a:cs typeface="Arial"/>
              </a:rPr>
              <a:t> </a:t>
            </a:r>
            <a:r>
              <a:rPr sz="900" spc="-10" dirty="0">
                <a:latin typeface="Arial"/>
                <a:cs typeface="Arial"/>
              </a:rPr>
              <a:t>make</a:t>
            </a:r>
            <a:r>
              <a:rPr sz="900" spc="-25" dirty="0">
                <a:latin typeface="Arial"/>
                <a:cs typeface="Arial"/>
              </a:rPr>
              <a:t> the </a:t>
            </a:r>
            <a:r>
              <a:rPr sz="900" spc="-10" dirty="0">
                <a:latin typeface="Arial"/>
                <a:cs typeface="Arial"/>
              </a:rPr>
              <a:t>following</a:t>
            </a:r>
            <a:r>
              <a:rPr sz="900" spc="-5" dirty="0">
                <a:latin typeface="Arial"/>
                <a:cs typeface="Arial"/>
              </a:rPr>
              <a:t> </a:t>
            </a:r>
            <a:r>
              <a:rPr sz="900" spc="-10" dirty="0">
                <a:latin typeface="Arial"/>
                <a:cs typeface="Arial"/>
              </a:rPr>
              <a:t>distinction:</a:t>
            </a:r>
            <a:endParaRPr sz="900">
              <a:latin typeface="Arial"/>
              <a:cs typeface="Arial"/>
            </a:endParaRPr>
          </a:p>
          <a:p>
            <a:pPr marL="281940" marR="17780" indent="-120650">
              <a:lnSpc>
                <a:spcPct val="111600"/>
              </a:lnSpc>
              <a:spcBef>
                <a:spcPts val="335"/>
              </a:spcBef>
              <a:buClr>
                <a:srgbClr val="3333B2"/>
              </a:buClr>
              <a:buFont typeface="Menlo"/>
              <a:buChar char="•"/>
              <a:tabLst>
                <a:tab pos="282575" algn="l"/>
              </a:tabLst>
            </a:pPr>
            <a:r>
              <a:rPr sz="900" dirty="0">
                <a:solidFill>
                  <a:srgbClr val="C80000"/>
                </a:solidFill>
                <a:latin typeface="Arial"/>
                <a:cs typeface="Arial"/>
              </a:rPr>
              <a:t>Omission</a:t>
            </a:r>
            <a:r>
              <a:rPr sz="900" spc="-35" dirty="0">
                <a:solidFill>
                  <a:srgbClr val="C80000"/>
                </a:solidFill>
                <a:latin typeface="Arial"/>
                <a:cs typeface="Arial"/>
              </a:rPr>
              <a:t> </a:t>
            </a:r>
            <a:r>
              <a:rPr sz="900" dirty="0">
                <a:solidFill>
                  <a:srgbClr val="C80000"/>
                </a:solidFill>
                <a:latin typeface="Arial"/>
                <a:cs typeface="Arial"/>
              </a:rPr>
              <a:t>failures</a:t>
            </a:r>
            <a:r>
              <a:rPr sz="900" dirty="0">
                <a:latin typeface="Arial"/>
                <a:cs typeface="Arial"/>
              </a:rPr>
              <a:t>:</a:t>
            </a:r>
            <a:r>
              <a:rPr sz="900" spc="20"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component</a:t>
            </a:r>
            <a:r>
              <a:rPr sz="900" spc="-30" dirty="0">
                <a:latin typeface="Arial"/>
                <a:cs typeface="Arial"/>
              </a:rPr>
              <a:t> </a:t>
            </a:r>
            <a:r>
              <a:rPr sz="900" dirty="0">
                <a:latin typeface="Arial"/>
                <a:cs typeface="Arial"/>
              </a:rPr>
              <a:t>fails</a:t>
            </a:r>
            <a:r>
              <a:rPr sz="900" spc="-35"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take</a:t>
            </a:r>
            <a:r>
              <a:rPr sz="900" spc="-30" dirty="0">
                <a:latin typeface="Arial"/>
                <a:cs typeface="Arial"/>
              </a:rPr>
              <a:t> </a:t>
            </a:r>
            <a:r>
              <a:rPr sz="900" dirty="0">
                <a:latin typeface="Arial"/>
                <a:cs typeface="Arial"/>
              </a:rPr>
              <a:t>an</a:t>
            </a:r>
            <a:r>
              <a:rPr sz="900" spc="-35" dirty="0">
                <a:latin typeface="Arial"/>
                <a:cs typeface="Arial"/>
              </a:rPr>
              <a:t> </a:t>
            </a:r>
            <a:r>
              <a:rPr sz="900" dirty="0">
                <a:latin typeface="Arial"/>
                <a:cs typeface="Arial"/>
              </a:rPr>
              <a:t>action</a:t>
            </a:r>
            <a:r>
              <a:rPr sz="900" spc="-30" dirty="0">
                <a:latin typeface="Arial"/>
                <a:cs typeface="Arial"/>
              </a:rPr>
              <a:t> </a:t>
            </a:r>
            <a:r>
              <a:rPr sz="900" dirty="0">
                <a:latin typeface="Arial"/>
                <a:cs typeface="Arial"/>
              </a:rPr>
              <a:t>that</a:t>
            </a:r>
            <a:r>
              <a:rPr sz="900" spc="-35" dirty="0">
                <a:latin typeface="Arial"/>
                <a:cs typeface="Arial"/>
              </a:rPr>
              <a:t> </a:t>
            </a:r>
            <a:r>
              <a:rPr sz="900" dirty="0">
                <a:latin typeface="Arial"/>
                <a:cs typeface="Arial"/>
              </a:rPr>
              <a:t>it</a:t>
            </a:r>
            <a:r>
              <a:rPr sz="900" spc="-30" dirty="0">
                <a:latin typeface="Arial"/>
                <a:cs typeface="Arial"/>
              </a:rPr>
              <a:t> </a:t>
            </a:r>
            <a:r>
              <a:rPr sz="900" dirty="0">
                <a:latin typeface="Arial"/>
                <a:cs typeface="Arial"/>
              </a:rPr>
              <a:t>should</a:t>
            </a:r>
            <a:r>
              <a:rPr sz="900" spc="-30" dirty="0">
                <a:latin typeface="Arial"/>
                <a:cs typeface="Arial"/>
              </a:rPr>
              <a:t> </a:t>
            </a:r>
            <a:r>
              <a:rPr sz="900" spc="-20" dirty="0">
                <a:latin typeface="Arial"/>
                <a:cs typeface="Arial"/>
              </a:rPr>
              <a:t>have </a:t>
            </a:r>
            <a:r>
              <a:rPr sz="900" spc="-10" dirty="0">
                <a:latin typeface="Arial"/>
                <a:cs typeface="Arial"/>
              </a:rPr>
              <a:t>taken</a:t>
            </a:r>
            <a:endParaRPr sz="900">
              <a:latin typeface="Arial"/>
              <a:cs typeface="Arial"/>
            </a:endParaRPr>
          </a:p>
          <a:p>
            <a:pPr marL="281940" marR="22860" indent="-120650">
              <a:lnSpc>
                <a:spcPct val="111600"/>
              </a:lnSpc>
              <a:spcBef>
                <a:spcPts val="395"/>
              </a:spcBef>
              <a:buClr>
                <a:srgbClr val="3333B2"/>
              </a:buClr>
              <a:buFont typeface="Menlo"/>
              <a:buChar char="•"/>
              <a:tabLst>
                <a:tab pos="282575" algn="l"/>
              </a:tabLst>
            </a:pPr>
            <a:r>
              <a:rPr sz="900" dirty="0">
                <a:solidFill>
                  <a:srgbClr val="C80000"/>
                </a:solidFill>
                <a:latin typeface="Arial"/>
                <a:cs typeface="Arial"/>
              </a:rPr>
              <a:t>Commission</a:t>
            </a:r>
            <a:r>
              <a:rPr sz="900" spc="-35" dirty="0">
                <a:solidFill>
                  <a:srgbClr val="C80000"/>
                </a:solidFill>
                <a:latin typeface="Arial"/>
                <a:cs typeface="Arial"/>
              </a:rPr>
              <a:t> </a:t>
            </a:r>
            <a:r>
              <a:rPr sz="900" dirty="0">
                <a:solidFill>
                  <a:srgbClr val="C80000"/>
                </a:solidFill>
                <a:latin typeface="Arial"/>
                <a:cs typeface="Arial"/>
              </a:rPr>
              <a:t>failure</a:t>
            </a:r>
            <a:r>
              <a:rPr sz="900" dirty="0">
                <a:latin typeface="Arial"/>
                <a:cs typeface="Arial"/>
              </a:rPr>
              <a:t>:</a:t>
            </a:r>
            <a:r>
              <a:rPr sz="900" spc="25"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component</a:t>
            </a:r>
            <a:r>
              <a:rPr sz="900" spc="-30" dirty="0">
                <a:latin typeface="Arial"/>
                <a:cs typeface="Arial"/>
              </a:rPr>
              <a:t> </a:t>
            </a:r>
            <a:r>
              <a:rPr sz="900" dirty="0">
                <a:latin typeface="Arial"/>
                <a:cs typeface="Arial"/>
              </a:rPr>
              <a:t>takes</a:t>
            </a:r>
            <a:r>
              <a:rPr sz="900" spc="-35" dirty="0">
                <a:latin typeface="Arial"/>
                <a:cs typeface="Arial"/>
              </a:rPr>
              <a:t> </a:t>
            </a:r>
            <a:r>
              <a:rPr sz="900" dirty="0">
                <a:latin typeface="Arial"/>
                <a:cs typeface="Arial"/>
              </a:rPr>
              <a:t>an</a:t>
            </a:r>
            <a:r>
              <a:rPr sz="900" spc="-30" dirty="0">
                <a:latin typeface="Arial"/>
                <a:cs typeface="Arial"/>
              </a:rPr>
              <a:t> </a:t>
            </a:r>
            <a:r>
              <a:rPr sz="900" dirty="0">
                <a:latin typeface="Arial"/>
                <a:cs typeface="Arial"/>
              </a:rPr>
              <a:t>action</a:t>
            </a:r>
            <a:r>
              <a:rPr sz="900" spc="-30" dirty="0">
                <a:latin typeface="Arial"/>
                <a:cs typeface="Arial"/>
              </a:rPr>
              <a:t> </a:t>
            </a:r>
            <a:r>
              <a:rPr sz="900" dirty="0">
                <a:latin typeface="Arial"/>
                <a:cs typeface="Arial"/>
              </a:rPr>
              <a:t>that</a:t>
            </a:r>
            <a:r>
              <a:rPr sz="900" spc="-30" dirty="0">
                <a:latin typeface="Arial"/>
                <a:cs typeface="Arial"/>
              </a:rPr>
              <a:t> </a:t>
            </a:r>
            <a:r>
              <a:rPr sz="900" dirty="0">
                <a:latin typeface="Arial"/>
                <a:cs typeface="Arial"/>
              </a:rPr>
              <a:t>it</a:t>
            </a:r>
            <a:r>
              <a:rPr sz="900" spc="-30" dirty="0">
                <a:latin typeface="Arial"/>
                <a:cs typeface="Arial"/>
              </a:rPr>
              <a:t> </a:t>
            </a:r>
            <a:r>
              <a:rPr sz="900" dirty="0">
                <a:latin typeface="Arial"/>
                <a:cs typeface="Arial"/>
              </a:rPr>
              <a:t>should</a:t>
            </a:r>
            <a:r>
              <a:rPr sz="900" spc="-30" dirty="0">
                <a:latin typeface="Arial"/>
                <a:cs typeface="Arial"/>
              </a:rPr>
              <a:t> </a:t>
            </a:r>
            <a:r>
              <a:rPr sz="900" dirty="0">
                <a:latin typeface="Arial"/>
                <a:cs typeface="Arial"/>
              </a:rPr>
              <a:t>not</a:t>
            </a:r>
            <a:r>
              <a:rPr sz="900" spc="-35" dirty="0">
                <a:latin typeface="Arial"/>
                <a:cs typeface="Arial"/>
              </a:rPr>
              <a:t> </a:t>
            </a:r>
            <a:r>
              <a:rPr sz="900" spc="-20" dirty="0">
                <a:latin typeface="Arial"/>
                <a:cs typeface="Arial"/>
              </a:rPr>
              <a:t>have </a:t>
            </a:r>
            <a:r>
              <a:rPr sz="900" spc="-10" dirty="0">
                <a:latin typeface="Arial"/>
                <a:cs typeface="Arial"/>
              </a:rPr>
              <a:t>taken</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43751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Failure</a:t>
            </a:r>
            <a:r>
              <a:rPr sz="500" spc="20" dirty="0">
                <a:latin typeface="Arial"/>
                <a:cs typeface="Arial"/>
                <a:hlinkClick r:id="rId3" action="ppaction://hlinksldjump"/>
              </a:rPr>
              <a:t> </a:t>
            </a:r>
            <a:r>
              <a:rPr sz="500" spc="-10" dirty="0">
                <a:latin typeface="Arial"/>
                <a:cs typeface="Arial"/>
                <a:hlinkClick r:id="rId3" action="ppaction://hlinksldjump"/>
              </a:rPr>
              <a:t>models</a:t>
            </a:r>
            <a:endParaRPr sz="500">
              <a:latin typeface="Arial"/>
              <a:cs typeface="Arial"/>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674745"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2" action="ppaction://hlinksldjump"/>
              </a:rPr>
              <a:t>Introduction</a:t>
            </a:r>
            <a:r>
              <a:rPr sz="500" spc="-25" dirty="0">
                <a:solidFill>
                  <a:srgbClr val="FFFFFF"/>
                </a:solidFill>
                <a:latin typeface="Arial"/>
                <a:cs typeface="Arial"/>
                <a:hlinkClick r:id="rId2" action="ppaction://hlinksldjump"/>
              </a:rPr>
              <a:t> </a:t>
            </a:r>
            <a:r>
              <a:rPr sz="500" dirty="0">
                <a:solidFill>
                  <a:srgbClr val="FFFFFF"/>
                </a:solidFill>
                <a:latin typeface="Arial"/>
                <a:cs typeface="Arial"/>
                <a:hlinkClick r:id="rId2" action="ppaction://hlinksldjump"/>
              </a:rPr>
              <a:t>to</a:t>
            </a:r>
            <a:r>
              <a:rPr sz="500" spc="-25" dirty="0">
                <a:solidFill>
                  <a:srgbClr val="FFFFFF"/>
                </a:solidFill>
                <a:latin typeface="Arial"/>
                <a:cs typeface="Arial"/>
                <a:hlinkClick r:id="rId2" action="ppaction://hlinksldjump"/>
              </a:rPr>
              <a:t> </a:t>
            </a:r>
            <a:r>
              <a:rPr sz="500" dirty="0">
                <a:solidFill>
                  <a:srgbClr val="FFFFFF"/>
                </a:solidFill>
                <a:latin typeface="Arial"/>
                <a:cs typeface="Arial"/>
                <a:hlinkClick r:id="rId2" action="ppaction://hlinksldjump"/>
              </a:rPr>
              <a:t>fault</a:t>
            </a:r>
            <a:r>
              <a:rPr sz="500" spc="-2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tolerance</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Dependability</a:t>
            </a:r>
            <a:r>
              <a:rPr spc="-75" dirty="0"/>
              <a:t> </a:t>
            </a:r>
            <a:r>
              <a:rPr dirty="0"/>
              <a:t>versus</a:t>
            </a:r>
            <a:r>
              <a:rPr spc="-75" dirty="0"/>
              <a:t> </a:t>
            </a:r>
            <a:r>
              <a:rPr spc="-10" dirty="0"/>
              <a:t>security</a:t>
            </a:r>
          </a:p>
        </p:txBody>
      </p:sp>
      <p:sp>
        <p:nvSpPr>
          <p:cNvPr id="4" name="object 4"/>
          <p:cNvSpPr txBox="1"/>
          <p:nvPr/>
        </p:nvSpPr>
        <p:spPr>
          <a:xfrm>
            <a:off x="318147" y="499476"/>
            <a:ext cx="3968115" cy="1974850"/>
          </a:xfrm>
          <a:prstGeom prst="rect">
            <a:avLst/>
          </a:prstGeom>
        </p:spPr>
        <p:txBody>
          <a:bodyPr vert="horz" wrap="square" lIns="0" tIns="27305" rIns="0" bIns="0" rtlCol="0">
            <a:spAutoFit/>
          </a:bodyPr>
          <a:lstStyle/>
          <a:p>
            <a:pPr marL="41275">
              <a:lnSpc>
                <a:spcPct val="100000"/>
              </a:lnSpc>
              <a:spcBef>
                <a:spcPts val="215"/>
              </a:spcBef>
            </a:pPr>
            <a:r>
              <a:rPr sz="1000" dirty="0">
                <a:solidFill>
                  <a:srgbClr val="3333B2"/>
                </a:solidFill>
                <a:latin typeface="Arial"/>
                <a:cs typeface="Arial"/>
              </a:rPr>
              <a:t>Omission</a:t>
            </a:r>
            <a:r>
              <a:rPr sz="1000" spc="-55" dirty="0">
                <a:solidFill>
                  <a:srgbClr val="3333B2"/>
                </a:solidFill>
                <a:latin typeface="Arial"/>
                <a:cs typeface="Arial"/>
              </a:rPr>
              <a:t> </a:t>
            </a:r>
            <a:r>
              <a:rPr sz="1000" dirty="0">
                <a:solidFill>
                  <a:srgbClr val="3333B2"/>
                </a:solidFill>
                <a:latin typeface="Arial"/>
                <a:cs typeface="Arial"/>
              </a:rPr>
              <a:t>versus</a:t>
            </a:r>
            <a:r>
              <a:rPr sz="1000" spc="-55" dirty="0">
                <a:solidFill>
                  <a:srgbClr val="3333B2"/>
                </a:solidFill>
                <a:latin typeface="Arial"/>
                <a:cs typeface="Arial"/>
              </a:rPr>
              <a:t> </a:t>
            </a:r>
            <a:r>
              <a:rPr sz="1000" spc="-10" dirty="0">
                <a:solidFill>
                  <a:srgbClr val="3333B2"/>
                </a:solidFill>
                <a:latin typeface="Arial"/>
                <a:cs typeface="Arial"/>
              </a:rPr>
              <a:t>commission</a:t>
            </a:r>
            <a:endParaRPr sz="1000">
              <a:latin typeface="Arial"/>
              <a:cs typeface="Arial"/>
            </a:endParaRPr>
          </a:p>
          <a:p>
            <a:pPr marL="41275" marR="31750" indent="-3810">
              <a:lnSpc>
                <a:spcPts val="1210"/>
              </a:lnSpc>
              <a:spcBef>
                <a:spcPts val="35"/>
              </a:spcBef>
            </a:pPr>
            <a:r>
              <a:rPr sz="900" dirty="0">
                <a:latin typeface="Arial"/>
                <a:cs typeface="Arial"/>
              </a:rPr>
              <a:t>Arbitrary</a:t>
            </a:r>
            <a:r>
              <a:rPr sz="900" spc="-30" dirty="0">
                <a:latin typeface="Arial"/>
                <a:cs typeface="Arial"/>
              </a:rPr>
              <a:t> </a:t>
            </a:r>
            <a:r>
              <a:rPr sz="900" spc="-10" dirty="0">
                <a:latin typeface="Arial"/>
                <a:cs typeface="Arial"/>
              </a:rPr>
              <a:t>failures</a:t>
            </a:r>
            <a:r>
              <a:rPr sz="900" spc="-25" dirty="0">
                <a:latin typeface="Arial"/>
                <a:cs typeface="Arial"/>
              </a:rPr>
              <a:t> </a:t>
            </a:r>
            <a:r>
              <a:rPr sz="900" dirty="0">
                <a:latin typeface="Arial"/>
                <a:cs typeface="Arial"/>
              </a:rPr>
              <a:t>are</a:t>
            </a:r>
            <a:r>
              <a:rPr sz="900" spc="-30" dirty="0">
                <a:latin typeface="Arial"/>
                <a:cs typeface="Arial"/>
              </a:rPr>
              <a:t> </a:t>
            </a:r>
            <a:r>
              <a:rPr sz="900" spc="-10" dirty="0">
                <a:latin typeface="Arial"/>
                <a:cs typeface="Arial"/>
              </a:rPr>
              <a:t>sometimes</a:t>
            </a:r>
            <a:r>
              <a:rPr sz="900" spc="-25" dirty="0">
                <a:latin typeface="Arial"/>
                <a:cs typeface="Arial"/>
              </a:rPr>
              <a:t> </a:t>
            </a:r>
            <a:r>
              <a:rPr sz="900" spc="-10" dirty="0">
                <a:latin typeface="Arial"/>
                <a:cs typeface="Arial"/>
              </a:rPr>
              <a:t>qualified</a:t>
            </a:r>
            <a:r>
              <a:rPr sz="900" spc="-25" dirty="0">
                <a:latin typeface="Arial"/>
                <a:cs typeface="Arial"/>
              </a:rPr>
              <a:t> </a:t>
            </a:r>
            <a:r>
              <a:rPr sz="900" dirty="0">
                <a:latin typeface="Arial"/>
                <a:cs typeface="Arial"/>
              </a:rPr>
              <a:t>as</a:t>
            </a:r>
            <a:r>
              <a:rPr sz="900" spc="-30" dirty="0">
                <a:latin typeface="Arial"/>
                <a:cs typeface="Arial"/>
              </a:rPr>
              <a:t> </a:t>
            </a:r>
            <a:r>
              <a:rPr sz="900" dirty="0">
                <a:solidFill>
                  <a:srgbClr val="3333B2"/>
                </a:solidFill>
                <a:latin typeface="Arial"/>
                <a:cs typeface="Arial"/>
              </a:rPr>
              <a:t>malicious</a:t>
            </a:r>
            <a:r>
              <a:rPr sz="900" dirty="0">
                <a:latin typeface="Arial"/>
                <a:cs typeface="Arial"/>
              </a:rPr>
              <a:t>.</a:t>
            </a:r>
            <a:r>
              <a:rPr sz="900" spc="30" dirty="0">
                <a:latin typeface="Arial"/>
                <a:cs typeface="Arial"/>
              </a:rPr>
              <a:t> </a:t>
            </a:r>
            <a:r>
              <a:rPr sz="900" dirty="0">
                <a:latin typeface="Arial"/>
                <a:cs typeface="Arial"/>
              </a:rPr>
              <a:t>It</a:t>
            </a:r>
            <a:r>
              <a:rPr sz="900" spc="-30"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better</a:t>
            </a:r>
            <a:r>
              <a:rPr sz="900" spc="-25" dirty="0">
                <a:latin typeface="Arial"/>
                <a:cs typeface="Arial"/>
              </a:rPr>
              <a:t> </a:t>
            </a:r>
            <a:r>
              <a:rPr sz="900" dirty="0">
                <a:latin typeface="Arial"/>
                <a:cs typeface="Arial"/>
              </a:rPr>
              <a:t>to</a:t>
            </a:r>
            <a:r>
              <a:rPr sz="900" spc="-30" dirty="0">
                <a:latin typeface="Arial"/>
                <a:cs typeface="Arial"/>
              </a:rPr>
              <a:t> </a:t>
            </a:r>
            <a:r>
              <a:rPr sz="900" spc="-10" dirty="0">
                <a:latin typeface="Arial"/>
                <a:cs typeface="Arial"/>
              </a:rPr>
              <a:t>make</a:t>
            </a:r>
            <a:r>
              <a:rPr sz="900" spc="-25" dirty="0">
                <a:latin typeface="Arial"/>
                <a:cs typeface="Arial"/>
              </a:rPr>
              <a:t> the </a:t>
            </a:r>
            <a:r>
              <a:rPr sz="900" spc="-10" dirty="0">
                <a:latin typeface="Arial"/>
                <a:cs typeface="Arial"/>
              </a:rPr>
              <a:t>following</a:t>
            </a:r>
            <a:r>
              <a:rPr sz="900" spc="-5" dirty="0">
                <a:latin typeface="Arial"/>
                <a:cs typeface="Arial"/>
              </a:rPr>
              <a:t> </a:t>
            </a:r>
            <a:r>
              <a:rPr sz="900" spc="-10" dirty="0">
                <a:latin typeface="Arial"/>
                <a:cs typeface="Arial"/>
              </a:rPr>
              <a:t>distinction:</a:t>
            </a:r>
            <a:endParaRPr sz="900">
              <a:latin typeface="Arial"/>
              <a:cs typeface="Arial"/>
            </a:endParaRPr>
          </a:p>
          <a:p>
            <a:pPr marL="294640" marR="30480" indent="-120650">
              <a:lnSpc>
                <a:spcPct val="111600"/>
              </a:lnSpc>
              <a:spcBef>
                <a:spcPts val="335"/>
              </a:spcBef>
              <a:buClr>
                <a:srgbClr val="3333B2"/>
              </a:buClr>
              <a:buFont typeface="Menlo"/>
              <a:buChar char="•"/>
              <a:tabLst>
                <a:tab pos="295275" algn="l"/>
              </a:tabLst>
            </a:pPr>
            <a:r>
              <a:rPr sz="900" dirty="0">
                <a:solidFill>
                  <a:srgbClr val="C80000"/>
                </a:solidFill>
                <a:latin typeface="Arial"/>
                <a:cs typeface="Arial"/>
              </a:rPr>
              <a:t>Omission</a:t>
            </a:r>
            <a:r>
              <a:rPr sz="900" spc="-35" dirty="0">
                <a:solidFill>
                  <a:srgbClr val="C80000"/>
                </a:solidFill>
                <a:latin typeface="Arial"/>
                <a:cs typeface="Arial"/>
              </a:rPr>
              <a:t> </a:t>
            </a:r>
            <a:r>
              <a:rPr sz="900" dirty="0">
                <a:solidFill>
                  <a:srgbClr val="C80000"/>
                </a:solidFill>
                <a:latin typeface="Arial"/>
                <a:cs typeface="Arial"/>
              </a:rPr>
              <a:t>failures</a:t>
            </a:r>
            <a:r>
              <a:rPr sz="900" dirty="0">
                <a:latin typeface="Arial"/>
                <a:cs typeface="Arial"/>
              </a:rPr>
              <a:t>:</a:t>
            </a:r>
            <a:r>
              <a:rPr sz="900" spc="20"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component</a:t>
            </a:r>
            <a:r>
              <a:rPr sz="900" spc="-30" dirty="0">
                <a:latin typeface="Arial"/>
                <a:cs typeface="Arial"/>
              </a:rPr>
              <a:t> </a:t>
            </a:r>
            <a:r>
              <a:rPr sz="900" dirty="0">
                <a:latin typeface="Arial"/>
                <a:cs typeface="Arial"/>
              </a:rPr>
              <a:t>fails</a:t>
            </a:r>
            <a:r>
              <a:rPr sz="900" spc="-35"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take</a:t>
            </a:r>
            <a:r>
              <a:rPr sz="900" spc="-30" dirty="0">
                <a:latin typeface="Arial"/>
                <a:cs typeface="Arial"/>
              </a:rPr>
              <a:t> </a:t>
            </a:r>
            <a:r>
              <a:rPr sz="900" dirty="0">
                <a:latin typeface="Arial"/>
                <a:cs typeface="Arial"/>
              </a:rPr>
              <a:t>an</a:t>
            </a:r>
            <a:r>
              <a:rPr sz="900" spc="-35" dirty="0">
                <a:latin typeface="Arial"/>
                <a:cs typeface="Arial"/>
              </a:rPr>
              <a:t> </a:t>
            </a:r>
            <a:r>
              <a:rPr sz="900" dirty="0">
                <a:latin typeface="Arial"/>
                <a:cs typeface="Arial"/>
              </a:rPr>
              <a:t>action</a:t>
            </a:r>
            <a:r>
              <a:rPr sz="900" spc="-30" dirty="0">
                <a:latin typeface="Arial"/>
                <a:cs typeface="Arial"/>
              </a:rPr>
              <a:t> </a:t>
            </a:r>
            <a:r>
              <a:rPr sz="900" dirty="0">
                <a:latin typeface="Arial"/>
                <a:cs typeface="Arial"/>
              </a:rPr>
              <a:t>that</a:t>
            </a:r>
            <a:r>
              <a:rPr sz="900" spc="-35" dirty="0">
                <a:latin typeface="Arial"/>
                <a:cs typeface="Arial"/>
              </a:rPr>
              <a:t> </a:t>
            </a:r>
            <a:r>
              <a:rPr sz="900" dirty="0">
                <a:latin typeface="Arial"/>
                <a:cs typeface="Arial"/>
              </a:rPr>
              <a:t>it</a:t>
            </a:r>
            <a:r>
              <a:rPr sz="900" spc="-30" dirty="0">
                <a:latin typeface="Arial"/>
                <a:cs typeface="Arial"/>
              </a:rPr>
              <a:t> </a:t>
            </a:r>
            <a:r>
              <a:rPr sz="900" dirty="0">
                <a:latin typeface="Arial"/>
                <a:cs typeface="Arial"/>
              </a:rPr>
              <a:t>should</a:t>
            </a:r>
            <a:r>
              <a:rPr sz="900" spc="-30" dirty="0">
                <a:latin typeface="Arial"/>
                <a:cs typeface="Arial"/>
              </a:rPr>
              <a:t> </a:t>
            </a:r>
            <a:r>
              <a:rPr sz="900" spc="-20" dirty="0">
                <a:latin typeface="Arial"/>
                <a:cs typeface="Arial"/>
              </a:rPr>
              <a:t>have </a:t>
            </a:r>
            <a:r>
              <a:rPr sz="900" spc="-10" dirty="0">
                <a:latin typeface="Arial"/>
                <a:cs typeface="Arial"/>
              </a:rPr>
              <a:t>taken</a:t>
            </a:r>
            <a:endParaRPr sz="900">
              <a:latin typeface="Arial"/>
              <a:cs typeface="Arial"/>
            </a:endParaRPr>
          </a:p>
          <a:p>
            <a:pPr marL="294640" marR="35560" indent="-120650">
              <a:lnSpc>
                <a:spcPct val="111600"/>
              </a:lnSpc>
              <a:spcBef>
                <a:spcPts val="395"/>
              </a:spcBef>
              <a:buClr>
                <a:srgbClr val="3333B2"/>
              </a:buClr>
              <a:buFont typeface="Menlo"/>
              <a:buChar char="•"/>
              <a:tabLst>
                <a:tab pos="295275" algn="l"/>
              </a:tabLst>
            </a:pPr>
            <a:r>
              <a:rPr sz="900" dirty="0">
                <a:solidFill>
                  <a:srgbClr val="C80000"/>
                </a:solidFill>
                <a:latin typeface="Arial"/>
                <a:cs typeface="Arial"/>
              </a:rPr>
              <a:t>Commission</a:t>
            </a:r>
            <a:r>
              <a:rPr sz="900" spc="-35" dirty="0">
                <a:solidFill>
                  <a:srgbClr val="C80000"/>
                </a:solidFill>
                <a:latin typeface="Arial"/>
                <a:cs typeface="Arial"/>
              </a:rPr>
              <a:t> </a:t>
            </a:r>
            <a:r>
              <a:rPr sz="900" dirty="0">
                <a:solidFill>
                  <a:srgbClr val="C80000"/>
                </a:solidFill>
                <a:latin typeface="Arial"/>
                <a:cs typeface="Arial"/>
              </a:rPr>
              <a:t>failure</a:t>
            </a:r>
            <a:r>
              <a:rPr sz="900" dirty="0">
                <a:latin typeface="Arial"/>
                <a:cs typeface="Arial"/>
              </a:rPr>
              <a:t>:</a:t>
            </a:r>
            <a:r>
              <a:rPr sz="900" spc="25"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component</a:t>
            </a:r>
            <a:r>
              <a:rPr sz="900" spc="-30" dirty="0">
                <a:latin typeface="Arial"/>
                <a:cs typeface="Arial"/>
              </a:rPr>
              <a:t> </a:t>
            </a:r>
            <a:r>
              <a:rPr sz="900" dirty="0">
                <a:latin typeface="Arial"/>
                <a:cs typeface="Arial"/>
              </a:rPr>
              <a:t>takes</a:t>
            </a:r>
            <a:r>
              <a:rPr sz="900" spc="-35" dirty="0">
                <a:latin typeface="Arial"/>
                <a:cs typeface="Arial"/>
              </a:rPr>
              <a:t> </a:t>
            </a:r>
            <a:r>
              <a:rPr sz="900" dirty="0">
                <a:latin typeface="Arial"/>
                <a:cs typeface="Arial"/>
              </a:rPr>
              <a:t>an</a:t>
            </a:r>
            <a:r>
              <a:rPr sz="900" spc="-30" dirty="0">
                <a:latin typeface="Arial"/>
                <a:cs typeface="Arial"/>
              </a:rPr>
              <a:t> </a:t>
            </a:r>
            <a:r>
              <a:rPr sz="900" dirty="0">
                <a:latin typeface="Arial"/>
                <a:cs typeface="Arial"/>
              </a:rPr>
              <a:t>action</a:t>
            </a:r>
            <a:r>
              <a:rPr sz="900" spc="-30" dirty="0">
                <a:latin typeface="Arial"/>
                <a:cs typeface="Arial"/>
              </a:rPr>
              <a:t> </a:t>
            </a:r>
            <a:r>
              <a:rPr sz="900" dirty="0">
                <a:latin typeface="Arial"/>
                <a:cs typeface="Arial"/>
              </a:rPr>
              <a:t>that</a:t>
            </a:r>
            <a:r>
              <a:rPr sz="900" spc="-30" dirty="0">
                <a:latin typeface="Arial"/>
                <a:cs typeface="Arial"/>
              </a:rPr>
              <a:t> </a:t>
            </a:r>
            <a:r>
              <a:rPr sz="900" dirty="0">
                <a:latin typeface="Arial"/>
                <a:cs typeface="Arial"/>
              </a:rPr>
              <a:t>it</a:t>
            </a:r>
            <a:r>
              <a:rPr sz="900" spc="-30" dirty="0">
                <a:latin typeface="Arial"/>
                <a:cs typeface="Arial"/>
              </a:rPr>
              <a:t> </a:t>
            </a:r>
            <a:r>
              <a:rPr sz="900" dirty="0">
                <a:latin typeface="Arial"/>
                <a:cs typeface="Arial"/>
              </a:rPr>
              <a:t>should</a:t>
            </a:r>
            <a:r>
              <a:rPr sz="900" spc="-30" dirty="0">
                <a:latin typeface="Arial"/>
                <a:cs typeface="Arial"/>
              </a:rPr>
              <a:t> </a:t>
            </a:r>
            <a:r>
              <a:rPr sz="900" dirty="0">
                <a:latin typeface="Arial"/>
                <a:cs typeface="Arial"/>
              </a:rPr>
              <a:t>not</a:t>
            </a:r>
            <a:r>
              <a:rPr sz="900" spc="-35" dirty="0">
                <a:latin typeface="Arial"/>
                <a:cs typeface="Arial"/>
              </a:rPr>
              <a:t> </a:t>
            </a:r>
            <a:r>
              <a:rPr sz="900" spc="-20" dirty="0">
                <a:latin typeface="Arial"/>
                <a:cs typeface="Arial"/>
              </a:rPr>
              <a:t>have </a:t>
            </a:r>
            <a:r>
              <a:rPr sz="900" spc="-10" dirty="0">
                <a:latin typeface="Arial"/>
                <a:cs typeface="Arial"/>
              </a:rPr>
              <a:t>taken</a:t>
            </a:r>
            <a:endParaRPr sz="900">
              <a:latin typeface="Arial"/>
              <a:cs typeface="Arial"/>
            </a:endParaRPr>
          </a:p>
          <a:p>
            <a:pPr>
              <a:lnSpc>
                <a:spcPct val="100000"/>
              </a:lnSpc>
              <a:spcBef>
                <a:spcPts val="20"/>
              </a:spcBef>
            </a:pPr>
            <a:endParaRPr sz="1050">
              <a:latin typeface="Arial"/>
              <a:cs typeface="Arial"/>
            </a:endParaRPr>
          </a:p>
          <a:p>
            <a:pPr marL="41275">
              <a:lnSpc>
                <a:spcPct val="100000"/>
              </a:lnSpc>
            </a:pPr>
            <a:r>
              <a:rPr sz="1000" spc="-10" dirty="0">
                <a:solidFill>
                  <a:srgbClr val="C80000"/>
                </a:solidFill>
                <a:latin typeface="Arial"/>
                <a:cs typeface="Arial"/>
              </a:rPr>
              <a:t>Observation</a:t>
            </a:r>
            <a:endParaRPr sz="1000">
              <a:latin typeface="Arial"/>
              <a:cs typeface="Arial"/>
            </a:endParaRPr>
          </a:p>
          <a:p>
            <a:pPr marL="41275" marR="203835" algn="just">
              <a:lnSpc>
                <a:spcPts val="1210"/>
              </a:lnSpc>
              <a:spcBef>
                <a:spcPts val="35"/>
              </a:spcBef>
            </a:pPr>
            <a:r>
              <a:rPr sz="900" dirty="0">
                <a:latin typeface="Arial"/>
                <a:cs typeface="Arial"/>
              </a:rPr>
              <a:t>Note</a:t>
            </a:r>
            <a:r>
              <a:rPr sz="900" spc="-25" dirty="0">
                <a:latin typeface="Arial"/>
                <a:cs typeface="Arial"/>
              </a:rPr>
              <a:t> </a:t>
            </a:r>
            <a:r>
              <a:rPr sz="900" dirty="0">
                <a:latin typeface="Arial"/>
                <a:cs typeface="Arial"/>
              </a:rPr>
              <a:t>that</a:t>
            </a:r>
            <a:r>
              <a:rPr sz="900" spc="-25" dirty="0">
                <a:latin typeface="Arial"/>
                <a:cs typeface="Arial"/>
              </a:rPr>
              <a:t> </a:t>
            </a:r>
            <a:r>
              <a:rPr sz="900" dirty="0">
                <a:solidFill>
                  <a:srgbClr val="3333B2"/>
                </a:solidFill>
                <a:latin typeface="Arial"/>
                <a:cs typeface="Arial"/>
              </a:rPr>
              <a:t>deliberate</a:t>
            </a:r>
            <a:r>
              <a:rPr sz="900" spc="-25" dirty="0">
                <a:solidFill>
                  <a:srgbClr val="3333B2"/>
                </a:solidFill>
                <a:latin typeface="Arial"/>
                <a:cs typeface="Arial"/>
              </a:rPr>
              <a:t> </a:t>
            </a:r>
            <a:r>
              <a:rPr sz="900" spc="-10" dirty="0">
                <a:latin typeface="Arial"/>
                <a:cs typeface="Arial"/>
              </a:rPr>
              <a:t>failures,</a:t>
            </a:r>
            <a:r>
              <a:rPr sz="900" spc="-25" dirty="0">
                <a:latin typeface="Arial"/>
                <a:cs typeface="Arial"/>
              </a:rPr>
              <a:t> </a:t>
            </a:r>
            <a:r>
              <a:rPr sz="900" dirty="0">
                <a:latin typeface="Arial"/>
                <a:cs typeface="Arial"/>
              </a:rPr>
              <a:t>be</a:t>
            </a:r>
            <a:r>
              <a:rPr sz="900" spc="-25" dirty="0">
                <a:latin typeface="Arial"/>
                <a:cs typeface="Arial"/>
              </a:rPr>
              <a:t> </a:t>
            </a:r>
            <a:r>
              <a:rPr sz="900" dirty="0">
                <a:latin typeface="Arial"/>
                <a:cs typeface="Arial"/>
              </a:rPr>
              <a:t>they</a:t>
            </a:r>
            <a:r>
              <a:rPr sz="900" spc="-25" dirty="0">
                <a:latin typeface="Arial"/>
                <a:cs typeface="Arial"/>
              </a:rPr>
              <a:t> </a:t>
            </a:r>
            <a:r>
              <a:rPr sz="900" dirty="0">
                <a:latin typeface="Arial"/>
                <a:cs typeface="Arial"/>
              </a:rPr>
              <a:t>omission</a:t>
            </a:r>
            <a:r>
              <a:rPr sz="900" spc="-25" dirty="0">
                <a:latin typeface="Arial"/>
                <a:cs typeface="Arial"/>
              </a:rPr>
              <a:t> </a:t>
            </a:r>
            <a:r>
              <a:rPr sz="900" dirty="0">
                <a:latin typeface="Arial"/>
                <a:cs typeface="Arial"/>
              </a:rPr>
              <a:t>or</a:t>
            </a:r>
            <a:r>
              <a:rPr sz="900" spc="-25" dirty="0">
                <a:latin typeface="Arial"/>
                <a:cs typeface="Arial"/>
              </a:rPr>
              <a:t> </a:t>
            </a:r>
            <a:r>
              <a:rPr sz="900" dirty="0">
                <a:latin typeface="Arial"/>
                <a:cs typeface="Arial"/>
              </a:rPr>
              <a:t>commission</a:t>
            </a:r>
            <a:r>
              <a:rPr sz="900" spc="-25" dirty="0">
                <a:latin typeface="Arial"/>
                <a:cs typeface="Arial"/>
              </a:rPr>
              <a:t> </a:t>
            </a:r>
            <a:r>
              <a:rPr sz="900" spc="-10" dirty="0">
                <a:latin typeface="Arial"/>
                <a:cs typeface="Arial"/>
              </a:rPr>
              <a:t>failures,</a:t>
            </a:r>
            <a:r>
              <a:rPr sz="900" spc="-20" dirty="0">
                <a:latin typeface="Arial"/>
                <a:cs typeface="Arial"/>
              </a:rPr>
              <a:t> </a:t>
            </a:r>
            <a:r>
              <a:rPr sz="900" spc="-25" dirty="0">
                <a:latin typeface="Arial"/>
                <a:cs typeface="Arial"/>
              </a:rPr>
              <a:t>are </a:t>
            </a:r>
            <a:r>
              <a:rPr sz="900" dirty="0">
                <a:latin typeface="Arial"/>
                <a:cs typeface="Arial"/>
              </a:rPr>
              <a:t>typically</a:t>
            </a:r>
            <a:r>
              <a:rPr sz="900" spc="-45" dirty="0">
                <a:latin typeface="Arial"/>
                <a:cs typeface="Arial"/>
              </a:rPr>
              <a:t> </a:t>
            </a:r>
            <a:r>
              <a:rPr sz="900" dirty="0">
                <a:latin typeface="Arial"/>
                <a:cs typeface="Arial"/>
              </a:rPr>
              <a:t>security</a:t>
            </a:r>
            <a:r>
              <a:rPr sz="900" spc="-40" dirty="0">
                <a:latin typeface="Arial"/>
                <a:cs typeface="Arial"/>
              </a:rPr>
              <a:t> </a:t>
            </a:r>
            <a:r>
              <a:rPr sz="900" dirty="0">
                <a:latin typeface="Arial"/>
                <a:cs typeface="Arial"/>
              </a:rPr>
              <a:t>problems.</a:t>
            </a:r>
            <a:r>
              <a:rPr sz="900" spc="15" dirty="0">
                <a:latin typeface="Arial"/>
                <a:cs typeface="Arial"/>
              </a:rPr>
              <a:t> </a:t>
            </a:r>
            <a:r>
              <a:rPr sz="900" dirty="0">
                <a:latin typeface="Arial"/>
                <a:cs typeface="Arial"/>
              </a:rPr>
              <a:t>Distinguishing</a:t>
            </a:r>
            <a:r>
              <a:rPr sz="900" spc="-45" dirty="0">
                <a:latin typeface="Arial"/>
                <a:cs typeface="Arial"/>
              </a:rPr>
              <a:t> </a:t>
            </a:r>
            <a:r>
              <a:rPr sz="900" dirty="0">
                <a:latin typeface="Arial"/>
                <a:cs typeface="Arial"/>
              </a:rPr>
              <a:t>between</a:t>
            </a:r>
            <a:r>
              <a:rPr sz="900" spc="-40" dirty="0">
                <a:latin typeface="Arial"/>
                <a:cs typeface="Arial"/>
              </a:rPr>
              <a:t> </a:t>
            </a:r>
            <a:r>
              <a:rPr sz="900" dirty="0">
                <a:latin typeface="Arial"/>
                <a:cs typeface="Arial"/>
              </a:rPr>
              <a:t>deliberate</a:t>
            </a:r>
            <a:r>
              <a:rPr sz="900" spc="-40" dirty="0">
                <a:latin typeface="Arial"/>
                <a:cs typeface="Arial"/>
              </a:rPr>
              <a:t> </a:t>
            </a:r>
            <a:r>
              <a:rPr sz="900" spc="-10" dirty="0">
                <a:latin typeface="Arial"/>
                <a:cs typeface="Arial"/>
              </a:rPr>
              <a:t>failures</a:t>
            </a:r>
            <a:r>
              <a:rPr sz="900" spc="-40" dirty="0">
                <a:latin typeface="Arial"/>
                <a:cs typeface="Arial"/>
              </a:rPr>
              <a:t> </a:t>
            </a:r>
            <a:r>
              <a:rPr sz="900" spc="-25" dirty="0">
                <a:latin typeface="Arial"/>
                <a:cs typeface="Arial"/>
              </a:rPr>
              <a:t>and </a:t>
            </a:r>
            <a:r>
              <a:rPr sz="900" dirty="0">
                <a:latin typeface="Arial"/>
                <a:cs typeface="Arial"/>
              </a:rPr>
              <a:t>unintentional</a:t>
            </a:r>
            <a:r>
              <a:rPr sz="900" spc="-35" dirty="0">
                <a:latin typeface="Arial"/>
                <a:cs typeface="Arial"/>
              </a:rPr>
              <a:t> </a:t>
            </a:r>
            <a:r>
              <a:rPr sz="900" dirty="0">
                <a:latin typeface="Arial"/>
                <a:cs typeface="Arial"/>
              </a:rPr>
              <a:t>ones</a:t>
            </a:r>
            <a:r>
              <a:rPr sz="900" spc="-35" dirty="0">
                <a:latin typeface="Arial"/>
                <a:cs typeface="Arial"/>
              </a:rPr>
              <a:t> </a:t>
            </a:r>
            <a:r>
              <a:rPr sz="900" dirty="0">
                <a:latin typeface="Arial"/>
                <a:cs typeface="Arial"/>
              </a:rPr>
              <a:t>is,</a:t>
            </a:r>
            <a:r>
              <a:rPr sz="900" spc="-35" dirty="0">
                <a:latin typeface="Arial"/>
                <a:cs typeface="Arial"/>
              </a:rPr>
              <a:t> </a:t>
            </a:r>
            <a:r>
              <a:rPr sz="900" dirty="0">
                <a:latin typeface="Arial"/>
                <a:cs typeface="Arial"/>
              </a:rPr>
              <a:t>in</a:t>
            </a:r>
            <a:r>
              <a:rPr sz="900" spc="-35" dirty="0">
                <a:latin typeface="Arial"/>
                <a:cs typeface="Arial"/>
              </a:rPr>
              <a:t> </a:t>
            </a:r>
            <a:r>
              <a:rPr sz="900" dirty="0">
                <a:latin typeface="Arial"/>
                <a:cs typeface="Arial"/>
              </a:rPr>
              <a:t>general,</a:t>
            </a:r>
            <a:r>
              <a:rPr sz="900" spc="-30" dirty="0">
                <a:latin typeface="Arial"/>
                <a:cs typeface="Arial"/>
              </a:rPr>
              <a:t> </a:t>
            </a:r>
            <a:r>
              <a:rPr sz="900" spc="-10" dirty="0">
                <a:latin typeface="Arial"/>
                <a:cs typeface="Arial"/>
              </a:rPr>
              <a:t>impossible.</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43751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Failure</a:t>
            </a:r>
            <a:r>
              <a:rPr sz="500" spc="20" dirty="0">
                <a:latin typeface="Arial"/>
                <a:cs typeface="Arial"/>
                <a:hlinkClick r:id="rId3" action="ppaction://hlinksldjump"/>
              </a:rPr>
              <a:t> </a:t>
            </a:r>
            <a:r>
              <a:rPr sz="500" spc="-10" dirty="0">
                <a:latin typeface="Arial"/>
                <a:cs typeface="Arial"/>
                <a:hlinkClick r:id="rId3" action="ppaction://hlinksldjump"/>
              </a:rPr>
              <a:t>models</a:t>
            </a:r>
            <a:endParaRPr sz="500">
              <a:latin typeface="Arial"/>
              <a:cs typeface="Arial"/>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674745"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2" action="ppaction://hlinksldjump"/>
              </a:rPr>
              <a:t>Introduction</a:t>
            </a:r>
            <a:r>
              <a:rPr sz="500" spc="-25" dirty="0">
                <a:solidFill>
                  <a:srgbClr val="FFFFFF"/>
                </a:solidFill>
                <a:latin typeface="Arial"/>
                <a:cs typeface="Arial"/>
                <a:hlinkClick r:id="rId2" action="ppaction://hlinksldjump"/>
              </a:rPr>
              <a:t> </a:t>
            </a:r>
            <a:r>
              <a:rPr sz="500" dirty="0">
                <a:solidFill>
                  <a:srgbClr val="FFFFFF"/>
                </a:solidFill>
                <a:latin typeface="Arial"/>
                <a:cs typeface="Arial"/>
                <a:hlinkClick r:id="rId2" action="ppaction://hlinksldjump"/>
              </a:rPr>
              <a:t>to</a:t>
            </a:r>
            <a:r>
              <a:rPr sz="500" spc="-25" dirty="0">
                <a:solidFill>
                  <a:srgbClr val="FFFFFF"/>
                </a:solidFill>
                <a:latin typeface="Arial"/>
                <a:cs typeface="Arial"/>
                <a:hlinkClick r:id="rId2" action="ppaction://hlinksldjump"/>
              </a:rPr>
              <a:t> </a:t>
            </a:r>
            <a:r>
              <a:rPr sz="500" dirty="0">
                <a:solidFill>
                  <a:srgbClr val="FFFFFF"/>
                </a:solidFill>
                <a:latin typeface="Arial"/>
                <a:cs typeface="Arial"/>
                <a:hlinkClick r:id="rId2" action="ppaction://hlinksldjump"/>
              </a:rPr>
              <a:t>fault</a:t>
            </a:r>
            <a:r>
              <a:rPr sz="500" spc="-2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tolerance</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Halting</a:t>
            </a:r>
            <a:r>
              <a:rPr spc="-45" dirty="0"/>
              <a:t> </a:t>
            </a:r>
            <a:r>
              <a:rPr spc="-10" dirty="0"/>
              <a:t>failures</a:t>
            </a:r>
          </a:p>
        </p:txBody>
      </p:sp>
      <p:sp>
        <p:nvSpPr>
          <p:cNvPr id="4" name="object 4"/>
          <p:cNvSpPr txBox="1"/>
          <p:nvPr/>
        </p:nvSpPr>
        <p:spPr>
          <a:xfrm>
            <a:off x="330428" y="499476"/>
            <a:ext cx="3965575" cy="2150745"/>
          </a:xfrm>
          <a:prstGeom prst="rect">
            <a:avLst/>
          </a:prstGeom>
        </p:spPr>
        <p:txBody>
          <a:bodyPr vert="horz" wrap="square" lIns="0" tIns="27305" rIns="0" bIns="0" rtlCol="0">
            <a:spAutoFit/>
          </a:bodyPr>
          <a:lstStyle/>
          <a:p>
            <a:pPr marL="29209">
              <a:lnSpc>
                <a:spcPct val="100000"/>
              </a:lnSpc>
              <a:spcBef>
                <a:spcPts val="215"/>
              </a:spcBef>
            </a:pPr>
            <a:r>
              <a:rPr sz="1000" spc="-10" dirty="0">
                <a:solidFill>
                  <a:srgbClr val="3333B2"/>
                </a:solidFill>
                <a:latin typeface="Arial"/>
                <a:cs typeface="Arial"/>
              </a:rPr>
              <a:t>Scenario</a:t>
            </a:r>
            <a:endParaRPr sz="1000">
              <a:latin typeface="Arial"/>
              <a:cs typeface="Arial"/>
            </a:endParaRPr>
          </a:p>
          <a:p>
            <a:pPr marL="29209" marR="40005">
              <a:lnSpc>
                <a:spcPts val="1210"/>
              </a:lnSpc>
              <a:spcBef>
                <a:spcPts val="35"/>
              </a:spcBef>
            </a:pPr>
            <a:r>
              <a:rPr sz="900" i="1" dirty="0">
                <a:latin typeface="Arial"/>
                <a:cs typeface="Arial"/>
              </a:rPr>
              <a:t>C</a:t>
            </a:r>
            <a:r>
              <a:rPr sz="900" i="1" spc="15" dirty="0">
                <a:latin typeface="Arial"/>
                <a:cs typeface="Arial"/>
              </a:rPr>
              <a:t> </a:t>
            </a:r>
            <a:r>
              <a:rPr sz="900" dirty="0">
                <a:latin typeface="Arial"/>
                <a:cs typeface="Arial"/>
              </a:rPr>
              <a:t>no</a:t>
            </a:r>
            <a:r>
              <a:rPr sz="900" spc="-20" dirty="0">
                <a:latin typeface="Arial"/>
                <a:cs typeface="Arial"/>
              </a:rPr>
              <a:t> </a:t>
            </a:r>
            <a:r>
              <a:rPr sz="900" dirty="0">
                <a:latin typeface="Arial"/>
                <a:cs typeface="Arial"/>
              </a:rPr>
              <a:t>longer</a:t>
            </a:r>
            <a:r>
              <a:rPr sz="900" spc="-20" dirty="0">
                <a:latin typeface="Arial"/>
                <a:cs typeface="Arial"/>
              </a:rPr>
              <a:t> </a:t>
            </a:r>
            <a:r>
              <a:rPr sz="900" spc="-10" dirty="0">
                <a:latin typeface="Arial"/>
                <a:cs typeface="Arial"/>
              </a:rPr>
              <a:t>perceives</a:t>
            </a:r>
            <a:r>
              <a:rPr sz="900" spc="-15" dirty="0">
                <a:latin typeface="Arial"/>
                <a:cs typeface="Arial"/>
              </a:rPr>
              <a:t> </a:t>
            </a:r>
            <a:r>
              <a:rPr sz="900" dirty="0">
                <a:latin typeface="Arial"/>
                <a:cs typeface="Arial"/>
              </a:rPr>
              <a:t>any</a:t>
            </a:r>
            <a:r>
              <a:rPr sz="900" spc="-20" dirty="0">
                <a:latin typeface="Arial"/>
                <a:cs typeface="Arial"/>
              </a:rPr>
              <a:t> </a:t>
            </a:r>
            <a:r>
              <a:rPr sz="900" dirty="0">
                <a:latin typeface="Arial"/>
                <a:cs typeface="Arial"/>
              </a:rPr>
              <a:t>activity</a:t>
            </a:r>
            <a:r>
              <a:rPr sz="900" spc="-20" dirty="0">
                <a:latin typeface="Arial"/>
                <a:cs typeface="Arial"/>
              </a:rPr>
              <a:t> </a:t>
            </a:r>
            <a:r>
              <a:rPr sz="900" dirty="0">
                <a:latin typeface="Arial"/>
                <a:cs typeface="Arial"/>
              </a:rPr>
              <a:t>from</a:t>
            </a:r>
            <a:r>
              <a:rPr sz="900" spc="-15" dirty="0">
                <a:latin typeface="Arial"/>
                <a:cs typeface="Arial"/>
              </a:rPr>
              <a:t> </a:t>
            </a:r>
            <a:r>
              <a:rPr sz="900" i="1" spc="-25" dirty="0">
                <a:latin typeface="Arial"/>
                <a:cs typeface="Arial"/>
              </a:rPr>
              <a:t>C</a:t>
            </a:r>
            <a:r>
              <a:rPr sz="1050" i="1" spc="-37" baseline="27777" dirty="0">
                <a:latin typeface="Menlo"/>
                <a:cs typeface="Menlo"/>
              </a:rPr>
              <a:t>∗</a:t>
            </a:r>
            <a:r>
              <a:rPr sz="1050" i="1" spc="-187" baseline="27777" dirty="0">
                <a:latin typeface="Menlo"/>
                <a:cs typeface="Menlo"/>
              </a:rPr>
              <a:t> </a:t>
            </a:r>
            <a:r>
              <a:rPr sz="900" dirty="0">
                <a:latin typeface="Arial"/>
                <a:cs typeface="Arial"/>
              </a:rPr>
              <a:t>—</a:t>
            </a:r>
            <a:r>
              <a:rPr sz="900" spc="-20" dirty="0">
                <a:latin typeface="Arial"/>
                <a:cs typeface="Arial"/>
              </a:rPr>
              <a:t> </a:t>
            </a:r>
            <a:r>
              <a:rPr sz="900" dirty="0">
                <a:latin typeface="Arial"/>
                <a:cs typeface="Arial"/>
              </a:rPr>
              <a:t>a</a:t>
            </a:r>
            <a:r>
              <a:rPr sz="900" spc="-20" dirty="0">
                <a:latin typeface="Arial"/>
                <a:cs typeface="Arial"/>
              </a:rPr>
              <a:t> </a:t>
            </a:r>
            <a:r>
              <a:rPr sz="900" dirty="0">
                <a:solidFill>
                  <a:srgbClr val="3333B2"/>
                </a:solidFill>
                <a:latin typeface="Arial"/>
                <a:cs typeface="Arial"/>
              </a:rPr>
              <a:t>halting</a:t>
            </a:r>
            <a:r>
              <a:rPr sz="900" spc="-20" dirty="0">
                <a:solidFill>
                  <a:srgbClr val="3333B2"/>
                </a:solidFill>
                <a:latin typeface="Arial"/>
                <a:cs typeface="Arial"/>
              </a:rPr>
              <a:t> </a:t>
            </a:r>
            <a:r>
              <a:rPr sz="900" dirty="0">
                <a:solidFill>
                  <a:srgbClr val="3333B2"/>
                </a:solidFill>
                <a:latin typeface="Arial"/>
                <a:cs typeface="Arial"/>
              </a:rPr>
              <a:t>failure</a:t>
            </a:r>
            <a:r>
              <a:rPr sz="900" dirty="0">
                <a:latin typeface="Arial"/>
                <a:cs typeface="Arial"/>
              </a:rPr>
              <a:t>?</a:t>
            </a:r>
            <a:r>
              <a:rPr sz="900" spc="40" dirty="0">
                <a:latin typeface="Arial"/>
                <a:cs typeface="Arial"/>
              </a:rPr>
              <a:t> </a:t>
            </a:r>
            <a:r>
              <a:rPr sz="900" spc="-10" dirty="0">
                <a:latin typeface="Arial"/>
                <a:cs typeface="Arial"/>
              </a:rPr>
              <a:t>Distinguishing </a:t>
            </a:r>
            <a:r>
              <a:rPr sz="900" dirty="0">
                <a:latin typeface="Arial"/>
                <a:cs typeface="Arial"/>
              </a:rPr>
              <a:t>between</a:t>
            </a:r>
            <a:r>
              <a:rPr sz="900" spc="-20" dirty="0">
                <a:latin typeface="Arial"/>
                <a:cs typeface="Arial"/>
              </a:rPr>
              <a:t> </a:t>
            </a:r>
            <a:r>
              <a:rPr sz="900" dirty="0">
                <a:latin typeface="Arial"/>
                <a:cs typeface="Arial"/>
              </a:rPr>
              <a:t>a</a:t>
            </a:r>
            <a:r>
              <a:rPr sz="900" spc="-20" dirty="0">
                <a:latin typeface="Arial"/>
                <a:cs typeface="Arial"/>
              </a:rPr>
              <a:t> </a:t>
            </a:r>
            <a:r>
              <a:rPr sz="900" dirty="0">
                <a:solidFill>
                  <a:srgbClr val="3333B2"/>
                </a:solidFill>
                <a:latin typeface="Arial"/>
                <a:cs typeface="Arial"/>
              </a:rPr>
              <a:t>crash</a:t>
            </a:r>
            <a:r>
              <a:rPr sz="900" spc="-20" dirty="0">
                <a:solidFill>
                  <a:srgbClr val="3333B2"/>
                </a:solidFill>
                <a:latin typeface="Arial"/>
                <a:cs typeface="Arial"/>
              </a:rPr>
              <a:t> </a:t>
            </a:r>
            <a:r>
              <a:rPr sz="900" dirty="0">
                <a:latin typeface="Arial"/>
                <a:cs typeface="Arial"/>
              </a:rPr>
              <a:t>or</a:t>
            </a:r>
            <a:r>
              <a:rPr sz="900" spc="-20" dirty="0">
                <a:latin typeface="Arial"/>
                <a:cs typeface="Arial"/>
              </a:rPr>
              <a:t> </a:t>
            </a:r>
            <a:r>
              <a:rPr sz="900" spc="-10" dirty="0">
                <a:solidFill>
                  <a:srgbClr val="3333B2"/>
                </a:solidFill>
                <a:latin typeface="Arial"/>
                <a:cs typeface="Arial"/>
              </a:rPr>
              <a:t>omission/timing</a:t>
            </a:r>
            <a:r>
              <a:rPr sz="900" spc="-20" dirty="0">
                <a:solidFill>
                  <a:srgbClr val="3333B2"/>
                </a:solidFill>
                <a:latin typeface="Arial"/>
                <a:cs typeface="Arial"/>
              </a:rPr>
              <a:t> </a:t>
            </a:r>
            <a:r>
              <a:rPr sz="900" dirty="0">
                <a:solidFill>
                  <a:srgbClr val="3333B2"/>
                </a:solidFill>
                <a:latin typeface="Arial"/>
                <a:cs typeface="Arial"/>
              </a:rPr>
              <a:t>failure</a:t>
            </a:r>
            <a:r>
              <a:rPr sz="900" spc="-15" dirty="0">
                <a:solidFill>
                  <a:srgbClr val="3333B2"/>
                </a:solidFill>
                <a:latin typeface="Arial"/>
                <a:cs typeface="Arial"/>
              </a:rPr>
              <a:t> </a:t>
            </a:r>
            <a:r>
              <a:rPr sz="900" dirty="0">
                <a:latin typeface="Arial"/>
                <a:cs typeface="Arial"/>
              </a:rPr>
              <a:t>may</a:t>
            </a:r>
            <a:r>
              <a:rPr sz="900" spc="-20" dirty="0">
                <a:latin typeface="Arial"/>
                <a:cs typeface="Arial"/>
              </a:rPr>
              <a:t> </a:t>
            </a:r>
            <a:r>
              <a:rPr sz="900" dirty="0">
                <a:latin typeface="Arial"/>
                <a:cs typeface="Arial"/>
              </a:rPr>
              <a:t>be</a:t>
            </a:r>
            <a:r>
              <a:rPr sz="900" spc="-20" dirty="0">
                <a:latin typeface="Arial"/>
                <a:cs typeface="Arial"/>
              </a:rPr>
              <a:t> </a:t>
            </a:r>
            <a:r>
              <a:rPr sz="900" spc="-10" dirty="0">
                <a:latin typeface="Arial"/>
                <a:cs typeface="Arial"/>
              </a:rPr>
              <a:t>impossible.</a:t>
            </a:r>
            <a:endParaRPr sz="900">
              <a:latin typeface="Arial"/>
              <a:cs typeface="Arial"/>
            </a:endParaRPr>
          </a:p>
          <a:p>
            <a:pPr marL="25400" algn="just">
              <a:lnSpc>
                <a:spcPct val="100000"/>
              </a:lnSpc>
              <a:spcBef>
                <a:spcPts val="750"/>
              </a:spcBef>
            </a:pPr>
            <a:r>
              <a:rPr sz="1000" dirty="0">
                <a:solidFill>
                  <a:srgbClr val="3333B2"/>
                </a:solidFill>
                <a:latin typeface="Arial"/>
                <a:cs typeface="Arial"/>
              </a:rPr>
              <a:t>Asynchronous</a:t>
            </a:r>
            <a:r>
              <a:rPr sz="1000" spc="-65" dirty="0">
                <a:solidFill>
                  <a:srgbClr val="3333B2"/>
                </a:solidFill>
                <a:latin typeface="Arial"/>
                <a:cs typeface="Arial"/>
              </a:rPr>
              <a:t> </a:t>
            </a:r>
            <a:r>
              <a:rPr sz="1000" dirty="0">
                <a:solidFill>
                  <a:srgbClr val="3333B2"/>
                </a:solidFill>
                <a:latin typeface="Arial"/>
                <a:cs typeface="Arial"/>
              </a:rPr>
              <a:t>versus</a:t>
            </a:r>
            <a:r>
              <a:rPr sz="1000" spc="-65" dirty="0">
                <a:solidFill>
                  <a:srgbClr val="3333B2"/>
                </a:solidFill>
                <a:latin typeface="Arial"/>
                <a:cs typeface="Arial"/>
              </a:rPr>
              <a:t> </a:t>
            </a:r>
            <a:r>
              <a:rPr sz="1000" dirty="0">
                <a:solidFill>
                  <a:srgbClr val="3333B2"/>
                </a:solidFill>
                <a:latin typeface="Arial"/>
                <a:cs typeface="Arial"/>
              </a:rPr>
              <a:t>synchronous</a:t>
            </a:r>
            <a:r>
              <a:rPr sz="1000" spc="-60" dirty="0">
                <a:solidFill>
                  <a:srgbClr val="3333B2"/>
                </a:solidFill>
                <a:latin typeface="Arial"/>
                <a:cs typeface="Arial"/>
              </a:rPr>
              <a:t> </a:t>
            </a:r>
            <a:r>
              <a:rPr sz="1000" spc="-10" dirty="0">
                <a:solidFill>
                  <a:srgbClr val="3333B2"/>
                </a:solidFill>
                <a:latin typeface="Arial"/>
                <a:cs typeface="Arial"/>
              </a:rPr>
              <a:t>systems</a:t>
            </a:r>
            <a:endParaRPr sz="1000">
              <a:latin typeface="Arial"/>
              <a:cs typeface="Arial"/>
            </a:endParaRPr>
          </a:p>
          <a:p>
            <a:pPr marL="282575" marR="39370" indent="-120650" algn="just">
              <a:lnSpc>
                <a:spcPct val="111600"/>
              </a:lnSpc>
              <a:spcBef>
                <a:spcPts val="570"/>
              </a:spcBef>
              <a:buClr>
                <a:srgbClr val="3333B2"/>
              </a:buClr>
              <a:buFont typeface="Menlo"/>
              <a:buChar char="•"/>
              <a:tabLst>
                <a:tab pos="283210" algn="l"/>
              </a:tabLst>
            </a:pPr>
            <a:r>
              <a:rPr sz="900" dirty="0">
                <a:solidFill>
                  <a:srgbClr val="C80000"/>
                </a:solidFill>
                <a:latin typeface="Arial"/>
                <a:cs typeface="Arial"/>
              </a:rPr>
              <a:t>Asynchronous</a:t>
            </a:r>
            <a:r>
              <a:rPr sz="900" spc="-35" dirty="0">
                <a:solidFill>
                  <a:srgbClr val="C80000"/>
                </a:solidFill>
                <a:latin typeface="Arial"/>
                <a:cs typeface="Arial"/>
              </a:rPr>
              <a:t> </a:t>
            </a:r>
            <a:r>
              <a:rPr sz="900" dirty="0">
                <a:solidFill>
                  <a:srgbClr val="C80000"/>
                </a:solidFill>
                <a:latin typeface="Arial"/>
                <a:cs typeface="Arial"/>
              </a:rPr>
              <a:t>system:</a:t>
            </a:r>
            <a:r>
              <a:rPr sz="900" spc="15" dirty="0">
                <a:solidFill>
                  <a:srgbClr val="C80000"/>
                </a:solidFill>
                <a:latin typeface="Arial"/>
                <a:cs typeface="Arial"/>
              </a:rPr>
              <a:t> </a:t>
            </a:r>
            <a:r>
              <a:rPr sz="900" dirty="0">
                <a:latin typeface="Arial"/>
                <a:cs typeface="Arial"/>
              </a:rPr>
              <a:t>no</a:t>
            </a:r>
            <a:r>
              <a:rPr sz="900" spc="-30" dirty="0">
                <a:latin typeface="Arial"/>
                <a:cs typeface="Arial"/>
              </a:rPr>
              <a:t> </a:t>
            </a:r>
            <a:r>
              <a:rPr sz="900" dirty="0">
                <a:latin typeface="Arial"/>
                <a:cs typeface="Arial"/>
              </a:rPr>
              <a:t>assumptions</a:t>
            </a:r>
            <a:r>
              <a:rPr sz="900" spc="-35" dirty="0">
                <a:latin typeface="Arial"/>
                <a:cs typeface="Arial"/>
              </a:rPr>
              <a:t> </a:t>
            </a:r>
            <a:r>
              <a:rPr sz="900" dirty="0">
                <a:latin typeface="Arial"/>
                <a:cs typeface="Arial"/>
              </a:rPr>
              <a:t>about</a:t>
            </a:r>
            <a:r>
              <a:rPr sz="900" spc="-35" dirty="0">
                <a:latin typeface="Arial"/>
                <a:cs typeface="Arial"/>
              </a:rPr>
              <a:t> </a:t>
            </a:r>
            <a:r>
              <a:rPr sz="900" dirty="0">
                <a:latin typeface="Arial"/>
                <a:cs typeface="Arial"/>
              </a:rPr>
              <a:t>process</a:t>
            </a:r>
            <a:r>
              <a:rPr sz="900" spc="-35" dirty="0">
                <a:latin typeface="Arial"/>
                <a:cs typeface="Arial"/>
              </a:rPr>
              <a:t> </a:t>
            </a:r>
            <a:r>
              <a:rPr sz="900" spc="-10" dirty="0">
                <a:latin typeface="Arial"/>
                <a:cs typeface="Arial"/>
              </a:rPr>
              <a:t>execution</a:t>
            </a:r>
            <a:r>
              <a:rPr sz="900" spc="-35" dirty="0">
                <a:latin typeface="Arial"/>
                <a:cs typeface="Arial"/>
              </a:rPr>
              <a:t> </a:t>
            </a:r>
            <a:r>
              <a:rPr sz="900" spc="-10" dirty="0">
                <a:latin typeface="Arial"/>
                <a:cs typeface="Arial"/>
              </a:rPr>
              <a:t>speeds </a:t>
            </a:r>
            <a:r>
              <a:rPr sz="900" dirty="0">
                <a:latin typeface="Arial"/>
                <a:cs typeface="Arial"/>
              </a:rPr>
              <a:t>or</a:t>
            </a:r>
            <a:r>
              <a:rPr sz="900" spc="-60" dirty="0">
                <a:latin typeface="Arial"/>
                <a:cs typeface="Arial"/>
              </a:rPr>
              <a:t> </a:t>
            </a:r>
            <a:r>
              <a:rPr sz="900" dirty="0">
                <a:latin typeface="Arial"/>
                <a:cs typeface="Arial"/>
              </a:rPr>
              <a:t>message</a:t>
            </a:r>
            <a:r>
              <a:rPr sz="900" spc="-30" dirty="0">
                <a:latin typeface="Arial"/>
                <a:cs typeface="Arial"/>
              </a:rPr>
              <a:t> </a:t>
            </a:r>
            <a:r>
              <a:rPr sz="900" dirty="0">
                <a:latin typeface="Arial"/>
                <a:cs typeface="Arial"/>
              </a:rPr>
              <a:t>delivery</a:t>
            </a:r>
            <a:r>
              <a:rPr sz="900" spc="-30" dirty="0">
                <a:latin typeface="Arial"/>
                <a:cs typeface="Arial"/>
              </a:rPr>
              <a:t> </a:t>
            </a:r>
            <a:r>
              <a:rPr sz="900" dirty="0">
                <a:latin typeface="Arial"/>
                <a:cs typeface="Arial"/>
              </a:rPr>
              <a:t>times</a:t>
            </a:r>
            <a:r>
              <a:rPr sz="900" spc="-30" dirty="0">
                <a:latin typeface="Arial"/>
                <a:cs typeface="Arial"/>
              </a:rPr>
              <a:t> </a:t>
            </a:r>
            <a:r>
              <a:rPr sz="900" i="1" spc="350" dirty="0">
                <a:latin typeface="Menlo"/>
                <a:cs typeface="Menlo"/>
              </a:rPr>
              <a:t>→</a:t>
            </a:r>
            <a:r>
              <a:rPr sz="900" i="1" spc="-295" dirty="0">
                <a:latin typeface="Menlo"/>
                <a:cs typeface="Menlo"/>
              </a:rPr>
              <a:t> </a:t>
            </a:r>
            <a:r>
              <a:rPr sz="900" dirty="0">
                <a:solidFill>
                  <a:srgbClr val="3333B2"/>
                </a:solidFill>
                <a:latin typeface="Arial"/>
                <a:cs typeface="Arial"/>
              </a:rPr>
              <a:t>cannot</a:t>
            </a:r>
            <a:r>
              <a:rPr sz="900" spc="-30" dirty="0">
                <a:solidFill>
                  <a:srgbClr val="3333B2"/>
                </a:solidFill>
                <a:latin typeface="Arial"/>
                <a:cs typeface="Arial"/>
              </a:rPr>
              <a:t> </a:t>
            </a:r>
            <a:r>
              <a:rPr sz="900" dirty="0">
                <a:solidFill>
                  <a:srgbClr val="3333B2"/>
                </a:solidFill>
                <a:latin typeface="Arial"/>
                <a:cs typeface="Arial"/>
              </a:rPr>
              <a:t>reliably</a:t>
            </a:r>
            <a:r>
              <a:rPr sz="900" spc="-30" dirty="0">
                <a:solidFill>
                  <a:srgbClr val="3333B2"/>
                </a:solidFill>
                <a:latin typeface="Arial"/>
                <a:cs typeface="Arial"/>
              </a:rPr>
              <a:t> </a:t>
            </a:r>
            <a:r>
              <a:rPr sz="900" dirty="0">
                <a:solidFill>
                  <a:srgbClr val="3333B2"/>
                </a:solidFill>
                <a:latin typeface="Arial"/>
                <a:cs typeface="Arial"/>
              </a:rPr>
              <a:t>detect</a:t>
            </a:r>
            <a:r>
              <a:rPr sz="900" spc="-30" dirty="0">
                <a:solidFill>
                  <a:srgbClr val="3333B2"/>
                </a:solidFill>
                <a:latin typeface="Arial"/>
                <a:cs typeface="Arial"/>
              </a:rPr>
              <a:t> </a:t>
            </a:r>
            <a:r>
              <a:rPr sz="900" dirty="0">
                <a:solidFill>
                  <a:srgbClr val="3333B2"/>
                </a:solidFill>
                <a:latin typeface="Arial"/>
                <a:cs typeface="Arial"/>
              </a:rPr>
              <a:t>crash</a:t>
            </a:r>
            <a:r>
              <a:rPr sz="900" spc="-30" dirty="0">
                <a:solidFill>
                  <a:srgbClr val="3333B2"/>
                </a:solidFill>
                <a:latin typeface="Arial"/>
                <a:cs typeface="Arial"/>
              </a:rPr>
              <a:t> </a:t>
            </a:r>
            <a:r>
              <a:rPr sz="900" spc="-10" dirty="0">
                <a:solidFill>
                  <a:srgbClr val="3333B2"/>
                </a:solidFill>
                <a:latin typeface="Arial"/>
                <a:cs typeface="Arial"/>
              </a:rPr>
              <a:t>failures</a:t>
            </a:r>
            <a:r>
              <a:rPr sz="900" spc="-10" dirty="0">
                <a:latin typeface="Arial"/>
                <a:cs typeface="Arial"/>
              </a:rPr>
              <a:t>.</a:t>
            </a:r>
            <a:endParaRPr sz="900">
              <a:latin typeface="Arial"/>
              <a:cs typeface="Arial"/>
            </a:endParaRPr>
          </a:p>
          <a:p>
            <a:pPr marL="282575" marR="17780" indent="-120650" algn="just">
              <a:lnSpc>
                <a:spcPct val="111600"/>
              </a:lnSpc>
              <a:spcBef>
                <a:spcPts val="400"/>
              </a:spcBef>
              <a:buClr>
                <a:srgbClr val="3333B2"/>
              </a:buClr>
              <a:buFont typeface="Menlo"/>
              <a:buChar char="•"/>
              <a:tabLst>
                <a:tab pos="283210" algn="l"/>
              </a:tabLst>
            </a:pPr>
            <a:r>
              <a:rPr sz="900" dirty="0">
                <a:solidFill>
                  <a:srgbClr val="C80000"/>
                </a:solidFill>
                <a:latin typeface="Arial"/>
                <a:cs typeface="Arial"/>
              </a:rPr>
              <a:t>Synchronous</a:t>
            </a:r>
            <a:r>
              <a:rPr sz="900" spc="-35" dirty="0">
                <a:solidFill>
                  <a:srgbClr val="C80000"/>
                </a:solidFill>
                <a:latin typeface="Arial"/>
                <a:cs typeface="Arial"/>
              </a:rPr>
              <a:t> </a:t>
            </a:r>
            <a:r>
              <a:rPr sz="900" dirty="0">
                <a:solidFill>
                  <a:srgbClr val="C80000"/>
                </a:solidFill>
                <a:latin typeface="Arial"/>
                <a:cs typeface="Arial"/>
              </a:rPr>
              <a:t>system:</a:t>
            </a:r>
            <a:r>
              <a:rPr sz="900" spc="20" dirty="0">
                <a:solidFill>
                  <a:srgbClr val="C80000"/>
                </a:solidFill>
                <a:latin typeface="Arial"/>
                <a:cs typeface="Arial"/>
              </a:rPr>
              <a:t> </a:t>
            </a:r>
            <a:r>
              <a:rPr sz="900" dirty="0">
                <a:latin typeface="Arial"/>
                <a:cs typeface="Arial"/>
              </a:rPr>
              <a:t>process</a:t>
            </a:r>
            <a:r>
              <a:rPr sz="900" spc="-35" dirty="0">
                <a:latin typeface="Arial"/>
                <a:cs typeface="Arial"/>
              </a:rPr>
              <a:t> </a:t>
            </a:r>
            <a:r>
              <a:rPr sz="900" spc="-10" dirty="0">
                <a:latin typeface="Arial"/>
                <a:cs typeface="Arial"/>
              </a:rPr>
              <a:t>execution</a:t>
            </a:r>
            <a:r>
              <a:rPr sz="900" spc="-30" dirty="0">
                <a:latin typeface="Arial"/>
                <a:cs typeface="Arial"/>
              </a:rPr>
              <a:t> </a:t>
            </a:r>
            <a:r>
              <a:rPr sz="900" dirty="0">
                <a:latin typeface="Arial"/>
                <a:cs typeface="Arial"/>
              </a:rPr>
              <a:t>speeds</a:t>
            </a:r>
            <a:r>
              <a:rPr sz="900" spc="-35" dirty="0">
                <a:latin typeface="Arial"/>
                <a:cs typeface="Arial"/>
              </a:rPr>
              <a:t> </a:t>
            </a:r>
            <a:r>
              <a:rPr sz="900" dirty="0">
                <a:latin typeface="Arial"/>
                <a:cs typeface="Arial"/>
              </a:rPr>
              <a:t>and</a:t>
            </a:r>
            <a:r>
              <a:rPr sz="900" spc="-35" dirty="0">
                <a:latin typeface="Arial"/>
                <a:cs typeface="Arial"/>
              </a:rPr>
              <a:t> </a:t>
            </a:r>
            <a:r>
              <a:rPr sz="900" dirty="0">
                <a:latin typeface="Arial"/>
                <a:cs typeface="Arial"/>
              </a:rPr>
              <a:t>message</a:t>
            </a:r>
            <a:r>
              <a:rPr sz="900" spc="-30" dirty="0">
                <a:latin typeface="Arial"/>
                <a:cs typeface="Arial"/>
              </a:rPr>
              <a:t> </a:t>
            </a:r>
            <a:r>
              <a:rPr sz="900" spc="-10" dirty="0">
                <a:latin typeface="Arial"/>
                <a:cs typeface="Arial"/>
              </a:rPr>
              <a:t>delivery </a:t>
            </a:r>
            <a:r>
              <a:rPr sz="900" dirty="0">
                <a:latin typeface="Arial"/>
                <a:cs typeface="Arial"/>
              </a:rPr>
              <a:t>times</a:t>
            </a:r>
            <a:r>
              <a:rPr sz="900" spc="-45" dirty="0">
                <a:latin typeface="Arial"/>
                <a:cs typeface="Arial"/>
              </a:rPr>
              <a:t> </a:t>
            </a:r>
            <a:r>
              <a:rPr sz="900" dirty="0">
                <a:latin typeface="Arial"/>
                <a:cs typeface="Arial"/>
              </a:rPr>
              <a:t>are</a:t>
            </a:r>
            <a:r>
              <a:rPr sz="900" spc="-20" dirty="0">
                <a:latin typeface="Arial"/>
                <a:cs typeface="Arial"/>
              </a:rPr>
              <a:t> </a:t>
            </a:r>
            <a:r>
              <a:rPr sz="900" dirty="0">
                <a:latin typeface="Arial"/>
                <a:cs typeface="Arial"/>
              </a:rPr>
              <a:t>bounded</a:t>
            </a:r>
            <a:r>
              <a:rPr sz="900" spc="-25" dirty="0">
                <a:latin typeface="Arial"/>
                <a:cs typeface="Arial"/>
              </a:rPr>
              <a:t> </a:t>
            </a:r>
            <a:r>
              <a:rPr sz="900" i="1" spc="350" dirty="0">
                <a:latin typeface="Menlo"/>
                <a:cs typeface="Menlo"/>
              </a:rPr>
              <a:t>→</a:t>
            </a:r>
            <a:r>
              <a:rPr sz="900" i="1" spc="-295" dirty="0">
                <a:latin typeface="Menlo"/>
                <a:cs typeface="Menlo"/>
              </a:rPr>
              <a:t> </a:t>
            </a:r>
            <a:r>
              <a:rPr sz="900" dirty="0">
                <a:solidFill>
                  <a:srgbClr val="3333B2"/>
                </a:solidFill>
                <a:latin typeface="Arial"/>
                <a:cs typeface="Arial"/>
              </a:rPr>
              <a:t>we</a:t>
            </a:r>
            <a:r>
              <a:rPr sz="900" spc="-25" dirty="0">
                <a:solidFill>
                  <a:srgbClr val="3333B2"/>
                </a:solidFill>
                <a:latin typeface="Arial"/>
                <a:cs typeface="Arial"/>
              </a:rPr>
              <a:t> </a:t>
            </a:r>
            <a:r>
              <a:rPr sz="900" dirty="0">
                <a:solidFill>
                  <a:srgbClr val="3333B2"/>
                </a:solidFill>
                <a:latin typeface="Arial"/>
                <a:cs typeface="Arial"/>
              </a:rPr>
              <a:t>can</a:t>
            </a:r>
            <a:r>
              <a:rPr sz="900" spc="-20" dirty="0">
                <a:solidFill>
                  <a:srgbClr val="3333B2"/>
                </a:solidFill>
                <a:latin typeface="Arial"/>
                <a:cs typeface="Arial"/>
              </a:rPr>
              <a:t> </a:t>
            </a:r>
            <a:r>
              <a:rPr sz="900" spc="-10" dirty="0">
                <a:solidFill>
                  <a:srgbClr val="3333B2"/>
                </a:solidFill>
                <a:latin typeface="Arial"/>
                <a:cs typeface="Arial"/>
              </a:rPr>
              <a:t>reliably</a:t>
            </a:r>
            <a:r>
              <a:rPr sz="900" spc="-25" dirty="0">
                <a:solidFill>
                  <a:srgbClr val="3333B2"/>
                </a:solidFill>
                <a:latin typeface="Arial"/>
                <a:cs typeface="Arial"/>
              </a:rPr>
              <a:t> </a:t>
            </a:r>
            <a:r>
              <a:rPr sz="900" dirty="0">
                <a:solidFill>
                  <a:srgbClr val="3333B2"/>
                </a:solidFill>
                <a:latin typeface="Arial"/>
                <a:cs typeface="Arial"/>
              </a:rPr>
              <a:t>detect</a:t>
            </a:r>
            <a:r>
              <a:rPr sz="900" spc="-25" dirty="0">
                <a:solidFill>
                  <a:srgbClr val="3333B2"/>
                </a:solidFill>
                <a:latin typeface="Arial"/>
                <a:cs typeface="Arial"/>
              </a:rPr>
              <a:t> </a:t>
            </a:r>
            <a:r>
              <a:rPr sz="900" dirty="0">
                <a:solidFill>
                  <a:srgbClr val="3333B2"/>
                </a:solidFill>
                <a:latin typeface="Arial"/>
                <a:cs typeface="Arial"/>
              </a:rPr>
              <a:t>omission</a:t>
            </a:r>
            <a:r>
              <a:rPr sz="900" spc="-20" dirty="0">
                <a:solidFill>
                  <a:srgbClr val="3333B2"/>
                </a:solidFill>
                <a:latin typeface="Arial"/>
                <a:cs typeface="Arial"/>
              </a:rPr>
              <a:t> </a:t>
            </a:r>
            <a:r>
              <a:rPr sz="900" dirty="0">
                <a:solidFill>
                  <a:srgbClr val="3333B2"/>
                </a:solidFill>
                <a:latin typeface="Arial"/>
                <a:cs typeface="Arial"/>
              </a:rPr>
              <a:t>and</a:t>
            </a:r>
            <a:r>
              <a:rPr sz="900" spc="-25" dirty="0">
                <a:solidFill>
                  <a:srgbClr val="3333B2"/>
                </a:solidFill>
                <a:latin typeface="Arial"/>
                <a:cs typeface="Arial"/>
              </a:rPr>
              <a:t> </a:t>
            </a:r>
            <a:r>
              <a:rPr sz="900" dirty="0">
                <a:solidFill>
                  <a:srgbClr val="3333B2"/>
                </a:solidFill>
                <a:latin typeface="Arial"/>
                <a:cs typeface="Arial"/>
              </a:rPr>
              <a:t>timing</a:t>
            </a:r>
            <a:r>
              <a:rPr sz="900" spc="-20" dirty="0">
                <a:solidFill>
                  <a:srgbClr val="3333B2"/>
                </a:solidFill>
                <a:latin typeface="Arial"/>
                <a:cs typeface="Arial"/>
              </a:rPr>
              <a:t> </a:t>
            </a:r>
            <a:r>
              <a:rPr sz="900" spc="-10" dirty="0">
                <a:solidFill>
                  <a:srgbClr val="3333B2"/>
                </a:solidFill>
                <a:latin typeface="Arial"/>
                <a:cs typeface="Arial"/>
              </a:rPr>
              <a:t>failures</a:t>
            </a:r>
            <a:r>
              <a:rPr sz="900" spc="-10" dirty="0">
                <a:latin typeface="Arial"/>
                <a:cs typeface="Arial"/>
              </a:rPr>
              <a:t>.</a:t>
            </a:r>
            <a:endParaRPr sz="900">
              <a:latin typeface="Arial"/>
              <a:cs typeface="Arial"/>
            </a:endParaRPr>
          </a:p>
          <a:p>
            <a:pPr marL="282575" marR="39370" indent="-120650" algn="just">
              <a:lnSpc>
                <a:spcPct val="111600"/>
              </a:lnSpc>
              <a:spcBef>
                <a:spcPts val="400"/>
              </a:spcBef>
              <a:buClr>
                <a:srgbClr val="3333B2"/>
              </a:buClr>
              <a:buFont typeface="Menlo"/>
              <a:buChar char="•"/>
              <a:tabLst>
                <a:tab pos="283210" algn="l"/>
              </a:tabLst>
            </a:pPr>
            <a:r>
              <a:rPr sz="900" dirty="0">
                <a:latin typeface="Arial"/>
                <a:cs typeface="Arial"/>
              </a:rPr>
              <a:t>In</a:t>
            </a:r>
            <a:r>
              <a:rPr sz="900" spc="-30" dirty="0">
                <a:latin typeface="Arial"/>
                <a:cs typeface="Arial"/>
              </a:rPr>
              <a:t> </a:t>
            </a:r>
            <a:r>
              <a:rPr sz="900" dirty="0">
                <a:latin typeface="Arial"/>
                <a:cs typeface="Arial"/>
              </a:rPr>
              <a:t>practice</a:t>
            </a:r>
            <a:r>
              <a:rPr sz="900" spc="-25" dirty="0">
                <a:latin typeface="Arial"/>
                <a:cs typeface="Arial"/>
              </a:rPr>
              <a:t> </a:t>
            </a:r>
            <a:r>
              <a:rPr sz="900" dirty="0">
                <a:latin typeface="Arial"/>
                <a:cs typeface="Arial"/>
              </a:rPr>
              <a:t>we</a:t>
            </a:r>
            <a:r>
              <a:rPr sz="900" spc="-30" dirty="0">
                <a:latin typeface="Arial"/>
                <a:cs typeface="Arial"/>
              </a:rPr>
              <a:t> </a:t>
            </a:r>
            <a:r>
              <a:rPr sz="900" spc="-10" dirty="0">
                <a:latin typeface="Arial"/>
                <a:cs typeface="Arial"/>
              </a:rPr>
              <a:t>have</a:t>
            </a:r>
            <a:r>
              <a:rPr sz="900" spc="-25" dirty="0">
                <a:latin typeface="Arial"/>
                <a:cs typeface="Arial"/>
              </a:rPr>
              <a:t> </a:t>
            </a:r>
            <a:r>
              <a:rPr sz="900" dirty="0">
                <a:solidFill>
                  <a:srgbClr val="C80000"/>
                </a:solidFill>
                <a:latin typeface="Arial"/>
                <a:cs typeface="Arial"/>
              </a:rPr>
              <a:t>partially</a:t>
            </a:r>
            <a:r>
              <a:rPr sz="900" spc="-30" dirty="0">
                <a:solidFill>
                  <a:srgbClr val="C80000"/>
                </a:solidFill>
                <a:latin typeface="Arial"/>
                <a:cs typeface="Arial"/>
              </a:rPr>
              <a:t> </a:t>
            </a:r>
            <a:r>
              <a:rPr sz="900" dirty="0">
                <a:solidFill>
                  <a:srgbClr val="C80000"/>
                </a:solidFill>
                <a:latin typeface="Arial"/>
                <a:cs typeface="Arial"/>
              </a:rPr>
              <a:t>synchronous</a:t>
            </a:r>
            <a:r>
              <a:rPr sz="900" spc="-25" dirty="0">
                <a:solidFill>
                  <a:srgbClr val="C80000"/>
                </a:solidFill>
                <a:latin typeface="Arial"/>
                <a:cs typeface="Arial"/>
              </a:rPr>
              <a:t> </a:t>
            </a:r>
            <a:r>
              <a:rPr sz="900" dirty="0">
                <a:solidFill>
                  <a:srgbClr val="C80000"/>
                </a:solidFill>
                <a:latin typeface="Arial"/>
                <a:cs typeface="Arial"/>
              </a:rPr>
              <a:t>systems:</a:t>
            </a:r>
            <a:r>
              <a:rPr sz="900" spc="25" dirty="0">
                <a:solidFill>
                  <a:srgbClr val="C80000"/>
                </a:solidFill>
                <a:latin typeface="Arial"/>
                <a:cs typeface="Arial"/>
              </a:rPr>
              <a:t> </a:t>
            </a:r>
            <a:r>
              <a:rPr sz="900" dirty="0">
                <a:latin typeface="Arial"/>
                <a:cs typeface="Arial"/>
              </a:rPr>
              <a:t>most</a:t>
            </a:r>
            <a:r>
              <a:rPr sz="900" spc="-25" dirty="0">
                <a:latin typeface="Arial"/>
                <a:cs typeface="Arial"/>
              </a:rPr>
              <a:t> </a:t>
            </a:r>
            <a:r>
              <a:rPr sz="900" dirty="0">
                <a:latin typeface="Arial"/>
                <a:cs typeface="Arial"/>
              </a:rPr>
              <a:t>of</a:t>
            </a:r>
            <a:r>
              <a:rPr sz="900" spc="-3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time,</a:t>
            </a:r>
            <a:r>
              <a:rPr sz="900" spc="-30" dirty="0">
                <a:latin typeface="Arial"/>
                <a:cs typeface="Arial"/>
              </a:rPr>
              <a:t> </a:t>
            </a:r>
            <a:r>
              <a:rPr sz="900" spc="-25" dirty="0">
                <a:latin typeface="Arial"/>
                <a:cs typeface="Arial"/>
              </a:rPr>
              <a:t>we </a:t>
            </a:r>
            <a:r>
              <a:rPr sz="900" dirty="0">
                <a:latin typeface="Arial"/>
                <a:cs typeface="Arial"/>
              </a:rPr>
              <a:t>can</a:t>
            </a:r>
            <a:r>
              <a:rPr sz="900" spc="-20" dirty="0">
                <a:latin typeface="Arial"/>
                <a:cs typeface="Arial"/>
              </a:rPr>
              <a:t> </a:t>
            </a:r>
            <a:r>
              <a:rPr sz="900" dirty="0">
                <a:latin typeface="Arial"/>
                <a:cs typeface="Arial"/>
              </a:rPr>
              <a:t>assume</a:t>
            </a:r>
            <a:r>
              <a:rPr sz="900" spc="-1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system</a:t>
            </a:r>
            <a:r>
              <a:rPr sz="900" spc="-15"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be</a:t>
            </a:r>
            <a:r>
              <a:rPr sz="900" spc="-15" dirty="0">
                <a:latin typeface="Arial"/>
                <a:cs typeface="Arial"/>
              </a:rPr>
              <a:t> </a:t>
            </a:r>
            <a:r>
              <a:rPr sz="900" spc="-10" dirty="0">
                <a:latin typeface="Arial"/>
                <a:cs typeface="Arial"/>
              </a:rPr>
              <a:t>synchronous,</a:t>
            </a:r>
            <a:r>
              <a:rPr sz="900" spc="-15" dirty="0">
                <a:latin typeface="Arial"/>
                <a:cs typeface="Arial"/>
              </a:rPr>
              <a:t> </a:t>
            </a:r>
            <a:r>
              <a:rPr sz="900" dirty="0">
                <a:latin typeface="Arial"/>
                <a:cs typeface="Arial"/>
              </a:rPr>
              <a:t>yet</a:t>
            </a:r>
            <a:r>
              <a:rPr sz="900" spc="-20" dirty="0">
                <a:latin typeface="Arial"/>
                <a:cs typeface="Arial"/>
              </a:rPr>
              <a:t> </a:t>
            </a:r>
            <a:r>
              <a:rPr sz="900" dirty="0">
                <a:latin typeface="Arial"/>
                <a:cs typeface="Arial"/>
              </a:rPr>
              <a:t>there</a:t>
            </a:r>
            <a:r>
              <a:rPr sz="900" spc="-15"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no</a:t>
            </a:r>
            <a:r>
              <a:rPr sz="900" spc="-15" dirty="0">
                <a:latin typeface="Arial"/>
                <a:cs typeface="Arial"/>
              </a:rPr>
              <a:t> </a:t>
            </a:r>
            <a:r>
              <a:rPr sz="900" dirty="0">
                <a:latin typeface="Arial"/>
                <a:cs typeface="Arial"/>
              </a:rPr>
              <a:t>bound</a:t>
            </a:r>
            <a:r>
              <a:rPr sz="900" spc="-20" dirty="0">
                <a:latin typeface="Arial"/>
                <a:cs typeface="Arial"/>
              </a:rPr>
              <a:t> </a:t>
            </a:r>
            <a:r>
              <a:rPr sz="900" dirty="0">
                <a:latin typeface="Arial"/>
                <a:cs typeface="Arial"/>
              </a:rPr>
              <a:t>on</a:t>
            </a:r>
            <a:r>
              <a:rPr sz="900" spc="-15" dirty="0">
                <a:latin typeface="Arial"/>
                <a:cs typeface="Arial"/>
              </a:rPr>
              <a:t> </a:t>
            </a:r>
            <a:r>
              <a:rPr sz="900" spc="-25" dirty="0">
                <a:latin typeface="Arial"/>
                <a:cs typeface="Arial"/>
              </a:rPr>
              <a:t>the </a:t>
            </a:r>
            <a:r>
              <a:rPr sz="900" dirty="0">
                <a:latin typeface="Arial"/>
                <a:cs typeface="Arial"/>
              </a:rPr>
              <a:t>time</a:t>
            </a:r>
            <a:r>
              <a:rPr sz="900" spc="-65" dirty="0">
                <a:latin typeface="Arial"/>
                <a:cs typeface="Arial"/>
              </a:rPr>
              <a:t> </a:t>
            </a:r>
            <a:r>
              <a:rPr sz="900" dirty="0">
                <a:latin typeface="Arial"/>
                <a:cs typeface="Arial"/>
              </a:rPr>
              <a:t>that</a:t>
            </a:r>
            <a:r>
              <a:rPr sz="900" spc="-60" dirty="0">
                <a:latin typeface="Arial"/>
                <a:cs typeface="Arial"/>
              </a:rPr>
              <a:t> </a:t>
            </a:r>
            <a:r>
              <a:rPr sz="900" dirty="0">
                <a:latin typeface="Arial"/>
                <a:cs typeface="Arial"/>
              </a:rPr>
              <a:t>a</a:t>
            </a:r>
            <a:r>
              <a:rPr sz="900" spc="-65" dirty="0">
                <a:latin typeface="Arial"/>
                <a:cs typeface="Arial"/>
              </a:rPr>
              <a:t> </a:t>
            </a:r>
            <a:r>
              <a:rPr sz="900" dirty="0">
                <a:latin typeface="Arial"/>
                <a:cs typeface="Arial"/>
              </a:rPr>
              <a:t>system</a:t>
            </a:r>
            <a:r>
              <a:rPr sz="900" spc="-20" dirty="0">
                <a:latin typeface="Arial"/>
                <a:cs typeface="Arial"/>
              </a:rPr>
              <a:t> </a:t>
            </a:r>
            <a:r>
              <a:rPr sz="900" dirty="0">
                <a:latin typeface="Arial"/>
                <a:cs typeface="Arial"/>
              </a:rPr>
              <a:t>is</a:t>
            </a:r>
            <a:r>
              <a:rPr sz="900" spc="-10" dirty="0">
                <a:latin typeface="Arial"/>
                <a:cs typeface="Arial"/>
              </a:rPr>
              <a:t> </a:t>
            </a:r>
            <a:r>
              <a:rPr sz="900" dirty="0">
                <a:latin typeface="Arial"/>
                <a:cs typeface="Arial"/>
              </a:rPr>
              <a:t>asynchronous</a:t>
            </a:r>
            <a:r>
              <a:rPr sz="900" spc="-10" dirty="0">
                <a:latin typeface="Arial"/>
                <a:cs typeface="Arial"/>
              </a:rPr>
              <a:t> </a:t>
            </a:r>
            <a:r>
              <a:rPr sz="900" i="1" spc="185" dirty="0">
                <a:latin typeface="Menlo"/>
                <a:cs typeface="Menlo"/>
              </a:rPr>
              <a:t>→</a:t>
            </a:r>
            <a:r>
              <a:rPr sz="900" i="1" spc="-135" dirty="0">
                <a:latin typeface="Menlo"/>
                <a:cs typeface="Menlo"/>
              </a:rPr>
              <a:t> </a:t>
            </a:r>
            <a:r>
              <a:rPr sz="900" dirty="0">
                <a:solidFill>
                  <a:srgbClr val="3333B2"/>
                </a:solidFill>
                <a:latin typeface="Arial"/>
                <a:cs typeface="Arial"/>
              </a:rPr>
              <a:t>can</a:t>
            </a:r>
            <a:r>
              <a:rPr sz="900" spc="-15" dirty="0">
                <a:solidFill>
                  <a:srgbClr val="3333B2"/>
                </a:solidFill>
                <a:latin typeface="Arial"/>
                <a:cs typeface="Arial"/>
              </a:rPr>
              <a:t> </a:t>
            </a:r>
            <a:r>
              <a:rPr sz="900" dirty="0">
                <a:solidFill>
                  <a:srgbClr val="3333B2"/>
                </a:solidFill>
                <a:latin typeface="Arial"/>
                <a:cs typeface="Arial"/>
              </a:rPr>
              <a:t>normally</a:t>
            </a:r>
            <a:r>
              <a:rPr sz="900" spc="-10" dirty="0">
                <a:solidFill>
                  <a:srgbClr val="3333B2"/>
                </a:solidFill>
                <a:latin typeface="Arial"/>
                <a:cs typeface="Arial"/>
              </a:rPr>
              <a:t> </a:t>
            </a:r>
            <a:r>
              <a:rPr sz="900" dirty="0">
                <a:solidFill>
                  <a:srgbClr val="3333B2"/>
                </a:solidFill>
                <a:latin typeface="Arial"/>
                <a:cs typeface="Arial"/>
              </a:rPr>
              <a:t>reliably</a:t>
            </a:r>
            <a:r>
              <a:rPr sz="900" spc="-10" dirty="0">
                <a:solidFill>
                  <a:srgbClr val="3333B2"/>
                </a:solidFill>
                <a:latin typeface="Arial"/>
                <a:cs typeface="Arial"/>
              </a:rPr>
              <a:t> </a:t>
            </a:r>
            <a:r>
              <a:rPr sz="900" dirty="0">
                <a:solidFill>
                  <a:srgbClr val="3333B2"/>
                </a:solidFill>
                <a:latin typeface="Arial"/>
                <a:cs typeface="Arial"/>
              </a:rPr>
              <a:t>detect</a:t>
            </a:r>
            <a:r>
              <a:rPr sz="900" spc="-10" dirty="0">
                <a:solidFill>
                  <a:srgbClr val="3333B2"/>
                </a:solidFill>
                <a:latin typeface="Arial"/>
                <a:cs typeface="Arial"/>
              </a:rPr>
              <a:t> crash failures</a:t>
            </a:r>
            <a:r>
              <a:rPr sz="900" spc="-10" dirty="0">
                <a:latin typeface="Arial"/>
                <a:cs typeface="Arial"/>
              </a:rPr>
              <a:t>.</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43751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Failure</a:t>
            </a:r>
            <a:r>
              <a:rPr sz="500" spc="20" dirty="0">
                <a:latin typeface="Arial"/>
                <a:cs typeface="Arial"/>
                <a:hlinkClick r:id="rId3" action="ppaction://hlinksldjump"/>
              </a:rPr>
              <a:t> </a:t>
            </a:r>
            <a:r>
              <a:rPr sz="500" spc="-10" dirty="0">
                <a:latin typeface="Arial"/>
                <a:cs typeface="Arial"/>
                <a:hlinkClick r:id="rId3" action="ppaction://hlinksldjump"/>
              </a:rPr>
              <a:t>models</a:t>
            </a:r>
            <a:endParaRPr sz="500">
              <a:latin typeface="Arial"/>
              <a:cs typeface="Arial"/>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15842" y="-1515"/>
            <a:ext cx="83883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2" action="ppaction://hlinksldjump"/>
              </a:rPr>
              <a:t>Introduction</a:t>
            </a:r>
            <a:r>
              <a:rPr sz="500" spc="-25" dirty="0">
                <a:solidFill>
                  <a:srgbClr val="FFFFFF"/>
                </a:solidFill>
                <a:latin typeface="Arial"/>
                <a:cs typeface="Arial"/>
                <a:hlinkClick r:id="rId2" action="ppaction://hlinksldjump"/>
              </a:rPr>
              <a:t> </a:t>
            </a:r>
            <a:r>
              <a:rPr sz="500" dirty="0">
                <a:solidFill>
                  <a:srgbClr val="FFFFFF"/>
                </a:solidFill>
                <a:latin typeface="Arial"/>
                <a:cs typeface="Arial"/>
                <a:hlinkClick r:id="rId2" action="ppaction://hlinksldjump"/>
              </a:rPr>
              <a:t>to</a:t>
            </a:r>
            <a:r>
              <a:rPr sz="500" spc="-25" dirty="0">
                <a:solidFill>
                  <a:srgbClr val="FFFFFF"/>
                </a:solidFill>
                <a:latin typeface="Arial"/>
                <a:cs typeface="Arial"/>
                <a:hlinkClick r:id="rId2" action="ppaction://hlinksldjump"/>
              </a:rPr>
              <a:t> </a:t>
            </a:r>
            <a:r>
              <a:rPr sz="500" dirty="0">
                <a:solidFill>
                  <a:srgbClr val="FFFFFF"/>
                </a:solidFill>
                <a:latin typeface="Arial"/>
                <a:cs typeface="Arial"/>
                <a:hlinkClick r:id="rId2" action="ppaction://hlinksldjump"/>
              </a:rPr>
              <a:t>fault</a:t>
            </a:r>
            <a:r>
              <a:rPr sz="500" spc="-2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tolerance</a:t>
            </a:r>
            <a:endParaRPr sz="500">
              <a:latin typeface="Arial"/>
              <a:cs typeface="Arial"/>
            </a:endParaRPr>
          </a:p>
        </p:txBody>
      </p:sp>
      <p:sp>
        <p:nvSpPr>
          <p:cNvPr id="5" name="object 5"/>
          <p:cNvSpPr txBox="1"/>
          <p:nvPr/>
        </p:nvSpPr>
        <p:spPr>
          <a:xfrm>
            <a:off x="95300" y="197711"/>
            <a:ext cx="1774189"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Halting</a:t>
            </a:r>
            <a:r>
              <a:rPr sz="1200" spc="-45" dirty="0">
                <a:solidFill>
                  <a:srgbClr val="3333B2"/>
                </a:solidFill>
                <a:latin typeface="Arial"/>
                <a:cs typeface="Arial"/>
              </a:rPr>
              <a:t> </a:t>
            </a:r>
            <a:r>
              <a:rPr sz="1200" spc="-10" dirty="0">
                <a:solidFill>
                  <a:srgbClr val="3333B2"/>
                </a:solidFill>
                <a:latin typeface="Arial"/>
                <a:cs typeface="Arial"/>
              </a:rPr>
              <a:t>failures</a:t>
            </a:r>
            <a:endParaRPr sz="1200">
              <a:latin typeface="Arial"/>
              <a:cs typeface="Arial"/>
            </a:endParaRPr>
          </a:p>
          <a:p>
            <a:pPr marL="260350">
              <a:lnSpc>
                <a:spcPct val="100000"/>
              </a:lnSpc>
              <a:spcBef>
                <a:spcPts val="1055"/>
              </a:spcBef>
            </a:pPr>
            <a:r>
              <a:rPr sz="1000" dirty="0">
                <a:solidFill>
                  <a:srgbClr val="3333B2"/>
                </a:solidFill>
                <a:latin typeface="Arial"/>
                <a:cs typeface="Arial"/>
              </a:rPr>
              <a:t>Assumptions</a:t>
            </a:r>
            <a:r>
              <a:rPr sz="1000" spc="-40" dirty="0">
                <a:solidFill>
                  <a:srgbClr val="3333B2"/>
                </a:solidFill>
                <a:latin typeface="Arial"/>
                <a:cs typeface="Arial"/>
              </a:rPr>
              <a:t> </a:t>
            </a:r>
            <a:r>
              <a:rPr sz="1000" dirty="0">
                <a:solidFill>
                  <a:srgbClr val="3333B2"/>
                </a:solidFill>
                <a:latin typeface="Arial"/>
                <a:cs typeface="Arial"/>
              </a:rPr>
              <a:t>we</a:t>
            </a:r>
            <a:r>
              <a:rPr sz="1000" spc="-35" dirty="0">
                <a:solidFill>
                  <a:srgbClr val="3333B2"/>
                </a:solidFill>
                <a:latin typeface="Arial"/>
                <a:cs typeface="Arial"/>
              </a:rPr>
              <a:t> </a:t>
            </a:r>
            <a:r>
              <a:rPr sz="1000" dirty="0">
                <a:solidFill>
                  <a:srgbClr val="3333B2"/>
                </a:solidFill>
                <a:latin typeface="Arial"/>
                <a:cs typeface="Arial"/>
              </a:rPr>
              <a:t>can</a:t>
            </a:r>
            <a:r>
              <a:rPr sz="1000" spc="-40" dirty="0">
                <a:solidFill>
                  <a:srgbClr val="3333B2"/>
                </a:solidFill>
                <a:latin typeface="Arial"/>
                <a:cs typeface="Arial"/>
              </a:rPr>
              <a:t> </a:t>
            </a:r>
            <a:r>
              <a:rPr sz="1000" spc="-20" dirty="0">
                <a:solidFill>
                  <a:srgbClr val="3333B2"/>
                </a:solidFill>
                <a:latin typeface="Arial"/>
                <a:cs typeface="Arial"/>
              </a:rPr>
              <a:t>make</a:t>
            </a:r>
            <a:endParaRPr sz="1000">
              <a:latin typeface="Arial"/>
              <a:cs typeface="Arial"/>
            </a:endParaRPr>
          </a:p>
        </p:txBody>
      </p:sp>
      <p:graphicFrame>
        <p:nvGraphicFramePr>
          <p:cNvPr id="6" name="object 6"/>
          <p:cNvGraphicFramePr>
            <a:graphicFrameLocks noGrp="1"/>
          </p:cNvGraphicFramePr>
          <p:nvPr/>
        </p:nvGraphicFramePr>
        <p:xfrm>
          <a:off x="652322" y="792022"/>
          <a:ext cx="3297554" cy="1451610"/>
        </p:xfrm>
        <a:graphic>
          <a:graphicData uri="http://schemas.openxmlformats.org/drawingml/2006/table">
            <a:tbl>
              <a:tblPr firstRow="1" bandRow="1">
                <a:tableStyleId>{2D5ABB26-0587-4C30-8999-92F81FD0307C}</a:tableStyleId>
              </a:tblPr>
              <a:tblGrid>
                <a:gridCol w="808355">
                  <a:extLst>
                    <a:ext uri="{9D8B030D-6E8A-4147-A177-3AD203B41FA5}">
                      <a16:colId xmlns:a16="http://schemas.microsoft.com/office/drawing/2014/main" val="20000"/>
                    </a:ext>
                  </a:extLst>
                </a:gridCol>
                <a:gridCol w="2489199">
                  <a:extLst>
                    <a:ext uri="{9D8B030D-6E8A-4147-A177-3AD203B41FA5}">
                      <a16:colId xmlns:a16="http://schemas.microsoft.com/office/drawing/2014/main" val="20001"/>
                    </a:ext>
                  </a:extLst>
                </a:gridCol>
              </a:tblGrid>
              <a:tr h="195580">
                <a:tc>
                  <a:txBody>
                    <a:bodyPr/>
                    <a:lstStyle/>
                    <a:p>
                      <a:pPr marL="78105">
                        <a:lnSpc>
                          <a:spcPct val="100000"/>
                        </a:lnSpc>
                        <a:spcBef>
                          <a:spcPts val="130"/>
                        </a:spcBef>
                      </a:pPr>
                      <a:r>
                        <a:rPr sz="900" b="1" dirty="0">
                          <a:latin typeface="Arial"/>
                          <a:cs typeface="Arial"/>
                        </a:rPr>
                        <a:t>Halting</a:t>
                      </a:r>
                      <a:r>
                        <a:rPr sz="900" b="1" spc="-40" dirty="0">
                          <a:latin typeface="Arial"/>
                          <a:cs typeface="Arial"/>
                        </a:rPr>
                        <a:t> </a:t>
                      </a:r>
                      <a:r>
                        <a:rPr sz="900" b="1" spc="-20" dirty="0">
                          <a:latin typeface="Arial"/>
                          <a:cs typeface="Arial"/>
                        </a:rPr>
                        <a:t>type</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130"/>
                        </a:spcBef>
                      </a:pPr>
                      <a:r>
                        <a:rPr sz="900" b="1" spc="-10" dirty="0">
                          <a:latin typeface="Arial"/>
                          <a:cs typeface="Arial"/>
                        </a:rPr>
                        <a:t>Description</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95580">
                <a:tc>
                  <a:txBody>
                    <a:bodyPr/>
                    <a:lstStyle/>
                    <a:p>
                      <a:pPr marL="78105">
                        <a:lnSpc>
                          <a:spcPct val="100000"/>
                        </a:lnSpc>
                        <a:spcBef>
                          <a:spcPts val="185"/>
                        </a:spcBef>
                      </a:pPr>
                      <a:r>
                        <a:rPr sz="900" spc="-20" dirty="0">
                          <a:solidFill>
                            <a:srgbClr val="C80000"/>
                          </a:solidFill>
                          <a:latin typeface="Arial"/>
                          <a:cs typeface="Arial"/>
                        </a:rPr>
                        <a:t>Fail-stop</a:t>
                      </a:r>
                      <a:endParaRPr sz="900">
                        <a:latin typeface="Arial"/>
                        <a:cs typeface="Arial"/>
                      </a:endParaRPr>
                    </a:p>
                  </a:txBody>
                  <a:tcPr marL="0" marR="0" marT="2349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a:lnSpc>
                          <a:spcPct val="100000"/>
                        </a:lnSpc>
                        <a:spcBef>
                          <a:spcPts val="185"/>
                        </a:spcBef>
                      </a:pPr>
                      <a:r>
                        <a:rPr sz="900" dirty="0">
                          <a:latin typeface="Arial"/>
                          <a:cs typeface="Arial"/>
                        </a:rPr>
                        <a:t>Crash</a:t>
                      </a:r>
                      <a:r>
                        <a:rPr sz="900" spc="-35" dirty="0">
                          <a:latin typeface="Arial"/>
                          <a:cs typeface="Arial"/>
                        </a:rPr>
                        <a:t> </a:t>
                      </a:r>
                      <a:r>
                        <a:rPr sz="900" spc="-10" dirty="0">
                          <a:latin typeface="Arial"/>
                          <a:cs typeface="Arial"/>
                        </a:rPr>
                        <a:t>failures,</a:t>
                      </a:r>
                      <a:r>
                        <a:rPr sz="900" spc="-30" dirty="0">
                          <a:latin typeface="Arial"/>
                          <a:cs typeface="Arial"/>
                        </a:rPr>
                        <a:t> </a:t>
                      </a:r>
                      <a:r>
                        <a:rPr sz="900" dirty="0">
                          <a:latin typeface="Arial"/>
                          <a:cs typeface="Arial"/>
                        </a:rPr>
                        <a:t>but</a:t>
                      </a:r>
                      <a:r>
                        <a:rPr sz="900" spc="-30" dirty="0">
                          <a:latin typeface="Arial"/>
                          <a:cs typeface="Arial"/>
                        </a:rPr>
                        <a:t> </a:t>
                      </a:r>
                      <a:r>
                        <a:rPr sz="900" dirty="0">
                          <a:latin typeface="Arial"/>
                          <a:cs typeface="Arial"/>
                        </a:rPr>
                        <a:t>reliably</a:t>
                      </a:r>
                      <a:r>
                        <a:rPr sz="900" spc="-30" dirty="0">
                          <a:latin typeface="Arial"/>
                          <a:cs typeface="Arial"/>
                        </a:rPr>
                        <a:t> </a:t>
                      </a:r>
                      <a:r>
                        <a:rPr sz="900" spc="-10" dirty="0">
                          <a:latin typeface="Arial"/>
                          <a:cs typeface="Arial"/>
                        </a:rPr>
                        <a:t>detectable</a:t>
                      </a:r>
                      <a:endParaRPr sz="900">
                        <a:latin typeface="Arial"/>
                        <a:cs typeface="Arial"/>
                      </a:endParaRPr>
                    </a:p>
                  </a:txBody>
                  <a:tcPr marL="0" marR="0" marT="2349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88595">
                <a:tc>
                  <a:txBody>
                    <a:bodyPr/>
                    <a:lstStyle/>
                    <a:p>
                      <a:pPr marL="78105">
                        <a:lnSpc>
                          <a:spcPct val="100000"/>
                        </a:lnSpc>
                        <a:spcBef>
                          <a:spcPts val="130"/>
                        </a:spcBef>
                      </a:pPr>
                      <a:r>
                        <a:rPr sz="900" spc="-20" dirty="0">
                          <a:solidFill>
                            <a:srgbClr val="C80000"/>
                          </a:solidFill>
                          <a:latin typeface="Arial"/>
                          <a:cs typeface="Arial"/>
                        </a:rPr>
                        <a:t>Fail-</a:t>
                      </a:r>
                      <a:r>
                        <a:rPr sz="900" spc="-10" dirty="0">
                          <a:solidFill>
                            <a:srgbClr val="C80000"/>
                          </a:solidFill>
                          <a:latin typeface="Arial"/>
                          <a:cs typeface="Arial"/>
                        </a:rPr>
                        <a:t>noisy</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130"/>
                        </a:spcBef>
                      </a:pPr>
                      <a:r>
                        <a:rPr sz="900" dirty="0">
                          <a:latin typeface="Arial"/>
                          <a:cs typeface="Arial"/>
                        </a:rPr>
                        <a:t>Crash</a:t>
                      </a:r>
                      <a:r>
                        <a:rPr sz="900" spc="-25" dirty="0">
                          <a:latin typeface="Arial"/>
                          <a:cs typeface="Arial"/>
                        </a:rPr>
                        <a:t> </a:t>
                      </a:r>
                      <a:r>
                        <a:rPr sz="900" spc="-10" dirty="0">
                          <a:latin typeface="Arial"/>
                          <a:cs typeface="Arial"/>
                        </a:rPr>
                        <a:t>failures,</a:t>
                      </a:r>
                      <a:r>
                        <a:rPr sz="900" spc="-20" dirty="0">
                          <a:latin typeface="Arial"/>
                          <a:cs typeface="Arial"/>
                        </a:rPr>
                        <a:t> </a:t>
                      </a:r>
                      <a:r>
                        <a:rPr sz="900" spc="-10" dirty="0">
                          <a:latin typeface="Arial"/>
                          <a:cs typeface="Arial"/>
                        </a:rPr>
                        <a:t>eventually</a:t>
                      </a:r>
                      <a:r>
                        <a:rPr sz="900" spc="-20" dirty="0">
                          <a:latin typeface="Arial"/>
                          <a:cs typeface="Arial"/>
                        </a:rPr>
                        <a:t> </a:t>
                      </a:r>
                      <a:r>
                        <a:rPr sz="900" dirty="0">
                          <a:latin typeface="Arial"/>
                          <a:cs typeface="Arial"/>
                        </a:rPr>
                        <a:t>reliably</a:t>
                      </a:r>
                      <a:r>
                        <a:rPr sz="900" spc="-20" dirty="0">
                          <a:latin typeface="Arial"/>
                          <a:cs typeface="Arial"/>
                        </a:rPr>
                        <a:t> </a:t>
                      </a:r>
                      <a:r>
                        <a:rPr sz="900" spc="-10" dirty="0">
                          <a:latin typeface="Arial"/>
                          <a:cs typeface="Arial"/>
                        </a:rPr>
                        <a:t>detectable</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341630">
                <a:tc>
                  <a:txBody>
                    <a:bodyPr/>
                    <a:lstStyle/>
                    <a:p>
                      <a:pPr marL="78105">
                        <a:lnSpc>
                          <a:spcPct val="100000"/>
                        </a:lnSpc>
                        <a:spcBef>
                          <a:spcPts val="130"/>
                        </a:spcBef>
                      </a:pPr>
                      <a:r>
                        <a:rPr sz="900" spc="-20" dirty="0">
                          <a:solidFill>
                            <a:srgbClr val="C80000"/>
                          </a:solidFill>
                          <a:latin typeface="Arial"/>
                          <a:cs typeface="Arial"/>
                        </a:rPr>
                        <a:t>Fail-</a:t>
                      </a:r>
                      <a:r>
                        <a:rPr sz="900" spc="-10" dirty="0">
                          <a:solidFill>
                            <a:srgbClr val="C80000"/>
                          </a:solidFill>
                          <a:latin typeface="Arial"/>
                          <a:cs typeface="Arial"/>
                        </a:rPr>
                        <a:t>silent</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4295" marR="70485" indent="3810">
                        <a:lnSpc>
                          <a:spcPct val="111600"/>
                        </a:lnSpc>
                        <a:spcBef>
                          <a:spcPts val="5"/>
                        </a:spcBef>
                      </a:pPr>
                      <a:r>
                        <a:rPr sz="900" dirty="0">
                          <a:latin typeface="Arial"/>
                          <a:cs typeface="Arial"/>
                        </a:rPr>
                        <a:t>Omission</a:t>
                      </a:r>
                      <a:r>
                        <a:rPr sz="900" spc="50" dirty="0">
                          <a:latin typeface="Arial"/>
                          <a:cs typeface="Arial"/>
                        </a:rPr>
                        <a:t> </a:t>
                      </a:r>
                      <a:r>
                        <a:rPr sz="900" dirty="0">
                          <a:latin typeface="Arial"/>
                          <a:cs typeface="Arial"/>
                        </a:rPr>
                        <a:t>or</a:t>
                      </a:r>
                      <a:r>
                        <a:rPr sz="900" spc="55" dirty="0">
                          <a:latin typeface="Arial"/>
                          <a:cs typeface="Arial"/>
                        </a:rPr>
                        <a:t> </a:t>
                      </a:r>
                      <a:r>
                        <a:rPr sz="900" dirty="0">
                          <a:latin typeface="Arial"/>
                          <a:cs typeface="Arial"/>
                        </a:rPr>
                        <a:t>crash</a:t>
                      </a:r>
                      <a:r>
                        <a:rPr sz="900" spc="50" dirty="0">
                          <a:latin typeface="Arial"/>
                          <a:cs typeface="Arial"/>
                        </a:rPr>
                        <a:t> </a:t>
                      </a:r>
                      <a:r>
                        <a:rPr sz="900" dirty="0">
                          <a:latin typeface="Arial"/>
                          <a:cs typeface="Arial"/>
                        </a:rPr>
                        <a:t>failures:</a:t>
                      </a:r>
                      <a:r>
                        <a:rPr sz="900" spc="160" dirty="0">
                          <a:latin typeface="Arial"/>
                          <a:cs typeface="Arial"/>
                        </a:rPr>
                        <a:t> </a:t>
                      </a:r>
                      <a:r>
                        <a:rPr sz="900" dirty="0">
                          <a:latin typeface="Arial"/>
                          <a:cs typeface="Arial"/>
                        </a:rPr>
                        <a:t>clients</a:t>
                      </a:r>
                      <a:r>
                        <a:rPr sz="900" spc="50" dirty="0">
                          <a:latin typeface="Arial"/>
                          <a:cs typeface="Arial"/>
                        </a:rPr>
                        <a:t> </a:t>
                      </a:r>
                      <a:r>
                        <a:rPr sz="900" dirty="0">
                          <a:latin typeface="Arial"/>
                          <a:cs typeface="Arial"/>
                        </a:rPr>
                        <a:t>cannot</a:t>
                      </a:r>
                      <a:r>
                        <a:rPr sz="900" spc="55" dirty="0">
                          <a:latin typeface="Arial"/>
                          <a:cs typeface="Arial"/>
                        </a:rPr>
                        <a:t> </a:t>
                      </a:r>
                      <a:r>
                        <a:rPr sz="900" spc="-20" dirty="0">
                          <a:latin typeface="Arial"/>
                          <a:cs typeface="Arial"/>
                        </a:rPr>
                        <a:t>tell </a:t>
                      </a:r>
                      <a:r>
                        <a:rPr sz="900" dirty="0">
                          <a:latin typeface="Arial"/>
                          <a:cs typeface="Arial"/>
                        </a:rPr>
                        <a:t>what</a:t>
                      </a:r>
                      <a:r>
                        <a:rPr sz="900" spc="-30" dirty="0">
                          <a:latin typeface="Arial"/>
                          <a:cs typeface="Arial"/>
                        </a:rPr>
                        <a:t> </a:t>
                      </a:r>
                      <a:r>
                        <a:rPr sz="900" dirty="0">
                          <a:latin typeface="Arial"/>
                          <a:cs typeface="Arial"/>
                        </a:rPr>
                        <a:t>went</a:t>
                      </a:r>
                      <a:r>
                        <a:rPr sz="900" spc="-30" dirty="0">
                          <a:latin typeface="Arial"/>
                          <a:cs typeface="Arial"/>
                        </a:rPr>
                        <a:t> </a:t>
                      </a:r>
                      <a:r>
                        <a:rPr sz="900" spc="-20" dirty="0">
                          <a:latin typeface="Arial"/>
                          <a:cs typeface="Arial"/>
                        </a:rPr>
                        <a:t>wrong</a:t>
                      </a:r>
                      <a:endParaRPr sz="900">
                        <a:latin typeface="Arial"/>
                        <a:cs typeface="Arial"/>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341630">
                <a:tc>
                  <a:txBody>
                    <a:bodyPr/>
                    <a:lstStyle/>
                    <a:p>
                      <a:pPr marL="78105">
                        <a:lnSpc>
                          <a:spcPct val="100000"/>
                        </a:lnSpc>
                        <a:spcBef>
                          <a:spcPts val="130"/>
                        </a:spcBef>
                      </a:pPr>
                      <a:r>
                        <a:rPr sz="900" spc="-20" dirty="0">
                          <a:solidFill>
                            <a:srgbClr val="C80000"/>
                          </a:solidFill>
                          <a:latin typeface="Arial"/>
                          <a:cs typeface="Arial"/>
                        </a:rPr>
                        <a:t>Fail-safe</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marR="70485">
                        <a:lnSpc>
                          <a:spcPct val="111600"/>
                        </a:lnSpc>
                        <a:spcBef>
                          <a:spcPts val="5"/>
                        </a:spcBef>
                      </a:pPr>
                      <a:r>
                        <a:rPr sz="900" dirty="0">
                          <a:latin typeface="Arial"/>
                          <a:cs typeface="Arial"/>
                        </a:rPr>
                        <a:t>Arbitrary,</a:t>
                      </a:r>
                      <a:r>
                        <a:rPr sz="900" spc="20" dirty="0">
                          <a:latin typeface="Arial"/>
                          <a:cs typeface="Arial"/>
                        </a:rPr>
                        <a:t> </a:t>
                      </a:r>
                      <a:r>
                        <a:rPr sz="900" dirty="0">
                          <a:latin typeface="Arial"/>
                          <a:cs typeface="Arial"/>
                        </a:rPr>
                        <a:t>yet</a:t>
                      </a:r>
                      <a:r>
                        <a:rPr sz="900" spc="15" dirty="0">
                          <a:latin typeface="Arial"/>
                          <a:cs typeface="Arial"/>
                        </a:rPr>
                        <a:t> </a:t>
                      </a:r>
                      <a:r>
                        <a:rPr sz="900" dirty="0">
                          <a:latin typeface="Arial"/>
                          <a:cs typeface="Arial"/>
                        </a:rPr>
                        <a:t>benign</a:t>
                      </a:r>
                      <a:r>
                        <a:rPr sz="900" spc="15" dirty="0">
                          <a:latin typeface="Arial"/>
                          <a:cs typeface="Arial"/>
                        </a:rPr>
                        <a:t> </a:t>
                      </a:r>
                      <a:r>
                        <a:rPr sz="900" dirty="0">
                          <a:latin typeface="Arial"/>
                          <a:cs typeface="Arial"/>
                        </a:rPr>
                        <a:t>failures</a:t>
                      </a:r>
                      <a:r>
                        <a:rPr sz="900" spc="15" dirty="0">
                          <a:latin typeface="Arial"/>
                          <a:cs typeface="Arial"/>
                        </a:rPr>
                        <a:t> </a:t>
                      </a:r>
                      <a:r>
                        <a:rPr sz="900" dirty="0">
                          <a:latin typeface="Arial"/>
                          <a:cs typeface="Arial"/>
                        </a:rPr>
                        <a:t>(i.e.,</a:t>
                      </a:r>
                      <a:r>
                        <a:rPr sz="900" spc="20" dirty="0">
                          <a:latin typeface="Arial"/>
                          <a:cs typeface="Arial"/>
                        </a:rPr>
                        <a:t> </a:t>
                      </a:r>
                      <a:r>
                        <a:rPr sz="900" dirty="0">
                          <a:latin typeface="Arial"/>
                          <a:cs typeface="Arial"/>
                        </a:rPr>
                        <a:t>they</a:t>
                      </a:r>
                      <a:r>
                        <a:rPr sz="900" spc="15" dirty="0">
                          <a:latin typeface="Arial"/>
                          <a:cs typeface="Arial"/>
                        </a:rPr>
                        <a:t> </a:t>
                      </a:r>
                      <a:r>
                        <a:rPr sz="900" spc="-10" dirty="0">
                          <a:latin typeface="Arial"/>
                          <a:cs typeface="Arial"/>
                        </a:rPr>
                        <a:t>cannot </a:t>
                      </a:r>
                      <a:r>
                        <a:rPr sz="900" dirty="0">
                          <a:latin typeface="Arial"/>
                          <a:cs typeface="Arial"/>
                        </a:rPr>
                        <a:t>do</a:t>
                      </a:r>
                      <a:r>
                        <a:rPr sz="900" spc="-25" dirty="0">
                          <a:latin typeface="Arial"/>
                          <a:cs typeface="Arial"/>
                        </a:rPr>
                        <a:t> </a:t>
                      </a:r>
                      <a:r>
                        <a:rPr sz="900" dirty="0">
                          <a:latin typeface="Arial"/>
                          <a:cs typeface="Arial"/>
                        </a:rPr>
                        <a:t>any</a:t>
                      </a:r>
                      <a:r>
                        <a:rPr sz="900" spc="-25" dirty="0">
                          <a:latin typeface="Arial"/>
                          <a:cs typeface="Arial"/>
                        </a:rPr>
                        <a:t> </a:t>
                      </a:r>
                      <a:r>
                        <a:rPr sz="900" spc="-20" dirty="0">
                          <a:latin typeface="Arial"/>
                          <a:cs typeface="Arial"/>
                        </a:rPr>
                        <a:t>harm)</a:t>
                      </a:r>
                      <a:endParaRPr sz="900">
                        <a:latin typeface="Arial"/>
                        <a:cs typeface="Arial"/>
                      </a:endParaRPr>
                    </a:p>
                  </a:txBody>
                  <a:tcPr marL="0" marR="0" marT="6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188595">
                <a:tc>
                  <a:txBody>
                    <a:bodyPr/>
                    <a:lstStyle/>
                    <a:p>
                      <a:pPr marL="78105">
                        <a:lnSpc>
                          <a:spcPct val="100000"/>
                        </a:lnSpc>
                        <a:spcBef>
                          <a:spcPts val="130"/>
                        </a:spcBef>
                      </a:pPr>
                      <a:r>
                        <a:rPr sz="900" spc="-20" dirty="0">
                          <a:solidFill>
                            <a:srgbClr val="C80000"/>
                          </a:solidFill>
                          <a:latin typeface="Arial"/>
                          <a:cs typeface="Arial"/>
                        </a:rPr>
                        <a:t>Fail-</a:t>
                      </a:r>
                      <a:r>
                        <a:rPr sz="900" spc="-10" dirty="0">
                          <a:solidFill>
                            <a:srgbClr val="C80000"/>
                          </a:solidFill>
                          <a:latin typeface="Arial"/>
                          <a:cs typeface="Arial"/>
                        </a:rPr>
                        <a:t>arbitrary</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130"/>
                        </a:spcBef>
                      </a:pPr>
                      <a:r>
                        <a:rPr sz="900" spc="-10" dirty="0">
                          <a:latin typeface="Arial"/>
                          <a:cs typeface="Arial"/>
                        </a:rPr>
                        <a:t>Arbitrary,</a:t>
                      </a:r>
                      <a:r>
                        <a:rPr sz="900" spc="-40" dirty="0">
                          <a:latin typeface="Arial"/>
                          <a:cs typeface="Arial"/>
                        </a:rPr>
                        <a:t> </a:t>
                      </a:r>
                      <a:r>
                        <a:rPr sz="900" dirty="0">
                          <a:latin typeface="Arial"/>
                          <a:cs typeface="Arial"/>
                        </a:rPr>
                        <a:t>with</a:t>
                      </a:r>
                      <a:r>
                        <a:rPr sz="900" spc="-25" dirty="0">
                          <a:latin typeface="Arial"/>
                          <a:cs typeface="Arial"/>
                        </a:rPr>
                        <a:t> </a:t>
                      </a:r>
                      <a:r>
                        <a:rPr sz="900" dirty="0">
                          <a:latin typeface="Arial"/>
                          <a:cs typeface="Arial"/>
                        </a:rPr>
                        <a:t>malicious</a:t>
                      </a:r>
                      <a:r>
                        <a:rPr sz="900" spc="-25" dirty="0">
                          <a:latin typeface="Arial"/>
                          <a:cs typeface="Arial"/>
                        </a:rPr>
                        <a:t> </a:t>
                      </a:r>
                      <a:r>
                        <a:rPr sz="900" spc="-10" dirty="0">
                          <a:latin typeface="Arial"/>
                          <a:cs typeface="Arial"/>
                        </a:rPr>
                        <a:t>failures</a:t>
                      </a:r>
                      <a:endParaRPr sz="900">
                        <a:latin typeface="Arial"/>
                        <a:cs typeface="Arial"/>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bl>
          </a:graphicData>
        </a:graphic>
      </p:graphicFrame>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43751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Failure</a:t>
            </a:r>
            <a:r>
              <a:rPr sz="500" spc="20" dirty="0">
                <a:latin typeface="Arial"/>
                <a:cs typeface="Arial"/>
                <a:hlinkClick r:id="rId3" action="ppaction://hlinksldjump"/>
              </a:rPr>
              <a:t> </a:t>
            </a:r>
            <a:r>
              <a:rPr sz="500" spc="-10" dirty="0">
                <a:latin typeface="Arial"/>
                <a:cs typeface="Arial"/>
                <a:hlinkClick r:id="rId3" action="ppaction://hlinksldjump"/>
              </a:rPr>
              <a:t>models</a:t>
            </a:r>
            <a:endParaRPr sz="500">
              <a:latin typeface="Arial"/>
              <a:cs typeface="Arial"/>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674745"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2" action="ppaction://hlinksldjump"/>
              </a:rPr>
              <a:t>Introduction</a:t>
            </a:r>
            <a:r>
              <a:rPr sz="500" spc="-25" dirty="0">
                <a:solidFill>
                  <a:srgbClr val="FFFFFF"/>
                </a:solidFill>
                <a:latin typeface="Arial"/>
                <a:cs typeface="Arial"/>
                <a:hlinkClick r:id="rId2" action="ppaction://hlinksldjump"/>
              </a:rPr>
              <a:t> </a:t>
            </a:r>
            <a:r>
              <a:rPr sz="500" dirty="0">
                <a:solidFill>
                  <a:srgbClr val="FFFFFF"/>
                </a:solidFill>
                <a:latin typeface="Arial"/>
                <a:cs typeface="Arial"/>
                <a:hlinkClick r:id="rId2" action="ppaction://hlinksldjump"/>
              </a:rPr>
              <a:t>to</a:t>
            </a:r>
            <a:r>
              <a:rPr sz="500" spc="-25" dirty="0">
                <a:solidFill>
                  <a:srgbClr val="FFFFFF"/>
                </a:solidFill>
                <a:latin typeface="Arial"/>
                <a:cs typeface="Arial"/>
                <a:hlinkClick r:id="rId2" action="ppaction://hlinksldjump"/>
              </a:rPr>
              <a:t> </a:t>
            </a:r>
            <a:r>
              <a:rPr sz="500" dirty="0">
                <a:solidFill>
                  <a:srgbClr val="FFFFFF"/>
                </a:solidFill>
                <a:latin typeface="Arial"/>
                <a:cs typeface="Arial"/>
                <a:hlinkClick r:id="rId2" action="ppaction://hlinksldjump"/>
              </a:rPr>
              <a:t>fault</a:t>
            </a:r>
            <a:r>
              <a:rPr sz="500" spc="-2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tolerance</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Redundancy</a:t>
            </a:r>
            <a:r>
              <a:rPr spc="-70" dirty="0"/>
              <a:t> </a:t>
            </a:r>
            <a:r>
              <a:rPr dirty="0"/>
              <a:t>for</a:t>
            </a:r>
            <a:r>
              <a:rPr spc="-70" dirty="0"/>
              <a:t> </a:t>
            </a:r>
            <a:r>
              <a:rPr dirty="0"/>
              <a:t>failure</a:t>
            </a:r>
            <a:r>
              <a:rPr spc="-70" dirty="0"/>
              <a:t> </a:t>
            </a:r>
            <a:r>
              <a:rPr spc="-10" dirty="0"/>
              <a:t>masking</a:t>
            </a:r>
          </a:p>
        </p:txBody>
      </p:sp>
      <p:sp>
        <p:nvSpPr>
          <p:cNvPr id="4" name="object 4"/>
          <p:cNvSpPr txBox="1"/>
          <p:nvPr/>
        </p:nvSpPr>
        <p:spPr>
          <a:xfrm>
            <a:off x="330682" y="514774"/>
            <a:ext cx="3942715" cy="1576705"/>
          </a:xfrm>
          <a:prstGeom prst="rect">
            <a:avLst/>
          </a:prstGeom>
        </p:spPr>
        <p:txBody>
          <a:bodyPr vert="horz" wrap="square" lIns="0" tIns="12065" rIns="0" bIns="0" rtlCol="0">
            <a:spAutoFit/>
          </a:bodyPr>
          <a:lstStyle/>
          <a:p>
            <a:pPr marL="25400" algn="just">
              <a:lnSpc>
                <a:spcPct val="100000"/>
              </a:lnSpc>
              <a:spcBef>
                <a:spcPts val="95"/>
              </a:spcBef>
            </a:pPr>
            <a:r>
              <a:rPr sz="1000" spc="-25" dirty="0">
                <a:solidFill>
                  <a:srgbClr val="3333B2"/>
                </a:solidFill>
                <a:latin typeface="Arial"/>
                <a:cs typeface="Arial"/>
              </a:rPr>
              <a:t>Types </a:t>
            </a:r>
            <a:r>
              <a:rPr sz="1000" dirty="0">
                <a:solidFill>
                  <a:srgbClr val="3333B2"/>
                </a:solidFill>
                <a:latin typeface="Arial"/>
                <a:cs typeface="Arial"/>
              </a:rPr>
              <a:t>of</a:t>
            </a:r>
            <a:r>
              <a:rPr sz="1000" spc="-20" dirty="0">
                <a:solidFill>
                  <a:srgbClr val="3333B2"/>
                </a:solidFill>
                <a:latin typeface="Arial"/>
                <a:cs typeface="Arial"/>
              </a:rPr>
              <a:t> </a:t>
            </a:r>
            <a:r>
              <a:rPr sz="1000" spc="-10" dirty="0">
                <a:solidFill>
                  <a:srgbClr val="3333B2"/>
                </a:solidFill>
                <a:latin typeface="Arial"/>
                <a:cs typeface="Arial"/>
              </a:rPr>
              <a:t>redundancy</a:t>
            </a:r>
            <a:endParaRPr sz="1000" dirty="0">
              <a:latin typeface="Arial"/>
              <a:cs typeface="Arial"/>
            </a:endParaRPr>
          </a:p>
          <a:p>
            <a:pPr marL="281940" marR="124460" indent="-120650" algn="just">
              <a:lnSpc>
                <a:spcPct val="111600"/>
              </a:lnSpc>
              <a:spcBef>
                <a:spcPts val="575"/>
              </a:spcBef>
              <a:buClr>
                <a:srgbClr val="3333B2"/>
              </a:buClr>
              <a:buFont typeface="Menlo"/>
              <a:buChar char="•"/>
              <a:tabLst>
                <a:tab pos="282575" algn="l"/>
              </a:tabLst>
            </a:pPr>
            <a:r>
              <a:rPr sz="900" dirty="0">
                <a:solidFill>
                  <a:srgbClr val="C80000"/>
                </a:solidFill>
                <a:latin typeface="Arial"/>
                <a:cs typeface="Arial"/>
              </a:rPr>
              <a:t>Information</a:t>
            </a:r>
            <a:r>
              <a:rPr sz="900" spc="-30" dirty="0">
                <a:solidFill>
                  <a:srgbClr val="C80000"/>
                </a:solidFill>
                <a:latin typeface="Arial"/>
                <a:cs typeface="Arial"/>
              </a:rPr>
              <a:t> </a:t>
            </a:r>
            <a:r>
              <a:rPr sz="900" dirty="0">
                <a:solidFill>
                  <a:srgbClr val="C80000"/>
                </a:solidFill>
                <a:latin typeface="Arial"/>
                <a:cs typeface="Arial"/>
              </a:rPr>
              <a:t>redundancy</a:t>
            </a:r>
            <a:r>
              <a:rPr sz="900" dirty="0">
                <a:latin typeface="Arial"/>
                <a:cs typeface="Arial"/>
              </a:rPr>
              <a:t>:</a:t>
            </a:r>
            <a:r>
              <a:rPr sz="900" spc="30" dirty="0">
                <a:latin typeface="Arial"/>
                <a:cs typeface="Arial"/>
              </a:rPr>
              <a:t> </a:t>
            </a:r>
            <a:r>
              <a:rPr sz="900" dirty="0">
                <a:latin typeface="Arial"/>
                <a:cs typeface="Arial"/>
              </a:rPr>
              <a:t>Add</a:t>
            </a:r>
            <a:r>
              <a:rPr sz="900" spc="-25" dirty="0">
                <a:latin typeface="Arial"/>
                <a:cs typeface="Arial"/>
              </a:rPr>
              <a:t> </a:t>
            </a:r>
            <a:r>
              <a:rPr sz="900" spc="-10" dirty="0">
                <a:latin typeface="Arial"/>
                <a:cs typeface="Arial"/>
              </a:rPr>
              <a:t>extra</a:t>
            </a:r>
            <a:r>
              <a:rPr sz="900" spc="-25" dirty="0">
                <a:latin typeface="Arial"/>
                <a:cs typeface="Arial"/>
              </a:rPr>
              <a:t> </a:t>
            </a:r>
            <a:r>
              <a:rPr sz="900" dirty="0">
                <a:latin typeface="Arial"/>
                <a:cs typeface="Arial"/>
              </a:rPr>
              <a:t>bits</a:t>
            </a:r>
            <a:r>
              <a:rPr sz="900" spc="-3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data</a:t>
            </a:r>
            <a:r>
              <a:rPr sz="900" spc="-25" dirty="0">
                <a:latin typeface="Arial"/>
                <a:cs typeface="Arial"/>
              </a:rPr>
              <a:t> </a:t>
            </a:r>
            <a:r>
              <a:rPr sz="900" dirty="0">
                <a:latin typeface="Arial"/>
                <a:cs typeface="Arial"/>
              </a:rPr>
              <a:t>units</a:t>
            </a:r>
            <a:r>
              <a:rPr sz="900" spc="-25" dirty="0">
                <a:latin typeface="Arial"/>
                <a:cs typeface="Arial"/>
              </a:rPr>
              <a:t> </a:t>
            </a:r>
            <a:r>
              <a:rPr sz="900" dirty="0">
                <a:latin typeface="Arial"/>
                <a:cs typeface="Arial"/>
              </a:rPr>
              <a:t>so</a:t>
            </a:r>
            <a:r>
              <a:rPr sz="900" spc="-25" dirty="0">
                <a:latin typeface="Arial"/>
                <a:cs typeface="Arial"/>
              </a:rPr>
              <a:t> </a:t>
            </a:r>
            <a:r>
              <a:rPr sz="900" dirty="0">
                <a:latin typeface="Arial"/>
                <a:cs typeface="Arial"/>
              </a:rPr>
              <a:t>that</a:t>
            </a:r>
            <a:r>
              <a:rPr sz="900" spc="-30" dirty="0">
                <a:latin typeface="Arial"/>
                <a:cs typeface="Arial"/>
              </a:rPr>
              <a:t> </a:t>
            </a:r>
            <a:r>
              <a:rPr sz="900" dirty="0">
                <a:latin typeface="Arial"/>
                <a:cs typeface="Arial"/>
              </a:rPr>
              <a:t>errors</a:t>
            </a:r>
            <a:r>
              <a:rPr sz="900" spc="-25" dirty="0">
                <a:latin typeface="Arial"/>
                <a:cs typeface="Arial"/>
              </a:rPr>
              <a:t> can </a:t>
            </a:r>
            <a:r>
              <a:rPr sz="900" spc="-10" dirty="0">
                <a:latin typeface="Arial"/>
                <a:cs typeface="Arial"/>
              </a:rPr>
              <a:t>recovered</a:t>
            </a:r>
            <a:r>
              <a:rPr sz="900" spc="-15" dirty="0">
                <a:latin typeface="Arial"/>
                <a:cs typeface="Arial"/>
              </a:rPr>
              <a:t> </a:t>
            </a:r>
            <a:r>
              <a:rPr sz="900" dirty="0">
                <a:latin typeface="Arial"/>
                <a:cs typeface="Arial"/>
              </a:rPr>
              <a:t>when</a:t>
            </a:r>
            <a:r>
              <a:rPr sz="900" spc="-15" dirty="0">
                <a:latin typeface="Arial"/>
                <a:cs typeface="Arial"/>
              </a:rPr>
              <a:t> </a:t>
            </a:r>
            <a:r>
              <a:rPr sz="900" dirty="0">
                <a:latin typeface="Arial"/>
                <a:cs typeface="Arial"/>
              </a:rPr>
              <a:t>bits</a:t>
            </a:r>
            <a:r>
              <a:rPr sz="900" spc="-15" dirty="0">
                <a:latin typeface="Arial"/>
                <a:cs typeface="Arial"/>
              </a:rPr>
              <a:t> </a:t>
            </a:r>
            <a:r>
              <a:rPr sz="900" dirty="0">
                <a:latin typeface="Arial"/>
                <a:cs typeface="Arial"/>
              </a:rPr>
              <a:t>are</a:t>
            </a:r>
            <a:r>
              <a:rPr sz="900" spc="-15" dirty="0">
                <a:latin typeface="Arial"/>
                <a:cs typeface="Arial"/>
              </a:rPr>
              <a:t> </a:t>
            </a:r>
            <a:r>
              <a:rPr sz="900" spc="-10" dirty="0">
                <a:latin typeface="Arial"/>
                <a:cs typeface="Arial"/>
              </a:rPr>
              <a:t>garbled.</a:t>
            </a:r>
            <a:r>
              <a:rPr lang="en-US" sz="900" spc="-10" dirty="0">
                <a:latin typeface="Arial"/>
                <a:cs typeface="Arial"/>
              </a:rPr>
              <a:t> i.e., Hamming codes with extra bits</a:t>
            </a:r>
            <a:endParaRPr sz="900" dirty="0">
              <a:latin typeface="Arial"/>
              <a:cs typeface="Arial"/>
            </a:endParaRPr>
          </a:p>
          <a:p>
            <a:pPr marL="281940" marR="17780" indent="-120650" algn="just">
              <a:lnSpc>
                <a:spcPct val="111600"/>
              </a:lnSpc>
              <a:spcBef>
                <a:spcPts val="400"/>
              </a:spcBef>
              <a:buClr>
                <a:srgbClr val="3333B2"/>
              </a:buClr>
              <a:buFont typeface="Menlo"/>
              <a:buChar char="•"/>
              <a:tabLst>
                <a:tab pos="282575" algn="l"/>
              </a:tabLst>
            </a:pPr>
            <a:r>
              <a:rPr sz="900" spc="-10" dirty="0">
                <a:solidFill>
                  <a:srgbClr val="C80000"/>
                </a:solidFill>
                <a:latin typeface="Arial"/>
                <a:cs typeface="Arial"/>
              </a:rPr>
              <a:t>Time</a:t>
            </a:r>
            <a:r>
              <a:rPr sz="900" spc="-40" dirty="0">
                <a:solidFill>
                  <a:srgbClr val="C80000"/>
                </a:solidFill>
                <a:latin typeface="Arial"/>
                <a:cs typeface="Arial"/>
              </a:rPr>
              <a:t> </a:t>
            </a:r>
            <a:r>
              <a:rPr sz="900" spc="-10" dirty="0">
                <a:solidFill>
                  <a:srgbClr val="C80000"/>
                </a:solidFill>
                <a:latin typeface="Arial"/>
                <a:cs typeface="Arial"/>
              </a:rPr>
              <a:t>redundancy</a:t>
            </a:r>
            <a:r>
              <a:rPr sz="900" spc="-10" dirty="0">
                <a:latin typeface="Arial"/>
                <a:cs typeface="Arial"/>
              </a:rPr>
              <a:t>:</a:t>
            </a:r>
            <a:r>
              <a:rPr sz="900" spc="20" dirty="0">
                <a:latin typeface="Arial"/>
                <a:cs typeface="Arial"/>
              </a:rPr>
              <a:t> </a:t>
            </a:r>
            <a:r>
              <a:rPr sz="900" spc="-10" dirty="0">
                <a:latin typeface="Arial"/>
                <a:cs typeface="Arial"/>
              </a:rPr>
              <a:t>Design</a:t>
            </a:r>
            <a:r>
              <a:rPr sz="900" spc="-35" dirty="0">
                <a:latin typeface="Arial"/>
                <a:cs typeface="Arial"/>
              </a:rPr>
              <a:t> </a:t>
            </a:r>
            <a:r>
              <a:rPr sz="900" dirty="0">
                <a:latin typeface="Arial"/>
                <a:cs typeface="Arial"/>
              </a:rPr>
              <a:t>a</a:t>
            </a:r>
            <a:r>
              <a:rPr sz="900" spc="-40" dirty="0">
                <a:latin typeface="Arial"/>
                <a:cs typeface="Arial"/>
              </a:rPr>
              <a:t> </a:t>
            </a:r>
            <a:r>
              <a:rPr sz="900" spc="-10" dirty="0">
                <a:latin typeface="Arial"/>
                <a:cs typeface="Arial"/>
              </a:rPr>
              <a:t>system</a:t>
            </a:r>
            <a:r>
              <a:rPr sz="900" spc="-35" dirty="0">
                <a:latin typeface="Arial"/>
                <a:cs typeface="Arial"/>
              </a:rPr>
              <a:t> </a:t>
            </a:r>
            <a:r>
              <a:rPr sz="900" dirty="0">
                <a:latin typeface="Arial"/>
                <a:cs typeface="Arial"/>
              </a:rPr>
              <a:t>such</a:t>
            </a:r>
            <a:r>
              <a:rPr sz="900" spc="-35" dirty="0">
                <a:latin typeface="Arial"/>
                <a:cs typeface="Arial"/>
              </a:rPr>
              <a:t> </a:t>
            </a:r>
            <a:r>
              <a:rPr sz="900" dirty="0">
                <a:latin typeface="Arial"/>
                <a:cs typeface="Arial"/>
              </a:rPr>
              <a:t>that</a:t>
            </a:r>
            <a:r>
              <a:rPr sz="900" spc="-35" dirty="0">
                <a:latin typeface="Arial"/>
                <a:cs typeface="Arial"/>
              </a:rPr>
              <a:t> </a:t>
            </a:r>
            <a:r>
              <a:rPr sz="900" dirty="0">
                <a:latin typeface="Arial"/>
                <a:cs typeface="Arial"/>
              </a:rPr>
              <a:t>an</a:t>
            </a:r>
            <a:r>
              <a:rPr sz="900" spc="-35" dirty="0">
                <a:latin typeface="Arial"/>
                <a:cs typeface="Arial"/>
              </a:rPr>
              <a:t> </a:t>
            </a:r>
            <a:r>
              <a:rPr sz="900" spc="-10" dirty="0">
                <a:latin typeface="Arial"/>
                <a:cs typeface="Arial"/>
              </a:rPr>
              <a:t>action</a:t>
            </a:r>
            <a:r>
              <a:rPr sz="900" spc="-35" dirty="0">
                <a:latin typeface="Arial"/>
                <a:cs typeface="Arial"/>
              </a:rPr>
              <a:t> </a:t>
            </a:r>
            <a:r>
              <a:rPr sz="900" dirty="0">
                <a:latin typeface="Arial"/>
                <a:cs typeface="Arial"/>
              </a:rPr>
              <a:t>can</a:t>
            </a:r>
            <a:r>
              <a:rPr sz="900" spc="-40" dirty="0">
                <a:latin typeface="Arial"/>
                <a:cs typeface="Arial"/>
              </a:rPr>
              <a:t> </a:t>
            </a:r>
            <a:r>
              <a:rPr sz="900" dirty="0">
                <a:latin typeface="Arial"/>
                <a:cs typeface="Arial"/>
              </a:rPr>
              <a:t>be</a:t>
            </a:r>
            <a:r>
              <a:rPr sz="900" spc="-35" dirty="0">
                <a:latin typeface="Arial"/>
                <a:cs typeface="Arial"/>
              </a:rPr>
              <a:t> </a:t>
            </a:r>
            <a:r>
              <a:rPr sz="900" spc="-10" dirty="0">
                <a:latin typeface="Arial"/>
                <a:cs typeface="Arial"/>
              </a:rPr>
              <a:t>performed </a:t>
            </a:r>
            <a:r>
              <a:rPr sz="900" dirty="0">
                <a:latin typeface="Arial"/>
                <a:cs typeface="Arial"/>
              </a:rPr>
              <a:t>again</a:t>
            </a:r>
            <a:r>
              <a:rPr sz="900" spc="-30" dirty="0">
                <a:latin typeface="Arial"/>
                <a:cs typeface="Arial"/>
              </a:rPr>
              <a:t> </a:t>
            </a:r>
            <a:r>
              <a:rPr sz="900" dirty="0">
                <a:latin typeface="Arial"/>
                <a:cs typeface="Arial"/>
              </a:rPr>
              <a:t>if</a:t>
            </a:r>
            <a:r>
              <a:rPr sz="900" spc="-25" dirty="0">
                <a:latin typeface="Arial"/>
                <a:cs typeface="Arial"/>
              </a:rPr>
              <a:t> </a:t>
            </a:r>
            <a:r>
              <a:rPr sz="900" dirty="0">
                <a:latin typeface="Arial"/>
                <a:cs typeface="Arial"/>
              </a:rPr>
              <a:t>anything</a:t>
            </a:r>
            <a:r>
              <a:rPr sz="900" spc="-30" dirty="0">
                <a:latin typeface="Arial"/>
                <a:cs typeface="Arial"/>
              </a:rPr>
              <a:t> </a:t>
            </a:r>
            <a:r>
              <a:rPr sz="900" dirty="0">
                <a:latin typeface="Arial"/>
                <a:cs typeface="Arial"/>
              </a:rPr>
              <a:t>went</a:t>
            </a:r>
            <a:r>
              <a:rPr sz="900" spc="-25" dirty="0">
                <a:latin typeface="Arial"/>
                <a:cs typeface="Arial"/>
              </a:rPr>
              <a:t> </a:t>
            </a:r>
            <a:r>
              <a:rPr sz="900" dirty="0">
                <a:latin typeface="Arial"/>
                <a:cs typeface="Arial"/>
              </a:rPr>
              <a:t>wrong.</a:t>
            </a:r>
            <a:r>
              <a:rPr sz="900" spc="30" dirty="0">
                <a:latin typeface="Arial"/>
                <a:cs typeface="Arial"/>
              </a:rPr>
              <a:t> </a:t>
            </a:r>
            <a:r>
              <a:rPr sz="900" spc="-20" dirty="0">
                <a:latin typeface="Arial"/>
                <a:cs typeface="Arial"/>
              </a:rPr>
              <a:t>Typically</a:t>
            </a:r>
            <a:r>
              <a:rPr sz="900" spc="-30" dirty="0">
                <a:latin typeface="Arial"/>
                <a:cs typeface="Arial"/>
              </a:rPr>
              <a:t> </a:t>
            </a:r>
            <a:r>
              <a:rPr sz="900" dirty="0">
                <a:latin typeface="Arial"/>
                <a:cs typeface="Arial"/>
              </a:rPr>
              <a:t>used</a:t>
            </a:r>
            <a:r>
              <a:rPr sz="900" spc="-25" dirty="0">
                <a:latin typeface="Arial"/>
                <a:cs typeface="Arial"/>
              </a:rPr>
              <a:t> </a:t>
            </a:r>
            <a:r>
              <a:rPr sz="900" dirty="0">
                <a:latin typeface="Arial"/>
                <a:cs typeface="Arial"/>
              </a:rPr>
              <a:t>when</a:t>
            </a:r>
            <a:r>
              <a:rPr sz="900" spc="-30" dirty="0">
                <a:latin typeface="Arial"/>
                <a:cs typeface="Arial"/>
              </a:rPr>
              <a:t> </a:t>
            </a:r>
            <a:r>
              <a:rPr sz="900" dirty="0">
                <a:latin typeface="Arial"/>
                <a:cs typeface="Arial"/>
              </a:rPr>
              <a:t>faults</a:t>
            </a:r>
            <a:r>
              <a:rPr sz="900" spc="-25" dirty="0">
                <a:latin typeface="Arial"/>
                <a:cs typeface="Arial"/>
              </a:rPr>
              <a:t> </a:t>
            </a:r>
            <a:r>
              <a:rPr sz="900" dirty="0">
                <a:latin typeface="Arial"/>
                <a:cs typeface="Arial"/>
              </a:rPr>
              <a:t>are</a:t>
            </a:r>
            <a:r>
              <a:rPr sz="900" spc="-25" dirty="0">
                <a:latin typeface="Arial"/>
                <a:cs typeface="Arial"/>
              </a:rPr>
              <a:t> </a:t>
            </a:r>
            <a:r>
              <a:rPr sz="900" dirty="0">
                <a:latin typeface="Arial"/>
                <a:cs typeface="Arial"/>
              </a:rPr>
              <a:t>transient</a:t>
            </a:r>
            <a:r>
              <a:rPr sz="900" spc="-30" dirty="0">
                <a:latin typeface="Arial"/>
                <a:cs typeface="Arial"/>
              </a:rPr>
              <a:t> </a:t>
            </a:r>
            <a:r>
              <a:rPr sz="900" spc="-25" dirty="0">
                <a:latin typeface="Arial"/>
                <a:cs typeface="Arial"/>
              </a:rPr>
              <a:t>or </a:t>
            </a:r>
            <a:r>
              <a:rPr sz="900" spc="-10" dirty="0">
                <a:latin typeface="Arial"/>
                <a:cs typeface="Arial"/>
              </a:rPr>
              <a:t>intermittent.</a:t>
            </a:r>
            <a:r>
              <a:rPr lang="en-US" sz="900" spc="-10" dirty="0">
                <a:latin typeface="Arial"/>
                <a:cs typeface="Arial"/>
              </a:rPr>
              <a:t> i.e. Transactions abort in databases</a:t>
            </a:r>
            <a:endParaRPr sz="900" dirty="0">
              <a:latin typeface="Arial"/>
              <a:cs typeface="Arial"/>
            </a:endParaRPr>
          </a:p>
          <a:p>
            <a:pPr marL="281940" marR="42545" indent="-120650" algn="just">
              <a:lnSpc>
                <a:spcPct val="111600"/>
              </a:lnSpc>
              <a:spcBef>
                <a:spcPts val="395"/>
              </a:spcBef>
              <a:buClr>
                <a:srgbClr val="3333B2"/>
              </a:buClr>
              <a:buFont typeface="Menlo"/>
              <a:buChar char="•"/>
              <a:tabLst>
                <a:tab pos="282575" algn="l"/>
              </a:tabLst>
            </a:pPr>
            <a:r>
              <a:rPr sz="900" spc="-10" dirty="0">
                <a:solidFill>
                  <a:srgbClr val="C80000"/>
                </a:solidFill>
                <a:latin typeface="Arial"/>
                <a:cs typeface="Arial"/>
              </a:rPr>
              <a:t>Physical</a:t>
            </a:r>
            <a:r>
              <a:rPr sz="900" spc="-30" dirty="0">
                <a:solidFill>
                  <a:srgbClr val="C80000"/>
                </a:solidFill>
                <a:latin typeface="Arial"/>
                <a:cs typeface="Arial"/>
              </a:rPr>
              <a:t> </a:t>
            </a:r>
            <a:r>
              <a:rPr sz="900" dirty="0">
                <a:solidFill>
                  <a:srgbClr val="C80000"/>
                </a:solidFill>
                <a:latin typeface="Arial"/>
                <a:cs typeface="Arial"/>
              </a:rPr>
              <a:t>redundancy</a:t>
            </a:r>
            <a:r>
              <a:rPr sz="900" dirty="0">
                <a:latin typeface="Arial"/>
                <a:cs typeface="Arial"/>
              </a:rPr>
              <a:t>:</a:t>
            </a:r>
            <a:r>
              <a:rPr sz="900" spc="30" dirty="0">
                <a:latin typeface="Arial"/>
                <a:cs typeface="Arial"/>
              </a:rPr>
              <a:t> </a:t>
            </a:r>
            <a:r>
              <a:rPr sz="900" dirty="0">
                <a:latin typeface="Arial"/>
                <a:cs typeface="Arial"/>
              </a:rPr>
              <a:t>add</a:t>
            </a:r>
            <a:r>
              <a:rPr sz="900" spc="-25" dirty="0">
                <a:latin typeface="Arial"/>
                <a:cs typeface="Arial"/>
              </a:rPr>
              <a:t> </a:t>
            </a:r>
            <a:r>
              <a:rPr sz="900" dirty="0">
                <a:latin typeface="Arial"/>
                <a:cs typeface="Arial"/>
              </a:rPr>
              <a:t>equipment</a:t>
            </a:r>
            <a:r>
              <a:rPr sz="900" spc="-25" dirty="0">
                <a:latin typeface="Arial"/>
                <a:cs typeface="Arial"/>
              </a:rPr>
              <a:t> </a:t>
            </a:r>
            <a:r>
              <a:rPr sz="900" dirty="0">
                <a:latin typeface="Arial"/>
                <a:cs typeface="Arial"/>
              </a:rPr>
              <a:t>or</a:t>
            </a:r>
            <a:r>
              <a:rPr sz="900" spc="-25" dirty="0">
                <a:latin typeface="Arial"/>
                <a:cs typeface="Arial"/>
              </a:rPr>
              <a:t> </a:t>
            </a:r>
            <a:r>
              <a:rPr sz="900" dirty="0">
                <a:latin typeface="Arial"/>
                <a:cs typeface="Arial"/>
              </a:rPr>
              <a:t>processes</a:t>
            </a:r>
            <a:r>
              <a:rPr sz="900" spc="-25" dirty="0">
                <a:latin typeface="Arial"/>
                <a:cs typeface="Arial"/>
              </a:rPr>
              <a:t> </a:t>
            </a:r>
            <a:r>
              <a:rPr lang="en-US" sz="900" dirty="0">
                <a:latin typeface="Arial"/>
                <a:cs typeface="Arial"/>
              </a:rPr>
              <a:t>i.e.,</a:t>
            </a:r>
            <a:r>
              <a:rPr sz="900" spc="-25" dirty="0">
                <a:latin typeface="Arial"/>
                <a:cs typeface="Arial"/>
              </a:rPr>
              <a:t> </a:t>
            </a:r>
            <a:r>
              <a:rPr sz="900" dirty="0">
                <a:latin typeface="Arial"/>
                <a:cs typeface="Arial"/>
              </a:rPr>
              <a:t>allow</a:t>
            </a:r>
            <a:r>
              <a:rPr sz="900" spc="-30" dirty="0">
                <a:latin typeface="Arial"/>
                <a:cs typeface="Arial"/>
              </a:rPr>
              <a:t> </a:t>
            </a:r>
            <a:r>
              <a:rPr sz="900" spc="-25" dirty="0">
                <a:latin typeface="Arial"/>
                <a:cs typeface="Arial"/>
              </a:rPr>
              <a:t>one </a:t>
            </a:r>
            <a:r>
              <a:rPr sz="900" dirty="0">
                <a:latin typeface="Arial"/>
                <a:cs typeface="Arial"/>
              </a:rPr>
              <a:t>or</a:t>
            </a:r>
            <a:r>
              <a:rPr sz="900" spc="-25" dirty="0">
                <a:latin typeface="Arial"/>
                <a:cs typeface="Arial"/>
              </a:rPr>
              <a:t> </a:t>
            </a:r>
            <a:r>
              <a:rPr sz="900" dirty="0">
                <a:latin typeface="Arial"/>
                <a:cs typeface="Arial"/>
              </a:rPr>
              <a:t>more</a:t>
            </a:r>
            <a:r>
              <a:rPr sz="900" spc="-20" dirty="0">
                <a:latin typeface="Arial"/>
                <a:cs typeface="Arial"/>
              </a:rPr>
              <a:t> </a:t>
            </a:r>
            <a:r>
              <a:rPr sz="900" dirty="0">
                <a:latin typeface="Arial"/>
                <a:cs typeface="Arial"/>
              </a:rPr>
              <a:t>components</a:t>
            </a:r>
            <a:r>
              <a:rPr sz="900" spc="-2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fail.</a:t>
            </a:r>
            <a:r>
              <a:rPr sz="900" spc="35" dirty="0">
                <a:latin typeface="Arial"/>
                <a:cs typeface="Arial"/>
              </a:rPr>
              <a:t> </a:t>
            </a:r>
            <a:r>
              <a:rPr sz="900" dirty="0">
                <a:latin typeface="Arial"/>
                <a:cs typeface="Arial"/>
              </a:rPr>
              <a:t>This</a:t>
            </a:r>
            <a:r>
              <a:rPr sz="900" spc="-20" dirty="0">
                <a:latin typeface="Arial"/>
                <a:cs typeface="Arial"/>
              </a:rPr>
              <a:t> </a:t>
            </a:r>
            <a:r>
              <a:rPr sz="900" dirty="0">
                <a:latin typeface="Arial"/>
                <a:cs typeface="Arial"/>
              </a:rPr>
              <a:t>type</a:t>
            </a:r>
            <a:r>
              <a:rPr sz="900" spc="-20" dirty="0">
                <a:latin typeface="Arial"/>
                <a:cs typeface="Arial"/>
              </a:rPr>
              <a:t> </a:t>
            </a:r>
            <a:r>
              <a:rPr sz="900" dirty="0">
                <a:latin typeface="Arial"/>
                <a:cs typeface="Arial"/>
              </a:rPr>
              <a:t>is</a:t>
            </a:r>
            <a:r>
              <a:rPr sz="900" spc="-25" dirty="0">
                <a:latin typeface="Arial"/>
                <a:cs typeface="Arial"/>
              </a:rPr>
              <a:t> </a:t>
            </a:r>
            <a:r>
              <a:rPr sz="900" spc="-10" dirty="0">
                <a:latin typeface="Arial"/>
                <a:cs typeface="Arial"/>
              </a:rPr>
              <a:t>extensively</a:t>
            </a:r>
            <a:r>
              <a:rPr sz="900" spc="-20" dirty="0">
                <a:latin typeface="Arial"/>
                <a:cs typeface="Arial"/>
              </a:rPr>
              <a:t> </a:t>
            </a:r>
            <a:r>
              <a:rPr sz="900" dirty="0">
                <a:latin typeface="Arial"/>
                <a:cs typeface="Arial"/>
              </a:rPr>
              <a:t>used</a:t>
            </a:r>
            <a:r>
              <a:rPr sz="900" spc="-20" dirty="0">
                <a:latin typeface="Arial"/>
                <a:cs typeface="Arial"/>
              </a:rPr>
              <a:t> </a:t>
            </a:r>
            <a:r>
              <a:rPr sz="900" dirty="0">
                <a:latin typeface="Arial"/>
                <a:cs typeface="Arial"/>
              </a:rPr>
              <a:t>in</a:t>
            </a:r>
            <a:r>
              <a:rPr sz="900" spc="-25" dirty="0">
                <a:latin typeface="Arial"/>
                <a:cs typeface="Arial"/>
              </a:rPr>
              <a:t> </a:t>
            </a:r>
            <a:r>
              <a:rPr sz="900" spc="-10" dirty="0">
                <a:latin typeface="Arial"/>
                <a:cs typeface="Arial"/>
              </a:rPr>
              <a:t>distributed systems.</a:t>
            </a:r>
            <a:r>
              <a:rPr lang="en-US" sz="900" spc="-10" dirty="0">
                <a:latin typeface="Arial"/>
                <a:cs typeface="Arial"/>
              </a:rPr>
              <a:t> i.e., Process replication to use service via some other one</a:t>
            </a:r>
            <a:endParaRPr sz="900" dirty="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90043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Failure </a:t>
            </a:r>
            <a:r>
              <a:rPr sz="500" dirty="0">
                <a:latin typeface="Arial"/>
                <a:cs typeface="Arial"/>
                <a:hlinkClick r:id="rId3" action="ppaction://hlinksldjump"/>
              </a:rPr>
              <a:t>masking</a:t>
            </a:r>
            <a:r>
              <a:rPr sz="500" spc="-5" dirty="0">
                <a:latin typeface="Arial"/>
                <a:cs typeface="Arial"/>
                <a:hlinkClick r:id="rId3" action="ppaction://hlinksldjump"/>
              </a:rPr>
              <a:t> </a:t>
            </a:r>
            <a:r>
              <a:rPr sz="500" dirty="0">
                <a:latin typeface="Arial"/>
                <a:cs typeface="Arial"/>
                <a:hlinkClick r:id="rId3" action="ppaction://hlinksldjump"/>
              </a:rPr>
              <a:t>by</a:t>
            </a:r>
            <a:r>
              <a:rPr sz="500" spc="-5" dirty="0">
                <a:latin typeface="Arial"/>
                <a:cs typeface="Arial"/>
                <a:hlinkClick r:id="rId3" action="ppaction://hlinksldjump"/>
              </a:rPr>
              <a:t> </a:t>
            </a:r>
            <a:r>
              <a:rPr sz="500" spc="-10" dirty="0">
                <a:latin typeface="Arial"/>
                <a:cs typeface="Arial"/>
                <a:hlinkClick r:id="rId3" action="ppaction://hlinksldjump"/>
              </a:rPr>
              <a:t>redundancy</a:t>
            </a:r>
            <a:endParaRPr sz="500">
              <a:latin typeface="Arial"/>
              <a:cs typeface="Arial"/>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ACB1A-EC16-D34D-4368-6935E7C655C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AB6BBC3-929D-7197-83B4-D1BE979C0456}"/>
              </a:ext>
            </a:extLst>
          </p:cNvPr>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674745"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2" action="ppaction://hlinksldjump"/>
              </a:rPr>
              <a:t>Introduction</a:t>
            </a:r>
            <a:r>
              <a:rPr sz="500" spc="-25" dirty="0">
                <a:solidFill>
                  <a:srgbClr val="FFFFFF"/>
                </a:solidFill>
                <a:latin typeface="Arial"/>
                <a:cs typeface="Arial"/>
                <a:hlinkClick r:id="rId2" action="ppaction://hlinksldjump"/>
              </a:rPr>
              <a:t> </a:t>
            </a:r>
            <a:r>
              <a:rPr sz="500" dirty="0">
                <a:solidFill>
                  <a:srgbClr val="FFFFFF"/>
                </a:solidFill>
                <a:latin typeface="Arial"/>
                <a:cs typeface="Arial"/>
                <a:hlinkClick r:id="rId2" action="ppaction://hlinksldjump"/>
              </a:rPr>
              <a:t>to</a:t>
            </a:r>
            <a:r>
              <a:rPr sz="500" spc="-25" dirty="0">
                <a:solidFill>
                  <a:srgbClr val="FFFFFF"/>
                </a:solidFill>
                <a:latin typeface="Arial"/>
                <a:cs typeface="Arial"/>
                <a:hlinkClick r:id="rId2" action="ppaction://hlinksldjump"/>
              </a:rPr>
              <a:t> </a:t>
            </a:r>
            <a:r>
              <a:rPr sz="500" dirty="0">
                <a:solidFill>
                  <a:srgbClr val="FFFFFF"/>
                </a:solidFill>
                <a:latin typeface="Arial"/>
                <a:cs typeface="Arial"/>
                <a:hlinkClick r:id="rId2" action="ppaction://hlinksldjump"/>
              </a:rPr>
              <a:t>fault</a:t>
            </a:r>
            <a:r>
              <a:rPr sz="500" spc="-2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tolerance</a:t>
            </a:r>
            <a:endParaRPr sz="500">
              <a:latin typeface="Arial"/>
              <a:cs typeface="Arial"/>
            </a:endParaRPr>
          </a:p>
        </p:txBody>
      </p:sp>
      <p:sp>
        <p:nvSpPr>
          <p:cNvPr id="3" name="object 3">
            <a:extLst>
              <a:ext uri="{FF2B5EF4-FFF2-40B4-BE49-F238E27FC236}">
                <a16:creationId xmlns:a16="http://schemas.microsoft.com/office/drawing/2014/main" id="{56774D5E-21B7-8591-FF91-E38FEF813DAA}"/>
              </a:ext>
            </a:extLst>
          </p:cNvPr>
          <p:cNvSpPr txBox="1">
            <a:spLocks noGrp="1"/>
          </p:cNvSpPr>
          <p:nvPr>
            <p:ph type="title"/>
          </p:nvPr>
        </p:nvSpPr>
        <p:spPr>
          <a:xfrm>
            <a:off x="82600" y="197711"/>
            <a:ext cx="3009265" cy="196849"/>
          </a:xfrm>
          <a:prstGeom prst="rect">
            <a:avLst/>
          </a:prstGeom>
        </p:spPr>
        <p:txBody>
          <a:bodyPr vert="horz" wrap="square" lIns="0" tIns="12065" rIns="0" bIns="0" rtlCol="0">
            <a:spAutoFit/>
          </a:bodyPr>
          <a:lstStyle/>
          <a:p>
            <a:pPr marL="25400">
              <a:lnSpc>
                <a:spcPct val="100000"/>
              </a:lnSpc>
              <a:spcBef>
                <a:spcPts val="95"/>
              </a:spcBef>
            </a:pPr>
            <a:r>
              <a:rPr lang="en-US" dirty="0"/>
              <a:t>Triple Modular Redundancy (TMR)</a:t>
            </a:r>
            <a:endParaRPr spc="-10" dirty="0"/>
          </a:p>
        </p:txBody>
      </p:sp>
      <p:sp>
        <p:nvSpPr>
          <p:cNvPr id="4" name="object 4">
            <a:extLst>
              <a:ext uri="{FF2B5EF4-FFF2-40B4-BE49-F238E27FC236}">
                <a16:creationId xmlns:a16="http://schemas.microsoft.com/office/drawing/2014/main" id="{C170B0D2-BB70-46C8-0944-B8B48AB0BD67}"/>
              </a:ext>
            </a:extLst>
          </p:cNvPr>
          <p:cNvSpPr txBox="1"/>
          <p:nvPr/>
        </p:nvSpPr>
        <p:spPr>
          <a:xfrm>
            <a:off x="330682" y="514774"/>
            <a:ext cx="3942715" cy="704680"/>
          </a:xfrm>
          <a:prstGeom prst="rect">
            <a:avLst/>
          </a:prstGeom>
        </p:spPr>
        <p:txBody>
          <a:bodyPr vert="horz" wrap="square" lIns="0" tIns="12065" rIns="0" bIns="0" rtlCol="0">
            <a:spAutoFit/>
          </a:bodyPr>
          <a:lstStyle/>
          <a:p>
            <a:pPr marL="25400" algn="just">
              <a:lnSpc>
                <a:spcPct val="100000"/>
              </a:lnSpc>
              <a:spcBef>
                <a:spcPts val="95"/>
              </a:spcBef>
            </a:pPr>
            <a:r>
              <a:rPr lang="en-US" sz="900" dirty="0">
                <a:latin typeface="Arial"/>
                <a:cs typeface="Arial"/>
              </a:rPr>
              <a:t>Redundancy is also applied in design of digital electronics. In the figure(a), A circuit consist of three different components but fail in will result in entire circuit failure. Now consider the figure(b), a stage of triplicated voter is added, and voter is also redundant because they can be faulty as well. Now if B3 and C1 fails, it will still return accurate result.</a:t>
            </a:r>
            <a:endParaRPr sz="900" dirty="0">
              <a:latin typeface="Arial"/>
              <a:cs typeface="Arial"/>
            </a:endParaRPr>
          </a:p>
        </p:txBody>
      </p:sp>
      <p:grpSp>
        <p:nvGrpSpPr>
          <p:cNvPr id="5" name="object 5">
            <a:extLst>
              <a:ext uri="{FF2B5EF4-FFF2-40B4-BE49-F238E27FC236}">
                <a16:creationId xmlns:a16="http://schemas.microsoft.com/office/drawing/2014/main" id="{00F8B8A2-3958-0306-FF07-ADD0E62CA7D2}"/>
              </a:ext>
            </a:extLst>
          </p:cNvPr>
          <p:cNvGrpSpPr/>
          <p:nvPr/>
        </p:nvGrpSpPr>
        <p:grpSpPr>
          <a:xfrm>
            <a:off x="0" y="3348469"/>
            <a:ext cx="4608195" cy="107950"/>
            <a:chOff x="0" y="3348469"/>
            <a:chExt cx="4608195" cy="107950"/>
          </a:xfrm>
        </p:grpSpPr>
        <p:sp>
          <p:nvSpPr>
            <p:cNvPr id="6" name="object 6">
              <a:extLst>
                <a:ext uri="{FF2B5EF4-FFF2-40B4-BE49-F238E27FC236}">
                  <a16:creationId xmlns:a16="http://schemas.microsoft.com/office/drawing/2014/main" id="{C0A43009-9F1B-7C86-B6B4-96838F952475}"/>
                </a:ext>
              </a:extLst>
            </p:cNvPr>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a:extLst>
                <a:ext uri="{FF2B5EF4-FFF2-40B4-BE49-F238E27FC236}">
                  <a16:creationId xmlns:a16="http://schemas.microsoft.com/office/drawing/2014/main" id="{7C27BA70-8B31-A2F7-2442-444E1B762470}"/>
                </a:ext>
              </a:extLst>
            </p:cNvPr>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a:extLst>
              <a:ext uri="{FF2B5EF4-FFF2-40B4-BE49-F238E27FC236}">
                <a16:creationId xmlns:a16="http://schemas.microsoft.com/office/drawing/2014/main" id="{95844F83-2C4D-B112-85F8-1C70FAF16145}"/>
              </a:ext>
            </a:extLst>
          </p:cNvPr>
          <p:cNvSpPr txBox="1"/>
          <p:nvPr/>
        </p:nvSpPr>
        <p:spPr>
          <a:xfrm>
            <a:off x="53467" y="3349927"/>
            <a:ext cx="90043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Failure </a:t>
            </a:r>
            <a:r>
              <a:rPr sz="500" dirty="0">
                <a:latin typeface="Arial"/>
                <a:cs typeface="Arial"/>
                <a:hlinkClick r:id="rId3" action="ppaction://hlinksldjump"/>
              </a:rPr>
              <a:t>masking</a:t>
            </a:r>
            <a:r>
              <a:rPr sz="500" spc="-5" dirty="0">
                <a:latin typeface="Arial"/>
                <a:cs typeface="Arial"/>
                <a:hlinkClick r:id="rId3" action="ppaction://hlinksldjump"/>
              </a:rPr>
              <a:t> </a:t>
            </a:r>
            <a:r>
              <a:rPr sz="500" dirty="0">
                <a:latin typeface="Arial"/>
                <a:cs typeface="Arial"/>
                <a:hlinkClick r:id="rId3" action="ppaction://hlinksldjump"/>
              </a:rPr>
              <a:t>by</a:t>
            </a:r>
            <a:r>
              <a:rPr sz="500" spc="-5" dirty="0">
                <a:latin typeface="Arial"/>
                <a:cs typeface="Arial"/>
                <a:hlinkClick r:id="rId3" action="ppaction://hlinksldjump"/>
              </a:rPr>
              <a:t> </a:t>
            </a:r>
            <a:r>
              <a:rPr sz="500" spc="-10" dirty="0">
                <a:latin typeface="Arial"/>
                <a:cs typeface="Arial"/>
                <a:hlinkClick r:id="rId3" action="ppaction://hlinksldjump"/>
              </a:rPr>
              <a:t>redundancy</a:t>
            </a:r>
            <a:endParaRPr sz="500">
              <a:latin typeface="Arial"/>
              <a:cs typeface="Arial"/>
            </a:endParaRPr>
          </a:p>
        </p:txBody>
      </p:sp>
      <p:pic>
        <p:nvPicPr>
          <p:cNvPr id="12" name="Picture 11">
            <a:extLst>
              <a:ext uri="{FF2B5EF4-FFF2-40B4-BE49-F238E27FC236}">
                <a16:creationId xmlns:a16="http://schemas.microsoft.com/office/drawing/2014/main" id="{87B84A58-5131-59C7-223B-67FF12331823}"/>
              </a:ext>
            </a:extLst>
          </p:cNvPr>
          <p:cNvPicPr>
            <a:picLocks noChangeAspect="1"/>
          </p:cNvPicPr>
          <p:nvPr/>
        </p:nvPicPr>
        <p:blipFill>
          <a:blip r:embed="rId4"/>
          <a:stretch>
            <a:fillRect/>
          </a:stretch>
        </p:blipFill>
        <p:spPr>
          <a:xfrm>
            <a:off x="797406" y="1447006"/>
            <a:ext cx="3009265" cy="1606988"/>
          </a:xfrm>
          <a:prstGeom prst="rect">
            <a:avLst/>
          </a:prstGeom>
        </p:spPr>
      </p:pic>
    </p:spTree>
    <p:extLst>
      <p:ext uri="{BB962C8B-B14F-4D97-AF65-F5344CB8AC3E}">
        <p14:creationId xmlns:p14="http://schemas.microsoft.com/office/powerpoint/2010/main" val="180934423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74465" algn="l"/>
              </a:tabLst>
            </a:pPr>
            <a:r>
              <a:rPr sz="500" spc="-10" dirty="0">
                <a:latin typeface="Arial"/>
                <a:cs typeface="Arial"/>
                <a:hlinkClick r:id="rId3" action="ppaction://hlinksldjump"/>
              </a:rPr>
              <a:t>Fault</a:t>
            </a:r>
            <a:r>
              <a:rPr sz="500" spc="5" dirty="0">
                <a:latin typeface="Arial"/>
                <a:cs typeface="Arial"/>
                <a:hlinkClick r:id="rId3" action="ppaction://hlinksldjump"/>
              </a:rPr>
              <a:t> </a:t>
            </a:r>
            <a:r>
              <a:rPr sz="500" spc="-10" dirty="0">
                <a:latin typeface="Arial"/>
                <a:cs typeface="Arial"/>
                <a:hlinkClick r:id="rId3" action="ppaction://hlinksldjump"/>
              </a:rPr>
              <a:t>tolerance</a:t>
            </a:r>
            <a:r>
              <a:rPr sz="500" dirty="0">
                <a:latin typeface="Arial"/>
                <a:cs typeface="Arial"/>
              </a:rPr>
              <a:t>	</a:t>
            </a:r>
            <a:r>
              <a:rPr sz="500" dirty="0">
                <a:solidFill>
                  <a:srgbClr val="FFFFFF"/>
                </a:solidFill>
                <a:latin typeface="Arial"/>
                <a:cs typeface="Arial"/>
                <a:hlinkClick r:id="rId4" action="ppaction://hlinksldjump"/>
              </a:rPr>
              <a:t>Process</a:t>
            </a:r>
            <a:r>
              <a:rPr sz="500" spc="-25" dirty="0">
                <a:solidFill>
                  <a:srgbClr val="FFFFFF"/>
                </a:solidFill>
                <a:latin typeface="Arial"/>
                <a:cs typeface="Arial"/>
                <a:hlinkClick r:id="rId4" action="ppaction://hlinksldjump"/>
              </a:rPr>
              <a:t> </a:t>
            </a:r>
            <a:r>
              <a:rPr sz="500" spc="-10" dirty="0">
                <a:solidFill>
                  <a:srgbClr val="FFFFFF"/>
                </a:solidFill>
                <a:latin typeface="Arial"/>
                <a:cs typeface="Arial"/>
                <a:hlinkClick r:id="rId4" action="ppaction://hlinksldjump"/>
              </a:rPr>
              <a:t>resilience</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Process</a:t>
            </a:r>
            <a:r>
              <a:rPr spc="-50" dirty="0"/>
              <a:t> </a:t>
            </a:r>
            <a:r>
              <a:rPr spc="-10" dirty="0"/>
              <a:t>resilience</a:t>
            </a:r>
          </a:p>
        </p:txBody>
      </p:sp>
      <p:sp>
        <p:nvSpPr>
          <p:cNvPr id="4" name="object 4"/>
          <p:cNvSpPr txBox="1"/>
          <p:nvPr/>
        </p:nvSpPr>
        <p:spPr>
          <a:xfrm>
            <a:off x="347294" y="499476"/>
            <a:ext cx="3858895" cy="649605"/>
          </a:xfrm>
          <a:prstGeom prst="rect">
            <a:avLst/>
          </a:prstGeom>
        </p:spPr>
        <p:txBody>
          <a:bodyPr vert="horz" wrap="square" lIns="0" tIns="27305" rIns="0" bIns="0" rtlCol="0">
            <a:spAutoFit/>
          </a:bodyPr>
          <a:lstStyle/>
          <a:p>
            <a:pPr marL="12700">
              <a:lnSpc>
                <a:spcPct val="100000"/>
              </a:lnSpc>
              <a:spcBef>
                <a:spcPts val="215"/>
              </a:spcBef>
            </a:pPr>
            <a:r>
              <a:rPr sz="1000" dirty="0">
                <a:solidFill>
                  <a:srgbClr val="3333B2"/>
                </a:solidFill>
                <a:latin typeface="Arial"/>
                <a:cs typeface="Arial"/>
              </a:rPr>
              <a:t>Basic</a:t>
            </a:r>
            <a:r>
              <a:rPr sz="1000" spc="-30" dirty="0">
                <a:solidFill>
                  <a:srgbClr val="3333B2"/>
                </a:solidFill>
                <a:latin typeface="Arial"/>
                <a:cs typeface="Arial"/>
              </a:rPr>
              <a:t> </a:t>
            </a:r>
            <a:r>
              <a:rPr sz="1000" spc="-20" dirty="0">
                <a:solidFill>
                  <a:srgbClr val="3333B2"/>
                </a:solidFill>
                <a:latin typeface="Arial"/>
                <a:cs typeface="Arial"/>
              </a:rPr>
              <a:t>idea</a:t>
            </a:r>
            <a:endParaRPr sz="1000" dirty="0">
              <a:latin typeface="Arial"/>
              <a:cs typeface="Arial"/>
            </a:endParaRPr>
          </a:p>
          <a:p>
            <a:pPr marL="12700" marR="5080">
              <a:lnSpc>
                <a:spcPts val="1210"/>
              </a:lnSpc>
              <a:spcBef>
                <a:spcPts val="35"/>
              </a:spcBef>
            </a:pPr>
            <a:r>
              <a:rPr sz="900" dirty="0">
                <a:latin typeface="Arial"/>
                <a:cs typeface="Arial"/>
              </a:rPr>
              <a:t>Protect</a:t>
            </a:r>
            <a:r>
              <a:rPr sz="900" spc="-20" dirty="0">
                <a:latin typeface="Arial"/>
                <a:cs typeface="Arial"/>
              </a:rPr>
              <a:t> </a:t>
            </a:r>
            <a:r>
              <a:rPr sz="900" dirty="0">
                <a:latin typeface="Arial"/>
                <a:cs typeface="Arial"/>
              </a:rPr>
              <a:t>against</a:t>
            </a:r>
            <a:r>
              <a:rPr sz="900" spc="-20" dirty="0">
                <a:latin typeface="Arial"/>
                <a:cs typeface="Arial"/>
              </a:rPr>
              <a:t> </a:t>
            </a:r>
            <a:r>
              <a:rPr sz="900" spc="-10" dirty="0">
                <a:latin typeface="Arial"/>
                <a:cs typeface="Arial"/>
              </a:rPr>
              <a:t>malfunctioning</a:t>
            </a:r>
            <a:r>
              <a:rPr sz="900" spc="-15" dirty="0">
                <a:latin typeface="Arial"/>
                <a:cs typeface="Arial"/>
              </a:rPr>
              <a:t> </a:t>
            </a:r>
            <a:r>
              <a:rPr sz="900" dirty="0">
                <a:latin typeface="Arial"/>
                <a:cs typeface="Arial"/>
              </a:rPr>
              <a:t>processes</a:t>
            </a:r>
            <a:r>
              <a:rPr sz="900" spc="-20" dirty="0">
                <a:latin typeface="Arial"/>
                <a:cs typeface="Arial"/>
              </a:rPr>
              <a:t> </a:t>
            </a:r>
            <a:r>
              <a:rPr sz="900" dirty="0">
                <a:latin typeface="Arial"/>
                <a:cs typeface="Arial"/>
              </a:rPr>
              <a:t>through</a:t>
            </a:r>
            <a:r>
              <a:rPr sz="900" spc="-20" dirty="0">
                <a:latin typeface="Arial"/>
                <a:cs typeface="Arial"/>
              </a:rPr>
              <a:t> </a:t>
            </a:r>
            <a:r>
              <a:rPr sz="900" dirty="0">
                <a:solidFill>
                  <a:srgbClr val="C80000"/>
                </a:solidFill>
                <a:latin typeface="Arial"/>
                <a:cs typeface="Arial"/>
              </a:rPr>
              <a:t>process</a:t>
            </a:r>
            <a:r>
              <a:rPr sz="900" spc="-15" dirty="0">
                <a:solidFill>
                  <a:srgbClr val="C80000"/>
                </a:solidFill>
                <a:latin typeface="Arial"/>
                <a:cs typeface="Arial"/>
              </a:rPr>
              <a:t> </a:t>
            </a:r>
            <a:r>
              <a:rPr sz="900" spc="-10" dirty="0">
                <a:solidFill>
                  <a:srgbClr val="C80000"/>
                </a:solidFill>
                <a:latin typeface="Arial"/>
                <a:cs typeface="Arial"/>
              </a:rPr>
              <a:t>replication</a:t>
            </a:r>
            <a:r>
              <a:rPr sz="900" spc="-10" dirty="0">
                <a:latin typeface="Arial"/>
                <a:cs typeface="Arial"/>
              </a:rPr>
              <a:t>, </a:t>
            </a:r>
            <a:r>
              <a:rPr sz="900" dirty="0">
                <a:latin typeface="Arial"/>
                <a:cs typeface="Arial"/>
              </a:rPr>
              <a:t>organizing</a:t>
            </a:r>
            <a:r>
              <a:rPr sz="900" spc="-40" dirty="0">
                <a:latin typeface="Arial"/>
                <a:cs typeface="Arial"/>
              </a:rPr>
              <a:t> </a:t>
            </a:r>
            <a:r>
              <a:rPr sz="900" dirty="0">
                <a:latin typeface="Arial"/>
                <a:cs typeface="Arial"/>
              </a:rPr>
              <a:t>multiple</a:t>
            </a:r>
            <a:r>
              <a:rPr sz="900" spc="-35" dirty="0">
                <a:latin typeface="Arial"/>
                <a:cs typeface="Arial"/>
              </a:rPr>
              <a:t> </a:t>
            </a:r>
            <a:r>
              <a:rPr sz="900" dirty="0">
                <a:latin typeface="Arial"/>
                <a:cs typeface="Arial"/>
              </a:rPr>
              <a:t>processes</a:t>
            </a:r>
            <a:r>
              <a:rPr sz="900" spc="-40" dirty="0">
                <a:latin typeface="Arial"/>
                <a:cs typeface="Arial"/>
              </a:rPr>
              <a:t> </a:t>
            </a:r>
            <a:r>
              <a:rPr sz="900" dirty="0">
                <a:latin typeface="Arial"/>
                <a:cs typeface="Arial"/>
              </a:rPr>
              <a:t>into</a:t>
            </a:r>
            <a:r>
              <a:rPr sz="900" spc="-35" dirty="0">
                <a:latin typeface="Arial"/>
                <a:cs typeface="Arial"/>
              </a:rPr>
              <a:t> </a:t>
            </a:r>
            <a:r>
              <a:rPr sz="900" dirty="0">
                <a:latin typeface="Arial"/>
                <a:cs typeface="Arial"/>
              </a:rPr>
              <a:t>a</a:t>
            </a:r>
            <a:r>
              <a:rPr sz="900" spc="-40" dirty="0">
                <a:latin typeface="Arial"/>
                <a:cs typeface="Arial"/>
              </a:rPr>
              <a:t> </a:t>
            </a:r>
            <a:r>
              <a:rPr sz="900" dirty="0">
                <a:solidFill>
                  <a:srgbClr val="C80000"/>
                </a:solidFill>
                <a:latin typeface="Arial"/>
                <a:cs typeface="Arial"/>
              </a:rPr>
              <a:t>process</a:t>
            </a:r>
            <a:r>
              <a:rPr sz="900" spc="-35" dirty="0">
                <a:solidFill>
                  <a:srgbClr val="C80000"/>
                </a:solidFill>
                <a:latin typeface="Arial"/>
                <a:cs typeface="Arial"/>
              </a:rPr>
              <a:t> </a:t>
            </a:r>
            <a:r>
              <a:rPr sz="900" dirty="0">
                <a:solidFill>
                  <a:srgbClr val="C80000"/>
                </a:solidFill>
                <a:latin typeface="Arial"/>
                <a:cs typeface="Arial"/>
              </a:rPr>
              <a:t>group</a:t>
            </a:r>
            <a:r>
              <a:rPr sz="900" dirty="0">
                <a:latin typeface="Arial"/>
                <a:cs typeface="Arial"/>
              </a:rPr>
              <a:t>.</a:t>
            </a:r>
            <a:r>
              <a:rPr sz="900" spc="15" dirty="0">
                <a:latin typeface="Arial"/>
                <a:cs typeface="Arial"/>
              </a:rPr>
              <a:t> </a:t>
            </a:r>
            <a:r>
              <a:rPr sz="900" dirty="0">
                <a:latin typeface="Arial"/>
                <a:cs typeface="Arial"/>
              </a:rPr>
              <a:t>Distinguish</a:t>
            </a:r>
            <a:r>
              <a:rPr sz="900" spc="-40" dirty="0">
                <a:latin typeface="Arial"/>
                <a:cs typeface="Arial"/>
              </a:rPr>
              <a:t> </a:t>
            </a:r>
            <a:r>
              <a:rPr sz="900" dirty="0">
                <a:latin typeface="Arial"/>
                <a:cs typeface="Arial"/>
              </a:rPr>
              <a:t>between</a:t>
            </a:r>
            <a:r>
              <a:rPr sz="900" spc="-35" dirty="0">
                <a:latin typeface="Arial"/>
                <a:cs typeface="Arial"/>
              </a:rPr>
              <a:t> </a:t>
            </a:r>
            <a:r>
              <a:rPr sz="900" spc="-20" dirty="0">
                <a:solidFill>
                  <a:srgbClr val="3333B2"/>
                </a:solidFill>
                <a:latin typeface="Arial"/>
                <a:cs typeface="Arial"/>
              </a:rPr>
              <a:t>flat </a:t>
            </a:r>
            <a:r>
              <a:rPr sz="900" dirty="0">
                <a:solidFill>
                  <a:srgbClr val="3333B2"/>
                </a:solidFill>
                <a:latin typeface="Arial"/>
                <a:cs typeface="Arial"/>
              </a:rPr>
              <a:t>groups</a:t>
            </a:r>
            <a:r>
              <a:rPr sz="900" spc="-45" dirty="0">
                <a:solidFill>
                  <a:srgbClr val="3333B2"/>
                </a:solidFill>
                <a:latin typeface="Arial"/>
                <a:cs typeface="Arial"/>
              </a:rPr>
              <a:t> </a:t>
            </a:r>
            <a:r>
              <a:rPr sz="900" dirty="0">
                <a:latin typeface="Arial"/>
                <a:cs typeface="Arial"/>
              </a:rPr>
              <a:t>and</a:t>
            </a:r>
            <a:r>
              <a:rPr sz="900" spc="-40" dirty="0">
                <a:latin typeface="Arial"/>
                <a:cs typeface="Arial"/>
              </a:rPr>
              <a:t> </a:t>
            </a:r>
            <a:r>
              <a:rPr sz="900" dirty="0">
                <a:solidFill>
                  <a:srgbClr val="3333B2"/>
                </a:solidFill>
                <a:latin typeface="Arial"/>
                <a:cs typeface="Arial"/>
              </a:rPr>
              <a:t>hierarchical</a:t>
            </a:r>
            <a:r>
              <a:rPr sz="900" spc="-40" dirty="0">
                <a:solidFill>
                  <a:srgbClr val="3333B2"/>
                </a:solidFill>
                <a:latin typeface="Arial"/>
                <a:cs typeface="Arial"/>
              </a:rPr>
              <a:t> </a:t>
            </a:r>
            <a:r>
              <a:rPr sz="900" spc="-10" dirty="0">
                <a:solidFill>
                  <a:srgbClr val="3333B2"/>
                </a:solidFill>
                <a:latin typeface="Arial"/>
                <a:cs typeface="Arial"/>
              </a:rPr>
              <a:t>groups</a:t>
            </a:r>
            <a:r>
              <a:rPr sz="900" spc="-10" dirty="0">
                <a:latin typeface="Arial"/>
                <a:cs typeface="Arial"/>
              </a:rPr>
              <a:t>.</a:t>
            </a:r>
            <a:endParaRPr sz="900" dirty="0">
              <a:latin typeface="Arial"/>
              <a:cs typeface="Arial"/>
            </a:endParaRPr>
          </a:p>
        </p:txBody>
      </p:sp>
      <p:pic>
        <p:nvPicPr>
          <p:cNvPr id="5" name="object 5"/>
          <p:cNvPicPr/>
          <p:nvPr/>
        </p:nvPicPr>
        <p:blipFill>
          <a:blip r:embed="rId5" cstate="print"/>
          <a:stretch>
            <a:fillRect/>
          </a:stretch>
        </p:blipFill>
        <p:spPr>
          <a:xfrm>
            <a:off x="621692" y="1261150"/>
            <a:ext cx="1202074" cy="1380027"/>
          </a:xfrm>
          <a:prstGeom prst="rect">
            <a:avLst/>
          </a:prstGeom>
        </p:spPr>
      </p:pic>
      <p:pic>
        <p:nvPicPr>
          <p:cNvPr id="6" name="object 6"/>
          <p:cNvPicPr/>
          <p:nvPr/>
        </p:nvPicPr>
        <p:blipFill>
          <a:blip r:embed="rId6" cstate="print"/>
          <a:stretch>
            <a:fillRect/>
          </a:stretch>
        </p:blipFill>
        <p:spPr>
          <a:xfrm>
            <a:off x="2045235" y="1306353"/>
            <a:ext cx="1937211" cy="1334824"/>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85026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Resilience</a:t>
            </a:r>
            <a:r>
              <a:rPr sz="500" spc="-25" dirty="0">
                <a:latin typeface="Arial"/>
                <a:cs typeface="Arial"/>
                <a:hlinkClick r:id="rId4" action="ppaction://hlinksldjump"/>
              </a:rPr>
              <a:t> </a:t>
            </a:r>
            <a:r>
              <a:rPr sz="500" dirty="0">
                <a:latin typeface="Arial"/>
                <a:cs typeface="Arial"/>
                <a:hlinkClick r:id="rId4" action="ppaction://hlinksldjump"/>
              </a:rPr>
              <a:t>by</a:t>
            </a:r>
            <a:r>
              <a:rPr sz="500" spc="-25" dirty="0">
                <a:latin typeface="Arial"/>
                <a:cs typeface="Arial"/>
                <a:hlinkClick r:id="rId4" action="ppaction://hlinksldjump"/>
              </a:rPr>
              <a:t> </a:t>
            </a:r>
            <a:r>
              <a:rPr sz="500" dirty="0">
                <a:latin typeface="Arial"/>
                <a:cs typeface="Arial"/>
                <a:hlinkClick r:id="rId4" action="ppaction://hlinksldjump"/>
              </a:rPr>
              <a:t>process</a:t>
            </a:r>
            <a:r>
              <a:rPr sz="500" spc="-25" dirty="0">
                <a:latin typeface="Arial"/>
                <a:cs typeface="Arial"/>
                <a:hlinkClick r:id="rId4" action="ppaction://hlinksldjump"/>
              </a:rPr>
              <a:t> </a:t>
            </a:r>
            <a:r>
              <a:rPr sz="500" spc="-10" dirty="0">
                <a:latin typeface="Arial"/>
                <a:cs typeface="Arial"/>
                <a:hlinkClick r:id="rId4" action="ppaction://hlinksldjump"/>
              </a:rPr>
              <a:t>groups</a:t>
            </a:r>
            <a:endParaRPr sz="500">
              <a:latin typeface="Arial"/>
              <a:cs typeface="Arial"/>
            </a:endParaRPr>
          </a:p>
        </p:txBody>
      </p:sp>
      <p:sp>
        <p:nvSpPr>
          <p:cNvPr id="11" name="object 4">
            <a:extLst>
              <a:ext uri="{FF2B5EF4-FFF2-40B4-BE49-F238E27FC236}">
                <a16:creationId xmlns:a16="http://schemas.microsoft.com/office/drawing/2014/main" id="{2EB36616-E88A-52D0-01DA-E977945D0D6B}"/>
              </a:ext>
            </a:extLst>
          </p:cNvPr>
          <p:cNvSpPr txBox="1"/>
          <p:nvPr/>
        </p:nvSpPr>
        <p:spPr>
          <a:xfrm>
            <a:off x="374547" y="2713842"/>
            <a:ext cx="3858895" cy="581569"/>
          </a:xfrm>
          <a:prstGeom prst="rect">
            <a:avLst/>
          </a:prstGeom>
        </p:spPr>
        <p:txBody>
          <a:bodyPr vert="horz" wrap="square" lIns="0" tIns="27305" rIns="0" bIns="0" rtlCol="0">
            <a:spAutoFit/>
          </a:bodyPr>
          <a:lstStyle/>
          <a:p>
            <a:pPr algn="just"/>
            <a:r>
              <a:rPr lang="en-US" sz="900" spc="-20" dirty="0">
                <a:solidFill>
                  <a:srgbClr val="3333B2"/>
                </a:solidFill>
                <a:latin typeface="Arial"/>
                <a:cs typeface="Arial"/>
              </a:rPr>
              <a:t>Flat group</a:t>
            </a:r>
            <a:r>
              <a:rPr lang="en-US" sz="900" dirty="0"/>
              <a:t> Decision making is complicated, voting mechanism is used to decided which one among all will respond.</a:t>
            </a:r>
          </a:p>
          <a:p>
            <a:pPr algn="just"/>
            <a:r>
              <a:rPr lang="en-US" sz="900" spc="-20" dirty="0">
                <a:solidFill>
                  <a:srgbClr val="3333B2"/>
                </a:solidFill>
                <a:latin typeface="Arial"/>
                <a:cs typeface="Arial"/>
              </a:rPr>
              <a:t>Hierarchical group </a:t>
            </a:r>
            <a:r>
              <a:rPr lang="en-US" sz="900" dirty="0"/>
              <a:t>Single point of failure, other workers can take placing using election algorithms.</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74465"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Groups</a:t>
            </a:r>
            <a:r>
              <a:rPr spc="-50" dirty="0"/>
              <a:t> </a:t>
            </a:r>
            <a:r>
              <a:rPr dirty="0"/>
              <a:t>and</a:t>
            </a:r>
            <a:r>
              <a:rPr spc="-50" dirty="0"/>
              <a:t> </a:t>
            </a:r>
            <a:r>
              <a:rPr dirty="0"/>
              <a:t>failure</a:t>
            </a:r>
            <a:r>
              <a:rPr spc="-50" dirty="0"/>
              <a:t> </a:t>
            </a:r>
            <a:r>
              <a:rPr spc="-10" dirty="0"/>
              <a:t>masking</a:t>
            </a:r>
          </a:p>
        </p:txBody>
      </p:sp>
      <p:sp>
        <p:nvSpPr>
          <p:cNvPr id="4" name="object 4"/>
          <p:cNvSpPr txBox="1"/>
          <p:nvPr/>
        </p:nvSpPr>
        <p:spPr>
          <a:xfrm>
            <a:off x="341947" y="470520"/>
            <a:ext cx="3919220" cy="551180"/>
          </a:xfrm>
          <a:prstGeom prst="rect">
            <a:avLst/>
          </a:prstGeom>
        </p:spPr>
        <p:txBody>
          <a:bodyPr vert="horz" wrap="square" lIns="0" tIns="56515" rIns="0" bIns="0" rtlCol="0">
            <a:spAutoFit/>
          </a:bodyPr>
          <a:lstStyle/>
          <a:p>
            <a:pPr marL="17780">
              <a:lnSpc>
                <a:spcPct val="100000"/>
              </a:lnSpc>
              <a:spcBef>
                <a:spcPts val="445"/>
              </a:spcBef>
            </a:pPr>
            <a:r>
              <a:rPr sz="1000" i="1" spc="-10" dirty="0">
                <a:solidFill>
                  <a:srgbClr val="3333B2"/>
                </a:solidFill>
                <a:latin typeface="Arial"/>
                <a:cs typeface="Arial"/>
              </a:rPr>
              <a:t>k</a:t>
            </a:r>
            <a:r>
              <a:rPr sz="1000" i="1" spc="-180" dirty="0">
                <a:solidFill>
                  <a:srgbClr val="3333B2"/>
                </a:solidFill>
                <a:latin typeface="Arial"/>
                <a:cs typeface="Arial"/>
              </a:rPr>
              <a:t> </a:t>
            </a:r>
            <a:r>
              <a:rPr sz="1000" spc="-10" dirty="0">
                <a:solidFill>
                  <a:srgbClr val="3333B2"/>
                </a:solidFill>
                <a:latin typeface="Arial"/>
                <a:cs typeface="Arial"/>
              </a:rPr>
              <a:t>-</a:t>
            </a:r>
            <a:r>
              <a:rPr sz="1000" dirty="0">
                <a:solidFill>
                  <a:srgbClr val="3333B2"/>
                </a:solidFill>
                <a:latin typeface="Arial"/>
                <a:cs typeface="Arial"/>
              </a:rPr>
              <a:t>fault</a:t>
            </a:r>
            <a:r>
              <a:rPr sz="1000" spc="-55" dirty="0">
                <a:solidFill>
                  <a:srgbClr val="3333B2"/>
                </a:solidFill>
                <a:latin typeface="Arial"/>
                <a:cs typeface="Arial"/>
              </a:rPr>
              <a:t> </a:t>
            </a:r>
            <a:r>
              <a:rPr sz="1000" dirty="0">
                <a:solidFill>
                  <a:srgbClr val="3333B2"/>
                </a:solidFill>
                <a:latin typeface="Arial"/>
                <a:cs typeface="Arial"/>
              </a:rPr>
              <a:t>tolerant</a:t>
            </a:r>
            <a:r>
              <a:rPr sz="1000" spc="-40" dirty="0">
                <a:solidFill>
                  <a:srgbClr val="3333B2"/>
                </a:solidFill>
                <a:latin typeface="Arial"/>
                <a:cs typeface="Arial"/>
              </a:rPr>
              <a:t> </a:t>
            </a:r>
            <a:r>
              <a:rPr sz="1000" spc="-20" dirty="0">
                <a:solidFill>
                  <a:srgbClr val="3333B2"/>
                </a:solidFill>
                <a:latin typeface="Arial"/>
                <a:cs typeface="Arial"/>
              </a:rPr>
              <a:t>group</a:t>
            </a:r>
            <a:endParaRPr sz="1000">
              <a:latin typeface="Arial"/>
              <a:cs typeface="Arial"/>
            </a:endParaRPr>
          </a:p>
          <a:p>
            <a:pPr marL="17780" marR="5080" indent="-5715">
              <a:lnSpc>
                <a:spcPct val="111600"/>
              </a:lnSpc>
              <a:spcBef>
                <a:spcPts val="180"/>
              </a:spcBef>
            </a:pPr>
            <a:r>
              <a:rPr sz="900" dirty="0">
                <a:latin typeface="Arial"/>
                <a:cs typeface="Arial"/>
              </a:rPr>
              <a:t>When</a:t>
            </a:r>
            <a:r>
              <a:rPr sz="900" spc="-30"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group</a:t>
            </a:r>
            <a:r>
              <a:rPr sz="900" spc="-25" dirty="0">
                <a:latin typeface="Arial"/>
                <a:cs typeface="Arial"/>
              </a:rPr>
              <a:t> </a:t>
            </a:r>
            <a:r>
              <a:rPr sz="900" dirty="0">
                <a:latin typeface="Arial"/>
                <a:cs typeface="Arial"/>
              </a:rPr>
              <a:t>can</a:t>
            </a:r>
            <a:r>
              <a:rPr sz="900" spc="-30" dirty="0">
                <a:latin typeface="Arial"/>
                <a:cs typeface="Arial"/>
              </a:rPr>
              <a:t> </a:t>
            </a:r>
            <a:r>
              <a:rPr sz="900" dirty="0">
                <a:latin typeface="Arial"/>
                <a:cs typeface="Arial"/>
              </a:rPr>
              <a:t>mask</a:t>
            </a:r>
            <a:r>
              <a:rPr sz="900" spc="-25" dirty="0">
                <a:latin typeface="Arial"/>
                <a:cs typeface="Arial"/>
              </a:rPr>
              <a:t> </a:t>
            </a:r>
            <a:r>
              <a:rPr sz="900" dirty="0">
                <a:latin typeface="Arial"/>
                <a:cs typeface="Arial"/>
              </a:rPr>
              <a:t>any</a:t>
            </a:r>
            <a:r>
              <a:rPr sz="900" spc="-30" dirty="0">
                <a:latin typeface="Arial"/>
                <a:cs typeface="Arial"/>
              </a:rPr>
              <a:t> </a:t>
            </a:r>
            <a:r>
              <a:rPr sz="900" i="1" dirty="0">
                <a:latin typeface="Arial"/>
                <a:cs typeface="Arial"/>
              </a:rPr>
              <a:t>k</a:t>
            </a:r>
            <a:r>
              <a:rPr sz="900" i="1" spc="55" dirty="0">
                <a:latin typeface="Arial"/>
                <a:cs typeface="Arial"/>
              </a:rPr>
              <a:t> </a:t>
            </a:r>
            <a:r>
              <a:rPr sz="900" spc="-10" dirty="0">
                <a:latin typeface="Arial"/>
                <a:cs typeface="Arial"/>
              </a:rPr>
              <a:t>concurrent</a:t>
            </a:r>
            <a:r>
              <a:rPr sz="900" spc="-30" dirty="0">
                <a:latin typeface="Arial"/>
                <a:cs typeface="Arial"/>
              </a:rPr>
              <a:t> </a:t>
            </a:r>
            <a:r>
              <a:rPr sz="900" spc="-10" dirty="0">
                <a:latin typeface="Arial"/>
                <a:cs typeface="Arial"/>
              </a:rPr>
              <a:t>member</a:t>
            </a:r>
            <a:r>
              <a:rPr sz="900" spc="-25" dirty="0">
                <a:latin typeface="Arial"/>
                <a:cs typeface="Arial"/>
              </a:rPr>
              <a:t> </a:t>
            </a:r>
            <a:r>
              <a:rPr sz="900" spc="-10" dirty="0">
                <a:latin typeface="Arial"/>
                <a:cs typeface="Arial"/>
              </a:rPr>
              <a:t>failures</a:t>
            </a:r>
            <a:r>
              <a:rPr sz="900" spc="-30" dirty="0">
                <a:latin typeface="Arial"/>
                <a:cs typeface="Arial"/>
              </a:rPr>
              <a:t> </a:t>
            </a:r>
            <a:r>
              <a:rPr sz="900" dirty="0">
                <a:latin typeface="Arial"/>
                <a:cs typeface="Arial"/>
              </a:rPr>
              <a:t>(</a:t>
            </a:r>
            <a:r>
              <a:rPr sz="900" i="1" dirty="0">
                <a:latin typeface="Arial"/>
                <a:cs typeface="Arial"/>
              </a:rPr>
              <a:t>k</a:t>
            </a:r>
            <a:r>
              <a:rPr sz="900" i="1" spc="55"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called</a:t>
            </a:r>
            <a:r>
              <a:rPr sz="900" spc="-30" dirty="0">
                <a:latin typeface="Arial"/>
                <a:cs typeface="Arial"/>
              </a:rPr>
              <a:t> </a:t>
            </a:r>
            <a:r>
              <a:rPr sz="900" spc="-10" dirty="0">
                <a:solidFill>
                  <a:srgbClr val="3333B2"/>
                </a:solidFill>
                <a:latin typeface="Arial"/>
                <a:cs typeface="Arial"/>
              </a:rPr>
              <a:t>degree </a:t>
            </a:r>
            <a:r>
              <a:rPr sz="900" dirty="0">
                <a:solidFill>
                  <a:srgbClr val="3333B2"/>
                </a:solidFill>
                <a:latin typeface="Arial"/>
                <a:cs typeface="Arial"/>
              </a:rPr>
              <a:t>of</a:t>
            </a:r>
            <a:r>
              <a:rPr sz="900" spc="-35" dirty="0">
                <a:solidFill>
                  <a:srgbClr val="3333B2"/>
                </a:solidFill>
                <a:latin typeface="Arial"/>
                <a:cs typeface="Arial"/>
              </a:rPr>
              <a:t> </a:t>
            </a:r>
            <a:r>
              <a:rPr sz="900" dirty="0">
                <a:solidFill>
                  <a:srgbClr val="3333B2"/>
                </a:solidFill>
                <a:latin typeface="Arial"/>
                <a:cs typeface="Arial"/>
              </a:rPr>
              <a:t>fault</a:t>
            </a:r>
            <a:r>
              <a:rPr sz="900" spc="-30" dirty="0">
                <a:solidFill>
                  <a:srgbClr val="3333B2"/>
                </a:solidFill>
                <a:latin typeface="Arial"/>
                <a:cs typeface="Arial"/>
              </a:rPr>
              <a:t> </a:t>
            </a:r>
            <a:r>
              <a:rPr sz="900" spc="-10" dirty="0">
                <a:solidFill>
                  <a:srgbClr val="3333B2"/>
                </a:solidFill>
                <a:latin typeface="Arial"/>
                <a:cs typeface="Arial"/>
              </a:rPr>
              <a:t>tolerance</a:t>
            </a:r>
            <a:r>
              <a:rPr sz="900" spc="-10" dirty="0">
                <a:latin typeface="Arial"/>
                <a:cs typeface="Arial"/>
              </a:rPr>
              <a:t>).</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89789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Failure</a:t>
            </a:r>
            <a:r>
              <a:rPr sz="500" spc="-5" dirty="0">
                <a:latin typeface="Arial"/>
                <a:cs typeface="Arial"/>
                <a:hlinkClick r:id="rId4" action="ppaction://hlinksldjump"/>
              </a:rPr>
              <a:t> </a:t>
            </a:r>
            <a:r>
              <a:rPr sz="500" dirty="0">
                <a:latin typeface="Arial"/>
                <a:cs typeface="Arial"/>
                <a:hlinkClick r:id="rId4" action="ppaction://hlinksldjump"/>
              </a:rPr>
              <a:t>masking</a:t>
            </a:r>
            <a:r>
              <a:rPr sz="500" spc="-5" dirty="0">
                <a:latin typeface="Arial"/>
                <a:cs typeface="Arial"/>
                <a:hlinkClick r:id="rId4" action="ppaction://hlinksldjump"/>
              </a:rPr>
              <a:t> </a:t>
            </a:r>
            <a:r>
              <a:rPr sz="500" dirty="0">
                <a:latin typeface="Arial"/>
                <a:cs typeface="Arial"/>
                <a:hlinkClick r:id="rId4" action="ppaction://hlinksldjump"/>
              </a:rPr>
              <a:t>and</a:t>
            </a:r>
            <a:r>
              <a:rPr sz="500" spc="-5" dirty="0">
                <a:latin typeface="Arial"/>
                <a:cs typeface="Arial"/>
                <a:hlinkClick r:id="rId4" action="ppaction://hlinksldjump"/>
              </a:rPr>
              <a:t> </a:t>
            </a:r>
            <a:r>
              <a:rPr sz="500" spc="-10" dirty="0">
                <a:latin typeface="Arial"/>
                <a:cs typeface="Arial"/>
                <a:hlinkClick r:id="rId4" action="ppaction://hlinksldjump"/>
              </a:rPr>
              <a:t>replication</a:t>
            </a:r>
            <a:endParaRPr sz="500">
              <a:latin typeface="Arial"/>
              <a:cs typeface="Arial"/>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74465"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Groups</a:t>
            </a:r>
            <a:r>
              <a:rPr spc="-50" dirty="0"/>
              <a:t> </a:t>
            </a:r>
            <a:r>
              <a:rPr dirty="0"/>
              <a:t>and</a:t>
            </a:r>
            <a:r>
              <a:rPr spc="-50" dirty="0"/>
              <a:t> </a:t>
            </a:r>
            <a:r>
              <a:rPr dirty="0"/>
              <a:t>failure</a:t>
            </a:r>
            <a:r>
              <a:rPr spc="-50" dirty="0"/>
              <a:t> </a:t>
            </a:r>
            <a:r>
              <a:rPr spc="-10" dirty="0"/>
              <a:t>masking</a:t>
            </a:r>
          </a:p>
        </p:txBody>
      </p:sp>
      <p:sp>
        <p:nvSpPr>
          <p:cNvPr id="4" name="object 4"/>
          <p:cNvSpPr txBox="1"/>
          <p:nvPr/>
        </p:nvSpPr>
        <p:spPr>
          <a:xfrm>
            <a:off x="329247" y="470520"/>
            <a:ext cx="3944620" cy="1696720"/>
          </a:xfrm>
          <a:prstGeom prst="rect">
            <a:avLst/>
          </a:prstGeom>
        </p:spPr>
        <p:txBody>
          <a:bodyPr vert="horz" wrap="square" lIns="0" tIns="56515" rIns="0" bIns="0" rtlCol="0">
            <a:spAutoFit/>
          </a:bodyPr>
          <a:lstStyle/>
          <a:p>
            <a:pPr marL="30480">
              <a:lnSpc>
                <a:spcPct val="100000"/>
              </a:lnSpc>
              <a:spcBef>
                <a:spcPts val="445"/>
              </a:spcBef>
            </a:pPr>
            <a:r>
              <a:rPr sz="1000" i="1" spc="-10" dirty="0">
                <a:solidFill>
                  <a:srgbClr val="3333B2"/>
                </a:solidFill>
                <a:latin typeface="Arial"/>
                <a:cs typeface="Arial"/>
              </a:rPr>
              <a:t>k</a:t>
            </a:r>
            <a:r>
              <a:rPr sz="1000" i="1" spc="-180" dirty="0">
                <a:solidFill>
                  <a:srgbClr val="3333B2"/>
                </a:solidFill>
                <a:latin typeface="Arial"/>
                <a:cs typeface="Arial"/>
              </a:rPr>
              <a:t> </a:t>
            </a:r>
            <a:r>
              <a:rPr sz="1000" spc="-10" dirty="0">
                <a:solidFill>
                  <a:srgbClr val="3333B2"/>
                </a:solidFill>
                <a:latin typeface="Arial"/>
                <a:cs typeface="Arial"/>
              </a:rPr>
              <a:t>-</a:t>
            </a:r>
            <a:r>
              <a:rPr sz="1000" dirty="0">
                <a:solidFill>
                  <a:srgbClr val="3333B2"/>
                </a:solidFill>
                <a:latin typeface="Arial"/>
                <a:cs typeface="Arial"/>
              </a:rPr>
              <a:t>fault</a:t>
            </a:r>
            <a:r>
              <a:rPr sz="1000" spc="-55" dirty="0">
                <a:solidFill>
                  <a:srgbClr val="3333B2"/>
                </a:solidFill>
                <a:latin typeface="Arial"/>
                <a:cs typeface="Arial"/>
              </a:rPr>
              <a:t> </a:t>
            </a:r>
            <a:r>
              <a:rPr sz="1000" dirty="0">
                <a:solidFill>
                  <a:srgbClr val="3333B2"/>
                </a:solidFill>
                <a:latin typeface="Arial"/>
                <a:cs typeface="Arial"/>
              </a:rPr>
              <a:t>tolerant</a:t>
            </a:r>
            <a:r>
              <a:rPr sz="1000" spc="-40" dirty="0">
                <a:solidFill>
                  <a:srgbClr val="3333B2"/>
                </a:solidFill>
                <a:latin typeface="Arial"/>
                <a:cs typeface="Arial"/>
              </a:rPr>
              <a:t> </a:t>
            </a:r>
            <a:r>
              <a:rPr sz="1000" spc="-20" dirty="0">
                <a:solidFill>
                  <a:srgbClr val="3333B2"/>
                </a:solidFill>
                <a:latin typeface="Arial"/>
                <a:cs typeface="Arial"/>
              </a:rPr>
              <a:t>group</a:t>
            </a:r>
            <a:endParaRPr sz="1000">
              <a:latin typeface="Arial"/>
              <a:cs typeface="Arial"/>
            </a:endParaRPr>
          </a:p>
          <a:p>
            <a:pPr marL="30480" marR="17780" indent="-5715">
              <a:lnSpc>
                <a:spcPct val="111600"/>
              </a:lnSpc>
              <a:spcBef>
                <a:spcPts val="180"/>
              </a:spcBef>
            </a:pPr>
            <a:r>
              <a:rPr sz="900" dirty="0">
                <a:latin typeface="Arial"/>
                <a:cs typeface="Arial"/>
              </a:rPr>
              <a:t>When</a:t>
            </a:r>
            <a:r>
              <a:rPr sz="900" spc="-30"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group</a:t>
            </a:r>
            <a:r>
              <a:rPr sz="900" spc="-25" dirty="0">
                <a:latin typeface="Arial"/>
                <a:cs typeface="Arial"/>
              </a:rPr>
              <a:t> </a:t>
            </a:r>
            <a:r>
              <a:rPr sz="900" dirty="0">
                <a:latin typeface="Arial"/>
                <a:cs typeface="Arial"/>
              </a:rPr>
              <a:t>can</a:t>
            </a:r>
            <a:r>
              <a:rPr sz="900" spc="-30" dirty="0">
                <a:latin typeface="Arial"/>
                <a:cs typeface="Arial"/>
              </a:rPr>
              <a:t> </a:t>
            </a:r>
            <a:r>
              <a:rPr sz="900" dirty="0">
                <a:latin typeface="Arial"/>
                <a:cs typeface="Arial"/>
              </a:rPr>
              <a:t>mask</a:t>
            </a:r>
            <a:r>
              <a:rPr sz="900" spc="-25" dirty="0">
                <a:latin typeface="Arial"/>
                <a:cs typeface="Arial"/>
              </a:rPr>
              <a:t> </a:t>
            </a:r>
            <a:r>
              <a:rPr sz="900" dirty="0">
                <a:latin typeface="Arial"/>
                <a:cs typeface="Arial"/>
              </a:rPr>
              <a:t>any</a:t>
            </a:r>
            <a:r>
              <a:rPr sz="900" spc="-30" dirty="0">
                <a:latin typeface="Arial"/>
                <a:cs typeface="Arial"/>
              </a:rPr>
              <a:t> </a:t>
            </a:r>
            <a:r>
              <a:rPr sz="900" i="1" dirty="0">
                <a:latin typeface="Arial"/>
                <a:cs typeface="Arial"/>
              </a:rPr>
              <a:t>k</a:t>
            </a:r>
            <a:r>
              <a:rPr sz="900" i="1" spc="55" dirty="0">
                <a:latin typeface="Arial"/>
                <a:cs typeface="Arial"/>
              </a:rPr>
              <a:t> </a:t>
            </a:r>
            <a:r>
              <a:rPr sz="900" spc="-10" dirty="0">
                <a:latin typeface="Arial"/>
                <a:cs typeface="Arial"/>
              </a:rPr>
              <a:t>concurrent</a:t>
            </a:r>
            <a:r>
              <a:rPr sz="900" spc="-30" dirty="0">
                <a:latin typeface="Arial"/>
                <a:cs typeface="Arial"/>
              </a:rPr>
              <a:t> </a:t>
            </a:r>
            <a:r>
              <a:rPr sz="900" spc="-10" dirty="0">
                <a:latin typeface="Arial"/>
                <a:cs typeface="Arial"/>
              </a:rPr>
              <a:t>member</a:t>
            </a:r>
            <a:r>
              <a:rPr sz="900" spc="-25" dirty="0">
                <a:latin typeface="Arial"/>
                <a:cs typeface="Arial"/>
              </a:rPr>
              <a:t> </a:t>
            </a:r>
            <a:r>
              <a:rPr sz="900" spc="-10" dirty="0">
                <a:latin typeface="Arial"/>
                <a:cs typeface="Arial"/>
              </a:rPr>
              <a:t>failures</a:t>
            </a:r>
            <a:r>
              <a:rPr sz="900" spc="-30" dirty="0">
                <a:latin typeface="Arial"/>
                <a:cs typeface="Arial"/>
              </a:rPr>
              <a:t> </a:t>
            </a:r>
            <a:r>
              <a:rPr sz="900" dirty="0">
                <a:latin typeface="Arial"/>
                <a:cs typeface="Arial"/>
              </a:rPr>
              <a:t>(</a:t>
            </a:r>
            <a:r>
              <a:rPr sz="900" i="1" dirty="0">
                <a:latin typeface="Arial"/>
                <a:cs typeface="Arial"/>
              </a:rPr>
              <a:t>k</a:t>
            </a:r>
            <a:r>
              <a:rPr sz="900" i="1" spc="55"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called</a:t>
            </a:r>
            <a:r>
              <a:rPr sz="900" spc="-30" dirty="0">
                <a:latin typeface="Arial"/>
                <a:cs typeface="Arial"/>
              </a:rPr>
              <a:t> </a:t>
            </a:r>
            <a:r>
              <a:rPr sz="900" spc="-10" dirty="0">
                <a:solidFill>
                  <a:srgbClr val="3333B2"/>
                </a:solidFill>
                <a:latin typeface="Arial"/>
                <a:cs typeface="Arial"/>
              </a:rPr>
              <a:t>degree </a:t>
            </a:r>
            <a:r>
              <a:rPr sz="900" dirty="0">
                <a:solidFill>
                  <a:srgbClr val="3333B2"/>
                </a:solidFill>
                <a:latin typeface="Arial"/>
                <a:cs typeface="Arial"/>
              </a:rPr>
              <a:t>of</a:t>
            </a:r>
            <a:r>
              <a:rPr sz="900" spc="-35" dirty="0">
                <a:solidFill>
                  <a:srgbClr val="3333B2"/>
                </a:solidFill>
                <a:latin typeface="Arial"/>
                <a:cs typeface="Arial"/>
              </a:rPr>
              <a:t> </a:t>
            </a:r>
            <a:r>
              <a:rPr sz="900" dirty="0">
                <a:solidFill>
                  <a:srgbClr val="3333B2"/>
                </a:solidFill>
                <a:latin typeface="Arial"/>
                <a:cs typeface="Arial"/>
              </a:rPr>
              <a:t>fault</a:t>
            </a:r>
            <a:r>
              <a:rPr sz="900" spc="-30" dirty="0">
                <a:solidFill>
                  <a:srgbClr val="3333B2"/>
                </a:solidFill>
                <a:latin typeface="Arial"/>
                <a:cs typeface="Arial"/>
              </a:rPr>
              <a:t> </a:t>
            </a:r>
            <a:r>
              <a:rPr sz="900" spc="-10" dirty="0">
                <a:solidFill>
                  <a:srgbClr val="3333B2"/>
                </a:solidFill>
                <a:latin typeface="Arial"/>
                <a:cs typeface="Arial"/>
              </a:rPr>
              <a:t>tolerance</a:t>
            </a:r>
            <a:r>
              <a:rPr sz="900" spc="-10" dirty="0">
                <a:latin typeface="Arial"/>
                <a:cs typeface="Arial"/>
              </a:rPr>
              <a:t>).</a:t>
            </a:r>
            <a:endParaRPr sz="900">
              <a:latin typeface="Arial"/>
              <a:cs typeface="Arial"/>
            </a:endParaRPr>
          </a:p>
          <a:p>
            <a:pPr marL="30480">
              <a:lnSpc>
                <a:spcPct val="100000"/>
              </a:lnSpc>
              <a:spcBef>
                <a:spcPts val="815"/>
              </a:spcBef>
            </a:pPr>
            <a:r>
              <a:rPr sz="1000" dirty="0">
                <a:solidFill>
                  <a:srgbClr val="C80000"/>
                </a:solidFill>
                <a:latin typeface="Arial"/>
                <a:cs typeface="Arial"/>
              </a:rPr>
              <a:t>How</a:t>
            </a:r>
            <a:r>
              <a:rPr sz="1000" spc="-40" dirty="0">
                <a:solidFill>
                  <a:srgbClr val="C80000"/>
                </a:solidFill>
                <a:latin typeface="Arial"/>
                <a:cs typeface="Arial"/>
              </a:rPr>
              <a:t> </a:t>
            </a:r>
            <a:r>
              <a:rPr sz="1000" dirty="0">
                <a:solidFill>
                  <a:srgbClr val="C80000"/>
                </a:solidFill>
                <a:latin typeface="Arial"/>
                <a:cs typeface="Arial"/>
              </a:rPr>
              <a:t>large</a:t>
            </a:r>
            <a:r>
              <a:rPr sz="1000" spc="-30" dirty="0">
                <a:solidFill>
                  <a:srgbClr val="C80000"/>
                </a:solidFill>
                <a:latin typeface="Arial"/>
                <a:cs typeface="Arial"/>
              </a:rPr>
              <a:t> </a:t>
            </a:r>
            <a:r>
              <a:rPr sz="1000" dirty="0">
                <a:solidFill>
                  <a:srgbClr val="C80000"/>
                </a:solidFill>
                <a:latin typeface="Arial"/>
                <a:cs typeface="Arial"/>
              </a:rPr>
              <a:t>does</a:t>
            </a:r>
            <a:r>
              <a:rPr sz="1000" spc="-30" dirty="0">
                <a:solidFill>
                  <a:srgbClr val="C80000"/>
                </a:solidFill>
                <a:latin typeface="Arial"/>
                <a:cs typeface="Arial"/>
              </a:rPr>
              <a:t> </a:t>
            </a:r>
            <a:r>
              <a:rPr sz="1000" dirty="0">
                <a:solidFill>
                  <a:srgbClr val="C80000"/>
                </a:solidFill>
                <a:latin typeface="Arial"/>
                <a:cs typeface="Arial"/>
              </a:rPr>
              <a:t>a</a:t>
            </a:r>
            <a:r>
              <a:rPr sz="1000" spc="-30" dirty="0">
                <a:solidFill>
                  <a:srgbClr val="C80000"/>
                </a:solidFill>
                <a:latin typeface="Arial"/>
                <a:cs typeface="Arial"/>
              </a:rPr>
              <a:t> </a:t>
            </a:r>
            <a:r>
              <a:rPr sz="1000" i="1" spc="-10" dirty="0">
                <a:solidFill>
                  <a:srgbClr val="C80000"/>
                </a:solidFill>
                <a:latin typeface="Arial"/>
                <a:cs typeface="Arial"/>
              </a:rPr>
              <a:t>k</a:t>
            </a:r>
            <a:r>
              <a:rPr sz="1000" i="1" spc="-180" dirty="0">
                <a:solidFill>
                  <a:srgbClr val="C80000"/>
                </a:solidFill>
                <a:latin typeface="Arial"/>
                <a:cs typeface="Arial"/>
              </a:rPr>
              <a:t> </a:t>
            </a:r>
            <a:r>
              <a:rPr sz="1000" spc="-10" dirty="0">
                <a:solidFill>
                  <a:srgbClr val="C80000"/>
                </a:solidFill>
                <a:latin typeface="Arial"/>
                <a:cs typeface="Arial"/>
              </a:rPr>
              <a:t>-</a:t>
            </a:r>
            <a:r>
              <a:rPr sz="1000" dirty="0">
                <a:solidFill>
                  <a:srgbClr val="C80000"/>
                </a:solidFill>
                <a:latin typeface="Arial"/>
                <a:cs typeface="Arial"/>
              </a:rPr>
              <a:t>fault</a:t>
            </a:r>
            <a:r>
              <a:rPr sz="1000" spc="-30" dirty="0">
                <a:solidFill>
                  <a:srgbClr val="C80000"/>
                </a:solidFill>
                <a:latin typeface="Arial"/>
                <a:cs typeface="Arial"/>
              </a:rPr>
              <a:t> </a:t>
            </a:r>
            <a:r>
              <a:rPr sz="1000" dirty="0">
                <a:solidFill>
                  <a:srgbClr val="C80000"/>
                </a:solidFill>
                <a:latin typeface="Arial"/>
                <a:cs typeface="Arial"/>
              </a:rPr>
              <a:t>tolerant</a:t>
            </a:r>
            <a:r>
              <a:rPr sz="1000" spc="-30" dirty="0">
                <a:solidFill>
                  <a:srgbClr val="C80000"/>
                </a:solidFill>
                <a:latin typeface="Arial"/>
                <a:cs typeface="Arial"/>
              </a:rPr>
              <a:t> </a:t>
            </a:r>
            <a:r>
              <a:rPr sz="1000" dirty="0">
                <a:solidFill>
                  <a:srgbClr val="C80000"/>
                </a:solidFill>
                <a:latin typeface="Arial"/>
                <a:cs typeface="Arial"/>
              </a:rPr>
              <a:t>group</a:t>
            </a:r>
            <a:r>
              <a:rPr sz="1000" spc="-30" dirty="0">
                <a:solidFill>
                  <a:srgbClr val="C80000"/>
                </a:solidFill>
                <a:latin typeface="Arial"/>
                <a:cs typeface="Arial"/>
              </a:rPr>
              <a:t> </a:t>
            </a:r>
            <a:r>
              <a:rPr sz="1000" dirty="0">
                <a:solidFill>
                  <a:srgbClr val="C80000"/>
                </a:solidFill>
                <a:latin typeface="Arial"/>
                <a:cs typeface="Arial"/>
              </a:rPr>
              <a:t>need</a:t>
            </a:r>
            <a:r>
              <a:rPr sz="1000" spc="-30" dirty="0">
                <a:solidFill>
                  <a:srgbClr val="C80000"/>
                </a:solidFill>
                <a:latin typeface="Arial"/>
                <a:cs typeface="Arial"/>
              </a:rPr>
              <a:t> </a:t>
            </a:r>
            <a:r>
              <a:rPr sz="1000" dirty="0">
                <a:solidFill>
                  <a:srgbClr val="C80000"/>
                </a:solidFill>
                <a:latin typeface="Arial"/>
                <a:cs typeface="Arial"/>
              </a:rPr>
              <a:t>to</a:t>
            </a:r>
            <a:r>
              <a:rPr sz="1000" spc="-30" dirty="0">
                <a:solidFill>
                  <a:srgbClr val="C80000"/>
                </a:solidFill>
                <a:latin typeface="Arial"/>
                <a:cs typeface="Arial"/>
              </a:rPr>
              <a:t> </a:t>
            </a:r>
            <a:r>
              <a:rPr sz="1000" spc="-25" dirty="0">
                <a:solidFill>
                  <a:srgbClr val="C80000"/>
                </a:solidFill>
                <a:latin typeface="Arial"/>
                <a:cs typeface="Arial"/>
              </a:rPr>
              <a:t>be?</a:t>
            </a:r>
            <a:endParaRPr sz="1000">
              <a:latin typeface="Arial"/>
              <a:cs typeface="Arial"/>
            </a:endParaRPr>
          </a:p>
          <a:p>
            <a:pPr marL="283210" marR="102870" indent="-120650">
              <a:lnSpc>
                <a:spcPct val="111600"/>
              </a:lnSpc>
              <a:spcBef>
                <a:spcPts val="585"/>
              </a:spcBef>
              <a:buClr>
                <a:srgbClr val="3333B2"/>
              </a:buClr>
              <a:buFont typeface="Menlo"/>
              <a:buChar char="•"/>
              <a:tabLst>
                <a:tab pos="278765" algn="l"/>
              </a:tabLst>
            </a:pPr>
            <a:r>
              <a:rPr sz="900" dirty="0">
                <a:latin typeface="Arial"/>
                <a:cs typeface="Arial"/>
              </a:rPr>
              <a:t>With</a:t>
            </a:r>
            <a:r>
              <a:rPr sz="900" spc="-10" dirty="0">
                <a:latin typeface="Arial"/>
                <a:cs typeface="Arial"/>
              </a:rPr>
              <a:t> </a:t>
            </a:r>
            <a:r>
              <a:rPr sz="900" dirty="0">
                <a:solidFill>
                  <a:srgbClr val="C80000"/>
                </a:solidFill>
                <a:latin typeface="Arial"/>
                <a:cs typeface="Arial"/>
              </a:rPr>
              <a:t>halting</a:t>
            </a:r>
            <a:r>
              <a:rPr sz="900" spc="-10" dirty="0">
                <a:solidFill>
                  <a:srgbClr val="C80000"/>
                </a:solidFill>
                <a:latin typeface="Arial"/>
                <a:cs typeface="Arial"/>
              </a:rPr>
              <a:t> failures </a:t>
            </a:r>
            <a:r>
              <a:rPr sz="900" spc="-10" dirty="0">
                <a:latin typeface="Arial"/>
                <a:cs typeface="Arial"/>
              </a:rPr>
              <a:t>(crash/omission/timing</a:t>
            </a:r>
            <a:r>
              <a:rPr sz="900" spc="-5" dirty="0">
                <a:latin typeface="Arial"/>
                <a:cs typeface="Arial"/>
              </a:rPr>
              <a:t> </a:t>
            </a:r>
            <a:r>
              <a:rPr sz="900" dirty="0">
                <a:latin typeface="Arial"/>
                <a:cs typeface="Arial"/>
              </a:rPr>
              <a:t>failures):</a:t>
            </a:r>
            <a:r>
              <a:rPr sz="900" spc="50" dirty="0">
                <a:latin typeface="Arial"/>
                <a:cs typeface="Arial"/>
              </a:rPr>
              <a:t> </a:t>
            </a:r>
            <a:r>
              <a:rPr sz="900" dirty="0">
                <a:latin typeface="Arial"/>
                <a:cs typeface="Arial"/>
              </a:rPr>
              <a:t>we</a:t>
            </a:r>
            <a:r>
              <a:rPr sz="900" spc="-10" dirty="0">
                <a:latin typeface="Arial"/>
                <a:cs typeface="Arial"/>
              </a:rPr>
              <a:t> </a:t>
            </a:r>
            <a:r>
              <a:rPr sz="900" dirty="0">
                <a:latin typeface="Arial"/>
                <a:cs typeface="Arial"/>
              </a:rPr>
              <a:t>need</a:t>
            </a:r>
            <a:r>
              <a:rPr sz="900" spc="-5" dirty="0">
                <a:latin typeface="Arial"/>
                <a:cs typeface="Arial"/>
              </a:rPr>
              <a:t> </a:t>
            </a:r>
            <a:r>
              <a:rPr sz="900" dirty="0">
                <a:latin typeface="Arial"/>
                <a:cs typeface="Arial"/>
              </a:rPr>
              <a:t>a</a:t>
            </a:r>
            <a:r>
              <a:rPr sz="900" spc="-10" dirty="0">
                <a:latin typeface="Arial"/>
                <a:cs typeface="Arial"/>
              </a:rPr>
              <a:t> </a:t>
            </a:r>
            <a:r>
              <a:rPr sz="900" dirty="0">
                <a:latin typeface="Arial"/>
                <a:cs typeface="Arial"/>
              </a:rPr>
              <a:t>total</a:t>
            </a:r>
            <a:r>
              <a:rPr sz="900" spc="-10" dirty="0">
                <a:latin typeface="Arial"/>
                <a:cs typeface="Arial"/>
              </a:rPr>
              <a:t> </a:t>
            </a:r>
            <a:r>
              <a:rPr sz="900" spc="-25" dirty="0">
                <a:latin typeface="Arial"/>
                <a:cs typeface="Arial"/>
              </a:rPr>
              <a:t>of </a:t>
            </a:r>
            <a:r>
              <a:rPr sz="900" i="1" dirty="0">
                <a:latin typeface="Arial"/>
                <a:cs typeface="Arial"/>
              </a:rPr>
              <a:t>k</a:t>
            </a:r>
            <a:r>
              <a:rPr sz="900" i="1" spc="-65" dirty="0">
                <a:latin typeface="Arial"/>
                <a:cs typeface="Arial"/>
              </a:rPr>
              <a:t> </a:t>
            </a:r>
            <a:r>
              <a:rPr sz="900" spc="185" dirty="0">
                <a:latin typeface="Arial"/>
                <a:cs typeface="Arial"/>
              </a:rPr>
              <a:t>+</a:t>
            </a:r>
            <a:r>
              <a:rPr sz="900" spc="-130" dirty="0">
                <a:latin typeface="Arial"/>
                <a:cs typeface="Arial"/>
              </a:rPr>
              <a:t> </a:t>
            </a:r>
            <a:r>
              <a:rPr sz="900" dirty="0">
                <a:latin typeface="Arial"/>
                <a:cs typeface="Arial"/>
              </a:rPr>
              <a:t>1</a:t>
            </a:r>
            <a:r>
              <a:rPr sz="900" spc="-25" dirty="0">
                <a:latin typeface="Arial"/>
                <a:cs typeface="Arial"/>
              </a:rPr>
              <a:t> </a:t>
            </a:r>
            <a:r>
              <a:rPr sz="900" dirty="0">
                <a:latin typeface="Arial"/>
                <a:cs typeface="Arial"/>
              </a:rPr>
              <a:t>members</a:t>
            </a:r>
            <a:r>
              <a:rPr sz="900" spc="-20" dirty="0">
                <a:latin typeface="Arial"/>
                <a:cs typeface="Arial"/>
              </a:rPr>
              <a:t> </a:t>
            </a:r>
            <a:r>
              <a:rPr sz="900" dirty="0">
                <a:latin typeface="Arial"/>
                <a:cs typeface="Arial"/>
              </a:rPr>
              <a:t>as</a:t>
            </a:r>
            <a:r>
              <a:rPr sz="900" spc="-25" dirty="0">
                <a:latin typeface="Arial"/>
                <a:cs typeface="Arial"/>
              </a:rPr>
              <a:t> </a:t>
            </a:r>
            <a:r>
              <a:rPr sz="900" dirty="0">
                <a:solidFill>
                  <a:srgbClr val="3333B2"/>
                </a:solidFill>
                <a:latin typeface="Arial"/>
                <a:cs typeface="Arial"/>
              </a:rPr>
              <a:t>no</a:t>
            </a:r>
            <a:r>
              <a:rPr sz="900" spc="-20" dirty="0">
                <a:solidFill>
                  <a:srgbClr val="3333B2"/>
                </a:solidFill>
                <a:latin typeface="Arial"/>
                <a:cs typeface="Arial"/>
              </a:rPr>
              <a:t> </a:t>
            </a:r>
            <a:r>
              <a:rPr sz="900" dirty="0">
                <a:solidFill>
                  <a:srgbClr val="3333B2"/>
                </a:solidFill>
                <a:latin typeface="Arial"/>
                <a:cs typeface="Arial"/>
              </a:rPr>
              <a:t>member</a:t>
            </a:r>
            <a:r>
              <a:rPr sz="900" spc="-25" dirty="0">
                <a:solidFill>
                  <a:srgbClr val="3333B2"/>
                </a:solidFill>
                <a:latin typeface="Arial"/>
                <a:cs typeface="Arial"/>
              </a:rPr>
              <a:t> </a:t>
            </a:r>
            <a:r>
              <a:rPr sz="900" dirty="0">
                <a:solidFill>
                  <a:srgbClr val="3333B2"/>
                </a:solidFill>
                <a:latin typeface="Arial"/>
                <a:cs typeface="Arial"/>
              </a:rPr>
              <a:t>will</a:t>
            </a:r>
            <a:r>
              <a:rPr sz="900" spc="-25" dirty="0">
                <a:solidFill>
                  <a:srgbClr val="3333B2"/>
                </a:solidFill>
                <a:latin typeface="Arial"/>
                <a:cs typeface="Arial"/>
              </a:rPr>
              <a:t> </a:t>
            </a:r>
            <a:r>
              <a:rPr sz="900" dirty="0">
                <a:solidFill>
                  <a:srgbClr val="3333B2"/>
                </a:solidFill>
                <a:latin typeface="Arial"/>
                <a:cs typeface="Arial"/>
              </a:rPr>
              <a:t>produce</a:t>
            </a:r>
            <a:r>
              <a:rPr sz="900" spc="-20" dirty="0">
                <a:solidFill>
                  <a:srgbClr val="3333B2"/>
                </a:solidFill>
                <a:latin typeface="Arial"/>
                <a:cs typeface="Arial"/>
              </a:rPr>
              <a:t> </a:t>
            </a:r>
            <a:r>
              <a:rPr sz="900" dirty="0">
                <a:solidFill>
                  <a:srgbClr val="3333B2"/>
                </a:solidFill>
                <a:latin typeface="Arial"/>
                <a:cs typeface="Arial"/>
              </a:rPr>
              <a:t>an</a:t>
            </a:r>
            <a:r>
              <a:rPr sz="900" spc="-25" dirty="0">
                <a:solidFill>
                  <a:srgbClr val="3333B2"/>
                </a:solidFill>
                <a:latin typeface="Arial"/>
                <a:cs typeface="Arial"/>
              </a:rPr>
              <a:t> </a:t>
            </a:r>
            <a:r>
              <a:rPr sz="900" dirty="0">
                <a:solidFill>
                  <a:srgbClr val="3333B2"/>
                </a:solidFill>
                <a:latin typeface="Arial"/>
                <a:cs typeface="Arial"/>
              </a:rPr>
              <a:t>incorrect</a:t>
            </a:r>
            <a:r>
              <a:rPr sz="900" spc="-20" dirty="0">
                <a:solidFill>
                  <a:srgbClr val="3333B2"/>
                </a:solidFill>
                <a:latin typeface="Arial"/>
                <a:cs typeface="Arial"/>
              </a:rPr>
              <a:t> </a:t>
            </a:r>
            <a:r>
              <a:rPr sz="900" dirty="0">
                <a:solidFill>
                  <a:srgbClr val="3333B2"/>
                </a:solidFill>
                <a:latin typeface="Arial"/>
                <a:cs typeface="Arial"/>
              </a:rPr>
              <a:t>result,</a:t>
            </a:r>
            <a:r>
              <a:rPr sz="900" spc="-25" dirty="0">
                <a:solidFill>
                  <a:srgbClr val="3333B2"/>
                </a:solidFill>
                <a:latin typeface="Arial"/>
                <a:cs typeface="Arial"/>
              </a:rPr>
              <a:t> </a:t>
            </a:r>
            <a:r>
              <a:rPr sz="900" dirty="0">
                <a:solidFill>
                  <a:srgbClr val="3333B2"/>
                </a:solidFill>
                <a:latin typeface="Arial"/>
                <a:cs typeface="Arial"/>
              </a:rPr>
              <a:t>so</a:t>
            </a:r>
            <a:r>
              <a:rPr sz="900" spc="-20" dirty="0">
                <a:solidFill>
                  <a:srgbClr val="3333B2"/>
                </a:solidFill>
                <a:latin typeface="Arial"/>
                <a:cs typeface="Arial"/>
              </a:rPr>
              <a:t> </a:t>
            </a:r>
            <a:r>
              <a:rPr sz="900" spc="-25" dirty="0">
                <a:solidFill>
                  <a:srgbClr val="3333B2"/>
                </a:solidFill>
                <a:latin typeface="Arial"/>
                <a:cs typeface="Arial"/>
              </a:rPr>
              <a:t>the </a:t>
            </a:r>
            <a:r>
              <a:rPr sz="900" dirty="0">
                <a:solidFill>
                  <a:srgbClr val="3333B2"/>
                </a:solidFill>
                <a:latin typeface="Arial"/>
                <a:cs typeface="Arial"/>
              </a:rPr>
              <a:t>result</a:t>
            </a:r>
            <a:r>
              <a:rPr sz="900" spc="-25" dirty="0">
                <a:solidFill>
                  <a:srgbClr val="3333B2"/>
                </a:solidFill>
                <a:latin typeface="Arial"/>
                <a:cs typeface="Arial"/>
              </a:rPr>
              <a:t> </a:t>
            </a:r>
            <a:r>
              <a:rPr sz="900" dirty="0">
                <a:solidFill>
                  <a:srgbClr val="3333B2"/>
                </a:solidFill>
                <a:latin typeface="Arial"/>
                <a:cs typeface="Arial"/>
              </a:rPr>
              <a:t>of</a:t>
            </a:r>
            <a:r>
              <a:rPr sz="900" spc="-20" dirty="0">
                <a:solidFill>
                  <a:srgbClr val="3333B2"/>
                </a:solidFill>
                <a:latin typeface="Arial"/>
                <a:cs typeface="Arial"/>
              </a:rPr>
              <a:t> </a:t>
            </a:r>
            <a:r>
              <a:rPr sz="900" dirty="0">
                <a:solidFill>
                  <a:srgbClr val="3333B2"/>
                </a:solidFill>
                <a:latin typeface="Arial"/>
                <a:cs typeface="Arial"/>
              </a:rPr>
              <a:t>one</a:t>
            </a:r>
            <a:r>
              <a:rPr sz="900" spc="-25" dirty="0">
                <a:solidFill>
                  <a:srgbClr val="3333B2"/>
                </a:solidFill>
                <a:latin typeface="Arial"/>
                <a:cs typeface="Arial"/>
              </a:rPr>
              <a:t> </a:t>
            </a:r>
            <a:r>
              <a:rPr sz="900" dirty="0">
                <a:solidFill>
                  <a:srgbClr val="3333B2"/>
                </a:solidFill>
                <a:latin typeface="Arial"/>
                <a:cs typeface="Arial"/>
              </a:rPr>
              <a:t>member</a:t>
            </a:r>
            <a:r>
              <a:rPr sz="900" spc="-20" dirty="0">
                <a:solidFill>
                  <a:srgbClr val="3333B2"/>
                </a:solidFill>
                <a:latin typeface="Arial"/>
                <a:cs typeface="Arial"/>
              </a:rPr>
              <a:t> </a:t>
            </a:r>
            <a:r>
              <a:rPr sz="900" dirty="0">
                <a:solidFill>
                  <a:srgbClr val="3333B2"/>
                </a:solidFill>
                <a:latin typeface="Arial"/>
                <a:cs typeface="Arial"/>
              </a:rPr>
              <a:t>is</a:t>
            </a:r>
            <a:r>
              <a:rPr sz="900" spc="-25" dirty="0">
                <a:solidFill>
                  <a:srgbClr val="3333B2"/>
                </a:solidFill>
                <a:latin typeface="Arial"/>
                <a:cs typeface="Arial"/>
              </a:rPr>
              <a:t> </a:t>
            </a:r>
            <a:r>
              <a:rPr sz="900" dirty="0">
                <a:solidFill>
                  <a:srgbClr val="3333B2"/>
                </a:solidFill>
                <a:latin typeface="Arial"/>
                <a:cs typeface="Arial"/>
              </a:rPr>
              <a:t>good</a:t>
            </a:r>
            <a:r>
              <a:rPr sz="900" spc="-20" dirty="0">
                <a:solidFill>
                  <a:srgbClr val="3333B2"/>
                </a:solidFill>
                <a:latin typeface="Arial"/>
                <a:cs typeface="Arial"/>
              </a:rPr>
              <a:t> </a:t>
            </a:r>
            <a:r>
              <a:rPr sz="900" spc="-10" dirty="0">
                <a:solidFill>
                  <a:srgbClr val="3333B2"/>
                </a:solidFill>
                <a:latin typeface="Arial"/>
                <a:cs typeface="Arial"/>
              </a:rPr>
              <a:t>enough</a:t>
            </a:r>
            <a:r>
              <a:rPr sz="900" spc="-10" dirty="0">
                <a:latin typeface="Arial"/>
                <a:cs typeface="Arial"/>
              </a:rPr>
              <a:t>.</a:t>
            </a:r>
            <a:endParaRPr sz="900">
              <a:latin typeface="Arial"/>
              <a:cs typeface="Arial"/>
            </a:endParaRPr>
          </a:p>
          <a:p>
            <a:pPr marL="283210" marR="17780" indent="-120650">
              <a:lnSpc>
                <a:spcPct val="111600"/>
              </a:lnSpc>
              <a:spcBef>
                <a:spcPts val="395"/>
              </a:spcBef>
              <a:buClr>
                <a:srgbClr val="3333B2"/>
              </a:buClr>
              <a:buFont typeface="Menlo"/>
              <a:buChar char="•"/>
              <a:tabLst>
                <a:tab pos="278765" algn="l"/>
              </a:tabLst>
            </a:pPr>
            <a:r>
              <a:rPr sz="900" dirty="0">
                <a:latin typeface="Arial"/>
                <a:cs typeface="Arial"/>
              </a:rPr>
              <a:t>With</a:t>
            </a:r>
            <a:r>
              <a:rPr sz="900" spc="-65" dirty="0">
                <a:latin typeface="Arial"/>
                <a:cs typeface="Arial"/>
              </a:rPr>
              <a:t> </a:t>
            </a:r>
            <a:r>
              <a:rPr sz="900" dirty="0">
                <a:solidFill>
                  <a:srgbClr val="C80000"/>
                </a:solidFill>
                <a:latin typeface="Arial"/>
                <a:cs typeface="Arial"/>
              </a:rPr>
              <a:t>arbitrary</a:t>
            </a:r>
            <a:r>
              <a:rPr sz="900" spc="-35" dirty="0">
                <a:solidFill>
                  <a:srgbClr val="C80000"/>
                </a:solidFill>
                <a:latin typeface="Arial"/>
                <a:cs typeface="Arial"/>
              </a:rPr>
              <a:t> </a:t>
            </a:r>
            <a:r>
              <a:rPr sz="900" dirty="0">
                <a:solidFill>
                  <a:srgbClr val="C80000"/>
                </a:solidFill>
                <a:latin typeface="Arial"/>
                <a:cs typeface="Arial"/>
              </a:rPr>
              <a:t>failures</a:t>
            </a:r>
            <a:r>
              <a:rPr sz="900" dirty="0">
                <a:latin typeface="Arial"/>
                <a:cs typeface="Arial"/>
              </a:rPr>
              <a:t>:</a:t>
            </a:r>
            <a:r>
              <a:rPr sz="900" spc="15" dirty="0">
                <a:latin typeface="Arial"/>
                <a:cs typeface="Arial"/>
              </a:rPr>
              <a:t> </a:t>
            </a:r>
            <a:r>
              <a:rPr sz="900" dirty="0">
                <a:latin typeface="Arial"/>
                <a:cs typeface="Arial"/>
              </a:rPr>
              <a:t>we</a:t>
            </a:r>
            <a:r>
              <a:rPr sz="900" spc="-40" dirty="0">
                <a:latin typeface="Arial"/>
                <a:cs typeface="Arial"/>
              </a:rPr>
              <a:t> </a:t>
            </a:r>
            <a:r>
              <a:rPr sz="900" dirty="0">
                <a:latin typeface="Arial"/>
                <a:cs typeface="Arial"/>
              </a:rPr>
              <a:t>need</a:t>
            </a:r>
            <a:r>
              <a:rPr sz="900" spc="-40" dirty="0">
                <a:latin typeface="Arial"/>
                <a:cs typeface="Arial"/>
              </a:rPr>
              <a:t> </a:t>
            </a:r>
            <a:r>
              <a:rPr sz="900" dirty="0">
                <a:latin typeface="Arial"/>
                <a:cs typeface="Arial"/>
              </a:rPr>
              <a:t>2</a:t>
            </a:r>
            <a:r>
              <a:rPr sz="900" i="1" dirty="0">
                <a:latin typeface="Arial"/>
                <a:cs typeface="Arial"/>
              </a:rPr>
              <a:t>k</a:t>
            </a:r>
            <a:r>
              <a:rPr sz="900" i="1" spc="-60" dirty="0">
                <a:latin typeface="Arial"/>
                <a:cs typeface="Arial"/>
              </a:rPr>
              <a:t> </a:t>
            </a:r>
            <a:r>
              <a:rPr sz="900" spc="185" dirty="0">
                <a:latin typeface="Arial"/>
                <a:cs typeface="Arial"/>
              </a:rPr>
              <a:t>+</a:t>
            </a:r>
            <a:r>
              <a:rPr sz="900" spc="-130" dirty="0">
                <a:latin typeface="Arial"/>
                <a:cs typeface="Arial"/>
              </a:rPr>
              <a:t> </a:t>
            </a:r>
            <a:r>
              <a:rPr sz="900" dirty="0">
                <a:latin typeface="Arial"/>
                <a:cs typeface="Arial"/>
              </a:rPr>
              <a:t>1</a:t>
            </a:r>
            <a:r>
              <a:rPr sz="900" spc="-40" dirty="0">
                <a:latin typeface="Arial"/>
                <a:cs typeface="Arial"/>
              </a:rPr>
              <a:t> </a:t>
            </a:r>
            <a:r>
              <a:rPr sz="900" spc="-10" dirty="0">
                <a:latin typeface="Arial"/>
                <a:cs typeface="Arial"/>
              </a:rPr>
              <a:t>members</a:t>
            </a:r>
            <a:r>
              <a:rPr sz="900" spc="-35" dirty="0">
                <a:latin typeface="Arial"/>
                <a:cs typeface="Arial"/>
              </a:rPr>
              <a:t> </a:t>
            </a:r>
            <a:r>
              <a:rPr sz="900" dirty="0">
                <a:latin typeface="Arial"/>
                <a:cs typeface="Arial"/>
              </a:rPr>
              <a:t>so</a:t>
            </a:r>
            <a:r>
              <a:rPr sz="900" spc="-40" dirty="0">
                <a:latin typeface="Arial"/>
                <a:cs typeface="Arial"/>
              </a:rPr>
              <a:t> </a:t>
            </a:r>
            <a:r>
              <a:rPr sz="900" dirty="0">
                <a:latin typeface="Arial"/>
                <a:cs typeface="Arial"/>
              </a:rPr>
              <a:t>that</a:t>
            </a:r>
            <a:r>
              <a:rPr sz="900" spc="-40" dirty="0">
                <a:latin typeface="Arial"/>
                <a:cs typeface="Arial"/>
              </a:rPr>
              <a:t> </a:t>
            </a:r>
            <a:r>
              <a:rPr sz="900" dirty="0">
                <a:latin typeface="Arial"/>
                <a:cs typeface="Arial"/>
              </a:rPr>
              <a:t>the</a:t>
            </a:r>
            <a:r>
              <a:rPr sz="900" spc="-35" dirty="0">
                <a:latin typeface="Arial"/>
                <a:cs typeface="Arial"/>
              </a:rPr>
              <a:t> </a:t>
            </a:r>
            <a:r>
              <a:rPr sz="900" dirty="0">
                <a:latin typeface="Arial"/>
                <a:cs typeface="Arial"/>
              </a:rPr>
              <a:t>correct</a:t>
            </a:r>
            <a:r>
              <a:rPr sz="900" spc="-40" dirty="0">
                <a:latin typeface="Arial"/>
                <a:cs typeface="Arial"/>
              </a:rPr>
              <a:t> </a:t>
            </a:r>
            <a:r>
              <a:rPr sz="900" spc="-10" dirty="0">
                <a:latin typeface="Arial"/>
                <a:cs typeface="Arial"/>
              </a:rPr>
              <a:t>result </a:t>
            </a:r>
            <a:r>
              <a:rPr sz="900" dirty="0">
                <a:latin typeface="Arial"/>
                <a:cs typeface="Arial"/>
              </a:rPr>
              <a:t>can</a:t>
            </a:r>
            <a:r>
              <a:rPr sz="900" spc="-25" dirty="0">
                <a:latin typeface="Arial"/>
                <a:cs typeface="Arial"/>
              </a:rPr>
              <a:t> </a:t>
            </a:r>
            <a:r>
              <a:rPr sz="900" dirty="0">
                <a:latin typeface="Arial"/>
                <a:cs typeface="Arial"/>
              </a:rPr>
              <a:t>be</a:t>
            </a:r>
            <a:r>
              <a:rPr sz="900" spc="-25" dirty="0">
                <a:latin typeface="Arial"/>
                <a:cs typeface="Arial"/>
              </a:rPr>
              <a:t> </a:t>
            </a:r>
            <a:r>
              <a:rPr sz="900" dirty="0">
                <a:latin typeface="Arial"/>
                <a:cs typeface="Arial"/>
              </a:rPr>
              <a:t>obtained</a:t>
            </a:r>
            <a:r>
              <a:rPr sz="900" spc="-25" dirty="0">
                <a:latin typeface="Arial"/>
                <a:cs typeface="Arial"/>
              </a:rPr>
              <a:t> </a:t>
            </a:r>
            <a:r>
              <a:rPr sz="900" dirty="0">
                <a:latin typeface="Arial"/>
                <a:cs typeface="Arial"/>
              </a:rPr>
              <a:t>through</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majority</a:t>
            </a:r>
            <a:r>
              <a:rPr sz="900" spc="-25" dirty="0">
                <a:latin typeface="Arial"/>
                <a:cs typeface="Arial"/>
              </a:rPr>
              <a:t> </a:t>
            </a:r>
            <a:r>
              <a:rPr sz="900" spc="-20" dirty="0">
                <a:latin typeface="Arial"/>
                <a:cs typeface="Arial"/>
              </a:rPr>
              <a:t>vote.</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89789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Failure</a:t>
            </a:r>
            <a:r>
              <a:rPr sz="500" spc="-5" dirty="0">
                <a:latin typeface="Arial"/>
                <a:cs typeface="Arial"/>
                <a:hlinkClick r:id="rId4" action="ppaction://hlinksldjump"/>
              </a:rPr>
              <a:t> </a:t>
            </a:r>
            <a:r>
              <a:rPr sz="500" dirty="0">
                <a:latin typeface="Arial"/>
                <a:cs typeface="Arial"/>
                <a:hlinkClick r:id="rId4" action="ppaction://hlinksldjump"/>
              </a:rPr>
              <a:t>masking</a:t>
            </a:r>
            <a:r>
              <a:rPr sz="500" spc="-5" dirty="0">
                <a:latin typeface="Arial"/>
                <a:cs typeface="Arial"/>
                <a:hlinkClick r:id="rId4" action="ppaction://hlinksldjump"/>
              </a:rPr>
              <a:t> </a:t>
            </a:r>
            <a:r>
              <a:rPr sz="500" dirty="0">
                <a:latin typeface="Arial"/>
                <a:cs typeface="Arial"/>
                <a:hlinkClick r:id="rId4" action="ppaction://hlinksldjump"/>
              </a:rPr>
              <a:t>and</a:t>
            </a:r>
            <a:r>
              <a:rPr sz="500" spc="-5" dirty="0">
                <a:latin typeface="Arial"/>
                <a:cs typeface="Arial"/>
                <a:hlinkClick r:id="rId4" action="ppaction://hlinksldjump"/>
              </a:rPr>
              <a:t> </a:t>
            </a:r>
            <a:r>
              <a:rPr sz="500" spc="-10" dirty="0">
                <a:latin typeface="Arial"/>
                <a:cs typeface="Arial"/>
                <a:hlinkClick r:id="rId4" action="ppaction://hlinksldjump"/>
              </a:rPr>
              <a:t>replication</a:t>
            </a:r>
            <a:endParaRPr sz="500">
              <a:latin typeface="Arial"/>
              <a:cs typeface="Arial"/>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74465"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Groups</a:t>
            </a:r>
            <a:r>
              <a:rPr spc="-50" dirty="0"/>
              <a:t> </a:t>
            </a:r>
            <a:r>
              <a:rPr dirty="0"/>
              <a:t>and</a:t>
            </a:r>
            <a:r>
              <a:rPr spc="-50" dirty="0"/>
              <a:t> </a:t>
            </a:r>
            <a:r>
              <a:rPr dirty="0"/>
              <a:t>failure</a:t>
            </a:r>
            <a:r>
              <a:rPr spc="-50" dirty="0"/>
              <a:t> </a:t>
            </a:r>
            <a:r>
              <a:rPr spc="-10" dirty="0"/>
              <a:t>masking</a:t>
            </a:r>
          </a:p>
        </p:txBody>
      </p:sp>
      <p:sp>
        <p:nvSpPr>
          <p:cNvPr id="4" name="object 4"/>
          <p:cNvSpPr txBox="1"/>
          <p:nvPr/>
        </p:nvSpPr>
        <p:spPr>
          <a:xfrm>
            <a:off x="309194" y="470520"/>
            <a:ext cx="3977004" cy="2610485"/>
          </a:xfrm>
          <a:prstGeom prst="rect">
            <a:avLst/>
          </a:prstGeom>
        </p:spPr>
        <p:txBody>
          <a:bodyPr vert="horz" wrap="square" lIns="0" tIns="56515" rIns="0" bIns="0" rtlCol="0">
            <a:spAutoFit/>
          </a:bodyPr>
          <a:lstStyle/>
          <a:p>
            <a:pPr marL="50800">
              <a:lnSpc>
                <a:spcPct val="100000"/>
              </a:lnSpc>
              <a:spcBef>
                <a:spcPts val="445"/>
              </a:spcBef>
            </a:pPr>
            <a:r>
              <a:rPr sz="1000" i="1" spc="-10" dirty="0">
                <a:solidFill>
                  <a:srgbClr val="3333B2"/>
                </a:solidFill>
                <a:latin typeface="Arial"/>
                <a:cs typeface="Arial"/>
              </a:rPr>
              <a:t>k</a:t>
            </a:r>
            <a:r>
              <a:rPr sz="1000" i="1" spc="-180" dirty="0">
                <a:solidFill>
                  <a:srgbClr val="3333B2"/>
                </a:solidFill>
                <a:latin typeface="Arial"/>
                <a:cs typeface="Arial"/>
              </a:rPr>
              <a:t> </a:t>
            </a:r>
            <a:r>
              <a:rPr sz="1000" spc="-10" dirty="0">
                <a:solidFill>
                  <a:srgbClr val="3333B2"/>
                </a:solidFill>
                <a:latin typeface="Arial"/>
                <a:cs typeface="Arial"/>
              </a:rPr>
              <a:t>-</a:t>
            </a:r>
            <a:r>
              <a:rPr sz="1000" dirty="0">
                <a:solidFill>
                  <a:srgbClr val="3333B2"/>
                </a:solidFill>
                <a:latin typeface="Arial"/>
                <a:cs typeface="Arial"/>
              </a:rPr>
              <a:t>fault</a:t>
            </a:r>
            <a:r>
              <a:rPr sz="1000" spc="-55" dirty="0">
                <a:solidFill>
                  <a:srgbClr val="3333B2"/>
                </a:solidFill>
                <a:latin typeface="Arial"/>
                <a:cs typeface="Arial"/>
              </a:rPr>
              <a:t> </a:t>
            </a:r>
            <a:r>
              <a:rPr sz="1000" dirty="0">
                <a:solidFill>
                  <a:srgbClr val="3333B2"/>
                </a:solidFill>
                <a:latin typeface="Arial"/>
                <a:cs typeface="Arial"/>
              </a:rPr>
              <a:t>tolerant</a:t>
            </a:r>
            <a:r>
              <a:rPr sz="1000" spc="-40" dirty="0">
                <a:solidFill>
                  <a:srgbClr val="3333B2"/>
                </a:solidFill>
                <a:latin typeface="Arial"/>
                <a:cs typeface="Arial"/>
              </a:rPr>
              <a:t> </a:t>
            </a:r>
            <a:r>
              <a:rPr sz="1000" spc="-20" dirty="0">
                <a:solidFill>
                  <a:srgbClr val="3333B2"/>
                </a:solidFill>
                <a:latin typeface="Arial"/>
                <a:cs typeface="Arial"/>
              </a:rPr>
              <a:t>group</a:t>
            </a:r>
            <a:endParaRPr sz="1000">
              <a:latin typeface="Arial"/>
              <a:cs typeface="Arial"/>
            </a:endParaRPr>
          </a:p>
          <a:p>
            <a:pPr marL="50800" marR="30480" indent="-5715">
              <a:lnSpc>
                <a:spcPct val="111600"/>
              </a:lnSpc>
              <a:spcBef>
                <a:spcPts val="180"/>
              </a:spcBef>
            </a:pPr>
            <a:r>
              <a:rPr sz="900" dirty="0">
                <a:latin typeface="Arial"/>
                <a:cs typeface="Arial"/>
              </a:rPr>
              <a:t>When</a:t>
            </a:r>
            <a:r>
              <a:rPr sz="900" spc="-30"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group</a:t>
            </a:r>
            <a:r>
              <a:rPr sz="900" spc="-25" dirty="0">
                <a:latin typeface="Arial"/>
                <a:cs typeface="Arial"/>
              </a:rPr>
              <a:t> </a:t>
            </a:r>
            <a:r>
              <a:rPr sz="900" dirty="0">
                <a:latin typeface="Arial"/>
                <a:cs typeface="Arial"/>
              </a:rPr>
              <a:t>can</a:t>
            </a:r>
            <a:r>
              <a:rPr sz="900" spc="-30" dirty="0">
                <a:latin typeface="Arial"/>
                <a:cs typeface="Arial"/>
              </a:rPr>
              <a:t> </a:t>
            </a:r>
            <a:r>
              <a:rPr sz="900" dirty="0">
                <a:latin typeface="Arial"/>
                <a:cs typeface="Arial"/>
              </a:rPr>
              <a:t>mask</a:t>
            </a:r>
            <a:r>
              <a:rPr sz="900" spc="-25" dirty="0">
                <a:latin typeface="Arial"/>
                <a:cs typeface="Arial"/>
              </a:rPr>
              <a:t> </a:t>
            </a:r>
            <a:r>
              <a:rPr sz="900" dirty="0">
                <a:latin typeface="Arial"/>
                <a:cs typeface="Arial"/>
              </a:rPr>
              <a:t>any</a:t>
            </a:r>
            <a:r>
              <a:rPr sz="900" spc="-30" dirty="0">
                <a:latin typeface="Arial"/>
                <a:cs typeface="Arial"/>
              </a:rPr>
              <a:t> </a:t>
            </a:r>
            <a:r>
              <a:rPr sz="900" i="1" dirty="0">
                <a:latin typeface="Arial"/>
                <a:cs typeface="Arial"/>
              </a:rPr>
              <a:t>k</a:t>
            </a:r>
            <a:r>
              <a:rPr sz="900" i="1" spc="55" dirty="0">
                <a:latin typeface="Arial"/>
                <a:cs typeface="Arial"/>
              </a:rPr>
              <a:t> </a:t>
            </a:r>
            <a:r>
              <a:rPr sz="900" spc="-10" dirty="0">
                <a:latin typeface="Arial"/>
                <a:cs typeface="Arial"/>
              </a:rPr>
              <a:t>concurrent</a:t>
            </a:r>
            <a:r>
              <a:rPr sz="900" spc="-30" dirty="0">
                <a:latin typeface="Arial"/>
                <a:cs typeface="Arial"/>
              </a:rPr>
              <a:t> </a:t>
            </a:r>
            <a:r>
              <a:rPr sz="900" spc="-10" dirty="0">
                <a:latin typeface="Arial"/>
                <a:cs typeface="Arial"/>
              </a:rPr>
              <a:t>member</a:t>
            </a:r>
            <a:r>
              <a:rPr sz="900" spc="-25" dirty="0">
                <a:latin typeface="Arial"/>
                <a:cs typeface="Arial"/>
              </a:rPr>
              <a:t> </a:t>
            </a:r>
            <a:r>
              <a:rPr sz="900" spc="-10" dirty="0">
                <a:latin typeface="Arial"/>
                <a:cs typeface="Arial"/>
              </a:rPr>
              <a:t>failures</a:t>
            </a:r>
            <a:r>
              <a:rPr sz="900" spc="-30" dirty="0">
                <a:latin typeface="Arial"/>
                <a:cs typeface="Arial"/>
              </a:rPr>
              <a:t> </a:t>
            </a:r>
            <a:r>
              <a:rPr sz="900" dirty="0">
                <a:latin typeface="Arial"/>
                <a:cs typeface="Arial"/>
              </a:rPr>
              <a:t>(</a:t>
            </a:r>
            <a:r>
              <a:rPr sz="900" i="1" dirty="0">
                <a:latin typeface="Arial"/>
                <a:cs typeface="Arial"/>
              </a:rPr>
              <a:t>k</a:t>
            </a:r>
            <a:r>
              <a:rPr sz="900" i="1" spc="55"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called</a:t>
            </a:r>
            <a:r>
              <a:rPr sz="900" spc="-30" dirty="0">
                <a:latin typeface="Arial"/>
                <a:cs typeface="Arial"/>
              </a:rPr>
              <a:t> </a:t>
            </a:r>
            <a:r>
              <a:rPr sz="900" spc="-10" dirty="0">
                <a:solidFill>
                  <a:srgbClr val="3333B2"/>
                </a:solidFill>
                <a:latin typeface="Arial"/>
                <a:cs typeface="Arial"/>
              </a:rPr>
              <a:t>degree </a:t>
            </a:r>
            <a:r>
              <a:rPr sz="900" dirty="0">
                <a:solidFill>
                  <a:srgbClr val="3333B2"/>
                </a:solidFill>
                <a:latin typeface="Arial"/>
                <a:cs typeface="Arial"/>
              </a:rPr>
              <a:t>of</a:t>
            </a:r>
            <a:r>
              <a:rPr sz="900" spc="-35" dirty="0">
                <a:solidFill>
                  <a:srgbClr val="3333B2"/>
                </a:solidFill>
                <a:latin typeface="Arial"/>
                <a:cs typeface="Arial"/>
              </a:rPr>
              <a:t> </a:t>
            </a:r>
            <a:r>
              <a:rPr sz="900" dirty="0">
                <a:solidFill>
                  <a:srgbClr val="3333B2"/>
                </a:solidFill>
                <a:latin typeface="Arial"/>
                <a:cs typeface="Arial"/>
              </a:rPr>
              <a:t>fault</a:t>
            </a:r>
            <a:r>
              <a:rPr sz="900" spc="-30" dirty="0">
                <a:solidFill>
                  <a:srgbClr val="3333B2"/>
                </a:solidFill>
                <a:latin typeface="Arial"/>
                <a:cs typeface="Arial"/>
              </a:rPr>
              <a:t> </a:t>
            </a:r>
            <a:r>
              <a:rPr sz="900" spc="-10" dirty="0">
                <a:solidFill>
                  <a:srgbClr val="3333B2"/>
                </a:solidFill>
                <a:latin typeface="Arial"/>
                <a:cs typeface="Arial"/>
              </a:rPr>
              <a:t>tolerance</a:t>
            </a:r>
            <a:r>
              <a:rPr sz="900" spc="-10" dirty="0">
                <a:latin typeface="Arial"/>
                <a:cs typeface="Arial"/>
              </a:rPr>
              <a:t>).</a:t>
            </a:r>
            <a:endParaRPr sz="900">
              <a:latin typeface="Arial"/>
              <a:cs typeface="Arial"/>
            </a:endParaRPr>
          </a:p>
          <a:p>
            <a:pPr marL="50800">
              <a:lnSpc>
                <a:spcPct val="100000"/>
              </a:lnSpc>
              <a:spcBef>
                <a:spcPts val="815"/>
              </a:spcBef>
            </a:pPr>
            <a:r>
              <a:rPr sz="1000" dirty="0">
                <a:solidFill>
                  <a:srgbClr val="C80000"/>
                </a:solidFill>
                <a:latin typeface="Arial"/>
                <a:cs typeface="Arial"/>
              </a:rPr>
              <a:t>How</a:t>
            </a:r>
            <a:r>
              <a:rPr sz="1000" spc="-40" dirty="0">
                <a:solidFill>
                  <a:srgbClr val="C80000"/>
                </a:solidFill>
                <a:latin typeface="Arial"/>
                <a:cs typeface="Arial"/>
              </a:rPr>
              <a:t> </a:t>
            </a:r>
            <a:r>
              <a:rPr sz="1000" dirty="0">
                <a:solidFill>
                  <a:srgbClr val="C80000"/>
                </a:solidFill>
                <a:latin typeface="Arial"/>
                <a:cs typeface="Arial"/>
              </a:rPr>
              <a:t>large</a:t>
            </a:r>
            <a:r>
              <a:rPr sz="1000" spc="-30" dirty="0">
                <a:solidFill>
                  <a:srgbClr val="C80000"/>
                </a:solidFill>
                <a:latin typeface="Arial"/>
                <a:cs typeface="Arial"/>
              </a:rPr>
              <a:t> </a:t>
            </a:r>
            <a:r>
              <a:rPr sz="1000" dirty="0">
                <a:solidFill>
                  <a:srgbClr val="C80000"/>
                </a:solidFill>
                <a:latin typeface="Arial"/>
                <a:cs typeface="Arial"/>
              </a:rPr>
              <a:t>does</a:t>
            </a:r>
            <a:r>
              <a:rPr sz="1000" spc="-30" dirty="0">
                <a:solidFill>
                  <a:srgbClr val="C80000"/>
                </a:solidFill>
                <a:latin typeface="Arial"/>
                <a:cs typeface="Arial"/>
              </a:rPr>
              <a:t> </a:t>
            </a:r>
            <a:r>
              <a:rPr sz="1000" dirty="0">
                <a:solidFill>
                  <a:srgbClr val="C80000"/>
                </a:solidFill>
                <a:latin typeface="Arial"/>
                <a:cs typeface="Arial"/>
              </a:rPr>
              <a:t>a</a:t>
            </a:r>
            <a:r>
              <a:rPr sz="1000" spc="-30" dirty="0">
                <a:solidFill>
                  <a:srgbClr val="C80000"/>
                </a:solidFill>
                <a:latin typeface="Arial"/>
                <a:cs typeface="Arial"/>
              </a:rPr>
              <a:t> </a:t>
            </a:r>
            <a:r>
              <a:rPr sz="1000" i="1" spc="-10" dirty="0">
                <a:solidFill>
                  <a:srgbClr val="C80000"/>
                </a:solidFill>
                <a:latin typeface="Arial"/>
                <a:cs typeface="Arial"/>
              </a:rPr>
              <a:t>k</a:t>
            </a:r>
            <a:r>
              <a:rPr sz="1000" i="1" spc="-180" dirty="0">
                <a:solidFill>
                  <a:srgbClr val="C80000"/>
                </a:solidFill>
                <a:latin typeface="Arial"/>
                <a:cs typeface="Arial"/>
              </a:rPr>
              <a:t> </a:t>
            </a:r>
            <a:r>
              <a:rPr sz="1000" spc="-10" dirty="0">
                <a:solidFill>
                  <a:srgbClr val="C80000"/>
                </a:solidFill>
                <a:latin typeface="Arial"/>
                <a:cs typeface="Arial"/>
              </a:rPr>
              <a:t>-</a:t>
            </a:r>
            <a:r>
              <a:rPr sz="1000" dirty="0">
                <a:solidFill>
                  <a:srgbClr val="C80000"/>
                </a:solidFill>
                <a:latin typeface="Arial"/>
                <a:cs typeface="Arial"/>
              </a:rPr>
              <a:t>fault</a:t>
            </a:r>
            <a:r>
              <a:rPr sz="1000" spc="-30" dirty="0">
                <a:solidFill>
                  <a:srgbClr val="C80000"/>
                </a:solidFill>
                <a:latin typeface="Arial"/>
                <a:cs typeface="Arial"/>
              </a:rPr>
              <a:t> </a:t>
            </a:r>
            <a:r>
              <a:rPr sz="1000" dirty="0">
                <a:solidFill>
                  <a:srgbClr val="C80000"/>
                </a:solidFill>
                <a:latin typeface="Arial"/>
                <a:cs typeface="Arial"/>
              </a:rPr>
              <a:t>tolerant</a:t>
            </a:r>
            <a:r>
              <a:rPr sz="1000" spc="-30" dirty="0">
                <a:solidFill>
                  <a:srgbClr val="C80000"/>
                </a:solidFill>
                <a:latin typeface="Arial"/>
                <a:cs typeface="Arial"/>
              </a:rPr>
              <a:t> </a:t>
            </a:r>
            <a:r>
              <a:rPr sz="1000" dirty="0">
                <a:solidFill>
                  <a:srgbClr val="C80000"/>
                </a:solidFill>
                <a:latin typeface="Arial"/>
                <a:cs typeface="Arial"/>
              </a:rPr>
              <a:t>group</a:t>
            </a:r>
            <a:r>
              <a:rPr sz="1000" spc="-30" dirty="0">
                <a:solidFill>
                  <a:srgbClr val="C80000"/>
                </a:solidFill>
                <a:latin typeface="Arial"/>
                <a:cs typeface="Arial"/>
              </a:rPr>
              <a:t> </a:t>
            </a:r>
            <a:r>
              <a:rPr sz="1000" dirty="0">
                <a:solidFill>
                  <a:srgbClr val="C80000"/>
                </a:solidFill>
                <a:latin typeface="Arial"/>
                <a:cs typeface="Arial"/>
              </a:rPr>
              <a:t>need</a:t>
            </a:r>
            <a:r>
              <a:rPr sz="1000" spc="-30" dirty="0">
                <a:solidFill>
                  <a:srgbClr val="C80000"/>
                </a:solidFill>
                <a:latin typeface="Arial"/>
                <a:cs typeface="Arial"/>
              </a:rPr>
              <a:t> </a:t>
            </a:r>
            <a:r>
              <a:rPr sz="1000" dirty="0">
                <a:solidFill>
                  <a:srgbClr val="C80000"/>
                </a:solidFill>
                <a:latin typeface="Arial"/>
                <a:cs typeface="Arial"/>
              </a:rPr>
              <a:t>to</a:t>
            </a:r>
            <a:r>
              <a:rPr sz="1000" spc="-30" dirty="0">
                <a:solidFill>
                  <a:srgbClr val="C80000"/>
                </a:solidFill>
                <a:latin typeface="Arial"/>
                <a:cs typeface="Arial"/>
              </a:rPr>
              <a:t> </a:t>
            </a:r>
            <a:r>
              <a:rPr sz="1000" spc="-25" dirty="0">
                <a:solidFill>
                  <a:srgbClr val="C80000"/>
                </a:solidFill>
                <a:latin typeface="Arial"/>
                <a:cs typeface="Arial"/>
              </a:rPr>
              <a:t>be?</a:t>
            </a:r>
            <a:endParaRPr sz="1000">
              <a:latin typeface="Arial"/>
              <a:cs typeface="Arial"/>
            </a:endParaRPr>
          </a:p>
          <a:p>
            <a:pPr marL="303530" marR="115570" indent="-120650">
              <a:lnSpc>
                <a:spcPct val="111600"/>
              </a:lnSpc>
              <a:spcBef>
                <a:spcPts val="585"/>
              </a:spcBef>
              <a:buClr>
                <a:srgbClr val="3333B2"/>
              </a:buClr>
              <a:buFont typeface="Menlo"/>
              <a:buChar char="•"/>
              <a:tabLst>
                <a:tab pos="299085" algn="l"/>
              </a:tabLst>
            </a:pPr>
            <a:r>
              <a:rPr sz="900" dirty="0">
                <a:latin typeface="Arial"/>
                <a:cs typeface="Arial"/>
              </a:rPr>
              <a:t>With</a:t>
            </a:r>
            <a:r>
              <a:rPr sz="900" spc="-10" dirty="0">
                <a:latin typeface="Arial"/>
                <a:cs typeface="Arial"/>
              </a:rPr>
              <a:t> </a:t>
            </a:r>
            <a:r>
              <a:rPr sz="900" dirty="0">
                <a:solidFill>
                  <a:srgbClr val="C80000"/>
                </a:solidFill>
                <a:latin typeface="Arial"/>
                <a:cs typeface="Arial"/>
              </a:rPr>
              <a:t>halting</a:t>
            </a:r>
            <a:r>
              <a:rPr sz="900" spc="-10" dirty="0">
                <a:solidFill>
                  <a:srgbClr val="C80000"/>
                </a:solidFill>
                <a:latin typeface="Arial"/>
                <a:cs typeface="Arial"/>
              </a:rPr>
              <a:t> failures </a:t>
            </a:r>
            <a:r>
              <a:rPr sz="900" spc="-10" dirty="0">
                <a:latin typeface="Arial"/>
                <a:cs typeface="Arial"/>
              </a:rPr>
              <a:t>(crash/omission/timing</a:t>
            </a:r>
            <a:r>
              <a:rPr sz="900" spc="-5" dirty="0">
                <a:latin typeface="Arial"/>
                <a:cs typeface="Arial"/>
              </a:rPr>
              <a:t> </a:t>
            </a:r>
            <a:r>
              <a:rPr sz="900" dirty="0">
                <a:latin typeface="Arial"/>
                <a:cs typeface="Arial"/>
              </a:rPr>
              <a:t>failures):</a:t>
            </a:r>
            <a:r>
              <a:rPr sz="900" spc="50" dirty="0">
                <a:latin typeface="Arial"/>
                <a:cs typeface="Arial"/>
              </a:rPr>
              <a:t> </a:t>
            </a:r>
            <a:r>
              <a:rPr sz="900" dirty="0">
                <a:latin typeface="Arial"/>
                <a:cs typeface="Arial"/>
              </a:rPr>
              <a:t>we</a:t>
            </a:r>
            <a:r>
              <a:rPr sz="900" spc="-10" dirty="0">
                <a:latin typeface="Arial"/>
                <a:cs typeface="Arial"/>
              </a:rPr>
              <a:t> </a:t>
            </a:r>
            <a:r>
              <a:rPr sz="900" dirty="0">
                <a:latin typeface="Arial"/>
                <a:cs typeface="Arial"/>
              </a:rPr>
              <a:t>need</a:t>
            </a:r>
            <a:r>
              <a:rPr sz="900" spc="-5" dirty="0">
                <a:latin typeface="Arial"/>
                <a:cs typeface="Arial"/>
              </a:rPr>
              <a:t> </a:t>
            </a:r>
            <a:r>
              <a:rPr sz="900" dirty="0">
                <a:latin typeface="Arial"/>
                <a:cs typeface="Arial"/>
              </a:rPr>
              <a:t>a</a:t>
            </a:r>
            <a:r>
              <a:rPr sz="900" spc="-10" dirty="0">
                <a:latin typeface="Arial"/>
                <a:cs typeface="Arial"/>
              </a:rPr>
              <a:t> </a:t>
            </a:r>
            <a:r>
              <a:rPr sz="900" dirty="0">
                <a:latin typeface="Arial"/>
                <a:cs typeface="Arial"/>
              </a:rPr>
              <a:t>total</a:t>
            </a:r>
            <a:r>
              <a:rPr sz="900" spc="-10" dirty="0">
                <a:latin typeface="Arial"/>
                <a:cs typeface="Arial"/>
              </a:rPr>
              <a:t> </a:t>
            </a:r>
            <a:r>
              <a:rPr sz="900" spc="-25" dirty="0">
                <a:latin typeface="Arial"/>
                <a:cs typeface="Arial"/>
              </a:rPr>
              <a:t>of </a:t>
            </a:r>
            <a:r>
              <a:rPr sz="900" i="1" dirty="0">
                <a:latin typeface="Arial"/>
                <a:cs typeface="Arial"/>
              </a:rPr>
              <a:t>k</a:t>
            </a:r>
            <a:r>
              <a:rPr sz="900" i="1" spc="-65" dirty="0">
                <a:latin typeface="Arial"/>
                <a:cs typeface="Arial"/>
              </a:rPr>
              <a:t> </a:t>
            </a:r>
            <a:r>
              <a:rPr sz="900" spc="185" dirty="0">
                <a:latin typeface="Arial"/>
                <a:cs typeface="Arial"/>
              </a:rPr>
              <a:t>+</a:t>
            </a:r>
            <a:r>
              <a:rPr sz="900" spc="-130" dirty="0">
                <a:latin typeface="Arial"/>
                <a:cs typeface="Arial"/>
              </a:rPr>
              <a:t> </a:t>
            </a:r>
            <a:r>
              <a:rPr sz="900" dirty="0">
                <a:latin typeface="Arial"/>
                <a:cs typeface="Arial"/>
              </a:rPr>
              <a:t>1</a:t>
            </a:r>
            <a:r>
              <a:rPr sz="900" spc="-25" dirty="0">
                <a:latin typeface="Arial"/>
                <a:cs typeface="Arial"/>
              </a:rPr>
              <a:t> </a:t>
            </a:r>
            <a:r>
              <a:rPr sz="900" dirty="0">
                <a:latin typeface="Arial"/>
                <a:cs typeface="Arial"/>
              </a:rPr>
              <a:t>members</a:t>
            </a:r>
            <a:r>
              <a:rPr sz="900" spc="-20" dirty="0">
                <a:latin typeface="Arial"/>
                <a:cs typeface="Arial"/>
              </a:rPr>
              <a:t> </a:t>
            </a:r>
            <a:r>
              <a:rPr sz="900" dirty="0">
                <a:latin typeface="Arial"/>
                <a:cs typeface="Arial"/>
              </a:rPr>
              <a:t>as</a:t>
            </a:r>
            <a:r>
              <a:rPr sz="900" spc="-25" dirty="0">
                <a:latin typeface="Arial"/>
                <a:cs typeface="Arial"/>
              </a:rPr>
              <a:t> </a:t>
            </a:r>
            <a:r>
              <a:rPr sz="900" dirty="0">
                <a:solidFill>
                  <a:srgbClr val="3333B2"/>
                </a:solidFill>
                <a:latin typeface="Arial"/>
                <a:cs typeface="Arial"/>
              </a:rPr>
              <a:t>no</a:t>
            </a:r>
            <a:r>
              <a:rPr sz="900" spc="-20" dirty="0">
                <a:solidFill>
                  <a:srgbClr val="3333B2"/>
                </a:solidFill>
                <a:latin typeface="Arial"/>
                <a:cs typeface="Arial"/>
              </a:rPr>
              <a:t> </a:t>
            </a:r>
            <a:r>
              <a:rPr sz="900" dirty="0">
                <a:solidFill>
                  <a:srgbClr val="3333B2"/>
                </a:solidFill>
                <a:latin typeface="Arial"/>
                <a:cs typeface="Arial"/>
              </a:rPr>
              <a:t>member</a:t>
            </a:r>
            <a:r>
              <a:rPr sz="900" spc="-25" dirty="0">
                <a:solidFill>
                  <a:srgbClr val="3333B2"/>
                </a:solidFill>
                <a:latin typeface="Arial"/>
                <a:cs typeface="Arial"/>
              </a:rPr>
              <a:t> </a:t>
            </a:r>
            <a:r>
              <a:rPr sz="900" dirty="0">
                <a:solidFill>
                  <a:srgbClr val="3333B2"/>
                </a:solidFill>
                <a:latin typeface="Arial"/>
                <a:cs typeface="Arial"/>
              </a:rPr>
              <a:t>will</a:t>
            </a:r>
            <a:r>
              <a:rPr sz="900" spc="-25" dirty="0">
                <a:solidFill>
                  <a:srgbClr val="3333B2"/>
                </a:solidFill>
                <a:latin typeface="Arial"/>
                <a:cs typeface="Arial"/>
              </a:rPr>
              <a:t> </a:t>
            </a:r>
            <a:r>
              <a:rPr sz="900" dirty="0">
                <a:solidFill>
                  <a:srgbClr val="3333B2"/>
                </a:solidFill>
                <a:latin typeface="Arial"/>
                <a:cs typeface="Arial"/>
              </a:rPr>
              <a:t>produce</a:t>
            </a:r>
            <a:r>
              <a:rPr sz="900" spc="-20" dirty="0">
                <a:solidFill>
                  <a:srgbClr val="3333B2"/>
                </a:solidFill>
                <a:latin typeface="Arial"/>
                <a:cs typeface="Arial"/>
              </a:rPr>
              <a:t> </a:t>
            </a:r>
            <a:r>
              <a:rPr sz="900" dirty="0">
                <a:solidFill>
                  <a:srgbClr val="3333B2"/>
                </a:solidFill>
                <a:latin typeface="Arial"/>
                <a:cs typeface="Arial"/>
              </a:rPr>
              <a:t>an</a:t>
            </a:r>
            <a:r>
              <a:rPr sz="900" spc="-25" dirty="0">
                <a:solidFill>
                  <a:srgbClr val="3333B2"/>
                </a:solidFill>
                <a:latin typeface="Arial"/>
                <a:cs typeface="Arial"/>
              </a:rPr>
              <a:t> </a:t>
            </a:r>
            <a:r>
              <a:rPr sz="900" dirty="0">
                <a:solidFill>
                  <a:srgbClr val="3333B2"/>
                </a:solidFill>
                <a:latin typeface="Arial"/>
                <a:cs typeface="Arial"/>
              </a:rPr>
              <a:t>incorrect</a:t>
            </a:r>
            <a:r>
              <a:rPr sz="900" spc="-20" dirty="0">
                <a:solidFill>
                  <a:srgbClr val="3333B2"/>
                </a:solidFill>
                <a:latin typeface="Arial"/>
                <a:cs typeface="Arial"/>
              </a:rPr>
              <a:t> </a:t>
            </a:r>
            <a:r>
              <a:rPr sz="900" dirty="0">
                <a:solidFill>
                  <a:srgbClr val="3333B2"/>
                </a:solidFill>
                <a:latin typeface="Arial"/>
                <a:cs typeface="Arial"/>
              </a:rPr>
              <a:t>result,</a:t>
            </a:r>
            <a:r>
              <a:rPr sz="900" spc="-25" dirty="0">
                <a:solidFill>
                  <a:srgbClr val="3333B2"/>
                </a:solidFill>
                <a:latin typeface="Arial"/>
                <a:cs typeface="Arial"/>
              </a:rPr>
              <a:t> </a:t>
            </a:r>
            <a:r>
              <a:rPr sz="900" dirty="0">
                <a:solidFill>
                  <a:srgbClr val="3333B2"/>
                </a:solidFill>
                <a:latin typeface="Arial"/>
                <a:cs typeface="Arial"/>
              </a:rPr>
              <a:t>so</a:t>
            </a:r>
            <a:r>
              <a:rPr sz="900" spc="-20" dirty="0">
                <a:solidFill>
                  <a:srgbClr val="3333B2"/>
                </a:solidFill>
                <a:latin typeface="Arial"/>
                <a:cs typeface="Arial"/>
              </a:rPr>
              <a:t> </a:t>
            </a:r>
            <a:r>
              <a:rPr sz="900" spc="-25" dirty="0">
                <a:solidFill>
                  <a:srgbClr val="3333B2"/>
                </a:solidFill>
                <a:latin typeface="Arial"/>
                <a:cs typeface="Arial"/>
              </a:rPr>
              <a:t>the </a:t>
            </a:r>
            <a:r>
              <a:rPr sz="900" dirty="0">
                <a:solidFill>
                  <a:srgbClr val="3333B2"/>
                </a:solidFill>
                <a:latin typeface="Arial"/>
                <a:cs typeface="Arial"/>
              </a:rPr>
              <a:t>result</a:t>
            </a:r>
            <a:r>
              <a:rPr sz="900" spc="-25" dirty="0">
                <a:solidFill>
                  <a:srgbClr val="3333B2"/>
                </a:solidFill>
                <a:latin typeface="Arial"/>
                <a:cs typeface="Arial"/>
              </a:rPr>
              <a:t> </a:t>
            </a:r>
            <a:r>
              <a:rPr sz="900" dirty="0">
                <a:solidFill>
                  <a:srgbClr val="3333B2"/>
                </a:solidFill>
                <a:latin typeface="Arial"/>
                <a:cs typeface="Arial"/>
              </a:rPr>
              <a:t>of</a:t>
            </a:r>
            <a:r>
              <a:rPr sz="900" spc="-20" dirty="0">
                <a:solidFill>
                  <a:srgbClr val="3333B2"/>
                </a:solidFill>
                <a:latin typeface="Arial"/>
                <a:cs typeface="Arial"/>
              </a:rPr>
              <a:t> </a:t>
            </a:r>
            <a:r>
              <a:rPr sz="900" dirty="0">
                <a:solidFill>
                  <a:srgbClr val="3333B2"/>
                </a:solidFill>
                <a:latin typeface="Arial"/>
                <a:cs typeface="Arial"/>
              </a:rPr>
              <a:t>one</a:t>
            </a:r>
            <a:r>
              <a:rPr sz="900" spc="-25" dirty="0">
                <a:solidFill>
                  <a:srgbClr val="3333B2"/>
                </a:solidFill>
                <a:latin typeface="Arial"/>
                <a:cs typeface="Arial"/>
              </a:rPr>
              <a:t> </a:t>
            </a:r>
            <a:r>
              <a:rPr sz="900" dirty="0">
                <a:solidFill>
                  <a:srgbClr val="3333B2"/>
                </a:solidFill>
                <a:latin typeface="Arial"/>
                <a:cs typeface="Arial"/>
              </a:rPr>
              <a:t>member</a:t>
            </a:r>
            <a:r>
              <a:rPr sz="900" spc="-20" dirty="0">
                <a:solidFill>
                  <a:srgbClr val="3333B2"/>
                </a:solidFill>
                <a:latin typeface="Arial"/>
                <a:cs typeface="Arial"/>
              </a:rPr>
              <a:t> </a:t>
            </a:r>
            <a:r>
              <a:rPr sz="900" dirty="0">
                <a:solidFill>
                  <a:srgbClr val="3333B2"/>
                </a:solidFill>
                <a:latin typeface="Arial"/>
                <a:cs typeface="Arial"/>
              </a:rPr>
              <a:t>is</a:t>
            </a:r>
            <a:r>
              <a:rPr sz="900" spc="-25" dirty="0">
                <a:solidFill>
                  <a:srgbClr val="3333B2"/>
                </a:solidFill>
                <a:latin typeface="Arial"/>
                <a:cs typeface="Arial"/>
              </a:rPr>
              <a:t> </a:t>
            </a:r>
            <a:r>
              <a:rPr sz="900" dirty="0">
                <a:solidFill>
                  <a:srgbClr val="3333B2"/>
                </a:solidFill>
                <a:latin typeface="Arial"/>
                <a:cs typeface="Arial"/>
              </a:rPr>
              <a:t>good</a:t>
            </a:r>
            <a:r>
              <a:rPr sz="900" spc="-20" dirty="0">
                <a:solidFill>
                  <a:srgbClr val="3333B2"/>
                </a:solidFill>
                <a:latin typeface="Arial"/>
                <a:cs typeface="Arial"/>
              </a:rPr>
              <a:t> </a:t>
            </a:r>
            <a:r>
              <a:rPr sz="900" spc="-10" dirty="0">
                <a:solidFill>
                  <a:srgbClr val="3333B2"/>
                </a:solidFill>
                <a:latin typeface="Arial"/>
                <a:cs typeface="Arial"/>
              </a:rPr>
              <a:t>enough</a:t>
            </a:r>
            <a:r>
              <a:rPr sz="900" spc="-10" dirty="0">
                <a:latin typeface="Arial"/>
                <a:cs typeface="Arial"/>
              </a:rPr>
              <a:t>.</a:t>
            </a:r>
            <a:endParaRPr sz="900">
              <a:latin typeface="Arial"/>
              <a:cs typeface="Arial"/>
            </a:endParaRPr>
          </a:p>
          <a:p>
            <a:pPr marL="303530" marR="30480" indent="-120650">
              <a:lnSpc>
                <a:spcPct val="111600"/>
              </a:lnSpc>
              <a:spcBef>
                <a:spcPts val="395"/>
              </a:spcBef>
              <a:buClr>
                <a:srgbClr val="3333B2"/>
              </a:buClr>
              <a:buFont typeface="Menlo"/>
              <a:buChar char="•"/>
              <a:tabLst>
                <a:tab pos="299085" algn="l"/>
              </a:tabLst>
            </a:pPr>
            <a:r>
              <a:rPr sz="900" dirty="0">
                <a:latin typeface="Arial"/>
                <a:cs typeface="Arial"/>
              </a:rPr>
              <a:t>With</a:t>
            </a:r>
            <a:r>
              <a:rPr sz="900" spc="-65" dirty="0">
                <a:latin typeface="Arial"/>
                <a:cs typeface="Arial"/>
              </a:rPr>
              <a:t> </a:t>
            </a:r>
            <a:r>
              <a:rPr sz="900" dirty="0">
                <a:solidFill>
                  <a:srgbClr val="C80000"/>
                </a:solidFill>
                <a:latin typeface="Arial"/>
                <a:cs typeface="Arial"/>
              </a:rPr>
              <a:t>arbitrary</a:t>
            </a:r>
            <a:r>
              <a:rPr sz="900" spc="-35" dirty="0">
                <a:solidFill>
                  <a:srgbClr val="C80000"/>
                </a:solidFill>
                <a:latin typeface="Arial"/>
                <a:cs typeface="Arial"/>
              </a:rPr>
              <a:t> </a:t>
            </a:r>
            <a:r>
              <a:rPr sz="900" dirty="0">
                <a:solidFill>
                  <a:srgbClr val="C80000"/>
                </a:solidFill>
                <a:latin typeface="Arial"/>
                <a:cs typeface="Arial"/>
              </a:rPr>
              <a:t>failures</a:t>
            </a:r>
            <a:r>
              <a:rPr sz="900" dirty="0">
                <a:latin typeface="Arial"/>
                <a:cs typeface="Arial"/>
              </a:rPr>
              <a:t>:</a:t>
            </a:r>
            <a:r>
              <a:rPr sz="900" spc="15" dirty="0">
                <a:latin typeface="Arial"/>
                <a:cs typeface="Arial"/>
              </a:rPr>
              <a:t> </a:t>
            </a:r>
            <a:r>
              <a:rPr sz="900" dirty="0">
                <a:latin typeface="Arial"/>
                <a:cs typeface="Arial"/>
              </a:rPr>
              <a:t>we</a:t>
            </a:r>
            <a:r>
              <a:rPr sz="900" spc="-40" dirty="0">
                <a:latin typeface="Arial"/>
                <a:cs typeface="Arial"/>
              </a:rPr>
              <a:t> </a:t>
            </a:r>
            <a:r>
              <a:rPr sz="900" dirty="0">
                <a:latin typeface="Arial"/>
                <a:cs typeface="Arial"/>
              </a:rPr>
              <a:t>need</a:t>
            </a:r>
            <a:r>
              <a:rPr sz="900" spc="-40" dirty="0">
                <a:latin typeface="Arial"/>
                <a:cs typeface="Arial"/>
              </a:rPr>
              <a:t> </a:t>
            </a:r>
            <a:r>
              <a:rPr sz="900" dirty="0">
                <a:latin typeface="Arial"/>
                <a:cs typeface="Arial"/>
              </a:rPr>
              <a:t>2</a:t>
            </a:r>
            <a:r>
              <a:rPr sz="900" i="1" dirty="0">
                <a:latin typeface="Arial"/>
                <a:cs typeface="Arial"/>
              </a:rPr>
              <a:t>k</a:t>
            </a:r>
            <a:r>
              <a:rPr sz="900" i="1" spc="-60" dirty="0">
                <a:latin typeface="Arial"/>
                <a:cs typeface="Arial"/>
              </a:rPr>
              <a:t> </a:t>
            </a:r>
            <a:r>
              <a:rPr sz="900" spc="185" dirty="0">
                <a:latin typeface="Arial"/>
                <a:cs typeface="Arial"/>
              </a:rPr>
              <a:t>+</a:t>
            </a:r>
            <a:r>
              <a:rPr sz="900" spc="-130" dirty="0">
                <a:latin typeface="Arial"/>
                <a:cs typeface="Arial"/>
              </a:rPr>
              <a:t> </a:t>
            </a:r>
            <a:r>
              <a:rPr sz="900" dirty="0">
                <a:latin typeface="Arial"/>
                <a:cs typeface="Arial"/>
              </a:rPr>
              <a:t>1</a:t>
            </a:r>
            <a:r>
              <a:rPr sz="900" spc="-40" dirty="0">
                <a:latin typeface="Arial"/>
                <a:cs typeface="Arial"/>
              </a:rPr>
              <a:t> </a:t>
            </a:r>
            <a:r>
              <a:rPr sz="900" spc="-10" dirty="0">
                <a:latin typeface="Arial"/>
                <a:cs typeface="Arial"/>
              </a:rPr>
              <a:t>members</a:t>
            </a:r>
            <a:r>
              <a:rPr sz="900" spc="-35" dirty="0">
                <a:latin typeface="Arial"/>
                <a:cs typeface="Arial"/>
              </a:rPr>
              <a:t> </a:t>
            </a:r>
            <a:r>
              <a:rPr sz="900" dirty="0">
                <a:latin typeface="Arial"/>
                <a:cs typeface="Arial"/>
              </a:rPr>
              <a:t>so</a:t>
            </a:r>
            <a:r>
              <a:rPr sz="900" spc="-40" dirty="0">
                <a:latin typeface="Arial"/>
                <a:cs typeface="Arial"/>
              </a:rPr>
              <a:t> </a:t>
            </a:r>
            <a:r>
              <a:rPr sz="900" dirty="0">
                <a:latin typeface="Arial"/>
                <a:cs typeface="Arial"/>
              </a:rPr>
              <a:t>that</a:t>
            </a:r>
            <a:r>
              <a:rPr sz="900" spc="-40" dirty="0">
                <a:latin typeface="Arial"/>
                <a:cs typeface="Arial"/>
              </a:rPr>
              <a:t> </a:t>
            </a:r>
            <a:r>
              <a:rPr sz="900" dirty="0">
                <a:latin typeface="Arial"/>
                <a:cs typeface="Arial"/>
              </a:rPr>
              <a:t>the</a:t>
            </a:r>
            <a:r>
              <a:rPr sz="900" spc="-35" dirty="0">
                <a:latin typeface="Arial"/>
                <a:cs typeface="Arial"/>
              </a:rPr>
              <a:t> </a:t>
            </a:r>
            <a:r>
              <a:rPr sz="900" dirty="0">
                <a:latin typeface="Arial"/>
                <a:cs typeface="Arial"/>
              </a:rPr>
              <a:t>correct</a:t>
            </a:r>
            <a:r>
              <a:rPr sz="900" spc="-40" dirty="0">
                <a:latin typeface="Arial"/>
                <a:cs typeface="Arial"/>
              </a:rPr>
              <a:t> </a:t>
            </a:r>
            <a:r>
              <a:rPr sz="900" spc="-10" dirty="0">
                <a:latin typeface="Arial"/>
                <a:cs typeface="Arial"/>
              </a:rPr>
              <a:t>result </a:t>
            </a:r>
            <a:r>
              <a:rPr sz="900" dirty="0">
                <a:latin typeface="Arial"/>
                <a:cs typeface="Arial"/>
              </a:rPr>
              <a:t>can</a:t>
            </a:r>
            <a:r>
              <a:rPr sz="900" spc="-25" dirty="0">
                <a:latin typeface="Arial"/>
                <a:cs typeface="Arial"/>
              </a:rPr>
              <a:t> </a:t>
            </a:r>
            <a:r>
              <a:rPr sz="900" dirty="0">
                <a:latin typeface="Arial"/>
                <a:cs typeface="Arial"/>
              </a:rPr>
              <a:t>be</a:t>
            </a:r>
            <a:r>
              <a:rPr sz="900" spc="-25" dirty="0">
                <a:latin typeface="Arial"/>
                <a:cs typeface="Arial"/>
              </a:rPr>
              <a:t> </a:t>
            </a:r>
            <a:r>
              <a:rPr sz="900" dirty="0">
                <a:latin typeface="Arial"/>
                <a:cs typeface="Arial"/>
              </a:rPr>
              <a:t>obtained</a:t>
            </a:r>
            <a:r>
              <a:rPr sz="900" spc="-25" dirty="0">
                <a:latin typeface="Arial"/>
                <a:cs typeface="Arial"/>
              </a:rPr>
              <a:t> </a:t>
            </a:r>
            <a:r>
              <a:rPr sz="900" dirty="0">
                <a:latin typeface="Arial"/>
                <a:cs typeface="Arial"/>
              </a:rPr>
              <a:t>through</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majority</a:t>
            </a:r>
            <a:r>
              <a:rPr sz="900" spc="-25" dirty="0">
                <a:latin typeface="Arial"/>
                <a:cs typeface="Arial"/>
              </a:rPr>
              <a:t> </a:t>
            </a:r>
            <a:r>
              <a:rPr sz="900" spc="-20" dirty="0">
                <a:latin typeface="Arial"/>
                <a:cs typeface="Arial"/>
              </a:rPr>
              <a:t>vote.</a:t>
            </a:r>
            <a:endParaRPr sz="900">
              <a:latin typeface="Arial"/>
              <a:cs typeface="Arial"/>
            </a:endParaRPr>
          </a:p>
          <a:p>
            <a:pPr>
              <a:lnSpc>
                <a:spcPct val="100000"/>
              </a:lnSpc>
              <a:spcBef>
                <a:spcPts val="30"/>
              </a:spcBef>
              <a:buClr>
                <a:srgbClr val="3333B2"/>
              </a:buClr>
              <a:buFont typeface="Menlo"/>
              <a:buChar char="•"/>
            </a:pPr>
            <a:endParaRPr sz="1200">
              <a:latin typeface="Arial"/>
              <a:cs typeface="Arial"/>
            </a:endParaRPr>
          </a:p>
          <a:p>
            <a:pPr marL="50800">
              <a:lnSpc>
                <a:spcPct val="100000"/>
              </a:lnSpc>
            </a:pPr>
            <a:r>
              <a:rPr sz="1000" dirty="0">
                <a:solidFill>
                  <a:srgbClr val="3333B2"/>
                </a:solidFill>
                <a:latin typeface="Arial"/>
                <a:cs typeface="Arial"/>
              </a:rPr>
              <a:t>Important</a:t>
            </a:r>
            <a:r>
              <a:rPr sz="1000" spc="-15" dirty="0">
                <a:solidFill>
                  <a:srgbClr val="3333B2"/>
                </a:solidFill>
                <a:latin typeface="Arial"/>
                <a:cs typeface="Arial"/>
              </a:rPr>
              <a:t> </a:t>
            </a:r>
            <a:r>
              <a:rPr sz="1000" spc="-10" dirty="0">
                <a:solidFill>
                  <a:srgbClr val="3333B2"/>
                </a:solidFill>
                <a:latin typeface="Arial"/>
                <a:cs typeface="Arial"/>
              </a:rPr>
              <a:t>assumptions</a:t>
            </a:r>
            <a:endParaRPr sz="1000">
              <a:latin typeface="Arial"/>
              <a:cs typeface="Arial"/>
            </a:endParaRPr>
          </a:p>
          <a:p>
            <a:pPr marL="299720" indent="-116839">
              <a:lnSpc>
                <a:spcPct val="100000"/>
              </a:lnSpc>
              <a:spcBef>
                <a:spcPts val="695"/>
              </a:spcBef>
              <a:buClr>
                <a:srgbClr val="3333B2"/>
              </a:buClr>
              <a:buFont typeface="Menlo"/>
              <a:buChar char="•"/>
              <a:tabLst>
                <a:tab pos="300355" algn="l"/>
              </a:tabLst>
            </a:pPr>
            <a:r>
              <a:rPr sz="900" dirty="0">
                <a:latin typeface="Arial"/>
                <a:cs typeface="Arial"/>
              </a:rPr>
              <a:t>All</a:t>
            </a:r>
            <a:r>
              <a:rPr sz="900" spc="-30" dirty="0">
                <a:latin typeface="Arial"/>
                <a:cs typeface="Arial"/>
              </a:rPr>
              <a:t> </a:t>
            </a:r>
            <a:r>
              <a:rPr sz="900" dirty="0">
                <a:latin typeface="Arial"/>
                <a:cs typeface="Arial"/>
              </a:rPr>
              <a:t>members</a:t>
            </a:r>
            <a:r>
              <a:rPr sz="900" spc="-25" dirty="0">
                <a:latin typeface="Arial"/>
                <a:cs typeface="Arial"/>
              </a:rPr>
              <a:t> </a:t>
            </a:r>
            <a:r>
              <a:rPr sz="900" dirty="0">
                <a:latin typeface="Arial"/>
                <a:cs typeface="Arial"/>
              </a:rPr>
              <a:t>are</a:t>
            </a:r>
            <a:r>
              <a:rPr sz="900" spc="-25" dirty="0">
                <a:latin typeface="Arial"/>
                <a:cs typeface="Arial"/>
              </a:rPr>
              <a:t> </a:t>
            </a:r>
            <a:r>
              <a:rPr sz="900" spc="-10" dirty="0">
                <a:latin typeface="Arial"/>
                <a:cs typeface="Arial"/>
              </a:rPr>
              <a:t>identical</a:t>
            </a:r>
            <a:endParaRPr sz="900">
              <a:latin typeface="Arial"/>
              <a:cs typeface="Arial"/>
            </a:endParaRPr>
          </a:p>
          <a:p>
            <a:pPr marL="299720" indent="-116839">
              <a:lnSpc>
                <a:spcPct val="100000"/>
              </a:lnSpc>
              <a:spcBef>
                <a:spcPts val="125"/>
              </a:spcBef>
              <a:buClr>
                <a:srgbClr val="3333B2"/>
              </a:buClr>
              <a:buFont typeface="Menlo"/>
              <a:buChar char="•"/>
              <a:tabLst>
                <a:tab pos="300355" algn="l"/>
              </a:tabLst>
            </a:pPr>
            <a:r>
              <a:rPr sz="900" dirty="0">
                <a:latin typeface="Arial"/>
                <a:cs typeface="Arial"/>
              </a:rPr>
              <a:t>All</a:t>
            </a:r>
            <a:r>
              <a:rPr sz="900" spc="-30" dirty="0">
                <a:latin typeface="Arial"/>
                <a:cs typeface="Arial"/>
              </a:rPr>
              <a:t> </a:t>
            </a:r>
            <a:r>
              <a:rPr sz="900" dirty="0">
                <a:latin typeface="Arial"/>
                <a:cs typeface="Arial"/>
              </a:rPr>
              <a:t>members</a:t>
            </a:r>
            <a:r>
              <a:rPr sz="900" spc="-30" dirty="0">
                <a:latin typeface="Arial"/>
                <a:cs typeface="Arial"/>
              </a:rPr>
              <a:t> </a:t>
            </a:r>
            <a:r>
              <a:rPr sz="900" dirty="0">
                <a:latin typeface="Arial"/>
                <a:cs typeface="Arial"/>
              </a:rPr>
              <a:t>process</a:t>
            </a:r>
            <a:r>
              <a:rPr sz="900" spc="-30" dirty="0">
                <a:latin typeface="Arial"/>
                <a:cs typeface="Arial"/>
              </a:rPr>
              <a:t> </a:t>
            </a:r>
            <a:r>
              <a:rPr sz="900" dirty="0">
                <a:latin typeface="Arial"/>
                <a:cs typeface="Arial"/>
              </a:rPr>
              <a:t>commands</a:t>
            </a:r>
            <a:r>
              <a:rPr sz="900" spc="-25" dirty="0">
                <a:latin typeface="Arial"/>
                <a:cs typeface="Arial"/>
              </a:rPr>
              <a:t> </a:t>
            </a:r>
            <a:r>
              <a:rPr sz="900" dirty="0">
                <a:latin typeface="Arial"/>
                <a:cs typeface="Arial"/>
              </a:rPr>
              <a:t>in</a:t>
            </a:r>
            <a:r>
              <a:rPr sz="900" spc="-30"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same</a:t>
            </a:r>
            <a:r>
              <a:rPr sz="900" spc="-25" dirty="0">
                <a:latin typeface="Arial"/>
                <a:cs typeface="Arial"/>
              </a:rPr>
              <a:t> </a:t>
            </a:r>
            <a:r>
              <a:rPr sz="900" spc="-10" dirty="0">
                <a:latin typeface="Arial"/>
                <a:cs typeface="Arial"/>
              </a:rPr>
              <a:t>order</a:t>
            </a:r>
            <a:endParaRPr sz="900">
              <a:latin typeface="Arial"/>
              <a:cs typeface="Arial"/>
            </a:endParaRPr>
          </a:p>
          <a:p>
            <a:pPr marL="50800">
              <a:lnSpc>
                <a:spcPct val="100000"/>
              </a:lnSpc>
              <a:spcBef>
                <a:spcPts val="525"/>
              </a:spcBef>
            </a:pPr>
            <a:r>
              <a:rPr sz="900" dirty="0">
                <a:solidFill>
                  <a:srgbClr val="C80000"/>
                </a:solidFill>
                <a:latin typeface="Arial"/>
                <a:cs typeface="Arial"/>
              </a:rPr>
              <a:t>Result</a:t>
            </a:r>
            <a:r>
              <a:rPr sz="900" dirty="0">
                <a:latin typeface="Arial"/>
                <a:cs typeface="Arial"/>
              </a:rPr>
              <a:t>:</a:t>
            </a:r>
            <a:r>
              <a:rPr sz="900" spc="30" dirty="0">
                <a:latin typeface="Arial"/>
                <a:cs typeface="Arial"/>
              </a:rPr>
              <a:t> </a:t>
            </a:r>
            <a:r>
              <a:rPr sz="900" dirty="0">
                <a:latin typeface="Arial"/>
                <a:cs typeface="Arial"/>
              </a:rPr>
              <a:t>We</a:t>
            </a:r>
            <a:r>
              <a:rPr sz="900" spc="-25" dirty="0">
                <a:latin typeface="Arial"/>
                <a:cs typeface="Arial"/>
              </a:rPr>
              <a:t> </a:t>
            </a:r>
            <a:r>
              <a:rPr sz="900" dirty="0">
                <a:latin typeface="Arial"/>
                <a:cs typeface="Arial"/>
              </a:rPr>
              <a:t>can</a:t>
            </a:r>
            <a:r>
              <a:rPr sz="900" spc="-20" dirty="0">
                <a:latin typeface="Arial"/>
                <a:cs typeface="Arial"/>
              </a:rPr>
              <a:t> </a:t>
            </a:r>
            <a:r>
              <a:rPr sz="900" dirty="0">
                <a:latin typeface="Arial"/>
                <a:cs typeface="Arial"/>
              </a:rPr>
              <a:t>now</a:t>
            </a:r>
            <a:r>
              <a:rPr sz="900" spc="-25" dirty="0">
                <a:latin typeface="Arial"/>
                <a:cs typeface="Arial"/>
              </a:rPr>
              <a:t> </a:t>
            </a:r>
            <a:r>
              <a:rPr sz="900" dirty="0">
                <a:latin typeface="Arial"/>
                <a:cs typeface="Arial"/>
              </a:rPr>
              <a:t>be</a:t>
            </a:r>
            <a:r>
              <a:rPr sz="900" spc="-25" dirty="0">
                <a:latin typeface="Arial"/>
                <a:cs typeface="Arial"/>
              </a:rPr>
              <a:t> </a:t>
            </a:r>
            <a:r>
              <a:rPr sz="900" dirty="0">
                <a:latin typeface="Arial"/>
                <a:cs typeface="Arial"/>
              </a:rPr>
              <a:t>sure</a:t>
            </a:r>
            <a:r>
              <a:rPr sz="900" spc="-20"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all</a:t>
            </a:r>
            <a:r>
              <a:rPr sz="900" spc="-25" dirty="0">
                <a:latin typeface="Arial"/>
                <a:cs typeface="Arial"/>
              </a:rPr>
              <a:t> </a:t>
            </a:r>
            <a:r>
              <a:rPr sz="900" dirty="0">
                <a:latin typeface="Arial"/>
                <a:cs typeface="Arial"/>
              </a:rPr>
              <a:t>processes</a:t>
            </a:r>
            <a:r>
              <a:rPr sz="900" spc="-20" dirty="0">
                <a:latin typeface="Arial"/>
                <a:cs typeface="Arial"/>
              </a:rPr>
              <a:t> </a:t>
            </a:r>
            <a:r>
              <a:rPr sz="900" dirty="0">
                <a:latin typeface="Arial"/>
                <a:cs typeface="Arial"/>
              </a:rPr>
              <a:t>do</a:t>
            </a:r>
            <a:r>
              <a:rPr sz="900" spc="-25" dirty="0">
                <a:latin typeface="Arial"/>
                <a:cs typeface="Arial"/>
              </a:rPr>
              <a:t> </a:t>
            </a:r>
            <a:r>
              <a:rPr sz="900" spc="-10" dirty="0">
                <a:latin typeface="Arial"/>
                <a:cs typeface="Arial"/>
              </a:rPr>
              <a:t>exactly</a:t>
            </a:r>
            <a:r>
              <a:rPr sz="900" spc="-2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same</a:t>
            </a:r>
            <a:r>
              <a:rPr sz="900" spc="-25" dirty="0">
                <a:latin typeface="Arial"/>
                <a:cs typeface="Arial"/>
              </a:rPr>
              <a:t> </a:t>
            </a:r>
            <a:r>
              <a:rPr sz="900" spc="-10" dirty="0">
                <a:latin typeface="Arial"/>
                <a:cs typeface="Arial"/>
              </a:rPr>
              <a:t>thing.</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89789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Failure</a:t>
            </a:r>
            <a:r>
              <a:rPr sz="500" spc="-5" dirty="0">
                <a:latin typeface="Arial"/>
                <a:cs typeface="Arial"/>
                <a:hlinkClick r:id="rId4" action="ppaction://hlinksldjump"/>
              </a:rPr>
              <a:t> </a:t>
            </a:r>
            <a:r>
              <a:rPr sz="500" dirty="0">
                <a:latin typeface="Arial"/>
                <a:cs typeface="Arial"/>
                <a:hlinkClick r:id="rId4" action="ppaction://hlinksldjump"/>
              </a:rPr>
              <a:t>masking</a:t>
            </a:r>
            <a:r>
              <a:rPr sz="500" spc="-5" dirty="0">
                <a:latin typeface="Arial"/>
                <a:cs typeface="Arial"/>
                <a:hlinkClick r:id="rId4" action="ppaction://hlinksldjump"/>
              </a:rPr>
              <a:t> </a:t>
            </a:r>
            <a:r>
              <a:rPr sz="500" dirty="0">
                <a:latin typeface="Arial"/>
                <a:cs typeface="Arial"/>
                <a:hlinkClick r:id="rId4" action="ppaction://hlinksldjump"/>
              </a:rPr>
              <a:t>and</a:t>
            </a:r>
            <a:r>
              <a:rPr sz="500" spc="-5" dirty="0">
                <a:latin typeface="Arial"/>
                <a:cs typeface="Arial"/>
                <a:hlinkClick r:id="rId4" action="ppaction://hlinksldjump"/>
              </a:rPr>
              <a:t> </a:t>
            </a:r>
            <a:r>
              <a:rPr sz="500" spc="-10" dirty="0">
                <a:latin typeface="Arial"/>
                <a:cs typeface="Arial"/>
                <a:hlinkClick r:id="rId4" action="ppaction://hlinksldjump"/>
              </a:rPr>
              <a:t>replication</a:t>
            </a:r>
            <a:endParaRPr sz="500">
              <a:latin typeface="Arial"/>
              <a:cs typeface="Arial"/>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74465"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spc="-10" dirty="0"/>
              <a:t>Consensus</a:t>
            </a:r>
          </a:p>
        </p:txBody>
      </p:sp>
      <p:sp>
        <p:nvSpPr>
          <p:cNvPr id="4" name="object 4"/>
          <p:cNvSpPr txBox="1"/>
          <p:nvPr/>
        </p:nvSpPr>
        <p:spPr>
          <a:xfrm>
            <a:off x="347294" y="472482"/>
            <a:ext cx="3835400" cy="1106805"/>
          </a:xfrm>
          <a:prstGeom prst="rect">
            <a:avLst/>
          </a:prstGeom>
        </p:spPr>
        <p:txBody>
          <a:bodyPr vert="horz" wrap="square" lIns="0" tIns="54610" rIns="0" bIns="0" rtlCol="0">
            <a:spAutoFit/>
          </a:bodyPr>
          <a:lstStyle/>
          <a:p>
            <a:pPr marL="12700">
              <a:lnSpc>
                <a:spcPct val="100000"/>
              </a:lnSpc>
              <a:spcBef>
                <a:spcPts val="430"/>
              </a:spcBef>
            </a:pPr>
            <a:r>
              <a:rPr sz="1000" spc="-10" dirty="0">
                <a:solidFill>
                  <a:srgbClr val="3333B2"/>
                </a:solidFill>
                <a:latin typeface="Arial"/>
                <a:cs typeface="Arial"/>
              </a:rPr>
              <a:t>Prerequisite</a:t>
            </a:r>
            <a:endParaRPr sz="1000">
              <a:latin typeface="Arial"/>
              <a:cs typeface="Arial"/>
            </a:endParaRPr>
          </a:p>
          <a:p>
            <a:pPr marL="12700" marR="5080">
              <a:lnSpc>
                <a:spcPct val="111600"/>
              </a:lnSpc>
              <a:spcBef>
                <a:spcPts val="170"/>
              </a:spcBef>
            </a:pPr>
            <a:r>
              <a:rPr sz="900" dirty="0">
                <a:latin typeface="Arial"/>
                <a:cs typeface="Arial"/>
              </a:rPr>
              <a:t>In</a:t>
            </a:r>
            <a:r>
              <a:rPr sz="900" spc="-20" dirty="0">
                <a:latin typeface="Arial"/>
                <a:cs typeface="Arial"/>
              </a:rPr>
              <a:t> </a:t>
            </a:r>
            <a:r>
              <a:rPr sz="900" dirty="0">
                <a:latin typeface="Arial"/>
                <a:cs typeface="Arial"/>
              </a:rPr>
              <a:t>a</a:t>
            </a:r>
            <a:r>
              <a:rPr sz="900" spc="-20" dirty="0">
                <a:latin typeface="Arial"/>
                <a:cs typeface="Arial"/>
              </a:rPr>
              <a:t> </a:t>
            </a:r>
            <a:r>
              <a:rPr sz="900" spc="-10" dirty="0">
                <a:latin typeface="Arial"/>
                <a:cs typeface="Arial"/>
              </a:rPr>
              <a:t>fault-</a:t>
            </a:r>
            <a:r>
              <a:rPr sz="900" dirty="0">
                <a:latin typeface="Arial"/>
                <a:cs typeface="Arial"/>
              </a:rPr>
              <a:t>tolerant</a:t>
            </a:r>
            <a:r>
              <a:rPr sz="900" spc="-20" dirty="0">
                <a:latin typeface="Arial"/>
                <a:cs typeface="Arial"/>
              </a:rPr>
              <a:t> </a:t>
            </a:r>
            <a:r>
              <a:rPr sz="900" dirty="0">
                <a:latin typeface="Arial"/>
                <a:cs typeface="Arial"/>
              </a:rPr>
              <a:t>process</a:t>
            </a:r>
            <a:r>
              <a:rPr sz="900" spc="-20" dirty="0">
                <a:latin typeface="Arial"/>
                <a:cs typeface="Arial"/>
              </a:rPr>
              <a:t> </a:t>
            </a:r>
            <a:r>
              <a:rPr sz="900" spc="-10" dirty="0">
                <a:latin typeface="Arial"/>
                <a:cs typeface="Arial"/>
              </a:rPr>
              <a:t>group,</a:t>
            </a:r>
            <a:r>
              <a:rPr sz="900" spc="-20" dirty="0">
                <a:latin typeface="Arial"/>
                <a:cs typeface="Arial"/>
              </a:rPr>
              <a:t> </a:t>
            </a:r>
            <a:r>
              <a:rPr sz="900" dirty="0">
                <a:latin typeface="Arial"/>
                <a:cs typeface="Arial"/>
              </a:rPr>
              <a:t>each</a:t>
            </a:r>
            <a:r>
              <a:rPr sz="900" spc="-15" dirty="0">
                <a:latin typeface="Arial"/>
                <a:cs typeface="Arial"/>
              </a:rPr>
              <a:t> </a:t>
            </a:r>
            <a:r>
              <a:rPr sz="900" spc="-10" dirty="0">
                <a:latin typeface="Arial"/>
                <a:cs typeface="Arial"/>
              </a:rPr>
              <a:t>nonfaulty</a:t>
            </a:r>
            <a:r>
              <a:rPr sz="900" spc="-20" dirty="0">
                <a:latin typeface="Arial"/>
                <a:cs typeface="Arial"/>
              </a:rPr>
              <a:t> </a:t>
            </a:r>
            <a:r>
              <a:rPr sz="900" dirty="0">
                <a:latin typeface="Arial"/>
                <a:cs typeface="Arial"/>
              </a:rPr>
              <a:t>process</a:t>
            </a:r>
            <a:r>
              <a:rPr sz="900" spc="-20" dirty="0">
                <a:latin typeface="Arial"/>
                <a:cs typeface="Arial"/>
              </a:rPr>
              <a:t> </a:t>
            </a:r>
            <a:r>
              <a:rPr sz="900" spc="-10" dirty="0">
                <a:latin typeface="Arial"/>
                <a:cs typeface="Arial"/>
              </a:rPr>
              <a:t>executes</a:t>
            </a:r>
            <a:r>
              <a:rPr sz="900" spc="-20" dirty="0">
                <a:latin typeface="Arial"/>
                <a:cs typeface="Arial"/>
              </a:rPr>
              <a:t> </a:t>
            </a:r>
            <a:r>
              <a:rPr sz="900" dirty="0">
                <a:latin typeface="Arial"/>
                <a:cs typeface="Arial"/>
              </a:rPr>
              <a:t>the</a:t>
            </a:r>
            <a:r>
              <a:rPr sz="900" spc="-20" dirty="0">
                <a:latin typeface="Arial"/>
                <a:cs typeface="Arial"/>
              </a:rPr>
              <a:t> same </a:t>
            </a:r>
            <a:r>
              <a:rPr sz="900" spc="-10" dirty="0">
                <a:latin typeface="Arial"/>
                <a:cs typeface="Arial"/>
              </a:rPr>
              <a:t>commands,</a:t>
            </a:r>
            <a:r>
              <a:rPr sz="900" spc="-15" dirty="0">
                <a:latin typeface="Arial"/>
                <a:cs typeface="Arial"/>
              </a:rPr>
              <a:t> </a:t>
            </a:r>
            <a:r>
              <a:rPr sz="900" dirty="0">
                <a:latin typeface="Arial"/>
                <a:cs typeface="Arial"/>
              </a:rPr>
              <a:t>and</a:t>
            </a:r>
            <a:r>
              <a:rPr sz="900" spc="-15" dirty="0">
                <a:latin typeface="Arial"/>
                <a:cs typeface="Arial"/>
              </a:rPr>
              <a:t> </a:t>
            </a:r>
            <a:r>
              <a:rPr sz="900" dirty="0">
                <a:latin typeface="Arial"/>
                <a:cs typeface="Arial"/>
              </a:rPr>
              <a:t>in</a:t>
            </a:r>
            <a:r>
              <a:rPr sz="900" spc="-15"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same</a:t>
            </a:r>
            <a:r>
              <a:rPr sz="900" spc="-15" dirty="0">
                <a:latin typeface="Arial"/>
                <a:cs typeface="Arial"/>
              </a:rPr>
              <a:t> </a:t>
            </a:r>
            <a:r>
              <a:rPr sz="900" spc="-10" dirty="0">
                <a:latin typeface="Arial"/>
                <a:cs typeface="Arial"/>
              </a:rPr>
              <a:t>order,</a:t>
            </a:r>
            <a:r>
              <a:rPr sz="900" spc="-15" dirty="0">
                <a:latin typeface="Arial"/>
                <a:cs typeface="Arial"/>
              </a:rPr>
              <a:t> </a:t>
            </a:r>
            <a:r>
              <a:rPr sz="900" dirty="0">
                <a:latin typeface="Arial"/>
                <a:cs typeface="Arial"/>
              </a:rPr>
              <a:t>as</a:t>
            </a:r>
            <a:r>
              <a:rPr sz="900" spc="-15" dirty="0">
                <a:latin typeface="Arial"/>
                <a:cs typeface="Arial"/>
              </a:rPr>
              <a:t> </a:t>
            </a:r>
            <a:r>
              <a:rPr sz="900" dirty="0">
                <a:latin typeface="Arial"/>
                <a:cs typeface="Arial"/>
              </a:rPr>
              <a:t>every</a:t>
            </a:r>
            <a:r>
              <a:rPr sz="900" spc="-15" dirty="0">
                <a:latin typeface="Arial"/>
                <a:cs typeface="Arial"/>
              </a:rPr>
              <a:t> </a:t>
            </a:r>
            <a:r>
              <a:rPr sz="900" dirty="0">
                <a:latin typeface="Arial"/>
                <a:cs typeface="Arial"/>
              </a:rPr>
              <a:t>other</a:t>
            </a:r>
            <a:r>
              <a:rPr sz="900" spc="-15" dirty="0">
                <a:latin typeface="Arial"/>
                <a:cs typeface="Arial"/>
              </a:rPr>
              <a:t> </a:t>
            </a:r>
            <a:r>
              <a:rPr sz="900" spc="-10" dirty="0">
                <a:latin typeface="Arial"/>
                <a:cs typeface="Arial"/>
              </a:rPr>
              <a:t>nonfaulty</a:t>
            </a:r>
            <a:r>
              <a:rPr sz="900" spc="-15" dirty="0">
                <a:latin typeface="Arial"/>
                <a:cs typeface="Arial"/>
              </a:rPr>
              <a:t> </a:t>
            </a:r>
            <a:r>
              <a:rPr sz="900" spc="-10" dirty="0">
                <a:latin typeface="Arial"/>
                <a:cs typeface="Arial"/>
              </a:rPr>
              <a:t>process.</a:t>
            </a:r>
            <a:endParaRPr sz="900">
              <a:latin typeface="Arial"/>
              <a:cs typeface="Arial"/>
            </a:endParaRPr>
          </a:p>
          <a:p>
            <a:pPr marL="12700">
              <a:lnSpc>
                <a:spcPct val="100000"/>
              </a:lnSpc>
              <a:spcBef>
                <a:spcPts val="810"/>
              </a:spcBef>
            </a:pPr>
            <a:r>
              <a:rPr sz="1000" spc="-10" dirty="0">
                <a:solidFill>
                  <a:srgbClr val="C80000"/>
                </a:solidFill>
                <a:latin typeface="Arial"/>
                <a:cs typeface="Arial"/>
              </a:rPr>
              <a:t>Reformulation</a:t>
            </a:r>
            <a:endParaRPr sz="1000">
              <a:latin typeface="Arial"/>
              <a:cs typeface="Arial"/>
            </a:endParaRPr>
          </a:p>
          <a:p>
            <a:pPr marL="12700" marR="65405">
              <a:lnSpc>
                <a:spcPts val="1210"/>
              </a:lnSpc>
              <a:spcBef>
                <a:spcPts val="35"/>
              </a:spcBef>
            </a:pPr>
            <a:r>
              <a:rPr sz="900" spc="-10" dirty="0">
                <a:latin typeface="Arial"/>
                <a:cs typeface="Arial"/>
              </a:rPr>
              <a:t>Nonfaulty</a:t>
            </a:r>
            <a:r>
              <a:rPr sz="900" spc="-30" dirty="0">
                <a:latin typeface="Arial"/>
                <a:cs typeface="Arial"/>
              </a:rPr>
              <a:t> </a:t>
            </a:r>
            <a:r>
              <a:rPr sz="900" dirty="0">
                <a:latin typeface="Arial"/>
                <a:cs typeface="Arial"/>
              </a:rPr>
              <a:t>group</a:t>
            </a:r>
            <a:r>
              <a:rPr sz="900" spc="-25" dirty="0">
                <a:latin typeface="Arial"/>
                <a:cs typeface="Arial"/>
              </a:rPr>
              <a:t> </a:t>
            </a:r>
            <a:r>
              <a:rPr sz="900" dirty="0">
                <a:latin typeface="Arial"/>
                <a:cs typeface="Arial"/>
              </a:rPr>
              <a:t>members</a:t>
            </a:r>
            <a:r>
              <a:rPr sz="900" spc="-25" dirty="0">
                <a:latin typeface="Arial"/>
                <a:cs typeface="Arial"/>
              </a:rPr>
              <a:t> </a:t>
            </a:r>
            <a:r>
              <a:rPr sz="900" dirty="0">
                <a:latin typeface="Arial"/>
                <a:cs typeface="Arial"/>
              </a:rPr>
              <a:t>need</a:t>
            </a:r>
            <a:r>
              <a:rPr sz="900" spc="-3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reach</a:t>
            </a:r>
            <a:r>
              <a:rPr sz="900" spc="-25" dirty="0">
                <a:latin typeface="Arial"/>
                <a:cs typeface="Arial"/>
              </a:rPr>
              <a:t> </a:t>
            </a:r>
            <a:r>
              <a:rPr sz="900" dirty="0">
                <a:solidFill>
                  <a:srgbClr val="C80000"/>
                </a:solidFill>
                <a:latin typeface="Arial"/>
                <a:cs typeface="Arial"/>
              </a:rPr>
              <a:t>consensus</a:t>
            </a:r>
            <a:r>
              <a:rPr sz="900" spc="-25" dirty="0">
                <a:solidFill>
                  <a:srgbClr val="C80000"/>
                </a:solidFill>
                <a:latin typeface="Arial"/>
                <a:cs typeface="Arial"/>
              </a:rPr>
              <a:t> </a:t>
            </a:r>
            <a:r>
              <a:rPr sz="900" dirty="0">
                <a:latin typeface="Arial"/>
                <a:cs typeface="Arial"/>
              </a:rPr>
              <a:t>on</a:t>
            </a:r>
            <a:r>
              <a:rPr sz="900" spc="-30" dirty="0">
                <a:latin typeface="Arial"/>
                <a:cs typeface="Arial"/>
              </a:rPr>
              <a:t> </a:t>
            </a:r>
            <a:r>
              <a:rPr sz="900" dirty="0">
                <a:latin typeface="Arial"/>
                <a:cs typeface="Arial"/>
              </a:rPr>
              <a:t>which</a:t>
            </a:r>
            <a:r>
              <a:rPr sz="900" spc="-25" dirty="0">
                <a:latin typeface="Arial"/>
                <a:cs typeface="Arial"/>
              </a:rPr>
              <a:t> </a:t>
            </a:r>
            <a:r>
              <a:rPr sz="900" dirty="0">
                <a:latin typeface="Arial"/>
                <a:cs typeface="Arial"/>
              </a:rPr>
              <a:t>command</a:t>
            </a:r>
            <a:r>
              <a:rPr sz="900" spc="-25" dirty="0">
                <a:latin typeface="Arial"/>
                <a:cs typeface="Arial"/>
              </a:rPr>
              <a:t> to </a:t>
            </a:r>
            <a:r>
              <a:rPr sz="900" spc="-10" dirty="0">
                <a:latin typeface="Arial"/>
                <a:cs typeface="Arial"/>
              </a:rPr>
              <a:t>execute</a:t>
            </a:r>
            <a:r>
              <a:rPr sz="900" spc="-30" dirty="0">
                <a:latin typeface="Arial"/>
                <a:cs typeface="Arial"/>
              </a:rPr>
              <a:t> </a:t>
            </a:r>
            <a:r>
              <a:rPr sz="900" spc="-10" dirty="0">
                <a:latin typeface="Arial"/>
                <a:cs typeface="Arial"/>
              </a:rPr>
              <a:t>next.</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134683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Consensus</a:t>
            </a:r>
            <a:r>
              <a:rPr sz="500" spc="-25" dirty="0">
                <a:latin typeface="Arial"/>
                <a:cs typeface="Arial"/>
                <a:hlinkClick r:id="rId4" action="ppaction://hlinksldjump"/>
              </a:rPr>
              <a:t> </a:t>
            </a:r>
            <a:r>
              <a:rPr sz="500" dirty="0">
                <a:latin typeface="Arial"/>
                <a:cs typeface="Arial"/>
                <a:hlinkClick r:id="rId4" action="ppaction://hlinksldjump"/>
              </a:rPr>
              <a:t>in</a:t>
            </a:r>
            <a:r>
              <a:rPr sz="500" spc="-20" dirty="0">
                <a:latin typeface="Arial"/>
                <a:cs typeface="Arial"/>
                <a:hlinkClick r:id="rId4" action="ppaction://hlinksldjump"/>
              </a:rPr>
              <a:t> </a:t>
            </a:r>
            <a:r>
              <a:rPr sz="500" dirty="0">
                <a:latin typeface="Arial"/>
                <a:cs typeface="Arial"/>
                <a:hlinkClick r:id="rId4" action="ppaction://hlinksldjump"/>
              </a:rPr>
              <a:t>faulty</a:t>
            </a:r>
            <a:r>
              <a:rPr sz="500" spc="-25" dirty="0">
                <a:latin typeface="Arial"/>
                <a:cs typeface="Arial"/>
                <a:hlinkClick r:id="rId4" action="ppaction://hlinksldjump"/>
              </a:rPr>
              <a:t> </a:t>
            </a:r>
            <a:r>
              <a:rPr sz="500" dirty="0">
                <a:latin typeface="Arial"/>
                <a:cs typeface="Arial"/>
                <a:hlinkClick r:id="rId4" action="ppaction://hlinksldjump"/>
              </a:rPr>
              <a:t>systems</a:t>
            </a:r>
            <a:r>
              <a:rPr sz="500" spc="-20" dirty="0">
                <a:latin typeface="Arial"/>
                <a:cs typeface="Arial"/>
                <a:hlinkClick r:id="rId4" action="ppaction://hlinksldjump"/>
              </a:rPr>
              <a:t> </a:t>
            </a:r>
            <a:r>
              <a:rPr sz="500" dirty="0">
                <a:latin typeface="Arial"/>
                <a:cs typeface="Arial"/>
                <a:hlinkClick r:id="rId4" action="ppaction://hlinksldjump"/>
              </a:rPr>
              <a:t>with</a:t>
            </a:r>
            <a:r>
              <a:rPr sz="500" spc="-20" dirty="0">
                <a:latin typeface="Arial"/>
                <a:cs typeface="Arial"/>
                <a:hlinkClick r:id="rId4" action="ppaction://hlinksldjump"/>
              </a:rPr>
              <a:t> </a:t>
            </a:r>
            <a:r>
              <a:rPr sz="500" dirty="0">
                <a:latin typeface="Arial"/>
                <a:cs typeface="Arial"/>
                <a:hlinkClick r:id="rId4" action="ppaction://hlinksldjump"/>
              </a:rPr>
              <a:t>crash</a:t>
            </a:r>
            <a:r>
              <a:rPr sz="500" spc="-25" dirty="0">
                <a:latin typeface="Arial"/>
                <a:cs typeface="Arial"/>
                <a:hlinkClick r:id="rId4" action="ppaction://hlinksldjump"/>
              </a:rPr>
              <a:t> </a:t>
            </a:r>
            <a:r>
              <a:rPr sz="500" spc="-10" dirty="0">
                <a:latin typeface="Arial"/>
                <a:cs typeface="Arial"/>
                <a:hlinkClick r:id="rId4" action="ppaction://hlinksldjump"/>
              </a:rPr>
              <a:t>failures</a:t>
            </a:r>
            <a:endParaRPr sz="500">
              <a:latin typeface="Arial"/>
              <a:cs typeface="Arial"/>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69900" y="197711"/>
            <a:ext cx="3601085" cy="1331595"/>
          </a:xfrm>
          <a:prstGeom prst="rect">
            <a:avLst/>
          </a:prstGeom>
        </p:spPr>
        <p:txBody>
          <a:bodyPr vert="horz" wrap="square" lIns="0" tIns="12065" rIns="0" bIns="0" rtlCol="0">
            <a:spAutoFit/>
          </a:bodyPr>
          <a:lstStyle/>
          <a:p>
            <a:pPr marL="38100">
              <a:lnSpc>
                <a:spcPct val="100000"/>
              </a:lnSpc>
              <a:spcBef>
                <a:spcPts val="95"/>
              </a:spcBef>
            </a:pPr>
            <a:r>
              <a:rPr sz="1200" spc="-10" dirty="0">
                <a:solidFill>
                  <a:srgbClr val="3333B2"/>
                </a:solidFill>
                <a:latin typeface="Arial"/>
                <a:cs typeface="Arial"/>
              </a:rPr>
              <a:t>Flooding-</a:t>
            </a:r>
            <a:r>
              <a:rPr sz="1200" dirty="0">
                <a:solidFill>
                  <a:srgbClr val="3333B2"/>
                </a:solidFill>
                <a:latin typeface="Arial"/>
                <a:cs typeface="Arial"/>
              </a:rPr>
              <a:t>based </a:t>
            </a:r>
            <a:r>
              <a:rPr sz="1200" spc="-10" dirty="0">
                <a:solidFill>
                  <a:srgbClr val="3333B2"/>
                </a:solidFill>
                <a:latin typeface="Arial"/>
                <a:cs typeface="Arial"/>
              </a:rPr>
              <a:t>consensus</a:t>
            </a:r>
            <a:endParaRPr sz="1200">
              <a:latin typeface="Arial"/>
              <a:cs typeface="Arial"/>
            </a:endParaRPr>
          </a:p>
          <a:p>
            <a:pPr marL="289560">
              <a:lnSpc>
                <a:spcPct val="100000"/>
              </a:lnSpc>
              <a:spcBef>
                <a:spcPts val="1055"/>
              </a:spcBef>
            </a:pPr>
            <a:r>
              <a:rPr sz="1000" dirty="0">
                <a:solidFill>
                  <a:srgbClr val="3333B2"/>
                </a:solidFill>
                <a:latin typeface="Arial"/>
                <a:cs typeface="Arial"/>
              </a:rPr>
              <a:t>System</a:t>
            </a:r>
            <a:r>
              <a:rPr sz="1000" spc="-40" dirty="0">
                <a:solidFill>
                  <a:srgbClr val="3333B2"/>
                </a:solidFill>
                <a:latin typeface="Arial"/>
                <a:cs typeface="Arial"/>
              </a:rPr>
              <a:t> </a:t>
            </a:r>
            <a:r>
              <a:rPr sz="1000" spc="-10" dirty="0">
                <a:solidFill>
                  <a:srgbClr val="3333B2"/>
                </a:solidFill>
                <a:latin typeface="Arial"/>
                <a:cs typeface="Arial"/>
              </a:rPr>
              <a:t>model</a:t>
            </a:r>
            <a:endParaRPr sz="1000">
              <a:latin typeface="Arial"/>
              <a:cs typeface="Arial"/>
            </a:endParaRPr>
          </a:p>
          <a:p>
            <a:pPr marL="539115" indent="-116839">
              <a:lnSpc>
                <a:spcPct val="100000"/>
              </a:lnSpc>
              <a:spcBef>
                <a:spcPts val="700"/>
              </a:spcBef>
              <a:buClr>
                <a:srgbClr val="3333B2"/>
              </a:buClr>
              <a:buFont typeface="Menlo"/>
              <a:buChar char="•"/>
              <a:tabLst>
                <a:tab pos="539750" algn="l"/>
              </a:tabLst>
            </a:pPr>
            <a:r>
              <a:rPr sz="900" dirty="0">
                <a:latin typeface="Arial"/>
                <a:cs typeface="Arial"/>
              </a:rPr>
              <a:t>A</a:t>
            </a:r>
            <a:r>
              <a:rPr sz="900" spc="40" dirty="0">
                <a:latin typeface="Arial"/>
                <a:cs typeface="Arial"/>
              </a:rPr>
              <a:t> </a:t>
            </a:r>
            <a:r>
              <a:rPr sz="900" dirty="0">
                <a:latin typeface="Arial"/>
                <a:cs typeface="Arial"/>
              </a:rPr>
              <a:t>process</a:t>
            </a:r>
            <a:r>
              <a:rPr sz="900" spc="45" dirty="0">
                <a:latin typeface="Arial"/>
                <a:cs typeface="Arial"/>
              </a:rPr>
              <a:t> </a:t>
            </a:r>
            <a:r>
              <a:rPr sz="900" dirty="0">
                <a:latin typeface="Arial"/>
                <a:cs typeface="Arial"/>
              </a:rPr>
              <a:t>group</a:t>
            </a:r>
            <a:r>
              <a:rPr sz="900" spc="40" dirty="0">
                <a:latin typeface="Arial"/>
                <a:cs typeface="Arial"/>
              </a:rPr>
              <a:t> </a:t>
            </a:r>
            <a:r>
              <a:rPr sz="900" b="1" dirty="0">
                <a:latin typeface="Arial"/>
                <a:cs typeface="Arial"/>
              </a:rPr>
              <a:t>P</a:t>
            </a:r>
            <a:r>
              <a:rPr sz="900" b="1" spc="-15" dirty="0">
                <a:latin typeface="Arial"/>
                <a:cs typeface="Arial"/>
              </a:rPr>
              <a:t> </a:t>
            </a:r>
            <a:r>
              <a:rPr sz="900" spc="185" dirty="0">
                <a:latin typeface="Arial"/>
                <a:cs typeface="Arial"/>
              </a:rPr>
              <a:t>=</a:t>
            </a:r>
            <a:r>
              <a:rPr sz="900" spc="-20" dirty="0">
                <a:latin typeface="Arial"/>
                <a:cs typeface="Arial"/>
              </a:rPr>
              <a:t> </a:t>
            </a:r>
            <a:r>
              <a:rPr sz="900" i="1" dirty="0">
                <a:latin typeface="Menlo"/>
                <a:cs typeface="Menlo"/>
              </a:rPr>
              <a:t>{</a:t>
            </a:r>
            <a:r>
              <a:rPr sz="900" i="1" dirty="0">
                <a:latin typeface="Arial"/>
                <a:cs typeface="Arial"/>
              </a:rPr>
              <a:t>P</a:t>
            </a:r>
            <a:r>
              <a:rPr sz="1050" i="1" baseline="-15873" dirty="0">
                <a:latin typeface="Arial"/>
                <a:cs typeface="Arial"/>
              </a:rPr>
              <a:t>1</a:t>
            </a:r>
            <a:r>
              <a:rPr sz="900" i="1" dirty="0">
                <a:latin typeface="Arial"/>
                <a:cs typeface="Arial"/>
              </a:rPr>
              <a:t>,...,</a:t>
            </a:r>
            <a:r>
              <a:rPr sz="900" i="1" spc="-135" dirty="0">
                <a:latin typeface="Arial"/>
                <a:cs typeface="Arial"/>
              </a:rPr>
              <a:t> </a:t>
            </a:r>
            <a:r>
              <a:rPr sz="900" i="1" spc="-25" dirty="0">
                <a:latin typeface="Arial"/>
                <a:cs typeface="Arial"/>
              </a:rPr>
              <a:t>P</a:t>
            </a:r>
            <a:r>
              <a:rPr sz="1050" i="1" spc="-37" baseline="-11904" dirty="0">
                <a:latin typeface="Arial"/>
                <a:cs typeface="Arial"/>
              </a:rPr>
              <a:t>n</a:t>
            </a:r>
            <a:r>
              <a:rPr sz="900" i="1" spc="-25" dirty="0">
                <a:latin typeface="Menlo"/>
                <a:cs typeface="Menlo"/>
              </a:rPr>
              <a:t>}</a:t>
            </a:r>
            <a:endParaRPr sz="900">
              <a:latin typeface="Menlo"/>
              <a:cs typeface="Menlo"/>
            </a:endParaRPr>
          </a:p>
          <a:p>
            <a:pPr marL="542925" indent="-120650">
              <a:lnSpc>
                <a:spcPct val="100000"/>
              </a:lnSpc>
              <a:spcBef>
                <a:spcPts val="525"/>
              </a:spcBef>
              <a:buClr>
                <a:srgbClr val="3333B2"/>
              </a:buClr>
              <a:buFont typeface="Menlo"/>
              <a:buChar char="•"/>
              <a:tabLst>
                <a:tab pos="543560" algn="l"/>
              </a:tabLst>
            </a:pPr>
            <a:r>
              <a:rPr sz="900" spc="-20" dirty="0">
                <a:solidFill>
                  <a:srgbClr val="C80000"/>
                </a:solidFill>
                <a:latin typeface="Arial"/>
                <a:cs typeface="Arial"/>
              </a:rPr>
              <a:t>Fail-</a:t>
            </a:r>
            <a:r>
              <a:rPr sz="900" dirty="0">
                <a:solidFill>
                  <a:srgbClr val="C80000"/>
                </a:solidFill>
                <a:latin typeface="Arial"/>
                <a:cs typeface="Arial"/>
              </a:rPr>
              <a:t>stop</a:t>
            </a:r>
            <a:r>
              <a:rPr sz="900" spc="-30" dirty="0">
                <a:solidFill>
                  <a:srgbClr val="C80000"/>
                </a:solidFill>
                <a:latin typeface="Arial"/>
                <a:cs typeface="Arial"/>
              </a:rPr>
              <a:t> </a:t>
            </a:r>
            <a:r>
              <a:rPr sz="900" dirty="0">
                <a:latin typeface="Arial"/>
                <a:cs typeface="Arial"/>
              </a:rPr>
              <a:t>failure</a:t>
            </a:r>
            <a:r>
              <a:rPr sz="900" spc="-25" dirty="0">
                <a:latin typeface="Arial"/>
                <a:cs typeface="Arial"/>
              </a:rPr>
              <a:t> </a:t>
            </a:r>
            <a:r>
              <a:rPr sz="900" spc="-10" dirty="0">
                <a:latin typeface="Arial"/>
                <a:cs typeface="Arial"/>
              </a:rPr>
              <a:t>semantics,</a:t>
            </a:r>
            <a:r>
              <a:rPr sz="900" spc="-25" dirty="0">
                <a:latin typeface="Arial"/>
                <a:cs typeface="Arial"/>
              </a:rPr>
              <a:t> </a:t>
            </a:r>
            <a:r>
              <a:rPr sz="900" dirty="0">
                <a:latin typeface="Arial"/>
                <a:cs typeface="Arial"/>
              </a:rPr>
              <a:t>i.e.,</a:t>
            </a:r>
            <a:r>
              <a:rPr sz="900" spc="-25" dirty="0">
                <a:latin typeface="Arial"/>
                <a:cs typeface="Arial"/>
              </a:rPr>
              <a:t> </a:t>
            </a:r>
            <a:r>
              <a:rPr sz="900" dirty="0">
                <a:latin typeface="Arial"/>
                <a:cs typeface="Arial"/>
              </a:rPr>
              <a:t>with</a:t>
            </a:r>
            <a:r>
              <a:rPr sz="900" spc="-25" dirty="0">
                <a:latin typeface="Arial"/>
                <a:cs typeface="Arial"/>
              </a:rPr>
              <a:t> </a:t>
            </a:r>
            <a:r>
              <a:rPr sz="900" dirty="0">
                <a:solidFill>
                  <a:srgbClr val="3333B2"/>
                </a:solidFill>
                <a:latin typeface="Arial"/>
                <a:cs typeface="Arial"/>
              </a:rPr>
              <a:t>reliable</a:t>
            </a:r>
            <a:r>
              <a:rPr sz="900" spc="-25" dirty="0">
                <a:solidFill>
                  <a:srgbClr val="3333B2"/>
                </a:solidFill>
                <a:latin typeface="Arial"/>
                <a:cs typeface="Arial"/>
              </a:rPr>
              <a:t> </a:t>
            </a:r>
            <a:r>
              <a:rPr sz="900" dirty="0">
                <a:solidFill>
                  <a:srgbClr val="3333B2"/>
                </a:solidFill>
                <a:latin typeface="Arial"/>
                <a:cs typeface="Arial"/>
              </a:rPr>
              <a:t>failure</a:t>
            </a:r>
            <a:r>
              <a:rPr sz="900" spc="-25" dirty="0">
                <a:solidFill>
                  <a:srgbClr val="3333B2"/>
                </a:solidFill>
                <a:latin typeface="Arial"/>
                <a:cs typeface="Arial"/>
              </a:rPr>
              <a:t> </a:t>
            </a:r>
            <a:r>
              <a:rPr sz="900" spc="-10" dirty="0">
                <a:solidFill>
                  <a:srgbClr val="3333B2"/>
                </a:solidFill>
                <a:latin typeface="Arial"/>
                <a:cs typeface="Arial"/>
              </a:rPr>
              <a:t>detection</a:t>
            </a:r>
            <a:endParaRPr sz="900">
              <a:latin typeface="Arial"/>
              <a:cs typeface="Arial"/>
            </a:endParaRPr>
          </a:p>
          <a:p>
            <a:pPr marL="539115" indent="-116839">
              <a:lnSpc>
                <a:spcPct val="100000"/>
              </a:lnSpc>
              <a:spcBef>
                <a:spcPts val="525"/>
              </a:spcBef>
              <a:buClr>
                <a:srgbClr val="3333B2"/>
              </a:buClr>
              <a:buFont typeface="Menlo"/>
              <a:buChar char="•"/>
              <a:tabLst>
                <a:tab pos="539750" algn="l"/>
              </a:tabLst>
            </a:pPr>
            <a:r>
              <a:rPr sz="900" dirty="0">
                <a:latin typeface="Arial"/>
                <a:cs typeface="Arial"/>
              </a:rPr>
              <a:t>A</a:t>
            </a:r>
            <a:r>
              <a:rPr sz="900" spc="-25" dirty="0">
                <a:latin typeface="Arial"/>
                <a:cs typeface="Arial"/>
              </a:rPr>
              <a:t> </a:t>
            </a:r>
            <a:r>
              <a:rPr sz="900" dirty="0">
                <a:latin typeface="Arial"/>
                <a:cs typeface="Arial"/>
              </a:rPr>
              <a:t>client</a:t>
            </a:r>
            <a:r>
              <a:rPr sz="900" spc="-20" dirty="0">
                <a:latin typeface="Arial"/>
                <a:cs typeface="Arial"/>
              </a:rPr>
              <a:t> </a:t>
            </a:r>
            <a:r>
              <a:rPr sz="900" dirty="0">
                <a:latin typeface="Arial"/>
                <a:cs typeface="Arial"/>
              </a:rPr>
              <a:t>contacts</a:t>
            </a:r>
            <a:r>
              <a:rPr sz="900" spc="-20" dirty="0">
                <a:latin typeface="Arial"/>
                <a:cs typeface="Arial"/>
              </a:rPr>
              <a:t> </a:t>
            </a:r>
            <a:r>
              <a:rPr sz="900" dirty="0">
                <a:latin typeface="Arial"/>
                <a:cs typeface="Arial"/>
              </a:rPr>
              <a:t>a</a:t>
            </a:r>
            <a:r>
              <a:rPr sz="900" spc="-20" dirty="0">
                <a:latin typeface="Arial"/>
                <a:cs typeface="Arial"/>
              </a:rPr>
              <a:t> </a:t>
            </a:r>
            <a:r>
              <a:rPr sz="900" i="1" dirty="0">
                <a:latin typeface="Arial"/>
                <a:cs typeface="Arial"/>
              </a:rPr>
              <a:t>P</a:t>
            </a:r>
            <a:r>
              <a:rPr sz="1050" i="1" baseline="-15873" dirty="0">
                <a:latin typeface="Arial"/>
                <a:cs typeface="Arial"/>
              </a:rPr>
              <a:t>i</a:t>
            </a:r>
            <a:r>
              <a:rPr sz="1050" i="1" spc="209" baseline="-15873" dirty="0">
                <a:latin typeface="Arial"/>
                <a:cs typeface="Arial"/>
              </a:rPr>
              <a:t> </a:t>
            </a:r>
            <a:r>
              <a:rPr sz="900" dirty="0">
                <a:latin typeface="Arial"/>
                <a:cs typeface="Arial"/>
              </a:rPr>
              <a:t>requesting</a:t>
            </a:r>
            <a:r>
              <a:rPr sz="900" spc="-20" dirty="0">
                <a:latin typeface="Arial"/>
                <a:cs typeface="Arial"/>
              </a:rPr>
              <a:t> </a:t>
            </a:r>
            <a:r>
              <a:rPr sz="900" dirty="0">
                <a:latin typeface="Arial"/>
                <a:cs typeface="Arial"/>
              </a:rPr>
              <a:t>it</a:t>
            </a:r>
            <a:r>
              <a:rPr sz="900" spc="-20" dirty="0">
                <a:latin typeface="Arial"/>
                <a:cs typeface="Arial"/>
              </a:rPr>
              <a:t> </a:t>
            </a:r>
            <a:r>
              <a:rPr sz="900" dirty="0">
                <a:latin typeface="Arial"/>
                <a:cs typeface="Arial"/>
              </a:rPr>
              <a:t>to</a:t>
            </a:r>
            <a:r>
              <a:rPr sz="900" spc="-20" dirty="0">
                <a:latin typeface="Arial"/>
                <a:cs typeface="Arial"/>
              </a:rPr>
              <a:t> </a:t>
            </a:r>
            <a:r>
              <a:rPr sz="900" spc="-10" dirty="0">
                <a:latin typeface="Arial"/>
                <a:cs typeface="Arial"/>
              </a:rPr>
              <a:t>execute</a:t>
            </a:r>
            <a:r>
              <a:rPr sz="900" spc="-20" dirty="0">
                <a:latin typeface="Arial"/>
                <a:cs typeface="Arial"/>
              </a:rPr>
              <a:t> </a:t>
            </a:r>
            <a:r>
              <a:rPr sz="900" dirty="0">
                <a:latin typeface="Arial"/>
                <a:cs typeface="Arial"/>
              </a:rPr>
              <a:t>a</a:t>
            </a:r>
            <a:r>
              <a:rPr sz="900" spc="-20" dirty="0">
                <a:latin typeface="Arial"/>
                <a:cs typeface="Arial"/>
              </a:rPr>
              <a:t> </a:t>
            </a:r>
            <a:r>
              <a:rPr sz="900" spc="-10" dirty="0">
                <a:latin typeface="Arial"/>
                <a:cs typeface="Arial"/>
              </a:rPr>
              <a:t>command</a:t>
            </a:r>
            <a:endParaRPr sz="900">
              <a:latin typeface="Arial"/>
              <a:cs typeface="Arial"/>
            </a:endParaRPr>
          </a:p>
          <a:p>
            <a:pPr marL="542925" indent="-120650">
              <a:lnSpc>
                <a:spcPct val="100000"/>
              </a:lnSpc>
              <a:spcBef>
                <a:spcPts val="525"/>
              </a:spcBef>
              <a:buClr>
                <a:srgbClr val="3333B2"/>
              </a:buClr>
              <a:buFont typeface="Menlo"/>
              <a:buChar char="•"/>
              <a:tabLst>
                <a:tab pos="543560" algn="l"/>
              </a:tabLst>
            </a:pPr>
            <a:r>
              <a:rPr sz="900" dirty="0">
                <a:latin typeface="Arial"/>
                <a:cs typeface="Arial"/>
              </a:rPr>
              <a:t>Every</a:t>
            </a:r>
            <a:r>
              <a:rPr sz="900" spc="-25" dirty="0">
                <a:latin typeface="Arial"/>
                <a:cs typeface="Arial"/>
              </a:rPr>
              <a:t> </a:t>
            </a:r>
            <a:r>
              <a:rPr sz="900" i="1" dirty="0">
                <a:latin typeface="Arial"/>
                <a:cs typeface="Arial"/>
              </a:rPr>
              <a:t>P</a:t>
            </a:r>
            <a:r>
              <a:rPr sz="1050" i="1" baseline="-15873" dirty="0">
                <a:latin typeface="Arial"/>
                <a:cs typeface="Arial"/>
              </a:rPr>
              <a:t>i</a:t>
            </a:r>
            <a:r>
              <a:rPr sz="1050" i="1" spc="202" baseline="-15873" dirty="0">
                <a:latin typeface="Arial"/>
                <a:cs typeface="Arial"/>
              </a:rPr>
              <a:t> </a:t>
            </a:r>
            <a:r>
              <a:rPr sz="900" dirty="0">
                <a:latin typeface="Arial"/>
                <a:cs typeface="Arial"/>
              </a:rPr>
              <a:t>maintains</a:t>
            </a:r>
            <a:r>
              <a:rPr sz="900" spc="-25"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list</a:t>
            </a:r>
            <a:r>
              <a:rPr sz="900" spc="-25" dirty="0">
                <a:latin typeface="Arial"/>
                <a:cs typeface="Arial"/>
              </a:rPr>
              <a:t> </a:t>
            </a:r>
            <a:r>
              <a:rPr sz="900" dirty="0">
                <a:latin typeface="Arial"/>
                <a:cs typeface="Arial"/>
              </a:rPr>
              <a:t>of</a:t>
            </a:r>
            <a:r>
              <a:rPr sz="900" spc="-20" dirty="0">
                <a:latin typeface="Arial"/>
                <a:cs typeface="Arial"/>
              </a:rPr>
              <a:t> </a:t>
            </a:r>
            <a:r>
              <a:rPr sz="900" dirty="0">
                <a:latin typeface="Arial"/>
                <a:cs typeface="Arial"/>
              </a:rPr>
              <a:t>proposed</a:t>
            </a:r>
            <a:r>
              <a:rPr sz="900" spc="-25" dirty="0">
                <a:latin typeface="Arial"/>
                <a:cs typeface="Arial"/>
              </a:rPr>
              <a:t> </a:t>
            </a:r>
            <a:r>
              <a:rPr sz="900" spc="-10" dirty="0">
                <a:latin typeface="Arial"/>
                <a:cs typeface="Arial"/>
              </a:rPr>
              <a:t>commands</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134683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Consensus</a:t>
            </a:r>
            <a:r>
              <a:rPr sz="500" spc="-25" dirty="0">
                <a:latin typeface="Arial"/>
                <a:cs typeface="Arial"/>
                <a:hlinkClick r:id="rId4" action="ppaction://hlinksldjump"/>
              </a:rPr>
              <a:t> </a:t>
            </a:r>
            <a:r>
              <a:rPr sz="500" dirty="0">
                <a:latin typeface="Arial"/>
                <a:cs typeface="Arial"/>
                <a:hlinkClick r:id="rId4" action="ppaction://hlinksldjump"/>
              </a:rPr>
              <a:t>in</a:t>
            </a:r>
            <a:r>
              <a:rPr sz="500" spc="-20" dirty="0">
                <a:latin typeface="Arial"/>
                <a:cs typeface="Arial"/>
                <a:hlinkClick r:id="rId4" action="ppaction://hlinksldjump"/>
              </a:rPr>
              <a:t> </a:t>
            </a:r>
            <a:r>
              <a:rPr sz="500" dirty="0">
                <a:latin typeface="Arial"/>
                <a:cs typeface="Arial"/>
                <a:hlinkClick r:id="rId4" action="ppaction://hlinksldjump"/>
              </a:rPr>
              <a:t>faulty</a:t>
            </a:r>
            <a:r>
              <a:rPr sz="500" spc="-25" dirty="0">
                <a:latin typeface="Arial"/>
                <a:cs typeface="Arial"/>
                <a:hlinkClick r:id="rId4" action="ppaction://hlinksldjump"/>
              </a:rPr>
              <a:t> </a:t>
            </a:r>
            <a:r>
              <a:rPr sz="500" dirty="0">
                <a:latin typeface="Arial"/>
                <a:cs typeface="Arial"/>
                <a:hlinkClick r:id="rId4" action="ppaction://hlinksldjump"/>
              </a:rPr>
              <a:t>systems</a:t>
            </a:r>
            <a:r>
              <a:rPr sz="500" spc="-20" dirty="0">
                <a:latin typeface="Arial"/>
                <a:cs typeface="Arial"/>
                <a:hlinkClick r:id="rId4" action="ppaction://hlinksldjump"/>
              </a:rPr>
              <a:t> </a:t>
            </a:r>
            <a:r>
              <a:rPr sz="500" dirty="0">
                <a:latin typeface="Arial"/>
                <a:cs typeface="Arial"/>
                <a:hlinkClick r:id="rId4" action="ppaction://hlinksldjump"/>
              </a:rPr>
              <a:t>with</a:t>
            </a:r>
            <a:r>
              <a:rPr sz="500" spc="-20" dirty="0">
                <a:latin typeface="Arial"/>
                <a:cs typeface="Arial"/>
                <a:hlinkClick r:id="rId4" action="ppaction://hlinksldjump"/>
              </a:rPr>
              <a:t> </a:t>
            </a:r>
            <a:r>
              <a:rPr sz="500" dirty="0">
                <a:latin typeface="Arial"/>
                <a:cs typeface="Arial"/>
                <a:hlinkClick r:id="rId4" action="ppaction://hlinksldjump"/>
              </a:rPr>
              <a:t>crash</a:t>
            </a:r>
            <a:r>
              <a:rPr sz="500" spc="-25" dirty="0">
                <a:latin typeface="Arial"/>
                <a:cs typeface="Arial"/>
                <a:hlinkClick r:id="rId4" action="ppaction://hlinksldjump"/>
              </a:rPr>
              <a:t> </a:t>
            </a:r>
            <a:r>
              <a:rPr sz="500" spc="-10" dirty="0">
                <a:latin typeface="Arial"/>
                <a:cs typeface="Arial"/>
                <a:hlinkClick r:id="rId4" action="ppaction://hlinksldjump"/>
              </a:rPr>
              <a:t>failures</a:t>
            </a:r>
            <a:endParaRPr sz="500">
              <a:latin typeface="Arial"/>
              <a:cs typeface="Arial"/>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57200" y="197711"/>
            <a:ext cx="3626485" cy="1663064"/>
          </a:xfrm>
          <a:prstGeom prst="rect">
            <a:avLst/>
          </a:prstGeom>
        </p:spPr>
        <p:txBody>
          <a:bodyPr vert="horz" wrap="square" lIns="0" tIns="12065" rIns="0" bIns="0" rtlCol="0">
            <a:spAutoFit/>
          </a:bodyPr>
          <a:lstStyle/>
          <a:p>
            <a:pPr marL="50800">
              <a:lnSpc>
                <a:spcPct val="100000"/>
              </a:lnSpc>
              <a:spcBef>
                <a:spcPts val="95"/>
              </a:spcBef>
            </a:pPr>
            <a:r>
              <a:rPr sz="1200" spc="-10" dirty="0">
                <a:solidFill>
                  <a:srgbClr val="3333B2"/>
                </a:solidFill>
                <a:latin typeface="Arial"/>
                <a:cs typeface="Arial"/>
              </a:rPr>
              <a:t>Flooding-</a:t>
            </a:r>
            <a:r>
              <a:rPr sz="1200" dirty="0">
                <a:solidFill>
                  <a:srgbClr val="3333B2"/>
                </a:solidFill>
                <a:latin typeface="Arial"/>
                <a:cs typeface="Arial"/>
              </a:rPr>
              <a:t>based </a:t>
            </a:r>
            <a:r>
              <a:rPr sz="1200" spc="-10" dirty="0">
                <a:solidFill>
                  <a:srgbClr val="3333B2"/>
                </a:solidFill>
                <a:latin typeface="Arial"/>
                <a:cs typeface="Arial"/>
              </a:rPr>
              <a:t>consensus</a:t>
            </a:r>
            <a:endParaRPr sz="1200">
              <a:latin typeface="Arial"/>
              <a:cs typeface="Arial"/>
            </a:endParaRPr>
          </a:p>
          <a:p>
            <a:pPr marL="302260">
              <a:lnSpc>
                <a:spcPct val="100000"/>
              </a:lnSpc>
              <a:spcBef>
                <a:spcPts val="1055"/>
              </a:spcBef>
            </a:pPr>
            <a:r>
              <a:rPr sz="1000" dirty="0">
                <a:solidFill>
                  <a:srgbClr val="3333B2"/>
                </a:solidFill>
                <a:latin typeface="Arial"/>
                <a:cs typeface="Arial"/>
              </a:rPr>
              <a:t>System</a:t>
            </a:r>
            <a:r>
              <a:rPr sz="1000" spc="-40" dirty="0">
                <a:solidFill>
                  <a:srgbClr val="3333B2"/>
                </a:solidFill>
                <a:latin typeface="Arial"/>
                <a:cs typeface="Arial"/>
              </a:rPr>
              <a:t> </a:t>
            </a:r>
            <a:r>
              <a:rPr sz="1000" spc="-10" dirty="0">
                <a:solidFill>
                  <a:srgbClr val="3333B2"/>
                </a:solidFill>
                <a:latin typeface="Arial"/>
                <a:cs typeface="Arial"/>
              </a:rPr>
              <a:t>model</a:t>
            </a:r>
            <a:endParaRPr sz="1000">
              <a:latin typeface="Arial"/>
              <a:cs typeface="Arial"/>
            </a:endParaRPr>
          </a:p>
          <a:p>
            <a:pPr marL="551815" indent="-116839">
              <a:lnSpc>
                <a:spcPct val="100000"/>
              </a:lnSpc>
              <a:spcBef>
                <a:spcPts val="700"/>
              </a:spcBef>
              <a:buClr>
                <a:srgbClr val="3333B2"/>
              </a:buClr>
              <a:buFont typeface="Menlo"/>
              <a:buChar char="•"/>
              <a:tabLst>
                <a:tab pos="552450" algn="l"/>
              </a:tabLst>
            </a:pPr>
            <a:r>
              <a:rPr sz="900" dirty="0">
                <a:latin typeface="Arial"/>
                <a:cs typeface="Arial"/>
              </a:rPr>
              <a:t>A</a:t>
            </a:r>
            <a:r>
              <a:rPr sz="900" spc="40" dirty="0">
                <a:latin typeface="Arial"/>
                <a:cs typeface="Arial"/>
              </a:rPr>
              <a:t> </a:t>
            </a:r>
            <a:r>
              <a:rPr sz="900" dirty="0">
                <a:latin typeface="Arial"/>
                <a:cs typeface="Arial"/>
              </a:rPr>
              <a:t>process</a:t>
            </a:r>
            <a:r>
              <a:rPr sz="900" spc="45" dirty="0">
                <a:latin typeface="Arial"/>
                <a:cs typeface="Arial"/>
              </a:rPr>
              <a:t> </a:t>
            </a:r>
            <a:r>
              <a:rPr sz="900" dirty="0">
                <a:latin typeface="Arial"/>
                <a:cs typeface="Arial"/>
              </a:rPr>
              <a:t>group</a:t>
            </a:r>
            <a:r>
              <a:rPr sz="900" spc="40" dirty="0">
                <a:latin typeface="Arial"/>
                <a:cs typeface="Arial"/>
              </a:rPr>
              <a:t> </a:t>
            </a:r>
            <a:r>
              <a:rPr sz="900" b="1" dirty="0">
                <a:latin typeface="Arial"/>
                <a:cs typeface="Arial"/>
              </a:rPr>
              <a:t>P</a:t>
            </a:r>
            <a:r>
              <a:rPr sz="900" b="1" spc="-15" dirty="0">
                <a:latin typeface="Arial"/>
                <a:cs typeface="Arial"/>
              </a:rPr>
              <a:t> </a:t>
            </a:r>
            <a:r>
              <a:rPr sz="900" spc="185" dirty="0">
                <a:latin typeface="Arial"/>
                <a:cs typeface="Arial"/>
              </a:rPr>
              <a:t>=</a:t>
            </a:r>
            <a:r>
              <a:rPr sz="900" spc="-20" dirty="0">
                <a:latin typeface="Arial"/>
                <a:cs typeface="Arial"/>
              </a:rPr>
              <a:t> </a:t>
            </a:r>
            <a:r>
              <a:rPr sz="900" i="1" dirty="0">
                <a:latin typeface="Menlo"/>
                <a:cs typeface="Menlo"/>
              </a:rPr>
              <a:t>{</a:t>
            </a:r>
            <a:r>
              <a:rPr sz="900" i="1" dirty="0">
                <a:latin typeface="Arial"/>
                <a:cs typeface="Arial"/>
              </a:rPr>
              <a:t>P</a:t>
            </a:r>
            <a:r>
              <a:rPr sz="1050" i="1" baseline="-15873" dirty="0">
                <a:latin typeface="Arial"/>
                <a:cs typeface="Arial"/>
              </a:rPr>
              <a:t>1</a:t>
            </a:r>
            <a:r>
              <a:rPr sz="900" i="1" dirty="0">
                <a:latin typeface="Arial"/>
                <a:cs typeface="Arial"/>
              </a:rPr>
              <a:t>,...,</a:t>
            </a:r>
            <a:r>
              <a:rPr sz="900" i="1" spc="-135" dirty="0">
                <a:latin typeface="Arial"/>
                <a:cs typeface="Arial"/>
              </a:rPr>
              <a:t> </a:t>
            </a:r>
            <a:r>
              <a:rPr sz="900" i="1" spc="-25" dirty="0">
                <a:latin typeface="Arial"/>
                <a:cs typeface="Arial"/>
              </a:rPr>
              <a:t>P</a:t>
            </a:r>
            <a:r>
              <a:rPr sz="1050" i="1" spc="-37" baseline="-11904" dirty="0">
                <a:latin typeface="Arial"/>
                <a:cs typeface="Arial"/>
              </a:rPr>
              <a:t>n</a:t>
            </a:r>
            <a:r>
              <a:rPr sz="900" i="1" spc="-25" dirty="0">
                <a:latin typeface="Menlo"/>
                <a:cs typeface="Menlo"/>
              </a:rPr>
              <a:t>}</a:t>
            </a:r>
            <a:endParaRPr sz="900">
              <a:latin typeface="Menlo"/>
              <a:cs typeface="Menlo"/>
            </a:endParaRPr>
          </a:p>
          <a:p>
            <a:pPr marL="555625" indent="-120650">
              <a:lnSpc>
                <a:spcPct val="100000"/>
              </a:lnSpc>
              <a:spcBef>
                <a:spcPts val="525"/>
              </a:spcBef>
              <a:buClr>
                <a:srgbClr val="3333B2"/>
              </a:buClr>
              <a:buFont typeface="Menlo"/>
              <a:buChar char="•"/>
              <a:tabLst>
                <a:tab pos="556260" algn="l"/>
              </a:tabLst>
            </a:pPr>
            <a:r>
              <a:rPr sz="900" spc="-20" dirty="0">
                <a:solidFill>
                  <a:srgbClr val="C80000"/>
                </a:solidFill>
                <a:latin typeface="Arial"/>
                <a:cs typeface="Arial"/>
              </a:rPr>
              <a:t>Fail-</a:t>
            </a:r>
            <a:r>
              <a:rPr sz="900" dirty="0">
                <a:solidFill>
                  <a:srgbClr val="C80000"/>
                </a:solidFill>
                <a:latin typeface="Arial"/>
                <a:cs typeface="Arial"/>
              </a:rPr>
              <a:t>stop</a:t>
            </a:r>
            <a:r>
              <a:rPr sz="900" spc="-30" dirty="0">
                <a:solidFill>
                  <a:srgbClr val="C80000"/>
                </a:solidFill>
                <a:latin typeface="Arial"/>
                <a:cs typeface="Arial"/>
              </a:rPr>
              <a:t> </a:t>
            </a:r>
            <a:r>
              <a:rPr sz="900" dirty="0">
                <a:latin typeface="Arial"/>
                <a:cs typeface="Arial"/>
              </a:rPr>
              <a:t>failure</a:t>
            </a:r>
            <a:r>
              <a:rPr sz="900" spc="-25" dirty="0">
                <a:latin typeface="Arial"/>
                <a:cs typeface="Arial"/>
              </a:rPr>
              <a:t> </a:t>
            </a:r>
            <a:r>
              <a:rPr sz="900" spc="-10" dirty="0">
                <a:latin typeface="Arial"/>
                <a:cs typeface="Arial"/>
              </a:rPr>
              <a:t>semantics,</a:t>
            </a:r>
            <a:r>
              <a:rPr sz="900" spc="-25" dirty="0">
                <a:latin typeface="Arial"/>
                <a:cs typeface="Arial"/>
              </a:rPr>
              <a:t> </a:t>
            </a:r>
            <a:r>
              <a:rPr sz="900" dirty="0">
                <a:latin typeface="Arial"/>
                <a:cs typeface="Arial"/>
              </a:rPr>
              <a:t>i.e.,</a:t>
            </a:r>
            <a:r>
              <a:rPr sz="900" spc="-25" dirty="0">
                <a:latin typeface="Arial"/>
                <a:cs typeface="Arial"/>
              </a:rPr>
              <a:t> </a:t>
            </a:r>
            <a:r>
              <a:rPr sz="900" dirty="0">
                <a:latin typeface="Arial"/>
                <a:cs typeface="Arial"/>
              </a:rPr>
              <a:t>with</a:t>
            </a:r>
            <a:r>
              <a:rPr sz="900" spc="-25" dirty="0">
                <a:latin typeface="Arial"/>
                <a:cs typeface="Arial"/>
              </a:rPr>
              <a:t> </a:t>
            </a:r>
            <a:r>
              <a:rPr sz="900" dirty="0">
                <a:solidFill>
                  <a:srgbClr val="3333B2"/>
                </a:solidFill>
                <a:latin typeface="Arial"/>
                <a:cs typeface="Arial"/>
              </a:rPr>
              <a:t>reliable</a:t>
            </a:r>
            <a:r>
              <a:rPr sz="900" spc="-25" dirty="0">
                <a:solidFill>
                  <a:srgbClr val="3333B2"/>
                </a:solidFill>
                <a:latin typeface="Arial"/>
                <a:cs typeface="Arial"/>
              </a:rPr>
              <a:t> </a:t>
            </a:r>
            <a:r>
              <a:rPr sz="900" dirty="0">
                <a:solidFill>
                  <a:srgbClr val="3333B2"/>
                </a:solidFill>
                <a:latin typeface="Arial"/>
                <a:cs typeface="Arial"/>
              </a:rPr>
              <a:t>failure</a:t>
            </a:r>
            <a:r>
              <a:rPr sz="900" spc="-25" dirty="0">
                <a:solidFill>
                  <a:srgbClr val="3333B2"/>
                </a:solidFill>
                <a:latin typeface="Arial"/>
                <a:cs typeface="Arial"/>
              </a:rPr>
              <a:t> </a:t>
            </a:r>
            <a:r>
              <a:rPr sz="900" spc="-10" dirty="0">
                <a:solidFill>
                  <a:srgbClr val="3333B2"/>
                </a:solidFill>
                <a:latin typeface="Arial"/>
                <a:cs typeface="Arial"/>
              </a:rPr>
              <a:t>detection</a:t>
            </a:r>
            <a:endParaRPr sz="900">
              <a:latin typeface="Arial"/>
              <a:cs typeface="Arial"/>
            </a:endParaRPr>
          </a:p>
          <a:p>
            <a:pPr marL="551815" indent="-116839">
              <a:lnSpc>
                <a:spcPct val="100000"/>
              </a:lnSpc>
              <a:spcBef>
                <a:spcPts val="525"/>
              </a:spcBef>
              <a:buClr>
                <a:srgbClr val="3333B2"/>
              </a:buClr>
              <a:buFont typeface="Menlo"/>
              <a:buChar char="•"/>
              <a:tabLst>
                <a:tab pos="552450" algn="l"/>
              </a:tabLst>
            </a:pPr>
            <a:r>
              <a:rPr sz="900" dirty="0">
                <a:latin typeface="Arial"/>
                <a:cs typeface="Arial"/>
              </a:rPr>
              <a:t>A</a:t>
            </a:r>
            <a:r>
              <a:rPr sz="900" spc="-25" dirty="0">
                <a:latin typeface="Arial"/>
                <a:cs typeface="Arial"/>
              </a:rPr>
              <a:t> </a:t>
            </a:r>
            <a:r>
              <a:rPr sz="900" dirty="0">
                <a:latin typeface="Arial"/>
                <a:cs typeface="Arial"/>
              </a:rPr>
              <a:t>client</a:t>
            </a:r>
            <a:r>
              <a:rPr sz="900" spc="-20" dirty="0">
                <a:latin typeface="Arial"/>
                <a:cs typeface="Arial"/>
              </a:rPr>
              <a:t> </a:t>
            </a:r>
            <a:r>
              <a:rPr sz="900" dirty="0">
                <a:latin typeface="Arial"/>
                <a:cs typeface="Arial"/>
              </a:rPr>
              <a:t>contacts</a:t>
            </a:r>
            <a:r>
              <a:rPr sz="900" spc="-20" dirty="0">
                <a:latin typeface="Arial"/>
                <a:cs typeface="Arial"/>
              </a:rPr>
              <a:t> </a:t>
            </a:r>
            <a:r>
              <a:rPr sz="900" dirty="0">
                <a:latin typeface="Arial"/>
                <a:cs typeface="Arial"/>
              </a:rPr>
              <a:t>a</a:t>
            </a:r>
            <a:r>
              <a:rPr sz="900" spc="-20" dirty="0">
                <a:latin typeface="Arial"/>
                <a:cs typeface="Arial"/>
              </a:rPr>
              <a:t> </a:t>
            </a:r>
            <a:r>
              <a:rPr sz="900" i="1" dirty="0">
                <a:latin typeface="Arial"/>
                <a:cs typeface="Arial"/>
              </a:rPr>
              <a:t>P</a:t>
            </a:r>
            <a:r>
              <a:rPr sz="1050" i="1" baseline="-15873" dirty="0">
                <a:latin typeface="Arial"/>
                <a:cs typeface="Arial"/>
              </a:rPr>
              <a:t>i</a:t>
            </a:r>
            <a:r>
              <a:rPr sz="1050" i="1" spc="209" baseline="-15873" dirty="0">
                <a:latin typeface="Arial"/>
                <a:cs typeface="Arial"/>
              </a:rPr>
              <a:t> </a:t>
            </a:r>
            <a:r>
              <a:rPr sz="900" dirty="0">
                <a:latin typeface="Arial"/>
                <a:cs typeface="Arial"/>
              </a:rPr>
              <a:t>requesting</a:t>
            </a:r>
            <a:r>
              <a:rPr sz="900" spc="-20" dirty="0">
                <a:latin typeface="Arial"/>
                <a:cs typeface="Arial"/>
              </a:rPr>
              <a:t> </a:t>
            </a:r>
            <a:r>
              <a:rPr sz="900" dirty="0">
                <a:latin typeface="Arial"/>
                <a:cs typeface="Arial"/>
              </a:rPr>
              <a:t>it</a:t>
            </a:r>
            <a:r>
              <a:rPr sz="900" spc="-20" dirty="0">
                <a:latin typeface="Arial"/>
                <a:cs typeface="Arial"/>
              </a:rPr>
              <a:t> </a:t>
            </a:r>
            <a:r>
              <a:rPr sz="900" dirty="0">
                <a:latin typeface="Arial"/>
                <a:cs typeface="Arial"/>
              </a:rPr>
              <a:t>to</a:t>
            </a:r>
            <a:r>
              <a:rPr sz="900" spc="-20" dirty="0">
                <a:latin typeface="Arial"/>
                <a:cs typeface="Arial"/>
              </a:rPr>
              <a:t> </a:t>
            </a:r>
            <a:r>
              <a:rPr sz="900" spc="-10" dirty="0">
                <a:latin typeface="Arial"/>
                <a:cs typeface="Arial"/>
              </a:rPr>
              <a:t>execute</a:t>
            </a:r>
            <a:r>
              <a:rPr sz="900" spc="-20" dirty="0">
                <a:latin typeface="Arial"/>
                <a:cs typeface="Arial"/>
              </a:rPr>
              <a:t> </a:t>
            </a:r>
            <a:r>
              <a:rPr sz="900" dirty="0">
                <a:latin typeface="Arial"/>
                <a:cs typeface="Arial"/>
              </a:rPr>
              <a:t>a</a:t>
            </a:r>
            <a:r>
              <a:rPr sz="900" spc="-20" dirty="0">
                <a:latin typeface="Arial"/>
                <a:cs typeface="Arial"/>
              </a:rPr>
              <a:t> </a:t>
            </a:r>
            <a:r>
              <a:rPr sz="900" spc="-10" dirty="0">
                <a:latin typeface="Arial"/>
                <a:cs typeface="Arial"/>
              </a:rPr>
              <a:t>command</a:t>
            </a:r>
            <a:endParaRPr sz="900">
              <a:latin typeface="Arial"/>
              <a:cs typeface="Arial"/>
            </a:endParaRPr>
          </a:p>
          <a:p>
            <a:pPr marL="555625" indent="-120650">
              <a:lnSpc>
                <a:spcPct val="100000"/>
              </a:lnSpc>
              <a:spcBef>
                <a:spcPts val="525"/>
              </a:spcBef>
              <a:buClr>
                <a:srgbClr val="3333B2"/>
              </a:buClr>
              <a:buFont typeface="Menlo"/>
              <a:buChar char="•"/>
              <a:tabLst>
                <a:tab pos="556260" algn="l"/>
              </a:tabLst>
            </a:pPr>
            <a:r>
              <a:rPr sz="900" dirty="0">
                <a:latin typeface="Arial"/>
                <a:cs typeface="Arial"/>
              </a:rPr>
              <a:t>Every</a:t>
            </a:r>
            <a:r>
              <a:rPr sz="900" spc="-25" dirty="0">
                <a:latin typeface="Arial"/>
                <a:cs typeface="Arial"/>
              </a:rPr>
              <a:t> </a:t>
            </a:r>
            <a:r>
              <a:rPr sz="900" i="1" dirty="0">
                <a:latin typeface="Arial"/>
                <a:cs typeface="Arial"/>
              </a:rPr>
              <a:t>P</a:t>
            </a:r>
            <a:r>
              <a:rPr sz="1050" i="1" baseline="-15873" dirty="0">
                <a:latin typeface="Arial"/>
                <a:cs typeface="Arial"/>
              </a:rPr>
              <a:t>i</a:t>
            </a:r>
            <a:r>
              <a:rPr sz="1050" i="1" spc="202" baseline="-15873" dirty="0">
                <a:latin typeface="Arial"/>
                <a:cs typeface="Arial"/>
              </a:rPr>
              <a:t> </a:t>
            </a:r>
            <a:r>
              <a:rPr sz="900" dirty="0">
                <a:latin typeface="Arial"/>
                <a:cs typeface="Arial"/>
              </a:rPr>
              <a:t>maintains</a:t>
            </a:r>
            <a:r>
              <a:rPr sz="900" spc="-25"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list</a:t>
            </a:r>
            <a:r>
              <a:rPr sz="900" spc="-25" dirty="0">
                <a:latin typeface="Arial"/>
                <a:cs typeface="Arial"/>
              </a:rPr>
              <a:t> </a:t>
            </a:r>
            <a:r>
              <a:rPr sz="900" dirty="0">
                <a:latin typeface="Arial"/>
                <a:cs typeface="Arial"/>
              </a:rPr>
              <a:t>of</a:t>
            </a:r>
            <a:r>
              <a:rPr sz="900" spc="-20" dirty="0">
                <a:latin typeface="Arial"/>
                <a:cs typeface="Arial"/>
              </a:rPr>
              <a:t> </a:t>
            </a:r>
            <a:r>
              <a:rPr sz="900" dirty="0">
                <a:latin typeface="Arial"/>
                <a:cs typeface="Arial"/>
              </a:rPr>
              <a:t>proposed</a:t>
            </a:r>
            <a:r>
              <a:rPr sz="900" spc="-25" dirty="0">
                <a:latin typeface="Arial"/>
                <a:cs typeface="Arial"/>
              </a:rPr>
              <a:t> </a:t>
            </a:r>
            <a:r>
              <a:rPr sz="900" spc="-10" dirty="0">
                <a:latin typeface="Arial"/>
                <a:cs typeface="Arial"/>
              </a:rPr>
              <a:t>commands</a:t>
            </a:r>
            <a:endParaRPr sz="900">
              <a:latin typeface="Arial"/>
              <a:cs typeface="Arial"/>
            </a:endParaRPr>
          </a:p>
          <a:p>
            <a:pPr>
              <a:lnSpc>
                <a:spcPct val="100000"/>
              </a:lnSpc>
              <a:spcBef>
                <a:spcPts val="25"/>
              </a:spcBef>
            </a:pPr>
            <a:endParaRPr sz="1200">
              <a:latin typeface="Arial"/>
              <a:cs typeface="Arial"/>
            </a:endParaRPr>
          </a:p>
          <a:p>
            <a:pPr marL="302260">
              <a:lnSpc>
                <a:spcPct val="100000"/>
              </a:lnSpc>
            </a:pPr>
            <a:r>
              <a:rPr sz="1000" dirty="0">
                <a:solidFill>
                  <a:srgbClr val="3333B2"/>
                </a:solidFill>
                <a:latin typeface="Arial"/>
                <a:cs typeface="Arial"/>
              </a:rPr>
              <a:t>Basic</a:t>
            </a:r>
            <a:r>
              <a:rPr sz="1000" spc="-30" dirty="0">
                <a:solidFill>
                  <a:srgbClr val="3333B2"/>
                </a:solidFill>
                <a:latin typeface="Arial"/>
                <a:cs typeface="Arial"/>
              </a:rPr>
              <a:t> </a:t>
            </a:r>
            <a:r>
              <a:rPr sz="1000" dirty="0">
                <a:solidFill>
                  <a:srgbClr val="3333B2"/>
                </a:solidFill>
                <a:latin typeface="Arial"/>
                <a:cs typeface="Arial"/>
              </a:rPr>
              <a:t>algorithm</a:t>
            </a:r>
            <a:r>
              <a:rPr sz="1000" spc="-30" dirty="0">
                <a:solidFill>
                  <a:srgbClr val="3333B2"/>
                </a:solidFill>
                <a:latin typeface="Arial"/>
                <a:cs typeface="Arial"/>
              </a:rPr>
              <a:t> </a:t>
            </a:r>
            <a:r>
              <a:rPr sz="1000" dirty="0">
                <a:solidFill>
                  <a:srgbClr val="3333B2"/>
                </a:solidFill>
                <a:latin typeface="Arial"/>
                <a:cs typeface="Arial"/>
              </a:rPr>
              <a:t>(based</a:t>
            </a:r>
            <a:r>
              <a:rPr sz="1000" spc="-30" dirty="0">
                <a:solidFill>
                  <a:srgbClr val="3333B2"/>
                </a:solidFill>
                <a:latin typeface="Arial"/>
                <a:cs typeface="Arial"/>
              </a:rPr>
              <a:t> </a:t>
            </a:r>
            <a:r>
              <a:rPr sz="1000" dirty="0">
                <a:solidFill>
                  <a:srgbClr val="3333B2"/>
                </a:solidFill>
                <a:latin typeface="Arial"/>
                <a:cs typeface="Arial"/>
              </a:rPr>
              <a:t>on</a:t>
            </a:r>
            <a:r>
              <a:rPr sz="1000" spc="-30" dirty="0">
                <a:solidFill>
                  <a:srgbClr val="3333B2"/>
                </a:solidFill>
                <a:latin typeface="Arial"/>
                <a:cs typeface="Arial"/>
              </a:rPr>
              <a:t> </a:t>
            </a:r>
            <a:r>
              <a:rPr sz="1000" spc="-10" dirty="0">
                <a:solidFill>
                  <a:srgbClr val="3333B2"/>
                </a:solidFill>
                <a:latin typeface="Arial"/>
                <a:cs typeface="Arial"/>
              </a:rPr>
              <a:t>rounds)</a:t>
            </a:r>
            <a:endParaRPr sz="1000">
              <a:latin typeface="Arial"/>
              <a:cs typeface="Arial"/>
            </a:endParaRPr>
          </a:p>
        </p:txBody>
      </p:sp>
      <p:sp>
        <p:nvSpPr>
          <p:cNvPr id="6" name="object 6"/>
          <p:cNvSpPr txBox="1"/>
          <p:nvPr/>
        </p:nvSpPr>
        <p:spPr>
          <a:xfrm>
            <a:off x="3327247" y="1991985"/>
            <a:ext cx="50165" cy="132080"/>
          </a:xfrm>
          <a:prstGeom prst="rect">
            <a:avLst/>
          </a:prstGeom>
        </p:spPr>
        <p:txBody>
          <a:bodyPr vert="horz" wrap="square" lIns="0" tIns="12065" rIns="0" bIns="0" rtlCol="0">
            <a:spAutoFit/>
          </a:bodyPr>
          <a:lstStyle/>
          <a:p>
            <a:pPr marL="12700">
              <a:lnSpc>
                <a:spcPct val="100000"/>
              </a:lnSpc>
              <a:spcBef>
                <a:spcPts val="95"/>
              </a:spcBef>
            </a:pPr>
            <a:r>
              <a:rPr sz="700" b="1" spc="-5" dirty="0">
                <a:latin typeface="Arial"/>
                <a:cs typeface="Arial"/>
              </a:rPr>
              <a:t>i</a:t>
            </a:r>
            <a:endParaRPr sz="700">
              <a:latin typeface="Arial"/>
              <a:cs typeface="Arial"/>
            </a:endParaRPr>
          </a:p>
        </p:txBody>
      </p:sp>
      <p:sp>
        <p:nvSpPr>
          <p:cNvPr id="7" name="object 7"/>
          <p:cNvSpPr txBox="1"/>
          <p:nvPr/>
        </p:nvSpPr>
        <p:spPr>
          <a:xfrm>
            <a:off x="416725" y="1925188"/>
            <a:ext cx="3622675" cy="162560"/>
          </a:xfrm>
          <a:prstGeom prst="rect">
            <a:avLst/>
          </a:prstGeom>
        </p:spPr>
        <p:txBody>
          <a:bodyPr vert="horz" wrap="square" lIns="0" tIns="12065" rIns="0" bIns="0" rtlCol="0">
            <a:spAutoFit/>
          </a:bodyPr>
          <a:lstStyle/>
          <a:p>
            <a:pPr marL="38100">
              <a:lnSpc>
                <a:spcPct val="100000"/>
              </a:lnSpc>
              <a:spcBef>
                <a:spcPts val="95"/>
              </a:spcBef>
            </a:pPr>
            <a:r>
              <a:rPr sz="900" dirty="0">
                <a:solidFill>
                  <a:srgbClr val="3333B2"/>
                </a:solidFill>
                <a:latin typeface="Arial"/>
                <a:cs typeface="Arial"/>
              </a:rPr>
              <a:t>1.</a:t>
            </a:r>
            <a:r>
              <a:rPr sz="900" spc="210" dirty="0">
                <a:solidFill>
                  <a:srgbClr val="3333B2"/>
                </a:solidFill>
                <a:latin typeface="Arial"/>
                <a:cs typeface="Arial"/>
              </a:rPr>
              <a:t> </a:t>
            </a:r>
            <a:r>
              <a:rPr sz="900" dirty="0">
                <a:latin typeface="Arial"/>
                <a:cs typeface="Arial"/>
              </a:rPr>
              <a:t>In</a:t>
            </a:r>
            <a:r>
              <a:rPr sz="900" spc="-20" dirty="0">
                <a:latin typeface="Arial"/>
                <a:cs typeface="Arial"/>
              </a:rPr>
              <a:t> </a:t>
            </a:r>
            <a:r>
              <a:rPr sz="900" dirty="0">
                <a:solidFill>
                  <a:srgbClr val="C80000"/>
                </a:solidFill>
                <a:latin typeface="Arial"/>
                <a:cs typeface="Arial"/>
              </a:rPr>
              <a:t>round</a:t>
            </a:r>
            <a:r>
              <a:rPr sz="900" spc="-20" dirty="0">
                <a:solidFill>
                  <a:srgbClr val="C80000"/>
                </a:solidFill>
                <a:latin typeface="Arial"/>
                <a:cs typeface="Arial"/>
              </a:rPr>
              <a:t> </a:t>
            </a:r>
            <a:r>
              <a:rPr sz="900" i="1" spc="-10" dirty="0">
                <a:latin typeface="Arial"/>
                <a:cs typeface="Arial"/>
              </a:rPr>
              <a:t>r</a:t>
            </a:r>
            <a:r>
              <a:rPr sz="900" i="1" spc="-150" dirty="0">
                <a:latin typeface="Arial"/>
                <a:cs typeface="Arial"/>
              </a:rPr>
              <a:t> </a:t>
            </a:r>
            <a:r>
              <a:rPr sz="900" dirty="0">
                <a:latin typeface="Arial"/>
                <a:cs typeface="Arial"/>
              </a:rPr>
              <a:t>,</a:t>
            </a:r>
            <a:r>
              <a:rPr sz="900" spc="-20" dirty="0">
                <a:latin typeface="Arial"/>
                <a:cs typeface="Arial"/>
              </a:rPr>
              <a:t> </a:t>
            </a:r>
            <a:r>
              <a:rPr sz="900" i="1" dirty="0">
                <a:latin typeface="Arial"/>
                <a:cs typeface="Arial"/>
              </a:rPr>
              <a:t>P</a:t>
            </a:r>
            <a:r>
              <a:rPr sz="1050" i="1" baseline="-15873" dirty="0">
                <a:latin typeface="Arial"/>
                <a:cs typeface="Arial"/>
              </a:rPr>
              <a:t>i</a:t>
            </a:r>
            <a:r>
              <a:rPr sz="1050" i="1" spc="209" baseline="-15873" dirty="0">
                <a:latin typeface="Arial"/>
                <a:cs typeface="Arial"/>
              </a:rPr>
              <a:t> </a:t>
            </a:r>
            <a:r>
              <a:rPr sz="900" dirty="0">
                <a:latin typeface="Arial"/>
                <a:cs typeface="Arial"/>
              </a:rPr>
              <a:t>multicasts</a:t>
            </a:r>
            <a:r>
              <a:rPr sz="900" spc="-20" dirty="0">
                <a:latin typeface="Arial"/>
                <a:cs typeface="Arial"/>
              </a:rPr>
              <a:t> </a:t>
            </a:r>
            <a:r>
              <a:rPr sz="900" dirty="0">
                <a:latin typeface="Arial"/>
                <a:cs typeface="Arial"/>
              </a:rPr>
              <a:t>its</a:t>
            </a:r>
            <a:r>
              <a:rPr sz="900" spc="-20" dirty="0">
                <a:latin typeface="Arial"/>
                <a:cs typeface="Arial"/>
              </a:rPr>
              <a:t> </a:t>
            </a:r>
            <a:r>
              <a:rPr sz="900" dirty="0">
                <a:latin typeface="Arial"/>
                <a:cs typeface="Arial"/>
              </a:rPr>
              <a:t>known</a:t>
            </a:r>
            <a:r>
              <a:rPr sz="900" spc="-20" dirty="0">
                <a:latin typeface="Arial"/>
                <a:cs typeface="Arial"/>
              </a:rPr>
              <a:t> </a:t>
            </a:r>
            <a:r>
              <a:rPr sz="900" dirty="0">
                <a:latin typeface="Arial"/>
                <a:cs typeface="Arial"/>
              </a:rPr>
              <a:t>set</a:t>
            </a:r>
            <a:r>
              <a:rPr sz="900" spc="-20" dirty="0">
                <a:latin typeface="Arial"/>
                <a:cs typeface="Arial"/>
              </a:rPr>
              <a:t> </a:t>
            </a:r>
            <a:r>
              <a:rPr sz="900" dirty="0">
                <a:latin typeface="Arial"/>
                <a:cs typeface="Arial"/>
              </a:rPr>
              <a:t>of</a:t>
            </a:r>
            <a:r>
              <a:rPr sz="900" spc="-20" dirty="0">
                <a:latin typeface="Arial"/>
                <a:cs typeface="Arial"/>
              </a:rPr>
              <a:t> </a:t>
            </a:r>
            <a:r>
              <a:rPr sz="900" dirty="0">
                <a:latin typeface="Arial"/>
                <a:cs typeface="Arial"/>
              </a:rPr>
              <a:t>commands</a:t>
            </a:r>
            <a:r>
              <a:rPr sz="900" spc="-15" dirty="0">
                <a:latin typeface="Arial"/>
                <a:cs typeface="Arial"/>
              </a:rPr>
              <a:t> </a:t>
            </a:r>
            <a:r>
              <a:rPr sz="900" b="1" dirty="0">
                <a:latin typeface="Arial"/>
                <a:cs typeface="Arial"/>
              </a:rPr>
              <a:t>C</a:t>
            </a:r>
            <a:r>
              <a:rPr sz="1050" b="1" baseline="27777" dirty="0">
                <a:latin typeface="Arial"/>
                <a:cs typeface="Arial"/>
              </a:rPr>
              <a:t>r</a:t>
            </a:r>
            <a:r>
              <a:rPr sz="1050" b="1" spc="120" baseline="27777"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all</a:t>
            </a:r>
            <a:r>
              <a:rPr sz="900" spc="-20" dirty="0">
                <a:latin typeface="Arial"/>
                <a:cs typeface="Arial"/>
              </a:rPr>
              <a:t> </a:t>
            </a:r>
            <a:r>
              <a:rPr sz="900" spc="-10" dirty="0">
                <a:latin typeface="Arial"/>
                <a:cs typeface="Arial"/>
              </a:rPr>
              <a:t>others</a:t>
            </a:r>
            <a:endParaRPr sz="900">
              <a:latin typeface="Arial"/>
              <a:cs typeface="Arial"/>
            </a:endParaRPr>
          </a:p>
        </p:txBody>
      </p:sp>
      <p:sp>
        <p:nvSpPr>
          <p:cNvPr id="8" name="object 8"/>
          <p:cNvSpPr txBox="1"/>
          <p:nvPr/>
        </p:nvSpPr>
        <p:spPr>
          <a:xfrm>
            <a:off x="1742592" y="2191882"/>
            <a:ext cx="45085" cy="132080"/>
          </a:xfrm>
          <a:prstGeom prst="rect">
            <a:avLst/>
          </a:prstGeom>
        </p:spPr>
        <p:txBody>
          <a:bodyPr vert="horz" wrap="square" lIns="0" tIns="12065" rIns="0" bIns="0" rtlCol="0">
            <a:spAutoFit/>
          </a:bodyPr>
          <a:lstStyle/>
          <a:p>
            <a:pPr marL="12700">
              <a:lnSpc>
                <a:spcPct val="100000"/>
              </a:lnSpc>
              <a:spcBef>
                <a:spcPts val="95"/>
              </a:spcBef>
            </a:pPr>
            <a:r>
              <a:rPr sz="700" i="1" spc="-5" dirty="0">
                <a:latin typeface="Arial"/>
                <a:cs typeface="Arial"/>
              </a:rPr>
              <a:t>i</a:t>
            </a:r>
            <a:endParaRPr sz="700">
              <a:latin typeface="Arial"/>
              <a:cs typeface="Arial"/>
            </a:endParaRPr>
          </a:p>
        </p:txBody>
      </p:sp>
      <p:sp>
        <p:nvSpPr>
          <p:cNvPr id="9" name="object 9"/>
          <p:cNvSpPr txBox="1"/>
          <p:nvPr/>
        </p:nvSpPr>
        <p:spPr>
          <a:xfrm>
            <a:off x="4042917" y="2118667"/>
            <a:ext cx="182880" cy="132080"/>
          </a:xfrm>
          <a:prstGeom prst="rect">
            <a:avLst/>
          </a:prstGeom>
        </p:spPr>
        <p:txBody>
          <a:bodyPr vert="horz" wrap="square" lIns="0" tIns="12065" rIns="0" bIns="0" rtlCol="0">
            <a:spAutoFit/>
          </a:bodyPr>
          <a:lstStyle/>
          <a:p>
            <a:pPr marL="12700">
              <a:lnSpc>
                <a:spcPct val="100000"/>
              </a:lnSpc>
              <a:spcBef>
                <a:spcPts val="95"/>
              </a:spcBef>
            </a:pPr>
            <a:r>
              <a:rPr sz="700" b="1" spc="25" dirty="0">
                <a:latin typeface="Arial"/>
                <a:cs typeface="Arial"/>
              </a:rPr>
              <a:t>r</a:t>
            </a:r>
            <a:r>
              <a:rPr sz="700" spc="25" dirty="0">
                <a:latin typeface="Arial"/>
                <a:cs typeface="Arial"/>
              </a:rPr>
              <a:t>+</a:t>
            </a:r>
            <a:r>
              <a:rPr sz="700" b="1" spc="25" dirty="0">
                <a:latin typeface="Arial"/>
                <a:cs typeface="Arial"/>
              </a:rPr>
              <a:t>1</a:t>
            </a:r>
            <a:endParaRPr sz="700">
              <a:latin typeface="Arial"/>
              <a:cs typeface="Arial"/>
            </a:endParaRPr>
          </a:p>
        </p:txBody>
      </p:sp>
      <p:sp>
        <p:nvSpPr>
          <p:cNvPr id="10" name="object 10"/>
          <p:cNvSpPr txBox="1"/>
          <p:nvPr/>
        </p:nvSpPr>
        <p:spPr>
          <a:xfrm>
            <a:off x="4042917" y="2210716"/>
            <a:ext cx="50165" cy="132080"/>
          </a:xfrm>
          <a:prstGeom prst="rect">
            <a:avLst/>
          </a:prstGeom>
        </p:spPr>
        <p:txBody>
          <a:bodyPr vert="horz" wrap="square" lIns="0" tIns="12065" rIns="0" bIns="0" rtlCol="0">
            <a:spAutoFit/>
          </a:bodyPr>
          <a:lstStyle/>
          <a:p>
            <a:pPr marL="12700">
              <a:lnSpc>
                <a:spcPct val="100000"/>
              </a:lnSpc>
              <a:spcBef>
                <a:spcPts val="95"/>
              </a:spcBef>
            </a:pPr>
            <a:r>
              <a:rPr sz="700" b="1" spc="-5" dirty="0">
                <a:latin typeface="Arial"/>
                <a:cs typeface="Arial"/>
              </a:rPr>
              <a:t>i</a:t>
            </a:r>
            <a:endParaRPr sz="700">
              <a:latin typeface="Arial"/>
              <a:cs typeface="Arial"/>
            </a:endParaRPr>
          </a:p>
        </p:txBody>
      </p:sp>
      <p:sp>
        <p:nvSpPr>
          <p:cNvPr id="11" name="object 11"/>
          <p:cNvSpPr txBox="1"/>
          <p:nvPr/>
        </p:nvSpPr>
        <p:spPr>
          <a:xfrm>
            <a:off x="442125" y="2141761"/>
            <a:ext cx="3821429" cy="162560"/>
          </a:xfrm>
          <a:prstGeom prst="rect">
            <a:avLst/>
          </a:prstGeom>
        </p:spPr>
        <p:txBody>
          <a:bodyPr vert="horz" wrap="square" lIns="0" tIns="12065" rIns="0" bIns="0" rtlCol="0">
            <a:spAutoFit/>
          </a:bodyPr>
          <a:lstStyle/>
          <a:p>
            <a:pPr marL="12700">
              <a:lnSpc>
                <a:spcPct val="100000"/>
              </a:lnSpc>
              <a:spcBef>
                <a:spcPts val="95"/>
              </a:spcBef>
              <a:tabLst>
                <a:tab pos="3776345" algn="l"/>
              </a:tabLst>
            </a:pPr>
            <a:r>
              <a:rPr sz="900" dirty="0">
                <a:solidFill>
                  <a:srgbClr val="3333B2"/>
                </a:solidFill>
                <a:latin typeface="Arial"/>
                <a:cs typeface="Arial"/>
              </a:rPr>
              <a:t>2.</a:t>
            </a:r>
            <a:r>
              <a:rPr sz="900" spc="185" dirty="0">
                <a:solidFill>
                  <a:srgbClr val="3333B2"/>
                </a:solidFill>
                <a:latin typeface="Arial"/>
                <a:cs typeface="Arial"/>
              </a:rPr>
              <a:t> </a:t>
            </a:r>
            <a:r>
              <a:rPr sz="900" dirty="0">
                <a:latin typeface="Arial"/>
                <a:cs typeface="Arial"/>
              </a:rPr>
              <a:t>At</a:t>
            </a:r>
            <a:r>
              <a:rPr sz="900" spc="-15"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end</a:t>
            </a:r>
            <a:r>
              <a:rPr sz="900" spc="-15" dirty="0">
                <a:latin typeface="Arial"/>
                <a:cs typeface="Arial"/>
              </a:rPr>
              <a:t> </a:t>
            </a:r>
            <a:r>
              <a:rPr sz="900" dirty="0">
                <a:latin typeface="Arial"/>
                <a:cs typeface="Arial"/>
              </a:rPr>
              <a:t>of</a:t>
            </a:r>
            <a:r>
              <a:rPr sz="900" spc="-15" dirty="0">
                <a:latin typeface="Arial"/>
                <a:cs typeface="Arial"/>
              </a:rPr>
              <a:t> </a:t>
            </a:r>
            <a:r>
              <a:rPr sz="900" i="1" spc="-10" dirty="0">
                <a:latin typeface="Arial"/>
                <a:cs typeface="Arial"/>
              </a:rPr>
              <a:t>r</a:t>
            </a:r>
            <a:r>
              <a:rPr sz="900" i="1" spc="-150" dirty="0">
                <a:latin typeface="Arial"/>
                <a:cs typeface="Arial"/>
              </a:rPr>
              <a:t> </a:t>
            </a:r>
            <a:r>
              <a:rPr sz="900" dirty="0">
                <a:latin typeface="Arial"/>
                <a:cs typeface="Arial"/>
              </a:rPr>
              <a:t>,</a:t>
            </a:r>
            <a:r>
              <a:rPr sz="900" spc="-15" dirty="0">
                <a:latin typeface="Arial"/>
                <a:cs typeface="Arial"/>
              </a:rPr>
              <a:t> </a:t>
            </a:r>
            <a:r>
              <a:rPr sz="900" dirty="0">
                <a:latin typeface="Arial"/>
                <a:cs typeface="Arial"/>
              </a:rPr>
              <a:t>each</a:t>
            </a:r>
            <a:r>
              <a:rPr sz="900" spc="-20" dirty="0">
                <a:latin typeface="Arial"/>
                <a:cs typeface="Arial"/>
              </a:rPr>
              <a:t> </a:t>
            </a:r>
            <a:r>
              <a:rPr sz="900" i="1" dirty="0">
                <a:latin typeface="Arial"/>
                <a:cs typeface="Arial"/>
              </a:rPr>
              <a:t>P</a:t>
            </a:r>
            <a:r>
              <a:rPr sz="900" i="1" spc="240" dirty="0">
                <a:latin typeface="Arial"/>
                <a:cs typeface="Arial"/>
              </a:rPr>
              <a:t> </a:t>
            </a:r>
            <a:r>
              <a:rPr sz="900" dirty="0">
                <a:latin typeface="Arial"/>
                <a:cs typeface="Arial"/>
              </a:rPr>
              <a:t>merges</a:t>
            </a:r>
            <a:r>
              <a:rPr sz="900" spc="-15" dirty="0">
                <a:latin typeface="Arial"/>
                <a:cs typeface="Arial"/>
              </a:rPr>
              <a:t> </a:t>
            </a:r>
            <a:r>
              <a:rPr sz="900" dirty="0">
                <a:latin typeface="Arial"/>
                <a:cs typeface="Arial"/>
              </a:rPr>
              <a:t>all</a:t>
            </a:r>
            <a:r>
              <a:rPr sz="900" spc="-20" dirty="0">
                <a:latin typeface="Arial"/>
                <a:cs typeface="Arial"/>
              </a:rPr>
              <a:t> </a:t>
            </a:r>
            <a:r>
              <a:rPr sz="900" spc="-10" dirty="0">
                <a:latin typeface="Arial"/>
                <a:cs typeface="Arial"/>
              </a:rPr>
              <a:t>received</a:t>
            </a:r>
            <a:r>
              <a:rPr sz="900" spc="-15" dirty="0">
                <a:latin typeface="Arial"/>
                <a:cs typeface="Arial"/>
              </a:rPr>
              <a:t> </a:t>
            </a:r>
            <a:r>
              <a:rPr sz="900" dirty="0">
                <a:latin typeface="Arial"/>
                <a:cs typeface="Arial"/>
              </a:rPr>
              <a:t>commands</a:t>
            </a:r>
            <a:r>
              <a:rPr sz="900" spc="-15" dirty="0">
                <a:latin typeface="Arial"/>
                <a:cs typeface="Arial"/>
              </a:rPr>
              <a:t> </a:t>
            </a:r>
            <a:r>
              <a:rPr sz="900" dirty="0">
                <a:latin typeface="Arial"/>
                <a:cs typeface="Arial"/>
              </a:rPr>
              <a:t>into</a:t>
            </a:r>
            <a:r>
              <a:rPr sz="900" spc="-15" dirty="0">
                <a:latin typeface="Arial"/>
                <a:cs typeface="Arial"/>
              </a:rPr>
              <a:t> </a:t>
            </a:r>
            <a:r>
              <a:rPr sz="900" dirty="0">
                <a:latin typeface="Arial"/>
                <a:cs typeface="Arial"/>
              </a:rPr>
              <a:t>a</a:t>
            </a:r>
            <a:r>
              <a:rPr sz="900" spc="-15" dirty="0">
                <a:latin typeface="Arial"/>
                <a:cs typeface="Arial"/>
              </a:rPr>
              <a:t> </a:t>
            </a:r>
            <a:r>
              <a:rPr sz="900" dirty="0">
                <a:latin typeface="Arial"/>
                <a:cs typeface="Arial"/>
              </a:rPr>
              <a:t>new</a:t>
            </a:r>
            <a:r>
              <a:rPr sz="900" spc="-20" dirty="0">
                <a:latin typeface="Arial"/>
                <a:cs typeface="Arial"/>
              </a:rPr>
              <a:t> </a:t>
            </a:r>
            <a:r>
              <a:rPr sz="900" b="1" spc="-50" dirty="0">
                <a:latin typeface="Arial"/>
                <a:cs typeface="Arial"/>
              </a:rPr>
              <a:t>C</a:t>
            </a:r>
            <a:r>
              <a:rPr sz="900" b="1" dirty="0">
                <a:latin typeface="Arial"/>
                <a:cs typeface="Arial"/>
              </a:rPr>
              <a:t>	</a:t>
            </a:r>
            <a:r>
              <a:rPr sz="900" spc="-50" dirty="0">
                <a:latin typeface="Arial"/>
                <a:cs typeface="Arial"/>
              </a:rPr>
              <a:t>.</a:t>
            </a:r>
            <a:endParaRPr sz="900">
              <a:latin typeface="Arial"/>
              <a:cs typeface="Arial"/>
            </a:endParaRPr>
          </a:p>
        </p:txBody>
      </p:sp>
      <p:sp>
        <p:nvSpPr>
          <p:cNvPr id="12" name="object 12"/>
          <p:cNvSpPr txBox="1"/>
          <p:nvPr/>
        </p:nvSpPr>
        <p:spPr>
          <a:xfrm>
            <a:off x="416725" y="2345469"/>
            <a:ext cx="3748404" cy="162560"/>
          </a:xfrm>
          <a:prstGeom prst="rect">
            <a:avLst/>
          </a:prstGeom>
        </p:spPr>
        <p:txBody>
          <a:bodyPr vert="horz" wrap="square" lIns="0" tIns="12065" rIns="0" bIns="0" rtlCol="0">
            <a:spAutoFit/>
          </a:bodyPr>
          <a:lstStyle/>
          <a:p>
            <a:pPr marL="38100">
              <a:lnSpc>
                <a:spcPct val="100000"/>
              </a:lnSpc>
              <a:spcBef>
                <a:spcPts val="95"/>
              </a:spcBef>
            </a:pPr>
            <a:r>
              <a:rPr sz="900" dirty="0">
                <a:solidFill>
                  <a:srgbClr val="3333B2"/>
                </a:solidFill>
                <a:latin typeface="Arial"/>
                <a:cs typeface="Arial"/>
              </a:rPr>
              <a:t>3.</a:t>
            </a:r>
            <a:r>
              <a:rPr sz="900" spc="195" dirty="0">
                <a:solidFill>
                  <a:srgbClr val="3333B2"/>
                </a:solidFill>
                <a:latin typeface="Arial"/>
                <a:cs typeface="Arial"/>
              </a:rPr>
              <a:t> </a:t>
            </a:r>
            <a:r>
              <a:rPr sz="900" dirty="0">
                <a:latin typeface="Arial"/>
                <a:cs typeface="Arial"/>
              </a:rPr>
              <a:t>Next</a:t>
            </a:r>
            <a:r>
              <a:rPr sz="900" spc="-30" dirty="0">
                <a:latin typeface="Arial"/>
                <a:cs typeface="Arial"/>
              </a:rPr>
              <a:t> </a:t>
            </a:r>
            <a:r>
              <a:rPr sz="900" dirty="0">
                <a:latin typeface="Arial"/>
                <a:cs typeface="Arial"/>
              </a:rPr>
              <a:t>command</a:t>
            </a:r>
            <a:r>
              <a:rPr sz="900" spc="-30" dirty="0">
                <a:latin typeface="Arial"/>
                <a:cs typeface="Arial"/>
              </a:rPr>
              <a:t> </a:t>
            </a:r>
            <a:r>
              <a:rPr sz="900" i="1" dirty="0">
                <a:latin typeface="Arial"/>
                <a:cs typeface="Arial"/>
              </a:rPr>
              <a:t>cmd</a:t>
            </a:r>
            <a:r>
              <a:rPr sz="1050" i="1" baseline="-15873" dirty="0">
                <a:latin typeface="Arial"/>
                <a:cs typeface="Arial"/>
              </a:rPr>
              <a:t>i</a:t>
            </a:r>
            <a:r>
              <a:rPr sz="1050" i="1" spc="187" baseline="-15873" dirty="0">
                <a:latin typeface="Arial"/>
                <a:cs typeface="Arial"/>
              </a:rPr>
              <a:t> </a:t>
            </a:r>
            <a:r>
              <a:rPr sz="900" dirty="0">
                <a:latin typeface="Arial"/>
                <a:cs typeface="Arial"/>
              </a:rPr>
              <a:t>selected</a:t>
            </a:r>
            <a:r>
              <a:rPr sz="900" spc="-30" dirty="0">
                <a:latin typeface="Arial"/>
                <a:cs typeface="Arial"/>
              </a:rPr>
              <a:t> </a:t>
            </a:r>
            <a:r>
              <a:rPr sz="900" dirty="0">
                <a:latin typeface="Arial"/>
                <a:cs typeface="Arial"/>
              </a:rPr>
              <a:t>through</a:t>
            </a:r>
            <a:r>
              <a:rPr sz="900" spc="-30" dirty="0">
                <a:latin typeface="Arial"/>
                <a:cs typeface="Arial"/>
              </a:rPr>
              <a:t> </a:t>
            </a:r>
            <a:r>
              <a:rPr sz="900" dirty="0">
                <a:latin typeface="Arial"/>
                <a:cs typeface="Arial"/>
              </a:rPr>
              <a:t>a</a:t>
            </a:r>
            <a:r>
              <a:rPr sz="900" spc="-30" dirty="0">
                <a:latin typeface="Arial"/>
                <a:cs typeface="Arial"/>
              </a:rPr>
              <a:t> </a:t>
            </a:r>
            <a:r>
              <a:rPr sz="900" dirty="0">
                <a:solidFill>
                  <a:srgbClr val="3333B2"/>
                </a:solidFill>
                <a:latin typeface="Arial"/>
                <a:cs typeface="Arial"/>
              </a:rPr>
              <a:t>globally</a:t>
            </a:r>
            <a:r>
              <a:rPr sz="900" spc="-25" dirty="0">
                <a:solidFill>
                  <a:srgbClr val="3333B2"/>
                </a:solidFill>
                <a:latin typeface="Arial"/>
                <a:cs typeface="Arial"/>
              </a:rPr>
              <a:t> </a:t>
            </a:r>
            <a:r>
              <a:rPr sz="900" dirty="0">
                <a:solidFill>
                  <a:srgbClr val="3333B2"/>
                </a:solidFill>
                <a:latin typeface="Arial"/>
                <a:cs typeface="Arial"/>
              </a:rPr>
              <a:t>shared,</a:t>
            </a:r>
            <a:r>
              <a:rPr sz="900" spc="-30" dirty="0">
                <a:solidFill>
                  <a:srgbClr val="3333B2"/>
                </a:solidFill>
                <a:latin typeface="Arial"/>
                <a:cs typeface="Arial"/>
              </a:rPr>
              <a:t> </a:t>
            </a:r>
            <a:r>
              <a:rPr sz="900" spc="-10" dirty="0">
                <a:solidFill>
                  <a:srgbClr val="3333B2"/>
                </a:solidFill>
                <a:latin typeface="Arial"/>
                <a:cs typeface="Arial"/>
              </a:rPr>
              <a:t>deterministic</a:t>
            </a:r>
            <a:endParaRPr sz="900">
              <a:latin typeface="Arial"/>
              <a:cs typeface="Arial"/>
            </a:endParaRPr>
          </a:p>
        </p:txBody>
      </p:sp>
      <p:sp>
        <p:nvSpPr>
          <p:cNvPr id="13" name="object 13"/>
          <p:cNvSpPr txBox="1"/>
          <p:nvPr/>
        </p:nvSpPr>
        <p:spPr>
          <a:xfrm>
            <a:off x="1285062" y="2548689"/>
            <a:ext cx="45085" cy="132080"/>
          </a:xfrm>
          <a:prstGeom prst="rect">
            <a:avLst/>
          </a:prstGeom>
        </p:spPr>
        <p:txBody>
          <a:bodyPr vert="horz" wrap="square" lIns="0" tIns="12065" rIns="0" bIns="0" rtlCol="0">
            <a:spAutoFit/>
          </a:bodyPr>
          <a:lstStyle/>
          <a:p>
            <a:pPr marL="12700">
              <a:lnSpc>
                <a:spcPct val="100000"/>
              </a:lnSpc>
              <a:spcBef>
                <a:spcPts val="95"/>
              </a:spcBef>
            </a:pPr>
            <a:r>
              <a:rPr sz="700" i="1" spc="-5" dirty="0">
                <a:latin typeface="Arial"/>
                <a:cs typeface="Arial"/>
              </a:rPr>
              <a:t>i</a:t>
            </a:r>
            <a:endParaRPr sz="700">
              <a:latin typeface="Arial"/>
              <a:cs typeface="Arial"/>
            </a:endParaRPr>
          </a:p>
        </p:txBody>
      </p:sp>
      <p:sp>
        <p:nvSpPr>
          <p:cNvPr id="14" name="object 14"/>
          <p:cNvSpPr txBox="1"/>
          <p:nvPr/>
        </p:nvSpPr>
        <p:spPr>
          <a:xfrm>
            <a:off x="1918563" y="2475473"/>
            <a:ext cx="182880" cy="132080"/>
          </a:xfrm>
          <a:prstGeom prst="rect">
            <a:avLst/>
          </a:prstGeom>
        </p:spPr>
        <p:txBody>
          <a:bodyPr vert="horz" wrap="square" lIns="0" tIns="12065" rIns="0" bIns="0" rtlCol="0">
            <a:spAutoFit/>
          </a:bodyPr>
          <a:lstStyle/>
          <a:p>
            <a:pPr marL="12700">
              <a:lnSpc>
                <a:spcPct val="100000"/>
              </a:lnSpc>
              <a:spcBef>
                <a:spcPts val="95"/>
              </a:spcBef>
            </a:pPr>
            <a:r>
              <a:rPr sz="700" b="1" spc="25" dirty="0">
                <a:latin typeface="Arial"/>
                <a:cs typeface="Arial"/>
              </a:rPr>
              <a:t>r</a:t>
            </a:r>
            <a:r>
              <a:rPr sz="700" spc="25" dirty="0">
                <a:latin typeface="Arial"/>
                <a:cs typeface="Arial"/>
              </a:rPr>
              <a:t>+</a:t>
            </a:r>
            <a:r>
              <a:rPr sz="700" b="1" spc="25" dirty="0">
                <a:latin typeface="Arial"/>
                <a:cs typeface="Arial"/>
              </a:rPr>
              <a:t>1</a:t>
            </a:r>
            <a:endParaRPr sz="700">
              <a:latin typeface="Arial"/>
              <a:cs typeface="Arial"/>
            </a:endParaRPr>
          </a:p>
        </p:txBody>
      </p:sp>
      <p:sp>
        <p:nvSpPr>
          <p:cNvPr id="15" name="object 15"/>
          <p:cNvSpPr txBox="1"/>
          <p:nvPr/>
        </p:nvSpPr>
        <p:spPr>
          <a:xfrm>
            <a:off x="1918550" y="2567523"/>
            <a:ext cx="50165" cy="132080"/>
          </a:xfrm>
          <a:prstGeom prst="rect">
            <a:avLst/>
          </a:prstGeom>
        </p:spPr>
        <p:txBody>
          <a:bodyPr vert="horz" wrap="square" lIns="0" tIns="12065" rIns="0" bIns="0" rtlCol="0">
            <a:spAutoFit/>
          </a:bodyPr>
          <a:lstStyle/>
          <a:p>
            <a:pPr marL="12700">
              <a:lnSpc>
                <a:spcPct val="100000"/>
              </a:lnSpc>
              <a:spcBef>
                <a:spcPts val="95"/>
              </a:spcBef>
            </a:pPr>
            <a:r>
              <a:rPr sz="700" b="1" spc="-5" dirty="0">
                <a:latin typeface="Arial"/>
                <a:cs typeface="Arial"/>
              </a:rPr>
              <a:t>i</a:t>
            </a:r>
            <a:endParaRPr sz="700">
              <a:latin typeface="Arial"/>
              <a:cs typeface="Arial"/>
            </a:endParaRPr>
          </a:p>
        </p:txBody>
      </p:sp>
      <p:sp>
        <p:nvSpPr>
          <p:cNvPr id="16" name="object 16"/>
          <p:cNvSpPr txBox="1"/>
          <p:nvPr/>
        </p:nvSpPr>
        <p:spPr>
          <a:xfrm>
            <a:off x="600354" y="2498567"/>
            <a:ext cx="1584325" cy="162560"/>
          </a:xfrm>
          <a:prstGeom prst="rect">
            <a:avLst/>
          </a:prstGeom>
        </p:spPr>
        <p:txBody>
          <a:bodyPr vert="horz" wrap="square" lIns="0" tIns="12065" rIns="0" bIns="0" rtlCol="0">
            <a:spAutoFit/>
          </a:bodyPr>
          <a:lstStyle/>
          <a:p>
            <a:pPr marL="12700">
              <a:lnSpc>
                <a:spcPct val="100000"/>
              </a:lnSpc>
              <a:spcBef>
                <a:spcPts val="95"/>
              </a:spcBef>
              <a:tabLst>
                <a:tab pos="1493520" algn="l"/>
              </a:tabLst>
            </a:pPr>
            <a:r>
              <a:rPr sz="900" dirty="0">
                <a:solidFill>
                  <a:srgbClr val="3333B2"/>
                </a:solidFill>
                <a:latin typeface="Arial"/>
                <a:cs typeface="Arial"/>
              </a:rPr>
              <a:t>function</a:t>
            </a:r>
            <a:r>
              <a:rPr sz="900" dirty="0">
                <a:latin typeface="Arial"/>
                <a:cs typeface="Arial"/>
              </a:rPr>
              <a:t>:</a:t>
            </a:r>
            <a:r>
              <a:rPr sz="900" spc="45" dirty="0">
                <a:latin typeface="Arial"/>
                <a:cs typeface="Arial"/>
              </a:rPr>
              <a:t> </a:t>
            </a:r>
            <a:r>
              <a:rPr sz="900" i="1" dirty="0">
                <a:latin typeface="Arial"/>
                <a:cs typeface="Arial"/>
              </a:rPr>
              <a:t>cmd</a:t>
            </a:r>
            <a:r>
              <a:rPr sz="900" i="1" spc="204" dirty="0">
                <a:latin typeface="Arial"/>
                <a:cs typeface="Arial"/>
              </a:rPr>
              <a:t> </a:t>
            </a:r>
            <a:r>
              <a:rPr sz="900" i="1" spc="350" dirty="0">
                <a:latin typeface="Menlo"/>
                <a:cs typeface="Menlo"/>
              </a:rPr>
              <a:t>←</a:t>
            </a:r>
            <a:r>
              <a:rPr sz="900" i="1" spc="-345" dirty="0">
                <a:latin typeface="Menlo"/>
                <a:cs typeface="Menlo"/>
              </a:rPr>
              <a:t> </a:t>
            </a:r>
            <a:r>
              <a:rPr sz="900" i="1" spc="-10" dirty="0">
                <a:latin typeface="Arial"/>
                <a:cs typeface="Arial"/>
              </a:rPr>
              <a:t>select</a:t>
            </a:r>
            <a:r>
              <a:rPr sz="900" i="1" spc="-170" dirty="0">
                <a:latin typeface="Arial"/>
                <a:cs typeface="Arial"/>
              </a:rPr>
              <a:t> </a:t>
            </a:r>
            <a:r>
              <a:rPr sz="900" spc="-25" dirty="0">
                <a:latin typeface="Arial"/>
                <a:cs typeface="Arial"/>
              </a:rPr>
              <a:t>(</a:t>
            </a:r>
            <a:r>
              <a:rPr sz="900" b="1" spc="-25" dirty="0">
                <a:latin typeface="Arial"/>
                <a:cs typeface="Arial"/>
              </a:rPr>
              <a:t>C</a:t>
            </a:r>
            <a:r>
              <a:rPr sz="900" b="1" dirty="0">
                <a:latin typeface="Arial"/>
                <a:cs typeface="Arial"/>
              </a:rPr>
              <a:t>	</a:t>
            </a:r>
            <a:r>
              <a:rPr sz="900" spc="-25" dirty="0">
                <a:latin typeface="Arial"/>
                <a:cs typeface="Arial"/>
              </a:rPr>
              <a:t>).</a:t>
            </a:r>
            <a:endParaRPr sz="900">
              <a:latin typeface="Arial"/>
              <a:cs typeface="Arial"/>
            </a:endParaRPr>
          </a:p>
        </p:txBody>
      </p:sp>
      <p:grpSp>
        <p:nvGrpSpPr>
          <p:cNvPr id="17" name="object 17"/>
          <p:cNvGrpSpPr/>
          <p:nvPr/>
        </p:nvGrpSpPr>
        <p:grpSpPr>
          <a:xfrm>
            <a:off x="0" y="3348469"/>
            <a:ext cx="4608195" cy="107950"/>
            <a:chOff x="0" y="3348469"/>
            <a:chExt cx="4608195" cy="107950"/>
          </a:xfrm>
        </p:grpSpPr>
        <p:sp>
          <p:nvSpPr>
            <p:cNvPr id="18" name="object 1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9" name="object 1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20" name="object 20"/>
          <p:cNvSpPr txBox="1"/>
          <p:nvPr/>
        </p:nvSpPr>
        <p:spPr>
          <a:xfrm>
            <a:off x="53467" y="3349927"/>
            <a:ext cx="134683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Consensus</a:t>
            </a:r>
            <a:r>
              <a:rPr sz="500" spc="-25" dirty="0">
                <a:latin typeface="Arial"/>
                <a:cs typeface="Arial"/>
                <a:hlinkClick r:id="rId4" action="ppaction://hlinksldjump"/>
              </a:rPr>
              <a:t> </a:t>
            </a:r>
            <a:r>
              <a:rPr sz="500" dirty="0">
                <a:latin typeface="Arial"/>
                <a:cs typeface="Arial"/>
                <a:hlinkClick r:id="rId4" action="ppaction://hlinksldjump"/>
              </a:rPr>
              <a:t>in</a:t>
            </a:r>
            <a:r>
              <a:rPr sz="500" spc="-20" dirty="0">
                <a:latin typeface="Arial"/>
                <a:cs typeface="Arial"/>
                <a:hlinkClick r:id="rId4" action="ppaction://hlinksldjump"/>
              </a:rPr>
              <a:t> </a:t>
            </a:r>
            <a:r>
              <a:rPr sz="500" dirty="0">
                <a:latin typeface="Arial"/>
                <a:cs typeface="Arial"/>
                <a:hlinkClick r:id="rId4" action="ppaction://hlinksldjump"/>
              </a:rPr>
              <a:t>faulty</a:t>
            </a:r>
            <a:r>
              <a:rPr sz="500" spc="-25" dirty="0">
                <a:latin typeface="Arial"/>
                <a:cs typeface="Arial"/>
                <a:hlinkClick r:id="rId4" action="ppaction://hlinksldjump"/>
              </a:rPr>
              <a:t> </a:t>
            </a:r>
            <a:r>
              <a:rPr sz="500" dirty="0">
                <a:latin typeface="Arial"/>
                <a:cs typeface="Arial"/>
                <a:hlinkClick r:id="rId4" action="ppaction://hlinksldjump"/>
              </a:rPr>
              <a:t>systems</a:t>
            </a:r>
            <a:r>
              <a:rPr sz="500" spc="-20" dirty="0">
                <a:latin typeface="Arial"/>
                <a:cs typeface="Arial"/>
                <a:hlinkClick r:id="rId4" action="ppaction://hlinksldjump"/>
              </a:rPr>
              <a:t> </a:t>
            </a:r>
            <a:r>
              <a:rPr sz="500" dirty="0">
                <a:latin typeface="Arial"/>
                <a:cs typeface="Arial"/>
                <a:hlinkClick r:id="rId4" action="ppaction://hlinksldjump"/>
              </a:rPr>
              <a:t>with</a:t>
            </a:r>
            <a:r>
              <a:rPr sz="500" spc="-20" dirty="0">
                <a:latin typeface="Arial"/>
                <a:cs typeface="Arial"/>
                <a:hlinkClick r:id="rId4" action="ppaction://hlinksldjump"/>
              </a:rPr>
              <a:t> </a:t>
            </a:r>
            <a:r>
              <a:rPr sz="500" dirty="0">
                <a:latin typeface="Arial"/>
                <a:cs typeface="Arial"/>
                <a:hlinkClick r:id="rId4" action="ppaction://hlinksldjump"/>
              </a:rPr>
              <a:t>crash</a:t>
            </a:r>
            <a:r>
              <a:rPr sz="500" spc="-25" dirty="0">
                <a:latin typeface="Arial"/>
                <a:cs typeface="Arial"/>
                <a:hlinkClick r:id="rId4" action="ppaction://hlinksldjump"/>
              </a:rPr>
              <a:t> </a:t>
            </a:r>
            <a:r>
              <a:rPr sz="500" spc="-10" dirty="0">
                <a:latin typeface="Arial"/>
                <a:cs typeface="Arial"/>
                <a:hlinkClick r:id="rId4" action="ppaction://hlinksldjump"/>
              </a:rPr>
              <a:t>failures</a:t>
            </a:r>
            <a:endParaRPr sz="500">
              <a:latin typeface="Arial"/>
              <a:cs typeface="Arial"/>
            </a:endParaRP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95300" y="197711"/>
            <a:ext cx="2525395" cy="207645"/>
          </a:xfrm>
          <a:prstGeom prst="rect">
            <a:avLst/>
          </a:prstGeom>
        </p:spPr>
        <p:txBody>
          <a:bodyPr vert="horz" wrap="square" lIns="0" tIns="12065" rIns="0" bIns="0" rtlCol="0">
            <a:spAutoFit/>
          </a:bodyPr>
          <a:lstStyle/>
          <a:p>
            <a:pPr marL="12700">
              <a:lnSpc>
                <a:spcPct val="100000"/>
              </a:lnSpc>
              <a:spcBef>
                <a:spcPts val="95"/>
              </a:spcBef>
            </a:pPr>
            <a:r>
              <a:rPr sz="1200" spc="-10" dirty="0">
                <a:solidFill>
                  <a:srgbClr val="3333B2"/>
                </a:solidFill>
                <a:latin typeface="Arial"/>
                <a:cs typeface="Arial"/>
              </a:rPr>
              <a:t>Flooding-</a:t>
            </a:r>
            <a:r>
              <a:rPr sz="1200" dirty="0">
                <a:solidFill>
                  <a:srgbClr val="3333B2"/>
                </a:solidFill>
                <a:latin typeface="Arial"/>
                <a:cs typeface="Arial"/>
              </a:rPr>
              <a:t>based</a:t>
            </a:r>
            <a:r>
              <a:rPr sz="1200" spc="-30" dirty="0">
                <a:solidFill>
                  <a:srgbClr val="3333B2"/>
                </a:solidFill>
                <a:latin typeface="Arial"/>
                <a:cs typeface="Arial"/>
              </a:rPr>
              <a:t> </a:t>
            </a:r>
            <a:r>
              <a:rPr sz="1200" dirty="0">
                <a:solidFill>
                  <a:srgbClr val="3333B2"/>
                </a:solidFill>
                <a:latin typeface="Arial"/>
                <a:cs typeface="Arial"/>
              </a:rPr>
              <a:t>consensus:</a:t>
            </a:r>
            <a:r>
              <a:rPr sz="1200" spc="45" dirty="0">
                <a:solidFill>
                  <a:srgbClr val="3333B2"/>
                </a:solidFill>
                <a:latin typeface="Arial"/>
                <a:cs typeface="Arial"/>
              </a:rPr>
              <a:t> </a:t>
            </a:r>
            <a:r>
              <a:rPr sz="1200" spc="-10" dirty="0">
                <a:solidFill>
                  <a:srgbClr val="3333B2"/>
                </a:solidFill>
                <a:latin typeface="Arial"/>
                <a:cs typeface="Arial"/>
              </a:rPr>
              <a:t>Example</a:t>
            </a:r>
            <a:endParaRPr sz="1200">
              <a:latin typeface="Arial"/>
              <a:cs typeface="Arial"/>
            </a:endParaRPr>
          </a:p>
        </p:txBody>
      </p:sp>
      <p:pic>
        <p:nvPicPr>
          <p:cNvPr id="6" name="object 6"/>
          <p:cNvPicPr/>
          <p:nvPr/>
        </p:nvPicPr>
        <p:blipFill>
          <a:blip r:embed="rId4" cstate="print"/>
          <a:stretch>
            <a:fillRect/>
          </a:stretch>
        </p:blipFill>
        <p:spPr>
          <a:xfrm>
            <a:off x="1135877" y="451553"/>
            <a:ext cx="2343896" cy="1149333"/>
          </a:xfrm>
          <a:prstGeom prst="rect">
            <a:avLst/>
          </a:prstGeom>
        </p:spPr>
      </p:pic>
      <p:sp>
        <p:nvSpPr>
          <p:cNvPr id="7" name="object 7"/>
          <p:cNvSpPr txBox="1"/>
          <p:nvPr/>
        </p:nvSpPr>
        <p:spPr>
          <a:xfrm>
            <a:off x="321894" y="1636828"/>
            <a:ext cx="3964304" cy="1113155"/>
          </a:xfrm>
          <a:prstGeom prst="rect">
            <a:avLst/>
          </a:prstGeom>
        </p:spPr>
        <p:txBody>
          <a:bodyPr vert="horz" wrap="square" lIns="0" tIns="83820" rIns="0" bIns="0" rtlCol="0">
            <a:spAutoFit/>
          </a:bodyPr>
          <a:lstStyle/>
          <a:p>
            <a:pPr marL="38100">
              <a:lnSpc>
                <a:spcPct val="100000"/>
              </a:lnSpc>
              <a:spcBef>
                <a:spcPts val="660"/>
              </a:spcBef>
            </a:pPr>
            <a:r>
              <a:rPr sz="1000" spc="-10" dirty="0">
                <a:solidFill>
                  <a:srgbClr val="3333B2"/>
                </a:solidFill>
                <a:latin typeface="Arial"/>
                <a:cs typeface="Arial"/>
              </a:rPr>
              <a:t>Observations</a:t>
            </a:r>
            <a:endParaRPr sz="1000">
              <a:latin typeface="Arial"/>
              <a:cs typeface="Arial"/>
            </a:endParaRPr>
          </a:p>
          <a:p>
            <a:pPr marL="290830" marR="71755" indent="-120650">
              <a:lnSpc>
                <a:spcPct val="111600"/>
              </a:lnSpc>
              <a:spcBef>
                <a:spcPts val="375"/>
              </a:spcBef>
              <a:buClr>
                <a:srgbClr val="3333B2"/>
              </a:buClr>
              <a:buFont typeface="Menlo"/>
              <a:buChar char="•"/>
              <a:tabLst>
                <a:tab pos="291465" algn="l"/>
              </a:tabLst>
            </a:pPr>
            <a:r>
              <a:rPr sz="900" i="1" dirty="0">
                <a:latin typeface="Arial"/>
                <a:cs typeface="Arial"/>
              </a:rPr>
              <a:t>P</a:t>
            </a:r>
            <a:r>
              <a:rPr sz="1050" i="1" baseline="-15873" dirty="0">
                <a:latin typeface="Arial"/>
                <a:cs typeface="Arial"/>
              </a:rPr>
              <a:t>2</a:t>
            </a:r>
            <a:r>
              <a:rPr sz="1050" i="1" spc="150" baseline="-15873" dirty="0">
                <a:latin typeface="Arial"/>
                <a:cs typeface="Arial"/>
              </a:rPr>
              <a:t> </a:t>
            </a:r>
            <a:r>
              <a:rPr sz="900" spc="-10" dirty="0">
                <a:latin typeface="Arial"/>
                <a:cs typeface="Arial"/>
              </a:rPr>
              <a:t>received</a:t>
            </a:r>
            <a:r>
              <a:rPr sz="900" spc="-25" dirty="0">
                <a:latin typeface="Arial"/>
                <a:cs typeface="Arial"/>
              </a:rPr>
              <a:t> </a:t>
            </a:r>
            <a:r>
              <a:rPr sz="900" dirty="0">
                <a:latin typeface="Arial"/>
                <a:cs typeface="Arial"/>
              </a:rPr>
              <a:t>all</a:t>
            </a:r>
            <a:r>
              <a:rPr sz="900" spc="-20" dirty="0">
                <a:latin typeface="Arial"/>
                <a:cs typeface="Arial"/>
              </a:rPr>
              <a:t> </a:t>
            </a:r>
            <a:r>
              <a:rPr sz="900" dirty="0">
                <a:latin typeface="Arial"/>
                <a:cs typeface="Arial"/>
              </a:rPr>
              <a:t>proposed</a:t>
            </a:r>
            <a:r>
              <a:rPr sz="900" spc="-20" dirty="0">
                <a:latin typeface="Arial"/>
                <a:cs typeface="Arial"/>
              </a:rPr>
              <a:t> </a:t>
            </a:r>
            <a:r>
              <a:rPr sz="900" dirty="0">
                <a:latin typeface="Arial"/>
                <a:cs typeface="Arial"/>
              </a:rPr>
              <a:t>commands</a:t>
            </a:r>
            <a:r>
              <a:rPr sz="900" spc="-20" dirty="0">
                <a:latin typeface="Arial"/>
                <a:cs typeface="Arial"/>
              </a:rPr>
              <a:t> </a:t>
            </a:r>
            <a:r>
              <a:rPr sz="900" dirty="0">
                <a:latin typeface="Arial"/>
                <a:cs typeface="Arial"/>
              </a:rPr>
              <a:t>from</a:t>
            </a:r>
            <a:r>
              <a:rPr sz="900" spc="-25" dirty="0">
                <a:latin typeface="Arial"/>
                <a:cs typeface="Arial"/>
              </a:rPr>
              <a:t> </a:t>
            </a:r>
            <a:r>
              <a:rPr sz="900" dirty="0">
                <a:latin typeface="Arial"/>
                <a:cs typeface="Arial"/>
              </a:rPr>
              <a:t>all</a:t>
            </a:r>
            <a:r>
              <a:rPr sz="900" spc="-20" dirty="0">
                <a:latin typeface="Arial"/>
                <a:cs typeface="Arial"/>
              </a:rPr>
              <a:t> </a:t>
            </a:r>
            <a:r>
              <a:rPr sz="900" dirty="0">
                <a:latin typeface="Arial"/>
                <a:cs typeface="Arial"/>
              </a:rPr>
              <a:t>other</a:t>
            </a:r>
            <a:r>
              <a:rPr sz="900" spc="-20" dirty="0">
                <a:latin typeface="Arial"/>
                <a:cs typeface="Arial"/>
              </a:rPr>
              <a:t> </a:t>
            </a:r>
            <a:r>
              <a:rPr sz="900" dirty="0">
                <a:latin typeface="Arial"/>
                <a:cs typeface="Arial"/>
              </a:rPr>
              <a:t>processes</a:t>
            </a:r>
            <a:r>
              <a:rPr sz="900" spc="-25" dirty="0">
                <a:latin typeface="Arial"/>
                <a:cs typeface="Arial"/>
              </a:rPr>
              <a:t> </a:t>
            </a:r>
            <a:r>
              <a:rPr sz="900" i="1" spc="350" dirty="0">
                <a:latin typeface="Menlo"/>
                <a:cs typeface="Menlo"/>
              </a:rPr>
              <a:t>⇒</a:t>
            </a:r>
            <a:r>
              <a:rPr sz="900" i="1" spc="-295" dirty="0">
                <a:latin typeface="Menlo"/>
                <a:cs typeface="Menlo"/>
              </a:rPr>
              <a:t> </a:t>
            </a:r>
            <a:r>
              <a:rPr sz="900" spc="-10" dirty="0">
                <a:solidFill>
                  <a:srgbClr val="C80000"/>
                </a:solidFill>
                <a:latin typeface="Arial"/>
                <a:cs typeface="Arial"/>
              </a:rPr>
              <a:t>makes decision</a:t>
            </a:r>
            <a:r>
              <a:rPr sz="900" spc="-10" dirty="0">
                <a:latin typeface="Arial"/>
                <a:cs typeface="Arial"/>
              </a:rPr>
              <a:t>.</a:t>
            </a:r>
            <a:endParaRPr sz="900">
              <a:latin typeface="Arial"/>
              <a:cs typeface="Arial"/>
            </a:endParaRPr>
          </a:p>
          <a:p>
            <a:pPr marL="290830" marR="30480" indent="-120650">
              <a:lnSpc>
                <a:spcPct val="111600"/>
              </a:lnSpc>
              <a:spcBef>
                <a:spcPts val="400"/>
              </a:spcBef>
              <a:buClr>
                <a:srgbClr val="3333B2"/>
              </a:buClr>
              <a:buFont typeface="Menlo"/>
              <a:buChar char="•"/>
              <a:tabLst>
                <a:tab pos="291465" algn="l"/>
              </a:tabLst>
            </a:pPr>
            <a:r>
              <a:rPr sz="900" i="1" dirty="0">
                <a:latin typeface="Arial"/>
                <a:cs typeface="Arial"/>
              </a:rPr>
              <a:t>P</a:t>
            </a:r>
            <a:r>
              <a:rPr sz="1050" i="1" baseline="-15873" dirty="0">
                <a:latin typeface="Arial"/>
                <a:cs typeface="Arial"/>
              </a:rPr>
              <a:t>3</a:t>
            </a:r>
            <a:r>
              <a:rPr sz="1050" i="1" spc="157" baseline="-15873" dirty="0">
                <a:latin typeface="Arial"/>
                <a:cs typeface="Arial"/>
              </a:rPr>
              <a:t> </a:t>
            </a:r>
            <a:r>
              <a:rPr sz="900" dirty="0">
                <a:latin typeface="Arial"/>
                <a:cs typeface="Arial"/>
              </a:rPr>
              <a:t>may</a:t>
            </a:r>
            <a:r>
              <a:rPr sz="900" spc="-30" dirty="0">
                <a:latin typeface="Arial"/>
                <a:cs typeface="Arial"/>
              </a:rPr>
              <a:t> </a:t>
            </a:r>
            <a:r>
              <a:rPr sz="900" spc="-10" dirty="0">
                <a:latin typeface="Arial"/>
                <a:cs typeface="Arial"/>
              </a:rPr>
              <a:t>have</a:t>
            </a:r>
            <a:r>
              <a:rPr sz="900" spc="-25" dirty="0">
                <a:latin typeface="Arial"/>
                <a:cs typeface="Arial"/>
              </a:rPr>
              <a:t> </a:t>
            </a:r>
            <a:r>
              <a:rPr sz="900" dirty="0">
                <a:latin typeface="Arial"/>
                <a:cs typeface="Arial"/>
              </a:rPr>
              <a:t>detected</a:t>
            </a:r>
            <a:r>
              <a:rPr sz="900" spc="-30" dirty="0">
                <a:latin typeface="Arial"/>
                <a:cs typeface="Arial"/>
              </a:rPr>
              <a:t> </a:t>
            </a:r>
            <a:r>
              <a:rPr sz="900" dirty="0">
                <a:latin typeface="Arial"/>
                <a:cs typeface="Arial"/>
              </a:rPr>
              <a:t>that</a:t>
            </a:r>
            <a:r>
              <a:rPr sz="900" spc="-25" dirty="0">
                <a:latin typeface="Arial"/>
                <a:cs typeface="Arial"/>
              </a:rPr>
              <a:t> </a:t>
            </a:r>
            <a:r>
              <a:rPr sz="900" i="1" dirty="0">
                <a:latin typeface="Arial"/>
                <a:cs typeface="Arial"/>
              </a:rPr>
              <a:t>P</a:t>
            </a:r>
            <a:r>
              <a:rPr sz="1050" i="1" baseline="-15873" dirty="0">
                <a:latin typeface="Arial"/>
                <a:cs typeface="Arial"/>
              </a:rPr>
              <a:t>1</a:t>
            </a:r>
            <a:r>
              <a:rPr sz="1050" i="1" spc="97" baseline="-15873" dirty="0">
                <a:latin typeface="Arial"/>
                <a:cs typeface="Arial"/>
              </a:rPr>
              <a:t> </a:t>
            </a:r>
            <a:r>
              <a:rPr sz="900" dirty="0">
                <a:latin typeface="Arial"/>
                <a:cs typeface="Arial"/>
              </a:rPr>
              <a:t>crashed,</a:t>
            </a:r>
            <a:r>
              <a:rPr sz="900" spc="-25" dirty="0">
                <a:latin typeface="Arial"/>
                <a:cs typeface="Arial"/>
              </a:rPr>
              <a:t> </a:t>
            </a:r>
            <a:r>
              <a:rPr sz="900" dirty="0">
                <a:latin typeface="Arial"/>
                <a:cs typeface="Arial"/>
              </a:rPr>
              <a:t>but</a:t>
            </a:r>
            <a:r>
              <a:rPr sz="900" spc="-30" dirty="0">
                <a:latin typeface="Arial"/>
                <a:cs typeface="Arial"/>
              </a:rPr>
              <a:t> </a:t>
            </a:r>
            <a:r>
              <a:rPr sz="900" dirty="0">
                <a:latin typeface="Arial"/>
                <a:cs typeface="Arial"/>
              </a:rPr>
              <a:t>does</a:t>
            </a:r>
            <a:r>
              <a:rPr sz="900" spc="-25" dirty="0">
                <a:latin typeface="Arial"/>
                <a:cs typeface="Arial"/>
              </a:rPr>
              <a:t> </a:t>
            </a:r>
            <a:r>
              <a:rPr sz="900" dirty="0">
                <a:latin typeface="Arial"/>
                <a:cs typeface="Arial"/>
              </a:rPr>
              <a:t>not</a:t>
            </a:r>
            <a:r>
              <a:rPr sz="900" spc="-30" dirty="0">
                <a:latin typeface="Arial"/>
                <a:cs typeface="Arial"/>
              </a:rPr>
              <a:t> </a:t>
            </a:r>
            <a:r>
              <a:rPr sz="900" dirty="0">
                <a:latin typeface="Arial"/>
                <a:cs typeface="Arial"/>
              </a:rPr>
              <a:t>know</a:t>
            </a:r>
            <a:r>
              <a:rPr sz="900" spc="-25" dirty="0">
                <a:latin typeface="Arial"/>
                <a:cs typeface="Arial"/>
              </a:rPr>
              <a:t> </a:t>
            </a:r>
            <a:r>
              <a:rPr sz="900" dirty="0">
                <a:latin typeface="Arial"/>
                <a:cs typeface="Arial"/>
              </a:rPr>
              <a:t>if</a:t>
            </a:r>
            <a:r>
              <a:rPr sz="900" spc="-25" dirty="0">
                <a:latin typeface="Arial"/>
                <a:cs typeface="Arial"/>
              </a:rPr>
              <a:t> </a:t>
            </a:r>
            <a:r>
              <a:rPr sz="900" i="1" dirty="0">
                <a:latin typeface="Arial"/>
                <a:cs typeface="Arial"/>
              </a:rPr>
              <a:t>P</a:t>
            </a:r>
            <a:r>
              <a:rPr sz="1050" i="1" baseline="-15873" dirty="0">
                <a:latin typeface="Arial"/>
                <a:cs typeface="Arial"/>
              </a:rPr>
              <a:t>2</a:t>
            </a:r>
            <a:r>
              <a:rPr sz="1050" i="1" spc="157" baseline="-15873" dirty="0">
                <a:latin typeface="Arial"/>
                <a:cs typeface="Arial"/>
              </a:rPr>
              <a:t> </a:t>
            </a:r>
            <a:r>
              <a:rPr sz="900" spc="-10" dirty="0">
                <a:latin typeface="Arial"/>
                <a:cs typeface="Arial"/>
              </a:rPr>
              <a:t>received </a:t>
            </a:r>
            <a:r>
              <a:rPr sz="900" dirty="0">
                <a:latin typeface="Arial"/>
                <a:cs typeface="Arial"/>
              </a:rPr>
              <a:t>anything,</a:t>
            </a:r>
            <a:r>
              <a:rPr sz="900" spc="-30" dirty="0">
                <a:latin typeface="Arial"/>
                <a:cs typeface="Arial"/>
              </a:rPr>
              <a:t> </a:t>
            </a:r>
            <a:r>
              <a:rPr sz="900" dirty="0">
                <a:latin typeface="Arial"/>
                <a:cs typeface="Arial"/>
              </a:rPr>
              <a:t>i.e.,</a:t>
            </a:r>
            <a:r>
              <a:rPr sz="900" spc="-25" dirty="0">
                <a:latin typeface="Arial"/>
                <a:cs typeface="Arial"/>
              </a:rPr>
              <a:t> </a:t>
            </a:r>
            <a:r>
              <a:rPr sz="900" i="1" dirty="0">
                <a:latin typeface="Arial"/>
                <a:cs typeface="Arial"/>
              </a:rPr>
              <a:t>P</a:t>
            </a:r>
            <a:r>
              <a:rPr sz="1050" i="1" baseline="-15873" dirty="0">
                <a:latin typeface="Arial"/>
                <a:cs typeface="Arial"/>
              </a:rPr>
              <a:t>3</a:t>
            </a:r>
            <a:r>
              <a:rPr sz="1050" i="1" spc="157" baseline="-15873" dirty="0">
                <a:latin typeface="Arial"/>
                <a:cs typeface="Arial"/>
              </a:rPr>
              <a:t> </a:t>
            </a:r>
            <a:r>
              <a:rPr sz="900" dirty="0">
                <a:latin typeface="Arial"/>
                <a:cs typeface="Arial"/>
              </a:rPr>
              <a:t>cannot</a:t>
            </a:r>
            <a:r>
              <a:rPr sz="900" spc="-25" dirty="0">
                <a:latin typeface="Arial"/>
                <a:cs typeface="Arial"/>
              </a:rPr>
              <a:t> </a:t>
            </a:r>
            <a:r>
              <a:rPr sz="900" dirty="0">
                <a:latin typeface="Arial"/>
                <a:cs typeface="Arial"/>
              </a:rPr>
              <a:t>know</a:t>
            </a:r>
            <a:r>
              <a:rPr sz="900" spc="-30" dirty="0">
                <a:latin typeface="Arial"/>
                <a:cs typeface="Arial"/>
              </a:rPr>
              <a:t> </a:t>
            </a:r>
            <a:r>
              <a:rPr sz="900" dirty="0">
                <a:solidFill>
                  <a:srgbClr val="3333B2"/>
                </a:solidFill>
                <a:latin typeface="Arial"/>
                <a:cs typeface="Arial"/>
              </a:rPr>
              <a:t>if</a:t>
            </a:r>
            <a:r>
              <a:rPr sz="900" spc="-25" dirty="0">
                <a:solidFill>
                  <a:srgbClr val="3333B2"/>
                </a:solidFill>
                <a:latin typeface="Arial"/>
                <a:cs typeface="Arial"/>
              </a:rPr>
              <a:t> </a:t>
            </a:r>
            <a:r>
              <a:rPr sz="900" dirty="0">
                <a:solidFill>
                  <a:srgbClr val="3333B2"/>
                </a:solidFill>
                <a:latin typeface="Arial"/>
                <a:cs typeface="Arial"/>
              </a:rPr>
              <a:t>it</a:t>
            </a:r>
            <a:r>
              <a:rPr sz="900" spc="-25" dirty="0">
                <a:solidFill>
                  <a:srgbClr val="3333B2"/>
                </a:solidFill>
                <a:latin typeface="Arial"/>
                <a:cs typeface="Arial"/>
              </a:rPr>
              <a:t> </a:t>
            </a:r>
            <a:r>
              <a:rPr sz="900" dirty="0">
                <a:solidFill>
                  <a:srgbClr val="3333B2"/>
                </a:solidFill>
                <a:latin typeface="Arial"/>
                <a:cs typeface="Arial"/>
              </a:rPr>
              <a:t>has</a:t>
            </a:r>
            <a:r>
              <a:rPr sz="900" spc="-30" dirty="0">
                <a:solidFill>
                  <a:srgbClr val="3333B2"/>
                </a:solidFill>
                <a:latin typeface="Arial"/>
                <a:cs typeface="Arial"/>
              </a:rPr>
              <a:t> </a:t>
            </a:r>
            <a:r>
              <a:rPr sz="900" dirty="0">
                <a:solidFill>
                  <a:srgbClr val="3333B2"/>
                </a:solidFill>
                <a:latin typeface="Arial"/>
                <a:cs typeface="Arial"/>
              </a:rPr>
              <a:t>the</a:t>
            </a:r>
            <a:r>
              <a:rPr sz="900" spc="-25" dirty="0">
                <a:solidFill>
                  <a:srgbClr val="3333B2"/>
                </a:solidFill>
                <a:latin typeface="Arial"/>
                <a:cs typeface="Arial"/>
              </a:rPr>
              <a:t> </a:t>
            </a:r>
            <a:r>
              <a:rPr sz="900" dirty="0">
                <a:solidFill>
                  <a:srgbClr val="3333B2"/>
                </a:solidFill>
                <a:latin typeface="Arial"/>
                <a:cs typeface="Arial"/>
              </a:rPr>
              <a:t>same</a:t>
            </a:r>
            <a:r>
              <a:rPr sz="900" spc="-25" dirty="0">
                <a:solidFill>
                  <a:srgbClr val="3333B2"/>
                </a:solidFill>
                <a:latin typeface="Arial"/>
                <a:cs typeface="Arial"/>
              </a:rPr>
              <a:t> </a:t>
            </a:r>
            <a:r>
              <a:rPr sz="900" dirty="0">
                <a:solidFill>
                  <a:srgbClr val="3333B2"/>
                </a:solidFill>
                <a:latin typeface="Arial"/>
                <a:cs typeface="Arial"/>
              </a:rPr>
              <a:t>information</a:t>
            </a:r>
            <a:r>
              <a:rPr sz="900" spc="-25" dirty="0">
                <a:solidFill>
                  <a:srgbClr val="3333B2"/>
                </a:solidFill>
                <a:latin typeface="Arial"/>
                <a:cs typeface="Arial"/>
              </a:rPr>
              <a:t> </a:t>
            </a:r>
            <a:r>
              <a:rPr sz="900" dirty="0">
                <a:latin typeface="Arial"/>
                <a:cs typeface="Arial"/>
              </a:rPr>
              <a:t>as</a:t>
            </a:r>
            <a:r>
              <a:rPr sz="900" spc="-30" dirty="0">
                <a:latin typeface="Arial"/>
                <a:cs typeface="Arial"/>
              </a:rPr>
              <a:t> </a:t>
            </a:r>
            <a:r>
              <a:rPr sz="900" i="1" dirty="0">
                <a:latin typeface="Arial"/>
                <a:cs typeface="Arial"/>
              </a:rPr>
              <a:t>P</a:t>
            </a:r>
            <a:r>
              <a:rPr sz="1050" i="1" baseline="-15873" dirty="0">
                <a:latin typeface="Arial"/>
                <a:cs typeface="Arial"/>
              </a:rPr>
              <a:t>2</a:t>
            </a:r>
            <a:r>
              <a:rPr sz="1050" i="1" spc="165" baseline="-15873" dirty="0">
                <a:latin typeface="Arial"/>
                <a:cs typeface="Arial"/>
              </a:rPr>
              <a:t> </a:t>
            </a:r>
            <a:r>
              <a:rPr sz="900" i="1" spc="300" dirty="0">
                <a:latin typeface="Menlo"/>
                <a:cs typeface="Menlo"/>
              </a:rPr>
              <a:t>⇒ </a:t>
            </a:r>
            <a:r>
              <a:rPr sz="900" dirty="0">
                <a:solidFill>
                  <a:srgbClr val="C80000"/>
                </a:solidFill>
                <a:latin typeface="Arial"/>
                <a:cs typeface="Arial"/>
              </a:rPr>
              <a:t>cannot</a:t>
            </a:r>
            <a:r>
              <a:rPr sz="900" spc="-45" dirty="0">
                <a:solidFill>
                  <a:srgbClr val="C80000"/>
                </a:solidFill>
                <a:latin typeface="Arial"/>
                <a:cs typeface="Arial"/>
              </a:rPr>
              <a:t> </a:t>
            </a:r>
            <a:r>
              <a:rPr sz="900" dirty="0">
                <a:solidFill>
                  <a:srgbClr val="C80000"/>
                </a:solidFill>
                <a:latin typeface="Arial"/>
                <a:cs typeface="Arial"/>
              </a:rPr>
              <a:t>make</a:t>
            </a:r>
            <a:r>
              <a:rPr sz="900" spc="-35" dirty="0">
                <a:solidFill>
                  <a:srgbClr val="C80000"/>
                </a:solidFill>
                <a:latin typeface="Arial"/>
                <a:cs typeface="Arial"/>
              </a:rPr>
              <a:t> </a:t>
            </a:r>
            <a:r>
              <a:rPr sz="900" dirty="0">
                <a:solidFill>
                  <a:srgbClr val="C80000"/>
                </a:solidFill>
                <a:latin typeface="Arial"/>
                <a:cs typeface="Arial"/>
              </a:rPr>
              <a:t>decision</a:t>
            </a:r>
            <a:r>
              <a:rPr sz="900" spc="-35" dirty="0">
                <a:solidFill>
                  <a:srgbClr val="C80000"/>
                </a:solidFill>
                <a:latin typeface="Arial"/>
                <a:cs typeface="Arial"/>
              </a:rPr>
              <a:t> </a:t>
            </a:r>
            <a:r>
              <a:rPr sz="900" dirty="0">
                <a:latin typeface="Arial"/>
                <a:cs typeface="Arial"/>
              </a:rPr>
              <a:t>(same</a:t>
            </a:r>
            <a:r>
              <a:rPr sz="900" spc="-35" dirty="0">
                <a:latin typeface="Arial"/>
                <a:cs typeface="Arial"/>
              </a:rPr>
              <a:t> </a:t>
            </a:r>
            <a:r>
              <a:rPr sz="900" dirty="0">
                <a:latin typeface="Arial"/>
                <a:cs typeface="Arial"/>
              </a:rPr>
              <a:t>for</a:t>
            </a:r>
            <a:r>
              <a:rPr sz="900" spc="-35" dirty="0">
                <a:latin typeface="Arial"/>
                <a:cs typeface="Arial"/>
              </a:rPr>
              <a:t> </a:t>
            </a:r>
            <a:r>
              <a:rPr sz="900" i="1" spc="-10" dirty="0">
                <a:latin typeface="Arial"/>
                <a:cs typeface="Arial"/>
              </a:rPr>
              <a:t>P</a:t>
            </a:r>
            <a:r>
              <a:rPr sz="1050" i="1" spc="-15" baseline="-15873" dirty="0">
                <a:latin typeface="Arial"/>
                <a:cs typeface="Arial"/>
              </a:rPr>
              <a:t>4</a:t>
            </a:r>
            <a:r>
              <a:rPr sz="1050" i="1" spc="-202" baseline="-15873" dirty="0">
                <a:latin typeface="Arial"/>
                <a:cs typeface="Arial"/>
              </a:rPr>
              <a:t> </a:t>
            </a:r>
            <a:r>
              <a:rPr sz="900" spc="-25" dirty="0">
                <a:latin typeface="Arial"/>
                <a:cs typeface="Arial"/>
              </a:rPr>
              <a:t>).</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134683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Consensus</a:t>
            </a:r>
            <a:r>
              <a:rPr sz="500" spc="-25" dirty="0">
                <a:latin typeface="Arial"/>
                <a:cs typeface="Arial"/>
                <a:hlinkClick r:id="rId5" action="ppaction://hlinksldjump"/>
              </a:rPr>
              <a:t> </a:t>
            </a:r>
            <a:r>
              <a:rPr sz="500" dirty="0">
                <a:latin typeface="Arial"/>
                <a:cs typeface="Arial"/>
                <a:hlinkClick r:id="rId5" action="ppaction://hlinksldjump"/>
              </a:rPr>
              <a:t>in</a:t>
            </a:r>
            <a:r>
              <a:rPr sz="500" spc="-20" dirty="0">
                <a:latin typeface="Arial"/>
                <a:cs typeface="Arial"/>
                <a:hlinkClick r:id="rId5" action="ppaction://hlinksldjump"/>
              </a:rPr>
              <a:t> </a:t>
            </a:r>
            <a:r>
              <a:rPr sz="500" dirty="0">
                <a:latin typeface="Arial"/>
                <a:cs typeface="Arial"/>
                <a:hlinkClick r:id="rId5" action="ppaction://hlinksldjump"/>
              </a:rPr>
              <a:t>faulty</a:t>
            </a:r>
            <a:r>
              <a:rPr sz="500" spc="-25" dirty="0">
                <a:latin typeface="Arial"/>
                <a:cs typeface="Arial"/>
                <a:hlinkClick r:id="rId5" action="ppaction://hlinksldjump"/>
              </a:rPr>
              <a:t> </a:t>
            </a:r>
            <a:r>
              <a:rPr sz="500" dirty="0">
                <a:latin typeface="Arial"/>
                <a:cs typeface="Arial"/>
                <a:hlinkClick r:id="rId5" action="ppaction://hlinksldjump"/>
              </a:rPr>
              <a:t>systems</a:t>
            </a:r>
            <a:r>
              <a:rPr sz="500" spc="-20" dirty="0">
                <a:latin typeface="Arial"/>
                <a:cs typeface="Arial"/>
                <a:hlinkClick r:id="rId5" action="ppaction://hlinksldjump"/>
              </a:rPr>
              <a:t> </a:t>
            </a:r>
            <a:r>
              <a:rPr sz="500" dirty="0">
                <a:latin typeface="Arial"/>
                <a:cs typeface="Arial"/>
                <a:hlinkClick r:id="rId5" action="ppaction://hlinksldjump"/>
              </a:rPr>
              <a:t>with</a:t>
            </a:r>
            <a:r>
              <a:rPr sz="500" spc="-20" dirty="0">
                <a:latin typeface="Arial"/>
                <a:cs typeface="Arial"/>
                <a:hlinkClick r:id="rId5" action="ppaction://hlinksldjump"/>
              </a:rPr>
              <a:t> </a:t>
            </a:r>
            <a:r>
              <a:rPr sz="500" dirty="0">
                <a:latin typeface="Arial"/>
                <a:cs typeface="Arial"/>
                <a:hlinkClick r:id="rId5" action="ppaction://hlinksldjump"/>
              </a:rPr>
              <a:t>crash</a:t>
            </a:r>
            <a:r>
              <a:rPr sz="500" spc="-25" dirty="0">
                <a:latin typeface="Arial"/>
                <a:cs typeface="Arial"/>
                <a:hlinkClick r:id="rId5" action="ppaction://hlinksldjump"/>
              </a:rPr>
              <a:t> </a:t>
            </a:r>
            <a:r>
              <a:rPr sz="500" spc="-10" dirty="0">
                <a:latin typeface="Arial"/>
                <a:cs typeface="Arial"/>
                <a:hlinkClick r:id="rId5" action="ppaction://hlinksldjump"/>
              </a:rPr>
              <a:t>failures</a:t>
            </a:r>
            <a:endParaRPr sz="500">
              <a:latin typeface="Arial"/>
              <a:cs typeface="Arial"/>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74465"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spc="-20" dirty="0"/>
              <a:t>Raft</a:t>
            </a:r>
          </a:p>
        </p:txBody>
      </p:sp>
      <p:sp>
        <p:nvSpPr>
          <p:cNvPr id="4" name="object 4"/>
          <p:cNvSpPr txBox="1"/>
          <p:nvPr/>
        </p:nvSpPr>
        <p:spPr>
          <a:xfrm>
            <a:off x="334594" y="514774"/>
            <a:ext cx="3938270" cy="1779905"/>
          </a:xfrm>
          <a:prstGeom prst="rect">
            <a:avLst/>
          </a:prstGeom>
        </p:spPr>
        <p:txBody>
          <a:bodyPr vert="horz" wrap="square" lIns="0" tIns="12065" rIns="0" bIns="0" rtlCol="0">
            <a:spAutoFit/>
          </a:bodyPr>
          <a:lstStyle/>
          <a:p>
            <a:pPr marL="25400">
              <a:lnSpc>
                <a:spcPct val="100000"/>
              </a:lnSpc>
              <a:spcBef>
                <a:spcPts val="95"/>
              </a:spcBef>
            </a:pPr>
            <a:r>
              <a:rPr sz="1000" spc="-10" dirty="0">
                <a:solidFill>
                  <a:srgbClr val="3333B2"/>
                </a:solidFill>
                <a:latin typeface="Arial"/>
                <a:cs typeface="Arial"/>
              </a:rPr>
              <a:t>Developed</a:t>
            </a:r>
            <a:r>
              <a:rPr sz="1000" spc="-35" dirty="0">
                <a:solidFill>
                  <a:srgbClr val="3333B2"/>
                </a:solidFill>
                <a:latin typeface="Arial"/>
                <a:cs typeface="Arial"/>
              </a:rPr>
              <a:t> </a:t>
            </a:r>
            <a:r>
              <a:rPr sz="1000" dirty="0">
                <a:solidFill>
                  <a:srgbClr val="3333B2"/>
                </a:solidFill>
                <a:latin typeface="Arial"/>
                <a:cs typeface="Arial"/>
              </a:rPr>
              <a:t>for</a:t>
            </a:r>
            <a:r>
              <a:rPr sz="1000" spc="-30" dirty="0">
                <a:solidFill>
                  <a:srgbClr val="3333B2"/>
                </a:solidFill>
                <a:latin typeface="Arial"/>
                <a:cs typeface="Arial"/>
              </a:rPr>
              <a:t> </a:t>
            </a:r>
            <a:r>
              <a:rPr sz="1000" spc="-10" dirty="0">
                <a:solidFill>
                  <a:srgbClr val="3333B2"/>
                </a:solidFill>
                <a:latin typeface="Arial"/>
                <a:cs typeface="Arial"/>
              </a:rPr>
              <a:t>understandability</a:t>
            </a:r>
            <a:endParaRPr sz="1000">
              <a:latin typeface="Arial"/>
              <a:cs typeface="Arial"/>
            </a:endParaRPr>
          </a:p>
          <a:p>
            <a:pPr marL="278130" marR="46990" indent="-120650">
              <a:lnSpc>
                <a:spcPct val="111600"/>
              </a:lnSpc>
              <a:spcBef>
                <a:spcPts val="575"/>
              </a:spcBef>
              <a:buClr>
                <a:srgbClr val="3333B2"/>
              </a:buClr>
              <a:buFont typeface="Menlo"/>
              <a:buChar char="•"/>
              <a:tabLst>
                <a:tab pos="278765" algn="l"/>
              </a:tabLst>
            </a:pPr>
            <a:r>
              <a:rPr sz="900" dirty="0">
                <a:latin typeface="Arial"/>
                <a:cs typeface="Arial"/>
              </a:rPr>
              <a:t>Uses</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fairly</a:t>
            </a:r>
            <a:r>
              <a:rPr sz="900" spc="-20" dirty="0">
                <a:latin typeface="Arial"/>
                <a:cs typeface="Arial"/>
              </a:rPr>
              <a:t> </a:t>
            </a:r>
            <a:r>
              <a:rPr sz="900" spc="-10" dirty="0">
                <a:latin typeface="Arial"/>
                <a:cs typeface="Arial"/>
              </a:rPr>
              <a:t>straightforward</a:t>
            </a:r>
            <a:r>
              <a:rPr sz="900" spc="-15" dirty="0">
                <a:latin typeface="Arial"/>
                <a:cs typeface="Arial"/>
              </a:rPr>
              <a:t> </a:t>
            </a:r>
            <a:r>
              <a:rPr sz="900" spc="-10" dirty="0">
                <a:solidFill>
                  <a:srgbClr val="3333B2"/>
                </a:solidFill>
                <a:latin typeface="Arial"/>
                <a:cs typeface="Arial"/>
              </a:rPr>
              <a:t>leader-</a:t>
            </a:r>
            <a:r>
              <a:rPr sz="900" dirty="0">
                <a:solidFill>
                  <a:srgbClr val="3333B2"/>
                </a:solidFill>
                <a:latin typeface="Arial"/>
                <a:cs typeface="Arial"/>
              </a:rPr>
              <a:t>election</a:t>
            </a:r>
            <a:r>
              <a:rPr sz="900" spc="-20" dirty="0">
                <a:solidFill>
                  <a:srgbClr val="3333B2"/>
                </a:solidFill>
                <a:latin typeface="Arial"/>
                <a:cs typeface="Arial"/>
              </a:rPr>
              <a:t> </a:t>
            </a:r>
            <a:r>
              <a:rPr sz="900" dirty="0">
                <a:latin typeface="Arial"/>
                <a:cs typeface="Arial"/>
              </a:rPr>
              <a:t>algorithm</a:t>
            </a:r>
            <a:r>
              <a:rPr sz="900" spc="-20" dirty="0">
                <a:latin typeface="Arial"/>
                <a:cs typeface="Arial"/>
              </a:rPr>
              <a:t> </a:t>
            </a:r>
            <a:r>
              <a:rPr sz="900" dirty="0">
                <a:latin typeface="Arial"/>
                <a:cs typeface="Arial"/>
              </a:rPr>
              <a:t>(see</a:t>
            </a:r>
            <a:r>
              <a:rPr sz="900" spc="-20" dirty="0">
                <a:latin typeface="Arial"/>
                <a:cs typeface="Arial"/>
              </a:rPr>
              <a:t> </a:t>
            </a:r>
            <a:r>
              <a:rPr sz="900" dirty="0">
                <a:latin typeface="Arial"/>
                <a:cs typeface="Arial"/>
              </a:rPr>
              <a:t>Chp.</a:t>
            </a:r>
            <a:r>
              <a:rPr sz="900" spc="-15" dirty="0">
                <a:latin typeface="Arial"/>
                <a:cs typeface="Arial"/>
              </a:rPr>
              <a:t> </a:t>
            </a:r>
            <a:r>
              <a:rPr sz="900" dirty="0">
                <a:latin typeface="Arial"/>
                <a:cs typeface="Arial"/>
              </a:rPr>
              <a:t>5).</a:t>
            </a:r>
            <a:r>
              <a:rPr sz="900" spc="35" dirty="0">
                <a:latin typeface="Arial"/>
                <a:cs typeface="Arial"/>
              </a:rPr>
              <a:t> </a:t>
            </a:r>
            <a:r>
              <a:rPr sz="900" spc="-25" dirty="0">
                <a:latin typeface="Arial"/>
                <a:cs typeface="Arial"/>
              </a:rPr>
              <a:t>The </a:t>
            </a:r>
            <a:r>
              <a:rPr sz="900" dirty="0">
                <a:latin typeface="Arial"/>
                <a:cs typeface="Arial"/>
              </a:rPr>
              <a:t>current</a:t>
            </a:r>
            <a:r>
              <a:rPr sz="900" spc="-35" dirty="0">
                <a:latin typeface="Arial"/>
                <a:cs typeface="Arial"/>
              </a:rPr>
              <a:t> </a:t>
            </a:r>
            <a:r>
              <a:rPr sz="900" dirty="0">
                <a:latin typeface="Arial"/>
                <a:cs typeface="Arial"/>
              </a:rPr>
              <a:t>leader</a:t>
            </a:r>
            <a:r>
              <a:rPr sz="900" spc="-30" dirty="0">
                <a:latin typeface="Arial"/>
                <a:cs typeface="Arial"/>
              </a:rPr>
              <a:t> </a:t>
            </a:r>
            <a:r>
              <a:rPr sz="900" dirty="0">
                <a:latin typeface="Arial"/>
                <a:cs typeface="Arial"/>
              </a:rPr>
              <a:t>operates</a:t>
            </a:r>
            <a:r>
              <a:rPr sz="900" spc="-30" dirty="0">
                <a:latin typeface="Arial"/>
                <a:cs typeface="Arial"/>
              </a:rPr>
              <a:t> </a:t>
            </a:r>
            <a:r>
              <a:rPr sz="900" dirty="0">
                <a:latin typeface="Arial"/>
                <a:cs typeface="Arial"/>
              </a:rPr>
              <a:t>during</a:t>
            </a:r>
            <a:r>
              <a:rPr sz="900" spc="-30" dirty="0">
                <a:latin typeface="Arial"/>
                <a:cs typeface="Arial"/>
              </a:rPr>
              <a:t> </a:t>
            </a:r>
            <a:r>
              <a:rPr sz="900" dirty="0">
                <a:latin typeface="Arial"/>
                <a:cs typeface="Arial"/>
              </a:rPr>
              <a:t>the</a:t>
            </a:r>
            <a:r>
              <a:rPr sz="900" spc="-30" dirty="0">
                <a:latin typeface="Arial"/>
                <a:cs typeface="Arial"/>
              </a:rPr>
              <a:t> </a:t>
            </a:r>
            <a:r>
              <a:rPr sz="900" dirty="0">
                <a:solidFill>
                  <a:srgbClr val="C80000"/>
                </a:solidFill>
                <a:latin typeface="Arial"/>
                <a:cs typeface="Arial"/>
              </a:rPr>
              <a:t>current</a:t>
            </a:r>
            <a:r>
              <a:rPr sz="900" spc="-30" dirty="0">
                <a:solidFill>
                  <a:srgbClr val="C80000"/>
                </a:solidFill>
                <a:latin typeface="Arial"/>
                <a:cs typeface="Arial"/>
              </a:rPr>
              <a:t> </a:t>
            </a:r>
            <a:r>
              <a:rPr sz="900" spc="-20" dirty="0">
                <a:solidFill>
                  <a:srgbClr val="3333B2"/>
                </a:solidFill>
                <a:latin typeface="Arial"/>
                <a:cs typeface="Arial"/>
              </a:rPr>
              <a:t>term</a:t>
            </a:r>
            <a:r>
              <a:rPr sz="900" spc="-20" dirty="0">
                <a:latin typeface="Arial"/>
                <a:cs typeface="Arial"/>
              </a:rPr>
              <a:t>.</a:t>
            </a:r>
            <a:endParaRPr sz="900">
              <a:latin typeface="Arial"/>
              <a:cs typeface="Arial"/>
            </a:endParaRPr>
          </a:p>
          <a:p>
            <a:pPr marL="278130" marR="85725" indent="-120650">
              <a:lnSpc>
                <a:spcPct val="111600"/>
              </a:lnSpc>
              <a:spcBef>
                <a:spcPts val="400"/>
              </a:spcBef>
              <a:buClr>
                <a:srgbClr val="3333B2"/>
              </a:buClr>
              <a:buFont typeface="Menlo"/>
              <a:buChar char="•"/>
              <a:tabLst>
                <a:tab pos="278765" algn="l"/>
              </a:tabLst>
            </a:pPr>
            <a:r>
              <a:rPr sz="900" dirty="0">
                <a:latin typeface="Arial"/>
                <a:cs typeface="Arial"/>
              </a:rPr>
              <a:t>Every</a:t>
            </a:r>
            <a:r>
              <a:rPr sz="900" spc="-20" dirty="0">
                <a:latin typeface="Arial"/>
                <a:cs typeface="Arial"/>
              </a:rPr>
              <a:t> </a:t>
            </a:r>
            <a:r>
              <a:rPr sz="900" dirty="0">
                <a:latin typeface="Arial"/>
                <a:cs typeface="Arial"/>
              </a:rPr>
              <a:t>server</a:t>
            </a:r>
            <a:r>
              <a:rPr sz="900" spc="-20" dirty="0">
                <a:latin typeface="Arial"/>
                <a:cs typeface="Arial"/>
              </a:rPr>
              <a:t> </a:t>
            </a:r>
            <a:r>
              <a:rPr sz="900" spc="-10" dirty="0">
                <a:latin typeface="Arial"/>
                <a:cs typeface="Arial"/>
              </a:rPr>
              <a:t>(typically,</a:t>
            </a:r>
            <a:r>
              <a:rPr sz="900" spc="-20" dirty="0">
                <a:latin typeface="Arial"/>
                <a:cs typeface="Arial"/>
              </a:rPr>
              <a:t> </a:t>
            </a:r>
            <a:r>
              <a:rPr sz="900" dirty="0">
                <a:latin typeface="Arial"/>
                <a:cs typeface="Arial"/>
              </a:rPr>
              <a:t>five)</a:t>
            </a:r>
            <a:r>
              <a:rPr sz="900" spc="-20" dirty="0">
                <a:latin typeface="Arial"/>
                <a:cs typeface="Arial"/>
              </a:rPr>
              <a:t> </a:t>
            </a:r>
            <a:r>
              <a:rPr sz="900" dirty="0">
                <a:latin typeface="Arial"/>
                <a:cs typeface="Arial"/>
              </a:rPr>
              <a:t>keeps</a:t>
            </a:r>
            <a:r>
              <a:rPr sz="900" spc="-20" dirty="0">
                <a:latin typeface="Arial"/>
                <a:cs typeface="Arial"/>
              </a:rPr>
              <a:t> </a:t>
            </a:r>
            <a:r>
              <a:rPr sz="900" dirty="0">
                <a:latin typeface="Arial"/>
                <a:cs typeface="Arial"/>
              </a:rPr>
              <a:t>a</a:t>
            </a:r>
            <a:r>
              <a:rPr sz="900" spc="-25" dirty="0">
                <a:latin typeface="Arial"/>
                <a:cs typeface="Arial"/>
              </a:rPr>
              <a:t> </a:t>
            </a:r>
            <a:r>
              <a:rPr sz="900" dirty="0">
                <a:solidFill>
                  <a:srgbClr val="3333B2"/>
                </a:solidFill>
                <a:latin typeface="Arial"/>
                <a:cs typeface="Arial"/>
              </a:rPr>
              <a:t>log</a:t>
            </a:r>
            <a:r>
              <a:rPr sz="900" spc="-20" dirty="0">
                <a:solidFill>
                  <a:srgbClr val="3333B2"/>
                </a:solidFill>
                <a:latin typeface="Arial"/>
                <a:cs typeface="Arial"/>
              </a:rPr>
              <a:t> </a:t>
            </a:r>
            <a:r>
              <a:rPr sz="900" dirty="0">
                <a:latin typeface="Arial"/>
                <a:cs typeface="Arial"/>
              </a:rPr>
              <a:t>of</a:t>
            </a:r>
            <a:r>
              <a:rPr sz="900" spc="-20" dirty="0">
                <a:latin typeface="Arial"/>
                <a:cs typeface="Arial"/>
              </a:rPr>
              <a:t> </a:t>
            </a:r>
            <a:r>
              <a:rPr sz="900" spc="-10" dirty="0">
                <a:latin typeface="Arial"/>
                <a:cs typeface="Arial"/>
              </a:rPr>
              <a:t>operations,</a:t>
            </a:r>
            <a:r>
              <a:rPr sz="900" spc="-20" dirty="0">
                <a:latin typeface="Arial"/>
                <a:cs typeface="Arial"/>
              </a:rPr>
              <a:t> </a:t>
            </a:r>
            <a:r>
              <a:rPr sz="900" dirty="0">
                <a:latin typeface="Arial"/>
                <a:cs typeface="Arial"/>
              </a:rPr>
              <a:t>some</a:t>
            </a:r>
            <a:r>
              <a:rPr sz="900" spc="-20" dirty="0">
                <a:latin typeface="Arial"/>
                <a:cs typeface="Arial"/>
              </a:rPr>
              <a:t> </a:t>
            </a:r>
            <a:r>
              <a:rPr sz="900" dirty="0">
                <a:latin typeface="Arial"/>
                <a:cs typeface="Arial"/>
              </a:rPr>
              <a:t>of</a:t>
            </a:r>
            <a:r>
              <a:rPr sz="900" spc="-20" dirty="0">
                <a:latin typeface="Arial"/>
                <a:cs typeface="Arial"/>
              </a:rPr>
              <a:t> which </a:t>
            </a:r>
            <a:r>
              <a:rPr sz="900" spc="-10" dirty="0">
                <a:latin typeface="Arial"/>
                <a:cs typeface="Arial"/>
              </a:rPr>
              <a:t>have</a:t>
            </a:r>
            <a:r>
              <a:rPr sz="900" spc="-30" dirty="0">
                <a:latin typeface="Arial"/>
                <a:cs typeface="Arial"/>
              </a:rPr>
              <a:t> </a:t>
            </a:r>
            <a:r>
              <a:rPr sz="900" dirty="0">
                <a:latin typeface="Arial"/>
                <a:cs typeface="Arial"/>
              </a:rPr>
              <a:t>been</a:t>
            </a:r>
            <a:r>
              <a:rPr sz="900" spc="-30" dirty="0">
                <a:latin typeface="Arial"/>
                <a:cs typeface="Arial"/>
              </a:rPr>
              <a:t> </a:t>
            </a:r>
            <a:r>
              <a:rPr sz="900" dirty="0">
                <a:latin typeface="Arial"/>
                <a:cs typeface="Arial"/>
              </a:rPr>
              <a:t>committed.</a:t>
            </a:r>
            <a:r>
              <a:rPr sz="900" spc="25" dirty="0">
                <a:latin typeface="Arial"/>
                <a:cs typeface="Arial"/>
              </a:rPr>
              <a:t> </a:t>
            </a:r>
            <a:r>
              <a:rPr sz="900" dirty="0">
                <a:solidFill>
                  <a:srgbClr val="C80000"/>
                </a:solidFill>
                <a:latin typeface="Arial"/>
                <a:cs typeface="Arial"/>
              </a:rPr>
              <a:t>A</a:t>
            </a:r>
            <a:r>
              <a:rPr sz="900" spc="-25" dirty="0">
                <a:solidFill>
                  <a:srgbClr val="C80000"/>
                </a:solidFill>
                <a:latin typeface="Arial"/>
                <a:cs typeface="Arial"/>
              </a:rPr>
              <a:t> </a:t>
            </a:r>
            <a:r>
              <a:rPr sz="900" dirty="0">
                <a:solidFill>
                  <a:srgbClr val="C80000"/>
                </a:solidFill>
                <a:latin typeface="Arial"/>
                <a:cs typeface="Arial"/>
              </a:rPr>
              <a:t>backup</a:t>
            </a:r>
            <a:r>
              <a:rPr sz="900" spc="-30" dirty="0">
                <a:solidFill>
                  <a:srgbClr val="C80000"/>
                </a:solidFill>
                <a:latin typeface="Arial"/>
                <a:cs typeface="Arial"/>
              </a:rPr>
              <a:t> </a:t>
            </a:r>
            <a:r>
              <a:rPr sz="900" dirty="0">
                <a:solidFill>
                  <a:srgbClr val="C80000"/>
                </a:solidFill>
                <a:latin typeface="Arial"/>
                <a:cs typeface="Arial"/>
              </a:rPr>
              <a:t>will</a:t>
            </a:r>
            <a:r>
              <a:rPr sz="900" spc="-30" dirty="0">
                <a:solidFill>
                  <a:srgbClr val="C80000"/>
                </a:solidFill>
                <a:latin typeface="Arial"/>
                <a:cs typeface="Arial"/>
              </a:rPr>
              <a:t> </a:t>
            </a:r>
            <a:r>
              <a:rPr sz="900" dirty="0">
                <a:solidFill>
                  <a:srgbClr val="C80000"/>
                </a:solidFill>
                <a:latin typeface="Arial"/>
                <a:cs typeface="Arial"/>
              </a:rPr>
              <a:t>not</a:t>
            </a:r>
            <a:r>
              <a:rPr sz="900" spc="-25" dirty="0">
                <a:solidFill>
                  <a:srgbClr val="C80000"/>
                </a:solidFill>
                <a:latin typeface="Arial"/>
                <a:cs typeface="Arial"/>
              </a:rPr>
              <a:t> </a:t>
            </a:r>
            <a:r>
              <a:rPr sz="900" dirty="0">
                <a:solidFill>
                  <a:srgbClr val="C80000"/>
                </a:solidFill>
                <a:latin typeface="Arial"/>
                <a:cs typeface="Arial"/>
              </a:rPr>
              <a:t>vote</a:t>
            </a:r>
            <a:r>
              <a:rPr sz="900" spc="-30" dirty="0">
                <a:solidFill>
                  <a:srgbClr val="C80000"/>
                </a:solidFill>
                <a:latin typeface="Arial"/>
                <a:cs typeface="Arial"/>
              </a:rPr>
              <a:t> </a:t>
            </a:r>
            <a:r>
              <a:rPr sz="900" dirty="0">
                <a:solidFill>
                  <a:srgbClr val="C80000"/>
                </a:solidFill>
                <a:latin typeface="Arial"/>
                <a:cs typeface="Arial"/>
              </a:rPr>
              <a:t>for</a:t>
            </a:r>
            <a:r>
              <a:rPr sz="900" spc="-25" dirty="0">
                <a:solidFill>
                  <a:srgbClr val="C80000"/>
                </a:solidFill>
                <a:latin typeface="Arial"/>
                <a:cs typeface="Arial"/>
              </a:rPr>
              <a:t> </a:t>
            </a:r>
            <a:r>
              <a:rPr sz="900" dirty="0">
                <a:solidFill>
                  <a:srgbClr val="C80000"/>
                </a:solidFill>
                <a:latin typeface="Arial"/>
                <a:cs typeface="Arial"/>
              </a:rPr>
              <a:t>a</a:t>
            </a:r>
            <a:r>
              <a:rPr sz="900" spc="-30" dirty="0">
                <a:solidFill>
                  <a:srgbClr val="C80000"/>
                </a:solidFill>
                <a:latin typeface="Arial"/>
                <a:cs typeface="Arial"/>
              </a:rPr>
              <a:t> </a:t>
            </a:r>
            <a:r>
              <a:rPr sz="900" dirty="0">
                <a:solidFill>
                  <a:srgbClr val="C80000"/>
                </a:solidFill>
                <a:latin typeface="Arial"/>
                <a:cs typeface="Arial"/>
              </a:rPr>
              <a:t>new</a:t>
            </a:r>
            <a:r>
              <a:rPr sz="900" spc="-30" dirty="0">
                <a:solidFill>
                  <a:srgbClr val="C80000"/>
                </a:solidFill>
                <a:latin typeface="Arial"/>
                <a:cs typeface="Arial"/>
              </a:rPr>
              <a:t> </a:t>
            </a:r>
            <a:r>
              <a:rPr sz="900" dirty="0">
                <a:solidFill>
                  <a:srgbClr val="C80000"/>
                </a:solidFill>
                <a:latin typeface="Arial"/>
                <a:cs typeface="Arial"/>
              </a:rPr>
              <a:t>leader</a:t>
            </a:r>
            <a:r>
              <a:rPr sz="900" spc="-25" dirty="0">
                <a:solidFill>
                  <a:srgbClr val="C80000"/>
                </a:solidFill>
                <a:latin typeface="Arial"/>
                <a:cs typeface="Arial"/>
              </a:rPr>
              <a:t> </a:t>
            </a:r>
            <a:r>
              <a:rPr sz="900" dirty="0">
                <a:solidFill>
                  <a:srgbClr val="C80000"/>
                </a:solidFill>
                <a:latin typeface="Arial"/>
                <a:cs typeface="Arial"/>
              </a:rPr>
              <a:t>if</a:t>
            </a:r>
            <a:r>
              <a:rPr sz="900" spc="-30" dirty="0">
                <a:solidFill>
                  <a:srgbClr val="C80000"/>
                </a:solidFill>
                <a:latin typeface="Arial"/>
                <a:cs typeface="Arial"/>
              </a:rPr>
              <a:t> </a:t>
            </a:r>
            <a:r>
              <a:rPr sz="900" dirty="0">
                <a:solidFill>
                  <a:srgbClr val="C80000"/>
                </a:solidFill>
                <a:latin typeface="Arial"/>
                <a:cs typeface="Arial"/>
              </a:rPr>
              <a:t>its</a:t>
            </a:r>
            <a:r>
              <a:rPr sz="900" spc="-30" dirty="0">
                <a:solidFill>
                  <a:srgbClr val="C80000"/>
                </a:solidFill>
                <a:latin typeface="Arial"/>
                <a:cs typeface="Arial"/>
              </a:rPr>
              <a:t> </a:t>
            </a:r>
            <a:r>
              <a:rPr sz="900" spc="-25" dirty="0">
                <a:solidFill>
                  <a:srgbClr val="C80000"/>
                </a:solidFill>
                <a:latin typeface="Arial"/>
                <a:cs typeface="Arial"/>
              </a:rPr>
              <a:t>own </a:t>
            </a:r>
            <a:r>
              <a:rPr sz="900" dirty="0">
                <a:solidFill>
                  <a:srgbClr val="C80000"/>
                </a:solidFill>
                <a:latin typeface="Arial"/>
                <a:cs typeface="Arial"/>
              </a:rPr>
              <a:t>log</a:t>
            </a:r>
            <a:r>
              <a:rPr sz="900" spc="-20" dirty="0">
                <a:solidFill>
                  <a:srgbClr val="C80000"/>
                </a:solidFill>
                <a:latin typeface="Arial"/>
                <a:cs typeface="Arial"/>
              </a:rPr>
              <a:t> </a:t>
            </a:r>
            <a:r>
              <a:rPr sz="900" dirty="0">
                <a:solidFill>
                  <a:srgbClr val="C80000"/>
                </a:solidFill>
                <a:latin typeface="Arial"/>
                <a:cs typeface="Arial"/>
              </a:rPr>
              <a:t>is</a:t>
            </a:r>
            <a:r>
              <a:rPr sz="900" spc="-15" dirty="0">
                <a:solidFill>
                  <a:srgbClr val="C80000"/>
                </a:solidFill>
                <a:latin typeface="Arial"/>
                <a:cs typeface="Arial"/>
              </a:rPr>
              <a:t> </a:t>
            </a:r>
            <a:r>
              <a:rPr sz="900" dirty="0">
                <a:solidFill>
                  <a:srgbClr val="C80000"/>
                </a:solidFill>
                <a:latin typeface="Arial"/>
                <a:cs typeface="Arial"/>
              </a:rPr>
              <a:t>more</a:t>
            </a:r>
            <a:r>
              <a:rPr sz="900" spc="-15" dirty="0">
                <a:solidFill>
                  <a:srgbClr val="C80000"/>
                </a:solidFill>
                <a:latin typeface="Arial"/>
                <a:cs typeface="Arial"/>
              </a:rPr>
              <a:t> </a:t>
            </a:r>
            <a:r>
              <a:rPr sz="900" dirty="0">
                <a:solidFill>
                  <a:srgbClr val="C80000"/>
                </a:solidFill>
                <a:latin typeface="Arial"/>
                <a:cs typeface="Arial"/>
              </a:rPr>
              <a:t>up</a:t>
            </a:r>
            <a:r>
              <a:rPr sz="900" spc="-20" dirty="0">
                <a:solidFill>
                  <a:srgbClr val="C80000"/>
                </a:solidFill>
                <a:latin typeface="Arial"/>
                <a:cs typeface="Arial"/>
              </a:rPr>
              <a:t> </a:t>
            </a:r>
            <a:r>
              <a:rPr sz="900" dirty="0">
                <a:solidFill>
                  <a:srgbClr val="C80000"/>
                </a:solidFill>
                <a:latin typeface="Arial"/>
                <a:cs typeface="Arial"/>
              </a:rPr>
              <a:t>to</a:t>
            </a:r>
            <a:r>
              <a:rPr sz="900" spc="-15" dirty="0">
                <a:solidFill>
                  <a:srgbClr val="C80000"/>
                </a:solidFill>
                <a:latin typeface="Arial"/>
                <a:cs typeface="Arial"/>
              </a:rPr>
              <a:t> </a:t>
            </a:r>
            <a:r>
              <a:rPr sz="900" spc="-10" dirty="0">
                <a:solidFill>
                  <a:srgbClr val="C80000"/>
                </a:solidFill>
                <a:latin typeface="Arial"/>
                <a:cs typeface="Arial"/>
              </a:rPr>
              <a:t>date</a:t>
            </a:r>
            <a:r>
              <a:rPr sz="900" spc="-10" dirty="0">
                <a:latin typeface="Arial"/>
                <a:cs typeface="Arial"/>
              </a:rPr>
              <a:t>.</a:t>
            </a:r>
            <a:endParaRPr sz="900">
              <a:latin typeface="Arial"/>
              <a:cs typeface="Arial"/>
            </a:endParaRPr>
          </a:p>
          <a:p>
            <a:pPr marL="278130" marR="313690" indent="-120650">
              <a:lnSpc>
                <a:spcPct val="111600"/>
              </a:lnSpc>
              <a:spcBef>
                <a:spcPts val="395"/>
              </a:spcBef>
              <a:buClr>
                <a:srgbClr val="3333B2"/>
              </a:buClr>
              <a:buFont typeface="Menlo"/>
              <a:buChar char="•"/>
              <a:tabLst>
                <a:tab pos="274955" algn="l"/>
              </a:tabLst>
            </a:pPr>
            <a:r>
              <a:rPr sz="900" dirty="0">
                <a:latin typeface="Arial"/>
                <a:cs typeface="Arial"/>
              </a:rPr>
              <a:t>All</a:t>
            </a:r>
            <a:r>
              <a:rPr sz="900" spc="-30" dirty="0">
                <a:latin typeface="Arial"/>
                <a:cs typeface="Arial"/>
              </a:rPr>
              <a:t> </a:t>
            </a:r>
            <a:r>
              <a:rPr sz="900" dirty="0">
                <a:latin typeface="Arial"/>
                <a:cs typeface="Arial"/>
              </a:rPr>
              <a:t>committed</a:t>
            </a:r>
            <a:r>
              <a:rPr sz="900" spc="-25" dirty="0">
                <a:latin typeface="Arial"/>
                <a:cs typeface="Arial"/>
              </a:rPr>
              <a:t> </a:t>
            </a:r>
            <a:r>
              <a:rPr sz="900" dirty="0">
                <a:latin typeface="Arial"/>
                <a:cs typeface="Arial"/>
              </a:rPr>
              <a:t>operations</a:t>
            </a:r>
            <a:r>
              <a:rPr sz="900" spc="-25" dirty="0">
                <a:latin typeface="Arial"/>
                <a:cs typeface="Arial"/>
              </a:rPr>
              <a:t> </a:t>
            </a:r>
            <a:r>
              <a:rPr sz="900" spc="-10" dirty="0">
                <a:latin typeface="Arial"/>
                <a:cs typeface="Arial"/>
              </a:rPr>
              <a:t>have</a:t>
            </a:r>
            <a:r>
              <a:rPr sz="900" spc="-25"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same</a:t>
            </a:r>
            <a:r>
              <a:rPr sz="900" spc="-25" dirty="0">
                <a:latin typeface="Arial"/>
                <a:cs typeface="Arial"/>
              </a:rPr>
              <a:t> </a:t>
            </a:r>
            <a:r>
              <a:rPr sz="900" dirty="0">
                <a:latin typeface="Arial"/>
                <a:cs typeface="Arial"/>
              </a:rPr>
              <a:t>position</a:t>
            </a:r>
            <a:r>
              <a:rPr sz="900" spc="-25" dirty="0">
                <a:latin typeface="Arial"/>
                <a:cs typeface="Arial"/>
              </a:rPr>
              <a:t> </a:t>
            </a:r>
            <a:r>
              <a:rPr sz="900" dirty="0">
                <a:latin typeface="Arial"/>
                <a:cs typeface="Arial"/>
              </a:rPr>
              <a:t>in</a:t>
            </a:r>
            <a:r>
              <a:rPr sz="900" spc="-25"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log</a:t>
            </a:r>
            <a:r>
              <a:rPr sz="900" spc="-25" dirty="0">
                <a:latin typeface="Arial"/>
                <a:cs typeface="Arial"/>
              </a:rPr>
              <a:t> </a:t>
            </a:r>
            <a:r>
              <a:rPr sz="900" dirty="0">
                <a:latin typeface="Arial"/>
                <a:cs typeface="Arial"/>
              </a:rPr>
              <a:t>of</a:t>
            </a:r>
            <a:r>
              <a:rPr sz="900" spc="-25" dirty="0">
                <a:latin typeface="Arial"/>
                <a:cs typeface="Arial"/>
              </a:rPr>
              <a:t> </a:t>
            </a:r>
            <a:r>
              <a:rPr sz="900" spc="-20" dirty="0">
                <a:latin typeface="Arial"/>
                <a:cs typeface="Arial"/>
              </a:rPr>
              <a:t>each </a:t>
            </a:r>
            <a:r>
              <a:rPr sz="900" spc="-10" dirty="0">
                <a:latin typeface="Arial"/>
                <a:cs typeface="Arial"/>
              </a:rPr>
              <a:t>respective</a:t>
            </a:r>
            <a:r>
              <a:rPr sz="900" spc="25" dirty="0">
                <a:latin typeface="Arial"/>
                <a:cs typeface="Arial"/>
              </a:rPr>
              <a:t> </a:t>
            </a:r>
            <a:r>
              <a:rPr sz="900" spc="-10" dirty="0">
                <a:latin typeface="Arial"/>
                <a:cs typeface="Arial"/>
              </a:rPr>
              <a:t>server.</a:t>
            </a:r>
            <a:endParaRPr sz="900">
              <a:latin typeface="Arial"/>
              <a:cs typeface="Arial"/>
            </a:endParaRPr>
          </a:p>
          <a:p>
            <a:pPr marL="278130" marR="17780" indent="-120650">
              <a:lnSpc>
                <a:spcPct val="111600"/>
              </a:lnSpc>
              <a:spcBef>
                <a:spcPts val="400"/>
              </a:spcBef>
              <a:buClr>
                <a:srgbClr val="3333B2"/>
              </a:buClr>
              <a:buFont typeface="Menlo"/>
              <a:buChar char="•"/>
              <a:tabLst>
                <a:tab pos="274955" algn="l"/>
              </a:tabLst>
            </a:pPr>
            <a:r>
              <a:rPr sz="900" dirty="0">
                <a:latin typeface="Arial"/>
                <a:cs typeface="Arial"/>
              </a:rPr>
              <a:t>The</a:t>
            </a:r>
            <a:r>
              <a:rPr sz="900" spc="-35" dirty="0">
                <a:latin typeface="Arial"/>
                <a:cs typeface="Arial"/>
              </a:rPr>
              <a:t> </a:t>
            </a:r>
            <a:r>
              <a:rPr sz="900" dirty="0">
                <a:latin typeface="Arial"/>
                <a:cs typeface="Arial"/>
              </a:rPr>
              <a:t>leader</a:t>
            </a:r>
            <a:r>
              <a:rPr sz="900" spc="-20" dirty="0">
                <a:latin typeface="Arial"/>
                <a:cs typeface="Arial"/>
              </a:rPr>
              <a:t> </a:t>
            </a:r>
            <a:r>
              <a:rPr sz="900" spc="-10" dirty="0">
                <a:latin typeface="Arial"/>
                <a:cs typeface="Arial"/>
              </a:rPr>
              <a:t>decides</a:t>
            </a:r>
            <a:r>
              <a:rPr sz="900" spc="-20" dirty="0">
                <a:latin typeface="Arial"/>
                <a:cs typeface="Arial"/>
              </a:rPr>
              <a:t> </a:t>
            </a:r>
            <a:r>
              <a:rPr sz="900" dirty="0">
                <a:latin typeface="Arial"/>
                <a:cs typeface="Arial"/>
              </a:rPr>
              <a:t>which</a:t>
            </a:r>
            <a:r>
              <a:rPr sz="900" spc="-20" dirty="0">
                <a:latin typeface="Arial"/>
                <a:cs typeface="Arial"/>
              </a:rPr>
              <a:t> </a:t>
            </a:r>
            <a:r>
              <a:rPr sz="900" spc="-10" dirty="0">
                <a:latin typeface="Arial"/>
                <a:cs typeface="Arial"/>
              </a:rPr>
              <a:t>pending</a:t>
            </a:r>
            <a:r>
              <a:rPr sz="900" spc="-20" dirty="0">
                <a:latin typeface="Arial"/>
                <a:cs typeface="Arial"/>
              </a:rPr>
              <a:t> </a:t>
            </a:r>
            <a:r>
              <a:rPr sz="900" spc="-10" dirty="0">
                <a:latin typeface="Arial"/>
                <a:cs typeface="Arial"/>
              </a:rPr>
              <a:t>operation</a:t>
            </a:r>
            <a:r>
              <a:rPr sz="900" spc="-15"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be</a:t>
            </a:r>
            <a:r>
              <a:rPr sz="900" spc="-20" dirty="0">
                <a:latin typeface="Arial"/>
                <a:cs typeface="Arial"/>
              </a:rPr>
              <a:t> </a:t>
            </a:r>
            <a:r>
              <a:rPr sz="900" spc="-10" dirty="0">
                <a:latin typeface="Arial"/>
                <a:cs typeface="Arial"/>
              </a:rPr>
              <a:t>committed</a:t>
            </a:r>
            <a:r>
              <a:rPr sz="900" spc="-20" dirty="0">
                <a:latin typeface="Arial"/>
                <a:cs typeface="Arial"/>
              </a:rPr>
              <a:t> </a:t>
            </a:r>
            <a:r>
              <a:rPr sz="900" spc="-10" dirty="0">
                <a:latin typeface="Arial"/>
                <a:cs typeface="Arial"/>
              </a:rPr>
              <a:t>next</a:t>
            </a:r>
            <a:r>
              <a:rPr sz="900" spc="-20" dirty="0">
                <a:latin typeface="Arial"/>
                <a:cs typeface="Arial"/>
              </a:rPr>
              <a:t> </a:t>
            </a:r>
            <a:r>
              <a:rPr sz="900" i="1" spc="350" dirty="0">
                <a:latin typeface="Menlo"/>
                <a:cs typeface="Menlo"/>
              </a:rPr>
              <a:t>⇒</a:t>
            </a:r>
            <a:r>
              <a:rPr sz="900" i="1" spc="-295" dirty="0">
                <a:latin typeface="Menlo"/>
                <a:cs typeface="Menlo"/>
              </a:rPr>
              <a:t> </a:t>
            </a:r>
            <a:r>
              <a:rPr sz="900" spc="-50" dirty="0">
                <a:latin typeface="Arial"/>
                <a:cs typeface="Arial"/>
              </a:rPr>
              <a:t>a</a:t>
            </a:r>
            <a:r>
              <a:rPr sz="900" dirty="0">
                <a:latin typeface="Arial"/>
                <a:cs typeface="Arial"/>
              </a:rPr>
              <a:t> </a:t>
            </a:r>
            <a:r>
              <a:rPr sz="900" dirty="0">
                <a:solidFill>
                  <a:srgbClr val="3333B2"/>
                </a:solidFill>
                <a:latin typeface="Arial"/>
                <a:cs typeface="Arial"/>
              </a:rPr>
              <a:t>primary-backup</a:t>
            </a:r>
            <a:r>
              <a:rPr sz="900" spc="-55" dirty="0">
                <a:solidFill>
                  <a:srgbClr val="3333B2"/>
                </a:solidFill>
                <a:latin typeface="Arial"/>
                <a:cs typeface="Arial"/>
              </a:rPr>
              <a:t> </a:t>
            </a:r>
            <a:r>
              <a:rPr sz="900" spc="-10" dirty="0">
                <a:solidFill>
                  <a:srgbClr val="3333B2"/>
                </a:solidFill>
                <a:latin typeface="Arial"/>
                <a:cs typeface="Arial"/>
              </a:rPr>
              <a:t>approach</a:t>
            </a:r>
            <a:r>
              <a:rPr sz="900" spc="-10" dirty="0">
                <a:latin typeface="Arial"/>
                <a:cs typeface="Arial"/>
              </a:rPr>
              <a:t>.</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134683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Consensus</a:t>
            </a:r>
            <a:r>
              <a:rPr sz="500" spc="-25" dirty="0">
                <a:latin typeface="Arial"/>
                <a:cs typeface="Arial"/>
                <a:hlinkClick r:id="rId4" action="ppaction://hlinksldjump"/>
              </a:rPr>
              <a:t> </a:t>
            </a:r>
            <a:r>
              <a:rPr sz="500" dirty="0">
                <a:latin typeface="Arial"/>
                <a:cs typeface="Arial"/>
                <a:hlinkClick r:id="rId4" action="ppaction://hlinksldjump"/>
              </a:rPr>
              <a:t>in</a:t>
            </a:r>
            <a:r>
              <a:rPr sz="500" spc="-20" dirty="0">
                <a:latin typeface="Arial"/>
                <a:cs typeface="Arial"/>
                <a:hlinkClick r:id="rId4" action="ppaction://hlinksldjump"/>
              </a:rPr>
              <a:t> </a:t>
            </a:r>
            <a:r>
              <a:rPr sz="500" dirty="0">
                <a:latin typeface="Arial"/>
                <a:cs typeface="Arial"/>
                <a:hlinkClick r:id="rId4" action="ppaction://hlinksldjump"/>
              </a:rPr>
              <a:t>faulty</a:t>
            </a:r>
            <a:r>
              <a:rPr sz="500" spc="-25" dirty="0">
                <a:latin typeface="Arial"/>
                <a:cs typeface="Arial"/>
                <a:hlinkClick r:id="rId4" action="ppaction://hlinksldjump"/>
              </a:rPr>
              <a:t> </a:t>
            </a:r>
            <a:r>
              <a:rPr sz="500" dirty="0">
                <a:latin typeface="Arial"/>
                <a:cs typeface="Arial"/>
                <a:hlinkClick r:id="rId4" action="ppaction://hlinksldjump"/>
              </a:rPr>
              <a:t>systems</a:t>
            </a:r>
            <a:r>
              <a:rPr sz="500" spc="-20" dirty="0">
                <a:latin typeface="Arial"/>
                <a:cs typeface="Arial"/>
                <a:hlinkClick r:id="rId4" action="ppaction://hlinksldjump"/>
              </a:rPr>
              <a:t> </a:t>
            </a:r>
            <a:r>
              <a:rPr sz="500" dirty="0">
                <a:latin typeface="Arial"/>
                <a:cs typeface="Arial"/>
                <a:hlinkClick r:id="rId4" action="ppaction://hlinksldjump"/>
              </a:rPr>
              <a:t>with</a:t>
            </a:r>
            <a:r>
              <a:rPr sz="500" spc="-20" dirty="0">
                <a:latin typeface="Arial"/>
                <a:cs typeface="Arial"/>
                <a:hlinkClick r:id="rId4" action="ppaction://hlinksldjump"/>
              </a:rPr>
              <a:t> </a:t>
            </a:r>
            <a:r>
              <a:rPr sz="500" dirty="0">
                <a:latin typeface="Arial"/>
                <a:cs typeface="Arial"/>
                <a:hlinkClick r:id="rId4" action="ppaction://hlinksldjump"/>
              </a:rPr>
              <a:t>crash</a:t>
            </a:r>
            <a:r>
              <a:rPr sz="500" spc="-25" dirty="0">
                <a:latin typeface="Arial"/>
                <a:cs typeface="Arial"/>
                <a:hlinkClick r:id="rId4" action="ppaction://hlinksldjump"/>
              </a:rPr>
              <a:t> </a:t>
            </a:r>
            <a:r>
              <a:rPr sz="500" spc="-10" dirty="0">
                <a:latin typeface="Arial"/>
                <a:cs typeface="Arial"/>
                <a:hlinkClick r:id="rId4" action="ppaction://hlinksldjump"/>
              </a:rPr>
              <a:t>failures</a:t>
            </a:r>
            <a:endParaRPr sz="500">
              <a:latin typeface="Arial"/>
              <a:cs typeface="Arial"/>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69900" y="197711"/>
            <a:ext cx="4013835" cy="1689735"/>
          </a:xfrm>
          <a:prstGeom prst="rect">
            <a:avLst/>
          </a:prstGeom>
        </p:spPr>
        <p:txBody>
          <a:bodyPr vert="horz" wrap="square" lIns="0" tIns="12065" rIns="0" bIns="0" rtlCol="0">
            <a:spAutoFit/>
          </a:bodyPr>
          <a:lstStyle/>
          <a:p>
            <a:pPr marL="38100">
              <a:lnSpc>
                <a:spcPct val="100000"/>
              </a:lnSpc>
              <a:spcBef>
                <a:spcPts val="95"/>
              </a:spcBef>
            </a:pPr>
            <a:r>
              <a:rPr sz="1200" spc="-20" dirty="0">
                <a:solidFill>
                  <a:srgbClr val="3333B2"/>
                </a:solidFill>
                <a:latin typeface="Arial"/>
                <a:cs typeface="Arial"/>
              </a:rPr>
              <a:t>Raft</a:t>
            </a:r>
            <a:endParaRPr sz="1200">
              <a:latin typeface="Arial"/>
              <a:cs typeface="Arial"/>
            </a:endParaRPr>
          </a:p>
          <a:p>
            <a:pPr marL="283845">
              <a:lnSpc>
                <a:spcPct val="100000"/>
              </a:lnSpc>
              <a:spcBef>
                <a:spcPts val="1055"/>
              </a:spcBef>
            </a:pPr>
            <a:r>
              <a:rPr sz="1000" dirty="0">
                <a:solidFill>
                  <a:srgbClr val="3333B2"/>
                </a:solidFill>
                <a:latin typeface="Arial"/>
                <a:cs typeface="Arial"/>
              </a:rPr>
              <a:t>When</a:t>
            </a:r>
            <a:r>
              <a:rPr sz="1000" spc="-35" dirty="0">
                <a:solidFill>
                  <a:srgbClr val="3333B2"/>
                </a:solidFill>
                <a:latin typeface="Arial"/>
                <a:cs typeface="Arial"/>
              </a:rPr>
              <a:t> </a:t>
            </a:r>
            <a:r>
              <a:rPr sz="1000" dirty="0">
                <a:solidFill>
                  <a:srgbClr val="3333B2"/>
                </a:solidFill>
                <a:latin typeface="Arial"/>
                <a:cs typeface="Arial"/>
              </a:rPr>
              <a:t>submitting</a:t>
            </a:r>
            <a:r>
              <a:rPr sz="1000" spc="-35" dirty="0">
                <a:solidFill>
                  <a:srgbClr val="3333B2"/>
                </a:solidFill>
                <a:latin typeface="Arial"/>
                <a:cs typeface="Arial"/>
              </a:rPr>
              <a:t> </a:t>
            </a:r>
            <a:r>
              <a:rPr sz="1000" dirty="0">
                <a:solidFill>
                  <a:srgbClr val="3333B2"/>
                </a:solidFill>
                <a:latin typeface="Arial"/>
                <a:cs typeface="Arial"/>
              </a:rPr>
              <a:t>an</a:t>
            </a:r>
            <a:r>
              <a:rPr sz="1000" spc="-30" dirty="0">
                <a:solidFill>
                  <a:srgbClr val="3333B2"/>
                </a:solidFill>
                <a:latin typeface="Arial"/>
                <a:cs typeface="Arial"/>
              </a:rPr>
              <a:t> </a:t>
            </a:r>
            <a:r>
              <a:rPr sz="1000" spc="-10" dirty="0">
                <a:solidFill>
                  <a:srgbClr val="3333B2"/>
                </a:solidFill>
                <a:latin typeface="Arial"/>
                <a:cs typeface="Arial"/>
              </a:rPr>
              <a:t>operation</a:t>
            </a:r>
            <a:endParaRPr sz="1000">
              <a:latin typeface="Arial"/>
              <a:cs typeface="Arial"/>
            </a:endParaRPr>
          </a:p>
          <a:p>
            <a:pPr marL="539115" indent="-116839">
              <a:lnSpc>
                <a:spcPct val="100000"/>
              </a:lnSpc>
              <a:spcBef>
                <a:spcPts val="710"/>
              </a:spcBef>
              <a:buClr>
                <a:srgbClr val="3333B2"/>
              </a:buClr>
              <a:buFont typeface="Menlo"/>
              <a:buChar char="•"/>
              <a:tabLst>
                <a:tab pos="539750" algn="l"/>
              </a:tabLst>
            </a:pPr>
            <a:r>
              <a:rPr sz="900" dirty="0">
                <a:latin typeface="Arial"/>
                <a:cs typeface="Arial"/>
              </a:rPr>
              <a:t>A</a:t>
            </a:r>
            <a:r>
              <a:rPr sz="900" spc="-35" dirty="0">
                <a:latin typeface="Arial"/>
                <a:cs typeface="Arial"/>
              </a:rPr>
              <a:t> </a:t>
            </a:r>
            <a:r>
              <a:rPr sz="900" dirty="0">
                <a:latin typeface="Arial"/>
                <a:cs typeface="Arial"/>
              </a:rPr>
              <a:t>client</a:t>
            </a:r>
            <a:r>
              <a:rPr sz="900" spc="-30" dirty="0">
                <a:latin typeface="Arial"/>
                <a:cs typeface="Arial"/>
              </a:rPr>
              <a:t> </a:t>
            </a:r>
            <a:r>
              <a:rPr sz="900" dirty="0">
                <a:latin typeface="Arial"/>
                <a:cs typeface="Arial"/>
              </a:rPr>
              <a:t>submits</a:t>
            </a:r>
            <a:r>
              <a:rPr sz="900" spc="-30"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request</a:t>
            </a:r>
            <a:r>
              <a:rPr sz="900" spc="-30" dirty="0">
                <a:latin typeface="Arial"/>
                <a:cs typeface="Arial"/>
              </a:rPr>
              <a:t> </a:t>
            </a:r>
            <a:r>
              <a:rPr sz="900" dirty="0">
                <a:latin typeface="Arial"/>
                <a:cs typeface="Arial"/>
              </a:rPr>
              <a:t>for</a:t>
            </a:r>
            <a:r>
              <a:rPr sz="900" spc="-35" dirty="0">
                <a:latin typeface="Arial"/>
                <a:cs typeface="Arial"/>
              </a:rPr>
              <a:t> </a:t>
            </a:r>
            <a:r>
              <a:rPr sz="900" dirty="0">
                <a:latin typeface="Arial"/>
                <a:cs typeface="Arial"/>
              </a:rPr>
              <a:t>operation</a:t>
            </a:r>
            <a:r>
              <a:rPr sz="900" spc="-30" dirty="0">
                <a:latin typeface="Arial"/>
                <a:cs typeface="Arial"/>
              </a:rPr>
              <a:t> </a:t>
            </a:r>
            <a:r>
              <a:rPr sz="900" i="1" spc="-25" dirty="0">
                <a:latin typeface="Arial"/>
                <a:cs typeface="Arial"/>
              </a:rPr>
              <a:t>o</a:t>
            </a:r>
            <a:r>
              <a:rPr sz="900" spc="-25" dirty="0">
                <a:latin typeface="Arial"/>
                <a:cs typeface="Arial"/>
              </a:rPr>
              <a:t>.</a:t>
            </a:r>
            <a:endParaRPr sz="900">
              <a:latin typeface="Arial"/>
              <a:cs typeface="Arial"/>
            </a:endParaRPr>
          </a:p>
          <a:p>
            <a:pPr marL="542925" marR="47625" indent="-120650">
              <a:lnSpc>
                <a:spcPct val="111600"/>
              </a:lnSpc>
              <a:spcBef>
                <a:spcPts val="400"/>
              </a:spcBef>
              <a:buClr>
                <a:srgbClr val="3333B2"/>
              </a:buClr>
              <a:buFont typeface="Menlo"/>
              <a:buChar char="•"/>
              <a:tabLst>
                <a:tab pos="539750" algn="l"/>
              </a:tabLst>
            </a:pPr>
            <a:r>
              <a:rPr sz="900" dirty="0">
                <a:latin typeface="Arial"/>
                <a:cs typeface="Arial"/>
              </a:rPr>
              <a:t>The</a:t>
            </a:r>
            <a:r>
              <a:rPr sz="900" spc="-50" dirty="0">
                <a:latin typeface="Arial"/>
                <a:cs typeface="Arial"/>
              </a:rPr>
              <a:t> </a:t>
            </a:r>
            <a:r>
              <a:rPr sz="900" dirty="0">
                <a:latin typeface="Arial"/>
                <a:cs typeface="Arial"/>
              </a:rPr>
              <a:t>leader</a:t>
            </a:r>
            <a:r>
              <a:rPr sz="900" spc="-20" dirty="0">
                <a:latin typeface="Arial"/>
                <a:cs typeface="Arial"/>
              </a:rPr>
              <a:t> </a:t>
            </a:r>
            <a:r>
              <a:rPr sz="900" dirty="0">
                <a:latin typeface="Arial"/>
                <a:cs typeface="Arial"/>
              </a:rPr>
              <a:t>appends</a:t>
            </a:r>
            <a:r>
              <a:rPr sz="900" spc="-20"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request</a:t>
            </a:r>
            <a:r>
              <a:rPr sz="900" spc="-15" dirty="0">
                <a:latin typeface="Arial"/>
                <a:cs typeface="Arial"/>
              </a:rPr>
              <a:t> </a:t>
            </a:r>
            <a:r>
              <a:rPr sz="900" i="1" spc="-65" dirty="0">
                <a:latin typeface="Menlo"/>
                <a:cs typeface="Menlo"/>
              </a:rPr>
              <a:t>⟨</a:t>
            </a:r>
            <a:r>
              <a:rPr sz="900" i="1" spc="-65" dirty="0">
                <a:latin typeface="Arial"/>
                <a:cs typeface="Arial"/>
              </a:rPr>
              <a:t>o,</a:t>
            </a:r>
            <a:r>
              <a:rPr sz="900" i="1" spc="-155" dirty="0">
                <a:latin typeface="Arial"/>
                <a:cs typeface="Arial"/>
              </a:rPr>
              <a:t> </a:t>
            </a:r>
            <a:r>
              <a:rPr sz="900" i="1" spc="-10" dirty="0">
                <a:latin typeface="Arial"/>
                <a:cs typeface="Arial"/>
              </a:rPr>
              <a:t>t</a:t>
            </a:r>
            <a:r>
              <a:rPr sz="900" i="1" spc="-170" dirty="0">
                <a:latin typeface="Arial"/>
                <a:cs typeface="Arial"/>
              </a:rPr>
              <a:t> </a:t>
            </a:r>
            <a:r>
              <a:rPr sz="900" i="1" spc="-10" dirty="0">
                <a:latin typeface="Arial"/>
                <a:cs typeface="Arial"/>
              </a:rPr>
              <a:t>,</a:t>
            </a:r>
            <a:r>
              <a:rPr sz="900" i="1" spc="-155" dirty="0">
                <a:latin typeface="Arial"/>
                <a:cs typeface="Arial"/>
              </a:rPr>
              <a:t> </a:t>
            </a:r>
            <a:r>
              <a:rPr sz="900" i="1" spc="-204" dirty="0">
                <a:latin typeface="Menlo"/>
                <a:cs typeface="Menlo"/>
              </a:rPr>
              <a:t>⟩</a:t>
            </a:r>
            <a:r>
              <a:rPr sz="900" i="1" spc="-295" dirty="0">
                <a:latin typeface="Menlo"/>
                <a:cs typeface="Menlo"/>
              </a:rPr>
              <a:t> </a:t>
            </a:r>
            <a:r>
              <a:rPr sz="900" dirty="0">
                <a:latin typeface="Arial"/>
                <a:cs typeface="Arial"/>
              </a:rPr>
              <a:t>to</a:t>
            </a:r>
            <a:r>
              <a:rPr sz="900" spc="-20" dirty="0">
                <a:latin typeface="Arial"/>
                <a:cs typeface="Arial"/>
              </a:rPr>
              <a:t> </a:t>
            </a:r>
            <a:r>
              <a:rPr sz="900" dirty="0">
                <a:latin typeface="Arial"/>
                <a:cs typeface="Arial"/>
              </a:rPr>
              <a:t>its</a:t>
            </a:r>
            <a:r>
              <a:rPr sz="900" spc="-20" dirty="0">
                <a:latin typeface="Arial"/>
                <a:cs typeface="Arial"/>
              </a:rPr>
              <a:t> </a:t>
            </a:r>
            <a:r>
              <a:rPr sz="900" dirty="0">
                <a:latin typeface="Arial"/>
                <a:cs typeface="Arial"/>
              </a:rPr>
              <a:t>own</a:t>
            </a:r>
            <a:r>
              <a:rPr sz="900" spc="-20" dirty="0">
                <a:latin typeface="Arial"/>
                <a:cs typeface="Arial"/>
              </a:rPr>
              <a:t> </a:t>
            </a:r>
            <a:r>
              <a:rPr sz="900" dirty="0">
                <a:latin typeface="Arial"/>
                <a:cs typeface="Arial"/>
              </a:rPr>
              <a:t>log</a:t>
            </a:r>
            <a:r>
              <a:rPr sz="900" spc="-20" dirty="0">
                <a:latin typeface="Arial"/>
                <a:cs typeface="Arial"/>
              </a:rPr>
              <a:t> </a:t>
            </a:r>
            <a:r>
              <a:rPr sz="900" dirty="0">
                <a:latin typeface="Arial"/>
                <a:cs typeface="Arial"/>
              </a:rPr>
              <a:t>(registering</a:t>
            </a:r>
            <a:r>
              <a:rPr sz="900" spc="-20" dirty="0">
                <a:latin typeface="Arial"/>
                <a:cs typeface="Arial"/>
              </a:rPr>
              <a:t> </a:t>
            </a:r>
            <a:r>
              <a:rPr sz="900" spc="-25" dirty="0">
                <a:latin typeface="Arial"/>
                <a:cs typeface="Arial"/>
              </a:rPr>
              <a:t>the </a:t>
            </a:r>
            <a:r>
              <a:rPr sz="900" dirty="0">
                <a:latin typeface="Arial"/>
                <a:cs typeface="Arial"/>
              </a:rPr>
              <a:t>current</a:t>
            </a:r>
            <a:r>
              <a:rPr sz="900" spc="-20" dirty="0">
                <a:latin typeface="Arial"/>
                <a:cs typeface="Arial"/>
              </a:rPr>
              <a:t> </a:t>
            </a:r>
            <a:r>
              <a:rPr sz="900" dirty="0">
                <a:latin typeface="Arial"/>
                <a:cs typeface="Arial"/>
              </a:rPr>
              <a:t>term</a:t>
            </a:r>
            <a:r>
              <a:rPr sz="900" spc="-15" dirty="0">
                <a:latin typeface="Arial"/>
                <a:cs typeface="Arial"/>
              </a:rPr>
              <a:t> </a:t>
            </a:r>
            <a:r>
              <a:rPr sz="900" i="1" dirty="0">
                <a:latin typeface="Arial"/>
                <a:cs typeface="Arial"/>
              </a:rPr>
              <a:t>t</a:t>
            </a:r>
            <a:r>
              <a:rPr sz="900" i="1" spc="60" dirty="0">
                <a:latin typeface="Arial"/>
                <a:cs typeface="Arial"/>
              </a:rPr>
              <a:t> </a:t>
            </a:r>
            <a:r>
              <a:rPr sz="900" dirty="0">
                <a:latin typeface="Arial"/>
                <a:cs typeface="Arial"/>
              </a:rPr>
              <a:t>and</a:t>
            </a:r>
            <a:r>
              <a:rPr sz="900" spc="-20" dirty="0">
                <a:latin typeface="Arial"/>
                <a:cs typeface="Arial"/>
              </a:rPr>
              <a:t> </a:t>
            </a:r>
            <a:r>
              <a:rPr sz="900" dirty="0">
                <a:latin typeface="Arial"/>
                <a:cs typeface="Arial"/>
              </a:rPr>
              <a:t>length</a:t>
            </a:r>
            <a:r>
              <a:rPr sz="900" spc="-15" dirty="0">
                <a:latin typeface="Arial"/>
                <a:cs typeface="Arial"/>
              </a:rPr>
              <a:t> </a:t>
            </a:r>
            <a:r>
              <a:rPr sz="900" dirty="0">
                <a:latin typeface="Arial"/>
                <a:cs typeface="Arial"/>
              </a:rPr>
              <a:t>of</a:t>
            </a:r>
            <a:r>
              <a:rPr sz="900" spc="-20" dirty="0">
                <a:latin typeface="Arial"/>
                <a:cs typeface="Arial"/>
              </a:rPr>
              <a:t> </a:t>
            </a:r>
            <a:r>
              <a:rPr sz="900" spc="-25" dirty="0">
                <a:latin typeface="Arial"/>
                <a:cs typeface="Arial"/>
              </a:rPr>
              <a:t>).</a:t>
            </a:r>
            <a:endParaRPr sz="900">
              <a:latin typeface="Arial"/>
              <a:cs typeface="Arial"/>
            </a:endParaRPr>
          </a:p>
          <a:p>
            <a:pPr marL="539115" indent="-116839">
              <a:lnSpc>
                <a:spcPct val="100000"/>
              </a:lnSpc>
              <a:spcBef>
                <a:spcPts val="520"/>
              </a:spcBef>
              <a:buClr>
                <a:srgbClr val="3333B2"/>
              </a:buClr>
              <a:buFont typeface="Menlo"/>
              <a:buChar char="•"/>
              <a:tabLst>
                <a:tab pos="539750" algn="l"/>
              </a:tabLst>
            </a:pPr>
            <a:r>
              <a:rPr sz="900" dirty="0">
                <a:latin typeface="Arial"/>
                <a:cs typeface="Arial"/>
              </a:rPr>
              <a:t>The</a:t>
            </a:r>
            <a:r>
              <a:rPr sz="900" spc="-30" dirty="0">
                <a:latin typeface="Arial"/>
                <a:cs typeface="Arial"/>
              </a:rPr>
              <a:t> </a:t>
            </a:r>
            <a:r>
              <a:rPr sz="900" dirty="0">
                <a:latin typeface="Arial"/>
                <a:cs typeface="Arial"/>
              </a:rPr>
              <a:t>log</a:t>
            </a:r>
            <a:r>
              <a:rPr sz="900" spc="-25"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(conceptually)</a:t>
            </a:r>
            <a:r>
              <a:rPr sz="900" spc="-25" dirty="0">
                <a:latin typeface="Arial"/>
                <a:cs typeface="Arial"/>
              </a:rPr>
              <a:t> </a:t>
            </a:r>
            <a:r>
              <a:rPr sz="900" dirty="0">
                <a:latin typeface="Arial"/>
                <a:cs typeface="Arial"/>
              </a:rPr>
              <a:t>broadcast</a:t>
            </a:r>
            <a:r>
              <a:rPr sz="900" spc="-3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other</a:t>
            </a:r>
            <a:r>
              <a:rPr sz="900" spc="-30" dirty="0">
                <a:latin typeface="Arial"/>
                <a:cs typeface="Arial"/>
              </a:rPr>
              <a:t> </a:t>
            </a:r>
            <a:r>
              <a:rPr sz="900" spc="-10" dirty="0">
                <a:latin typeface="Arial"/>
                <a:cs typeface="Arial"/>
              </a:rPr>
              <a:t>servers.</a:t>
            </a:r>
            <a:endParaRPr sz="900">
              <a:latin typeface="Arial"/>
              <a:cs typeface="Arial"/>
            </a:endParaRPr>
          </a:p>
          <a:p>
            <a:pPr marL="539115" indent="-116839">
              <a:lnSpc>
                <a:spcPct val="100000"/>
              </a:lnSpc>
              <a:spcBef>
                <a:spcPts val="525"/>
              </a:spcBef>
              <a:buClr>
                <a:srgbClr val="3333B2"/>
              </a:buClr>
              <a:buFont typeface="Menlo"/>
              <a:buChar char="•"/>
              <a:tabLst>
                <a:tab pos="539750" algn="l"/>
              </a:tabLst>
            </a:pPr>
            <a:r>
              <a:rPr sz="900" dirty="0">
                <a:latin typeface="Arial"/>
                <a:cs typeface="Arial"/>
              </a:rPr>
              <a:t>The</a:t>
            </a:r>
            <a:r>
              <a:rPr sz="900" spc="-25" dirty="0">
                <a:latin typeface="Arial"/>
                <a:cs typeface="Arial"/>
              </a:rPr>
              <a:t> </a:t>
            </a:r>
            <a:r>
              <a:rPr sz="900" dirty="0">
                <a:latin typeface="Arial"/>
                <a:cs typeface="Arial"/>
              </a:rPr>
              <a:t>others</a:t>
            </a:r>
            <a:r>
              <a:rPr sz="900" spc="-25" dirty="0">
                <a:latin typeface="Arial"/>
                <a:cs typeface="Arial"/>
              </a:rPr>
              <a:t> </a:t>
            </a:r>
            <a:r>
              <a:rPr sz="900" dirty="0">
                <a:latin typeface="Arial"/>
                <a:cs typeface="Arial"/>
              </a:rPr>
              <a:t>(conceptually)</a:t>
            </a:r>
            <a:r>
              <a:rPr sz="900" spc="-25" dirty="0">
                <a:latin typeface="Arial"/>
                <a:cs typeface="Arial"/>
              </a:rPr>
              <a:t> </a:t>
            </a:r>
            <a:r>
              <a:rPr sz="900" dirty="0">
                <a:latin typeface="Arial"/>
                <a:cs typeface="Arial"/>
              </a:rPr>
              <a:t>copy</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log</a:t>
            </a:r>
            <a:r>
              <a:rPr sz="900" spc="-25" dirty="0">
                <a:latin typeface="Arial"/>
                <a:cs typeface="Arial"/>
              </a:rPr>
              <a:t> </a:t>
            </a:r>
            <a:r>
              <a:rPr sz="900" dirty="0">
                <a:latin typeface="Arial"/>
                <a:cs typeface="Arial"/>
              </a:rPr>
              <a:t>and</a:t>
            </a:r>
            <a:r>
              <a:rPr sz="900" spc="-25" dirty="0">
                <a:latin typeface="Arial"/>
                <a:cs typeface="Arial"/>
              </a:rPr>
              <a:t> </a:t>
            </a:r>
            <a:r>
              <a:rPr sz="900" spc="-10" dirty="0">
                <a:latin typeface="Arial"/>
                <a:cs typeface="Arial"/>
              </a:rPr>
              <a:t>acknowledge</a:t>
            </a:r>
            <a:r>
              <a:rPr sz="900" spc="-25" dirty="0">
                <a:latin typeface="Arial"/>
                <a:cs typeface="Arial"/>
              </a:rPr>
              <a:t> </a:t>
            </a:r>
            <a:r>
              <a:rPr sz="900" dirty="0">
                <a:latin typeface="Arial"/>
                <a:cs typeface="Arial"/>
              </a:rPr>
              <a:t>the</a:t>
            </a:r>
            <a:r>
              <a:rPr sz="900" spc="-25" dirty="0">
                <a:latin typeface="Arial"/>
                <a:cs typeface="Arial"/>
              </a:rPr>
              <a:t> </a:t>
            </a:r>
            <a:r>
              <a:rPr sz="900" spc="-10" dirty="0">
                <a:latin typeface="Arial"/>
                <a:cs typeface="Arial"/>
              </a:rPr>
              <a:t>receipt.</a:t>
            </a:r>
            <a:endParaRPr sz="900">
              <a:latin typeface="Arial"/>
              <a:cs typeface="Arial"/>
            </a:endParaRPr>
          </a:p>
          <a:p>
            <a:pPr marL="537210" indent="-114935">
              <a:lnSpc>
                <a:spcPct val="100000"/>
              </a:lnSpc>
              <a:spcBef>
                <a:spcPts val="525"/>
              </a:spcBef>
              <a:buClr>
                <a:srgbClr val="3333B2"/>
              </a:buClr>
              <a:buFont typeface="Menlo"/>
              <a:buChar char="•"/>
              <a:tabLst>
                <a:tab pos="537845" algn="l"/>
              </a:tabLst>
            </a:pPr>
            <a:r>
              <a:rPr sz="900" dirty="0">
                <a:latin typeface="Arial"/>
                <a:cs typeface="Arial"/>
              </a:rPr>
              <a:t>When</a:t>
            </a:r>
            <a:r>
              <a:rPr sz="900" spc="-25"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majority</a:t>
            </a:r>
            <a:r>
              <a:rPr sz="900" spc="-20"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acks</a:t>
            </a:r>
            <a:r>
              <a:rPr sz="900" spc="-20" dirty="0">
                <a:latin typeface="Arial"/>
                <a:cs typeface="Arial"/>
              </a:rPr>
              <a:t> </a:t>
            </a:r>
            <a:r>
              <a:rPr sz="900" spc="-10" dirty="0">
                <a:latin typeface="Arial"/>
                <a:cs typeface="Arial"/>
              </a:rPr>
              <a:t>arrives,</a:t>
            </a:r>
            <a:r>
              <a:rPr sz="900" spc="-20"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leader</a:t>
            </a:r>
            <a:r>
              <a:rPr sz="900" spc="-25" dirty="0">
                <a:latin typeface="Arial"/>
                <a:cs typeface="Arial"/>
              </a:rPr>
              <a:t> </a:t>
            </a:r>
            <a:r>
              <a:rPr sz="900" dirty="0">
                <a:latin typeface="Arial"/>
                <a:cs typeface="Arial"/>
              </a:rPr>
              <a:t>commits</a:t>
            </a:r>
            <a:r>
              <a:rPr sz="900" spc="-20" dirty="0">
                <a:latin typeface="Arial"/>
                <a:cs typeface="Arial"/>
              </a:rPr>
              <a:t> </a:t>
            </a:r>
            <a:r>
              <a:rPr sz="900" i="1" spc="-25" dirty="0">
                <a:latin typeface="Arial"/>
                <a:cs typeface="Arial"/>
              </a:rPr>
              <a:t>o</a:t>
            </a:r>
            <a:r>
              <a:rPr sz="900" spc="-25" dirty="0">
                <a:latin typeface="Arial"/>
                <a:cs typeface="Arial"/>
              </a:rPr>
              <a:t>.</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134683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Consensus</a:t>
            </a:r>
            <a:r>
              <a:rPr sz="500" spc="-25" dirty="0">
                <a:latin typeface="Arial"/>
                <a:cs typeface="Arial"/>
                <a:hlinkClick r:id="rId4" action="ppaction://hlinksldjump"/>
              </a:rPr>
              <a:t> </a:t>
            </a:r>
            <a:r>
              <a:rPr sz="500" dirty="0">
                <a:latin typeface="Arial"/>
                <a:cs typeface="Arial"/>
                <a:hlinkClick r:id="rId4" action="ppaction://hlinksldjump"/>
              </a:rPr>
              <a:t>in</a:t>
            </a:r>
            <a:r>
              <a:rPr sz="500" spc="-20" dirty="0">
                <a:latin typeface="Arial"/>
                <a:cs typeface="Arial"/>
                <a:hlinkClick r:id="rId4" action="ppaction://hlinksldjump"/>
              </a:rPr>
              <a:t> </a:t>
            </a:r>
            <a:r>
              <a:rPr sz="500" dirty="0">
                <a:latin typeface="Arial"/>
                <a:cs typeface="Arial"/>
                <a:hlinkClick r:id="rId4" action="ppaction://hlinksldjump"/>
              </a:rPr>
              <a:t>faulty</a:t>
            </a:r>
            <a:r>
              <a:rPr sz="500" spc="-25" dirty="0">
                <a:latin typeface="Arial"/>
                <a:cs typeface="Arial"/>
                <a:hlinkClick r:id="rId4" action="ppaction://hlinksldjump"/>
              </a:rPr>
              <a:t> </a:t>
            </a:r>
            <a:r>
              <a:rPr sz="500" dirty="0">
                <a:latin typeface="Arial"/>
                <a:cs typeface="Arial"/>
                <a:hlinkClick r:id="rId4" action="ppaction://hlinksldjump"/>
              </a:rPr>
              <a:t>systems</a:t>
            </a:r>
            <a:r>
              <a:rPr sz="500" spc="-20" dirty="0">
                <a:latin typeface="Arial"/>
                <a:cs typeface="Arial"/>
                <a:hlinkClick r:id="rId4" action="ppaction://hlinksldjump"/>
              </a:rPr>
              <a:t> </a:t>
            </a:r>
            <a:r>
              <a:rPr sz="500" dirty="0">
                <a:latin typeface="Arial"/>
                <a:cs typeface="Arial"/>
                <a:hlinkClick r:id="rId4" action="ppaction://hlinksldjump"/>
              </a:rPr>
              <a:t>with</a:t>
            </a:r>
            <a:r>
              <a:rPr sz="500" spc="-20" dirty="0">
                <a:latin typeface="Arial"/>
                <a:cs typeface="Arial"/>
                <a:hlinkClick r:id="rId4" action="ppaction://hlinksldjump"/>
              </a:rPr>
              <a:t> </a:t>
            </a:r>
            <a:r>
              <a:rPr sz="500" dirty="0">
                <a:latin typeface="Arial"/>
                <a:cs typeface="Arial"/>
                <a:hlinkClick r:id="rId4" action="ppaction://hlinksldjump"/>
              </a:rPr>
              <a:t>crash</a:t>
            </a:r>
            <a:r>
              <a:rPr sz="500" spc="-25" dirty="0">
                <a:latin typeface="Arial"/>
                <a:cs typeface="Arial"/>
                <a:hlinkClick r:id="rId4" action="ppaction://hlinksldjump"/>
              </a:rPr>
              <a:t> </a:t>
            </a:r>
            <a:r>
              <a:rPr sz="500" spc="-10" dirty="0">
                <a:latin typeface="Arial"/>
                <a:cs typeface="Arial"/>
                <a:hlinkClick r:id="rId4" action="ppaction://hlinksldjump"/>
              </a:rPr>
              <a:t>failures</a:t>
            </a:r>
            <a:endParaRPr sz="500">
              <a:latin typeface="Arial"/>
              <a:cs typeface="Arial"/>
            </a:endParaRP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57200" y="197711"/>
            <a:ext cx="4216400" cy="2476500"/>
          </a:xfrm>
          <a:prstGeom prst="rect">
            <a:avLst/>
          </a:prstGeom>
        </p:spPr>
        <p:txBody>
          <a:bodyPr vert="horz" wrap="square" lIns="0" tIns="12065" rIns="0" bIns="0" rtlCol="0">
            <a:spAutoFit/>
          </a:bodyPr>
          <a:lstStyle/>
          <a:p>
            <a:pPr marL="50800">
              <a:lnSpc>
                <a:spcPct val="100000"/>
              </a:lnSpc>
              <a:spcBef>
                <a:spcPts val="95"/>
              </a:spcBef>
            </a:pPr>
            <a:r>
              <a:rPr sz="1200" spc="-20" dirty="0">
                <a:solidFill>
                  <a:srgbClr val="3333B2"/>
                </a:solidFill>
                <a:latin typeface="Arial"/>
                <a:cs typeface="Arial"/>
              </a:rPr>
              <a:t>Raft</a:t>
            </a:r>
            <a:endParaRPr sz="1200">
              <a:latin typeface="Arial"/>
              <a:cs typeface="Arial"/>
            </a:endParaRPr>
          </a:p>
          <a:p>
            <a:pPr marL="296545">
              <a:lnSpc>
                <a:spcPct val="100000"/>
              </a:lnSpc>
              <a:spcBef>
                <a:spcPts val="1055"/>
              </a:spcBef>
            </a:pPr>
            <a:r>
              <a:rPr sz="1000" dirty="0">
                <a:solidFill>
                  <a:srgbClr val="3333B2"/>
                </a:solidFill>
                <a:latin typeface="Arial"/>
                <a:cs typeface="Arial"/>
              </a:rPr>
              <a:t>When</a:t>
            </a:r>
            <a:r>
              <a:rPr sz="1000" spc="-35" dirty="0">
                <a:solidFill>
                  <a:srgbClr val="3333B2"/>
                </a:solidFill>
                <a:latin typeface="Arial"/>
                <a:cs typeface="Arial"/>
              </a:rPr>
              <a:t> </a:t>
            </a:r>
            <a:r>
              <a:rPr sz="1000" dirty="0">
                <a:solidFill>
                  <a:srgbClr val="3333B2"/>
                </a:solidFill>
                <a:latin typeface="Arial"/>
                <a:cs typeface="Arial"/>
              </a:rPr>
              <a:t>submitting</a:t>
            </a:r>
            <a:r>
              <a:rPr sz="1000" spc="-35" dirty="0">
                <a:solidFill>
                  <a:srgbClr val="3333B2"/>
                </a:solidFill>
                <a:latin typeface="Arial"/>
                <a:cs typeface="Arial"/>
              </a:rPr>
              <a:t> </a:t>
            </a:r>
            <a:r>
              <a:rPr sz="1000" dirty="0">
                <a:solidFill>
                  <a:srgbClr val="3333B2"/>
                </a:solidFill>
                <a:latin typeface="Arial"/>
                <a:cs typeface="Arial"/>
              </a:rPr>
              <a:t>an</a:t>
            </a:r>
            <a:r>
              <a:rPr sz="1000" spc="-30" dirty="0">
                <a:solidFill>
                  <a:srgbClr val="3333B2"/>
                </a:solidFill>
                <a:latin typeface="Arial"/>
                <a:cs typeface="Arial"/>
              </a:rPr>
              <a:t> </a:t>
            </a:r>
            <a:r>
              <a:rPr sz="1000" spc="-10" dirty="0">
                <a:solidFill>
                  <a:srgbClr val="3333B2"/>
                </a:solidFill>
                <a:latin typeface="Arial"/>
                <a:cs typeface="Arial"/>
              </a:rPr>
              <a:t>operation</a:t>
            </a:r>
            <a:endParaRPr sz="1000">
              <a:latin typeface="Arial"/>
              <a:cs typeface="Arial"/>
            </a:endParaRPr>
          </a:p>
          <a:p>
            <a:pPr marL="551815" indent="-116839">
              <a:lnSpc>
                <a:spcPct val="100000"/>
              </a:lnSpc>
              <a:spcBef>
                <a:spcPts val="710"/>
              </a:spcBef>
              <a:buClr>
                <a:srgbClr val="3333B2"/>
              </a:buClr>
              <a:buFont typeface="Menlo"/>
              <a:buChar char="•"/>
              <a:tabLst>
                <a:tab pos="552450" algn="l"/>
              </a:tabLst>
            </a:pPr>
            <a:r>
              <a:rPr sz="900" dirty="0">
                <a:latin typeface="Arial"/>
                <a:cs typeface="Arial"/>
              </a:rPr>
              <a:t>A</a:t>
            </a:r>
            <a:r>
              <a:rPr sz="900" spc="-35" dirty="0">
                <a:latin typeface="Arial"/>
                <a:cs typeface="Arial"/>
              </a:rPr>
              <a:t> </a:t>
            </a:r>
            <a:r>
              <a:rPr sz="900" dirty="0">
                <a:latin typeface="Arial"/>
                <a:cs typeface="Arial"/>
              </a:rPr>
              <a:t>client</a:t>
            </a:r>
            <a:r>
              <a:rPr sz="900" spc="-30" dirty="0">
                <a:latin typeface="Arial"/>
                <a:cs typeface="Arial"/>
              </a:rPr>
              <a:t> </a:t>
            </a:r>
            <a:r>
              <a:rPr sz="900" dirty="0">
                <a:latin typeface="Arial"/>
                <a:cs typeface="Arial"/>
              </a:rPr>
              <a:t>submits</a:t>
            </a:r>
            <a:r>
              <a:rPr sz="900" spc="-30"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request</a:t>
            </a:r>
            <a:r>
              <a:rPr sz="900" spc="-30" dirty="0">
                <a:latin typeface="Arial"/>
                <a:cs typeface="Arial"/>
              </a:rPr>
              <a:t> </a:t>
            </a:r>
            <a:r>
              <a:rPr sz="900" dirty="0">
                <a:latin typeface="Arial"/>
                <a:cs typeface="Arial"/>
              </a:rPr>
              <a:t>for</a:t>
            </a:r>
            <a:r>
              <a:rPr sz="900" spc="-35" dirty="0">
                <a:latin typeface="Arial"/>
                <a:cs typeface="Arial"/>
              </a:rPr>
              <a:t> </a:t>
            </a:r>
            <a:r>
              <a:rPr sz="900" dirty="0">
                <a:latin typeface="Arial"/>
                <a:cs typeface="Arial"/>
              </a:rPr>
              <a:t>operation</a:t>
            </a:r>
            <a:r>
              <a:rPr sz="900" spc="-30" dirty="0">
                <a:latin typeface="Arial"/>
                <a:cs typeface="Arial"/>
              </a:rPr>
              <a:t> </a:t>
            </a:r>
            <a:r>
              <a:rPr sz="900" i="1" spc="-25" dirty="0">
                <a:latin typeface="Arial"/>
                <a:cs typeface="Arial"/>
              </a:rPr>
              <a:t>o</a:t>
            </a:r>
            <a:r>
              <a:rPr sz="900" spc="-25" dirty="0">
                <a:latin typeface="Arial"/>
                <a:cs typeface="Arial"/>
              </a:rPr>
              <a:t>.</a:t>
            </a:r>
            <a:endParaRPr sz="900">
              <a:latin typeface="Arial"/>
              <a:cs typeface="Arial"/>
            </a:endParaRPr>
          </a:p>
          <a:p>
            <a:pPr marL="555625" marR="237490" indent="-120650">
              <a:lnSpc>
                <a:spcPct val="111600"/>
              </a:lnSpc>
              <a:spcBef>
                <a:spcPts val="400"/>
              </a:spcBef>
              <a:buClr>
                <a:srgbClr val="3333B2"/>
              </a:buClr>
              <a:buFont typeface="Menlo"/>
              <a:buChar char="•"/>
              <a:tabLst>
                <a:tab pos="552450" algn="l"/>
              </a:tabLst>
            </a:pPr>
            <a:r>
              <a:rPr sz="900" dirty="0">
                <a:latin typeface="Arial"/>
                <a:cs typeface="Arial"/>
              </a:rPr>
              <a:t>The</a:t>
            </a:r>
            <a:r>
              <a:rPr sz="900" spc="-50" dirty="0">
                <a:latin typeface="Arial"/>
                <a:cs typeface="Arial"/>
              </a:rPr>
              <a:t> </a:t>
            </a:r>
            <a:r>
              <a:rPr sz="900" dirty="0">
                <a:latin typeface="Arial"/>
                <a:cs typeface="Arial"/>
              </a:rPr>
              <a:t>leader</a:t>
            </a:r>
            <a:r>
              <a:rPr sz="900" spc="-20" dirty="0">
                <a:latin typeface="Arial"/>
                <a:cs typeface="Arial"/>
              </a:rPr>
              <a:t> </a:t>
            </a:r>
            <a:r>
              <a:rPr sz="900" dirty="0">
                <a:latin typeface="Arial"/>
                <a:cs typeface="Arial"/>
              </a:rPr>
              <a:t>appends</a:t>
            </a:r>
            <a:r>
              <a:rPr sz="900" spc="-20"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request</a:t>
            </a:r>
            <a:r>
              <a:rPr sz="900" spc="-15" dirty="0">
                <a:latin typeface="Arial"/>
                <a:cs typeface="Arial"/>
              </a:rPr>
              <a:t> </a:t>
            </a:r>
            <a:r>
              <a:rPr sz="900" i="1" spc="-65" dirty="0">
                <a:latin typeface="Menlo"/>
                <a:cs typeface="Menlo"/>
              </a:rPr>
              <a:t>⟨</a:t>
            </a:r>
            <a:r>
              <a:rPr sz="900" i="1" spc="-65" dirty="0">
                <a:latin typeface="Arial"/>
                <a:cs typeface="Arial"/>
              </a:rPr>
              <a:t>o,</a:t>
            </a:r>
            <a:r>
              <a:rPr sz="900" i="1" spc="-155" dirty="0">
                <a:latin typeface="Arial"/>
                <a:cs typeface="Arial"/>
              </a:rPr>
              <a:t> </a:t>
            </a:r>
            <a:r>
              <a:rPr sz="900" i="1" spc="-10" dirty="0">
                <a:latin typeface="Arial"/>
                <a:cs typeface="Arial"/>
              </a:rPr>
              <a:t>t</a:t>
            </a:r>
            <a:r>
              <a:rPr sz="900" i="1" spc="-170" dirty="0">
                <a:latin typeface="Arial"/>
                <a:cs typeface="Arial"/>
              </a:rPr>
              <a:t> </a:t>
            </a:r>
            <a:r>
              <a:rPr sz="900" i="1" spc="-10" dirty="0">
                <a:latin typeface="Arial"/>
                <a:cs typeface="Arial"/>
              </a:rPr>
              <a:t>,</a:t>
            </a:r>
            <a:r>
              <a:rPr sz="900" i="1" spc="-155" dirty="0">
                <a:latin typeface="Arial"/>
                <a:cs typeface="Arial"/>
              </a:rPr>
              <a:t> </a:t>
            </a:r>
            <a:r>
              <a:rPr sz="900" i="1" spc="-204" dirty="0">
                <a:latin typeface="Menlo"/>
                <a:cs typeface="Menlo"/>
              </a:rPr>
              <a:t>⟩</a:t>
            </a:r>
            <a:r>
              <a:rPr sz="900" i="1" spc="-295" dirty="0">
                <a:latin typeface="Menlo"/>
                <a:cs typeface="Menlo"/>
              </a:rPr>
              <a:t> </a:t>
            </a:r>
            <a:r>
              <a:rPr sz="900" dirty="0">
                <a:latin typeface="Arial"/>
                <a:cs typeface="Arial"/>
              </a:rPr>
              <a:t>to</a:t>
            </a:r>
            <a:r>
              <a:rPr sz="900" spc="-20" dirty="0">
                <a:latin typeface="Arial"/>
                <a:cs typeface="Arial"/>
              </a:rPr>
              <a:t> </a:t>
            </a:r>
            <a:r>
              <a:rPr sz="900" dirty="0">
                <a:latin typeface="Arial"/>
                <a:cs typeface="Arial"/>
              </a:rPr>
              <a:t>its</a:t>
            </a:r>
            <a:r>
              <a:rPr sz="900" spc="-20" dirty="0">
                <a:latin typeface="Arial"/>
                <a:cs typeface="Arial"/>
              </a:rPr>
              <a:t> </a:t>
            </a:r>
            <a:r>
              <a:rPr sz="900" dirty="0">
                <a:latin typeface="Arial"/>
                <a:cs typeface="Arial"/>
              </a:rPr>
              <a:t>own</a:t>
            </a:r>
            <a:r>
              <a:rPr sz="900" spc="-20" dirty="0">
                <a:latin typeface="Arial"/>
                <a:cs typeface="Arial"/>
              </a:rPr>
              <a:t> </a:t>
            </a:r>
            <a:r>
              <a:rPr sz="900" dirty="0">
                <a:latin typeface="Arial"/>
                <a:cs typeface="Arial"/>
              </a:rPr>
              <a:t>log</a:t>
            </a:r>
            <a:r>
              <a:rPr sz="900" spc="-20" dirty="0">
                <a:latin typeface="Arial"/>
                <a:cs typeface="Arial"/>
              </a:rPr>
              <a:t> </a:t>
            </a:r>
            <a:r>
              <a:rPr sz="900" dirty="0">
                <a:latin typeface="Arial"/>
                <a:cs typeface="Arial"/>
              </a:rPr>
              <a:t>(registering</a:t>
            </a:r>
            <a:r>
              <a:rPr sz="900" spc="-20" dirty="0">
                <a:latin typeface="Arial"/>
                <a:cs typeface="Arial"/>
              </a:rPr>
              <a:t> </a:t>
            </a:r>
            <a:r>
              <a:rPr sz="900" spc="-25" dirty="0">
                <a:latin typeface="Arial"/>
                <a:cs typeface="Arial"/>
              </a:rPr>
              <a:t>the </a:t>
            </a:r>
            <a:r>
              <a:rPr sz="900" dirty="0">
                <a:latin typeface="Arial"/>
                <a:cs typeface="Arial"/>
              </a:rPr>
              <a:t>current</a:t>
            </a:r>
            <a:r>
              <a:rPr sz="900" spc="-20" dirty="0">
                <a:latin typeface="Arial"/>
                <a:cs typeface="Arial"/>
              </a:rPr>
              <a:t> </a:t>
            </a:r>
            <a:r>
              <a:rPr sz="900" dirty="0">
                <a:latin typeface="Arial"/>
                <a:cs typeface="Arial"/>
              </a:rPr>
              <a:t>term</a:t>
            </a:r>
            <a:r>
              <a:rPr sz="900" spc="-15" dirty="0">
                <a:latin typeface="Arial"/>
                <a:cs typeface="Arial"/>
              </a:rPr>
              <a:t> </a:t>
            </a:r>
            <a:r>
              <a:rPr sz="900" i="1" dirty="0">
                <a:latin typeface="Arial"/>
                <a:cs typeface="Arial"/>
              </a:rPr>
              <a:t>t</a:t>
            </a:r>
            <a:r>
              <a:rPr sz="900" i="1" spc="60" dirty="0">
                <a:latin typeface="Arial"/>
                <a:cs typeface="Arial"/>
              </a:rPr>
              <a:t> </a:t>
            </a:r>
            <a:r>
              <a:rPr sz="900" dirty="0">
                <a:latin typeface="Arial"/>
                <a:cs typeface="Arial"/>
              </a:rPr>
              <a:t>and</a:t>
            </a:r>
            <a:r>
              <a:rPr sz="900" spc="-20" dirty="0">
                <a:latin typeface="Arial"/>
                <a:cs typeface="Arial"/>
              </a:rPr>
              <a:t> </a:t>
            </a:r>
            <a:r>
              <a:rPr sz="900" dirty="0">
                <a:latin typeface="Arial"/>
                <a:cs typeface="Arial"/>
              </a:rPr>
              <a:t>length</a:t>
            </a:r>
            <a:r>
              <a:rPr sz="900" spc="-15" dirty="0">
                <a:latin typeface="Arial"/>
                <a:cs typeface="Arial"/>
              </a:rPr>
              <a:t> </a:t>
            </a:r>
            <a:r>
              <a:rPr sz="900" dirty="0">
                <a:latin typeface="Arial"/>
                <a:cs typeface="Arial"/>
              </a:rPr>
              <a:t>of</a:t>
            </a:r>
            <a:r>
              <a:rPr sz="900" spc="-20" dirty="0">
                <a:latin typeface="Arial"/>
                <a:cs typeface="Arial"/>
              </a:rPr>
              <a:t> </a:t>
            </a:r>
            <a:r>
              <a:rPr sz="900" spc="-25" dirty="0">
                <a:latin typeface="Arial"/>
                <a:cs typeface="Arial"/>
              </a:rPr>
              <a:t>).</a:t>
            </a:r>
            <a:endParaRPr sz="900">
              <a:latin typeface="Arial"/>
              <a:cs typeface="Arial"/>
            </a:endParaRPr>
          </a:p>
          <a:p>
            <a:pPr marL="551815" indent="-116839">
              <a:lnSpc>
                <a:spcPct val="100000"/>
              </a:lnSpc>
              <a:spcBef>
                <a:spcPts val="520"/>
              </a:spcBef>
              <a:buClr>
                <a:srgbClr val="3333B2"/>
              </a:buClr>
              <a:buFont typeface="Menlo"/>
              <a:buChar char="•"/>
              <a:tabLst>
                <a:tab pos="552450" algn="l"/>
              </a:tabLst>
            </a:pPr>
            <a:r>
              <a:rPr sz="900" dirty="0">
                <a:latin typeface="Arial"/>
                <a:cs typeface="Arial"/>
              </a:rPr>
              <a:t>The</a:t>
            </a:r>
            <a:r>
              <a:rPr sz="900" spc="-30" dirty="0">
                <a:latin typeface="Arial"/>
                <a:cs typeface="Arial"/>
              </a:rPr>
              <a:t> </a:t>
            </a:r>
            <a:r>
              <a:rPr sz="900" dirty="0">
                <a:latin typeface="Arial"/>
                <a:cs typeface="Arial"/>
              </a:rPr>
              <a:t>log</a:t>
            </a:r>
            <a:r>
              <a:rPr sz="900" spc="-25"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(conceptually)</a:t>
            </a:r>
            <a:r>
              <a:rPr sz="900" spc="-25" dirty="0">
                <a:latin typeface="Arial"/>
                <a:cs typeface="Arial"/>
              </a:rPr>
              <a:t> </a:t>
            </a:r>
            <a:r>
              <a:rPr sz="900" dirty="0">
                <a:latin typeface="Arial"/>
                <a:cs typeface="Arial"/>
              </a:rPr>
              <a:t>broadcast</a:t>
            </a:r>
            <a:r>
              <a:rPr sz="900" spc="-3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other</a:t>
            </a:r>
            <a:r>
              <a:rPr sz="900" spc="-30" dirty="0">
                <a:latin typeface="Arial"/>
                <a:cs typeface="Arial"/>
              </a:rPr>
              <a:t> </a:t>
            </a:r>
            <a:r>
              <a:rPr sz="900" spc="-10" dirty="0">
                <a:latin typeface="Arial"/>
                <a:cs typeface="Arial"/>
              </a:rPr>
              <a:t>servers.</a:t>
            </a:r>
            <a:endParaRPr sz="900">
              <a:latin typeface="Arial"/>
              <a:cs typeface="Arial"/>
            </a:endParaRPr>
          </a:p>
          <a:p>
            <a:pPr marL="551815" indent="-116839">
              <a:lnSpc>
                <a:spcPct val="100000"/>
              </a:lnSpc>
              <a:spcBef>
                <a:spcPts val="525"/>
              </a:spcBef>
              <a:buClr>
                <a:srgbClr val="3333B2"/>
              </a:buClr>
              <a:buFont typeface="Menlo"/>
              <a:buChar char="•"/>
              <a:tabLst>
                <a:tab pos="552450" algn="l"/>
              </a:tabLst>
            </a:pPr>
            <a:r>
              <a:rPr sz="900" dirty="0">
                <a:latin typeface="Arial"/>
                <a:cs typeface="Arial"/>
              </a:rPr>
              <a:t>The</a:t>
            </a:r>
            <a:r>
              <a:rPr sz="900" spc="-25" dirty="0">
                <a:latin typeface="Arial"/>
                <a:cs typeface="Arial"/>
              </a:rPr>
              <a:t> </a:t>
            </a:r>
            <a:r>
              <a:rPr sz="900" dirty="0">
                <a:latin typeface="Arial"/>
                <a:cs typeface="Arial"/>
              </a:rPr>
              <a:t>others</a:t>
            </a:r>
            <a:r>
              <a:rPr sz="900" spc="-25" dirty="0">
                <a:latin typeface="Arial"/>
                <a:cs typeface="Arial"/>
              </a:rPr>
              <a:t> </a:t>
            </a:r>
            <a:r>
              <a:rPr sz="900" dirty="0">
                <a:latin typeface="Arial"/>
                <a:cs typeface="Arial"/>
              </a:rPr>
              <a:t>(conceptually)</a:t>
            </a:r>
            <a:r>
              <a:rPr sz="900" spc="-25" dirty="0">
                <a:latin typeface="Arial"/>
                <a:cs typeface="Arial"/>
              </a:rPr>
              <a:t> </a:t>
            </a:r>
            <a:r>
              <a:rPr sz="900" dirty="0">
                <a:latin typeface="Arial"/>
                <a:cs typeface="Arial"/>
              </a:rPr>
              <a:t>copy</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log</a:t>
            </a:r>
            <a:r>
              <a:rPr sz="900" spc="-25" dirty="0">
                <a:latin typeface="Arial"/>
                <a:cs typeface="Arial"/>
              </a:rPr>
              <a:t> </a:t>
            </a:r>
            <a:r>
              <a:rPr sz="900" dirty="0">
                <a:latin typeface="Arial"/>
                <a:cs typeface="Arial"/>
              </a:rPr>
              <a:t>and</a:t>
            </a:r>
            <a:r>
              <a:rPr sz="900" spc="-25" dirty="0">
                <a:latin typeface="Arial"/>
                <a:cs typeface="Arial"/>
              </a:rPr>
              <a:t> </a:t>
            </a:r>
            <a:r>
              <a:rPr sz="900" spc="-10" dirty="0">
                <a:latin typeface="Arial"/>
                <a:cs typeface="Arial"/>
              </a:rPr>
              <a:t>acknowledge</a:t>
            </a:r>
            <a:r>
              <a:rPr sz="900" spc="-25" dirty="0">
                <a:latin typeface="Arial"/>
                <a:cs typeface="Arial"/>
              </a:rPr>
              <a:t> </a:t>
            </a:r>
            <a:r>
              <a:rPr sz="900" dirty="0">
                <a:latin typeface="Arial"/>
                <a:cs typeface="Arial"/>
              </a:rPr>
              <a:t>the</a:t>
            </a:r>
            <a:r>
              <a:rPr sz="900" spc="-25" dirty="0">
                <a:latin typeface="Arial"/>
                <a:cs typeface="Arial"/>
              </a:rPr>
              <a:t> </a:t>
            </a:r>
            <a:r>
              <a:rPr sz="900" spc="-10" dirty="0">
                <a:latin typeface="Arial"/>
                <a:cs typeface="Arial"/>
              </a:rPr>
              <a:t>receipt.</a:t>
            </a:r>
            <a:endParaRPr sz="900">
              <a:latin typeface="Arial"/>
              <a:cs typeface="Arial"/>
            </a:endParaRPr>
          </a:p>
          <a:p>
            <a:pPr marL="549910" indent="-114935">
              <a:lnSpc>
                <a:spcPct val="100000"/>
              </a:lnSpc>
              <a:spcBef>
                <a:spcPts val="525"/>
              </a:spcBef>
              <a:buClr>
                <a:srgbClr val="3333B2"/>
              </a:buClr>
              <a:buFont typeface="Menlo"/>
              <a:buChar char="•"/>
              <a:tabLst>
                <a:tab pos="550545" algn="l"/>
              </a:tabLst>
            </a:pPr>
            <a:r>
              <a:rPr sz="900" dirty="0">
                <a:latin typeface="Arial"/>
                <a:cs typeface="Arial"/>
              </a:rPr>
              <a:t>When</a:t>
            </a:r>
            <a:r>
              <a:rPr sz="900" spc="-25"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majority</a:t>
            </a:r>
            <a:r>
              <a:rPr sz="900" spc="-20"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acks</a:t>
            </a:r>
            <a:r>
              <a:rPr sz="900" spc="-20" dirty="0">
                <a:latin typeface="Arial"/>
                <a:cs typeface="Arial"/>
              </a:rPr>
              <a:t> </a:t>
            </a:r>
            <a:r>
              <a:rPr sz="900" spc="-10" dirty="0">
                <a:latin typeface="Arial"/>
                <a:cs typeface="Arial"/>
              </a:rPr>
              <a:t>arrives,</a:t>
            </a:r>
            <a:r>
              <a:rPr sz="900" spc="-20"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leader</a:t>
            </a:r>
            <a:r>
              <a:rPr sz="900" spc="-25" dirty="0">
                <a:latin typeface="Arial"/>
                <a:cs typeface="Arial"/>
              </a:rPr>
              <a:t> </a:t>
            </a:r>
            <a:r>
              <a:rPr sz="900" dirty="0">
                <a:latin typeface="Arial"/>
                <a:cs typeface="Arial"/>
              </a:rPr>
              <a:t>commits</a:t>
            </a:r>
            <a:r>
              <a:rPr sz="900" spc="-20" dirty="0">
                <a:latin typeface="Arial"/>
                <a:cs typeface="Arial"/>
              </a:rPr>
              <a:t> </a:t>
            </a:r>
            <a:r>
              <a:rPr sz="900" i="1" spc="-25" dirty="0">
                <a:latin typeface="Arial"/>
                <a:cs typeface="Arial"/>
              </a:rPr>
              <a:t>o</a:t>
            </a:r>
            <a:r>
              <a:rPr sz="900" spc="-25" dirty="0">
                <a:latin typeface="Arial"/>
                <a:cs typeface="Arial"/>
              </a:rPr>
              <a:t>.</a:t>
            </a:r>
            <a:endParaRPr sz="900">
              <a:latin typeface="Arial"/>
              <a:cs typeface="Arial"/>
            </a:endParaRPr>
          </a:p>
          <a:p>
            <a:pPr>
              <a:lnSpc>
                <a:spcPct val="100000"/>
              </a:lnSpc>
              <a:spcBef>
                <a:spcPts val="20"/>
              </a:spcBef>
            </a:pPr>
            <a:endParaRPr sz="1200">
              <a:latin typeface="Arial"/>
              <a:cs typeface="Arial"/>
            </a:endParaRPr>
          </a:p>
          <a:p>
            <a:pPr marL="302260">
              <a:lnSpc>
                <a:spcPct val="100000"/>
              </a:lnSpc>
              <a:spcBef>
                <a:spcPts val="5"/>
              </a:spcBef>
            </a:pPr>
            <a:r>
              <a:rPr sz="1000" spc="-20" dirty="0">
                <a:solidFill>
                  <a:srgbClr val="C80000"/>
                </a:solidFill>
                <a:latin typeface="Arial"/>
                <a:cs typeface="Arial"/>
              </a:rPr>
              <a:t>Note</a:t>
            </a:r>
            <a:endParaRPr sz="1000">
              <a:latin typeface="Arial"/>
              <a:cs typeface="Arial"/>
            </a:endParaRPr>
          </a:p>
          <a:p>
            <a:pPr marL="299720" marR="17780" indent="2540">
              <a:lnSpc>
                <a:spcPts val="1210"/>
              </a:lnSpc>
              <a:spcBef>
                <a:spcPts val="35"/>
              </a:spcBef>
            </a:pPr>
            <a:r>
              <a:rPr sz="900" dirty="0">
                <a:latin typeface="Arial"/>
                <a:cs typeface="Arial"/>
              </a:rPr>
              <a:t>In</a:t>
            </a:r>
            <a:r>
              <a:rPr sz="900" spc="-40" dirty="0">
                <a:latin typeface="Arial"/>
                <a:cs typeface="Arial"/>
              </a:rPr>
              <a:t> </a:t>
            </a:r>
            <a:r>
              <a:rPr sz="900" spc="-10" dirty="0">
                <a:latin typeface="Arial"/>
                <a:cs typeface="Arial"/>
              </a:rPr>
              <a:t>practice,</a:t>
            </a:r>
            <a:r>
              <a:rPr sz="900" spc="-40" dirty="0">
                <a:latin typeface="Arial"/>
                <a:cs typeface="Arial"/>
              </a:rPr>
              <a:t> </a:t>
            </a:r>
            <a:r>
              <a:rPr sz="900" dirty="0">
                <a:latin typeface="Arial"/>
                <a:cs typeface="Arial"/>
              </a:rPr>
              <a:t>only</a:t>
            </a:r>
            <a:r>
              <a:rPr sz="900" spc="-40" dirty="0">
                <a:latin typeface="Arial"/>
                <a:cs typeface="Arial"/>
              </a:rPr>
              <a:t> </a:t>
            </a:r>
            <a:r>
              <a:rPr sz="900" spc="-10" dirty="0">
                <a:latin typeface="Arial"/>
                <a:cs typeface="Arial"/>
              </a:rPr>
              <a:t>updates</a:t>
            </a:r>
            <a:r>
              <a:rPr sz="900" spc="-40" dirty="0">
                <a:latin typeface="Arial"/>
                <a:cs typeface="Arial"/>
              </a:rPr>
              <a:t> </a:t>
            </a:r>
            <a:r>
              <a:rPr sz="900" dirty="0">
                <a:latin typeface="Arial"/>
                <a:cs typeface="Arial"/>
              </a:rPr>
              <a:t>are</a:t>
            </a:r>
            <a:r>
              <a:rPr sz="900" spc="-40" dirty="0">
                <a:latin typeface="Arial"/>
                <a:cs typeface="Arial"/>
              </a:rPr>
              <a:t> </a:t>
            </a:r>
            <a:r>
              <a:rPr sz="900" spc="-10" dirty="0">
                <a:latin typeface="Arial"/>
                <a:cs typeface="Arial"/>
              </a:rPr>
              <a:t>broadcast.</a:t>
            </a:r>
            <a:r>
              <a:rPr sz="900" spc="10" dirty="0">
                <a:latin typeface="Arial"/>
                <a:cs typeface="Arial"/>
              </a:rPr>
              <a:t> </a:t>
            </a:r>
            <a:r>
              <a:rPr sz="900" dirty="0">
                <a:latin typeface="Arial"/>
                <a:cs typeface="Arial"/>
              </a:rPr>
              <a:t>At</a:t>
            </a:r>
            <a:r>
              <a:rPr sz="900" spc="-40" dirty="0">
                <a:latin typeface="Arial"/>
                <a:cs typeface="Arial"/>
              </a:rPr>
              <a:t> </a:t>
            </a:r>
            <a:r>
              <a:rPr sz="900" dirty="0">
                <a:latin typeface="Arial"/>
                <a:cs typeface="Arial"/>
              </a:rPr>
              <a:t>the</a:t>
            </a:r>
            <a:r>
              <a:rPr sz="900" spc="-40" dirty="0">
                <a:latin typeface="Arial"/>
                <a:cs typeface="Arial"/>
              </a:rPr>
              <a:t> </a:t>
            </a:r>
            <a:r>
              <a:rPr sz="900" dirty="0">
                <a:latin typeface="Arial"/>
                <a:cs typeface="Arial"/>
              </a:rPr>
              <a:t>end,</a:t>
            </a:r>
            <a:r>
              <a:rPr sz="900" spc="-35" dirty="0">
                <a:latin typeface="Arial"/>
                <a:cs typeface="Arial"/>
              </a:rPr>
              <a:t> </a:t>
            </a:r>
            <a:r>
              <a:rPr sz="900" spc="-10" dirty="0">
                <a:latin typeface="Arial"/>
                <a:cs typeface="Arial"/>
              </a:rPr>
              <a:t>every</a:t>
            </a:r>
            <a:r>
              <a:rPr sz="900" spc="-40" dirty="0">
                <a:latin typeface="Arial"/>
                <a:cs typeface="Arial"/>
              </a:rPr>
              <a:t> </a:t>
            </a:r>
            <a:r>
              <a:rPr sz="900" spc="-10" dirty="0">
                <a:latin typeface="Arial"/>
                <a:cs typeface="Arial"/>
              </a:rPr>
              <a:t>server</a:t>
            </a:r>
            <a:r>
              <a:rPr sz="900" spc="-40" dirty="0">
                <a:latin typeface="Arial"/>
                <a:cs typeface="Arial"/>
              </a:rPr>
              <a:t> </a:t>
            </a:r>
            <a:r>
              <a:rPr sz="900" dirty="0">
                <a:latin typeface="Arial"/>
                <a:cs typeface="Arial"/>
              </a:rPr>
              <a:t>has</a:t>
            </a:r>
            <a:r>
              <a:rPr sz="900" spc="-40" dirty="0">
                <a:latin typeface="Arial"/>
                <a:cs typeface="Arial"/>
              </a:rPr>
              <a:t> </a:t>
            </a:r>
            <a:r>
              <a:rPr sz="900" dirty="0">
                <a:latin typeface="Arial"/>
                <a:cs typeface="Arial"/>
              </a:rPr>
              <a:t>the</a:t>
            </a:r>
            <a:r>
              <a:rPr sz="900" spc="-40" dirty="0">
                <a:latin typeface="Arial"/>
                <a:cs typeface="Arial"/>
              </a:rPr>
              <a:t> </a:t>
            </a:r>
            <a:r>
              <a:rPr sz="900" spc="-20" dirty="0">
                <a:latin typeface="Arial"/>
                <a:cs typeface="Arial"/>
              </a:rPr>
              <a:t>same </a:t>
            </a:r>
            <a:r>
              <a:rPr sz="900" dirty="0">
                <a:latin typeface="Arial"/>
                <a:cs typeface="Arial"/>
              </a:rPr>
              <a:t>view</a:t>
            </a:r>
            <a:r>
              <a:rPr sz="900" spc="-25" dirty="0">
                <a:latin typeface="Arial"/>
                <a:cs typeface="Arial"/>
              </a:rPr>
              <a:t> </a:t>
            </a:r>
            <a:r>
              <a:rPr sz="900" dirty="0">
                <a:latin typeface="Arial"/>
                <a:cs typeface="Arial"/>
              </a:rPr>
              <a:t>and</a:t>
            </a:r>
            <a:r>
              <a:rPr sz="900" spc="-25" dirty="0">
                <a:latin typeface="Arial"/>
                <a:cs typeface="Arial"/>
              </a:rPr>
              <a:t> </a:t>
            </a:r>
            <a:r>
              <a:rPr sz="900" dirty="0">
                <a:latin typeface="Arial"/>
                <a:cs typeface="Arial"/>
              </a:rPr>
              <a:t>knows</a:t>
            </a:r>
            <a:r>
              <a:rPr sz="900" spc="-25" dirty="0">
                <a:latin typeface="Arial"/>
                <a:cs typeface="Arial"/>
              </a:rPr>
              <a:t> </a:t>
            </a:r>
            <a:r>
              <a:rPr sz="900" dirty="0">
                <a:latin typeface="Arial"/>
                <a:cs typeface="Arial"/>
              </a:rPr>
              <a:t>about</a:t>
            </a:r>
            <a:r>
              <a:rPr sz="900" spc="-25" dirty="0">
                <a:latin typeface="Arial"/>
                <a:cs typeface="Arial"/>
              </a:rPr>
              <a:t> </a:t>
            </a:r>
            <a:r>
              <a:rPr sz="900" dirty="0">
                <a:latin typeface="Arial"/>
                <a:cs typeface="Arial"/>
              </a:rPr>
              <a:t>the</a:t>
            </a:r>
            <a:r>
              <a:rPr sz="900" spc="-25" dirty="0">
                <a:latin typeface="Arial"/>
                <a:cs typeface="Arial"/>
              </a:rPr>
              <a:t> </a:t>
            </a:r>
            <a:r>
              <a:rPr sz="900" i="1" dirty="0">
                <a:latin typeface="Arial"/>
                <a:cs typeface="Arial"/>
              </a:rPr>
              <a:t>c</a:t>
            </a:r>
            <a:r>
              <a:rPr sz="900" i="1" spc="20" dirty="0">
                <a:latin typeface="Arial"/>
                <a:cs typeface="Arial"/>
              </a:rPr>
              <a:t> </a:t>
            </a:r>
            <a:r>
              <a:rPr sz="900" dirty="0">
                <a:latin typeface="Arial"/>
                <a:cs typeface="Arial"/>
              </a:rPr>
              <a:t>committed</a:t>
            </a:r>
            <a:r>
              <a:rPr sz="900" spc="-25" dirty="0">
                <a:latin typeface="Arial"/>
                <a:cs typeface="Arial"/>
              </a:rPr>
              <a:t> </a:t>
            </a:r>
            <a:r>
              <a:rPr sz="900" dirty="0">
                <a:latin typeface="Arial"/>
                <a:cs typeface="Arial"/>
              </a:rPr>
              <a:t>operations.</a:t>
            </a:r>
            <a:r>
              <a:rPr sz="900" spc="30" dirty="0">
                <a:latin typeface="Arial"/>
                <a:cs typeface="Arial"/>
              </a:rPr>
              <a:t> </a:t>
            </a:r>
            <a:r>
              <a:rPr sz="900" dirty="0">
                <a:latin typeface="Arial"/>
                <a:cs typeface="Arial"/>
              </a:rPr>
              <a:t>Note</a:t>
            </a:r>
            <a:r>
              <a:rPr sz="900" spc="-25" dirty="0">
                <a:latin typeface="Arial"/>
                <a:cs typeface="Arial"/>
              </a:rPr>
              <a:t> </a:t>
            </a:r>
            <a:r>
              <a:rPr sz="900" dirty="0">
                <a:latin typeface="Arial"/>
                <a:cs typeface="Arial"/>
              </a:rPr>
              <a:t>that</a:t>
            </a:r>
            <a:r>
              <a:rPr sz="900" spc="-25" dirty="0">
                <a:latin typeface="Arial"/>
                <a:cs typeface="Arial"/>
              </a:rPr>
              <a:t> </a:t>
            </a:r>
            <a:r>
              <a:rPr sz="900" spc="-20" dirty="0">
                <a:latin typeface="Arial"/>
                <a:cs typeface="Arial"/>
              </a:rPr>
              <a:t>effectively,</a:t>
            </a:r>
            <a:r>
              <a:rPr sz="900" spc="-25" dirty="0">
                <a:latin typeface="Arial"/>
                <a:cs typeface="Arial"/>
              </a:rPr>
              <a:t> any </a:t>
            </a:r>
            <a:r>
              <a:rPr sz="900" dirty="0">
                <a:latin typeface="Arial"/>
                <a:cs typeface="Arial"/>
              </a:rPr>
              <a:t>information</a:t>
            </a:r>
            <a:r>
              <a:rPr sz="900" spc="-35" dirty="0">
                <a:latin typeface="Arial"/>
                <a:cs typeface="Arial"/>
              </a:rPr>
              <a:t> </a:t>
            </a:r>
            <a:r>
              <a:rPr sz="900" dirty="0">
                <a:latin typeface="Arial"/>
                <a:cs typeface="Arial"/>
              </a:rPr>
              <a:t>at</a:t>
            </a:r>
            <a:r>
              <a:rPr sz="900" spc="-30" dirty="0">
                <a:latin typeface="Arial"/>
                <a:cs typeface="Arial"/>
              </a:rPr>
              <a:t> </a:t>
            </a:r>
            <a:r>
              <a:rPr sz="900" dirty="0">
                <a:latin typeface="Arial"/>
                <a:cs typeface="Arial"/>
              </a:rPr>
              <a:t>the</a:t>
            </a:r>
            <a:r>
              <a:rPr sz="900" spc="-35" dirty="0">
                <a:latin typeface="Arial"/>
                <a:cs typeface="Arial"/>
              </a:rPr>
              <a:t> </a:t>
            </a:r>
            <a:r>
              <a:rPr sz="900" dirty="0">
                <a:latin typeface="Arial"/>
                <a:cs typeface="Arial"/>
              </a:rPr>
              <a:t>backups</a:t>
            </a:r>
            <a:r>
              <a:rPr sz="900" spc="-30" dirty="0">
                <a:latin typeface="Arial"/>
                <a:cs typeface="Arial"/>
              </a:rPr>
              <a:t> </a:t>
            </a:r>
            <a:r>
              <a:rPr sz="900" dirty="0">
                <a:latin typeface="Arial"/>
                <a:cs typeface="Arial"/>
              </a:rPr>
              <a:t>is</a:t>
            </a:r>
            <a:r>
              <a:rPr sz="900" spc="-30" dirty="0">
                <a:latin typeface="Arial"/>
                <a:cs typeface="Arial"/>
              </a:rPr>
              <a:t> </a:t>
            </a:r>
            <a:r>
              <a:rPr sz="900" spc="-10" dirty="0">
                <a:latin typeface="Arial"/>
                <a:cs typeface="Arial"/>
              </a:rPr>
              <a:t>overwritten.</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134683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Consensus</a:t>
            </a:r>
            <a:r>
              <a:rPr sz="500" spc="-25" dirty="0">
                <a:latin typeface="Arial"/>
                <a:cs typeface="Arial"/>
                <a:hlinkClick r:id="rId4" action="ppaction://hlinksldjump"/>
              </a:rPr>
              <a:t> </a:t>
            </a:r>
            <a:r>
              <a:rPr sz="500" dirty="0">
                <a:latin typeface="Arial"/>
                <a:cs typeface="Arial"/>
                <a:hlinkClick r:id="rId4" action="ppaction://hlinksldjump"/>
              </a:rPr>
              <a:t>in</a:t>
            </a:r>
            <a:r>
              <a:rPr sz="500" spc="-20" dirty="0">
                <a:latin typeface="Arial"/>
                <a:cs typeface="Arial"/>
                <a:hlinkClick r:id="rId4" action="ppaction://hlinksldjump"/>
              </a:rPr>
              <a:t> </a:t>
            </a:r>
            <a:r>
              <a:rPr sz="500" dirty="0">
                <a:latin typeface="Arial"/>
                <a:cs typeface="Arial"/>
                <a:hlinkClick r:id="rId4" action="ppaction://hlinksldjump"/>
              </a:rPr>
              <a:t>faulty</a:t>
            </a:r>
            <a:r>
              <a:rPr sz="500" spc="-25" dirty="0">
                <a:latin typeface="Arial"/>
                <a:cs typeface="Arial"/>
                <a:hlinkClick r:id="rId4" action="ppaction://hlinksldjump"/>
              </a:rPr>
              <a:t> </a:t>
            </a:r>
            <a:r>
              <a:rPr sz="500" dirty="0">
                <a:latin typeface="Arial"/>
                <a:cs typeface="Arial"/>
                <a:hlinkClick r:id="rId4" action="ppaction://hlinksldjump"/>
              </a:rPr>
              <a:t>systems</a:t>
            </a:r>
            <a:r>
              <a:rPr sz="500" spc="-20" dirty="0">
                <a:latin typeface="Arial"/>
                <a:cs typeface="Arial"/>
                <a:hlinkClick r:id="rId4" action="ppaction://hlinksldjump"/>
              </a:rPr>
              <a:t> </a:t>
            </a:r>
            <a:r>
              <a:rPr sz="500" dirty="0">
                <a:latin typeface="Arial"/>
                <a:cs typeface="Arial"/>
                <a:hlinkClick r:id="rId4" action="ppaction://hlinksldjump"/>
              </a:rPr>
              <a:t>with</a:t>
            </a:r>
            <a:r>
              <a:rPr sz="500" spc="-20" dirty="0">
                <a:latin typeface="Arial"/>
                <a:cs typeface="Arial"/>
                <a:hlinkClick r:id="rId4" action="ppaction://hlinksldjump"/>
              </a:rPr>
              <a:t> </a:t>
            </a:r>
            <a:r>
              <a:rPr sz="500" dirty="0">
                <a:latin typeface="Arial"/>
                <a:cs typeface="Arial"/>
                <a:hlinkClick r:id="rId4" action="ppaction://hlinksldjump"/>
              </a:rPr>
              <a:t>crash</a:t>
            </a:r>
            <a:r>
              <a:rPr sz="500" spc="-25" dirty="0">
                <a:latin typeface="Arial"/>
                <a:cs typeface="Arial"/>
                <a:hlinkClick r:id="rId4" action="ppaction://hlinksldjump"/>
              </a:rPr>
              <a:t> </a:t>
            </a:r>
            <a:r>
              <a:rPr sz="500" spc="-10" dirty="0">
                <a:latin typeface="Arial"/>
                <a:cs typeface="Arial"/>
                <a:hlinkClick r:id="rId4" action="ppaction://hlinksldjump"/>
              </a:rPr>
              <a:t>failures</a:t>
            </a:r>
            <a:endParaRPr sz="500">
              <a:latin typeface="Arial"/>
              <a:cs typeface="Arial"/>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95300" y="197711"/>
            <a:ext cx="1924685"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Raft:</a:t>
            </a:r>
            <a:r>
              <a:rPr sz="1200" spc="45" dirty="0">
                <a:solidFill>
                  <a:srgbClr val="3333B2"/>
                </a:solidFill>
                <a:latin typeface="Arial"/>
                <a:cs typeface="Arial"/>
              </a:rPr>
              <a:t> </a:t>
            </a:r>
            <a:r>
              <a:rPr sz="1200" dirty="0">
                <a:solidFill>
                  <a:srgbClr val="3333B2"/>
                </a:solidFill>
                <a:latin typeface="Arial"/>
                <a:cs typeface="Arial"/>
              </a:rPr>
              <a:t>when</a:t>
            </a:r>
            <a:r>
              <a:rPr sz="1200" spc="-25" dirty="0">
                <a:solidFill>
                  <a:srgbClr val="3333B2"/>
                </a:solidFill>
                <a:latin typeface="Arial"/>
                <a:cs typeface="Arial"/>
              </a:rPr>
              <a:t> </a:t>
            </a:r>
            <a:r>
              <a:rPr sz="1200" dirty="0">
                <a:solidFill>
                  <a:srgbClr val="3333B2"/>
                </a:solidFill>
                <a:latin typeface="Arial"/>
                <a:cs typeface="Arial"/>
              </a:rPr>
              <a:t>a</a:t>
            </a:r>
            <a:r>
              <a:rPr sz="1200" spc="-30" dirty="0">
                <a:solidFill>
                  <a:srgbClr val="3333B2"/>
                </a:solidFill>
                <a:latin typeface="Arial"/>
                <a:cs typeface="Arial"/>
              </a:rPr>
              <a:t> </a:t>
            </a:r>
            <a:r>
              <a:rPr sz="1200" dirty="0">
                <a:solidFill>
                  <a:srgbClr val="3333B2"/>
                </a:solidFill>
                <a:latin typeface="Arial"/>
                <a:cs typeface="Arial"/>
              </a:rPr>
              <a:t>leader</a:t>
            </a:r>
            <a:r>
              <a:rPr sz="1200" spc="-25" dirty="0">
                <a:solidFill>
                  <a:srgbClr val="3333B2"/>
                </a:solidFill>
                <a:latin typeface="Arial"/>
                <a:cs typeface="Arial"/>
              </a:rPr>
              <a:t> </a:t>
            </a:r>
            <a:r>
              <a:rPr sz="1200" spc="-10" dirty="0">
                <a:solidFill>
                  <a:srgbClr val="3333B2"/>
                </a:solidFill>
                <a:latin typeface="Arial"/>
                <a:cs typeface="Arial"/>
              </a:rPr>
              <a:t>crashes</a:t>
            </a:r>
            <a:endParaRPr sz="1200">
              <a:latin typeface="Arial"/>
              <a:cs typeface="Arial"/>
            </a:endParaRPr>
          </a:p>
        </p:txBody>
      </p:sp>
      <p:pic>
        <p:nvPicPr>
          <p:cNvPr id="6" name="object 6"/>
          <p:cNvPicPr/>
          <p:nvPr/>
        </p:nvPicPr>
        <p:blipFill>
          <a:blip r:embed="rId4" cstate="print"/>
          <a:stretch>
            <a:fillRect/>
          </a:stretch>
        </p:blipFill>
        <p:spPr>
          <a:xfrm>
            <a:off x="450341" y="533779"/>
            <a:ext cx="3737838" cy="2079181"/>
          </a:xfrm>
          <a:prstGeom prst="rect">
            <a:avLst/>
          </a:prstGeom>
        </p:spPr>
      </p:pic>
      <p:sp>
        <p:nvSpPr>
          <p:cNvPr id="7" name="object 7"/>
          <p:cNvSpPr txBox="1"/>
          <p:nvPr/>
        </p:nvSpPr>
        <p:spPr>
          <a:xfrm>
            <a:off x="321894" y="2597050"/>
            <a:ext cx="3617595" cy="654050"/>
          </a:xfrm>
          <a:prstGeom prst="rect">
            <a:avLst/>
          </a:prstGeom>
        </p:spPr>
        <p:txBody>
          <a:bodyPr vert="horz" wrap="square" lIns="0" tIns="83820" rIns="0" bIns="0" rtlCol="0">
            <a:spAutoFit/>
          </a:bodyPr>
          <a:lstStyle/>
          <a:p>
            <a:pPr marL="38100">
              <a:lnSpc>
                <a:spcPct val="100000"/>
              </a:lnSpc>
              <a:spcBef>
                <a:spcPts val="660"/>
              </a:spcBef>
            </a:pPr>
            <a:r>
              <a:rPr sz="1000" dirty="0">
                <a:solidFill>
                  <a:srgbClr val="C80000"/>
                </a:solidFill>
                <a:latin typeface="Arial"/>
                <a:cs typeface="Arial"/>
              </a:rPr>
              <a:t>Crucial</a:t>
            </a:r>
            <a:r>
              <a:rPr sz="1000" spc="-30" dirty="0">
                <a:solidFill>
                  <a:srgbClr val="C80000"/>
                </a:solidFill>
                <a:latin typeface="Arial"/>
                <a:cs typeface="Arial"/>
              </a:rPr>
              <a:t> </a:t>
            </a:r>
            <a:r>
              <a:rPr sz="1000" spc="-10" dirty="0">
                <a:solidFill>
                  <a:srgbClr val="C80000"/>
                </a:solidFill>
                <a:latin typeface="Arial"/>
                <a:cs typeface="Arial"/>
              </a:rPr>
              <a:t>observations</a:t>
            </a:r>
            <a:endParaRPr sz="1000">
              <a:latin typeface="Arial"/>
              <a:cs typeface="Arial"/>
            </a:endParaRPr>
          </a:p>
          <a:p>
            <a:pPr marL="287020" indent="-116839">
              <a:lnSpc>
                <a:spcPct val="100000"/>
              </a:lnSpc>
              <a:spcBef>
                <a:spcPts val="500"/>
              </a:spcBef>
              <a:buClr>
                <a:srgbClr val="3333B2"/>
              </a:buClr>
              <a:buFont typeface="Menlo"/>
              <a:buChar char="•"/>
              <a:tabLst>
                <a:tab pos="287655" algn="l"/>
              </a:tabLst>
            </a:pPr>
            <a:r>
              <a:rPr sz="900" dirty="0">
                <a:latin typeface="Arial"/>
                <a:cs typeface="Arial"/>
              </a:rPr>
              <a:t>The</a:t>
            </a:r>
            <a:r>
              <a:rPr sz="900" spc="-30" dirty="0">
                <a:latin typeface="Arial"/>
                <a:cs typeface="Arial"/>
              </a:rPr>
              <a:t> </a:t>
            </a:r>
            <a:r>
              <a:rPr sz="900" dirty="0">
                <a:latin typeface="Arial"/>
                <a:cs typeface="Arial"/>
              </a:rPr>
              <a:t>new</a:t>
            </a:r>
            <a:r>
              <a:rPr sz="900" spc="-30" dirty="0">
                <a:latin typeface="Arial"/>
                <a:cs typeface="Arial"/>
              </a:rPr>
              <a:t> </a:t>
            </a:r>
            <a:r>
              <a:rPr sz="900" dirty="0">
                <a:latin typeface="Arial"/>
                <a:cs typeface="Arial"/>
              </a:rPr>
              <a:t>leader</a:t>
            </a:r>
            <a:r>
              <a:rPr sz="900" spc="-25" dirty="0">
                <a:latin typeface="Arial"/>
                <a:cs typeface="Arial"/>
              </a:rPr>
              <a:t> </a:t>
            </a:r>
            <a:r>
              <a:rPr sz="900" dirty="0">
                <a:latin typeface="Arial"/>
                <a:cs typeface="Arial"/>
              </a:rPr>
              <a:t>has</a:t>
            </a:r>
            <a:r>
              <a:rPr sz="900" spc="-30"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most</a:t>
            </a:r>
            <a:r>
              <a:rPr sz="900" spc="-25" dirty="0">
                <a:latin typeface="Arial"/>
                <a:cs typeface="Arial"/>
              </a:rPr>
              <a:t> </a:t>
            </a:r>
            <a:r>
              <a:rPr sz="900" dirty="0">
                <a:latin typeface="Arial"/>
                <a:cs typeface="Arial"/>
              </a:rPr>
              <a:t>committed</a:t>
            </a:r>
            <a:r>
              <a:rPr sz="900" spc="-30" dirty="0">
                <a:latin typeface="Arial"/>
                <a:cs typeface="Arial"/>
              </a:rPr>
              <a:t> </a:t>
            </a:r>
            <a:r>
              <a:rPr sz="900" dirty="0">
                <a:latin typeface="Arial"/>
                <a:cs typeface="Arial"/>
              </a:rPr>
              <a:t>operations</a:t>
            </a:r>
            <a:r>
              <a:rPr sz="900" spc="-30" dirty="0">
                <a:latin typeface="Arial"/>
                <a:cs typeface="Arial"/>
              </a:rPr>
              <a:t> </a:t>
            </a:r>
            <a:r>
              <a:rPr sz="900" dirty="0">
                <a:latin typeface="Arial"/>
                <a:cs typeface="Arial"/>
              </a:rPr>
              <a:t>in</a:t>
            </a:r>
            <a:r>
              <a:rPr sz="900" spc="-25" dirty="0">
                <a:latin typeface="Arial"/>
                <a:cs typeface="Arial"/>
              </a:rPr>
              <a:t> </a:t>
            </a:r>
            <a:r>
              <a:rPr sz="900" dirty="0">
                <a:latin typeface="Arial"/>
                <a:cs typeface="Arial"/>
              </a:rPr>
              <a:t>its</a:t>
            </a:r>
            <a:r>
              <a:rPr sz="900" spc="-30" dirty="0">
                <a:latin typeface="Arial"/>
                <a:cs typeface="Arial"/>
              </a:rPr>
              <a:t> </a:t>
            </a:r>
            <a:r>
              <a:rPr sz="900" spc="-20" dirty="0">
                <a:latin typeface="Arial"/>
                <a:cs typeface="Arial"/>
              </a:rPr>
              <a:t>log.</a:t>
            </a:r>
            <a:endParaRPr sz="900">
              <a:latin typeface="Arial"/>
              <a:cs typeface="Arial"/>
            </a:endParaRPr>
          </a:p>
          <a:p>
            <a:pPr marL="287020" indent="-116839">
              <a:lnSpc>
                <a:spcPct val="100000"/>
              </a:lnSpc>
              <a:spcBef>
                <a:spcPts val="525"/>
              </a:spcBef>
              <a:buClr>
                <a:srgbClr val="3333B2"/>
              </a:buClr>
              <a:buFont typeface="Menlo"/>
              <a:buChar char="•"/>
              <a:tabLst>
                <a:tab pos="287655" algn="l"/>
              </a:tabLst>
            </a:pPr>
            <a:r>
              <a:rPr sz="900" dirty="0">
                <a:latin typeface="Arial"/>
                <a:cs typeface="Arial"/>
              </a:rPr>
              <a:t>Any</a:t>
            </a:r>
            <a:r>
              <a:rPr sz="900" spc="-25" dirty="0">
                <a:latin typeface="Arial"/>
                <a:cs typeface="Arial"/>
              </a:rPr>
              <a:t> </a:t>
            </a:r>
            <a:r>
              <a:rPr sz="900" dirty="0">
                <a:latin typeface="Arial"/>
                <a:cs typeface="Arial"/>
              </a:rPr>
              <a:t>missing</a:t>
            </a:r>
            <a:r>
              <a:rPr sz="900" spc="-20" dirty="0">
                <a:latin typeface="Arial"/>
                <a:cs typeface="Arial"/>
              </a:rPr>
              <a:t> </a:t>
            </a:r>
            <a:r>
              <a:rPr sz="900" dirty="0">
                <a:latin typeface="Arial"/>
                <a:cs typeface="Arial"/>
              </a:rPr>
              <a:t>commits</a:t>
            </a:r>
            <a:r>
              <a:rPr sz="900" spc="-25" dirty="0">
                <a:latin typeface="Arial"/>
                <a:cs typeface="Arial"/>
              </a:rPr>
              <a:t> </a:t>
            </a:r>
            <a:r>
              <a:rPr sz="900" dirty="0">
                <a:latin typeface="Arial"/>
                <a:cs typeface="Arial"/>
              </a:rPr>
              <a:t>will</a:t>
            </a:r>
            <a:r>
              <a:rPr sz="900" spc="-20" dirty="0">
                <a:latin typeface="Arial"/>
                <a:cs typeface="Arial"/>
              </a:rPr>
              <a:t> </a:t>
            </a:r>
            <a:r>
              <a:rPr sz="900" spc="-10" dirty="0">
                <a:latin typeface="Arial"/>
                <a:cs typeface="Arial"/>
              </a:rPr>
              <a:t>eventually</a:t>
            </a:r>
            <a:r>
              <a:rPr sz="900" spc="-20" dirty="0">
                <a:latin typeface="Arial"/>
                <a:cs typeface="Arial"/>
              </a:rPr>
              <a:t> </a:t>
            </a:r>
            <a:r>
              <a:rPr sz="900" dirty="0">
                <a:latin typeface="Arial"/>
                <a:cs typeface="Arial"/>
              </a:rPr>
              <a:t>be</a:t>
            </a:r>
            <a:r>
              <a:rPr sz="900" spc="-25" dirty="0">
                <a:latin typeface="Arial"/>
                <a:cs typeface="Arial"/>
              </a:rPr>
              <a:t> </a:t>
            </a:r>
            <a:r>
              <a:rPr sz="900" dirty="0">
                <a:latin typeface="Arial"/>
                <a:cs typeface="Arial"/>
              </a:rPr>
              <a:t>sent</a:t>
            </a:r>
            <a:r>
              <a:rPr sz="900" spc="-2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other</a:t>
            </a:r>
            <a:r>
              <a:rPr sz="900" spc="-25" dirty="0">
                <a:latin typeface="Arial"/>
                <a:cs typeface="Arial"/>
              </a:rPr>
              <a:t> </a:t>
            </a:r>
            <a:r>
              <a:rPr sz="900" spc="-10" dirty="0">
                <a:latin typeface="Arial"/>
                <a:cs typeface="Arial"/>
              </a:rPr>
              <a:t>backups.</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134683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Consensus</a:t>
            </a:r>
            <a:r>
              <a:rPr sz="500" spc="-25" dirty="0">
                <a:latin typeface="Arial"/>
                <a:cs typeface="Arial"/>
                <a:hlinkClick r:id="rId5" action="ppaction://hlinksldjump"/>
              </a:rPr>
              <a:t> </a:t>
            </a:r>
            <a:r>
              <a:rPr sz="500" dirty="0">
                <a:latin typeface="Arial"/>
                <a:cs typeface="Arial"/>
                <a:hlinkClick r:id="rId5" action="ppaction://hlinksldjump"/>
              </a:rPr>
              <a:t>in</a:t>
            </a:r>
            <a:r>
              <a:rPr sz="500" spc="-20" dirty="0">
                <a:latin typeface="Arial"/>
                <a:cs typeface="Arial"/>
                <a:hlinkClick r:id="rId5" action="ppaction://hlinksldjump"/>
              </a:rPr>
              <a:t> </a:t>
            </a:r>
            <a:r>
              <a:rPr sz="500" dirty="0">
                <a:latin typeface="Arial"/>
                <a:cs typeface="Arial"/>
                <a:hlinkClick r:id="rId5" action="ppaction://hlinksldjump"/>
              </a:rPr>
              <a:t>faulty</a:t>
            </a:r>
            <a:r>
              <a:rPr sz="500" spc="-25" dirty="0">
                <a:latin typeface="Arial"/>
                <a:cs typeface="Arial"/>
                <a:hlinkClick r:id="rId5" action="ppaction://hlinksldjump"/>
              </a:rPr>
              <a:t> </a:t>
            </a:r>
            <a:r>
              <a:rPr sz="500" dirty="0">
                <a:latin typeface="Arial"/>
                <a:cs typeface="Arial"/>
                <a:hlinkClick r:id="rId5" action="ppaction://hlinksldjump"/>
              </a:rPr>
              <a:t>systems</a:t>
            </a:r>
            <a:r>
              <a:rPr sz="500" spc="-20" dirty="0">
                <a:latin typeface="Arial"/>
                <a:cs typeface="Arial"/>
                <a:hlinkClick r:id="rId5" action="ppaction://hlinksldjump"/>
              </a:rPr>
              <a:t> </a:t>
            </a:r>
            <a:r>
              <a:rPr sz="500" dirty="0">
                <a:latin typeface="Arial"/>
                <a:cs typeface="Arial"/>
                <a:hlinkClick r:id="rId5" action="ppaction://hlinksldjump"/>
              </a:rPr>
              <a:t>with</a:t>
            </a:r>
            <a:r>
              <a:rPr sz="500" spc="-20" dirty="0">
                <a:latin typeface="Arial"/>
                <a:cs typeface="Arial"/>
                <a:hlinkClick r:id="rId5" action="ppaction://hlinksldjump"/>
              </a:rPr>
              <a:t> </a:t>
            </a:r>
            <a:r>
              <a:rPr sz="500" dirty="0">
                <a:latin typeface="Arial"/>
                <a:cs typeface="Arial"/>
                <a:hlinkClick r:id="rId5" action="ppaction://hlinksldjump"/>
              </a:rPr>
              <a:t>crash</a:t>
            </a:r>
            <a:r>
              <a:rPr sz="500" spc="-25" dirty="0">
                <a:latin typeface="Arial"/>
                <a:cs typeface="Arial"/>
                <a:hlinkClick r:id="rId5" action="ppaction://hlinksldjump"/>
              </a:rPr>
              <a:t> </a:t>
            </a:r>
            <a:r>
              <a:rPr sz="500" spc="-10" dirty="0">
                <a:latin typeface="Arial"/>
                <a:cs typeface="Arial"/>
                <a:hlinkClick r:id="rId5" action="ppaction://hlinksldjump"/>
              </a:rPr>
              <a:t>failures</a:t>
            </a:r>
            <a:endParaRPr sz="500">
              <a:latin typeface="Arial"/>
              <a:cs typeface="Arial"/>
            </a:endParaRP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74465"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Realistic</a:t>
            </a:r>
            <a:r>
              <a:rPr spc="-55" dirty="0"/>
              <a:t> </a:t>
            </a:r>
            <a:r>
              <a:rPr dirty="0"/>
              <a:t>consensus:</a:t>
            </a:r>
            <a:r>
              <a:rPr spc="15" dirty="0"/>
              <a:t> </a:t>
            </a:r>
            <a:r>
              <a:rPr spc="-10" dirty="0"/>
              <a:t>Paxos</a:t>
            </a:r>
          </a:p>
        </p:txBody>
      </p:sp>
      <p:sp>
        <p:nvSpPr>
          <p:cNvPr id="4" name="object 4"/>
          <p:cNvSpPr txBox="1"/>
          <p:nvPr/>
        </p:nvSpPr>
        <p:spPr>
          <a:xfrm>
            <a:off x="317728" y="514774"/>
            <a:ext cx="3968115" cy="2365375"/>
          </a:xfrm>
          <a:prstGeom prst="rect">
            <a:avLst/>
          </a:prstGeom>
        </p:spPr>
        <p:txBody>
          <a:bodyPr vert="horz" wrap="square" lIns="0" tIns="12065" rIns="0" bIns="0" rtlCol="0">
            <a:spAutoFit/>
          </a:bodyPr>
          <a:lstStyle/>
          <a:p>
            <a:pPr marL="38100">
              <a:lnSpc>
                <a:spcPct val="100000"/>
              </a:lnSpc>
              <a:spcBef>
                <a:spcPts val="95"/>
              </a:spcBef>
            </a:pPr>
            <a:r>
              <a:rPr sz="1000" dirty="0">
                <a:solidFill>
                  <a:srgbClr val="3333B2"/>
                </a:solidFill>
                <a:latin typeface="Arial"/>
                <a:cs typeface="Arial"/>
              </a:rPr>
              <a:t>Assumptions</a:t>
            </a:r>
            <a:r>
              <a:rPr sz="1000" spc="-45" dirty="0">
                <a:solidFill>
                  <a:srgbClr val="3333B2"/>
                </a:solidFill>
                <a:latin typeface="Arial"/>
                <a:cs typeface="Arial"/>
              </a:rPr>
              <a:t> </a:t>
            </a:r>
            <a:r>
              <a:rPr sz="1000" dirty="0">
                <a:solidFill>
                  <a:srgbClr val="3333B2"/>
                </a:solidFill>
                <a:latin typeface="Arial"/>
                <a:cs typeface="Arial"/>
              </a:rPr>
              <a:t>(rather</a:t>
            </a:r>
            <a:r>
              <a:rPr sz="1000" spc="-40" dirty="0">
                <a:solidFill>
                  <a:srgbClr val="3333B2"/>
                </a:solidFill>
                <a:latin typeface="Arial"/>
                <a:cs typeface="Arial"/>
              </a:rPr>
              <a:t> </a:t>
            </a:r>
            <a:r>
              <a:rPr sz="1000" dirty="0">
                <a:solidFill>
                  <a:srgbClr val="3333B2"/>
                </a:solidFill>
                <a:latin typeface="Arial"/>
                <a:cs typeface="Arial"/>
              </a:rPr>
              <a:t>weak</a:t>
            </a:r>
            <a:r>
              <a:rPr sz="1000" spc="-45" dirty="0">
                <a:solidFill>
                  <a:srgbClr val="3333B2"/>
                </a:solidFill>
                <a:latin typeface="Arial"/>
                <a:cs typeface="Arial"/>
              </a:rPr>
              <a:t> </a:t>
            </a:r>
            <a:r>
              <a:rPr sz="1000" dirty="0">
                <a:solidFill>
                  <a:srgbClr val="3333B2"/>
                </a:solidFill>
                <a:latin typeface="Arial"/>
                <a:cs typeface="Arial"/>
              </a:rPr>
              <a:t>ones,</a:t>
            </a:r>
            <a:r>
              <a:rPr sz="1000" spc="-40" dirty="0">
                <a:solidFill>
                  <a:srgbClr val="3333B2"/>
                </a:solidFill>
                <a:latin typeface="Arial"/>
                <a:cs typeface="Arial"/>
              </a:rPr>
              <a:t> </a:t>
            </a:r>
            <a:r>
              <a:rPr sz="1000" dirty="0">
                <a:solidFill>
                  <a:srgbClr val="3333B2"/>
                </a:solidFill>
                <a:latin typeface="Arial"/>
                <a:cs typeface="Arial"/>
              </a:rPr>
              <a:t>and</a:t>
            </a:r>
            <a:r>
              <a:rPr sz="1000" spc="-45" dirty="0">
                <a:solidFill>
                  <a:srgbClr val="3333B2"/>
                </a:solidFill>
                <a:latin typeface="Arial"/>
                <a:cs typeface="Arial"/>
              </a:rPr>
              <a:t> </a:t>
            </a:r>
            <a:r>
              <a:rPr sz="1000" spc="-10" dirty="0">
                <a:solidFill>
                  <a:srgbClr val="3333B2"/>
                </a:solidFill>
                <a:latin typeface="Arial"/>
                <a:cs typeface="Arial"/>
              </a:rPr>
              <a:t>realistic)</a:t>
            </a:r>
            <a:endParaRPr sz="1000">
              <a:latin typeface="Arial"/>
              <a:cs typeface="Arial"/>
            </a:endParaRPr>
          </a:p>
          <a:p>
            <a:pPr marL="291465" indent="-117475">
              <a:lnSpc>
                <a:spcPct val="100000"/>
              </a:lnSpc>
              <a:spcBef>
                <a:spcPts val="695"/>
              </a:spcBef>
              <a:buClr>
                <a:srgbClr val="3333B2"/>
              </a:buClr>
              <a:buFont typeface="Menlo"/>
              <a:buChar char="•"/>
              <a:tabLst>
                <a:tab pos="292100" algn="l"/>
              </a:tabLst>
            </a:pPr>
            <a:r>
              <a:rPr sz="900" dirty="0">
                <a:latin typeface="Arial"/>
                <a:cs typeface="Arial"/>
              </a:rPr>
              <a:t>A</a:t>
            </a:r>
            <a:r>
              <a:rPr sz="900" spc="-30" dirty="0">
                <a:latin typeface="Arial"/>
                <a:cs typeface="Arial"/>
              </a:rPr>
              <a:t> </a:t>
            </a:r>
            <a:r>
              <a:rPr sz="900" dirty="0">
                <a:solidFill>
                  <a:srgbClr val="3333B2"/>
                </a:solidFill>
                <a:latin typeface="Arial"/>
                <a:cs typeface="Arial"/>
              </a:rPr>
              <a:t>partially</a:t>
            </a:r>
            <a:r>
              <a:rPr sz="900" spc="-30" dirty="0">
                <a:solidFill>
                  <a:srgbClr val="3333B2"/>
                </a:solidFill>
                <a:latin typeface="Arial"/>
                <a:cs typeface="Arial"/>
              </a:rPr>
              <a:t> </a:t>
            </a:r>
            <a:r>
              <a:rPr sz="900" dirty="0">
                <a:solidFill>
                  <a:srgbClr val="3333B2"/>
                </a:solidFill>
                <a:latin typeface="Arial"/>
                <a:cs typeface="Arial"/>
              </a:rPr>
              <a:t>synchronous</a:t>
            </a:r>
            <a:r>
              <a:rPr sz="900" spc="-30" dirty="0">
                <a:solidFill>
                  <a:srgbClr val="3333B2"/>
                </a:solidFill>
                <a:latin typeface="Arial"/>
                <a:cs typeface="Arial"/>
              </a:rPr>
              <a:t> </a:t>
            </a:r>
            <a:r>
              <a:rPr sz="900" dirty="0">
                <a:latin typeface="Arial"/>
                <a:cs typeface="Arial"/>
              </a:rPr>
              <a:t>system</a:t>
            </a:r>
            <a:r>
              <a:rPr sz="900" spc="-25" dirty="0">
                <a:latin typeface="Arial"/>
                <a:cs typeface="Arial"/>
              </a:rPr>
              <a:t> </a:t>
            </a:r>
            <a:r>
              <a:rPr sz="900" dirty="0">
                <a:latin typeface="Arial"/>
                <a:cs typeface="Arial"/>
              </a:rPr>
              <a:t>(in</a:t>
            </a:r>
            <a:r>
              <a:rPr sz="900" spc="-30" dirty="0">
                <a:latin typeface="Arial"/>
                <a:cs typeface="Arial"/>
              </a:rPr>
              <a:t> </a:t>
            </a:r>
            <a:r>
              <a:rPr sz="900" dirty="0">
                <a:latin typeface="Arial"/>
                <a:cs typeface="Arial"/>
              </a:rPr>
              <a:t>fact,</a:t>
            </a:r>
            <a:r>
              <a:rPr sz="900" spc="-30" dirty="0">
                <a:latin typeface="Arial"/>
                <a:cs typeface="Arial"/>
              </a:rPr>
              <a:t> </a:t>
            </a:r>
            <a:r>
              <a:rPr sz="900" dirty="0">
                <a:latin typeface="Arial"/>
                <a:cs typeface="Arial"/>
              </a:rPr>
              <a:t>it</a:t>
            </a:r>
            <a:r>
              <a:rPr sz="900" spc="-25" dirty="0">
                <a:latin typeface="Arial"/>
                <a:cs typeface="Arial"/>
              </a:rPr>
              <a:t> </a:t>
            </a:r>
            <a:r>
              <a:rPr sz="900" dirty="0">
                <a:latin typeface="Arial"/>
                <a:cs typeface="Arial"/>
              </a:rPr>
              <a:t>may</a:t>
            </a:r>
            <a:r>
              <a:rPr sz="900" spc="-30" dirty="0">
                <a:latin typeface="Arial"/>
                <a:cs typeface="Arial"/>
              </a:rPr>
              <a:t> </a:t>
            </a:r>
            <a:r>
              <a:rPr sz="900" spc="-10" dirty="0">
                <a:latin typeface="Arial"/>
                <a:cs typeface="Arial"/>
              </a:rPr>
              <a:t>even</a:t>
            </a:r>
            <a:r>
              <a:rPr sz="900" spc="-30" dirty="0">
                <a:latin typeface="Arial"/>
                <a:cs typeface="Arial"/>
              </a:rPr>
              <a:t> </a:t>
            </a:r>
            <a:r>
              <a:rPr sz="900" dirty="0">
                <a:latin typeface="Arial"/>
                <a:cs typeface="Arial"/>
              </a:rPr>
              <a:t>be</a:t>
            </a:r>
            <a:r>
              <a:rPr sz="900" spc="-25" dirty="0">
                <a:latin typeface="Arial"/>
                <a:cs typeface="Arial"/>
              </a:rPr>
              <a:t> </a:t>
            </a:r>
            <a:r>
              <a:rPr sz="900" spc="-10" dirty="0">
                <a:latin typeface="Arial"/>
                <a:cs typeface="Arial"/>
              </a:rPr>
              <a:t>asynchronous).</a:t>
            </a:r>
            <a:endParaRPr sz="900">
              <a:latin typeface="Arial"/>
              <a:cs typeface="Arial"/>
            </a:endParaRPr>
          </a:p>
          <a:p>
            <a:pPr marL="295275" marR="105410" indent="-120650">
              <a:lnSpc>
                <a:spcPct val="111600"/>
              </a:lnSpc>
              <a:spcBef>
                <a:spcPts val="400"/>
              </a:spcBef>
              <a:buFont typeface="Menlo"/>
              <a:buChar char="•"/>
              <a:tabLst>
                <a:tab pos="295910" algn="l"/>
              </a:tabLst>
            </a:pPr>
            <a:r>
              <a:rPr sz="900" spc="-10" dirty="0">
                <a:solidFill>
                  <a:srgbClr val="3333B2"/>
                </a:solidFill>
                <a:latin typeface="Arial"/>
                <a:cs typeface="Arial"/>
              </a:rPr>
              <a:t>Communication</a:t>
            </a:r>
            <a:r>
              <a:rPr sz="900" spc="-35" dirty="0">
                <a:solidFill>
                  <a:srgbClr val="3333B2"/>
                </a:solidFill>
                <a:latin typeface="Arial"/>
                <a:cs typeface="Arial"/>
              </a:rPr>
              <a:t> </a:t>
            </a:r>
            <a:r>
              <a:rPr sz="900" dirty="0">
                <a:latin typeface="Arial"/>
                <a:cs typeface="Arial"/>
              </a:rPr>
              <a:t>between</a:t>
            </a:r>
            <a:r>
              <a:rPr sz="900" spc="-30" dirty="0">
                <a:latin typeface="Arial"/>
                <a:cs typeface="Arial"/>
              </a:rPr>
              <a:t> </a:t>
            </a:r>
            <a:r>
              <a:rPr sz="900" dirty="0">
                <a:latin typeface="Arial"/>
                <a:cs typeface="Arial"/>
              </a:rPr>
              <a:t>processes</a:t>
            </a:r>
            <a:r>
              <a:rPr sz="900" spc="-30" dirty="0">
                <a:latin typeface="Arial"/>
                <a:cs typeface="Arial"/>
              </a:rPr>
              <a:t> </a:t>
            </a:r>
            <a:r>
              <a:rPr sz="900" dirty="0">
                <a:latin typeface="Arial"/>
                <a:cs typeface="Arial"/>
              </a:rPr>
              <a:t>may</a:t>
            </a:r>
            <a:r>
              <a:rPr sz="900" spc="-30" dirty="0">
                <a:latin typeface="Arial"/>
                <a:cs typeface="Arial"/>
              </a:rPr>
              <a:t> </a:t>
            </a:r>
            <a:r>
              <a:rPr sz="900" dirty="0">
                <a:latin typeface="Arial"/>
                <a:cs typeface="Arial"/>
              </a:rPr>
              <a:t>be</a:t>
            </a:r>
            <a:r>
              <a:rPr sz="900" spc="-30" dirty="0">
                <a:latin typeface="Arial"/>
                <a:cs typeface="Arial"/>
              </a:rPr>
              <a:t> </a:t>
            </a:r>
            <a:r>
              <a:rPr sz="900" dirty="0">
                <a:solidFill>
                  <a:srgbClr val="3333B2"/>
                </a:solidFill>
                <a:latin typeface="Arial"/>
                <a:cs typeface="Arial"/>
              </a:rPr>
              <a:t>unreliable</a:t>
            </a:r>
            <a:r>
              <a:rPr sz="900" dirty="0">
                <a:latin typeface="Arial"/>
                <a:cs typeface="Arial"/>
              </a:rPr>
              <a:t>:</a:t>
            </a:r>
            <a:r>
              <a:rPr sz="900" spc="20" dirty="0">
                <a:latin typeface="Arial"/>
                <a:cs typeface="Arial"/>
              </a:rPr>
              <a:t> </a:t>
            </a:r>
            <a:r>
              <a:rPr sz="900" dirty="0">
                <a:latin typeface="Arial"/>
                <a:cs typeface="Arial"/>
              </a:rPr>
              <a:t>messages</a:t>
            </a:r>
            <a:r>
              <a:rPr sz="900" spc="-30" dirty="0">
                <a:latin typeface="Arial"/>
                <a:cs typeface="Arial"/>
              </a:rPr>
              <a:t> </a:t>
            </a:r>
            <a:r>
              <a:rPr sz="900" spc="-25" dirty="0">
                <a:latin typeface="Arial"/>
                <a:cs typeface="Arial"/>
              </a:rPr>
              <a:t>may </a:t>
            </a:r>
            <a:r>
              <a:rPr sz="900" dirty="0">
                <a:latin typeface="Arial"/>
                <a:cs typeface="Arial"/>
              </a:rPr>
              <a:t>be</a:t>
            </a:r>
            <a:r>
              <a:rPr sz="900" spc="-25" dirty="0">
                <a:latin typeface="Arial"/>
                <a:cs typeface="Arial"/>
              </a:rPr>
              <a:t> </a:t>
            </a:r>
            <a:r>
              <a:rPr sz="900" dirty="0">
                <a:latin typeface="Arial"/>
                <a:cs typeface="Arial"/>
              </a:rPr>
              <a:t>lost,</a:t>
            </a:r>
            <a:r>
              <a:rPr sz="900" spc="-25" dirty="0">
                <a:latin typeface="Arial"/>
                <a:cs typeface="Arial"/>
              </a:rPr>
              <a:t> </a:t>
            </a:r>
            <a:r>
              <a:rPr sz="900" dirty="0">
                <a:latin typeface="Arial"/>
                <a:cs typeface="Arial"/>
              </a:rPr>
              <a:t>duplicated,</a:t>
            </a:r>
            <a:r>
              <a:rPr sz="900" spc="-25" dirty="0">
                <a:latin typeface="Arial"/>
                <a:cs typeface="Arial"/>
              </a:rPr>
              <a:t> </a:t>
            </a:r>
            <a:r>
              <a:rPr sz="900" dirty="0">
                <a:latin typeface="Arial"/>
                <a:cs typeface="Arial"/>
              </a:rPr>
              <a:t>or</a:t>
            </a:r>
            <a:r>
              <a:rPr sz="900" spc="-25" dirty="0">
                <a:latin typeface="Arial"/>
                <a:cs typeface="Arial"/>
              </a:rPr>
              <a:t> </a:t>
            </a:r>
            <a:r>
              <a:rPr sz="900" spc="-10" dirty="0">
                <a:latin typeface="Arial"/>
                <a:cs typeface="Arial"/>
              </a:rPr>
              <a:t>reordered.</a:t>
            </a:r>
            <a:endParaRPr sz="900">
              <a:latin typeface="Arial"/>
              <a:cs typeface="Arial"/>
            </a:endParaRPr>
          </a:p>
          <a:p>
            <a:pPr marL="295275" indent="-121285">
              <a:lnSpc>
                <a:spcPct val="100000"/>
              </a:lnSpc>
              <a:spcBef>
                <a:spcPts val="520"/>
              </a:spcBef>
              <a:buFont typeface="Menlo"/>
              <a:buChar char="•"/>
              <a:tabLst>
                <a:tab pos="295910" algn="l"/>
              </a:tabLst>
            </a:pPr>
            <a:r>
              <a:rPr sz="900" dirty="0">
                <a:solidFill>
                  <a:srgbClr val="3333B2"/>
                </a:solidFill>
                <a:latin typeface="Arial"/>
                <a:cs typeface="Arial"/>
              </a:rPr>
              <a:t>Corrupted</a:t>
            </a:r>
            <a:r>
              <a:rPr sz="900" spc="-35" dirty="0">
                <a:solidFill>
                  <a:srgbClr val="3333B2"/>
                </a:solidFill>
                <a:latin typeface="Arial"/>
                <a:cs typeface="Arial"/>
              </a:rPr>
              <a:t> </a:t>
            </a:r>
            <a:r>
              <a:rPr sz="900" dirty="0">
                <a:solidFill>
                  <a:srgbClr val="3333B2"/>
                </a:solidFill>
                <a:latin typeface="Arial"/>
                <a:cs typeface="Arial"/>
              </a:rPr>
              <a:t>message</a:t>
            </a:r>
            <a:r>
              <a:rPr sz="900" spc="-30" dirty="0">
                <a:solidFill>
                  <a:srgbClr val="3333B2"/>
                </a:solidFill>
                <a:latin typeface="Arial"/>
                <a:cs typeface="Arial"/>
              </a:rPr>
              <a:t> </a:t>
            </a:r>
            <a:r>
              <a:rPr sz="900" dirty="0">
                <a:solidFill>
                  <a:srgbClr val="3333B2"/>
                </a:solidFill>
                <a:latin typeface="Arial"/>
                <a:cs typeface="Arial"/>
              </a:rPr>
              <a:t>can</a:t>
            </a:r>
            <a:r>
              <a:rPr sz="900" spc="-35" dirty="0">
                <a:solidFill>
                  <a:srgbClr val="3333B2"/>
                </a:solidFill>
                <a:latin typeface="Arial"/>
                <a:cs typeface="Arial"/>
              </a:rPr>
              <a:t> </a:t>
            </a:r>
            <a:r>
              <a:rPr sz="900" dirty="0">
                <a:solidFill>
                  <a:srgbClr val="3333B2"/>
                </a:solidFill>
                <a:latin typeface="Arial"/>
                <a:cs typeface="Arial"/>
              </a:rPr>
              <a:t>be</a:t>
            </a:r>
            <a:r>
              <a:rPr sz="900" spc="-30" dirty="0">
                <a:solidFill>
                  <a:srgbClr val="3333B2"/>
                </a:solidFill>
                <a:latin typeface="Arial"/>
                <a:cs typeface="Arial"/>
              </a:rPr>
              <a:t> </a:t>
            </a:r>
            <a:r>
              <a:rPr sz="900" dirty="0">
                <a:solidFill>
                  <a:srgbClr val="3333B2"/>
                </a:solidFill>
                <a:latin typeface="Arial"/>
                <a:cs typeface="Arial"/>
              </a:rPr>
              <a:t>detected</a:t>
            </a:r>
            <a:r>
              <a:rPr sz="900" spc="-30" dirty="0">
                <a:solidFill>
                  <a:srgbClr val="3333B2"/>
                </a:solidFill>
                <a:latin typeface="Arial"/>
                <a:cs typeface="Arial"/>
              </a:rPr>
              <a:t> </a:t>
            </a:r>
            <a:r>
              <a:rPr sz="900" dirty="0">
                <a:latin typeface="Arial"/>
                <a:cs typeface="Arial"/>
              </a:rPr>
              <a:t>(and</a:t>
            </a:r>
            <a:r>
              <a:rPr sz="900" spc="-35" dirty="0">
                <a:latin typeface="Arial"/>
                <a:cs typeface="Arial"/>
              </a:rPr>
              <a:t> </a:t>
            </a:r>
            <a:r>
              <a:rPr sz="900" dirty="0">
                <a:latin typeface="Arial"/>
                <a:cs typeface="Arial"/>
              </a:rPr>
              <a:t>thus</a:t>
            </a:r>
            <a:r>
              <a:rPr sz="900" spc="-30" dirty="0">
                <a:latin typeface="Arial"/>
                <a:cs typeface="Arial"/>
              </a:rPr>
              <a:t> </a:t>
            </a:r>
            <a:r>
              <a:rPr sz="900" dirty="0">
                <a:latin typeface="Arial"/>
                <a:cs typeface="Arial"/>
              </a:rPr>
              <a:t>subsequently</a:t>
            </a:r>
            <a:r>
              <a:rPr sz="900" spc="-30" dirty="0">
                <a:latin typeface="Arial"/>
                <a:cs typeface="Arial"/>
              </a:rPr>
              <a:t> </a:t>
            </a:r>
            <a:r>
              <a:rPr sz="900" spc="-10" dirty="0">
                <a:latin typeface="Arial"/>
                <a:cs typeface="Arial"/>
              </a:rPr>
              <a:t>ignored).</a:t>
            </a:r>
            <a:endParaRPr sz="900">
              <a:latin typeface="Arial"/>
              <a:cs typeface="Arial"/>
            </a:endParaRPr>
          </a:p>
          <a:p>
            <a:pPr marL="295275" marR="30480" indent="-120650">
              <a:lnSpc>
                <a:spcPct val="111600"/>
              </a:lnSpc>
              <a:spcBef>
                <a:spcPts val="400"/>
              </a:spcBef>
              <a:buClr>
                <a:srgbClr val="3333B2"/>
              </a:buClr>
              <a:buFont typeface="Menlo"/>
              <a:buChar char="•"/>
              <a:tabLst>
                <a:tab pos="292100" algn="l"/>
              </a:tabLst>
            </a:pPr>
            <a:r>
              <a:rPr sz="900" dirty="0">
                <a:latin typeface="Arial"/>
                <a:cs typeface="Arial"/>
              </a:rPr>
              <a:t>All</a:t>
            </a:r>
            <a:r>
              <a:rPr sz="900" spc="-20" dirty="0">
                <a:latin typeface="Arial"/>
                <a:cs typeface="Arial"/>
              </a:rPr>
              <a:t> </a:t>
            </a:r>
            <a:r>
              <a:rPr sz="900" dirty="0">
                <a:solidFill>
                  <a:srgbClr val="3333B2"/>
                </a:solidFill>
                <a:latin typeface="Arial"/>
                <a:cs typeface="Arial"/>
              </a:rPr>
              <a:t>operations</a:t>
            </a:r>
            <a:r>
              <a:rPr sz="900" spc="-20" dirty="0">
                <a:solidFill>
                  <a:srgbClr val="3333B2"/>
                </a:solidFill>
                <a:latin typeface="Arial"/>
                <a:cs typeface="Arial"/>
              </a:rPr>
              <a:t> </a:t>
            </a:r>
            <a:r>
              <a:rPr sz="900" dirty="0">
                <a:solidFill>
                  <a:srgbClr val="3333B2"/>
                </a:solidFill>
                <a:latin typeface="Arial"/>
                <a:cs typeface="Arial"/>
              </a:rPr>
              <a:t>are</a:t>
            </a:r>
            <a:r>
              <a:rPr sz="900" spc="-20" dirty="0">
                <a:solidFill>
                  <a:srgbClr val="3333B2"/>
                </a:solidFill>
                <a:latin typeface="Arial"/>
                <a:cs typeface="Arial"/>
              </a:rPr>
              <a:t> </a:t>
            </a:r>
            <a:r>
              <a:rPr sz="900" dirty="0">
                <a:solidFill>
                  <a:srgbClr val="3333B2"/>
                </a:solidFill>
                <a:latin typeface="Arial"/>
                <a:cs typeface="Arial"/>
              </a:rPr>
              <a:t>deterministic</a:t>
            </a:r>
            <a:r>
              <a:rPr sz="900" dirty="0">
                <a:latin typeface="Arial"/>
                <a:cs typeface="Arial"/>
              </a:rPr>
              <a:t>:</a:t>
            </a:r>
            <a:r>
              <a:rPr sz="900" spc="40" dirty="0">
                <a:latin typeface="Arial"/>
                <a:cs typeface="Arial"/>
              </a:rPr>
              <a:t> </a:t>
            </a:r>
            <a:r>
              <a:rPr sz="900" dirty="0">
                <a:latin typeface="Arial"/>
                <a:cs typeface="Arial"/>
              </a:rPr>
              <a:t>once</a:t>
            </a:r>
            <a:r>
              <a:rPr sz="900" spc="-20" dirty="0">
                <a:latin typeface="Arial"/>
                <a:cs typeface="Arial"/>
              </a:rPr>
              <a:t> </a:t>
            </a:r>
            <a:r>
              <a:rPr sz="900" dirty="0">
                <a:latin typeface="Arial"/>
                <a:cs typeface="Arial"/>
              </a:rPr>
              <a:t>an</a:t>
            </a:r>
            <a:r>
              <a:rPr sz="900" spc="-20" dirty="0">
                <a:latin typeface="Arial"/>
                <a:cs typeface="Arial"/>
              </a:rPr>
              <a:t> </a:t>
            </a:r>
            <a:r>
              <a:rPr sz="900" spc="-10" dirty="0">
                <a:latin typeface="Arial"/>
                <a:cs typeface="Arial"/>
              </a:rPr>
              <a:t>execution</a:t>
            </a:r>
            <a:r>
              <a:rPr sz="900" spc="-20"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started,</a:t>
            </a:r>
            <a:r>
              <a:rPr sz="900" spc="-20" dirty="0">
                <a:latin typeface="Arial"/>
                <a:cs typeface="Arial"/>
              </a:rPr>
              <a:t> </a:t>
            </a:r>
            <a:r>
              <a:rPr sz="900" dirty="0">
                <a:latin typeface="Arial"/>
                <a:cs typeface="Arial"/>
              </a:rPr>
              <a:t>it</a:t>
            </a:r>
            <a:r>
              <a:rPr sz="900" spc="-15" dirty="0">
                <a:latin typeface="Arial"/>
                <a:cs typeface="Arial"/>
              </a:rPr>
              <a:t> </a:t>
            </a:r>
            <a:r>
              <a:rPr sz="900" dirty="0">
                <a:latin typeface="Arial"/>
                <a:cs typeface="Arial"/>
              </a:rPr>
              <a:t>is</a:t>
            </a:r>
            <a:r>
              <a:rPr sz="900" spc="-20" dirty="0">
                <a:latin typeface="Arial"/>
                <a:cs typeface="Arial"/>
              </a:rPr>
              <a:t> </a:t>
            </a:r>
            <a:r>
              <a:rPr sz="900" spc="-10" dirty="0">
                <a:latin typeface="Arial"/>
                <a:cs typeface="Arial"/>
              </a:rPr>
              <a:t>known exactly</a:t>
            </a:r>
            <a:r>
              <a:rPr sz="900" spc="-15" dirty="0">
                <a:latin typeface="Arial"/>
                <a:cs typeface="Arial"/>
              </a:rPr>
              <a:t> </a:t>
            </a:r>
            <a:r>
              <a:rPr sz="900" dirty="0">
                <a:latin typeface="Arial"/>
                <a:cs typeface="Arial"/>
              </a:rPr>
              <a:t>what</a:t>
            </a:r>
            <a:r>
              <a:rPr sz="900" spc="-10" dirty="0">
                <a:latin typeface="Arial"/>
                <a:cs typeface="Arial"/>
              </a:rPr>
              <a:t> </a:t>
            </a:r>
            <a:r>
              <a:rPr sz="900" dirty="0">
                <a:latin typeface="Arial"/>
                <a:cs typeface="Arial"/>
              </a:rPr>
              <a:t>it</a:t>
            </a:r>
            <a:r>
              <a:rPr sz="900" spc="-10" dirty="0">
                <a:latin typeface="Arial"/>
                <a:cs typeface="Arial"/>
              </a:rPr>
              <a:t> </a:t>
            </a:r>
            <a:r>
              <a:rPr sz="900" dirty="0">
                <a:latin typeface="Arial"/>
                <a:cs typeface="Arial"/>
              </a:rPr>
              <a:t>will</a:t>
            </a:r>
            <a:r>
              <a:rPr sz="900" spc="-10" dirty="0">
                <a:latin typeface="Arial"/>
                <a:cs typeface="Arial"/>
              </a:rPr>
              <a:t> </a:t>
            </a:r>
            <a:r>
              <a:rPr sz="900" spc="-25" dirty="0">
                <a:latin typeface="Arial"/>
                <a:cs typeface="Arial"/>
              </a:rPr>
              <a:t>do.</a:t>
            </a:r>
            <a:endParaRPr sz="900">
              <a:latin typeface="Arial"/>
              <a:cs typeface="Arial"/>
            </a:endParaRPr>
          </a:p>
          <a:p>
            <a:pPr marL="295275" indent="-121285">
              <a:lnSpc>
                <a:spcPct val="100000"/>
              </a:lnSpc>
              <a:spcBef>
                <a:spcPts val="525"/>
              </a:spcBef>
              <a:buClr>
                <a:srgbClr val="3333B2"/>
              </a:buClr>
              <a:buFont typeface="Menlo"/>
              <a:buChar char="•"/>
              <a:tabLst>
                <a:tab pos="295910" algn="l"/>
              </a:tabLst>
            </a:pPr>
            <a:r>
              <a:rPr sz="900" dirty="0">
                <a:latin typeface="Arial"/>
                <a:cs typeface="Arial"/>
              </a:rPr>
              <a:t>Processes</a:t>
            </a:r>
            <a:r>
              <a:rPr sz="900" spc="-35" dirty="0">
                <a:latin typeface="Arial"/>
                <a:cs typeface="Arial"/>
              </a:rPr>
              <a:t> </a:t>
            </a:r>
            <a:r>
              <a:rPr sz="900" dirty="0">
                <a:latin typeface="Arial"/>
                <a:cs typeface="Arial"/>
              </a:rPr>
              <a:t>may</a:t>
            </a:r>
            <a:r>
              <a:rPr sz="900" spc="-30" dirty="0">
                <a:latin typeface="Arial"/>
                <a:cs typeface="Arial"/>
              </a:rPr>
              <a:t> </a:t>
            </a:r>
            <a:r>
              <a:rPr sz="900" dirty="0">
                <a:latin typeface="Arial"/>
                <a:cs typeface="Arial"/>
              </a:rPr>
              <a:t>exhibit</a:t>
            </a:r>
            <a:r>
              <a:rPr sz="900" spc="-30" dirty="0">
                <a:latin typeface="Arial"/>
                <a:cs typeface="Arial"/>
              </a:rPr>
              <a:t> </a:t>
            </a:r>
            <a:r>
              <a:rPr sz="900" dirty="0">
                <a:solidFill>
                  <a:srgbClr val="3333B2"/>
                </a:solidFill>
                <a:latin typeface="Arial"/>
                <a:cs typeface="Arial"/>
              </a:rPr>
              <a:t>crash</a:t>
            </a:r>
            <a:r>
              <a:rPr sz="900" spc="-35" dirty="0">
                <a:solidFill>
                  <a:srgbClr val="3333B2"/>
                </a:solidFill>
                <a:latin typeface="Arial"/>
                <a:cs typeface="Arial"/>
              </a:rPr>
              <a:t> </a:t>
            </a:r>
            <a:r>
              <a:rPr sz="900" spc="-10" dirty="0">
                <a:solidFill>
                  <a:srgbClr val="3333B2"/>
                </a:solidFill>
                <a:latin typeface="Arial"/>
                <a:cs typeface="Arial"/>
              </a:rPr>
              <a:t>failures</a:t>
            </a:r>
            <a:r>
              <a:rPr sz="900" spc="-10" dirty="0">
                <a:latin typeface="Arial"/>
                <a:cs typeface="Arial"/>
              </a:rPr>
              <a:t>,</a:t>
            </a:r>
            <a:r>
              <a:rPr sz="900" spc="-30" dirty="0">
                <a:latin typeface="Arial"/>
                <a:cs typeface="Arial"/>
              </a:rPr>
              <a:t> </a:t>
            </a:r>
            <a:r>
              <a:rPr sz="900" dirty="0">
                <a:latin typeface="Arial"/>
                <a:cs typeface="Arial"/>
              </a:rPr>
              <a:t>but</a:t>
            </a:r>
            <a:r>
              <a:rPr sz="900" spc="-30" dirty="0">
                <a:latin typeface="Arial"/>
                <a:cs typeface="Arial"/>
              </a:rPr>
              <a:t> </a:t>
            </a:r>
            <a:r>
              <a:rPr sz="900" dirty="0">
                <a:solidFill>
                  <a:srgbClr val="C80000"/>
                </a:solidFill>
                <a:latin typeface="Arial"/>
                <a:cs typeface="Arial"/>
              </a:rPr>
              <a:t>not</a:t>
            </a:r>
            <a:r>
              <a:rPr sz="900" spc="-35" dirty="0">
                <a:solidFill>
                  <a:srgbClr val="C80000"/>
                </a:solidFill>
                <a:latin typeface="Arial"/>
                <a:cs typeface="Arial"/>
              </a:rPr>
              <a:t> </a:t>
            </a:r>
            <a:r>
              <a:rPr sz="900" dirty="0">
                <a:solidFill>
                  <a:srgbClr val="C80000"/>
                </a:solidFill>
                <a:latin typeface="Arial"/>
                <a:cs typeface="Arial"/>
              </a:rPr>
              <a:t>arbitrary</a:t>
            </a:r>
            <a:r>
              <a:rPr sz="900" spc="-30" dirty="0">
                <a:solidFill>
                  <a:srgbClr val="C80000"/>
                </a:solidFill>
                <a:latin typeface="Arial"/>
                <a:cs typeface="Arial"/>
              </a:rPr>
              <a:t> </a:t>
            </a:r>
            <a:r>
              <a:rPr sz="900" spc="-10" dirty="0">
                <a:solidFill>
                  <a:srgbClr val="C80000"/>
                </a:solidFill>
                <a:latin typeface="Arial"/>
                <a:cs typeface="Arial"/>
              </a:rPr>
              <a:t>failures</a:t>
            </a:r>
            <a:r>
              <a:rPr sz="900" spc="-10" dirty="0">
                <a:latin typeface="Arial"/>
                <a:cs typeface="Arial"/>
              </a:rPr>
              <a:t>.</a:t>
            </a:r>
            <a:endParaRPr sz="900">
              <a:latin typeface="Arial"/>
              <a:cs typeface="Arial"/>
            </a:endParaRPr>
          </a:p>
          <a:p>
            <a:pPr marL="295275" indent="-121285">
              <a:lnSpc>
                <a:spcPct val="100000"/>
              </a:lnSpc>
              <a:spcBef>
                <a:spcPts val="525"/>
              </a:spcBef>
              <a:buClr>
                <a:srgbClr val="3333B2"/>
              </a:buClr>
              <a:buFont typeface="Menlo"/>
              <a:buChar char="•"/>
              <a:tabLst>
                <a:tab pos="295910" algn="l"/>
              </a:tabLst>
            </a:pPr>
            <a:r>
              <a:rPr sz="900" dirty="0">
                <a:latin typeface="Arial"/>
                <a:cs typeface="Arial"/>
              </a:rPr>
              <a:t>Processes</a:t>
            </a:r>
            <a:r>
              <a:rPr sz="900" spc="-30" dirty="0">
                <a:latin typeface="Arial"/>
                <a:cs typeface="Arial"/>
              </a:rPr>
              <a:t> </a:t>
            </a:r>
            <a:r>
              <a:rPr sz="900" dirty="0">
                <a:solidFill>
                  <a:srgbClr val="C80000"/>
                </a:solidFill>
                <a:latin typeface="Arial"/>
                <a:cs typeface="Arial"/>
              </a:rPr>
              <a:t>do</a:t>
            </a:r>
            <a:r>
              <a:rPr sz="900" spc="-25" dirty="0">
                <a:solidFill>
                  <a:srgbClr val="C80000"/>
                </a:solidFill>
                <a:latin typeface="Arial"/>
                <a:cs typeface="Arial"/>
              </a:rPr>
              <a:t> </a:t>
            </a:r>
            <a:r>
              <a:rPr sz="900" dirty="0">
                <a:solidFill>
                  <a:srgbClr val="C80000"/>
                </a:solidFill>
                <a:latin typeface="Arial"/>
                <a:cs typeface="Arial"/>
              </a:rPr>
              <a:t>not</a:t>
            </a:r>
            <a:r>
              <a:rPr sz="900" spc="-25" dirty="0">
                <a:solidFill>
                  <a:srgbClr val="C80000"/>
                </a:solidFill>
                <a:latin typeface="Arial"/>
                <a:cs typeface="Arial"/>
              </a:rPr>
              <a:t> </a:t>
            </a:r>
            <a:r>
              <a:rPr sz="900" spc="-10" dirty="0">
                <a:solidFill>
                  <a:srgbClr val="C80000"/>
                </a:solidFill>
                <a:latin typeface="Arial"/>
                <a:cs typeface="Arial"/>
              </a:rPr>
              <a:t>collude</a:t>
            </a:r>
            <a:r>
              <a:rPr sz="900" spc="-10" dirty="0">
                <a:latin typeface="Arial"/>
                <a:cs typeface="Arial"/>
              </a:rPr>
              <a:t>.</a:t>
            </a:r>
            <a:endParaRPr sz="900">
              <a:latin typeface="Arial"/>
              <a:cs typeface="Arial"/>
            </a:endParaRPr>
          </a:p>
          <a:p>
            <a:pPr>
              <a:lnSpc>
                <a:spcPct val="100000"/>
              </a:lnSpc>
              <a:spcBef>
                <a:spcPts val="15"/>
              </a:spcBef>
            </a:pPr>
            <a:endParaRPr sz="1050">
              <a:latin typeface="Arial"/>
              <a:cs typeface="Arial"/>
            </a:endParaRPr>
          </a:p>
          <a:p>
            <a:pPr marL="41910">
              <a:lnSpc>
                <a:spcPct val="100000"/>
              </a:lnSpc>
            </a:pPr>
            <a:r>
              <a:rPr sz="1000" spc="-10" dirty="0">
                <a:solidFill>
                  <a:srgbClr val="C80000"/>
                </a:solidFill>
                <a:latin typeface="Arial"/>
                <a:cs typeface="Arial"/>
              </a:rPr>
              <a:t>Understanding</a:t>
            </a:r>
            <a:r>
              <a:rPr sz="1000" spc="50" dirty="0">
                <a:solidFill>
                  <a:srgbClr val="C80000"/>
                </a:solidFill>
                <a:latin typeface="Arial"/>
                <a:cs typeface="Arial"/>
              </a:rPr>
              <a:t> </a:t>
            </a:r>
            <a:r>
              <a:rPr sz="1000" spc="-10" dirty="0">
                <a:solidFill>
                  <a:srgbClr val="C80000"/>
                </a:solidFill>
                <a:latin typeface="Arial"/>
                <a:cs typeface="Arial"/>
              </a:rPr>
              <a:t>Paxos</a:t>
            </a:r>
            <a:endParaRPr sz="1000">
              <a:latin typeface="Arial"/>
              <a:cs typeface="Arial"/>
            </a:endParaRPr>
          </a:p>
          <a:p>
            <a:pPr marL="41910" marR="182880" indent="-5715">
              <a:lnSpc>
                <a:spcPct val="111600"/>
              </a:lnSpc>
              <a:spcBef>
                <a:spcPts val="185"/>
              </a:spcBef>
            </a:pPr>
            <a:r>
              <a:rPr sz="900" dirty="0">
                <a:latin typeface="Arial"/>
                <a:cs typeface="Arial"/>
              </a:rPr>
              <a:t>We</a:t>
            </a:r>
            <a:r>
              <a:rPr sz="900" spc="-35" dirty="0">
                <a:latin typeface="Arial"/>
                <a:cs typeface="Arial"/>
              </a:rPr>
              <a:t> </a:t>
            </a:r>
            <a:r>
              <a:rPr sz="900" dirty="0">
                <a:latin typeface="Arial"/>
                <a:cs typeface="Arial"/>
              </a:rPr>
              <a:t>will</a:t>
            </a:r>
            <a:r>
              <a:rPr sz="900" spc="-30" dirty="0">
                <a:latin typeface="Arial"/>
                <a:cs typeface="Arial"/>
              </a:rPr>
              <a:t> </a:t>
            </a:r>
            <a:r>
              <a:rPr sz="900" dirty="0">
                <a:latin typeface="Arial"/>
                <a:cs typeface="Arial"/>
              </a:rPr>
              <a:t>build</a:t>
            </a:r>
            <a:r>
              <a:rPr sz="900" spc="-30" dirty="0">
                <a:latin typeface="Arial"/>
                <a:cs typeface="Arial"/>
              </a:rPr>
              <a:t> </a:t>
            </a:r>
            <a:r>
              <a:rPr sz="900" dirty="0">
                <a:latin typeface="Arial"/>
                <a:cs typeface="Arial"/>
              </a:rPr>
              <a:t>up</a:t>
            </a:r>
            <a:r>
              <a:rPr sz="900" spc="-35" dirty="0">
                <a:latin typeface="Arial"/>
                <a:cs typeface="Arial"/>
              </a:rPr>
              <a:t> </a:t>
            </a:r>
            <a:r>
              <a:rPr sz="900" spc="-10" dirty="0">
                <a:latin typeface="Arial"/>
                <a:cs typeface="Arial"/>
              </a:rPr>
              <a:t>Paxos</a:t>
            </a:r>
            <a:r>
              <a:rPr sz="900" spc="-30" dirty="0">
                <a:latin typeface="Arial"/>
                <a:cs typeface="Arial"/>
              </a:rPr>
              <a:t> </a:t>
            </a:r>
            <a:r>
              <a:rPr sz="900" dirty="0">
                <a:latin typeface="Arial"/>
                <a:cs typeface="Arial"/>
              </a:rPr>
              <a:t>from</a:t>
            </a:r>
            <a:r>
              <a:rPr sz="900" spc="-30" dirty="0">
                <a:latin typeface="Arial"/>
                <a:cs typeface="Arial"/>
              </a:rPr>
              <a:t> </a:t>
            </a:r>
            <a:r>
              <a:rPr sz="900" dirty="0">
                <a:latin typeface="Arial"/>
                <a:cs typeface="Arial"/>
              </a:rPr>
              <a:t>scratch</a:t>
            </a:r>
            <a:r>
              <a:rPr sz="900" spc="-35"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understand</a:t>
            </a:r>
            <a:r>
              <a:rPr sz="900" spc="-30" dirty="0">
                <a:latin typeface="Arial"/>
                <a:cs typeface="Arial"/>
              </a:rPr>
              <a:t> </a:t>
            </a:r>
            <a:r>
              <a:rPr sz="900" dirty="0">
                <a:latin typeface="Arial"/>
                <a:cs typeface="Arial"/>
              </a:rPr>
              <a:t>where</a:t>
            </a:r>
            <a:r>
              <a:rPr sz="900" spc="-30" dirty="0">
                <a:latin typeface="Arial"/>
                <a:cs typeface="Arial"/>
              </a:rPr>
              <a:t> </a:t>
            </a:r>
            <a:r>
              <a:rPr sz="900" dirty="0">
                <a:latin typeface="Arial"/>
                <a:cs typeface="Arial"/>
              </a:rPr>
              <a:t>many</a:t>
            </a:r>
            <a:r>
              <a:rPr sz="900" spc="-35" dirty="0">
                <a:latin typeface="Arial"/>
                <a:cs typeface="Arial"/>
              </a:rPr>
              <a:t> </a:t>
            </a:r>
            <a:r>
              <a:rPr sz="900" spc="-10" dirty="0">
                <a:latin typeface="Arial"/>
                <a:cs typeface="Arial"/>
              </a:rPr>
              <a:t>consensus </a:t>
            </a:r>
            <a:r>
              <a:rPr sz="900" dirty="0">
                <a:latin typeface="Arial"/>
                <a:cs typeface="Arial"/>
              </a:rPr>
              <a:t>algorithms</a:t>
            </a:r>
            <a:r>
              <a:rPr sz="900" spc="-35" dirty="0">
                <a:latin typeface="Arial"/>
                <a:cs typeface="Arial"/>
              </a:rPr>
              <a:t> </a:t>
            </a:r>
            <a:r>
              <a:rPr sz="900" dirty="0">
                <a:latin typeface="Arial"/>
                <a:cs typeface="Arial"/>
              </a:rPr>
              <a:t>actually</a:t>
            </a:r>
            <a:r>
              <a:rPr sz="900" spc="-35" dirty="0">
                <a:latin typeface="Arial"/>
                <a:cs typeface="Arial"/>
              </a:rPr>
              <a:t> </a:t>
            </a:r>
            <a:r>
              <a:rPr sz="900" dirty="0">
                <a:latin typeface="Arial"/>
                <a:cs typeface="Arial"/>
              </a:rPr>
              <a:t>come</a:t>
            </a:r>
            <a:r>
              <a:rPr sz="900" spc="-30" dirty="0">
                <a:latin typeface="Arial"/>
                <a:cs typeface="Arial"/>
              </a:rPr>
              <a:t> </a:t>
            </a:r>
            <a:r>
              <a:rPr sz="900" spc="-10" dirty="0">
                <a:latin typeface="Arial"/>
                <a:cs typeface="Arial"/>
              </a:rPr>
              <a:t>from.</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484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Example:</a:t>
            </a:r>
            <a:r>
              <a:rPr sz="500" spc="5" dirty="0">
                <a:latin typeface="Arial"/>
                <a:cs typeface="Arial"/>
                <a:hlinkClick r:id="rId4" action="ppaction://hlinksldjump"/>
              </a:rPr>
              <a:t> </a:t>
            </a:r>
            <a:r>
              <a:rPr sz="500" spc="-10" dirty="0">
                <a:latin typeface="Arial"/>
                <a:cs typeface="Arial"/>
                <a:hlinkClick r:id="rId4" action="ppaction://hlinksldjump"/>
              </a:rPr>
              <a:t>Paxos</a:t>
            </a:r>
            <a:endParaRPr sz="500">
              <a:latin typeface="Arial"/>
              <a:cs typeface="Arial"/>
            </a:endParaRP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74465"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spc="-10" dirty="0"/>
              <a:t>Paxos</a:t>
            </a:r>
            <a:r>
              <a:rPr spc="-40" dirty="0"/>
              <a:t> </a:t>
            </a:r>
            <a:r>
              <a:rPr spc="-10" dirty="0"/>
              <a:t>essentials</a:t>
            </a:r>
          </a:p>
        </p:txBody>
      </p:sp>
      <p:sp>
        <p:nvSpPr>
          <p:cNvPr id="4" name="object 4"/>
          <p:cNvSpPr txBox="1"/>
          <p:nvPr/>
        </p:nvSpPr>
        <p:spPr>
          <a:xfrm>
            <a:off x="334594" y="514774"/>
            <a:ext cx="3961129" cy="1475105"/>
          </a:xfrm>
          <a:prstGeom prst="rect">
            <a:avLst/>
          </a:prstGeom>
        </p:spPr>
        <p:txBody>
          <a:bodyPr vert="horz" wrap="square" lIns="0" tIns="12065" rIns="0" bIns="0" rtlCol="0">
            <a:spAutoFit/>
          </a:bodyPr>
          <a:lstStyle/>
          <a:p>
            <a:pPr marL="25400">
              <a:lnSpc>
                <a:spcPct val="100000"/>
              </a:lnSpc>
              <a:spcBef>
                <a:spcPts val="95"/>
              </a:spcBef>
            </a:pPr>
            <a:r>
              <a:rPr sz="1000" dirty="0">
                <a:solidFill>
                  <a:srgbClr val="3333B2"/>
                </a:solidFill>
                <a:latin typeface="Arial"/>
                <a:cs typeface="Arial"/>
              </a:rPr>
              <a:t>Starting</a:t>
            </a:r>
            <a:r>
              <a:rPr sz="1000" spc="-5" dirty="0">
                <a:solidFill>
                  <a:srgbClr val="3333B2"/>
                </a:solidFill>
                <a:latin typeface="Arial"/>
                <a:cs typeface="Arial"/>
              </a:rPr>
              <a:t> </a:t>
            </a:r>
            <a:r>
              <a:rPr sz="1000" spc="-10" dirty="0">
                <a:solidFill>
                  <a:srgbClr val="3333B2"/>
                </a:solidFill>
                <a:latin typeface="Arial"/>
                <a:cs typeface="Arial"/>
              </a:rPr>
              <a:t>point</a:t>
            </a:r>
            <a:endParaRPr sz="1000">
              <a:latin typeface="Arial"/>
              <a:cs typeface="Arial"/>
            </a:endParaRPr>
          </a:p>
          <a:p>
            <a:pPr marL="273050" indent="-115570">
              <a:lnSpc>
                <a:spcPct val="100000"/>
              </a:lnSpc>
              <a:spcBef>
                <a:spcPts val="710"/>
              </a:spcBef>
              <a:buClr>
                <a:srgbClr val="3333B2"/>
              </a:buClr>
              <a:buFont typeface="Menlo"/>
              <a:buChar char="•"/>
              <a:tabLst>
                <a:tab pos="273685" algn="l"/>
              </a:tabLst>
            </a:pPr>
            <a:r>
              <a:rPr sz="900" dirty="0">
                <a:latin typeface="Arial"/>
                <a:cs typeface="Arial"/>
              </a:rPr>
              <a:t>We</a:t>
            </a:r>
            <a:r>
              <a:rPr sz="900" spc="-15" dirty="0">
                <a:latin typeface="Arial"/>
                <a:cs typeface="Arial"/>
              </a:rPr>
              <a:t> </a:t>
            </a:r>
            <a:r>
              <a:rPr sz="900" dirty="0">
                <a:latin typeface="Arial"/>
                <a:cs typeface="Arial"/>
              </a:rPr>
              <a:t>assume</a:t>
            </a:r>
            <a:r>
              <a:rPr sz="900" spc="-10" dirty="0">
                <a:latin typeface="Arial"/>
                <a:cs typeface="Arial"/>
              </a:rPr>
              <a:t> </a:t>
            </a:r>
            <a:r>
              <a:rPr sz="900" dirty="0">
                <a:latin typeface="Arial"/>
                <a:cs typeface="Arial"/>
              </a:rPr>
              <a:t>a</a:t>
            </a:r>
            <a:r>
              <a:rPr sz="900" spc="-15" dirty="0">
                <a:latin typeface="Arial"/>
                <a:cs typeface="Arial"/>
              </a:rPr>
              <a:t> </a:t>
            </a:r>
            <a:r>
              <a:rPr sz="900" spc="-10" dirty="0">
                <a:latin typeface="Arial"/>
                <a:cs typeface="Arial"/>
              </a:rPr>
              <a:t>client-</a:t>
            </a:r>
            <a:r>
              <a:rPr sz="900" dirty="0">
                <a:latin typeface="Arial"/>
                <a:cs typeface="Arial"/>
              </a:rPr>
              <a:t>server</a:t>
            </a:r>
            <a:r>
              <a:rPr sz="900" spc="-10" dirty="0">
                <a:latin typeface="Arial"/>
                <a:cs typeface="Arial"/>
              </a:rPr>
              <a:t> configuration,</a:t>
            </a:r>
            <a:r>
              <a:rPr sz="900" spc="-15" dirty="0">
                <a:latin typeface="Arial"/>
                <a:cs typeface="Arial"/>
              </a:rPr>
              <a:t> </a:t>
            </a:r>
            <a:r>
              <a:rPr sz="900" dirty="0">
                <a:latin typeface="Arial"/>
                <a:cs typeface="Arial"/>
              </a:rPr>
              <a:t>with</a:t>
            </a:r>
            <a:r>
              <a:rPr sz="900" spc="-10" dirty="0">
                <a:latin typeface="Arial"/>
                <a:cs typeface="Arial"/>
              </a:rPr>
              <a:t> </a:t>
            </a:r>
            <a:r>
              <a:rPr sz="900" dirty="0">
                <a:latin typeface="Arial"/>
                <a:cs typeface="Arial"/>
              </a:rPr>
              <a:t>initially</a:t>
            </a:r>
            <a:r>
              <a:rPr sz="900" spc="-10" dirty="0">
                <a:latin typeface="Arial"/>
                <a:cs typeface="Arial"/>
              </a:rPr>
              <a:t> </a:t>
            </a:r>
            <a:r>
              <a:rPr sz="900" dirty="0">
                <a:latin typeface="Arial"/>
                <a:cs typeface="Arial"/>
              </a:rPr>
              <a:t>one</a:t>
            </a:r>
            <a:r>
              <a:rPr sz="900" spc="-15" dirty="0">
                <a:latin typeface="Arial"/>
                <a:cs typeface="Arial"/>
              </a:rPr>
              <a:t> </a:t>
            </a:r>
            <a:r>
              <a:rPr sz="900" dirty="0">
                <a:solidFill>
                  <a:srgbClr val="C80000"/>
                </a:solidFill>
                <a:latin typeface="Arial"/>
                <a:cs typeface="Arial"/>
              </a:rPr>
              <a:t>primary</a:t>
            </a:r>
            <a:r>
              <a:rPr sz="900" spc="-10" dirty="0">
                <a:solidFill>
                  <a:srgbClr val="C80000"/>
                </a:solidFill>
                <a:latin typeface="Arial"/>
                <a:cs typeface="Arial"/>
              </a:rPr>
              <a:t> server</a:t>
            </a:r>
            <a:r>
              <a:rPr sz="900" spc="-10" dirty="0">
                <a:latin typeface="Arial"/>
                <a:cs typeface="Arial"/>
              </a:rPr>
              <a:t>.</a:t>
            </a:r>
            <a:endParaRPr sz="900">
              <a:latin typeface="Arial"/>
              <a:cs typeface="Arial"/>
            </a:endParaRPr>
          </a:p>
          <a:p>
            <a:pPr marL="274320" indent="-116839">
              <a:lnSpc>
                <a:spcPct val="100000"/>
              </a:lnSpc>
              <a:spcBef>
                <a:spcPts val="520"/>
              </a:spcBef>
              <a:buClr>
                <a:srgbClr val="3333B2"/>
              </a:buClr>
              <a:buFont typeface="Menlo"/>
              <a:buChar char="•"/>
              <a:tabLst>
                <a:tab pos="274955" algn="l"/>
              </a:tabLst>
            </a:pPr>
            <a:r>
              <a:rPr sz="900" spc="-65" dirty="0">
                <a:latin typeface="Arial"/>
                <a:cs typeface="Arial"/>
              </a:rPr>
              <a:t>To</a:t>
            </a:r>
            <a:r>
              <a:rPr sz="900" spc="-5" dirty="0">
                <a:latin typeface="Arial"/>
                <a:cs typeface="Arial"/>
              </a:rPr>
              <a:t> </a:t>
            </a:r>
            <a:r>
              <a:rPr sz="900" dirty="0">
                <a:latin typeface="Arial"/>
                <a:cs typeface="Arial"/>
              </a:rPr>
              <a:t>make</a:t>
            </a:r>
            <a:r>
              <a:rPr sz="900" spc="-4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server</a:t>
            </a:r>
            <a:r>
              <a:rPr sz="900" spc="-25" dirty="0">
                <a:latin typeface="Arial"/>
                <a:cs typeface="Arial"/>
              </a:rPr>
              <a:t> </a:t>
            </a:r>
            <a:r>
              <a:rPr sz="900" dirty="0">
                <a:latin typeface="Arial"/>
                <a:cs typeface="Arial"/>
              </a:rPr>
              <a:t>more</a:t>
            </a:r>
            <a:r>
              <a:rPr sz="900" spc="-25" dirty="0">
                <a:latin typeface="Arial"/>
                <a:cs typeface="Arial"/>
              </a:rPr>
              <a:t> </a:t>
            </a:r>
            <a:r>
              <a:rPr sz="900" dirty="0">
                <a:latin typeface="Arial"/>
                <a:cs typeface="Arial"/>
              </a:rPr>
              <a:t>robust,</a:t>
            </a:r>
            <a:r>
              <a:rPr sz="900" spc="-25" dirty="0">
                <a:latin typeface="Arial"/>
                <a:cs typeface="Arial"/>
              </a:rPr>
              <a:t> </a:t>
            </a:r>
            <a:r>
              <a:rPr sz="900" dirty="0">
                <a:latin typeface="Arial"/>
                <a:cs typeface="Arial"/>
              </a:rPr>
              <a:t>we</a:t>
            </a:r>
            <a:r>
              <a:rPr sz="900" spc="-25" dirty="0">
                <a:latin typeface="Arial"/>
                <a:cs typeface="Arial"/>
              </a:rPr>
              <a:t> </a:t>
            </a:r>
            <a:r>
              <a:rPr sz="900" dirty="0">
                <a:latin typeface="Arial"/>
                <a:cs typeface="Arial"/>
              </a:rPr>
              <a:t>start</a:t>
            </a:r>
            <a:r>
              <a:rPr sz="900" spc="-25" dirty="0">
                <a:latin typeface="Arial"/>
                <a:cs typeface="Arial"/>
              </a:rPr>
              <a:t> </a:t>
            </a:r>
            <a:r>
              <a:rPr sz="900" dirty="0">
                <a:latin typeface="Arial"/>
                <a:cs typeface="Arial"/>
              </a:rPr>
              <a:t>with</a:t>
            </a:r>
            <a:r>
              <a:rPr sz="900" spc="-25" dirty="0">
                <a:latin typeface="Arial"/>
                <a:cs typeface="Arial"/>
              </a:rPr>
              <a:t> </a:t>
            </a:r>
            <a:r>
              <a:rPr sz="900" dirty="0">
                <a:latin typeface="Arial"/>
                <a:cs typeface="Arial"/>
              </a:rPr>
              <a:t>adding</a:t>
            </a:r>
            <a:r>
              <a:rPr sz="900" spc="-25" dirty="0">
                <a:latin typeface="Arial"/>
                <a:cs typeface="Arial"/>
              </a:rPr>
              <a:t> </a:t>
            </a:r>
            <a:r>
              <a:rPr sz="900" dirty="0">
                <a:latin typeface="Arial"/>
                <a:cs typeface="Arial"/>
              </a:rPr>
              <a:t>a</a:t>
            </a:r>
            <a:r>
              <a:rPr sz="900" spc="-25" dirty="0">
                <a:latin typeface="Arial"/>
                <a:cs typeface="Arial"/>
              </a:rPr>
              <a:t> </a:t>
            </a:r>
            <a:r>
              <a:rPr sz="900" dirty="0">
                <a:solidFill>
                  <a:srgbClr val="C80000"/>
                </a:solidFill>
                <a:latin typeface="Arial"/>
                <a:cs typeface="Arial"/>
              </a:rPr>
              <a:t>backup</a:t>
            </a:r>
            <a:r>
              <a:rPr sz="900" spc="-25" dirty="0">
                <a:solidFill>
                  <a:srgbClr val="C80000"/>
                </a:solidFill>
                <a:latin typeface="Arial"/>
                <a:cs typeface="Arial"/>
              </a:rPr>
              <a:t> </a:t>
            </a:r>
            <a:r>
              <a:rPr sz="900" spc="-10" dirty="0">
                <a:solidFill>
                  <a:srgbClr val="C80000"/>
                </a:solidFill>
                <a:latin typeface="Arial"/>
                <a:cs typeface="Arial"/>
              </a:rPr>
              <a:t>server</a:t>
            </a:r>
            <a:r>
              <a:rPr sz="900" spc="-10" dirty="0">
                <a:latin typeface="Arial"/>
                <a:cs typeface="Arial"/>
              </a:rPr>
              <a:t>.</a:t>
            </a:r>
            <a:endParaRPr sz="900">
              <a:latin typeface="Arial"/>
              <a:cs typeface="Arial"/>
            </a:endParaRPr>
          </a:p>
          <a:p>
            <a:pPr marL="278130" marR="17780" indent="-120650">
              <a:lnSpc>
                <a:spcPct val="111600"/>
              </a:lnSpc>
              <a:spcBef>
                <a:spcPts val="400"/>
              </a:spcBef>
              <a:buClr>
                <a:srgbClr val="3333B2"/>
              </a:buClr>
              <a:buFont typeface="Menlo"/>
              <a:buChar char="•"/>
              <a:tabLst>
                <a:tab pos="274955" algn="l"/>
              </a:tabLst>
            </a:pPr>
            <a:r>
              <a:rPr sz="900" spc="-65" dirty="0">
                <a:latin typeface="Arial"/>
                <a:cs typeface="Arial"/>
              </a:rPr>
              <a:t>To</a:t>
            </a:r>
            <a:r>
              <a:rPr sz="900" spc="-5" dirty="0">
                <a:latin typeface="Arial"/>
                <a:cs typeface="Arial"/>
              </a:rPr>
              <a:t> </a:t>
            </a:r>
            <a:r>
              <a:rPr sz="900" dirty="0">
                <a:latin typeface="Arial"/>
                <a:cs typeface="Arial"/>
              </a:rPr>
              <a:t>ensure</a:t>
            </a:r>
            <a:r>
              <a:rPr sz="900" spc="-40" dirty="0">
                <a:latin typeface="Arial"/>
                <a:cs typeface="Arial"/>
              </a:rPr>
              <a:t> </a:t>
            </a:r>
            <a:r>
              <a:rPr sz="900" dirty="0">
                <a:latin typeface="Arial"/>
                <a:cs typeface="Arial"/>
              </a:rPr>
              <a:t>that</a:t>
            </a:r>
            <a:r>
              <a:rPr sz="900" spc="-20" dirty="0">
                <a:latin typeface="Arial"/>
                <a:cs typeface="Arial"/>
              </a:rPr>
              <a:t> </a:t>
            </a:r>
            <a:r>
              <a:rPr sz="900" dirty="0">
                <a:latin typeface="Arial"/>
                <a:cs typeface="Arial"/>
              </a:rPr>
              <a:t>all</a:t>
            </a:r>
            <a:r>
              <a:rPr sz="900" spc="-20" dirty="0">
                <a:latin typeface="Arial"/>
                <a:cs typeface="Arial"/>
              </a:rPr>
              <a:t> </a:t>
            </a:r>
            <a:r>
              <a:rPr sz="900" dirty="0">
                <a:latin typeface="Arial"/>
                <a:cs typeface="Arial"/>
              </a:rPr>
              <a:t>commands</a:t>
            </a:r>
            <a:r>
              <a:rPr sz="900" spc="-20" dirty="0">
                <a:latin typeface="Arial"/>
                <a:cs typeface="Arial"/>
              </a:rPr>
              <a:t> </a:t>
            </a:r>
            <a:r>
              <a:rPr sz="900" dirty="0">
                <a:latin typeface="Arial"/>
                <a:cs typeface="Arial"/>
              </a:rPr>
              <a:t>are</a:t>
            </a:r>
            <a:r>
              <a:rPr sz="900" spc="-20" dirty="0">
                <a:latin typeface="Arial"/>
                <a:cs typeface="Arial"/>
              </a:rPr>
              <a:t> </a:t>
            </a:r>
            <a:r>
              <a:rPr sz="900" spc="-10" dirty="0">
                <a:latin typeface="Arial"/>
                <a:cs typeface="Arial"/>
              </a:rPr>
              <a:t>executed</a:t>
            </a:r>
            <a:r>
              <a:rPr sz="900" spc="-20" dirty="0">
                <a:latin typeface="Arial"/>
                <a:cs typeface="Arial"/>
              </a:rPr>
              <a:t> </a:t>
            </a:r>
            <a:r>
              <a:rPr sz="900" dirty="0">
                <a:latin typeface="Arial"/>
                <a:cs typeface="Arial"/>
              </a:rPr>
              <a:t>in</a:t>
            </a:r>
            <a:r>
              <a:rPr sz="900" spc="-20"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same</a:t>
            </a:r>
            <a:r>
              <a:rPr sz="900" spc="-20" dirty="0">
                <a:latin typeface="Arial"/>
                <a:cs typeface="Arial"/>
              </a:rPr>
              <a:t> </a:t>
            </a:r>
            <a:r>
              <a:rPr sz="900" dirty="0">
                <a:latin typeface="Arial"/>
                <a:cs typeface="Arial"/>
              </a:rPr>
              <a:t>order</a:t>
            </a:r>
            <a:r>
              <a:rPr sz="900" spc="-25" dirty="0">
                <a:latin typeface="Arial"/>
                <a:cs typeface="Arial"/>
              </a:rPr>
              <a:t> </a:t>
            </a:r>
            <a:r>
              <a:rPr sz="900" dirty="0">
                <a:latin typeface="Arial"/>
                <a:cs typeface="Arial"/>
              </a:rPr>
              <a:t>at</a:t>
            </a:r>
            <a:r>
              <a:rPr sz="900" spc="-20" dirty="0">
                <a:latin typeface="Arial"/>
                <a:cs typeface="Arial"/>
              </a:rPr>
              <a:t> both </a:t>
            </a:r>
            <a:r>
              <a:rPr sz="900" spc="-10" dirty="0">
                <a:latin typeface="Arial"/>
                <a:cs typeface="Arial"/>
              </a:rPr>
              <a:t>servers,</a:t>
            </a:r>
            <a:r>
              <a:rPr sz="900" spc="-2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primary</a:t>
            </a:r>
            <a:r>
              <a:rPr sz="900" spc="-20" dirty="0">
                <a:latin typeface="Arial"/>
                <a:cs typeface="Arial"/>
              </a:rPr>
              <a:t> </a:t>
            </a:r>
            <a:r>
              <a:rPr sz="900" spc="-10" dirty="0">
                <a:latin typeface="Arial"/>
                <a:cs typeface="Arial"/>
              </a:rPr>
              <a:t>assigns</a:t>
            </a:r>
            <a:r>
              <a:rPr sz="900" spc="-20" dirty="0">
                <a:latin typeface="Arial"/>
                <a:cs typeface="Arial"/>
              </a:rPr>
              <a:t> </a:t>
            </a:r>
            <a:r>
              <a:rPr sz="900" dirty="0">
                <a:solidFill>
                  <a:srgbClr val="3333B2"/>
                </a:solidFill>
                <a:latin typeface="Arial"/>
                <a:cs typeface="Arial"/>
              </a:rPr>
              <a:t>unique</a:t>
            </a:r>
            <a:r>
              <a:rPr sz="900" spc="-20" dirty="0">
                <a:solidFill>
                  <a:srgbClr val="3333B2"/>
                </a:solidFill>
                <a:latin typeface="Arial"/>
                <a:cs typeface="Arial"/>
              </a:rPr>
              <a:t> </a:t>
            </a:r>
            <a:r>
              <a:rPr sz="900" spc="-10" dirty="0">
                <a:solidFill>
                  <a:srgbClr val="3333B2"/>
                </a:solidFill>
                <a:latin typeface="Arial"/>
                <a:cs typeface="Arial"/>
              </a:rPr>
              <a:t>sequence</a:t>
            </a:r>
            <a:r>
              <a:rPr sz="900" spc="-20" dirty="0">
                <a:solidFill>
                  <a:srgbClr val="3333B2"/>
                </a:solidFill>
                <a:latin typeface="Arial"/>
                <a:cs typeface="Arial"/>
              </a:rPr>
              <a:t> </a:t>
            </a:r>
            <a:r>
              <a:rPr sz="900" spc="-10" dirty="0">
                <a:solidFill>
                  <a:srgbClr val="3333B2"/>
                </a:solidFill>
                <a:latin typeface="Arial"/>
                <a:cs typeface="Arial"/>
              </a:rPr>
              <a:t>numbers</a:t>
            </a:r>
            <a:r>
              <a:rPr sz="900" spc="-20" dirty="0">
                <a:solidFill>
                  <a:srgbClr val="3333B2"/>
                </a:solidFill>
                <a:latin typeface="Arial"/>
                <a:cs typeface="Arial"/>
              </a:rPr>
              <a:t> </a:t>
            </a:r>
            <a:r>
              <a:rPr sz="900" dirty="0">
                <a:latin typeface="Arial"/>
                <a:cs typeface="Arial"/>
              </a:rPr>
              <a:t>to</a:t>
            </a:r>
            <a:r>
              <a:rPr sz="900" spc="-20" dirty="0">
                <a:latin typeface="Arial"/>
                <a:cs typeface="Arial"/>
              </a:rPr>
              <a:t> </a:t>
            </a:r>
            <a:r>
              <a:rPr sz="900" dirty="0">
                <a:latin typeface="Arial"/>
                <a:cs typeface="Arial"/>
              </a:rPr>
              <a:t>all</a:t>
            </a:r>
            <a:r>
              <a:rPr sz="900" spc="-20" dirty="0">
                <a:latin typeface="Arial"/>
                <a:cs typeface="Arial"/>
              </a:rPr>
              <a:t> </a:t>
            </a:r>
            <a:r>
              <a:rPr sz="900" spc="-10" dirty="0">
                <a:latin typeface="Arial"/>
                <a:cs typeface="Arial"/>
              </a:rPr>
              <a:t>commands. </a:t>
            </a:r>
            <a:r>
              <a:rPr sz="900" dirty="0">
                <a:latin typeface="Arial"/>
                <a:cs typeface="Arial"/>
              </a:rPr>
              <a:t>In</a:t>
            </a:r>
            <a:r>
              <a:rPr sz="900" spc="-20" dirty="0">
                <a:latin typeface="Arial"/>
                <a:cs typeface="Arial"/>
              </a:rPr>
              <a:t> </a:t>
            </a:r>
            <a:r>
              <a:rPr sz="900" spc="-10" dirty="0">
                <a:latin typeface="Arial"/>
                <a:cs typeface="Arial"/>
              </a:rPr>
              <a:t>Paxos,</a:t>
            </a:r>
            <a:r>
              <a:rPr sz="900" spc="-15"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primary</a:t>
            </a:r>
            <a:r>
              <a:rPr sz="900" spc="-20" dirty="0">
                <a:latin typeface="Arial"/>
                <a:cs typeface="Arial"/>
              </a:rPr>
              <a:t> </a:t>
            </a:r>
            <a:r>
              <a:rPr sz="900" dirty="0">
                <a:latin typeface="Arial"/>
                <a:cs typeface="Arial"/>
              </a:rPr>
              <a:t>is</a:t>
            </a:r>
            <a:r>
              <a:rPr sz="900" spc="-15" dirty="0">
                <a:latin typeface="Arial"/>
                <a:cs typeface="Arial"/>
              </a:rPr>
              <a:t> </a:t>
            </a:r>
            <a:r>
              <a:rPr sz="900" dirty="0">
                <a:latin typeface="Arial"/>
                <a:cs typeface="Arial"/>
              </a:rPr>
              <a:t>called</a:t>
            </a:r>
            <a:r>
              <a:rPr sz="900" spc="-15" dirty="0">
                <a:latin typeface="Arial"/>
                <a:cs typeface="Arial"/>
              </a:rPr>
              <a:t> </a:t>
            </a:r>
            <a:r>
              <a:rPr sz="900" dirty="0">
                <a:latin typeface="Arial"/>
                <a:cs typeface="Arial"/>
              </a:rPr>
              <a:t>the</a:t>
            </a:r>
            <a:r>
              <a:rPr sz="900" spc="-20" dirty="0">
                <a:latin typeface="Arial"/>
                <a:cs typeface="Arial"/>
              </a:rPr>
              <a:t> </a:t>
            </a:r>
            <a:r>
              <a:rPr sz="900" spc="-10" dirty="0">
                <a:solidFill>
                  <a:srgbClr val="C80000"/>
                </a:solidFill>
                <a:latin typeface="Arial"/>
                <a:cs typeface="Arial"/>
              </a:rPr>
              <a:t>leader</a:t>
            </a:r>
            <a:r>
              <a:rPr sz="900" spc="-10" dirty="0">
                <a:latin typeface="Arial"/>
                <a:cs typeface="Arial"/>
              </a:rPr>
              <a:t>.</a:t>
            </a:r>
            <a:endParaRPr sz="900">
              <a:latin typeface="Arial"/>
              <a:cs typeface="Arial"/>
            </a:endParaRPr>
          </a:p>
          <a:p>
            <a:pPr marL="278130" marR="310515" indent="-120650">
              <a:lnSpc>
                <a:spcPct val="111600"/>
              </a:lnSpc>
              <a:spcBef>
                <a:spcPts val="400"/>
              </a:spcBef>
              <a:buClr>
                <a:srgbClr val="3333B2"/>
              </a:buClr>
              <a:buFont typeface="Menlo"/>
              <a:buChar char="•"/>
              <a:tabLst>
                <a:tab pos="274955" algn="l"/>
              </a:tabLst>
            </a:pPr>
            <a:r>
              <a:rPr sz="900" dirty="0">
                <a:latin typeface="Arial"/>
                <a:cs typeface="Arial"/>
              </a:rPr>
              <a:t>Assume</a:t>
            </a:r>
            <a:r>
              <a:rPr sz="900" spc="-30" dirty="0">
                <a:latin typeface="Arial"/>
                <a:cs typeface="Arial"/>
              </a:rPr>
              <a:t> </a:t>
            </a:r>
            <a:r>
              <a:rPr sz="900" dirty="0">
                <a:latin typeface="Arial"/>
                <a:cs typeface="Arial"/>
              </a:rPr>
              <a:t>that</a:t>
            </a:r>
            <a:r>
              <a:rPr sz="900" spc="-30" dirty="0">
                <a:latin typeface="Arial"/>
                <a:cs typeface="Arial"/>
              </a:rPr>
              <a:t> </a:t>
            </a:r>
            <a:r>
              <a:rPr sz="900" dirty="0">
                <a:latin typeface="Arial"/>
                <a:cs typeface="Arial"/>
              </a:rPr>
              <a:t>actual</a:t>
            </a:r>
            <a:r>
              <a:rPr sz="900" spc="-30" dirty="0">
                <a:latin typeface="Arial"/>
                <a:cs typeface="Arial"/>
              </a:rPr>
              <a:t> </a:t>
            </a:r>
            <a:r>
              <a:rPr sz="900" dirty="0">
                <a:latin typeface="Arial"/>
                <a:cs typeface="Arial"/>
              </a:rPr>
              <a:t>commands</a:t>
            </a:r>
            <a:r>
              <a:rPr sz="900" spc="-25" dirty="0">
                <a:latin typeface="Arial"/>
                <a:cs typeface="Arial"/>
              </a:rPr>
              <a:t> </a:t>
            </a:r>
            <a:r>
              <a:rPr sz="900" dirty="0">
                <a:latin typeface="Arial"/>
                <a:cs typeface="Arial"/>
              </a:rPr>
              <a:t>can</a:t>
            </a:r>
            <a:r>
              <a:rPr sz="900" spc="-30" dirty="0">
                <a:latin typeface="Arial"/>
                <a:cs typeface="Arial"/>
              </a:rPr>
              <a:t> </a:t>
            </a:r>
            <a:r>
              <a:rPr sz="900" spc="-10" dirty="0">
                <a:latin typeface="Arial"/>
                <a:cs typeface="Arial"/>
              </a:rPr>
              <a:t>always</a:t>
            </a:r>
            <a:r>
              <a:rPr sz="900" spc="-30" dirty="0">
                <a:latin typeface="Arial"/>
                <a:cs typeface="Arial"/>
              </a:rPr>
              <a:t> </a:t>
            </a:r>
            <a:r>
              <a:rPr sz="900" dirty="0">
                <a:latin typeface="Arial"/>
                <a:cs typeface="Arial"/>
              </a:rPr>
              <a:t>be</a:t>
            </a:r>
            <a:r>
              <a:rPr sz="900" spc="-25" dirty="0">
                <a:latin typeface="Arial"/>
                <a:cs typeface="Arial"/>
              </a:rPr>
              <a:t> </a:t>
            </a:r>
            <a:r>
              <a:rPr sz="900" dirty="0">
                <a:latin typeface="Arial"/>
                <a:cs typeface="Arial"/>
              </a:rPr>
              <a:t>restored</a:t>
            </a:r>
            <a:r>
              <a:rPr sz="900" spc="-30" dirty="0">
                <a:latin typeface="Arial"/>
                <a:cs typeface="Arial"/>
              </a:rPr>
              <a:t> </a:t>
            </a:r>
            <a:r>
              <a:rPr sz="900" dirty="0">
                <a:latin typeface="Arial"/>
                <a:cs typeface="Arial"/>
              </a:rPr>
              <a:t>(either</a:t>
            </a:r>
            <a:r>
              <a:rPr sz="900" spc="-30" dirty="0">
                <a:latin typeface="Arial"/>
                <a:cs typeface="Arial"/>
              </a:rPr>
              <a:t> </a:t>
            </a:r>
            <a:r>
              <a:rPr sz="900" spc="-20" dirty="0">
                <a:latin typeface="Arial"/>
                <a:cs typeface="Arial"/>
              </a:rPr>
              <a:t>from </a:t>
            </a:r>
            <a:r>
              <a:rPr sz="900" dirty="0">
                <a:latin typeface="Arial"/>
                <a:cs typeface="Arial"/>
              </a:rPr>
              <a:t>clients</a:t>
            </a:r>
            <a:r>
              <a:rPr sz="900" spc="-50" dirty="0">
                <a:latin typeface="Arial"/>
                <a:cs typeface="Arial"/>
              </a:rPr>
              <a:t> </a:t>
            </a:r>
            <a:r>
              <a:rPr sz="900" dirty="0">
                <a:latin typeface="Arial"/>
                <a:cs typeface="Arial"/>
              </a:rPr>
              <a:t>or</a:t>
            </a:r>
            <a:r>
              <a:rPr sz="900" spc="-25" dirty="0">
                <a:latin typeface="Arial"/>
                <a:cs typeface="Arial"/>
              </a:rPr>
              <a:t> </a:t>
            </a:r>
            <a:r>
              <a:rPr sz="900" dirty="0">
                <a:latin typeface="Arial"/>
                <a:cs typeface="Arial"/>
              </a:rPr>
              <a:t>servers)</a:t>
            </a:r>
            <a:r>
              <a:rPr sz="900" spc="-25" dirty="0">
                <a:latin typeface="Arial"/>
                <a:cs typeface="Arial"/>
              </a:rPr>
              <a:t> </a:t>
            </a:r>
            <a:r>
              <a:rPr sz="900" i="1" spc="350" dirty="0">
                <a:latin typeface="Menlo"/>
                <a:cs typeface="Menlo"/>
              </a:rPr>
              <a:t>⇒</a:t>
            </a:r>
            <a:r>
              <a:rPr sz="900" i="1" spc="-295" dirty="0">
                <a:latin typeface="Menlo"/>
                <a:cs typeface="Menlo"/>
              </a:rPr>
              <a:t> </a:t>
            </a:r>
            <a:r>
              <a:rPr sz="900" dirty="0">
                <a:latin typeface="Arial"/>
                <a:cs typeface="Arial"/>
              </a:rPr>
              <a:t>we</a:t>
            </a:r>
            <a:r>
              <a:rPr sz="900" spc="-25" dirty="0">
                <a:latin typeface="Arial"/>
                <a:cs typeface="Arial"/>
              </a:rPr>
              <a:t> </a:t>
            </a:r>
            <a:r>
              <a:rPr sz="900" dirty="0">
                <a:latin typeface="Arial"/>
                <a:cs typeface="Arial"/>
              </a:rPr>
              <a:t>consider</a:t>
            </a:r>
            <a:r>
              <a:rPr sz="900" spc="-25" dirty="0">
                <a:latin typeface="Arial"/>
                <a:cs typeface="Arial"/>
              </a:rPr>
              <a:t> </a:t>
            </a:r>
            <a:r>
              <a:rPr sz="900" dirty="0">
                <a:latin typeface="Arial"/>
                <a:cs typeface="Arial"/>
              </a:rPr>
              <a:t>only</a:t>
            </a:r>
            <a:r>
              <a:rPr sz="900" spc="-25" dirty="0">
                <a:latin typeface="Arial"/>
                <a:cs typeface="Arial"/>
              </a:rPr>
              <a:t> </a:t>
            </a:r>
            <a:r>
              <a:rPr sz="900" dirty="0">
                <a:solidFill>
                  <a:srgbClr val="3333B2"/>
                </a:solidFill>
                <a:latin typeface="Arial"/>
                <a:cs typeface="Arial"/>
              </a:rPr>
              <a:t>control</a:t>
            </a:r>
            <a:r>
              <a:rPr sz="900" spc="-25" dirty="0">
                <a:solidFill>
                  <a:srgbClr val="3333B2"/>
                </a:solidFill>
                <a:latin typeface="Arial"/>
                <a:cs typeface="Arial"/>
              </a:rPr>
              <a:t> </a:t>
            </a:r>
            <a:r>
              <a:rPr sz="900" spc="-10" dirty="0">
                <a:solidFill>
                  <a:srgbClr val="3333B2"/>
                </a:solidFill>
                <a:latin typeface="Arial"/>
                <a:cs typeface="Arial"/>
              </a:rPr>
              <a:t>messages</a:t>
            </a:r>
            <a:r>
              <a:rPr sz="900" spc="-10" dirty="0">
                <a:latin typeface="Arial"/>
                <a:cs typeface="Arial"/>
              </a:rPr>
              <a:t>.</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484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Example:</a:t>
            </a:r>
            <a:r>
              <a:rPr sz="500" spc="5" dirty="0">
                <a:latin typeface="Arial"/>
                <a:cs typeface="Arial"/>
                <a:hlinkClick r:id="rId4" action="ppaction://hlinksldjump"/>
              </a:rPr>
              <a:t> </a:t>
            </a:r>
            <a:r>
              <a:rPr sz="500" spc="-10" dirty="0">
                <a:latin typeface="Arial"/>
                <a:cs typeface="Arial"/>
                <a:hlinkClick r:id="rId4" action="ppaction://hlinksldjump"/>
              </a:rPr>
              <a:t>Paxos</a:t>
            </a:r>
            <a:endParaRPr sz="500">
              <a:latin typeface="Arial"/>
              <a:cs typeface="Arial"/>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95300" y="197711"/>
            <a:ext cx="1373505" cy="207645"/>
          </a:xfrm>
          <a:prstGeom prst="rect">
            <a:avLst/>
          </a:prstGeom>
        </p:spPr>
        <p:txBody>
          <a:bodyPr vert="horz" wrap="square" lIns="0" tIns="12065" rIns="0" bIns="0" rtlCol="0">
            <a:spAutoFit/>
          </a:bodyPr>
          <a:lstStyle/>
          <a:p>
            <a:pPr marL="12700">
              <a:lnSpc>
                <a:spcPct val="100000"/>
              </a:lnSpc>
              <a:spcBef>
                <a:spcPts val="95"/>
              </a:spcBef>
            </a:pPr>
            <a:r>
              <a:rPr sz="1200" spc="-55" dirty="0">
                <a:solidFill>
                  <a:srgbClr val="3333B2"/>
                </a:solidFill>
                <a:latin typeface="Arial"/>
                <a:cs typeface="Arial"/>
              </a:rPr>
              <a:t>Two-</a:t>
            </a:r>
            <a:r>
              <a:rPr sz="1200" dirty="0">
                <a:solidFill>
                  <a:srgbClr val="3333B2"/>
                </a:solidFill>
                <a:latin typeface="Arial"/>
                <a:cs typeface="Arial"/>
              </a:rPr>
              <a:t>server</a:t>
            </a:r>
            <a:r>
              <a:rPr sz="1200" spc="-10" dirty="0">
                <a:solidFill>
                  <a:srgbClr val="3333B2"/>
                </a:solidFill>
                <a:latin typeface="Arial"/>
                <a:cs typeface="Arial"/>
              </a:rPr>
              <a:t> situation</a:t>
            </a:r>
            <a:endParaRPr sz="1200">
              <a:latin typeface="Arial"/>
              <a:cs typeface="Arial"/>
            </a:endParaRPr>
          </a:p>
        </p:txBody>
      </p:sp>
      <p:pic>
        <p:nvPicPr>
          <p:cNvPr id="6" name="object 6"/>
          <p:cNvPicPr/>
          <p:nvPr/>
        </p:nvPicPr>
        <p:blipFill>
          <a:blip r:embed="rId4" cstate="print"/>
          <a:stretch>
            <a:fillRect/>
          </a:stretch>
        </p:blipFill>
        <p:spPr>
          <a:xfrm>
            <a:off x="997061" y="583099"/>
            <a:ext cx="2645608" cy="1201974"/>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484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Example:</a:t>
            </a:r>
            <a:r>
              <a:rPr sz="500" spc="5" dirty="0">
                <a:latin typeface="Arial"/>
                <a:cs typeface="Arial"/>
                <a:hlinkClick r:id="rId5" action="ppaction://hlinksldjump"/>
              </a:rPr>
              <a:t> </a:t>
            </a:r>
            <a:r>
              <a:rPr sz="500" spc="-10" dirty="0">
                <a:latin typeface="Arial"/>
                <a:cs typeface="Arial"/>
                <a:hlinkClick r:id="rId5" action="ppaction://hlinksldjump"/>
              </a:rPr>
              <a:t>Paxos</a:t>
            </a:r>
            <a:endParaRPr sz="500">
              <a:latin typeface="Arial"/>
              <a:cs typeface="Arial"/>
            </a:endParaRP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69900" y="197711"/>
            <a:ext cx="4036695" cy="1435100"/>
          </a:xfrm>
          <a:prstGeom prst="rect">
            <a:avLst/>
          </a:prstGeom>
        </p:spPr>
        <p:txBody>
          <a:bodyPr vert="horz" wrap="square" lIns="0" tIns="12065" rIns="0" bIns="0" rtlCol="0">
            <a:spAutoFit/>
          </a:bodyPr>
          <a:lstStyle/>
          <a:p>
            <a:pPr marL="38100">
              <a:lnSpc>
                <a:spcPct val="100000"/>
              </a:lnSpc>
              <a:spcBef>
                <a:spcPts val="95"/>
              </a:spcBef>
            </a:pPr>
            <a:r>
              <a:rPr sz="1200" dirty="0">
                <a:solidFill>
                  <a:srgbClr val="3333B2"/>
                </a:solidFill>
                <a:latin typeface="Arial"/>
                <a:cs typeface="Arial"/>
              </a:rPr>
              <a:t>Handling</a:t>
            </a:r>
            <a:r>
              <a:rPr sz="1200" spc="-40" dirty="0">
                <a:solidFill>
                  <a:srgbClr val="3333B2"/>
                </a:solidFill>
                <a:latin typeface="Arial"/>
                <a:cs typeface="Arial"/>
              </a:rPr>
              <a:t> </a:t>
            </a:r>
            <a:r>
              <a:rPr sz="1200" dirty="0">
                <a:solidFill>
                  <a:srgbClr val="3333B2"/>
                </a:solidFill>
                <a:latin typeface="Arial"/>
                <a:cs typeface="Arial"/>
              </a:rPr>
              <a:t>lost</a:t>
            </a:r>
            <a:r>
              <a:rPr sz="1200" spc="-40" dirty="0">
                <a:solidFill>
                  <a:srgbClr val="3333B2"/>
                </a:solidFill>
                <a:latin typeface="Arial"/>
                <a:cs typeface="Arial"/>
              </a:rPr>
              <a:t> </a:t>
            </a:r>
            <a:r>
              <a:rPr sz="1200" spc="-10" dirty="0">
                <a:solidFill>
                  <a:srgbClr val="3333B2"/>
                </a:solidFill>
                <a:latin typeface="Arial"/>
                <a:cs typeface="Arial"/>
              </a:rPr>
              <a:t>messages</a:t>
            </a:r>
            <a:endParaRPr sz="1200">
              <a:latin typeface="Arial"/>
              <a:cs typeface="Arial"/>
            </a:endParaRPr>
          </a:p>
          <a:p>
            <a:pPr marL="289560">
              <a:lnSpc>
                <a:spcPct val="100000"/>
              </a:lnSpc>
              <a:spcBef>
                <a:spcPts val="1055"/>
              </a:spcBef>
            </a:pPr>
            <a:r>
              <a:rPr sz="1000" dirty="0">
                <a:solidFill>
                  <a:srgbClr val="3333B2"/>
                </a:solidFill>
                <a:latin typeface="Arial"/>
                <a:cs typeface="Arial"/>
              </a:rPr>
              <a:t>Some</a:t>
            </a:r>
            <a:r>
              <a:rPr sz="1000" spc="-30" dirty="0">
                <a:solidFill>
                  <a:srgbClr val="3333B2"/>
                </a:solidFill>
                <a:latin typeface="Arial"/>
                <a:cs typeface="Arial"/>
              </a:rPr>
              <a:t> </a:t>
            </a:r>
            <a:r>
              <a:rPr sz="1000" spc="-10" dirty="0">
                <a:solidFill>
                  <a:srgbClr val="3333B2"/>
                </a:solidFill>
                <a:latin typeface="Arial"/>
                <a:cs typeface="Arial"/>
              </a:rPr>
              <a:t>Paxos</a:t>
            </a:r>
            <a:r>
              <a:rPr sz="1000" spc="-25" dirty="0">
                <a:solidFill>
                  <a:srgbClr val="3333B2"/>
                </a:solidFill>
                <a:latin typeface="Arial"/>
                <a:cs typeface="Arial"/>
              </a:rPr>
              <a:t> </a:t>
            </a:r>
            <a:r>
              <a:rPr sz="1000" spc="-10" dirty="0">
                <a:solidFill>
                  <a:srgbClr val="3333B2"/>
                </a:solidFill>
                <a:latin typeface="Arial"/>
                <a:cs typeface="Arial"/>
              </a:rPr>
              <a:t>terminology</a:t>
            </a:r>
            <a:endParaRPr sz="1000">
              <a:latin typeface="Arial"/>
              <a:cs typeface="Arial"/>
            </a:endParaRPr>
          </a:p>
          <a:p>
            <a:pPr marL="542925" marR="30480" indent="-120650">
              <a:lnSpc>
                <a:spcPct val="111600"/>
              </a:lnSpc>
              <a:spcBef>
                <a:spcPts val="585"/>
              </a:spcBef>
              <a:buClr>
                <a:srgbClr val="3333B2"/>
              </a:buClr>
              <a:buFont typeface="Menlo"/>
              <a:buChar char="•"/>
              <a:tabLst>
                <a:tab pos="539750" algn="l"/>
              </a:tabLst>
            </a:pPr>
            <a:r>
              <a:rPr sz="900" dirty="0">
                <a:latin typeface="Arial"/>
                <a:cs typeface="Arial"/>
              </a:rPr>
              <a:t>The</a:t>
            </a:r>
            <a:r>
              <a:rPr sz="900" spc="5" dirty="0">
                <a:latin typeface="Arial"/>
                <a:cs typeface="Arial"/>
              </a:rPr>
              <a:t> </a:t>
            </a:r>
            <a:r>
              <a:rPr sz="900" dirty="0">
                <a:latin typeface="Arial"/>
                <a:cs typeface="Arial"/>
              </a:rPr>
              <a:t>leader</a:t>
            </a:r>
            <a:r>
              <a:rPr sz="900" spc="10" dirty="0">
                <a:latin typeface="Arial"/>
                <a:cs typeface="Arial"/>
              </a:rPr>
              <a:t> </a:t>
            </a:r>
            <a:r>
              <a:rPr sz="900" dirty="0">
                <a:latin typeface="Arial"/>
                <a:cs typeface="Arial"/>
              </a:rPr>
              <a:t>sends</a:t>
            </a:r>
            <a:r>
              <a:rPr sz="900" spc="10" dirty="0">
                <a:latin typeface="Arial"/>
                <a:cs typeface="Arial"/>
              </a:rPr>
              <a:t> </a:t>
            </a:r>
            <a:r>
              <a:rPr sz="900" dirty="0">
                <a:latin typeface="Arial"/>
                <a:cs typeface="Arial"/>
              </a:rPr>
              <a:t>an</a:t>
            </a:r>
            <a:r>
              <a:rPr sz="900" spc="10" dirty="0">
                <a:latin typeface="Arial"/>
                <a:cs typeface="Arial"/>
              </a:rPr>
              <a:t> </a:t>
            </a:r>
            <a:r>
              <a:rPr sz="900" dirty="0">
                <a:solidFill>
                  <a:srgbClr val="C80000"/>
                </a:solidFill>
                <a:latin typeface="Arial"/>
                <a:cs typeface="Arial"/>
              </a:rPr>
              <a:t>accept</a:t>
            </a:r>
            <a:r>
              <a:rPr sz="900" spc="10" dirty="0">
                <a:solidFill>
                  <a:srgbClr val="C80000"/>
                </a:solidFill>
                <a:latin typeface="Arial"/>
                <a:cs typeface="Arial"/>
              </a:rPr>
              <a:t> </a:t>
            </a:r>
            <a:r>
              <a:rPr sz="900" dirty="0">
                <a:latin typeface="Arial"/>
                <a:cs typeface="Arial"/>
              </a:rPr>
              <a:t>message</a:t>
            </a:r>
            <a:r>
              <a:rPr sz="900" spc="35" dirty="0">
                <a:latin typeface="Arial"/>
                <a:cs typeface="Arial"/>
              </a:rPr>
              <a:t> </a:t>
            </a:r>
            <a:r>
              <a:rPr sz="700" dirty="0">
                <a:latin typeface="Arial"/>
                <a:cs typeface="Arial"/>
              </a:rPr>
              <a:t>ACCEPT</a:t>
            </a:r>
            <a:r>
              <a:rPr sz="900" dirty="0">
                <a:latin typeface="Arial"/>
                <a:cs typeface="Arial"/>
              </a:rPr>
              <a:t>(</a:t>
            </a:r>
            <a:r>
              <a:rPr sz="900" i="1" dirty="0">
                <a:latin typeface="Arial"/>
                <a:cs typeface="Arial"/>
              </a:rPr>
              <a:t>o,</a:t>
            </a:r>
            <a:r>
              <a:rPr sz="900" i="1" spc="-150" dirty="0">
                <a:latin typeface="Arial"/>
                <a:cs typeface="Arial"/>
              </a:rPr>
              <a:t> </a:t>
            </a:r>
            <a:r>
              <a:rPr sz="900" i="1" spc="-10" dirty="0">
                <a:latin typeface="Arial"/>
                <a:cs typeface="Arial"/>
              </a:rPr>
              <a:t>t</a:t>
            </a:r>
            <a:r>
              <a:rPr sz="900" i="1" spc="-165" dirty="0">
                <a:latin typeface="Arial"/>
                <a:cs typeface="Arial"/>
              </a:rPr>
              <a:t> </a:t>
            </a:r>
            <a:r>
              <a:rPr sz="900" spc="55" dirty="0">
                <a:latin typeface="Arial"/>
                <a:cs typeface="Arial"/>
              </a:rPr>
              <a:t>)</a:t>
            </a:r>
            <a:r>
              <a:rPr sz="900" spc="10" dirty="0">
                <a:latin typeface="Arial"/>
                <a:cs typeface="Arial"/>
              </a:rPr>
              <a:t> </a:t>
            </a:r>
            <a:r>
              <a:rPr sz="900" dirty="0">
                <a:latin typeface="Arial"/>
                <a:cs typeface="Arial"/>
              </a:rPr>
              <a:t>to</a:t>
            </a:r>
            <a:r>
              <a:rPr sz="900" spc="10" dirty="0">
                <a:latin typeface="Arial"/>
                <a:cs typeface="Arial"/>
              </a:rPr>
              <a:t> </a:t>
            </a:r>
            <a:r>
              <a:rPr sz="900" dirty="0">
                <a:latin typeface="Arial"/>
                <a:cs typeface="Arial"/>
              </a:rPr>
              <a:t>backups</a:t>
            </a:r>
            <a:r>
              <a:rPr sz="900" spc="10" dirty="0">
                <a:latin typeface="Arial"/>
                <a:cs typeface="Arial"/>
              </a:rPr>
              <a:t> </a:t>
            </a:r>
            <a:r>
              <a:rPr sz="900" spc="-20" dirty="0">
                <a:latin typeface="Arial"/>
                <a:cs typeface="Arial"/>
              </a:rPr>
              <a:t>when </a:t>
            </a:r>
            <a:r>
              <a:rPr sz="900" dirty="0">
                <a:latin typeface="Arial"/>
                <a:cs typeface="Arial"/>
              </a:rPr>
              <a:t>assigning</a:t>
            </a:r>
            <a:r>
              <a:rPr sz="900" spc="-3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timestamp</a:t>
            </a:r>
            <a:r>
              <a:rPr sz="900" spc="-25" dirty="0">
                <a:latin typeface="Arial"/>
                <a:cs typeface="Arial"/>
              </a:rPr>
              <a:t> </a:t>
            </a:r>
            <a:r>
              <a:rPr sz="900" i="1" dirty="0">
                <a:latin typeface="Arial"/>
                <a:cs typeface="Arial"/>
              </a:rPr>
              <a:t>t</a:t>
            </a:r>
            <a:r>
              <a:rPr sz="900" i="1" spc="4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command</a:t>
            </a:r>
            <a:r>
              <a:rPr sz="900" spc="-25" dirty="0">
                <a:latin typeface="Arial"/>
                <a:cs typeface="Arial"/>
              </a:rPr>
              <a:t> </a:t>
            </a:r>
            <a:r>
              <a:rPr sz="900" i="1" spc="-25" dirty="0">
                <a:latin typeface="Arial"/>
                <a:cs typeface="Arial"/>
              </a:rPr>
              <a:t>o</a:t>
            </a:r>
            <a:r>
              <a:rPr sz="900" spc="-25" dirty="0">
                <a:latin typeface="Arial"/>
                <a:cs typeface="Arial"/>
              </a:rPr>
              <a:t>.</a:t>
            </a:r>
            <a:endParaRPr sz="900">
              <a:latin typeface="Arial"/>
              <a:cs typeface="Arial"/>
            </a:endParaRPr>
          </a:p>
          <a:p>
            <a:pPr marL="539115" indent="-116839">
              <a:lnSpc>
                <a:spcPct val="100000"/>
              </a:lnSpc>
              <a:spcBef>
                <a:spcPts val="525"/>
              </a:spcBef>
              <a:buClr>
                <a:srgbClr val="3333B2"/>
              </a:buClr>
              <a:buFont typeface="Menlo"/>
              <a:buChar char="•"/>
              <a:tabLst>
                <a:tab pos="539750" algn="l"/>
              </a:tabLst>
            </a:pPr>
            <a:r>
              <a:rPr sz="900" dirty="0">
                <a:latin typeface="Arial"/>
                <a:cs typeface="Arial"/>
              </a:rPr>
              <a:t>A</a:t>
            </a:r>
            <a:r>
              <a:rPr sz="900" spc="5" dirty="0">
                <a:latin typeface="Arial"/>
                <a:cs typeface="Arial"/>
              </a:rPr>
              <a:t> </a:t>
            </a:r>
            <a:r>
              <a:rPr sz="900" dirty="0">
                <a:latin typeface="Arial"/>
                <a:cs typeface="Arial"/>
              </a:rPr>
              <a:t>backup</a:t>
            </a:r>
            <a:r>
              <a:rPr sz="900" spc="5" dirty="0">
                <a:latin typeface="Arial"/>
                <a:cs typeface="Arial"/>
              </a:rPr>
              <a:t> </a:t>
            </a:r>
            <a:r>
              <a:rPr sz="900" dirty="0">
                <a:latin typeface="Arial"/>
                <a:cs typeface="Arial"/>
              </a:rPr>
              <a:t>responds</a:t>
            </a:r>
            <a:r>
              <a:rPr sz="900" spc="10" dirty="0">
                <a:latin typeface="Arial"/>
                <a:cs typeface="Arial"/>
              </a:rPr>
              <a:t> </a:t>
            </a:r>
            <a:r>
              <a:rPr sz="900" dirty="0">
                <a:latin typeface="Arial"/>
                <a:cs typeface="Arial"/>
              </a:rPr>
              <a:t>by</a:t>
            </a:r>
            <a:r>
              <a:rPr sz="900" spc="5" dirty="0">
                <a:latin typeface="Arial"/>
                <a:cs typeface="Arial"/>
              </a:rPr>
              <a:t> </a:t>
            </a:r>
            <a:r>
              <a:rPr sz="900" dirty="0">
                <a:latin typeface="Arial"/>
                <a:cs typeface="Arial"/>
              </a:rPr>
              <a:t>sending</a:t>
            </a:r>
            <a:r>
              <a:rPr sz="900" spc="10" dirty="0">
                <a:latin typeface="Arial"/>
                <a:cs typeface="Arial"/>
              </a:rPr>
              <a:t> </a:t>
            </a:r>
            <a:r>
              <a:rPr sz="900" dirty="0">
                <a:latin typeface="Arial"/>
                <a:cs typeface="Arial"/>
              </a:rPr>
              <a:t>a</a:t>
            </a:r>
            <a:r>
              <a:rPr sz="900" spc="5" dirty="0">
                <a:latin typeface="Arial"/>
                <a:cs typeface="Arial"/>
              </a:rPr>
              <a:t> </a:t>
            </a:r>
            <a:r>
              <a:rPr sz="900" dirty="0">
                <a:solidFill>
                  <a:srgbClr val="C80000"/>
                </a:solidFill>
                <a:latin typeface="Arial"/>
                <a:cs typeface="Arial"/>
              </a:rPr>
              <a:t>learn</a:t>
            </a:r>
            <a:r>
              <a:rPr sz="900" spc="10" dirty="0">
                <a:solidFill>
                  <a:srgbClr val="C80000"/>
                </a:solidFill>
                <a:latin typeface="Arial"/>
                <a:cs typeface="Arial"/>
              </a:rPr>
              <a:t> </a:t>
            </a:r>
            <a:r>
              <a:rPr sz="900" dirty="0">
                <a:latin typeface="Arial"/>
                <a:cs typeface="Arial"/>
              </a:rPr>
              <a:t>message:</a:t>
            </a:r>
            <a:r>
              <a:rPr sz="900" spc="95" dirty="0">
                <a:latin typeface="Arial"/>
                <a:cs typeface="Arial"/>
              </a:rPr>
              <a:t> </a:t>
            </a:r>
            <a:r>
              <a:rPr sz="700" dirty="0">
                <a:latin typeface="Arial"/>
                <a:cs typeface="Arial"/>
              </a:rPr>
              <a:t>LEARN</a:t>
            </a:r>
            <a:r>
              <a:rPr sz="900" dirty="0">
                <a:latin typeface="Arial"/>
                <a:cs typeface="Arial"/>
              </a:rPr>
              <a:t>(</a:t>
            </a:r>
            <a:r>
              <a:rPr sz="900" i="1" dirty="0">
                <a:latin typeface="Arial"/>
                <a:cs typeface="Arial"/>
              </a:rPr>
              <a:t>o,</a:t>
            </a:r>
            <a:r>
              <a:rPr sz="900" i="1" spc="-150" dirty="0">
                <a:latin typeface="Arial"/>
                <a:cs typeface="Arial"/>
              </a:rPr>
              <a:t> </a:t>
            </a:r>
            <a:r>
              <a:rPr sz="900" i="1" spc="-10" dirty="0">
                <a:latin typeface="Arial"/>
                <a:cs typeface="Arial"/>
              </a:rPr>
              <a:t>t</a:t>
            </a:r>
            <a:r>
              <a:rPr sz="900" i="1" spc="-165" dirty="0">
                <a:latin typeface="Arial"/>
                <a:cs typeface="Arial"/>
              </a:rPr>
              <a:t> </a:t>
            </a:r>
            <a:r>
              <a:rPr sz="900" spc="5" dirty="0">
                <a:latin typeface="Arial"/>
                <a:cs typeface="Arial"/>
              </a:rPr>
              <a:t>)</a:t>
            </a:r>
            <a:endParaRPr sz="900">
              <a:latin typeface="Arial"/>
              <a:cs typeface="Arial"/>
            </a:endParaRPr>
          </a:p>
          <a:p>
            <a:pPr marL="542925" marR="31750" indent="-120650">
              <a:lnSpc>
                <a:spcPct val="111600"/>
              </a:lnSpc>
              <a:spcBef>
                <a:spcPts val="395"/>
              </a:spcBef>
              <a:buClr>
                <a:srgbClr val="3333B2"/>
              </a:buClr>
              <a:buFont typeface="Menlo"/>
              <a:buChar char="•"/>
              <a:tabLst>
                <a:tab pos="537845" algn="l"/>
              </a:tabLst>
            </a:pPr>
            <a:r>
              <a:rPr sz="900" dirty="0">
                <a:latin typeface="Arial"/>
                <a:cs typeface="Arial"/>
              </a:rPr>
              <a:t>When</a:t>
            </a:r>
            <a:r>
              <a:rPr sz="900" spc="-3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leader</a:t>
            </a:r>
            <a:r>
              <a:rPr sz="900" spc="-25" dirty="0">
                <a:latin typeface="Arial"/>
                <a:cs typeface="Arial"/>
              </a:rPr>
              <a:t> </a:t>
            </a:r>
            <a:r>
              <a:rPr sz="900" dirty="0">
                <a:latin typeface="Arial"/>
                <a:cs typeface="Arial"/>
              </a:rPr>
              <a:t>notices</a:t>
            </a:r>
            <a:r>
              <a:rPr sz="900" spc="-25"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operation</a:t>
            </a:r>
            <a:r>
              <a:rPr sz="900" spc="-25" dirty="0">
                <a:latin typeface="Arial"/>
                <a:cs typeface="Arial"/>
              </a:rPr>
              <a:t> </a:t>
            </a:r>
            <a:r>
              <a:rPr sz="900" i="1" dirty="0">
                <a:latin typeface="Arial"/>
                <a:cs typeface="Arial"/>
              </a:rPr>
              <a:t>o </a:t>
            </a:r>
            <a:r>
              <a:rPr sz="900" dirty="0">
                <a:latin typeface="Arial"/>
                <a:cs typeface="Arial"/>
              </a:rPr>
              <a:t>has</a:t>
            </a:r>
            <a:r>
              <a:rPr sz="900" spc="-25" dirty="0">
                <a:latin typeface="Arial"/>
                <a:cs typeface="Arial"/>
              </a:rPr>
              <a:t> </a:t>
            </a:r>
            <a:r>
              <a:rPr sz="900" dirty="0">
                <a:latin typeface="Arial"/>
                <a:cs typeface="Arial"/>
              </a:rPr>
              <a:t>not</a:t>
            </a:r>
            <a:r>
              <a:rPr sz="900" spc="-25" dirty="0">
                <a:latin typeface="Arial"/>
                <a:cs typeface="Arial"/>
              </a:rPr>
              <a:t> </a:t>
            </a:r>
            <a:r>
              <a:rPr sz="900" dirty="0">
                <a:latin typeface="Arial"/>
                <a:cs typeface="Arial"/>
              </a:rPr>
              <a:t>yet</a:t>
            </a:r>
            <a:r>
              <a:rPr sz="900" spc="-25" dirty="0">
                <a:latin typeface="Arial"/>
                <a:cs typeface="Arial"/>
              </a:rPr>
              <a:t> </a:t>
            </a:r>
            <a:r>
              <a:rPr sz="900" dirty="0">
                <a:latin typeface="Arial"/>
                <a:cs typeface="Arial"/>
              </a:rPr>
              <a:t>been</a:t>
            </a:r>
            <a:r>
              <a:rPr sz="900" spc="-25" dirty="0">
                <a:latin typeface="Arial"/>
                <a:cs typeface="Arial"/>
              </a:rPr>
              <a:t> </a:t>
            </a:r>
            <a:r>
              <a:rPr sz="900" dirty="0">
                <a:latin typeface="Arial"/>
                <a:cs typeface="Arial"/>
              </a:rPr>
              <a:t>learned,</a:t>
            </a:r>
            <a:r>
              <a:rPr sz="900" spc="-25" dirty="0">
                <a:latin typeface="Arial"/>
                <a:cs typeface="Arial"/>
              </a:rPr>
              <a:t> it </a:t>
            </a:r>
            <a:r>
              <a:rPr sz="900" dirty="0">
                <a:latin typeface="Arial"/>
                <a:cs typeface="Arial"/>
              </a:rPr>
              <a:t>retransmits</a:t>
            </a:r>
            <a:r>
              <a:rPr sz="900" spc="65" dirty="0">
                <a:latin typeface="Arial"/>
                <a:cs typeface="Arial"/>
              </a:rPr>
              <a:t> </a:t>
            </a:r>
            <a:r>
              <a:rPr sz="700" dirty="0">
                <a:latin typeface="Arial"/>
                <a:cs typeface="Arial"/>
              </a:rPr>
              <a:t>ACCEPT</a:t>
            </a:r>
            <a:r>
              <a:rPr sz="900" dirty="0">
                <a:latin typeface="Arial"/>
                <a:cs typeface="Arial"/>
              </a:rPr>
              <a:t>(</a:t>
            </a:r>
            <a:r>
              <a:rPr sz="900" i="1" dirty="0">
                <a:latin typeface="Arial"/>
                <a:cs typeface="Arial"/>
              </a:rPr>
              <a:t>o,</a:t>
            </a:r>
            <a:r>
              <a:rPr sz="900" i="1" spc="-140" dirty="0">
                <a:latin typeface="Arial"/>
                <a:cs typeface="Arial"/>
              </a:rPr>
              <a:t> </a:t>
            </a:r>
            <a:r>
              <a:rPr sz="900" i="1" spc="-10" dirty="0">
                <a:latin typeface="Arial"/>
                <a:cs typeface="Arial"/>
              </a:rPr>
              <a:t>t</a:t>
            </a:r>
            <a:r>
              <a:rPr sz="900" i="1" spc="-160" dirty="0">
                <a:latin typeface="Arial"/>
                <a:cs typeface="Arial"/>
              </a:rPr>
              <a:t> </a:t>
            </a:r>
            <a:r>
              <a:rPr sz="900" spc="55" dirty="0">
                <a:latin typeface="Arial"/>
                <a:cs typeface="Arial"/>
              </a:rPr>
              <a:t>)</a:t>
            </a:r>
            <a:r>
              <a:rPr sz="900" spc="40" dirty="0">
                <a:latin typeface="Arial"/>
                <a:cs typeface="Arial"/>
              </a:rPr>
              <a:t> </a:t>
            </a:r>
            <a:r>
              <a:rPr sz="900" dirty="0">
                <a:latin typeface="Arial"/>
                <a:cs typeface="Arial"/>
              </a:rPr>
              <a:t>with</a:t>
            </a:r>
            <a:r>
              <a:rPr sz="900" spc="35" dirty="0">
                <a:latin typeface="Arial"/>
                <a:cs typeface="Arial"/>
              </a:rPr>
              <a:t> </a:t>
            </a:r>
            <a:r>
              <a:rPr sz="900" dirty="0">
                <a:latin typeface="Arial"/>
                <a:cs typeface="Arial"/>
              </a:rPr>
              <a:t>the</a:t>
            </a:r>
            <a:r>
              <a:rPr sz="900" spc="35" dirty="0">
                <a:latin typeface="Arial"/>
                <a:cs typeface="Arial"/>
              </a:rPr>
              <a:t> </a:t>
            </a:r>
            <a:r>
              <a:rPr sz="900" dirty="0">
                <a:latin typeface="Arial"/>
                <a:cs typeface="Arial"/>
              </a:rPr>
              <a:t>original</a:t>
            </a:r>
            <a:r>
              <a:rPr sz="900" spc="35" dirty="0">
                <a:latin typeface="Arial"/>
                <a:cs typeface="Arial"/>
              </a:rPr>
              <a:t> </a:t>
            </a:r>
            <a:r>
              <a:rPr sz="900" spc="-10" dirty="0">
                <a:latin typeface="Arial"/>
                <a:cs typeface="Arial"/>
              </a:rPr>
              <a:t>timestamp.</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484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Example:</a:t>
            </a:r>
            <a:r>
              <a:rPr sz="500" spc="5" dirty="0">
                <a:latin typeface="Arial"/>
                <a:cs typeface="Arial"/>
                <a:hlinkClick r:id="rId4" action="ppaction://hlinksldjump"/>
              </a:rPr>
              <a:t> </a:t>
            </a:r>
            <a:r>
              <a:rPr sz="500" spc="-10" dirty="0">
                <a:latin typeface="Arial"/>
                <a:cs typeface="Arial"/>
                <a:hlinkClick r:id="rId4" action="ppaction://hlinksldjump"/>
              </a:rPr>
              <a:t>Paxos</a:t>
            </a:r>
            <a:endParaRPr sz="500">
              <a:latin typeface="Arial"/>
              <a:cs typeface="Arial"/>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95300" y="197711"/>
            <a:ext cx="2475865" cy="207645"/>
          </a:xfrm>
          <a:prstGeom prst="rect">
            <a:avLst/>
          </a:prstGeom>
        </p:spPr>
        <p:txBody>
          <a:bodyPr vert="horz" wrap="square" lIns="0" tIns="12065" rIns="0" bIns="0" rtlCol="0">
            <a:spAutoFit/>
          </a:bodyPr>
          <a:lstStyle/>
          <a:p>
            <a:pPr marL="12700">
              <a:lnSpc>
                <a:spcPct val="100000"/>
              </a:lnSpc>
              <a:spcBef>
                <a:spcPts val="95"/>
              </a:spcBef>
            </a:pPr>
            <a:r>
              <a:rPr sz="1200" spc="-60" dirty="0">
                <a:solidFill>
                  <a:srgbClr val="3333B2"/>
                </a:solidFill>
                <a:latin typeface="Arial"/>
                <a:cs typeface="Arial"/>
              </a:rPr>
              <a:t>Two</a:t>
            </a:r>
            <a:r>
              <a:rPr sz="1200" spc="-25" dirty="0">
                <a:solidFill>
                  <a:srgbClr val="3333B2"/>
                </a:solidFill>
                <a:latin typeface="Arial"/>
                <a:cs typeface="Arial"/>
              </a:rPr>
              <a:t> </a:t>
            </a:r>
            <a:r>
              <a:rPr sz="1200" dirty="0">
                <a:solidFill>
                  <a:srgbClr val="3333B2"/>
                </a:solidFill>
                <a:latin typeface="Arial"/>
                <a:cs typeface="Arial"/>
              </a:rPr>
              <a:t>servers</a:t>
            </a:r>
            <a:r>
              <a:rPr sz="1200" spc="-35" dirty="0">
                <a:solidFill>
                  <a:srgbClr val="3333B2"/>
                </a:solidFill>
                <a:latin typeface="Arial"/>
                <a:cs typeface="Arial"/>
              </a:rPr>
              <a:t> </a:t>
            </a:r>
            <a:r>
              <a:rPr sz="1200" dirty="0">
                <a:solidFill>
                  <a:srgbClr val="3333B2"/>
                </a:solidFill>
                <a:latin typeface="Arial"/>
                <a:cs typeface="Arial"/>
              </a:rPr>
              <a:t>and</a:t>
            </a:r>
            <a:r>
              <a:rPr sz="1200" spc="-30" dirty="0">
                <a:solidFill>
                  <a:srgbClr val="3333B2"/>
                </a:solidFill>
                <a:latin typeface="Arial"/>
                <a:cs typeface="Arial"/>
              </a:rPr>
              <a:t> </a:t>
            </a:r>
            <a:r>
              <a:rPr sz="1200" dirty="0">
                <a:solidFill>
                  <a:srgbClr val="3333B2"/>
                </a:solidFill>
                <a:latin typeface="Arial"/>
                <a:cs typeface="Arial"/>
              </a:rPr>
              <a:t>one</a:t>
            </a:r>
            <a:r>
              <a:rPr sz="1200" spc="-30" dirty="0">
                <a:solidFill>
                  <a:srgbClr val="3333B2"/>
                </a:solidFill>
                <a:latin typeface="Arial"/>
                <a:cs typeface="Arial"/>
              </a:rPr>
              <a:t> </a:t>
            </a:r>
            <a:r>
              <a:rPr sz="1200" dirty="0">
                <a:solidFill>
                  <a:srgbClr val="3333B2"/>
                </a:solidFill>
                <a:latin typeface="Arial"/>
                <a:cs typeface="Arial"/>
              </a:rPr>
              <a:t>crash:</a:t>
            </a:r>
            <a:r>
              <a:rPr sz="1200" spc="50" dirty="0">
                <a:solidFill>
                  <a:srgbClr val="3333B2"/>
                </a:solidFill>
                <a:latin typeface="Arial"/>
                <a:cs typeface="Arial"/>
              </a:rPr>
              <a:t> </a:t>
            </a:r>
            <a:r>
              <a:rPr sz="1200" spc="-10" dirty="0">
                <a:solidFill>
                  <a:srgbClr val="3333B2"/>
                </a:solidFill>
                <a:latin typeface="Arial"/>
                <a:cs typeface="Arial"/>
              </a:rPr>
              <a:t>problem</a:t>
            </a:r>
            <a:endParaRPr sz="1200">
              <a:latin typeface="Arial"/>
              <a:cs typeface="Arial"/>
            </a:endParaRPr>
          </a:p>
        </p:txBody>
      </p:sp>
      <p:pic>
        <p:nvPicPr>
          <p:cNvPr id="6" name="object 6"/>
          <p:cNvPicPr/>
          <p:nvPr/>
        </p:nvPicPr>
        <p:blipFill>
          <a:blip r:embed="rId4" cstate="print"/>
          <a:stretch>
            <a:fillRect/>
          </a:stretch>
        </p:blipFill>
        <p:spPr>
          <a:xfrm>
            <a:off x="831856" y="481938"/>
            <a:ext cx="2942978" cy="1200809"/>
          </a:xfrm>
          <a:prstGeom prst="rect">
            <a:avLst/>
          </a:prstGeom>
        </p:spPr>
      </p:pic>
      <p:sp>
        <p:nvSpPr>
          <p:cNvPr id="7" name="object 7"/>
          <p:cNvSpPr txBox="1"/>
          <p:nvPr/>
        </p:nvSpPr>
        <p:spPr>
          <a:xfrm>
            <a:off x="347294" y="1773680"/>
            <a:ext cx="3862704" cy="496570"/>
          </a:xfrm>
          <a:prstGeom prst="rect">
            <a:avLst/>
          </a:prstGeom>
        </p:spPr>
        <p:txBody>
          <a:bodyPr vert="horz" wrap="square" lIns="0" tIns="27305" rIns="0" bIns="0" rtlCol="0">
            <a:spAutoFit/>
          </a:bodyPr>
          <a:lstStyle/>
          <a:p>
            <a:pPr marL="12700">
              <a:lnSpc>
                <a:spcPct val="100000"/>
              </a:lnSpc>
              <a:spcBef>
                <a:spcPts val="215"/>
              </a:spcBef>
            </a:pPr>
            <a:r>
              <a:rPr sz="1000" spc="-10" dirty="0">
                <a:solidFill>
                  <a:srgbClr val="3333B2"/>
                </a:solidFill>
                <a:latin typeface="Arial"/>
                <a:cs typeface="Arial"/>
              </a:rPr>
              <a:t>Problem</a:t>
            </a:r>
            <a:endParaRPr sz="1000">
              <a:latin typeface="Arial"/>
              <a:cs typeface="Arial"/>
            </a:endParaRPr>
          </a:p>
          <a:p>
            <a:pPr marL="12700" marR="5080">
              <a:lnSpc>
                <a:spcPts val="1210"/>
              </a:lnSpc>
              <a:spcBef>
                <a:spcPts val="35"/>
              </a:spcBef>
            </a:pPr>
            <a:r>
              <a:rPr sz="900" dirty="0">
                <a:latin typeface="Arial"/>
                <a:cs typeface="Arial"/>
              </a:rPr>
              <a:t>Primary</a:t>
            </a:r>
            <a:r>
              <a:rPr sz="900" spc="-30" dirty="0">
                <a:latin typeface="Arial"/>
                <a:cs typeface="Arial"/>
              </a:rPr>
              <a:t> </a:t>
            </a:r>
            <a:r>
              <a:rPr sz="900" dirty="0">
                <a:latin typeface="Arial"/>
                <a:cs typeface="Arial"/>
              </a:rPr>
              <a:t>crashes</a:t>
            </a:r>
            <a:r>
              <a:rPr sz="900" spc="-30" dirty="0">
                <a:latin typeface="Arial"/>
                <a:cs typeface="Arial"/>
              </a:rPr>
              <a:t> </a:t>
            </a:r>
            <a:r>
              <a:rPr sz="900" dirty="0">
                <a:latin typeface="Arial"/>
                <a:cs typeface="Arial"/>
              </a:rPr>
              <a:t>after</a:t>
            </a:r>
            <a:r>
              <a:rPr sz="900" spc="-30" dirty="0">
                <a:latin typeface="Arial"/>
                <a:cs typeface="Arial"/>
              </a:rPr>
              <a:t> </a:t>
            </a:r>
            <a:r>
              <a:rPr sz="900" spc="-10" dirty="0">
                <a:latin typeface="Arial"/>
                <a:cs typeface="Arial"/>
              </a:rPr>
              <a:t>executing</a:t>
            </a:r>
            <a:r>
              <a:rPr sz="900" spc="-30" dirty="0">
                <a:latin typeface="Arial"/>
                <a:cs typeface="Arial"/>
              </a:rPr>
              <a:t> </a:t>
            </a:r>
            <a:r>
              <a:rPr sz="900" dirty="0">
                <a:latin typeface="Arial"/>
                <a:cs typeface="Arial"/>
              </a:rPr>
              <a:t>an</a:t>
            </a:r>
            <a:r>
              <a:rPr sz="900" spc="-30" dirty="0">
                <a:latin typeface="Arial"/>
                <a:cs typeface="Arial"/>
              </a:rPr>
              <a:t> </a:t>
            </a:r>
            <a:r>
              <a:rPr sz="900" dirty="0">
                <a:latin typeface="Arial"/>
                <a:cs typeface="Arial"/>
              </a:rPr>
              <a:t>operation,</a:t>
            </a:r>
            <a:r>
              <a:rPr sz="900" spc="-30" dirty="0">
                <a:latin typeface="Arial"/>
                <a:cs typeface="Arial"/>
              </a:rPr>
              <a:t> </a:t>
            </a:r>
            <a:r>
              <a:rPr sz="900" dirty="0">
                <a:latin typeface="Arial"/>
                <a:cs typeface="Arial"/>
              </a:rPr>
              <a:t>but</a:t>
            </a:r>
            <a:r>
              <a:rPr sz="900" spc="-30"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backup</a:t>
            </a:r>
            <a:r>
              <a:rPr sz="900" spc="-30" dirty="0">
                <a:latin typeface="Arial"/>
                <a:cs typeface="Arial"/>
              </a:rPr>
              <a:t> </a:t>
            </a:r>
            <a:r>
              <a:rPr sz="900" spc="-10" dirty="0">
                <a:latin typeface="Arial"/>
                <a:cs typeface="Arial"/>
              </a:rPr>
              <a:t>never</a:t>
            </a:r>
            <a:r>
              <a:rPr sz="900" spc="-30" dirty="0">
                <a:latin typeface="Arial"/>
                <a:cs typeface="Arial"/>
              </a:rPr>
              <a:t> </a:t>
            </a:r>
            <a:r>
              <a:rPr sz="900" spc="-10" dirty="0">
                <a:latin typeface="Arial"/>
                <a:cs typeface="Arial"/>
              </a:rPr>
              <a:t>received </a:t>
            </a:r>
            <a:r>
              <a:rPr sz="900" dirty="0">
                <a:latin typeface="Arial"/>
                <a:cs typeface="Arial"/>
              </a:rPr>
              <a:t>the</a:t>
            </a:r>
            <a:r>
              <a:rPr sz="900" spc="-25" dirty="0">
                <a:latin typeface="Arial"/>
                <a:cs typeface="Arial"/>
              </a:rPr>
              <a:t> </a:t>
            </a:r>
            <a:r>
              <a:rPr sz="900" dirty="0">
                <a:latin typeface="Arial"/>
                <a:cs typeface="Arial"/>
              </a:rPr>
              <a:t>accept</a:t>
            </a:r>
            <a:r>
              <a:rPr sz="900" spc="-25" dirty="0">
                <a:latin typeface="Arial"/>
                <a:cs typeface="Arial"/>
              </a:rPr>
              <a:t> </a:t>
            </a:r>
            <a:r>
              <a:rPr sz="900" spc="-10" dirty="0">
                <a:latin typeface="Arial"/>
                <a:cs typeface="Arial"/>
              </a:rPr>
              <a:t>message.</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484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Example:</a:t>
            </a:r>
            <a:r>
              <a:rPr sz="500" spc="5" dirty="0">
                <a:latin typeface="Arial"/>
                <a:cs typeface="Arial"/>
                <a:hlinkClick r:id="rId5" action="ppaction://hlinksldjump"/>
              </a:rPr>
              <a:t> </a:t>
            </a:r>
            <a:r>
              <a:rPr sz="500" spc="-10" dirty="0">
                <a:latin typeface="Arial"/>
                <a:cs typeface="Arial"/>
                <a:hlinkClick r:id="rId5" action="ppaction://hlinksldjump"/>
              </a:rPr>
              <a:t>Paxos</a:t>
            </a:r>
            <a:endParaRPr sz="500">
              <a:latin typeface="Arial"/>
              <a:cs typeface="Arial"/>
            </a:endParaRP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95300" y="197711"/>
            <a:ext cx="2453640" cy="207645"/>
          </a:xfrm>
          <a:prstGeom prst="rect">
            <a:avLst/>
          </a:prstGeom>
        </p:spPr>
        <p:txBody>
          <a:bodyPr vert="horz" wrap="square" lIns="0" tIns="12065" rIns="0" bIns="0" rtlCol="0">
            <a:spAutoFit/>
          </a:bodyPr>
          <a:lstStyle/>
          <a:p>
            <a:pPr marL="12700">
              <a:lnSpc>
                <a:spcPct val="100000"/>
              </a:lnSpc>
              <a:spcBef>
                <a:spcPts val="95"/>
              </a:spcBef>
            </a:pPr>
            <a:r>
              <a:rPr sz="1200" spc="-60" dirty="0">
                <a:solidFill>
                  <a:srgbClr val="3333B2"/>
                </a:solidFill>
                <a:latin typeface="Arial"/>
                <a:cs typeface="Arial"/>
              </a:rPr>
              <a:t>Two</a:t>
            </a:r>
            <a:r>
              <a:rPr sz="1200" spc="-25" dirty="0">
                <a:solidFill>
                  <a:srgbClr val="3333B2"/>
                </a:solidFill>
                <a:latin typeface="Arial"/>
                <a:cs typeface="Arial"/>
              </a:rPr>
              <a:t> </a:t>
            </a:r>
            <a:r>
              <a:rPr sz="1200" dirty="0">
                <a:solidFill>
                  <a:srgbClr val="3333B2"/>
                </a:solidFill>
                <a:latin typeface="Arial"/>
                <a:cs typeface="Arial"/>
              </a:rPr>
              <a:t>servers</a:t>
            </a:r>
            <a:r>
              <a:rPr sz="1200" spc="-35" dirty="0">
                <a:solidFill>
                  <a:srgbClr val="3333B2"/>
                </a:solidFill>
                <a:latin typeface="Arial"/>
                <a:cs typeface="Arial"/>
              </a:rPr>
              <a:t> </a:t>
            </a:r>
            <a:r>
              <a:rPr sz="1200" dirty="0">
                <a:solidFill>
                  <a:srgbClr val="3333B2"/>
                </a:solidFill>
                <a:latin typeface="Arial"/>
                <a:cs typeface="Arial"/>
              </a:rPr>
              <a:t>and</a:t>
            </a:r>
            <a:r>
              <a:rPr sz="1200" spc="-30" dirty="0">
                <a:solidFill>
                  <a:srgbClr val="3333B2"/>
                </a:solidFill>
                <a:latin typeface="Arial"/>
                <a:cs typeface="Arial"/>
              </a:rPr>
              <a:t> </a:t>
            </a:r>
            <a:r>
              <a:rPr sz="1200" dirty="0">
                <a:solidFill>
                  <a:srgbClr val="3333B2"/>
                </a:solidFill>
                <a:latin typeface="Arial"/>
                <a:cs typeface="Arial"/>
              </a:rPr>
              <a:t>one</a:t>
            </a:r>
            <a:r>
              <a:rPr sz="1200" spc="-30" dirty="0">
                <a:solidFill>
                  <a:srgbClr val="3333B2"/>
                </a:solidFill>
                <a:latin typeface="Arial"/>
                <a:cs typeface="Arial"/>
              </a:rPr>
              <a:t> </a:t>
            </a:r>
            <a:r>
              <a:rPr sz="1200" dirty="0">
                <a:solidFill>
                  <a:srgbClr val="3333B2"/>
                </a:solidFill>
                <a:latin typeface="Arial"/>
                <a:cs typeface="Arial"/>
              </a:rPr>
              <a:t>crash:</a:t>
            </a:r>
            <a:r>
              <a:rPr sz="1200" spc="50" dirty="0">
                <a:solidFill>
                  <a:srgbClr val="3333B2"/>
                </a:solidFill>
                <a:latin typeface="Arial"/>
                <a:cs typeface="Arial"/>
              </a:rPr>
              <a:t> </a:t>
            </a:r>
            <a:r>
              <a:rPr sz="1200" spc="-10" dirty="0">
                <a:solidFill>
                  <a:srgbClr val="3333B2"/>
                </a:solidFill>
                <a:latin typeface="Arial"/>
                <a:cs typeface="Arial"/>
              </a:rPr>
              <a:t>solution</a:t>
            </a:r>
            <a:endParaRPr sz="1200">
              <a:latin typeface="Arial"/>
              <a:cs typeface="Arial"/>
            </a:endParaRPr>
          </a:p>
        </p:txBody>
      </p:sp>
      <p:pic>
        <p:nvPicPr>
          <p:cNvPr id="6" name="object 6"/>
          <p:cNvPicPr/>
          <p:nvPr/>
        </p:nvPicPr>
        <p:blipFill>
          <a:blip r:embed="rId4" cstate="print"/>
          <a:stretch>
            <a:fillRect/>
          </a:stretch>
        </p:blipFill>
        <p:spPr>
          <a:xfrm>
            <a:off x="533171" y="481880"/>
            <a:ext cx="3540511" cy="1201974"/>
          </a:xfrm>
          <a:prstGeom prst="rect">
            <a:avLst/>
          </a:prstGeom>
        </p:spPr>
      </p:pic>
      <p:sp>
        <p:nvSpPr>
          <p:cNvPr id="7" name="object 7"/>
          <p:cNvSpPr txBox="1"/>
          <p:nvPr/>
        </p:nvSpPr>
        <p:spPr>
          <a:xfrm>
            <a:off x="347294" y="1774616"/>
            <a:ext cx="3523615" cy="343535"/>
          </a:xfrm>
          <a:prstGeom prst="rect">
            <a:avLst/>
          </a:prstGeom>
        </p:spPr>
        <p:txBody>
          <a:bodyPr vert="horz" wrap="square" lIns="0" tIns="27305" rIns="0" bIns="0" rtlCol="0">
            <a:spAutoFit/>
          </a:bodyPr>
          <a:lstStyle/>
          <a:p>
            <a:pPr marL="12700">
              <a:lnSpc>
                <a:spcPct val="100000"/>
              </a:lnSpc>
              <a:spcBef>
                <a:spcPts val="215"/>
              </a:spcBef>
            </a:pPr>
            <a:r>
              <a:rPr sz="1000" spc="-10" dirty="0">
                <a:solidFill>
                  <a:srgbClr val="3333B2"/>
                </a:solidFill>
                <a:latin typeface="Arial"/>
                <a:cs typeface="Arial"/>
              </a:rPr>
              <a:t>Solution</a:t>
            </a:r>
            <a:endParaRPr sz="1000">
              <a:latin typeface="Arial"/>
              <a:cs typeface="Arial"/>
            </a:endParaRPr>
          </a:p>
          <a:p>
            <a:pPr marL="12700">
              <a:lnSpc>
                <a:spcPct val="100000"/>
              </a:lnSpc>
              <a:spcBef>
                <a:spcPts val="105"/>
              </a:spcBef>
            </a:pPr>
            <a:r>
              <a:rPr sz="900" spc="-10" dirty="0">
                <a:latin typeface="Arial"/>
                <a:cs typeface="Arial"/>
              </a:rPr>
              <a:t>Never</a:t>
            </a:r>
            <a:r>
              <a:rPr sz="900" spc="-30" dirty="0">
                <a:latin typeface="Arial"/>
                <a:cs typeface="Arial"/>
              </a:rPr>
              <a:t> </a:t>
            </a:r>
            <a:r>
              <a:rPr sz="900" spc="-10" dirty="0">
                <a:latin typeface="Arial"/>
                <a:cs typeface="Arial"/>
              </a:rPr>
              <a:t>execute</a:t>
            </a:r>
            <a:r>
              <a:rPr sz="900" spc="-25" dirty="0">
                <a:latin typeface="Arial"/>
                <a:cs typeface="Arial"/>
              </a:rPr>
              <a:t> </a:t>
            </a:r>
            <a:r>
              <a:rPr sz="900" dirty="0">
                <a:latin typeface="Arial"/>
                <a:cs typeface="Arial"/>
              </a:rPr>
              <a:t>an</a:t>
            </a:r>
            <a:r>
              <a:rPr sz="900" spc="-25" dirty="0">
                <a:latin typeface="Arial"/>
                <a:cs typeface="Arial"/>
              </a:rPr>
              <a:t> </a:t>
            </a:r>
            <a:r>
              <a:rPr sz="900" dirty="0">
                <a:latin typeface="Arial"/>
                <a:cs typeface="Arial"/>
              </a:rPr>
              <a:t>operation</a:t>
            </a:r>
            <a:r>
              <a:rPr sz="900" spc="-25" dirty="0">
                <a:latin typeface="Arial"/>
                <a:cs typeface="Arial"/>
              </a:rPr>
              <a:t> </a:t>
            </a:r>
            <a:r>
              <a:rPr sz="900" dirty="0">
                <a:latin typeface="Arial"/>
                <a:cs typeface="Arial"/>
              </a:rPr>
              <a:t>before</a:t>
            </a:r>
            <a:r>
              <a:rPr sz="900" spc="-25" dirty="0">
                <a:latin typeface="Arial"/>
                <a:cs typeface="Arial"/>
              </a:rPr>
              <a:t> </a:t>
            </a:r>
            <a:r>
              <a:rPr sz="900" dirty="0">
                <a:latin typeface="Arial"/>
                <a:cs typeface="Arial"/>
              </a:rPr>
              <a:t>it</a:t>
            </a:r>
            <a:r>
              <a:rPr sz="900" spc="-30"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clear</a:t>
            </a:r>
            <a:r>
              <a:rPr sz="900" spc="-25"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has</a:t>
            </a:r>
            <a:r>
              <a:rPr sz="900" spc="-25" dirty="0">
                <a:latin typeface="Arial"/>
                <a:cs typeface="Arial"/>
              </a:rPr>
              <a:t> </a:t>
            </a:r>
            <a:r>
              <a:rPr sz="900" dirty="0">
                <a:latin typeface="Arial"/>
                <a:cs typeface="Arial"/>
              </a:rPr>
              <a:t>been</a:t>
            </a:r>
            <a:r>
              <a:rPr sz="900" spc="-30" dirty="0">
                <a:latin typeface="Arial"/>
                <a:cs typeface="Arial"/>
              </a:rPr>
              <a:t> </a:t>
            </a:r>
            <a:r>
              <a:rPr sz="900" spc="-10" dirty="0">
                <a:latin typeface="Arial"/>
                <a:cs typeface="Arial"/>
              </a:rPr>
              <a:t>learned.</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484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Example:</a:t>
            </a:r>
            <a:r>
              <a:rPr sz="500" spc="5" dirty="0">
                <a:latin typeface="Arial"/>
                <a:cs typeface="Arial"/>
                <a:hlinkClick r:id="rId5" action="ppaction://hlinksldjump"/>
              </a:rPr>
              <a:t> </a:t>
            </a:r>
            <a:r>
              <a:rPr sz="500" spc="-10" dirty="0">
                <a:latin typeface="Arial"/>
                <a:cs typeface="Arial"/>
                <a:hlinkClick r:id="rId5" action="ppaction://hlinksldjump"/>
              </a:rPr>
              <a:t>Paxos</a:t>
            </a:r>
            <a:endParaRPr sz="500">
              <a:latin typeface="Arial"/>
              <a:cs typeface="Arial"/>
            </a:endParaRP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95300" y="197711"/>
            <a:ext cx="3220085"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Three</a:t>
            </a:r>
            <a:r>
              <a:rPr sz="1200" spc="-35" dirty="0">
                <a:solidFill>
                  <a:srgbClr val="3333B2"/>
                </a:solidFill>
                <a:latin typeface="Arial"/>
                <a:cs typeface="Arial"/>
              </a:rPr>
              <a:t> </a:t>
            </a:r>
            <a:r>
              <a:rPr sz="1200" dirty="0">
                <a:solidFill>
                  <a:srgbClr val="3333B2"/>
                </a:solidFill>
                <a:latin typeface="Arial"/>
                <a:cs typeface="Arial"/>
              </a:rPr>
              <a:t>servers</a:t>
            </a:r>
            <a:r>
              <a:rPr sz="1200" spc="-35" dirty="0">
                <a:solidFill>
                  <a:srgbClr val="3333B2"/>
                </a:solidFill>
                <a:latin typeface="Arial"/>
                <a:cs typeface="Arial"/>
              </a:rPr>
              <a:t> </a:t>
            </a:r>
            <a:r>
              <a:rPr sz="1200" dirty="0">
                <a:solidFill>
                  <a:srgbClr val="3333B2"/>
                </a:solidFill>
                <a:latin typeface="Arial"/>
                <a:cs typeface="Arial"/>
              </a:rPr>
              <a:t>and</a:t>
            </a:r>
            <a:r>
              <a:rPr sz="1200" spc="-30" dirty="0">
                <a:solidFill>
                  <a:srgbClr val="3333B2"/>
                </a:solidFill>
                <a:latin typeface="Arial"/>
                <a:cs typeface="Arial"/>
              </a:rPr>
              <a:t> </a:t>
            </a:r>
            <a:r>
              <a:rPr sz="1200" dirty="0">
                <a:solidFill>
                  <a:srgbClr val="3333B2"/>
                </a:solidFill>
                <a:latin typeface="Arial"/>
                <a:cs typeface="Arial"/>
              </a:rPr>
              <a:t>two</a:t>
            </a:r>
            <a:r>
              <a:rPr sz="1200" spc="-35" dirty="0">
                <a:solidFill>
                  <a:srgbClr val="3333B2"/>
                </a:solidFill>
                <a:latin typeface="Arial"/>
                <a:cs typeface="Arial"/>
              </a:rPr>
              <a:t> </a:t>
            </a:r>
            <a:r>
              <a:rPr sz="1200" dirty="0">
                <a:solidFill>
                  <a:srgbClr val="3333B2"/>
                </a:solidFill>
                <a:latin typeface="Arial"/>
                <a:cs typeface="Arial"/>
              </a:rPr>
              <a:t>crashes:</a:t>
            </a:r>
            <a:r>
              <a:rPr sz="1200" spc="40" dirty="0">
                <a:solidFill>
                  <a:srgbClr val="3333B2"/>
                </a:solidFill>
                <a:latin typeface="Arial"/>
                <a:cs typeface="Arial"/>
              </a:rPr>
              <a:t> </a:t>
            </a:r>
            <a:r>
              <a:rPr sz="1200" dirty="0">
                <a:solidFill>
                  <a:srgbClr val="3333B2"/>
                </a:solidFill>
                <a:latin typeface="Arial"/>
                <a:cs typeface="Arial"/>
              </a:rPr>
              <a:t>still</a:t>
            </a:r>
            <a:r>
              <a:rPr sz="1200" spc="-35" dirty="0">
                <a:solidFill>
                  <a:srgbClr val="3333B2"/>
                </a:solidFill>
                <a:latin typeface="Arial"/>
                <a:cs typeface="Arial"/>
              </a:rPr>
              <a:t> </a:t>
            </a:r>
            <a:r>
              <a:rPr sz="1200" dirty="0">
                <a:solidFill>
                  <a:srgbClr val="3333B2"/>
                </a:solidFill>
                <a:latin typeface="Arial"/>
                <a:cs typeface="Arial"/>
              </a:rPr>
              <a:t>a</a:t>
            </a:r>
            <a:r>
              <a:rPr sz="1200" spc="-30" dirty="0">
                <a:solidFill>
                  <a:srgbClr val="3333B2"/>
                </a:solidFill>
                <a:latin typeface="Arial"/>
                <a:cs typeface="Arial"/>
              </a:rPr>
              <a:t> </a:t>
            </a:r>
            <a:r>
              <a:rPr sz="1200" spc="-10" dirty="0">
                <a:solidFill>
                  <a:srgbClr val="3333B2"/>
                </a:solidFill>
                <a:latin typeface="Arial"/>
                <a:cs typeface="Arial"/>
              </a:rPr>
              <a:t>problem?</a:t>
            </a:r>
            <a:endParaRPr sz="1200">
              <a:latin typeface="Arial"/>
              <a:cs typeface="Arial"/>
            </a:endParaRPr>
          </a:p>
        </p:txBody>
      </p:sp>
      <p:pic>
        <p:nvPicPr>
          <p:cNvPr id="6" name="object 6"/>
          <p:cNvPicPr/>
          <p:nvPr/>
        </p:nvPicPr>
        <p:blipFill>
          <a:blip r:embed="rId4" cstate="print"/>
          <a:stretch>
            <a:fillRect/>
          </a:stretch>
        </p:blipFill>
        <p:spPr>
          <a:xfrm>
            <a:off x="698245" y="583145"/>
            <a:ext cx="3241989" cy="1500320"/>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484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Example:</a:t>
            </a:r>
            <a:r>
              <a:rPr sz="500" spc="5" dirty="0">
                <a:latin typeface="Arial"/>
                <a:cs typeface="Arial"/>
                <a:hlinkClick r:id="rId5" action="ppaction://hlinksldjump"/>
              </a:rPr>
              <a:t> </a:t>
            </a:r>
            <a:r>
              <a:rPr sz="500" spc="-10" dirty="0">
                <a:latin typeface="Arial"/>
                <a:cs typeface="Arial"/>
                <a:hlinkClick r:id="rId5" action="ppaction://hlinksldjump"/>
              </a:rPr>
              <a:t>Paxos</a:t>
            </a:r>
            <a:endParaRPr sz="500">
              <a:latin typeface="Arial"/>
              <a:cs typeface="Arial"/>
            </a:endParaRP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95300" y="197711"/>
            <a:ext cx="3220085"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Three</a:t>
            </a:r>
            <a:r>
              <a:rPr sz="1200" spc="-35" dirty="0">
                <a:solidFill>
                  <a:srgbClr val="3333B2"/>
                </a:solidFill>
                <a:latin typeface="Arial"/>
                <a:cs typeface="Arial"/>
              </a:rPr>
              <a:t> </a:t>
            </a:r>
            <a:r>
              <a:rPr sz="1200" dirty="0">
                <a:solidFill>
                  <a:srgbClr val="3333B2"/>
                </a:solidFill>
                <a:latin typeface="Arial"/>
                <a:cs typeface="Arial"/>
              </a:rPr>
              <a:t>servers</a:t>
            </a:r>
            <a:r>
              <a:rPr sz="1200" spc="-35" dirty="0">
                <a:solidFill>
                  <a:srgbClr val="3333B2"/>
                </a:solidFill>
                <a:latin typeface="Arial"/>
                <a:cs typeface="Arial"/>
              </a:rPr>
              <a:t> </a:t>
            </a:r>
            <a:r>
              <a:rPr sz="1200" dirty="0">
                <a:solidFill>
                  <a:srgbClr val="3333B2"/>
                </a:solidFill>
                <a:latin typeface="Arial"/>
                <a:cs typeface="Arial"/>
              </a:rPr>
              <a:t>and</a:t>
            </a:r>
            <a:r>
              <a:rPr sz="1200" spc="-30" dirty="0">
                <a:solidFill>
                  <a:srgbClr val="3333B2"/>
                </a:solidFill>
                <a:latin typeface="Arial"/>
                <a:cs typeface="Arial"/>
              </a:rPr>
              <a:t> </a:t>
            </a:r>
            <a:r>
              <a:rPr sz="1200" dirty="0">
                <a:solidFill>
                  <a:srgbClr val="3333B2"/>
                </a:solidFill>
                <a:latin typeface="Arial"/>
                <a:cs typeface="Arial"/>
              </a:rPr>
              <a:t>two</a:t>
            </a:r>
            <a:r>
              <a:rPr sz="1200" spc="-35" dirty="0">
                <a:solidFill>
                  <a:srgbClr val="3333B2"/>
                </a:solidFill>
                <a:latin typeface="Arial"/>
                <a:cs typeface="Arial"/>
              </a:rPr>
              <a:t> </a:t>
            </a:r>
            <a:r>
              <a:rPr sz="1200" dirty="0">
                <a:solidFill>
                  <a:srgbClr val="3333B2"/>
                </a:solidFill>
                <a:latin typeface="Arial"/>
                <a:cs typeface="Arial"/>
              </a:rPr>
              <a:t>crashes:</a:t>
            </a:r>
            <a:r>
              <a:rPr sz="1200" spc="40" dirty="0">
                <a:solidFill>
                  <a:srgbClr val="3333B2"/>
                </a:solidFill>
                <a:latin typeface="Arial"/>
                <a:cs typeface="Arial"/>
              </a:rPr>
              <a:t> </a:t>
            </a:r>
            <a:r>
              <a:rPr sz="1200" dirty="0">
                <a:solidFill>
                  <a:srgbClr val="3333B2"/>
                </a:solidFill>
                <a:latin typeface="Arial"/>
                <a:cs typeface="Arial"/>
              </a:rPr>
              <a:t>still</a:t>
            </a:r>
            <a:r>
              <a:rPr sz="1200" spc="-35" dirty="0">
                <a:solidFill>
                  <a:srgbClr val="3333B2"/>
                </a:solidFill>
                <a:latin typeface="Arial"/>
                <a:cs typeface="Arial"/>
              </a:rPr>
              <a:t> </a:t>
            </a:r>
            <a:r>
              <a:rPr sz="1200" dirty="0">
                <a:solidFill>
                  <a:srgbClr val="3333B2"/>
                </a:solidFill>
                <a:latin typeface="Arial"/>
                <a:cs typeface="Arial"/>
              </a:rPr>
              <a:t>a</a:t>
            </a:r>
            <a:r>
              <a:rPr sz="1200" spc="-30" dirty="0">
                <a:solidFill>
                  <a:srgbClr val="3333B2"/>
                </a:solidFill>
                <a:latin typeface="Arial"/>
                <a:cs typeface="Arial"/>
              </a:rPr>
              <a:t> </a:t>
            </a:r>
            <a:r>
              <a:rPr sz="1200" spc="-10" dirty="0">
                <a:solidFill>
                  <a:srgbClr val="3333B2"/>
                </a:solidFill>
                <a:latin typeface="Arial"/>
                <a:cs typeface="Arial"/>
              </a:rPr>
              <a:t>problem?</a:t>
            </a:r>
            <a:endParaRPr sz="1200">
              <a:latin typeface="Arial"/>
              <a:cs typeface="Arial"/>
            </a:endParaRPr>
          </a:p>
        </p:txBody>
      </p:sp>
      <p:pic>
        <p:nvPicPr>
          <p:cNvPr id="6" name="object 6"/>
          <p:cNvPicPr/>
          <p:nvPr/>
        </p:nvPicPr>
        <p:blipFill>
          <a:blip r:embed="rId4" cstate="print"/>
          <a:stretch>
            <a:fillRect/>
          </a:stretch>
        </p:blipFill>
        <p:spPr>
          <a:xfrm>
            <a:off x="698245" y="583145"/>
            <a:ext cx="3241989" cy="1500320"/>
          </a:xfrm>
          <a:prstGeom prst="rect">
            <a:avLst/>
          </a:prstGeom>
        </p:spPr>
      </p:pic>
      <p:sp>
        <p:nvSpPr>
          <p:cNvPr id="7" name="object 7"/>
          <p:cNvSpPr txBox="1"/>
          <p:nvPr/>
        </p:nvSpPr>
        <p:spPr>
          <a:xfrm>
            <a:off x="316547" y="2275440"/>
            <a:ext cx="3084195" cy="343535"/>
          </a:xfrm>
          <a:prstGeom prst="rect">
            <a:avLst/>
          </a:prstGeom>
        </p:spPr>
        <p:txBody>
          <a:bodyPr vert="horz" wrap="square" lIns="0" tIns="27305" rIns="0" bIns="0" rtlCol="0">
            <a:spAutoFit/>
          </a:bodyPr>
          <a:lstStyle/>
          <a:p>
            <a:pPr marL="43180">
              <a:lnSpc>
                <a:spcPct val="100000"/>
              </a:lnSpc>
              <a:spcBef>
                <a:spcPts val="215"/>
              </a:spcBef>
            </a:pPr>
            <a:r>
              <a:rPr sz="1000" spc="-10" dirty="0">
                <a:solidFill>
                  <a:srgbClr val="4C994C"/>
                </a:solidFill>
                <a:latin typeface="Arial"/>
                <a:cs typeface="Arial"/>
              </a:rPr>
              <a:t>Scenario</a:t>
            </a:r>
            <a:endParaRPr sz="1000">
              <a:latin typeface="Arial"/>
              <a:cs typeface="Arial"/>
            </a:endParaRPr>
          </a:p>
          <a:p>
            <a:pPr marL="38100">
              <a:lnSpc>
                <a:spcPct val="100000"/>
              </a:lnSpc>
              <a:spcBef>
                <a:spcPts val="105"/>
              </a:spcBef>
            </a:pPr>
            <a:r>
              <a:rPr sz="900" dirty="0">
                <a:latin typeface="Arial"/>
                <a:cs typeface="Arial"/>
              </a:rPr>
              <a:t>What</a:t>
            </a:r>
            <a:r>
              <a:rPr sz="900" spc="10" dirty="0">
                <a:latin typeface="Arial"/>
                <a:cs typeface="Arial"/>
              </a:rPr>
              <a:t> </a:t>
            </a:r>
            <a:r>
              <a:rPr sz="900" dirty="0">
                <a:latin typeface="Arial"/>
                <a:cs typeface="Arial"/>
              </a:rPr>
              <a:t>happens</a:t>
            </a:r>
            <a:r>
              <a:rPr sz="900" spc="15" dirty="0">
                <a:latin typeface="Arial"/>
                <a:cs typeface="Arial"/>
              </a:rPr>
              <a:t> </a:t>
            </a:r>
            <a:r>
              <a:rPr sz="900" dirty="0">
                <a:latin typeface="Arial"/>
                <a:cs typeface="Arial"/>
              </a:rPr>
              <a:t>when</a:t>
            </a:r>
            <a:r>
              <a:rPr sz="900" spc="40" dirty="0">
                <a:latin typeface="Arial"/>
                <a:cs typeface="Arial"/>
              </a:rPr>
              <a:t> </a:t>
            </a:r>
            <a:r>
              <a:rPr sz="700" dirty="0">
                <a:latin typeface="Arial"/>
                <a:cs typeface="Arial"/>
              </a:rPr>
              <a:t>LEARN</a:t>
            </a:r>
            <a:r>
              <a:rPr sz="900" dirty="0">
                <a:latin typeface="Arial"/>
                <a:cs typeface="Arial"/>
              </a:rPr>
              <a:t>(</a:t>
            </a:r>
            <a:r>
              <a:rPr sz="900" i="1" dirty="0">
                <a:latin typeface="Arial"/>
                <a:cs typeface="Arial"/>
              </a:rPr>
              <a:t>o</a:t>
            </a:r>
            <a:r>
              <a:rPr sz="1050" i="1" baseline="27777" dirty="0">
                <a:latin typeface="Arial"/>
                <a:cs typeface="Arial"/>
              </a:rPr>
              <a:t>1</a:t>
            </a:r>
            <a:r>
              <a:rPr sz="900" dirty="0">
                <a:latin typeface="Arial"/>
                <a:cs typeface="Arial"/>
              </a:rPr>
              <a:t>)</a:t>
            </a:r>
            <a:r>
              <a:rPr sz="900" spc="15" dirty="0">
                <a:latin typeface="Arial"/>
                <a:cs typeface="Arial"/>
              </a:rPr>
              <a:t> </a:t>
            </a:r>
            <a:r>
              <a:rPr sz="900" dirty="0">
                <a:latin typeface="Arial"/>
                <a:cs typeface="Arial"/>
              </a:rPr>
              <a:t>as</a:t>
            </a:r>
            <a:r>
              <a:rPr sz="900" spc="15" dirty="0">
                <a:latin typeface="Arial"/>
                <a:cs typeface="Arial"/>
              </a:rPr>
              <a:t> </a:t>
            </a:r>
            <a:r>
              <a:rPr sz="900" dirty="0">
                <a:latin typeface="Arial"/>
                <a:cs typeface="Arial"/>
              </a:rPr>
              <a:t>sent</a:t>
            </a:r>
            <a:r>
              <a:rPr sz="900" spc="15" dirty="0">
                <a:latin typeface="Arial"/>
                <a:cs typeface="Arial"/>
              </a:rPr>
              <a:t> </a:t>
            </a:r>
            <a:r>
              <a:rPr sz="900" dirty="0">
                <a:latin typeface="Arial"/>
                <a:cs typeface="Arial"/>
              </a:rPr>
              <a:t>by</a:t>
            </a:r>
            <a:r>
              <a:rPr sz="900" spc="15" dirty="0">
                <a:latin typeface="Arial"/>
                <a:cs typeface="Arial"/>
              </a:rPr>
              <a:t> </a:t>
            </a:r>
            <a:r>
              <a:rPr sz="900" i="1" dirty="0">
                <a:latin typeface="Arial"/>
                <a:cs typeface="Arial"/>
              </a:rPr>
              <a:t>S</a:t>
            </a:r>
            <a:r>
              <a:rPr sz="1050" i="1" baseline="-15873" dirty="0">
                <a:latin typeface="Arial"/>
                <a:cs typeface="Arial"/>
              </a:rPr>
              <a:t>2</a:t>
            </a:r>
            <a:r>
              <a:rPr sz="1050" i="1" spc="247" baseline="-15873" dirty="0">
                <a:latin typeface="Arial"/>
                <a:cs typeface="Arial"/>
              </a:rPr>
              <a:t> </a:t>
            </a:r>
            <a:r>
              <a:rPr sz="900" dirty="0">
                <a:latin typeface="Arial"/>
                <a:cs typeface="Arial"/>
              </a:rPr>
              <a:t>to</a:t>
            </a:r>
            <a:r>
              <a:rPr sz="900" spc="15" dirty="0">
                <a:latin typeface="Arial"/>
                <a:cs typeface="Arial"/>
              </a:rPr>
              <a:t> </a:t>
            </a:r>
            <a:r>
              <a:rPr sz="900" i="1" dirty="0">
                <a:latin typeface="Arial"/>
                <a:cs typeface="Arial"/>
              </a:rPr>
              <a:t>S</a:t>
            </a:r>
            <a:r>
              <a:rPr sz="1050" i="1" baseline="-15873" dirty="0">
                <a:latin typeface="Arial"/>
                <a:cs typeface="Arial"/>
              </a:rPr>
              <a:t>1</a:t>
            </a:r>
            <a:r>
              <a:rPr sz="1050" i="1" spc="187" baseline="-15873" dirty="0">
                <a:latin typeface="Arial"/>
                <a:cs typeface="Arial"/>
              </a:rPr>
              <a:t> </a:t>
            </a:r>
            <a:r>
              <a:rPr sz="900" dirty="0">
                <a:latin typeface="Arial"/>
                <a:cs typeface="Arial"/>
              </a:rPr>
              <a:t>is</a:t>
            </a:r>
            <a:r>
              <a:rPr sz="900" spc="10" dirty="0">
                <a:latin typeface="Arial"/>
                <a:cs typeface="Arial"/>
              </a:rPr>
              <a:t> </a:t>
            </a:r>
            <a:r>
              <a:rPr sz="900" spc="-10" dirty="0">
                <a:latin typeface="Arial"/>
                <a:cs typeface="Arial"/>
              </a:rPr>
              <a:t>lost?</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484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Example:</a:t>
            </a:r>
            <a:r>
              <a:rPr sz="500" spc="5" dirty="0">
                <a:latin typeface="Arial"/>
                <a:cs typeface="Arial"/>
                <a:hlinkClick r:id="rId5" action="ppaction://hlinksldjump"/>
              </a:rPr>
              <a:t> </a:t>
            </a:r>
            <a:r>
              <a:rPr sz="500" spc="-10" dirty="0">
                <a:latin typeface="Arial"/>
                <a:cs typeface="Arial"/>
                <a:hlinkClick r:id="rId5" action="ppaction://hlinksldjump"/>
              </a:rPr>
              <a:t>Paxos</a:t>
            </a:r>
            <a:endParaRPr sz="500">
              <a:latin typeface="Arial"/>
              <a:cs typeface="Arial"/>
            </a:endParaRP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95300" y="197711"/>
            <a:ext cx="3220085"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Three</a:t>
            </a:r>
            <a:r>
              <a:rPr sz="1200" spc="-35" dirty="0">
                <a:solidFill>
                  <a:srgbClr val="3333B2"/>
                </a:solidFill>
                <a:latin typeface="Arial"/>
                <a:cs typeface="Arial"/>
              </a:rPr>
              <a:t> </a:t>
            </a:r>
            <a:r>
              <a:rPr sz="1200" dirty="0">
                <a:solidFill>
                  <a:srgbClr val="3333B2"/>
                </a:solidFill>
                <a:latin typeface="Arial"/>
                <a:cs typeface="Arial"/>
              </a:rPr>
              <a:t>servers</a:t>
            </a:r>
            <a:r>
              <a:rPr sz="1200" spc="-35" dirty="0">
                <a:solidFill>
                  <a:srgbClr val="3333B2"/>
                </a:solidFill>
                <a:latin typeface="Arial"/>
                <a:cs typeface="Arial"/>
              </a:rPr>
              <a:t> </a:t>
            </a:r>
            <a:r>
              <a:rPr sz="1200" dirty="0">
                <a:solidFill>
                  <a:srgbClr val="3333B2"/>
                </a:solidFill>
                <a:latin typeface="Arial"/>
                <a:cs typeface="Arial"/>
              </a:rPr>
              <a:t>and</a:t>
            </a:r>
            <a:r>
              <a:rPr sz="1200" spc="-30" dirty="0">
                <a:solidFill>
                  <a:srgbClr val="3333B2"/>
                </a:solidFill>
                <a:latin typeface="Arial"/>
                <a:cs typeface="Arial"/>
              </a:rPr>
              <a:t> </a:t>
            </a:r>
            <a:r>
              <a:rPr sz="1200" dirty="0">
                <a:solidFill>
                  <a:srgbClr val="3333B2"/>
                </a:solidFill>
                <a:latin typeface="Arial"/>
                <a:cs typeface="Arial"/>
              </a:rPr>
              <a:t>two</a:t>
            </a:r>
            <a:r>
              <a:rPr sz="1200" spc="-35" dirty="0">
                <a:solidFill>
                  <a:srgbClr val="3333B2"/>
                </a:solidFill>
                <a:latin typeface="Arial"/>
                <a:cs typeface="Arial"/>
              </a:rPr>
              <a:t> </a:t>
            </a:r>
            <a:r>
              <a:rPr sz="1200" dirty="0">
                <a:solidFill>
                  <a:srgbClr val="3333B2"/>
                </a:solidFill>
                <a:latin typeface="Arial"/>
                <a:cs typeface="Arial"/>
              </a:rPr>
              <a:t>crashes:</a:t>
            </a:r>
            <a:r>
              <a:rPr sz="1200" spc="40" dirty="0">
                <a:solidFill>
                  <a:srgbClr val="3333B2"/>
                </a:solidFill>
                <a:latin typeface="Arial"/>
                <a:cs typeface="Arial"/>
              </a:rPr>
              <a:t> </a:t>
            </a:r>
            <a:r>
              <a:rPr sz="1200" dirty="0">
                <a:solidFill>
                  <a:srgbClr val="3333B2"/>
                </a:solidFill>
                <a:latin typeface="Arial"/>
                <a:cs typeface="Arial"/>
              </a:rPr>
              <a:t>still</a:t>
            </a:r>
            <a:r>
              <a:rPr sz="1200" spc="-35" dirty="0">
                <a:solidFill>
                  <a:srgbClr val="3333B2"/>
                </a:solidFill>
                <a:latin typeface="Arial"/>
                <a:cs typeface="Arial"/>
              </a:rPr>
              <a:t> </a:t>
            </a:r>
            <a:r>
              <a:rPr sz="1200" dirty="0">
                <a:solidFill>
                  <a:srgbClr val="3333B2"/>
                </a:solidFill>
                <a:latin typeface="Arial"/>
                <a:cs typeface="Arial"/>
              </a:rPr>
              <a:t>a</a:t>
            </a:r>
            <a:r>
              <a:rPr sz="1200" spc="-30" dirty="0">
                <a:solidFill>
                  <a:srgbClr val="3333B2"/>
                </a:solidFill>
                <a:latin typeface="Arial"/>
                <a:cs typeface="Arial"/>
              </a:rPr>
              <a:t> </a:t>
            </a:r>
            <a:r>
              <a:rPr sz="1200" spc="-10" dirty="0">
                <a:solidFill>
                  <a:srgbClr val="3333B2"/>
                </a:solidFill>
                <a:latin typeface="Arial"/>
                <a:cs typeface="Arial"/>
              </a:rPr>
              <a:t>problem?</a:t>
            </a:r>
            <a:endParaRPr sz="1200">
              <a:latin typeface="Arial"/>
              <a:cs typeface="Arial"/>
            </a:endParaRPr>
          </a:p>
        </p:txBody>
      </p:sp>
      <p:pic>
        <p:nvPicPr>
          <p:cNvPr id="6" name="object 6"/>
          <p:cNvPicPr/>
          <p:nvPr/>
        </p:nvPicPr>
        <p:blipFill>
          <a:blip r:embed="rId4" cstate="print"/>
          <a:stretch>
            <a:fillRect/>
          </a:stretch>
        </p:blipFill>
        <p:spPr>
          <a:xfrm>
            <a:off x="698245" y="583145"/>
            <a:ext cx="3241989" cy="1500320"/>
          </a:xfrm>
          <a:prstGeom prst="rect">
            <a:avLst/>
          </a:prstGeom>
        </p:spPr>
      </p:pic>
      <p:sp>
        <p:nvSpPr>
          <p:cNvPr id="7" name="object 7"/>
          <p:cNvSpPr txBox="1"/>
          <p:nvPr/>
        </p:nvSpPr>
        <p:spPr>
          <a:xfrm>
            <a:off x="316547" y="2275440"/>
            <a:ext cx="3167380" cy="749935"/>
          </a:xfrm>
          <a:prstGeom prst="rect">
            <a:avLst/>
          </a:prstGeom>
        </p:spPr>
        <p:txBody>
          <a:bodyPr vert="horz" wrap="square" lIns="0" tIns="27305" rIns="0" bIns="0" rtlCol="0">
            <a:spAutoFit/>
          </a:bodyPr>
          <a:lstStyle/>
          <a:p>
            <a:pPr marL="43180">
              <a:lnSpc>
                <a:spcPct val="100000"/>
              </a:lnSpc>
              <a:spcBef>
                <a:spcPts val="215"/>
              </a:spcBef>
            </a:pPr>
            <a:r>
              <a:rPr sz="1000" spc="-10" dirty="0">
                <a:solidFill>
                  <a:srgbClr val="4C994C"/>
                </a:solidFill>
                <a:latin typeface="Arial"/>
                <a:cs typeface="Arial"/>
              </a:rPr>
              <a:t>Scenario</a:t>
            </a:r>
            <a:endParaRPr sz="1000">
              <a:latin typeface="Arial"/>
              <a:cs typeface="Arial"/>
            </a:endParaRPr>
          </a:p>
          <a:p>
            <a:pPr marL="38100">
              <a:lnSpc>
                <a:spcPct val="100000"/>
              </a:lnSpc>
              <a:spcBef>
                <a:spcPts val="105"/>
              </a:spcBef>
            </a:pPr>
            <a:r>
              <a:rPr sz="900" dirty="0">
                <a:latin typeface="Arial"/>
                <a:cs typeface="Arial"/>
              </a:rPr>
              <a:t>What</a:t>
            </a:r>
            <a:r>
              <a:rPr sz="900" spc="10" dirty="0">
                <a:latin typeface="Arial"/>
                <a:cs typeface="Arial"/>
              </a:rPr>
              <a:t> </a:t>
            </a:r>
            <a:r>
              <a:rPr sz="900" dirty="0">
                <a:latin typeface="Arial"/>
                <a:cs typeface="Arial"/>
              </a:rPr>
              <a:t>happens</a:t>
            </a:r>
            <a:r>
              <a:rPr sz="900" spc="15" dirty="0">
                <a:latin typeface="Arial"/>
                <a:cs typeface="Arial"/>
              </a:rPr>
              <a:t> </a:t>
            </a:r>
            <a:r>
              <a:rPr sz="900" dirty="0">
                <a:latin typeface="Arial"/>
                <a:cs typeface="Arial"/>
              </a:rPr>
              <a:t>when</a:t>
            </a:r>
            <a:r>
              <a:rPr sz="900" spc="40" dirty="0">
                <a:latin typeface="Arial"/>
                <a:cs typeface="Arial"/>
              </a:rPr>
              <a:t> </a:t>
            </a:r>
            <a:r>
              <a:rPr sz="700" dirty="0">
                <a:latin typeface="Arial"/>
                <a:cs typeface="Arial"/>
              </a:rPr>
              <a:t>LEARN</a:t>
            </a:r>
            <a:r>
              <a:rPr sz="900" dirty="0">
                <a:latin typeface="Arial"/>
                <a:cs typeface="Arial"/>
              </a:rPr>
              <a:t>(</a:t>
            </a:r>
            <a:r>
              <a:rPr sz="900" i="1" dirty="0">
                <a:latin typeface="Arial"/>
                <a:cs typeface="Arial"/>
              </a:rPr>
              <a:t>o</a:t>
            </a:r>
            <a:r>
              <a:rPr sz="1050" i="1" baseline="27777" dirty="0">
                <a:latin typeface="Arial"/>
                <a:cs typeface="Arial"/>
              </a:rPr>
              <a:t>1</a:t>
            </a:r>
            <a:r>
              <a:rPr sz="900" dirty="0">
                <a:latin typeface="Arial"/>
                <a:cs typeface="Arial"/>
              </a:rPr>
              <a:t>)</a:t>
            </a:r>
            <a:r>
              <a:rPr sz="900" spc="15" dirty="0">
                <a:latin typeface="Arial"/>
                <a:cs typeface="Arial"/>
              </a:rPr>
              <a:t> </a:t>
            </a:r>
            <a:r>
              <a:rPr sz="900" dirty="0">
                <a:latin typeface="Arial"/>
                <a:cs typeface="Arial"/>
              </a:rPr>
              <a:t>as</a:t>
            </a:r>
            <a:r>
              <a:rPr sz="900" spc="15" dirty="0">
                <a:latin typeface="Arial"/>
                <a:cs typeface="Arial"/>
              </a:rPr>
              <a:t> </a:t>
            </a:r>
            <a:r>
              <a:rPr sz="900" dirty="0">
                <a:latin typeface="Arial"/>
                <a:cs typeface="Arial"/>
              </a:rPr>
              <a:t>sent</a:t>
            </a:r>
            <a:r>
              <a:rPr sz="900" spc="15" dirty="0">
                <a:latin typeface="Arial"/>
                <a:cs typeface="Arial"/>
              </a:rPr>
              <a:t> </a:t>
            </a:r>
            <a:r>
              <a:rPr sz="900" dirty="0">
                <a:latin typeface="Arial"/>
                <a:cs typeface="Arial"/>
              </a:rPr>
              <a:t>by</a:t>
            </a:r>
            <a:r>
              <a:rPr sz="900" spc="15" dirty="0">
                <a:latin typeface="Arial"/>
                <a:cs typeface="Arial"/>
              </a:rPr>
              <a:t> </a:t>
            </a:r>
            <a:r>
              <a:rPr sz="900" i="1" dirty="0">
                <a:latin typeface="Arial"/>
                <a:cs typeface="Arial"/>
              </a:rPr>
              <a:t>S</a:t>
            </a:r>
            <a:r>
              <a:rPr sz="1050" i="1" baseline="-15873" dirty="0">
                <a:latin typeface="Arial"/>
                <a:cs typeface="Arial"/>
              </a:rPr>
              <a:t>2</a:t>
            </a:r>
            <a:r>
              <a:rPr sz="1050" i="1" spc="247" baseline="-15873" dirty="0">
                <a:latin typeface="Arial"/>
                <a:cs typeface="Arial"/>
              </a:rPr>
              <a:t> </a:t>
            </a:r>
            <a:r>
              <a:rPr sz="900" dirty="0">
                <a:latin typeface="Arial"/>
                <a:cs typeface="Arial"/>
              </a:rPr>
              <a:t>to</a:t>
            </a:r>
            <a:r>
              <a:rPr sz="900" spc="15" dirty="0">
                <a:latin typeface="Arial"/>
                <a:cs typeface="Arial"/>
              </a:rPr>
              <a:t> </a:t>
            </a:r>
            <a:r>
              <a:rPr sz="900" i="1" dirty="0">
                <a:latin typeface="Arial"/>
                <a:cs typeface="Arial"/>
              </a:rPr>
              <a:t>S</a:t>
            </a:r>
            <a:r>
              <a:rPr sz="1050" i="1" baseline="-15873" dirty="0">
                <a:latin typeface="Arial"/>
                <a:cs typeface="Arial"/>
              </a:rPr>
              <a:t>1</a:t>
            </a:r>
            <a:r>
              <a:rPr sz="1050" i="1" spc="187" baseline="-15873" dirty="0">
                <a:latin typeface="Arial"/>
                <a:cs typeface="Arial"/>
              </a:rPr>
              <a:t> </a:t>
            </a:r>
            <a:r>
              <a:rPr sz="900" dirty="0">
                <a:latin typeface="Arial"/>
                <a:cs typeface="Arial"/>
              </a:rPr>
              <a:t>is</a:t>
            </a:r>
            <a:r>
              <a:rPr sz="900" spc="10" dirty="0">
                <a:latin typeface="Arial"/>
                <a:cs typeface="Arial"/>
              </a:rPr>
              <a:t> </a:t>
            </a:r>
            <a:r>
              <a:rPr sz="900" spc="-10" dirty="0">
                <a:latin typeface="Arial"/>
                <a:cs typeface="Arial"/>
              </a:rPr>
              <a:t>lost?</a:t>
            </a:r>
            <a:endParaRPr sz="900">
              <a:latin typeface="Arial"/>
              <a:cs typeface="Arial"/>
            </a:endParaRPr>
          </a:p>
          <a:p>
            <a:pPr marL="43180">
              <a:lnSpc>
                <a:spcPct val="100000"/>
              </a:lnSpc>
              <a:spcBef>
                <a:spcPts val="815"/>
              </a:spcBef>
            </a:pPr>
            <a:r>
              <a:rPr sz="1000" spc="-10" dirty="0">
                <a:solidFill>
                  <a:srgbClr val="3333B2"/>
                </a:solidFill>
                <a:latin typeface="Arial"/>
                <a:cs typeface="Arial"/>
              </a:rPr>
              <a:t>Solution</a:t>
            </a:r>
            <a:endParaRPr sz="1000">
              <a:latin typeface="Arial"/>
              <a:cs typeface="Arial"/>
            </a:endParaRPr>
          </a:p>
          <a:p>
            <a:pPr marL="43180">
              <a:lnSpc>
                <a:spcPct val="100000"/>
              </a:lnSpc>
              <a:spcBef>
                <a:spcPts val="105"/>
              </a:spcBef>
            </a:pPr>
            <a:r>
              <a:rPr sz="900" i="1" dirty="0">
                <a:latin typeface="Arial"/>
                <a:cs typeface="Arial"/>
              </a:rPr>
              <a:t>S</a:t>
            </a:r>
            <a:r>
              <a:rPr sz="1050" i="1" baseline="-15873" dirty="0">
                <a:latin typeface="Arial"/>
                <a:cs typeface="Arial"/>
              </a:rPr>
              <a:t>2</a:t>
            </a:r>
            <a:r>
              <a:rPr sz="1050" i="1" spc="172" baseline="-15873" dirty="0">
                <a:latin typeface="Arial"/>
                <a:cs typeface="Arial"/>
              </a:rPr>
              <a:t> </a:t>
            </a:r>
            <a:r>
              <a:rPr sz="900" dirty="0">
                <a:latin typeface="Arial"/>
                <a:cs typeface="Arial"/>
              </a:rPr>
              <a:t>will</a:t>
            </a:r>
            <a:r>
              <a:rPr sz="900" spc="-20" dirty="0">
                <a:latin typeface="Arial"/>
                <a:cs typeface="Arial"/>
              </a:rPr>
              <a:t> </a:t>
            </a:r>
            <a:r>
              <a:rPr sz="900" dirty="0">
                <a:latin typeface="Arial"/>
                <a:cs typeface="Arial"/>
              </a:rPr>
              <a:t>also</a:t>
            </a:r>
            <a:r>
              <a:rPr sz="900" spc="-20" dirty="0">
                <a:latin typeface="Arial"/>
                <a:cs typeface="Arial"/>
              </a:rPr>
              <a:t> </a:t>
            </a:r>
            <a:r>
              <a:rPr sz="900" spc="-10" dirty="0">
                <a:latin typeface="Arial"/>
                <a:cs typeface="Arial"/>
              </a:rPr>
              <a:t>have</a:t>
            </a:r>
            <a:r>
              <a:rPr sz="900" spc="-20"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wait</a:t>
            </a:r>
            <a:r>
              <a:rPr sz="900" spc="-20" dirty="0">
                <a:latin typeface="Arial"/>
                <a:cs typeface="Arial"/>
              </a:rPr>
              <a:t> </a:t>
            </a:r>
            <a:r>
              <a:rPr sz="900" dirty="0">
                <a:latin typeface="Arial"/>
                <a:cs typeface="Arial"/>
              </a:rPr>
              <a:t>until</a:t>
            </a:r>
            <a:r>
              <a:rPr sz="900" spc="-20" dirty="0">
                <a:latin typeface="Arial"/>
                <a:cs typeface="Arial"/>
              </a:rPr>
              <a:t> </a:t>
            </a:r>
            <a:r>
              <a:rPr sz="900" dirty="0">
                <a:latin typeface="Arial"/>
                <a:cs typeface="Arial"/>
              </a:rPr>
              <a:t>it</a:t>
            </a:r>
            <a:r>
              <a:rPr sz="900" spc="-20" dirty="0">
                <a:latin typeface="Arial"/>
                <a:cs typeface="Arial"/>
              </a:rPr>
              <a:t> </a:t>
            </a:r>
            <a:r>
              <a:rPr sz="900" dirty="0">
                <a:latin typeface="Arial"/>
                <a:cs typeface="Arial"/>
              </a:rPr>
              <a:t>knows</a:t>
            </a:r>
            <a:r>
              <a:rPr sz="900" spc="-25" dirty="0">
                <a:latin typeface="Arial"/>
                <a:cs typeface="Arial"/>
              </a:rPr>
              <a:t> </a:t>
            </a:r>
            <a:r>
              <a:rPr sz="900" dirty="0">
                <a:latin typeface="Arial"/>
                <a:cs typeface="Arial"/>
              </a:rPr>
              <a:t>that</a:t>
            </a:r>
            <a:r>
              <a:rPr sz="900" spc="-20" dirty="0">
                <a:latin typeface="Arial"/>
                <a:cs typeface="Arial"/>
              </a:rPr>
              <a:t> </a:t>
            </a:r>
            <a:r>
              <a:rPr sz="900" i="1" dirty="0">
                <a:latin typeface="Arial"/>
                <a:cs typeface="Arial"/>
              </a:rPr>
              <a:t>S</a:t>
            </a:r>
            <a:r>
              <a:rPr sz="1050" i="1" baseline="-15873" dirty="0">
                <a:latin typeface="Arial"/>
                <a:cs typeface="Arial"/>
              </a:rPr>
              <a:t>3</a:t>
            </a:r>
            <a:r>
              <a:rPr sz="1050" i="1" spc="172" baseline="-15873" dirty="0">
                <a:latin typeface="Arial"/>
                <a:cs typeface="Arial"/>
              </a:rPr>
              <a:t> </a:t>
            </a:r>
            <a:r>
              <a:rPr sz="900" dirty="0">
                <a:latin typeface="Arial"/>
                <a:cs typeface="Arial"/>
              </a:rPr>
              <a:t>has</a:t>
            </a:r>
            <a:r>
              <a:rPr sz="900" spc="-20" dirty="0">
                <a:latin typeface="Arial"/>
                <a:cs typeface="Arial"/>
              </a:rPr>
              <a:t> </a:t>
            </a:r>
            <a:r>
              <a:rPr sz="900" dirty="0">
                <a:latin typeface="Arial"/>
                <a:cs typeface="Arial"/>
              </a:rPr>
              <a:t>learned</a:t>
            </a:r>
            <a:r>
              <a:rPr sz="900" spc="-20" dirty="0">
                <a:latin typeface="Arial"/>
                <a:cs typeface="Arial"/>
              </a:rPr>
              <a:t> </a:t>
            </a:r>
            <a:r>
              <a:rPr sz="900" i="1" spc="-25" dirty="0">
                <a:latin typeface="Arial"/>
                <a:cs typeface="Arial"/>
              </a:rPr>
              <a:t>o</a:t>
            </a:r>
            <a:r>
              <a:rPr sz="1050" i="1" spc="-37" baseline="27777" dirty="0">
                <a:latin typeface="Arial"/>
                <a:cs typeface="Arial"/>
              </a:rPr>
              <a:t>1</a:t>
            </a:r>
            <a:r>
              <a:rPr sz="900" spc="-25" dirty="0">
                <a:latin typeface="Arial"/>
                <a:cs typeface="Arial"/>
              </a:rPr>
              <a:t>.</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484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Example:</a:t>
            </a:r>
            <a:r>
              <a:rPr sz="500" spc="5" dirty="0">
                <a:latin typeface="Arial"/>
                <a:cs typeface="Arial"/>
                <a:hlinkClick r:id="rId5" action="ppaction://hlinksldjump"/>
              </a:rPr>
              <a:t> </a:t>
            </a:r>
            <a:r>
              <a:rPr sz="500" spc="-10" dirty="0">
                <a:latin typeface="Arial"/>
                <a:cs typeface="Arial"/>
                <a:hlinkClick r:id="rId5" action="ppaction://hlinksldjump"/>
              </a:rPr>
              <a:t>Paxos</a:t>
            </a:r>
            <a:endParaRPr sz="500">
              <a:latin typeface="Arial"/>
              <a:cs typeface="Arial"/>
            </a:endParaRP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95300" y="197711"/>
            <a:ext cx="3959860" cy="79819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Paxos:</a:t>
            </a:r>
            <a:r>
              <a:rPr sz="1200" spc="-10" dirty="0">
                <a:solidFill>
                  <a:srgbClr val="3333B2"/>
                </a:solidFill>
                <a:latin typeface="Arial"/>
                <a:cs typeface="Arial"/>
              </a:rPr>
              <a:t> </a:t>
            </a:r>
            <a:r>
              <a:rPr sz="1200" dirty="0">
                <a:solidFill>
                  <a:srgbClr val="3333B2"/>
                </a:solidFill>
                <a:latin typeface="Arial"/>
                <a:cs typeface="Arial"/>
              </a:rPr>
              <a:t>fundamental</a:t>
            </a:r>
            <a:r>
              <a:rPr sz="1200" spc="-75" dirty="0">
                <a:solidFill>
                  <a:srgbClr val="3333B2"/>
                </a:solidFill>
                <a:latin typeface="Arial"/>
                <a:cs typeface="Arial"/>
              </a:rPr>
              <a:t> </a:t>
            </a:r>
            <a:r>
              <a:rPr sz="1200" spc="-20" dirty="0">
                <a:solidFill>
                  <a:srgbClr val="3333B2"/>
                </a:solidFill>
                <a:latin typeface="Arial"/>
                <a:cs typeface="Arial"/>
              </a:rPr>
              <a:t>rule</a:t>
            </a:r>
            <a:endParaRPr sz="1200">
              <a:latin typeface="Arial"/>
              <a:cs typeface="Arial"/>
            </a:endParaRPr>
          </a:p>
          <a:p>
            <a:pPr marL="264160">
              <a:lnSpc>
                <a:spcPct val="100000"/>
              </a:lnSpc>
              <a:spcBef>
                <a:spcPts val="1055"/>
              </a:spcBef>
            </a:pPr>
            <a:r>
              <a:rPr sz="1000" dirty="0">
                <a:solidFill>
                  <a:srgbClr val="C80000"/>
                </a:solidFill>
                <a:latin typeface="Arial"/>
                <a:cs typeface="Arial"/>
              </a:rPr>
              <a:t>General</a:t>
            </a:r>
            <a:r>
              <a:rPr sz="1000" spc="-55" dirty="0">
                <a:solidFill>
                  <a:srgbClr val="C80000"/>
                </a:solidFill>
                <a:latin typeface="Arial"/>
                <a:cs typeface="Arial"/>
              </a:rPr>
              <a:t> </a:t>
            </a:r>
            <a:r>
              <a:rPr sz="1000" spc="-20" dirty="0">
                <a:solidFill>
                  <a:srgbClr val="C80000"/>
                </a:solidFill>
                <a:latin typeface="Arial"/>
                <a:cs typeface="Arial"/>
              </a:rPr>
              <a:t>rule</a:t>
            </a:r>
            <a:endParaRPr sz="1000">
              <a:latin typeface="Arial"/>
              <a:cs typeface="Arial"/>
            </a:endParaRPr>
          </a:p>
          <a:p>
            <a:pPr marL="264160">
              <a:lnSpc>
                <a:spcPct val="100000"/>
              </a:lnSpc>
              <a:spcBef>
                <a:spcPts val="105"/>
              </a:spcBef>
            </a:pPr>
            <a:r>
              <a:rPr sz="900" dirty="0">
                <a:latin typeface="Arial"/>
                <a:cs typeface="Arial"/>
              </a:rPr>
              <a:t>In</a:t>
            </a:r>
            <a:r>
              <a:rPr sz="900" spc="-20" dirty="0">
                <a:latin typeface="Arial"/>
                <a:cs typeface="Arial"/>
              </a:rPr>
              <a:t> </a:t>
            </a:r>
            <a:r>
              <a:rPr sz="900" spc="-10" dirty="0">
                <a:latin typeface="Arial"/>
                <a:cs typeface="Arial"/>
              </a:rPr>
              <a:t>Paxos,</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server</a:t>
            </a:r>
            <a:r>
              <a:rPr sz="900" spc="-15" dirty="0">
                <a:latin typeface="Arial"/>
                <a:cs typeface="Arial"/>
              </a:rPr>
              <a:t> </a:t>
            </a:r>
            <a:r>
              <a:rPr sz="900" i="1" dirty="0">
                <a:latin typeface="Arial"/>
                <a:cs typeface="Arial"/>
              </a:rPr>
              <a:t>S</a:t>
            </a:r>
            <a:r>
              <a:rPr sz="900" i="1" spc="25" dirty="0">
                <a:latin typeface="Arial"/>
                <a:cs typeface="Arial"/>
              </a:rPr>
              <a:t> </a:t>
            </a:r>
            <a:r>
              <a:rPr sz="900" dirty="0">
                <a:latin typeface="Arial"/>
                <a:cs typeface="Arial"/>
              </a:rPr>
              <a:t>cannot</a:t>
            </a:r>
            <a:r>
              <a:rPr sz="900" spc="-20" dirty="0">
                <a:latin typeface="Arial"/>
                <a:cs typeface="Arial"/>
              </a:rPr>
              <a:t> </a:t>
            </a:r>
            <a:r>
              <a:rPr sz="900" spc="-10" dirty="0">
                <a:latin typeface="Arial"/>
                <a:cs typeface="Arial"/>
              </a:rPr>
              <a:t>execute</a:t>
            </a:r>
            <a:r>
              <a:rPr sz="900" spc="-20" dirty="0">
                <a:latin typeface="Arial"/>
                <a:cs typeface="Arial"/>
              </a:rPr>
              <a:t> </a:t>
            </a:r>
            <a:r>
              <a:rPr sz="900" dirty="0">
                <a:latin typeface="Arial"/>
                <a:cs typeface="Arial"/>
              </a:rPr>
              <a:t>an</a:t>
            </a:r>
            <a:r>
              <a:rPr sz="900" spc="-15" dirty="0">
                <a:latin typeface="Arial"/>
                <a:cs typeface="Arial"/>
              </a:rPr>
              <a:t> </a:t>
            </a:r>
            <a:r>
              <a:rPr sz="900" dirty="0">
                <a:latin typeface="Arial"/>
                <a:cs typeface="Arial"/>
              </a:rPr>
              <a:t>operation</a:t>
            </a:r>
            <a:r>
              <a:rPr sz="900" spc="-20" dirty="0">
                <a:latin typeface="Arial"/>
                <a:cs typeface="Arial"/>
              </a:rPr>
              <a:t> </a:t>
            </a:r>
            <a:r>
              <a:rPr sz="900" i="1" dirty="0">
                <a:latin typeface="Arial"/>
                <a:cs typeface="Arial"/>
              </a:rPr>
              <a:t>o</a:t>
            </a:r>
            <a:r>
              <a:rPr sz="900" i="1" spc="10" dirty="0">
                <a:latin typeface="Arial"/>
                <a:cs typeface="Arial"/>
              </a:rPr>
              <a:t> </a:t>
            </a:r>
            <a:r>
              <a:rPr sz="900" dirty="0">
                <a:latin typeface="Arial"/>
                <a:cs typeface="Arial"/>
              </a:rPr>
              <a:t>until</a:t>
            </a:r>
            <a:r>
              <a:rPr sz="900" spc="-20" dirty="0">
                <a:latin typeface="Arial"/>
                <a:cs typeface="Arial"/>
              </a:rPr>
              <a:t> </a:t>
            </a:r>
            <a:r>
              <a:rPr sz="900" dirty="0">
                <a:latin typeface="Arial"/>
                <a:cs typeface="Arial"/>
              </a:rPr>
              <a:t>it</a:t>
            </a:r>
            <a:r>
              <a:rPr sz="900" spc="-15" dirty="0">
                <a:latin typeface="Arial"/>
                <a:cs typeface="Arial"/>
              </a:rPr>
              <a:t> </a:t>
            </a:r>
            <a:r>
              <a:rPr sz="900" dirty="0">
                <a:latin typeface="Arial"/>
                <a:cs typeface="Arial"/>
              </a:rPr>
              <a:t>has</a:t>
            </a:r>
            <a:r>
              <a:rPr sz="900" spc="-20" dirty="0">
                <a:latin typeface="Arial"/>
                <a:cs typeface="Arial"/>
              </a:rPr>
              <a:t> </a:t>
            </a:r>
            <a:r>
              <a:rPr sz="900" spc="-10" dirty="0">
                <a:latin typeface="Arial"/>
                <a:cs typeface="Arial"/>
              </a:rPr>
              <a:t>received</a:t>
            </a:r>
            <a:r>
              <a:rPr sz="900" spc="-20" dirty="0">
                <a:latin typeface="Arial"/>
                <a:cs typeface="Arial"/>
              </a:rPr>
              <a:t> </a:t>
            </a:r>
            <a:r>
              <a:rPr sz="900" spc="-50" dirty="0">
                <a:latin typeface="Arial"/>
                <a:cs typeface="Arial"/>
              </a:rPr>
              <a:t>a</a:t>
            </a:r>
            <a:endParaRPr sz="900">
              <a:latin typeface="Arial"/>
              <a:cs typeface="Arial"/>
            </a:endParaRPr>
          </a:p>
          <a:p>
            <a:pPr marL="267335">
              <a:lnSpc>
                <a:spcPct val="100000"/>
              </a:lnSpc>
              <a:spcBef>
                <a:spcPts val="125"/>
              </a:spcBef>
            </a:pPr>
            <a:r>
              <a:rPr sz="700" spc="45" dirty="0">
                <a:latin typeface="Arial"/>
                <a:cs typeface="Arial"/>
              </a:rPr>
              <a:t>LEARN</a:t>
            </a:r>
            <a:r>
              <a:rPr sz="900" spc="45" dirty="0">
                <a:latin typeface="Arial"/>
                <a:cs typeface="Arial"/>
              </a:rPr>
              <a:t>(</a:t>
            </a:r>
            <a:r>
              <a:rPr sz="900" i="1" spc="45" dirty="0">
                <a:latin typeface="Arial"/>
                <a:cs typeface="Arial"/>
              </a:rPr>
              <a:t>o</a:t>
            </a:r>
            <a:r>
              <a:rPr sz="900" spc="45" dirty="0">
                <a:latin typeface="Arial"/>
                <a:cs typeface="Arial"/>
              </a:rPr>
              <a:t>)</a:t>
            </a:r>
            <a:r>
              <a:rPr sz="900" spc="-10" dirty="0">
                <a:latin typeface="Arial"/>
                <a:cs typeface="Arial"/>
              </a:rPr>
              <a:t> </a:t>
            </a:r>
            <a:r>
              <a:rPr sz="900" dirty="0">
                <a:latin typeface="Arial"/>
                <a:cs typeface="Arial"/>
              </a:rPr>
              <a:t>from</a:t>
            </a:r>
            <a:r>
              <a:rPr sz="900" spc="-10" dirty="0">
                <a:latin typeface="Arial"/>
                <a:cs typeface="Arial"/>
              </a:rPr>
              <a:t> </a:t>
            </a:r>
            <a:r>
              <a:rPr sz="900" dirty="0">
                <a:latin typeface="Arial"/>
                <a:cs typeface="Arial"/>
              </a:rPr>
              <a:t>all</a:t>
            </a:r>
            <a:r>
              <a:rPr sz="900" spc="-10" dirty="0">
                <a:latin typeface="Arial"/>
                <a:cs typeface="Arial"/>
              </a:rPr>
              <a:t> </a:t>
            </a:r>
            <a:r>
              <a:rPr sz="900" dirty="0">
                <a:latin typeface="Arial"/>
                <a:cs typeface="Arial"/>
              </a:rPr>
              <a:t>other</a:t>
            </a:r>
            <a:r>
              <a:rPr sz="900" spc="-10" dirty="0">
                <a:latin typeface="Arial"/>
                <a:cs typeface="Arial"/>
              </a:rPr>
              <a:t> nonfaulty servers.</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484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Example:</a:t>
            </a:r>
            <a:r>
              <a:rPr sz="500" spc="5" dirty="0">
                <a:latin typeface="Arial"/>
                <a:cs typeface="Arial"/>
                <a:hlinkClick r:id="rId4" action="ppaction://hlinksldjump"/>
              </a:rPr>
              <a:t> </a:t>
            </a:r>
            <a:r>
              <a:rPr sz="500" spc="-10" dirty="0">
                <a:latin typeface="Arial"/>
                <a:cs typeface="Arial"/>
                <a:hlinkClick r:id="rId4" action="ppaction://hlinksldjump"/>
              </a:rPr>
              <a:t>Paxos</a:t>
            </a:r>
            <a:endParaRPr sz="500">
              <a:latin typeface="Arial"/>
              <a:cs typeface="Arial"/>
            </a:endParaRP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74465"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spc="-10" dirty="0"/>
              <a:t>Failure</a:t>
            </a:r>
            <a:r>
              <a:rPr spc="-35" dirty="0"/>
              <a:t> </a:t>
            </a:r>
            <a:r>
              <a:rPr spc="-10" dirty="0"/>
              <a:t>detection</a:t>
            </a:r>
          </a:p>
        </p:txBody>
      </p:sp>
      <p:sp>
        <p:nvSpPr>
          <p:cNvPr id="4" name="object 4"/>
          <p:cNvSpPr txBox="1"/>
          <p:nvPr/>
        </p:nvSpPr>
        <p:spPr>
          <a:xfrm>
            <a:off x="347294" y="499476"/>
            <a:ext cx="3929379" cy="496570"/>
          </a:xfrm>
          <a:prstGeom prst="rect">
            <a:avLst/>
          </a:prstGeom>
        </p:spPr>
        <p:txBody>
          <a:bodyPr vert="horz" wrap="square" lIns="0" tIns="27305" rIns="0" bIns="0" rtlCol="0">
            <a:spAutoFit/>
          </a:bodyPr>
          <a:lstStyle/>
          <a:p>
            <a:pPr marL="12700">
              <a:lnSpc>
                <a:spcPct val="100000"/>
              </a:lnSpc>
              <a:spcBef>
                <a:spcPts val="215"/>
              </a:spcBef>
            </a:pPr>
            <a:r>
              <a:rPr sz="1000" spc="-10" dirty="0">
                <a:solidFill>
                  <a:srgbClr val="3333B2"/>
                </a:solidFill>
                <a:latin typeface="Arial"/>
                <a:cs typeface="Arial"/>
              </a:rPr>
              <a:t>Practice</a:t>
            </a:r>
            <a:endParaRPr sz="1000">
              <a:latin typeface="Arial"/>
              <a:cs typeface="Arial"/>
            </a:endParaRPr>
          </a:p>
          <a:p>
            <a:pPr marL="12700" marR="5080">
              <a:lnSpc>
                <a:spcPts val="1210"/>
              </a:lnSpc>
              <a:spcBef>
                <a:spcPts val="35"/>
              </a:spcBef>
            </a:pPr>
            <a:r>
              <a:rPr sz="900" spc="-10" dirty="0">
                <a:solidFill>
                  <a:srgbClr val="3333B2"/>
                </a:solidFill>
                <a:latin typeface="Arial"/>
                <a:cs typeface="Arial"/>
              </a:rPr>
              <a:t>Reliable failure detection </a:t>
            </a:r>
            <a:r>
              <a:rPr sz="900" dirty="0">
                <a:latin typeface="Arial"/>
                <a:cs typeface="Arial"/>
              </a:rPr>
              <a:t>is</a:t>
            </a:r>
            <a:r>
              <a:rPr sz="900" spc="-10" dirty="0">
                <a:latin typeface="Arial"/>
                <a:cs typeface="Arial"/>
              </a:rPr>
              <a:t> practically impossible.</a:t>
            </a:r>
            <a:r>
              <a:rPr sz="900" spc="50" dirty="0">
                <a:latin typeface="Arial"/>
                <a:cs typeface="Arial"/>
              </a:rPr>
              <a:t> </a:t>
            </a:r>
            <a:r>
              <a:rPr sz="900" dirty="0">
                <a:latin typeface="Arial"/>
                <a:cs typeface="Arial"/>
              </a:rPr>
              <a:t>A</a:t>
            </a:r>
            <a:r>
              <a:rPr sz="900" spc="-10" dirty="0">
                <a:latin typeface="Arial"/>
                <a:cs typeface="Arial"/>
              </a:rPr>
              <a:t> </a:t>
            </a:r>
            <a:r>
              <a:rPr sz="900" spc="-10" dirty="0">
                <a:solidFill>
                  <a:srgbClr val="C80000"/>
                </a:solidFill>
                <a:latin typeface="Arial"/>
                <a:cs typeface="Arial"/>
              </a:rPr>
              <a:t>solution </a:t>
            </a:r>
            <a:r>
              <a:rPr sz="900" dirty="0">
                <a:latin typeface="Arial"/>
                <a:cs typeface="Arial"/>
              </a:rPr>
              <a:t>is</a:t>
            </a:r>
            <a:r>
              <a:rPr sz="900" spc="-10" dirty="0">
                <a:latin typeface="Arial"/>
                <a:cs typeface="Arial"/>
              </a:rPr>
              <a:t> </a:t>
            </a:r>
            <a:r>
              <a:rPr sz="900" dirty="0">
                <a:latin typeface="Arial"/>
                <a:cs typeface="Arial"/>
              </a:rPr>
              <a:t>to</a:t>
            </a:r>
            <a:r>
              <a:rPr sz="900" spc="-10" dirty="0">
                <a:latin typeface="Arial"/>
                <a:cs typeface="Arial"/>
              </a:rPr>
              <a:t> </a:t>
            </a:r>
            <a:r>
              <a:rPr sz="900" dirty="0">
                <a:latin typeface="Arial"/>
                <a:cs typeface="Arial"/>
              </a:rPr>
              <a:t>set</a:t>
            </a:r>
            <a:r>
              <a:rPr sz="900" spc="-10" dirty="0">
                <a:latin typeface="Arial"/>
                <a:cs typeface="Arial"/>
              </a:rPr>
              <a:t> timeouts, </a:t>
            </a:r>
            <a:r>
              <a:rPr sz="900" dirty="0">
                <a:latin typeface="Arial"/>
                <a:cs typeface="Arial"/>
              </a:rPr>
              <a:t>but</a:t>
            </a:r>
            <a:r>
              <a:rPr sz="900" spc="-35" dirty="0">
                <a:latin typeface="Arial"/>
                <a:cs typeface="Arial"/>
              </a:rPr>
              <a:t> </a:t>
            </a:r>
            <a:r>
              <a:rPr sz="900" dirty="0">
                <a:latin typeface="Arial"/>
                <a:cs typeface="Arial"/>
              </a:rPr>
              <a:t>take</a:t>
            </a:r>
            <a:r>
              <a:rPr sz="900" spc="-35" dirty="0">
                <a:latin typeface="Arial"/>
                <a:cs typeface="Arial"/>
              </a:rPr>
              <a:t> </a:t>
            </a:r>
            <a:r>
              <a:rPr sz="900" dirty="0">
                <a:latin typeface="Arial"/>
                <a:cs typeface="Arial"/>
              </a:rPr>
              <a:t>into</a:t>
            </a:r>
            <a:r>
              <a:rPr sz="900" spc="-30" dirty="0">
                <a:latin typeface="Arial"/>
                <a:cs typeface="Arial"/>
              </a:rPr>
              <a:t> </a:t>
            </a:r>
            <a:r>
              <a:rPr sz="900" dirty="0">
                <a:latin typeface="Arial"/>
                <a:cs typeface="Arial"/>
              </a:rPr>
              <a:t>account</a:t>
            </a:r>
            <a:r>
              <a:rPr sz="900" spc="-35" dirty="0">
                <a:latin typeface="Arial"/>
                <a:cs typeface="Arial"/>
              </a:rPr>
              <a:t> </a:t>
            </a:r>
            <a:r>
              <a:rPr sz="900" dirty="0">
                <a:latin typeface="Arial"/>
                <a:cs typeface="Arial"/>
              </a:rPr>
              <a:t>that</a:t>
            </a:r>
            <a:r>
              <a:rPr sz="900" spc="-35"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detected</a:t>
            </a:r>
            <a:r>
              <a:rPr sz="900" spc="-35" dirty="0">
                <a:latin typeface="Arial"/>
                <a:cs typeface="Arial"/>
              </a:rPr>
              <a:t> </a:t>
            </a:r>
            <a:r>
              <a:rPr sz="900" dirty="0">
                <a:latin typeface="Arial"/>
                <a:cs typeface="Arial"/>
              </a:rPr>
              <a:t>failure</a:t>
            </a:r>
            <a:r>
              <a:rPr sz="900" spc="-35" dirty="0">
                <a:latin typeface="Arial"/>
                <a:cs typeface="Arial"/>
              </a:rPr>
              <a:t> </a:t>
            </a:r>
            <a:r>
              <a:rPr sz="900" dirty="0">
                <a:latin typeface="Arial"/>
                <a:cs typeface="Arial"/>
              </a:rPr>
              <a:t>may</a:t>
            </a:r>
            <a:r>
              <a:rPr sz="900" spc="-30" dirty="0">
                <a:latin typeface="Arial"/>
                <a:cs typeface="Arial"/>
              </a:rPr>
              <a:t> </a:t>
            </a:r>
            <a:r>
              <a:rPr sz="900" dirty="0">
                <a:latin typeface="Arial"/>
                <a:cs typeface="Arial"/>
              </a:rPr>
              <a:t>be</a:t>
            </a:r>
            <a:r>
              <a:rPr sz="900" spc="-35" dirty="0">
                <a:latin typeface="Arial"/>
                <a:cs typeface="Arial"/>
              </a:rPr>
              <a:t> </a:t>
            </a:r>
            <a:r>
              <a:rPr sz="900" spc="-10" dirty="0">
                <a:solidFill>
                  <a:srgbClr val="3333B2"/>
                </a:solidFill>
                <a:latin typeface="Arial"/>
                <a:cs typeface="Arial"/>
              </a:rPr>
              <a:t>false</a:t>
            </a:r>
            <a:r>
              <a:rPr sz="900" spc="-10" dirty="0">
                <a:latin typeface="Arial"/>
                <a:cs typeface="Arial"/>
              </a:rPr>
              <a:t>.</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484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Example:</a:t>
            </a:r>
            <a:r>
              <a:rPr sz="500" spc="5" dirty="0">
                <a:latin typeface="Arial"/>
                <a:cs typeface="Arial"/>
                <a:hlinkClick r:id="rId4" action="ppaction://hlinksldjump"/>
              </a:rPr>
              <a:t> </a:t>
            </a:r>
            <a:r>
              <a:rPr sz="500" spc="-10" dirty="0">
                <a:latin typeface="Arial"/>
                <a:cs typeface="Arial"/>
                <a:hlinkClick r:id="rId4" action="ppaction://hlinksldjump"/>
              </a:rPr>
              <a:t>Paxos</a:t>
            </a:r>
            <a:endParaRPr sz="500">
              <a:latin typeface="Arial"/>
              <a:cs typeface="Arial"/>
            </a:endParaRP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74465"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spc="-10" dirty="0"/>
              <a:t>Failure</a:t>
            </a:r>
            <a:r>
              <a:rPr spc="-35" dirty="0"/>
              <a:t> </a:t>
            </a:r>
            <a:r>
              <a:rPr spc="-10" dirty="0"/>
              <a:t>detection</a:t>
            </a:r>
          </a:p>
        </p:txBody>
      </p:sp>
      <p:sp>
        <p:nvSpPr>
          <p:cNvPr id="4" name="object 4"/>
          <p:cNvSpPr txBox="1"/>
          <p:nvPr/>
        </p:nvSpPr>
        <p:spPr>
          <a:xfrm>
            <a:off x="347294" y="499476"/>
            <a:ext cx="3929379" cy="496570"/>
          </a:xfrm>
          <a:prstGeom prst="rect">
            <a:avLst/>
          </a:prstGeom>
        </p:spPr>
        <p:txBody>
          <a:bodyPr vert="horz" wrap="square" lIns="0" tIns="27305" rIns="0" bIns="0" rtlCol="0">
            <a:spAutoFit/>
          </a:bodyPr>
          <a:lstStyle/>
          <a:p>
            <a:pPr marL="12700">
              <a:lnSpc>
                <a:spcPct val="100000"/>
              </a:lnSpc>
              <a:spcBef>
                <a:spcPts val="215"/>
              </a:spcBef>
            </a:pPr>
            <a:r>
              <a:rPr sz="1000" spc="-10" dirty="0">
                <a:solidFill>
                  <a:srgbClr val="3333B2"/>
                </a:solidFill>
                <a:latin typeface="Arial"/>
                <a:cs typeface="Arial"/>
              </a:rPr>
              <a:t>Practice</a:t>
            </a:r>
            <a:endParaRPr sz="1000">
              <a:latin typeface="Arial"/>
              <a:cs typeface="Arial"/>
            </a:endParaRPr>
          </a:p>
          <a:p>
            <a:pPr marL="12700" marR="5080">
              <a:lnSpc>
                <a:spcPts val="1210"/>
              </a:lnSpc>
              <a:spcBef>
                <a:spcPts val="35"/>
              </a:spcBef>
            </a:pPr>
            <a:r>
              <a:rPr sz="900" spc="-10" dirty="0">
                <a:solidFill>
                  <a:srgbClr val="3333B2"/>
                </a:solidFill>
                <a:latin typeface="Arial"/>
                <a:cs typeface="Arial"/>
              </a:rPr>
              <a:t>Reliable failure detection </a:t>
            </a:r>
            <a:r>
              <a:rPr sz="900" dirty="0">
                <a:latin typeface="Arial"/>
                <a:cs typeface="Arial"/>
              </a:rPr>
              <a:t>is</a:t>
            </a:r>
            <a:r>
              <a:rPr sz="900" spc="-10" dirty="0">
                <a:latin typeface="Arial"/>
                <a:cs typeface="Arial"/>
              </a:rPr>
              <a:t> practically impossible.</a:t>
            </a:r>
            <a:r>
              <a:rPr sz="900" spc="50" dirty="0">
                <a:latin typeface="Arial"/>
                <a:cs typeface="Arial"/>
              </a:rPr>
              <a:t> </a:t>
            </a:r>
            <a:r>
              <a:rPr sz="900" dirty="0">
                <a:latin typeface="Arial"/>
                <a:cs typeface="Arial"/>
              </a:rPr>
              <a:t>A</a:t>
            </a:r>
            <a:r>
              <a:rPr sz="900" spc="-10" dirty="0">
                <a:latin typeface="Arial"/>
                <a:cs typeface="Arial"/>
              </a:rPr>
              <a:t> </a:t>
            </a:r>
            <a:r>
              <a:rPr sz="900" spc="-10" dirty="0">
                <a:solidFill>
                  <a:srgbClr val="C80000"/>
                </a:solidFill>
                <a:latin typeface="Arial"/>
                <a:cs typeface="Arial"/>
              </a:rPr>
              <a:t>solution </a:t>
            </a:r>
            <a:r>
              <a:rPr sz="900" dirty="0">
                <a:latin typeface="Arial"/>
                <a:cs typeface="Arial"/>
              </a:rPr>
              <a:t>is</a:t>
            </a:r>
            <a:r>
              <a:rPr sz="900" spc="-10" dirty="0">
                <a:latin typeface="Arial"/>
                <a:cs typeface="Arial"/>
              </a:rPr>
              <a:t> </a:t>
            </a:r>
            <a:r>
              <a:rPr sz="900" dirty="0">
                <a:latin typeface="Arial"/>
                <a:cs typeface="Arial"/>
              </a:rPr>
              <a:t>to</a:t>
            </a:r>
            <a:r>
              <a:rPr sz="900" spc="-10" dirty="0">
                <a:latin typeface="Arial"/>
                <a:cs typeface="Arial"/>
              </a:rPr>
              <a:t> </a:t>
            </a:r>
            <a:r>
              <a:rPr sz="900" dirty="0">
                <a:latin typeface="Arial"/>
                <a:cs typeface="Arial"/>
              </a:rPr>
              <a:t>set</a:t>
            </a:r>
            <a:r>
              <a:rPr sz="900" spc="-10" dirty="0">
                <a:latin typeface="Arial"/>
                <a:cs typeface="Arial"/>
              </a:rPr>
              <a:t> timeouts, </a:t>
            </a:r>
            <a:r>
              <a:rPr sz="900" dirty="0">
                <a:latin typeface="Arial"/>
                <a:cs typeface="Arial"/>
              </a:rPr>
              <a:t>but</a:t>
            </a:r>
            <a:r>
              <a:rPr sz="900" spc="-35" dirty="0">
                <a:latin typeface="Arial"/>
                <a:cs typeface="Arial"/>
              </a:rPr>
              <a:t> </a:t>
            </a:r>
            <a:r>
              <a:rPr sz="900" dirty="0">
                <a:latin typeface="Arial"/>
                <a:cs typeface="Arial"/>
              </a:rPr>
              <a:t>take</a:t>
            </a:r>
            <a:r>
              <a:rPr sz="900" spc="-35" dirty="0">
                <a:latin typeface="Arial"/>
                <a:cs typeface="Arial"/>
              </a:rPr>
              <a:t> </a:t>
            </a:r>
            <a:r>
              <a:rPr sz="900" dirty="0">
                <a:latin typeface="Arial"/>
                <a:cs typeface="Arial"/>
              </a:rPr>
              <a:t>into</a:t>
            </a:r>
            <a:r>
              <a:rPr sz="900" spc="-30" dirty="0">
                <a:latin typeface="Arial"/>
                <a:cs typeface="Arial"/>
              </a:rPr>
              <a:t> </a:t>
            </a:r>
            <a:r>
              <a:rPr sz="900" dirty="0">
                <a:latin typeface="Arial"/>
                <a:cs typeface="Arial"/>
              </a:rPr>
              <a:t>account</a:t>
            </a:r>
            <a:r>
              <a:rPr sz="900" spc="-35" dirty="0">
                <a:latin typeface="Arial"/>
                <a:cs typeface="Arial"/>
              </a:rPr>
              <a:t> </a:t>
            </a:r>
            <a:r>
              <a:rPr sz="900" dirty="0">
                <a:latin typeface="Arial"/>
                <a:cs typeface="Arial"/>
              </a:rPr>
              <a:t>that</a:t>
            </a:r>
            <a:r>
              <a:rPr sz="900" spc="-35"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detected</a:t>
            </a:r>
            <a:r>
              <a:rPr sz="900" spc="-35" dirty="0">
                <a:latin typeface="Arial"/>
                <a:cs typeface="Arial"/>
              </a:rPr>
              <a:t> </a:t>
            </a:r>
            <a:r>
              <a:rPr sz="900" dirty="0">
                <a:latin typeface="Arial"/>
                <a:cs typeface="Arial"/>
              </a:rPr>
              <a:t>failure</a:t>
            </a:r>
            <a:r>
              <a:rPr sz="900" spc="-35" dirty="0">
                <a:latin typeface="Arial"/>
                <a:cs typeface="Arial"/>
              </a:rPr>
              <a:t> </a:t>
            </a:r>
            <a:r>
              <a:rPr sz="900" dirty="0">
                <a:latin typeface="Arial"/>
                <a:cs typeface="Arial"/>
              </a:rPr>
              <a:t>may</a:t>
            </a:r>
            <a:r>
              <a:rPr sz="900" spc="-30" dirty="0">
                <a:latin typeface="Arial"/>
                <a:cs typeface="Arial"/>
              </a:rPr>
              <a:t> </a:t>
            </a:r>
            <a:r>
              <a:rPr sz="900" dirty="0">
                <a:latin typeface="Arial"/>
                <a:cs typeface="Arial"/>
              </a:rPr>
              <a:t>be</a:t>
            </a:r>
            <a:r>
              <a:rPr sz="900" spc="-35" dirty="0">
                <a:latin typeface="Arial"/>
                <a:cs typeface="Arial"/>
              </a:rPr>
              <a:t> </a:t>
            </a:r>
            <a:r>
              <a:rPr sz="900" spc="-10" dirty="0">
                <a:solidFill>
                  <a:srgbClr val="3333B2"/>
                </a:solidFill>
                <a:latin typeface="Arial"/>
                <a:cs typeface="Arial"/>
              </a:rPr>
              <a:t>false</a:t>
            </a:r>
            <a:r>
              <a:rPr sz="900" spc="-10" dirty="0">
                <a:latin typeface="Arial"/>
                <a:cs typeface="Arial"/>
              </a:rPr>
              <a:t>.</a:t>
            </a:r>
            <a:endParaRPr sz="900">
              <a:latin typeface="Arial"/>
              <a:cs typeface="Arial"/>
            </a:endParaRPr>
          </a:p>
        </p:txBody>
      </p:sp>
      <p:pic>
        <p:nvPicPr>
          <p:cNvPr id="5" name="object 5"/>
          <p:cNvPicPr/>
          <p:nvPr/>
        </p:nvPicPr>
        <p:blipFill>
          <a:blip r:embed="rId4" cstate="print"/>
          <a:stretch>
            <a:fillRect/>
          </a:stretch>
        </p:blipFill>
        <p:spPr>
          <a:xfrm>
            <a:off x="698245" y="1128660"/>
            <a:ext cx="3241989" cy="1200809"/>
          </a:xfrm>
          <a:prstGeom prst="rect">
            <a:avLst/>
          </a:prstGeom>
        </p:spPr>
      </p:pic>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484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Example:</a:t>
            </a:r>
            <a:r>
              <a:rPr sz="500" spc="5" dirty="0">
                <a:latin typeface="Arial"/>
                <a:cs typeface="Arial"/>
                <a:hlinkClick r:id="rId5" action="ppaction://hlinksldjump"/>
              </a:rPr>
              <a:t> </a:t>
            </a:r>
            <a:r>
              <a:rPr sz="500" spc="-10" dirty="0">
                <a:latin typeface="Arial"/>
                <a:cs typeface="Arial"/>
                <a:hlinkClick r:id="rId5" action="ppaction://hlinksldjump"/>
              </a:rPr>
              <a:t>Paxos</a:t>
            </a:r>
            <a:endParaRPr sz="500">
              <a:latin typeface="Arial"/>
              <a:cs typeface="Arial"/>
            </a:endParaRPr>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95300" y="197711"/>
            <a:ext cx="2026920" cy="645160"/>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Required</a:t>
            </a:r>
            <a:r>
              <a:rPr sz="1200" spc="-45" dirty="0">
                <a:solidFill>
                  <a:srgbClr val="3333B2"/>
                </a:solidFill>
                <a:latin typeface="Arial"/>
                <a:cs typeface="Arial"/>
              </a:rPr>
              <a:t> </a:t>
            </a:r>
            <a:r>
              <a:rPr sz="1200" dirty="0">
                <a:solidFill>
                  <a:srgbClr val="3333B2"/>
                </a:solidFill>
                <a:latin typeface="Arial"/>
                <a:cs typeface="Arial"/>
              </a:rPr>
              <a:t>number</a:t>
            </a:r>
            <a:r>
              <a:rPr sz="1200" spc="-45" dirty="0">
                <a:solidFill>
                  <a:srgbClr val="3333B2"/>
                </a:solidFill>
                <a:latin typeface="Arial"/>
                <a:cs typeface="Arial"/>
              </a:rPr>
              <a:t> </a:t>
            </a:r>
            <a:r>
              <a:rPr sz="1200" dirty="0">
                <a:solidFill>
                  <a:srgbClr val="3333B2"/>
                </a:solidFill>
                <a:latin typeface="Arial"/>
                <a:cs typeface="Arial"/>
              </a:rPr>
              <a:t>of</a:t>
            </a:r>
            <a:r>
              <a:rPr sz="1200" spc="-40" dirty="0">
                <a:solidFill>
                  <a:srgbClr val="3333B2"/>
                </a:solidFill>
                <a:latin typeface="Arial"/>
                <a:cs typeface="Arial"/>
              </a:rPr>
              <a:t> </a:t>
            </a:r>
            <a:r>
              <a:rPr sz="1200" spc="-10" dirty="0">
                <a:solidFill>
                  <a:srgbClr val="3333B2"/>
                </a:solidFill>
                <a:latin typeface="Arial"/>
                <a:cs typeface="Arial"/>
              </a:rPr>
              <a:t>servers</a:t>
            </a:r>
            <a:endParaRPr sz="1200">
              <a:latin typeface="Arial"/>
              <a:cs typeface="Arial"/>
            </a:endParaRPr>
          </a:p>
          <a:p>
            <a:pPr marL="264160">
              <a:lnSpc>
                <a:spcPct val="100000"/>
              </a:lnSpc>
              <a:spcBef>
                <a:spcPts val="1055"/>
              </a:spcBef>
            </a:pPr>
            <a:r>
              <a:rPr sz="1000" spc="-10" dirty="0">
                <a:solidFill>
                  <a:srgbClr val="C80000"/>
                </a:solidFill>
                <a:latin typeface="Arial"/>
                <a:cs typeface="Arial"/>
              </a:rPr>
              <a:t>Observation</a:t>
            </a:r>
            <a:endParaRPr sz="1000">
              <a:latin typeface="Arial"/>
              <a:cs typeface="Arial"/>
            </a:endParaRPr>
          </a:p>
          <a:p>
            <a:pPr marL="264160">
              <a:lnSpc>
                <a:spcPct val="100000"/>
              </a:lnSpc>
              <a:spcBef>
                <a:spcPts val="105"/>
              </a:spcBef>
            </a:pPr>
            <a:r>
              <a:rPr sz="900" spc="-10" dirty="0">
                <a:latin typeface="Arial"/>
                <a:cs typeface="Arial"/>
              </a:rPr>
              <a:t>Paxos</a:t>
            </a:r>
            <a:r>
              <a:rPr sz="900" spc="-25" dirty="0">
                <a:latin typeface="Arial"/>
                <a:cs typeface="Arial"/>
              </a:rPr>
              <a:t> </a:t>
            </a:r>
            <a:r>
              <a:rPr sz="900" dirty="0">
                <a:latin typeface="Arial"/>
                <a:cs typeface="Arial"/>
              </a:rPr>
              <a:t>needs</a:t>
            </a:r>
            <a:r>
              <a:rPr sz="900" spc="-20" dirty="0">
                <a:latin typeface="Arial"/>
                <a:cs typeface="Arial"/>
              </a:rPr>
              <a:t> </a:t>
            </a:r>
            <a:r>
              <a:rPr sz="900" dirty="0">
                <a:latin typeface="Arial"/>
                <a:cs typeface="Arial"/>
              </a:rPr>
              <a:t>at</a:t>
            </a:r>
            <a:r>
              <a:rPr sz="900" spc="-25" dirty="0">
                <a:latin typeface="Arial"/>
                <a:cs typeface="Arial"/>
              </a:rPr>
              <a:t> </a:t>
            </a:r>
            <a:r>
              <a:rPr sz="900" dirty="0">
                <a:latin typeface="Arial"/>
                <a:cs typeface="Arial"/>
              </a:rPr>
              <a:t>least</a:t>
            </a:r>
            <a:r>
              <a:rPr sz="900" spc="-20" dirty="0">
                <a:latin typeface="Arial"/>
                <a:cs typeface="Arial"/>
              </a:rPr>
              <a:t> </a:t>
            </a:r>
            <a:r>
              <a:rPr sz="900" dirty="0">
                <a:latin typeface="Arial"/>
                <a:cs typeface="Arial"/>
              </a:rPr>
              <a:t>three</a:t>
            </a:r>
            <a:r>
              <a:rPr sz="900" spc="-25" dirty="0">
                <a:latin typeface="Arial"/>
                <a:cs typeface="Arial"/>
              </a:rPr>
              <a:t> </a:t>
            </a:r>
            <a:r>
              <a:rPr sz="900" spc="-10" dirty="0">
                <a:latin typeface="Arial"/>
                <a:cs typeface="Arial"/>
              </a:rPr>
              <a:t>servers</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484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Example:</a:t>
            </a:r>
            <a:r>
              <a:rPr sz="500" spc="5" dirty="0">
                <a:latin typeface="Arial"/>
                <a:cs typeface="Arial"/>
                <a:hlinkClick r:id="rId4" action="ppaction://hlinksldjump"/>
              </a:rPr>
              <a:t> </a:t>
            </a:r>
            <a:r>
              <a:rPr sz="500" spc="-10" dirty="0">
                <a:latin typeface="Arial"/>
                <a:cs typeface="Arial"/>
                <a:hlinkClick r:id="rId4" action="ppaction://hlinksldjump"/>
              </a:rPr>
              <a:t>Paxos</a:t>
            </a:r>
            <a:endParaRPr sz="500">
              <a:latin typeface="Arial"/>
              <a:cs typeface="Arial"/>
            </a:endParaRP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74465"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Required</a:t>
            </a:r>
            <a:r>
              <a:rPr spc="-45" dirty="0"/>
              <a:t> </a:t>
            </a:r>
            <a:r>
              <a:rPr dirty="0"/>
              <a:t>number</a:t>
            </a:r>
            <a:r>
              <a:rPr spc="-45" dirty="0"/>
              <a:t> </a:t>
            </a:r>
            <a:r>
              <a:rPr dirty="0"/>
              <a:t>of</a:t>
            </a:r>
            <a:r>
              <a:rPr spc="-40" dirty="0"/>
              <a:t> </a:t>
            </a:r>
            <a:r>
              <a:rPr spc="-10" dirty="0"/>
              <a:t>servers</a:t>
            </a:r>
          </a:p>
        </p:txBody>
      </p:sp>
      <p:sp>
        <p:nvSpPr>
          <p:cNvPr id="4" name="object 4"/>
          <p:cNvSpPr txBox="1"/>
          <p:nvPr/>
        </p:nvSpPr>
        <p:spPr>
          <a:xfrm>
            <a:off x="343128" y="499307"/>
            <a:ext cx="3873500" cy="1080135"/>
          </a:xfrm>
          <a:prstGeom prst="rect">
            <a:avLst/>
          </a:prstGeom>
        </p:spPr>
        <p:txBody>
          <a:bodyPr vert="horz" wrap="square" lIns="0" tIns="27305" rIns="0" bIns="0" rtlCol="0">
            <a:spAutoFit/>
          </a:bodyPr>
          <a:lstStyle/>
          <a:p>
            <a:pPr marL="16510">
              <a:lnSpc>
                <a:spcPct val="100000"/>
              </a:lnSpc>
              <a:spcBef>
                <a:spcPts val="215"/>
              </a:spcBef>
            </a:pPr>
            <a:r>
              <a:rPr sz="1000" spc="-10" dirty="0">
                <a:solidFill>
                  <a:srgbClr val="C80000"/>
                </a:solidFill>
                <a:latin typeface="Arial"/>
                <a:cs typeface="Arial"/>
              </a:rPr>
              <a:t>Observation</a:t>
            </a:r>
            <a:endParaRPr sz="1000">
              <a:latin typeface="Arial"/>
              <a:cs typeface="Arial"/>
            </a:endParaRPr>
          </a:p>
          <a:p>
            <a:pPr marL="16510">
              <a:lnSpc>
                <a:spcPct val="100000"/>
              </a:lnSpc>
              <a:spcBef>
                <a:spcPts val="105"/>
              </a:spcBef>
            </a:pPr>
            <a:r>
              <a:rPr sz="900" spc="-10" dirty="0">
                <a:latin typeface="Arial"/>
                <a:cs typeface="Arial"/>
              </a:rPr>
              <a:t>Paxos</a:t>
            </a:r>
            <a:r>
              <a:rPr sz="900" spc="-25" dirty="0">
                <a:latin typeface="Arial"/>
                <a:cs typeface="Arial"/>
              </a:rPr>
              <a:t> </a:t>
            </a:r>
            <a:r>
              <a:rPr sz="900" dirty="0">
                <a:latin typeface="Arial"/>
                <a:cs typeface="Arial"/>
              </a:rPr>
              <a:t>needs</a:t>
            </a:r>
            <a:r>
              <a:rPr sz="900" spc="-20" dirty="0">
                <a:latin typeface="Arial"/>
                <a:cs typeface="Arial"/>
              </a:rPr>
              <a:t> </a:t>
            </a:r>
            <a:r>
              <a:rPr sz="900" dirty="0">
                <a:latin typeface="Arial"/>
                <a:cs typeface="Arial"/>
              </a:rPr>
              <a:t>at</a:t>
            </a:r>
            <a:r>
              <a:rPr sz="900" spc="-25" dirty="0">
                <a:latin typeface="Arial"/>
                <a:cs typeface="Arial"/>
              </a:rPr>
              <a:t> </a:t>
            </a:r>
            <a:r>
              <a:rPr sz="900" dirty="0">
                <a:latin typeface="Arial"/>
                <a:cs typeface="Arial"/>
              </a:rPr>
              <a:t>least</a:t>
            </a:r>
            <a:r>
              <a:rPr sz="900" spc="-20" dirty="0">
                <a:latin typeface="Arial"/>
                <a:cs typeface="Arial"/>
              </a:rPr>
              <a:t> </a:t>
            </a:r>
            <a:r>
              <a:rPr sz="900" dirty="0">
                <a:latin typeface="Arial"/>
                <a:cs typeface="Arial"/>
              </a:rPr>
              <a:t>three</a:t>
            </a:r>
            <a:r>
              <a:rPr sz="900" spc="-25" dirty="0">
                <a:latin typeface="Arial"/>
                <a:cs typeface="Arial"/>
              </a:rPr>
              <a:t> </a:t>
            </a:r>
            <a:r>
              <a:rPr sz="900" spc="-10" dirty="0">
                <a:latin typeface="Arial"/>
                <a:cs typeface="Arial"/>
              </a:rPr>
              <a:t>servers</a:t>
            </a:r>
            <a:endParaRPr sz="900">
              <a:latin typeface="Arial"/>
              <a:cs typeface="Arial"/>
            </a:endParaRPr>
          </a:p>
          <a:p>
            <a:pPr marL="12700">
              <a:lnSpc>
                <a:spcPct val="100000"/>
              </a:lnSpc>
              <a:spcBef>
                <a:spcPts val="815"/>
              </a:spcBef>
            </a:pPr>
            <a:r>
              <a:rPr sz="1000" dirty="0">
                <a:solidFill>
                  <a:srgbClr val="C80000"/>
                </a:solidFill>
                <a:latin typeface="Arial"/>
                <a:cs typeface="Arial"/>
              </a:rPr>
              <a:t>Adapted</a:t>
            </a:r>
            <a:r>
              <a:rPr sz="1000" spc="-55" dirty="0">
                <a:solidFill>
                  <a:srgbClr val="C80000"/>
                </a:solidFill>
                <a:latin typeface="Arial"/>
                <a:cs typeface="Arial"/>
              </a:rPr>
              <a:t> </a:t>
            </a:r>
            <a:r>
              <a:rPr sz="1000" dirty="0">
                <a:solidFill>
                  <a:srgbClr val="C80000"/>
                </a:solidFill>
                <a:latin typeface="Arial"/>
                <a:cs typeface="Arial"/>
              </a:rPr>
              <a:t>fundamental</a:t>
            </a:r>
            <a:r>
              <a:rPr sz="1000" spc="-50" dirty="0">
                <a:solidFill>
                  <a:srgbClr val="C80000"/>
                </a:solidFill>
                <a:latin typeface="Arial"/>
                <a:cs typeface="Arial"/>
              </a:rPr>
              <a:t> </a:t>
            </a:r>
            <a:r>
              <a:rPr sz="1000" spc="-20" dirty="0">
                <a:solidFill>
                  <a:srgbClr val="C80000"/>
                </a:solidFill>
                <a:latin typeface="Arial"/>
                <a:cs typeface="Arial"/>
              </a:rPr>
              <a:t>rule</a:t>
            </a:r>
            <a:endParaRPr sz="1000">
              <a:latin typeface="Arial"/>
              <a:cs typeface="Arial"/>
            </a:endParaRPr>
          </a:p>
          <a:p>
            <a:pPr marL="16510" marR="5080">
              <a:lnSpc>
                <a:spcPct val="111600"/>
              </a:lnSpc>
              <a:spcBef>
                <a:spcPts val="170"/>
              </a:spcBef>
            </a:pPr>
            <a:r>
              <a:rPr sz="900" dirty="0">
                <a:latin typeface="Arial"/>
                <a:cs typeface="Arial"/>
              </a:rPr>
              <a:t>In</a:t>
            </a:r>
            <a:r>
              <a:rPr sz="900" spc="-25" dirty="0">
                <a:latin typeface="Arial"/>
                <a:cs typeface="Arial"/>
              </a:rPr>
              <a:t> </a:t>
            </a:r>
            <a:r>
              <a:rPr sz="900" spc="-10" dirty="0">
                <a:latin typeface="Arial"/>
                <a:cs typeface="Arial"/>
              </a:rPr>
              <a:t>Paxos</a:t>
            </a:r>
            <a:r>
              <a:rPr sz="900" spc="-25" dirty="0">
                <a:latin typeface="Arial"/>
                <a:cs typeface="Arial"/>
              </a:rPr>
              <a:t> </a:t>
            </a:r>
            <a:r>
              <a:rPr sz="900" dirty="0">
                <a:latin typeface="Arial"/>
                <a:cs typeface="Arial"/>
              </a:rPr>
              <a:t>with</a:t>
            </a:r>
            <a:r>
              <a:rPr sz="900" spc="-25" dirty="0">
                <a:latin typeface="Arial"/>
                <a:cs typeface="Arial"/>
              </a:rPr>
              <a:t> </a:t>
            </a:r>
            <a:r>
              <a:rPr sz="900" dirty="0">
                <a:latin typeface="Arial"/>
                <a:cs typeface="Arial"/>
              </a:rPr>
              <a:t>three</a:t>
            </a:r>
            <a:r>
              <a:rPr sz="900" spc="-25" dirty="0">
                <a:latin typeface="Arial"/>
                <a:cs typeface="Arial"/>
              </a:rPr>
              <a:t> </a:t>
            </a:r>
            <a:r>
              <a:rPr sz="900" dirty="0">
                <a:latin typeface="Arial"/>
                <a:cs typeface="Arial"/>
              </a:rPr>
              <a:t>servers,</a:t>
            </a:r>
            <a:r>
              <a:rPr sz="900" spc="-2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server</a:t>
            </a:r>
            <a:r>
              <a:rPr sz="900" spc="-25" dirty="0">
                <a:latin typeface="Arial"/>
                <a:cs typeface="Arial"/>
              </a:rPr>
              <a:t> </a:t>
            </a:r>
            <a:r>
              <a:rPr sz="900" i="1" dirty="0">
                <a:latin typeface="Arial"/>
                <a:cs typeface="Arial"/>
              </a:rPr>
              <a:t>S</a:t>
            </a:r>
            <a:r>
              <a:rPr sz="900" i="1" spc="20" dirty="0">
                <a:latin typeface="Arial"/>
                <a:cs typeface="Arial"/>
              </a:rPr>
              <a:t> </a:t>
            </a:r>
            <a:r>
              <a:rPr sz="900" dirty="0">
                <a:latin typeface="Arial"/>
                <a:cs typeface="Arial"/>
              </a:rPr>
              <a:t>cannot</a:t>
            </a:r>
            <a:r>
              <a:rPr sz="900" spc="-25" dirty="0">
                <a:latin typeface="Arial"/>
                <a:cs typeface="Arial"/>
              </a:rPr>
              <a:t> </a:t>
            </a:r>
            <a:r>
              <a:rPr sz="900" spc="-10" dirty="0">
                <a:latin typeface="Arial"/>
                <a:cs typeface="Arial"/>
              </a:rPr>
              <a:t>execute</a:t>
            </a:r>
            <a:r>
              <a:rPr sz="900" spc="-25" dirty="0">
                <a:latin typeface="Arial"/>
                <a:cs typeface="Arial"/>
              </a:rPr>
              <a:t> </a:t>
            </a:r>
            <a:r>
              <a:rPr sz="900" dirty="0">
                <a:latin typeface="Arial"/>
                <a:cs typeface="Arial"/>
              </a:rPr>
              <a:t>an</a:t>
            </a:r>
            <a:r>
              <a:rPr sz="900" spc="-25" dirty="0">
                <a:latin typeface="Arial"/>
                <a:cs typeface="Arial"/>
              </a:rPr>
              <a:t> </a:t>
            </a:r>
            <a:r>
              <a:rPr sz="900" dirty="0">
                <a:latin typeface="Arial"/>
                <a:cs typeface="Arial"/>
              </a:rPr>
              <a:t>operation</a:t>
            </a:r>
            <a:r>
              <a:rPr sz="900" spc="-20" dirty="0">
                <a:latin typeface="Arial"/>
                <a:cs typeface="Arial"/>
              </a:rPr>
              <a:t> </a:t>
            </a:r>
            <a:r>
              <a:rPr sz="900" i="1" dirty="0">
                <a:latin typeface="Arial"/>
                <a:cs typeface="Arial"/>
              </a:rPr>
              <a:t>o </a:t>
            </a:r>
            <a:r>
              <a:rPr sz="900" dirty="0">
                <a:latin typeface="Arial"/>
                <a:cs typeface="Arial"/>
              </a:rPr>
              <a:t>until</a:t>
            </a:r>
            <a:r>
              <a:rPr sz="900" spc="-20" dirty="0">
                <a:latin typeface="Arial"/>
                <a:cs typeface="Arial"/>
              </a:rPr>
              <a:t> </a:t>
            </a:r>
            <a:r>
              <a:rPr sz="900" spc="-25" dirty="0">
                <a:latin typeface="Arial"/>
                <a:cs typeface="Arial"/>
              </a:rPr>
              <a:t>it </a:t>
            </a:r>
            <a:r>
              <a:rPr sz="900" dirty="0">
                <a:latin typeface="Arial"/>
                <a:cs typeface="Arial"/>
              </a:rPr>
              <a:t>has</a:t>
            </a:r>
            <a:r>
              <a:rPr sz="900" spc="-25" dirty="0">
                <a:latin typeface="Arial"/>
                <a:cs typeface="Arial"/>
              </a:rPr>
              <a:t> </a:t>
            </a:r>
            <a:r>
              <a:rPr sz="900" spc="-10" dirty="0">
                <a:latin typeface="Arial"/>
                <a:cs typeface="Arial"/>
              </a:rPr>
              <a:t>received</a:t>
            </a:r>
            <a:r>
              <a:rPr sz="900" spc="-20" dirty="0">
                <a:latin typeface="Arial"/>
                <a:cs typeface="Arial"/>
              </a:rPr>
              <a:t> </a:t>
            </a:r>
            <a:r>
              <a:rPr sz="900" dirty="0">
                <a:latin typeface="Arial"/>
                <a:cs typeface="Arial"/>
              </a:rPr>
              <a:t>at</a:t>
            </a:r>
            <a:r>
              <a:rPr sz="900" spc="-20" dirty="0">
                <a:latin typeface="Arial"/>
                <a:cs typeface="Arial"/>
              </a:rPr>
              <a:t> </a:t>
            </a:r>
            <a:r>
              <a:rPr sz="900" dirty="0">
                <a:latin typeface="Arial"/>
                <a:cs typeface="Arial"/>
              </a:rPr>
              <a:t>least</a:t>
            </a:r>
            <a:r>
              <a:rPr sz="900" spc="-20" dirty="0">
                <a:latin typeface="Arial"/>
                <a:cs typeface="Arial"/>
              </a:rPr>
              <a:t> </a:t>
            </a:r>
            <a:r>
              <a:rPr sz="900" dirty="0">
                <a:latin typeface="Arial"/>
                <a:cs typeface="Arial"/>
              </a:rPr>
              <a:t>one</a:t>
            </a:r>
            <a:r>
              <a:rPr sz="900" spc="-20" dirty="0">
                <a:latin typeface="Arial"/>
                <a:cs typeface="Arial"/>
              </a:rPr>
              <a:t> </a:t>
            </a:r>
            <a:r>
              <a:rPr sz="900" dirty="0">
                <a:latin typeface="Arial"/>
                <a:cs typeface="Arial"/>
              </a:rPr>
              <a:t>(other)</a:t>
            </a:r>
            <a:r>
              <a:rPr sz="900" spc="5" dirty="0">
                <a:latin typeface="Arial"/>
                <a:cs typeface="Arial"/>
              </a:rPr>
              <a:t> </a:t>
            </a:r>
            <a:r>
              <a:rPr sz="700" spc="45" dirty="0">
                <a:latin typeface="Arial"/>
                <a:cs typeface="Arial"/>
              </a:rPr>
              <a:t>LEARN</a:t>
            </a:r>
            <a:r>
              <a:rPr sz="900" spc="45" dirty="0">
                <a:latin typeface="Arial"/>
                <a:cs typeface="Arial"/>
              </a:rPr>
              <a:t>(</a:t>
            </a:r>
            <a:r>
              <a:rPr sz="900" i="1" spc="45" dirty="0">
                <a:latin typeface="Arial"/>
                <a:cs typeface="Arial"/>
              </a:rPr>
              <a:t>o</a:t>
            </a:r>
            <a:r>
              <a:rPr sz="900" spc="45" dirty="0">
                <a:latin typeface="Arial"/>
                <a:cs typeface="Arial"/>
              </a:rPr>
              <a:t>)</a:t>
            </a:r>
            <a:r>
              <a:rPr sz="900" spc="-20" dirty="0">
                <a:latin typeface="Arial"/>
                <a:cs typeface="Arial"/>
              </a:rPr>
              <a:t> </a:t>
            </a:r>
            <a:r>
              <a:rPr sz="900" dirty="0">
                <a:latin typeface="Arial"/>
                <a:cs typeface="Arial"/>
              </a:rPr>
              <a:t>message,</a:t>
            </a:r>
            <a:r>
              <a:rPr sz="900" spc="-20" dirty="0">
                <a:latin typeface="Arial"/>
                <a:cs typeface="Arial"/>
              </a:rPr>
              <a:t> </a:t>
            </a:r>
            <a:r>
              <a:rPr sz="900" dirty="0">
                <a:latin typeface="Arial"/>
                <a:cs typeface="Arial"/>
              </a:rPr>
              <a:t>so</a:t>
            </a:r>
            <a:r>
              <a:rPr sz="900" spc="-20" dirty="0">
                <a:latin typeface="Arial"/>
                <a:cs typeface="Arial"/>
              </a:rPr>
              <a:t> </a:t>
            </a:r>
            <a:r>
              <a:rPr sz="900" dirty="0">
                <a:latin typeface="Arial"/>
                <a:cs typeface="Arial"/>
              </a:rPr>
              <a:t>that</a:t>
            </a:r>
            <a:r>
              <a:rPr sz="900" spc="-20" dirty="0">
                <a:latin typeface="Arial"/>
                <a:cs typeface="Arial"/>
              </a:rPr>
              <a:t> </a:t>
            </a:r>
            <a:r>
              <a:rPr sz="900" dirty="0">
                <a:latin typeface="Arial"/>
                <a:cs typeface="Arial"/>
              </a:rPr>
              <a:t>it</a:t>
            </a:r>
            <a:r>
              <a:rPr sz="900" spc="-20" dirty="0">
                <a:latin typeface="Arial"/>
                <a:cs typeface="Arial"/>
              </a:rPr>
              <a:t> </a:t>
            </a:r>
            <a:r>
              <a:rPr sz="900" dirty="0">
                <a:latin typeface="Arial"/>
                <a:cs typeface="Arial"/>
              </a:rPr>
              <a:t>knows</a:t>
            </a:r>
            <a:r>
              <a:rPr sz="900" spc="-20" dirty="0">
                <a:latin typeface="Arial"/>
                <a:cs typeface="Arial"/>
              </a:rPr>
              <a:t> </a:t>
            </a:r>
            <a:r>
              <a:rPr sz="900" dirty="0">
                <a:latin typeface="Arial"/>
                <a:cs typeface="Arial"/>
              </a:rPr>
              <a:t>that</a:t>
            </a:r>
            <a:r>
              <a:rPr sz="900" spc="-20" dirty="0">
                <a:latin typeface="Arial"/>
                <a:cs typeface="Arial"/>
              </a:rPr>
              <a:t> </a:t>
            </a:r>
            <a:r>
              <a:rPr sz="900" spc="-50" dirty="0">
                <a:latin typeface="Arial"/>
                <a:cs typeface="Arial"/>
              </a:rPr>
              <a:t>a</a:t>
            </a:r>
            <a:r>
              <a:rPr sz="900" dirty="0">
                <a:latin typeface="Arial"/>
                <a:cs typeface="Arial"/>
              </a:rPr>
              <a:t> majority</a:t>
            </a:r>
            <a:r>
              <a:rPr sz="900" spc="-25"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servers</a:t>
            </a:r>
            <a:r>
              <a:rPr sz="900" spc="-25" dirty="0">
                <a:latin typeface="Arial"/>
                <a:cs typeface="Arial"/>
              </a:rPr>
              <a:t> </a:t>
            </a:r>
            <a:r>
              <a:rPr sz="900" dirty="0">
                <a:latin typeface="Arial"/>
                <a:cs typeface="Arial"/>
              </a:rPr>
              <a:t>will</a:t>
            </a:r>
            <a:r>
              <a:rPr sz="900" spc="-20" dirty="0">
                <a:latin typeface="Arial"/>
                <a:cs typeface="Arial"/>
              </a:rPr>
              <a:t> </a:t>
            </a:r>
            <a:r>
              <a:rPr sz="900" spc="-10" dirty="0">
                <a:latin typeface="Arial"/>
                <a:cs typeface="Arial"/>
              </a:rPr>
              <a:t>execute</a:t>
            </a:r>
            <a:r>
              <a:rPr sz="900" spc="-25" dirty="0">
                <a:latin typeface="Arial"/>
                <a:cs typeface="Arial"/>
              </a:rPr>
              <a:t> </a:t>
            </a:r>
            <a:r>
              <a:rPr sz="900" i="1" spc="-25" dirty="0">
                <a:latin typeface="Arial"/>
                <a:cs typeface="Arial"/>
              </a:rPr>
              <a:t>o</a:t>
            </a:r>
            <a:r>
              <a:rPr sz="900" spc="-25" dirty="0">
                <a:latin typeface="Arial"/>
                <a:cs typeface="Arial"/>
              </a:rPr>
              <a:t>.</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484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Example:</a:t>
            </a:r>
            <a:r>
              <a:rPr sz="500" spc="5" dirty="0">
                <a:latin typeface="Arial"/>
                <a:cs typeface="Arial"/>
                <a:hlinkClick r:id="rId4" action="ppaction://hlinksldjump"/>
              </a:rPr>
              <a:t> </a:t>
            </a:r>
            <a:r>
              <a:rPr sz="500" spc="-10" dirty="0">
                <a:latin typeface="Arial"/>
                <a:cs typeface="Arial"/>
                <a:hlinkClick r:id="rId4" action="ppaction://hlinksldjump"/>
              </a:rPr>
              <a:t>Paxos</a:t>
            </a:r>
            <a:endParaRPr sz="500">
              <a:latin typeface="Arial"/>
              <a:cs typeface="Arial"/>
            </a:endParaRPr>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74465"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Required</a:t>
            </a:r>
            <a:r>
              <a:rPr spc="-45" dirty="0"/>
              <a:t> </a:t>
            </a:r>
            <a:r>
              <a:rPr dirty="0"/>
              <a:t>number</a:t>
            </a:r>
            <a:r>
              <a:rPr spc="-45" dirty="0"/>
              <a:t> </a:t>
            </a:r>
            <a:r>
              <a:rPr dirty="0"/>
              <a:t>of</a:t>
            </a:r>
            <a:r>
              <a:rPr spc="-40" dirty="0"/>
              <a:t> </a:t>
            </a:r>
            <a:r>
              <a:rPr spc="-10" dirty="0"/>
              <a:t>servers</a:t>
            </a:r>
          </a:p>
        </p:txBody>
      </p:sp>
      <p:sp>
        <p:nvSpPr>
          <p:cNvPr id="4" name="object 4"/>
          <p:cNvSpPr txBox="1"/>
          <p:nvPr/>
        </p:nvSpPr>
        <p:spPr>
          <a:xfrm>
            <a:off x="330428" y="514774"/>
            <a:ext cx="3880485" cy="1170305"/>
          </a:xfrm>
          <a:prstGeom prst="rect">
            <a:avLst/>
          </a:prstGeom>
        </p:spPr>
        <p:txBody>
          <a:bodyPr vert="horz" wrap="square" lIns="0" tIns="12065" rIns="0" bIns="0" rtlCol="0">
            <a:spAutoFit/>
          </a:bodyPr>
          <a:lstStyle/>
          <a:p>
            <a:pPr marL="25400">
              <a:lnSpc>
                <a:spcPct val="100000"/>
              </a:lnSpc>
              <a:spcBef>
                <a:spcPts val="95"/>
              </a:spcBef>
            </a:pPr>
            <a:r>
              <a:rPr sz="1000" dirty="0">
                <a:solidFill>
                  <a:srgbClr val="3333B2"/>
                </a:solidFill>
                <a:latin typeface="Arial"/>
                <a:cs typeface="Arial"/>
              </a:rPr>
              <a:t>Assumptions</a:t>
            </a:r>
            <a:r>
              <a:rPr sz="1000" spc="-50" dirty="0">
                <a:solidFill>
                  <a:srgbClr val="3333B2"/>
                </a:solidFill>
                <a:latin typeface="Arial"/>
                <a:cs typeface="Arial"/>
              </a:rPr>
              <a:t> </a:t>
            </a:r>
            <a:r>
              <a:rPr sz="1000" dirty="0">
                <a:solidFill>
                  <a:srgbClr val="3333B2"/>
                </a:solidFill>
                <a:latin typeface="Arial"/>
                <a:cs typeface="Arial"/>
              </a:rPr>
              <a:t>before</a:t>
            </a:r>
            <a:r>
              <a:rPr sz="1000" spc="-45" dirty="0">
                <a:solidFill>
                  <a:srgbClr val="3333B2"/>
                </a:solidFill>
                <a:latin typeface="Arial"/>
                <a:cs typeface="Arial"/>
              </a:rPr>
              <a:t> </a:t>
            </a:r>
            <a:r>
              <a:rPr sz="1000" dirty="0">
                <a:solidFill>
                  <a:srgbClr val="3333B2"/>
                </a:solidFill>
                <a:latin typeface="Arial"/>
                <a:cs typeface="Arial"/>
              </a:rPr>
              <a:t>taking</a:t>
            </a:r>
            <a:r>
              <a:rPr sz="1000" spc="-45" dirty="0">
                <a:solidFill>
                  <a:srgbClr val="3333B2"/>
                </a:solidFill>
                <a:latin typeface="Arial"/>
                <a:cs typeface="Arial"/>
              </a:rPr>
              <a:t> </a:t>
            </a:r>
            <a:r>
              <a:rPr sz="1000" dirty="0">
                <a:solidFill>
                  <a:srgbClr val="3333B2"/>
                </a:solidFill>
                <a:latin typeface="Arial"/>
                <a:cs typeface="Arial"/>
              </a:rPr>
              <a:t>the</a:t>
            </a:r>
            <a:r>
              <a:rPr sz="1000" spc="-45" dirty="0">
                <a:solidFill>
                  <a:srgbClr val="3333B2"/>
                </a:solidFill>
                <a:latin typeface="Arial"/>
                <a:cs typeface="Arial"/>
              </a:rPr>
              <a:t> </a:t>
            </a:r>
            <a:r>
              <a:rPr sz="1000" dirty="0">
                <a:solidFill>
                  <a:srgbClr val="3333B2"/>
                </a:solidFill>
                <a:latin typeface="Arial"/>
                <a:cs typeface="Arial"/>
              </a:rPr>
              <a:t>next</a:t>
            </a:r>
            <a:r>
              <a:rPr sz="1000" spc="-50" dirty="0">
                <a:solidFill>
                  <a:srgbClr val="3333B2"/>
                </a:solidFill>
                <a:latin typeface="Arial"/>
                <a:cs typeface="Arial"/>
              </a:rPr>
              <a:t> </a:t>
            </a:r>
            <a:r>
              <a:rPr sz="1000" spc="-10" dirty="0">
                <a:solidFill>
                  <a:srgbClr val="3333B2"/>
                </a:solidFill>
                <a:latin typeface="Arial"/>
                <a:cs typeface="Arial"/>
              </a:rPr>
              <a:t>steps</a:t>
            </a:r>
            <a:endParaRPr sz="1000">
              <a:latin typeface="Arial"/>
              <a:cs typeface="Arial"/>
            </a:endParaRPr>
          </a:p>
          <a:p>
            <a:pPr marL="282575" indent="-121285">
              <a:lnSpc>
                <a:spcPct val="100000"/>
              </a:lnSpc>
              <a:spcBef>
                <a:spcPts val="710"/>
              </a:spcBef>
              <a:buClr>
                <a:srgbClr val="3333B2"/>
              </a:buClr>
              <a:buFont typeface="Menlo"/>
              <a:buChar char="•"/>
              <a:tabLst>
                <a:tab pos="283210" algn="l"/>
              </a:tabLst>
            </a:pPr>
            <a:r>
              <a:rPr sz="900" spc="-10" dirty="0">
                <a:latin typeface="Arial"/>
                <a:cs typeface="Arial"/>
              </a:rPr>
              <a:t>Initially,</a:t>
            </a:r>
            <a:r>
              <a:rPr sz="900" spc="-20" dirty="0">
                <a:latin typeface="Arial"/>
                <a:cs typeface="Arial"/>
              </a:rPr>
              <a:t> </a:t>
            </a:r>
            <a:r>
              <a:rPr sz="900" i="1" dirty="0">
                <a:latin typeface="Arial"/>
                <a:cs typeface="Arial"/>
              </a:rPr>
              <a:t>S</a:t>
            </a:r>
            <a:r>
              <a:rPr sz="1050" i="1" baseline="-15873" dirty="0">
                <a:latin typeface="Arial"/>
                <a:cs typeface="Arial"/>
              </a:rPr>
              <a:t>1</a:t>
            </a:r>
            <a:r>
              <a:rPr sz="1050" i="1" spc="127" baseline="-15873" dirty="0">
                <a:latin typeface="Arial"/>
                <a:cs typeface="Arial"/>
              </a:rPr>
              <a:t> </a:t>
            </a:r>
            <a:r>
              <a:rPr sz="900" dirty="0">
                <a:latin typeface="Arial"/>
                <a:cs typeface="Arial"/>
              </a:rPr>
              <a:t>is</a:t>
            </a:r>
            <a:r>
              <a:rPr sz="900" spc="-15" dirty="0">
                <a:latin typeface="Arial"/>
                <a:cs typeface="Arial"/>
              </a:rPr>
              <a:t> </a:t>
            </a:r>
            <a:r>
              <a:rPr sz="900" dirty="0">
                <a:latin typeface="Arial"/>
                <a:cs typeface="Arial"/>
              </a:rPr>
              <a:t>the</a:t>
            </a:r>
            <a:r>
              <a:rPr sz="900" spc="-15" dirty="0">
                <a:latin typeface="Arial"/>
                <a:cs typeface="Arial"/>
              </a:rPr>
              <a:t> </a:t>
            </a:r>
            <a:r>
              <a:rPr sz="900" spc="-10" dirty="0">
                <a:latin typeface="Arial"/>
                <a:cs typeface="Arial"/>
              </a:rPr>
              <a:t>leader.</a:t>
            </a:r>
            <a:endParaRPr sz="900">
              <a:latin typeface="Arial"/>
              <a:cs typeface="Arial"/>
            </a:endParaRPr>
          </a:p>
          <a:p>
            <a:pPr marL="282575" marR="17780" indent="-120650">
              <a:lnSpc>
                <a:spcPct val="111600"/>
              </a:lnSpc>
              <a:buClr>
                <a:srgbClr val="3333B2"/>
              </a:buClr>
              <a:buFont typeface="Menlo"/>
              <a:buChar char="•"/>
              <a:tabLst>
                <a:tab pos="279400" algn="l"/>
              </a:tabLst>
            </a:pPr>
            <a:r>
              <a:rPr sz="900" dirty="0">
                <a:latin typeface="Arial"/>
                <a:cs typeface="Arial"/>
              </a:rPr>
              <a:t>A</a:t>
            </a:r>
            <a:r>
              <a:rPr sz="900" spc="-25" dirty="0">
                <a:latin typeface="Arial"/>
                <a:cs typeface="Arial"/>
              </a:rPr>
              <a:t> </a:t>
            </a:r>
            <a:r>
              <a:rPr sz="900" dirty="0">
                <a:latin typeface="Arial"/>
                <a:cs typeface="Arial"/>
              </a:rPr>
              <a:t>server</a:t>
            </a:r>
            <a:r>
              <a:rPr sz="900" spc="-25" dirty="0">
                <a:latin typeface="Arial"/>
                <a:cs typeface="Arial"/>
              </a:rPr>
              <a:t> </a:t>
            </a:r>
            <a:r>
              <a:rPr sz="900" dirty="0">
                <a:latin typeface="Arial"/>
                <a:cs typeface="Arial"/>
              </a:rPr>
              <a:t>can</a:t>
            </a:r>
            <a:r>
              <a:rPr sz="900" spc="-25" dirty="0">
                <a:latin typeface="Arial"/>
                <a:cs typeface="Arial"/>
              </a:rPr>
              <a:t> </a:t>
            </a:r>
            <a:r>
              <a:rPr sz="900" dirty="0">
                <a:solidFill>
                  <a:srgbClr val="3333B2"/>
                </a:solidFill>
                <a:latin typeface="Arial"/>
                <a:cs typeface="Arial"/>
              </a:rPr>
              <a:t>reliably</a:t>
            </a:r>
            <a:r>
              <a:rPr sz="900" spc="-20" dirty="0">
                <a:solidFill>
                  <a:srgbClr val="3333B2"/>
                </a:solidFill>
                <a:latin typeface="Arial"/>
                <a:cs typeface="Arial"/>
              </a:rPr>
              <a:t> </a:t>
            </a:r>
            <a:r>
              <a:rPr sz="900" dirty="0">
                <a:solidFill>
                  <a:srgbClr val="3333B2"/>
                </a:solidFill>
                <a:latin typeface="Arial"/>
                <a:cs typeface="Arial"/>
              </a:rPr>
              <a:t>detect</a:t>
            </a:r>
            <a:r>
              <a:rPr sz="900" spc="-25" dirty="0">
                <a:solidFill>
                  <a:srgbClr val="3333B2"/>
                </a:solidFill>
                <a:latin typeface="Arial"/>
                <a:cs typeface="Arial"/>
              </a:rPr>
              <a:t> </a:t>
            </a:r>
            <a:r>
              <a:rPr sz="900" dirty="0">
                <a:solidFill>
                  <a:srgbClr val="3333B2"/>
                </a:solidFill>
                <a:latin typeface="Arial"/>
                <a:cs typeface="Arial"/>
              </a:rPr>
              <a:t>it</a:t>
            </a:r>
            <a:r>
              <a:rPr sz="900" spc="-25" dirty="0">
                <a:solidFill>
                  <a:srgbClr val="3333B2"/>
                </a:solidFill>
                <a:latin typeface="Arial"/>
                <a:cs typeface="Arial"/>
              </a:rPr>
              <a:t> </a:t>
            </a:r>
            <a:r>
              <a:rPr sz="900" dirty="0">
                <a:solidFill>
                  <a:srgbClr val="3333B2"/>
                </a:solidFill>
                <a:latin typeface="Arial"/>
                <a:cs typeface="Arial"/>
              </a:rPr>
              <a:t>has</a:t>
            </a:r>
            <a:r>
              <a:rPr sz="900" spc="-25" dirty="0">
                <a:solidFill>
                  <a:srgbClr val="3333B2"/>
                </a:solidFill>
                <a:latin typeface="Arial"/>
                <a:cs typeface="Arial"/>
              </a:rPr>
              <a:t> </a:t>
            </a:r>
            <a:r>
              <a:rPr sz="900" dirty="0">
                <a:solidFill>
                  <a:srgbClr val="3333B2"/>
                </a:solidFill>
                <a:latin typeface="Arial"/>
                <a:cs typeface="Arial"/>
              </a:rPr>
              <a:t>missed</a:t>
            </a:r>
            <a:r>
              <a:rPr sz="900" spc="-25" dirty="0">
                <a:solidFill>
                  <a:srgbClr val="3333B2"/>
                </a:solidFill>
                <a:latin typeface="Arial"/>
                <a:cs typeface="Arial"/>
              </a:rPr>
              <a:t> </a:t>
            </a:r>
            <a:r>
              <a:rPr sz="900" dirty="0">
                <a:solidFill>
                  <a:srgbClr val="3333B2"/>
                </a:solidFill>
                <a:latin typeface="Arial"/>
                <a:cs typeface="Arial"/>
              </a:rPr>
              <a:t>a</a:t>
            </a:r>
            <a:r>
              <a:rPr sz="900" spc="-20" dirty="0">
                <a:solidFill>
                  <a:srgbClr val="3333B2"/>
                </a:solidFill>
                <a:latin typeface="Arial"/>
                <a:cs typeface="Arial"/>
              </a:rPr>
              <a:t> </a:t>
            </a:r>
            <a:r>
              <a:rPr sz="900" dirty="0">
                <a:solidFill>
                  <a:srgbClr val="3333B2"/>
                </a:solidFill>
                <a:latin typeface="Arial"/>
                <a:cs typeface="Arial"/>
              </a:rPr>
              <a:t>message</a:t>
            </a:r>
            <a:r>
              <a:rPr sz="900" dirty="0">
                <a:latin typeface="Arial"/>
                <a:cs typeface="Arial"/>
              </a:rPr>
              <a:t>,</a:t>
            </a:r>
            <a:r>
              <a:rPr sz="900" spc="-25" dirty="0">
                <a:latin typeface="Arial"/>
                <a:cs typeface="Arial"/>
              </a:rPr>
              <a:t> </a:t>
            </a:r>
            <a:r>
              <a:rPr sz="900" dirty="0">
                <a:latin typeface="Arial"/>
                <a:cs typeface="Arial"/>
              </a:rPr>
              <a:t>and</a:t>
            </a:r>
            <a:r>
              <a:rPr sz="900" spc="-25" dirty="0">
                <a:latin typeface="Arial"/>
                <a:cs typeface="Arial"/>
              </a:rPr>
              <a:t> </a:t>
            </a:r>
            <a:r>
              <a:rPr sz="900" spc="-10" dirty="0">
                <a:latin typeface="Arial"/>
                <a:cs typeface="Arial"/>
              </a:rPr>
              <a:t>recover</a:t>
            </a:r>
            <a:r>
              <a:rPr sz="900" spc="-25" dirty="0">
                <a:latin typeface="Arial"/>
                <a:cs typeface="Arial"/>
              </a:rPr>
              <a:t> </a:t>
            </a:r>
            <a:r>
              <a:rPr sz="900" spc="-20" dirty="0">
                <a:latin typeface="Arial"/>
                <a:cs typeface="Arial"/>
              </a:rPr>
              <a:t>from </a:t>
            </a:r>
            <a:r>
              <a:rPr sz="900" dirty="0">
                <a:latin typeface="Arial"/>
                <a:cs typeface="Arial"/>
              </a:rPr>
              <a:t>that</a:t>
            </a:r>
            <a:r>
              <a:rPr sz="900" spc="-30" dirty="0">
                <a:latin typeface="Arial"/>
                <a:cs typeface="Arial"/>
              </a:rPr>
              <a:t> </a:t>
            </a:r>
            <a:r>
              <a:rPr sz="900" spc="-10" dirty="0">
                <a:latin typeface="Arial"/>
                <a:cs typeface="Arial"/>
              </a:rPr>
              <a:t>miss.</a:t>
            </a:r>
            <a:endParaRPr sz="900">
              <a:latin typeface="Arial"/>
              <a:cs typeface="Arial"/>
            </a:endParaRPr>
          </a:p>
          <a:p>
            <a:pPr marL="282575" marR="19050" indent="-120650">
              <a:lnSpc>
                <a:spcPct val="111600"/>
              </a:lnSpc>
              <a:buClr>
                <a:srgbClr val="3333B2"/>
              </a:buClr>
              <a:buFont typeface="Menlo"/>
              <a:buChar char="•"/>
              <a:tabLst>
                <a:tab pos="277495" algn="l"/>
              </a:tabLst>
            </a:pPr>
            <a:r>
              <a:rPr sz="900" dirty="0">
                <a:latin typeface="Arial"/>
                <a:cs typeface="Arial"/>
              </a:rPr>
              <a:t>When</a:t>
            </a:r>
            <a:r>
              <a:rPr sz="900" spc="-3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new</a:t>
            </a:r>
            <a:r>
              <a:rPr sz="900" spc="-25" dirty="0">
                <a:latin typeface="Arial"/>
                <a:cs typeface="Arial"/>
              </a:rPr>
              <a:t> </a:t>
            </a:r>
            <a:r>
              <a:rPr sz="900" dirty="0">
                <a:latin typeface="Arial"/>
                <a:cs typeface="Arial"/>
              </a:rPr>
              <a:t>leader</a:t>
            </a:r>
            <a:r>
              <a:rPr sz="900" spc="-25" dirty="0">
                <a:latin typeface="Arial"/>
                <a:cs typeface="Arial"/>
              </a:rPr>
              <a:t> </a:t>
            </a:r>
            <a:r>
              <a:rPr sz="900" dirty="0">
                <a:latin typeface="Arial"/>
                <a:cs typeface="Arial"/>
              </a:rPr>
              <a:t>needs</a:t>
            </a:r>
            <a:r>
              <a:rPr sz="900" spc="-3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be</a:t>
            </a:r>
            <a:r>
              <a:rPr sz="900" spc="-25" dirty="0">
                <a:latin typeface="Arial"/>
                <a:cs typeface="Arial"/>
              </a:rPr>
              <a:t> </a:t>
            </a:r>
            <a:r>
              <a:rPr sz="900" dirty="0">
                <a:latin typeface="Arial"/>
                <a:cs typeface="Arial"/>
              </a:rPr>
              <a:t>elected,</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remaining</a:t>
            </a:r>
            <a:r>
              <a:rPr sz="900" spc="-30" dirty="0">
                <a:latin typeface="Arial"/>
                <a:cs typeface="Arial"/>
              </a:rPr>
              <a:t> </a:t>
            </a:r>
            <a:r>
              <a:rPr sz="900" dirty="0">
                <a:latin typeface="Arial"/>
                <a:cs typeface="Arial"/>
              </a:rPr>
              <a:t>servers</a:t>
            </a:r>
            <a:r>
              <a:rPr sz="900" spc="-25" dirty="0">
                <a:latin typeface="Arial"/>
                <a:cs typeface="Arial"/>
              </a:rPr>
              <a:t> </a:t>
            </a:r>
            <a:r>
              <a:rPr sz="900" spc="-10" dirty="0">
                <a:latin typeface="Arial"/>
                <a:cs typeface="Arial"/>
              </a:rPr>
              <a:t>follow</a:t>
            </a:r>
            <a:r>
              <a:rPr sz="900" spc="-25" dirty="0">
                <a:latin typeface="Arial"/>
                <a:cs typeface="Arial"/>
              </a:rPr>
              <a:t> </a:t>
            </a:r>
            <a:r>
              <a:rPr sz="900" spc="-50" dirty="0">
                <a:latin typeface="Arial"/>
                <a:cs typeface="Arial"/>
              </a:rPr>
              <a:t>a</a:t>
            </a:r>
            <a:r>
              <a:rPr sz="900" dirty="0">
                <a:latin typeface="Arial"/>
                <a:cs typeface="Arial"/>
              </a:rPr>
              <a:t> </a:t>
            </a:r>
            <a:r>
              <a:rPr sz="900" dirty="0">
                <a:solidFill>
                  <a:srgbClr val="3333B2"/>
                </a:solidFill>
                <a:latin typeface="Arial"/>
                <a:cs typeface="Arial"/>
              </a:rPr>
              <a:t>strictly</a:t>
            </a:r>
            <a:r>
              <a:rPr sz="900" spc="-50" dirty="0">
                <a:solidFill>
                  <a:srgbClr val="3333B2"/>
                </a:solidFill>
                <a:latin typeface="Arial"/>
                <a:cs typeface="Arial"/>
              </a:rPr>
              <a:t> </a:t>
            </a:r>
            <a:r>
              <a:rPr sz="900" dirty="0">
                <a:solidFill>
                  <a:srgbClr val="3333B2"/>
                </a:solidFill>
                <a:latin typeface="Arial"/>
                <a:cs typeface="Arial"/>
              </a:rPr>
              <a:t>deterministic</a:t>
            </a:r>
            <a:r>
              <a:rPr sz="900" spc="-15" dirty="0">
                <a:solidFill>
                  <a:srgbClr val="3333B2"/>
                </a:solidFill>
                <a:latin typeface="Arial"/>
                <a:cs typeface="Arial"/>
              </a:rPr>
              <a:t> </a:t>
            </a:r>
            <a:r>
              <a:rPr sz="900" dirty="0">
                <a:solidFill>
                  <a:srgbClr val="3333B2"/>
                </a:solidFill>
                <a:latin typeface="Arial"/>
                <a:cs typeface="Arial"/>
              </a:rPr>
              <a:t>algorithm</a:t>
            </a:r>
            <a:r>
              <a:rPr sz="900" dirty="0">
                <a:latin typeface="Arial"/>
                <a:cs typeface="Arial"/>
              </a:rPr>
              <a:t>,</a:t>
            </a:r>
            <a:r>
              <a:rPr sz="900" spc="-15" dirty="0">
                <a:latin typeface="Arial"/>
                <a:cs typeface="Arial"/>
              </a:rPr>
              <a:t> </a:t>
            </a:r>
            <a:r>
              <a:rPr sz="900" dirty="0">
                <a:latin typeface="Arial"/>
                <a:cs typeface="Arial"/>
              </a:rPr>
              <a:t>such</a:t>
            </a:r>
            <a:r>
              <a:rPr sz="900" spc="-20" dirty="0">
                <a:latin typeface="Arial"/>
                <a:cs typeface="Arial"/>
              </a:rPr>
              <a:t> </a:t>
            </a:r>
            <a:r>
              <a:rPr sz="900" dirty="0">
                <a:latin typeface="Arial"/>
                <a:cs typeface="Arial"/>
              </a:rPr>
              <a:t>as</a:t>
            </a:r>
            <a:r>
              <a:rPr sz="900" spc="-15" dirty="0">
                <a:latin typeface="Arial"/>
                <a:cs typeface="Arial"/>
              </a:rPr>
              <a:t> </a:t>
            </a:r>
            <a:r>
              <a:rPr sz="900" i="1" dirty="0">
                <a:latin typeface="Arial"/>
                <a:cs typeface="Arial"/>
              </a:rPr>
              <a:t>S</a:t>
            </a:r>
            <a:r>
              <a:rPr sz="1050" i="1" baseline="-15873" dirty="0">
                <a:latin typeface="Arial"/>
                <a:cs typeface="Arial"/>
              </a:rPr>
              <a:t>1</a:t>
            </a:r>
            <a:r>
              <a:rPr sz="1050" i="1" spc="127" baseline="-15873" dirty="0">
                <a:latin typeface="Arial"/>
                <a:cs typeface="Arial"/>
              </a:rPr>
              <a:t> </a:t>
            </a:r>
            <a:r>
              <a:rPr sz="900" i="1" spc="350" dirty="0">
                <a:latin typeface="Menlo"/>
                <a:cs typeface="Menlo"/>
              </a:rPr>
              <a:t>→</a:t>
            </a:r>
            <a:r>
              <a:rPr sz="900" i="1" spc="-295" dirty="0">
                <a:latin typeface="Menlo"/>
                <a:cs typeface="Menlo"/>
              </a:rPr>
              <a:t> </a:t>
            </a:r>
            <a:r>
              <a:rPr sz="900" i="1" dirty="0">
                <a:latin typeface="Arial"/>
                <a:cs typeface="Arial"/>
              </a:rPr>
              <a:t>S</a:t>
            </a:r>
            <a:r>
              <a:rPr sz="1050" i="1" baseline="-15873" dirty="0">
                <a:latin typeface="Arial"/>
                <a:cs typeface="Arial"/>
              </a:rPr>
              <a:t>2</a:t>
            </a:r>
            <a:r>
              <a:rPr sz="1050" i="1" spc="187" baseline="-15873" dirty="0">
                <a:latin typeface="Arial"/>
                <a:cs typeface="Arial"/>
              </a:rPr>
              <a:t> </a:t>
            </a:r>
            <a:r>
              <a:rPr sz="900" i="1" spc="350" dirty="0">
                <a:latin typeface="Menlo"/>
                <a:cs typeface="Menlo"/>
              </a:rPr>
              <a:t>→</a:t>
            </a:r>
            <a:r>
              <a:rPr sz="900" i="1" spc="-295" dirty="0">
                <a:latin typeface="Menlo"/>
                <a:cs typeface="Menlo"/>
              </a:rPr>
              <a:t> </a:t>
            </a:r>
            <a:r>
              <a:rPr sz="900" i="1" spc="-10" dirty="0">
                <a:latin typeface="Arial"/>
                <a:cs typeface="Arial"/>
              </a:rPr>
              <a:t>S</a:t>
            </a:r>
            <a:r>
              <a:rPr sz="1050" i="1" spc="-15" baseline="-15873" dirty="0">
                <a:latin typeface="Arial"/>
                <a:cs typeface="Arial"/>
              </a:rPr>
              <a:t>3</a:t>
            </a:r>
            <a:r>
              <a:rPr sz="1050" i="1" spc="-165" baseline="-15873" dirty="0">
                <a:latin typeface="Arial"/>
                <a:cs typeface="Arial"/>
              </a:rPr>
              <a:t> </a:t>
            </a:r>
            <a:r>
              <a:rPr sz="900" spc="-50" dirty="0">
                <a:latin typeface="Arial"/>
                <a:cs typeface="Arial"/>
              </a:rPr>
              <a:t>.</a:t>
            </a:r>
            <a:endParaRPr sz="900">
              <a:latin typeface="Arial"/>
              <a:cs typeface="Arial"/>
            </a:endParaRPr>
          </a:p>
          <a:p>
            <a:pPr marL="278765" indent="-117475">
              <a:lnSpc>
                <a:spcPct val="100000"/>
              </a:lnSpc>
              <a:spcBef>
                <a:spcPts val="125"/>
              </a:spcBef>
              <a:buClr>
                <a:srgbClr val="3333B2"/>
              </a:buClr>
              <a:buFont typeface="Menlo"/>
              <a:buChar char="•"/>
              <a:tabLst>
                <a:tab pos="279400" algn="l"/>
              </a:tabLst>
            </a:pPr>
            <a:r>
              <a:rPr sz="900" dirty="0">
                <a:latin typeface="Arial"/>
                <a:cs typeface="Arial"/>
              </a:rPr>
              <a:t>A</a:t>
            </a:r>
            <a:r>
              <a:rPr sz="900" spc="-30" dirty="0">
                <a:latin typeface="Arial"/>
                <a:cs typeface="Arial"/>
              </a:rPr>
              <a:t> </a:t>
            </a:r>
            <a:r>
              <a:rPr sz="900" dirty="0">
                <a:latin typeface="Arial"/>
                <a:cs typeface="Arial"/>
              </a:rPr>
              <a:t>client</a:t>
            </a:r>
            <a:r>
              <a:rPr sz="900" spc="-25" dirty="0">
                <a:latin typeface="Arial"/>
                <a:cs typeface="Arial"/>
              </a:rPr>
              <a:t> </a:t>
            </a:r>
            <a:r>
              <a:rPr sz="900" dirty="0">
                <a:solidFill>
                  <a:srgbClr val="3333B2"/>
                </a:solidFill>
                <a:latin typeface="Arial"/>
                <a:cs typeface="Arial"/>
              </a:rPr>
              <a:t>cannot</a:t>
            </a:r>
            <a:r>
              <a:rPr sz="900" spc="-25" dirty="0">
                <a:solidFill>
                  <a:srgbClr val="3333B2"/>
                </a:solidFill>
                <a:latin typeface="Arial"/>
                <a:cs typeface="Arial"/>
              </a:rPr>
              <a:t> </a:t>
            </a:r>
            <a:r>
              <a:rPr sz="900" dirty="0">
                <a:solidFill>
                  <a:srgbClr val="3333B2"/>
                </a:solidFill>
                <a:latin typeface="Arial"/>
                <a:cs typeface="Arial"/>
              </a:rPr>
              <a:t>be</a:t>
            </a:r>
            <a:r>
              <a:rPr sz="900" spc="-25" dirty="0">
                <a:solidFill>
                  <a:srgbClr val="3333B2"/>
                </a:solidFill>
                <a:latin typeface="Arial"/>
                <a:cs typeface="Arial"/>
              </a:rPr>
              <a:t> </a:t>
            </a:r>
            <a:r>
              <a:rPr sz="900" dirty="0">
                <a:solidFill>
                  <a:srgbClr val="3333B2"/>
                </a:solidFill>
                <a:latin typeface="Arial"/>
                <a:cs typeface="Arial"/>
              </a:rPr>
              <a:t>asked</a:t>
            </a:r>
            <a:r>
              <a:rPr sz="900" spc="-25" dirty="0">
                <a:solidFill>
                  <a:srgbClr val="3333B2"/>
                </a:solidFill>
                <a:latin typeface="Arial"/>
                <a:cs typeface="Arial"/>
              </a:rPr>
              <a:t> </a:t>
            </a:r>
            <a:r>
              <a:rPr sz="900" dirty="0">
                <a:solidFill>
                  <a:srgbClr val="3333B2"/>
                </a:solidFill>
                <a:latin typeface="Arial"/>
                <a:cs typeface="Arial"/>
              </a:rPr>
              <a:t>to</a:t>
            </a:r>
            <a:r>
              <a:rPr sz="900" spc="-25" dirty="0">
                <a:solidFill>
                  <a:srgbClr val="3333B2"/>
                </a:solidFill>
                <a:latin typeface="Arial"/>
                <a:cs typeface="Arial"/>
              </a:rPr>
              <a:t> </a:t>
            </a:r>
            <a:r>
              <a:rPr sz="900" dirty="0">
                <a:solidFill>
                  <a:srgbClr val="3333B2"/>
                </a:solidFill>
                <a:latin typeface="Arial"/>
                <a:cs typeface="Arial"/>
              </a:rPr>
              <a:t>help</a:t>
            </a:r>
            <a:r>
              <a:rPr sz="900" spc="-25" dirty="0">
                <a:solidFill>
                  <a:srgbClr val="3333B2"/>
                </a:solidFill>
                <a:latin typeface="Arial"/>
                <a:cs typeface="Arial"/>
              </a:rPr>
              <a:t> </a:t>
            </a:r>
            <a:r>
              <a:rPr sz="900" dirty="0">
                <a:solidFill>
                  <a:srgbClr val="3333B2"/>
                </a:solidFill>
                <a:latin typeface="Arial"/>
                <a:cs typeface="Arial"/>
              </a:rPr>
              <a:t>the</a:t>
            </a:r>
            <a:r>
              <a:rPr sz="900" spc="-25" dirty="0">
                <a:solidFill>
                  <a:srgbClr val="3333B2"/>
                </a:solidFill>
                <a:latin typeface="Arial"/>
                <a:cs typeface="Arial"/>
              </a:rPr>
              <a:t> </a:t>
            </a:r>
            <a:r>
              <a:rPr sz="900" dirty="0">
                <a:solidFill>
                  <a:srgbClr val="3333B2"/>
                </a:solidFill>
                <a:latin typeface="Arial"/>
                <a:cs typeface="Arial"/>
              </a:rPr>
              <a:t>servers</a:t>
            </a:r>
            <a:r>
              <a:rPr sz="900" spc="-25" dirty="0">
                <a:solidFill>
                  <a:srgbClr val="3333B2"/>
                </a:solidFill>
                <a:latin typeface="Arial"/>
                <a:cs typeface="Arial"/>
              </a:rPr>
              <a:t> </a:t>
            </a:r>
            <a:r>
              <a:rPr sz="900" dirty="0">
                <a:latin typeface="Arial"/>
                <a:cs typeface="Arial"/>
              </a:rPr>
              <a:t>to</a:t>
            </a:r>
            <a:r>
              <a:rPr sz="900" spc="-25" dirty="0">
                <a:latin typeface="Arial"/>
                <a:cs typeface="Arial"/>
              </a:rPr>
              <a:t> </a:t>
            </a:r>
            <a:r>
              <a:rPr sz="900" dirty="0">
                <a:latin typeface="Arial"/>
                <a:cs typeface="Arial"/>
              </a:rPr>
              <a:t>resolve</a:t>
            </a:r>
            <a:r>
              <a:rPr sz="900" spc="-25"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situation.</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484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Example:</a:t>
            </a:r>
            <a:r>
              <a:rPr sz="500" spc="5" dirty="0">
                <a:latin typeface="Arial"/>
                <a:cs typeface="Arial"/>
                <a:hlinkClick r:id="rId4" action="ppaction://hlinksldjump"/>
              </a:rPr>
              <a:t> </a:t>
            </a:r>
            <a:r>
              <a:rPr sz="500" spc="-10" dirty="0">
                <a:latin typeface="Arial"/>
                <a:cs typeface="Arial"/>
                <a:hlinkClick r:id="rId4" action="ppaction://hlinksldjump"/>
              </a:rPr>
              <a:t>Paxos</a:t>
            </a:r>
            <a:endParaRPr sz="500">
              <a:latin typeface="Arial"/>
              <a:cs typeface="Arial"/>
            </a:endParaRPr>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74465"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Required</a:t>
            </a:r>
            <a:r>
              <a:rPr spc="-45" dirty="0"/>
              <a:t> </a:t>
            </a:r>
            <a:r>
              <a:rPr dirty="0"/>
              <a:t>number</a:t>
            </a:r>
            <a:r>
              <a:rPr spc="-45" dirty="0"/>
              <a:t> </a:t>
            </a:r>
            <a:r>
              <a:rPr dirty="0"/>
              <a:t>of</a:t>
            </a:r>
            <a:r>
              <a:rPr spc="-40" dirty="0"/>
              <a:t> </a:t>
            </a:r>
            <a:r>
              <a:rPr spc="-10" dirty="0"/>
              <a:t>servers</a:t>
            </a:r>
          </a:p>
        </p:txBody>
      </p:sp>
      <p:sp>
        <p:nvSpPr>
          <p:cNvPr id="4" name="object 4"/>
          <p:cNvSpPr txBox="1"/>
          <p:nvPr/>
        </p:nvSpPr>
        <p:spPr>
          <a:xfrm>
            <a:off x="309194" y="514774"/>
            <a:ext cx="3914140" cy="1803400"/>
          </a:xfrm>
          <a:prstGeom prst="rect">
            <a:avLst/>
          </a:prstGeom>
        </p:spPr>
        <p:txBody>
          <a:bodyPr vert="horz" wrap="square" lIns="0" tIns="12065" rIns="0" bIns="0" rtlCol="0">
            <a:spAutoFit/>
          </a:bodyPr>
          <a:lstStyle/>
          <a:p>
            <a:pPr marL="46355">
              <a:lnSpc>
                <a:spcPct val="100000"/>
              </a:lnSpc>
              <a:spcBef>
                <a:spcPts val="95"/>
              </a:spcBef>
            </a:pPr>
            <a:r>
              <a:rPr sz="1000" dirty="0">
                <a:solidFill>
                  <a:srgbClr val="3333B2"/>
                </a:solidFill>
                <a:latin typeface="Arial"/>
                <a:cs typeface="Arial"/>
              </a:rPr>
              <a:t>Assumptions</a:t>
            </a:r>
            <a:r>
              <a:rPr sz="1000" spc="-50" dirty="0">
                <a:solidFill>
                  <a:srgbClr val="3333B2"/>
                </a:solidFill>
                <a:latin typeface="Arial"/>
                <a:cs typeface="Arial"/>
              </a:rPr>
              <a:t> </a:t>
            </a:r>
            <a:r>
              <a:rPr sz="1000" dirty="0">
                <a:solidFill>
                  <a:srgbClr val="3333B2"/>
                </a:solidFill>
                <a:latin typeface="Arial"/>
                <a:cs typeface="Arial"/>
              </a:rPr>
              <a:t>before</a:t>
            </a:r>
            <a:r>
              <a:rPr sz="1000" spc="-45" dirty="0">
                <a:solidFill>
                  <a:srgbClr val="3333B2"/>
                </a:solidFill>
                <a:latin typeface="Arial"/>
                <a:cs typeface="Arial"/>
              </a:rPr>
              <a:t> </a:t>
            </a:r>
            <a:r>
              <a:rPr sz="1000" dirty="0">
                <a:solidFill>
                  <a:srgbClr val="3333B2"/>
                </a:solidFill>
                <a:latin typeface="Arial"/>
                <a:cs typeface="Arial"/>
              </a:rPr>
              <a:t>taking</a:t>
            </a:r>
            <a:r>
              <a:rPr sz="1000" spc="-45" dirty="0">
                <a:solidFill>
                  <a:srgbClr val="3333B2"/>
                </a:solidFill>
                <a:latin typeface="Arial"/>
                <a:cs typeface="Arial"/>
              </a:rPr>
              <a:t> </a:t>
            </a:r>
            <a:r>
              <a:rPr sz="1000" dirty="0">
                <a:solidFill>
                  <a:srgbClr val="3333B2"/>
                </a:solidFill>
                <a:latin typeface="Arial"/>
                <a:cs typeface="Arial"/>
              </a:rPr>
              <a:t>the</a:t>
            </a:r>
            <a:r>
              <a:rPr sz="1000" spc="-45" dirty="0">
                <a:solidFill>
                  <a:srgbClr val="3333B2"/>
                </a:solidFill>
                <a:latin typeface="Arial"/>
                <a:cs typeface="Arial"/>
              </a:rPr>
              <a:t> </a:t>
            </a:r>
            <a:r>
              <a:rPr sz="1000" dirty="0">
                <a:solidFill>
                  <a:srgbClr val="3333B2"/>
                </a:solidFill>
                <a:latin typeface="Arial"/>
                <a:cs typeface="Arial"/>
              </a:rPr>
              <a:t>next</a:t>
            </a:r>
            <a:r>
              <a:rPr sz="1000" spc="-50" dirty="0">
                <a:solidFill>
                  <a:srgbClr val="3333B2"/>
                </a:solidFill>
                <a:latin typeface="Arial"/>
                <a:cs typeface="Arial"/>
              </a:rPr>
              <a:t> </a:t>
            </a:r>
            <a:r>
              <a:rPr sz="1000" spc="-10" dirty="0">
                <a:solidFill>
                  <a:srgbClr val="3333B2"/>
                </a:solidFill>
                <a:latin typeface="Arial"/>
                <a:cs typeface="Arial"/>
              </a:rPr>
              <a:t>steps</a:t>
            </a:r>
            <a:endParaRPr sz="1000">
              <a:latin typeface="Arial"/>
              <a:cs typeface="Arial"/>
            </a:endParaRPr>
          </a:p>
          <a:p>
            <a:pPr marL="303530" indent="-120650">
              <a:lnSpc>
                <a:spcPct val="100000"/>
              </a:lnSpc>
              <a:spcBef>
                <a:spcPts val="710"/>
              </a:spcBef>
              <a:buClr>
                <a:srgbClr val="3333B2"/>
              </a:buClr>
              <a:buFont typeface="Menlo"/>
              <a:buChar char="•"/>
              <a:tabLst>
                <a:tab pos="304165" algn="l"/>
              </a:tabLst>
            </a:pPr>
            <a:r>
              <a:rPr sz="900" spc="-10" dirty="0">
                <a:latin typeface="Arial"/>
                <a:cs typeface="Arial"/>
              </a:rPr>
              <a:t>Initially,</a:t>
            </a:r>
            <a:r>
              <a:rPr sz="900" spc="-20" dirty="0">
                <a:latin typeface="Arial"/>
                <a:cs typeface="Arial"/>
              </a:rPr>
              <a:t> </a:t>
            </a:r>
            <a:r>
              <a:rPr sz="900" i="1" dirty="0">
                <a:latin typeface="Arial"/>
                <a:cs typeface="Arial"/>
              </a:rPr>
              <a:t>S</a:t>
            </a:r>
            <a:r>
              <a:rPr sz="1050" i="1" baseline="-15873" dirty="0">
                <a:latin typeface="Arial"/>
                <a:cs typeface="Arial"/>
              </a:rPr>
              <a:t>1</a:t>
            </a:r>
            <a:r>
              <a:rPr sz="1050" i="1" spc="127" baseline="-15873" dirty="0">
                <a:latin typeface="Arial"/>
                <a:cs typeface="Arial"/>
              </a:rPr>
              <a:t> </a:t>
            </a:r>
            <a:r>
              <a:rPr sz="900" dirty="0">
                <a:latin typeface="Arial"/>
                <a:cs typeface="Arial"/>
              </a:rPr>
              <a:t>is</a:t>
            </a:r>
            <a:r>
              <a:rPr sz="900" spc="-15" dirty="0">
                <a:latin typeface="Arial"/>
                <a:cs typeface="Arial"/>
              </a:rPr>
              <a:t> </a:t>
            </a:r>
            <a:r>
              <a:rPr sz="900" dirty="0">
                <a:latin typeface="Arial"/>
                <a:cs typeface="Arial"/>
              </a:rPr>
              <a:t>the</a:t>
            </a:r>
            <a:r>
              <a:rPr sz="900" spc="-15" dirty="0">
                <a:latin typeface="Arial"/>
                <a:cs typeface="Arial"/>
              </a:rPr>
              <a:t> </a:t>
            </a:r>
            <a:r>
              <a:rPr sz="900" spc="-10" dirty="0">
                <a:latin typeface="Arial"/>
                <a:cs typeface="Arial"/>
              </a:rPr>
              <a:t>leader.</a:t>
            </a:r>
            <a:endParaRPr sz="900">
              <a:latin typeface="Arial"/>
              <a:cs typeface="Arial"/>
            </a:endParaRPr>
          </a:p>
          <a:p>
            <a:pPr marL="303530" marR="30480" indent="-120650">
              <a:lnSpc>
                <a:spcPct val="111600"/>
              </a:lnSpc>
              <a:buClr>
                <a:srgbClr val="3333B2"/>
              </a:buClr>
              <a:buFont typeface="Menlo"/>
              <a:buChar char="•"/>
              <a:tabLst>
                <a:tab pos="300355" algn="l"/>
              </a:tabLst>
            </a:pPr>
            <a:r>
              <a:rPr sz="900" dirty="0">
                <a:latin typeface="Arial"/>
                <a:cs typeface="Arial"/>
              </a:rPr>
              <a:t>A</a:t>
            </a:r>
            <a:r>
              <a:rPr sz="900" spc="-25" dirty="0">
                <a:latin typeface="Arial"/>
                <a:cs typeface="Arial"/>
              </a:rPr>
              <a:t> </a:t>
            </a:r>
            <a:r>
              <a:rPr sz="900" dirty="0">
                <a:latin typeface="Arial"/>
                <a:cs typeface="Arial"/>
              </a:rPr>
              <a:t>server</a:t>
            </a:r>
            <a:r>
              <a:rPr sz="900" spc="-25" dirty="0">
                <a:latin typeface="Arial"/>
                <a:cs typeface="Arial"/>
              </a:rPr>
              <a:t> </a:t>
            </a:r>
            <a:r>
              <a:rPr sz="900" dirty="0">
                <a:latin typeface="Arial"/>
                <a:cs typeface="Arial"/>
              </a:rPr>
              <a:t>can</a:t>
            </a:r>
            <a:r>
              <a:rPr sz="900" spc="-25" dirty="0">
                <a:latin typeface="Arial"/>
                <a:cs typeface="Arial"/>
              </a:rPr>
              <a:t> </a:t>
            </a:r>
            <a:r>
              <a:rPr sz="900" dirty="0">
                <a:solidFill>
                  <a:srgbClr val="3333B2"/>
                </a:solidFill>
                <a:latin typeface="Arial"/>
                <a:cs typeface="Arial"/>
              </a:rPr>
              <a:t>reliably</a:t>
            </a:r>
            <a:r>
              <a:rPr sz="900" spc="-20" dirty="0">
                <a:solidFill>
                  <a:srgbClr val="3333B2"/>
                </a:solidFill>
                <a:latin typeface="Arial"/>
                <a:cs typeface="Arial"/>
              </a:rPr>
              <a:t> </a:t>
            </a:r>
            <a:r>
              <a:rPr sz="900" dirty="0">
                <a:solidFill>
                  <a:srgbClr val="3333B2"/>
                </a:solidFill>
                <a:latin typeface="Arial"/>
                <a:cs typeface="Arial"/>
              </a:rPr>
              <a:t>detect</a:t>
            </a:r>
            <a:r>
              <a:rPr sz="900" spc="-25" dirty="0">
                <a:solidFill>
                  <a:srgbClr val="3333B2"/>
                </a:solidFill>
                <a:latin typeface="Arial"/>
                <a:cs typeface="Arial"/>
              </a:rPr>
              <a:t> </a:t>
            </a:r>
            <a:r>
              <a:rPr sz="900" dirty="0">
                <a:solidFill>
                  <a:srgbClr val="3333B2"/>
                </a:solidFill>
                <a:latin typeface="Arial"/>
                <a:cs typeface="Arial"/>
              </a:rPr>
              <a:t>it</a:t>
            </a:r>
            <a:r>
              <a:rPr sz="900" spc="-25" dirty="0">
                <a:solidFill>
                  <a:srgbClr val="3333B2"/>
                </a:solidFill>
                <a:latin typeface="Arial"/>
                <a:cs typeface="Arial"/>
              </a:rPr>
              <a:t> </a:t>
            </a:r>
            <a:r>
              <a:rPr sz="900" dirty="0">
                <a:solidFill>
                  <a:srgbClr val="3333B2"/>
                </a:solidFill>
                <a:latin typeface="Arial"/>
                <a:cs typeface="Arial"/>
              </a:rPr>
              <a:t>has</a:t>
            </a:r>
            <a:r>
              <a:rPr sz="900" spc="-25" dirty="0">
                <a:solidFill>
                  <a:srgbClr val="3333B2"/>
                </a:solidFill>
                <a:latin typeface="Arial"/>
                <a:cs typeface="Arial"/>
              </a:rPr>
              <a:t> </a:t>
            </a:r>
            <a:r>
              <a:rPr sz="900" dirty="0">
                <a:solidFill>
                  <a:srgbClr val="3333B2"/>
                </a:solidFill>
                <a:latin typeface="Arial"/>
                <a:cs typeface="Arial"/>
              </a:rPr>
              <a:t>missed</a:t>
            </a:r>
            <a:r>
              <a:rPr sz="900" spc="-25" dirty="0">
                <a:solidFill>
                  <a:srgbClr val="3333B2"/>
                </a:solidFill>
                <a:latin typeface="Arial"/>
                <a:cs typeface="Arial"/>
              </a:rPr>
              <a:t> </a:t>
            </a:r>
            <a:r>
              <a:rPr sz="900" dirty="0">
                <a:solidFill>
                  <a:srgbClr val="3333B2"/>
                </a:solidFill>
                <a:latin typeface="Arial"/>
                <a:cs typeface="Arial"/>
              </a:rPr>
              <a:t>a</a:t>
            </a:r>
            <a:r>
              <a:rPr sz="900" spc="-20" dirty="0">
                <a:solidFill>
                  <a:srgbClr val="3333B2"/>
                </a:solidFill>
                <a:latin typeface="Arial"/>
                <a:cs typeface="Arial"/>
              </a:rPr>
              <a:t> </a:t>
            </a:r>
            <a:r>
              <a:rPr sz="900" dirty="0">
                <a:solidFill>
                  <a:srgbClr val="3333B2"/>
                </a:solidFill>
                <a:latin typeface="Arial"/>
                <a:cs typeface="Arial"/>
              </a:rPr>
              <a:t>message</a:t>
            </a:r>
            <a:r>
              <a:rPr sz="900" dirty="0">
                <a:latin typeface="Arial"/>
                <a:cs typeface="Arial"/>
              </a:rPr>
              <a:t>,</a:t>
            </a:r>
            <a:r>
              <a:rPr sz="900" spc="-25" dirty="0">
                <a:latin typeface="Arial"/>
                <a:cs typeface="Arial"/>
              </a:rPr>
              <a:t> </a:t>
            </a:r>
            <a:r>
              <a:rPr sz="900" dirty="0">
                <a:latin typeface="Arial"/>
                <a:cs typeface="Arial"/>
              </a:rPr>
              <a:t>and</a:t>
            </a:r>
            <a:r>
              <a:rPr sz="900" spc="-25" dirty="0">
                <a:latin typeface="Arial"/>
                <a:cs typeface="Arial"/>
              </a:rPr>
              <a:t> </a:t>
            </a:r>
            <a:r>
              <a:rPr sz="900" spc="-10" dirty="0">
                <a:latin typeface="Arial"/>
                <a:cs typeface="Arial"/>
              </a:rPr>
              <a:t>recover</a:t>
            </a:r>
            <a:r>
              <a:rPr sz="900" spc="-25" dirty="0">
                <a:latin typeface="Arial"/>
                <a:cs typeface="Arial"/>
              </a:rPr>
              <a:t> </a:t>
            </a:r>
            <a:r>
              <a:rPr sz="900" spc="-20" dirty="0">
                <a:latin typeface="Arial"/>
                <a:cs typeface="Arial"/>
              </a:rPr>
              <a:t>from </a:t>
            </a:r>
            <a:r>
              <a:rPr sz="900" dirty="0">
                <a:latin typeface="Arial"/>
                <a:cs typeface="Arial"/>
              </a:rPr>
              <a:t>that</a:t>
            </a:r>
            <a:r>
              <a:rPr sz="900" spc="-30" dirty="0">
                <a:latin typeface="Arial"/>
                <a:cs typeface="Arial"/>
              </a:rPr>
              <a:t> </a:t>
            </a:r>
            <a:r>
              <a:rPr sz="900" spc="-10" dirty="0">
                <a:latin typeface="Arial"/>
                <a:cs typeface="Arial"/>
              </a:rPr>
              <a:t>miss.</a:t>
            </a:r>
            <a:endParaRPr sz="900">
              <a:latin typeface="Arial"/>
              <a:cs typeface="Arial"/>
            </a:endParaRPr>
          </a:p>
          <a:p>
            <a:pPr marL="303530" marR="31750" indent="-120650">
              <a:lnSpc>
                <a:spcPct val="111600"/>
              </a:lnSpc>
              <a:buClr>
                <a:srgbClr val="3333B2"/>
              </a:buClr>
              <a:buFont typeface="Menlo"/>
              <a:buChar char="•"/>
              <a:tabLst>
                <a:tab pos="299085" algn="l"/>
              </a:tabLst>
            </a:pPr>
            <a:r>
              <a:rPr sz="900" dirty="0">
                <a:latin typeface="Arial"/>
                <a:cs typeface="Arial"/>
              </a:rPr>
              <a:t>When</a:t>
            </a:r>
            <a:r>
              <a:rPr sz="900" spc="-3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new</a:t>
            </a:r>
            <a:r>
              <a:rPr sz="900" spc="-25" dirty="0">
                <a:latin typeface="Arial"/>
                <a:cs typeface="Arial"/>
              </a:rPr>
              <a:t> </a:t>
            </a:r>
            <a:r>
              <a:rPr sz="900" dirty="0">
                <a:latin typeface="Arial"/>
                <a:cs typeface="Arial"/>
              </a:rPr>
              <a:t>leader</a:t>
            </a:r>
            <a:r>
              <a:rPr sz="900" spc="-25" dirty="0">
                <a:latin typeface="Arial"/>
                <a:cs typeface="Arial"/>
              </a:rPr>
              <a:t> </a:t>
            </a:r>
            <a:r>
              <a:rPr sz="900" dirty="0">
                <a:latin typeface="Arial"/>
                <a:cs typeface="Arial"/>
              </a:rPr>
              <a:t>needs</a:t>
            </a:r>
            <a:r>
              <a:rPr sz="900" spc="-3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be</a:t>
            </a:r>
            <a:r>
              <a:rPr sz="900" spc="-25" dirty="0">
                <a:latin typeface="Arial"/>
                <a:cs typeface="Arial"/>
              </a:rPr>
              <a:t> </a:t>
            </a:r>
            <a:r>
              <a:rPr sz="900" dirty="0">
                <a:latin typeface="Arial"/>
                <a:cs typeface="Arial"/>
              </a:rPr>
              <a:t>elected,</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remaining</a:t>
            </a:r>
            <a:r>
              <a:rPr sz="900" spc="-30" dirty="0">
                <a:latin typeface="Arial"/>
                <a:cs typeface="Arial"/>
              </a:rPr>
              <a:t> </a:t>
            </a:r>
            <a:r>
              <a:rPr sz="900" dirty="0">
                <a:latin typeface="Arial"/>
                <a:cs typeface="Arial"/>
              </a:rPr>
              <a:t>servers</a:t>
            </a:r>
            <a:r>
              <a:rPr sz="900" spc="-25" dirty="0">
                <a:latin typeface="Arial"/>
                <a:cs typeface="Arial"/>
              </a:rPr>
              <a:t> </a:t>
            </a:r>
            <a:r>
              <a:rPr sz="900" spc="-10" dirty="0">
                <a:latin typeface="Arial"/>
                <a:cs typeface="Arial"/>
              </a:rPr>
              <a:t>follow</a:t>
            </a:r>
            <a:r>
              <a:rPr sz="900" spc="-25" dirty="0">
                <a:latin typeface="Arial"/>
                <a:cs typeface="Arial"/>
              </a:rPr>
              <a:t> </a:t>
            </a:r>
            <a:r>
              <a:rPr sz="900" spc="-50" dirty="0">
                <a:latin typeface="Arial"/>
                <a:cs typeface="Arial"/>
              </a:rPr>
              <a:t>a</a:t>
            </a:r>
            <a:r>
              <a:rPr sz="900" dirty="0">
                <a:latin typeface="Arial"/>
                <a:cs typeface="Arial"/>
              </a:rPr>
              <a:t> </a:t>
            </a:r>
            <a:r>
              <a:rPr sz="900" dirty="0">
                <a:solidFill>
                  <a:srgbClr val="3333B2"/>
                </a:solidFill>
                <a:latin typeface="Arial"/>
                <a:cs typeface="Arial"/>
              </a:rPr>
              <a:t>strictly</a:t>
            </a:r>
            <a:r>
              <a:rPr sz="900" spc="-50" dirty="0">
                <a:solidFill>
                  <a:srgbClr val="3333B2"/>
                </a:solidFill>
                <a:latin typeface="Arial"/>
                <a:cs typeface="Arial"/>
              </a:rPr>
              <a:t> </a:t>
            </a:r>
            <a:r>
              <a:rPr sz="900" dirty="0">
                <a:solidFill>
                  <a:srgbClr val="3333B2"/>
                </a:solidFill>
                <a:latin typeface="Arial"/>
                <a:cs typeface="Arial"/>
              </a:rPr>
              <a:t>deterministic</a:t>
            </a:r>
            <a:r>
              <a:rPr sz="900" spc="-15" dirty="0">
                <a:solidFill>
                  <a:srgbClr val="3333B2"/>
                </a:solidFill>
                <a:latin typeface="Arial"/>
                <a:cs typeface="Arial"/>
              </a:rPr>
              <a:t> </a:t>
            </a:r>
            <a:r>
              <a:rPr sz="900" dirty="0">
                <a:solidFill>
                  <a:srgbClr val="3333B2"/>
                </a:solidFill>
                <a:latin typeface="Arial"/>
                <a:cs typeface="Arial"/>
              </a:rPr>
              <a:t>algorithm</a:t>
            </a:r>
            <a:r>
              <a:rPr sz="900" dirty="0">
                <a:latin typeface="Arial"/>
                <a:cs typeface="Arial"/>
              </a:rPr>
              <a:t>,</a:t>
            </a:r>
            <a:r>
              <a:rPr sz="900" spc="-15" dirty="0">
                <a:latin typeface="Arial"/>
                <a:cs typeface="Arial"/>
              </a:rPr>
              <a:t> </a:t>
            </a:r>
            <a:r>
              <a:rPr sz="900" dirty="0">
                <a:latin typeface="Arial"/>
                <a:cs typeface="Arial"/>
              </a:rPr>
              <a:t>such</a:t>
            </a:r>
            <a:r>
              <a:rPr sz="900" spc="-20" dirty="0">
                <a:latin typeface="Arial"/>
                <a:cs typeface="Arial"/>
              </a:rPr>
              <a:t> </a:t>
            </a:r>
            <a:r>
              <a:rPr sz="900" dirty="0">
                <a:latin typeface="Arial"/>
                <a:cs typeface="Arial"/>
              </a:rPr>
              <a:t>as</a:t>
            </a:r>
            <a:r>
              <a:rPr sz="900" spc="-15" dirty="0">
                <a:latin typeface="Arial"/>
                <a:cs typeface="Arial"/>
              </a:rPr>
              <a:t> </a:t>
            </a:r>
            <a:r>
              <a:rPr sz="900" i="1" dirty="0">
                <a:latin typeface="Arial"/>
                <a:cs typeface="Arial"/>
              </a:rPr>
              <a:t>S</a:t>
            </a:r>
            <a:r>
              <a:rPr sz="1050" i="1" baseline="-15873" dirty="0">
                <a:latin typeface="Arial"/>
                <a:cs typeface="Arial"/>
              </a:rPr>
              <a:t>1</a:t>
            </a:r>
            <a:r>
              <a:rPr sz="1050" i="1" spc="127" baseline="-15873" dirty="0">
                <a:latin typeface="Arial"/>
                <a:cs typeface="Arial"/>
              </a:rPr>
              <a:t> </a:t>
            </a:r>
            <a:r>
              <a:rPr sz="900" i="1" spc="350" dirty="0">
                <a:latin typeface="Menlo"/>
                <a:cs typeface="Menlo"/>
              </a:rPr>
              <a:t>→</a:t>
            </a:r>
            <a:r>
              <a:rPr sz="900" i="1" spc="-295" dirty="0">
                <a:latin typeface="Menlo"/>
                <a:cs typeface="Menlo"/>
              </a:rPr>
              <a:t> </a:t>
            </a:r>
            <a:r>
              <a:rPr sz="900" i="1" dirty="0">
                <a:latin typeface="Arial"/>
                <a:cs typeface="Arial"/>
              </a:rPr>
              <a:t>S</a:t>
            </a:r>
            <a:r>
              <a:rPr sz="1050" i="1" baseline="-15873" dirty="0">
                <a:latin typeface="Arial"/>
                <a:cs typeface="Arial"/>
              </a:rPr>
              <a:t>2</a:t>
            </a:r>
            <a:r>
              <a:rPr sz="1050" i="1" spc="187" baseline="-15873" dirty="0">
                <a:latin typeface="Arial"/>
                <a:cs typeface="Arial"/>
              </a:rPr>
              <a:t> </a:t>
            </a:r>
            <a:r>
              <a:rPr sz="900" i="1" spc="350" dirty="0">
                <a:latin typeface="Menlo"/>
                <a:cs typeface="Menlo"/>
              </a:rPr>
              <a:t>→</a:t>
            </a:r>
            <a:r>
              <a:rPr sz="900" i="1" spc="-295" dirty="0">
                <a:latin typeface="Menlo"/>
                <a:cs typeface="Menlo"/>
              </a:rPr>
              <a:t> </a:t>
            </a:r>
            <a:r>
              <a:rPr sz="900" i="1" spc="-10" dirty="0">
                <a:latin typeface="Arial"/>
                <a:cs typeface="Arial"/>
              </a:rPr>
              <a:t>S</a:t>
            </a:r>
            <a:r>
              <a:rPr sz="1050" i="1" spc="-15" baseline="-15873" dirty="0">
                <a:latin typeface="Arial"/>
                <a:cs typeface="Arial"/>
              </a:rPr>
              <a:t>3</a:t>
            </a:r>
            <a:r>
              <a:rPr sz="1050" i="1" spc="-165" baseline="-15873" dirty="0">
                <a:latin typeface="Arial"/>
                <a:cs typeface="Arial"/>
              </a:rPr>
              <a:t> </a:t>
            </a:r>
            <a:r>
              <a:rPr sz="900" spc="-50" dirty="0">
                <a:latin typeface="Arial"/>
                <a:cs typeface="Arial"/>
              </a:rPr>
              <a:t>.</a:t>
            </a:r>
            <a:endParaRPr sz="900">
              <a:latin typeface="Arial"/>
              <a:cs typeface="Arial"/>
            </a:endParaRPr>
          </a:p>
          <a:p>
            <a:pPr marL="299720" indent="-116839">
              <a:lnSpc>
                <a:spcPct val="100000"/>
              </a:lnSpc>
              <a:spcBef>
                <a:spcPts val="125"/>
              </a:spcBef>
              <a:buClr>
                <a:srgbClr val="3333B2"/>
              </a:buClr>
              <a:buFont typeface="Menlo"/>
              <a:buChar char="•"/>
              <a:tabLst>
                <a:tab pos="300355" algn="l"/>
              </a:tabLst>
            </a:pPr>
            <a:r>
              <a:rPr sz="900" dirty="0">
                <a:latin typeface="Arial"/>
                <a:cs typeface="Arial"/>
              </a:rPr>
              <a:t>A</a:t>
            </a:r>
            <a:r>
              <a:rPr sz="900" spc="-30" dirty="0">
                <a:latin typeface="Arial"/>
                <a:cs typeface="Arial"/>
              </a:rPr>
              <a:t> </a:t>
            </a:r>
            <a:r>
              <a:rPr sz="900" dirty="0">
                <a:latin typeface="Arial"/>
                <a:cs typeface="Arial"/>
              </a:rPr>
              <a:t>client</a:t>
            </a:r>
            <a:r>
              <a:rPr sz="900" spc="-25" dirty="0">
                <a:latin typeface="Arial"/>
                <a:cs typeface="Arial"/>
              </a:rPr>
              <a:t> </a:t>
            </a:r>
            <a:r>
              <a:rPr sz="900" dirty="0">
                <a:solidFill>
                  <a:srgbClr val="3333B2"/>
                </a:solidFill>
                <a:latin typeface="Arial"/>
                <a:cs typeface="Arial"/>
              </a:rPr>
              <a:t>cannot</a:t>
            </a:r>
            <a:r>
              <a:rPr sz="900" spc="-25" dirty="0">
                <a:solidFill>
                  <a:srgbClr val="3333B2"/>
                </a:solidFill>
                <a:latin typeface="Arial"/>
                <a:cs typeface="Arial"/>
              </a:rPr>
              <a:t> </a:t>
            </a:r>
            <a:r>
              <a:rPr sz="900" dirty="0">
                <a:solidFill>
                  <a:srgbClr val="3333B2"/>
                </a:solidFill>
                <a:latin typeface="Arial"/>
                <a:cs typeface="Arial"/>
              </a:rPr>
              <a:t>be</a:t>
            </a:r>
            <a:r>
              <a:rPr sz="900" spc="-25" dirty="0">
                <a:solidFill>
                  <a:srgbClr val="3333B2"/>
                </a:solidFill>
                <a:latin typeface="Arial"/>
                <a:cs typeface="Arial"/>
              </a:rPr>
              <a:t> </a:t>
            </a:r>
            <a:r>
              <a:rPr sz="900" dirty="0">
                <a:solidFill>
                  <a:srgbClr val="3333B2"/>
                </a:solidFill>
                <a:latin typeface="Arial"/>
                <a:cs typeface="Arial"/>
              </a:rPr>
              <a:t>asked</a:t>
            </a:r>
            <a:r>
              <a:rPr sz="900" spc="-25" dirty="0">
                <a:solidFill>
                  <a:srgbClr val="3333B2"/>
                </a:solidFill>
                <a:latin typeface="Arial"/>
                <a:cs typeface="Arial"/>
              </a:rPr>
              <a:t> </a:t>
            </a:r>
            <a:r>
              <a:rPr sz="900" dirty="0">
                <a:solidFill>
                  <a:srgbClr val="3333B2"/>
                </a:solidFill>
                <a:latin typeface="Arial"/>
                <a:cs typeface="Arial"/>
              </a:rPr>
              <a:t>to</a:t>
            </a:r>
            <a:r>
              <a:rPr sz="900" spc="-25" dirty="0">
                <a:solidFill>
                  <a:srgbClr val="3333B2"/>
                </a:solidFill>
                <a:latin typeface="Arial"/>
                <a:cs typeface="Arial"/>
              </a:rPr>
              <a:t> </a:t>
            </a:r>
            <a:r>
              <a:rPr sz="900" dirty="0">
                <a:solidFill>
                  <a:srgbClr val="3333B2"/>
                </a:solidFill>
                <a:latin typeface="Arial"/>
                <a:cs typeface="Arial"/>
              </a:rPr>
              <a:t>help</a:t>
            </a:r>
            <a:r>
              <a:rPr sz="900" spc="-25" dirty="0">
                <a:solidFill>
                  <a:srgbClr val="3333B2"/>
                </a:solidFill>
                <a:latin typeface="Arial"/>
                <a:cs typeface="Arial"/>
              </a:rPr>
              <a:t> </a:t>
            </a:r>
            <a:r>
              <a:rPr sz="900" dirty="0">
                <a:solidFill>
                  <a:srgbClr val="3333B2"/>
                </a:solidFill>
                <a:latin typeface="Arial"/>
                <a:cs typeface="Arial"/>
              </a:rPr>
              <a:t>the</a:t>
            </a:r>
            <a:r>
              <a:rPr sz="900" spc="-25" dirty="0">
                <a:solidFill>
                  <a:srgbClr val="3333B2"/>
                </a:solidFill>
                <a:latin typeface="Arial"/>
                <a:cs typeface="Arial"/>
              </a:rPr>
              <a:t> </a:t>
            </a:r>
            <a:r>
              <a:rPr sz="900" dirty="0">
                <a:solidFill>
                  <a:srgbClr val="3333B2"/>
                </a:solidFill>
                <a:latin typeface="Arial"/>
                <a:cs typeface="Arial"/>
              </a:rPr>
              <a:t>servers</a:t>
            </a:r>
            <a:r>
              <a:rPr sz="900" spc="-25" dirty="0">
                <a:solidFill>
                  <a:srgbClr val="3333B2"/>
                </a:solidFill>
                <a:latin typeface="Arial"/>
                <a:cs typeface="Arial"/>
              </a:rPr>
              <a:t> </a:t>
            </a:r>
            <a:r>
              <a:rPr sz="900" dirty="0">
                <a:latin typeface="Arial"/>
                <a:cs typeface="Arial"/>
              </a:rPr>
              <a:t>to</a:t>
            </a:r>
            <a:r>
              <a:rPr sz="900" spc="-25" dirty="0">
                <a:latin typeface="Arial"/>
                <a:cs typeface="Arial"/>
              </a:rPr>
              <a:t> </a:t>
            </a:r>
            <a:r>
              <a:rPr sz="900" dirty="0">
                <a:latin typeface="Arial"/>
                <a:cs typeface="Arial"/>
              </a:rPr>
              <a:t>resolve</a:t>
            </a:r>
            <a:r>
              <a:rPr sz="900" spc="-25"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situation.</a:t>
            </a:r>
            <a:endParaRPr sz="900">
              <a:latin typeface="Arial"/>
              <a:cs typeface="Arial"/>
            </a:endParaRPr>
          </a:p>
          <a:p>
            <a:pPr>
              <a:lnSpc>
                <a:spcPct val="100000"/>
              </a:lnSpc>
              <a:spcBef>
                <a:spcPts val="15"/>
              </a:spcBef>
            </a:pPr>
            <a:endParaRPr sz="1200">
              <a:latin typeface="Arial"/>
              <a:cs typeface="Arial"/>
            </a:endParaRPr>
          </a:p>
          <a:p>
            <a:pPr marL="50800">
              <a:lnSpc>
                <a:spcPct val="100000"/>
              </a:lnSpc>
            </a:pPr>
            <a:r>
              <a:rPr sz="1000" spc="-10" dirty="0">
                <a:solidFill>
                  <a:srgbClr val="C80000"/>
                </a:solidFill>
                <a:latin typeface="Arial"/>
                <a:cs typeface="Arial"/>
              </a:rPr>
              <a:t>Observation</a:t>
            </a:r>
            <a:endParaRPr sz="1000">
              <a:latin typeface="Arial"/>
              <a:cs typeface="Arial"/>
            </a:endParaRPr>
          </a:p>
          <a:p>
            <a:pPr marL="50800" marR="52705">
              <a:lnSpc>
                <a:spcPts val="1210"/>
              </a:lnSpc>
              <a:spcBef>
                <a:spcPts val="40"/>
              </a:spcBef>
            </a:pPr>
            <a:r>
              <a:rPr sz="900" dirty="0">
                <a:latin typeface="Arial"/>
                <a:cs typeface="Arial"/>
              </a:rPr>
              <a:t>If</a:t>
            </a:r>
            <a:r>
              <a:rPr sz="900" spc="-25" dirty="0">
                <a:latin typeface="Arial"/>
                <a:cs typeface="Arial"/>
              </a:rPr>
              <a:t> </a:t>
            </a:r>
            <a:r>
              <a:rPr sz="900" dirty="0">
                <a:latin typeface="Arial"/>
                <a:cs typeface="Arial"/>
              </a:rPr>
              <a:t>either</a:t>
            </a:r>
            <a:r>
              <a:rPr sz="900" spc="-15" dirty="0">
                <a:latin typeface="Arial"/>
                <a:cs typeface="Arial"/>
              </a:rPr>
              <a:t> </a:t>
            </a:r>
            <a:r>
              <a:rPr sz="900" dirty="0">
                <a:latin typeface="Arial"/>
                <a:cs typeface="Arial"/>
              </a:rPr>
              <a:t>one</a:t>
            </a:r>
            <a:r>
              <a:rPr sz="900" spc="-15" dirty="0">
                <a:latin typeface="Arial"/>
                <a:cs typeface="Arial"/>
              </a:rPr>
              <a:t> </a:t>
            </a:r>
            <a:r>
              <a:rPr sz="900" dirty="0">
                <a:latin typeface="Arial"/>
                <a:cs typeface="Arial"/>
              </a:rPr>
              <a:t>of</a:t>
            </a:r>
            <a:r>
              <a:rPr sz="900" spc="-1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backups</a:t>
            </a:r>
            <a:r>
              <a:rPr sz="900" spc="-15" dirty="0">
                <a:latin typeface="Arial"/>
                <a:cs typeface="Arial"/>
              </a:rPr>
              <a:t> </a:t>
            </a:r>
            <a:r>
              <a:rPr sz="900" dirty="0">
                <a:latin typeface="Arial"/>
                <a:cs typeface="Arial"/>
              </a:rPr>
              <a:t>(</a:t>
            </a:r>
            <a:r>
              <a:rPr sz="900" i="1" dirty="0">
                <a:latin typeface="Arial"/>
                <a:cs typeface="Arial"/>
              </a:rPr>
              <a:t>S</a:t>
            </a:r>
            <a:r>
              <a:rPr sz="1050" i="1" baseline="-15873" dirty="0">
                <a:latin typeface="Arial"/>
                <a:cs typeface="Arial"/>
              </a:rPr>
              <a:t>2</a:t>
            </a:r>
            <a:r>
              <a:rPr sz="1050" i="1" spc="187" baseline="-15873" dirty="0">
                <a:latin typeface="Arial"/>
                <a:cs typeface="Arial"/>
              </a:rPr>
              <a:t> </a:t>
            </a:r>
            <a:r>
              <a:rPr sz="900" dirty="0">
                <a:latin typeface="Arial"/>
                <a:cs typeface="Arial"/>
              </a:rPr>
              <a:t>or</a:t>
            </a:r>
            <a:r>
              <a:rPr sz="900" spc="-15" dirty="0">
                <a:latin typeface="Arial"/>
                <a:cs typeface="Arial"/>
              </a:rPr>
              <a:t> </a:t>
            </a:r>
            <a:r>
              <a:rPr sz="900" i="1" spc="-10" dirty="0">
                <a:latin typeface="Arial"/>
                <a:cs typeface="Arial"/>
              </a:rPr>
              <a:t>S</a:t>
            </a:r>
            <a:r>
              <a:rPr sz="1050" i="1" spc="-15" baseline="-15873" dirty="0">
                <a:latin typeface="Arial"/>
                <a:cs typeface="Arial"/>
              </a:rPr>
              <a:t>3</a:t>
            </a:r>
            <a:r>
              <a:rPr sz="1050" i="1" spc="-165" baseline="-15873" dirty="0">
                <a:latin typeface="Arial"/>
                <a:cs typeface="Arial"/>
              </a:rPr>
              <a:t> </a:t>
            </a:r>
            <a:r>
              <a:rPr sz="900" dirty="0">
                <a:latin typeface="Arial"/>
                <a:cs typeface="Arial"/>
              </a:rPr>
              <a:t>)</a:t>
            </a:r>
            <a:r>
              <a:rPr sz="900" spc="-20" dirty="0">
                <a:latin typeface="Arial"/>
                <a:cs typeface="Arial"/>
              </a:rPr>
              <a:t> </a:t>
            </a:r>
            <a:r>
              <a:rPr sz="900" spc="-10" dirty="0">
                <a:latin typeface="Arial"/>
                <a:cs typeface="Arial"/>
              </a:rPr>
              <a:t>crashes,</a:t>
            </a:r>
            <a:r>
              <a:rPr sz="900" spc="-15" dirty="0">
                <a:latin typeface="Arial"/>
                <a:cs typeface="Arial"/>
              </a:rPr>
              <a:t> </a:t>
            </a:r>
            <a:r>
              <a:rPr sz="900" spc="-10" dirty="0">
                <a:latin typeface="Arial"/>
                <a:cs typeface="Arial"/>
              </a:rPr>
              <a:t>Paxos</a:t>
            </a:r>
            <a:r>
              <a:rPr sz="900" spc="-15" dirty="0">
                <a:latin typeface="Arial"/>
                <a:cs typeface="Arial"/>
              </a:rPr>
              <a:t> </a:t>
            </a:r>
            <a:r>
              <a:rPr sz="900" dirty="0">
                <a:latin typeface="Arial"/>
                <a:cs typeface="Arial"/>
              </a:rPr>
              <a:t>will</a:t>
            </a:r>
            <a:r>
              <a:rPr sz="900" spc="-15" dirty="0">
                <a:latin typeface="Arial"/>
                <a:cs typeface="Arial"/>
              </a:rPr>
              <a:t> </a:t>
            </a:r>
            <a:r>
              <a:rPr sz="900" spc="-10" dirty="0">
                <a:latin typeface="Arial"/>
                <a:cs typeface="Arial"/>
              </a:rPr>
              <a:t>behave</a:t>
            </a:r>
            <a:r>
              <a:rPr sz="900" spc="-20" dirty="0">
                <a:latin typeface="Arial"/>
                <a:cs typeface="Arial"/>
              </a:rPr>
              <a:t> </a:t>
            </a:r>
            <a:r>
              <a:rPr sz="900" spc="-10" dirty="0">
                <a:latin typeface="Arial"/>
                <a:cs typeface="Arial"/>
              </a:rPr>
              <a:t>correctly: </a:t>
            </a:r>
            <a:r>
              <a:rPr sz="900" dirty="0">
                <a:latin typeface="Arial"/>
                <a:cs typeface="Arial"/>
              </a:rPr>
              <a:t>operations</a:t>
            </a:r>
            <a:r>
              <a:rPr sz="900" spc="-25" dirty="0">
                <a:latin typeface="Arial"/>
                <a:cs typeface="Arial"/>
              </a:rPr>
              <a:t> </a:t>
            </a:r>
            <a:r>
              <a:rPr sz="900" dirty="0">
                <a:latin typeface="Arial"/>
                <a:cs typeface="Arial"/>
              </a:rPr>
              <a:t>at</a:t>
            </a:r>
            <a:r>
              <a:rPr sz="900" spc="-20" dirty="0">
                <a:latin typeface="Arial"/>
                <a:cs typeface="Arial"/>
              </a:rPr>
              <a:t> </a:t>
            </a:r>
            <a:r>
              <a:rPr sz="900" spc="-10" dirty="0">
                <a:latin typeface="Arial"/>
                <a:cs typeface="Arial"/>
              </a:rPr>
              <a:t>nonfaulty</a:t>
            </a:r>
            <a:r>
              <a:rPr sz="900" spc="-20" dirty="0">
                <a:latin typeface="Arial"/>
                <a:cs typeface="Arial"/>
              </a:rPr>
              <a:t> </a:t>
            </a:r>
            <a:r>
              <a:rPr sz="900" dirty="0">
                <a:latin typeface="Arial"/>
                <a:cs typeface="Arial"/>
              </a:rPr>
              <a:t>servers</a:t>
            </a:r>
            <a:r>
              <a:rPr sz="900" spc="-20" dirty="0">
                <a:latin typeface="Arial"/>
                <a:cs typeface="Arial"/>
              </a:rPr>
              <a:t> </a:t>
            </a:r>
            <a:r>
              <a:rPr sz="900" dirty="0">
                <a:latin typeface="Arial"/>
                <a:cs typeface="Arial"/>
              </a:rPr>
              <a:t>are</a:t>
            </a:r>
            <a:r>
              <a:rPr sz="900" spc="-20" dirty="0">
                <a:latin typeface="Arial"/>
                <a:cs typeface="Arial"/>
              </a:rPr>
              <a:t> </a:t>
            </a:r>
            <a:r>
              <a:rPr sz="900" spc="-10" dirty="0">
                <a:latin typeface="Arial"/>
                <a:cs typeface="Arial"/>
              </a:rPr>
              <a:t>executed</a:t>
            </a:r>
            <a:r>
              <a:rPr sz="900" spc="-20" dirty="0">
                <a:latin typeface="Arial"/>
                <a:cs typeface="Arial"/>
              </a:rPr>
              <a:t> </a:t>
            </a:r>
            <a:r>
              <a:rPr sz="900" dirty="0">
                <a:latin typeface="Arial"/>
                <a:cs typeface="Arial"/>
              </a:rPr>
              <a:t>in</a:t>
            </a:r>
            <a:r>
              <a:rPr sz="900" spc="-20"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same</a:t>
            </a:r>
            <a:r>
              <a:rPr sz="900" spc="-20" dirty="0">
                <a:latin typeface="Arial"/>
                <a:cs typeface="Arial"/>
              </a:rPr>
              <a:t> </a:t>
            </a:r>
            <a:r>
              <a:rPr sz="900" spc="-10" dirty="0">
                <a:latin typeface="Arial"/>
                <a:cs typeface="Arial"/>
              </a:rPr>
              <a:t>order.</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484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Example:</a:t>
            </a:r>
            <a:r>
              <a:rPr sz="500" spc="5" dirty="0">
                <a:latin typeface="Arial"/>
                <a:cs typeface="Arial"/>
                <a:hlinkClick r:id="rId4" action="ppaction://hlinksldjump"/>
              </a:rPr>
              <a:t> </a:t>
            </a:r>
            <a:r>
              <a:rPr sz="500" spc="-10" dirty="0">
                <a:latin typeface="Arial"/>
                <a:cs typeface="Arial"/>
                <a:hlinkClick r:id="rId4" action="ppaction://hlinksldjump"/>
              </a:rPr>
              <a:t>Paxos</a:t>
            </a:r>
            <a:endParaRPr sz="500">
              <a:latin typeface="Arial"/>
              <a:cs typeface="Arial"/>
            </a:endParaRPr>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69900" y="197711"/>
            <a:ext cx="2344420" cy="207645"/>
          </a:xfrm>
          <a:prstGeom prst="rect">
            <a:avLst/>
          </a:prstGeom>
        </p:spPr>
        <p:txBody>
          <a:bodyPr vert="horz" wrap="square" lIns="0" tIns="12065" rIns="0" bIns="0" rtlCol="0">
            <a:spAutoFit/>
          </a:bodyPr>
          <a:lstStyle/>
          <a:p>
            <a:pPr marL="38100">
              <a:lnSpc>
                <a:spcPct val="100000"/>
              </a:lnSpc>
              <a:spcBef>
                <a:spcPts val="95"/>
              </a:spcBef>
            </a:pPr>
            <a:r>
              <a:rPr sz="1200" dirty="0">
                <a:solidFill>
                  <a:srgbClr val="3333B2"/>
                </a:solidFill>
                <a:latin typeface="Arial"/>
                <a:cs typeface="Arial"/>
              </a:rPr>
              <a:t>Leader</a:t>
            </a:r>
            <a:r>
              <a:rPr sz="1200" spc="-45" dirty="0">
                <a:solidFill>
                  <a:srgbClr val="3333B2"/>
                </a:solidFill>
                <a:latin typeface="Arial"/>
                <a:cs typeface="Arial"/>
              </a:rPr>
              <a:t> </a:t>
            </a:r>
            <a:r>
              <a:rPr sz="1200" dirty="0">
                <a:solidFill>
                  <a:srgbClr val="3333B2"/>
                </a:solidFill>
                <a:latin typeface="Arial"/>
                <a:cs typeface="Arial"/>
              </a:rPr>
              <a:t>crashes</a:t>
            </a:r>
            <a:r>
              <a:rPr sz="1200" spc="-45" dirty="0">
                <a:solidFill>
                  <a:srgbClr val="3333B2"/>
                </a:solidFill>
                <a:latin typeface="Arial"/>
                <a:cs typeface="Arial"/>
              </a:rPr>
              <a:t> </a:t>
            </a:r>
            <a:r>
              <a:rPr sz="1200" dirty="0">
                <a:solidFill>
                  <a:srgbClr val="3333B2"/>
                </a:solidFill>
                <a:latin typeface="Arial"/>
                <a:cs typeface="Arial"/>
              </a:rPr>
              <a:t>after</a:t>
            </a:r>
            <a:r>
              <a:rPr sz="1200" spc="-45" dirty="0">
                <a:solidFill>
                  <a:srgbClr val="3333B2"/>
                </a:solidFill>
                <a:latin typeface="Arial"/>
                <a:cs typeface="Arial"/>
              </a:rPr>
              <a:t> </a:t>
            </a:r>
            <a:r>
              <a:rPr sz="1200" spc="-10" dirty="0">
                <a:solidFill>
                  <a:srgbClr val="3333B2"/>
                </a:solidFill>
                <a:latin typeface="Arial"/>
                <a:cs typeface="Arial"/>
              </a:rPr>
              <a:t>executing</a:t>
            </a:r>
            <a:r>
              <a:rPr sz="1200" spc="-45" dirty="0">
                <a:solidFill>
                  <a:srgbClr val="3333B2"/>
                </a:solidFill>
                <a:latin typeface="Arial"/>
                <a:cs typeface="Arial"/>
              </a:rPr>
              <a:t> </a:t>
            </a:r>
            <a:r>
              <a:rPr sz="1200" i="1" spc="-25" dirty="0">
                <a:solidFill>
                  <a:srgbClr val="3333B2"/>
                </a:solidFill>
                <a:latin typeface="Arial"/>
                <a:cs typeface="Arial"/>
              </a:rPr>
              <a:t>o</a:t>
            </a:r>
            <a:r>
              <a:rPr sz="1350" i="1" spc="-37" baseline="27777" dirty="0">
                <a:solidFill>
                  <a:srgbClr val="3333B2"/>
                </a:solidFill>
                <a:latin typeface="Arial"/>
                <a:cs typeface="Arial"/>
              </a:rPr>
              <a:t>1</a:t>
            </a:r>
            <a:endParaRPr sz="1350" baseline="27777">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484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Example:</a:t>
            </a:r>
            <a:r>
              <a:rPr sz="500" spc="5" dirty="0">
                <a:latin typeface="Arial"/>
                <a:cs typeface="Arial"/>
                <a:hlinkClick r:id="rId4" action="ppaction://hlinksldjump"/>
              </a:rPr>
              <a:t> </a:t>
            </a:r>
            <a:r>
              <a:rPr sz="500" spc="-10" dirty="0">
                <a:latin typeface="Arial"/>
                <a:cs typeface="Arial"/>
                <a:hlinkClick r:id="rId4" action="ppaction://hlinksldjump"/>
              </a:rPr>
              <a:t>Paxos</a:t>
            </a:r>
            <a:endParaRPr sz="500">
              <a:latin typeface="Arial"/>
              <a:cs typeface="Arial"/>
            </a:endParaRPr>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74465"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Leader</a:t>
            </a:r>
            <a:r>
              <a:rPr spc="-45" dirty="0"/>
              <a:t> </a:t>
            </a:r>
            <a:r>
              <a:rPr dirty="0"/>
              <a:t>crashes</a:t>
            </a:r>
            <a:r>
              <a:rPr spc="-45" dirty="0"/>
              <a:t> </a:t>
            </a:r>
            <a:r>
              <a:rPr dirty="0"/>
              <a:t>after</a:t>
            </a:r>
            <a:r>
              <a:rPr spc="-45" dirty="0"/>
              <a:t> </a:t>
            </a:r>
            <a:r>
              <a:rPr spc="-10" dirty="0"/>
              <a:t>executing</a:t>
            </a:r>
            <a:r>
              <a:rPr spc="-45" dirty="0"/>
              <a:t> </a:t>
            </a:r>
            <a:r>
              <a:rPr i="1" spc="-25" dirty="0">
                <a:latin typeface="Arial"/>
                <a:cs typeface="Arial"/>
              </a:rPr>
              <a:t>o</a:t>
            </a:r>
            <a:r>
              <a:rPr sz="1350" i="1" spc="-37" baseline="27777" dirty="0">
                <a:latin typeface="Arial"/>
                <a:cs typeface="Arial"/>
              </a:rPr>
              <a:t>1</a:t>
            </a:r>
            <a:endParaRPr sz="1350" baseline="27777">
              <a:latin typeface="Arial"/>
              <a:cs typeface="Arial"/>
            </a:endParaRPr>
          </a:p>
        </p:txBody>
      </p:sp>
      <p:sp>
        <p:nvSpPr>
          <p:cNvPr id="4" name="object 4"/>
          <p:cNvSpPr txBox="1"/>
          <p:nvPr/>
        </p:nvSpPr>
        <p:spPr>
          <a:xfrm>
            <a:off x="334594" y="514774"/>
            <a:ext cx="3838575" cy="1169035"/>
          </a:xfrm>
          <a:prstGeom prst="rect">
            <a:avLst/>
          </a:prstGeom>
        </p:spPr>
        <p:txBody>
          <a:bodyPr vert="horz" wrap="square" lIns="0" tIns="12065" rIns="0" bIns="0" rtlCol="0">
            <a:spAutoFit/>
          </a:bodyPr>
          <a:lstStyle/>
          <a:p>
            <a:pPr marL="25400">
              <a:lnSpc>
                <a:spcPct val="100000"/>
              </a:lnSpc>
              <a:spcBef>
                <a:spcPts val="95"/>
              </a:spcBef>
            </a:pPr>
            <a:r>
              <a:rPr sz="1000" i="1" dirty="0">
                <a:solidFill>
                  <a:srgbClr val="3333B2"/>
                </a:solidFill>
                <a:latin typeface="Arial"/>
                <a:cs typeface="Arial"/>
              </a:rPr>
              <a:t>S</a:t>
            </a:r>
            <a:r>
              <a:rPr sz="1050" i="1" baseline="-15873" dirty="0">
                <a:solidFill>
                  <a:srgbClr val="3333B2"/>
                </a:solidFill>
                <a:latin typeface="Arial"/>
                <a:cs typeface="Arial"/>
              </a:rPr>
              <a:t>3</a:t>
            </a:r>
            <a:r>
              <a:rPr sz="1050" i="1" spc="202" baseline="-15873" dirty="0">
                <a:solidFill>
                  <a:srgbClr val="3333B2"/>
                </a:solidFill>
                <a:latin typeface="Arial"/>
                <a:cs typeface="Arial"/>
              </a:rPr>
              <a:t> </a:t>
            </a:r>
            <a:r>
              <a:rPr sz="1000" dirty="0">
                <a:solidFill>
                  <a:srgbClr val="3333B2"/>
                </a:solidFill>
                <a:latin typeface="Arial"/>
                <a:cs typeface="Arial"/>
              </a:rPr>
              <a:t>is</a:t>
            </a:r>
            <a:r>
              <a:rPr sz="1000" spc="-30" dirty="0">
                <a:solidFill>
                  <a:srgbClr val="3333B2"/>
                </a:solidFill>
                <a:latin typeface="Arial"/>
                <a:cs typeface="Arial"/>
              </a:rPr>
              <a:t> </a:t>
            </a:r>
            <a:r>
              <a:rPr sz="1000" dirty="0">
                <a:solidFill>
                  <a:srgbClr val="3333B2"/>
                </a:solidFill>
                <a:latin typeface="Arial"/>
                <a:cs typeface="Arial"/>
              </a:rPr>
              <a:t>completely</a:t>
            </a:r>
            <a:r>
              <a:rPr sz="1000" spc="-30" dirty="0">
                <a:solidFill>
                  <a:srgbClr val="3333B2"/>
                </a:solidFill>
                <a:latin typeface="Arial"/>
                <a:cs typeface="Arial"/>
              </a:rPr>
              <a:t> </a:t>
            </a:r>
            <a:r>
              <a:rPr sz="1000" dirty="0">
                <a:solidFill>
                  <a:srgbClr val="3333B2"/>
                </a:solidFill>
                <a:latin typeface="Arial"/>
                <a:cs typeface="Arial"/>
              </a:rPr>
              <a:t>ignorant</a:t>
            </a:r>
            <a:r>
              <a:rPr sz="1000" spc="-25" dirty="0">
                <a:solidFill>
                  <a:srgbClr val="3333B2"/>
                </a:solidFill>
                <a:latin typeface="Arial"/>
                <a:cs typeface="Arial"/>
              </a:rPr>
              <a:t> </a:t>
            </a:r>
            <a:r>
              <a:rPr sz="1000" dirty="0">
                <a:solidFill>
                  <a:srgbClr val="3333B2"/>
                </a:solidFill>
                <a:latin typeface="Arial"/>
                <a:cs typeface="Arial"/>
              </a:rPr>
              <a:t>of</a:t>
            </a:r>
            <a:r>
              <a:rPr sz="1000" spc="-30" dirty="0">
                <a:solidFill>
                  <a:srgbClr val="3333B2"/>
                </a:solidFill>
                <a:latin typeface="Arial"/>
                <a:cs typeface="Arial"/>
              </a:rPr>
              <a:t> </a:t>
            </a:r>
            <a:r>
              <a:rPr sz="1000" dirty="0">
                <a:solidFill>
                  <a:srgbClr val="3333B2"/>
                </a:solidFill>
                <a:latin typeface="Arial"/>
                <a:cs typeface="Arial"/>
              </a:rPr>
              <a:t>any</a:t>
            </a:r>
            <a:r>
              <a:rPr sz="1000" spc="-25" dirty="0">
                <a:solidFill>
                  <a:srgbClr val="3333B2"/>
                </a:solidFill>
                <a:latin typeface="Arial"/>
                <a:cs typeface="Arial"/>
              </a:rPr>
              <a:t> </a:t>
            </a:r>
            <a:r>
              <a:rPr sz="1000" dirty="0">
                <a:solidFill>
                  <a:srgbClr val="3333B2"/>
                </a:solidFill>
                <a:latin typeface="Arial"/>
                <a:cs typeface="Arial"/>
              </a:rPr>
              <a:t>activity</a:t>
            </a:r>
            <a:r>
              <a:rPr sz="1000" spc="-30" dirty="0">
                <a:solidFill>
                  <a:srgbClr val="3333B2"/>
                </a:solidFill>
                <a:latin typeface="Arial"/>
                <a:cs typeface="Arial"/>
              </a:rPr>
              <a:t> </a:t>
            </a:r>
            <a:r>
              <a:rPr sz="1000" dirty="0">
                <a:solidFill>
                  <a:srgbClr val="3333B2"/>
                </a:solidFill>
                <a:latin typeface="Arial"/>
                <a:cs typeface="Arial"/>
              </a:rPr>
              <a:t>by</a:t>
            </a:r>
            <a:r>
              <a:rPr sz="1000" spc="-25" dirty="0">
                <a:solidFill>
                  <a:srgbClr val="3333B2"/>
                </a:solidFill>
                <a:latin typeface="Arial"/>
                <a:cs typeface="Arial"/>
              </a:rPr>
              <a:t> </a:t>
            </a:r>
            <a:r>
              <a:rPr sz="1000" i="1" spc="-25" dirty="0">
                <a:solidFill>
                  <a:srgbClr val="3333B2"/>
                </a:solidFill>
                <a:latin typeface="Arial"/>
                <a:cs typeface="Arial"/>
              </a:rPr>
              <a:t>S</a:t>
            </a:r>
            <a:r>
              <a:rPr sz="1050" i="1" spc="-37" baseline="-15873" dirty="0">
                <a:solidFill>
                  <a:srgbClr val="3333B2"/>
                </a:solidFill>
                <a:latin typeface="Arial"/>
                <a:cs typeface="Arial"/>
              </a:rPr>
              <a:t>1</a:t>
            </a:r>
            <a:endParaRPr sz="1050" baseline="-15873">
              <a:latin typeface="Arial"/>
              <a:cs typeface="Arial"/>
            </a:endParaRPr>
          </a:p>
          <a:p>
            <a:pPr marL="278130" indent="-120650">
              <a:lnSpc>
                <a:spcPct val="100000"/>
              </a:lnSpc>
              <a:spcBef>
                <a:spcPts val="710"/>
              </a:spcBef>
              <a:buClr>
                <a:srgbClr val="3333B2"/>
              </a:buClr>
              <a:buFont typeface="Menlo"/>
              <a:buChar char="•"/>
              <a:tabLst>
                <a:tab pos="278765" algn="l"/>
              </a:tabLst>
            </a:pPr>
            <a:r>
              <a:rPr sz="900" i="1" dirty="0">
                <a:latin typeface="Arial"/>
                <a:cs typeface="Arial"/>
              </a:rPr>
              <a:t>S</a:t>
            </a:r>
            <a:r>
              <a:rPr sz="1050" i="1" baseline="-15873" dirty="0">
                <a:latin typeface="Arial"/>
                <a:cs typeface="Arial"/>
              </a:rPr>
              <a:t>2</a:t>
            </a:r>
            <a:r>
              <a:rPr sz="1050" i="1" spc="254" baseline="-15873" dirty="0">
                <a:latin typeface="Arial"/>
                <a:cs typeface="Arial"/>
              </a:rPr>
              <a:t> </a:t>
            </a:r>
            <a:r>
              <a:rPr sz="900" dirty="0">
                <a:latin typeface="Arial"/>
                <a:cs typeface="Arial"/>
              </a:rPr>
              <a:t>received</a:t>
            </a:r>
            <a:r>
              <a:rPr sz="900" spc="50" dirty="0">
                <a:latin typeface="Arial"/>
                <a:cs typeface="Arial"/>
              </a:rPr>
              <a:t> </a:t>
            </a:r>
            <a:r>
              <a:rPr sz="700" dirty="0">
                <a:latin typeface="Arial"/>
                <a:cs typeface="Arial"/>
              </a:rPr>
              <a:t>ACCEPT</a:t>
            </a:r>
            <a:r>
              <a:rPr sz="900" dirty="0">
                <a:latin typeface="Arial"/>
                <a:cs typeface="Arial"/>
              </a:rPr>
              <a:t>(</a:t>
            </a:r>
            <a:r>
              <a:rPr sz="900" i="1" dirty="0">
                <a:latin typeface="Arial"/>
                <a:cs typeface="Arial"/>
              </a:rPr>
              <a:t>o,</a:t>
            </a:r>
            <a:r>
              <a:rPr sz="900" i="1" spc="-150" dirty="0">
                <a:latin typeface="Arial"/>
                <a:cs typeface="Arial"/>
              </a:rPr>
              <a:t> </a:t>
            </a:r>
            <a:r>
              <a:rPr sz="900" dirty="0">
                <a:latin typeface="Arial"/>
                <a:cs typeface="Arial"/>
              </a:rPr>
              <a:t>1),</a:t>
            </a:r>
            <a:r>
              <a:rPr sz="900" spc="20" dirty="0">
                <a:latin typeface="Arial"/>
                <a:cs typeface="Arial"/>
              </a:rPr>
              <a:t> </a:t>
            </a:r>
            <a:r>
              <a:rPr sz="900" dirty="0">
                <a:latin typeface="Arial"/>
                <a:cs typeface="Arial"/>
              </a:rPr>
              <a:t>detects</a:t>
            </a:r>
            <a:r>
              <a:rPr sz="900" spc="20" dirty="0">
                <a:latin typeface="Arial"/>
                <a:cs typeface="Arial"/>
              </a:rPr>
              <a:t> </a:t>
            </a:r>
            <a:r>
              <a:rPr sz="900" dirty="0">
                <a:latin typeface="Arial"/>
                <a:cs typeface="Arial"/>
              </a:rPr>
              <a:t>crash,</a:t>
            </a:r>
            <a:r>
              <a:rPr sz="900" spc="20" dirty="0">
                <a:latin typeface="Arial"/>
                <a:cs typeface="Arial"/>
              </a:rPr>
              <a:t> </a:t>
            </a:r>
            <a:r>
              <a:rPr sz="900" dirty="0">
                <a:latin typeface="Arial"/>
                <a:cs typeface="Arial"/>
              </a:rPr>
              <a:t>and</a:t>
            </a:r>
            <a:r>
              <a:rPr sz="900" spc="20" dirty="0">
                <a:latin typeface="Arial"/>
                <a:cs typeface="Arial"/>
              </a:rPr>
              <a:t> </a:t>
            </a:r>
            <a:r>
              <a:rPr sz="900" dirty="0">
                <a:latin typeface="Arial"/>
                <a:cs typeface="Arial"/>
              </a:rPr>
              <a:t>becomes</a:t>
            </a:r>
            <a:r>
              <a:rPr sz="900" spc="20" dirty="0">
                <a:latin typeface="Arial"/>
                <a:cs typeface="Arial"/>
              </a:rPr>
              <a:t> </a:t>
            </a:r>
            <a:r>
              <a:rPr sz="900" spc="-10" dirty="0">
                <a:latin typeface="Arial"/>
                <a:cs typeface="Arial"/>
              </a:rPr>
              <a:t>leader.</a:t>
            </a:r>
            <a:endParaRPr sz="900">
              <a:latin typeface="Arial"/>
              <a:cs typeface="Arial"/>
            </a:endParaRPr>
          </a:p>
          <a:p>
            <a:pPr marL="278130" indent="-120650">
              <a:lnSpc>
                <a:spcPct val="100000"/>
              </a:lnSpc>
              <a:spcBef>
                <a:spcPts val="520"/>
              </a:spcBef>
              <a:buClr>
                <a:srgbClr val="3333B2"/>
              </a:buClr>
              <a:buFont typeface="Menlo"/>
              <a:buChar char="•"/>
              <a:tabLst>
                <a:tab pos="278765" algn="l"/>
              </a:tabLst>
            </a:pPr>
            <a:r>
              <a:rPr sz="900" i="1" dirty="0">
                <a:latin typeface="Arial"/>
                <a:cs typeface="Arial"/>
              </a:rPr>
              <a:t>S</a:t>
            </a:r>
            <a:r>
              <a:rPr sz="1050" i="1" baseline="-15873" dirty="0">
                <a:latin typeface="Arial"/>
                <a:cs typeface="Arial"/>
              </a:rPr>
              <a:t>3</a:t>
            </a:r>
            <a:r>
              <a:rPr sz="1050" i="1" spc="277" baseline="-15873" dirty="0">
                <a:latin typeface="Arial"/>
                <a:cs typeface="Arial"/>
              </a:rPr>
              <a:t> </a:t>
            </a:r>
            <a:r>
              <a:rPr sz="900" spc="-10" dirty="0">
                <a:latin typeface="Arial"/>
                <a:cs typeface="Arial"/>
              </a:rPr>
              <a:t>even</a:t>
            </a:r>
            <a:r>
              <a:rPr sz="900" spc="35" dirty="0">
                <a:latin typeface="Arial"/>
                <a:cs typeface="Arial"/>
              </a:rPr>
              <a:t> </a:t>
            </a:r>
            <a:r>
              <a:rPr sz="900" spc="-10" dirty="0">
                <a:latin typeface="Arial"/>
                <a:cs typeface="Arial"/>
              </a:rPr>
              <a:t>never</a:t>
            </a:r>
            <a:r>
              <a:rPr sz="900" spc="40" dirty="0">
                <a:latin typeface="Arial"/>
                <a:cs typeface="Arial"/>
              </a:rPr>
              <a:t> </a:t>
            </a:r>
            <a:r>
              <a:rPr sz="900" dirty="0">
                <a:latin typeface="Arial"/>
                <a:cs typeface="Arial"/>
              </a:rPr>
              <a:t>received</a:t>
            </a:r>
            <a:r>
              <a:rPr sz="900" spc="60" dirty="0">
                <a:latin typeface="Arial"/>
                <a:cs typeface="Arial"/>
              </a:rPr>
              <a:t> </a:t>
            </a:r>
            <a:r>
              <a:rPr sz="700" dirty="0">
                <a:latin typeface="Arial"/>
                <a:cs typeface="Arial"/>
              </a:rPr>
              <a:t>ACCEPT</a:t>
            </a:r>
            <a:r>
              <a:rPr sz="900" dirty="0">
                <a:latin typeface="Arial"/>
                <a:cs typeface="Arial"/>
              </a:rPr>
              <a:t>(</a:t>
            </a:r>
            <a:r>
              <a:rPr sz="900" i="1" dirty="0">
                <a:latin typeface="Arial"/>
                <a:cs typeface="Arial"/>
              </a:rPr>
              <a:t>o,</a:t>
            </a:r>
            <a:r>
              <a:rPr sz="900" i="1" spc="-135" dirty="0">
                <a:latin typeface="Arial"/>
                <a:cs typeface="Arial"/>
              </a:rPr>
              <a:t> </a:t>
            </a:r>
            <a:r>
              <a:rPr sz="900" spc="-25" dirty="0">
                <a:latin typeface="Arial"/>
                <a:cs typeface="Arial"/>
              </a:rPr>
              <a:t>1).</a:t>
            </a:r>
            <a:endParaRPr sz="900">
              <a:latin typeface="Arial"/>
              <a:cs typeface="Arial"/>
            </a:endParaRPr>
          </a:p>
          <a:p>
            <a:pPr marL="278130" indent="-120650">
              <a:lnSpc>
                <a:spcPct val="100000"/>
              </a:lnSpc>
              <a:spcBef>
                <a:spcPts val="525"/>
              </a:spcBef>
              <a:buClr>
                <a:srgbClr val="3333B2"/>
              </a:buClr>
              <a:buFont typeface="Menlo"/>
              <a:buChar char="•"/>
              <a:tabLst>
                <a:tab pos="278765" algn="l"/>
              </a:tabLst>
            </a:pPr>
            <a:r>
              <a:rPr sz="900" dirty="0">
                <a:latin typeface="Arial"/>
                <a:cs typeface="Arial"/>
              </a:rPr>
              <a:t>If</a:t>
            </a:r>
            <a:r>
              <a:rPr sz="900" spc="20" dirty="0">
                <a:latin typeface="Arial"/>
                <a:cs typeface="Arial"/>
              </a:rPr>
              <a:t> </a:t>
            </a:r>
            <a:r>
              <a:rPr sz="900" i="1" dirty="0">
                <a:latin typeface="Arial"/>
                <a:cs typeface="Arial"/>
              </a:rPr>
              <a:t>S</a:t>
            </a:r>
            <a:r>
              <a:rPr sz="1050" i="1" baseline="-15873" dirty="0">
                <a:latin typeface="Arial"/>
                <a:cs typeface="Arial"/>
              </a:rPr>
              <a:t>2</a:t>
            </a:r>
            <a:r>
              <a:rPr sz="1050" i="1" spc="254" baseline="-15873" dirty="0">
                <a:latin typeface="Arial"/>
                <a:cs typeface="Arial"/>
              </a:rPr>
              <a:t> </a:t>
            </a:r>
            <a:r>
              <a:rPr sz="900" dirty="0">
                <a:latin typeface="Arial"/>
                <a:cs typeface="Arial"/>
              </a:rPr>
              <a:t>sends</a:t>
            </a:r>
            <a:r>
              <a:rPr sz="900" spc="50" dirty="0">
                <a:latin typeface="Arial"/>
                <a:cs typeface="Arial"/>
              </a:rPr>
              <a:t> </a:t>
            </a:r>
            <a:r>
              <a:rPr sz="700" dirty="0">
                <a:latin typeface="Arial"/>
                <a:cs typeface="Arial"/>
              </a:rPr>
              <a:t>ACCEPT</a:t>
            </a:r>
            <a:r>
              <a:rPr sz="900" dirty="0">
                <a:latin typeface="Arial"/>
                <a:cs typeface="Arial"/>
              </a:rPr>
              <a:t>(</a:t>
            </a:r>
            <a:r>
              <a:rPr sz="900" i="1" dirty="0">
                <a:latin typeface="Arial"/>
                <a:cs typeface="Arial"/>
              </a:rPr>
              <a:t>o</a:t>
            </a:r>
            <a:r>
              <a:rPr sz="1050" i="1" baseline="27777" dirty="0">
                <a:latin typeface="Arial"/>
                <a:cs typeface="Arial"/>
              </a:rPr>
              <a:t>2</a:t>
            </a:r>
            <a:r>
              <a:rPr sz="1050" i="1" spc="-142" baseline="27777" dirty="0">
                <a:latin typeface="Arial"/>
                <a:cs typeface="Arial"/>
              </a:rPr>
              <a:t> </a:t>
            </a:r>
            <a:r>
              <a:rPr sz="900" i="1" spc="-10" dirty="0">
                <a:latin typeface="Arial"/>
                <a:cs typeface="Arial"/>
              </a:rPr>
              <a:t>,</a:t>
            </a:r>
            <a:r>
              <a:rPr sz="900" i="1" spc="-145" dirty="0">
                <a:latin typeface="Arial"/>
                <a:cs typeface="Arial"/>
              </a:rPr>
              <a:t> </a:t>
            </a:r>
            <a:r>
              <a:rPr sz="900" dirty="0">
                <a:latin typeface="Arial"/>
                <a:cs typeface="Arial"/>
              </a:rPr>
              <a:t>2)</a:t>
            </a:r>
            <a:r>
              <a:rPr sz="900" spc="-35" dirty="0">
                <a:latin typeface="Arial"/>
                <a:cs typeface="Arial"/>
              </a:rPr>
              <a:t> </a:t>
            </a:r>
            <a:r>
              <a:rPr sz="900" i="1" spc="350" dirty="0">
                <a:latin typeface="Menlo"/>
                <a:cs typeface="Menlo"/>
              </a:rPr>
              <a:t>⇒</a:t>
            </a:r>
            <a:r>
              <a:rPr sz="900" i="1" spc="-270" dirty="0">
                <a:latin typeface="Menlo"/>
                <a:cs typeface="Menlo"/>
              </a:rPr>
              <a:t> </a:t>
            </a:r>
            <a:r>
              <a:rPr sz="900" i="1" dirty="0">
                <a:latin typeface="Arial"/>
                <a:cs typeface="Arial"/>
              </a:rPr>
              <a:t>S</a:t>
            </a:r>
            <a:r>
              <a:rPr sz="1050" i="1" baseline="-15873" dirty="0">
                <a:latin typeface="Arial"/>
                <a:cs typeface="Arial"/>
              </a:rPr>
              <a:t>3</a:t>
            </a:r>
            <a:r>
              <a:rPr sz="1050" i="1" spc="254" baseline="-15873" dirty="0">
                <a:latin typeface="Arial"/>
                <a:cs typeface="Arial"/>
              </a:rPr>
              <a:t> </a:t>
            </a:r>
            <a:r>
              <a:rPr sz="900" dirty="0">
                <a:latin typeface="Arial"/>
                <a:cs typeface="Arial"/>
              </a:rPr>
              <a:t>sees</a:t>
            </a:r>
            <a:r>
              <a:rPr sz="900" spc="20" dirty="0">
                <a:latin typeface="Arial"/>
                <a:cs typeface="Arial"/>
              </a:rPr>
              <a:t> </a:t>
            </a:r>
            <a:r>
              <a:rPr sz="900" spc="-10" dirty="0">
                <a:latin typeface="Arial"/>
                <a:cs typeface="Arial"/>
              </a:rPr>
              <a:t>unexpected</a:t>
            </a:r>
            <a:r>
              <a:rPr sz="900" spc="20" dirty="0">
                <a:latin typeface="Arial"/>
                <a:cs typeface="Arial"/>
              </a:rPr>
              <a:t> </a:t>
            </a:r>
            <a:r>
              <a:rPr sz="900" dirty="0">
                <a:latin typeface="Arial"/>
                <a:cs typeface="Arial"/>
              </a:rPr>
              <a:t>timestamp</a:t>
            </a:r>
            <a:r>
              <a:rPr sz="900" spc="20" dirty="0">
                <a:latin typeface="Arial"/>
                <a:cs typeface="Arial"/>
              </a:rPr>
              <a:t> </a:t>
            </a:r>
            <a:r>
              <a:rPr sz="900" dirty="0">
                <a:latin typeface="Arial"/>
                <a:cs typeface="Arial"/>
              </a:rPr>
              <a:t>and</a:t>
            </a:r>
            <a:r>
              <a:rPr sz="900" spc="20" dirty="0">
                <a:latin typeface="Arial"/>
                <a:cs typeface="Arial"/>
              </a:rPr>
              <a:t> </a:t>
            </a:r>
            <a:r>
              <a:rPr sz="900" spc="-10" dirty="0">
                <a:latin typeface="Arial"/>
                <a:cs typeface="Arial"/>
              </a:rPr>
              <a:t>tells</a:t>
            </a:r>
            <a:endParaRPr sz="900">
              <a:latin typeface="Arial"/>
              <a:cs typeface="Arial"/>
            </a:endParaRPr>
          </a:p>
          <a:p>
            <a:pPr marL="278130">
              <a:lnSpc>
                <a:spcPct val="100000"/>
              </a:lnSpc>
              <a:spcBef>
                <a:spcPts val="125"/>
              </a:spcBef>
            </a:pPr>
            <a:r>
              <a:rPr sz="900" i="1" dirty="0">
                <a:latin typeface="Arial"/>
                <a:cs typeface="Arial"/>
              </a:rPr>
              <a:t>S</a:t>
            </a:r>
            <a:r>
              <a:rPr sz="1050" i="1" baseline="-15873" dirty="0">
                <a:latin typeface="Arial"/>
                <a:cs typeface="Arial"/>
              </a:rPr>
              <a:t>2</a:t>
            </a:r>
            <a:r>
              <a:rPr sz="1050" i="1" spc="179" baseline="-15873" dirty="0">
                <a:latin typeface="Arial"/>
                <a:cs typeface="Arial"/>
              </a:rPr>
              <a:t> </a:t>
            </a:r>
            <a:r>
              <a:rPr sz="900" dirty="0">
                <a:latin typeface="Arial"/>
                <a:cs typeface="Arial"/>
              </a:rPr>
              <a:t>that</a:t>
            </a:r>
            <a:r>
              <a:rPr sz="900" spc="-20" dirty="0">
                <a:latin typeface="Arial"/>
                <a:cs typeface="Arial"/>
              </a:rPr>
              <a:t> </a:t>
            </a:r>
            <a:r>
              <a:rPr sz="900" dirty="0">
                <a:latin typeface="Arial"/>
                <a:cs typeface="Arial"/>
              </a:rPr>
              <a:t>it</a:t>
            </a:r>
            <a:r>
              <a:rPr sz="900" spc="-20" dirty="0">
                <a:latin typeface="Arial"/>
                <a:cs typeface="Arial"/>
              </a:rPr>
              <a:t> </a:t>
            </a:r>
            <a:r>
              <a:rPr sz="900" dirty="0">
                <a:latin typeface="Arial"/>
                <a:cs typeface="Arial"/>
              </a:rPr>
              <a:t>missed</a:t>
            </a:r>
            <a:r>
              <a:rPr sz="900" spc="-20" dirty="0">
                <a:latin typeface="Arial"/>
                <a:cs typeface="Arial"/>
              </a:rPr>
              <a:t> </a:t>
            </a:r>
            <a:r>
              <a:rPr sz="900" i="1" spc="-25" dirty="0">
                <a:latin typeface="Arial"/>
                <a:cs typeface="Arial"/>
              </a:rPr>
              <a:t>o</a:t>
            </a:r>
            <a:r>
              <a:rPr sz="1050" i="1" spc="-37" baseline="27777" dirty="0">
                <a:latin typeface="Arial"/>
                <a:cs typeface="Arial"/>
              </a:rPr>
              <a:t>1</a:t>
            </a:r>
            <a:r>
              <a:rPr sz="900" spc="-25" dirty="0">
                <a:latin typeface="Arial"/>
                <a:cs typeface="Arial"/>
              </a:rPr>
              <a:t>.</a:t>
            </a:r>
            <a:endParaRPr sz="900">
              <a:latin typeface="Arial"/>
              <a:cs typeface="Arial"/>
            </a:endParaRPr>
          </a:p>
          <a:p>
            <a:pPr marL="278130" indent="-120650">
              <a:lnSpc>
                <a:spcPct val="100000"/>
              </a:lnSpc>
              <a:spcBef>
                <a:spcPts val="525"/>
              </a:spcBef>
              <a:buClr>
                <a:srgbClr val="3333B2"/>
              </a:buClr>
              <a:buFont typeface="Menlo"/>
              <a:buChar char="•"/>
              <a:tabLst>
                <a:tab pos="278765" algn="l"/>
              </a:tabLst>
            </a:pPr>
            <a:r>
              <a:rPr sz="900" i="1" dirty="0">
                <a:latin typeface="Arial"/>
                <a:cs typeface="Arial"/>
              </a:rPr>
              <a:t>S</a:t>
            </a:r>
            <a:r>
              <a:rPr sz="1050" i="1" baseline="-15873" dirty="0">
                <a:latin typeface="Arial"/>
                <a:cs typeface="Arial"/>
              </a:rPr>
              <a:t>2</a:t>
            </a:r>
            <a:r>
              <a:rPr sz="1050" i="1" spc="270" baseline="-15873" dirty="0">
                <a:latin typeface="Arial"/>
                <a:cs typeface="Arial"/>
              </a:rPr>
              <a:t> </a:t>
            </a:r>
            <a:r>
              <a:rPr sz="900" dirty="0">
                <a:latin typeface="Arial"/>
                <a:cs typeface="Arial"/>
              </a:rPr>
              <a:t>retransmits</a:t>
            </a:r>
            <a:r>
              <a:rPr sz="900" spc="60" dirty="0">
                <a:latin typeface="Arial"/>
                <a:cs typeface="Arial"/>
              </a:rPr>
              <a:t> </a:t>
            </a:r>
            <a:r>
              <a:rPr sz="700" dirty="0">
                <a:latin typeface="Arial"/>
                <a:cs typeface="Arial"/>
              </a:rPr>
              <a:t>ACCEPT</a:t>
            </a:r>
            <a:r>
              <a:rPr sz="900" dirty="0">
                <a:latin typeface="Arial"/>
                <a:cs typeface="Arial"/>
              </a:rPr>
              <a:t>(</a:t>
            </a:r>
            <a:r>
              <a:rPr sz="900" i="1" dirty="0">
                <a:latin typeface="Arial"/>
                <a:cs typeface="Arial"/>
              </a:rPr>
              <a:t>o</a:t>
            </a:r>
            <a:r>
              <a:rPr sz="1050" i="1" baseline="27777" dirty="0">
                <a:latin typeface="Arial"/>
                <a:cs typeface="Arial"/>
              </a:rPr>
              <a:t>1</a:t>
            </a:r>
            <a:r>
              <a:rPr sz="900" i="1" dirty="0">
                <a:latin typeface="Arial"/>
                <a:cs typeface="Arial"/>
              </a:rPr>
              <a:t>,</a:t>
            </a:r>
            <a:r>
              <a:rPr sz="900" i="1" spc="-145" dirty="0">
                <a:latin typeface="Arial"/>
                <a:cs typeface="Arial"/>
              </a:rPr>
              <a:t> </a:t>
            </a:r>
            <a:r>
              <a:rPr sz="900" dirty="0">
                <a:latin typeface="Arial"/>
                <a:cs typeface="Arial"/>
              </a:rPr>
              <a:t>1),</a:t>
            </a:r>
            <a:r>
              <a:rPr sz="900" spc="30" dirty="0">
                <a:latin typeface="Arial"/>
                <a:cs typeface="Arial"/>
              </a:rPr>
              <a:t> </a:t>
            </a:r>
            <a:r>
              <a:rPr sz="900" dirty="0">
                <a:latin typeface="Arial"/>
                <a:cs typeface="Arial"/>
              </a:rPr>
              <a:t>allowing</a:t>
            </a:r>
            <a:r>
              <a:rPr sz="900" spc="25" dirty="0">
                <a:latin typeface="Arial"/>
                <a:cs typeface="Arial"/>
              </a:rPr>
              <a:t> </a:t>
            </a:r>
            <a:r>
              <a:rPr sz="900" i="1" dirty="0">
                <a:latin typeface="Arial"/>
                <a:cs typeface="Arial"/>
              </a:rPr>
              <a:t>S</a:t>
            </a:r>
            <a:r>
              <a:rPr sz="1050" i="1" baseline="-15873" dirty="0">
                <a:latin typeface="Arial"/>
                <a:cs typeface="Arial"/>
              </a:rPr>
              <a:t>3</a:t>
            </a:r>
            <a:r>
              <a:rPr sz="1050" i="1" spc="270" baseline="-15873"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catch</a:t>
            </a:r>
            <a:r>
              <a:rPr sz="900" spc="30" dirty="0">
                <a:latin typeface="Arial"/>
                <a:cs typeface="Arial"/>
              </a:rPr>
              <a:t> </a:t>
            </a:r>
            <a:r>
              <a:rPr sz="900" spc="-25" dirty="0">
                <a:latin typeface="Arial"/>
                <a:cs typeface="Arial"/>
              </a:rPr>
              <a:t>up.</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484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Example:</a:t>
            </a:r>
            <a:r>
              <a:rPr sz="500" spc="5" dirty="0">
                <a:latin typeface="Arial"/>
                <a:cs typeface="Arial"/>
                <a:hlinkClick r:id="rId4" action="ppaction://hlinksldjump"/>
              </a:rPr>
              <a:t> </a:t>
            </a:r>
            <a:r>
              <a:rPr sz="500" spc="-10" dirty="0">
                <a:latin typeface="Arial"/>
                <a:cs typeface="Arial"/>
                <a:hlinkClick r:id="rId4" action="ppaction://hlinksldjump"/>
              </a:rPr>
              <a:t>Paxos</a:t>
            </a:r>
            <a:endParaRPr sz="500">
              <a:latin typeface="Arial"/>
              <a:cs typeface="Arial"/>
            </a:endParaRPr>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74465"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Leader</a:t>
            </a:r>
            <a:r>
              <a:rPr spc="-45" dirty="0"/>
              <a:t> </a:t>
            </a:r>
            <a:r>
              <a:rPr dirty="0"/>
              <a:t>crashes</a:t>
            </a:r>
            <a:r>
              <a:rPr spc="-45" dirty="0"/>
              <a:t> </a:t>
            </a:r>
            <a:r>
              <a:rPr dirty="0"/>
              <a:t>after</a:t>
            </a:r>
            <a:r>
              <a:rPr spc="-45" dirty="0"/>
              <a:t> </a:t>
            </a:r>
            <a:r>
              <a:rPr spc="-10" dirty="0"/>
              <a:t>executing</a:t>
            </a:r>
            <a:r>
              <a:rPr spc="-45" dirty="0"/>
              <a:t> </a:t>
            </a:r>
            <a:r>
              <a:rPr i="1" spc="-25" dirty="0">
                <a:latin typeface="Arial"/>
                <a:cs typeface="Arial"/>
              </a:rPr>
              <a:t>o</a:t>
            </a:r>
            <a:r>
              <a:rPr sz="1350" i="1" spc="-37" baseline="27777" dirty="0">
                <a:latin typeface="Arial"/>
                <a:cs typeface="Arial"/>
              </a:rPr>
              <a:t>1</a:t>
            </a:r>
            <a:endParaRPr sz="1350" baseline="27777">
              <a:latin typeface="Arial"/>
              <a:cs typeface="Arial"/>
            </a:endParaRPr>
          </a:p>
        </p:txBody>
      </p:sp>
      <p:sp>
        <p:nvSpPr>
          <p:cNvPr id="4" name="object 4"/>
          <p:cNvSpPr txBox="1"/>
          <p:nvPr/>
        </p:nvSpPr>
        <p:spPr>
          <a:xfrm>
            <a:off x="334594" y="514774"/>
            <a:ext cx="3838575" cy="2294890"/>
          </a:xfrm>
          <a:prstGeom prst="rect">
            <a:avLst/>
          </a:prstGeom>
        </p:spPr>
        <p:txBody>
          <a:bodyPr vert="horz" wrap="square" lIns="0" tIns="12065" rIns="0" bIns="0" rtlCol="0">
            <a:spAutoFit/>
          </a:bodyPr>
          <a:lstStyle/>
          <a:p>
            <a:pPr marL="25400">
              <a:lnSpc>
                <a:spcPct val="100000"/>
              </a:lnSpc>
              <a:spcBef>
                <a:spcPts val="95"/>
              </a:spcBef>
            </a:pPr>
            <a:r>
              <a:rPr sz="1000" i="1" dirty="0">
                <a:solidFill>
                  <a:srgbClr val="3333B2"/>
                </a:solidFill>
                <a:latin typeface="Arial"/>
                <a:cs typeface="Arial"/>
              </a:rPr>
              <a:t>S</a:t>
            </a:r>
            <a:r>
              <a:rPr sz="1050" i="1" baseline="-15873" dirty="0">
                <a:solidFill>
                  <a:srgbClr val="3333B2"/>
                </a:solidFill>
                <a:latin typeface="Arial"/>
                <a:cs typeface="Arial"/>
              </a:rPr>
              <a:t>3</a:t>
            </a:r>
            <a:r>
              <a:rPr sz="1050" i="1" spc="202" baseline="-15873" dirty="0">
                <a:solidFill>
                  <a:srgbClr val="3333B2"/>
                </a:solidFill>
                <a:latin typeface="Arial"/>
                <a:cs typeface="Arial"/>
              </a:rPr>
              <a:t> </a:t>
            </a:r>
            <a:r>
              <a:rPr sz="1000" dirty="0">
                <a:solidFill>
                  <a:srgbClr val="3333B2"/>
                </a:solidFill>
                <a:latin typeface="Arial"/>
                <a:cs typeface="Arial"/>
              </a:rPr>
              <a:t>is</a:t>
            </a:r>
            <a:r>
              <a:rPr sz="1000" spc="-30" dirty="0">
                <a:solidFill>
                  <a:srgbClr val="3333B2"/>
                </a:solidFill>
                <a:latin typeface="Arial"/>
                <a:cs typeface="Arial"/>
              </a:rPr>
              <a:t> </a:t>
            </a:r>
            <a:r>
              <a:rPr sz="1000" dirty="0">
                <a:solidFill>
                  <a:srgbClr val="3333B2"/>
                </a:solidFill>
                <a:latin typeface="Arial"/>
                <a:cs typeface="Arial"/>
              </a:rPr>
              <a:t>completely</a:t>
            </a:r>
            <a:r>
              <a:rPr sz="1000" spc="-30" dirty="0">
                <a:solidFill>
                  <a:srgbClr val="3333B2"/>
                </a:solidFill>
                <a:latin typeface="Arial"/>
                <a:cs typeface="Arial"/>
              </a:rPr>
              <a:t> </a:t>
            </a:r>
            <a:r>
              <a:rPr sz="1000" dirty="0">
                <a:solidFill>
                  <a:srgbClr val="3333B2"/>
                </a:solidFill>
                <a:latin typeface="Arial"/>
                <a:cs typeface="Arial"/>
              </a:rPr>
              <a:t>ignorant</a:t>
            </a:r>
            <a:r>
              <a:rPr sz="1000" spc="-25" dirty="0">
                <a:solidFill>
                  <a:srgbClr val="3333B2"/>
                </a:solidFill>
                <a:latin typeface="Arial"/>
                <a:cs typeface="Arial"/>
              </a:rPr>
              <a:t> </a:t>
            </a:r>
            <a:r>
              <a:rPr sz="1000" dirty="0">
                <a:solidFill>
                  <a:srgbClr val="3333B2"/>
                </a:solidFill>
                <a:latin typeface="Arial"/>
                <a:cs typeface="Arial"/>
              </a:rPr>
              <a:t>of</a:t>
            </a:r>
            <a:r>
              <a:rPr sz="1000" spc="-30" dirty="0">
                <a:solidFill>
                  <a:srgbClr val="3333B2"/>
                </a:solidFill>
                <a:latin typeface="Arial"/>
                <a:cs typeface="Arial"/>
              </a:rPr>
              <a:t> </a:t>
            </a:r>
            <a:r>
              <a:rPr sz="1000" dirty="0">
                <a:solidFill>
                  <a:srgbClr val="3333B2"/>
                </a:solidFill>
                <a:latin typeface="Arial"/>
                <a:cs typeface="Arial"/>
              </a:rPr>
              <a:t>any</a:t>
            </a:r>
            <a:r>
              <a:rPr sz="1000" spc="-25" dirty="0">
                <a:solidFill>
                  <a:srgbClr val="3333B2"/>
                </a:solidFill>
                <a:latin typeface="Arial"/>
                <a:cs typeface="Arial"/>
              </a:rPr>
              <a:t> </a:t>
            </a:r>
            <a:r>
              <a:rPr sz="1000" dirty="0">
                <a:solidFill>
                  <a:srgbClr val="3333B2"/>
                </a:solidFill>
                <a:latin typeface="Arial"/>
                <a:cs typeface="Arial"/>
              </a:rPr>
              <a:t>activity</a:t>
            </a:r>
            <a:r>
              <a:rPr sz="1000" spc="-30" dirty="0">
                <a:solidFill>
                  <a:srgbClr val="3333B2"/>
                </a:solidFill>
                <a:latin typeface="Arial"/>
                <a:cs typeface="Arial"/>
              </a:rPr>
              <a:t> </a:t>
            </a:r>
            <a:r>
              <a:rPr sz="1000" dirty="0">
                <a:solidFill>
                  <a:srgbClr val="3333B2"/>
                </a:solidFill>
                <a:latin typeface="Arial"/>
                <a:cs typeface="Arial"/>
              </a:rPr>
              <a:t>by</a:t>
            </a:r>
            <a:r>
              <a:rPr sz="1000" spc="-25" dirty="0">
                <a:solidFill>
                  <a:srgbClr val="3333B2"/>
                </a:solidFill>
                <a:latin typeface="Arial"/>
                <a:cs typeface="Arial"/>
              </a:rPr>
              <a:t> </a:t>
            </a:r>
            <a:r>
              <a:rPr sz="1000" i="1" spc="-25" dirty="0">
                <a:solidFill>
                  <a:srgbClr val="3333B2"/>
                </a:solidFill>
                <a:latin typeface="Arial"/>
                <a:cs typeface="Arial"/>
              </a:rPr>
              <a:t>S</a:t>
            </a:r>
            <a:r>
              <a:rPr sz="1050" i="1" spc="-37" baseline="-15873" dirty="0">
                <a:solidFill>
                  <a:srgbClr val="3333B2"/>
                </a:solidFill>
                <a:latin typeface="Arial"/>
                <a:cs typeface="Arial"/>
              </a:rPr>
              <a:t>1</a:t>
            </a:r>
            <a:endParaRPr sz="1050" baseline="-15873">
              <a:latin typeface="Arial"/>
              <a:cs typeface="Arial"/>
            </a:endParaRPr>
          </a:p>
          <a:p>
            <a:pPr marL="278130" indent="-120650">
              <a:lnSpc>
                <a:spcPct val="100000"/>
              </a:lnSpc>
              <a:spcBef>
                <a:spcPts val="710"/>
              </a:spcBef>
              <a:buClr>
                <a:srgbClr val="3333B2"/>
              </a:buClr>
              <a:buFont typeface="Menlo"/>
              <a:buChar char="•"/>
              <a:tabLst>
                <a:tab pos="278765" algn="l"/>
              </a:tabLst>
            </a:pPr>
            <a:r>
              <a:rPr sz="900" i="1" dirty="0">
                <a:latin typeface="Arial"/>
                <a:cs typeface="Arial"/>
              </a:rPr>
              <a:t>S</a:t>
            </a:r>
            <a:r>
              <a:rPr sz="1050" i="1" baseline="-15873" dirty="0">
                <a:latin typeface="Arial"/>
                <a:cs typeface="Arial"/>
              </a:rPr>
              <a:t>2</a:t>
            </a:r>
            <a:r>
              <a:rPr sz="1050" i="1" spc="254" baseline="-15873" dirty="0">
                <a:latin typeface="Arial"/>
                <a:cs typeface="Arial"/>
              </a:rPr>
              <a:t> </a:t>
            </a:r>
            <a:r>
              <a:rPr sz="900" dirty="0">
                <a:latin typeface="Arial"/>
                <a:cs typeface="Arial"/>
              </a:rPr>
              <a:t>received</a:t>
            </a:r>
            <a:r>
              <a:rPr sz="900" spc="50" dirty="0">
                <a:latin typeface="Arial"/>
                <a:cs typeface="Arial"/>
              </a:rPr>
              <a:t> </a:t>
            </a:r>
            <a:r>
              <a:rPr sz="700" dirty="0">
                <a:latin typeface="Arial"/>
                <a:cs typeface="Arial"/>
              </a:rPr>
              <a:t>ACCEPT</a:t>
            </a:r>
            <a:r>
              <a:rPr sz="900" dirty="0">
                <a:latin typeface="Arial"/>
                <a:cs typeface="Arial"/>
              </a:rPr>
              <a:t>(</a:t>
            </a:r>
            <a:r>
              <a:rPr sz="900" i="1" dirty="0">
                <a:latin typeface="Arial"/>
                <a:cs typeface="Arial"/>
              </a:rPr>
              <a:t>o,</a:t>
            </a:r>
            <a:r>
              <a:rPr sz="900" i="1" spc="-150" dirty="0">
                <a:latin typeface="Arial"/>
                <a:cs typeface="Arial"/>
              </a:rPr>
              <a:t> </a:t>
            </a:r>
            <a:r>
              <a:rPr sz="900" dirty="0">
                <a:latin typeface="Arial"/>
                <a:cs typeface="Arial"/>
              </a:rPr>
              <a:t>1),</a:t>
            </a:r>
            <a:r>
              <a:rPr sz="900" spc="20" dirty="0">
                <a:latin typeface="Arial"/>
                <a:cs typeface="Arial"/>
              </a:rPr>
              <a:t> </a:t>
            </a:r>
            <a:r>
              <a:rPr sz="900" dirty="0">
                <a:latin typeface="Arial"/>
                <a:cs typeface="Arial"/>
              </a:rPr>
              <a:t>detects</a:t>
            </a:r>
            <a:r>
              <a:rPr sz="900" spc="20" dirty="0">
                <a:latin typeface="Arial"/>
                <a:cs typeface="Arial"/>
              </a:rPr>
              <a:t> </a:t>
            </a:r>
            <a:r>
              <a:rPr sz="900" dirty="0">
                <a:latin typeface="Arial"/>
                <a:cs typeface="Arial"/>
              </a:rPr>
              <a:t>crash,</a:t>
            </a:r>
            <a:r>
              <a:rPr sz="900" spc="20" dirty="0">
                <a:latin typeface="Arial"/>
                <a:cs typeface="Arial"/>
              </a:rPr>
              <a:t> </a:t>
            </a:r>
            <a:r>
              <a:rPr sz="900" dirty="0">
                <a:latin typeface="Arial"/>
                <a:cs typeface="Arial"/>
              </a:rPr>
              <a:t>and</a:t>
            </a:r>
            <a:r>
              <a:rPr sz="900" spc="20" dirty="0">
                <a:latin typeface="Arial"/>
                <a:cs typeface="Arial"/>
              </a:rPr>
              <a:t> </a:t>
            </a:r>
            <a:r>
              <a:rPr sz="900" dirty="0">
                <a:latin typeface="Arial"/>
                <a:cs typeface="Arial"/>
              </a:rPr>
              <a:t>becomes</a:t>
            </a:r>
            <a:r>
              <a:rPr sz="900" spc="20" dirty="0">
                <a:latin typeface="Arial"/>
                <a:cs typeface="Arial"/>
              </a:rPr>
              <a:t> </a:t>
            </a:r>
            <a:r>
              <a:rPr sz="900" spc="-10" dirty="0">
                <a:latin typeface="Arial"/>
                <a:cs typeface="Arial"/>
              </a:rPr>
              <a:t>leader.</a:t>
            </a:r>
            <a:endParaRPr sz="900">
              <a:latin typeface="Arial"/>
              <a:cs typeface="Arial"/>
            </a:endParaRPr>
          </a:p>
          <a:p>
            <a:pPr marL="278130" indent="-120650">
              <a:lnSpc>
                <a:spcPct val="100000"/>
              </a:lnSpc>
              <a:spcBef>
                <a:spcPts val="520"/>
              </a:spcBef>
              <a:buClr>
                <a:srgbClr val="3333B2"/>
              </a:buClr>
              <a:buFont typeface="Menlo"/>
              <a:buChar char="•"/>
              <a:tabLst>
                <a:tab pos="278765" algn="l"/>
              </a:tabLst>
            </a:pPr>
            <a:r>
              <a:rPr sz="900" i="1" dirty="0">
                <a:latin typeface="Arial"/>
                <a:cs typeface="Arial"/>
              </a:rPr>
              <a:t>S</a:t>
            </a:r>
            <a:r>
              <a:rPr sz="1050" i="1" baseline="-15873" dirty="0">
                <a:latin typeface="Arial"/>
                <a:cs typeface="Arial"/>
              </a:rPr>
              <a:t>3</a:t>
            </a:r>
            <a:r>
              <a:rPr sz="1050" i="1" spc="277" baseline="-15873" dirty="0">
                <a:latin typeface="Arial"/>
                <a:cs typeface="Arial"/>
              </a:rPr>
              <a:t> </a:t>
            </a:r>
            <a:r>
              <a:rPr sz="900" spc="-10" dirty="0">
                <a:latin typeface="Arial"/>
                <a:cs typeface="Arial"/>
              </a:rPr>
              <a:t>even</a:t>
            </a:r>
            <a:r>
              <a:rPr sz="900" spc="35" dirty="0">
                <a:latin typeface="Arial"/>
                <a:cs typeface="Arial"/>
              </a:rPr>
              <a:t> </a:t>
            </a:r>
            <a:r>
              <a:rPr sz="900" spc="-10" dirty="0">
                <a:latin typeface="Arial"/>
                <a:cs typeface="Arial"/>
              </a:rPr>
              <a:t>never</a:t>
            </a:r>
            <a:r>
              <a:rPr sz="900" spc="40" dirty="0">
                <a:latin typeface="Arial"/>
                <a:cs typeface="Arial"/>
              </a:rPr>
              <a:t> </a:t>
            </a:r>
            <a:r>
              <a:rPr sz="900" dirty="0">
                <a:latin typeface="Arial"/>
                <a:cs typeface="Arial"/>
              </a:rPr>
              <a:t>received</a:t>
            </a:r>
            <a:r>
              <a:rPr sz="900" spc="60" dirty="0">
                <a:latin typeface="Arial"/>
                <a:cs typeface="Arial"/>
              </a:rPr>
              <a:t> </a:t>
            </a:r>
            <a:r>
              <a:rPr sz="700" dirty="0">
                <a:latin typeface="Arial"/>
                <a:cs typeface="Arial"/>
              </a:rPr>
              <a:t>ACCEPT</a:t>
            </a:r>
            <a:r>
              <a:rPr sz="900" dirty="0">
                <a:latin typeface="Arial"/>
                <a:cs typeface="Arial"/>
              </a:rPr>
              <a:t>(</a:t>
            </a:r>
            <a:r>
              <a:rPr sz="900" i="1" dirty="0">
                <a:latin typeface="Arial"/>
                <a:cs typeface="Arial"/>
              </a:rPr>
              <a:t>o,</a:t>
            </a:r>
            <a:r>
              <a:rPr sz="900" i="1" spc="-135" dirty="0">
                <a:latin typeface="Arial"/>
                <a:cs typeface="Arial"/>
              </a:rPr>
              <a:t> </a:t>
            </a:r>
            <a:r>
              <a:rPr sz="900" spc="-25" dirty="0">
                <a:latin typeface="Arial"/>
                <a:cs typeface="Arial"/>
              </a:rPr>
              <a:t>1).</a:t>
            </a:r>
            <a:endParaRPr sz="900">
              <a:latin typeface="Arial"/>
              <a:cs typeface="Arial"/>
            </a:endParaRPr>
          </a:p>
          <a:p>
            <a:pPr marL="278130" indent="-120650">
              <a:lnSpc>
                <a:spcPct val="100000"/>
              </a:lnSpc>
              <a:spcBef>
                <a:spcPts val="525"/>
              </a:spcBef>
              <a:buClr>
                <a:srgbClr val="3333B2"/>
              </a:buClr>
              <a:buFont typeface="Menlo"/>
              <a:buChar char="•"/>
              <a:tabLst>
                <a:tab pos="278765" algn="l"/>
              </a:tabLst>
            </a:pPr>
            <a:r>
              <a:rPr sz="900" dirty="0">
                <a:latin typeface="Arial"/>
                <a:cs typeface="Arial"/>
              </a:rPr>
              <a:t>If</a:t>
            </a:r>
            <a:r>
              <a:rPr sz="900" spc="20" dirty="0">
                <a:latin typeface="Arial"/>
                <a:cs typeface="Arial"/>
              </a:rPr>
              <a:t> </a:t>
            </a:r>
            <a:r>
              <a:rPr sz="900" i="1" dirty="0">
                <a:latin typeface="Arial"/>
                <a:cs typeface="Arial"/>
              </a:rPr>
              <a:t>S</a:t>
            </a:r>
            <a:r>
              <a:rPr sz="1050" i="1" baseline="-15873" dirty="0">
                <a:latin typeface="Arial"/>
                <a:cs typeface="Arial"/>
              </a:rPr>
              <a:t>2</a:t>
            </a:r>
            <a:r>
              <a:rPr sz="1050" i="1" spc="254" baseline="-15873" dirty="0">
                <a:latin typeface="Arial"/>
                <a:cs typeface="Arial"/>
              </a:rPr>
              <a:t> </a:t>
            </a:r>
            <a:r>
              <a:rPr sz="900" dirty="0">
                <a:latin typeface="Arial"/>
                <a:cs typeface="Arial"/>
              </a:rPr>
              <a:t>sends</a:t>
            </a:r>
            <a:r>
              <a:rPr sz="900" spc="50" dirty="0">
                <a:latin typeface="Arial"/>
                <a:cs typeface="Arial"/>
              </a:rPr>
              <a:t> </a:t>
            </a:r>
            <a:r>
              <a:rPr sz="700" dirty="0">
                <a:latin typeface="Arial"/>
                <a:cs typeface="Arial"/>
              </a:rPr>
              <a:t>ACCEPT</a:t>
            </a:r>
            <a:r>
              <a:rPr sz="900" dirty="0">
                <a:latin typeface="Arial"/>
                <a:cs typeface="Arial"/>
              </a:rPr>
              <a:t>(</a:t>
            </a:r>
            <a:r>
              <a:rPr sz="900" i="1" dirty="0">
                <a:latin typeface="Arial"/>
                <a:cs typeface="Arial"/>
              </a:rPr>
              <a:t>o</a:t>
            </a:r>
            <a:r>
              <a:rPr sz="1050" i="1" baseline="27777" dirty="0">
                <a:latin typeface="Arial"/>
                <a:cs typeface="Arial"/>
              </a:rPr>
              <a:t>2</a:t>
            </a:r>
            <a:r>
              <a:rPr sz="1050" i="1" spc="-142" baseline="27777" dirty="0">
                <a:latin typeface="Arial"/>
                <a:cs typeface="Arial"/>
              </a:rPr>
              <a:t> </a:t>
            </a:r>
            <a:r>
              <a:rPr sz="900" i="1" spc="-10" dirty="0">
                <a:latin typeface="Arial"/>
                <a:cs typeface="Arial"/>
              </a:rPr>
              <a:t>,</a:t>
            </a:r>
            <a:r>
              <a:rPr sz="900" i="1" spc="-145" dirty="0">
                <a:latin typeface="Arial"/>
                <a:cs typeface="Arial"/>
              </a:rPr>
              <a:t> </a:t>
            </a:r>
            <a:r>
              <a:rPr sz="900" dirty="0">
                <a:latin typeface="Arial"/>
                <a:cs typeface="Arial"/>
              </a:rPr>
              <a:t>2)</a:t>
            </a:r>
            <a:r>
              <a:rPr sz="900" spc="-35" dirty="0">
                <a:latin typeface="Arial"/>
                <a:cs typeface="Arial"/>
              </a:rPr>
              <a:t> </a:t>
            </a:r>
            <a:r>
              <a:rPr sz="900" i="1" spc="350" dirty="0">
                <a:latin typeface="Menlo"/>
                <a:cs typeface="Menlo"/>
              </a:rPr>
              <a:t>⇒</a:t>
            </a:r>
            <a:r>
              <a:rPr sz="900" i="1" spc="-270" dirty="0">
                <a:latin typeface="Menlo"/>
                <a:cs typeface="Menlo"/>
              </a:rPr>
              <a:t> </a:t>
            </a:r>
            <a:r>
              <a:rPr sz="900" i="1" dirty="0">
                <a:latin typeface="Arial"/>
                <a:cs typeface="Arial"/>
              </a:rPr>
              <a:t>S</a:t>
            </a:r>
            <a:r>
              <a:rPr sz="1050" i="1" baseline="-15873" dirty="0">
                <a:latin typeface="Arial"/>
                <a:cs typeface="Arial"/>
              </a:rPr>
              <a:t>3</a:t>
            </a:r>
            <a:r>
              <a:rPr sz="1050" i="1" spc="254" baseline="-15873" dirty="0">
                <a:latin typeface="Arial"/>
                <a:cs typeface="Arial"/>
              </a:rPr>
              <a:t> </a:t>
            </a:r>
            <a:r>
              <a:rPr sz="900" dirty="0">
                <a:latin typeface="Arial"/>
                <a:cs typeface="Arial"/>
              </a:rPr>
              <a:t>sees</a:t>
            </a:r>
            <a:r>
              <a:rPr sz="900" spc="20" dirty="0">
                <a:latin typeface="Arial"/>
                <a:cs typeface="Arial"/>
              </a:rPr>
              <a:t> </a:t>
            </a:r>
            <a:r>
              <a:rPr sz="900" spc="-10" dirty="0">
                <a:latin typeface="Arial"/>
                <a:cs typeface="Arial"/>
              </a:rPr>
              <a:t>unexpected</a:t>
            </a:r>
            <a:r>
              <a:rPr sz="900" spc="20" dirty="0">
                <a:latin typeface="Arial"/>
                <a:cs typeface="Arial"/>
              </a:rPr>
              <a:t> </a:t>
            </a:r>
            <a:r>
              <a:rPr sz="900" dirty="0">
                <a:latin typeface="Arial"/>
                <a:cs typeface="Arial"/>
              </a:rPr>
              <a:t>timestamp</a:t>
            </a:r>
            <a:r>
              <a:rPr sz="900" spc="20" dirty="0">
                <a:latin typeface="Arial"/>
                <a:cs typeface="Arial"/>
              </a:rPr>
              <a:t> </a:t>
            </a:r>
            <a:r>
              <a:rPr sz="900" dirty="0">
                <a:latin typeface="Arial"/>
                <a:cs typeface="Arial"/>
              </a:rPr>
              <a:t>and</a:t>
            </a:r>
            <a:r>
              <a:rPr sz="900" spc="20" dirty="0">
                <a:latin typeface="Arial"/>
                <a:cs typeface="Arial"/>
              </a:rPr>
              <a:t> </a:t>
            </a:r>
            <a:r>
              <a:rPr sz="900" spc="-10" dirty="0">
                <a:latin typeface="Arial"/>
                <a:cs typeface="Arial"/>
              </a:rPr>
              <a:t>tells</a:t>
            </a:r>
            <a:endParaRPr sz="900">
              <a:latin typeface="Arial"/>
              <a:cs typeface="Arial"/>
            </a:endParaRPr>
          </a:p>
          <a:p>
            <a:pPr marL="278130">
              <a:lnSpc>
                <a:spcPct val="100000"/>
              </a:lnSpc>
              <a:spcBef>
                <a:spcPts val="125"/>
              </a:spcBef>
            </a:pPr>
            <a:r>
              <a:rPr sz="900" i="1" dirty="0">
                <a:latin typeface="Arial"/>
                <a:cs typeface="Arial"/>
              </a:rPr>
              <a:t>S</a:t>
            </a:r>
            <a:r>
              <a:rPr sz="1050" i="1" baseline="-15873" dirty="0">
                <a:latin typeface="Arial"/>
                <a:cs typeface="Arial"/>
              </a:rPr>
              <a:t>2</a:t>
            </a:r>
            <a:r>
              <a:rPr sz="1050" i="1" spc="179" baseline="-15873" dirty="0">
                <a:latin typeface="Arial"/>
                <a:cs typeface="Arial"/>
              </a:rPr>
              <a:t> </a:t>
            </a:r>
            <a:r>
              <a:rPr sz="900" dirty="0">
                <a:latin typeface="Arial"/>
                <a:cs typeface="Arial"/>
              </a:rPr>
              <a:t>that</a:t>
            </a:r>
            <a:r>
              <a:rPr sz="900" spc="-20" dirty="0">
                <a:latin typeface="Arial"/>
                <a:cs typeface="Arial"/>
              </a:rPr>
              <a:t> </a:t>
            </a:r>
            <a:r>
              <a:rPr sz="900" dirty="0">
                <a:latin typeface="Arial"/>
                <a:cs typeface="Arial"/>
              </a:rPr>
              <a:t>it</a:t>
            </a:r>
            <a:r>
              <a:rPr sz="900" spc="-20" dirty="0">
                <a:latin typeface="Arial"/>
                <a:cs typeface="Arial"/>
              </a:rPr>
              <a:t> </a:t>
            </a:r>
            <a:r>
              <a:rPr sz="900" dirty="0">
                <a:latin typeface="Arial"/>
                <a:cs typeface="Arial"/>
              </a:rPr>
              <a:t>missed</a:t>
            </a:r>
            <a:r>
              <a:rPr sz="900" spc="-20" dirty="0">
                <a:latin typeface="Arial"/>
                <a:cs typeface="Arial"/>
              </a:rPr>
              <a:t> </a:t>
            </a:r>
            <a:r>
              <a:rPr sz="900" i="1" spc="-25" dirty="0">
                <a:latin typeface="Arial"/>
                <a:cs typeface="Arial"/>
              </a:rPr>
              <a:t>o</a:t>
            </a:r>
            <a:r>
              <a:rPr sz="1050" i="1" spc="-37" baseline="27777" dirty="0">
                <a:latin typeface="Arial"/>
                <a:cs typeface="Arial"/>
              </a:rPr>
              <a:t>1</a:t>
            </a:r>
            <a:r>
              <a:rPr sz="900" spc="-25" dirty="0">
                <a:latin typeface="Arial"/>
                <a:cs typeface="Arial"/>
              </a:rPr>
              <a:t>.</a:t>
            </a:r>
            <a:endParaRPr sz="900">
              <a:latin typeface="Arial"/>
              <a:cs typeface="Arial"/>
            </a:endParaRPr>
          </a:p>
          <a:p>
            <a:pPr marL="278130" indent="-120650">
              <a:lnSpc>
                <a:spcPct val="100000"/>
              </a:lnSpc>
              <a:spcBef>
                <a:spcPts val="525"/>
              </a:spcBef>
              <a:buClr>
                <a:srgbClr val="3333B2"/>
              </a:buClr>
              <a:buFont typeface="Menlo"/>
              <a:buChar char="•"/>
              <a:tabLst>
                <a:tab pos="278765" algn="l"/>
              </a:tabLst>
            </a:pPr>
            <a:r>
              <a:rPr sz="900" i="1" dirty="0">
                <a:latin typeface="Arial"/>
                <a:cs typeface="Arial"/>
              </a:rPr>
              <a:t>S</a:t>
            </a:r>
            <a:r>
              <a:rPr sz="1050" i="1" baseline="-15873" dirty="0">
                <a:latin typeface="Arial"/>
                <a:cs typeface="Arial"/>
              </a:rPr>
              <a:t>2</a:t>
            </a:r>
            <a:r>
              <a:rPr sz="1050" i="1" spc="270" baseline="-15873" dirty="0">
                <a:latin typeface="Arial"/>
                <a:cs typeface="Arial"/>
              </a:rPr>
              <a:t> </a:t>
            </a:r>
            <a:r>
              <a:rPr sz="900" dirty="0">
                <a:latin typeface="Arial"/>
                <a:cs typeface="Arial"/>
              </a:rPr>
              <a:t>retransmits</a:t>
            </a:r>
            <a:r>
              <a:rPr sz="900" spc="60" dirty="0">
                <a:latin typeface="Arial"/>
                <a:cs typeface="Arial"/>
              </a:rPr>
              <a:t> </a:t>
            </a:r>
            <a:r>
              <a:rPr sz="700" dirty="0">
                <a:latin typeface="Arial"/>
                <a:cs typeface="Arial"/>
              </a:rPr>
              <a:t>ACCEPT</a:t>
            </a:r>
            <a:r>
              <a:rPr sz="900" dirty="0">
                <a:latin typeface="Arial"/>
                <a:cs typeface="Arial"/>
              </a:rPr>
              <a:t>(</a:t>
            </a:r>
            <a:r>
              <a:rPr sz="900" i="1" dirty="0">
                <a:latin typeface="Arial"/>
                <a:cs typeface="Arial"/>
              </a:rPr>
              <a:t>o</a:t>
            </a:r>
            <a:r>
              <a:rPr sz="1050" i="1" baseline="27777" dirty="0">
                <a:latin typeface="Arial"/>
                <a:cs typeface="Arial"/>
              </a:rPr>
              <a:t>1</a:t>
            </a:r>
            <a:r>
              <a:rPr sz="900" i="1" dirty="0">
                <a:latin typeface="Arial"/>
                <a:cs typeface="Arial"/>
              </a:rPr>
              <a:t>,</a:t>
            </a:r>
            <a:r>
              <a:rPr sz="900" i="1" spc="-145" dirty="0">
                <a:latin typeface="Arial"/>
                <a:cs typeface="Arial"/>
              </a:rPr>
              <a:t> </a:t>
            </a:r>
            <a:r>
              <a:rPr sz="900" dirty="0">
                <a:latin typeface="Arial"/>
                <a:cs typeface="Arial"/>
              </a:rPr>
              <a:t>1),</a:t>
            </a:r>
            <a:r>
              <a:rPr sz="900" spc="30" dirty="0">
                <a:latin typeface="Arial"/>
                <a:cs typeface="Arial"/>
              </a:rPr>
              <a:t> </a:t>
            </a:r>
            <a:r>
              <a:rPr sz="900" dirty="0">
                <a:latin typeface="Arial"/>
                <a:cs typeface="Arial"/>
              </a:rPr>
              <a:t>allowing</a:t>
            </a:r>
            <a:r>
              <a:rPr sz="900" spc="25" dirty="0">
                <a:latin typeface="Arial"/>
                <a:cs typeface="Arial"/>
              </a:rPr>
              <a:t> </a:t>
            </a:r>
            <a:r>
              <a:rPr sz="900" i="1" dirty="0">
                <a:latin typeface="Arial"/>
                <a:cs typeface="Arial"/>
              </a:rPr>
              <a:t>S</a:t>
            </a:r>
            <a:r>
              <a:rPr sz="1050" i="1" baseline="-15873" dirty="0">
                <a:latin typeface="Arial"/>
                <a:cs typeface="Arial"/>
              </a:rPr>
              <a:t>3</a:t>
            </a:r>
            <a:r>
              <a:rPr sz="1050" i="1" spc="270" baseline="-15873"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catch</a:t>
            </a:r>
            <a:r>
              <a:rPr sz="900" spc="30" dirty="0">
                <a:latin typeface="Arial"/>
                <a:cs typeface="Arial"/>
              </a:rPr>
              <a:t> </a:t>
            </a:r>
            <a:r>
              <a:rPr sz="900" spc="-25" dirty="0">
                <a:latin typeface="Arial"/>
                <a:cs typeface="Arial"/>
              </a:rPr>
              <a:t>up.</a:t>
            </a:r>
            <a:endParaRPr sz="900">
              <a:latin typeface="Arial"/>
              <a:cs typeface="Arial"/>
            </a:endParaRPr>
          </a:p>
          <a:p>
            <a:pPr>
              <a:lnSpc>
                <a:spcPct val="100000"/>
              </a:lnSpc>
              <a:spcBef>
                <a:spcPts val="55"/>
              </a:spcBef>
              <a:buClr>
                <a:srgbClr val="3333B2"/>
              </a:buClr>
              <a:buFont typeface="Menlo"/>
              <a:buChar char="•"/>
            </a:pPr>
            <a:endParaRPr sz="1200">
              <a:latin typeface="Arial"/>
              <a:cs typeface="Arial"/>
            </a:endParaRPr>
          </a:p>
          <a:p>
            <a:pPr marL="25400">
              <a:lnSpc>
                <a:spcPct val="100000"/>
              </a:lnSpc>
            </a:pPr>
            <a:r>
              <a:rPr sz="1000" i="1" dirty="0">
                <a:solidFill>
                  <a:srgbClr val="3333B2"/>
                </a:solidFill>
                <a:latin typeface="Arial"/>
                <a:cs typeface="Arial"/>
              </a:rPr>
              <a:t>S</a:t>
            </a:r>
            <a:r>
              <a:rPr sz="1050" i="1" baseline="-15873" dirty="0">
                <a:solidFill>
                  <a:srgbClr val="3333B2"/>
                </a:solidFill>
                <a:latin typeface="Arial"/>
                <a:cs typeface="Arial"/>
              </a:rPr>
              <a:t>2</a:t>
            </a:r>
            <a:r>
              <a:rPr sz="1050" i="1" spc="472" baseline="-15873" dirty="0">
                <a:solidFill>
                  <a:srgbClr val="3333B2"/>
                </a:solidFill>
                <a:latin typeface="Arial"/>
                <a:cs typeface="Arial"/>
              </a:rPr>
              <a:t> </a:t>
            </a:r>
            <a:r>
              <a:rPr sz="1000" dirty="0">
                <a:solidFill>
                  <a:srgbClr val="3333B2"/>
                </a:solidFill>
                <a:latin typeface="Arial"/>
                <a:cs typeface="Arial"/>
              </a:rPr>
              <a:t>missed</a:t>
            </a:r>
            <a:r>
              <a:rPr sz="1000" spc="135" dirty="0">
                <a:solidFill>
                  <a:srgbClr val="3333B2"/>
                </a:solidFill>
                <a:latin typeface="Arial"/>
                <a:cs typeface="Arial"/>
              </a:rPr>
              <a:t> </a:t>
            </a:r>
            <a:r>
              <a:rPr sz="800" dirty="0">
                <a:solidFill>
                  <a:srgbClr val="3333B2"/>
                </a:solidFill>
                <a:latin typeface="Arial"/>
                <a:cs typeface="Arial"/>
              </a:rPr>
              <a:t>ACCEPT</a:t>
            </a:r>
            <a:r>
              <a:rPr sz="1000" dirty="0">
                <a:solidFill>
                  <a:srgbClr val="3333B2"/>
                </a:solidFill>
                <a:latin typeface="Arial"/>
                <a:cs typeface="Arial"/>
              </a:rPr>
              <a:t>(</a:t>
            </a:r>
            <a:r>
              <a:rPr sz="1000" i="1" dirty="0">
                <a:solidFill>
                  <a:srgbClr val="3333B2"/>
                </a:solidFill>
                <a:latin typeface="Arial"/>
                <a:cs typeface="Arial"/>
              </a:rPr>
              <a:t>o</a:t>
            </a:r>
            <a:r>
              <a:rPr sz="1050" i="1" baseline="27777" dirty="0">
                <a:solidFill>
                  <a:srgbClr val="3333B2"/>
                </a:solidFill>
                <a:latin typeface="Arial"/>
                <a:cs typeface="Arial"/>
              </a:rPr>
              <a:t>1</a:t>
            </a:r>
            <a:r>
              <a:rPr sz="1000" i="1" dirty="0">
                <a:solidFill>
                  <a:srgbClr val="3333B2"/>
                </a:solidFill>
                <a:latin typeface="Arial"/>
                <a:cs typeface="Arial"/>
              </a:rPr>
              <a:t>,</a:t>
            </a:r>
            <a:r>
              <a:rPr sz="1000" i="1" spc="-125" dirty="0">
                <a:solidFill>
                  <a:srgbClr val="3333B2"/>
                </a:solidFill>
                <a:latin typeface="Arial"/>
                <a:cs typeface="Arial"/>
              </a:rPr>
              <a:t> </a:t>
            </a:r>
            <a:r>
              <a:rPr sz="1000" spc="-25" dirty="0">
                <a:solidFill>
                  <a:srgbClr val="3333B2"/>
                </a:solidFill>
                <a:latin typeface="Arial"/>
                <a:cs typeface="Arial"/>
              </a:rPr>
              <a:t>1)</a:t>
            </a:r>
            <a:endParaRPr sz="1000">
              <a:latin typeface="Arial"/>
              <a:cs typeface="Arial"/>
            </a:endParaRPr>
          </a:p>
          <a:p>
            <a:pPr marL="278130" indent="-120650">
              <a:lnSpc>
                <a:spcPct val="100000"/>
              </a:lnSpc>
              <a:spcBef>
                <a:spcPts val="735"/>
              </a:spcBef>
              <a:buClr>
                <a:srgbClr val="3333B2"/>
              </a:buClr>
              <a:buFont typeface="Menlo"/>
              <a:buChar char="•"/>
              <a:tabLst>
                <a:tab pos="278765" algn="l"/>
              </a:tabLst>
            </a:pPr>
            <a:r>
              <a:rPr sz="900" i="1" dirty="0">
                <a:latin typeface="Arial"/>
                <a:cs typeface="Arial"/>
              </a:rPr>
              <a:t>S</a:t>
            </a:r>
            <a:r>
              <a:rPr sz="1050" i="1" baseline="-15873" dirty="0">
                <a:latin typeface="Arial"/>
                <a:cs typeface="Arial"/>
              </a:rPr>
              <a:t>2</a:t>
            </a:r>
            <a:r>
              <a:rPr sz="1050" i="1" spc="157" baseline="-15873" dirty="0">
                <a:latin typeface="Arial"/>
                <a:cs typeface="Arial"/>
              </a:rPr>
              <a:t> </a:t>
            </a:r>
            <a:r>
              <a:rPr sz="900" dirty="0">
                <a:latin typeface="Arial"/>
                <a:cs typeface="Arial"/>
              </a:rPr>
              <a:t>did</a:t>
            </a:r>
            <a:r>
              <a:rPr sz="900" spc="-25" dirty="0">
                <a:latin typeface="Arial"/>
                <a:cs typeface="Arial"/>
              </a:rPr>
              <a:t> </a:t>
            </a:r>
            <a:r>
              <a:rPr sz="900" dirty="0">
                <a:latin typeface="Arial"/>
                <a:cs typeface="Arial"/>
              </a:rPr>
              <a:t>detect</a:t>
            </a:r>
            <a:r>
              <a:rPr sz="900" spc="-30" dirty="0">
                <a:latin typeface="Arial"/>
                <a:cs typeface="Arial"/>
              </a:rPr>
              <a:t> </a:t>
            </a:r>
            <a:r>
              <a:rPr sz="900" dirty="0">
                <a:latin typeface="Arial"/>
                <a:cs typeface="Arial"/>
              </a:rPr>
              <a:t>crash</a:t>
            </a:r>
            <a:r>
              <a:rPr sz="900" spc="-25" dirty="0">
                <a:latin typeface="Arial"/>
                <a:cs typeface="Arial"/>
              </a:rPr>
              <a:t> </a:t>
            </a:r>
            <a:r>
              <a:rPr sz="900" dirty="0">
                <a:latin typeface="Arial"/>
                <a:cs typeface="Arial"/>
              </a:rPr>
              <a:t>and</a:t>
            </a:r>
            <a:r>
              <a:rPr sz="900" spc="-30" dirty="0">
                <a:latin typeface="Arial"/>
                <a:cs typeface="Arial"/>
              </a:rPr>
              <a:t> </a:t>
            </a:r>
            <a:r>
              <a:rPr sz="900" dirty="0">
                <a:latin typeface="Arial"/>
                <a:cs typeface="Arial"/>
              </a:rPr>
              <a:t>became</a:t>
            </a:r>
            <a:r>
              <a:rPr sz="900" spc="-25" dirty="0">
                <a:latin typeface="Arial"/>
                <a:cs typeface="Arial"/>
              </a:rPr>
              <a:t> </a:t>
            </a:r>
            <a:r>
              <a:rPr sz="900" dirty="0">
                <a:latin typeface="Arial"/>
                <a:cs typeface="Arial"/>
              </a:rPr>
              <a:t>new</a:t>
            </a:r>
            <a:r>
              <a:rPr sz="900" spc="-30" dirty="0">
                <a:latin typeface="Arial"/>
                <a:cs typeface="Arial"/>
              </a:rPr>
              <a:t> </a:t>
            </a:r>
            <a:r>
              <a:rPr sz="900" spc="-10" dirty="0">
                <a:latin typeface="Arial"/>
                <a:cs typeface="Arial"/>
              </a:rPr>
              <a:t>leader</a:t>
            </a:r>
            <a:endParaRPr sz="900">
              <a:latin typeface="Arial"/>
              <a:cs typeface="Arial"/>
            </a:endParaRPr>
          </a:p>
          <a:p>
            <a:pPr marL="278130" indent="-120650">
              <a:lnSpc>
                <a:spcPct val="100000"/>
              </a:lnSpc>
              <a:spcBef>
                <a:spcPts val="525"/>
              </a:spcBef>
              <a:buClr>
                <a:srgbClr val="3333B2"/>
              </a:buClr>
              <a:buFont typeface="Menlo"/>
              <a:buChar char="•"/>
              <a:tabLst>
                <a:tab pos="278765" algn="l"/>
              </a:tabLst>
            </a:pPr>
            <a:r>
              <a:rPr sz="900" dirty="0">
                <a:latin typeface="Arial"/>
                <a:cs typeface="Arial"/>
              </a:rPr>
              <a:t>If</a:t>
            </a:r>
            <a:r>
              <a:rPr sz="900" spc="30" dirty="0">
                <a:latin typeface="Arial"/>
                <a:cs typeface="Arial"/>
              </a:rPr>
              <a:t> </a:t>
            </a:r>
            <a:r>
              <a:rPr sz="900" i="1" dirty="0">
                <a:latin typeface="Arial"/>
                <a:cs typeface="Arial"/>
              </a:rPr>
              <a:t>S</a:t>
            </a:r>
            <a:r>
              <a:rPr sz="1050" i="1" baseline="-15873" dirty="0">
                <a:latin typeface="Arial"/>
                <a:cs typeface="Arial"/>
              </a:rPr>
              <a:t>2</a:t>
            </a:r>
            <a:r>
              <a:rPr sz="1050" i="1" spc="292" baseline="-15873" dirty="0">
                <a:latin typeface="Arial"/>
                <a:cs typeface="Arial"/>
              </a:rPr>
              <a:t> </a:t>
            </a:r>
            <a:r>
              <a:rPr sz="900" dirty="0">
                <a:latin typeface="Arial"/>
                <a:cs typeface="Arial"/>
              </a:rPr>
              <a:t>sends</a:t>
            </a:r>
            <a:r>
              <a:rPr sz="900" spc="65" dirty="0">
                <a:latin typeface="Arial"/>
                <a:cs typeface="Arial"/>
              </a:rPr>
              <a:t> </a:t>
            </a:r>
            <a:r>
              <a:rPr sz="700" dirty="0">
                <a:latin typeface="Arial"/>
                <a:cs typeface="Arial"/>
              </a:rPr>
              <a:t>ACCEPT</a:t>
            </a:r>
            <a:r>
              <a:rPr sz="900" dirty="0">
                <a:latin typeface="Arial"/>
                <a:cs typeface="Arial"/>
              </a:rPr>
              <a:t>(</a:t>
            </a:r>
            <a:r>
              <a:rPr sz="900" i="1" dirty="0">
                <a:latin typeface="Arial"/>
                <a:cs typeface="Arial"/>
              </a:rPr>
              <a:t>o</a:t>
            </a:r>
            <a:r>
              <a:rPr sz="1050" i="1" baseline="27777" dirty="0">
                <a:latin typeface="Arial"/>
                <a:cs typeface="Arial"/>
              </a:rPr>
              <a:t>1</a:t>
            </a:r>
            <a:r>
              <a:rPr sz="900" i="1" dirty="0">
                <a:latin typeface="Arial"/>
                <a:cs typeface="Arial"/>
              </a:rPr>
              <a:t>,</a:t>
            </a:r>
            <a:r>
              <a:rPr sz="900" i="1" spc="-140" dirty="0">
                <a:latin typeface="Arial"/>
                <a:cs typeface="Arial"/>
              </a:rPr>
              <a:t> </a:t>
            </a:r>
            <a:r>
              <a:rPr sz="900" dirty="0">
                <a:latin typeface="Arial"/>
                <a:cs typeface="Arial"/>
              </a:rPr>
              <a:t>1)</a:t>
            </a:r>
            <a:r>
              <a:rPr sz="900" spc="-25" dirty="0">
                <a:latin typeface="Arial"/>
                <a:cs typeface="Arial"/>
              </a:rPr>
              <a:t> </a:t>
            </a:r>
            <a:r>
              <a:rPr sz="900" i="1" spc="350" dirty="0">
                <a:latin typeface="Menlo"/>
                <a:cs typeface="Menlo"/>
              </a:rPr>
              <a:t>⇒</a:t>
            </a:r>
            <a:r>
              <a:rPr sz="900" i="1" spc="-254" dirty="0">
                <a:latin typeface="Menlo"/>
                <a:cs typeface="Menlo"/>
              </a:rPr>
              <a:t> </a:t>
            </a:r>
            <a:r>
              <a:rPr sz="900" i="1" dirty="0">
                <a:latin typeface="Arial"/>
                <a:cs typeface="Arial"/>
              </a:rPr>
              <a:t>S</a:t>
            </a:r>
            <a:r>
              <a:rPr sz="1050" i="1" baseline="-15873" dirty="0">
                <a:latin typeface="Arial"/>
                <a:cs typeface="Arial"/>
              </a:rPr>
              <a:t>3</a:t>
            </a:r>
            <a:r>
              <a:rPr sz="1050" i="1" spc="277" baseline="-15873" dirty="0">
                <a:latin typeface="Arial"/>
                <a:cs typeface="Arial"/>
              </a:rPr>
              <a:t> </a:t>
            </a:r>
            <a:r>
              <a:rPr sz="900" dirty="0">
                <a:latin typeface="Arial"/>
                <a:cs typeface="Arial"/>
              </a:rPr>
              <a:t>retransmits</a:t>
            </a:r>
            <a:r>
              <a:rPr sz="900" spc="65" dirty="0">
                <a:latin typeface="Arial"/>
                <a:cs typeface="Arial"/>
              </a:rPr>
              <a:t> </a:t>
            </a:r>
            <a:r>
              <a:rPr sz="700" spc="-10" dirty="0">
                <a:latin typeface="Arial"/>
                <a:cs typeface="Arial"/>
              </a:rPr>
              <a:t>LEARN</a:t>
            </a:r>
            <a:r>
              <a:rPr sz="900" spc="-10" dirty="0">
                <a:latin typeface="Arial"/>
                <a:cs typeface="Arial"/>
              </a:rPr>
              <a:t>(</a:t>
            </a:r>
            <a:r>
              <a:rPr sz="900" i="1" spc="-10" dirty="0">
                <a:latin typeface="Arial"/>
                <a:cs typeface="Arial"/>
              </a:rPr>
              <a:t>o</a:t>
            </a:r>
            <a:r>
              <a:rPr sz="1050" i="1" spc="-15" baseline="27777" dirty="0">
                <a:latin typeface="Arial"/>
                <a:cs typeface="Arial"/>
              </a:rPr>
              <a:t>1</a:t>
            </a:r>
            <a:r>
              <a:rPr sz="900" spc="-10" dirty="0">
                <a:latin typeface="Arial"/>
                <a:cs typeface="Arial"/>
              </a:rPr>
              <a:t>).</a:t>
            </a:r>
            <a:endParaRPr sz="900">
              <a:latin typeface="Arial"/>
              <a:cs typeface="Arial"/>
            </a:endParaRPr>
          </a:p>
          <a:p>
            <a:pPr marL="278130" indent="-120650">
              <a:lnSpc>
                <a:spcPct val="100000"/>
              </a:lnSpc>
              <a:spcBef>
                <a:spcPts val="525"/>
              </a:spcBef>
              <a:buClr>
                <a:srgbClr val="3333B2"/>
              </a:buClr>
              <a:buFont typeface="Menlo"/>
              <a:buChar char="•"/>
              <a:tabLst>
                <a:tab pos="278765" algn="l"/>
              </a:tabLst>
            </a:pPr>
            <a:r>
              <a:rPr sz="900" dirty="0">
                <a:latin typeface="Arial"/>
                <a:cs typeface="Arial"/>
              </a:rPr>
              <a:t>If</a:t>
            </a:r>
            <a:r>
              <a:rPr sz="900" spc="10" dirty="0">
                <a:latin typeface="Arial"/>
                <a:cs typeface="Arial"/>
              </a:rPr>
              <a:t> </a:t>
            </a:r>
            <a:r>
              <a:rPr sz="900" i="1" dirty="0">
                <a:latin typeface="Arial"/>
                <a:cs typeface="Arial"/>
              </a:rPr>
              <a:t>S</a:t>
            </a:r>
            <a:r>
              <a:rPr sz="1050" i="1" baseline="-15873" dirty="0">
                <a:latin typeface="Arial"/>
                <a:cs typeface="Arial"/>
              </a:rPr>
              <a:t>2</a:t>
            </a:r>
            <a:r>
              <a:rPr sz="1050" i="1" spc="254" baseline="-15873" dirty="0">
                <a:latin typeface="Arial"/>
                <a:cs typeface="Arial"/>
              </a:rPr>
              <a:t> </a:t>
            </a:r>
            <a:r>
              <a:rPr sz="900" dirty="0">
                <a:latin typeface="Arial"/>
                <a:cs typeface="Arial"/>
              </a:rPr>
              <a:t>sends</a:t>
            </a:r>
            <a:r>
              <a:rPr sz="900" spc="40" dirty="0">
                <a:latin typeface="Arial"/>
                <a:cs typeface="Arial"/>
              </a:rPr>
              <a:t> </a:t>
            </a:r>
            <a:r>
              <a:rPr sz="700" dirty="0">
                <a:latin typeface="Arial"/>
                <a:cs typeface="Arial"/>
              </a:rPr>
              <a:t>ACCEPT</a:t>
            </a:r>
            <a:r>
              <a:rPr sz="900" dirty="0">
                <a:latin typeface="Arial"/>
                <a:cs typeface="Arial"/>
              </a:rPr>
              <a:t>(</a:t>
            </a:r>
            <a:r>
              <a:rPr sz="900" i="1" dirty="0">
                <a:latin typeface="Arial"/>
                <a:cs typeface="Arial"/>
              </a:rPr>
              <a:t>o</a:t>
            </a:r>
            <a:r>
              <a:rPr sz="1050" i="1" baseline="27777" dirty="0">
                <a:latin typeface="Arial"/>
                <a:cs typeface="Arial"/>
              </a:rPr>
              <a:t>2</a:t>
            </a:r>
            <a:r>
              <a:rPr sz="1050" i="1" spc="-142" baseline="27777" dirty="0">
                <a:latin typeface="Arial"/>
                <a:cs typeface="Arial"/>
              </a:rPr>
              <a:t> </a:t>
            </a:r>
            <a:r>
              <a:rPr sz="900" i="1" spc="-10" dirty="0">
                <a:latin typeface="Arial"/>
                <a:cs typeface="Arial"/>
              </a:rPr>
              <a:t>,</a:t>
            </a:r>
            <a:r>
              <a:rPr sz="900" i="1" spc="-150" dirty="0">
                <a:latin typeface="Arial"/>
                <a:cs typeface="Arial"/>
              </a:rPr>
              <a:t> </a:t>
            </a:r>
            <a:r>
              <a:rPr sz="900" dirty="0">
                <a:latin typeface="Arial"/>
                <a:cs typeface="Arial"/>
              </a:rPr>
              <a:t>1)</a:t>
            </a:r>
            <a:r>
              <a:rPr sz="900" spc="-40" dirty="0">
                <a:latin typeface="Arial"/>
                <a:cs typeface="Arial"/>
              </a:rPr>
              <a:t> </a:t>
            </a:r>
            <a:r>
              <a:rPr sz="900" i="1" spc="350" dirty="0">
                <a:latin typeface="Menlo"/>
                <a:cs typeface="Menlo"/>
              </a:rPr>
              <a:t>⇒</a:t>
            </a:r>
            <a:r>
              <a:rPr sz="900" i="1" spc="-275" dirty="0">
                <a:latin typeface="Menlo"/>
                <a:cs typeface="Menlo"/>
              </a:rPr>
              <a:t> </a:t>
            </a:r>
            <a:r>
              <a:rPr sz="900" i="1" dirty="0">
                <a:latin typeface="Arial"/>
                <a:cs typeface="Arial"/>
              </a:rPr>
              <a:t>S</a:t>
            </a:r>
            <a:r>
              <a:rPr sz="1050" i="1" baseline="-15873" dirty="0">
                <a:latin typeface="Arial"/>
                <a:cs typeface="Arial"/>
              </a:rPr>
              <a:t>3</a:t>
            </a:r>
            <a:r>
              <a:rPr sz="1050" i="1" spc="240" baseline="-15873" dirty="0">
                <a:latin typeface="Arial"/>
                <a:cs typeface="Arial"/>
              </a:rPr>
              <a:t> </a:t>
            </a:r>
            <a:r>
              <a:rPr sz="900" dirty="0">
                <a:latin typeface="Arial"/>
                <a:cs typeface="Arial"/>
              </a:rPr>
              <a:t>tells</a:t>
            </a:r>
            <a:r>
              <a:rPr sz="900" spc="15" dirty="0">
                <a:latin typeface="Arial"/>
                <a:cs typeface="Arial"/>
              </a:rPr>
              <a:t> </a:t>
            </a:r>
            <a:r>
              <a:rPr sz="900" i="1" dirty="0">
                <a:latin typeface="Arial"/>
                <a:cs typeface="Arial"/>
              </a:rPr>
              <a:t>S</a:t>
            </a:r>
            <a:r>
              <a:rPr sz="1050" i="1" baseline="-15873" dirty="0">
                <a:latin typeface="Arial"/>
                <a:cs typeface="Arial"/>
              </a:rPr>
              <a:t>2</a:t>
            </a:r>
            <a:r>
              <a:rPr sz="1050" i="1" spc="254" baseline="-15873" dirty="0">
                <a:latin typeface="Arial"/>
                <a:cs typeface="Arial"/>
              </a:rPr>
              <a:t> </a:t>
            </a:r>
            <a:r>
              <a:rPr sz="900" dirty="0">
                <a:latin typeface="Arial"/>
                <a:cs typeface="Arial"/>
              </a:rPr>
              <a:t>that</a:t>
            </a:r>
            <a:r>
              <a:rPr sz="900" spc="15" dirty="0">
                <a:latin typeface="Arial"/>
                <a:cs typeface="Arial"/>
              </a:rPr>
              <a:t> </a:t>
            </a:r>
            <a:r>
              <a:rPr sz="900" dirty="0">
                <a:latin typeface="Arial"/>
                <a:cs typeface="Arial"/>
              </a:rPr>
              <a:t>it</a:t>
            </a:r>
            <a:r>
              <a:rPr sz="900" spc="15" dirty="0">
                <a:latin typeface="Arial"/>
                <a:cs typeface="Arial"/>
              </a:rPr>
              <a:t> </a:t>
            </a:r>
            <a:r>
              <a:rPr sz="900" dirty="0">
                <a:latin typeface="Arial"/>
                <a:cs typeface="Arial"/>
              </a:rPr>
              <a:t>apparently</a:t>
            </a:r>
            <a:r>
              <a:rPr sz="900" spc="15" dirty="0">
                <a:latin typeface="Arial"/>
                <a:cs typeface="Arial"/>
              </a:rPr>
              <a:t> </a:t>
            </a:r>
            <a:r>
              <a:rPr sz="900" spc="-10" dirty="0">
                <a:latin typeface="Arial"/>
                <a:cs typeface="Arial"/>
              </a:rPr>
              <a:t>missed</a:t>
            </a:r>
            <a:endParaRPr sz="900">
              <a:latin typeface="Arial"/>
              <a:cs typeface="Arial"/>
            </a:endParaRPr>
          </a:p>
          <a:p>
            <a:pPr marL="277495">
              <a:lnSpc>
                <a:spcPct val="100000"/>
              </a:lnSpc>
              <a:spcBef>
                <a:spcPts val="125"/>
              </a:spcBef>
            </a:pPr>
            <a:r>
              <a:rPr sz="700" dirty="0">
                <a:latin typeface="Arial"/>
                <a:cs typeface="Arial"/>
              </a:rPr>
              <a:t>ACCEPT</a:t>
            </a:r>
            <a:r>
              <a:rPr sz="900" dirty="0">
                <a:latin typeface="Arial"/>
                <a:cs typeface="Arial"/>
              </a:rPr>
              <a:t>(</a:t>
            </a:r>
            <a:r>
              <a:rPr sz="900" i="1" dirty="0">
                <a:latin typeface="Arial"/>
                <a:cs typeface="Arial"/>
              </a:rPr>
              <a:t>o</a:t>
            </a:r>
            <a:r>
              <a:rPr sz="1050" i="1" baseline="27777" dirty="0">
                <a:latin typeface="Arial"/>
                <a:cs typeface="Arial"/>
              </a:rPr>
              <a:t>1</a:t>
            </a:r>
            <a:r>
              <a:rPr sz="900" i="1" dirty="0">
                <a:latin typeface="Arial"/>
                <a:cs typeface="Arial"/>
              </a:rPr>
              <a:t>,</a:t>
            </a:r>
            <a:r>
              <a:rPr sz="900" i="1" spc="-140" dirty="0">
                <a:latin typeface="Arial"/>
                <a:cs typeface="Arial"/>
              </a:rPr>
              <a:t> </a:t>
            </a:r>
            <a:r>
              <a:rPr sz="900" dirty="0">
                <a:latin typeface="Arial"/>
                <a:cs typeface="Arial"/>
              </a:rPr>
              <a:t>1)</a:t>
            </a:r>
            <a:r>
              <a:rPr sz="900" spc="35" dirty="0">
                <a:latin typeface="Arial"/>
                <a:cs typeface="Arial"/>
              </a:rPr>
              <a:t> </a:t>
            </a:r>
            <a:r>
              <a:rPr sz="900" dirty="0">
                <a:latin typeface="Arial"/>
                <a:cs typeface="Arial"/>
              </a:rPr>
              <a:t>from</a:t>
            </a:r>
            <a:r>
              <a:rPr sz="900" spc="40" dirty="0">
                <a:latin typeface="Arial"/>
                <a:cs typeface="Arial"/>
              </a:rPr>
              <a:t> </a:t>
            </a:r>
            <a:r>
              <a:rPr sz="900" i="1" dirty="0">
                <a:latin typeface="Arial"/>
                <a:cs typeface="Arial"/>
              </a:rPr>
              <a:t>S</a:t>
            </a:r>
            <a:r>
              <a:rPr sz="1050" i="1" baseline="-15873" dirty="0">
                <a:latin typeface="Arial"/>
                <a:cs typeface="Arial"/>
              </a:rPr>
              <a:t>1</a:t>
            </a:r>
            <a:r>
              <a:rPr sz="900" dirty="0">
                <a:latin typeface="Arial"/>
                <a:cs typeface="Arial"/>
              </a:rPr>
              <a:t>,</a:t>
            </a:r>
            <a:r>
              <a:rPr sz="900" spc="35" dirty="0">
                <a:latin typeface="Arial"/>
                <a:cs typeface="Arial"/>
              </a:rPr>
              <a:t> </a:t>
            </a:r>
            <a:r>
              <a:rPr sz="900" dirty="0">
                <a:latin typeface="Arial"/>
                <a:cs typeface="Arial"/>
              </a:rPr>
              <a:t>so</a:t>
            </a:r>
            <a:r>
              <a:rPr sz="900" spc="35" dirty="0">
                <a:latin typeface="Arial"/>
                <a:cs typeface="Arial"/>
              </a:rPr>
              <a:t> </a:t>
            </a:r>
            <a:r>
              <a:rPr sz="900" dirty="0">
                <a:latin typeface="Arial"/>
                <a:cs typeface="Arial"/>
              </a:rPr>
              <a:t>that</a:t>
            </a:r>
            <a:r>
              <a:rPr sz="900" spc="40" dirty="0">
                <a:latin typeface="Arial"/>
                <a:cs typeface="Arial"/>
              </a:rPr>
              <a:t> </a:t>
            </a:r>
            <a:r>
              <a:rPr sz="900" i="1" dirty="0">
                <a:latin typeface="Arial"/>
                <a:cs typeface="Arial"/>
              </a:rPr>
              <a:t>S</a:t>
            </a:r>
            <a:r>
              <a:rPr sz="1050" i="1" baseline="-15873" dirty="0">
                <a:latin typeface="Arial"/>
                <a:cs typeface="Arial"/>
              </a:rPr>
              <a:t>2</a:t>
            </a:r>
            <a:r>
              <a:rPr sz="1050" i="1" spc="292" baseline="-15873" dirty="0">
                <a:latin typeface="Arial"/>
                <a:cs typeface="Arial"/>
              </a:rPr>
              <a:t> </a:t>
            </a:r>
            <a:r>
              <a:rPr sz="900" dirty="0">
                <a:latin typeface="Arial"/>
                <a:cs typeface="Arial"/>
              </a:rPr>
              <a:t>can</a:t>
            </a:r>
            <a:r>
              <a:rPr sz="900" spc="40" dirty="0">
                <a:latin typeface="Arial"/>
                <a:cs typeface="Arial"/>
              </a:rPr>
              <a:t> </a:t>
            </a:r>
            <a:r>
              <a:rPr sz="900" dirty="0">
                <a:latin typeface="Arial"/>
                <a:cs typeface="Arial"/>
              </a:rPr>
              <a:t>catch</a:t>
            </a:r>
            <a:r>
              <a:rPr sz="900" spc="35" dirty="0">
                <a:latin typeface="Arial"/>
                <a:cs typeface="Arial"/>
              </a:rPr>
              <a:t> </a:t>
            </a:r>
            <a:r>
              <a:rPr sz="900" spc="-25" dirty="0">
                <a:latin typeface="Arial"/>
                <a:cs typeface="Arial"/>
              </a:rPr>
              <a:t>up.</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484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Example:</a:t>
            </a:r>
            <a:r>
              <a:rPr sz="500" spc="5" dirty="0">
                <a:latin typeface="Arial"/>
                <a:cs typeface="Arial"/>
                <a:hlinkClick r:id="rId4" action="ppaction://hlinksldjump"/>
              </a:rPr>
              <a:t> </a:t>
            </a:r>
            <a:r>
              <a:rPr sz="500" spc="-10" dirty="0">
                <a:latin typeface="Arial"/>
                <a:cs typeface="Arial"/>
                <a:hlinkClick r:id="rId4" action="ppaction://hlinksldjump"/>
              </a:rPr>
              <a:t>Paxos</a:t>
            </a:r>
            <a:endParaRPr sz="500">
              <a:latin typeface="Arial"/>
              <a:cs typeface="Arial"/>
            </a:endParaRPr>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69900" y="197711"/>
            <a:ext cx="3953510" cy="1412875"/>
          </a:xfrm>
          <a:prstGeom prst="rect">
            <a:avLst/>
          </a:prstGeom>
        </p:spPr>
        <p:txBody>
          <a:bodyPr vert="horz" wrap="square" lIns="0" tIns="12065" rIns="0" bIns="0" rtlCol="0">
            <a:spAutoFit/>
          </a:bodyPr>
          <a:lstStyle/>
          <a:p>
            <a:pPr marL="38100">
              <a:lnSpc>
                <a:spcPct val="100000"/>
              </a:lnSpc>
              <a:spcBef>
                <a:spcPts val="95"/>
              </a:spcBef>
            </a:pPr>
            <a:r>
              <a:rPr sz="1200" dirty="0">
                <a:solidFill>
                  <a:srgbClr val="3333B2"/>
                </a:solidFill>
                <a:latin typeface="Arial"/>
                <a:cs typeface="Arial"/>
              </a:rPr>
              <a:t>Leader</a:t>
            </a:r>
            <a:r>
              <a:rPr sz="1200" spc="45" dirty="0">
                <a:solidFill>
                  <a:srgbClr val="3333B2"/>
                </a:solidFill>
                <a:latin typeface="Arial"/>
                <a:cs typeface="Arial"/>
              </a:rPr>
              <a:t> </a:t>
            </a:r>
            <a:r>
              <a:rPr sz="1200" dirty="0">
                <a:solidFill>
                  <a:srgbClr val="3333B2"/>
                </a:solidFill>
                <a:latin typeface="Arial"/>
                <a:cs typeface="Arial"/>
              </a:rPr>
              <a:t>crashes</a:t>
            </a:r>
            <a:r>
              <a:rPr sz="1200" spc="45" dirty="0">
                <a:solidFill>
                  <a:srgbClr val="3333B2"/>
                </a:solidFill>
                <a:latin typeface="Arial"/>
                <a:cs typeface="Arial"/>
              </a:rPr>
              <a:t> </a:t>
            </a:r>
            <a:r>
              <a:rPr sz="1200" dirty="0">
                <a:solidFill>
                  <a:srgbClr val="3333B2"/>
                </a:solidFill>
                <a:latin typeface="Arial"/>
                <a:cs typeface="Arial"/>
              </a:rPr>
              <a:t>after</a:t>
            </a:r>
            <a:r>
              <a:rPr sz="1200" spc="45" dirty="0">
                <a:solidFill>
                  <a:srgbClr val="3333B2"/>
                </a:solidFill>
                <a:latin typeface="Arial"/>
                <a:cs typeface="Arial"/>
              </a:rPr>
              <a:t> </a:t>
            </a:r>
            <a:r>
              <a:rPr sz="1200" dirty="0">
                <a:solidFill>
                  <a:srgbClr val="3333B2"/>
                </a:solidFill>
                <a:latin typeface="Arial"/>
                <a:cs typeface="Arial"/>
              </a:rPr>
              <a:t>sending</a:t>
            </a:r>
            <a:r>
              <a:rPr sz="1200" spc="80" dirty="0">
                <a:solidFill>
                  <a:srgbClr val="3333B2"/>
                </a:solidFill>
                <a:latin typeface="Arial"/>
                <a:cs typeface="Arial"/>
              </a:rPr>
              <a:t> </a:t>
            </a:r>
            <a:r>
              <a:rPr sz="950" dirty="0">
                <a:solidFill>
                  <a:srgbClr val="3333B2"/>
                </a:solidFill>
                <a:latin typeface="Arial"/>
                <a:cs typeface="Arial"/>
              </a:rPr>
              <a:t>ACCEPT</a:t>
            </a:r>
            <a:r>
              <a:rPr sz="1200" dirty="0">
                <a:solidFill>
                  <a:srgbClr val="3333B2"/>
                </a:solidFill>
                <a:latin typeface="Arial"/>
                <a:cs typeface="Arial"/>
              </a:rPr>
              <a:t>(</a:t>
            </a:r>
            <a:r>
              <a:rPr sz="1200" i="1" dirty="0">
                <a:solidFill>
                  <a:srgbClr val="3333B2"/>
                </a:solidFill>
                <a:latin typeface="Arial"/>
                <a:cs typeface="Arial"/>
              </a:rPr>
              <a:t>o</a:t>
            </a:r>
            <a:r>
              <a:rPr sz="1350" i="1" baseline="27777" dirty="0">
                <a:solidFill>
                  <a:srgbClr val="3333B2"/>
                </a:solidFill>
                <a:latin typeface="Arial"/>
                <a:cs typeface="Arial"/>
              </a:rPr>
              <a:t>1</a:t>
            </a:r>
            <a:r>
              <a:rPr sz="1200" i="1" dirty="0">
                <a:solidFill>
                  <a:srgbClr val="3333B2"/>
                </a:solidFill>
                <a:latin typeface="Arial"/>
                <a:cs typeface="Arial"/>
              </a:rPr>
              <a:t>,</a:t>
            </a:r>
            <a:r>
              <a:rPr sz="1200" i="1" spc="-185" dirty="0">
                <a:solidFill>
                  <a:srgbClr val="3333B2"/>
                </a:solidFill>
                <a:latin typeface="Arial"/>
                <a:cs typeface="Arial"/>
              </a:rPr>
              <a:t> </a:t>
            </a:r>
            <a:r>
              <a:rPr sz="1200" spc="-25" dirty="0">
                <a:solidFill>
                  <a:srgbClr val="3333B2"/>
                </a:solidFill>
                <a:latin typeface="Arial"/>
                <a:cs typeface="Arial"/>
              </a:rPr>
              <a:t>1)</a:t>
            </a:r>
            <a:endParaRPr sz="1200">
              <a:latin typeface="Arial"/>
              <a:cs typeface="Arial"/>
            </a:endParaRPr>
          </a:p>
          <a:p>
            <a:pPr marL="289560">
              <a:lnSpc>
                <a:spcPct val="100000"/>
              </a:lnSpc>
              <a:spcBef>
                <a:spcPts val="1055"/>
              </a:spcBef>
            </a:pPr>
            <a:r>
              <a:rPr sz="1000" i="1" dirty="0">
                <a:solidFill>
                  <a:srgbClr val="3333B2"/>
                </a:solidFill>
                <a:latin typeface="Arial"/>
                <a:cs typeface="Arial"/>
              </a:rPr>
              <a:t>S</a:t>
            </a:r>
            <a:r>
              <a:rPr sz="1050" i="1" baseline="-15873" dirty="0">
                <a:solidFill>
                  <a:srgbClr val="3333B2"/>
                </a:solidFill>
                <a:latin typeface="Arial"/>
                <a:cs typeface="Arial"/>
              </a:rPr>
              <a:t>3</a:t>
            </a:r>
            <a:r>
              <a:rPr sz="1050" i="1" spc="202" baseline="-15873" dirty="0">
                <a:solidFill>
                  <a:srgbClr val="3333B2"/>
                </a:solidFill>
                <a:latin typeface="Arial"/>
                <a:cs typeface="Arial"/>
              </a:rPr>
              <a:t> </a:t>
            </a:r>
            <a:r>
              <a:rPr sz="1000" dirty="0">
                <a:solidFill>
                  <a:srgbClr val="3333B2"/>
                </a:solidFill>
                <a:latin typeface="Arial"/>
                <a:cs typeface="Arial"/>
              </a:rPr>
              <a:t>is</a:t>
            </a:r>
            <a:r>
              <a:rPr sz="1000" spc="-30" dirty="0">
                <a:solidFill>
                  <a:srgbClr val="3333B2"/>
                </a:solidFill>
                <a:latin typeface="Arial"/>
                <a:cs typeface="Arial"/>
              </a:rPr>
              <a:t> </a:t>
            </a:r>
            <a:r>
              <a:rPr sz="1000" dirty="0">
                <a:solidFill>
                  <a:srgbClr val="3333B2"/>
                </a:solidFill>
                <a:latin typeface="Arial"/>
                <a:cs typeface="Arial"/>
              </a:rPr>
              <a:t>completely</a:t>
            </a:r>
            <a:r>
              <a:rPr sz="1000" spc="-30" dirty="0">
                <a:solidFill>
                  <a:srgbClr val="3333B2"/>
                </a:solidFill>
                <a:latin typeface="Arial"/>
                <a:cs typeface="Arial"/>
              </a:rPr>
              <a:t> </a:t>
            </a:r>
            <a:r>
              <a:rPr sz="1000" dirty="0">
                <a:solidFill>
                  <a:srgbClr val="3333B2"/>
                </a:solidFill>
                <a:latin typeface="Arial"/>
                <a:cs typeface="Arial"/>
              </a:rPr>
              <a:t>ignorant</a:t>
            </a:r>
            <a:r>
              <a:rPr sz="1000" spc="-25" dirty="0">
                <a:solidFill>
                  <a:srgbClr val="3333B2"/>
                </a:solidFill>
                <a:latin typeface="Arial"/>
                <a:cs typeface="Arial"/>
              </a:rPr>
              <a:t> </a:t>
            </a:r>
            <a:r>
              <a:rPr sz="1000" dirty="0">
                <a:solidFill>
                  <a:srgbClr val="3333B2"/>
                </a:solidFill>
                <a:latin typeface="Arial"/>
                <a:cs typeface="Arial"/>
              </a:rPr>
              <a:t>of</a:t>
            </a:r>
            <a:r>
              <a:rPr sz="1000" spc="-30" dirty="0">
                <a:solidFill>
                  <a:srgbClr val="3333B2"/>
                </a:solidFill>
                <a:latin typeface="Arial"/>
                <a:cs typeface="Arial"/>
              </a:rPr>
              <a:t> </a:t>
            </a:r>
            <a:r>
              <a:rPr sz="1000" dirty="0">
                <a:solidFill>
                  <a:srgbClr val="3333B2"/>
                </a:solidFill>
                <a:latin typeface="Arial"/>
                <a:cs typeface="Arial"/>
              </a:rPr>
              <a:t>any</a:t>
            </a:r>
            <a:r>
              <a:rPr sz="1000" spc="-25" dirty="0">
                <a:solidFill>
                  <a:srgbClr val="3333B2"/>
                </a:solidFill>
                <a:latin typeface="Arial"/>
                <a:cs typeface="Arial"/>
              </a:rPr>
              <a:t> </a:t>
            </a:r>
            <a:r>
              <a:rPr sz="1000" dirty="0">
                <a:solidFill>
                  <a:srgbClr val="3333B2"/>
                </a:solidFill>
                <a:latin typeface="Arial"/>
                <a:cs typeface="Arial"/>
              </a:rPr>
              <a:t>activity</a:t>
            </a:r>
            <a:r>
              <a:rPr sz="1000" spc="-30" dirty="0">
                <a:solidFill>
                  <a:srgbClr val="3333B2"/>
                </a:solidFill>
                <a:latin typeface="Arial"/>
                <a:cs typeface="Arial"/>
              </a:rPr>
              <a:t> </a:t>
            </a:r>
            <a:r>
              <a:rPr sz="1000" dirty="0">
                <a:solidFill>
                  <a:srgbClr val="3333B2"/>
                </a:solidFill>
                <a:latin typeface="Arial"/>
                <a:cs typeface="Arial"/>
              </a:rPr>
              <a:t>by</a:t>
            </a:r>
            <a:r>
              <a:rPr sz="1000" spc="-25" dirty="0">
                <a:solidFill>
                  <a:srgbClr val="3333B2"/>
                </a:solidFill>
                <a:latin typeface="Arial"/>
                <a:cs typeface="Arial"/>
              </a:rPr>
              <a:t> </a:t>
            </a:r>
            <a:r>
              <a:rPr sz="1000" i="1" spc="-25" dirty="0">
                <a:solidFill>
                  <a:srgbClr val="3333B2"/>
                </a:solidFill>
                <a:latin typeface="Arial"/>
                <a:cs typeface="Arial"/>
              </a:rPr>
              <a:t>S</a:t>
            </a:r>
            <a:r>
              <a:rPr sz="1050" i="1" spc="-37" baseline="-15873" dirty="0">
                <a:solidFill>
                  <a:srgbClr val="3333B2"/>
                </a:solidFill>
                <a:latin typeface="Arial"/>
                <a:cs typeface="Arial"/>
              </a:rPr>
              <a:t>1</a:t>
            </a:r>
            <a:endParaRPr sz="1050" baseline="-15873">
              <a:latin typeface="Arial"/>
              <a:cs typeface="Arial"/>
            </a:endParaRPr>
          </a:p>
          <a:p>
            <a:pPr marL="289560" marR="30480" indent="-3810">
              <a:lnSpc>
                <a:spcPct val="111600"/>
              </a:lnSpc>
              <a:spcBef>
                <a:spcPts val="185"/>
              </a:spcBef>
            </a:pPr>
            <a:r>
              <a:rPr sz="900" dirty="0">
                <a:latin typeface="Arial"/>
                <a:cs typeface="Arial"/>
              </a:rPr>
              <a:t>As</a:t>
            </a:r>
            <a:r>
              <a:rPr sz="900" spc="-20" dirty="0">
                <a:latin typeface="Arial"/>
                <a:cs typeface="Arial"/>
              </a:rPr>
              <a:t> </a:t>
            </a:r>
            <a:r>
              <a:rPr sz="900" dirty="0">
                <a:latin typeface="Arial"/>
                <a:cs typeface="Arial"/>
              </a:rPr>
              <a:t>soon</a:t>
            </a:r>
            <a:r>
              <a:rPr sz="900" spc="-20" dirty="0">
                <a:latin typeface="Arial"/>
                <a:cs typeface="Arial"/>
              </a:rPr>
              <a:t> </a:t>
            </a:r>
            <a:r>
              <a:rPr sz="900" dirty="0">
                <a:latin typeface="Arial"/>
                <a:cs typeface="Arial"/>
              </a:rPr>
              <a:t>as</a:t>
            </a:r>
            <a:r>
              <a:rPr sz="900" spc="-20" dirty="0">
                <a:latin typeface="Arial"/>
                <a:cs typeface="Arial"/>
              </a:rPr>
              <a:t> </a:t>
            </a:r>
            <a:r>
              <a:rPr sz="900" i="1" dirty="0">
                <a:latin typeface="Arial"/>
                <a:cs typeface="Arial"/>
              </a:rPr>
              <a:t>S</a:t>
            </a:r>
            <a:r>
              <a:rPr sz="1050" i="1" baseline="-15873" dirty="0">
                <a:latin typeface="Arial"/>
                <a:cs typeface="Arial"/>
              </a:rPr>
              <a:t>2</a:t>
            </a:r>
            <a:r>
              <a:rPr sz="1050" i="1" spc="179" baseline="-15873" dirty="0">
                <a:latin typeface="Arial"/>
                <a:cs typeface="Arial"/>
              </a:rPr>
              <a:t> </a:t>
            </a:r>
            <a:r>
              <a:rPr sz="900" dirty="0">
                <a:latin typeface="Arial"/>
                <a:cs typeface="Arial"/>
              </a:rPr>
              <a:t>announces</a:t>
            </a:r>
            <a:r>
              <a:rPr sz="900" spc="-15" dirty="0">
                <a:latin typeface="Arial"/>
                <a:cs typeface="Arial"/>
              </a:rPr>
              <a:t> </a:t>
            </a:r>
            <a:r>
              <a:rPr sz="900" dirty="0">
                <a:latin typeface="Arial"/>
                <a:cs typeface="Arial"/>
              </a:rPr>
              <a:t>that</a:t>
            </a:r>
            <a:r>
              <a:rPr sz="900" spc="-20" dirty="0">
                <a:latin typeface="Arial"/>
                <a:cs typeface="Arial"/>
              </a:rPr>
              <a:t> </a:t>
            </a:r>
            <a:r>
              <a:rPr sz="900" i="1" dirty="0">
                <a:latin typeface="Arial"/>
                <a:cs typeface="Arial"/>
              </a:rPr>
              <a:t>o</a:t>
            </a:r>
            <a:r>
              <a:rPr sz="1050" i="1" baseline="27777" dirty="0">
                <a:latin typeface="Arial"/>
                <a:cs typeface="Arial"/>
              </a:rPr>
              <a:t>2</a:t>
            </a:r>
            <a:r>
              <a:rPr sz="1050" i="1" spc="179" baseline="27777"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to</a:t>
            </a:r>
            <a:r>
              <a:rPr sz="900" spc="-15" dirty="0">
                <a:latin typeface="Arial"/>
                <a:cs typeface="Arial"/>
              </a:rPr>
              <a:t> </a:t>
            </a:r>
            <a:r>
              <a:rPr sz="900" dirty="0">
                <a:latin typeface="Arial"/>
                <a:cs typeface="Arial"/>
              </a:rPr>
              <a:t>be</a:t>
            </a:r>
            <a:r>
              <a:rPr sz="900" spc="-20" dirty="0">
                <a:latin typeface="Arial"/>
                <a:cs typeface="Arial"/>
              </a:rPr>
              <a:t> </a:t>
            </a:r>
            <a:r>
              <a:rPr sz="900" dirty="0">
                <a:latin typeface="Arial"/>
                <a:cs typeface="Arial"/>
              </a:rPr>
              <a:t>accepted,</a:t>
            </a:r>
            <a:r>
              <a:rPr sz="900" spc="-20" dirty="0">
                <a:latin typeface="Arial"/>
                <a:cs typeface="Arial"/>
              </a:rPr>
              <a:t> </a:t>
            </a:r>
            <a:r>
              <a:rPr sz="900" i="1" dirty="0">
                <a:latin typeface="Arial"/>
                <a:cs typeface="Arial"/>
              </a:rPr>
              <a:t>S</a:t>
            </a:r>
            <a:r>
              <a:rPr sz="1050" i="1" baseline="-15873" dirty="0">
                <a:latin typeface="Arial"/>
                <a:cs typeface="Arial"/>
              </a:rPr>
              <a:t>3</a:t>
            </a:r>
            <a:r>
              <a:rPr sz="1050" i="1" spc="172" baseline="-15873" dirty="0">
                <a:latin typeface="Arial"/>
                <a:cs typeface="Arial"/>
              </a:rPr>
              <a:t> </a:t>
            </a:r>
            <a:r>
              <a:rPr sz="900" dirty="0">
                <a:latin typeface="Arial"/>
                <a:cs typeface="Arial"/>
              </a:rPr>
              <a:t>will</a:t>
            </a:r>
            <a:r>
              <a:rPr sz="900" spc="-15" dirty="0">
                <a:latin typeface="Arial"/>
                <a:cs typeface="Arial"/>
              </a:rPr>
              <a:t> </a:t>
            </a:r>
            <a:r>
              <a:rPr sz="900" dirty="0">
                <a:latin typeface="Arial"/>
                <a:cs typeface="Arial"/>
              </a:rPr>
              <a:t>notice</a:t>
            </a:r>
            <a:r>
              <a:rPr sz="900" spc="-20" dirty="0">
                <a:latin typeface="Arial"/>
                <a:cs typeface="Arial"/>
              </a:rPr>
              <a:t> </a:t>
            </a:r>
            <a:r>
              <a:rPr sz="900" dirty="0">
                <a:latin typeface="Arial"/>
                <a:cs typeface="Arial"/>
              </a:rPr>
              <a:t>that</a:t>
            </a:r>
            <a:r>
              <a:rPr sz="900" spc="-20" dirty="0">
                <a:latin typeface="Arial"/>
                <a:cs typeface="Arial"/>
              </a:rPr>
              <a:t> </a:t>
            </a:r>
            <a:r>
              <a:rPr sz="900" spc="-25" dirty="0">
                <a:latin typeface="Arial"/>
                <a:cs typeface="Arial"/>
              </a:rPr>
              <a:t>it </a:t>
            </a:r>
            <a:r>
              <a:rPr sz="900" dirty="0">
                <a:latin typeface="Arial"/>
                <a:cs typeface="Arial"/>
              </a:rPr>
              <a:t>missed</a:t>
            </a:r>
            <a:r>
              <a:rPr sz="900" spc="-25" dirty="0">
                <a:latin typeface="Arial"/>
                <a:cs typeface="Arial"/>
              </a:rPr>
              <a:t> </a:t>
            </a:r>
            <a:r>
              <a:rPr sz="900" dirty="0">
                <a:latin typeface="Arial"/>
                <a:cs typeface="Arial"/>
              </a:rPr>
              <a:t>an</a:t>
            </a:r>
            <a:r>
              <a:rPr sz="900" spc="-20" dirty="0">
                <a:latin typeface="Arial"/>
                <a:cs typeface="Arial"/>
              </a:rPr>
              <a:t> </a:t>
            </a:r>
            <a:r>
              <a:rPr sz="900" dirty="0">
                <a:latin typeface="Arial"/>
                <a:cs typeface="Arial"/>
              </a:rPr>
              <a:t>operation</a:t>
            </a:r>
            <a:r>
              <a:rPr sz="900" spc="-25" dirty="0">
                <a:latin typeface="Arial"/>
                <a:cs typeface="Arial"/>
              </a:rPr>
              <a:t> </a:t>
            </a:r>
            <a:r>
              <a:rPr sz="900" dirty="0">
                <a:latin typeface="Arial"/>
                <a:cs typeface="Arial"/>
              </a:rPr>
              <a:t>and</a:t>
            </a:r>
            <a:r>
              <a:rPr sz="900" spc="-20" dirty="0">
                <a:latin typeface="Arial"/>
                <a:cs typeface="Arial"/>
              </a:rPr>
              <a:t> </a:t>
            </a:r>
            <a:r>
              <a:rPr sz="900" dirty="0">
                <a:latin typeface="Arial"/>
                <a:cs typeface="Arial"/>
              </a:rPr>
              <a:t>can</a:t>
            </a:r>
            <a:r>
              <a:rPr sz="900" spc="-25" dirty="0">
                <a:latin typeface="Arial"/>
                <a:cs typeface="Arial"/>
              </a:rPr>
              <a:t> </a:t>
            </a:r>
            <a:r>
              <a:rPr sz="900" dirty="0">
                <a:latin typeface="Arial"/>
                <a:cs typeface="Arial"/>
              </a:rPr>
              <a:t>ask</a:t>
            </a:r>
            <a:r>
              <a:rPr sz="900" spc="-25" dirty="0">
                <a:latin typeface="Arial"/>
                <a:cs typeface="Arial"/>
              </a:rPr>
              <a:t> </a:t>
            </a:r>
            <a:r>
              <a:rPr sz="900" i="1" dirty="0">
                <a:latin typeface="Arial"/>
                <a:cs typeface="Arial"/>
              </a:rPr>
              <a:t>S</a:t>
            </a:r>
            <a:r>
              <a:rPr sz="1050" i="1" baseline="-15873" dirty="0">
                <a:latin typeface="Arial"/>
                <a:cs typeface="Arial"/>
              </a:rPr>
              <a:t>2</a:t>
            </a:r>
            <a:r>
              <a:rPr sz="1050" i="1" spc="179" baseline="-15873"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help</a:t>
            </a:r>
            <a:r>
              <a:rPr sz="900" spc="-20" dirty="0">
                <a:latin typeface="Arial"/>
                <a:cs typeface="Arial"/>
              </a:rPr>
              <a:t> </a:t>
            </a:r>
            <a:r>
              <a:rPr sz="900" spc="-10" dirty="0">
                <a:latin typeface="Arial"/>
                <a:cs typeface="Arial"/>
              </a:rPr>
              <a:t>recover.</a:t>
            </a:r>
            <a:endParaRPr sz="900">
              <a:latin typeface="Arial"/>
              <a:cs typeface="Arial"/>
            </a:endParaRPr>
          </a:p>
          <a:p>
            <a:pPr marL="289560">
              <a:lnSpc>
                <a:spcPct val="100000"/>
              </a:lnSpc>
              <a:spcBef>
                <a:spcPts val="815"/>
              </a:spcBef>
            </a:pPr>
            <a:r>
              <a:rPr sz="1000" i="1" dirty="0">
                <a:solidFill>
                  <a:srgbClr val="3333B2"/>
                </a:solidFill>
                <a:latin typeface="Arial"/>
                <a:cs typeface="Arial"/>
              </a:rPr>
              <a:t>S</a:t>
            </a:r>
            <a:r>
              <a:rPr sz="1050" i="1" baseline="-15873" dirty="0">
                <a:solidFill>
                  <a:srgbClr val="3333B2"/>
                </a:solidFill>
                <a:latin typeface="Arial"/>
                <a:cs typeface="Arial"/>
              </a:rPr>
              <a:t>2</a:t>
            </a:r>
            <a:r>
              <a:rPr sz="1050" i="1" spc="405" baseline="-15873" dirty="0">
                <a:solidFill>
                  <a:srgbClr val="3333B2"/>
                </a:solidFill>
                <a:latin typeface="Arial"/>
                <a:cs typeface="Arial"/>
              </a:rPr>
              <a:t> </a:t>
            </a:r>
            <a:r>
              <a:rPr sz="1000" dirty="0">
                <a:solidFill>
                  <a:srgbClr val="3333B2"/>
                </a:solidFill>
                <a:latin typeface="Arial"/>
                <a:cs typeface="Arial"/>
              </a:rPr>
              <a:t>had</a:t>
            </a:r>
            <a:r>
              <a:rPr sz="1000" spc="70" dirty="0">
                <a:solidFill>
                  <a:srgbClr val="3333B2"/>
                </a:solidFill>
                <a:latin typeface="Arial"/>
                <a:cs typeface="Arial"/>
              </a:rPr>
              <a:t> </a:t>
            </a:r>
            <a:r>
              <a:rPr sz="1000" dirty="0">
                <a:solidFill>
                  <a:srgbClr val="3333B2"/>
                </a:solidFill>
                <a:latin typeface="Arial"/>
                <a:cs typeface="Arial"/>
              </a:rPr>
              <a:t>missed</a:t>
            </a:r>
            <a:r>
              <a:rPr sz="1000" spc="105" dirty="0">
                <a:solidFill>
                  <a:srgbClr val="3333B2"/>
                </a:solidFill>
                <a:latin typeface="Arial"/>
                <a:cs typeface="Arial"/>
              </a:rPr>
              <a:t> </a:t>
            </a:r>
            <a:r>
              <a:rPr sz="800" dirty="0">
                <a:solidFill>
                  <a:srgbClr val="3333B2"/>
                </a:solidFill>
                <a:latin typeface="Arial"/>
                <a:cs typeface="Arial"/>
              </a:rPr>
              <a:t>ACCEPT</a:t>
            </a:r>
            <a:r>
              <a:rPr sz="1000" dirty="0">
                <a:solidFill>
                  <a:srgbClr val="3333B2"/>
                </a:solidFill>
                <a:latin typeface="Arial"/>
                <a:cs typeface="Arial"/>
              </a:rPr>
              <a:t>(</a:t>
            </a:r>
            <a:r>
              <a:rPr sz="1000" i="1" dirty="0">
                <a:solidFill>
                  <a:srgbClr val="3333B2"/>
                </a:solidFill>
                <a:latin typeface="Arial"/>
                <a:cs typeface="Arial"/>
              </a:rPr>
              <a:t>o</a:t>
            </a:r>
            <a:r>
              <a:rPr sz="1050" i="1" baseline="27777" dirty="0">
                <a:solidFill>
                  <a:srgbClr val="3333B2"/>
                </a:solidFill>
                <a:latin typeface="Arial"/>
                <a:cs typeface="Arial"/>
              </a:rPr>
              <a:t>1</a:t>
            </a:r>
            <a:r>
              <a:rPr sz="1000" i="1" dirty="0">
                <a:solidFill>
                  <a:srgbClr val="3333B2"/>
                </a:solidFill>
                <a:latin typeface="Arial"/>
                <a:cs typeface="Arial"/>
              </a:rPr>
              <a:t>,</a:t>
            </a:r>
            <a:r>
              <a:rPr sz="1000" i="1" spc="-140" dirty="0">
                <a:solidFill>
                  <a:srgbClr val="3333B2"/>
                </a:solidFill>
                <a:latin typeface="Arial"/>
                <a:cs typeface="Arial"/>
              </a:rPr>
              <a:t> </a:t>
            </a:r>
            <a:r>
              <a:rPr sz="1000" spc="-25" dirty="0">
                <a:solidFill>
                  <a:srgbClr val="3333B2"/>
                </a:solidFill>
                <a:latin typeface="Arial"/>
                <a:cs typeface="Arial"/>
              </a:rPr>
              <a:t>1)</a:t>
            </a:r>
            <a:endParaRPr sz="1000">
              <a:latin typeface="Arial"/>
              <a:cs typeface="Arial"/>
            </a:endParaRPr>
          </a:p>
          <a:p>
            <a:pPr marL="289560" marR="40005" indent="-3810">
              <a:lnSpc>
                <a:spcPct val="111600"/>
              </a:lnSpc>
              <a:spcBef>
                <a:spcPts val="210"/>
              </a:spcBef>
            </a:pPr>
            <a:r>
              <a:rPr sz="900" dirty="0">
                <a:latin typeface="Arial"/>
                <a:cs typeface="Arial"/>
              </a:rPr>
              <a:t>As</a:t>
            </a:r>
            <a:r>
              <a:rPr sz="900" spc="-25" dirty="0">
                <a:latin typeface="Arial"/>
                <a:cs typeface="Arial"/>
              </a:rPr>
              <a:t> </a:t>
            </a:r>
            <a:r>
              <a:rPr sz="900" dirty="0">
                <a:latin typeface="Arial"/>
                <a:cs typeface="Arial"/>
              </a:rPr>
              <a:t>soon</a:t>
            </a:r>
            <a:r>
              <a:rPr sz="900" spc="-20" dirty="0">
                <a:latin typeface="Arial"/>
                <a:cs typeface="Arial"/>
              </a:rPr>
              <a:t> </a:t>
            </a:r>
            <a:r>
              <a:rPr sz="900" dirty="0">
                <a:latin typeface="Arial"/>
                <a:cs typeface="Arial"/>
              </a:rPr>
              <a:t>as</a:t>
            </a:r>
            <a:r>
              <a:rPr sz="900" spc="-20" dirty="0">
                <a:latin typeface="Arial"/>
                <a:cs typeface="Arial"/>
              </a:rPr>
              <a:t> </a:t>
            </a:r>
            <a:r>
              <a:rPr sz="900" i="1" dirty="0">
                <a:latin typeface="Arial"/>
                <a:cs typeface="Arial"/>
              </a:rPr>
              <a:t>S</a:t>
            </a:r>
            <a:r>
              <a:rPr sz="1050" i="1" baseline="-15873" dirty="0">
                <a:latin typeface="Arial"/>
                <a:cs typeface="Arial"/>
              </a:rPr>
              <a:t>2</a:t>
            </a:r>
            <a:r>
              <a:rPr sz="1050" i="1" spc="172" baseline="-15873" dirty="0">
                <a:latin typeface="Arial"/>
                <a:cs typeface="Arial"/>
              </a:rPr>
              <a:t> </a:t>
            </a:r>
            <a:r>
              <a:rPr sz="900" dirty="0">
                <a:latin typeface="Arial"/>
                <a:cs typeface="Arial"/>
              </a:rPr>
              <a:t>proposes</a:t>
            </a:r>
            <a:r>
              <a:rPr sz="900" spc="-20" dirty="0">
                <a:latin typeface="Arial"/>
                <a:cs typeface="Arial"/>
              </a:rPr>
              <a:t> </a:t>
            </a:r>
            <a:r>
              <a:rPr sz="900" dirty="0">
                <a:latin typeface="Arial"/>
                <a:cs typeface="Arial"/>
              </a:rPr>
              <a:t>an</a:t>
            </a:r>
            <a:r>
              <a:rPr sz="900" spc="-20" dirty="0">
                <a:latin typeface="Arial"/>
                <a:cs typeface="Arial"/>
              </a:rPr>
              <a:t> </a:t>
            </a:r>
            <a:r>
              <a:rPr sz="900" dirty="0">
                <a:latin typeface="Arial"/>
                <a:cs typeface="Arial"/>
              </a:rPr>
              <a:t>operation,</a:t>
            </a:r>
            <a:r>
              <a:rPr sz="900" spc="-25" dirty="0">
                <a:latin typeface="Arial"/>
                <a:cs typeface="Arial"/>
              </a:rPr>
              <a:t> </a:t>
            </a:r>
            <a:r>
              <a:rPr sz="900" dirty="0">
                <a:latin typeface="Arial"/>
                <a:cs typeface="Arial"/>
              </a:rPr>
              <a:t>it</a:t>
            </a:r>
            <a:r>
              <a:rPr sz="900" spc="-20" dirty="0">
                <a:latin typeface="Arial"/>
                <a:cs typeface="Arial"/>
              </a:rPr>
              <a:t> </a:t>
            </a:r>
            <a:r>
              <a:rPr sz="900" dirty="0">
                <a:latin typeface="Arial"/>
                <a:cs typeface="Arial"/>
              </a:rPr>
              <a:t>will</a:t>
            </a:r>
            <a:r>
              <a:rPr sz="900" spc="-20" dirty="0">
                <a:latin typeface="Arial"/>
                <a:cs typeface="Arial"/>
              </a:rPr>
              <a:t> </a:t>
            </a:r>
            <a:r>
              <a:rPr sz="900" dirty="0">
                <a:latin typeface="Arial"/>
                <a:cs typeface="Arial"/>
              </a:rPr>
              <a:t>be</a:t>
            </a:r>
            <a:r>
              <a:rPr sz="900" spc="-20" dirty="0">
                <a:latin typeface="Arial"/>
                <a:cs typeface="Arial"/>
              </a:rPr>
              <a:t> </a:t>
            </a:r>
            <a:r>
              <a:rPr sz="900" dirty="0">
                <a:latin typeface="Arial"/>
                <a:cs typeface="Arial"/>
              </a:rPr>
              <a:t>using</a:t>
            </a:r>
            <a:r>
              <a:rPr sz="900" spc="-25"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stale</a:t>
            </a:r>
            <a:r>
              <a:rPr sz="900" spc="-20" dirty="0">
                <a:latin typeface="Arial"/>
                <a:cs typeface="Arial"/>
              </a:rPr>
              <a:t> </a:t>
            </a:r>
            <a:r>
              <a:rPr sz="900" spc="-10" dirty="0">
                <a:latin typeface="Arial"/>
                <a:cs typeface="Arial"/>
              </a:rPr>
              <a:t>timestamp, </a:t>
            </a:r>
            <a:r>
              <a:rPr sz="900" dirty="0">
                <a:latin typeface="Arial"/>
                <a:cs typeface="Arial"/>
              </a:rPr>
              <a:t>allowing</a:t>
            </a:r>
            <a:r>
              <a:rPr sz="900" spc="-25" dirty="0">
                <a:latin typeface="Arial"/>
                <a:cs typeface="Arial"/>
              </a:rPr>
              <a:t> </a:t>
            </a:r>
            <a:r>
              <a:rPr sz="900" i="1" dirty="0">
                <a:latin typeface="Arial"/>
                <a:cs typeface="Arial"/>
              </a:rPr>
              <a:t>S</a:t>
            </a:r>
            <a:r>
              <a:rPr sz="1050" i="1" baseline="-15873" dirty="0">
                <a:latin typeface="Arial"/>
                <a:cs typeface="Arial"/>
              </a:rPr>
              <a:t>3</a:t>
            </a:r>
            <a:r>
              <a:rPr sz="1050" i="1" spc="157" baseline="-15873"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tell</a:t>
            </a:r>
            <a:r>
              <a:rPr sz="900" spc="-25" dirty="0">
                <a:latin typeface="Arial"/>
                <a:cs typeface="Arial"/>
              </a:rPr>
              <a:t> </a:t>
            </a:r>
            <a:r>
              <a:rPr sz="900" i="1" dirty="0">
                <a:latin typeface="Arial"/>
                <a:cs typeface="Arial"/>
              </a:rPr>
              <a:t>S</a:t>
            </a:r>
            <a:r>
              <a:rPr sz="1050" i="1" baseline="-15873" dirty="0">
                <a:latin typeface="Arial"/>
                <a:cs typeface="Arial"/>
              </a:rPr>
              <a:t>2</a:t>
            </a:r>
            <a:r>
              <a:rPr sz="1050" i="1" spc="172" baseline="-15873"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it</a:t>
            </a:r>
            <a:r>
              <a:rPr sz="900" spc="-25" dirty="0">
                <a:latin typeface="Arial"/>
                <a:cs typeface="Arial"/>
              </a:rPr>
              <a:t> </a:t>
            </a:r>
            <a:r>
              <a:rPr sz="900" dirty="0">
                <a:latin typeface="Arial"/>
                <a:cs typeface="Arial"/>
              </a:rPr>
              <a:t>missed</a:t>
            </a:r>
            <a:r>
              <a:rPr sz="900" spc="-25" dirty="0">
                <a:latin typeface="Arial"/>
                <a:cs typeface="Arial"/>
              </a:rPr>
              <a:t> </a:t>
            </a:r>
            <a:r>
              <a:rPr sz="900" dirty="0">
                <a:latin typeface="Arial"/>
                <a:cs typeface="Arial"/>
              </a:rPr>
              <a:t>operation</a:t>
            </a:r>
            <a:r>
              <a:rPr sz="900" spc="-25" dirty="0">
                <a:latin typeface="Arial"/>
                <a:cs typeface="Arial"/>
              </a:rPr>
              <a:t> </a:t>
            </a:r>
            <a:r>
              <a:rPr sz="900" i="1" spc="-25" dirty="0">
                <a:latin typeface="Arial"/>
                <a:cs typeface="Arial"/>
              </a:rPr>
              <a:t>o</a:t>
            </a:r>
            <a:r>
              <a:rPr sz="1050" i="1" spc="-37" baseline="27777" dirty="0">
                <a:latin typeface="Arial"/>
                <a:cs typeface="Arial"/>
              </a:rPr>
              <a:t>1</a:t>
            </a:r>
            <a:r>
              <a:rPr sz="900" spc="-25" dirty="0">
                <a:latin typeface="Arial"/>
                <a:cs typeface="Arial"/>
              </a:rPr>
              <a:t>.</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484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Example:</a:t>
            </a:r>
            <a:r>
              <a:rPr sz="500" spc="5" dirty="0">
                <a:latin typeface="Arial"/>
                <a:cs typeface="Arial"/>
                <a:hlinkClick r:id="rId4" action="ppaction://hlinksldjump"/>
              </a:rPr>
              <a:t> </a:t>
            </a:r>
            <a:r>
              <a:rPr sz="500" spc="-10" dirty="0">
                <a:latin typeface="Arial"/>
                <a:cs typeface="Arial"/>
                <a:hlinkClick r:id="rId4" action="ppaction://hlinksldjump"/>
              </a:rPr>
              <a:t>Paxos</a:t>
            </a:r>
            <a:endParaRPr sz="500">
              <a:latin typeface="Arial"/>
              <a:cs typeface="Arial"/>
            </a:endParaRPr>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74465"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Leader</a:t>
            </a:r>
            <a:r>
              <a:rPr spc="45" dirty="0"/>
              <a:t> </a:t>
            </a:r>
            <a:r>
              <a:rPr dirty="0"/>
              <a:t>crashes</a:t>
            </a:r>
            <a:r>
              <a:rPr spc="45" dirty="0"/>
              <a:t> </a:t>
            </a:r>
            <a:r>
              <a:rPr dirty="0"/>
              <a:t>after</a:t>
            </a:r>
            <a:r>
              <a:rPr spc="45" dirty="0"/>
              <a:t> </a:t>
            </a:r>
            <a:r>
              <a:rPr dirty="0"/>
              <a:t>sending</a:t>
            </a:r>
            <a:r>
              <a:rPr spc="80" dirty="0"/>
              <a:t> </a:t>
            </a:r>
            <a:r>
              <a:rPr sz="950" dirty="0"/>
              <a:t>ACCEPT</a:t>
            </a:r>
            <a:r>
              <a:rPr dirty="0"/>
              <a:t>(</a:t>
            </a:r>
            <a:r>
              <a:rPr i="1" dirty="0">
                <a:latin typeface="Arial"/>
                <a:cs typeface="Arial"/>
              </a:rPr>
              <a:t>o</a:t>
            </a:r>
            <a:r>
              <a:rPr sz="1350" i="1" baseline="27777" dirty="0">
                <a:latin typeface="Arial"/>
                <a:cs typeface="Arial"/>
              </a:rPr>
              <a:t>1</a:t>
            </a:r>
            <a:r>
              <a:rPr sz="1200" i="1" dirty="0">
                <a:latin typeface="Arial"/>
                <a:cs typeface="Arial"/>
              </a:rPr>
              <a:t>,</a:t>
            </a:r>
            <a:r>
              <a:rPr sz="1200" i="1" spc="-185" dirty="0">
                <a:latin typeface="Arial"/>
                <a:cs typeface="Arial"/>
              </a:rPr>
              <a:t> </a:t>
            </a:r>
            <a:r>
              <a:rPr sz="1200" spc="-25" dirty="0"/>
              <a:t>1)</a:t>
            </a:r>
            <a:endParaRPr sz="1200">
              <a:latin typeface="Arial"/>
              <a:cs typeface="Arial"/>
            </a:endParaRPr>
          </a:p>
        </p:txBody>
      </p:sp>
      <p:sp>
        <p:nvSpPr>
          <p:cNvPr id="4" name="object 4"/>
          <p:cNvSpPr txBox="1"/>
          <p:nvPr/>
        </p:nvSpPr>
        <p:spPr>
          <a:xfrm>
            <a:off x="330847" y="470520"/>
            <a:ext cx="3827779" cy="1699260"/>
          </a:xfrm>
          <a:prstGeom prst="rect">
            <a:avLst/>
          </a:prstGeom>
        </p:spPr>
        <p:txBody>
          <a:bodyPr vert="horz" wrap="square" lIns="0" tIns="56515" rIns="0" bIns="0" rtlCol="0">
            <a:spAutoFit/>
          </a:bodyPr>
          <a:lstStyle/>
          <a:p>
            <a:pPr marL="28575">
              <a:lnSpc>
                <a:spcPct val="100000"/>
              </a:lnSpc>
              <a:spcBef>
                <a:spcPts val="445"/>
              </a:spcBef>
            </a:pPr>
            <a:r>
              <a:rPr sz="1000" i="1" dirty="0">
                <a:solidFill>
                  <a:srgbClr val="3333B2"/>
                </a:solidFill>
                <a:latin typeface="Arial"/>
                <a:cs typeface="Arial"/>
              </a:rPr>
              <a:t>S</a:t>
            </a:r>
            <a:r>
              <a:rPr sz="1050" i="1" baseline="-15873" dirty="0">
                <a:solidFill>
                  <a:srgbClr val="3333B2"/>
                </a:solidFill>
                <a:latin typeface="Arial"/>
                <a:cs typeface="Arial"/>
              </a:rPr>
              <a:t>3</a:t>
            </a:r>
            <a:r>
              <a:rPr sz="1050" i="1" spc="202" baseline="-15873" dirty="0">
                <a:solidFill>
                  <a:srgbClr val="3333B2"/>
                </a:solidFill>
                <a:latin typeface="Arial"/>
                <a:cs typeface="Arial"/>
              </a:rPr>
              <a:t> </a:t>
            </a:r>
            <a:r>
              <a:rPr sz="1000" dirty="0">
                <a:solidFill>
                  <a:srgbClr val="3333B2"/>
                </a:solidFill>
                <a:latin typeface="Arial"/>
                <a:cs typeface="Arial"/>
              </a:rPr>
              <a:t>is</a:t>
            </a:r>
            <a:r>
              <a:rPr sz="1000" spc="-30" dirty="0">
                <a:solidFill>
                  <a:srgbClr val="3333B2"/>
                </a:solidFill>
                <a:latin typeface="Arial"/>
                <a:cs typeface="Arial"/>
              </a:rPr>
              <a:t> </a:t>
            </a:r>
            <a:r>
              <a:rPr sz="1000" dirty="0">
                <a:solidFill>
                  <a:srgbClr val="3333B2"/>
                </a:solidFill>
                <a:latin typeface="Arial"/>
                <a:cs typeface="Arial"/>
              </a:rPr>
              <a:t>completely</a:t>
            </a:r>
            <a:r>
              <a:rPr sz="1000" spc="-30" dirty="0">
                <a:solidFill>
                  <a:srgbClr val="3333B2"/>
                </a:solidFill>
                <a:latin typeface="Arial"/>
                <a:cs typeface="Arial"/>
              </a:rPr>
              <a:t> </a:t>
            </a:r>
            <a:r>
              <a:rPr sz="1000" dirty="0">
                <a:solidFill>
                  <a:srgbClr val="3333B2"/>
                </a:solidFill>
                <a:latin typeface="Arial"/>
                <a:cs typeface="Arial"/>
              </a:rPr>
              <a:t>ignorant</a:t>
            </a:r>
            <a:r>
              <a:rPr sz="1000" spc="-25" dirty="0">
                <a:solidFill>
                  <a:srgbClr val="3333B2"/>
                </a:solidFill>
                <a:latin typeface="Arial"/>
                <a:cs typeface="Arial"/>
              </a:rPr>
              <a:t> </a:t>
            </a:r>
            <a:r>
              <a:rPr sz="1000" dirty="0">
                <a:solidFill>
                  <a:srgbClr val="3333B2"/>
                </a:solidFill>
                <a:latin typeface="Arial"/>
                <a:cs typeface="Arial"/>
              </a:rPr>
              <a:t>of</a:t>
            </a:r>
            <a:r>
              <a:rPr sz="1000" spc="-30" dirty="0">
                <a:solidFill>
                  <a:srgbClr val="3333B2"/>
                </a:solidFill>
                <a:latin typeface="Arial"/>
                <a:cs typeface="Arial"/>
              </a:rPr>
              <a:t> </a:t>
            </a:r>
            <a:r>
              <a:rPr sz="1000" dirty="0">
                <a:solidFill>
                  <a:srgbClr val="3333B2"/>
                </a:solidFill>
                <a:latin typeface="Arial"/>
                <a:cs typeface="Arial"/>
              </a:rPr>
              <a:t>any</a:t>
            </a:r>
            <a:r>
              <a:rPr sz="1000" spc="-25" dirty="0">
                <a:solidFill>
                  <a:srgbClr val="3333B2"/>
                </a:solidFill>
                <a:latin typeface="Arial"/>
                <a:cs typeface="Arial"/>
              </a:rPr>
              <a:t> </a:t>
            </a:r>
            <a:r>
              <a:rPr sz="1000" dirty="0">
                <a:solidFill>
                  <a:srgbClr val="3333B2"/>
                </a:solidFill>
                <a:latin typeface="Arial"/>
                <a:cs typeface="Arial"/>
              </a:rPr>
              <a:t>activity</a:t>
            </a:r>
            <a:r>
              <a:rPr sz="1000" spc="-30" dirty="0">
                <a:solidFill>
                  <a:srgbClr val="3333B2"/>
                </a:solidFill>
                <a:latin typeface="Arial"/>
                <a:cs typeface="Arial"/>
              </a:rPr>
              <a:t> </a:t>
            </a:r>
            <a:r>
              <a:rPr sz="1000" dirty="0">
                <a:solidFill>
                  <a:srgbClr val="3333B2"/>
                </a:solidFill>
                <a:latin typeface="Arial"/>
                <a:cs typeface="Arial"/>
              </a:rPr>
              <a:t>by</a:t>
            </a:r>
            <a:r>
              <a:rPr sz="1000" spc="-25" dirty="0">
                <a:solidFill>
                  <a:srgbClr val="3333B2"/>
                </a:solidFill>
                <a:latin typeface="Arial"/>
                <a:cs typeface="Arial"/>
              </a:rPr>
              <a:t> </a:t>
            </a:r>
            <a:r>
              <a:rPr sz="1000" i="1" spc="-25" dirty="0">
                <a:solidFill>
                  <a:srgbClr val="3333B2"/>
                </a:solidFill>
                <a:latin typeface="Arial"/>
                <a:cs typeface="Arial"/>
              </a:rPr>
              <a:t>S</a:t>
            </a:r>
            <a:r>
              <a:rPr sz="1050" i="1" spc="-37" baseline="-15873" dirty="0">
                <a:solidFill>
                  <a:srgbClr val="3333B2"/>
                </a:solidFill>
                <a:latin typeface="Arial"/>
                <a:cs typeface="Arial"/>
              </a:rPr>
              <a:t>1</a:t>
            </a:r>
            <a:endParaRPr sz="1050" baseline="-15873">
              <a:latin typeface="Arial"/>
              <a:cs typeface="Arial"/>
            </a:endParaRPr>
          </a:p>
          <a:p>
            <a:pPr marL="28575" marR="165100" indent="-3810">
              <a:lnSpc>
                <a:spcPct val="111600"/>
              </a:lnSpc>
              <a:spcBef>
                <a:spcPts val="180"/>
              </a:spcBef>
            </a:pPr>
            <a:r>
              <a:rPr sz="900" dirty="0">
                <a:latin typeface="Arial"/>
                <a:cs typeface="Arial"/>
              </a:rPr>
              <a:t>As</a:t>
            </a:r>
            <a:r>
              <a:rPr sz="900" spc="-20" dirty="0">
                <a:latin typeface="Arial"/>
                <a:cs typeface="Arial"/>
              </a:rPr>
              <a:t> </a:t>
            </a:r>
            <a:r>
              <a:rPr sz="900" dirty="0">
                <a:latin typeface="Arial"/>
                <a:cs typeface="Arial"/>
              </a:rPr>
              <a:t>soon</a:t>
            </a:r>
            <a:r>
              <a:rPr sz="900" spc="-20" dirty="0">
                <a:latin typeface="Arial"/>
                <a:cs typeface="Arial"/>
              </a:rPr>
              <a:t> </a:t>
            </a:r>
            <a:r>
              <a:rPr sz="900" dirty="0">
                <a:latin typeface="Arial"/>
                <a:cs typeface="Arial"/>
              </a:rPr>
              <a:t>as</a:t>
            </a:r>
            <a:r>
              <a:rPr sz="900" spc="-20" dirty="0">
                <a:latin typeface="Arial"/>
                <a:cs typeface="Arial"/>
              </a:rPr>
              <a:t> </a:t>
            </a:r>
            <a:r>
              <a:rPr sz="900" i="1" dirty="0">
                <a:latin typeface="Arial"/>
                <a:cs typeface="Arial"/>
              </a:rPr>
              <a:t>S</a:t>
            </a:r>
            <a:r>
              <a:rPr sz="1050" i="1" baseline="-15873" dirty="0">
                <a:latin typeface="Arial"/>
                <a:cs typeface="Arial"/>
              </a:rPr>
              <a:t>2</a:t>
            </a:r>
            <a:r>
              <a:rPr sz="1050" i="1" spc="179" baseline="-15873" dirty="0">
                <a:latin typeface="Arial"/>
                <a:cs typeface="Arial"/>
              </a:rPr>
              <a:t> </a:t>
            </a:r>
            <a:r>
              <a:rPr sz="900" dirty="0">
                <a:latin typeface="Arial"/>
                <a:cs typeface="Arial"/>
              </a:rPr>
              <a:t>announces</a:t>
            </a:r>
            <a:r>
              <a:rPr sz="900" spc="-15" dirty="0">
                <a:latin typeface="Arial"/>
                <a:cs typeface="Arial"/>
              </a:rPr>
              <a:t> </a:t>
            </a:r>
            <a:r>
              <a:rPr sz="900" dirty="0">
                <a:latin typeface="Arial"/>
                <a:cs typeface="Arial"/>
              </a:rPr>
              <a:t>that</a:t>
            </a:r>
            <a:r>
              <a:rPr sz="900" spc="-20" dirty="0">
                <a:latin typeface="Arial"/>
                <a:cs typeface="Arial"/>
              </a:rPr>
              <a:t> </a:t>
            </a:r>
            <a:r>
              <a:rPr sz="900" i="1" dirty="0">
                <a:latin typeface="Arial"/>
                <a:cs typeface="Arial"/>
              </a:rPr>
              <a:t>o</a:t>
            </a:r>
            <a:r>
              <a:rPr sz="1050" i="1" baseline="27777" dirty="0">
                <a:latin typeface="Arial"/>
                <a:cs typeface="Arial"/>
              </a:rPr>
              <a:t>2</a:t>
            </a:r>
            <a:r>
              <a:rPr sz="1050" i="1" spc="179" baseline="27777"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to</a:t>
            </a:r>
            <a:r>
              <a:rPr sz="900" spc="-15" dirty="0">
                <a:latin typeface="Arial"/>
                <a:cs typeface="Arial"/>
              </a:rPr>
              <a:t> </a:t>
            </a:r>
            <a:r>
              <a:rPr sz="900" dirty="0">
                <a:latin typeface="Arial"/>
                <a:cs typeface="Arial"/>
              </a:rPr>
              <a:t>be</a:t>
            </a:r>
            <a:r>
              <a:rPr sz="900" spc="-20" dirty="0">
                <a:latin typeface="Arial"/>
                <a:cs typeface="Arial"/>
              </a:rPr>
              <a:t> </a:t>
            </a:r>
            <a:r>
              <a:rPr sz="900" dirty="0">
                <a:latin typeface="Arial"/>
                <a:cs typeface="Arial"/>
              </a:rPr>
              <a:t>accepted,</a:t>
            </a:r>
            <a:r>
              <a:rPr sz="900" spc="-20" dirty="0">
                <a:latin typeface="Arial"/>
                <a:cs typeface="Arial"/>
              </a:rPr>
              <a:t> </a:t>
            </a:r>
            <a:r>
              <a:rPr sz="900" i="1" dirty="0">
                <a:latin typeface="Arial"/>
                <a:cs typeface="Arial"/>
              </a:rPr>
              <a:t>S</a:t>
            </a:r>
            <a:r>
              <a:rPr sz="1050" i="1" baseline="-15873" dirty="0">
                <a:latin typeface="Arial"/>
                <a:cs typeface="Arial"/>
              </a:rPr>
              <a:t>3</a:t>
            </a:r>
            <a:r>
              <a:rPr sz="1050" i="1" spc="172" baseline="-15873" dirty="0">
                <a:latin typeface="Arial"/>
                <a:cs typeface="Arial"/>
              </a:rPr>
              <a:t> </a:t>
            </a:r>
            <a:r>
              <a:rPr sz="900" dirty="0">
                <a:latin typeface="Arial"/>
                <a:cs typeface="Arial"/>
              </a:rPr>
              <a:t>will</a:t>
            </a:r>
            <a:r>
              <a:rPr sz="900" spc="-15" dirty="0">
                <a:latin typeface="Arial"/>
                <a:cs typeface="Arial"/>
              </a:rPr>
              <a:t> </a:t>
            </a:r>
            <a:r>
              <a:rPr sz="900" dirty="0">
                <a:latin typeface="Arial"/>
                <a:cs typeface="Arial"/>
              </a:rPr>
              <a:t>notice</a:t>
            </a:r>
            <a:r>
              <a:rPr sz="900" spc="-20" dirty="0">
                <a:latin typeface="Arial"/>
                <a:cs typeface="Arial"/>
              </a:rPr>
              <a:t> </a:t>
            </a:r>
            <a:r>
              <a:rPr sz="900" dirty="0">
                <a:latin typeface="Arial"/>
                <a:cs typeface="Arial"/>
              </a:rPr>
              <a:t>that</a:t>
            </a:r>
            <a:r>
              <a:rPr sz="900" spc="-20" dirty="0">
                <a:latin typeface="Arial"/>
                <a:cs typeface="Arial"/>
              </a:rPr>
              <a:t> </a:t>
            </a:r>
            <a:r>
              <a:rPr sz="900" spc="-25" dirty="0">
                <a:latin typeface="Arial"/>
                <a:cs typeface="Arial"/>
              </a:rPr>
              <a:t>it </a:t>
            </a:r>
            <a:r>
              <a:rPr sz="900" dirty="0">
                <a:latin typeface="Arial"/>
                <a:cs typeface="Arial"/>
              </a:rPr>
              <a:t>missed</a:t>
            </a:r>
            <a:r>
              <a:rPr sz="900" spc="-25" dirty="0">
                <a:latin typeface="Arial"/>
                <a:cs typeface="Arial"/>
              </a:rPr>
              <a:t> </a:t>
            </a:r>
            <a:r>
              <a:rPr sz="900" dirty="0">
                <a:latin typeface="Arial"/>
                <a:cs typeface="Arial"/>
              </a:rPr>
              <a:t>an</a:t>
            </a:r>
            <a:r>
              <a:rPr sz="900" spc="-20" dirty="0">
                <a:latin typeface="Arial"/>
                <a:cs typeface="Arial"/>
              </a:rPr>
              <a:t> </a:t>
            </a:r>
            <a:r>
              <a:rPr sz="900" dirty="0">
                <a:latin typeface="Arial"/>
                <a:cs typeface="Arial"/>
              </a:rPr>
              <a:t>operation</a:t>
            </a:r>
            <a:r>
              <a:rPr sz="900" spc="-25" dirty="0">
                <a:latin typeface="Arial"/>
                <a:cs typeface="Arial"/>
              </a:rPr>
              <a:t> </a:t>
            </a:r>
            <a:r>
              <a:rPr sz="900" dirty="0">
                <a:latin typeface="Arial"/>
                <a:cs typeface="Arial"/>
              </a:rPr>
              <a:t>and</a:t>
            </a:r>
            <a:r>
              <a:rPr sz="900" spc="-20" dirty="0">
                <a:latin typeface="Arial"/>
                <a:cs typeface="Arial"/>
              </a:rPr>
              <a:t> </a:t>
            </a:r>
            <a:r>
              <a:rPr sz="900" dirty="0">
                <a:latin typeface="Arial"/>
                <a:cs typeface="Arial"/>
              </a:rPr>
              <a:t>can</a:t>
            </a:r>
            <a:r>
              <a:rPr sz="900" spc="-25" dirty="0">
                <a:latin typeface="Arial"/>
                <a:cs typeface="Arial"/>
              </a:rPr>
              <a:t> </a:t>
            </a:r>
            <a:r>
              <a:rPr sz="900" dirty="0">
                <a:latin typeface="Arial"/>
                <a:cs typeface="Arial"/>
              </a:rPr>
              <a:t>ask</a:t>
            </a:r>
            <a:r>
              <a:rPr sz="900" spc="-25" dirty="0">
                <a:latin typeface="Arial"/>
                <a:cs typeface="Arial"/>
              </a:rPr>
              <a:t> </a:t>
            </a:r>
            <a:r>
              <a:rPr sz="900" i="1" dirty="0">
                <a:latin typeface="Arial"/>
                <a:cs typeface="Arial"/>
              </a:rPr>
              <a:t>S</a:t>
            </a:r>
            <a:r>
              <a:rPr sz="1050" i="1" baseline="-15873" dirty="0">
                <a:latin typeface="Arial"/>
                <a:cs typeface="Arial"/>
              </a:rPr>
              <a:t>2</a:t>
            </a:r>
            <a:r>
              <a:rPr sz="1050" i="1" spc="179" baseline="-15873"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help</a:t>
            </a:r>
            <a:r>
              <a:rPr sz="900" spc="-20" dirty="0">
                <a:latin typeface="Arial"/>
                <a:cs typeface="Arial"/>
              </a:rPr>
              <a:t> </a:t>
            </a:r>
            <a:r>
              <a:rPr sz="900" spc="-10" dirty="0">
                <a:latin typeface="Arial"/>
                <a:cs typeface="Arial"/>
              </a:rPr>
              <a:t>recover.</a:t>
            </a:r>
            <a:endParaRPr sz="900">
              <a:latin typeface="Arial"/>
              <a:cs typeface="Arial"/>
            </a:endParaRPr>
          </a:p>
          <a:p>
            <a:pPr marL="28575">
              <a:lnSpc>
                <a:spcPct val="100000"/>
              </a:lnSpc>
              <a:spcBef>
                <a:spcPts val="815"/>
              </a:spcBef>
            </a:pPr>
            <a:r>
              <a:rPr sz="1000" i="1" dirty="0">
                <a:solidFill>
                  <a:srgbClr val="3333B2"/>
                </a:solidFill>
                <a:latin typeface="Arial"/>
                <a:cs typeface="Arial"/>
              </a:rPr>
              <a:t>S</a:t>
            </a:r>
            <a:r>
              <a:rPr sz="1050" i="1" baseline="-15873" dirty="0">
                <a:solidFill>
                  <a:srgbClr val="3333B2"/>
                </a:solidFill>
                <a:latin typeface="Arial"/>
                <a:cs typeface="Arial"/>
              </a:rPr>
              <a:t>2</a:t>
            </a:r>
            <a:r>
              <a:rPr sz="1050" i="1" spc="405" baseline="-15873" dirty="0">
                <a:solidFill>
                  <a:srgbClr val="3333B2"/>
                </a:solidFill>
                <a:latin typeface="Arial"/>
                <a:cs typeface="Arial"/>
              </a:rPr>
              <a:t> </a:t>
            </a:r>
            <a:r>
              <a:rPr sz="1000" dirty="0">
                <a:solidFill>
                  <a:srgbClr val="3333B2"/>
                </a:solidFill>
                <a:latin typeface="Arial"/>
                <a:cs typeface="Arial"/>
              </a:rPr>
              <a:t>had</a:t>
            </a:r>
            <a:r>
              <a:rPr sz="1000" spc="70" dirty="0">
                <a:solidFill>
                  <a:srgbClr val="3333B2"/>
                </a:solidFill>
                <a:latin typeface="Arial"/>
                <a:cs typeface="Arial"/>
              </a:rPr>
              <a:t> </a:t>
            </a:r>
            <a:r>
              <a:rPr sz="1000" dirty="0">
                <a:solidFill>
                  <a:srgbClr val="3333B2"/>
                </a:solidFill>
                <a:latin typeface="Arial"/>
                <a:cs typeface="Arial"/>
              </a:rPr>
              <a:t>missed</a:t>
            </a:r>
            <a:r>
              <a:rPr sz="1000" spc="105" dirty="0">
                <a:solidFill>
                  <a:srgbClr val="3333B2"/>
                </a:solidFill>
                <a:latin typeface="Arial"/>
                <a:cs typeface="Arial"/>
              </a:rPr>
              <a:t> </a:t>
            </a:r>
            <a:r>
              <a:rPr sz="800" dirty="0">
                <a:solidFill>
                  <a:srgbClr val="3333B2"/>
                </a:solidFill>
                <a:latin typeface="Arial"/>
                <a:cs typeface="Arial"/>
              </a:rPr>
              <a:t>ACCEPT</a:t>
            </a:r>
            <a:r>
              <a:rPr sz="1000" dirty="0">
                <a:solidFill>
                  <a:srgbClr val="3333B2"/>
                </a:solidFill>
                <a:latin typeface="Arial"/>
                <a:cs typeface="Arial"/>
              </a:rPr>
              <a:t>(</a:t>
            </a:r>
            <a:r>
              <a:rPr sz="1000" i="1" dirty="0">
                <a:solidFill>
                  <a:srgbClr val="3333B2"/>
                </a:solidFill>
                <a:latin typeface="Arial"/>
                <a:cs typeface="Arial"/>
              </a:rPr>
              <a:t>o</a:t>
            </a:r>
            <a:r>
              <a:rPr sz="1050" i="1" baseline="27777" dirty="0">
                <a:solidFill>
                  <a:srgbClr val="3333B2"/>
                </a:solidFill>
                <a:latin typeface="Arial"/>
                <a:cs typeface="Arial"/>
              </a:rPr>
              <a:t>1</a:t>
            </a:r>
            <a:r>
              <a:rPr sz="1000" i="1" dirty="0">
                <a:solidFill>
                  <a:srgbClr val="3333B2"/>
                </a:solidFill>
                <a:latin typeface="Arial"/>
                <a:cs typeface="Arial"/>
              </a:rPr>
              <a:t>,</a:t>
            </a:r>
            <a:r>
              <a:rPr sz="1000" i="1" spc="-140" dirty="0">
                <a:solidFill>
                  <a:srgbClr val="3333B2"/>
                </a:solidFill>
                <a:latin typeface="Arial"/>
                <a:cs typeface="Arial"/>
              </a:rPr>
              <a:t> </a:t>
            </a:r>
            <a:r>
              <a:rPr sz="1000" spc="-25" dirty="0">
                <a:solidFill>
                  <a:srgbClr val="3333B2"/>
                </a:solidFill>
                <a:latin typeface="Arial"/>
                <a:cs typeface="Arial"/>
              </a:rPr>
              <a:t>1)</a:t>
            </a:r>
            <a:endParaRPr sz="1000">
              <a:latin typeface="Arial"/>
              <a:cs typeface="Arial"/>
            </a:endParaRPr>
          </a:p>
          <a:p>
            <a:pPr marL="28575" marR="175260" indent="-3810">
              <a:lnSpc>
                <a:spcPct val="111600"/>
              </a:lnSpc>
              <a:spcBef>
                <a:spcPts val="210"/>
              </a:spcBef>
            </a:pPr>
            <a:r>
              <a:rPr sz="900" dirty="0">
                <a:latin typeface="Arial"/>
                <a:cs typeface="Arial"/>
              </a:rPr>
              <a:t>As</a:t>
            </a:r>
            <a:r>
              <a:rPr sz="900" spc="-25" dirty="0">
                <a:latin typeface="Arial"/>
                <a:cs typeface="Arial"/>
              </a:rPr>
              <a:t> </a:t>
            </a:r>
            <a:r>
              <a:rPr sz="900" dirty="0">
                <a:latin typeface="Arial"/>
                <a:cs typeface="Arial"/>
              </a:rPr>
              <a:t>soon</a:t>
            </a:r>
            <a:r>
              <a:rPr sz="900" spc="-20" dirty="0">
                <a:latin typeface="Arial"/>
                <a:cs typeface="Arial"/>
              </a:rPr>
              <a:t> </a:t>
            </a:r>
            <a:r>
              <a:rPr sz="900" dirty="0">
                <a:latin typeface="Arial"/>
                <a:cs typeface="Arial"/>
              </a:rPr>
              <a:t>as</a:t>
            </a:r>
            <a:r>
              <a:rPr sz="900" spc="-20" dirty="0">
                <a:latin typeface="Arial"/>
                <a:cs typeface="Arial"/>
              </a:rPr>
              <a:t> </a:t>
            </a:r>
            <a:r>
              <a:rPr sz="900" i="1" dirty="0">
                <a:latin typeface="Arial"/>
                <a:cs typeface="Arial"/>
              </a:rPr>
              <a:t>S</a:t>
            </a:r>
            <a:r>
              <a:rPr sz="1050" i="1" baseline="-15873" dirty="0">
                <a:latin typeface="Arial"/>
                <a:cs typeface="Arial"/>
              </a:rPr>
              <a:t>2</a:t>
            </a:r>
            <a:r>
              <a:rPr sz="1050" i="1" spc="172" baseline="-15873" dirty="0">
                <a:latin typeface="Arial"/>
                <a:cs typeface="Arial"/>
              </a:rPr>
              <a:t> </a:t>
            </a:r>
            <a:r>
              <a:rPr sz="900" dirty="0">
                <a:latin typeface="Arial"/>
                <a:cs typeface="Arial"/>
              </a:rPr>
              <a:t>proposes</a:t>
            </a:r>
            <a:r>
              <a:rPr sz="900" spc="-20" dirty="0">
                <a:latin typeface="Arial"/>
                <a:cs typeface="Arial"/>
              </a:rPr>
              <a:t> </a:t>
            </a:r>
            <a:r>
              <a:rPr sz="900" dirty="0">
                <a:latin typeface="Arial"/>
                <a:cs typeface="Arial"/>
              </a:rPr>
              <a:t>an</a:t>
            </a:r>
            <a:r>
              <a:rPr sz="900" spc="-20" dirty="0">
                <a:latin typeface="Arial"/>
                <a:cs typeface="Arial"/>
              </a:rPr>
              <a:t> </a:t>
            </a:r>
            <a:r>
              <a:rPr sz="900" dirty="0">
                <a:latin typeface="Arial"/>
                <a:cs typeface="Arial"/>
              </a:rPr>
              <a:t>operation,</a:t>
            </a:r>
            <a:r>
              <a:rPr sz="900" spc="-25" dirty="0">
                <a:latin typeface="Arial"/>
                <a:cs typeface="Arial"/>
              </a:rPr>
              <a:t> </a:t>
            </a:r>
            <a:r>
              <a:rPr sz="900" dirty="0">
                <a:latin typeface="Arial"/>
                <a:cs typeface="Arial"/>
              </a:rPr>
              <a:t>it</a:t>
            </a:r>
            <a:r>
              <a:rPr sz="900" spc="-20" dirty="0">
                <a:latin typeface="Arial"/>
                <a:cs typeface="Arial"/>
              </a:rPr>
              <a:t> </a:t>
            </a:r>
            <a:r>
              <a:rPr sz="900" dirty="0">
                <a:latin typeface="Arial"/>
                <a:cs typeface="Arial"/>
              </a:rPr>
              <a:t>will</a:t>
            </a:r>
            <a:r>
              <a:rPr sz="900" spc="-20" dirty="0">
                <a:latin typeface="Arial"/>
                <a:cs typeface="Arial"/>
              </a:rPr>
              <a:t> </a:t>
            </a:r>
            <a:r>
              <a:rPr sz="900" dirty="0">
                <a:latin typeface="Arial"/>
                <a:cs typeface="Arial"/>
              </a:rPr>
              <a:t>be</a:t>
            </a:r>
            <a:r>
              <a:rPr sz="900" spc="-20" dirty="0">
                <a:latin typeface="Arial"/>
                <a:cs typeface="Arial"/>
              </a:rPr>
              <a:t> </a:t>
            </a:r>
            <a:r>
              <a:rPr sz="900" dirty="0">
                <a:latin typeface="Arial"/>
                <a:cs typeface="Arial"/>
              </a:rPr>
              <a:t>using</a:t>
            </a:r>
            <a:r>
              <a:rPr sz="900" spc="-25"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stale</a:t>
            </a:r>
            <a:r>
              <a:rPr sz="900" spc="-20" dirty="0">
                <a:latin typeface="Arial"/>
                <a:cs typeface="Arial"/>
              </a:rPr>
              <a:t> </a:t>
            </a:r>
            <a:r>
              <a:rPr sz="900" spc="-10" dirty="0">
                <a:latin typeface="Arial"/>
                <a:cs typeface="Arial"/>
              </a:rPr>
              <a:t>timestamp, </a:t>
            </a:r>
            <a:r>
              <a:rPr sz="900" dirty="0">
                <a:latin typeface="Arial"/>
                <a:cs typeface="Arial"/>
              </a:rPr>
              <a:t>allowing</a:t>
            </a:r>
            <a:r>
              <a:rPr sz="900" spc="-25" dirty="0">
                <a:latin typeface="Arial"/>
                <a:cs typeface="Arial"/>
              </a:rPr>
              <a:t> </a:t>
            </a:r>
            <a:r>
              <a:rPr sz="900" i="1" dirty="0">
                <a:latin typeface="Arial"/>
                <a:cs typeface="Arial"/>
              </a:rPr>
              <a:t>S</a:t>
            </a:r>
            <a:r>
              <a:rPr sz="1050" i="1" baseline="-15873" dirty="0">
                <a:latin typeface="Arial"/>
                <a:cs typeface="Arial"/>
              </a:rPr>
              <a:t>3</a:t>
            </a:r>
            <a:r>
              <a:rPr sz="1050" i="1" spc="157" baseline="-15873"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tell</a:t>
            </a:r>
            <a:r>
              <a:rPr sz="900" spc="-25" dirty="0">
                <a:latin typeface="Arial"/>
                <a:cs typeface="Arial"/>
              </a:rPr>
              <a:t> </a:t>
            </a:r>
            <a:r>
              <a:rPr sz="900" i="1" dirty="0">
                <a:latin typeface="Arial"/>
                <a:cs typeface="Arial"/>
              </a:rPr>
              <a:t>S</a:t>
            </a:r>
            <a:r>
              <a:rPr sz="1050" i="1" baseline="-15873" dirty="0">
                <a:latin typeface="Arial"/>
                <a:cs typeface="Arial"/>
              </a:rPr>
              <a:t>2</a:t>
            </a:r>
            <a:r>
              <a:rPr sz="1050" i="1" spc="172" baseline="-15873"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it</a:t>
            </a:r>
            <a:r>
              <a:rPr sz="900" spc="-25" dirty="0">
                <a:latin typeface="Arial"/>
                <a:cs typeface="Arial"/>
              </a:rPr>
              <a:t> </a:t>
            </a:r>
            <a:r>
              <a:rPr sz="900" dirty="0">
                <a:latin typeface="Arial"/>
                <a:cs typeface="Arial"/>
              </a:rPr>
              <a:t>missed</a:t>
            </a:r>
            <a:r>
              <a:rPr sz="900" spc="-25" dirty="0">
                <a:latin typeface="Arial"/>
                <a:cs typeface="Arial"/>
              </a:rPr>
              <a:t> </a:t>
            </a:r>
            <a:r>
              <a:rPr sz="900" dirty="0">
                <a:latin typeface="Arial"/>
                <a:cs typeface="Arial"/>
              </a:rPr>
              <a:t>operation</a:t>
            </a:r>
            <a:r>
              <a:rPr sz="900" spc="-25" dirty="0">
                <a:latin typeface="Arial"/>
                <a:cs typeface="Arial"/>
              </a:rPr>
              <a:t> </a:t>
            </a:r>
            <a:r>
              <a:rPr sz="900" i="1" spc="-25" dirty="0">
                <a:latin typeface="Arial"/>
                <a:cs typeface="Arial"/>
              </a:rPr>
              <a:t>o</a:t>
            </a:r>
            <a:r>
              <a:rPr sz="1050" i="1" spc="-37" baseline="27777" dirty="0">
                <a:latin typeface="Arial"/>
                <a:cs typeface="Arial"/>
              </a:rPr>
              <a:t>1</a:t>
            </a:r>
            <a:r>
              <a:rPr sz="900" spc="-25" dirty="0">
                <a:latin typeface="Arial"/>
                <a:cs typeface="Arial"/>
              </a:rPr>
              <a:t>.</a:t>
            </a:r>
            <a:endParaRPr sz="900">
              <a:latin typeface="Arial"/>
              <a:cs typeface="Arial"/>
            </a:endParaRPr>
          </a:p>
          <a:p>
            <a:pPr marL="28575">
              <a:lnSpc>
                <a:spcPct val="100000"/>
              </a:lnSpc>
              <a:spcBef>
                <a:spcPts val="815"/>
              </a:spcBef>
            </a:pPr>
            <a:r>
              <a:rPr sz="1000" spc="-10" dirty="0">
                <a:solidFill>
                  <a:srgbClr val="C80000"/>
                </a:solidFill>
                <a:latin typeface="Arial"/>
                <a:cs typeface="Arial"/>
              </a:rPr>
              <a:t>Observation</a:t>
            </a:r>
            <a:endParaRPr sz="1000">
              <a:latin typeface="Arial"/>
              <a:cs typeface="Arial"/>
            </a:endParaRPr>
          </a:p>
          <a:p>
            <a:pPr marL="28575" marR="17780">
              <a:lnSpc>
                <a:spcPts val="1210"/>
              </a:lnSpc>
              <a:spcBef>
                <a:spcPts val="35"/>
              </a:spcBef>
            </a:pPr>
            <a:r>
              <a:rPr sz="900" spc="-10" dirty="0">
                <a:latin typeface="Arial"/>
                <a:cs typeface="Arial"/>
              </a:rPr>
              <a:t>Paxos</a:t>
            </a:r>
            <a:r>
              <a:rPr sz="900" spc="-30" dirty="0">
                <a:latin typeface="Arial"/>
                <a:cs typeface="Arial"/>
              </a:rPr>
              <a:t> </a:t>
            </a:r>
            <a:r>
              <a:rPr sz="900" dirty="0">
                <a:latin typeface="Arial"/>
                <a:cs typeface="Arial"/>
              </a:rPr>
              <a:t>(with</a:t>
            </a:r>
            <a:r>
              <a:rPr sz="900" spc="-25" dirty="0">
                <a:latin typeface="Arial"/>
                <a:cs typeface="Arial"/>
              </a:rPr>
              <a:t> </a:t>
            </a:r>
            <a:r>
              <a:rPr sz="900" dirty="0">
                <a:latin typeface="Arial"/>
                <a:cs typeface="Arial"/>
              </a:rPr>
              <a:t>three</a:t>
            </a:r>
            <a:r>
              <a:rPr sz="900" spc="-25" dirty="0">
                <a:latin typeface="Arial"/>
                <a:cs typeface="Arial"/>
              </a:rPr>
              <a:t> </a:t>
            </a:r>
            <a:r>
              <a:rPr sz="900" dirty="0">
                <a:latin typeface="Arial"/>
                <a:cs typeface="Arial"/>
              </a:rPr>
              <a:t>servers)</a:t>
            </a:r>
            <a:r>
              <a:rPr sz="900" spc="-25" dirty="0">
                <a:latin typeface="Arial"/>
                <a:cs typeface="Arial"/>
              </a:rPr>
              <a:t> </a:t>
            </a:r>
            <a:r>
              <a:rPr sz="900" spc="-10" dirty="0">
                <a:latin typeface="Arial"/>
                <a:cs typeface="Arial"/>
              </a:rPr>
              <a:t>behaves</a:t>
            </a:r>
            <a:r>
              <a:rPr sz="900" spc="-25" dirty="0">
                <a:latin typeface="Arial"/>
                <a:cs typeface="Arial"/>
              </a:rPr>
              <a:t> </a:t>
            </a:r>
            <a:r>
              <a:rPr sz="900" dirty="0">
                <a:latin typeface="Arial"/>
                <a:cs typeface="Arial"/>
              </a:rPr>
              <a:t>correctly</a:t>
            </a:r>
            <a:r>
              <a:rPr sz="900" spc="-25" dirty="0">
                <a:latin typeface="Arial"/>
                <a:cs typeface="Arial"/>
              </a:rPr>
              <a:t> </a:t>
            </a:r>
            <a:r>
              <a:rPr sz="900" dirty="0">
                <a:latin typeface="Arial"/>
                <a:cs typeface="Arial"/>
              </a:rPr>
              <a:t>when</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single</a:t>
            </a:r>
            <a:r>
              <a:rPr sz="900" spc="-25" dirty="0">
                <a:latin typeface="Arial"/>
                <a:cs typeface="Arial"/>
              </a:rPr>
              <a:t> </a:t>
            </a:r>
            <a:r>
              <a:rPr sz="900" dirty="0">
                <a:latin typeface="Arial"/>
                <a:cs typeface="Arial"/>
              </a:rPr>
              <a:t>server</a:t>
            </a:r>
            <a:r>
              <a:rPr sz="900" spc="-30" dirty="0">
                <a:latin typeface="Arial"/>
                <a:cs typeface="Arial"/>
              </a:rPr>
              <a:t> </a:t>
            </a:r>
            <a:r>
              <a:rPr sz="900" spc="-10" dirty="0">
                <a:latin typeface="Arial"/>
                <a:cs typeface="Arial"/>
              </a:rPr>
              <a:t>crashes, </a:t>
            </a:r>
            <a:r>
              <a:rPr sz="900" dirty="0">
                <a:latin typeface="Arial"/>
                <a:cs typeface="Arial"/>
              </a:rPr>
              <a:t>regardless</a:t>
            </a:r>
            <a:r>
              <a:rPr sz="900" spc="-35" dirty="0">
                <a:latin typeface="Arial"/>
                <a:cs typeface="Arial"/>
              </a:rPr>
              <a:t> </a:t>
            </a:r>
            <a:r>
              <a:rPr sz="900" dirty="0">
                <a:latin typeface="Arial"/>
                <a:cs typeface="Arial"/>
              </a:rPr>
              <a:t>when</a:t>
            </a:r>
            <a:r>
              <a:rPr sz="900" spc="-30" dirty="0">
                <a:latin typeface="Arial"/>
                <a:cs typeface="Arial"/>
              </a:rPr>
              <a:t> </a:t>
            </a:r>
            <a:r>
              <a:rPr sz="900" dirty="0">
                <a:latin typeface="Arial"/>
                <a:cs typeface="Arial"/>
              </a:rPr>
              <a:t>that</a:t>
            </a:r>
            <a:r>
              <a:rPr sz="900" spc="-30" dirty="0">
                <a:latin typeface="Arial"/>
                <a:cs typeface="Arial"/>
              </a:rPr>
              <a:t> </a:t>
            </a:r>
            <a:r>
              <a:rPr sz="900" dirty="0">
                <a:latin typeface="Arial"/>
                <a:cs typeface="Arial"/>
              </a:rPr>
              <a:t>crash</a:t>
            </a:r>
            <a:r>
              <a:rPr sz="900" spc="-30" dirty="0">
                <a:latin typeface="Arial"/>
                <a:cs typeface="Arial"/>
              </a:rPr>
              <a:t> </a:t>
            </a:r>
            <a:r>
              <a:rPr sz="900" dirty="0">
                <a:latin typeface="Arial"/>
                <a:cs typeface="Arial"/>
              </a:rPr>
              <a:t>took</a:t>
            </a:r>
            <a:r>
              <a:rPr sz="900" spc="-30" dirty="0">
                <a:latin typeface="Arial"/>
                <a:cs typeface="Arial"/>
              </a:rPr>
              <a:t> </a:t>
            </a:r>
            <a:r>
              <a:rPr sz="900" spc="-10" dirty="0">
                <a:latin typeface="Arial"/>
                <a:cs typeface="Arial"/>
              </a:rPr>
              <a:t>place.</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484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Example:</a:t>
            </a:r>
            <a:r>
              <a:rPr sz="500" spc="5" dirty="0">
                <a:latin typeface="Arial"/>
                <a:cs typeface="Arial"/>
                <a:hlinkClick r:id="rId4" action="ppaction://hlinksldjump"/>
              </a:rPr>
              <a:t> </a:t>
            </a:r>
            <a:r>
              <a:rPr sz="500" spc="-10" dirty="0">
                <a:latin typeface="Arial"/>
                <a:cs typeface="Arial"/>
                <a:hlinkClick r:id="rId4" action="ppaction://hlinksldjump"/>
              </a:rPr>
              <a:t>Paxos</a:t>
            </a:r>
            <a:endParaRPr sz="500">
              <a:latin typeface="Arial"/>
              <a:cs typeface="Arial"/>
            </a:endParaRPr>
          </a:p>
        </p:txBody>
      </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95300" y="197711"/>
            <a:ext cx="1535430" cy="207645"/>
          </a:xfrm>
          <a:prstGeom prst="rect">
            <a:avLst/>
          </a:prstGeom>
        </p:spPr>
        <p:txBody>
          <a:bodyPr vert="horz" wrap="square" lIns="0" tIns="12065" rIns="0" bIns="0" rtlCol="0">
            <a:spAutoFit/>
          </a:bodyPr>
          <a:lstStyle/>
          <a:p>
            <a:pPr marL="12700">
              <a:lnSpc>
                <a:spcPct val="100000"/>
              </a:lnSpc>
              <a:spcBef>
                <a:spcPts val="95"/>
              </a:spcBef>
            </a:pPr>
            <a:r>
              <a:rPr sz="1200" spc="-10" dirty="0">
                <a:solidFill>
                  <a:srgbClr val="3333B2"/>
                </a:solidFill>
                <a:latin typeface="Arial"/>
                <a:cs typeface="Arial"/>
              </a:rPr>
              <a:t>False</a:t>
            </a:r>
            <a:r>
              <a:rPr sz="1200" spc="-50" dirty="0">
                <a:solidFill>
                  <a:srgbClr val="3333B2"/>
                </a:solidFill>
                <a:latin typeface="Arial"/>
                <a:cs typeface="Arial"/>
              </a:rPr>
              <a:t> </a:t>
            </a:r>
            <a:r>
              <a:rPr sz="1200" dirty="0">
                <a:solidFill>
                  <a:srgbClr val="3333B2"/>
                </a:solidFill>
                <a:latin typeface="Arial"/>
                <a:cs typeface="Arial"/>
              </a:rPr>
              <a:t>crash</a:t>
            </a:r>
            <a:r>
              <a:rPr sz="1200" spc="-45" dirty="0">
                <a:solidFill>
                  <a:srgbClr val="3333B2"/>
                </a:solidFill>
                <a:latin typeface="Arial"/>
                <a:cs typeface="Arial"/>
              </a:rPr>
              <a:t> </a:t>
            </a:r>
            <a:r>
              <a:rPr sz="1200" spc="-10" dirty="0">
                <a:solidFill>
                  <a:srgbClr val="3333B2"/>
                </a:solidFill>
                <a:latin typeface="Arial"/>
                <a:cs typeface="Arial"/>
              </a:rPr>
              <a:t>detections</a:t>
            </a:r>
            <a:endParaRPr sz="1200">
              <a:latin typeface="Arial"/>
              <a:cs typeface="Arial"/>
            </a:endParaRPr>
          </a:p>
        </p:txBody>
      </p:sp>
      <p:pic>
        <p:nvPicPr>
          <p:cNvPr id="6" name="object 6"/>
          <p:cNvPicPr/>
          <p:nvPr/>
        </p:nvPicPr>
        <p:blipFill>
          <a:blip r:embed="rId4" cstate="print"/>
          <a:stretch>
            <a:fillRect/>
          </a:stretch>
        </p:blipFill>
        <p:spPr>
          <a:xfrm>
            <a:off x="399494" y="481917"/>
            <a:ext cx="3840617" cy="1730554"/>
          </a:xfrm>
          <a:prstGeom prst="rect">
            <a:avLst/>
          </a:prstGeom>
        </p:spPr>
      </p:pic>
      <p:sp>
        <p:nvSpPr>
          <p:cNvPr id="7" name="object 7"/>
          <p:cNvSpPr txBox="1"/>
          <p:nvPr/>
        </p:nvSpPr>
        <p:spPr>
          <a:xfrm>
            <a:off x="321894" y="2442589"/>
            <a:ext cx="3964304" cy="649605"/>
          </a:xfrm>
          <a:prstGeom prst="rect">
            <a:avLst/>
          </a:prstGeom>
        </p:spPr>
        <p:txBody>
          <a:bodyPr vert="horz" wrap="square" lIns="0" tIns="27305" rIns="0" bIns="0" rtlCol="0">
            <a:spAutoFit/>
          </a:bodyPr>
          <a:lstStyle/>
          <a:p>
            <a:pPr marL="38100">
              <a:lnSpc>
                <a:spcPct val="100000"/>
              </a:lnSpc>
              <a:spcBef>
                <a:spcPts val="215"/>
              </a:spcBef>
            </a:pPr>
            <a:r>
              <a:rPr sz="1000" dirty="0">
                <a:solidFill>
                  <a:srgbClr val="3333B2"/>
                </a:solidFill>
                <a:latin typeface="Arial"/>
                <a:cs typeface="Arial"/>
              </a:rPr>
              <a:t>Problem</a:t>
            </a:r>
            <a:r>
              <a:rPr sz="1000" spc="-45" dirty="0">
                <a:solidFill>
                  <a:srgbClr val="3333B2"/>
                </a:solidFill>
                <a:latin typeface="Arial"/>
                <a:cs typeface="Arial"/>
              </a:rPr>
              <a:t> </a:t>
            </a:r>
            <a:r>
              <a:rPr sz="1000" dirty="0">
                <a:solidFill>
                  <a:srgbClr val="3333B2"/>
                </a:solidFill>
                <a:latin typeface="Arial"/>
                <a:cs typeface="Arial"/>
              </a:rPr>
              <a:t>and</a:t>
            </a:r>
            <a:r>
              <a:rPr sz="1000" spc="-40" dirty="0">
                <a:solidFill>
                  <a:srgbClr val="3333B2"/>
                </a:solidFill>
                <a:latin typeface="Arial"/>
                <a:cs typeface="Arial"/>
              </a:rPr>
              <a:t> </a:t>
            </a:r>
            <a:r>
              <a:rPr sz="1000" spc="-10" dirty="0">
                <a:solidFill>
                  <a:srgbClr val="3333B2"/>
                </a:solidFill>
                <a:latin typeface="Arial"/>
                <a:cs typeface="Arial"/>
              </a:rPr>
              <a:t>solution</a:t>
            </a:r>
            <a:endParaRPr sz="1000">
              <a:latin typeface="Arial"/>
              <a:cs typeface="Arial"/>
            </a:endParaRPr>
          </a:p>
          <a:p>
            <a:pPr marL="38100" marR="30480">
              <a:lnSpc>
                <a:spcPts val="1210"/>
              </a:lnSpc>
              <a:spcBef>
                <a:spcPts val="35"/>
              </a:spcBef>
            </a:pPr>
            <a:r>
              <a:rPr sz="900" i="1" dirty="0">
                <a:latin typeface="Arial"/>
                <a:cs typeface="Arial"/>
              </a:rPr>
              <a:t>S</a:t>
            </a:r>
            <a:r>
              <a:rPr sz="1050" i="1" baseline="-15873" dirty="0">
                <a:latin typeface="Arial"/>
                <a:cs typeface="Arial"/>
              </a:rPr>
              <a:t>3</a:t>
            </a:r>
            <a:r>
              <a:rPr sz="1050" i="1" spc="292" baseline="-15873" dirty="0">
                <a:latin typeface="Arial"/>
                <a:cs typeface="Arial"/>
              </a:rPr>
              <a:t> </a:t>
            </a:r>
            <a:r>
              <a:rPr sz="900" dirty="0">
                <a:latin typeface="Arial"/>
                <a:cs typeface="Arial"/>
              </a:rPr>
              <a:t>receives</a:t>
            </a:r>
            <a:r>
              <a:rPr sz="900" spc="70" dirty="0">
                <a:latin typeface="Arial"/>
                <a:cs typeface="Arial"/>
              </a:rPr>
              <a:t> </a:t>
            </a:r>
            <a:r>
              <a:rPr sz="700" dirty="0">
                <a:latin typeface="Arial"/>
                <a:cs typeface="Arial"/>
              </a:rPr>
              <a:t>ACCEPT</a:t>
            </a:r>
            <a:r>
              <a:rPr sz="900" dirty="0">
                <a:latin typeface="Arial"/>
                <a:cs typeface="Arial"/>
              </a:rPr>
              <a:t>(</a:t>
            </a:r>
            <a:r>
              <a:rPr sz="900" i="1" dirty="0">
                <a:latin typeface="Arial"/>
                <a:cs typeface="Arial"/>
              </a:rPr>
              <a:t>o</a:t>
            </a:r>
            <a:r>
              <a:rPr sz="1050" i="1" baseline="27777" dirty="0">
                <a:latin typeface="Arial"/>
                <a:cs typeface="Arial"/>
              </a:rPr>
              <a:t>1</a:t>
            </a:r>
            <a:r>
              <a:rPr sz="900" i="1" dirty="0">
                <a:latin typeface="Arial"/>
                <a:cs typeface="Arial"/>
              </a:rPr>
              <a:t>,</a:t>
            </a:r>
            <a:r>
              <a:rPr sz="900" i="1" spc="-140" dirty="0">
                <a:latin typeface="Arial"/>
                <a:cs typeface="Arial"/>
              </a:rPr>
              <a:t> </a:t>
            </a:r>
            <a:r>
              <a:rPr sz="900" dirty="0">
                <a:latin typeface="Arial"/>
                <a:cs typeface="Arial"/>
              </a:rPr>
              <a:t>1),</a:t>
            </a:r>
            <a:r>
              <a:rPr sz="900" spc="40" dirty="0">
                <a:latin typeface="Arial"/>
                <a:cs typeface="Arial"/>
              </a:rPr>
              <a:t> </a:t>
            </a:r>
            <a:r>
              <a:rPr sz="900" dirty="0">
                <a:latin typeface="Arial"/>
                <a:cs typeface="Arial"/>
              </a:rPr>
              <a:t>but</a:t>
            </a:r>
            <a:r>
              <a:rPr sz="900" spc="45" dirty="0">
                <a:latin typeface="Arial"/>
                <a:cs typeface="Arial"/>
              </a:rPr>
              <a:t> </a:t>
            </a:r>
            <a:r>
              <a:rPr sz="900" dirty="0">
                <a:latin typeface="Arial"/>
                <a:cs typeface="Arial"/>
              </a:rPr>
              <a:t>much</a:t>
            </a:r>
            <a:r>
              <a:rPr sz="900" spc="40" dirty="0">
                <a:latin typeface="Arial"/>
                <a:cs typeface="Arial"/>
              </a:rPr>
              <a:t> </a:t>
            </a:r>
            <a:r>
              <a:rPr sz="900" dirty="0">
                <a:latin typeface="Arial"/>
                <a:cs typeface="Arial"/>
              </a:rPr>
              <a:t>later</a:t>
            </a:r>
            <a:r>
              <a:rPr sz="900" spc="40" dirty="0">
                <a:latin typeface="Arial"/>
                <a:cs typeface="Arial"/>
              </a:rPr>
              <a:t> </a:t>
            </a:r>
            <a:r>
              <a:rPr sz="900" dirty="0">
                <a:latin typeface="Arial"/>
                <a:cs typeface="Arial"/>
              </a:rPr>
              <a:t>than</a:t>
            </a:r>
            <a:r>
              <a:rPr sz="900" spc="70" dirty="0">
                <a:latin typeface="Arial"/>
                <a:cs typeface="Arial"/>
              </a:rPr>
              <a:t> </a:t>
            </a:r>
            <a:r>
              <a:rPr sz="700" dirty="0">
                <a:latin typeface="Arial"/>
                <a:cs typeface="Arial"/>
              </a:rPr>
              <a:t>ACCEPT</a:t>
            </a:r>
            <a:r>
              <a:rPr sz="900" dirty="0">
                <a:latin typeface="Arial"/>
                <a:cs typeface="Arial"/>
              </a:rPr>
              <a:t>(</a:t>
            </a:r>
            <a:r>
              <a:rPr sz="900" i="1" dirty="0">
                <a:latin typeface="Arial"/>
                <a:cs typeface="Arial"/>
              </a:rPr>
              <a:t>o</a:t>
            </a:r>
            <a:r>
              <a:rPr sz="1050" i="1" baseline="27777" dirty="0">
                <a:latin typeface="Arial"/>
                <a:cs typeface="Arial"/>
              </a:rPr>
              <a:t>2</a:t>
            </a:r>
            <a:r>
              <a:rPr sz="1050" i="1" spc="-135" baseline="27777" dirty="0">
                <a:latin typeface="Arial"/>
                <a:cs typeface="Arial"/>
              </a:rPr>
              <a:t> </a:t>
            </a:r>
            <a:r>
              <a:rPr sz="900" i="1" spc="-10" dirty="0">
                <a:latin typeface="Arial"/>
                <a:cs typeface="Arial"/>
              </a:rPr>
              <a:t>,</a:t>
            </a:r>
            <a:r>
              <a:rPr sz="900" i="1" spc="-135" dirty="0">
                <a:latin typeface="Arial"/>
                <a:cs typeface="Arial"/>
              </a:rPr>
              <a:t> </a:t>
            </a:r>
            <a:r>
              <a:rPr sz="900" dirty="0">
                <a:latin typeface="Arial"/>
                <a:cs typeface="Arial"/>
              </a:rPr>
              <a:t>1).</a:t>
            </a:r>
            <a:r>
              <a:rPr sz="900" spc="110" dirty="0">
                <a:latin typeface="Arial"/>
                <a:cs typeface="Arial"/>
              </a:rPr>
              <a:t> </a:t>
            </a:r>
            <a:r>
              <a:rPr sz="900" dirty="0">
                <a:latin typeface="Arial"/>
                <a:cs typeface="Arial"/>
              </a:rPr>
              <a:t>If</a:t>
            </a:r>
            <a:r>
              <a:rPr sz="900" spc="40" dirty="0">
                <a:latin typeface="Arial"/>
                <a:cs typeface="Arial"/>
              </a:rPr>
              <a:t> </a:t>
            </a:r>
            <a:r>
              <a:rPr sz="900" dirty="0">
                <a:latin typeface="Arial"/>
                <a:cs typeface="Arial"/>
              </a:rPr>
              <a:t>it</a:t>
            </a:r>
            <a:r>
              <a:rPr sz="900" spc="40" dirty="0">
                <a:latin typeface="Arial"/>
                <a:cs typeface="Arial"/>
              </a:rPr>
              <a:t> </a:t>
            </a:r>
            <a:r>
              <a:rPr sz="900" dirty="0">
                <a:latin typeface="Arial"/>
                <a:cs typeface="Arial"/>
              </a:rPr>
              <a:t>knew</a:t>
            </a:r>
            <a:r>
              <a:rPr sz="900" spc="45" dirty="0">
                <a:latin typeface="Arial"/>
                <a:cs typeface="Arial"/>
              </a:rPr>
              <a:t> </a:t>
            </a:r>
            <a:r>
              <a:rPr sz="900" spc="-25" dirty="0">
                <a:latin typeface="Arial"/>
                <a:cs typeface="Arial"/>
              </a:rPr>
              <a:t>who </a:t>
            </a:r>
            <a:r>
              <a:rPr sz="900" dirty="0">
                <a:latin typeface="Arial"/>
                <a:cs typeface="Arial"/>
              </a:rPr>
              <a:t>the</a:t>
            </a:r>
            <a:r>
              <a:rPr sz="900" spc="-35" dirty="0">
                <a:latin typeface="Arial"/>
                <a:cs typeface="Arial"/>
              </a:rPr>
              <a:t> </a:t>
            </a:r>
            <a:r>
              <a:rPr sz="900" dirty="0">
                <a:solidFill>
                  <a:srgbClr val="3333B2"/>
                </a:solidFill>
                <a:latin typeface="Arial"/>
                <a:cs typeface="Arial"/>
              </a:rPr>
              <a:t>current</a:t>
            </a:r>
            <a:r>
              <a:rPr sz="900" spc="-30" dirty="0">
                <a:solidFill>
                  <a:srgbClr val="3333B2"/>
                </a:solidFill>
                <a:latin typeface="Arial"/>
                <a:cs typeface="Arial"/>
              </a:rPr>
              <a:t> </a:t>
            </a:r>
            <a:r>
              <a:rPr sz="900" dirty="0">
                <a:latin typeface="Arial"/>
                <a:cs typeface="Arial"/>
              </a:rPr>
              <a:t>leader</a:t>
            </a:r>
            <a:r>
              <a:rPr sz="900" spc="-30" dirty="0">
                <a:latin typeface="Arial"/>
                <a:cs typeface="Arial"/>
              </a:rPr>
              <a:t> </a:t>
            </a:r>
            <a:r>
              <a:rPr sz="900" dirty="0">
                <a:latin typeface="Arial"/>
                <a:cs typeface="Arial"/>
              </a:rPr>
              <a:t>was,</a:t>
            </a:r>
            <a:r>
              <a:rPr sz="900" spc="-30" dirty="0">
                <a:latin typeface="Arial"/>
                <a:cs typeface="Arial"/>
              </a:rPr>
              <a:t> </a:t>
            </a:r>
            <a:r>
              <a:rPr sz="900" dirty="0">
                <a:latin typeface="Arial"/>
                <a:cs typeface="Arial"/>
              </a:rPr>
              <a:t>it</a:t>
            </a:r>
            <a:r>
              <a:rPr sz="900" spc="-30" dirty="0">
                <a:latin typeface="Arial"/>
                <a:cs typeface="Arial"/>
              </a:rPr>
              <a:t> </a:t>
            </a:r>
            <a:r>
              <a:rPr sz="900" dirty="0">
                <a:latin typeface="Arial"/>
                <a:cs typeface="Arial"/>
              </a:rPr>
              <a:t>could</a:t>
            </a:r>
            <a:r>
              <a:rPr sz="900" spc="-30" dirty="0">
                <a:latin typeface="Arial"/>
                <a:cs typeface="Arial"/>
              </a:rPr>
              <a:t> </a:t>
            </a:r>
            <a:r>
              <a:rPr sz="900" dirty="0">
                <a:latin typeface="Arial"/>
                <a:cs typeface="Arial"/>
              </a:rPr>
              <a:t>safely</a:t>
            </a:r>
            <a:r>
              <a:rPr sz="900" spc="-30" dirty="0">
                <a:latin typeface="Arial"/>
                <a:cs typeface="Arial"/>
              </a:rPr>
              <a:t> </a:t>
            </a:r>
            <a:r>
              <a:rPr sz="900" dirty="0">
                <a:latin typeface="Arial"/>
                <a:cs typeface="Arial"/>
              </a:rPr>
              <a:t>reject</a:t>
            </a:r>
            <a:r>
              <a:rPr sz="900" spc="-30" dirty="0">
                <a:latin typeface="Arial"/>
                <a:cs typeface="Arial"/>
              </a:rPr>
              <a:t> </a:t>
            </a:r>
            <a:r>
              <a:rPr sz="900" dirty="0">
                <a:latin typeface="Arial"/>
                <a:cs typeface="Arial"/>
              </a:rPr>
              <a:t>the</a:t>
            </a:r>
            <a:r>
              <a:rPr sz="900" spc="-30" dirty="0">
                <a:latin typeface="Arial"/>
                <a:cs typeface="Arial"/>
              </a:rPr>
              <a:t> </a:t>
            </a:r>
            <a:r>
              <a:rPr sz="900" spc="-10" dirty="0">
                <a:latin typeface="Arial"/>
                <a:cs typeface="Arial"/>
              </a:rPr>
              <a:t>delayed</a:t>
            </a:r>
            <a:r>
              <a:rPr sz="900" spc="-30" dirty="0">
                <a:latin typeface="Arial"/>
                <a:cs typeface="Arial"/>
              </a:rPr>
              <a:t> </a:t>
            </a:r>
            <a:r>
              <a:rPr sz="900" dirty="0">
                <a:latin typeface="Arial"/>
                <a:cs typeface="Arial"/>
              </a:rPr>
              <a:t>accept</a:t>
            </a:r>
            <a:r>
              <a:rPr sz="900" spc="-30" dirty="0">
                <a:latin typeface="Arial"/>
                <a:cs typeface="Arial"/>
              </a:rPr>
              <a:t> </a:t>
            </a:r>
            <a:r>
              <a:rPr sz="900" dirty="0">
                <a:latin typeface="Arial"/>
                <a:cs typeface="Arial"/>
              </a:rPr>
              <a:t>message</a:t>
            </a:r>
            <a:r>
              <a:rPr sz="900" spc="-30" dirty="0">
                <a:latin typeface="Arial"/>
                <a:cs typeface="Arial"/>
              </a:rPr>
              <a:t> </a:t>
            </a:r>
            <a:r>
              <a:rPr sz="900" i="1" spc="300" dirty="0">
                <a:latin typeface="Menlo"/>
                <a:cs typeface="Menlo"/>
              </a:rPr>
              <a:t>⇒ </a:t>
            </a:r>
            <a:r>
              <a:rPr sz="900" dirty="0">
                <a:latin typeface="Arial"/>
                <a:cs typeface="Arial"/>
              </a:rPr>
              <a:t>leaders</a:t>
            </a:r>
            <a:r>
              <a:rPr sz="900" spc="-25" dirty="0">
                <a:latin typeface="Arial"/>
                <a:cs typeface="Arial"/>
              </a:rPr>
              <a:t> </a:t>
            </a:r>
            <a:r>
              <a:rPr sz="900" dirty="0">
                <a:latin typeface="Arial"/>
                <a:cs typeface="Arial"/>
              </a:rPr>
              <a:t>should</a:t>
            </a:r>
            <a:r>
              <a:rPr sz="900" spc="-25" dirty="0">
                <a:latin typeface="Arial"/>
                <a:cs typeface="Arial"/>
              </a:rPr>
              <a:t> </a:t>
            </a:r>
            <a:r>
              <a:rPr sz="900" dirty="0">
                <a:latin typeface="Arial"/>
                <a:cs typeface="Arial"/>
              </a:rPr>
              <a:t>include</a:t>
            </a:r>
            <a:r>
              <a:rPr sz="900" spc="-25" dirty="0">
                <a:latin typeface="Arial"/>
                <a:cs typeface="Arial"/>
              </a:rPr>
              <a:t> </a:t>
            </a:r>
            <a:r>
              <a:rPr sz="900" dirty="0">
                <a:latin typeface="Arial"/>
                <a:cs typeface="Arial"/>
              </a:rPr>
              <a:t>their</a:t>
            </a:r>
            <a:r>
              <a:rPr sz="900" spc="-25" dirty="0">
                <a:latin typeface="Arial"/>
                <a:cs typeface="Arial"/>
              </a:rPr>
              <a:t> </a:t>
            </a:r>
            <a:r>
              <a:rPr sz="900" dirty="0">
                <a:latin typeface="Arial"/>
                <a:cs typeface="Arial"/>
              </a:rPr>
              <a:t>ID</a:t>
            </a:r>
            <a:r>
              <a:rPr sz="900" spc="-25" dirty="0">
                <a:latin typeface="Arial"/>
                <a:cs typeface="Arial"/>
              </a:rPr>
              <a:t> </a:t>
            </a:r>
            <a:r>
              <a:rPr sz="900" dirty="0">
                <a:latin typeface="Arial"/>
                <a:cs typeface="Arial"/>
              </a:rPr>
              <a:t>in</a:t>
            </a:r>
            <a:r>
              <a:rPr sz="900" spc="-25" dirty="0">
                <a:latin typeface="Arial"/>
                <a:cs typeface="Arial"/>
              </a:rPr>
              <a:t> </a:t>
            </a:r>
            <a:r>
              <a:rPr sz="900" spc="-10" dirty="0">
                <a:latin typeface="Arial"/>
                <a:cs typeface="Arial"/>
              </a:rPr>
              <a:t>messages.</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484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Example:</a:t>
            </a:r>
            <a:r>
              <a:rPr sz="500" spc="5" dirty="0">
                <a:latin typeface="Arial"/>
                <a:cs typeface="Arial"/>
                <a:hlinkClick r:id="rId5" action="ppaction://hlinksldjump"/>
              </a:rPr>
              <a:t> </a:t>
            </a:r>
            <a:r>
              <a:rPr sz="500" spc="-10" dirty="0">
                <a:latin typeface="Arial"/>
                <a:cs typeface="Arial"/>
                <a:hlinkClick r:id="rId5" action="ppaction://hlinksldjump"/>
              </a:rPr>
              <a:t>Paxos</a:t>
            </a:r>
            <a:endParaRPr sz="500">
              <a:latin typeface="Arial"/>
              <a:cs typeface="Arial"/>
            </a:endParaRPr>
          </a:p>
        </p:txBody>
      </p:sp>
    </p:spTree>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95300" y="197711"/>
            <a:ext cx="1754505"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But</a:t>
            </a:r>
            <a:r>
              <a:rPr sz="1200" spc="-30" dirty="0">
                <a:solidFill>
                  <a:srgbClr val="3333B2"/>
                </a:solidFill>
                <a:latin typeface="Arial"/>
                <a:cs typeface="Arial"/>
              </a:rPr>
              <a:t> </a:t>
            </a:r>
            <a:r>
              <a:rPr sz="1200" dirty="0">
                <a:solidFill>
                  <a:srgbClr val="3333B2"/>
                </a:solidFill>
                <a:latin typeface="Arial"/>
                <a:cs typeface="Arial"/>
              </a:rPr>
              <a:t>what</a:t>
            </a:r>
            <a:r>
              <a:rPr sz="1200" spc="-30" dirty="0">
                <a:solidFill>
                  <a:srgbClr val="3333B2"/>
                </a:solidFill>
                <a:latin typeface="Arial"/>
                <a:cs typeface="Arial"/>
              </a:rPr>
              <a:t> </a:t>
            </a:r>
            <a:r>
              <a:rPr sz="1200" dirty="0">
                <a:solidFill>
                  <a:srgbClr val="3333B2"/>
                </a:solidFill>
                <a:latin typeface="Arial"/>
                <a:cs typeface="Arial"/>
              </a:rPr>
              <a:t>about</a:t>
            </a:r>
            <a:r>
              <a:rPr sz="1200" spc="-30" dirty="0">
                <a:solidFill>
                  <a:srgbClr val="3333B2"/>
                </a:solidFill>
                <a:latin typeface="Arial"/>
                <a:cs typeface="Arial"/>
              </a:rPr>
              <a:t> </a:t>
            </a:r>
            <a:r>
              <a:rPr sz="1200" spc="-10" dirty="0">
                <a:solidFill>
                  <a:srgbClr val="3333B2"/>
                </a:solidFill>
                <a:latin typeface="Arial"/>
                <a:cs typeface="Arial"/>
              </a:rPr>
              <a:t>progress?</a:t>
            </a:r>
            <a:endParaRPr sz="1200">
              <a:latin typeface="Arial"/>
              <a:cs typeface="Arial"/>
            </a:endParaRPr>
          </a:p>
        </p:txBody>
      </p:sp>
      <p:pic>
        <p:nvPicPr>
          <p:cNvPr id="6" name="object 6"/>
          <p:cNvPicPr/>
          <p:nvPr/>
        </p:nvPicPr>
        <p:blipFill>
          <a:blip r:embed="rId4" cstate="print"/>
          <a:stretch>
            <a:fillRect/>
          </a:stretch>
        </p:blipFill>
        <p:spPr>
          <a:xfrm>
            <a:off x="533171" y="483172"/>
            <a:ext cx="3540511" cy="1499945"/>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484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Example:</a:t>
            </a:r>
            <a:r>
              <a:rPr sz="500" spc="5" dirty="0">
                <a:latin typeface="Arial"/>
                <a:cs typeface="Arial"/>
                <a:hlinkClick r:id="rId5" action="ppaction://hlinksldjump"/>
              </a:rPr>
              <a:t> </a:t>
            </a:r>
            <a:r>
              <a:rPr sz="500" spc="-10" dirty="0">
                <a:latin typeface="Arial"/>
                <a:cs typeface="Arial"/>
                <a:hlinkClick r:id="rId5" action="ppaction://hlinksldjump"/>
              </a:rPr>
              <a:t>Paxos</a:t>
            </a:r>
            <a:endParaRPr sz="500">
              <a:latin typeface="Arial"/>
              <a:cs typeface="Arial"/>
            </a:endParaRPr>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95300" y="197711"/>
            <a:ext cx="1754505"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But</a:t>
            </a:r>
            <a:r>
              <a:rPr sz="1200" spc="-30" dirty="0">
                <a:solidFill>
                  <a:srgbClr val="3333B2"/>
                </a:solidFill>
                <a:latin typeface="Arial"/>
                <a:cs typeface="Arial"/>
              </a:rPr>
              <a:t> </a:t>
            </a:r>
            <a:r>
              <a:rPr sz="1200" dirty="0">
                <a:solidFill>
                  <a:srgbClr val="3333B2"/>
                </a:solidFill>
                <a:latin typeface="Arial"/>
                <a:cs typeface="Arial"/>
              </a:rPr>
              <a:t>what</a:t>
            </a:r>
            <a:r>
              <a:rPr sz="1200" spc="-30" dirty="0">
                <a:solidFill>
                  <a:srgbClr val="3333B2"/>
                </a:solidFill>
                <a:latin typeface="Arial"/>
                <a:cs typeface="Arial"/>
              </a:rPr>
              <a:t> </a:t>
            </a:r>
            <a:r>
              <a:rPr sz="1200" dirty="0">
                <a:solidFill>
                  <a:srgbClr val="3333B2"/>
                </a:solidFill>
                <a:latin typeface="Arial"/>
                <a:cs typeface="Arial"/>
              </a:rPr>
              <a:t>about</a:t>
            </a:r>
            <a:r>
              <a:rPr sz="1200" spc="-30" dirty="0">
                <a:solidFill>
                  <a:srgbClr val="3333B2"/>
                </a:solidFill>
                <a:latin typeface="Arial"/>
                <a:cs typeface="Arial"/>
              </a:rPr>
              <a:t> </a:t>
            </a:r>
            <a:r>
              <a:rPr sz="1200" spc="-10" dirty="0">
                <a:solidFill>
                  <a:srgbClr val="3333B2"/>
                </a:solidFill>
                <a:latin typeface="Arial"/>
                <a:cs typeface="Arial"/>
              </a:rPr>
              <a:t>progress?</a:t>
            </a:r>
            <a:endParaRPr sz="1200">
              <a:latin typeface="Arial"/>
              <a:cs typeface="Arial"/>
            </a:endParaRPr>
          </a:p>
        </p:txBody>
      </p:sp>
      <p:pic>
        <p:nvPicPr>
          <p:cNvPr id="6" name="object 6"/>
          <p:cNvPicPr/>
          <p:nvPr/>
        </p:nvPicPr>
        <p:blipFill>
          <a:blip r:embed="rId4" cstate="print"/>
          <a:stretch>
            <a:fillRect/>
          </a:stretch>
        </p:blipFill>
        <p:spPr>
          <a:xfrm>
            <a:off x="533171" y="483172"/>
            <a:ext cx="3540511" cy="1499945"/>
          </a:xfrm>
          <a:prstGeom prst="rect">
            <a:avLst/>
          </a:prstGeom>
        </p:spPr>
      </p:pic>
      <p:sp>
        <p:nvSpPr>
          <p:cNvPr id="7" name="object 7"/>
          <p:cNvSpPr txBox="1"/>
          <p:nvPr/>
        </p:nvSpPr>
        <p:spPr>
          <a:xfrm>
            <a:off x="316547" y="2074021"/>
            <a:ext cx="3917315" cy="802640"/>
          </a:xfrm>
          <a:prstGeom prst="rect">
            <a:avLst/>
          </a:prstGeom>
        </p:spPr>
        <p:txBody>
          <a:bodyPr vert="horz" wrap="square" lIns="0" tIns="27305" rIns="0" bIns="0" rtlCol="0">
            <a:spAutoFit/>
          </a:bodyPr>
          <a:lstStyle/>
          <a:p>
            <a:pPr marL="43180">
              <a:lnSpc>
                <a:spcPct val="100000"/>
              </a:lnSpc>
              <a:spcBef>
                <a:spcPts val="215"/>
              </a:spcBef>
            </a:pPr>
            <a:r>
              <a:rPr sz="1000" dirty="0">
                <a:solidFill>
                  <a:srgbClr val="3333B2"/>
                </a:solidFill>
                <a:latin typeface="Arial"/>
                <a:cs typeface="Arial"/>
              </a:rPr>
              <a:t>Essence</a:t>
            </a:r>
            <a:r>
              <a:rPr sz="1000" spc="-30" dirty="0">
                <a:solidFill>
                  <a:srgbClr val="3333B2"/>
                </a:solidFill>
                <a:latin typeface="Arial"/>
                <a:cs typeface="Arial"/>
              </a:rPr>
              <a:t> </a:t>
            </a:r>
            <a:r>
              <a:rPr sz="1000" dirty="0">
                <a:solidFill>
                  <a:srgbClr val="3333B2"/>
                </a:solidFill>
                <a:latin typeface="Arial"/>
                <a:cs typeface="Arial"/>
              </a:rPr>
              <a:t>of</a:t>
            </a:r>
            <a:r>
              <a:rPr sz="1000" spc="-30" dirty="0">
                <a:solidFill>
                  <a:srgbClr val="3333B2"/>
                </a:solidFill>
                <a:latin typeface="Arial"/>
                <a:cs typeface="Arial"/>
              </a:rPr>
              <a:t> </a:t>
            </a:r>
            <a:r>
              <a:rPr sz="1000" spc="-10" dirty="0">
                <a:solidFill>
                  <a:srgbClr val="3333B2"/>
                </a:solidFill>
                <a:latin typeface="Arial"/>
                <a:cs typeface="Arial"/>
              </a:rPr>
              <a:t>solution</a:t>
            </a:r>
            <a:endParaRPr sz="1000">
              <a:latin typeface="Arial"/>
              <a:cs typeface="Arial"/>
            </a:endParaRPr>
          </a:p>
          <a:p>
            <a:pPr marL="39370" marR="30480" indent="-1905">
              <a:lnSpc>
                <a:spcPts val="1210"/>
              </a:lnSpc>
              <a:spcBef>
                <a:spcPts val="35"/>
              </a:spcBef>
            </a:pPr>
            <a:r>
              <a:rPr sz="900" dirty="0">
                <a:latin typeface="Arial"/>
                <a:cs typeface="Arial"/>
              </a:rPr>
              <a:t>When</a:t>
            </a:r>
            <a:r>
              <a:rPr sz="900" spc="-30" dirty="0">
                <a:latin typeface="Arial"/>
                <a:cs typeface="Arial"/>
              </a:rPr>
              <a:t> </a:t>
            </a:r>
            <a:r>
              <a:rPr sz="900" i="1" dirty="0">
                <a:latin typeface="Arial"/>
                <a:cs typeface="Arial"/>
              </a:rPr>
              <a:t>S</a:t>
            </a:r>
            <a:r>
              <a:rPr sz="1050" i="1" baseline="-15873" dirty="0">
                <a:latin typeface="Arial"/>
                <a:cs typeface="Arial"/>
              </a:rPr>
              <a:t>2</a:t>
            </a:r>
            <a:r>
              <a:rPr sz="1050" i="1" spc="165" baseline="-15873" dirty="0">
                <a:latin typeface="Arial"/>
                <a:cs typeface="Arial"/>
              </a:rPr>
              <a:t> </a:t>
            </a:r>
            <a:r>
              <a:rPr sz="900" dirty="0">
                <a:latin typeface="Arial"/>
                <a:cs typeface="Arial"/>
              </a:rPr>
              <a:t>takes</a:t>
            </a:r>
            <a:r>
              <a:rPr sz="900" spc="-25" dirty="0">
                <a:latin typeface="Arial"/>
                <a:cs typeface="Arial"/>
              </a:rPr>
              <a:t> </a:t>
            </a:r>
            <a:r>
              <a:rPr sz="900" spc="-20" dirty="0">
                <a:latin typeface="Arial"/>
                <a:cs typeface="Arial"/>
              </a:rPr>
              <a:t>over,</a:t>
            </a:r>
            <a:r>
              <a:rPr sz="900" spc="-30" dirty="0">
                <a:latin typeface="Arial"/>
                <a:cs typeface="Arial"/>
              </a:rPr>
              <a:t> </a:t>
            </a:r>
            <a:r>
              <a:rPr sz="900" dirty="0">
                <a:latin typeface="Arial"/>
                <a:cs typeface="Arial"/>
              </a:rPr>
              <a:t>it</a:t>
            </a:r>
            <a:r>
              <a:rPr sz="900" spc="-25" dirty="0">
                <a:latin typeface="Arial"/>
                <a:cs typeface="Arial"/>
              </a:rPr>
              <a:t> </a:t>
            </a:r>
            <a:r>
              <a:rPr sz="900" dirty="0">
                <a:latin typeface="Arial"/>
                <a:cs typeface="Arial"/>
              </a:rPr>
              <a:t>needs</a:t>
            </a:r>
            <a:r>
              <a:rPr sz="900" spc="-25"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make</a:t>
            </a:r>
            <a:r>
              <a:rPr sz="900" spc="-25" dirty="0">
                <a:latin typeface="Arial"/>
                <a:cs typeface="Arial"/>
              </a:rPr>
              <a:t> </a:t>
            </a:r>
            <a:r>
              <a:rPr sz="900" dirty="0">
                <a:latin typeface="Arial"/>
                <a:cs typeface="Arial"/>
              </a:rPr>
              <a:t>sure</a:t>
            </a:r>
            <a:r>
              <a:rPr sz="900" spc="-30"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any</a:t>
            </a:r>
            <a:r>
              <a:rPr sz="900" spc="-25" dirty="0">
                <a:latin typeface="Arial"/>
                <a:cs typeface="Arial"/>
              </a:rPr>
              <a:t> </a:t>
            </a:r>
            <a:r>
              <a:rPr sz="900" dirty="0">
                <a:solidFill>
                  <a:srgbClr val="3333B2"/>
                </a:solidFill>
                <a:latin typeface="Arial"/>
                <a:cs typeface="Arial"/>
              </a:rPr>
              <a:t>outstanding</a:t>
            </a:r>
            <a:r>
              <a:rPr sz="900" spc="-30" dirty="0">
                <a:solidFill>
                  <a:srgbClr val="3333B2"/>
                </a:solidFill>
                <a:latin typeface="Arial"/>
                <a:cs typeface="Arial"/>
              </a:rPr>
              <a:t> </a:t>
            </a:r>
            <a:r>
              <a:rPr sz="900" spc="-10" dirty="0">
                <a:solidFill>
                  <a:srgbClr val="3333B2"/>
                </a:solidFill>
                <a:latin typeface="Arial"/>
                <a:cs typeface="Arial"/>
              </a:rPr>
              <a:t>operations </a:t>
            </a:r>
            <a:r>
              <a:rPr sz="900" dirty="0">
                <a:latin typeface="Arial"/>
                <a:cs typeface="Arial"/>
              </a:rPr>
              <a:t>initiated</a:t>
            </a:r>
            <a:r>
              <a:rPr sz="900" spc="-30" dirty="0">
                <a:latin typeface="Arial"/>
                <a:cs typeface="Arial"/>
              </a:rPr>
              <a:t> </a:t>
            </a:r>
            <a:r>
              <a:rPr sz="900" dirty="0">
                <a:latin typeface="Arial"/>
                <a:cs typeface="Arial"/>
              </a:rPr>
              <a:t>by</a:t>
            </a:r>
            <a:r>
              <a:rPr sz="900" spc="-30" dirty="0">
                <a:latin typeface="Arial"/>
                <a:cs typeface="Arial"/>
              </a:rPr>
              <a:t> </a:t>
            </a:r>
            <a:r>
              <a:rPr sz="900" i="1" dirty="0">
                <a:latin typeface="Arial"/>
                <a:cs typeface="Arial"/>
              </a:rPr>
              <a:t>S</a:t>
            </a:r>
            <a:r>
              <a:rPr sz="1050" i="1" baseline="-15873" dirty="0">
                <a:latin typeface="Arial"/>
                <a:cs typeface="Arial"/>
              </a:rPr>
              <a:t>1</a:t>
            </a:r>
            <a:r>
              <a:rPr sz="1050" i="1" spc="104" baseline="-15873" dirty="0">
                <a:latin typeface="Arial"/>
                <a:cs typeface="Arial"/>
              </a:rPr>
              <a:t> </a:t>
            </a:r>
            <a:r>
              <a:rPr sz="900" spc="-10" dirty="0">
                <a:latin typeface="Arial"/>
                <a:cs typeface="Arial"/>
              </a:rPr>
              <a:t>have</a:t>
            </a:r>
            <a:r>
              <a:rPr sz="900" spc="-30" dirty="0">
                <a:latin typeface="Arial"/>
                <a:cs typeface="Arial"/>
              </a:rPr>
              <a:t> </a:t>
            </a:r>
            <a:r>
              <a:rPr sz="900" dirty="0">
                <a:latin typeface="Arial"/>
                <a:cs typeface="Arial"/>
              </a:rPr>
              <a:t>been</a:t>
            </a:r>
            <a:r>
              <a:rPr sz="900" spc="-30" dirty="0">
                <a:latin typeface="Arial"/>
                <a:cs typeface="Arial"/>
              </a:rPr>
              <a:t> </a:t>
            </a:r>
            <a:r>
              <a:rPr sz="900" dirty="0">
                <a:latin typeface="Arial"/>
                <a:cs typeface="Arial"/>
              </a:rPr>
              <a:t>properly</a:t>
            </a:r>
            <a:r>
              <a:rPr sz="900" spc="-30" dirty="0">
                <a:latin typeface="Arial"/>
                <a:cs typeface="Arial"/>
              </a:rPr>
              <a:t> </a:t>
            </a:r>
            <a:r>
              <a:rPr sz="900" dirty="0">
                <a:solidFill>
                  <a:srgbClr val="3333B2"/>
                </a:solidFill>
                <a:latin typeface="Arial"/>
                <a:cs typeface="Arial"/>
              </a:rPr>
              <a:t>flushed</a:t>
            </a:r>
            <a:r>
              <a:rPr sz="900" dirty="0">
                <a:latin typeface="Arial"/>
                <a:cs typeface="Arial"/>
              </a:rPr>
              <a:t>,</a:t>
            </a:r>
            <a:r>
              <a:rPr sz="900" spc="-30" dirty="0">
                <a:latin typeface="Arial"/>
                <a:cs typeface="Arial"/>
              </a:rPr>
              <a:t> </a:t>
            </a:r>
            <a:r>
              <a:rPr sz="900" dirty="0">
                <a:latin typeface="Arial"/>
                <a:cs typeface="Arial"/>
              </a:rPr>
              <a:t>i.e.,</a:t>
            </a:r>
            <a:r>
              <a:rPr sz="900" spc="-30" dirty="0">
                <a:latin typeface="Arial"/>
                <a:cs typeface="Arial"/>
              </a:rPr>
              <a:t> </a:t>
            </a:r>
            <a:r>
              <a:rPr sz="900" spc="-10" dirty="0">
                <a:latin typeface="Arial"/>
                <a:cs typeface="Arial"/>
              </a:rPr>
              <a:t>executed</a:t>
            </a:r>
            <a:r>
              <a:rPr sz="900" spc="-30" dirty="0">
                <a:latin typeface="Arial"/>
                <a:cs typeface="Arial"/>
              </a:rPr>
              <a:t> </a:t>
            </a:r>
            <a:r>
              <a:rPr sz="900" dirty="0">
                <a:latin typeface="Arial"/>
                <a:cs typeface="Arial"/>
              </a:rPr>
              <a:t>by</a:t>
            </a:r>
            <a:r>
              <a:rPr sz="900" spc="-30" dirty="0">
                <a:latin typeface="Arial"/>
                <a:cs typeface="Arial"/>
              </a:rPr>
              <a:t> </a:t>
            </a:r>
            <a:r>
              <a:rPr sz="900" dirty="0">
                <a:latin typeface="Arial"/>
                <a:cs typeface="Arial"/>
              </a:rPr>
              <a:t>enough</a:t>
            </a:r>
            <a:r>
              <a:rPr sz="900" spc="-25" dirty="0">
                <a:latin typeface="Arial"/>
                <a:cs typeface="Arial"/>
              </a:rPr>
              <a:t> </a:t>
            </a:r>
            <a:r>
              <a:rPr sz="900" spc="-10" dirty="0">
                <a:latin typeface="Arial"/>
                <a:cs typeface="Arial"/>
              </a:rPr>
              <a:t>servers. </a:t>
            </a:r>
            <a:r>
              <a:rPr sz="900" dirty="0">
                <a:latin typeface="Arial"/>
                <a:cs typeface="Arial"/>
              </a:rPr>
              <a:t>This</a:t>
            </a:r>
            <a:r>
              <a:rPr sz="900" spc="-35" dirty="0">
                <a:latin typeface="Arial"/>
                <a:cs typeface="Arial"/>
              </a:rPr>
              <a:t> </a:t>
            </a:r>
            <a:r>
              <a:rPr sz="900" dirty="0">
                <a:latin typeface="Arial"/>
                <a:cs typeface="Arial"/>
              </a:rPr>
              <a:t>requires</a:t>
            </a:r>
            <a:r>
              <a:rPr sz="900" spc="-35" dirty="0">
                <a:latin typeface="Arial"/>
                <a:cs typeface="Arial"/>
              </a:rPr>
              <a:t> </a:t>
            </a:r>
            <a:r>
              <a:rPr sz="900" dirty="0">
                <a:latin typeface="Arial"/>
                <a:cs typeface="Arial"/>
              </a:rPr>
              <a:t>an</a:t>
            </a:r>
            <a:r>
              <a:rPr sz="900" spc="-30" dirty="0">
                <a:latin typeface="Arial"/>
                <a:cs typeface="Arial"/>
              </a:rPr>
              <a:t> </a:t>
            </a:r>
            <a:r>
              <a:rPr sz="900" dirty="0">
                <a:solidFill>
                  <a:srgbClr val="C80000"/>
                </a:solidFill>
                <a:latin typeface="Arial"/>
                <a:cs typeface="Arial"/>
              </a:rPr>
              <a:t>explicit</a:t>
            </a:r>
            <a:r>
              <a:rPr sz="900" spc="-35" dirty="0">
                <a:solidFill>
                  <a:srgbClr val="C80000"/>
                </a:solidFill>
                <a:latin typeface="Arial"/>
                <a:cs typeface="Arial"/>
              </a:rPr>
              <a:t> </a:t>
            </a:r>
            <a:r>
              <a:rPr sz="900" dirty="0">
                <a:solidFill>
                  <a:srgbClr val="C80000"/>
                </a:solidFill>
                <a:latin typeface="Arial"/>
                <a:cs typeface="Arial"/>
              </a:rPr>
              <a:t>leadership</a:t>
            </a:r>
            <a:r>
              <a:rPr sz="900" spc="-30" dirty="0">
                <a:solidFill>
                  <a:srgbClr val="C80000"/>
                </a:solidFill>
                <a:latin typeface="Arial"/>
                <a:cs typeface="Arial"/>
              </a:rPr>
              <a:t> </a:t>
            </a:r>
            <a:r>
              <a:rPr sz="900" spc="-10" dirty="0">
                <a:solidFill>
                  <a:srgbClr val="C80000"/>
                </a:solidFill>
                <a:latin typeface="Arial"/>
                <a:cs typeface="Arial"/>
              </a:rPr>
              <a:t>takeover</a:t>
            </a:r>
            <a:r>
              <a:rPr sz="900" spc="-35" dirty="0">
                <a:solidFill>
                  <a:srgbClr val="C80000"/>
                </a:solidFill>
                <a:latin typeface="Arial"/>
                <a:cs typeface="Arial"/>
              </a:rPr>
              <a:t> </a:t>
            </a:r>
            <a:r>
              <a:rPr sz="900" dirty="0">
                <a:latin typeface="Arial"/>
                <a:cs typeface="Arial"/>
              </a:rPr>
              <a:t>by</a:t>
            </a:r>
            <a:r>
              <a:rPr sz="900" spc="-30" dirty="0">
                <a:latin typeface="Arial"/>
                <a:cs typeface="Arial"/>
              </a:rPr>
              <a:t> </a:t>
            </a:r>
            <a:r>
              <a:rPr sz="900" dirty="0">
                <a:latin typeface="Arial"/>
                <a:cs typeface="Arial"/>
              </a:rPr>
              <a:t>which</a:t>
            </a:r>
            <a:r>
              <a:rPr sz="900" spc="-35" dirty="0">
                <a:latin typeface="Arial"/>
                <a:cs typeface="Arial"/>
              </a:rPr>
              <a:t> </a:t>
            </a:r>
            <a:r>
              <a:rPr sz="900" dirty="0">
                <a:latin typeface="Arial"/>
                <a:cs typeface="Arial"/>
              </a:rPr>
              <a:t>other</a:t>
            </a:r>
            <a:r>
              <a:rPr sz="900" spc="-30" dirty="0">
                <a:latin typeface="Arial"/>
                <a:cs typeface="Arial"/>
              </a:rPr>
              <a:t> </a:t>
            </a:r>
            <a:r>
              <a:rPr sz="900" dirty="0">
                <a:latin typeface="Arial"/>
                <a:cs typeface="Arial"/>
              </a:rPr>
              <a:t>servers</a:t>
            </a:r>
            <a:r>
              <a:rPr sz="900" spc="-35" dirty="0">
                <a:latin typeface="Arial"/>
                <a:cs typeface="Arial"/>
              </a:rPr>
              <a:t> </a:t>
            </a:r>
            <a:r>
              <a:rPr sz="900" spc="-25" dirty="0">
                <a:latin typeface="Arial"/>
                <a:cs typeface="Arial"/>
              </a:rPr>
              <a:t>are </a:t>
            </a:r>
            <a:r>
              <a:rPr sz="900" dirty="0">
                <a:latin typeface="Arial"/>
                <a:cs typeface="Arial"/>
              </a:rPr>
              <a:t>informed</a:t>
            </a:r>
            <a:r>
              <a:rPr sz="900" spc="-40" dirty="0">
                <a:latin typeface="Arial"/>
                <a:cs typeface="Arial"/>
              </a:rPr>
              <a:t> </a:t>
            </a:r>
            <a:r>
              <a:rPr sz="900" dirty="0">
                <a:latin typeface="Arial"/>
                <a:cs typeface="Arial"/>
              </a:rPr>
              <a:t>before</a:t>
            </a:r>
            <a:r>
              <a:rPr sz="900" spc="-40" dirty="0">
                <a:latin typeface="Arial"/>
                <a:cs typeface="Arial"/>
              </a:rPr>
              <a:t> </a:t>
            </a:r>
            <a:r>
              <a:rPr sz="900" dirty="0">
                <a:latin typeface="Arial"/>
                <a:cs typeface="Arial"/>
              </a:rPr>
              <a:t>sending</a:t>
            </a:r>
            <a:r>
              <a:rPr sz="900" spc="-40" dirty="0">
                <a:latin typeface="Arial"/>
                <a:cs typeface="Arial"/>
              </a:rPr>
              <a:t> </a:t>
            </a:r>
            <a:r>
              <a:rPr sz="900" dirty="0">
                <a:latin typeface="Arial"/>
                <a:cs typeface="Arial"/>
              </a:rPr>
              <a:t>out</a:t>
            </a:r>
            <a:r>
              <a:rPr sz="900" spc="-40" dirty="0">
                <a:latin typeface="Arial"/>
                <a:cs typeface="Arial"/>
              </a:rPr>
              <a:t> </a:t>
            </a:r>
            <a:r>
              <a:rPr sz="900" dirty="0">
                <a:latin typeface="Arial"/>
                <a:cs typeface="Arial"/>
              </a:rPr>
              <a:t>new</a:t>
            </a:r>
            <a:r>
              <a:rPr sz="900" spc="-40" dirty="0">
                <a:latin typeface="Arial"/>
                <a:cs typeface="Arial"/>
              </a:rPr>
              <a:t> </a:t>
            </a:r>
            <a:r>
              <a:rPr sz="900" dirty="0">
                <a:latin typeface="Arial"/>
                <a:cs typeface="Arial"/>
              </a:rPr>
              <a:t>accept</a:t>
            </a:r>
            <a:r>
              <a:rPr sz="900" spc="-40" dirty="0">
                <a:latin typeface="Arial"/>
                <a:cs typeface="Arial"/>
              </a:rPr>
              <a:t> </a:t>
            </a:r>
            <a:r>
              <a:rPr sz="900" spc="-10" dirty="0">
                <a:latin typeface="Arial"/>
                <a:cs typeface="Arial"/>
              </a:rPr>
              <a:t>messages.</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484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Example:</a:t>
            </a:r>
            <a:r>
              <a:rPr sz="500" spc="5" dirty="0">
                <a:latin typeface="Arial"/>
                <a:cs typeface="Arial"/>
                <a:hlinkClick r:id="rId5" action="ppaction://hlinksldjump"/>
              </a:rPr>
              <a:t> </a:t>
            </a:r>
            <a:r>
              <a:rPr sz="500" spc="-10" dirty="0">
                <a:latin typeface="Arial"/>
                <a:cs typeface="Arial"/>
                <a:hlinkClick r:id="rId5" action="ppaction://hlinksldjump"/>
              </a:rPr>
              <a:t>Paxos</a:t>
            </a:r>
            <a:endParaRPr sz="500">
              <a:latin typeface="Arial"/>
              <a:cs typeface="Arial"/>
            </a:endParaRPr>
          </a:p>
        </p:txBody>
      </p:sp>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95300" y="197711"/>
            <a:ext cx="3954779" cy="79819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Consensus</a:t>
            </a:r>
            <a:r>
              <a:rPr sz="1200" spc="-55" dirty="0">
                <a:solidFill>
                  <a:srgbClr val="3333B2"/>
                </a:solidFill>
                <a:latin typeface="Arial"/>
                <a:cs typeface="Arial"/>
              </a:rPr>
              <a:t> </a:t>
            </a:r>
            <a:r>
              <a:rPr sz="1200" dirty="0">
                <a:solidFill>
                  <a:srgbClr val="3333B2"/>
                </a:solidFill>
                <a:latin typeface="Arial"/>
                <a:cs typeface="Arial"/>
              </a:rPr>
              <a:t>under</a:t>
            </a:r>
            <a:r>
              <a:rPr sz="1200" spc="-50" dirty="0">
                <a:solidFill>
                  <a:srgbClr val="3333B2"/>
                </a:solidFill>
                <a:latin typeface="Arial"/>
                <a:cs typeface="Arial"/>
              </a:rPr>
              <a:t> </a:t>
            </a:r>
            <a:r>
              <a:rPr sz="1200" dirty="0">
                <a:solidFill>
                  <a:srgbClr val="3333B2"/>
                </a:solidFill>
                <a:latin typeface="Arial"/>
                <a:cs typeface="Arial"/>
              </a:rPr>
              <a:t>arbitrary</a:t>
            </a:r>
            <a:r>
              <a:rPr sz="1200" spc="-55" dirty="0">
                <a:solidFill>
                  <a:srgbClr val="3333B2"/>
                </a:solidFill>
                <a:latin typeface="Arial"/>
                <a:cs typeface="Arial"/>
              </a:rPr>
              <a:t> </a:t>
            </a:r>
            <a:r>
              <a:rPr sz="1200" dirty="0">
                <a:solidFill>
                  <a:srgbClr val="3333B2"/>
                </a:solidFill>
                <a:latin typeface="Arial"/>
                <a:cs typeface="Arial"/>
              </a:rPr>
              <a:t>failure</a:t>
            </a:r>
            <a:r>
              <a:rPr sz="1200" spc="-50" dirty="0">
                <a:solidFill>
                  <a:srgbClr val="3333B2"/>
                </a:solidFill>
                <a:latin typeface="Arial"/>
                <a:cs typeface="Arial"/>
              </a:rPr>
              <a:t> </a:t>
            </a:r>
            <a:r>
              <a:rPr sz="1200" spc="-10" dirty="0">
                <a:solidFill>
                  <a:srgbClr val="3333B2"/>
                </a:solidFill>
                <a:latin typeface="Arial"/>
                <a:cs typeface="Arial"/>
              </a:rPr>
              <a:t>semantics</a:t>
            </a:r>
            <a:endParaRPr sz="1200">
              <a:latin typeface="Arial"/>
              <a:cs typeface="Arial"/>
            </a:endParaRPr>
          </a:p>
          <a:p>
            <a:pPr marL="264160">
              <a:lnSpc>
                <a:spcPct val="100000"/>
              </a:lnSpc>
              <a:spcBef>
                <a:spcPts val="1055"/>
              </a:spcBef>
            </a:pPr>
            <a:r>
              <a:rPr sz="1000" spc="-10" dirty="0">
                <a:solidFill>
                  <a:srgbClr val="3333B2"/>
                </a:solidFill>
                <a:latin typeface="Arial"/>
                <a:cs typeface="Arial"/>
              </a:rPr>
              <a:t>Essence</a:t>
            </a:r>
            <a:endParaRPr sz="1000">
              <a:latin typeface="Arial"/>
              <a:cs typeface="Arial"/>
            </a:endParaRPr>
          </a:p>
          <a:p>
            <a:pPr marL="264160" marR="5080" indent="-5715">
              <a:lnSpc>
                <a:spcPts val="1210"/>
              </a:lnSpc>
              <a:spcBef>
                <a:spcPts val="40"/>
              </a:spcBef>
            </a:pPr>
            <a:r>
              <a:rPr sz="900" dirty="0">
                <a:latin typeface="Arial"/>
                <a:cs typeface="Arial"/>
              </a:rPr>
              <a:t>We</a:t>
            </a:r>
            <a:r>
              <a:rPr sz="900" spc="-30" dirty="0">
                <a:latin typeface="Arial"/>
                <a:cs typeface="Arial"/>
              </a:rPr>
              <a:t> </a:t>
            </a:r>
            <a:r>
              <a:rPr sz="900" dirty="0">
                <a:latin typeface="Arial"/>
                <a:cs typeface="Arial"/>
              </a:rPr>
              <a:t>consider</a:t>
            </a:r>
            <a:r>
              <a:rPr sz="900" spc="-25" dirty="0">
                <a:latin typeface="Arial"/>
                <a:cs typeface="Arial"/>
              </a:rPr>
              <a:t> </a:t>
            </a:r>
            <a:r>
              <a:rPr sz="900" dirty="0">
                <a:latin typeface="Arial"/>
                <a:cs typeface="Arial"/>
              </a:rPr>
              <a:t>process</a:t>
            </a:r>
            <a:r>
              <a:rPr sz="900" spc="-25" dirty="0">
                <a:latin typeface="Arial"/>
                <a:cs typeface="Arial"/>
              </a:rPr>
              <a:t> </a:t>
            </a:r>
            <a:r>
              <a:rPr sz="900" dirty="0">
                <a:latin typeface="Arial"/>
                <a:cs typeface="Arial"/>
              </a:rPr>
              <a:t>groups</a:t>
            </a:r>
            <a:r>
              <a:rPr sz="900" spc="-30" dirty="0">
                <a:latin typeface="Arial"/>
                <a:cs typeface="Arial"/>
              </a:rPr>
              <a:t> </a:t>
            </a:r>
            <a:r>
              <a:rPr sz="900" dirty="0">
                <a:latin typeface="Arial"/>
                <a:cs typeface="Arial"/>
              </a:rPr>
              <a:t>in</a:t>
            </a:r>
            <a:r>
              <a:rPr sz="900" spc="-25" dirty="0">
                <a:latin typeface="Arial"/>
                <a:cs typeface="Arial"/>
              </a:rPr>
              <a:t> </a:t>
            </a:r>
            <a:r>
              <a:rPr sz="900" dirty="0">
                <a:latin typeface="Arial"/>
                <a:cs typeface="Arial"/>
              </a:rPr>
              <a:t>which</a:t>
            </a:r>
            <a:r>
              <a:rPr sz="900" spc="-25" dirty="0">
                <a:latin typeface="Arial"/>
                <a:cs typeface="Arial"/>
              </a:rPr>
              <a:t> </a:t>
            </a:r>
            <a:r>
              <a:rPr sz="900" spc="-10" dirty="0">
                <a:latin typeface="Arial"/>
                <a:cs typeface="Arial"/>
              </a:rPr>
              <a:t>communication</a:t>
            </a:r>
            <a:r>
              <a:rPr sz="900" spc="-25" dirty="0">
                <a:latin typeface="Arial"/>
                <a:cs typeface="Arial"/>
              </a:rPr>
              <a:t> </a:t>
            </a:r>
            <a:r>
              <a:rPr sz="900" dirty="0">
                <a:latin typeface="Arial"/>
                <a:cs typeface="Arial"/>
              </a:rPr>
              <a:t>between</a:t>
            </a:r>
            <a:r>
              <a:rPr sz="900" spc="-30" dirty="0">
                <a:latin typeface="Arial"/>
                <a:cs typeface="Arial"/>
              </a:rPr>
              <a:t> </a:t>
            </a:r>
            <a:r>
              <a:rPr sz="900" dirty="0">
                <a:latin typeface="Arial"/>
                <a:cs typeface="Arial"/>
              </a:rPr>
              <a:t>process</a:t>
            </a:r>
            <a:r>
              <a:rPr sz="900" spc="-25" dirty="0">
                <a:latin typeface="Arial"/>
                <a:cs typeface="Arial"/>
              </a:rPr>
              <a:t> is </a:t>
            </a:r>
            <a:r>
              <a:rPr sz="900" spc="-10" dirty="0">
                <a:solidFill>
                  <a:srgbClr val="3333B2"/>
                </a:solidFill>
                <a:latin typeface="Arial"/>
                <a:cs typeface="Arial"/>
              </a:rPr>
              <a:t>inconsistent</a:t>
            </a:r>
            <a:r>
              <a:rPr sz="900" spc="-10" dirty="0">
                <a:latin typeface="Arial"/>
                <a:cs typeface="Arial"/>
              </a:rPr>
              <a:t>.</a:t>
            </a:r>
            <a:endParaRPr sz="900">
              <a:latin typeface="Arial"/>
              <a:cs typeface="Arial"/>
            </a:endParaRPr>
          </a:p>
        </p:txBody>
      </p:sp>
      <p:pic>
        <p:nvPicPr>
          <p:cNvPr id="6" name="object 6"/>
          <p:cNvPicPr/>
          <p:nvPr/>
        </p:nvPicPr>
        <p:blipFill>
          <a:blip r:embed="rId4" cstate="print"/>
          <a:stretch>
            <a:fillRect/>
          </a:stretch>
        </p:blipFill>
        <p:spPr>
          <a:xfrm>
            <a:off x="1166380" y="1075781"/>
            <a:ext cx="690416" cy="589059"/>
          </a:xfrm>
          <a:prstGeom prst="rect">
            <a:avLst/>
          </a:prstGeom>
        </p:spPr>
      </p:pic>
      <p:pic>
        <p:nvPicPr>
          <p:cNvPr id="7" name="object 7"/>
          <p:cNvPicPr/>
          <p:nvPr/>
        </p:nvPicPr>
        <p:blipFill>
          <a:blip r:embed="rId5" cstate="print"/>
          <a:stretch>
            <a:fillRect/>
          </a:stretch>
        </p:blipFill>
        <p:spPr>
          <a:xfrm>
            <a:off x="2769285" y="1075781"/>
            <a:ext cx="690416" cy="589059"/>
          </a:xfrm>
          <a:prstGeom prst="rect">
            <a:avLst/>
          </a:prstGeom>
        </p:spPr>
      </p:pic>
      <p:sp>
        <p:nvSpPr>
          <p:cNvPr id="8" name="object 8"/>
          <p:cNvSpPr txBox="1"/>
          <p:nvPr/>
        </p:nvSpPr>
        <p:spPr>
          <a:xfrm>
            <a:off x="992060" y="1729303"/>
            <a:ext cx="1039494" cy="162560"/>
          </a:xfrm>
          <a:prstGeom prst="rect">
            <a:avLst/>
          </a:prstGeom>
        </p:spPr>
        <p:txBody>
          <a:bodyPr vert="horz" wrap="square" lIns="0" tIns="12065" rIns="0" bIns="0" rtlCol="0">
            <a:spAutoFit/>
          </a:bodyPr>
          <a:lstStyle/>
          <a:p>
            <a:pPr marL="12700">
              <a:lnSpc>
                <a:spcPct val="100000"/>
              </a:lnSpc>
              <a:spcBef>
                <a:spcPts val="95"/>
              </a:spcBef>
            </a:pPr>
            <a:r>
              <a:rPr sz="900" dirty="0">
                <a:latin typeface="Arial"/>
                <a:cs typeface="Arial"/>
              </a:rPr>
              <a:t>Improper</a:t>
            </a:r>
            <a:r>
              <a:rPr sz="900" spc="-45" dirty="0">
                <a:latin typeface="Arial"/>
                <a:cs typeface="Arial"/>
              </a:rPr>
              <a:t> </a:t>
            </a:r>
            <a:r>
              <a:rPr sz="900" spc="-10" dirty="0">
                <a:latin typeface="Arial"/>
                <a:cs typeface="Arial"/>
              </a:rPr>
              <a:t>forwarding</a:t>
            </a:r>
            <a:endParaRPr sz="900">
              <a:latin typeface="Arial"/>
              <a:cs typeface="Arial"/>
            </a:endParaRPr>
          </a:p>
        </p:txBody>
      </p:sp>
      <p:sp>
        <p:nvSpPr>
          <p:cNvPr id="9" name="object 9"/>
          <p:cNvSpPr txBox="1"/>
          <p:nvPr/>
        </p:nvSpPr>
        <p:spPr>
          <a:xfrm>
            <a:off x="2613046" y="1729303"/>
            <a:ext cx="1003300" cy="162560"/>
          </a:xfrm>
          <a:prstGeom prst="rect">
            <a:avLst/>
          </a:prstGeom>
        </p:spPr>
        <p:txBody>
          <a:bodyPr vert="horz" wrap="square" lIns="0" tIns="12065" rIns="0" bIns="0" rtlCol="0">
            <a:spAutoFit/>
          </a:bodyPr>
          <a:lstStyle/>
          <a:p>
            <a:pPr marL="12700">
              <a:lnSpc>
                <a:spcPct val="100000"/>
              </a:lnSpc>
              <a:spcBef>
                <a:spcPts val="95"/>
              </a:spcBef>
            </a:pPr>
            <a:r>
              <a:rPr sz="900" spc="-10" dirty="0">
                <a:latin typeface="Arial"/>
                <a:cs typeface="Arial"/>
              </a:rPr>
              <a:t>Different</a:t>
            </a:r>
            <a:r>
              <a:rPr sz="900" spc="20" dirty="0">
                <a:latin typeface="Arial"/>
                <a:cs typeface="Arial"/>
              </a:rPr>
              <a:t> </a:t>
            </a:r>
            <a:r>
              <a:rPr sz="900" spc="-10" dirty="0">
                <a:latin typeface="Arial"/>
                <a:cs typeface="Arial"/>
              </a:rPr>
              <a:t>messages</a:t>
            </a:r>
            <a:endParaRPr sz="900">
              <a:latin typeface="Arial"/>
              <a:cs typeface="Arial"/>
            </a:endParaRPr>
          </a:p>
        </p:txBody>
      </p:sp>
      <p:grpSp>
        <p:nvGrpSpPr>
          <p:cNvPr id="10" name="object 10"/>
          <p:cNvGrpSpPr/>
          <p:nvPr/>
        </p:nvGrpSpPr>
        <p:grpSpPr>
          <a:xfrm>
            <a:off x="0" y="3348469"/>
            <a:ext cx="4608195" cy="107950"/>
            <a:chOff x="0" y="3348469"/>
            <a:chExt cx="4608195" cy="107950"/>
          </a:xfrm>
        </p:grpSpPr>
        <p:sp>
          <p:nvSpPr>
            <p:cNvPr id="11" name="object 11"/>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2" name="object 12"/>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3" name="object 13"/>
          <p:cNvSpPr txBox="1"/>
          <p:nvPr/>
        </p:nvSpPr>
        <p:spPr>
          <a:xfrm>
            <a:off x="53467" y="3349927"/>
            <a:ext cx="142621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6" action="ppaction://hlinksldjump"/>
              </a:rPr>
              <a:t>Consensus</a:t>
            </a:r>
            <a:r>
              <a:rPr sz="500" spc="-25" dirty="0">
                <a:latin typeface="Arial"/>
                <a:cs typeface="Arial"/>
                <a:hlinkClick r:id="rId6" action="ppaction://hlinksldjump"/>
              </a:rPr>
              <a:t> </a:t>
            </a:r>
            <a:r>
              <a:rPr sz="500" dirty="0">
                <a:latin typeface="Arial"/>
                <a:cs typeface="Arial"/>
                <a:hlinkClick r:id="rId6" action="ppaction://hlinksldjump"/>
              </a:rPr>
              <a:t>in</a:t>
            </a:r>
            <a:r>
              <a:rPr sz="500" spc="-20" dirty="0">
                <a:latin typeface="Arial"/>
                <a:cs typeface="Arial"/>
                <a:hlinkClick r:id="rId6" action="ppaction://hlinksldjump"/>
              </a:rPr>
              <a:t> </a:t>
            </a:r>
            <a:r>
              <a:rPr sz="500" dirty="0">
                <a:latin typeface="Arial"/>
                <a:cs typeface="Arial"/>
                <a:hlinkClick r:id="rId6" action="ppaction://hlinksldjump"/>
              </a:rPr>
              <a:t>faulty</a:t>
            </a:r>
            <a:r>
              <a:rPr sz="500" spc="-20" dirty="0">
                <a:latin typeface="Arial"/>
                <a:cs typeface="Arial"/>
                <a:hlinkClick r:id="rId6" action="ppaction://hlinksldjump"/>
              </a:rPr>
              <a:t> </a:t>
            </a:r>
            <a:r>
              <a:rPr sz="500" dirty="0">
                <a:latin typeface="Arial"/>
                <a:cs typeface="Arial"/>
                <a:hlinkClick r:id="rId6" action="ppaction://hlinksldjump"/>
              </a:rPr>
              <a:t>systems</a:t>
            </a:r>
            <a:r>
              <a:rPr sz="500" spc="-20" dirty="0">
                <a:latin typeface="Arial"/>
                <a:cs typeface="Arial"/>
                <a:hlinkClick r:id="rId6" action="ppaction://hlinksldjump"/>
              </a:rPr>
              <a:t> </a:t>
            </a:r>
            <a:r>
              <a:rPr sz="500" dirty="0">
                <a:latin typeface="Arial"/>
                <a:cs typeface="Arial"/>
                <a:hlinkClick r:id="rId6" action="ppaction://hlinksldjump"/>
              </a:rPr>
              <a:t>with</a:t>
            </a:r>
            <a:r>
              <a:rPr sz="500" spc="-25" dirty="0">
                <a:latin typeface="Arial"/>
                <a:cs typeface="Arial"/>
                <a:hlinkClick r:id="rId6" action="ppaction://hlinksldjump"/>
              </a:rPr>
              <a:t> </a:t>
            </a:r>
            <a:r>
              <a:rPr sz="500" dirty="0">
                <a:latin typeface="Arial"/>
                <a:cs typeface="Arial"/>
                <a:hlinkClick r:id="rId6" action="ppaction://hlinksldjump"/>
              </a:rPr>
              <a:t>arbitrary</a:t>
            </a:r>
            <a:r>
              <a:rPr sz="500" spc="-20" dirty="0">
                <a:latin typeface="Arial"/>
                <a:cs typeface="Arial"/>
                <a:hlinkClick r:id="rId6" action="ppaction://hlinksldjump"/>
              </a:rPr>
              <a:t> </a:t>
            </a:r>
            <a:r>
              <a:rPr sz="500" spc="-10" dirty="0">
                <a:latin typeface="Arial"/>
                <a:cs typeface="Arial"/>
                <a:hlinkClick r:id="rId6" action="ppaction://hlinksldjump"/>
              </a:rPr>
              <a:t>failures</a:t>
            </a:r>
            <a:endParaRPr sz="500">
              <a:latin typeface="Arial"/>
              <a:cs typeface="Arial"/>
            </a:endParaRPr>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44500" y="197711"/>
            <a:ext cx="4254500" cy="3023235"/>
          </a:xfrm>
          <a:prstGeom prst="rect">
            <a:avLst/>
          </a:prstGeom>
        </p:spPr>
        <p:txBody>
          <a:bodyPr vert="horz" wrap="square" lIns="0" tIns="12065" rIns="0" bIns="0" rtlCol="0">
            <a:spAutoFit/>
          </a:bodyPr>
          <a:lstStyle/>
          <a:p>
            <a:pPr marL="63500">
              <a:lnSpc>
                <a:spcPct val="100000"/>
              </a:lnSpc>
              <a:spcBef>
                <a:spcPts val="95"/>
              </a:spcBef>
            </a:pPr>
            <a:r>
              <a:rPr sz="1200" dirty="0">
                <a:solidFill>
                  <a:srgbClr val="3333B2"/>
                </a:solidFill>
                <a:latin typeface="Arial"/>
                <a:cs typeface="Arial"/>
              </a:rPr>
              <a:t>Consensus</a:t>
            </a:r>
            <a:r>
              <a:rPr sz="1200" spc="-55" dirty="0">
                <a:solidFill>
                  <a:srgbClr val="3333B2"/>
                </a:solidFill>
                <a:latin typeface="Arial"/>
                <a:cs typeface="Arial"/>
              </a:rPr>
              <a:t> </a:t>
            </a:r>
            <a:r>
              <a:rPr sz="1200" dirty="0">
                <a:solidFill>
                  <a:srgbClr val="3333B2"/>
                </a:solidFill>
                <a:latin typeface="Arial"/>
                <a:cs typeface="Arial"/>
              </a:rPr>
              <a:t>under</a:t>
            </a:r>
            <a:r>
              <a:rPr sz="1200" spc="-50" dirty="0">
                <a:solidFill>
                  <a:srgbClr val="3333B2"/>
                </a:solidFill>
                <a:latin typeface="Arial"/>
                <a:cs typeface="Arial"/>
              </a:rPr>
              <a:t> </a:t>
            </a:r>
            <a:r>
              <a:rPr sz="1200" dirty="0">
                <a:solidFill>
                  <a:srgbClr val="3333B2"/>
                </a:solidFill>
                <a:latin typeface="Arial"/>
                <a:cs typeface="Arial"/>
              </a:rPr>
              <a:t>arbitrary</a:t>
            </a:r>
            <a:r>
              <a:rPr sz="1200" spc="-55" dirty="0">
                <a:solidFill>
                  <a:srgbClr val="3333B2"/>
                </a:solidFill>
                <a:latin typeface="Arial"/>
                <a:cs typeface="Arial"/>
              </a:rPr>
              <a:t> </a:t>
            </a:r>
            <a:r>
              <a:rPr sz="1200" dirty="0">
                <a:solidFill>
                  <a:srgbClr val="3333B2"/>
                </a:solidFill>
                <a:latin typeface="Arial"/>
                <a:cs typeface="Arial"/>
              </a:rPr>
              <a:t>failure</a:t>
            </a:r>
            <a:r>
              <a:rPr sz="1200" spc="-50" dirty="0">
                <a:solidFill>
                  <a:srgbClr val="3333B2"/>
                </a:solidFill>
                <a:latin typeface="Arial"/>
                <a:cs typeface="Arial"/>
              </a:rPr>
              <a:t> </a:t>
            </a:r>
            <a:r>
              <a:rPr sz="1200" spc="-10" dirty="0">
                <a:solidFill>
                  <a:srgbClr val="3333B2"/>
                </a:solidFill>
                <a:latin typeface="Arial"/>
                <a:cs typeface="Arial"/>
              </a:rPr>
              <a:t>semantics</a:t>
            </a:r>
            <a:endParaRPr sz="1200">
              <a:latin typeface="Arial"/>
              <a:cs typeface="Arial"/>
            </a:endParaRPr>
          </a:p>
          <a:p>
            <a:pPr marL="314960">
              <a:lnSpc>
                <a:spcPct val="100000"/>
              </a:lnSpc>
              <a:spcBef>
                <a:spcPts val="1035"/>
              </a:spcBef>
            </a:pPr>
            <a:r>
              <a:rPr sz="1000" dirty="0">
                <a:solidFill>
                  <a:srgbClr val="3333B2"/>
                </a:solidFill>
                <a:latin typeface="Arial"/>
                <a:cs typeface="Arial"/>
              </a:rPr>
              <a:t>System</a:t>
            </a:r>
            <a:r>
              <a:rPr sz="1000" spc="-40" dirty="0">
                <a:solidFill>
                  <a:srgbClr val="3333B2"/>
                </a:solidFill>
                <a:latin typeface="Arial"/>
                <a:cs typeface="Arial"/>
              </a:rPr>
              <a:t> </a:t>
            </a:r>
            <a:r>
              <a:rPr sz="1000" spc="-10" dirty="0">
                <a:solidFill>
                  <a:srgbClr val="3333B2"/>
                </a:solidFill>
                <a:latin typeface="Arial"/>
                <a:cs typeface="Arial"/>
              </a:rPr>
              <a:t>model</a:t>
            </a:r>
            <a:endParaRPr sz="1000">
              <a:latin typeface="Arial"/>
              <a:cs typeface="Arial"/>
            </a:endParaRPr>
          </a:p>
          <a:p>
            <a:pPr marL="562610" indent="-114935">
              <a:lnSpc>
                <a:spcPct val="100000"/>
              </a:lnSpc>
              <a:spcBef>
                <a:spcPts val="695"/>
              </a:spcBef>
              <a:buClr>
                <a:srgbClr val="3333B2"/>
              </a:buClr>
              <a:buFont typeface="Menlo"/>
              <a:buChar char="•"/>
              <a:tabLst>
                <a:tab pos="563245" algn="l"/>
              </a:tabLst>
            </a:pPr>
            <a:r>
              <a:rPr sz="900" dirty="0">
                <a:latin typeface="Arial"/>
                <a:cs typeface="Arial"/>
              </a:rPr>
              <a:t>We</a:t>
            </a:r>
            <a:r>
              <a:rPr sz="900" spc="-40" dirty="0">
                <a:latin typeface="Arial"/>
                <a:cs typeface="Arial"/>
              </a:rPr>
              <a:t> </a:t>
            </a:r>
            <a:r>
              <a:rPr sz="900" dirty="0">
                <a:latin typeface="Arial"/>
                <a:cs typeface="Arial"/>
              </a:rPr>
              <a:t>consider</a:t>
            </a:r>
            <a:r>
              <a:rPr sz="900" spc="-20" dirty="0">
                <a:latin typeface="Arial"/>
                <a:cs typeface="Arial"/>
              </a:rPr>
              <a:t> </a:t>
            </a:r>
            <a:r>
              <a:rPr sz="900" dirty="0">
                <a:latin typeface="Arial"/>
                <a:cs typeface="Arial"/>
              </a:rPr>
              <a:t>a</a:t>
            </a:r>
            <a:r>
              <a:rPr sz="900" spc="-15" dirty="0">
                <a:latin typeface="Arial"/>
                <a:cs typeface="Arial"/>
              </a:rPr>
              <a:t> </a:t>
            </a:r>
            <a:r>
              <a:rPr sz="900" dirty="0">
                <a:solidFill>
                  <a:srgbClr val="C80000"/>
                </a:solidFill>
                <a:latin typeface="Arial"/>
                <a:cs typeface="Arial"/>
              </a:rPr>
              <a:t>primary</a:t>
            </a:r>
            <a:r>
              <a:rPr sz="900" spc="-20" dirty="0">
                <a:solidFill>
                  <a:srgbClr val="C80000"/>
                </a:solidFill>
                <a:latin typeface="Arial"/>
                <a:cs typeface="Arial"/>
              </a:rPr>
              <a:t> </a:t>
            </a:r>
            <a:r>
              <a:rPr sz="900" i="1" dirty="0">
                <a:latin typeface="Arial"/>
                <a:cs typeface="Arial"/>
              </a:rPr>
              <a:t>P</a:t>
            </a:r>
            <a:r>
              <a:rPr sz="900" i="1" spc="45" dirty="0">
                <a:latin typeface="Arial"/>
                <a:cs typeface="Arial"/>
              </a:rPr>
              <a:t> </a:t>
            </a:r>
            <a:r>
              <a:rPr sz="900" dirty="0">
                <a:latin typeface="Arial"/>
                <a:cs typeface="Arial"/>
              </a:rPr>
              <a:t>and</a:t>
            </a:r>
            <a:r>
              <a:rPr sz="900" spc="-20" dirty="0">
                <a:latin typeface="Arial"/>
                <a:cs typeface="Arial"/>
              </a:rPr>
              <a:t> </a:t>
            </a:r>
            <a:r>
              <a:rPr sz="900" i="1" spc="-10" dirty="0">
                <a:latin typeface="Arial"/>
                <a:cs typeface="Arial"/>
              </a:rPr>
              <a:t>n</a:t>
            </a:r>
            <a:r>
              <a:rPr sz="900" i="1" spc="-114" dirty="0">
                <a:latin typeface="Arial"/>
                <a:cs typeface="Arial"/>
              </a:rPr>
              <a:t> </a:t>
            </a:r>
            <a:r>
              <a:rPr sz="900" i="1" spc="150" dirty="0">
                <a:latin typeface="Menlo"/>
                <a:cs typeface="Menlo"/>
              </a:rPr>
              <a:t>−</a:t>
            </a:r>
            <a:r>
              <a:rPr sz="900" i="1" spc="-420" dirty="0">
                <a:latin typeface="Menlo"/>
                <a:cs typeface="Menlo"/>
              </a:rPr>
              <a:t> </a:t>
            </a:r>
            <a:r>
              <a:rPr sz="900" dirty="0">
                <a:latin typeface="Arial"/>
                <a:cs typeface="Arial"/>
              </a:rPr>
              <a:t>1</a:t>
            </a:r>
            <a:r>
              <a:rPr sz="900" spc="-15" dirty="0">
                <a:latin typeface="Arial"/>
                <a:cs typeface="Arial"/>
              </a:rPr>
              <a:t> </a:t>
            </a:r>
            <a:r>
              <a:rPr sz="900" dirty="0">
                <a:solidFill>
                  <a:srgbClr val="C80000"/>
                </a:solidFill>
                <a:latin typeface="Arial"/>
                <a:cs typeface="Arial"/>
              </a:rPr>
              <a:t>backups</a:t>
            </a:r>
            <a:r>
              <a:rPr sz="900" spc="-20" dirty="0">
                <a:solidFill>
                  <a:srgbClr val="C80000"/>
                </a:solidFill>
                <a:latin typeface="Arial"/>
                <a:cs typeface="Arial"/>
              </a:rPr>
              <a:t> </a:t>
            </a:r>
            <a:r>
              <a:rPr sz="900" i="1" spc="55" dirty="0">
                <a:latin typeface="Arial"/>
                <a:cs typeface="Arial"/>
              </a:rPr>
              <a:t>B</a:t>
            </a:r>
            <a:r>
              <a:rPr sz="1050" i="1" spc="82" baseline="-15873" dirty="0">
                <a:latin typeface="Arial"/>
                <a:cs typeface="Arial"/>
              </a:rPr>
              <a:t>1</a:t>
            </a:r>
            <a:r>
              <a:rPr sz="900" i="1" spc="55" dirty="0">
                <a:latin typeface="Arial"/>
                <a:cs typeface="Arial"/>
              </a:rPr>
              <a:t>,...,</a:t>
            </a:r>
            <a:r>
              <a:rPr sz="900" i="1" spc="-155" dirty="0">
                <a:latin typeface="Arial"/>
                <a:cs typeface="Arial"/>
              </a:rPr>
              <a:t> </a:t>
            </a:r>
            <a:r>
              <a:rPr sz="900" i="1" spc="-20" dirty="0">
                <a:latin typeface="Arial"/>
                <a:cs typeface="Arial"/>
              </a:rPr>
              <a:t>B</a:t>
            </a:r>
            <a:r>
              <a:rPr sz="1050" i="1" spc="-30" baseline="-15873" dirty="0">
                <a:latin typeface="Arial"/>
                <a:cs typeface="Arial"/>
              </a:rPr>
              <a:t>n</a:t>
            </a:r>
            <a:r>
              <a:rPr sz="1050" i="1" spc="-30" baseline="-15873" dirty="0">
                <a:latin typeface="Menlo"/>
                <a:cs typeface="Menlo"/>
              </a:rPr>
              <a:t>−</a:t>
            </a:r>
            <a:r>
              <a:rPr sz="1050" i="1" spc="-30" baseline="-15873" dirty="0">
                <a:latin typeface="Arial"/>
                <a:cs typeface="Arial"/>
              </a:rPr>
              <a:t>1</a:t>
            </a:r>
            <a:r>
              <a:rPr sz="900" spc="-20" dirty="0">
                <a:latin typeface="Arial"/>
                <a:cs typeface="Arial"/>
              </a:rPr>
              <a:t>.</a:t>
            </a:r>
            <a:endParaRPr sz="900">
              <a:latin typeface="Arial"/>
              <a:cs typeface="Arial"/>
            </a:endParaRPr>
          </a:p>
          <a:p>
            <a:pPr marL="564515" indent="-116839">
              <a:lnSpc>
                <a:spcPct val="100000"/>
              </a:lnSpc>
              <a:spcBef>
                <a:spcPts val="130"/>
              </a:spcBef>
              <a:buClr>
                <a:srgbClr val="3333B2"/>
              </a:buClr>
              <a:buFont typeface="Menlo"/>
              <a:buChar char="•"/>
              <a:tabLst>
                <a:tab pos="565150" algn="l"/>
              </a:tabLst>
            </a:pPr>
            <a:r>
              <a:rPr sz="900" dirty="0">
                <a:latin typeface="Arial"/>
                <a:cs typeface="Arial"/>
              </a:rPr>
              <a:t>A</a:t>
            </a:r>
            <a:r>
              <a:rPr sz="900" spc="-25" dirty="0">
                <a:latin typeface="Arial"/>
                <a:cs typeface="Arial"/>
              </a:rPr>
              <a:t> </a:t>
            </a:r>
            <a:r>
              <a:rPr sz="900" dirty="0">
                <a:latin typeface="Arial"/>
                <a:cs typeface="Arial"/>
              </a:rPr>
              <a:t>client</a:t>
            </a:r>
            <a:r>
              <a:rPr sz="900" spc="-10" dirty="0">
                <a:latin typeface="Arial"/>
                <a:cs typeface="Arial"/>
              </a:rPr>
              <a:t> </a:t>
            </a:r>
            <a:r>
              <a:rPr sz="900" dirty="0">
                <a:latin typeface="Arial"/>
                <a:cs typeface="Arial"/>
              </a:rPr>
              <a:t>sends</a:t>
            </a:r>
            <a:r>
              <a:rPr sz="900" spc="-10" dirty="0">
                <a:latin typeface="Arial"/>
                <a:cs typeface="Arial"/>
              </a:rPr>
              <a:t> </a:t>
            </a:r>
            <a:r>
              <a:rPr sz="900" i="1" dirty="0">
                <a:latin typeface="Arial"/>
                <a:cs typeface="Arial"/>
              </a:rPr>
              <a:t>v</a:t>
            </a:r>
            <a:r>
              <a:rPr sz="900" i="1" spc="35" dirty="0">
                <a:latin typeface="Arial"/>
                <a:cs typeface="Arial"/>
              </a:rPr>
              <a:t> </a:t>
            </a:r>
            <a:r>
              <a:rPr sz="900" i="1" spc="50" dirty="0">
                <a:latin typeface="Menlo"/>
                <a:cs typeface="Menlo"/>
              </a:rPr>
              <a:t>∈</a:t>
            </a:r>
            <a:r>
              <a:rPr sz="900" i="1" spc="-345" dirty="0">
                <a:latin typeface="Menlo"/>
                <a:cs typeface="Menlo"/>
              </a:rPr>
              <a:t> </a:t>
            </a:r>
            <a:r>
              <a:rPr sz="900" i="1" dirty="0">
                <a:latin typeface="Menlo"/>
                <a:cs typeface="Menlo"/>
              </a:rPr>
              <a:t>{</a:t>
            </a:r>
            <a:r>
              <a:rPr sz="900" i="1" dirty="0">
                <a:latin typeface="Arial"/>
                <a:cs typeface="Arial"/>
              </a:rPr>
              <a:t>T,</a:t>
            </a:r>
            <a:r>
              <a:rPr sz="900" i="1" spc="-155" dirty="0">
                <a:latin typeface="Arial"/>
                <a:cs typeface="Arial"/>
              </a:rPr>
              <a:t> </a:t>
            </a:r>
            <a:r>
              <a:rPr sz="900" i="1" dirty="0">
                <a:latin typeface="Arial"/>
                <a:cs typeface="Arial"/>
              </a:rPr>
              <a:t>F</a:t>
            </a:r>
            <a:r>
              <a:rPr sz="900" i="1" dirty="0">
                <a:latin typeface="Menlo"/>
                <a:cs typeface="Menlo"/>
              </a:rPr>
              <a:t>}</a:t>
            </a:r>
            <a:r>
              <a:rPr sz="900" i="1" spc="-295" dirty="0">
                <a:latin typeface="Menlo"/>
                <a:cs typeface="Menlo"/>
              </a:rPr>
              <a:t> </a:t>
            </a:r>
            <a:r>
              <a:rPr sz="900" dirty="0">
                <a:latin typeface="Arial"/>
                <a:cs typeface="Arial"/>
              </a:rPr>
              <a:t>to</a:t>
            </a:r>
            <a:r>
              <a:rPr sz="900" spc="-10" dirty="0">
                <a:latin typeface="Arial"/>
                <a:cs typeface="Arial"/>
              </a:rPr>
              <a:t> </a:t>
            </a:r>
            <a:r>
              <a:rPr sz="900" i="1" spc="-50" dirty="0">
                <a:latin typeface="Arial"/>
                <a:cs typeface="Arial"/>
              </a:rPr>
              <a:t>P</a:t>
            </a:r>
            <a:endParaRPr sz="900">
              <a:latin typeface="Arial"/>
              <a:cs typeface="Arial"/>
            </a:endParaRPr>
          </a:p>
          <a:p>
            <a:pPr marL="568325" indent="-120650">
              <a:lnSpc>
                <a:spcPct val="100000"/>
              </a:lnSpc>
              <a:spcBef>
                <a:spcPts val="125"/>
              </a:spcBef>
              <a:buClr>
                <a:srgbClr val="3333B2"/>
              </a:buClr>
              <a:buFont typeface="Menlo"/>
              <a:buChar char="•"/>
              <a:tabLst>
                <a:tab pos="568960" algn="l"/>
              </a:tabLst>
            </a:pPr>
            <a:r>
              <a:rPr sz="900" dirty="0">
                <a:latin typeface="Arial"/>
                <a:cs typeface="Arial"/>
              </a:rPr>
              <a:t>Messages</a:t>
            </a:r>
            <a:r>
              <a:rPr sz="900" spc="-30" dirty="0">
                <a:latin typeface="Arial"/>
                <a:cs typeface="Arial"/>
              </a:rPr>
              <a:t> </a:t>
            </a:r>
            <a:r>
              <a:rPr sz="900" dirty="0">
                <a:latin typeface="Arial"/>
                <a:cs typeface="Arial"/>
              </a:rPr>
              <a:t>may</a:t>
            </a:r>
            <a:r>
              <a:rPr sz="900" spc="-30" dirty="0">
                <a:latin typeface="Arial"/>
                <a:cs typeface="Arial"/>
              </a:rPr>
              <a:t> </a:t>
            </a:r>
            <a:r>
              <a:rPr sz="900" dirty="0">
                <a:latin typeface="Arial"/>
                <a:cs typeface="Arial"/>
              </a:rPr>
              <a:t>be</a:t>
            </a:r>
            <a:r>
              <a:rPr sz="900" spc="-25" dirty="0">
                <a:latin typeface="Arial"/>
                <a:cs typeface="Arial"/>
              </a:rPr>
              <a:t> </a:t>
            </a:r>
            <a:r>
              <a:rPr sz="900" dirty="0">
                <a:solidFill>
                  <a:srgbClr val="3333B2"/>
                </a:solidFill>
                <a:latin typeface="Arial"/>
                <a:cs typeface="Arial"/>
              </a:rPr>
              <a:t>lost</a:t>
            </a:r>
            <a:r>
              <a:rPr sz="900" dirty="0">
                <a:latin typeface="Arial"/>
                <a:cs typeface="Arial"/>
              </a:rPr>
              <a:t>,</a:t>
            </a:r>
            <a:r>
              <a:rPr sz="900" spc="-30" dirty="0">
                <a:latin typeface="Arial"/>
                <a:cs typeface="Arial"/>
              </a:rPr>
              <a:t> </a:t>
            </a:r>
            <a:r>
              <a:rPr sz="900" dirty="0">
                <a:latin typeface="Arial"/>
                <a:cs typeface="Arial"/>
              </a:rPr>
              <a:t>but</a:t>
            </a:r>
            <a:r>
              <a:rPr sz="900" spc="-30" dirty="0">
                <a:latin typeface="Arial"/>
                <a:cs typeface="Arial"/>
              </a:rPr>
              <a:t> </a:t>
            </a:r>
            <a:r>
              <a:rPr sz="900" dirty="0">
                <a:latin typeface="Arial"/>
                <a:cs typeface="Arial"/>
              </a:rPr>
              <a:t>this</a:t>
            </a:r>
            <a:r>
              <a:rPr sz="900" spc="-25" dirty="0">
                <a:latin typeface="Arial"/>
                <a:cs typeface="Arial"/>
              </a:rPr>
              <a:t> </a:t>
            </a:r>
            <a:r>
              <a:rPr sz="900" dirty="0">
                <a:latin typeface="Arial"/>
                <a:cs typeface="Arial"/>
              </a:rPr>
              <a:t>can</a:t>
            </a:r>
            <a:r>
              <a:rPr sz="900" spc="-30" dirty="0">
                <a:latin typeface="Arial"/>
                <a:cs typeface="Arial"/>
              </a:rPr>
              <a:t> </a:t>
            </a:r>
            <a:r>
              <a:rPr sz="900" dirty="0">
                <a:latin typeface="Arial"/>
                <a:cs typeface="Arial"/>
              </a:rPr>
              <a:t>be</a:t>
            </a:r>
            <a:r>
              <a:rPr sz="900" spc="-30" dirty="0">
                <a:latin typeface="Arial"/>
                <a:cs typeface="Arial"/>
              </a:rPr>
              <a:t> </a:t>
            </a:r>
            <a:r>
              <a:rPr sz="900" spc="-10" dirty="0">
                <a:latin typeface="Arial"/>
                <a:cs typeface="Arial"/>
              </a:rPr>
              <a:t>detected.</a:t>
            </a:r>
            <a:endParaRPr sz="900">
              <a:latin typeface="Arial"/>
              <a:cs typeface="Arial"/>
            </a:endParaRPr>
          </a:p>
          <a:p>
            <a:pPr marL="568325" indent="-120650">
              <a:lnSpc>
                <a:spcPct val="100000"/>
              </a:lnSpc>
              <a:spcBef>
                <a:spcPts val="125"/>
              </a:spcBef>
              <a:buClr>
                <a:srgbClr val="3333B2"/>
              </a:buClr>
              <a:buFont typeface="Menlo"/>
              <a:buChar char="•"/>
              <a:tabLst>
                <a:tab pos="568960" algn="l"/>
              </a:tabLst>
            </a:pPr>
            <a:r>
              <a:rPr sz="900" dirty="0">
                <a:latin typeface="Arial"/>
                <a:cs typeface="Arial"/>
              </a:rPr>
              <a:t>Messages</a:t>
            </a:r>
            <a:r>
              <a:rPr sz="900" spc="-30" dirty="0">
                <a:latin typeface="Arial"/>
                <a:cs typeface="Arial"/>
              </a:rPr>
              <a:t> </a:t>
            </a:r>
            <a:r>
              <a:rPr sz="900" dirty="0">
                <a:solidFill>
                  <a:srgbClr val="3333B2"/>
                </a:solidFill>
                <a:latin typeface="Arial"/>
                <a:cs typeface="Arial"/>
              </a:rPr>
              <a:t>cannot</a:t>
            </a:r>
            <a:r>
              <a:rPr sz="900" spc="-30" dirty="0">
                <a:solidFill>
                  <a:srgbClr val="3333B2"/>
                </a:solidFill>
                <a:latin typeface="Arial"/>
                <a:cs typeface="Arial"/>
              </a:rPr>
              <a:t> </a:t>
            </a:r>
            <a:r>
              <a:rPr sz="900" dirty="0">
                <a:solidFill>
                  <a:srgbClr val="3333B2"/>
                </a:solidFill>
                <a:latin typeface="Arial"/>
                <a:cs typeface="Arial"/>
              </a:rPr>
              <a:t>be</a:t>
            </a:r>
            <a:r>
              <a:rPr sz="900" spc="-25" dirty="0">
                <a:solidFill>
                  <a:srgbClr val="3333B2"/>
                </a:solidFill>
                <a:latin typeface="Arial"/>
                <a:cs typeface="Arial"/>
              </a:rPr>
              <a:t> </a:t>
            </a:r>
            <a:r>
              <a:rPr sz="900" dirty="0">
                <a:solidFill>
                  <a:srgbClr val="3333B2"/>
                </a:solidFill>
                <a:latin typeface="Arial"/>
                <a:cs typeface="Arial"/>
              </a:rPr>
              <a:t>corrupted</a:t>
            </a:r>
            <a:r>
              <a:rPr sz="900" spc="-30" dirty="0">
                <a:solidFill>
                  <a:srgbClr val="3333B2"/>
                </a:solidFill>
                <a:latin typeface="Arial"/>
                <a:cs typeface="Arial"/>
              </a:rPr>
              <a:t> </a:t>
            </a:r>
            <a:r>
              <a:rPr sz="900" spc="-10" dirty="0">
                <a:latin typeface="Arial"/>
                <a:cs typeface="Arial"/>
              </a:rPr>
              <a:t>beyond</a:t>
            </a:r>
            <a:r>
              <a:rPr sz="900" spc="-30" dirty="0">
                <a:latin typeface="Arial"/>
                <a:cs typeface="Arial"/>
              </a:rPr>
              <a:t> </a:t>
            </a:r>
            <a:r>
              <a:rPr sz="900" spc="-10" dirty="0">
                <a:latin typeface="Arial"/>
                <a:cs typeface="Arial"/>
              </a:rPr>
              <a:t>detection.</a:t>
            </a:r>
            <a:endParaRPr sz="900">
              <a:latin typeface="Arial"/>
              <a:cs typeface="Arial"/>
            </a:endParaRPr>
          </a:p>
          <a:p>
            <a:pPr marL="564515" indent="-116839">
              <a:lnSpc>
                <a:spcPct val="100000"/>
              </a:lnSpc>
              <a:spcBef>
                <a:spcPts val="125"/>
              </a:spcBef>
              <a:buClr>
                <a:srgbClr val="3333B2"/>
              </a:buClr>
              <a:buFont typeface="Menlo"/>
              <a:buChar char="•"/>
              <a:tabLst>
                <a:tab pos="565150" algn="l"/>
              </a:tabLst>
            </a:pPr>
            <a:r>
              <a:rPr sz="900" dirty="0">
                <a:latin typeface="Arial"/>
                <a:cs typeface="Arial"/>
              </a:rPr>
              <a:t>A</a:t>
            </a:r>
            <a:r>
              <a:rPr sz="900" spc="-30" dirty="0">
                <a:latin typeface="Arial"/>
                <a:cs typeface="Arial"/>
              </a:rPr>
              <a:t> </a:t>
            </a:r>
            <a:r>
              <a:rPr sz="900" dirty="0">
                <a:latin typeface="Arial"/>
                <a:cs typeface="Arial"/>
              </a:rPr>
              <a:t>receiver</a:t>
            </a:r>
            <a:r>
              <a:rPr sz="900" spc="-30"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message</a:t>
            </a:r>
            <a:r>
              <a:rPr sz="900" spc="-30" dirty="0">
                <a:latin typeface="Arial"/>
                <a:cs typeface="Arial"/>
              </a:rPr>
              <a:t> </a:t>
            </a:r>
            <a:r>
              <a:rPr sz="900" dirty="0">
                <a:latin typeface="Arial"/>
                <a:cs typeface="Arial"/>
              </a:rPr>
              <a:t>can</a:t>
            </a:r>
            <a:r>
              <a:rPr sz="900" spc="-25" dirty="0">
                <a:latin typeface="Arial"/>
                <a:cs typeface="Arial"/>
              </a:rPr>
              <a:t> </a:t>
            </a:r>
            <a:r>
              <a:rPr sz="900" dirty="0">
                <a:solidFill>
                  <a:srgbClr val="3333B2"/>
                </a:solidFill>
                <a:latin typeface="Arial"/>
                <a:cs typeface="Arial"/>
              </a:rPr>
              <a:t>reliably</a:t>
            </a:r>
            <a:r>
              <a:rPr sz="900" spc="-30" dirty="0">
                <a:solidFill>
                  <a:srgbClr val="3333B2"/>
                </a:solidFill>
                <a:latin typeface="Arial"/>
                <a:cs typeface="Arial"/>
              </a:rPr>
              <a:t> </a:t>
            </a:r>
            <a:r>
              <a:rPr sz="900" dirty="0">
                <a:solidFill>
                  <a:srgbClr val="3333B2"/>
                </a:solidFill>
                <a:latin typeface="Arial"/>
                <a:cs typeface="Arial"/>
              </a:rPr>
              <a:t>detect</a:t>
            </a:r>
            <a:r>
              <a:rPr sz="900" spc="-30" dirty="0">
                <a:solidFill>
                  <a:srgbClr val="3333B2"/>
                </a:solidFill>
                <a:latin typeface="Arial"/>
                <a:cs typeface="Arial"/>
              </a:rPr>
              <a:t> </a:t>
            </a:r>
            <a:r>
              <a:rPr sz="900" dirty="0">
                <a:solidFill>
                  <a:srgbClr val="3333B2"/>
                </a:solidFill>
                <a:latin typeface="Arial"/>
                <a:cs typeface="Arial"/>
              </a:rPr>
              <a:t>its</a:t>
            </a:r>
            <a:r>
              <a:rPr sz="900" spc="-25" dirty="0">
                <a:solidFill>
                  <a:srgbClr val="3333B2"/>
                </a:solidFill>
                <a:latin typeface="Arial"/>
                <a:cs typeface="Arial"/>
              </a:rPr>
              <a:t> </a:t>
            </a:r>
            <a:r>
              <a:rPr sz="900" spc="-10" dirty="0">
                <a:solidFill>
                  <a:srgbClr val="3333B2"/>
                </a:solidFill>
                <a:latin typeface="Arial"/>
                <a:cs typeface="Arial"/>
              </a:rPr>
              <a:t>sender</a:t>
            </a:r>
            <a:r>
              <a:rPr sz="900" spc="-10" dirty="0">
                <a:latin typeface="Arial"/>
                <a:cs typeface="Arial"/>
              </a:rPr>
              <a:t>.</a:t>
            </a:r>
            <a:endParaRPr sz="900">
              <a:latin typeface="Arial"/>
              <a:cs typeface="Arial"/>
            </a:endParaRPr>
          </a:p>
          <a:p>
            <a:pPr>
              <a:lnSpc>
                <a:spcPct val="100000"/>
              </a:lnSpc>
              <a:spcBef>
                <a:spcPts val="50"/>
              </a:spcBef>
              <a:buClr>
                <a:srgbClr val="3333B2"/>
              </a:buClr>
              <a:buFont typeface="Menlo"/>
              <a:buChar char="•"/>
            </a:pPr>
            <a:endParaRPr sz="1150">
              <a:latin typeface="Arial"/>
              <a:cs typeface="Arial"/>
            </a:endParaRPr>
          </a:p>
          <a:p>
            <a:pPr marL="314960">
              <a:lnSpc>
                <a:spcPct val="100000"/>
              </a:lnSpc>
            </a:pPr>
            <a:r>
              <a:rPr sz="1000" dirty="0">
                <a:solidFill>
                  <a:srgbClr val="3333B2"/>
                </a:solidFill>
                <a:latin typeface="Arial"/>
                <a:cs typeface="Arial"/>
              </a:rPr>
              <a:t>Byzantine</a:t>
            </a:r>
            <a:r>
              <a:rPr sz="1000" spc="-55" dirty="0">
                <a:solidFill>
                  <a:srgbClr val="3333B2"/>
                </a:solidFill>
                <a:latin typeface="Arial"/>
                <a:cs typeface="Arial"/>
              </a:rPr>
              <a:t> </a:t>
            </a:r>
            <a:r>
              <a:rPr sz="1000" dirty="0">
                <a:solidFill>
                  <a:srgbClr val="3333B2"/>
                </a:solidFill>
                <a:latin typeface="Arial"/>
                <a:cs typeface="Arial"/>
              </a:rPr>
              <a:t>agreement:</a:t>
            </a:r>
            <a:r>
              <a:rPr sz="1000" spc="5" dirty="0">
                <a:solidFill>
                  <a:srgbClr val="3333B2"/>
                </a:solidFill>
                <a:latin typeface="Arial"/>
                <a:cs typeface="Arial"/>
              </a:rPr>
              <a:t> </a:t>
            </a:r>
            <a:r>
              <a:rPr sz="1000" spc="-10" dirty="0">
                <a:solidFill>
                  <a:srgbClr val="3333B2"/>
                </a:solidFill>
                <a:latin typeface="Arial"/>
                <a:cs typeface="Arial"/>
              </a:rPr>
              <a:t>requirements</a:t>
            </a:r>
            <a:endParaRPr sz="1000">
              <a:latin typeface="Arial"/>
              <a:cs typeface="Arial"/>
            </a:endParaRPr>
          </a:p>
          <a:p>
            <a:pPr marL="314960">
              <a:lnSpc>
                <a:spcPct val="100000"/>
              </a:lnSpc>
              <a:spcBef>
                <a:spcPts val="710"/>
              </a:spcBef>
            </a:pPr>
            <a:r>
              <a:rPr sz="900" dirty="0">
                <a:solidFill>
                  <a:srgbClr val="3333B2"/>
                </a:solidFill>
                <a:latin typeface="Arial"/>
                <a:cs typeface="Arial"/>
              </a:rPr>
              <a:t>BA1:</a:t>
            </a:r>
            <a:r>
              <a:rPr sz="900" spc="204" dirty="0">
                <a:solidFill>
                  <a:srgbClr val="3333B2"/>
                </a:solidFill>
                <a:latin typeface="Arial"/>
                <a:cs typeface="Arial"/>
              </a:rPr>
              <a:t> </a:t>
            </a:r>
            <a:r>
              <a:rPr sz="900" dirty="0">
                <a:latin typeface="Arial"/>
                <a:cs typeface="Arial"/>
              </a:rPr>
              <a:t>Every</a:t>
            </a:r>
            <a:r>
              <a:rPr sz="900" spc="-20" dirty="0">
                <a:latin typeface="Arial"/>
                <a:cs typeface="Arial"/>
              </a:rPr>
              <a:t> </a:t>
            </a:r>
            <a:r>
              <a:rPr sz="900" spc="-10" dirty="0">
                <a:latin typeface="Arial"/>
                <a:cs typeface="Arial"/>
              </a:rPr>
              <a:t>nonfaulty</a:t>
            </a:r>
            <a:r>
              <a:rPr sz="900" spc="-25" dirty="0">
                <a:latin typeface="Arial"/>
                <a:cs typeface="Arial"/>
              </a:rPr>
              <a:t> </a:t>
            </a:r>
            <a:r>
              <a:rPr sz="900" dirty="0">
                <a:latin typeface="Arial"/>
                <a:cs typeface="Arial"/>
              </a:rPr>
              <a:t>backup</a:t>
            </a:r>
            <a:r>
              <a:rPr sz="900" spc="-25" dirty="0">
                <a:latin typeface="Arial"/>
                <a:cs typeface="Arial"/>
              </a:rPr>
              <a:t> </a:t>
            </a:r>
            <a:r>
              <a:rPr sz="900" dirty="0">
                <a:latin typeface="Arial"/>
                <a:cs typeface="Arial"/>
              </a:rPr>
              <a:t>process</a:t>
            </a:r>
            <a:r>
              <a:rPr sz="900" spc="-20" dirty="0">
                <a:latin typeface="Arial"/>
                <a:cs typeface="Arial"/>
              </a:rPr>
              <a:t> </a:t>
            </a:r>
            <a:r>
              <a:rPr sz="900" dirty="0">
                <a:latin typeface="Arial"/>
                <a:cs typeface="Arial"/>
              </a:rPr>
              <a:t>stores</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same</a:t>
            </a:r>
            <a:r>
              <a:rPr sz="900" spc="-20" dirty="0">
                <a:latin typeface="Arial"/>
                <a:cs typeface="Arial"/>
              </a:rPr>
              <a:t> </a:t>
            </a:r>
            <a:r>
              <a:rPr sz="900" spc="-10" dirty="0">
                <a:latin typeface="Arial"/>
                <a:cs typeface="Arial"/>
              </a:rPr>
              <a:t>value.</a:t>
            </a:r>
            <a:endParaRPr sz="900">
              <a:latin typeface="Arial"/>
              <a:cs typeface="Arial"/>
            </a:endParaRPr>
          </a:p>
          <a:p>
            <a:pPr marL="625475" marR="127635" indent="-310515">
              <a:lnSpc>
                <a:spcPct val="111600"/>
              </a:lnSpc>
            </a:pPr>
            <a:r>
              <a:rPr sz="900" dirty="0">
                <a:solidFill>
                  <a:srgbClr val="3333B2"/>
                </a:solidFill>
                <a:latin typeface="Arial"/>
                <a:cs typeface="Arial"/>
              </a:rPr>
              <a:t>BA2:</a:t>
            </a:r>
            <a:r>
              <a:rPr sz="900" spc="220" dirty="0">
                <a:solidFill>
                  <a:srgbClr val="3333B2"/>
                </a:solidFill>
                <a:latin typeface="Arial"/>
                <a:cs typeface="Arial"/>
              </a:rPr>
              <a:t> </a:t>
            </a:r>
            <a:r>
              <a:rPr sz="900" dirty="0">
                <a:latin typeface="Arial"/>
                <a:cs typeface="Arial"/>
              </a:rPr>
              <a:t>If</a:t>
            </a:r>
            <a:r>
              <a:rPr sz="900" spc="-20"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primary</a:t>
            </a:r>
            <a:r>
              <a:rPr sz="900" spc="-20" dirty="0">
                <a:latin typeface="Arial"/>
                <a:cs typeface="Arial"/>
              </a:rPr>
              <a:t> </a:t>
            </a:r>
            <a:r>
              <a:rPr sz="900" dirty="0">
                <a:latin typeface="Arial"/>
                <a:cs typeface="Arial"/>
              </a:rPr>
              <a:t>is</a:t>
            </a:r>
            <a:r>
              <a:rPr sz="900" spc="-15" dirty="0">
                <a:latin typeface="Arial"/>
                <a:cs typeface="Arial"/>
              </a:rPr>
              <a:t> </a:t>
            </a:r>
            <a:r>
              <a:rPr sz="900" spc="-10" dirty="0">
                <a:latin typeface="Arial"/>
                <a:cs typeface="Arial"/>
              </a:rPr>
              <a:t>nonfaulty</a:t>
            </a:r>
            <a:r>
              <a:rPr sz="900" spc="-20" dirty="0">
                <a:latin typeface="Arial"/>
                <a:cs typeface="Arial"/>
              </a:rPr>
              <a:t> </a:t>
            </a:r>
            <a:r>
              <a:rPr sz="900" dirty="0">
                <a:latin typeface="Arial"/>
                <a:cs typeface="Arial"/>
              </a:rPr>
              <a:t>then</a:t>
            </a:r>
            <a:r>
              <a:rPr sz="900" spc="-15" dirty="0">
                <a:latin typeface="Arial"/>
                <a:cs typeface="Arial"/>
              </a:rPr>
              <a:t> </a:t>
            </a:r>
            <a:r>
              <a:rPr sz="900" dirty="0">
                <a:latin typeface="Arial"/>
                <a:cs typeface="Arial"/>
              </a:rPr>
              <a:t>every</a:t>
            </a:r>
            <a:r>
              <a:rPr sz="900" spc="-15" dirty="0">
                <a:latin typeface="Arial"/>
                <a:cs typeface="Arial"/>
              </a:rPr>
              <a:t> </a:t>
            </a:r>
            <a:r>
              <a:rPr sz="900" spc="-10" dirty="0">
                <a:latin typeface="Arial"/>
                <a:cs typeface="Arial"/>
              </a:rPr>
              <a:t>nonfaulty</a:t>
            </a:r>
            <a:r>
              <a:rPr sz="900" spc="-20" dirty="0">
                <a:latin typeface="Arial"/>
                <a:cs typeface="Arial"/>
              </a:rPr>
              <a:t> </a:t>
            </a:r>
            <a:r>
              <a:rPr sz="900" dirty="0">
                <a:latin typeface="Arial"/>
                <a:cs typeface="Arial"/>
              </a:rPr>
              <a:t>backup</a:t>
            </a:r>
            <a:r>
              <a:rPr sz="900" spc="-15" dirty="0">
                <a:latin typeface="Arial"/>
                <a:cs typeface="Arial"/>
              </a:rPr>
              <a:t> </a:t>
            </a:r>
            <a:r>
              <a:rPr sz="900" dirty="0">
                <a:latin typeface="Arial"/>
                <a:cs typeface="Arial"/>
              </a:rPr>
              <a:t>process</a:t>
            </a:r>
            <a:r>
              <a:rPr sz="900" spc="-20" dirty="0">
                <a:latin typeface="Arial"/>
                <a:cs typeface="Arial"/>
              </a:rPr>
              <a:t> </a:t>
            </a:r>
            <a:r>
              <a:rPr sz="900" spc="-10" dirty="0">
                <a:latin typeface="Arial"/>
                <a:cs typeface="Arial"/>
              </a:rPr>
              <a:t>stores exactly</a:t>
            </a:r>
            <a:r>
              <a:rPr sz="900" spc="-15" dirty="0">
                <a:latin typeface="Arial"/>
                <a:cs typeface="Arial"/>
              </a:rPr>
              <a:t> </a:t>
            </a:r>
            <a:r>
              <a:rPr sz="900" dirty="0">
                <a:latin typeface="Arial"/>
                <a:cs typeface="Arial"/>
              </a:rPr>
              <a:t>what</a:t>
            </a:r>
            <a:r>
              <a:rPr sz="900" spc="-10" dirty="0">
                <a:latin typeface="Arial"/>
                <a:cs typeface="Arial"/>
              </a:rPr>
              <a:t> </a:t>
            </a:r>
            <a:r>
              <a:rPr sz="900" dirty="0">
                <a:latin typeface="Arial"/>
                <a:cs typeface="Arial"/>
              </a:rPr>
              <a:t>the</a:t>
            </a:r>
            <a:r>
              <a:rPr sz="900" spc="-10" dirty="0">
                <a:latin typeface="Arial"/>
                <a:cs typeface="Arial"/>
              </a:rPr>
              <a:t> </a:t>
            </a:r>
            <a:r>
              <a:rPr sz="900" dirty="0">
                <a:latin typeface="Arial"/>
                <a:cs typeface="Arial"/>
              </a:rPr>
              <a:t>primary</a:t>
            </a:r>
            <a:r>
              <a:rPr sz="900" spc="-10" dirty="0">
                <a:latin typeface="Arial"/>
                <a:cs typeface="Arial"/>
              </a:rPr>
              <a:t> </a:t>
            </a:r>
            <a:r>
              <a:rPr sz="900" dirty="0">
                <a:latin typeface="Arial"/>
                <a:cs typeface="Arial"/>
              </a:rPr>
              <a:t>had</a:t>
            </a:r>
            <a:r>
              <a:rPr sz="900" spc="-10" dirty="0">
                <a:latin typeface="Arial"/>
                <a:cs typeface="Arial"/>
              </a:rPr>
              <a:t> sent.</a:t>
            </a:r>
            <a:endParaRPr sz="900">
              <a:latin typeface="Arial"/>
              <a:cs typeface="Arial"/>
            </a:endParaRPr>
          </a:p>
          <a:p>
            <a:pPr>
              <a:lnSpc>
                <a:spcPct val="100000"/>
              </a:lnSpc>
              <a:spcBef>
                <a:spcPts val="45"/>
              </a:spcBef>
            </a:pPr>
            <a:endParaRPr sz="1150">
              <a:latin typeface="Arial"/>
              <a:cs typeface="Arial"/>
            </a:endParaRPr>
          </a:p>
          <a:p>
            <a:pPr marL="314960">
              <a:lnSpc>
                <a:spcPct val="100000"/>
              </a:lnSpc>
            </a:pPr>
            <a:r>
              <a:rPr sz="1000" spc="-10" dirty="0">
                <a:solidFill>
                  <a:srgbClr val="C80000"/>
                </a:solidFill>
                <a:latin typeface="Arial"/>
                <a:cs typeface="Arial"/>
              </a:rPr>
              <a:t>Observation</a:t>
            </a:r>
            <a:endParaRPr sz="1000">
              <a:latin typeface="Arial"/>
              <a:cs typeface="Arial"/>
            </a:endParaRPr>
          </a:p>
          <a:p>
            <a:pPr marL="564515" marR="43180" indent="-116839">
              <a:lnSpc>
                <a:spcPct val="111600"/>
              </a:lnSpc>
              <a:spcBef>
                <a:spcPts val="375"/>
              </a:spcBef>
              <a:buClr>
                <a:srgbClr val="3333B2"/>
              </a:buClr>
              <a:buFont typeface="Menlo"/>
              <a:buChar char="•"/>
              <a:tabLst>
                <a:tab pos="568960" algn="l"/>
              </a:tabLst>
            </a:pPr>
            <a:r>
              <a:rPr sz="900" spc="-10" dirty="0">
                <a:latin typeface="Arial"/>
                <a:cs typeface="Arial"/>
              </a:rPr>
              <a:t>Primary</a:t>
            </a:r>
            <a:r>
              <a:rPr sz="900" spc="-55" dirty="0">
                <a:latin typeface="Arial"/>
                <a:cs typeface="Arial"/>
              </a:rPr>
              <a:t> </a:t>
            </a:r>
            <a:r>
              <a:rPr sz="900" spc="-10" dirty="0">
                <a:latin typeface="Arial"/>
                <a:cs typeface="Arial"/>
              </a:rPr>
              <a:t>faulty</a:t>
            </a:r>
            <a:r>
              <a:rPr sz="900" spc="-30" dirty="0">
                <a:latin typeface="Arial"/>
                <a:cs typeface="Arial"/>
              </a:rPr>
              <a:t> </a:t>
            </a:r>
            <a:r>
              <a:rPr sz="900" i="1" spc="350" dirty="0">
                <a:latin typeface="Menlo"/>
                <a:cs typeface="Menlo"/>
              </a:rPr>
              <a:t>⇒</a:t>
            </a:r>
            <a:r>
              <a:rPr sz="900" i="1" spc="-305" dirty="0">
                <a:latin typeface="Menlo"/>
                <a:cs typeface="Menlo"/>
              </a:rPr>
              <a:t> </a:t>
            </a:r>
            <a:r>
              <a:rPr sz="900" dirty="0">
                <a:latin typeface="Arial"/>
                <a:cs typeface="Arial"/>
              </a:rPr>
              <a:t>BA1</a:t>
            </a:r>
            <a:r>
              <a:rPr sz="900" spc="-30" dirty="0">
                <a:latin typeface="Arial"/>
                <a:cs typeface="Arial"/>
              </a:rPr>
              <a:t> </a:t>
            </a:r>
            <a:r>
              <a:rPr sz="900" spc="-20" dirty="0">
                <a:latin typeface="Arial"/>
                <a:cs typeface="Arial"/>
              </a:rPr>
              <a:t>says</a:t>
            </a:r>
            <a:r>
              <a:rPr sz="900" spc="-35" dirty="0">
                <a:latin typeface="Arial"/>
                <a:cs typeface="Arial"/>
              </a:rPr>
              <a:t> </a:t>
            </a:r>
            <a:r>
              <a:rPr sz="900" dirty="0">
                <a:latin typeface="Arial"/>
                <a:cs typeface="Arial"/>
              </a:rPr>
              <a:t>that</a:t>
            </a:r>
            <a:r>
              <a:rPr sz="900" spc="-30" dirty="0">
                <a:latin typeface="Arial"/>
                <a:cs typeface="Arial"/>
              </a:rPr>
              <a:t> </a:t>
            </a:r>
            <a:r>
              <a:rPr sz="900" spc="-20" dirty="0">
                <a:latin typeface="Arial"/>
                <a:cs typeface="Arial"/>
              </a:rPr>
              <a:t>backups</a:t>
            </a:r>
            <a:r>
              <a:rPr sz="900" spc="-35" dirty="0">
                <a:latin typeface="Arial"/>
                <a:cs typeface="Arial"/>
              </a:rPr>
              <a:t> </a:t>
            </a:r>
            <a:r>
              <a:rPr sz="900" spc="-20" dirty="0">
                <a:latin typeface="Arial"/>
                <a:cs typeface="Arial"/>
              </a:rPr>
              <a:t>may</a:t>
            </a:r>
            <a:r>
              <a:rPr sz="900" spc="-35" dirty="0">
                <a:latin typeface="Arial"/>
                <a:cs typeface="Arial"/>
              </a:rPr>
              <a:t> </a:t>
            </a:r>
            <a:r>
              <a:rPr sz="900" spc="-10" dirty="0">
                <a:latin typeface="Arial"/>
                <a:cs typeface="Arial"/>
              </a:rPr>
              <a:t>store</a:t>
            </a:r>
            <a:r>
              <a:rPr sz="900" spc="-30" dirty="0">
                <a:latin typeface="Arial"/>
                <a:cs typeface="Arial"/>
              </a:rPr>
              <a:t> </a:t>
            </a:r>
            <a:r>
              <a:rPr sz="900" dirty="0">
                <a:latin typeface="Arial"/>
                <a:cs typeface="Arial"/>
              </a:rPr>
              <a:t>the</a:t>
            </a:r>
            <a:r>
              <a:rPr sz="900" spc="-35" dirty="0">
                <a:latin typeface="Arial"/>
                <a:cs typeface="Arial"/>
              </a:rPr>
              <a:t> </a:t>
            </a:r>
            <a:r>
              <a:rPr sz="900" spc="-10" dirty="0">
                <a:latin typeface="Arial"/>
                <a:cs typeface="Arial"/>
              </a:rPr>
              <a:t>same,</a:t>
            </a:r>
            <a:r>
              <a:rPr sz="900" spc="-30" dirty="0">
                <a:latin typeface="Arial"/>
                <a:cs typeface="Arial"/>
              </a:rPr>
              <a:t> </a:t>
            </a:r>
            <a:r>
              <a:rPr sz="900" spc="-10" dirty="0">
                <a:latin typeface="Arial"/>
                <a:cs typeface="Arial"/>
              </a:rPr>
              <a:t>but</a:t>
            </a:r>
            <a:r>
              <a:rPr sz="900" spc="-30" dirty="0">
                <a:latin typeface="Arial"/>
                <a:cs typeface="Arial"/>
              </a:rPr>
              <a:t> </a:t>
            </a:r>
            <a:r>
              <a:rPr sz="900" spc="-10" dirty="0">
                <a:latin typeface="Arial"/>
                <a:cs typeface="Arial"/>
              </a:rPr>
              <a:t>different </a:t>
            </a:r>
            <a:r>
              <a:rPr sz="900" dirty="0">
                <a:latin typeface="Arial"/>
                <a:cs typeface="Arial"/>
              </a:rPr>
              <a:t>(and</a:t>
            </a:r>
            <a:r>
              <a:rPr sz="900" spc="-30" dirty="0">
                <a:latin typeface="Arial"/>
                <a:cs typeface="Arial"/>
              </a:rPr>
              <a:t> </a:t>
            </a:r>
            <a:r>
              <a:rPr sz="900" dirty="0">
                <a:latin typeface="Arial"/>
                <a:cs typeface="Arial"/>
              </a:rPr>
              <a:t>thus</a:t>
            </a:r>
            <a:r>
              <a:rPr sz="900" spc="-30" dirty="0">
                <a:latin typeface="Arial"/>
                <a:cs typeface="Arial"/>
              </a:rPr>
              <a:t> </a:t>
            </a:r>
            <a:r>
              <a:rPr sz="900" dirty="0">
                <a:latin typeface="Arial"/>
                <a:cs typeface="Arial"/>
              </a:rPr>
              <a:t>wrong)</a:t>
            </a:r>
            <a:r>
              <a:rPr sz="900" spc="-30" dirty="0">
                <a:latin typeface="Arial"/>
                <a:cs typeface="Arial"/>
              </a:rPr>
              <a:t> </a:t>
            </a:r>
            <a:r>
              <a:rPr sz="900" dirty="0">
                <a:latin typeface="Arial"/>
                <a:cs typeface="Arial"/>
              </a:rPr>
              <a:t>value</a:t>
            </a:r>
            <a:r>
              <a:rPr sz="900" spc="-25" dirty="0">
                <a:latin typeface="Arial"/>
                <a:cs typeface="Arial"/>
              </a:rPr>
              <a:t> </a:t>
            </a:r>
            <a:r>
              <a:rPr sz="900" dirty="0">
                <a:latin typeface="Arial"/>
                <a:cs typeface="Arial"/>
              </a:rPr>
              <a:t>than</a:t>
            </a:r>
            <a:r>
              <a:rPr sz="900" spc="-30" dirty="0">
                <a:latin typeface="Arial"/>
                <a:cs typeface="Arial"/>
              </a:rPr>
              <a:t> </a:t>
            </a:r>
            <a:r>
              <a:rPr sz="900" dirty="0">
                <a:latin typeface="Arial"/>
                <a:cs typeface="Arial"/>
              </a:rPr>
              <a:t>originally</a:t>
            </a:r>
            <a:r>
              <a:rPr sz="900" spc="-30" dirty="0">
                <a:latin typeface="Arial"/>
                <a:cs typeface="Arial"/>
              </a:rPr>
              <a:t> </a:t>
            </a:r>
            <a:r>
              <a:rPr sz="900" dirty="0">
                <a:latin typeface="Arial"/>
                <a:cs typeface="Arial"/>
              </a:rPr>
              <a:t>sent</a:t>
            </a:r>
            <a:r>
              <a:rPr sz="900" spc="-25" dirty="0">
                <a:latin typeface="Arial"/>
                <a:cs typeface="Arial"/>
              </a:rPr>
              <a:t> </a:t>
            </a:r>
            <a:r>
              <a:rPr sz="900" dirty="0">
                <a:latin typeface="Arial"/>
                <a:cs typeface="Arial"/>
              </a:rPr>
              <a:t>by</a:t>
            </a:r>
            <a:r>
              <a:rPr sz="900" spc="-30" dirty="0">
                <a:latin typeface="Arial"/>
                <a:cs typeface="Arial"/>
              </a:rPr>
              <a:t> </a:t>
            </a:r>
            <a:r>
              <a:rPr sz="900" dirty="0">
                <a:latin typeface="Arial"/>
                <a:cs typeface="Arial"/>
              </a:rPr>
              <a:t>the</a:t>
            </a:r>
            <a:r>
              <a:rPr sz="900" spc="-30" dirty="0">
                <a:latin typeface="Arial"/>
                <a:cs typeface="Arial"/>
              </a:rPr>
              <a:t> </a:t>
            </a:r>
            <a:r>
              <a:rPr sz="900" spc="-10" dirty="0">
                <a:latin typeface="Arial"/>
                <a:cs typeface="Arial"/>
              </a:rPr>
              <a:t>client.</a:t>
            </a:r>
            <a:endParaRPr sz="900">
              <a:latin typeface="Arial"/>
              <a:cs typeface="Arial"/>
            </a:endParaRPr>
          </a:p>
          <a:p>
            <a:pPr marL="568325" indent="-120650">
              <a:lnSpc>
                <a:spcPct val="100000"/>
              </a:lnSpc>
              <a:spcBef>
                <a:spcPts val="130"/>
              </a:spcBef>
              <a:buClr>
                <a:srgbClr val="3333B2"/>
              </a:buClr>
              <a:buFont typeface="Menlo"/>
              <a:buChar char="•"/>
              <a:tabLst>
                <a:tab pos="568960" algn="l"/>
              </a:tabLst>
            </a:pPr>
            <a:r>
              <a:rPr sz="900" dirty="0">
                <a:latin typeface="Arial"/>
                <a:cs typeface="Arial"/>
              </a:rPr>
              <a:t>Primary</a:t>
            </a:r>
            <a:r>
              <a:rPr sz="900" spc="-45" dirty="0">
                <a:latin typeface="Arial"/>
                <a:cs typeface="Arial"/>
              </a:rPr>
              <a:t> </a:t>
            </a:r>
            <a:r>
              <a:rPr sz="900" dirty="0">
                <a:latin typeface="Arial"/>
                <a:cs typeface="Arial"/>
              </a:rPr>
              <a:t>not</a:t>
            </a:r>
            <a:r>
              <a:rPr sz="900" spc="-20" dirty="0">
                <a:latin typeface="Arial"/>
                <a:cs typeface="Arial"/>
              </a:rPr>
              <a:t> </a:t>
            </a:r>
            <a:r>
              <a:rPr sz="900" dirty="0">
                <a:latin typeface="Arial"/>
                <a:cs typeface="Arial"/>
              </a:rPr>
              <a:t>faulty</a:t>
            </a:r>
            <a:r>
              <a:rPr sz="900" spc="-25" dirty="0">
                <a:latin typeface="Arial"/>
                <a:cs typeface="Arial"/>
              </a:rPr>
              <a:t> </a:t>
            </a:r>
            <a:r>
              <a:rPr sz="900" i="1" spc="350" dirty="0">
                <a:latin typeface="Menlo"/>
                <a:cs typeface="Menlo"/>
              </a:rPr>
              <a:t>⇒</a:t>
            </a:r>
            <a:r>
              <a:rPr sz="900" i="1" spc="-295" dirty="0">
                <a:latin typeface="Menlo"/>
                <a:cs typeface="Menlo"/>
              </a:rPr>
              <a:t> </a:t>
            </a:r>
            <a:r>
              <a:rPr sz="900" dirty="0">
                <a:latin typeface="Arial"/>
                <a:cs typeface="Arial"/>
              </a:rPr>
              <a:t>satisfying</a:t>
            </a:r>
            <a:r>
              <a:rPr sz="900" spc="-20" dirty="0">
                <a:latin typeface="Arial"/>
                <a:cs typeface="Arial"/>
              </a:rPr>
              <a:t> </a:t>
            </a:r>
            <a:r>
              <a:rPr sz="900" dirty="0">
                <a:latin typeface="Arial"/>
                <a:cs typeface="Arial"/>
              </a:rPr>
              <a:t>BA2</a:t>
            </a:r>
            <a:r>
              <a:rPr sz="900" spc="-25" dirty="0">
                <a:latin typeface="Arial"/>
                <a:cs typeface="Arial"/>
              </a:rPr>
              <a:t> </a:t>
            </a:r>
            <a:r>
              <a:rPr sz="900" dirty="0">
                <a:latin typeface="Arial"/>
                <a:cs typeface="Arial"/>
              </a:rPr>
              <a:t>implies</a:t>
            </a:r>
            <a:r>
              <a:rPr sz="900" spc="-25" dirty="0">
                <a:latin typeface="Arial"/>
                <a:cs typeface="Arial"/>
              </a:rPr>
              <a:t> </a:t>
            </a:r>
            <a:r>
              <a:rPr sz="900" dirty="0">
                <a:latin typeface="Arial"/>
                <a:cs typeface="Arial"/>
              </a:rPr>
              <a:t>that</a:t>
            </a:r>
            <a:r>
              <a:rPr sz="900" spc="-20" dirty="0">
                <a:latin typeface="Arial"/>
                <a:cs typeface="Arial"/>
              </a:rPr>
              <a:t> </a:t>
            </a:r>
            <a:r>
              <a:rPr sz="900" dirty="0">
                <a:latin typeface="Arial"/>
                <a:cs typeface="Arial"/>
              </a:rPr>
              <a:t>BA1</a:t>
            </a:r>
            <a:r>
              <a:rPr sz="900" spc="-25" dirty="0">
                <a:latin typeface="Arial"/>
                <a:cs typeface="Arial"/>
              </a:rPr>
              <a:t> </a:t>
            </a:r>
            <a:r>
              <a:rPr sz="900" dirty="0">
                <a:latin typeface="Arial"/>
                <a:cs typeface="Arial"/>
              </a:rPr>
              <a:t>is</a:t>
            </a:r>
            <a:r>
              <a:rPr sz="900" spc="-20" dirty="0">
                <a:latin typeface="Arial"/>
                <a:cs typeface="Arial"/>
              </a:rPr>
              <a:t> </a:t>
            </a:r>
            <a:r>
              <a:rPr sz="900" spc="-10" dirty="0">
                <a:latin typeface="Arial"/>
                <a:cs typeface="Arial"/>
              </a:rPr>
              <a:t>satisfied.</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142621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Consensus</a:t>
            </a:r>
            <a:r>
              <a:rPr sz="500" spc="-25" dirty="0">
                <a:latin typeface="Arial"/>
                <a:cs typeface="Arial"/>
                <a:hlinkClick r:id="rId4" action="ppaction://hlinksldjump"/>
              </a:rPr>
              <a:t> </a:t>
            </a:r>
            <a:r>
              <a:rPr sz="500" dirty="0">
                <a:latin typeface="Arial"/>
                <a:cs typeface="Arial"/>
                <a:hlinkClick r:id="rId4" action="ppaction://hlinksldjump"/>
              </a:rPr>
              <a:t>in</a:t>
            </a:r>
            <a:r>
              <a:rPr sz="500" spc="-20" dirty="0">
                <a:latin typeface="Arial"/>
                <a:cs typeface="Arial"/>
                <a:hlinkClick r:id="rId4" action="ppaction://hlinksldjump"/>
              </a:rPr>
              <a:t> </a:t>
            </a:r>
            <a:r>
              <a:rPr sz="500" dirty="0">
                <a:latin typeface="Arial"/>
                <a:cs typeface="Arial"/>
                <a:hlinkClick r:id="rId4" action="ppaction://hlinksldjump"/>
              </a:rPr>
              <a:t>faulty</a:t>
            </a:r>
            <a:r>
              <a:rPr sz="500" spc="-20" dirty="0">
                <a:latin typeface="Arial"/>
                <a:cs typeface="Arial"/>
                <a:hlinkClick r:id="rId4" action="ppaction://hlinksldjump"/>
              </a:rPr>
              <a:t> </a:t>
            </a:r>
            <a:r>
              <a:rPr sz="500" dirty="0">
                <a:latin typeface="Arial"/>
                <a:cs typeface="Arial"/>
                <a:hlinkClick r:id="rId4" action="ppaction://hlinksldjump"/>
              </a:rPr>
              <a:t>systems</a:t>
            </a:r>
            <a:r>
              <a:rPr sz="500" spc="-20" dirty="0">
                <a:latin typeface="Arial"/>
                <a:cs typeface="Arial"/>
                <a:hlinkClick r:id="rId4" action="ppaction://hlinksldjump"/>
              </a:rPr>
              <a:t> </a:t>
            </a:r>
            <a:r>
              <a:rPr sz="500" dirty="0">
                <a:latin typeface="Arial"/>
                <a:cs typeface="Arial"/>
                <a:hlinkClick r:id="rId4" action="ppaction://hlinksldjump"/>
              </a:rPr>
              <a:t>with</a:t>
            </a:r>
            <a:r>
              <a:rPr sz="500" spc="-25" dirty="0">
                <a:latin typeface="Arial"/>
                <a:cs typeface="Arial"/>
                <a:hlinkClick r:id="rId4" action="ppaction://hlinksldjump"/>
              </a:rPr>
              <a:t> </a:t>
            </a:r>
            <a:r>
              <a:rPr sz="500" dirty="0">
                <a:latin typeface="Arial"/>
                <a:cs typeface="Arial"/>
                <a:hlinkClick r:id="rId4" action="ppaction://hlinksldjump"/>
              </a:rPr>
              <a:t>arbitrary</a:t>
            </a:r>
            <a:r>
              <a:rPr sz="500" spc="-20" dirty="0">
                <a:latin typeface="Arial"/>
                <a:cs typeface="Arial"/>
                <a:hlinkClick r:id="rId4" action="ppaction://hlinksldjump"/>
              </a:rPr>
              <a:t> </a:t>
            </a:r>
            <a:r>
              <a:rPr sz="500" spc="-10" dirty="0">
                <a:latin typeface="Arial"/>
                <a:cs typeface="Arial"/>
                <a:hlinkClick r:id="rId4" action="ppaction://hlinksldjump"/>
              </a:rPr>
              <a:t>failures</a:t>
            </a:r>
            <a:endParaRPr sz="500">
              <a:latin typeface="Arial"/>
              <a:cs typeface="Arial"/>
            </a:endParaRPr>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95300" y="197711"/>
            <a:ext cx="2710180"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Why</a:t>
            </a:r>
            <a:r>
              <a:rPr sz="1200" spc="-45" dirty="0">
                <a:solidFill>
                  <a:srgbClr val="3333B2"/>
                </a:solidFill>
                <a:latin typeface="Arial"/>
                <a:cs typeface="Arial"/>
              </a:rPr>
              <a:t> </a:t>
            </a:r>
            <a:r>
              <a:rPr sz="1200" dirty="0">
                <a:solidFill>
                  <a:srgbClr val="3333B2"/>
                </a:solidFill>
                <a:latin typeface="Arial"/>
                <a:cs typeface="Arial"/>
              </a:rPr>
              <a:t>having</a:t>
            </a:r>
            <a:r>
              <a:rPr sz="1200" spc="-40" dirty="0">
                <a:solidFill>
                  <a:srgbClr val="3333B2"/>
                </a:solidFill>
                <a:latin typeface="Arial"/>
                <a:cs typeface="Arial"/>
              </a:rPr>
              <a:t> </a:t>
            </a:r>
            <a:r>
              <a:rPr sz="1200" b="1" dirty="0">
                <a:solidFill>
                  <a:srgbClr val="3333B2"/>
                </a:solidFill>
                <a:latin typeface="Arial"/>
                <a:cs typeface="Arial"/>
              </a:rPr>
              <a:t>3k</a:t>
            </a:r>
            <a:r>
              <a:rPr sz="1200" b="1" spc="-40" dirty="0">
                <a:solidFill>
                  <a:srgbClr val="3333B2"/>
                </a:solidFill>
                <a:latin typeface="Arial"/>
                <a:cs typeface="Arial"/>
              </a:rPr>
              <a:t> </a:t>
            </a:r>
            <a:r>
              <a:rPr sz="1200" dirty="0">
                <a:solidFill>
                  <a:srgbClr val="3333B2"/>
                </a:solidFill>
                <a:latin typeface="Arial"/>
                <a:cs typeface="Arial"/>
              </a:rPr>
              <a:t>processes</a:t>
            </a:r>
            <a:r>
              <a:rPr sz="1200" spc="-45" dirty="0">
                <a:solidFill>
                  <a:srgbClr val="3333B2"/>
                </a:solidFill>
                <a:latin typeface="Arial"/>
                <a:cs typeface="Arial"/>
              </a:rPr>
              <a:t> </a:t>
            </a:r>
            <a:r>
              <a:rPr sz="1200" dirty="0">
                <a:solidFill>
                  <a:srgbClr val="3333B2"/>
                </a:solidFill>
                <a:latin typeface="Arial"/>
                <a:cs typeface="Arial"/>
              </a:rPr>
              <a:t>is</a:t>
            </a:r>
            <a:r>
              <a:rPr sz="1200" spc="-40" dirty="0">
                <a:solidFill>
                  <a:srgbClr val="3333B2"/>
                </a:solidFill>
                <a:latin typeface="Arial"/>
                <a:cs typeface="Arial"/>
              </a:rPr>
              <a:t> </a:t>
            </a:r>
            <a:r>
              <a:rPr sz="1200" dirty="0">
                <a:solidFill>
                  <a:srgbClr val="3333B2"/>
                </a:solidFill>
                <a:latin typeface="Arial"/>
                <a:cs typeface="Arial"/>
              </a:rPr>
              <a:t>not</a:t>
            </a:r>
            <a:r>
              <a:rPr sz="1200" spc="-40" dirty="0">
                <a:solidFill>
                  <a:srgbClr val="3333B2"/>
                </a:solidFill>
                <a:latin typeface="Arial"/>
                <a:cs typeface="Arial"/>
              </a:rPr>
              <a:t> </a:t>
            </a:r>
            <a:r>
              <a:rPr sz="1200" spc="-10" dirty="0">
                <a:solidFill>
                  <a:srgbClr val="3333B2"/>
                </a:solidFill>
                <a:latin typeface="Arial"/>
                <a:cs typeface="Arial"/>
              </a:rPr>
              <a:t>enough</a:t>
            </a:r>
            <a:endParaRPr sz="1200">
              <a:latin typeface="Arial"/>
              <a:cs typeface="Arial"/>
            </a:endParaRPr>
          </a:p>
        </p:txBody>
      </p:sp>
      <p:pic>
        <p:nvPicPr>
          <p:cNvPr id="6" name="object 6"/>
          <p:cNvPicPr/>
          <p:nvPr/>
        </p:nvPicPr>
        <p:blipFill>
          <a:blip r:embed="rId4" cstate="print"/>
          <a:stretch>
            <a:fillRect/>
          </a:stretch>
        </p:blipFill>
        <p:spPr>
          <a:xfrm>
            <a:off x="1676882" y="685370"/>
            <a:ext cx="1282094" cy="451952"/>
          </a:xfrm>
          <a:prstGeom prst="rect">
            <a:avLst/>
          </a:prstGeom>
        </p:spPr>
      </p:pic>
      <p:pic>
        <p:nvPicPr>
          <p:cNvPr id="7" name="object 7"/>
          <p:cNvPicPr/>
          <p:nvPr/>
        </p:nvPicPr>
        <p:blipFill>
          <a:blip r:embed="rId5" cstate="print"/>
          <a:stretch>
            <a:fillRect/>
          </a:stretch>
        </p:blipFill>
        <p:spPr>
          <a:xfrm>
            <a:off x="760934" y="1387812"/>
            <a:ext cx="1438999" cy="1029902"/>
          </a:xfrm>
          <a:prstGeom prst="rect">
            <a:avLst/>
          </a:prstGeom>
        </p:spPr>
      </p:pic>
      <p:pic>
        <p:nvPicPr>
          <p:cNvPr id="8" name="object 8"/>
          <p:cNvPicPr/>
          <p:nvPr/>
        </p:nvPicPr>
        <p:blipFill>
          <a:blip r:embed="rId6" cstate="print"/>
          <a:stretch>
            <a:fillRect/>
          </a:stretch>
        </p:blipFill>
        <p:spPr>
          <a:xfrm>
            <a:off x="2625826" y="1387812"/>
            <a:ext cx="1221199" cy="1029902"/>
          </a:xfrm>
          <a:prstGeom prst="rect">
            <a:avLst/>
          </a:prstGeom>
        </p:spPr>
      </p:pic>
      <p:grpSp>
        <p:nvGrpSpPr>
          <p:cNvPr id="9" name="object 9"/>
          <p:cNvGrpSpPr/>
          <p:nvPr/>
        </p:nvGrpSpPr>
        <p:grpSpPr>
          <a:xfrm>
            <a:off x="0" y="3348469"/>
            <a:ext cx="4608195" cy="107950"/>
            <a:chOff x="0" y="3348469"/>
            <a:chExt cx="4608195" cy="107950"/>
          </a:xfrm>
        </p:grpSpPr>
        <p:sp>
          <p:nvSpPr>
            <p:cNvPr id="10" name="object 10"/>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1" name="object 11"/>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2" name="object 12"/>
          <p:cNvSpPr txBox="1"/>
          <p:nvPr/>
        </p:nvSpPr>
        <p:spPr>
          <a:xfrm>
            <a:off x="53467" y="3349927"/>
            <a:ext cx="142621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7" action="ppaction://hlinksldjump"/>
              </a:rPr>
              <a:t>Consensus</a:t>
            </a:r>
            <a:r>
              <a:rPr sz="500" spc="-25" dirty="0">
                <a:latin typeface="Arial"/>
                <a:cs typeface="Arial"/>
                <a:hlinkClick r:id="rId7" action="ppaction://hlinksldjump"/>
              </a:rPr>
              <a:t> </a:t>
            </a:r>
            <a:r>
              <a:rPr sz="500" dirty="0">
                <a:latin typeface="Arial"/>
                <a:cs typeface="Arial"/>
                <a:hlinkClick r:id="rId7" action="ppaction://hlinksldjump"/>
              </a:rPr>
              <a:t>in</a:t>
            </a:r>
            <a:r>
              <a:rPr sz="500" spc="-20" dirty="0">
                <a:latin typeface="Arial"/>
                <a:cs typeface="Arial"/>
                <a:hlinkClick r:id="rId7" action="ppaction://hlinksldjump"/>
              </a:rPr>
              <a:t> </a:t>
            </a:r>
            <a:r>
              <a:rPr sz="500" dirty="0">
                <a:latin typeface="Arial"/>
                <a:cs typeface="Arial"/>
                <a:hlinkClick r:id="rId7" action="ppaction://hlinksldjump"/>
              </a:rPr>
              <a:t>faulty</a:t>
            </a:r>
            <a:r>
              <a:rPr sz="500" spc="-20" dirty="0">
                <a:latin typeface="Arial"/>
                <a:cs typeface="Arial"/>
                <a:hlinkClick r:id="rId7" action="ppaction://hlinksldjump"/>
              </a:rPr>
              <a:t> </a:t>
            </a:r>
            <a:r>
              <a:rPr sz="500" dirty="0">
                <a:latin typeface="Arial"/>
                <a:cs typeface="Arial"/>
                <a:hlinkClick r:id="rId7" action="ppaction://hlinksldjump"/>
              </a:rPr>
              <a:t>systems</a:t>
            </a:r>
            <a:r>
              <a:rPr sz="500" spc="-20" dirty="0">
                <a:latin typeface="Arial"/>
                <a:cs typeface="Arial"/>
                <a:hlinkClick r:id="rId7" action="ppaction://hlinksldjump"/>
              </a:rPr>
              <a:t> </a:t>
            </a:r>
            <a:r>
              <a:rPr sz="500" dirty="0">
                <a:latin typeface="Arial"/>
                <a:cs typeface="Arial"/>
                <a:hlinkClick r:id="rId7" action="ppaction://hlinksldjump"/>
              </a:rPr>
              <a:t>with</a:t>
            </a:r>
            <a:r>
              <a:rPr sz="500" spc="-25" dirty="0">
                <a:latin typeface="Arial"/>
                <a:cs typeface="Arial"/>
                <a:hlinkClick r:id="rId7" action="ppaction://hlinksldjump"/>
              </a:rPr>
              <a:t> </a:t>
            </a:r>
            <a:r>
              <a:rPr sz="500" dirty="0">
                <a:latin typeface="Arial"/>
                <a:cs typeface="Arial"/>
                <a:hlinkClick r:id="rId7" action="ppaction://hlinksldjump"/>
              </a:rPr>
              <a:t>arbitrary</a:t>
            </a:r>
            <a:r>
              <a:rPr sz="500" spc="-20" dirty="0">
                <a:latin typeface="Arial"/>
                <a:cs typeface="Arial"/>
                <a:hlinkClick r:id="rId7" action="ppaction://hlinksldjump"/>
              </a:rPr>
              <a:t> </a:t>
            </a:r>
            <a:r>
              <a:rPr sz="500" spc="-10" dirty="0">
                <a:latin typeface="Arial"/>
                <a:cs typeface="Arial"/>
                <a:hlinkClick r:id="rId7" action="ppaction://hlinksldjump"/>
              </a:rPr>
              <a:t>failures</a:t>
            </a:r>
            <a:endParaRPr sz="500">
              <a:latin typeface="Arial"/>
              <a:cs typeface="Arial"/>
            </a:endParaRPr>
          </a:p>
        </p:txBody>
      </p:sp>
    </p:spTree>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95300" y="197711"/>
            <a:ext cx="2699385"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Why</a:t>
            </a:r>
            <a:r>
              <a:rPr sz="1200" spc="-70" dirty="0">
                <a:solidFill>
                  <a:srgbClr val="3333B2"/>
                </a:solidFill>
                <a:latin typeface="Arial"/>
                <a:cs typeface="Arial"/>
              </a:rPr>
              <a:t> </a:t>
            </a:r>
            <a:r>
              <a:rPr sz="1200" dirty="0">
                <a:solidFill>
                  <a:srgbClr val="3333B2"/>
                </a:solidFill>
                <a:latin typeface="Arial"/>
                <a:cs typeface="Arial"/>
              </a:rPr>
              <a:t>having</a:t>
            </a:r>
            <a:r>
              <a:rPr sz="1200" spc="-35" dirty="0">
                <a:solidFill>
                  <a:srgbClr val="3333B2"/>
                </a:solidFill>
                <a:latin typeface="Arial"/>
                <a:cs typeface="Arial"/>
              </a:rPr>
              <a:t> </a:t>
            </a:r>
            <a:r>
              <a:rPr sz="1200" b="1" spc="-10" dirty="0">
                <a:solidFill>
                  <a:srgbClr val="3333B2"/>
                </a:solidFill>
                <a:latin typeface="Arial"/>
                <a:cs typeface="Arial"/>
              </a:rPr>
              <a:t>3k</a:t>
            </a:r>
            <a:r>
              <a:rPr sz="1200" b="1" spc="-170" dirty="0">
                <a:solidFill>
                  <a:srgbClr val="3333B2"/>
                </a:solidFill>
                <a:latin typeface="Arial"/>
                <a:cs typeface="Arial"/>
              </a:rPr>
              <a:t> </a:t>
            </a:r>
            <a:r>
              <a:rPr sz="1200" spc="200" dirty="0">
                <a:solidFill>
                  <a:srgbClr val="3333B2"/>
                </a:solidFill>
                <a:latin typeface="Arial"/>
                <a:cs typeface="Arial"/>
              </a:rPr>
              <a:t>+</a:t>
            </a:r>
            <a:r>
              <a:rPr sz="1200" spc="-170" dirty="0">
                <a:solidFill>
                  <a:srgbClr val="3333B2"/>
                </a:solidFill>
                <a:latin typeface="Arial"/>
                <a:cs typeface="Arial"/>
              </a:rPr>
              <a:t> </a:t>
            </a:r>
            <a:r>
              <a:rPr sz="1200" b="1" dirty="0">
                <a:solidFill>
                  <a:srgbClr val="3333B2"/>
                </a:solidFill>
                <a:latin typeface="Arial"/>
                <a:cs typeface="Arial"/>
              </a:rPr>
              <a:t>1</a:t>
            </a:r>
            <a:r>
              <a:rPr sz="1200" b="1" spc="-35" dirty="0">
                <a:solidFill>
                  <a:srgbClr val="3333B2"/>
                </a:solidFill>
                <a:latin typeface="Arial"/>
                <a:cs typeface="Arial"/>
              </a:rPr>
              <a:t> </a:t>
            </a:r>
            <a:r>
              <a:rPr sz="1200" dirty="0">
                <a:solidFill>
                  <a:srgbClr val="3333B2"/>
                </a:solidFill>
                <a:latin typeface="Arial"/>
                <a:cs typeface="Arial"/>
              </a:rPr>
              <a:t>processes</a:t>
            </a:r>
            <a:r>
              <a:rPr sz="1200" spc="-35" dirty="0">
                <a:solidFill>
                  <a:srgbClr val="3333B2"/>
                </a:solidFill>
                <a:latin typeface="Arial"/>
                <a:cs typeface="Arial"/>
              </a:rPr>
              <a:t> </a:t>
            </a:r>
            <a:r>
              <a:rPr sz="1200" dirty="0">
                <a:solidFill>
                  <a:srgbClr val="3333B2"/>
                </a:solidFill>
                <a:latin typeface="Arial"/>
                <a:cs typeface="Arial"/>
              </a:rPr>
              <a:t>is</a:t>
            </a:r>
            <a:r>
              <a:rPr sz="1200" spc="-35" dirty="0">
                <a:solidFill>
                  <a:srgbClr val="3333B2"/>
                </a:solidFill>
                <a:latin typeface="Arial"/>
                <a:cs typeface="Arial"/>
              </a:rPr>
              <a:t> </a:t>
            </a:r>
            <a:r>
              <a:rPr sz="1200" spc="-10" dirty="0">
                <a:solidFill>
                  <a:srgbClr val="3333B2"/>
                </a:solidFill>
                <a:latin typeface="Arial"/>
                <a:cs typeface="Arial"/>
              </a:rPr>
              <a:t>enough</a:t>
            </a:r>
            <a:endParaRPr sz="1200">
              <a:latin typeface="Arial"/>
              <a:cs typeface="Arial"/>
            </a:endParaRPr>
          </a:p>
        </p:txBody>
      </p:sp>
      <p:pic>
        <p:nvPicPr>
          <p:cNvPr id="6" name="object 6"/>
          <p:cNvPicPr/>
          <p:nvPr/>
        </p:nvPicPr>
        <p:blipFill>
          <a:blip r:embed="rId4" cstate="print"/>
          <a:stretch>
            <a:fillRect/>
          </a:stretch>
        </p:blipFill>
        <p:spPr>
          <a:xfrm>
            <a:off x="1738617" y="824549"/>
            <a:ext cx="1282094" cy="451952"/>
          </a:xfrm>
          <a:prstGeom prst="rect">
            <a:avLst/>
          </a:prstGeom>
        </p:spPr>
      </p:pic>
      <p:pic>
        <p:nvPicPr>
          <p:cNvPr id="7" name="object 7"/>
          <p:cNvPicPr/>
          <p:nvPr/>
        </p:nvPicPr>
        <p:blipFill>
          <a:blip r:embed="rId5" cstate="print"/>
          <a:stretch>
            <a:fillRect/>
          </a:stretch>
        </p:blipFill>
        <p:spPr>
          <a:xfrm>
            <a:off x="475167" y="1534637"/>
            <a:ext cx="1670111" cy="956985"/>
          </a:xfrm>
          <a:prstGeom prst="rect">
            <a:avLst/>
          </a:prstGeom>
        </p:spPr>
      </p:pic>
      <p:pic>
        <p:nvPicPr>
          <p:cNvPr id="8" name="object 8"/>
          <p:cNvPicPr/>
          <p:nvPr/>
        </p:nvPicPr>
        <p:blipFill>
          <a:blip r:embed="rId6" cstate="print"/>
          <a:stretch>
            <a:fillRect/>
          </a:stretch>
        </p:blipFill>
        <p:spPr>
          <a:xfrm>
            <a:off x="2584967" y="1534637"/>
            <a:ext cx="1670111" cy="956985"/>
          </a:xfrm>
          <a:prstGeom prst="rect">
            <a:avLst/>
          </a:prstGeom>
        </p:spPr>
      </p:pic>
      <p:grpSp>
        <p:nvGrpSpPr>
          <p:cNvPr id="9" name="object 9"/>
          <p:cNvGrpSpPr/>
          <p:nvPr/>
        </p:nvGrpSpPr>
        <p:grpSpPr>
          <a:xfrm>
            <a:off x="0" y="3348469"/>
            <a:ext cx="4608195" cy="107950"/>
            <a:chOff x="0" y="3348469"/>
            <a:chExt cx="4608195" cy="107950"/>
          </a:xfrm>
        </p:grpSpPr>
        <p:sp>
          <p:nvSpPr>
            <p:cNvPr id="10" name="object 10"/>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1" name="object 11"/>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2" name="object 12"/>
          <p:cNvSpPr txBox="1"/>
          <p:nvPr/>
        </p:nvSpPr>
        <p:spPr>
          <a:xfrm>
            <a:off x="53467" y="3349927"/>
            <a:ext cx="142621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7" action="ppaction://hlinksldjump"/>
              </a:rPr>
              <a:t>Consensus</a:t>
            </a:r>
            <a:r>
              <a:rPr sz="500" spc="-25" dirty="0">
                <a:latin typeface="Arial"/>
                <a:cs typeface="Arial"/>
                <a:hlinkClick r:id="rId7" action="ppaction://hlinksldjump"/>
              </a:rPr>
              <a:t> </a:t>
            </a:r>
            <a:r>
              <a:rPr sz="500" dirty="0">
                <a:latin typeface="Arial"/>
                <a:cs typeface="Arial"/>
                <a:hlinkClick r:id="rId7" action="ppaction://hlinksldjump"/>
              </a:rPr>
              <a:t>in</a:t>
            </a:r>
            <a:r>
              <a:rPr sz="500" spc="-20" dirty="0">
                <a:latin typeface="Arial"/>
                <a:cs typeface="Arial"/>
                <a:hlinkClick r:id="rId7" action="ppaction://hlinksldjump"/>
              </a:rPr>
              <a:t> </a:t>
            </a:r>
            <a:r>
              <a:rPr sz="500" dirty="0">
                <a:latin typeface="Arial"/>
                <a:cs typeface="Arial"/>
                <a:hlinkClick r:id="rId7" action="ppaction://hlinksldjump"/>
              </a:rPr>
              <a:t>faulty</a:t>
            </a:r>
            <a:r>
              <a:rPr sz="500" spc="-20" dirty="0">
                <a:latin typeface="Arial"/>
                <a:cs typeface="Arial"/>
                <a:hlinkClick r:id="rId7" action="ppaction://hlinksldjump"/>
              </a:rPr>
              <a:t> </a:t>
            </a:r>
            <a:r>
              <a:rPr sz="500" dirty="0">
                <a:latin typeface="Arial"/>
                <a:cs typeface="Arial"/>
                <a:hlinkClick r:id="rId7" action="ppaction://hlinksldjump"/>
              </a:rPr>
              <a:t>systems</a:t>
            </a:r>
            <a:r>
              <a:rPr sz="500" spc="-20" dirty="0">
                <a:latin typeface="Arial"/>
                <a:cs typeface="Arial"/>
                <a:hlinkClick r:id="rId7" action="ppaction://hlinksldjump"/>
              </a:rPr>
              <a:t> </a:t>
            </a:r>
            <a:r>
              <a:rPr sz="500" dirty="0">
                <a:latin typeface="Arial"/>
                <a:cs typeface="Arial"/>
                <a:hlinkClick r:id="rId7" action="ppaction://hlinksldjump"/>
              </a:rPr>
              <a:t>with</a:t>
            </a:r>
            <a:r>
              <a:rPr sz="500" spc="-25" dirty="0">
                <a:latin typeface="Arial"/>
                <a:cs typeface="Arial"/>
                <a:hlinkClick r:id="rId7" action="ppaction://hlinksldjump"/>
              </a:rPr>
              <a:t> </a:t>
            </a:r>
            <a:r>
              <a:rPr sz="500" dirty="0">
                <a:latin typeface="Arial"/>
                <a:cs typeface="Arial"/>
                <a:hlinkClick r:id="rId7" action="ppaction://hlinksldjump"/>
              </a:rPr>
              <a:t>arbitrary</a:t>
            </a:r>
            <a:r>
              <a:rPr sz="500" spc="-20" dirty="0">
                <a:latin typeface="Arial"/>
                <a:cs typeface="Arial"/>
                <a:hlinkClick r:id="rId7" action="ppaction://hlinksldjump"/>
              </a:rPr>
              <a:t> </a:t>
            </a:r>
            <a:r>
              <a:rPr sz="500" spc="-10" dirty="0">
                <a:latin typeface="Arial"/>
                <a:cs typeface="Arial"/>
                <a:hlinkClick r:id="rId7" action="ppaction://hlinksldjump"/>
              </a:rPr>
              <a:t>failures</a:t>
            </a:r>
            <a:endParaRPr sz="500">
              <a:latin typeface="Arial"/>
              <a:cs typeface="Arial"/>
            </a:endParaRPr>
          </a:p>
        </p:txBody>
      </p:sp>
    </p:spTree>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57200" y="197711"/>
            <a:ext cx="4001770" cy="2550160"/>
          </a:xfrm>
          <a:prstGeom prst="rect">
            <a:avLst/>
          </a:prstGeom>
        </p:spPr>
        <p:txBody>
          <a:bodyPr vert="horz" wrap="square" lIns="0" tIns="12065" rIns="0" bIns="0" rtlCol="0">
            <a:spAutoFit/>
          </a:bodyPr>
          <a:lstStyle/>
          <a:p>
            <a:pPr marL="50800">
              <a:lnSpc>
                <a:spcPct val="100000"/>
              </a:lnSpc>
              <a:spcBef>
                <a:spcPts val="95"/>
              </a:spcBef>
            </a:pPr>
            <a:r>
              <a:rPr sz="1200" dirty="0">
                <a:solidFill>
                  <a:srgbClr val="3333B2"/>
                </a:solidFill>
                <a:latin typeface="Arial"/>
                <a:cs typeface="Arial"/>
              </a:rPr>
              <a:t>Practical</a:t>
            </a:r>
            <a:r>
              <a:rPr sz="1200" spc="-40" dirty="0">
                <a:solidFill>
                  <a:srgbClr val="3333B2"/>
                </a:solidFill>
                <a:latin typeface="Arial"/>
                <a:cs typeface="Arial"/>
              </a:rPr>
              <a:t> </a:t>
            </a:r>
            <a:r>
              <a:rPr sz="1200" dirty="0">
                <a:solidFill>
                  <a:srgbClr val="3333B2"/>
                </a:solidFill>
                <a:latin typeface="Arial"/>
                <a:cs typeface="Arial"/>
              </a:rPr>
              <a:t>Byzantine</a:t>
            </a:r>
            <a:r>
              <a:rPr sz="1200" spc="-40" dirty="0">
                <a:solidFill>
                  <a:srgbClr val="3333B2"/>
                </a:solidFill>
                <a:latin typeface="Arial"/>
                <a:cs typeface="Arial"/>
              </a:rPr>
              <a:t> </a:t>
            </a:r>
            <a:r>
              <a:rPr sz="1200" spc="-10" dirty="0">
                <a:solidFill>
                  <a:srgbClr val="3333B2"/>
                </a:solidFill>
                <a:latin typeface="Arial"/>
                <a:cs typeface="Arial"/>
              </a:rPr>
              <a:t>Fault</a:t>
            </a:r>
            <a:r>
              <a:rPr sz="1200" spc="-40" dirty="0">
                <a:solidFill>
                  <a:srgbClr val="3333B2"/>
                </a:solidFill>
                <a:latin typeface="Arial"/>
                <a:cs typeface="Arial"/>
              </a:rPr>
              <a:t> </a:t>
            </a:r>
            <a:r>
              <a:rPr sz="1200" spc="-25" dirty="0">
                <a:solidFill>
                  <a:srgbClr val="3333B2"/>
                </a:solidFill>
                <a:latin typeface="Arial"/>
                <a:cs typeface="Arial"/>
              </a:rPr>
              <a:t>Tolerance</a:t>
            </a:r>
            <a:r>
              <a:rPr sz="1200" spc="-40" dirty="0">
                <a:solidFill>
                  <a:srgbClr val="3333B2"/>
                </a:solidFill>
                <a:latin typeface="Arial"/>
                <a:cs typeface="Arial"/>
              </a:rPr>
              <a:t> </a:t>
            </a:r>
            <a:r>
              <a:rPr sz="1200" spc="-10" dirty="0">
                <a:solidFill>
                  <a:srgbClr val="3333B2"/>
                </a:solidFill>
                <a:latin typeface="Arial"/>
                <a:cs typeface="Arial"/>
              </a:rPr>
              <a:t>(PBFT)</a:t>
            </a:r>
            <a:endParaRPr sz="1200">
              <a:latin typeface="Arial"/>
              <a:cs typeface="Arial"/>
            </a:endParaRPr>
          </a:p>
          <a:p>
            <a:pPr marL="302260">
              <a:lnSpc>
                <a:spcPct val="100000"/>
              </a:lnSpc>
              <a:spcBef>
                <a:spcPts val="1055"/>
              </a:spcBef>
            </a:pPr>
            <a:r>
              <a:rPr sz="1000" spc="-10" dirty="0">
                <a:solidFill>
                  <a:srgbClr val="3333B2"/>
                </a:solidFill>
                <a:latin typeface="Arial"/>
                <a:cs typeface="Arial"/>
              </a:rPr>
              <a:t>Background</a:t>
            </a:r>
            <a:endParaRPr sz="1000">
              <a:latin typeface="Arial"/>
              <a:cs typeface="Arial"/>
            </a:endParaRPr>
          </a:p>
          <a:p>
            <a:pPr marL="302260" marR="43180">
              <a:lnSpc>
                <a:spcPct val="111600"/>
              </a:lnSpc>
              <a:spcBef>
                <a:spcPts val="185"/>
              </a:spcBef>
            </a:pPr>
            <a:r>
              <a:rPr sz="900" dirty="0">
                <a:latin typeface="Arial"/>
                <a:cs typeface="Arial"/>
              </a:rPr>
              <a:t>One</a:t>
            </a:r>
            <a:r>
              <a:rPr sz="900" spc="-35" dirty="0">
                <a:latin typeface="Arial"/>
                <a:cs typeface="Arial"/>
              </a:rPr>
              <a:t> </a:t>
            </a:r>
            <a:r>
              <a:rPr sz="900" dirty="0">
                <a:latin typeface="Arial"/>
                <a:cs typeface="Arial"/>
              </a:rPr>
              <a:t>of</a:t>
            </a:r>
            <a:r>
              <a:rPr sz="900" spc="-30"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first</a:t>
            </a:r>
            <a:r>
              <a:rPr sz="900" spc="-30" dirty="0">
                <a:latin typeface="Arial"/>
                <a:cs typeface="Arial"/>
              </a:rPr>
              <a:t> </a:t>
            </a:r>
            <a:r>
              <a:rPr sz="900" dirty="0">
                <a:latin typeface="Arial"/>
                <a:cs typeface="Arial"/>
              </a:rPr>
              <a:t>solutions</a:t>
            </a:r>
            <a:r>
              <a:rPr sz="900" spc="-30" dirty="0">
                <a:latin typeface="Arial"/>
                <a:cs typeface="Arial"/>
              </a:rPr>
              <a:t> </a:t>
            </a:r>
            <a:r>
              <a:rPr sz="900" dirty="0">
                <a:latin typeface="Arial"/>
                <a:cs typeface="Arial"/>
              </a:rPr>
              <a:t>that</a:t>
            </a:r>
            <a:r>
              <a:rPr sz="900" spc="-30" dirty="0">
                <a:latin typeface="Arial"/>
                <a:cs typeface="Arial"/>
              </a:rPr>
              <a:t> </a:t>
            </a:r>
            <a:r>
              <a:rPr sz="900" dirty="0">
                <a:latin typeface="Arial"/>
                <a:cs typeface="Arial"/>
              </a:rPr>
              <a:t>managed</a:t>
            </a:r>
            <a:r>
              <a:rPr sz="900" spc="-30"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Byzantine</a:t>
            </a:r>
            <a:r>
              <a:rPr sz="900" spc="-30" dirty="0">
                <a:latin typeface="Arial"/>
                <a:cs typeface="Arial"/>
              </a:rPr>
              <a:t> </a:t>
            </a:r>
            <a:r>
              <a:rPr sz="900" dirty="0">
                <a:latin typeface="Arial"/>
                <a:cs typeface="Arial"/>
              </a:rPr>
              <a:t>fault</a:t>
            </a:r>
            <a:r>
              <a:rPr sz="900" spc="-35" dirty="0">
                <a:latin typeface="Arial"/>
                <a:cs typeface="Arial"/>
              </a:rPr>
              <a:t> </a:t>
            </a:r>
            <a:r>
              <a:rPr sz="900" dirty="0">
                <a:latin typeface="Arial"/>
                <a:cs typeface="Arial"/>
              </a:rPr>
              <a:t>tolerance</a:t>
            </a:r>
            <a:r>
              <a:rPr sz="900" spc="-30" dirty="0">
                <a:latin typeface="Arial"/>
                <a:cs typeface="Arial"/>
              </a:rPr>
              <a:t> </a:t>
            </a:r>
            <a:r>
              <a:rPr sz="900" spc="-10" dirty="0">
                <a:latin typeface="Arial"/>
                <a:cs typeface="Arial"/>
              </a:rPr>
              <a:t>while </a:t>
            </a:r>
            <a:r>
              <a:rPr sz="900" dirty="0">
                <a:latin typeface="Arial"/>
                <a:cs typeface="Arial"/>
              </a:rPr>
              <a:t>keeping</a:t>
            </a:r>
            <a:r>
              <a:rPr sz="900" spc="-25" dirty="0">
                <a:latin typeface="Arial"/>
                <a:cs typeface="Arial"/>
              </a:rPr>
              <a:t> </a:t>
            </a:r>
            <a:r>
              <a:rPr sz="900" spc="-10" dirty="0">
                <a:latin typeface="Arial"/>
                <a:cs typeface="Arial"/>
              </a:rPr>
              <a:t>performance</a:t>
            </a:r>
            <a:r>
              <a:rPr sz="900" spc="-25" dirty="0">
                <a:latin typeface="Arial"/>
                <a:cs typeface="Arial"/>
              </a:rPr>
              <a:t> </a:t>
            </a:r>
            <a:r>
              <a:rPr sz="900" dirty="0">
                <a:latin typeface="Arial"/>
                <a:cs typeface="Arial"/>
              </a:rPr>
              <a:t>acceptable.</a:t>
            </a:r>
            <a:r>
              <a:rPr sz="900" spc="35" dirty="0">
                <a:latin typeface="Arial"/>
                <a:cs typeface="Arial"/>
              </a:rPr>
              <a:t> </a:t>
            </a:r>
            <a:r>
              <a:rPr sz="900" spc="-10" dirty="0">
                <a:latin typeface="Arial"/>
                <a:cs typeface="Arial"/>
              </a:rPr>
              <a:t>Popularity</a:t>
            </a:r>
            <a:r>
              <a:rPr sz="900" spc="-20" dirty="0">
                <a:latin typeface="Arial"/>
                <a:cs typeface="Arial"/>
              </a:rPr>
              <a:t> </a:t>
            </a:r>
            <a:r>
              <a:rPr sz="900" dirty="0">
                <a:latin typeface="Arial"/>
                <a:cs typeface="Arial"/>
              </a:rPr>
              <a:t>has</a:t>
            </a:r>
            <a:r>
              <a:rPr sz="900" spc="-25" dirty="0">
                <a:latin typeface="Arial"/>
                <a:cs typeface="Arial"/>
              </a:rPr>
              <a:t> </a:t>
            </a:r>
            <a:r>
              <a:rPr sz="900" dirty="0">
                <a:latin typeface="Arial"/>
                <a:cs typeface="Arial"/>
              </a:rPr>
              <a:t>increased</a:t>
            </a:r>
            <a:r>
              <a:rPr sz="900" spc="-20" dirty="0">
                <a:latin typeface="Arial"/>
                <a:cs typeface="Arial"/>
              </a:rPr>
              <a:t> </a:t>
            </a:r>
            <a:r>
              <a:rPr sz="900" dirty="0">
                <a:latin typeface="Arial"/>
                <a:cs typeface="Arial"/>
              </a:rPr>
              <a:t>with</a:t>
            </a:r>
            <a:r>
              <a:rPr sz="900" spc="-25" dirty="0">
                <a:latin typeface="Arial"/>
                <a:cs typeface="Arial"/>
              </a:rPr>
              <a:t> the </a:t>
            </a:r>
            <a:r>
              <a:rPr sz="900" dirty="0">
                <a:latin typeface="Arial"/>
                <a:cs typeface="Arial"/>
              </a:rPr>
              <a:t>introduction</a:t>
            </a:r>
            <a:r>
              <a:rPr sz="900" spc="-35" dirty="0">
                <a:latin typeface="Arial"/>
                <a:cs typeface="Arial"/>
              </a:rPr>
              <a:t> </a:t>
            </a:r>
            <a:r>
              <a:rPr sz="900" dirty="0">
                <a:latin typeface="Arial"/>
                <a:cs typeface="Arial"/>
              </a:rPr>
              <a:t>of</a:t>
            </a:r>
            <a:r>
              <a:rPr sz="900" spc="-35" dirty="0">
                <a:latin typeface="Arial"/>
                <a:cs typeface="Arial"/>
              </a:rPr>
              <a:t> </a:t>
            </a:r>
            <a:r>
              <a:rPr sz="900" dirty="0">
                <a:solidFill>
                  <a:srgbClr val="3333B2"/>
                </a:solidFill>
                <a:latin typeface="Arial"/>
                <a:cs typeface="Arial"/>
              </a:rPr>
              <a:t>permissioned</a:t>
            </a:r>
            <a:r>
              <a:rPr sz="900" spc="-35" dirty="0">
                <a:solidFill>
                  <a:srgbClr val="3333B2"/>
                </a:solidFill>
                <a:latin typeface="Arial"/>
                <a:cs typeface="Arial"/>
              </a:rPr>
              <a:t> </a:t>
            </a:r>
            <a:r>
              <a:rPr sz="900" spc="-10" dirty="0">
                <a:solidFill>
                  <a:srgbClr val="3333B2"/>
                </a:solidFill>
                <a:latin typeface="Arial"/>
                <a:cs typeface="Arial"/>
              </a:rPr>
              <a:t>blockchains</a:t>
            </a:r>
            <a:r>
              <a:rPr sz="900" spc="-10" dirty="0">
                <a:latin typeface="Arial"/>
                <a:cs typeface="Arial"/>
              </a:rPr>
              <a:t>.</a:t>
            </a:r>
            <a:endParaRPr sz="900">
              <a:latin typeface="Arial"/>
              <a:cs typeface="Arial"/>
            </a:endParaRPr>
          </a:p>
          <a:p>
            <a:pPr marL="298450">
              <a:lnSpc>
                <a:spcPct val="100000"/>
              </a:lnSpc>
              <a:spcBef>
                <a:spcPts val="815"/>
              </a:spcBef>
            </a:pPr>
            <a:r>
              <a:rPr sz="1000" spc="-10" dirty="0">
                <a:solidFill>
                  <a:srgbClr val="3333B2"/>
                </a:solidFill>
                <a:latin typeface="Arial"/>
                <a:cs typeface="Arial"/>
              </a:rPr>
              <a:t>Assumptions</a:t>
            </a:r>
            <a:endParaRPr sz="1000">
              <a:latin typeface="Arial"/>
              <a:cs typeface="Arial"/>
            </a:endParaRPr>
          </a:p>
          <a:p>
            <a:pPr marL="551815" indent="-116839">
              <a:lnSpc>
                <a:spcPct val="100000"/>
              </a:lnSpc>
              <a:spcBef>
                <a:spcPts val="690"/>
              </a:spcBef>
              <a:buClr>
                <a:srgbClr val="3333B2"/>
              </a:buClr>
              <a:buFont typeface="Menlo"/>
              <a:buChar char="•"/>
              <a:tabLst>
                <a:tab pos="552450" algn="l"/>
              </a:tabLst>
            </a:pPr>
            <a:r>
              <a:rPr sz="900" dirty="0">
                <a:latin typeface="Arial"/>
                <a:cs typeface="Arial"/>
              </a:rPr>
              <a:t>A</a:t>
            </a:r>
            <a:r>
              <a:rPr sz="900" spc="-40" dirty="0">
                <a:latin typeface="Arial"/>
                <a:cs typeface="Arial"/>
              </a:rPr>
              <a:t> </a:t>
            </a:r>
            <a:r>
              <a:rPr sz="900" dirty="0">
                <a:latin typeface="Arial"/>
                <a:cs typeface="Arial"/>
              </a:rPr>
              <a:t>server</a:t>
            </a:r>
            <a:r>
              <a:rPr sz="900" spc="-35" dirty="0">
                <a:latin typeface="Arial"/>
                <a:cs typeface="Arial"/>
              </a:rPr>
              <a:t> </a:t>
            </a:r>
            <a:r>
              <a:rPr sz="900" dirty="0">
                <a:latin typeface="Arial"/>
                <a:cs typeface="Arial"/>
              </a:rPr>
              <a:t>may</a:t>
            </a:r>
            <a:r>
              <a:rPr sz="900" spc="-35" dirty="0">
                <a:latin typeface="Arial"/>
                <a:cs typeface="Arial"/>
              </a:rPr>
              <a:t> </a:t>
            </a:r>
            <a:r>
              <a:rPr sz="900" dirty="0">
                <a:latin typeface="Arial"/>
                <a:cs typeface="Arial"/>
              </a:rPr>
              <a:t>exhibit</a:t>
            </a:r>
            <a:r>
              <a:rPr sz="900" spc="-35" dirty="0">
                <a:latin typeface="Arial"/>
                <a:cs typeface="Arial"/>
              </a:rPr>
              <a:t> </a:t>
            </a:r>
            <a:r>
              <a:rPr sz="900" dirty="0">
                <a:latin typeface="Arial"/>
                <a:cs typeface="Arial"/>
              </a:rPr>
              <a:t>arbitrary</a:t>
            </a:r>
            <a:r>
              <a:rPr sz="900" spc="-35" dirty="0">
                <a:latin typeface="Arial"/>
                <a:cs typeface="Arial"/>
              </a:rPr>
              <a:t> </a:t>
            </a:r>
            <a:r>
              <a:rPr sz="900" spc="-10" dirty="0">
                <a:latin typeface="Arial"/>
                <a:cs typeface="Arial"/>
              </a:rPr>
              <a:t>failures</a:t>
            </a:r>
            <a:endParaRPr sz="900">
              <a:latin typeface="Arial"/>
              <a:cs typeface="Arial"/>
            </a:endParaRPr>
          </a:p>
          <a:p>
            <a:pPr marL="555625" indent="-120650">
              <a:lnSpc>
                <a:spcPct val="100000"/>
              </a:lnSpc>
              <a:spcBef>
                <a:spcPts val="525"/>
              </a:spcBef>
              <a:buClr>
                <a:srgbClr val="3333B2"/>
              </a:buClr>
              <a:buFont typeface="Menlo"/>
              <a:buChar char="•"/>
              <a:tabLst>
                <a:tab pos="556260" algn="l"/>
              </a:tabLst>
            </a:pPr>
            <a:r>
              <a:rPr sz="900" dirty="0">
                <a:latin typeface="Arial"/>
                <a:cs typeface="Arial"/>
              </a:rPr>
              <a:t>Messages</a:t>
            </a:r>
            <a:r>
              <a:rPr sz="900" spc="-20" dirty="0">
                <a:latin typeface="Arial"/>
                <a:cs typeface="Arial"/>
              </a:rPr>
              <a:t> </a:t>
            </a:r>
            <a:r>
              <a:rPr sz="900" dirty="0">
                <a:latin typeface="Arial"/>
                <a:cs typeface="Arial"/>
              </a:rPr>
              <a:t>may</a:t>
            </a:r>
            <a:r>
              <a:rPr sz="900" spc="-20" dirty="0">
                <a:latin typeface="Arial"/>
                <a:cs typeface="Arial"/>
              </a:rPr>
              <a:t> </a:t>
            </a:r>
            <a:r>
              <a:rPr sz="900" dirty="0">
                <a:latin typeface="Arial"/>
                <a:cs typeface="Arial"/>
              </a:rPr>
              <a:t>be</a:t>
            </a:r>
            <a:r>
              <a:rPr sz="900" spc="-20" dirty="0">
                <a:latin typeface="Arial"/>
                <a:cs typeface="Arial"/>
              </a:rPr>
              <a:t> </a:t>
            </a:r>
            <a:r>
              <a:rPr sz="900" dirty="0">
                <a:latin typeface="Arial"/>
                <a:cs typeface="Arial"/>
              </a:rPr>
              <a:t>lost,</a:t>
            </a:r>
            <a:r>
              <a:rPr sz="900" spc="-20" dirty="0">
                <a:latin typeface="Arial"/>
                <a:cs typeface="Arial"/>
              </a:rPr>
              <a:t> </a:t>
            </a:r>
            <a:r>
              <a:rPr sz="900" spc="-10" dirty="0">
                <a:latin typeface="Arial"/>
                <a:cs typeface="Arial"/>
              </a:rPr>
              <a:t>delayed,</a:t>
            </a:r>
            <a:r>
              <a:rPr sz="900" spc="-20" dirty="0">
                <a:latin typeface="Arial"/>
                <a:cs typeface="Arial"/>
              </a:rPr>
              <a:t> </a:t>
            </a:r>
            <a:r>
              <a:rPr sz="900" dirty="0">
                <a:latin typeface="Arial"/>
                <a:cs typeface="Arial"/>
              </a:rPr>
              <a:t>and</a:t>
            </a:r>
            <a:r>
              <a:rPr sz="900" spc="-20" dirty="0">
                <a:latin typeface="Arial"/>
                <a:cs typeface="Arial"/>
              </a:rPr>
              <a:t> </a:t>
            </a:r>
            <a:r>
              <a:rPr sz="900" spc="-10" dirty="0">
                <a:latin typeface="Arial"/>
                <a:cs typeface="Arial"/>
              </a:rPr>
              <a:t>received</a:t>
            </a:r>
            <a:r>
              <a:rPr sz="900" spc="-20" dirty="0">
                <a:latin typeface="Arial"/>
                <a:cs typeface="Arial"/>
              </a:rPr>
              <a:t> </a:t>
            </a:r>
            <a:r>
              <a:rPr sz="900" dirty="0">
                <a:latin typeface="Arial"/>
                <a:cs typeface="Arial"/>
              </a:rPr>
              <a:t>out</a:t>
            </a:r>
            <a:r>
              <a:rPr sz="900" spc="-20" dirty="0">
                <a:latin typeface="Arial"/>
                <a:cs typeface="Arial"/>
              </a:rPr>
              <a:t> </a:t>
            </a:r>
            <a:r>
              <a:rPr sz="900" dirty="0">
                <a:latin typeface="Arial"/>
                <a:cs typeface="Arial"/>
              </a:rPr>
              <a:t>of</a:t>
            </a:r>
            <a:r>
              <a:rPr sz="900" spc="-20" dirty="0">
                <a:latin typeface="Arial"/>
                <a:cs typeface="Arial"/>
              </a:rPr>
              <a:t> </a:t>
            </a:r>
            <a:r>
              <a:rPr sz="900" spc="-10" dirty="0">
                <a:latin typeface="Arial"/>
                <a:cs typeface="Arial"/>
              </a:rPr>
              <a:t>order</a:t>
            </a:r>
            <a:endParaRPr sz="900">
              <a:latin typeface="Arial"/>
              <a:cs typeface="Arial"/>
            </a:endParaRPr>
          </a:p>
          <a:p>
            <a:pPr marL="555625" indent="-120650">
              <a:lnSpc>
                <a:spcPct val="100000"/>
              </a:lnSpc>
              <a:spcBef>
                <a:spcPts val="525"/>
              </a:spcBef>
              <a:buClr>
                <a:srgbClr val="3333B2"/>
              </a:buClr>
              <a:buFont typeface="Menlo"/>
              <a:buChar char="•"/>
              <a:tabLst>
                <a:tab pos="556260" algn="l"/>
              </a:tabLst>
            </a:pPr>
            <a:r>
              <a:rPr sz="900" dirty="0">
                <a:latin typeface="Arial"/>
                <a:cs typeface="Arial"/>
              </a:rPr>
              <a:t>Messages</a:t>
            </a:r>
            <a:r>
              <a:rPr sz="900" spc="-25" dirty="0">
                <a:latin typeface="Arial"/>
                <a:cs typeface="Arial"/>
              </a:rPr>
              <a:t> </a:t>
            </a:r>
            <a:r>
              <a:rPr sz="900" spc="-10" dirty="0">
                <a:latin typeface="Arial"/>
                <a:cs typeface="Arial"/>
              </a:rPr>
              <a:t>have</a:t>
            </a:r>
            <a:r>
              <a:rPr sz="900" spc="-20" dirty="0">
                <a:latin typeface="Arial"/>
                <a:cs typeface="Arial"/>
              </a:rPr>
              <a:t> </a:t>
            </a:r>
            <a:r>
              <a:rPr sz="900" dirty="0">
                <a:latin typeface="Arial"/>
                <a:cs typeface="Arial"/>
              </a:rPr>
              <a:t>an</a:t>
            </a:r>
            <a:r>
              <a:rPr sz="900" spc="-20" dirty="0">
                <a:latin typeface="Arial"/>
                <a:cs typeface="Arial"/>
              </a:rPr>
              <a:t> </a:t>
            </a:r>
            <a:r>
              <a:rPr sz="900" spc="-10" dirty="0">
                <a:solidFill>
                  <a:srgbClr val="3333B2"/>
                </a:solidFill>
                <a:latin typeface="Arial"/>
                <a:cs typeface="Arial"/>
              </a:rPr>
              <a:t>identifiable</a:t>
            </a:r>
            <a:r>
              <a:rPr sz="900" spc="-20" dirty="0">
                <a:solidFill>
                  <a:srgbClr val="3333B2"/>
                </a:solidFill>
                <a:latin typeface="Arial"/>
                <a:cs typeface="Arial"/>
              </a:rPr>
              <a:t> </a:t>
            </a:r>
            <a:r>
              <a:rPr sz="900" dirty="0">
                <a:solidFill>
                  <a:srgbClr val="3333B2"/>
                </a:solidFill>
                <a:latin typeface="Arial"/>
                <a:cs typeface="Arial"/>
              </a:rPr>
              <a:t>sender</a:t>
            </a:r>
            <a:r>
              <a:rPr sz="900" spc="-25" dirty="0">
                <a:solidFill>
                  <a:srgbClr val="3333B2"/>
                </a:solidFill>
                <a:latin typeface="Arial"/>
                <a:cs typeface="Arial"/>
              </a:rPr>
              <a:t> </a:t>
            </a:r>
            <a:r>
              <a:rPr sz="900" dirty="0">
                <a:latin typeface="Arial"/>
                <a:cs typeface="Arial"/>
              </a:rPr>
              <a:t>(i.e.,</a:t>
            </a:r>
            <a:r>
              <a:rPr sz="900" spc="-20" dirty="0">
                <a:latin typeface="Arial"/>
                <a:cs typeface="Arial"/>
              </a:rPr>
              <a:t> </a:t>
            </a:r>
            <a:r>
              <a:rPr sz="900" dirty="0">
                <a:latin typeface="Arial"/>
                <a:cs typeface="Arial"/>
              </a:rPr>
              <a:t>they</a:t>
            </a:r>
            <a:r>
              <a:rPr sz="900" spc="-20" dirty="0">
                <a:latin typeface="Arial"/>
                <a:cs typeface="Arial"/>
              </a:rPr>
              <a:t> </a:t>
            </a:r>
            <a:r>
              <a:rPr sz="900" dirty="0">
                <a:latin typeface="Arial"/>
                <a:cs typeface="Arial"/>
              </a:rPr>
              <a:t>are</a:t>
            </a:r>
            <a:r>
              <a:rPr sz="900" spc="-20" dirty="0">
                <a:latin typeface="Arial"/>
                <a:cs typeface="Arial"/>
              </a:rPr>
              <a:t> </a:t>
            </a:r>
            <a:r>
              <a:rPr sz="900" spc="-10" dirty="0">
                <a:solidFill>
                  <a:srgbClr val="3333B2"/>
                </a:solidFill>
                <a:latin typeface="Arial"/>
                <a:cs typeface="Arial"/>
              </a:rPr>
              <a:t>signed</a:t>
            </a:r>
            <a:r>
              <a:rPr sz="900" spc="-10" dirty="0">
                <a:latin typeface="Arial"/>
                <a:cs typeface="Arial"/>
              </a:rPr>
              <a:t>)</a:t>
            </a:r>
            <a:endParaRPr sz="900">
              <a:latin typeface="Arial"/>
              <a:cs typeface="Arial"/>
            </a:endParaRPr>
          </a:p>
          <a:p>
            <a:pPr marL="555625" indent="-120650">
              <a:lnSpc>
                <a:spcPct val="100000"/>
              </a:lnSpc>
              <a:spcBef>
                <a:spcPts val="525"/>
              </a:spcBef>
              <a:buFont typeface="Menlo"/>
              <a:buChar char="•"/>
              <a:tabLst>
                <a:tab pos="556260" algn="l"/>
              </a:tabLst>
            </a:pPr>
            <a:r>
              <a:rPr sz="900" dirty="0">
                <a:solidFill>
                  <a:srgbClr val="3333B2"/>
                </a:solidFill>
                <a:latin typeface="Arial"/>
                <a:cs typeface="Arial"/>
              </a:rPr>
              <a:t>Partially</a:t>
            </a:r>
            <a:r>
              <a:rPr sz="900" spc="-40" dirty="0">
                <a:solidFill>
                  <a:srgbClr val="3333B2"/>
                </a:solidFill>
                <a:latin typeface="Arial"/>
                <a:cs typeface="Arial"/>
              </a:rPr>
              <a:t> </a:t>
            </a:r>
            <a:r>
              <a:rPr sz="900" dirty="0">
                <a:solidFill>
                  <a:srgbClr val="3333B2"/>
                </a:solidFill>
                <a:latin typeface="Arial"/>
                <a:cs typeface="Arial"/>
              </a:rPr>
              <a:t>synchronous</a:t>
            </a:r>
            <a:r>
              <a:rPr sz="900" spc="-35" dirty="0">
                <a:solidFill>
                  <a:srgbClr val="3333B2"/>
                </a:solidFill>
                <a:latin typeface="Arial"/>
                <a:cs typeface="Arial"/>
              </a:rPr>
              <a:t> </a:t>
            </a:r>
            <a:r>
              <a:rPr sz="900" spc="-10" dirty="0">
                <a:latin typeface="Arial"/>
                <a:cs typeface="Arial"/>
              </a:rPr>
              <a:t>execution</a:t>
            </a:r>
            <a:r>
              <a:rPr sz="900" spc="-40" dirty="0">
                <a:latin typeface="Arial"/>
                <a:cs typeface="Arial"/>
              </a:rPr>
              <a:t> </a:t>
            </a:r>
            <a:r>
              <a:rPr sz="900" spc="-10" dirty="0">
                <a:latin typeface="Arial"/>
                <a:cs typeface="Arial"/>
              </a:rPr>
              <a:t>model</a:t>
            </a:r>
            <a:endParaRPr sz="900">
              <a:latin typeface="Arial"/>
              <a:cs typeface="Arial"/>
            </a:endParaRPr>
          </a:p>
          <a:p>
            <a:pPr>
              <a:lnSpc>
                <a:spcPct val="100000"/>
              </a:lnSpc>
              <a:spcBef>
                <a:spcPts val="20"/>
              </a:spcBef>
            </a:pPr>
            <a:endParaRPr sz="1200">
              <a:latin typeface="Arial"/>
              <a:cs typeface="Arial"/>
            </a:endParaRPr>
          </a:p>
          <a:p>
            <a:pPr marL="302260">
              <a:lnSpc>
                <a:spcPct val="100000"/>
              </a:lnSpc>
            </a:pPr>
            <a:r>
              <a:rPr sz="1000" spc="-10" dirty="0">
                <a:solidFill>
                  <a:srgbClr val="C80000"/>
                </a:solidFill>
                <a:latin typeface="Arial"/>
                <a:cs typeface="Arial"/>
              </a:rPr>
              <a:t>Essence</a:t>
            </a:r>
            <a:endParaRPr sz="1000">
              <a:latin typeface="Arial"/>
              <a:cs typeface="Arial"/>
            </a:endParaRPr>
          </a:p>
          <a:p>
            <a:pPr marL="298450">
              <a:lnSpc>
                <a:spcPct val="100000"/>
              </a:lnSpc>
              <a:spcBef>
                <a:spcPts val="110"/>
              </a:spcBef>
            </a:pPr>
            <a:r>
              <a:rPr sz="900" dirty="0">
                <a:latin typeface="Arial"/>
                <a:cs typeface="Arial"/>
              </a:rPr>
              <a:t>A</a:t>
            </a:r>
            <a:r>
              <a:rPr sz="900" spc="-40" dirty="0">
                <a:latin typeface="Arial"/>
                <a:cs typeface="Arial"/>
              </a:rPr>
              <a:t> </a:t>
            </a:r>
            <a:r>
              <a:rPr sz="900" dirty="0">
                <a:solidFill>
                  <a:srgbClr val="3333B2"/>
                </a:solidFill>
                <a:latin typeface="Arial"/>
                <a:cs typeface="Arial"/>
              </a:rPr>
              <a:t>primary-backup</a:t>
            </a:r>
            <a:r>
              <a:rPr sz="900" spc="-25" dirty="0">
                <a:solidFill>
                  <a:srgbClr val="3333B2"/>
                </a:solidFill>
                <a:latin typeface="Arial"/>
                <a:cs typeface="Arial"/>
              </a:rPr>
              <a:t> </a:t>
            </a:r>
            <a:r>
              <a:rPr sz="900" dirty="0">
                <a:solidFill>
                  <a:srgbClr val="3333B2"/>
                </a:solidFill>
                <a:latin typeface="Arial"/>
                <a:cs typeface="Arial"/>
              </a:rPr>
              <a:t>approach</a:t>
            </a:r>
            <a:r>
              <a:rPr sz="900" spc="-25" dirty="0">
                <a:solidFill>
                  <a:srgbClr val="3333B2"/>
                </a:solidFill>
                <a:latin typeface="Arial"/>
                <a:cs typeface="Arial"/>
              </a:rPr>
              <a:t> </a:t>
            </a:r>
            <a:r>
              <a:rPr sz="900" dirty="0">
                <a:latin typeface="Arial"/>
                <a:cs typeface="Arial"/>
              </a:rPr>
              <a:t>with</a:t>
            </a:r>
            <a:r>
              <a:rPr sz="900" spc="-25" dirty="0">
                <a:latin typeface="Arial"/>
                <a:cs typeface="Arial"/>
              </a:rPr>
              <a:t> </a:t>
            </a:r>
            <a:r>
              <a:rPr sz="900" dirty="0">
                <a:latin typeface="Arial"/>
                <a:cs typeface="Arial"/>
              </a:rPr>
              <a:t>3</a:t>
            </a:r>
            <a:r>
              <a:rPr sz="900" i="1" dirty="0">
                <a:latin typeface="Arial"/>
                <a:cs typeface="Arial"/>
              </a:rPr>
              <a:t>k</a:t>
            </a:r>
            <a:r>
              <a:rPr sz="900" i="1" spc="-55" dirty="0">
                <a:latin typeface="Arial"/>
                <a:cs typeface="Arial"/>
              </a:rPr>
              <a:t> </a:t>
            </a:r>
            <a:r>
              <a:rPr sz="900" spc="185" dirty="0">
                <a:latin typeface="Arial"/>
                <a:cs typeface="Arial"/>
              </a:rPr>
              <a:t>+</a:t>
            </a:r>
            <a:r>
              <a:rPr sz="900" spc="-130" dirty="0">
                <a:latin typeface="Arial"/>
                <a:cs typeface="Arial"/>
              </a:rPr>
              <a:t> </a:t>
            </a:r>
            <a:r>
              <a:rPr sz="900" dirty="0">
                <a:latin typeface="Arial"/>
                <a:cs typeface="Arial"/>
              </a:rPr>
              <a:t>1</a:t>
            </a:r>
            <a:r>
              <a:rPr sz="900" spc="-25" dirty="0">
                <a:latin typeface="Arial"/>
                <a:cs typeface="Arial"/>
              </a:rPr>
              <a:t> </a:t>
            </a:r>
            <a:r>
              <a:rPr sz="900" dirty="0">
                <a:latin typeface="Arial"/>
                <a:cs typeface="Arial"/>
              </a:rPr>
              <a:t>replica</a:t>
            </a:r>
            <a:r>
              <a:rPr sz="900" spc="-25" dirty="0">
                <a:latin typeface="Arial"/>
                <a:cs typeface="Arial"/>
              </a:rPr>
              <a:t> </a:t>
            </a:r>
            <a:r>
              <a:rPr sz="900" spc="-10" dirty="0">
                <a:latin typeface="Arial"/>
                <a:cs typeface="Arial"/>
              </a:rPr>
              <a:t>servers.</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142621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Consensus</a:t>
            </a:r>
            <a:r>
              <a:rPr sz="500" spc="-25" dirty="0">
                <a:latin typeface="Arial"/>
                <a:cs typeface="Arial"/>
                <a:hlinkClick r:id="rId4" action="ppaction://hlinksldjump"/>
              </a:rPr>
              <a:t> </a:t>
            </a:r>
            <a:r>
              <a:rPr sz="500" dirty="0">
                <a:latin typeface="Arial"/>
                <a:cs typeface="Arial"/>
                <a:hlinkClick r:id="rId4" action="ppaction://hlinksldjump"/>
              </a:rPr>
              <a:t>in</a:t>
            </a:r>
            <a:r>
              <a:rPr sz="500" spc="-20" dirty="0">
                <a:latin typeface="Arial"/>
                <a:cs typeface="Arial"/>
                <a:hlinkClick r:id="rId4" action="ppaction://hlinksldjump"/>
              </a:rPr>
              <a:t> </a:t>
            </a:r>
            <a:r>
              <a:rPr sz="500" dirty="0">
                <a:latin typeface="Arial"/>
                <a:cs typeface="Arial"/>
                <a:hlinkClick r:id="rId4" action="ppaction://hlinksldjump"/>
              </a:rPr>
              <a:t>faulty</a:t>
            </a:r>
            <a:r>
              <a:rPr sz="500" spc="-20" dirty="0">
                <a:latin typeface="Arial"/>
                <a:cs typeface="Arial"/>
                <a:hlinkClick r:id="rId4" action="ppaction://hlinksldjump"/>
              </a:rPr>
              <a:t> </a:t>
            </a:r>
            <a:r>
              <a:rPr sz="500" dirty="0">
                <a:latin typeface="Arial"/>
                <a:cs typeface="Arial"/>
                <a:hlinkClick r:id="rId4" action="ppaction://hlinksldjump"/>
              </a:rPr>
              <a:t>systems</a:t>
            </a:r>
            <a:r>
              <a:rPr sz="500" spc="-20" dirty="0">
                <a:latin typeface="Arial"/>
                <a:cs typeface="Arial"/>
                <a:hlinkClick r:id="rId4" action="ppaction://hlinksldjump"/>
              </a:rPr>
              <a:t> </a:t>
            </a:r>
            <a:r>
              <a:rPr sz="500" dirty="0">
                <a:latin typeface="Arial"/>
                <a:cs typeface="Arial"/>
                <a:hlinkClick r:id="rId4" action="ppaction://hlinksldjump"/>
              </a:rPr>
              <a:t>with</a:t>
            </a:r>
            <a:r>
              <a:rPr sz="500" spc="-25" dirty="0">
                <a:latin typeface="Arial"/>
                <a:cs typeface="Arial"/>
                <a:hlinkClick r:id="rId4" action="ppaction://hlinksldjump"/>
              </a:rPr>
              <a:t> </a:t>
            </a:r>
            <a:r>
              <a:rPr sz="500" dirty="0">
                <a:latin typeface="Arial"/>
                <a:cs typeface="Arial"/>
                <a:hlinkClick r:id="rId4" action="ppaction://hlinksldjump"/>
              </a:rPr>
              <a:t>arbitrary</a:t>
            </a:r>
            <a:r>
              <a:rPr sz="500" spc="-20" dirty="0">
                <a:latin typeface="Arial"/>
                <a:cs typeface="Arial"/>
                <a:hlinkClick r:id="rId4" action="ppaction://hlinksldjump"/>
              </a:rPr>
              <a:t> </a:t>
            </a:r>
            <a:r>
              <a:rPr sz="500" spc="-10" dirty="0">
                <a:latin typeface="Arial"/>
                <a:cs typeface="Arial"/>
                <a:hlinkClick r:id="rId4" action="ppaction://hlinksldjump"/>
              </a:rPr>
              <a:t>failures</a:t>
            </a:r>
            <a:endParaRPr sz="500">
              <a:latin typeface="Arial"/>
              <a:cs typeface="Arial"/>
            </a:endParaRPr>
          </a:p>
        </p:txBody>
      </p:sp>
    </p:spTree>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95300" y="197711"/>
            <a:ext cx="1283970"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PBFT:</a:t>
            </a:r>
            <a:r>
              <a:rPr sz="1200" spc="-65" dirty="0">
                <a:solidFill>
                  <a:srgbClr val="3333B2"/>
                </a:solidFill>
                <a:latin typeface="Arial"/>
                <a:cs typeface="Arial"/>
              </a:rPr>
              <a:t> </a:t>
            </a:r>
            <a:r>
              <a:rPr sz="1200" dirty="0">
                <a:solidFill>
                  <a:srgbClr val="3333B2"/>
                </a:solidFill>
                <a:latin typeface="Arial"/>
                <a:cs typeface="Arial"/>
              </a:rPr>
              <a:t>four</a:t>
            </a:r>
            <a:r>
              <a:rPr sz="1200" spc="-65" dirty="0">
                <a:solidFill>
                  <a:srgbClr val="3333B2"/>
                </a:solidFill>
                <a:latin typeface="Arial"/>
                <a:cs typeface="Arial"/>
              </a:rPr>
              <a:t> </a:t>
            </a:r>
            <a:r>
              <a:rPr sz="1200" spc="-10" dirty="0">
                <a:solidFill>
                  <a:srgbClr val="3333B2"/>
                </a:solidFill>
                <a:latin typeface="Arial"/>
                <a:cs typeface="Arial"/>
              </a:rPr>
              <a:t>phases</a:t>
            </a:r>
            <a:endParaRPr sz="1200">
              <a:latin typeface="Arial"/>
              <a:cs typeface="Arial"/>
            </a:endParaRPr>
          </a:p>
        </p:txBody>
      </p:sp>
      <p:pic>
        <p:nvPicPr>
          <p:cNvPr id="6" name="object 6"/>
          <p:cNvPicPr/>
          <p:nvPr/>
        </p:nvPicPr>
        <p:blipFill>
          <a:blip r:embed="rId4" cstate="print"/>
          <a:stretch>
            <a:fillRect/>
          </a:stretch>
        </p:blipFill>
        <p:spPr>
          <a:xfrm>
            <a:off x="698253" y="583079"/>
            <a:ext cx="3243254" cy="1506896"/>
          </a:xfrm>
          <a:prstGeom prst="rect">
            <a:avLst/>
          </a:prstGeom>
        </p:spPr>
      </p:pic>
      <p:sp>
        <p:nvSpPr>
          <p:cNvPr id="7" name="object 7"/>
          <p:cNvSpPr txBox="1"/>
          <p:nvPr/>
        </p:nvSpPr>
        <p:spPr>
          <a:xfrm>
            <a:off x="454748" y="2206336"/>
            <a:ext cx="1377950" cy="638175"/>
          </a:xfrm>
          <a:prstGeom prst="rect">
            <a:avLst/>
          </a:prstGeom>
        </p:spPr>
        <p:txBody>
          <a:bodyPr vert="horz" wrap="square" lIns="0" tIns="28575" rIns="0" bIns="0" rtlCol="0">
            <a:spAutoFit/>
          </a:bodyPr>
          <a:lstStyle/>
          <a:p>
            <a:pPr marL="158115" indent="-120650">
              <a:lnSpc>
                <a:spcPct val="100000"/>
              </a:lnSpc>
              <a:spcBef>
                <a:spcPts val="225"/>
              </a:spcBef>
              <a:buClr>
                <a:srgbClr val="3333B2"/>
              </a:buClr>
              <a:buFont typeface="Menlo"/>
              <a:buChar char="•"/>
              <a:tabLst>
                <a:tab pos="158750" algn="l"/>
              </a:tabLst>
            </a:pPr>
            <a:r>
              <a:rPr sz="900" i="1" dirty="0">
                <a:latin typeface="Arial"/>
                <a:cs typeface="Arial"/>
              </a:rPr>
              <a:t>C</a:t>
            </a:r>
            <a:r>
              <a:rPr sz="900" i="1" spc="40" dirty="0">
                <a:latin typeface="Arial"/>
                <a:cs typeface="Arial"/>
              </a:rPr>
              <a:t> </a:t>
            </a:r>
            <a:r>
              <a:rPr sz="900" dirty="0">
                <a:latin typeface="Arial"/>
                <a:cs typeface="Arial"/>
              </a:rPr>
              <a:t>is</a:t>
            </a:r>
            <a:r>
              <a:rPr sz="900" spc="-15" dirty="0">
                <a:latin typeface="Arial"/>
                <a:cs typeface="Arial"/>
              </a:rPr>
              <a:t> </a:t>
            </a:r>
            <a:r>
              <a:rPr sz="900" dirty="0">
                <a:latin typeface="Arial"/>
                <a:cs typeface="Arial"/>
              </a:rPr>
              <a:t>the</a:t>
            </a:r>
            <a:r>
              <a:rPr sz="900" spc="-15" dirty="0">
                <a:latin typeface="Arial"/>
                <a:cs typeface="Arial"/>
              </a:rPr>
              <a:t> </a:t>
            </a:r>
            <a:r>
              <a:rPr sz="900" spc="-10" dirty="0">
                <a:latin typeface="Arial"/>
                <a:cs typeface="Arial"/>
              </a:rPr>
              <a:t>client</a:t>
            </a:r>
            <a:endParaRPr sz="900">
              <a:latin typeface="Arial"/>
              <a:cs typeface="Arial"/>
            </a:endParaRPr>
          </a:p>
          <a:p>
            <a:pPr marL="158115" indent="-120650">
              <a:lnSpc>
                <a:spcPct val="100000"/>
              </a:lnSpc>
              <a:spcBef>
                <a:spcPts val="125"/>
              </a:spcBef>
              <a:buClr>
                <a:srgbClr val="3333B2"/>
              </a:buClr>
              <a:buFont typeface="Menlo"/>
              <a:buChar char="•"/>
              <a:tabLst>
                <a:tab pos="158750" algn="l"/>
              </a:tabLst>
            </a:pPr>
            <a:r>
              <a:rPr sz="900" i="1" dirty="0">
                <a:latin typeface="Arial"/>
                <a:cs typeface="Arial"/>
              </a:rPr>
              <a:t>P</a:t>
            </a:r>
            <a:r>
              <a:rPr sz="900" i="1" spc="40" dirty="0">
                <a:latin typeface="Arial"/>
                <a:cs typeface="Arial"/>
              </a:rPr>
              <a:t> </a:t>
            </a:r>
            <a:r>
              <a:rPr sz="900" dirty="0">
                <a:latin typeface="Arial"/>
                <a:cs typeface="Arial"/>
              </a:rPr>
              <a:t>is</a:t>
            </a:r>
            <a:r>
              <a:rPr sz="900" spc="-15" dirty="0">
                <a:latin typeface="Arial"/>
                <a:cs typeface="Arial"/>
              </a:rPr>
              <a:t> </a:t>
            </a:r>
            <a:r>
              <a:rPr sz="900" dirty="0">
                <a:latin typeface="Arial"/>
                <a:cs typeface="Arial"/>
              </a:rPr>
              <a:t>the</a:t>
            </a:r>
            <a:r>
              <a:rPr sz="900" spc="-10" dirty="0">
                <a:latin typeface="Arial"/>
                <a:cs typeface="Arial"/>
              </a:rPr>
              <a:t> primary</a:t>
            </a:r>
            <a:endParaRPr sz="900">
              <a:latin typeface="Arial"/>
              <a:cs typeface="Arial"/>
            </a:endParaRPr>
          </a:p>
          <a:p>
            <a:pPr marL="158115" indent="-120650">
              <a:lnSpc>
                <a:spcPct val="100000"/>
              </a:lnSpc>
              <a:spcBef>
                <a:spcPts val="125"/>
              </a:spcBef>
              <a:buClr>
                <a:srgbClr val="3333B2"/>
              </a:buClr>
              <a:buFont typeface="Menlo"/>
              <a:buChar char="•"/>
              <a:tabLst>
                <a:tab pos="158750" algn="l"/>
              </a:tabLst>
            </a:pPr>
            <a:r>
              <a:rPr sz="900" i="1" dirty="0">
                <a:latin typeface="Arial"/>
                <a:cs typeface="Arial"/>
              </a:rPr>
              <a:t>B</a:t>
            </a:r>
            <a:r>
              <a:rPr sz="1050" i="1" baseline="-15873" dirty="0">
                <a:latin typeface="Arial"/>
                <a:cs typeface="Arial"/>
              </a:rPr>
              <a:t>1</a:t>
            </a:r>
            <a:r>
              <a:rPr sz="900" dirty="0">
                <a:latin typeface="Arial"/>
                <a:cs typeface="Arial"/>
              </a:rPr>
              <a:t>,</a:t>
            </a:r>
            <a:r>
              <a:rPr sz="900" spc="-5" dirty="0">
                <a:latin typeface="Arial"/>
                <a:cs typeface="Arial"/>
              </a:rPr>
              <a:t> </a:t>
            </a:r>
            <a:r>
              <a:rPr sz="900" i="1" spc="-10" dirty="0">
                <a:latin typeface="Arial"/>
                <a:cs typeface="Arial"/>
              </a:rPr>
              <a:t>B</a:t>
            </a:r>
            <a:r>
              <a:rPr sz="1050" i="1" spc="-15" baseline="-15873" dirty="0">
                <a:latin typeface="Arial"/>
                <a:cs typeface="Arial"/>
              </a:rPr>
              <a:t>2</a:t>
            </a:r>
            <a:r>
              <a:rPr sz="1050" i="1" spc="-157" baseline="-15873" dirty="0">
                <a:latin typeface="Arial"/>
                <a:cs typeface="Arial"/>
              </a:rPr>
              <a:t> </a:t>
            </a:r>
            <a:r>
              <a:rPr sz="900" dirty="0">
                <a:latin typeface="Arial"/>
                <a:cs typeface="Arial"/>
              </a:rPr>
              <a:t>,</a:t>
            </a:r>
            <a:r>
              <a:rPr sz="900" spc="-5" dirty="0">
                <a:latin typeface="Arial"/>
                <a:cs typeface="Arial"/>
              </a:rPr>
              <a:t> </a:t>
            </a:r>
            <a:r>
              <a:rPr sz="900" i="1" dirty="0">
                <a:latin typeface="Arial"/>
                <a:cs typeface="Arial"/>
              </a:rPr>
              <a:t>B</a:t>
            </a:r>
            <a:r>
              <a:rPr sz="1050" i="1" baseline="-15873" dirty="0">
                <a:latin typeface="Arial"/>
                <a:cs typeface="Arial"/>
              </a:rPr>
              <a:t>3</a:t>
            </a:r>
            <a:r>
              <a:rPr sz="1050" i="1" spc="209" baseline="-15873" dirty="0">
                <a:latin typeface="Arial"/>
                <a:cs typeface="Arial"/>
              </a:rPr>
              <a:t> </a:t>
            </a:r>
            <a:r>
              <a:rPr sz="900" dirty="0">
                <a:latin typeface="Arial"/>
                <a:cs typeface="Arial"/>
              </a:rPr>
              <a:t>are</a:t>
            </a:r>
            <a:r>
              <a:rPr sz="900" spc="-5" dirty="0">
                <a:latin typeface="Arial"/>
                <a:cs typeface="Arial"/>
              </a:rPr>
              <a:t> </a:t>
            </a:r>
            <a:r>
              <a:rPr sz="900" spc="-10" dirty="0">
                <a:latin typeface="Arial"/>
                <a:cs typeface="Arial"/>
              </a:rPr>
              <a:t>backups</a:t>
            </a:r>
            <a:endParaRPr sz="900">
              <a:latin typeface="Arial"/>
              <a:cs typeface="Arial"/>
            </a:endParaRPr>
          </a:p>
          <a:p>
            <a:pPr marL="154305" indent="-116839">
              <a:lnSpc>
                <a:spcPct val="100000"/>
              </a:lnSpc>
              <a:spcBef>
                <a:spcPts val="125"/>
              </a:spcBef>
              <a:buClr>
                <a:srgbClr val="3333B2"/>
              </a:buClr>
              <a:buFont typeface="Menlo"/>
              <a:buChar char="•"/>
              <a:tabLst>
                <a:tab pos="154940" algn="l"/>
              </a:tabLst>
            </a:pPr>
            <a:r>
              <a:rPr sz="900" dirty="0">
                <a:latin typeface="Arial"/>
                <a:cs typeface="Arial"/>
              </a:rPr>
              <a:t>Assume</a:t>
            </a:r>
            <a:r>
              <a:rPr sz="900" spc="-25" dirty="0">
                <a:latin typeface="Arial"/>
                <a:cs typeface="Arial"/>
              </a:rPr>
              <a:t> </a:t>
            </a:r>
            <a:r>
              <a:rPr sz="900" i="1" dirty="0">
                <a:latin typeface="Arial"/>
                <a:cs typeface="Arial"/>
              </a:rPr>
              <a:t>B</a:t>
            </a:r>
            <a:r>
              <a:rPr sz="1050" i="1" baseline="-15873" dirty="0">
                <a:latin typeface="Arial"/>
                <a:cs typeface="Arial"/>
              </a:rPr>
              <a:t>2</a:t>
            </a:r>
            <a:r>
              <a:rPr sz="1050" i="1" spc="179" baseline="-15873" dirty="0">
                <a:latin typeface="Arial"/>
                <a:cs typeface="Arial"/>
              </a:rPr>
              <a:t> </a:t>
            </a:r>
            <a:r>
              <a:rPr sz="900" dirty="0">
                <a:latin typeface="Arial"/>
                <a:cs typeface="Arial"/>
              </a:rPr>
              <a:t>is</a:t>
            </a:r>
            <a:r>
              <a:rPr sz="900" spc="-20" dirty="0">
                <a:latin typeface="Arial"/>
                <a:cs typeface="Arial"/>
              </a:rPr>
              <a:t> </a:t>
            </a:r>
            <a:r>
              <a:rPr sz="900" spc="-10" dirty="0">
                <a:latin typeface="Arial"/>
                <a:cs typeface="Arial"/>
              </a:rPr>
              <a:t>faulty</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142621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Consensus</a:t>
            </a:r>
            <a:r>
              <a:rPr sz="500" spc="-25" dirty="0">
                <a:latin typeface="Arial"/>
                <a:cs typeface="Arial"/>
                <a:hlinkClick r:id="rId5" action="ppaction://hlinksldjump"/>
              </a:rPr>
              <a:t> </a:t>
            </a:r>
            <a:r>
              <a:rPr sz="500" dirty="0">
                <a:latin typeface="Arial"/>
                <a:cs typeface="Arial"/>
                <a:hlinkClick r:id="rId5" action="ppaction://hlinksldjump"/>
              </a:rPr>
              <a:t>in</a:t>
            </a:r>
            <a:r>
              <a:rPr sz="500" spc="-20" dirty="0">
                <a:latin typeface="Arial"/>
                <a:cs typeface="Arial"/>
                <a:hlinkClick r:id="rId5" action="ppaction://hlinksldjump"/>
              </a:rPr>
              <a:t> </a:t>
            </a:r>
            <a:r>
              <a:rPr sz="500" dirty="0">
                <a:latin typeface="Arial"/>
                <a:cs typeface="Arial"/>
                <a:hlinkClick r:id="rId5" action="ppaction://hlinksldjump"/>
              </a:rPr>
              <a:t>faulty</a:t>
            </a:r>
            <a:r>
              <a:rPr sz="500" spc="-20" dirty="0">
                <a:latin typeface="Arial"/>
                <a:cs typeface="Arial"/>
                <a:hlinkClick r:id="rId5" action="ppaction://hlinksldjump"/>
              </a:rPr>
              <a:t> </a:t>
            </a:r>
            <a:r>
              <a:rPr sz="500" dirty="0">
                <a:latin typeface="Arial"/>
                <a:cs typeface="Arial"/>
                <a:hlinkClick r:id="rId5" action="ppaction://hlinksldjump"/>
              </a:rPr>
              <a:t>systems</a:t>
            </a:r>
            <a:r>
              <a:rPr sz="500" spc="-20" dirty="0">
                <a:latin typeface="Arial"/>
                <a:cs typeface="Arial"/>
                <a:hlinkClick r:id="rId5" action="ppaction://hlinksldjump"/>
              </a:rPr>
              <a:t> </a:t>
            </a:r>
            <a:r>
              <a:rPr sz="500" dirty="0">
                <a:latin typeface="Arial"/>
                <a:cs typeface="Arial"/>
                <a:hlinkClick r:id="rId5" action="ppaction://hlinksldjump"/>
              </a:rPr>
              <a:t>with</a:t>
            </a:r>
            <a:r>
              <a:rPr sz="500" spc="-25" dirty="0">
                <a:latin typeface="Arial"/>
                <a:cs typeface="Arial"/>
                <a:hlinkClick r:id="rId5" action="ppaction://hlinksldjump"/>
              </a:rPr>
              <a:t> </a:t>
            </a:r>
            <a:r>
              <a:rPr sz="500" dirty="0">
                <a:latin typeface="Arial"/>
                <a:cs typeface="Arial"/>
                <a:hlinkClick r:id="rId5" action="ppaction://hlinksldjump"/>
              </a:rPr>
              <a:t>arbitrary</a:t>
            </a:r>
            <a:r>
              <a:rPr sz="500" spc="-20" dirty="0">
                <a:latin typeface="Arial"/>
                <a:cs typeface="Arial"/>
                <a:hlinkClick r:id="rId5" action="ppaction://hlinksldjump"/>
              </a:rPr>
              <a:t> </a:t>
            </a:r>
            <a:r>
              <a:rPr sz="500" spc="-10" dirty="0">
                <a:latin typeface="Arial"/>
                <a:cs typeface="Arial"/>
                <a:hlinkClick r:id="rId5" action="ppaction://hlinksldjump"/>
              </a:rPr>
              <a:t>failures</a:t>
            </a:r>
            <a:endParaRPr sz="500">
              <a:latin typeface="Arial"/>
              <a:cs typeface="Arial"/>
            </a:endParaRPr>
          </a:p>
        </p:txBody>
      </p:sp>
    </p:spTree>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95300" y="197711"/>
            <a:ext cx="1283970"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PBFT:</a:t>
            </a:r>
            <a:r>
              <a:rPr sz="1200" spc="-65" dirty="0">
                <a:solidFill>
                  <a:srgbClr val="3333B2"/>
                </a:solidFill>
                <a:latin typeface="Arial"/>
                <a:cs typeface="Arial"/>
              </a:rPr>
              <a:t> </a:t>
            </a:r>
            <a:r>
              <a:rPr sz="1200" dirty="0">
                <a:solidFill>
                  <a:srgbClr val="3333B2"/>
                </a:solidFill>
                <a:latin typeface="Arial"/>
                <a:cs typeface="Arial"/>
              </a:rPr>
              <a:t>four</a:t>
            </a:r>
            <a:r>
              <a:rPr sz="1200" spc="-65" dirty="0">
                <a:solidFill>
                  <a:srgbClr val="3333B2"/>
                </a:solidFill>
                <a:latin typeface="Arial"/>
                <a:cs typeface="Arial"/>
              </a:rPr>
              <a:t> </a:t>
            </a:r>
            <a:r>
              <a:rPr sz="1200" spc="-10" dirty="0">
                <a:solidFill>
                  <a:srgbClr val="3333B2"/>
                </a:solidFill>
                <a:latin typeface="Arial"/>
                <a:cs typeface="Arial"/>
              </a:rPr>
              <a:t>phases</a:t>
            </a:r>
            <a:endParaRPr sz="1200">
              <a:latin typeface="Arial"/>
              <a:cs typeface="Arial"/>
            </a:endParaRPr>
          </a:p>
        </p:txBody>
      </p:sp>
      <p:pic>
        <p:nvPicPr>
          <p:cNvPr id="6" name="object 6"/>
          <p:cNvPicPr/>
          <p:nvPr/>
        </p:nvPicPr>
        <p:blipFill>
          <a:blip r:embed="rId4" cstate="print"/>
          <a:stretch>
            <a:fillRect/>
          </a:stretch>
        </p:blipFill>
        <p:spPr>
          <a:xfrm>
            <a:off x="698253" y="583079"/>
            <a:ext cx="3243254" cy="1506896"/>
          </a:xfrm>
          <a:prstGeom prst="rect">
            <a:avLst/>
          </a:prstGeom>
        </p:spPr>
      </p:pic>
      <p:sp>
        <p:nvSpPr>
          <p:cNvPr id="7" name="object 7"/>
          <p:cNvSpPr txBox="1"/>
          <p:nvPr/>
        </p:nvSpPr>
        <p:spPr>
          <a:xfrm>
            <a:off x="454748" y="2206336"/>
            <a:ext cx="3752215" cy="791210"/>
          </a:xfrm>
          <a:prstGeom prst="rect">
            <a:avLst/>
          </a:prstGeom>
        </p:spPr>
        <p:txBody>
          <a:bodyPr vert="horz" wrap="square" lIns="0" tIns="28575" rIns="0" bIns="0" rtlCol="0">
            <a:spAutoFit/>
          </a:bodyPr>
          <a:lstStyle/>
          <a:p>
            <a:pPr marL="154305" indent="-116839">
              <a:lnSpc>
                <a:spcPct val="100000"/>
              </a:lnSpc>
              <a:spcBef>
                <a:spcPts val="225"/>
              </a:spcBef>
              <a:buClr>
                <a:srgbClr val="3333B2"/>
              </a:buClr>
              <a:buFont typeface="Menlo"/>
              <a:buChar char="•"/>
              <a:tabLst>
                <a:tab pos="154940" algn="l"/>
              </a:tabLst>
            </a:pPr>
            <a:r>
              <a:rPr sz="900" dirty="0">
                <a:latin typeface="Arial"/>
                <a:cs typeface="Arial"/>
              </a:rPr>
              <a:t>All</a:t>
            </a:r>
            <a:r>
              <a:rPr sz="900" spc="-35" dirty="0">
                <a:latin typeface="Arial"/>
                <a:cs typeface="Arial"/>
              </a:rPr>
              <a:t> </a:t>
            </a:r>
            <a:r>
              <a:rPr sz="900" dirty="0">
                <a:latin typeface="Arial"/>
                <a:cs typeface="Arial"/>
              </a:rPr>
              <a:t>servers</a:t>
            </a:r>
            <a:r>
              <a:rPr sz="900" spc="-20" dirty="0">
                <a:latin typeface="Arial"/>
                <a:cs typeface="Arial"/>
              </a:rPr>
              <a:t> </a:t>
            </a:r>
            <a:r>
              <a:rPr sz="900" dirty="0">
                <a:latin typeface="Arial"/>
                <a:cs typeface="Arial"/>
              </a:rPr>
              <a:t>assume</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be</a:t>
            </a:r>
            <a:r>
              <a:rPr sz="900" spc="-20" dirty="0">
                <a:latin typeface="Arial"/>
                <a:cs typeface="Arial"/>
              </a:rPr>
              <a:t> </a:t>
            </a:r>
            <a:r>
              <a:rPr sz="900" dirty="0">
                <a:latin typeface="Arial"/>
                <a:cs typeface="Arial"/>
              </a:rPr>
              <a:t>working</a:t>
            </a:r>
            <a:r>
              <a:rPr sz="900" spc="-25" dirty="0">
                <a:latin typeface="Arial"/>
                <a:cs typeface="Arial"/>
              </a:rPr>
              <a:t> </a:t>
            </a:r>
            <a:r>
              <a:rPr sz="900" dirty="0">
                <a:latin typeface="Arial"/>
                <a:cs typeface="Arial"/>
              </a:rPr>
              <a:t>in</a:t>
            </a:r>
            <a:r>
              <a:rPr sz="900" spc="-25"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current</a:t>
            </a:r>
            <a:r>
              <a:rPr sz="900" spc="-25" dirty="0">
                <a:latin typeface="Arial"/>
                <a:cs typeface="Arial"/>
              </a:rPr>
              <a:t> </a:t>
            </a:r>
            <a:r>
              <a:rPr sz="900" dirty="0">
                <a:solidFill>
                  <a:srgbClr val="C80000"/>
                </a:solidFill>
                <a:latin typeface="Arial"/>
                <a:cs typeface="Arial"/>
              </a:rPr>
              <a:t>view</a:t>
            </a:r>
            <a:r>
              <a:rPr sz="900" spc="-25" dirty="0">
                <a:solidFill>
                  <a:srgbClr val="C80000"/>
                </a:solidFill>
                <a:latin typeface="Arial"/>
                <a:cs typeface="Arial"/>
              </a:rPr>
              <a:t> </a:t>
            </a:r>
            <a:r>
              <a:rPr sz="900" i="1" spc="-10" dirty="0">
                <a:latin typeface="Arial"/>
                <a:cs typeface="Arial"/>
              </a:rPr>
              <a:t>v</a:t>
            </a:r>
            <a:r>
              <a:rPr sz="900" i="1" spc="-160" dirty="0">
                <a:latin typeface="Arial"/>
                <a:cs typeface="Arial"/>
              </a:rPr>
              <a:t> </a:t>
            </a:r>
            <a:r>
              <a:rPr sz="900" spc="-50" dirty="0">
                <a:latin typeface="Arial"/>
                <a:cs typeface="Arial"/>
              </a:rPr>
              <a:t>.</a:t>
            </a:r>
            <a:endParaRPr sz="900">
              <a:latin typeface="Arial"/>
              <a:cs typeface="Arial"/>
            </a:endParaRPr>
          </a:p>
          <a:p>
            <a:pPr marL="158115" indent="-120650">
              <a:lnSpc>
                <a:spcPct val="100000"/>
              </a:lnSpc>
              <a:spcBef>
                <a:spcPts val="125"/>
              </a:spcBef>
              <a:buClr>
                <a:srgbClr val="3333B2"/>
              </a:buClr>
              <a:buFont typeface="Menlo"/>
              <a:buChar char="•"/>
              <a:tabLst>
                <a:tab pos="158750" algn="l"/>
              </a:tabLst>
            </a:pPr>
            <a:r>
              <a:rPr sz="900" i="1" dirty="0">
                <a:latin typeface="Arial"/>
                <a:cs typeface="Arial"/>
              </a:rPr>
              <a:t>C</a:t>
            </a:r>
            <a:r>
              <a:rPr sz="900" i="1" spc="25" dirty="0">
                <a:latin typeface="Arial"/>
                <a:cs typeface="Arial"/>
              </a:rPr>
              <a:t> </a:t>
            </a:r>
            <a:r>
              <a:rPr sz="900" dirty="0">
                <a:latin typeface="Arial"/>
                <a:cs typeface="Arial"/>
              </a:rPr>
              <a:t>requests</a:t>
            </a:r>
            <a:r>
              <a:rPr sz="900" spc="-20" dirty="0">
                <a:latin typeface="Arial"/>
                <a:cs typeface="Arial"/>
              </a:rPr>
              <a:t> </a:t>
            </a:r>
            <a:r>
              <a:rPr sz="900" dirty="0">
                <a:latin typeface="Arial"/>
                <a:cs typeface="Arial"/>
              </a:rPr>
              <a:t>operation</a:t>
            </a:r>
            <a:r>
              <a:rPr sz="900" spc="-25" dirty="0">
                <a:latin typeface="Arial"/>
                <a:cs typeface="Arial"/>
              </a:rPr>
              <a:t> </a:t>
            </a:r>
            <a:r>
              <a:rPr sz="900" i="1" dirty="0">
                <a:latin typeface="Arial"/>
                <a:cs typeface="Arial"/>
              </a:rPr>
              <a:t>o</a:t>
            </a:r>
            <a:r>
              <a:rPr sz="900" i="1" spc="5"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be</a:t>
            </a:r>
            <a:r>
              <a:rPr sz="900" spc="-25" dirty="0">
                <a:latin typeface="Arial"/>
                <a:cs typeface="Arial"/>
              </a:rPr>
              <a:t> </a:t>
            </a:r>
            <a:r>
              <a:rPr sz="900" spc="-10" dirty="0">
                <a:latin typeface="Arial"/>
                <a:cs typeface="Arial"/>
              </a:rPr>
              <a:t>executed</a:t>
            </a:r>
            <a:endParaRPr sz="900">
              <a:latin typeface="Arial"/>
              <a:cs typeface="Arial"/>
            </a:endParaRPr>
          </a:p>
          <a:p>
            <a:pPr marL="158115" indent="-120650">
              <a:lnSpc>
                <a:spcPct val="100000"/>
              </a:lnSpc>
              <a:spcBef>
                <a:spcPts val="125"/>
              </a:spcBef>
              <a:buClr>
                <a:srgbClr val="3333B2"/>
              </a:buClr>
              <a:buFont typeface="Menlo"/>
              <a:buChar char="•"/>
              <a:tabLst>
                <a:tab pos="158750" algn="l"/>
              </a:tabLst>
            </a:pPr>
            <a:r>
              <a:rPr sz="900" i="1" dirty="0">
                <a:latin typeface="Arial"/>
                <a:cs typeface="Arial"/>
              </a:rPr>
              <a:t>P</a:t>
            </a:r>
            <a:r>
              <a:rPr sz="900" i="1" spc="170" dirty="0">
                <a:latin typeface="Arial"/>
                <a:cs typeface="Arial"/>
              </a:rPr>
              <a:t> </a:t>
            </a:r>
            <a:r>
              <a:rPr sz="900" dirty="0">
                <a:solidFill>
                  <a:srgbClr val="3333B2"/>
                </a:solidFill>
                <a:latin typeface="Arial"/>
                <a:cs typeface="Arial"/>
              </a:rPr>
              <a:t>timestamps</a:t>
            </a:r>
            <a:r>
              <a:rPr sz="900" spc="80" dirty="0">
                <a:solidFill>
                  <a:srgbClr val="3333B2"/>
                </a:solidFill>
                <a:latin typeface="Arial"/>
                <a:cs typeface="Arial"/>
              </a:rPr>
              <a:t> </a:t>
            </a:r>
            <a:r>
              <a:rPr sz="900" i="1" dirty="0">
                <a:latin typeface="Arial"/>
                <a:cs typeface="Arial"/>
              </a:rPr>
              <a:t>o</a:t>
            </a:r>
            <a:r>
              <a:rPr sz="900" i="1" spc="125" dirty="0">
                <a:latin typeface="Arial"/>
                <a:cs typeface="Arial"/>
              </a:rPr>
              <a:t> </a:t>
            </a:r>
            <a:r>
              <a:rPr sz="900" dirty="0">
                <a:latin typeface="Arial"/>
                <a:cs typeface="Arial"/>
              </a:rPr>
              <a:t>and</a:t>
            </a:r>
            <a:r>
              <a:rPr sz="900" spc="80" dirty="0">
                <a:latin typeface="Arial"/>
                <a:cs typeface="Arial"/>
              </a:rPr>
              <a:t> </a:t>
            </a:r>
            <a:r>
              <a:rPr sz="900" dirty="0">
                <a:latin typeface="Arial"/>
                <a:cs typeface="Arial"/>
              </a:rPr>
              <a:t>sends</a:t>
            </a:r>
            <a:r>
              <a:rPr sz="900" spc="114" dirty="0">
                <a:latin typeface="Arial"/>
                <a:cs typeface="Arial"/>
              </a:rPr>
              <a:t> </a:t>
            </a:r>
            <a:r>
              <a:rPr sz="700" dirty="0">
                <a:solidFill>
                  <a:srgbClr val="C80000"/>
                </a:solidFill>
                <a:latin typeface="Arial"/>
                <a:cs typeface="Arial"/>
              </a:rPr>
              <a:t>PRE</a:t>
            </a:r>
            <a:r>
              <a:rPr sz="900" dirty="0">
                <a:solidFill>
                  <a:srgbClr val="C80000"/>
                </a:solidFill>
                <a:latin typeface="Arial"/>
                <a:cs typeface="Arial"/>
              </a:rPr>
              <a:t>-</a:t>
            </a:r>
            <a:r>
              <a:rPr sz="700" dirty="0">
                <a:solidFill>
                  <a:srgbClr val="C80000"/>
                </a:solidFill>
                <a:latin typeface="Arial"/>
                <a:cs typeface="Arial"/>
              </a:rPr>
              <a:t>PREPARE</a:t>
            </a:r>
            <a:r>
              <a:rPr sz="900" dirty="0">
                <a:solidFill>
                  <a:srgbClr val="C80000"/>
                </a:solidFill>
                <a:latin typeface="Arial"/>
                <a:cs typeface="Arial"/>
              </a:rPr>
              <a:t>(</a:t>
            </a:r>
            <a:r>
              <a:rPr sz="900" i="1" dirty="0">
                <a:solidFill>
                  <a:srgbClr val="C80000"/>
                </a:solidFill>
                <a:latin typeface="Arial"/>
                <a:cs typeface="Arial"/>
              </a:rPr>
              <a:t>t,</a:t>
            </a:r>
            <a:r>
              <a:rPr sz="900" i="1" spc="-120" dirty="0">
                <a:solidFill>
                  <a:srgbClr val="C80000"/>
                </a:solidFill>
                <a:latin typeface="Arial"/>
                <a:cs typeface="Arial"/>
              </a:rPr>
              <a:t> </a:t>
            </a:r>
            <a:r>
              <a:rPr sz="900" i="1" dirty="0">
                <a:solidFill>
                  <a:srgbClr val="C80000"/>
                </a:solidFill>
                <a:latin typeface="Arial"/>
                <a:cs typeface="Arial"/>
              </a:rPr>
              <a:t>v,</a:t>
            </a:r>
            <a:r>
              <a:rPr sz="900" i="1" spc="-120" dirty="0">
                <a:solidFill>
                  <a:srgbClr val="C80000"/>
                </a:solidFill>
                <a:latin typeface="Arial"/>
                <a:cs typeface="Arial"/>
              </a:rPr>
              <a:t> </a:t>
            </a:r>
            <a:r>
              <a:rPr sz="900" i="1" spc="-25" dirty="0">
                <a:solidFill>
                  <a:srgbClr val="C80000"/>
                </a:solidFill>
                <a:latin typeface="Arial"/>
                <a:cs typeface="Arial"/>
              </a:rPr>
              <a:t>o</a:t>
            </a:r>
            <a:r>
              <a:rPr sz="900" spc="-25" dirty="0">
                <a:solidFill>
                  <a:srgbClr val="C80000"/>
                </a:solidFill>
                <a:latin typeface="Arial"/>
                <a:cs typeface="Arial"/>
              </a:rPr>
              <a:t>)</a:t>
            </a:r>
            <a:endParaRPr sz="900">
              <a:latin typeface="Arial"/>
              <a:cs typeface="Arial"/>
            </a:endParaRPr>
          </a:p>
          <a:p>
            <a:pPr marL="158115" marR="30480" indent="-120650">
              <a:lnSpc>
                <a:spcPct val="111600"/>
              </a:lnSpc>
              <a:buClr>
                <a:srgbClr val="3333B2"/>
              </a:buClr>
              <a:buFont typeface="Menlo"/>
              <a:buChar char="•"/>
              <a:tabLst>
                <a:tab pos="158750" algn="l"/>
              </a:tabLst>
            </a:pPr>
            <a:r>
              <a:rPr sz="900" dirty="0">
                <a:latin typeface="Arial"/>
                <a:cs typeface="Arial"/>
              </a:rPr>
              <a:t>Backup</a:t>
            </a:r>
            <a:r>
              <a:rPr sz="900" spc="-20" dirty="0">
                <a:latin typeface="Arial"/>
                <a:cs typeface="Arial"/>
              </a:rPr>
              <a:t> </a:t>
            </a:r>
            <a:r>
              <a:rPr sz="900" i="1" dirty="0">
                <a:latin typeface="Arial"/>
                <a:cs typeface="Arial"/>
              </a:rPr>
              <a:t>B</a:t>
            </a:r>
            <a:r>
              <a:rPr sz="1050" i="1" baseline="-15873" dirty="0">
                <a:latin typeface="Arial"/>
                <a:cs typeface="Arial"/>
              </a:rPr>
              <a:t>i</a:t>
            </a:r>
            <a:r>
              <a:rPr sz="1050" i="1" spc="202" baseline="-15873" dirty="0">
                <a:latin typeface="Arial"/>
                <a:cs typeface="Arial"/>
              </a:rPr>
              <a:t> </a:t>
            </a:r>
            <a:r>
              <a:rPr sz="900" dirty="0">
                <a:latin typeface="Arial"/>
                <a:cs typeface="Arial"/>
              </a:rPr>
              <a:t>accepts</a:t>
            </a:r>
            <a:r>
              <a:rPr sz="900" spc="-15" dirty="0">
                <a:latin typeface="Arial"/>
                <a:cs typeface="Arial"/>
              </a:rPr>
              <a:t> </a:t>
            </a:r>
            <a:r>
              <a:rPr sz="900" dirty="0">
                <a:latin typeface="Arial"/>
                <a:cs typeface="Arial"/>
              </a:rPr>
              <a:t>the</a:t>
            </a:r>
            <a:r>
              <a:rPr sz="900" spc="-20" dirty="0">
                <a:latin typeface="Arial"/>
                <a:cs typeface="Arial"/>
              </a:rPr>
              <a:t> </a:t>
            </a:r>
            <a:r>
              <a:rPr sz="900" spc="-10" dirty="0">
                <a:latin typeface="Arial"/>
                <a:cs typeface="Arial"/>
              </a:rPr>
              <a:t>pre-</a:t>
            </a:r>
            <a:r>
              <a:rPr sz="900" dirty="0">
                <a:latin typeface="Arial"/>
                <a:cs typeface="Arial"/>
              </a:rPr>
              <a:t>prepare</a:t>
            </a:r>
            <a:r>
              <a:rPr sz="900" spc="-20" dirty="0">
                <a:latin typeface="Arial"/>
                <a:cs typeface="Arial"/>
              </a:rPr>
              <a:t> </a:t>
            </a:r>
            <a:r>
              <a:rPr sz="900" dirty="0">
                <a:latin typeface="Arial"/>
                <a:cs typeface="Arial"/>
              </a:rPr>
              <a:t>message</a:t>
            </a:r>
            <a:r>
              <a:rPr sz="900" spc="-20" dirty="0">
                <a:latin typeface="Arial"/>
                <a:cs typeface="Arial"/>
              </a:rPr>
              <a:t> </a:t>
            </a:r>
            <a:r>
              <a:rPr sz="900" dirty="0">
                <a:latin typeface="Arial"/>
                <a:cs typeface="Arial"/>
              </a:rPr>
              <a:t>if</a:t>
            </a:r>
            <a:r>
              <a:rPr sz="900" spc="-20" dirty="0">
                <a:latin typeface="Arial"/>
                <a:cs typeface="Arial"/>
              </a:rPr>
              <a:t> </a:t>
            </a:r>
            <a:r>
              <a:rPr sz="900" dirty="0">
                <a:latin typeface="Arial"/>
                <a:cs typeface="Arial"/>
              </a:rPr>
              <a:t>it</a:t>
            </a:r>
            <a:r>
              <a:rPr sz="900" spc="-20"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also</a:t>
            </a:r>
            <a:r>
              <a:rPr sz="900" spc="-20"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in</a:t>
            </a:r>
            <a:r>
              <a:rPr sz="900" spc="-20" dirty="0">
                <a:latin typeface="Arial"/>
                <a:cs typeface="Arial"/>
              </a:rPr>
              <a:t> </a:t>
            </a:r>
            <a:r>
              <a:rPr sz="900" i="1" dirty="0">
                <a:latin typeface="Arial"/>
                <a:cs typeface="Arial"/>
              </a:rPr>
              <a:t>v</a:t>
            </a:r>
            <a:r>
              <a:rPr sz="900" i="1" spc="70" dirty="0">
                <a:latin typeface="Arial"/>
                <a:cs typeface="Arial"/>
              </a:rPr>
              <a:t> </a:t>
            </a:r>
            <a:r>
              <a:rPr sz="900" dirty="0">
                <a:latin typeface="Arial"/>
                <a:cs typeface="Arial"/>
              </a:rPr>
              <a:t>and</a:t>
            </a:r>
            <a:r>
              <a:rPr sz="900" spc="-15" dirty="0">
                <a:latin typeface="Arial"/>
                <a:cs typeface="Arial"/>
              </a:rPr>
              <a:t> </a:t>
            </a:r>
            <a:r>
              <a:rPr sz="900" spc="-25" dirty="0">
                <a:latin typeface="Arial"/>
                <a:cs typeface="Arial"/>
              </a:rPr>
              <a:t>has </a:t>
            </a:r>
            <a:r>
              <a:rPr sz="900" dirty="0">
                <a:latin typeface="Arial"/>
                <a:cs typeface="Arial"/>
              </a:rPr>
              <a:t>not</a:t>
            </a:r>
            <a:r>
              <a:rPr sz="900" spc="-30" dirty="0">
                <a:latin typeface="Arial"/>
                <a:cs typeface="Arial"/>
              </a:rPr>
              <a:t> </a:t>
            </a:r>
            <a:r>
              <a:rPr sz="900" dirty="0">
                <a:latin typeface="Arial"/>
                <a:cs typeface="Arial"/>
              </a:rPr>
              <a:t>accepted</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an</a:t>
            </a:r>
            <a:r>
              <a:rPr sz="900" spc="-25" dirty="0">
                <a:latin typeface="Arial"/>
                <a:cs typeface="Arial"/>
              </a:rPr>
              <a:t> </a:t>
            </a:r>
            <a:r>
              <a:rPr sz="900" dirty="0">
                <a:latin typeface="Arial"/>
                <a:cs typeface="Arial"/>
              </a:rPr>
              <a:t>operation</a:t>
            </a:r>
            <a:r>
              <a:rPr sz="900" spc="-25" dirty="0">
                <a:latin typeface="Arial"/>
                <a:cs typeface="Arial"/>
              </a:rPr>
              <a:t> </a:t>
            </a:r>
            <a:r>
              <a:rPr sz="900" dirty="0">
                <a:latin typeface="Arial"/>
                <a:cs typeface="Arial"/>
              </a:rPr>
              <a:t>with</a:t>
            </a:r>
            <a:r>
              <a:rPr sz="900" spc="-25" dirty="0">
                <a:latin typeface="Arial"/>
                <a:cs typeface="Arial"/>
              </a:rPr>
              <a:t> </a:t>
            </a:r>
            <a:r>
              <a:rPr sz="900" dirty="0">
                <a:latin typeface="Arial"/>
                <a:cs typeface="Arial"/>
              </a:rPr>
              <a:t>timestamp</a:t>
            </a:r>
            <a:r>
              <a:rPr sz="900" spc="-25" dirty="0">
                <a:latin typeface="Arial"/>
                <a:cs typeface="Arial"/>
              </a:rPr>
              <a:t> </a:t>
            </a:r>
            <a:r>
              <a:rPr sz="900" i="1" dirty="0">
                <a:latin typeface="Arial"/>
                <a:cs typeface="Arial"/>
              </a:rPr>
              <a:t>t</a:t>
            </a:r>
            <a:r>
              <a:rPr sz="900" i="1" spc="45" dirty="0">
                <a:latin typeface="Arial"/>
                <a:cs typeface="Arial"/>
              </a:rPr>
              <a:t> </a:t>
            </a:r>
            <a:r>
              <a:rPr sz="900" spc="-10" dirty="0">
                <a:latin typeface="Arial"/>
                <a:cs typeface="Arial"/>
              </a:rPr>
              <a:t>before.</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142621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Consensus</a:t>
            </a:r>
            <a:r>
              <a:rPr sz="500" spc="-25" dirty="0">
                <a:latin typeface="Arial"/>
                <a:cs typeface="Arial"/>
                <a:hlinkClick r:id="rId5" action="ppaction://hlinksldjump"/>
              </a:rPr>
              <a:t> </a:t>
            </a:r>
            <a:r>
              <a:rPr sz="500" dirty="0">
                <a:latin typeface="Arial"/>
                <a:cs typeface="Arial"/>
                <a:hlinkClick r:id="rId5" action="ppaction://hlinksldjump"/>
              </a:rPr>
              <a:t>in</a:t>
            </a:r>
            <a:r>
              <a:rPr sz="500" spc="-20" dirty="0">
                <a:latin typeface="Arial"/>
                <a:cs typeface="Arial"/>
                <a:hlinkClick r:id="rId5" action="ppaction://hlinksldjump"/>
              </a:rPr>
              <a:t> </a:t>
            </a:r>
            <a:r>
              <a:rPr sz="500" dirty="0">
                <a:latin typeface="Arial"/>
                <a:cs typeface="Arial"/>
                <a:hlinkClick r:id="rId5" action="ppaction://hlinksldjump"/>
              </a:rPr>
              <a:t>faulty</a:t>
            </a:r>
            <a:r>
              <a:rPr sz="500" spc="-20" dirty="0">
                <a:latin typeface="Arial"/>
                <a:cs typeface="Arial"/>
                <a:hlinkClick r:id="rId5" action="ppaction://hlinksldjump"/>
              </a:rPr>
              <a:t> </a:t>
            </a:r>
            <a:r>
              <a:rPr sz="500" dirty="0">
                <a:latin typeface="Arial"/>
                <a:cs typeface="Arial"/>
                <a:hlinkClick r:id="rId5" action="ppaction://hlinksldjump"/>
              </a:rPr>
              <a:t>systems</a:t>
            </a:r>
            <a:r>
              <a:rPr sz="500" spc="-20" dirty="0">
                <a:latin typeface="Arial"/>
                <a:cs typeface="Arial"/>
                <a:hlinkClick r:id="rId5" action="ppaction://hlinksldjump"/>
              </a:rPr>
              <a:t> </a:t>
            </a:r>
            <a:r>
              <a:rPr sz="500" dirty="0">
                <a:latin typeface="Arial"/>
                <a:cs typeface="Arial"/>
                <a:hlinkClick r:id="rId5" action="ppaction://hlinksldjump"/>
              </a:rPr>
              <a:t>with</a:t>
            </a:r>
            <a:r>
              <a:rPr sz="500" spc="-25" dirty="0">
                <a:latin typeface="Arial"/>
                <a:cs typeface="Arial"/>
                <a:hlinkClick r:id="rId5" action="ppaction://hlinksldjump"/>
              </a:rPr>
              <a:t> </a:t>
            </a:r>
            <a:r>
              <a:rPr sz="500" dirty="0">
                <a:latin typeface="Arial"/>
                <a:cs typeface="Arial"/>
                <a:hlinkClick r:id="rId5" action="ppaction://hlinksldjump"/>
              </a:rPr>
              <a:t>arbitrary</a:t>
            </a:r>
            <a:r>
              <a:rPr sz="500" spc="-20" dirty="0">
                <a:latin typeface="Arial"/>
                <a:cs typeface="Arial"/>
                <a:hlinkClick r:id="rId5" action="ppaction://hlinksldjump"/>
              </a:rPr>
              <a:t> </a:t>
            </a:r>
            <a:r>
              <a:rPr sz="500" spc="-10" dirty="0">
                <a:latin typeface="Arial"/>
                <a:cs typeface="Arial"/>
                <a:hlinkClick r:id="rId5" action="ppaction://hlinksldjump"/>
              </a:rPr>
              <a:t>failures</a:t>
            </a:r>
            <a:endParaRPr sz="500">
              <a:latin typeface="Arial"/>
              <a:cs typeface="Arial"/>
            </a:endParaRPr>
          </a:p>
        </p:txBody>
      </p:sp>
    </p:spTree>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95300" y="197711"/>
            <a:ext cx="1283970"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PBFT:</a:t>
            </a:r>
            <a:r>
              <a:rPr sz="1200" spc="-65" dirty="0">
                <a:solidFill>
                  <a:srgbClr val="3333B2"/>
                </a:solidFill>
                <a:latin typeface="Arial"/>
                <a:cs typeface="Arial"/>
              </a:rPr>
              <a:t> </a:t>
            </a:r>
            <a:r>
              <a:rPr sz="1200" dirty="0">
                <a:solidFill>
                  <a:srgbClr val="3333B2"/>
                </a:solidFill>
                <a:latin typeface="Arial"/>
                <a:cs typeface="Arial"/>
              </a:rPr>
              <a:t>four</a:t>
            </a:r>
            <a:r>
              <a:rPr sz="1200" spc="-65" dirty="0">
                <a:solidFill>
                  <a:srgbClr val="3333B2"/>
                </a:solidFill>
                <a:latin typeface="Arial"/>
                <a:cs typeface="Arial"/>
              </a:rPr>
              <a:t> </a:t>
            </a:r>
            <a:r>
              <a:rPr sz="1200" spc="-10" dirty="0">
                <a:solidFill>
                  <a:srgbClr val="3333B2"/>
                </a:solidFill>
                <a:latin typeface="Arial"/>
                <a:cs typeface="Arial"/>
              </a:rPr>
              <a:t>phases</a:t>
            </a:r>
            <a:endParaRPr sz="1200">
              <a:latin typeface="Arial"/>
              <a:cs typeface="Arial"/>
            </a:endParaRPr>
          </a:p>
        </p:txBody>
      </p:sp>
      <p:pic>
        <p:nvPicPr>
          <p:cNvPr id="6" name="object 6"/>
          <p:cNvPicPr/>
          <p:nvPr/>
        </p:nvPicPr>
        <p:blipFill>
          <a:blip r:embed="rId4" cstate="print"/>
          <a:stretch>
            <a:fillRect/>
          </a:stretch>
        </p:blipFill>
        <p:spPr>
          <a:xfrm>
            <a:off x="698253" y="583079"/>
            <a:ext cx="3243254" cy="1506896"/>
          </a:xfrm>
          <a:prstGeom prst="rect">
            <a:avLst/>
          </a:prstGeom>
        </p:spPr>
      </p:pic>
      <p:sp>
        <p:nvSpPr>
          <p:cNvPr id="7" name="object 7"/>
          <p:cNvSpPr txBox="1"/>
          <p:nvPr/>
        </p:nvSpPr>
        <p:spPr>
          <a:xfrm>
            <a:off x="454748" y="2206336"/>
            <a:ext cx="3839210" cy="791210"/>
          </a:xfrm>
          <a:prstGeom prst="rect">
            <a:avLst/>
          </a:prstGeom>
        </p:spPr>
        <p:txBody>
          <a:bodyPr vert="horz" wrap="square" lIns="0" tIns="28575" rIns="0" bIns="0" rtlCol="0">
            <a:spAutoFit/>
          </a:bodyPr>
          <a:lstStyle/>
          <a:p>
            <a:pPr marL="158115" indent="-120650">
              <a:lnSpc>
                <a:spcPct val="100000"/>
              </a:lnSpc>
              <a:spcBef>
                <a:spcPts val="225"/>
              </a:spcBef>
              <a:buClr>
                <a:srgbClr val="3333B2"/>
              </a:buClr>
              <a:buFont typeface="Menlo"/>
              <a:buChar char="•"/>
              <a:tabLst>
                <a:tab pos="158750" algn="l"/>
              </a:tabLst>
            </a:pPr>
            <a:r>
              <a:rPr sz="900" i="1" dirty="0">
                <a:latin typeface="Arial"/>
                <a:cs typeface="Arial"/>
              </a:rPr>
              <a:t>B</a:t>
            </a:r>
            <a:r>
              <a:rPr sz="1050" i="1" baseline="-15873" dirty="0">
                <a:latin typeface="Arial"/>
                <a:cs typeface="Arial"/>
              </a:rPr>
              <a:t>i</a:t>
            </a:r>
            <a:r>
              <a:rPr sz="1050" i="1" spc="345" baseline="-15873" dirty="0">
                <a:latin typeface="Arial"/>
                <a:cs typeface="Arial"/>
              </a:rPr>
              <a:t> </a:t>
            </a:r>
            <a:r>
              <a:rPr sz="900" dirty="0">
                <a:latin typeface="Arial"/>
                <a:cs typeface="Arial"/>
              </a:rPr>
              <a:t>broadcasts</a:t>
            </a:r>
            <a:r>
              <a:rPr sz="900" spc="75" dirty="0">
                <a:latin typeface="Arial"/>
                <a:cs typeface="Arial"/>
              </a:rPr>
              <a:t> </a:t>
            </a:r>
            <a:r>
              <a:rPr sz="700" dirty="0">
                <a:latin typeface="Arial"/>
                <a:cs typeface="Arial"/>
              </a:rPr>
              <a:t>PREPARE</a:t>
            </a:r>
            <a:r>
              <a:rPr sz="900" dirty="0">
                <a:latin typeface="Arial"/>
                <a:cs typeface="Arial"/>
              </a:rPr>
              <a:t>(</a:t>
            </a:r>
            <a:r>
              <a:rPr sz="900" i="1" dirty="0">
                <a:latin typeface="Arial"/>
                <a:cs typeface="Arial"/>
              </a:rPr>
              <a:t>t,</a:t>
            </a:r>
            <a:r>
              <a:rPr sz="900" i="1" spc="-140" dirty="0">
                <a:latin typeface="Arial"/>
                <a:cs typeface="Arial"/>
              </a:rPr>
              <a:t> </a:t>
            </a:r>
            <a:r>
              <a:rPr sz="900" i="1" dirty="0">
                <a:latin typeface="Arial"/>
                <a:cs typeface="Arial"/>
              </a:rPr>
              <a:t>v,</a:t>
            </a:r>
            <a:r>
              <a:rPr sz="900" i="1" spc="-135" dirty="0">
                <a:latin typeface="Arial"/>
                <a:cs typeface="Arial"/>
              </a:rPr>
              <a:t> </a:t>
            </a:r>
            <a:r>
              <a:rPr sz="900" i="1" dirty="0">
                <a:latin typeface="Arial"/>
                <a:cs typeface="Arial"/>
              </a:rPr>
              <a:t>o</a:t>
            </a:r>
            <a:r>
              <a:rPr sz="900" dirty="0">
                <a:latin typeface="Arial"/>
                <a:cs typeface="Arial"/>
              </a:rPr>
              <a:t>)</a:t>
            </a:r>
            <a:r>
              <a:rPr sz="900" spc="45" dirty="0">
                <a:latin typeface="Arial"/>
                <a:cs typeface="Arial"/>
              </a:rPr>
              <a:t> </a:t>
            </a:r>
            <a:r>
              <a:rPr sz="900" dirty="0">
                <a:latin typeface="Arial"/>
                <a:cs typeface="Arial"/>
              </a:rPr>
              <a:t>to</a:t>
            </a:r>
            <a:r>
              <a:rPr sz="900" spc="45" dirty="0">
                <a:latin typeface="Arial"/>
                <a:cs typeface="Arial"/>
              </a:rPr>
              <a:t> </a:t>
            </a:r>
            <a:r>
              <a:rPr sz="900" dirty="0">
                <a:latin typeface="Arial"/>
                <a:cs typeface="Arial"/>
              </a:rPr>
              <a:t>all</a:t>
            </a:r>
            <a:r>
              <a:rPr sz="900" spc="45" dirty="0">
                <a:latin typeface="Arial"/>
                <a:cs typeface="Arial"/>
              </a:rPr>
              <a:t> </a:t>
            </a:r>
            <a:r>
              <a:rPr sz="900" dirty="0">
                <a:latin typeface="Arial"/>
                <a:cs typeface="Arial"/>
              </a:rPr>
              <a:t>(including</a:t>
            </a:r>
            <a:r>
              <a:rPr sz="900" spc="45" dirty="0">
                <a:latin typeface="Arial"/>
                <a:cs typeface="Arial"/>
              </a:rPr>
              <a:t> </a:t>
            </a:r>
            <a:r>
              <a:rPr sz="900" dirty="0">
                <a:latin typeface="Arial"/>
                <a:cs typeface="Arial"/>
              </a:rPr>
              <a:t>the</a:t>
            </a:r>
            <a:r>
              <a:rPr sz="900" spc="40" dirty="0">
                <a:latin typeface="Arial"/>
                <a:cs typeface="Arial"/>
              </a:rPr>
              <a:t> </a:t>
            </a:r>
            <a:r>
              <a:rPr sz="900" spc="-10" dirty="0">
                <a:latin typeface="Arial"/>
                <a:cs typeface="Arial"/>
              </a:rPr>
              <a:t>primary)</a:t>
            </a:r>
            <a:endParaRPr sz="900">
              <a:latin typeface="Arial"/>
              <a:cs typeface="Arial"/>
            </a:endParaRPr>
          </a:p>
          <a:p>
            <a:pPr marL="158115" indent="-120650">
              <a:lnSpc>
                <a:spcPct val="100000"/>
              </a:lnSpc>
              <a:spcBef>
                <a:spcPts val="125"/>
              </a:spcBef>
              <a:buClr>
                <a:srgbClr val="3333B2"/>
              </a:buClr>
              <a:buFont typeface="Menlo"/>
              <a:buChar char="•"/>
              <a:tabLst>
                <a:tab pos="158750" algn="l"/>
              </a:tabLst>
            </a:pPr>
            <a:r>
              <a:rPr sz="900" dirty="0">
                <a:solidFill>
                  <a:srgbClr val="C80000"/>
                </a:solidFill>
                <a:latin typeface="Arial"/>
                <a:cs typeface="Arial"/>
              </a:rPr>
              <a:t>Note</a:t>
            </a:r>
            <a:r>
              <a:rPr sz="900" dirty="0">
                <a:latin typeface="Arial"/>
                <a:cs typeface="Arial"/>
              </a:rPr>
              <a:t>:</a:t>
            </a:r>
            <a:r>
              <a:rPr sz="900" spc="85" dirty="0">
                <a:latin typeface="Arial"/>
                <a:cs typeface="Arial"/>
              </a:rPr>
              <a:t> </a:t>
            </a:r>
            <a:r>
              <a:rPr sz="900" dirty="0">
                <a:latin typeface="Arial"/>
                <a:cs typeface="Arial"/>
              </a:rPr>
              <a:t>a</a:t>
            </a:r>
            <a:r>
              <a:rPr sz="900" spc="20" dirty="0">
                <a:latin typeface="Arial"/>
                <a:cs typeface="Arial"/>
              </a:rPr>
              <a:t> </a:t>
            </a:r>
            <a:r>
              <a:rPr sz="900" spc="-20" dirty="0">
                <a:latin typeface="Arial"/>
                <a:cs typeface="Arial"/>
              </a:rPr>
              <a:t>nonfaulty</a:t>
            </a:r>
            <a:r>
              <a:rPr sz="900" spc="20" dirty="0">
                <a:latin typeface="Arial"/>
                <a:cs typeface="Arial"/>
              </a:rPr>
              <a:t> </a:t>
            </a:r>
            <a:r>
              <a:rPr sz="900" spc="-10" dirty="0">
                <a:latin typeface="Arial"/>
                <a:cs typeface="Arial"/>
              </a:rPr>
              <a:t>server</a:t>
            </a:r>
            <a:r>
              <a:rPr sz="900" spc="20" dirty="0">
                <a:latin typeface="Arial"/>
                <a:cs typeface="Arial"/>
              </a:rPr>
              <a:t> </a:t>
            </a:r>
            <a:r>
              <a:rPr sz="900" dirty="0">
                <a:latin typeface="Arial"/>
                <a:cs typeface="Arial"/>
              </a:rPr>
              <a:t>will</a:t>
            </a:r>
            <a:r>
              <a:rPr sz="900" spc="20" dirty="0">
                <a:latin typeface="Arial"/>
                <a:cs typeface="Arial"/>
              </a:rPr>
              <a:t> </a:t>
            </a:r>
            <a:r>
              <a:rPr sz="900" spc="-20" dirty="0">
                <a:latin typeface="Arial"/>
                <a:cs typeface="Arial"/>
              </a:rPr>
              <a:t>eventually</a:t>
            </a:r>
            <a:r>
              <a:rPr sz="900" spc="20" dirty="0">
                <a:latin typeface="Arial"/>
                <a:cs typeface="Arial"/>
              </a:rPr>
              <a:t> </a:t>
            </a:r>
            <a:r>
              <a:rPr sz="900" dirty="0">
                <a:latin typeface="Arial"/>
                <a:cs typeface="Arial"/>
              </a:rPr>
              <a:t>log</a:t>
            </a:r>
            <a:r>
              <a:rPr sz="900" spc="20" dirty="0">
                <a:latin typeface="Arial"/>
                <a:cs typeface="Arial"/>
              </a:rPr>
              <a:t> </a:t>
            </a:r>
            <a:r>
              <a:rPr sz="900" dirty="0">
                <a:latin typeface="Arial"/>
                <a:cs typeface="Arial"/>
              </a:rPr>
              <a:t>2</a:t>
            </a:r>
            <a:r>
              <a:rPr sz="900" i="1" dirty="0">
                <a:latin typeface="Arial"/>
                <a:cs typeface="Arial"/>
              </a:rPr>
              <a:t>k</a:t>
            </a:r>
            <a:r>
              <a:rPr sz="900" i="1" spc="120" dirty="0">
                <a:latin typeface="Arial"/>
                <a:cs typeface="Arial"/>
              </a:rPr>
              <a:t> </a:t>
            </a:r>
            <a:r>
              <a:rPr sz="900" spc="-10" dirty="0">
                <a:latin typeface="Arial"/>
                <a:cs typeface="Arial"/>
              </a:rPr>
              <a:t>messages</a:t>
            </a:r>
            <a:r>
              <a:rPr sz="900" spc="50" dirty="0">
                <a:latin typeface="Arial"/>
                <a:cs typeface="Arial"/>
              </a:rPr>
              <a:t> </a:t>
            </a:r>
            <a:r>
              <a:rPr sz="700" dirty="0">
                <a:latin typeface="Arial"/>
                <a:cs typeface="Arial"/>
              </a:rPr>
              <a:t>PREPARE</a:t>
            </a:r>
            <a:r>
              <a:rPr sz="900" dirty="0">
                <a:latin typeface="Arial"/>
                <a:cs typeface="Arial"/>
              </a:rPr>
              <a:t>(</a:t>
            </a:r>
            <a:r>
              <a:rPr sz="900" i="1" dirty="0">
                <a:latin typeface="Arial"/>
                <a:cs typeface="Arial"/>
              </a:rPr>
              <a:t>t,</a:t>
            </a:r>
            <a:r>
              <a:rPr sz="900" i="1" spc="-145" dirty="0">
                <a:latin typeface="Arial"/>
                <a:cs typeface="Arial"/>
              </a:rPr>
              <a:t> </a:t>
            </a:r>
            <a:r>
              <a:rPr sz="900" i="1" dirty="0">
                <a:latin typeface="Arial"/>
                <a:cs typeface="Arial"/>
              </a:rPr>
              <a:t>v,</a:t>
            </a:r>
            <a:r>
              <a:rPr sz="900" i="1" spc="-145" dirty="0">
                <a:latin typeface="Arial"/>
                <a:cs typeface="Arial"/>
              </a:rPr>
              <a:t> </a:t>
            </a:r>
            <a:r>
              <a:rPr sz="900" i="1" spc="-25" dirty="0">
                <a:latin typeface="Arial"/>
                <a:cs typeface="Arial"/>
              </a:rPr>
              <a:t>o</a:t>
            </a:r>
            <a:r>
              <a:rPr sz="900" spc="-25" dirty="0">
                <a:latin typeface="Arial"/>
                <a:cs typeface="Arial"/>
              </a:rPr>
              <a:t>)</a:t>
            </a:r>
            <a:endParaRPr sz="900">
              <a:latin typeface="Arial"/>
              <a:cs typeface="Arial"/>
            </a:endParaRPr>
          </a:p>
          <a:p>
            <a:pPr marL="154305">
              <a:lnSpc>
                <a:spcPct val="100000"/>
              </a:lnSpc>
              <a:spcBef>
                <a:spcPts val="125"/>
              </a:spcBef>
            </a:pPr>
            <a:r>
              <a:rPr sz="900" dirty="0">
                <a:latin typeface="Arial"/>
                <a:cs typeface="Arial"/>
              </a:rPr>
              <a:t>(including</a:t>
            </a:r>
            <a:r>
              <a:rPr sz="900" spc="-45" dirty="0">
                <a:latin typeface="Arial"/>
                <a:cs typeface="Arial"/>
              </a:rPr>
              <a:t> </a:t>
            </a:r>
            <a:r>
              <a:rPr sz="900" dirty="0">
                <a:latin typeface="Arial"/>
                <a:cs typeface="Arial"/>
              </a:rPr>
              <a:t>its</a:t>
            </a:r>
            <a:r>
              <a:rPr sz="900" spc="-25" dirty="0">
                <a:latin typeface="Arial"/>
                <a:cs typeface="Arial"/>
              </a:rPr>
              <a:t> </a:t>
            </a:r>
            <a:r>
              <a:rPr sz="900" dirty="0">
                <a:latin typeface="Arial"/>
                <a:cs typeface="Arial"/>
              </a:rPr>
              <a:t>own)</a:t>
            </a:r>
            <a:r>
              <a:rPr sz="900" spc="-25" dirty="0">
                <a:latin typeface="Arial"/>
                <a:cs typeface="Arial"/>
              </a:rPr>
              <a:t> </a:t>
            </a:r>
            <a:r>
              <a:rPr sz="900" i="1" spc="350" dirty="0">
                <a:latin typeface="Menlo"/>
                <a:cs typeface="Menlo"/>
              </a:rPr>
              <a:t>⇒</a:t>
            </a:r>
            <a:r>
              <a:rPr sz="900" i="1" spc="-295" dirty="0">
                <a:latin typeface="Menlo"/>
                <a:cs typeface="Menlo"/>
              </a:rPr>
              <a:t> </a:t>
            </a:r>
            <a:r>
              <a:rPr sz="900" dirty="0">
                <a:latin typeface="Arial"/>
                <a:cs typeface="Arial"/>
              </a:rPr>
              <a:t>consensus</a:t>
            </a:r>
            <a:r>
              <a:rPr sz="900" spc="-25" dirty="0">
                <a:latin typeface="Arial"/>
                <a:cs typeface="Arial"/>
              </a:rPr>
              <a:t> </a:t>
            </a:r>
            <a:r>
              <a:rPr sz="900" dirty="0">
                <a:latin typeface="Arial"/>
                <a:cs typeface="Arial"/>
              </a:rPr>
              <a:t>on</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ordering</a:t>
            </a:r>
            <a:r>
              <a:rPr sz="900" spc="-25" dirty="0">
                <a:latin typeface="Arial"/>
                <a:cs typeface="Arial"/>
              </a:rPr>
              <a:t> </a:t>
            </a:r>
            <a:r>
              <a:rPr sz="900" dirty="0">
                <a:latin typeface="Arial"/>
                <a:cs typeface="Arial"/>
              </a:rPr>
              <a:t>of</a:t>
            </a:r>
            <a:r>
              <a:rPr sz="900" spc="-25" dirty="0">
                <a:latin typeface="Arial"/>
                <a:cs typeface="Arial"/>
              </a:rPr>
              <a:t> </a:t>
            </a:r>
            <a:r>
              <a:rPr sz="900" i="1" spc="-25" dirty="0">
                <a:latin typeface="Arial"/>
                <a:cs typeface="Arial"/>
              </a:rPr>
              <a:t>o</a:t>
            </a:r>
            <a:r>
              <a:rPr sz="900" spc="-25" dirty="0">
                <a:latin typeface="Arial"/>
                <a:cs typeface="Arial"/>
              </a:rPr>
              <a:t>.</a:t>
            </a:r>
            <a:endParaRPr sz="900">
              <a:latin typeface="Arial"/>
              <a:cs typeface="Arial"/>
            </a:endParaRPr>
          </a:p>
          <a:p>
            <a:pPr marL="158115" marR="435609" indent="-120650">
              <a:lnSpc>
                <a:spcPct val="111600"/>
              </a:lnSpc>
              <a:buClr>
                <a:srgbClr val="3333B2"/>
              </a:buClr>
              <a:buFont typeface="Menlo"/>
              <a:buChar char="•"/>
              <a:tabLst>
                <a:tab pos="158750" algn="l"/>
              </a:tabLst>
            </a:pPr>
            <a:r>
              <a:rPr sz="900" dirty="0">
                <a:solidFill>
                  <a:srgbClr val="C80000"/>
                </a:solidFill>
                <a:latin typeface="Arial"/>
                <a:cs typeface="Arial"/>
              </a:rPr>
              <a:t>Note</a:t>
            </a:r>
            <a:r>
              <a:rPr sz="900" dirty="0">
                <a:latin typeface="Arial"/>
                <a:cs typeface="Arial"/>
              </a:rPr>
              <a:t>:</a:t>
            </a:r>
            <a:r>
              <a:rPr sz="900" spc="20" dirty="0">
                <a:latin typeface="Arial"/>
                <a:cs typeface="Arial"/>
              </a:rPr>
              <a:t> </a:t>
            </a:r>
            <a:r>
              <a:rPr sz="900" dirty="0">
                <a:latin typeface="Arial"/>
                <a:cs typeface="Arial"/>
              </a:rPr>
              <a:t>it</a:t>
            </a:r>
            <a:r>
              <a:rPr sz="900" spc="-30" dirty="0">
                <a:latin typeface="Arial"/>
                <a:cs typeface="Arial"/>
              </a:rPr>
              <a:t> </a:t>
            </a:r>
            <a:r>
              <a:rPr sz="900" dirty="0">
                <a:latin typeface="Arial"/>
                <a:cs typeface="Arial"/>
              </a:rPr>
              <a:t>doesn’t</a:t>
            </a:r>
            <a:r>
              <a:rPr sz="900" spc="-30" dirty="0">
                <a:latin typeface="Arial"/>
                <a:cs typeface="Arial"/>
              </a:rPr>
              <a:t> </a:t>
            </a:r>
            <a:r>
              <a:rPr sz="900" dirty="0">
                <a:latin typeface="Arial"/>
                <a:cs typeface="Arial"/>
              </a:rPr>
              <a:t>matter</a:t>
            </a:r>
            <a:r>
              <a:rPr sz="900" spc="-30" dirty="0">
                <a:latin typeface="Arial"/>
                <a:cs typeface="Arial"/>
              </a:rPr>
              <a:t> </a:t>
            </a:r>
            <a:r>
              <a:rPr sz="900" dirty="0">
                <a:latin typeface="Arial"/>
                <a:cs typeface="Arial"/>
              </a:rPr>
              <a:t>what</a:t>
            </a:r>
            <a:r>
              <a:rPr sz="900" spc="-30" dirty="0">
                <a:latin typeface="Arial"/>
                <a:cs typeface="Arial"/>
              </a:rPr>
              <a:t> </a:t>
            </a:r>
            <a:r>
              <a:rPr sz="900" dirty="0">
                <a:latin typeface="Arial"/>
                <a:cs typeface="Arial"/>
              </a:rPr>
              <a:t>faulty</a:t>
            </a:r>
            <a:r>
              <a:rPr sz="900" spc="-30" dirty="0">
                <a:latin typeface="Arial"/>
                <a:cs typeface="Arial"/>
              </a:rPr>
              <a:t> </a:t>
            </a:r>
            <a:r>
              <a:rPr sz="900" i="1" dirty="0">
                <a:latin typeface="Arial"/>
                <a:cs typeface="Arial"/>
              </a:rPr>
              <a:t>B</a:t>
            </a:r>
            <a:r>
              <a:rPr sz="1050" i="1" baseline="-15873" dirty="0">
                <a:latin typeface="Arial"/>
                <a:cs typeface="Arial"/>
              </a:rPr>
              <a:t>2</a:t>
            </a:r>
            <a:r>
              <a:rPr sz="1050" i="1" spc="157" baseline="-15873" dirty="0">
                <a:latin typeface="Arial"/>
                <a:cs typeface="Arial"/>
              </a:rPr>
              <a:t> </a:t>
            </a:r>
            <a:r>
              <a:rPr sz="900" dirty="0">
                <a:latin typeface="Arial"/>
                <a:cs typeface="Arial"/>
              </a:rPr>
              <a:t>sends,</a:t>
            </a:r>
            <a:r>
              <a:rPr sz="900" spc="-30" dirty="0">
                <a:latin typeface="Arial"/>
                <a:cs typeface="Arial"/>
              </a:rPr>
              <a:t> </a:t>
            </a:r>
            <a:r>
              <a:rPr sz="900" dirty="0">
                <a:latin typeface="Arial"/>
                <a:cs typeface="Arial"/>
              </a:rPr>
              <a:t>it</a:t>
            </a:r>
            <a:r>
              <a:rPr sz="900" spc="-30" dirty="0">
                <a:latin typeface="Arial"/>
                <a:cs typeface="Arial"/>
              </a:rPr>
              <a:t> </a:t>
            </a:r>
            <a:r>
              <a:rPr sz="900" dirty="0">
                <a:latin typeface="Arial"/>
                <a:cs typeface="Arial"/>
              </a:rPr>
              <a:t>cannot</a:t>
            </a:r>
            <a:r>
              <a:rPr sz="900" spc="-30" dirty="0">
                <a:latin typeface="Arial"/>
                <a:cs typeface="Arial"/>
              </a:rPr>
              <a:t> </a:t>
            </a:r>
            <a:r>
              <a:rPr sz="900" dirty="0">
                <a:latin typeface="Arial"/>
                <a:cs typeface="Arial"/>
              </a:rPr>
              <a:t>affect</a:t>
            </a:r>
            <a:r>
              <a:rPr sz="900" spc="-30" dirty="0">
                <a:latin typeface="Arial"/>
                <a:cs typeface="Arial"/>
              </a:rPr>
              <a:t> </a:t>
            </a:r>
            <a:r>
              <a:rPr sz="900" spc="-10" dirty="0">
                <a:latin typeface="Arial"/>
                <a:cs typeface="Arial"/>
              </a:rPr>
              <a:t>joint </a:t>
            </a:r>
            <a:r>
              <a:rPr sz="900" dirty="0">
                <a:latin typeface="Arial"/>
                <a:cs typeface="Arial"/>
              </a:rPr>
              <a:t>decisions</a:t>
            </a:r>
            <a:r>
              <a:rPr sz="900" spc="-5" dirty="0">
                <a:latin typeface="Arial"/>
                <a:cs typeface="Arial"/>
              </a:rPr>
              <a:t> </a:t>
            </a:r>
            <a:r>
              <a:rPr sz="900" dirty="0">
                <a:latin typeface="Arial"/>
                <a:cs typeface="Arial"/>
              </a:rPr>
              <a:t>by </a:t>
            </a:r>
            <a:r>
              <a:rPr sz="900" i="1" dirty="0">
                <a:latin typeface="Arial"/>
                <a:cs typeface="Arial"/>
              </a:rPr>
              <a:t>P</a:t>
            </a:r>
            <a:r>
              <a:rPr sz="900" dirty="0">
                <a:latin typeface="Arial"/>
                <a:cs typeface="Arial"/>
              </a:rPr>
              <a:t>, </a:t>
            </a:r>
            <a:r>
              <a:rPr sz="900" i="1" dirty="0">
                <a:latin typeface="Arial"/>
                <a:cs typeface="Arial"/>
              </a:rPr>
              <a:t>B</a:t>
            </a:r>
            <a:r>
              <a:rPr sz="1050" i="1" baseline="-15873" dirty="0">
                <a:latin typeface="Arial"/>
                <a:cs typeface="Arial"/>
              </a:rPr>
              <a:t>1</a:t>
            </a:r>
            <a:r>
              <a:rPr sz="900" dirty="0">
                <a:latin typeface="Arial"/>
                <a:cs typeface="Arial"/>
              </a:rPr>
              <a:t>, </a:t>
            </a:r>
            <a:r>
              <a:rPr sz="900" i="1" spc="-10" dirty="0">
                <a:latin typeface="Arial"/>
                <a:cs typeface="Arial"/>
              </a:rPr>
              <a:t>B</a:t>
            </a:r>
            <a:r>
              <a:rPr sz="1050" i="1" spc="-15" baseline="-15873" dirty="0">
                <a:latin typeface="Arial"/>
                <a:cs typeface="Arial"/>
              </a:rPr>
              <a:t>3</a:t>
            </a:r>
            <a:r>
              <a:rPr sz="1050" i="1" spc="-165" baseline="-15873" dirty="0">
                <a:latin typeface="Arial"/>
                <a:cs typeface="Arial"/>
              </a:rPr>
              <a:t> </a:t>
            </a:r>
            <a:r>
              <a:rPr sz="900" spc="-50" dirty="0">
                <a:latin typeface="Arial"/>
                <a:cs typeface="Arial"/>
              </a:rPr>
              <a:t>.</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142621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Consensus</a:t>
            </a:r>
            <a:r>
              <a:rPr sz="500" spc="-25" dirty="0">
                <a:latin typeface="Arial"/>
                <a:cs typeface="Arial"/>
                <a:hlinkClick r:id="rId5" action="ppaction://hlinksldjump"/>
              </a:rPr>
              <a:t> </a:t>
            </a:r>
            <a:r>
              <a:rPr sz="500" dirty="0">
                <a:latin typeface="Arial"/>
                <a:cs typeface="Arial"/>
                <a:hlinkClick r:id="rId5" action="ppaction://hlinksldjump"/>
              </a:rPr>
              <a:t>in</a:t>
            </a:r>
            <a:r>
              <a:rPr sz="500" spc="-20" dirty="0">
                <a:latin typeface="Arial"/>
                <a:cs typeface="Arial"/>
                <a:hlinkClick r:id="rId5" action="ppaction://hlinksldjump"/>
              </a:rPr>
              <a:t> </a:t>
            </a:r>
            <a:r>
              <a:rPr sz="500" dirty="0">
                <a:latin typeface="Arial"/>
                <a:cs typeface="Arial"/>
                <a:hlinkClick r:id="rId5" action="ppaction://hlinksldjump"/>
              </a:rPr>
              <a:t>faulty</a:t>
            </a:r>
            <a:r>
              <a:rPr sz="500" spc="-20" dirty="0">
                <a:latin typeface="Arial"/>
                <a:cs typeface="Arial"/>
                <a:hlinkClick r:id="rId5" action="ppaction://hlinksldjump"/>
              </a:rPr>
              <a:t> </a:t>
            </a:r>
            <a:r>
              <a:rPr sz="500" dirty="0">
                <a:latin typeface="Arial"/>
                <a:cs typeface="Arial"/>
                <a:hlinkClick r:id="rId5" action="ppaction://hlinksldjump"/>
              </a:rPr>
              <a:t>systems</a:t>
            </a:r>
            <a:r>
              <a:rPr sz="500" spc="-20" dirty="0">
                <a:latin typeface="Arial"/>
                <a:cs typeface="Arial"/>
                <a:hlinkClick r:id="rId5" action="ppaction://hlinksldjump"/>
              </a:rPr>
              <a:t> </a:t>
            </a:r>
            <a:r>
              <a:rPr sz="500" dirty="0">
                <a:latin typeface="Arial"/>
                <a:cs typeface="Arial"/>
                <a:hlinkClick r:id="rId5" action="ppaction://hlinksldjump"/>
              </a:rPr>
              <a:t>with</a:t>
            </a:r>
            <a:r>
              <a:rPr sz="500" spc="-25" dirty="0">
                <a:latin typeface="Arial"/>
                <a:cs typeface="Arial"/>
                <a:hlinkClick r:id="rId5" action="ppaction://hlinksldjump"/>
              </a:rPr>
              <a:t> </a:t>
            </a:r>
            <a:r>
              <a:rPr sz="500" dirty="0">
                <a:latin typeface="Arial"/>
                <a:cs typeface="Arial"/>
                <a:hlinkClick r:id="rId5" action="ppaction://hlinksldjump"/>
              </a:rPr>
              <a:t>arbitrary</a:t>
            </a:r>
            <a:r>
              <a:rPr sz="500" spc="-20" dirty="0">
                <a:latin typeface="Arial"/>
                <a:cs typeface="Arial"/>
                <a:hlinkClick r:id="rId5" action="ppaction://hlinksldjump"/>
              </a:rPr>
              <a:t> </a:t>
            </a:r>
            <a:r>
              <a:rPr sz="500" spc="-10" dirty="0">
                <a:latin typeface="Arial"/>
                <a:cs typeface="Arial"/>
                <a:hlinkClick r:id="rId5" action="ppaction://hlinksldjump"/>
              </a:rPr>
              <a:t>failures</a:t>
            </a:r>
            <a:endParaRPr sz="500">
              <a:latin typeface="Arial"/>
              <a:cs typeface="Arial"/>
            </a:endParaRPr>
          </a:p>
        </p:txBody>
      </p:sp>
    </p:spTree>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95300" y="197711"/>
            <a:ext cx="1283970"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PBFT:</a:t>
            </a:r>
            <a:r>
              <a:rPr sz="1200" spc="-65" dirty="0">
                <a:solidFill>
                  <a:srgbClr val="3333B2"/>
                </a:solidFill>
                <a:latin typeface="Arial"/>
                <a:cs typeface="Arial"/>
              </a:rPr>
              <a:t> </a:t>
            </a:r>
            <a:r>
              <a:rPr sz="1200" dirty="0">
                <a:solidFill>
                  <a:srgbClr val="3333B2"/>
                </a:solidFill>
                <a:latin typeface="Arial"/>
                <a:cs typeface="Arial"/>
              </a:rPr>
              <a:t>four</a:t>
            </a:r>
            <a:r>
              <a:rPr sz="1200" spc="-65" dirty="0">
                <a:solidFill>
                  <a:srgbClr val="3333B2"/>
                </a:solidFill>
                <a:latin typeface="Arial"/>
                <a:cs typeface="Arial"/>
              </a:rPr>
              <a:t> </a:t>
            </a:r>
            <a:r>
              <a:rPr sz="1200" spc="-10" dirty="0">
                <a:solidFill>
                  <a:srgbClr val="3333B2"/>
                </a:solidFill>
                <a:latin typeface="Arial"/>
                <a:cs typeface="Arial"/>
              </a:rPr>
              <a:t>phases</a:t>
            </a:r>
            <a:endParaRPr sz="1200">
              <a:latin typeface="Arial"/>
              <a:cs typeface="Arial"/>
            </a:endParaRPr>
          </a:p>
        </p:txBody>
      </p:sp>
      <p:pic>
        <p:nvPicPr>
          <p:cNvPr id="6" name="object 6"/>
          <p:cNvPicPr/>
          <p:nvPr/>
        </p:nvPicPr>
        <p:blipFill>
          <a:blip r:embed="rId4" cstate="print"/>
          <a:stretch>
            <a:fillRect/>
          </a:stretch>
        </p:blipFill>
        <p:spPr>
          <a:xfrm>
            <a:off x="698253" y="583079"/>
            <a:ext cx="3243254" cy="1506896"/>
          </a:xfrm>
          <a:prstGeom prst="rect">
            <a:avLst/>
          </a:prstGeom>
        </p:spPr>
      </p:pic>
      <p:sp>
        <p:nvSpPr>
          <p:cNvPr id="7" name="object 7"/>
          <p:cNvSpPr txBox="1"/>
          <p:nvPr/>
        </p:nvSpPr>
        <p:spPr>
          <a:xfrm>
            <a:off x="454748" y="2206336"/>
            <a:ext cx="3737610" cy="791210"/>
          </a:xfrm>
          <a:prstGeom prst="rect">
            <a:avLst/>
          </a:prstGeom>
        </p:spPr>
        <p:txBody>
          <a:bodyPr vert="horz" wrap="square" lIns="0" tIns="28575" rIns="0" bIns="0" rtlCol="0">
            <a:spAutoFit/>
          </a:bodyPr>
          <a:lstStyle/>
          <a:p>
            <a:pPr marL="154305" indent="-116839">
              <a:lnSpc>
                <a:spcPct val="100000"/>
              </a:lnSpc>
              <a:spcBef>
                <a:spcPts val="225"/>
              </a:spcBef>
              <a:buClr>
                <a:srgbClr val="3333B2"/>
              </a:buClr>
              <a:buFont typeface="Menlo"/>
              <a:buChar char="•"/>
              <a:tabLst>
                <a:tab pos="154940" algn="l"/>
              </a:tabLst>
            </a:pPr>
            <a:r>
              <a:rPr sz="900" dirty="0">
                <a:latin typeface="Arial"/>
                <a:cs typeface="Arial"/>
              </a:rPr>
              <a:t>All</a:t>
            </a:r>
            <a:r>
              <a:rPr sz="900" spc="-5" dirty="0">
                <a:latin typeface="Arial"/>
                <a:cs typeface="Arial"/>
              </a:rPr>
              <a:t> </a:t>
            </a:r>
            <a:r>
              <a:rPr sz="900" dirty="0">
                <a:latin typeface="Arial"/>
                <a:cs typeface="Arial"/>
              </a:rPr>
              <a:t>servers</a:t>
            </a:r>
            <a:r>
              <a:rPr sz="900" spc="-5" dirty="0">
                <a:latin typeface="Arial"/>
                <a:cs typeface="Arial"/>
              </a:rPr>
              <a:t> </a:t>
            </a:r>
            <a:r>
              <a:rPr sz="900" dirty="0">
                <a:latin typeface="Arial"/>
                <a:cs typeface="Arial"/>
              </a:rPr>
              <a:t>broadcast</a:t>
            </a:r>
            <a:r>
              <a:rPr sz="900" spc="25" dirty="0">
                <a:latin typeface="Arial"/>
                <a:cs typeface="Arial"/>
              </a:rPr>
              <a:t> </a:t>
            </a:r>
            <a:r>
              <a:rPr sz="700" spc="45" dirty="0">
                <a:solidFill>
                  <a:srgbClr val="C80000"/>
                </a:solidFill>
                <a:latin typeface="Arial"/>
                <a:cs typeface="Arial"/>
              </a:rPr>
              <a:t>COMMIT</a:t>
            </a:r>
            <a:r>
              <a:rPr sz="900" spc="45" dirty="0">
                <a:solidFill>
                  <a:srgbClr val="C80000"/>
                </a:solidFill>
                <a:latin typeface="Arial"/>
                <a:cs typeface="Arial"/>
              </a:rPr>
              <a:t>(</a:t>
            </a:r>
            <a:r>
              <a:rPr sz="900" i="1" spc="45" dirty="0">
                <a:solidFill>
                  <a:srgbClr val="C80000"/>
                </a:solidFill>
                <a:latin typeface="Arial"/>
                <a:cs typeface="Arial"/>
              </a:rPr>
              <a:t>t,</a:t>
            </a:r>
            <a:r>
              <a:rPr sz="900" i="1" spc="-155" dirty="0">
                <a:solidFill>
                  <a:srgbClr val="C80000"/>
                </a:solidFill>
                <a:latin typeface="Arial"/>
                <a:cs typeface="Arial"/>
              </a:rPr>
              <a:t> </a:t>
            </a:r>
            <a:r>
              <a:rPr sz="900" i="1" dirty="0">
                <a:solidFill>
                  <a:srgbClr val="C80000"/>
                </a:solidFill>
                <a:latin typeface="Arial"/>
                <a:cs typeface="Arial"/>
              </a:rPr>
              <a:t>v,</a:t>
            </a:r>
            <a:r>
              <a:rPr sz="900" i="1" spc="-155" dirty="0">
                <a:solidFill>
                  <a:srgbClr val="C80000"/>
                </a:solidFill>
                <a:latin typeface="Arial"/>
                <a:cs typeface="Arial"/>
              </a:rPr>
              <a:t> </a:t>
            </a:r>
            <a:r>
              <a:rPr sz="900" i="1" spc="-25" dirty="0">
                <a:solidFill>
                  <a:srgbClr val="C80000"/>
                </a:solidFill>
                <a:latin typeface="Arial"/>
                <a:cs typeface="Arial"/>
              </a:rPr>
              <a:t>o</a:t>
            </a:r>
            <a:r>
              <a:rPr sz="900" spc="-25" dirty="0">
                <a:solidFill>
                  <a:srgbClr val="C80000"/>
                </a:solidFill>
                <a:latin typeface="Arial"/>
                <a:cs typeface="Arial"/>
              </a:rPr>
              <a:t>)</a:t>
            </a:r>
            <a:endParaRPr sz="900">
              <a:latin typeface="Arial"/>
              <a:cs typeface="Arial"/>
            </a:endParaRPr>
          </a:p>
          <a:p>
            <a:pPr marL="158115" marR="75565" indent="-120650">
              <a:lnSpc>
                <a:spcPct val="111600"/>
              </a:lnSpc>
              <a:buClr>
                <a:srgbClr val="3333B2"/>
              </a:buClr>
              <a:buFont typeface="Menlo"/>
              <a:buChar char="•"/>
              <a:tabLst>
                <a:tab pos="154940" algn="l"/>
              </a:tabLst>
            </a:pPr>
            <a:r>
              <a:rPr sz="900" dirty="0">
                <a:latin typeface="Arial"/>
                <a:cs typeface="Arial"/>
              </a:rPr>
              <a:t>The</a:t>
            </a:r>
            <a:r>
              <a:rPr sz="900" spc="-25" dirty="0">
                <a:latin typeface="Arial"/>
                <a:cs typeface="Arial"/>
              </a:rPr>
              <a:t> </a:t>
            </a:r>
            <a:r>
              <a:rPr sz="900" dirty="0">
                <a:latin typeface="Arial"/>
                <a:cs typeface="Arial"/>
              </a:rPr>
              <a:t>commit</a:t>
            </a:r>
            <a:r>
              <a:rPr sz="900" spc="-20"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needed</a:t>
            </a:r>
            <a:r>
              <a:rPr sz="900" spc="-2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also</a:t>
            </a:r>
            <a:r>
              <a:rPr sz="900" spc="-20" dirty="0">
                <a:latin typeface="Arial"/>
                <a:cs typeface="Arial"/>
              </a:rPr>
              <a:t> </a:t>
            </a:r>
            <a:r>
              <a:rPr sz="900" dirty="0">
                <a:latin typeface="Arial"/>
                <a:cs typeface="Arial"/>
              </a:rPr>
              <a:t>make</a:t>
            </a:r>
            <a:r>
              <a:rPr sz="900" spc="-25" dirty="0">
                <a:latin typeface="Arial"/>
                <a:cs typeface="Arial"/>
              </a:rPr>
              <a:t> </a:t>
            </a:r>
            <a:r>
              <a:rPr sz="900" dirty="0">
                <a:latin typeface="Arial"/>
                <a:cs typeface="Arial"/>
              </a:rPr>
              <a:t>sure</a:t>
            </a:r>
            <a:r>
              <a:rPr sz="900" spc="-20" dirty="0">
                <a:latin typeface="Arial"/>
                <a:cs typeface="Arial"/>
              </a:rPr>
              <a:t> </a:t>
            </a:r>
            <a:r>
              <a:rPr sz="900" dirty="0">
                <a:latin typeface="Arial"/>
                <a:cs typeface="Arial"/>
              </a:rPr>
              <a:t>that</a:t>
            </a:r>
            <a:r>
              <a:rPr sz="900" spc="-20" dirty="0">
                <a:latin typeface="Arial"/>
                <a:cs typeface="Arial"/>
              </a:rPr>
              <a:t> </a:t>
            </a:r>
            <a:r>
              <a:rPr sz="900" i="1" dirty="0">
                <a:latin typeface="Arial"/>
                <a:cs typeface="Arial"/>
              </a:rPr>
              <a:t>o</a:t>
            </a:r>
            <a:r>
              <a:rPr sz="900" i="1" spc="5" dirty="0">
                <a:latin typeface="Arial"/>
                <a:cs typeface="Arial"/>
              </a:rPr>
              <a:t> </a:t>
            </a:r>
            <a:r>
              <a:rPr sz="900" dirty="0">
                <a:latin typeface="Arial"/>
                <a:cs typeface="Arial"/>
              </a:rPr>
              <a:t>can</a:t>
            </a:r>
            <a:r>
              <a:rPr sz="900" spc="-25" dirty="0">
                <a:latin typeface="Arial"/>
                <a:cs typeface="Arial"/>
              </a:rPr>
              <a:t> </a:t>
            </a:r>
            <a:r>
              <a:rPr sz="900" dirty="0">
                <a:latin typeface="Arial"/>
                <a:cs typeface="Arial"/>
              </a:rPr>
              <a:t>be</a:t>
            </a:r>
            <a:r>
              <a:rPr sz="900" spc="-20" dirty="0">
                <a:latin typeface="Arial"/>
                <a:cs typeface="Arial"/>
              </a:rPr>
              <a:t> </a:t>
            </a:r>
            <a:r>
              <a:rPr sz="900" spc="-10" dirty="0">
                <a:latin typeface="Arial"/>
                <a:cs typeface="Arial"/>
              </a:rPr>
              <a:t>executed</a:t>
            </a:r>
            <a:r>
              <a:rPr sz="900" spc="-25" dirty="0">
                <a:latin typeface="Arial"/>
                <a:cs typeface="Arial"/>
              </a:rPr>
              <a:t> </a:t>
            </a:r>
            <a:r>
              <a:rPr sz="900" spc="-20" dirty="0">
                <a:solidFill>
                  <a:srgbClr val="3333B2"/>
                </a:solidFill>
                <a:latin typeface="Arial"/>
                <a:cs typeface="Arial"/>
              </a:rPr>
              <a:t>now</a:t>
            </a:r>
            <a:r>
              <a:rPr sz="900" spc="-20" dirty="0">
                <a:latin typeface="Arial"/>
                <a:cs typeface="Arial"/>
              </a:rPr>
              <a:t>, </a:t>
            </a:r>
            <a:r>
              <a:rPr sz="900" dirty="0">
                <a:latin typeface="Arial"/>
                <a:cs typeface="Arial"/>
              </a:rPr>
              <a:t>that</a:t>
            </a:r>
            <a:r>
              <a:rPr sz="900" spc="-35"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in</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current</a:t>
            </a:r>
            <a:r>
              <a:rPr sz="900" spc="-25" dirty="0">
                <a:latin typeface="Arial"/>
                <a:cs typeface="Arial"/>
              </a:rPr>
              <a:t> </a:t>
            </a:r>
            <a:r>
              <a:rPr sz="900" dirty="0">
                <a:latin typeface="Arial"/>
                <a:cs typeface="Arial"/>
              </a:rPr>
              <a:t>view</a:t>
            </a:r>
            <a:r>
              <a:rPr sz="900" spc="-20" dirty="0">
                <a:latin typeface="Arial"/>
                <a:cs typeface="Arial"/>
              </a:rPr>
              <a:t> </a:t>
            </a:r>
            <a:r>
              <a:rPr sz="900" i="1" spc="-10" dirty="0">
                <a:latin typeface="Arial"/>
                <a:cs typeface="Arial"/>
              </a:rPr>
              <a:t>v</a:t>
            </a:r>
            <a:r>
              <a:rPr sz="900" i="1" spc="-160" dirty="0">
                <a:latin typeface="Arial"/>
                <a:cs typeface="Arial"/>
              </a:rPr>
              <a:t> </a:t>
            </a:r>
            <a:r>
              <a:rPr sz="900" spc="-50" dirty="0">
                <a:latin typeface="Arial"/>
                <a:cs typeface="Arial"/>
              </a:rPr>
              <a:t>.</a:t>
            </a:r>
            <a:endParaRPr sz="900">
              <a:latin typeface="Arial"/>
              <a:cs typeface="Arial"/>
            </a:endParaRPr>
          </a:p>
          <a:p>
            <a:pPr marL="158115" marR="30480" indent="-120650">
              <a:lnSpc>
                <a:spcPct val="111600"/>
              </a:lnSpc>
              <a:buClr>
                <a:srgbClr val="3333B2"/>
              </a:buClr>
              <a:buFont typeface="Menlo"/>
              <a:buChar char="•"/>
              <a:tabLst>
                <a:tab pos="153035" algn="l"/>
              </a:tabLst>
            </a:pPr>
            <a:r>
              <a:rPr sz="900" dirty="0">
                <a:latin typeface="Arial"/>
                <a:cs typeface="Arial"/>
              </a:rPr>
              <a:t>When</a:t>
            </a:r>
            <a:r>
              <a:rPr sz="900" spc="-25" dirty="0">
                <a:latin typeface="Arial"/>
                <a:cs typeface="Arial"/>
              </a:rPr>
              <a:t> </a:t>
            </a:r>
            <a:r>
              <a:rPr sz="900" i="1" dirty="0">
                <a:latin typeface="Arial"/>
                <a:cs typeface="Arial"/>
              </a:rPr>
              <a:t>2k</a:t>
            </a:r>
            <a:r>
              <a:rPr sz="900" i="1" spc="60" dirty="0">
                <a:latin typeface="Arial"/>
                <a:cs typeface="Arial"/>
              </a:rPr>
              <a:t> </a:t>
            </a:r>
            <a:r>
              <a:rPr sz="900" dirty="0">
                <a:latin typeface="Arial"/>
                <a:cs typeface="Arial"/>
              </a:rPr>
              <a:t>messages</a:t>
            </a:r>
            <a:r>
              <a:rPr sz="900" spc="-25" dirty="0">
                <a:latin typeface="Arial"/>
                <a:cs typeface="Arial"/>
              </a:rPr>
              <a:t> </a:t>
            </a:r>
            <a:r>
              <a:rPr sz="900" spc="-10" dirty="0">
                <a:latin typeface="Arial"/>
                <a:cs typeface="Arial"/>
              </a:rPr>
              <a:t>have</a:t>
            </a:r>
            <a:r>
              <a:rPr sz="900" spc="-25" dirty="0">
                <a:latin typeface="Arial"/>
                <a:cs typeface="Arial"/>
              </a:rPr>
              <a:t> </a:t>
            </a:r>
            <a:r>
              <a:rPr sz="900" dirty="0">
                <a:latin typeface="Arial"/>
                <a:cs typeface="Arial"/>
              </a:rPr>
              <a:t>been</a:t>
            </a:r>
            <a:r>
              <a:rPr sz="900" spc="-20" dirty="0">
                <a:latin typeface="Arial"/>
                <a:cs typeface="Arial"/>
              </a:rPr>
              <a:t> </a:t>
            </a:r>
            <a:r>
              <a:rPr sz="900" dirty="0">
                <a:latin typeface="Arial"/>
                <a:cs typeface="Arial"/>
              </a:rPr>
              <a:t>collected,</a:t>
            </a:r>
            <a:r>
              <a:rPr sz="900" spc="-25" dirty="0">
                <a:latin typeface="Arial"/>
                <a:cs typeface="Arial"/>
              </a:rPr>
              <a:t> </a:t>
            </a:r>
            <a:r>
              <a:rPr sz="900" spc="-10" dirty="0">
                <a:latin typeface="Arial"/>
                <a:cs typeface="Arial"/>
              </a:rPr>
              <a:t>excluding</a:t>
            </a:r>
            <a:r>
              <a:rPr sz="900" spc="-25" dirty="0">
                <a:latin typeface="Arial"/>
                <a:cs typeface="Arial"/>
              </a:rPr>
              <a:t> </a:t>
            </a:r>
            <a:r>
              <a:rPr sz="900" dirty="0">
                <a:latin typeface="Arial"/>
                <a:cs typeface="Arial"/>
              </a:rPr>
              <a:t>its</a:t>
            </a:r>
            <a:r>
              <a:rPr sz="900" spc="-20" dirty="0">
                <a:latin typeface="Arial"/>
                <a:cs typeface="Arial"/>
              </a:rPr>
              <a:t> </a:t>
            </a:r>
            <a:r>
              <a:rPr sz="900" dirty="0">
                <a:latin typeface="Arial"/>
                <a:cs typeface="Arial"/>
              </a:rPr>
              <a:t>own,</a:t>
            </a:r>
            <a:r>
              <a:rPr sz="900" spc="-25" dirty="0">
                <a:latin typeface="Arial"/>
                <a:cs typeface="Arial"/>
              </a:rPr>
              <a:t> </a:t>
            </a:r>
            <a:r>
              <a:rPr sz="900" dirty="0">
                <a:latin typeface="Arial"/>
                <a:cs typeface="Arial"/>
              </a:rPr>
              <a:t>the</a:t>
            </a:r>
            <a:r>
              <a:rPr sz="900" spc="-25" dirty="0">
                <a:latin typeface="Arial"/>
                <a:cs typeface="Arial"/>
              </a:rPr>
              <a:t> </a:t>
            </a:r>
            <a:r>
              <a:rPr sz="900" spc="-10" dirty="0">
                <a:latin typeface="Arial"/>
                <a:cs typeface="Arial"/>
              </a:rPr>
              <a:t>server </a:t>
            </a:r>
            <a:r>
              <a:rPr sz="900" dirty="0">
                <a:latin typeface="Arial"/>
                <a:cs typeface="Arial"/>
              </a:rPr>
              <a:t>can</a:t>
            </a:r>
            <a:r>
              <a:rPr sz="900" spc="-25" dirty="0">
                <a:latin typeface="Arial"/>
                <a:cs typeface="Arial"/>
              </a:rPr>
              <a:t> </a:t>
            </a:r>
            <a:r>
              <a:rPr sz="900" dirty="0">
                <a:latin typeface="Arial"/>
                <a:cs typeface="Arial"/>
              </a:rPr>
              <a:t>safely</a:t>
            </a:r>
            <a:r>
              <a:rPr sz="900" spc="-25" dirty="0">
                <a:latin typeface="Arial"/>
                <a:cs typeface="Arial"/>
              </a:rPr>
              <a:t> </a:t>
            </a:r>
            <a:r>
              <a:rPr sz="900" spc="-10" dirty="0">
                <a:latin typeface="Arial"/>
                <a:cs typeface="Arial"/>
              </a:rPr>
              <a:t>execute</a:t>
            </a:r>
            <a:r>
              <a:rPr sz="900" spc="-20" dirty="0">
                <a:latin typeface="Arial"/>
                <a:cs typeface="Arial"/>
              </a:rPr>
              <a:t> </a:t>
            </a:r>
            <a:r>
              <a:rPr sz="900" i="1" dirty="0">
                <a:latin typeface="Arial"/>
                <a:cs typeface="Arial"/>
              </a:rPr>
              <a:t>o</a:t>
            </a:r>
            <a:r>
              <a:rPr sz="900" i="1" spc="5" dirty="0">
                <a:latin typeface="Arial"/>
                <a:cs typeface="Arial"/>
              </a:rPr>
              <a:t> </a:t>
            </a:r>
            <a:r>
              <a:rPr sz="900" dirty="0">
                <a:latin typeface="Arial"/>
                <a:cs typeface="Arial"/>
              </a:rPr>
              <a:t>en</a:t>
            </a:r>
            <a:r>
              <a:rPr sz="900" spc="-25" dirty="0">
                <a:latin typeface="Arial"/>
                <a:cs typeface="Arial"/>
              </a:rPr>
              <a:t> </a:t>
            </a:r>
            <a:r>
              <a:rPr sz="900" dirty="0">
                <a:latin typeface="Arial"/>
                <a:cs typeface="Arial"/>
              </a:rPr>
              <a:t>reply</a:t>
            </a:r>
            <a:r>
              <a:rPr sz="900" spc="-2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the</a:t>
            </a:r>
            <a:r>
              <a:rPr sz="900" spc="-20" dirty="0">
                <a:latin typeface="Arial"/>
                <a:cs typeface="Arial"/>
              </a:rPr>
              <a:t> </a:t>
            </a:r>
            <a:r>
              <a:rPr sz="900" spc="-10" dirty="0">
                <a:latin typeface="Arial"/>
                <a:cs typeface="Arial"/>
              </a:rPr>
              <a:t>client.</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142621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Consensus</a:t>
            </a:r>
            <a:r>
              <a:rPr sz="500" spc="-25" dirty="0">
                <a:latin typeface="Arial"/>
                <a:cs typeface="Arial"/>
                <a:hlinkClick r:id="rId5" action="ppaction://hlinksldjump"/>
              </a:rPr>
              <a:t> </a:t>
            </a:r>
            <a:r>
              <a:rPr sz="500" dirty="0">
                <a:latin typeface="Arial"/>
                <a:cs typeface="Arial"/>
                <a:hlinkClick r:id="rId5" action="ppaction://hlinksldjump"/>
              </a:rPr>
              <a:t>in</a:t>
            </a:r>
            <a:r>
              <a:rPr sz="500" spc="-20" dirty="0">
                <a:latin typeface="Arial"/>
                <a:cs typeface="Arial"/>
                <a:hlinkClick r:id="rId5" action="ppaction://hlinksldjump"/>
              </a:rPr>
              <a:t> </a:t>
            </a:r>
            <a:r>
              <a:rPr sz="500" dirty="0">
                <a:latin typeface="Arial"/>
                <a:cs typeface="Arial"/>
                <a:hlinkClick r:id="rId5" action="ppaction://hlinksldjump"/>
              </a:rPr>
              <a:t>faulty</a:t>
            </a:r>
            <a:r>
              <a:rPr sz="500" spc="-20" dirty="0">
                <a:latin typeface="Arial"/>
                <a:cs typeface="Arial"/>
                <a:hlinkClick r:id="rId5" action="ppaction://hlinksldjump"/>
              </a:rPr>
              <a:t> </a:t>
            </a:r>
            <a:r>
              <a:rPr sz="500" dirty="0">
                <a:latin typeface="Arial"/>
                <a:cs typeface="Arial"/>
                <a:hlinkClick r:id="rId5" action="ppaction://hlinksldjump"/>
              </a:rPr>
              <a:t>systems</a:t>
            </a:r>
            <a:r>
              <a:rPr sz="500" spc="-20" dirty="0">
                <a:latin typeface="Arial"/>
                <a:cs typeface="Arial"/>
                <a:hlinkClick r:id="rId5" action="ppaction://hlinksldjump"/>
              </a:rPr>
              <a:t> </a:t>
            </a:r>
            <a:r>
              <a:rPr sz="500" dirty="0">
                <a:latin typeface="Arial"/>
                <a:cs typeface="Arial"/>
                <a:hlinkClick r:id="rId5" action="ppaction://hlinksldjump"/>
              </a:rPr>
              <a:t>with</a:t>
            </a:r>
            <a:r>
              <a:rPr sz="500" spc="-25" dirty="0">
                <a:latin typeface="Arial"/>
                <a:cs typeface="Arial"/>
                <a:hlinkClick r:id="rId5" action="ppaction://hlinksldjump"/>
              </a:rPr>
              <a:t> </a:t>
            </a:r>
            <a:r>
              <a:rPr sz="500" dirty="0">
                <a:latin typeface="Arial"/>
                <a:cs typeface="Arial"/>
                <a:hlinkClick r:id="rId5" action="ppaction://hlinksldjump"/>
              </a:rPr>
              <a:t>arbitrary</a:t>
            </a:r>
            <a:r>
              <a:rPr sz="500" spc="-20" dirty="0">
                <a:latin typeface="Arial"/>
                <a:cs typeface="Arial"/>
                <a:hlinkClick r:id="rId5" action="ppaction://hlinksldjump"/>
              </a:rPr>
              <a:t> </a:t>
            </a:r>
            <a:r>
              <a:rPr sz="500" spc="-10" dirty="0">
                <a:latin typeface="Arial"/>
                <a:cs typeface="Arial"/>
                <a:hlinkClick r:id="rId5" action="ppaction://hlinksldjump"/>
              </a:rPr>
              <a:t>failures</a:t>
            </a:r>
            <a:endParaRPr sz="500">
              <a:latin typeface="Arial"/>
              <a:cs typeface="Arial"/>
            </a:endParaRPr>
          </a:p>
        </p:txBody>
      </p:sp>
    </p:spTree>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74465"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PBFT:</a:t>
            </a:r>
            <a:r>
              <a:rPr spc="-30" dirty="0"/>
              <a:t> </a:t>
            </a:r>
            <a:r>
              <a:rPr dirty="0"/>
              <a:t>when</a:t>
            </a:r>
            <a:r>
              <a:rPr spc="-30" dirty="0"/>
              <a:t> </a:t>
            </a:r>
            <a:r>
              <a:rPr dirty="0"/>
              <a:t>the</a:t>
            </a:r>
            <a:r>
              <a:rPr spc="-30" dirty="0"/>
              <a:t> </a:t>
            </a:r>
            <a:r>
              <a:rPr dirty="0"/>
              <a:t>primary</a:t>
            </a:r>
            <a:r>
              <a:rPr spc="-25" dirty="0"/>
              <a:t> </a:t>
            </a:r>
            <a:r>
              <a:rPr spc="-10" dirty="0"/>
              <a:t>fails</a:t>
            </a:r>
          </a:p>
        </p:txBody>
      </p:sp>
      <p:sp>
        <p:nvSpPr>
          <p:cNvPr id="4" name="object 4"/>
          <p:cNvSpPr txBox="1"/>
          <p:nvPr/>
        </p:nvSpPr>
        <p:spPr>
          <a:xfrm>
            <a:off x="329247" y="499476"/>
            <a:ext cx="3946525" cy="2686050"/>
          </a:xfrm>
          <a:prstGeom prst="rect">
            <a:avLst/>
          </a:prstGeom>
        </p:spPr>
        <p:txBody>
          <a:bodyPr vert="horz" wrap="square" lIns="0" tIns="27305" rIns="0" bIns="0" rtlCol="0">
            <a:spAutoFit/>
          </a:bodyPr>
          <a:lstStyle/>
          <a:p>
            <a:pPr marL="30480">
              <a:lnSpc>
                <a:spcPct val="100000"/>
              </a:lnSpc>
              <a:spcBef>
                <a:spcPts val="215"/>
              </a:spcBef>
            </a:pPr>
            <a:r>
              <a:rPr sz="1000" spc="-10" dirty="0">
                <a:solidFill>
                  <a:srgbClr val="3333B2"/>
                </a:solidFill>
                <a:latin typeface="Arial"/>
                <a:cs typeface="Arial"/>
              </a:rPr>
              <a:t>Issue</a:t>
            </a:r>
            <a:endParaRPr sz="1000">
              <a:latin typeface="Arial"/>
              <a:cs typeface="Arial"/>
            </a:endParaRPr>
          </a:p>
          <a:p>
            <a:pPr marL="27305" marR="17780" indent="-2540">
              <a:lnSpc>
                <a:spcPts val="1210"/>
              </a:lnSpc>
              <a:spcBef>
                <a:spcPts val="35"/>
              </a:spcBef>
            </a:pPr>
            <a:r>
              <a:rPr sz="900" dirty="0">
                <a:latin typeface="Arial"/>
                <a:cs typeface="Arial"/>
              </a:rPr>
              <a:t>When</a:t>
            </a:r>
            <a:r>
              <a:rPr sz="900" spc="-30"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backup</a:t>
            </a:r>
            <a:r>
              <a:rPr sz="900" spc="-25" dirty="0">
                <a:latin typeface="Arial"/>
                <a:cs typeface="Arial"/>
              </a:rPr>
              <a:t> </a:t>
            </a:r>
            <a:r>
              <a:rPr sz="900" dirty="0">
                <a:latin typeface="Arial"/>
                <a:cs typeface="Arial"/>
              </a:rPr>
              <a:t>detects</a:t>
            </a:r>
            <a:r>
              <a:rPr sz="900" spc="-3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primary</a:t>
            </a:r>
            <a:r>
              <a:rPr sz="900" spc="-30" dirty="0">
                <a:latin typeface="Arial"/>
                <a:cs typeface="Arial"/>
              </a:rPr>
              <a:t> </a:t>
            </a:r>
            <a:r>
              <a:rPr sz="900" dirty="0">
                <a:latin typeface="Arial"/>
                <a:cs typeface="Arial"/>
              </a:rPr>
              <a:t>failed,</a:t>
            </a:r>
            <a:r>
              <a:rPr sz="900" spc="-25" dirty="0">
                <a:latin typeface="Arial"/>
                <a:cs typeface="Arial"/>
              </a:rPr>
              <a:t> </a:t>
            </a:r>
            <a:r>
              <a:rPr sz="900" dirty="0">
                <a:latin typeface="Arial"/>
                <a:cs typeface="Arial"/>
              </a:rPr>
              <a:t>it</a:t>
            </a:r>
            <a:r>
              <a:rPr sz="900" spc="-30" dirty="0">
                <a:latin typeface="Arial"/>
                <a:cs typeface="Arial"/>
              </a:rPr>
              <a:t> </a:t>
            </a:r>
            <a:r>
              <a:rPr sz="900" dirty="0">
                <a:latin typeface="Arial"/>
                <a:cs typeface="Arial"/>
              </a:rPr>
              <a:t>will</a:t>
            </a:r>
            <a:r>
              <a:rPr sz="900" spc="-30" dirty="0">
                <a:latin typeface="Arial"/>
                <a:cs typeface="Arial"/>
              </a:rPr>
              <a:t> </a:t>
            </a:r>
            <a:r>
              <a:rPr sz="900" dirty="0">
                <a:latin typeface="Arial"/>
                <a:cs typeface="Arial"/>
              </a:rPr>
              <a:t>broadcast</a:t>
            </a:r>
            <a:r>
              <a:rPr sz="900" spc="-25" dirty="0">
                <a:latin typeface="Arial"/>
                <a:cs typeface="Arial"/>
              </a:rPr>
              <a:t> </a:t>
            </a:r>
            <a:r>
              <a:rPr sz="900" dirty="0">
                <a:latin typeface="Arial"/>
                <a:cs typeface="Arial"/>
              </a:rPr>
              <a:t>a</a:t>
            </a:r>
            <a:r>
              <a:rPr sz="900" spc="-30" dirty="0">
                <a:latin typeface="Arial"/>
                <a:cs typeface="Arial"/>
              </a:rPr>
              <a:t> </a:t>
            </a:r>
            <a:r>
              <a:rPr sz="900" dirty="0">
                <a:solidFill>
                  <a:srgbClr val="C80000"/>
                </a:solidFill>
                <a:latin typeface="Arial"/>
                <a:cs typeface="Arial"/>
              </a:rPr>
              <a:t>view</a:t>
            </a:r>
            <a:r>
              <a:rPr sz="900" spc="-25" dirty="0">
                <a:solidFill>
                  <a:srgbClr val="C80000"/>
                </a:solidFill>
                <a:latin typeface="Arial"/>
                <a:cs typeface="Arial"/>
              </a:rPr>
              <a:t> </a:t>
            </a:r>
            <a:r>
              <a:rPr sz="900" dirty="0">
                <a:solidFill>
                  <a:srgbClr val="C80000"/>
                </a:solidFill>
                <a:latin typeface="Arial"/>
                <a:cs typeface="Arial"/>
              </a:rPr>
              <a:t>change</a:t>
            </a:r>
            <a:r>
              <a:rPr sz="900" spc="-30" dirty="0">
                <a:solidFill>
                  <a:srgbClr val="C80000"/>
                </a:solidFill>
                <a:latin typeface="Arial"/>
                <a:cs typeface="Arial"/>
              </a:rPr>
              <a:t> </a:t>
            </a:r>
            <a:r>
              <a:rPr sz="900" spc="-25" dirty="0">
                <a:latin typeface="Arial"/>
                <a:cs typeface="Arial"/>
              </a:rPr>
              <a:t>to </a:t>
            </a:r>
            <a:r>
              <a:rPr sz="900" dirty="0">
                <a:latin typeface="Arial"/>
                <a:cs typeface="Arial"/>
              </a:rPr>
              <a:t>view</a:t>
            </a:r>
            <a:r>
              <a:rPr sz="900" spc="-40" dirty="0">
                <a:latin typeface="Arial"/>
                <a:cs typeface="Arial"/>
              </a:rPr>
              <a:t> </a:t>
            </a:r>
            <a:r>
              <a:rPr sz="900" i="1" dirty="0">
                <a:latin typeface="Arial"/>
                <a:cs typeface="Arial"/>
              </a:rPr>
              <a:t>v</a:t>
            </a:r>
            <a:r>
              <a:rPr sz="900" i="1" spc="-55" dirty="0">
                <a:latin typeface="Arial"/>
                <a:cs typeface="Arial"/>
              </a:rPr>
              <a:t> </a:t>
            </a:r>
            <a:r>
              <a:rPr sz="900" spc="185" dirty="0">
                <a:latin typeface="Arial"/>
                <a:cs typeface="Arial"/>
              </a:rPr>
              <a:t>+</a:t>
            </a:r>
            <a:r>
              <a:rPr sz="900" spc="-130" dirty="0">
                <a:latin typeface="Arial"/>
                <a:cs typeface="Arial"/>
              </a:rPr>
              <a:t> </a:t>
            </a:r>
            <a:r>
              <a:rPr sz="900" dirty="0">
                <a:latin typeface="Arial"/>
                <a:cs typeface="Arial"/>
              </a:rPr>
              <a:t>1.</a:t>
            </a:r>
            <a:r>
              <a:rPr sz="900" spc="30" dirty="0">
                <a:latin typeface="Arial"/>
                <a:cs typeface="Arial"/>
              </a:rPr>
              <a:t> </a:t>
            </a:r>
            <a:r>
              <a:rPr sz="900" dirty="0">
                <a:latin typeface="Arial"/>
                <a:cs typeface="Arial"/>
              </a:rPr>
              <a:t>We</a:t>
            </a:r>
            <a:r>
              <a:rPr sz="900" spc="-25" dirty="0">
                <a:latin typeface="Arial"/>
                <a:cs typeface="Arial"/>
              </a:rPr>
              <a:t> </a:t>
            </a:r>
            <a:r>
              <a:rPr sz="900" dirty="0">
                <a:latin typeface="Arial"/>
                <a:cs typeface="Arial"/>
              </a:rPr>
              <a:t>need</a:t>
            </a:r>
            <a:r>
              <a:rPr sz="900" spc="-25"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ensure</a:t>
            </a:r>
            <a:r>
              <a:rPr sz="900" spc="-25"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any</a:t>
            </a:r>
            <a:r>
              <a:rPr sz="900" spc="-25" dirty="0">
                <a:latin typeface="Arial"/>
                <a:cs typeface="Arial"/>
              </a:rPr>
              <a:t> </a:t>
            </a:r>
            <a:r>
              <a:rPr sz="900" dirty="0">
                <a:solidFill>
                  <a:srgbClr val="3333B2"/>
                </a:solidFill>
                <a:latin typeface="Arial"/>
                <a:cs typeface="Arial"/>
              </a:rPr>
              <a:t>outstanding</a:t>
            </a:r>
            <a:r>
              <a:rPr sz="900" spc="-25" dirty="0">
                <a:solidFill>
                  <a:srgbClr val="3333B2"/>
                </a:solidFill>
                <a:latin typeface="Arial"/>
                <a:cs typeface="Arial"/>
              </a:rPr>
              <a:t> </a:t>
            </a:r>
            <a:r>
              <a:rPr sz="900" dirty="0">
                <a:solidFill>
                  <a:srgbClr val="3333B2"/>
                </a:solidFill>
                <a:latin typeface="Arial"/>
                <a:cs typeface="Arial"/>
              </a:rPr>
              <a:t>request</a:t>
            </a:r>
            <a:r>
              <a:rPr sz="900" spc="-30" dirty="0">
                <a:solidFill>
                  <a:srgbClr val="3333B2"/>
                </a:solidFill>
                <a:latin typeface="Arial"/>
                <a:cs typeface="Arial"/>
              </a:rPr>
              <a:t> </a:t>
            </a:r>
            <a:r>
              <a:rPr sz="900" dirty="0">
                <a:latin typeface="Arial"/>
                <a:cs typeface="Arial"/>
              </a:rPr>
              <a:t>is</a:t>
            </a:r>
            <a:r>
              <a:rPr sz="900" spc="-25" dirty="0">
                <a:latin typeface="Arial"/>
                <a:cs typeface="Arial"/>
              </a:rPr>
              <a:t> </a:t>
            </a:r>
            <a:r>
              <a:rPr sz="900" spc="-10" dirty="0">
                <a:latin typeface="Arial"/>
                <a:cs typeface="Arial"/>
              </a:rPr>
              <a:t>executed</a:t>
            </a:r>
            <a:r>
              <a:rPr sz="900" spc="-25" dirty="0">
                <a:latin typeface="Arial"/>
                <a:cs typeface="Arial"/>
              </a:rPr>
              <a:t> </a:t>
            </a:r>
            <a:r>
              <a:rPr sz="900" spc="-20" dirty="0">
                <a:solidFill>
                  <a:srgbClr val="3333B2"/>
                </a:solidFill>
                <a:latin typeface="Arial"/>
                <a:cs typeface="Arial"/>
              </a:rPr>
              <a:t>once </a:t>
            </a:r>
            <a:r>
              <a:rPr sz="900" dirty="0">
                <a:solidFill>
                  <a:srgbClr val="3333B2"/>
                </a:solidFill>
                <a:latin typeface="Arial"/>
                <a:cs typeface="Arial"/>
              </a:rPr>
              <a:t>and</a:t>
            </a:r>
            <a:r>
              <a:rPr sz="900" spc="-35" dirty="0">
                <a:solidFill>
                  <a:srgbClr val="3333B2"/>
                </a:solidFill>
                <a:latin typeface="Arial"/>
                <a:cs typeface="Arial"/>
              </a:rPr>
              <a:t> </a:t>
            </a:r>
            <a:r>
              <a:rPr sz="900" dirty="0">
                <a:solidFill>
                  <a:srgbClr val="3333B2"/>
                </a:solidFill>
                <a:latin typeface="Arial"/>
                <a:cs typeface="Arial"/>
              </a:rPr>
              <a:t>only</a:t>
            </a:r>
            <a:r>
              <a:rPr sz="900" spc="-35" dirty="0">
                <a:solidFill>
                  <a:srgbClr val="3333B2"/>
                </a:solidFill>
                <a:latin typeface="Arial"/>
                <a:cs typeface="Arial"/>
              </a:rPr>
              <a:t> </a:t>
            </a:r>
            <a:r>
              <a:rPr sz="900" spc="-10" dirty="0">
                <a:solidFill>
                  <a:srgbClr val="3333B2"/>
                </a:solidFill>
                <a:latin typeface="Arial"/>
                <a:cs typeface="Arial"/>
              </a:rPr>
              <a:t>once</a:t>
            </a:r>
            <a:r>
              <a:rPr sz="900" spc="-30" dirty="0">
                <a:solidFill>
                  <a:srgbClr val="3333B2"/>
                </a:solidFill>
                <a:latin typeface="Arial"/>
                <a:cs typeface="Arial"/>
              </a:rPr>
              <a:t> </a:t>
            </a:r>
            <a:r>
              <a:rPr sz="900" dirty="0">
                <a:latin typeface="Arial"/>
                <a:cs typeface="Arial"/>
              </a:rPr>
              <a:t>by</a:t>
            </a:r>
            <a:r>
              <a:rPr sz="900" spc="-35" dirty="0">
                <a:latin typeface="Arial"/>
                <a:cs typeface="Arial"/>
              </a:rPr>
              <a:t> </a:t>
            </a:r>
            <a:r>
              <a:rPr sz="900" dirty="0">
                <a:latin typeface="Arial"/>
                <a:cs typeface="Arial"/>
              </a:rPr>
              <a:t>all</a:t>
            </a:r>
            <a:r>
              <a:rPr sz="900" spc="-30" dirty="0">
                <a:latin typeface="Arial"/>
                <a:cs typeface="Arial"/>
              </a:rPr>
              <a:t> </a:t>
            </a:r>
            <a:r>
              <a:rPr sz="900" spc="-20" dirty="0">
                <a:latin typeface="Arial"/>
                <a:cs typeface="Arial"/>
              </a:rPr>
              <a:t>nonfaulty</a:t>
            </a:r>
            <a:r>
              <a:rPr sz="900" spc="-35" dirty="0">
                <a:latin typeface="Arial"/>
                <a:cs typeface="Arial"/>
              </a:rPr>
              <a:t> </a:t>
            </a:r>
            <a:r>
              <a:rPr sz="900" spc="-10" dirty="0">
                <a:latin typeface="Arial"/>
                <a:cs typeface="Arial"/>
              </a:rPr>
              <a:t>servers.</a:t>
            </a:r>
            <a:r>
              <a:rPr sz="900" spc="25" dirty="0">
                <a:latin typeface="Arial"/>
                <a:cs typeface="Arial"/>
              </a:rPr>
              <a:t> </a:t>
            </a:r>
            <a:r>
              <a:rPr sz="900" dirty="0">
                <a:latin typeface="Arial"/>
                <a:cs typeface="Arial"/>
              </a:rPr>
              <a:t>The</a:t>
            </a:r>
            <a:r>
              <a:rPr sz="900" spc="-35" dirty="0">
                <a:latin typeface="Arial"/>
                <a:cs typeface="Arial"/>
              </a:rPr>
              <a:t> </a:t>
            </a:r>
            <a:r>
              <a:rPr sz="900" spc="-10" dirty="0">
                <a:latin typeface="Arial"/>
                <a:cs typeface="Arial"/>
              </a:rPr>
              <a:t>operation</a:t>
            </a:r>
            <a:r>
              <a:rPr sz="900" spc="-30" dirty="0">
                <a:latin typeface="Arial"/>
                <a:cs typeface="Arial"/>
              </a:rPr>
              <a:t> </a:t>
            </a:r>
            <a:r>
              <a:rPr sz="900" spc="-10" dirty="0">
                <a:latin typeface="Arial"/>
                <a:cs typeface="Arial"/>
              </a:rPr>
              <a:t>needs</a:t>
            </a:r>
            <a:r>
              <a:rPr sz="900" spc="-35"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be</a:t>
            </a:r>
            <a:r>
              <a:rPr sz="900" spc="-35" dirty="0">
                <a:latin typeface="Arial"/>
                <a:cs typeface="Arial"/>
              </a:rPr>
              <a:t> </a:t>
            </a:r>
            <a:r>
              <a:rPr sz="900" spc="-10" dirty="0">
                <a:latin typeface="Arial"/>
                <a:cs typeface="Arial"/>
              </a:rPr>
              <a:t>handed</a:t>
            </a:r>
            <a:r>
              <a:rPr sz="900" spc="-30" dirty="0">
                <a:latin typeface="Arial"/>
                <a:cs typeface="Arial"/>
              </a:rPr>
              <a:t> </a:t>
            </a:r>
            <a:r>
              <a:rPr sz="900" spc="-20" dirty="0">
                <a:latin typeface="Arial"/>
                <a:cs typeface="Arial"/>
              </a:rPr>
              <a:t>over </a:t>
            </a:r>
            <a:r>
              <a:rPr sz="900" dirty="0">
                <a:latin typeface="Arial"/>
                <a:cs typeface="Arial"/>
              </a:rPr>
              <a:t>to</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new</a:t>
            </a:r>
            <a:r>
              <a:rPr sz="900" spc="-25" dirty="0">
                <a:latin typeface="Arial"/>
                <a:cs typeface="Arial"/>
              </a:rPr>
              <a:t> </a:t>
            </a:r>
            <a:r>
              <a:rPr sz="900" spc="-20" dirty="0">
                <a:latin typeface="Arial"/>
                <a:cs typeface="Arial"/>
              </a:rPr>
              <a:t>view.</a:t>
            </a:r>
            <a:endParaRPr sz="900">
              <a:latin typeface="Arial"/>
              <a:cs typeface="Arial"/>
            </a:endParaRPr>
          </a:p>
          <a:p>
            <a:pPr marL="30480">
              <a:lnSpc>
                <a:spcPct val="100000"/>
              </a:lnSpc>
              <a:spcBef>
                <a:spcPts val="740"/>
              </a:spcBef>
            </a:pPr>
            <a:r>
              <a:rPr sz="1000" spc="-10" dirty="0">
                <a:solidFill>
                  <a:srgbClr val="3333B2"/>
                </a:solidFill>
                <a:latin typeface="Arial"/>
                <a:cs typeface="Arial"/>
              </a:rPr>
              <a:t>Procedure</a:t>
            </a:r>
            <a:endParaRPr sz="1000">
              <a:latin typeface="Arial"/>
              <a:cs typeface="Arial"/>
            </a:endParaRPr>
          </a:p>
          <a:p>
            <a:pPr marL="280035" indent="-117475">
              <a:lnSpc>
                <a:spcPct val="100000"/>
              </a:lnSpc>
              <a:spcBef>
                <a:spcPts val="500"/>
              </a:spcBef>
              <a:buClr>
                <a:srgbClr val="3333B2"/>
              </a:buClr>
              <a:buFont typeface="Menlo"/>
              <a:buChar char="•"/>
              <a:tabLst>
                <a:tab pos="280670" algn="l"/>
              </a:tabLst>
            </a:pPr>
            <a:r>
              <a:rPr sz="900" dirty="0">
                <a:latin typeface="Arial"/>
                <a:cs typeface="Arial"/>
              </a:rPr>
              <a:t>The</a:t>
            </a:r>
            <a:r>
              <a:rPr sz="900" spc="-40" dirty="0">
                <a:latin typeface="Arial"/>
                <a:cs typeface="Arial"/>
              </a:rPr>
              <a:t> </a:t>
            </a:r>
            <a:r>
              <a:rPr sz="900" dirty="0">
                <a:latin typeface="Arial"/>
                <a:cs typeface="Arial"/>
              </a:rPr>
              <a:t>next</a:t>
            </a:r>
            <a:r>
              <a:rPr sz="900" spc="-15" dirty="0">
                <a:latin typeface="Arial"/>
                <a:cs typeface="Arial"/>
              </a:rPr>
              <a:t> </a:t>
            </a:r>
            <a:r>
              <a:rPr sz="900" dirty="0">
                <a:latin typeface="Arial"/>
                <a:cs typeface="Arial"/>
              </a:rPr>
              <a:t>primary</a:t>
            </a:r>
            <a:r>
              <a:rPr sz="900" spc="-20" dirty="0">
                <a:latin typeface="Arial"/>
                <a:cs typeface="Arial"/>
              </a:rPr>
              <a:t> </a:t>
            </a:r>
            <a:r>
              <a:rPr sz="900" i="1" spc="-20" dirty="0">
                <a:latin typeface="Arial"/>
                <a:cs typeface="Arial"/>
              </a:rPr>
              <a:t>P</a:t>
            </a:r>
            <a:r>
              <a:rPr sz="1050" i="1" spc="-30" baseline="27777" dirty="0">
                <a:latin typeface="Menlo"/>
                <a:cs typeface="Menlo"/>
              </a:rPr>
              <a:t>∗</a:t>
            </a:r>
            <a:r>
              <a:rPr sz="1050" i="1" spc="-187" baseline="27777" dirty="0">
                <a:latin typeface="Menlo"/>
                <a:cs typeface="Menlo"/>
              </a:rPr>
              <a:t> </a:t>
            </a:r>
            <a:r>
              <a:rPr sz="900" dirty="0">
                <a:latin typeface="Arial"/>
                <a:cs typeface="Arial"/>
              </a:rPr>
              <a:t>is</a:t>
            </a:r>
            <a:r>
              <a:rPr sz="900" spc="-20" dirty="0">
                <a:latin typeface="Arial"/>
                <a:cs typeface="Arial"/>
              </a:rPr>
              <a:t> </a:t>
            </a:r>
            <a:r>
              <a:rPr sz="900" dirty="0">
                <a:latin typeface="Arial"/>
                <a:cs typeface="Arial"/>
              </a:rPr>
              <a:t>known</a:t>
            </a:r>
            <a:r>
              <a:rPr sz="900" spc="-20" dirty="0">
                <a:latin typeface="Arial"/>
                <a:cs typeface="Arial"/>
              </a:rPr>
              <a:t> </a:t>
            </a:r>
            <a:r>
              <a:rPr sz="900" spc="-10" dirty="0">
                <a:latin typeface="Arial"/>
                <a:cs typeface="Arial"/>
              </a:rPr>
              <a:t>deterministically</a:t>
            </a:r>
            <a:endParaRPr sz="900">
              <a:latin typeface="Arial"/>
              <a:cs typeface="Arial"/>
            </a:endParaRPr>
          </a:p>
          <a:p>
            <a:pPr marL="283210" marR="271780" indent="-120650">
              <a:lnSpc>
                <a:spcPct val="111600"/>
              </a:lnSpc>
              <a:spcBef>
                <a:spcPts val="400"/>
              </a:spcBef>
              <a:buClr>
                <a:srgbClr val="3333B2"/>
              </a:buClr>
              <a:buFont typeface="Menlo"/>
              <a:buChar char="•"/>
              <a:tabLst>
                <a:tab pos="280670" algn="l"/>
              </a:tabLst>
            </a:pPr>
            <a:r>
              <a:rPr sz="900" dirty="0">
                <a:latin typeface="Arial"/>
                <a:cs typeface="Arial"/>
              </a:rPr>
              <a:t>A</a:t>
            </a:r>
            <a:r>
              <a:rPr sz="900" spc="30" dirty="0">
                <a:latin typeface="Arial"/>
                <a:cs typeface="Arial"/>
              </a:rPr>
              <a:t> </a:t>
            </a:r>
            <a:r>
              <a:rPr sz="900" dirty="0">
                <a:latin typeface="Arial"/>
                <a:cs typeface="Arial"/>
              </a:rPr>
              <a:t>backup</a:t>
            </a:r>
            <a:r>
              <a:rPr sz="900" spc="35" dirty="0">
                <a:latin typeface="Arial"/>
                <a:cs typeface="Arial"/>
              </a:rPr>
              <a:t> </a:t>
            </a:r>
            <a:r>
              <a:rPr sz="900" dirty="0">
                <a:latin typeface="Arial"/>
                <a:cs typeface="Arial"/>
              </a:rPr>
              <a:t>server</a:t>
            </a:r>
            <a:r>
              <a:rPr sz="900" spc="35" dirty="0">
                <a:latin typeface="Arial"/>
                <a:cs typeface="Arial"/>
              </a:rPr>
              <a:t> </a:t>
            </a:r>
            <a:r>
              <a:rPr sz="900" dirty="0">
                <a:latin typeface="Arial"/>
                <a:cs typeface="Arial"/>
              </a:rPr>
              <a:t>broadcasts</a:t>
            </a:r>
            <a:r>
              <a:rPr sz="900" spc="65" dirty="0">
                <a:latin typeface="Arial"/>
                <a:cs typeface="Arial"/>
              </a:rPr>
              <a:t> </a:t>
            </a:r>
            <a:r>
              <a:rPr sz="700" dirty="0">
                <a:solidFill>
                  <a:srgbClr val="C80000"/>
                </a:solidFill>
                <a:latin typeface="Arial"/>
                <a:cs typeface="Arial"/>
              </a:rPr>
              <a:t>VIEW</a:t>
            </a:r>
            <a:r>
              <a:rPr sz="900" dirty="0">
                <a:solidFill>
                  <a:srgbClr val="C80000"/>
                </a:solidFill>
                <a:latin typeface="Arial"/>
                <a:cs typeface="Arial"/>
              </a:rPr>
              <a:t>-</a:t>
            </a:r>
            <a:r>
              <a:rPr sz="700" dirty="0">
                <a:solidFill>
                  <a:srgbClr val="C80000"/>
                </a:solidFill>
                <a:latin typeface="Arial"/>
                <a:cs typeface="Arial"/>
              </a:rPr>
              <a:t>CHANGE</a:t>
            </a:r>
            <a:r>
              <a:rPr sz="900" dirty="0">
                <a:solidFill>
                  <a:srgbClr val="C80000"/>
                </a:solidFill>
                <a:latin typeface="Arial"/>
                <a:cs typeface="Arial"/>
              </a:rPr>
              <a:t>(</a:t>
            </a:r>
            <a:r>
              <a:rPr sz="900" i="1" dirty="0">
                <a:solidFill>
                  <a:srgbClr val="C80000"/>
                </a:solidFill>
                <a:latin typeface="Arial"/>
                <a:cs typeface="Arial"/>
              </a:rPr>
              <a:t>v</a:t>
            </a:r>
            <a:r>
              <a:rPr sz="900" i="1" spc="-5" dirty="0">
                <a:solidFill>
                  <a:srgbClr val="C80000"/>
                </a:solidFill>
                <a:latin typeface="Arial"/>
                <a:cs typeface="Arial"/>
              </a:rPr>
              <a:t> </a:t>
            </a:r>
            <a:r>
              <a:rPr sz="900" spc="185" dirty="0">
                <a:solidFill>
                  <a:srgbClr val="C80000"/>
                </a:solidFill>
                <a:latin typeface="Arial"/>
                <a:cs typeface="Arial"/>
              </a:rPr>
              <a:t>+</a:t>
            </a:r>
            <a:r>
              <a:rPr sz="900" spc="-110" dirty="0">
                <a:solidFill>
                  <a:srgbClr val="C80000"/>
                </a:solidFill>
                <a:latin typeface="Arial"/>
                <a:cs typeface="Arial"/>
              </a:rPr>
              <a:t> </a:t>
            </a:r>
            <a:r>
              <a:rPr sz="900" spc="-10" dirty="0">
                <a:solidFill>
                  <a:srgbClr val="C80000"/>
                </a:solidFill>
                <a:latin typeface="Arial"/>
                <a:cs typeface="Arial"/>
              </a:rPr>
              <a:t>1</a:t>
            </a:r>
            <a:r>
              <a:rPr sz="900" i="1" spc="-10" dirty="0">
                <a:solidFill>
                  <a:srgbClr val="C80000"/>
                </a:solidFill>
                <a:latin typeface="Arial"/>
                <a:cs typeface="Arial"/>
              </a:rPr>
              <a:t>,</a:t>
            </a:r>
            <a:r>
              <a:rPr sz="900" i="1" spc="-140" dirty="0">
                <a:solidFill>
                  <a:srgbClr val="C80000"/>
                </a:solidFill>
                <a:latin typeface="Arial"/>
                <a:cs typeface="Arial"/>
              </a:rPr>
              <a:t> </a:t>
            </a:r>
            <a:r>
              <a:rPr sz="900" b="1" dirty="0">
                <a:solidFill>
                  <a:srgbClr val="C80000"/>
                </a:solidFill>
                <a:latin typeface="Arial"/>
                <a:cs typeface="Arial"/>
              </a:rPr>
              <a:t>P</a:t>
            </a:r>
            <a:r>
              <a:rPr sz="900" dirty="0">
                <a:solidFill>
                  <a:srgbClr val="C80000"/>
                </a:solidFill>
                <a:latin typeface="Arial"/>
                <a:cs typeface="Arial"/>
              </a:rPr>
              <a:t>)</a:t>
            </a:r>
            <a:r>
              <a:rPr sz="900" dirty="0">
                <a:latin typeface="Arial"/>
                <a:cs typeface="Arial"/>
              </a:rPr>
              <a:t>:</a:t>
            </a:r>
            <a:r>
              <a:rPr sz="900" spc="105" dirty="0">
                <a:latin typeface="Arial"/>
                <a:cs typeface="Arial"/>
              </a:rPr>
              <a:t> </a:t>
            </a:r>
            <a:r>
              <a:rPr sz="900" b="1" dirty="0">
                <a:latin typeface="Arial"/>
                <a:cs typeface="Arial"/>
              </a:rPr>
              <a:t>P</a:t>
            </a:r>
            <a:r>
              <a:rPr sz="900" b="1" spc="35" dirty="0">
                <a:latin typeface="Arial"/>
                <a:cs typeface="Arial"/>
              </a:rPr>
              <a:t> </a:t>
            </a:r>
            <a:r>
              <a:rPr sz="900" dirty="0">
                <a:latin typeface="Arial"/>
                <a:cs typeface="Arial"/>
              </a:rPr>
              <a:t>is</a:t>
            </a:r>
            <a:r>
              <a:rPr sz="900" spc="35" dirty="0">
                <a:latin typeface="Arial"/>
                <a:cs typeface="Arial"/>
              </a:rPr>
              <a:t> </a:t>
            </a:r>
            <a:r>
              <a:rPr sz="900" dirty="0">
                <a:latin typeface="Arial"/>
                <a:cs typeface="Arial"/>
              </a:rPr>
              <a:t>the</a:t>
            </a:r>
            <a:r>
              <a:rPr sz="900" spc="35" dirty="0">
                <a:latin typeface="Arial"/>
                <a:cs typeface="Arial"/>
              </a:rPr>
              <a:t> </a:t>
            </a:r>
            <a:r>
              <a:rPr sz="900" dirty="0">
                <a:latin typeface="Arial"/>
                <a:cs typeface="Arial"/>
              </a:rPr>
              <a:t>set</a:t>
            </a:r>
            <a:r>
              <a:rPr sz="900" spc="30" dirty="0">
                <a:latin typeface="Arial"/>
                <a:cs typeface="Arial"/>
              </a:rPr>
              <a:t> </a:t>
            </a:r>
            <a:r>
              <a:rPr sz="900" spc="-25" dirty="0">
                <a:latin typeface="Arial"/>
                <a:cs typeface="Arial"/>
              </a:rPr>
              <a:t>of </a:t>
            </a:r>
            <a:r>
              <a:rPr sz="900" dirty="0">
                <a:latin typeface="Arial"/>
                <a:cs typeface="Arial"/>
              </a:rPr>
              <a:t>prepares</a:t>
            </a:r>
            <a:r>
              <a:rPr sz="900" spc="-25" dirty="0">
                <a:latin typeface="Arial"/>
                <a:cs typeface="Arial"/>
              </a:rPr>
              <a:t> </a:t>
            </a:r>
            <a:r>
              <a:rPr sz="900" dirty="0">
                <a:latin typeface="Arial"/>
                <a:cs typeface="Arial"/>
              </a:rPr>
              <a:t>it</a:t>
            </a:r>
            <a:r>
              <a:rPr sz="900" spc="-25" dirty="0">
                <a:latin typeface="Arial"/>
                <a:cs typeface="Arial"/>
              </a:rPr>
              <a:t> </a:t>
            </a:r>
            <a:r>
              <a:rPr sz="900" dirty="0">
                <a:latin typeface="Arial"/>
                <a:cs typeface="Arial"/>
              </a:rPr>
              <a:t>had</a:t>
            </a:r>
            <a:r>
              <a:rPr sz="900" spc="-20" dirty="0">
                <a:latin typeface="Arial"/>
                <a:cs typeface="Arial"/>
              </a:rPr>
              <a:t> </a:t>
            </a:r>
            <a:r>
              <a:rPr sz="900" dirty="0">
                <a:latin typeface="Arial"/>
                <a:cs typeface="Arial"/>
              </a:rPr>
              <a:t>sent</a:t>
            </a:r>
            <a:r>
              <a:rPr sz="900" spc="-25" dirty="0">
                <a:latin typeface="Arial"/>
                <a:cs typeface="Arial"/>
              </a:rPr>
              <a:t> </a:t>
            </a:r>
            <a:r>
              <a:rPr sz="900" spc="-20" dirty="0">
                <a:latin typeface="Arial"/>
                <a:cs typeface="Arial"/>
              </a:rPr>
              <a:t>out.</a:t>
            </a:r>
            <a:endParaRPr sz="900">
              <a:latin typeface="Arial"/>
              <a:cs typeface="Arial"/>
            </a:endParaRPr>
          </a:p>
          <a:p>
            <a:pPr marL="283210" marR="117475" indent="-120650">
              <a:lnSpc>
                <a:spcPct val="111600"/>
              </a:lnSpc>
              <a:spcBef>
                <a:spcPts val="400"/>
              </a:spcBef>
              <a:buClr>
                <a:srgbClr val="3333B2"/>
              </a:buClr>
              <a:buFont typeface="Menlo"/>
              <a:buChar char="•"/>
              <a:tabLst>
                <a:tab pos="283845" algn="l"/>
              </a:tabLst>
            </a:pPr>
            <a:r>
              <a:rPr sz="900" i="1" spc="-20" dirty="0">
                <a:latin typeface="Arial"/>
                <a:cs typeface="Arial"/>
              </a:rPr>
              <a:t>P</a:t>
            </a:r>
            <a:r>
              <a:rPr sz="1050" i="1" spc="-30" baseline="27777" dirty="0">
                <a:latin typeface="Menlo"/>
                <a:cs typeface="Menlo"/>
              </a:rPr>
              <a:t>∗</a:t>
            </a:r>
            <a:r>
              <a:rPr sz="1050" i="1" spc="-187" baseline="27777" dirty="0">
                <a:latin typeface="Menlo"/>
                <a:cs typeface="Menlo"/>
              </a:rPr>
              <a:t> </a:t>
            </a:r>
            <a:r>
              <a:rPr sz="900" dirty="0">
                <a:latin typeface="Arial"/>
                <a:cs typeface="Arial"/>
              </a:rPr>
              <a:t>waits</a:t>
            </a:r>
            <a:r>
              <a:rPr sz="900" spc="-35" dirty="0">
                <a:latin typeface="Arial"/>
                <a:cs typeface="Arial"/>
              </a:rPr>
              <a:t> </a:t>
            </a:r>
            <a:r>
              <a:rPr sz="900" dirty="0">
                <a:latin typeface="Arial"/>
                <a:cs typeface="Arial"/>
              </a:rPr>
              <a:t>for</a:t>
            </a:r>
            <a:r>
              <a:rPr sz="900" spc="-15" dirty="0">
                <a:latin typeface="Arial"/>
                <a:cs typeface="Arial"/>
              </a:rPr>
              <a:t> </a:t>
            </a:r>
            <a:r>
              <a:rPr sz="900" dirty="0">
                <a:latin typeface="Arial"/>
                <a:cs typeface="Arial"/>
              </a:rPr>
              <a:t>2</a:t>
            </a:r>
            <a:r>
              <a:rPr sz="900" i="1" dirty="0">
                <a:latin typeface="Arial"/>
                <a:cs typeface="Arial"/>
              </a:rPr>
              <a:t>k</a:t>
            </a:r>
            <a:r>
              <a:rPr sz="900" i="1" spc="-50" dirty="0">
                <a:latin typeface="Arial"/>
                <a:cs typeface="Arial"/>
              </a:rPr>
              <a:t> </a:t>
            </a:r>
            <a:r>
              <a:rPr sz="900" spc="185" dirty="0">
                <a:latin typeface="Arial"/>
                <a:cs typeface="Arial"/>
              </a:rPr>
              <a:t>+</a:t>
            </a:r>
            <a:r>
              <a:rPr sz="900" spc="-130" dirty="0">
                <a:latin typeface="Arial"/>
                <a:cs typeface="Arial"/>
              </a:rPr>
              <a:t> </a:t>
            </a:r>
            <a:r>
              <a:rPr sz="900" dirty="0">
                <a:latin typeface="Arial"/>
                <a:cs typeface="Arial"/>
              </a:rPr>
              <a:t>1</a:t>
            </a:r>
            <a:r>
              <a:rPr sz="900" spc="-10" dirty="0">
                <a:latin typeface="Arial"/>
                <a:cs typeface="Arial"/>
              </a:rPr>
              <a:t> view-</a:t>
            </a:r>
            <a:r>
              <a:rPr sz="900" dirty="0">
                <a:latin typeface="Arial"/>
                <a:cs typeface="Arial"/>
              </a:rPr>
              <a:t>change</a:t>
            </a:r>
            <a:r>
              <a:rPr sz="900" spc="-15" dirty="0">
                <a:latin typeface="Arial"/>
                <a:cs typeface="Arial"/>
              </a:rPr>
              <a:t> </a:t>
            </a:r>
            <a:r>
              <a:rPr sz="900" spc="-10" dirty="0">
                <a:latin typeface="Arial"/>
                <a:cs typeface="Arial"/>
              </a:rPr>
              <a:t>messages,</a:t>
            </a:r>
            <a:r>
              <a:rPr sz="900" spc="-15" dirty="0">
                <a:latin typeface="Arial"/>
                <a:cs typeface="Arial"/>
              </a:rPr>
              <a:t> </a:t>
            </a:r>
            <a:r>
              <a:rPr sz="900" dirty="0">
                <a:latin typeface="Arial"/>
                <a:cs typeface="Arial"/>
              </a:rPr>
              <a:t>with</a:t>
            </a:r>
            <a:r>
              <a:rPr sz="900" spc="-15" dirty="0">
                <a:latin typeface="Arial"/>
                <a:cs typeface="Arial"/>
              </a:rPr>
              <a:t> </a:t>
            </a:r>
            <a:r>
              <a:rPr sz="900" b="1" dirty="0">
                <a:latin typeface="Arial"/>
                <a:cs typeface="Arial"/>
              </a:rPr>
              <a:t>X</a:t>
            </a:r>
            <a:r>
              <a:rPr sz="900" b="1" spc="-60" dirty="0">
                <a:latin typeface="Arial"/>
                <a:cs typeface="Arial"/>
              </a:rPr>
              <a:t> </a:t>
            </a:r>
            <a:r>
              <a:rPr sz="900" spc="185" dirty="0">
                <a:latin typeface="Arial"/>
                <a:cs typeface="Arial"/>
              </a:rPr>
              <a:t>=</a:t>
            </a:r>
            <a:r>
              <a:rPr sz="900" spc="-65" dirty="0">
                <a:latin typeface="Arial"/>
                <a:cs typeface="Arial"/>
              </a:rPr>
              <a:t> </a:t>
            </a:r>
            <a:r>
              <a:rPr sz="1200" spc="-142" baseline="45138" dirty="0">
                <a:latin typeface="Arial"/>
                <a:cs typeface="Arial"/>
              </a:rPr>
              <a:t>LJ</a:t>
            </a:r>
            <a:r>
              <a:rPr sz="1200" spc="-187" baseline="45138" dirty="0">
                <a:latin typeface="Arial"/>
                <a:cs typeface="Arial"/>
              </a:rPr>
              <a:t> </a:t>
            </a:r>
            <a:r>
              <a:rPr sz="900" b="1" dirty="0">
                <a:latin typeface="Arial"/>
                <a:cs typeface="Arial"/>
              </a:rPr>
              <a:t>P</a:t>
            </a:r>
            <a:r>
              <a:rPr sz="900" b="1" spc="-15" dirty="0">
                <a:latin typeface="Arial"/>
                <a:cs typeface="Arial"/>
              </a:rPr>
              <a:t> </a:t>
            </a:r>
            <a:r>
              <a:rPr sz="900" dirty="0">
                <a:latin typeface="Arial"/>
                <a:cs typeface="Arial"/>
              </a:rPr>
              <a:t>containing</a:t>
            </a:r>
            <a:r>
              <a:rPr sz="900" spc="-10" dirty="0">
                <a:latin typeface="Arial"/>
                <a:cs typeface="Arial"/>
              </a:rPr>
              <a:t> </a:t>
            </a:r>
            <a:r>
              <a:rPr sz="900" spc="-25" dirty="0">
                <a:latin typeface="Arial"/>
                <a:cs typeface="Arial"/>
              </a:rPr>
              <a:t>all </a:t>
            </a:r>
            <a:r>
              <a:rPr sz="900" spc="-10" dirty="0">
                <a:latin typeface="Arial"/>
                <a:cs typeface="Arial"/>
              </a:rPr>
              <a:t>previously</a:t>
            </a:r>
            <a:r>
              <a:rPr sz="900" dirty="0">
                <a:latin typeface="Arial"/>
                <a:cs typeface="Arial"/>
              </a:rPr>
              <a:t> sent </a:t>
            </a:r>
            <a:r>
              <a:rPr sz="900" spc="-10" dirty="0">
                <a:latin typeface="Arial"/>
                <a:cs typeface="Arial"/>
              </a:rPr>
              <a:t>prepares.</a:t>
            </a:r>
            <a:endParaRPr sz="900">
              <a:latin typeface="Arial"/>
              <a:cs typeface="Arial"/>
            </a:endParaRPr>
          </a:p>
          <a:p>
            <a:pPr marL="283210" marR="323850" indent="-120650">
              <a:lnSpc>
                <a:spcPct val="111600"/>
              </a:lnSpc>
              <a:spcBef>
                <a:spcPts val="395"/>
              </a:spcBef>
              <a:buClr>
                <a:srgbClr val="3333B2"/>
              </a:buClr>
              <a:buFont typeface="Menlo"/>
              <a:buChar char="•"/>
              <a:tabLst>
                <a:tab pos="283845" algn="l"/>
              </a:tabLst>
            </a:pPr>
            <a:r>
              <a:rPr sz="900" i="1" spc="-20" dirty="0">
                <a:latin typeface="Arial"/>
                <a:cs typeface="Arial"/>
              </a:rPr>
              <a:t>P</a:t>
            </a:r>
            <a:r>
              <a:rPr sz="1050" i="1" spc="-30" baseline="27777" dirty="0">
                <a:latin typeface="Menlo"/>
                <a:cs typeface="Menlo"/>
              </a:rPr>
              <a:t>∗</a:t>
            </a:r>
            <a:r>
              <a:rPr sz="1050" i="1" spc="-150" baseline="27777" dirty="0">
                <a:latin typeface="Menlo"/>
                <a:cs typeface="Menlo"/>
              </a:rPr>
              <a:t> </a:t>
            </a:r>
            <a:r>
              <a:rPr sz="900" dirty="0">
                <a:latin typeface="Arial"/>
                <a:cs typeface="Arial"/>
              </a:rPr>
              <a:t>sends</a:t>
            </a:r>
            <a:r>
              <a:rPr sz="900" spc="15" dirty="0">
                <a:latin typeface="Arial"/>
                <a:cs typeface="Arial"/>
              </a:rPr>
              <a:t> </a:t>
            </a:r>
            <a:r>
              <a:rPr sz="900" dirty="0">
                <a:latin typeface="Arial"/>
                <a:cs typeface="Arial"/>
              </a:rPr>
              <a:t>out</a:t>
            </a:r>
            <a:r>
              <a:rPr sz="900" spc="40" dirty="0">
                <a:latin typeface="Arial"/>
                <a:cs typeface="Arial"/>
              </a:rPr>
              <a:t> </a:t>
            </a:r>
            <a:r>
              <a:rPr sz="700" dirty="0">
                <a:solidFill>
                  <a:srgbClr val="C80000"/>
                </a:solidFill>
                <a:latin typeface="Arial"/>
                <a:cs typeface="Arial"/>
              </a:rPr>
              <a:t>NEW</a:t>
            </a:r>
            <a:r>
              <a:rPr sz="900" dirty="0">
                <a:solidFill>
                  <a:srgbClr val="C80000"/>
                </a:solidFill>
                <a:latin typeface="Arial"/>
                <a:cs typeface="Arial"/>
              </a:rPr>
              <a:t>-</a:t>
            </a:r>
            <a:r>
              <a:rPr sz="700" dirty="0">
                <a:solidFill>
                  <a:srgbClr val="C80000"/>
                </a:solidFill>
                <a:latin typeface="Arial"/>
                <a:cs typeface="Arial"/>
              </a:rPr>
              <a:t>VIEW</a:t>
            </a:r>
            <a:r>
              <a:rPr sz="900" dirty="0">
                <a:solidFill>
                  <a:srgbClr val="C80000"/>
                </a:solidFill>
                <a:latin typeface="Arial"/>
                <a:cs typeface="Arial"/>
              </a:rPr>
              <a:t>(v+1,</a:t>
            </a:r>
            <a:r>
              <a:rPr sz="900" b="1" dirty="0">
                <a:solidFill>
                  <a:srgbClr val="C80000"/>
                </a:solidFill>
                <a:latin typeface="Arial"/>
                <a:cs typeface="Arial"/>
              </a:rPr>
              <a:t>X</a:t>
            </a:r>
            <a:r>
              <a:rPr sz="900" dirty="0">
                <a:solidFill>
                  <a:srgbClr val="C80000"/>
                </a:solidFill>
                <a:latin typeface="Arial"/>
                <a:cs typeface="Arial"/>
              </a:rPr>
              <a:t>,</a:t>
            </a:r>
            <a:r>
              <a:rPr sz="900" b="1" dirty="0">
                <a:solidFill>
                  <a:srgbClr val="C80000"/>
                </a:solidFill>
                <a:latin typeface="Arial"/>
                <a:cs typeface="Arial"/>
              </a:rPr>
              <a:t>O</a:t>
            </a:r>
            <a:r>
              <a:rPr sz="900" dirty="0">
                <a:solidFill>
                  <a:srgbClr val="C80000"/>
                </a:solidFill>
                <a:latin typeface="Arial"/>
                <a:cs typeface="Arial"/>
              </a:rPr>
              <a:t>)</a:t>
            </a:r>
            <a:r>
              <a:rPr sz="900" spc="15" dirty="0">
                <a:solidFill>
                  <a:srgbClr val="C80000"/>
                </a:solidFill>
                <a:latin typeface="Arial"/>
                <a:cs typeface="Arial"/>
              </a:rPr>
              <a:t> </a:t>
            </a:r>
            <a:r>
              <a:rPr sz="900" dirty="0">
                <a:latin typeface="Arial"/>
                <a:cs typeface="Arial"/>
              </a:rPr>
              <a:t>with</a:t>
            </a:r>
            <a:r>
              <a:rPr sz="900" spc="15" dirty="0">
                <a:latin typeface="Arial"/>
                <a:cs typeface="Arial"/>
              </a:rPr>
              <a:t> </a:t>
            </a:r>
            <a:r>
              <a:rPr sz="900" b="1" dirty="0">
                <a:latin typeface="Arial"/>
                <a:cs typeface="Arial"/>
              </a:rPr>
              <a:t>O</a:t>
            </a:r>
            <a:r>
              <a:rPr sz="900" b="1" spc="20" dirty="0">
                <a:latin typeface="Arial"/>
                <a:cs typeface="Arial"/>
              </a:rPr>
              <a:t> </a:t>
            </a:r>
            <a:r>
              <a:rPr sz="900" dirty="0">
                <a:latin typeface="Arial"/>
                <a:cs typeface="Arial"/>
              </a:rPr>
              <a:t>a</a:t>
            </a:r>
            <a:r>
              <a:rPr sz="900" spc="15" dirty="0">
                <a:latin typeface="Arial"/>
                <a:cs typeface="Arial"/>
              </a:rPr>
              <a:t> </a:t>
            </a:r>
            <a:r>
              <a:rPr sz="900" dirty="0">
                <a:latin typeface="Arial"/>
                <a:cs typeface="Arial"/>
              </a:rPr>
              <a:t>new</a:t>
            </a:r>
            <a:r>
              <a:rPr sz="900" spc="15" dirty="0">
                <a:latin typeface="Arial"/>
                <a:cs typeface="Arial"/>
              </a:rPr>
              <a:t> </a:t>
            </a:r>
            <a:r>
              <a:rPr sz="900" dirty="0">
                <a:latin typeface="Arial"/>
                <a:cs typeface="Arial"/>
              </a:rPr>
              <a:t>set</a:t>
            </a:r>
            <a:r>
              <a:rPr sz="900" spc="15" dirty="0">
                <a:latin typeface="Arial"/>
                <a:cs typeface="Arial"/>
              </a:rPr>
              <a:t> </a:t>
            </a:r>
            <a:r>
              <a:rPr sz="900" dirty="0">
                <a:latin typeface="Arial"/>
                <a:cs typeface="Arial"/>
              </a:rPr>
              <a:t>of</a:t>
            </a:r>
            <a:r>
              <a:rPr sz="900" spc="15" dirty="0">
                <a:latin typeface="Arial"/>
                <a:cs typeface="Arial"/>
              </a:rPr>
              <a:t> </a:t>
            </a:r>
            <a:r>
              <a:rPr sz="900" spc="-10" dirty="0">
                <a:latin typeface="Arial"/>
                <a:cs typeface="Arial"/>
              </a:rPr>
              <a:t>pre-prepare messages.</a:t>
            </a:r>
            <a:endParaRPr sz="900">
              <a:latin typeface="Arial"/>
              <a:cs typeface="Arial"/>
            </a:endParaRPr>
          </a:p>
          <a:p>
            <a:pPr marL="283210" marR="20320" indent="-120650">
              <a:lnSpc>
                <a:spcPct val="111600"/>
              </a:lnSpc>
              <a:spcBef>
                <a:spcPts val="400"/>
              </a:spcBef>
              <a:buClr>
                <a:srgbClr val="3333B2"/>
              </a:buClr>
              <a:buFont typeface="Menlo"/>
              <a:buChar char="•"/>
              <a:tabLst>
                <a:tab pos="283845" algn="l"/>
              </a:tabLst>
            </a:pPr>
            <a:r>
              <a:rPr sz="900" dirty="0">
                <a:solidFill>
                  <a:srgbClr val="C80000"/>
                </a:solidFill>
                <a:latin typeface="Arial"/>
                <a:cs typeface="Arial"/>
              </a:rPr>
              <a:t>Essence</a:t>
            </a:r>
            <a:r>
              <a:rPr sz="900" dirty="0">
                <a:latin typeface="Arial"/>
                <a:cs typeface="Arial"/>
              </a:rPr>
              <a:t>:</a:t>
            </a:r>
            <a:r>
              <a:rPr sz="900" spc="20" dirty="0">
                <a:latin typeface="Arial"/>
                <a:cs typeface="Arial"/>
              </a:rPr>
              <a:t> </a:t>
            </a:r>
            <a:r>
              <a:rPr sz="900" dirty="0">
                <a:latin typeface="Arial"/>
                <a:cs typeface="Arial"/>
              </a:rPr>
              <a:t>this</a:t>
            </a:r>
            <a:r>
              <a:rPr sz="900" spc="-30" dirty="0">
                <a:latin typeface="Arial"/>
                <a:cs typeface="Arial"/>
              </a:rPr>
              <a:t> </a:t>
            </a:r>
            <a:r>
              <a:rPr sz="900" spc="-10" dirty="0">
                <a:latin typeface="Arial"/>
                <a:cs typeface="Arial"/>
              </a:rPr>
              <a:t>allows</a:t>
            </a:r>
            <a:r>
              <a:rPr sz="900" spc="-35" dirty="0">
                <a:latin typeface="Arial"/>
                <a:cs typeface="Arial"/>
              </a:rPr>
              <a:t> </a:t>
            </a:r>
            <a:r>
              <a:rPr sz="900" dirty="0">
                <a:latin typeface="Arial"/>
                <a:cs typeface="Arial"/>
              </a:rPr>
              <a:t>the</a:t>
            </a:r>
            <a:r>
              <a:rPr sz="900" spc="-30" dirty="0">
                <a:latin typeface="Arial"/>
                <a:cs typeface="Arial"/>
              </a:rPr>
              <a:t> </a:t>
            </a:r>
            <a:r>
              <a:rPr sz="900" spc="-10" dirty="0">
                <a:latin typeface="Arial"/>
                <a:cs typeface="Arial"/>
              </a:rPr>
              <a:t>nonfaulty</a:t>
            </a:r>
            <a:r>
              <a:rPr sz="900" spc="-30" dirty="0">
                <a:latin typeface="Arial"/>
                <a:cs typeface="Arial"/>
              </a:rPr>
              <a:t> </a:t>
            </a:r>
            <a:r>
              <a:rPr sz="900" spc="-10" dirty="0">
                <a:latin typeface="Arial"/>
                <a:cs typeface="Arial"/>
              </a:rPr>
              <a:t>backups</a:t>
            </a:r>
            <a:r>
              <a:rPr sz="900" spc="-30" dirty="0">
                <a:latin typeface="Arial"/>
                <a:cs typeface="Arial"/>
              </a:rPr>
              <a:t> </a:t>
            </a:r>
            <a:r>
              <a:rPr sz="900" dirty="0">
                <a:latin typeface="Arial"/>
                <a:cs typeface="Arial"/>
              </a:rPr>
              <a:t>to</a:t>
            </a:r>
            <a:r>
              <a:rPr sz="900" spc="-35" dirty="0">
                <a:latin typeface="Arial"/>
                <a:cs typeface="Arial"/>
              </a:rPr>
              <a:t> </a:t>
            </a:r>
            <a:r>
              <a:rPr sz="900" spc="-10" dirty="0">
                <a:solidFill>
                  <a:srgbClr val="3333B2"/>
                </a:solidFill>
                <a:latin typeface="Arial"/>
                <a:cs typeface="Arial"/>
              </a:rPr>
              <a:t>replay</a:t>
            </a:r>
            <a:r>
              <a:rPr sz="900" spc="-30" dirty="0">
                <a:solidFill>
                  <a:srgbClr val="3333B2"/>
                </a:solidFill>
                <a:latin typeface="Arial"/>
                <a:cs typeface="Arial"/>
              </a:rPr>
              <a:t> </a:t>
            </a:r>
            <a:r>
              <a:rPr sz="900" dirty="0">
                <a:latin typeface="Arial"/>
                <a:cs typeface="Arial"/>
              </a:rPr>
              <a:t>what</a:t>
            </a:r>
            <a:r>
              <a:rPr sz="900" spc="-30" dirty="0">
                <a:latin typeface="Arial"/>
                <a:cs typeface="Arial"/>
              </a:rPr>
              <a:t> </a:t>
            </a:r>
            <a:r>
              <a:rPr sz="900" dirty="0">
                <a:latin typeface="Arial"/>
                <a:cs typeface="Arial"/>
              </a:rPr>
              <a:t>has</a:t>
            </a:r>
            <a:r>
              <a:rPr sz="900" spc="-35" dirty="0">
                <a:latin typeface="Arial"/>
                <a:cs typeface="Arial"/>
              </a:rPr>
              <a:t> </a:t>
            </a:r>
            <a:r>
              <a:rPr sz="900" dirty="0">
                <a:latin typeface="Arial"/>
                <a:cs typeface="Arial"/>
              </a:rPr>
              <a:t>gone</a:t>
            </a:r>
            <a:r>
              <a:rPr sz="900" spc="-30" dirty="0">
                <a:latin typeface="Arial"/>
                <a:cs typeface="Arial"/>
              </a:rPr>
              <a:t> </a:t>
            </a:r>
            <a:r>
              <a:rPr sz="900" dirty="0">
                <a:latin typeface="Arial"/>
                <a:cs typeface="Arial"/>
              </a:rPr>
              <a:t>on</a:t>
            </a:r>
            <a:r>
              <a:rPr sz="900" spc="-30" dirty="0">
                <a:latin typeface="Arial"/>
                <a:cs typeface="Arial"/>
              </a:rPr>
              <a:t> </a:t>
            </a:r>
            <a:r>
              <a:rPr sz="900" spc="-25" dirty="0">
                <a:latin typeface="Arial"/>
                <a:cs typeface="Arial"/>
              </a:rPr>
              <a:t>in </a:t>
            </a:r>
            <a:r>
              <a:rPr sz="900" dirty="0">
                <a:latin typeface="Arial"/>
                <a:cs typeface="Arial"/>
              </a:rPr>
              <a:t>the</a:t>
            </a:r>
            <a:r>
              <a:rPr sz="900" spc="-30" dirty="0">
                <a:latin typeface="Arial"/>
                <a:cs typeface="Arial"/>
              </a:rPr>
              <a:t> </a:t>
            </a:r>
            <a:r>
              <a:rPr sz="900" spc="-10" dirty="0">
                <a:latin typeface="Arial"/>
                <a:cs typeface="Arial"/>
              </a:rPr>
              <a:t>previous</a:t>
            </a:r>
            <a:r>
              <a:rPr sz="900" spc="-15" dirty="0">
                <a:latin typeface="Arial"/>
                <a:cs typeface="Arial"/>
              </a:rPr>
              <a:t> </a:t>
            </a:r>
            <a:r>
              <a:rPr sz="900" spc="-10" dirty="0">
                <a:latin typeface="Arial"/>
                <a:cs typeface="Arial"/>
              </a:rPr>
              <a:t>view,</a:t>
            </a:r>
            <a:r>
              <a:rPr sz="900" spc="-20" dirty="0">
                <a:latin typeface="Arial"/>
                <a:cs typeface="Arial"/>
              </a:rPr>
              <a:t> </a:t>
            </a:r>
            <a:r>
              <a:rPr sz="900" dirty="0">
                <a:latin typeface="Arial"/>
                <a:cs typeface="Arial"/>
              </a:rPr>
              <a:t>if</a:t>
            </a:r>
            <a:r>
              <a:rPr sz="900" spc="-20" dirty="0">
                <a:latin typeface="Arial"/>
                <a:cs typeface="Arial"/>
              </a:rPr>
              <a:t> </a:t>
            </a:r>
            <a:r>
              <a:rPr sz="900" spc="-10" dirty="0">
                <a:latin typeface="Arial"/>
                <a:cs typeface="Arial"/>
              </a:rPr>
              <a:t>necessary,</a:t>
            </a:r>
            <a:r>
              <a:rPr sz="900" spc="-20" dirty="0">
                <a:latin typeface="Arial"/>
                <a:cs typeface="Arial"/>
              </a:rPr>
              <a:t> </a:t>
            </a:r>
            <a:r>
              <a:rPr sz="900" dirty="0">
                <a:latin typeface="Arial"/>
                <a:cs typeface="Arial"/>
              </a:rPr>
              <a:t>and</a:t>
            </a:r>
            <a:r>
              <a:rPr sz="900" spc="-15" dirty="0">
                <a:latin typeface="Arial"/>
                <a:cs typeface="Arial"/>
              </a:rPr>
              <a:t> </a:t>
            </a:r>
            <a:r>
              <a:rPr sz="900" dirty="0">
                <a:latin typeface="Arial"/>
                <a:cs typeface="Arial"/>
              </a:rPr>
              <a:t>bring</a:t>
            </a:r>
            <a:r>
              <a:rPr sz="900" spc="-20" dirty="0">
                <a:latin typeface="Arial"/>
                <a:cs typeface="Arial"/>
              </a:rPr>
              <a:t> </a:t>
            </a:r>
            <a:r>
              <a:rPr sz="900" i="1" dirty="0">
                <a:latin typeface="Arial"/>
                <a:cs typeface="Arial"/>
              </a:rPr>
              <a:t>o</a:t>
            </a:r>
            <a:r>
              <a:rPr sz="900" i="1" spc="10" dirty="0">
                <a:latin typeface="Arial"/>
                <a:cs typeface="Arial"/>
              </a:rPr>
              <a:t> </a:t>
            </a:r>
            <a:r>
              <a:rPr sz="900" dirty="0">
                <a:latin typeface="Arial"/>
                <a:cs typeface="Arial"/>
              </a:rPr>
              <a:t>into</a:t>
            </a:r>
            <a:r>
              <a:rPr sz="900" spc="-20"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new</a:t>
            </a:r>
            <a:r>
              <a:rPr sz="900" spc="-20" dirty="0">
                <a:latin typeface="Arial"/>
                <a:cs typeface="Arial"/>
              </a:rPr>
              <a:t> </a:t>
            </a:r>
            <a:r>
              <a:rPr sz="900" dirty="0">
                <a:latin typeface="Arial"/>
                <a:cs typeface="Arial"/>
              </a:rPr>
              <a:t>view</a:t>
            </a:r>
            <a:r>
              <a:rPr sz="900" spc="-15" dirty="0">
                <a:latin typeface="Arial"/>
                <a:cs typeface="Arial"/>
              </a:rPr>
              <a:t> </a:t>
            </a:r>
            <a:r>
              <a:rPr sz="900" i="1" dirty="0">
                <a:latin typeface="Arial"/>
                <a:cs typeface="Arial"/>
              </a:rPr>
              <a:t>v</a:t>
            </a:r>
            <a:r>
              <a:rPr sz="900" i="1" spc="-50" dirty="0">
                <a:latin typeface="Arial"/>
                <a:cs typeface="Arial"/>
              </a:rPr>
              <a:t> </a:t>
            </a:r>
            <a:r>
              <a:rPr sz="900" spc="185" dirty="0">
                <a:latin typeface="Arial"/>
                <a:cs typeface="Arial"/>
              </a:rPr>
              <a:t>+</a:t>
            </a:r>
            <a:r>
              <a:rPr sz="900" spc="-130" dirty="0">
                <a:latin typeface="Arial"/>
                <a:cs typeface="Arial"/>
              </a:rPr>
              <a:t> </a:t>
            </a:r>
            <a:r>
              <a:rPr sz="900" i="1" spc="-25" dirty="0">
                <a:latin typeface="Arial"/>
                <a:cs typeface="Arial"/>
              </a:rPr>
              <a:t>1</a:t>
            </a:r>
            <a:r>
              <a:rPr sz="900" spc="-25" dirty="0">
                <a:latin typeface="Arial"/>
                <a:cs typeface="Arial"/>
              </a:rPr>
              <a:t>.</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142621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Consensus</a:t>
            </a:r>
            <a:r>
              <a:rPr sz="500" spc="-25" dirty="0">
                <a:latin typeface="Arial"/>
                <a:cs typeface="Arial"/>
                <a:hlinkClick r:id="rId4" action="ppaction://hlinksldjump"/>
              </a:rPr>
              <a:t> </a:t>
            </a:r>
            <a:r>
              <a:rPr sz="500" dirty="0">
                <a:latin typeface="Arial"/>
                <a:cs typeface="Arial"/>
                <a:hlinkClick r:id="rId4" action="ppaction://hlinksldjump"/>
              </a:rPr>
              <a:t>in</a:t>
            </a:r>
            <a:r>
              <a:rPr sz="500" spc="-20" dirty="0">
                <a:latin typeface="Arial"/>
                <a:cs typeface="Arial"/>
                <a:hlinkClick r:id="rId4" action="ppaction://hlinksldjump"/>
              </a:rPr>
              <a:t> </a:t>
            </a:r>
            <a:r>
              <a:rPr sz="500" dirty="0">
                <a:latin typeface="Arial"/>
                <a:cs typeface="Arial"/>
                <a:hlinkClick r:id="rId4" action="ppaction://hlinksldjump"/>
              </a:rPr>
              <a:t>faulty</a:t>
            </a:r>
            <a:r>
              <a:rPr sz="500" spc="-20" dirty="0">
                <a:latin typeface="Arial"/>
                <a:cs typeface="Arial"/>
                <a:hlinkClick r:id="rId4" action="ppaction://hlinksldjump"/>
              </a:rPr>
              <a:t> </a:t>
            </a:r>
            <a:r>
              <a:rPr sz="500" dirty="0">
                <a:latin typeface="Arial"/>
                <a:cs typeface="Arial"/>
                <a:hlinkClick r:id="rId4" action="ppaction://hlinksldjump"/>
              </a:rPr>
              <a:t>systems</a:t>
            </a:r>
            <a:r>
              <a:rPr sz="500" spc="-20" dirty="0">
                <a:latin typeface="Arial"/>
                <a:cs typeface="Arial"/>
                <a:hlinkClick r:id="rId4" action="ppaction://hlinksldjump"/>
              </a:rPr>
              <a:t> </a:t>
            </a:r>
            <a:r>
              <a:rPr sz="500" dirty="0">
                <a:latin typeface="Arial"/>
                <a:cs typeface="Arial"/>
                <a:hlinkClick r:id="rId4" action="ppaction://hlinksldjump"/>
              </a:rPr>
              <a:t>with</a:t>
            </a:r>
            <a:r>
              <a:rPr sz="500" spc="-25" dirty="0">
                <a:latin typeface="Arial"/>
                <a:cs typeface="Arial"/>
                <a:hlinkClick r:id="rId4" action="ppaction://hlinksldjump"/>
              </a:rPr>
              <a:t> </a:t>
            </a:r>
            <a:r>
              <a:rPr sz="500" dirty="0">
                <a:latin typeface="Arial"/>
                <a:cs typeface="Arial"/>
                <a:hlinkClick r:id="rId4" action="ppaction://hlinksldjump"/>
              </a:rPr>
              <a:t>arbitrary</a:t>
            </a:r>
            <a:r>
              <a:rPr sz="500" spc="-20" dirty="0">
                <a:latin typeface="Arial"/>
                <a:cs typeface="Arial"/>
                <a:hlinkClick r:id="rId4" action="ppaction://hlinksldjump"/>
              </a:rPr>
              <a:t> </a:t>
            </a:r>
            <a:r>
              <a:rPr sz="500" spc="-10" dirty="0">
                <a:latin typeface="Arial"/>
                <a:cs typeface="Arial"/>
                <a:hlinkClick r:id="rId4" action="ppaction://hlinksldjump"/>
              </a:rPr>
              <a:t>failures</a:t>
            </a:r>
            <a:endParaRPr sz="500">
              <a:latin typeface="Arial"/>
              <a:cs typeface="Arial"/>
            </a:endParaRPr>
          </a:p>
        </p:txBody>
      </p:sp>
    </p:spTree>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74465"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Realizing</a:t>
            </a:r>
            <a:r>
              <a:rPr spc="-65" dirty="0"/>
              <a:t> </a:t>
            </a:r>
            <a:r>
              <a:rPr dirty="0"/>
              <a:t>fault</a:t>
            </a:r>
            <a:r>
              <a:rPr spc="-60" dirty="0"/>
              <a:t> </a:t>
            </a:r>
            <a:r>
              <a:rPr spc="-10" dirty="0"/>
              <a:t>tolerance</a:t>
            </a:r>
          </a:p>
        </p:txBody>
      </p:sp>
      <p:sp>
        <p:nvSpPr>
          <p:cNvPr id="4" name="object 4"/>
          <p:cNvSpPr txBox="1"/>
          <p:nvPr/>
        </p:nvSpPr>
        <p:spPr>
          <a:xfrm>
            <a:off x="330847" y="499476"/>
            <a:ext cx="3936365" cy="1468120"/>
          </a:xfrm>
          <a:prstGeom prst="rect">
            <a:avLst/>
          </a:prstGeom>
        </p:spPr>
        <p:txBody>
          <a:bodyPr vert="horz" wrap="square" lIns="0" tIns="27305" rIns="0" bIns="0" rtlCol="0">
            <a:spAutoFit/>
          </a:bodyPr>
          <a:lstStyle/>
          <a:p>
            <a:pPr marL="28575">
              <a:lnSpc>
                <a:spcPct val="100000"/>
              </a:lnSpc>
              <a:spcBef>
                <a:spcPts val="215"/>
              </a:spcBef>
            </a:pPr>
            <a:r>
              <a:rPr sz="1000" spc="-10" dirty="0">
                <a:solidFill>
                  <a:srgbClr val="3333B2"/>
                </a:solidFill>
                <a:latin typeface="Arial"/>
                <a:cs typeface="Arial"/>
              </a:rPr>
              <a:t>Observation</a:t>
            </a:r>
            <a:endParaRPr sz="1000">
              <a:latin typeface="Arial"/>
              <a:cs typeface="Arial"/>
            </a:endParaRPr>
          </a:p>
          <a:p>
            <a:pPr marL="28575" marR="17780">
              <a:lnSpc>
                <a:spcPts val="1210"/>
              </a:lnSpc>
              <a:spcBef>
                <a:spcPts val="35"/>
              </a:spcBef>
            </a:pPr>
            <a:r>
              <a:rPr sz="900" dirty="0">
                <a:latin typeface="Arial"/>
                <a:cs typeface="Arial"/>
              </a:rPr>
              <a:t>Considering</a:t>
            </a:r>
            <a:r>
              <a:rPr sz="900" spc="-30"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members</a:t>
            </a:r>
            <a:r>
              <a:rPr sz="900" spc="-25" dirty="0">
                <a:latin typeface="Arial"/>
                <a:cs typeface="Arial"/>
              </a:rPr>
              <a:t> </a:t>
            </a:r>
            <a:r>
              <a:rPr sz="900" dirty="0">
                <a:latin typeface="Arial"/>
                <a:cs typeface="Arial"/>
              </a:rPr>
              <a:t>in</a:t>
            </a:r>
            <a:r>
              <a:rPr sz="900" spc="-30"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fault-</a:t>
            </a:r>
            <a:r>
              <a:rPr sz="900" dirty="0">
                <a:latin typeface="Arial"/>
                <a:cs typeface="Arial"/>
              </a:rPr>
              <a:t>tolerant</a:t>
            </a:r>
            <a:r>
              <a:rPr sz="900" spc="-25" dirty="0">
                <a:latin typeface="Arial"/>
                <a:cs typeface="Arial"/>
              </a:rPr>
              <a:t> </a:t>
            </a:r>
            <a:r>
              <a:rPr sz="900" dirty="0">
                <a:latin typeface="Arial"/>
                <a:cs typeface="Arial"/>
              </a:rPr>
              <a:t>process</a:t>
            </a:r>
            <a:r>
              <a:rPr sz="900" spc="-25" dirty="0">
                <a:latin typeface="Arial"/>
                <a:cs typeface="Arial"/>
              </a:rPr>
              <a:t> </a:t>
            </a:r>
            <a:r>
              <a:rPr sz="900" dirty="0">
                <a:latin typeface="Arial"/>
                <a:cs typeface="Arial"/>
              </a:rPr>
              <a:t>group</a:t>
            </a:r>
            <a:r>
              <a:rPr sz="900" spc="-25" dirty="0">
                <a:latin typeface="Arial"/>
                <a:cs typeface="Arial"/>
              </a:rPr>
              <a:t> </a:t>
            </a:r>
            <a:r>
              <a:rPr sz="900" dirty="0">
                <a:latin typeface="Arial"/>
                <a:cs typeface="Arial"/>
              </a:rPr>
              <a:t>are</a:t>
            </a:r>
            <a:r>
              <a:rPr sz="900" spc="-30" dirty="0">
                <a:latin typeface="Arial"/>
                <a:cs typeface="Arial"/>
              </a:rPr>
              <a:t> </a:t>
            </a:r>
            <a:r>
              <a:rPr sz="900" dirty="0">
                <a:latin typeface="Arial"/>
                <a:cs typeface="Arial"/>
              </a:rPr>
              <a:t>so</a:t>
            </a:r>
            <a:r>
              <a:rPr sz="900" spc="-25" dirty="0">
                <a:latin typeface="Arial"/>
                <a:cs typeface="Arial"/>
              </a:rPr>
              <a:t> </a:t>
            </a:r>
            <a:r>
              <a:rPr sz="900" spc="-10" dirty="0">
                <a:latin typeface="Arial"/>
                <a:cs typeface="Arial"/>
              </a:rPr>
              <a:t>tightly </a:t>
            </a:r>
            <a:r>
              <a:rPr sz="900" dirty="0">
                <a:latin typeface="Arial"/>
                <a:cs typeface="Arial"/>
              </a:rPr>
              <a:t>coupled,</a:t>
            </a:r>
            <a:r>
              <a:rPr sz="900" spc="-15" dirty="0">
                <a:latin typeface="Arial"/>
                <a:cs typeface="Arial"/>
              </a:rPr>
              <a:t> </a:t>
            </a:r>
            <a:r>
              <a:rPr sz="900" dirty="0">
                <a:latin typeface="Arial"/>
                <a:cs typeface="Arial"/>
              </a:rPr>
              <a:t>we</a:t>
            </a:r>
            <a:r>
              <a:rPr sz="900" spc="-15" dirty="0">
                <a:latin typeface="Arial"/>
                <a:cs typeface="Arial"/>
              </a:rPr>
              <a:t> </a:t>
            </a:r>
            <a:r>
              <a:rPr sz="900" dirty="0">
                <a:latin typeface="Arial"/>
                <a:cs typeface="Arial"/>
              </a:rPr>
              <a:t>may</a:t>
            </a:r>
            <a:r>
              <a:rPr sz="900" spc="-15" dirty="0">
                <a:latin typeface="Arial"/>
                <a:cs typeface="Arial"/>
              </a:rPr>
              <a:t> </a:t>
            </a:r>
            <a:r>
              <a:rPr sz="900" dirty="0">
                <a:latin typeface="Arial"/>
                <a:cs typeface="Arial"/>
              </a:rPr>
              <a:t>bump</a:t>
            </a:r>
            <a:r>
              <a:rPr sz="900" spc="-15" dirty="0">
                <a:latin typeface="Arial"/>
                <a:cs typeface="Arial"/>
              </a:rPr>
              <a:t> </a:t>
            </a:r>
            <a:r>
              <a:rPr sz="900" dirty="0">
                <a:latin typeface="Arial"/>
                <a:cs typeface="Arial"/>
              </a:rPr>
              <a:t>into</a:t>
            </a:r>
            <a:r>
              <a:rPr sz="900" spc="-15" dirty="0">
                <a:latin typeface="Arial"/>
                <a:cs typeface="Arial"/>
              </a:rPr>
              <a:t> </a:t>
            </a:r>
            <a:r>
              <a:rPr sz="900" spc="-10" dirty="0">
                <a:latin typeface="Arial"/>
                <a:cs typeface="Arial"/>
              </a:rPr>
              <a:t>considerable</a:t>
            </a:r>
            <a:r>
              <a:rPr sz="900" spc="-15" dirty="0">
                <a:latin typeface="Arial"/>
                <a:cs typeface="Arial"/>
              </a:rPr>
              <a:t> </a:t>
            </a:r>
            <a:r>
              <a:rPr sz="900" spc="-10" dirty="0">
                <a:latin typeface="Arial"/>
                <a:cs typeface="Arial"/>
              </a:rPr>
              <a:t>performance</a:t>
            </a:r>
            <a:r>
              <a:rPr sz="900" spc="-15" dirty="0">
                <a:latin typeface="Arial"/>
                <a:cs typeface="Arial"/>
              </a:rPr>
              <a:t> </a:t>
            </a:r>
            <a:r>
              <a:rPr sz="900" spc="-10" dirty="0">
                <a:latin typeface="Arial"/>
                <a:cs typeface="Arial"/>
              </a:rPr>
              <a:t>problems,</a:t>
            </a:r>
            <a:r>
              <a:rPr sz="900" spc="-15" dirty="0">
                <a:latin typeface="Arial"/>
                <a:cs typeface="Arial"/>
              </a:rPr>
              <a:t> </a:t>
            </a:r>
            <a:r>
              <a:rPr sz="900" dirty="0">
                <a:latin typeface="Arial"/>
                <a:cs typeface="Arial"/>
              </a:rPr>
              <a:t>but</a:t>
            </a:r>
            <a:r>
              <a:rPr sz="900" spc="-15" dirty="0">
                <a:latin typeface="Arial"/>
                <a:cs typeface="Arial"/>
              </a:rPr>
              <a:t> </a:t>
            </a:r>
            <a:r>
              <a:rPr sz="900" spc="-10" dirty="0">
                <a:latin typeface="Arial"/>
                <a:cs typeface="Arial"/>
              </a:rPr>
              <a:t>perhaps even</a:t>
            </a:r>
            <a:r>
              <a:rPr sz="900" spc="-35" dirty="0">
                <a:latin typeface="Arial"/>
                <a:cs typeface="Arial"/>
              </a:rPr>
              <a:t> </a:t>
            </a:r>
            <a:r>
              <a:rPr sz="900" dirty="0">
                <a:latin typeface="Arial"/>
                <a:cs typeface="Arial"/>
              </a:rPr>
              <a:t>situations</a:t>
            </a:r>
            <a:r>
              <a:rPr sz="900" spc="-35" dirty="0">
                <a:latin typeface="Arial"/>
                <a:cs typeface="Arial"/>
              </a:rPr>
              <a:t> </a:t>
            </a:r>
            <a:r>
              <a:rPr sz="900" dirty="0">
                <a:latin typeface="Arial"/>
                <a:cs typeface="Arial"/>
              </a:rPr>
              <a:t>in</a:t>
            </a:r>
            <a:r>
              <a:rPr sz="900" spc="-35" dirty="0">
                <a:latin typeface="Arial"/>
                <a:cs typeface="Arial"/>
              </a:rPr>
              <a:t> </a:t>
            </a:r>
            <a:r>
              <a:rPr sz="900" dirty="0">
                <a:latin typeface="Arial"/>
                <a:cs typeface="Arial"/>
              </a:rPr>
              <a:t>which</a:t>
            </a:r>
            <a:r>
              <a:rPr sz="900" spc="-35" dirty="0">
                <a:latin typeface="Arial"/>
                <a:cs typeface="Arial"/>
              </a:rPr>
              <a:t> </a:t>
            </a:r>
            <a:r>
              <a:rPr sz="900" dirty="0">
                <a:latin typeface="Arial"/>
                <a:cs typeface="Arial"/>
              </a:rPr>
              <a:t>realizing</a:t>
            </a:r>
            <a:r>
              <a:rPr sz="900" spc="-35" dirty="0">
                <a:latin typeface="Arial"/>
                <a:cs typeface="Arial"/>
              </a:rPr>
              <a:t> </a:t>
            </a:r>
            <a:r>
              <a:rPr sz="900" dirty="0">
                <a:latin typeface="Arial"/>
                <a:cs typeface="Arial"/>
              </a:rPr>
              <a:t>fault</a:t>
            </a:r>
            <a:r>
              <a:rPr sz="900" spc="-35" dirty="0">
                <a:latin typeface="Arial"/>
                <a:cs typeface="Arial"/>
              </a:rPr>
              <a:t> </a:t>
            </a:r>
            <a:r>
              <a:rPr sz="900" dirty="0">
                <a:latin typeface="Arial"/>
                <a:cs typeface="Arial"/>
              </a:rPr>
              <a:t>tolerance</a:t>
            </a:r>
            <a:r>
              <a:rPr sz="900" spc="-35" dirty="0">
                <a:latin typeface="Arial"/>
                <a:cs typeface="Arial"/>
              </a:rPr>
              <a:t> </a:t>
            </a:r>
            <a:r>
              <a:rPr sz="900" dirty="0">
                <a:latin typeface="Arial"/>
                <a:cs typeface="Arial"/>
              </a:rPr>
              <a:t>is</a:t>
            </a:r>
            <a:r>
              <a:rPr sz="900" spc="-35" dirty="0">
                <a:latin typeface="Arial"/>
                <a:cs typeface="Arial"/>
              </a:rPr>
              <a:t> </a:t>
            </a:r>
            <a:r>
              <a:rPr sz="900" spc="-10" dirty="0">
                <a:latin typeface="Arial"/>
                <a:cs typeface="Arial"/>
              </a:rPr>
              <a:t>impossible.</a:t>
            </a:r>
            <a:endParaRPr sz="900">
              <a:latin typeface="Arial"/>
              <a:cs typeface="Arial"/>
            </a:endParaRPr>
          </a:p>
          <a:p>
            <a:pPr marL="28575">
              <a:lnSpc>
                <a:spcPct val="100000"/>
              </a:lnSpc>
              <a:spcBef>
                <a:spcPts val="745"/>
              </a:spcBef>
            </a:pPr>
            <a:r>
              <a:rPr sz="1000" spc="-10" dirty="0">
                <a:solidFill>
                  <a:srgbClr val="3333B2"/>
                </a:solidFill>
                <a:latin typeface="Arial"/>
                <a:cs typeface="Arial"/>
              </a:rPr>
              <a:t>Question</a:t>
            </a:r>
            <a:endParaRPr sz="1000">
              <a:latin typeface="Arial"/>
              <a:cs typeface="Arial"/>
            </a:endParaRPr>
          </a:p>
          <a:p>
            <a:pPr marL="25400">
              <a:lnSpc>
                <a:spcPct val="100000"/>
              </a:lnSpc>
              <a:spcBef>
                <a:spcPts val="140"/>
              </a:spcBef>
            </a:pPr>
            <a:r>
              <a:rPr sz="900" dirty="0">
                <a:latin typeface="Arial"/>
                <a:cs typeface="Arial"/>
              </a:rPr>
              <a:t>Are</a:t>
            </a:r>
            <a:r>
              <a:rPr sz="900" spc="-25" dirty="0">
                <a:latin typeface="Arial"/>
                <a:cs typeface="Arial"/>
              </a:rPr>
              <a:t> </a:t>
            </a:r>
            <a:r>
              <a:rPr sz="900" dirty="0">
                <a:latin typeface="Arial"/>
                <a:cs typeface="Arial"/>
              </a:rPr>
              <a:t>there</a:t>
            </a:r>
            <a:r>
              <a:rPr sz="900" spc="-25" dirty="0">
                <a:latin typeface="Arial"/>
                <a:cs typeface="Arial"/>
              </a:rPr>
              <a:t> </a:t>
            </a:r>
            <a:r>
              <a:rPr sz="900" dirty="0">
                <a:latin typeface="Arial"/>
                <a:cs typeface="Arial"/>
              </a:rPr>
              <a:t>limitations</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what</a:t>
            </a:r>
            <a:r>
              <a:rPr sz="900" spc="-25" dirty="0">
                <a:latin typeface="Arial"/>
                <a:cs typeface="Arial"/>
              </a:rPr>
              <a:t> </a:t>
            </a:r>
            <a:r>
              <a:rPr sz="900" dirty="0">
                <a:latin typeface="Arial"/>
                <a:cs typeface="Arial"/>
              </a:rPr>
              <a:t>can</a:t>
            </a:r>
            <a:r>
              <a:rPr sz="900" spc="-20" dirty="0">
                <a:latin typeface="Arial"/>
                <a:cs typeface="Arial"/>
              </a:rPr>
              <a:t> </a:t>
            </a:r>
            <a:r>
              <a:rPr sz="900" dirty="0">
                <a:latin typeface="Arial"/>
                <a:cs typeface="Arial"/>
              </a:rPr>
              <a:t>be</a:t>
            </a:r>
            <a:r>
              <a:rPr sz="900" spc="-25" dirty="0">
                <a:latin typeface="Arial"/>
                <a:cs typeface="Arial"/>
              </a:rPr>
              <a:t> </a:t>
            </a:r>
            <a:r>
              <a:rPr sz="900" dirty="0">
                <a:latin typeface="Arial"/>
                <a:cs typeface="Arial"/>
              </a:rPr>
              <a:t>readily</a:t>
            </a:r>
            <a:r>
              <a:rPr sz="900" spc="-25" dirty="0">
                <a:latin typeface="Arial"/>
                <a:cs typeface="Arial"/>
              </a:rPr>
              <a:t> </a:t>
            </a:r>
            <a:r>
              <a:rPr sz="900" spc="-10" dirty="0">
                <a:latin typeface="Arial"/>
                <a:cs typeface="Arial"/>
              </a:rPr>
              <a:t>achieved?</a:t>
            </a:r>
            <a:endParaRPr sz="900">
              <a:latin typeface="Arial"/>
              <a:cs typeface="Arial"/>
            </a:endParaRPr>
          </a:p>
          <a:p>
            <a:pPr marL="276225" indent="-114935">
              <a:lnSpc>
                <a:spcPct val="100000"/>
              </a:lnSpc>
              <a:spcBef>
                <a:spcPts val="525"/>
              </a:spcBef>
              <a:buClr>
                <a:srgbClr val="3333B2"/>
              </a:buClr>
              <a:buFont typeface="Menlo"/>
              <a:buChar char="•"/>
              <a:tabLst>
                <a:tab pos="276860" algn="l"/>
              </a:tabLst>
            </a:pPr>
            <a:r>
              <a:rPr sz="900" dirty="0">
                <a:latin typeface="Arial"/>
                <a:cs typeface="Arial"/>
              </a:rPr>
              <a:t>What</a:t>
            </a:r>
            <a:r>
              <a:rPr sz="900" spc="-30"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needed</a:t>
            </a:r>
            <a:r>
              <a:rPr sz="900" spc="-30"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enable</a:t>
            </a:r>
            <a:r>
              <a:rPr sz="900" spc="-30" dirty="0">
                <a:latin typeface="Arial"/>
                <a:cs typeface="Arial"/>
              </a:rPr>
              <a:t> </a:t>
            </a:r>
            <a:r>
              <a:rPr sz="900" dirty="0">
                <a:latin typeface="Arial"/>
                <a:cs typeface="Arial"/>
              </a:rPr>
              <a:t>reaching</a:t>
            </a:r>
            <a:r>
              <a:rPr sz="900" spc="-30" dirty="0">
                <a:latin typeface="Arial"/>
                <a:cs typeface="Arial"/>
              </a:rPr>
              <a:t> </a:t>
            </a:r>
            <a:r>
              <a:rPr sz="900" spc="-10" dirty="0">
                <a:latin typeface="Arial"/>
                <a:cs typeface="Arial"/>
              </a:rPr>
              <a:t>consensus?</a:t>
            </a:r>
            <a:endParaRPr sz="900">
              <a:latin typeface="Arial"/>
              <a:cs typeface="Arial"/>
            </a:endParaRPr>
          </a:p>
          <a:p>
            <a:pPr marL="276225" indent="-114935">
              <a:lnSpc>
                <a:spcPct val="100000"/>
              </a:lnSpc>
              <a:spcBef>
                <a:spcPts val="525"/>
              </a:spcBef>
              <a:buClr>
                <a:srgbClr val="3333B2"/>
              </a:buClr>
              <a:buFont typeface="Menlo"/>
              <a:buChar char="•"/>
              <a:tabLst>
                <a:tab pos="276860" algn="l"/>
              </a:tabLst>
            </a:pPr>
            <a:r>
              <a:rPr sz="900" dirty="0">
                <a:latin typeface="Arial"/>
                <a:cs typeface="Arial"/>
              </a:rPr>
              <a:t>What</a:t>
            </a:r>
            <a:r>
              <a:rPr sz="900" spc="-35" dirty="0">
                <a:latin typeface="Arial"/>
                <a:cs typeface="Arial"/>
              </a:rPr>
              <a:t> </a:t>
            </a:r>
            <a:r>
              <a:rPr sz="900" dirty="0">
                <a:latin typeface="Arial"/>
                <a:cs typeface="Arial"/>
              </a:rPr>
              <a:t>happens</a:t>
            </a:r>
            <a:r>
              <a:rPr sz="900" spc="-30" dirty="0">
                <a:latin typeface="Arial"/>
                <a:cs typeface="Arial"/>
              </a:rPr>
              <a:t> </a:t>
            </a:r>
            <a:r>
              <a:rPr sz="900" dirty="0">
                <a:latin typeface="Arial"/>
                <a:cs typeface="Arial"/>
              </a:rPr>
              <a:t>when</a:t>
            </a:r>
            <a:r>
              <a:rPr sz="900" spc="-30" dirty="0">
                <a:latin typeface="Arial"/>
                <a:cs typeface="Arial"/>
              </a:rPr>
              <a:t> </a:t>
            </a:r>
            <a:r>
              <a:rPr sz="900" dirty="0">
                <a:latin typeface="Arial"/>
                <a:cs typeface="Arial"/>
              </a:rPr>
              <a:t>groups</a:t>
            </a:r>
            <a:r>
              <a:rPr sz="900" spc="-30" dirty="0">
                <a:latin typeface="Arial"/>
                <a:cs typeface="Arial"/>
              </a:rPr>
              <a:t> </a:t>
            </a:r>
            <a:r>
              <a:rPr sz="900" dirty="0">
                <a:latin typeface="Arial"/>
                <a:cs typeface="Arial"/>
              </a:rPr>
              <a:t>are</a:t>
            </a:r>
            <a:r>
              <a:rPr sz="900" spc="-30" dirty="0">
                <a:latin typeface="Arial"/>
                <a:cs typeface="Arial"/>
              </a:rPr>
              <a:t> </a:t>
            </a:r>
            <a:r>
              <a:rPr sz="900" spc="-10" dirty="0">
                <a:latin typeface="Arial"/>
                <a:cs typeface="Arial"/>
              </a:rPr>
              <a:t>partitioned?</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124333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Some</a:t>
            </a:r>
            <a:r>
              <a:rPr sz="500" spc="-25" dirty="0">
                <a:latin typeface="Arial"/>
                <a:cs typeface="Arial"/>
                <a:hlinkClick r:id="rId4" action="ppaction://hlinksldjump"/>
              </a:rPr>
              <a:t> </a:t>
            </a:r>
            <a:r>
              <a:rPr sz="500" dirty="0">
                <a:latin typeface="Arial"/>
                <a:cs typeface="Arial"/>
                <a:hlinkClick r:id="rId4" action="ppaction://hlinksldjump"/>
              </a:rPr>
              <a:t>limitations</a:t>
            </a:r>
            <a:r>
              <a:rPr sz="500" spc="-20" dirty="0">
                <a:latin typeface="Arial"/>
                <a:cs typeface="Arial"/>
                <a:hlinkClick r:id="rId4" action="ppaction://hlinksldjump"/>
              </a:rPr>
              <a:t> </a:t>
            </a:r>
            <a:r>
              <a:rPr sz="500" dirty="0">
                <a:latin typeface="Arial"/>
                <a:cs typeface="Arial"/>
                <a:hlinkClick r:id="rId4" action="ppaction://hlinksldjump"/>
              </a:rPr>
              <a:t>on</a:t>
            </a:r>
            <a:r>
              <a:rPr sz="500" spc="-25" dirty="0">
                <a:latin typeface="Arial"/>
                <a:cs typeface="Arial"/>
                <a:hlinkClick r:id="rId4" action="ppaction://hlinksldjump"/>
              </a:rPr>
              <a:t> </a:t>
            </a:r>
            <a:r>
              <a:rPr sz="500" dirty="0">
                <a:latin typeface="Arial"/>
                <a:cs typeface="Arial"/>
                <a:hlinkClick r:id="rId4" action="ppaction://hlinksldjump"/>
              </a:rPr>
              <a:t>realizing</a:t>
            </a:r>
            <a:r>
              <a:rPr sz="500" spc="-20" dirty="0">
                <a:latin typeface="Arial"/>
                <a:cs typeface="Arial"/>
                <a:hlinkClick r:id="rId4" action="ppaction://hlinksldjump"/>
              </a:rPr>
              <a:t> </a:t>
            </a:r>
            <a:r>
              <a:rPr sz="500" dirty="0">
                <a:latin typeface="Arial"/>
                <a:cs typeface="Arial"/>
                <a:hlinkClick r:id="rId4" action="ppaction://hlinksldjump"/>
              </a:rPr>
              <a:t>fault</a:t>
            </a:r>
            <a:r>
              <a:rPr sz="500" spc="-20" dirty="0">
                <a:latin typeface="Arial"/>
                <a:cs typeface="Arial"/>
                <a:hlinkClick r:id="rId4" action="ppaction://hlinksldjump"/>
              </a:rPr>
              <a:t> </a:t>
            </a:r>
            <a:r>
              <a:rPr sz="500" spc="-10" dirty="0">
                <a:latin typeface="Arial"/>
                <a:cs typeface="Arial"/>
                <a:hlinkClick r:id="rId4" action="ppaction://hlinksldjump"/>
              </a:rPr>
              <a:t>tolerance</a:t>
            </a:r>
            <a:endParaRPr sz="500">
              <a:latin typeface="Arial"/>
              <a:cs typeface="Arial"/>
            </a:endParaRPr>
          </a:p>
        </p:txBody>
      </p:sp>
    </p:spTree>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95300" y="197711"/>
            <a:ext cx="3182620"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Distributed</a:t>
            </a:r>
            <a:r>
              <a:rPr sz="1200" spc="-40" dirty="0">
                <a:solidFill>
                  <a:srgbClr val="3333B2"/>
                </a:solidFill>
                <a:latin typeface="Arial"/>
                <a:cs typeface="Arial"/>
              </a:rPr>
              <a:t> </a:t>
            </a:r>
            <a:r>
              <a:rPr sz="1200" dirty="0">
                <a:solidFill>
                  <a:srgbClr val="3333B2"/>
                </a:solidFill>
                <a:latin typeface="Arial"/>
                <a:cs typeface="Arial"/>
              </a:rPr>
              <a:t>consensus:</a:t>
            </a:r>
            <a:r>
              <a:rPr sz="1200" spc="35" dirty="0">
                <a:solidFill>
                  <a:srgbClr val="3333B2"/>
                </a:solidFill>
                <a:latin typeface="Arial"/>
                <a:cs typeface="Arial"/>
              </a:rPr>
              <a:t> </a:t>
            </a:r>
            <a:r>
              <a:rPr sz="1200" dirty="0">
                <a:solidFill>
                  <a:srgbClr val="3333B2"/>
                </a:solidFill>
                <a:latin typeface="Arial"/>
                <a:cs typeface="Arial"/>
              </a:rPr>
              <a:t>when</a:t>
            </a:r>
            <a:r>
              <a:rPr sz="1200" spc="-35" dirty="0">
                <a:solidFill>
                  <a:srgbClr val="3333B2"/>
                </a:solidFill>
                <a:latin typeface="Arial"/>
                <a:cs typeface="Arial"/>
              </a:rPr>
              <a:t> </a:t>
            </a:r>
            <a:r>
              <a:rPr sz="1200" dirty="0">
                <a:solidFill>
                  <a:srgbClr val="3333B2"/>
                </a:solidFill>
                <a:latin typeface="Arial"/>
                <a:cs typeface="Arial"/>
              </a:rPr>
              <a:t>can</a:t>
            </a:r>
            <a:r>
              <a:rPr sz="1200" spc="-35" dirty="0">
                <a:solidFill>
                  <a:srgbClr val="3333B2"/>
                </a:solidFill>
                <a:latin typeface="Arial"/>
                <a:cs typeface="Arial"/>
              </a:rPr>
              <a:t> </a:t>
            </a:r>
            <a:r>
              <a:rPr sz="1200" dirty="0">
                <a:solidFill>
                  <a:srgbClr val="3333B2"/>
                </a:solidFill>
                <a:latin typeface="Arial"/>
                <a:cs typeface="Arial"/>
              </a:rPr>
              <a:t>it</a:t>
            </a:r>
            <a:r>
              <a:rPr sz="1200" spc="-35" dirty="0">
                <a:solidFill>
                  <a:srgbClr val="3333B2"/>
                </a:solidFill>
                <a:latin typeface="Arial"/>
                <a:cs typeface="Arial"/>
              </a:rPr>
              <a:t> </a:t>
            </a:r>
            <a:r>
              <a:rPr sz="1200" dirty="0">
                <a:solidFill>
                  <a:srgbClr val="3333B2"/>
                </a:solidFill>
                <a:latin typeface="Arial"/>
                <a:cs typeface="Arial"/>
              </a:rPr>
              <a:t>be</a:t>
            </a:r>
            <a:r>
              <a:rPr sz="1200" spc="-40" dirty="0">
                <a:solidFill>
                  <a:srgbClr val="3333B2"/>
                </a:solidFill>
                <a:latin typeface="Arial"/>
                <a:cs typeface="Arial"/>
              </a:rPr>
              <a:t> </a:t>
            </a:r>
            <a:r>
              <a:rPr sz="1200" spc="-10" dirty="0">
                <a:solidFill>
                  <a:srgbClr val="3333B2"/>
                </a:solidFill>
                <a:latin typeface="Arial"/>
                <a:cs typeface="Arial"/>
              </a:rPr>
              <a:t>reached</a:t>
            </a:r>
            <a:endParaRPr sz="1200">
              <a:latin typeface="Arial"/>
              <a:cs typeface="Arial"/>
            </a:endParaRPr>
          </a:p>
        </p:txBody>
      </p:sp>
      <p:pic>
        <p:nvPicPr>
          <p:cNvPr id="6" name="object 6"/>
          <p:cNvPicPr/>
          <p:nvPr/>
        </p:nvPicPr>
        <p:blipFill>
          <a:blip r:embed="rId4" cstate="print"/>
          <a:stretch>
            <a:fillRect/>
          </a:stretch>
        </p:blipFill>
        <p:spPr>
          <a:xfrm>
            <a:off x="627672" y="579817"/>
            <a:ext cx="3346704" cy="1112715"/>
          </a:xfrm>
          <a:prstGeom prst="rect">
            <a:avLst/>
          </a:prstGeom>
        </p:spPr>
      </p:pic>
      <p:sp>
        <p:nvSpPr>
          <p:cNvPr id="7" name="object 7"/>
          <p:cNvSpPr txBox="1"/>
          <p:nvPr/>
        </p:nvSpPr>
        <p:spPr>
          <a:xfrm>
            <a:off x="321894" y="1819229"/>
            <a:ext cx="2618740" cy="709295"/>
          </a:xfrm>
          <a:prstGeom prst="rect">
            <a:avLst/>
          </a:prstGeom>
        </p:spPr>
        <p:txBody>
          <a:bodyPr vert="horz" wrap="square" lIns="0" tIns="12065" rIns="0" bIns="0" rtlCol="0">
            <a:spAutoFit/>
          </a:bodyPr>
          <a:lstStyle/>
          <a:p>
            <a:pPr marL="38100">
              <a:lnSpc>
                <a:spcPct val="100000"/>
              </a:lnSpc>
              <a:spcBef>
                <a:spcPts val="95"/>
              </a:spcBef>
            </a:pPr>
            <a:r>
              <a:rPr sz="1000" dirty="0">
                <a:solidFill>
                  <a:srgbClr val="3333B2"/>
                </a:solidFill>
                <a:latin typeface="Arial"/>
                <a:cs typeface="Arial"/>
              </a:rPr>
              <a:t>Formal</a:t>
            </a:r>
            <a:r>
              <a:rPr sz="1000" spc="-55" dirty="0">
                <a:solidFill>
                  <a:srgbClr val="3333B2"/>
                </a:solidFill>
                <a:latin typeface="Arial"/>
                <a:cs typeface="Arial"/>
              </a:rPr>
              <a:t> </a:t>
            </a:r>
            <a:r>
              <a:rPr sz="1000" dirty="0">
                <a:solidFill>
                  <a:srgbClr val="3333B2"/>
                </a:solidFill>
                <a:latin typeface="Arial"/>
                <a:cs typeface="Arial"/>
              </a:rPr>
              <a:t>requirements</a:t>
            </a:r>
            <a:r>
              <a:rPr sz="1000" spc="-50" dirty="0">
                <a:solidFill>
                  <a:srgbClr val="3333B2"/>
                </a:solidFill>
                <a:latin typeface="Arial"/>
                <a:cs typeface="Arial"/>
              </a:rPr>
              <a:t> </a:t>
            </a:r>
            <a:r>
              <a:rPr sz="1000" dirty="0">
                <a:solidFill>
                  <a:srgbClr val="3333B2"/>
                </a:solidFill>
                <a:latin typeface="Arial"/>
                <a:cs typeface="Arial"/>
              </a:rPr>
              <a:t>for</a:t>
            </a:r>
            <a:r>
              <a:rPr sz="1000" spc="-55" dirty="0">
                <a:solidFill>
                  <a:srgbClr val="3333B2"/>
                </a:solidFill>
                <a:latin typeface="Arial"/>
                <a:cs typeface="Arial"/>
              </a:rPr>
              <a:t> </a:t>
            </a:r>
            <a:r>
              <a:rPr sz="1000" spc="-10" dirty="0">
                <a:solidFill>
                  <a:srgbClr val="3333B2"/>
                </a:solidFill>
                <a:latin typeface="Arial"/>
                <a:cs typeface="Arial"/>
              </a:rPr>
              <a:t>consensus</a:t>
            </a:r>
            <a:endParaRPr sz="1000">
              <a:latin typeface="Arial"/>
              <a:cs typeface="Arial"/>
            </a:endParaRPr>
          </a:p>
          <a:p>
            <a:pPr marL="290830" indent="-120650">
              <a:lnSpc>
                <a:spcPct val="100000"/>
              </a:lnSpc>
              <a:spcBef>
                <a:spcPts val="695"/>
              </a:spcBef>
              <a:buClr>
                <a:srgbClr val="3333B2"/>
              </a:buClr>
              <a:buFont typeface="Menlo"/>
              <a:buChar char="•"/>
              <a:tabLst>
                <a:tab pos="291465" algn="l"/>
              </a:tabLst>
            </a:pPr>
            <a:r>
              <a:rPr sz="900" dirty="0">
                <a:latin typeface="Arial"/>
                <a:cs typeface="Arial"/>
              </a:rPr>
              <a:t>Processes</a:t>
            </a:r>
            <a:r>
              <a:rPr sz="900" spc="-35" dirty="0">
                <a:latin typeface="Arial"/>
                <a:cs typeface="Arial"/>
              </a:rPr>
              <a:t> </a:t>
            </a:r>
            <a:r>
              <a:rPr sz="900" dirty="0">
                <a:latin typeface="Arial"/>
                <a:cs typeface="Arial"/>
              </a:rPr>
              <a:t>produce</a:t>
            </a:r>
            <a:r>
              <a:rPr sz="900" spc="-30" dirty="0">
                <a:latin typeface="Arial"/>
                <a:cs typeface="Arial"/>
              </a:rPr>
              <a:t> </a:t>
            </a:r>
            <a:r>
              <a:rPr sz="900" dirty="0">
                <a:latin typeface="Arial"/>
                <a:cs typeface="Arial"/>
              </a:rPr>
              <a:t>the</a:t>
            </a:r>
            <a:r>
              <a:rPr sz="900" spc="-35" dirty="0">
                <a:latin typeface="Arial"/>
                <a:cs typeface="Arial"/>
              </a:rPr>
              <a:t> </a:t>
            </a:r>
            <a:r>
              <a:rPr sz="900" dirty="0">
                <a:latin typeface="Arial"/>
                <a:cs typeface="Arial"/>
              </a:rPr>
              <a:t>same</a:t>
            </a:r>
            <a:r>
              <a:rPr sz="900" spc="-30" dirty="0">
                <a:latin typeface="Arial"/>
                <a:cs typeface="Arial"/>
              </a:rPr>
              <a:t> </a:t>
            </a:r>
            <a:r>
              <a:rPr sz="900" dirty="0">
                <a:latin typeface="Arial"/>
                <a:cs typeface="Arial"/>
              </a:rPr>
              <a:t>output</a:t>
            </a:r>
            <a:r>
              <a:rPr sz="900" spc="-30" dirty="0">
                <a:latin typeface="Arial"/>
                <a:cs typeface="Arial"/>
              </a:rPr>
              <a:t> </a:t>
            </a:r>
            <a:r>
              <a:rPr sz="900" spc="-10" dirty="0">
                <a:latin typeface="Arial"/>
                <a:cs typeface="Arial"/>
              </a:rPr>
              <a:t>value</a:t>
            </a:r>
            <a:endParaRPr sz="900">
              <a:latin typeface="Arial"/>
              <a:cs typeface="Arial"/>
            </a:endParaRPr>
          </a:p>
          <a:p>
            <a:pPr marL="290830" indent="-120650">
              <a:lnSpc>
                <a:spcPct val="100000"/>
              </a:lnSpc>
              <a:spcBef>
                <a:spcPts val="125"/>
              </a:spcBef>
              <a:buClr>
                <a:srgbClr val="3333B2"/>
              </a:buClr>
              <a:buFont typeface="Menlo"/>
              <a:buChar char="•"/>
              <a:tabLst>
                <a:tab pos="291465" algn="l"/>
              </a:tabLst>
            </a:pPr>
            <a:r>
              <a:rPr sz="900" dirty="0">
                <a:latin typeface="Arial"/>
                <a:cs typeface="Arial"/>
              </a:rPr>
              <a:t>Every</a:t>
            </a:r>
            <a:r>
              <a:rPr sz="900" spc="-35" dirty="0">
                <a:latin typeface="Arial"/>
                <a:cs typeface="Arial"/>
              </a:rPr>
              <a:t> </a:t>
            </a:r>
            <a:r>
              <a:rPr sz="900" dirty="0">
                <a:latin typeface="Arial"/>
                <a:cs typeface="Arial"/>
              </a:rPr>
              <a:t>output</a:t>
            </a:r>
            <a:r>
              <a:rPr sz="900" spc="-30" dirty="0">
                <a:latin typeface="Arial"/>
                <a:cs typeface="Arial"/>
              </a:rPr>
              <a:t> </a:t>
            </a:r>
            <a:r>
              <a:rPr sz="900" dirty="0">
                <a:latin typeface="Arial"/>
                <a:cs typeface="Arial"/>
              </a:rPr>
              <a:t>value</a:t>
            </a:r>
            <a:r>
              <a:rPr sz="900" spc="-35" dirty="0">
                <a:latin typeface="Arial"/>
                <a:cs typeface="Arial"/>
              </a:rPr>
              <a:t> </a:t>
            </a:r>
            <a:r>
              <a:rPr sz="900" dirty="0">
                <a:latin typeface="Arial"/>
                <a:cs typeface="Arial"/>
              </a:rPr>
              <a:t>must</a:t>
            </a:r>
            <a:r>
              <a:rPr sz="900" spc="-30" dirty="0">
                <a:latin typeface="Arial"/>
                <a:cs typeface="Arial"/>
              </a:rPr>
              <a:t> </a:t>
            </a:r>
            <a:r>
              <a:rPr sz="900" dirty="0">
                <a:latin typeface="Arial"/>
                <a:cs typeface="Arial"/>
              </a:rPr>
              <a:t>be</a:t>
            </a:r>
            <a:r>
              <a:rPr sz="900" spc="-30" dirty="0">
                <a:latin typeface="Arial"/>
                <a:cs typeface="Arial"/>
              </a:rPr>
              <a:t> </a:t>
            </a:r>
            <a:r>
              <a:rPr sz="900" spc="-20" dirty="0">
                <a:latin typeface="Arial"/>
                <a:cs typeface="Arial"/>
              </a:rPr>
              <a:t>valid</a:t>
            </a:r>
            <a:endParaRPr sz="900">
              <a:latin typeface="Arial"/>
              <a:cs typeface="Arial"/>
            </a:endParaRPr>
          </a:p>
          <a:p>
            <a:pPr marL="290830" indent="-120650">
              <a:lnSpc>
                <a:spcPct val="100000"/>
              </a:lnSpc>
              <a:spcBef>
                <a:spcPts val="125"/>
              </a:spcBef>
              <a:buClr>
                <a:srgbClr val="3333B2"/>
              </a:buClr>
              <a:buFont typeface="Menlo"/>
              <a:buChar char="•"/>
              <a:tabLst>
                <a:tab pos="291465" algn="l"/>
              </a:tabLst>
            </a:pPr>
            <a:r>
              <a:rPr sz="900" dirty="0">
                <a:latin typeface="Arial"/>
                <a:cs typeface="Arial"/>
              </a:rPr>
              <a:t>Every</a:t>
            </a:r>
            <a:r>
              <a:rPr sz="900" spc="-30" dirty="0">
                <a:latin typeface="Arial"/>
                <a:cs typeface="Arial"/>
              </a:rPr>
              <a:t> </a:t>
            </a:r>
            <a:r>
              <a:rPr sz="900" dirty="0">
                <a:latin typeface="Arial"/>
                <a:cs typeface="Arial"/>
              </a:rPr>
              <a:t>process</a:t>
            </a:r>
            <a:r>
              <a:rPr sz="900" spc="-30" dirty="0">
                <a:latin typeface="Arial"/>
                <a:cs typeface="Arial"/>
              </a:rPr>
              <a:t> </a:t>
            </a:r>
            <a:r>
              <a:rPr sz="900" dirty="0">
                <a:latin typeface="Arial"/>
                <a:cs typeface="Arial"/>
              </a:rPr>
              <a:t>must</a:t>
            </a:r>
            <a:r>
              <a:rPr sz="900" spc="-30" dirty="0">
                <a:latin typeface="Arial"/>
                <a:cs typeface="Arial"/>
              </a:rPr>
              <a:t> </a:t>
            </a:r>
            <a:r>
              <a:rPr sz="900" spc="-10" dirty="0">
                <a:latin typeface="Arial"/>
                <a:cs typeface="Arial"/>
              </a:rPr>
              <a:t>eventually</a:t>
            </a:r>
            <a:r>
              <a:rPr sz="900" spc="-30" dirty="0">
                <a:latin typeface="Arial"/>
                <a:cs typeface="Arial"/>
              </a:rPr>
              <a:t> </a:t>
            </a:r>
            <a:r>
              <a:rPr sz="900" dirty="0">
                <a:latin typeface="Arial"/>
                <a:cs typeface="Arial"/>
              </a:rPr>
              <a:t>provide</a:t>
            </a:r>
            <a:r>
              <a:rPr sz="900" spc="-30" dirty="0">
                <a:latin typeface="Arial"/>
                <a:cs typeface="Arial"/>
              </a:rPr>
              <a:t> </a:t>
            </a:r>
            <a:r>
              <a:rPr sz="900" spc="-10" dirty="0">
                <a:latin typeface="Arial"/>
                <a:cs typeface="Arial"/>
              </a:rPr>
              <a:t>output</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124333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Some</a:t>
            </a:r>
            <a:r>
              <a:rPr sz="500" spc="-25" dirty="0">
                <a:latin typeface="Arial"/>
                <a:cs typeface="Arial"/>
                <a:hlinkClick r:id="rId5" action="ppaction://hlinksldjump"/>
              </a:rPr>
              <a:t> </a:t>
            </a:r>
            <a:r>
              <a:rPr sz="500" dirty="0">
                <a:latin typeface="Arial"/>
                <a:cs typeface="Arial"/>
                <a:hlinkClick r:id="rId5" action="ppaction://hlinksldjump"/>
              </a:rPr>
              <a:t>limitations</a:t>
            </a:r>
            <a:r>
              <a:rPr sz="500" spc="-20" dirty="0">
                <a:latin typeface="Arial"/>
                <a:cs typeface="Arial"/>
                <a:hlinkClick r:id="rId5" action="ppaction://hlinksldjump"/>
              </a:rPr>
              <a:t> </a:t>
            </a:r>
            <a:r>
              <a:rPr sz="500" dirty="0">
                <a:latin typeface="Arial"/>
                <a:cs typeface="Arial"/>
                <a:hlinkClick r:id="rId5" action="ppaction://hlinksldjump"/>
              </a:rPr>
              <a:t>on</a:t>
            </a:r>
            <a:r>
              <a:rPr sz="500" spc="-25" dirty="0">
                <a:latin typeface="Arial"/>
                <a:cs typeface="Arial"/>
                <a:hlinkClick r:id="rId5" action="ppaction://hlinksldjump"/>
              </a:rPr>
              <a:t> </a:t>
            </a:r>
            <a:r>
              <a:rPr sz="500" dirty="0">
                <a:latin typeface="Arial"/>
                <a:cs typeface="Arial"/>
                <a:hlinkClick r:id="rId5" action="ppaction://hlinksldjump"/>
              </a:rPr>
              <a:t>realizing</a:t>
            </a:r>
            <a:r>
              <a:rPr sz="500" spc="-20" dirty="0">
                <a:latin typeface="Arial"/>
                <a:cs typeface="Arial"/>
                <a:hlinkClick r:id="rId5" action="ppaction://hlinksldjump"/>
              </a:rPr>
              <a:t> </a:t>
            </a:r>
            <a:r>
              <a:rPr sz="500" dirty="0">
                <a:latin typeface="Arial"/>
                <a:cs typeface="Arial"/>
                <a:hlinkClick r:id="rId5" action="ppaction://hlinksldjump"/>
              </a:rPr>
              <a:t>fault</a:t>
            </a:r>
            <a:r>
              <a:rPr sz="500" spc="-20" dirty="0">
                <a:latin typeface="Arial"/>
                <a:cs typeface="Arial"/>
                <a:hlinkClick r:id="rId5" action="ppaction://hlinksldjump"/>
              </a:rPr>
              <a:t> </a:t>
            </a:r>
            <a:r>
              <a:rPr sz="500" spc="-10" dirty="0">
                <a:latin typeface="Arial"/>
                <a:cs typeface="Arial"/>
                <a:hlinkClick r:id="rId5" action="ppaction://hlinksldjump"/>
              </a:rPr>
              <a:t>tolerance</a:t>
            </a:r>
            <a:endParaRPr sz="500">
              <a:latin typeface="Arial"/>
              <a:cs typeface="Arial"/>
            </a:endParaRPr>
          </a:p>
        </p:txBody>
      </p:sp>
    </p:spTree>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74465"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spc="-20" dirty="0"/>
              <a:t>Consistency,</a:t>
            </a:r>
            <a:r>
              <a:rPr spc="10" dirty="0"/>
              <a:t> </a:t>
            </a:r>
            <a:r>
              <a:rPr spc="-20" dirty="0"/>
              <a:t>availability,</a:t>
            </a:r>
            <a:r>
              <a:rPr spc="15" dirty="0"/>
              <a:t> </a:t>
            </a:r>
            <a:r>
              <a:rPr dirty="0"/>
              <a:t>and</a:t>
            </a:r>
            <a:r>
              <a:rPr spc="15" dirty="0"/>
              <a:t> </a:t>
            </a:r>
            <a:r>
              <a:rPr spc="-10" dirty="0"/>
              <a:t>partitioning</a:t>
            </a:r>
          </a:p>
        </p:txBody>
      </p:sp>
      <p:sp>
        <p:nvSpPr>
          <p:cNvPr id="4" name="object 4"/>
          <p:cNvSpPr txBox="1"/>
          <p:nvPr/>
        </p:nvSpPr>
        <p:spPr>
          <a:xfrm>
            <a:off x="343547" y="499476"/>
            <a:ext cx="3810635" cy="2048510"/>
          </a:xfrm>
          <a:prstGeom prst="rect">
            <a:avLst/>
          </a:prstGeom>
        </p:spPr>
        <p:txBody>
          <a:bodyPr vert="horz" wrap="square" lIns="0" tIns="27305" rIns="0" bIns="0" rtlCol="0">
            <a:spAutoFit/>
          </a:bodyPr>
          <a:lstStyle/>
          <a:p>
            <a:pPr marL="15875">
              <a:lnSpc>
                <a:spcPct val="100000"/>
              </a:lnSpc>
              <a:spcBef>
                <a:spcPts val="215"/>
              </a:spcBef>
            </a:pPr>
            <a:r>
              <a:rPr sz="1000" dirty="0">
                <a:solidFill>
                  <a:srgbClr val="3333B2"/>
                </a:solidFill>
                <a:latin typeface="Arial"/>
                <a:cs typeface="Arial"/>
              </a:rPr>
              <a:t>CAP</a:t>
            </a:r>
            <a:r>
              <a:rPr sz="1000" spc="-30" dirty="0">
                <a:solidFill>
                  <a:srgbClr val="3333B2"/>
                </a:solidFill>
                <a:latin typeface="Arial"/>
                <a:cs typeface="Arial"/>
              </a:rPr>
              <a:t> </a:t>
            </a:r>
            <a:r>
              <a:rPr sz="1000" spc="-10" dirty="0">
                <a:solidFill>
                  <a:srgbClr val="3333B2"/>
                </a:solidFill>
                <a:latin typeface="Arial"/>
                <a:cs typeface="Arial"/>
              </a:rPr>
              <a:t>theorem</a:t>
            </a:r>
            <a:endParaRPr sz="1000">
              <a:latin typeface="Arial"/>
              <a:cs typeface="Arial"/>
            </a:endParaRPr>
          </a:p>
          <a:p>
            <a:pPr marL="15875" marR="139065" indent="-3810">
              <a:lnSpc>
                <a:spcPts val="1210"/>
              </a:lnSpc>
              <a:spcBef>
                <a:spcPts val="35"/>
              </a:spcBef>
            </a:pPr>
            <a:r>
              <a:rPr sz="900" dirty="0">
                <a:latin typeface="Arial"/>
                <a:cs typeface="Arial"/>
              </a:rPr>
              <a:t>Any</a:t>
            </a:r>
            <a:r>
              <a:rPr sz="900" spc="-30" dirty="0">
                <a:latin typeface="Arial"/>
                <a:cs typeface="Arial"/>
              </a:rPr>
              <a:t> </a:t>
            </a:r>
            <a:r>
              <a:rPr sz="900" spc="-10" dirty="0">
                <a:latin typeface="Arial"/>
                <a:cs typeface="Arial"/>
              </a:rPr>
              <a:t>networked</a:t>
            </a:r>
            <a:r>
              <a:rPr sz="900" spc="-25" dirty="0">
                <a:latin typeface="Arial"/>
                <a:cs typeface="Arial"/>
              </a:rPr>
              <a:t> </a:t>
            </a:r>
            <a:r>
              <a:rPr sz="900" dirty="0">
                <a:latin typeface="Arial"/>
                <a:cs typeface="Arial"/>
              </a:rPr>
              <a:t>system</a:t>
            </a:r>
            <a:r>
              <a:rPr sz="900" spc="-25" dirty="0">
                <a:latin typeface="Arial"/>
                <a:cs typeface="Arial"/>
              </a:rPr>
              <a:t> </a:t>
            </a:r>
            <a:r>
              <a:rPr sz="900" dirty="0">
                <a:latin typeface="Arial"/>
                <a:cs typeface="Arial"/>
              </a:rPr>
              <a:t>providing</a:t>
            </a:r>
            <a:r>
              <a:rPr sz="900" spc="-30" dirty="0">
                <a:latin typeface="Arial"/>
                <a:cs typeface="Arial"/>
              </a:rPr>
              <a:t> </a:t>
            </a:r>
            <a:r>
              <a:rPr sz="900" dirty="0">
                <a:latin typeface="Arial"/>
                <a:cs typeface="Arial"/>
              </a:rPr>
              <a:t>shared</a:t>
            </a:r>
            <a:r>
              <a:rPr sz="900" spc="-25" dirty="0">
                <a:latin typeface="Arial"/>
                <a:cs typeface="Arial"/>
              </a:rPr>
              <a:t> </a:t>
            </a:r>
            <a:r>
              <a:rPr sz="900" dirty="0">
                <a:latin typeface="Arial"/>
                <a:cs typeface="Arial"/>
              </a:rPr>
              <a:t>data</a:t>
            </a:r>
            <a:r>
              <a:rPr sz="900" spc="-25" dirty="0">
                <a:latin typeface="Arial"/>
                <a:cs typeface="Arial"/>
              </a:rPr>
              <a:t> </a:t>
            </a:r>
            <a:r>
              <a:rPr sz="900" dirty="0">
                <a:latin typeface="Arial"/>
                <a:cs typeface="Arial"/>
              </a:rPr>
              <a:t>can</a:t>
            </a:r>
            <a:r>
              <a:rPr sz="900" spc="-25" dirty="0">
                <a:latin typeface="Arial"/>
                <a:cs typeface="Arial"/>
              </a:rPr>
              <a:t> </a:t>
            </a:r>
            <a:r>
              <a:rPr sz="900" dirty="0">
                <a:latin typeface="Arial"/>
                <a:cs typeface="Arial"/>
              </a:rPr>
              <a:t>provide</a:t>
            </a:r>
            <a:r>
              <a:rPr sz="900" spc="-30" dirty="0">
                <a:latin typeface="Arial"/>
                <a:cs typeface="Arial"/>
              </a:rPr>
              <a:t> </a:t>
            </a:r>
            <a:r>
              <a:rPr sz="900" dirty="0">
                <a:latin typeface="Arial"/>
                <a:cs typeface="Arial"/>
              </a:rPr>
              <a:t>only</a:t>
            </a:r>
            <a:r>
              <a:rPr sz="900" spc="-25" dirty="0">
                <a:latin typeface="Arial"/>
                <a:cs typeface="Arial"/>
              </a:rPr>
              <a:t> </a:t>
            </a:r>
            <a:r>
              <a:rPr sz="900" dirty="0">
                <a:latin typeface="Arial"/>
                <a:cs typeface="Arial"/>
              </a:rPr>
              <a:t>two</a:t>
            </a:r>
            <a:r>
              <a:rPr sz="900" spc="-25" dirty="0">
                <a:latin typeface="Arial"/>
                <a:cs typeface="Arial"/>
              </a:rPr>
              <a:t> </a:t>
            </a:r>
            <a:r>
              <a:rPr sz="900" dirty="0">
                <a:latin typeface="Arial"/>
                <a:cs typeface="Arial"/>
              </a:rPr>
              <a:t>of</a:t>
            </a:r>
            <a:r>
              <a:rPr sz="900" spc="-25" dirty="0">
                <a:latin typeface="Arial"/>
                <a:cs typeface="Arial"/>
              </a:rPr>
              <a:t> the </a:t>
            </a:r>
            <a:r>
              <a:rPr sz="900" spc="-10" dirty="0">
                <a:latin typeface="Arial"/>
                <a:cs typeface="Arial"/>
              </a:rPr>
              <a:t>following</a:t>
            </a:r>
            <a:r>
              <a:rPr sz="900" spc="-15" dirty="0">
                <a:latin typeface="Arial"/>
                <a:cs typeface="Arial"/>
              </a:rPr>
              <a:t> </a:t>
            </a:r>
            <a:r>
              <a:rPr sz="900" dirty="0">
                <a:latin typeface="Arial"/>
                <a:cs typeface="Arial"/>
              </a:rPr>
              <a:t>three</a:t>
            </a:r>
            <a:r>
              <a:rPr sz="900" spc="-10" dirty="0">
                <a:latin typeface="Arial"/>
                <a:cs typeface="Arial"/>
              </a:rPr>
              <a:t> properties:</a:t>
            </a:r>
            <a:endParaRPr sz="900">
              <a:latin typeface="Arial"/>
              <a:cs typeface="Arial"/>
            </a:endParaRPr>
          </a:p>
          <a:p>
            <a:pPr marL="269240" marR="22225" indent="-177165">
              <a:lnSpc>
                <a:spcPct val="111600"/>
              </a:lnSpc>
              <a:spcBef>
                <a:spcPts val="335"/>
              </a:spcBef>
            </a:pPr>
            <a:r>
              <a:rPr sz="900" dirty="0">
                <a:solidFill>
                  <a:srgbClr val="C80000"/>
                </a:solidFill>
                <a:latin typeface="Arial"/>
                <a:cs typeface="Arial"/>
              </a:rPr>
              <a:t>C</a:t>
            </a:r>
            <a:r>
              <a:rPr sz="900" dirty="0">
                <a:solidFill>
                  <a:srgbClr val="3333B2"/>
                </a:solidFill>
                <a:latin typeface="Arial"/>
                <a:cs typeface="Arial"/>
              </a:rPr>
              <a:t>:</a:t>
            </a:r>
            <a:r>
              <a:rPr sz="900" spc="200" dirty="0">
                <a:solidFill>
                  <a:srgbClr val="3333B2"/>
                </a:solidFill>
                <a:latin typeface="Arial"/>
                <a:cs typeface="Arial"/>
              </a:rPr>
              <a:t> </a:t>
            </a:r>
            <a:r>
              <a:rPr sz="900" dirty="0">
                <a:solidFill>
                  <a:srgbClr val="3333B2"/>
                </a:solidFill>
                <a:latin typeface="Arial"/>
                <a:cs typeface="Arial"/>
              </a:rPr>
              <a:t>consistency</a:t>
            </a:r>
            <a:r>
              <a:rPr sz="900" dirty="0">
                <a:latin typeface="Arial"/>
                <a:cs typeface="Arial"/>
              </a:rPr>
              <a:t>,</a:t>
            </a:r>
            <a:r>
              <a:rPr sz="900" spc="-25" dirty="0">
                <a:latin typeface="Arial"/>
                <a:cs typeface="Arial"/>
              </a:rPr>
              <a:t> </a:t>
            </a:r>
            <a:r>
              <a:rPr sz="900" dirty="0">
                <a:latin typeface="Arial"/>
                <a:cs typeface="Arial"/>
              </a:rPr>
              <a:t>by</a:t>
            </a:r>
            <a:r>
              <a:rPr sz="900" spc="-25" dirty="0">
                <a:latin typeface="Arial"/>
                <a:cs typeface="Arial"/>
              </a:rPr>
              <a:t> </a:t>
            </a:r>
            <a:r>
              <a:rPr sz="900" dirty="0">
                <a:latin typeface="Arial"/>
                <a:cs typeface="Arial"/>
              </a:rPr>
              <a:t>which</a:t>
            </a:r>
            <a:r>
              <a:rPr sz="900" spc="-3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shared</a:t>
            </a:r>
            <a:r>
              <a:rPr sz="900" spc="-25" dirty="0">
                <a:latin typeface="Arial"/>
                <a:cs typeface="Arial"/>
              </a:rPr>
              <a:t> </a:t>
            </a:r>
            <a:r>
              <a:rPr sz="900" dirty="0">
                <a:latin typeface="Arial"/>
                <a:cs typeface="Arial"/>
              </a:rPr>
              <a:t>and</a:t>
            </a:r>
            <a:r>
              <a:rPr sz="900" spc="-25" dirty="0">
                <a:latin typeface="Arial"/>
                <a:cs typeface="Arial"/>
              </a:rPr>
              <a:t> </a:t>
            </a:r>
            <a:r>
              <a:rPr sz="900" dirty="0">
                <a:latin typeface="Arial"/>
                <a:cs typeface="Arial"/>
              </a:rPr>
              <a:t>replicated</a:t>
            </a:r>
            <a:r>
              <a:rPr sz="900" spc="-25" dirty="0">
                <a:latin typeface="Arial"/>
                <a:cs typeface="Arial"/>
              </a:rPr>
              <a:t> </a:t>
            </a:r>
            <a:r>
              <a:rPr sz="900" dirty="0">
                <a:latin typeface="Arial"/>
                <a:cs typeface="Arial"/>
              </a:rPr>
              <a:t>data</a:t>
            </a:r>
            <a:r>
              <a:rPr sz="900" spc="-30" dirty="0">
                <a:latin typeface="Arial"/>
                <a:cs typeface="Arial"/>
              </a:rPr>
              <a:t> </a:t>
            </a:r>
            <a:r>
              <a:rPr sz="900" dirty="0">
                <a:latin typeface="Arial"/>
                <a:cs typeface="Arial"/>
              </a:rPr>
              <a:t>item</a:t>
            </a:r>
            <a:r>
              <a:rPr sz="900" spc="-25" dirty="0">
                <a:latin typeface="Arial"/>
                <a:cs typeface="Arial"/>
              </a:rPr>
              <a:t> </a:t>
            </a:r>
            <a:r>
              <a:rPr sz="900" dirty="0">
                <a:latin typeface="Arial"/>
                <a:cs typeface="Arial"/>
              </a:rPr>
              <a:t>appears</a:t>
            </a:r>
            <a:r>
              <a:rPr sz="900" spc="-25" dirty="0">
                <a:latin typeface="Arial"/>
                <a:cs typeface="Arial"/>
              </a:rPr>
              <a:t> </a:t>
            </a:r>
            <a:r>
              <a:rPr sz="900" dirty="0">
                <a:latin typeface="Arial"/>
                <a:cs typeface="Arial"/>
              </a:rPr>
              <a:t>as</a:t>
            </a:r>
            <a:r>
              <a:rPr sz="900" spc="-25" dirty="0">
                <a:latin typeface="Arial"/>
                <a:cs typeface="Arial"/>
              </a:rPr>
              <a:t> </a:t>
            </a:r>
            <a:r>
              <a:rPr sz="900" spc="-50" dirty="0">
                <a:latin typeface="Arial"/>
                <a:cs typeface="Arial"/>
              </a:rPr>
              <a:t>a</a:t>
            </a:r>
            <a:r>
              <a:rPr sz="900" dirty="0">
                <a:latin typeface="Arial"/>
                <a:cs typeface="Arial"/>
              </a:rPr>
              <a:t> single,</a:t>
            </a:r>
            <a:r>
              <a:rPr sz="900" spc="-20" dirty="0">
                <a:latin typeface="Arial"/>
                <a:cs typeface="Arial"/>
              </a:rPr>
              <a:t> </a:t>
            </a:r>
            <a:r>
              <a:rPr sz="900" spc="-10" dirty="0">
                <a:latin typeface="Arial"/>
                <a:cs typeface="Arial"/>
              </a:rPr>
              <a:t>up-to-</a:t>
            </a:r>
            <a:r>
              <a:rPr sz="900" dirty="0">
                <a:latin typeface="Arial"/>
                <a:cs typeface="Arial"/>
              </a:rPr>
              <a:t>date</a:t>
            </a:r>
            <a:r>
              <a:rPr sz="900" spc="-15" dirty="0">
                <a:latin typeface="Arial"/>
                <a:cs typeface="Arial"/>
              </a:rPr>
              <a:t> </a:t>
            </a:r>
            <a:r>
              <a:rPr sz="900" spc="-20" dirty="0">
                <a:latin typeface="Arial"/>
                <a:cs typeface="Arial"/>
              </a:rPr>
              <a:t>copy</a:t>
            </a:r>
            <a:endParaRPr sz="900">
              <a:latin typeface="Arial"/>
              <a:cs typeface="Arial"/>
            </a:endParaRPr>
          </a:p>
          <a:p>
            <a:pPr marL="98425" marR="324485">
              <a:lnSpc>
                <a:spcPct val="148500"/>
              </a:lnSpc>
            </a:pPr>
            <a:r>
              <a:rPr sz="900" dirty="0">
                <a:solidFill>
                  <a:srgbClr val="C80000"/>
                </a:solidFill>
                <a:latin typeface="Arial"/>
                <a:cs typeface="Arial"/>
              </a:rPr>
              <a:t>A</a:t>
            </a:r>
            <a:r>
              <a:rPr sz="900" dirty="0">
                <a:solidFill>
                  <a:srgbClr val="3333B2"/>
                </a:solidFill>
                <a:latin typeface="Arial"/>
                <a:cs typeface="Arial"/>
              </a:rPr>
              <a:t>:</a:t>
            </a:r>
            <a:r>
              <a:rPr sz="900" spc="225" dirty="0">
                <a:solidFill>
                  <a:srgbClr val="3333B2"/>
                </a:solidFill>
                <a:latin typeface="Arial"/>
                <a:cs typeface="Arial"/>
              </a:rPr>
              <a:t> </a:t>
            </a:r>
            <a:r>
              <a:rPr sz="900" spc="-10" dirty="0">
                <a:solidFill>
                  <a:srgbClr val="3333B2"/>
                </a:solidFill>
                <a:latin typeface="Arial"/>
                <a:cs typeface="Arial"/>
              </a:rPr>
              <a:t>availability</a:t>
            </a:r>
            <a:r>
              <a:rPr sz="900" spc="-10" dirty="0">
                <a:latin typeface="Arial"/>
                <a:cs typeface="Arial"/>
              </a:rPr>
              <a:t>, </a:t>
            </a:r>
            <a:r>
              <a:rPr sz="900" dirty="0">
                <a:latin typeface="Arial"/>
                <a:cs typeface="Arial"/>
              </a:rPr>
              <a:t>by</a:t>
            </a:r>
            <a:r>
              <a:rPr sz="900" spc="-15" dirty="0">
                <a:latin typeface="Arial"/>
                <a:cs typeface="Arial"/>
              </a:rPr>
              <a:t> </a:t>
            </a:r>
            <a:r>
              <a:rPr sz="900" dirty="0">
                <a:latin typeface="Arial"/>
                <a:cs typeface="Arial"/>
              </a:rPr>
              <a:t>which</a:t>
            </a:r>
            <a:r>
              <a:rPr sz="900" spc="-15" dirty="0">
                <a:latin typeface="Arial"/>
                <a:cs typeface="Arial"/>
              </a:rPr>
              <a:t> </a:t>
            </a:r>
            <a:r>
              <a:rPr sz="900" dirty="0">
                <a:latin typeface="Arial"/>
                <a:cs typeface="Arial"/>
              </a:rPr>
              <a:t>updates</a:t>
            </a:r>
            <a:r>
              <a:rPr sz="900" spc="-10" dirty="0">
                <a:latin typeface="Arial"/>
                <a:cs typeface="Arial"/>
              </a:rPr>
              <a:t> </a:t>
            </a:r>
            <a:r>
              <a:rPr sz="900" dirty="0">
                <a:latin typeface="Arial"/>
                <a:cs typeface="Arial"/>
              </a:rPr>
              <a:t>will</a:t>
            </a:r>
            <a:r>
              <a:rPr sz="900" spc="-15" dirty="0">
                <a:latin typeface="Arial"/>
                <a:cs typeface="Arial"/>
              </a:rPr>
              <a:t> </a:t>
            </a:r>
            <a:r>
              <a:rPr sz="900" spc="-10" dirty="0">
                <a:latin typeface="Arial"/>
                <a:cs typeface="Arial"/>
              </a:rPr>
              <a:t>always</a:t>
            </a:r>
            <a:r>
              <a:rPr sz="900" spc="-15" dirty="0">
                <a:latin typeface="Arial"/>
                <a:cs typeface="Arial"/>
              </a:rPr>
              <a:t> </a:t>
            </a:r>
            <a:r>
              <a:rPr sz="900" dirty="0">
                <a:latin typeface="Arial"/>
                <a:cs typeface="Arial"/>
              </a:rPr>
              <a:t>be</a:t>
            </a:r>
            <a:r>
              <a:rPr sz="900" spc="-10" dirty="0">
                <a:latin typeface="Arial"/>
                <a:cs typeface="Arial"/>
              </a:rPr>
              <a:t> eventually</a:t>
            </a:r>
            <a:r>
              <a:rPr sz="900" spc="-15" dirty="0">
                <a:latin typeface="Arial"/>
                <a:cs typeface="Arial"/>
              </a:rPr>
              <a:t> </a:t>
            </a:r>
            <a:r>
              <a:rPr sz="900" spc="-10" dirty="0">
                <a:latin typeface="Arial"/>
                <a:cs typeface="Arial"/>
              </a:rPr>
              <a:t>executed </a:t>
            </a:r>
            <a:r>
              <a:rPr sz="900" dirty="0">
                <a:solidFill>
                  <a:srgbClr val="C80000"/>
                </a:solidFill>
                <a:latin typeface="Arial"/>
                <a:cs typeface="Arial"/>
              </a:rPr>
              <a:t>P</a:t>
            </a:r>
            <a:r>
              <a:rPr sz="900" dirty="0">
                <a:solidFill>
                  <a:srgbClr val="3333B2"/>
                </a:solidFill>
                <a:latin typeface="Arial"/>
                <a:cs typeface="Arial"/>
              </a:rPr>
              <a:t>:</a:t>
            </a:r>
            <a:r>
              <a:rPr sz="900" spc="200" dirty="0">
                <a:solidFill>
                  <a:srgbClr val="3333B2"/>
                </a:solidFill>
                <a:latin typeface="Arial"/>
                <a:cs typeface="Arial"/>
              </a:rPr>
              <a:t> </a:t>
            </a:r>
            <a:r>
              <a:rPr sz="900" spc="-20" dirty="0">
                <a:latin typeface="Arial"/>
                <a:cs typeface="Arial"/>
              </a:rPr>
              <a:t>Tolerant</a:t>
            </a:r>
            <a:r>
              <a:rPr sz="900" spc="-15" dirty="0">
                <a:latin typeface="Arial"/>
                <a:cs typeface="Arial"/>
              </a:rPr>
              <a:t> </a:t>
            </a:r>
            <a:r>
              <a:rPr sz="900" dirty="0">
                <a:latin typeface="Arial"/>
                <a:cs typeface="Arial"/>
              </a:rPr>
              <a:t>to</a:t>
            </a:r>
            <a:r>
              <a:rPr sz="900" spc="-10" dirty="0">
                <a:latin typeface="Arial"/>
                <a:cs typeface="Arial"/>
              </a:rPr>
              <a:t> </a:t>
            </a:r>
            <a:r>
              <a:rPr sz="900" dirty="0">
                <a:latin typeface="Arial"/>
                <a:cs typeface="Arial"/>
              </a:rPr>
              <a:t>the</a:t>
            </a:r>
            <a:r>
              <a:rPr sz="900" spc="-15" dirty="0">
                <a:latin typeface="Arial"/>
                <a:cs typeface="Arial"/>
              </a:rPr>
              <a:t> </a:t>
            </a:r>
            <a:r>
              <a:rPr sz="900" dirty="0">
                <a:solidFill>
                  <a:srgbClr val="3333B2"/>
                </a:solidFill>
                <a:latin typeface="Arial"/>
                <a:cs typeface="Arial"/>
              </a:rPr>
              <a:t>partitioning</a:t>
            </a:r>
            <a:r>
              <a:rPr sz="900" spc="-15" dirty="0">
                <a:solidFill>
                  <a:srgbClr val="3333B2"/>
                </a:solidFill>
                <a:latin typeface="Arial"/>
                <a:cs typeface="Arial"/>
              </a:rPr>
              <a:t> </a:t>
            </a:r>
            <a:r>
              <a:rPr sz="900" dirty="0">
                <a:latin typeface="Arial"/>
                <a:cs typeface="Arial"/>
              </a:rPr>
              <a:t>of</a:t>
            </a:r>
            <a:r>
              <a:rPr sz="900" spc="-15" dirty="0">
                <a:latin typeface="Arial"/>
                <a:cs typeface="Arial"/>
              </a:rPr>
              <a:t> </a:t>
            </a:r>
            <a:r>
              <a:rPr sz="900" dirty="0">
                <a:latin typeface="Arial"/>
                <a:cs typeface="Arial"/>
              </a:rPr>
              <a:t>process</a:t>
            </a:r>
            <a:r>
              <a:rPr sz="900" spc="-10" dirty="0">
                <a:latin typeface="Arial"/>
                <a:cs typeface="Arial"/>
              </a:rPr>
              <a:t> group.</a:t>
            </a:r>
            <a:endParaRPr sz="900">
              <a:latin typeface="Arial"/>
              <a:cs typeface="Arial"/>
            </a:endParaRPr>
          </a:p>
          <a:p>
            <a:pPr>
              <a:lnSpc>
                <a:spcPct val="100000"/>
              </a:lnSpc>
              <a:spcBef>
                <a:spcPts val="30"/>
              </a:spcBef>
            </a:pPr>
            <a:endParaRPr sz="1200">
              <a:latin typeface="Arial"/>
              <a:cs typeface="Arial"/>
            </a:endParaRPr>
          </a:p>
          <a:p>
            <a:pPr marL="15875">
              <a:lnSpc>
                <a:spcPct val="100000"/>
              </a:lnSpc>
            </a:pPr>
            <a:r>
              <a:rPr sz="1000" spc="-10" dirty="0">
                <a:solidFill>
                  <a:srgbClr val="C80000"/>
                </a:solidFill>
                <a:latin typeface="Arial"/>
                <a:cs typeface="Arial"/>
              </a:rPr>
              <a:t>Conclusion</a:t>
            </a:r>
            <a:endParaRPr sz="1000">
              <a:latin typeface="Arial"/>
              <a:cs typeface="Arial"/>
            </a:endParaRPr>
          </a:p>
          <a:p>
            <a:pPr marL="15875" marR="5080">
              <a:lnSpc>
                <a:spcPts val="1210"/>
              </a:lnSpc>
              <a:spcBef>
                <a:spcPts val="35"/>
              </a:spcBef>
            </a:pPr>
            <a:r>
              <a:rPr sz="900" dirty="0">
                <a:latin typeface="Arial"/>
                <a:cs typeface="Arial"/>
              </a:rPr>
              <a:t>In</a:t>
            </a:r>
            <a:r>
              <a:rPr sz="900" spc="-10" dirty="0">
                <a:latin typeface="Arial"/>
                <a:cs typeface="Arial"/>
              </a:rPr>
              <a:t> </a:t>
            </a:r>
            <a:r>
              <a:rPr sz="900" dirty="0">
                <a:latin typeface="Arial"/>
                <a:cs typeface="Arial"/>
              </a:rPr>
              <a:t>a</a:t>
            </a:r>
            <a:r>
              <a:rPr sz="900" spc="-5" dirty="0">
                <a:latin typeface="Arial"/>
                <a:cs typeface="Arial"/>
              </a:rPr>
              <a:t> </a:t>
            </a:r>
            <a:r>
              <a:rPr sz="900" dirty="0">
                <a:latin typeface="Arial"/>
                <a:cs typeface="Arial"/>
              </a:rPr>
              <a:t>network</a:t>
            </a:r>
            <a:r>
              <a:rPr sz="900" spc="-10" dirty="0">
                <a:latin typeface="Arial"/>
                <a:cs typeface="Arial"/>
              </a:rPr>
              <a:t> </a:t>
            </a:r>
            <a:r>
              <a:rPr sz="900" dirty="0">
                <a:latin typeface="Arial"/>
                <a:cs typeface="Arial"/>
              </a:rPr>
              <a:t>subject</a:t>
            </a:r>
            <a:r>
              <a:rPr sz="900" spc="-5" dirty="0">
                <a:latin typeface="Arial"/>
                <a:cs typeface="Arial"/>
              </a:rPr>
              <a:t> </a:t>
            </a:r>
            <a:r>
              <a:rPr sz="900" dirty="0">
                <a:latin typeface="Arial"/>
                <a:cs typeface="Arial"/>
              </a:rPr>
              <a:t>to</a:t>
            </a:r>
            <a:r>
              <a:rPr sz="900" spc="-10" dirty="0">
                <a:latin typeface="Arial"/>
                <a:cs typeface="Arial"/>
              </a:rPr>
              <a:t> communication</a:t>
            </a:r>
            <a:r>
              <a:rPr sz="900" spc="-5" dirty="0">
                <a:latin typeface="Arial"/>
                <a:cs typeface="Arial"/>
              </a:rPr>
              <a:t> </a:t>
            </a:r>
            <a:r>
              <a:rPr sz="900" spc="-10" dirty="0">
                <a:latin typeface="Arial"/>
                <a:cs typeface="Arial"/>
              </a:rPr>
              <a:t>failures, </a:t>
            </a:r>
            <a:r>
              <a:rPr sz="900" dirty="0">
                <a:latin typeface="Arial"/>
                <a:cs typeface="Arial"/>
              </a:rPr>
              <a:t>it</a:t>
            </a:r>
            <a:r>
              <a:rPr sz="900" spc="-5" dirty="0">
                <a:latin typeface="Arial"/>
                <a:cs typeface="Arial"/>
              </a:rPr>
              <a:t> </a:t>
            </a:r>
            <a:r>
              <a:rPr sz="900" dirty="0">
                <a:latin typeface="Arial"/>
                <a:cs typeface="Arial"/>
              </a:rPr>
              <a:t>is</a:t>
            </a:r>
            <a:r>
              <a:rPr sz="900" spc="-10" dirty="0">
                <a:latin typeface="Arial"/>
                <a:cs typeface="Arial"/>
              </a:rPr>
              <a:t> impossible</a:t>
            </a:r>
            <a:r>
              <a:rPr sz="900" spc="-5" dirty="0">
                <a:latin typeface="Arial"/>
                <a:cs typeface="Arial"/>
              </a:rPr>
              <a:t> </a:t>
            </a:r>
            <a:r>
              <a:rPr sz="900" dirty="0">
                <a:latin typeface="Arial"/>
                <a:cs typeface="Arial"/>
              </a:rPr>
              <a:t>to</a:t>
            </a:r>
            <a:r>
              <a:rPr sz="900" spc="-10" dirty="0">
                <a:latin typeface="Arial"/>
                <a:cs typeface="Arial"/>
              </a:rPr>
              <a:t> </a:t>
            </a:r>
            <a:r>
              <a:rPr sz="900" dirty="0">
                <a:latin typeface="Arial"/>
                <a:cs typeface="Arial"/>
              </a:rPr>
              <a:t>realize</a:t>
            </a:r>
            <a:r>
              <a:rPr sz="900" spc="-5" dirty="0">
                <a:latin typeface="Arial"/>
                <a:cs typeface="Arial"/>
              </a:rPr>
              <a:t> </a:t>
            </a:r>
            <a:r>
              <a:rPr sz="900" spc="-25" dirty="0">
                <a:latin typeface="Arial"/>
                <a:cs typeface="Arial"/>
              </a:rPr>
              <a:t>an </a:t>
            </a:r>
            <a:r>
              <a:rPr sz="900" dirty="0">
                <a:latin typeface="Arial"/>
                <a:cs typeface="Arial"/>
              </a:rPr>
              <a:t>atomic</a:t>
            </a:r>
            <a:r>
              <a:rPr sz="900" spc="-30" dirty="0">
                <a:latin typeface="Arial"/>
                <a:cs typeface="Arial"/>
              </a:rPr>
              <a:t> </a:t>
            </a:r>
            <a:r>
              <a:rPr sz="900" dirty="0">
                <a:latin typeface="Arial"/>
                <a:cs typeface="Arial"/>
              </a:rPr>
              <a:t>read/write</a:t>
            </a:r>
            <a:r>
              <a:rPr sz="900" spc="-30" dirty="0">
                <a:latin typeface="Arial"/>
                <a:cs typeface="Arial"/>
              </a:rPr>
              <a:t> </a:t>
            </a:r>
            <a:r>
              <a:rPr sz="900" dirty="0">
                <a:solidFill>
                  <a:srgbClr val="3333B2"/>
                </a:solidFill>
                <a:latin typeface="Arial"/>
                <a:cs typeface="Arial"/>
              </a:rPr>
              <a:t>shared</a:t>
            </a:r>
            <a:r>
              <a:rPr sz="900" spc="-30" dirty="0">
                <a:solidFill>
                  <a:srgbClr val="3333B2"/>
                </a:solidFill>
                <a:latin typeface="Arial"/>
                <a:cs typeface="Arial"/>
              </a:rPr>
              <a:t> </a:t>
            </a:r>
            <a:r>
              <a:rPr sz="900" dirty="0">
                <a:solidFill>
                  <a:srgbClr val="3333B2"/>
                </a:solidFill>
                <a:latin typeface="Arial"/>
                <a:cs typeface="Arial"/>
              </a:rPr>
              <a:t>memory</a:t>
            </a:r>
            <a:r>
              <a:rPr sz="900" spc="-25" dirty="0">
                <a:solidFill>
                  <a:srgbClr val="3333B2"/>
                </a:solidFill>
                <a:latin typeface="Arial"/>
                <a:cs typeface="Arial"/>
              </a:rPr>
              <a:t> </a:t>
            </a:r>
            <a:r>
              <a:rPr sz="900" dirty="0">
                <a:latin typeface="Arial"/>
                <a:cs typeface="Arial"/>
              </a:rPr>
              <a:t>that</a:t>
            </a:r>
            <a:r>
              <a:rPr sz="900" spc="-30" dirty="0">
                <a:latin typeface="Arial"/>
                <a:cs typeface="Arial"/>
              </a:rPr>
              <a:t> </a:t>
            </a:r>
            <a:r>
              <a:rPr sz="900" dirty="0">
                <a:latin typeface="Arial"/>
                <a:cs typeface="Arial"/>
              </a:rPr>
              <a:t>guarantees</a:t>
            </a:r>
            <a:r>
              <a:rPr sz="900" spc="-3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response</a:t>
            </a:r>
            <a:r>
              <a:rPr sz="900" spc="-30" dirty="0">
                <a:latin typeface="Arial"/>
                <a:cs typeface="Arial"/>
              </a:rPr>
              <a:t> </a:t>
            </a:r>
            <a:r>
              <a:rPr sz="900" dirty="0">
                <a:latin typeface="Arial"/>
                <a:cs typeface="Arial"/>
              </a:rPr>
              <a:t>to</a:t>
            </a:r>
            <a:r>
              <a:rPr sz="900" spc="-30" dirty="0">
                <a:latin typeface="Arial"/>
                <a:cs typeface="Arial"/>
              </a:rPr>
              <a:t> </a:t>
            </a:r>
            <a:r>
              <a:rPr sz="900" spc="-10" dirty="0">
                <a:latin typeface="Arial"/>
                <a:cs typeface="Arial"/>
              </a:rPr>
              <a:t>every request.</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124333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Some</a:t>
            </a:r>
            <a:r>
              <a:rPr sz="500" spc="-25" dirty="0">
                <a:latin typeface="Arial"/>
                <a:cs typeface="Arial"/>
                <a:hlinkClick r:id="rId4" action="ppaction://hlinksldjump"/>
              </a:rPr>
              <a:t> </a:t>
            </a:r>
            <a:r>
              <a:rPr sz="500" dirty="0">
                <a:latin typeface="Arial"/>
                <a:cs typeface="Arial"/>
                <a:hlinkClick r:id="rId4" action="ppaction://hlinksldjump"/>
              </a:rPr>
              <a:t>limitations</a:t>
            </a:r>
            <a:r>
              <a:rPr sz="500" spc="-20" dirty="0">
                <a:latin typeface="Arial"/>
                <a:cs typeface="Arial"/>
                <a:hlinkClick r:id="rId4" action="ppaction://hlinksldjump"/>
              </a:rPr>
              <a:t> </a:t>
            </a:r>
            <a:r>
              <a:rPr sz="500" dirty="0">
                <a:latin typeface="Arial"/>
                <a:cs typeface="Arial"/>
                <a:hlinkClick r:id="rId4" action="ppaction://hlinksldjump"/>
              </a:rPr>
              <a:t>on</a:t>
            </a:r>
            <a:r>
              <a:rPr sz="500" spc="-25" dirty="0">
                <a:latin typeface="Arial"/>
                <a:cs typeface="Arial"/>
                <a:hlinkClick r:id="rId4" action="ppaction://hlinksldjump"/>
              </a:rPr>
              <a:t> </a:t>
            </a:r>
            <a:r>
              <a:rPr sz="500" dirty="0">
                <a:latin typeface="Arial"/>
                <a:cs typeface="Arial"/>
                <a:hlinkClick r:id="rId4" action="ppaction://hlinksldjump"/>
              </a:rPr>
              <a:t>realizing</a:t>
            </a:r>
            <a:r>
              <a:rPr sz="500" spc="-20" dirty="0">
                <a:latin typeface="Arial"/>
                <a:cs typeface="Arial"/>
                <a:hlinkClick r:id="rId4" action="ppaction://hlinksldjump"/>
              </a:rPr>
              <a:t> </a:t>
            </a:r>
            <a:r>
              <a:rPr sz="500" dirty="0">
                <a:latin typeface="Arial"/>
                <a:cs typeface="Arial"/>
                <a:hlinkClick r:id="rId4" action="ppaction://hlinksldjump"/>
              </a:rPr>
              <a:t>fault</a:t>
            </a:r>
            <a:r>
              <a:rPr sz="500" spc="-20" dirty="0">
                <a:latin typeface="Arial"/>
                <a:cs typeface="Arial"/>
                <a:hlinkClick r:id="rId4" action="ppaction://hlinksldjump"/>
              </a:rPr>
              <a:t> </a:t>
            </a:r>
            <a:r>
              <a:rPr sz="500" spc="-10" dirty="0">
                <a:latin typeface="Arial"/>
                <a:cs typeface="Arial"/>
                <a:hlinkClick r:id="rId4" action="ppaction://hlinksldjump"/>
              </a:rPr>
              <a:t>tolerance</a:t>
            </a:r>
            <a:endParaRPr sz="500">
              <a:latin typeface="Arial"/>
              <a:cs typeface="Arial"/>
            </a:endParaRPr>
          </a:p>
        </p:txBody>
      </p:sp>
    </p:spTree>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69900" y="197711"/>
            <a:ext cx="3752215" cy="1435100"/>
          </a:xfrm>
          <a:prstGeom prst="rect">
            <a:avLst/>
          </a:prstGeom>
        </p:spPr>
        <p:txBody>
          <a:bodyPr vert="horz" wrap="square" lIns="0" tIns="12065" rIns="0" bIns="0" rtlCol="0">
            <a:spAutoFit/>
          </a:bodyPr>
          <a:lstStyle/>
          <a:p>
            <a:pPr marL="38100">
              <a:lnSpc>
                <a:spcPct val="100000"/>
              </a:lnSpc>
              <a:spcBef>
                <a:spcPts val="95"/>
              </a:spcBef>
            </a:pPr>
            <a:r>
              <a:rPr sz="1200" dirty="0">
                <a:solidFill>
                  <a:srgbClr val="3333B2"/>
                </a:solidFill>
                <a:latin typeface="Arial"/>
                <a:cs typeface="Arial"/>
              </a:rPr>
              <a:t>CAP</a:t>
            </a:r>
            <a:r>
              <a:rPr sz="1200" spc="-40" dirty="0">
                <a:solidFill>
                  <a:srgbClr val="3333B2"/>
                </a:solidFill>
                <a:latin typeface="Arial"/>
                <a:cs typeface="Arial"/>
              </a:rPr>
              <a:t> </a:t>
            </a:r>
            <a:r>
              <a:rPr sz="1200" dirty="0">
                <a:solidFill>
                  <a:srgbClr val="3333B2"/>
                </a:solidFill>
                <a:latin typeface="Arial"/>
                <a:cs typeface="Arial"/>
              </a:rPr>
              <a:t>theorem</a:t>
            </a:r>
            <a:r>
              <a:rPr sz="1200" spc="-40" dirty="0">
                <a:solidFill>
                  <a:srgbClr val="3333B2"/>
                </a:solidFill>
                <a:latin typeface="Arial"/>
                <a:cs typeface="Arial"/>
              </a:rPr>
              <a:t> </a:t>
            </a:r>
            <a:r>
              <a:rPr sz="1200" spc="-10" dirty="0">
                <a:solidFill>
                  <a:srgbClr val="3333B2"/>
                </a:solidFill>
                <a:latin typeface="Arial"/>
                <a:cs typeface="Arial"/>
              </a:rPr>
              <a:t>intuition</a:t>
            </a:r>
            <a:endParaRPr sz="1200">
              <a:latin typeface="Arial"/>
              <a:cs typeface="Arial"/>
            </a:endParaRPr>
          </a:p>
          <a:p>
            <a:pPr marL="289560">
              <a:lnSpc>
                <a:spcPct val="100000"/>
              </a:lnSpc>
              <a:spcBef>
                <a:spcPts val="1055"/>
              </a:spcBef>
            </a:pPr>
            <a:r>
              <a:rPr sz="1000" dirty="0">
                <a:solidFill>
                  <a:srgbClr val="3333B2"/>
                </a:solidFill>
                <a:latin typeface="Arial"/>
                <a:cs typeface="Arial"/>
              </a:rPr>
              <a:t>Simple</a:t>
            </a:r>
            <a:r>
              <a:rPr sz="1000" spc="-45" dirty="0">
                <a:solidFill>
                  <a:srgbClr val="3333B2"/>
                </a:solidFill>
                <a:latin typeface="Arial"/>
                <a:cs typeface="Arial"/>
              </a:rPr>
              <a:t> </a:t>
            </a:r>
            <a:r>
              <a:rPr sz="1000" dirty="0">
                <a:solidFill>
                  <a:srgbClr val="3333B2"/>
                </a:solidFill>
                <a:latin typeface="Arial"/>
                <a:cs typeface="Arial"/>
              </a:rPr>
              <a:t>situation:</a:t>
            </a:r>
            <a:r>
              <a:rPr sz="1000" spc="15" dirty="0">
                <a:solidFill>
                  <a:srgbClr val="3333B2"/>
                </a:solidFill>
                <a:latin typeface="Arial"/>
                <a:cs typeface="Arial"/>
              </a:rPr>
              <a:t> </a:t>
            </a:r>
            <a:r>
              <a:rPr sz="1000" dirty="0">
                <a:solidFill>
                  <a:srgbClr val="3333B2"/>
                </a:solidFill>
                <a:latin typeface="Arial"/>
                <a:cs typeface="Arial"/>
              </a:rPr>
              <a:t>two</a:t>
            </a:r>
            <a:r>
              <a:rPr sz="1000" spc="-40" dirty="0">
                <a:solidFill>
                  <a:srgbClr val="3333B2"/>
                </a:solidFill>
                <a:latin typeface="Arial"/>
                <a:cs typeface="Arial"/>
              </a:rPr>
              <a:t> </a:t>
            </a:r>
            <a:r>
              <a:rPr sz="1000" dirty="0">
                <a:solidFill>
                  <a:srgbClr val="3333B2"/>
                </a:solidFill>
                <a:latin typeface="Arial"/>
                <a:cs typeface="Arial"/>
              </a:rPr>
              <a:t>interacting</a:t>
            </a:r>
            <a:r>
              <a:rPr sz="1000" spc="-40" dirty="0">
                <a:solidFill>
                  <a:srgbClr val="3333B2"/>
                </a:solidFill>
                <a:latin typeface="Arial"/>
                <a:cs typeface="Arial"/>
              </a:rPr>
              <a:t> </a:t>
            </a:r>
            <a:r>
              <a:rPr sz="1000" spc="-10" dirty="0">
                <a:solidFill>
                  <a:srgbClr val="3333B2"/>
                </a:solidFill>
                <a:latin typeface="Arial"/>
                <a:cs typeface="Arial"/>
              </a:rPr>
              <a:t>processes</a:t>
            </a:r>
            <a:endParaRPr sz="1000">
              <a:latin typeface="Arial"/>
              <a:cs typeface="Arial"/>
            </a:endParaRPr>
          </a:p>
          <a:p>
            <a:pPr marL="542925" indent="-120650">
              <a:lnSpc>
                <a:spcPct val="100000"/>
              </a:lnSpc>
              <a:spcBef>
                <a:spcPts val="710"/>
              </a:spcBef>
              <a:buClr>
                <a:srgbClr val="3333B2"/>
              </a:buClr>
              <a:buFont typeface="Menlo"/>
              <a:buChar char="•"/>
              <a:tabLst>
                <a:tab pos="543560" algn="l"/>
              </a:tabLst>
            </a:pPr>
            <a:r>
              <a:rPr sz="900" i="1" dirty="0">
                <a:latin typeface="Arial"/>
                <a:cs typeface="Arial"/>
              </a:rPr>
              <a:t>P</a:t>
            </a:r>
            <a:r>
              <a:rPr sz="900" i="1" spc="40" dirty="0">
                <a:latin typeface="Arial"/>
                <a:cs typeface="Arial"/>
              </a:rPr>
              <a:t> </a:t>
            </a:r>
            <a:r>
              <a:rPr sz="900" dirty="0">
                <a:latin typeface="Arial"/>
                <a:cs typeface="Arial"/>
              </a:rPr>
              <a:t>and</a:t>
            </a:r>
            <a:r>
              <a:rPr sz="900" spc="-15" dirty="0">
                <a:latin typeface="Arial"/>
                <a:cs typeface="Arial"/>
              </a:rPr>
              <a:t> </a:t>
            </a:r>
            <a:r>
              <a:rPr sz="900" i="1" dirty="0">
                <a:latin typeface="Arial"/>
                <a:cs typeface="Arial"/>
              </a:rPr>
              <a:t>Q</a:t>
            </a:r>
            <a:r>
              <a:rPr sz="900" i="1" spc="25" dirty="0">
                <a:latin typeface="Arial"/>
                <a:cs typeface="Arial"/>
              </a:rPr>
              <a:t> </a:t>
            </a:r>
            <a:r>
              <a:rPr sz="900" dirty="0">
                <a:latin typeface="Arial"/>
                <a:cs typeface="Arial"/>
              </a:rPr>
              <a:t>can</a:t>
            </a:r>
            <a:r>
              <a:rPr sz="900" spc="-15" dirty="0">
                <a:latin typeface="Arial"/>
                <a:cs typeface="Arial"/>
              </a:rPr>
              <a:t> </a:t>
            </a:r>
            <a:r>
              <a:rPr sz="900" dirty="0">
                <a:latin typeface="Arial"/>
                <a:cs typeface="Arial"/>
              </a:rPr>
              <a:t>no</a:t>
            </a:r>
            <a:r>
              <a:rPr sz="900" spc="-20" dirty="0">
                <a:latin typeface="Arial"/>
                <a:cs typeface="Arial"/>
              </a:rPr>
              <a:t> </a:t>
            </a:r>
            <a:r>
              <a:rPr sz="900" dirty="0">
                <a:latin typeface="Arial"/>
                <a:cs typeface="Arial"/>
              </a:rPr>
              <a:t>longer</a:t>
            </a:r>
            <a:r>
              <a:rPr sz="900" spc="-15" dirty="0">
                <a:latin typeface="Arial"/>
                <a:cs typeface="Arial"/>
              </a:rPr>
              <a:t> </a:t>
            </a:r>
            <a:r>
              <a:rPr sz="900" spc="-10" dirty="0">
                <a:latin typeface="Arial"/>
                <a:cs typeface="Arial"/>
              </a:rPr>
              <a:t>communicate:</a:t>
            </a:r>
            <a:endParaRPr sz="900">
              <a:latin typeface="Arial"/>
              <a:cs typeface="Arial"/>
            </a:endParaRPr>
          </a:p>
          <a:p>
            <a:pPr marL="791845" lvl="1" indent="-116839">
              <a:lnSpc>
                <a:spcPct val="100000"/>
              </a:lnSpc>
              <a:spcBef>
                <a:spcPts val="525"/>
              </a:spcBef>
              <a:buClr>
                <a:srgbClr val="3333B2"/>
              </a:buClr>
              <a:buFont typeface="Menlo"/>
              <a:buChar char="•"/>
              <a:tabLst>
                <a:tab pos="792480" algn="l"/>
              </a:tabLst>
            </a:pPr>
            <a:r>
              <a:rPr sz="900" dirty="0">
                <a:latin typeface="Arial"/>
                <a:cs typeface="Arial"/>
              </a:rPr>
              <a:t>Allow</a:t>
            </a:r>
            <a:r>
              <a:rPr sz="900" spc="-30" dirty="0">
                <a:latin typeface="Arial"/>
                <a:cs typeface="Arial"/>
              </a:rPr>
              <a:t> </a:t>
            </a:r>
            <a:r>
              <a:rPr sz="900" i="1" dirty="0">
                <a:latin typeface="Arial"/>
                <a:cs typeface="Arial"/>
              </a:rPr>
              <a:t>P</a:t>
            </a:r>
            <a:r>
              <a:rPr sz="900" i="1" spc="45" dirty="0">
                <a:latin typeface="Arial"/>
                <a:cs typeface="Arial"/>
              </a:rPr>
              <a:t> </a:t>
            </a:r>
            <a:r>
              <a:rPr sz="900" dirty="0">
                <a:latin typeface="Arial"/>
                <a:cs typeface="Arial"/>
              </a:rPr>
              <a:t>and</a:t>
            </a:r>
            <a:r>
              <a:rPr sz="900" spc="-20" dirty="0">
                <a:latin typeface="Arial"/>
                <a:cs typeface="Arial"/>
              </a:rPr>
              <a:t> </a:t>
            </a:r>
            <a:r>
              <a:rPr sz="900" i="1" dirty="0">
                <a:latin typeface="Arial"/>
                <a:cs typeface="Arial"/>
              </a:rPr>
              <a:t>Q</a:t>
            </a:r>
            <a:r>
              <a:rPr sz="900" i="1" spc="25" dirty="0">
                <a:latin typeface="Arial"/>
                <a:cs typeface="Arial"/>
              </a:rPr>
              <a:t> </a:t>
            </a:r>
            <a:r>
              <a:rPr sz="900" dirty="0">
                <a:latin typeface="Arial"/>
                <a:cs typeface="Arial"/>
              </a:rPr>
              <a:t>to</a:t>
            </a:r>
            <a:r>
              <a:rPr sz="900" spc="-15" dirty="0">
                <a:latin typeface="Arial"/>
                <a:cs typeface="Arial"/>
              </a:rPr>
              <a:t> </a:t>
            </a:r>
            <a:r>
              <a:rPr sz="900" dirty="0">
                <a:latin typeface="Arial"/>
                <a:cs typeface="Arial"/>
              </a:rPr>
              <a:t>go</a:t>
            </a:r>
            <a:r>
              <a:rPr sz="900" spc="-20" dirty="0">
                <a:latin typeface="Arial"/>
                <a:cs typeface="Arial"/>
              </a:rPr>
              <a:t> </a:t>
            </a:r>
            <a:r>
              <a:rPr sz="900" dirty="0">
                <a:latin typeface="Arial"/>
                <a:cs typeface="Arial"/>
              </a:rPr>
              <a:t>ahead</a:t>
            </a:r>
            <a:r>
              <a:rPr sz="900" spc="-15" dirty="0">
                <a:latin typeface="Arial"/>
                <a:cs typeface="Arial"/>
              </a:rPr>
              <a:t> </a:t>
            </a:r>
            <a:r>
              <a:rPr sz="900" i="1" spc="350" dirty="0">
                <a:latin typeface="Menlo"/>
                <a:cs typeface="Menlo"/>
              </a:rPr>
              <a:t>⇒</a:t>
            </a:r>
            <a:r>
              <a:rPr sz="900" i="1" spc="-295" dirty="0">
                <a:latin typeface="Menlo"/>
                <a:cs typeface="Menlo"/>
              </a:rPr>
              <a:t> </a:t>
            </a:r>
            <a:r>
              <a:rPr sz="900" dirty="0">
                <a:latin typeface="Arial"/>
                <a:cs typeface="Arial"/>
              </a:rPr>
              <a:t>no</a:t>
            </a:r>
            <a:r>
              <a:rPr sz="900" spc="-15" dirty="0">
                <a:latin typeface="Arial"/>
                <a:cs typeface="Arial"/>
              </a:rPr>
              <a:t> </a:t>
            </a:r>
            <a:r>
              <a:rPr sz="900" spc="-10" dirty="0">
                <a:latin typeface="Arial"/>
                <a:cs typeface="Arial"/>
              </a:rPr>
              <a:t>consistency</a:t>
            </a:r>
            <a:endParaRPr sz="900">
              <a:latin typeface="Arial"/>
              <a:cs typeface="Arial"/>
            </a:endParaRPr>
          </a:p>
          <a:p>
            <a:pPr marL="791845" lvl="1" indent="-116839">
              <a:lnSpc>
                <a:spcPct val="100000"/>
              </a:lnSpc>
              <a:spcBef>
                <a:spcPts val="125"/>
              </a:spcBef>
              <a:buClr>
                <a:srgbClr val="3333B2"/>
              </a:buClr>
              <a:buFont typeface="Menlo"/>
              <a:buChar char="•"/>
              <a:tabLst>
                <a:tab pos="792480" algn="l"/>
              </a:tabLst>
            </a:pPr>
            <a:r>
              <a:rPr sz="900" dirty="0">
                <a:latin typeface="Arial"/>
                <a:cs typeface="Arial"/>
              </a:rPr>
              <a:t>Allow</a:t>
            </a:r>
            <a:r>
              <a:rPr sz="900" spc="-20" dirty="0">
                <a:latin typeface="Arial"/>
                <a:cs typeface="Arial"/>
              </a:rPr>
              <a:t> </a:t>
            </a:r>
            <a:r>
              <a:rPr sz="900" dirty="0">
                <a:latin typeface="Arial"/>
                <a:cs typeface="Arial"/>
              </a:rPr>
              <a:t>only</a:t>
            </a:r>
            <a:r>
              <a:rPr sz="900" spc="-15" dirty="0">
                <a:latin typeface="Arial"/>
                <a:cs typeface="Arial"/>
              </a:rPr>
              <a:t> </a:t>
            </a:r>
            <a:r>
              <a:rPr sz="900" dirty="0">
                <a:latin typeface="Arial"/>
                <a:cs typeface="Arial"/>
              </a:rPr>
              <a:t>one</a:t>
            </a:r>
            <a:r>
              <a:rPr sz="900" spc="-10" dirty="0">
                <a:latin typeface="Arial"/>
                <a:cs typeface="Arial"/>
              </a:rPr>
              <a:t> </a:t>
            </a:r>
            <a:r>
              <a:rPr sz="900" dirty="0">
                <a:latin typeface="Arial"/>
                <a:cs typeface="Arial"/>
              </a:rPr>
              <a:t>of</a:t>
            </a:r>
            <a:r>
              <a:rPr sz="900" spc="-15" dirty="0">
                <a:latin typeface="Arial"/>
                <a:cs typeface="Arial"/>
              </a:rPr>
              <a:t> </a:t>
            </a:r>
            <a:r>
              <a:rPr sz="900" i="1" dirty="0">
                <a:latin typeface="Arial"/>
                <a:cs typeface="Arial"/>
              </a:rPr>
              <a:t>P</a:t>
            </a:r>
            <a:r>
              <a:rPr sz="900" dirty="0">
                <a:latin typeface="Arial"/>
                <a:cs typeface="Arial"/>
              </a:rPr>
              <a:t>,</a:t>
            </a:r>
            <a:r>
              <a:rPr sz="900" spc="-10" dirty="0">
                <a:latin typeface="Arial"/>
                <a:cs typeface="Arial"/>
              </a:rPr>
              <a:t> </a:t>
            </a:r>
            <a:r>
              <a:rPr sz="900" i="1" dirty="0">
                <a:latin typeface="Arial"/>
                <a:cs typeface="Arial"/>
              </a:rPr>
              <a:t>Q</a:t>
            </a:r>
            <a:r>
              <a:rPr sz="900" i="1" spc="30" dirty="0">
                <a:latin typeface="Arial"/>
                <a:cs typeface="Arial"/>
              </a:rPr>
              <a:t> </a:t>
            </a:r>
            <a:r>
              <a:rPr sz="900" dirty="0">
                <a:latin typeface="Arial"/>
                <a:cs typeface="Arial"/>
              </a:rPr>
              <a:t>to</a:t>
            </a:r>
            <a:r>
              <a:rPr sz="900" spc="-10" dirty="0">
                <a:latin typeface="Arial"/>
                <a:cs typeface="Arial"/>
              </a:rPr>
              <a:t> </a:t>
            </a:r>
            <a:r>
              <a:rPr sz="900" dirty="0">
                <a:latin typeface="Arial"/>
                <a:cs typeface="Arial"/>
              </a:rPr>
              <a:t>go</a:t>
            </a:r>
            <a:r>
              <a:rPr sz="900" spc="-15" dirty="0">
                <a:latin typeface="Arial"/>
                <a:cs typeface="Arial"/>
              </a:rPr>
              <a:t> </a:t>
            </a:r>
            <a:r>
              <a:rPr sz="900" dirty="0">
                <a:latin typeface="Arial"/>
                <a:cs typeface="Arial"/>
              </a:rPr>
              <a:t>ahead</a:t>
            </a:r>
            <a:r>
              <a:rPr sz="900" spc="-10" dirty="0">
                <a:latin typeface="Arial"/>
                <a:cs typeface="Arial"/>
              </a:rPr>
              <a:t> </a:t>
            </a:r>
            <a:r>
              <a:rPr sz="900" i="1" spc="350" dirty="0">
                <a:latin typeface="Menlo"/>
                <a:cs typeface="Menlo"/>
              </a:rPr>
              <a:t>⇒</a:t>
            </a:r>
            <a:r>
              <a:rPr sz="900" i="1" spc="-295" dirty="0">
                <a:latin typeface="Menlo"/>
                <a:cs typeface="Menlo"/>
              </a:rPr>
              <a:t> </a:t>
            </a:r>
            <a:r>
              <a:rPr sz="900" dirty="0">
                <a:latin typeface="Arial"/>
                <a:cs typeface="Arial"/>
              </a:rPr>
              <a:t>no</a:t>
            </a:r>
            <a:r>
              <a:rPr sz="900" spc="-15" dirty="0">
                <a:latin typeface="Arial"/>
                <a:cs typeface="Arial"/>
              </a:rPr>
              <a:t> </a:t>
            </a:r>
            <a:r>
              <a:rPr sz="900" spc="-10" dirty="0">
                <a:latin typeface="Arial"/>
                <a:cs typeface="Arial"/>
              </a:rPr>
              <a:t>availability</a:t>
            </a:r>
            <a:endParaRPr sz="900">
              <a:latin typeface="Arial"/>
              <a:cs typeface="Arial"/>
            </a:endParaRPr>
          </a:p>
          <a:p>
            <a:pPr marL="542925" marR="30480" indent="-120650">
              <a:lnSpc>
                <a:spcPct val="111600"/>
              </a:lnSpc>
              <a:spcBef>
                <a:spcPts val="400"/>
              </a:spcBef>
              <a:buClr>
                <a:srgbClr val="3333B2"/>
              </a:buClr>
              <a:buFont typeface="Menlo"/>
              <a:buChar char="•"/>
              <a:tabLst>
                <a:tab pos="543560" algn="l"/>
              </a:tabLst>
            </a:pPr>
            <a:r>
              <a:rPr sz="900" i="1" dirty="0">
                <a:latin typeface="Arial"/>
                <a:cs typeface="Arial"/>
              </a:rPr>
              <a:t>P</a:t>
            </a:r>
            <a:r>
              <a:rPr sz="900" i="1" spc="40" dirty="0">
                <a:latin typeface="Arial"/>
                <a:cs typeface="Arial"/>
              </a:rPr>
              <a:t> </a:t>
            </a:r>
            <a:r>
              <a:rPr sz="900" dirty="0">
                <a:latin typeface="Arial"/>
                <a:cs typeface="Arial"/>
              </a:rPr>
              <a:t>and</a:t>
            </a:r>
            <a:r>
              <a:rPr sz="900" spc="-15" dirty="0">
                <a:latin typeface="Arial"/>
                <a:cs typeface="Arial"/>
              </a:rPr>
              <a:t> </a:t>
            </a:r>
            <a:r>
              <a:rPr sz="900" i="1" dirty="0">
                <a:latin typeface="Arial"/>
                <a:cs typeface="Arial"/>
              </a:rPr>
              <a:t>Q</a:t>
            </a:r>
            <a:r>
              <a:rPr sz="900" i="1" spc="30" dirty="0">
                <a:latin typeface="Arial"/>
                <a:cs typeface="Arial"/>
              </a:rPr>
              <a:t> </a:t>
            </a:r>
            <a:r>
              <a:rPr sz="900" spc="-10" dirty="0">
                <a:latin typeface="Arial"/>
                <a:cs typeface="Arial"/>
              </a:rPr>
              <a:t>have</a:t>
            </a:r>
            <a:r>
              <a:rPr sz="900" spc="-15" dirty="0">
                <a:latin typeface="Arial"/>
                <a:cs typeface="Arial"/>
              </a:rPr>
              <a:t> </a:t>
            </a:r>
            <a:r>
              <a:rPr sz="900" dirty="0">
                <a:latin typeface="Arial"/>
                <a:cs typeface="Arial"/>
              </a:rPr>
              <a:t>to</a:t>
            </a:r>
            <a:r>
              <a:rPr sz="900" spc="-10" dirty="0">
                <a:latin typeface="Arial"/>
                <a:cs typeface="Arial"/>
              </a:rPr>
              <a:t> </a:t>
            </a:r>
            <a:r>
              <a:rPr sz="900" dirty="0">
                <a:latin typeface="Arial"/>
                <a:cs typeface="Arial"/>
              </a:rPr>
              <a:t>be</a:t>
            </a:r>
            <a:r>
              <a:rPr sz="900" spc="-15" dirty="0">
                <a:latin typeface="Arial"/>
                <a:cs typeface="Arial"/>
              </a:rPr>
              <a:t> </a:t>
            </a:r>
            <a:r>
              <a:rPr sz="900" dirty="0">
                <a:latin typeface="Arial"/>
                <a:cs typeface="Arial"/>
              </a:rPr>
              <a:t>assumed</a:t>
            </a:r>
            <a:r>
              <a:rPr sz="900" spc="-15" dirty="0">
                <a:latin typeface="Arial"/>
                <a:cs typeface="Arial"/>
              </a:rPr>
              <a:t> </a:t>
            </a:r>
            <a:r>
              <a:rPr sz="900" dirty="0">
                <a:latin typeface="Arial"/>
                <a:cs typeface="Arial"/>
              </a:rPr>
              <a:t>to</a:t>
            </a:r>
            <a:r>
              <a:rPr sz="900" spc="-10" dirty="0">
                <a:latin typeface="Arial"/>
                <a:cs typeface="Arial"/>
              </a:rPr>
              <a:t> </a:t>
            </a:r>
            <a:r>
              <a:rPr sz="900" dirty="0">
                <a:latin typeface="Arial"/>
                <a:cs typeface="Arial"/>
              </a:rPr>
              <a:t>continue</a:t>
            </a:r>
            <a:r>
              <a:rPr sz="900" spc="-15" dirty="0">
                <a:latin typeface="Arial"/>
                <a:cs typeface="Arial"/>
              </a:rPr>
              <a:t> </a:t>
            </a:r>
            <a:r>
              <a:rPr sz="900" spc="-10" dirty="0">
                <a:latin typeface="Arial"/>
                <a:cs typeface="Arial"/>
              </a:rPr>
              <a:t>communication</a:t>
            </a:r>
            <a:r>
              <a:rPr sz="900" spc="-15" dirty="0">
                <a:latin typeface="Arial"/>
                <a:cs typeface="Arial"/>
              </a:rPr>
              <a:t> </a:t>
            </a:r>
            <a:r>
              <a:rPr sz="900" i="1" spc="350" dirty="0">
                <a:latin typeface="Menlo"/>
                <a:cs typeface="Menlo"/>
              </a:rPr>
              <a:t>⇒</a:t>
            </a:r>
            <a:r>
              <a:rPr sz="900" i="1" spc="-295" dirty="0">
                <a:latin typeface="Menlo"/>
                <a:cs typeface="Menlo"/>
              </a:rPr>
              <a:t> </a:t>
            </a:r>
            <a:r>
              <a:rPr sz="900" spc="-25" dirty="0">
                <a:latin typeface="Arial"/>
                <a:cs typeface="Arial"/>
              </a:rPr>
              <a:t>no </a:t>
            </a:r>
            <a:r>
              <a:rPr sz="900" dirty="0">
                <a:latin typeface="Arial"/>
                <a:cs typeface="Arial"/>
              </a:rPr>
              <a:t>partitioning</a:t>
            </a:r>
            <a:r>
              <a:rPr sz="900" spc="-15" dirty="0">
                <a:latin typeface="Arial"/>
                <a:cs typeface="Arial"/>
              </a:rPr>
              <a:t> </a:t>
            </a:r>
            <a:r>
              <a:rPr sz="900" spc="-10" dirty="0">
                <a:latin typeface="Arial"/>
                <a:cs typeface="Arial"/>
              </a:rPr>
              <a:t>allowed.</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124333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Some</a:t>
            </a:r>
            <a:r>
              <a:rPr sz="500" spc="-25" dirty="0">
                <a:latin typeface="Arial"/>
                <a:cs typeface="Arial"/>
                <a:hlinkClick r:id="rId4" action="ppaction://hlinksldjump"/>
              </a:rPr>
              <a:t> </a:t>
            </a:r>
            <a:r>
              <a:rPr sz="500" dirty="0">
                <a:latin typeface="Arial"/>
                <a:cs typeface="Arial"/>
                <a:hlinkClick r:id="rId4" action="ppaction://hlinksldjump"/>
              </a:rPr>
              <a:t>limitations</a:t>
            </a:r>
            <a:r>
              <a:rPr sz="500" spc="-20" dirty="0">
                <a:latin typeface="Arial"/>
                <a:cs typeface="Arial"/>
                <a:hlinkClick r:id="rId4" action="ppaction://hlinksldjump"/>
              </a:rPr>
              <a:t> </a:t>
            </a:r>
            <a:r>
              <a:rPr sz="500" dirty="0">
                <a:latin typeface="Arial"/>
                <a:cs typeface="Arial"/>
                <a:hlinkClick r:id="rId4" action="ppaction://hlinksldjump"/>
              </a:rPr>
              <a:t>on</a:t>
            </a:r>
            <a:r>
              <a:rPr sz="500" spc="-25" dirty="0">
                <a:latin typeface="Arial"/>
                <a:cs typeface="Arial"/>
                <a:hlinkClick r:id="rId4" action="ppaction://hlinksldjump"/>
              </a:rPr>
              <a:t> </a:t>
            </a:r>
            <a:r>
              <a:rPr sz="500" dirty="0">
                <a:latin typeface="Arial"/>
                <a:cs typeface="Arial"/>
                <a:hlinkClick r:id="rId4" action="ppaction://hlinksldjump"/>
              </a:rPr>
              <a:t>realizing</a:t>
            </a:r>
            <a:r>
              <a:rPr sz="500" spc="-20" dirty="0">
                <a:latin typeface="Arial"/>
                <a:cs typeface="Arial"/>
                <a:hlinkClick r:id="rId4" action="ppaction://hlinksldjump"/>
              </a:rPr>
              <a:t> </a:t>
            </a:r>
            <a:r>
              <a:rPr sz="500" dirty="0">
                <a:latin typeface="Arial"/>
                <a:cs typeface="Arial"/>
                <a:hlinkClick r:id="rId4" action="ppaction://hlinksldjump"/>
              </a:rPr>
              <a:t>fault</a:t>
            </a:r>
            <a:r>
              <a:rPr sz="500" spc="-20" dirty="0">
                <a:latin typeface="Arial"/>
                <a:cs typeface="Arial"/>
                <a:hlinkClick r:id="rId4" action="ppaction://hlinksldjump"/>
              </a:rPr>
              <a:t> </a:t>
            </a:r>
            <a:r>
              <a:rPr sz="500" spc="-10" dirty="0">
                <a:latin typeface="Arial"/>
                <a:cs typeface="Arial"/>
                <a:hlinkClick r:id="rId4" action="ppaction://hlinksldjump"/>
              </a:rPr>
              <a:t>tolerance</a:t>
            </a:r>
            <a:endParaRPr sz="500">
              <a:latin typeface="Arial"/>
              <a:cs typeface="Arial"/>
            </a:endParaRPr>
          </a:p>
        </p:txBody>
      </p:sp>
    </p:spTree>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57200" y="197711"/>
            <a:ext cx="3777615" cy="1941830"/>
          </a:xfrm>
          <a:prstGeom prst="rect">
            <a:avLst/>
          </a:prstGeom>
        </p:spPr>
        <p:txBody>
          <a:bodyPr vert="horz" wrap="square" lIns="0" tIns="12065" rIns="0" bIns="0" rtlCol="0">
            <a:spAutoFit/>
          </a:bodyPr>
          <a:lstStyle/>
          <a:p>
            <a:pPr marL="50800">
              <a:lnSpc>
                <a:spcPct val="100000"/>
              </a:lnSpc>
              <a:spcBef>
                <a:spcPts val="95"/>
              </a:spcBef>
            </a:pPr>
            <a:r>
              <a:rPr sz="1200" dirty="0">
                <a:solidFill>
                  <a:srgbClr val="3333B2"/>
                </a:solidFill>
                <a:latin typeface="Arial"/>
                <a:cs typeface="Arial"/>
              </a:rPr>
              <a:t>CAP</a:t>
            </a:r>
            <a:r>
              <a:rPr sz="1200" spc="-40" dirty="0">
                <a:solidFill>
                  <a:srgbClr val="3333B2"/>
                </a:solidFill>
                <a:latin typeface="Arial"/>
                <a:cs typeface="Arial"/>
              </a:rPr>
              <a:t> </a:t>
            </a:r>
            <a:r>
              <a:rPr sz="1200" dirty="0">
                <a:solidFill>
                  <a:srgbClr val="3333B2"/>
                </a:solidFill>
                <a:latin typeface="Arial"/>
                <a:cs typeface="Arial"/>
              </a:rPr>
              <a:t>theorem</a:t>
            </a:r>
            <a:r>
              <a:rPr sz="1200" spc="-40" dirty="0">
                <a:solidFill>
                  <a:srgbClr val="3333B2"/>
                </a:solidFill>
                <a:latin typeface="Arial"/>
                <a:cs typeface="Arial"/>
              </a:rPr>
              <a:t> </a:t>
            </a:r>
            <a:r>
              <a:rPr sz="1200" spc="-10" dirty="0">
                <a:solidFill>
                  <a:srgbClr val="3333B2"/>
                </a:solidFill>
                <a:latin typeface="Arial"/>
                <a:cs typeface="Arial"/>
              </a:rPr>
              <a:t>intuition</a:t>
            </a:r>
            <a:endParaRPr sz="1200">
              <a:latin typeface="Arial"/>
              <a:cs typeface="Arial"/>
            </a:endParaRPr>
          </a:p>
          <a:p>
            <a:pPr marL="302260">
              <a:lnSpc>
                <a:spcPct val="100000"/>
              </a:lnSpc>
              <a:spcBef>
                <a:spcPts val="1055"/>
              </a:spcBef>
            </a:pPr>
            <a:r>
              <a:rPr sz="1000" dirty="0">
                <a:solidFill>
                  <a:srgbClr val="3333B2"/>
                </a:solidFill>
                <a:latin typeface="Arial"/>
                <a:cs typeface="Arial"/>
              </a:rPr>
              <a:t>Simple</a:t>
            </a:r>
            <a:r>
              <a:rPr sz="1000" spc="-45" dirty="0">
                <a:solidFill>
                  <a:srgbClr val="3333B2"/>
                </a:solidFill>
                <a:latin typeface="Arial"/>
                <a:cs typeface="Arial"/>
              </a:rPr>
              <a:t> </a:t>
            </a:r>
            <a:r>
              <a:rPr sz="1000" dirty="0">
                <a:solidFill>
                  <a:srgbClr val="3333B2"/>
                </a:solidFill>
                <a:latin typeface="Arial"/>
                <a:cs typeface="Arial"/>
              </a:rPr>
              <a:t>situation:</a:t>
            </a:r>
            <a:r>
              <a:rPr sz="1000" spc="15" dirty="0">
                <a:solidFill>
                  <a:srgbClr val="3333B2"/>
                </a:solidFill>
                <a:latin typeface="Arial"/>
                <a:cs typeface="Arial"/>
              </a:rPr>
              <a:t> </a:t>
            </a:r>
            <a:r>
              <a:rPr sz="1000" dirty="0">
                <a:solidFill>
                  <a:srgbClr val="3333B2"/>
                </a:solidFill>
                <a:latin typeface="Arial"/>
                <a:cs typeface="Arial"/>
              </a:rPr>
              <a:t>two</a:t>
            </a:r>
            <a:r>
              <a:rPr sz="1000" spc="-40" dirty="0">
                <a:solidFill>
                  <a:srgbClr val="3333B2"/>
                </a:solidFill>
                <a:latin typeface="Arial"/>
                <a:cs typeface="Arial"/>
              </a:rPr>
              <a:t> </a:t>
            </a:r>
            <a:r>
              <a:rPr sz="1000" dirty="0">
                <a:solidFill>
                  <a:srgbClr val="3333B2"/>
                </a:solidFill>
                <a:latin typeface="Arial"/>
                <a:cs typeface="Arial"/>
              </a:rPr>
              <a:t>interacting</a:t>
            </a:r>
            <a:r>
              <a:rPr sz="1000" spc="-40" dirty="0">
                <a:solidFill>
                  <a:srgbClr val="3333B2"/>
                </a:solidFill>
                <a:latin typeface="Arial"/>
                <a:cs typeface="Arial"/>
              </a:rPr>
              <a:t> </a:t>
            </a:r>
            <a:r>
              <a:rPr sz="1000" spc="-10" dirty="0">
                <a:solidFill>
                  <a:srgbClr val="3333B2"/>
                </a:solidFill>
                <a:latin typeface="Arial"/>
                <a:cs typeface="Arial"/>
              </a:rPr>
              <a:t>processes</a:t>
            </a:r>
            <a:endParaRPr sz="1000">
              <a:latin typeface="Arial"/>
              <a:cs typeface="Arial"/>
            </a:endParaRPr>
          </a:p>
          <a:p>
            <a:pPr marL="555625" indent="-120650">
              <a:lnSpc>
                <a:spcPct val="100000"/>
              </a:lnSpc>
              <a:spcBef>
                <a:spcPts val="710"/>
              </a:spcBef>
              <a:buClr>
                <a:srgbClr val="3333B2"/>
              </a:buClr>
              <a:buFont typeface="Menlo"/>
              <a:buChar char="•"/>
              <a:tabLst>
                <a:tab pos="556260" algn="l"/>
              </a:tabLst>
            </a:pPr>
            <a:r>
              <a:rPr sz="900" i="1" dirty="0">
                <a:latin typeface="Arial"/>
                <a:cs typeface="Arial"/>
              </a:rPr>
              <a:t>P</a:t>
            </a:r>
            <a:r>
              <a:rPr sz="900" i="1" spc="40" dirty="0">
                <a:latin typeface="Arial"/>
                <a:cs typeface="Arial"/>
              </a:rPr>
              <a:t> </a:t>
            </a:r>
            <a:r>
              <a:rPr sz="900" dirty="0">
                <a:latin typeface="Arial"/>
                <a:cs typeface="Arial"/>
              </a:rPr>
              <a:t>and</a:t>
            </a:r>
            <a:r>
              <a:rPr sz="900" spc="-15" dirty="0">
                <a:latin typeface="Arial"/>
                <a:cs typeface="Arial"/>
              </a:rPr>
              <a:t> </a:t>
            </a:r>
            <a:r>
              <a:rPr sz="900" i="1" dirty="0">
                <a:latin typeface="Arial"/>
                <a:cs typeface="Arial"/>
              </a:rPr>
              <a:t>Q</a:t>
            </a:r>
            <a:r>
              <a:rPr sz="900" i="1" spc="25" dirty="0">
                <a:latin typeface="Arial"/>
                <a:cs typeface="Arial"/>
              </a:rPr>
              <a:t> </a:t>
            </a:r>
            <a:r>
              <a:rPr sz="900" dirty="0">
                <a:latin typeface="Arial"/>
                <a:cs typeface="Arial"/>
              </a:rPr>
              <a:t>can</a:t>
            </a:r>
            <a:r>
              <a:rPr sz="900" spc="-15" dirty="0">
                <a:latin typeface="Arial"/>
                <a:cs typeface="Arial"/>
              </a:rPr>
              <a:t> </a:t>
            </a:r>
            <a:r>
              <a:rPr sz="900" dirty="0">
                <a:latin typeface="Arial"/>
                <a:cs typeface="Arial"/>
              </a:rPr>
              <a:t>no</a:t>
            </a:r>
            <a:r>
              <a:rPr sz="900" spc="-20" dirty="0">
                <a:latin typeface="Arial"/>
                <a:cs typeface="Arial"/>
              </a:rPr>
              <a:t> </a:t>
            </a:r>
            <a:r>
              <a:rPr sz="900" dirty="0">
                <a:latin typeface="Arial"/>
                <a:cs typeface="Arial"/>
              </a:rPr>
              <a:t>longer</a:t>
            </a:r>
            <a:r>
              <a:rPr sz="900" spc="-15" dirty="0">
                <a:latin typeface="Arial"/>
                <a:cs typeface="Arial"/>
              </a:rPr>
              <a:t> </a:t>
            </a:r>
            <a:r>
              <a:rPr sz="900" spc="-10" dirty="0">
                <a:latin typeface="Arial"/>
                <a:cs typeface="Arial"/>
              </a:rPr>
              <a:t>communicate:</a:t>
            </a:r>
            <a:endParaRPr sz="900">
              <a:latin typeface="Arial"/>
              <a:cs typeface="Arial"/>
            </a:endParaRPr>
          </a:p>
          <a:p>
            <a:pPr marL="804545" lvl="1" indent="-116839">
              <a:lnSpc>
                <a:spcPct val="100000"/>
              </a:lnSpc>
              <a:spcBef>
                <a:spcPts val="525"/>
              </a:spcBef>
              <a:buClr>
                <a:srgbClr val="3333B2"/>
              </a:buClr>
              <a:buFont typeface="Menlo"/>
              <a:buChar char="•"/>
              <a:tabLst>
                <a:tab pos="805180" algn="l"/>
              </a:tabLst>
            </a:pPr>
            <a:r>
              <a:rPr sz="900" dirty="0">
                <a:latin typeface="Arial"/>
                <a:cs typeface="Arial"/>
              </a:rPr>
              <a:t>Allow</a:t>
            </a:r>
            <a:r>
              <a:rPr sz="900" spc="-30" dirty="0">
                <a:latin typeface="Arial"/>
                <a:cs typeface="Arial"/>
              </a:rPr>
              <a:t> </a:t>
            </a:r>
            <a:r>
              <a:rPr sz="900" i="1" dirty="0">
                <a:latin typeface="Arial"/>
                <a:cs typeface="Arial"/>
              </a:rPr>
              <a:t>P</a:t>
            </a:r>
            <a:r>
              <a:rPr sz="900" i="1" spc="45" dirty="0">
                <a:latin typeface="Arial"/>
                <a:cs typeface="Arial"/>
              </a:rPr>
              <a:t> </a:t>
            </a:r>
            <a:r>
              <a:rPr sz="900" dirty="0">
                <a:latin typeface="Arial"/>
                <a:cs typeface="Arial"/>
              </a:rPr>
              <a:t>and</a:t>
            </a:r>
            <a:r>
              <a:rPr sz="900" spc="-20" dirty="0">
                <a:latin typeface="Arial"/>
                <a:cs typeface="Arial"/>
              </a:rPr>
              <a:t> </a:t>
            </a:r>
            <a:r>
              <a:rPr sz="900" i="1" dirty="0">
                <a:latin typeface="Arial"/>
                <a:cs typeface="Arial"/>
              </a:rPr>
              <a:t>Q</a:t>
            </a:r>
            <a:r>
              <a:rPr sz="900" i="1" spc="25" dirty="0">
                <a:latin typeface="Arial"/>
                <a:cs typeface="Arial"/>
              </a:rPr>
              <a:t> </a:t>
            </a:r>
            <a:r>
              <a:rPr sz="900" dirty="0">
                <a:latin typeface="Arial"/>
                <a:cs typeface="Arial"/>
              </a:rPr>
              <a:t>to</a:t>
            </a:r>
            <a:r>
              <a:rPr sz="900" spc="-15" dirty="0">
                <a:latin typeface="Arial"/>
                <a:cs typeface="Arial"/>
              </a:rPr>
              <a:t> </a:t>
            </a:r>
            <a:r>
              <a:rPr sz="900" dirty="0">
                <a:latin typeface="Arial"/>
                <a:cs typeface="Arial"/>
              </a:rPr>
              <a:t>go</a:t>
            </a:r>
            <a:r>
              <a:rPr sz="900" spc="-20" dirty="0">
                <a:latin typeface="Arial"/>
                <a:cs typeface="Arial"/>
              </a:rPr>
              <a:t> </a:t>
            </a:r>
            <a:r>
              <a:rPr sz="900" dirty="0">
                <a:latin typeface="Arial"/>
                <a:cs typeface="Arial"/>
              </a:rPr>
              <a:t>ahead</a:t>
            </a:r>
            <a:r>
              <a:rPr sz="900" spc="-15" dirty="0">
                <a:latin typeface="Arial"/>
                <a:cs typeface="Arial"/>
              </a:rPr>
              <a:t> </a:t>
            </a:r>
            <a:r>
              <a:rPr sz="900" i="1" spc="350" dirty="0">
                <a:latin typeface="Menlo"/>
                <a:cs typeface="Menlo"/>
              </a:rPr>
              <a:t>⇒</a:t>
            </a:r>
            <a:r>
              <a:rPr sz="900" i="1" spc="-295" dirty="0">
                <a:latin typeface="Menlo"/>
                <a:cs typeface="Menlo"/>
              </a:rPr>
              <a:t> </a:t>
            </a:r>
            <a:r>
              <a:rPr sz="900" dirty="0">
                <a:latin typeface="Arial"/>
                <a:cs typeface="Arial"/>
              </a:rPr>
              <a:t>no</a:t>
            </a:r>
            <a:r>
              <a:rPr sz="900" spc="-15" dirty="0">
                <a:latin typeface="Arial"/>
                <a:cs typeface="Arial"/>
              </a:rPr>
              <a:t> </a:t>
            </a:r>
            <a:r>
              <a:rPr sz="900" spc="-10" dirty="0">
                <a:latin typeface="Arial"/>
                <a:cs typeface="Arial"/>
              </a:rPr>
              <a:t>consistency</a:t>
            </a:r>
            <a:endParaRPr sz="900">
              <a:latin typeface="Arial"/>
              <a:cs typeface="Arial"/>
            </a:endParaRPr>
          </a:p>
          <a:p>
            <a:pPr marL="804545" lvl="1" indent="-116839">
              <a:lnSpc>
                <a:spcPct val="100000"/>
              </a:lnSpc>
              <a:spcBef>
                <a:spcPts val="125"/>
              </a:spcBef>
              <a:buClr>
                <a:srgbClr val="3333B2"/>
              </a:buClr>
              <a:buFont typeface="Menlo"/>
              <a:buChar char="•"/>
              <a:tabLst>
                <a:tab pos="805180" algn="l"/>
              </a:tabLst>
            </a:pPr>
            <a:r>
              <a:rPr sz="900" dirty="0">
                <a:latin typeface="Arial"/>
                <a:cs typeface="Arial"/>
              </a:rPr>
              <a:t>Allow</a:t>
            </a:r>
            <a:r>
              <a:rPr sz="900" spc="-20" dirty="0">
                <a:latin typeface="Arial"/>
                <a:cs typeface="Arial"/>
              </a:rPr>
              <a:t> </a:t>
            </a:r>
            <a:r>
              <a:rPr sz="900" dirty="0">
                <a:latin typeface="Arial"/>
                <a:cs typeface="Arial"/>
              </a:rPr>
              <a:t>only</a:t>
            </a:r>
            <a:r>
              <a:rPr sz="900" spc="-15" dirty="0">
                <a:latin typeface="Arial"/>
                <a:cs typeface="Arial"/>
              </a:rPr>
              <a:t> </a:t>
            </a:r>
            <a:r>
              <a:rPr sz="900" dirty="0">
                <a:latin typeface="Arial"/>
                <a:cs typeface="Arial"/>
              </a:rPr>
              <a:t>one</a:t>
            </a:r>
            <a:r>
              <a:rPr sz="900" spc="-10" dirty="0">
                <a:latin typeface="Arial"/>
                <a:cs typeface="Arial"/>
              </a:rPr>
              <a:t> </a:t>
            </a:r>
            <a:r>
              <a:rPr sz="900" dirty="0">
                <a:latin typeface="Arial"/>
                <a:cs typeface="Arial"/>
              </a:rPr>
              <a:t>of</a:t>
            </a:r>
            <a:r>
              <a:rPr sz="900" spc="-15" dirty="0">
                <a:latin typeface="Arial"/>
                <a:cs typeface="Arial"/>
              </a:rPr>
              <a:t> </a:t>
            </a:r>
            <a:r>
              <a:rPr sz="900" i="1" dirty="0">
                <a:latin typeface="Arial"/>
                <a:cs typeface="Arial"/>
              </a:rPr>
              <a:t>P</a:t>
            </a:r>
            <a:r>
              <a:rPr sz="900" dirty="0">
                <a:latin typeface="Arial"/>
                <a:cs typeface="Arial"/>
              </a:rPr>
              <a:t>,</a:t>
            </a:r>
            <a:r>
              <a:rPr sz="900" spc="-10" dirty="0">
                <a:latin typeface="Arial"/>
                <a:cs typeface="Arial"/>
              </a:rPr>
              <a:t> </a:t>
            </a:r>
            <a:r>
              <a:rPr sz="900" i="1" dirty="0">
                <a:latin typeface="Arial"/>
                <a:cs typeface="Arial"/>
              </a:rPr>
              <a:t>Q</a:t>
            </a:r>
            <a:r>
              <a:rPr sz="900" i="1" spc="30" dirty="0">
                <a:latin typeface="Arial"/>
                <a:cs typeface="Arial"/>
              </a:rPr>
              <a:t> </a:t>
            </a:r>
            <a:r>
              <a:rPr sz="900" dirty="0">
                <a:latin typeface="Arial"/>
                <a:cs typeface="Arial"/>
              </a:rPr>
              <a:t>to</a:t>
            </a:r>
            <a:r>
              <a:rPr sz="900" spc="-10" dirty="0">
                <a:latin typeface="Arial"/>
                <a:cs typeface="Arial"/>
              </a:rPr>
              <a:t> </a:t>
            </a:r>
            <a:r>
              <a:rPr sz="900" dirty="0">
                <a:latin typeface="Arial"/>
                <a:cs typeface="Arial"/>
              </a:rPr>
              <a:t>go</a:t>
            </a:r>
            <a:r>
              <a:rPr sz="900" spc="-15" dirty="0">
                <a:latin typeface="Arial"/>
                <a:cs typeface="Arial"/>
              </a:rPr>
              <a:t> </a:t>
            </a:r>
            <a:r>
              <a:rPr sz="900" dirty="0">
                <a:latin typeface="Arial"/>
                <a:cs typeface="Arial"/>
              </a:rPr>
              <a:t>ahead</a:t>
            </a:r>
            <a:r>
              <a:rPr sz="900" spc="-10" dirty="0">
                <a:latin typeface="Arial"/>
                <a:cs typeface="Arial"/>
              </a:rPr>
              <a:t> </a:t>
            </a:r>
            <a:r>
              <a:rPr sz="900" i="1" spc="350" dirty="0">
                <a:latin typeface="Menlo"/>
                <a:cs typeface="Menlo"/>
              </a:rPr>
              <a:t>⇒</a:t>
            </a:r>
            <a:r>
              <a:rPr sz="900" i="1" spc="-295" dirty="0">
                <a:latin typeface="Menlo"/>
                <a:cs typeface="Menlo"/>
              </a:rPr>
              <a:t> </a:t>
            </a:r>
            <a:r>
              <a:rPr sz="900" dirty="0">
                <a:latin typeface="Arial"/>
                <a:cs typeface="Arial"/>
              </a:rPr>
              <a:t>no</a:t>
            </a:r>
            <a:r>
              <a:rPr sz="900" spc="-15" dirty="0">
                <a:latin typeface="Arial"/>
                <a:cs typeface="Arial"/>
              </a:rPr>
              <a:t> </a:t>
            </a:r>
            <a:r>
              <a:rPr sz="900" spc="-10" dirty="0">
                <a:latin typeface="Arial"/>
                <a:cs typeface="Arial"/>
              </a:rPr>
              <a:t>availability</a:t>
            </a:r>
            <a:endParaRPr sz="900">
              <a:latin typeface="Arial"/>
              <a:cs typeface="Arial"/>
            </a:endParaRPr>
          </a:p>
          <a:p>
            <a:pPr marL="555625" marR="43180" indent="-120650">
              <a:lnSpc>
                <a:spcPct val="111600"/>
              </a:lnSpc>
              <a:spcBef>
                <a:spcPts val="400"/>
              </a:spcBef>
              <a:buClr>
                <a:srgbClr val="3333B2"/>
              </a:buClr>
              <a:buFont typeface="Menlo"/>
              <a:buChar char="•"/>
              <a:tabLst>
                <a:tab pos="556260" algn="l"/>
              </a:tabLst>
            </a:pPr>
            <a:r>
              <a:rPr sz="900" i="1" dirty="0">
                <a:latin typeface="Arial"/>
                <a:cs typeface="Arial"/>
              </a:rPr>
              <a:t>P</a:t>
            </a:r>
            <a:r>
              <a:rPr sz="900" i="1" spc="40" dirty="0">
                <a:latin typeface="Arial"/>
                <a:cs typeface="Arial"/>
              </a:rPr>
              <a:t> </a:t>
            </a:r>
            <a:r>
              <a:rPr sz="900" dirty="0">
                <a:latin typeface="Arial"/>
                <a:cs typeface="Arial"/>
              </a:rPr>
              <a:t>and</a:t>
            </a:r>
            <a:r>
              <a:rPr sz="900" spc="-15" dirty="0">
                <a:latin typeface="Arial"/>
                <a:cs typeface="Arial"/>
              </a:rPr>
              <a:t> </a:t>
            </a:r>
            <a:r>
              <a:rPr sz="900" i="1" dirty="0">
                <a:latin typeface="Arial"/>
                <a:cs typeface="Arial"/>
              </a:rPr>
              <a:t>Q</a:t>
            </a:r>
            <a:r>
              <a:rPr sz="900" i="1" spc="30" dirty="0">
                <a:latin typeface="Arial"/>
                <a:cs typeface="Arial"/>
              </a:rPr>
              <a:t> </a:t>
            </a:r>
            <a:r>
              <a:rPr sz="900" spc="-10" dirty="0">
                <a:latin typeface="Arial"/>
                <a:cs typeface="Arial"/>
              </a:rPr>
              <a:t>have</a:t>
            </a:r>
            <a:r>
              <a:rPr sz="900" spc="-15" dirty="0">
                <a:latin typeface="Arial"/>
                <a:cs typeface="Arial"/>
              </a:rPr>
              <a:t> </a:t>
            </a:r>
            <a:r>
              <a:rPr sz="900" dirty="0">
                <a:latin typeface="Arial"/>
                <a:cs typeface="Arial"/>
              </a:rPr>
              <a:t>to</a:t>
            </a:r>
            <a:r>
              <a:rPr sz="900" spc="-10" dirty="0">
                <a:latin typeface="Arial"/>
                <a:cs typeface="Arial"/>
              </a:rPr>
              <a:t> </a:t>
            </a:r>
            <a:r>
              <a:rPr sz="900" dirty="0">
                <a:latin typeface="Arial"/>
                <a:cs typeface="Arial"/>
              </a:rPr>
              <a:t>be</a:t>
            </a:r>
            <a:r>
              <a:rPr sz="900" spc="-15" dirty="0">
                <a:latin typeface="Arial"/>
                <a:cs typeface="Arial"/>
              </a:rPr>
              <a:t> </a:t>
            </a:r>
            <a:r>
              <a:rPr sz="900" dirty="0">
                <a:latin typeface="Arial"/>
                <a:cs typeface="Arial"/>
              </a:rPr>
              <a:t>assumed</a:t>
            </a:r>
            <a:r>
              <a:rPr sz="900" spc="-15" dirty="0">
                <a:latin typeface="Arial"/>
                <a:cs typeface="Arial"/>
              </a:rPr>
              <a:t> </a:t>
            </a:r>
            <a:r>
              <a:rPr sz="900" dirty="0">
                <a:latin typeface="Arial"/>
                <a:cs typeface="Arial"/>
              </a:rPr>
              <a:t>to</a:t>
            </a:r>
            <a:r>
              <a:rPr sz="900" spc="-10" dirty="0">
                <a:latin typeface="Arial"/>
                <a:cs typeface="Arial"/>
              </a:rPr>
              <a:t> </a:t>
            </a:r>
            <a:r>
              <a:rPr sz="900" dirty="0">
                <a:latin typeface="Arial"/>
                <a:cs typeface="Arial"/>
              </a:rPr>
              <a:t>continue</a:t>
            </a:r>
            <a:r>
              <a:rPr sz="900" spc="-15" dirty="0">
                <a:latin typeface="Arial"/>
                <a:cs typeface="Arial"/>
              </a:rPr>
              <a:t> </a:t>
            </a:r>
            <a:r>
              <a:rPr sz="900" spc="-10" dirty="0">
                <a:latin typeface="Arial"/>
                <a:cs typeface="Arial"/>
              </a:rPr>
              <a:t>communication</a:t>
            </a:r>
            <a:r>
              <a:rPr sz="900" spc="-15" dirty="0">
                <a:latin typeface="Arial"/>
                <a:cs typeface="Arial"/>
              </a:rPr>
              <a:t> </a:t>
            </a:r>
            <a:r>
              <a:rPr sz="900" i="1" spc="350" dirty="0">
                <a:latin typeface="Menlo"/>
                <a:cs typeface="Menlo"/>
              </a:rPr>
              <a:t>⇒</a:t>
            </a:r>
            <a:r>
              <a:rPr sz="900" i="1" spc="-295" dirty="0">
                <a:latin typeface="Menlo"/>
                <a:cs typeface="Menlo"/>
              </a:rPr>
              <a:t> </a:t>
            </a:r>
            <a:r>
              <a:rPr sz="900" spc="-25" dirty="0">
                <a:latin typeface="Arial"/>
                <a:cs typeface="Arial"/>
              </a:rPr>
              <a:t>no </a:t>
            </a:r>
            <a:r>
              <a:rPr sz="900" dirty="0">
                <a:latin typeface="Arial"/>
                <a:cs typeface="Arial"/>
              </a:rPr>
              <a:t>partitioning</a:t>
            </a:r>
            <a:r>
              <a:rPr sz="900" spc="-15" dirty="0">
                <a:latin typeface="Arial"/>
                <a:cs typeface="Arial"/>
              </a:rPr>
              <a:t> </a:t>
            </a:r>
            <a:r>
              <a:rPr sz="900" spc="-10" dirty="0">
                <a:latin typeface="Arial"/>
                <a:cs typeface="Arial"/>
              </a:rPr>
              <a:t>allowed.</a:t>
            </a:r>
            <a:endParaRPr sz="900">
              <a:latin typeface="Arial"/>
              <a:cs typeface="Arial"/>
            </a:endParaRPr>
          </a:p>
          <a:p>
            <a:pPr>
              <a:lnSpc>
                <a:spcPct val="100000"/>
              </a:lnSpc>
              <a:spcBef>
                <a:spcPts val="25"/>
              </a:spcBef>
            </a:pPr>
            <a:endParaRPr sz="1200">
              <a:latin typeface="Arial"/>
              <a:cs typeface="Arial"/>
            </a:endParaRPr>
          </a:p>
          <a:p>
            <a:pPr marL="302260">
              <a:lnSpc>
                <a:spcPct val="100000"/>
              </a:lnSpc>
              <a:spcBef>
                <a:spcPts val="5"/>
              </a:spcBef>
            </a:pPr>
            <a:r>
              <a:rPr sz="1000" dirty="0">
                <a:solidFill>
                  <a:srgbClr val="C80000"/>
                </a:solidFill>
                <a:latin typeface="Arial"/>
                <a:cs typeface="Arial"/>
              </a:rPr>
              <a:t>Fundamental</a:t>
            </a:r>
            <a:r>
              <a:rPr sz="1000" spc="-65" dirty="0">
                <a:solidFill>
                  <a:srgbClr val="C80000"/>
                </a:solidFill>
                <a:latin typeface="Arial"/>
                <a:cs typeface="Arial"/>
              </a:rPr>
              <a:t> </a:t>
            </a:r>
            <a:r>
              <a:rPr sz="1000" spc="-10" dirty="0">
                <a:solidFill>
                  <a:srgbClr val="C80000"/>
                </a:solidFill>
                <a:latin typeface="Arial"/>
                <a:cs typeface="Arial"/>
              </a:rPr>
              <a:t>question</a:t>
            </a:r>
            <a:endParaRPr sz="1000">
              <a:latin typeface="Arial"/>
              <a:cs typeface="Arial"/>
            </a:endParaRPr>
          </a:p>
          <a:p>
            <a:pPr marL="297180">
              <a:lnSpc>
                <a:spcPct val="100000"/>
              </a:lnSpc>
              <a:spcBef>
                <a:spcPts val="295"/>
              </a:spcBef>
            </a:pPr>
            <a:r>
              <a:rPr sz="900" dirty="0">
                <a:latin typeface="Arial"/>
                <a:cs typeface="Arial"/>
              </a:rPr>
              <a:t>What</a:t>
            </a:r>
            <a:r>
              <a:rPr sz="900" spc="-15" dirty="0">
                <a:latin typeface="Arial"/>
                <a:cs typeface="Arial"/>
              </a:rPr>
              <a:t> </a:t>
            </a:r>
            <a:r>
              <a:rPr sz="900" dirty="0">
                <a:latin typeface="Arial"/>
                <a:cs typeface="Arial"/>
              </a:rPr>
              <a:t>are</a:t>
            </a:r>
            <a:r>
              <a:rPr sz="900" spc="-10"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practical</a:t>
            </a:r>
            <a:r>
              <a:rPr sz="900" spc="-10" dirty="0">
                <a:latin typeface="Arial"/>
                <a:cs typeface="Arial"/>
              </a:rPr>
              <a:t> ramifications</a:t>
            </a:r>
            <a:r>
              <a:rPr sz="900" spc="-15" dirty="0">
                <a:latin typeface="Arial"/>
                <a:cs typeface="Arial"/>
              </a:rPr>
              <a:t> </a:t>
            </a:r>
            <a:r>
              <a:rPr sz="900" dirty="0">
                <a:latin typeface="Arial"/>
                <a:cs typeface="Arial"/>
              </a:rPr>
              <a:t>of</a:t>
            </a:r>
            <a:r>
              <a:rPr sz="900" spc="-10"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CAP</a:t>
            </a:r>
            <a:r>
              <a:rPr sz="900" spc="-10" dirty="0">
                <a:latin typeface="Arial"/>
                <a:cs typeface="Arial"/>
              </a:rPr>
              <a:t> theorem?</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124333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Some</a:t>
            </a:r>
            <a:r>
              <a:rPr sz="500" spc="-25" dirty="0">
                <a:latin typeface="Arial"/>
                <a:cs typeface="Arial"/>
                <a:hlinkClick r:id="rId4" action="ppaction://hlinksldjump"/>
              </a:rPr>
              <a:t> </a:t>
            </a:r>
            <a:r>
              <a:rPr sz="500" dirty="0">
                <a:latin typeface="Arial"/>
                <a:cs typeface="Arial"/>
                <a:hlinkClick r:id="rId4" action="ppaction://hlinksldjump"/>
              </a:rPr>
              <a:t>limitations</a:t>
            </a:r>
            <a:r>
              <a:rPr sz="500" spc="-20" dirty="0">
                <a:latin typeface="Arial"/>
                <a:cs typeface="Arial"/>
                <a:hlinkClick r:id="rId4" action="ppaction://hlinksldjump"/>
              </a:rPr>
              <a:t> </a:t>
            </a:r>
            <a:r>
              <a:rPr sz="500" dirty="0">
                <a:latin typeface="Arial"/>
                <a:cs typeface="Arial"/>
                <a:hlinkClick r:id="rId4" action="ppaction://hlinksldjump"/>
              </a:rPr>
              <a:t>on</a:t>
            </a:r>
            <a:r>
              <a:rPr sz="500" spc="-25" dirty="0">
                <a:latin typeface="Arial"/>
                <a:cs typeface="Arial"/>
                <a:hlinkClick r:id="rId4" action="ppaction://hlinksldjump"/>
              </a:rPr>
              <a:t> </a:t>
            </a:r>
            <a:r>
              <a:rPr sz="500" dirty="0">
                <a:latin typeface="Arial"/>
                <a:cs typeface="Arial"/>
                <a:hlinkClick r:id="rId4" action="ppaction://hlinksldjump"/>
              </a:rPr>
              <a:t>realizing</a:t>
            </a:r>
            <a:r>
              <a:rPr sz="500" spc="-20" dirty="0">
                <a:latin typeface="Arial"/>
                <a:cs typeface="Arial"/>
                <a:hlinkClick r:id="rId4" action="ppaction://hlinksldjump"/>
              </a:rPr>
              <a:t> </a:t>
            </a:r>
            <a:r>
              <a:rPr sz="500" dirty="0">
                <a:latin typeface="Arial"/>
                <a:cs typeface="Arial"/>
                <a:hlinkClick r:id="rId4" action="ppaction://hlinksldjump"/>
              </a:rPr>
              <a:t>fault</a:t>
            </a:r>
            <a:r>
              <a:rPr sz="500" spc="-20" dirty="0">
                <a:latin typeface="Arial"/>
                <a:cs typeface="Arial"/>
                <a:hlinkClick r:id="rId4" action="ppaction://hlinksldjump"/>
              </a:rPr>
              <a:t> </a:t>
            </a:r>
            <a:r>
              <a:rPr sz="500" spc="-10" dirty="0">
                <a:latin typeface="Arial"/>
                <a:cs typeface="Arial"/>
                <a:hlinkClick r:id="rId4" action="ppaction://hlinksldjump"/>
              </a:rPr>
              <a:t>tolerance</a:t>
            </a:r>
            <a:endParaRPr sz="500">
              <a:latin typeface="Arial"/>
              <a:cs typeface="Arial"/>
            </a:endParaRPr>
          </a:p>
        </p:txBody>
      </p:sp>
    </p:spTree>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44500" y="197711"/>
            <a:ext cx="4066540" cy="2319655"/>
          </a:xfrm>
          <a:prstGeom prst="rect">
            <a:avLst/>
          </a:prstGeom>
        </p:spPr>
        <p:txBody>
          <a:bodyPr vert="horz" wrap="square" lIns="0" tIns="12065" rIns="0" bIns="0" rtlCol="0">
            <a:spAutoFit/>
          </a:bodyPr>
          <a:lstStyle/>
          <a:p>
            <a:pPr marL="63500">
              <a:lnSpc>
                <a:spcPct val="100000"/>
              </a:lnSpc>
              <a:spcBef>
                <a:spcPts val="95"/>
              </a:spcBef>
            </a:pPr>
            <a:r>
              <a:rPr sz="1200" spc="-10" dirty="0">
                <a:solidFill>
                  <a:srgbClr val="3333B2"/>
                </a:solidFill>
                <a:latin typeface="Arial"/>
                <a:cs typeface="Arial"/>
              </a:rPr>
              <a:t>Failure</a:t>
            </a:r>
            <a:r>
              <a:rPr sz="1200" spc="-35" dirty="0">
                <a:solidFill>
                  <a:srgbClr val="3333B2"/>
                </a:solidFill>
                <a:latin typeface="Arial"/>
                <a:cs typeface="Arial"/>
              </a:rPr>
              <a:t> </a:t>
            </a:r>
            <a:r>
              <a:rPr sz="1200" spc="-10" dirty="0">
                <a:solidFill>
                  <a:srgbClr val="3333B2"/>
                </a:solidFill>
                <a:latin typeface="Arial"/>
                <a:cs typeface="Arial"/>
              </a:rPr>
              <a:t>detection</a:t>
            </a:r>
            <a:endParaRPr sz="1200">
              <a:latin typeface="Arial"/>
              <a:cs typeface="Arial"/>
            </a:endParaRPr>
          </a:p>
          <a:p>
            <a:pPr marL="314960">
              <a:lnSpc>
                <a:spcPct val="100000"/>
              </a:lnSpc>
              <a:spcBef>
                <a:spcPts val="1055"/>
              </a:spcBef>
            </a:pPr>
            <a:r>
              <a:rPr sz="1000" spc="-10" dirty="0">
                <a:solidFill>
                  <a:srgbClr val="3333B2"/>
                </a:solidFill>
                <a:latin typeface="Arial"/>
                <a:cs typeface="Arial"/>
              </a:rPr>
              <a:t>Issue</a:t>
            </a:r>
            <a:endParaRPr sz="1000">
              <a:latin typeface="Arial"/>
              <a:cs typeface="Arial"/>
            </a:endParaRPr>
          </a:p>
          <a:p>
            <a:pPr marL="314960">
              <a:lnSpc>
                <a:spcPct val="100000"/>
              </a:lnSpc>
              <a:spcBef>
                <a:spcPts val="105"/>
              </a:spcBef>
            </a:pPr>
            <a:r>
              <a:rPr sz="900" dirty="0">
                <a:latin typeface="Arial"/>
                <a:cs typeface="Arial"/>
              </a:rPr>
              <a:t>How</a:t>
            </a:r>
            <a:r>
              <a:rPr sz="900" spc="-30" dirty="0">
                <a:latin typeface="Arial"/>
                <a:cs typeface="Arial"/>
              </a:rPr>
              <a:t> </a:t>
            </a:r>
            <a:r>
              <a:rPr sz="900" dirty="0">
                <a:latin typeface="Arial"/>
                <a:cs typeface="Arial"/>
              </a:rPr>
              <a:t>can</a:t>
            </a:r>
            <a:r>
              <a:rPr sz="900" spc="-30" dirty="0">
                <a:latin typeface="Arial"/>
                <a:cs typeface="Arial"/>
              </a:rPr>
              <a:t> </a:t>
            </a:r>
            <a:r>
              <a:rPr sz="900" dirty="0">
                <a:latin typeface="Arial"/>
                <a:cs typeface="Arial"/>
              </a:rPr>
              <a:t>we</a:t>
            </a:r>
            <a:r>
              <a:rPr sz="900" spc="-30" dirty="0">
                <a:latin typeface="Arial"/>
                <a:cs typeface="Arial"/>
              </a:rPr>
              <a:t> </a:t>
            </a:r>
            <a:r>
              <a:rPr sz="900" dirty="0">
                <a:solidFill>
                  <a:srgbClr val="C80000"/>
                </a:solidFill>
                <a:latin typeface="Arial"/>
                <a:cs typeface="Arial"/>
              </a:rPr>
              <a:t>reliably</a:t>
            </a:r>
            <a:r>
              <a:rPr sz="900" spc="-30" dirty="0">
                <a:solidFill>
                  <a:srgbClr val="C80000"/>
                </a:solidFill>
                <a:latin typeface="Arial"/>
                <a:cs typeface="Arial"/>
              </a:rPr>
              <a:t> </a:t>
            </a:r>
            <a:r>
              <a:rPr sz="900" dirty="0">
                <a:solidFill>
                  <a:srgbClr val="C80000"/>
                </a:solidFill>
                <a:latin typeface="Arial"/>
                <a:cs typeface="Arial"/>
              </a:rPr>
              <a:t>detect</a:t>
            </a:r>
            <a:r>
              <a:rPr sz="900" spc="-25" dirty="0">
                <a:solidFill>
                  <a:srgbClr val="C80000"/>
                </a:solidFill>
                <a:latin typeface="Arial"/>
                <a:cs typeface="Arial"/>
              </a:rPr>
              <a:t> </a:t>
            </a:r>
            <a:r>
              <a:rPr sz="900" dirty="0">
                <a:latin typeface="Arial"/>
                <a:cs typeface="Arial"/>
              </a:rPr>
              <a:t>that</a:t>
            </a:r>
            <a:r>
              <a:rPr sz="900" spc="-30"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process</a:t>
            </a:r>
            <a:r>
              <a:rPr sz="900" spc="-30" dirty="0">
                <a:latin typeface="Arial"/>
                <a:cs typeface="Arial"/>
              </a:rPr>
              <a:t> </a:t>
            </a:r>
            <a:r>
              <a:rPr sz="900" dirty="0">
                <a:latin typeface="Arial"/>
                <a:cs typeface="Arial"/>
              </a:rPr>
              <a:t>has</a:t>
            </a:r>
            <a:r>
              <a:rPr sz="900" spc="-25" dirty="0">
                <a:latin typeface="Arial"/>
                <a:cs typeface="Arial"/>
              </a:rPr>
              <a:t> </a:t>
            </a:r>
            <a:r>
              <a:rPr sz="900" dirty="0">
                <a:solidFill>
                  <a:srgbClr val="C80000"/>
                </a:solidFill>
                <a:latin typeface="Arial"/>
                <a:cs typeface="Arial"/>
              </a:rPr>
              <a:t>actually</a:t>
            </a:r>
            <a:r>
              <a:rPr sz="900" spc="-30" dirty="0">
                <a:solidFill>
                  <a:srgbClr val="C80000"/>
                </a:solidFill>
                <a:latin typeface="Arial"/>
                <a:cs typeface="Arial"/>
              </a:rPr>
              <a:t> </a:t>
            </a:r>
            <a:r>
              <a:rPr sz="900" spc="-10" dirty="0">
                <a:solidFill>
                  <a:srgbClr val="C80000"/>
                </a:solidFill>
                <a:latin typeface="Arial"/>
                <a:cs typeface="Arial"/>
              </a:rPr>
              <a:t>crashed</a:t>
            </a:r>
            <a:r>
              <a:rPr sz="900" spc="-10" dirty="0">
                <a:latin typeface="Arial"/>
                <a:cs typeface="Arial"/>
              </a:rPr>
              <a:t>?</a:t>
            </a:r>
            <a:endParaRPr sz="900">
              <a:latin typeface="Arial"/>
              <a:cs typeface="Arial"/>
            </a:endParaRPr>
          </a:p>
          <a:p>
            <a:pPr marL="314960">
              <a:lnSpc>
                <a:spcPct val="100000"/>
              </a:lnSpc>
              <a:spcBef>
                <a:spcPts val="815"/>
              </a:spcBef>
            </a:pPr>
            <a:r>
              <a:rPr sz="1000" dirty="0">
                <a:solidFill>
                  <a:srgbClr val="3333B2"/>
                </a:solidFill>
                <a:latin typeface="Arial"/>
                <a:cs typeface="Arial"/>
              </a:rPr>
              <a:t>General</a:t>
            </a:r>
            <a:r>
              <a:rPr sz="1000" spc="-55" dirty="0">
                <a:solidFill>
                  <a:srgbClr val="3333B2"/>
                </a:solidFill>
                <a:latin typeface="Arial"/>
                <a:cs typeface="Arial"/>
              </a:rPr>
              <a:t> </a:t>
            </a:r>
            <a:r>
              <a:rPr sz="1000" spc="-10" dirty="0">
                <a:solidFill>
                  <a:srgbClr val="3333B2"/>
                </a:solidFill>
                <a:latin typeface="Arial"/>
                <a:cs typeface="Arial"/>
              </a:rPr>
              <a:t>model</a:t>
            </a:r>
            <a:endParaRPr sz="1000">
              <a:latin typeface="Arial"/>
              <a:cs typeface="Arial"/>
            </a:endParaRPr>
          </a:p>
          <a:p>
            <a:pPr marL="568325" indent="-120650">
              <a:lnSpc>
                <a:spcPct val="100000"/>
              </a:lnSpc>
              <a:spcBef>
                <a:spcPts val="500"/>
              </a:spcBef>
              <a:buClr>
                <a:srgbClr val="3333B2"/>
              </a:buClr>
              <a:buFont typeface="Menlo"/>
              <a:buChar char="•"/>
              <a:tabLst>
                <a:tab pos="568960" algn="l"/>
              </a:tabLst>
            </a:pPr>
            <a:r>
              <a:rPr sz="900" dirty="0">
                <a:latin typeface="Arial"/>
                <a:cs typeface="Arial"/>
              </a:rPr>
              <a:t>Each</a:t>
            </a:r>
            <a:r>
              <a:rPr sz="900" spc="-35" dirty="0">
                <a:latin typeface="Arial"/>
                <a:cs typeface="Arial"/>
              </a:rPr>
              <a:t> </a:t>
            </a:r>
            <a:r>
              <a:rPr sz="900" dirty="0">
                <a:latin typeface="Arial"/>
                <a:cs typeface="Arial"/>
              </a:rPr>
              <a:t>process</a:t>
            </a:r>
            <a:r>
              <a:rPr sz="900" spc="-30"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equipped</a:t>
            </a:r>
            <a:r>
              <a:rPr sz="900" spc="-30" dirty="0">
                <a:latin typeface="Arial"/>
                <a:cs typeface="Arial"/>
              </a:rPr>
              <a:t> </a:t>
            </a:r>
            <a:r>
              <a:rPr sz="900" dirty="0">
                <a:latin typeface="Arial"/>
                <a:cs typeface="Arial"/>
              </a:rPr>
              <a:t>with</a:t>
            </a:r>
            <a:r>
              <a:rPr sz="900" spc="-30" dirty="0">
                <a:latin typeface="Arial"/>
                <a:cs typeface="Arial"/>
              </a:rPr>
              <a:t> </a:t>
            </a:r>
            <a:r>
              <a:rPr sz="900" dirty="0">
                <a:latin typeface="Arial"/>
                <a:cs typeface="Arial"/>
              </a:rPr>
              <a:t>a</a:t>
            </a:r>
            <a:r>
              <a:rPr sz="900" spc="-35" dirty="0">
                <a:latin typeface="Arial"/>
                <a:cs typeface="Arial"/>
              </a:rPr>
              <a:t> </a:t>
            </a:r>
            <a:r>
              <a:rPr sz="900" dirty="0">
                <a:latin typeface="Arial"/>
                <a:cs typeface="Arial"/>
              </a:rPr>
              <a:t>failure</a:t>
            </a:r>
            <a:r>
              <a:rPr sz="900" spc="-30" dirty="0">
                <a:latin typeface="Arial"/>
                <a:cs typeface="Arial"/>
              </a:rPr>
              <a:t> </a:t>
            </a:r>
            <a:r>
              <a:rPr sz="900" dirty="0">
                <a:latin typeface="Arial"/>
                <a:cs typeface="Arial"/>
              </a:rPr>
              <a:t>detection</a:t>
            </a:r>
            <a:r>
              <a:rPr sz="900" spc="-30" dirty="0">
                <a:latin typeface="Arial"/>
                <a:cs typeface="Arial"/>
              </a:rPr>
              <a:t> </a:t>
            </a:r>
            <a:r>
              <a:rPr sz="900" spc="-10" dirty="0">
                <a:latin typeface="Arial"/>
                <a:cs typeface="Arial"/>
              </a:rPr>
              <a:t>module</a:t>
            </a:r>
            <a:endParaRPr sz="900">
              <a:latin typeface="Arial"/>
              <a:cs typeface="Arial"/>
            </a:endParaRPr>
          </a:p>
          <a:p>
            <a:pPr marL="564515" indent="-116839">
              <a:lnSpc>
                <a:spcPct val="100000"/>
              </a:lnSpc>
              <a:spcBef>
                <a:spcPts val="525"/>
              </a:spcBef>
              <a:buClr>
                <a:srgbClr val="3333B2"/>
              </a:buClr>
              <a:buFont typeface="Menlo"/>
              <a:buChar char="•"/>
              <a:tabLst>
                <a:tab pos="565150" algn="l"/>
              </a:tabLst>
            </a:pPr>
            <a:r>
              <a:rPr sz="900" dirty="0">
                <a:latin typeface="Arial"/>
                <a:cs typeface="Arial"/>
              </a:rPr>
              <a:t>A</a:t>
            </a:r>
            <a:r>
              <a:rPr sz="900" spc="-25" dirty="0">
                <a:latin typeface="Arial"/>
                <a:cs typeface="Arial"/>
              </a:rPr>
              <a:t> </a:t>
            </a:r>
            <a:r>
              <a:rPr sz="900" dirty="0">
                <a:latin typeface="Arial"/>
                <a:cs typeface="Arial"/>
              </a:rPr>
              <a:t>process</a:t>
            </a:r>
            <a:r>
              <a:rPr sz="900" spc="-25" dirty="0">
                <a:latin typeface="Arial"/>
                <a:cs typeface="Arial"/>
              </a:rPr>
              <a:t> </a:t>
            </a:r>
            <a:r>
              <a:rPr sz="900" i="1" dirty="0">
                <a:latin typeface="Arial"/>
                <a:cs typeface="Arial"/>
              </a:rPr>
              <a:t>P</a:t>
            </a:r>
            <a:r>
              <a:rPr sz="900" i="1" spc="35" dirty="0">
                <a:latin typeface="Arial"/>
                <a:cs typeface="Arial"/>
              </a:rPr>
              <a:t> </a:t>
            </a:r>
            <a:r>
              <a:rPr sz="900" dirty="0">
                <a:solidFill>
                  <a:srgbClr val="3333B2"/>
                </a:solidFill>
                <a:latin typeface="Arial"/>
                <a:cs typeface="Arial"/>
              </a:rPr>
              <a:t>probes</a:t>
            </a:r>
            <a:r>
              <a:rPr sz="900" spc="-25" dirty="0">
                <a:solidFill>
                  <a:srgbClr val="3333B2"/>
                </a:solidFill>
                <a:latin typeface="Arial"/>
                <a:cs typeface="Arial"/>
              </a:rPr>
              <a:t> </a:t>
            </a:r>
            <a:r>
              <a:rPr sz="900" dirty="0">
                <a:latin typeface="Arial"/>
                <a:cs typeface="Arial"/>
              </a:rPr>
              <a:t>another</a:t>
            </a:r>
            <a:r>
              <a:rPr sz="900" spc="-25" dirty="0">
                <a:latin typeface="Arial"/>
                <a:cs typeface="Arial"/>
              </a:rPr>
              <a:t> </a:t>
            </a:r>
            <a:r>
              <a:rPr sz="900" dirty="0">
                <a:latin typeface="Arial"/>
                <a:cs typeface="Arial"/>
              </a:rPr>
              <a:t>process</a:t>
            </a:r>
            <a:r>
              <a:rPr sz="900" spc="-25" dirty="0">
                <a:latin typeface="Arial"/>
                <a:cs typeface="Arial"/>
              </a:rPr>
              <a:t> </a:t>
            </a:r>
            <a:r>
              <a:rPr sz="900" i="1" dirty="0">
                <a:latin typeface="Arial"/>
                <a:cs typeface="Arial"/>
              </a:rPr>
              <a:t>Q</a:t>
            </a:r>
            <a:r>
              <a:rPr sz="900" i="1" spc="15" dirty="0">
                <a:latin typeface="Arial"/>
                <a:cs typeface="Arial"/>
              </a:rPr>
              <a:t> </a:t>
            </a:r>
            <a:r>
              <a:rPr sz="900" dirty="0">
                <a:latin typeface="Arial"/>
                <a:cs typeface="Arial"/>
              </a:rPr>
              <a:t>for</a:t>
            </a:r>
            <a:r>
              <a:rPr sz="900" spc="-25"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reaction</a:t>
            </a:r>
            <a:endParaRPr sz="900">
              <a:latin typeface="Arial"/>
              <a:cs typeface="Arial"/>
            </a:endParaRPr>
          </a:p>
          <a:p>
            <a:pPr marL="568325" indent="-120650">
              <a:lnSpc>
                <a:spcPct val="100000"/>
              </a:lnSpc>
              <a:spcBef>
                <a:spcPts val="525"/>
              </a:spcBef>
              <a:buClr>
                <a:srgbClr val="3333B2"/>
              </a:buClr>
              <a:buFont typeface="Menlo"/>
              <a:buChar char="•"/>
              <a:tabLst>
                <a:tab pos="568960" algn="l"/>
              </a:tabLst>
            </a:pPr>
            <a:r>
              <a:rPr sz="900" dirty="0">
                <a:latin typeface="Arial"/>
                <a:cs typeface="Arial"/>
              </a:rPr>
              <a:t>If</a:t>
            </a:r>
            <a:r>
              <a:rPr sz="900" spc="-25" dirty="0">
                <a:latin typeface="Arial"/>
                <a:cs typeface="Arial"/>
              </a:rPr>
              <a:t> </a:t>
            </a:r>
            <a:r>
              <a:rPr sz="900" i="1" dirty="0">
                <a:latin typeface="Arial"/>
                <a:cs typeface="Arial"/>
              </a:rPr>
              <a:t>Q</a:t>
            </a:r>
            <a:r>
              <a:rPr sz="900" i="1" spc="20" dirty="0">
                <a:latin typeface="Arial"/>
                <a:cs typeface="Arial"/>
              </a:rPr>
              <a:t> </a:t>
            </a:r>
            <a:r>
              <a:rPr sz="900" dirty="0">
                <a:latin typeface="Arial"/>
                <a:cs typeface="Arial"/>
              </a:rPr>
              <a:t>reacts:</a:t>
            </a:r>
            <a:r>
              <a:rPr sz="900" spc="30" dirty="0">
                <a:latin typeface="Arial"/>
                <a:cs typeface="Arial"/>
              </a:rPr>
              <a:t> </a:t>
            </a:r>
            <a:r>
              <a:rPr sz="900" i="1" dirty="0">
                <a:latin typeface="Arial"/>
                <a:cs typeface="Arial"/>
              </a:rPr>
              <a:t>Q</a:t>
            </a:r>
            <a:r>
              <a:rPr sz="900" i="1" spc="20"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considered</a:t>
            </a:r>
            <a:r>
              <a:rPr sz="900" spc="-2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be</a:t>
            </a:r>
            <a:r>
              <a:rPr sz="900" spc="-20" dirty="0">
                <a:latin typeface="Arial"/>
                <a:cs typeface="Arial"/>
              </a:rPr>
              <a:t> </a:t>
            </a:r>
            <a:r>
              <a:rPr sz="900" dirty="0">
                <a:latin typeface="Arial"/>
                <a:cs typeface="Arial"/>
              </a:rPr>
              <a:t>alive</a:t>
            </a:r>
            <a:r>
              <a:rPr sz="900" spc="-25" dirty="0">
                <a:latin typeface="Arial"/>
                <a:cs typeface="Arial"/>
              </a:rPr>
              <a:t> </a:t>
            </a:r>
            <a:r>
              <a:rPr sz="900" dirty="0">
                <a:latin typeface="Arial"/>
                <a:cs typeface="Arial"/>
              </a:rPr>
              <a:t>(by</a:t>
            </a:r>
            <a:r>
              <a:rPr sz="900" spc="-25" dirty="0">
                <a:latin typeface="Arial"/>
                <a:cs typeface="Arial"/>
              </a:rPr>
              <a:t> </a:t>
            </a:r>
            <a:r>
              <a:rPr sz="900" i="1" spc="-25" dirty="0">
                <a:latin typeface="Arial"/>
                <a:cs typeface="Arial"/>
              </a:rPr>
              <a:t>P</a:t>
            </a:r>
            <a:r>
              <a:rPr sz="900" spc="-25" dirty="0">
                <a:latin typeface="Arial"/>
                <a:cs typeface="Arial"/>
              </a:rPr>
              <a:t>)</a:t>
            </a:r>
            <a:endParaRPr sz="900">
              <a:latin typeface="Arial"/>
              <a:cs typeface="Arial"/>
            </a:endParaRPr>
          </a:p>
          <a:p>
            <a:pPr marL="568325" indent="-120650">
              <a:lnSpc>
                <a:spcPct val="100000"/>
              </a:lnSpc>
              <a:spcBef>
                <a:spcPts val="525"/>
              </a:spcBef>
              <a:buClr>
                <a:srgbClr val="3333B2"/>
              </a:buClr>
              <a:buFont typeface="Menlo"/>
              <a:buChar char="•"/>
              <a:tabLst>
                <a:tab pos="568960" algn="l"/>
              </a:tabLst>
            </a:pPr>
            <a:r>
              <a:rPr sz="900" dirty="0">
                <a:latin typeface="Arial"/>
                <a:cs typeface="Arial"/>
              </a:rPr>
              <a:t>If</a:t>
            </a:r>
            <a:r>
              <a:rPr sz="900" spc="-20" dirty="0">
                <a:latin typeface="Arial"/>
                <a:cs typeface="Arial"/>
              </a:rPr>
              <a:t> </a:t>
            </a:r>
            <a:r>
              <a:rPr sz="900" i="1" dirty="0">
                <a:latin typeface="Arial"/>
                <a:cs typeface="Arial"/>
              </a:rPr>
              <a:t>Q</a:t>
            </a:r>
            <a:r>
              <a:rPr sz="900" i="1" spc="20" dirty="0">
                <a:latin typeface="Arial"/>
                <a:cs typeface="Arial"/>
              </a:rPr>
              <a:t> </a:t>
            </a:r>
            <a:r>
              <a:rPr sz="900" dirty="0">
                <a:latin typeface="Arial"/>
                <a:cs typeface="Arial"/>
              </a:rPr>
              <a:t>does</a:t>
            </a:r>
            <a:r>
              <a:rPr sz="900" spc="-15" dirty="0">
                <a:latin typeface="Arial"/>
                <a:cs typeface="Arial"/>
              </a:rPr>
              <a:t> </a:t>
            </a:r>
            <a:r>
              <a:rPr sz="900" dirty="0">
                <a:latin typeface="Arial"/>
                <a:cs typeface="Arial"/>
              </a:rPr>
              <a:t>not</a:t>
            </a:r>
            <a:r>
              <a:rPr sz="900" spc="-20" dirty="0">
                <a:latin typeface="Arial"/>
                <a:cs typeface="Arial"/>
              </a:rPr>
              <a:t> </a:t>
            </a:r>
            <a:r>
              <a:rPr sz="900" dirty="0">
                <a:latin typeface="Arial"/>
                <a:cs typeface="Arial"/>
              </a:rPr>
              <a:t>react</a:t>
            </a:r>
            <a:r>
              <a:rPr sz="900" spc="-20" dirty="0">
                <a:latin typeface="Arial"/>
                <a:cs typeface="Arial"/>
              </a:rPr>
              <a:t> </a:t>
            </a:r>
            <a:r>
              <a:rPr sz="900" dirty="0">
                <a:latin typeface="Arial"/>
                <a:cs typeface="Arial"/>
              </a:rPr>
              <a:t>with</a:t>
            </a:r>
            <a:r>
              <a:rPr sz="900" spc="-20" dirty="0">
                <a:latin typeface="Arial"/>
                <a:cs typeface="Arial"/>
              </a:rPr>
              <a:t> </a:t>
            </a:r>
            <a:r>
              <a:rPr sz="900" i="1" dirty="0">
                <a:latin typeface="Arial"/>
                <a:cs typeface="Arial"/>
              </a:rPr>
              <a:t>t</a:t>
            </a:r>
            <a:r>
              <a:rPr sz="900" i="1" spc="60" dirty="0">
                <a:latin typeface="Arial"/>
                <a:cs typeface="Arial"/>
              </a:rPr>
              <a:t> </a:t>
            </a:r>
            <a:r>
              <a:rPr sz="900" dirty="0">
                <a:latin typeface="Arial"/>
                <a:cs typeface="Arial"/>
              </a:rPr>
              <a:t>time</a:t>
            </a:r>
            <a:r>
              <a:rPr sz="900" spc="-20" dirty="0">
                <a:latin typeface="Arial"/>
                <a:cs typeface="Arial"/>
              </a:rPr>
              <a:t> </a:t>
            </a:r>
            <a:r>
              <a:rPr sz="900" dirty="0">
                <a:latin typeface="Arial"/>
                <a:cs typeface="Arial"/>
              </a:rPr>
              <a:t>units:</a:t>
            </a:r>
            <a:r>
              <a:rPr sz="900" spc="35" dirty="0">
                <a:latin typeface="Arial"/>
                <a:cs typeface="Arial"/>
              </a:rPr>
              <a:t> </a:t>
            </a:r>
            <a:r>
              <a:rPr sz="900" i="1" dirty="0">
                <a:latin typeface="Arial"/>
                <a:cs typeface="Arial"/>
              </a:rPr>
              <a:t>Q</a:t>
            </a:r>
            <a:r>
              <a:rPr sz="900" i="1" spc="25" dirty="0">
                <a:latin typeface="Arial"/>
                <a:cs typeface="Arial"/>
              </a:rPr>
              <a:t> </a:t>
            </a:r>
            <a:r>
              <a:rPr sz="900" dirty="0">
                <a:latin typeface="Arial"/>
                <a:cs typeface="Arial"/>
              </a:rPr>
              <a:t>is</a:t>
            </a:r>
            <a:r>
              <a:rPr sz="900" spc="-20" dirty="0">
                <a:latin typeface="Arial"/>
                <a:cs typeface="Arial"/>
              </a:rPr>
              <a:t> </a:t>
            </a:r>
            <a:r>
              <a:rPr sz="900" dirty="0">
                <a:solidFill>
                  <a:srgbClr val="3333B2"/>
                </a:solidFill>
                <a:latin typeface="Arial"/>
                <a:cs typeface="Arial"/>
              </a:rPr>
              <a:t>suspected</a:t>
            </a:r>
            <a:r>
              <a:rPr sz="900" spc="-15" dirty="0">
                <a:solidFill>
                  <a:srgbClr val="3333B2"/>
                </a:solidFill>
                <a:latin typeface="Arial"/>
                <a:cs typeface="Arial"/>
              </a:rPr>
              <a:t> </a:t>
            </a:r>
            <a:r>
              <a:rPr sz="900" dirty="0">
                <a:latin typeface="Arial"/>
                <a:cs typeface="Arial"/>
              </a:rPr>
              <a:t>to</a:t>
            </a:r>
            <a:r>
              <a:rPr sz="900" spc="-20" dirty="0">
                <a:latin typeface="Arial"/>
                <a:cs typeface="Arial"/>
              </a:rPr>
              <a:t> </a:t>
            </a:r>
            <a:r>
              <a:rPr sz="900" spc="-10" dirty="0">
                <a:latin typeface="Arial"/>
                <a:cs typeface="Arial"/>
              </a:rPr>
              <a:t>have</a:t>
            </a:r>
            <a:r>
              <a:rPr sz="900" spc="-20" dirty="0">
                <a:latin typeface="Arial"/>
                <a:cs typeface="Arial"/>
              </a:rPr>
              <a:t> </a:t>
            </a:r>
            <a:r>
              <a:rPr sz="900" spc="-10" dirty="0">
                <a:latin typeface="Arial"/>
                <a:cs typeface="Arial"/>
              </a:rPr>
              <a:t>crashed</a:t>
            </a:r>
            <a:endParaRPr sz="900">
              <a:latin typeface="Arial"/>
              <a:cs typeface="Arial"/>
            </a:endParaRPr>
          </a:p>
          <a:p>
            <a:pPr>
              <a:lnSpc>
                <a:spcPct val="100000"/>
              </a:lnSpc>
              <a:spcBef>
                <a:spcPts val="15"/>
              </a:spcBef>
            </a:pPr>
            <a:endParaRPr sz="1200">
              <a:latin typeface="Arial"/>
              <a:cs typeface="Arial"/>
            </a:endParaRPr>
          </a:p>
          <a:p>
            <a:pPr marL="314960">
              <a:lnSpc>
                <a:spcPct val="100000"/>
              </a:lnSpc>
            </a:pPr>
            <a:r>
              <a:rPr sz="1000" dirty="0">
                <a:solidFill>
                  <a:srgbClr val="C80000"/>
                </a:solidFill>
                <a:latin typeface="Arial"/>
                <a:cs typeface="Arial"/>
              </a:rPr>
              <a:t>Observation</a:t>
            </a:r>
            <a:r>
              <a:rPr sz="1000" spc="-45" dirty="0">
                <a:solidFill>
                  <a:srgbClr val="C80000"/>
                </a:solidFill>
                <a:latin typeface="Arial"/>
                <a:cs typeface="Arial"/>
              </a:rPr>
              <a:t> </a:t>
            </a:r>
            <a:r>
              <a:rPr sz="1000" dirty="0">
                <a:solidFill>
                  <a:srgbClr val="C80000"/>
                </a:solidFill>
                <a:latin typeface="Arial"/>
                <a:cs typeface="Arial"/>
              </a:rPr>
              <a:t>for</a:t>
            </a:r>
            <a:r>
              <a:rPr sz="1000" spc="-45" dirty="0">
                <a:solidFill>
                  <a:srgbClr val="C80000"/>
                </a:solidFill>
                <a:latin typeface="Arial"/>
                <a:cs typeface="Arial"/>
              </a:rPr>
              <a:t> </a:t>
            </a:r>
            <a:r>
              <a:rPr sz="1000" dirty="0">
                <a:solidFill>
                  <a:srgbClr val="C80000"/>
                </a:solidFill>
                <a:latin typeface="Arial"/>
                <a:cs typeface="Arial"/>
              </a:rPr>
              <a:t>a</a:t>
            </a:r>
            <a:r>
              <a:rPr sz="1000" spc="-45" dirty="0">
                <a:solidFill>
                  <a:srgbClr val="C80000"/>
                </a:solidFill>
                <a:latin typeface="Arial"/>
                <a:cs typeface="Arial"/>
              </a:rPr>
              <a:t> </a:t>
            </a:r>
            <a:r>
              <a:rPr sz="1000" dirty="0">
                <a:solidFill>
                  <a:srgbClr val="C80000"/>
                </a:solidFill>
                <a:latin typeface="Arial"/>
                <a:cs typeface="Arial"/>
              </a:rPr>
              <a:t>synchronous</a:t>
            </a:r>
            <a:r>
              <a:rPr sz="1000" spc="-45" dirty="0">
                <a:solidFill>
                  <a:srgbClr val="C80000"/>
                </a:solidFill>
                <a:latin typeface="Arial"/>
                <a:cs typeface="Arial"/>
              </a:rPr>
              <a:t> </a:t>
            </a:r>
            <a:r>
              <a:rPr sz="1000" spc="-10" dirty="0">
                <a:solidFill>
                  <a:srgbClr val="C80000"/>
                </a:solidFill>
                <a:latin typeface="Arial"/>
                <a:cs typeface="Arial"/>
              </a:rPr>
              <a:t>system</a:t>
            </a:r>
            <a:endParaRPr sz="1000">
              <a:latin typeface="Arial"/>
              <a:cs typeface="Arial"/>
            </a:endParaRPr>
          </a:p>
          <a:p>
            <a:pPr>
              <a:lnSpc>
                <a:spcPct val="100000"/>
              </a:lnSpc>
              <a:spcBef>
                <a:spcPts val="5"/>
              </a:spcBef>
            </a:pPr>
            <a:endParaRPr sz="950">
              <a:latin typeface="Arial"/>
              <a:cs typeface="Arial"/>
            </a:endParaRPr>
          </a:p>
          <a:p>
            <a:pPr marL="1356360">
              <a:lnSpc>
                <a:spcPct val="100000"/>
              </a:lnSpc>
              <a:spcBef>
                <a:spcPts val="5"/>
              </a:spcBef>
            </a:pPr>
            <a:r>
              <a:rPr sz="900" dirty="0">
                <a:latin typeface="Arial"/>
                <a:cs typeface="Arial"/>
              </a:rPr>
              <a:t>a</a:t>
            </a:r>
            <a:r>
              <a:rPr sz="900" spc="-50" dirty="0">
                <a:latin typeface="Arial"/>
                <a:cs typeface="Arial"/>
              </a:rPr>
              <a:t> </a:t>
            </a:r>
            <a:r>
              <a:rPr sz="900" dirty="0">
                <a:latin typeface="Arial"/>
                <a:cs typeface="Arial"/>
              </a:rPr>
              <a:t>suspected</a:t>
            </a:r>
            <a:r>
              <a:rPr sz="900" spc="-25" dirty="0">
                <a:latin typeface="Arial"/>
                <a:cs typeface="Arial"/>
              </a:rPr>
              <a:t> </a:t>
            </a:r>
            <a:r>
              <a:rPr sz="900" dirty="0">
                <a:latin typeface="Arial"/>
                <a:cs typeface="Arial"/>
              </a:rPr>
              <a:t>crash</a:t>
            </a:r>
            <a:r>
              <a:rPr sz="900" spc="-25" dirty="0">
                <a:latin typeface="Arial"/>
                <a:cs typeface="Arial"/>
              </a:rPr>
              <a:t> </a:t>
            </a:r>
            <a:r>
              <a:rPr sz="900" i="1" spc="150" dirty="0">
                <a:latin typeface="Menlo"/>
                <a:cs typeface="Menlo"/>
              </a:rPr>
              <a:t>≡</a:t>
            </a:r>
            <a:r>
              <a:rPr sz="900" i="1" spc="-295" dirty="0">
                <a:latin typeface="Menlo"/>
                <a:cs typeface="Menlo"/>
              </a:rPr>
              <a:t> </a:t>
            </a:r>
            <a:r>
              <a:rPr sz="900" dirty="0">
                <a:latin typeface="Arial"/>
                <a:cs typeface="Arial"/>
              </a:rPr>
              <a:t>a</a:t>
            </a:r>
            <a:r>
              <a:rPr sz="900" spc="-25" dirty="0">
                <a:latin typeface="Arial"/>
                <a:cs typeface="Arial"/>
              </a:rPr>
              <a:t> </a:t>
            </a:r>
            <a:r>
              <a:rPr sz="900" dirty="0">
                <a:latin typeface="Arial"/>
                <a:cs typeface="Arial"/>
              </a:rPr>
              <a:t>known</a:t>
            </a:r>
            <a:r>
              <a:rPr sz="900" spc="-25" dirty="0">
                <a:latin typeface="Arial"/>
                <a:cs typeface="Arial"/>
              </a:rPr>
              <a:t> </a:t>
            </a:r>
            <a:r>
              <a:rPr sz="900" spc="-10" dirty="0">
                <a:latin typeface="Arial"/>
                <a:cs typeface="Arial"/>
              </a:rPr>
              <a:t>crash</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49022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Failure</a:t>
            </a:r>
            <a:r>
              <a:rPr sz="500" spc="20" dirty="0">
                <a:latin typeface="Arial"/>
                <a:cs typeface="Arial"/>
                <a:hlinkClick r:id="rId4" action="ppaction://hlinksldjump"/>
              </a:rPr>
              <a:t> </a:t>
            </a:r>
            <a:r>
              <a:rPr sz="500" spc="-10" dirty="0">
                <a:latin typeface="Arial"/>
                <a:cs typeface="Arial"/>
                <a:hlinkClick r:id="rId4" action="ppaction://hlinksldjump"/>
              </a:rPr>
              <a:t>detection</a:t>
            </a:r>
            <a:endParaRPr sz="500">
              <a:latin typeface="Arial"/>
              <a:cs typeface="Arial"/>
            </a:endParaRPr>
          </a:p>
        </p:txBody>
      </p:sp>
    </p:spTree>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15879" y="-1515"/>
            <a:ext cx="53911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Process</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resilience</a:t>
            </a:r>
            <a:endParaRPr sz="500">
              <a:latin typeface="Arial"/>
              <a:cs typeface="Arial"/>
            </a:endParaRPr>
          </a:p>
        </p:txBody>
      </p:sp>
      <p:sp>
        <p:nvSpPr>
          <p:cNvPr id="5" name="object 5"/>
          <p:cNvSpPr txBox="1"/>
          <p:nvPr/>
        </p:nvSpPr>
        <p:spPr>
          <a:xfrm>
            <a:off x="69900" y="197711"/>
            <a:ext cx="3868420" cy="1483995"/>
          </a:xfrm>
          <a:prstGeom prst="rect">
            <a:avLst/>
          </a:prstGeom>
        </p:spPr>
        <p:txBody>
          <a:bodyPr vert="horz" wrap="square" lIns="0" tIns="12065" rIns="0" bIns="0" rtlCol="0">
            <a:spAutoFit/>
          </a:bodyPr>
          <a:lstStyle/>
          <a:p>
            <a:pPr marL="38100">
              <a:lnSpc>
                <a:spcPct val="100000"/>
              </a:lnSpc>
              <a:spcBef>
                <a:spcPts val="95"/>
              </a:spcBef>
            </a:pPr>
            <a:r>
              <a:rPr sz="1200" dirty="0">
                <a:solidFill>
                  <a:srgbClr val="3333B2"/>
                </a:solidFill>
                <a:latin typeface="Arial"/>
                <a:cs typeface="Arial"/>
              </a:rPr>
              <a:t>Practical</a:t>
            </a:r>
            <a:r>
              <a:rPr sz="1200" spc="-75" dirty="0">
                <a:solidFill>
                  <a:srgbClr val="3333B2"/>
                </a:solidFill>
                <a:latin typeface="Arial"/>
                <a:cs typeface="Arial"/>
              </a:rPr>
              <a:t> </a:t>
            </a:r>
            <a:r>
              <a:rPr sz="1200" dirty="0">
                <a:solidFill>
                  <a:srgbClr val="3333B2"/>
                </a:solidFill>
                <a:latin typeface="Arial"/>
                <a:cs typeface="Arial"/>
              </a:rPr>
              <a:t>failure</a:t>
            </a:r>
            <a:r>
              <a:rPr sz="1200" spc="-70" dirty="0">
                <a:solidFill>
                  <a:srgbClr val="3333B2"/>
                </a:solidFill>
                <a:latin typeface="Arial"/>
                <a:cs typeface="Arial"/>
              </a:rPr>
              <a:t> </a:t>
            </a:r>
            <a:r>
              <a:rPr sz="1200" spc="-10" dirty="0">
                <a:solidFill>
                  <a:srgbClr val="3333B2"/>
                </a:solidFill>
                <a:latin typeface="Arial"/>
                <a:cs typeface="Arial"/>
              </a:rPr>
              <a:t>detection</a:t>
            </a:r>
            <a:endParaRPr sz="1200">
              <a:latin typeface="Arial"/>
              <a:cs typeface="Arial"/>
            </a:endParaRPr>
          </a:p>
          <a:p>
            <a:pPr marL="289560">
              <a:lnSpc>
                <a:spcPct val="100000"/>
              </a:lnSpc>
              <a:spcBef>
                <a:spcPts val="1055"/>
              </a:spcBef>
            </a:pPr>
            <a:r>
              <a:rPr sz="1000" spc="-10" dirty="0">
                <a:solidFill>
                  <a:srgbClr val="3333B2"/>
                </a:solidFill>
                <a:latin typeface="Arial"/>
                <a:cs typeface="Arial"/>
              </a:rPr>
              <a:t>Implementation</a:t>
            </a:r>
            <a:endParaRPr sz="1000">
              <a:latin typeface="Arial"/>
              <a:cs typeface="Arial"/>
            </a:endParaRPr>
          </a:p>
          <a:p>
            <a:pPr marL="542925" indent="-120650">
              <a:lnSpc>
                <a:spcPct val="100000"/>
              </a:lnSpc>
              <a:spcBef>
                <a:spcPts val="695"/>
              </a:spcBef>
              <a:buClr>
                <a:srgbClr val="3333B2"/>
              </a:buClr>
              <a:buFont typeface="Menlo"/>
              <a:buChar char="•"/>
              <a:tabLst>
                <a:tab pos="543560" algn="l"/>
              </a:tabLst>
            </a:pPr>
            <a:r>
              <a:rPr sz="900" dirty="0">
                <a:latin typeface="Arial"/>
                <a:cs typeface="Arial"/>
              </a:rPr>
              <a:t>If</a:t>
            </a:r>
            <a:r>
              <a:rPr sz="900" spc="-25" dirty="0">
                <a:latin typeface="Arial"/>
                <a:cs typeface="Arial"/>
              </a:rPr>
              <a:t> </a:t>
            </a:r>
            <a:r>
              <a:rPr sz="900" i="1" dirty="0">
                <a:latin typeface="Arial"/>
                <a:cs typeface="Arial"/>
              </a:rPr>
              <a:t>P</a:t>
            </a:r>
            <a:r>
              <a:rPr sz="900" i="1" spc="40" dirty="0">
                <a:latin typeface="Arial"/>
                <a:cs typeface="Arial"/>
              </a:rPr>
              <a:t> </a:t>
            </a:r>
            <a:r>
              <a:rPr sz="900" dirty="0">
                <a:latin typeface="Arial"/>
                <a:cs typeface="Arial"/>
              </a:rPr>
              <a:t>did</a:t>
            </a:r>
            <a:r>
              <a:rPr sz="900" spc="-15" dirty="0">
                <a:latin typeface="Arial"/>
                <a:cs typeface="Arial"/>
              </a:rPr>
              <a:t> </a:t>
            </a:r>
            <a:r>
              <a:rPr sz="900" dirty="0">
                <a:latin typeface="Arial"/>
                <a:cs typeface="Arial"/>
              </a:rPr>
              <a:t>not</a:t>
            </a:r>
            <a:r>
              <a:rPr sz="900" spc="-20" dirty="0">
                <a:latin typeface="Arial"/>
                <a:cs typeface="Arial"/>
              </a:rPr>
              <a:t> </a:t>
            </a:r>
            <a:r>
              <a:rPr sz="900" dirty="0">
                <a:latin typeface="Arial"/>
                <a:cs typeface="Arial"/>
              </a:rPr>
              <a:t>receive</a:t>
            </a:r>
            <a:r>
              <a:rPr sz="900" spc="-20" dirty="0">
                <a:latin typeface="Arial"/>
                <a:cs typeface="Arial"/>
              </a:rPr>
              <a:t> </a:t>
            </a:r>
            <a:r>
              <a:rPr sz="900" dirty="0">
                <a:solidFill>
                  <a:srgbClr val="3333B2"/>
                </a:solidFill>
                <a:latin typeface="Arial"/>
                <a:cs typeface="Arial"/>
              </a:rPr>
              <a:t>heartbeat</a:t>
            </a:r>
            <a:r>
              <a:rPr sz="900" spc="-15" dirty="0">
                <a:solidFill>
                  <a:srgbClr val="3333B2"/>
                </a:solidFill>
                <a:latin typeface="Arial"/>
                <a:cs typeface="Arial"/>
              </a:rPr>
              <a:t> </a:t>
            </a:r>
            <a:r>
              <a:rPr sz="900" dirty="0">
                <a:latin typeface="Arial"/>
                <a:cs typeface="Arial"/>
              </a:rPr>
              <a:t>from</a:t>
            </a:r>
            <a:r>
              <a:rPr sz="900" spc="-20" dirty="0">
                <a:latin typeface="Arial"/>
                <a:cs typeface="Arial"/>
              </a:rPr>
              <a:t> </a:t>
            </a:r>
            <a:r>
              <a:rPr sz="900" i="1" dirty="0">
                <a:latin typeface="Arial"/>
                <a:cs typeface="Arial"/>
              </a:rPr>
              <a:t>Q</a:t>
            </a:r>
            <a:r>
              <a:rPr sz="900" i="1" spc="25" dirty="0">
                <a:latin typeface="Arial"/>
                <a:cs typeface="Arial"/>
              </a:rPr>
              <a:t> </a:t>
            </a:r>
            <a:r>
              <a:rPr sz="900" dirty="0">
                <a:latin typeface="Arial"/>
                <a:cs typeface="Arial"/>
              </a:rPr>
              <a:t>within</a:t>
            </a:r>
            <a:r>
              <a:rPr sz="900" spc="-20" dirty="0">
                <a:latin typeface="Arial"/>
                <a:cs typeface="Arial"/>
              </a:rPr>
              <a:t> </a:t>
            </a:r>
            <a:r>
              <a:rPr sz="900" dirty="0">
                <a:latin typeface="Arial"/>
                <a:cs typeface="Arial"/>
              </a:rPr>
              <a:t>time</a:t>
            </a:r>
            <a:r>
              <a:rPr sz="900" spc="-20" dirty="0">
                <a:latin typeface="Arial"/>
                <a:cs typeface="Arial"/>
              </a:rPr>
              <a:t> </a:t>
            </a:r>
            <a:r>
              <a:rPr sz="900" i="1" spc="-10" dirty="0">
                <a:latin typeface="Arial"/>
                <a:cs typeface="Arial"/>
              </a:rPr>
              <a:t>t</a:t>
            </a:r>
            <a:r>
              <a:rPr sz="900" i="1" spc="-170" dirty="0">
                <a:latin typeface="Arial"/>
                <a:cs typeface="Arial"/>
              </a:rPr>
              <a:t> </a:t>
            </a:r>
            <a:r>
              <a:rPr sz="900" dirty="0">
                <a:latin typeface="Arial"/>
                <a:cs typeface="Arial"/>
              </a:rPr>
              <a:t>:</a:t>
            </a:r>
            <a:r>
              <a:rPr sz="900" spc="40" dirty="0">
                <a:latin typeface="Arial"/>
                <a:cs typeface="Arial"/>
              </a:rPr>
              <a:t> </a:t>
            </a:r>
            <a:r>
              <a:rPr sz="900" i="1" dirty="0">
                <a:solidFill>
                  <a:srgbClr val="C80000"/>
                </a:solidFill>
                <a:latin typeface="Arial"/>
                <a:cs typeface="Arial"/>
              </a:rPr>
              <a:t>P</a:t>
            </a:r>
            <a:r>
              <a:rPr sz="900" i="1" spc="40" dirty="0">
                <a:solidFill>
                  <a:srgbClr val="C80000"/>
                </a:solidFill>
                <a:latin typeface="Arial"/>
                <a:cs typeface="Arial"/>
              </a:rPr>
              <a:t> </a:t>
            </a:r>
            <a:r>
              <a:rPr sz="900" dirty="0">
                <a:solidFill>
                  <a:srgbClr val="C80000"/>
                </a:solidFill>
                <a:latin typeface="Arial"/>
                <a:cs typeface="Arial"/>
              </a:rPr>
              <a:t>suspects</a:t>
            </a:r>
            <a:r>
              <a:rPr sz="900" spc="-15" dirty="0">
                <a:solidFill>
                  <a:srgbClr val="C80000"/>
                </a:solidFill>
                <a:latin typeface="Arial"/>
                <a:cs typeface="Arial"/>
              </a:rPr>
              <a:t> </a:t>
            </a:r>
            <a:r>
              <a:rPr sz="900" i="1" spc="-25" dirty="0">
                <a:solidFill>
                  <a:srgbClr val="C80000"/>
                </a:solidFill>
                <a:latin typeface="Arial"/>
                <a:cs typeface="Arial"/>
              </a:rPr>
              <a:t>Q</a:t>
            </a:r>
            <a:r>
              <a:rPr sz="900" spc="-25" dirty="0">
                <a:latin typeface="Arial"/>
                <a:cs typeface="Arial"/>
              </a:rPr>
              <a:t>.</a:t>
            </a:r>
            <a:endParaRPr sz="900">
              <a:latin typeface="Arial"/>
              <a:cs typeface="Arial"/>
            </a:endParaRPr>
          </a:p>
          <a:p>
            <a:pPr marL="542925" indent="-120650">
              <a:lnSpc>
                <a:spcPct val="100000"/>
              </a:lnSpc>
              <a:spcBef>
                <a:spcPts val="525"/>
              </a:spcBef>
              <a:buClr>
                <a:srgbClr val="3333B2"/>
              </a:buClr>
              <a:buFont typeface="Menlo"/>
              <a:buChar char="•"/>
              <a:tabLst>
                <a:tab pos="543560" algn="l"/>
              </a:tabLst>
            </a:pPr>
            <a:r>
              <a:rPr sz="900" dirty="0">
                <a:latin typeface="Arial"/>
                <a:cs typeface="Arial"/>
              </a:rPr>
              <a:t>If</a:t>
            </a:r>
            <a:r>
              <a:rPr sz="900" spc="-20" dirty="0">
                <a:latin typeface="Arial"/>
                <a:cs typeface="Arial"/>
              </a:rPr>
              <a:t> </a:t>
            </a:r>
            <a:r>
              <a:rPr sz="900" i="1" dirty="0">
                <a:latin typeface="Arial"/>
                <a:cs typeface="Arial"/>
              </a:rPr>
              <a:t>Q</a:t>
            </a:r>
            <a:r>
              <a:rPr sz="900" i="1" spc="25" dirty="0">
                <a:latin typeface="Arial"/>
                <a:cs typeface="Arial"/>
              </a:rPr>
              <a:t> </a:t>
            </a:r>
            <a:r>
              <a:rPr sz="900" dirty="0">
                <a:latin typeface="Arial"/>
                <a:cs typeface="Arial"/>
              </a:rPr>
              <a:t>later</a:t>
            </a:r>
            <a:r>
              <a:rPr sz="900" spc="-20" dirty="0">
                <a:latin typeface="Arial"/>
                <a:cs typeface="Arial"/>
              </a:rPr>
              <a:t> </a:t>
            </a:r>
            <a:r>
              <a:rPr sz="900" dirty="0">
                <a:latin typeface="Arial"/>
                <a:cs typeface="Arial"/>
              </a:rPr>
              <a:t>sends</a:t>
            </a:r>
            <a:r>
              <a:rPr sz="900" spc="-20" dirty="0">
                <a:latin typeface="Arial"/>
                <a:cs typeface="Arial"/>
              </a:rPr>
              <a:t> </a:t>
            </a:r>
            <a:r>
              <a:rPr sz="900" dirty="0">
                <a:latin typeface="Arial"/>
                <a:cs typeface="Arial"/>
              </a:rPr>
              <a:t>a</a:t>
            </a:r>
            <a:r>
              <a:rPr sz="900" spc="-15" dirty="0">
                <a:latin typeface="Arial"/>
                <a:cs typeface="Arial"/>
              </a:rPr>
              <a:t> </a:t>
            </a:r>
            <a:r>
              <a:rPr sz="900" dirty="0">
                <a:latin typeface="Arial"/>
                <a:cs typeface="Arial"/>
              </a:rPr>
              <a:t>message</a:t>
            </a:r>
            <a:r>
              <a:rPr sz="900" spc="-20" dirty="0">
                <a:latin typeface="Arial"/>
                <a:cs typeface="Arial"/>
              </a:rPr>
              <a:t> </a:t>
            </a:r>
            <a:r>
              <a:rPr sz="900" dirty="0">
                <a:latin typeface="Arial"/>
                <a:cs typeface="Arial"/>
              </a:rPr>
              <a:t>(which</a:t>
            </a:r>
            <a:r>
              <a:rPr sz="900" spc="-20" dirty="0">
                <a:latin typeface="Arial"/>
                <a:cs typeface="Arial"/>
              </a:rPr>
              <a:t> </a:t>
            </a:r>
            <a:r>
              <a:rPr sz="900" dirty="0">
                <a:latin typeface="Arial"/>
                <a:cs typeface="Arial"/>
              </a:rPr>
              <a:t>is</a:t>
            </a:r>
            <a:r>
              <a:rPr sz="900" spc="-15" dirty="0">
                <a:latin typeface="Arial"/>
                <a:cs typeface="Arial"/>
              </a:rPr>
              <a:t> </a:t>
            </a:r>
            <a:r>
              <a:rPr sz="900" spc="-10" dirty="0">
                <a:latin typeface="Arial"/>
                <a:cs typeface="Arial"/>
              </a:rPr>
              <a:t>received</a:t>
            </a:r>
            <a:r>
              <a:rPr sz="900" spc="-20" dirty="0">
                <a:latin typeface="Arial"/>
                <a:cs typeface="Arial"/>
              </a:rPr>
              <a:t> </a:t>
            </a:r>
            <a:r>
              <a:rPr sz="900" dirty="0">
                <a:latin typeface="Arial"/>
                <a:cs typeface="Arial"/>
              </a:rPr>
              <a:t>by</a:t>
            </a:r>
            <a:r>
              <a:rPr sz="900" spc="-20" dirty="0">
                <a:latin typeface="Arial"/>
                <a:cs typeface="Arial"/>
              </a:rPr>
              <a:t> </a:t>
            </a:r>
            <a:r>
              <a:rPr sz="900" i="1" spc="-25" dirty="0">
                <a:latin typeface="Arial"/>
                <a:cs typeface="Arial"/>
              </a:rPr>
              <a:t>P</a:t>
            </a:r>
            <a:r>
              <a:rPr sz="900" spc="-25" dirty="0">
                <a:latin typeface="Arial"/>
                <a:cs typeface="Arial"/>
              </a:rPr>
              <a:t>):</a:t>
            </a:r>
            <a:endParaRPr sz="900">
              <a:latin typeface="Arial"/>
              <a:cs typeface="Arial"/>
            </a:endParaRPr>
          </a:p>
          <a:p>
            <a:pPr marL="795655" lvl="1" indent="-120650">
              <a:lnSpc>
                <a:spcPct val="100000"/>
              </a:lnSpc>
              <a:spcBef>
                <a:spcPts val="525"/>
              </a:spcBef>
              <a:buClr>
                <a:srgbClr val="3333B2"/>
              </a:buClr>
              <a:buFont typeface="Menlo"/>
              <a:buChar char="•"/>
              <a:tabLst>
                <a:tab pos="796290" algn="l"/>
              </a:tabLst>
            </a:pPr>
            <a:r>
              <a:rPr sz="900" i="1" dirty="0">
                <a:latin typeface="Arial"/>
                <a:cs typeface="Arial"/>
              </a:rPr>
              <a:t>P</a:t>
            </a:r>
            <a:r>
              <a:rPr sz="900" i="1" spc="30" dirty="0">
                <a:latin typeface="Arial"/>
                <a:cs typeface="Arial"/>
              </a:rPr>
              <a:t> </a:t>
            </a:r>
            <a:r>
              <a:rPr sz="900" dirty="0">
                <a:latin typeface="Arial"/>
                <a:cs typeface="Arial"/>
              </a:rPr>
              <a:t>stops</a:t>
            </a:r>
            <a:r>
              <a:rPr sz="900" spc="-25" dirty="0">
                <a:latin typeface="Arial"/>
                <a:cs typeface="Arial"/>
              </a:rPr>
              <a:t> </a:t>
            </a:r>
            <a:r>
              <a:rPr sz="900" dirty="0">
                <a:latin typeface="Arial"/>
                <a:cs typeface="Arial"/>
              </a:rPr>
              <a:t>suspecting</a:t>
            </a:r>
            <a:r>
              <a:rPr sz="900" spc="-30" dirty="0">
                <a:latin typeface="Arial"/>
                <a:cs typeface="Arial"/>
              </a:rPr>
              <a:t> </a:t>
            </a:r>
            <a:r>
              <a:rPr sz="900" i="1" spc="-50" dirty="0">
                <a:latin typeface="Arial"/>
                <a:cs typeface="Arial"/>
              </a:rPr>
              <a:t>Q</a:t>
            </a:r>
            <a:endParaRPr sz="900">
              <a:latin typeface="Arial"/>
              <a:cs typeface="Arial"/>
            </a:endParaRPr>
          </a:p>
          <a:p>
            <a:pPr marL="795655" lvl="1" indent="-120650">
              <a:lnSpc>
                <a:spcPct val="100000"/>
              </a:lnSpc>
              <a:spcBef>
                <a:spcPts val="125"/>
              </a:spcBef>
              <a:buClr>
                <a:srgbClr val="3333B2"/>
              </a:buClr>
              <a:buFont typeface="Menlo"/>
              <a:buChar char="•"/>
              <a:tabLst>
                <a:tab pos="796290" algn="l"/>
              </a:tabLst>
            </a:pPr>
            <a:r>
              <a:rPr sz="900" i="1" dirty="0">
                <a:latin typeface="Arial"/>
                <a:cs typeface="Arial"/>
              </a:rPr>
              <a:t>P</a:t>
            </a:r>
            <a:r>
              <a:rPr sz="900" i="1" spc="25" dirty="0">
                <a:latin typeface="Arial"/>
                <a:cs typeface="Arial"/>
              </a:rPr>
              <a:t> </a:t>
            </a:r>
            <a:r>
              <a:rPr sz="900" dirty="0">
                <a:latin typeface="Arial"/>
                <a:cs typeface="Arial"/>
              </a:rPr>
              <a:t>increases</a:t>
            </a:r>
            <a:r>
              <a:rPr sz="900" spc="-30"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timeout</a:t>
            </a:r>
            <a:r>
              <a:rPr sz="900" spc="-30" dirty="0">
                <a:latin typeface="Arial"/>
                <a:cs typeface="Arial"/>
              </a:rPr>
              <a:t> </a:t>
            </a:r>
            <a:r>
              <a:rPr sz="900" dirty="0">
                <a:latin typeface="Arial"/>
                <a:cs typeface="Arial"/>
              </a:rPr>
              <a:t>value</a:t>
            </a:r>
            <a:r>
              <a:rPr sz="900" spc="-30" dirty="0">
                <a:latin typeface="Arial"/>
                <a:cs typeface="Arial"/>
              </a:rPr>
              <a:t> </a:t>
            </a:r>
            <a:r>
              <a:rPr sz="900" i="1" spc="-50" dirty="0">
                <a:latin typeface="Arial"/>
                <a:cs typeface="Arial"/>
              </a:rPr>
              <a:t>t</a:t>
            </a:r>
            <a:endParaRPr sz="900">
              <a:latin typeface="Arial"/>
              <a:cs typeface="Arial"/>
            </a:endParaRPr>
          </a:p>
          <a:p>
            <a:pPr marL="542925" indent="-120650">
              <a:lnSpc>
                <a:spcPct val="100000"/>
              </a:lnSpc>
              <a:spcBef>
                <a:spcPts val="525"/>
              </a:spcBef>
              <a:buClr>
                <a:srgbClr val="3333B2"/>
              </a:buClr>
              <a:buFont typeface="Menlo"/>
              <a:buChar char="•"/>
              <a:tabLst>
                <a:tab pos="543560" algn="l"/>
              </a:tabLst>
            </a:pPr>
            <a:r>
              <a:rPr sz="900" dirty="0">
                <a:solidFill>
                  <a:srgbClr val="C80000"/>
                </a:solidFill>
                <a:latin typeface="Arial"/>
                <a:cs typeface="Arial"/>
              </a:rPr>
              <a:t>Note</a:t>
            </a:r>
            <a:r>
              <a:rPr sz="900" dirty="0">
                <a:latin typeface="Arial"/>
                <a:cs typeface="Arial"/>
              </a:rPr>
              <a:t>:</a:t>
            </a:r>
            <a:r>
              <a:rPr sz="900" spc="30" dirty="0">
                <a:latin typeface="Arial"/>
                <a:cs typeface="Arial"/>
              </a:rPr>
              <a:t> </a:t>
            </a:r>
            <a:r>
              <a:rPr sz="900" dirty="0">
                <a:latin typeface="Arial"/>
                <a:cs typeface="Arial"/>
              </a:rPr>
              <a:t>if</a:t>
            </a:r>
            <a:r>
              <a:rPr sz="900" spc="-25" dirty="0">
                <a:latin typeface="Arial"/>
                <a:cs typeface="Arial"/>
              </a:rPr>
              <a:t> </a:t>
            </a:r>
            <a:r>
              <a:rPr sz="900" i="1" dirty="0">
                <a:latin typeface="Arial"/>
                <a:cs typeface="Arial"/>
              </a:rPr>
              <a:t>Q</a:t>
            </a:r>
            <a:r>
              <a:rPr sz="900" i="1" spc="20" dirty="0">
                <a:latin typeface="Arial"/>
                <a:cs typeface="Arial"/>
              </a:rPr>
              <a:t> </a:t>
            </a:r>
            <a:r>
              <a:rPr sz="900" dirty="0">
                <a:latin typeface="Arial"/>
                <a:cs typeface="Arial"/>
              </a:rPr>
              <a:t>did</a:t>
            </a:r>
            <a:r>
              <a:rPr sz="900" spc="-25" dirty="0">
                <a:latin typeface="Arial"/>
                <a:cs typeface="Arial"/>
              </a:rPr>
              <a:t> </a:t>
            </a:r>
            <a:r>
              <a:rPr sz="900" dirty="0">
                <a:latin typeface="Arial"/>
                <a:cs typeface="Arial"/>
              </a:rPr>
              <a:t>crash,</a:t>
            </a:r>
            <a:r>
              <a:rPr sz="900" spc="-25" dirty="0">
                <a:latin typeface="Arial"/>
                <a:cs typeface="Arial"/>
              </a:rPr>
              <a:t> </a:t>
            </a:r>
            <a:r>
              <a:rPr sz="900" i="1" dirty="0">
                <a:latin typeface="Arial"/>
                <a:cs typeface="Arial"/>
              </a:rPr>
              <a:t>P</a:t>
            </a:r>
            <a:r>
              <a:rPr sz="900" i="1" spc="40" dirty="0">
                <a:latin typeface="Arial"/>
                <a:cs typeface="Arial"/>
              </a:rPr>
              <a:t> </a:t>
            </a:r>
            <a:r>
              <a:rPr sz="900" dirty="0">
                <a:latin typeface="Arial"/>
                <a:cs typeface="Arial"/>
              </a:rPr>
              <a:t>will</a:t>
            </a:r>
            <a:r>
              <a:rPr sz="900" spc="-25" dirty="0">
                <a:latin typeface="Arial"/>
                <a:cs typeface="Arial"/>
              </a:rPr>
              <a:t> </a:t>
            </a:r>
            <a:r>
              <a:rPr sz="900" dirty="0">
                <a:latin typeface="Arial"/>
                <a:cs typeface="Arial"/>
              </a:rPr>
              <a:t>keep</a:t>
            </a:r>
            <a:r>
              <a:rPr sz="900" spc="-25" dirty="0">
                <a:latin typeface="Arial"/>
                <a:cs typeface="Arial"/>
              </a:rPr>
              <a:t> </a:t>
            </a:r>
            <a:r>
              <a:rPr sz="900" dirty="0">
                <a:latin typeface="Arial"/>
                <a:cs typeface="Arial"/>
              </a:rPr>
              <a:t>suspecting</a:t>
            </a:r>
            <a:r>
              <a:rPr sz="900" spc="-25" dirty="0">
                <a:latin typeface="Arial"/>
                <a:cs typeface="Arial"/>
              </a:rPr>
              <a:t> </a:t>
            </a:r>
            <a:r>
              <a:rPr sz="900" i="1" spc="-25" dirty="0">
                <a:latin typeface="Arial"/>
                <a:cs typeface="Arial"/>
              </a:rPr>
              <a:t>Q</a:t>
            </a:r>
            <a:r>
              <a:rPr sz="900" spc="-25" dirty="0">
                <a:latin typeface="Arial"/>
                <a:cs typeface="Arial"/>
              </a:rPr>
              <a:t>.</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49022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Failure</a:t>
            </a:r>
            <a:r>
              <a:rPr sz="500" spc="20" dirty="0">
                <a:latin typeface="Arial"/>
                <a:cs typeface="Arial"/>
                <a:hlinkClick r:id="rId4" action="ppaction://hlinksldjump"/>
              </a:rPr>
              <a:t> </a:t>
            </a:r>
            <a:r>
              <a:rPr sz="500" spc="-10" dirty="0">
                <a:latin typeface="Arial"/>
                <a:cs typeface="Arial"/>
                <a:hlinkClick r:id="rId4" action="ppaction://hlinksldjump"/>
              </a:rPr>
              <a:t>detection</a:t>
            </a:r>
            <a:endParaRPr sz="500">
              <a:latin typeface="Arial"/>
              <a:cs typeface="Arial"/>
            </a:endParaRPr>
          </a:p>
        </p:txBody>
      </p:sp>
    </p:spTree>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497198" y="-1515"/>
            <a:ext cx="1057910"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Reliable</a:t>
            </a:r>
            <a:r>
              <a:rPr sz="500" spc="-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client-</a:t>
            </a:r>
            <a:r>
              <a:rPr sz="500" dirty="0">
                <a:solidFill>
                  <a:srgbClr val="FFFFFF"/>
                </a:solidFill>
                <a:latin typeface="Arial"/>
                <a:cs typeface="Arial"/>
                <a:hlinkClick r:id="rId3" action="ppaction://hlinksldjump"/>
              </a:rPr>
              <a:t>server </a:t>
            </a:r>
            <a:r>
              <a:rPr sz="500" spc="-10" dirty="0">
                <a:solidFill>
                  <a:srgbClr val="FFFFFF"/>
                </a:solidFill>
                <a:latin typeface="Arial"/>
                <a:cs typeface="Arial"/>
                <a:hlinkClick r:id="rId3" action="ppaction://hlinksldjump"/>
              </a:rPr>
              <a:t>communication</a:t>
            </a:r>
            <a:endParaRPr sz="500">
              <a:latin typeface="Arial"/>
              <a:cs typeface="Arial"/>
            </a:endParaRPr>
          </a:p>
        </p:txBody>
      </p:sp>
      <p:sp>
        <p:nvSpPr>
          <p:cNvPr id="5" name="object 5"/>
          <p:cNvSpPr txBox="1"/>
          <p:nvPr/>
        </p:nvSpPr>
        <p:spPr>
          <a:xfrm>
            <a:off x="95300" y="197711"/>
            <a:ext cx="3394710" cy="1536700"/>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Reliable</a:t>
            </a:r>
            <a:r>
              <a:rPr sz="1200" spc="-60" dirty="0">
                <a:solidFill>
                  <a:srgbClr val="3333B2"/>
                </a:solidFill>
                <a:latin typeface="Arial"/>
                <a:cs typeface="Arial"/>
              </a:rPr>
              <a:t> </a:t>
            </a:r>
            <a:r>
              <a:rPr sz="1200" dirty="0">
                <a:solidFill>
                  <a:srgbClr val="3333B2"/>
                </a:solidFill>
                <a:latin typeface="Arial"/>
                <a:cs typeface="Arial"/>
              </a:rPr>
              <a:t>remote</a:t>
            </a:r>
            <a:r>
              <a:rPr sz="1200" spc="-60" dirty="0">
                <a:solidFill>
                  <a:srgbClr val="3333B2"/>
                </a:solidFill>
                <a:latin typeface="Arial"/>
                <a:cs typeface="Arial"/>
              </a:rPr>
              <a:t> </a:t>
            </a:r>
            <a:r>
              <a:rPr sz="1200" dirty="0">
                <a:solidFill>
                  <a:srgbClr val="3333B2"/>
                </a:solidFill>
                <a:latin typeface="Arial"/>
                <a:cs typeface="Arial"/>
              </a:rPr>
              <a:t>procedure</a:t>
            </a:r>
            <a:r>
              <a:rPr sz="1200" spc="-55" dirty="0">
                <a:solidFill>
                  <a:srgbClr val="3333B2"/>
                </a:solidFill>
                <a:latin typeface="Arial"/>
                <a:cs typeface="Arial"/>
              </a:rPr>
              <a:t> </a:t>
            </a:r>
            <a:r>
              <a:rPr sz="1200" spc="-10" dirty="0">
                <a:solidFill>
                  <a:srgbClr val="3333B2"/>
                </a:solidFill>
                <a:latin typeface="Arial"/>
                <a:cs typeface="Arial"/>
              </a:rPr>
              <a:t>calls</a:t>
            </a:r>
            <a:endParaRPr sz="1200">
              <a:latin typeface="Arial"/>
              <a:cs typeface="Arial"/>
            </a:endParaRPr>
          </a:p>
          <a:p>
            <a:pPr marL="258445">
              <a:lnSpc>
                <a:spcPct val="100000"/>
              </a:lnSpc>
              <a:spcBef>
                <a:spcPts val="1055"/>
              </a:spcBef>
            </a:pPr>
            <a:r>
              <a:rPr sz="1000" dirty="0">
                <a:solidFill>
                  <a:srgbClr val="3333B2"/>
                </a:solidFill>
                <a:latin typeface="Arial"/>
                <a:cs typeface="Arial"/>
              </a:rPr>
              <a:t>What</a:t>
            </a:r>
            <a:r>
              <a:rPr sz="1000" spc="-25" dirty="0">
                <a:solidFill>
                  <a:srgbClr val="3333B2"/>
                </a:solidFill>
                <a:latin typeface="Arial"/>
                <a:cs typeface="Arial"/>
              </a:rPr>
              <a:t> </a:t>
            </a:r>
            <a:r>
              <a:rPr sz="1000" dirty="0">
                <a:solidFill>
                  <a:srgbClr val="3333B2"/>
                </a:solidFill>
                <a:latin typeface="Arial"/>
                <a:cs typeface="Arial"/>
              </a:rPr>
              <a:t>can</a:t>
            </a:r>
            <a:r>
              <a:rPr sz="1000" spc="-20" dirty="0">
                <a:solidFill>
                  <a:srgbClr val="3333B2"/>
                </a:solidFill>
                <a:latin typeface="Arial"/>
                <a:cs typeface="Arial"/>
              </a:rPr>
              <a:t> </a:t>
            </a:r>
            <a:r>
              <a:rPr sz="1000" dirty="0">
                <a:solidFill>
                  <a:srgbClr val="3333B2"/>
                </a:solidFill>
                <a:latin typeface="Arial"/>
                <a:cs typeface="Arial"/>
              </a:rPr>
              <a:t>go</a:t>
            </a:r>
            <a:r>
              <a:rPr sz="1000" spc="-25" dirty="0">
                <a:solidFill>
                  <a:srgbClr val="3333B2"/>
                </a:solidFill>
                <a:latin typeface="Arial"/>
                <a:cs typeface="Arial"/>
              </a:rPr>
              <a:t> </a:t>
            </a:r>
            <a:r>
              <a:rPr sz="1000" spc="-10" dirty="0">
                <a:solidFill>
                  <a:srgbClr val="3333B2"/>
                </a:solidFill>
                <a:latin typeface="Arial"/>
                <a:cs typeface="Arial"/>
              </a:rPr>
              <a:t>wrong?</a:t>
            </a:r>
            <a:endParaRPr sz="1000">
              <a:latin typeface="Arial"/>
              <a:cs typeface="Arial"/>
            </a:endParaRPr>
          </a:p>
          <a:p>
            <a:pPr marL="513715" indent="-154940">
              <a:lnSpc>
                <a:spcPct val="100000"/>
              </a:lnSpc>
              <a:spcBef>
                <a:spcPts val="710"/>
              </a:spcBef>
              <a:buClr>
                <a:srgbClr val="3333B2"/>
              </a:buClr>
              <a:buAutoNum type="arabicPeriod"/>
              <a:tabLst>
                <a:tab pos="514350" algn="l"/>
              </a:tabLst>
            </a:pPr>
            <a:r>
              <a:rPr sz="900" dirty="0">
                <a:latin typeface="Arial"/>
                <a:cs typeface="Arial"/>
              </a:rPr>
              <a:t>The</a:t>
            </a:r>
            <a:r>
              <a:rPr sz="900" spc="-25" dirty="0">
                <a:latin typeface="Arial"/>
                <a:cs typeface="Arial"/>
              </a:rPr>
              <a:t> </a:t>
            </a:r>
            <a:r>
              <a:rPr sz="900" dirty="0">
                <a:latin typeface="Arial"/>
                <a:cs typeface="Arial"/>
              </a:rPr>
              <a:t>client</a:t>
            </a:r>
            <a:r>
              <a:rPr sz="900" spc="-25"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unable</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locate</a:t>
            </a:r>
            <a:r>
              <a:rPr sz="900" spc="-20" dirty="0">
                <a:latin typeface="Arial"/>
                <a:cs typeface="Arial"/>
              </a:rPr>
              <a:t> </a:t>
            </a:r>
            <a:r>
              <a:rPr sz="900" dirty="0">
                <a:latin typeface="Arial"/>
                <a:cs typeface="Arial"/>
              </a:rPr>
              <a:t>the</a:t>
            </a:r>
            <a:r>
              <a:rPr sz="900" spc="-25" dirty="0">
                <a:latin typeface="Arial"/>
                <a:cs typeface="Arial"/>
              </a:rPr>
              <a:t> </a:t>
            </a:r>
            <a:r>
              <a:rPr sz="900" spc="-10" dirty="0">
                <a:latin typeface="Arial"/>
                <a:cs typeface="Arial"/>
              </a:rPr>
              <a:t>server.</a:t>
            </a:r>
            <a:endParaRPr sz="900">
              <a:latin typeface="Arial"/>
              <a:cs typeface="Arial"/>
            </a:endParaRPr>
          </a:p>
          <a:p>
            <a:pPr marL="513715" indent="-154940">
              <a:lnSpc>
                <a:spcPct val="100000"/>
              </a:lnSpc>
              <a:spcBef>
                <a:spcPts val="525"/>
              </a:spcBef>
              <a:buClr>
                <a:srgbClr val="3333B2"/>
              </a:buClr>
              <a:buAutoNum type="arabicPeriod"/>
              <a:tabLst>
                <a:tab pos="514350" algn="l"/>
              </a:tabLst>
            </a:pPr>
            <a:r>
              <a:rPr sz="900" dirty="0">
                <a:latin typeface="Arial"/>
                <a:cs typeface="Arial"/>
              </a:rPr>
              <a:t>The</a:t>
            </a:r>
            <a:r>
              <a:rPr sz="900" spc="-25" dirty="0">
                <a:latin typeface="Arial"/>
                <a:cs typeface="Arial"/>
              </a:rPr>
              <a:t> </a:t>
            </a:r>
            <a:r>
              <a:rPr sz="900" dirty="0">
                <a:latin typeface="Arial"/>
                <a:cs typeface="Arial"/>
              </a:rPr>
              <a:t>request</a:t>
            </a:r>
            <a:r>
              <a:rPr sz="900" spc="-25" dirty="0">
                <a:latin typeface="Arial"/>
                <a:cs typeface="Arial"/>
              </a:rPr>
              <a:t> </a:t>
            </a:r>
            <a:r>
              <a:rPr sz="900" dirty="0">
                <a:latin typeface="Arial"/>
                <a:cs typeface="Arial"/>
              </a:rPr>
              <a:t>message</a:t>
            </a:r>
            <a:r>
              <a:rPr sz="900" spc="-25" dirty="0">
                <a:latin typeface="Arial"/>
                <a:cs typeface="Arial"/>
              </a:rPr>
              <a:t> </a:t>
            </a:r>
            <a:r>
              <a:rPr sz="900" dirty="0">
                <a:latin typeface="Arial"/>
                <a:cs typeface="Arial"/>
              </a:rPr>
              <a:t>from</a:t>
            </a:r>
            <a:r>
              <a:rPr sz="900" spc="-2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client</a:t>
            </a:r>
            <a:r>
              <a:rPr sz="900" spc="-25"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server</a:t>
            </a:r>
            <a:r>
              <a:rPr sz="900" spc="-25" dirty="0">
                <a:latin typeface="Arial"/>
                <a:cs typeface="Arial"/>
              </a:rPr>
              <a:t> </a:t>
            </a:r>
            <a:r>
              <a:rPr sz="900" dirty="0">
                <a:latin typeface="Arial"/>
                <a:cs typeface="Arial"/>
              </a:rPr>
              <a:t>is</a:t>
            </a:r>
            <a:r>
              <a:rPr sz="900" spc="-25" dirty="0">
                <a:latin typeface="Arial"/>
                <a:cs typeface="Arial"/>
              </a:rPr>
              <a:t> </a:t>
            </a:r>
            <a:r>
              <a:rPr sz="900" spc="-10" dirty="0">
                <a:latin typeface="Arial"/>
                <a:cs typeface="Arial"/>
              </a:rPr>
              <a:t>lost.</a:t>
            </a:r>
            <a:endParaRPr sz="900">
              <a:latin typeface="Arial"/>
              <a:cs typeface="Arial"/>
            </a:endParaRPr>
          </a:p>
          <a:p>
            <a:pPr marL="513715" indent="-154940">
              <a:lnSpc>
                <a:spcPct val="100000"/>
              </a:lnSpc>
              <a:spcBef>
                <a:spcPts val="520"/>
              </a:spcBef>
              <a:buClr>
                <a:srgbClr val="3333B2"/>
              </a:buClr>
              <a:buAutoNum type="arabicPeriod"/>
              <a:tabLst>
                <a:tab pos="514350" algn="l"/>
              </a:tabLst>
            </a:pPr>
            <a:r>
              <a:rPr sz="900" dirty="0">
                <a:latin typeface="Arial"/>
                <a:cs typeface="Arial"/>
              </a:rPr>
              <a:t>The</a:t>
            </a:r>
            <a:r>
              <a:rPr sz="900" spc="-30" dirty="0">
                <a:latin typeface="Arial"/>
                <a:cs typeface="Arial"/>
              </a:rPr>
              <a:t> </a:t>
            </a:r>
            <a:r>
              <a:rPr sz="900" dirty="0">
                <a:latin typeface="Arial"/>
                <a:cs typeface="Arial"/>
              </a:rPr>
              <a:t>server</a:t>
            </a:r>
            <a:r>
              <a:rPr sz="900" spc="-30" dirty="0">
                <a:latin typeface="Arial"/>
                <a:cs typeface="Arial"/>
              </a:rPr>
              <a:t> </a:t>
            </a:r>
            <a:r>
              <a:rPr sz="900" dirty="0">
                <a:latin typeface="Arial"/>
                <a:cs typeface="Arial"/>
              </a:rPr>
              <a:t>crashes</a:t>
            </a:r>
            <a:r>
              <a:rPr sz="900" spc="-30" dirty="0">
                <a:latin typeface="Arial"/>
                <a:cs typeface="Arial"/>
              </a:rPr>
              <a:t> </a:t>
            </a:r>
            <a:r>
              <a:rPr sz="900" dirty="0">
                <a:latin typeface="Arial"/>
                <a:cs typeface="Arial"/>
              </a:rPr>
              <a:t>after</a:t>
            </a:r>
            <a:r>
              <a:rPr sz="900" spc="-25" dirty="0">
                <a:latin typeface="Arial"/>
                <a:cs typeface="Arial"/>
              </a:rPr>
              <a:t> </a:t>
            </a:r>
            <a:r>
              <a:rPr sz="900" dirty="0">
                <a:latin typeface="Arial"/>
                <a:cs typeface="Arial"/>
              </a:rPr>
              <a:t>receiving</a:t>
            </a:r>
            <a:r>
              <a:rPr sz="900" spc="-30" dirty="0">
                <a:latin typeface="Arial"/>
                <a:cs typeface="Arial"/>
              </a:rPr>
              <a:t> </a:t>
            </a:r>
            <a:r>
              <a:rPr sz="900" dirty="0">
                <a:latin typeface="Arial"/>
                <a:cs typeface="Arial"/>
              </a:rPr>
              <a:t>a</a:t>
            </a:r>
            <a:r>
              <a:rPr sz="900" spc="-30" dirty="0">
                <a:latin typeface="Arial"/>
                <a:cs typeface="Arial"/>
              </a:rPr>
              <a:t> </a:t>
            </a:r>
            <a:r>
              <a:rPr sz="900" spc="-10" dirty="0">
                <a:latin typeface="Arial"/>
                <a:cs typeface="Arial"/>
              </a:rPr>
              <a:t>request.</a:t>
            </a:r>
            <a:endParaRPr sz="900">
              <a:latin typeface="Arial"/>
              <a:cs typeface="Arial"/>
            </a:endParaRPr>
          </a:p>
          <a:p>
            <a:pPr marL="513715" indent="-154940">
              <a:lnSpc>
                <a:spcPct val="100000"/>
              </a:lnSpc>
              <a:spcBef>
                <a:spcPts val="525"/>
              </a:spcBef>
              <a:buClr>
                <a:srgbClr val="3333B2"/>
              </a:buClr>
              <a:buAutoNum type="arabicPeriod"/>
              <a:tabLst>
                <a:tab pos="514350" algn="l"/>
              </a:tabLst>
            </a:pPr>
            <a:r>
              <a:rPr sz="900" dirty="0">
                <a:latin typeface="Arial"/>
                <a:cs typeface="Arial"/>
              </a:rPr>
              <a:t>The</a:t>
            </a:r>
            <a:r>
              <a:rPr sz="900" spc="-25" dirty="0">
                <a:latin typeface="Arial"/>
                <a:cs typeface="Arial"/>
              </a:rPr>
              <a:t> </a:t>
            </a:r>
            <a:r>
              <a:rPr sz="900" dirty="0">
                <a:latin typeface="Arial"/>
                <a:cs typeface="Arial"/>
              </a:rPr>
              <a:t>reply</a:t>
            </a:r>
            <a:r>
              <a:rPr sz="900" spc="-20" dirty="0">
                <a:latin typeface="Arial"/>
                <a:cs typeface="Arial"/>
              </a:rPr>
              <a:t> </a:t>
            </a:r>
            <a:r>
              <a:rPr sz="900" dirty="0">
                <a:latin typeface="Arial"/>
                <a:cs typeface="Arial"/>
              </a:rPr>
              <a:t>message</a:t>
            </a:r>
            <a:r>
              <a:rPr sz="900" spc="-25" dirty="0">
                <a:latin typeface="Arial"/>
                <a:cs typeface="Arial"/>
              </a:rPr>
              <a:t> </a:t>
            </a:r>
            <a:r>
              <a:rPr sz="900" dirty="0">
                <a:latin typeface="Arial"/>
                <a:cs typeface="Arial"/>
              </a:rPr>
              <a:t>from</a:t>
            </a:r>
            <a:r>
              <a:rPr sz="900" spc="-2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server</a:t>
            </a:r>
            <a:r>
              <a:rPr sz="900" spc="-2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client</a:t>
            </a:r>
            <a:r>
              <a:rPr sz="900" spc="-25" dirty="0">
                <a:latin typeface="Arial"/>
                <a:cs typeface="Arial"/>
              </a:rPr>
              <a:t> </a:t>
            </a:r>
            <a:r>
              <a:rPr sz="900" dirty="0">
                <a:latin typeface="Arial"/>
                <a:cs typeface="Arial"/>
              </a:rPr>
              <a:t>is</a:t>
            </a:r>
            <a:r>
              <a:rPr sz="900" spc="-20" dirty="0">
                <a:latin typeface="Arial"/>
                <a:cs typeface="Arial"/>
              </a:rPr>
              <a:t> </a:t>
            </a:r>
            <a:r>
              <a:rPr sz="900" spc="-10" dirty="0">
                <a:latin typeface="Arial"/>
                <a:cs typeface="Arial"/>
              </a:rPr>
              <a:t>lost.</a:t>
            </a:r>
            <a:endParaRPr sz="900">
              <a:latin typeface="Arial"/>
              <a:cs typeface="Arial"/>
            </a:endParaRPr>
          </a:p>
          <a:p>
            <a:pPr marL="513715" indent="-154940">
              <a:lnSpc>
                <a:spcPct val="100000"/>
              </a:lnSpc>
              <a:spcBef>
                <a:spcPts val="525"/>
              </a:spcBef>
              <a:buClr>
                <a:srgbClr val="3333B2"/>
              </a:buClr>
              <a:buAutoNum type="arabicPeriod"/>
              <a:tabLst>
                <a:tab pos="514350" algn="l"/>
              </a:tabLst>
            </a:pPr>
            <a:r>
              <a:rPr sz="900" dirty="0">
                <a:latin typeface="Arial"/>
                <a:cs typeface="Arial"/>
              </a:rPr>
              <a:t>The</a:t>
            </a:r>
            <a:r>
              <a:rPr sz="900" spc="-30" dirty="0">
                <a:latin typeface="Arial"/>
                <a:cs typeface="Arial"/>
              </a:rPr>
              <a:t> </a:t>
            </a:r>
            <a:r>
              <a:rPr sz="900" dirty="0">
                <a:latin typeface="Arial"/>
                <a:cs typeface="Arial"/>
              </a:rPr>
              <a:t>client</a:t>
            </a:r>
            <a:r>
              <a:rPr sz="900" spc="-25" dirty="0">
                <a:latin typeface="Arial"/>
                <a:cs typeface="Arial"/>
              </a:rPr>
              <a:t> </a:t>
            </a:r>
            <a:r>
              <a:rPr sz="900" dirty="0">
                <a:latin typeface="Arial"/>
                <a:cs typeface="Arial"/>
              </a:rPr>
              <a:t>crashes</a:t>
            </a:r>
            <a:r>
              <a:rPr sz="900" spc="-30" dirty="0">
                <a:latin typeface="Arial"/>
                <a:cs typeface="Arial"/>
              </a:rPr>
              <a:t> </a:t>
            </a:r>
            <a:r>
              <a:rPr sz="900" dirty="0">
                <a:latin typeface="Arial"/>
                <a:cs typeface="Arial"/>
              </a:rPr>
              <a:t>after</a:t>
            </a:r>
            <a:r>
              <a:rPr sz="900" spc="-25" dirty="0">
                <a:latin typeface="Arial"/>
                <a:cs typeface="Arial"/>
              </a:rPr>
              <a:t> </a:t>
            </a:r>
            <a:r>
              <a:rPr sz="900" dirty="0">
                <a:latin typeface="Arial"/>
                <a:cs typeface="Arial"/>
              </a:rPr>
              <a:t>sending</a:t>
            </a:r>
            <a:r>
              <a:rPr sz="900" spc="-30"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request.</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120142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3" action="ppaction://hlinksldjump"/>
              </a:rPr>
              <a:t>RPC</a:t>
            </a:r>
            <a:r>
              <a:rPr sz="500" spc="-20" dirty="0">
                <a:latin typeface="Arial"/>
                <a:cs typeface="Arial"/>
                <a:hlinkClick r:id="rId3" action="ppaction://hlinksldjump"/>
              </a:rPr>
              <a:t> </a:t>
            </a:r>
            <a:r>
              <a:rPr sz="500" dirty="0">
                <a:latin typeface="Arial"/>
                <a:cs typeface="Arial"/>
                <a:hlinkClick r:id="rId3" action="ppaction://hlinksldjump"/>
              </a:rPr>
              <a:t>semantics</a:t>
            </a:r>
            <a:r>
              <a:rPr sz="500" spc="-15" dirty="0">
                <a:latin typeface="Arial"/>
                <a:cs typeface="Arial"/>
                <a:hlinkClick r:id="rId3" action="ppaction://hlinksldjump"/>
              </a:rPr>
              <a:t> </a:t>
            </a:r>
            <a:r>
              <a:rPr sz="500" dirty="0">
                <a:latin typeface="Arial"/>
                <a:cs typeface="Arial"/>
                <a:hlinkClick r:id="rId3" action="ppaction://hlinksldjump"/>
              </a:rPr>
              <a:t>in</a:t>
            </a:r>
            <a:r>
              <a:rPr sz="500" spc="-15" dirty="0">
                <a:latin typeface="Arial"/>
                <a:cs typeface="Arial"/>
                <a:hlinkClick r:id="rId3" action="ppaction://hlinksldjump"/>
              </a:rPr>
              <a:t> </a:t>
            </a:r>
            <a:r>
              <a:rPr sz="500" dirty="0">
                <a:latin typeface="Arial"/>
                <a:cs typeface="Arial"/>
                <a:hlinkClick r:id="rId3" action="ppaction://hlinksldjump"/>
              </a:rPr>
              <a:t>the</a:t>
            </a:r>
            <a:r>
              <a:rPr sz="500" spc="-20" dirty="0">
                <a:latin typeface="Arial"/>
                <a:cs typeface="Arial"/>
                <a:hlinkClick r:id="rId3" action="ppaction://hlinksldjump"/>
              </a:rPr>
              <a:t> </a:t>
            </a:r>
            <a:r>
              <a:rPr sz="500" dirty="0">
                <a:latin typeface="Arial"/>
                <a:cs typeface="Arial"/>
                <a:hlinkClick r:id="rId3" action="ppaction://hlinksldjump"/>
              </a:rPr>
              <a:t>presence</a:t>
            </a:r>
            <a:r>
              <a:rPr sz="500" spc="-15" dirty="0">
                <a:latin typeface="Arial"/>
                <a:cs typeface="Arial"/>
                <a:hlinkClick r:id="rId3" action="ppaction://hlinksldjump"/>
              </a:rPr>
              <a:t> </a:t>
            </a:r>
            <a:r>
              <a:rPr sz="500" dirty="0">
                <a:latin typeface="Arial"/>
                <a:cs typeface="Arial"/>
                <a:hlinkClick r:id="rId3" action="ppaction://hlinksldjump"/>
              </a:rPr>
              <a:t>of</a:t>
            </a:r>
            <a:r>
              <a:rPr sz="500" spc="-15" dirty="0">
                <a:latin typeface="Arial"/>
                <a:cs typeface="Arial"/>
                <a:hlinkClick r:id="rId3" action="ppaction://hlinksldjump"/>
              </a:rPr>
              <a:t> </a:t>
            </a:r>
            <a:r>
              <a:rPr sz="500" spc="-10" dirty="0">
                <a:latin typeface="Arial"/>
                <a:cs typeface="Arial"/>
                <a:hlinkClick r:id="rId3" action="ppaction://hlinksldjump"/>
              </a:rPr>
              <a:t>failures</a:t>
            </a:r>
            <a:endParaRPr sz="500">
              <a:latin typeface="Arial"/>
              <a:cs typeface="Arial"/>
            </a:endParaRPr>
          </a:p>
        </p:txBody>
      </p:sp>
    </p:spTree>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497198" y="-1515"/>
            <a:ext cx="1057910"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Reliable</a:t>
            </a:r>
            <a:r>
              <a:rPr sz="500" spc="-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client-</a:t>
            </a:r>
            <a:r>
              <a:rPr sz="500" dirty="0">
                <a:solidFill>
                  <a:srgbClr val="FFFFFF"/>
                </a:solidFill>
                <a:latin typeface="Arial"/>
                <a:cs typeface="Arial"/>
                <a:hlinkClick r:id="rId3" action="ppaction://hlinksldjump"/>
              </a:rPr>
              <a:t>server </a:t>
            </a:r>
            <a:r>
              <a:rPr sz="500" spc="-10" dirty="0">
                <a:solidFill>
                  <a:srgbClr val="FFFFFF"/>
                </a:solidFill>
                <a:latin typeface="Arial"/>
                <a:cs typeface="Arial"/>
                <a:hlinkClick r:id="rId3" action="ppaction://hlinksldjump"/>
              </a:rPr>
              <a:t>communication</a:t>
            </a:r>
            <a:endParaRPr sz="500">
              <a:latin typeface="Arial"/>
              <a:cs typeface="Arial"/>
            </a:endParaRPr>
          </a:p>
        </p:txBody>
      </p:sp>
      <p:sp>
        <p:nvSpPr>
          <p:cNvPr id="5" name="object 5"/>
          <p:cNvSpPr txBox="1"/>
          <p:nvPr/>
        </p:nvSpPr>
        <p:spPr>
          <a:xfrm>
            <a:off x="95300" y="197711"/>
            <a:ext cx="3394710" cy="22980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Reliable</a:t>
            </a:r>
            <a:r>
              <a:rPr sz="1200" spc="-60" dirty="0">
                <a:solidFill>
                  <a:srgbClr val="3333B2"/>
                </a:solidFill>
                <a:latin typeface="Arial"/>
                <a:cs typeface="Arial"/>
              </a:rPr>
              <a:t> </a:t>
            </a:r>
            <a:r>
              <a:rPr sz="1200" dirty="0">
                <a:solidFill>
                  <a:srgbClr val="3333B2"/>
                </a:solidFill>
                <a:latin typeface="Arial"/>
                <a:cs typeface="Arial"/>
              </a:rPr>
              <a:t>remote</a:t>
            </a:r>
            <a:r>
              <a:rPr sz="1200" spc="-60" dirty="0">
                <a:solidFill>
                  <a:srgbClr val="3333B2"/>
                </a:solidFill>
                <a:latin typeface="Arial"/>
                <a:cs typeface="Arial"/>
              </a:rPr>
              <a:t> </a:t>
            </a:r>
            <a:r>
              <a:rPr sz="1200" dirty="0">
                <a:solidFill>
                  <a:srgbClr val="3333B2"/>
                </a:solidFill>
                <a:latin typeface="Arial"/>
                <a:cs typeface="Arial"/>
              </a:rPr>
              <a:t>procedure</a:t>
            </a:r>
            <a:r>
              <a:rPr sz="1200" spc="-55" dirty="0">
                <a:solidFill>
                  <a:srgbClr val="3333B2"/>
                </a:solidFill>
                <a:latin typeface="Arial"/>
                <a:cs typeface="Arial"/>
              </a:rPr>
              <a:t> </a:t>
            </a:r>
            <a:r>
              <a:rPr sz="1200" spc="-10" dirty="0">
                <a:solidFill>
                  <a:srgbClr val="3333B2"/>
                </a:solidFill>
                <a:latin typeface="Arial"/>
                <a:cs typeface="Arial"/>
              </a:rPr>
              <a:t>calls</a:t>
            </a:r>
            <a:endParaRPr sz="1200">
              <a:latin typeface="Arial"/>
              <a:cs typeface="Arial"/>
            </a:endParaRPr>
          </a:p>
          <a:p>
            <a:pPr marL="258445">
              <a:lnSpc>
                <a:spcPct val="100000"/>
              </a:lnSpc>
              <a:spcBef>
                <a:spcPts val="1055"/>
              </a:spcBef>
            </a:pPr>
            <a:r>
              <a:rPr sz="1000" dirty="0">
                <a:solidFill>
                  <a:srgbClr val="3333B2"/>
                </a:solidFill>
                <a:latin typeface="Arial"/>
                <a:cs typeface="Arial"/>
              </a:rPr>
              <a:t>What</a:t>
            </a:r>
            <a:r>
              <a:rPr sz="1000" spc="-25" dirty="0">
                <a:solidFill>
                  <a:srgbClr val="3333B2"/>
                </a:solidFill>
                <a:latin typeface="Arial"/>
                <a:cs typeface="Arial"/>
              </a:rPr>
              <a:t> </a:t>
            </a:r>
            <a:r>
              <a:rPr sz="1000" dirty="0">
                <a:solidFill>
                  <a:srgbClr val="3333B2"/>
                </a:solidFill>
                <a:latin typeface="Arial"/>
                <a:cs typeface="Arial"/>
              </a:rPr>
              <a:t>can</a:t>
            </a:r>
            <a:r>
              <a:rPr sz="1000" spc="-20" dirty="0">
                <a:solidFill>
                  <a:srgbClr val="3333B2"/>
                </a:solidFill>
                <a:latin typeface="Arial"/>
                <a:cs typeface="Arial"/>
              </a:rPr>
              <a:t> </a:t>
            </a:r>
            <a:r>
              <a:rPr sz="1000" dirty="0">
                <a:solidFill>
                  <a:srgbClr val="3333B2"/>
                </a:solidFill>
                <a:latin typeface="Arial"/>
                <a:cs typeface="Arial"/>
              </a:rPr>
              <a:t>go</a:t>
            </a:r>
            <a:r>
              <a:rPr sz="1000" spc="-25" dirty="0">
                <a:solidFill>
                  <a:srgbClr val="3333B2"/>
                </a:solidFill>
                <a:latin typeface="Arial"/>
                <a:cs typeface="Arial"/>
              </a:rPr>
              <a:t> </a:t>
            </a:r>
            <a:r>
              <a:rPr sz="1000" spc="-10" dirty="0">
                <a:solidFill>
                  <a:srgbClr val="3333B2"/>
                </a:solidFill>
                <a:latin typeface="Arial"/>
                <a:cs typeface="Arial"/>
              </a:rPr>
              <a:t>wrong?</a:t>
            </a:r>
            <a:endParaRPr sz="1000">
              <a:latin typeface="Arial"/>
              <a:cs typeface="Arial"/>
            </a:endParaRPr>
          </a:p>
          <a:p>
            <a:pPr marL="513715" indent="-154940">
              <a:lnSpc>
                <a:spcPct val="100000"/>
              </a:lnSpc>
              <a:spcBef>
                <a:spcPts val="710"/>
              </a:spcBef>
              <a:buClr>
                <a:srgbClr val="3333B2"/>
              </a:buClr>
              <a:buAutoNum type="arabicPeriod"/>
              <a:tabLst>
                <a:tab pos="514350" algn="l"/>
              </a:tabLst>
            </a:pPr>
            <a:r>
              <a:rPr sz="900" dirty="0">
                <a:latin typeface="Arial"/>
                <a:cs typeface="Arial"/>
              </a:rPr>
              <a:t>The</a:t>
            </a:r>
            <a:r>
              <a:rPr sz="900" spc="-25" dirty="0">
                <a:latin typeface="Arial"/>
                <a:cs typeface="Arial"/>
              </a:rPr>
              <a:t> </a:t>
            </a:r>
            <a:r>
              <a:rPr sz="900" dirty="0">
                <a:latin typeface="Arial"/>
                <a:cs typeface="Arial"/>
              </a:rPr>
              <a:t>client</a:t>
            </a:r>
            <a:r>
              <a:rPr sz="900" spc="-25"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unable</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locate</a:t>
            </a:r>
            <a:r>
              <a:rPr sz="900" spc="-20" dirty="0">
                <a:latin typeface="Arial"/>
                <a:cs typeface="Arial"/>
              </a:rPr>
              <a:t> </a:t>
            </a:r>
            <a:r>
              <a:rPr sz="900" dirty="0">
                <a:latin typeface="Arial"/>
                <a:cs typeface="Arial"/>
              </a:rPr>
              <a:t>the</a:t>
            </a:r>
            <a:r>
              <a:rPr sz="900" spc="-25" dirty="0">
                <a:latin typeface="Arial"/>
                <a:cs typeface="Arial"/>
              </a:rPr>
              <a:t> </a:t>
            </a:r>
            <a:r>
              <a:rPr sz="900" spc="-10" dirty="0">
                <a:latin typeface="Arial"/>
                <a:cs typeface="Arial"/>
              </a:rPr>
              <a:t>server.</a:t>
            </a:r>
            <a:endParaRPr sz="900">
              <a:latin typeface="Arial"/>
              <a:cs typeface="Arial"/>
            </a:endParaRPr>
          </a:p>
          <a:p>
            <a:pPr marL="513715" indent="-154940">
              <a:lnSpc>
                <a:spcPct val="100000"/>
              </a:lnSpc>
              <a:spcBef>
                <a:spcPts val="525"/>
              </a:spcBef>
              <a:buClr>
                <a:srgbClr val="3333B2"/>
              </a:buClr>
              <a:buAutoNum type="arabicPeriod"/>
              <a:tabLst>
                <a:tab pos="514350" algn="l"/>
              </a:tabLst>
            </a:pPr>
            <a:r>
              <a:rPr sz="900" dirty="0">
                <a:latin typeface="Arial"/>
                <a:cs typeface="Arial"/>
              </a:rPr>
              <a:t>The</a:t>
            </a:r>
            <a:r>
              <a:rPr sz="900" spc="-25" dirty="0">
                <a:latin typeface="Arial"/>
                <a:cs typeface="Arial"/>
              </a:rPr>
              <a:t> </a:t>
            </a:r>
            <a:r>
              <a:rPr sz="900" dirty="0">
                <a:latin typeface="Arial"/>
                <a:cs typeface="Arial"/>
              </a:rPr>
              <a:t>request</a:t>
            </a:r>
            <a:r>
              <a:rPr sz="900" spc="-25" dirty="0">
                <a:latin typeface="Arial"/>
                <a:cs typeface="Arial"/>
              </a:rPr>
              <a:t> </a:t>
            </a:r>
            <a:r>
              <a:rPr sz="900" dirty="0">
                <a:latin typeface="Arial"/>
                <a:cs typeface="Arial"/>
              </a:rPr>
              <a:t>message</a:t>
            </a:r>
            <a:r>
              <a:rPr sz="900" spc="-25" dirty="0">
                <a:latin typeface="Arial"/>
                <a:cs typeface="Arial"/>
              </a:rPr>
              <a:t> </a:t>
            </a:r>
            <a:r>
              <a:rPr sz="900" dirty="0">
                <a:latin typeface="Arial"/>
                <a:cs typeface="Arial"/>
              </a:rPr>
              <a:t>from</a:t>
            </a:r>
            <a:r>
              <a:rPr sz="900" spc="-2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client</a:t>
            </a:r>
            <a:r>
              <a:rPr sz="900" spc="-25"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server</a:t>
            </a:r>
            <a:r>
              <a:rPr sz="900" spc="-25" dirty="0">
                <a:latin typeface="Arial"/>
                <a:cs typeface="Arial"/>
              </a:rPr>
              <a:t> </a:t>
            </a:r>
            <a:r>
              <a:rPr sz="900" dirty="0">
                <a:latin typeface="Arial"/>
                <a:cs typeface="Arial"/>
              </a:rPr>
              <a:t>is</a:t>
            </a:r>
            <a:r>
              <a:rPr sz="900" spc="-25" dirty="0">
                <a:latin typeface="Arial"/>
                <a:cs typeface="Arial"/>
              </a:rPr>
              <a:t> </a:t>
            </a:r>
            <a:r>
              <a:rPr sz="900" spc="-10" dirty="0">
                <a:latin typeface="Arial"/>
                <a:cs typeface="Arial"/>
              </a:rPr>
              <a:t>lost.</a:t>
            </a:r>
            <a:endParaRPr sz="900">
              <a:latin typeface="Arial"/>
              <a:cs typeface="Arial"/>
            </a:endParaRPr>
          </a:p>
          <a:p>
            <a:pPr marL="513715" indent="-154940">
              <a:lnSpc>
                <a:spcPct val="100000"/>
              </a:lnSpc>
              <a:spcBef>
                <a:spcPts val="520"/>
              </a:spcBef>
              <a:buClr>
                <a:srgbClr val="3333B2"/>
              </a:buClr>
              <a:buAutoNum type="arabicPeriod"/>
              <a:tabLst>
                <a:tab pos="514350" algn="l"/>
              </a:tabLst>
            </a:pPr>
            <a:r>
              <a:rPr sz="900" dirty="0">
                <a:latin typeface="Arial"/>
                <a:cs typeface="Arial"/>
              </a:rPr>
              <a:t>The</a:t>
            </a:r>
            <a:r>
              <a:rPr sz="900" spc="-30" dirty="0">
                <a:latin typeface="Arial"/>
                <a:cs typeface="Arial"/>
              </a:rPr>
              <a:t> </a:t>
            </a:r>
            <a:r>
              <a:rPr sz="900" dirty="0">
                <a:latin typeface="Arial"/>
                <a:cs typeface="Arial"/>
              </a:rPr>
              <a:t>server</a:t>
            </a:r>
            <a:r>
              <a:rPr sz="900" spc="-30" dirty="0">
                <a:latin typeface="Arial"/>
                <a:cs typeface="Arial"/>
              </a:rPr>
              <a:t> </a:t>
            </a:r>
            <a:r>
              <a:rPr sz="900" dirty="0">
                <a:latin typeface="Arial"/>
                <a:cs typeface="Arial"/>
              </a:rPr>
              <a:t>crashes</a:t>
            </a:r>
            <a:r>
              <a:rPr sz="900" spc="-30" dirty="0">
                <a:latin typeface="Arial"/>
                <a:cs typeface="Arial"/>
              </a:rPr>
              <a:t> </a:t>
            </a:r>
            <a:r>
              <a:rPr sz="900" dirty="0">
                <a:latin typeface="Arial"/>
                <a:cs typeface="Arial"/>
              </a:rPr>
              <a:t>after</a:t>
            </a:r>
            <a:r>
              <a:rPr sz="900" spc="-25" dirty="0">
                <a:latin typeface="Arial"/>
                <a:cs typeface="Arial"/>
              </a:rPr>
              <a:t> </a:t>
            </a:r>
            <a:r>
              <a:rPr sz="900" dirty="0">
                <a:latin typeface="Arial"/>
                <a:cs typeface="Arial"/>
              </a:rPr>
              <a:t>receiving</a:t>
            </a:r>
            <a:r>
              <a:rPr sz="900" spc="-30" dirty="0">
                <a:latin typeface="Arial"/>
                <a:cs typeface="Arial"/>
              </a:rPr>
              <a:t> </a:t>
            </a:r>
            <a:r>
              <a:rPr sz="900" dirty="0">
                <a:latin typeface="Arial"/>
                <a:cs typeface="Arial"/>
              </a:rPr>
              <a:t>a</a:t>
            </a:r>
            <a:r>
              <a:rPr sz="900" spc="-30" dirty="0">
                <a:latin typeface="Arial"/>
                <a:cs typeface="Arial"/>
              </a:rPr>
              <a:t> </a:t>
            </a:r>
            <a:r>
              <a:rPr sz="900" spc="-10" dirty="0">
                <a:latin typeface="Arial"/>
                <a:cs typeface="Arial"/>
              </a:rPr>
              <a:t>request.</a:t>
            </a:r>
            <a:endParaRPr sz="900">
              <a:latin typeface="Arial"/>
              <a:cs typeface="Arial"/>
            </a:endParaRPr>
          </a:p>
          <a:p>
            <a:pPr marL="513715" indent="-154940">
              <a:lnSpc>
                <a:spcPct val="100000"/>
              </a:lnSpc>
              <a:spcBef>
                <a:spcPts val="525"/>
              </a:spcBef>
              <a:buClr>
                <a:srgbClr val="3333B2"/>
              </a:buClr>
              <a:buAutoNum type="arabicPeriod"/>
              <a:tabLst>
                <a:tab pos="514350" algn="l"/>
              </a:tabLst>
            </a:pPr>
            <a:r>
              <a:rPr sz="900" dirty="0">
                <a:latin typeface="Arial"/>
                <a:cs typeface="Arial"/>
              </a:rPr>
              <a:t>The</a:t>
            </a:r>
            <a:r>
              <a:rPr sz="900" spc="-25" dirty="0">
                <a:latin typeface="Arial"/>
                <a:cs typeface="Arial"/>
              </a:rPr>
              <a:t> </a:t>
            </a:r>
            <a:r>
              <a:rPr sz="900" dirty="0">
                <a:latin typeface="Arial"/>
                <a:cs typeface="Arial"/>
              </a:rPr>
              <a:t>reply</a:t>
            </a:r>
            <a:r>
              <a:rPr sz="900" spc="-20" dirty="0">
                <a:latin typeface="Arial"/>
                <a:cs typeface="Arial"/>
              </a:rPr>
              <a:t> </a:t>
            </a:r>
            <a:r>
              <a:rPr sz="900" dirty="0">
                <a:latin typeface="Arial"/>
                <a:cs typeface="Arial"/>
              </a:rPr>
              <a:t>message</a:t>
            </a:r>
            <a:r>
              <a:rPr sz="900" spc="-25" dirty="0">
                <a:latin typeface="Arial"/>
                <a:cs typeface="Arial"/>
              </a:rPr>
              <a:t> </a:t>
            </a:r>
            <a:r>
              <a:rPr sz="900" dirty="0">
                <a:latin typeface="Arial"/>
                <a:cs typeface="Arial"/>
              </a:rPr>
              <a:t>from</a:t>
            </a:r>
            <a:r>
              <a:rPr sz="900" spc="-2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server</a:t>
            </a:r>
            <a:r>
              <a:rPr sz="900" spc="-2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client</a:t>
            </a:r>
            <a:r>
              <a:rPr sz="900" spc="-25" dirty="0">
                <a:latin typeface="Arial"/>
                <a:cs typeface="Arial"/>
              </a:rPr>
              <a:t> </a:t>
            </a:r>
            <a:r>
              <a:rPr sz="900" dirty="0">
                <a:latin typeface="Arial"/>
                <a:cs typeface="Arial"/>
              </a:rPr>
              <a:t>is</a:t>
            </a:r>
            <a:r>
              <a:rPr sz="900" spc="-20" dirty="0">
                <a:latin typeface="Arial"/>
                <a:cs typeface="Arial"/>
              </a:rPr>
              <a:t> </a:t>
            </a:r>
            <a:r>
              <a:rPr sz="900" spc="-10" dirty="0">
                <a:latin typeface="Arial"/>
                <a:cs typeface="Arial"/>
              </a:rPr>
              <a:t>lost.</a:t>
            </a:r>
            <a:endParaRPr sz="900">
              <a:latin typeface="Arial"/>
              <a:cs typeface="Arial"/>
            </a:endParaRPr>
          </a:p>
          <a:p>
            <a:pPr marL="513715" indent="-154940">
              <a:lnSpc>
                <a:spcPct val="100000"/>
              </a:lnSpc>
              <a:spcBef>
                <a:spcPts val="525"/>
              </a:spcBef>
              <a:buClr>
                <a:srgbClr val="3333B2"/>
              </a:buClr>
              <a:buAutoNum type="arabicPeriod"/>
              <a:tabLst>
                <a:tab pos="514350" algn="l"/>
              </a:tabLst>
            </a:pPr>
            <a:r>
              <a:rPr sz="900" dirty="0">
                <a:latin typeface="Arial"/>
                <a:cs typeface="Arial"/>
              </a:rPr>
              <a:t>The</a:t>
            </a:r>
            <a:r>
              <a:rPr sz="900" spc="-30" dirty="0">
                <a:latin typeface="Arial"/>
                <a:cs typeface="Arial"/>
              </a:rPr>
              <a:t> </a:t>
            </a:r>
            <a:r>
              <a:rPr sz="900" dirty="0">
                <a:latin typeface="Arial"/>
                <a:cs typeface="Arial"/>
              </a:rPr>
              <a:t>client</a:t>
            </a:r>
            <a:r>
              <a:rPr sz="900" spc="-25" dirty="0">
                <a:latin typeface="Arial"/>
                <a:cs typeface="Arial"/>
              </a:rPr>
              <a:t> </a:t>
            </a:r>
            <a:r>
              <a:rPr sz="900" dirty="0">
                <a:latin typeface="Arial"/>
                <a:cs typeface="Arial"/>
              </a:rPr>
              <a:t>crashes</a:t>
            </a:r>
            <a:r>
              <a:rPr sz="900" spc="-30" dirty="0">
                <a:latin typeface="Arial"/>
                <a:cs typeface="Arial"/>
              </a:rPr>
              <a:t> </a:t>
            </a:r>
            <a:r>
              <a:rPr sz="900" dirty="0">
                <a:latin typeface="Arial"/>
                <a:cs typeface="Arial"/>
              </a:rPr>
              <a:t>after</a:t>
            </a:r>
            <a:r>
              <a:rPr sz="900" spc="-25" dirty="0">
                <a:latin typeface="Arial"/>
                <a:cs typeface="Arial"/>
              </a:rPr>
              <a:t> </a:t>
            </a:r>
            <a:r>
              <a:rPr sz="900" dirty="0">
                <a:latin typeface="Arial"/>
                <a:cs typeface="Arial"/>
              </a:rPr>
              <a:t>sending</a:t>
            </a:r>
            <a:r>
              <a:rPr sz="900" spc="-30"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request.</a:t>
            </a:r>
            <a:endParaRPr sz="900">
              <a:latin typeface="Arial"/>
              <a:cs typeface="Arial"/>
            </a:endParaRPr>
          </a:p>
          <a:p>
            <a:pPr>
              <a:lnSpc>
                <a:spcPct val="100000"/>
              </a:lnSpc>
              <a:spcBef>
                <a:spcPts val="30"/>
              </a:spcBef>
            </a:pPr>
            <a:endParaRPr sz="1200">
              <a:latin typeface="Arial"/>
              <a:cs typeface="Arial"/>
            </a:endParaRPr>
          </a:p>
          <a:p>
            <a:pPr marL="260350">
              <a:lnSpc>
                <a:spcPct val="100000"/>
              </a:lnSpc>
            </a:pPr>
            <a:r>
              <a:rPr sz="1000" spc="-45" dirty="0">
                <a:solidFill>
                  <a:srgbClr val="3333B2"/>
                </a:solidFill>
                <a:latin typeface="Arial"/>
                <a:cs typeface="Arial"/>
              </a:rPr>
              <a:t>Two</a:t>
            </a:r>
            <a:r>
              <a:rPr sz="1000" spc="-25" dirty="0">
                <a:solidFill>
                  <a:srgbClr val="3333B2"/>
                </a:solidFill>
                <a:latin typeface="Arial"/>
                <a:cs typeface="Arial"/>
              </a:rPr>
              <a:t> </a:t>
            </a:r>
            <a:r>
              <a:rPr sz="1000" dirty="0">
                <a:solidFill>
                  <a:srgbClr val="3333B2"/>
                </a:solidFill>
                <a:latin typeface="Arial"/>
                <a:cs typeface="Arial"/>
              </a:rPr>
              <a:t>“easy”</a:t>
            </a:r>
            <a:r>
              <a:rPr sz="1000" spc="-30" dirty="0">
                <a:solidFill>
                  <a:srgbClr val="3333B2"/>
                </a:solidFill>
                <a:latin typeface="Arial"/>
                <a:cs typeface="Arial"/>
              </a:rPr>
              <a:t> </a:t>
            </a:r>
            <a:r>
              <a:rPr sz="1000" spc="-10" dirty="0">
                <a:solidFill>
                  <a:srgbClr val="3333B2"/>
                </a:solidFill>
                <a:latin typeface="Arial"/>
                <a:cs typeface="Arial"/>
              </a:rPr>
              <a:t>solutions</a:t>
            </a:r>
            <a:endParaRPr sz="1000">
              <a:latin typeface="Arial"/>
              <a:cs typeface="Arial"/>
            </a:endParaRPr>
          </a:p>
          <a:p>
            <a:pPr marL="359410" marR="495300">
              <a:lnSpc>
                <a:spcPct val="148500"/>
              </a:lnSpc>
              <a:spcBef>
                <a:spcPts val="175"/>
              </a:spcBef>
            </a:pPr>
            <a:r>
              <a:rPr sz="900" dirty="0">
                <a:solidFill>
                  <a:srgbClr val="3333B2"/>
                </a:solidFill>
                <a:latin typeface="Arial"/>
                <a:cs typeface="Arial"/>
              </a:rPr>
              <a:t>1:</a:t>
            </a:r>
            <a:r>
              <a:rPr sz="900" spc="185" dirty="0">
                <a:solidFill>
                  <a:srgbClr val="3333B2"/>
                </a:solidFill>
                <a:latin typeface="Arial"/>
                <a:cs typeface="Arial"/>
              </a:rPr>
              <a:t> </a:t>
            </a:r>
            <a:r>
              <a:rPr sz="900" dirty="0">
                <a:latin typeface="Arial"/>
                <a:cs typeface="Arial"/>
              </a:rPr>
              <a:t>(cannot</a:t>
            </a:r>
            <a:r>
              <a:rPr sz="900" spc="-20" dirty="0">
                <a:latin typeface="Arial"/>
                <a:cs typeface="Arial"/>
              </a:rPr>
              <a:t> </a:t>
            </a:r>
            <a:r>
              <a:rPr sz="900" dirty="0">
                <a:latin typeface="Arial"/>
                <a:cs typeface="Arial"/>
              </a:rPr>
              <a:t>locate</a:t>
            </a:r>
            <a:r>
              <a:rPr sz="900" spc="-25" dirty="0">
                <a:latin typeface="Arial"/>
                <a:cs typeface="Arial"/>
              </a:rPr>
              <a:t> </a:t>
            </a:r>
            <a:r>
              <a:rPr sz="900" dirty="0">
                <a:latin typeface="Arial"/>
                <a:cs typeface="Arial"/>
              </a:rPr>
              <a:t>server):</a:t>
            </a:r>
            <a:r>
              <a:rPr sz="900" spc="40" dirty="0">
                <a:latin typeface="Arial"/>
                <a:cs typeface="Arial"/>
              </a:rPr>
              <a:t> </a:t>
            </a:r>
            <a:r>
              <a:rPr sz="900" dirty="0">
                <a:latin typeface="Arial"/>
                <a:cs typeface="Arial"/>
              </a:rPr>
              <a:t>just</a:t>
            </a:r>
            <a:r>
              <a:rPr sz="900" spc="-20" dirty="0">
                <a:latin typeface="Arial"/>
                <a:cs typeface="Arial"/>
              </a:rPr>
              <a:t> </a:t>
            </a:r>
            <a:r>
              <a:rPr sz="900" dirty="0">
                <a:latin typeface="Arial"/>
                <a:cs typeface="Arial"/>
              </a:rPr>
              <a:t>report</a:t>
            </a:r>
            <a:r>
              <a:rPr sz="900" spc="-25" dirty="0">
                <a:latin typeface="Arial"/>
                <a:cs typeface="Arial"/>
              </a:rPr>
              <a:t> </a:t>
            </a:r>
            <a:r>
              <a:rPr sz="900" dirty="0">
                <a:latin typeface="Arial"/>
                <a:cs typeface="Arial"/>
              </a:rPr>
              <a:t>back</a:t>
            </a:r>
            <a:r>
              <a:rPr sz="900" spc="-20" dirty="0">
                <a:latin typeface="Arial"/>
                <a:cs typeface="Arial"/>
              </a:rPr>
              <a:t> </a:t>
            </a:r>
            <a:r>
              <a:rPr sz="900" dirty="0">
                <a:latin typeface="Arial"/>
                <a:cs typeface="Arial"/>
              </a:rPr>
              <a:t>to</a:t>
            </a:r>
            <a:r>
              <a:rPr sz="900" spc="-20" dirty="0">
                <a:latin typeface="Arial"/>
                <a:cs typeface="Arial"/>
              </a:rPr>
              <a:t> </a:t>
            </a:r>
            <a:r>
              <a:rPr sz="900" spc="-10" dirty="0">
                <a:latin typeface="Arial"/>
                <a:cs typeface="Arial"/>
              </a:rPr>
              <a:t>client </a:t>
            </a:r>
            <a:r>
              <a:rPr sz="900" dirty="0">
                <a:solidFill>
                  <a:srgbClr val="3333B2"/>
                </a:solidFill>
                <a:latin typeface="Arial"/>
                <a:cs typeface="Arial"/>
              </a:rPr>
              <a:t>2:</a:t>
            </a:r>
            <a:r>
              <a:rPr sz="900" spc="175" dirty="0">
                <a:solidFill>
                  <a:srgbClr val="3333B2"/>
                </a:solidFill>
                <a:latin typeface="Arial"/>
                <a:cs typeface="Arial"/>
              </a:rPr>
              <a:t> </a:t>
            </a:r>
            <a:r>
              <a:rPr sz="900" dirty="0">
                <a:latin typeface="Arial"/>
                <a:cs typeface="Arial"/>
              </a:rPr>
              <a:t>(request</a:t>
            </a:r>
            <a:r>
              <a:rPr sz="900" spc="-20" dirty="0">
                <a:latin typeface="Arial"/>
                <a:cs typeface="Arial"/>
              </a:rPr>
              <a:t> </a:t>
            </a:r>
            <a:r>
              <a:rPr sz="900" dirty="0">
                <a:latin typeface="Arial"/>
                <a:cs typeface="Arial"/>
              </a:rPr>
              <a:t>was</a:t>
            </a:r>
            <a:r>
              <a:rPr sz="900" spc="-25" dirty="0">
                <a:latin typeface="Arial"/>
                <a:cs typeface="Arial"/>
              </a:rPr>
              <a:t> </a:t>
            </a:r>
            <a:r>
              <a:rPr sz="900" dirty="0">
                <a:latin typeface="Arial"/>
                <a:cs typeface="Arial"/>
              </a:rPr>
              <a:t>lost):</a:t>
            </a:r>
            <a:r>
              <a:rPr sz="900" spc="30" dirty="0">
                <a:latin typeface="Arial"/>
                <a:cs typeface="Arial"/>
              </a:rPr>
              <a:t> </a:t>
            </a:r>
            <a:r>
              <a:rPr sz="900" dirty="0">
                <a:latin typeface="Arial"/>
                <a:cs typeface="Arial"/>
              </a:rPr>
              <a:t>just</a:t>
            </a:r>
            <a:r>
              <a:rPr sz="900" spc="-20" dirty="0">
                <a:latin typeface="Arial"/>
                <a:cs typeface="Arial"/>
              </a:rPr>
              <a:t> </a:t>
            </a:r>
            <a:r>
              <a:rPr sz="900" dirty="0">
                <a:latin typeface="Arial"/>
                <a:cs typeface="Arial"/>
              </a:rPr>
              <a:t>resend</a:t>
            </a:r>
            <a:r>
              <a:rPr sz="900" spc="-25" dirty="0">
                <a:latin typeface="Arial"/>
                <a:cs typeface="Arial"/>
              </a:rPr>
              <a:t> </a:t>
            </a:r>
            <a:r>
              <a:rPr sz="900" spc="-10" dirty="0">
                <a:latin typeface="Arial"/>
                <a:cs typeface="Arial"/>
              </a:rPr>
              <a:t>message</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120142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3" action="ppaction://hlinksldjump"/>
              </a:rPr>
              <a:t>RPC</a:t>
            </a:r>
            <a:r>
              <a:rPr sz="500" spc="-20" dirty="0">
                <a:latin typeface="Arial"/>
                <a:cs typeface="Arial"/>
                <a:hlinkClick r:id="rId3" action="ppaction://hlinksldjump"/>
              </a:rPr>
              <a:t> </a:t>
            </a:r>
            <a:r>
              <a:rPr sz="500" dirty="0">
                <a:latin typeface="Arial"/>
                <a:cs typeface="Arial"/>
                <a:hlinkClick r:id="rId3" action="ppaction://hlinksldjump"/>
              </a:rPr>
              <a:t>semantics</a:t>
            </a:r>
            <a:r>
              <a:rPr sz="500" spc="-15" dirty="0">
                <a:latin typeface="Arial"/>
                <a:cs typeface="Arial"/>
                <a:hlinkClick r:id="rId3" action="ppaction://hlinksldjump"/>
              </a:rPr>
              <a:t> </a:t>
            </a:r>
            <a:r>
              <a:rPr sz="500" dirty="0">
                <a:latin typeface="Arial"/>
                <a:cs typeface="Arial"/>
                <a:hlinkClick r:id="rId3" action="ppaction://hlinksldjump"/>
              </a:rPr>
              <a:t>in</a:t>
            </a:r>
            <a:r>
              <a:rPr sz="500" spc="-15" dirty="0">
                <a:latin typeface="Arial"/>
                <a:cs typeface="Arial"/>
                <a:hlinkClick r:id="rId3" action="ppaction://hlinksldjump"/>
              </a:rPr>
              <a:t> </a:t>
            </a:r>
            <a:r>
              <a:rPr sz="500" dirty="0">
                <a:latin typeface="Arial"/>
                <a:cs typeface="Arial"/>
                <a:hlinkClick r:id="rId3" action="ppaction://hlinksldjump"/>
              </a:rPr>
              <a:t>the</a:t>
            </a:r>
            <a:r>
              <a:rPr sz="500" spc="-20" dirty="0">
                <a:latin typeface="Arial"/>
                <a:cs typeface="Arial"/>
                <a:hlinkClick r:id="rId3" action="ppaction://hlinksldjump"/>
              </a:rPr>
              <a:t> </a:t>
            </a:r>
            <a:r>
              <a:rPr sz="500" dirty="0">
                <a:latin typeface="Arial"/>
                <a:cs typeface="Arial"/>
                <a:hlinkClick r:id="rId3" action="ppaction://hlinksldjump"/>
              </a:rPr>
              <a:t>presence</a:t>
            </a:r>
            <a:r>
              <a:rPr sz="500" spc="-15" dirty="0">
                <a:latin typeface="Arial"/>
                <a:cs typeface="Arial"/>
                <a:hlinkClick r:id="rId3" action="ppaction://hlinksldjump"/>
              </a:rPr>
              <a:t> </a:t>
            </a:r>
            <a:r>
              <a:rPr sz="500" dirty="0">
                <a:latin typeface="Arial"/>
                <a:cs typeface="Arial"/>
                <a:hlinkClick r:id="rId3" action="ppaction://hlinksldjump"/>
              </a:rPr>
              <a:t>of</a:t>
            </a:r>
            <a:r>
              <a:rPr sz="500" spc="-15" dirty="0">
                <a:latin typeface="Arial"/>
                <a:cs typeface="Arial"/>
                <a:hlinkClick r:id="rId3" action="ppaction://hlinksldjump"/>
              </a:rPr>
              <a:t> </a:t>
            </a:r>
            <a:r>
              <a:rPr sz="500" spc="-10" dirty="0">
                <a:latin typeface="Arial"/>
                <a:cs typeface="Arial"/>
                <a:hlinkClick r:id="rId3" action="ppaction://hlinksldjump"/>
              </a:rPr>
              <a:t>failures</a:t>
            </a:r>
            <a:endParaRPr sz="500">
              <a:latin typeface="Arial"/>
              <a:cs typeface="Arial"/>
            </a:endParaRPr>
          </a:p>
        </p:txBody>
      </p:sp>
    </p:spTree>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497198" y="-1515"/>
            <a:ext cx="1057910"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Reliable</a:t>
            </a:r>
            <a:r>
              <a:rPr sz="500" spc="-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client-</a:t>
            </a:r>
            <a:r>
              <a:rPr sz="500" dirty="0">
                <a:solidFill>
                  <a:srgbClr val="FFFFFF"/>
                </a:solidFill>
                <a:latin typeface="Arial"/>
                <a:cs typeface="Arial"/>
                <a:hlinkClick r:id="rId3" action="ppaction://hlinksldjump"/>
              </a:rPr>
              <a:t>server </a:t>
            </a:r>
            <a:r>
              <a:rPr sz="500" spc="-10" dirty="0">
                <a:solidFill>
                  <a:srgbClr val="FFFFFF"/>
                </a:solidFill>
                <a:latin typeface="Arial"/>
                <a:cs typeface="Arial"/>
                <a:hlinkClick r:id="rId3" action="ppaction://hlinksldjump"/>
              </a:rPr>
              <a:t>communication</a:t>
            </a:r>
            <a:endParaRPr sz="500">
              <a:latin typeface="Arial"/>
              <a:cs typeface="Arial"/>
            </a:endParaRPr>
          </a:p>
        </p:txBody>
      </p:sp>
      <p:sp>
        <p:nvSpPr>
          <p:cNvPr id="5" name="object 5"/>
          <p:cNvSpPr txBox="1"/>
          <p:nvPr/>
        </p:nvSpPr>
        <p:spPr>
          <a:xfrm>
            <a:off x="95300" y="197711"/>
            <a:ext cx="1852930"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Reliable</a:t>
            </a:r>
            <a:r>
              <a:rPr sz="1200" spc="-50" dirty="0">
                <a:solidFill>
                  <a:srgbClr val="3333B2"/>
                </a:solidFill>
                <a:latin typeface="Arial"/>
                <a:cs typeface="Arial"/>
              </a:rPr>
              <a:t> </a:t>
            </a:r>
            <a:r>
              <a:rPr sz="1200" dirty="0">
                <a:solidFill>
                  <a:srgbClr val="3333B2"/>
                </a:solidFill>
                <a:latin typeface="Arial"/>
                <a:cs typeface="Arial"/>
              </a:rPr>
              <a:t>RPC:</a:t>
            </a:r>
            <a:r>
              <a:rPr sz="1200" spc="-45" dirty="0">
                <a:solidFill>
                  <a:srgbClr val="3333B2"/>
                </a:solidFill>
                <a:latin typeface="Arial"/>
                <a:cs typeface="Arial"/>
              </a:rPr>
              <a:t> </a:t>
            </a:r>
            <a:r>
              <a:rPr sz="1200" dirty="0">
                <a:solidFill>
                  <a:srgbClr val="3333B2"/>
                </a:solidFill>
                <a:latin typeface="Arial"/>
                <a:cs typeface="Arial"/>
              </a:rPr>
              <a:t>server</a:t>
            </a:r>
            <a:r>
              <a:rPr sz="1200" spc="-50" dirty="0">
                <a:solidFill>
                  <a:srgbClr val="3333B2"/>
                </a:solidFill>
                <a:latin typeface="Arial"/>
                <a:cs typeface="Arial"/>
              </a:rPr>
              <a:t> </a:t>
            </a:r>
            <a:r>
              <a:rPr sz="1200" spc="-20" dirty="0">
                <a:solidFill>
                  <a:srgbClr val="3333B2"/>
                </a:solidFill>
                <a:latin typeface="Arial"/>
                <a:cs typeface="Arial"/>
              </a:rPr>
              <a:t>crash</a:t>
            </a:r>
            <a:endParaRPr sz="1200">
              <a:latin typeface="Arial"/>
              <a:cs typeface="Arial"/>
            </a:endParaRPr>
          </a:p>
        </p:txBody>
      </p:sp>
      <p:pic>
        <p:nvPicPr>
          <p:cNvPr id="6" name="object 6"/>
          <p:cNvPicPr/>
          <p:nvPr/>
        </p:nvPicPr>
        <p:blipFill>
          <a:blip r:embed="rId4" cstate="print"/>
          <a:stretch>
            <a:fillRect/>
          </a:stretch>
        </p:blipFill>
        <p:spPr>
          <a:xfrm>
            <a:off x="669302" y="564146"/>
            <a:ext cx="743958" cy="511822"/>
          </a:xfrm>
          <a:prstGeom prst="rect">
            <a:avLst/>
          </a:prstGeom>
        </p:spPr>
      </p:pic>
      <p:pic>
        <p:nvPicPr>
          <p:cNvPr id="7" name="object 7"/>
          <p:cNvPicPr/>
          <p:nvPr/>
        </p:nvPicPr>
        <p:blipFill>
          <a:blip r:embed="rId5" cstate="print"/>
          <a:stretch>
            <a:fillRect/>
          </a:stretch>
        </p:blipFill>
        <p:spPr>
          <a:xfrm>
            <a:off x="1932038" y="564146"/>
            <a:ext cx="743958" cy="511822"/>
          </a:xfrm>
          <a:prstGeom prst="rect">
            <a:avLst/>
          </a:prstGeom>
        </p:spPr>
      </p:pic>
      <p:pic>
        <p:nvPicPr>
          <p:cNvPr id="8" name="object 8"/>
          <p:cNvPicPr/>
          <p:nvPr/>
        </p:nvPicPr>
        <p:blipFill>
          <a:blip r:embed="rId6" cstate="print"/>
          <a:stretch>
            <a:fillRect/>
          </a:stretch>
        </p:blipFill>
        <p:spPr>
          <a:xfrm>
            <a:off x="3194773" y="564146"/>
            <a:ext cx="743958" cy="511822"/>
          </a:xfrm>
          <a:prstGeom prst="rect">
            <a:avLst/>
          </a:prstGeom>
        </p:spPr>
      </p:pic>
      <p:sp>
        <p:nvSpPr>
          <p:cNvPr id="9" name="object 9"/>
          <p:cNvSpPr txBox="1"/>
          <p:nvPr/>
        </p:nvSpPr>
        <p:spPr>
          <a:xfrm>
            <a:off x="303847" y="1283418"/>
            <a:ext cx="4002404" cy="1513205"/>
          </a:xfrm>
          <a:prstGeom prst="rect">
            <a:avLst/>
          </a:prstGeom>
        </p:spPr>
        <p:txBody>
          <a:bodyPr vert="horz" wrap="square" lIns="0" tIns="12065" rIns="0" bIns="0" rtlCol="0">
            <a:spAutoFit/>
          </a:bodyPr>
          <a:lstStyle/>
          <a:p>
            <a:pPr marL="667385">
              <a:lnSpc>
                <a:spcPct val="100000"/>
              </a:lnSpc>
              <a:spcBef>
                <a:spcPts val="95"/>
              </a:spcBef>
              <a:tabLst>
                <a:tab pos="1930400" algn="l"/>
                <a:tab pos="3195955" algn="l"/>
              </a:tabLst>
            </a:pPr>
            <a:r>
              <a:rPr sz="900" spc="-25" dirty="0">
                <a:latin typeface="Arial"/>
                <a:cs typeface="Arial"/>
              </a:rPr>
              <a:t>(a)</a:t>
            </a:r>
            <a:r>
              <a:rPr sz="900" dirty="0">
                <a:latin typeface="Arial"/>
                <a:cs typeface="Arial"/>
              </a:rPr>
              <a:t>	</a:t>
            </a:r>
            <a:r>
              <a:rPr sz="900" spc="-25" dirty="0">
                <a:latin typeface="Arial"/>
                <a:cs typeface="Arial"/>
              </a:rPr>
              <a:t>(b)</a:t>
            </a:r>
            <a:r>
              <a:rPr sz="900" dirty="0">
                <a:latin typeface="Arial"/>
                <a:cs typeface="Arial"/>
              </a:rPr>
              <a:t>	</a:t>
            </a:r>
            <a:r>
              <a:rPr sz="900" spc="-25" dirty="0">
                <a:latin typeface="Arial"/>
                <a:cs typeface="Arial"/>
              </a:rPr>
              <a:t>(c)</a:t>
            </a:r>
            <a:endParaRPr sz="900">
              <a:latin typeface="Arial"/>
              <a:cs typeface="Arial"/>
            </a:endParaRPr>
          </a:p>
          <a:p>
            <a:pPr>
              <a:lnSpc>
                <a:spcPct val="100000"/>
              </a:lnSpc>
              <a:spcBef>
                <a:spcPts val="50"/>
              </a:spcBef>
            </a:pPr>
            <a:endParaRPr sz="1200">
              <a:latin typeface="Arial"/>
              <a:cs typeface="Arial"/>
            </a:endParaRPr>
          </a:p>
          <a:p>
            <a:pPr marL="55880">
              <a:lnSpc>
                <a:spcPct val="100000"/>
              </a:lnSpc>
            </a:pPr>
            <a:r>
              <a:rPr sz="1000" spc="-10" dirty="0">
                <a:solidFill>
                  <a:srgbClr val="3333B2"/>
                </a:solidFill>
                <a:latin typeface="Arial"/>
                <a:cs typeface="Arial"/>
              </a:rPr>
              <a:t>Problem</a:t>
            </a:r>
            <a:endParaRPr sz="1000">
              <a:latin typeface="Arial"/>
              <a:cs typeface="Arial"/>
            </a:endParaRPr>
          </a:p>
          <a:p>
            <a:pPr marL="55880" marR="43180" indent="-5715">
              <a:lnSpc>
                <a:spcPts val="1210"/>
              </a:lnSpc>
              <a:spcBef>
                <a:spcPts val="35"/>
              </a:spcBef>
            </a:pPr>
            <a:r>
              <a:rPr sz="900" dirty="0">
                <a:latin typeface="Arial"/>
                <a:cs typeface="Arial"/>
              </a:rPr>
              <a:t>Where</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normal</a:t>
            </a:r>
            <a:r>
              <a:rPr sz="900" spc="-20" dirty="0">
                <a:latin typeface="Arial"/>
                <a:cs typeface="Arial"/>
              </a:rPr>
              <a:t> </a:t>
            </a:r>
            <a:r>
              <a:rPr sz="900" dirty="0">
                <a:latin typeface="Arial"/>
                <a:cs typeface="Arial"/>
              </a:rPr>
              <a:t>case,</a:t>
            </a:r>
            <a:r>
              <a:rPr sz="900" spc="-20" dirty="0">
                <a:latin typeface="Arial"/>
                <a:cs typeface="Arial"/>
              </a:rPr>
              <a:t> </a:t>
            </a:r>
            <a:r>
              <a:rPr sz="900" dirty="0">
                <a:latin typeface="Arial"/>
                <a:cs typeface="Arial"/>
              </a:rPr>
              <a:t>situations</a:t>
            </a:r>
            <a:r>
              <a:rPr sz="900" spc="-20" dirty="0">
                <a:latin typeface="Arial"/>
                <a:cs typeface="Arial"/>
              </a:rPr>
              <a:t> </a:t>
            </a:r>
            <a:r>
              <a:rPr sz="900" dirty="0">
                <a:latin typeface="Arial"/>
                <a:cs typeface="Arial"/>
              </a:rPr>
              <a:t>(b)</a:t>
            </a:r>
            <a:r>
              <a:rPr sz="900" spc="-20" dirty="0">
                <a:latin typeface="Arial"/>
                <a:cs typeface="Arial"/>
              </a:rPr>
              <a:t> </a:t>
            </a:r>
            <a:r>
              <a:rPr sz="900" dirty="0">
                <a:latin typeface="Arial"/>
                <a:cs typeface="Arial"/>
              </a:rPr>
              <a:t>and</a:t>
            </a:r>
            <a:r>
              <a:rPr sz="900" spc="-20" dirty="0">
                <a:latin typeface="Arial"/>
                <a:cs typeface="Arial"/>
              </a:rPr>
              <a:t> </a:t>
            </a:r>
            <a:r>
              <a:rPr sz="900" dirty="0">
                <a:latin typeface="Arial"/>
                <a:cs typeface="Arial"/>
              </a:rPr>
              <a:t>(c)</a:t>
            </a:r>
            <a:r>
              <a:rPr sz="900" spc="-20" dirty="0">
                <a:latin typeface="Arial"/>
                <a:cs typeface="Arial"/>
              </a:rPr>
              <a:t> </a:t>
            </a:r>
            <a:r>
              <a:rPr sz="900" dirty="0">
                <a:latin typeface="Arial"/>
                <a:cs typeface="Arial"/>
              </a:rPr>
              <a:t>require</a:t>
            </a:r>
            <a:r>
              <a:rPr sz="900" spc="-20" dirty="0">
                <a:latin typeface="Arial"/>
                <a:cs typeface="Arial"/>
              </a:rPr>
              <a:t> </a:t>
            </a:r>
            <a:r>
              <a:rPr sz="900" spc="-10" dirty="0">
                <a:latin typeface="Arial"/>
                <a:cs typeface="Arial"/>
              </a:rPr>
              <a:t>different</a:t>
            </a:r>
            <a:r>
              <a:rPr sz="900" spc="-20" dirty="0">
                <a:latin typeface="Arial"/>
                <a:cs typeface="Arial"/>
              </a:rPr>
              <a:t> </a:t>
            </a:r>
            <a:r>
              <a:rPr sz="900" spc="-10" dirty="0">
                <a:latin typeface="Arial"/>
                <a:cs typeface="Arial"/>
              </a:rPr>
              <a:t>solutions. </a:t>
            </a:r>
            <a:r>
              <a:rPr sz="900" spc="-20" dirty="0">
                <a:latin typeface="Arial"/>
                <a:cs typeface="Arial"/>
              </a:rPr>
              <a:t>However,</a:t>
            </a:r>
            <a:r>
              <a:rPr sz="900" spc="-35" dirty="0">
                <a:latin typeface="Arial"/>
                <a:cs typeface="Arial"/>
              </a:rPr>
              <a:t> </a:t>
            </a:r>
            <a:r>
              <a:rPr sz="900" dirty="0">
                <a:latin typeface="Arial"/>
                <a:cs typeface="Arial"/>
              </a:rPr>
              <a:t>we</a:t>
            </a:r>
            <a:r>
              <a:rPr sz="900" spc="-25" dirty="0">
                <a:latin typeface="Arial"/>
                <a:cs typeface="Arial"/>
              </a:rPr>
              <a:t> </a:t>
            </a:r>
            <a:r>
              <a:rPr sz="900" dirty="0">
                <a:latin typeface="Arial"/>
                <a:cs typeface="Arial"/>
              </a:rPr>
              <a:t>don’t</a:t>
            </a:r>
            <a:r>
              <a:rPr sz="900" spc="-25" dirty="0">
                <a:latin typeface="Arial"/>
                <a:cs typeface="Arial"/>
              </a:rPr>
              <a:t> </a:t>
            </a:r>
            <a:r>
              <a:rPr sz="900" dirty="0">
                <a:latin typeface="Arial"/>
                <a:cs typeface="Arial"/>
              </a:rPr>
              <a:t>know</a:t>
            </a:r>
            <a:r>
              <a:rPr sz="900" spc="-25" dirty="0">
                <a:latin typeface="Arial"/>
                <a:cs typeface="Arial"/>
              </a:rPr>
              <a:t> </a:t>
            </a:r>
            <a:r>
              <a:rPr sz="900" dirty="0">
                <a:latin typeface="Arial"/>
                <a:cs typeface="Arial"/>
              </a:rPr>
              <a:t>what</a:t>
            </a:r>
            <a:r>
              <a:rPr sz="900" spc="-25" dirty="0">
                <a:latin typeface="Arial"/>
                <a:cs typeface="Arial"/>
              </a:rPr>
              <a:t> </a:t>
            </a:r>
            <a:r>
              <a:rPr sz="900" dirty="0">
                <a:latin typeface="Arial"/>
                <a:cs typeface="Arial"/>
              </a:rPr>
              <a:t>happened.</a:t>
            </a:r>
            <a:r>
              <a:rPr sz="900" spc="30" dirty="0">
                <a:latin typeface="Arial"/>
                <a:cs typeface="Arial"/>
              </a:rPr>
              <a:t> </a:t>
            </a:r>
            <a:r>
              <a:rPr sz="900" spc="-45" dirty="0">
                <a:latin typeface="Arial"/>
                <a:cs typeface="Arial"/>
              </a:rPr>
              <a:t>Two</a:t>
            </a:r>
            <a:r>
              <a:rPr sz="900" spc="-15" dirty="0">
                <a:latin typeface="Arial"/>
                <a:cs typeface="Arial"/>
              </a:rPr>
              <a:t> </a:t>
            </a:r>
            <a:r>
              <a:rPr sz="900" spc="-10" dirty="0">
                <a:latin typeface="Arial"/>
                <a:cs typeface="Arial"/>
              </a:rPr>
              <a:t>approaches:</a:t>
            </a:r>
            <a:endParaRPr sz="900">
              <a:latin typeface="Arial"/>
              <a:cs typeface="Arial"/>
            </a:endParaRPr>
          </a:p>
          <a:p>
            <a:pPr marL="308610" marR="333375" indent="-120650">
              <a:lnSpc>
                <a:spcPct val="111600"/>
              </a:lnSpc>
              <a:spcBef>
                <a:spcPts val="330"/>
              </a:spcBef>
              <a:buClr>
                <a:srgbClr val="3333B2"/>
              </a:buClr>
              <a:buFont typeface="Menlo"/>
              <a:buChar char="•"/>
              <a:tabLst>
                <a:tab pos="309245" algn="l"/>
              </a:tabLst>
            </a:pPr>
            <a:r>
              <a:rPr sz="900" spc="-10" dirty="0">
                <a:solidFill>
                  <a:srgbClr val="C80000"/>
                </a:solidFill>
                <a:latin typeface="Arial"/>
                <a:cs typeface="Arial"/>
              </a:rPr>
              <a:t>At-least-once-</a:t>
            </a:r>
            <a:r>
              <a:rPr sz="900" dirty="0">
                <a:solidFill>
                  <a:srgbClr val="C80000"/>
                </a:solidFill>
                <a:latin typeface="Arial"/>
                <a:cs typeface="Arial"/>
              </a:rPr>
              <a:t>semantics:</a:t>
            </a:r>
            <a:r>
              <a:rPr sz="900" spc="40" dirty="0">
                <a:solidFill>
                  <a:srgbClr val="C80000"/>
                </a:solidFill>
                <a:latin typeface="Arial"/>
                <a:cs typeface="Arial"/>
              </a:rPr>
              <a:t> </a:t>
            </a:r>
            <a:r>
              <a:rPr sz="900" dirty="0">
                <a:latin typeface="Arial"/>
                <a:cs typeface="Arial"/>
              </a:rPr>
              <a:t>The</a:t>
            </a:r>
            <a:r>
              <a:rPr sz="900" spc="-15" dirty="0">
                <a:latin typeface="Arial"/>
                <a:cs typeface="Arial"/>
              </a:rPr>
              <a:t> </a:t>
            </a:r>
            <a:r>
              <a:rPr sz="900" dirty="0">
                <a:latin typeface="Arial"/>
                <a:cs typeface="Arial"/>
              </a:rPr>
              <a:t>server</a:t>
            </a:r>
            <a:r>
              <a:rPr sz="900" spc="-15" dirty="0">
                <a:latin typeface="Arial"/>
                <a:cs typeface="Arial"/>
              </a:rPr>
              <a:t> </a:t>
            </a:r>
            <a:r>
              <a:rPr sz="900" dirty="0">
                <a:latin typeface="Arial"/>
                <a:cs typeface="Arial"/>
              </a:rPr>
              <a:t>guarantees</a:t>
            </a:r>
            <a:r>
              <a:rPr sz="900" spc="-15" dirty="0">
                <a:latin typeface="Arial"/>
                <a:cs typeface="Arial"/>
              </a:rPr>
              <a:t> </a:t>
            </a:r>
            <a:r>
              <a:rPr sz="900" dirty="0">
                <a:latin typeface="Arial"/>
                <a:cs typeface="Arial"/>
              </a:rPr>
              <a:t>it</a:t>
            </a:r>
            <a:r>
              <a:rPr sz="900" spc="-15" dirty="0">
                <a:latin typeface="Arial"/>
                <a:cs typeface="Arial"/>
              </a:rPr>
              <a:t> </a:t>
            </a:r>
            <a:r>
              <a:rPr sz="900" dirty="0">
                <a:latin typeface="Arial"/>
                <a:cs typeface="Arial"/>
              </a:rPr>
              <a:t>will</a:t>
            </a:r>
            <a:r>
              <a:rPr sz="900" spc="-10" dirty="0">
                <a:latin typeface="Arial"/>
                <a:cs typeface="Arial"/>
              </a:rPr>
              <a:t> </a:t>
            </a:r>
            <a:r>
              <a:rPr sz="900" dirty="0">
                <a:latin typeface="Arial"/>
                <a:cs typeface="Arial"/>
              </a:rPr>
              <a:t>carry</a:t>
            </a:r>
            <a:r>
              <a:rPr sz="900" spc="-15" dirty="0">
                <a:latin typeface="Arial"/>
                <a:cs typeface="Arial"/>
              </a:rPr>
              <a:t> </a:t>
            </a:r>
            <a:r>
              <a:rPr sz="900" dirty="0">
                <a:latin typeface="Arial"/>
                <a:cs typeface="Arial"/>
              </a:rPr>
              <a:t>out</a:t>
            </a:r>
            <a:r>
              <a:rPr sz="900" spc="-15" dirty="0">
                <a:latin typeface="Arial"/>
                <a:cs typeface="Arial"/>
              </a:rPr>
              <a:t> </a:t>
            </a:r>
            <a:r>
              <a:rPr sz="900" spc="-25" dirty="0">
                <a:latin typeface="Arial"/>
                <a:cs typeface="Arial"/>
              </a:rPr>
              <a:t>an </a:t>
            </a:r>
            <a:r>
              <a:rPr sz="900" dirty="0">
                <a:latin typeface="Arial"/>
                <a:cs typeface="Arial"/>
              </a:rPr>
              <a:t>operation</a:t>
            </a:r>
            <a:r>
              <a:rPr sz="900" spc="-30" dirty="0">
                <a:latin typeface="Arial"/>
                <a:cs typeface="Arial"/>
              </a:rPr>
              <a:t> </a:t>
            </a:r>
            <a:r>
              <a:rPr sz="900" dirty="0">
                <a:latin typeface="Arial"/>
                <a:cs typeface="Arial"/>
              </a:rPr>
              <a:t>at</a:t>
            </a:r>
            <a:r>
              <a:rPr sz="900" spc="-30" dirty="0">
                <a:latin typeface="Arial"/>
                <a:cs typeface="Arial"/>
              </a:rPr>
              <a:t> </a:t>
            </a:r>
            <a:r>
              <a:rPr sz="900" dirty="0">
                <a:latin typeface="Arial"/>
                <a:cs typeface="Arial"/>
              </a:rPr>
              <a:t>least</a:t>
            </a:r>
            <a:r>
              <a:rPr sz="900" spc="-30" dirty="0">
                <a:latin typeface="Arial"/>
                <a:cs typeface="Arial"/>
              </a:rPr>
              <a:t> </a:t>
            </a:r>
            <a:r>
              <a:rPr sz="900" dirty="0">
                <a:latin typeface="Arial"/>
                <a:cs typeface="Arial"/>
              </a:rPr>
              <a:t>once,</a:t>
            </a:r>
            <a:r>
              <a:rPr sz="900" spc="-30" dirty="0">
                <a:latin typeface="Arial"/>
                <a:cs typeface="Arial"/>
              </a:rPr>
              <a:t> </a:t>
            </a:r>
            <a:r>
              <a:rPr sz="900" dirty="0">
                <a:latin typeface="Arial"/>
                <a:cs typeface="Arial"/>
              </a:rPr>
              <a:t>no</a:t>
            </a:r>
            <a:r>
              <a:rPr sz="900" spc="-30" dirty="0">
                <a:latin typeface="Arial"/>
                <a:cs typeface="Arial"/>
              </a:rPr>
              <a:t> </a:t>
            </a:r>
            <a:r>
              <a:rPr sz="900" dirty="0">
                <a:latin typeface="Arial"/>
                <a:cs typeface="Arial"/>
              </a:rPr>
              <a:t>matter</a:t>
            </a:r>
            <a:r>
              <a:rPr sz="900" spc="-30" dirty="0">
                <a:latin typeface="Arial"/>
                <a:cs typeface="Arial"/>
              </a:rPr>
              <a:t> </a:t>
            </a:r>
            <a:r>
              <a:rPr sz="900" spc="-10" dirty="0">
                <a:latin typeface="Arial"/>
                <a:cs typeface="Arial"/>
              </a:rPr>
              <a:t>what.</a:t>
            </a:r>
            <a:endParaRPr sz="900">
              <a:latin typeface="Arial"/>
              <a:cs typeface="Arial"/>
            </a:endParaRPr>
          </a:p>
          <a:p>
            <a:pPr marL="308610" marR="327025" indent="-120650">
              <a:lnSpc>
                <a:spcPct val="111600"/>
              </a:lnSpc>
              <a:spcBef>
                <a:spcPts val="400"/>
              </a:spcBef>
              <a:buClr>
                <a:srgbClr val="3333B2"/>
              </a:buClr>
              <a:buFont typeface="Menlo"/>
              <a:buChar char="•"/>
              <a:tabLst>
                <a:tab pos="309245" algn="l"/>
              </a:tabLst>
            </a:pPr>
            <a:r>
              <a:rPr sz="900" spc="-10" dirty="0">
                <a:solidFill>
                  <a:srgbClr val="C80000"/>
                </a:solidFill>
                <a:latin typeface="Arial"/>
                <a:cs typeface="Arial"/>
              </a:rPr>
              <a:t>At-most-once-</a:t>
            </a:r>
            <a:r>
              <a:rPr sz="900" dirty="0">
                <a:solidFill>
                  <a:srgbClr val="C80000"/>
                </a:solidFill>
                <a:latin typeface="Arial"/>
                <a:cs typeface="Arial"/>
              </a:rPr>
              <a:t>semantics:</a:t>
            </a:r>
            <a:r>
              <a:rPr sz="900" spc="40" dirty="0">
                <a:solidFill>
                  <a:srgbClr val="C80000"/>
                </a:solidFill>
                <a:latin typeface="Arial"/>
                <a:cs typeface="Arial"/>
              </a:rPr>
              <a:t> </a:t>
            </a:r>
            <a:r>
              <a:rPr sz="900" dirty="0">
                <a:latin typeface="Arial"/>
                <a:cs typeface="Arial"/>
              </a:rPr>
              <a:t>The</a:t>
            </a:r>
            <a:r>
              <a:rPr sz="900" spc="-15" dirty="0">
                <a:latin typeface="Arial"/>
                <a:cs typeface="Arial"/>
              </a:rPr>
              <a:t> </a:t>
            </a:r>
            <a:r>
              <a:rPr sz="900" dirty="0">
                <a:latin typeface="Arial"/>
                <a:cs typeface="Arial"/>
              </a:rPr>
              <a:t>server</a:t>
            </a:r>
            <a:r>
              <a:rPr sz="900" spc="-20" dirty="0">
                <a:latin typeface="Arial"/>
                <a:cs typeface="Arial"/>
              </a:rPr>
              <a:t> </a:t>
            </a:r>
            <a:r>
              <a:rPr sz="900" dirty="0">
                <a:latin typeface="Arial"/>
                <a:cs typeface="Arial"/>
              </a:rPr>
              <a:t>guarantees</a:t>
            </a:r>
            <a:r>
              <a:rPr sz="900" spc="-15" dirty="0">
                <a:latin typeface="Arial"/>
                <a:cs typeface="Arial"/>
              </a:rPr>
              <a:t> </a:t>
            </a:r>
            <a:r>
              <a:rPr sz="900" dirty="0">
                <a:latin typeface="Arial"/>
                <a:cs typeface="Arial"/>
              </a:rPr>
              <a:t>it</a:t>
            </a:r>
            <a:r>
              <a:rPr sz="900" spc="-15" dirty="0">
                <a:latin typeface="Arial"/>
                <a:cs typeface="Arial"/>
              </a:rPr>
              <a:t> </a:t>
            </a:r>
            <a:r>
              <a:rPr sz="900" dirty="0">
                <a:latin typeface="Arial"/>
                <a:cs typeface="Arial"/>
              </a:rPr>
              <a:t>will</a:t>
            </a:r>
            <a:r>
              <a:rPr sz="900" spc="-15" dirty="0">
                <a:latin typeface="Arial"/>
                <a:cs typeface="Arial"/>
              </a:rPr>
              <a:t> </a:t>
            </a:r>
            <a:r>
              <a:rPr sz="900" dirty="0">
                <a:latin typeface="Arial"/>
                <a:cs typeface="Arial"/>
              </a:rPr>
              <a:t>carry</a:t>
            </a:r>
            <a:r>
              <a:rPr sz="900" spc="-15" dirty="0">
                <a:latin typeface="Arial"/>
                <a:cs typeface="Arial"/>
              </a:rPr>
              <a:t> </a:t>
            </a:r>
            <a:r>
              <a:rPr sz="900" dirty="0">
                <a:latin typeface="Arial"/>
                <a:cs typeface="Arial"/>
              </a:rPr>
              <a:t>out</a:t>
            </a:r>
            <a:r>
              <a:rPr sz="900" spc="-15" dirty="0">
                <a:latin typeface="Arial"/>
                <a:cs typeface="Arial"/>
              </a:rPr>
              <a:t> </a:t>
            </a:r>
            <a:r>
              <a:rPr sz="900" spc="-35" dirty="0">
                <a:latin typeface="Arial"/>
                <a:cs typeface="Arial"/>
              </a:rPr>
              <a:t>an </a:t>
            </a:r>
            <a:r>
              <a:rPr sz="900" dirty="0">
                <a:latin typeface="Arial"/>
                <a:cs typeface="Arial"/>
              </a:rPr>
              <a:t>operation</a:t>
            </a:r>
            <a:r>
              <a:rPr sz="900" spc="-30" dirty="0">
                <a:latin typeface="Arial"/>
                <a:cs typeface="Arial"/>
              </a:rPr>
              <a:t> </a:t>
            </a:r>
            <a:r>
              <a:rPr sz="900" dirty="0">
                <a:latin typeface="Arial"/>
                <a:cs typeface="Arial"/>
              </a:rPr>
              <a:t>at</a:t>
            </a:r>
            <a:r>
              <a:rPr sz="900" spc="-30" dirty="0">
                <a:latin typeface="Arial"/>
                <a:cs typeface="Arial"/>
              </a:rPr>
              <a:t> </a:t>
            </a:r>
            <a:r>
              <a:rPr sz="900" dirty="0">
                <a:latin typeface="Arial"/>
                <a:cs typeface="Arial"/>
              </a:rPr>
              <a:t>most</a:t>
            </a:r>
            <a:r>
              <a:rPr sz="900" spc="-30" dirty="0">
                <a:latin typeface="Arial"/>
                <a:cs typeface="Arial"/>
              </a:rPr>
              <a:t> </a:t>
            </a:r>
            <a:r>
              <a:rPr sz="900" spc="-20" dirty="0">
                <a:latin typeface="Arial"/>
                <a:cs typeface="Arial"/>
              </a:rPr>
              <a:t>once.</a:t>
            </a:r>
            <a:endParaRPr sz="900">
              <a:latin typeface="Arial"/>
              <a:cs typeface="Arial"/>
            </a:endParaRPr>
          </a:p>
        </p:txBody>
      </p:sp>
      <p:grpSp>
        <p:nvGrpSpPr>
          <p:cNvPr id="10" name="object 10"/>
          <p:cNvGrpSpPr/>
          <p:nvPr/>
        </p:nvGrpSpPr>
        <p:grpSpPr>
          <a:xfrm>
            <a:off x="0" y="3348469"/>
            <a:ext cx="4608195" cy="107950"/>
            <a:chOff x="0" y="3348469"/>
            <a:chExt cx="4608195" cy="107950"/>
          </a:xfrm>
        </p:grpSpPr>
        <p:sp>
          <p:nvSpPr>
            <p:cNvPr id="11" name="object 11"/>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2" name="object 12"/>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3" name="object 13"/>
          <p:cNvSpPr txBox="1"/>
          <p:nvPr/>
        </p:nvSpPr>
        <p:spPr>
          <a:xfrm>
            <a:off x="53467" y="3349927"/>
            <a:ext cx="120142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3" action="ppaction://hlinksldjump"/>
              </a:rPr>
              <a:t>RPC</a:t>
            </a:r>
            <a:r>
              <a:rPr sz="500" spc="-20" dirty="0">
                <a:latin typeface="Arial"/>
                <a:cs typeface="Arial"/>
                <a:hlinkClick r:id="rId3" action="ppaction://hlinksldjump"/>
              </a:rPr>
              <a:t> </a:t>
            </a:r>
            <a:r>
              <a:rPr sz="500" dirty="0">
                <a:latin typeface="Arial"/>
                <a:cs typeface="Arial"/>
                <a:hlinkClick r:id="rId3" action="ppaction://hlinksldjump"/>
              </a:rPr>
              <a:t>semantics</a:t>
            </a:r>
            <a:r>
              <a:rPr sz="500" spc="-15" dirty="0">
                <a:latin typeface="Arial"/>
                <a:cs typeface="Arial"/>
                <a:hlinkClick r:id="rId3" action="ppaction://hlinksldjump"/>
              </a:rPr>
              <a:t> </a:t>
            </a:r>
            <a:r>
              <a:rPr sz="500" dirty="0">
                <a:latin typeface="Arial"/>
                <a:cs typeface="Arial"/>
                <a:hlinkClick r:id="rId3" action="ppaction://hlinksldjump"/>
              </a:rPr>
              <a:t>in</a:t>
            </a:r>
            <a:r>
              <a:rPr sz="500" spc="-15" dirty="0">
                <a:latin typeface="Arial"/>
                <a:cs typeface="Arial"/>
                <a:hlinkClick r:id="rId3" action="ppaction://hlinksldjump"/>
              </a:rPr>
              <a:t> </a:t>
            </a:r>
            <a:r>
              <a:rPr sz="500" dirty="0">
                <a:latin typeface="Arial"/>
                <a:cs typeface="Arial"/>
                <a:hlinkClick r:id="rId3" action="ppaction://hlinksldjump"/>
              </a:rPr>
              <a:t>the</a:t>
            </a:r>
            <a:r>
              <a:rPr sz="500" spc="-20" dirty="0">
                <a:latin typeface="Arial"/>
                <a:cs typeface="Arial"/>
                <a:hlinkClick r:id="rId3" action="ppaction://hlinksldjump"/>
              </a:rPr>
              <a:t> </a:t>
            </a:r>
            <a:r>
              <a:rPr sz="500" dirty="0">
                <a:latin typeface="Arial"/>
                <a:cs typeface="Arial"/>
                <a:hlinkClick r:id="rId3" action="ppaction://hlinksldjump"/>
              </a:rPr>
              <a:t>presence</a:t>
            </a:r>
            <a:r>
              <a:rPr sz="500" spc="-15" dirty="0">
                <a:latin typeface="Arial"/>
                <a:cs typeface="Arial"/>
                <a:hlinkClick r:id="rId3" action="ppaction://hlinksldjump"/>
              </a:rPr>
              <a:t> </a:t>
            </a:r>
            <a:r>
              <a:rPr sz="500" dirty="0">
                <a:latin typeface="Arial"/>
                <a:cs typeface="Arial"/>
                <a:hlinkClick r:id="rId3" action="ppaction://hlinksldjump"/>
              </a:rPr>
              <a:t>of</a:t>
            </a:r>
            <a:r>
              <a:rPr sz="500" spc="-15" dirty="0">
                <a:latin typeface="Arial"/>
                <a:cs typeface="Arial"/>
                <a:hlinkClick r:id="rId3" action="ppaction://hlinksldjump"/>
              </a:rPr>
              <a:t> </a:t>
            </a:r>
            <a:r>
              <a:rPr sz="500" spc="-10" dirty="0">
                <a:latin typeface="Arial"/>
                <a:cs typeface="Arial"/>
                <a:hlinkClick r:id="rId3" action="ppaction://hlinksldjump"/>
              </a:rPr>
              <a:t>failures</a:t>
            </a:r>
            <a:endParaRPr sz="500">
              <a:latin typeface="Arial"/>
              <a:cs typeface="Arial"/>
            </a:endParaRPr>
          </a:p>
        </p:txBody>
      </p:sp>
    </p:spTree>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497198" y="-1515"/>
            <a:ext cx="1057910"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Reliable</a:t>
            </a:r>
            <a:r>
              <a:rPr sz="500" spc="-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client-</a:t>
            </a:r>
            <a:r>
              <a:rPr sz="500" dirty="0">
                <a:solidFill>
                  <a:srgbClr val="FFFFFF"/>
                </a:solidFill>
                <a:latin typeface="Arial"/>
                <a:cs typeface="Arial"/>
                <a:hlinkClick r:id="rId3" action="ppaction://hlinksldjump"/>
              </a:rPr>
              <a:t>server </a:t>
            </a:r>
            <a:r>
              <a:rPr sz="500" spc="-10" dirty="0">
                <a:solidFill>
                  <a:srgbClr val="FFFFFF"/>
                </a:solidFill>
                <a:latin typeface="Arial"/>
                <a:cs typeface="Arial"/>
                <a:hlinkClick r:id="rId3" action="ppaction://hlinksldjump"/>
              </a:rPr>
              <a:t>communication</a:t>
            </a:r>
            <a:endParaRPr sz="500">
              <a:latin typeface="Arial"/>
              <a:cs typeface="Arial"/>
            </a:endParaRPr>
          </a:p>
        </p:txBody>
      </p:sp>
      <p:sp>
        <p:nvSpPr>
          <p:cNvPr id="5" name="object 5"/>
          <p:cNvSpPr txBox="1"/>
          <p:nvPr/>
        </p:nvSpPr>
        <p:spPr>
          <a:xfrm>
            <a:off x="95300" y="197711"/>
            <a:ext cx="4007485" cy="26333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Why</a:t>
            </a:r>
            <a:r>
              <a:rPr sz="1200" spc="-50" dirty="0">
                <a:solidFill>
                  <a:srgbClr val="3333B2"/>
                </a:solidFill>
                <a:latin typeface="Arial"/>
                <a:cs typeface="Arial"/>
              </a:rPr>
              <a:t> </a:t>
            </a:r>
            <a:r>
              <a:rPr sz="1200" dirty="0">
                <a:solidFill>
                  <a:srgbClr val="3333B2"/>
                </a:solidFill>
                <a:latin typeface="Arial"/>
                <a:cs typeface="Arial"/>
              </a:rPr>
              <a:t>fully</a:t>
            </a:r>
            <a:r>
              <a:rPr sz="1200" spc="-50" dirty="0">
                <a:solidFill>
                  <a:srgbClr val="3333B2"/>
                </a:solidFill>
                <a:latin typeface="Arial"/>
                <a:cs typeface="Arial"/>
              </a:rPr>
              <a:t> </a:t>
            </a:r>
            <a:r>
              <a:rPr sz="1200" dirty="0">
                <a:solidFill>
                  <a:srgbClr val="3333B2"/>
                </a:solidFill>
                <a:latin typeface="Arial"/>
                <a:cs typeface="Arial"/>
              </a:rPr>
              <a:t>transparent</a:t>
            </a:r>
            <a:r>
              <a:rPr sz="1200" spc="-45" dirty="0">
                <a:solidFill>
                  <a:srgbClr val="3333B2"/>
                </a:solidFill>
                <a:latin typeface="Arial"/>
                <a:cs typeface="Arial"/>
              </a:rPr>
              <a:t> </a:t>
            </a:r>
            <a:r>
              <a:rPr sz="1200" dirty="0">
                <a:solidFill>
                  <a:srgbClr val="3333B2"/>
                </a:solidFill>
                <a:latin typeface="Arial"/>
                <a:cs typeface="Arial"/>
              </a:rPr>
              <a:t>server</a:t>
            </a:r>
            <a:r>
              <a:rPr sz="1200" spc="-50" dirty="0">
                <a:solidFill>
                  <a:srgbClr val="3333B2"/>
                </a:solidFill>
                <a:latin typeface="Arial"/>
                <a:cs typeface="Arial"/>
              </a:rPr>
              <a:t> </a:t>
            </a:r>
            <a:r>
              <a:rPr sz="1200" dirty="0">
                <a:solidFill>
                  <a:srgbClr val="3333B2"/>
                </a:solidFill>
                <a:latin typeface="Arial"/>
                <a:cs typeface="Arial"/>
              </a:rPr>
              <a:t>recovery</a:t>
            </a:r>
            <a:r>
              <a:rPr sz="1200" spc="-50" dirty="0">
                <a:solidFill>
                  <a:srgbClr val="3333B2"/>
                </a:solidFill>
                <a:latin typeface="Arial"/>
                <a:cs typeface="Arial"/>
              </a:rPr>
              <a:t> </a:t>
            </a:r>
            <a:r>
              <a:rPr sz="1200" dirty="0">
                <a:solidFill>
                  <a:srgbClr val="3333B2"/>
                </a:solidFill>
                <a:latin typeface="Arial"/>
                <a:cs typeface="Arial"/>
              </a:rPr>
              <a:t>is</a:t>
            </a:r>
            <a:r>
              <a:rPr sz="1200" spc="-45" dirty="0">
                <a:solidFill>
                  <a:srgbClr val="3333B2"/>
                </a:solidFill>
                <a:latin typeface="Arial"/>
                <a:cs typeface="Arial"/>
              </a:rPr>
              <a:t> </a:t>
            </a:r>
            <a:r>
              <a:rPr sz="1200" spc="-10" dirty="0">
                <a:solidFill>
                  <a:srgbClr val="3333B2"/>
                </a:solidFill>
                <a:latin typeface="Arial"/>
                <a:cs typeface="Arial"/>
              </a:rPr>
              <a:t>impossible</a:t>
            </a:r>
            <a:endParaRPr sz="1200">
              <a:latin typeface="Arial"/>
              <a:cs typeface="Arial"/>
            </a:endParaRPr>
          </a:p>
          <a:p>
            <a:pPr marL="260350">
              <a:lnSpc>
                <a:spcPct val="100000"/>
              </a:lnSpc>
              <a:spcBef>
                <a:spcPts val="1055"/>
              </a:spcBef>
            </a:pPr>
            <a:r>
              <a:rPr sz="1000" dirty="0">
                <a:solidFill>
                  <a:srgbClr val="3333B2"/>
                </a:solidFill>
                <a:latin typeface="Arial"/>
                <a:cs typeface="Arial"/>
              </a:rPr>
              <a:t>Three</a:t>
            </a:r>
            <a:r>
              <a:rPr sz="1000" spc="-25" dirty="0">
                <a:solidFill>
                  <a:srgbClr val="3333B2"/>
                </a:solidFill>
                <a:latin typeface="Arial"/>
                <a:cs typeface="Arial"/>
              </a:rPr>
              <a:t> </a:t>
            </a:r>
            <a:r>
              <a:rPr sz="1000" dirty="0">
                <a:solidFill>
                  <a:srgbClr val="3333B2"/>
                </a:solidFill>
                <a:latin typeface="Arial"/>
                <a:cs typeface="Arial"/>
              </a:rPr>
              <a:t>type</a:t>
            </a:r>
            <a:r>
              <a:rPr sz="1000" spc="-20" dirty="0">
                <a:solidFill>
                  <a:srgbClr val="3333B2"/>
                </a:solidFill>
                <a:latin typeface="Arial"/>
                <a:cs typeface="Arial"/>
              </a:rPr>
              <a:t> </a:t>
            </a:r>
            <a:r>
              <a:rPr sz="1000" dirty="0">
                <a:solidFill>
                  <a:srgbClr val="3333B2"/>
                </a:solidFill>
                <a:latin typeface="Arial"/>
                <a:cs typeface="Arial"/>
              </a:rPr>
              <a:t>of</a:t>
            </a:r>
            <a:r>
              <a:rPr sz="1000" spc="-20" dirty="0">
                <a:solidFill>
                  <a:srgbClr val="3333B2"/>
                </a:solidFill>
                <a:latin typeface="Arial"/>
                <a:cs typeface="Arial"/>
              </a:rPr>
              <a:t> </a:t>
            </a:r>
            <a:r>
              <a:rPr sz="1000" spc="-10" dirty="0">
                <a:solidFill>
                  <a:srgbClr val="3333B2"/>
                </a:solidFill>
                <a:latin typeface="Arial"/>
                <a:cs typeface="Arial"/>
              </a:rPr>
              <a:t>events</a:t>
            </a:r>
            <a:r>
              <a:rPr sz="1000" spc="-25" dirty="0">
                <a:solidFill>
                  <a:srgbClr val="3333B2"/>
                </a:solidFill>
                <a:latin typeface="Arial"/>
                <a:cs typeface="Arial"/>
              </a:rPr>
              <a:t> </a:t>
            </a:r>
            <a:r>
              <a:rPr sz="1000" dirty="0">
                <a:solidFill>
                  <a:srgbClr val="3333B2"/>
                </a:solidFill>
                <a:latin typeface="Arial"/>
                <a:cs typeface="Arial"/>
              </a:rPr>
              <a:t>at</a:t>
            </a:r>
            <a:r>
              <a:rPr sz="1000" spc="-20" dirty="0">
                <a:solidFill>
                  <a:srgbClr val="3333B2"/>
                </a:solidFill>
                <a:latin typeface="Arial"/>
                <a:cs typeface="Arial"/>
              </a:rPr>
              <a:t> </a:t>
            </a:r>
            <a:r>
              <a:rPr sz="1000" dirty="0">
                <a:solidFill>
                  <a:srgbClr val="3333B2"/>
                </a:solidFill>
                <a:latin typeface="Arial"/>
                <a:cs typeface="Arial"/>
              </a:rPr>
              <a:t>the</a:t>
            </a:r>
            <a:r>
              <a:rPr sz="1000" spc="-25" dirty="0">
                <a:solidFill>
                  <a:srgbClr val="3333B2"/>
                </a:solidFill>
                <a:latin typeface="Arial"/>
                <a:cs typeface="Arial"/>
              </a:rPr>
              <a:t> </a:t>
            </a:r>
            <a:r>
              <a:rPr sz="1000" spc="-10" dirty="0">
                <a:solidFill>
                  <a:srgbClr val="3333B2"/>
                </a:solidFill>
                <a:latin typeface="Arial"/>
                <a:cs typeface="Arial"/>
              </a:rPr>
              <a:t>server</a:t>
            </a:r>
            <a:endParaRPr sz="1000">
              <a:latin typeface="Arial"/>
              <a:cs typeface="Arial"/>
            </a:endParaRPr>
          </a:p>
          <a:p>
            <a:pPr marL="260350">
              <a:lnSpc>
                <a:spcPct val="100000"/>
              </a:lnSpc>
              <a:spcBef>
                <a:spcPts val="300"/>
              </a:spcBef>
            </a:pPr>
            <a:r>
              <a:rPr sz="900" dirty="0">
                <a:latin typeface="Arial"/>
                <a:cs typeface="Arial"/>
              </a:rPr>
              <a:t>(Assume</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server</a:t>
            </a:r>
            <a:r>
              <a:rPr sz="900" spc="-25"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requested</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update</a:t>
            </a:r>
            <a:r>
              <a:rPr sz="900" spc="-25"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document.)</a:t>
            </a:r>
            <a:endParaRPr sz="900">
              <a:latin typeface="Arial"/>
              <a:cs typeface="Arial"/>
            </a:endParaRPr>
          </a:p>
          <a:p>
            <a:pPr marL="327660">
              <a:lnSpc>
                <a:spcPct val="100000"/>
              </a:lnSpc>
              <a:spcBef>
                <a:spcPts val="525"/>
              </a:spcBef>
            </a:pPr>
            <a:r>
              <a:rPr sz="900" dirty="0">
                <a:solidFill>
                  <a:srgbClr val="3333B2"/>
                </a:solidFill>
                <a:latin typeface="Arial"/>
                <a:cs typeface="Arial"/>
              </a:rPr>
              <a:t>M:</a:t>
            </a:r>
            <a:r>
              <a:rPr sz="900" spc="204" dirty="0">
                <a:solidFill>
                  <a:srgbClr val="3333B2"/>
                </a:solidFill>
                <a:latin typeface="Arial"/>
                <a:cs typeface="Arial"/>
              </a:rPr>
              <a:t> </a:t>
            </a:r>
            <a:r>
              <a:rPr sz="900" dirty="0">
                <a:latin typeface="Arial"/>
                <a:cs typeface="Arial"/>
              </a:rPr>
              <a:t>send</a:t>
            </a:r>
            <a:r>
              <a:rPr sz="900" spc="-2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completion</a:t>
            </a:r>
            <a:r>
              <a:rPr sz="900" spc="-25" dirty="0">
                <a:latin typeface="Arial"/>
                <a:cs typeface="Arial"/>
              </a:rPr>
              <a:t> </a:t>
            </a:r>
            <a:r>
              <a:rPr sz="900" spc="-10" dirty="0">
                <a:latin typeface="Arial"/>
                <a:cs typeface="Arial"/>
              </a:rPr>
              <a:t>message</a:t>
            </a:r>
            <a:endParaRPr sz="900">
              <a:latin typeface="Arial"/>
              <a:cs typeface="Arial"/>
            </a:endParaRPr>
          </a:p>
          <a:p>
            <a:pPr marL="340360" marR="1399540" indent="5715">
              <a:lnSpc>
                <a:spcPct val="111600"/>
              </a:lnSpc>
            </a:pPr>
            <a:r>
              <a:rPr sz="900" dirty="0">
                <a:solidFill>
                  <a:srgbClr val="3333B2"/>
                </a:solidFill>
                <a:latin typeface="Arial"/>
                <a:cs typeface="Arial"/>
              </a:rPr>
              <a:t>P:</a:t>
            </a:r>
            <a:r>
              <a:rPr sz="900" spc="210" dirty="0">
                <a:solidFill>
                  <a:srgbClr val="3333B2"/>
                </a:solidFill>
                <a:latin typeface="Arial"/>
                <a:cs typeface="Arial"/>
              </a:rPr>
              <a:t> </a:t>
            </a:r>
            <a:r>
              <a:rPr sz="900" dirty="0">
                <a:latin typeface="Arial"/>
                <a:cs typeface="Arial"/>
              </a:rPr>
              <a:t>complete</a:t>
            </a:r>
            <a:r>
              <a:rPr sz="900" spc="-2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processing</a:t>
            </a:r>
            <a:r>
              <a:rPr sz="900" spc="-25" dirty="0">
                <a:latin typeface="Arial"/>
                <a:cs typeface="Arial"/>
              </a:rPr>
              <a:t> </a:t>
            </a:r>
            <a:r>
              <a:rPr sz="900" dirty="0">
                <a:latin typeface="Arial"/>
                <a:cs typeface="Arial"/>
              </a:rPr>
              <a:t>of</a:t>
            </a:r>
            <a:r>
              <a:rPr sz="900" spc="-20" dirty="0">
                <a:latin typeface="Arial"/>
                <a:cs typeface="Arial"/>
              </a:rPr>
              <a:t> </a:t>
            </a:r>
            <a:r>
              <a:rPr sz="900" dirty="0">
                <a:latin typeface="Arial"/>
                <a:cs typeface="Arial"/>
              </a:rPr>
              <a:t>the</a:t>
            </a:r>
            <a:r>
              <a:rPr sz="900" spc="-25" dirty="0">
                <a:latin typeface="Arial"/>
                <a:cs typeface="Arial"/>
              </a:rPr>
              <a:t> </a:t>
            </a:r>
            <a:r>
              <a:rPr sz="900" spc="-10" dirty="0">
                <a:latin typeface="Arial"/>
                <a:cs typeface="Arial"/>
              </a:rPr>
              <a:t>document </a:t>
            </a:r>
            <a:r>
              <a:rPr sz="900" dirty="0">
                <a:solidFill>
                  <a:srgbClr val="3333B2"/>
                </a:solidFill>
                <a:latin typeface="Arial"/>
                <a:cs typeface="Arial"/>
              </a:rPr>
              <a:t>C:</a:t>
            </a:r>
            <a:r>
              <a:rPr sz="900" spc="235" dirty="0">
                <a:solidFill>
                  <a:srgbClr val="3333B2"/>
                </a:solidFill>
                <a:latin typeface="Arial"/>
                <a:cs typeface="Arial"/>
              </a:rPr>
              <a:t> </a:t>
            </a:r>
            <a:r>
              <a:rPr sz="900" spc="-10" dirty="0">
                <a:latin typeface="Arial"/>
                <a:cs typeface="Arial"/>
              </a:rPr>
              <a:t>crash</a:t>
            </a:r>
            <a:endParaRPr sz="900">
              <a:latin typeface="Arial"/>
              <a:cs typeface="Arial"/>
            </a:endParaRPr>
          </a:p>
          <a:p>
            <a:pPr>
              <a:lnSpc>
                <a:spcPct val="100000"/>
              </a:lnSpc>
              <a:spcBef>
                <a:spcPts val="20"/>
              </a:spcBef>
            </a:pPr>
            <a:endParaRPr sz="1050">
              <a:latin typeface="Arial"/>
              <a:cs typeface="Arial"/>
            </a:endParaRPr>
          </a:p>
          <a:p>
            <a:pPr marL="264160">
              <a:lnSpc>
                <a:spcPct val="100000"/>
              </a:lnSpc>
            </a:pPr>
            <a:r>
              <a:rPr sz="1000" dirty="0">
                <a:solidFill>
                  <a:srgbClr val="3333B2"/>
                </a:solidFill>
                <a:latin typeface="Arial"/>
                <a:cs typeface="Arial"/>
              </a:rPr>
              <a:t>Six</a:t>
            </a:r>
            <a:r>
              <a:rPr sz="1000" spc="-45" dirty="0">
                <a:solidFill>
                  <a:srgbClr val="3333B2"/>
                </a:solidFill>
                <a:latin typeface="Arial"/>
                <a:cs typeface="Arial"/>
              </a:rPr>
              <a:t> </a:t>
            </a:r>
            <a:r>
              <a:rPr sz="1000" dirty="0">
                <a:solidFill>
                  <a:srgbClr val="3333B2"/>
                </a:solidFill>
                <a:latin typeface="Arial"/>
                <a:cs typeface="Arial"/>
              </a:rPr>
              <a:t>possible</a:t>
            </a:r>
            <a:r>
              <a:rPr sz="1000" spc="-40" dirty="0">
                <a:solidFill>
                  <a:srgbClr val="3333B2"/>
                </a:solidFill>
                <a:latin typeface="Arial"/>
                <a:cs typeface="Arial"/>
              </a:rPr>
              <a:t> </a:t>
            </a:r>
            <a:r>
              <a:rPr sz="1000" spc="-10" dirty="0">
                <a:solidFill>
                  <a:srgbClr val="3333B2"/>
                </a:solidFill>
                <a:latin typeface="Arial"/>
                <a:cs typeface="Arial"/>
              </a:rPr>
              <a:t>orderings</a:t>
            </a:r>
            <a:endParaRPr sz="1000">
              <a:latin typeface="Arial"/>
              <a:cs typeface="Arial"/>
            </a:endParaRPr>
          </a:p>
          <a:p>
            <a:pPr marL="260350">
              <a:lnSpc>
                <a:spcPct val="100000"/>
              </a:lnSpc>
              <a:spcBef>
                <a:spcPts val="310"/>
              </a:spcBef>
            </a:pPr>
            <a:r>
              <a:rPr sz="900" dirty="0">
                <a:latin typeface="Arial"/>
                <a:cs typeface="Arial"/>
              </a:rPr>
              <a:t>(Actions</a:t>
            </a:r>
            <a:r>
              <a:rPr sz="900" spc="-35" dirty="0">
                <a:latin typeface="Arial"/>
                <a:cs typeface="Arial"/>
              </a:rPr>
              <a:t> </a:t>
            </a:r>
            <a:r>
              <a:rPr sz="900" dirty="0">
                <a:latin typeface="Arial"/>
                <a:cs typeface="Arial"/>
              </a:rPr>
              <a:t>between</a:t>
            </a:r>
            <a:r>
              <a:rPr sz="900" spc="-35" dirty="0">
                <a:latin typeface="Arial"/>
                <a:cs typeface="Arial"/>
              </a:rPr>
              <a:t> </a:t>
            </a:r>
            <a:r>
              <a:rPr sz="900" spc="-10" dirty="0">
                <a:latin typeface="Arial"/>
                <a:cs typeface="Arial"/>
              </a:rPr>
              <a:t>brackets</a:t>
            </a:r>
            <a:r>
              <a:rPr sz="900" spc="-35" dirty="0">
                <a:latin typeface="Arial"/>
                <a:cs typeface="Arial"/>
              </a:rPr>
              <a:t> </a:t>
            </a:r>
            <a:r>
              <a:rPr sz="900" spc="-10" dirty="0">
                <a:latin typeface="Arial"/>
                <a:cs typeface="Arial"/>
              </a:rPr>
              <a:t>never</a:t>
            </a:r>
            <a:r>
              <a:rPr sz="900" spc="-35" dirty="0">
                <a:latin typeface="Arial"/>
                <a:cs typeface="Arial"/>
              </a:rPr>
              <a:t> </a:t>
            </a:r>
            <a:r>
              <a:rPr sz="900" dirty="0">
                <a:latin typeface="Arial"/>
                <a:cs typeface="Arial"/>
              </a:rPr>
              <a:t>take</a:t>
            </a:r>
            <a:r>
              <a:rPr sz="900" spc="-35" dirty="0">
                <a:latin typeface="Arial"/>
                <a:cs typeface="Arial"/>
              </a:rPr>
              <a:t> </a:t>
            </a:r>
            <a:r>
              <a:rPr sz="900" spc="-10" dirty="0">
                <a:latin typeface="Arial"/>
                <a:cs typeface="Arial"/>
              </a:rPr>
              <a:t>place)</a:t>
            </a:r>
            <a:endParaRPr sz="900">
              <a:latin typeface="Arial"/>
              <a:cs typeface="Arial"/>
            </a:endParaRPr>
          </a:p>
          <a:p>
            <a:pPr marL="517525" indent="-158750">
              <a:lnSpc>
                <a:spcPct val="100000"/>
              </a:lnSpc>
              <a:spcBef>
                <a:spcPts val="525"/>
              </a:spcBef>
              <a:buClr>
                <a:srgbClr val="3333B2"/>
              </a:buClr>
              <a:buFont typeface="Arial"/>
              <a:buAutoNum type="arabicPeriod"/>
              <a:tabLst>
                <a:tab pos="518159" algn="l"/>
              </a:tabLst>
            </a:pPr>
            <a:r>
              <a:rPr sz="900" i="1" dirty="0">
                <a:latin typeface="Arial"/>
                <a:cs typeface="Arial"/>
              </a:rPr>
              <a:t>M</a:t>
            </a:r>
            <a:r>
              <a:rPr sz="900" i="1" spc="10" dirty="0">
                <a:latin typeface="Arial"/>
                <a:cs typeface="Arial"/>
              </a:rPr>
              <a:t> </a:t>
            </a:r>
            <a:r>
              <a:rPr sz="900" i="1" spc="350" dirty="0">
                <a:latin typeface="Menlo"/>
                <a:cs typeface="Menlo"/>
              </a:rPr>
              <a:t>→</a:t>
            </a:r>
            <a:r>
              <a:rPr sz="900" i="1" spc="-345" dirty="0">
                <a:latin typeface="Menlo"/>
                <a:cs typeface="Menlo"/>
              </a:rPr>
              <a:t> </a:t>
            </a:r>
            <a:r>
              <a:rPr sz="900" i="1" dirty="0">
                <a:latin typeface="Arial"/>
                <a:cs typeface="Arial"/>
              </a:rPr>
              <a:t>P</a:t>
            </a:r>
            <a:r>
              <a:rPr sz="900" i="1" spc="10" dirty="0">
                <a:latin typeface="Arial"/>
                <a:cs typeface="Arial"/>
              </a:rPr>
              <a:t> </a:t>
            </a:r>
            <a:r>
              <a:rPr sz="900" i="1" spc="350" dirty="0">
                <a:latin typeface="Menlo"/>
                <a:cs typeface="Menlo"/>
              </a:rPr>
              <a:t>→</a:t>
            </a:r>
            <a:r>
              <a:rPr sz="900" i="1" spc="-345" dirty="0">
                <a:latin typeface="Menlo"/>
                <a:cs typeface="Menlo"/>
              </a:rPr>
              <a:t> </a:t>
            </a:r>
            <a:r>
              <a:rPr sz="900" i="1" dirty="0">
                <a:latin typeface="Arial"/>
                <a:cs typeface="Arial"/>
              </a:rPr>
              <a:t>C</a:t>
            </a:r>
            <a:r>
              <a:rPr sz="900" dirty="0">
                <a:latin typeface="Arial"/>
                <a:cs typeface="Arial"/>
              </a:rPr>
              <a:t>:</a:t>
            </a:r>
            <a:r>
              <a:rPr sz="900" spc="50" dirty="0">
                <a:latin typeface="Arial"/>
                <a:cs typeface="Arial"/>
              </a:rPr>
              <a:t> </a:t>
            </a:r>
            <a:r>
              <a:rPr sz="900" dirty="0">
                <a:latin typeface="Arial"/>
                <a:cs typeface="Arial"/>
              </a:rPr>
              <a:t>Crash</a:t>
            </a:r>
            <a:r>
              <a:rPr sz="900" spc="-10" dirty="0">
                <a:latin typeface="Arial"/>
                <a:cs typeface="Arial"/>
              </a:rPr>
              <a:t> </a:t>
            </a:r>
            <a:r>
              <a:rPr sz="900" dirty="0">
                <a:latin typeface="Arial"/>
                <a:cs typeface="Arial"/>
              </a:rPr>
              <a:t>after</a:t>
            </a:r>
            <a:r>
              <a:rPr sz="900" spc="-5" dirty="0">
                <a:latin typeface="Arial"/>
                <a:cs typeface="Arial"/>
              </a:rPr>
              <a:t> </a:t>
            </a:r>
            <a:r>
              <a:rPr sz="900" dirty="0">
                <a:latin typeface="Arial"/>
                <a:cs typeface="Arial"/>
              </a:rPr>
              <a:t>reporting</a:t>
            </a:r>
            <a:r>
              <a:rPr sz="900" spc="-10" dirty="0">
                <a:latin typeface="Arial"/>
                <a:cs typeface="Arial"/>
              </a:rPr>
              <a:t> completion.</a:t>
            </a:r>
            <a:endParaRPr sz="900">
              <a:latin typeface="Arial"/>
              <a:cs typeface="Arial"/>
            </a:endParaRPr>
          </a:p>
          <a:p>
            <a:pPr marL="517525" indent="-158750">
              <a:lnSpc>
                <a:spcPct val="100000"/>
              </a:lnSpc>
              <a:spcBef>
                <a:spcPts val="125"/>
              </a:spcBef>
              <a:buClr>
                <a:srgbClr val="3333B2"/>
              </a:buClr>
              <a:buFont typeface="Arial"/>
              <a:buAutoNum type="arabicPeriod"/>
              <a:tabLst>
                <a:tab pos="518159" algn="l"/>
              </a:tabLst>
            </a:pPr>
            <a:r>
              <a:rPr sz="900" i="1" dirty="0">
                <a:latin typeface="Arial"/>
                <a:cs typeface="Arial"/>
              </a:rPr>
              <a:t>M</a:t>
            </a:r>
            <a:r>
              <a:rPr sz="900" i="1" spc="-20" dirty="0">
                <a:latin typeface="Arial"/>
                <a:cs typeface="Arial"/>
              </a:rPr>
              <a:t> </a:t>
            </a:r>
            <a:r>
              <a:rPr sz="900" i="1" spc="350" dirty="0">
                <a:latin typeface="Menlo"/>
                <a:cs typeface="Menlo"/>
              </a:rPr>
              <a:t>→</a:t>
            </a:r>
            <a:r>
              <a:rPr sz="900" i="1" spc="-345" dirty="0">
                <a:latin typeface="Menlo"/>
                <a:cs typeface="Menlo"/>
              </a:rPr>
              <a:t> </a:t>
            </a:r>
            <a:r>
              <a:rPr sz="900" i="1" dirty="0">
                <a:latin typeface="Arial"/>
                <a:cs typeface="Arial"/>
              </a:rPr>
              <a:t>C</a:t>
            </a:r>
            <a:r>
              <a:rPr sz="900" i="1" spc="-10" dirty="0">
                <a:latin typeface="Arial"/>
                <a:cs typeface="Arial"/>
              </a:rPr>
              <a:t> </a:t>
            </a:r>
            <a:r>
              <a:rPr sz="900" i="1" spc="350" dirty="0">
                <a:latin typeface="Menlo"/>
                <a:cs typeface="Menlo"/>
              </a:rPr>
              <a:t>→</a:t>
            </a:r>
            <a:r>
              <a:rPr sz="900" i="1" spc="-345" dirty="0">
                <a:latin typeface="Menlo"/>
                <a:cs typeface="Menlo"/>
              </a:rPr>
              <a:t> </a:t>
            </a:r>
            <a:r>
              <a:rPr sz="900" i="1" dirty="0">
                <a:latin typeface="Arial"/>
                <a:cs typeface="Arial"/>
              </a:rPr>
              <a:t>P</a:t>
            </a:r>
            <a:r>
              <a:rPr sz="900" dirty="0">
                <a:latin typeface="Arial"/>
                <a:cs typeface="Arial"/>
              </a:rPr>
              <a:t>:</a:t>
            </a:r>
            <a:r>
              <a:rPr sz="900" spc="35" dirty="0">
                <a:latin typeface="Arial"/>
                <a:cs typeface="Arial"/>
              </a:rPr>
              <a:t> </a:t>
            </a:r>
            <a:r>
              <a:rPr sz="900" dirty="0">
                <a:latin typeface="Arial"/>
                <a:cs typeface="Arial"/>
              </a:rPr>
              <a:t>Crash</a:t>
            </a:r>
            <a:r>
              <a:rPr sz="900" spc="-15" dirty="0">
                <a:latin typeface="Arial"/>
                <a:cs typeface="Arial"/>
              </a:rPr>
              <a:t> </a:t>
            </a:r>
            <a:r>
              <a:rPr sz="900" dirty="0">
                <a:latin typeface="Arial"/>
                <a:cs typeface="Arial"/>
              </a:rPr>
              <a:t>after</a:t>
            </a:r>
            <a:r>
              <a:rPr sz="900" spc="-20" dirty="0">
                <a:latin typeface="Arial"/>
                <a:cs typeface="Arial"/>
              </a:rPr>
              <a:t> </a:t>
            </a:r>
            <a:r>
              <a:rPr sz="900" dirty="0">
                <a:latin typeface="Arial"/>
                <a:cs typeface="Arial"/>
              </a:rPr>
              <a:t>reporting</a:t>
            </a:r>
            <a:r>
              <a:rPr sz="900" spc="-15" dirty="0">
                <a:latin typeface="Arial"/>
                <a:cs typeface="Arial"/>
              </a:rPr>
              <a:t> </a:t>
            </a:r>
            <a:r>
              <a:rPr sz="900" dirty="0">
                <a:latin typeface="Arial"/>
                <a:cs typeface="Arial"/>
              </a:rPr>
              <a:t>completion,</a:t>
            </a:r>
            <a:r>
              <a:rPr sz="900" spc="-20" dirty="0">
                <a:latin typeface="Arial"/>
                <a:cs typeface="Arial"/>
              </a:rPr>
              <a:t> </a:t>
            </a:r>
            <a:r>
              <a:rPr sz="900" dirty="0">
                <a:latin typeface="Arial"/>
                <a:cs typeface="Arial"/>
              </a:rPr>
              <a:t>but</a:t>
            </a:r>
            <a:r>
              <a:rPr sz="900" spc="-20" dirty="0">
                <a:latin typeface="Arial"/>
                <a:cs typeface="Arial"/>
              </a:rPr>
              <a:t> </a:t>
            </a:r>
            <a:r>
              <a:rPr sz="900" dirty="0">
                <a:latin typeface="Arial"/>
                <a:cs typeface="Arial"/>
              </a:rPr>
              <a:t>before</a:t>
            </a:r>
            <a:r>
              <a:rPr sz="900" spc="-15" dirty="0">
                <a:latin typeface="Arial"/>
                <a:cs typeface="Arial"/>
              </a:rPr>
              <a:t> </a:t>
            </a:r>
            <a:r>
              <a:rPr sz="900" dirty="0">
                <a:latin typeface="Arial"/>
                <a:cs typeface="Arial"/>
              </a:rPr>
              <a:t>the</a:t>
            </a:r>
            <a:r>
              <a:rPr sz="900" spc="-20" dirty="0">
                <a:latin typeface="Arial"/>
                <a:cs typeface="Arial"/>
              </a:rPr>
              <a:t> </a:t>
            </a:r>
            <a:r>
              <a:rPr sz="900" spc="-10" dirty="0">
                <a:latin typeface="Arial"/>
                <a:cs typeface="Arial"/>
              </a:rPr>
              <a:t>update.</a:t>
            </a:r>
            <a:endParaRPr sz="900">
              <a:latin typeface="Arial"/>
              <a:cs typeface="Arial"/>
            </a:endParaRPr>
          </a:p>
          <a:p>
            <a:pPr marL="517525" indent="-158750">
              <a:lnSpc>
                <a:spcPct val="100000"/>
              </a:lnSpc>
              <a:spcBef>
                <a:spcPts val="125"/>
              </a:spcBef>
              <a:buClr>
                <a:srgbClr val="3333B2"/>
              </a:buClr>
              <a:buFont typeface="Arial"/>
              <a:buAutoNum type="arabicPeriod"/>
              <a:tabLst>
                <a:tab pos="518159" algn="l"/>
              </a:tabLst>
            </a:pPr>
            <a:r>
              <a:rPr sz="900" i="1" dirty="0">
                <a:latin typeface="Arial"/>
                <a:cs typeface="Arial"/>
              </a:rPr>
              <a:t>P</a:t>
            </a:r>
            <a:r>
              <a:rPr sz="900" i="1" spc="-15" dirty="0">
                <a:latin typeface="Arial"/>
                <a:cs typeface="Arial"/>
              </a:rPr>
              <a:t> </a:t>
            </a:r>
            <a:r>
              <a:rPr sz="900" i="1" spc="350" dirty="0">
                <a:latin typeface="Menlo"/>
                <a:cs typeface="Menlo"/>
              </a:rPr>
              <a:t>→</a:t>
            </a:r>
            <a:r>
              <a:rPr sz="900" i="1" spc="-345" dirty="0">
                <a:latin typeface="Menlo"/>
                <a:cs typeface="Menlo"/>
              </a:rPr>
              <a:t> </a:t>
            </a:r>
            <a:r>
              <a:rPr sz="900" i="1" dirty="0">
                <a:latin typeface="Arial"/>
                <a:cs typeface="Arial"/>
              </a:rPr>
              <a:t>M</a:t>
            </a:r>
            <a:r>
              <a:rPr sz="900" i="1" spc="5" dirty="0">
                <a:latin typeface="Arial"/>
                <a:cs typeface="Arial"/>
              </a:rPr>
              <a:t> </a:t>
            </a:r>
            <a:r>
              <a:rPr sz="900" i="1" spc="350" dirty="0">
                <a:latin typeface="Menlo"/>
                <a:cs typeface="Menlo"/>
              </a:rPr>
              <a:t>→</a:t>
            </a:r>
            <a:r>
              <a:rPr sz="900" i="1" spc="-345" dirty="0">
                <a:latin typeface="Menlo"/>
                <a:cs typeface="Menlo"/>
              </a:rPr>
              <a:t> </a:t>
            </a:r>
            <a:r>
              <a:rPr sz="900" i="1" dirty="0">
                <a:latin typeface="Arial"/>
                <a:cs typeface="Arial"/>
              </a:rPr>
              <a:t>C</a:t>
            </a:r>
            <a:r>
              <a:rPr sz="900" dirty="0">
                <a:latin typeface="Arial"/>
                <a:cs typeface="Arial"/>
              </a:rPr>
              <a:t>:</a:t>
            </a:r>
            <a:r>
              <a:rPr sz="900" spc="45" dirty="0">
                <a:latin typeface="Arial"/>
                <a:cs typeface="Arial"/>
              </a:rPr>
              <a:t> </a:t>
            </a:r>
            <a:r>
              <a:rPr sz="900" dirty="0">
                <a:latin typeface="Arial"/>
                <a:cs typeface="Arial"/>
              </a:rPr>
              <a:t>Crash</a:t>
            </a:r>
            <a:r>
              <a:rPr sz="900" spc="-15" dirty="0">
                <a:latin typeface="Arial"/>
                <a:cs typeface="Arial"/>
              </a:rPr>
              <a:t> </a:t>
            </a:r>
            <a:r>
              <a:rPr sz="900" dirty="0">
                <a:latin typeface="Arial"/>
                <a:cs typeface="Arial"/>
              </a:rPr>
              <a:t>after</a:t>
            </a:r>
            <a:r>
              <a:rPr sz="900" spc="-15" dirty="0">
                <a:latin typeface="Arial"/>
                <a:cs typeface="Arial"/>
              </a:rPr>
              <a:t> </a:t>
            </a:r>
            <a:r>
              <a:rPr sz="900" dirty="0">
                <a:latin typeface="Arial"/>
                <a:cs typeface="Arial"/>
              </a:rPr>
              <a:t>reporting</a:t>
            </a:r>
            <a:r>
              <a:rPr sz="900" spc="-10" dirty="0">
                <a:latin typeface="Arial"/>
                <a:cs typeface="Arial"/>
              </a:rPr>
              <a:t> </a:t>
            </a:r>
            <a:r>
              <a:rPr sz="900" dirty="0">
                <a:latin typeface="Arial"/>
                <a:cs typeface="Arial"/>
              </a:rPr>
              <a:t>completion,</a:t>
            </a:r>
            <a:r>
              <a:rPr sz="900" spc="-15" dirty="0">
                <a:latin typeface="Arial"/>
                <a:cs typeface="Arial"/>
              </a:rPr>
              <a:t> </a:t>
            </a:r>
            <a:r>
              <a:rPr sz="900" dirty="0">
                <a:latin typeface="Arial"/>
                <a:cs typeface="Arial"/>
              </a:rPr>
              <a:t>and</a:t>
            </a:r>
            <a:r>
              <a:rPr sz="900" spc="-15" dirty="0">
                <a:latin typeface="Arial"/>
                <a:cs typeface="Arial"/>
              </a:rPr>
              <a:t> </a:t>
            </a:r>
            <a:r>
              <a:rPr sz="900" dirty="0">
                <a:latin typeface="Arial"/>
                <a:cs typeface="Arial"/>
              </a:rPr>
              <a:t>after</a:t>
            </a:r>
            <a:r>
              <a:rPr sz="900" spc="-15" dirty="0">
                <a:latin typeface="Arial"/>
                <a:cs typeface="Arial"/>
              </a:rPr>
              <a:t> </a:t>
            </a:r>
            <a:r>
              <a:rPr sz="900" dirty="0">
                <a:latin typeface="Arial"/>
                <a:cs typeface="Arial"/>
              </a:rPr>
              <a:t>the</a:t>
            </a:r>
            <a:r>
              <a:rPr sz="900" spc="-15" dirty="0">
                <a:latin typeface="Arial"/>
                <a:cs typeface="Arial"/>
              </a:rPr>
              <a:t> </a:t>
            </a:r>
            <a:r>
              <a:rPr sz="900" spc="-10" dirty="0">
                <a:latin typeface="Arial"/>
                <a:cs typeface="Arial"/>
              </a:rPr>
              <a:t>update.</a:t>
            </a:r>
            <a:endParaRPr sz="900">
              <a:latin typeface="Arial"/>
              <a:cs typeface="Arial"/>
            </a:endParaRPr>
          </a:p>
          <a:p>
            <a:pPr marL="517525" indent="-158750">
              <a:lnSpc>
                <a:spcPct val="100000"/>
              </a:lnSpc>
              <a:spcBef>
                <a:spcPts val="125"/>
              </a:spcBef>
              <a:buClr>
                <a:srgbClr val="3333B2"/>
              </a:buClr>
              <a:buFont typeface="Arial"/>
              <a:buAutoNum type="arabicPeriod"/>
              <a:tabLst>
                <a:tab pos="518159" algn="l"/>
              </a:tabLst>
            </a:pPr>
            <a:r>
              <a:rPr sz="900" i="1" dirty="0">
                <a:latin typeface="Arial"/>
                <a:cs typeface="Arial"/>
              </a:rPr>
              <a:t>P</a:t>
            </a:r>
            <a:r>
              <a:rPr sz="900" i="1" spc="5" dirty="0">
                <a:latin typeface="Arial"/>
                <a:cs typeface="Arial"/>
              </a:rPr>
              <a:t> </a:t>
            </a:r>
            <a:r>
              <a:rPr sz="900" i="1" spc="350" dirty="0">
                <a:latin typeface="Menlo"/>
                <a:cs typeface="Menlo"/>
              </a:rPr>
              <a:t>→</a:t>
            </a:r>
            <a:r>
              <a:rPr sz="900" i="1" spc="-345" dirty="0">
                <a:latin typeface="Menlo"/>
                <a:cs typeface="Menlo"/>
              </a:rPr>
              <a:t> </a:t>
            </a:r>
            <a:r>
              <a:rPr sz="900" i="1" spc="150" dirty="0">
                <a:latin typeface="Arial"/>
                <a:cs typeface="Arial"/>
              </a:rPr>
              <a:t>C</a:t>
            </a:r>
            <a:r>
              <a:rPr sz="900" spc="150" dirty="0">
                <a:latin typeface="Arial"/>
                <a:cs typeface="Arial"/>
              </a:rPr>
              <a:t>(</a:t>
            </a:r>
            <a:r>
              <a:rPr sz="900" i="1" spc="150" dirty="0">
                <a:latin typeface="Menlo"/>
                <a:cs typeface="Menlo"/>
              </a:rPr>
              <a:t>→</a:t>
            </a:r>
            <a:r>
              <a:rPr sz="900" i="1" spc="-345" dirty="0">
                <a:latin typeface="Menlo"/>
                <a:cs typeface="Menlo"/>
              </a:rPr>
              <a:t> </a:t>
            </a:r>
            <a:r>
              <a:rPr sz="900" i="1" dirty="0">
                <a:latin typeface="Arial"/>
                <a:cs typeface="Arial"/>
              </a:rPr>
              <a:t>M</a:t>
            </a:r>
            <a:r>
              <a:rPr sz="900" dirty="0">
                <a:latin typeface="Arial"/>
                <a:cs typeface="Arial"/>
              </a:rPr>
              <a:t>):</a:t>
            </a:r>
            <a:r>
              <a:rPr sz="900" spc="55" dirty="0">
                <a:latin typeface="Arial"/>
                <a:cs typeface="Arial"/>
              </a:rPr>
              <a:t> </a:t>
            </a:r>
            <a:r>
              <a:rPr sz="900" dirty="0">
                <a:latin typeface="Arial"/>
                <a:cs typeface="Arial"/>
              </a:rPr>
              <a:t>Update</a:t>
            </a:r>
            <a:r>
              <a:rPr sz="900" spc="-5" dirty="0">
                <a:latin typeface="Arial"/>
                <a:cs typeface="Arial"/>
              </a:rPr>
              <a:t> </a:t>
            </a:r>
            <a:r>
              <a:rPr sz="900" dirty="0">
                <a:latin typeface="Arial"/>
                <a:cs typeface="Arial"/>
              </a:rPr>
              <a:t>took</a:t>
            </a:r>
            <a:r>
              <a:rPr sz="900" spc="-5" dirty="0">
                <a:latin typeface="Arial"/>
                <a:cs typeface="Arial"/>
              </a:rPr>
              <a:t> </a:t>
            </a:r>
            <a:r>
              <a:rPr sz="900" dirty="0">
                <a:latin typeface="Arial"/>
                <a:cs typeface="Arial"/>
              </a:rPr>
              <a:t>place,</a:t>
            </a:r>
            <a:r>
              <a:rPr sz="900" spc="-5" dirty="0">
                <a:latin typeface="Arial"/>
                <a:cs typeface="Arial"/>
              </a:rPr>
              <a:t> </a:t>
            </a:r>
            <a:r>
              <a:rPr sz="900" dirty="0">
                <a:latin typeface="Arial"/>
                <a:cs typeface="Arial"/>
              </a:rPr>
              <a:t>and</a:t>
            </a:r>
            <a:r>
              <a:rPr sz="900" spc="-10" dirty="0">
                <a:latin typeface="Arial"/>
                <a:cs typeface="Arial"/>
              </a:rPr>
              <a:t> </a:t>
            </a:r>
            <a:r>
              <a:rPr sz="900" dirty="0">
                <a:latin typeface="Arial"/>
                <a:cs typeface="Arial"/>
              </a:rPr>
              <a:t>then</a:t>
            </a:r>
            <a:r>
              <a:rPr sz="900" spc="-5" dirty="0">
                <a:latin typeface="Arial"/>
                <a:cs typeface="Arial"/>
              </a:rPr>
              <a:t> </a:t>
            </a:r>
            <a:r>
              <a:rPr sz="900" dirty="0">
                <a:latin typeface="Arial"/>
                <a:cs typeface="Arial"/>
              </a:rPr>
              <a:t>a</a:t>
            </a:r>
            <a:r>
              <a:rPr sz="900" spc="-5" dirty="0">
                <a:latin typeface="Arial"/>
                <a:cs typeface="Arial"/>
              </a:rPr>
              <a:t> </a:t>
            </a:r>
            <a:r>
              <a:rPr sz="900" spc="-10" dirty="0">
                <a:latin typeface="Arial"/>
                <a:cs typeface="Arial"/>
              </a:rPr>
              <a:t>crash.</a:t>
            </a:r>
            <a:endParaRPr sz="900">
              <a:latin typeface="Arial"/>
              <a:cs typeface="Arial"/>
            </a:endParaRPr>
          </a:p>
          <a:p>
            <a:pPr marL="517525" indent="-158750">
              <a:lnSpc>
                <a:spcPct val="100000"/>
              </a:lnSpc>
              <a:spcBef>
                <a:spcPts val="125"/>
              </a:spcBef>
              <a:buClr>
                <a:srgbClr val="3333B2"/>
              </a:buClr>
              <a:buFont typeface="Arial"/>
              <a:buAutoNum type="arabicPeriod"/>
              <a:tabLst>
                <a:tab pos="518159" algn="l"/>
              </a:tabLst>
            </a:pPr>
            <a:r>
              <a:rPr sz="900" i="1" spc="150" dirty="0">
                <a:latin typeface="Arial"/>
                <a:cs typeface="Arial"/>
              </a:rPr>
              <a:t>C</a:t>
            </a:r>
            <a:r>
              <a:rPr sz="900" spc="150" dirty="0">
                <a:latin typeface="Arial"/>
                <a:cs typeface="Arial"/>
              </a:rPr>
              <a:t>(</a:t>
            </a:r>
            <a:r>
              <a:rPr sz="900" i="1" spc="150" dirty="0">
                <a:latin typeface="Menlo"/>
                <a:cs typeface="Menlo"/>
              </a:rPr>
              <a:t>→</a:t>
            </a:r>
            <a:r>
              <a:rPr sz="900" i="1" spc="-345" dirty="0">
                <a:latin typeface="Menlo"/>
                <a:cs typeface="Menlo"/>
              </a:rPr>
              <a:t> </a:t>
            </a:r>
            <a:r>
              <a:rPr sz="900" i="1" dirty="0">
                <a:latin typeface="Arial"/>
                <a:cs typeface="Arial"/>
              </a:rPr>
              <a:t>P</a:t>
            </a:r>
            <a:r>
              <a:rPr sz="900" i="1" spc="10" dirty="0">
                <a:latin typeface="Arial"/>
                <a:cs typeface="Arial"/>
              </a:rPr>
              <a:t> </a:t>
            </a:r>
            <a:r>
              <a:rPr sz="900" i="1" spc="350" dirty="0">
                <a:latin typeface="Menlo"/>
                <a:cs typeface="Menlo"/>
              </a:rPr>
              <a:t>→</a:t>
            </a:r>
            <a:r>
              <a:rPr sz="900" i="1" spc="-345" dirty="0">
                <a:latin typeface="Menlo"/>
                <a:cs typeface="Menlo"/>
              </a:rPr>
              <a:t> </a:t>
            </a:r>
            <a:r>
              <a:rPr sz="900" i="1" dirty="0">
                <a:latin typeface="Arial"/>
                <a:cs typeface="Arial"/>
              </a:rPr>
              <a:t>M</a:t>
            </a:r>
            <a:r>
              <a:rPr sz="900" dirty="0">
                <a:latin typeface="Arial"/>
                <a:cs typeface="Arial"/>
              </a:rPr>
              <a:t>):</a:t>
            </a:r>
            <a:r>
              <a:rPr sz="900" spc="55" dirty="0">
                <a:latin typeface="Arial"/>
                <a:cs typeface="Arial"/>
              </a:rPr>
              <a:t> </a:t>
            </a:r>
            <a:r>
              <a:rPr sz="900" dirty="0">
                <a:latin typeface="Arial"/>
                <a:cs typeface="Arial"/>
              </a:rPr>
              <a:t>Crash</a:t>
            </a:r>
            <a:r>
              <a:rPr sz="900" spc="-5" dirty="0">
                <a:latin typeface="Arial"/>
                <a:cs typeface="Arial"/>
              </a:rPr>
              <a:t> </a:t>
            </a:r>
            <a:r>
              <a:rPr sz="900" dirty="0">
                <a:latin typeface="Arial"/>
                <a:cs typeface="Arial"/>
              </a:rPr>
              <a:t>before</a:t>
            </a:r>
            <a:r>
              <a:rPr sz="900" spc="-5" dirty="0">
                <a:latin typeface="Arial"/>
                <a:cs typeface="Arial"/>
              </a:rPr>
              <a:t> </a:t>
            </a:r>
            <a:r>
              <a:rPr sz="900" dirty="0">
                <a:latin typeface="Arial"/>
                <a:cs typeface="Arial"/>
              </a:rPr>
              <a:t>doing</a:t>
            </a:r>
            <a:r>
              <a:rPr sz="900" spc="-5" dirty="0">
                <a:latin typeface="Arial"/>
                <a:cs typeface="Arial"/>
              </a:rPr>
              <a:t> </a:t>
            </a:r>
            <a:r>
              <a:rPr sz="900" spc="-10" dirty="0">
                <a:latin typeface="Arial"/>
                <a:cs typeface="Arial"/>
              </a:rPr>
              <a:t>anything</a:t>
            </a:r>
            <a:endParaRPr sz="900">
              <a:latin typeface="Arial"/>
              <a:cs typeface="Arial"/>
            </a:endParaRPr>
          </a:p>
          <a:p>
            <a:pPr marL="517525" indent="-158750">
              <a:lnSpc>
                <a:spcPct val="100000"/>
              </a:lnSpc>
              <a:spcBef>
                <a:spcPts val="125"/>
              </a:spcBef>
              <a:buClr>
                <a:srgbClr val="3333B2"/>
              </a:buClr>
              <a:buFont typeface="Arial"/>
              <a:buAutoNum type="arabicPeriod"/>
              <a:tabLst>
                <a:tab pos="518159" algn="l"/>
              </a:tabLst>
            </a:pPr>
            <a:r>
              <a:rPr sz="900" i="1" spc="150" dirty="0">
                <a:latin typeface="Arial"/>
                <a:cs typeface="Arial"/>
              </a:rPr>
              <a:t>C</a:t>
            </a:r>
            <a:r>
              <a:rPr sz="900" spc="150" dirty="0">
                <a:latin typeface="Arial"/>
                <a:cs typeface="Arial"/>
              </a:rPr>
              <a:t>(</a:t>
            </a:r>
            <a:r>
              <a:rPr sz="900" i="1" spc="150" dirty="0">
                <a:latin typeface="Menlo"/>
                <a:cs typeface="Menlo"/>
              </a:rPr>
              <a:t>→</a:t>
            </a:r>
            <a:r>
              <a:rPr sz="900" i="1" spc="-345" dirty="0">
                <a:latin typeface="Menlo"/>
                <a:cs typeface="Menlo"/>
              </a:rPr>
              <a:t> </a:t>
            </a:r>
            <a:r>
              <a:rPr sz="900" i="1" dirty="0">
                <a:latin typeface="Arial"/>
                <a:cs typeface="Arial"/>
              </a:rPr>
              <a:t>M</a:t>
            </a:r>
            <a:r>
              <a:rPr sz="900" i="1" spc="15" dirty="0">
                <a:latin typeface="Arial"/>
                <a:cs typeface="Arial"/>
              </a:rPr>
              <a:t> </a:t>
            </a:r>
            <a:r>
              <a:rPr sz="900" i="1" spc="350" dirty="0">
                <a:latin typeface="Menlo"/>
                <a:cs typeface="Menlo"/>
              </a:rPr>
              <a:t>→</a:t>
            </a:r>
            <a:r>
              <a:rPr sz="900" i="1" spc="-345" dirty="0">
                <a:latin typeface="Menlo"/>
                <a:cs typeface="Menlo"/>
              </a:rPr>
              <a:t> </a:t>
            </a:r>
            <a:r>
              <a:rPr sz="900" i="1" dirty="0">
                <a:latin typeface="Arial"/>
                <a:cs typeface="Arial"/>
              </a:rPr>
              <a:t>P</a:t>
            </a:r>
            <a:r>
              <a:rPr sz="900" dirty="0">
                <a:latin typeface="Arial"/>
                <a:cs typeface="Arial"/>
              </a:rPr>
              <a:t>):</a:t>
            </a:r>
            <a:r>
              <a:rPr sz="900" spc="55" dirty="0">
                <a:latin typeface="Arial"/>
                <a:cs typeface="Arial"/>
              </a:rPr>
              <a:t> </a:t>
            </a:r>
            <a:r>
              <a:rPr sz="900" dirty="0">
                <a:latin typeface="Arial"/>
                <a:cs typeface="Arial"/>
              </a:rPr>
              <a:t>Crash</a:t>
            </a:r>
            <a:r>
              <a:rPr sz="900" spc="-5" dirty="0">
                <a:latin typeface="Arial"/>
                <a:cs typeface="Arial"/>
              </a:rPr>
              <a:t> </a:t>
            </a:r>
            <a:r>
              <a:rPr sz="900" dirty="0">
                <a:latin typeface="Arial"/>
                <a:cs typeface="Arial"/>
              </a:rPr>
              <a:t>before</a:t>
            </a:r>
            <a:r>
              <a:rPr sz="900" spc="-5" dirty="0">
                <a:latin typeface="Arial"/>
                <a:cs typeface="Arial"/>
              </a:rPr>
              <a:t> </a:t>
            </a:r>
            <a:r>
              <a:rPr sz="900" dirty="0">
                <a:latin typeface="Arial"/>
                <a:cs typeface="Arial"/>
              </a:rPr>
              <a:t>doing</a:t>
            </a:r>
            <a:r>
              <a:rPr sz="900" spc="-10" dirty="0">
                <a:latin typeface="Arial"/>
                <a:cs typeface="Arial"/>
              </a:rPr>
              <a:t> anything</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120142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3" action="ppaction://hlinksldjump"/>
              </a:rPr>
              <a:t>RPC</a:t>
            </a:r>
            <a:r>
              <a:rPr sz="500" spc="-20" dirty="0">
                <a:latin typeface="Arial"/>
                <a:cs typeface="Arial"/>
                <a:hlinkClick r:id="rId3" action="ppaction://hlinksldjump"/>
              </a:rPr>
              <a:t> </a:t>
            </a:r>
            <a:r>
              <a:rPr sz="500" dirty="0">
                <a:latin typeface="Arial"/>
                <a:cs typeface="Arial"/>
                <a:hlinkClick r:id="rId3" action="ppaction://hlinksldjump"/>
              </a:rPr>
              <a:t>semantics</a:t>
            </a:r>
            <a:r>
              <a:rPr sz="500" spc="-15" dirty="0">
                <a:latin typeface="Arial"/>
                <a:cs typeface="Arial"/>
                <a:hlinkClick r:id="rId3" action="ppaction://hlinksldjump"/>
              </a:rPr>
              <a:t> </a:t>
            </a:r>
            <a:r>
              <a:rPr sz="500" dirty="0">
                <a:latin typeface="Arial"/>
                <a:cs typeface="Arial"/>
                <a:hlinkClick r:id="rId3" action="ppaction://hlinksldjump"/>
              </a:rPr>
              <a:t>in</a:t>
            </a:r>
            <a:r>
              <a:rPr sz="500" spc="-15" dirty="0">
                <a:latin typeface="Arial"/>
                <a:cs typeface="Arial"/>
                <a:hlinkClick r:id="rId3" action="ppaction://hlinksldjump"/>
              </a:rPr>
              <a:t> </a:t>
            </a:r>
            <a:r>
              <a:rPr sz="500" dirty="0">
                <a:latin typeface="Arial"/>
                <a:cs typeface="Arial"/>
                <a:hlinkClick r:id="rId3" action="ppaction://hlinksldjump"/>
              </a:rPr>
              <a:t>the</a:t>
            </a:r>
            <a:r>
              <a:rPr sz="500" spc="-20" dirty="0">
                <a:latin typeface="Arial"/>
                <a:cs typeface="Arial"/>
                <a:hlinkClick r:id="rId3" action="ppaction://hlinksldjump"/>
              </a:rPr>
              <a:t> </a:t>
            </a:r>
            <a:r>
              <a:rPr sz="500" dirty="0">
                <a:latin typeface="Arial"/>
                <a:cs typeface="Arial"/>
                <a:hlinkClick r:id="rId3" action="ppaction://hlinksldjump"/>
              </a:rPr>
              <a:t>presence</a:t>
            </a:r>
            <a:r>
              <a:rPr sz="500" spc="-15" dirty="0">
                <a:latin typeface="Arial"/>
                <a:cs typeface="Arial"/>
                <a:hlinkClick r:id="rId3" action="ppaction://hlinksldjump"/>
              </a:rPr>
              <a:t> </a:t>
            </a:r>
            <a:r>
              <a:rPr sz="500" dirty="0">
                <a:latin typeface="Arial"/>
                <a:cs typeface="Arial"/>
                <a:hlinkClick r:id="rId3" action="ppaction://hlinksldjump"/>
              </a:rPr>
              <a:t>of</a:t>
            </a:r>
            <a:r>
              <a:rPr sz="500" spc="-15" dirty="0">
                <a:latin typeface="Arial"/>
                <a:cs typeface="Arial"/>
                <a:hlinkClick r:id="rId3" action="ppaction://hlinksldjump"/>
              </a:rPr>
              <a:t> </a:t>
            </a:r>
            <a:r>
              <a:rPr sz="500" spc="-10" dirty="0">
                <a:latin typeface="Arial"/>
                <a:cs typeface="Arial"/>
                <a:hlinkClick r:id="rId3" action="ppaction://hlinksldjump"/>
              </a:rPr>
              <a:t>failures</a:t>
            </a:r>
            <a:endParaRPr sz="500">
              <a:latin typeface="Arial"/>
              <a:cs typeface="Arial"/>
            </a:endParaRPr>
          </a:p>
        </p:txBody>
      </p:sp>
    </p:spTree>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497198" y="-1515"/>
            <a:ext cx="1057910"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Reliable</a:t>
            </a:r>
            <a:r>
              <a:rPr sz="500" spc="-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client-</a:t>
            </a:r>
            <a:r>
              <a:rPr sz="500" dirty="0">
                <a:solidFill>
                  <a:srgbClr val="FFFFFF"/>
                </a:solidFill>
                <a:latin typeface="Arial"/>
                <a:cs typeface="Arial"/>
                <a:hlinkClick r:id="rId3" action="ppaction://hlinksldjump"/>
              </a:rPr>
              <a:t>server </a:t>
            </a:r>
            <a:r>
              <a:rPr sz="500" spc="-10" dirty="0">
                <a:solidFill>
                  <a:srgbClr val="FFFFFF"/>
                </a:solidFill>
                <a:latin typeface="Arial"/>
                <a:cs typeface="Arial"/>
                <a:hlinkClick r:id="rId3" action="ppaction://hlinksldjump"/>
              </a:rPr>
              <a:t>communication</a:t>
            </a:r>
            <a:endParaRPr sz="500">
              <a:latin typeface="Arial"/>
              <a:cs typeface="Arial"/>
            </a:endParaRPr>
          </a:p>
        </p:txBody>
      </p:sp>
      <p:sp>
        <p:nvSpPr>
          <p:cNvPr id="5" name="object 5"/>
          <p:cNvSpPr txBox="1"/>
          <p:nvPr/>
        </p:nvSpPr>
        <p:spPr>
          <a:xfrm>
            <a:off x="95300" y="197711"/>
            <a:ext cx="3441065"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Why</a:t>
            </a:r>
            <a:r>
              <a:rPr sz="1200" spc="-50" dirty="0">
                <a:solidFill>
                  <a:srgbClr val="3333B2"/>
                </a:solidFill>
                <a:latin typeface="Arial"/>
                <a:cs typeface="Arial"/>
              </a:rPr>
              <a:t> </a:t>
            </a:r>
            <a:r>
              <a:rPr sz="1200" dirty="0">
                <a:solidFill>
                  <a:srgbClr val="3333B2"/>
                </a:solidFill>
                <a:latin typeface="Arial"/>
                <a:cs typeface="Arial"/>
              </a:rPr>
              <a:t>fully</a:t>
            </a:r>
            <a:r>
              <a:rPr sz="1200" spc="-50" dirty="0">
                <a:solidFill>
                  <a:srgbClr val="3333B2"/>
                </a:solidFill>
                <a:latin typeface="Arial"/>
                <a:cs typeface="Arial"/>
              </a:rPr>
              <a:t> </a:t>
            </a:r>
            <a:r>
              <a:rPr sz="1200" dirty="0">
                <a:solidFill>
                  <a:srgbClr val="3333B2"/>
                </a:solidFill>
                <a:latin typeface="Arial"/>
                <a:cs typeface="Arial"/>
              </a:rPr>
              <a:t>transparent</a:t>
            </a:r>
            <a:r>
              <a:rPr sz="1200" spc="-45" dirty="0">
                <a:solidFill>
                  <a:srgbClr val="3333B2"/>
                </a:solidFill>
                <a:latin typeface="Arial"/>
                <a:cs typeface="Arial"/>
              </a:rPr>
              <a:t> </a:t>
            </a:r>
            <a:r>
              <a:rPr sz="1200" dirty="0">
                <a:solidFill>
                  <a:srgbClr val="3333B2"/>
                </a:solidFill>
                <a:latin typeface="Arial"/>
                <a:cs typeface="Arial"/>
              </a:rPr>
              <a:t>server</a:t>
            </a:r>
            <a:r>
              <a:rPr sz="1200" spc="-50" dirty="0">
                <a:solidFill>
                  <a:srgbClr val="3333B2"/>
                </a:solidFill>
                <a:latin typeface="Arial"/>
                <a:cs typeface="Arial"/>
              </a:rPr>
              <a:t> </a:t>
            </a:r>
            <a:r>
              <a:rPr sz="1200" dirty="0">
                <a:solidFill>
                  <a:srgbClr val="3333B2"/>
                </a:solidFill>
                <a:latin typeface="Arial"/>
                <a:cs typeface="Arial"/>
              </a:rPr>
              <a:t>recovery</a:t>
            </a:r>
            <a:r>
              <a:rPr sz="1200" spc="-50" dirty="0">
                <a:solidFill>
                  <a:srgbClr val="3333B2"/>
                </a:solidFill>
                <a:latin typeface="Arial"/>
                <a:cs typeface="Arial"/>
              </a:rPr>
              <a:t> </a:t>
            </a:r>
            <a:r>
              <a:rPr sz="1200" dirty="0">
                <a:solidFill>
                  <a:srgbClr val="3333B2"/>
                </a:solidFill>
                <a:latin typeface="Arial"/>
                <a:cs typeface="Arial"/>
              </a:rPr>
              <a:t>is</a:t>
            </a:r>
            <a:r>
              <a:rPr sz="1200" spc="-45" dirty="0">
                <a:solidFill>
                  <a:srgbClr val="3333B2"/>
                </a:solidFill>
                <a:latin typeface="Arial"/>
                <a:cs typeface="Arial"/>
              </a:rPr>
              <a:t> </a:t>
            </a:r>
            <a:r>
              <a:rPr sz="1200" spc="-10" dirty="0">
                <a:solidFill>
                  <a:srgbClr val="3333B2"/>
                </a:solidFill>
                <a:latin typeface="Arial"/>
                <a:cs typeface="Arial"/>
              </a:rPr>
              <a:t>impossible</a:t>
            </a:r>
            <a:endParaRPr sz="1200">
              <a:latin typeface="Arial"/>
              <a:cs typeface="Arial"/>
            </a:endParaRPr>
          </a:p>
        </p:txBody>
      </p:sp>
      <p:pic>
        <p:nvPicPr>
          <p:cNvPr id="6" name="object 6"/>
          <p:cNvPicPr/>
          <p:nvPr/>
        </p:nvPicPr>
        <p:blipFill>
          <a:blip r:embed="rId4" cstate="print"/>
          <a:stretch>
            <a:fillRect/>
          </a:stretch>
        </p:blipFill>
        <p:spPr>
          <a:xfrm>
            <a:off x="575338" y="573006"/>
            <a:ext cx="3452254" cy="1040595"/>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120142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3" action="ppaction://hlinksldjump"/>
              </a:rPr>
              <a:t>RPC</a:t>
            </a:r>
            <a:r>
              <a:rPr sz="500" spc="-20" dirty="0">
                <a:latin typeface="Arial"/>
                <a:cs typeface="Arial"/>
                <a:hlinkClick r:id="rId3" action="ppaction://hlinksldjump"/>
              </a:rPr>
              <a:t> </a:t>
            </a:r>
            <a:r>
              <a:rPr sz="500" dirty="0">
                <a:latin typeface="Arial"/>
                <a:cs typeface="Arial"/>
                <a:hlinkClick r:id="rId3" action="ppaction://hlinksldjump"/>
              </a:rPr>
              <a:t>semantics</a:t>
            </a:r>
            <a:r>
              <a:rPr sz="500" spc="-15" dirty="0">
                <a:latin typeface="Arial"/>
                <a:cs typeface="Arial"/>
                <a:hlinkClick r:id="rId3" action="ppaction://hlinksldjump"/>
              </a:rPr>
              <a:t> </a:t>
            </a:r>
            <a:r>
              <a:rPr sz="500" dirty="0">
                <a:latin typeface="Arial"/>
                <a:cs typeface="Arial"/>
                <a:hlinkClick r:id="rId3" action="ppaction://hlinksldjump"/>
              </a:rPr>
              <a:t>in</a:t>
            </a:r>
            <a:r>
              <a:rPr sz="500" spc="-15" dirty="0">
                <a:latin typeface="Arial"/>
                <a:cs typeface="Arial"/>
                <a:hlinkClick r:id="rId3" action="ppaction://hlinksldjump"/>
              </a:rPr>
              <a:t> </a:t>
            </a:r>
            <a:r>
              <a:rPr sz="500" dirty="0">
                <a:latin typeface="Arial"/>
                <a:cs typeface="Arial"/>
                <a:hlinkClick r:id="rId3" action="ppaction://hlinksldjump"/>
              </a:rPr>
              <a:t>the</a:t>
            </a:r>
            <a:r>
              <a:rPr sz="500" spc="-20" dirty="0">
                <a:latin typeface="Arial"/>
                <a:cs typeface="Arial"/>
                <a:hlinkClick r:id="rId3" action="ppaction://hlinksldjump"/>
              </a:rPr>
              <a:t> </a:t>
            </a:r>
            <a:r>
              <a:rPr sz="500" dirty="0">
                <a:latin typeface="Arial"/>
                <a:cs typeface="Arial"/>
                <a:hlinkClick r:id="rId3" action="ppaction://hlinksldjump"/>
              </a:rPr>
              <a:t>presence</a:t>
            </a:r>
            <a:r>
              <a:rPr sz="500" spc="-15" dirty="0">
                <a:latin typeface="Arial"/>
                <a:cs typeface="Arial"/>
                <a:hlinkClick r:id="rId3" action="ppaction://hlinksldjump"/>
              </a:rPr>
              <a:t> </a:t>
            </a:r>
            <a:r>
              <a:rPr sz="500" dirty="0">
                <a:latin typeface="Arial"/>
                <a:cs typeface="Arial"/>
                <a:hlinkClick r:id="rId3" action="ppaction://hlinksldjump"/>
              </a:rPr>
              <a:t>of</a:t>
            </a:r>
            <a:r>
              <a:rPr sz="500" spc="-15" dirty="0">
                <a:latin typeface="Arial"/>
                <a:cs typeface="Arial"/>
                <a:hlinkClick r:id="rId3" action="ppaction://hlinksldjump"/>
              </a:rPr>
              <a:t> </a:t>
            </a:r>
            <a:r>
              <a:rPr sz="500" spc="-10" dirty="0">
                <a:latin typeface="Arial"/>
                <a:cs typeface="Arial"/>
                <a:hlinkClick r:id="rId3" action="ppaction://hlinksldjump"/>
              </a:rPr>
              <a:t>failures</a:t>
            </a:r>
            <a:endParaRPr sz="500">
              <a:latin typeface="Arial"/>
              <a:cs typeface="Arial"/>
            </a:endParaRPr>
          </a:p>
        </p:txBody>
      </p:sp>
    </p:spTree>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456304" algn="l"/>
              </a:tabLst>
            </a:pPr>
            <a:r>
              <a:rPr sz="500" spc="-10" dirty="0">
                <a:latin typeface="Arial"/>
                <a:cs typeface="Arial"/>
                <a:hlinkClick r:id="rId3" action="ppaction://hlinksldjump"/>
              </a:rPr>
              <a:t>Fault</a:t>
            </a:r>
            <a:r>
              <a:rPr sz="500" spc="5" dirty="0">
                <a:latin typeface="Arial"/>
                <a:cs typeface="Arial"/>
                <a:hlinkClick r:id="rId3" action="ppaction://hlinksldjump"/>
              </a:rPr>
              <a:t> </a:t>
            </a:r>
            <a:r>
              <a:rPr sz="500" spc="-10" dirty="0">
                <a:latin typeface="Arial"/>
                <a:cs typeface="Arial"/>
                <a:hlinkClick r:id="rId3" action="ppaction://hlinksldjump"/>
              </a:rPr>
              <a:t>tolerance</a:t>
            </a:r>
            <a:r>
              <a:rPr sz="500" dirty="0">
                <a:latin typeface="Arial"/>
                <a:cs typeface="Arial"/>
              </a:rPr>
              <a:t>	</a:t>
            </a:r>
            <a:r>
              <a:rPr sz="500" dirty="0">
                <a:solidFill>
                  <a:srgbClr val="FFFFFF"/>
                </a:solidFill>
                <a:latin typeface="Arial"/>
                <a:cs typeface="Arial"/>
                <a:hlinkClick r:id="rId4" action="ppaction://hlinksldjump"/>
              </a:rPr>
              <a:t>Reliable</a:t>
            </a:r>
            <a:r>
              <a:rPr sz="500" spc="-5" dirty="0">
                <a:solidFill>
                  <a:srgbClr val="FFFFFF"/>
                </a:solidFill>
                <a:latin typeface="Arial"/>
                <a:cs typeface="Arial"/>
                <a:hlinkClick r:id="rId4" action="ppaction://hlinksldjump"/>
              </a:rPr>
              <a:t> </a:t>
            </a:r>
            <a:r>
              <a:rPr sz="500" spc="-10" dirty="0">
                <a:solidFill>
                  <a:srgbClr val="FFFFFF"/>
                </a:solidFill>
                <a:latin typeface="Arial"/>
                <a:cs typeface="Arial"/>
                <a:hlinkClick r:id="rId4" action="ppaction://hlinksldjump"/>
              </a:rPr>
              <a:t>client-</a:t>
            </a:r>
            <a:r>
              <a:rPr sz="500" dirty="0">
                <a:solidFill>
                  <a:srgbClr val="FFFFFF"/>
                </a:solidFill>
                <a:latin typeface="Arial"/>
                <a:cs typeface="Arial"/>
                <a:hlinkClick r:id="rId4" action="ppaction://hlinksldjump"/>
              </a:rPr>
              <a:t>server </a:t>
            </a:r>
            <a:r>
              <a:rPr sz="500" spc="-10" dirty="0">
                <a:solidFill>
                  <a:srgbClr val="FFFFFF"/>
                </a:solidFill>
                <a:latin typeface="Arial"/>
                <a:cs typeface="Arial"/>
                <a:hlinkClick r:id="rId4" action="ppaction://hlinksldjump"/>
              </a:rPr>
              <a:t>communication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Reliable</a:t>
            </a:r>
            <a:r>
              <a:rPr spc="-45" dirty="0"/>
              <a:t> </a:t>
            </a:r>
            <a:r>
              <a:rPr dirty="0"/>
              <a:t>RPC:</a:t>
            </a:r>
            <a:r>
              <a:rPr spc="-40" dirty="0"/>
              <a:t> </a:t>
            </a:r>
            <a:r>
              <a:rPr dirty="0"/>
              <a:t>lost</a:t>
            </a:r>
            <a:r>
              <a:rPr spc="-40" dirty="0"/>
              <a:t> </a:t>
            </a:r>
            <a:r>
              <a:rPr dirty="0"/>
              <a:t>reply</a:t>
            </a:r>
            <a:r>
              <a:rPr spc="-40" dirty="0"/>
              <a:t> </a:t>
            </a:r>
            <a:r>
              <a:rPr spc="-10" dirty="0"/>
              <a:t>messages</a:t>
            </a:r>
          </a:p>
        </p:txBody>
      </p:sp>
      <p:sp>
        <p:nvSpPr>
          <p:cNvPr id="4" name="object 4"/>
          <p:cNvSpPr txBox="1"/>
          <p:nvPr/>
        </p:nvSpPr>
        <p:spPr>
          <a:xfrm>
            <a:off x="329247" y="499476"/>
            <a:ext cx="3944620" cy="1922145"/>
          </a:xfrm>
          <a:prstGeom prst="rect">
            <a:avLst/>
          </a:prstGeom>
        </p:spPr>
        <p:txBody>
          <a:bodyPr vert="horz" wrap="square" lIns="0" tIns="27305" rIns="0" bIns="0" rtlCol="0">
            <a:spAutoFit/>
          </a:bodyPr>
          <a:lstStyle/>
          <a:p>
            <a:pPr marL="26670">
              <a:lnSpc>
                <a:spcPct val="100000"/>
              </a:lnSpc>
              <a:spcBef>
                <a:spcPts val="215"/>
              </a:spcBef>
            </a:pPr>
            <a:r>
              <a:rPr sz="1000" dirty="0">
                <a:solidFill>
                  <a:srgbClr val="3333B2"/>
                </a:solidFill>
                <a:latin typeface="Arial"/>
                <a:cs typeface="Arial"/>
              </a:rPr>
              <a:t>The</a:t>
            </a:r>
            <a:r>
              <a:rPr sz="1000" spc="-25" dirty="0">
                <a:solidFill>
                  <a:srgbClr val="3333B2"/>
                </a:solidFill>
                <a:latin typeface="Arial"/>
                <a:cs typeface="Arial"/>
              </a:rPr>
              <a:t> </a:t>
            </a:r>
            <a:r>
              <a:rPr sz="1000" dirty="0">
                <a:solidFill>
                  <a:srgbClr val="3333B2"/>
                </a:solidFill>
                <a:latin typeface="Arial"/>
                <a:cs typeface="Arial"/>
              </a:rPr>
              <a:t>real</a:t>
            </a:r>
            <a:r>
              <a:rPr sz="1000" spc="-20" dirty="0">
                <a:solidFill>
                  <a:srgbClr val="3333B2"/>
                </a:solidFill>
                <a:latin typeface="Arial"/>
                <a:cs typeface="Arial"/>
              </a:rPr>
              <a:t> </a:t>
            </a:r>
            <a:r>
              <a:rPr sz="1000" spc="-10" dirty="0">
                <a:solidFill>
                  <a:srgbClr val="3333B2"/>
                </a:solidFill>
                <a:latin typeface="Arial"/>
                <a:cs typeface="Arial"/>
              </a:rPr>
              <a:t>issue</a:t>
            </a:r>
            <a:endParaRPr sz="1000">
              <a:latin typeface="Arial"/>
              <a:cs typeface="Arial"/>
            </a:endParaRPr>
          </a:p>
          <a:p>
            <a:pPr marL="30480" marR="88265" indent="-5715">
              <a:lnSpc>
                <a:spcPts val="1210"/>
              </a:lnSpc>
              <a:spcBef>
                <a:spcPts val="35"/>
              </a:spcBef>
            </a:pPr>
            <a:r>
              <a:rPr sz="900" dirty="0">
                <a:latin typeface="Arial"/>
                <a:cs typeface="Arial"/>
              </a:rPr>
              <a:t>What</a:t>
            </a:r>
            <a:r>
              <a:rPr sz="900" spc="-2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client</a:t>
            </a:r>
            <a:r>
              <a:rPr sz="900" spc="-20" dirty="0">
                <a:latin typeface="Arial"/>
                <a:cs typeface="Arial"/>
              </a:rPr>
              <a:t> </a:t>
            </a:r>
            <a:r>
              <a:rPr sz="900" dirty="0">
                <a:latin typeface="Arial"/>
                <a:cs typeface="Arial"/>
              </a:rPr>
              <a:t>notices,</a:t>
            </a:r>
            <a:r>
              <a:rPr sz="900" spc="-25"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that</a:t>
            </a:r>
            <a:r>
              <a:rPr sz="900" spc="-20" dirty="0">
                <a:latin typeface="Arial"/>
                <a:cs typeface="Arial"/>
              </a:rPr>
              <a:t> </a:t>
            </a:r>
            <a:r>
              <a:rPr sz="900" dirty="0">
                <a:latin typeface="Arial"/>
                <a:cs typeface="Arial"/>
              </a:rPr>
              <a:t>it</a:t>
            </a:r>
            <a:r>
              <a:rPr sz="900" spc="-25"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not</a:t>
            </a:r>
            <a:r>
              <a:rPr sz="900" spc="-20" dirty="0">
                <a:latin typeface="Arial"/>
                <a:cs typeface="Arial"/>
              </a:rPr>
              <a:t> </a:t>
            </a:r>
            <a:r>
              <a:rPr sz="900" dirty="0">
                <a:latin typeface="Arial"/>
                <a:cs typeface="Arial"/>
              </a:rPr>
              <a:t>getting</a:t>
            </a:r>
            <a:r>
              <a:rPr sz="900" spc="-25" dirty="0">
                <a:latin typeface="Arial"/>
                <a:cs typeface="Arial"/>
              </a:rPr>
              <a:t> </a:t>
            </a:r>
            <a:r>
              <a:rPr sz="900" dirty="0">
                <a:latin typeface="Arial"/>
                <a:cs typeface="Arial"/>
              </a:rPr>
              <a:t>an</a:t>
            </a:r>
            <a:r>
              <a:rPr sz="900" spc="-20" dirty="0">
                <a:latin typeface="Arial"/>
                <a:cs typeface="Arial"/>
              </a:rPr>
              <a:t> </a:t>
            </a:r>
            <a:r>
              <a:rPr sz="900" spc="-10" dirty="0">
                <a:latin typeface="Arial"/>
                <a:cs typeface="Arial"/>
              </a:rPr>
              <a:t>answer.</a:t>
            </a:r>
            <a:r>
              <a:rPr sz="900" spc="35" dirty="0">
                <a:latin typeface="Arial"/>
                <a:cs typeface="Arial"/>
              </a:rPr>
              <a:t> </a:t>
            </a:r>
            <a:r>
              <a:rPr sz="900" spc="-20" dirty="0">
                <a:latin typeface="Arial"/>
                <a:cs typeface="Arial"/>
              </a:rPr>
              <a:t>However, </a:t>
            </a:r>
            <a:r>
              <a:rPr sz="900" dirty="0">
                <a:latin typeface="Arial"/>
                <a:cs typeface="Arial"/>
              </a:rPr>
              <a:t>it</a:t>
            </a:r>
            <a:r>
              <a:rPr sz="900" spc="-25" dirty="0">
                <a:latin typeface="Arial"/>
                <a:cs typeface="Arial"/>
              </a:rPr>
              <a:t> </a:t>
            </a:r>
            <a:r>
              <a:rPr sz="900" spc="-10" dirty="0">
                <a:solidFill>
                  <a:srgbClr val="3333B2"/>
                </a:solidFill>
                <a:latin typeface="Arial"/>
                <a:cs typeface="Arial"/>
              </a:rPr>
              <a:t>cannot </a:t>
            </a:r>
            <a:r>
              <a:rPr sz="900" dirty="0">
                <a:solidFill>
                  <a:srgbClr val="3333B2"/>
                </a:solidFill>
                <a:latin typeface="Arial"/>
                <a:cs typeface="Arial"/>
              </a:rPr>
              <a:t>decide</a:t>
            </a:r>
            <a:r>
              <a:rPr sz="900" spc="-25" dirty="0">
                <a:solidFill>
                  <a:srgbClr val="3333B2"/>
                </a:solidFill>
                <a:latin typeface="Arial"/>
                <a:cs typeface="Arial"/>
              </a:rPr>
              <a:t> </a:t>
            </a:r>
            <a:r>
              <a:rPr sz="900" dirty="0">
                <a:latin typeface="Arial"/>
                <a:cs typeface="Arial"/>
              </a:rPr>
              <a:t>whether</a:t>
            </a:r>
            <a:r>
              <a:rPr sz="900" spc="-25" dirty="0">
                <a:latin typeface="Arial"/>
                <a:cs typeface="Arial"/>
              </a:rPr>
              <a:t> </a:t>
            </a:r>
            <a:r>
              <a:rPr sz="900" dirty="0">
                <a:latin typeface="Arial"/>
                <a:cs typeface="Arial"/>
              </a:rPr>
              <a:t>this</a:t>
            </a:r>
            <a:r>
              <a:rPr sz="900" spc="-25"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caused</a:t>
            </a:r>
            <a:r>
              <a:rPr sz="900" spc="-25" dirty="0">
                <a:latin typeface="Arial"/>
                <a:cs typeface="Arial"/>
              </a:rPr>
              <a:t> </a:t>
            </a:r>
            <a:r>
              <a:rPr sz="900" dirty="0">
                <a:latin typeface="Arial"/>
                <a:cs typeface="Arial"/>
              </a:rPr>
              <a:t>by</a:t>
            </a:r>
            <a:r>
              <a:rPr sz="900" spc="-25" dirty="0">
                <a:latin typeface="Arial"/>
                <a:cs typeface="Arial"/>
              </a:rPr>
              <a:t> </a:t>
            </a:r>
            <a:r>
              <a:rPr sz="900" dirty="0">
                <a:latin typeface="Arial"/>
                <a:cs typeface="Arial"/>
              </a:rPr>
              <a:t>a</a:t>
            </a:r>
            <a:r>
              <a:rPr sz="900" spc="-25" dirty="0">
                <a:latin typeface="Arial"/>
                <a:cs typeface="Arial"/>
              </a:rPr>
              <a:t> </a:t>
            </a:r>
            <a:r>
              <a:rPr sz="900" dirty="0">
                <a:solidFill>
                  <a:srgbClr val="3333B2"/>
                </a:solidFill>
                <a:latin typeface="Arial"/>
                <a:cs typeface="Arial"/>
              </a:rPr>
              <a:t>lost</a:t>
            </a:r>
            <a:r>
              <a:rPr sz="900" spc="-25" dirty="0">
                <a:solidFill>
                  <a:srgbClr val="3333B2"/>
                </a:solidFill>
                <a:latin typeface="Arial"/>
                <a:cs typeface="Arial"/>
              </a:rPr>
              <a:t> </a:t>
            </a:r>
            <a:r>
              <a:rPr sz="900" dirty="0">
                <a:solidFill>
                  <a:srgbClr val="3333B2"/>
                </a:solidFill>
                <a:latin typeface="Arial"/>
                <a:cs typeface="Arial"/>
              </a:rPr>
              <a:t>request</a:t>
            </a:r>
            <a:r>
              <a:rPr sz="900" dirty="0">
                <a:latin typeface="Arial"/>
                <a:cs typeface="Arial"/>
              </a:rPr>
              <a:t>,</a:t>
            </a:r>
            <a:r>
              <a:rPr sz="900" spc="-25" dirty="0">
                <a:latin typeface="Arial"/>
                <a:cs typeface="Arial"/>
              </a:rPr>
              <a:t> </a:t>
            </a:r>
            <a:r>
              <a:rPr sz="900" dirty="0">
                <a:solidFill>
                  <a:srgbClr val="3333B2"/>
                </a:solidFill>
                <a:latin typeface="Arial"/>
                <a:cs typeface="Arial"/>
              </a:rPr>
              <a:t>a</a:t>
            </a:r>
            <a:r>
              <a:rPr sz="900" spc="-25" dirty="0">
                <a:solidFill>
                  <a:srgbClr val="3333B2"/>
                </a:solidFill>
                <a:latin typeface="Arial"/>
                <a:cs typeface="Arial"/>
              </a:rPr>
              <a:t> </a:t>
            </a:r>
            <a:r>
              <a:rPr sz="900" dirty="0">
                <a:solidFill>
                  <a:srgbClr val="3333B2"/>
                </a:solidFill>
                <a:latin typeface="Arial"/>
                <a:cs typeface="Arial"/>
              </a:rPr>
              <a:t>crashed</a:t>
            </a:r>
            <a:r>
              <a:rPr sz="900" spc="-25" dirty="0">
                <a:solidFill>
                  <a:srgbClr val="3333B2"/>
                </a:solidFill>
                <a:latin typeface="Arial"/>
                <a:cs typeface="Arial"/>
              </a:rPr>
              <a:t> </a:t>
            </a:r>
            <a:r>
              <a:rPr sz="900" dirty="0">
                <a:solidFill>
                  <a:srgbClr val="3333B2"/>
                </a:solidFill>
                <a:latin typeface="Arial"/>
                <a:cs typeface="Arial"/>
              </a:rPr>
              <a:t>server</a:t>
            </a:r>
            <a:r>
              <a:rPr sz="900" dirty="0">
                <a:latin typeface="Arial"/>
                <a:cs typeface="Arial"/>
              </a:rPr>
              <a:t>,</a:t>
            </a:r>
            <a:r>
              <a:rPr sz="900" spc="-25" dirty="0">
                <a:latin typeface="Arial"/>
                <a:cs typeface="Arial"/>
              </a:rPr>
              <a:t> </a:t>
            </a:r>
            <a:r>
              <a:rPr sz="900" dirty="0">
                <a:latin typeface="Arial"/>
                <a:cs typeface="Arial"/>
              </a:rPr>
              <a:t>or</a:t>
            </a:r>
            <a:r>
              <a:rPr sz="900" spc="-25" dirty="0">
                <a:latin typeface="Arial"/>
                <a:cs typeface="Arial"/>
              </a:rPr>
              <a:t> </a:t>
            </a:r>
            <a:r>
              <a:rPr sz="900" dirty="0">
                <a:latin typeface="Arial"/>
                <a:cs typeface="Arial"/>
              </a:rPr>
              <a:t>a</a:t>
            </a:r>
            <a:r>
              <a:rPr sz="900" spc="-25" dirty="0">
                <a:latin typeface="Arial"/>
                <a:cs typeface="Arial"/>
              </a:rPr>
              <a:t> </a:t>
            </a:r>
            <a:r>
              <a:rPr sz="900" spc="-20" dirty="0">
                <a:solidFill>
                  <a:srgbClr val="3333B2"/>
                </a:solidFill>
                <a:latin typeface="Arial"/>
                <a:cs typeface="Arial"/>
              </a:rPr>
              <a:t>lost </a:t>
            </a:r>
            <a:r>
              <a:rPr sz="900" spc="-10" dirty="0">
                <a:solidFill>
                  <a:srgbClr val="3333B2"/>
                </a:solidFill>
                <a:latin typeface="Arial"/>
                <a:cs typeface="Arial"/>
              </a:rPr>
              <a:t>response</a:t>
            </a:r>
            <a:r>
              <a:rPr sz="900" spc="-10" dirty="0">
                <a:latin typeface="Arial"/>
                <a:cs typeface="Arial"/>
              </a:rPr>
              <a:t>.</a:t>
            </a:r>
            <a:endParaRPr sz="900">
              <a:latin typeface="Arial"/>
              <a:cs typeface="Arial"/>
            </a:endParaRPr>
          </a:p>
          <a:p>
            <a:pPr marL="30480">
              <a:lnSpc>
                <a:spcPct val="100000"/>
              </a:lnSpc>
              <a:spcBef>
                <a:spcPts val="745"/>
              </a:spcBef>
            </a:pPr>
            <a:r>
              <a:rPr sz="1000" dirty="0">
                <a:solidFill>
                  <a:srgbClr val="3333B2"/>
                </a:solidFill>
                <a:latin typeface="Arial"/>
                <a:cs typeface="Arial"/>
              </a:rPr>
              <a:t>Partial</a:t>
            </a:r>
            <a:r>
              <a:rPr sz="1000" spc="-40" dirty="0">
                <a:solidFill>
                  <a:srgbClr val="3333B2"/>
                </a:solidFill>
                <a:latin typeface="Arial"/>
                <a:cs typeface="Arial"/>
              </a:rPr>
              <a:t> </a:t>
            </a:r>
            <a:r>
              <a:rPr sz="1000" spc="-10" dirty="0">
                <a:solidFill>
                  <a:srgbClr val="3333B2"/>
                </a:solidFill>
                <a:latin typeface="Arial"/>
                <a:cs typeface="Arial"/>
              </a:rPr>
              <a:t>solution</a:t>
            </a:r>
            <a:endParaRPr sz="1000">
              <a:latin typeface="Arial"/>
              <a:cs typeface="Arial"/>
            </a:endParaRPr>
          </a:p>
          <a:p>
            <a:pPr marL="30480" marR="17780">
              <a:lnSpc>
                <a:spcPts val="1210"/>
              </a:lnSpc>
              <a:spcBef>
                <a:spcPts val="35"/>
              </a:spcBef>
            </a:pPr>
            <a:r>
              <a:rPr sz="900" dirty="0">
                <a:latin typeface="Arial"/>
                <a:cs typeface="Arial"/>
              </a:rPr>
              <a:t>Design</a:t>
            </a:r>
            <a:r>
              <a:rPr sz="900" spc="-40" dirty="0">
                <a:latin typeface="Arial"/>
                <a:cs typeface="Arial"/>
              </a:rPr>
              <a:t> </a:t>
            </a:r>
            <a:r>
              <a:rPr sz="900" dirty="0">
                <a:latin typeface="Arial"/>
                <a:cs typeface="Arial"/>
              </a:rPr>
              <a:t>the</a:t>
            </a:r>
            <a:r>
              <a:rPr sz="900" spc="-35" dirty="0">
                <a:latin typeface="Arial"/>
                <a:cs typeface="Arial"/>
              </a:rPr>
              <a:t> </a:t>
            </a:r>
            <a:r>
              <a:rPr sz="900" dirty="0">
                <a:latin typeface="Arial"/>
                <a:cs typeface="Arial"/>
              </a:rPr>
              <a:t>server</a:t>
            </a:r>
            <a:r>
              <a:rPr sz="900" spc="-35" dirty="0">
                <a:latin typeface="Arial"/>
                <a:cs typeface="Arial"/>
              </a:rPr>
              <a:t> </a:t>
            </a:r>
            <a:r>
              <a:rPr sz="900" dirty="0">
                <a:latin typeface="Arial"/>
                <a:cs typeface="Arial"/>
              </a:rPr>
              <a:t>such</a:t>
            </a:r>
            <a:r>
              <a:rPr sz="900" spc="-35" dirty="0">
                <a:latin typeface="Arial"/>
                <a:cs typeface="Arial"/>
              </a:rPr>
              <a:t> </a:t>
            </a:r>
            <a:r>
              <a:rPr sz="900" dirty="0">
                <a:latin typeface="Arial"/>
                <a:cs typeface="Arial"/>
              </a:rPr>
              <a:t>that</a:t>
            </a:r>
            <a:r>
              <a:rPr sz="900" spc="-35" dirty="0">
                <a:latin typeface="Arial"/>
                <a:cs typeface="Arial"/>
              </a:rPr>
              <a:t> </a:t>
            </a:r>
            <a:r>
              <a:rPr sz="900" dirty="0">
                <a:latin typeface="Arial"/>
                <a:cs typeface="Arial"/>
              </a:rPr>
              <a:t>its</a:t>
            </a:r>
            <a:r>
              <a:rPr sz="900" spc="-35" dirty="0">
                <a:latin typeface="Arial"/>
                <a:cs typeface="Arial"/>
              </a:rPr>
              <a:t> </a:t>
            </a:r>
            <a:r>
              <a:rPr sz="900" spc="-10" dirty="0">
                <a:latin typeface="Arial"/>
                <a:cs typeface="Arial"/>
              </a:rPr>
              <a:t>operations</a:t>
            </a:r>
            <a:r>
              <a:rPr sz="900" spc="-35" dirty="0">
                <a:latin typeface="Arial"/>
                <a:cs typeface="Arial"/>
              </a:rPr>
              <a:t> </a:t>
            </a:r>
            <a:r>
              <a:rPr sz="900" dirty="0">
                <a:latin typeface="Arial"/>
                <a:cs typeface="Arial"/>
              </a:rPr>
              <a:t>are</a:t>
            </a:r>
            <a:r>
              <a:rPr sz="900" spc="-35" dirty="0">
                <a:latin typeface="Arial"/>
                <a:cs typeface="Arial"/>
              </a:rPr>
              <a:t> </a:t>
            </a:r>
            <a:r>
              <a:rPr sz="900" dirty="0">
                <a:solidFill>
                  <a:srgbClr val="C80000"/>
                </a:solidFill>
                <a:latin typeface="Arial"/>
                <a:cs typeface="Arial"/>
              </a:rPr>
              <a:t>idempotent</a:t>
            </a:r>
            <a:r>
              <a:rPr sz="900" dirty="0">
                <a:latin typeface="Arial"/>
                <a:cs typeface="Arial"/>
              </a:rPr>
              <a:t>:</a:t>
            </a:r>
            <a:r>
              <a:rPr sz="900" spc="15" dirty="0">
                <a:latin typeface="Arial"/>
                <a:cs typeface="Arial"/>
              </a:rPr>
              <a:t> </a:t>
            </a:r>
            <a:r>
              <a:rPr sz="900" spc="-10" dirty="0">
                <a:latin typeface="Arial"/>
                <a:cs typeface="Arial"/>
              </a:rPr>
              <a:t>repeating</a:t>
            </a:r>
            <a:r>
              <a:rPr sz="900" spc="-35" dirty="0">
                <a:latin typeface="Arial"/>
                <a:cs typeface="Arial"/>
              </a:rPr>
              <a:t> </a:t>
            </a:r>
            <a:r>
              <a:rPr sz="900" dirty="0">
                <a:latin typeface="Arial"/>
                <a:cs typeface="Arial"/>
              </a:rPr>
              <a:t>the</a:t>
            </a:r>
            <a:r>
              <a:rPr sz="900" spc="-35" dirty="0">
                <a:latin typeface="Arial"/>
                <a:cs typeface="Arial"/>
              </a:rPr>
              <a:t> </a:t>
            </a:r>
            <a:r>
              <a:rPr sz="900" spc="-20" dirty="0">
                <a:latin typeface="Arial"/>
                <a:cs typeface="Arial"/>
              </a:rPr>
              <a:t>same </a:t>
            </a:r>
            <a:r>
              <a:rPr sz="900" dirty="0">
                <a:latin typeface="Arial"/>
                <a:cs typeface="Arial"/>
              </a:rPr>
              <a:t>operation</a:t>
            </a:r>
            <a:r>
              <a:rPr sz="900" spc="-20" dirty="0">
                <a:latin typeface="Arial"/>
                <a:cs typeface="Arial"/>
              </a:rPr>
              <a:t> </a:t>
            </a:r>
            <a:r>
              <a:rPr sz="900" dirty="0">
                <a:latin typeface="Arial"/>
                <a:cs typeface="Arial"/>
              </a:rPr>
              <a:t>is</a:t>
            </a:r>
            <a:r>
              <a:rPr sz="900" spc="-1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same</a:t>
            </a:r>
            <a:r>
              <a:rPr sz="900" spc="-15" dirty="0">
                <a:latin typeface="Arial"/>
                <a:cs typeface="Arial"/>
              </a:rPr>
              <a:t> </a:t>
            </a:r>
            <a:r>
              <a:rPr sz="900" dirty="0">
                <a:latin typeface="Arial"/>
                <a:cs typeface="Arial"/>
              </a:rPr>
              <a:t>as</a:t>
            </a:r>
            <a:r>
              <a:rPr sz="900" spc="-20" dirty="0">
                <a:latin typeface="Arial"/>
                <a:cs typeface="Arial"/>
              </a:rPr>
              <a:t> </a:t>
            </a:r>
            <a:r>
              <a:rPr sz="900" dirty="0">
                <a:latin typeface="Arial"/>
                <a:cs typeface="Arial"/>
              </a:rPr>
              <a:t>carrying</a:t>
            </a:r>
            <a:r>
              <a:rPr sz="900" spc="-15" dirty="0">
                <a:latin typeface="Arial"/>
                <a:cs typeface="Arial"/>
              </a:rPr>
              <a:t> </a:t>
            </a:r>
            <a:r>
              <a:rPr sz="900" dirty="0">
                <a:latin typeface="Arial"/>
                <a:cs typeface="Arial"/>
              </a:rPr>
              <a:t>it</a:t>
            </a:r>
            <a:r>
              <a:rPr sz="900" spc="-20" dirty="0">
                <a:latin typeface="Arial"/>
                <a:cs typeface="Arial"/>
              </a:rPr>
              <a:t> </a:t>
            </a:r>
            <a:r>
              <a:rPr sz="900" dirty="0">
                <a:latin typeface="Arial"/>
                <a:cs typeface="Arial"/>
              </a:rPr>
              <a:t>out</a:t>
            </a:r>
            <a:r>
              <a:rPr sz="900" spc="-15" dirty="0">
                <a:latin typeface="Arial"/>
                <a:cs typeface="Arial"/>
              </a:rPr>
              <a:t> </a:t>
            </a:r>
            <a:r>
              <a:rPr sz="900" spc="-10" dirty="0">
                <a:latin typeface="Arial"/>
                <a:cs typeface="Arial"/>
              </a:rPr>
              <a:t>exactly</a:t>
            </a:r>
            <a:r>
              <a:rPr sz="900" spc="-20" dirty="0">
                <a:latin typeface="Arial"/>
                <a:cs typeface="Arial"/>
              </a:rPr>
              <a:t> </a:t>
            </a:r>
            <a:r>
              <a:rPr sz="900" spc="-10" dirty="0">
                <a:latin typeface="Arial"/>
                <a:cs typeface="Arial"/>
              </a:rPr>
              <a:t>once:</a:t>
            </a:r>
            <a:endParaRPr sz="900">
              <a:latin typeface="Arial"/>
              <a:cs typeface="Arial"/>
            </a:endParaRPr>
          </a:p>
          <a:p>
            <a:pPr marL="283210" indent="-120650">
              <a:lnSpc>
                <a:spcPct val="100000"/>
              </a:lnSpc>
              <a:spcBef>
                <a:spcPts val="455"/>
              </a:spcBef>
              <a:buClr>
                <a:srgbClr val="3333B2"/>
              </a:buClr>
              <a:buFont typeface="Menlo"/>
              <a:buChar char="•"/>
              <a:tabLst>
                <a:tab pos="283845" algn="l"/>
              </a:tabLst>
            </a:pPr>
            <a:r>
              <a:rPr sz="900" dirty="0">
                <a:latin typeface="Arial"/>
                <a:cs typeface="Arial"/>
              </a:rPr>
              <a:t>pure</a:t>
            </a:r>
            <a:r>
              <a:rPr sz="900" spc="-25" dirty="0">
                <a:latin typeface="Arial"/>
                <a:cs typeface="Arial"/>
              </a:rPr>
              <a:t> </a:t>
            </a:r>
            <a:r>
              <a:rPr sz="900" dirty="0">
                <a:latin typeface="Arial"/>
                <a:cs typeface="Arial"/>
              </a:rPr>
              <a:t>read</a:t>
            </a:r>
            <a:r>
              <a:rPr sz="900" spc="-25" dirty="0">
                <a:latin typeface="Arial"/>
                <a:cs typeface="Arial"/>
              </a:rPr>
              <a:t> </a:t>
            </a:r>
            <a:r>
              <a:rPr sz="900" spc="-10" dirty="0">
                <a:latin typeface="Arial"/>
                <a:cs typeface="Arial"/>
              </a:rPr>
              <a:t>operations</a:t>
            </a:r>
            <a:endParaRPr sz="900">
              <a:latin typeface="Arial"/>
              <a:cs typeface="Arial"/>
            </a:endParaRPr>
          </a:p>
          <a:p>
            <a:pPr marL="283210" indent="-120650">
              <a:lnSpc>
                <a:spcPct val="100000"/>
              </a:lnSpc>
              <a:spcBef>
                <a:spcPts val="125"/>
              </a:spcBef>
              <a:buClr>
                <a:srgbClr val="3333B2"/>
              </a:buClr>
              <a:buFont typeface="Menlo"/>
              <a:buChar char="•"/>
              <a:tabLst>
                <a:tab pos="283845" algn="l"/>
              </a:tabLst>
            </a:pPr>
            <a:r>
              <a:rPr sz="900" dirty="0">
                <a:latin typeface="Arial"/>
                <a:cs typeface="Arial"/>
              </a:rPr>
              <a:t>strict </a:t>
            </a:r>
            <a:r>
              <a:rPr sz="900" spc="-10" dirty="0">
                <a:latin typeface="Arial"/>
                <a:cs typeface="Arial"/>
              </a:rPr>
              <a:t>overwrite</a:t>
            </a:r>
            <a:r>
              <a:rPr sz="900" dirty="0">
                <a:latin typeface="Arial"/>
                <a:cs typeface="Arial"/>
              </a:rPr>
              <a:t> </a:t>
            </a:r>
            <a:r>
              <a:rPr sz="900" spc="-10" dirty="0">
                <a:latin typeface="Arial"/>
                <a:cs typeface="Arial"/>
              </a:rPr>
              <a:t>operations</a:t>
            </a:r>
            <a:endParaRPr sz="900">
              <a:latin typeface="Arial"/>
              <a:cs typeface="Arial"/>
            </a:endParaRPr>
          </a:p>
          <a:p>
            <a:pPr marL="30480" marR="365760">
              <a:lnSpc>
                <a:spcPct val="111600"/>
              </a:lnSpc>
              <a:spcBef>
                <a:spcPts val="400"/>
              </a:spcBef>
            </a:pPr>
            <a:r>
              <a:rPr sz="900" dirty="0">
                <a:latin typeface="Arial"/>
                <a:cs typeface="Arial"/>
              </a:rPr>
              <a:t>Many</a:t>
            </a:r>
            <a:r>
              <a:rPr sz="900" spc="-25" dirty="0">
                <a:latin typeface="Arial"/>
                <a:cs typeface="Arial"/>
              </a:rPr>
              <a:t> </a:t>
            </a:r>
            <a:r>
              <a:rPr sz="900" dirty="0">
                <a:latin typeface="Arial"/>
                <a:cs typeface="Arial"/>
              </a:rPr>
              <a:t>operations</a:t>
            </a:r>
            <a:r>
              <a:rPr sz="900" spc="-20" dirty="0">
                <a:latin typeface="Arial"/>
                <a:cs typeface="Arial"/>
              </a:rPr>
              <a:t> </a:t>
            </a:r>
            <a:r>
              <a:rPr sz="900" dirty="0">
                <a:latin typeface="Arial"/>
                <a:cs typeface="Arial"/>
              </a:rPr>
              <a:t>are</a:t>
            </a:r>
            <a:r>
              <a:rPr sz="900" spc="-20" dirty="0">
                <a:latin typeface="Arial"/>
                <a:cs typeface="Arial"/>
              </a:rPr>
              <a:t> </a:t>
            </a:r>
            <a:r>
              <a:rPr sz="900" dirty="0">
                <a:solidFill>
                  <a:srgbClr val="3333B2"/>
                </a:solidFill>
                <a:latin typeface="Arial"/>
                <a:cs typeface="Arial"/>
              </a:rPr>
              <a:t>inherently</a:t>
            </a:r>
            <a:r>
              <a:rPr sz="900" spc="-20" dirty="0">
                <a:solidFill>
                  <a:srgbClr val="3333B2"/>
                </a:solidFill>
                <a:latin typeface="Arial"/>
                <a:cs typeface="Arial"/>
              </a:rPr>
              <a:t> </a:t>
            </a:r>
            <a:r>
              <a:rPr sz="900" spc="-10" dirty="0">
                <a:solidFill>
                  <a:srgbClr val="3333B2"/>
                </a:solidFill>
                <a:latin typeface="Arial"/>
                <a:cs typeface="Arial"/>
              </a:rPr>
              <a:t>nonidempotent</a:t>
            </a:r>
            <a:r>
              <a:rPr sz="900" spc="-10" dirty="0">
                <a:latin typeface="Arial"/>
                <a:cs typeface="Arial"/>
              </a:rPr>
              <a:t>,</a:t>
            </a:r>
            <a:r>
              <a:rPr sz="900" spc="-25" dirty="0">
                <a:latin typeface="Arial"/>
                <a:cs typeface="Arial"/>
              </a:rPr>
              <a:t> </a:t>
            </a:r>
            <a:r>
              <a:rPr sz="900" dirty="0">
                <a:latin typeface="Arial"/>
                <a:cs typeface="Arial"/>
              </a:rPr>
              <a:t>such</a:t>
            </a:r>
            <a:r>
              <a:rPr sz="900" spc="-20" dirty="0">
                <a:latin typeface="Arial"/>
                <a:cs typeface="Arial"/>
              </a:rPr>
              <a:t> </a:t>
            </a:r>
            <a:r>
              <a:rPr sz="900" dirty="0">
                <a:latin typeface="Arial"/>
                <a:cs typeface="Arial"/>
              </a:rPr>
              <a:t>as</a:t>
            </a:r>
            <a:r>
              <a:rPr sz="900" spc="-20" dirty="0">
                <a:latin typeface="Arial"/>
                <a:cs typeface="Arial"/>
              </a:rPr>
              <a:t> </a:t>
            </a:r>
            <a:r>
              <a:rPr sz="900" dirty="0">
                <a:latin typeface="Arial"/>
                <a:cs typeface="Arial"/>
              </a:rPr>
              <a:t>many</a:t>
            </a:r>
            <a:r>
              <a:rPr sz="900" spc="-20" dirty="0">
                <a:latin typeface="Arial"/>
                <a:cs typeface="Arial"/>
              </a:rPr>
              <a:t> </a:t>
            </a:r>
            <a:r>
              <a:rPr sz="900" spc="-10" dirty="0">
                <a:latin typeface="Arial"/>
                <a:cs typeface="Arial"/>
              </a:rPr>
              <a:t>banking transactions.</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120142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RPC</a:t>
            </a:r>
            <a:r>
              <a:rPr sz="500" spc="-20" dirty="0">
                <a:latin typeface="Arial"/>
                <a:cs typeface="Arial"/>
                <a:hlinkClick r:id="rId4" action="ppaction://hlinksldjump"/>
              </a:rPr>
              <a:t> </a:t>
            </a:r>
            <a:r>
              <a:rPr sz="500" dirty="0">
                <a:latin typeface="Arial"/>
                <a:cs typeface="Arial"/>
                <a:hlinkClick r:id="rId4" action="ppaction://hlinksldjump"/>
              </a:rPr>
              <a:t>semantics</a:t>
            </a:r>
            <a:r>
              <a:rPr sz="500" spc="-15" dirty="0">
                <a:latin typeface="Arial"/>
                <a:cs typeface="Arial"/>
                <a:hlinkClick r:id="rId4" action="ppaction://hlinksldjump"/>
              </a:rPr>
              <a:t> </a:t>
            </a:r>
            <a:r>
              <a:rPr sz="500" dirty="0">
                <a:latin typeface="Arial"/>
                <a:cs typeface="Arial"/>
                <a:hlinkClick r:id="rId4" action="ppaction://hlinksldjump"/>
              </a:rPr>
              <a:t>in</a:t>
            </a:r>
            <a:r>
              <a:rPr sz="500" spc="-15" dirty="0">
                <a:latin typeface="Arial"/>
                <a:cs typeface="Arial"/>
                <a:hlinkClick r:id="rId4" action="ppaction://hlinksldjump"/>
              </a:rPr>
              <a:t> </a:t>
            </a:r>
            <a:r>
              <a:rPr sz="500" dirty="0">
                <a:latin typeface="Arial"/>
                <a:cs typeface="Arial"/>
                <a:hlinkClick r:id="rId4" action="ppaction://hlinksldjump"/>
              </a:rPr>
              <a:t>the</a:t>
            </a:r>
            <a:r>
              <a:rPr sz="500" spc="-20" dirty="0">
                <a:latin typeface="Arial"/>
                <a:cs typeface="Arial"/>
                <a:hlinkClick r:id="rId4" action="ppaction://hlinksldjump"/>
              </a:rPr>
              <a:t> </a:t>
            </a:r>
            <a:r>
              <a:rPr sz="500" dirty="0">
                <a:latin typeface="Arial"/>
                <a:cs typeface="Arial"/>
                <a:hlinkClick r:id="rId4" action="ppaction://hlinksldjump"/>
              </a:rPr>
              <a:t>presence</a:t>
            </a:r>
            <a:r>
              <a:rPr sz="500" spc="-15" dirty="0">
                <a:latin typeface="Arial"/>
                <a:cs typeface="Arial"/>
                <a:hlinkClick r:id="rId4" action="ppaction://hlinksldjump"/>
              </a:rPr>
              <a:t> </a:t>
            </a:r>
            <a:r>
              <a:rPr sz="500" dirty="0">
                <a:latin typeface="Arial"/>
                <a:cs typeface="Arial"/>
                <a:hlinkClick r:id="rId4" action="ppaction://hlinksldjump"/>
              </a:rPr>
              <a:t>of</a:t>
            </a:r>
            <a:r>
              <a:rPr sz="500" spc="-15" dirty="0">
                <a:latin typeface="Arial"/>
                <a:cs typeface="Arial"/>
                <a:hlinkClick r:id="rId4" action="ppaction://hlinksldjump"/>
              </a:rPr>
              <a:t> </a:t>
            </a:r>
            <a:r>
              <a:rPr sz="500" spc="-10" dirty="0">
                <a:latin typeface="Arial"/>
                <a:cs typeface="Arial"/>
                <a:hlinkClick r:id="rId4" action="ppaction://hlinksldjump"/>
              </a:rPr>
              <a:t>failures</a:t>
            </a:r>
            <a:endParaRPr sz="500">
              <a:latin typeface="Arial"/>
              <a:cs typeface="Arial"/>
            </a:endParaRPr>
          </a:p>
        </p:txBody>
      </p:sp>
    </p:spTree>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456304" algn="l"/>
              </a:tabLst>
            </a:pPr>
            <a:r>
              <a:rPr sz="500" spc="-10" dirty="0">
                <a:latin typeface="Arial"/>
                <a:cs typeface="Arial"/>
                <a:hlinkClick r:id="rId3" action="ppaction://hlinksldjump"/>
              </a:rPr>
              <a:t>Fault</a:t>
            </a:r>
            <a:r>
              <a:rPr sz="500" spc="5" dirty="0">
                <a:latin typeface="Arial"/>
                <a:cs typeface="Arial"/>
                <a:hlinkClick r:id="rId3" action="ppaction://hlinksldjump"/>
              </a:rPr>
              <a:t> </a:t>
            </a:r>
            <a:r>
              <a:rPr sz="500" spc="-10" dirty="0">
                <a:latin typeface="Arial"/>
                <a:cs typeface="Arial"/>
                <a:hlinkClick r:id="rId3" action="ppaction://hlinksldjump"/>
              </a:rPr>
              <a:t>tolerance</a:t>
            </a:r>
            <a:r>
              <a:rPr sz="500" dirty="0">
                <a:latin typeface="Arial"/>
                <a:cs typeface="Arial"/>
              </a:rPr>
              <a:t>	</a:t>
            </a:r>
            <a:r>
              <a:rPr sz="500" dirty="0">
                <a:solidFill>
                  <a:srgbClr val="FFFFFF"/>
                </a:solidFill>
                <a:latin typeface="Arial"/>
                <a:cs typeface="Arial"/>
                <a:hlinkClick r:id="rId4" action="ppaction://hlinksldjump"/>
              </a:rPr>
              <a:t>Reliable</a:t>
            </a:r>
            <a:r>
              <a:rPr sz="500" spc="-5" dirty="0">
                <a:solidFill>
                  <a:srgbClr val="FFFFFF"/>
                </a:solidFill>
                <a:latin typeface="Arial"/>
                <a:cs typeface="Arial"/>
                <a:hlinkClick r:id="rId4" action="ppaction://hlinksldjump"/>
              </a:rPr>
              <a:t> </a:t>
            </a:r>
            <a:r>
              <a:rPr sz="500" spc="-10" dirty="0">
                <a:solidFill>
                  <a:srgbClr val="FFFFFF"/>
                </a:solidFill>
                <a:latin typeface="Arial"/>
                <a:cs typeface="Arial"/>
                <a:hlinkClick r:id="rId4" action="ppaction://hlinksldjump"/>
              </a:rPr>
              <a:t>client-</a:t>
            </a:r>
            <a:r>
              <a:rPr sz="500" dirty="0">
                <a:solidFill>
                  <a:srgbClr val="FFFFFF"/>
                </a:solidFill>
                <a:latin typeface="Arial"/>
                <a:cs typeface="Arial"/>
                <a:hlinkClick r:id="rId4" action="ppaction://hlinksldjump"/>
              </a:rPr>
              <a:t>server </a:t>
            </a:r>
            <a:r>
              <a:rPr sz="500" spc="-10" dirty="0">
                <a:solidFill>
                  <a:srgbClr val="FFFFFF"/>
                </a:solidFill>
                <a:latin typeface="Arial"/>
                <a:cs typeface="Arial"/>
                <a:hlinkClick r:id="rId4" action="ppaction://hlinksldjump"/>
              </a:rPr>
              <a:t>communication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Reliable</a:t>
            </a:r>
            <a:r>
              <a:rPr spc="-60" dirty="0"/>
              <a:t> </a:t>
            </a:r>
            <a:r>
              <a:rPr dirty="0"/>
              <a:t>RPC:</a:t>
            </a:r>
            <a:r>
              <a:rPr spc="-45" dirty="0"/>
              <a:t> </a:t>
            </a:r>
            <a:r>
              <a:rPr dirty="0"/>
              <a:t>client</a:t>
            </a:r>
            <a:r>
              <a:rPr spc="-45" dirty="0"/>
              <a:t> </a:t>
            </a:r>
            <a:r>
              <a:rPr spc="-20" dirty="0"/>
              <a:t>crash</a:t>
            </a:r>
          </a:p>
        </p:txBody>
      </p:sp>
      <p:sp>
        <p:nvSpPr>
          <p:cNvPr id="4" name="object 4"/>
          <p:cNvSpPr txBox="1"/>
          <p:nvPr/>
        </p:nvSpPr>
        <p:spPr>
          <a:xfrm>
            <a:off x="331063" y="499476"/>
            <a:ext cx="3943985" cy="2020361"/>
          </a:xfrm>
          <a:prstGeom prst="rect">
            <a:avLst/>
          </a:prstGeom>
        </p:spPr>
        <p:txBody>
          <a:bodyPr vert="horz" wrap="square" lIns="0" tIns="27305" rIns="0" bIns="0" rtlCol="0">
            <a:spAutoFit/>
          </a:bodyPr>
          <a:lstStyle/>
          <a:p>
            <a:pPr marL="28575">
              <a:lnSpc>
                <a:spcPct val="100000"/>
              </a:lnSpc>
              <a:spcBef>
                <a:spcPts val="215"/>
              </a:spcBef>
            </a:pPr>
            <a:r>
              <a:rPr sz="1000" spc="-10" dirty="0">
                <a:solidFill>
                  <a:srgbClr val="3333B2"/>
                </a:solidFill>
                <a:latin typeface="Arial"/>
                <a:cs typeface="Arial"/>
              </a:rPr>
              <a:t>Problem</a:t>
            </a:r>
            <a:endParaRPr sz="1000" dirty="0">
              <a:latin typeface="Arial"/>
              <a:cs typeface="Arial"/>
            </a:endParaRPr>
          </a:p>
          <a:p>
            <a:pPr marL="28575" marR="115570" indent="-3810">
              <a:lnSpc>
                <a:spcPts val="1210"/>
              </a:lnSpc>
              <a:spcBef>
                <a:spcPts val="35"/>
              </a:spcBef>
            </a:pPr>
            <a:r>
              <a:rPr sz="900" dirty="0">
                <a:latin typeface="Arial"/>
                <a:cs typeface="Arial"/>
              </a:rPr>
              <a:t>The</a:t>
            </a:r>
            <a:r>
              <a:rPr sz="900" spc="-30" dirty="0">
                <a:latin typeface="Arial"/>
                <a:cs typeface="Arial"/>
              </a:rPr>
              <a:t> </a:t>
            </a:r>
            <a:r>
              <a:rPr sz="900" dirty="0">
                <a:latin typeface="Arial"/>
                <a:cs typeface="Arial"/>
              </a:rPr>
              <a:t>server</a:t>
            </a:r>
            <a:r>
              <a:rPr sz="900" spc="-30"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doing</a:t>
            </a:r>
            <a:r>
              <a:rPr sz="900" spc="-30" dirty="0">
                <a:latin typeface="Arial"/>
                <a:cs typeface="Arial"/>
              </a:rPr>
              <a:t> </a:t>
            </a:r>
            <a:r>
              <a:rPr sz="900" dirty="0">
                <a:latin typeface="Arial"/>
                <a:cs typeface="Arial"/>
              </a:rPr>
              <a:t>work</a:t>
            </a:r>
            <a:r>
              <a:rPr sz="900" spc="-30" dirty="0">
                <a:latin typeface="Arial"/>
                <a:cs typeface="Arial"/>
              </a:rPr>
              <a:t> </a:t>
            </a:r>
            <a:r>
              <a:rPr sz="900" dirty="0">
                <a:latin typeface="Arial"/>
                <a:cs typeface="Arial"/>
              </a:rPr>
              <a:t>and</a:t>
            </a:r>
            <a:r>
              <a:rPr sz="900" spc="-30" dirty="0">
                <a:latin typeface="Arial"/>
                <a:cs typeface="Arial"/>
              </a:rPr>
              <a:t> </a:t>
            </a:r>
            <a:r>
              <a:rPr sz="900" dirty="0">
                <a:latin typeface="Arial"/>
                <a:cs typeface="Arial"/>
              </a:rPr>
              <a:t>holding</a:t>
            </a:r>
            <a:r>
              <a:rPr sz="900" spc="-25" dirty="0">
                <a:latin typeface="Arial"/>
                <a:cs typeface="Arial"/>
              </a:rPr>
              <a:t> </a:t>
            </a:r>
            <a:r>
              <a:rPr sz="900" dirty="0">
                <a:latin typeface="Arial"/>
                <a:cs typeface="Arial"/>
              </a:rPr>
              <a:t>resources</a:t>
            </a:r>
            <a:r>
              <a:rPr sz="900" spc="-30" dirty="0">
                <a:latin typeface="Arial"/>
                <a:cs typeface="Arial"/>
              </a:rPr>
              <a:t> </a:t>
            </a:r>
            <a:r>
              <a:rPr sz="900" dirty="0">
                <a:latin typeface="Arial"/>
                <a:cs typeface="Arial"/>
              </a:rPr>
              <a:t>for</a:t>
            </a:r>
            <a:r>
              <a:rPr sz="900" spc="-30" dirty="0">
                <a:latin typeface="Arial"/>
                <a:cs typeface="Arial"/>
              </a:rPr>
              <a:t> </a:t>
            </a:r>
            <a:r>
              <a:rPr sz="900" dirty="0">
                <a:latin typeface="Arial"/>
                <a:cs typeface="Arial"/>
              </a:rPr>
              <a:t>nothing</a:t>
            </a:r>
            <a:r>
              <a:rPr sz="900" spc="-30" dirty="0">
                <a:latin typeface="Arial"/>
                <a:cs typeface="Arial"/>
              </a:rPr>
              <a:t> </a:t>
            </a:r>
            <a:r>
              <a:rPr sz="900" dirty="0">
                <a:latin typeface="Arial"/>
                <a:cs typeface="Arial"/>
              </a:rPr>
              <a:t>(called</a:t>
            </a:r>
            <a:r>
              <a:rPr sz="900" spc="-30" dirty="0">
                <a:latin typeface="Arial"/>
                <a:cs typeface="Arial"/>
              </a:rPr>
              <a:t> </a:t>
            </a:r>
            <a:r>
              <a:rPr sz="900" dirty="0">
                <a:latin typeface="Arial"/>
                <a:cs typeface="Arial"/>
              </a:rPr>
              <a:t>doing</a:t>
            </a:r>
            <a:r>
              <a:rPr sz="900" spc="-30" dirty="0">
                <a:latin typeface="Arial"/>
                <a:cs typeface="Arial"/>
              </a:rPr>
              <a:t> </a:t>
            </a:r>
            <a:r>
              <a:rPr sz="900" spc="-25" dirty="0">
                <a:latin typeface="Arial"/>
                <a:cs typeface="Arial"/>
              </a:rPr>
              <a:t>an </a:t>
            </a:r>
            <a:r>
              <a:rPr sz="900" dirty="0">
                <a:solidFill>
                  <a:srgbClr val="C80000"/>
                </a:solidFill>
                <a:latin typeface="Arial"/>
                <a:cs typeface="Arial"/>
              </a:rPr>
              <a:t>orphan</a:t>
            </a:r>
            <a:r>
              <a:rPr sz="900" spc="-10" dirty="0">
                <a:solidFill>
                  <a:srgbClr val="C80000"/>
                </a:solidFill>
                <a:latin typeface="Arial"/>
                <a:cs typeface="Arial"/>
              </a:rPr>
              <a:t> </a:t>
            </a:r>
            <a:r>
              <a:rPr sz="900" spc="-10" dirty="0">
                <a:latin typeface="Arial"/>
                <a:cs typeface="Arial"/>
              </a:rPr>
              <a:t>computation).</a:t>
            </a:r>
            <a:endParaRPr sz="900" dirty="0">
              <a:latin typeface="Arial"/>
              <a:cs typeface="Arial"/>
            </a:endParaRPr>
          </a:p>
          <a:p>
            <a:pPr marL="28575">
              <a:lnSpc>
                <a:spcPct val="100000"/>
              </a:lnSpc>
              <a:spcBef>
                <a:spcPts val="750"/>
              </a:spcBef>
            </a:pPr>
            <a:r>
              <a:rPr sz="1000" spc="-10" dirty="0">
                <a:solidFill>
                  <a:srgbClr val="3333B2"/>
                </a:solidFill>
                <a:latin typeface="Arial"/>
                <a:cs typeface="Arial"/>
              </a:rPr>
              <a:t>Solution</a:t>
            </a:r>
            <a:endParaRPr sz="1000" dirty="0">
              <a:latin typeface="Arial"/>
              <a:cs typeface="Arial"/>
            </a:endParaRPr>
          </a:p>
          <a:p>
            <a:pPr marL="281940" indent="-121285">
              <a:lnSpc>
                <a:spcPct val="100000"/>
              </a:lnSpc>
              <a:spcBef>
                <a:spcPts val="500"/>
              </a:spcBef>
              <a:buFont typeface="Menlo"/>
              <a:buChar char="•"/>
              <a:tabLst>
                <a:tab pos="282575" algn="l"/>
              </a:tabLst>
            </a:pPr>
            <a:r>
              <a:rPr sz="900" dirty="0">
                <a:solidFill>
                  <a:srgbClr val="3333B2"/>
                </a:solidFill>
                <a:latin typeface="Arial"/>
                <a:cs typeface="Arial"/>
              </a:rPr>
              <a:t>Orphan</a:t>
            </a:r>
            <a:r>
              <a:rPr sz="900" spc="-25" dirty="0">
                <a:solidFill>
                  <a:srgbClr val="3333B2"/>
                </a:solidFill>
                <a:latin typeface="Arial"/>
                <a:cs typeface="Arial"/>
              </a:rPr>
              <a:t> </a:t>
            </a:r>
            <a:r>
              <a:rPr sz="900" dirty="0">
                <a:solidFill>
                  <a:srgbClr val="3333B2"/>
                </a:solidFill>
                <a:latin typeface="Arial"/>
                <a:cs typeface="Arial"/>
              </a:rPr>
              <a:t>is</a:t>
            </a:r>
            <a:r>
              <a:rPr sz="900" spc="-25" dirty="0">
                <a:solidFill>
                  <a:srgbClr val="3333B2"/>
                </a:solidFill>
                <a:latin typeface="Arial"/>
                <a:cs typeface="Arial"/>
              </a:rPr>
              <a:t> </a:t>
            </a:r>
            <a:r>
              <a:rPr sz="900" dirty="0">
                <a:solidFill>
                  <a:srgbClr val="3333B2"/>
                </a:solidFill>
                <a:latin typeface="Arial"/>
                <a:cs typeface="Arial"/>
              </a:rPr>
              <a:t>killed</a:t>
            </a:r>
            <a:r>
              <a:rPr sz="900" spc="-20" dirty="0">
                <a:solidFill>
                  <a:srgbClr val="3333B2"/>
                </a:solidFill>
                <a:latin typeface="Arial"/>
                <a:cs typeface="Arial"/>
              </a:rPr>
              <a:t> </a:t>
            </a:r>
            <a:r>
              <a:rPr sz="900" dirty="0">
                <a:latin typeface="Arial"/>
                <a:cs typeface="Arial"/>
              </a:rPr>
              <a:t>(or</a:t>
            </a:r>
            <a:r>
              <a:rPr sz="900" spc="-25" dirty="0">
                <a:latin typeface="Arial"/>
                <a:cs typeface="Arial"/>
              </a:rPr>
              <a:t> </a:t>
            </a:r>
            <a:r>
              <a:rPr sz="900" dirty="0">
                <a:latin typeface="Arial"/>
                <a:cs typeface="Arial"/>
              </a:rPr>
              <a:t>rolled</a:t>
            </a:r>
            <a:r>
              <a:rPr sz="900" spc="-20" dirty="0">
                <a:latin typeface="Arial"/>
                <a:cs typeface="Arial"/>
              </a:rPr>
              <a:t> </a:t>
            </a:r>
            <a:r>
              <a:rPr sz="900" dirty="0">
                <a:latin typeface="Arial"/>
                <a:cs typeface="Arial"/>
              </a:rPr>
              <a:t>back)</a:t>
            </a:r>
            <a:r>
              <a:rPr sz="900" spc="-25" dirty="0">
                <a:latin typeface="Arial"/>
                <a:cs typeface="Arial"/>
              </a:rPr>
              <a:t> </a:t>
            </a:r>
            <a:r>
              <a:rPr sz="900" dirty="0">
                <a:latin typeface="Arial"/>
                <a:cs typeface="Arial"/>
              </a:rPr>
              <a:t>by</a:t>
            </a:r>
            <a:r>
              <a:rPr sz="900" spc="-2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client</a:t>
            </a:r>
            <a:r>
              <a:rPr sz="900" spc="-25" dirty="0">
                <a:latin typeface="Arial"/>
                <a:cs typeface="Arial"/>
              </a:rPr>
              <a:t> </a:t>
            </a:r>
            <a:r>
              <a:rPr sz="900" dirty="0">
                <a:latin typeface="Arial"/>
                <a:cs typeface="Arial"/>
              </a:rPr>
              <a:t>when</a:t>
            </a:r>
            <a:r>
              <a:rPr sz="900" spc="-20" dirty="0">
                <a:latin typeface="Arial"/>
                <a:cs typeface="Arial"/>
              </a:rPr>
              <a:t> </a:t>
            </a:r>
            <a:r>
              <a:rPr sz="900" dirty="0">
                <a:latin typeface="Arial"/>
                <a:cs typeface="Arial"/>
              </a:rPr>
              <a:t>it</a:t>
            </a:r>
            <a:r>
              <a:rPr sz="900" spc="-25" dirty="0">
                <a:latin typeface="Arial"/>
                <a:cs typeface="Arial"/>
              </a:rPr>
              <a:t> </a:t>
            </a:r>
            <a:r>
              <a:rPr sz="900" spc="-10" dirty="0">
                <a:latin typeface="Arial"/>
                <a:cs typeface="Arial"/>
              </a:rPr>
              <a:t>recovers</a:t>
            </a:r>
            <a:endParaRPr sz="900" dirty="0">
              <a:latin typeface="Arial"/>
              <a:cs typeface="Arial"/>
            </a:endParaRPr>
          </a:p>
          <a:p>
            <a:pPr marL="281940" marR="198120" indent="-120650">
              <a:lnSpc>
                <a:spcPct val="111600"/>
              </a:lnSpc>
              <a:spcBef>
                <a:spcPts val="400"/>
              </a:spcBef>
              <a:buClr>
                <a:srgbClr val="3333B2"/>
              </a:buClr>
              <a:buFont typeface="Menlo"/>
              <a:buChar char="•"/>
              <a:tabLst>
                <a:tab pos="282575" algn="l"/>
              </a:tabLst>
            </a:pPr>
            <a:r>
              <a:rPr sz="900" dirty="0">
                <a:latin typeface="Arial"/>
                <a:cs typeface="Arial"/>
              </a:rPr>
              <a:t>Client</a:t>
            </a:r>
            <a:r>
              <a:rPr sz="900" spc="-50" dirty="0">
                <a:latin typeface="Arial"/>
                <a:cs typeface="Arial"/>
              </a:rPr>
              <a:t> </a:t>
            </a:r>
            <a:r>
              <a:rPr sz="900" dirty="0">
                <a:latin typeface="Arial"/>
                <a:cs typeface="Arial"/>
              </a:rPr>
              <a:t>broadcasts</a:t>
            </a:r>
            <a:r>
              <a:rPr sz="900" spc="-25" dirty="0">
                <a:latin typeface="Arial"/>
                <a:cs typeface="Arial"/>
              </a:rPr>
              <a:t> </a:t>
            </a:r>
            <a:r>
              <a:rPr sz="900" dirty="0">
                <a:solidFill>
                  <a:srgbClr val="3333B2"/>
                </a:solidFill>
                <a:latin typeface="Arial"/>
                <a:cs typeface="Arial"/>
              </a:rPr>
              <a:t>new</a:t>
            </a:r>
            <a:r>
              <a:rPr sz="900" spc="-25" dirty="0">
                <a:solidFill>
                  <a:srgbClr val="3333B2"/>
                </a:solidFill>
                <a:latin typeface="Arial"/>
                <a:cs typeface="Arial"/>
              </a:rPr>
              <a:t> </a:t>
            </a:r>
            <a:r>
              <a:rPr sz="900" dirty="0">
                <a:solidFill>
                  <a:srgbClr val="3333B2"/>
                </a:solidFill>
                <a:latin typeface="Arial"/>
                <a:cs typeface="Arial"/>
              </a:rPr>
              <a:t>epoch</a:t>
            </a:r>
            <a:r>
              <a:rPr sz="900" spc="-25" dirty="0">
                <a:solidFill>
                  <a:srgbClr val="3333B2"/>
                </a:solidFill>
                <a:latin typeface="Arial"/>
                <a:cs typeface="Arial"/>
              </a:rPr>
              <a:t> </a:t>
            </a:r>
            <a:r>
              <a:rPr sz="900" dirty="0">
                <a:solidFill>
                  <a:srgbClr val="3333B2"/>
                </a:solidFill>
                <a:latin typeface="Arial"/>
                <a:cs typeface="Arial"/>
              </a:rPr>
              <a:t>number</a:t>
            </a:r>
            <a:r>
              <a:rPr sz="900" spc="-25" dirty="0">
                <a:solidFill>
                  <a:srgbClr val="3333B2"/>
                </a:solidFill>
                <a:latin typeface="Arial"/>
                <a:cs typeface="Arial"/>
              </a:rPr>
              <a:t> </a:t>
            </a:r>
            <a:r>
              <a:rPr sz="900" dirty="0">
                <a:latin typeface="Arial"/>
                <a:cs typeface="Arial"/>
              </a:rPr>
              <a:t>when</a:t>
            </a:r>
            <a:r>
              <a:rPr sz="900" spc="-25" dirty="0">
                <a:latin typeface="Arial"/>
                <a:cs typeface="Arial"/>
              </a:rPr>
              <a:t> </a:t>
            </a:r>
            <a:r>
              <a:rPr sz="900" spc="-10" dirty="0">
                <a:latin typeface="Arial"/>
                <a:cs typeface="Arial"/>
              </a:rPr>
              <a:t>recovering</a:t>
            </a:r>
            <a:r>
              <a:rPr sz="900" spc="-25" dirty="0">
                <a:latin typeface="Arial"/>
                <a:cs typeface="Arial"/>
              </a:rPr>
              <a:t> </a:t>
            </a:r>
            <a:r>
              <a:rPr sz="900" i="1" spc="350" dirty="0">
                <a:latin typeface="Menlo"/>
                <a:cs typeface="Menlo"/>
              </a:rPr>
              <a:t>⇒</a:t>
            </a:r>
            <a:r>
              <a:rPr sz="900" i="1" spc="-295" dirty="0">
                <a:latin typeface="Menlo"/>
                <a:cs typeface="Menlo"/>
              </a:rPr>
              <a:t> </a:t>
            </a:r>
            <a:r>
              <a:rPr sz="900" dirty="0">
                <a:latin typeface="Arial"/>
                <a:cs typeface="Arial"/>
              </a:rPr>
              <a:t>server</a:t>
            </a:r>
            <a:r>
              <a:rPr sz="900" spc="-25" dirty="0">
                <a:latin typeface="Arial"/>
                <a:cs typeface="Arial"/>
              </a:rPr>
              <a:t> </a:t>
            </a:r>
            <a:r>
              <a:rPr sz="900" spc="-10" dirty="0">
                <a:latin typeface="Arial"/>
                <a:cs typeface="Arial"/>
              </a:rPr>
              <a:t>kills client’s</a:t>
            </a:r>
            <a:r>
              <a:rPr sz="900" dirty="0">
                <a:latin typeface="Arial"/>
                <a:cs typeface="Arial"/>
              </a:rPr>
              <a:t> </a:t>
            </a:r>
            <a:r>
              <a:rPr sz="900" spc="-10" dirty="0">
                <a:latin typeface="Arial"/>
                <a:cs typeface="Arial"/>
              </a:rPr>
              <a:t>orphans</a:t>
            </a:r>
            <a:r>
              <a:rPr lang="en-US" sz="900" spc="-10" dirty="0">
                <a:latin typeface="Arial"/>
                <a:cs typeface="Arial"/>
              </a:rPr>
              <a:t> (reincarnation)</a:t>
            </a:r>
          </a:p>
          <a:p>
            <a:pPr marL="281940" marR="198120" indent="-120650">
              <a:lnSpc>
                <a:spcPct val="111600"/>
              </a:lnSpc>
              <a:spcBef>
                <a:spcPts val="400"/>
              </a:spcBef>
              <a:buClr>
                <a:srgbClr val="3333B2"/>
              </a:buClr>
              <a:buFont typeface="Menlo"/>
              <a:buChar char="•"/>
              <a:tabLst>
                <a:tab pos="282575" algn="l"/>
              </a:tabLst>
            </a:pPr>
            <a:r>
              <a:rPr lang="en-US" sz="900" spc="-10" dirty="0">
                <a:latin typeface="Arial"/>
                <a:cs typeface="Arial"/>
              </a:rPr>
              <a:t>Kill the computation if owners are not located in a given epoch (gentle reincarnation)</a:t>
            </a:r>
            <a:endParaRPr sz="900" dirty="0">
              <a:latin typeface="Arial"/>
              <a:cs typeface="Arial"/>
            </a:endParaRPr>
          </a:p>
          <a:p>
            <a:pPr marL="281940" marR="17780" indent="-120650">
              <a:lnSpc>
                <a:spcPct val="111600"/>
              </a:lnSpc>
              <a:spcBef>
                <a:spcPts val="400"/>
              </a:spcBef>
              <a:buClr>
                <a:srgbClr val="3333B2"/>
              </a:buClr>
              <a:buFont typeface="Menlo"/>
              <a:buChar char="•"/>
              <a:tabLst>
                <a:tab pos="282575" algn="l"/>
              </a:tabLst>
            </a:pPr>
            <a:r>
              <a:rPr sz="900" dirty="0">
                <a:latin typeface="Arial"/>
                <a:cs typeface="Arial"/>
              </a:rPr>
              <a:t>Require</a:t>
            </a:r>
            <a:r>
              <a:rPr sz="900" spc="-25" dirty="0">
                <a:latin typeface="Arial"/>
                <a:cs typeface="Arial"/>
              </a:rPr>
              <a:t> </a:t>
            </a:r>
            <a:r>
              <a:rPr sz="900" dirty="0">
                <a:latin typeface="Arial"/>
                <a:cs typeface="Arial"/>
              </a:rPr>
              <a:t>computations</a:t>
            </a:r>
            <a:r>
              <a:rPr sz="900" spc="-25" dirty="0">
                <a:latin typeface="Arial"/>
                <a:cs typeface="Arial"/>
              </a:rPr>
              <a:t> </a:t>
            </a:r>
            <a:r>
              <a:rPr sz="900" dirty="0">
                <a:latin typeface="Arial"/>
                <a:cs typeface="Arial"/>
              </a:rPr>
              <a:t>to</a:t>
            </a:r>
            <a:r>
              <a:rPr sz="900" spc="-25" dirty="0">
                <a:latin typeface="Arial"/>
                <a:cs typeface="Arial"/>
              </a:rPr>
              <a:t> </a:t>
            </a:r>
            <a:r>
              <a:rPr sz="900" dirty="0">
                <a:solidFill>
                  <a:srgbClr val="3333B2"/>
                </a:solidFill>
                <a:latin typeface="Arial"/>
                <a:cs typeface="Arial"/>
              </a:rPr>
              <a:t>complete</a:t>
            </a:r>
            <a:r>
              <a:rPr sz="900" spc="-20" dirty="0">
                <a:solidFill>
                  <a:srgbClr val="3333B2"/>
                </a:solidFill>
                <a:latin typeface="Arial"/>
                <a:cs typeface="Arial"/>
              </a:rPr>
              <a:t> </a:t>
            </a:r>
            <a:r>
              <a:rPr sz="900" dirty="0">
                <a:solidFill>
                  <a:srgbClr val="3333B2"/>
                </a:solidFill>
                <a:latin typeface="Arial"/>
                <a:cs typeface="Arial"/>
              </a:rPr>
              <a:t>in</a:t>
            </a:r>
            <a:r>
              <a:rPr sz="900" spc="-25" dirty="0">
                <a:solidFill>
                  <a:srgbClr val="3333B2"/>
                </a:solidFill>
                <a:latin typeface="Arial"/>
                <a:cs typeface="Arial"/>
              </a:rPr>
              <a:t> </a:t>
            </a:r>
            <a:r>
              <a:rPr sz="900" dirty="0">
                <a:solidFill>
                  <a:srgbClr val="3333B2"/>
                </a:solidFill>
                <a:latin typeface="Arial"/>
                <a:cs typeface="Arial"/>
              </a:rPr>
              <a:t>a</a:t>
            </a:r>
            <a:r>
              <a:rPr sz="900" spc="-25" dirty="0">
                <a:solidFill>
                  <a:srgbClr val="3333B2"/>
                </a:solidFill>
                <a:latin typeface="Arial"/>
                <a:cs typeface="Arial"/>
              </a:rPr>
              <a:t> </a:t>
            </a:r>
            <a:r>
              <a:rPr sz="900" i="1" dirty="0">
                <a:solidFill>
                  <a:srgbClr val="3333B2"/>
                </a:solidFill>
                <a:latin typeface="Arial"/>
                <a:cs typeface="Arial"/>
              </a:rPr>
              <a:t>T</a:t>
            </a:r>
            <a:r>
              <a:rPr sz="900" i="1" spc="90" dirty="0">
                <a:solidFill>
                  <a:srgbClr val="3333B2"/>
                </a:solidFill>
                <a:latin typeface="Arial"/>
                <a:cs typeface="Arial"/>
              </a:rPr>
              <a:t> </a:t>
            </a:r>
            <a:r>
              <a:rPr sz="900" dirty="0">
                <a:solidFill>
                  <a:srgbClr val="3333B2"/>
                </a:solidFill>
                <a:latin typeface="Arial"/>
                <a:cs typeface="Arial"/>
              </a:rPr>
              <a:t>time</a:t>
            </a:r>
            <a:r>
              <a:rPr sz="900" spc="-20" dirty="0">
                <a:solidFill>
                  <a:srgbClr val="3333B2"/>
                </a:solidFill>
                <a:latin typeface="Arial"/>
                <a:cs typeface="Arial"/>
              </a:rPr>
              <a:t> </a:t>
            </a:r>
            <a:r>
              <a:rPr sz="900" dirty="0">
                <a:solidFill>
                  <a:srgbClr val="3333B2"/>
                </a:solidFill>
                <a:latin typeface="Arial"/>
                <a:cs typeface="Arial"/>
              </a:rPr>
              <a:t>units</a:t>
            </a:r>
            <a:r>
              <a:rPr sz="900" dirty="0">
                <a:latin typeface="Arial"/>
                <a:cs typeface="Arial"/>
              </a:rPr>
              <a:t>.</a:t>
            </a:r>
            <a:r>
              <a:rPr sz="900" spc="30" dirty="0">
                <a:latin typeface="Arial"/>
                <a:cs typeface="Arial"/>
              </a:rPr>
              <a:t> </a:t>
            </a:r>
            <a:r>
              <a:rPr sz="900" dirty="0">
                <a:latin typeface="Arial"/>
                <a:cs typeface="Arial"/>
              </a:rPr>
              <a:t>Old</a:t>
            </a:r>
            <a:r>
              <a:rPr sz="900" spc="-25" dirty="0">
                <a:latin typeface="Arial"/>
                <a:cs typeface="Arial"/>
              </a:rPr>
              <a:t> </a:t>
            </a:r>
            <a:r>
              <a:rPr sz="900" dirty="0">
                <a:latin typeface="Arial"/>
                <a:cs typeface="Arial"/>
              </a:rPr>
              <a:t>ones</a:t>
            </a:r>
            <a:r>
              <a:rPr sz="900" spc="-20" dirty="0">
                <a:latin typeface="Arial"/>
                <a:cs typeface="Arial"/>
              </a:rPr>
              <a:t> </a:t>
            </a:r>
            <a:r>
              <a:rPr sz="900" dirty="0">
                <a:latin typeface="Arial"/>
                <a:cs typeface="Arial"/>
              </a:rPr>
              <a:t>are</a:t>
            </a:r>
            <a:r>
              <a:rPr sz="900" spc="-25" dirty="0">
                <a:latin typeface="Arial"/>
                <a:cs typeface="Arial"/>
              </a:rPr>
              <a:t> </a:t>
            </a:r>
            <a:r>
              <a:rPr sz="900" spc="-10" dirty="0">
                <a:latin typeface="Arial"/>
                <a:cs typeface="Arial"/>
              </a:rPr>
              <a:t>simply removed</a:t>
            </a:r>
            <a:r>
              <a:rPr lang="en-US" sz="900" spc="-10" dirty="0">
                <a:latin typeface="Arial"/>
                <a:cs typeface="Arial"/>
              </a:rPr>
              <a:t>.</a:t>
            </a: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120142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RPC</a:t>
            </a:r>
            <a:r>
              <a:rPr sz="500" spc="-20" dirty="0">
                <a:latin typeface="Arial"/>
                <a:cs typeface="Arial"/>
                <a:hlinkClick r:id="rId4" action="ppaction://hlinksldjump"/>
              </a:rPr>
              <a:t> </a:t>
            </a:r>
            <a:r>
              <a:rPr sz="500" dirty="0">
                <a:latin typeface="Arial"/>
                <a:cs typeface="Arial"/>
                <a:hlinkClick r:id="rId4" action="ppaction://hlinksldjump"/>
              </a:rPr>
              <a:t>semantics</a:t>
            </a:r>
            <a:r>
              <a:rPr sz="500" spc="-15" dirty="0">
                <a:latin typeface="Arial"/>
                <a:cs typeface="Arial"/>
                <a:hlinkClick r:id="rId4" action="ppaction://hlinksldjump"/>
              </a:rPr>
              <a:t> </a:t>
            </a:r>
            <a:r>
              <a:rPr sz="500" dirty="0">
                <a:latin typeface="Arial"/>
                <a:cs typeface="Arial"/>
                <a:hlinkClick r:id="rId4" action="ppaction://hlinksldjump"/>
              </a:rPr>
              <a:t>in</a:t>
            </a:r>
            <a:r>
              <a:rPr sz="500" spc="-15" dirty="0">
                <a:latin typeface="Arial"/>
                <a:cs typeface="Arial"/>
                <a:hlinkClick r:id="rId4" action="ppaction://hlinksldjump"/>
              </a:rPr>
              <a:t> </a:t>
            </a:r>
            <a:r>
              <a:rPr sz="500" dirty="0">
                <a:latin typeface="Arial"/>
                <a:cs typeface="Arial"/>
                <a:hlinkClick r:id="rId4" action="ppaction://hlinksldjump"/>
              </a:rPr>
              <a:t>the</a:t>
            </a:r>
            <a:r>
              <a:rPr sz="500" spc="-20" dirty="0">
                <a:latin typeface="Arial"/>
                <a:cs typeface="Arial"/>
                <a:hlinkClick r:id="rId4" action="ppaction://hlinksldjump"/>
              </a:rPr>
              <a:t> </a:t>
            </a:r>
            <a:r>
              <a:rPr sz="500" dirty="0">
                <a:latin typeface="Arial"/>
                <a:cs typeface="Arial"/>
                <a:hlinkClick r:id="rId4" action="ppaction://hlinksldjump"/>
              </a:rPr>
              <a:t>presence</a:t>
            </a:r>
            <a:r>
              <a:rPr sz="500" spc="-15" dirty="0">
                <a:latin typeface="Arial"/>
                <a:cs typeface="Arial"/>
                <a:hlinkClick r:id="rId4" action="ppaction://hlinksldjump"/>
              </a:rPr>
              <a:t> </a:t>
            </a:r>
            <a:r>
              <a:rPr sz="500" dirty="0">
                <a:latin typeface="Arial"/>
                <a:cs typeface="Arial"/>
                <a:hlinkClick r:id="rId4" action="ppaction://hlinksldjump"/>
              </a:rPr>
              <a:t>of</a:t>
            </a:r>
            <a:r>
              <a:rPr sz="500" spc="-15" dirty="0">
                <a:latin typeface="Arial"/>
                <a:cs typeface="Arial"/>
                <a:hlinkClick r:id="rId4" action="ppaction://hlinksldjump"/>
              </a:rPr>
              <a:t> </a:t>
            </a:r>
            <a:r>
              <a:rPr sz="500" spc="-10" dirty="0">
                <a:latin typeface="Arial"/>
                <a:cs typeface="Arial"/>
                <a:hlinkClick r:id="rId4" action="ppaction://hlinksldjump"/>
              </a:rPr>
              <a:t>failures</a:t>
            </a:r>
            <a:endParaRPr sz="500">
              <a:latin typeface="Arial"/>
              <a:cs typeface="Arial"/>
            </a:endParaRPr>
          </a:p>
        </p:txBody>
      </p:sp>
    </p:spTree>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639820"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3" action="ppaction://hlinksldjump"/>
              </a:rPr>
              <a:t>Reliable</a:t>
            </a:r>
            <a:r>
              <a:rPr sz="500" spc="-3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group</a:t>
            </a:r>
            <a:r>
              <a:rPr sz="500" spc="-3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communication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Simple</a:t>
            </a:r>
            <a:r>
              <a:rPr spc="-55" dirty="0"/>
              <a:t> </a:t>
            </a:r>
            <a:r>
              <a:rPr dirty="0"/>
              <a:t>reliable</a:t>
            </a:r>
            <a:r>
              <a:rPr spc="-55" dirty="0"/>
              <a:t> </a:t>
            </a:r>
            <a:r>
              <a:rPr dirty="0"/>
              <a:t>group</a:t>
            </a:r>
            <a:r>
              <a:rPr spc="-55" dirty="0"/>
              <a:t> </a:t>
            </a:r>
            <a:r>
              <a:rPr spc="-10" dirty="0"/>
              <a:t>communication</a:t>
            </a:r>
          </a:p>
        </p:txBody>
      </p:sp>
      <p:sp>
        <p:nvSpPr>
          <p:cNvPr id="4" name="object 4"/>
          <p:cNvSpPr txBox="1"/>
          <p:nvPr/>
        </p:nvSpPr>
        <p:spPr>
          <a:xfrm>
            <a:off x="343547" y="499476"/>
            <a:ext cx="3916045" cy="496570"/>
          </a:xfrm>
          <a:prstGeom prst="rect">
            <a:avLst/>
          </a:prstGeom>
        </p:spPr>
        <p:txBody>
          <a:bodyPr vert="horz" wrap="square" lIns="0" tIns="27305" rIns="0" bIns="0" rtlCol="0">
            <a:spAutoFit/>
          </a:bodyPr>
          <a:lstStyle/>
          <a:p>
            <a:pPr marL="15875">
              <a:lnSpc>
                <a:spcPct val="100000"/>
              </a:lnSpc>
              <a:spcBef>
                <a:spcPts val="215"/>
              </a:spcBef>
            </a:pPr>
            <a:r>
              <a:rPr sz="1000" spc="-10" dirty="0">
                <a:solidFill>
                  <a:srgbClr val="3333B2"/>
                </a:solidFill>
                <a:latin typeface="Arial"/>
                <a:cs typeface="Arial"/>
              </a:rPr>
              <a:t>Intuition</a:t>
            </a:r>
            <a:endParaRPr sz="1000">
              <a:latin typeface="Arial"/>
              <a:cs typeface="Arial"/>
            </a:endParaRPr>
          </a:p>
          <a:p>
            <a:pPr marL="12700">
              <a:lnSpc>
                <a:spcPct val="100000"/>
              </a:lnSpc>
              <a:spcBef>
                <a:spcPts val="105"/>
              </a:spcBef>
            </a:pPr>
            <a:r>
              <a:rPr sz="900" dirty="0">
                <a:latin typeface="Arial"/>
                <a:cs typeface="Arial"/>
              </a:rPr>
              <a:t>A</a:t>
            </a:r>
            <a:r>
              <a:rPr sz="900" spc="-25" dirty="0">
                <a:latin typeface="Arial"/>
                <a:cs typeface="Arial"/>
              </a:rPr>
              <a:t> </a:t>
            </a:r>
            <a:r>
              <a:rPr sz="900" dirty="0">
                <a:latin typeface="Arial"/>
                <a:cs typeface="Arial"/>
              </a:rPr>
              <a:t>message</a:t>
            </a:r>
            <a:r>
              <a:rPr sz="900" spc="-20" dirty="0">
                <a:latin typeface="Arial"/>
                <a:cs typeface="Arial"/>
              </a:rPr>
              <a:t> </a:t>
            </a:r>
            <a:r>
              <a:rPr sz="900" dirty="0">
                <a:latin typeface="Arial"/>
                <a:cs typeface="Arial"/>
              </a:rPr>
              <a:t>sent</a:t>
            </a:r>
            <a:r>
              <a:rPr sz="900" spc="-20"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process</a:t>
            </a:r>
            <a:r>
              <a:rPr sz="900" spc="-20" dirty="0">
                <a:latin typeface="Arial"/>
                <a:cs typeface="Arial"/>
              </a:rPr>
              <a:t> </a:t>
            </a:r>
            <a:r>
              <a:rPr sz="900" dirty="0">
                <a:latin typeface="Arial"/>
                <a:cs typeface="Arial"/>
              </a:rPr>
              <a:t>group</a:t>
            </a:r>
            <a:r>
              <a:rPr sz="900" spc="-20" dirty="0">
                <a:latin typeface="Arial"/>
                <a:cs typeface="Arial"/>
              </a:rPr>
              <a:t> </a:t>
            </a:r>
            <a:r>
              <a:rPr sz="900" b="1" dirty="0">
                <a:latin typeface="Arial"/>
                <a:cs typeface="Arial"/>
              </a:rPr>
              <a:t>G</a:t>
            </a:r>
            <a:r>
              <a:rPr sz="900" b="1" spc="-20" dirty="0">
                <a:latin typeface="Arial"/>
                <a:cs typeface="Arial"/>
              </a:rPr>
              <a:t> </a:t>
            </a:r>
            <a:r>
              <a:rPr sz="900" dirty="0">
                <a:latin typeface="Arial"/>
                <a:cs typeface="Arial"/>
              </a:rPr>
              <a:t>should</a:t>
            </a:r>
            <a:r>
              <a:rPr sz="900" spc="-20" dirty="0">
                <a:latin typeface="Arial"/>
                <a:cs typeface="Arial"/>
              </a:rPr>
              <a:t> </a:t>
            </a:r>
            <a:r>
              <a:rPr sz="900" dirty="0">
                <a:latin typeface="Arial"/>
                <a:cs typeface="Arial"/>
              </a:rPr>
              <a:t>be</a:t>
            </a:r>
            <a:r>
              <a:rPr sz="900" spc="-20" dirty="0">
                <a:latin typeface="Arial"/>
                <a:cs typeface="Arial"/>
              </a:rPr>
              <a:t> </a:t>
            </a:r>
            <a:r>
              <a:rPr sz="900" spc="-10" dirty="0">
                <a:latin typeface="Arial"/>
                <a:cs typeface="Arial"/>
              </a:rPr>
              <a:t>delivered</a:t>
            </a:r>
            <a:r>
              <a:rPr sz="900" spc="-20"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each</a:t>
            </a:r>
            <a:r>
              <a:rPr sz="900" spc="-20" dirty="0">
                <a:latin typeface="Arial"/>
                <a:cs typeface="Arial"/>
              </a:rPr>
              <a:t> </a:t>
            </a:r>
            <a:r>
              <a:rPr sz="900" dirty="0">
                <a:latin typeface="Arial"/>
                <a:cs typeface="Arial"/>
              </a:rPr>
              <a:t>member</a:t>
            </a:r>
            <a:r>
              <a:rPr sz="900" spc="-20" dirty="0">
                <a:latin typeface="Arial"/>
                <a:cs typeface="Arial"/>
              </a:rPr>
              <a:t> </a:t>
            </a:r>
            <a:r>
              <a:rPr sz="900" spc="-25" dirty="0">
                <a:latin typeface="Arial"/>
                <a:cs typeface="Arial"/>
              </a:rPr>
              <a:t>of</a:t>
            </a:r>
            <a:endParaRPr sz="900">
              <a:latin typeface="Arial"/>
              <a:cs typeface="Arial"/>
            </a:endParaRPr>
          </a:p>
          <a:p>
            <a:pPr marL="15875">
              <a:lnSpc>
                <a:spcPct val="100000"/>
              </a:lnSpc>
              <a:spcBef>
                <a:spcPts val="125"/>
              </a:spcBef>
            </a:pPr>
            <a:r>
              <a:rPr sz="900" b="1" dirty="0">
                <a:latin typeface="Arial"/>
                <a:cs typeface="Arial"/>
              </a:rPr>
              <a:t>G</a:t>
            </a:r>
            <a:r>
              <a:rPr sz="900" dirty="0">
                <a:latin typeface="Arial"/>
                <a:cs typeface="Arial"/>
              </a:rPr>
              <a:t>.</a:t>
            </a:r>
            <a:r>
              <a:rPr sz="900" spc="15" dirty="0">
                <a:latin typeface="Arial"/>
                <a:cs typeface="Arial"/>
              </a:rPr>
              <a:t> </a:t>
            </a:r>
            <a:r>
              <a:rPr sz="900" dirty="0">
                <a:solidFill>
                  <a:srgbClr val="C80000"/>
                </a:solidFill>
                <a:latin typeface="Arial"/>
                <a:cs typeface="Arial"/>
              </a:rPr>
              <a:t>Important</a:t>
            </a:r>
            <a:r>
              <a:rPr sz="900" dirty="0">
                <a:latin typeface="Arial"/>
                <a:cs typeface="Arial"/>
              </a:rPr>
              <a:t>:</a:t>
            </a:r>
            <a:r>
              <a:rPr sz="900" spc="20" dirty="0">
                <a:latin typeface="Arial"/>
                <a:cs typeface="Arial"/>
              </a:rPr>
              <a:t> </a:t>
            </a:r>
            <a:r>
              <a:rPr sz="900" dirty="0">
                <a:latin typeface="Arial"/>
                <a:cs typeface="Arial"/>
              </a:rPr>
              <a:t>make</a:t>
            </a:r>
            <a:r>
              <a:rPr sz="900" spc="-35" dirty="0">
                <a:latin typeface="Arial"/>
                <a:cs typeface="Arial"/>
              </a:rPr>
              <a:t> </a:t>
            </a:r>
            <a:r>
              <a:rPr sz="900" dirty="0">
                <a:latin typeface="Arial"/>
                <a:cs typeface="Arial"/>
              </a:rPr>
              <a:t>distinction</a:t>
            </a:r>
            <a:r>
              <a:rPr sz="900" spc="-30" dirty="0">
                <a:latin typeface="Arial"/>
                <a:cs typeface="Arial"/>
              </a:rPr>
              <a:t> </a:t>
            </a:r>
            <a:r>
              <a:rPr sz="900" dirty="0">
                <a:latin typeface="Arial"/>
                <a:cs typeface="Arial"/>
              </a:rPr>
              <a:t>between</a:t>
            </a:r>
            <a:r>
              <a:rPr sz="900" spc="-35" dirty="0">
                <a:latin typeface="Arial"/>
                <a:cs typeface="Arial"/>
              </a:rPr>
              <a:t> </a:t>
            </a:r>
            <a:r>
              <a:rPr sz="900" dirty="0">
                <a:latin typeface="Arial"/>
                <a:cs typeface="Arial"/>
              </a:rPr>
              <a:t>receiving</a:t>
            </a:r>
            <a:r>
              <a:rPr sz="900" spc="-35" dirty="0">
                <a:latin typeface="Arial"/>
                <a:cs typeface="Arial"/>
              </a:rPr>
              <a:t> </a:t>
            </a:r>
            <a:r>
              <a:rPr sz="900" dirty="0">
                <a:latin typeface="Arial"/>
                <a:cs typeface="Arial"/>
              </a:rPr>
              <a:t>and</a:t>
            </a:r>
            <a:r>
              <a:rPr sz="900" spc="-35" dirty="0">
                <a:latin typeface="Arial"/>
                <a:cs typeface="Arial"/>
              </a:rPr>
              <a:t> </a:t>
            </a:r>
            <a:r>
              <a:rPr sz="900" dirty="0">
                <a:latin typeface="Arial"/>
                <a:cs typeface="Arial"/>
              </a:rPr>
              <a:t>delivering</a:t>
            </a:r>
            <a:r>
              <a:rPr sz="900" spc="-35" dirty="0">
                <a:latin typeface="Arial"/>
                <a:cs typeface="Arial"/>
              </a:rPr>
              <a:t> </a:t>
            </a:r>
            <a:r>
              <a:rPr sz="900" spc="-10" dirty="0">
                <a:latin typeface="Arial"/>
                <a:cs typeface="Arial"/>
              </a:rPr>
              <a:t>messages.</a:t>
            </a:r>
            <a:endParaRPr sz="900">
              <a:latin typeface="Arial"/>
              <a:cs typeface="Arial"/>
            </a:endParaRPr>
          </a:p>
        </p:txBody>
      </p:sp>
      <p:pic>
        <p:nvPicPr>
          <p:cNvPr id="5" name="object 5"/>
          <p:cNvPicPr/>
          <p:nvPr/>
        </p:nvPicPr>
        <p:blipFill>
          <a:blip r:embed="rId4" cstate="print"/>
          <a:stretch>
            <a:fillRect/>
          </a:stretch>
        </p:blipFill>
        <p:spPr>
          <a:xfrm>
            <a:off x="667473" y="1110646"/>
            <a:ext cx="3273067" cy="1725494"/>
          </a:xfrm>
          <a:prstGeom prst="rect">
            <a:avLst/>
          </a:prstGeom>
        </p:spPr>
      </p:pic>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35623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Introduction</a:t>
            </a:r>
            <a:endParaRPr sz="500">
              <a:latin typeface="Arial"/>
              <a:cs typeface="Arial"/>
            </a:endParaRPr>
          </a:p>
        </p:txBody>
      </p:sp>
    </p:spTree>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639820"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3" action="ppaction://hlinksldjump"/>
              </a:rPr>
              <a:t>Reliable</a:t>
            </a:r>
            <a:r>
              <a:rPr sz="500" spc="-3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group</a:t>
            </a:r>
            <a:r>
              <a:rPr sz="500" spc="-3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communication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Less</a:t>
            </a:r>
            <a:r>
              <a:rPr spc="-50" dirty="0"/>
              <a:t> </a:t>
            </a:r>
            <a:r>
              <a:rPr dirty="0"/>
              <a:t>simple</a:t>
            </a:r>
            <a:r>
              <a:rPr spc="-45" dirty="0"/>
              <a:t> </a:t>
            </a:r>
            <a:r>
              <a:rPr dirty="0"/>
              <a:t>reliable</a:t>
            </a:r>
            <a:r>
              <a:rPr spc="-50" dirty="0"/>
              <a:t> </a:t>
            </a:r>
            <a:r>
              <a:rPr dirty="0"/>
              <a:t>group</a:t>
            </a:r>
            <a:r>
              <a:rPr spc="-45" dirty="0"/>
              <a:t> </a:t>
            </a:r>
            <a:r>
              <a:rPr spc="-10" dirty="0"/>
              <a:t>communication</a:t>
            </a:r>
          </a:p>
        </p:txBody>
      </p:sp>
      <p:sp>
        <p:nvSpPr>
          <p:cNvPr id="4" name="object 4"/>
          <p:cNvSpPr txBox="1"/>
          <p:nvPr/>
        </p:nvSpPr>
        <p:spPr>
          <a:xfrm>
            <a:off x="343382" y="471706"/>
            <a:ext cx="3917315" cy="1133475"/>
          </a:xfrm>
          <a:prstGeom prst="rect">
            <a:avLst/>
          </a:prstGeom>
        </p:spPr>
        <p:txBody>
          <a:bodyPr vert="horz" wrap="square" lIns="0" tIns="55244" rIns="0" bIns="0" rtlCol="0">
            <a:spAutoFit/>
          </a:bodyPr>
          <a:lstStyle/>
          <a:p>
            <a:pPr marL="16510">
              <a:lnSpc>
                <a:spcPct val="100000"/>
              </a:lnSpc>
              <a:spcBef>
                <a:spcPts val="434"/>
              </a:spcBef>
            </a:pPr>
            <a:r>
              <a:rPr sz="1000" dirty="0">
                <a:solidFill>
                  <a:srgbClr val="3333B2"/>
                </a:solidFill>
                <a:latin typeface="Arial"/>
                <a:cs typeface="Arial"/>
              </a:rPr>
              <a:t>Reliable</a:t>
            </a:r>
            <a:r>
              <a:rPr sz="1000" spc="-25" dirty="0">
                <a:solidFill>
                  <a:srgbClr val="3333B2"/>
                </a:solidFill>
                <a:latin typeface="Arial"/>
                <a:cs typeface="Arial"/>
              </a:rPr>
              <a:t> </a:t>
            </a:r>
            <a:r>
              <a:rPr sz="1000" spc="-10" dirty="0">
                <a:solidFill>
                  <a:srgbClr val="3333B2"/>
                </a:solidFill>
                <a:latin typeface="Arial"/>
                <a:cs typeface="Arial"/>
              </a:rPr>
              <a:t>communication</a:t>
            </a:r>
            <a:r>
              <a:rPr sz="1000" spc="-25" dirty="0">
                <a:solidFill>
                  <a:srgbClr val="3333B2"/>
                </a:solidFill>
                <a:latin typeface="Arial"/>
                <a:cs typeface="Arial"/>
              </a:rPr>
              <a:t> </a:t>
            </a:r>
            <a:r>
              <a:rPr sz="1000" dirty="0">
                <a:solidFill>
                  <a:srgbClr val="3333B2"/>
                </a:solidFill>
                <a:latin typeface="Arial"/>
                <a:cs typeface="Arial"/>
              </a:rPr>
              <a:t>in</a:t>
            </a:r>
            <a:r>
              <a:rPr sz="1000" spc="-20" dirty="0">
                <a:solidFill>
                  <a:srgbClr val="3333B2"/>
                </a:solidFill>
                <a:latin typeface="Arial"/>
                <a:cs typeface="Arial"/>
              </a:rPr>
              <a:t> </a:t>
            </a:r>
            <a:r>
              <a:rPr sz="1000" dirty="0">
                <a:solidFill>
                  <a:srgbClr val="3333B2"/>
                </a:solidFill>
                <a:latin typeface="Arial"/>
                <a:cs typeface="Arial"/>
              </a:rPr>
              <a:t>the</a:t>
            </a:r>
            <a:r>
              <a:rPr sz="1000" spc="-25" dirty="0">
                <a:solidFill>
                  <a:srgbClr val="3333B2"/>
                </a:solidFill>
                <a:latin typeface="Arial"/>
                <a:cs typeface="Arial"/>
              </a:rPr>
              <a:t> </a:t>
            </a:r>
            <a:r>
              <a:rPr sz="1000" dirty="0">
                <a:solidFill>
                  <a:srgbClr val="3333B2"/>
                </a:solidFill>
                <a:latin typeface="Arial"/>
                <a:cs typeface="Arial"/>
              </a:rPr>
              <a:t>presence</a:t>
            </a:r>
            <a:r>
              <a:rPr sz="1000" spc="-25" dirty="0">
                <a:solidFill>
                  <a:srgbClr val="3333B2"/>
                </a:solidFill>
                <a:latin typeface="Arial"/>
                <a:cs typeface="Arial"/>
              </a:rPr>
              <a:t> </a:t>
            </a:r>
            <a:r>
              <a:rPr sz="1000" dirty="0">
                <a:solidFill>
                  <a:srgbClr val="3333B2"/>
                </a:solidFill>
                <a:latin typeface="Arial"/>
                <a:cs typeface="Arial"/>
              </a:rPr>
              <a:t>of</a:t>
            </a:r>
            <a:r>
              <a:rPr sz="1000" spc="-25" dirty="0">
                <a:solidFill>
                  <a:srgbClr val="3333B2"/>
                </a:solidFill>
                <a:latin typeface="Arial"/>
                <a:cs typeface="Arial"/>
              </a:rPr>
              <a:t> </a:t>
            </a:r>
            <a:r>
              <a:rPr sz="1000" dirty="0">
                <a:solidFill>
                  <a:srgbClr val="3333B2"/>
                </a:solidFill>
                <a:latin typeface="Arial"/>
                <a:cs typeface="Arial"/>
              </a:rPr>
              <a:t>faulty</a:t>
            </a:r>
            <a:r>
              <a:rPr sz="1000" spc="-20" dirty="0">
                <a:solidFill>
                  <a:srgbClr val="3333B2"/>
                </a:solidFill>
                <a:latin typeface="Arial"/>
                <a:cs typeface="Arial"/>
              </a:rPr>
              <a:t> </a:t>
            </a:r>
            <a:r>
              <a:rPr sz="1000" spc="-10" dirty="0">
                <a:solidFill>
                  <a:srgbClr val="3333B2"/>
                </a:solidFill>
                <a:latin typeface="Arial"/>
                <a:cs typeface="Arial"/>
              </a:rPr>
              <a:t>processes</a:t>
            </a:r>
            <a:endParaRPr sz="1000">
              <a:latin typeface="Arial"/>
              <a:cs typeface="Arial"/>
            </a:endParaRPr>
          </a:p>
          <a:p>
            <a:pPr marL="16510" marR="5080">
              <a:lnSpc>
                <a:spcPct val="111600"/>
              </a:lnSpc>
              <a:spcBef>
                <a:spcPts val="175"/>
              </a:spcBef>
            </a:pPr>
            <a:r>
              <a:rPr sz="900" dirty="0">
                <a:latin typeface="Arial"/>
                <a:cs typeface="Arial"/>
              </a:rPr>
              <a:t>Group</a:t>
            </a:r>
            <a:r>
              <a:rPr sz="900" spc="-25" dirty="0">
                <a:latin typeface="Arial"/>
                <a:cs typeface="Arial"/>
              </a:rPr>
              <a:t> </a:t>
            </a:r>
            <a:r>
              <a:rPr sz="900" spc="-10" dirty="0">
                <a:latin typeface="Arial"/>
                <a:cs typeface="Arial"/>
              </a:rPr>
              <a:t>communication</a:t>
            </a:r>
            <a:r>
              <a:rPr sz="900" spc="-25" dirty="0">
                <a:latin typeface="Arial"/>
                <a:cs typeface="Arial"/>
              </a:rPr>
              <a:t> </a:t>
            </a:r>
            <a:r>
              <a:rPr sz="900" dirty="0">
                <a:latin typeface="Arial"/>
                <a:cs typeface="Arial"/>
              </a:rPr>
              <a:t>is</a:t>
            </a:r>
            <a:r>
              <a:rPr sz="900" spc="-20" dirty="0">
                <a:latin typeface="Arial"/>
                <a:cs typeface="Arial"/>
              </a:rPr>
              <a:t> </a:t>
            </a:r>
            <a:r>
              <a:rPr sz="900" spc="-10" dirty="0">
                <a:latin typeface="Arial"/>
                <a:cs typeface="Arial"/>
              </a:rPr>
              <a:t>reliable</a:t>
            </a:r>
            <a:r>
              <a:rPr sz="900" spc="-25" dirty="0">
                <a:latin typeface="Arial"/>
                <a:cs typeface="Arial"/>
              </a:rPr>
              <a:t> </a:t>
            </a:r>
            <a:r>
              <a:rPr sz="900" dirty="0">
                <a:latin typeface="Arial"/>
                <a:cs typeface="Arial"/>
              </a:rPr>
              <a:t>when</a:t>
            </a:r>
            <a:r>
              <a:rPr sz="900" spc="-20" dirty="0">
                <a:latin typeface="Arial"/>
                <a:cs typeface="Arial"/>
              </a:rPr>
              <a:t> </a:t>
            </a:r>
            <a:r>
              <a:rPr sz="900" dirty="0">
                <a:latin typeface="Arial"/>
                <a:cs typeface="Arial"/>
              </a:rPr>
              <a:t>it</a:t>
            </a:r>
            <a:r>
              <a:rPr sz="900" spc="-25" dirty="0">
                <a:latin typeface="Arial"/>
                <a:cs typeface="Arial"/>
              </a:rPr>
              <a:t> </a:t>
            </a:r>
            <a:r>
              <a:rPr sz="900" dirty="0">
                <a:latin typeface="Arial"/>
                <a:cs typeface="Arial"/>
              </a:rPr>
              <a:t>can</a:t>
            </a:r>
            <a:r>
              <a:rPr sz="900" spc="-20" dirty="0">
                <a:latin typeface="Arial"/>
                <a:cs typeface="Arial"/>
              </a:rPr>
              <a:t> </a:t>
            </a:r>
            <a:r>
              <a:rPr sz="900" dirty="0">
                <a:latin typeface="Arial"/>
                <a:cs typeface="Arial"/>
              </a:rPr>
              <a:t>be</a:t>
            </a:r>
            <a:r>
              <a:rPr sz="900" spc="-25" dirty="0">
                <a:latin typeface="Arial"/>
                <a:cs typeface="Arial"/>
              </a:rPr>
              <a:t> </a:t>
            </a:r>
            <a:r>
              <a:rPr sz="900" spc="-10" dirty="0">
                <a:latin typeface="Arial"/>
                <a:cs typeface="Arial"/>
              </a:rPr>
              <a:t>guaranteed</a:t>
            </a:r>
            <a:r>
              <a:rPr sz="900" spc="-20"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a</a:t>
            </a:r>
            <a:r>
              <a:rPr sz="900" spc="-20" dirty="0">
                <a:latin typeface="Arial"/>
                <a:cs typeface="Arial"/>
              </a:rPr>
              <a:t> </a:t>
            </a:r>
            <a:r>
              <a:rPr sz="900" spc="-10" dirty="0">
                <a:latin typeface="Arial"/>
                <a:cs typeface="Arial"/>
              </a:rPr>
              <a:t>message</a:t>
            </a:r>
            <a:r>
              <a:rPr sz="900" spc="-25" dirty="0">
                <a:latin typeface="Arial"/>
                <a:cs typeface="Arial"/>
              </a:rPr>
              <a:t> is </a:t>
            </a:r>
            <a:r>
              <a:rPr sz="900" spc="-10" dirty="0">
                <a:solidFill>
                  <a:srgbClr val="3333B2"/>
                </a:solidFill>
                <a:latin typeface="Arial"/>
                <a:cs typeface="Arial"/>
              </a:rPr>
              <a:t>received</a:t>
            </a:r>
            <a:r>
              <a:rPr sz="900" spc="-15" dirty="0">
                <a:solidFill>
                  <a:srgbClr val="3333B2"/>
                </a:solidFill>
                <a:latin typeface="Arial"/>
                <a:cs typeface="Arial"/>
              </a:rPr>
              <a:t> </a:t>
            </a:r>
            <a:r>
              <a:rPr sz="900" dirty="0">
                <a:solidFill>
                  <a:srgbClr val="3333B2"/>
                </a:solidFill>
                <a:latin typeface="Arial"/>
                <a:cs typeface="Arial"/>
              </a:rPr>
              <a:t>and</a:t>
            </a:r>
            <a:r>
              <a:rPr sz="900" spc="-15" dirty="0">
                <a:solidFill>
                  <a:srgbClr val="3333B2"/>
                </a:solidFill>
                <a:latin typeface="Arial"/>
                <a:cs typeface="Arial"/>
              </a:rPr>
              <a:t> </a:t>
            </a:r>
            <a:r>
              <a:rPr sz="900" dirty="0">
                <a:solidFill>
                  <a:srgbClr val="3333B2"/>
                </a:solidFill>
                <a:latin typeface="Arial"/>
                <a:cs typeface="Arial"/>
              </a:rPr>
              <a:t>subsequently</a:t>
            </a:r>
            <a:r>
              <a:rPr sz="900" spc="-10" dirty="0">
                <a:solidFill>
                  <a:srgbClr val="3333B2"/>
                </a:solidFill>
                <a:latin typeface="Arial"/>
                <a:cs typeface="Arial"/>
              </a:rPr>
              <a:t> delivered</a:t>
            </a:r>
            <a:r>
              <a:rPr sz="900" spc="-15" dirty="0">
                <a:solidFill>
                  <a:srgbClr val="3333B2"/>
                </a:solidFill>
                <a:latin typeface="Arial"/>
                <a:cs typeface="Arial"/>
              </a:rPr>
              <a:t> </a:t>
            </a:r>
            <a:r>
              <a:rPr sz="900" dirty="0">
                <a:latin typeface="Arial"/>
                <a:cs typeface="Arial"/>
              </a:rPr>
              <a:t>by</a:t>
            </a:r>
            <a:r>
              <a:rPr sz="900" spc="-15" dirty="0">
                <a:latin typeface="Arial"/>
                <a:cs typeface="Arial"/>
              </a:rPr>
              <a:t> </a:t>
            </a:r>
            <a:r>
              <a:rPr sz="900" dirty="0">
                <a:latin typeface="Arial"/>
                <a:cs typeface="Arial"/>
              </a:rPr>
              <a:t>all</a:t>
            </a:r>
            <a:r>
              <a:rPr sz="900" spc="-10" dirty="0">
                <a:latin typeface="Arial"/>
                <a:cs typeface="Arial"/>
              </a:rPr>
              <a:t> </a:t>
            </a:r>
            <a:r>
              <a:rPr sz="900" spc="-10" dirty="0">
                <a:solidFill>
                  <a:srgbClr val="3333B2"/>
                </a:solidFill>
                <a:latin typeface="Arial"/>
                <a:cs typeface="Arial"/>
              </a:rPr>
              <a:t>nonfaulty</a:t>
            </a:r>
            <a:r>
              <a:rPr sz="900" spc="-15" dirty="0">
                <a:solidFill>
                  <a:srgbClr val="3333B2"/>
                </a:solidFill>
                <a:latin typeface="Arial"/>
                <a:cs typeface="Arial"/>
              </a:rPr>
              <a:t> </a:t>
            </a:r>
            <a:r>
              <a:rPr sz="900" dirty="0">
                <a:solidFill>
                  <a:srgbClr val="3333B2"/>
                </a:solidFill>
                <a:latin typeface="Arial"/>
                <a:cs typeface="Arial"/>
              </a:rPr>
              <a:t>group</a:t>
            </a:r>
            <a:r>
              <a:rPr sz="900" spc="-15" dirty="0">
                <a:solidFill>
                  <a:srgbClr val="3333B2"/>
                </a:solidFill>
                <a:latin typeface="Arial"/>
                <a:cs typeface="Arial"/>
              </a:rPr>
              <a:t> </a:t>
            </a:r>
            <a:r>
              <a:rPr sz="900" spc="-10" dirty="0">
                <a:solidFill>
                  <a:srgbClr val="3333B2"/>
                </a:solidFill>
                <a:latin typeface="Arial"/>
                <a:cs typeface="Arial"/>
              </a:rPr>
              <a:t>members</a:t>
            </a:r>
            <a:r>
              <a:rPr sz="900" spc="-10" dirty="0">
                <a:latin typeface="Arial"/>
                <a:cs typeface="Arial"/>
              </a:rPr>
              <a:t>.</a:t>
            </a:r>
            <a:endParaRPr sz="900">
              <a:latin typeface="Arial"/>
              <a:cs typeface="Arial"/>
            </a:endParaRPr>
          </a:p>
          <a:p>
            <a:pPr marL="12700">
              <a:lnSpc>
                <a:spcPct val="100000"/>
              </a:lnSpc>
              <a:spcBef>
                <a:spcPts val="810"/>
              </a:spcBef>
            </a:pPr>
            <a:r>
              <a:rPr sz="1000" spc="-25" dirty="0">
                <a:solidFill>
                  <a:srgbClr val="3333B2"/>
                </a:solidFill>
                <a:latin typeface="Arial"/>
                <a:cs typeface="Arial"/>
              </a:rPr>
              <a:t>Tricky</a:t>
            </a:r>
            <a:r>
              <a:rPr sz="1000" spc="-15" dirty="0">
                <a:solidFill>
                  <a:srgbClr val="3333B2"/>
                </a:solidFill>
                <a:latin typeface="Arial"/>
                <a:cs typeface="Arial"/>
              </a:rPr>
              <a:t> </a:t>
            </a:r>
            <a:r>
              <a:rPr sz="1000" spc="-20" dirty="0">
                <a:solidFill>
                  <a:srgbClr val="3333B2"/>
                </a:solidFill>
                <a:latin typeface="Arial"/>
                <a:cs typeface="Arial"/>
              </a:rPr>
              <a:t>part</a:t>
            </a:r>
            <a:endParaRPr sz="1000">
              <a:latin typeface="Arial"/>
              <a:cs typeface="Arial"/>
            </a:endParaRPr>
          </a:p>
          <a:p>
            <a:pPr marL="16510" marR="52069" indent="-3810">
              <a:lnSpc>
                <a:spcPct val="111600"/>
              </a:lnSpc>
              <a:spcBef>
                <a:spcPts val="180"/>
              </a:spcBef>
            </a:pPr>
            <a:r>
              <a:rPr sz="900" dirty="0">
                <a:latin typeface="Arial"/>
                <a:cs typeface="Arial"/>
              </a:rPr>
              <a:t>Agreement</a:t>
            </a:r>
            <a:r>
              <a:rPr sz="900" spc="-35"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needed</a:t>
            </a:r>
            <a:r>
              <a:rPr sz="900" spc="-30" dirty="0">
                <a:latin typeface="Arial"/>
                <a:cs typeface="Arial"/>
              </a:rPr>
              <a:t> </a:t>
            </a:r>
            <a:r>
              <a:rPr sz="900" dirty="0">
                <a:latin typeface="Arial"/>
                <a:cs typeface="Arial"/>
              </a:rPr>
              <a:t>on</a:t>
            </a:r>
            <a:r>
              <a:rPr sz="900" spc="-30" dirty="0">
                <a:latin typeface="Arial"/>
                <a:cs typeface="Arial"/>
              </a:rPr>
              <a:t> </a:t>
            </a:r>
            <a:r>
              <a:rPr sz="900" dirty="0">
                <a:latin typeface="Arial"/>
                <a:cs typeface="Arial"/>
              </a:rPr>
              <a:t>what</a:t>
            </a:r>
            <a:r>
              <a:rPr sz="900" spc="-30" dirty="0">
                <a:latin typeface="Arial"/>
                <a:cs typeface="Arial"/>
              </a:rPr>
              <a:t> </a:t>
            </a:r>
            <a:r>
              <a:rPr sz="900" dirty="0">
                <a:latin typeface="Arial"/>
                <a:cs typeface="Arial"/>
              </a:rPr>
              <a:t>the</a:t>
            </a:r>
            <a:r>
              <a:rPr sz="900" spc="-35" dirty="0">
                <a:latin typeface="Arial"/>
                <a:cs typeface="Arial"/>
              </a:rPr>
              <a:t> </a:t>
            </a:r>
            <a:r>
              <a:rPr sz="900" dirty="0">
                <a:latin typeface="Arial"/>
                <a:cs typeface="Arial"/>
              </a:rPr>
              <a:t>group</a:t>
            </a:r>
            <a:r>
              <a:rPr sz="900" spc="-30" dirty="0">
                <a:latin typeface="Arial"/>
                <a:cs typeface="Arial"/>
              </a:rPr>
              <a:t> </a:t>
            </a:r>
            <a:r>
              <a:rPr sz="900" dirty="0">
                <a:latin typeface="Arial"/>
                <a:cs typeface="Arial"/>
              </a:rPr>
              <a:t>actually</a:t>
            </a:r>
            <a:r>
              <a:rPr sz="900" spc="-30" dirty="0">
                <a:latin typeface="Arial"/>
                <a:cs typeface="Arial"/>
              </a:rPr>
              <a:t> </a:t>
            </a:r>
            <a:r>
              <a:rPr sz="900" dirty="0">
                <a:latin typeface="Arial"/>
                <a:cs typeface="Arial"/>
              </a:rPr>
              <a:t>looks</a:t>
            </a:r>
            <a:r>
              <a:rPr sz="900" spc="-30" dirty="0">
                <a:latin typeface="Arial"/>
                <a:cs typeface="Arial"/>
              </a:rPr>
              <a:t> </a:t>
            </a:r>
            <a:r>
              <a:rPr sz="900" dirty="0">
                <a:latin typeface="Arial"/>
                <a:cs typeface="Arial"/>
              </a:rPr>
              <a:t>like</a:t>
            </a:r>
            <a:r>
              <a:rPr sz="900" spc="-30" dirty="0">
                <a:latin typeface="Arial"/>
                <a:cs typeface="Arial"/>
              </a:rPr>
              <a:t> </a:t>
            </a:r>
            <a:r>
              <a:rPr sz="900" dirty="0">
                <a:latin typeface="Arial"/>
                <a:cs typeface="Arial"/>
              </a:rPr>
              <a:t>before</a:t>
            </a:r>
            <a:r>
              <a:rPr sz="900" spc="-30" dirty="0">
                <a:latin typeface="Arial"/>
                <a:cs typeface="Arial"/>
              </a:rPr>
              <a:t> </a:t>
            </a:r>
            <a:r>
              <a:rPr sz="900" dirty="0">
                <a:latin typeface="Arial"/>
                <a:cs typeface="Arial"/>
              </a:rPr>
              <a:t>a</a:t>
            </a:r>
            <a:r>
              <a:rPr sz="900" spc="-35" dirty="0">
                <a:latin typeface="Arial"/>
                <a:cs typeface="Arial"/>
              </a:rPr>
              <a:t> </a:t>
            </a:r>
            <a:r>
              <a:rPr sz="900" spc="-10" dirty="0">
                <a:latin typeface="Arial"/>
                <a:cs typeface="Arial"/>
              </a:rPr>
              <a:t>received </a:t>
            </a:r>
            <a:r>
              <a:rPr sz="900" dirty="0">
                <a:latin typeface="Arial"/>
                <a:cs typeface="Arial"/>
              </a:rPr>
              <a:t>message</a:t>
            </a:r>
            <a:r>
              <a:rPr sz="900" spc="-30" dirty="0">
                <a:latin typeface="Arial"/>
                <a:cs typeface="Arial"/>
              </a:rPr>
              <a:t> </a:t>
            </a:r>
            <a:r>
              <a:rPr sz="900" dirty="0">
                <a:latin typeface="Arial"/>
                <a:cs typeface="Arial"/>
              </a:rPr>
              <a:t>can</a:t>
            </a:r>
            <a:r>
              <a:rPr sz="900" spc="-25" dirty="0">
                <a:latin typeface="Arial"/>
                <a:cs typeface="Arial"/>
              </a:rPr>
              <a:t> </a:t>
            </a:r>
            <a:r>
              <a:rPr sz="900" dirty="0">
                <a:latin typeface="Arial"/>
                <a:cs typeface="Arial"/>
              </a:rPr>
              <a:t>be</a:t>
            </a:r>
            <a:r>
              <a:rPr sz="900" spc="-25" dirty="0">
                <a:latin typeface="Arial"/>
                <a:cs typeface="Arial"/>
              </a:rPr>
              <a:t> </a:t>
            </a:r>
            <a:r>
              <a:rPr sz="900" spc="-10" dirty="0">
                <a:latin typeface="Arial"/>
                <a:cs typeface="Arial"/>
              </a:rPr>
              <a:t>delivered.</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35623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Introduction</a:t>
            </a:r>
            <a:endParaRPr sz="500">
              <a:latin typeface="Arial"/>
              <a:cs typeface="Arial"/>
            </a:endParaRPr>
          </a:p>
        </p:txBody>
      </p:sp>
    </p:spTree>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639820" algn="l"/>
              </a:tabLst>
            </a:pPr>
            <a:r>
              <a:rPr sz="500" spc="-10" dirty="0">
                <a:latin typeface="Arial"/>
                <a:cs typeface="Arial"/>
                <a:hlinkClick r:id="rId3" action="ppaction://hlinksldjump"/>
              </a:rPr>
              <a:t>Fault</a:t>
            </a:r>
            <a:r>
              <a:rPr sz="500" spc="5" dirty="0">
                <a:latin typeface="Arial"/>
                <a:cs typeface="Arial"/>
                <a:hlinkClick r:id="rId3" action="ppaction://hlinksldjump"/>
              </a:rPr>
              <a:t> </a:t>
            </a:r>
            <a:r>
              <a:rPr sz="500" spc="-10" dirty="0">
                <a:latin typeface="Arial"/>
                <a:cs typeface="Arial"/>
                <a:hlinkClick r:id="rId3" action="ppaction://hlinksldjump"/>
              </a:rPr>
              <a:t>tolerance</a:t>
            </a:r>
            <a:r>
              <a:rPr sz="500" dirty="0">
                <a:latin typeface="Arial"/>
                <a:cs typeface="Arial"/>
              </a:rPr>
              <a:t>	</a:t>
            </a:r>
            <a:r>
              <a:rPr sz="500" dirty="0">
                <a:solidFill>
                  <a:srgbClr val="FFFFFF"/>
                </a:solidFill>
                <a:latin typeface="Arial"/>
                <a:cs typeface="Arial"/>
                <a:hlinkClick r:id="rId4" action="ppaction://hlinksldjump"/>
              </a:rPr>
              <a:t>Reliable</a:t>
            </a:r>
            <a:r>
              <a:rPr sz="500" spc="-30" dirty="0">
                <a:solidFill>
                  <a:srgbClr val="FFFFFF"/>
                </a:solidFill>
                <a:latin typeface="Arial"/>
                <a:cs typeface="Arial"/>
                <a:hlinkClick r:id="rId4" action="ppaction://hlinksldjump"/>
              </a:rPr>
              <a:t> </a:t>
            </a:r>
            <a:r>
              <a:rPr sz="500" dirty="0">
                <a:solidFill>
                  <a:srgbClr val="FFFFFF"/>
                </a:solidFill>
                <a:latin typeface="Arial"/>
                <a:cs typeface="Arial"/>
                <a:hlinkClick r:id="rId4" action="ppaction://hlinksldjump"/>
              </a:rPr>
              <a:t>group</a:t>
            </a:r>
            <a:r>
              <a:rPr sz="500" spc="-30" dirty="0">
                <a:solidFill>
                  <a:srgbClr val="FFFFFF"/>
                </a:solidFill>
                <a:latin typeface="Arial"/>
                <a:cs typeface="Arial"/>
                <a:hlinkClick r:id="rId4" action="ppaction://hlinksldjump"/>
              </a:rPr>
              <a:t> </a:t>
            </a:r>
            <a:r>
              <a:rPr sz="500" spc="-10" dirty="0">
                <a:solidFill>
                  <a:srgbClr val="FFFFFF"/>
                </a:solidFill>
                <a:latin typeface="Arial"/>
                <a:cs typeface="Arial"/>
                <a:hlinkClick r:id="rId4" action="ppaction://hlinksldjump"/>
              </a:rPr>
              <a:t>communication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Simple</a:t>
            </a:r>
            <a:r>
              <a:rPr spc="-55" dirty="0"/>
              <a:t> </a:t>
            </a:r>
            <a:r>
              <a:rPr dirty="0"/>
              <a:t>reliable</a:t>
            </a:r>
            <a:r>
              <a:rPr spc="-55" dirty="0"/>
              <a:t> </a:t>
            </a:r>
            <a:r>
              <a:rPr dirty="0"/>
              <a:t>group</a:t>
            </a:r>
            <a:r>
              <a:rPr spc="-55" dirty="0"/>
              <a:t> </a:t>
            </a:r>
            <a:r>
              <a:rPr spc="-10" dirty="0"/>
              <a:t>communication</a:t>
            </a:r>
          </a:p>
        </p:txBody>
      </p:sp>
      <p:sp>
        <p:nvSpPr>
          <p:cNvPr id="4" name="object 4"/>
          <p:cNvSpPr txBox="1"/>
          <p:nvPr/>
        </p:nvSpPr>
        <p:spPr>
          <a:xfrm>
            <a:off x="347294" y="471706"/>
            <a:ext cx="3929379" cy="549275"/>
          </a:xfrm>
          <a:prstGeom prst="rect">
            <a:avLst/>
          </a:prstGeom>
        </p:spPr>
        <p:txBody>
          <a:bodyPr vert="horz" wrap="square" lIns="0" tIns="55244" rIns="0" bIns="0" rtlCol="0">
            <a:spAutoFit/>
          </a:bodyPr>
          <a:lstStyle/>
          <a:p>
            <a:pPr marL="12700">
              <a:lnSpc>
                <a:spcPct val="100000"/>
              </a:lnSpc>
              <a:spcBef>
                <a:spcPts val="434"/>
              </a:spcBef>
            </a:pPr>
            <a:r>
              <a:rPr sz="1000" dirty="0">
                <a:solidFill>
                  <a:srgbClr val="3333B2"/>
                </a:solidFill>
                <a:latin typeface="Arial"/>
                <a:cs typeface="Arial"/>
              </a:rPr>
              <a:t>Reliable</a:t>
            </a:r>
            <a:r>
              <a:rPr sz="1000" spc="-15" dirty="0">
                <a:solidFill>
                  <a:srgbClr val="3333B2"/>
                </a:solidFill>
                <a:latin typeface="Arial"/>
                <a:cs typeface="Arial"/>
              </a:rPr>
              <a:t> </a:t>
            </a:r>
            <a:r>
              <a:rPr sz="1000" spc="-10" dirty="0">
                <a:solidFill>
                  <a:srgbClr val="3333B2"/>
                </a:solidFill>
                <a:latin typeface="Arial"/>
                <a:cs typeface="Arial"/>
              </a:rPr>
              <a:t>communication,</a:t>
            </a:r>
            <a:r>
              <a:rPr sz="1000" spc="-15" dirty="0">
                <a:solidFill>
                  <a:srgbClr val="3333B2"/>
                </a:solidFill>
                <a:latin typeface="Arial"/>
                <a:cs typeface="Arial"/>
              </a:rPr>
              <a:t> </a:t>
            </a:r>
            <a:r>
              <a:rPr sz="1000" dirty="0">
                <a:solidFill>
                  <a:srgbClr val="3333B2"/>
                </a:solidFill>
                <a:latin typeface="Arial"/>
                <a:cs typeface="Arial"/>
              </a:rPr>
              <a:t>but</a:t>
            </a:r>
            <a:r>
              <a:rPr sz="1000" spc="-15" dirty="0">
                <a:solidFill>
                  <a:srgbClr val="3333B2"/>
                </a:solidFill>
                <a:latin typeface="Arial"/>
                <a:cs typeface="Arial"/>
              </a:rPr>
              <a:t> </a:t>
            </a:r>
            <a:r>
              <a:rPr sz="1000" dirty="0">
                <a:solidFill>
                  <a:srgbClr val="3333B2"/>
                </a:solidFill>
                <a:latin typeface="Arial"/>
                <a:cs typeface="Arial"/>
              </a:rPr>
              <a:t>assume</a:t>
            </a:r>
            <a:r>
              <a:rPr sz="1000" spc="-15" dirty="0">
                <a:solidFill>
                  <a:srgbClr val="3333B2"/>
                </a:solidFill>
                <a:latin typeface="Arial"/>
                <a:cs typeface="Arial"/>
              </a:rPr>
              <a:t> </a:t>
            </a:r>
            <a:r>
              <a:rPr sz="1000" spc="-10" dirty="0">
                <a:solidFill>
                  <a:srgbClr val="3333B2"/>
                </a:solidFill>
                <a:latin typeface="Arial"/>
                <a:cs typeface="Arial"/>
              </a:rPr>
              <a:t>nonfaulty</a:t>
            </a:r>
            <a:r>
              <a:rPr sz="1000" spc="-15" dirty="0">
                <a:solidFill>
                  <a:srgbClr val="3333B2"/>
                </a:solidFill>
                <a:latin typeface="Arial"/>
                <a:cs typeface="Arial"/>
              </a:rPr>
              <a:t> </a:t>
            </a:r>
            <a:r>
              <a:rPr sz="1000" spc="-10" dirty="0">
                <a:solidFill>
                  <a:srgbClr val="3333B2"/>
                </a:solidFill>
                <a:latin typeface="Arial"/>
                <a:cs typeface="Arial"/>
              </a:rPr>
              <a:t>processes</a:t>
            </a:r>
            <a:endParaRPr sz="1000" dirty="0">
              <a:latin typeface="Arial"/>
              <a:cs typeface="Arial"/>
            </a:endParaRPr>
          </a:p>
          <a:p>
            <a:pPr marL="12700" marR="5080">
              <a:lnSpc>
                <a:spcPct val="111600"/>
              </a:lnSpc>
              <a:spcBef>
                <a:spcPts val="175"/>
              </a:spcBef>
            </a:pPr>
            <a:r>
              <a:rPr sz="900" dirty="0">
                <a:latin typeface="Arial"/>
                <a:cs typeface="Arial"/>
              </a:rPr>
              <a:t>Reliable</a:t>
            </a:r>
            <a:r>
              <a:rPr sz="900" spc="-30" dirty="0">
                <a:latin typeface="Arial"/>
                <a:cs typeface="Arial"/>
              </a:rPr>
              <a:t> </a:t>
            </a:r>
            <a:r>
              <a:rPr sz="900" dirty="0">
                <a:latin typeface="Arial"/>
                <a:cs typeface="Arial"/>
              </a:rPr>
              <a:t>group</a:t>
            </a:r>
            <a:r>
              <a:rPr sz="900" spc="-30" dirty="0">
                <a:latin typeface="Arial"/>
                <a:cs typeface="Arial"/>
              </a:rPr>
              <a:t> </a:t>
            </a:r>
            <a:r>
              <a:rPr sz="900" spc="-10" dirty="0">
                <a:latin typeface="Arial"/>
                <a:cs typeface="Arial"/>
              </a:rPr>
              <a:t>communication</a:t>
            </a:r>
            <a:r>
              <a:rPr sz="900" spc="-25" dirty="0">
                <a:latin typeface="Arial"/>
                <a:cs typeface="Arial"/>
              </a:rPr>
              <a:t> </a:t>
            </a:r>
            <a:r>
              <a:rPr sz="900" dirty="0">
                <a:latin typeface="Arial"/>
                <a:cs typeface="Arial"/>
              </a:rPr>
              <a:t>now</a:t>
            </a:r>
            <a:r>
              <a:rPr sz="900" spc="-30" dirty="0">
                <a:latin typeface="Arial"/>
                <a:cs typeface="Arial"/>
              </a:rPr>
              <a:t> </a:t>
            </a:r>
            <a:r>
              <a:rPr sz="900" dirty="0">
                <a:latin typeface="Arial"/>
                <a:cs typeface="Arial"/>
              </a:rPr>
              <a:t>boils</a:t>
            </a:r>
            <a:r>
              <a:rPr sz="900" spc="-25" dirty="0">
                <a:latin typeface="Arial"/>
                <a:cs typeface="Arial"/>
              </a:rPr>
              <a:t> </a:t>
            </a:r>
            <a:r>
              <a:rPr sz="900" dirty="0">
                <a:latin typeface="Arial"/>
                <a:cs typeface="Arial"/>
              </a:rPr>
              <a:t>down</a:t>
            </a:r>
            <a:r>
              <a:rPr sz="900" spc="-30" dirty="0">
                <a:latin typeface="Arial"/>
                <a:cs typeface="Arial"/>
              </a:rPr>
              <a:t> </a:t>
            </a:r>
            <a:r>
              <a:rPr sz="900" dirty="0">
                <a:latin typeface="Arial"/>
                <a:cs typeface="Arial"/>
              </a:rPr>
              <a:t>to</a:t>
            </a:r>
            <a:r>
              <a:rPr sz="900" spc="-30" dirty="0">
                <a:latin typeface="Arial"/>
                <a:cs typeface="Arial"/>
              </a:rPr>
              <a:t> </a:t>
            </a:r>
            <a:r>
              <a:rPr sz="900" dirty="0">
                <a:solidFill>
                  <a:srgbClr val="C80000"/>
                </a:solidFill>
                <a:latin typeface="Arial"/>
                <a:cs typeface="Arial"/>
              </a:rPr>
              <a:t>reliable</a:t>
            </a:r>
            <a:r>
              <a:rPr sz="900" spc="-25" dirty="0">
                <a:solidFill>
                  <a:srgbClr val="C80000"/>
                </a:solidFill>
                <a:latin typeface="Arial"/>
                <a:cs typeface="Arial"/>
              </a:rPr>
              <a:t> </a:t>
            </a:r>
            <a:r>
              <a:rPr sz="900" dirty="0">
                <a:solidFill>
                  <a:srgbClr val="C80000"/>
                </a:solidFill>
                <a:latin typeface="Arial"/>
                <a:cs typeface="Arial"/>
              </a:rPr>
              <a:t>multicasting</a:t>
            </a:r>
            <a:r>
              <a:rPr sz="900" dirty="0">
                <a:latin typeface="Arial"/>
                <a:cs typeface="Arial"/>
              </a:rPr>
              <a:t>:</a:t>
            </a:r>
            <a:r>
              <a:rPr sz="900" spc="25" dirty="0">
                <a:latin typeface="Arial"/>
                <a:cs typeface="Arial"/>
              </a:rPr>
              <a:t> </a:t>
            </a:r>
            <a:r>
              <a:rPr sz="900" dirty="0">
                <a:latin typeface="Arial"/>
                <a:cs typeface="Arial"/>
              </a:rPr>
              <a:t>is</a:t>
            </a:r>
            <a:r>
              <a:rPr sz="900" spc="-30" dirty="0">
                <a:latin typeface="Arial"/>
                <a:cs typeface="Arial"/>
              </a:rPr>
              <a:t> </a:t>
            </a:r>
            <a:r>
              <a:rPr sz="900" spc="-50" dirty="0">
                <a:latin typeface="Arial"/>
                <a:cs typeface="Arial"/>
              </a:rPr>
              <a:t>a</a:t>
            </a:r>
            <a:r>
              <a:rPr sz="900" dirty="0">
                <a:latin typeface="Arial"/>
                <a:cs typeface="Arial"/>
              </a:rPr>
              <a:t> message</a:t>
            </a:r>
            <a:r>
              <a:rPr sz="900" spc="-20" dirty="0">
                <a:latin typeface="Arial"/>
                <a:cs typeface="Arial"/>
              </a:rPr>
              <a:t> </a:t>
            </a:r>
            <a:r>
              <a:rPr sz="900" spc="-10" dirty="0">
                <a:latin typeface="Arial"/>
                <a:cs typeface="Arial"/>
              </a:rPr>
              <a:t>received</a:t>
            </a:r>
            <a:r>
              <a:rPr sz="900" spc="-20" dirty="0">
                <a:latin typeface="Arial"/>
                <a:cs typeface="Arial"/>
              </a:rPr>
              <a:t> </a:t>
            </a:r>
            <a:r>
              <a:rPr sz="900" dirty="0">
                <a:latin typeface="Arial"/>
                <a:cs typeface="Arial"/>
              </a:rPr>
              <a:t>and</a:t>
            </a:r>
            <a:r>
              <a:rPr sz="900" spc="-20" dirty="0">
                <a:latin typeface="Arial"/>
                <a:cs typeface="Arial"/>
              </a:rPr>
              <a:t> </a:t>
            </a:r>
            <a:r>
              <a:rPr sz="900" spc="-10" dirty="0">
                <a:latin typeface="Arial"/>
                <a:cs typeface="Arial"/>
              </a:rPr>
              <a:t>delivered</a:t>
            </a:r>
            <a:r>
              <a:rPr sz="900" spc="-20" dirty="0">
                <a:latin typeface="Arial"/>
                <a:cs typeface="Arial"/>
              </a:rPr>
              <a:t> </a:t>
            </a:r>
            <a:r>
              <a:rPr sz="900" dirty="0">
                <a:latin typeface="Arial"/>
                <a:cs typeface="Arial"/>
              </a:rPr>
              <a:t>to</a:t>
            </a:r>
            <a:r>
              <a:rPr sz="900" spc="-15" dirty="0">
                <a:latin typeface="Arial"/>
                <a:cs typeface="Arial"/>
              </a:rPr>
              <a:t> </a:t>
            </a:r>
            <a:r>
              <a:rPr sz="900" dirty="0">
                <a:latin typeface="Arial"/>
                <a:cs typeface="Arial"/>
              </a:rPr>
              <a:t>each</a:t>
            </a:r>
            <a:r>
              <a:rPr sz="900" spc="-20" dirty="0">
                <a:latin typeface="Arial"/>
                <a:cs typeface="Arial"/>
              </a:rPr>
              <a:t> </a:t>
            </a:r>
            <a:r>
              <a:rPr sz="900" dirty="0">
                <a:latin typeface="Arial"/>
                <a:cs typeface="Arial"/>
              </a:rPr>
              <a:t>recipient,</a:t>
            </a:r>
            <a:r>
              <a:rPr sz="900" spc="-20" dirty="0">
                <a:latin typeface="Arial"/>
                <a:cs typeface="Arial"/>
              </a:rPr>
              <a:t> </a:t>
            </a:r>
            <a:r>
              <a:rPr sz="900" dirty="0">
                <a:solidFill>
                  <a:srgbClr val="3333B2"/>
                </a:solidFill>
                <a:latin typeface="Arial"/>
                <a:cs typeface="Arial"/>
              </a:rPr>
              <a:t>as</a:t>
            </a:r>
            <a:r>
              <a:rPr sz="900" spc="-20" dirty="0">
                <a:solidFill>
                  <a:srgbClr val="3333B2"/>
                </a:solidFill>
                <a:latin typeface="Arial"/>
                <a:cs typeface="Arial"/>
              </a:rPr>
              <a:t> </a:t>
            </a:r>
            <a:r>
              <a:rPr sz="900" dirty="0">
                <a:solidFill>
                  <a:srgbClr val="3333B2"/>
                </a:solidFill>
                <a:latin typeface="Arial"/>
                <a:cs typeface="Arial"/>
              </a:rPr>
              <a:t>intended</a:t>
            </a:r>
            <a:r>
              <a:rPr sz="900" spc="-15" dirty="0">
                <a:solidFill>
                  <a:srgbClr val="3333B2"/>
                </a:solidFill>
                <a:latin typeface="Arial"/>
                <a:cs typeface="Arial"/>
              </a:rPr>
              <a:t> </a:t>
            </a:r>
            <a:r>
              <a:rPr sz="900" dirty="0">
                <a:solidFill>
                  <a:srgbClr val="3333B2"/>
                </a:solidFill>
                <a:latin typeface="Arial"/>
                <a:cs typeface="Arial"/>
              </a:rPr>
              <a:t>by</a:t>
            </a:r>
            <a:r>
              <a:rPr sz="900" spc="-20" dirty="0">
                <a:solidFill>
                  <a:srgbClr val="3333B2"/>
                </a:solidFill>
                <a:latin typeface="Arial"/>
                <a:cs typeface="Arial"/>
              </a:rPr>
              <a:t> </a:t>
            </a:r>
            <a:r>
              <a:rPr sz="900" dirty="0">
                <a:solidFill>
                  <a:srgbClr val="3333B2"/>
                </a:solidFill>
                <a:latin typeface="Arial"/>
                <a:cs typeface="Arial"/>
              </a:rPr>
              <a:t>the</a:t>
            </a:r>
            <a:r>
              <a:rPr sz="900" spc="-20" dirty="0">
                <a:solidFill>
                  <a:srgbClr val="3333B2"/>
                </a:solidFill>
                <a:latin typeface="Arial"/>
                <a:cs typeface="Arial"/>
              </a:rPr>
              <a:t> </a:t>
            </a:r>
            <a:r>
              <a:rPr sz="900" spc="-10" dirty="0">
                <a:solidFill>
                  <a:srgbClr val="3333B2"/>
                </a:solidFill>
                <a:latin typeface="Arial"/>
                <a:cs typeface="Arial"/>
              </a:rPr>
              <a:t>sender</a:t>
            </a:r>
            <a:r>
              <a:rPr sz="900" spc="-10" dirty="0">
                <a:latin typeface="Arial"/>
                <a:cs typeface="Arial"/>
              </a:rPr>
              <a:t>.</a:t>
            </a:r>
            <a:endParaRPr sz="900" dirty="0">
              <a:latin typeface="Arial"/>
              <a:cs typeface="Arial"/>
            </a:endParaRPr>
          </a:p>
        </p:txBody>
      </p:sp>
      <p:pic>
        <p:nvPicPr>
          <p:cNvPr id="5" name="object 5"/>
          <p:cNvPicPr/>
          <p:nvPr/>
        </p:nvPicPr>
        <p:blipFill>
          <a:blip r:embed="rId5" cstate="print"/>
          <a:stretch>
            <a:fillRect/>
          </a:stretch>
        </p:blipFill>
        <p:spPr>
          <a:xfrm>
            <a:off x="671482" y="1134354"/>
            <a:ext cx="3263765" cy="1046917"/>
          </a:xfrm>
          <a:prstGeom prst="rect">
            <a:avLst/>
          </a:prstGeom>
        </p:spPr>
      </p:pic>
      <p:pic>
        <p:nvPicPr>
          <p:cNvPr id="6" name="object 6"/>
          <p:cNvPicPr/>
          <p:nvPr/>
        </p:nvPicPr>
        <p:blipFill>
          <a:blip r:embed="rId6" cstate="print"/>
          <a:stretch>
            <a:fillRect/>
          </a:stretch>
        </p:blipFill>
        <p:spPr>
          <a:xfrm>
            <a:off x="671482" y="2238984"/>
            <a:ext cx="3263765" cy="867228"/>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35623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Introduction</a:t>
            </a:r>
            <a:endParaRPr sz="500">
              <a:latin typeface="Arial"/>
              <a:cs typeface="Arial"/>
            </a:endParaRPr>
          </a:p>
        </p:txBody>
      </p:sp>
    </p:spTree>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A751D-8003-2E85-5ADF-1877E0DBE86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6EA3957-C649-0FDB-BFD0-0637A1D08706}"/>
              </a:ext>
            </a:extLst>
          </p:cNvPr>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639820" algn="l"/>
              </a:tabLst>
            </a:pPr>
            <a:r>
              <a:rPr sz="500" spc="-10" dirty="0">
                <a:latin typeface="Arial"/>
                <a:cs typeface="Arial"/>
                <a:hlinkClick r:id="rId3" action="ppaction://hlinksldjump"/>
              </a:rPr>
              <a:t>Fault</a:t>
            </a:r>
            <a:r>
              <a:rPr sz="500" spc="5" dirty="0">
                <a:latin typeface="Arial"/>
                <a:cs typeface="Arial"/>
                <a:hlinkClick r:id="rId3" action="ppaction://hlinksldjump"/>
              </a:rPr>
              <a:t> </a:t>
            </a:r>
            <a:r>
              <a:rPr sz="500" spc="-10" dirty="0">
                <a:latin typeface="Arial"/>
                <a:cs typeface="Arial"/>
                <a:hlinkClick r:id="rId3" action="ppaction://hlinksldjump"/>
              </a:rPr>
              <a:t>tolerance</a:t>
            </a:r>
            <a:r>
              <a:rPr sz="500" dirty="0">
                <a:latin typeface="Arial"/>
                <a:cs typeface="Arial"/>
              </a:rPr>
              <a:t>	</a:t>
            </a:r>
            <a:r>
              <a:rPr sz="500" dirty="0">
                <a:solidFill>
                  <a:srgbClr val="FFFFFF"/>
                </a:solidFill>
                <a:latin typeface="Arial"/>
                <a:cs typeface="Arial"/>
                <a:hlinkClick r:id="rId4" action="ppaction://hlinksldjump"/>
              </a:rPr>
              <a:t>Reliable</a:t>
            </a:r>
            <a:r>
              <a:rPr sz="500" spc="-30" dirty="0">
                <a:solidFill>
                  <a:srgbClr val="FFFFFF"/>
                </a:solidFill>
                <a:latin typeface="Arial"/>
                <a:cs typeface="Arial"/>
                <a:hlinkClick r:id="rId4" action="ppaction://hlinksldjump"/>
              </a:rPr>
              <a:t> </a:t>
            </a:r>
            <a:r>
              <a:rPr sz="500" dirty="0">
                <a:solidFill>
                  <a:srgbClr val="FFFFFF"/>
                </a:solidFill>
                <a:latin typeface="Arial"/>
                <a:cs typeface="Arial"/>
                <a:hlinkClick r:id="rId4" action="ppaction://hlinksldjump"/>
              </a:rPr>
              <a:t>group</a:t>
            </a:r>
            <a:r>
              <a:rPr sz="500" spc="-30" dirty="0">
                <a:solidFill>
                  <a:srgbClr val="FFFFFF"/>
                </a:solidFill>
                <a:latin typeface="Arial"/>
                <a:cs typeface="Arial"/>
                <a:hlinkClick r:id="rId4" action="ppaction://hlinksldjump"/>
              </a:rPr>
              <a:t> </a:t>
            </a:r>
            <a:r>
              <a:rPr sz="500" spc="-10" dirty="0">
                <a:solidFill>
                  <a:srgbClr val="FFFFFF"/>
                </a:solidFill>
                <a:latin typeface="Arial"/>
                <a:cs typeface="Arial"/>
                <a:hlinkClick r:id="rId4" action="ppaction://hlinksldjump"/>
              </a:rPr>
              <a:t>communication</a:t>
            </a:r>
            <a:endParaRPr sz="500">
              <a:latin typeface="Arial"/>
              <a:cs typeface="Arial"/>
            </a:endParaRPr>
          </a:p>
        </p:txBody>
      </p:sp>
      <p:sp>
        <p:nvSpPr>
          <p:cNvPr id="3" name="object 3">
            <a:extLst>
              <a:ext uri="{FF2B5EF4-FFF2-40B4-BE49-F238E27FC236}">
                <a16:creationId xmlns:a16="http://schemas.microsoft.com/office/drawing/2014/main" id="{7B9FFADA-BB2F-3DEB-0CF3-DFA7BE095B13}"/>
              </a:ext>
            </a:extLst>
          </p:cNvPr>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Simple</a:t>
            </a:r>
            <a:r>
              <a:rPr spc="-55" dirty="0"/>
              <a:t> </a:t>
            </a:r>
            <a:r>
              <a:rPr dirty="0"/>
              <a:t>reliable</a:t>
            </a:r>
            <a:r>
              <a:rPr spc="-55" dirty="0"/>
              <a:t> </a:t>
            </a:r>
            <a:r>
              <a:rPr dirty="0"/>
              <a:t>group</a:t>
            </a:r>
            <a:r>
              <a:rPr spc="-55" dirty="0"/>
              <a:t> </a:t>
            </a:r>
            <a:r>
              <a:rPr spc="-10" dirty="0"/>
              <a:t>communication</a:t>
            </a:r>
          </a:p>
        </p:txBody>
      </p:sp>
      <p:sp>
        <p:nvSpPr>
          <p:cNvPr id="4" name="object 4">
            <a:extLst>
              <a:ext uri="{FF2B5EF4-FFF2-40B4-BE49-F238E27FC236}">
                <a16:creationId xmlns:a16="http://schemas.microsoft.com/office/drawing/2014/main" id="{1A452460-41B9-8B83-1D64-F49EE7E5AF85}"/>
              </a:ext>
            </a:extLst>
          </p:cNvPr>
          <p:cNvSpPr txBox="1"/>
          <p:nvPr/>
        </p:nvSpPr>
        <p:spPr>
          <a:xfrm>
            <a:off x="347294" y="471706"/>
            <a:ext cx="3929379" cy="1302279"/>
          </a:xfrm>
          <a:prstGeom prst="rect">
            <a:avLst/>
          </a:prstGeom>
        </p:spPr>
        <p:txBody>
          <a:bodyPr vert="horz" wrap="square" lIns="0" tIns="55244" rIns="0" bIns="0" rtlCol="0">
            <a:spAutoFit/>
          </a:bodyPr>
          <a:lstStyle/>
          <a:p>
            <a:pPr marL="171450" indent="-171450" algn="just">
              <a:buFont typeface="Arial" panose="020B0604020202020204" pitchFamily="34" charset="0"/>
              <a:buChar char="•"/>
            </a:pPr>
            <a:r>
              <a:rPr lang="en-US" sz="900" dirty="0">
                <a:latin typeface="Arial" panose="020B0604020202020204" pitchFamily="34" charset="0"/>
                <a:cs typeface="Arial" panose="020B0604020202020204" pitchFamily="34" charset="0"/>
              </a:rPr>
              <a:t>Sender sent a message with sequence # 25 and stored in history buffer till all acknowledgements are received. Receiver will compare the sequence number with last message, packet sequence # and send a negative acknowledgement (NACK) for the missing one and sender will send it from history buffer.</a:t>
            </a:r>
          </a:p>
          <a:p>
            <a:pPr marL="171450" indent="-171450" algn="just">
              <a:buFont typeface="Arial" panose="020B0604020202020204" pitchFamily="34" charset="0"/>
              <a:buChar char="•"/>
            </a:pPr>
            <a:r>
              <a:rPr lang="en-US" sz="900" dirty="0">
                <a:latin typeface="Arial" panose="020B0604020202020204" pitchFamily="34" charset="0"/>
                <a:cs typeface="Arial" panose="020B0604020202020204" pitchFamily="34" charset="0"/>
              </a:rPr>
              <a:t>Scalability of this solution is limited, and this approach is only applicable when group size is not very large. If there are N receivers of a message, then N acknowledgements will be received at sender side resulting in </a:t>
            </a:r>
            <a:r>
              <a:rPr lang="en-US" sz="900" dirty="0">
                <a:solidFill>
                  <a:schemeClr val="accent1">
                    <a:lumMod val="75000"/>
                  </a:schemeClr>
                </a:solidFill>
                <a:latin typeface="Arial" panose="020B0604020202020204" pitchFamily="34" charset="0"/>
                <a:cs typeface="Arial" panose="020B0604020202020204" pitchFamily="34" charset="0"/>
              </a:rPr>
              <a:t>feedback implosion</a:t>
            </a:r>
            <a:r>
              <a:rPr lang="en-US" sz="900" dirty="0">
                <a:latin typeface="Arial" panose="020B0604020202020204" pitchFamily="34" charset="0"/>
                <a:cs typeface="Arial" panose="020B0604020202020204" pitchFamily="34" charset="0"/>
              </a:rPr>
              <a:t>.</a:t>
            </a:r>
          </a:p>
        </p:txBody>
      </p:sp>
      <p:grpSp>
        <p:nvGrpSpPr>
          <p:cNvPr id="7" name="object 7">
            <a:extLst>
              <a:ext uri="{FF2B5EF4-FFF2-40B4-BE49-F238E27FC236}">
                <a16:creationId xmlns:a16="http://schemas.microsoft.com/office/drawing/2014/main" id="{44CFAEB3-7C27-59F9-96EE-AD3B1FEC44DB}"/>
              </a:ext>
            </a:extLst>
          </p:cNvPr>
          <p:cNvGrpSpPr/>
          <p:nvPr/>
        </p:nvGrpSpPr>
        <p:grpSpPr>
          <a:xfrm>
            <a:off x="0" y="3348469"/>
            <a:ext cx="4608195" cy="107950"/>
            <a:chOff x="0" y="3348469"/>
            <a:chExt cx="4608195" cy="107950"/>
          </a:xfrm>
        </p:grpSpPr>
        <p:sp>
          <p:nvSpPr>
            <p:cNvPr id="8" name="object 8">
              <a:extLst>
                <a:ext uri="{FF2B5EF4-FFF2-40B4-BE49-F238E27FC236}">
                  <a16:creationId xmlns:a16="http://schemas.microsoft.com/office/drawing/2014/main" id="{E1F8B6D8-F1A0-C171-E69A-83409C796BF6}"/>
                </a:ext>
              </a:extLst>
            </p:cNvPr>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a:extLst>
                <a:ext uri="{FF2B5EF4-FFF2-40B4-BE49-F238E27FC236}">
                  <a16:creationId xmlns:a16="http://schemas.microsoft.com/office/drawing/2014/main" id="{C0AED587-3F07-F9BF-987A-585C148F898B}"/>
                </a:ext>
              </a:extLst>
            </p:cNvPr>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B13A15C2-C19C-5FD4-7011-EB3B19803926}"/>
              </a:ext>
            </a:extLst>
          </p:cNvPr>
          <p:cNvSpPr txBox="1"/>
          <p:nvPr/>
        </p:nvSpPr>
        <p:spPr>
          <a:xfrm>
            <a:off x="53467" y="3349927"/>
            <a:ext cx="35623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Introduction</a:t>
            </a:r>
            <a:endParaRPr sz="500">
              <a:latin typeface="Arial"/>
              <a:cs typeface="Arial"/>
            </a:endParaRPr>
          </a:p>
        </p:txBody>
      </p:sp>
    </p:spTree>
    <p:extLst>
      <p:ext uri="{BB962C8B-B14F-4D97-AF65-F5344CB8AC3E}">
        <p14:creationId xmlns:p14="http://schemas.microsoft.com/office/powerpoint/2010/main" val="1141648587"/>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42E15-F681-6C68-D6BD-6AFAE406743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5FB0B73-EADE-7594-9207-E8F1DB3554C9}"/>
              </a:ext>
            </a:extLst>
          </p:cNvPr>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639820" algn="l"/>
              </a:tabLst>
            </a:pPr>
            <a:r>
              <a:rPr sz="500" spc="-10" dirty="0">
                <a:latin typeface="Arial"/>
                <a:cs typeface="Arial"/>
                <a:hlinkClick r:id="rId3" action="ppaction://hlinksldjump"/>
              </a:rPr>
              <a:t>Fault</a:t>
            </a:r>
            <a:r>
              <a:rPr sz="500" spc="5" dirty="0">
                <a:latin typeface="Arial"/>
                <a:cs typeface="Arial"/>
                <a:hlinkClick r:id="rId3" action="ppaction://hlinksldjump"/>
              </a:rPr>
              <a:t> </a:t>
            </a:r>
            <a:r>
              <a:rPr sz="500" spc="-10" dirty="0">
                <a:latin typeface="Arial"/>
                <a:cs typeface="Arial"/>
                <a:hlinkClick r:id="rId3" action="ppaction://hlinksldjump"/>
              </a:rPr>
              <a:t>tolerance</a:t>
            </a:r>
            <a:r>
              <a:rPr sz="500" dirty="0">
                <a:latin typeface="Arial"/>
                <a:cs typeface="Arial"/>
              </a:rPr>
              <a:t>	</a:t>
            </a:r>
            <a:r>
              <a:rPr sz="500" dirty="0">
                <a:solidFill>
                  <a:srgbClr val="FFFFFF"/>
                </a:solidFill>
                <a:latin typeface="Arial"/>
                <a:cs typeface="Arial"/>
                <a:hlinkClick r:id="rId4" action="ppaction://hlinksldjump"/>
              </a:rPr>
              <a:t>Reliable</a:t>
            </a:r>
            <a:r>
              <a:rPr sz="500" spc="-30" dirty="0">
                <a:solidFill>
                  <a:srgbClr val="FFFFFF"/>
                </a:solidFill>
                <a:latin typeface="Arial"/>
                <a:cs typeface="Arial"/>
                <a:hlinkClick r:id="rId4" action="ppaction://hlinksldjump"/>
              </a:rPr>
              <a:t> </a:t>
            </a:r>
            <a:r>
              <a:rPr sz="500" dirty="0">
                <a:solidFill>
                  <a:srgbClr val="FFFFFF"/>
                </a:solidFill>
                <a:latin typeface="Arial"/>
                <a:cs typeface="Arial"/>
                <a:hlinkClick r:id="rId4" action="ppaction://hlinksldjump"/>
              </a:rPr>
              <a:t>group</a:t>
            </a:r>
            <a:r>
              <a:rPr sz="500" spc="-30" dirty="0">
                <a:solidFill>
                  <a:srgbClr val="FFFFFF"/>
                </a:solidFill>
                <a:latin typeface="Arial"/>
                <a:cs typeface="Arial"/>
                <a:hlinkClick r:id="rId4" action="ppaction://hlinksldjump"/>
              </a:rPr>
              <a:t> </a:t>
            </a:r>
            <a:r>
              <a:rPr sz="500" spc="-10" dirty="0">
                <a:solidFill>
                  <a:srgbClr val="FFFFFF"/>
                </a:solidFill>
                <a:latin typeface="Arial"/>
                <a:cs typeface="Arial"/>
                <a:hlinkClick r:id="rId4" action="ppaction://hlinksldjump"/>
              </a:rPr>
              <a:t>communication</a:t>
            </a:r>
            <a:endParaRPr sz="500">
              <a:latin typeface="Arial"/>
              <a:cs typeface="Arial"/>
            </a:endParaRPr>
          </a:p>
        </p:txBody>
      </p:sp>
      <p:sp>
        <p:nvSpPr>
          <p:cNvPr id="3" name="object 3">
            <a:extLst>
              <a:ext uri="{FF2B5EF4-FFF2-40B4-BE49-F238E27FC236}">
                <a16:creationId xmlns:a16="http://schemas.microsoft.com/office/drawing/2014/main" id="{F9FDB362-F5A2-ABD5-319B-1C728EFA2245}"/>
              </a:ext>
            </a:extLst>
          </p:cNvPr>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Simple</a:t>
            </a:r>
            <a:r>
              <a:rPr spc="-55" dirty="0"/>
              <a:t> </a:t>
            </a:r>
            <a:r>
              <a:rPr dirty="0"/>
              <a:t>reliable</a:t>
            </a:r>
            <a:r>
              <a:rPr spc="-55" dirty="0"/>
              <a:t> </a:t>
            </a:r>
            <a:r>
              <a:rPr dirty="0"/>
              <a:t>group</a:t>
            </a:r>
            <a:r>
              <a:rPr spc="-55" dirty="0"/>
              <a:t> </a:t>
            </a:r>
            <a:r>
              <a:rPr spc="-10" dirty="0"/>
              <a:t>communication</a:t>
            </a:r>
          </a:p>
        </p:txBody>
      </p:sp>
      <p:sp>
        <p:nvSpPr>
          <p:cNvPr id="4" name="object 4">
            <a:extLst>
              <a:ext uri="{FF2B5EF4-FFF2-40B4-BE49-F238E27FC236}">
                <a16:creationId xmlns:a16="http://schemas.microsoft.com/office/drawing/2014/main" id="{4C8ED387-1174-4B5B-C152-E4E18A7214D8}"/>
              </a:ext>
            </a:extLst>
          </p:cNvPr>
          <p:cNvSpPr txBox="1"/>
          <p:nvPr/>
        </p:nvSpPr>
        <p:spPr>
          <a:xfrm>
            <a:off x="347294" y="471706"/>
            <a:ext cx="3929379" cy="1717777"/>
          </a:xfrm>
          <a:prstGeom prst="rect">
            <a:avLst/>
          </a:prstGeom>
        </p:spPr>
        <p:txBody>
          <a:bodyPr vert="horz" wrap="square" lIns="0" tIns="55244" rIns="0" bIns="0" rtlCol="0">
            <a:spAutoFit/>
          </a:bodyPr>
          <a:lstStyle/>
          <a:p>
            <a:pPr marL="171450" indent="-171450" algn="just">
              <a:buFont typeface="Arial" panose="020B0604020202020204" pitchFamily="34" charset="0"/>
              <a:buChar char="•"/>
            </a:pPr>
            <a:r>
              <a:rPr lang="en-US" sz="900" dirty="0">
                <a:latin typeface="Arial" panose="020B0604020202020204" pitchFamily="34" charset="0"/>
                <a:cs typeface="Arial" panose="020B0604020202020204" pitchFamily="34" charset="0"/>
              </a:rPr>
              <a:t>Sender sent a message with sequence # 25 and stored in history buffer till all acknowledgements are received. Receiver will compare the sequence number with last message, packet sequence # and send a negative acknowledgement (NACK) for the missing one and sender will send it from history buffer.</a:t>
            </a:r>
          </a:p>
          <a:p>
            <a:pPr marL="171450" indent="-171450" algn="just">
              <a:buFont typeface="Arial" panose="020B0604020202020204" pitchFamily="34" charset="0"/>
              <a:buChar char="•"/>
            </a:pPr>
            <a:r>
              <a:rPr lang="en-US" sz="900" dirty="0">
                <a:latin typeface="Arial" panose="020B0604020202020204" pitchFamily="34" charset="0"/>
                <a:cs typeface="Arial" panose="020B0604020202020204" pitchFamily="34" charset="0"/>
              </a:rPr>
              <a:t>Scalability of this solution is limited, and this approach is only applicable when group size is not very large. If there are N receivers of a message, then N acknowledgements will be received at sender side resulting in </a:t>
            </a:r>
            <a:r>
              <a:rPr lang="en-US" sz="900" dirty="0">
                <a:solidFill>
                  <a:schemeClr val="accent1">
                    <a:lumMod val="75000"/>
                  </a:schemeClr>
                </a:solidFill>
                <a:latin typeface="Arial" panose="020B0604020202020204" pitchFamily="34" charset="0"/>
                <a:cs typeface="Arial" panose="020B0604020202020204" pitchFamily="34" charset="0"/>
              </a:rPr>
              <a:t>feedback implosion</a:t>
            </a:r>
            <a:r>
              <a:rPr lang="en-US" sz="900" dirty="0">
                <a:latin typeface="Arial" panose="020B0604020202020204" pitchFamily="34" charset="0"/>
                <a:cs typeface="Arial" panose="020B0604020202020204" pitchFamily="34" charset="0"/>
              </a:rPr>
              <a:t>.</a:t>
            </a:r>
          </a:p>
          <a:p>
            <a:pPr marL="171450" indent="-171450" algn="just">
              <a:buFont typeface="Arial" panose="020B0604020202020204" pitchFamily="34" charset="0"/>
              <a:buChar char="•"/>
            </a:pPr>
            <a:endParaRPr lang="en-US" sz="900" dirty="0">
              <a:latin typeface="Arial" panose="020B0604020202020204" pitchFamily="34" charset="0"/>
              <a:cs typeface="Arial" panose="020B0604020202020204" pitchFamily="34" charset="0"/>
            </a:endParaRPr>
          </a:p>
          <a:p>
            <a:pPr algn="just"/>
            <a:r>
              <a:rPr lang="en-US" sz="900" dirty="0">
                <a:solidFill>
                  <a:srgbClr val="FF0000"/>
                </a:solidFill>
                <a:latin typeface="Arial" panose="020B0604020202020204" pitchFamily="34" charset="0"/>
                <a:cs typeface="Arial" panose="020B0604020202020204" pitchFamily="34" charset="0"/>
              </a:rPr>
              <a:t>Problem</a:t>
            </a:r>
          </a:p>
          <a:p>
            <a:pPr algn="just"/>
            <a:r>
              <a:rPr lang="en-US" sz="900" dirty="0">
                <a:latin typeface="Arial" panose="020B0604020202020204" pitchFamily="34" charset="0"/>
                <a:cs typeface="Arial" panose="020B0604020202020204" pitchFamily="34" charset="0"/>
              </a:rPr>
              <a:t>How to reduce number of messages (ACKs) from receiver?</a:t>
            </a:r>
          </a:p>
        </p:txBody>
      </p:sp>
      <p:grpSp>
        <p:nvGrpSpPr>
          <p:cNvPr id="7" name="object 7">
            <a:extLst>
              <a:ext uri="{FF2B5EF4-FFF2-40B4-BE49-F238E27FC236}">
                <a16:creationId xmlns:a16="http://schemas.microsoft.com/office/drawing/2014/main" id="{8068356B-7A4E-C3E9-90B9-774751733ADD}"/>
              </a:ext>
            </a:extLst>
          </p:cNvPr>
          <p:cNvGrpSpPr/>
          <p:nvPr/>
        </p:nvGrpSpPr>
        <p:grpSpPr>
          <a:xfrm>
            <a:off x="0" y="3348469"/>
            <a:ext cx="4608195" cy="107950"/>
            <a:chOff x="0" y="3348469"/>
            <a:chExt cx="4608195" cy="107950"/>
          </a:xfrm>
        </p:grpSpPr>
        <p:sp>
          <p:nvSpPr>
            <p:cNvPr id="8" name="object 8">
              <a:extLst>
                <a:ext uri="{FF2B5EF4-FFF2-40B4-BE49-F238E27FC236}">
                  <a16:creationId xmlns:a16="http://schemas.microsoft.com/office/drawing/2014/main" id="{ECF51BCA-626D-EE99-1053-1980942EF351}"/>
                </a:ext>
              </a:extLst>
            </p:cNvPr>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a:extLst>
                <a:ext uri="{FF2B5EF4-FFF2-40B4-BE49-F238E27FC236}">
                  <a16:creationId xmlns:a16="http://schemas.microsoft.com/office/drawing/2014/main" id="{9B9180DD-A6E1-B7C6-024B-1A3155CFB23D}"/>
                </a:ext>
              </a:extLst>
            </p:cNvPr>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01AD5820-B4A7-958C-B5D5-34FEA313B749}"/>
              </a:ext>
            </a:extLst>
          </p:cNvPr>
          <p:cNvSpPr txBox="1"/>
          <p:nvPr/>
        </p:nvSpPr>
        <p:spPr>
          <a:xfrm>
            <a:off x="53467" y="3349927"/>
            <a:ext cx="35623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Introduction</a:t>
            </a:r>
            <a:endParaRPr sz="500">
              <a:latin typeface="Arial"/>
              <a:cs typeface="Arial"/>
            </a:endParaRPr>
          </a:p>
        </p:txBody>
      </p:sp>
    </p:spTree>
    <p:extLst>
      <p:ext uri="{BB962C8B-B14F-4D97-AF65-F5344CB8AC3E}">
        <p14:creationId xmlns:p14="http://schemas.microsoft.com/office/powerpoint/2010/main" val="3498798358"/>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FCCFE-BE96-711F-C3B1-6FE579A6282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92F4026-3B80-7DF8-86E4-2D39FBFFA5A4}"/>
              </a:ext>
            </a:extLst>
          </p:cNvPr>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639820" algn="l"/>
              </a:tabLst>
            </a:pPr>
            <a:r>
              <a:rPr sz="500" spc="-10" dirty="0">
                <a:latin typeface="Arial"/>
                <a:cs typeface="Arial"/>
                <a:hlinkClick r:id="rId3" action="ppaction://hlinksldjump"/>
              </a:rPr>
              <a:t>Fault</a:t>
            </a:r>
            <a:r>
              <a:rPr sz="500" spc="5" dirty="0">
                <a:latin typeface="Arial"/>
                <a:cs typeface="Arial"/>
                <a:hlinkClick r:id="rId3" action="ppaction://hlinksldjump"/>
              </a:rPr>
              <a:t> </a:t>
            </a:r>
            <a:r>
              <a:rPr sz="500" spc="-10" dirty="0">
                <a:latin typeface="Arial"/>
                <a:cs typeface="Arial"/>
                <a:hlinkClick r:id="rId3" action="ppaction://hlinksldjump"/>
              </a:rPr>
              <a:t>tolerance</a:t>
            </a:r>
            <a:r>
              <a:rPr sz="500" dirty="0">
                <a:latin typeface="Arial"/>
                <a:cs typeface="Arial"/>
              </a:rPr>
              <a:t>	</a:t>
            </a:r>
            <a:r>
              <a:rPr sz="500" dirty="0">
                <a:solidFill>
                  <a:srgbClr val="FFFFFF"/>
                </a:solidFill>
                <a:latin typeface="Arial"/>
                <a:cs typeface="Arial"/>
                <a:hlinkClick r:id="rId4" action="ppaction://hlinksldjump"/>
              </a:rPr>
              <a:t>Reliable</a:t>
            </a:r>
            <a:r>
              <a:rPr sz="500" spc="-30" dirty="0">
                <a:solidFill>
                  <a:srgbClr val="FFFFFF"/>
                </a:solidFill>
                <a:latin typeface="Arial"/>
                <a:cs typeface="Arial"/>
                <a:hlinkClick r:id="rId4" action="ppaction://hlinksldjump"/>
              </a:rPr>
              <a:t> </a:t>
            </a:r>
            <a:r>
              <a:rPr sz="500" dirty="0">
                <a:solidFill>
                  <a:srgbClr val="FFFFFF"/>
                </a:solidFill>
                <a:latin typeface="Arial"/>
                <a:cs typeface="Arial"/>
                <a:hlinkClick r:id="rId4" action="ppaction://hlinksldjump"/>
              </a:rPr>
              <a:t>group</a:t>
            </a:r>
            <a:r>
              <a:rPr sz="500" spc="-30" dirty="0">
                <a:solidFill>
                  <a:srgbClr val="FFFFFF"/>
                </a:solidFill>
                <a:latin typeface="Arial"/>
                <a:cs typeface="Arial"/>
                <a:hlinkClick r:id="rId4" action="ppaction://hlinksldjump"/>
              </a:rPr>
              <a:t> </a:t>
            </a:r>
            <a:r>
              <a:rPr sz="500" spc="-10" dirty="0">
                <a:solidFill>
                  <a:srgbClr val="FFFFFF"/>
                </a:solidFill>
                <a:latin typeface="Arial"/>
                <a:cs typeface="Arial"/>
                <a:hlinkClick r:id="rId4" action="ppaction://hlinksldjump"/>
              </a:rPr>
              <a:t>communication</a:t>
            </a:r>
            <a:endParaRPr sz="500">
              <a:latin typeface="Arial"/>
              <a:cs typeface="Arial"/>
            </a:endParaRPr>
          </a:p>
        </p:txBody>
      </p:sp>
      <p:sp>
        <p:nvSpPr>
          <p:cNvPr id="3" name="object 3">
            <a:extLst>
              <a:ext uri="{FF2B5EF4-FFF2-40B4-BE49-F238E27FC236}">
                <a16:creationId xmlns:a16="http://schemas.microsoft.com/office/drawing/2014/main" id="{A8542672-661F-5C7A-7BC5-24033980834E}"/>
              </a:ext>
            </a:extLst>
          </p:cNvPr>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Simple</a:t>
            </a:r>
            <a:r>
              <a:rPr spc="-55" dirty="0"/>
              <a:t> </a:t>
            </a:r>
            <a:r>
              <a:rPr dirty="0"/>
              <a:t>reliable</a:t>
            </a:r>
            <a:r>
              <a:rPr spc="-55" dirty="0"/>
              <a:t> </a:t>
            </a:r>
            <a:r>
              <a:rPr dirty="0"/>
              <a:t>group</a:t>
            </a:r>
            <a:r>
              <a:rPr spc="-55" dirty="0"/>
              <a:t> </a:t>
            </a:r>
            <a:r>
              <a:rPr spc="-10" dirty="0"/>
              <a:t>communication</a:t>
            </a:r>
          </a:p>
        </p:txBody>
      </p:sp>
      <p:sp>
        <p:nvSpPr>
          <p:cNvPr id="4" name="object 4">
            <a:extLst>
              <a:ext uri="{FF2B5EF4-FFF2-40B4-BE49-F238E27FC236}">
                <a16:creationId xmlns:a16="http://schemas.microsoft.com/office/drawing/2014/main" id="{D540A1C4-0FBB-B867-2C64-32C35B5FC569}"/>
              </a:ext>
            </a:extLst>
          </p:cNvPr>
          <p:cNvSpPr txBox="1"/>
          <p:nvPr/>
        </p:nvSpPr>
        <p:spPr>
          <a:xfrm>
            <a:off x="347294" y="471706"/>
            <a:ext cx="3929379" cy="2410274"/>
          </a:xfrm>
          <a:prstGeom prst="rect">
            <a:avLst/>
          </a:prstGeom>
        </p:spPr>
        <p:txBody>
          <a:bodyPr vert="horz" wrap="square" lIns="0" tIns="55244" rIns="0" bIns="0" rtlCol="0">
            <a:spAutoFit/>
          </a:bodyPr>
          <a:lstStyle/>
          <a:p>
            <a:pPr marL="171450" indent="-171450" algn="just">
              <a:buFont typeface="Arial" panose="020B0604020202020204" pitchFamily="34" charset="0"/>
              <a:buChar char="•"/>
            </a:pPr>
            <a:r>
              <a:rPr lang="en-US" sz="900" dirty="0">
                <a:latin typeface="Arial" panose="020B0604020202020204" pitchFamily="34" charset="0"/>
                <a:cs typeface="Arial" panose="020B0604020202020204" pitchFamily="34" charset="0"/>
              </a:rPr>
              <a:t>Sender sent a message with sequence # 25 and stored in history buffer till all acknowledgements are received. Receiver will compare the sequence number with last message, packet sequence # and send a negative acknowledgement (NACK) for the missing one and sender will send it from history buffer.</a:t>
            </a:r>
          </a:p>
          <a:p>
            <a:pPr marL="171450" indent="-171450" algn="just">
              <a:buFont typeface="Arial" panose="020B0604020202020204" pitchFamily="34" charset="0"/>
              <a:buChar char="•"/>
            </a:pPr>
            <a:r>
              <a:rPr lang="en-US" sz="900" dirty="0">
                <a:latin typeface="Arial" panose="020B0604020202020204" pitchFamily="34" charset="0"/>
                <a:cs typeface="Arial" panose="020B0604020202020204" pitchFamily="34" charset="0"/>
              </a:rPr>
              <a:t>Scalability of this solution is limited, and this approach is only applicable when group size is not very large. If there are N receivers of a message, then N acknowledgements will be received at sender side resulting in </a:t>
            </a:r>
            <a:r>
              <a:rPr lang="en-US" sz="900" dirty="0">
                <a:solidFill>
                  <a:schemeClr val="accent1">
                    <a:lumMod val="75000"/>
                  </a:schemeClr>
                </a:solidFill>
                <a:latin typeface="Arial" panose="020B0604020202020204" pitchFamily="34" charset="0"/>
                <a:cs typeface="Arial" panose="020B0604020202020204" pitchFamily="34" charset="0"/>
              </a:rPr>
              <a:t>feedback implosion</a:t>
            </a:r>
            <a:r>
              <a:rPr lang="en-US" sz="900" dirty="0">
                <a:latin typeface="Arial" panose="020B0604020202020204" pitchFamily="34" charset="0"/>
                <a:cs typeface="Arial" panose="020B0604020202020204" pitchFamily="34" charset="0"/>
              </a:rPr>
              <a:t>.</a:t>
            </a:r>
          </a:p>
          <a:p>
            <a:pPr marL="171450" indent="-171450" algn="just">
              <a:buFont typeface="Arial" panose="020B0604020202020204" pitchFamily="34" charset="0"/>
              <a:buChar char="•"/>
            </a:pPr>
            <a:endParaRPr lang="en-US" sz="900" dirty="0">
              <a:latin typeface="Arial" panose="020B0604020202020204" pitchFamily="34" charset="0"/>
              <a:cs typeface="Arial" panose="020B0604020202020204" pitchFamily="34" charset="0"/>
            </a:endParaRPr>
          </a:p>
          <a:p>
            <a:pPr algn="just"/>
            <a:r>
              <a:rPr lang="en-US" sz="900" dirty="0">
                <a:solidFill>
                  <a:srgbClr val="FF0000"/>
                </a:solidFill>
                <a:latin typeface="Arial" panose="020B0604020202020204" pitchFamily="34" charset="0"/>
                <a:cs typeface="Arial" panose="020B0604020202020204" pitchFamily="34" charset="0"/>
              </a:rPr>
              <a:t>Problem</a:t>
            </a:r>
          </a:p>
          <a:p>
            <a:pPr algn="just"/>
            <a:r>
              <a:rPr lang="en-US" sz="900" dirty="0">
                <a:latin typeface="Arial" panose="020B0604020202020204" pitchFamily="34" charset="0"/>
                <a:cs typeface="Arial" panose="020B0604020202020204" pitchFamily="34" charset="0"/>
              </a:rPr>
              <a:t>How to reduce number of messages (ACKs) from receiver?</a:t>
            </a:r>
          </a:p>
          <a:p>
            <a:pPr algn="just"/>
            <a:endParaRPr lang="en-US" sz="900" dirty="0">
              <a:latin typeface="Arial" panose="020B0604020202020204" pitchFamily="34" charset="0"/>
              <a:cs typeface="Arial" panose="020B0604020202020204" pitchFamily="34" charset="0"/>
            </a:endParaRPr>
          </a:p>
          <a:p>
            <a:pPr algn="just"/>
            <a:r>
              <a:rPr lang="en-US" sz="900" dirty="0">
                <a:solidFill>
                  <a:srgbClr val="00B050"/>
                </a:solidFill>
                <a:latin typeface="Arial" panose="020B0604020202020204" pitchFamily="34" charset="0"/>
                <a:cs typeface="Arial" panose="020B0604020202020204" pitchFamily="34" charset="0"/>
              </a:rPr>
              <a:t>Solution</a:t>
            </a:r>
          </a:p>
          <a:p>
            <a:pPr algn="just"/>
            <a:r>
              <a:rPr lang="en-US" sz="900" dirty="0">
                <a:latin typeface="Arial" panose="020B0604020202020204" pitchFamily="34" charset="0"/>
                <a:cs typeface="Arial" panose="020B0604020202020204" pitchFamily="34" charset="0"/>
              </a:rPr>
              <a:t>Only those receivers are allowed to respond who have not received the message (NACKs). </a:t>
            </a:r>
            <a:r>
              <a:rPr lang="en-US" sz="900" dirty="0">
                <a:solidFill>
                  <a:schemeClr val="accent1">
                    <a:lumMod val="75000"/>
                  </a:schemeClr>
                </a:solidFill>
                <a:latin typeface="Arial" panose="020B0604020202020204" pitchFamily="34" charset="0"/>
                <a:cs typeface="Arial" panose="020B0604020202020204" pitchFamily="34" charset="0"/>
              </a:rPr>
              <a:t>Non-hierarchical feedback control </a:t>
            </a:r>
            <a:r>
              <a:rPr lang="en-US" sz="900" dirty="0">
                <a:solidFill>
                  <a:schemeClr val="tx1"/>
                </a:solidFill>
                <a:latin typeface="Arial" panose="020B0604020202020204" pitchFamily="34" charset="0"/>
                <a:cs typeface="Arial" panose="020B0604020202020204" pitchFamily="34" charset="0"/>
              </a:rPr>
              <a:t>or</a:t>
            </a:r>
            <a:r>
              <a:rPr lang="en-US" sz="900" dirty="0">
                <a:solidFill>
                  <a:schemeClr val="accent1">
                    <a:lumMod val="75000"/>
                  </a:schemeClr>
                </a:solidFill>
                <a:latin typeface="Arial" panose="020B0604020202020204" pitchFamily="34" charset="0"/>
                <a:cs typeface="Arial" panose="020B0604020202020204" pitchFamily="34" charset="0"/>
              </a:rPr>
              <a:t> feedback suppression</a:t>
            </a:r>
          </a:p>
        </p:txBody>
      </p:sp>
      <p:grpSp>
        <p:nvGrpSpPr>
          <p:cNvPr id="7" name="object 7">
            <a:extLst>
              <a:ext uri="{FF2B5EF4-FFF2-40B4-BE49-F238E27FC236}">
                <a16:creationId xmlns:a16="http://schemas.microsoft.com/office/drawing/2014/main" id="{B6C1B9D9-356A-1DA9-68EA-069BC209388C}"/>
              </a:ext>
            </a:extLst>
          </p:cNvPr>
          <p:cNvGrpSpPr/>
          <p:nvPr/>
        </p:nvGrpSpPr>
        <p:grpSpPr>
          <a:xfrm>
            <a:off x="0" y="3348469"/>
            <a:ext cx="4608195" cy="107950"/>
            <a:chOff x="0" y="3348469"/>
            <a:chExt cx="4608195" cy="107950"/>
          </a:xfrm>
        </p:grpSpPr>
        <p:sp>
          <p:nvSpPr>
            <p:cNvPr id="8" name="object 8">
              <a:extLst>
                <a:ext uri="{FF2B5EF4-FFF2-40B4-BE49-F238E27FC236}">
                  <a16:creationId xmlns:a16="http://schemas.microsoft.com/office/drawing/2014/main" id="{E48CB899-BBAC-8A7B-8F5A-E0FF601E6D5B}"/>
                </a:ext>
              </a:extLst>
            </p:cNvPr>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a:extLst>
                <a:ext uri="{FF2B5EF4-FFF2-40B4-BE49-F238E27FC236}">
                  <a16:creationId xmlns:a16="http://schemas.microsoft.com/office/drawing/2014/main" id="{68055B25-4342-857B-8714-60A1907EB845}"/>
                </a:ext>
              </a:extLst>
            </p:cNvPr>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9AE77BEE-2758-5A52-32B4-AE1ED5554489}"/>
              </a:ext>
            </a:extLst>
          </p:cNvPr>
          <p:cNvSpPr txBox="1"/>
          <p:nvPr/>
        </p:nvSpPr>
        <p:spPr>
          <a:xfrm>
            <a:off x="53467" y="3349927"/>
            <a:ext cx="35623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Introduction</a:t>
            </a:r>
            <a:endParaRPr sz="500">
              <a:latin typeface="Arial"/>
              <a:cs typeface="Arial"/>
            </a:endParaRPr>
          </a:p>
        </p:txBody>
      </p:sp>
    </p:spTree>
    <p:extLst>
      <p:ext uri="{BB962C8B-B14F-4D97-AF65-F5344CB8AC3E}">
        <p14:creationId xmlns:p14="http://schemas.microsoft.com/office/powerpoint/2010/main" val="150016698"/>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6D53B-DB3F-8117-98D9-385A5AF64E3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056EF9C-E098-A0D3-CD52-74AF70FC1283}"/>
              </a:ext>
            </a:extLst>
          </p:cNvPr>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639820" algn="l"/>
              </a:tabLst>
            </a:pPr>
            <a:r>
              <a:rPr sz="500" spc="-10" dirty="0">
                <a:latin typeface="Arial"/>
                <a:cs typeface="Arial"/>
                <a:hlinkClick r:id="rId3" action="ppaction://hlinksldjump"/>
              </a:rPr>
              <a:t>Fault</a:t>
            </a:r>
            <a:r>
              <a:rPr sz="500" spc="5" dirty="0">
                <a:latin typeface="Arial"/>
                <a:cs typeface="Arial"/>
                <a:hlinkClick r:id="rId3" action="ppaction://hlinksldjump"/>
              </a:rPr>
              <a:t> </a:t>
            </a:r>
            <a:r>
              <a:rPr sz="500" spc="-10" dirty="0">
                <a:latin typeface="Arial"/>
                <a:cs typeface="Arial"/>
                <a:hlinkClick r:id="rId3" action="ppaction://hlinksldjump"/>
              </a:rPr>
              <a:t>tolerance</a:t>
            </a:r>
            <a:r>
              <a:rPr sz="500" dirty="0">
                <a:latin typeface="Arial"/>
                <a:cs typeface="Arial"/>
              </a:rPr>
              <a:t>	</a:t>
            </a:r>
            <a:r>
              <a:rPr sz="500" dirty="0">
                <a:solidFill>
                  <a:srgbClr val="FFFFFF"/>
                </a:solidFill>
                <a:latin typeface="Arial"/>
                <a:cs typeface="Arial"/>
                <a:hlinkClick r:id="rId4" action="ppaction://hlinksldjump"/>
              </a:rPr>
              <a:t>Reliable</a:t>
            </a:r>
            <a:r>
              <a:rPr sz="500" spc="-30" dirty="0">
                <a:solidFill>
                  <a:srgbClr val="FFFFFF"/>
                </a:solidFill>
                <a:latin typeface="Arial"/>
                <a:cs typeface="Arial"/>
                <a:hlinkClick r:id="rId4" action="ppaction://hlinksldjump"/>
              </a:rPr>
              <a:t> </a:t>
            </a:r>
            <a:r>
              <a:rPr sz="500" dirty="0">
                <a:solidFill>
                  <a:srgbClr val="FFFFFF"/>
                </a:solidFill>
                <a:latin typeface="Arial"/>
                <a:cs typeface="Arial"/>
                <a:hlinkClick r:id="rId4" action="ppaction://hlinksldjump"/>
              </a:rPr>
              <a:t>group</a:t>
            </a:r>
            <a:r>
              <a:rPr sz="500" spc="-30" dirty="0">
                <a:solidFill>
                  <a:srgbClr val="FFFFFF"/>
                </a:solidFill>
                <a:latin typeface="Arial"/>
                <a:cs typeface="Arial"/>
                <a:hlinkClick r:id="rId4" action="ppaction://hlinksldjump"/>
              </a:rPr>
              <a:t> </a:t>
            </a:r>
            <a:r>
              <a:rPr sz="500" spc="-10" dirty="0">
                <a:solidFill>
                  <a:srgbClr val="FFFFFF"/>
                </a:solidFill>
                <a:latin typeface="Arial"/>
                <a:cs typeface="Arial"/>
                <a:hlinkClick r:id="rId4" action="ppaction://hlinksldjump"/>
              </a:rPr>
              <a:t>communication</a:t>
            </a:r>
            <a:endParaRPr sz="500">
              <a:latin typeface="Arial"/>
              <a:cs typeface="Arial"/>
            </a:endParaRPr>
          </a:p>
        </p:txBody>
      </p:sp>
      <p:sp>
        <p:nvSpPr>
          <p:cNvPr id="3" name="object 3">
            <a:extLst>
              <a:ext uri="{FF2B5EF4-FFF2-40B4-BE49-F238E27FC236}">
                <a16:creationId xmlns:a16="http://schemas.microsoft.com/office/drawing/2014/main" id="{31ECFF18-03CA-3EE5-404D-F59FAF9150AC}"/>
              </a:ext>
            </a:extLst>
          </p:cNvPr>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Simple</a:t>
            </a:r>
            <a:r>
              <a:rPr spc="-55" dirty="0"/>
              <a:t> </a:t>
            </a:r>
            <a:r>
              <a:rPr dirty="0"/>
              <a:t>reliable</a:t>
            </a:r>
            <a:r>
              <a:rPr spc="-55" dirty="0"/>
              <a:t> </a:t>
            </a:r>
            <a:r>
              <a:rPr dirty="0"/>
              <a:t>group</a:t>
            </a:r>
            <a:r>
              <a:rPr spc="-55" dirty="0"/>
              <a:t> </a:t>
            </a:r>
            <a:r>
              <a:rPr spc="-10" dirty="0"/>
              <a:t>communication</a:t>
            </a:r>
          </a:p>
        </p:txBody>
      </p:sp>
      <p:sp>
        <p:nvSpPr>
          <p:cNvPr id="4" name="object 4">
            <a:extLst>
              <a:ext uri="{FF2B5EF4-FFF2-40B4-BE49-F238E27FC236}">
                <a16:creationId xmlns:a16="http://schemas.microsoft.com/office/drawing/2014/main" id="{81CB67F7-FCCB-51DF-738C-E8D8C1BA85B4}"/>
              </a:ext>
            </a:extLst>
          </p:cNvPr>
          <p:cNvSpPr txBox="1"/>
          <p:nvPr/>
        </p:nvSpPr>
        <p:spPr>
          <a:xfrm>
            <a:off x="347294" y="471706"/>
            <a:ext cx="3929379" cy="1440778"/>
          </a:xfrm>
          <a:prstGeom prst="rect">
            <a:avLst/>
          </a:prstGeom>
        </p:spPr>
        <p:txBody>
          <a:bodyPr vert="horz" wrap="square" lIns="0" tIns="55244" rIns="0" bIns="0" rtlCol="0">
            <a:spAutoFit/>
          </a:bodyPr>
          <a:lstStyle/>
          <a:p>
            <a:pPr algn="just"/>
            <a:r>
              <a:rPr lang="en-US" sz="900" dirty="0">
                <a:solidFill>
                  <a:srgbClr val="00B050"/>
                </a:solidFill>
                <a:latin typeface="Arial" panose="020B0604020202020204" pitchFamily="34" charset="0"/>
                <a:cs typeface="Arial" panose="020B0604020202020204" pitchFamily="34" charset="0"/>
              </a:rPr>
              <a:t>Other Solutions</a:t>
            </a:r>
          </a:p>
          <a:p>
            <a:pPr algn="just"/>
            <a:r>
              <a:rPr lang="en-US" sz="900" dirty="0">
                <a:solidFill>
                  <a:schemeClr val="accent1">
                    <a:lumMod val="75000"/>
                  </a:schemeClr>
                </a:solidFill>
                <a:latin typeface="Arial" panose="020B0604020202020204" pitchFamily="34" charset="0"/>
                <a:cs typeface="Arial" panose="020B0604020202020204" pitchFamily="34" charset="0"/>
              </a:rPr>
              <a:t>Hierarchical feedback</a:t>
            </a:r>
          </a:p>
          <a:p>
            <a:pPr marL="171450" indent="-171450" algn="just">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Organize group of processes to sub-groups and assign each group a unique coordinator</a:t>
            </a:r>
          </a:p>
          <a:p>
            <a:pPr marL="171450" indent="-171450" algn="just">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A link in the tree between two coordinators of respective subgroup corresponds to a reliable connection</a:t>
            </a:r>
          </a:p>
          <a:p>
            <a:pPr marL="171450" indent="-171450" algn="just">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When a process S in group G wants to send a message, it simply forwards the message to its coordinator which further sends message to its neighboring coordinator, each coordinator finally sends the message to their respective subgroup</a:t>
            </a:r>
          </a:p>
        </p:txBody>
      </p:sp>
      <p:grpSp>
        <p:nvGrpSpPr>
          <p:cNvPr id="7" name="object 7">
            <a:extLst>
              <a:ext uri="{FF2B5EF4-FFF2-40B4-BE49-F238E27FC236}">
                <a16:creationId xmlns:a16="http://schemas.microsoft.com/office/drawing/2014/main" id="{5F497554-698F-0AB7-F6CB-466D38FE9DED}"/>
              </a:ext>
            </a:extLst>
          </p:cNvPr>
          <p:cNvGrpSpPr/>
          <p:nvPr/>
        </p:nvGrpSpPr>
        <p:grpSpPr>
          <a:xfrm>
            <a:off x="0" y="3348469"/>
            <a:ext cx="4608195" cy="107950"/>
            <a:chOff x="0" y="3348469"/>
            <a:chExt cx="4608195" cy="107950"/>
          </a:xfrm>
        </p:grpSpPr>
        <p:sp>
          <p:nvSpPr>
            <p:cNvPr id="8" name="object 8">
              <a:extLst>
                <a:ext uri="{FF2B5EF4-FFF2-40B4-BE49-F238E27FC236}">
                  <a16:creationId xmlns:a16="http://schemas.microsoft.com/office/drawing/2014/main" id="{BE79B906-0F03-38CA-38C1-9462FD5C5267}"/>
                </a:ext>
              </a:extLst>
            </p:cNvPr>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a:extLst>
                <a:ext uri="{FF2B5EF4-FFF2-40B4-BE49-F238E27FC236}">
                  <a16:creationId xmlns:a16="http://schemas.microsoft.com/office/drawing/2014/main" id="{46A8FA49-3BAD-C01C-58DB-274AC7F2D147}"/>
                </a:ext>
              </a:extLst>
            </p:cNvPr>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C53EFED5-AAC4-EE15-A8B4-78348BCFA548}"/>
              </a:ext>
            </a:extLst>
          </p:cNvPr>
          <p:cNvSpPr txBox="1"/>
          <p:nvPr/>
        </p:nvSpPr>
        <p:spPr>
          <a:xfrm>
            <a:off x="53467" y="3349927"/>
            <a:ext cx="35623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Introduction</a:t>
            </a:r>
            <a:endParaRPr sz="500">
              <a:latin typeface="Arial"/>
              <a:cs typeface="Arial"/>
            </a:endParaRPr>
          </a:p>
        </p:txBody>
      </p:sp>
      <p:pic>
        <p:nvPicPr>
          <p:cNvPr id="6" name="Picture 5">
            <a:extLst>
              <a:ext uri="{FF2B5EF4-FFF2-40B4-BE49-F238E27FC236}">
                <a16:creationId xmlns:a16="http://schemas.microsoft.com/office/drawing/2014/main" id="{7FAF9057-0A0F-10B5-3408-A2DBA05FD4A4}"/>
              </a:ext>
            </a:extLst>
          </p:cNvPr>
          <p:cNvPicPr>
            <a:picLocks noChangeAspect="1"/>
          </p:cNvPicPr>
          <p:nvPr/>
        </p:nvPicPr>
        <p:blipFill>
          <a:blip r:embed="rId5"/>
          <a:stretch>
            <a:fillRect/>
          </a:stretch>
        </p:blipFill>
        <p:spPr>
          <a:xfrm>
            <a:off x="1162113" y="1923787"/>
            <a:ext cx="2047106" cy="1375845"/>
          </a:xfrm>
          <a:prstGeom prst="rect">
            <a:avLst/>
          </a:prstGeom>
        </p:spPr>
      </p:pic>
    </p:spTree>
    <p:extLst>
      <p:ext uri="{BB962C8B-B14F-4D97-AF65-F5344CB8AC3E}">
        <p14:creationId xmlns:p14="http://schemas.microsoft.com/office/powerpoint/2010/main" val="4110171794"/>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2B80E-1B63-C808-4392-FB53900A261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68B44F3-1040-0AE2-BF58-492A9127E254}"/>
              </a:ext>
            </a:extLst>
          </p:cNvPr>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639820" algn="l"/>
              </a:tabLst>
            </a:pPr>
            <a:r>
              <a:rPr sz="500" spc="-10" dirty="0">
                <a:latin typeface="Arial"/>
                <a:cs typeface="Arial"/>
                <a:hlinkClick r:id="rId3" action="ppaction://hlinksldjump"/>
              </a:rPr>
              <a:t>Fault</a:t>
            </a:r>
            <a:r>
              <a:rPr sz="500" spc="5" dirty="0">
                <a:latin typeface="Arial"/>
                <a:cs typeface="Arial"/>
                <a:hlinkClick r:id="rId3" action="ppaction://hlinksldjump"/>
              </a:rPr>
              <a:t> </a:t>
            </a:r>
            <a:r>
              <a:rPr sz="500" spc="-10" dirty="0">
                <a:latin typeface="Arial"/>
                <a:cs typeface="Arial"/>
                <a:hlinkClick r:id="rId3" action="ppaction://hlinksldjump"/>
              </a:rPr>
              <a:t>tolerance</a:t>
            </a:r>
            <a:r>
              <a:rPr sz="500" dirty="0">
                <a:latin typeface="Arial"/>
                <a:cs typeface="Arial"/>
              </a:rPr>
              <a:t>	</a:t>
            </a:r>
            <a:r>
              <a:rPr sz="500" dirty="0">
                <a:solidFill>
                  <a:srgbClr val="FFFFFF"/>
                </a:solidFill>
                <a:latin typeface="Arial"/>
                <a:cs typeface="Arial"/>
                <a:hlinkClick r:id="rId4" action="ppaction://hlinksldjump"/>
              </a:rPr>
              <a:t>Reliable</a:t>
            </a:r>
            <a:r>
              <a:rPr sz="500" spc="-30" dirty="0">
                <a:solidFill>
                  <a:srgbClr val="FFFFFF"/>
                </a:solidFill>
                <a:latin typeface="Arial"/>
                <a:cs typeface="Arial"/>
                <a:hlinkClick r:id="rId4" action="ppaction://hlinksldjump"/>
              </a:rPr>
              <a:t> </a:t>
            </a:r>
            <a:r>
              <a:rPr sz="500" dirty="0">
                <a:solidFill>
                  <a:srgbClr val="FFFFFF"/>
                </a:solidFill>
                <a:latin typeface="Arial"/>
                <a:cs typeface="Arial"/>
                <a:hlinkClick r:id="rId4" action="ppaction://hlinksldjump"/>
              </a:rPr>
              <a:t>group</a:t>
            </a:r>
            <a:r>
              <a:rPr sz="500" spc="-30" dirty="0">
                <a:solidFill>
                  <a:srgbClr val="FFFFFF"/>
                </a:solidFill>
                <a:latin typeface="Arial"/>
                <a:cs typeface="Arial"/>
                <a:hlinkClick r:id="rId4" action="ppaction://hlinksldjump"/>
              </a:rPr>
              <a:t> </a:t>
            </a:r>
            <a:r>
              <a:rPr sz="500" spc="-10" dirty="0">
                <a:solidFill>
                  <a:srgbClr val="FFFFFF"/>
                </a:solidFill>
                <a:latin typeface="Arial"/>
                <a:cs typeface="Arial"/>
                <a:hlinkClick r:id="rId4" action="ppaction://hlinksldjump"/>
              </a:rPr>
              <a:t>communication</a:t>
            </a:r>
            <a:endParaRPr sz="500">
              <a:latin typeface="Arial"/>
              <a:cs typeface="Arial"/>
            </a:endParaRPr>
          </a:p>
        </p:txBody>
      </p:sp>
      <p:sp>
        <p:nvSpPr>
          <p:cNvPr id="3" name="object 3">
            <a:extLst>
              <a:ext uri="{FF2B5EF4-FFF2-40B4-BE49-F238E27FC236}">
                <a16:creationId xmlns:a16="http://schemas.microsoft.com/office/drawing/2014/main" id="{13342561-5AD2-8EA0-D3FD-BFC6DEF1D3C2}"/>
              </a:ext>
            </a:extLst>
          </p:cNvPr>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Simple</a:t>
            </a:r>
            <a:r>
              <a:rPr spc="-55" dirty="0"/>
              <a:t> </a:t>
            </a:r>
            <a:r>
              <a:rPr dirty="0"/>
              <a:t>reliable</a:t>
            </a:r>
            <a:r>
              <a:rPr spc="-55" dirty="0"/>
              <a:t> </a:t>
            </a:r>
            <a:r>
              <a:rPr dirty="0"/>
              <a:t>group</a:t>
            </a:r>
            <a:r>
              <a:rPr spc="-55" dirty="0"/>
              <a:t> </a:t>
            </a:r>
            <a:r>
              <a:rPr spc="-10" dirty="0"/>
              <a:t>communication</a:t>
            </a:r>
          </a:p>
        </p:txBody>
      </p:sp>
      <p:sp>
        <p:nvSpPr>
          <p:cNvPr id="4" name="object 4">
            <a:extLst>
              <a:ext uri="{FF2B5EF4-FFF2-40B4-BE49-F238E27FC236}">
                <a16:creationId xmlns:a16="http://schemas.microsoft.com/office/drawing/2014/main" id="{10C52EF1-5169-4EF6-620A-34B5FACC5BD4}"/>
              </a:ext>
            </a:extLst>
          </p:cNvPr>
          <p:cNvSpPr txBox="1"/>
          <p:nvPr/>
        </p:nvSpPr>
        <p:spPr>
          <a:xfrm>
            <a:off x="347294" y="471706"/>
            <a:ext cx="3929379" cy="2410274"/>
          </a:xfrm>
          <a:prstGeom prst="rect">
            <a:avLst/>
          </a:prstGeom>
        </p:spPr>
        <p:txBody>
          <a:bodyPr vert="horz" wrap="square" lIns="0" tIns="55244" rIns="0" bIns="0" rtlCol="0">
            <a:spAutoFit/>
          </a:bodyPr>
          <a:lstStyle/>
          <a:p>
            <a:pPr algn="just"/>
            <a:r>
              <a:rPr lang="en-US" sz="900" dirty="0">
                <a:solidFill>
                  <a:srgbClr val="00B050"/>
                </a:solidFill>
                <a:latin typeface="Arial" panose="020B0604020202020204" pitchFamily="34" charset="0"/>
                <a:cs typeface="Arial" panose="020B0604020202020204" pitchFamily="34" charset="0"/>
              </a:rPr>
              <a:t>Other Solutions</a:t>
            </a:r>
          </a:p>
          <a:p>
            <a:pPr algn="just"/>
            <a:r>
              <a:rPr lang="en-US" sz="900" dirty="0">
                <a:solidFill>
                  <a:schemeClr val="accent1">
                    <a:lumMod val="75000"/>
                  </a:schemeClr>
                </a:solidFill>
                <a:latin typeface="Arial" panose="020B0604020202020204" pitchFamily="34" charset="0"/>
                <a:cs typeface="Arial" panose="020B0604020202020204" pitchFamily="34" charset="0"/>
              </a:rPr>
              <a:t>Hierarchical feedback</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1" i="1" dirty="0">
                <a:solidFill>
                  <a:schemeClr val="tx1"/>
                </a:solidFill>
                <a:latin typeface="Arial" panose="020B0604020202020204" pitchFamily="34" charset="0"/>
                <a:cs typeface="Arial" panose="020B0604020202020204" pitchFamily="34" charset="0"/>
              </a:rPr>
              <a:t>ACK-based scheme</a:t>
            </a:r>
            <a:r>
              <a:rPr lang="en-US" sz="900" dirty="0">
                <a:solidFill>
                  <a:schemeClr val="tx1"/>
                </a:solidFill>
                <a:latin typeface="Arial" panose="020B0604020202020204" pitchFamily="34" charset="0"/>
                <a:cs typeface="Arial" panose="020B0604020202020204" pitchFamily="34" charset="0"/>
              </a:rPr>
              <a:t>, if coordinator C of group G sends message to coordinator C’ of group G’, it will keep message in its history buffer at least until C’ has sent an acknowledgement</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1" i="1" dirty="0">
                <a:solidFill>
                  <a:schemeClr val="tx1"/>
                </a:solidFill>
                <a:latin typeface="Arial" panose="020B0604020202020204" pitchFamily="34" charset="0"/>
                <a:cs typeface="Arial" panose="020B0604020202020204" pitchFamily="34" charset="0"/>
              </a:rPr>
              <a:t>NACK-based scheme</a:t>
            </a:r>
            <a:r>
              <a:rPr lang="en-US" sz="900" dirty="0">
                <a:solidFill>
                  <a:schemeClr val="tx1"/>
                </a:solidFill>
                <a:latin typeface="Arial" panose="020B0604020202020204" pitchFamily="34" charset="0"/>
                <a:cs typeface="Arial" panose="020B0604020202020204" pitchFamily="34" charset="0"/>
              </a:rPr>
              <a:t>, only if G’ detects that it has missed the message, it will send </a:t>
            </a:r>
            <a:r>
              <a:rPr lang="en-US" sz="800" dirty="0">
                <a:solidFill>
                  <a:schemeClr val="tx1"/>
                </a:solidFill>
                <a:latin typeface="Arial" panose="020B0604020202020204" pitchFamily="34" charset="0"/>
                <a:cs typeface="Arial" panose="020B0604020202020204" pitchFamily="34" charset="0"/>
              </a:rPr>
              <a:t>NACK</a:t>
            </a:r>
            <a:r>
              <a:rPr lang="en-US" sz="900" dirty="0">
                <a:solidFill>
                  <a:schemeClr val="tx1"/>
                </a:solidFill>
                <a:latin typeface="Arial" panose="020B0604020202020204" pitchFamily="34" charset="0"/>
                <a:cs typeface="Arial" panose="020B0604020202020204" pitchFamily="34" charset="0"/>
              </a:rPr>
              <a:t> to C</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solidFill>
                  <a:schemeClr val="tx1"/>
                </a:solidFill>
                <a:latin typeface="Arial" panose="020B0604020202020204" pitchFamily="34" charset="0"/>
                <a:cs typeface="Arial" panose="020B0604020202020204" pitchFamily="34" charset="0"/>
              </a:rPr>
              <a:t>Main problem lies in management of dynamic group creation, coordinator election, tree management</a:t>
            </a:r>
          </a:p>
          <a:p>
            <a:pPr algn="just"/>
            <a:r>
              <a:rPr lang="en-US" sz="900" dirty="0">
                <a:solidFill>
                  <a:schemeClr val="accent1">
                    <a:lumMod val="75000"/>
                  </a:schemeClr>
                </a:solidFill>
                <a:latin typeface="Arial" panose="020B0604020202020204" pitchFamily="34" charset="0"/>
                <a:cs typeface="Arial" panose="020B0604020202020204" pitchFamily="34" charset="0"/>
              </a:rPr>
              <a:t>Gossip based scalable reliable multicasting</a:t>
            </a:r>
          </a:p>
          <a:p>
            <a:pPr marL="171450" indent="-171450" algn="just">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In this scheme, a node P picks another node Q at random and subsequently exchanges updates with Q. In other words, P pushes updates that Q has not seen before to Q, and pulls in any updates that Q has, but which were missed by P. After the exchange, both processes have the same data.</a:t>
            </a:r>
          </a:p>
          <a:p>
            <a:pPr marL="171450" indent="-171450" algn="just">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If communication between P and Q fails for some reason, P will simply pick some other node to exchange updates.</a:t>
            </a:r>
          </a:p>
        </p:txBody>
      </p:sp>
      <p:grpSp>
        <p:nvGrpSpPr>
          <p:cNvPr id="7" name="object 7">
            <a:extLst>
              <a:ext uri="{FF2B5EF4-FFF2-40B4-BE49-F238E27FC236}">
                <a16:creationId xmlns:a16="http://schemas.microsoft.com/office/drawing/2014/main" id="{EBCB73D9-683D-EB21-B0A9-3EEB7FB1CE71}"/>
              </a:ext>
            </a:extLst>
          </p:cNvPr>
          <p:cNvGrpSpPr/>
          <p:nvPr/>
        </p:nvGrpSpPr>
        <p:grpSpPr>
          <a:xfrm>
            <a:off x="0" y="3348469"/>
            <a:ext cx="4608195" cy="107950"/>
            <a:chOff x="0" y="3348469"/>
            <a:chExt cx="4608195" cy="107950"/>
          </a:xfrm>
        </p:grpSpPr>
        <p:sp>
          <p:nvSpPr>
            <p:cNvPr id="8" name="object 8">
              <a:extLst>
                <a:ext uri="{FF2B5EF4-FFF2-40B4-BE49-F238E27FC236}">
                  <a16:creationId xmlns:a16="http://schemas.microsoft.com/office/drawing/2014/main" id="{242C9C96-0FAA-AB7B-C540-F79613A976F5}"/>
                </a:ext>
              </a:extLst>
            </p:cNvPr>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a:extLst>
                <a:ext uri="{FF2B5EF4-FFF2-40B4-BE49-F238E27FC236}">
                  <a16:creationId xmlns:a16="http://schemas.microsoft.com/office/drawing/2014/main" id="{A02918D5-A8A2-1B5E-C1F6-CC4EB069DA29}"/>
                </a:ext>
              </a:extLst>
            </p:cNvPr>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5EFB2608-A43D-90F4-305D-DB613BA37C60}"/>
              </a:ext>
            </a:extLst>
          </p:cNvPr>
          <p:cNvSpPr txBox="1"/>
          <p:nvPr/>
        </p:nvSpPr>
        <p:spPr>
          <a:xfrm>
            <a:off x="53467" y="3349927"/>
            <a:ext cx="35623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Introduction</a:t>
            </a:r>
            <a:endParaRPr sz="500">
              <a:latin typeface="Arial"/>
              <a:cs typeface="Arial"/>
            </a:endParaRPr>
          </a:p>
        </p:txBody>
      </p:sp>
    </p:spTree>
    <p:extLst>
      <p:ext uri="{BB962C8B-B14F-4D97-AF65-F5344CB8AC3E}">
        <p14:creationId xmlns:p14="http://schemas.microsoft.com/office/powerpoint/2010/main" val="2732984603"/>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CB3DB-905B-B828-78DD-8A0BA4F328B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B3A29EC-8F08-2381-58D9-1347E9E1195D}"/>
              </a:ext>
            </a:extLst>
          </p:cNvPr>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639820" algn="l"/>
              </a:tabLst>
            </a:pPr>
            <a:r>
              <a:rPr sz="500" spc="-10" dirty="0">
                <a:latin typeface="Arial"/>
                <a:cs typeface="Arial"/>
                <a:hlinkClick r:id="rId3" action="ppaction://hlinksldjump"/>
              </a:rPr>
              <a:t>Fault</a:t>
            </a:r>
            <a:r>
              <a:rPr sz="500" spc="5" dirty="0">
                <a:latin typeface="Arial"/>
                <a:cs typeface="Arial"/>
                <a:hlinkClick r:id="rId3" action="ppaction://hlinksldjump"/>
              </a:rPr>
              <a:t> </a:t>
            </a:r>
            <a:r>
              <a:rPr sz="500" spc="-10" dirty="0">
                <a:latin typeface="Arial"/>
                <a:cs typeface="Arial"/>
                <a:hlinkClick r:id="rId3" action="ppaction://hlinksldjump"/>
              </a:rPr>
              <a:t>tolerance</a:t>
            </a:r>
            <a:r>
              <a:rPr sz="500" dirty="0">
                <a:latin typeface="Arial"/>
                <a:cs typeface="Arial"/>
              </a:rPr>
              <a:t>	</a:t>
            </a:r>
            <a:r>
              <a:rPr sz="500" dirty="0">
                <a:solidFill>
                  <a:srgbClr val="FFFFFF"/>
                </a:solidFill>
                <a:latin typeface="Arial"/>
                <a:cs typeface="Arial"/>
                <a:hlinkClick r:id="rId4" action="ppaction://hlinksldjump"/>
              </a:rPr>
              <a:t>Reliable</a:t>
            </a:r>
            <a:r>
              <a:rPr sz="500" spc="-30" dirty="0">
                <a:solidFill>
                  <a:srgbClr val="FFFFFF"/>
                </a:solidFill>
                <a:latin typeface="Arial"/>
                <a:cs typeface="Arial"/>
                <a:hlinkClick r:id="rId4" action="ppaction://hlinksldjump"/>
              </a:rPr>
              <a:t> </a:t>
            </a:r>
            <a:r>
              <a:rPr sz="500" dirty="0">
                <a:solidFill>
                  <a:srgbClr val="FFFFFF"/>
                </a:solidFill>
                <a:latin typeface="Arial"/>
                <a:cs typeface="Arial"/>
                <a:hlinkClick r:id="rId4" action="ppaction://hlinksldjump"/>
              </a:rPr>
              <a:t>group</a:t>
            </a:r>
            <a:r>
              <a:rPr sz="500" spc="-30" dirty="0">
                <a:solidFill>
                  <a:srgbClr val="FFFFFF"/>
                </a:solidFill>
                <a:latin typeface="Arial"/>
                <a:cs typeface="Arial"/>
                <a:hlinkClick r:id="rId4" action="ppaction://hlinksldjump"/>
              </a:rPr>
              <a:t> </a:t>
            </a:r>
            <a:r>
              <a:rPr sz="500" spc="-10" dirty="0">
                <a:solidFill>
                  <a:srgbClr val="FFFFFF"/>
                </a:solidFill>
                <a:latin typeface="Arial"/>
                <a:cs typeface="Arial"/>
                <a:hlinkClick r:id="rId4" action="ppaction://hlinksldjump"/>
              </a:rPr>
              <a:t>communication</a:t>
            </a:r>
            <a:endParaRPr sz="500">
              <a:latin typeface="Arial"/>
              <a:cs typeface="Arial"/>
            </a:endParaRPr>
          </a:p>
        </p:txBody>
      </p:sp>
      <p:sp>
        <p:nvSpPr>
          <p:cNvPr id="3" name="object 3">
            <a:extLst>
              <a:ext uri="{FF2B5EF4-FFF2-40B4-BE49-F238E27FC236}">
                <a16:creationId xmlns:a16="http://schemas.microsoft.com/office/drawing/2014/main" id="{ACB4BB95-1FA8-9215-6F56-003888E24F89}"/>
              </a:ext>
            </a:extLst>
          </p:cNvPr>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Simple</a:t>
            </a:r>
            <a:r>
              <a:rPr spc="-55" dirty="0"/>
              <a:t> </a:t>
            </a:r>
            <a:r>
              <a:rPr dirty="0"/>
              <a:t>reliable</a:t>
            </a:r>
            <a:r>
              <a:rPr spc="-55" dirty="0"/>
              <a:t> </a:t>
            </a:r>
            <a:r>
              <a:rPr dirty="0"/>
              <a:t>group</a:t>
            </a:r>
            <a:r>
              <a:rPr spc="-55" dirty="0"/>
              <a:t> </a:t>
            </a:r>
            <a:r>
              <a:rPr spc="-10" dirty="0"/>
              <a:t>communication</a:t>
            </a:r>
          </a:p>
        </p:txBody>
      </p:sp>
      <p:sp>
        <p:nvSpPr>
          <p:cNvPr id="4" name="object 4">
            <a:extLst>
              <a:ext uri="{FF2B5EF4-FFF2-40B4-BE49-F238E27FC236}">
                <a16:creationId xmlns:a16="http://schemas.microsoft.com/office/drawing/2014/main" id="{E2972C59-7CBD-F289-B48A-BB328D7F360D}"/>
              </a:ext>
            </a:extLst>
          </p:cNvPr>
          <p:cNvSpPr txBox="1"/>
          <p:nvPr/>
        </p:nvSpPr>
        <p:spPr>
          <a:xfrm>
            <a:off x="347294" y="471706"/>
            <a:ext cx="3929379" cy="1179168"/>
          </a:xfrm>
          <a:prstGeom prst="rect">
            <a:avLst/>
          </a:prstGeom>
        </p:spPr>
        <p:txBody>
          <a:bodyPr vert="horz" wrap="square" lIns="0" tIns="55244" rIns="0" bIns="0" rtlCol="0">
            <a:spAutoFit/>
          </a:bodyPr>
          <a:lstStyle/>
          <a:p>
            <a:pPr algn="just"/>
            <a:r>
              <a:rPr lang="en-US" sz="1000" dirty="0">
                <a:solidFill>
                  <a:schemeClr val="accent1">
                    <a:lumMod val="75000"/>
                  </a:schemeClr>
                </a:solidFill>
                <a:latin typeface="Arial" panose="020B0604020202020204" pitchFamily="34" charset="0"/>
                <a:cs typeface="Arial" panose="020B0604020202020204" pitchFamily="34" charset="0"/>
              </a:rPr>
              <a:t>Atomic Multicast</a:t>
            </a:r>
          </a:p>
          <a:p>
            <a:pPr marL="171450" indent="-171450" algn="just">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A message is delivered to either all group members or to none at all.</a:t>
            </a:r>
          </a:p>
          <a:p>
            <a:pPr marL="171450" indent="-171450" algn="just">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In distributed transaction, a transaction should be performed to all replicas</a:t>
            </a:r>
          </a:p>
          <a:p>
            <a:pPr marL="171450" indent="-171450" algn="just">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A client contacts a replica P and request it to perform an update. The replica does so by multicasting the updates to the other group members. Unfortunately, before the multicast completes, P crashes, leaving the rest of the group in a difficult position: some group members will have received the update request; others will not.</a:t>
            </a:r>
          </a:p>
        </p:txBody>
      </p:sp>
      <p:grpSp>
        <p:nvGrpSpPr>
          <p:cNvPr id="7" name="object 7">
            <a:extLst>
              <a:ext uri="{FF2B5EF4-FFF2-40B4-BE49-F238E27FC236}">
                <a16:creationId xmlns:a16="http://schemas.microsoft.com/office/drawing/2014/main" id="{73A14E4C-15D1-7576-DAB4-963DAC2749C5}"/>
              </a:ext>
            </a:extLst>
          </p:cNvPr>
          <p:cNvGrpSpPr/>
          <p:nvPr/>
        </p:nvGrpSpPr>
        <p:grpSpPr>
          <a:xfrm>
            <a:off x="0" y="3348469"/>
            <a:ext cx="4608195" cy="107950"/>
            <a:chOff x="0" y="3348469"/>
            <a:chExt cx="4608195" cy="107950"/>
          </a:xfrm>
        </p:grpSpPr>
        <p:sp>
          <p:nvSpPr>
            <p:cNvPr id="8" name="object 8">
              <a:extLst>
                <a:ext uri="{FF2B5EF4-FFF2-40B4-BE49-F238E27FC236}">
                  <a16:creationId xmlns:a16="http://schemas.microsoft.com/office/drawing/2014/main" id="{1E88667C-D86C-A38D-54AE-0275FB0AAC55}"/>
                </a:ext>
              </a:extLst>
            </p:cNvPr>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a:extLst>
                <a:ext uri="{FF2B5EF4-FFF2-40B4-BE49-F238E27FC236}">
                  <a16:creationId xmlns:a16="http://schemas.microsoft.com/office/drawing/2014/main" id="{D52016AE-80BF-62A5-BB91-BFEC324BA22E}"/>
                </a:ext>
              </a:extLst>
            </p:cNvPr>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385CCDD9-89ED-DB8B-4DCE-30D3E522E626}"/>
              </a:ext>
            </a:extLst>
          </p:cNvPr>
          <p:cNvSpPr txBox="1"/>
          <p:nvPr/>
        </p:nvSpPr>
        <p:spPr>
          <a:xfrm>
            <a:off x="53467" y="3349927"/>
            <a:ext cx="35623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Introduction</a:t>
            </a:r>
            <a:endParaRPr sz="500">
              <a:latin typeface="Arial"/>
              <a:cs typeface="Arial"/>
            </a:endParaRPr>
          </a:p>
        </p:txBody>
      </p:sp>
    </p:spTree>
    <p:extLst>
      <p:ext uri="{BB962C8B-B14F-4D97-AF65-F5344CB8AC3E}">
        <p14:creationId xmlns:p14="http://schemas.microsoft.com/office/powerpoint/2010/main" val="1062399558"/>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946F4-ED34-D27A-C5AB-D540F9E9C82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8C7945D-F3D2-10BA-05F3-09CA62AB58C6}"/>
              </a:ext>
            </a:extLst>
          </p:cNvPr>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639820" algn="l"/>
              </a:tabLst>
            </a:pPr>
            <a:r>
              <a:rPr sz="500" spc="-10" dirty="0">
                <a:latin typeface="Arial"/>
                <a:cs typeface="Arial"/>
                <a:hlinkClick r:id="rId3" action="ppaction://hlinksldjump"/>
              </a:rPr>
              <a:t>Fault</a:t>
            </a:r>
            <a:r>
              <a:rPr sz="500" spc="5" dirty="0">
                <a:latin typeface="Arial"/>
                <a:cs typeface="Arial"/>
                <a:hlinkClick r:id="rId3" action="ppaction://hlinksldjump"/>
              </a:rPr>
              <a:t> </a:t>
            </a:r>
            <a:r>
              <a:rPr sz="500" spc="-10" dirty="0">
                <a:latin typeface="Arial"/>
                <a:cs typeface="Arial"/>
                <a:hlinkClick r:id="rId3" action="ppaction://hlinksldjump"/>
              </a:rPr>
              <a:t>tolerance</a:t>
            </a:r>
            <a:r>
              <a:rPr sz="500" dirty="0">
                <a:latin typeface="Arial"/>
                <a:cs typeface="Arial"/>
              </a:rPr>
              <a:t>	</a:t>
            </a:r>
            <a:r>
              <a:rPr sz="500" dirty="0">
                <a:solidFill>
                  <a:srgbClr val="FFFFFF"/>
                </a:solidFill>
                <a:latin typeface="Arial"/>
                <a:cs typeface="Arial"/>
                <a:hlinkClick r:id="rId4" action="ppaction://hlinksldjump"/>
              </a:rPr>
              <a:t>Reliable</a:t>
            </a:r>
            <a:r>
              <a:rPr sz="500" spc="-30" dirty="0">
                <a:solidFill>
                  <a:srgbClr val="FFFFFF"/>
                </a:solidFill>
                <a:latin typeface="Arial"/>
                <a:cs typeface="Arial"/>
                <a:hlinkClick r:id="rId4" action="ppaction://hlinksldjump"/>
              </a:rPr>
              <a:t> </a:t>
            </a:r>
            <a:r>
              <a:rPr sz="500" dirty="0">
                <a:solidFill>
                  <a:srgbClr val="FFFFFF"/>
                </a:solidFill>
                <a:latin typeface="Arial"/>
                <a:cs typeface="Arial"/>
                <a:hlinkClick r:id="rId4" action="ppaction://hlinksldjump"/>
              </a:rPr>
              <a:t>group</a:t>
            </a:r>
            <a:r>
              <a:rPr sz="500" spc="-30" dirty="0">
                <a:solidFill>
                  <a:srgbClr val="FFFFFF"/>
                </a:solidFill>
                <a:latin typeface="Arial"/>
                <a:cs typeface="Arial"/>
                <a:hlinkClick r:id="rId4" action="ppaction://hlinksldjump"/>
              </a:rPr>
              <a:t> </a:t>
            </a:r>
            <a:r>
              <a:rPr sz="500" spc="-10" dirty="0">
                <a:solidFill>
                  <a:srgbClr val="FFFFFF"/>
                </a:solidFill>
                <a:latin typeface="Arial"/>
                <a:cs typeface="Arial"/>
                <a:hlinkClick r:id="rId4" action="ppaction://hlinksldjump"/>
              </a:rPr>
              <a:t>communication</a:t>
            </a:r>
            <a:endParaRPr sz="500">
              <a:latin typeface="Arial"/>
              <a:cs typeface="Arial"/>
            </a:endParaRPr>
          </a:p>
        </p:txBody>
      </p:sp>
      <p:sp>
        <p:nvSpPr>
          <p:cNvPr id="3" name="object 3">
            <a:extLst>
              <a:ext uri="{FF2B5EF4-FFF2-40B4-BE49-F238E27FC236}">
                <a16:creationId xmlns:a16="http://schemas.microsoft.com/office/drawing/2014/main" id="{8D80C8BE-DF15-AF08-B17E-2575EA830093}"/>
              </a:ext>
            </a:extLst>
          </p:cNvPr>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Simple</a:t>
            </a:r>
            <a:r>
              <a:rPr spc="-55" dirty="0"/>
              <a:t> </a:t>
            </a:r>
            <a:r>
              <a:rPr dirty="0"/>
              <a:t>reliable</a:t>
            </a:r>
            <a:r>
              <a:rPr spc="-55" dirty="0"/>
              <a:t> </a:t>
            </a:r>
            <a:r>
              <a:rPr dirty="0"/>
              <a:t>group</a:t>
            </a:r>
            <a:r>
              <a:rPr spc="-55" dirty="0"/>
              <a:t> </a:t>
            </a:r>
            <a:r>
              <a:rPr spc="-10" dirty="0"/>
              <a:t>communication</a:t>
            </a:r>
          </a:p>
        </p:txBody>
      </p:sp>
      <p:sp>
        <p:nvSpPr>
          <p:cNvPr id="4" name="object 4">
            <a:extLst>
              <a:ext uri="{FF2B5EF4-FFF2-40B4-BE49-F238E27FC236}">
                <a16:creationId xmlns:a16="http://schemas.microsoft.com/office/drawing/2014/main" id="{E5DAB10A-C0D1-C6C0-2062-116053D1A357}"/>
              </a:ext>
            </a:extLst>
          </p:cNvPr>
          <p:cNvSpPr txBox="1"/>
          <p:nvPr/>
        </p:nvSpPr>
        <p:spPr>
          <a:xfrm>
            <a:off x="347294" y="471706"/>
            <a:ext cx="3929379" cy="763670"/>
          </a:xfrm>
          <a:prstGeom prst="rect">
            <a:avLst/>
          </a:prstGeom>
        </p:spPr>
        <p:txBody>
          <a:bodyPr vert="horz" wrap="square" lIns="0" tIns="55244" rIns="0" bIns="0" rtlCol="0">
            <a:spAutoFit/>
          </a:bodyPr>
          <a:lstStyle/>
          <a:p>
            <a:pPr algn="just"/>
            <a:r>
              <a:rPr lang="en-US" sz="1000" dirty="0">
                <a:solidFill>
                  <a:schemeClr val="accent1">
                    <a:lumMod val="75000"/>
                  </a:schemeClr>
                </a:solidFill>
                <a:latin typeface="Arial" panose="020B0604020202020204" pitchFamily="34" charset="0"/>
                <a:cs typeface="Arial" panose="020B0604020202020204" pitchFamily="34" charset="0"/>
              </a:rPr>
              <a:t>Virtual Synchrony</a:t>
            </a:r>
          </a:p>
          <a:p>
            <a:pPr marL="171450" indent="-171450" algn="just">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A message is delivered by the process P keeping in view current group view</a:t>
            </a:r>
          </a:p>
          <a:p>
            <a:pPr marL="171450" indent="-171450" algn="just">
              <a:buFont typeface="Arial" panose="020B0604020202020204" pitchFamily="34" charset="0"/>
              <a:buChar char="•"/>
            </a:pPr>
            <a:r>
              <a:rPr lang="en-US" sz="900" dirty="0">
                <a:solidFill>
                  <a:schemeClr val="tx1"/>
                </a:solidFill>
                <a:latin typeface="Arial" panose="020B0604020202020204" pitchFamily="34" charset="0"/>
                <a:cs typeface="Arial" panose="020B0604020202020204" pitchFamily="34" charset="0"/>
              </a:rPr>
              <a:t>When a new process joins the group, it forwards view change request to other members</a:t>
            </a:r>
          </a:p>
        </p:txBody>
      </p:sp>
      <p:grpSp>
        <p:nvGrpSpPr>
          <p:cNvPr id="7" name="object 7">
            <a:extLst>
              <a:ext uri="{FF2B5EF4-FFF2-40B4-BE49-F238E27FC236}">
                <a16:creationId xmlns:a16="http://schemas.microsoft.com/office/drawing/2014/main" id="{7E4D76DF-28A9-617F-873F-C1503F33D206}"/>
              </a:ext>
            </a:extLst>
          </p:cNvPr>
          <p:cNvGrpSpPr/>
          <p:nvPr/>
        </p:nvGrpSpPr>
        <p:grpSpPr>
          <a:xfrm>
            <a:off x="0" y="3348469"/>
            <a:ext cx="4608195" cy="107950"/>
            <a:chOff x="0" y="3348469"/>
            <a:chExt cx="4608195" cy="107950"/>
          </a:xfrm>
        </p:grpSpPr>
        <p:sp>
          <p:nvSpPr>
            <p:cNvPr id="8" name="object 8">
              <a:extLst>
                <a:ext uri="{FF2B5EF4-FFF2-40B4-BE49-F238E27FC236}">
                  <a16:creationId xmlns:a16="http://schemas.microsoft.com/office/drawing/2014/main" id="{61887F59-22C6-DD45-EC5A-A92D65C05C70}"/>
                </a:ext>
              </a:extLst>
            </p:cNvPr>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a:extLst>
                <a:ext uri="{FF2B5EF4-FFF2-40B4-BE49-F238E27FC236}">
                  <a16:creationId xmlns:a16="http://schemas.microsoft.com/office/drawing/2014/main" id="{BF657711-B865-7602-E6A6-7DD8827FA8F5}"/>
                </a:ext>
              </a:extLst>
            </p:cNvPr>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328DA243-EC34-C9FF-2F4A-979CCFC906B9}"/>
              </a:ext>
            </a:extLst>
          </p:cNvPr>
          <p:cNvSpPr txBox="1"/>
          <p:nvPr/>
        </p:nvSpPr>
        <p:spPr>
          <a:xfrm>
            <a:off x="53467" y="3349927"/>
            <a:ext cx="35623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Introduction</a:t>
            </a:r>
            <a:endParaRPr sz="500">
              <a:latin typeface="Arial"/>
              <a:cs typeface="Arial"/>
            </a:endParaRPr>
          </a:p>
        </p:txBody>
      </p:sp>
      <p:pic>
        <p:nvPicPr>
          <p:cNvPr id="6" name="Picture 5">
            <a:extLst>
              <a:ext uri="{FF2B5EF4-FFF2-40B4-BE49-F238E27FC236}">
                <a16:creationId xmlns:a16="http://schemas.microsoft.com/office/drawing/2014/main" id="{B428BD6D-7C8A-030D-5066-AE1CCD9916F0}"/>
              </a:ext>
            </a:extLst>
          </p:cNvPr>
          <p:cNvPicPr>
            <a:picLocks noChangeAspect="1"/>
          </p:cNvPicPr>
          <p:nvPr/>
        </p:nvPicPr>
        <p:blipFill>
          <a:blip r:embed="rId5"/>
          <a:stretch>
            <a:fillRect/>
          </a:stretch>
        </p:blipFill>
        <p:spPr>
          <a:xfrm>
            <a:off x="579970" y="1425575"/>
            <a:ext cx="3448050" cy="1462951"/>
          </a:xfrm>
          <a:prstGeom prst="rect">
            <a:avLst/>
          </a:prstGeom>
        </p:spPr>
      </p:pic>
    </p:spTree>
    <p:extLst>
      <p:ext uri="{BB962C8B-B14F-4D97-AF65-F5344CB8AC3E}">
        <p14:creationId xmlns:p14="http://schemas.microsoft.com/office/powerpoint/2010/main" val="3124429296"/>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B0481-63B0-A6C1-3BBE-855044EC12E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9AF2449-73B9-0CD4-074B-96B1F25C12A5}"/>
              </a:ext>
            </a:extLst>
          </p:cNvPr>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639820" algn="l"/>
              </a:tabLst>
            </a:pPr>
            <a:r>
              <a:rPr sz="500" spc="-10" dirty="0">
                <a:latin typeface="Arial"/>
                <a:cs typeface="Arial"/>
                <a:hlinkClick r:id="rId3" action="ppaction://hlinksldjump"/>
              </a:rPr>
              <a:t>Fault</a:t>
            </a:r>
            <a:r>
              <a:rPr sz="500" spc="5" dirty="0">
                <a:latin typeface="Arial"/>
                <a:cs typeface="Arial"/>
                <a:hlinkClick r:id="rId3" action="ppaction://hlinksldjump"/>
              </a:rPr>
              <a:t> </a:t>
            </a:r>
            <a:r>
              <a:rPr sz="500" spc="-10" dirty="0">
                <a:latin typeface="Arial"/>
                <a:cs typeface="Arial"/>
                <a:hlinkClick r:id="rId3" action="ppaction://hlinksldjump"/>
              </a:rPr>
              <a:t>tolerance</a:t>
            </a:r>
            <a:r>
              <a:rPr sz="500" dirty="0">
                <a:latin typeface="Arial"/>
                <a:cs typeface="Arial"/>
              </a:rPr>
              <a:t>	</a:t>
            </a:r>
            <a:r>
              <a:rPr sz="500" dirty="0">
                <a:solidFill>
                  <a:srgbClr val="FFFFFF"/>
                </a:solidFill>
                <a:latin typeface="Arial"/>
                <a:cs typeface="Arial"/>
                <a:hlinkClick r:id="rId4" action="ppaction://hlinksldjump"/>
              </a:rPr>
              <a:t>Reliable</a:t>
            </a:r>
            <a:r>
              <a:rPr sz="500" spc="-30" dirty="0">
                <a:solidFill>
                  <a:srgbClr val="FFFFFF"/>
                </a:solidFill>
                <a:latin typeface="Arial"/>
                <a:cs typeface="Arial"/>
                <a:hlinkClick r:id="rId4" action="ppaction://hlinksldjump"/>
              </a:rPr>
              <a:t> </a:t>
            </a:r>
            <a:r>
              <a:rPr sz="500" dirty="0">
                <a:solidFill>
                  <a:srgbClr val="FFFFFF"/>
                </a:solidFill>
                <a:latin typeface="Arial"/>
                <a:cs typeface="Arial"/>
                <a:hlinkClick r:id="rId4" action="ppaction://hlinksldjump"/>
              </a:rPr>
              <a:t>group</a:t>
            </a:r>
            <a:r>
              <a:rPr sz="500" spc="-30" dirty="0">
                <a:solidFill>
                  <a:srgbClr val="FFFFFF"/>
                </a:solidFill>
                <a:latin typeface="Arial"/>
                <a:cs typeface="Arial"/>
                <a:hlinkClick r:id="rId4" action="ppaction://hlinksldjump"/>
              </a:rPr>
              <a:t> </a:t>
            </a:r>
            <a:r>
              <a:rPr sz="500" spc="-10" dirty="0">
                <a:solidFill>
                  <a:srgbClr val="FFFFFF"/>
                </a:solidFill>
                <a:latin typeface="Arial"/>
                <a:cs typeface="Arial"/>
                <a:hlinkClick r:id="rId4" action="ppaction://hlinksldjump"/>
              </a:rPr>
              <a:t>communication</a:t>
            </a:r>
            <a:endParaRPr sz="500">
              <a:latin typeface="Arial"/>
              <a:cs typeface="Arial"/>
            </a:endParaRPr>
          </a:p>
        </p:txBody>
      </p:sp>
      <p:sp>
        <p:nvSpPr>
          <p:cNvPr id="3" name="object 3">
            <a:extLst>
              <a:ext uri="{FF2B5EF4-FFF2-40B4-BE49-F238E27FC236}">
                <a16:creationId xmlns:a16="http://schemas.microsoft.com/office/drawing/2014/main" id="{1718936F-D19B-B6DA-1D8F-30C0BB237DAA}"/>
              </a:ext>
            </a:extLst>
          </p:cNvPr>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Simple</a:t>
            </a:r>
            <a:r>
              <a:rPr spc="-55" dirty="0"/>
              <a:t> </a:t>
            </a:r>
            <a:r>
              <a:rPr dirty="0"/>
              <a:t>reliable</a:t>
            </a:r>
            <a:r>
              <a:rPr spc="-55" dirty="0"/>
              <a:t> </a:t>
            </a:r>
            <a:r>
              <a:rPr dirty="0"/>
              <a:t>group</a:t>
            </a:r>
            <a:r>
              <a:rPr spc="-55" dirty="0"/>
              <a:t> </a:t>
            </a:r>
            <a:r>
              <a:rPr spc="-10" dirty="0"/>
              <a:t>communication</a:t>
            </a:r>
          </a:p>
        </p:txBody>
      </p:sp>
      <p:sp>
        <p:nvSpPr>
          <p:cNvPr id="4" name="object 4">
            <a:extLst>
              <a:ext uri="{FF2B5EF4-FFF2-40B4-BE49-F238E27FC236}">
                <a16:creationId xmlns:a16="http://schemas.microsoft.com/office/drawing/2014/main" id="{AF536395-521C-2352-ADBA-7F584DBF598E}"/>
              </a:ext>
            </a:extLst>
          </p:cNvPr>
          <p:cNvSpPr txBox="1"/>
          <p:nvPr/>
        </p:nvSpPr>
        <p:spPr>
          <a:xfrm>
            <a:off x="347294" y="471706"/>
            <a:ext cx="3929379" cy="625170"/>
          </a:xfrm>
          <a:prstGeom prst="rect">
            <a:avLst/>
          </a:prstGeom>
        </p:spPr>
        <p:txBody>
          <a:bodyPr vert="horz" wrap="square" lIns="0" tIns="55244" rIns="0" bIns="0" rtlCol="0">
            <a:spAutoFit/>
          </a:bodyPr>
          <a:lstStyle/>
          <a:p>
            <a:pPr algn="just"/>
            <a:r>
              <a:rPr lang="en-US" sz="1000" dirty="0">
                <a:solidFill>
                  <a:schemeClr val="accent1">
                    <a:lumMod val="75000"/>
                  </a:schemeClr>
                </a:solidFill>
                <a:latin typeface="Arial" panose="020B0604020202020204" pitchFamily="34" charset="0"/>
                <a:cs typeface="Arial" panose="020B0604020202020204" pitchFamily="34" charset="0"/>
              </a:rPr>
              <a:t>Message Ordering</a:t>
            </a:r>
          </a:p>
          <a:p>
            <a:pPr algn="just"/>
            <a:r>
              <a:rPr lang="en-US" sz="900" b="1" i="1" u="sng" dirty="0">
                <a:solidFill>
                  <a:schemeClr val="tx1"/>
                </a:solidFill>
                <a:latin typeface="Arial" panose="020B0604020202020204" pitchFamily="34" charset="0"/>
                <a:cs typeface="Arial" panose="020B0604020202020204" pitchFamily="34" charset="0"/>
              </a:rPr>
              <a:t>Unordered multicast</a:t>
            </a:r>
            <a:r>
              <a:rPr lang="en-US" sz="900" b="1" i="1" dirty="0">
                <a:solidFill>
                  <a:schemeClr val="tx1"/>
                </a:solidFill>
                <a:latin typeface="Arial" panose="020B0604020202020204" pitchFamily="34" charset="0"/>
                <a:cs typeface="Arial" panose="020B0604020202020204" pitchFamily="34" charset="0"/>
              </a:rPr>
              <a:t> </a:t>
            </a:r>
            <a:r>
              <a:rPr lang="en-US" sz="900" dirty="0">
                <a:solidFill>
                  <a:schemeClr val="tx1"/>
                </a:solidFill>
                <a:latin typeface="Arial" panose="020B0604020202020204" pitchFamily="34" charset="0"/>
                <a:cs typeface="Arial" panose="020B0604020202020204" pitchFamily="34" charset="0"/>
              </a:rPr>
              <a:t>provides no guarantees of in-order delivery of message</a:t>
            </a:r>
          </a:p>
          <a:p>
            <a:pPr algn="just"/>
            <a:endParaRPr lang="en-US" sz="900" dirty="0">
              <a:solidFill>
                <a:schemeClr val="tx1"/>
              </a:solidFill>
              <a:latin typeface="Arial" panose="020B0604020202020204" pitchFamily="34" charset="0"/>
              <a:cs typeface="Arial" panose="020B0604020202020204" pitchFamily="34" charset="0"/>
            </a:endParaRPr>
          </a:p>
        </p:txBody>
      </p:sp>
      <p:grpSp>
        <p:nvGrpSpPr>
          <p:cNvPr id="7" name="object 7">
            <a:extLst>
              <a:ext uri="{FF2B5EF4-FFF2-40B4-BE49-F238E27FC236}">
                <a16:creationId xmlns:a16="http://schemas.microsoft.com/office/drawing/2014/main" id="{007851E4-B632-B34B-B32A-AC093F1F9E0C}"/>
              </a:ext>
            </a:extLst>
          </p:cNvPr>
          <p:cNvGrpSpPr/>
          <p:nvPr/>
        </p:nvGrpSpPr>
        <p:grpSpPr>
          <a:xfrm>
            <a:off x="0" y="3348469"/>
            <a:ext cx="4608195" cy="107950"/>
            <a:chOff x="0" y="3348469"/>
            <a:chExt cx="4608195" cy="107950"/>
          </a:xfrm>
        </p:grpSpPr>
        <p:sp>
          <p:nvSpPr>
            <p:cNvPr id="8" name="object 8">
              <a:extLst>
                <a:ext uri="{FF2B5EF4-FFF2-40B4-BE49-F238E27FC236}">
                  <a16:creationId xmlns:a16="http://schemas.microsoft.com/office/drawing/2014/main" id="{C840672E-C43A-32A2-FAF1-1E268F8C4E90}"/>
                </a:ext>
              </a:extLst>
            </p:cNvPr>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a:extLst>
                <a:ext uri="{FF2B5EF4-FFF2-40B4-BE49-F238E27FC236}">
                  <a16:creationId xmlns:a16="http://schemas.microsoft.com/office/drawing/2014/main" id="{E710AC29-55AF-CF06-EDDC-1A6C87B342BC}"/>
                </a:ext>
              </a:extLst>
            </p:cNvPr>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58907EF9-197A-54E1-B860-2CED31E3A1DF}"/>
              </a:ext>
            </a:extLst>
          </p:cNvPr>
          <p:cNvSpPr txBox="1"/>
          <p:nvPr/>
        </p:nvSpPr>
        <p:spPr>
          <a:xfrm>
            <a:off x="53467" y="3349927"/>
            <a:ext cx="35623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Introduction</a:t>
            </a:r>
            <a:endParaRPr sz="500">
              <a:latin typeface="Arial"/>
              <a:cs typeface="Arial"/>
            </a:endParaRPr>
          </a:p>
        </p:txBody>
      </p:sp>
      <p:pic>
        <p:nvPicPr>
          <p:cNvPr id="11" name="Picture 10">
            <a:extLst>
              <a:ext uri="{FF2B5EF4-FFF2-40B4-BE49-F238E27FC236}">
                <a16:creationId xmlns:a16="http://schemas.microsoft.com/office/drawing/2014/main" id="{870629FE-E8C3-64F4-616E-05BCAA035F57}"/>
              </a:ext>
            </a:extLst>
          </p:cNvPr>
          <p:cNvPicPr>
            <a:picLocks noChangeAspect="1"/>
          </p:cNvPicPr>
          <p:nvPr/>
        </p:nvPicPr>
        <p:blipFill>
          <a:blip r:embed="rId5"/>
          <a:stretch>
            <a:fillRect/>
          </a:stretch>
        </p:blipFill>
        <p:spPr>
          <a:xfrm>
            <a:off x="552450" y="958377"/>
            <a:ext cx="3295650" cy="531557"/>
          </a:xfrm>
          <a:prstGeom prst="rect">
            <a:avLst/>
          </a:prstGeom>
        </p:spPr>
      </p:pic>
      <p:sp>
        <p:nvSpPr>
          <p:cNvPr id="12" name="object 4">
            <a:extLst>
              <a:ext uri="{FF2B5EF4-FFF2-40B4-BE49-F238E27FC236}">
                <a16:creationId xmlns:a16="http://schemas.microsoft.com/office/drawing/2014/main" id="{EEAF60CC-437B-A357-0FF2-69A773E44E9D}"/>
              </a:ext>
            </a:extLst>
          </p:cNvPr>
          <p:cNvSpPr txBox="1"/>
          <p:nvPr/>
        </p:nvSpPr>
        <p:spPr>
          <a:xfrm>
            <a:off x="347294" y="1501775"/>
            <a:ext cx="3929379" cy="332782"/>
          </a:xfrm>
          <a:prstGeom prst="rect">
            <a:avLst/>
          </a:prstGeom>
        </p:spPr>
        <p:txBody>
          <a:bodyPr vert="horz" wrap="square" lIns="0" tIns="55244" rIns="0" bIns="0" rtlCol="0">
            <a:spAutoFit/>
          </a:bodyPr>
          <a:lstStyle/>
          <a:p>
            <a:pPr algn="just"/>
            <a:r>
              <a:rPr lang="en-US" sz="900" b="1" i="1" u="sng" dirty="0">
                <a:solidFill>
                  <a:schemeClr val="tx1"/>
                </a:solidFill>
                <a:latin typeface="Arial" panose="020B0604020202020204" pitchFamily="34" charset="0"/>
                <a:cs typeface="Arial" panose="020B0604020202020204" pitchFamily="34" charset="0"/>
              </a:rPr>
              <a:t>FIFO-ordered multicast</a:t>
            </a:r>
            <a:r>
              <a:rPr lang="en-US" sz="900" dirty="0">
                <a:solidFill>
                  <a:schemeClr val="tx1"/>
                </a:solidFill>
                <a:latin typeface="Arial" panose="020B0604020202020204" pitchFamily="34" charset="0"/>
                <a:cs typeface="Arial" panose="020B0604020202020204" pitchFamily="34" charset="0"/>
              </a:rPr>
              <a:t> provides guarantees of in-order delivery of message</a:t>
            </a:r>
          </a:p>
          <a:p>
            <a:pPr algn="just"/>
            <a:endParaRPr lang="en-US" sz="900" dirty="0">
              <a:solidFill>
                <a:schemeClr val="tx1"/>
              </a:solidFill>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BA9DBC7D-D701-BF5C-B7BF-C3D7E4702EA9}"/>
              </a:ext>
            </a:extLst>
          </p:cNvPr>
          <p:cNvPicPr>
            <a:picLocks noChangeAspect="1"/>
          </p:cNvPicPr>
          <p:nvPr/>
        </p:nvPicPr>
        <p:blipFill>
          <a:blip r:embed="rId6"/>
          <a:stretch>
            <a:fillRect/>
          </a:stretch>
        </p:blipFill>
        <p:spPr>
          <a:xfrm>
            <a:off x="427902" y="2092528"/>
            <a:ext cx="3768161" cy="752648"/>
          </a:xfrm>
          <a:prstGeom prst="rect">
            <a:avLst/>
          </a:prstGeom>
        </p:spPr>
      </p:pic>
    </p:spTree>
    <p:extLst>
      <p:ext uri="{BB962C8B-B14F-4D97-AF65-F5344CB8AC3E}">
        <p14:creationId xmlns:p14="http://schemas.microsoft.com/office/powerpoint/2010/main" val="1676147478"/>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3A940-6F65-0375-079B-27FA0952DAD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372FCD3-A3D8-43B6-88DE-1E99846B00E4}"/>
              </a:ext>
            </a:extLst>
          </p:cNvPr>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639820" algn="l"/>
              </a:tabLst>
            </a:pPr>
            <a:r>
              <a:rPr sz="500" spc="-10" dirty="0">
                <a:latin typeface="Arial"/>
                <a:cs typeface="Arial"/>
                <a:hlinkClick r:id="rId3" action="ppaction://hlinksldjump"/>
              </a:rPr>
              <a:t>Fault</a:t>
            </a:r>
            <a:r>
              <a:rPr sz="500" spc="5" dirty="0">
                <a:latin typeface="Arial"/>
                <a:cs typeface="Arial"/>
                <a:hlinkClick r:id="rId3" action="ppaction://hlinksldjump"/>
              </a:rPr>
              <a:t> </a:t>
            </a:r>
            <a:r>
              <a:rPr sz="500" spc="-10" dirty="0">
                <a:latin typeface="Arial"/>
                <a:cs typeface="Arial"/>
                <a:hlinkClick r:id="rId3" action="ppaction://hlinksldjump"/>
              </a:rPr>
              <a:t>tolerance</a:t>
            </a:r>
            <a:r>
              <a:rPr sz="500" dirty="0">
                <a:latin typeface="Arial"/>
                <a:cs typeface="Arial"/>
              </a:rPr>
              <a:t>	</a:t>
            </a:r>
            <a:r>
              <a:rPr sz="500" dirty="0">
                <a:solidFill>
                  <a:srgbClr val="FFFFFF"/>
                </a:solidFill>
                <a:latin typeface="Arial"/>
                <a:cs typeface="Arial"/>
                <a:hlinkClick r:id="rId4" action="ppaction://hlinksldjump"/>
              </a:rPr>
              <a:t>Reliable</a:t>
            </a:r>
            <a:r>
              <a:rPr sz="500" spc="-30" dirty="0">
                <a:solidFill>
                  <a:srgbClr val="FFFFFF"/>
                </a:solidFill>
                <a:latin typeface="Arial"/>
                <a:cs typeface="Arial"/>
                <a:hlinkClick r:id="rId4" action="ppaction://hlinksldjump"/>
              </a:rPr>
              <a:t> </a:t>
            </a:r>
            <a:r>
              <a:rPr sz="500" dirty="0">
                <a:solidFill>
                  <a:srgbClr val="FFFFFF"/>
                </a:solidFill>
                <a:latin typeface="Arial"/>
                <a:cs typeface="Arial"/>
                <a:hlinkClick r:id="rId4" action="ppaction://hlinksldjump"/>
              </a:rPr>
              <a:t>group</a:t>
            </a:r>
            <a:r>
              <a:rPr sz="500" spc="-30" dirty="0">
                <a:solidFill>
                  <a:srgbClr val="FFFFFF"/>
                </a:solidFill>
                <a:latin typeface="Arial"/>
                <a:cs typeface="Arial"/>
                <a:hlinkClick r:id="rId4" action="ppaction://hlinksldjump"/>
              </a:rPr>
              <a:t> </a:t>
            </a:r>
            <a:r>
              <a:rPr sz="500" spc="-10" dirty="0">
                <a:solidFill>
                  <a:srgbClr val="FFFFFF"/>
                </a:solidFill>
                <a:latin typeface="Arial"/>
                <a:cs typeface="Arial"/>
                <a:hlinkClick r:id="rId4" action="ppaction://hlinksldjump"/>
              </a:rPr>
              <a:t>communication</a:t>
            </a:r>
            <a:endParaRPr sz="500">
              <a:latin typeface="Arial"/>
              <a:cs typeface="Arial"/>
            </a:endParaRPr>
          </a:p>
        </p:txBody>
      </p:sp>
      <p:sp>
        <p:nvSpPr>
          <p:cNvPr id="3" name="object 3">
            <a:extLst>
              <a:ext uri="{FF2B5EF4-FFF2-40B4-BE49-F238E27FC236}">
                <a16:creationId xmlns:a16="http://schemas.microsoft.com/office/drawing/2014/main" id="{EC43494E-552D-9F7B-F956-133B4A5BF1F7}"/>
              </a:ext>
            </a:extLst>
          </p:cNvPr>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Simple</a:t>
            </a:r>
            <a:r>
              <a:rPr spc="-55" dirty="0"/>
              <a:t> </a:t>
            </a:r>
            <a:r>
              <a:rPr dirty="0"/>
              <a:t>reliable</a:t>
            </a:r>
            <a:r>
              <a:rPr spc="-55" dirty="0"/>
              <a:t> </a:t>
            </a:r>
            <a:r>
              <a:rPr dirty="0"/>
              <a:t>group</a:t>
            </a:r>
            <a:r>
              <a:rPr spc="-55" dirty="0"/>
              <a:t> </a:t>
            </a:r>
            <a:r>
              <a:rPr spc="-10" dirty="0"/>
              <a:t>communication</a:t>
            </a:r>
          </a:p>
        </p:txBody>
      </p:sp>
      <p:sp>
        <p:nvSpPr>
          <p:cNvPr id="4" name="object 4">
            <a:extLst>
              <a:ext uri="{FF2B5EF4-FFF2-40B4-BE49-F238E27FC236}">
                <a16:creationId xmlns:a16="http://schemas.microsoft.com/office/drawing/2014/main" id="{9BEBB80A-E784-5B39-E4ED-4C836D5FDE1A}"/>
              </a:ext>
            </a:extLst>
          </p:cNvPr>
          <p:cNvSpPr txBox="1"/>
          <p:nvPr/>
        </p:nvSpPr>
        <p:spPr>
          <a:xfrm>
            <a:off x="347294" y="471706"/>
            <a:ext cx="3929379" cy="763670"/>
          </a:xfrm>
          <a:prstGeom prst="rect">
            <a:avLst/>
          </a:prstGeom>
        </p:spPr>
        <p:txBody>
          <a:bodyPr vert="horz" wrap="square" lIns="0" tIns="55244" rIns="0" bIns="0" rtlCol="0">
            <a:spAutoFit/>
          </a:bodyPr>
          <a:lstStyle/>
          <a:p>
            <a:pPr algn="just"/>
            <a:r>
              <a:rPr lang="en-US" sz="1000" dirty="0">
                <a:solidFill>
                  <a:schemeClr val="accent1">
                    <a:lumMod val="75000"/>
                  </a:schemeClr>
                </a:solidFill>
                <a:latin typeface="Arial" panose="020B0604020202020204" pitchFamily="34" charset="0"/>
                <a:cs typeface="Arial" panose="020B0604020202020204" pitchFamily="34" charset="0"/>
              </a:rPr>
              <a:t>Message Ordering</a:t>
            </a:r>
          </a:p>
          <a:p>
            <a:pPr algn="just"/>
            <a:r>
              <a:rPr lang="en-US" sz="900" b="1" i="1" u="sng" dirty="0">
                <a:solidFill>
                  <a:schemeClr val="tx1"/>
                </a:solidFill>
                <a:latin typeface="Arial" panose="020B0604020202020204" pitchFamily="34" charset="0"/>
                <a:cs typeface="Arial" panose="020B0604020202020204" pitchFamily="34" charset="0"/>
              </a:rPr>
              <a:t>Casually-ordered multicast</a:t>
            </a:r>
            <a:r>
              <a:rPr lang="en-US" sz="900" b="1" i="1" dirty="0">
                <a:solidFill>
                  <a:schemeClr val="tx1"/>
                </a:solidFill>
                <a:latin typeface="Arial" panose="020B0604020202020204" pitchFamily="34" charset="0"/>
                <a:cs typeface="Arial" panose="020B0604020202020204" pitchFamily="34" charset="0"/>
              </a:rPr>
              <a:t> </a:t>
            </a:r>
            <a:r>
              <a:rPr lang="en-US" sz="900" dirty="0">
                <a:solidFill>
                  <a:schemeClr val="tx1"/>
                </a:solidFill>
                <a:latin typeface="Arial" panose="020B0604020202020204" pitchFamily="34" charset="0"/>
                <a:cs typeface="Arial" panose="020B0604020202020204" pitchFamily="34" charset="0"/>
              </a:rPr>
              <a:t>provides guarantees of in-order delivery of message which casually proceed after each other</a:t>
            </a:r>
          </a:p>
          <a:p>
            <a:pPr algn="just"/>
            <a:r>
              <a:rPr lang="en-US" sz="900" b="1" i="1" u="sng" dirty="0">
                <a:solidFill>
                  <a:schemeClr val="tx1"/>
                </a:solidFill>
                <a:latin typeface="Arial" panose="020B0604020202020204" pitchFamily="34" charset="0"/>
                <a:cs typeface="Arial" panose="020B0604020202020204" pitchFamily="34" charset="0"/>
              </a:rPr>
              <a:t>Totally-ordered multicast</a:t>
            </a:r>
            <a:r>
              <a:rPr lang="en-US" sz="900" b="1" i="1" dirty="0">
                <a:solidFill>
                  <a:schemeClr val="tx1"/>
                </a:solidFill>
                <a:latin typeface="Arial" panose="020B0604020202020204" pitchFamily="34" charset="0"/>
                <a:cs typeface="Arial" panose="020B0604020202020204" pitchFamily="34" charset="0"/>
              </a:rPr>
              <a:t> </a:t>
            </a:r>
            <a:r>
              <a:rPr lang="en-US" sz="900" dirty="0">
                <a:solidFill>
                  <a:schemeClr val="tx1"/>
                </a:solidFill>
                <a:latin typeface="Arial" panose="020B0604020202020204" pitchFamily="34" charset="0"/>
                <a:cs typeface="Arial" panose="020B0604020202020204" pitchFamily="34" charset="0"/>
              </a:rPr>
              <a:t>provides guarantees of receiving message in same order at each receiver whether it is actually ordered or un-ordered.</a:t>
            </a:r>
          </a:p>
        </p:txBody>
      </p:sp>
      <p:grpSp>
        <p:nvGrpSpPr>
          <p:cNvPr id="7" name="object 7">
            <a:extLst>
              <a:ext uri="{FF2B5EF4-FFF2-40B4-BE49-F238E27FC236}">
                <a16:creationId xmlns:a16="http://schemas.microsoft.com/office/drawing/2014/main" id="{A5E02BA4-D7A2-929E-142E-0513399FAD8E}"/>
              </a:ext>
            </a:extLst>
          </p:cNvPr>
          <p:cNvGrpSpPr/>
          <p:nvPr/>
        </p:nvGrpSpPr>
        <p:grpSpPr>
          <a:xfrm>
            <a:off x="0" y="3348469"/>
            <a:ext cx="4608195" cy="107950"/>
            <a:chOff x="0" y="3348469"/>
            <a:chExt cx="4608195" cy="107950"/>
          </a:xfrm>
        </p:grpSpPr>
        <p:sp>
          <p:nvSpPr>
            <p:cNvPr id="8" name="object 8">
              <a:extLst>
                <a:ext uri="{FF2B5EF4-FFF2-40B4-BE49-F238E27FC236}">
                  <a16:creationId xmlns:a16="http://schemas.microsoft.com/office/drawing/2014/main" id="{FE534674-B2BA-9EF7-67AF-4DCBF696FDCE}"/>
                </a:ext>
              </a:extLst>
            </p:cNvPr>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a:extLst>
                <a:ext uri="{FF2B5EF4-FFF2-40B4-BE49-F238E27FC236}">
                  <a16:creationId xmlns:a16="http://schemas.microsoft.com/office/drawing/2014/main" id="{36DC903F-E2EF-D1D5-09C4-CC4EA1A51A5F}"/>
                </a:ext>
              </a:extLst>
            </p:cNvPr>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1717AEEA-1229-D44F-32CD-614F83FE1768}"/>
              </a:ext>
            </a:extLst>
          </p:cNvPr>
          <p:cNvSpPr txBox="1"/>
          <p:nvPr/>
        </p:nvSpPr>
        <p:spPr>
          <a:xfrm>
            <a:off x="53467" y="3349927"/>
            <a:ext cx="35623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Introduction</a:t>
            </a:r>
            <a:endParaRPr sz="500">
              <a:latin typeface="Arial"/>
              <a:cs typeface="Arial"/>
            </a:endParaRPr>
          </a:p>
        </p:txBody>
      </p:sp>
      <p:pic>
        <p:nvPicPr>
          <p:cNvPr id="6" name="Picture 5">
            <a:extLst>
              <a:ext uri="{FF2B5EF4-FFF2-40B4-BE49-F238E27FC236}">
                <a16:creationId xmlns:a16="http://schemas.microsoft.com/office/drawing/2014/main" id="{3F9DA5AD-B7D8-AD21-CBDD-E74D3F25A711}"/>
              </a:ext>
            </a:extLst>
          </p:cNvPr>
          <p:cNvPicPr>
            <a:picLocks noChangeAspect="1"/>
          </p:cNvPicPr>
          <p:nvPr/>
        </p:nvPicPr>
        <p:blipFill>
          <a:blip r:embed="rId5"/>
          <a:stretch>
            <a:fillRect/>
          </a:stretch>
        </p:blipFill>
        <p:spPr>
          <a:xfrm>
            <a:off x="591158" y="1531962"/>
            <a:ext cx="3441650" cy="997790"/>
          </a:xfrm>
          <a:prstGeom prst="rect">
            <a:avLst/>
          </a:prstGeom>
        </p:spPr>
      </p:pic>
    </p:spTree>
    <p:extLst>
      <p:ext uri="{BB962C8B-B14F-4D97-AF65-F5344CB8AC3E}">
        <p14:creationId xmlns:p14="http://schemas.microsoft.com/office/powerpoint/2010/main" val="1596339115"/>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64304"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3" action="ppaction://hlinksldjump"/>
              </a:rPr>
              <a:t>Distributed</a:t>
            </a:r>
            <a:r>
              <a:rPr sz="500" spc="-3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commit</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Distributed</a:t>
            </a:r>
            <a:r>
              <a:rPr spc="-60" dirty="0"/>
              <a:t> </a:t>
            </a:r>
            <a:r>
              <a:rPr dirty="0"/>
              <a:t>commit</a:t>
            </a:r>
            <a:r>
              <a:rPr spc="-60" dirty="0"/>
              <a:t> </a:t>
            </a:r>
            <a:r>
              <a:rPr spc="-10" dirty="0"/>
              <a:t>protocols</a:t>
            </a:r>
          </a:p>
        </p:txBody>
      </p:sp>
      <p:sp>
        <p:nvSpPr>
          <p:cNvPr id="4" name="object 4"/>
          <p:cNvSpPr txBox="1"/>
          <p:nvPr/>
        </p:nvSpPr>
        <p:spPr>
          <a:xfrm>
            <a:off x="334594" y="499476"/>
            <a:ext cx="3846829" cy="903605"/>
          </a:xfrm>
          <a:prstGeom prst="rect">
            <a:avLst/>
          </a:prstGeom>
        </p:spPr>
        <p:txBody>
          <a:bodyPr vert="horz" wrap="square" lIns="0" tIns="27305" rIns="0" bIns="0" rtlCol="0">
            <a:spAutoFit/>
          </a:bodyPr>
          <a:lstStyle/>
          <a:p>
            <a:pPr marL="25400">
              <a:lnSpc>
                <a:spcPct val="100000"/>
              </a:lnSpc>
              <a:spcBef>
                <a:spcPts val="215"/>
              </a:spcBef>
            </a:pPr>
            <a:r>
              <a:rPr sz="1000" spc="-10" dirty="0">
                <a:solidFill>
                  <a:srgbClr val="3333B2"/>
                </a:solidFill>
                <a:latin typeface="Arial"/>
                <a:cs typeface="Arial"/>
              </a:rPr>
              <a:t>Problem</a:t>
            </a:r>
            <a:endParaRPr sz="1000">
              <a:latin typeface="Arial"/>
              <a:cs typeface="Arial"/>
            </a:endParaRPr>
          </a:p>
          <a:p>
            <a:pPr marL="25400" marR="17780">
              <a:lnSpc>
                <a:spcPts val="1210"/>
              </a:lnSpc>
              <a:spcBef>
                <a:spcPts val="35"/>
              </a:spcBef>
            </a:pPr>
            <a:r>
              <a:rPr sz="900" spc="-10" dirty="0">
                <a:latin typeface="Arial"/>
                <a:cs typeface="Arial"/>
              </a:rPr>
              <a:t>Have</a:t>
            </a:r>
            <a:r>
              <a:rPr sz="900" spc="-30" dirty="0">
                <a:latin typeface="Arial"/>
                <a:cs typeface="Arial"/>
              </a:rPr>
              <a:t> </a:t>
            </a:r>
            <a:r>
              <a:rPr sz="900" dirty="0">
                <a:latin typeface="Arial"/>
                <a:cs typeface="Arial"/>
              </a:rPr>
              <a:t>an</a:t>
            </a:r>
            <a:r>
              <a:rPr sz="900" spc="-30" dirty="0">
                <a:latin typeface="Arial"/>
                <a:cs typeface="Arial"/>
              </a:rPr>
              <a:t> </a:t>
            </a:r>
            <a:r>
              <a:rPr sz="900" dirty="0">
                <a:latin typeface="Arial"/>
                <a:cs typeface="Arial"/>
              </a:rPr>
              <a:t>operation</a:t>
            </a:r>
            <a:r>
              <a:rPr sz="900" spc="-30" dirty="0">
                <a:latin typeface="Arial"/>
                <a:cs typeface="Arial"/>
              </a:rPr>
              <a:t> </a:t>
            </a:r>
            <a:r>
              <a:rPr sz="900" dirty="0">
                <a:latin typeface="Arial"/>
                <a:cs typeface="Arial"/>
              </a:rPr>
              <a:t>being</a:t>
            </a:r>
            <a:r>
              <a:rPr sz="900" spc="-30" dirty="0">
                <a:latin typeface="Arial"/>
                <a:cs typeface="Arial"/>
              </a:rPr>
              <a:t> </a:t>
            </a:r>
            <a:r>
              <a:rPr sz="900" dirty="0">
                <a:latin typeface="Arial"/>
                <a:cs typeface="Arial"/>
              </a:rPr>
              <a:t>performed</a:t>
            </a:r>
            <a:r>
              <a:rPr sz="900" spc="-30" dirty="0">
                <a:latin typeface="Arial"/>
                <a:cs typeface="Arial"/>
              </a:rPr>
              <a:t> </a:t>
            </a:r>
            <a:r>
              <a:rPr sz="900" dirty="0">
                <a:latin typeface="Arial"/>
                <a:cs typeface="Arial"/>
              </a:rPr>
              <a:t>by</a:t>
            </a:r>
            <a:r>
              <a:rPr sz="900" spc="-30" dirty="0">
                <a:latin typeface="Arial"/>
                <a:cs typeface="Arial"/>
              </a:rPr>
              <a:t> </a:t>
            </a:r>
            <a:r>
              <a:rPr sz="900" dirty="0">
                <a:latin typeface="Arial"/>
                <a:cs typeface="Arial"/>
              </a:rPr>
              <a:t>each</a:t>
            </a:r>
            <a:r>
              <a:rPr sz="900" spc="-30" dirty="0">
                <a:latin typeface="Arial"/>
                <a:cs typeface="Arial"/>
              </a:rPr>
              <a:t> </a:t>
            </a:r>
            <a:r>
              <a:rPr sz="900" dirty="0">
                <a:latin typeface="Arial"/>
                <a:cs typeface="Arial"/>
              </a:rPr>
              <a:t>member</a:t>
            </a:r>
            <a:r>
              <a:rPr sz="900" spc="-30"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process</a:t>
            </a:r>
            <a:r>
              <a:rPr sz="900" spc="-30" dirty="0">
                <a:latin typeface="Arial"/>
                <a:cs typeface="Arial"/>
              </a:rPr>
              <a:t> </a:t>
            </a:r>
            <a:r>
              <a:rPr sz="900" spc="-10" dirty="0">
                <a:latin typeface="Arial"/>
                <a:cs typeface="Arial"/>
              </a:rPr>
              <a:t>group,</a:t>
            </a:r>
            <a:r>
              <a:rPr sz="900" spc="-30" dirty="0">
                <a:latin typeface="Arial"/>
                <a:cs typeface="Arial"/>
              </a:rPr>
              <a:t> </a:t>
            </a:r>
            <a:r>
              <a:rPr sz="900" spc="-25" dirty="0">
                <a:latin typeface="Arial"/>
                <a:cs typeface="Arial"/>
              </a:rPr>
              <a:t>or </a:t>
            </a:r>
            <a:r>
              <a:rPr sz="900" dirty="0">
                <a:latin typeface="Arial"/>
                <a:cs typeface="Arial"/>
              </a:rPr>
              <a:t>none</a:t>
            </a:r>
            <a:r>
              <a:rPr sz="900" spc="-20" dirty="0">
                <a:latin typeface="Arial"/>
                <a:cs typeface="Arial"/>
              </a:rPr>
              <a:t> </a:t>
            </a:r>
            <a:r>
              <a:rPr sz="900" dirty="0">
                <a:latin typeface="Arial"/>
                <a:cs typeface="Arial"/>
              </a:rPr>
              <a:t>at</a:t>
            </a:r>
            <a:r>
              <a:rPr sz="900" spc="-20" dirty="0">
                <a:latin typeface="Arial"/>
                <a:cs typeface="Arial"/>
              </a:rPr>
              <a:t> all.</a:t>
            </a:r>
            <a:endParaRPr sz="900">
              <a:latin typeface="Arial"/>
              <a:cs typeface="Arial"/>
            </a:endParaRPr>
          </a:p>
          <a:p>
            <a:pPr marL="278130" indent="-120650">
              <a:lnSpc>
                <a:spcPct val="100000"/>
              </a:lnSpc>
              <a:spcBef>
                <a:spcPts val="459"/>
              </a:spcBef>
              <a:buFont typeface="Menlo"/>
              <a:buChar char="•"/>
              <a:tabLst>
                <a:tab pos="278765" algn="l"/>
              </a:tabLst>
            </a:pPr>
            <a:r>
              <a:rPr sz="900" dirty="0">
                <a:solidFill>
                  <a:srgbClr val="3333B2"/>
                </a:solidFill>
                <a:latin typeface="Arial"/>
                <a:cs typeface="Arial"/>
              </a:rPr>
              <a:t>Reliable</a:t>
            </a:r>
            <a:r>
              <a:rPr sz="900" spc="-25" dirty="0">
                <a:solidFill>
                  <a:srgbClr val="3333B2"/>
                </a:solidFill>
                <a:latin typeface="Arial"/>
                <a:cs typeface="Arial"/>
              </a:rPr>
              <a:t> </a:t>
            </a:r>
            <a:r>
              <a:rPr sz="900" dirty="0">
                <a:solidFill>
                  <a:srgbClr val="3333B2"/>
                </a:solidFill>
                <a:latin typeface="Arial"/>
                <a:cs typeface="Arial"/>
              </a:rPr>
              <a:t>multicasting</a:t>
            </a:r>
            <a:r>
              <a:rPr sz="900" dirty="0">
                <a:latin typeface="Arial"/>
                <a:cs typeface="Arial"/>
              </a:rPr>
              <a:t>:</a:t>
            </a:r>
            <a:r>
              <a:rPr sz="900" spc="35"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message</a:t>
            </a:r>
            <a:r>
              <a:rPr sz="900" spc="-20"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be</a:t>
            </a:r>
            <a:r>
              <a:rPr sz="900" spc="-20" dirty="0">
                <a:latin typeface="Arial"/>
                <a:cs typeface="Arial"/>
              </a:rPr>
              <a:t> </a:t>
            </a:r>
            <a:r>
              <a:rPr sz="900" spc="-10" dirty="0">
                <a:latin typeface="Arial"/>
                <a:cs typeface="Arial"/>
              </a:rPr>
              <a:t>delivered</a:t>
            </a:r>
            <a:r>
              <a:rPr sz="900" spc="-20"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all</a:t>
            </a:r>
            <a:r>
              <a:rPr sz="900" spc="-25" dirty="0">
                <a:latin typeface="Arial"/>
                <a:cs typeface="Arial"/>
              </a:rPr>
              <a:t> </a:t>
            </a:r>
            <a:r>
              <a:rPr sz="900" spc="-10" dirty="0">
                <a:latin typeface="Arial"/>
                <a:cs typeface="Arial"/>
              </a:rPr>
              <a:t>recipients.</a:t>
            </a:r>
            <a:endParaRPr sz="900">
              <a:latin typeface="Arial"/>
              <a:cs typeface="Arial"/>
            </a:endParaRPr>
          </a:p>
          <a:p>
            <a:pPr marL="278130" indent="-120650">
              <a:lnSpc>
                <a:spcPct val="100000"/>
              </a:lnSpc>
              <a:spcBef>
                <a:spcPts val="525"/>
              </a:spcBef>
              <a:buFont typeface="Menlo"/>
              <a:buChar char="•"/>
              <a:tabLst>
                <a:tab pos="278765" algn="l"/>
              </a:tabLst>
            </a:pPr>
            <a:r>
              <a:rPr sz="900" dirty="0">
                <a:solidFill>
                  <a:srgbClr val="3333B2"/>
                </a:solidFill>
                <a:latin typeface="Arial"/>
                <a:cs typeface="Arial"/>
              </a:rPr>
              <a:t>Distributed</a:t>
            </a:r>
            <a:r>
              <a:rPr sz="900" spc="-45" dirty="0">
                <a:solidFill>
                  <a:srgbClr val="3333B2"/>
                </a:solidFill>
                <a:latin typeface="Arial"/>
                <a:cs typeface="Arial"/>
              </a:rPr>
              <a:t> </a:t>
            </a:r>
            <a:r>
              <a:rPr sz="900" dirty="0">
                <a:solidFill>
                  <a:srgbClr val="3333B2"/>
                </a:solidFill>
                <a:latin typeface="Arial"/>
                <a:cs typeface="Arial"/>
              </a:rPr>
              <a:t>transaction</a:t>
            </a:r>
            <a:r>
              <a:rPr sz="900" dirty="0">
                <a:latin typeface="Arial"/>
                <a:cs typeface="Arial"/>
              </a:rPr>
              <a:t>:</a:t>
            </a:r>
            <a:r>
              <a:rPr sz="900" spc="10" dirty="0">
                <a:latin typeface="Arial"/>
                <a:cs typeface="Arial"/>
              </a:rPr>
              <a:t> </a:t>
            </a:r>
            <a:r>
              <a:rPr sz="900" dirty="0">
                <a:latin typeface="Arial"/>
                <a:cs typeface="Arial"/>
              </a:rPr>
              <a:t>each</a:t>
            </a:r>
            <a:r>
              <a:rPr sz="900" spc="-45" dirty="0">
                <a:latin typeface="Arial"/>
                <a:cs typeface="Arial"/>
              </a:rPr>
              <a:t> </a:t>
            </a:r>
            <a:r>
              <a:rPr sz="900" dirty="0">
                <a:latin typeface="Arial"/>
                <a:cs typeface="Arial"/>
              </a:rPr>
              <a:t>local</a:t>
            </a:r>
            <a:r>
              <a:rPr sz="900" spc="-40" dirty="0">
                <a:latin typeface="Arial"/>
                <a:cs typeface="Arial"/>
              </a:rPr>
              <a:t> </a:t>
            </a:r>
            <a:r>
              <a:rPr sz="900" dirty="0">
                <a:latin typeface="Arial"/>
                <a:cs typeface="Arial"/>
              </a:rPr>
              <a:t>transaction</a:t>
            </a:r>
            <a:r>
              <a:rPr sz="900" spc="-40" dirty="0">
                <a:latin typeface="Arial"/>
                <a:cs typeface="Arial"/>
              </a:rPr>
              <a:t> </a:t>
            </a:r>
            <a:r>
              <a:rPr sz="900" dirty="0">
                <a:latin typeface="Arial"/>
                <a:cs typeface="Arial"/>
              </a:rPr>
              <a:t>must</a:t>
            </a:r>
            <a:r>
              <a:rPr sz="900" spc="-45" dirty="0">
                <a:latin typeface="Arial"/>
                <a:cs typeface="Arial"/>
              </a:rPr>
              <a:t> </a:t>
            </a:r>
            <a:r>
              <a:rPr sz="900" spc="-10" dirty="0">
                <a:latin typeface="Arial"/>
                <a:cs typeface="Arial"/>
              </a:rPr>
              <a:t>succeed.</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Tree>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64304"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3" action="ppaction://hlinksldjump"/>
              </a:rPr>
              <a:t>Distributed</a:t>
            </a:r>
            <a:r>
              <a:rPr sz="500" spc="-3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commit</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spc="-55" dirty="0"/>
              <a:t>Two-</a:t>
            </a:r>
            <a:r>
              <a:rPr dirty="0"/>
              <a:t>phase</a:t>
            </a:r>
            <a:r>
              <a:rPr spc="-35" dirty="0"/>
              <a:t> </a:t>
            </a:r>
            <a:r>
              <a:rPr dirty="0"/>
              <a:t>commit</a:t>
            </a:r>
            <a:r>
              <a:rPr spc="-30" dirty="0"/>
              <a:t> </a:t>
            </a:r>
            <a:r>
              <a:rPr dirty="0"/>
              <a:t>protocol</a:t>
            </a:r>
            <a:r>
              <a:rPr spc="-35" dirty="0"/>
              <a:t> </a:t>
            </a:r>
            <a:r>
              <a:rPr spc="-10" dirty="0"/>
              <a:t>(2PC)</a:t>
            </a:r>
          </a:p>
        </p:txBody>
      </p:sp>
      <p:sp>
        <p:nvSpPr>
          <p:cNvPr id="4" name="object 4"/>
          <p:cNvSpPr txBox="1"/>
          <p:nvPr/>
        </p:nvSpPr>
        <p:spPr>
          <a:xfrm>
            <a:off x="331063" y="499476"/>
            <a:ext cx="3942715" cy="2076450"/>
          </a:xfrm>
          <a:prstGeom prst="rect">
            <a:avLst/>
          </a:prstGeom>
        </p:spPr>
        <p:txBody>
          <a:bodyPr vert="horz" wrap="square" lIns="0" tIns="27305" rIns="0" bIns="0" rtlCol="0">
            <a:spAutoFit/>
          </a:bodyPr>
          <a:lstStyle/>
          <a:p>
            <a:pPr marL="28575">
              <a:lnSpc>
                <a:spcPct val="100000"/>
              </a:lnSpc>
              <a:spcBef>
                <a:spcPts val="215"/>
              </a:spcBef>
            </a:pPr>
            <a:r>
              <a:rPr sz="1000" spc="-10" dirty="0">
                <a:solidFill>
                  <a:srgbClr val="3333B2"/>
                </a:solidFill>
                <a:latin typeface="Arial"/>
                <a:cs typeface="Arial"/>
              </a:rPr>
              <a:t>Essence</a:t>
            </a:r>
            <a:endParaRPr sz="1000">
              <a:latin typeface="Arial"/>
              <a:cs typeface="Arial"/>
            </a:endParaRPr>
          </a:p>
          <a:p>
            <a:pPr marL="28575" marR="332740" indent="-3810">
              <a:lnSpc>
                <a:spcPts val="1210"/>
              </a:lnSpc>
              <a:spcBef>
                <a:spcPts val="35"/>
              </a:spcBef>
            </a:pPr>
            <a:r>
              <a:rPr sz="900" dirty="0">
                <a:latin typeface="Arial"/>
                <a:cs typeface="Arial"/>
              </a:rPr>
              <a:t>The</a:t>
            </a:r>
            <a:r>
              <a:rPr sz="900" spc="-30" dirty="0">
                <a:latin typeface="Arial"/>
                <a:cs typeface="Arial"/>
              </a:rPr>
              <a:t> </a:t>
            </a:r>
            <a:r>
              <a:rPr sz="900" dirty="0">
                <a:latin typeface="Arial"/>
                <a:cs typeface="Arial"/>
              </a:rPr>
              <a:t>client</a:t>
            </a:r>
            <a:r>
              <a:rPr sz="900" spc="-30" dirty="0">
                <a:latin typeface="Arial"/>
                <a:cs typeface="Arial"/>
              </a:rPr>
              <a:t> </a:t>
            </a:r>
            <a:r>
              <a:rPr sz="900" dirty="0">
                <a:latin typeface="Arial"/>
                <a:cs typeface="Arial"/>
              </a:rPr>
              <a:t>who</a:t>
            </a:r>
            <a:r>
              <a:rPr sz="900" spc="-30" dirty="0">
                <a:latin typeface="Arial"/>
                <a:cs typeface="Arial"/>
              </a:rPr>
              <a:t> </a:t>
            </a:r>
            <a:r>
              <a:rPr sz="900" dirty="0">
                <a:latin typeface="Arial"/>
                <a:cs typeface="Arial"/>
              </a:rPr>
              <a:t>initiated</a:t>
            </a:r>
            <a:r>
              <a:rPr sz="900" spc="-30"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computation</a:t>
            </a:r>
            <a:r>
              <a:rPr sz="900" spc="-30" dirty="0">
                <a:latin typeface="Arial"/>
                <a:cs typeface="Arial"/>
              </a:rPr>
              <a:t> </a:t>
            </a:r>
            <a:r>
              <a:rPr sz="900" dirty="0">
                <a:latin typeface="Arial"/>
                <a:cs typeface="Arial"/>
              </a:rPr>
              <a:t>acts</a:t>
            </a:r>
            <a:r>
              <a:rPr sz="900" spc="-30" dirty="0">
                <a:latin typeface="Arial"/>
                <a:cs typeface="Arial"/>
              </a:rPr>
              <a:t> </a:t>
            </a:r>
            <a:r>
              <a:rPr sz="900" dirty="0">
                <a:latin typeface="Arial"/>
                <a:cs typeface="Arial"/>
              </a:rPr>
              <a:t>as</a:t>
            </a:r>
            <a:r>
              <a:rPr sz="900" spc="-25" dirty="0">
                <a:latin typeface="Arial"/>
                <a:cs typeface="Arial"/>
              </a:rPr>
              <a:t> </a:t>
            </a:r>
            <a:r>
              <a:rPr sz="900" dirty="0">
                <a:solidFill>
                  <a:srgbClr val="C80000"/>
                </a:solidFill>
                <a:latin typeface="Arial"/>
                <a:cs typeface="Arial"/>
              </a:rPr>
              <a:t>coordinator</a:t>
            </a:r>
            <a:r>
              <a:rPr sz="900" dirty="0">
                <a:latin typeface="Arial"/>
                <a:cs typeface="Arial"/>
              </a:rPr>
              <a:t>;</a:t>
            </a:r>
            <a:r>
              <a:rPr sz="900" spc="-30" dirty="0">
                <a:latin typeface="Arial"/>
                <a:cs typeface="Arial"/>
              </a:rPr>
              <a:t> </a:t>
            </a:r>
            <a:r>
              <a:rPr sz="900" spc="-10" dirty="0">
                <a:latin typeface="Arial"/>
                <a:cs typeface="Arial"/>
              </a:rPr>
              <a:t>processes </a:t>
            </a:r>
            <a:r>
              <a:rPr sz="900" dirty="0">
                <a:latin typeface="Arial"/>
                <a:cs typeface="Arial"/>
              </a:rPr>
              <a:t>required</a:t>
            </a:r>
            <a:r>
              <a:rPr sz="900" spc="-3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commit</a:t>
            </a:r>
            <a:r>
              <a:rPr sz="900" spc="-25" dirty="0">
                <a:latin typeface="Arial"/>
                <a:cs typeface="Arial"/>
              </a:rPr>
              <a:t> </a:t>
            </a:r>
            <a:r>
              <a:rPr sz="900" dirty="0">
                <a:latin typeface="Arial"/>
                <a:cs typeface="Arial"/>
              </a:rPr>
              <a:t>are</a:t>
            </a:r>
            <a:r>
              <a:rPr sz="900" spc="-25" dirty="0">
                <a:latin typeface="Arial"/>
                <a:cs typeface="Arial"/>
              </a:rPr>
              <a:t> </a:t>
            </a:r>
            <a:r>
              <a:rPr sz="900" dirty="0">
                <a:latin typeface="Arial"/>
                <a:cs typeface="Arial"/>
              </a:rPr>
              <a:t>the</a:t>
            </a:r>
            <a:r>
              <a:rPr sz="900" spc="-20" dirty="0">
                <a:latin typeface="Arial"/>
                <a:cs typeface="Arial"/>
              </a:rPr>
              <a:t> </a:t>
            </a:r>
            <a:r>
              <a:rPr sz="900" spc="-10" dirty="0">
                <a:solidFill>
                  <a:srgbClr val="3333B2"/>
                </a:solidFill>
                <a:latin typeface="Arial"/>
                <a:cs typeface="Arial"/>
              </a:rPr>
              <a:t>participants</a:t>
            </a:r>
            <a:r>
              <a:rPr sz="900" spc="-10" dirty="0">
                <a:latin typeface="Arial"/>
                <a:cs typeface="Arial"/>
              </a:rPr>
              <a:t>.</a:t>
            </a:r>
            <a:endParaRPr sz="900">
              <a:latin typeface="Arial"/>
              <a:cs typeface="Arial"/>
            </a:endParaRPr>
          </a:p>
          <a:p>
            <a:pPr marL="281940" marR="18415" indent="-120650">
              <a:lnSpc>
                <a:spcPct val="111600"/>
              </a:lnSpc>
              <a:spcBef>
                <a:spcPts val="335"/>
              </a:spcBef>
              <a:buClr>
                <a:srgbClr val="3333B2"/>
              </a:buClr>
              <a:buFont typeface="Menlo"/>
              <a:buChar char="•"/>
              <a:tabLst>
                <a:tab pos="282575" algn="l"/>
              </a:tabLst>
            </a:pPr>
            <a:r>
              <a:rPr sz="900" dirty="0">
                <a:solidFill>
                  <a:srgbClr val="C80000"/>
                </a:solidFill>
                <a:latin typeface="Arial"/>
                <a:cs typeface="Arial"/>
              </a:rPr>
              <a:t>Phase</a:t>
            </a:r>
            <a:r>
              <a:rPr sz="900" spc="25" dirty="0">
                <a:solidFill>
                  <a:srgbClr val="C80000"/>
                </a:solidFill>
                <a:latin typeface="Arial"/>
                <a:cs typeface="Arial"/>
              </a:rPr>
              <a:t> </a:t>
            </a:r>
            <a:r>
              <a:rPr sz="900" dirty="0">
                <a:solidFill>
                  <a:srgbClr val="C80000"/>
                </a:solidFill>
                <a:latin typeface="Arial"/>
                <a:cs typeface="Arial"/>
              </a:rPr>
              <a:t>1a:</a:t>
            </a:r>
            <a:r>
              <a:rPr sz="900" spc="95" dirty="0">
                <a:solidFill>
                  <a:srgbClr val="C80000"/>
                </a:solidFill>
                <a:latin typeface="Arial"/>
                <a:cs typeface="Arial"/>
              </a:rPr>
              <a:t> </a:t>
            </a:r>
            <a:r>
              <a:rPr sz="900" spc="-10" dirty="0">
                <a:latin typeface="Arial"/>
                <a:cs typeface="Arial"/>
              </a:rPr>
              <a:t>Coordinator</a:t>
            </a:r>
            <a:r>
              <a:rPr sz="900" spc="25" dirty="0">
                <a:latin typeface="Arial"/>
                <a:cs typeface="Arial"/>
              </a:rPr>
              <a:t> </a:t>
            </a:r>
            <a:r>
              <a:rPr sz="900" dirty="0">
                <a:latin typeface="Arial"/>
                <a:cs typeface="Arial"/>
              </a:rPr>
              <a:t>sends</a:t>
            </a:r>
            <a:r>
              <a:rPr sz="900" spc="55" dirty="0">
                <a:latin typeface="Arial"/>
                <a:cs typeface="Arial"/>
              </a:rPr>
              <a:t> </a:t>
            </a:r>
            <a:r>
              <a:rPr sz="700" dirty="0">
                <a:latin typeface="Arial"/>
                <a:cs typeface="Arial"/>
              </a:rPr>
              <a:t>VOTE</a:t>
            </a:r>
            <a:r>
              <a:rPr sz="900" dirty="0">
                <a:latin typeface="Arial"/>
                <a:cs typeface="Arial"/>
              </a:rPr>
              <a:t>-</a:t>
            </a:r>
            <a:r>
              <a:rPr sz="700" dirty="0">
                <a:latin typeface="Arial"/>
                <a:cs typeface="Arial"/>
              </a:rPr>
              <a:t>REQUEST</a:t>
            </a:r>
            <a:r>
              <a:rPr sz="700" spc="110"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participants</a:t>
            </a:r>
            <a:r>
              <a:rPr sz="900" spc="25" dirty="0">
                <a:latin typeface="Arial"/>
                <a:cs typeface="Arial"/>
              </a:rPr>
              <a:t> </a:t>
            </a:r>
            <a:r>
              <a:rPr sz="900" dirty="0">
                <a:latin typeface="Arial"/>
                <a:cs typeface="Arial"/>
              </a:rPr>
              <a:t>(also</a:t>
            </a:r>
            <a:r>
              <a:rPr sz="900" spc="25" dirty="0">
                <a:latin typeface="Arial"/>
                <a:cs typeface="Arial"/>
              </a:rPr>
              <a:t> </a:t>
            </a:r>
            <a:r>
              <a:rPr sz="900" spc="-10" dirty="0">
                <a:latin typeface="Arial"/>
                <a:cs typeface="Arial"/>
              </a:rPr>
              <a:t>called </a:t>
            </a:r>
            <a:r>
              <a:rPr sz="900" dirty="0">
                <a:latin typeface="Arial"/>
                <a:cs typeface="Arial"/>
              </a:rPr>
              <a:t>a</a:t>
            </a:r>
            <a:r>
              <a:rPr sz="900" spc="10" dirty="0">
                <a:latin typeface="Arial"/>
                <a:cs typeface="Arial"/>
              </a:rPr>
              <a:t> </a:t>
            </a:r>
            <a:r>
              <a:rPr sz="900" spc="-10" dirty="0">
                <a:solidFill>
                  <a:srgbClr val="3333B2"/>
                </a:solidFill>
                <a:latin typeface="Arial"/>
                <a:cs typeface="Arial"/>
              </a:rPr>
              <a:t>pre-write</a:t>
            </a:r>
            <a:r>
              <a:rPr sz="900" spc="-10" dirty="0">
                <a:latin typeface="Arial"/>
                <a:cs typeface="Arial"/>
              </a:rPr>
              <a:t>)</a:t>
            </a:r>
            <a:endParaRPr sz="900">
              <a:latin typeface="Arial"/>
              <a:cs typeface="Arial"/>
            </a:endParaRPr>
          </a:p>
          <a:p>
            <a:pPr marL="281305" marR="56515" indent="-120014">
              <a:lnSpc>
                <a:spcPct val="111600"/>
              </a:lnSpc>
              <a:spcBef>
                <a:spcPts val="395"/>
              </a:spcBef>
              <a:buClr>
                <a:srgbClr val="3333B2"/>
              </a:buClr>
              <a:buFont typeface="Menlo"/>
              <a:buChar char="•"/>
              <a:tabLst>
                <a:tab pos="282575" algn="l"/>
              </a:tabLst>
            </a:pPr>
            <a:r>
              <a:rPr sz="900" dirty="0">
                <a:solidFill>
                  <a:srgbClr val="C80000"/>
                </a:solidFill>
                <a:latin typeface="Arial"/>
                <a:cs typeface="Arial"/>
              </a:rPr>
              <a:t>Phase</a:t>
            </a:r>
            <a:r>
              <a:rPr sz="900" spc="35" dirty="0">
                <a:solidFill>
                  <a:srgbClr val="C80000"/>
                </a:solidFill>
                <a:latin typeface="Arial"/>
                <a:cs typeface="Arial"/>
              </a:rPr>
              <a:t> </a:t>
            </a:r>
            <a:r>
              <a:rPr sz="900" dirty="0">
                <a:solidFill>
                  <a:srgbClr val="C80000"/>
                </a:solidFill>
                <a:latin typeface="Arial"/>
                <a:cs typeface="Arial"/>
              </a:rPr>
              <a:t>1b:</a:t>
            </a:r>
            <a:r>
              <a:rPr sz="900" spc="105" dirty="0">
                <a:solidFill>
                  <a:srgbClr val="C80000"/>
                </a:solidFill>
                <a:latin typeface="Arial"/>
                <a:cs typeface="Arial"/>
              </a:rPr>
              <a:t> </a:t>
            </a:r>
            <a:r>
              <a:rPr sz="900" dirty="0">
                <a:latin typeface="Arial"/>
                <a:cs typeface="Arial"/>
              </a:rPr>
              <a:t>When</a:t>
            </a:r>
            <a:r>
              <a:rPr sz="900" spc="35" dirty="0">
                <a:latin typeface="Arial"/>
                <a:cs typeface="Arial"/>
              </a:rPr>
              <a:t> </a:t>
            </a:r>
            <a:r>
              <a:rPr sz="900" dirty="0">
                <a:latin typeface="Arial"/>
                <a:cs typeface="Arial"/>
              </a:rPr>
              <a:t>participant</a:t>
            </a:r>
            <a:r>
              <a:rPr sz="900" spc="40" dirty="0">
                <a:latin typeface="Arial"/>
                <a:cs typeface="Arial"/>
              </a:rPr>
              <a:t> </a:t>
            </a:r>
            <a:r>
              <a:rPr sz="900" dirty="0">
                <a:latin typeface="Arial"/>
                <a:cs typeface="Arial"/>
              </a:rPr>
              <a:t>receives</a:t>
            </a:r>
            <a:r>
              <a:rPr sz="900" spc="65" dirty="0">
                <a:latin typeface="Arial"/>
                <a:cs typeface="Arial"/>
              </a:rPr>
              <a:t> </a:t>
            </a:r>
            <a:r>
              <a:rPr sz="700" dirty="0">
                <a:latin typeface="Arial"/>
                <a:cs typeface="Arial"/>
              </a:rPr>
              <a:t>VOTE</a:t>
            </a:r>
            <a:r>
              <a:rPr sz="900" dirty="0">
                <a:latin typeface="Arial"/>
                <a:cs typeface="Arial"/>
              </a:rPr>
              <a:t>-</a:t>
            </a:r>
            <a:r>
              <a:rPr sz="700" dirty="0">
                <a:latin typeface="Arial"/>
                <a:cs typeface="Arial"/>
              </a:rPr>
              <a:t>REQUEST</a:t>
            </a:r>
            <a:r>
              <a:rPr sz="700" spc="120" dirty="0">
                <a:latin typeface="Arial"/>
                <a:cs typeface="Arial"/>
              </a:rPr>
              <a:t> </a:t>
            </a:r>
            <a:r>
              <a:rPr sz="900" dirty="0">
                <a:latin typeface="Arial"/>
                <a:cs typeface="Arial"/>
              </a:rPr>
              <a:t>it</a:t>
            </a:r>
            <a:r>
              <a:rPr sz="900" spc="35" dirty="0">
                <a:latin typeface="Arial"/>
                <a:cs typeface="Arial"/>
              </a:rPr>
              <a:t> </a:t>
            </a:r>
            <a:r>
              <a:rPr sz="900" dirty="0">
                <a:latin typeface="Arial"/>
                <a:cs typeface="Arial"/>
              </a:rPr>
              <a:t>returns</a:t>
            </a:r>
            <a:r>
              <a:rPr sz="900" spc="35" dirty="0">
                <a:latin typeface="Arial"/>
                <a:cs typeface="Arial"/>
              </a:rPr>
              <a:t> </a:t>
            </a:r>
            <a:r>
              <a:rPr sz="900" spc="-10" dirty="0">
                <a:latin typeface="Arial"/>
                <a:cs typeface="Arial"/>
              </a:rPr>
              <a:t>either </a:t>
            </a:r>
            <a:r>
              <a:rPr sz="700" dirty="0">
                <a:latin typeface="Arial"/>
                <a:cs typeface="Arial"/>
              </a:rPr>
              <a:t>VOTE</a:t>
            </a:r>
            <a:r>
              <a:rPr sz="900" dirty="0">
                <a:latin typeface="Arial"/>
                <a:cs typeface="Arial"/>
              </a:rPr>
              <a:t>-</a:t>
            </a:r>
            <a:r>
              <a:rPr sz="700" dirty="0">
                <a:latin typeface="Arial"/>
                <a:cs typeface="Arial"/>
              </a:rPr>
              <a:t>COMMIT</a:t>
            </a:r>
            <a:r>
              <a:rPr sz="700" spc="195" dirty="0">
                <a:latin typeface="Arial"/>
                <a:cs typeface="Arial"/>
              </a:rPr>
              <a:t> </a:t>
            </a:r>
            <a:r>
              <a:rPr sz="900" dirty="0">
                <a:latin typeface="Arial"/>
                <a:cs typeface="Arial"/>
              </a:rPr>
              <a:t>or</a:t>
            </a:r>
            <a:r>
              <a:rPr sz="900" spc="140" dirty="0">
                <a:latin typeface="Arial"/>
                <a:cs typeface="Arial"/>
              </a:rPr>
              <a:t> </a:t>
            </a:r>
            <a:r>
              <a:rPr sz="700" dirty="0">
                <a:latin typeface="Arial"/>
                <a:cs typeface="Arial"/>
              </a:rPr>
              <a:t>VOTE</a:t>
            </a:r>
            <a:r>
              <a:rPr sz="900" dirty="0">
                <a:latin typeface="Arial"/>
                <a:cs typeface="Arial"/>
              </a:rPr>
              <a:t>-</a:t>
            </a:r>
            <a:r>
              <a:rPr sz="700" dirty="0">
                <a:latin typeface="Arial"/>
                <a:cs typeface="Arial"/>
              </a:rPr>
              <a:t>ABORT</a:t>
            </a:r>
            <a:r>
              <a:rPr sz="700" spc="195" dirty="0">
                <a:latin typeface="Arial"/>
                <a:cs typeface="Arial"/>
              </a:rPr>
              <a:t> </a:t>
            </a:r>
            <a:r>
              <a:rPr sz="900" dirty="0">
                <a:latin typeface="Arial"/>
                <a:cs typeface="Arial"/>
              </a:rPr>
              <a:t>to</a:t>
            </a:r>
            <a:r>
              <a:rPr sz="900" spc="105" dirty="0">
                <a:latin typeface="Arial"/>
                <a:cs typeface="Arial"/>
              </a:rPr>
              <a:t> </a:t>
            </a:r>
            <a:r>
              <a:rPr sz="900" dirty="0">
                <a:latin typeface="Arial"/>
                <a:cs typeface="Arial"/>
              </a:rPr>
              <a:t>coordinator.</a:t>
            </a:r>
            <a:r>
              <a:rPr sz="900" spc="195" dirty="0">
                <a:latin typeface="Arial"/>
                <a:cs typeface="Arial"/>
              </a:rPr>
              <a:t> </a:t>
            </a:r>
            <a:r>
              <a:rPr sz="900" dirty="0">
                <a:latin typeface="Arial"/>
                <a:cs typeface="Arial"/>
              </a:rPr>
              <a:t>If</a:t>
            </a:r>
            <a:r>
              <a:rPr sz="900" spc="105" dirty="0">
                <a:latin typeface="Arial"/>
                <a:cs typeface="Arial"/>
              </a:rPr>
              <a:t> </a:t>
            </a:r>
            <a:r>
              <a:rPr sz="900" dirty="0">
                <a:latin typeface="Arial"/>
                <a:cs typeface="Arial"/>
              </a:rPr>
              <a:t>it</a:t>
            </a:r>
            <a:r>
              <a:rPr sz="900" spc="105" dirty="0">
                <a:latin typeface="Arial"/>
                <a:cs typeface="Arial"/>
              </a:rPr>
              <a:t> </a:t>
            </a:r>
            <a:r>
              <a:rPr sz="900" dirty="0">
                <a:latin typeface="Arial"/>
                <a:cs typeface="Arial"/>
              </a:rPr>
              <a:t>sends</a:t>
            </a:r>
            <a:r>
              <a:rPr sz="900" spc="140" dirty="0">
                <a:latin typeface="Arial"/>
                <a:cs typeface="Arial"/>
              </a:rPr>
              <a:t> </a:t>
            </a:r>
            <a:r>
              <a:rPr sz="700" dirty="0">
                <a:latin typeface="Arial"/>
                <a:cs typeface="Arial"/>
              </a:rPr>
              <a:t>VOTE</a:t>
            </a:r>
            <a:r>
              <a:rPr sz="900" dirty="0">
                <a:latin typeface="Arial"/>
                <a:cs typeface="Arial"/>
              </a:rPr>
              <a:t>-</a:t>
            </a:r>
            <a:r>
              <a:rPr sz="700" dirty="0">
                <a:latin typeface="Arial"/>
                <a:cs typeface="Arial"/>
              </a:rPr>
              <a:t>ABORT</a:t>
            </a:r>
            <a:r>
              <a:rPr sz="900" dirty="0">
                <a:latin typeface="Arial"/>
                <a:cs typeface="Arial"/>
              </a:rPr>
              <a:t>,</a:t>
            </a:r>
            <a:r>
              <a:rPr sz="900" spc="105" dirty="0">
                <a:latin typeface="Arial"/>
                <a:cs typeface="Arial"/>
              </a:rPr>
              <a:t> </a:t>
            </a:r>
            <a:r>
              <a:rPr sz="900" spc="-25" dirty="0">
                <a:latin typeface="Arial"/>
                <a:cs typeface="Arial"/>
              </a:rPr>
              <a:t>it </a:t>
            </a:r>
            <a:r>
              <a:rPr sz="900" dirty="0">
                <a:latin typeface="Arial"/>
                <a:cs typeface="Arial"/>
              </a:rPr>
              <a:t>aborts</a:t>
            </a:r>
            <a:r>
              <a:rPr sz="900" spc="-15" dirty="0">
                <a:latin typeface="Arial"/>
                <a:cs typeface="Arial"/>
              </a:rPr>
              <a:t> </a:t>
            </a:r>
            <a:r>
              <a:rPr sz="900" dirty="0">
                <a:latin typeface="Arial"/>
                <a:cs typeface="Arial"/>
              </a:rPr>
              <a:t>its</a:t>
            </a:r>
            <a:r>
              <a:rPr sz="900" spc="-10" dirty="0">
                <a:latin typeface="Arial"/>
                <a:cs typeface="Arial"/>
              </a:rPr>
              <a:t> </a:t>
            </a:r>
            <a:r>
              <a:rPr sz="900" dirty="0">
                <a:latin typeface="Arial"/>
                <a:cs typeface="Arial"/>
              </a:rPr>
              <a:t>local</a:t>
            </a:r>
            <a:r>
              <a:rPr sz="900" spc="-10" dirty="0">
                <a:latin typeface="Arial"/>
                <a:cs typeface="Arial"/>
              </a:rPr>
              <a:t> computation</a:t>
            </a:r>
            <a:endParaRPr sz="900">
              <a:latin typeface="Arial"/>
              <a:cs typeface="Arial"/>
            </a:endParaRPr>
          </a:p>
          <a:p>
            <a:pPr marL="281940" indent="-121285">
              <a:lnSpc>
                <a:spcPct val="100000"/>
              </a:lnSpc>
              <a:spcBef>
                <a:spcPts val="525"/>
              </a:spcBef>
              <a:buClr>
                <a:srgbClr val="3333B2"/>
              </a:buClr>
              <a:buFont typeface="Menlo"/>
              <a:buChar char="•"/>
              <a:tabLst>
                <a:tab pos="282575" algn="l"/>
              </a:tabLst>
            </a:pPr>
            <a:r>
              <a:rPr sz="900" dirty="0">
                <a:solidFill>
                  <a:srgbClr val="C80000"/>
                </a:solidFill>
                <a:latin typeface="Arial"/>
                <a:cs typeface="Arial"/>
              </a:rPr>
              <a:t>Phase</a:t>
            </a:r>
            <a:r>
              <a:rPr sz="900" spc="20" dirty="0">
                <a:solidFill>
                  <a:srgbClr val="C80000"/>
                </a:solidFill>
                <a:latin typeface="Arial"/>
                <a:cs typeface="Arial"/>
              </a:rPr>
              <a:t> </a:t>
            </a:r>
            <a:r>
              <a:rPr sz="900" dirty="0">
                <a:solidFill>
                  <a:srgbClr val="C80000"/>
                </a:solidFill>
                <a:latin typeface="Arial"/>
                <a:cs typeface="Arial"/>
              </a:rPr>
              <a:t>2a:</a:t>
            </a:r>
            <a:r>
              <a:rPr sz="900" spc="90" dirty="0">
                <a:solidFill>
                  <a:srgbClr val="C80000"/>
                </a:solidFill>
                <a:latin typeface="Arial"/>
                <a:cs typeface="Arial"/>
              </a:rPr>
              <a:t> </a:t>
            </a:r>
            <a:r>
              <a:rPr sz="900" spc="-10" dirty="0">
                <a:latin typeface="Arial"/>
                <a:cs typeface="Arial"/>
              </a:rPr>
              <a:t>Coordinator</a:t>
            </a:r>
            <a:r>
              <a:rPr sz="900" spc="25" dirty="0">
                <a:latin typeface="Arial"/>
                <a:cs typeface="Arial"/>
              </a:rPr>
              <a:t> </a:t>
            </a:r>
            <a:r>
              <a:rPr sz="900" spc="-10" dirty="0">
                <a:latin typeface="Arial"/>
                <a:cs typeface="Arial"/>
              </a:rPr>
              <a:t>collects</a:t>
            </a:r>
            <a:r>
              <a:rPr sz="900" spc="25" dirty="0">
                <a:latin typeface="Arial"/>
                <a:cs typeface="Arial"/>
              </a:rPr>
              <a:t> </a:t>
            </a:r>
            <a:r>
              <a:rPr sz="900" dirty="0">
                <a:latin typeface="Arial"/>
                <a:cs typeface="Arial"/>
              </a:rPr>
              <a:t>all</a:t>
            </a:r>
            <a:r>
              <a:rPr sz="900" spc="20" dirty="0">
                <a:latin typeface="Arial"/>
                <a:cs typeface="Arial"/>
              </a:rPr>
              <a:t> </a:t>
            </a:r>
            <a:r>
              <a:rPr sz="900" spc="-10" dirty="0">
                <a:latin typeface="Arial"/>
                <a:cs typeface="Arial"/>
              </a:rPr>
              <a:t>votes;</a:t>
            </a:r>
            <a:r>
              <a:rPr sz="900" spc="25" dirty="0">
                <a:latin typeface="Arial"/>
                <a:cs typeface="Arial"/>
              </a:rPr>
              <a:t> </a:t>
            </a:r>
            <a:r>
              <a:rPr sz="900" dirty="0">
                <a:latin typeface="Arial"/>
                <a:cs typeface="Arial"/>
              </a:rPr>
              <a:t>if</a:t>
            </a:r>
            <a:r>
              <a:rPr sz="900" spc="25" dirty="0">
                <a:latin typeface="Arial"/>
                <a:cs typeface="Arial"/>
              </a:rPr>
              <a:t> </a:t>
            </a:r>
            <a:r>
              <a:rPr sz="900" dirty="0">
                <a:latin typeface="Arial"/>
                <a:cs typeface="Arial"/>
              </a:rPr>
              <a:t>all</a:t>
            </a:r>
            <a:r>
              <a:rPr sz="900" spc="25" dirty="0">
                <a:latin typeface="Arial"/>
                <a:cs typeface="Arial"/>
              </a:rPr>
              <a:t> </a:t>
            </a:r>
            <a:r>
              <a:rPr sz="900" dirty="0">
                <a:latin typeface="Arial"/>
                <a:cs typeface="Arial"/>
              </a:rPr>
              <a:t>are</a:t>
            </a:r>
            <a:r>
              <a:rPr sz="900" spc="50" dirty="0">
                <a:latin typeface="Arial"/>
                <a:cs typeface="Arial"/>
              </a:rPr>
              <a:t> </a:t>
            </a:r>
            <a:r>
              <a:rPr sz="700" dirty="0">
                <a:latin typeface="Arial"/>
                <a:cs typeface="Arial"/>
              </a:rPr>
              <a:t>VOTE</a:t>
            </a:r>
            <a:r>
              <a:rPr sz="900" dirty="0">
                <a:latin typeface="Arial"/>
                <a:cs typeface="Arial"/>
              </a:rPr>
              <a:t>-</a:t>
            </a:r>
            <a:r>
              <a:rPr sz="700" dirty="0">
                <a:latin typeface="Arial"/>
                <a:cs typeface="Arial"/>
              </a:rPr>
              <a:t>COMMIT</a:t>
            </a:r>
            <a:r>
              <a:rPr sz="900" dirty="0">
                <a:latin typeface="Arial"/>
                <a:cs typeface="Arial"/>
              </a:rPr>
              <a:t>,</a:t>
            </a:r>
            <a:r>
              <a:rPr sz="900" spc="25" dirty="0">
                <a:latin typeface="Arial"/>
                <a:cs typeface="Arial"/>
              </a:rPr>
              <a:t> </a:t>
            </a:r>
            <a:r>
              <a:rPr sz="900" dirty="0">
                <a:latin typeface="Arial"/>
                <a:cs typeface="Arial"/>
              </a:rPr>
              <a:t>it</a:t>
            </a:r>
            <a:r>
              <a:rPr sz="900" spc="20" dirty="0">
                <a:latin typeface="Arial"/>
                <a:cs typeface="Arial"/>
              </a:rPr>
              <a:t> </a:t>
            </a:r>
            <a:r>
              <a:rPr sz="900" spc="-10" dirty="0">
                <a:latin typeface="Arial"/>
                <a:cs typeface="Arial"/>
              </a:rPr>
              <a:t>sends</a:t>
            </a:r>
            <a:endParaRPr sz="900">
              <a:latin typeface="Arial"/>
              <a:cs typeface="Arial"/>
            </a:endParaRPr>
          </a:p>
          <a:p>
            <a:pPr marL="142875" algn="ctr">
              <a:lnSpc>
                <a:spcPct val="100000"/>
              </a:lnSpc>
              <a:spcBef>
                <a:spcPts val="125"/>
              </a:spcBef>
            </a:pPr>
            <a:r>
              <a:rPr sz="700" spc="45" dirty="0">
                <a:latin typeface="Arial"/>
                <a:cs typeface="Arial"/>
              </a:rPr>
              <a:t>GLOBAL</a:t>
            </a:r>
            <a:r>
              <a:rPr sz="900" spc="45" dirty="0">
                <a:latin typeface="Arial"/>
                <a:cs typeface="Arial"/>
              </a:rPr>
              <a:t>-</a:t>
            </a:r>
            <a:r>
              <a:rPr sz="700" dirty="0">
                <a:latin typeface="Arial"/>
                <a:cs typeface="Arial"/>
              </a:rPr>
              <a:t>COMMIT</a:t>
            </a:r>
            <a:r>
              <a:rPr sz="700" spc="100"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all</a:t>
            </a:r>
            <a:r>
              <a:rPr sz="900" spc="20" dirty="0">
                <a:latin typeface="Arial"/>
                <a:cs typeface="Arial"/>
              </a:rPr>
              <a:t> </a:t>
            </a:r>
            <a:r>
              <a:rPr sz="900" dirty="0">
                <a:latin typeface="Arial"/>
                <a:cs typeface="Arial"/>
              </a:rPr>
              <a:t>participants,</a:t>
            </a:r>
            <a:r>
              <a:rPr sz="900" spc="20" dirty="0">
                <a:latin typeface="Arial"/>
                <a:cs typeface="Arial"/>
              </a:rPr>
              <a:t> </a:t>
            </a:r>
            <a:r>
              <a:rPr sz="900" dirty="0">
                <a:latin typeface="Arial"/>
                <a:cs typeface="Arial"/>
              </a:rPr>
              <a:t>otherwise</a:t>
            </a:r>
            <a:r>
              <a:rPr sz="900" spc="20" dirty="0">
                <a:latin typeface="Arial"/>
                <a:cs typeface="Arial"/>
              </a:rPr>
              <a:t> </a:t>
            </a:r>
            <a:r>
              <a:rPr sz="900" dirty="0">
                <a:latin typeface="Arial"/>
                <a:cs typeface="Arial"/>
              </a:rPr>
              <a:t>it</a:t>
            </a:r>
            <a:r>
              <a:rPr sz="900" spc="20" dirty="0">
                <a:latin typeface="Arial"/>
                <a:cs typeface="Arial"/>
              </a:rPr>
              <a:t> </a:t>
            </a:r>
            <a:r>
              <a:rPr sz="900" dirty="0">
                <a:latin typeface="Arial"/>
                <a:cs typeface="Arial"/>
              </a:rPr>
              <a:t>sends</a:t>
            </a:r>
            <a:r>
              <a:rPr sz="900" spc="50" dirty="0">
                <a:latin typeface="Arial"/>
                <a:cs typeface="Arial"/>
              </a:rPr>
              <a:t> </a:t>
            </a:r>
            <a:r>
              <a:rPr sz="700" spc="45" dirty="0">
                <a:latin typeface="Arial"/>
                <a:cs typeface="Arial"/>
              </a:rPr>
              <a:t>GLOBAL</a:t>
            </a:r>
            <a:r>
              <a:rPr sz="900" spc="45" dirty="0">
                <a:latin typeface="Arial"/>
                <a:cs typeface="Arial"/>
              </a:rPr>
              <a:t>-</a:t>
            </a:r>
            <a:r>
              <a:rPr sz="700" spc="-10" dirty="0">
                <a:latin typeface="Arial"/>
                <a:cs typeface="Arial"/>
              </a:rPr>
              <a:t>ABORT</a:t>
            </a:r>
            <a:endParaRPr sz="700">
              <a:latin typeface="Arial"/>
              <a:cs typeface="Arial"/>
            </a:endParaRPr>
          </a:p>
          <a:p>
            <a:pPr marL="255904" indent="-121285" algn="ctr">
              <a:lnSpc>
                <a:spcPct val="100000"/>
              </a:lnSpc>
              <a:spcBef>
                <a:spcPts val="525"/>
              </a:spcBef>
              <a:buClr>
                <a:srgbClr val="3333B2"/>
              </a:buClr>
              <a:buFont typeface="Menlo"/>
              <a:buChar char="•"/>
              <a:tabLst>
                <a:tab pos="256540" algn="l"/>
              </a:tabLst>
            </a:pPr>
            <a:r>
              <a:rPr sz="900" dirty="0">
                <a:solidFill>
                  <a:srgbClr val="C80000"/>
                </a:solidFill>
                <a:latin typeface="Arial"/>
                <a:cs typeface="Arial"/>
              </a:rPr>
              <a:t>Phase</a:t>
            </a:r>
            <a:r>
              <a:rPr sz="900" spc="10" dirty="0">
                <a:solidFill>
                  <a:srgbClr val="C80000"/>
                </a:solidFill>
                <a:latin typeface="Arial"/>
                <a:cs typeface="Arial"/>
              </a:rPr>
              <a:t> </a:t>
            </a:r>
            <a:r>
              <a:rPr sz="900" dirty="0">
                <a:solidFill>
                  <a:srgbClr val="C80000"/>
                </a:solidFill>
                <a:latin typeface="Arial"/>
                <a:cs typeface="Arial"/>
              </a:rPr>
              <a:t>2b:</a:t>
            </a:r>
            <a:r>
              <a:rPr sz="900" spc="75" dirty="0">
                <a:solidFill>
                  <a:srgbClr val="C80000"/>
                </a:solidFill>
                <a:latin typeface="Arial"/>
                <a:cs typeface="Arial"/>
              </a:rPr>
              <a:t> </a:t>
            </a:r>
            <a:r>
              <a:rPr sz="900" dirty="0">
                <a:latin typeface="Arial"/>
                <a:cs typeface="Arial"/>
              </a:rPr>
              <a:t>Each</a:t>
            </a:r>
            <a:r>
              <a:rPr sz="900" spc="10" dirty="0">
                <a:latin typeface="Arial"/>
                <a:cs typeface="Arial"/>
              </a:rPr>
              <a:t> </a:t>
            </a:r>
            <a:r>
              <a:rPr sz="900" dirty="0">
                <a:latin typeface="Arial"/>
                <a:cs typeface="Arial"/>
              </a:rPr>
              <a:t>participant</a:t>
            </a:r>
            <a:r>
              <a:rPr sz="900" spc="10" dirty="0">
                <a:latin typeface="Arial"/>
                <a:cs typeface="Arial"/>
              </a:rPr>
              <a:t> </a:t>
            </a:r>
            <a:r>
              <a:rPr sz="900" dirty="0">
                <a:latin typeface="Arial"/>
                <a:cs typeface="Arial"/>
              </a:rPr>
              <a:t>waits</a:t>
            </a:r>
            <a:r>
              <a:rPr sz="900" spc="15" dirty="0">
                <a:latin typeface="Arial"/>
                <a:cs typeface="Arial"/>
              </a:rPr>
              <a:t> </a:t>
            </a:r>
            <a:r>
              <a:rPr sz="900" dirty="0">
                <a:latin typeface="Arial"/>
                <a:cs typeface="Arial"/>
              </a:rPr>
              <a:t>for</a:t>
            </a:r>
            <a:r>
              <a:rPr sz="900" spc="35" dirty="0">
                <a:latin typeface="Arial"/>
                <a:cs typeface="Arial"/>
              </a:rPr>
              <a:t> </a:t>
            </a:r>
            <a:r>
              <a:rPr sz="700" spc="45" dirty="0">
                <a:latin typeface="Arial"/>
                <a:cs typeface="Arial"/>
              </a:rPr>
              <a:t>GLOBAL</a:t>
            </a:r>
            <a:r>
              <a:rPr sz="900" spc="45" dirty="0">
                <a:latin typeface="Arial"/>
                <a:cs typeface="Arial"/>
              </a:rPr>
              <a:t>-</a:t>
            </a:r>
            <a:r>
              <a:rPr sz="700" dirty="0">
                <a:latin typeface="Arial"/>
                <a:cs typeface="Arial"/>
              </a:rPr>
              <a:t>COMMIT</a:t>
            </a:r>
            <a:r>
              <a:rPr sz="700" spc="95" dirty="0">
                <a:latin typeface="Arial"/>
                <a:cs typeface="Arial"/>
              </a:rPr>
              <a:t> </a:t>
            </a:r>
            <a:r>
              <a:rPr sz="900" dirty="0">
                <a:latin typeface="Arial"/>
                <a:cs typeface="Arial"/>
              </a:rPr>
              <a:t>or</a:t>
            </a:r>
            <a:r>
              <a:rPr sz="900" spc="35" dirty="0">
                <a:latin typeface="Arial"/>
                <a:cs typeface="Arial"/>
              </a:rPr>
              <a:t> </a:t>
            </a:r>
            <a:r>
              <a:rPr sz="700" spc="45" dirty="0">
                <a:latin typeface="Arial"/>
                <a:cs typeface="Arial"/>
              </a:rPr>
              <a:t>GLOBAL</a:t>
            </a:r>
            <a:r>
              <a:rPr sz="900" spc="45" dirty="0">
                <a:latin typeface="Arial"/>
                <a:cs typeface="Arial"/>
              </a:rPr>
              <a:t>-</a:t>
            </a:r>
            <a:r>
              <a:rPr sz="700" spc="-10" dirty="0">
                <a:latin typeface="Arial"/>
                <a:cs typeface="Arial"/>
              </a:rPr>
              <a:t>ABORT</a:t>
            </a:r>
            <a:endParaRPr sz="700">
              <a:latin typeface="Arial"/>
              <a:cs typeface="Arial"/>
            </a:endParaRPr>
          </a:p>
          <a:p>
            <a:pPr marL="281940">
              <a:lnSpc>
                <a:spcPct val="100000"/>
              </a:lnSpc>
              <a:spcBef>
                <a:spcPts val="125"/>
              </a:spcBef>
            </a:pPr>
            <a:r>
              <a:rPr sz="900" dirty="0">
                <a:latin typeface="Arial"/>
                <a:cs typeface="Arial"/>
              </a:rPr>
              <a:t>and</a:t>
            </a:r>
            <a:r>
              <a:rPr sz="900" spc="-30" dirty="0">
                <a:latin typeface="Arial"/>
                <a:cs typeface="Arial"/>
              </a:rPr>
              <a:t> </a:t>
            </a:r>
            <a:r>
              <a:rPr sz="900" dirty="0">
                <a:latin typeface="Arial"/>
                <a:cs typeface="Arial"/>
              </a:rPr>
              <a:t>handles</a:t>
            </a:r>
            <a:r>
              <a:rPr sz="900" spc="-30" dirty="0">
                <a:latin typeface="Arial"/>
                <a:cs typeface="Arial"/>
              </a:rPr>
              <a:t> </a:t>
            </a:r>
            <a:r>
              <a:rPr sz="900" spc="-10" dirty="0">
                <a:latin typeface="Arial"/>
                <a:cs typeface="Arial"/>
              </a:rPr>
              <a:t>accordingly.</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Tree>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05694" y="-1515"/>
            <a:ext cx="54927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Distributed</a:t>
            </a:r>
            <a:r>
              <a:rPr sz="500" spc="-3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commit</a:t>
            </a:r>
            <a:endParaRPr sz="500">
              <a:latin typeface="Arial"/>
              <a:cs typeface="Arial"/>
            </a:endParaRPr>
          </a:p>
        </p:txBody>
      </p:sp>
      <p:sp>
        <p:nvSpPr>
          <p:cNvPr id="5" name="object 5"/>
          <p:cNvSpPr txBox="1"/>
          <p:nvPr/>
        </p:nvSpPr>
        <p:spPr>
          <a:xfrm>
            <a:off x="95300" y="197711"/>
            <a:ext cx="1890395"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2PC</a:t>
            </a:r>
            <a:r>
              <a:rPr sz="1200" spc="-30" dirty="0">
                <a:solidFill>
                  <a:srgbClr val="3333B2"/>
                </a:solidFill>
                <a:latin typeface="Arial"/>
                <a:cs typeface="Arial"/>
              </a:rPr>
              <a:t> </a:t>
            </a:r>
            <a:r>
              <a:rPr sz="1200" dirty="0">
                <a:solidFill>
                  <a:srgbClr val="3333B2"/>
                </a:solidFill>
                <a:latin typeface="Arial"/>
                <a:cs typeface="Arial"/>
              </a:rPr>
              <a:t>-</a:t>
            </a:r>
            <a:r>
              <a:rPr sz="1200" spc="-25" dirty="0">
                <a:solidFill>
                  <a:srgbClr val="3333B2"/>
                </a:solidFill>
                <a:latin typeface="Arial"/>
                <a:cs typeface="Arial"/>
              </a:rPr>
              <a:t> </a:t>
            </a:r>
            <a:r>
              <a:rPr sz="1200" dirty="0">
                <a:solidFill>
                  <a:srgbClr val="3333B2"/>
                </a:solidFill>
                <a:latin typeface="Arial"/>
                <a:cs typeface="Arial"/>
              </a:rPr>
              <a:t>Finite</a:t>
            </a:r>
            <a:r>
              <a:rPr sz="1200" spc="-25" dirty="0">
                <a:solidFill>
                  <a:srgbClr val="3333B2"/>
                </a:solidFill>
                <a:latin typeface="Arial"/>
                <a:cs typeface="Arial"/>
              </a:rPr>
              <a:t> </a:t>
            </a:r>
            <a:r>
              <a:rPr sz="1200" dirty="0">
                <a:solidFill>
                  <a:srgbClr val="3333B2"/>
                </a:solidFill>
                <a:latin typeface="Arial"/>
                <a:cs typeface="Arial"/>
              </a:rPr>
              <a:t>state</a:t>
            </a:r>
            <a:r>
              <a:rPr sz="1200" spc="-25" dirty="0">
                <a:solidFill>
                  <a:srgbClr val="3333B2"/>
                </a:solidFill>
                <a:latin typeface="Arial"/>
                <a:cs typeface="Arial"/>
              </a:rPr>
              <a:t> </a:t>
            </a:r>
            <a:r>
              <a:rPr sz="1200" spc="-10" dirty="0">
                <a:solidFill>
                  <a:srgbClr val="3333B2"/>
                </a:solidFill>
                <a:latin typeface="Arial"/>
                <a:cs typeface="Arial"/>
              </a:rPr>
              <a:t>machines</a:t>
            </a:r>
            <a:endParaRPr sz="1200">
              <a:latin typeface="Arial"/>
              <a:cs typeface="Arial"/>
            </a:endParaRPr>
          </a:p>
        </p:txBody>
      </p:sp>
      <p:pic>
        <p:nvPicPr>
          <p:cNvPr id="6" name="object 6"/>
          <p:cNvPicPr/>
          <p:nvPr/>
        </p:nvPicPr>
        <p:blipFill>
          <a:blip r:embed="rId4" cstate="print"/>
          <a:stretch>
            <a:fillRect/>
          </a:stretch>
        </p:blipFill>
        <p:spPr>
          <a:xfrm>
            <a:off x="467575" y="776254"/>
            <a:ext cx="1649868" cy="826405"/>
          </a:xfrm>
          <a:prstGeom prst="rect">
            <a:avLst/>
          </a:prstGeom>
        </p:spPr>
      </p:pic>
      <p:pic>
        <p:nvPicPr>
          <p:cNvPr id="7" name="object 7"/>
          <p:cNvPicPr/>
          <p:nvPr/>
        </p:nvPicPr>
        <p:blipFill>
          <a:blip r:embed="rId5" cstate="print"/>
          <a:stretch>
            <a:fillRect/>
          </a:stretch>
        </p:blipFill>
        <p:spPr>
          <a:xfrm>
            <a:off x="2347696" y="702040"/>
            <a:ext cx="1858632" cy="901887"/>
          </a:xfrm>
          <a:prstGeom prst="rect">
            <a:avLst/>
          </a:prstGeom>
        </p:spPr>
      </p:pic>
      <p:sp>
        <p:nvSpPr>
          <p:cNvPr id="8" name="object 8"/>
          <p:cNvSpPr txBox="1"/>
          <p:nvPr/>
        </p:nvSpPr>
        <p:spPr>
          <a:xfrm>
            <a:off x="984872" y="1649420"/>
            <a:ext cx="620395" cy="162560"/>
          </a:xfrm>
          <a:prstGeom prst="rect">
            <a:avLst/>
          </a:prstGeom>
        </p:spPr>
        <p:txBody>
          <a:bodyPr vert="horz" wrap="square" lIns="0" tIns="12065" rIns="0" bIns="0" rtlCol="0">
            <a:spAutoFit/>
          </a:bodyPr>
          <a:lstStyle/>
          <a:p>
            <a:pPr marL="12700">
              <a:lnSpc>
                <a:spcPct val="100000"/>
              </a:lnSpc>
              <a:spcBef>
                <a:spcPts val="95"/>
              </a:spcBef>
            </a:pPr>
            <a:r>
              <a:rPr sz="900" spc="-10" dirty="0">
                <a:latin typeface="Arial"/>
                <a:cs typeface="Arial"/>
              </a:rPr>
              <a:t>Coordinator</a:t>
            </a:r>
            <a:endParaRPr sz="900">
              <a:latin typeface="Arial"/>
              <a:cs typeface="Arial"/>
            </a:endParaRPr>
          </a:p>
        </p:txBody>
      </p:sp>
      <p:sp>
        <p:nvSpPr>
          <p:cNvPr id="9" name="object 9"/>
          <p:cNvSpPr txBox="1"/>
          <p:nvPr/>
        </p:nvSpPr>
        <p:spPr>
          <a:xfrm>
            <a:off x="2994052" y="1649420"/>
            <a:ext cx="563880" cy="162560"/>
          </a:xfrm>
          <a:prstGeom prst="rect">
            <a:avLst/>
          </a:prstGeom>
        </p:spPr>
        <p:txBody>
          <a:bodyPr vert="horz" wrap="square" lIns="0" tIns="12065" rIns="0" bIns="0" rtlCol="0">
            <a:spAutoFit/>
          </a:bodyPr>
          <a:lstStyle/>
          <a:p>
            <a:pPr marL="12700">
              <a:lnSpc>
                <a:spcPct val="100000"/>
              </a:lnSpc>
              <a:spcBef>
                <a:spcPts val="95"/>
              </a:spcBef>
            </a:pPr>
            <a:r>
              <a:rPr sz="900" spc="-10" dirty="0">
                <a:latin typeface="Arial"/>
                <a:cs typeface="Arial"/>
              </a:rPr>
              <a:t>Participant</a:t>
            </a:r>
            <a:endParaRPr sz="900">
              <a:latin typeface="Arial"/>
              <a:cs typeface="Arial"/>
            </a:endParaRPr>
          </a:p>
        </p:txBody>
      </p:sp>
      <p:grpSp>
        <p:nvGrpSpPr>
          <p:cNvPr id="10" name="object 10"/>
          <p:cNvGrpSpPr/>
          <p:nvPr/>
        </p:nvGrpSpPr>
        <p:grpSpPr>
          <a:xfrm>
            <a:off x="0" y="3348469"/>
            <a:ext cx="4608195" cy="107950"/>
            <a:chOff x="0" y="3348469"/>
            <a:chExt cx="4608195" cy="107950"/>
          </a:xfrm>
        </p:grpSpPr>
        <p:sp>
          <p:nvSpPr>
            <p:cNvPr id="11" name="object 11"/>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2" name="object 12"/>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Tree>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05694" y="-1515"/>
            <a:ext cx="54927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Distributed</a:t>
            </a:r>
            <a:r>
              <a:rPr sz="500" spc="-3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commit</a:t>
            </a:r>
            <a:endParaRPr sz="500">
              <a:latin typeface="Arial"/>
              <a:cs typeface="Arial"/>
            </a:endParaRPr>
          </a:p>
        </p:txBody>
      </p:sp>
      <p:sp>
        <p:nvSpPr>
          <p:cNvPr id="5" name="object 5"/>
          <p:cNvSpPr txBox="1"/>
          <p:nvPr/>
        </p:nvSpPr>
        <p:spPr>
          <a:xfrm>
            <a:off x="69900" y="197711"/>
            <a:ext cx="3564890" cy="720725"/>
          </a:xfrm>
          <a:prstGeom prst="rect">
            <a:avLst/>
          </a:prstGeom>
        </p:spPr>
        <p:txBody>
          <a:bodyPr vert="horz" wrap="square" lIns="0" tIns="12065" rIns="0" bIns="0" rtlCol="0">
            <a:spAutoFit/>
          </a:bodyPr>
          <a:lstStyle/>
          <a:p>
            <a:pPr marL="38100">
              <a:lnSpc>
                <a:spcPct val="100000"/>
              </a:lnSpc>
              <a:spcBef>
                <a:spcPts val="95"/>
              </a:spcBef>
            </a:pPr>
            <a:r>
              <a:rPr sz="1200" dirty="0">
                <a:solidFill>
                  <a:srgbClr val="3333B2"/>
                </a:solidFill>
                <a:latin typeface="Arial"/>
                <a:cs typeface="Arial"/>
              </a:rPr>
              <a:t>2PC</a:t>
            </a:r>
            <a:r>
              <a:rPr sz="1200" spc="-25" dirty="0">
                <a:solidFill>
                  <a:srgbClr val="3333B2"/>
                </a:solidFill>
                <a:latin typeface="Arial"/>
                <a:cs typeface="Arial"/>
              </a:rPr>
              <a:t> </a:t>
            </a:r>
            <a:r>
              <a:rPr sz="1200" dirty="0">
                <a:solidFill>
                  <a:srgbClr val="3333B2"/>
                </a:solidFill>
                <a:latin typeface="Arial"/>
                <a:cs typeface="Arial"/>
              </a:rPr>
              <a:t>–</a:t>
            </a:r>
            <a:r>
              <a:rPr sz="1200" spc="-25" dirty="0">
                <a:solidFill>
                  <a:srgbClr val="3333B2"/>
                </a:solidFill>
                <a:latin typeface="Arial"/>
                <a:cs typeface="Arial"/>
              </a:rPr>
              <a:t> </a:t>
            </a:r>
            <a:r>
              <a:rPr sz="1200" spc="-10" dirty="0">
                <a:solidFill>
                  <a:srgbClr val="3333B2"/>
                </a:solidFill>
                <a:latin typeface="Arial"/>
                <a:cs typeface="Arial"/>
              </a:rPr>
              <a:t>Failing</a:t>
            </a:r>
            <a:r>
              <a:rPr sz="1200" spc="-25" dirty="0">
                <a:solidFill>
                  <a:srgbClr val="3333B2"/>
                </a:solidFill>
                <a:latin typeface="Arial"/>
                <a:cs typeface="Arial"/>
              </a:rPr>
              <a:t> </a:t>
            </a:r>
            <a:r>
              <a:rPr sz="1200" spc="-10" dirty="0">
                <a:solidFill>
                  <a:srgbClr val="3333B2"/>
                </a:solidFill>
                <a:latin typeface="Arial"/>
                <a:cs typeface="Arial"/>
              </a:rPr>
              <a:t>participant</a:t>
            </a:r>
            <a:endParaRPr sz="1200">
              <a:latin typeface="Arial"/>
              <a:cs typeface="Arial"/>
            </a:endParaRPr>
          </a:p>
          <a:p>
            <a:pPr marL="285750">
              <a:lnSpc>
                <a:spcPct val="100000"/>
              </a:lnSpc>
              <a:spcBef>
                <a:spcPts val="1055"/>
              </a:spcBef>
            </a:pPr>
            <a:r>
              <a:rPr sz="1000" dirty="0">
                <a:solidFill>
                  <a:srgbClr val="3333B2"/>
                </a:solidFill>
                <a:latin typeface="Arial"/>
                <a:cs typeface="Arial"/>
              </a:rPr>
              <a:t>Analysis:</a:t>
            </a:r>
            <a:r>
              <a:rPr sz="1000" spc="40" dirty="0">
                <a:solidFill>
                  <a:srgbClr val="3333B2"/>
                </a:solidFill>
                <a:latin typeface="Arial"/>
                <a:cs typeface="Arial"/>
              </a:rPr>
              <a:t> </a:t>
            </a:r>
            <a:r>
              <a:rPr sz="1000" dirty="0">
                <a:solidFill>
                  <a:srgbClr val="3333B2"/>
                </a:solidFill>
                <a:latin typeface="Arial"/>
                <a:cs typeface="Arial"/>
              </a:rPr>
              <a:t>participant</a:t>
            </a:r>
            <a:r>
              <a:rPr sz="1000" spc="-15" dirty="0">
                <a:solidFill>
                  <a:srgbClr val="3333B2"/>
                </a:solidFill>
                <a:latin typeface="Arial"/>
                <a:cs typeface="Arial"/>
              </a:rPr>
              <a:t> </a:t>
            </a:r>
            <a:r>
              <a:rPr sz="1000" dirty="0">
                <a:solidFill>
                  <a:srgbClr val="3333B2"/>
                </a:solidFill>
                <a:latin typeface="Arial"/>
                <a:cs typeface="Arial"/>
              </a:rPr>
              <a:t>crashes</a:t>
            </a:r>
            <a:r>
              <a:rPr sz="1000" spc="-15" dirty="0">
                <a:solidFill>
                  <a:srgbClr val="3333B2"/>
                </a:solidFill>
                <a:latin typeface="Arial"/>
                <a:cs typeface="Arial"/>
              </a:rPr>
              <a:t> </a:t>
            </a:r>
            <a:r>
              <a:rPr sz="1000" dirty="0">
                <a:solidFill>
                  <a:srgbClr val="3333B2"/>
                </a:solidFill>
                <a:latin typeface="Arial"/>
                <a:cs typeface="Arial"/>
              </a:rPr>
              <a:t>in</a:t>
            </a:r>
            <a:r>
              <a:rPr sz="1000" spc="-20" dirty="0">
                <a:solidFill>
                  <a:srgbClr val="3333B2"/>
                </a:solidFill>
                <a:latin typeface="Arial"/>
                <a:cs typeface="Arial"/>
              </a:rPr>
              <a:t> </a:t>
            </a:r>
            <a:r>
              <a:rPr sz="1000" dirty="0">
                <a:solidFill>
                  <a:srgbClr val="3333B2"/>
                </a:solidFill>
                <a:latin typeface="Arial"/>
                <a:cs typeface="Arial"/>
              </a:rPr>
              <a:t>state</a:t>
            </a:r>
            <a:r>
              <a:rPr sz="1000" spc="-15" dirty="0">
                <a:solidFill>
                  <a:srgbClr val="3333B2"/>
                </a:solidFill>
                <a:latin typeface="Arial"/>
                <a:cs typeface="Arial"/>
              </a:rPr>
              <a:t> </a:t>
            </a:r>
            <a:r>
              <a:rPr sz="1000" i="1" dirty="0">
                <a:solidFill>
                  <a:srgbClr val="3333B2"/>
                </a:solidFill>
                <a:latin typeface="Arial"/>
                <a:cs typeface="Arial"/>
              </a:rPr>
              <a:t>S</a:t>
            </a:r>
            <a:r>
              <a:rPr sz="1000" dirty="0">
                <a:solidFill>
                  <a:srgbClr val="3333B2"/>
                </a:solidFill>
                <a:latin typeface="Arial"/>
                <a:cs typeface="Arial"/>
              </a:rPr>
              <a:t>,</a:t>
            </a:r>
            <a:r>
              <a:rPr sz="1000" spc="-20" dirty="0">
                <a:solidFill>
                  <a:srgbClr val="3333B2"/>
                </a:solidFill>
                <a:latin typeface="Arial"/>
                <a:cs typeface="Arial"/>
              </a:rPr>
              <a:t> </a:t>
            </a:r>
            <a:r>
              <a:rPr sz="1000" dirty="0">
                <a:solidFill>
                  <a:srgbClr val="3333B2"/>
                </a:solidFill>
                <a:latin typeface="Arial"/>
                <a:cs typeface="Arial"/>
              </a:rPr>
              <a:t>and</a:t>
            </a:r>
            <a:r>
              <a:rPr sz="1000" spc="-15" dirty="0">
                <a:solidFill>
                  <a:srgbClr val="3333B2"/>
                </a:solidFill>
                <a:latin typeface="Arial"/>
                <a:cs typeface="Arial"/>
              </a:rPr>
              <a:t> </a:t>
            </a:r>
            <a:r>
              <a:rPr sz="1000" spc="-10" dirty="0">
                <a:solidFill>
                  <a:srgbClr val="3333B2"/>
                </a:solidFill>
                <a:latin typeface="Arial"/>
                <a:cs typeface="Arial"/>
              </a:rPr>
              <a:t>recovers</a:t>
            </a:r>
            <a:r>
              <a:rPr sz="1000" spc="-20" dirty="0">
                <a:solidFill>
                  <a:srgbClr val="3333B2"/>
                </a:solidFill>
                <a:latin typeface="Arial"/>
                <a:cs typeface="Arial"/>
              </a:rPr>
              <a:t> </a:t>
            </a:r>
            <a:r>
              <a:rPr sz="1000" dirty="0">
                <a:solidFill>
                  <a:srgbClr val="3333B2"/>
                </a:solidFill>
                <a:latin typeface="Arial"/>
                <a:cs typeface="Arial"/>
              </a:rPr>
              <a:t>to</a:t>
            </a:r>
            <a:r>
              <a:rPr sz="1000" spc="-15" dirty="0">
                <a:solidFill>
                  <a:srgbClr val="3333B2"/>
                </a:solidFill>
                <a:latin typeface="Arial"/>
                <a:cs typeface="Arial"/>
              </a:rPr>
              <a:t> </a:t>
            </a:r>
            <a:r>
              <a:rPr sz="1000" i="1" spc="-50" dirty="0">
                <a:solidFill>
                  <a:srgbClr val="3333B2"/>
                </a:solidFill>
                <a:latin typeface="Arial"/>
                <a:cs typeface="Arial"/>
              </a:rPr>
              <a:t>S</a:t>
            </a:r>
            <a:endParaRPr sz="1000">
              <a:latin typeface="Arial"/>
              <a:cs typeface="Arial"/>
            </a:endParaRPr>
          </a:p>
          <a:p>
            <a:pPr marL="542925" indent="-120650">
              <a:lnSpc>
                <a:spcPct val="100000"/>
              </a:lnSpc>
              <a:spcBef>
                <a:spcPts val="700"/>
              </a:spcBef>
              <a:buClr>
                <a:srgbClr val="3333B2"/>
              </a:buClr>
              <a:buFont typeface="Menlo"/>
              <a:buChar char="•"/>
              <a:tabLst>
                <a:tab pos="543560" algn="l"/>
              </a:tabLst>
            </a:pPr>
            <a:r>
              <a:rPr sz="900" i="1" spc="-10" dirty="0">
                <a:solidFill>
                  <a:srgbClr val="C80000"/>
                </a:solidFill>
                <a:latin typeface="Arial"/>
                <a:cs typeface="Arial"/>
              </a:rPr>
              <a:t>INIT</a:t>
            </a:r>
            <a:r>
              <a:rPr sz="900" i="1" spc="-130" dirty="0">
                <a:solidFill>
                  <a:srgbClr val="C80000"/>
                </a:solidFill>
                <a:latin typeface="Arial"/>
                <a:cs typeface="Arial"/>
              </a:rPr>
              <a:t> </a:t>
            </a:r>
            <a:r>
              <a:rPr sz="900" dirty="0">
                <a:latin typeface="Arial"/>
                <a:cs typeface="Arial"/>
              </a:rPr>
              <a:t>:</a:t>
            </a:r>
            <a:r>
              <a:rPr sz="900" spc="35" dirty="0">
                <a:latin typeface="Arial"/>
                <a:cs typeface="Arial"/>
              </a:rPr>
              <a:t> </a:t>
            </a:r>
            <a:r>
              <a:rPr sz="900" dirty="0">
                <a:latin typeface="Arial"/>
                <a:cs typeface="Arial"/>
              </a:rPr>
              <a:t>No</a:t>
            </a:r>
            <a:r>
              <a:rPr sz="900" spc="-20" dirty="0">
                <a:latin typeface="Arial"/>
                <a:cs typeface="Arial"/>
              </a:rPr>
              <a:t> </a:t>
            </a:r>
            <a:r>
              <a:rPr sz="900" dirty="0">
                <a:latin typeface="Arial"/>
                <a:cs typeface="Arial"/>
              </a:rPr>
              <a:t>problem:</a:t>
            </a:r>
            <a:r>
              <a:rPr sz="900" spc="40" dirty="0">
                <a:latin typeface="Arial"/>
                <a:cs typeface="Arial"/>
              </a:rPr>
              <a:t> </a:t>
            </a:r>
            <a:r>
              <a:rPr sz="900" dirty="0">
                <a:latin typeface="Arial"/>
                <a:cs typeface="Arial"/>
              </a:rPr>
              <a:t>participant</a:t>
            </a:r>
            <a:r>
              <a:rPr sz="900" spc="-15" dirty="0">
                <a:latin typeface="Arial"/>
                <a:cs typeface="Arial"/>
              </a:rPr>
              <a:t> </a:t>
            </a:r>
            <a:r>
              <a:rPr sz="900" dirty="0">
                <a:latin typeface="Arial"/>
                <a:cs typeface="Arial"/>
              </a:rPr>
              <a:t>was</a:t>
            </a:r>
            <a:r>
              <a:rPr sz="900" spc="-15" dirty="0">
                <a:latin typeface="Arial"/>
                <a:cs typeface="Arial"/>
              </a:rPr>
              <a:t> </a:t>
            </a:r>
            <a:r>
              <a:rPr sz="900" spc="-10" dirty="0">
                <a:latin typeface="Arial"/>
                <a:cs typeface="Arial"/>
              </a:rPr>
              <a:t>unaware</a:t>
            </a:r>
            <a:r>
              <a:rPr sz="900" spc="-15" dirty="0">
                <a:latin typeface="Arial"/>
                <a:cs typeface="Arial"/>
              </a:rPr>
              <a:t> </a:t>
            </a:r>
            <a:r>
              <a:rPr sz="900" dirty="0">
                <a:latin typeface="Arial"/>
                <a:cs typeface="Arial"/>
              </a:rPr>
              <a:t>of</a:t>
            </a:r>
            <a:r>
              <a:rPr sz="900" spc="-20" dirty="0">
                <a:latin typeface="Arial"/>
                <a:cs typeface="Arial"/>
              </a:rPr>
              <a:t> </a:t>
            </a:r>
            <a:r>
              <a:rPr sz="900" spc="-10" dirty="0">
                <a:latin typeface="Arial"/>
                <a:cs typeface="Arial"/>
              </a:rPr>
              <a:t>protocol</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Tree>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05694" y="-1515"/>
            <a:ext cx="54927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Distributed</a:t>
            </a:r>
            <a:r>
              <a:rPr sz="500" spc="-3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commit</a:t>
            </a:r>
            <a:endParaRPr sz="500">
              <a:latin typeface="Arial"/>
              <a:cs typeface="Arial"/>
            </a:endParaRPr>
          </a:p>
        </p:txBody>
      </p:sp>
      <p:sp>
        <p:nvSpPr>
          <p:cNvPr id="5" name="object 5"/>
          <p:cNvSpPr txBox="1"/>
          <p:nvPr/>
        </p:nvSpPr>
        <p:spPr>
          <a:xfrm>
            <a:off x="82600" y="197711"/>
            <a:ext cx="4191000" cy="1230630"/>
          </a:xfrm>
          <a:prstGeom prst="rect">
            <a:avLst/>
          </a:prstGeom>
        </p:spPr>
        <p:txBody>
          <a:bodyPr vert="horz" wrap="square" lIns="0" tIns="12065" rIns="0" bIns="0" rtlCol="0">
            <a:spAutoFit/>
          </a:bodyPr>
          <a:lstStyle/>
          <a:p>
            <a:pPr marL="25400">
              <a:lnSpc>
                <a:spcPct val="100000"/>
              </a:lnSpc>
              <a:spcBef>
                <a:spcPts val="95"/>
              </a:spcBef>
            </a:pPr>
            <a:r>
              <a:rPr sz="1200" dirty="0">
                <a:solidFill>
                  <a:srgbClr val="3333B2"/>
                </a:solidFill>
                <a:latin typeface="Arial"/>
                <a:cs typeface="Arial"/>
              </a:rPr>
              <a:t>2PC</a:t>
            </a:r>
            <a:r>
              <a:rPr sz="1200" spc="-25" dirty="0">
                <a:solidFill>
                  <a:srgbClr val="3333B2"/>
                </a:solidFill>
                <a:latin typeface="Arial"/>
                <a:cs typeface="Arial"/>
              </a:rPr>
              <a:t> </a:t>
            </a:r>
            <a:r>
              <a:rPr sz="1200" dirty="0">
                <a:solidFill>
                  <a:srgbClr val="3333B2"/>
                </a:solidFill>
                <a:latin typeface="Arial"/>
                <a:cs typeface="Arial"/>
              </a:rPr>
              <a:t>–</a:t>
            </a:r>
            <a:r>
              <a:rPr sz="1200" spc="-25" dirty="0">
                <a:solidFill>
                  <a:srgbClr val="3333B2"/>
                </a:solidFill>
                <a:latin typeface="Arial"/>
                <a:cs typeface="Arial"/>
              </a:rPr>
              <a:t> </a:t>
            </a:r>
            <a:r>
              <a:rPr sz="1200" spc="-10" dirty="0">
                <a:solidFill>
                  <a:srgbClr val="3333B2"/>
                </a:solidFill>
                <a:latin typeface="Arial"/>
                <a:cs typeface="Arial"/>
              </a:rPr>
              <a:t>Failing</a:t>
            </a:r>
            <a:r>
              <a:rPr sz="1200" spc="-25" dirty="0">
                <a:solidFill>
                  <a:srgbClr val="3333B2"/>
                </a:solidFill>
                <a:latin typeface="Arial"/>
                <a:cs typeface="Arial"/>
              </a:rPr>
              <a:t> </a:t>
            </a:r>
            <a:r>
              <a:rPr sz="1200" spc="-10" dirty="0">
                <a:solidFill>
                  <a:srgbClr val="3333B2"/>
                </a:solidFill>
                <a:latin typeface="Arial"/>
                <a:cs typeface="Arial"/>
              </a:rPr>
              <a:t>participant</a:t>
            </a:r>
            <a:endParaRPr sz="1200">
              <a:latin typeface="Arial"/>
              <a:cs typeface="Arial"/>
            </a:endParaRPr>
          </a:p>
          <a:p>
            <a:pPr marL="273050">
              <a:lnSpc>
                <a:spcPct val="100000"/>
              </a:lnSpc>
              <a:spcBef>
                <a:spcPts val="1055"/>
              </a:spcBef>
            </a:pPr>
            <a:r>
              <a:rPr sz="1000" dirty="0">
                <a:solidFill>
                  <a:srgbClr val="3333B2"/>
                </a:solidFill>
                <a:latin typeface="Arial"/>
                <a:cs typeface="Arial"/>
              </a:rPr>
              <a:t>Analysis:</a:t>
            </a:r>
            <a:r>
              <a:rPr sz="1000" spc="40" dirty="0">
                <a:solidFill>
                  <a:srgbClr val="3333B2"/>
                </a:solidFill>
                <a:latin typeface="Arial"/>
                <a:cs typeface="Arial"/>
              </a:rPr>
              <a:t> </a:t>
            </a:r>
            <a:r>
              <a:rPr sz="1000" dirty="0">
                <a:solidFill>
                  <a:srgbClr val="3333B2"/>
                </a:solidFill>
                <a:latin typeface="Arial"/>
                <a:cs typeface="Arial"/>
              </a:rPr>
              <a:t>participant</a:t>
            </a:r>
            <a:r>
              <a:rPr sz="1000" spc="-15" dirty="0">
                <a:solidFill>
                  <a:srgbClr val="3333B2"/>
                </a:solidFill>
                <a:latin typeface="Arial"/>
                <a:cs typeface="Arial"/>
              </a:rPr>
              <a:t> </a:t>
            </a:r>
            <a:r>
              <a:rPr sz="1000" dirty="0">
                <a:solidFill>
                  <a:srgbClr val="3333B2"/>
                </a:solidFill>
                <a:latin typeface="Arial"/>
                <a:cs typeface="Arial"/>
              </a:rPr>
              <a:t>crashes</a:t>
            </a:r>
            <a:r>
              <a:rPr sz="1000" spc="-15" dirty="0">
                <a:solidFill>
                  <a:srgbClr val="3333B2"/>
                </a:solidFill>
                <a:latin typeface="Arial"/>
                <a:cs typeface="Arial"/>
              </a:rPr>
              <a:t> </a:t>
            </a:r>
            <a:r>
              <a:rPr sz="1000" dirty="0">
                <a:solidFill>
                  <a:srgbClr val="3333B2"/>
                </a:solidFill>
                <a:latin typeface="Arial"/>
                <a:cs typeface="Arial"/>
              </a:rPr>
              <a:t>in</a:t>
            </a:r>
            <a:r>
              <a:rPr sz="1000" spc="-20" dirty="0">
                <a:solidFill>
                  <a:srgbClr val="3333B2"/>
                </a:solidFill>
                <a:latin typeface="Arial"/>
                <a:cs typeface="Arial"/>
              </a:rPr>
              <a:t> </a:t>
            </a:r>
            <a:r>
              <a:rPr sz="1000" dirty="0">
                <a:solidFill>
                  <a:srgbClr val="3333B2"/>
                </a:solidFill>
                <a:latin typeface="Arial"/>
                <a:cs typeface="Arial"/>
              </a:rPr>
              <a:t>state</a:t>
            </a:r>
            <a:r>
              <a:rPr sz="1000" spc="-15" dirty="0">
                <a:solidFill>
                  <a:srgbClr val="3333B2"/>
                </a:solidFill>
                <a:latin typeface="Arial"/>
                <a:cs typeface="Arial"/>
              </a:rPr>
              <a:t> </a:t>
            </a:r>
            <a:r>
              <a:rPr sz="1000" i="1" dirty="0">
                <a:solidFill>
                  <a:srgbClr val="3333B2"/>
                </a:solidFill>
                <a:latin typeface="Arial"/>
                <a:cs typeface="Arial"/>
              </a:rPr>
              <a:t>S</a:t>
            </a:r>
            <a:r>
              <a:rPr sz="1000" dirty="0">
                <a:solidFill>
                  <a:srgbClr val="3333B2"/>
                </a:solidFill>
                <a:latin typeface="Arial"/>
                <a:cs typeface="Arial"/>
              </a:rPr>
              <a:t>,</a:t>
            </a:r>
            <a:r>
              <a:rPr sz="1000" spc="-20" dirty="0">
                <a:solidFill>
                  <a:srgbClr val="3333B2"/>
                </a:solidFill>
                <a:latin typeface="Arial"/>
                <a:cs typeface="Arial"/>
              </a:rPr>
              <a:t> </a:t>
            </a:r>
            <a:r>
              <a:rPr sz="1000" dirty="0">
                <a:solidFill>
                  <a:srgbClr val="3333B2"/>
                </a:solidFill>
                <a:latin typeface="Arial"/>
                <a:cs typeface="Arial"/>
              </a:rPr>
              <a:t>and</a:t>
            </a:r>
            <a:r>
              <a:rPr sz="1000" spc="-15" dirty="0">
                <a:solidFill>
                  <a:srgbClr val="3333B2"/>
                </a:solidFill>
                <a:latin typeface="Arial"/>
                <a:cs typeface="Arial"/>
              </a:rPr>
              <a:t> </a:t>
            </a:r>
            <a:r>
              <a:rPr sz="1000" spc="-10" dirty="0">
                <a:solidFill>
                  <a:srgbClr val="3333B2"/>
                </a:solidFill>
                <a:latin typeface="Arial"/>
                <a:cs typeface="Arial"/>
              </a:rPr>
              <a:t>recovers</a:t>
            </a:r>
            <a:r>
              <a:rPr sz="1000" spc="-20" dirty="0">
                <a:solidFill>
                  <a:srgbClr val="3333B2"/>
                </a:solidFill>
                <a:latin typeface="Arial"/>
                <a:cs typeface="Arial"/>
              </a:rPr>
              <a:t> </a:t>
            </a:r>
            <a:r>
              <a:rPr sz="1000" dirty="0">
                <a:solidFill>
                  <a:srgbClr val="3333B2"/>
                </a:solidFill>
                <a:latin typeface="Arial"/>
                <a:cs typeface="Arial"/>
              </a:rPr>
              <a:t>to</a:t>
            </a:r>
            <a:r>
              <a:rPr sz="1000" spc="-15" dirty="0">
                <a:solidFill>
                  <a:srgbClr val="3333B2"/>
                </a:solidFill>
                <a:latin typeface="Arial"/>
                <a:cs typeface="Arial"/>
              </a:rPr>
              <a:t> </a:t>
            </a:r>
            <a:r>
              <a:rPr sz="1000" i="1" spc="-50" dirty="0">
                <a:solidFill>
                  <a:srgbClr val="3333B2"/>
                </a:solidFill>
                <a:latin typeface="Arial"/>
                <a:cs typeface="Arial"/>
              </a:rPr>
              <a:t>S</a:t>
            </a:r>
            <a:endParaRPr sz="1000">
              <a:latin typeface="Arial"/>
              <a:cs typeface="Arial"/>
            </a:endParaRPr>
          </a:p>
          <a:p>
            <a:pPr>
              <a:lnSpc>
                <a:spcPct val="100000"/>
              </a:lnSpc>
            </a:pPr>
            <a:endParaRPr sz="1200">
              <a:latin typeface="Arial"/>
              <a:cs typeface="Arial"/>
            </a:endParaRPr>
          </a:p>
          <a:p>
            <a:pPr marL="530225" marR="17780" indent="-120650">
              <a:lnSpc>
                <a:spcPct val="111600"/>
              </a:lnSpc>
              <a:spcBef>
                <a:spcPts val="800"/>
              </a:spcBef>
              <a:buClr>
                <a:srgbClr val="3333B2"/>
              </a:buClr>
              <a:buFont typeface="Menlo"/>
              <a:buChar char="•"/>
              <a:tabLst>
                <a:tab pos="530860" algn="l"/>
              </a:tabLst>
            </a:pPr>
            <a:r>
              <a:rPr sz="900" i="1" spc="-30" dirty="0">
                <a:solidFill>
                  <a:srgbClr val="C80000"/>
                </a:solidFill>
                <a:latin typeface="Arial"/>
                <a:cs typeface="Arial"/>
              </a:rPr>
              <a:t>READY</a:t>
            </a:r>
            <a:r>
              <a:rPr sz="900" i="1" spc="-130" dirty="0">
                <a:solidFill>
                  <a:srgbClr val="C80000"/>
                </a:solidFill>
                <a:latin typeface="Arial"/>
                <a:cs typeface="Arial"/>
              </a:rPr>
              <a:t> </a:t>
            </a:r>
            <a:r>
              <a:rPr sz="900" dirty="0">
                <a:latin typeface="Arial"/>
                <a:cs typeface="Arial"/>
              </a:rPr>
              <a:t>:</a:t>
            </a:r>
            <a:r>
              <a:rPr sz="900" spc="30" dirty="0">
                <a:latin typeface="Arial"/>
                <a:cs typeface="Arial"/>
              </a:rPr>
              <a:t> </a:t>
            </a:r>
            <a:r>
              <a:rPr sz="900" dirty="0">
                <a:latin typeface="Arial"/>
                <a:cs typeface="Arial"/>
              </a:rPr>
              <a:t>Participant</a:t>
            </a:r>
            <a:r>
              <a:rPr sz="900" spc="-15"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waiting</a:t>
            </a:r>
            <a:r>
              <a:rPr sz="900" spc="-20" dirty="0">
                <a:latin typeface="Arial"/>
                <a:cs typeface="Arial"/>
              </a:rPr>
              <a:t> </a:t>
            </a:r>
            <a:r>
              <a:rPr sz="900" dirty="0">
                <a:latin typeface="Arial"/>
                <a:cs typeface="Arial"/>
              </a:rPr>
              <a:t>to</a:t>
            </a:r>
            <a:r>
              <a:rPr sz="900" spc="-15" dirty="0">
                <a:latin typeface="Arial"/>
                <a:cs typeface="Arial"/>
              </a:rPr>
              <a:t> </a:t>
            </a:r>
            <a:r>
              <a:rPr sz="900" dirty="0">
                <a:latin typeface="Arial"/>
                <a:cs typeface="Arial"/>
              </a:rPr>
              <a:t>either</a:t>
            </a:r>
            <a:r>
              <a:rPr sz="900" spc="-20" dirty="0">
                <a:latin typeface="Arial"/>
                <a:cs typeface="Arial"/>
              </a:rPr>
              <a:t> </a:t>
            </a:r>
            <a:r>
              <a:rPr sz="900" dirty="0">
                <a:latin typeface="Arial"/>
                <a:cs typeface="Arial"/>
              </a:rPr>
              <a:t>commit</a:t>
            </a:r>
            <a:r>
              <a:rPr sz="900" spc="-15" dirty="0">
                <a:latin typeface="Arial"/>
                <a:cs typeface="Arial"/>
              </a:rPr>
              <a:t> </a:t>
            </a:r>
            <a:r>
              <a:rPr sz="900" dirty="0">
                <a:latin typeface="Arial"/>
                <a:cs typeface="Arial"/>
              </a:rPr>
              <a:t>or</a:t>
            </a:r>
            <a:r>
              <a:rPr sz="900" spc="-20" dirty="0">
                <a:latin typeface="Arial"/>
                <a:cs typeface="Arial"/>
              </a:rPr>
              <a:t> </a:t>
            </a:r>
            <a:r>
              <a:rPr sz="900" dirty="0">
                <a:latin typeface="Arial"/>
                <a:cs typeface="Arial"/>
              </a:rPr>
              <a:t>abort.</a:t>
            </a:r>
            <a:r>
              <a:rPr sz="900" spc="40" dirty="0">
                <a:latin typeface="Arial"/>
                <a:cs typeface="Arial"/>
              </a:rPr>
              <a:t> </a:t>
            </a:r>
            <a:r>
              <a:rPr sz="900" dirty="0">
                <a:latin typeface="Arial"/>
                <a:cs typeface="Arial"/>
              </a:rPr>
              <a:t>After</a:t>
            </a:r>
            <a:r>
              <a:rPr sz="900" spc="-15" dirty="0">
                <a:latin typeface="Arial"/>
                <a:cs typeface="Arial"/>
              </a:rPr>
              <a:t> </a:t>
            </a:r>
            <a:r>
              <a:rPr sz="900" spc="-10" dirty="0">
                <a:latin typeface="Arial"/>
                <a:cs typeface="Arial"/>
              </a:rPr>
              <a:t>recovery, </a:t>
            </a:r>
            <a:r>
              <a:rPr sz="900" dirty="0">
                <a:latin typeface="Arial"/>
                <a:cs typeface="Arial"/>
              </a:rPr>
              <a:t>participant</a:t>
            </a:r>
            <a:r>
              <a:rPr sz="900" spc="-65" dirty="0">
                <a:latin typeface="Arial"/>
                <a:cs typeface="Arial"/>
              </a:rPr>
              <a:t> </a:t>
            </a:r>
            <a:r>
              <a:rPr sz="900" dirty="0">
                <a:latin typeface="Arial"/>
                <a:cs typeface="Arial"/>
              </a:rPr>
              <a:t>needs</a:t>
            </a:r>
            <a:r>
              <a:rPr sz="900" spc="-35" dirty="0">
                <a:latin typeface="Arial"/>
                <a:cs typeface="Arial"/>
              </a:rPr>
              <a:t> </a:t>
            </a:r>
            <a:r>
              <a:rPr sz="900" dirty="0">
                <a:latin typeface="Arial"/>
                <a:cs typeface="Arial"/>
              </a:rPr>
              <a:t>to</a:t>
            </a:r>
            <a:r>
              <a:rPr sz="900" spc="-35" dirty="0">
                <a:latin typeface="Arial"/>
                <a:cs typeface="Arial"/>
              </a:rPr>
              <a:t> </a:t>
            </a:r>
            <a:r>
              <a:rPr sz="900" dirty="0">
                <a:latin typeface="Arial"/>
                <a:cs typeface="Arial"/>
              </a:rPr>
              <a:t>know</a:t>
            </a:r>
            <a:r>
              <a:rPr sz="900" spc="-30" dirty="0">
                <a:latin typeface="Arial"/>
                <a:cs typeface="Arial"/>
              </a:rPr>
              <a:t> </a:t>
            </a:r>
            <a:r>
              <a:rPr sz="900" dirty="0">
                <a:latin typeface="Arial"/>
                <a:cs typeface="Arial"/>
              </a:rPr>
              <a:t>which</a:t>
            </a:r>
            <a:r>
              <a:rPr sz="900" spc="-35" dirty="0">
                <a:latin typeface="Arial"/>
                <a:cs typeface="Arial"/>
              </a:rPr>
              <a:t> </a:t>
            </a:r>
            <a:r>
              <a:rPr sz="900" dirty="0">
                <a:latin typeface="Arial"/>
                <a:cs typeface="Arial"/>
              </a:rPr>
              <a:t>state</a:t>
            </a:r>
            <a:r>
              <a:rPr sz="900" spc="-35" dirty="0">
                <a:latin typeface="Arial"/>
                <a:cs typeface="Arial"/>
              </a:rPr>
              <a:t> </a:t>
            </a:r>
            <a:r>
              <a:rPr sz="900" spc="-10" dirty="0">
                <a:latin typeface="Arial"/>
                <a:cs typeface="Arial"/>
              </a:rPr>
              <a:t>transition</a:t>
            </a:r>
            <a:r>
              <a:rPr sz="900" spc="-35" dirty="0">
                <a:latin typeface="Arial"/>
                <a:cs typeface="Arial"/>
              </a:rPr>
              <a:t> </a:t>
            </a:r>
            <a:r>
              <a:rPr sz="900" dirty="0">
                <a:latin typeface="Arial"/>
                <a:cs typeface="Arial"/>
              </a:rPr>
              <a:t>it</a:t>
            </a:r>
            <a:r>
              <a:rPr sz="900" spc="-30" dirty="0">
                <a:latin typeface="Arial"/>
                <a:cs typeface="Arial"/>
              </a:rPr>
              <a:t> </a:t>
            </a:r>
            <a:r>
              <a:rPr sz="900" dirty="0">
                <a:latin typeface="Arial"/>
                <a:cs typeface="Arial"/>
              </a:rPr>
              <a:t>should</a:t>
            </a:r>
            <a:r>
              <a:rPr sz="900" spc="-35" dirty="0">
                <a:latin typeface="Arial"/>
                <a:cs typeface="Arial"/>
              </a:rPr>
              <a:t> </a:t>
            </a:r>
            <a:r>
              <a:rPr sz="900" spc="-10" dirty="0">
                <a:latin typeface="Arial"/>
                <a:cs typeface="Arial"/>
              </a:rPr>
              <a:t>make</a:t>
            </a:r>
            <a:r>
              <a:rPr sz="900" spc="-35" dirty="0">
                <a:latin typeface="Arial"/>
                <a:cs typeface="Arial"/>
              </a:rPr>
              <a:t> </a:t>
            </a:r>
            <a:r>
              <a:rPr sz="900" i="1" spc="350" dirty="0">
                <a:latin typeface="Menlo"/>
                <a:cs typeface="Menlo"/>
              </a:rPr>
              <a:t>⇒</a:t>
            </a:r>
            <a:r>
              <a:rPr sz="900" i="1" spc="-295" dirty="0">
                <a:latin typeface="Menlo"/>
                <a:cs typeface="Menlo"/>
              </a:rPr>
              <a:t> </a:t>
            </a:r>
            <a:r>
              <a:rPr sz="900" dirty="0">
                <a:latin typeface="Arial"/>
                <a:cs typeface="Arial"/>
              </a:rPr>
              <a:t>log</a:t>
            </a:r>
            <a:r>
              <a:rPr sz="900" spc="-35" dirty="0">
                <a:latin typeface="Arial"/>
                <a:cs typeface="Arial"/>
              </a:rPr>
              <a:t> </a:t>
            </a:r>
            <a:r>
              <a:rPr sz="900" spc="-25" dirty="0">
                <a:latin typeface="Arial"/>
                <a:cs typeface="Arial"/>
              </a:rPr>
              <a:t>the </a:t>
            </a:r>
            <a:r>
              <a:rPr sz="900" spc="-10" dirty="0">
                <a:latin typeface="Arial"/>
                <a:cs typeface="Arial"/>
              </a:rPr>
              <a:t>coordinator’s</a:t>
            </a:r>
            <a:r>
              <a:rPr sz="900" spc="25" dirty="0">
                <a:latin typeface="Arial"/>
                <a:cs typeface="Arial"/>
              </a:rPr>
              <a:t> </a:t>
            </a:r>
            <a:r>
              <a:rPr sz="900" spc="-10" dirty="0">
                <a:latin typeface="Arial"/>
                <a:cs typeface="Arial"/>
              </a:rPr>
              <a:t>decision</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Tree>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05694" y="-1515"/>
            <a:ext cx="54927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Distributed</a:t>
            </a:r>
            <a:r>
              <a:rPr sz="500" spc="-3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commit</a:t>
            </a:r>
            <a:endParaRPr sz="500">
              <a:latin typeface="Arial"/>
              <a:cs typeface="Arial"/>
            </a:endParaRPr>
          </a:p>
        </p:txBody>
      </p:sp>
      <p:sp>
        <p:nvSpPr>
          <p:cNvPr id="5" name="object 5"/>
          <p:cNvSpPr txBox="1"/>
          <p:nvPr/>
        </p:nvSpPr>
        <p:spPr>
          <a:xfrm>
            <a:off x="95300" y="197711"/>
            <a:ext cx="3514090"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2PC</a:t>
            </a:r>
            <a:r>
              <a:rPr sz="1200" spc="-25" dirty="0">
                <a:solidFill>
                  <a:srgbClr val="3333B2"/>
                </a:solidFill>
                <a:latin typeface="Arial"/>
                <a:cs typeface="Arial"/>
              </a:rPr>
              <a:t> </a:t>
            </a:r>
            <a:r>
              <a:rPr sz="1200" dirty="0">
                <a:solidFill>
                  <a:srgbClr val="3333B2"/>
                </a:solidFill>
                <a:latin typeface="Arial"/>
                <a:cs typeface="Arial"/>
              </a:rPr>
              <a:t>–</a:t>
            </a:r>
            <a:r>
              <a:rPr sz="1200" spc="-25" dirty="0">
                <a:solidFill>
                  <a:srgbClr val="3333B2"/>
                </a:solidFill>
                <a:latin typeface="Arial"/>
                <a:cs typeface="Arial"/>
              </a:rPr>
              <a:t> </a:t>
            </a:r>
            <a:r>
              <a:rPr sz="1200" spc="-10" dirty="0">
                <a:solidFill>
                  <a:srgbClr val="3333B2"/>
                </a:solidFill>
                <a:latin typeface="Arial"/>
                <a:cs typeface="Arial"/>
              </a:rPr>
              <a:t>Failing</a:t>
            </a:r>
            <a:r>
              <a:rPr sz="1200" spc="-25" dirty="0">
                <a:solidFill>
                  <a:srgbClr val="3333B2"/>
                </a:solidFill>
                <a:latin typeface="Arial"/>
                <a:cs typeface="Arial"/>
              </a:rPr>
              <a:t> </a:t>
            </a:r>
            <a:r>
              <a:rPr sz="1200" spc="-10" dirty="0">
                <a:solidFill>
                  <a:srgbClr val="3333B2"/>
                </a:solidFill>
                <a:latin typeface="Arial"/>
                <a:cs typeface="Arial"/>
              </a:rPr>
              <a:t>participant</a:t>
            </a:r>
            <a:endParaRPr sz="1200">
              <a:latin typeface="Arial"/>
              <a:cs typeface="Arial"/>
            </a:endParaRPr>
          </a:p>
          <a:p>
            <a:pPr marL="260350">
              <a:lnSpc>
                <a:spcPct val="100000"/>
              </a:lnSpc>
              <a:spcBef>
                <a:spcPts val="1055"/>
              </a:spcBef>
            </a:pPr>
            <a:r>
              <a:rPr sz="1000" dirty="0">
                <a:solidFill>
                  <a:srgbClr val="3333B2"/>
                </a:solidFill>
                <a:latin typeface="Arial"/>
                <a:cs typeface="Arial"/>
              </a:rPr>
              <a:t>Analysis:</a:t>
            </a:r>
            <a:r>
              <a:rPr sz="1000" spc="40" dirty="0">
                <a:solidFill>
                  <a:srgbClr val="3333B2"/>
                </a:solidFill>
                <a:latin typeface="Arial"/>
                <a:cs typeface="Arial"/>
              </a:rPr>
              <a:t> </a:t>
            </a:r>
            <a:r>
              <a:rPr sz="1000" dirty="0">
                <a:solidFill>
                  <a:srgbClr val="3333B2"/>
                </a:solidFill>
                <a:latin typeface="Arial"/>
                <a:cs typeface="Arial"/>
              </a:rPr>
              <a:t>participant</a:t>
            </a:r>
            <a:r>
              <a:rPr sz="1000" spc="-15" dirty="0">
                <a:solidFill>
                  <a:srgbClr val="3333B2"/>
                </a:solidFill>
                <a:latin typeface="Arial"/>
                <a:cs typeface="Arial"/>
              </a:rPr>
              <a:t> </a:t>
            </a:r>
            <a:r>
              <a:rPr sz="1000" dirty="0">
                <a:solidFill>
                  <a:srgbClr val="3333B2"/>
                </a:solidFill>
                <a:latin typeface="Arial"/>
                <a:cs typeface="Arial"/>
              </a:rPr>
              <a:t>crashes</a:t>
            </a:r>
            <a:r>
              <a:rPr sz="1000" spc="-15" dirty="0">
                <a:solidFill>
                  <a:srgbClr val="3333B2"/>
                </a:solidFill>
                <a:latin typeface="Arial"/>
                <a:cs typeface="Arial"/>
              </a:rPr>
              <a:t> </a:t>
            </a:r>
            <a:r>
              <a:rPr sz="1000" dirty="0">
                <a:solidFill>
                  <a:srgbClr val="3333B2"/>
                </a:solidFill>
                <a:latin typeface="Arial"/>
                <a:cs typeface="Arial"/>
              </a:rPr>
              <a:t>in</a:t>
            </a:r>
            <a:r>
              <a:rPr sz="1000" spc="-20" dirty="0">
                <a:solidFill>
                  <a:srgbClr val="3333B2"/>
                </a:solidFill>
                <a:latin typeface="Arial"/>
                <a:cs typeface="Arial"/>
              </a:rPr>
              <a:t> </a:t>
            </a:r>
            <a:r>
              <a:rPr sz="1000" dirty="0">
                <a:solidFill>
                  <a:srgbClr val="3333B2"/>
                </a:solidFill>
                <a:latin typeface="Arial"/>
                <a:cs typeface="Arial"/>
              </a:rPr>
              <a:t>state</a:t>
            </a:r>
            <a:r>
              <a:rPr sz="1000" spc="-15" dirty="0">
                <a:solidFill>
                  <a:srgbClr val="3333B2"/>
                </a:solidFill>
                <a:latin typeface="Arial"/>
                <a:cs typeface="Arial"/>
              </a:rPr>
              <a:t> </a:t>
            </a:r>
            <a:r>
              <a:rPr sz="1000" i="1" dirty="0">
                <a:solidFill>
                  <a:srgbClr val="3333B2"/>
                </a:solidFill>
                <a:latin typeface="Arial"/>
                <a:cs typeface="Arial"/>
              </a:rPr>
              <a:t>S</a:t>
            </a:r>
            <a:r>
              <a:rPr sz="1000" dirty="0">
                <a:solidFill>
                  <a:srgbClr val="3333B2"/>
                </a:solidFill>
                <a:latin typeface="Arial"/>
                <a:cs typeface="Arial"/>
              </a:rPr>
              <a:t>,</a:t>
            </a:r>
            <a:r>
              <a:rPr sz="1000" spc="-20" dirty="0">
                <a:solidFill>
                  <a:srgbClr val="3333B2"/>
                </a:solidFill>
                <a:latin typeface="Arial"/>
                <a:cs typeface="Arial"/>
              </a:rPr>
              <a:t> </a:t>
            </a:r>
            <a:r>
              <a:rPr sz="1000" dirty="0">
                <a:solidFill>
                  <a:srgbClr val="3333B2"/>
                </a:solidFill>
                <a:latin typeface="Arial"/>
                <a:cs typeface="Arial"/>
              </a:rPr>
              <a:t>and</a:t>
            </a:r>
            <a:r>
              <a:rPr sz="1000" spc="-15" dirty="0">
                <a:solidFill>
                  <a:srgbClr val="3333B2"/>
                </a:solidFill>
                <a:latin typeface="Arial"/>
                <a:cs typeface="Arial"/>
              </a:rPr>
              <a:t> </a:t>
            </a:r>
            <a:r>
              <a:rPr sz="1000" spc="-10" dirty="0">
                <a:solidFill>
                  <a:srgbClr val="3333B2"/>
                </a:solidFill>
                <a:latin typeface="Arial"/>
                <a:cs typeface="Arial"/>
              </a:rPr>
              <a:t>recovers</a:t>
            </a:r>
            <a:r>
              <a:rPr sz="1000" spc="-20" dirty="0">
                <a:solidFill>
                  <a:srgbClr val="3333B2"/>
                </a:solidFill>
                <a:latin typeface="Arial"/>
                <a:cs typeface="Arial"/>
              </a:rPr>
              <a:t> </a:t>
            </a:r>
            <a:r>
              <a:rPr sz="1000" dirty="0">
                <a:solidFill>
                  <a:srgbClr val="3333B2"/>
                </a:solidFill>
                <a:latin typeface="Arial"/>
                <a:cs typeface="Arial"/>
              </a:rPr>
              <a:t>to</a:t>
            </a:r>
            <a:r>
              <a:rPr sz="1000" spc="-15" dirty="0">
                <a:solidFill>
                  <a:srgbClr val="3333B2"/>
                </a:solidFill>
                <a:latin typeface="Arial"/>
                <a:cs typeface="Arial"/>
              </a:rPr>
              <a:t> </a:t>
            </a:r>
            <a:r>
              <a:rPr sz="1000" i="1" spc="-50" dirty="0">
                <a:solidFill>
                  <a:srgbClr val="3333B2"/>
                </a:solidFill>
                <a:latin typeface="Arial"/>
                <a:cs typeface="Arial"/>
              </a:rPr>
              <a:t>S</a:t>
            </a:r>
            <a:endParaRPr sz="1000">
              <a:latin typeface="Arial"/>
              <a:cs typeface="Arial"/>
            </a:endParaRPr>
          </a:p>
        </p:txBody>
      </p:sp>
      <p:sp>
        <p:nvSpPr>
          <p:cNvPr id="6" name="object 6"/>
          <p:cNvSpPr txBox="1"/>
          <p:nvPr/>
        </p:nvSpPr>
        <p:spPr>
          <a:xfrm>
            <a:off x="480148" y="1453124"/>
            <a:ext cx="3724910" cy="332105"/>
          </a:xfrm>
          <a:prstGeom prst="rect">
            <a:avLst/>
          </a:prstGeom>
        </p:spPr>
        <p:txBody>
          <a:bodyPr vert="horz" wrap="square" lIns="0" tIns="12700" rIns="0" bIns="0" rtlCol="0">
            <a:spAutoFit/>
          </a:bodyPr>
          <a:lstStyle/>
          <a:p>
            <a:pPr marL="132715" marR="5080" indent="-120650">
              <a:lnSpc>
                <a:spcPct val="111600"/>
              </a:lnSpc>
              <a:spcBef>
                <a:spcPts val="100"/>
              </a:spcBef>
              <a:buClr>
                <a:srgbClr val="3333B2"/>
              </a:buClr>
              <a:buFont typeface="Menlo"/>
              <a:buChar char="•"/>
              <a:tabLst>
                <a:tab pos="133350" algn="l"/>
              </a:tabLst>
            </a:pPr>
            <a:r>
              <a:rPr sz="900" i="1" spc="-20" dirty="0">
                <a:solidFill>
                  <a:srgbClr val="C80000"/>
                </a:solidFill>
                <a:latin typeface="Arial"/>
                <a:cs typeface="Arial"/>
              </a:rPr>
              <a:t>ABORT</a:t>
            </a:r>
            <a:r>
              <a:rPr sz="900" i="1" spc="-130" dirty="0">
                <a:solidFill>
                  <a:srgbClr val="C80000"/>
                </a:solidFill>
                <a:latin typeface="Arial"/>
                <a:cs typeface="Arial"/>
              </a:rPr>
              <a:t> </a:t>
            </a:r>
            <a:r>
              <a:rPr sz="900" dirty="0">
                <a:latin typeface="Arial"/>
                <a:cs typeface="Arial"/>
              </a:rPr>
              <a:t>:</a:t>
            </a:r>
            <a:r>
              <a:rPr sz="900" spc="30" dirty="0">
                <a:latin typeface="Arial"/>
                <a:cs typeface="Arial"/>
              </a:rPr>
              <a:t> </a:t>
            </a:r>
            <a:r>
              <a:rPr sz="900" dirty="0">
                <a:latin typeface="Arial"/>
                <a:cs typeface="Arial"/>
              </a:rPr>
              <a:t>Merely</a:t>
            </a:r>
            <a:r>
              <a:rPr sz="900" spc="-20" dirty="0">
                <a:latin typeface="Arial"/>
                <a:cs typeface="Arial"/>
              </a:rPr>
              <a:t> </a:t>
            </a:r>
            <a:r>
              <a:rPr sz="900" dirty="0">
                <a:latin typeface="Arial"/>
                <a:cs typeface="Arial"/>
              </a:rPr>
              <a:t>make</a:t>
            </a:r>
            <a:r>
              <a:rPr sz="900" spc="-15" dirty="0">
                <a:latin typeface="Arial"/>
                <a:cs typeface="Arial"/>
              </a:rPr>
              <a:t> </a:t>
            </a:r>
            <a:r>
              <a:rPr sz="900" dirty="0">
                <a:latin typeface="Arial"/>
                <a:cs typeface="Arial"/>
              </a:rPr>
              <a:t>entry</a:t>
            </a:r>
            <a:r>
              <a:rPr sz="900" spc="-20" dirty="0">
                <a:latin typeface="Arial"/>
                <a:cs typeface="Arial"/>
              </a:rPr>
              <a:t> </a:t>
            </a:r>
            <a:r>
              <a:rPr sz="900" dirty="0">
                <a:latin typeface="Arial"/>
                <a:cs typeface="Arial"/>
              </a:rPr>
              <a:t>into</a:t>
            </a:r>
            <a:r>
              <a:rPr sz="900" spc="-15" dirty="0">
                <a:latin typeface="Arial"/>
                <a:cs typeface="Arial"/>
              </a:rPr>
              <a:t> </a:t>
            </a:r>
            <a:r>
              <a:rPr sz="900" dirty="0">
                <a:latin typeface="Arial"/>
                <a:cs typeface="Arial"/>
              </a:rPr>
              <a:t>abort</a:t>
            </a:r>
            <a:r>
              <a:rPr sz="900" spc="-20" dirty="0">
                <a:latin typeface="Arial"/>
                <a:cs typeface="Arial"/>
              </a:rPr>
              <a:t> </a:t>
            </a:r>
            <a:r>
              <a:rPr sz="900" dirty="0">
                <a:latin typeface="Arial"/>
                <a:cs typeface="Arial"/>
              </a:rPr>
              <a:t>state</a:t>
            </a:r>
            <a:r>
              <a:rPr sz="900" spc="-20" dirty="0">
                <a:latin typeface="Arial"/>
                <a:cs typeface="Arial"/>
              </a:rPr>
              <a:t> </a:t>
            </a:r>
            <a:r>
              <a:rPr sz="900" dirty="0">
                <a:solidFill>
                  <a:srgbClr val="3333B2"/>
                </a:solidFill>
                <a:latin typeface="Arial"/>
                <a:cs typeface="Arial"/>
              </a:rPr>
              <a:t>idempotent</a:t>
            </a:r>
            <a:r>
              <a:rPr sz="900" dirty="0">
                <a:latin typeface="Arial"/>
                <a:cs typeface="Arial"/>
              </a:rPr>
              <a:t>,</a:t>
            </a:r>
            <a:r>
              <a:rPr sz="900" spc="-15" dirty="0">
                <a:latin typeface="Arial"/>
                <a:cs typeface="Arial"/>
              </a:rPr>
              <a:t> </a:t>
            </a:r>
            <a:r>
              <a:rPr sz="900" dirty="0">
                <a:latin typeface="Arial"/>
                <a:cs typeface="Arial"/>
              </a:rPr>
              <a:t>e.g.,</a:t>
            </a:r>
            <a:r>
              <a:rPr sz="900" spc="-20" dirty="0">
                <a:latin typeface="Arial"/>
                <a:cs typeface="Arial"/>
              </a:rPr>
              <a:t> </a:t>
            </a:r>
            <a:r>
              <a:rPr sz="900" spc="-10" dirty="0">
                <a:latin typeface="Arial"/>
                <a:cs typeface="Arial"/>
              </a:rPr>
              <a:t>removing </a:t>
            </a:r>
            <a:r>
              <a:rPr sz="900" dirty="0">
                <a:latin typeface="Arial"/>
                <a:cs typeface="Arial"/>
              </a:rPr>
              <a:t>the</a:t>
            </a:r>
            <a:r>
              <a:rPr sz="900" spc="-30" dirty="0">
                <a:latin typeface="Arial"/>
                <a:cs typeface="Arial"/>
              </a:rPr>
              <a:t> </a:t>
            </a:r>
            <a:r>
              <a:rPr sz="900" dirty="0">
                <a:latin typeface="Arial"/>
                <a:cs typeface="Arial"/>
              </a:rPr>
              <a:t>workspace</a:t>
            </a:r>
            <a:r>
              <a:rPr sz="900" spc="-25" dirty="0">
                <a:latin typeface="Arial"/>
                <a:cs typeface="Arial"/>
              </a:rPr>
              <a:t> </a:t>
            </a:r>
            <a:r>
              <a:rPr sz="900" dirty="0">
                <a:latin typeface="Arial"/>
                <a:cs typeface="Arial"/>
              </a:rPr>
              <a:t>of</a:t>
            </a:r>
            <a:r>
              <a:rPr sz="900" spc="-25" dirty="0">
                <a:latin typeface="Arial"/>
                <a:cs typeface="Arial"/>
              </a:rPr>
              <a:t> </a:t>
            </a:r>
            <a:r>
              <a:rPr sz="900" spc="-10" dirty="0">
                <a:latin typeface="Arial"/>
                <a:cs typeface="Arial"/>
              </a:rPr>
              <a:t>results</a:t>
            </a:r>
            <a:endParaRPr sz="900">
              <a:latin typeface="Arial"/>
              <a:cs typeface="Arial"/>
            </a:endParaRPr>
          </a:p>
        </p:txBody>
      </p:sp>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Tree>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05694" y="-1515"/>
            <a:ext cx="54927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Distributed</a:t>
            </a:r>
            <a:r>
              <a:rPr sz="500" spc="-3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commit</a:t>
            </a:r>
            <a:endParaRPr sz="500">
              <a:latin typeface="Arial"/>
              <a:cs typeface="Arial"/>
            </a:endParaRPr>
          </a:p>
        </p:txBody>
      </p:sp>
      <p:sp>
        <p:nvSpPr>
          <p:cNvPr id="5" name="object 5"/>
          <p:cNvSpPr txBox="1"/>
          <p:nvPr/>
        </p:nvSpPr>
        <p:spPr>
          <a:xfrm>
            <a:off x="95300" y="197711"/>
            <a:ext cx="3514090"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2PC</a:t>
            </a:r>
            <a:r>
              <a:rPr sz="1200" spc="-25" dirty="0">
                <a:solidFill>
                  <a:srgbClr val="3333B2"/>
                </a:solidFill>
                <a:latin typeface="Arial"/>
                <a:cs typeface="Arial"/>
              </a:rPr>
              <a:t> </a:t>
            </a:r>
            <a:r>
              <a:rPr sz="1200" dirty="0">
                <a:solidFill>
                  <a:srgbClr val="3333B2"/>
                </a:solidFill>
                <a:latin typeface="Arial"/>
                <a:cs typeface="Arial"/>
              </a:rPr>
              <a:t>–</a:t>
            </a:r>
            <a:r>
              <a:rPr sz="1200" spc="-25" dirty="0">
                <a:solidFill>
                  <a:srgbClr val="3333B2"/>
                </a:solidFill>
                <a:latin typeface="Arial"/>
                <a:cs typeface="Arial"/>
              </a:rPr>
              <a:t> </a:t>
            </a:r>
            <a:r>
              <a:rPr sz="1200" spc="-10" dirty="0">
                <a:solidFill>
                  <a:srgbClr val="3333B2"/>
                </a:solidFill>
                <a:latin typeface="Arial"/>
                <a:cs typeface="Arial"/>
              </a:rPr>
              <a:t>Failing</a:t>
            </a:r>
            <a:r>
              <a:rPr sz="1200" spc="-25" dirty="0">
                <a:solidFill>
                  <a:srgbClr val="3333B2"/>
                </a:solidFill>
                <a:latin typeface="Arial"/>
                <a:cs typeface="Arial"/>
              </a:rPr>
              <a:t> </a:t>
            </a:r>
            <a:r>
              <a:rPr sz="1200" spc="-10" dirty="0">
                <a:solidFill>
                  <a:srgbClr val="3333B2"/>
                </a:solidFill>
                <a:latin typeface="Arial"/>
                <a:cs typeface="Arial"/>
              </a:rPr>
              <a:t>participant</a:t>
            </a:r>
            <a:endParaRPr sz="1200">
              <a:latin typeface="Arial"/>
              <a:cs typeface="Arial"/>
            </a:endParaRPr>
          </a:p>
          <a:p>
            <a:pPr marL="260350">
              <a:lnSpc>
                <a:spcPct val="100000"/>
              </a:lnSpc>
              <a:spcBef>
                <a:spcPts val="1055"/>
              </a:spcBef>
            </a:pPr>
            <a:r>
              <a:rPr sz="1000" dirty="0">
                <a:solidFill>
                  <a:srgbClr val="3333B2"/>
                </a:solidFill>
                <a:latin typeface="Arial"/>
                <a:cs typeface="Arial"/>
              </a:rPr>
              <a:t>Analysis:</a:t>
            </a:r>
            <a:r>
              <a:rPr sz="1000" spc="40" dirty="0">
                <a:solidFill>
                  <a:srgbClr val="3333B2"/>
                </a:solidFill>
                <a:latin typeface="Arial"/>
                <a:cs typeface="Arial"/>
              </a:rPr>
              <a:t> </a:t>
            </a:r>
            <a:r>
              <a:rPr sz="1000" dirty="0">
                <a:solidFill>
                  <a:srgbClr val="3333B2"/>
                </a:solidFill>
                <a:latin typeface="Arial"/>
                <a:cs typeface="Arial"/>
              </a:rPr>
              <a:t>participant</a:t>
            </a:r>
            <a:r>
              <a:rPr sz="1000" spc="-15" dirty="0">
                <a:solidFill>
                  <a:srgbClr val="3333B2"/>
                </a:solidFill>
                <a:latin typeface="Arial"/>
                <a:cs typeface="Arial"/>
              </a:rPr>
              <a:t> </a:t>
            </a:r>
            <a:r>
              <a:rPr sz="1000" dirty="0">
                <a:solidFill>
                  <a:srgbClr val="3333B2"/>
                </a:solidFill>
                <a:latin typeface="Arial"/>
                <a:cs typeface="Arial"/>
              </a:rPr>
              <a:t>crashes</a:t>
            </a:r>
            <a:r>
              <a:rPr sz="1000" spc="-15" dirty="0">
                <a:solidFill>
                  <a:srgbClr val="3333B2"/>
                </a:solidFill>
                <a:latin typeface="Arial"/>
                <a:cs typeface="Arial"/>
              </a:rPr>
              <a:t> </a:t>
            </a:r>
            <a:r>
              <a:rPr sz="1000" dirty="0">
                <a:solidFill>
                  <a:srgbClr val="3333B2"/>
                </a:solidFill>
                <a:latin typeface="Arial"/>
                <a:cs typeface="Arial"/>
              </a:rPr>
              <a:t>in</a:t>
            </a:r>
            <a:r>
              <a:rPr sz="1000" spc="-20" dirty="0">
                <a:solidFill>
                  <a:srgbClr val="3333B2"/>
                </a:solidFill>
                <a:latin typeface="Arial"/>
                <a:cs typeface="Arial"/>
              </a:rPr>
              <a:t> </a:t>
            </a:r>
            <a:r>
              <a:rPr sz="1000" dirty="0">
                <a:solidFill>
                  <a:srgbClr val="3333B2"/>
                </a:solidFill>
                <a:latin typeface="Arial"/>
                <a:cs typeface="Arial"/>
              </a:rPr>
              <a:t>state</a:t>
            </a:r>
            <a:r>
              <a:rPr sz="1000" spc="-15" dirty="0">
                <a:solidFill>
                  <a:srgbClr val="3333B2"/>
                </a:solidFill>
                <a:latin typeface="Arial"/>
                <a:cs typeface="Arial"/>
              </a:rPr>
              <a:t> </a:t>
            </a:r>
            <a:r>
              <a:rPr sz="1000" i="1" dirty="0">
                <a:solidFill>
                  <a:srgbClr val="3333B2"/>
                </a:solidFill>
                <a:latin typeface="Arial"/>
                <a:cs typeface="Arial"/>
              </a:rPr>
              <a:t>S</a:t>
            </a:r>
            <a:r>
              <a:rPr sz="1000" dirty="0">
                <a:solidFill>
                  <a:srgbClr val="3333B2"/>
                </a:solidFill>
                <a:latin typeface="Arial"/>
                <a:cs typeface="Arial"/>
              </a:rPr>
              <a:t>,</a:t>
            </a:r>
            <a:r>
              <a:rPr sz="1000" spc="-20" dirty="0">
                <a:solidFill>
                  <a:srgbClr val="3333B2"/>
                </a:solidFill>
                <a:latin typeface="Arial"/>
                <a:cs typeface="Arial"/>
              </a:rPr>
              <a:t> </a:t>
            </a:r>
            <a:r>
              <a:rPr sz="1000" dirty="0">
                <a:solidFill>
                  <a:srgbClr val="3333B2"/>
                </a:solidFill>
                <a:latin typeface="Arial"/>
                <a:cs typeface="Arial"/>
              </a:rPr>
              <a:t>and</a:t>
            </a:r>
            <a:r>
              <a:rPr sz="1000" spc="-15" dirty="0">
                <a:solidFill>
                  <a:srgbClr val="3333B2"/>
                </a:solidFill>
                <a:latin typeface="Arial"/>
                <a:cs typeface="Arial"/>
              </a:rPr>
              <a:t> </a:t>
            </a:r>
            <a:r>
              <a:rPr sz="1000" spc="-10" dirty="0">
                <a:solidFill>
                  <a:srgbClr val="3333B2"/>
                </a:solidFill>
                <a:latin typeface="Arial"/>
                <a:cs typeface="Arial"/>
              </a:rPr>
              <a:t>recovers</a:t>
            </a:r>
            <a:r>
              <a:rPr sz="1000" spc="-20" dirty="0">
                <a:solidFill>
                  <a:srgbClr val="3333B2"/>
                </a:solidFill>
                <a:latin typeface="Arial"/>
                <a:cs typeface="Arial"/>
              </a:rPr>
              <a:t> </a:t>
            </a:r>
            <a:r>
              <a:rPr sz="1000" dirty="0">
                <a:solidFill>
                  <a:srgbClr val="3333B2"/>
                </a:solidFill>
                <a:latin typeface="Arial"/>
                <a:cs typeface="Arial"/>
              </a:rPr>
              <a:t>to</a:t>
            </a:r>
            <a:r>
              <a:rPr sz="1000" spc="-15" dirty="0">
                <a:solidFill>
                  <a:srgbClr val="3333B2"/>
                </a:solidFill>
                <a:latin typeface="Arial"/>
                <a:cs typeface="Arial"/>
              </a:rPr>
              <a:t> </a:t>
            </a:r>
            <a:r>
              <a:rPr sz="1000" i="1" spc="-50" dirty="0">
                <a:solidFill>
                  <a:srgbClr val="3333B2"/>
                </a:solidFill>
                <a:latin typeface="Arial"/>
                <a:cs typeface="Arial"/>
              </a:rPr>
              <a:t>S</a:t>
            </a:r>
            <a:endParaRPr sz="1000">
              <a:latin typeface="Arial"/>
              <a:cs typeface="Arial"/>
            </a:endParaRPr>
          </a:p>
        </p:txBody>
      </p:sp>
      <p:sp>
        <p:nvSpPr>
          <p:cNvPr id="6" name="object 6"/>
          <p:cNvSpPr txBox="1"/>
          <p:nvPr/>
        </p:nvSpPr>
        <p:spPr>
          <a:xfrm>
            <a:off x="480148" y="1809931"/>
            <a:ext cx="3702685" cy="332105"/>
          </a:xfrm>
          <a:prstGeom prst="rect">
            <a:avLst/>
          </a:prstGeom>
        </p:spPr>
        <p:txBody>
          <a:bodyPr vert="horz" wrap="square" lIns="0" tIns="12700" rIns="0" bIns="0" rtlCol="0">
            <a:spAutoFit/>
          </a:bodyPr>
          <a:lstStyle/>
          <a:p>
            <a:pPr marL="128270" marR="5080" indent="-116205">
              <a:lnSpc>
                <a:spcPct val="111600"/>
              </a:lnSpc>
              <a:spcBef>
                <a:spcPts val="100"/>
              </a:spcBef>
              <a:buClr>
                <a:srgbClr val="3333B2"/>
              </a:buClr>
              <a:buFont typeface="Menlo"/>
              <a:buChar char="•"/>
              <a:tabLst>
                <a:tab pos="133350" algn="l"/>
              </a:tabLst>
            </a:pPr>
            <a:r>
              <a:rPr sz="900" i="1" spc="-10" dirty="0">
                <a:solidFill>
                  <a:srgbClr val="C80000"/>
                </a:solidFill>
                <a:latin typeface="Arial"/>
                <a:cs typeface="Arial"/>
              </a:rPr>
              <a:t>COMMIT</a:t>
            </a:r>
            <a:r>
              <a:rPr sz="900" i="1" spc="-130" dirty="0">
                <a:solidFill>
                  <a:srgbClr val="C80000"/>
                </a:solidFill>
                <a:latin typeface="Arial"/>
                <a:cs typeface="Arial"/>
              </a:rPr>
              <a:t> </a:t>
            </a:r>
            <a:r>
              <a:rPr sz="900" dirty="0">
                <a:latin typeface="Arial"/>
                <a:cs typeface="Arial"/>
              </a:rPr>
              <a:t>:</a:t>
            </a:r>
            <a:r>
              <a:rPr sz="900" spc="20" dirty="0">
                <a:latin typeface="Arial"/>
                <a:cs typeface="Arial"/>
              </a:rPr>
              <a:t> </a:t>
            </a:r>
            <a:r>
              <a:rPr sz="900" dirty="0">
                <a:latin typeface="Arial"/>
                <a:cs typeface="Arial"/>
              </a:rPr>
              <a:t>Also</a:t>
            </a:r>
            <a:r>
              <a:rPr sz="900" spc="-20" dirty="0">
                <a:latin typeface="Arial"/>
                <a:cs typeface="Arial"/>
              </a:rPr>
              <a:t> </a:t>
            </a:r>
            <a:r>
              <a:rPr sz="900" dirty="0">
                <a:latin typeface="Arial"/>
                <a:cs typeface="Arial"/>
              </a:rPr>
              <a:t>make</a:t>
            </a:r>
            <a:r>
              <a:rPr sz="900" spc="-25" dirty="0">
                <a:latin typeface="Arial"/>
                <a:cs typeface="Arial"/>
              </a:rPr>
              <a:t> </a:t>
            </a:r>
            <a:r>
              <a:rPr sz="900" dirty="0">
                <a:latin typeface="Arial"/>
                <a:cs typeface="Arial"/>
              </a:rPr>
              <a:t>entry</a:t>
            </a:r>
            <a:r>
              <a:rPr sz="900" spc="-25" dirty="0">
                <a:latin typeface="Arial"/>
                <a:cs typeface="Arial"/>
              </a:rPr>
              <a:t> </a:t>
            </a:r>
            <a:r>
              <a:rPr sz="900" dirty="0">
                <a:latin typeface="Arial"/>
                <a:cs typeface="Arial"/>
              </a:rPr>
              <a:t>into</a:t>
            </a:r>
            <a:r>
              <a:rPr sz="900" spc="-20" dirty="0">
                <a:latin typeface="Arial"/>
                <a:cs typeface="Arial"/>
              </a:rPr>
              <a:t> </a:t>
            </a:r>
            <a:r>
              <a:rPr sz="900" dirty="0">
                <a:latin typeface="Arial"/>
                <a:cs typeface="Arial"/>
              </a:rPr>
              <a:t>commit</a:t>
            </a:r>
            <a:r>
              <a:rPr sz="900" spc="-25" dirty="0">
                <a:latin typeface="Arial"/>
                <a:cs typeface="Arial"/>
              </a:rPr>
              <a:t> </a:t>
            </a:r>
            <a:r>
              <a:rPr sz="900" dirty="0">
                <a:latin typeface="Arial"/>
                <a:cs typeface="Arial"/>
              </a:rPr>
              <a:t>state</a:t>
            </a:r>
            <a:r>
              <a:rPr sz="900" spc="-20" dirty="0">
                <a:latin typeface="Arial"/>
                <a:cs typeface="Arial"/>
              </a:rPr>
              <a:t> </a:t>
            </a:r>
            <a:r>
              <a:rPr sz="900" dirty="0">
                <a:latin typeface="Arial"/>
                <a:cs typeface="Arial"/>
              </a:rPr>
              <a:t>idempotent,</a:t>
            </a:r>
            <a:r>
              <a:rPr sz="900" spc="-25" dirty="0">
                <a:latin typeface="Arial"/>
                <a:cs typeface="Arial"/>
              </a:rPr>
              <a:t> </a:t>
            </a:r>
            <a:r>
              <a:rPr sz="900" dirty="0">
                <a:latin typeface="Arial"/>
                <a:cs typeface="Arial"/>
              </a:rPr>
              <a:t>e.g.,</a:t>
            </a:r>
            <a:r>
              <a:rPr sz="900" spc="-25" dirty="0">
                <a:latin typeface="Arial"/>
                <a:cs typeface="Arial"/>
              </a:rPr>
              <a:t> </a:t>
            </a:r>
            <a:r>
              <a:rPr sz="900" spc="-10" dirty="0">
                <a:latin typeface="Arial"/>
                <a:cs typeface="Arial"/>
              </a:rPr>
              <a:t>copying </a:t>
            </a:r>
            <a:r>
              <a:rPr sz="900" dirty="0">
                <a:latin typeface="Arial"/>
                <a:cs typeface="Arial"/>
              </a:rPr>
              <a:t>workspace</a:t>
            </a:r>
            <a:r>
              <a:rPr sz="900" spc="-35" dirty="0">
                <a:latin typeface="Arial"/>
                <a:cs typeface="Arial"/>
              </a:rPr>
              <a:t> </a:t>
            </a:r>
            <a:r>
              <a:rPr sz="900" dirty="0">
                <a:latin typeface="Arial"/>
                <a:cs typeface="Arial"/>
              </a:rPr>
              <a:t>to</a:t>
            </a:r>
            <a:r>
              <a:rPr sz="900" spc="-30" dirty="0">
                <a:latin typeface="Arial"/>
                <a:cs typeface="Arial"/>
              </a:rPr>
              <a:t> </a:t>
            </a:r>
            <a:r>
              <a:rPr sz="900" spc="-10" dirty="0">
                <a:latin typeface="Arial"/>
                <a:cs typeface="Arial"/>
              </a:rPr>
              <a:t>storage.</a:t>
            </a:r>
            <a:endParaRPr sz="900">
              <a:latin typeface="Arial"/>
              <a:cs typeface="Arial"/>
            </a:endParaRPr>
          </a:p>
        </p:txBody>
      </p:sp>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Tree>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64304"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3" action="ppaction://hlinksldjump"/>
              </a:rPr>
              <a:t>Distributed</a:t>
            </a:r>
            <a:r>
              <a:rPr sz="500" spc="-3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commit</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2PC</a:t>
            </a:r>
            <a:r>
              <a:rPr spc="-25" dirty="0"/>
              <a:t> </a:t>
            </a:r>
            <a:r>
              <a:rPr dirty="0"/>
              <a:t>–</a:t>
            </a:r>
            <a:r>
              <a:rPr spc="-25" dirty="0"/>
              <a:t> </a:t>
            </a:r>
            <a:r>
              <a:rPr spc="-10" dirty="0"/>
              <a:t>Failing</a:t>
            </a:r>
            <a:r>
              <a:rPr spc="-25" dirty="0"/>
              <a:t> </a:t>
            </a:r>
            <a:r>
              <a:rPr spc="-10" dirty="0"/>
              <a:t>participant</a:t>
            </a:r>
          </a:p>
        </p:txBody>
      </p:sp>
      <p:sp>
        <p:nvSpPr>
          <p:cNvPr id="4" name="object 4"/>
          <p:cNvSpPr txBox="1"/>
          <p:nvPr/>
        </p:nvSpPr>
        <p:spPr>
          <a:xfrm>
            <a:off x="317728" y="514774"/>
            <a:ext cx="3968750" cy="2414905"/>
          </a:xfrm>
          <a:prstGeom prst="rect">
            <a:avLst/>
          </a:prstGeom>
        </p:spPr>
        <p:txBody>
          <a:bodyPr vert="horz" wrap="square" lIns="0" tIns="12065" rIns="0" bIns="0" rtlCol="0">
            <a:spAutoFit/>
          </a:bodyPr>
          <a:lstStyle/>
          <a:p>
            <a:pPr marL="38100">
              <a:lnSpc>
                <a:spcPct val="100000"/>
              </a:lnSpc>
              <a:spcBef>
                <a:spcPts val="95"/>
              </a:spcBef>
            </a:pPr>
            <a:r>
              <a:rPr sz="1000" dirty="0">
                <a:solidFill>
                  <a:srgbClr val="3333B2"/>
                </a:solidFill>
                <a:latin typeface="Arial"/>
                <a:cs typeface="Arial"/>
              </a:rPr>
              <a:t>Analysis:</a:t>
            </a:r>
            <a:r>
              <a:rPr sz="1000" spc="40" dirty="0">
                <a:solidFill>
                  <a:srgbClr val="3333B2"/>
                </a:solidFill>
                <a:latin typeface="Arial"/>
                <a:cs typeface="Arial"/>
              </a:rPr>
              <a:t> </a:t>
            </a:r>
            <a:r>
              <a:rPr sz="1000" dirty="0">
                <a:solidFill>
                  <a:srgbClr val="3333B2"/>
                </a:solidFill>
                <a:latin typeface="Arial"/>
                <a:cs typeface="Arial"/>
              </a:rPr>
              <a:t>participant</a:t>
            </a:r>
            <a:r>
              <a:rPr sz="1000" spc="-15" dirty="0">
                <a:solidFill>
                  <a:srgbClr val="3333B2"/>
                </a:solidFill>
                <a:latin typeface="Arial"/>
                <a:cs typeface="Arial"/>
              </a:rPr>
              <a:t> </a:t>
            </a:r>
            <a:r>
              <a:rPr sz="1000" dirty="0">
                <a:solidFill>
                  <a:srgbClr val="3333B2"/>
                </a:solidFill>
                <a:latin typeface="Arial"/>
                <a:cs typeface="Arial"/>
              </a:rPr>
              <a:t>crashes</a:t>
            </a:r>
            <a:r>
              <a:rPr sz="1000" spc="-15" dirty="0">
                <a:solidFill>
                  <a:srgbClr val="3333B2"/>
                </a:solidFill>
                <a:latin typeface="Arial"/>
                <a:cs typeface="Arial"/>
              </a:rPr>
              <a:t> </a:t>
            </a:r>
            <a:r>
              <a:rPr sz="1000" dirty="0">
                <a:solidFill>
                  <a:srgbClr val="3333B2"/>
                </a:solidFill>
                <a:latin typeface="Arial"/>
                <a:cs typeface="Arial"/>
              </a:rPr>
              <a:t>in</a:t>
            </a:r>
            <a:r>
              <a:rPr sz="1000" spc="-20" dirty="0">
                <a:solidFill>
                  <a:srgbClr val="3333B2"/>
                </a:solidFill>
                <a:latin typeface="Arial"/>
                <a:cs typeface="Arial"/>
              </a:rPr>
              <a:t> </a:t>
            </a:r>
            <a:r>
              <a:rPr sz="1000" dirty="0">
                <a:solidFill>
                  <a:srgbClr val="3333B2"/>
                </a:solidFill>
                <a:latin typeface="Arial"/>
                <a:cs typeface="Arial"/>
              </a:rPr>
              <a:t>state</a:t>
            </a:r>
            <a:r>
              <a:rPr sz="1000" spc="-15" dirty="0">
                <a:solidFill>
                  <a:srgbClr val="3333B2"/>
                </a:solidFill>
                <a:latin typeface="Arial"/>
                <a:cs typeface="Arial"/>
              </a:rPr>
              <a:t> </a:t>
            </a:r>
            <a:r>
              <a:rPr sz="1000" i="1" dirty="0">
                <a:solidFill>
                  <a:srgbClr val="3333B2"/>
                </a:solidFill>
                <a:latin typeface="Arial"/>
                <a:cs typeface="Arial"/>
              </a:rPr>
              <a:t>S</a:t>
            </a:r>
            <a:r>
              <a:rPr sz="1000" dirty="0">
                <a:solidFill>
                  <a:srgbClr val="3333B2"/>
                </a:solidFill>
                <a:latin typeface="Arial"/>
                <a:cs typeface="Arial"/>
              </a:rPr>
              <a:t>,</a:t>
            </a:r>
            <a:r>
              <a:rPr sz="1000" spc="-20" dirty="0">
                <a:solidFill>
                  <a:srgbClr val="3333B2"/>
                </a:solidFill>
                <a:latin typeface="Arial"/>
                <a:cs typeface="Arial"/>
              </a:rPr>
              <a:t> </a:t>
            </a:r>
            <a:r>
              <a:rPr sz="1000" dirty="0">
                <a:solidFill>
                  <a:srgbClr val="3333B2"/>
                </a:solidFill>
                <a:latin typeface="Arial"/>
                <a:cs typeface="Arial"/>
              </a:rPr>
              <a:t>and</a:t>
            </a:r>
            <a:r>
              <a:rPr sz="1000" spc="-15" dirty="0">
                <a:solidFill>
                  <a:srgbClr val="3333B2"/>
                </a:solidFill>
                <a:latin typeface="Arial"/>
                <a:cs typeface="Arial"/>
              </a:rPr>
              <a:t> </a:t>
            </a:r>
            <a:r>
              <a:rPr sz="1000" spc="-10" dirty="0">
                <a:solidFill>
                  <a:srgbClr val="3333B2"/>
                </a:solidFill>
                <a:latin typeface="Arial"/>
                <a:cs typeface="Arial"/>
              </a:rPr>
              <a:t>recovers</a:t>
            </a:r>
            <a:r>
              <a:rPr sz="1000" spc="-20" dirty="0">
                <a:solidFill>
                  <a:srgbClr val="3333B2"/>
                </a:solidFill>
                <a:latin typeface="Arial"/>
                <a:cs typeface="Arial"/>
              </a:rPr>
              <a:t> </a:t>
            </a:r>
            <a:r>
              <a:rPr sz="1000" dirty="0">
                <a:solidFill>
                  <a:srgbClr val="3333B2"/>
                </a:solidFill>
                <a:latin typeface="Arial"/>
                <a:cs typeface="Arial"/>
              </a:rPr>
              <a:t>to</a:t>
            </a:r>
            <a:r>
              <a:rPr sz="1000" spc="-15" dirty="0">
                <a:solidFill>
                  <a:srgbClr val="3333B2"/>
                </a:solidFill>
                <a:latin typeface="Arial"/>
                <a:cs typeface="Arial"/>
              </a:rPr>
              <a:t> </a:t>
            </a:r>
            <a:r>
              <a:rPr sz="1000" i="1" spc="-50" dirty="0">
                <a:solidFill>
                  <a:srgbClr val="3333B2"/>
                </a:solidFill>
                <a:latin typeface="Arial"/>
                <a:cs typeface="Arial"/>
              </a:rPr>
              <a:t>S</a:t>
            </a:r>
            <a:endParaRPr sz="1000">
              <a:latin typeface="Arial"/>
              <a:cs typeface="Arial"/>
            </a:endParaRPr>
          </a:p>
          <a:p>
            <a:pPr marL="295275" indent="-121285">
              <a:lnSpc>
                <a:spcPct val="100000"/>
              </a:lnSpc>
              <a:spcBef>
                <a:spcPts val="700"/>
              </a:spcBef>
              <a:buClr>
                <a:srgbClr val="3333B2"/>
              </a:buClr>
              <a:buFont typeface="Menlo"/>
              <a:buChar char="•"/>
              <a:tabLst>
                <a:tab pos="295910" algn="l"/>
              </a:tabLst>
            </a:pPr>
            <a:r>
              <a:rPr sz="900" i="1" spc="-10" dirty="0">
                <a:solidFill>
                  <a:srgbClr val="C80000"/>
                </a:solidFill>
                <a:latin typeface="Arial"/>
                <a:cs typeface="Arial"/>
              </a:rPr>
              <a:t>INIT</a:t>
            </a:r>
            <a:r>
              <a:rPr sz="900" i="1" spc="-130" dirty="0">
                <a:solidFill>
                  <a:srgbClr val="C80000"/>
                </a:solidFill>
                <a:latin typeface="Arial"/>
                <a:cs typeface="Arial"/>
              </a:rPr>
              <a:t> </a:t>
            </a:r>
            <a:r>
              <a:rPr sz="900" dirty="0">
                <a:latin typeface="Arial"/>
                <a:cs typeface="Arial"/>
              </a:rPr>
              <a:t>:</a:t>
            </a:r>
            <a:r>
              <a:rPr sz="900" spc="35" dirty="0">
                <a:latin typeface="Arial"/>
                <a:cs typeface="Arial"/>
              </a:rPr>
              <a:t> </a:t>
            </a:r>
            <a:r>
              <a:rPr sz="900" dirty="0">
                <a:latin typeface="Arial"/>
                <a:cs typeface="Arial"/>
              </a:rPr>
              <a:t>No</a:t>
            </a:r>
            <a:r>
              <a:rPr sz="900" spc="-20" dirty="0">
                <a:latin typeface="Arial"/>
                <a:cs typeface="Arial"/>
              </a:rPr>
              <a:t> </a:t>
            </a:r>
            <a:r>
              <a:rPr sz="900" dirty="0">
                <a:latin typeface="Arial"/>
                <a:cs typeface="Arial"/>
              </a:rPr>
              <a:t>problem:</a:t>
            </a:r>
            <a:r>
              <a:rPr sz="900" spc="40" dirty="0">
                <a:latin typeface="Arial"/>
                <a:cs typeface="Arial"/>
              </a:rPr>
              <a:t> </a:t>
            </a:r>
            <a:r>
              <a:rPr sz="900" dirty="0">
                <a:latin typeface="Arial"/>
                <a:cs typeface="Arial"/>
              </a:rPr>
              <a:t>participant</a:t>
            </a:r>
            <a:r>
              <a:rPr sz="900" spc="-15" dirty="0">
                <a:latin typeface="Arial"/>
                <a:cs typeface="Arial"/>
              </a:rPr>
              <a:t> </a:t>
            </a:r>
            <a:r>
              <a:rPr sz="900" dirty="0">
                <a:latin typeface="Arial"/>
                <a:cs typeface="Arial"/>
              </a:rPr>
              <a:t>was</a:t>
            </a:r>
            <a:r>
              <a:rPr sz="900" spc="-15" dirty="0">
                <a:latin typeface="Arial"/>
                <a:cs typeface="Arial"/>
              </a:rPr>
              <a:t> </a:t>
            </a:r>
            <a:r>
              <a:rPr sz="900" spc="-10" dirty="0">
                <a:latin typeface="Arial"/>
                <a:cs typeface="Arial"/>
              </a:rPr>
              <a:t>unaware</a:t>
            </a:r>
            <a:r>
              <a:rPr sz="900" spc="-15" dirty="0">
                <a:latin typeface="Arial"/>
                <a:cs typeface="Arial"/>
              </a:rPr>
              <a:t> </a:t>
            </a:r>
            <a:r>
              <a:rPr sz="900" dirty="0">
                <a:latin typeface="Arial"/>
                <a:cs typeface="Arial"/>
              </a:rPr>
              <a:t>of</a:t>
            </a:r>
            <a:r>
              <a:rPr sz="900" spc="-20" dirty="0">
                <a:latin typeface="Arial"/>
                <a:cs typeface="Arial"/>
              </a:rPr>
              <a:t> </a:t>
            </a:r>
            <a:r>
              <a:rPr sz="900" spc="-10" dirty="0">
                <a:latin typeface="Arial"/>
                <a:cs typeface="Arial"/>
              </a:rPr>
              <a:t>protocol</a:t>
            </a:r>
            <a:endParaRPr sz="900">
              <a:latin typeface="Arial"/>
              <a:cs typeface="Arial"/>
            </a:endParaRPr>
          </a:p>
          <a:p>
            <a:pPr marL="295275" marR="30480" indent="-120650">
              <a:lnSpc>
                <a:spcPct val="111600"/>
              </a:lnSpc>
              <a:spcBef>
                <a:spcPts val="400"/>
              </a:spcBef>
              <a:buClr>
                <a:srgbClr val="3333B2"/>
              </a:buClr>
              <a:buFont typeface="Menlo"/>
              <a:buChar char="•"/>
              <a:tabLst>
                <a:tab pos="295910" algn="l"/>
              </a:tabLst>
            </a:pPr>
            <a:r>
              <a:rPr sz="900" i="1" spc="-30" dirty="0">
                <a:solidFill>
                  <a:srgbClr val="C80000"/>
                </a:solidFill>
                <a:latin typeface="Arial"/>
                <a:cs typeface="Arial"/>
              </a:rPr>
              <a:t>READY</a:t>
            </a:r>
            <a:r>
              <a:rPr sz="900" i="1" spc="-130" dirty="0">
                <a:solidFill>
                  <a:srgbClr val="C80000"/>
                </a:solidFill>
                <a:latin typeface="Arial"/>
                <a:cs typeface="Arial"/>
              </a:rPr>
              <a:t> </a:t>
            </a:r>
            <a:r>
              <a:rPr sz="900" dirty="0">
                <a:latin typeface="Arial"/>
                <a:cs typeface="Arial"/>
              </a:rPr>
              <a:t>:</a:t>
            </a:r>
            <a:r>
              <a:rPr sz="900" spc="30" dirty="0">
                <a:latin typeface="Arial"/>
                <a:cs typeface="Arial"/>
              </a:rPr>
              <a:t> </a:t>
            </a:r>
            <a:r>
              <a:rPr sz="900" dirty="0">
                <a:latin typeface="Arial"/>
                <a:cs typeface="Arial"/>
              </a:rPr>
              <a:t>Participant</a:t>
            </a:r>
            <a:r>
              <a:rPr sz="900" spc="-15"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waiting</a:t>
            </a:r>
            <a:r>
              <a:rPr sz="900" spc="-20" dirty="0">
                <a:latin typeface="Arial"/>
                <a:cs typeface="Arial"/>
              </a:rPr>
              <a:t> </a:t>
            </a:r>
            <a:r>
              <a:rPr sz="900" dirty="0">
                <a:latin typeface="Arial"/>
                <a:cs typeface="Arial"/>
              </a:rPr>
              <a:t>to</a:t>
            </a:r>
            <a:r>
              <a:rPr sz="900" spc="-15" dirty="0">
                <a:latin typeface="Arial"/>
                <a:cs typeface="Arial"/>
              </a:rPr>
              <a:t> </a:t>
            </a:r>
            <a:r>
              <a:rPr sz="900" dirty="0">
                <a:latin typeface="Arial"/>
                <a:cs typeface="Arial"/>
              </a:rPr>
              <a:t>either</a:t>
            </a:r>
            <a:r>
              <a:rPr sz="900" spc="-20" dirty="0">
                <a:latin typeface="Arial"/>
                <a:cs typeface="Arial"/>
              </a:rPr>
              <a:t> </a:t>
            </a:r>
            <a:r>
              <a:rPr sz="900" dirty="0">
                <a:latin typeface="Arial"/>
                <a:cs typeface="Arial"/>
              </a:rPr>
              <a:t>commit</a:t>
            </a:r>
            <a:r>
              <a:rPr sz="900" spc="-15" dirty="0">
                <a:latin typeface="Arial"/>
                <a:cs typeface="Arial"/>
              </a:rPr>
              <a:t> </a:t>
            </a:r>
            <a:r>
              <a:rPr sz="900" dirty="0">
                <a:latin typeface="Arial"/>
                <a:cs typeface="Arial"/>
              </a:rPr>
              <a:t>or</a:t>
            </a:r>
            <a:r>
              <a:rPr sz="900" spc="-20" dirty="0">
                <a:latin typeface="Arial"/>
                <a:cs typeface="Arial"/>
              </a:rPr>
              <a:t> </a:t>
            </a:r>
            <a:r>
              <a:rPr sz="900" dirty="0">
                <a:latin typeface="Arial"/>
                <a:cs typeface="Arial"/>
              </a:rPr>
              <a:t>abort.</a:t>
            </a:r>
            <a:r>
              <a:rPr sz="900" spc="40" dirty="0">
                <a:latin typeface="Arial"/>
                <a:cs typeface="Arial"/>
              </a:rPr>
              <a:t> </a:t>
            </a:r>
            <a:r>
              <a:rPr sz="900" dirty="0">
                <a:latin typeface="Arial"/>
                <a:cs typeface="Arial"/>
              </a:rPr>
              <a:t>After</a:t>
            </a:r>
            <a:r>
              <a:rPr sz="900" spc="-15" dirty="0">
                <a:latin typeface="Arial"/>
                <a:cs typeface="Arial"/>
              </a:rPr>
              <a:t> </a:t>
            </a:r>
            <a:r>
              <a:rPr sz="900" spc="-10" dirty="0">
                <a:latin typeface="Arial"/>
                <a:cs typeface="Arial"/>
              </a:rPr>
              <a:t>recovery, </a:t>
            </a:r>
            <a:r>
              <a:rPr sz="900" dirty="0">
                <a:latin typeface="Arial"/>
                <a:cs typeface="Arial"/>
              </a:rPr>
              <a:t>participant</a:t>
            </a:r>
            <a:r>
              <a:rPr sz="900" spc="-65" dirty="0">
                <a:latin typeface="Arial"/>
                <a:cs typeface="Arial"/>
              </a:rPr>
              <a:t> </a:t>
            </a:r>
            <a:r>
              <a:rPr sz="900" dirty="0">
                <a:latin typeface="Arial"/>
                <a:cs typeface="Arial"/>
              </a:rPr>
              <a:t>needs</a:t>
            </a:r>
            <a:r>
              <a:rPr sz="900" spc="-35" dirty="0">
                <a:latin typeface="Arial"/>
                <a:cs typeface="Arial"/>
              </a:rPr>
              <a:t> </a:t>
            </a:r>
            <a:r>
              <a:rPr sz="900" dirty="0">
                <a:latin typeface="Arial"/>
                <a:cs typeface="Arial"/>
              </a:rPr>
              <a:t>to</a:t>
            </a:r>
            <a:r>
              <a:rPr sz="900" spc="-35" dirty="0">
                <a:latin typeface="Arial"/>
                <a:cs typeface="Arial"/>
              </a:rPr>
              <a:t> </a:t>
            </a:r>
            <a:r>
              <a:rPr sz="900" dirty="0">
                <a:latin typeface="Arial"/>
                <a:cs typeface="Arial"/>
              </a:rPr>
              <a:t>know</a:t>
            </a:r>
            <a:r>
              <a:rPr sz="900" spc="-30" dirty="0">
                <a:latin typeface="Arial"/>
                <a:cs typeface="Arial"/>
              </a:rPr>
              <a:t> </a:t>
            </a:r>
            <a:r>
              <a:rPr sz="900" dirty="0">
                <a:latin typeface="Arial"/>
                <a:cs typeface="Arial"/>
              </a:rPr>
              <a:t>which</a:t>
            </a:r>
            <a:r>
              <a:rPr sz="900" spc="-35" dirty="0">
                <a:latin typeface="Arial"/>
                <a:cs typeface="Arial"/>
              </a:rPr>
              <a:t> </a:t>
            </a:r>
            <a:r>
              <a:rPr sz="900" dirty="0">
                <a:latin typeface="Arial"/>
                <a:cs typeface="Arial"/>
              </a:rPr>
              <a:t>state</a:t>
            </a:r>
            <a:r>
              <a:rPr sz="900" spc="-35" dirty="0">
                <a:latin typeface="Arial"/>
                <a:cs typeface="Arial"/>
              </a:rPr>
              <a:t> </a:t>
            </a:r>
            <a:r>
              <a:rPr sz="900" spc="-10" dirty="0">
                <a:latin typeface="Arial"/>
                <a:cs typeface="Arial"/>
              </a:rPr>
              <a:t>transition</a:t>
            </a:r>
            <a:r>
              <a:rPr sz="900" spc="-35" dirty="0">
                <a:latin typeface="Arial"/>
                <a:cs typeface="Arial"/>
              </a:rPr>
              <a:t> </a:t>
            </a:r>
            <a:r>
              <a:rPr sz="900" dirty="0">
                <a:latin typeface="Arial"/>
                <a:cs typeface="Arial"/>
              </a:rPr>
              <a:t>it</a:t>
            </a:r>
            <a:r>
              <a:rPr sz="900" spc="-30" dirty="0">
                <a:latin typeface="Arial"/>
                <a:cs typeface="Arial"/>
              </a:rPr>
              <a:t> </a:t>
            </a:r>
            <a:r>
              <a:rPr sz="900" dirty="0">
                <a:latin typeface="Arial"/>
                <a:cs typeface="Arial"/>
              </a:rPr>
              <a:t>should</a:t>
            </a:r>
            <a:r>
              <a:rPr sz="900" spc="-35" dirty="0">
                <a:latin typeface="Arial"/>
                <a:cs typeface="Arial"/>
              </a:rPr>
              <a:t> </a:t>
            </a:r>
            <a:r>
              <a:rPr sz="900" spc="-10" dirty="0">
                <a:latin typeface="Arial"/>
                <a:cs typeface="Arial"/>
              </a:rPr>
              <a:t>make</a:t>
            </a:r>
            <a:r>
              <a:rPr sz="900" spc="-35" dirty="0">
                <a:latin typeface="Arial"/>
                <a:cs typeface="Arial"/>
              </a:rPr>
              <a:t> </a:t>
            </a:r>
            <a:r>
              <a:rPr sz="900" i="1" spc="350" dirty="0">
                <a:latin typeface="Menlo"/>
                <a:cs typeface="Menlo"/>
              </a:rPr>
              <a:t>⇒</a:t>
            </a:r>
            <a:r>
              <a:rPr sz="900" i="1" spc="-295" dirty="0">
                <a:latin typeface="Menlo"/>
                <a:cs typeface="Menlo"/>
              </a:rPr>
              <a:t> </a:t>
            </a:r>
            <a:r>
              <a:rPr sz="900" dirty="0">
                <a:latin typeface="Arial"/>
                <a:cs typeface="Arial"/>
              </a:rPr>
              <a:t>log</a:t>
            </a:r>
            <a:r>
              <a:rPr sz="900" spc="-35" dirty="0">
                <a:latin typeface="Arial"/>
                <a:cs typeface="Arial"/>
              </a:rPr>
              <a:t> </a:t>
            </a:r>
            <a:r>
              <a:rPr sz="900" spc="-25" dirty="0">
                <a:latin typeface="Arial"/>
                <a:cs typeface="Arial"/>
              </a:rPr>
              <a:t>the </a:t>
            </a:r>
            <a:r>
              <a:rPr sz="900" spc="-10" dirty="0">
                <a:latin typeface="Arial"/>
                <a:cs typeface="Arial"/>
              </a:rPr>
              <a:t>coordinator’s</a:t>
            </a:r>
            <a:r>
              <a:rPr sz="900" spc="25" dirty="0">
                <a:latin typeface="Arial"/>
                <a:cs typeface="Arial"/>
              </a:rPr>
              <a:t> </a:t>
            </a:r>
            <a:r>
              <a:rPr sz="900" spc="-10" dirty="0">
                <a:latin typeface="Arial"/>
                <a:cs typeface="Arial"/>
              </a:rPr>
              <a:t>decision</a:t>
            </a:r>
            <a:endParaRPr sz="900">
              <a:latin typeface="Arial"/>
              <a:cs typeface="Arial"/>
            </a:endParaRPr>
          </a:p>
          <a:p>
            <a:pPr marL="295275" marR="86360" indent="-120650">
              <a:lnSpc>
                <a:spcPct val="111600"/>
              </a:lnSpc>
              <a:spcBef>
                <a:spcPts val="395"/>
              </a:spcBef>
              <a:buClr>
                <a:srgbClr val="3333B2"/>
              </a:buClr>
              <a:buFont typeface="Menlo"/>
              <a:buChar char="•"/>
              <a:tabLst>
                <a:tab pos="295910" algn="l"/>
              </a:tabLst>
            </a:pPr>
            <a:r>
              <a:rPr sz="900" i="1" spc="-20" dirty="0">
                <a:solidFill>
                  <a:srgbClr val="C80000"/>
                </a:solidFill>
                <a:latin typeface="Arial"/>
                <a:cs typeface="Arial"/>
              </a:rPr>
              <a:t>ABORT</a:t>
            </a:r>
            <a:r>
              <a:rPr sz="900" i="1" spc="-130" dirty="0">
                <a:solidFill>
                  <a:srgbClr val="C80000"/>
                </a:solidFill>
                <a:latin typeface="Arial"/>
                <a:cs typeface="Arial"/>
              </a:rPr>
              <a:t> </a:t>
            </a:r>
            <a:r>
              <a:rPr sz="900" dirty="0">
                <a:latin typeface="Arial"/>
                <a:cs typeface="Arial"/>
              </a:rPr>
              <a:t>:</a:t>
            </a:r>
            <a:r>
              <a:rPr sz="900" spc="30" dirty="0">
                <a:latin typeface="Arial"/>
                <a:cs typeface="Arial"/>
              </a:rPr>
              <a:t> </a:t>
            </a:r>
            <a:r>
              <a:rPr sz="900" dirty="0">
                <a:latin typeface="Arial"/>
                <a:cs typeface="Arial"/>
              </a:rPr>
              <a:t>Merely</a:t>
            </a:r>
            <a:r>
              <a:rPr sz="900" spc="-20" dirty="0">
                <a:latin typeface="Arial"/>
                <a:cs typeface="Arial"/>
              </a:rPr>
              <a:t> </a:t>
            </a:r>
            <a:r>
              <a:rPr sz="900" dirty="0">
                <a:latin typeface="Arial"/>
                <a:cs typeface="Arial"/>
              </a:rPr>
              <a:t>make</a:t>
            </a:r>
            <a:r>
              <a:rPr sz="900" spc="-15" dirty="0">
                <a:latin typeface="Arial"/>
                <a:cs typeface="Arial"/>
              </a:rPr>
              <a:t> </a:t>
            </a:r>
            <a:r>
              <a:rPr sz="900" dirty="0">
                <a:latin typeface="Arial"/>
                <a:cs typeface="Arial"/>
              </a:rPr>
              <a:t>entry</a:t>
            </a:r>
            <a:r>
              <a:rPr sz="900" spc="-20" dirty="0">
                <a:latin typeface="Arial"/>
                <a:cs typeface="Arial"/>
              </a:rPr>
              <a:t> </a:t>
            </a:r>
            <a:r>
              <a:rPr sz="900" dirty="0">
                <a:latin typeface="Arial"/>
                <a:cs typeface="Arial"/>
              </a:rPr>
              <a:t>into</a:t>
            </a:r>
            <a:r>
              <a:rPr sz="900" spc="-15" dirty="0">
                <a:latin typeface="Arial"/>
                <a:cs typeface="Arial"/>
              </a:rPr>
              <a:t> </a:t>
            </a:r>
            <a:r>
              <a:rPr sz="900" dirty="0">
                <a:latin typeface="Arial"/>
                <a:cs typeface="Arial"/>
              </a:rPr>
              <a:t>abort</a:t>
            </a:r>
            <a:r>
              <a:rPr sz="900" spc="-20" dirty="0">
                <a:latin typeface="Arial"/>
                <a:cs typeface="Arial"/>
              </a:rPr>
              <a:t> </a:t>
            </a:r>
            <a:r>
              <a:rPr sz="900" dirty="0">
                <a:latin typeface="Arial"/>
                <a:cs typeface="Arial"/>
              </a:rPr>
              <a:t>state</a:t>
            </a:r>
            <a:r>
              <a:rPr sz="900" spc="-20" dirty="0">
                <a:latin typeface="Arial"/>
                <a:cs typeface="Arial"/>
              </a:rPr>
              <a:t> </a:t>
            </a:r>
            <a:r>
              <a:rPr sz="900" dirty="0">
                <a:solidFill>
                  <a:srgbClr val="3333B2"/>
                </a:solidFill>
                <a:latin typeface="Arial"/>
                <a:cs typeface="Arial"/>
              </a:rPr>
              <a:t>idempotent</a:t>
            </a:r>
            <a:r>
              <a:rPr sz="900" dirty="0">
                <a:latin typeface="Arial"/>
                <a:cs typeface="Arial"/>
              </a:rPr>
              <a:t>,</a:t>
            </a:r>
            <a:r>
              <a:rPr sz="900" spc="-15" dirty="0">
                <a:latin typeface="Arial"/>
                <a:cs typeface="Arial"/>
              </a:rPr>
              <a:t> </a:t>
            </a:r>
            <a:r>
              <a:rPr sz="900" dirty="0">
                <a:latin typeface="Arial"/>
                <a:cs typeface="Arial"/>
              </a:rPr>
              <a:t>e.g.,</a:t>
            </a:r>
            <a:r>
              <a:rPr sz="900" spc="-20" dirty="0">
                <a:latin typeface="Arial"/>
                <a:cs typeface="Arial"/>
              </a:rPr>
              <a:t> </a:t>
            </a:r>
            <a:r>
              <a:rPr sz="900" spc="-10" dirty="0">
                <a:latin typeface="Arial"/>
                <a:cs typeface="Arial"/>
              </a:rPr>
              <a:t>removing </a:t>
            </a:r>
            <a:r>
              <a:rPr sz="900" dirty="0">
                <a:latin typeface="Arial"/>
                <a:cs typeface="Arial"/>
              </a:rPr>
              <a:t>the</a:t>
            </a:r>
            <a:r>
              <a:rPr sz="900" spc="-30" dirty="0">
                <a:latin typeface="Arial"/>
                <a:cs typeface="Arial"/>
              </a:rPr>
              <a:t> </a:t>
            </a:r>
            <a:r>
              <a:rPr sz="900" dirty="0">
                <a:latin typeface="Arial"/>
                <a:cs typeface="Arial"/>
              </a:rPr>
              <a:t>workspace</a:t>
            </a:r>
            <a:r>
              <a:rPr sz="900" spc="-25" dirty="0">
                <a:latin typeface="Arial"/>
                <a:cs typeface="Arial"/>
              </a:rPr>
              <a:t> </a:t>
            </a:r>
            <a:r>
              <a:rPr sz="900" dirty="0">
                <a:latin typeface="Arial"/>
                <a:cs typeface="Arial"/>
              </a:rPr>
              <a:t>of</a:t>
            </a:r>
            <a:r>
              <a:rPr sz="900" spc="-25" dirty="0">
                <a:latin typeface="Arial"/>
                <a:cs typeface="Arial"/>
              </a:rPr>
              <a:t> </a:t>
            </a:r>
            <a:r>
              <a:rPr sz="900" spc="-10" dirty="0">
                <a:latin typeface="Arial"/>
                <a:cs typeface="Arial"/>
              </a:rPr>
              <a:t>results</a:t>
            </a:r>
            <a:endParaRPr sz="900">
              <a:latin typeface="Arial"/>
              <a:cs typeface="Arial"/>
            </a:endParaRPr>
          </a:p>
          <a:p>
            <a:pPr marL="290830" marR="107950" indent="-116205">
              <a:lnSpc>
                <a:spcPct val="111600"/>
              </a:lnSpc>
              <a:spcBef>
                <a:spcPts val="400"/>
              </a:spcBef>
              <a:buClr>
                <a:srgbClr val="3333B2"/>
              </a:buClr>
              <a:buFont typeface="Menlo"/>
              <a:buChar char="•"/>
              <a:tabLst>
                <a:tab pos="295910" algn="l"/>
              </a:tabLst>
            </a:pPr>
            <a:r>
              <a:rPr sz="900" i="1" spc="-10" dirty="0">
                <a:solidFill>
                  <a:srgbClr val="C80000"/>
                </a:solidFill>
                <a:latin typeface="Arial"/>
                <a:cs typeface="Arial"/>
              </a:rPr>
              <a:t>COMMIT</a:t>
            </a:r>
            <a:r>
              <a:rPr sz="900" i="1" spc="-130" dirty="0">
                <a:solidFill>
                  <a:srgbClr val="C80000"/>
                </a:solidFill>
                <a:latin typeface="Arial"/>
                <a:cs typeface="Arial"/>
              </a:rPr>
              <a:t> </a:t>
            </a:r>
            <a:r>
              <a:rPr sz="900" dirty="0">
                <a:latin typeface="Arial"/>
                <a:cs typeface="Arial"/>
              </a:rPr>
              <a:t>:</a:t>
            </a:r>
            <a:r>
              <a:rPr sz="900" spc="20" dirty="0">
                <a:latin typeface="Arial"/>
                <a:cs typeface="Arial"/>
              </a:rPr>
              <a:t> </a:t>
            </a:r>
            <a:r>
              <a:rPr sz="900" dirty="0">
                <a:latin typeface="Arial"/>
                <a:cs typeface="Arial"/>
              </a:rPr>
              <a:t>Also</a:t>
            </a:r>
            <a:r>
              <a:rPr sz="900" spc="-20" dirty="0">
                <a:latin typeface="Arial"/>
                <a:cs typeface="Arial"/>
              </a:rPr>
              <a:t> </a:t>
            </a:r>
            <a:r>
              <a:rPr sz="900" dirty="0">
                <a:latin typeface="Arial"/>
                <a:cs typeface="Arial"/>
              </a:rPr>
              <a:t>make</a:t>
            </a:r>
            <a:r>
              <a:rPr sz="900" spc="-25" dirty="0">
                <a:latin typeface="Arial"/>
                <a:cs typeface="Arial"/>
              </a:rPr>
              <a:t> </a:t>
            </a:r>
            <a:r>
              <a:rPr sz="900" dirty="0">
                <a:latin typeface="Arial"/>
                <a:cs typeface="Arial"/>
              </a:rPr>
              <a:t>entry</a:t>
            </a:r>
            <a:r>
              <a:rPr sz="900" spc="-25" dirty="0">
                <a:latin typeface="Arial"/>
                <a:cs typeface="Arial"/>
              </a:rPr>
              <a:t> </a:t>
            </a:r>
            <a:r>
              <a:rPr sz="900" dirty="0">
                <a:latin typeface="Arial"/>
                <a:cs typeface="Arial"/>
              </a:rPr>
              <a:t>into</a:t>
            </a:r>
            <a:r>
              <a:rPr sz="900" spc="-20" dirty="0">
                <a:latin typeface="Arial"/>
                <a:cs typeface="Arial"/>
              </a:rPr>
              <a:t> </a:t>
            </a:r>
            <a:r>
              <a:rPr sz="900" dirty="0">
                <a:latin typeface="Arial"/>
                <a:cs typeface="Arial"/>
              </a:rPr>
              <a:t>commit</a:t>
            </a:r>
            <a:r>
              <a:rPr sz="900" spc="-25" dirty="0">
                <a:latin typeface="Arial"/>
                <a:cs typeface="Arial"/>
              </a:rPr>
              <a:t> </a:t>
            </a:r>
            <a:r>
              <a:rPr sz="900" dirty="0">
                <a:latin typeface="Arial"/>
                <a:cs typeface="Arial"/>
              </a:rPr>
              <a:t>state</a:t>
            </a:r>
            <a:r>
              <a:rPr sz="900" spc="-20" dirty="0">
                <a:latin typeface="Arial"/>
                <a:cs typeface="Arial"/>
              </a:rPr>
              <a:t> </a:t>
            </a:r>
            <a:r>
              <a:rPr sz="900" dirty="0">
                <a:latin typeface="Arial"/>
                <a:cs typeface="Arial"/>
              </a:rPr>
              <a:t>idempotent,</a:t>
            </a:r>
            <a:r>
              <a:rPr sz="900" spc="-25" dirty="0">
                <a:latin typeface="Arial"/>
                <a:cs typeface="Arial"/>
              </a:rPr>
              <a:t> </a:t>
            </a:r>
            <a:r>
              <a:rPr sz="900" dirty="0">
                <a:latin typeface="Arial"/>
                <a:cs typeface="Arial"/>
              </a:rPr>
              <a:t>e.g.,</a:t>
            </a:r>
            <a:r>
              <a:rPr sz="900" spc="-25" dirty="0">
                <a:latin typeface="Arial"/>
                <a:cs typeface="Arial"/>
              </a:rPr>
              <a:t> </a:t>
            </a:r>
            <a:r>
              <a:rPr sz="900" spc="-10" dirty="0">
                <a:latin typeface="Arial"/>
                <a:cs typeface="Arial"/>
              </a:rPr>
              <a:t>copying </a:t>
            </a:r>
            <a:r>
              <a:rPr sz="900" dirty="0">
                <a:latin typeface="Arial"/>
                <a:cs typeface="Arial"/>
              </a:rPr>
              <a:t>workspace</a:t>
            </a:r>
            <a:r>
              <a:rPr sz="900" spc="-35" dirty="0">
                <a:latin typeface="Arial"/>
                <a:cs typeface="Arial"/>
              </a:rPr>
              <a:t> </a:t>
            </a:r>
            <a:r>
              <a:rPr sz="900" dirty="0">
                <a:latin typeface="Arial"/>
                <a:cs typeface="Arial"/>
              </a:rPr>
              <a:t>to</a:t>
            </a:r>
            <a:r>
              <a:rPr sz="900" spc="-30" dirty="0">
                <a:latin typeface="Arial"/>
                <a:cs typeface="Arial"/>
              </a:rPr>
              <a:t> </a:t>
            </a:r>
            <a:r>
              <a:rPr sz="900" spc="-10" dirty="0">
                <a:latin typeface="Arial"/>
                <a:cs typeface="Arial"/>
              </a:rPr>
              <a:t>storage.</a:t>
            </a:r>
            <a:endParaRPr sz="900">
              <a:latin typeface="Arial"/>
              <a:cs typeface="Arial"/>
            </a:endParaRPr>
          </a:p>
          <a:p>
            <a:pPr>
              <a:lnSpc>
                <a:spcPct val="100000"/>
              </a:lnSpc>
              <a:spcBef>
                <a:spcPts val="30"/>
              </a:spcBef>
            </a:pPr>
            <a:endParaRPr sz="1200">
              <a:latin typeface="Arial"/>
              <a:cs typeface="Arial"/>
            </a:endParaRPr>
          </a:p>
          <a:p>
            <a:pPr marL="41910">
              <a:lnSpc>
                <a:spcPct val="100000"/>
              </a:lnSpc>
            </a:pPr>
            <a:r>
              <a:rPr sz="1000" spc="-10" dirty="0">
                <a:solidFill>
                  <a:srgbClr val="C80000"/>
                </a:solidFill>
                <a:latin typeface="Arial"/>
                <a:cs typeface="Arial"/>
              </a:rPr>
              <a:t>Observation</a:t>
            </a:r>
            <a:endParaRPr sz="1000">
              <a:latin typeface="Arial"/>
              <a:cs typeface="Arial"/>
            </a:endParaRPr>
          </a:p>
          <a:p>
            <a:pPr marL="38100" marR="30480" indent="-1270">
              <a:lnSpc>
                <a:spcPts val="1210"/>
              </a:lnSpc>
              <a:spcBef>
                <a:spcPts val="35"/>
              </a:spcBef>
            </a:pPr>
            <a:r>
              <a:rPr sz="900" dirty="0">
                <a:latin typeface="Arial"/>
                <a:cs typeface="Arial"/>
              </a:rPr>
              <a:t>When</a:t>
            </a:r>
            <a:r>
              <a:rPr sz="900" spc="-35" dirty="0">
                <a:latin typeface="Arial"/>
                <a:cs typeface="Arial"/>
              </a:rPr>
              <a:t> </a:t>
            </a:r>
            <a:r>
              <a:rPr sz="900" dirty="0">
                <a:latin typeface="Arial"/>
                <a:cs typeface="Arial"/>
              </a:rPr>
              <a:t>distributed</a:t>
            </a:r>
            <a:r>
              <a:rPr sz="900" spc="-30" dirty="0">
                <a:latin typeface="Arial"/>
                <a:cs typeface="Arial"/>
              </a:rPr>
              <a:t> </a:t>
            </a:r>
            <a:r>
              <a:rPr sz="900" dirty="0">
                <a:latin typeface="Arial"/>
                <a:cs typeface="Arial"/>
              </a:rPr>
              <a:t>commit</a:t>
            </a:r>
            <a:r>
              <a:rPr sz="900" spc="-35"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required,</a:t>
            </a:r>
            <a:r>
              <a:rPr sz="900" spc="-35" dirty="0">
                <a:latin typeface="Arial"/>
                <a:cs typeface="Arial"/>
              </a:rPr>
              <a:t> </a:t>
            </a:r>
            <a:r>
              <a:rPr sz="900" dirty="0">
                <a:latin typeface="Arial"/>
                <a:cs typeface="Arial"/>
              </a:rPr>
              <a:t>having</a:t>
            </a:r>
            <a:r>
              <a:rPr sz="900" spc="-30" dirty="0">
                <a:latin typeface="Arial"/>
                <a:cs typeface="Arial"/>
              </a:rPr>
              <a:t> </a:t>
            </a:r>
            <a:r>
              <a:rPr sz="900" dirty="0">
                <a:latin typeface="Arial"/>
                <a:cs typeface="Arial"/>
              </a:rPr>
              <a:t>participants</a:t>
            </a:r>
            <a:r>
              <a:rPr sz="900" spc="-35" dirty="0">
                <a:latin typeface="Arial"/>
                <a:cs typeface="Arial"/>
              </a:rPr>
              <a:t> </a:t>
            </a:r>
            <a:r>
              <a:rPr sz="900" dirty="0">
                <a:latin typeface="Arial"/>
                <a:cs typeface="Arial"/>
              </a:rPr>
              <a:t>use</a:t>
            </a:r>
            <a:r>
              <a:rPr sz="900" spc="-30" dirty="0">
                <a:latin typeface="Arial"/>
                <a:cs typeface="Arial"/>
              </a:rPr>
              <a:t> </a:t>
            </a:r>
            <a:r>
              <a:rPr sz="900" spc="-10" dirty="0">
                <a:latin typeface="Arial"/>
                <a:cs typeface="Arial"/>
              </a:rPr>
              <a:t>temporary </a:t>
            </a:r>
            <a:r>
              <a:rPr sz="900" dirty="0">
                <a:latin typeface="Arial"/>
                <a:cs typeface="Arial"/>
              </a:rPr>
              <a:t>workspaces</a:t>
            </a:r>
            <a:r>
              <a:rPr sz="900" spc="-35" dirty="0">
                <a:latin typeface="Arial"/>
                <a:cs typeface="Arial"/>
              </a:rPr>
              <a:t> </a:t>
            </a:r>
            <a:r>
              <a:rPr sz="900" dirty="0">
                <a:latin typeface="Arial"/>
                <a:cs typeface="Arial"/>
              </a:rPr>
              <a:t>to</a:t>
            </a:r>
            <a:r>
              <a:rPr sz="900" spc="-35" dirty="0">
                <a:latin typeface="Arial"/>
                <a:cs typeface="Arial"/>
              </a:rPr>
              <a:t> </a:t>
            </a:r>
            <a:r>
              <a:rPr sz="900" dirty="0">
                <a:latin typeface="Arial"/>
                <a:cs typeface="Arial"/>
              </a:rPr>
              <a:t>keep</a:t>
            </a:r>
            <a:r>
              <a:rPr sz="900" spc="-35" dirty="0">
                <a:latin typeface="Arial"/>
                <a:cs typeface="Arial"/>
              </a:rPr>
              <a:t> </a:t>
            </a:r>
            <a:r>
              <a:rPr sz="900" dirty="0">
                <a:latin typeface="Arial"/>
                <a:cs typeface="Arial"/>
              </a:rPr>
              <a:t>their</a:t>
            </a:r>
            <a:r>
              <a:rPr sz="900" spc="-35" dirty="0">
                <a:latin typeface="Arial"/>
                <a:cs typeface="Arial"/>
              </a:rPr>
              <a:t> </a:t>
            </a:r>
            <a:r>
              <a:rPr sz="900" dirty="0">
                <a:latin typeface="Arial"/>
                <a:cs typeface="Arial"/>
              </a:rPr>
              <a:t>results</a:t>
            </a:r>
            <a:r>
              <a:rPr sz="900" spc="-35" dirty="0">
                <a:latin typeface="Arial"/>
                <a:cs typeface="Arial"/>
              </a:rPr>
              <a:t> </a:t>
            </a:r>
            <a:r>
              <a:rPr sz="900" dirty="0">
                <a:latin typeface="Arial"/>
                <a:cs typeface="Arial"/>
              </a:rPr>
              <a:t>allows</a:t>
            </a:r>
            <a:r>
              <a:rPr sz="900" spc="-35" dirty="0">
                <a:latin typeface="Arial"/>
                <a:cs typeface="Arial"/>
              </a:rPr>
              <a:t> </a:t>
            </a:r>
            <a:r>
              <a:rPr sz="900" dirty="0">
                <a:latin typeface="Arial"/>
                <a:cs typeface="Arial"/>
              </a:rPr>
              <a:t>for</a:t>
            </a:r>
            <a:r>
              <a:rPr sz="900" spc="-35" dirty="0">
                <a:latin typeface="Arial"/>
                <a:cs typeface="Arial"/>
              </a:rPr>
              <a:t> </a:t>
            </a:r>
            <a:r>
              <a:rPr sz="900" dirty="0">
                <a:latin typeface="Arial"/>
                <a:cs typeface="Arial"/>
              </a:rPr>
              <a:t>simple</a:t>
            </a:r>
            <a:r>
              <a:rPr sz="900" spc="-35" dirty="0">
                <a:latin typeface="Arial"/>
                <a:cs typeface="Arial"/>
              </a:rPr>
              <a:t> </a:t>
            </a:r>
            <a:r>
              <a:rPr sz="900" dirty="0">
                <a:latin typeface="Arial"/>
                <a:cs typeface="Arial"/>
              </a:rPr>
              <a:t>recovery</a:t>
            </a:r>
            <a:r>
              <a:rPr sz="900" spc="-35" dirty="0">
                <a:latin typeface="Arial"/>
                <a:cs typeface="Arial"/>
              </a:rPr>
              <a:t> </a:t>
            </a:r>
            <a:r>
              <a:rPr sz="900" dirty="0">
                <a:latin typeface="Arial"/>
                <a:cs typeface="Arial"/>
              </a:rPr>
              <a:t>in</a:t>
            </a:r>
            <a:r>
              <a:rPr sz="900" spc="-35" dirty="0">
                <a:latin typeface="Arial"/>
                <a:cs typeface="Arial"/>
              </a:rPr>
              <a:t> </a:t>
            </a:r>
            <a:r>
              <a:rPr sz="900" dirty="0">
                <a:latin typeface="Arial"/>
                <a:cs typeface="Arial"/>
              </a:rPr>
              <a:t>the</a:t>
            </a:r>
            <a:r>
              <a:rPr sz="900" spc="-35" dirty="0">
                <a:latin typeface="Arial"/>
                <a:cs typeface="Arial"/>
              </a:rPr>
              <a:t> </a:t>
            </a:r>
            <a:r>
              <a:rPr sz="900" dirty="0">
                <a:latin typeface="Arial"/>
                <a:cs typeface="Arial"/>
              </a:rPr>
              <a:t>presence</a:t>
            </a:r>
            <a:r>
              <a:rPr sz="900" spc="-35" dirty="0">
                <a:latin typeface="Arial"/>
                <a:cs typeface="Arial"/>
              </a:rPr>
              <a:t> </a:t>
            </a:r>
            <a:r>
              <a:rPr sz="900" spc="-25" dirty="0">
                <a:latin typeface="Arial"/>
                <a:cs typeface="Arial"/>
              </a:rPr>
              <a:t>of </a:t>
            </a:r>
            <a:r>
              <a:rPr sz="900" spc="-10" dirty="0">
                <a:latin typeface="Arial"/>
                <a:cs typeface="Arial"/>
              </a:rPr>
              <a:t>failures.</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Tree>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64304"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3" action="ppaction://hlinksldjump"/>
              </a:rPr>
              <a:t>Distributed</a:t>
            </a:r>
            <a:r>
              <a:rPr sz="500" spc="-3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commit</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2PC</a:t>
            </a:r>
            <a:r>
              <a:rPr spc="-25" dirty="0"/>
              <a:t> </a:t>
            </a:r>
            <a:r>
              <a:rPr dirty="0"/>
              <a:t>–</a:t>
            </a:r>
            <a:r>
              <a:rPr spc="-25" dirty="0"/>
              <a:t> </a:t>
            </a:r>
            <a:r>
              <a:rPr spc="-10" dirty="0"/>
              <a:t>Failing</a:t>
            </a:r>
            <a:r>
              <a:rPr spc="-25" dirty="0"/>
              <a:t> </a:t>
            </a:r>
            <a:r>
              <a:rPr spc="-10" dirty="0"/>
              <a:t>participant</a:t>
            </a:r>
          </a:p>
        </p:txBody>
      </p:sp>
      <p:sp>
        <p:nvSpPr>
          <p:cNvPr id="4" name="object 4"/>
          <p:cNvSpPr txBox="1"/>
          <p:nvPr/>
        </p:nvSpPr>
        <p:spPr>
          <a:xfrm>
            <a:off x="341947" y="499476"/>
            <a:ext cx="3916679" cy="751840"/>
          </a:xfrm>
          <a:prstGeom prst="rect">
            <a:avLst/>
          </a:prstGeom>
        </p:spPr>
        <p:txBody>
          <a:bodyPr vert="horz" wrap="square" lIns="0" tIns="27305" rIns="0" bIns="0" rtlCol="0">
            <a:spAutoFit/>
          </a:bodyPr>
          <a:lstStyle/>
          <a:p>
            <a:pPr marL="13335">
              <a:lnSpc>
                <a:spcPct val="100000"/>
              </a:lnSpc>
              <a:spcBef>
                <a:spcPts val="215"/>
              </a:spcBef>
            </a:pPr>
            <a:r>
              <a:rPr sz="1000" spc="-10" dirty="0">
                <a:solidFill>
                  <a:srgbClr val="3333B2"/>
                </a:solidFill>
                <a:latin typeface="Arial"/>
                <a:cs typeface="Arial"/>
              </a:rPr>
              <a:t>Alternative</a:t>
            </a:r>
            <a:endParaRPr sz="1000">
              <a:latin typeface="Arial"/>
              <a:cs typeface="Arial"/>
            </a:endParaRPr>
          </a:p>
          <a:p>
            <a:pPr marL="12700">
              <a:lnSpc>
                <a:spcPct val="100000"/>
              </a:lnSpc>
              <a:spcBef>
                <a:spcPts val="105"/>
              </a:spcBef>
            </a:pPr>
            <a:r>
              <a:rPr sz="900" dirty="0">
                <a:latin typeface="Arial"/>
                <a:cs typeface="Arial"/>
              </a:rPr>
              <a:t>When</a:t>
            </a:r>
            <a:r>
              <a:rPr sz="900" spc="-35" dirty="0">
                <a:latin typeface="Arial"/>
                <a:cs typeface="Arial"/>
              </a:rPr>
              <a:t> </a:t>
            </a:r>
            <a:r>
              <a:rPr sz="900" dirty="0">
                <a:latin typeface="Arial"/>
                <a:cs typeface="Arial"/>
              </a:rPr>
              <a:t>a</a:t>
            </a:r>
            <a:r>
              <a:rPr sz="900" spc="-35" dirty="0">
                <a:latin typeface="Arial"/>
                <a:cs typeface="Arial"/>
              </a:rPr>
              <a:t> </a:t>
            </a:r>
            <a:r>
              <a:rPr sz="900" dirty="0">
                <a:latin typeface="Arial"/>
                <a:cs typeface="Arial"/>
              </a:rPr>
              <a:t>recovery</a:t>
            </a:r>
            <a:r>
              <a:rPr sz="900" spc="-35" dirty="0">
                <a:latin typeface="Arial"/>
                <a:cs typeface="Arial"/>
              </a:rPr>
              <a:t> </a:t>
            </a:r>
            <a:r>
              <a:rPr sz="900" dirty="0">
                <a:latin typeface="Arial"/>
                <a:cs typeface="Arial"/>
              </a:rPr>
              <a:t>is</a:t>
            </a:r>
            <a:r>
              <a:rPr sz="900" spc="-35" dirty="0">
                <a:latin typeface="Arial"/>
                <a:cs typeface="Arial"/>
              </a:rPr>
              <a:t> </a:t>
            </a:r>
            <a:r>
              <a:rPr sz="900" dirty="0">
                <a:latin typeface="Arial"/>
                <a:cs typeface="Arial"/>
              </a:rPr>
              <a:t>needed</a:t>
            </a:r>
            <a:r>
              <a:rPr sz="900" spc="-35" dirty="0">
                <a:latin typeface="Arial"/>
                <a:cs typeface="Arial"/>
              </a:rPr>
              <a:t> </a:t>
            </a:r>
            <a:r>
              <a:rPr sz="900" dirty="0">
                <a:latin typeface="Arial"/>
                <a:cs typeface="Arial"/>
              </a:rPr>
              <a:t>to</a:t>
            </a:r>
            <a:r>
              <a:rPr sz="900" spc="-35" dirty="0">
                <a:latin typeface="Arial"/>
                <a:cs typeface="Arial"/>
              </a:rPr>
              <a:t> </a:t>
            </a:r>
            <a:r>
              <a:rPr sz="900" i="1" dirty="0">
                <a:latin typeface="Arial"/>
                <a:cs typeface="Arial"/>
              </a:rPr>
              <a:t>READY</a:t>
            </a:r>
            <a:r>
              <a:rPr sz="900" i="1" spc="80" dirty="0">
                <a:latin typeface="Arial"/>
                <a:cs typeface="Arial"/>
              </a:rPr>
              <a:t> </a:t>
            </a:r>
            <a:r>
              <a:rPr sz="900" dirty="0">
                <a:latin typeface="Arial"/>
                <a:cs typeface="Arial"/>
              </a:rPr>
              <a:t>state,</a:t>
            </a:r>
            <a:r>
              <a:rPr sz="900" spc="-35" dirty="0">
                <a:latin typeface="Arial"/>
                <a:cs typeface="Arial"/>
              </a:rPr>
              <a:t> </a:t>
            </a:r>
            <a:r>
              <a:rPr sz="900" dirty="0">
                <a:latin typeface="Arial"/>
                <a:cs typeface="Arial"/>
              </a:rPr>
              <a:t>check</a:t>
            </a:r>
            <a:r>
              <a:rPr sz="900" spc="-35" dirty="0">
                <a:latin typeface="Arial"/>
                <a:cs typeface="Arial"/>
              </a:rPr>
              <a:t> </a:t>
            </a:r>
            <a:r>
              <a:rPr sz="900" dirty="0">
                <a:latin typeface="Arial"/>
                <a:cs typeface="Arial"/>
              </a:rPr>
              <a:t>state</a:t>
            </a:r>
            <a:r>
              <a:rPr sz="900" spc="-35" dirty="0">
                <a:latin typeface="Arial"/>
                <a:cs typeface="Arial"/>
              </a:rPr>
              <a:t> </a:t>
            </a:r>
            <a:r>
              <a:rPr sz="900" dirty="0">
                <a:latin typeface="Arial"/>
                <a:cs typeface="Arial"/>
              </a:rPr>
              <a:t>of</a:t>
            </a:r>
            <a:r>
              <a:rPr sz="900" spc="-35" dirty="0">
                <a:latin typeface="Arial"/>
                <a:cs typeface="Arial"/>
              </a:rPr>
              <a:t> </a:t>
            </a:r>
            <a:r>
              <a:rPr sz="900" dirty="0">
                <a:latin typeface="Arial"/>
                <a:cs typeface="Arial"/>
              </a:rPr>
              <a:t>other</a:t>
            </a:r>
            <a:r>
              <a:rPr sz="900" spc="-35" dirty="0">
                <a:latin typeface="Arial"/>
                <a:cs typeface="Arial"/>
              </a:rPr>
              <a:t> </a:t>
            </a:r>
            <a:r>
              <a:rPr sz="900" spc="-10" dirty="0">
                <a:latin typeface="Arial"/>
                <a:cs typeface="Arial"/>
              </a:rPr>
              <a:t>participants</a:t>
            </a:r>
            <a:endParaRPr sz="900">
              <a:latin typeface="Arial"/>
              <a:cs typeface="Arial"/>
            </a:endParaRPr>
          </a:p>
          <a:p>
            <a:pPr marL="17780">
              <a:lnSpc>
                <a:spcPct val="100000"/>
              </a:lnSpc>
              <a:spcBef>
                <a:spcPts val="125"/>
              </a:spcBef>
            </a:pPr>
            <a:r>
              <a:rPr sz="900" i="1" spc="350" dirty="0">
                <a:latin typeface="Menlo"/>
                <a:cs typeface="Menlo"/>
              </a:rPr>
              <a:t>⇒</a:t>
            </a:r>
            <a:r>
              <a:rPr sz="900" i="1" spc="-295" dirty="0">
                <a:latin typeface="Menlo"/>
                <a:cs typeface="Menlo"/>
              </a:rPr>
              <a:t> </a:t>
            </a:r>
            <a:r>
              <a:rPr sz="900" dirty="0">
                <a:latin typeface="Arial"/>
                <a:cs typeface="Arial"/>
              </a:rPr>
              <a:t>no</a:t>
            </a:r>
            <a:r>
              <a:rPr sz="900" spc="-10" dirty="0">
                <a:latin typeface="Arial"/>
                <a:cs typeface="Arial"/>
              </a:rPr>
              <a:t> </a:t>
            </a:r>
            <a:r>
              <a:rPr sz="900" dirty="0">
                <a:latin typeface="Arial"/>
                <a:cs typeface="Arial"/>
              </a:rPr>
              <a:t>need</a:t>
            </a:r>
            <a:r>
              <a:rPr sz="900" spc="-10" dirty="0">
                <a:latin typeface="Arial"/>
                <a:cs typeface="Arial"/>
              </a:rPr>
              <a:t> </a:t>
            </a:r>
            <a:r>
              <a:rPr sz="900" dirty="0">
                <a:latin typeface="Arial"/>
                <a:cs typeface="Arial"/>
              </a:rPr>
              <a:t>to</a:t>
            </a:r>
            <a:r>
              <a:rPr sz="900" spc="-5" dirty="0">
                <a:latin typeface="Arial"/>
                <a:cs typeface="Arial"/>
              </a:rPr>
              <a:t> </a:t>
            </a:r>
            <a:r>
              <a:rPr sz="900" dirty="0">
                <a:latin typeface="Arial"/>
                <a:cs typeface="Arial"/>
              </a:rPr>
              <a:t>log</a:t>
            </a:r>
            <a:r>
              <a:rPr sz="900" spc="-10" dirty="0">
                <a:latin typeface="Arial"/>
                <a:cs typeface="Arial"/>
              </a:rPr>
              <a:t> coordinator’s</a:t>
            </a:r>
            <a:r>
              <a:rPr sz="900" spc="-5" dirty="0">
                <a:latin typeface="Arial"/>
                <a:cs typeface="Arial"/>
              </a:rPr>
              <a:t> </a:t>
            </a:r>
            <a:r>
              <a:rPr sz="900" spc="-10" dirty="0">
                <a:latin typeface="Arial"/>
                <a:cs typeface="Arial"/>
              </a:rPr>
              <a:t>decision.</a:t>
            </a:r>
            <a:endParaRPr sz="900">
              <a:latin typeface="Arial"/>
              <a:cs typeface="Arial"/>
            </a:endParaRPr>
          </a:p>
          <a:p>
            <a:pPr marL="17780">
              <a:lnSpc>
                <a:spcPct val="100000"/>
              </a:lnSpc>
              <a:spcBef>
                <a:spcPts val="815"/>
              </a:spcBef>
            </a:pPr>
            <a:r>
              <a:rPr sz="1000" spc="-10" dirty="0">
                <a:solidFill>
                  <a:srgbClr val="4C994C"/>
                </a:solidFill>
                <a:latin typeface="Arial"/>
                <a:cs typeface="Arial"/>
              </a:rPr>
              <a:t>Recovering</a:t>
            </a:r>
            <a:r>
              <a:rPr sz="1000" spc="-20" dirty="0">
                <a:solidFill>
                  <a:srgbClr val="4C994C"/>
                </a:solidFill>
                <a:latin typeface="Arial"/>
                <a:cs typeface="Arial"/>
              </a:rPr>
              <a:t> </a:t>
            </a:r>
            <a:r>
              <a:rPr sz="1000" dirty="0">
                <a:solidFill>
                  <a:srgbClr val="4C994C"/>
                </a:solidFill>
                <a:latin typeface="Arial"/>
                <a:cs typeface="Arial"/>
              </a:rPr>
              <a:t>participant</a:t>
            </a:r>
            <a:r>
              <a:rPr sz="1000" spc="-20" dirty="0">
                <a:solidFill>
                  <a:srgbClr val="4C994C"/>
                </a:solidFill>
                <a:latin typeface="Arial"/>
                <a:cs typeface="Arial"/>
              </a:rPr>
              <a:t> </a:t>
            </a:r>
            <a:r>
              <a:rPr sz="1000" i="1" dirty="0">
                <a:solidFill>
                  <a:srgbClr val="4C994C"/>
                </a:solidFill>
                <a:latin typeface="Arial"/>
                <a:cs typeface="Arial"/>
              </a:rPr>
              <a:t>P</a:t>
            </a:r>
            <a:r>
              <a:rPr sz="1000" i="1" spc="50" dirty="0">
                <a:solidFill>
                  <a:srgbClr val="4C994C"/>
                </a:solidFill>
                <a:latin typeface="Arial"/>
                <a:cs typeface="Arial"/>
              </a:rPr>
              <a:t> </a:t>
            </a:r>
            <a:r>
              <a:rPr sz="1000" dirty="0">
                <a:solidFill>
                  <a:srgbClr val="4C994C"/>
                </a:solidFill>
                <a:latin typeface="Arial"/>
                <a:cs typeface="Arial"/>
              </a:rPr>
              <a:t>contacts</a:t>
            </a:r>
            <a:r>
              <a:rPr sz="1000" spc="-15" dirty="0">
                <a:solidFill>
                  <a:srgbClr val="4C994C"/>
                </a:solidFill>
                <a:latin typeface="Arial"/>
                <a:cs typeface="Arial"/>
              </a:rPr>
              <a:t> </a:t>
            </a:r>
            <a:r>
              <a:rPr sz="1000" dirty="0">
                <a:solidFill>
                  <a:srgbClr val="4C994C"/>
                </a:solidFill>
                <a:latin typeface="Arial"/>
                <a:cs typeface="Arial"/>
              </a:rPr>
              <a:t>another</a:t>
            </a:r>
            <a:r>
              <a:rPr sz="1000" spc="-20" dirty="0">
                <a:solidFill>
                  <a:srgbClr val="4C994C"/>
                </a:solidFill>
                <a:latin typeface="Arial"/>
                <a:cs typeface="Arial"/>
              </a:rPr>
              <a:t> </a:t>
            </a:r>
            <a:r>
              <a:rPr sz="1000" dirty="0">
                <a:solidFill>
                  <a:srgbClr val="4C994C"/>
                </a:solidFill>
                <a:latin typeface="Arial"/>
                <a:cs typeface="Arial"/>
              </a:rPr>
              <a:t>participant</a:t>
            </a:r>
            <a:r>
              <a:rPr sz="1000" spc="-20" dirty="0">
                <a:solidFill>
                  <a:srgbClr val="4C994C"/>
                </a:solidFill>
                <a:latin typeface="Arial"/>
                <a:cs typeface="Arial"/>
              </a:rPr>
              <a:t> </a:t>
            </a:r>
            <a:r>
              <a:rPr sz="1000" i="1" spc="-50" dirty="0">
                <a:solidFill>
                  <a:srgbClr val="4C994C"/>
                </a:solidFill>
                <a:latin typeface="Arial"/>
                <a:cs typeface="Arial"/>
              </a:rPr>
              <a:t>Q</a:t>
            </a:r>
            <a:endParaRPr sz="1000">
              <a:latin typeface="Arial"/>
              <a:cs typeface="Arial"/>
            </a:endParaRPr>
          </a:p>
        </p:txBody>
      </p:sp>
      <p:graphicFrame>
        <p:nvGraphicFramePr>
          <p:cNvPr id="5" name="object 5"/>
          <p:cNvGraphicFramePr>
            <a:graphicFrameLocks noGrp="1"/>
          </p:cNvGraphicFramePr>
          <p:nvPr/>
        </p:nvGraphicFramePr>
        <p:xfrm>
          <a:off x="1278877" y="1352880"/>
          <a:ext cx="2045335" cy="815975"/>
        </p:xfrm>
        <a:graphic>
          <a:graphicData uri="http://schemas.openxmlformats.org/drawingml/2006/table">
            <a:tbl>
              <a:tblPr firstRow="1" bandRow="1">
                <a:tableStyleId>{2D5ABB26-0587-4C30-8999-92F81FD0307C}</a:tableStyleId>
              </a:tblPr>
              <a:tblGrid>
                <a:gridCol w="640080">
                  <a:extLst>
                    <a:ext uri="{9D8B030D-6E8A-4147-A177-3AD203B41FA5}">
                      <a16:colId xmlns:a16="http://schemas.microsoft.com/office/drawing/2014/main" val="20000"/>
                    </a:ext>
                  </a:extLst>
                </a:gridCol>
                <a:gridCol w="1405255">
                  <a:extLst>
                    <a:ext uri="{9D8B030D-6E8A-4147-A177-3AD203B41FA5}">
                      <a16:colId xmlns:a16="http://schemas.microsoft.com/office/drawing/2014/main" val="20001"/>
                    </a:ext>
                  </a:extLst>
                </a:gridCol>
              </a:tblGrid>
              <a:tr h="163195">
                <a:tc>
                  <a:txBody>
                    <a:bodyPr/>
                    <a:lstStyle/>
                    <a:p>
                      <a:pPr marL="78105">
                        <a:lnSpc>
                          <a:spcPct val="100000"/>
                        </a:lnSpc>
                        <a:spcBef>
                          <a:spcPts val="95"/>
                        </a:spcBef>
                      </a:pPr>
                      <a:r>
                        <a:rPr sz="800" b="1" dirty="0">
                          <a:latin typeface="Arial"/>
                          <a:cs typeface="Arial"/>
                        </a:rPr>
                        <a:t>State</a:t>
                      </a:r>
                      <a:r>
                        <a:rPr sz="800" b="1" spc="-20" dirty="0">
                          <a:latin typeface="Arial"/>
                          <a:cs typeface="Arial"/>
                        </a:rPr>
                        <a:t> </a:t>
                      </a:r>
                      <a:r>
                        <a:rPr sz="800" b="1" dirty="0">
                          <a:latin typeface="Arial"/>
                          <a:cs typeface="Arial"/>
                        </a:rPr>
                        <a:t>of</a:t>
                      </a:r>
                      <a:r>
                        <a:rPr sz="800" b="1" spc="-20" dirty="0">
                          <a:latin typeface="Arial"/>
                          <a:cs typeface="Arial"/>
                        </a:rPr>
                        <a:t> </a:t>
                      </a:r>
                      <a:r>
                        <a:rPr sz="800" i="1" spc="-50" dirty="0">
                          <a:latin typeface="Arial"/>
                          <a:cs typeface="Arial"/>
                        </a:rPr>
                        <a:t>Q</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95"/>
                        </a:spcBef>
                      </a:pPr>
                      <a:r>
                        <a:rPr sz="800" b="1" dirty="0">
                          <a:latin typeface="Arial"/>
                          <a:cs typeface="Arial"/>
                        </a:rPr>
                        <a:t>Action</a:t>
                      </a:r>
                      <a:r>
                        <a:rPr sz="800" b="1" spc="-35" dirty="0">
                          <a:latin typeface="Arial"/>
                          <a:cs typeface="Arial"/>
                        </a:rPr>
                        <a:t> </a:t>
                      </a:r>
                      <a:r>
                        <a:rPr sz="800" b="1" dirty="0">
                          <a:latin typeface="Arial"/>
                          <a:cs typeface="Arial"/>
                        </a:rPr>
                        <a:t>by</a:t>
                      </a:r>
                      <a:r>
                        <a:rPr sz="800" b="1" spc="-30" dirty="0">
                          <a:latin typeface="Arial"/>
                          <a:cs typeface="Arial"/>
                        </a:rPr>
                        <a:t> </a:t>
                      </a:r>
                      <a:r>
                        <a:rPr sz="800" i="1" spc="-50" dirty="0">
                          <a:latin typeface="Arial"/>
                          <a:cs typeface="Arial"/>
                        </a:rPr>
                        <a:t>P</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3195">
                <a:tc>
                  <a:txBody>
                    <a:bodyPr/>
                    <a:lstStyle/>
                    <a:p>
                      <a:pPr marL="78105">
                        <a:lnSpc>
                          <a:spcPct val="100000"/>
                        </a:lnSpc>
                        <a:spcBef>
                          <a:spcPts val="95"/>
                        </a:spcBef>
                      </a:pPr>
                      <a:r>
                        <a:rPr sz="800" i="1" spc="-10" dirty="0">
                          <a:latin typeface="Arial"/>
                          <a:cs typeface="Arial"/>
                        </a:rPr>
                        <a:t>COMMIT</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95"/>
                        </a:spcBef>
                      </a:pPr>
                      <a:r>
                        <a:rPr sz="800" dirty="0">
                          <a:latin typeface="Arial"/>
                          <a:cs typeface="Arial"/>
                        </a:rPr>
                        <a:t>Make</a:t>
                      </a:r>
                      <a:r>
                        <a:rPr sz="800" spc="-35" dirty="0">
                          <a:latin typeface="Arial"/>
                          <a:cs typeface="Arial"/>
                        </a:rPr>
                        <a:t> </a:t>
                      </a:r>
                      <a:r>
                        <a:rPr sz="800" dirty="0">
                          <a:latin typeface="Arial"/>
                          <a:cs typeface="Arial"/>
                        </a:rPr>
                        <a:t>transition</a:t>
                      </a:r>
                      <a:r>
                        <a:rPr sz="800" spc="-35" dirty="0">
                          <a:latin typeface="Arial"/>
                          <a:cs typeface="Arial"/>
                        </a:rPr>
                        <a:t> </a:t>
                      </a:r>
                      <a:r>
                        <a:rPr sz="800" dirty="0">
                          <a:latin typeface="Arial"/>
                          <a:cs typeface="Arial"/>
                        </a:rPr>
                        <a:t>to</a:t>
                      </a:r>
                      <a:r>
                        <a:rPr sz="800" spc="-35" dirty="0">
                          <a:latin typeface="Arial"/>
                          <a:cs typeface="Arial"/>
                        </a:rPr>
                        <a:t> </a:t>
                      </a:r>
                      <a:r>
                        <a:rPr sz="800" i="1" spc="-10" dirty="0">
                          <a:latin typeface="Arial"/>
                          <a:cs typeface="Arial"/>
                        </a:rPr>
                        <a:t>COMMIT</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63195">
                <a:tc>
                  <a:txBody>
                    <a:bodyPr/>
                    <a:lstStyle/>
                    <a:p>
                      <a:pPr marL="78105">
                        <a:lnSpc>
                          <a:spcPct val="100000"/>
                        </a:lnSpc>
                        <a:spcBef>
                          <a:spcPts val="95"/>
                        </a:spcBef>
                      </a:pPr>
                      <a:r>
                        <a:rPr sz="800" i="1" spc="-10" dirty="0">
                          <a:latin typeface="Arial"/>
                          <a:cs typeface="Arial"/>
                        </a:rPr>
                        <a:t>ABORT</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95"/>
                        </a:spcBef>
                      </a:pPr>
                      <a:r>
                        <a:rPr sz="800" dirty="0">
                          <a:latin typeface="Arial"/>
                          <a:cs typeface="Arial"/>
                        </a:rPr>
                        <a:t>Make</a:t>
                      </a:r>
                      <a:r>
                        <a:rPr sz="800" spc="-35" dirty="0">
                          <a:latin typeface="Arial"/>
                          <a:cs typeface="Arial"/>
                        </a:rPr>
                        <a:t> </a:t>
                      </a:r>
                      <a:r>
                        <a:rPr sz="800" dirty="0">
                          <a:latin typeface="Arial"/>
                          <a:cs typeface="Arial"/>
                        </a:rPr>
                        <a:t>transition</a:t>
                      </a:r>
                      <a:r>
                        <a:rPr sz="800" spc="-35" dirty="0">
                          <a:latin typeface="Arial"/>
                          <a:cs typeface="Arial"/>
                        </a:rPr>
                        <a:t> </a:t>
                      </a:r>
                      <a:r>
                        <a:rPr sz="800" dirty="0">
                          <a:latin typeface="Arial"/>
                          <a:cs typeface="Arial"/>
                        </a:rPr>
                        <a:t>to</a:t>
                      </a:r>
                      <a:r>
                        <a:rPr sz="800" spc="-35" dirty="0">
                          <a:latin typeface="Arial"/>
                          <a:cs typeface="Arial"/>
                        </a:rPr>
                        <a:t> </a:t>
                      </a:r>
                      <a:r>
                        <a:rPr sz="800" i="1" spc="-20" dirty="0">
                          <a:latin typeface="Arial"/>
                          <a:cs typeface="Arial"/>
                        </a:rPr>
                        <a:t>ABORT</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163195">
                <a:tc>
                  <a:txBody>
                    <a:bodyPr/>
                    <a:lstStyle/>
                    <a:p>
                      <a:pPr marL="78105">
                        <a:lnSpc>
                          <a:spcPct val="100000"/>
                        </a:lnSpc>
                        <a:spcBef>
                          <a:spcPts val="95"/>
                        </a:spcBef>
                      </a:pPr>
                      <a:r>
                        <a:rPr sz="800" i="1" spc="-20" dirty="0">
                          <a:latin typeface="Arial"/>
                          <a:cs typeface="Arial"/>
                        </a:rPr>
                        <a:t>INIT</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95"/>
                        </a:spcBef>
                      </a:pPr>
                      <a:r>
                        <a:rPr sz="800" dirty="0">
                          <a:latin typeface="Arial"/>
                          <a:cs typeface="Arial"/>
                        </a:rPr>
                        <a:t>Make</a:t>
                      </a:r>
                      <a:r>
                        <a:rPr sz="800" spc="-35" dirty="0">
                          <a:latin typeface="Arial"/>
                          <a:cs typeface="Arial"/>
                        </a:rPr>
                        <a:t> </a:t>
                      </a:r>
                      <a:r>
                        <a:rPr sz="800" dirty="0">
                          <a:latin typeface="Arial"/>
                          <a:cs typeface="Arial"/>
                        </a:rPr>
                        <a:t>transition</a:t>
                      </a:r>
                      <a:r>
                        <a:rPr sz="800" spc="-35" dirty="0">
                          <a:latin typeface="Arial"/>
                          <a:cs typeface="Arial"/>
                        </a:rPr>
                        <a:t> </a:t>
                      </a:r>
                      <a:r>
                        <a:rPr sz="800" dirty="0">
                          <a:latin typeface="Arial"/>
                          <a:cs typeface="Arial"/>
                        </a:rPr>
                        <a:t>to</a:t>
                      </a:r>
                      <a:r>
                        <a:rPr sz="800" spc="-35" dirty="0">
                          <a:latin typeface="Arial"/>
                          <a:cs typeface="Arial"/>
                        </a:rPr>
                        <a:t> </a:t>
                      </a:r>
                      <a:r>
                        <a:rPr sz="800" i="1" spc="-20" dirty="0">
                          <a:latin typeface="Arial"/>
                          <a:cs typeface="Arial"/>
                        </a:rPr>
                        <a:t>ABORT</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163195">
                <a:tc>
                  <a:txBody>
                    <a:bodyPr/>
                    <a:lstStyle/>
                    <a:p>
                      <a:pPr marL="78105">
                        <a:lnSpc>
                          <a:spcPct val="100000"/>
                        </a:lnSpc>
                        <a:spcBef>
                          <a:spcPts val="95"/>
                        </a:spcBef>
                      </a:pPr>
                      <a:r>
                        <a:rPr sz="800" i="1" spc="-10" dirty="0">
                          <a:latin typeface="Arial"/>
                          <a:cs typeface="Arial"/>
                        </a:rPr>
                        <a:t>READY</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95"/>
                        </a:spcBef>
                      </a:pPr>
                      <a:r>
                        <a:rPr sz="800" dirty="0">
                          <a:latin typeface="Arial"/>
                          <a:cs typeface="Arial"/>
                        </a:rPr>
                        <a:t>Contact</a:t>
                      </a:r>
                      <a:r>
                        <a:rPr sz="800" spc="-35" dirty="0">
                          <a:latin typeface="Arial"/>
                          <a:cs typeface="Arial"/>
                        </a:rPr>
                        <a:t> </a:t>
                      </a:r>
                      <a:r>
                        <a:rPr sz="800" dirty="0">
                          <a:latin typeface="Arial"/>
                          <a:cs typeface="Arial"/>
                        </a:rPr>
                        <a:t>another</a:t>
                      </a:r>
                      <a:r>
                        <a:rPr sz="800" spc="-30" dirty="0">
                          <a:latin typeface="Arial"/>
                          <a:cs typeface="Arial"/>
                        </a:rPr>
                        <a:t> </a:t>
                      </a:r>
                      <a:r>
                        <a:rPr sz="800" spc="-10" dirty="0">
                          <a:latin typeface="Arial"/>
                          <a:cs typeface="Arial"/>
                        </a:rPr>
                        <a:t>participant</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bl>
          </a:graphicData>
        </a:graphic>
      </p:graphicFrame>
      <p:sp>
        <p:nvSpPr>
          <p:cNvPr id="6" name="object 6"/>
          <p:cNvSpPr txBox="1"/>
          <p:nvPr/>
        </p:nvSpPr>
        <p:spPr>
          <a:xfrm>
            <a:off x="347294" y="2376308"/>
            <a:ext cx="3912235" cy="649605"/>
          </a:xfrm>
          <a:prstGeom prst="rect">
            <a:avLst/>
          </a:prstGeom>
        </p:spPr>
        <p:txBody>
          <a:bodyPr vert="horz" wrap="square" lIns="0" tIns="27305" rIns="0" bIns="0" rtlCol="0">
            <a:spAutoFit/>
          </a:bodyPr>
          <a:lstStyle/>
          <a:p>
            <a:pPr marL="12700">
              <a:lnSpc>
                <a:spcPct val="100000"/>
              </a:lnSpc>
              <a:spcBef>
                <a:spcPts val="215"/>
              </a:spcBef>
            </a:pPr>
            <a:r>
              <a:rPr sz="1000" spc="-10" dirty="0">
                <a:solidFill>
                  <a:srgbClr val="3333B2"/>
                </a:solidFill>
                <a:latin typeface="Arial"/>
                <a:cs typeface="Arial"/>
              </a:rPr>
              <a:t>Result</a:t>
            </a:r>
            <a:endParaRPr sz="1000">
              <a:latin typeface="Arial"/>
              <a:cs typeface="Arial"/>
            </a:endParaRPr>
          </a:p>
          <a:p>
            <a:pPr marL="12700" marR="5080" algn="just">
              <a:lnSpc>
                <a:spcPts val="1210"/>
              </a:lnSpc>
              <a:spcBef>
                <a:spcPts val="35"/>
              </a:spcBef>
            </a:pPr>
            <a:r>
              <a:rPr sz="900" dirty="0">
                <a:latin typeface="Arial"/>
                <a:cs typeface="Arial"/>
              </a:rPr>
              <a:t>If</a:t>
            </a:r>
            <a:r>
              <a:rPr sz="900" spc="-35" dirty="0">
                <a:latin typeface="Arial"/>
                <a:cs typeface="Arial"/>
              </a:rPr>
              <a:t> </a:t>
            </a:r>
            <a:r>
              <a:rPr sz="900" dirty="0">
                <a:latin typeface="Arial"/>
                <a:cs typeface="Arial"/>
              </a:rPr>
              <a:t>all</a:t>
            </a:r>
            <a:r>
              <a:rPr sz="900" spc="-35" dirty="0">
                <a:latin typeface="Arial"/>
                <a:cs typeface="Arial"/>
              </a:rPr>
              <a:t> </a:t>
            </a:r>
            <a:r>
              <a:rPr sz="900" dirty="0">
                <a:latin typeface="Arial"/>
                <a:cs typeface="Arial"/>
              </a:rPr>
              <a:t>participants</a:t>
            </a:r>
            <a:r>
              <a:rPr sz="900" spc="-35" dirty="0">
                <a:latin typeface="Arial"/>
                <a:cs typeface="Arial"/>
              </a:rPr>
              <a:t> </a:t>
            </a:r>
            <a:r>
              <a:rPr sz="900" dirty="0">
                <a:latin typeface="Arial"/>
                <a:cs typeface="Arial"/>
              </a:rPr>
              <a:t>are</a:t>
            </a:r>
            <a:r>
              <a:rPr sz="900" spc="-30" dirty="0">
                <a:latin typeface="Arial"/>
                <a:cs typeface="Arial"/>
              </a:rPr>
              <a:t> </a:t>
            </a:r>
            <a:r>
              <a:rPr sz="900" dirty="0">
                <a:latin typeface="Arial"/>
                <a:cs typeface="Arial"/>
              </a:rPr>
              <a:t>in</a:t>
            </a:r>
            <a:r>
              <a:rPr sz="900" spc="-35" dirty="0">
                <a:latin typeface="Arial"/>
                <a:cs typeface="Arial"/>
              </a:rPr>
              <a:t> </a:t>
            </a:r>
            <a:r>
              <a:rPr sz="900" dirty="0">
                <a:latin typeface="Arial"/>
                <a:cs typeface="Arial"/>
              </a:rPr>
              <a:t>the</a:t>
            </a:r>
            <a:r>
              <a:rPr sz="900" spc="-35" dirty="0">
                <a:latin typeface="Arial"/>
                <a:cs typeface="Arial"/>
              </a:rPr>
              <a:t> </a:t>
            </a:r>
            <a:r>
              <a:rPr sz="900" i="1" dirty="0">
                <a:latin typeface="Arial"/>
                <a:cs typeface="Arial"/>
              </a:rPr>
              <a:t>READY</a:t>
            </a:r>
            <a:r>
              <a:rPr sz="900" i="1" spc="80" dirty="0">
                <a:latin typeface="Arial"/>
                <a:cs typeface="Arial"/>
              </a:rPr>
              <a:t> </a:t>
            </a:r>
            <a:r>
              <a:rPr sz="900" dirty="0">
                <a:latin typeface="Arial"/>
                <a:cs typeface="Arial"/>
              </a:rPr>
              <a:t>state,</a:t>
            </a:r>
            <a:r>
              <a:rPr sz="900" spc="-35" dirty="0">
                <a:latin typeface="Arial"/>
                <a:cs typeface="Arial"/>
              </a:rPr>
              <a:t> </a:t>
            </a:r>
            <a:r>
              <a:rPr sz="900" dirty="0">
                <a:latin typeface="Arial"/>
                <a:cs typeface="Arial"/>
              </a:rPr>
              <a:t>the</a:t>
            </a:r>
            <a:r>
              <a:rPr sz="900" spc="-35" dirty="0">
                <a:latin typeface="Arial"/>
                <a:cs typeface="Arial"/>
              </a:rPr>
              <a:t> </a:t>
            </a:r>
            <a:r>
              <a:rPr sz="900" dirty="0">
                <a:latin typeface="Arial"/>
                <a:cs typeface="Arial"/>
              </a:rPr>
              <a:t>protocol</a:t>
            </a:r>
            <a:r>
              <a:rPr sz="900" spc="-30" dirty="0">
                <a:latin typeface="Arial"/>
                <a:cs typeface="Arial"/>
              </a:rPr>
              <a:t> </a:t>
            </a:r>
            <a:r>
              <a:rPr sz="900" dirty="0">
                <a:latin typeface="Arial"/>
                <a:cs typeface="Arial"/>
              </a:rPr>
              <a:t>blocks.</a:t>
            </a:r>
            <a:r>
              <a:rPr sz="900" spc="15" dirty="0">
                <a:latin typeface="Arial"/>
                <a:cs typeface="Arial"/>
              </a:rPr>
              <a:t> </a:t>
            </a:r>
            <a:r>
              <a:rPr sz="900" spc="-10" dirty="0">
                <a:latin typeface="Arial"/>
                <a:cs typeface="Arial"/>
              </a:rPr>
              <a:t>Apparently,</a:t>
            </a:r>
            <a:r>
              <a:rPr sz="900" spc="-30" dirty="0">
                <a:latin typeface="Arial"/>
                <a:cs typeface="Arial"/>
              </a:rPr>
              <a:t> </a:t>
            </a:r>
            <a:r>
              <a:rPr sz="900" spc="-25" dirty="0">
                <a:latin typeface="Arial"/>
                <a:cs typeface="Arial"/>
              </a:rPr>
              <a:t>the </a:t>
            </a:r>
            <a:r>
              <a:rPr sz="900" dirty="0">
                <a:latin typeface="Arial"/>
                <a:cs typeface="Arial"/>
              </a:rPr>
              <a:t>coordinator</a:t>
            </a:r>
            <a:r>
              <a:rPr sz="900" spc="-30"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failing.</a:t>
            </a:r>
            <a:r>
              <a:rPr sz="900" spc="25" dirty="0">
                <a:latin typeface="Arial"/>
                <a:cs typeface="Arial"/>
              </a:rPr>
              <a:t> </a:t>
            </a:r>
            <a:r>
              <a:rPr sz="900" dirty="0">
                <a:solidFill>
                  <a:srgbClr val="C80000"/>
                </a:solidFill>
                <a:latin typeface="Arial"/>
                <a:cs typeface="Arial"/>
              </a:rPr>
              <a:t>Note:</a:t>
            </a:r>
            <a:r>
              <a:rPr sz="900" spc="25" dirty="0">
                <a:solidFill>
                  <a:srgbClr val="C80000"/>
                </a:solidFill>
                <a:latin typeface="Arial"/>
                <a:cs typeface="Arial"/>
              </a:rPr>
              <a:t> </a:t>
            </a:r>
            <a:r>
              <a:rPr sz="900" dirty="0">
                <a:latin typeface="Arial"/>
                <a:cs typeface="Arial"/>
              </a:rPr>
              <a:t>The</a:t>
            </a:r>
            <a:r>
              <a:rPr sz="900" spc="-30" dirty="0">
                <a:latin typeface="Arial"/>
                <a:cs typeface="Arial"/>
              </a:rPr>
              <a:t> </a:t>
            </a:r>
            <a:r>
              <a:rPr sz="900" dirty="0">
                <a:latin typeface="Arial"/>
                <a:cs typeface="Arial"/>
              </a:rPr>
              <a:t>protocol</a:t>
            </a:r>
            <a:r>
              <a:rPr sz="900" spc="-30" dirty="0">
                <a:latin typeface="Arial"/>
                <a:cs typeface="Arial"/>
              </a:rPr>
              <a:t> </a:t>
            </a:r>
            <a:r>
              <a:rPr sz="900" dirty="0">
                <a:latin typeface="Arial"/>
                <a:cs typeface="Arial"/>
              </a:rPr>
              <a:t>prescribes</a:t>
            </a:r>
            <a:r>
              <a:rPr sz="900" spc="-30"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we</a:t>
            </a:r>
            <a:r>
              <a:rPr sz="900" spc="-30" dirty="0">
                <a:latin typeface="Arial"/>
                <a:cs typeface="Arial"/>
              </a:rPr>
              <a:t> </a:t>
            </a:r>
            <a:r>
              <a:rPr sz="900" dirty="0">
                <a:latin typeface="Arial"/>
                <a:cs typeface="Arial"/>
              </a:rPr>
              <a:t>need</a:t>
            </a:r>
            <a:r>
              <a:rPr sz="900" spc="-30" dirty="0">
                <a:latin typeface="Arial"/>
                <a:cs typeface="Arial"/>
              </a:rPr>
              <a:t> </a:t>
            </a:r>
            <a:r>
              <a:rPr sz="900" dirty="0">
                <a:latin typeface="Arial"/>
                <a:cs typeface="Arial"/>
              </a:rPr>
              <a:t>the</a:t>
            </a:r>
            <a:r>
              <a:rPr sz="900" spc="-30" dirty="0">
                <a:latin typeface="Arial"/>
                <a:cs typeface="Arial"/>
              </a:rPr>
              <a:t> </a:t>
            </a:r>
            <a:r>
              <a:rPr sz="900" spc="-10" dirty="0">
                <a:latin typeface="Arial"/>
                <a:cs typeface="Arial"/>
              </a:rPr>
              <a:t>decision </a:t>
            </a:r>
            <a:r>
              <a:rPr sz="900" dirty="0">
                <a:latin typeface="Arial"/>
                <a:cs typeface="Arial"/>
              </a:rPr>
              <a:t>from</a:t>
            </a:r>
            <a:r>
              <a:rPr sz="900" spc="-25" dirty="0">
                <a:latin typeface="Arial"/>
                <a:cs typeface="Arial"/>
              </a:rPr>
              <a:t> </a:t>
            </a:r>
            <a:r>
              <a:rPr sz="900" dirty="0">
                <a:latin typeface="Arial"/>
                <a:cs typeface="Arial"/>
              </a:rPr>
              <a:t>the</a:t>
            </a:r>
            <a:r>
              <a:rPr sz="900" spc="-20" dirty="0">
                <a:latin typeface="Arial"/>
                <a:cs typeface="Arial"/>
              </a:rPr>
              <a:t> </a:t>
            </a:r>
            <a:r>
              <a:rPr sz="900" spc="-10" dirty="0">
                <a:latin typeface="Arial"/>
                <a:cs typeface="Arial"/>
              </a:rPr>
              <a:t>coordinator.</a:t>
            </a:r>
            <a:endParaRPr sz="900">
              <a:latin typeface="Arial"/>
              <a:cs typeface="Arial"/>
            </a:endParaRPr>
          </a:p>
        </p:txBody>
      </p:sp>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Tree>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64304" algn="l"/>
              </a:tabLst>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r>
              <a:rPr sz="500" dirty="0">
                <a:latin typeface="Arial"/>
                <a:cs typeface="Arial"/>
              </a:rPr>
              <a:t>	</a:t>
            </a:r>
            <a:r>
              <a:rPr sz="500" dirty="0">
                <a:solidFill>
                  <a:srgbClr val="FFFFFF"/>
                </a:solidFill>
                <a:latin typeface="Arial"/>
                <a:cs typeface="Arial"/>
                <a:hlinkClick r:id="rId3" action="ppaction://hlinksldjump"/>
              </a:rPr>
              <a:t>Distributed</a:t>
            </a:r>
            <a:r>
              <a:rPr sz="500" spc="-3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commit</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2PC</a:t>
            </a:r>
            <a:r>
              <a:rPr spc="-25" dirty="0"/>
              <a:t> </a:t>
            </a:r>
            <a:r>
              <a:rPr dirty="0"/>
              <a:t>–</a:t>
            </a:r>
            <a:r>
              <a:rPr spc="-25" dirty="0"/>
              <a:t> </a:t>
            </a:r>
            <a:r>
              <a:rPr spc="-10" dirty="0"/>
              <a:t>Failing</a:t>
            </a:r>
            <a:r>
              <a:rPr spc="-25" dirty="0"/>
              <a:t> </a:t>
            </a:r>
            <a:r>
              <a:rPr spc="-10" dirty="0"/>
              <a:t>coordinator</a:t>
            </a:r>
          </a:p>
        </p:txBody>
      </p:sp>
      <p:sp>
        <p:nvSpPr>
          <p:cNvPr id="4" name="object 4"/>
          <p:cNvSpPr txBox="1"/>
          <p:nvPr/>
        </p:nvSpPr>
        <p:spPr>
          <a:xfrm>
            <a:off x="343128" y="499476"/>
            <a:ext cx="3916045" cy="1767839"/>
          </a:xfrm>
          <a:prstGeom prst="rect">
            <a:avLst/>
          </a:prstGeom>
        </p:spPr>
        <p:txBody>
          <a:bodyPr vert="horz" wrap="square" lIns="0" tIns="27305" rIns="0" bIns="0" rtlCol="0">
            <a:spAutoFit/>
          </a:bodyPr>
          <a:lstStyle/>
          <a:p>
            <a:pPr marL="16510">
              <a:lnSpc>
                <a:spcPct val="100000"/>
              </a:lnSpc>
              <a:spcBef>
                <a:spcPts val="215"/>
              </a:spcBef>
            </a:pPr>
            <a:r>
              <a:rPr sz="1000" spc="-10" dirty="0">
                <a:solidFill>
                  <a:srgbClr val="3333B2"/>
                </a:solidFill>
                <a:latin typeface="Arial"/>
                <a:cs typeface="Arial"/>
              </a:rPr>
              <a:t>Observation</a:t>
            </a:r>
            <a:endParaRPr sz="1000">
              <a:latin typeface="Arial"/>
              <a:cs typeface="Arial"/>
            </a:endParaRPr>
          </a:p>
          <a:p>
            <a:pPr marL="16510" marR="5080" indent="-3810">
              <a:lnSpc>
                <a:spcPts val="1210"/>
              </a:lnSpc>
              <a:spcBef>
                <a:spcPts val="35"/>
              </a:spcBef>
            </a:pPr>
            <a:r>
              <a:rPr sz="900" dirty="0">
                <a:latin typeface="Arial"/>
                <a:cs typeface="Arial"/>
              </a:rPr>
              <a:t>The</a:t>
            </a:r>
            <a:r>
              <a:rPr sz="900" spc="-35" dirty="0">
                <a:latin typeface="Arial"/>
                <a:cs typeface="Arial"/>
              </a:rPr>
              <a:t> </a:t>
            </a:r>
            <a:r>
              <a:rPr sz="900" dirty="0">
                <a:latin typeface="Arial"/>
                <a:cs typeface="Arial"/>
              </a:rPr>
              <a:t>real</a:t>
            </a:r>
            <a:r>
              <a:rPr sz="900" spc="-30" dirty="0">
                <a:latin typeface="Arial"/>
                <a:cs typeface="Arial"/>
              </a:rPr>
              <a:t> </a:t>
            </a:r>
            <a:r>
              <a:rPr sz="900" spc="-20" dirty="0">
                <a:latin typeface="Arial"/>
                <a:cs typeface="Arial"/>
              </a:rPr>
              <a:t>problem</a:t>
            </a:r>
            <a:r>
              <a:rPr sz="900" spc="-30" dirty="0">
                <a:latin typeface="Arial"/>
                <a:cs typeface="Arial"/>
              </a:rPr>
              <a:t> </a:t>
            </a:r>
            <a:r>
              <a:rPr sz="900" dirty="0">
                <a:latin typeface="Arial"/>
                <a:cs typeface="Arial"/>
              </a:rPr>
              <a:t>lies</a:t>
            </a:r>
            <a:r>
              <a:rPr sz="900" spc="-30" dirty="0">
                <a:latin typeface="Arial"/>
                <a:cs typeface="Arial"/>
              </a:rPr>
              <a:t> </a:t>
            </a:r>
            <a:r>
              <a:rPr sz="900" dirty="0">
                <a:latin typeface="Arial"/>
                <a:cs typeface="Arial"/>
              </a:rPr>
              <a:t>in</a:t>
            </a:r>
            <a:r>
              <a:rPr sz="900" spc="-30" dirty="0">
                <a:latin typeface="Arial"/>
                <a:cs typeface="Arial"/>
              </a:rPr>
              <a:t> </a:t>
            </a:r>
            <a:r>
              <a:rPr sz="900" dirty="0">
                <a:latin typeface="Arial"/>
                <a:cs typeface="Arial"/>
              </a:rPr>
              <a:t>the</a:t>
            </a:r>
            <a:r>
              <a:rPr sz="900" spc="-30" dirty="0">
                <a:latin typeface="Arial"/>
                <a:cs typeface="Arial"/>
              </a:rPr>
              <a:t> </a:t>
            </a:r>
            <a:r>
              <a:rPr sz="900" spc="-10" dirty="0">
                <a:latin typeface="Arial"/>
                <a:cs typeface="Arial"/>
              </a:rPr>
              <a:t>fact</a:t>
            </a:r>
            <a:r>
              <a:rPr sz="900" spc="-25" dirty="0">
                <a:latin typeface="Arial"/>
                <a:cs typeface="Arial"/>
              </a:rPr>
              <a:t> </a:t>
            </a:r>
            <a:r>
              <a:rPr sz="900" dirty="0">
                <a:latin typeface="Arial"/>
                <a:cs typeface="Arial"/>
              </a:rPr>
              <a:t>that</a:t>
            </a:r>
            <a:r>
              <a:rPr sz="900" spc="-30" dirty="0">
                <a:latin typeface="Arial"/>
                <a:cs typeface="Arial"/>
              </a:rPr>
              <a:t> </a:t>
            </a:r>
            <a:r>
              <a:rPr sz="900" dirty="0">
                <a:latin typeface="Arial"/>
                <a:cs typeface="Arial"/>
              </a:rPr>
              <a:t>the</a:t>
            </a:r>
            <a:r>
              <a:rPr sz="900" spc="-30" dirty="0">
                <a:latin typeface="Arial"/>
                <a:cs typeface="Arial"/>
              </a:rPr>
              <a:t> </a:t>
            </a:r>
            <a:r>
              <a:rPr sz="900" spc="-20" dirty="0">
                <a:latin typeface="Arial"/>
                <a:cs typeface="Arial"/>
              </a:rPr>
              <a:t>coordinator’s</a:t>
            </a:r>
            <a:r>
              <a:rPr sz="900" spc="-30" dirty="0">
                <a:latin typeface="Arial"/>
                <a:cs typeface="Arial"/>
              </a:rPr>
              <a:t> </a:t>
            </a:r>
            <a:r>
              <a:rPr sz="900" dirty="0">
                <a:latin typeface="Arial"/>
                <a:cs typeface="Arial"/>
              </a:rPr>
              <a:t>final</a:t>
            </a:r>
            <a:r>
              <a:rPr sz="900" spc="-30" dirty="0">
                <a:latin typeface="Arial"/>
                <a:cs typeface="Arial"/>
              </a:rPr>
              <a:t> </a:t>
            </a:r>
            <a:r>
              <a:rPr sz="900" spc="-10" dirty="0">
                <a:latin typeface="Arial"/>
                <a:cs typeface="Arial"/>
              </a:rPr>
              <a:t>decision</a:t>
            </a:r>
            <a:r>
              <a:rPr sz="900" spc="-35" dirty="0">
                <a:latin typeface="Arial"/>
                <a:cs typeface="Arial"/>
              </a:rPr>
              <a:t> </a:t>
            </a:r>
            <a:r>
              <a:rPr sz="900" spc="-20" dirty="0">
                <a:latin typeface="Arial"/>
                <a:cs typeface="Arial"/>
              </a:rPr>
              <a:t>may</a:t>
            </a:r>
            <a:r>
              <a:rPr sz="900" spc="-30" dirty="0">
                <a:latin typeface="Arial"/>
                <a:cs typeface="Arial"/>
              </a:rPr>
              <a:t> </a:t>
            </a:r>
            <a:r>
              <a:rPr sz="900" dirty="0">
                <a:latin typeface="Arial"/>
                <a:cs typeface="Arial"/>
              </a:rPr>
              <a:t>not</a:t>
            </a:r>
            <a:r>
              <a:rPr sz="900" spc="-30" dirty="0">
                <a:latin typeface="Arial"/>
                <a:cs typeface="Arial"/>
              </a:rPr>
              <a:t> </a:t>
            </a:r>
            <a:r>
              <a:rPr sz="900" spc="-25" dirty="0">
                <a:latin typeface="Arial"/>
                <a:cs typeface="Arial"/>
              </a:rPr>
              <a:t>be </a:t>
            </a:r>
            <a:r>
              <a:rPr sz="900" spc="-10" dirty="0">
                <a:latin typeface="Arial"/>
                <a:cs typeface="Arial"/>
              </a:rPr>
              <a:t>available</a:t>
            </a:r>
            <a:r>
              <a:rPr sz="900" spc="-30" dirty="0">
                <a:latin typeface="Arial"/>
                <a:cs typeface="Arial"/>
              </a:rPr>
              <a:t> </a:t>
            </a:r>
            <a:r>
              <a:rPr sz="900" dirty="0">
                <a:latin typeface="Arial"/>
                <a:cs typeface="Arial"/>
              </a:rPr>
              <a:t>for</a:t>
            </a:r>
            <a:r>
              <a:rPr sz="900" spc="-25" dirty="0">
                <a:latin typeface="Arial"/>
                <a:cs typeface="Arial"/>
              </a:rPr>
              <a:t> </a:t>
            </a:r>
            <a:r>
              <a:rPr sz="900" dirty="0">
                <a:latin typeface="Arial"/>
                <a:cs typeface="Arial"/>
              </a:rPr>
              <a:t>some</a:t>
            </a:r>
            <a:r>
              <a:rPr sz="900" spc="-30" dirty="0">
                <a:latin typeface="Arial"/>
                <a:cs typeface="Arial"/>
              </a:rPr>
              <a:t> </a:t>
            </a:r>
            <a:r>
              <a:rPr sz="900" dirty="0">
                <a:latin typeface="Arial"/>
                <a:cs typeface="Arial"/>
              </a:rPr>
              <a:t>time</a:t>
            </a:r>
            <a:r>
              <a:rPr sz="900" spc="-25" dirty="0">
                <a:latin typeface="Arial"/>
                <a:cs typeface="Arial"/>
              </a:rPr>
              <a:t> </a:t>
            </a:r>
            <a:r>
              <a:rPr sz="900" dirty="0">
                <a:latin typeface="Arial"/>
                <a:cs typeface="Arial"/>
              </a:rPr>
              <a:t>(or</a:t>
            </a:r>
            <a:r>
              <a:rPr sz="900" spc="-25" dirty="0">
                <a:latin typeface="Arial"/>
                <a:cs typeface="Arial"/>
              </a:rPr>
              <a:t> </a:t>
            </a:r>
            <a:r>
              <a:rPr sz="900" dirty="0">
                <a:latin typeface="Arial"/>
                <a:cs typeface="Arial"/>
              </a:rPr>
              <a:t>actually</a:t>
            </a:r>
            <a:r>
              <a:rPr sz="900" spc="-30" dirty="0">
                <a:latin typeface="Arial"/>
                <a:cs typeface="Arial"/>
              </a:rPr>
              <a:t> </a:t>
            </a:r>
            <a:r>
              <a:rPr sz="900" spc="-10" dirty="0">
                <a:latin typeface="Arial"/>
                <a:cs typeface="Arial"/>
              </a:rPr>
              <a:t>lost).</a:t>
            </a:r>
            <a:endParaRPr sz="900">
              <a:latin typeface="Arial"/>
              <a:cs typeface="Arial"/>
            </a:endParaRPr>
          </a:p>
          <a:p>
            <a:pPr marL="12700">
              <a:lnSpc>
                <a:spcPct val="100000"/>
              </a:lnSpc>
              <a:spcBef>
                <a:spcPts val="750"/>
              </a:spcBef>
            </a:pPr>
            <a:r>
              <a:rPr sz="1000" spc="-10" dirty="0">
                <a:solidFill>
                  <a:srgbClr val="3333B2"/>
                </a:solidFill>
                <a:latin typeface="Arial"/>
                <a:cs typeface="Arial"/>
              </a:rPr>
              <a:t>Alternative</a:t>
            </a:r>
            <a:endParaRPr sz="1000">
              <a:latin typeface="Arial"/>
              <a:cs typeface="Arial"/>
            </a:endParaRPr>
          </a:p>
          <a:p>
            <a:pPr marL="16510" marR="160655">
              <a:lnSpc>
                <a:spcPts val="1210"/>
              </a:lnSpc>
              <a:spcBef>
                <a:spcPts val="35"/>
              </a:spcBef>
            </a:pPr>
            <a:r>
              <a:rPr sz="900" dirty="0">
                <a:latin typeface="Arial"/>
                <a:cs typeface="Arial"/>
              </a:rPr>
              <a:t>Let</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participant</a:t>
            </a:r>
            <a:r>
              <a:rPr sz="900" spc="-20" dirty="0">
                <a:latin typeface="Arial"/>
                <a:cs typeface="Arial"/>
              </a:rPr>
              <a:t> </a:t>
            </a:r>
            <a:r>
              <a:rPr sz="900" i="1" dirty="0">
                <a:latin typeface="Arial"/>
                <a:cs typeface="Arial"/>
              </a:rPr>
              <a:t>P</a:t>
            </a:r>
            <a:r>
              <a:rPr sz="900" i="1" spc="35" dirty="0">
                <a:latin typeface="Arial"/>
                <a:cs typeface="Arial"/>
              </a:rPr>
              <a:t> </a:t>
            </a:r>
            <a:r>
              <a:rPr sz="900" dirty="0">
                <a:latin typeface="Arial"/>
                <a:cs typeface="Arial"/>
              </a:rPr>
              <a:t>in</a:t>
            </a:r>
            <a:r>
              <a:rPr sz="900" spc="-20" dirty="0">
                <a:latin typeface="Arial"/>
                <a:cs typeface="Arial"/>
              </a:rPr>
              <a:t> </a:t>
            </a:r>
            <a:r>
              <a:rPr sz="900" dirty="0">
                <a:latin typeface="Arial"/>
                <a:cs typeface="Arial"/>
              </a:rPr>
              <a:t>the</a:t>
            </a:r>
            <a:r>
              <a:rPr sz="900" spc="-25" dirty="0">
                <a:latin typeface="Arial"/>
                <a:cs typeface="Arial"/>
              </a:rPr>
              <a:t> </a:t>
            </a:r>
            <a:r>
              <a:rPr sz="900" i="1" dirty="0">
                <a:latin typeface="Arial"/>
                <a:cs typeface="Arial"/>
              </a:rPr>
              <a:t>READY</a:t>
            </a:r>
            <a:r>
              <a:rPr sz="900" i="1" spc="95" dirty="0">
                <a:latin typeface="Arial"/>
                <a:cs typeface="Arial"/>
              </a:rPr>
              <a:t> </a:t>
            </a:r>
            <a:r>
              <a:rPr sz="900" dirty="0">
                <a:latin typeface="Arial"/>
                <a:cs typeface="Arial"/>
              </a:rPr>
              <a:t>state</a:t>
            </a:r>
            <a:r>
              <a:rPr sz="900" spc="-25" dirty="0">
                <a:latin typeface="Arial"/>
                <a:cs typeface="Arial"/>
              </a:rPr>
              <a:t> </a:t>
            </a:r>
            <a:r>
              <a:rPr sz="900" dirty="0">
                <a:latin typeface="Arial"/>
                <a:cs typeface="Arial"/>
              </a:rPr>
              <a:t>timeout</a:t>
            </a:r>
            <a:r>
              <a:rPr sz="900" spc="-20" dirty="0">
                <a:latin typeface="Arial"/>
                <a:cs typeface="Arial"/>
              </a:rPr>
              <a:t> </a:t>
            </a:r>
            <a:r>
              <a:rPr sz="900" dirty="0">
                <a:latin typeface="Arial"/>
                <a:cs typeface="Arial"/>
              </a:rPr>
              <a:t>when</a:t>
            </a:r>
            <a:r>
              <a:rPr sz="900" spc="-25" dirty="0">
                <a:latin typeface="Arial"/>
                <a:cs typeface="Arial"/>
              </a:rPr>
              <a:t> </a:t>
            </a:r>
            <a:r>
              <a:rPr sz="900" dirty="0">
                <a:latin typeface="Arial"/>
                <a:cs typeface="Arial"/>
              </a:rPr>
              <a:t>it</a:t>
            </a:r>
            <a:r>
              <a:rPr sz="900" spc="-20" dirty="0">
                <a:latin typeface="Arial"/>
                <a:cs typeface="Arial"/>
              </a:rPr>
              <a:t> </a:t>
            </a:r>
            <a:r>
              <a:rPr sz="900" dirty="0">
                <a:latin typeface="Arial"/>
                <a:cs typeface="Arial"/>
              </a:rPr>
              <a:t>hasn’t</a:t>
            </a:r>
            <a:r>
              <a:rPr sz="900" spc="-25" dirty="0">
                <a:latin typeface="Arial"/>
                <a:cs typeface="Arial"/>
              </a:rPr>
              <a:t> </a:t>
            </a:r>
            <a:r>
              <a:rPr sz="900" spc="-10" dirty="0">
                <a:latin typeface="Arial"/>
                <a:cs typeface="Arial"/>
              </a:rPr>
              <a:t>received</a:t>
            </a:r>
            <a:r>
              <a:rPr sz="900" spc="-20" dirty="0">
                <a:latin typeface="Arial"/>
                <a:cs typeface="Arial"/>
              </a:rPr>
              <a:t> </a:t>
            </a:r>
            <a:r>
              <a:rPr sz="900" spc="-25" dirty="0">
                <a:latin typeface="Arial"/>
                <a:cs typeface="Arial"/>
              </a:rPr>
              <a:t>the </a:t>
            </a:r>
            <a:r>
              <a:rPr sz="900" spc="-10" dirty="0">
                <a:latin typeface="Arial"/>
                <a:cs typeface="Arial"/>
              </a:rPr>
              <a:t>coordinator’s</a:t>
            </a:r>
            <a:r>
              <a:rPr sz="900" spc="-20" dirty="0">
                <a:latin typeface="Arial"/>
                <a:cs typeface="Arial"/>
              </a:rPr>
              <a:t> </a:t>
            </a:r>
            <a:r>
              <a:rPr sz="900" dirty="0">
                <a:latin typeface="Arial"/>
                <a:cs typeface="Arial"/>
              </a:rPr>
              <a:t>decision;</a:t>
            </a:r>
            <a:r>
              <a:rPr sz="900" spc="-10" dirty="0">
                <a:latin typeface="Arial"/>
                <a:cs typeface="Arial"/>
              </a:rPr>
              <a:t> </a:t>
            </a:r>
            <a:r>
              <a:rPr sz="900" i="1" dirty="0">
                <a:latin typeface="Arial"/>
                <a:cs typeface="Arial"/>
              </a:rPr>
              <a:t>P</a:t>
            </a:r>
            <a:r>
              <a:rPr sz="900" i="1" spc="45" dirty="0">
                <a:latin typeface="Arial"/>
                <a:cs typeface="Arial"/>
              </a:rPr>
              <a:t> </a:t>
            </a:r>
            <a:r>
              <a:rPr sz="900" dirty="0">
                <a:latin typeface="Arial"/>
                <a:cs typeface="Arial"/>
              </a:rPr>
              <a:t>tries</a:t>
            </a:r>
            <a:r>
              <a:rPr sz="900" spc="-20" dirty="0">
                <a:latin typeface="Arial"/>
                <a:cs typeface="Arial"/>
              </a:rPr>
              <a:t> </a:t>
            </a:r>
            <a:r>
              <a:rPr sz="900" dirty="0">
                <a:latin typeface="Arial"/>
                <a:cs typeface="Arial"/>
              </a:rPr>
              <a:t>to</a:t>
            </a:r>
            <a:r>
              <a:rPr sz="900" spc="-15" dirty="0">
                <a:latin typeface="Arial"/>
                <a:cs typeface="Arial"/>
              </a:rPr>
              <a:t> </a:t>
            </a:r>
            <a:r>
              <a:rPr sz="900" dirty="0">
                <a:latin typeface="Arial"/>
                <a:cs typeface="Arial"/>
              </a:rPr>
              <a:t>find</a:t>
            </a:r>
            <a:r>
              <a:rPr sz="900" spc="-20" dirty="0">
                <a:latin typeface="Arial"/>
                <a:cs typeface="Arial"/>
              </a:rPr>
              <a:t> </a:t>
            </a:r>
            <a:r>
              <a:rPr sz="900" dirty="0">
                <a:latin typeface="Arial"/>
                <a:cs typeface="Arial"/>
              </a:rPr>
              <a:t>out</a:t>
            </a:r>
            <a:r>
              <a:rPr sz="900" spc="-15" dirty="0">
                <a:latin typeface="Arial"/>
                <a:cs typeface="Arial"/>
              </a:rPr>
              <a:t> </a:t>
            </a:r>
            <a:r>
              <a:rPr sz="900" dirty="0">
                <a:latin typeface="Arial"/>
                <a:cs typeface="Arial"/>
              </a:rPr>
              <a:t>what</a:t>
            </a:r>
            <a:r>
              <a:rPr sz="900" spc="-15" dirty="0">
                <a:latin typeface="Arial"/>
                <a:cs typeface="Arial"/>
              </a:rPr>
              <a:t> </a:t>
            </a:r>
            <a:r>
              <a:rPr sz="900" dirty="0">
                <a:latin typeface="Arial"/>
                <a:cs typeface="Arial"/>
              </a:rPr>
              <a:t>other</a:t>
            </a:r>
            <a:r>
              <a:rPr sz="900" spc="-20" dirty="0">
                <a:latin typeface="Arial"/>
                <a:cs typeface="Arial"/>
              </a:rPr>
              <a:t> </a:t>
            </a:r>
            <a:r>
              <a:rPr sz="900" dirty="0">
                <a:latin typeface="Arial"/>
                <a:cs typeface="Arial"/>
              </a:rPr>
              <a:t>participants</a:t>
            </a:r>
            <a:r>
              <a:rPr sz="900" spc="-15" dirty="0">
                <a:latin typeface="Arial"/>
                <a:cs typeface="Arial"/>
              </a:rPr>
              <a:t> </a:t>
            </a:r>
            <a:r>
              <a:rPr sz="900" dirty="0">
                <a:latin typeface="Arial"/>
                <a:cs typeface="Arial"/>
              </a:rPr>
              <a:t>know</a:t>
            </a:r>
            <a:r>
              <a:rPr sz="900" spc="-20" dirty="0">
                <a:latin typeface="Arial"/>
                <a:cs typeface="Arial"/>
              </a:rPr>
              <a:t> </a:t>
            </a:r>
            <a:r>
              <a:rPr sz="900" spc="-25" dirty="0">
                <a:latin typeface="Arial"/>
                <a:cs typeface="Arial"/>
              </a:rPr>
              <a:t>(as </a:t>
            </a:r>
            <a:r>
              <a:rPr sz="900" spc="-10" dirty="0">
                <a:latin typeface="Arial"/>
                <a:cs typeface="Arial"/>
              </a:rPr>
              <a:t>discussed).</a:t>
            </a:r>
            <a:endParaRPr sz="900">
              <a:latin typeface="Arial"/>
              <a:cs typeface="Arial"/>
            </a:endParaRPr>
          </a:p>
          <a:p>
            <a:pPr marL="16510">
              <a:lnSpc>
                <a:spcPct val="100000"/>
              </a:lnSpc>
              <a:spcBef>
                <a:spcPts val="740"/>
              </a:spcBef>
            </a:pPr>
            <a:r>
              <a:rPr sz="1000" spc="-10" dirty="0">
                <a:solidFill>
                  <a:srgbClr val="3333B2"/>
                </a:solidFill>
                <a:latin typeface="Arial"/>
                <a:cs typeface="Arial"/>
              </a:rPr>
              <a:t>Observation</a:t>
            </a:r>
            <a:endParaRPr sz="1000">
              <a:latin typeface="Arial"/>
              <a:cs typeface="Arial"/>
            </a:endParaRPr>
          </a:p>
          <a:p>
            <a:pPr marL="16510" marR="102870">
              <a:lnSpc>
                <a:spcPts val="1210"/>
              </a:lnSpc>
              <a:spcBef>
                <a:spcPts val="35"/>
              </a:spcBef>
            </a:pPr>
            <a:r>
              <a:rPr sz="900" dirty="0">
                <a:latin typeface="Arial"/>
                <a:cs typeface="Arial"/>
              </a:rPr>
              <a:t>Essence</a:t>
            </a:r>
            <a:r>
              <a:rPr sz="900" spc="-25" dirty="0">
                <a:latin typeface="Arial"/>
                <a:cs typeface="Arial"/>
              </a:rPr>
              <a:t> </a:t>
            </a:r>
            <a:r>
              <a:rPr sz="900" dirty="0">
                <a:latin typeface="Arial"/>
                <a:cs typeface="Arial"/>
              </a:rPr>
              <a:t>of</a:t>
            </a:r>
            <a:r>
              <a:rPr sz="900" spc="-20"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problem</a:t>
            </a:r>
            <a:r>
              <a:rPr sz="900" spc="-20"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that</a:t>
            </a:r>
            <a:r>
              <a:rPr sz="900" spc="-20" dirty="0">
                <a:latin typeface="Arial"/>
                <a:cs typeface="Arial"/>
              </a:rPr>
              <a:t> </a:t>
            </a:r>
            <a:r>
              <a:rPr sz="900" dirty="0">
                <a:latin typeface="Arial"/>
                <a:cs typeface="Arial"/>
              </a:rPr>
              <a:t>a</a:t>
            </a:r>
            <a:r>
              <a:rPr sz="900" spc="-20" dirty="0">
                <a:latin typeface="Arial"/>
                <a:cs typeface="Arial"/>
              </a:rPr>
              <a:t> </a:t>
            </a:r>
            <a:r>
              <a:rPr sz="900" spc="-10" dirty="0">
                <a:latin typeface="Arial"/>
                <a:cs typeface="Arial"/>
              </a:rPr>
              <a:t>recovering</a:t>
            </a:r>
            <a:r>
              <a:rPr sz="900" spc="-20" dirty="0">
                <a:latin typeface="Arial"/>
                <a:cs typeface="Arial"/>
              </a:rPr>
              <a:t> </a:t>
            </a:r>
            <a:r>
              <a:rPr sz="900" dirty="0">
                <a:latin typeface="Arial"/>
                <a:cs typeface="Arial"/>
              </a:rPr>
              <a:t>participant</a:t>
            </a:r>
            <a:r>
              <a:rPr sz="900" spc="-20" dirty="0">
                <a:latin typeface="Arial"/>
                <a:cs typeface="Arial"/>
              </a:rPr>
              <a:t> </a:t>
            </a:r>
            <a:r>
              <a:rPr sz="900" dirty="0">
                <a:latin typeface="Arial"/>
                <a:cs typeface="Arial"/>
              </a:rPr>
              <a:t>cannot</a:t>
            </a:r>
            <a:r>
              <a:rPr sz="900" spc="-25" dirty="0">
                <a:latin typeface="Arial"/>
                <a:cs typeface="Arial"/>
              </a:rPr>
              <a:t> </a:t>
            </a:r>
            <a:r>
              <a:rPr sz="900" dirty="0">
                <a:latin typeface="Arial"/>
                <a:cs typeface="Arial"/>
              </a:rPr>
              <a:t>make</a:t>
            </a:r>
            <a:r>
              <a:rPr sz="900" spc="-20" dirty="0">
                <a:latin typeface="Arial"/>
                <a:cs typeface="Arial"/>
              </a:rPr>
              <a:t> </a:t>
            </a:r>
            <a:r>
              <a:rPr sz="900" dirty="0">
                <a:latin typeface="Arial"/>
                <a:cs typeface="Arial"/>
              </a:rPr>
              <a:t>a</a:t>
            </a:r>
            <a:r>
              <a:rPr sz="900" spc="-20" dirty="0">
                <a:latin typeface="Arial"/>
                <a:cs typeface="Arial"/>
              </a:rPr>
              <a:t> </a:t>
            </a:r>
            <a:r>
              <a:rPr sz="900" spc="-10" dirty="0">
                <a:solidFill>
                  <a:srgbClr val="3333B2"/>
                </a:solidFill>
                <a:latin typeface="Arial"/>
                <a:cs typeface="Arial"/>
              </a:rPr>
              <a:t>local </a:t>
            </a:r>
            <a:r>
              <a:rPr sz="900" dirty="0">
                <a:latin typeface="Arial"/>
                <a:cs typeface="Arial"/>
              </a:rPr>
              <a:t>decision:</a:t>
            </a:r>
            <a:r>
              <a:rPr sz="900" spc="20" dirty="0">
                <a:latin typeface="Arial"/>
                <a:cs typeface="Arial"/>
              </a:rPr>
              <a:t> </a:t>
            </a:r>
            <a:r>
              <a:rPr sz="900" dirty="0">
                <a:latin typeface="Arial"/>
                <a:cs typeface="Arial"/>
              </a:rPr>
              <a:t>it</a:t>
            </a:r>
            <a:r>
              <a:rPr sz="900" spc="-35" dirty="0">
                <a:latin typeface="Arial"/>
                <a:cs typeface="Arial"/>
              </a:rPr>
              <a:t> </a:t>
            </a:r>
            <a:r>
              <a:rPr sz="900" dirty="0">
                <a:latin typeface="Arial"/>
                <a:cs typeface="Arial"/>
              </a:rPr>
              <a:t>is</a:t>
            </a:r>
            <a:r>
              <a:rPr sz="900" spc="-35" dirty="0">
                <a:latin typeface="Arial"/>
                <a:cs typeface="Arial"/>
              </a:rPr>
              <a:t> </a:t>
            </a:r>
            <a:r>
              <a:rPr sz="900" dirty="0">
                <a:latin typeface="Arial"/>
                <a:cs typeface="Arial"/>
              </a:rPr>
              <a:t>dependent</a:t>
            </a:r>
            <a:r>
              <a:rPr sz="900" spc="-30" dirty="0">
                <a:latin typeface="Arial"/>
                <a:cs typeface="Arial"/>
              </a:rPr>
              <a:t> </a:t>
            </a:r>
            <a:r>
              <a:rPr sz="900" dirty="0">
                <a:latin typeface="Arial"/>
                <a:cs typeface="Arial"/>
              </a:rPr>
              <a:t>on</a:t>
            </a:r>
            <a:r>
              <a:rPr sz="900" spc="-35" dirty="0">
                <a:latin typeface="Arial"/>
                <a:cs typeface="Arial"/>
              </a:rPr>
              <a:t> </a:t>
            </a:r>
            <a:r>
              <a:rPr sz="900" dirty="0">
                <a:latin typeface="Arial"/>
                <a:cs typeface="Arial"/>
              </a:rPr>
              <a:t>other</a:t>
            </a:r>
            <a:r>
              <a:rPr sz="900" spc="-30" dirty="0">
                <a:latin typeface="Arial"/>
                <a:cs typeface="Arial"/>
              </a:rPr>
              <a:t> </a:t>
            </a:r>
            <a:r>
              <a:rPr sz="900" dirty="0">
                <a:latin typeface="Arial"/>
                <a:cs typeface="Arial"/>
              </a:rPr>
              <a:t>(possibly</a:t>
            </a:r>
            <a:r>
              <a:rPr sz="900" spc="-35" dirty="0">
                <a:latin typeface="Arial"/>
                <a:cs typeface="Arial"/>
              </a:rPr>
              <a:t> </a:t>
            </a:r>
            <a:r>
              <a:rPr sz="900" dirty="0">
                <a:latin typeface="Arial"/>
                <a:cs typeface="Arial"/>
              </a:rPr>
              <a:t>failed)</a:t>
            </a:r>
            <a:r>
              <a:rPr sz="900" spc="-30" dirty="0">
                <a:latin typeface="Arial"/>
                <a:cs typeface="Arial"/>
              </a:rPr>
              <a:t> </a:t>
            </a:r>
            <a:r>
              <a:rPr sz="900" spc="-10" dirty="0">
                <a:latin typeface="Arial"/>
                <a:cs typeface="Arial"/>
              </a:rPr>
              <a:t>processes</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Tree>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05694" y="-1515"/>
            <a:ext cx="54927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Distributed</a:t>
            </a:r>
            <a:r>
              <a:rPr sz="500" spc="-3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commit</a:t>
            </a:r>
            <a:endParaRPr sz="500">
              <a:latin typeface="Arial"/>
              <a:cs typeface="Arial"/>
            </a:endParaRPr>
          </a:p>
        </p:txBody>
      </p:sp>
      <p:sp>
        <p:nvSpPr>
          <p:cNvPr id="5" name="object 5"/>
          <p:cNvSpPr txBox="1"/>
          <p:nvPr/>
        </p:nvSpPr>
        <p:spPr>
          <a:xfrm>
            <a:off x="95300" y="197711"/>
            <a:ext cx="1494155" cy="3930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Coordinator</a:t>
            </a:r>
            <a:r>
              <a:rPr sz="1200" spc="-45" dirty="0">
                <a:solidFill>
                  <a:srgbClr val="3333B2"/>
                </a:solidFill>
                <a:latin typeface="Arial"/>
                <a:cs typeface="Arial"/>
              </a:rPr>
              <a:t> </a:t>
            </a:r>
            <a:r>
              <a:rPr sz="1200" dirty="0">
                <a:solidFill>
                  <a:srgbClr val="3333B2"/>
                </a:solidFill>
                <a:latin typeface="Arial"/>
                <a:cs typeface="Arial"/>
              </a:rPr>
              <a:t>in</a:t>
            </a:r>
            <a:r>
              <a:rPr sz="1200" spc="-40" dirty="0">
                <a:solidFill>
                  <a:srgbClr val="3333B2"/>
                </a:solidFill>
                <a:latin typeface="Arial"/>
                <a:cs typeface="Arial"/>
              </a:rPr>
              <a:t> </a:t>
            </a:r>
            <a:r>
              <a:rPr sz="1200" spc="-10" dirty="0">
                <a:solidFill>
                  <a:srgbClr val="3333B2"/>
                </a:solidFill>
                <a:latin typeface="Arial"/>
                <a:cs typeface="Arial"/>
              </a:rPr>
              <a:t>Python</a:t>
            </a:r>
            <a:endParaRPr sz="1200">
              <a:latin typeface="Arial"/>
              <a:cs typeface="Arial"/>
            </a:endParaRPr>
          </a:p>
          <a:p>
            <a:pPr marL="248920">
              <a:lnSpc>
                <a:spcPct val="100000"/>
              </a:lnSpc>
              <a:spcBef>
                <a:spcPts val="790"/>
              </a:spcBef>
            </a:pPr>
            <a:r>
              <a:rPr sz="400" dirty="0">
                <a:latin typeface="Times New Roman"/>
                <a:cs typeface="Times New Roman"/>
              </a:rPr>
              <a:t>1</a:t>
            </a:r>
            <a:r>
              <a:rPr sz="400" spc="370" dirty="0">
                <a:latin typeface="Times New Roman"/>
                <a:cs typeface="Times New Roman"/>
              </a:rPr>
              <a:t> </a:t>
            </a:r>
            <a:r>
              <a:rPr sz="550" b="1" spc="70" dirty="0">
                <a:solidFill>
                  <a:srgbClr val="FF0059"/>
                </a:solidFill>
                <a:latin typeface="Times New Roman"/>
                <a:cs typeface="Times New Roman"/>
              </a:rPr>
              <a:t>class</a:t>
            </a:r>
            <a:r>
              <a:rPr sz="550" b="1" spc="55" dirty="0">
                <a:solidFill>
                  <a:srgbClr val="FF0059"/>
                </a:solidFill>
                <a:latin typeface="Times New Roman"/>
                <a:cs typeface="Times New Roman"/>
              </a:rPr>
              <a:t> </a:t>
            </a:r>
            <a:r>
              <a:rPr sz="550" spc="35" dirty="0">
                <a:latin typeface="Times New Roman"/>
                <a:cs typeface="Times New Roman"/>
              </a:rPr>
              <a:t>Coordinator:</a:t>
            </a:r>
            <a:endParaRPr sz="550">
              <a:latin typeface="Times New Roman"/>
              <a:cs typeface="Times New Roman"/>
            </a:endParaRPr>
          </a:p>
        </p:txBody>
      </p:sp>
      <p:sp>
        <p:nvSpPr>
          <p:cNvPr id="6" name="object 6"/>
          <p:cNvSpPr txBox="1"/>
          <p:nvPr/>
        </p:nvSpPr>
        <p:spPr>
          <a:xfrm>
            <a:off x="301752" y="560725"/>
            <a:ext cx="86360" cy="1045844"/>
          </a:xfrm>
          <a:prstGeom prst="rect">
            <a:avLst/>
          </a:prstGeom>
        </p:spPr>
        <p:txBody>
          <a:bodyPr vert="horz" wrap="square" lIns="0" tIns="24765" rIns="0" bIns="0" rtlCol="0">
            <a:spAutoFit/>
          </a:bodyPr>
          <a:lstStyle/>
          <a:p>
            <a:pPr marL="42545">
              <a:lnSpc>
                <a:spcPct val="100000"/>
              </a:lnSpc>
              <a:spcBef>
                <a:spcPts val="195"/>
              </a:spcBef>
            </a:pPr>
            <a:r>
              <a:rPr sz="400" spc="35" dirty="0">
                <a:latin typeface="Times New Roman"/>
                <a:cs typeface="Times New Roman"/>
              </a:rPr>
              <a:t>2</a:t>
            </a:r>
            <a:endParaRPr sz="400">
              <a:latin typeface="Times New Roman"/>
              <a:cs typeface="Times New Roman"/>
            </a:endParaRPr>
          </a:p>
          <a:p>
            <a:pPr marL="42545">
              <a:lnSpc>
                <a:spcPct val="100000"/>
              </a:lnSpc>
              <a:spcBef>
                <a:spcPts val="90"/>
              </a:spcBef>
            </a:pPr>
            <a:r>
              <a:rPr sz="400" spc="35" dirty="0">
                <a:latin typeface="Times New Roman"/>
                <a:cs typeface="Times New Roman"/>
              </a:rPr>
              <a:t>3</a:t>
            </a:r>
            <a:endParaRPr sz="400">
              <a:latin typeface="Times New Roman"/>
              <a:cs typeface="Times New Roman"/>
            </a:endParaRPr>
          </a:p>
          <a:p>
            <a:pPr marL="42545">
              <a:lnSpc>
                <a:spcPct val="100000"/>
              </a:lnSpc>
              <a:spcBef>
                <a:spcPts val="95"/>
              </a:spcBef>
            </a:pPr>
            <a:r>
              <a:rPr sz="400" spc="35" dirty="0">
                <a:latin typeface="Times New Roman"/>
                <a:cs typeface="Times New Roman"/>
              </a:rPr>
              <a:t>4</a:t>
            </a:r>
            <a:endParaRPr sz="400">
              <a:latin typeface="Times New Roman"/>
              <a:cs typeface="Times New Roman"/>
            </a:endParaRPr>
          </a:p>
          <a:p>
            <a:pPr marL="42545">
              <a:lnSpc>
                <a:spcPct val="100000"/>
              </a:lnSpc>
              <a:spcBef>
                <a:spcPts val="95"/>
              </a:spcBef>
            </a:pPr>
            <a:r>
              <a:rPr sz="400" spc="35" dirty="0">
                <a:latin typeface="Times New Roman"/>
                <a:cs typeface="Times New Roman"/>
              </a:rPr>
              <a:t>5</a:t>
            </a:r>
            <a:endParaRPr sz="400">
              <a:latin typeface="Times New Roman"/>
              <a:cs typeface="Times New Roman"/>
            </a:endParaRPr>
          </a:p>
          <a:p>
            <a:pPr marL="42545">
              <a:lnSpc>
                <a:spcPct val="100000"/>
              </a:lnSpc>
              <a:spcBef>
                <a:spcPts val="95"/>
              </a:spcBef>
            </a:pPr>
            <a:r>
              <a:rPr sz="400" spc="35" dirty="0">
                <a:latin typeface="Times New Roman"/>
                <a:cs typeface="Times New Roman"/>
              </a:rPr>
              <a:t>6</a:t>
            </a:r>
            <a:endParaRPr sz="400">
              <a:latin typeface="Times New Roman"/>
              <a:cs typeface="Times New Roman"/>
            </a:endParaRPr>
          </a:p>
          <a:p>
            <a:pPr marL="42545">
              <a:lnSpc>
                <a:spcPct val="100000"/>
              </a:lnSpc>
              <a:spcBef>
                <a:spcPts val="90"/>
              </a:spcBef>
            </a:pPr>
            <a:r>
              <a:rPr sz="400" spc="35" dirty="0">
                <a:latin typeface="Times New Roman"/>
                <a:cs typeface="Times New Roman"/>
              </a:rPr>
              <a:t>7</a:t>
            </a:r>
            <a:endParaRPr sz="400">
              <a:latin typeface="Times New Roman"/>
              <a:cs typeface="Times New Roman"/>
            </a:endParaRPr>
          </a:p>
          <a:p>
            <a:pPr marL="42545">
              <a:lnSpc>
                <a:spcPct val="100000"/>
              </a:lnSpc>
              <a:spcBef>
                <a:spcPts val="95"/>
              </a:spcBef>
            </a:pPr>
            <a:r>
              <a:rPr sz="400" spc="35" dirty="0">
                <a:latin typeface="Times New Roman"/>
                <a:cs typeface="Times New Roman"/>
              </a:rPr>
              <a:t>8</a:t>
            </a:r>
            <a:endParaRPr sz="400">
              <a:latin typeface="Times New Roman"/>
              <a:cs typeface="Times New Roman"/>
            </a:endParaRPr>
          </a:p>
          <a:p>
            <a:pPr marL="42545">
              <a:lnSpc>
                <a:spcPct val="100000"/>
              </a:lnSpc>
              <a:spcBef>
                <a:spcPts val="95"/>
              </a:spcBef>
            </a:pPr>
            <a:r>
              <a:rPr sz="400" spc="35" dirty="0">
                <a:latin typeface="Times New Roman"/>
                <a:cs typeface="Times New Roman"/>
              </a:rPr>
              <a:t>9</a:t>
            </a:r>
            <a:endParaRPr sz="400">
              <a:latin typeface="Times New Roman"/>
              <a:cs typeface="Times New Roman"/>
            </a:endParaRPr>
          </a:p>
          <a:p>
            <a:pPr marL="12700">
              <a:lnSpc>
                <a:spcPct val="100000"/>
              </a:lnSpc>
              <a:spcBef>
                <a:spcPts val="95"/>
              </a:spcBef>
            </a:pPr>
            <a:r>
              <a:rPr sz="400" spc="-25" dirty="0">
                <a:latin typeface="Times New Roman"/>
                <a:cs typeface="Times New Roman"/>
              </a:rPr>
              <a:t>10</a:t>
            </a:r>
            <a:endParaRPr sz="400">
              <a:latin typeface="Times New Roman"/>
              <a:cs typeface="Times New Roman"/>
            </a:endParaRPr>
          </a:p>
          <a:p>
            <a:pPr marL="12700">
              <a:lnSpc>
                <a:spcPct val="100000"/>
              </a:lnSpc>
              <a:spcBef>
                <a:spcPts val="90"/>
              </a:spcBef>
            </a:pPr>
            <a:r>
              <a:rPr sz="400" spc="-25" dirty="0">
                <a:latin typeface="Times New Roman"/>
                <a:cs typeface="Times New Roman"/>
              </a:rPr>
              <a:t>11</a:t>
            </a:r>
            <a:endParaRPr sz="400">
              <a:latin typeface="Times New Roman"/>
              <a:cs typeface="Times New Roman"/>
            </a:endParaRPr>
          </a:p>
          <a:p>
            <a:pPr marL="12700">
              <a:lnSpc>
                <a:spcPct val="100000"/>
              </a:lnSpc>
              <a:spcBef>
                <a:spcPts val="95"/>
              </a:spcBef>
            </a:pPr>
            <a:r>
              <a:rPr sz="400" spc="-25" dirty="0">
                <a:latin typeface="Times New Roman"/>
                <a:cs typeface="Times New Roman"/>
              </a:rPr>
              <a:t>12</a:t>
            </a:r>
            <a:endParaRPr sz="400">
              <a:latin typeface="Times New Roman"/>
              <a:cs typeface="Times New Roman"/>
            </a:endParaRPr>
          </a:p>
          <a:p>
            <a:pPr marL="12700">
              <a:lnSpc>
                <a:spcPct val="100000"/>
              </a:lnSpc>
              <a:spcBef>
                <a:spcPts val="95"/>
              </a:spcBef>
            </a:pPr>
            <a:r>
              <a:rPr sz="400" spc="-25" dirty="0">
                <a:latin typeface="Times New Roman"/>
                <a:cs typeface="Times New Roman"/>
              </a:rPr>
              <a:t>13</a:t>
            </a:r>
            <a:endParaRPr sz="400">
              <a:latin typeface="Times New Roman"/>
              <a:cs typeface="Times New Roman"/>
            </a:endParaRPr>
          </a:p>
          <a:p>
            <a:pPr marL="12700">
              <a:lnSpc>
                <a:spcPct val="100000"/>
              </a:lnSpc>
              <a:spcBef>
                <a:spcPts val="95"/>
              </a:spcBef>
            </a:pPr>
            <a:r>
              <a:rPr sz="400" spc="-25" dirty="0">
                <a:latin typeface="Times New Roman"/>
                <a:cs typeface="Times New Roman"/>
              </a:rPr>
              <a:t>14</a:t>
            </a:r>
            <a:endParaRPr sz="400">
              <a:latin typeface="Times New Roman"/>
              <a:cs typeface="Times New Roman"/>
            </a:endParaRPr>
          </a:p>
          <a:p>
            <a:pPr marL="12700">
              <a:lnSpc>
                <a:spcPct val="100000"/>
              </a:lnSpc>
              <a:spcBef>
                <a:spcPts val="95"/>
              </a:spcBef>
            </a:pPr>
            <a:r>
              <a:rPr sz="400" spc="-25" dirty="0">
                <a:latin typeface="Times New Roman"/>
                <a:cs typeface="Times New Roman"/>
              </a:rPr>
              <a:t>15</a:t>
            </a:r>
            <a:endParaRPr sz="400">
              <a:latin typeface="Times New Roman"/>
              <a:cs typeface="Times New Roman"/>
            </a:endParaRPr>
          </a:p>
        </p:txBody>
      </p:sp>
      <p:sp>
        <p:nvSpPr>
          <p:cNvPr id="7" name="object 7"/>
          <p:cNvSpPr txBox="1"/>
          <p:nvPr/>
        </p:nvSpPr>
        <p:spPr>
          <a:xfrm>
            <a:off x="488756" y="552627"/>
            <a:ext cx="2266315" cy="1057910"/>
          </a:xfrm>
          <a:prstGeom prst="rect">
            <a:avLst/>
          </a:prstGeom>
        </p:spPr>
        <p:txBody>
          <a:bodyPr vert="horz" wrap="square" lIns="0" tIns="13335" rIns="0" bIns="0" rtlCol="0">
            <a:spAutoFit/>
          </a:bodyPr>
          <a:lstStyle/>
          <a:p>
            <a:pPr marL="12700">
              <a:lnSpc>
                <a:spcPts val="615"/>
              </a:lnSpc>
              <a:spcBef>
                <a:spcPts val="105"/>
              </a:spcBef>
            </a:pPr>
            <a:r>
              <a:rPr sz="550" b="1" spc="55" dirty="0">
                <a:solidFill>
                  <a:srgbClr val="FF0059"/>
                </a:solidFill>
                <a:latin typeface="Times New Roman"/>
                <a:cs typeface="Times New Roman"/>
              </a:rPr>
              <a:t>def</a:t>
            </a:r>
            <a:r>
              <a:rPr sz="550" b="1" spc="65" dirty="0">
                <a:solidFill>
                  <a:srgbClr val="FF0059"/>
                </a:solidFill>
                <a:latin typeface="Times New Roman"/>
                <a:cs typeface="Times New Roman"/>
              </a:rPr>
              <a:t> </a:t>
            </a:r>
            <a:r>
              <a:rPr sz="550" spc="65" dirty="0">
                <a:latin typeface="Times New Roman"/>
                <a:cs typeface="Times New Roman"/>
              </a:rPr>
              <a:t>run(self):</a:t>
            </a:r>
            <a:endParaRPr sz="550">
              <a:latin typeface="Times New Roman"/>
              <a:cs typeface="Times New Roman"/>
            </a:endParaRPr>
          </a:p>
          <a:p>
            <a:pPr marL="82550" marR="429895" indent="-635">
              <a:lnSpc>
                <a:spcPts val="570"/>
              </a:lnSpc>
              <a:spcBef>
                <a:spcPts val="50"/>
              </a:spcBef>
            </a:pPr>
            <a:r>
              <a:rPr sz="550" dirty="0">
                <a:latin typeface="Times New Roman"/>
                <a:cs typeface="Times New Roman"/>
              </a:rPr>
              <a:t>yetToReceive</a:t>
            </a:r>
            <a:r>
              <a:rPr sz="550" spc="240" dirty="0">
                <a:latin typeface="Times New Roman"/>
                <a:cs typeface="Times New Roman"/>
              </a:rPr>
              <a:t> </a:t>
            </a:r>
            <a:r>
              <a:rPr sz="550" dirty="0">
                <a:latin typeface="Times New Roman"/>
                <a:cs typeface="Times New Roman"/>
              </a:rPr>
              <a:t>=</a:t>
            </a:r>
            <a:r>
              <a:rPr sz="550" spc="250" dirty="0">
                <a:latin typeface="Times New Roman"/>
                <a:cs typeface="Times New Roman"/>
              </a:rPr>
              <a:t> </a:t>
            </a:r>
            <a:r>
              <a:rPr sz="550" b="1" spc="70" dirty="0">
                <a:solidFill>
                  <a:srgbClr val="FF0059"/>
                </a:solidFill>
                <a:latin typeface="Times New Roman"/>
                <a:cs typeface="Times New Roman"/>
              </a:rPr>
              <a:t>list</a:t>
            </a:r>
            <a:r>
              <a:rPr sz="550" spc="70" dirty="0">
                <a:latin typeface="Times New Roman"/>
                <a:cs typeface="Times New Roman"/>
              </a:rPr>
              <a:t>(self.participants) </a:t>
            </a:r>
            <a:r>
              <a:rPr sz="550" spc="-10" dirty="0">
                <a:latin typeface="Times New Roman"/>
                <a:cs typeface="Times New Roman"/>
              </a:rPr>
              <a:t>self.log.info(</a:t>
            </a:r>
            <a:r>
              <a:rPr sz="550" spc="-10" dirty="0">
                <a:solidFill>
                  <a:srgbClr val="C80000"/>
                </a:solidFill>
                <a:latin typeface="Times New Roman"/>
                <a:cs typeface="Times New Roman"/>
              </a:rPr>
              <a:t>’WAIT’</a:t>
            </a:r>
            <a:r>
              <a:rPr sz="550" spc="-10" dirty="0">
                <a:latin typeface="Times New Roman"/>
                <a:cs typeface="Times New Roman"/>
              </a:rPr>
              <a:t>)</a:t>
            </a:r>
            <a:r>
              <a:rPr sz="550" spc="500" dirty="0">
                <a:latin typeface="Times New Roman"/>
                <a:cs typeface="Times New Roman"/>
              </a:rPr>
              <a:t>  </a:t>
            </a:r>
            <a:r>
              <a:rPr sz="550" spc="60" dirty="0">
                <a:latin typeface="Times New Roman"/>
                <a:cs typeface="Times New Roman"/>
              </a:rPr>
              <a:t>self.chan.sendTo(self.participants,</a:t>
            </a:r>
            <a:r>
              <a:rPr sz="550" spc="150" dirty="0">
                <a:latin typeface="Times New Roman"/>
                <a:cs typeface="Times New Roman"/>
              </a:rPr>
              <a:t> </a:t>
            </a:r>
            <a:r>
              <a:rPr sz="550" spc="-55" dirty="0">
                <a:latin typeface="Times New Roman"/>
                <a:cs typeface="Times New Roman"/>
              </a:rPr>
              <a:t>VOTE_REQUEST)</a:t>
            </a:r>
            <a:r>
              <a:rPr sz="550" spc="500" dirty="0">
                <a:latin typeface="Times New Roman"/>
                <a:cs typeface="Times New Roman"/>
              </a:rPr>
              <a:t> </a:t>
            </a:r>
            <a:r>
              <a:rPr sz="550" b="1" dirty="0">
                <a:solidFill>
                  <a:srgbClr val="FF0059"/>
                </a:solidFill>
                <a:latin typeface="Times New Roman"/>
                <a:cs typeface="Times New Roman"/>
              </a:rPr>
              <a:t>while</a:t>
            </a:r>
            <a:r>
              <a:rPr sz="550" b="1" spc="315" dirty="0">
                <a:solidFill>
                  <a:srgbClr val="FF0059"/>
                </a:solidFill>
                <a:latin typeface="Times New Roman"/>
                <a:cs typeface="Times New Roman"/>
              </a:rPr>
              <a:t> </a:t>
            </a:r>
            <a:r>
              <a:rPr sz="550" b="1" dirty="0">
                <a:solidFill>
                  <a:srgbClr val="FF0059"/>
                </a:solidFill>
                <a:latin typeface="Times New Roman"/>
                <a:cs typeface="Times New Roman"/>
              </a:rPr>
              <a:t>len</a:t>
            </a:r>
            <a:r>
              <a:rPr sz="550" dirty="0">
                <a:latin typeface="Times New Roman"/>
                <a:cs typeface="Times New Roman"/>
              </a:rPr>
              <a:t>(yetToReceive)</a:t>
            </a:r>
            <a:r>
              <a:rPr sz="550" spc="360" dirty="0">
                <a:latin typeface="Times New Roman"/>
                <a:cs typeface="Times New Roman"/>
              </a:rPr>
              <a:t> </a:t>
            </a:r>
            <a:r>
              <a:rPr sz="550" dirty="0">
                <a:latin typeface="Times New Roman"/>
                <a:cs typeface="Times New Roman"/>
              </a:rPr>
              <a:t>&gt;</a:t>
            </a:r>
            <a:r>
              <a:rPr sz="550" spc="390" dirty="0">
                <a:latin typeface="Times New Roman"/>
                <a:cs typeface="Times New Roman"/>
              </a:rPr>
              <a:t> </a:t>
            </a:r>
            <a:r>
              <a:rPr sz="550" spc="70" dirty="0">
                <a:latin typeface="Times New Roman"/>
                <a:cs typeface="Times New Roman"/>
              </a:rPr>
              <a:t>0:</a:t>
            </a:r>
            <a:endParaRPr sz="550">
              <a:latin typeface="Times New Roman"/>
              <a:cs typeface="Times New Roman"/>
            </a:endParaRPr>
          </a:p>
          <a:p>
            <a:pPr marL="154305">
              <a:lnSpc>
                <a:spcPts val="540"/>
              </a:lnSpc>
            </a:pPr>
            <a:r>
              <a:rPr sz="550" dirty="0">
                <a:latin typeface="Times New Roman"/>
                <a:cs typeface="Times New Roman"/>
              </a:rPr>
              <a:t>msg</a:t>
            </a:r>
            <a:r>
              <a:rPr sz="550" spc="60" dirty="0">
                <a:latin typeface="Times New Roman"/>
                <a:cs typeface="Times New Roman"/>
              </a:rPr>
              <a:t> </a:t>
            </a:r>
            <a:r>
              <a:rPr sz="550" dirty="0">
                <a:latin typeface="Times New Roman"/>
                <a:cs typeface="Times New Roman"/>
              </a:rPr>
              <a:t>=</a:t>
            </a:r>
            <a:r>
              <a:rPr sz="550" spc="65" dirty="0">
                <a:latin typeface="Times New Roman"/>
                <a:cs typeface="Times New Roman"/>
              </a:rPr>
              <a:t> </a:t>
            </a:r>
            <a:r>
              <a:rPr sz="550" spc="60" dirty="0">
                <a:latin typeface="Times New Roman"/>
                <a:cs typeface="Times New Roman"/>
              </a:rPr>
              <a:t>self.chan.recvFrom(self.participants,</a:t>
            </a:r>
            <a:r>
              <a:rPr sz="550" spc="70" dirty="0">
                <a:latin typeface="Times New Roman"/>
                <a:cs typeface="Times New Roman"/>
              </a:rPr>
              <a:t> </a:t>
            </a:r>
            <a:r>
              <a:rPr sz="550" spc="-40" dirty="0">
                <a:latin typeface="Times New Roman"/>
                <a:cs typeface="Times New Roman"/>
              </a:rPr>
              <a:t>BLOCK,</a:t>
            </a:r>
            <a:r>
              <a:rPr sz="550" spc="65" dirty="0">
                <a:latin typeface="Times New Roman"/>
                <a:cs typeface="Times New Roman"/>
              </a:rPr>
              <a:t> </a:t>
            </a:r>
            <a:r>
              <a:rPr sz="550" spc="-30" dirty="0">
                <a:latin typeface="Times New Roman"/>
                <a:cs typeface="Times New Roman"/>
              </a:rPr>
              <a:t>TIMEOUT)</a:t>
            </a:r>
            <a:endParaRPr sz="550">
              <a:latin typeface="Times New Roman"/>
              <a:cs typeface="Times New Roman"/>
            </a:endParaRPr>
          </a:p>
          <a:p>
            <a:pPr marL="224154" marR="288290" indent="-69850">
              <a:lnSpc>
                <a:spcPts val="570"/>
              </a:lnSpc>
              <a:spcBef>
                <a:spcPts val="55"/>
              </a:spcBef>
            </a:pPr>
            <a:r>
              <a:rPr sz="550" b="1" spc="145" dirty="0">
                <a:solidFill>
                  <a:srgbClr val="FF0059"/>
                </a:solidFill>
                <a:latin typeface="Times New Roman"/>
                <a:cs typeface="Times New Roman"/>
              </a:rPr>
              <a:t>if</a:t>
            </a:r>
            <a:r>
              <a:rPr sz="550" b="1" spc="95" dirty="0">
                <a:solidFill>
                  <a:srgbClr val="FF0059"/>
                </a:solidFill>
                <a:latin typeface="Times New Roman"/>
                <a:cs typeface="Times New Roman"/>
              </a:rPr>
              <a:t> </a:t>
            </a:r>
            <a:r>
              <a:rPr sz="550" dirty="0">
                <a:latin typeface="Times New Roman"/>
                <a:cs typeface="Times New Roman"/>
              </a:rPr>
              <a:t>msg</a:t>
            </a:r>
            <a:r>
              <a:rPr sz="550" spc="100" dirty="0">
                <a:latin typeface="Times New Roman"/>
                <a:cs typeface="Times New Roman"/>
              </a:rPr>
              <a:t> </a:t>
            </a:r>
            <a:r>
              <a:rPr sz="550" dirty="0">
                <a:latin typeface="Times New Roman"/>
                <a:cs typeface="Times New Roman"/>
              </a:rPr>
              <a:t>==</a:t>
            </a:r>
            <a:r>
              <a:rPr sz="550" spc="80" dirty="0">
                <a:latin typeface="Times New Roman"/>
                <a:cs typeface="Times New Roman"/>
              </a:rPr>
              <a:t> </a:t>
            </a:r>
            <a:r>
              <a:rPr sz="550" spc="120" dirty="0">
                <a:latin typeface="Times New Roman"/>
                <a:cs typeface="Times New Roman"/>
              </a:rPr>
              <a:t>-</a:t>
            </a:r>
            <a:r>
              <a:rPr sz="550" spc="55" dirty="0">
                <a:latin typeface="Times New Roman"/>
                <a:cs typeface="Times New Roman"/>
              </a:rPr>
              <a:t>1</a:t>
            </a:r>
            <a:r>
              <a:rPr sz="550" spc="110" dirty="0">
                <a:latin typeface="Times New Roman"/>
                <a:cs typeface="Times New Roman"/>
              </a:rPr>
              <a:t> </a:t>
            </a:r>
            <a:r>
              <a:rPr sz="550" b="1" spc="50" dirty="0">
                <a:solidFill>
                  <a:srgbClr val="FF0059"/>
                </a:solidFill>
                <a:latin typeface="Times New Roman"/>
                <a:cs typeface="Times New Roman"/>
              </a:rPr>
              <a:t>or</a:t>
            </a:r>
            <a:r>
              <a:rPr sz="550" b="1" spc="110" dirty="0">
                <a:solidFill>
                  <a:srgbClr val="FF0059"/>
                </a:solidFill>
                <a:latin typeface="Times New Roman"/>
                <a:cs typeface="Times New Roman"/>
              </a:rPr>
              <a:t> </a:t>
            </a:r>
            <a:r>
              <a:rPr sz="550" dirty="0">
                <a:latin typeface="Times New Roman"/>
                <a:cs typeface="Times New Roman"/>
              </a:rPr>
              <a:t>(msg[1]</a:t>
            </a:r>
            <a:r>
              <a:rPr sz="550" spc="100" dirty="0">
                <a:latin typeface="Times New Roman"/>
                <a:cs typeface="Times New Roman"/>
              </a:rPr>
              <a:t> </a:t>
            </a:r>
            <a:r>
              <a:rPr sz="550" dirty="0">
                <a:latin typeface="Times New Roman"/>
                <a:cs typeface="Times New Roman"/>
              </a:rPr>
              <a:t>==</a:t>
            </a:r>
            <a:r>
              <a:rPr sz="550" spc="90" dirty="0">
                <a:latin typeface="Times New Roman"/>
                <a:cs typeface="Times New Roman"/>
              </a:rPr>
              <a:t> </a:t>
            </a:r>
            <a:r>
              <a:rPr sz="550" spc="-10" dirty="0">
                <a:latin typeface="Times New Roman"/>
                <a:cs typeface="Times New Roman"/>
              </a:rPr>
              <a:t>VOTE_ABORT):</a:t>
            </a:r>
            <a:r>
              <a:rPr sz="550" spc="500" dirty="0">
                <a:latin typeface="Times New Roman"/>
                <a:cs typeface="Times New Roman"/>
              </a:rPr>
              <a:t> </a:t>
            </a:r>
            <a:r>
              <a:rPr sz="550" spc="-10" dirty="0">
                <a:latin typeface="Times New Roman"/>
                <a:cs typeface="Times New Roman"/>
              </a:rPr>
              <a:t>self.log.info(</a:t>
            </a:r>
            <a:r>
              <a:rPr sz="550" spc="-10" dirty="0">
                <a:solidFill>
                  <a:srgbClr val="C80000"/>
                </a:solidFill>
                <a:latin typeface="Times New Roman"/>
                <a:cs typeface="Times New Roman"/>
              </a:rPr>
              <a:t>’ABORT’</a:t>
            </a:r>
            <a:r>
              <a:rPr sz="550" spc="-10" dirty="0">
                <a:latin typeface="Times New Roman"/>
                <a:cs typeface="Times New Roman"/>
              </a:rPr>
              <a:t>)</a:t>
            </a:r>
            <a:r>
              <a:rPr sz="550" spc="500" dirty="0">
                <a:latin typeface="Times New Roman"/>
                <a:cs typeface="Times New Roman"/>
              </a:rPr>
              <a:t>  </a:t>
            </a:r>
            <a:r>
              <a:rPr sz="550" spc="60" dirty="0">
                <a:latin typeface="Times New Roman"/>
                <a:cs typeface="Times New Roman"/>
              </a:rPr>
              <a:t>self.chan.sendTo(self.participants,</a:t>
            </a:r>
            <a:r>
              <a:rPr sz="550" spc="150" dirty="0">
                <a:latin typeface="Times New Roman"/>
                <a:cs typeface="Times New Roman"/>
              </a:rPr>
              <a:t> </a:t>
            </a:r>
            <a:r>
              <a:rPr sz="550" spc="-65" dirty="0">
                <a:latin typeface="Times New Roman"/>
                <a:cs typeface="Times New Roman"/>
              </a:rPr>
              <a:t>GLOBAL_ABORT)</a:t>
            </a:r>
            <a:r>
              <a:rPr sz="550" spc="500" dirty="0">
                <a:latin typeface="Times New Roman"/>
                <a:cs typeface="Times New Roman"/>
              </a:rPr>
              <a:t> </a:t>
            </a:r>
            <a:r>
              <a:rPr sz="550" b="1" spc="-10" dirty="0">
                <a:solidFill>
                  <a:srgbClr val="FF0059"/>
                </a:solidFill>
                <a:latin typeface="Times New Roman"/>
                <a:cs typeface="Times New Roman"/>
              </a:rPr>
              <a:t>return</a:t>
            </a:r>
            <a:endParaRPr sz="550">
              <a:latin typeface="Times New Roman"/>
              <a:cs typeface="Times New Roman"/>
            </a:endParaRPr>
          </a:p>
          <a:p>
            <a:pPr marL="153670">
              <a:lnSpc>
                <a:spcPts val="540"/>
              </a:lnSpc>
            </a:pPr>
            <a:r>
              <a:rPr sz="550" b="1" spc="90" dirty="0">
                <a:solidFill>
                  <a:srgbClr val="FF0059"/>
                </a:solidFill>
                <a:latin typeface="Times New Roman"/>
                <a:cs typeface="Times New Roman"/>
              </a:rPr>
              <a:t>else</a:t>
            </a:r>
            <a:r>
              <a:rPr sz="550" spc="90" dirty="0">
                <a:latin typeface="Times New Roman"/>
                <a:cs typeface="Times New Roman"/>
              </a:rPr>
              <a:t>:</a:t>
            </a:r>
            <a:r>
              <a:rPr sz="550" spc="105" dirty="0">
                <a:latin typeface="Times New Roman"/>
                <a:cs typeface="Times New Roman"/>
              </a:rPr>
              <a:t> </a:t>
            </a:r>
            <a:r>
              <a:rPr sz="550" i="1" spc="55" dirty="0">
                <a:solidFill>
                  <a:srgbClr val="009600"/>
                </a:solidFill>
                <a:latin typeface="Times New Roman"/>
                <a:cs typeface="Times New Roman"/>
              </a:rPr>
              <a:t>#</a:t>
            </a:r>
            <a:r>
              <a:rPr sz="550" i="1" spc="90" dirty="0">
                <a:solidFill>
                  <a:srgbClr val="009600"/>
                </a:solidFill>
                <a:latin typeface="Times New Roman"/>
                <a:cs typeface="Times New Roman"/>
              </a:rPr>
              <a:t> </a:t>
            </a:r>
            <a:r>
              <a:rPr sz="550" i="1" dirty="0">
                <a:solidFill>
                  <a:srgbClr val="009600"/>
                </a:solidFill>
                <a:latin typeface="Times New Roman"/>
                <a:cs typeface="Times New Roman"/>
              </a:rPr>
              <a:t>msg[1]</a:t>
            </a:r>
            <a:r>
              <a:rPr sz="550" i="1" spc="85" dirty="0">
                <a:solidFill>
                  <a:srgbClr val="009600"/>
                </a:solidFill>
                <a:latin typeface="Times New Roman"/>
                <a:cs typeface="Times New Roman"/>
              </a:rPr>
              <a:t> </a:t>
            </a:r>
            <a:r>
              <a:rPr sz="550" i="1" spc="-30" dirty="0">
                <a:solidFill>
                  <a:srgbClr val="009600"/>
                </a:solidFill>
                <a:latin typeface="Times New Roman"/>
                <a:cs typeface="Times New Roman"/>
              </a:rPr>
              <a:t>==</a:t>
            </a:r>
            <a:r>
              <a:rPr sz="550" i="1" spc="70" dirty="0">
                <a:solidFill>
                  <a:srgbClr val="009600"/>
                </a:solidFill>
                <a:latin typeface="Times New Roman"/>
                <a:cs typeface="Times New Roman"/>
              </a:rPr>
              <a:t> </a:t>
            </a:r>
            <a:r>
              <a:rPr sz="550" i="1" spc="-10" dirty="0">
                <a:solidFill>
                  <a:srgbClr val="009600"/>
                </a:solidFill>
                <a:latin typeface="Times New Roman"/>
                <a:cs typeface="Times New Roman"/>
              </a:rPr>
              <a:t>VOTE_COMMIT</a:t>
            </a:r>
            <a:endParaRPr sz="550">
              <a:latin typeface="Times New Roman"/>
              <a:cs typeface="Times New Roman"/>
            </a:endParaRPr>
          </a:p>
          <a:p>
            <a:pPr marL="83185" marR="394335" indent="140335">
              <a:lnSpc>
                <a:spcPts val="570"/>
              </a:lnSpc>
              <a:spcBef>
                <a:spcPts val="50"/>
              </a:spcBef>
            </a:pPr>
            <a:r>
              <a:rPr sz="550" spc="-10" dirty="0">
                <a:latin typeface="Times New Roman"/>
                <a:cs typeface="Times New Roman"/>
              </a:rPr>
              <a:t>yetToReceive.remove(msg[0])</a:t>
            </a:r>
            <a:r>
              <a:rPr sz="550" spc="500" dirty="0">
                <a:latin typeface="Times New Roman"/>
                <a:cs typeface="Times New Roman"/>
              </a:rPr>
              <a:t>  </a:t>
            </a:r>
            <a:r>
              <a:rPr sz="550" spc="-10" dirty="0">
                <a:latin typeface="Times New Roman"/>
                <a:cs typeface="Times New Roman"/>
              </a:rPr>
              <a:t>self.log.info(</a:t>
            </a:r>
            <a:r>
              <a:rPr sz="550" spc="-10" dirty="0">
                <a:solidFill>
                  <a:srgbClr val="C80000"/>
                </a:solidFill>
                <a:latin typeface="Times New Roman"/>
                <a:cs typeface="Times New Roman"/>
              </a:rPr>
              <a:t>’COMMIT’</a:t>
            </a:r>
            <a:r>
              <a:rPr sz="550" spc="-10" dirty="0">
                <a:latin typeface="Times New Roman"/>
                <a:cs typeface="Times New Roman"/>
              </a:rPr>
              <a:t>)</a:t>
            </a:r>
            <a:r>
              <a:rPr sz="550" spc="500" dirty="0">
                <a:latin typeface="Times New Roman"/>
                <a:cs typeface="Times New Roman"/>
              </a:rPr>
              <a:t> </a:t>
            </a:r>
            <a:r>
              <a:rPr sz="550" spc="60" dirty="0">
                <a:latin typeface="Times New Roman"/>
                <a:cs typeface="Times New Roman"/>
              </a:rPr>
              <a:t>self.chan.sendTo(self.participants,</a:t>
            </a:r>
            <a:r>
              <a:rPr sz="550" spc="150" dirty="0">
                <a:latin typeface="Times New Roman"/>
                <a:cs typeface="Times New Roman"/>
              </a:rPr>
              <a:t> </a:t>
            </a:r>
            <a:r>
              <a:rPr sz="550" spc="-70" dirty="0">
                <a:latin typeface="Times New Roman"/>
                <a:cs typeface="Times New Roman"/>
              </a:rPr>
              <a:t>GLOBAL_COMMIT)</a:t>
            </a:r>
            <a:endParaRPr sz="550">
              <a:latin typeface="Times New Roman"/>
              <a:cs typeface="Times New Roman"/>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Tree>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05694" y="-1515"/>
            <a:ext cx="54927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Distributed</a:t>
            </a:r>
            <a:r>
              <a:rPr sz="500" spc="-3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commit</a:t>
            </a:r>
            <a:endParaRPr sz="500">
              <a:latin typeface="Arial"/>
              <a:cs typeface="Arial"/>
            </a:endParaRPr>
          </a:p>
        </p:txBody>
      </p:sp>
      <p:sp>
        <p:nvSpPr>
          <p:cNvPr id="5" name="object 5"/>
          <p:cNvSpPr txBox="1"/>
          <p:nvPr/>
        </p:nvSpPr>
        <p:spPr>
          <a:xfrm>
            <a:off x="95300" y="197711"/>
            <a:ext cx="1417955" cy="3930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Participant</a:t>
            </a:r>
            <a:r>
              <a:rPr sz="1200" spc="-45" dirty="0">
                <a:solidFill>
                  <a:srgbClr val="3333B2"/>
                </a:solidFill>
                <a:latin typeface="Arial"/>
                <a:cs typeface="Arial"/>
              </a:rPr>
              <a:t> </a:t>
            </a:r>
            <a:r>
              <a:rPr sz="1200" dirty="0">
                <a:solidFill>
                  <a:srgbClr val="3333B2"/>
                </a:solidFill>
                <a:latin typeface="Arial"/>
                <a:cs typeface="Arial"/>
              </a:rPr>
              <a:t>in</a:t>
            </a:r>
            <a:r>
              <a:rPr sz="1200" spc="-40" dirty="0">
                <a:solidFill>
                  <a:srgbClr val="3333B2"/>
                </a:solidFill>
                <a:latin typeface="Arial"/>
                <a:cs typeface="Arial"/>
              </a:rPr>
              <a:t> </a:t>
            </a:r>
            <a:r>
              <a:rPr sz="1200" spc="-10" dirty="0">
                <a:solidFill>
                  <a:srgbClr val="3333B2"/>
                </a:solidFill>
                <a:latin typeface="Arial"/>
                <a:cs typeface="Arial"/>
              </a:rPr>
              <a:t>Python</a:t>
            </a:r>
            <a:endParaRPr sz="1200">
              <a:latin typeface="Arial"/>
              <a:cs typeface="Arial"/>
            </a:endParaRPr>
          </a:p>
          <a:p>
            <a:pPr marL="248920">
              <a:lnSpc>
                <a:spcPct val="100000"/>
              </a:lnSpc>
              <a:spcBef>
                <a:spcPts val="790"/>
              </a:spcBef>
            </a:pPr>
            <a:r>
              <a:rPr sz="400" dirty="0">
                <a:latin typeface="Times New Roman"/>
                <a:cs typeface="Times New Roman"/>
              </a:rPr>
              <a:t>1</a:t>
            </a:r>
            <a:r>
              <a:rPr sz="400" spc="370" dirty="0">
                <a:latin typeface="Times New Roman"/>
                <a:cs typeface="Times New Roman"/>
              </a:rPr>
              <a:t> </a:t>
            </a:r>
            <a:r>
              <a:rPr sz="550" b="1" spc="70" dirty="0">
                <a:solidFill>
                  <a:srgbClr val="FF0059"/>
                </a:solidFill>
                <a:latin typeface="Times New Roman"/>
                <a:cs typeface="Times New Roman"/>
              </a:rPr>
              <a:t>class</a:t>
            </a:r>
            <a:r>
              <a:rPr sz="550" b="1" spc="55" dirty="0">
                <a:solidFill>
                  <a:srgbClr val="FF0059"/>
                </a:solidFill>
                <a:latin typeface="Times New Roman"/>
                <a:cs typeface="Times New Roman"/>
              </a:rPr>
              <a:t> </a:t>
            </a:r>
            <a:r>
              <a:rPr sz="550" spc="60" dirty="0">
                <a:latin typeface="Times New Roman"/>
                <a:cs typeface="Times New Roman"/>
              </a:rPr>
              <a:t>Participant:</a:t>
            </a:r>
            <a:endParaRPr sz="550">
              <a:latin typeface="Times New Roman"/>
              <a:cs typeface="Times New Roman"/>
            </a:endParaRPr>
          </a:p>
        </p:txBody>
      </p:sp>
      <p:sp>
        <p:nvSpPr>
          <p:cNvPr id="6" name="object 6"/>
          <p:cNvSpPr txBox="1"/>
          <p:nvPr/>
        </p:nvSpPr>
        <p:spPr>
          <a:xfrm>
            <a:off x="301752" y="560733"/>
            <a:ext cx="86360" cy="2357755"/>
          </a:xfrm>
          <a:prstGeom prst="rect">
            <a:avLst/>
          </a:prstGeom>
        </p:spPr>
        <p:txBody>
          <a:bodyPr vert="horz" wrap="square" lIns="0" tIns="24765" rIns="0" bIns="0" rtlCol="0">
            <a:spAutoFit/>
          </a:bodyPr>
          <a:lstStyle/>
          <a:p>
            <a:pPr marL="42545">
              <a:lnSpc>
                <a:spcPct val="100000"/>
              </a:lnSpc>
              <a:spcBef>
                <a:spcPts val="195"/>
              </a:spcBef>
            </a:pPr>
            <a:r>
              <a:rPr sz="400" spc="35" dirty="0">
                <a:latin typeface="Times New Roman"/>
                <a:cs typeface="Times New Roman"/>
              </a:rPr>
              <a:t>2</a:t>
            </a:r>
            <a:endParaRPr sz="400">
              <a:latin typeface="Times New Roman"/>
              <a:cs typeface="Times New Roman"/>
            </a:endParaRPr>
          </a:p>
          <a:p>
            <a:pPr marL="42545">
              <a:lnSpc>
                <a:spcPct val="100000"/>
              </a:lnSpc>
              <a:spcBef>
                <a:spcPts val="90"/>
              </a:spcBef>
            </a:pPr>
            <a:r>
              <a:rPr sz="400" spc="35" dirty="0">
                <a:latin typeface="Times New Roman"/>
                <a:cs typeface="Times New Roman"/>
              </a:rPr>
              <a:t>3</a:t>
            </a:r>
            <a:endParaRPr sz="400">
              <a:latin typeface="Times New Roman"/>
              <a:cs typeface="Times New Roman"/>
            </a:endParaRPr>
          </a:p>
          <a:p>
            <a:pPr marL="42545">
              <a:lnSpc>
                <a:spcPct val="100000"/>
              </a:lnSpc>
              <a:spcBef>
                <a:spcPts val="95"/>
              </a:spcBef>
            </a:pPr>
            <a:r>
              <a:rPr sz="400" spc="35" dirty="0">
                <a:latin typeface="Times New Roman"/>
                <a:cs typeface="Times New Roman"/>
              </a:rPr>
              <a:t>4</a:t>
            </a:r>
            <a:endParaRPr sz="400">
              <a:latin typeface="Times New Roman"/>
              <a:cs typeface="Times New Roman"/>
            </a:endParaRPr>
          </a:p>
          <a:p>
            <a:pPr marL="42545">
              <a:lnSpc>
                <a:spcPct val="100000"/>
              </a:lnSpc>
              <a:spcBef>
                <a:spcPts val="95"/>
              </a:spcBef>
            </a:pPr>
            <a:r>
              <a:rPr sz="400" spc="35" dirty="0">
                <a:latin typeface="Times New Roman"/>
                <a:cs typeface="Times New Roman"/>
              </a:rPr>
              <a:t>5</a:t>
            </a:r>
            <a:endParaRPr sz="400">
              <a:latin typeface="Times New Roman"/>
              <a:cs typeface="Times New Roman"/>
            </a:endParaRPr>
          </a:p>
          <a:p>
            <a:pPr marL="42545">
              <a:lnSpc>
                <a:spcPct val="100000"/>
              </a:lnSpc>
              <a:spcBef>
                <a:spcPts val="95"/>
              </a:spcBef>
            </a:pPr>
            <a:r>
              <a:rPr sz="400" spc="35" dirty="0">
                <a:latin typeface="Times New Roman"/>
                <a:cs typeface="Times New Roman"/>
              </a:rPr>
              <a:t>6</a:t>
            </a:r>
            <a:endParaRPr sz="400">
              <a:latin typeface="Times New Roman"/>
              <a:cs typeface="Times New Roman"/>
            </a:endParaRPr>
          </a:p>
          <a:p>
            <a:pPr marL="42545">
              <a:lnSpc>
                <a:spcPct val="100000"/>
              </a:lnSpc>
              <a:spcBef>
                <a:spcPts val="90"/>
              </a:spcBef>
            </a:pPr>
            <a:r>
              <a:rPr sz="400" spc="35" dirty="0">
                <a:latin typeface="Times New Roman"/>
                <a:cs typeface="Times New Roman"/>
              </a:rPr>
              <a:t>7</a:t>
            </a:r>
            <a:endParaRPr sz="400">
              <a:latin typeface="Times New Roman"/>
              <a:cs typeface="Times New Roman"/>
            </a:endParaRPr>
          </a:p>
          <a:p>
            <a:pPr marL="42545">
              <a:lnSpc>
                <a:spcPct val="100000"/>
              </a:lnSpc>
              <a:spcBef>
                <a:spcPts val="95"/>
              </a:spcBef>
            </a:pPr>
            <a:r>
              <a:rPr sz="400" spc="35" dirty="0">
                <a:latin typeface="Times New Roman"/>
                <a:cs typeface="Times New Roman"/>
              </a:rPr>
              <a:t>8</a:t>
            </a:r>
            <a:endParaRPr sz="400">
              <a:latin typeface="Times New Roman"/>
              <a:cs typeface="Times New Roman"/>
            </a:endParaRPr>
          </a:p>
          <a:p>
            <a:pPr marL="42545">
              <a:lnSpc>
                <a:spcPct val="100000"/>
              </a:lnSpc>
              <a:spcBef>
                <a:spcPts val="95"/>
              </a:spcBef>
            </a:pPr>
            <a:r>
              <a:rPr sz="400" spc="35" dirty="0">
                <a:latin typeface="Times New Roman"/>
                <a:cs typeface="Times New Roman"/>
              </a:rPr>
              <a:t>9</a:t>
            </a:r>
            <a:endParaRPr sz="400">
              <a:latin typeface="Times New Roman"/>
              <a:cs typeface="Times New Roman"/>
            </a:endParaRPr>
          </a:p>
          <a:p>
            <a:pPr marL="12700">
              <a:lnSpc>
                <a:spcPct val="100000"/>
              </a:lnSpc>
              <a:spcBef>
                <a:spcPts val="95"/>
              </a:spcBef>
            </a:pPr>
            <a:r>
              <a:rPr sz="400" spc="-25" dirty="0">
                <a:latin typeface="Times New Roman"/>
                <a:cs typeface="Times New Roman"/>
              </a:rPr>
              <a:t>10</a:t>
            </a:r>
            <a:endParaRPr sz="400">
              <a:latin typeface="Times New Roman"/>
              <a:cs typeface="Times New Roman"/>
            </a:endParaRPr>
          </a:p>
          <a:p>
            <a:pPr marL="12700">
              <a:lnSpc>
                <a:spcPct val="100000"/>
              </a:lnSpc>
              <a:spcBef>
                <a:spcPts val="90"/>
              </a:spcBef>
            </a:pPr>
            <a:r>
              <a:rPr sz="400" spc="-25" dirty="0">
                <a:latin typeface="Times New Roman"/>
                <a:cs typeface="Times New Roman"/>
              </a:rPr>
              <a:t>11</a:t>
            </a:r>
            <a:endParaRPr sz="400">
              <a:latin typeface="Times New Roman"/>
              <a:cs typeface="Times New Roman"/>
            </a:endParaRPr>
          </a:p>
          <a:p>
            <a:pPr marL="12700">
              <a:lnSpc>
                <a:spcPct val="100000"/>
              </a:lnSpc>
              <a:spcBef>
                <a:spcPts val="95"/>
              </a:spcBef>
            </a:pPr>
            <a:r>
              <a:rPr sz="400" spc="-25" dirty="0">
                <a:latin typeface="Times New Roman"/>
                <a:cs typeface="Times New Roman"/>
              </a:rPr>
              <a:t>12</a:t>
            </a:r>
            <a:endParaRPr sz="400">
              <a:latin typeface="Times New Roman"/>
              <a:cs typeface="Times New Roman"/>
            </a:endParaRPr>
          </a:p>
          <a:p>
            <a:pPr marL="12700">
              <a:lnSpc>
                <a:spcPct val="100000"/>
              </a:lnSpc>
              <a:spcBef>
                <a:spcPts val="95"/>
              </a:spcBef>
            </a:pPr>
            <a:r>
              <a:rPr sz="400" spc="-25" dirty="0">
                <a:latin typeface="Times New Roman"/>
                <a:cs typeface="Times New Roman"/>
              </a:rPr>
              <a:t>13</a:t>
            </a:r>
            <a:endParaRPr sz="400">
              <a:latin typeface="Times New Roman"/>
              <a:cs typeface="Times New Roman"/>
            </a:endParaRPr>
          </a:p>
          <a:p>
            <a:pPr marL="12700">
              <a:lnSpc>
                <a:spcPct val="100000"/>
              </a:lnSpc>
              <a:spcBef>
                <a:spcPts val="95"/>
              </a:spcBef>
            </a:pPr>
            <a:r>
              <a:rPr sz="400" spc="-25" dirty="0">
                <a:latin typeface="Times New Roman"/>
                <a:cs typeface="Times New Roman"/>
              </a:rPr>
              <a:t>14</a:t>
            </a:r>
            <a:endParaRPr sz="400">
              <a:latin typeface="Times New Roman"/>
              <a:cs typeface="Times New Roman"/>
            </a:endParaRPr>
          </a:p>
          <a:p>
            <a:pPr marL="12700">
              <a:lnSpc>
                <a:spcPct val="100000"/>
              </a:lnSpc>
              <a:spcBef>
                <a:spcPts val="95"/>
              </a:spcBef>
            </a:pPr>
            <a:r>
              <a:rPr sz="400" spc="-25" dirty="0">
                <a:latin typeface="Times New Roman"/>
                <a:cs typeface="Times New Roman"/>
              </a:rPr>
              <a:t>15</a:t>
            </a:r>
            <a:endParaRPr sz="400">
              <a:latin typeface="Times New Roman"/>
              <a:cs typeface="Times New Roman"/>
            </a:endParaRPr>
          </a:p>
          <a:p>
            <a:pPr marL="12700">
              <a:lnSpc>
                <a:spcPct val="100000"/>
              </a:lnSpc>
              <a:spcBef>
                <a:spcPts val="90"/>
              </a:spcBef>
            </a:pPr>
            <a:r>
              <a:rPr sz="400" spc="-25" dirty="0">
                <a:latin typeface="Times New Roman"/>
                <a:cs typeface="Times New Roman"/>
              </a:rPr>
              <a:t>16</a:t>
            </a:r>
            <a:endParaRPr sz="400">
              <a:latin typeface="Times New Roman"/>
              <a:cs typeface="Times New Roman"/>
            </a:endParaRPr>
          </a:p>
          <a:p>
            <a:pPr marL="12700">
              <a:lnSpc>
                <a:spcPct val="100000"/>
              </a:lnSpc>
              <a:spcBef>
                <a:spcPts val="95"/>
              </a:spcBef>
            </a:pPr>
            <a:r>
              <a:rPr sz="400" spc="-25" dirty="0">
                <a:latin typeface="Times New Roman"/>
                <a:cs typeface="Times New Roman"/>
              </a:rPr>
              <a:t>17</a:t>
            </a:r>
            <a:endParaRPr sz="400">
              <a:latin typeface="Times New Roman"/>
              <a:cs typeface="Times New Roman"/>
            </a:endParaRPr>
          </a:p>
          <a:p>
            <a:pPr marL="12700">
              <a:lnSpc>
                <a:spcPct val="100000"/>
              </a:lnSpc>
              <a:spcBef>
                <a:spcPts val="95"/>
              </a:spcBef>
            </a:pPr>
            <a:r>
              <a:rPr sz="400" spc="-25" dirty="0">
                <a:latin typeface="Times New Roman"/>
                <a:cs typeface="Times New Roman"/>
              </a:rPr>
              <a:t>18</a:t>
            </a:r>
            <a:endParaRPr sz="400">
              <a:latin typeface="Times New Roman"/>
              <a:cs typeface="Times New Roman"/>
            </a:endParaRPr>
          </a:p>
          <a:p>
            <a:pPr marL="12700">
              <a:lnSpc>
                <a:spcPct val="100000"/>
              </a:lnSpc>
              <a:spcBef>
                <a:spcPts val="95"/>
              </a:spcBef>
            </a:pPr>
            <a:r>
              <a:rPr sz="400" spc="-25" dirty="0">
                <a:latin typeface="Times New Roman"/>
                <a:cs typeface="Times New Roman"/>
              </a:rPr>
              <a:t>19</a:t>
            </a:r>
            <a:endParaRPr sz="400">
              <a:latin typeface="Times New Roman"/>
              <a:cs typeface="Times New Roman"/>
            </a:endParaRPr>
          </a:p>
          <a:p>
            <a:pPr marL="12700">
              <a:lnSpc>
                <a:spcPct val="100000"/>
              </a:lnSpc>
              <a:spcBef>
                <a:spcPts val="90"/>
              </a:spcBef>
            </a:pPr>
            <a:r>
              <a:rPr sz="400" spc="-25" dirty="0">
                <a:latin typeface="Times New Roman"/>
                <a:cs typeface="Times New Roman"/>
              </a:rPr>
              <a:t>20</a:t>
            </a:r>
            <a:endParaRPr sz="400">
              <a:latin typeface="Times New Roman"/>
              <a:cs typeface="Times New Roman"/>
            </a:endParaRPr>
          </a:p>
          <a:p>
            <a:pPr marL="12700">
              <a:lnSpc>
                <a:spcPct val="100000"/>
              </a:lnSpc>
              <a:spcBef>
                <a:spcPts val="95"/>
              </a:spcBef>
            </a:pPr>
            <a:r>
              <a:rPr sz="400" spc="-25" dirty="0">
                <a:latin typeface="Times New Roman"/>
                <a:cs typeface="Times New Roman"/>
              </a:rPr>
              <a:t>21</a:t>
            </a:r>
            <a:endParaRPr sz="400">
              <a:latin typeface="Times New Roman"/>
              <a:cs typeface="Times New Roman"/>
            </a:endParaRPr>
          </a:p>
          <a:p>
            <a:pPr marL="12700">
              <a:lnSpc>
                <a:spcPct val="100000"/>
              </a:lnSpc>
              <a:spcBef>
                <a:spcPts val="95"/>
              </a:spcBef>
            </a:pPr>
            <a:r>
              <a:rPr sz="400" spc="-25" dirty="0">
                <a:latin typeface="Times New Roman"/>
                <a:cs typeface="Times New Roman"/>
              </a:rPr>
              <a:t>22</a:t>
            </a:r>
            <a:endParaRPr sz="400">
              <a:latin typeface="Times New Roman"/>
              <a:cs typeface="Times New Roman"/>
            </a:endParaRPr>
          </a:p>
          <a:p>
            <a:pPr marL="12700">
              <a:lnSpc>
                <a:spcPct val="100000"/>
              </a:lnSpc>
              <a:spcBef>
                <a:spcPts val="95"/>
              </a:spcBef>
            </a:pPr>
            <a:r>
              <a:rPr sz="400" spc="-25" dirty="0">
                <a:latin typeface="Times New Roman"/>
                <a:cs typeface="Times New Roman"/>
              </a:rPr>
              <a:t>23</a:t>
            </a:r>
            <a:endParaRPr sz="400">
              <a:latin typeface="Times New Roman"/>
              <a:cs typeface="Times New Roman"/>
            </a:endParaRPr>
          </a:p>
          <a:p>
            <a:pPr marL="12700">
              <a:lnSpc>
                <a:spcPct val="100000"/>
              </a:lnSpc>
              <a:spcBef>
                <a:spcPts val="90"/>
              </a:spcBef>
            </a:pPr>
            <a:r>
              <a:rPr sz="400" spc="-25" dirty="0">
                <a:latin typeface="Times New Roman"/>
                <a:cs typeface="Times New Roman"/>
              </a:rPr>
              <a:t>24</a:t>
            </a:r>
            <a:endParaRPr sz="400">
              <a:latin typeface="Times New Roman"/>
              <a:cs typeface="Times New Roman"/>
            </a:endParaRPr>
          </a:p>
          <a:p>
            <a:pPr marL="12700">
              <a:lnSpc>
                <a:spcPct val="100000"/>
              </a:lnSpc>
              <a:spcBef>
                <a:spcPts val="95"/>
              </a:spcBef>
            </a:pPr>
            <a:r>
              <a:rPr sz="400" spc="-25" dirty="0">
                <a:latin typeface="Times New Roman"/>
                <a:cs typeface="Times New Roman"/>
              </a:rPr>
              <a:t>25</a:t>
            </a:r>
            <a:endParaRPr sz="400">
              <a:latin typeface="Times New Roman"/>
              <a:cs typeface="Times New Roman"/>
            </a:endParaRPr>
          </a:p>
          <a:p>
            <a:pPr marL="12700">
              <a:lnSpc>
                <a:spcPct val="100000"/>
              </a:lnSpc>
              <a:spcBef>
                <a:spcPts val="95"/>
              </a:spcBef>
            </a:pPr>
            <a:r>
              <a:rPr sz="400" spc="-25" dirty="0">
                <a:latin typeface="Times New Roman"/>
                <a:cs typeface="Times New Roman"/>
              </a:rPr>
              <a:t>26</a:t>
            </a:r>
            <a:endParaRPr sz="400">
              <a:latin typeface="Times New Roman"/>
              <a:cs typeface="Times New Roman"/>
            </a:endParaRPr>
          </a:p>
          <a:p>
            <a:pPr marL="12700">
              <a:lnSpc>
                <a:spcPct val="100000"/>
              </a:lnSpc>
              <a:spcBef>
                <a:spcPts val="95"/>
              </a:spcBef>
            </a:pPr>
            <a:r>
              <a:rPr sz="400" spc="-25" dirty="0">
                <a:latin typeface="Times New Roman"/>
                <a:cs typeface="Times New Roman"/>
              </a:rPr>
              <a:t>27</a:t>
            </a:r>
            <a:endParaRPr sz="400">
              <a:latin typeface="Times New Roman"/>
              <a:cs typeface="Times New Roman"/>
            </a:endParaRPr>
          </a:p>
          <a:p>
            <a:pPr marL="12700">
              <a:lnSpc>
                <a:spcPct val="100000"/>
              </a:lnSpc>
              <a:spcBef>
                <a:spcPts val="95"/>
              </a:spcBef>
            </a:pPr>
            <a:r>
              <a:rPr sz="400" spc="-25" dirty="0">
                <a:latin typeface="Times New Roman"/>
                <a:cs typeface="Times New Roman"/>
              </a:rPr>
              <a:t>28</a:t>
            </a:r>
            <a:endParaRPr sz="400">
              <a:latin typeface="Times New Roman"/>
              <a:cs typeface="Times New Roman"/>
            </a:endParaRPr>
          </a:p>
          <a:p>
            <a:pPr marL="12700">
              <a:lnSpc>
                <a:spcPct val="100000"/>
              </a:lnSpc>
              <a:spcBef>
                <a:spcPts val="90"/>
              </a:spcBef>
            </a:pPr>
            <a:r>
              <a:rPr sz="400" spc="-25" dirty="0">
                <a:latin typeface="Times New Roman"/>
                <a:cs typeface="Times New Roman"/>
              </a:rPr>
              <a:t>29</a:t>
            </a:r>
            <a:endParaRPr sz="400">
              <a:latin typeface="Times New Roman"/>
              <a:cs typeface="Times New Roman"/>
            </a:endParaRPr>
          </a:p>
          <a:p>
            <a:pPr marL="12700">
              <a:lnSpc>
                <a:spcPct val="100000"/>
              </a:lnSpc>
              <a:spcBef>
                <a:spcPts val="95"/>
              </a:spcBef>
            </a:pPr>
            <a:r>
              <a:rPr sz="400" spc="-25" dirty="0">
                <a:latin typeface="Times New Roman"/>
                <a:cs typeface="Times New Roman"/>
              </a:rPr>
              <a:t>30</a:t>
            </a:r>
            <a:endParaRPr sz="400">
              <a:latin typeface="Times New Roman"/>
              <a:cs typeface="Times New Roman"/>
            </a:endParaRPr>
          </a:p>
          <a:p>
            <a:pPr marL="12700">
              <a:lnSpc>
                <a:spcPct val="100000"/>
              </a:lnSpc>
              <a:spcBef>
                <a:spcPts val="95"/>
              </a:spcBef>
            </a:pPr>
            <a:r>
              <a:rPr sz="400" spc="-25" dirty="0">
                <a:latin typeface="Times New Roman"/>
                <a:cs typeface="Times New Roman"/>
              </a:rPr>
              <a:t>31</a:t>
            </a:r>
            <a:endParaRPr sz="400">
              <a:latin typeface="Times New Roman"/>
              <a:cs typeface="Times New Roman"/>
            </a:endParaRPr>
          </a:p>
          <a:p>
            <a:pPr marL="12700">
              <a:lnSpc>
                <a:spcPct val="100000"/>
              </a:lnSpc>
              <a:spcBef>
                <a:spcPts val="95"/>
              </a:spcBef>
            </a:pPr>
            <a:r>
              <a:rPr sz="400" spc="-25" dirty="0">
                <a:latin typeface="Times New Roman"/>
                <a:cs typeface="Times New Roman"/>
              </a:rPr>
              <a:t>32</a:t>
            </a:r>
            <a:endParaRPr sz="400">
              <a:latin typeface="Times New Roman"/>
              <a:cs typeface="Times New Roman"/>
            </a:endParaRPr>
          </a:p>
          <a:p>
            <a:pPr marL="12700">
              <a:lnSpc>
                <a:spcPct val="100000"/>
              </a:lnSpc>
              <a:spcBef>
                <a:spcPts val="90"/>
              </a:spcBef>
            </a:pPr>
            <a:r>
              <a:rPr sz="400" spc="-25" dirty="0">
                <a:latin typeface="Times New Roman"/>
                <a:cs typeface="Times New Roman"/>
              </a:rPr>
              <a:t>33</a:t>
            </a:r>
            <a:endParaRPr sz="400">
              <a:latin typeface="Times New Roman"/>
              <a:cs typeface="Times New Roman"/>
            </a:endParaRPr>
          </a:p>
        </p:txBody>
      </p:sp>
      <p:sp>
        <p:nvSpPr>
          <p:cNvPr id="7" name="object 7"/>
          <p:cNvSpPr txBox="1"/>
          <p:nvPr/>
        </p:nvSpPr>
        <p:spPr>
          <a:xfrm>
            <a:off x="488756" y="552635"/>
            <a:ext cx="2411095" cy="2369820"/>
          </a:xfrm>
          <a:prstGeom prst="rect">
            <a:avLst/>
          </a:prstGeom>
        </p:spPr>
        <p:txBody>
          <a:bodyPr vert="horz" wrap="square" lIns="0" tIns="13335" rIns="0" bIns="0" rtlCol="0">
            <a:spAutoFit/>
          </a:bodyPr>
          <a:lstStyle/>
          <a:p>
            <a:pPr marL="12700">
              <a:lnSpc>
                <a:spcPts val="615"/>
              </a:lnSpc>
              <a:spcBef>
                <a:spcPts val="105"/>
              </a:spcBef>
            </a:pPr>
            <a:r>
              <a:rPr sz="550" b="1" spc="55" dirty="0">
                <a:solidFill>
                  <a:srgbClr val="FF0059"/>
                </a:solidFill>
                <a:latin typeface="Times New Roman"/>
                <a:cs typeface="Times New Roman"/>
              </a:rPr>
              <a:t>def</a:t>
            </a:r>
            <a:r>
              <a:rPr sz="550" b="1" spc="65" dirty="0">
                <a:solidFill>
                  <a:srgbClr val="FF0059"/>
                </a:solidFill>
                <a:latin typeface="Times New Roman"/>
                <a:cs typeface="Times New Roman"/>
              </a:rPr>
              <a:t> </a:t>
            </a:r>
            <a:r>
              <a:rPr sz="550" spc="65" dirty="0">
                <a:latin typeface="Times New Roman"/>
                <a:cs typeface="Times New Roman"/>
              </a:rPr>
              <a:t>run(self):</a:t>
            </a:r>
            <a:endParaRPr sz="550">
              <a:latin typeface="Times New Roman"/>
              <a:cs typeface="Times New Roman"/>
            </a:endParaRPr>
          </a:p>
          <a:p>
            <a:pPr marL="83185">
              <a:lnSpc>
                <a:spcPts val="575"/>
              </a:lnSpc>
            </a:pPr>
            <a:r>
              <a:rPr sz="550" spc="55" dirty="0">
                <a:latin typeface="Times New Roman"/>
                <a:cs typeface="Times New Roman"/>
              </a:rPr>
              <a:t>self.log.info(</a:t>
            </a:r>
            <a:r>
              <a:rPr sz="550" spc="55" dirty="0">
                <a:solidFill>
                  <a:srgbClr val="C80000"/>
                </a:solidFill>
                <a:latin typeface="Times New Roman"/>
                <a:cs typeface="Times New Roman"/>
              </a:rPr>
              <a:t>’INIT’</a:t>
            </a:r>
            <a:r>
              <a:rPr sz="550" spc="55" dirty="0">
                <a:latin typeface="Times New Roman"/>
                <a:cs typeface="Times New Roman"/>
              </a:rPr>
              <a:t>)</a:t>
            </a:r>
            <a:endParaRPr sz="550">
              <a:latin typeface="Times New Roman"/>
              <a:cs typeface="Times New Roman"/>
            </a:endParaRPr>
          </a:p>
          <a:p>
            <a:pPr marL="83185">
              <a:lnSpc>
                <a:spcPts val="575"/>
              </a:lnSpc>
            </a:pPr>
            <a:r>
              <a:rPr sz="550" dirty="0">
                <a:latin typeface="Times New Roman"/>
                <a:cs typeface="Times New Roman"/>
              </a:rPr>
              <a:t>msg</a:t>
            </a:r>
            <a:r>
              <a:rPr sz="550" spc="60" dirty="0">
                <a:latin typeface="Times New Roman"/>
                <a:cs typeface="Times New Roman"/>
              </a:rPr>
              <a:t> </a:t>
            </a:r>
            <a:r>
              <a:rPr sz="550" dirty="0">
                <a:latin typeface="Times New Roman"/>
                <a:cs typeface="Times New Roman"/>
              </a:rPr>
              <a:t>=</a:t>
            </a:r>
            <a:r>
              <a:rPr sz="550" spc="60" dirty="0">
                <a:latin typeface="Times New Roman"/>
                <a:cs typeface="Times New Roman"/>
              </a:rPr>
              <a:t> </a:t>
            </a:r>
            <a:r>
              <a:rPr sz="550" spc="55" dirty="0">
                <a:latin typeface="Times New Roman"/>
                <a:cs typeface="Times New Roman"/>
              </a:rPr>
              <a:t>self.chan.recvFrom(self.coordinator,</a:t>
            </a:r>
            <a:r>
              <a:rPr sz="550" spc="65" dirty="0">
                <a:latin typeface="Times New Roman"/>
                <a:cs typeface="Times New Roman"/>
              </a:rPr>
              <a:t> </a:t>
            </a:r>
            <a:r>
              <a:rPr sz="550" spc="-40" dirty="0">
                <a:latin typeface="Times New Roman"/>
                <a:cs typeface="Times New Roman"/>
              </a:rPr>
              <a:t>BLOCK,</a:t>
            </a:r>
            <a:r>
              <a:rPr sz="550" spc="60" dirty="0">
                <a:latin typeface="Times New Roman"/>
                <a:cs typeface="Times New Roman"/>
              </a:rPr>
              <a:t> </a:t>
            </a:r>
            <a:r>
              <a:rPr sz="550" spc="-10" dirty="0">
                <a:latin typeface="Times New Roman"/>
                <a:cs typeface="Times New Roman"/>
              </a:rPr>
              <a:t>TIMEOUT)</a:t>
            </a:r>
            <a:endParaRPr sz="550">
              <a:latin typeface="Times New Roman"/>
              <a:cs typeface="Times New Roman"/>
            </a:endParaRPr>
          </a:p>
          <a:p>
            <a:pPr marL="83820">
              <a:lnSpc>
                <a:spcPts val="575"/>
              </a:lnSpc>
            </a:pPr>
            <a:r>
              <a:rPr sz="550" b="1" spc="145" dirty="0">
                <a:solidFill>
                  <a:srgbClr val="FF0059"/>
                </a:solidFill>
                <a:latin typeface="Times New Roman"/>
                <a:cs typeface="Times New Roman"/>
              </a:rPr>
              <a:t>if</a:t>
            </a:r>
            <a:r>
              <a:rPr sz="550" b="1" spc="125" dirty="0">
                <a:solidFill>
                  <a:srgbClr val="FF0059"/>
                </a:solidFill>
                <a:latin typeface="Times New Roman"/>
                <a:cs typeface="Times New Roman"/>
              </a:rPr>
              <a:t> </a:t>
            </a:r>
            <a:r>
              <a:rPr sz="550" dirty="0">
                <a:latin typeface="Times New Roman"/>
                <a:cs typeface="Times New Roman"/>
              </a:rPr>
              <a:t>msg</a:t>
            </a:r>
            <a:r>
              <a:rPr sz="550" spc="125" dirty="0">
                <a:latin typeface="Times New Roman"/>
                <a:cs typeface="Times New Roman"/>
              </a:rPr>
              <a:t> </a:t>
            </a:r>
            <a:r>
              <a:rPr sz="550" dirty="0">
                <a:latin typeface="Times New Roman"/>
                <a:cs typeface="Times New Roman"/>
              </a:rPr>
              <a:t>==</a:t>
            </a:r>
            <a:r>
              <a:rPr sz="550" spc="95" dirty="0">
                <a:latin typeface="Times New Roman"/>
                <a:cs typeface="Times New Roman"/>
              </a:rPr>
              <a:t> </a:t>
            </a:r>
            <a:r>
              <a:rPr sz="550" spc="114" dirty="0">
                <a:latin typeface="Times New Roman"/>
                <a:cs typeface="Times New Roman"/>
              </a:rPr>
              <a:t>-</a:t>
            </a:r>
            <a:r>
              <a:rPr sz="550" spc="100" dirty="0">
                <a:latin typeface="Times New Roman"/>
                <a:cs typeface="Times New Roman"/>
              </a:rPr>
              <a:t>1:</a:t>
            </a:r>
            <a:r>
              <a:rPr sz="550" spc="190" dirty="0">
                <a:latin typeface="Times New Roman"/>
                <a:cs typeface="Times New Roman"/>
              </a:rPr>
              <a:t>  </a:t>
            </a:r>
            <a:r>
              <a:rPr sz="550" i="1" spc="55" dirty="0">
                <a:solidFill>
                  <a:srgbClr val="009600"/>
                </a:solidFill>
                <a:latin typeface="Times New Roman"/>
                <a:cs typeface="Times New Roman"/>
              </a:rPr>
              <a:t>#</a:t>
            </a:r>
            <a:r>
              <a:rPr sz="550" i="1" spc="135" dirty="0">
                <a:solidFill>
                  <a:srgbClr val="009600"/>
                </a:solidFill>
                <a:latin typeface="Times New Roman"/>
                <a:cs typeface="Times New Roman"/>
              </a:rPr>
              <a:t> </a:t>
            </a:r>
            <a:r>
              <a:rPr sz="550" i="1" dirty="0">
                <a:solidFill>
                  <a:srgbClr val="009600"/>
                </a:solidFill>
                <a:latin typeface="Times New Roman"/>
                <a:cs typeface="Times New Roman"/>
              </a:rPr>
              <a:t>Crashed</a:t>
            </a:r>
            <a:r>
              <a:rPr sz="550" i="1" spc="100" dirty="0">
                <a:solidFill>
                  <a:srgbClr val="009600"/>
                </a:solidFill>
                <a:latin typeface="Times New Roman"/>
                <a:cs typeface="Times New Roman"/>
              </a:rPr>
              <a:t> </a:t>
            </a:r>
            <a:r>
              <a:rPr sz="550" i="1" dirty="0">
                <a:solidFill>
                  <a:srgbClr val="009600"/>
                </a:solidFill>
                <a:latin typeface="Times New Roman"/>
                <a:cs typeface="Times New Roman"/>
              </a:rPr>
              <a:t>coordinator</a:t>
            </a:r>
            <a:r>
              <a:rPr sz="550" i="1" spc="114" dirty="0">
                <a:solidFill>
                  <a:srgbClr val="009600"/>
                </a:solidFill>
                <a:latin typeface="Times New Roman"/>
                <a:cs typeface="Times New Roman"/>
              </a:rPr>
              <a:t> </a:t>
            </a:r>
            <a:r>
              <a:rPr sz="550" i="1" spc="150" dirty="0">
                <a:solidFill>
                  <a:srgbClr val="009600"/>
                </a:solidFill>
                <a:latin typeface="Times New Roman"/>
                <a:cs typeface="Times New Roman"/>
              </a:rPr>
              <a:t>-</a:t>
            </a:r>
            <a:r>
              <a:rPr sz="550" i="1" spc="145" dirty="0">
                <a:solidFill>
                  <a:srgbClr val="009600"/>
                </a:solidFill>
                <a:latin typeface="Times New Roman"/>
                <a:cs typeface="Times New Roman"/>
              </a:rPr>
              <a:t> </a:t>
            </a:r>
            <a:r>
              <a:rPr sz="550" i="1" spc="70" dirty="0">
                <a:solidFill>
                  <a:srgbClr val="009600"/>
                </a:solidFill>
                <a:latin typeface="Times New Roman"/>
                <a:cs typeface="Times New Roman"/>
              </a:rPr>
              <a:t>give</a:t>
            </a:r>
            <a:r>
              <a:rPr sz="550" i="1" spc="120" dirty="0">
                <a:solidFill>
                  <a:srgbClr val="009600"/>
                </a:solidFill>
                <a:latin typeface="Times New Roman"/>
                <a:cs typeface="Times New Roman"/>
              </a:rPr>
              <a:t> </a:t>
            </a:r>
            <a:r>
              <a:rPr sz="550" i="1" dirty="0">
                <a:solidFill>
                  <a:srgbClr val="009600"/>
                </a:solidFill>
                <a:latin typeface="Times New Roman"/>
                <a:cs typeface="Times New Roman"/>
              </a:rPr>
              <a:t>up</a:t>
            </a:r>
            <a:r>
              <a:rPr sz="550" i="1" spc="114" dirty="0">
                <a:solidFill>
                  <a:srgbClr val="009600"/>
                </a:solidFill>
                <a:latin typeface="Times New Roman"/>
                <a:cs typeface="Times New Roman"/>
              </a:rPr>
              <a:t> </a:t>
            </a:r>
            <a:r>
              <a:rPr sz="550" i="1" spc="70" dirty="0">
                <a:solidFill>
                  <a:srgbClr val="009600"/>
                </a:solidFill>
                <a:latin typeface="Times New Roman"/>
                <a:cs typeface="Times New Roman"/>
              </a:rPr>
              <a:t>entirely</a:t>
            </a:r>
            <a:endParaRPr sz="550">
              <a:latin typeface="Times New Roman"/>
              <a:cs typeface="Times New Roman"/>
            </a:endParaRPr>
          </a:p>
          <a:p>
            <a:pPr marL="153035">
              <a:lnSpc>
                <a:spcPts val="575"/>
              </a:lnSpc>
            </a:pPr>
            <a:r>
              <a:rPr sz="550" spc="60" dirty="0">
                <a:latin typeface="Times New Roman"/>
                <a:cs typeface="Times New Roman"/>
              </a:rPr>
              <a:t>decision</a:t>
            </a:r>
            <a:r>
              <a:rPr sz="550" spc="70" dirty="0">
                <a:latin typeface="Times New Roman"/>
                <a:cs typeface="Times New Roman"/>
              </a:rPr>
              <a:t> </a:t>
            </a:r>
            <a:r>
              <a:rPr sz="550" dirty="0">
                <a:latin typeface="Times New Roman"/>
                <a:cs typeface="Times New Roman"/>
              </a:rPr>
              <a:t>=</a:t>
            </a:r>
            <a:r>
              <a:rPr sz="550" spc="75" dirty="0">
                <a:latin typeface="Times New Roman"/>
                <a:cs typeface="Times New Roman"/>
              </a:rPr>
              <a:t> </a:t>
            </a:r>
            <a:r>
              <a:rPr sz="550" spc="-30" dirty="0">
                <a:latin typeface="Times New Roman"/>
                <a:cs typeface="Times New Roman"/>
              </a:rPr>
              <a:t>LOCAL_ABORT</a:t>
            </a:r>
            <a:endParaRPr sz="550">
              <a:latin typeface="Times New Roman"/>
              <a:cs typeface="Times New Roman"/>
            </a:endParaRPr>
          </a:p>
          <a:p>
            <a:pPr marL="83185">
              <a:lnSpc>
                <a:spcPts val="575"/>
              </a:lnSpc>
            </a:pPr>
            <a:r>
              <a:rPr sz="550" b="1" spc="90" dirty="0">
                <a:solidFill>
                  <a:srgbClr val="FF0059"/>
                </a:solidFill>
                <a:latin typeface="Times New Roman"/>
                <a:cs typeface="Times New Roman"/>
              </a:rPr>
              <a:t>else</a:t>
            </a:r>
            <a:r>
              <a:rPr sz="550" spc="90" dirty="0">
                <a:latin typeface="Times New Roman"/>
                <a:cs typeface="Times New Roman"/>
              </a:rPr>
              <a:t>:</a:t>
            </a:r>
            <a:r>
              <a:rPr sz="550" spc="185" dirty="0">
                <a:latin typeface="Times New Roman"/>
                <a:cs typeface="Times New Roman"/>
              </a:rPr>
              <a:t> </a:t>
            </a:r>
            <a:r>
              <a:rPr sz="550" i="1" spc="55" dirty="0">
                <a:solidFill>
                  <a:srgbClr val="009600"/>
                </a:solidFill>
                <a:latin typeface="Times New Roman"/>
                <a:cs typeface="Times New Roman"/>
              </a:rPr>
              <a:t>#</a:t>
            </a:r>
            <a:r>
              <a:rPr sz="550" i="1" spc="155" dirty="0">
                <a:solidFill>
                  <a:srgbClr val="009600"/>
                </a:solidFill>
                <a:latin typeface="Times New Roman"/>
                <a:cs typeface="Times New Roman"/>
              </a:rPr>
              <a:t> </a:t>
            </a:r>
            <a:r>
              <a:rPr sz="550" i="1" dirty="0">
                <a:solidFill>
                  <a:srgbClr val="009600"/>
                </a:solidFill>
                <a:latin typeface="Times New Roman"/>
                <a:cs typeface="Times New Roman"/>
              </a:rPr>
              <a:t>Coordinator</a:t>
            </a:r>
            <a:r>
              <a:rPr sz="550" i="1" spc="135" dirty="0">
                <a:solidFill>
                  <a:srgbClr val="009600"/>
                </a:solidFill>
                <a:latin typeface="Times New Roman"/>
                <a:cs typeface="Times New Roman"/>
              </a:rPr>
              <a:t> </a:t>
            </a:r>
            <a:r>
              <a:rPr sz="550" i="1" spc="90" dirty="0">
                <a:solidFill>
                  <a:srgbClr val="009600"/>
                </a:solidFill>
                <a:latin typeface="Times New Roman"/>
                <a:cs typeface="Times New Roman"/>
              </a:rPr>
              <a:t>will</a:t>
            </a:r>
            <a:r>
              <a:rPr sz="550" i="1" spc="145" dirty="0">
                <a:solidFill>
                  <a:srgbClr val="009600"/>
                </a:solidFill>
                <a:latin typeface="Times New Roman"/>
                <a:cs typeface="Times New Roman"/>
              </a:rPr>
              <a:t> </a:t>
            </a:r>
            <a:r>
              <a:rPr sz="550" i="1" dirty="0">
                <a:solidFill>
                  <a:srgbClr val="009600"/>
                </a:solidFill>
                <a:latin typeface="Times New Roman"/>
                <a:cs typeface="Times New Roman"/>
              </a:rPr>
              <a:t>have</a:t>
            </a:r>
            <a:r>
              <a:rPr sz="550" i="1" spc="140" dirty="0">
                <a:solidFill>
                  <a:srgbClr val="009600"/>
                </a:solidFill>
                <a:latin typeface="Times New Roman"/>
                <a:cs typeface="Times New Roman"/>
              </a:rPr>
              <a:t> </a:t>
            </a:r>
            <a:r>
              <a:rPr sz="550" i="1" spc="75" dirty="0">
                <a:solidFill>
                  <a:srgbClr val="009600"/>
                </a:solidFill>
                <a:latin typeface="Times New Roman"/>
                <a:cs typeface="Times New Roman"/>
              </a:rPr>
              <a:t>sent</a:t>
            </a:r>
            <a:r>
              <a:rPr sz="550" i="1" spc="135" dirty="0">
                <a:solidFill>
                  <a:srgbClr val="009600"/>
                </a:solidFill>
                <a:latin typeface="Times New Roman"/>
                <a:cs typeface="Times New Roman"/>
              </a:rPr>
              <a:t> </a:t>
            </a:r>
            <a:r>
              <a:rPr sz="550" i="1" spc="-10" dirty="0">
                <a:solidFill>
                  <a:srgbClr val="009600"/>
                </a:solidFill>
                <a:latin typeface="Times New Roman"/>
                <a:cs typeface="Times New Roman"/>
              </a:rPr>
              <a:t>VOTE_REQUEST</a:t>
            </a:r>
            <a:endParaRPr sz="550">
              <a:latin typeface="Times New Roman"/>
              <a:cs typeface="Times New Roman"/>
            </a:endParaRPr>
          </a:p>
          <a:p>
            <a:pPr marL="153035">
              <a:lnSpc>
                <a:spcPts val="575"/>
              </a:lnSpc>
            </a:pPr>
            <a:r>
              <a:rPr sz="550" spc="60" dirty="0">
                <a:latin typeface="Times New Roman"/>
                <a:cs typeface="Times New Roman"/>
              </a:rPr>
              <a:t>decision</a:t>
            </a:r>
            <a:r>
              <a:rPr sz="550" spc="70" dirty="0">
                <a:latin typeface="Times New Roman"/>
                <a:cs typeface="Times New Roman"/>
              </a:rPr>
              <a:t> </a:t>
            </a:r>
            <a:r>
              <a:rPr sz="550" dirty="0">
                <a:latin typeface="Times New Roman"/>
                <a:cs typeface="Times New Roman"/>
              </a:rPr>
              <a:t>=</a:t>
            </a:r>
            <a:r>
              <a:rPr sz="550" spc="80" dirty="0">
                <a:latin typeface="Times New Roman"/>
                <a:cs typeface="Times New Roman"/>
              </a:rPr>
              <a:t> </a:t>
            </a:r>
            <a:r>
              <a:rPr sz="550" spc="35" dirty="0">
                <a:latin typeface="Times New Roman"/>
                <a:cs typeface="Times New Roman"/>
              </a:rPr>
              <a:t>self.do_work()</a:t>
            </a:r>
            <a:endParaRPr sz="550">
              <a:latin typeface="Times New Roman"/>
              <a:cs typeface="Times New Roman"/>
            </a:endParaRPr>
          </a:p>
          <a:p>
            <a:pPr marL="224790" marR="539115" indent="-70485">
              <a:lnSpc>
                <a:spcPts val="570"/>
              </a:lnSpc>
              <a:spcBef>
                <a:spcPts val="50"/>
              </a:spcBef>
            </a:pPr>
            <a:r>
              <a:rPr sz="550" b="1" spc="145" dirty="0">
                <a:solidFill>
                  <a:srgbClr val="FF0059"/>
                </a:solidFill>
                <a:latin typeface="Times New Roman"/>
                <a:cs typeface="Times New Roman"/>
              </a:rPr>
              <a:t>if</a:t>
            </a:r>
            <a:r>
              <a:rPr sz="550" b="1" spc="50" dirty="0">
                <a:solidFill>
                  <a:srgbClr val="FF0059"/>
                </a:solidFill>
                <a:latin typeface="Times New Roman"/>
                <a:cs typeface="Times New Roman"/>
              </a:rPr>
              <a:t> </a:t>
            </a:r>
            <a:r>
              <a:rPr sz="550" spc="60" dirty="0">
                <a:latin typeface="Times New Roman"/>
                <a:cs typeface="Times New Roman"/>
              </a:rPr>
              <a:t>decision</a:t>
            </a:r>
            <a:r>
              <a:rPr sz="550" spc="55" dirty="0">
                <a:latin typeface="Times New Roman"/>
                <a:cs typeface="Times New Roman"/>
              </a:rPr>
              <a:t> </a:t>
            </a:r>
            <a:r>
              <a:rPr sz="550" dirty="0">
                <a:latin typeface="Times New Roman"/>
                <a:cs typeface="Times New Roman"/>
              </a:rPr>
              <a:t>==</a:t>
            </a:r>
            <a:r>
              <a:rPr sz="550" spc="55" dirty="0">
                <a:latin typeface="Times New Roman"/>
                <a:cs typeface="Times New Roman"/>
              </a:rPr>
              <a:t> </a:t>
            </a:r>
            <a:r>
              <a:rPr sz="550" spc="-20" dirty="0">
                <a:latin typeface="Times New Roman"/>
                <a:cs typeface="Times New Roman"/>
              </a:rPr>
              <a:t>LOCAL_ABORT:</a:t>
            </a:r>
            <a:r>
              <a:rPr sz="550" spc="500" dirty="0">
                <a:latin typeface="Times New Roman"/>
                <a:cs typeface="Times New Roman"/>
              </a:rPr>
              <a:t> </a:t>
            </a:r>
            <a:r>
              <a:rPr sz="550" spc="55" dirty="0">
                <a:latin typeface="Times New Roman"/>
                <a:cs typeface="Times New Roman"/>
              </a:rPr>
              <a:t>self.chan.sendTo(self.coordinator,</a:t>
            </a:r>
            <a:r>
              <a:rPr sz="550" spc="125" dirty="0">
                <a:latin typeface="Times New Roman"/>
                <a:cs typeface="Times New Roman"/>
              </a:rPr>
              <a:t> </a:t>
            </a:r>
            <a:r>
              <a:rPr sz="550" spc="-60" dirty="0">
                <a:latin typeface="Times New Roman"/>
                <a:cs typeface="Times New Roman"/>
              </a:rPr>
              <a:t>VOTE_ABORT)</a:t>
            </a:r>
            <a:r>
              <a:rPr sz="550" spc="500" dirty="0">
                <a:latin typeface="Times New Roman"/>
                <a:cs typeface="Times New Roman"/>
              </a:rPr>
              <a:t> </a:t>
            </a:r>
            <a:r>
              <a:rPr sz="550" spc="-10" dirty="0">
                <a:latin typeface="Times New Roman"/>
                <a:cs typeface="Times New Roman"/>
              </a:rPr>
              <a:t>self.log.info(</a:t>
            </a:r>
            <a:r>
              <a:rPr sz="550" spc="-10" dirty="0">
                <a:solidFill>
                  <a:srgbClr val="C80000"/>
                </a:solidFill>
                <a:latin typeface="Times New Roman"/>
                <a:cs typeface="Times New Roman"/>
              </a:rPr>
              <a:t>’LOCAL_ABORT’</a:t>
            </a:r>
            <a:r>
              <a:rPr sz="550" spc="-10" dirty="0">
                <a:latin typeface="Times New Roman"/>
                <a:cs typeface="Times New Roman"/>
              </a:rPr>
              <a:t>)</a:t>
            </a:r>
            <a:endParaRPr sz="550">
              <a:latin typeface="Times New Roman"/>
              <a:cs typeface="Times New Roman"/>
            </a:endParaRPr>
          </a:p>
          <a:p>
            <a:pPr marL="224790" marR="503555" indent="-71120">
              <a:lnSpc>
                <a:spcPts val="570"/>
              </a:lnSpc>
              <a:spcBef>
                <a:spcPts val="15"/>
              </a:spcBef>
            </a:pPr>
            <a:r>
              <a:rPr sz="550" b="1" spc="90" dirty="0">
                <a:solidFill>
                  <a:srgbClr val="FF0059"/>
                </a:solidFill>
                <a:latin typeface="Times New Roman"/>
                <a:cs typeface="Times New Roman"/>
              </a:rPr>
              <a:t>else</a:t>
            </a:r>
            <a:r>
              <a:rPr sz="550" spc="90" dirty="0">
                <a:latin typeface="Times New Roman"/>
                <a:cs typeface="Times New Roman"/>
              </a:rPr>
              <a:t>:</a:t>
            </a:r>
            <a:r>
              <a:rPr sz="550" spc="130" dirty="0">
                <a:latin typeface="Times New Roman"/>
                <a:cs typeface="Times New Roman"/>
              </a:rPr>
              <a:t> </a:t>
            </a:r>
            <a:r>
              <a:rPr sz="550" i="1" spc="55" dirty="0">
                <a:solidFill>
                  <a:srgbClr val="009600"/>
                </a:solidFill>
                <a:latin typeface="Times New Roman"/>
                <a:cs typeface="Times New Roman"/>
              </a:rPr>
              <a:t>#</a:t>
            </a:r>
            <a:r>
              <a:rPr sz="550" i="1" spc="120" dirty="0">
                <a:solidFill>
                  <a:srgbClr val="009600"/>
                </a:solidFill>
                <a:latin typeface="Times New Roman"/>
                <a:cs typeface="Times New Roman"/>
              </a:rPr>
              <a:t> </a:t>
            </a:r>
            <a:r>
              <a:rPr sz="550" i="1" dirty="0">
                <a:solidFill>
                  <a:srgbClr val="009600"/>
                </a:solidFill>
                <a:latin typeface="Times New Roman"/>
                <a:cs typeface="Times New Roman"/>
              </a:rPr>
              <a:t>Ready</a:t>
            </a:r>
            <a:r>
              <a:rPr sz="550" i="1" spc="100" dirty="0">
                <a:solidFill>
                  <a:srgbClr val="009600"/>
                </a:solidFill>
                <a:latin typeface="Times New Roman"/>
                <a:cs typeface="Times New Roman"/>
              </a:rPr>
              <a:t> </a:t>
            </a:r>
            <a:r>
              <a:rPr sz="550" i="1" spc="95" dirty="0">
                <a:solidFill>
                  <a:srgbClr val="009600"/>
                </a:solidFill>
                <a:latin typeface="Times New Roman"/>
                <a:cs typeface="Times New Roman"/>
              </a:rPr>
              <a:t>to</a:t>
            </a:r>
            <a:r>
              <a:rPr sz="550" i="1" spc="110" dirty="0">
                <a:solidFill>
                  <a:srgbClr val="009600"/>
                </a:solidFill>
                <a:latin typeface="Times New Roman"/>
                <a:cs typeface="Times New Roman"/>
              </a:rPr>
              <a:t> </a:t>
            </a:r>
            <a:r>
              <a:rPr sz="550" i="1" dirty="0">
                <a:solidFill>
                  <a:srgbClr val="009600"/>
                </a:solidFill>
                <a:latin typeface="Times New Roman"/>
                <a:cs typeface="Times New Roman"/>
              </a:rPr>
              <a:t>commit,</a:t>
            </a:r>
            <a:r>
              <a:rPr sz="550" i="1" spc="114" dirty="0">
                <a:solidFill>
                  <a:srgbClr val="009600"/>
                </a:solidFill>
                <a:latin typeface="Times New Roman"/>
                <a:cs typeface="Times New Roman"/>
              </a:rPr>
              <a:t> </a:t>
            </a:r>
            <a:r>
              <a:rPr sz="550" i="1" spc="65" dirty="0">
                <a:solidFill>
                  <a:srgbClr val="009600"/>
                </a:solidFill>
                <a:latin typeface="Times New Roman"/>
                <a:cs typeface="Times New Roman"/>
              </a:rPr>
              <a:t>enter</a:t>
            </a:r>
            <a:r>
              <a:rPr sz="550" i="1" spc="90" dirty="0">
                <a:solidFill>
                  <a:srgbClr val="009600"/>
                </a:solidFill>
                <a:latin typeface="Times New Roman"/>
                <a:cs typeface="Times New Roman"/>
              </a:rPr>
              <a:t> </a:t>
            </a:r>
            <a:r>
              <a:rPr sz="550" i="1" spc="-45" dirty="0">
                <a:solidFill>
                  <a:srgbClr val="009600"/>
                </a:solidFill>
                <a:latin typeface="Times New Roman"/>
                <a:cs typeface="Times New Roman"/>
              </a:rPr>
              <a:t>READY</a:t>
            </a:r>
            <a:r>
              <a:rPr sz="550" i="1" spc="90" dirty="0">
                <a:solidFill>
                  <a:srgbClr val="009600"/>
                </a:solidFill>
                <a:latin typeface="Times New Roman"/>
                <a:cs typeface="Times New Roman"/>
              </a:rPr>
              <a:t> </a:t>
            </a:r>
            <a:r>
              <a:rPr sz="550" i="1" spc="65" dirty="0">
                <a:solidFill>
                  <a:srgbClr val="009600"/>
                </a:solidFill>
                <a:latin typeface="Times New Roman"/>
                <a:cs typeface="Times New Roman"/>
              </a:rPr>
              <a:t>state </a:t>
            </a:r>
            <a:r>
              <a:rPr sz="550" spc="-10" dirty="0">
                <a:latin typeface="Times New Roman"/>
                <a:cs typeface="Times New Roman"/>
              </a:rPr>
              <a:t>self.log.info(</a:t>
            </a:r>
            <a:r>
              <a:rPr sz="550" spc="-10" dirty="0">
                <a:solidFill>
                  <a:srgbClr val="C80000"/>
                </a:solidFill>
                <a:latin typeface="Times New Roman"/>
                <a:cs typeface="Times New Roman"/>
              </a:rPr>
              <a:t>’READY’</a:t>
            </a:r>
            <a:r>
              <a:rPr sz="550" spc="-10" dirty="0">
                <a:latin typeface="Times New Roman"/>
                <a:cs typeface="Times New Roman"/>
              </a:rPr>
              <a:t>)</a:t>
            </a:r>
            <a:r>
              <a:rPr sz="550" spc="500" dirty="0">
                <a:latin typeface="Times New Roman"/>
                <a:cs typeface="Times New Roman"/>
              </a:rPr>
              <a:t>  </a:t>
            </a:r>
            <a:r>
              <a:rPr sz="550" spc="55" dirty="0">
                <a:latin typeface="Times New Roman"/>
                <a:cs typeface="Times New Roman"/>
              </a:rPr>
              <a:t>self.chan.sendTo(self.coordinator,</a:t>
            </a:r>
            <a:r>
              <a:rPr sz="550" spc="125" dirty="0">
                <a:latin typeface="Times New Roman"/>
                <a:cs typeface="Times New Roman"/>
              </a:rPr>
              <a:t> </a:t>
            </a:r>
            <a:r>
              <a:rPr sz="550" spc="-65" dirty="0">
                <a:latin typeface="Times New Roman"/>
                <a:cs typeface="Times New Roman"/>
              </a:rPr>
              <a:t>VOTE_COMMIT)</a:t>
            </a:r>
            <a:endParaRPr sz="550">
              <a:latin typeface="Times New Roman"/>
              <a:cs typeface="Times New Roman"/>
            </a:endParaRPr>
          </a:p>
          <a:p>
            <a:pPr marL="224790">
              <a:lnSpc>
                <a:spcPts val="535"/>
              </a:lnSpc>
            </a:pPr>
            <a:r>
              <a:rPr sz="550" dirty="0">
                <a:latin typeface="Times New Roman"/>
                <a:cs typeface="Times New Roman"/>
              </a:rPr>
              <a:t>msg</a:t>
            </a:r>
            <a:r>
              <a:rPr sz="550" spc="60" dirty="0">
                <a:latin typeface="Times New Roman"/>
                <a:cs typeface="Times New Roman"/>
              </a:rPr>
              <a:t> </a:t>
            </a:r>
            <a:r>
              <a:rPr sz="550" dirty="0">
                <a:latin typeface="Times New Roman"/>
                <a:cs typeface="Times New Roman"/>
              </a:rPr>
              <a:t>=</a:t>
            </a:r>
            <a:r>
              <a:rPr sz="550" spc="60" dirty="0">
                <a:latin typeface="Times New Roman"/>
                <a:cs typeface="Times New Roman"/>
              </a:rPr>
              <a:t> </a:t>
            </a:r>
            <a:r>
              <a:rPr sz="550" spc="55" dirty="0">
                <a:latin typeface="Times New Roman"/>
                <a:cs typeface="Times New Roman"/>
              </a:rPr>
              <a:t>self.chan.recvFrom(self.coordinator,</a:t>
            </a:r>
            <a:r>
              <a:rPr sz="550" spc="65" dirty="0">
                <a:latin typeface="Times New Roman"/>
                <a:cs typeface="Times New Roman"/>
              </a:rPr>
              <a:t> </a:t>
            </a:r>
            <a:r>
              <a:rPr sz="550" spc="-40" dirty="0">
                <a:latin typeface="Times New Roman"/>
                <a:cs typeface="Times New Roman"/>
              </a:rPr>
              <a:t>BLOCK,</a:t>
            </a:r>
            <a:r>
              <a:rPr sz="550" spc="60" dirty="0">
                <a:latin typeface="Times New Roman"/>
                <a:cs typeface="Times New Roman"/>
              </a:rPr>
              <a:t> </a:t>
            </a:r>
            <a:r>
              <a:rPr sz="550" spc="-10" dirty="0">
                <a:latin typeface="Times New Roman"/>
                <a:cs typeface="Times New Roman"/>
              </a:rPr>
              <a:t>TIMEOUT)</a:t>
            </a:r>
            <a:endParaRPr sz="550">
              <a:latin typeface="Times New Roman"/>
              <a:cs typeface="Times New Roman"/>
            </a:endParaRPr>
          </a:p>
          <a:p>
            <a:pPr marL="295275" marR="252729" indent="-69850">
              <a:lnSpc>
                <a:spcPts val="570"/>
              </a:lnSpc>
              <a:spcBef>
                <a:spcPts val="50"/>
              </a:spcBef>
            </a:pPr>
            <a:r>
              <a:rPr sz="550" b="1" spc="145" dirty="0">
                <a:solidFill>
                  <a:srgbClr val="FF0059"/>
                </a:solidFill>
                <a:latin typeface="Times New Roman"/>
                <a:cs typeface="Times New Roman"/>
              </a:rPr>
              <a:t>if</a:t>
            </a:r>
            <a:r>
              <a:rPr sz="550" b="1" spc="150" dirty="0">
                <a:solidFill>
                  <a:srgbClr val="FF0059"/>
                </a:solidFill>
                <a:latin typeface="Times New Roman"/>
                <a:cs typeface="Times New Roman"/>
              </a:rPr>
              <a:t> </a:t>
            </a:r>
            <a:r>
              <a:rPr sz="550" dirty="0">
                <a:latin typeface="Times New Roman"/>
                <a:cs typeface="Times New Roman"/>
              </a:rPr>
              <a:t>msg</a:t>
            </a:r>
            <a:r>
              <a:rPr sz="550" spc="150" dirty="0">
                <a:latin typeface="Times New Roman"/>
                <a:cs typeface="Times New Roman"/>
              </a:rPr>
              <a:t> </a:t>
            </a:r>
            <a:r>
              <a:rPr sz="550" dirty="0">
                <a:latin typeface="Times New Roman"/>
                <a:cs typeface="Times New Roman"/>
              </a:rPr>
              <a:t>==</a:t>
            </a:r>
            <a:r>
              <a:rPr sz="550" spc="114" dirty="0">
                <a:latin typeface="Times New Roman"/>
                <a:cs typeface="Times New Roman"/>
              </a:rPr>
              <a:t> -</a:t>
            </a:r>
            <a:r>
              <a:rPr sz="550" spc="100" dirty="0">
                <a:latin typeface="Times New Roman"/>
                <a:cs typeface="Times New Roman"/>
              </a:rPr>
              <a:t>1:</a:t>
            </a:r>
            <a:r>
              <a:rPr sz="550" spc="170" dirty="0">
                <a:latin typeface="Times New Roman"/>
                <a:cs typeface="Times New Roman"/>
              </a:rPr>
              <a:t> </a:t>
            </a:r>
            <a:r>
              <a:rPr sz="550" i="1" spc="55" dirty="0">
                <a:solidFill>
                  <a:srgbClr val="009600"/>
                </a:solidFill>
                <a:latin typeface="Times New Roman"/>
                <a:cs typeface="Times New Roman"/>
              </a:rPr>
              <a:t>#</a:t>
            </a:r>
            <a:r>
              <a:rPr sz="550" i="1" spc="155" dirty="0">
                <a:solidFill>
                  <a:srgbClr val="009600"/>
                </a:solidFill>
                <a:latin typeface="Times New Roman"/>
                <a:cs typeface="Times New Roman"/>
              </a:rPr>
              <a:t> </a:t>
            </a:r>
            <a:r>
              <a:rPr sz="550" i="1" dirty="0">
                <a:solidFill>
                  <a:srgbClr val="009600"/>
                </a:solidFill>
                <a:latin typeface="Times New Roman"/>
                <a:cs typeface="Times New Roman"/>
              </a:rPr>
              <a:t>Crashed</a:t>
            </a:r>
            <a:r>
              <a:rPr sz="550" i="1" spc="120" dirty="0">
                <a:solidFill>
                  <a:srgbClr val="009600"/>
                </a:solidFill>
                <a:latin typeface="Times New Roman"/>
                <a:cs typeface="Times New Roman"/>
              </a:rPr>
              <a:t> </a:t>
            </a:r>
            <a:r>
              <a:rPr sz="550" i="1" dirty="0">
                <a:solidFill>
                  <a:srgbClr val="009600"/>
                </a:solidFill>
                <a:latin typeface="Times New Roman"/>
                <a:cs typeface="Times New Roman"/>
              </a:rPr>
              <a:t>coordinator</a:t>
            </a:r>
            <a:r>
              <a:rPr sz="550" i="1" spc="135" dirty="0">
                <a:solidFill>
                  <a:srgbClr val="009600"/>
                </a:solidFill>
                <a:latin typeface="Times New Roman"/>
                <a:cs typeface="Times New Roman"/>
              </a:rPr>
              <a:t> </a:t>
            </a:r>
            <a:r>
              <a:rPr sz="550" i="1" spc="150" dirty="0">
                <a:solidFill>
                  <a:srgbClr val="009600"/>
                </a:solidFill>
                <a:latin typeface="Times New Roman"/>
                <a:cs typeface="Times New Roman"/>
              </a:rPr>
              <a:t>-</a:t>
            </a:r>
            <a:r>
              <a:rPr sz="550" i="1" spc="165" dirty="0">
                <a:solidFill>
                  <a:srgbClr val="009600"/>
                </a:solidFill>
                <a:latin typeface="Times New Roman"/>
                <a:cs typeface="Times New Roman"/>
              </a:rPr>
              <a:t> </a:t>
            </a:r>
            <a:r>
              <a:rPr sz="550" i="1" dirty="0">
                <a:solidFill>
                  <a:srgbClr val="009600"/>
                </a:solidFill>
                <a:latin typeface="Times New Roman"/>
                <a:cs typeface="Times New Roman"/>
              </a:rPr>
              <a:t>check</a:t>
            </a:r>
            <a:r>
              <a:rPr sz="550" i="1" spc="135" dirty="0">
                <a:solidFill>
                  <a:srgbClr val="009600"/>
                </a:solidFill>
                <a:latin typeface="Times New Roman"/>
                <a:cs typeface="Times New Roman"/>
              </a:rPr>
              <a:t> </a:t>
            </a:r>
            <a:r>
              <a:rPr sz="550" i="1" spc="80" dirty="0">
                <a:solidFill>
                  <a:srgbClr val="009600"/>
                </a:solidFill>
                <a:latin typeface="Times New Roman"/>
                <a:cs typeface="Times New Roman"/>
              </a:rPr>
              <a:t>the</a:t>
            </a:r>
            <a:r>
              <a:rPr sz="550" i="1" spc="140" dirty="0">
                <a:solidFill>
                  <a:srgbClr val="009600"/>
                </a:solidFill>
                <a:latin typeface="Times New Roman"/>
                <a:cs typeface="Times New Roman"/>
              </a:rPr>
              <a:t> </a:t>
            </a:r>
            <a:r>
              <a:rPr sz="550" i="1" spc="50" dirty="0">
                <a:solidFill>
                  <a:srgbClr val="009600"/>
                </a:solidFill>
                <a:latin typeface="Times New Roman"/>
                <a:cs typeface="Times New Roman"/>
              </a:rPr>
              <a:t>others</a:t>
            </a:r>
            <a:r>
              <a:rPr sz="550" i="1" spc="500" dirty="0">
                <a:solidFill>
                  <a:srgbClr val="009600"/>
                </a:solidFill>
                <a:latin typeface="Times New Roman"/>
                <a:cs typeface="Times New Roman"/>
              </a:rPr>
              <a:t> </a:t>
            </a:r>
            <a:r>
              <a:rPr sz="550" spc="-10" dirty="0">
                <a:latin typeface="Times New Roman"/>
                <a:cs typeface="Times New Roman"/>
              </a:rPr>
              <a:t>self.log.info(</a:t>
            </a:r>
            <a:r>
              <a:rPr sz="550" spc="-10" dirty="0">
                <a:solidFill>
                  <a:srgbClr val="C80000"/>
                </a:solidFill>
                <a:latin typeface="Times New Roman"/>
                <a:cs typeface="Times New Roman"/>
              </a:rPr>
              <a:t>’NEED_DECISION’</a:t>
            </a:r>
            <a:r>
              <a:rPr sz="550" spc="-10" dirty="0">
                <a:latin typeface="Times New Roman"/>
                <a:cs typeface="Times New Roman"/>
              </a:rPr>
              <a:t>)</a:t>
            </a:r>
            <a:r>
              <a:rPr sz="550" spc="500" dirty="0">
                <a:latin typeface="Times New Roman"/>
                <a:cs typeface="Times New Roman"/>
              </a:rPr>
              <a:t> </a:t>
            </a:r>
            <a:r>
              <a:rPr sz="550" spc="60" dirty="0">
                <a:latin typeface="Times New Roman"/>
                <a:cs typeface="Times New Roman"/>
              </a:rPr>
              <a:t>self.chan.sendTo(self.participants,</a:t>
            </a:r>
            <a:r>
              <a:rPr sz="550" spc="150" dirty="0">
                <a:latin typeface="Times New Roman"/>
                <a:cs typeface="Times New Roman"/>
              </a:rPr>
              <a:t> </a:t>
            </a:r>
            <a:r>
              <a:rPr sz="550" spc="-10" dirty="0">
                <a:latin typeface="Times New Roman"/>
                <a:cs typeface="Times New Roman"/>
              </a:rPr>
              <a:t>NEED_DECISION)</a:t>
            </a:r>
            <a:r>
              <a:rPr sz="550" spc="500" dirty="0">
                <a:latin typeface="Times New Roman"/>
                <a:cs typeface="Times New Roman"/>
              </a:rPr>
              <a:t> </a:t>
            </a:r>
            <a:r>
              <a:rPr sz="550" b="1" dirty="0">
                <a:solidFill>
                  <a:srgbClr val="FF0059"/>
                </a:solidFill>
                <a:latin typeface="Times New Roman"/>
                <a:cs typeface="Times New Roman"/>
              </a:rPr>
              <a:t>while</a:t>
            </a:r>
            <a:r>
              <a:rPr sz="550" b="1" spc="265" dirty="0">
                <a:solidFill>
                  <a:srgbClr val="FF0059"/>
                </a:solidFill>
                <a:latin typeface="Times New Roman"/>
                <a:cs typeface="Times New Roman"/>
              </a:rPr>
              <a:t> </a:t>
            </a:r>
            <a:r>
              <a:rPr sz="550" spc="40" dirty="0">
                <a:latin typeface="Times New Roman"/>
                <a:cs typeface="Times New Roman"/>
              </a:rPr>
              <a:t>True:</a:t>
            </a:r>
            <a:endParaRPr sz="550">
              <a:latin typeface="Times New Roman"/>
              <a:cs typeface="Times New Roman"/>
            </a:endParaRPr>
          </a:p>
          <a:p>
            <a:pPr marL="366395">
              <a:lnSpc>
                <a:spcPts val="540"/>
              </a:lnSpc>
            </a:pPr>
            <a:r>
              <a:rPr sz="550" dirty="0">
                <a:latin typeface="Times New Roman"/>
                <a:cs typeface="Times New Roman"/>
              </a:rPr>
              <a:t>msg</a:t>
            </a:r>
            <a:r>
              <a:rPr sz="550" spc="315" dirty="0">
                <a:latin typeface="Times New Roman"/>
                <a:cs typeface="Times New Roman"/>
              </a:rPr>
              <a:t> </a:t>
            </a:r>
            <a:r>
              <a:rPr sz="550" dirty="0">
                <a:latin typeface="Times New Roman"/>
                <a:cs typeface="Times New Roman"/>
              </a:rPr>
              <a:t>=</a:t>
            </a:r>
            <a:r>
              <a:rPr sz="550" spc="320" dirty="0">
                <a:latin typeface="Times New Roman"/>
                <a:cs typeface="Times New Roman"/>
              </a:rPr>
              <a:t> </a:t>
            </a:r>
            <a:r>
              <a:rPr sz="550" spc="-10" dirty="0">
                <a:latin typeface="Times New Roman"/>
                <a:cs typeface="Times New Roman"/>
              </a:rPr>
              <a:t>self.chan.recvFromAny()</a:t>
            </a:r>
            <a:endParaRPr sz="550">
              <a:latin typeface="Times New Roman"/>
              <a:cs typeface="Times New Roman"/>
            </a:endParaRPr>
          </a:p>
          <a:p>
            <a:pPr marL="367030">
              <a:lnSpc>
                <a:spcPts val="575"/>
              </a:lnSpc>
            </a:pPr>
            <a:r>
              <a:rPr sz="550" b="1" spc="145" dirty="0">
                <a:solidFill>
                  <a:srgbClr val="FF0059"/>
                </a:solidFill>
                <a:latin typeface="Times New Roman"/>
                <a:cs typeface="Times New Roman"/>
              </a:rPr>
              <a:t>if</a:t>
            </a:r>
            <a:r>
              <a:rPr sz="550" b="1" spc="95" dirty="0">
                <a:solidFill>
                  <a:srgbClr val="FF0059"/>
                </a:solidFill>
                <a:latin typeface="Times New Roman"/>
                <a:cs typeface="Times New Roman"/>
              </a:rPr>
              <a:t> </a:t>
            </a:r>
            <a:r>
              <a:rPr sz="550" dirty="0">
                <a:latin typeface="Times New Roman"/>
                <a:cs typeface="Times New Roman"/>
              </a:rPr>
              <a:t>msg[1]</a:t>
            </a:r>
            <a:r>
              <a:rPr sz="550" spc="100" dirty="0">
                <a:latin typeface="Times New Roman"/>
                <a:cs typeface="Times New Roman"/>
              </a:rPr>
              <a:t> </a:t>
            </a:r>
            <a:r>
              <a:rPr sz="550" b="1" spc="80" dirty="0">
                <a:solidFill>
                  <a:srgbClr val="FF0059"/>
                </a:solidFill>
                <a:latin typeface="Times New Roman"/>
                <a:cs typeface="Times New Roman"/>
              </a:rPr>
              <a:t>in</a:t>
            </a:r>
            <a:r>
              <a:rPr sz="550" b="1" spc="110" dirty="0">
                <a:solidFill>
                  <a:srgbClr val="FF0059"/>
                </a:solidFill>
                <a:latin typeface="Times New Roman"/>
                <a:cs typeface="Times New Roman"/>
              </a:rPr>
              <a:t> </a:t>
            </a:r>
            <a:r>
              <a:rPr sz="550" spc="-60" dirty="0">
                <a:latin typeface="Times New Roman"/>
                <a:cs typeface="Times New Roman"/>
              </a:rPr>
              <a:t>[GLOBAL_COMMIT,</a:t>
            </a:r>
            <a:r>
              <a:rPr sz="550" spc="100" dirty="0">
                <a:latin typeface="Times New Roman"/>
                <a:cs typeface="Times New Roman"/>
              </a:rPr>
              <a:t> </a:t>
            </a:r>
            <a:r>
              <a:rPr sz="550" spc="-65" dirty="0">
                <a:latin typeface="Times New Roman"/>
                <a:cs typeface="Times New Roman"/>
              </a:rPr>
              <a:t>GLOBAL_ABORT,</a:t>
            </a:r>
            <a:r>
              <a:rPr sz="550" spc="100" dirty="0">
                <a:latin typeface="Times New Roman"/>
                <a:cs typeface="Times New Roman"/>
              </a:rPr>
              <a:t> </a:t>
            </a:r>
            <a:r>
              <a:rPr sz="550" spc="-10" dirty="0">
                <a:latin typeface="Times New Roman"/>
                <a:cs typeface="Times New Roman"/>
              </a:rPr>
              <a:t>LOCAL_ABORT]:</a:t>
            </a:r>
            <a:endParaRPr sz="550">
              <a:latin typeface="Times New Roman"/>
              <a:cs typeface="Times New Roman"/>
            </a:endParaRPr>
          </a:p>
          <a:p>
            <a:pPr marL="436245">
              <a:lnSpc>
                <a:spcPts val="575"/>
              </a:lnSpc>
            </a:pPr>
            <a:r>
              <a:rPr sz="550" spc="60" dirty="0">
                <a:latin typeface="Times New Roman"/>
                <a:cs typeface="Times New Roman"/>
              </a:rPr>
              <a:t>decision</a:t>
            </a:r>
            <a:r>
              <a:rPr sz="550" spc="70" dirty="0">
                <a:latin typeface="Times New Roman"/>
                <a:cs typeface="Times New Roman"/>
              </a:rPr>
              <a:t> </a:t>
            </a:r>
            <a:r>
              <a:rPr sz="550" dirty="0">
                <a:latin typeface="Times New Roman"/>
                <a:cs typeface="Times New Roman"/>
              </a:rPr>
              <a:t>=</a:t>
            </a:r>
            <a:r>
              <a:rPr sz="550" spc="80" dirty="0">
                <a:latin typeface="Times New Roman"/>
                <a:cs typeface="Times New Roman"/>
              </a:rPr>
              <a:t> </a:t>
            </a:r>
            <a:r>
              <a:rPr sz="550" spc="-10" dirty="0">
                <a:latin typeface="Times New Roman"/>
                <a:cs typeface="Times New Roman"/>
              </a:rPr>
              <a:t>msg[1]</a:t>
            </a:r>
            <a:endParaRPr sz="550">
              <a:latin typeface="Times New Roman"/>
              <a:cs typeface="Times New Roman"/>
            </a:endParaRPr>
          </a:p>
          <a:p>
            <a:pPr marL="436880">
              <a:lnSpc>
                <a:spcPts val="575"/>
              </a:lnSpc>
            </a:pPr>
            <a:r>
              <a:rPr sz="550" b="1" spc="-10" dirty="0">
                <a:solidFill>
                  <a:srgbClr val="FF0059"/>
                </a:solidFill>
                <a:latin typeface="Times New Roman"/>
                <a:cs typeface="Times New Roman"/>
              </a:rPr>
              <a:t>break</a:t>
            </a:r>
            <a:endParaRPr sz="550">
              <a:latin typeface="Times New Roman"/>
              <a:cs typeface="Times New Roman"/>
            </a:endParaRPr>
          </a:p>
          <a:p>
            <a:pPr marL="224790">
              <a:lnSpc>
                <a:spcPts val="575"/>
              </a:lnSpc>
            </a:pPr>
            <a:r>
              <a:rPr sz="550" b="1" spc="90" dirty="0">
                <a:solidFill>
                  <a:srgbClr val="FF0059"/>
                </a:solidFill>
                <a:latin typeface="Times New Roman"/>
                <a:cs typeface="Times New Roman"/>
              </a:rPr>
              <a:t>else</a:t>
            </a:r>
            <a:r>
              <a:rPr sz="550" spc="90" dirty="0">
                <a:latin typeface="Times New Roman"/>
                <a:cs typeface="Times New Roman"/>
              </a:rPr>
              <a:t>:</a:t>
            </a:r>
            <a:r>
              <a:rPr sz="550" spc="155" dirty="0">
                <a:latin typeface="Times New Roman"/>
                <a:cs typeface="Times New Roman"/>
              </a:rPr>
              <a:t> </a:t>
            </a:r>
            <a:r>
              <a:rPr sz="550" i="1" spc="55" dirty="0">
                <a:solidFill>
                  <a:srgbClr val="009600"/>
                </a:solidFill>
                <a:latin typeface="Times New Roman"/>
                <a:cs typeface="Times New Roman"/>
              </a:rPr>
              <a:t>#</a:t>
            </a:r>
            <a:r>
              <a:rPr sz="550" i="1" spc="130" dirty="0">
                <a:solidFill>
                  <a:srgbClr val="009600"/>
                </a:solidFill>
                <a:latin typeface="Times New Roman"/>
                <a:cs typeface="Times New Roman"/>
              </a:rPr>
              <a:t> </a:t>
            </a:r>
            <a:r>
              <a:rPr sz="550" i="1" dirty="0">
                <a:solidFill>
                  <a:srgbClr val="009600"/>
                </a:solidFill>
                <a:latin typeface="Times New Roman"/>
                <a:cs typeface="Times New Roman"/>
              </a:rPr>
              <a:t>Coordinator</a:t>
            </a:r>
            <a:r>
              <a:rPr sz="550" i="1" spc="110" dirty="0">
                <a:solidFill>
                  <a:srgbClr val="009600"/>
                </a:solidFill>
                <a:latin typeface="Times New Roman"/>
                <a:cs typeface="Times New Roman"/>
              </a:rPr>
              <a:t> </a:t>
            </a:r>
            <a:r>
              <a:rPr sz="550" i="1" dirty="0">
                <a:solidFill>
                  <a:srgbClr val="009600"/>
                </a:solidFill>
                <a:latin typeface="Times New Roman"/>
                <a:cs typeface="Times New Roman"/>
              </a:rPr>
              <a:t>came</a:t>
            </a:r>
            <a:r>
              <a:rPr sz="550" i="1" spc="125" dirty="0">
                <a:solidFill>
                  <a:srgbClr val="009600"/>
                </a:solidFill>
                <a:latin typeface="Times New Roman"/>
                <a:cs typeface="Times New Roman"/>
              </a:rPr>
              <a:t> </a:t>
            </a:r>
            <a:r>
              <a:rPr sz="550" i="1" spc="95" dirty="0">
                <a:solidFill>
                  <a:srgbClr val="009600"/>
                </a:solidFill>
                <a:latin typeface="Times New Roman"/>
                <a:cs typeface="Times New Roman"/>
              </a:rPr>
              <a:t>to</a:t>
            </a:r>
            <a:r>
              <a:rPr sz="550" i="1" spc="145" dirty="0">
                <a:solidFill>
                  <a:srgbClr val="009600"/>
                </a:solidFill>
                <a:latin typeface="Times New Roman"/>
                <a:cs typeface="Times New Roman"/>
              </a:rPr>
              <a:t> </a:t>
            </a:r>
            <a:r>
              <a:rPr sz="550" i="1" spc="55" dirty="0">
                <a:solidFill>
                  <a:srgbClr val="009600"/>
                </a:solidFill>
                <a:latin typeface="Times New Roman"/>
                <a:cs typeface="Times New Roman"/>
              </a:rPr>
              <a:t>a</a:t>
            </a:r>
            <a:r>
              <a:rPr sz="550" i="1" spc="130" dirty="0">
                <a:solidFill>
                  <a:srgbClr val="009600"/>
                </a:solidFill>
                <a:latin typeface="Times New Roman"/>
                <a:cs typeface="Times New Roman"/>
              </a:rPr>
              <a:t> </a:t>
            </a:r>
            <a:r>
              <a:rPr sz="550" i="1" spc="50" dirty="0">
                <a:solidFill>
                  <a:srgbClr val="009600"/>
                </a:solidFill>
                <a:latin typeface="Times New Roman"/>
                <a:cs typeface="Times New Roman"/>
              </a:rPr>
              <a:t>decision</a:t>
            </a:r>
            <a:endParaRPr sz="550">
              <a:latin typeface="Times New Roman"/>
              <a:cs typeface="Times New Roman"/>
            </a:endParaRPr>
          </a:p>
          <a:p>
            <a:pPr marL="294640">
              <a:lnSpc>
                <a:spcPts val="575"/>
              </a:lnSpc>
            </a:pPr>
            <a:r>
              <a:rPr sz="550" spc="60" dirty="0">
                <a:latin typeface="Times New Roman"/>
                <a:cs typeface="Times New Roman"/>
              </a:rPr>
              <a:t>decision</a:t>
            </a:r>
            <a:r>
              <a:rPr sz="550" spc="70" dirty="0">
                <a:latin typeface="Times New Roman"/>
                <a:cs typeface="Times New Roman"/>
              </a:rPr>
              <a:t> </a:t>
            </a:r>
            <a:r>
              <a:rPr sz="550" dirty="0">
                <a:latin typeface="Times New Roman"/>
                <a:cs typeface="Times New Roman"/>
              </a:rPr>
              <a:t>=</a:t>
            </a:r>
            <a:r>
              <a:rPr sz="550" spc="80" dirty="0">
                <a:latin typeface="Times New Roman"/>
                <a:cs typeface="Times New Roman"/>
              </a:rPr>
              <a:t> </a:t>
            </a:r>
            <a:r>
              <a:rPr sz="550" spc="-10" dirty="0">
                <a:latin typeface="Times New Roman"/>
                <a:cs typeface="Times New Roman"/>
              </a:rPr>
              <a:t>msg[1]</a:t>
            </a:r>
            <a:endParaRPr sz="550">
              <a:latin typeface="Times New Roman"/>
              <a:cs typeface="Times New Roman"/>
            </a:endParaRPr>
          </a:p>
          <a:p>
            <a:pPr marL="153670" marR="1282700" indent="-70485">
              <a:lnSpc>
                <a:spcPts val="570"/>
              </a:lnSpc>
              <a:spcBef>
                <a:spcPts val="50"/>
              </a:spcBef>
            </a:pPr>
            <a:r>
              <a:rPr sz="550" b="1" spc="145" dirty="0">
                <a:solidFill>
                  <a:srgbClr val="FF0059"/>
                </a:solidFill>
                <a:latin typeface="Times New Roman"/>
                <a:cs typeface="Times New Roman"/>
              </a:rPr>
              <a:t>if</a:t>
            </a:r>
            <a:r>
              <a:rPr sz="550" b="1" spc="50" dirty="0">
                <a:solidFill>
                  <a:srgbClr val="FF0059"/>
                </a:solidFill>
                <a:latin typeface="Times New Roman"/>
                <a:cs typeface="Times New Roman"/>
              </a:rPr>
              <a:t> </a:t>
            </a:r>
            <a:r>
              <a:rPr sz="550" spc="60" dirty="0">
                <a:latin typeface="Times New Roman"/>
                <a:cs typeface="Times New Roman"/>
              </a:rPr>
              <a:t>decision</a:t>
            </a:r>
            <a:r>
              <a:rPr sz="550" spc="55" dirty="0">
                <a:latin typeface="Times New Roman"/>
                <a:cs typeface="Times New Roman"/>
              </a:rPr>
              <a:t> </a:t>
            </a:r>
            <a:r>
              <a:rPr sz="550" dirty="0">
                <a:latin typeface="Times New Roman"/>
                <a:cs typeface="Times New Roman"/>
              </a:rPr>
              <a:t>==</a:t>
            </a:r>
            <a:r>
              <a:rPr sz="550" spc="55" dirty="0">
                <a:latin typeface="Times New Roman"/>
                <a:cs typeface="Times New Roman"/>
              </a:rPr>
              <a:t> </a:t>
            </a:r>
            <a:r>
              <a:rPr sz="550" spc="-75" dirty="0">
                <a:latin typeface="Times New Roman"/>
                <a:cs typeface="Times New Roman"/>
              </a:rPr>
              <a:t>GLOBAL_COMMIT:</a:t>
            </a:r>
            <a:r>
              <a:rPr sz="550" spc="500" dirty="0">
                <a:latin typeface="Times New Roman"/>
                <a:cs typeface="Times New Roman"/>
              </a:rPr>
              <a:t> </a:t>
            </a:r>
            <a:r>
              <a:rPr sz="550" spc="-10" dirty="0">
                <a:latin typeface="Times New Roman"/>
                <a:cs typeface="Times New Roman"/>
              </a:rPr>
              <a:t>self.log.info(</a:t>
            </a:r>
            <a:r>
              <a:rPr sz="550" spc="-10" dirty="0">
                <a:solidFill>
                  <a:srgbClr val="C80000"/>
                </a:solidFill>
                <a:latin typeface="Times New Roman"/>
                <a:cs typeface="Times New Roman"/>
              </a:rPr>
              <a:t>’COMMIT’</a:t>
            </a:r>
            <a:r>
              <a:rPr sz="550" spc="-10" dirty="0">
                <a:latin typeface="Times New Roman"/>
                <a:cs typeface="Times New Roman"/>
              </a:rPr>
              <a:t>)</a:t>
            </a:r>
            <a:endParaRPr sz="550">
              <a:latin typeface="Times New Roman"/>
              <a:cs typeface="Times New Roman"/>
            </a:endParaRPr>
          </a:p>
          <a:p>
            <a:pPr marL="83185">
              <a:lnSpc>
                <a:spcPts val="530"/>
              </a:lnSpc>
            </a:pPr>
            <a:r>
              <a:rPr sz="550" b="1" spc="90" dirty="0">
                <a:solidFill>
                  <a:srgbClr val="FF0059"/>
                </a:solidFill>
                <a:latin typeface="Times New Roman"/>
                <a:cs typeface="Times New Roman"/>
              </a:rPr>
              <a:t>else</a:t>
            </a:r>
            <a:r>
              <a:rPr sz="550" spc="90" dirty="0">
                <a:latin typeface="Times New Roman"/>
                <a:cs typeface="Times New Roman"/>
              </a:rPr>
              <a:t>:</a:t>
            </a:r>
            <a:r>
              <a:rPr sz="550" spc="95" dirty="0">
                <a:latin typeface="Times New Roman"/>
                <a:cs typeface="Times New Roman"/>
              </a:rPr>
              <a:t> </a:t>
            </a:r>
            <a:r>
              <a:rPr sz="550" i="1" spc="55" dirty="0">
                <a:solidFill>
                  <a:srgbClr val="009600"/>
                </a:solidFill>
                <a:latin typeface="Times New Roman"/>
                <a:cs typeface="Times New Roman"/>
              </a:rPr>
              <a:t>#</a:t>
            </a:r>
            <a:r>
              <a:rPr sz="550" i="1" spc="75" dirty="0">
                <a:solidFill>
                  <a:srgbClr val="009600"/>
                </a:solidFill>
                <a:latin typeface="Times New Roman"/>
                <a:cs typeface="Times New Roman"/>
              </a:rPr>
              <a:t> </a:t>
            </a:r>
            <a:r>
              <a:rPr sz="550" i="1" spc="60" dirty="0">
                <a:solidFill>
                  <a:srgbClr val="009600"/>
                </a:solidFill>
                <a:latin typeface="Times New Roman"/>
                <a:cs typeface="Times New Roman"/>
              </a:rPr>
              <a:t>decision</a:t>
            </a:r>
            <a:r>
              <a:rPr sz="550" i="1" spc="65" dirty="0">
                <a:solidFill>
                  <a:srgbClr val="009600"/>
                </a:solidFill>
                <a:latin typeface="Times New Roman"/>
                <a:cs typeface="Times New Roman"/>
              </a:rPr>
              <a:t> </a:t>
            </a:r>
            <a:r>
              <a:rPr sz="550" i="1" spc="95" dirty="0">
                <a:solidFill>
                  <a:srgbClr val="009600"/>
                </a:solidFill>
                <a:latin typeface="Times New Roman"/>
                <a:cs typeface="Times New Roman"/>
              </a:rPr>
              <a:t>in</a:t>
            </a:r>
            <a:r>
              <a:rPr sz="550" i="1" spc="85" dirty="0">
                <a:solidFill>
                  <a:srgbClr val="009600"/>
                </a:solidFill>
                <a:latin typeface="Times New Roman"/>
                <a:cs typeface="Times New Roman"/>
              </a:rPr>
              <a:t> </a:t>
            </a:r>
            <a:r>
              <a:rPr sz="550" i="1" spc="-40" dirty="0">
                <a:solidFill>
                  <a:srgbClr val="009600"/>
                </a:solidFill>
                <a:latin typeface="Times New Roman"/>
                <a:cs typeface="Times New Roman"/>
              </a:rPr>
              <a:t>[GLOBAL_ABORT,</a:t>
            </a:r>
            <a:r>
              <a:rPr sz="550" i="1" spc="75" dirty="0">
                <a:solidFill>
                  <a:srgbClr val="009600"/>
                </a:solidFill>
                <a:latin typeface="Times New Roman"/>
                <a:cs typeface="Times New Roman"/>
              </a:rPr>
              <a:t> </a:t>
            </a:r>
            <a:r>
              <a:rPr sz="550" i="1" spc="-10" dirty="0">
                <a:solidFill>
                  <a:srgbClr val="009600"/>
                </a:solidFill>
                <a:latin typeface="Times New Roman"/>
                <a:cs typeface="Times New Roman"/>
              </a:rPr>
              <a:t>LOCAL_ABORT]:</a:t>
            </a:r>
            <a:endParaRPr sz="550">
              <a:latin typeface="Times New Roman"/>
              <a:cs typeface="Times New Roman"/>
            </a:endParaRPr>
          </a:p>
          <a:p>
            <a:pPr marL="153670">
              <a:lnSpc>
                <a:spcPts val="575"/>
              </a:lnSpc>
            </a:pPr>
            <a:r>
              <a:rPr sz="550" spc="-10" dirty="0">
                <a:latin typeface="Times New Roman"/>
                <a:cs typeface="Times New Roman"/>
              </a:rPr>
              <a:t>self.log.info(</a:t>
            </a:r>
            <a:r>
              <a:rPr sz="550" spc="-10" dirty="0">
                <a:solidFill>
                  <a:srgbClr val="C80000"/>
                </a:solidFill>
                <a:latin typeface="Times New Roman"/>
                <a:cs typeface="Times New Roman"/>
              </a:rPr>
              <a:t>’ABORT’</a:t>
            </a:r>
            <a:r>
              <a:rPr sz="550" spc="-10" dirty="0">
                <a:latin typeface="Times New Roman"/>
                <a:cs typeface="Times New Roman"/>
              </a:rPr>
              <a:t>)</a:t>
            </a:r>
            <a:endParaRPr sz="550">
              <a:latin typeface="Times New Roman"/>
              <a:cs typeface="Times New Roman"/>
            </a:endParaRPr>
          </a:p>
          <a:p>
            <a:pPr marL="82550">
              <a:lnSpc>
                <a:spcPts val="575"/>
              </a:lnSpc>
            </a:pPr>
            <a:r>
              <a:rPr sz="550" b="1" dirty="0">
                <a:solidFill>
                  <a:srgbClr val="FF0059"/>
                </a:solidFill>
                <a:latin typeface="Times New Roman"/>
                <a:cs typeface="Times New Roman"/>
              </a:rPr>
              <a:t>while</a:t>
            </a:r>
            <a:r>
              <a:rPr sz="550" b="1" spc="160" dirty="0">
                <a:solidFill>
                  <a:srgbClr val="FF0059"/>
                </a:solidFill>
                <a:latin typeface="Times New Roman"/>
                <a:cs typeface="Times New Roman"/>
              </a:rPr>
              <a:t> </a:t>
            </a:r>
            <a:r>
              <a:rPr sz="550" spc="50" dirty="0">
                <a:latin typeface="Times New Roman"/>
                <a:cs typeface="Times New Roman"/>
              </a:rPr>
              <a:t>True:</a:t>
            </a:r>
            <a:r>
              <a:rPr sz="550" spc="215" dirty="0">
                <a:latin typeface="Times New Roman"/>
                <a:cs typeface="Times New Roman"/>
              </a:rPr>
              <a:t> </a:t>
            </a:r>
            <a:r>
              <a:rPr sz="550" i="1" spc="55" dirty="0">
                <a:solidFill>
                  <a:srgbClr val="009600"/>
                </a:solidFill>
                <a:latin typeface="Times New Roman"/>
                <a:cs typeface="Times New Roman"/>
              </a:rPr>
              <a:t>#</a:t>
            </a:r>
            <a:r>
              <a:rPr sz="550" i="1" spc="185" dirty="0">
                <a:solidFill>
                  <a:srgbClr val="009600"/>
                </a:solidFill>
                <a:latin typeface="Times New Roman"/>
                <a:cs typeface="Times New Roman"/>
              </a:rPr>
              <a:t> </a:t>
            </a:r>
            <a:r>
              <a:rPr sz="550" i="1" dirty="0">
                <a:solidFill>
                  <a:srgbClr val="009600"/>
                </a:solidFill>
                <a:latin typeface="Times New Roman"/>
                <a:cs typeface="Times New Roman"/>
              </a:rPr>
              <a:t>Help</a:t>
            </a:r>
            <a:r>
              <a:rPr sz="550" i="1" spc="175" dirty="0">
                <a:solidFill>
                  <a:srgbClr val="009600"/>
                </a:solidFill>
                <a:latin typeface="Times New Roman"/>
                <a:cs typeface="Times New Roman"/>
              </a:rPr>
              <a:t> </a:t>
            </a:r>
            <a:r>
              <a:rPr sz="550" i="1" dirty="0">
                <a:solidFill>
                  <a:srgbClr val="009600"/>
                </a:solidFill>
                <a:latin typeface="Times New Roman"/>
                <a:cs typeface="Times New Roman"/>
              </a:rPr>
              <a:t>any</a:t>
            </a:r>
            <a:r>
              <a:rPr sz="550" i="1" spc="160" dirty="0">
                <a:solidFill>
                  <a:srgbClr val="009600"/>
                </a:solidFill>
                <a:latin typeface="Times New Roman"/>
                <a:cs typeface="Times New Roman"/>
              </a:rPr>
              <a:t> </a:t>
            </a:r>
            <a:r>
              <a:rPr sz="550" i="1" spc="60" dirty="0">
                <a:solidFill>
                  <a:srgbClr val="009600"/>
                </a:solidFill>
                <a:latin typeface="Times New Roman"/>
                <a:cs typeface="Times New Roman"/>
              </a:rPr>
              <a:t>other</a:t>
            </a:r>
            <a:r>
              <a:rPr sz="550" i="1" spc="150" dirty="0">
                <a:solidFill>
                  <a:srgbClr val="009600"/>
                </a:solidFill>
                <a:latin typeface="Times New Roman"/>
                <a:cs typeface="Times New Roman"/>
              </a:rPr>
              <a:t> </a:t>
            </a:r>
            <a:r>
              <a:rPr sz="550" i="1" spc="60" dirty="0">
                <a:solidFill>
                  <a:srgbClr val="009600"/>
                </a:solidFill>
                <a:latin typeface="Times New Roman"/>
                <a:cs typeface="Times New Roman"/>
              </a:rPr>
              <a:t>participant</a:t>
            </a:r>
            <a:r>
              <a:rPr sz="550" i="1" spc="155" dirty="0">
                <a:solidFill>
                  <a:srgbClr val="009600"/>
                </a:solidFill>
                <a:latin typeface="Times New Roman"/>
                <a:cs typeface="Times New Roman"/>
              </a:rPr>
              <a:t> </a:t>
            </a:r>
            <a:r>
              <a:rPr sz="550" i="1" dirty="0">
                <a:solidFill>
                  <a:srgbClr val="009600"/>
                </a:solidFill>
                <a:latin typeface="Times New Roman"/>
                <a:cs typeface="Times New Roman"/>
              </a:rPr>
              <a:t>when</a:t>
            </a:r>
            <a:r>
              <a:rPr sz="550" i="1" spc="155" dirty="0">
                <a:solidFill>
                  <a:srgbClr val="009600"/>
                </a:solidFill>
                <a:latin typeface="Times New Roman"/>
                <a:cs typeface="Times New Roman"/>
              </a:rPr>
              <a:t> </a:t>
            </a:r>
            <a:r>
              <a:rPr sz="550" i="1" dirty="0">
                <a:solidFill>
                  <a:srgbClr val="009600"/>
                </a:solidFill>
                <a:latin typeface="Times New Roman"/>
                <a:cs typeface="Times New Roman"/>
              </a:rPr>
              <a:t>coordinator</a:t>
            </a:r>
            <a:r>
              <a:rPr sz="550" i="1" spc="150" dirty="0">
                <a:solidFill>
                  <a:srgbClr val="009600"/>
                </a:solidFill>
                <a:latin typeface="Times New Roman"/>
                <a:cs typeface="Times New Roman"/>
              </a:rPr>
              <a:t> </a:t>
            </a:r>
            <a:r>
              <a:rPr sz="550" i="1" spc="-10" dirty="0">
                <a:solidFill>
                  <a:srgbClr val="009600"/>
                </a:solidFill>
                <a:latin typeface="Times New Roman"/>
                <a:cs typeface="Times New Roman"/>
              </a:rPr>
              <a:t>crashed</a:t>
            </a:r>
            <a:endParaRPr sz="550">
              <a:latin typeface="Times New Roman"/>
              <a:cs typeface="Times New Roman"/>
            </a:endParaRPr>
          </a:p>
          <a:p>
            <a:pPr marL="154305">
              <a:lnSpc>
                <a:spcPts val="575"/>
              </a:lnSpc>
            </a:pPr>
            <a:r>
              <a:rPr sz="550" dirty="0">
                <a:latin typeface="Times New Roman"/>
                <a:cs typeface="Times New Roman"/>
              </a:rPr>
              <a:t>msg</a:t>
            </a:r>
            <a:r>
              <a:rPr sz="550" spc="70" dirty="0">
                <a:latin typeface="Times New Roman"/>
                <a:cs typeface="Times New Roman"/>
              </a:rPr>
              <a:t> </a:t>
            </a:r>
            <a:r>
              <a:rPr sz="550" dirty="0">
                <a:latin typeface="Times New Roman"/>
                <a:cs typeface="Times New Roman"/>
              </a:rPr>
              <a:t>=</a:t>
            </a:r>
            <a:r>
              <a:rPr sz="550" spc="75" dirty="0">
                <a:latin typeface="Times New Roman"/>
                <a:cs typeface="Times New Roman"/>
              </a:rPr>
              <a:t> </a:t>
            </a:r>
            <a:r>
              <a:rPr sz="550" spc="45" dirty="0">
                <a:latin typeface="Times New Roman"/>
                <a:cs typeface="Times New Roman"/>
              </a:rPr>
              <a:t>self.chan.recvFrom(self.participants)</a:t>
            </a:r>
            <a:endParaRPr sz="550">
              <a:latin typeface="Times New Roman"/>
              <a:cs typeface="Times New Roman"/>
            </a:endParaRPr>
          </a:p>
          <a:p>
            <a:pPr marL="154940">
              <a:lnSpc>
                <a:spcPts val="575"/>
              </a:lnSpc>
            </a:pPr>
            <a:r>
              <a:rPr sz="550" b="1" spc="145" dirty="0">
                <a:solidFill>
                  <a:srgbClr val="FF0059"/>
                </a:solidFill>
                <a:latin typeface="Times New Roman"/>
                <a:cs typeface="Times New Roman"/>
              </a:rPr>
              <a:t>if</a:t>
            </a:r>
            <a:r>
              <a:rPr sz="550" b="1" spc="120" dirty="0">
                <a:solidFill>
                  <a:srgbClr val="FF0059"/>
                </a:solidFill>
                <a:latin typeface="Times New Roman"/>
                <a:cs typeface="Times New Roman"/>
              </a:rPr>
              <a:t> </a:t>
            </a:r>
            <a:r>
              <a:rPr sz="550" dirty="0">
                <a:latin typeface="Times New Roman"/>
                <a:cs typeface="Times New Roman"/>
              </a:rPr>
              <a:t>msg[1]</a:t>
            </a:r>
            <a:r>
              <a:rPr sz="550" spc="120" dirty="0">
                <a:latin typeface="Times New Roman"/>
                <a:cs typeface="Times New Roman"/>
              </a:rPr>
              <a:t> </a:t>
            </a:r>
            <a:r>
              <a:rPr sz="550" dirty="0">
                <a:latin typeface="Times New Roman"/>
                <a:cs typeface="Times New Roman"/>
              </a:rPr>
              <a:t>==</a:t>
            </a:r>
            <a:r>
              <a:rPr sz="550" spc="110" dirty="0">
                <a:latin typeface="Times New Roman"/>
                <a:cs typeface="Times New Roman"/>
              </a:rPr>
              <a:t> </a:t>
            </a:r>
            <a:r>
              <a:rPr sz="550" spc="-10" dirty="0">
                <a:latin typeface="Times New Roman"/>
                <a:cs typeface="Times New Roman"/>
              </a:rPr>
              <a:t>NEED_DECISION:</a:t>
            </a:r>
            <a:endParaRPr sz="550">
              <a:latin typeface="Times New Roman"/>
              <a:cs typeface="Times New Roman"/>
            </a:endParaRPr>
          </a:p>
          <a:p>
            <a:pPr marL="224790">
              <a:lnSpc>
                <a:spcPts val="615"/>
              </a:lnSpc>
            </a:pPr>
            <a:r>
              <a:rPr sz="550" dirty="0">
                <a:latin typeface="Times New Roman"/>
                <a:cs typeface="Times New Roman"/>
              </a:rPr>
              <a:t>self.chan.sendTo([msg[0]],</a:t>
            </a:r>
            <a:r>
              <a:rPr sz="550" spc="350" dirty="0">
                <a:latin typeface="Times New Roman"/>
                <a:cs typeface="Times New Roman"/>
              </a:rPr>
              <a:t>   </a:t>
            </a:r>
            <a:r>
              <a:rPr sz="550" spc="50" dirty="0">
                <a:latin typeface="Times New Roman"/>
                <a:cs typeface="Times New Roman"/>
              </a:rPr>
              <a:t>decision)</a:t>
            </a:r>
            <a:endParaRPr sz="550">
              <a:latin typeface="Times New Roman"/>
              <a:cs typeface="Times New Roman"/>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Tree>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3" action="ppaction://hlinksldjump"/>
              </a:rPr>
              <a:t>Fault</a:t>
            </a:r>
            <a:r>
              <a:rPr sz="500" spc="5" dirty="0">
                <a:latin typeface="Arial"/>
                <a:cs typeface="Arial"/>
                <a:hlinkClick r:id="rId3" action="ppaction://hlinksldjump"/>
              </a:rPr>
              <a:t> </a:t>
            </a:r>
            <a:r>
              <a:rPr sz="500" spc="-10" dirty="0">
                <a:latin typeface="Arial"/>
                <a:cs typeface="Arial"/>
                <a:hlinkClick r:id="rId3"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262602" y="-1515"/>
            <a:ext cx="29210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4" action="ppaction://hlinksldjump"/>
              </a:rPr>
              <a:t>Recovery</a:t>
            </a:r>
            <a:endParaRPr sz="500">
              <a:latin typeface="Arial"/>
              <a:cs typeface="Arial"/>
            </a:endParaRPr>
          </a:p>
        </p:txBody>
      </p:sp>
      <p:sp>
        <p:nvSpPr>
          <p:cNvPr id="5" name="object 5"/>
          <p:cNvSpPr txBox="1"/>
          <p:nvPr/>
        </p:nvSpPr>
        <p:spPr>
          <a:xfrm>
            <a:off x="57200" y="197711"/>
            <a:ext cx="4241800" cy="2376170"/>
          </a:xfrm>
          <a:prstGeom prst="rect">
            <a:avLst/>
          </a:prstGeom>
        </p:spPr>
        <p:txBody>
          <a:bodyPr vert="horz" wrap="square" lIns="0" tIns="12065" rIns="0" bIns="0" rtlCol="0">
            <a:spAutoFit/>
          </a:bodyPr>
          <a:lstStyle/>
          <a:p>
            <a:pPr marL="50800">
              <a:lnSpc>
                <a:spcPct val="100000"/>
              </a:lnSpc>
              <a:spcBef>
                <a:spcPts val="95"/>
              </a:spcBef>
            </a:pPr>
            <a:r>
              <a:rPr sz="1200" dirty="0">
                <a:solidFill>
                  <a:srgbClr val="3333B2"/>
                </a:solidFill>
                <a:latin typeface="Arial"/>
                <a:cs typeface="Arial"/>
              </a:rPr>
              <a:t>Recovery:</a:t>
            </a:r>
            <a:r>
              <a:rPr sz="1200" spc="5" dirty="0">
                <a:solidFill>
                  <a:srgbClr val="3333B2"/>
                </a:solidFill>
                <a:latin typeface="Arial"/>
                <a:cs typeface="Arial"/>
              </a:rPr>
              <a:t> </a:t>
            </a:r>
            <a:r>
              <a:rPr sz="1200" spc="-10" dirty="0">
                <a:solidFill>
                  <a:srgbClr val="3333B2"/>
                </a:solidFill>
                <a:latin typeface="Arial"/>
                <a:cs typeface="Arial"/>
              </a:rPr>
              <a:t>Background</a:t>
            </a:r>
            <a:endParaRPr sz="1200">
              <a:latin typeface="Arial"/>
              <a:cs typeface="Arial"/>
            </a:endParaRPr>
          </a:p>
          <a:p>
            <a:pPr marL="302260">
              <a:lnSpc>
                <a:spcPct val="100000"/>
              </a:lnSpc>
              <a:spcBef>
                <a:spcPts val="1055"/>
              </a:spcBef>
            </a:pPr>
            <a:r>
              <a:rPr sz="1000" spc="-10" dirty="0">
                <a:solidFill>
                  <a:srgbClr val="3333B2"/>
                </a:solidFill>
                <a:latin typeface="Arial"/>
                <a:cs typeface="Arial"/>
              </a:rPr>
              <a:t>Essence</a:t>
            </a:r>
            <a:endParaRPr sz="1000">
              <a:latin typeface="Arial"/>
              <a:cs typeface="Arial"/>
            </a:endParaRPr>
          </a:p>
          <a:p>
            <a:pPr marL="297180">
              <a:lnSpc>
                <a:spcPct val="100000"/>
              </a:lnSpc>
              <a:spcBef>
                <a:spcPts val="105"/>
              </a:spcBef>
            </a:pPr>
            <a:r>
              <a:rPr sz="900" dirty="0">
                <a:latin typeface="Arial"/>
                <a:cs typeface="Arial"/>
              </a:rPr>
              <a:t>When</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failure</a:t>
            </a:r>
            <a:r>
              <a:rPr sz="900" spc="-20" dirty="0">
                <a:latin typeface="Arial"/>
                <a:cs typeface="Arial"/>
              </a:rPr>
              <a:t> </a:t>
            </a:r>
            <a:r>
              <a:rPr sz="900" dirty="0">
                <a:latin typeface="Arial"/>
                <a:cs typeface="Arial"/>
              </a:rPr>
              <a:t>occurs,</a:t>
            </a:r>
            <a:r>
              <a:rPr sz="900" spc="-25" dirty="0">
                <a:latin typeface="Arial"/>
                <a:cs typeface="Arial"/>
              </a:rPr>
              <a:t> </a:t>
            </a:r>
            <a:r>
              <a:rPr sz="900" dirty="0">
                <a:latin typeface="Arial"/>
                <a:cs typeface="Arial"/>
              </a:rPr>
              <a:t>we</a:t>
            </a:r>
            <a:r>
              <a:rPr sz="900" spc="-20" dirty="0">
                <a:latin typeface="Arial"/>
                <a:cs typeface="Arial"/>
              </a:rPr>
              <a:t> </a:t>
            </a:r>
            <a:r>
              <a:rPr sz="900" dirty="0">
                <a:latin typeface="Arial"/>
                <a:cs typeface="Arial"/>
              </a:rPr>
              <a:t>need</a:t>
            </a:r>
            <a:r>
              <a:rPr sz="900" spc="-25"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bring</a:t>
            </a:r>
            <a:r>
              <a:rPr sz="900" spc="-2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system</a:t>
            </a:r>
            <a:r>
              <a:rPr sz="900" spc="-25" dirty="0">
                <a:latin typeface="Arial"/>
                <a:cs typeface="Arial"/>
              </a:rPr>
              <a:t> </a:t>
            </a:r>
            <a:r>
              <a:rPr sz="900" dirty="0">
                <a:latin typeface="Arial"/>
                <a:cs typeface="Arial"/>
              </a:rPr>
              <a:t>into</a:t>
            </a:r>
            <a:r>
              <a:rPr sz="900" spc="-20" dirty="0">
                <a:latin typeface="Arial"/>
                <a:cs typeface="Arial"/>
              </a:rPr>
              <a:t> </a:t>
            </a:r>
            <a:r>
              <a:rPr sz="900" dirty="0">
                <a:latin typeface="Arial"/>
                <a:cs typeface="Arial"/>
              </a:rPr>
              <a:t>an</a:t>
            </a:r>
            <a:r>
              <a:rPr sz="900" spc="-25" dirty="0">
                <a:latin typeface="Arial"/>
                <a:cs typeface="Arial"/>
              </a:rPr>
              <a:t> </a:t>
            </a:r>
            <a:r>
              <a:rPr sz="900" spc="-10" dirty="0">
                <a:latin typeface="Arial"/>
                <a:cs typeface="Arial"/>
              </a:rPr>
              <a:t>error-</a:t>
            </a:r>
            <a:r>
              <a:rPr sz="900" dirty="0">
                <a:latin typeface="Arial"/>
                <a:cs typeface="Arial"/>
              </a:rPr>
              <a:t>free</a:t>
            </a:r>
            <a:r>
              <a:rPr sz="900" spc="-20" dirty="0">
                <a:latin typeface="Arial"/>
                <a:cs typeface="Arial"/>
              </a:rPr>
              <a:t> </a:t>
            </a:r>
            <a:r>
              <a:rPr sz="900" spc="-10" dirty="0">
                <a:latin typeface="Arial"/>
                <a:cs typeface="Arial"/>
              </a:rPr>
              <a:t>state:</a:t>
            </a:r>
            <a:endParaRPr sz="900">
              <a:latin typeface="Arial"/>
              <a:cs typeface="Arial"/>
            </a:endParaRPr>
          </a:p>
          <a:p>
            <a:pPr marL="555625" marR="242570" indent="-120650">
              <a:lnSpc>
                <a:spcPct val="111600"/>
              </a:lnSpc>
              <a:spcBef>
                <a:spcPts val="400"/>
              </a:spcBef>
              <a:buClr>
                <a:srgbClr val="3333B2"/>
              </a:buClr>
              <a:buFont typeface="Menlo"/>
              <a:buChar char="•"/>
              <a:tabLst>
                <a:tab pos="556260" algn="l"/>
              </a:tabLst>
            </a:pPr>
            <a:r>
              <a:rPr sz="900" spc="-10" dirty="0">
                <a:solidFill>
                  <a:srgbClr val="C80000"/>
                </a:solidFill>
                <a:latin typeface="Arial"/>
                <a:cs typeface="Arial"/>
              </a:rPr>
              <a:t>Forward</a:t>
            </a:r>
            <a:r>
              <a:rPr sz="900" spc="-30" dirty="0">
                <a:solidFill>
                  <a:srgbClr val="C80000"/>
                </a:solidFill>
                <a:latin typeface="Arial"/>
                <a:cs typeface="Arial"/>
              </a:rPr>
              <a:t> </a:t>
            </a:r>
            <a:r>
              <a:rPr sz="900" dirty="0">
                <a:solidFill>
                  <a:srgbClr val="C80000"/>
                </a:solidFill>
                <a:latin typeface="Arial"/>
                <a:cs typeface="Arial"/>
              </a:rPr>
              <a:t>error</a:t>
            </a:r>
            <a:r>
              <a:rPr sz="900" spc="-25" dirty="0">
                <a:solidFill>
                  <a:srgbClr val="C80000"/>
                </a:solidFill>
                <a:latin typeface="Arial"/>
                <a:cs typeface="Arial"/>
              </a:rPr>
              <a:t> </a:t>
            </a:r>
            <a:r>
              <a:rPr sz="900" dirty="0">
                <a:solidFill>
                  <a:srgbClr val="C80000"/>
                </a:solidFill>
                <a:latin typeface="Arial"/>
                <a:cs typeface="Arial"/>
              </a:rPr>
              <a:t>recovery</a:t>
            </a:r>
            <a:r>
              <a:rPr sz="900" dirty="0">
                <a:latin typeface="Arial"/>
                <a:cs typeface="Arial"/>
              </a:rPr>
              <a:t>:</a:t>
            </a:r>
            <a:r>
              <a:rPr sz="900" spc="30" dirty="0">
                <a:latin typeface="Arial"/>
                <a:cs typeface="Arial"/>
              </a:rPr>
              <a:t> </a:t>
            </a:r>
            <a:r>
              <a:rPr sz="900" dirty="0">
                <a:latin typeface="Arial"/>
                <a:cs typeface="Arial"/>
              </a:rPr>
              <a:t>Find</a:t>
            </a:r>
            <a:r>
              <a:rPr sz="900" spc="-3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new</a:t>
            </a:r>
            <a:r>
              <a:rPr sz="900" spc="-25" dirty="0">
                <a:latin typeface="Arial"/>
                <a:cs typeface="Arial"/>
              </a:rPr>
              <a:t> </a:t>
            </a:r>
            <a:r>
              <a:rPr sz="900" dirty="0">
                <a:latin typeface="Arial"/>
                <a:cs typeface="Arial"/>
              </a:rPr>
              <a:t>state</a:t>
            </a:r>
            <a:r>
              <a:rPr sz="900" spc="-25" dirty="0">
                <a:latin typeface="Arial"/>
                <a:cs typeface="Arial"/>
              </a:rPr>
              <a:t> </a:t>
            </a:r>
            <a:r>
              <a:rPr sz="900" dirty="0">
                <a:latin typeface="Arial"/>
                <a:cs typeface="Arial"/>
              </a:rPr>
              <a:t>from</a:t>
            </a:r>
            <a:r>
              <a:rPr sz="900" spc="-30" dirty="0">
                <a:latin typeface="Arial"/>
                <a:cs typeface="Arial"/>
              </a:rPr>
              <a:t> </a:t>
            </a:r>
            <a:r>
              <a:rPr sz="900" dirty="0">
                <a:latin typeface="Arial"/>
                <a:cs typeface="Arial"/>
              </a:rPr>
              <a:t>which</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system</a:t>
            </a:r>
            <a:r>
              <a:rPr sz="900" spc="-25" dirty="0">
                <a:latin typeface="Arial"/>
                <a:cs typeface="Arial"/>
              </a:rPr>
              <a:t> can </a:t>
            </a:r>
            <a:r>
              <a:rPr sz="900" dirty="0">
                <a:latin typeface="Arial"/>
                <a:cs typeface="Arial"/>
              </a:rPr>
              <a:t>continue</a:t>
            </a:r>
            <a:r>
              <a:rPr sz="900" spc="-50" dirty="0">
                <a:latin typeface="Arial"/>
                <a:cs typeface="Arial"/>
              </a:rPr>
              <a:t> </a:t>
            </a:r>
            <a:r>
              <a:rPr sz="900" spc="-10" dirty="0">
                <a:latin typeface="Arial"/>
                <a:cs typeface="Arial"/>
              </a:rPr>
              <a:t>operation</a:t>
            </a:r>
            <a:endParaRPr sz="900">
              <a:latin typeface="Arial"/>
              <a:cs typeface="Arial"/>
            </a:endParaRPr>
          </a:p>
          <a:p>
            <a:pPr marL="555625" marR="43180" indent="-120650">
              <a:lnSpc>
                <a:spcPct val="111600"/>
              </a:lnSpc>
              <a:spcBef>
                <a:spcPts val="400"/>
              </a:spcBef>
              <a:buClr>
                <a:srgbClr val="3333B2"/>
              </a:buClr>
              <a:buFont typeface="Menlo"/>
              <a:buChar char="•"/>
              <a:tabLst>
                <a:tab pos="556260" algn="l"/>
              </a:tabLst>
            </a:pPr>
            <a:r>
              <a:rPr sz="900" spc="-20" dirty="0">
                <a:solidFill>
                  <a:srgbClr val="C80000"/>
                </a:solidFill>
                <a:latin typeface="Arial"/>
                <a:cs typeface="Arial"/>
              </a:rPr>
              <a:t>Backward</a:t>
            </a:r>
            <a:r>
              <a:rPr sz="900" spc="-30" dirty="0">
                <a:solidFill>
                  <a:srgbClr val="C80000"/>
                </a:solidFill>
                <a:latin typeface="Arial"/>
                <a:cs typeface="Arial"/>
              </a:rPr>
              <a:t> </a:t>
            </a:r>
            <a:r>
              <a:rPr sz="900" dirty="0">
                <a:solidFill>
                  <a:srgbClr val="C80000"/>
                </a:solidFill>
                <a:latin typeface="Arial"/>
                <a:cs typeface="Arial"/>
              </a:rPr>
              <a:t>error</a:t>
            </a:r>
            <a:r>
              <a:rPr sz="900" spc="-25" dirty="0">
                <a:solidFill>
                  <a:srgbClr val="C80000"/>
                </a:solidFill>
                <a:latin typeface="Arial"/>
                <a:cs typeface="Arial"/>
              </a:rPr>
              <a:t> </a:t>
            </a:r>
            <a:r>
              <a:rPr sz="900" spc="-10" dirty="0">
                <a:solidFill>
                  <a:srgbClr val="C80000"/>
                </a:solidFill>
                <a:latin typeface="Arial"/>
                <a:cs typeface="Arial"/>
              </a:rPr>
              <a:t>recovery</a:t>
            </a:r>
            <a:r>
              <a:rPr sz="900" spc="-10" dirty="0">
                <a:latin typeface="Arial"/>
                <a:cs typeface="Arial"/>
              </a:rPr>
              <a:t>:</a:t>
            </a:r>
            <a:r>
              <a:rPr sz="900" spc="30" dirty="0">
                <a:latin typeface="Arial"/>
                <a:cs typeface="Arial"/>
              </a:rPr>
              <a:t> </a:t>
            </a:r>
            <a:r>
              <a:rPr sz="900" dirty="0">
                <a:latin typeface="Arial"/>
                <a:cs typeface="Arial"/>
              </a:rPr>
              <a:t>Bring</a:t>
            </a:r>
            <a:r>
              <a:rPr sz="900" spc="-25" dirty="0">
                <a:latin typeface="Arial"/>
                <a:cs typeface="Arial"/>
              </a:rPr>
              <a:t> </a:t>
            </a:r>
            <a:r>
              <a:rPr sz="900" dirty="0">
                <a:latin typeface="Arial"/>
                <a:cs typeface="Arial"/>
              </a:rPr>
              <a:t>the</a:t>
            </a:r>
            <a:r>
              <a:rPr sz="900" spc="-30" dirty="0">
                <a:latin typeface="Arial"/>
                <a:cs typeface="Arial"/>
              </a:rPr>
              <a:t> </a:t>
            </a:r>
            <a:r>
              <a:rPr sz="900" spc="-10" dirty="0">
                <a:latin typeface="Arial"/>
                <a:cs typeface="Arial"/>
              </a:rPr>
              <a:t>system</a:t>
            </a:r>
            <a:r>
              <a:rPr sz="900" spc="-25" dirty="0">
                <a:latin typeface="Arial"/>
                <a:cs typeface="Arial"/>
              </a:rPr>
              <a:t> </a:t>
            </a:r>
            <a:r>
              <a:rPr sz="900" spc="-10" dirty="0">
                <a:latin typeface="Arial"/>
                <a:cs typeface="Arial"/>
              </a:rPr>
              <a:t>back</a:t>
            </a:r>
            <a:r>
              <a:rPr sz="900" spc="-25" dirty="0">
                <a:latin typeface="Arial"/>
                <a:cs typeface="Arial"/>
              </a:rPr>
              <a:t> </a:t>
            </a:r>
            <a:r>
              <a:rPr sz="900" dirty="0">
                <a:latin typeface="Arial"/>
                <a:cs typeface="Arial"/>
              </a:rPr>
              <a:t>into</a:t>
            </a:r>
            <a:r>
              <a:rPr sz="900" spc="-25" dirty="0">
                <a:latin typeface="Arial"/>
                <a:cs typeface="Arial"/>
              </a:rPr>
              <a:t> </a:t>
            </a:r>
            <a:r>
              <a:rPr sz="900" dirty="0">
                <a:latin typeface="Arial"/>
                <a:cs typeface="Arial"/>
              </a:rPr>
              <a:t>a</a:t>
            </a:r>
            <a:r>
              <a:rPr sz="900" spc="-30" dirty="0">
                <a:latin typeface="Arial"/>
                <a:cs typeface="Arial"/>
              </a:rPr>
              <a:t> </a:t>
            </a:r>
            <a:r>
              <a:rPr sz="900" spc="-20" dirty="0">
                <a:solidFill>
                  <a:srgbClr val="3333B2"/>
                </a:solidFill>
                <a:latin typeface="Arial"/>
                <a:cs typeface="Arial"/>
              </a:rPr>
              <a:t>previous</a:t>
            </a:r>
            <a:r>
              <a:rPr sz="900" spc="-25" dirty="0">
                <a:solidFill>
                  <a:srgbClr val="3333B2"/>
                </a:solidFill>
                <a:latin typeface="Arial"/>
                <a:cs typeface="Arial"/>
              </a:rPr>
              <a:t> </a:t>
            </a:r>
            <a:r>
              <a:rPr sz="900" spc="-20" dirty="0">
                <a:latin typeface="Arial"/>
                <a:cs typeface="Arial"/>
              </a:rPr>
              <a:t>error-free </a:t>
            </a:r>
            <a:r>
              <a:rPr sz="900" spc="-10" dirty="0">
                <a:latin typeface="Arial"/>
                <a:cs typeface="Arial"/>
              </a:rPr>
              <a:t>state</a:t>
            </a:r>
            <a:endParaRPr sz="900">
              <a:latin typeface="Arial"/>
              <a:cs typeface="Arial"/>
            </a:endParaRPr>
          </a:p>
          <a:p>
            <a:pPr>
              <a:lnSpc>
                <a:spcPct val="100000"/>
              </a:lnSpc>
              <a:spcBef>
                <a:spcPts val="15"/>
              </a:spcBef>
            </a:pPr>
            <a:endParaRPr sz="1050">
              <a:latin typeface="Arial"/>
              <a:cs typeface="Arial"/>
            </a:endParaRPr>
          </a:p>
          <a:p>
            <a:pPr marL="302260">
              <a:lnSpc>
                <a:spcPct val="100000"/>
              </a:lnSpc>
            </a:pPr>
            <a:r>
              <a:rPr sz="1000" spc="-10" dirty="0">
                <a:solidFill>
                  <a:srgbClr val="C80000"/>
                </a:solidFill>
                <a:latin typeface="Arial"/>
                <a:cs typeface="Arial"/>
              </a:rPr>
              <a:t>Practice</a:t>
            </a:r>
            <a:endParaRPr sz="1000">
              <a:latin typeface="Arial"/>
              <a:cs typeface="Arial"/>
            </a:endParaRPr>
          </a:p>
          <a:p>
            <a:pPr marL="302260">
              <a:lnSpc>
                <a:spcPct val="100000"/>
              </a:lnSpc>
              <a:spcBef>
                <a:spcPts val="105"/>
              </a:spcBef>
            </a:pPr>
            <a:r>
              <a:rPr sz="900" dirty="0">
                <a:latin typeface="Arial"/>
                <a:cs typeface="Arial"/>
              </a:rPr>
              <a:t>Use</a:t>
            </a:r>
            <a:r>
              <a:rPr sz="900" spc="-25" dirty="0">
                <a:latin typeface="Arial"/>
                <a:cs typeface="Arial"/>
              </a:rPr>
              <a:t> </a:t>
            </a:r>
            <a:r>
              <a:rPr sz="900" spc="-10" dirty="0">
                <a:latin typeface="Arial"/>
                <a:cs typeface="Arial"/>
              </a:rPr>
              <a:t>backward</a:t>
            </a:r>
            <a:r>
              <a:rPr sz="900" spc="-20" dirty="0">
                <a:latin typeface="Arial"/>
                <a:cs typeface="Arial"/>
              </a:rPr>
              <a:t> </a:t>
            </a:r>
            <a:r>
              <a:rPr sz="900" dirty="0">
                <a:latin typeface="Arial"/>
                <a:cs typeface="Arial"/>
              </a:rPr>
              <a:t>error</a:t>
            </a:r>
            <a:r>
              <a:rPr sz="900" spc="-25" dirty="0">
                <a:latin typeface="Arial"/>
                <a:cs typeface="Arial"/>
              </a:rPr>
              <a:t> </a:t>
            </a:r>
            <a:r>
              <a:rPr sz="900" spc="-20" dirty="0">
                <a:latin typeface="Arial"/>
                <a:cs typeface="Arial"/>
              </a:rPr>
              <a:t>recovery, </a:t>
            </a:r>
            <a:r>
              <a:rPr sz="900" dirty="0">
                <a:latin typeface="Arial"/>
                <a:cs typeface="Arial"/>
              </a:rPr>
              <a:t>requiring</a:t>
            </a:r>
            <a:r>
              <a:rPr sz="900" spc="-25" dirty="0">
                <a:latin typeface="Arial"/>
                <a:cs typeface="Arial"/>
              </a:rPr>
              <a:t> </a:t>
            </a:r>
            <a:r>
              <a:rPr sz="900" dirty="0">
                <a:latin typeface="Arial"/>
                <a:cs typeface="Arial"/>
              </a:rPr>
              <a:t>that</a:t>
            </a:r>
            <a:r>
              <a:rPr sz="900" spc="-20" dirty="0">
                <a:latin typeface="Arial"/>
                <a:cs typeface="Arial"/>
              </a:rPr>
              <a:t> </a:t>
            </a:r>
            <a:r>
              <a:rPr sz="900" dirty="0">
                <a:latin typeface="Arial"/>
                <a:cs typeface="Arial"/>
              </a:rPr>
              <a:t>we</a:t>
            </a:r>
            <a:r>
              <a:rPr sz="900" spc="-25" dirty="0">
                <a:latin typeface="Arial"/>
                <a:cs typeface="Arial"/>
              </a:rPr>
              <a:t> </a:t>
            </a:r>
            <a:r>
              <a:rPr sz="900" dirty="0">
                <a:latin typeface="Arial"/>
                <a:cs typeface="Arial"/>
              </a:rPr>
              <a:t>establish</a:t>
            </a:r>
            <a:r>
              <a:rPr sz="900" spc="-20" dirty="0">
                <a:latin typeface="Arial"/>
                <a:cs typeface="Arial"/>
              </a:rPr>
              <a:t> </a:t>
            </a:r>
            <a:r>
              <a:rPr sz="900" dirty="0">
                <a:solidFill>
                  <a:srgbClr val="C80000"/>
                </a:solidFill>
                <a:latin typeface="Arial"/>
                <a:cs typeface="Arial"/>
              </a:rPr>
              <a:t>recovery</a:t>
            </a:r>
            <a:r>
              <a:rPr sz="900" spc="-25" dirty="0">
                <a:solidFill>
                  <a:srgbClr val="C80000"/>
                </a:solidFill>
                <a:latin typeface="Arial"/>
                <a:cs typeface="Arial"/>
              </a:rPr>
              <a:t> </a:t>
            </a:r>
            <a:r>
              <a:rPr sz="900" spc="-10" dirty="0">
                <a:solidFill>
                  <a:srgbClr val="C80000"/>
                </a:solidFill>
                <a:latin typeface="Arial"/>
                <a:cs typeface="Arial"/>
              </a:rPr>
              <a:t>points</a:t>
            </a:r>
            <a:endParaRPr sz="900">
              <a:latin typeface="Arial"/>
              <a:cs typeface="Arial"/>
            </a:endParaRPr>
          </a:p>
          <a:p>
            <a:pPr marL="302260">
              <a:lnSpc>
                <a:spcPct val="100000"/>
              </a:lnSpc>
              <a:spcBef>
                <a:spcPts val="815"/>
              </a:spcBef>
            </a:pPr>
            <a:r>
              <a:rPr sz="1000" spc="-10" dirty="0">
                <a:solidFill>
                  <a:srgbClr val="3333B2"/>
                </a:solidFill>
                <a:latin typeface="Arial"/>
                <a:cs typeface="Arial"/>
              </a:rPr>
              <a:t>Observation</a:t>
            </a:r>
            <a:endParaRPr sz="1000">
              <a:latin typeface="Arial"/>
              <a:cs typeface="Arial"/>
            </a:endParaRPr>
          </a:p>
          <a:p>
            <a:pPr marL="302260" marR="42545">
              <a:lnSpc>
                <a:spcPts val="1210"/>
              </a:lnSpc>
              <a:spcBef>
                <a:spcPts val="35"/>
              </a:spcBef>
            </a:pPr>
            <a:r>
              <a:rPr sz="900" spc="-20" dirty="0">
                <a:latin typeface="Arial"/>
                <a:cs typeface="Arial"/>
              </a:rPr>
              <a:t>Recovery</a:t>
            </a:r>
            <a:r>
              <a:rPr sz="900" spc="-40" dirty="0">
                <a:latin typeface="Arial"/>
                <a:cs typeface="Arial"/>
              </a:rPr>
              <a:t> </a:t>
            </a:r>
            <a:r>
              <a:rPr sz="900" dirty="0">
                <a:latin typeface="Arial"/>
                <a:cs typeface="Arial"/>
              </a:rPr>
              <a:t>in</a:t>
            </a:r>
            <a:r>
              <a:rPr sz="900" spc="-35" dirty="0">
                <a:latin typeface="Arial"/>
                <a:cs typeface="Arial"/>
              </a:rPr>
              <a:t> </a:t>
            </a:r>
            <a:r>
              <a:rPr sz="900" spc="-10" dirty="0">
                <a:latin typeface="Arial"/>
                <a:cs typeface="Arial"/>
              </a:rPr>
              <a:t>distributed</a:t>
            </a:r>
            <a:r>
              <a:rPr sz="900" spc="-35" dirty="0">
                <a:latin typeface="Arial"/>
                <a:cs typeface="Arial"/>
              </a:rPr>
              <a:t> </a:t>
            </a:r>
            <a:r>
              <a:rPr sz="900" spc="-10" dirty="0">
                <a:latin typeface="Arial"/>
                <a:cs typeface="Arial"/>
              </a:rPr>
              <a:t>systems</a:t>
            </a:r>
            <a:r>
              <a:rPr sz="900" spc="-35" dirty="0">
                <a:latin typeface="Arial"/>
                <a:cs typeface="Arial"/>
              </a:rPr>
              <a:t> </a:t>
            </a:r>
            <a:r>
              <a:rPr sz="900" dirty="0">
                <a:latin typeface="Arial"/>
                <a:cs typeface="Arial"/>
              </a:rPr>
              <a:t>is</a:t>
            </a:r>
            <a:r>
              <a:rPr sz="900" spc="-40" dirty="0">
                <a:latin typeface="Arial"/>
                <a:cs typeface="Arial"/>
              </a:rPr>
              <a:t> </a:t>
            </a:r>
            <a:r>
              <a:rPr sz="900" spc="-10" dirty="0">
                <a:latin typeface="Arial"/>
                <a:cs typeface="Arial"/>
              </a:rPr>
              <a:t>complicated</a:t>
            </a:r>
            <a:r>
              <a:rPr sz="900" spc="-30" dirty="0">
                <a:latin typeface="Arial"/>
                <a:cs typeface="Arial"/>
              </a:rPr>
              <a:t> </a:t>
            </a:r>
            <a:r>
              <a:rPr sz="900" dirty="0">
                <a:latin typeface="Arial"/>
                <a:cs typeface="Arial"/>
              </a:rPr>
              <a:t>by</a:t>
            </a:r>
            <a:r>
              <a:rPr sz="900" spc="-40" dirty="0">
                <a:latin typeface="Arial"/>
                <a:cs typeface="Arial"/>
              </a:rPr>
              <a:t> </a:t>
            </a:r>
            <a:r>
              <a:rPr sz="900" dirty="0">
                <a:latin typeface="Arial"/>
                <a:cs typeface="Arial"/>
              </a:rPr>
              <a:t>the</a:t>
            </a:r>
            <a:r>
              <a:rPr sz="900" spc="-30" dirty="0">
                <a:latin typeface="Arial"/>
                <a:cs typeface="Arial"/>
              </a:rPr>
              <a:t> </a:t>
            </a:r>
            <a:r>
              <a:rPr sz="900" spc="-10" dirty="0">
                <a:latin typeface="Arial"/>
                <a:cs typeface="Arial"/>
              </a:rPr>
              <a:t>fact</a:t>
            </a:r>
            <a:r>
              <a:rPr sz="900" spc="-35" dirty="0">
                <a:latin typeface="Arial"/>
                <a:cs typeface="Arial"/>
              </a:rPr>
              <a:t> </a:t>
            </a:r>
            <a:r>
              <a:rPr sz="900" dirty="0">
                <a:latin typeface="Arial"/>
                <a:cs typeface="Arial"/>
              </a:rPr>
              <a:t>that</a:t>
            </a:r>
            <a:r>
              <a:rPr sz="900" spc="-30" dirty="0">
                <a:latin typeface="Arial"/>
                <a:cs typeface="Arial"/>
              </a:rPr>
              <a:t> </a:t>
            </a:r>
            <a:r>
              <a:rPr sz="900" spc="-10" dirty="0">
                <a:latin typeface="Arial"/>
                <a:cs typeface="Arial"/>
              </a:rPr>
              <a:t>processes</a:t>
            </a:r>
            <a:r>
              <a:rPr sz="900" spc="-35" dirty="0">
                <a:latin typeface="Arial"/>
                <a:cs typeface="Arial"/>
              </a:rPr>
              <a:t> </a:t>
            </a:r>
            <a:r>
              <a:rPr sz="900" spc="-20" dirty="0">
                <a:latin typeface="Arial"/>
                <a:cs typeface="Arial"/>
              </a:rPr>
              <a:t>need </a:t>
            </a:r>
            <a:r>
              <a:rPr sz="900" dirty="0">
                <a:latin typeface="Arial"/>
                <a:cs typeface="Arial"/>
              </a:rPr>
              <a:t>to</a:t>
            </a:r>
            <a:r>
              <a:rPr sz="900" spc="-30" dirty="0">
                <a:latin typeface="Arial"/>
                <a:cs typeface="Arial"/>
              </a:rPr>
              <a:t> </a:t>
            </a:r>
            <a:r>
              <a:rPr sz="900" dirty="0">
                <a:latin typeface="Arial"/>
                <a:cs typeface="Arial"/>
              </a:rPr>
              <a:t>cooperate</a:t>
            </a:r>
            <a:r>
              <a:rPr sz="900" spc="-25" dirty="0">
                <a:latin typeface="Arial"/>
                <a:cs typeface="Arial"/>
              </a:rPr>
              <a:t> </a:t>
            </a:r>
            <a:r>
              <a:rPr sz="900" dirty="0">
                <a:latin typeface="Arial"/>
                <a:cs typeface="Arial"/>
              </a:rPr>
              <a:t>in</a:t>
            </a:r>
            <a:r>
              <a:rPr sz="900" spc="-30" dirty="0">
                <a:latin typeface="Arial"/>
                <a:cs typeface="Arial"/>
              </a:rPr>
              <a:t> </a:t>
            </a:r>
            <a:r>
              <a:rPr sz="900" dirty="0">
                <a:latin typeface="Arial"/>
                <a:cs typeface="Arial"/>
              </a:rPr>
              <a:t>identifying</a:t>
            </a:r>
            <a:r>
              <a:rPr sz="900" spc="-25" dirty="0">
                <a:latin typeface="Arial"/>
                <a:cs typeface="Arial"/>
              </a:rPr>
              <a:t> </a:t>
            </a:r>
            <a:r>
              <a:rPr sz="900" dirty="0">
                <a:latin typeface="Arial"/>
                <a:cs typeface="Arial"/>
              </a:rPr>
              <a:t>a</a:t>
            </a:r>
            <a:r>
              <a:rPr sz="900" spc="-30" dirty="0">
                <a:latin typeface="Arial"/>
                <a:cs typeface="Arial"/>
              </a:rPr>
              <a:t> </a:t>
            </a:r>
            <a:r>
              <a:rPr sz="900" dirty="0">
                <a:solidFill>
                  <a:srgbClr val="3333B2"/>
                </a:solidFill>
                <a:latin typeface="Arial"/>
                <a:cs typeface="Arial"/>
              </a:rPr>
              <a:t>consistent</a:t>
            </a:r>
            <a:r>
              <a:rPr sz="900" spc="-25" dirty="0">
                <a:solidFill>
                  <a:srgbClr val="3333B2"/>
                </a:solidFill>
                <a:latin typeface="Arial"/>
                <a:cs typeface="Arial"/>
              </a:rPr>
              <a:t> </a:t>
            </a:r>
            <a:r>
              <a:rPr sz="900" dirty="0">
                <a:solidFill>
                  <a:srgbClr val="3333B2"/>
                </a:solidFill>
                <a:latin typeface="Arial"/>
                <a:cs typeface="Arial"/>
              </a:rPr>
              <a:t>state</a:t>
            </a:r>
            <a:r>
              <a:rPr sz="900" spc="-25" dirty="0">
                <a:solidFill>
                  <a:srgbClr val="3333B2"/>
                </a:solidFill>
                <a:latin typeface="Arial"/>
                <a:cs typeface="Arial"/>
              </a:rPr>
              <a:t> </a:t>
            </a:r>
            <a:r>
              <a:rPr sz="900" dirty="0">
                <a:latin typeface="Arial"/>
                <a:cs typeface="Arial"/>
              </a:rPr>
              <a:t>from</a:t>
            </a:r>
            <a:r>
              <a:rPr sz="900" spc="-30" dirty="0">
                <a:latin typeface="Arial"/>
                <a:cs typeface="Arial"/>
              </a:rPr>
              <a:t> </a:t>
            </a:r>
            <a:r>
              <a:rPr sz="900" dirty="0">
                <a:latin typeface="Arial"/>
                <a:cs typeface="Arial"/>
              </a:rPr>
              <a:t>where</a:t>
            </a:r>
            <a:r>
              <a:rPr sz="900" spc="-25" dirty="0">
                <a:latin typeface="Arial"/>
                <a:cs typeface="Arial"/>
              </a:rPr>
              <a:t> </a:t>
            </a:r>
            <a:r>
              <a:rPr sz="900" dirty="0">
                <a:latin typeface="Arial"/>
                <a:cs typeface="Arial"/>
              </a:rPr>
              <a:t>to</a:t>
            </a:r>
            <a:r>
              <a:rPr sz="900" spc="-30" dirty="0">
                <a:latin typeface="Arial"/>
                <a:cs typeface="Arial"/>
              </a:rPr>
              <a:t> </a:t>
            </a:r>
            <a:r>
              <a:rPr sz="900" spc="-10" dirty="0">
                <a:latin typeface="Arial"/>
                <a:cs typeface="Arial"/>
              </a:rPr>
              <a:t>recover</a:t>
            </a:r>
            <a:endParaRPr sz="900">
              <a:latin typeface="Arial"/>
              <a:cs typeface="Arial"/>
            </a:endParaRPr>
          </a:p>
        </p:txBody>
      </p:sp>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txBox="1"/>
          <p:nvPr/>
        </p:nvSpPr>
        <p:spPr>
          <a:xfrm>
            <a:off x="53467" y="3346954"/>
            <a:ext cx="35623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4" action="ppaction://hlinksldjump"/>
              </a:rPr>
              <a:t>Introduction</a:t>
            </a:r>
            <a:endParaRPr sz="500">
              <a:latin typeface="Arial"/>
              <a:cs typeface="Arial"/>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Tree>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262602" y="-1515"/>
            <a:ext cx="29210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Recovery</a:t>
            </a:r>
            <a:endParaRPr sz="500">
              <a:latin typeface="Arial"/>
              <a:cs typeface="Arial"/>
            </a:endParaRPr>
          </a:p>
        </p:txBody>
      </p:sp>
      <p:sp>
        <p:nvSpPr>
          <p:cNvPr id="5" name="object 5"/>
          <p:cNvSpPr txBox="1"/>
          <p:nvPr/>
        </p:nvSpPr>
        <p:spPr>
          <a:xfrm>
            <a:off x="95300" y="197711"/>
            <a:ext cx="4164329" cy="140652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Consistent</a:t>
            </a:r>
            <a:r>
              <a:rPr sz="1200" spc="-65" dirty="0">
                <a:solidFill>
                  <a:srgbClr val="3333B2"/>
                </a:solidFill>
                <a:latin typeface="Arial"/>
                <a:cs typeface="Arial"/>
              </a:rPr>
              <a:t> </a:t>
            </a:r>
            <a:r>
              <a:rPr sz="1200" dirty="0">
                <a:solidFill>
                  <a:srgbClr val="3333B2"/>
                </a:solidFill>
                <a:latin typeface="Arial"/>
                <a:cs typeface="Arial"/>
              </a:rPr>
              <a:t>recovery</a:t>
            </a:r>
            <a:r>
              <a:rPr sz="1200" spc="-65" dirty="0">
                <a:solidFill>
                  <a:srgbClr val="3333B2"/>
                </a:solidFill>
                <a:latin typeface="Arial"/>
                <a:cs typeface="Arial"/>
              </a:rPr>
              <a:t> </a:t>
            </a:r>
            <a:r>
              <a:rPr sz="1200" spc="-10" dirty="0">
                <a:solidFill>
                  <a:srgbClr val="3333B2"/>
                </a:solidFill>
                <a:latin typeface="Arial"/>
                <a:cs typeface="Arial"/>
              </a:rPr>
              <a:t>state</a:t>
            </a:r>
            <a:endParaRPr sz="1200">
              <a:latin typeface="Arial"/>
              <a:cs typeface="Arial"/>
            </a:endParaRPr>
          </a:p>
          <a:p>
            <a:pPr marL="264160">
              <a:lnSpc>
                <a:spcPct val="100000"/>
              </a:lnSpc>
              <a:spcBef>
                <a:spcPts val="1055"/>
              </a:spcBef>
            </a:pPr>
            <a:r>
              <a:rPr sz="1000" spc="-10" dirty="0">
                <a:solidFill>
                  <a:srgbClr val="C80000"/>
                </a:solidFill>
                <a:latin typeface="Arial"/>
                <a:cs typeface="Arial"/>
              </a:rPr>
              <a:t>Requirement</a:t>
            </a:r>
            <a:endParaRPr sz="1000">
              <a:latin typeface="Arial"/>
              <a:cs typeface="Arial"/>
            </a:endParaRPr>
          </a:p>
          <a:p>
            <a:pPr marL="264160" marR="5080">
              <a:lnSpc>
                <a:spcPct val="111600"/>
              </a:lnSpc>
              <a:spcBef>
                <a:spcPts val="170"/>
              </a:spcBef>
            </a:pPr>
            <a:r>
              <a:rPr sz="900" dirty="0">
                <a:latin typeface="Arial"/>
                <a:cs typeface="Arial"/>
              </a:rPr>
              <a:t>Every</a:t>
            </a:r>
            <a:r>
              <a:rPr sz="900" spc="-35" dirty="0">
                <a:latin typeface="Arial"/>
                <a:cs typeface="Arial"/>
              </a:rPr>
              <a:t> </a:t>
            </a:r>
            <a:r>
              <a:rPr sz="900" spc="-10" dirty="0">
                <a:latin typeface="Arial"/>
                <a:cs typeface="Arial"/>
              </a:rPr>
              <a:t>message</a:t>
            </a:r>
            <a:r>
              <a:rPr sz="900" spc="-30" dirty="0">
                <a:latin typeface="Arial"/>
                <a:cs typeface="Arial"/>
              </a:rPr>
              <a:t> </a:t>
            </a:r>
            <a:r>
              <a:rPr sz="900" dirty="0">
                <a:latin typeface="Arial"/>
                <a:cs typeface="Arial"/>
              </a:rPr>
              <a:t>that</a:t>
            </a:r>
            <a:r>
              <a:rPr sz="900" spc="-30" dirty="0">
                <a:latin typeface="Arial"/>
                <a:cs typeface="Arial"/>
              </a:rPr>
              <a:t> </a:t>
            </a:r>
            <a:r>
              <a:rPr sz="900" dirty="0">
                <a:latin typeface="Arial"/>
                <a:cs typeface="Arial"/>
              </a:rPr>
              <a:t>has</a:t>
            </a:r>
            <a:r>
              <a:rPr sz="900" spc="-35" dirty="0">
                <a:latin typeface="Arial"/>
                <a:cs typeface="Arial"/>
              </a:rPr>
              <a:t> </a:t>
            </a:r>
            <a:r>
              <a:rPr sz="900" dirty="0">
                <a:latin typeface="Arial"/>
                <a:cs typeface="Arial"/>
              </a:rPr>
              <a:t>been</a:t>
            </a:r>
            <a:r>
              <a:rPr sz="900" spc="-30" dirty="0">
                <a:latin typeface="Arial"/>
                <a:cs typeface="Arial"/>
              </a:rPr>
              <a:t> </a:t>
            </a:r>
            <a:r>
              <a:rPr sz="900" spc="-10" dirty="0">
                <a:latin typeface="Arial"/>
                <a:cs typeface="Arial"/>
              </a:rPr>
              <a:t>received</a:t>
            </a:r>
            <a:r>
              <a:rPr sz="900" spc="-30" dirty="0">
                <a:latin typeface="Arial"/>
                <a:cs typeface="Arial"/>
              </a:rPr>
              <a:t> </a:t>
            </a:r>
            <a:r>
              <a:rPr sz="900" dirty="0">
                <a:latin typeface="Arial"/>
                <a:cs typeface="Arial"/>
              </a:rPr>
              <a:t>is</a:t>
            </a:r>
            <a:r>
              <a:rPr sz="900" spc="-35" dirty="0">
                <a:latin typeface="Arial"/>
                <a:cs typeface="Arial"/>
              </a:rPr>
              <a:t> </a:t>
            </a:r>
            <a:r>
              <a:rPr sz="900" dirty="0">
                <a:latin typeface="Arial"/>
                <a:cs typeface="Arial"/>
              </a:rPr>
              <a:t>also</a:t>
            </a:r>
            <a:r>
              <a:rPr sz="900" spc="-30" dirty="0">
                <a:latin typeface="Arial"/>
                <a:cs typeface="Arial"/>
              </a:rPr>
              <a:t> </a:t>
            </a:r>
            <a:r>
              <a:rPr sz="900" spc="-10" dirty="0">
                <a:latin typeface="Arial"/>
                <a:cs typeface="Arial"/>
              </a:rPr>
              <a:t>shown</a:t>
            </a:r>
            <a:r>
              <a:rPr sz="900" spc="-30" dirty="0">
                <a:latin typeface="Arial"/>
                <a:cs typeface="Arial"/>
              </a:rPr>
              <a:t> </a:t>
            </a:r>
            <a:r>
              <a:rPr sz="900" dirty="0">
                <a:latin typeface="Arial"/>
                <a:cs typeface="Arial"/>
              </a:rPr>
              <a:t>to</a:t>
            </a:r>
            <a:r>
              <a:rPr sz="900" spc="-35" dirty="0">
                <a:latin typeface="Arial"/>
                <a:cs typeface="Arial"/>
              </a:rPr>
              <a:t> </a:t>
            </a:r>
            <a:r>
              <a:rPr sz="900" spc="-10" dirty="0">
                <a:latin typeface="Arial"/>
                <a:cs typeface="Arial"/>
              </a:rPr>
              <a:t>have</a:t>
            </a:r>
            <a:r>
              <a:rPr sz="900" spc="-30" dirty="0">
                <a:latin typeface="Arial"/>
                <a:cs typeface="Arial"/>
              </a:rPr>
              <a:t> </a:t>
            </a:r>
            <a:r>
              <a:rPr sz="900" dirty="0">
                <a:latin typeface="Arial"/>
                <a:cs typeface="Arial"/>
              </a:rPr>
              <a:t>been</a:t>
            </a:r>
            <a:r>
              <a:rPr sz="900" spc="-30" dirty="0">
                <a:latin typeface="Arial"/>
                <a:cs typeface="Arial"/>
              </a:rPr>
              <a:t> </a:t>
            </a:r>
            <a:r>
              <a:rPr sz="900" dirty="0">
                <a:latin typeface="Arial"/>
                <a:cs typeface="Arial"/>
              </a:rPr>
              <a:t>sent</a:t>
            </a:r>
            <a:r>
              <a:rPr sz="900" spc="-30" dirty="0">
                <a:latin typeface="Arial"/>
                <a:cs typeface="Arial"/>
              </a:rPr>
              <a:t> </a:t>
            </a:r>
            <a:r>
              <a:rPr sz="900" dirty="0">
                <a:latin typeface="Arial"/>
                <a:cs typeface="Arial"/>
              </a:rPr>
              <a:t>in</a:t>
            </a:r>
            <a:r>
              <a:rPr sz="900" spc="-35" dirty="0">
                <a:latin typeface="Arial"/>
                <a:cs typeface="Arial"/>
              </a:rPr>
              <a:t> </a:t>
            </a:r>
            <a:r>
              <a:rPr sz="900" spc="-25" dirty="0">
                <a:latin typeface="Arial"/>
                <a:cs typeface="Arial"/>
              </a:rPr>
              <a:t>the </a:t>
            </a:r>
            <a:r>
              <a:rPr sz="900" dirty="0">
                <a:latin typeface="Arial"/>
                <a:cs typeface="Arial"/>
              </a:rPr>
              <a:t>state</a:t>
            </a:r>
            <a:r>
              <a:rPr sz="900" spc="-20" dirty="0">
                <a:latin typeface="Arial"/>
                <a:cs typeface="Arial"/>
              </a:rPr>
              <a:t> </a:t>
            </a:r>
            <a:r>
              <a:rPr sz="900" dirty="0">
                <a:latin typeface="Arial"/>
                <a:cs typeface="Arial"/>
              </a:rPr>
              <a:t>of</a:t>
            </a:r>
            <a:r>
              <a:rPr sz="900" spc="-20" dirty="0">
                <a:latin typeface="Arial"/>
                <a:cs typeface="Arial"/>
              </a:rPr>
              <a:t> </a:t>
            </a:r>
            <a:r>
              <a:rPr sz="900" dirty="0">
                <a:latin typeface="Arial"/>
                <a:cs typeface="Arial"/>
              </a:rPr>
              <a:t>the</a:t>
            </a:r>
            <a:r>
              <a:rPr sz="900" spc="-15" dirty="0">
                <a:latin typeface="Arial"/>
                <a:cs typeface="Arial"/>
              </a:rPr>
              <a:t> </a:t>
            </a:r>
            <a:r>
              <a:rPr sz="900" spc="-10" dirty="0">
                <a:latin typeface="Arial"/>
                <a:cs typeface="Arial"/>
              </a:rPr>
              <a:t>sender.</a:t>
            </a:r>
            <a:endParaRPr sz="900">
              <a:latin typeface="Arial"/>
              <a:cs typeface="Arial"/>
            </a:endParaRPr>
          </a:p>
          <a:p>
            <a:pPr marL="264160">
              <a:lnSpc>
                <a:spcPct val="100000"/>
              </a:lnSpc>
              <a:spcBef>
                <a:spcPts val="815"/>
              </a:spcBef>
            </a:pPr>
            <a:r>
              <a:rPr sz="1000" dirty="0">
                <a:solidFill>
                  <a:srgbClr val="3333B2"/>
                </a:solidFill>
                <a:latin typeface="Arial"/>
                <a:cs typeface="Arial"/>
              </a:rPr>
              <a:t>Recovery</a:t>
            </a:r>
            <a:r>
              <a:rPr sz="1000" spc="-65" dirty="0">
                <a:solidFill>
                  <a:srgbClr val="3333B2"/>
                </a:solidFill>
                <a:latin typeface="Arial"/>
                <a:cs typeface="Arial"/>
              </a:rPr>
              <a:t> </a:t>
            </a:r>
            <a:r>
              <a:rPr sz="1000" spc="-20" dirty="0">
                <a:solidFill>
                  <a:srgbClr val="3333B2"/>
                </a:solidFill>
                <a:latin typeface="Arial"/>
                <a:cs typeface="Arial"/>
              </a:rPr>
              <a:t>line</a:t>
            </a:r>
            <a:endParaRPr sz="1000">
              <a:latin typeface="Arial"/>
              <a:cs typeface="Arial"/>
            </a:endParaRPr>
          </a:p>
          <a:p>
            <a:pPr marL="264160" marR="422909" indent="-3810">
              <a:lnSpc>
                <a:spcPct val="111600"/>
              </a:lnSpc>
              <a:spcBef>
                <a:spcPts val="175"/>
              </a:spcBef>
            </a:pPr>
            <a:r>
              <a:rPr sz="900" dirty="0">
                <a:latin typeface="Arial"/>
                <a:cs typeface="Arial"/>
              </a:rPr>
              <a:t>Assuming</a:t>
            </a:r>
            <a:r>
              <a:rPr sz="900" spc="-25" dirty="0">
                <a:latin typeface="Arial"/>
                <a:cs typeface="Arial"/>
              </a:rPr>
              <a:t> </a:t>
            </a:r>
            <a:r>
              <a:rPr sz="900" dirty="0">
                <a:latin typeface="Arial"/>
                <a:cs typeface="Arial"/>
              </a:rPr>
              <a:t>processes</a:t>
            </a:r>
            <a:r>
              <a:rPr sz="900" spc="-25" dirty="0">
                <a:latin typeface="Arial"/>
                <a:cs typeface="Arial"/>
              </a:rPr>
              <a:t> </a:t>
            </a:r>
            <a:r>
              <a:rPr sz="900" dirty="0">
                <a:latin typeface="Arial"/>
                <a:cs typeface="Arial"/>
              </a:rPr>
              <a:t>regularly</a:t>
            </a:r>
            <a:r>
              <a:rPr sz="900" spc="-25" dirty="0">
                <a:latin typeface="Arial"/>
                <a:cs typeface="Arial"/>
              </a:rPr>
              <a:t> </a:t>
            </a:r>
            <a:r>
              <a:rPr sz="900" spc="-10" dirty="0">
                <a:solidFill>
                  <a:srgbClr val="3333B2"/>
                </a:solidFill>
                <a:latin typeface="Arial"/>
                <a:cs typeface="Arial"/>
              </a:rPr>
              <a:t>checkpoint</a:t>
            </a:r>
            <a:r>
              <a:rPr sz="900" spc="-25" dirty="0">
                <a:solidFill>
                  <a:srgbClr val="3333B2"/>
                </a:solidFill>
                <a:latin typeface="Arial"/>
                <a:cs typeface="Arial"/>
              </a:rPr>
              <a:t> </a:t>
            </a:r>
            <a:r>
              <a:rPr sz="900" dirty="0">
                <a:latin typeface="Arial"/>
                <a:cs typeface="Arial"/>
              </a:rPr>
              <a:t>their</a:t>
            </a:r>
            <a:r>
              <a:rPr sz="900" spc="-25" dirty="0">
                <a:latin typeface="Arial"/>
                <a:cs typeface="Arial"/>
              </a:rPr>
              <a:t> </a:t>
            </a:r>
            <a:r>
              <a:rPr sz="900" dirty="0">
                <a:latin typeface="Arial"/>
                <a:cs typeface="Arial"/>
              </a:rPr>
              <a:t>state,</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most</a:t>
            </a:r>
            <a:r>
              <a:rPr sz="900" spc="-20" dirty="0">
                <a:latin typeface="Arial"/>
                <a:cs typeface="Arial"/>
              </a:rPr>
              <a:t> </a:t>
            </a:r>
            <a:r>
              <a:rPr sz="900" spc="-10" dirty="0">
                <a:latin typeface="Arial"/>
                <a:cs typeface="Arial"/>
              </a:rPr>
              <a:t>recent </a:t>
            </a:r>
            <a:r>
              <a:rPr sz="900" dirty="0">
                <a:solidFill>
                  <a:srgbClr val="3333B2"/>
                </a:solidFill>
                <a:latin typeface="Arial"/>
                <a:cs typeface="Arial"/>
              </a:rPr>
              <a:t>consistent</a:t>
            </a:r>
            <a:r>
              <a:rPr sz="900" spc="-40" dirty="0">
                <a:solidFill>
                  <a:srgbClr val="3333B2"/>
                </a:solidFill>
                <a:latin typeface="Arial"/>
                <a:cs typeface="Arial"/>
              </a:rPr>
              <a:t> </a:t>
            </a:r>
            <a:r>
              <a:rPr sz="900" dirty="0">
                <a:solidFill>
                  <a:srgbClr val="3333B2"/>
                </a:solidFill>
                <a:latin typeface="Arial"/>
                <a:cs typeface="Arial"/>
              </a:rPr>
              <a:t>global</a:t>
            </a:r>
            <a:r>
              <a:rPr sz="900" spc="-35" dirty="0">
                <a:solidFill>
                  <a:srgbClr val="3333B2"/>
                </a:solidFill>
                <a:latin typeface="Arial"/>
                <a:cs typeface="Arial"/>
              </a:rPr>
              <a:t> </a:t>
            </a:r>
            <a:r>
              <a:rPr sz="900" spc="-10" dirty="0">
                <a:solidFill>
                  <a:srgbClr val="3333B2"/>
                </a:solidFill>
                <a:latin typeface="Arial"/>
                <a:cs typeface="Arial"/>
              </a:rPr>
              <a:t>checkpoint</a:t>
            </a:r>
            <a:r>
              <a:rPr sz="900" spc="-10" dirty="0">
                <a:latin typeface="Arial"/>
                <a:cs typeface="Arial"/>
              </a:rPr>
              <a:t>.</a:t>
            </a:r>
            <a:endParaRPr sz="900">
              <a:latin typeface="Arial"/>
              <a:cs typeface="Arial"/>
            </a:endParaRPr>
          </a:p>
        </p:txBody>
      </p:sp>
      <p:pic>
        <p:nvPicPr>
          <p:cNvPr id="6" name="object 6"/>
          <p:cNvPicPr/>
          <p:nvPr/>
        </p:nvPicPr>
        <p:blipFill>
          <a:blip r:embed="rId4" cstate="print"/>
          <a:stretch>
            <a:fillRect/>
          </a:stretch>
        </p:blipFill>
        <p:spPr>
          <a:xfrm>
            <a:off x="852933" y="1739250"/>
            <a:ext cx="2939958" cy="941178"/>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42545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5" action="ppaction://hlinksldjump"/>
              </a:rPr>
              <a:t>Checkpointing</a:t>
            </a:r>
            <a:endParaRPr sz="500">
              <a:latin typeface="Arial"/>
              <a:cs typeface="Arial"/>
            </a:endParaRPr>
          </a:p>
        </p:txBody>
      </p:sp>
    </p:spTree>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262602" y="-1515"/>
            <a:ext cx="29210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Recovery</a:t>
            </a:r>
            <a:endParaRPr sz="500">
              <a:latin typeface="Arial"/>
              <a:cs typeface="Arial"/>
            </a:endParaRPr>
          </a:p>
        </p:txBody>
      </p:sp>
      <p:sp>
        <p:nvSpPr>
          <p:cNvPr id="5" name="object 5"/>
          <p:cNvSpPr txBox="1"/>
          <p:nvPr/>
        </p:nvSpPr>
        <p:spPr>
          <a:xfrm>
            <a:off x="95300" y="197711"/>
            <a:ext cx="3703954" cy="1075690"/>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Coordinated</a:t>
            </a:r>
            <a:r>
              <a:rPr sz="1200" spc="-75" dirty="0">
                <a:solidFill>
                  <a:srgbClr val="3333B2"/>
                </a:solidFill>
                <a:latin typeface="Arial"/>
                <a:cs typeface="Arial"/>
              </a:rPr>
              <a:t> </a:t>
            </a:r>
            <a:r>
              <a:rPr sz="1200" spc="-10" dirty="0">
                <a:solidFill>
                  <a:srgbClr val="3333B2"/>
                </a:solidFill>
                <a:latin typeface="Arial"/>
                <a:cs typeface="Arial"/>
              </a:rPr>
              <a:t>checkpointing</a:t>
            </a:r>
            <a:endParaRPr sz="1200">
              <a:latin typeface="Arial"/>
              <a:cs typeface="Arial"/>
            </a:endParaRPr>
          </a:p>
          <a:p>
            <a:pPr marL="264160">
              <a:lnSpc>
                <a:spcPct val="100000"/>
              </a:lnSpc>
              <a:spcBef>
                <a:spcPts val="1055"/>
              </a:spcBef>
            </a:pPr>
            <a:r>
              <a:rPr sz="1000" spc="-10" dirty="0">
                <a:solidFill>
                  <a:srgbClr val="3333B2"/>
                </a:solidFill>
                <a:latin typeface="Arial"/>
                <a:cs typeface="Arial"/>
              </a:rPr>
              <a:t>Essence</a:t>
            </a:r>
            <a:endParaRPr sz="1000">
              <a:latin typeface="Arial"/>
              <a:cs typeface="Arial"/>
            </a:endParaRPr>
          </a:p>
          <a:p>
            <a:pPr marL="264160">
              <a:lnSpc>
                <a:spcPct val="100000"/>
              </a:lnSpc>
              <a:spcBef>
                <a:spcPts val="105"/>
              </a:spcBef>
            </a:pPr>
            <a:r>
              <a:rPr sz="900" dirty="0">
                <a:latin typeface="Arial"/>
                <a:cs typeface="Arial"/>
              </a:rPr>
              <a:t>Each</a:t>
            </a:r>
            <a:r>
              <a:rPr sz="900" spc="-25" dirty="0">
                <a:latin typeface="Arial"/>
                <a:cs typeface="Arial"/>
              </a:rPr>
              <a:t> </a:t>
            </a:r>
            <a:r>
              <a:rPr sz="900" dirty="0">
                <a:latin typeface="Arial"/>
                <a:cs typeface="Arial"/>
              </a:rPr>
              <a:t>process</a:t>
            </a:r>
            <a:r>
              <a:rPr sz="900" spc="-25" dirty="0">
                <a:latin typeface="Arial"/>
                <a:cs typeface="Arial"/>
              </a:rPr>
              <a:t> </a:t>
            </a:r>
            <a:r>
              <a:rPr sz="900" dirty="0">
                <a:latin typeface="Arial"/>
                <a:cs typeface="Arial"/>
              </a:rPr>
              <a:t>takes</a:t>
            </a:r>
            <a:r>
              <a:rPr sz="900" spc="-20"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checkpoint</a:t>
            </a:r>
            <a:r>
              <a:rPr sz="900" spc="-25" dirty="0">
                <a:latin typeface="Arial"/>
                <a:cs typeface="Arial"/>
              </a:rPr>
              <a:t> </a:t>
            </a:r>
            <a:r>
              <a:rPr sz="900" dirty="0">
                <a:latin typeface="Arial"/>
                <a:cs typeface="Arial"/>
              </a:rPr>
              <a:t>after</a:t>
            </a:r>
            <a:r>
              <a:rPr sz="900" spc="-2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globally</a:t>
            </a:r>
            <a:r>
              <a:rPr sz="900" spc="-20" dirty="0">
                <a:latin typeface="Arial"/>
                <a:cs typeface="Arial"/>
              </a:rPr>
              <a:t> </a:t>
            </a:r>
            <a:r>
              <a:rPr sz="900" dirty="0">
                <a:latin typeface="Arial"/>
                <a:cs typeface="Arial"/>
              </a:rPr>
              <a:t>coordinated</a:t>
            </a:r>
            <a:r>
              <a:rPr sz="900" spc="-25" dirty="0">
                <a:latin typeface="Arial"/>
                <a:cs typeface="Arial"/>
              </a:rPr>
              <a:t> </a:t>
            </a:r>
            <a:r>
              <a:rPr sz="900" spc="-10" dirty="0">
                <a:latin typeface="Arial"/>
                <a:cs typeface="Arial"/>
              </a:rPr>
              <a:t>action.</a:t>
            </a:r>
            <a:endParaRPr sz="900">
              <a:latin typeface="Arial"/>
              <a:cs typeface="Arial"/>
            </a:endParaRPr>
          </a:p>
          <a:p>
            <a:pPr marL="264160">
              <a:lnSpc>
                <a:spcPct val="100000"/>
              </a:lnSpc>
              <a:spcBef>
                <a:spcPts val="815"/>
              </a:spcBef>
            </a:pPr>
            <a:r>
              <a:rPr sz="1000" dirty="0">
                <a:solidFill>
                  <a:srgbClr val="3333B2"/>
                </a:solidFill>
                <a:latin typeface="Arial"/>
                <a:cs typeface="Arial"/>
              </a:rPr>
              <a:t>Simple</a:t>
            </a:r>
            <a:r>
              <a:rPr sz="1000" spc="-40" dirty="0">
                <a:solidFill>
                  <a:srgbClr val="3333B2"/>
                </a:solidFill>
                <a:latin typeface="Arial"/>
                <a:cs typeface="Arial"/>
              </a:rPr>
              <a:t> </a:t>
            </a:r>
            <a:r>
              <a:rPr sz="1000" spc="-10" dirty="0">
                <a:solidFill>
                  <a:srgbClr val="3333B2"/>
                </a:solidFill>
                <a:latin typeface="Arial"/>
                <a:cs typeface="Arial"/>
              </a:rPr>
              <a:t>solution</a:t>
            </a:r>
            <a:endParaRPr sz="1000">
              <a:latin typeface="Arial"/>
              <a:cs typeface="Arial"/>
            </a:endParaRPr>
          </a:p>
          <a:p>
            <a:pPr marL="264160">
              <a:lnSpc>
                <a:spcPct val="100000"/>
              </a:lnSpc>
              <a:spcBef>
                <a:spcPts val="295"/>
              </a:spcBef>
            </a:pPr>
            <a:r>
              <a:rPr sz="900" dirty="0">
                <a:latin typeface="Arial"/>
                <a:cs typeface="Arial"/>
              </a:rPr>
              <a:t>Use</a:t>
            </a:r>
            <a:r>
              <a:rPr sz="900" spc="-15" dirty="0">
                <a:latin typeface="Arial"/>
                <a:cs typeface="Arial"/>
              </a:rPr>
              <a:t> </a:t>
            </a:r>
            <a:r>
              <a:rPr sz="900" dirty="0">
                <a:latin typeface="Arial"/>
                <a:cs typeface="Arial"/>
              </a:rPr>
              <a:t>a</a:t>
            </a:r>
            <a:r>
              <a:rPr sz="900" spc="-10" dirty="0">
                <a:latin typeface="Arial"/>
                <a:cs typeface="Arial"/>
              </a:rPr>
              <a:t> two-</a:t>
            </a:r>
            <a:r>
              <a:rPr sz="900" dirty="0">
                <a:latin typeface="Arial"/>
                <a:cs typeface="Arial"/>
              </a:rPr>
              <a:t>phase</a:t>
            </a:r>
            <a:r>
              <a:rPr sz="900" spc="-10" dirty="0">
                <a:latin typeface="Arial"/>
                <a:cs typeface="Arial"/>
              </a:rPr>
              <a:t> blocking</a:t>
            </a:r>
            <a:r>
              <a:rPr sz="900" spc="-15" dirty="0">
                <a:latin typeface="Arial"/>
                <a:cs typeface="Arial"/>
              </a:rPr>
              <a:t> </a:t>
            </a:r>
            <a:r>
              <a:rPr sz="900" spc="-10" dirty="0">
                <a:latin typeface="Arial"/>
                <a:cs typeface="Arial"/>
              </a:rPr>
              <a:t>protocol:</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42545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Checkpointing</a:t>
            </a:r>
            <a:endParaRPr sz="500">
              <a:latin typeface="Arial"/>
              <a:cs typeface="Arial"/>
            </a:endParaRPr>
          </a:p>
        </p:txBody>
      </p:sp>
    </p:spTree>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262602" y="-1515"/>
            <a:ext cx="29210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Recovery</a:t>
            </a:r>
            <a:endParaRPr sz="500">
              <a:latin typeface="Arial"/>
              <a:cs typeface="Arial"/>
            </a:endParaRPr>
          </a:p>
        </p:txBody>
      </p:sp>
      <p:sp>
        <p:nvSpPr>
          <p:cNvPr id="5" name="object 5"/>
          <p:cNvSpPr txBox="1"/>
          <p:nvPr/>
        </p:nvSpPr>
        <p:spPr>
          <a:xfrm>
            <a:off x="69900" y="197711"/>
            <a:ext cx="3754754" cy="1278890"/>
          </a:xfrm>
          <a:prstGeom prst="rect">
            <a:avLst/>
          </a:prstGeom>
        </p:spPr>
        <p:txBody>
          <a:bodyPr vert="horz" wrap="square" lIns="0" tIns="12065" rIns="0" bIns="0" rtlCol="0">
            <a:spAutoFit/>
          </a:bodyPr>
          <a:lstStyle/>
          <a:p>
            <a:pPr marL="38100">
              <a:lnSpc>
                <a:spcPct val="100000"/>
              </a:lnSpc>
              <a:spcBef>
                <a:spcPts val="95"/>
              </a:spcBef>
            </a:pPr>
            <a:r>
              <a:rPr sz="1200" dirty="0">
                <a:solidFill>
                  <a:srgbClr val="3333B2"/>
                </a:solidFill>
                <a:latin typeface="Arial"/>
                <a:cs typeface="Arial"/>
              </a:rPr>
              <a:t>Coordinated</a:t>
            </a:r>
            <a:r>
              <a:rPr sz="1200" spc="-75" dirty="0">
                <a:solidFill>
                  <a:srgbClr val="3333B2"/>
                </a:solidFill>
                <a:latin typeface="Arial"/>
                <a:cs typeface="Arial"/>
              </a:rPr>
              <a:t> </a:t>
            </a:r>
            <a:r>
              <a:rPr sz="1200" spc="-10" dirty="0">
                <a:solidFill>
                  <a:srgbClr val="3333B2"/>
                </a:solidFill>
                <a:latin typeface="Arial"/>
                <a:cs typeface="Arial"/>
              </a:rPr>
              <a:t>checkpointing</a:t>
            </a:r>
            <a:endParaRPr sz="1200">
              <a:latin typeface="Arial"/>
              <a:cs typeface="Arial"/>
            </a:endParaRPr>
          </a:p>
          <a:p>
            <a:pPr marL="289560">
              <a:lnSpc>
                <a:spcPct val="100000"/>
              </a:lnSpc>
              <a:spcBef>
                <a:spcPts val="1055"/>
              </a:spcBef>
            </a:pPr>
            <a:r>
              <a:rPr sz="1000" spc="-10" dirty="0">
                <a:solidFill>
                  <a:srgbClr val="3333B2"/>
                </a:solidFill>
                <a:latin typeface="Arial"/>
                <a:cs typeface="Arial"/>
              </a:rPr>
              <a:t>Essence</a:t>
            </a:r>
            <a:endParaRPr sz="1000">
              <a:latin typeface="Arial"/>
              <a:cs typeface="Arial"/>
            </a:endParaRPr>
          </a:p>
          <a:p>
            <a:pPr marL="289560">
              <a:lnSpc>
                <a:spcPct val="100000"/>
              </a:lnSpc>
              <a:spcBef>
                <a:spcPts val="105"/>
              </a:spcBef>
            </a:pPr>
            <a:r>
              <a:rPr sz="900" dirty="0">
                <a:latin typeface="Arial"/>
                <a:cs typeface="Arial"/>
              </a:rPr>
              <a:t>Each</a:t>
            </a:r>
            <a:r>
              <a:rPr sz="900" spc="-25" dirty="0">
                <a:latin typeface="Arial"/>
                <a:cs typeface="Arial"/>
              </a:rPr>
              <a:t> </a:t>
            </a:r>
            <a:r>
              <a:rPr sz="900" dirty="0">
                <a:latin typeface="Arial"/>
                <a:cs typeface="Arial"/>
              </a:rPr>
              <a:t>process</a:t>
            </a:r>
            <a:r>
              <a:rPr sz="900" spc="-25" dirty="0">
                <a:latin typeface="Arial"/>
                <a:cs typeface="Arial"/>
              </a:rPr>
              <a:t> </a:t>
            </a:r>
            <a:r>
              <a:rPr sz="900" dirty="0">
                <a:latin typeface="Arial"/>
                <a:cs typeface="Arial"/>
              </a:rPr>
              <a:t>takes</a:t>
            </a:r>
            <a:r>
              <a:rPr sz="900" spc="-20"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checkpoint</a:t>
            </a:r>
            <a:r>
              <a:rPr sz="900" spc="-25" dirty="0">
                <a:latin typeface="Arial"/>
                <a:cs typeface="Arial"/>
              </a:rPr>
              <a:t> </a:t>
            </a:r>
            <a:r>
              <a:rPr sz="900" dirty="0">
                <a:latin typeface="Arial"/>
                <a:cs typeface="Arial"/>
              </a:rPr>
              <a:t>after</a:t>
            </a:r>
            <a:r>
              <a:rPr sz="900" spc="-2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globally</a:t>
            </a:r>
            <a:r>
              <a:rPr sz="900" spc="-20" dirty="0">
                <a:latin typeface="Arial"/>
                <a:cs typeface="Arial"/>
              </a:rPr>
              <a:t> </a:t>
            </a:r>
            <a:r>
              <a:rPr sz="900" dirty="0">
                <a:latin typeface="Arial"/>
                <a:cs typeface="Arial"/>
              </a:rPr>
              <a:t>coordinated</a:t>
            </a:r>
            <a:r>
              <a:rPr sz="900" spc="-25" dirty="0">
                <a:latin typeface="Arial"/>
                <a:cs typeface="Arial"/>
              </a:rPr>
              <a:t> </a:t>
            </a:r>
            <a:r>
              <a:rPr sz="900" spc="-10" dirty="0">
                <a:latin typeface="Arial"/>
                <a:cs typeface="Arial"/>
              </a:rPr>
              <a:t>action.</a:t>
            </a:r>
            <a:endParaRPr sz="900">
              <a:latin typeface="Arial"/>
              <a:cs typeface="Arial"/>
            </a:endParaRPr>
          </a:p>
          <a:p>
            <a:pPr marL="289560">
              <a:lnSpc>
                <a:spcPct val="100000"/>
              </a:lnSpc>
              <a:spcBef>
                <a:spcPts val="815"/>
              </a:spcBef>
            </a:pPr>
            <a:r>
              <a:rPr sz="1000" dirty="0">
                <a:solidFill>
                  <a:srgbClr val="3333B2"/>
                </a:solidFill>
                <a:latin typeface="Arial"/>
                <a:cs typeface="Arial"/>
              </a:rPr>
              <a:t>Simple</a:t>
            </a:r>
            <a:r>
              <a:rPr sz="1000" spc="-40" dirty="0">
                <a:solidFill>
                  <a:srgbClr val="3333B2"/>
                </a:solidFill>
                <a:latin typeface="Arial"/>
                <a:cs typeface="Arial"/>
              </a:rPr>
              <a:t> </a:t>
            </a:r>
            <a:r>
              <a:rPr sz="1000" spc="-10" dirty="0">
                <a:solidFill>
                  <a:srgbClr val="3333B2"/>
                </a:solidFill>
                <a:latin typeface="Arial"/>
                <a:cs typeface="Arial"/>
              </a:rPr>
              <a:t>solution</a:t>
            </a:r>
            <a:endParaRPr sz="1000">
              <a:latin typeface="Arial"/>
              <a:cs typeface="Arial"/>
            </a:endParaRPr>
          </a:p>
          <a:p>
            <a:pPr marL="289560">
              <a:lnSpc>
                <a:spcPct val="100000"/>
              </a:lnSpc>
              <a:spcBef>
                <a:spcPts val="295"/>
              </a:spcBef>
            </a:pPr>
            <a:r>
              <a:rPr sz="900" dirty="0">
                <a:latin typeface="Arial"/>
                <a:cs typeface="Arial"/>
              </a:rPr>
              <a:t>Use</a:t>
            </a:r>
            <a:r>
              <a:rPr sz="900" spc="-15" dirty="0">
                <a:latin typeface="Arial"/>
                <a:cs typeface="Arial"/>
              </a:rPr>
              <a:t> </a:t>
            </a:r>
            <a:r>
              <a:rPr sz="900" dirty="0">
                <a:latin typeface="Arial"/>
                <a:cs typeface="Arial"/>
              </a:rPr>
              <a:t>a</a:t>
            </a:r>
            <a:r>
              <a:rPr sz="900" spc="-10" dirty="0">
                <a:latin typeface="Arial"/>
                <a:cs typeface="Arial"/>
              </a:rPr>
              <a:t> two-</a:t>
            </a:r>
            <a:r>
              <a:rPr sz="900" dirty="0">
                <a:latin typeface="Arial"/>
                <a:cs typeface="Arial"/>
              </a:rPr>
              <a:t>phase</a:t>
            </a:r>
            <a:r>
              <a:rPr sz="900" spc="-10" dirty="0">
                <a:latin typeface="Arial"/>
                <a:cs typeface="Arial"/>
              </a:rPr>
              <a:t> blocking</a:t>
            </a:r>
            <a:r>
              <a:rPr sz="900" spc="-15" dirty="0">
                <a:latin typeface="Arial"/>
                <a:cs typeface="Arial"/>
              </a:rPr>
              <a:t> </a:t>
            </a:r>
            <a:r>
              <a:rPr sz="900" spc="-10" dirty="0">
                <a:latin typeface="Arial"/>
                <a:cs typeface="Arial"/>
              </a:rPr>
              <a:t>protocol:</a:t>
            </a:r>
            <a:endParaRPr sz="900">
              <a:latin typeface="Arial"/>
              <a:cs typeface="Arial"/>
            </a:endParaRPr>
          </a:p>
          <a:p>
            <a:pPr marL="539115" indent="-116839">
              <a:lnSpc>
                <a:spcPct val="100000"/>
              </a:lnSpc>
              <a:spcBef>
                <a:spcPts val="525"/>
              </a:spcBef>
              <a:buClr>
                <a:srgbClr val="3333B2"/>
              </a:buClr>
              <a:buFont typeface="Menlo"/>
              <a:buChar char="•"/>
              <a:tabLst>
                <a:tab pos="539750" algn="l"/>
              </a:tabLst>
            </a:pPr>
            <a:r>
              <a:rPr sz="900" dirty="0">
                <a:latin typeface="Arial"/>
                <a:cs typeface="Arial"/>
              </a:rPr>
              <a:t>A</a:t>
            </a:r>
            <a:r>
              <a:rPr sz="900" spc="-25" dirty="0">
                <a:latin typeface="Arial"/>
                <a:cs typeface="Arial"/>
              </a:rPr>
              <a:t> </a:t>
            </a:r>
            <a:r>
              <a:rPr sz="900" dirty="0">
                <a:latin typeface="Arial"/>
                <a:cs typeface="Arial"/>
              </a:rPr>
              <a:t>coordinator</a:t>
            </a:r>
            <a:r>
              <a:rPr sz="900" spc="-20" dirty="0">
                <a:latin typeface="Arial"/>
                <a:cs typeface="Arial"/>
              </a:rPr>
              <a:t> </a:t>
            </a:r>
            <a:r>
              <a:rPr sz="900" dirty="0">
                <a:latin typeface="Arial"/>
                <a:cs typeface="Arial"/>
              </a:rPr>
              <a:t>multicasts</a:t>
            </a:r>
            <a:r>
              <a:rPr sz="900" spc="-20" dirty="0">
                <a:latin typeface="Arial"/>
                <a:cs typeface="Arial"/>
              </a:rPr>
              <a:t> </a:t>
            </a:r>
            <a:r>
              <a:rPr sz="900" dirty="0">
                <a:latin typeface="Arial"/>
                <a:cs typeface="Arial"/>
              </a:rPr>
              <a:t>a</a:t>
            </a:r>
            <a:r>
              <a:rPr sz="900" spc="-25" dirty="0">
                <a:latin typeface="Arial"/>
                <a:cs typeface="Arial"/>
              </a:rPr>
              <a:t> </a:t>
            </a:r>
            <a:r>
              <a:rPr sz="900" spc="-10" dirty="0">
                <a:solidFill>
                  <a:srgbClr val="3333B2"/>
                </a:solidFill>
                <a:latin typeface="Arial"/>
                <a:cs typeface="Arial"/>
              </a:rPr>
              <a:t>checkpoint</a:t>
            </a:r>
            <a:r>
              <a:rPr sz="900" spc="-20" dirty="0">
                <a:solidFill>
                  <a:srgbClr val="3333B2"/>
                </a:solidFill>
                <a:latin typeface="Arial"/>
                <a:cs typeface="Arial"/>
              </a:rPr>
              <a:t> </a:t>
            </a:r>
            <a:r>
              <a:rPr sz="900" dirty="0">
                <a:solidFill>
                  <a:srgbClr val="3333B2"/>
                </a:solidFill>
                <a:latin typeface="Arial"/>
                <a:cs typeface="Arial"/>
              </a:rPr>
              <a:t>request</a:t>
            </a:r>
            <a:r>
              <a:rPr sz="900" spc="-20" dirty="0">
                <a:solidFill>
                  <a:srgbClr val="3333B2"/>
                </a:solidFill>
                <a:latin typeface="Arial"/>
                <a:cs typeface="Arial"/>
              </a:rPr>
              <a:t> </a:t>
            </a:r>
            <a:r>
              <a:rPr sz="900" spc="-10" dirty="0">
                <a:latin typeface="Arial"/>
                <a:cs typeface="Arial"/>
              </a:rPr>
              <a:t>message</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42545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Checkpointing</a:t>
            </a:r>
            <a:endParaRPr sz="500">
              <a:latin typeface="Arial"/>
              <a:cs typeface="Arial"/>
            </a:endParaRPr>
          </a:p>
        </p:txBody>
      </p:sp>
    </p:spTree>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262602" y="-1515"/>
            <a:ext cx="29210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Recovery</a:t>
            </a:r>
            <a:endParaRPr sz="500">
              <a:latin typeface="Arial"/>
              <a:cs typeface="Arial"/>
            </a:endParaRPr>
          </a:p>
        </p:txBody>
      </p:sp>
      <p:sp>
        <p:nvSpPr>
          <p:cNvPr id="5" name="object 5"/>
          <p:cNvSpPr txBox="1"/>
          <p:nvPr/>
        </p:nvSpPr>
        <p:spPr>
          <a:xfrm>
            <a:off x="69900" y="197711"/>
            <a:ext cx="4216400" cy="1738630"/>
          </a:xfrm>
          <a:prstGeom prst="rect">
            <a:avLst/>
          </a:prstGeom>
        </p:spPr>
        <p:txBody>
          <a:bodyPr vert="horz" wrap="square" lIns="0" tIns="12065" rIns="0" bIns="0" rtlCol="0">
            <a:spAutoFit/>
          </a:bodyPr>
          <a:lstStyle/>
          <a:p>
            <a:pPr marL="38100">
              <a:lnSpc>
                <a:spcPct val="100000"/>
              </a:lnSpc>
              <a:spcBef>
                <a:spcPts val="95"/>
              </a:spcBef>
            </a:pPr>
            <a:r>
              <a:rPr sz="1200" dirty="0">
                <a:solidFill>
                  <a:srgbClr val="3333B2"/>
                </a:solidFill>
                <a:latin typeface="Arial"/>
                <a:cs typeface="Arial"/>
              </a:rPr>
              <a:t>Coordinated</a:t>
            </a:r>
            <a:r>
              <a:rPr sz="1200" spc="-75" dirty="0">
                <a:solidFill>
                  <a:srgbClr val="3333B2"/>
                </a:solidFill>
                <a:latin typeface="Arial"/>
                <a:cs typeface="Arial"/>
              </a:rPr>
              <a:t> </a:t>
            </a:r>
            <a:r>
              <a:rPr sz="1200" spc="-10" dirty="0">
                <a:solidFill>
                  <a:srgbClr val="3333B2"/>
                </a:solidFill>
                <a:latin typeface="Arial"/>
                <a:cs typeface="Arial"/>
              </a:rPr>
              <a:t>checkpointing</a:t>
            </a:r>
            <a:endParaRPr sz="1200">
              <a:latin typeface="Arial"/>
              <a:cs typeface="Arial"/>
            </a:endParaRPr>
          </a:p>
          <a:p>
            <a:pPr marL="289560">
              <a:lnSpc>
                <a:spcPct val="100000"/>
              </a:lnSpc>
              <a:spcBef>
                <a:spcPts val="1055"/>
              </a:spcBef>
            </a:pPr>
            <a:r>
              <a:rPr sz="1000" spc="-10" dirty="0">
                <a:solidFill>
                  <a:srgbClr val="3333B2"/>
                </a:solidFill>
                <a:latin typeface="Arial"/>
                <a:cs typeface="Arial"/>
              </a:rPr>
              <a:t>Essence</a:t>
            </a:r>
            <a:endParaRPr sz="1000">
              <a:latin typeface="Arial"/>
              <a:cs typeface="Arial"/>
            </a:endParaRPr>
          </a:p>
          <a:p>
            <a:pPr marL="289560">
              <a:lnSpc>
                <a:spcPct val="100000"/>
              </a:lnSpc>
              <a:spcBef>
                <a:spcPts val="105"/>
              </a:spcBef>
            </a:pPr>
            <a:r>
              <a:rPr sz="900" dirty="0">
                <a:latin typeface="Arial"/>
                <a:cs typeface="Arial"/>
              </a:rPr>
              <a:t>Each</a:t>
            </a:r>
            <a:r>
              <a:rPr sz="900" spc="-25" dirty="0">
                <a:latin typeface="Arial"/>
                <a:cs typeface="Arial"/>
              </a:rPr>
              <a:t> </a:t>
            </a:r>
            <a:r>
              <a:rPr sz="900" dirty="0">
                <a:latin typeface="Arial"/>
                <a:cs typeface="Arial"/>
              </a:rPr>
              <a:t>process</a:t>
            </a:r>
            <a:r>
              <a:rPr sz="900" spc="-25" dirty="0">
                <a:latin typeface="Arial"/>
                <a:cs typeface="Arial"/>
              </a:rPr>
              <a:t> </a:t>
            </a:r>
            <a:r>
              <a:rPr sz="900" dirty="0">
                <a:latin typeface="Arial"/>
                <a:cs typeface="Arial"/>
              </a:rPr>
              <a:t>takes</a:t>
            </a:r>
            <a:r>
              <a:rPr sz="900" spc="-20"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checkpoint</a:t>
            </a:r>
            <a:r>
              <a:rPr sz="900" spc="-25" dirty="0">
                <a:latin typeface="Arial"/>
                <a:cs typeface="Arial"/>
              </a:rPr>
              <a:t> </a:t>
            </a:r>
            <a:r>
              <a:rPr sz="900" dirty="0">
                <a:latin typeface="Arial"/>
                <a:cs typeface="Arial"/>
              </a:rPr>
              <a:t>after</a:t>
            </a:r>
            <a:r>
              <a:rPr sz="900" spc="-2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globally</a:t>
            </a:r>
            <a:r>
              <a:rPr sz="900" spc="-20" dirty="0">
                <a:latin typeface="Arial"/>
                <a:cs typeface="Arial"/>
              </a:rPr>
              <a:t> </a:t>
            </a:r>
            <a:r>
              <a:rPr sz="900" dirty="0">
                <a:latin typeface="Arial"/>
                <a:cs typeface="Arial"/>
              </a:rPr>
              <a:t>coordinated</a:t>
            </a:r>
            <a:r>
              <a:rPr sz="900" spc="-25" dirty="0">
                <a:latin typeface="Arial"/>
                <a:cs typeface="Arial"/>
              </a:rPr>
              <a:t> </a:t>
            </a:r>
            <a:r>
              <a:rPr sz="900" spc="-10" dirty="0">
                <a:latin typeface="Arial"/>
                <a:cs typeface="Arial"/>
              </a:rPr>
              <a:t>action.</a:t>
            </a:r>
            <a:endParaRPr sz="900">
              <a:latin typeface="Arial"/>
              <a:cs typeface="Arial"/>
            </a:endParaRPr>
          </a:p>
          <a:p>
            <a:pPr marL="289560">
              <a:lnSpc>
                <a:spcPct val="100000"/>
              </a:lnSpc>
              <a:spcBef>
                <a:spcPts val="815"/>
              </a:spcBef>
            </a:pPr>
            <a:r>
              <a:rPr sz="1000" dirty="0">
                <a:solidFill>
                  <a:srgbClr val="3333B2"/>
                </a:solidFill>
                <a:latin typeface="Arial"/>
                <a:cs typeface="Arial"/>
              </a:rPr>
              <a:t>Simple</a:t>
            </a:r>
            <a:r>
              <a:rPr sz="1000" spc="-40" dirty="0">
                <a:solidFill>
                  <a:srgbClr val="3333B2"/>
                </a:solidFill>
                <a:latin typeface="Arial"/>
                <a:cs typeface="Arial"/>
              </a:rPr>
              <a:t> </a:t>
            </a:r>
            <a:r>
              <a:rPr sz="1000" spc="-10" dirty="0">
                <a:solidFill>
                  <a:srgbClr val="3333B2"/>
                </a:solidFill>
                <a:latin typeface="Arial"/>
                <a:cs typeface="Arial"/>
              </a:rPr>
              <a:t>solution</a:t>
            </a:r>
            <a:endParaRPr sz="1000">
              <a:latin typeface="Arial"/>
              <a:cs typeface="Arial"/>
            </a:endParaRPr>
          </a:p>
          <a:p>
            <a:pPr marL="289560">
              <a:lnSpc>
                <a:spcPct val="100000"/>
              </a:lnSpc>
              <a:spcBef>
                <a:spcPts val="295"/>
              </a:spcBef>
            </a:pPr>
            <a:r>
              <a:rPr sz="900" dirty="0">
                <a:latin typeface="Arial"/>
                <a:cs typeface="Arial"/>
              </a:rPr>
              <a:t>Use</a:t>
            </a:r>
            <a:r>
              <a:rPr sz="900" spc="-15" dirty="0">
                <a:latin typeface="Arial"/>
                <a:cs typeface="Arial"/>
              </a:rPr>
              <a:t> </a:t>
            </a:r>
            <a:r>
              <a:rPr sz="900" dirty="0">
                <a:latin typeface="Arial"/>
                <a:cs typeface="Arial"/>
              </a:rPr>
              <a:t>a</a:t>
            </a:r>
            <a:r>
              <a:rPr sz="900" spc="-10" dirty="0">
                <a:latin typeface="Arial"/>
                <a:cs typeface="Arial"/>
              </a:rPr>
              <a:t> two-</a:t>
            </a:r>
            <a:r>
              <a:rPr sz="900" dirty="0">
                <a:latin typeface="Arial"/>
                <a:cs typeface="Arial"/>
              </a:rPr>
              <a:t>phase</a:t>
            </a:r>
            <a:r>
              <a:rPr sz="900" spc="-10" dirty="0">
                <a:latin typeface="Arial"/>
                <a:cs typeface="Arial"/>
              </a:rPr>
              <a:t> blocking</a:t>
            </a:r>
            <a:r>
              <a:rPr sz="900" spc="-15" dirty="0">
                <a:latin typeface="Arial"/>
                <a:cs typeface="Arial"/>
              </a:rPr>
              <a:t> </a:t>
            </a:r>
            <a:r>
              <a:rPr sz="900" spc="-10" dirty="0">
                <a:latin typeface="Arial"/>
                <a:cs typeface="Arial"/>
              </a:rPr>
              <a:t>protocol:</a:t>
            </a:r>
            <a:endParaRPr sz="900">
              <a:latin typeface="Arial"/>
              <a:cs typeface="Arial"/>
            </a:endParaRPr>
          </a:p>
          <a:p>
            <a:pPr marL="539115" indent="-116839">
              <a:lnSpc>
                <a:spcPct val="100000"/>
              </a:lnSpc>
              <a:spcBef>
                <a:spcPts val="525"/>
              </a:spcBef>
              <a:buClr>
                <a:srgbClr val="3333B2"/>
              </a:buClr>
              <a:buFont typeface="Menlo"/>
              <a:buChar char="•"/>
              <a:tabLst>
                <a:tab pos="539750" algn="l"/>
              </a:tabLst>
            </a:pPr>
            <a:r>
              <a:rPr sz="900" dirty="0">
                <a:latin typeface="Arial"/>
                <a:cs typeface="Arial"/>
              </a:rPr>
              <a:t>A</a:t>
            </a:r>
            <a:r>
              <a:rPr sz="900" spc="-25" dirty="0">
                <a:latin typeface="Arial"/>
                <a:cs typeface="Arial"/>
              </a:rPr>
              <a:t> </a:t>
            </a:r>
            <a:r>
              <a:rPr sz="900" dirty="0">
                <a:latin typeface="Arial"/>
                <a:cs typeface="Arial"/>
              </a:rPr>
              <a:t>coordinator</a:t>
            </a:r>
            <a:r>
              <a:rPr sz="900" spc="-20" dirty="0">
                <a:latin typeface="Arial"/>
                <a:cs typeface="Arial"/>
              </a:rPr>
              <a:t> </a:t>
            </a:r>
            <a:r>
              <a:rPr sz="900" dirty="0">
                <a:latin typeface="Arial"/>
                <a:cs typeface="Arial"/>
              </a:rPr>
              <a:t>multicasts</a:t>
            </a:r>
            <a:r>
              <a:rPr sz="900" spc="-20" dirty="0">
                <a:latin typeface="Arial"/>
                <a:cs typeface="Arial"/>
              </a:rPr>
              <a:t> </a:t>
            </a:r>
            <a:r>
              <a:rPr sz="900" dirty="0">
                <a:latin typeface="Arial"/>
                <a:cs typeface="Arial"/>
              </a:rPr>
              <a:t>a</a:t>
            </a:r>
            <a:r>
              <a:rPr sz="900" spc="-25" dirty="0">
                <a:latin typeface="Arial"/>
                <a:cs typeface="Arial"/>
              </a:rPr>
              <a:t> </a:t>
            </a:r>
            <a:r>
              <a:rPr sz="900" spc="-10" dirty="0">
                <a:solidFill>
                  <a:srgbClr val="3333B2"/>
                </a:solidFill>
                <a:latin typeface="Arial"/>
                <a:cs typeface="Arial"/>
              </a:rPr>
              <a:t>checkpoint</a:t>
            </a:r>
            <a:r>
              <a:rPr sz="900" spc="-20" dirty="0">
                <a:solidFill>
                  <a:srgbClr val="3333B2"/>
                </a:solidFill>
                <a:latin typeface="Arial"/>
                <a:cs typeface="Arial"/>
              </a:rPr>
              <a:t> </a:t>
            </a:r>
            <a:r>
              <a:rPr sz="900" dirty="0">
                <a:solidFill>
                  <a:srgbClr val="3333B2"/>
                </a:solidFill>
                <a:latin typeface="Arial"/>
                <a:cs typeface="Arial"/>
              </a:rPr>
              <a:t>request</a:t>
            </a:r>
            <a:r>
              <a:rPr sz="900" spc="-20" dirty="0">
                <a:solidFill>
                  <a:srgbClr val="3333B2"/>
                </a:solidFill>
                <a:latin typeface="Arial"/>
                <a:cs typeface="Arial"/>
              </a:rPr>
              <a:t> </a:t>
            </a:r>
            <a:r>
              <a:rPr sz="900" spc="-10" dirty="0">
                <a:latin typeface="Arial"/>
                <a:cs typeface="Arial"/>
              </a:rPr>
              <a:t>message</a:t>
            </a:r>
            <a:endParaRPr sz="900">
              <a:latin typeface="Arial"/>
              <a:cs typeface="Arial"/>
            </a:endParaRPr>
          </a:p>
          <a:p>
            <a:pPr marL="542925" marR="30480" indent="-120650">
              <a:lnSpc>
                <a:spcPct val="111600"/>
              </a:lnSpc>
              <a:buClr>
                <a:srgbClr val="3333B2"/>
              </a:buClr>
              <a:buFont typeface="Menlo"/>
              <a:buChar char="•"/>
              <a:tabLst>
                <a:tab pos="537845" algn="l"/>
              </a:tabLst>
            </a:pPr>
            <a:r>
              <a:rPr sz="900" dirty="0">
                <a:latin typeface="Arial"/>
                <a:cs typeface="Arial"/>
              </a:rPr>
              <a:t>When</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participant</a:t>
            </a:r>
            <a:r>
              <a:rPr sz="900" spc="-25" dirty="0">
                <a:latin typeface="Arial"/>
                <a:cs typeface="Arial"/>
              </a:rPr>
              <a:t> </a:t>
            </a:r>
            <a:r>
              <a:rPr sz="900" spc="-10" dirty="0">
                <a:latin typeface="Arial"/>
                <a:cs typeface="Arial"/>
              </a:rPr>
              <a:t>receives</a:t>
            </a:r>
            <a:r>
              <a:rPr sz="900" spc="-25" dirty="0">
                <a:latin typeface="Arial"/>
                <a:cs typeface="Arial"/>
              </a:rPr>
              <a:t> </a:t>
            </a:r>
            <a:r>
              <a:rPr sz="900" dirty="0">
                <a:latin typeface="Arial"/>
                <a:cs typeface="Arial"/>
              </a:rPr>
              <a:t>such</a:t>
            </a:r>
            <a:r>
              <a:rPr sz="900" spc="-25"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message,</a:t>
            </a:r>
            <a:r>
              <a:rPr sz="900" spc="-20" dirty="0">
                <a:latin typeface="Arial"/>
                <a:cs typeface="Arial"/>
              </a:rPr>
              <a:t> </a:t>
            </a:r>
            <a:r>
              <a:rPr sz="900" dirty="0">
                <a:latin typeface="Arial"/>
                <a:cs typeface="Arial"/>
              </a:rPr>
              <a:t>it</a:t>
            </a:r>
            <a:r>
              <a:rPr sz="900" spc="-25" dirty="0">
                <a:latin typeface="Arial"/>
                <a:cs typeface="Arial"/>
              </a:rPr>
              <a:t> </a:t>
            </a:r>
            <a:r>
              <a:rPr sz="900" spc="-10" dirty="0">
                <a:latin typeface="Arial"/>
                <a:cs typeface="Arial"/>
              </a:rPr>
              <a:t>takes</a:t>
            </a:r>
            <a:r>
              <a:rPr sz="900" spc="-25"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checkpoint,</a:t>
            </a:r>
            <a:r>
              <a:rPr sz="900" spc="-25" dirty="0">
                <a:latin typeface="Arial"/>
                <a:cs typeface="Arial"/>
              </a:rPr>
              <a:t> </a:t>
            </a:r>
            <a:r>
              <a:rPr sz="900" spc="-10" dirty="0">
                <a:latin typeface="Arial"/>
                <a:cs typeface="Arial"/>
              </a:rPr>
              <a:t>stops </a:t>
            </a:r>
            <a:r>
              <a:rPr sz="900" dirty="0">
                <a:latin typeface="Arial"/>
                <a:cs typeface="Arial"/>
              </a:rPr>
              <a:t>sending</a:t>
            </a:r>
            <a:r>
              <a:rPr sz="900" spc="-25" dirty="0">
                <a:latin typeface="Arial"/>
                <a:cs typeface="Arial"/>
              </a:rPr>
              <a:t> </a:t>
            </a:r>
            <a:r>
              <a:rPr sz="900" dirty="0">
                <a:latin typeface="Arial"/>
                <a:cs typeface="Arial"/>
              </a:rPr>
              <a:t>(application)</a:t>
            </a:r>
            <a:r>
              <a:rPr sz="900" spc="-20" dirty="0">
                <a:latin typeface="Arial"/>
                <a:cs typeface="Arial"/>
              </a:rPr>
              <a:t> </a:t>
            </a:r>
            <a:r>
              <a:rPr sz="900" spc="-10" dirty="0">
                <a:latin typeface="Arial"/>
                <a:cs typeface="Arial"/>
              </a:rPr>
              <a:t>messages,</a:t>
            </a:r>
            <a:r>
              <a:rPr sz="900" spc="-25" dirty="0">
                <a:latin typeface="Arial"/>
                <a:cs typeface="Arial"/>
              </a:rPr>
              <a:t> </a:t>
            </a:r>
            <a:r>
              <a:rPr sz="900" dirty="0">
                <a:latin typeface="Arial"/>
                <a:cs typeface="Arial"/>
              </a:rPr>
              <a:t>and</a:t>
            </a:r>
            <a:r>
              <a:rPr sz="900" spc="-20" dirty="0">
                <a:latin typeface="Arial"/>
                <a:cs typeface="Arial"/>
              </a:rPr>
              <a:t> </a:t>
            </a:r>
            <a:r>
              <a:rPr sz="900" dirty="0">
                <a:latin typeface="Arial"/>
                <a:cs typeface="Arial"/>
              </a:rPr>
              <a:t>reports</a:t>
            </a:r>
            <a:r>
              <a:rPr sz="900" spc="-25" dirty="0">
                <a:latin typeface="Arial"/>
                <a:cs typeface="Arial"/>
              </a:rPr>
              <a:t> </a:t>
            </a:r>
            <a:r>
              <a:rPr sz="900" dirty="0">
                <a:latin typeface="Arial"/>
                <a:cs typeface="Arial"/>
              </a:rPr>
              <a:t>back</a:t>
            </a:r>
            <a:r>
              <a:rPr sz="900" spc="-20"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it</a:t>
            </a:r>
            <a:r>
              <a:rPr sz="900" spc="-20" dirty="0">
                <a:latin typeface="Arial"/>
                <a:cs typeface="Arial"/>
              </a:rPr>
              <a:t> </a:t>
            </a:r>
            <a:r>
              <a:rPr sz="900" dirty="0">
                <a:latin typeface="Arial"/>
                <a:cs typeface="Arial"/>
              </a:rPr>
              <a:t>has</a:t>
            </a:r>
            <a:r>
              <a:rPr sz="900" spc="-20" dirty="0">
                <a:latin typeface="Arial"/>
                <a:cs typeface="Arial"/>
              </a:rPr>
              <a:t> </a:t>
            </a:r>
            <a:r>
              <a:rPr sz="900" dirty="0">
                <a:latin typeface="Arial"/>
                <a:cs typeface="Arial"/>
              </a:rPr>
              <a:t>taken</a:t>
            </a:r>
            <a:r>
              <a:rPr sz="900" spc="-25" dirty="0">
                <a:latin typeface="Arial"/>
                <a:cs typeface="Arial"/>
              </a:rPr>
              <a:t> </a:t>
            </a:r>
            <a:r>
              <a:rPr sz="900" spc="-50" dirty="0">
                <a:latin typeface="Arial"/>
                <a:cs typeface="Arial"/>
              </a:rPr>
              <a:t>a</a:t>
            </a:r>
            <a:r>
              <a:rPr sz="900" spc="-10" dirty="0">
                <a:latin typeface="Arial"/>
                <a:cs typeface="Arial"/>
              </a:rPr>
              <a:t> checkpoint</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42545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Checkpointing</a:t>
            </a:r>
            <a:endParaRPr sz="500">
              <a:latin typeface="Arial"/>
              <a:cs typeface="Arial"/>
            </a:endParaRPr>
          </a:p>
        </p:txBody>
      </p:sp>
    </p:spTree>
  </p:cSld>
  <p:clrMapOvr>
    <a:masterClrMapping/>
  </p:clrMapOvr>
  <p:transition>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262602" y="-1515"/>
            <a:ext cx="29210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Recovery</a:t>
            </a:r>
            <a:endParaRPr sz="500">
              <a:latin typeface="Arial"/>
              <a:cs typeface="Arial"/>
            </a:endParaRPr>
          </a:p>
        </p:txBody>
      </p:sp>
      <p:sp>
        <p:nvSpPr>
          <p:cNvPr id="5" name="object 5"/>
          <p:cNvSpPr txBox="1"/>
          <p:nvPr/>
        </p:nvSpPr>
        <p:spPr>
          <a:xfrm>
            <a:off x="69900" y="197711"/>
            <a:ext cx="4216400" cy="2044700"/>
          </a:xfrm>
          <a:prstGeom prst="rect">
            <a:avLst/>
          </a:prstGeom>
        </p:spPr>
        <p:txBody>
          <a:bodyPr vert="horz" wrap="square" lIns="0" tIns="12065" rIns="0" bIns="0" rtlCol="0">
            <a:spAutoFit/>
          </a:bodyPr>
          <a:lstStyle/>
          <a:p>
            <a:pPr marL="38100">
              <a:lnSpc>
                <a:spcPct val="100000"/>
              </a:lnSpc>
              <a:spcBef>
                <a:spcPts val="95"/>
              </a:spcBef>
            </a:pPr>
            <a:r>
              <a:rPr sz="1200" dirty="0">
                <a:solidFill>
                  <a:srgbClr val="3333B2"/>
                </a:solidFill>
                <a:latin typeface="Arial"/>
                <a:cs typeface="Arial"/>
              </a:rPr>
              <a:t>Coordinated</a:t>
            </a:r>
            <a:r>
              <a:rPr sz="1200" spc="-75" dirty="0">
                <a:solidFill>
                  <a:srgbClr val="3333B2"/>
                </a:solidFill>
                <a:latin typeface="Arial"/>
                <a:cs typeface="Arial"/>
              </a:rPr>
              <a:t> </a:t>
            </a:r>
            <a:r>
              <a:rPr sz="1200" spc="-10" dirty="0">
                <a:solidFill>
                  <a:srgbClr val="3333B2"/>
                </a:solidFill>
                <a:latin typeface="Arial"/>
                <a:cs typeface="Arial"/>
              </a:rPr>
              <a:t>checkpointing</a:t>
            </a:r>
            <a:endParaRPr sz="1200">
              <a:latin typeface="Arial"/>
              <a:cs typeface="Arial"/>
            </a:endParaRPr>
          </a:p>
          <a:p>
            <a:pPr marL="289560">
              <a:lnSpc>
                <a:spcPct val="100000"/>
              </a:lnSpc>
              <a:spcBef>
                <a:spcPts val="1055"/>
              </a:spcBef>
            </a:pPr>
            <a:r>
              <a:rPr sz="1000" spc="-10" dirty="0">
                <a:solidFill>
                  <a:srgbClr val="3333B2"/>
                </a:solidFill>
                <a:latin typeface="Arial"/>
                <a:cs typeface="Arial"/>
              </a:rPr>
              <a:t>Essence</a:t>
            </a:r>
            <a:endParaRPr sz="1000">
              <a:latin typeface="Arial"/>
              <a:cs typeface="Arial"/>
            </a:endParaRPr>
          </a:p>
          <a:p>
            <a:pPr marL="289560">
              <a:lnSpc>
                <a:spcPct val="100000"/>
              </a:lnSpc>
              <a:spcBef>
                <a:spcPts val="105"/>
              </a:spcBef>
            </a:pPr>
            <a:r>
              <a:rPr sz="900" dirty="0">
                <a:latin typeface="Arial"/>
                <a:cs typeface="Arial"/>
              </a:rPr>
              <a:t>Each</a:t>
            </a:r>
            <a:r>
              <a:rPr sz="900" spc="-25" dirty="0">
                <a:latin typeface="Arial"/>
                <a:cs typeface="Arial"/>
              </a:rPr>
              <a:t> </a:t>
            </a:r>
            <a:r>
              <a:rPr sz="900" dirty="0">
                <a:latin typeface="Arial"/>
                <a:cs typeface="Arial"/>
              </a:rPr>
              <a:t>process</a:t>
            </a:r>
            <a:r>
              <a:rPr sz="900" spc="-25" dirty="0">
                <a:latin typeface="Arial"/>
                <a:cs typeface="Arial"/>
              </a:rPr>
              <a:t> </a:t>
            </a:r>
            <a:r>
              <a:rPr sz="900" dirty="0">
                <a:latin typeface="Arial"/>
                <a:cs typeface="Arial"/>
              </a:rPr>
              <a:t>takes</a:t>
            </a:r>
            <a:r>
              <a:rPr sz="900" spc="-20"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checkpoint</a:t>
            </a:r>
            <a:r>
              <a:rPr sz="900" spc="-25" dirty="0">
                <a:latin typeface="Arial"/>
                <a:cs typeface="Arial"/>
              </a:rPr>
              <a:t> </a:t>
            </a:r>
            <a:r>
              <a:rPr sz="900" dirty="0">
                <a:latin typeface="Arial"/>
                <a:cs typeface="Arial"/>
              </a:rPr>
              <a:t>after</a:t>
            </a:r>
            <a:r>
              <a:rPr sz="900" spc="-2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globally</a:t>
            </a:r>
            <a:r>
              <a:rPr sz="900" spc="-20" dirty="0">
                <a:latin typeface="Arial"/>
                <a:cs typeface="Arial"/>
              </a:rPr>
              <a:t> </a:t>
            </a:r>
            <a:r>
              <a:rPr sz="900" dirty="0">
                <a:latin typeface="Arial"/>
                <a:cs typeface="Arial"/>
              </a:rPr>
              <a:t>coordinated</a:t>
            </a:r>
            <a:r>
              <a:rPr sz="900" spc="-25" dirty="0">
                <a:latin typeface="Arial"/>
                <a:cs typeface="Arial"/>
              </a:rPr>
              <a:t> </a:t>
            </a:r>
            <a:r>
              <a:rPr sz="900" spc="-10" dirty="0">
                <a:latin typeface="Arial"/>
                <a:cs typeface="Arial"/>
              </a:rPr>
              <a:t>action.</a:t>
            </a:r>
            <a:endParaRPr sz="900">
              <a:latin typeface="Arial"/>
              <a:cs typeface="Arial"/>
            </a:endParaRPr>
          </a:p>
          <a:p>
            <a:pPr marL="289560">
              <a:lnSpc>
                <a:spcPct val="100000"/>
              </a:lnSpc>
              <a:spcBef>
                <a:spcPts val="815"/>
              </a:spcBef>
            </a:pPr>
            <a:r>
              <a:rPr sz="1000" dirty="0">
                <a:solidFill>
                  <a:srgbClr val="3333B2"/>
                </a:solidFill>
                <a:latin typeface="Arial"/>
                <a:cs typeface="Arial"/>
              </a:rPr>
              <a:t>Simple</a:t>
            </a:r>
            <a:r>
              <a:rPr sz="1000" spc="-40" dirty="0">
                <a:solidFill>
                  <a:srgbClr val="3333B2"/>
                </a:solidFill>
                <a:latin typeface="Arial"/>
                <a:cs typeface="Arial"/>
              </a:rPr>
              <a:t> </a:t>
            </a:r>
            <a:r>
              <a:rPr sz="1000" spc="-10" dirty="0">
                <a:solidFill>
                  <a:srgbClr val="3333B2"/>
                </a:solidFill>
                <a:latin typeface="Arial"/>
                <a:cs typeface="Arial"/>
              </a:rPr>
              <a:t>solution</a:t>
            </a:r>
            <a:endParaRPr sz="1000">
              <a:latin typeface="Arial"/>
              <a:cs typeface="Arial"/>
            </a:endParaRPr>
          </a:p>
          <a:p>
            <a:pPr marL="289560">
              <a:lnSpc>
                <a:spcPct val="100000"/>
              </a:lnSpc>
              <a:spcBef>
                <a:spcPts val="295"/>
              </a:spcBef>
            </a:pPr>
            <a:r>
              <a:rPr sz="900" dirty="0">
                <a:latin typeface="Arial"/>
                <a:cs typeface="Arial"/>
              </a:rPr>
              <a:t>Use</a:t>
            </a:r>
            <a:r>
              <a:rPr sz="900" spc="-15" dirty="0">
                <a:latin typeface="Arial"/>
                <a:cs typeface="Arial"/>
              </a:rPr>
              <a:t> </a:t>
            </a:r>
            <a:r>
              <a:rPr sz="900" dirty="0">
                <a:latin typeface="Arial"/>
                <a:cs typeface="Arial"/>
              </a:rPr>
              <a:t>a</a:t>
            </a:r>
            <a:r>
              <a:rPr sz="900" spc="-10" dirty="0">
                <a:latin typeface="Arial"/>
                <a:cs typeface="Arial"/>
              </a:rPr>
              <a:t> two-</a:t>
            </a:r>
            <a:r>
              <a:rPr sz="900" dirty="0">
                <a:latin typeface="Arial"/>
                <a:cs typeface="Arial"/>
              </a:rPr>
              <a:t>phase</a:t>
            </a:r>
            <a:r>
              <a:rPr sz="900" spc="-10" dirty="0">
                <a:latin typeface="Arial"/>
                <a:cs typeface="Arial"/>
              </a:rPr>
              <a:t> blocking</a:t>
            </a:r>
            <a:r>
              <a:rPr sz="900" spc="-15" dirty="0">
                <a:latin typeface="Arial"/>
                <a:cs typeface="Arial"/>
              </a:rPr>
              <a:t> </a:t>
            </a:r>
            <a:r>
              <a:rPr sz="900" spc="-10" dirty="0">
                <a:latin typeface="Arial"/>
                <a:cs typeface="Arial"/>
              </a:rPr>
              <a:t>protocol:</a:t>
            </a:r>
            <a:endParaRPr sz="900">
              <a:latin typeface="Arial"/>
              <a:cs typeface="Arial"/>
            </a:endParaRPr>
          </a:p>
          <a:p>
            <a:pPr marL="539115" indent="-116839">
              <a:lnSpc>
                <a:spcPct val="100000"/>
              </a:lnSpc>
              <a:spcBef>
                <a:spcPts val="525"/>
              </a:spcBef>
              <a:buClr>
                <a:srgbClr val="3333B2"/>
              </a:buClr>
              <a:buFont typeface="Menlo"/>
              <a:buChar char="•"/>
              <a:tabLst>
                <a:tab pos="539750" algn="l"/>
              </a:tabLst>
            </a:pPr>
            <a:r>
              <a:rPr sz="900" dirty="0">
                <a:latin typeface="Arial"/>
                <a:cs typeface="Arial"/>
              </a:rPr>
              <a:t>A</a:t>
            </a:r>
            <a:r>
              <a:rPr sz="900" spc="-25" dirty="0">
                <a:latin typeface="Arial"/>
                <a:cs typeface="Arial"/>
              </a:rPr>
              <a:t> </a:t>
            </a:r>
            <a:r>
              <a:rPr sz="900" dirty="0">
                <a:latin typeface="Arial"/>
                <a:cs typeface="Arial"/>
              </a:rPr>
              <a:t>coordinator</a:t>
            </a:r>
            <a:r>
              <a:rPr sz="900" spc="-20" dirty="0">
                <a:latin typeface="Arial"/>
                <a:cs typeface="Arial"/>
              </a:rPr>
              <a:t> </a:t>
            </a:r>
            <a:r>
              <a:rPr sz="900" dirty="0">
                <a:latin typeface="Arial"/>
                <a:cs typeface="Arial"/>
              </a:rPr>
              <a:t>multicasts</a:t>
            </a:r>
            <a:r>
              <a:rPr sz="900" spc="-20" dirty="0">
                <a:latin typeface="Arial"/>
                <a:cs typeface="Arial"/>
              </a:rPr>
              <a:t> </a:t>
            </a:r>
            <a:r>
              <a:rPr sz="900" dirty="0">
                <a:latin typeface="Arial"/>
                <a:cs typeface="Arial"/>
              </a:rPr>
              <a:t>a</a:t>
            </a:r>
            <a:r>
              <a:rPr sz="900" spc="-25" dirty="0">
                <a:latin typeface="Arial"/>
                <a:cs typeface="Arial"/>
              </a:rPr>
              <a:t> </a:t>
            </a:r>
            <a:r>
              <a:rPr sz="900" spc="-10" dirty="0">
                <a:solidFill>
                  <a:srgbClr val="3333B2"/>
                </a:solidFill>
                <a:latin typeface="Arial"/>
                <a:cs typeface="Arial"/>
              </a:rPr>
              <a:t>checkpoint</a:t>
            </a:r>
            <a:r>
              <a:rPr sz="900" spc="-20" dirty="0">
                <a:solidFill>
                  <a:srgbClr val="3333B2"/>
                </a:solidFill>
                <a:latin typeface="Arial"/>
                <a:cs typeface="Arial"/>
              </a:rPr>
              <a:t> </a:t>
            </a:r>
            <a:r>
              <a:rPr sz="900" dirty="0">
                <a:solidFill>
                  <a:srgbClr val="3333B2"/>
                </a:solidFill>
                <a:latin typeface="Arial"/>
                <a:cs typeface="Arial"/>
              </a:rPr>
              <a:t>request</a:t>
            </a:r>
            <a:r>
              <a:rPr sz="900" spc="-20" dirty="0">
                <a:solidFill>
                  <a:srgbClr val="3333B2"/>
                </a:solidFill>
                <a:latin typeface="Arial"/>
                <a:cs typeface="Arial"/>
              </a:rPr>
              <a:t> </a:t>
            </a:r>
            <a:r>
              <a:rPr sz="900" spc="-10" dirty="0">
                <a:latin typeface="Arial"/>
                <a:cs typeface="Arial"/>
              </a:rPr>
              <a:t>message</a:t>
            </a:r>
            <a:endParaRPr sz="900">
              <a:latin typeface="Arial"/>
              <a:cs typeface="Arial"/>
            </a:endParaRPr>
          </a:p>
          <a:p>
            <a:pPr marL="542925" marR="30480" indent="-120650">
              <a:lnSpc>
                <a:spcPct val="111600"/>
              </a:lnSpc>
              <a:buClr>
                <a:srgbClr val="3333B2"/>
              </a:buClr>
              <a:buFont typeface="Menlo"/>
              <a:buChar char="•"/>
              <a:tabLst>
                <a:tab pos="537845" algn="l"/>
              </a:tabLst>
            </a:pPr>
            <a:r>
              <a:rPr sz="900" dirty="0">
                <a:latin typeface="Arial"/>
                <a:cs typeface="Arial"/>
              </a:rPr>
              <a:t>When</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participant</a:t>
            </a:r>
            <a:r>
              <a:rPr sz="900" spc="-25" dirty="0">
                <a:latin typeface="Arial"/>
                <a:cs typeface="Arial"/>
              </a:rPr>
              <a:t> </a:t>
            </a:r>
            <a:r>
              <a:rPr sz="900" spc="-10" dirty="0">
                <a:latin typeface="Arial"/>
                <a:cs typeface="Arial"/>
              </a:rPr>
              <a:t>receives</a:t>
            </a:r>
            <a:r>
              <a:rPr sz="900" spc="-25" dirty="0">
                <a:latin typeface="Arial"/>
                <a:cs typeface="Arial"/>
              </a:rPr>
              <a:t> </a:t>
            </a:r>
            <a:r>
              <a:rPr sz="900" dirty="0">
                <a:latin typeface="Arial"/>
                <a:cs typeface="Arial"/>
              </a:rPr>
              <a:t>such</a:t>
            </a:r>
            <a:r>
              <a:rPr sz="900" spc="-25"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message,</a:t>
            </a:r>
            <a:r>
              <a:rPr sz="900" spc="-20" dirty="0">
                <a:latin typeface="Arial"/>
                <a:cs typeface="Arial"/>
              </a:rPr>
              <a:t> </a:t>
            </a:r>
            <a:r>
              <a:rPr sz="900" dirty="0">
                <a:latin typeface="Arial"/>
                <a:cs typeface="Arial"/>
              </a:rPr>
              <a:t>it</a:t>
            </a:r>
            <a:r>
              <a:rPr sz="900" spc="-25" dirty="0">
                <a:latin typeface="Arial"/>
                <a:cs typeface="Arial"/>
              </a:rPr>
              <a:t> </a:t>
            </a:r>
            <a:r>
              <a:rPr sz="900" spc="-10" dirty="0">
                <a:latin typeface="Arial"/>
                <a:cs typeface="Arial"/>
              </a:rPr>
              <a:t>takes</a:t>
            </a:r>
            <a:r>
              <a:rPr sz="900" spc="-25"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checkpoint,</a:t>
            </a:r>
            <a:r>
              <a:rPr sz="900" spc="-25" dirty="0">
                <a:latin typeface="Arial"/>
                <a:cs typeface="Arial"/>
              </a:rPr>
              <a:t> </a:t>
            </a:r>
            <a:r>
              <a:rPr sz="900" spc="-10" dirty="0">
                <a:latin typeface="Arial"/>
                <a:cs typeface="Arial"/>
              </a:rPr>
              <a:t>stops </a:t>
            </a:r>
            <a:r>
              <a:rPr sz="900" dirty="0">
                <a:latin typeface="Arial"/>
                <a:cs typeface="Arial"/>
              </a:rPr>
              <a:t>sending</a:t>
            </a:r>
            <a:r>
              <a:rPr sz="900" spc="-25" dirty="0">
                <a:latin typeface="Arial"/>
                <a:cs typeface="Arial"/>
              </a:rPr>
              <a:t> </a:t>
            </a:r>
            <a:r>
              <a:rPr sz="900" dirty="0">
                <a:latin typeface="Arial"/>
                <a:cs typeface="Arial"/>
              </a:rPr>
              <a:t>(application)</a:t>
            </a:r>
            <a:r>
              <a:rPr sz="900" spc="-20" dirty="0">
                <a:latin typeface="Arial"/>
                <a:cs typeface="Arial"/>
              </a:rPr>
              <a:t> </a:t>
            </a:r>
            <a:r>
              <a:rPr sz="900" spc="-10" dirty="0">
                <a:latin typeface="Arial"/>
                <a:cs typeface="Arial"/>
              </a:rPr>
              <a:t>messages,</a:t>
            </a:r>
            <a:r>
              <a:rPr sz="900" spc="-25" dirty="0">
                <a:latin typeface="Arial"/>
                <a:cs typeface="Arial"/>
              </a:rPr>
              <a:t> </a:t>
            </a:r>
            <a:r>
              <a:rPr sz="900" dirty="0">
                <a:latin typeface="Arial"/>
                <a:cs typeface="Arial"/>
              </a:rPr>
              <a:t>and</a:t>
            </a:r>
            <a:r>
              <a:rPr sz="900" spc="-20" dirty="0">
                <a:latin typeface="Arial"/>
                <a:cs typeface="Arial"/>
              </a:rPr>
              <a:t> </a:t>
            </a:r>
            <a:r>
              <a:rPr sz="900" dirty="0">
                <a:latin typeface="Arial"/>
                <a:cs typeface="Arial"/>
              </a:rPr>
              <a:t>reports</a:t>
            </a:r>
            <a:r>
              <a:rPr sz="900" spc="-25" dirty="0">
                <a:latin typeface="Arial"/>
                <a:cs typeface="Arial"/>
              </a:rPr>
              <a:t> </a:t>
            </a:r>
            <a:r>
              <a:rPr sz="900" dirty="0">
                <a:latin typeface="Arial"/>
                <a:cs typeface="Arial"/>
              </a:rPr>
              <a:t>back</a:t>
            </a:r>
            <a:r>
              <a:rPr sz="900" spc="-20"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it</a:t>
            </a:r>
            <a:r>
              <a:rPr sz="900" spc="-20" dirty="0">
                <a:latin typeface="Arial"/>
                <a:cs typeface="Arial"/>
              </a:rPr>
              <a:t> </a:t>
            </a:r>
            <a:r>
              <a:rPr sz="900" dirty="0">
                <a:latin typeface="Arial"/>
                <a:cs typeface="Arial"/>
              </a:rPr>
              <a:t>has</a:t>
            </a:r>
            <a:r>
              <a:rPr sz="900" spc="-20" dirty="0">
                <a:latin typeface="Arial"/>
                <a:cs typeface="Arial"/>
              </a:rPr>
              <a:t> </a:t>
            </a:r>
            <a:r>
              <a:rPr sz="900" dirty="0">
                <a:latin typeface="Arial"/>
                <a:cs typeface="Arial"/>
              </a:rPr>
              <a:t>taken</a:t>
            </a:r>
            <a:r>
              <a:rPr sz="900" spc="-25" dirty="0">
                <a:latin typeface="Arial"/>
                <a:cs typeface="Arial"/>
              </a:rPr>
              <a:t> </a:t>
            </a:r>
            <a:r>
              <a:rPr sz="900" spc="-50" dirty="0">
                <a:latin typeface="Arial"/>
                <a:cs typeface="Arial"/>
              </a:rPr>
              <a:t>a</a:t>
            </a:r>
            <a:r>
              <a:rPr sz="900" spc="-10" dirty="0">
                <a:latin typeface="Arial"/>
                <a:cs typeface="Arial"/>
              </a:rPr>
              <a:t> checkpoint</a:t>
            </a:r>
            <a:endParaRPr sz="900">
              <a:latin typeface="Arial"/>
              <a:cs typeface="Arial"/>
            </a:endParaRPr>
          </a:p>
          <a:p>
            <a:pPr marL="542925" marR="30480" indent="-120650">
              <a:lnSpc>
                <a:spcPct val="111600"/>
              </a:lnSpc>
              <a:buClr>
                <a:srgbClr val="3333B2"/>
              </a:buClr>
              <a:buFont typeface="Menlo"/>
              <a:buChar char="•"/>
              <a:tabLst>
                <a:tab pos="537845" algn="l"/>
              </a:tabLst>
            </a:pPr>
            <a:r>
              <a:rPr sz="900" dirty="0">
                <a:latin typeface="Arial"/>
                <a:cs typeface="Arial"/>
              </a:rPr>
              <a:t>When</a:t>
            </a:r>
            <a:r>
              <a:rPr sz="900" spc="-15" dirty="0">
                <a:latin typeface="Arial"/>
                <a:cs typeface="Arial"/>
              </a:rPr>
              <a:t> </a:t>
            </a:r>
            <a:r>
              <a:rPr sz="900" dirty="0">
                <a:latin typeface="Arial"/>
                <a:cs typeface="Arial"/>
              </a:rPr>
              <a:t>all</a:t>
            </a:r>
            <a:r>
              <a:rPr sz="900" spc="-10" dirty="0">
                <a:latin typeface="Arial"/>
                <a:cs typeface="Arial"/>
              </a:rPr>
              <a:t> checkpoints have </a:t>
            </a:r>
            <a:r>
              <a:rPr sz="900" dirty="0">
                <a:latin typeface="Arial"/>
                <a:cs typeface="Arial"/>
              </a:rPr>
              <a:t>been</a:t>
            </a:r>
            <a:r>
              <a:rPr sz="900" spc="-10" dirty="0">
                <a:latin typeface="Arial"/>
                <a:cs typeface="Arial"/>
              </a:rPr>
              <a:t> </a:t>
            </a:r>
            <a:r>
              <a:rPr sz="900" dirty="0">
                <a:latin typeface="Arial"/>
                <a:cs typeface="Arial"/>
              </a:rPr>
              <a:t>confirmed</a:t>
            </a:r>
            <a:r>
              <a:rPr sz="900" spc="-15" dirty="0">
                <a:latin typeface="Arial"/>
                <a:cs typeface="Arial"/>
              </a:rPr>
              <a:t> </a:t>
            </a:r>
            <a:r>
              <a:rPr sz="900" dirty="0">
                <a:latin typeface="Arial"/>
                <a:cs typeface="Arial"/>
              </a:rPr>
              <a:t>at</a:t>
            </a:r>
            <a:r>
              <a:rPr sz="900" spc="-10" dirty="0">
                <a:latin typeface="Arial"/>
                <a:cs typeface="Arial"/>
              </a:rPr>
              <a:t> </a:t>
            </a:r>
            <a:r>
              <a:rPr sz="900" dirty="0">
                <a:latin typeface="Arial"/>
                <a:cs typeface="Arial"/>
              </a:rPr>
              <a:t>the</a:t>
            </a:r>
            <a:r>
              <a:rPr sz="900" spc="-10" dirty="0">
                <a:latin typeface="Arial"/>
                <a:cs typeface="Arial"/>
              </a:rPr>
              <a:t> coordinator, </a:t>
            </a:r>
            <a:r>
              <a:rPr sz="900" dirty="0">
                <a:latin typeface="Arial"/>
                <a:cs typeface="Arial"/>
              </a:rPr>
              <a:t>the</a:t>
            </a:r>
            <a:r>
              <a:rPr sz="900" spc="-10" dirty="0">
                <a:latin typeface="Arial"/>
                <a:cs typeface="Arial"/>
              </a:rPr>
              <a:t> latter broadcasts</a:t>
            </a:r>
            <a:r>
              <a:rPr sz="900" spc="-25" dirty="0">
                <a:latin typeface="Arial"/>
                <a:cs typeface="Arial"/>
              </a:rPr>
              <a:t> </a:t>
            </a:r>
            <a:r>
              <a:rPr sz="900" dirty="0">
                <a:latin typeface="Arial"/>
                <a:cs typeface="Arial"/>
              </a:rPr>
              <a:t>a</a:t>
            </a:r>
            <a:r>
              <a:rPr sz="900" spc="-25" dirty="0">
                <a:latin typeface="Arial"/>
                <a:cs typeface="Arial"/>
              </a:rPr>
              <a:t> </a:t>
            </a:r>
            <a:r>
              <a:rPr sz="900" spc="-20" dirty="0">
                <a:solidFill>
                  <a:srgbClr val="3333B2"/>
                </a:solidFill>
                <a:latin typeface="Arial"/>
                <a:cs typeface="Arial"/>
              </a:rPr>
              <a:t>checkpoint</a:t>
            </a:r>
            <a:r>
              <a:rPr sz="900" spc="-25" dirty="0">
                <a:solidFill>
                  <a:srgbClr val="3333B2"/>
                </a:solidFill>
                <a:latin typeface="Arial"/>
                <a:cs typeface="Arial"/>
              </a:rPr>
              <a:t> </a:t>
            </a:r>
            <a:r>
              <a:rPr sz="900" spc="-10" dirty="0">
                <a:solidFill>
                  <a:srgbClr val="3333B2"/>
                </a:solidFill>
                <a:latin typeface="Arial"/>
                <a:cs typeface="Arial"/>
              </a:rPr>
              <a:t>done</a:t>
            </a:r>
            <a:r>
              <a:rPr sz="900" spc="-25" dirty="0">
                <a:solidFill>
                  <a:srgbClr val="3333B2"/>
                </a:solidFill>
                <a:latin typeface="Arial"/>
                <a:cs typeface="Arial"/>
              </a:rPr>
              <a:t> </a:t>
            </a:r>
            <a:r>
              <a:rPr sz="900" spc="-10" dirty="0">
                <a:latin typeface="Arial"/>
                <a:cs typeface="Arial"/>
              </a:rPr>
              <a:t>message</a:t>
            </a:r>
            <a:r>
              <a:rPr sz="900" spc="-25" dirty="0">
                <a:latin typeface="Arial"/>
                <a:cs typeface="Arial"/>
              </a:rPr>
              <a:t> </a:t>
            </a:r>
            <a:r>
              <a:rPr sz="900" dirty="0">
                <a:latin typeface="Arial"/>
                <a:cs typeface="Arial"/>
              </a:rPr>
              <a:t>to</a:t>
            </a:r>
            <a:r>
              <a:rPr sz="900" spc="-25" dirty="0">
                <a:latin typeface="Arial"/>
                <a:cs typeface="Arial"/>
              </a:rPr>
              <a:t> </a:t>
            </a:r>
            <a:r>
              <a:rPr sz="900" spc="-10" dirty="0">
                <a:latin typeface="Arial"/>
                <a:cs typeface="Arial"/>
              </a:rPr>
              <a:t>allow</a:t>
            </a:r>
            <a:r>
              <a:rPr sz="900" spc="-20" dirty="0">
                <a:latin typeface="Arial"/>
                <a:cs typeface="Arial"/>
              </a:rPr>
              <a:t> </a:t>
            </a:r>
            <a:r>
              <a:rPr sz="900" dirty="0">
                <a:latin typeface="Arial"/>
                <a:cs typeface="Arial"/>
              </a:rPr>
              <a:t>all</a:t>
            </a:r>
            <a:r>
              <a:rPr sz="900" spc="-25" dirty="0">
                <a:latin typeface="Arial"/>
                <a:cs typeface="Arial"/>
              </a:rPr>
              <a:t> </a:t>
            </a:r>
            <a:r>
              <a:rPr sz="900" spc="-10" dirty="0">
                <a:latin typeface="Arial"/>
                <a:cs typeface="Arial"/>
              </a:rPr>
              <a:t>processes</a:t>
            </a:r>
            <a:r>
              <a:rPr sz="900" spc="-25" dirty="0">
                <a:latin typeface="Arial"/>
                <a:cs typeface="Arial"/>
              </a:rPr>
              <a:t> </a:t>
            </a:r>
            <a:r>
              <a:rPr sz="900" dirty="0">
                <a:latin typeface="Arial"/>
                <a:cs typeface="Arial"/>
              </a:rPr>
              <a:t>to</a:t>
            </a:r>
            <a:r>
              <a:rPr sz="900" spc="-25" dirty="0">
                <a:latin typeface="Arial"/>
                <a:cs typeface="Arial"/>
              </a:rPr>
              <a:t> </a:t>
            </a:r>
            <a:r>
              <a:rPr sz="900" spc="-10" dirty="0">
                <a:latin typeface="Arial"/>
                <a:cs typeface="Arial"/>
              </a:rPr>
              <a:t>continue</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42545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Checkpointing</a:t>
            </a:r>
            <a:endParaRPr sz="500">
              <a:latin typeface="Arial"/>
              <a:cs typeface="Arial"/>
            </a:endParaRPr>
          </a:p>
        </p:txBody>
      </p:sp>
    </p:spTree>
  </p:cSld>
  <p:clrMapOvr>
    <a:masterClrMapping/>
  </p:clrMapOvr>
  <p:transition>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262602" y="-1515"/>
            <a:ext cx="29210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Recovery</a:t>
            </a:r>
            <a:endParaRPr sz="500">
              <a:latin typeface="Arial"/>
              <a:cs typeface="Arial"/>
            </a:endParaRPr>
          </a:p>
        </p:txBody>
      </p:sp>
      <p:sp>
        <p:nvSpPr>
          <p:cNvPr id="5" name="object 5"/>
          <p:cNvSpPr txBox="1"/>
          <p:nvPr/>
        </p:nvSpPr>
        <p:spPr>
          <a:xfrm>
            <a:off x="57200" y="197711"/>
            <a:ext cx="4241800" cy="2679700"/>
          </a:xfrm>
          <a:prstGeom prst="rect">
            <a:avLst/>
          </a:prstGeom>
        </p:spPr>
        <p:txBody>
          <a:bodyPr vert="horz" wrap="square" lIns="0" tIns="12065" rIns="0" bIns="0" rtlCol="0">
            <a:spAutoFit/>
          </a:bodyPr>
          <a:lstStyle/>
          <a:p>
            <a:pPr marL="50800">
              <a:lnSpc>
                <a:spcPct val="100000"/>
              </a:lnSpc>
              <a:spcBef>
                <a:spcPts val="95"/>
              </a:spcBef>
            </a:pPr>
            <a:r>
              <a:rPr sz="1200" dirty="0">
                <a:solidFill>
                  <a:srgbClr val="3333B2"/>
                </a:solidFill>
                <a:latin typeface="Arial"/>
                <a:cs typeface="Arial"/>
              </a:rPr>
              <a:t>Coordinated</a:t>
            </a:r>
            <a:r>
              <a:rPr sz="1200" spc="-75" dirty="0">
                <a:solidFill>
                  <a:srgbClr val="3333B2"/>
                </a:solidFill>
                <a:latin typeface="Arial"/>
                <a:cs typeface="Arial"/>
              </a:rPr>
              <a:t> </a:t>
            </a:r>
            <a:r>
              <a:rPr sz="1200" spc="-10" dirty="0">
                <a:solidFill>
                  <a:srgbClr val="3333B2"/>
                </a:solidFill>
                <a:latin typeface="Arial"/>
                <a:cs typeface="Arial"/>
              </a:rPr>
              <a:t>checkpointing</a:t>
            </a:r>
            <a:endParaRPr sz="1200">
              <a:latin typeface="Arial"/>
              <a:cs typeface="Arial"/>
            </a:endParaRPr>
          </a:p>
          <a:p>
            <a:pPr marL="302260">
              <a:lnSpc>
                <a:spcPct val="100000"/>
              </a:lnSpc>
              <a:spcBef>
                <a:spcPts val="1055"/>
              </a:spcBef>
            </a:pPr>
            <a:r>
              <a:rPr sz="1000" spc="-10" dirty="0">
                <a:solidFill>
                  <a:srgbClr val="3333B2"/>
                </a:solidFill>
                <a:latin typeface="Arial"/>
                <a:cs typeface="Arial"/>
              </a:rPr>
              <a:t>Essence</a:t>
            </a:r>
            <a:endParaRPr sz="1000">
              <a:latin typeface="Arial"/>
              <a:cs typeface="Arial"/>
            </a:endParaRPr>
          </a:p>
          <a:p>
            <a:pPr marL="302260">
              <a:lnSpc>
                <a:spcPct val="100000"/>
              </a:lnSpc>
              <a:spcBef>
                <a:spcPts val="105"/>
              </a:spcBef>
            </a:pPr>
            <a:r>
              <a:rPr sz="900" dirty="0">
                <a:latin typeface="Arial"/>
                <a:cs typeface="Arial"/>
              </a:rPr>
              <a:t>Each</a:t>
            </a:r>
            <a:r>
              <a:rPr sz="900" spc="-25" dirty="0">
                <a:latin typeface="Arial"/>
                <a:cs typeface="Arial"/>
              </a:rPr>
              <a:t> </a:t>
            </a:r>
            <a:r>
              <a:rPr sz="900" dirty="0">
                <a:latin typeface="Arial"/>
                <a:cs typeface="Arial"/>
              </a:rPr>
              <a:t>process</a:t>
            </a:r>
            <a:r>
              <a:rPr sz="900" spc="-25" dirty="0">
                <a:latin typeface="Arial"/>
                <a:cs typeface="Arial"/>
              </a:rPr>
              <a:t> </a:t>
            </a:r>
            <a:r>
              <a:rPr sz="900" dirty="0">
                <a:latin typeface="Arial"/>
                <a:cs typeface="Arial"/>
              </a:rPr>
              <a:t>takes</a:t>
            </a:r>
            <a:r>
              <a:rPr sz="900" spc="-20"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checkpoint</a:t>
            </a:r>
            <a:r>
              <a:rPr sz="900" spc="-25" dirty="0">
                <a:latin typeface="Arial"/>
                <a:cs typeface="Arial"/>
              </a:rPr>
              <a:t> </a:t>
            </a:r>
            <a:r>
              <a:rPr sz="900" dirty="0">
                <a:latin typeface="Arial"/>
                <a:cs typeface="Arial"/>
              </a:rPr>
              <a:t>after</a:t>
            </a:r>
            <a:r>
              <a:rPr sz="900" spc="-2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globally</a:t>
            </a:r>
            <a:r>
              <a:rPr sz="900" spc="-20" dirty="0">
                <a:latin typeface="Arial"/>
                <a:cs typeface="Arial"/>
              </a:rPr>
              <a:t> </a:t>
            </a:r>
            <a:r>
              <a:rPr sz="900" dirty="0">
                <a:latin typeface="Arial"/>
                <a:cs typeface="Arial"/>
              </a:rPr>
              <a:t>coordinated</a:t>
            </a:r>
            <a:r>
              <a:rPr sz="900" spc="-25" dirty="0">
                <a:latin typeface="Arial"/>
                <a:cs typeface="Arial"/>
              </a:rPr>
              <a:t> </a:t>
            </a:r>
            <a:r>
              <a:rPr sz="900" spc="-10" dirty="0">
                <a:latin typeface="Arial"/>
                <a:cs typeface="Arial"/>
              </a:rPr>
              <a:t>action.</a:t>
            </a:r>
            <a:endParaRPr sz="900">
              <a:latin typeface="Arial"/>
              <a:cs typeface="Arial"/>
            </a:endParaRPr>
          </a:p>
          <a:p>
            <a:pPr marL="302260">
              <a:lnSpc>
                <a:spcPct val="100000"/>
              </a:lnSpc>
              <a:spcBef>
                <a:spcPts val="815"/>
              </a:spcBef>
            </a:pPr>
            <a:r>
              <a:rPr sz="1000" dirty="0">
                <a:solidFill>
                  <a:srgbClr val="3333B2"/>
                </a:solidFill>
                <a:latin typeface="Arial"/>
                <a:cs typeface="Arial"/>
              </a:rPr>
              <a:t>Simple</a:t>
            </a:r>
            <a:r>
              <a:rPr sz="1000" spc="-40" dirty="0">
                <a:solidFill>
                  <a:srgbClr val="3333B2"/>
                </a:solidFill>
                <a:latin typeface="Arial"/>
                <a:cs typeface="Arial"/>
              </a:rPr>
              <a:t> </a:t>
            </a:r>
            <a:r>
              <a:rPr sz="1000" spc="-10" dirty="0">
                <a:solidFill>
                  <a:srgbClr val="3333B2"/>
                </a:solidFill>
                <a:latin typeface="Arial"/>
                <a:cs typeface="Arial"/>
              </a:rPr>
              <a:t>solution</a:t>
            </a:r>
            <a:endParaRPr sz="1000">
              <a:latin typeface="Arial"/>
              <a:cs typeface="Arial"/>
            </a:endParaRPr>
          </a:p>
          <a:p>
            <a:pPr marL="302260">
              <a:lnSpc>
                <a:spcPct val="100000"/>
              </a:lnSpc>
              <a:spcBef>
                <a:spcPts val="295"/>
              </a:spcBef>
            </a:pPr>
            <a:r>
              <a:rPr sz="900" dirty="0">
                <a:latin typeface="Arial"/>
                <a:cs typeface="Arial"/>
              </a:rPr>
              <a:t>Use</a:t>
            </a:r>
            <a:r>
              <a:rPr sz="900" spc="-15" dirty="0">
                <a:latin typeface="Arial"/>
                <a:cs typeface="Arial"/>
              </a:rPr>
              <a:t> </a:t>
            </a:r>
            <a:r>
              <a:rPr sz="900" dirty="0">
                <a:latin typeface="Arial"/>
                <a:cs typeface="Arial"/>
              </a:rPr>
              <a:t>a</a:t>
            </a:r>
            <a:r>
              <a:rPr sz="900" spc="-10" dirty="0">
                <a:latin typeface="Arial"/>
                <a:cs typeface="Arial"/>
              </a:rPr>
              <a:t> two-</a:t>
            </a:r>
            <a:r>
              <a:rPr sz="900" dirty="0">
                <a:latin typeface="Arial"/>
                <a:cs typeface="Arial"/>
              </a:rPr>
              <a:t>phase</a:t>
            </a:r>
            <a:r>
              <a:rPr sz="900" spc="-10" dirty="0">
                <a:latin typeface="Arial"/>
                <a:cs typeface="Arial"/>
              </a:rPr>
              <a:t> blocking</a:t>
            </a:r>
            <a:r>
              <a:rPr sz="900" spc="-15" dirty="0">
                <a:latin typeface="Arial"/>
                <a:cs typeface="Arial"/>
              </a:rPr>
              <a:t> </a:t>
            </a:r>
            <a:r>
              <a:rPr sz="900" spc="-10" dirty="0">
                <a:latin typeface="Arial"/>
                <a:cs typeface="Arial"/>
              </a:rPr>
              <a:t>protocol:</a:t>
            </a:r>
            <a:endParaRPr sz="900">
              <a:latin typeface="Arial"/>
              <a:cs typeface="Arial"/>
            </a:endParaRPr>
          </a:p>
          <a:p>
            <a:pPr marL="551815" indent="-116839">
              <a:lnSpc>
                <a:spcPct val="100000"/>
              </a:lnSpc>
              <a:spcBef>
                <a:spcPts val="525"/>
              </a:spcBef>
              <a:buClr>
                <a:srgbClr val="3333B2"/>
              </a:buClr>
              <a:buFont typeface="Menlo"/>
              <a:buChar char="•"/>
              <a:tabLst>
                <a:tab pos="552450" algn="l"/>
              </a:tabLst>
            </a:pPr>
            <a:r>
              <a:rPr sz="900" dirty="0">
                <a:latin typeface="Arial"/>
                <a:cs typeface="Arial"/>
              </a:rPr>
              <a:t>A</a:t>
            </a:r>
            <a:r>
              <a:rPr sz="900" spc="-25" dirty="0">
                <a:latin typeface="Arial"/>
                <a:cs typeface="Arial"/>
              </a:rPr>
              <a:t> </a:t>
            </a:r>
            <a:r>
              <a:rPr sz="900" dirty="0">
                <a:latin typeface="Arial"/>
                <a:cs typeface="Arial"/>
              </a:rPr>
              <a:t>coordinator</a:t>
            </a:r>
            <a:r>
              <a:rPr sz="900" spc="-20" dirty="0">
                <a:latin typeface="Arial"/>
                <a:cs typeface="Arial"/>
              </a:rPr>
              <a:t> </a:t>
            </a:r>
            <a:r>
              <a:rPr sz="900" dirty="0">
                <a:latin typeface="Arial"/>
                <a:cs typeface="Arial"/>
              </a:rPr>
              <a:t>multicasts</a:t>
            </a:r>
            <a:r>
              <a:rPr sz="900" spc="-20" dirty="0">
                <a:latin typeface="Arial"/>
                <a:cs typeface="Arial"/>
              </a:rPr>
              <a:t> </a:t>
            </a:r>
            <a:r>
              <a:rPr sz="900" dirty="0">
                <a:latin typeface="Arial"/>
                <a:cs typeface="Arial"/>
              </a:rPr>
              <a:t>a</a:t>
            </a:r>
            <a:r>
              <a:rPr sz="900" spc="-25" dirty="0">
                <a:latin typeface="Arial"/>
                <a:cs typeface="Arial"/>
              </a:rPr>
              <a:t> </a:t>
            </a:r>
            <a:r>
              <a:rPr sz="900" spc="-10" dirty="0">
                <a:solidFill>
                  <a:srgbClr val="3333B2"/>
                </a:solidFill>
                <a:latin typeface="Arial"/>
                <a:cs typeface="Arial"/>
              </a:rPr>
              <a:t>checkpoint</a:t>
            </a:r>
            <a:r>
              <a:rPr sz="900" spc="-20" dirty="0">
                <a:solidFill>
                  <a:srgbClr val="3333B2"/>
                </a:solidFill>
                <a:latin typeface="Arial"/>
                <a:cs typeface="Arial"/>
              </a:rPr>
              <a:t> </a:t>
            </a:r>
            <a:r>
              <a:rPr sz="900" dirty="0">
                <a:solidFill>
                  <a:srgbClr val="3333B2"/>
                </a:solidFill>
                <a:latin typeface="Arial"/>
                <a:cs typeface="Arial"/>
              </a:rPr>
              <a:t>request</a:t>
            </a:r>
            <a:r>
              <a:rPr sz="900" spc="-20" dirty="0">
                <a:solidFill>
                  <a:srgbClr val="3333B2"/>
                </a:solidFill>
                <a:latin typeface="Arial"/>
                <a:cs typeface="Arial"/>
              </a:rPr>
              <a:t> </a:t>
            </a:r>
            <a:r>
              <a:rPr sz="900" spc="-10" dirty="0">
                <a:latin typeface="Arial"/>
                <a:cs typeface="Arial"/>
              </a:rPr>
              <a:t>message</a:t>
            </a:r>
            <a:endParaRPr sz="900">
              <a:latin typeface="Arial"/>
              <a:cs typeface="Arial"/>
            </a:endParaRPr>
          </a:p>
          <a:p>
            <a:pPr marL="555625" marR="43180" indent="-120650">
              <a:lnSpc>
                <a:spcPct val="111600"/>
              </a:lnSpc>
              <a:buClr>
                <a:srgbClr val="3333B2"/>
              </a:buClr>
              <a:buFont typeface="Menlo"/>
              <a:buChar char="•"/>
              <a:tabLst>
                <a:tab pos="550545" algn="l"/>
              </a:tabLst>
            </a:pPr>
            <a:r>
              <a:rPr sz="900" dirty="0">
                <a:latin typeface="Arial"/>
                <a:cs typeface="Arial"/>
              </a:rPr>
              <a:t>When</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participant</a:t>
            </a:r>
            <a:r>
              <a:rPr sz="900" spc="-25" dirty="0">
                <a:latin typeface="Arial"/>
                <a:cs typeface="Arial"/>
              </a:rPr>
              <a:t> </a:t>
            </a:r>
            <a:r>
              <a:rPr sz="900" spc="-10" dirty="0">
                <a:latin typeface="Arial"/>
                <a:cs typeface="Arial"/>
              </a:rPr>
              <a:t>receives</a:t>
            </a:r>
            <a:r>
              <a:rPr sz="900" spc="-25" dirty="0">
                <a:latin typeface="Arial"/>
                <a:cs typeface="Arial"/>
              </a:rPr>
              <a:t> </a:t>
            </a:r>
            <a:r>
              <a:rPr sz="900" dirty="0">
                <a:latin typeface="Arial"/>
                <a:cs typeface="Arial"/>
              </a:rPr>
              <a:t>such</a:t>
            </a:r>
            <a:r>
              <a:rPr sz="900" spc="-25"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message,</a:t>
            </a:r>
            <a:r>
              <a:rPr sz="900" spc="-20" dirty="0">
                <a:latin typeface="Arial"/>
                <a:cs typeface="Arial"/>
              </a:rPr>
              <a:t> </a:t>
            </a:r>
            <a:r>
              <a:rPr sz="900" dirty="0">
                <a:latin typeface="Arial"/>
                <a:cs typeface="Arial"/>
              </a:rPr>
              <a:t>it</a:t>
            </a:r>
            <a:r>
              <a:rPr sz="900" spc="-25" dirty="0">
                <a:latin typeface="Arial"/>
                <a:cs typeface="Arial"/>
              </a:rPr>
              <a:t> </a:t>
            </a:r>
            <a:r>
              <a:rPr sz="900" spc="-10" dirty="0">
                <a:latin typeface="Arial"/>
                <a:cs typeface="Arial"/>
              </a:rPr>
              <a:t>takes</a:t>
            </a:r>
            <a:r>
              <a:rPr sz="900" spc="-25"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checkpoint,</a:t>
            </a:r>
            <a:r>
              <a:rPr sz="900" spc="-25" dirty="0">
                <a:latin typeface="Arial"/>
                <a:cs typeface="Arial"/>
              </a:rPr>
              <a:t> </a:t>
            </a:r>
            <a:r>
              <a:rPr sz="900" spc="-10" dirty="0">
                <a:latin typeface="Arial"/>
                <a:cs typeface="Arial"/>
              </a:rPr>
              <a:t>stops </a:t>
            </a:r>
            <a:r>
              <a:rPr sz="900" dirty="0">
                <a:latin typeface="Arial"/>
                <a:cs typeface="Arial"/>
              </a:rPr>
              <a:t>sending</a:t>
            </a:r>
            <a:r>
              <a:rPr sz="900" spc="-25" dirty="0">
                <a:latin typeface="Arial"/>
                <a:cs typeface="Arial"/>
              </a:rPr>
              <a:t> </a:t>
            </a:r>
            <a:r>
              <a:rPr sz="900" dirty="0">
                <a:latin typeface="Arial"/>
                <a:cs typeface="Arial"/>
              </a:rPr>
              <a:t>(application)</a:t>
            </a:r>
            <a:r>
              <a:rPr sz="900" spc="-20" dirty="0">
                <a:latin typeface="Arial"/>
                <a:cs typeface="Arial"/>
              </a:rPr>
              <a:t> </a:t>
            </a:r>
            <a:r>
              <a:rPr sz="900" spc="-10" dirty="0">
                <a:latin typeface="Arial"/>
                <a:cs typeface="Arial"/>
              </a:rPr>
              <a:t>messages,</a:t>
            </a:r>
            <a:r>
              <a:rPr sz="900" spc="-25" dirty="0">
                <a:latin typeface="Arial"/>
                <a:cs typeface="Arial"/>
              </a:rPr>
              <a:t> </a:t>
            </a:r>
            <a:r>
              <a:rPr sz="900" dirty="0">
                <a:latin typeface="Arial"/>
                <a:cs typeface="Arial"/>
              </a:rPr>
              <a:t>and</a:t>
            </a:r>
            <a:r>
              <a:rPr sz="900" spc="-20" dirty="0">
                <a:latin typeface="Arial"/>
                <a:cs typeface="Arial"/>
              </a:rPr>
              <a:t> </a:t>
            </a:r>
            <a:r>
              <a:rPr sz="900" dirty="0">
                <a:latin typeface="Arial"/>
                <a:cs typeface="Arial"/>
              </a:rPr>
              <a:t>reports</a:t>
            </a:r>
            <a:r>
              <a:rPr sz="900" spc="-25" dirty="0">
                <a:latin typeface="Arial"/>
                <a:cs typeface="Arial"/>
              </a:rPr>
              <a:t> </a:t>
            </a:r>
            <a:r>
              <a:rPr sz="900" dirty="0">
                <a:latin typeface="Arial"/>
                <a:cs typeface="Arial"/>
              </a:rPr>
              <a:t>back</a:t>
            </a:r>
            <a:r>
              <a:rPr sz="900" spc="-20"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it</a:t>
            </a:r>
            <a:r>
              <a:rPr sz="900" spc="-20" dirty="0">
                <a:latin typeface="Arial"/>
                <a:cs typeface="Arial"/>
              </a:rPr>
              <a:t> </a:t>
            </a:r>
            <a:r>
              <a:rPr sz="900" dirty="0">
                <a:latin typeface="Arial"/>
                <a:cs typeface="Arial"/>
              </a:rPr>
              <a:t>has</a:t>
            </a:r>
            <a:r>
              <a:rPr sz="900" spc="-20" dirty="0">
                <a:latin typeface="Arial"/>
                <a:cs typeface="Arial"/>
              </a:rPr>
              <a:t> </a:t>
            </a:r>
            <a:r>
              <a:rPr sz="900" dirty="0">
                <a:latin typeface="Arial"/>
                <a:cs typeface="Arial"/>
              </a:rPr>
              <a:t>taken</a:t>
            </a:r>
            <a:r>
              <a:rPr sz="900" spc="-25" dirty="0">
                <a:latin typeface="Arial"/>
                <a:cs typeface="Arial"/>
              </a:rPr>
              <a:t> </a:t>
            </a:r>
            <a:r>
              <a:rPr sz="900" spc="-50" dirty="0">
                <a:latin typeface="Arial"/>
                <a:cs typeface="Arial"/>
              </a:rPr>
              <a:t>a</a:t>
            </a:r>
            <a:r>
              <a:rPr sz="900" spc="-10" dirty="0">
                <a:latin typeface="Arial"/>
                <a:cs typeface="Arial"/>
              </a:rPr>
              <a:t> checkpoint</a:t>
            </a:r>
            <a:endParaRPr sz="900">
              <a:latin typeface="Arial"/>
              <a:cs typeface="Arial"/>
            </a:endParaRPr>
          </a:p>
          <a:p>
            <a:pPr marL="555625" marR="43180" indent="-120650">
              <a:lnSpc>
                <a:spcPct val="111600"/>
              </a:lnSpc>
              <a:buClr>
                <a:srgbClr val="3333B2"/>
              </a:buClr>
              <a:buFont typeface="Menlo"/>
              <a:buChar char="•"/>
              <a:tabLst>
                <a:tab pos="550545" algn="l"/>
              </a:tabLst>
            </a:pPr>
            <a:r>
              <a:rPr sz="900" dirty="0">
                <a:latin typeface="Arial"/>
                <a:cs typeface="Arial"/>
              </a:rPr>
              <a:t>When</a:t>
            </a:r>
            <a:r>
              <a:rPr sz="900" spc="-15" dirty="0">
                <a:latin typeface="Arial"/>
                <a:cs typeface="Arial"/>
              </a:rPr>
              <a:t> </a:t>
            </a:r>
            <a:r>
              <a:rPr sz="900" dirty="0">
                <a:latin typeface="Arial"/>
                <a:cs typeface="Arial"/>
              </a:rPr>
              <a:t>all</a:t>
            </a:r>
            <a:r>
              <a:rPr sz="900" spc="-10" dirty="0">
                <a:latin typeface="Arial"/>
                <a:cs typeface="Arial"/>
              </a:rPr>
              <a:t> checkpoints have </a:t>
            </a:r>
            <a:r>
              <a:rPr sz="900" dirty="0">
                <a:latin typeface="Arial"/>
                <a:cs typeface="Arial"/>
              </a:rPr>
              <a:t>been</a:t>
            </a:r>
            <a:r>
              <a:rPr sz="900" spc="-10" dirty="0">
                <a:latin typeface="Arial"/>
                <a:cs typeface="Arial"/>
              </a:rPr>
              <a:t> </a:t>
            </a:r>
            <a:r>
              <a:rPr sz="900" dirty="0">
                <a:latin typeface="Arial"/>
                <a:cs typeface="Arial"/>
              </a:rPr>
              <a:t>confirmed</a:t>
            </a:r>
            <a:r>
              <a:rPr sz="900" spc="-15" dirty="0">
                <a:latin typeface="Arial"/>
                <a:cs typeface="Arial"/>
              </a:rPr>
              <a:t> </a:t>
            </a:r>
            <a:r>
              <a:rPr sz="900" dirty="0">
                <a:latin typeface="Arial"/>
                <a:cs typeface="Arial"/>
              </a:rPr>
              <a:t>at</a:t>
            </a:r>
            <a:r>
              <a:rPr sz="900" spc="-10" dirty="0">
                <a:latin typeface="Arial"/>
                <a:cs typeface="Arial"/>
              </a:rPr>
              <a:t> </a:t>
            </a:r>
            <a:r>
              <a:rPr sz="900" dirty="0">
                <a:latin typeface="Arial"/>
                <a:cs typeface="Arial"/>
              </a:rPr>
              <a:t>the</a:t>
            </a:r>
            <a:r>
              <a:rPr sz="900" spc="-10" dirty="0">
                <a:latin typeface="Arial"/>
                <a:cs typeface="Arial"/>
              </a:rPr>
              <a:t> coordinator, </a:t>
            </a:r>
            <a:r>
              <a:rPr sz="900" dirty="0">
                <a:latin typeface="Arial"/>
                <a:cs typeface="Arial"/>
              </a:rPr>
              <a:t>the</a:t>
            </a:r>
            <a:r>
              <a:rPr sz="900" spc="-10" dirty="0">
                <a:latin typeface="Arial"/>
                <a:cs typeface="Arial"/>
              </a:rPr>
              <a:t> latter broadcasts</a:t>
            </a:r>
            <a:r>
              <a:rPr sz="900" spc="-25" dirty="0">
                <a:latin typeface="Arial"/>
                <a:cs typeface="Arial"/>
              </a:rPr>
              <a:t> </a:t>
            </a:r>
            <a:r>
              <a:rPr sz="900" dirty="0">
                <a:latin typeface="Arial"/>
                <a:cs typeface="Arial"/>
              </a:rPr>
              <a:t>a</a:t>
            </a:r>
            <a:r>
              <a:rPr sz="900" spc="-25" dirty="0">
                <a:latin typeface="Arial"/>
                <a:cs typeface="Arial"/>
              </a:rPr>
              <a:t> </a:t>
            </a:r>
            <a:r>
              <a:rPr sz="900" spc="-20" dirty="0">
                <a:solidFill>
                  <a:srgbClr val="3333B2"/>
                </a:solidFill>
                <a:latin typeface="Arial"/>
                <a:cs typeface="Arial"/>
              </a:rPr>
              <a:t>checkpoint</a:t>
            </a:r>
            <a:r>
              <a:rPr sz="900" spc="-25" dirty="0">
                <a:solidFill>
                  <a:srgbClr val="3333B2"/>
                </a:solidFill>
                <a:latin typeface="Arial"/>
                <a:cs typeface="Arial"/>
              </a:rPr>
              <a:t> </a:t>
            </a:r>
            <a:r>
              <a:rPr sz="900" spc="-10" dirty="0">
                <a:solidFill>
                  <a:srgbClr val="3333B2"/>
                </a:solidFill>
                <a:latin typeface="Arial"/>
                <a:cs typeface="Arial"/>
              </a:rPr>
              <a:t>done</a:t>
            </a:r>
            <a:r>
              <a:rPr sz="900" spc="-25" dirty="0">
                <a:solidFill>
                  <a:srgbClr val="3333B2"/>
                </a:solidFill>
                <a:latin typeface="Arial"/>
                <a:cs typeface="Arial"/>
              </a:rPr>
              <a:t> </a:t>
            </a:r>
            <a:r>
              <a:rPr sz="900" spc="-10" dirty="0">
                <a:latin typeface="Arial"/>
                <a:cs typeface="Arial"/>
              </a:rPr>
              <a:t>message</a:t>
            </a:r>
            <a:r>
              <a:rPr sz="900" spc="-25" dirty="0">
                <a:latin typeface="Arial"/>
                <a:cs typeface="Arial"/>
              </a:rPr>
              <a:t> </a:t>
            </a:r>
            <a:r>
              <a:rPr sz="900" dirty="0">
                <a:latin typeface="Arial"/>
                <a:cs typeface="Arial"/>
              </a:rPr>
              <a:t>to</a:t>
            </a:r>
            <a:r>
              <a:rPr sz="900" spc="-25" dirty="0">
                <a:latin typeface="Arial"/>
                <a:cs typeface="Arial"/>
              </a:rPr>
              <a:t> </a:t>
            </a:r>
            <a:r>
              <a:rPr sz="900" spc="-10" dirty="0">
                <a:latin typeface="Arial"/>
                <a:cs typeface="Arial"/>
              </a:rPr>
              <a:t>allow</a:t>
            </a:r>
            <a:r>
              <a:rPr sz="900" spc="-20" dirty="0">
                <a:latin typeface="Arial"/>
                <a:cs typeface="Arial"/>
              </a:rPr>
              <a:t> </a:t>
            </a:r>
            <a:r>
              <a:rPr sz="900" dirty="0">
                <a:latin typeface="Arial"/>
                <a:cs typeface="Arial"/>
              </a:rPr>
              <a:t>all</a:t>
            </a:r>
            <a:r>
              <a:rPr sz="900" spc="-25" dirty="0">
                <a:latin typeface="Arial"/>
                <a:cs typeface="Arial"/>
              </a:rPr>
              <a:t> </a:t>
            </a:r>
            <a:r>
              <a:rPr sz="900" spc="-10" dirty="0">
                <a:latin typeface="Arial"/>
                <a:cs typeface="Arial"/>
              </a:rPr>
              <a:t>processes</a:t>
            </a:r>
            <a:r>
              <a:rPr sz="900" spc="-25" dirty="0">
                <a:latin typeface="Arial"/>
                <a:cs typeface="Arial"/>
              </a:rPr>
              <a:t> </a:t>
            </a:r>
            <a:r>
              <a:rPr sz="900" dirty="0">
                <a:latin typeface="Arial"/>
                <a:cs typeface="Arial"/>
              </a:rPr>
              <a:t>to</a:t>
            </a:r>
            <a:r>
              <a:rPr sz="900" spc="-25" dirty="0">
                <a:latin typeface="Arial"/>
                <a:cs typeface="Arial"/>
              </a:rPr>
              <a:t> </a:t>
            </a:r>
            <a:r>
              <a:rPr sz="900" spc="-10" dirty="0">
                <a:latin typeface="Arial"/>
                <a:cs typeface="Arial"/>
              </a:rPr>
              <a:t>continue</a:t>
            </a:r>
            <a:endParaRPr sz="900">
              <a:latin typeface="Arial"/>
              <a:cs typeface="Arial"/>
            </a:endParaRPr>
          </a:p>
          <a:p>
            <a:pPr>
              <a:lnSpc>
                <a:spcPct val="100000"/>
              </a:lnSpc>
              <a:spcBef>
                <a:spcPts val="30"/>
              </a:spcBef>
            </a:pPr>
            <a:endParaRPr sz="1200">
              <a:latin typeface="Arial"/>
              <a:cs typeface="Arial"/>
            </a:endParaRPr>
          </a:p>
          <a:p>
            <a:pPr marL="302260">
              <a:lnSpc>
                <a:spcPct val="100000"/>
              </a:lnSpc>
            </a:pPr>
            <a:r>
              <a:rPr sz="1000" spc="-10" dirty="0">
                <a:solidFill>
                  <a:srgbClr val="3333B2"/>
                </a:solidFill>
                <a:latin typeface="Arial"/>
                <a:cs typeface="Arial"/>
              </a:rPr>
              <a:t>Observation</a:t>
            </a:r>
            <a:endParaRPr sz="1000">
              <a:latin typeface="Arial"/>
              <a:cs typeface="Arial"/>
            </a:endParaRPr>
          </a:p>
          <a:p>
            <a:pPr marL="302260" marR="43180">
              <a:lnSpc>
                <a:spcPts val="1210"/>
              </a:lnSpc>
              <a:spcBef>
                <a:spcPts val="35"/>
              </a:spcBef>
            </a:pPr>
            <a:r>
              <a:rPr sz="900" dirty="0">
                <a:latin typeface="Arial"/>
                <a:cs typeface="Arial"/>
              </a:rPr>
              <a:t>It</a:t>
            </a:r>
            <a:r>
              <a:rPr sz="900" spc="-30"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possible</a:t>
            </a:r>
            <a:r>
              <a:rPr sz="900" spc="-3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consider</a:t>
            </a:r>
            <a:r>
              <a:rPr sz="900" spc="-30" dirty="0">
                <a:latin typeface="Arial"/>
                <a:cs typeface="Arial"/>
              </a:rPr>
              <a:t> </a:t>
            </a:r>
            <a:r>
              <a:rPr sz="900" dirty="0">
                <a:latin typeface="Arial"/>
                <a:cs typeface="Arial"/>
              </a:rPr>
              <a:t>only</a:t>
            </a:r>
            <a:r>
              <a:rPr sz="900" spc="-30" dirty="0">
                <a:latin typeface="Arial"/>
                <a:cs typeface="Arial"/>
              </a:rPr>
              <a:t> </a:t>
            </a:r>
            <a:r>
              <a:rPr sz="900" dirty="0">
                <a:latin typeface="Arial"/>
                <a:cs typeface="Arial"/>
              </a:rPr>
              <a:t>those</a:t>
            </a:r>
            <a:r>
              <a:rPr sz="900" spc="-30" dirty="0">
                <a:latin typeface="Arial"/>
                <a:cs typeface="Arial"/>
              </a:rPr>
              <a:t> </a:t>
            </a:r>
            <a:r>
              <a:rPr sz="900" dirty="0">
                <a:latin typeface="Arial"/>
                <a:cs typeface="Arial"/>
              </a:rPr>
              <a:t>processes</a:t>
            </a:r>
            <a:r>
              <a:rPr sz="900" spc="-25" dirty="0">
                <a:latin typeface="Arial"/>
                <a:cs typeface="Arial"/>
              </a:rPr>
              <a:t> </a:t>
            </a:r>
            <a:r>
              <a:rPr sz="900" dirty="0">
                <a:latin typeface="Arial"/>
                <a:cs typeface="Arial"/>
              </a:rPr>
              <a:t>that</a:t>
            </a:r>
            <a:r>
              <a:rPr sz="900" spc="-30" dirty="0">
                <a:latin typeface="Arial"/>
                <a:cs typeface="Arial"/>
              </a:rPr>
              <a:t> </a:t>
            </a:r>
            <a:r>
              <a:rPr sz="900" dirty="0">
                <a:latin typeface="Arial"/>
                <a:cs typeface="Arial"/>
              </a:rPr>
              <a:t>depend</a:t>
            </a:r>
            <a:r>
              <a:rPr sz="900" spc="-30" dirty="0">
                <a:latin typeface="Arial"/>
                <a:cs typeface="Arial"/>
              </a:rPr>
              <a:t> </a:t>
            </a:r>
            <a:r>
              <a:rPr sz="900" dirty="0">
                <a:latin typeface="Arial"/>
                <a:cs typeface="Arial"/>
              </a:rPr>
              <a:t>on</a:t>
            </a:r>
            <a:r>
              <a:rPr sz="900" spc="-3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recovery</a:t>
            </a:r>
            <a:r>
              <a:rPr sz="900" spc="-30" dirty="0">
                <a:latin typeface="Arial"/>
                <a:cs typeface="Arial"/>
              </a:rPr>
              <a:t> </a:t>
            </a:r>
            <a:r>
              <a:rPr sz="900" spc="-25" dirty="0">
                <a:latin typeface="Arial"/>
                <a:cs typeface="Arial"/>
              </a:rPr>
              <a:t>of </a:t>
            </a:r>
            <a:r>
              <a:rPr sz="900" dirty="0">
                <a:latin typeface="Arial"/>
                <a:cs typeface="Arial"/>
              </a:rPr>
              <a:t>the</a:t>
            </a:r>
            <a:r>
              <a:rPr sz="900" spc="-15" dirty="0">
                <a:latin typeface="Arial"/>
                <a:cs typeface="Arial"/>
              </a:rPr>
              <a:t> </a:t>
            </a:r>
            <a:r>
              <a:rPr sz="900" spc="-10" dirty="0">
                <a:latin typeface="Arial"/>
                <a:cs typeface="Arial"/>
              </a:rPr>
              <a:t>coordinator, </a:t>
            </a:r>
            <a:r>
              <a:rPr sz="900" dirty="0">
                <a:latin typeface="Arial"/>
                <a:cs typeface="Arial"/>
              </a:rPr>
              <a:t>and</a:t>
            </a:r>
            <a:r>
              <a:rPr sz="900" spc="-15" dirty="0">
                <a:latin typeface="Arial"/>
                <a:cs typeface="Arial"/>
              </a:rPr>
              <a:t> </a:t>
            </a:r>
            <a:r>
              <a:rPr sz="900" dirty="0">
                <a:latin typeface="Arial"/>
                <a:cs typeface="Arial"/>
              </a:rPr>
              <a:t>ignore</a:t>
            </a:r>
            <a:r>
              <a:rPr sz="900" spc="-15" dirty="0">
                <a:latin typeface="Arial"/>
                <a:cs typeface="Arial"/>
              </a:rPr>
              <a:t> </a:t>
            </a:r>
            <a:r>
              <a:rPr sz="900" dirty="0">
                <a:latin typeface="Arial"/>
                <a:cs typeface="Arial"/>
              </a:rPr>
              <a:t>the</a:t>
            </a:r>
            <a:r>
              <a:rPr sz="900" spc="-10" dirty="0">
                <a:latin typeface="Arial"/>
                <a:cs typeface="Arial"/>
              </a:rPr>
              <a:t> </a:t>
            </a:r>
            <a:r>
              <a:rPr sz="900" spc="-20" dirty="0">
                <a:latin typeface="Arial"/>
                <a:cs typeface="Arial"/>
              </a:rPr>
              <a:t>rest</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42545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Checkpointing</a:t>
            </a:r>
            <a:endParaRPr sz="500">
              <a:latin typeface="Arial"/>
              <a:cs typeface="Arial"/>
            </a:endParaRPr>
          </a:p>
        </p:txBody>
      </p:sp>
    </p:spTree>
  </p:cSld>
  <p:clrMapOvr>
    <a:masterClrMapping/>
  </p:clrMapOvr>
  <p:transition>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262602" y="-1515"/>
            <a:ext cx="29210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Recovery</a:t>
            </a:r>
            <a:endParaRPr sz="500">
              <a:latin typeface="Arial"/>
              <a:cs typeface="Arial"/>
            </a:endParaRPr>
          </a:p>
        </p:txBody>
      </p:sp>
      <p:sp>
        <p:nvSpPr>
          <p:cNvPr id="5" name="object 5"/>
          <p:cNvSpPr txBox="1"/>
          <p:nvPr/>
        </p:nvSpPr>
        <p:spPr>
          <a:xfrm>
            <a:off x="95300" y="197711"/>
            <a:ext cx="4034790" cy="79819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Cascaded</a:t>
            </a:r>
            <a:r>
              <a:rPr sz="1200" spc="-60" dirty="0">
                <a:solidFill>
                  <a:srgbClr val="3333B2"/>
                </a:solidFill>
                <a:latin typeface="Arial"/>
                <a:cs typeface="Arial"/>
              </a:rPr>
              <a:t> </a:t>
            </a:r>
            <a:r>
              <a:rPr sz="1200" spc="-10" dirty="0">
                <a:solidFill>
                  <a:srgbClr val="3333B2"/>
                </a:solidFill>
                <a:latin typeface="Arial"/>
                <a:cs typeface="Arial"/>
              </a:rPr>
              <a:t>rollback</a:t>
            </a:r>
            <a:endParaRPr sz="1200">
              <a:latin typeface="Arial"/>
              <a:cs typeface="Arial"/>
            </a:endParaRPr>
          </a:p>
          <a:p>
            <a:pPr marL="264160">
              <a:lnSpc>
                <a:spcPct val="100000"/>
              </a:lnSpc>
              <a:spcBef>
                <a:spcPts val="1055"/>
              </a:spcBef>
            </a:pPr>
            <a:r>
              <a:rPr sz="1000" spc="-10" dirty="0">
                <a:solidFill>
                  <a:srgbClr val="3333B2"/>
                </a:solidFill>
                <a:latin typeface="Arial"/>
                <a:cs typeface="Arial"/>
              </a:rPr>
              <a:t>Observation</a:t>
            </a:r>
            <a:endParaRPr sz="1000">
              <a:latin typeface="Arial"/>
              <a:cs typeface="Arial"/>
            </a:endParaRPr>
          </a:p>
          <a:p>
            <a:pPr marL="264160" marR="5080">
              <a:lnSpc>
                <a:spcPts val="1210"/>
              </a:lnSpc>
              <a:spcBef>
                <a:spcPts val="40"/>
              </a:spcBef>
            </a:pPr>
            <a:r>
              <a:rPr sz="900" dirty="0">
                <a:latin typeface="Arial"/>
                <a:cs typeface="Arial"/>
              </a:rPr>
              <a:t>If</a:t>
            </a:r>
            <a:r>
              <a:rPr sz="900" spc="-25" dirty="0">
                <a:latin typeface="Arial"/>
                <a:cs typeface="Arial"/>
              </a:rPr>
              <a:t> </a:t>
            </a:r>
            <a:r>
              <a:rPr sz="900" spc="-10" dirty="0">
                <a:latin typeface="Arial"/>
                <a:cs typeface="Arial"/>
              </a:rPr>
              <a:t>checkpointing</a:t>
            </a:r>
            <a:r>
              <a:rPr sz="900" spc="-20"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done</a:t>
            </a:r>
            <a:r>
              <a:rPr sz="900" spc="-20" dirty="0">
                <a:latin typeface="Arial"/>
                <a:cs typeface="Arial"/>
              </a:rPr>
              <a:t> </a:t>
            </a:r>
            <a:r>
              <a:rPr sz="900" dirty="0">
                <a:latin typeface="Arial"/>
                <a:cs typeface="Arial"/>
              </a:rPr>
              <a:t>at</a:t>
            </a:r>
            <a:r>
              <a:rPr sz="900" spc="-2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“wrong”</a:t>
            </a:r>
            <a:r>
              <a:rPr sz="900" spc="-20" dirty="0">
                <a:latin typeface="Arial"/>
                <a:cs typeface="Arial"/>
              </a:rPr>
              <a:t> </a:t>
            </a:r>
            <a:r>
              <a:rPr sz="900" dirty="0">
                <a:latin typeface="Arial"/>
                <a:cs typeface="Arial"/>
              </a:rPr>
              <a:t>instants,</a:t>
            </a:r>
            <a:r>
              <a:rPr sz="900" spc="-20"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recovery</a:t>
            </a:r>
            <a:r>
              <a:rPr sz="900" spc="-20" dirty="0">
                <a:latin typeface="Arial"/>
                <a:cs typeface="Arial"/>
              </a:rPr>
              <a:t> </a:t>
            </a:r>
            <a:r>
              <a:rPr sz="900" dirty="0">
                <a:latin typeface="Arial"/>
                <a:cs typeface="Arial"/>
              </a:rPr>
              <a:t>line</a:t>
            </a:r>
            <a:r>
              <a:rPr sz="900" spc="-25" dirty="0">
                <a:latin typeface="Arial"/>
                <a:cs typeface="Arial"/>
              </a:rPr>
              <a:t> </a:t>
            </a:r>
            <a:r>
              <a:rPr sz="900" dirty="0">
                <a:latin typeface="Arial"/>
                <a:cs typeface="Arial"/>
              </a:rPr>
              <a:t>may</a:t>
            </a:r>
            <a:r>
              <a:rPr sz="900" spc="-20" dirty="0">
                <a:latin typeface="Arial"/>
                <a:cs typeface="Arial"/>
              </a:rPr>
              <a:t> </a:t>
            </a:r>
            <a:r>
              <a:rPr sz="900" dirty="0">
                <a:latin typeface="Arial"/>
                <a:cs typeface="Arial"/>
              </a:rPr>
              <a:t>lie</a:t>
            </a:r>
            <a:r>
              <a:rPr sz="900" spc="-20" dirty="0">
                <a:latin typeface="Arial"/>
                <a:cs typeface="Arial"/>
              </a:rPr>
              <a:t> </a:t>
            </a:r>
            <a:r>
              <a:rPr sz="900" spc="-25" dirty="0">
                <a:latin typeface="Arial"/>
                <a:cs typeface="Arial"/>
              </a:rPr>
              <a:t>at </a:t>
            </a:r>
            <a:r>
              <a:rPr sz="900" dirty="0">
                <a:latin typeface="Arial"/>
                <a:cs typeface="Arial"/>
              </a:rPr>
              <a:t>system</a:t>
            </a:r>
            <a:r>
              <a:rPr sz="900" spc="-30" dirty="0">
                <a:latin typeface="Arial"/>
                <a:cs typeface="Arial"/>
              </a:rPr>
              <a:t> </a:t>
            </a:r>
            <a:r>
              <a:rPr sz="900" dirty="0">
                <a:latin typeface="Arial"/>
                <a:cs typeface="Arial"/>
              </a:rPr>
              <a:t>startup</a:t>
            </a:r>
            <a:r>
              <a:rPr sz="900" spc="-25" dirty="0">
                <a:latin typeface="Arial"/>
                <a:cs typeface="Arial"/>
              </a:rPr>
              <a:t> </a:t>
            </a:r>
            <a:r>
              <a:rPr sz="900" dirty="0">
                <a:latin typeface="Arial"/>
                <a:cs typeface="Arial"/>
              </a:rPr>
              <a:t>time.</a:t>
            </a:r>
            <a:r>
              <a:rPr sz="900" spc="30" dirty="0">
                <a:latin typeface="Arial"/>
                <a:cs typeface="Arial"/>
              </a:rPr>
              <a:t> </a:t>
            </a:r>
            <a:r>
              <a:rPr sz="900" dirty="0">
                <a:latin typeface="Arial"/>
                <a:cs typeface="Arial"/>
              </a:rPr>
              <a:t>We</a:t>
            </a:r>
            <a:r>
              <a:rPr sz="900" spc="-25" dirty="0">
                <a:latin typeface="Arial"/>
                <a:cs typeface="Arial"/>
              </a:rPr>
              <a:t> </a:t>
            </a:r>
            <a:r>
              <a:rPr sz="900" spc="-10" dirty="0">
                <a:latin typeface="Arial"/>
                <a:cs typeface="Arial"/>
              </a:rPr>
              <a:t>have</a:t>
            </a:r>
            <a:r>
              <a:rPr sz="900" spc="-30"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so-</a:t>
            </a:r>
            <a:r>
              <a:rPr sz="900" dirty="0">
                <a:latin typeface="Arial"/>
                <a:cs typeface="Arial"/>
              </a:rPr>
              <a:t>called</a:t>
            </a:r>
            <a:r>
              <a:rPr sz="900" spc="-25" dirty="0">
                <a:latin typeface="Arial"/>
                <a:cs typeface="Arial"/>
              </a:rPr>
              <a:t> </a:t>
            </a:r>
            <a:r>
              <a:rPr sz="900" dirty="0">
                <a:solidFill>
                  <a:srgbClr val="C80000"/>
                </a:solidFill>
                <a:latin typeface="Arial"/>
                <a:cs typeface="Arial"/>
              </a:rPr>
              <a:t>cascaded</a:t>
            </a:r>
            <a:r>
              <a:rPr sz="900" spc="-25" dirty="0">
                <a:solidFill>
                  <a:srgbClr val="C80000"/>
                </a:solidFill>
                <a:latin typeface="Arial"/>
                <a:cs typeface="Arial"/>
              </a:rPr>
              <a:t> </a:t>
            </a:r>
            <a:r>
              <a:rPr sz="900" spc="-10" dirty="0">
                <a:solidFill>
                  <a:srgbClr val="C80000"/>
                </a:solidFill>
                <a:latin typeface="Arial"/>
                <a:cs typeface="Arial"/>
              </a:rPr>
              <a:t>rollback</a:t>
            </a:r>
            <a:r>
              <a:rPr sz="900" spc="-10" dirty="0">
                <a:latin typeface="Arial"/>
                <a:cs typeface="Arial"/>
              </a:rPr>
              <a:t>.</a:t>
            </a:r>
            <a:endParaRPr sz="900">
              <a:latin typeface="Arial"/>
              <a:cs typeface="Arial"/>
            </a:endParaRPr>
          </a:p>
        </p:txBody>
      </p:sp>
      <p:pic>
        <p:nvPicPr>
          <p:cNvPr id="6" name="object 6"/>
          <p:cNvPicPr/>
          <p:nvPr/>
        </p:nvPicPr>
        <p:blipFill>
          <a:blip r:embed="rId4" cstate="print"/>
          <a:stretch>
            <a:fillRect/>
          </a:stretch>
        </p:blipFill>
        <p:spPr>
          <a:xfrm>
            <a:off x="852933" y="1124839"/>
            <a:ext cx="2939958" cy="674089"/>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42545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5" action="ppaction://hlinksldjump"/>
              </a:rPr>
              <a:t>Checkpointing</a:t>
            </a:r>
            <a:endParaRPr sz="500">
              <a:latin typeface="Arial"/>
              <a:cs typeface="Arial"/>
            </a:endParaRPr>
          </a:p>
        </p:txBody>
      </p:sp>
    </p:spTree>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262602" y="-1515"/>
            <a:ext cx="29210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Recovery</a:t>
            </a:r>
            <a:endParaRPr sz="500">
              <a:latin typeface="Arial"/>
              <a:cs typeface="Arial"/>
            </a:endParaRPr>
          </a:p>
        </p:txBody>
      </p:sp>
      <p:sp>
        <p:nvSpPr>
          <p:cNvPr id="5" name="object 5"/>
          <p:cNvSpPr txBox="1"/>
          <p:nvPr/>
        </p:nvSpPr>
        <p:spPr>
          <a:xfrm>
            <a:off x="95300" y="197711"/>
            <a:ext cx="4045585" cy="79819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Independent</a:t>
            </a:r>
            <a:r>
              <a:rPr sz="1200" spc="-75" dirty="0">
                <a:solidFill>
                  <a:srgbClr val="3333B2"/>
                </a:solidFill>
                <a:latin typeface="Arial"/>
                <a:cs typeface="Arial"/>
              </a:rPr>
              <a:t> </a:t>
            </a:r>
            <a:r>
              <a:rPr sz="1200" spc="-10" dirty="0">
                <a:solidFill>
                  <a:srgbClr val="3333B2"/>
                </a:solidFill>
                <a:latin typeface="Arial"/>
                <a:cs typeface="Arial"/>
              </a:rPr>
              <a:t>checkpointing</a:t>
            </a:r>
            <a:endParaRPr sz="1200">
              <a:latin typeface="Arial"/>
              <a:cs typeface="Arial"/>
            </a:endParaRPr>
          </a:p>
          <a:p>
            <a:pPr marL="264160">
              <a:lnSpc>
                <a:spcPct val="100000"/>
              </a:lnSpc>
              <a:spcBef>
                <a:spcPts val="1055"/>
              </a:spcBef>
            </a:pPr>
            <a:r>
              <a:rPr sz="1000" spc="-10" dirty="0">
                <a:solidFill>
                  <a:srgbClr val="3333B2"/>
                </a:solidFill>
                <a:latin typeface="Arial"/>
                <a:cs typeface="Arial"/>
              </a:rPr>
              <a:t>Essence</a:t>
            </a:r>
            <a:endParaRPr sz="1000">
              <a:latin typeface="Arial"/>
              <a:cs typeface="Arial"/>
            </a:endParaRPr>
          </a:p>
          <a:p>
            <a:pPr marL="264160" marR="5080">
              <a:lnSpc>
                <a:spcPts val="1210"/>
              </a:lnSpc>
              <a:spcBef>
                <a:spcPts val="40"/>
              </a:spcBef>
            </a:pPr>
            <a:r>
              <a:rPr sz="900" dirty="0">
                <a:latin typeface="Arial"/>
                <a:cs typeface="Arial"/>
              </a:rPr>
              <a:t>Each</a:t>
            </a:r>
            <a:r>
              <a:rPr sz="900" spc="-25" dirty="0">
                <a:latin typeface="Arial"/>
                <a:cs typeface="Arial"/>
              </a:rPr>
              <a:t> </a:t>
            </a:r>
            <a:r>
              <a:rPr sz="900" dirty="0">
                <a:latin typeface="Arial"/>
                <a:cs typeface="Arial"/>
              </a:rPr>
              <a:t>process</a:t>
            </a:r>
            <a:r>
              <a:rPr sz="900" spc="-20" dirty="0">
                <a:latin typeface="Arial"/>
                <a:cs typeface="Arial"/>
              </a:rPr>
              <a:t> </a:t>
            </a:r>
            <a:r>
              <a:rPr sz="900" dirty="0">
                <a:latin typeface="Arial"/>
                <a:cs typeface="Arial"/>
              </a:rPr>
              <a:t>independently</a:t>
            </a:r>
            <a:r>
              <a:rPr sz="900" spc="-20" dirty="0">
                <a:latin typeface="Arial"/>
                <a:cs typeface="Arial"/>
              </a:rPr>
              <a:t> </a:t>
            </a:r>
            <a:r>
              <a:rPr sz="900" dirty="0">
                <a:latin typeface="Arial"/>
                <a:cs typeface="Arial"/>
              </a:rPr>
              <a:t>takes</a:t>
            </a:r>
            <a:r>
              <a:rPr sz="900" spc="-20" dirty="0">
                <a:latin typeface="Arial"/>
                <a:cs typeface="Arial"/>
              </a:rPr>
              <a:t> </a:t>
            </a:r>
            <a:r>
              <a:rPr sz="900" spc="-10" dirty="0">
                <a:latin typeface="Arial"/>
                <a:cs typeface="Arial"/>
              </a:rPr>
              <a:t>checkpoints,</a:t>
            </a:r>
            <a:r>
              <a:rPr sz="900" spc="-20" dirty="0">
                <a:latin typeface="Arial"/>
                <a:cs typeface="Arial"/>
              </a:rPr>
              <a:t> </a:t>
            </a:r>
            <a:r>
              <a:rPr sz="900" dirty="0">
                <a:latin typeface="Arial"/>
                <a:cs typeface="Arial"/>
              </a:rPr>
              <a:t>with</a:t>
            </a:r>
            <a:r>
              <a:rPr sz="900" spc="-2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risk</a:t>
            </a:r>
            <a:r>
              <a:rPr sz="900" spc="-20" dirty="0">
                <a:latin typeface="Arial"/>
                <a:cs typeface="Arial"/>
              </a:rPr>
              <a:t> </a:t>
            </a:r>
            <a:r>
              <a:rPr sz="900" dirty="0">
                <a:latin typeface="Arial"/>
                <a:cs typeface="Arial"/>
              </a:rPr>
              <a:t>of</a:t>
            </a:r>
            <a:r>
              <a:rPr sz="900" spc="-20" dirty="0">
                <a:latin typeface="Arial"/>
                <a:cs typeface="Arial"/>
              </a:rPr>
              <a:t> </a:t>
            </a:r>
            <a:r>
              <a:rPr sz="900" dirty="0">
                <a:latin typeface="Arial"/>
                <a:cs typeface="Arial"/>
              </a:rPr>
              <a:t>a</a:t>
            </a:r>
            <a:r>
              <a:rPr sz="900" spc="-20" dirty="0">
                <a:latin typeface="Arial"/>
                <a:cs typeface="Arial"/>
              </a:rPr>
              <a:t> </a:t>
            </a:r>
            <a:r>
              <a:rPr sz="900" spc="-10" dirty="0">
                <a:latin typeface="Arial"/>
                <a:cs typeface="Arial"/>
              </a:rPr>
              <a:t>cascaded </a:t>
            </a:r>
            <a:r>
              <a:rPr sz="900" dirty="0">
                <a:latin typeface="Arial"/>
                <a:cs typeface="Arial"/>
              </a:rPr>
              <a:t>rollback</a:t>
            </a:r>
            <a:r>
              <a:rPr sz="900" spc="-35" dirty="0">
                <a:latin typeface="Arial"/>
                <a:cs typeface="Arial"/>
              </a:rPr>
              <a:t> </a:t>
            </a:r>
            <a:r>
              <a:rPr sz="900" dirty="0">
                <a:latin typeface="Arial"/>
                <a:cs typeface="Arial"/>
              </a:rPr>
              <a:t>to</a:t>
            </a:r>
            <a:r>
              <a:rPr sz="900" spc="-35" dirty="0">
                <a:latin typeface="Arial"/>
                <a:cs typeface="Arial"/>
              </a:rPr>
              <a:t> </a:t>
            </a:r>
            <a:r>
              <a:rPr sz="900" dirty="0">
                <a:latin typeface="Arial"/>
                <a:cs typeface="Arial"/>
              </a:rPr>
              <a:t>system</a:t>
            </a:r>
            <a:r>
              <a:rPr sz="900" spc="-35" dirty="0">
                <a:latin typeface="Arial"/>
                <a:cs typeface="Arial"/>
              </a:rPr>
              <a:t> </a:t>
            </a:r>
            <a:r>
              <a:rPr sz="900" spc="-10" dirty="0">
                <a:latin typeface="Arial"/>
                <a:cs typeface="Arial"/>
              </a:rPr>
              <a:t>startup.</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42545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Checkpointing</a:t>
            </a:r>
            <a:endParaRPr sz="500">
              <a:latin typeface="Arial"/>
              <a:cs typeface="Arial"/>
            </a:endParaRPr>
          </a:p>
        </p:txBody>
      </p:sp>
    </p:spTree>
  </p:cSld>
  <p:clrMapOvr>
    <a:masterClrMapping/>
  </p:clrMapOvr>
  <p:transition>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262602" y="-1515"/>
            <a:ext cx="29210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Recovery</a:t>
            </a:r>
            <a:endParaRPr sz="500">
              <a:latin typeface="Arial"/>
              <a:cs typeface="Arial"/>
            </a:endParaRPr>
          </a:p>
        </p:txBody>
      </p:sp>
      <p:sp>
        <p:nvSpPr>
          <p:cNvPr id="5" name="object 5"/>
          <p:cNvSpPr txBox="1"/>
          <p:nvPr/>
        </p:nvSpPr>
        <p:spPr>
          <a:xfrm>
            <a:off x="69900" y="197711"/>
            <a:ext cx="4216400" cy="1155065"/>
          </a:xfrm>
          <a:prstGeom prst="rect">
            <a:avLst/>
          </a:prstGeom>
        </p:spPr>
        <p:txBody>
          <a:bodyPr vert="horz" wrap="square" lIns="0" tIns="12065" rIns="0" bIns="0" rtlCol="0">
            <a:spAutoFit/>
          </a:bodyPr>
          <a:lstStyle/>
          <a:p>
            <a:pPr marL="38100">
              <a:lnSpc>
                <a:spcPct val="100000"/>
              </a:lnSpc>
              <a:spcBef>
                <a:spcPts val="95"/>
              </a:spcBef>
            </a:pPr>
            <a:r>
              <a:rPr sz="1200" dirty="0">
                <a:solidFill>
                  <a:srgbClr val="3333B2"/>
                </a:solidFill>
                <a:latin typeface="Arial"/>
                <a:cs typeface="Arial"/>
              </a:rPr>
              <a:t>Independent</a:t>
            </a:r>
            <a:r>
              <a:rPr sz="1200" spc="-75" dirty="0">
                <a:solidFill>
                  <a:srgbClr val="3333B2"/>
                </a:solidFill>
                <a:latin typeface="Arial"/>
                <a:cs typeface="Arial"/>
              </a:rPr>
              <a:t> </a:t>
            </a:r>
            <a:r>
              <a:rPr sz="1200" spc="-10" dirty="0">
                <a:solidFill>
                  <a:srgbClr val="3333B2"/>
                </a:solidFill>
                <a:latin typeface="Arial"/>
                <a:cs typeface="Arial"/>
              </a:rPr>
              <a:t>checkpointing</a:t>
            </a:r>
            <a:endParaRPr sz="1200">
              <a:latin typeface="Arial"/>
              <a:cs typeface="Arial"/>
            </a:endParaRPr>
          </a:p>
          <a:p>
            <a:pPr marL="289560">
              <a:lnSpc>
                <a:spcPct val="100000"/>
              </a:lnSpc>
              <a:spcBef>
                <a:spcPts val="1055"/>
              </a:spcBef>
            </a:pPr>
            <a:r>
              <a:rPr sz="1000" spc="-10" dirty="0">
                <a:solidFill>
                  <a:srgbClr val="3333B2"/>
                </a:solidFill>
                <a:latin typeface="Arial"/>
                <a:cs typeface="Arial"/>
              </a:rPr>
              <a:t>Essence</a:t>
            </a:r>
            <a:endParaRPr sz="1000">
              <a:latin typeface="Arial"/>
              <a:cs typeface="Arial"/>
            </a:endParaRPr>
          </a:p>
          <a:p>
            <a:pPr marL="289560" marR="150495">
              <a:lnSpc>
                <a:spcPts val="1210"/>
              </a:lnSpc>
              <a:spcBef>
                <a:spcPts val="40"/>
              </a:spcBef>
            </a:pPr>
            <a:r>
              <a:rPr sz="900" dirty="0">
                <a:latin typeface="Arial"/>
                <a:cs typeface="Arial"/>
              </a:rPr>
              <a:t>Each</a:t>
            </a:r>
            <a:r>
              <a:rPr sz="900" spc="-25" dirty="0">
                <a:latin typeface="Arial"/>
                <a:cs typeface="Arial"/>
              </a:rPr>
              <a:t> </a:t>
            </a:r>
            <a:r>
              <a:rPr sz="900" dirty="0">
                <a:latin typeface="Arial"/>
                <a:cs typeface="Arial"/>
              </a:rPr>
              <a:t>process</a:t>
            </a:r>
            <a:r>
              <a:rPr sz="900" spc="-20" dirty="0">
                <a:latin typeface="Arial"/>
                <a:cs typeface="Arial"/>
              </a:rPr>
              <a:t> </a:t>
            </a:r>
            <a:r>
              <a:rPr sz="900" dirty="0">
                <a:latin typeface="Arial"/>
                <a:cs typeface="Arial"/>
              </a:rPr>
              <a:t>independently</a:t>
            </a:r>
            <a:r>
              <a:rPr sz="900" spc="-20" dirty="0">
                <a:latin typeface="Arial"/>
                <a:cs typeface="Arial"/>
              </a:rPr>
              <a:t> </a:t>
            </a:r>
            <a:r>
              <a:rPr sz="900" dirty="0">
                <a:latin typeface="Arial"/>
                <a:cs typeface="Arial"/>
              </a:rPr>
              <a:t>takes</a:t>
            </a:r>
            <a:r>
              <a:rPr sz="900" spc="-20" dirty="0">
                <a:latin typeface="Arial"/>
                <a:cs typeface="Arial"/>
              </a:rPr>
              <a:t> </a:t>
            </a:r>
            <a:r>
              <a:rPr sz="900" spc="-10" dirty="0">
                <a:latin typeface="Arial"/>
                <a:cs typeface="Arial"/>
              </a:rPr>
              <a:t>checkpoints,</a:t>
            </a:r>
            <a:r>
              <a:rPr sz="900" spc="-20" dirty="0">
                <a:latin typeface="Arial"/>
                <a:cs typeface="Arial"/>
              </a:rPr>
              <a:t> </a:t>
            </a:r>
            <a:r>
              <a:rPr sz="900" dirty="0">
                <a:latin typeface="Arial"/>
                <a:cs typeface="Arial"/>
              </a:rPr>
              <a:t>with</a:t>
            </a:r>
            <a:r>
              <a:rPr sz="900" spc="-2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risk</a:t>
            </a:r>
            <a:r>
              <a:rPr sz="900" spc="-20" dirty="0">
                <a:latin typeface="Arial"/>
                <a:cs typeface="Arial"/>
              </a:rPr>
              <a:t> </a:t>
            </a:r>
            <a:r>
              <a:rPr sz="900" dirty="0">
                <a:latin typeface="Arial"/>
                <a:cs typeface="Arial"/>
              </a:rPr>
              <a:t>of</a:t>
            </a:r>
            <a:r>
              <a:rPr sz="900" spc="-20" dirty="0">
                <a:latin typeface="Arial"/>
                <a:cs typeface="Arial"/>
              </a:rPr>
              <a:t> </a:t>
            </a:r>
            <a:r>
              <a:rPr sz="900" dirty="0">
                <a:latin typeface="Arial"/>
                <a:cs typeface="Arial"/>
              </a:rPr>
              <a:t>a</a:t>
            </a:r>
            <a:r>
              <a:rPr sz="900" spc="-20" dirty="0">
                <a:latin typeface="Arial"/>
                <a:cs typeface="Arial"/>
              </a:rPr>
              <a:t> </a:t>
            </a:r>
            <a:r>
              <a:rPr sz="900" spc="-10" dirty="0">
                <a:latin typeface="Arial"/>
                <a:cs typeface="Arial"/>
              </a:rPr>
              <a:t>cascaded </a:t>
            </a:r>
            <a:r>
              <a:rPr sz="900" dirty="0">
                <a:latin typeface="Arial"/>
                <a:cs typeface="Arial"/>
              </a:rPr>
              <a:t>rollback</a:t>
            </a:r>
            <a:r>
              <a:rPr sz="900" spc="-35" dirty="0">
                <a:latin typeface="Arial"/>
                <a:cs typeface="Arial"/>
              </a:rPr>
              <a:t> </a:t>
            </a:r>
            <a:r>
              <a:rPr sz="900" dirty="0">
                <a:latin typeface="Arial"/>
                <a:cs typeface="Arial"/>
              </a:rPr>
              <a:t>to</a:t>
            </a:r>
            <a:r>
              <a:rPr sz="900" spc="-35" dirty="0">
                <a:latin typeface="Arial"/>
                <a:cs typeface="Arial"/>
              </a:rPr>
              <a:t> </a:t>
            </a:r>
            <a:r>
              <a:rPr sz="900" dirty="0">
                <a:latin typeface="Arial"/>
                <a:cs typeface="Arial"/>
              </a:rPr>
              <a:t>system</a:t>
            </a:r>
            <a:r>
              <a:rPr sz="900" spc="-35" dirty="0">
                <a:latin typeface="Arial"/>
                <a:cs typeface="Arial"/>
              </a:rPr>
              <a:t> </a:t>
            </a:r>
            <a:r>
              <a:rPr sz="900" spc="-10" dirty="0">
                <a:latin typeface="Arial"/>
                <a:cs typeface="Arial"/>
              </a:rPr>
              <a:t>startup.</a:t>
            </a:r>
            <a:endParaRPr sz="900">
              <a:latin typeface="Arial"/>
              <a:cs typeface="Arial"/>
            </a:endParaRPr>
          </a:p>
          <a:p>
            <a:pPr marL="542925" marR="30480" indent="-120650">
              <a:lnSpc>
                <a:spcPct val="111600"/>
              </a:lnSpc>
              <a:spcBef>
                <a:spcPts val="330"/>
              </a:spcBef>
              <a:buClr>
                <a:srgbClr val="3333B2"/>
              </a:buClr>
              <a:buFont typeface="Menlo"/>
              <a:buChar char="•"/>
              <a:tabLst>
                <a:tab pos="543560" algn="l"/>
              </a:tabLst>
            </a:pPr>
            <a:r>
              <a:rPr sz="900" dirty="0">
                <a:latin typeface="Arial"/>
                <a:cs typeface="Arial"/>
              </a:rPr>
              <a:t>Let </a:t>
            </a:r>
            <a:r>
              <a:rPr sz="900" i="1" spc="-10" dirty="0">
                <a:latin typeface="Arial"/>
                <a:cs typeface="Arial"/>
              </a:rPr>
              <a:t>CP</a:t>
            </a:r>
            <a:r>
              <a:rPr sz="1050" i="1" spc="-15" baseline="-15873" dirty="0">
                <a:latin typeface="Arial"/>
                <a:cs typeface="Arial"/>
              </a:rPr>
              <a:t>i</a:t>
            </a:r>
            <a:r>
              <a:rPr sz="1050" i="1" spc="-120" baseline="-15873" dirty="0">
                <a:latin typeface="Arial"/>
                <a:cs typeface="Arial"/>
              </a:rPr>
              <a:t> </a:t>
            </a:r>
            <a:r>
              <a:rPr sz="900" dirty="0">
                <a:latin typeface="Arial"/>
                <a:cs typeface="Arial"/>
              </a:rPr>
              <a:t>(</a:t>
            </a:r>
            <a:r>
              <a:rPr sz="900" i="1" dirty="0">
                <a:latin typeface="Arial"/>
                <a:cs typeface="Arial"/>
              </a:rPr>
              <a:t>m</a:t>
            </a:r>
            <a:r>
              <a:rPr sz="900" dirty="0">
                <a:latin typeface="Arial"/>
                <a:cs typeface="Arial"/>
              </a:rPr>
              <a:t>)</a:t>
            </a:r>
            <a:r>
              <a:rPr sz="900" spc="5" dirty="0">
                <a:latin typeface="Arial"/>
                <a:cs typeface="Arial"/>
              </a:rPr>
              <a:t> </a:t>
            </a:r>
            <a:r>
              <a:rPr sz="900" spc="-10" dirty="0">
                <a:latin typeface="Arial"/>
                <a:cs typeface="Arial"/>
              </a:rPr>
              <a:t>denote</a:t>
            </a:r>
            <a:r>
              <a:rPr sz="900" spc="5" dirty="0">
                <a:latin typeface="Arial"/>
                <a:cs typeface="Arial"/>
              </a:rPr>
              <a:t> </a:t>
            </a:r>
            <a:r>
              <a:rPr sz="900" i="1" dirty="0">
                <a:latin typeface="Arial"/>
                <a:cs typeface="Arial"/>
              </a:rPr>
              <a:t>m</a:t>
            </a:r>
            <a:r>
              <a:rPr sz="1050" baseline="27777" dirty="0">
                <a:latin typeface="Arial"/>
                <a:cs typeface="Arial"/>
              </a:rPr>
              <a:t>th</a:t>
            </a:r>
            <a:r>
              <a:rPr sz="1050" spc="157" baseline="27777" dirty="0">
                <a:latin typeface="Arial"/>
                <a:cs typeface="Arial"/>
              </a:rPr>
              <a:t> </a:t>
            </a:r>
            <a:r>
              <a:rPr sz="900" spc="-20" dirty="0">
                <a:latin typeface="Arial"/>
                <a:cs typeface="Arial"/>
              </a:rPr>
              <a:t>checkpoint</a:t>
            </a:r>
            <a:r>
              <a:rPr sz="900" spc="5" dirty="0">
                <a:latin typeface="Arial"/>
                <a:cs typeface="Arial"/>
              </a:rPr>
              <a:t> </a:t>
            </a:r>
            <a:r>
              <a:rPr sz="900" dirty="0">
                <a:latin typeface="Arial"/>
                <a:cs typeface="Arial"/>
              </a:rPr>
              <a:t>of</a:t>
            </a:r>
            <a:r>
              <a:rPr sz="900" spc="5" dirty="0">
                <a:latin typeface="Arial"/>
                <a:cs typeface="Arial"/>
              </a:rPr>
              <a:t> </a:t>
            </a:r>
            <a:r>
              <a:rPr sz="900" spc="-10" dirty="0">
                <a:latin typeface="Arial"/>
                <a:cs typeface="Arial"/>
              </a:rPr>
              <a:t>process</a:t>
            </a:r>
            <a:r>
              <a:rPr sz="900" spc="5" dirty="0">
                <a:latin typeface="Arial"/>
                <a:cs typeface="Arial"/>
              </a:rPr>
              <a:t> </a:t>
            </a:r>
            <a:r>
              <a:rPr sz="900" i="1" dirty="0">
                <a:latin typeface="Arial"/>
                <a:cs typeface="Arial"/>
              </a:rPr>
              <a:t>P</a:t>
            </a:r>
            <a:r>
              <a:rPr sz="1050" i="1" baseline="-15873" dirty="0">
                <a:latin typeface="Arial"/>
                <a:cs typeface="Arial"/>
              </a:rPr>
              <a:t>i</a:t>
            </a:r>
            <a:r>
              <a:rPr sz="1050" i="1" spc="254" baseline="-15873" dirty="0">
                <a:latin typeface="Arial"/>
                <a:cs typeface="Arial"/>
              </a:rPr>
              <a:t> </a:t>
            </a:r>
            <a:r>
              <a:rPr sz="900" dirty="0">
                <a:latin typeface="Arial"/>
                <a:cs typeface="Arial"/>
              </a:rPr>
              <a:t>and </a:t>
            </a:r>
            <a:r>
              <a:rPr sz="900" i="1" spc="-10" dirty="0">
                <a:latin typeface="Arial"/>
                <a:cs typeface="Arial"/>
              </a:rPr>
              <a:t>INT</a:t>
            </a:r>
            <a:r>
              <a:rPr sz="1050" i="1" spc="-15" baseline="-15873" dirty="0">
                <a:latin typeface="Arial"/>
                <a:cs typeface="Arial"/>
              </a:rPr>
              <a:t>i</a:t>
            </a:r>
            <a:r>
              <a:rPr sz="1050" i="1" spc="-120" baseline="-15873" dirty="0">
                <a:latin typeface="Arial"/>
                <a:cs typeface="Arial"/>
              </a:rPr>
              <a:t> </a:t>
            </a:r>
            <a:r>
              <a:rPr sz="900" dirty="0">
                <a:latin typeface="Arial"/>
                <a:cs typeface="Arial"/>
              </a:rPr>
              <a:t>(</a:t>
            </a:r>
            <a:r>
              <a:rPr sz="900" i="1" dirty="0">
                <a:latin typeface="Arial"/>
                <a:cs typeface="Arial"/>
              </a:rPr>
              <a:t>m</a:t>
            </a:r>
            <a:r>
              <a:rPr sz="900" dirty="0">
                <a:latin typeface="Arial"/>
                <a:cs typeface="Arial"/>
              </a:rPr>
              <a:t>)</a:t>
            </a:r>
            <a:r>
              <a:rPr sz="900" spc="5" dirty="0">
                <a:latin typeface="Arial"/>
                <a:cs typeface="Arial"/>
              </a:rPr>
              <a:t> </a:t>
            </a:r>
            <a:r>
              <a:rPr sz="900" dirty="0">
                <a:latin typeface="Arial"/>
                <a:cs typeface="Arial"/>
              </a:rPr>
              <a:t>the</a:t>
            </a:r>
            <a:r>
              <a:rPr sz="900" spc="5" dirty="0">
                <a:latin typeface="Arial"/>
                <a:cs typeface="Arial"/>
              </a:rPr>
              <a:t> </a:t>
            </a:r>
            <a:r>
              <a:rPr sz="900" spc="-10" dirty="0">
                <a:latin typeface="Arial"/>
                <a:cs typeface="Arial"/>
              </a:rPr>
              <a:t>interval </a:t>
            </a:r>
            <a:r>
              <a:rPr sz="900" dirty="0">
                <a:latin typeface="Arial"/>
                <a:cs typeface="Arial"/>
              </a:rPr>
              <a:t>between</a:t>
            </a:r>
            <a:r>
              <a:rPr sz="900" spc="10" dirty="0">
                <a:latin typeface="Arial"/>
                <a:cs typeface="Arial"/>
              </a:rPr>
              <a:t> </a:t>
            </a:r>
            <a:r>
              <a:rPr sz="900" i="1" spc="-10" dirty="0">
                <a:latin typeface="Arial"/>
                <a:cs typeface="Arial"/>
              </a:rPr>
              <a:t>CP</a:t>
            </a:r>
            <a:r>
              <a:rPr sz="1050" i="1" spc="-15" baseline="-15873" dirty="0">
                <a:latin typeface="Arial"/>
                <a:cs typeface="Arial"/>
              </a:rPr>
              <a:t>i</a:t>
            </a:r>
            <a:r>
              <a:rPr sz="1050" i="1" spc="-120" baseline="-15873" dirty="0">
                <a:latin typeface="Arial"/>
                <a:cs typeface="Arial"/>
              </a:rPr>
              <a:t> </a:t>
            </a:r>
            <a:r>
              <a:rPr sz="900" dirty="0">
                <a:latin typeface="Arial"/>
                <a:cs typeface="Arial"/>
              </a:rPr>
              <a:t>(</a:t>
            </a:r>
            <a:r>
              <a:rPr sz="900" i="1" dirty="0">
                <a:latin typeface="Arial"/>
                <a:cs typeface="Arial"/>
              </a:rPr>
              <a:t>m</a:t>
            </a:r>
            <a:r>
              <a:rPr sz="900" i="1" spc="-100" dirty="0">
                <a:latin typeface="Arial"/>
                <a:cs typeface="Arial"/>
              </a:rPr>
              <a:t> </a:t>
            </a:r>
            <a:r>
              <a:rPr sz="900" i="1" spc="150" dirty="0">
                <a:latin typeface="Menlo"/>
                <a:cs typeface="Menlo"/>
              </a:rPr>
              <a:t>−</a:t>
            </a:r>
            <a:r>
              <a:rPr sz="900" i="1" spc="-415" dirty="0">
                <a:latin typeface="Menlo"/>
                <a:cs typeface="Menlo"/>
              </a:rPr>
              <a:t> </a:t>
            </a:r>
            <a:r>
              <a:rPr sz="900" dirty="0">
                <a:latin typeface="Arial"/>
                <a:cs typeface="Arial"/>
              </a:rPr>
              <a:t>1)</a:t>
            </a:r>
            <a:r>
              <a:rPr sz="900" spc="10" dirty="0">
                <a:latin typeface="Arial"/>
                <a:cs typeface="Arial"/>
              </a:rPr>
              <a:t> </a:t>
            </a:r>
            <a:r>
              <a:rPr sz="900" dirty="0">
                <a:latin typeface="Arial"/>
                <a:cs typeface="Arial"/>
              </a:rPr>
              <a:t>and</a:t>
            </a:r>
            <a:r>
              <a:rPr sz="900" spc="10" dirty="0">
                <a:latin typeface="Arial"/>
                <a:cs typeface="Arial"/>
              </a:rPr>
              <a:t> </a:t>
            </a:r>
            <a:r>
              <a:rPr sz="900" i="1" spc="-10" dirty="0">
                <a:latin typeface="Arial"/>
                <a:cs typeface="Arial"/>
              </a:rPr>
              <a:t>CP</a:t>
            </a:r>
            <a:r>
              <a:rPr sz="1050" i="1" spc="-15" baseline="-15873" dirty="0">
                <a:latin typeface="Arial"/>
                <a:cs typeface="Arial"/>
              </a:rPr>
              <a:t>i</a:t>
            </a:r>
            <a:r>
              <a:rPr sz="1050" i="1" spc="-112" baseline="-15873" dirty="0">
                <a:latin typeface="Arial"/>
                <a:cs typeface="Arial"/>
              </a:rPr>
              <a:t> </a:t>
            </a:r>
            <a:r>
              <a:rPr sz="900" spc="-20" dirty="0">
                <a:latin typeface="Arial"/>
                <a:cs typeface="Arial"/>
              </a:rPr>
              <a:t>(</a:t>
            </a:r>
            <a:r>
              <a:rPr sz="900" i="1" spc="-20" dirty="0">
                <a:latin typeface="Arial"/>
                <a:cs typeface="Arial"/>
              </a:rPr>
              <a:t>m</a:t>
            </a:r>
            <a:r>
              <a:rPr sz="900" spc="-20" dirty="0">
                <a:latin typeface="Arial"/>
                <a:cs typeface="Arial"/>
              </a:rPr>
              <a:t>).</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42545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Checkpointing</a:t>
            </a:r>
            <a:endParaRPr sz="500">
              <a:latin typeface="Arial"/>
              <a:cs typeface="Arial"/>
            </a:endParaRPr>
          </a:p>
        </p:txBody>
      </p:sp>
    </p:spTree>
  </p:cSld>
  <p:clrMapOvr>
    <a:masterClrMapping/>
  </p:clrMapOvr>
  <p:transition>
    <p:fad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262602" y="-1515"/>
            <a:ext cx="29210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Recovery</a:t>
            </a:r>
            <a:endParaRPr sz="500">
              <a:latin typeface="Arial"/>
              <a:cs typeface="Arial"/>
            </a:endParaRPr>
          </a:p>
        </p:txBody>
      </p:sp>
      <p:sp>
        <p:nvSpPr>
          <p:cNvPr id="5" name="object 5"/>
          <p:cNvSpPr txBox="1"/>
          <p:nvPr/>
        </p:nvSpPr>
        <p:spPr>
          <a:xfrm>
            <a:off x="69900" y="197711"/>
            <a:ext cx="4216400" cy="1511935"/>
          </a:xfrm>
          <a:prstGeom prst="rect">
            <a:avLst/>
          </a:prstGeom>
        </p:spPr>
        <p:txBody>
          <a:bodyPr vert="horz" wrap="square" lIns="0" tIns="12065" rIns="0" bIns="0" rtlCol="0">
            <a:spAutoFit/>
          </a:bodyPr>
          <a:lstStyle/>
          <a:p>
            <a:pPr marL="38100">
              <a:lnSpc>
                <a:spcPct val="100000"/>
              </a:lnSpc>
              <a:spcBef>
                <a:spcPts val="95"/>
              </a:spcBef>
            </a:pPr>
            <a:r>
              <a:rPr sz="1200" dirty="0">
                <a:solidFill>
                  <a:srgbClr val="3333B2"/>
                </a:solidFill>
                <a:latin typeface="Arial"/>
                <a:cs typeface="Arial"/>
              </a:rPr>
              <a:t>Independent</a:t>
            </a:r>
            <a:r>
              <a:rPr sz="1200" spc="-75" dirty="0">
                <a:solidFill>
                  <a:srgbClr val="3333B2"/>
                </a:solidFill>
                <a:latin typeface="Arial"/>
                <a:cs typeface="Arial"/>
              </a:rPr>
              <a:t> </a:t>
            </a:r>
            <a:r>
              <a:rPr sz="1200" spc="-10" dirty="0">
                <a:solidFill>
                  <a:srgbClr val="3333B2"/>
                </a:solidFill>
                <a:latin typeface="Arial"/>
                <a:cs typeface="Arial"/>
              </a:rPr>
              <a:t>checkpointing</a:t>
            </a:r>
            <a:endParaRPr sz="1200">
              <a:latin typeface="Arial"/>
              <a:cs typeface="Arial"/>
            </a:endParaRPr>
          </a:p>
          <a:p>
            <a:pPr marL="289560">
              <a:lnSpc>
                <a:spcPct val="100000"/>
              </a:lnSpc>
              <a:spcBef>
                <a:spcPts val="1055"/>
              </a:spcBef>
            </a:pPr>
            <a:r>
              <a:rPr sz="1000" spc="-10" dirty="0">
                <a:solidFill>
                  <a:srgbClr val="3333B2"/>
                </a:solidFill>
                <a:latin typeface="Arial"/>
                <a:cs typeface="Arial"/>
              </a:rPr>
              <a:t>Essence</a:t>
            </a:r>
            <a:endParaRPr sz="1000">
              <a:latin typeface="Arial"/>
              <a:cs typeface="Arial"/>
            </a:endParaRPr>
          </a:p>
          <a:p>
            <a:pPr marL="289560" marR="150495">
              <a:lnSpc>
                <a:spcPts val="1210"/>
              </a:lnSpc>
              <a:spcBef>
                <a:spcPts val="40"/>
              </a:spcBef>
            </a:pPr>
            <a:r>
              <a:rPr sz="900" dirty="0">
                <a:latin typeface="Arial"/>
                <a:cs typeface="Arial"/>
              </a:rPr>
              <a:t>Each</a:t>
            </a:r>
            <a:r>
              <a:rPr sz="900" spc="-25" dirty="0">
                <a:latin typeface="Arial"/>
                <a:cs typeface="Arial"/>
              </a:rPr>
              <a:t> </a:t>
            </a:r>
            <a:r>
              <a:rPr sz="900" dirty="0">
                <a:latin typeface="Arial"/>
                <a:cs typeface="Arial"/>
              </a:rPr>
              <a:t>process</a:t>
            </a:r>
            <a:r>
              <a:rPr sz="900" spc="-20" dirty="0">
                <a:latin typeface="Arial"/>
                <a:cs typeface="Arial"/>
              </a:rPr>
              <a:t> </a:t>
            </a:r>
            <a:r>
              <a:rPr sz="900" dirty="0">
                <a:latin typeface="Arial"/>
                <a:cs typeface="Arial"/>
              </a:rPr>
              <a:t>independently</a:t>
            </a:r>
            <a:r>
              <a:rPr sz="900" spc="-20" dirty="0">
                <a:latin typeface="Arial"/>
                <a:cs typeface="Arial"/>
              </a:rPr>
              <a:t> </a:t>
            </a:r>
            <a:r>
              <a:rPr sz="900" dirty="0">
                <a:latin typeface="Arial"/>
                <a:cs typeface="Arial"/>
              </a:rPr>
              <a:t>takes</a:t>
            </a:r>
            <a:r>
              <a:rPr sz="900" spc="-20" dirty="0">
                <a:latin typeface="Arial"/>
                <a:cs typeface="Arial"/>
              </a:rPr>
              <a:t> </a:t>
            </a:r>
            <a:r>
              <a:rPr sz="900" spc="-10" dirty="0">
                <a:latin typeface="Arial"/>
                <a:cs typeface="Arial"/>
              </a:rPr>
              <a:t>checkpoints,</a:t>
            </a:r>
            <a:r>
              <a:rPr sz="900" spc="-20" dirty="0">
                <a:latin typeface="Arial"/>
                <a:cs typeface="Arial"/>
              </a:rPr>
              <a:t> </a:t>
            </a:r>
            <a:r>
              <a:rPr sz="900" dirty="0">
                <a:latin typeface="Arial"/>
                <a:cs typeface="Arial"/>
              </a:rPr>
              <a:t>with</a:t>
            </a:r>
            <a:r>
              <a:rPr sz="900" spc="-2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risk</a:t>
            </a:r>
            <a:r>
              <a:rPr sz="900" spc="-20" dirty="0">
                <a:latin typeface="Arial"/>
                <a:cs typeface="Arial"/>
              </a:rPr>
              <a:t> </a:t>
            </a:r>
            <a:r>
              <a:rPr sz="900" dirty="0">
                <a:latin typeface="Arial"/>
                <a:cs typeface="Arial"/>
              </a:rPr>
              <a:t>of</a:t>
            </a:r>
            <a:r>
              <a:rPr sz="900" spc="-20" dirty="0">
                <a:latin typeface="Arial"/>
                <a:cs typeface="Arial"/>
              </a:rPr>
              <a:t> </a:t>
            </a:r>
            <a:r>
              <a:rPr sz="900" dirty="0">
                <a:latin typeface="Arial"/>
                <a:cs typeface="Arial"/>
              </a:rPr>
              <a:t>a</a:t>
            </a:r>
            <a:r>
              <a:rPr sz="900" spc="-20" dirty="0">
                <a:latin typeface="Arial"/>
                <a:cs typeface="Arial"/>
              </a:rPr>
              <a:t> </a:t>
            </a:r>
            <a:r>
              <a:rPr sz="900" spc="-10" dirty="0">
                <a:latin typeface="Arial"/>
                <a:cs typeface="Arial"/>
              </a:rPr>
              <a:t>cascaded </a:t>
            </a:r>
            <a:r>
              <a:rPr sz="900" dirty="0">
                <a:latin typeface="Arial"/>
                <a:cs typeface="Arial"/>
              </a:rPr>
              <a:t>rollback</a:t>
            </a:r>
            <a:r>
              <a:rPr sz="900" spc="-35" dirty="0">
                <a:latin typeface="Arial"/>
                <a:cs typeface="Arial"/>
              </a:rPr>
              <a:t> </a:t>
            </a:r>
            <a:r>
              <a:rPr sz="900" dirty="0">
                <a:latin typeface="Arial"/>
                <a:cs typeface="Arial"/>
              </a:rPr>
              <a:t>to</a:t>
            </a:r>
            <a:r>
              <a:rPr sz="900" spc="-35" dirty="0">
                <a:latin typeface="Arial"/>
                <a:cs typeface="Arial"/>
              </a:rPr>
              <a:t> </a:t>
            </a:r>
            <a:r>
              <a:rPr sz="900" dirty="0">
                <a:latin typeface="Arial"/>
                <a:cs typeface="Arial"/>
              </a:rPr>
              <a:t>system</a:t>
            </a:r>
            <a:r>
              <a:rPr sz="900" spc="-35" dirty="0">
                <a:latin typeface="Arial"/>
                <a:cs typeface="Arial"/>
              </a:rPr>
              <a:t> </a:t>
            </a:r>
            <a:r>
              <a:rPr sz="900" spc="-10" dirty="0">
                <a:latin typeface="Arial"/>
                <a:cs typeface="Arial"/>
              </a:rPr>
              <a:t>startup.</a:t>
            </a:r>
            <a:endParaRPr sz="900">
              <a:latin typeface="Arial"/>
              <a:cs typeface="Arial"/>
            </a:endParaRPr>
          </a:p>
          <a:p>
            <a:pPr marL="542925" marR="30480" indent="-120650">
              <a:lnSpc>
                <a:spcPct val="111600"/>
              </a:lnSpc>
              <a:spcBef>
                <a:spcPts val="330"/>
              </a:spcBef>
              <a:buClr>
                <a:srgbClr val="3333B2"/>
              </a:buClr>
              <a:buFont typeface="Menlo"/>
              <a:buChar char="•"/>
              <a:tabLst>
                <a:tab pos="543560" algn="l"/>
              </a:tabLst>
            </a:pPr>
            <a:r>
              <a:rPr sz="900" dirty="0">
                <a:latin typeface="Arial"/>
                <a:cs typeface="Arial"/>
              </a:rPr>
              <a:t>Let </a:t>
            </a:r>
            <a:r>
              <a:rPr sz="900" i="1" spc="-10" dirty="0">
                <a:latin typeface="Arial"/>
                <a:cs typeface="Arial"/>
              </a:rPr>
              <a:t>CP</a:t>
            </a:r>
            <a:r>
              <a:rPr sz="1050" i="1" spc="-15" baseline="-15873" dirty="0">
                <a:latin typeface="Arial"/>
                <a:cs typeface="Arial"/>
              </a:rPr>
              <a:t>i</a:t>
            </a:r>
            <a:r>
              <a:rPr sz="1050" i="1" spc="-120" baseline="-15873" dirty="0">
                <a:latin typeface="Arial"/>
                <a:cs typeface="Arial"/>
              </a:rPr>
              <a:t> </a:t>
            </a:r>
            <a:r>
              <a:rPr sz="900" dirty="0">
                <a:latin typeface="Arial"/>
                <a:cs typeface="Arial"/>
              </a:rPr>
              <a:t>(</a:t>
            </a:r>
            <a:r>
              <a:rPr sz="900" i="1" dirty="0">
                <a:latin typeface="Arial"/>
                <a:cs typeface="Arial"/>
              </a:rPr>
              <a:t>m</a:t>
            </a:r>
            <a:r>
              <a:rPr sz="900" dirty="0">
                <a:latin typeface="Arial"/>
                <a:cs typeface="Arial"/>
              </a:rPr>
              <a:t>)</a:t>
            </a:r>
            <a:r>
              <a:rPr sz="900" spc="5" dirty="0">
                <a:latin typeface="Arial"/>
                <a:cs typeface="Arial"/>
              </a:rPr>
              <a:t> </a:t>
            </a:r>
            <a:r>
              <a:rPr sz="900" spc="-10" dirty="0">
                <a:latin typeface="Arial"/>
                <a:cs typeface="Arial"/>
              </a:rPr>
              <a:t>denote</a:t>
            </a:r>
            <a:r>
              <a:rPr sz="900" spc="5" dirty="0">
                <a:latin typeface="Arial"/>
                <a:cs typeface="Arial"/>
              </a:rPr>
              <a:t> </a:t>
            </a:r>
            <a:r>
              <a:rPr sz="900" i="1" dirty="0">
                <a:latin typeface="Arial"/>
                <a:cs typeface="Arial"/>
              </a:rPr>
              <a:t>m</a:t>
            </a:r>
            <a:r>
              <a:rPr sz="1050" baseline="27777" dirty="0">
                <a:latin typeface="Arial"/>
                <a:cs typeface="Arial"/>
              </a:rPr>
              <a:t>th</a:t>
            </a:r>
            <a:r>
              <a:rPr sz="1050" spc="157" baseline="27777" dirty="0">
                <a:latin typeface="Arial"/>
                <a:cs typeface="Arial"/>
              </a:rPr>
              <a:t> </a:t>
            </a:r>
            <a:r>
              <a:rPr sz="900" spc="-20" dirty="0">
                <a:latin typeface="Arial"/>
                <a:cs typeface="Arial"/>
              </a:rPr>
              <a:t>checkpoint</a:t>
            </a:r>
            <a:r>
              <a:rPr sz="900" spc="5" dirty="0">
                <a:latin typeface="Arial"/>
                <a:cs typeface="Arial"/>
              </a:rPr>
              <a:t> </a:t>
            </a:r>
            <a:r>
              <a:rPr sz="900" dirty="0">
                <a:latin typeface="Arial"/>
                <a:cs typeface="Arial"/>
              </a:rPr>
              <a:t>of</a:t>
            </a:r>
            <a:r>
              <a:rPr sz="900" spc="5" dirty="0">
                <a:latin typeface="Arial"/>
                <a:cs typeface="Arial"/>
              </a:rPr>
              <a:t> </a:t>
            </a:r>
            <a:r>
              <a:rPr sz="900" spc="-10" dirty="0">
                <a:latin typeface="Arial"/>
                <a:cs typeface="Arial"/>
              </a:rPr>
              <a:t>process</a:t>
            </a:r>
            <a:r>
              <a:rPr sz="900" spc="5" dirty="0">
                <a:latin typeface="Arial"/>
                <a:cs typeface="Arial"/>
              </a:rPr>
              <a:t> </a:t>
            </a:r>
            <a:r>
              <a:rPr sz="900" i="1" dirty="0">
                <a:latin typeface="Arial"/>
                <a:cs typeface="Arial"/>
              </a:rPr>
              <a:t>P</a:t>
            </a:r>
            <a:r>
              <a:rPr sz="1050" i="1" baseline="-15873" dirty="0">
                <a:latin typeface="Arial"/>
                <a:cs typeface="Arial"/>
              </a:rPr>
              <a:t>i</a:t>
            </a:r>
            <a:r>
              <a:rPr sz="1050" i="1" spc="254" baseline="-15873" dirty="0">
                <a:latin typeface="Arial"/>
                <a:cs typeface="Arial"/>
              </a:rPr>
              <a:t> </a:t>
            </a:r>
            <a:r>
              <a:rPr sz="900" dirty="0">
                <a:latin typeface="Arial"/>
                <a:cs typeface="Arial"/>
              </a:rPr>
              <a:t>and </a:t>
            </a:r>
            <a:r>
              <a:rPr sz="900" i="1" spc="-10" dirty="0">
                <a:latin typeface="Arial"/>
                <a:cs typeface="Arial"/>
              </a:rPr>
              <a:t>INT</a:t>
            </a:r>
            <a:r>
              <a:rPr sz="1050" i="1" spc="-15" baseline="-15873" dirty="0">
                <a:latin typeface="Arial"/>
                <a:cs typeface="Arial"/>
              </a:rPr>
              <a:t>i</a:t>
            </a:r>
            <a:r>
              <a:rPr sz="1050" i="1" spc="-120" baseline="-15873" dirty="0">
                <a:latin typeface="Arial"/>
                <a:cs typeface="Arial"/>
              </a:rPr>
              <a:t> </a:t>
            </a:r>
            <a:r>
              <a:rPr sz="900" dirty="0">
                <a:latin typeface="Arial"/>
                <a:cs typeface="Arial"/>
              </a:rPr>
              <a:t>(</a:t>
            </a:r>
            <a:r>
              <a:rPr sz="900" i="1" dirty="0">
                <a:latin typeface="Arial"/>
                <a:cs typeface="Arial"/>
              </a:rPr>
              <a:t>m</a:t>
            </a:r>
            <a:r>
              <a:rPr sz="900" dirty="0">
                <a:latin typeface="Arial"/>
                <a:cs typeface="Arial"/>
              </a:rPr>
              <a:t>)</a:t>
            </a:r>
            <a:r>
              <a:rPr sz="900" spc="5" dirty="0">
                <a:latin typeface="Arial"/>
                <a:cs typeface="Arial"/>
              </a:rPr>
              <a:t> </a:t>
            </a:r>
            <a:r>
              <a:rPr sz="900" dirty="0">
                <a:latin typeface="Arial"/>
                <a:cs typeface="Arial"/>
              </a:rPr>
              <a:t>the</a:t>
            </a:r>
            <a:r>
              <a:rPr sz="900" spc="5" dirty="0">
                <a:latin typeface="Arial"/>
                <a:cs typeface="Arial"/>
              </a:rPr>
              <a:t> </a:t>
            </a:r>
            <a:r>
              <a:rPr sz="900" spc="-10" dirty="0">
                <a:latin typeface="Arial"/>
                <a:cs typeface="Arial"/>
              </a:rPr>
              <a:t>interval </a:t>
            </a:r>
            <a:r>
              <a:rPr sz="900" dirty="0">
                <a:latin typeface="Arial"/>
                <a:cs typeface="Arial"/>
              </a:rPr>
              <a:t>between</a:t>
            </a:r>
            <a:r>
              <a:rPr sz="900" spc="10" dirty="0">
                <a:latin typeface="Arial"/>
                <a:cs typeface="Arial"/>
              </a:rPr>
              <a:t> </a:t>
            </a:r>
            <a:r>
              <a:rPr sz="900" i="1" spc="-10" dirty="0">
                <a:latin typeface="Arial"/>
                <a:cs typeface="Arial"/>
              </a:rPr>
              <a:t>CP</a:t>
            </a:r>
            <a:r>
              <a:rPr sz="1050" i="1" spc="-15" baseline="-15873" dirty="0">
                <a:latin typeface="Arial"/>
                <a:cs typeface="Arial"/>
              </a:rPr>
              <a:t>i</a:t>
            </a:r>
            <a:r>
              <a:rPr sz="1050" i="1" spc="-120" baseline="-15873" dirty="0">
                <a:latin typeface="Arial"/>
                <a:cs typeface="Arial"/>
              </a:rPr>
              <a:t> </a:t>
            </a:r>
            <a:r>
              <a:rPr sz="900" dirty="0">
                <a:latin typeface="Arial"/>
                <a:cs typeface="Arial"/>
              </a:rPr>
              <a:t>(</a:t>
            </a:r>
            <a:r>
              <a:rPr sz="900" i="1" dirty="0">
                <a:latin typeface="Arial"/>
                <a:cs typeface="Arial"/>
              </a:rPr>
              <a:t>m</a:t>
            </a:r>
            <a:r>
              <a:rPr sz="900" i="1" spc="-100" dirty="0">
                <a:latin typeface="Arial"/>
                <a:cs typeface="Arial"/>
              </a:rPr>
              <a:t> </a:t>
            </a:r>
            <a:r>
              <a:rPr sz="900" i="1" spc="150" dirty="0">
                <a:latin typeface="Menlo"/>
                <a:cs typeface="Menlo"/>
              </a:rPr>
              <a:t>−</a:t>
            </a:r>
            <a:r>
              <a:rPr sz="900" i="1" spc="-415" dirty="0">
                <a:latin typeface="Menlo"/>
                <a:cs typeface="Menlo"/>
              </a:rPr>
              <a:t> </a:t>
            </a:r>
            <a:r>
              <a:rPr sz="900" dirty="0">
                <a:latin typeface="Arial"/>
                <a:cs typeface="Arial"/>
              </a:rPr>
              <a:t>1)</a:t>
            </a:r>
            <a:r>
              <a:rPr sz="900" spc="10" dirty="0">
                <a:latin typeface="Arial"/>
                <a:cs typeface="Arial"/>
              </a:rPr>
              <a:t> </a:t>
            </a:r>
            <a:r>
              <a:rPr sz="900" dirty="0">
                <a:latin typeface="Arial"/>
                <a:cs typeface="Arial"/>
              </a:rPr>
              <a:t>and</a:t>
            </a:r>
            <a:r>
              <a:rPr sz="900" spc="10" dirty="0">
                <a:latin typeface="Arial"/>
                <a:cs typeface="Arial"/>
              </a:rPr>
              <a:t> </a:t>
            </a:r>
            <a:r>
              <a:rPr sz="900" i="1" spc="-10" dirty="0">
                <a:latin typeface="Arial"/>
                <a:cs typeface="Arial"/>
              </a:rPr>
              <a:t>CP</a:t>
            </a:r>
            <a:r>
              <a:rPr sz="1050" i="1" spc="-15" baseline="-15873" dirty="0">
                <a:latin typeface="Arial"/>
                <a:cs typeface="Arial"/>
              </a:rPr>
              <a:t>i</a:t>
            </a:r>
            <a:r>
              <a:rPr sz="1050" i="1" spc="-112" baseline="-15873" dirty="0">
                <a:latin typeface="Arial"/>
                <a:cs typeface="Arial"/>
              </a:rPr>
              <a:t> </a:t>
            </a:r>
            <a:r>
              <a:rPr sz="900" spc="-20" dirty="0">
                <a:latin typeface="Arial"/>
                <a:cs typeface="Arial"/>
              </a:rPr>
              <a:t>(</a:t>
            </a:r>
            <a:r>
              <a:rPr sz="900" i="1" spc="-20" dirty="0">
                <a:latin typeface="Arial"/>
                <a:cs typeface="Arial"/>
              </a:rPr>
              <a:t>m</a:t>
            </a:r>
            <a:r>
              <a:rPr sz="900" spc="-20" dirty="0">
                <a:latin typeface="Arial"/>
                <a:cs typeface="Arial"/>
              </a:rPr>
              <a:t>).</a:t>
            </a:r>
            <a:endParaRPr sz="900">
              <a:latin typeface="Arial"/>
              <a:cs typeface="Arial"/>
            </a:endParaRPr>
          </a:p>
          <a:p>
            <a:pPr marL="537210" indent="-114935">
              <a:lnSpc>
                <a:spcPct val="100000"/>
              </a:lnSpc>
              <a:spcBef>
                <a:spcPts val="525"/>
              </a:spcBef>
              <a:buClr>
                <a:srgbClr val="3333B2"/>
              </a:buClr>
              <a:buFont typeface="Menlo"/>
              <a:buChar char="•"/>
              <a:tabLst>
                <a:tab pos="537845" algn="l"/>
              </a:tabLst>
            </a:pPr>
            <a:r>
              <a:rPr sz="900" dirty="0">
                <a:latin typeface="Arial"/>
                <a:cs typeface="Arial"/>
              </a:rPr>
              <a:t>When</a:t>
            </a:r>
            <a:r>
              <a:rPr sz="900" spc="-10" dirty="0">
                <a:latin typeface="Arial"/>
                <a:cs typeface="Arial"/>
              </a:rPr>
              <a:t> </a:t>
            </a:r>
            <a:r>
              <a:rPr sz="900" dirty="0">
                <a:latin typeface="Arial"/>
                <a:cs typeface="Arial"/>
              </a:rPr>
              <a:t>process</a:t>
            </a:r>
            <a:r>
              <a:rPr sz="900" spc="-10" dirty="0">
                <a:latin typeface="Arial"/>
                <a:cs typeface="Arial"/>
              </a:rPr>
              <a:t> </a:t>
            </a:r>
            <a:r>
              <a:rPr sz="900" i="1" dirty="0">
                <a:latin typeface="Arial"/>
                <a:cs typeface="Arial"/>
              </a:rPr>
              <a:t>P</a:t>
            </a:r>
            <a:r>
              <a:rPr sz="1050" i="1" baseline="-15873" dirty="0">
                <a:latin typeface="Arial"/>
                <a:cs typeface="Arial"/>
              </a:rPr>
              <a:t>i</a:t>
            </a:r>
            <a:r>
              <a:rPr sz="1050" i="1" spc="232" baseline="-15873" dirty="0">
                <a:latin typeface="Arial"/>
                <a:cs typeface="Arial"/>
              </a:rPr>
              <a:t> </a:t>
            </a:r>
            <a:r>
              <a:rPr sz="900" dirty="0">
                <a:latin typeface="Arial"/>
                <a:cs typeface="Arial"/>
              </a:rPr>
              <a:t>sends</a:t>
            </a:r>
            <a:r>
              <a:rPr sz="900" spc="-5" dirty="0">
                <a:latin typeface="Arial"/>
                <a:cs typeface="Arial"/>
              </a:rPr>
              <a:t> </a:t>
            </a:r>
            <a:r>
              <a:rPr sz="900" dirty="0">
                <a:latin typeface="Arial"/>
                <a:cs typeface="Arial"/>
              </a:rPr>
              <a:t>a</a:t>
            </a:r>
            <a:r>
              <a:rPr sz="900" spc="-10" dirty="0">
                <a:latin typeface="Arial"/>
                <a:cs typeface="Arial"/>
              </a:rPr>
              <a:t> </a:t>
            </a:r>
            <a:r>
              <a:rPr sz="900" dirty="0">
                <a:latin typeface="Arial"/>
                <a:cs typeface="Arial"/>
              </a:rPr>
              <a:t>message</a:t>
            </a:r>
            <a:r>
              <a:rPr sz="900" spc="-5" dirty="0">
                <a:latin typeface="Arial"/>
                <a:cs typeface="Arial"/>
              </a:rPr>
              <a:t> </a:t>
            </a:r>
            <a:r>
              <a:rPr sz="900" dirty="0">
                <a:latin typeface="Arial"/>
                <a:cs typeface="Arial"/>
              </a:rPr>
              <a:t>in</a:t>
            </a:r>
            <a:r>
              <a:rPr sz="900" spc="-10" dirty="0">
                <a:latin typeface="Arial"/>
                <a:cs typeface="Arial"/>
              </a:rPr>
              <a:t> </a:t>
            </a:r>
            <a:r>
              <a:rPr sz="900" dirty="0">
                <a:latin typeface="Arial"/>
                <a:cs typeface="Arial"/>
              </a:rPr>
              <a:t>interval</a:t>
            </a:r>
            <a:r>
              <a:rPr sz="900" spc="-10" dirty="0">
                <a:latin typeface="Arial"/>
                <a:cs typeface="Arial"/>
              </a:rPr>
              <a:t> </a:t>
            </a:r>
            <a:r>
              <a:rPr sz="900" i="1" spc="-10" dirty="0">
                <a:latin typeface="Arial"/>
                <a:cs typeface="Arial"/>
              </a:rPr>
              <a:t>INT</a:t>
            </a:r>
            <a:r>
              <a:rPr sz="1050" i="1" spc="-15" baseline="-15873" dirty="0">
                <a:latin typeface="Arial"/>
                <a:cs typeface="Arial"/>
              </a:rPr>
              <a:t>i</a:t>
            </a:r>
            <a:r>
              <a:rPr sz="1050" i="1" spc="-127" baseline="-15873" dirty="0">
                <a:latin typeface="Arial"/>
                <a:cs typeface="Arial"/>
              </a:rPr>
              <a:t> </a:t>
            </a:r>
            <a:r>
              <a:rPr sz="900" dirty="0">
                <a:latin typeface="Arial"/>
                <a:cs typeface="Arial"/>
              </a:rPr>
              <a:t>(</a:t>
            </a:r>
            <a:r>
              <a:rPr sz="900" i="1" dirty="0">
                <a:latin typeface="Arial"/>
                <a:cs typeface="Arial"/>
              </a:rPr>
              <a:t>m</a:t>
            </a:r>
            <a:r>
              <a:rPr sz="900" dirty="0">
                <a:latin typeface="Arial"/>
                <a:cs typeface="Arial"/>
              </a:rPr>
              <a:t>),</a:t>
            </a:r>
            <a:r>
              <a:rPr sz="900" spc="-5" dirty="0">
                <a:latin typeface="Arial"/>
                <a:cs typeface="Arial"/>
              </a:rPr>
              <a:t> </a:t>
            </a:r>
            <a:r>
              <a:rPr sz="900" dirty="0">
                <a:latin typeface="Arial"/>
                <a:cs typeface="Arial"/>
              </a:rPr>
              <a:t>it</a:t>
            </a:r>
            <a:r>
              <a:rPr sz="900" spc="-10" dirty="0">
                <a:latin typeface="Arial"/>
                <a:cs typeface="Arial"/>
              </a:rPr>
              <a:t> piggybacks</a:t>
            </a:r>
            <a:endParaRPr sz="900">
              <a:latin typeface="Arial"/>
              <a:cs typeface="Arial"/>
            </a:endParaRPr>
          </a:p>
          <a:p>
            <a:pPr marL="538480">
              <a:lnSpc>
                <a:spcPct val="100000"/>
              </a:lnSpc>
              <a:spcBef>
                <a:spcPts val="125"/>
              </a:spcBef>
            </a:pPr>
            <a:r>
              <a:rPr sz="900" dirty="0">
                <a:latin typeface="Arial"/>
                <a:cs typeface="Arial"/>
              </a:rPr>
              <a:t>(</a:t>
            </a:r>
            <a:r>
              <a:rPr sz="900" i="1" dirty="0">
                <a:latin typeface="Arial"/>
                <a:cs typeface="Arial"/>
              </a:rPr>
              <a:t>i,</a:t>
            </a:r>
            <a:r>
              <a:rPr sz="900" i="1" spc="-30" dirty="0">
                <a:latin typeface="Arial"/>
                <a:cs typeface="Arial"/>
              </a:rPr>
              <a:t> </a:t>
            </a:r>
            <a:r>
              <a:rPr sz="900" i="1" spc="-35" dirty="0">
                <a:latin typeface="Arial"/>
                <a:cs typeface="Arial"/>
              </a:rPr>
              <a:t>m</a:t>
            </a:r>
            <a:r>
              <a:rPr sz="900" spc="-35" dirty="0">
                <a:latin typeface="Arial"/>
                <a:cs typeface="Arial"/>
              </a:rPr>
              <a:t>)</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42545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Checkpointing</a:t>
            </a:r>
            <a:endParaRPr sz="500">
              <a:latin typeface="Arial"/>
              <a:cs typeface="Arial"/>
            </a:endParaRPr>
          </a:p>
        </p:txBody>
      </p:sp>
    </p:spTree>
  </p:cSld>
  <p:clrMapOvr>
    <a:masterClrMapping/>
  </p:clrMapOvr>
  <p:transition>
    <p:fad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262602" y="-1515"/>
            <a:ext cx="29210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Recovery</a:t>
            </a:r>
            <a:endParaRPr sz="500">
              <a:latin typeface="Arial"/>
              <a:cs typeface="Arial"/>
            </a:endParaRPr>
          </a:p>
        </p:txBody>
      </p:sp>
      <p:sp>
        <p:nvSpPr>
          <p:cNvPr id="5" name="object 5"/>
          <p:cNvSpPr txBox="1"/>
          <p:nvPr/>
        </p:nvSpPr>
        <p:spPr>
          <a:xfrm>
            <a:off x="69900" y="197711"/>
            <a:ext cx="4216400" cy="1868805"/>
          </a:xfrm>
          <a:prstGeom prst="rect">
            <a:avLst/>
          </a:prstGeom>
        </p:spPr>
        <p:txBody>
          <a:bodyPr vert="horz" wrap="square" lIns="0" tIns="12065" rIns="0" bIns="0" rtlCol="0">
            <a:spAutoFit/>
          </a:bodyPr>
          <a:lstStyle/>
          <a:p>
            <a:pPr marL="38100">
              <a:lnSpc>
                <a:spcPct val="100000"/>
              </a:lnSpc>
              <a:spcBef>
                <a:spcPts val="95"/>
              </a:spcBef>
            </a:pPr>
            <a:r>
              <a:rPr sz="1200" dirty="0">
                <a:solidFill>
                  <a:srgbClr val="3333B2"/>
                </a:solidFill>
                <a:latin typeface="Arial"/>
                <a:cs typeface="Arial"/>
              </a:rPr>
              <a:t>Independent</a:t>
            </a:r>
            <a:r>
              <a:rPr sz="1200" spc="-75" dirty="0">
                <a:solidFill>
                  <a:srgbClr val="3333B2"/>
                </a:solidFill>
                <a:latin typeface="Arial"/>
                <a:cs typeface="Arial"/>
              </a:rPr>
              <a:t> </a:t>
            </a:r>
            <a:r>
              <a:rPr sz="1200" spc="-10" dirty="0">
                <a:solidFill>
                  <a:srgbClr val="3333B2"/>
                </a:solidFill>
                <a:latin typeface="Arial"/>
                <a:cs typeface="Arial"/>
              </a:rPr>
              <a:t>checkpointing</a:t>
            </a:r>
            <a:endParaRPr sz="1200">
              <a:latin typeface="Arial"/>
              <a:cs typeface="Arial"/>
            </a:endParaRPr>
          </a:p>
          <a:p>
            <a:pPr marL="289560">
              <a:lnSpc>
                <a:spcPct val="100000"/>
              </a:lnSpc>
              <a:spcBef>
                <a:spcPts val="1055"/>
              </a:spcBef>
            </a:pPr>
            <a:r>
              <a:rPr sz="1000" spc="-10" dirty="0">
                <a:solidFill>
                  <a:srgbClr val="3333B2"/>
                </a:solidFill>
                <a:latin typeface="Arial"/>
                <a:cs typeface="Arial"/>
              </a:rPr>
              <a:t>Essence</a:t>
            </a:r>
            <a:endParaRPr sz="1000">
              <a:latin typeface="Arial"/>
              <a:cs typeface="Arial"/>
            </a:endParaRPr>
          </a:p>
          <a:p>
            <a:pPr marL="289560" marR="150495">
              <a:lnSpc>
                <a:spcPts val="1210"/>
              </a:lnSpc>
              <a:spcBef>
                <a:spcPts val="40"/>
              </a:spcBef>
            </a:pPr>
            <a:r>
              <a:rPr sz="900" dirty="0">
                <a:latin typeface="Arial"/>
                <a:cs typeface="Arial"/>
              </a:rPr>
              <a:t>Each</a:t>
            </a:r>
            <a:r>
              <a:rPr sz="900" spc="-25" dirty="0">
                <a:latin typeface="Arial"/>
                <a:cs typeface="Arial"/>
              </a:rPr>
              <a:t> </a:t>
            </a:r>
            <a:r>
              <a:rPr sz="900" dirty="0">
                <a:latin typeface="Arial"/>
                <a:cs typeface="Arial"/>
              </a:rPr>
              <a:t>process</a:t>
            </a:r>
            <a:r>
              <a:rPr sz="900" spc="-20" dirty="0">
                <a:latin typeface="Arial"/>
                <a:cs typeface="Arial"/>
              </a:rPr>
              <a:t> </a:t>
            </a:r>
            <a:r>
              <a:rPr sz="900" dirty="0">
                <a:latin typeface="Arial"/>
                <a:cs typeface="Arial"/>
              </a:rPr>
              <a:t>independently</a:t>
            </a:r>
            <a:r>
              <a:rPr sz="900" spc="-20" dirty="0">
                <a:latin typeface="Arial"/>
                <a:cs typeface="Arial"/>
              </a:rPr>
              <a:t> </a:t>
            </a:r>
            <a:r>
              <a:rPr sz="900" dirty="0">
                <a:latin typeface="Arial"/>
                <a:cs typeface="Arial"/>
              </a:rPr>
              <a:t>takes</a:t>
            </a:r>
            <a:r>
              <a:rPr sz="900" spc="-20" dirty="0">
                <a:latin typeface="Arial"/>
                <a:cs typeface="Arial"/>
              </a:rPr>
              <a:t> </a:t>
            </a:r>
            <a:r>
              <a:rPr sz="900" spc="-10" dirty="0">
                <a:latin typeface="Arial"/>
                <a:cs typeface="Arial"/>
              </a:rPr>
              <a:t>checkpoints,</a:t>
            </a:r>
            <a:r>
              <a:rPr sz="900" spc="-20" dirty="0">
                <a:latin typeface="Arial"/>
                <a:cs typeface="Arial"/>
              </a:rPr>
              <a:t> </a:t>
            </a:r>
            <a:r>
              <a:rPr sz="900" dirty="0">
                <a:latin typeface="Arial"/>
                <a:cs typeface="Arial"/>
              </a:rPr>
              <a:t>with</a:t>
            </a:r>
            <a:r>
              <a:rPr sz="900" spc="-2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risk</a:t>
            </a:r>
            <a:r>
              <a:rPr sz="900" spc="-20" dirty="0">
                <a:latin typeface="Arial"/>
                <a:cs typeface="Arial"/>
              </a:rPr>
              <a:t> </a:t>
            </a:r>
            <a:r>
              <a:rPr sz="900" dirty="0">
                <a:latin typeface="Arial"/>
                <a:cs typeface="Arial"/>
              </a:rPr>
              <a:t>of</a:t>
            </a:r>
            <a:r>
              <a:rPr sz="900" spc="-20" dirty="0">
                <a:latin typeface="Arial"/>
                <a:cs typeface="Arial"/>
              </a:rPr>
              <a:t> </a:t>
            </a:r>
            <a:r>
              <a:rPr sz="900" dirty="0">
                <a:latin typeface="Arial"/>
                <a:cs typeface="Arial"/>
              </a:rPr>
              <a:t>a</a:t>
            </a:r>
            <a:r>
              <a:rPr sz="900" spc="-20" dirty="0">
                <a:latin typeface="Arial"/>
                <a:cs typeface="Arial"/>
              </a:rPr>
              <a:t> </a:t>
            </a:r>
            <a:r>
              <a:rPr sz="900" spc="-10" dirty="0">
                <a:latin typeface="Arial"/>
                <a:cs typeface="Arial"/>
              </a:rPr>
              <a:t>cascaded </a:t>
            </a:r>
            <a:r>
              <a:rPr sz="900" dirty="0">
                <a:latin typeface="Arial"/>
                <a:cs typeface="Arial"/>
              </a:rPr>
              <a:t>rollback</a:t>
            </a:r>
            <a:r>
              <a:rPr sz="900" spc="-35" dirty="0">
                <a:latin typeface="Arial"/>
                <a:cs typeface="Arial"/>
              </a:rPr>
              <a:t> </a:t>
            </a:r>
            <a:r>
              <a:rPr sz="900" dirty="0">
                <a:latin typeface="Arial"/>
                <a:cs typeface="Arial"/>
              </a:rPr>
              <a:t>to</a:t>
            </a:r>
            <a:r>
              <a:rPr sz="900" spc="-35" dirty="0">
                <a:latin typeface="Arial"/>
                <a:cs typeface="Arial"/>
              </a:rPr>
              <a:t> </a:t>
            </a:r>
            <a:r>
              <a:rPr sz="900" dirty="0">
                <a:latin typeface="Arial"/>
                <a:cs typeface="Arial"/>
              </a:rPr>
              <a:t>system</a:t>
            </a:r>
            <a:r>
              <a:rPr sz="900" spc="-35" dirty="0">
                <a:latin typeface="Arial"/>
                <a:cs typeface="Arial"/>
              </a:rPr>
              <a:t> </a:t>
            </a:r>
            <a:r>
              <a:rPr sz="900" spc="-10" dirty="0">
                <a:latin typeface="Arial"/>
                <a:cs typeface="Arial"/>
              </a:rPr>
              <a:t>startup.</a:t>
            </a:r>
            <a:endParaRPr sz="900">
              <a:latin typeface="Arial"/>
              <a:cs typeface="Arial"/>
            </a:endParaRPr>
          </a:p>
          <a:p>
            <a:pPr marL="542925" marR="30480" indent="-120650">
              <a:lnSpc>
                <a:spcPct val="111600"/>
              </a:lnSpc>
              <a:spcBef>
                <a:spcPts val="330"/>
              </a:spcBef>
              <a:buClr>
                <a:srgbClr val="3333B2"/>
              </a:buClr>
              <a:buFont typeface="Menlo"/>
              <a:buChar char="•"/>
              <a:tabLst>
                <a:tab pos="543560" algn="l"/>
              </a:tabLst>
            </a:pPr>
            <a:r>
              <a:rPr sz="900" dirty="0">
                <a:latin typeface="Arial"/>
                <a:cs typeface="Arial"/>
              </a:rPr>
              <a:t>Let </a:t>
            </a:r>
            <a:r>
              <a:rPr sz="900" i="1" spc="-10" dirty="0">
                <a:latin typeface="Arial"/>
                <a:cs typeface="Arial"/>
              </a:rPr>
              <a:t>CP</a:t>
            </a:r>
            <a:r>
              <a:rPr sz="1050" i="1" spc="-15" baseline="-15873" dirty="0">
                <a:latin typeface="Arial"/>
                <a:cs typeface="Arial"/>
              </a:rPr>
              <a:t>i</a:t>
            </a:r>
            <a:r>
              <a:rPr sz="1050" i="1" spc="-120" baseline="-15873" dirty="0">
                <a:latin typeface="Arial"/>
                <a:cs typeface="Arial"/>
              </a:rPr>
              <a:t> </a:t>
            </a:r>
            <a:r>
              <a:rPr sz="900" dirty="0">
                <a:latin typeface="Arial"/>
                <a:cs typeface="Arial"/>
              </a:rPr>
              <a:t>(</a:t>
            </a:r>
            <a:r>
              <a:rPr sz="900" i="1" dirty="0">
                <a:latin typeface="Arial"/>
                <a:cs typeface="Arial"/>
              </a:rPr>
              <a:t>m</a:t>
            </a:r>
            <a:r>
              <a:rPr sz="900" dirty="0">
                <a:latin typeface="Arial"/>
                <a:cs typeface="Arial"/>
              </a:rPr>
              <a:t>)</a:t>
            </a:r>
            <a:r>
              <a:rPr sz="900" spc="5" dirty="0">
                <a:latin typeface="Arial"/>
                <a:cs typeface="Arial"/>
              </a:rPr>
              <a:t> </a:t>
            </a:r>
            <a:r>
              <a:rPr sz="900" spc="-10" dirty="0">
                <a:latin typeface="Arial"/>
                <a:cs typeface="Arial"/>
              </a:rPr>
              <a:t>denote</a:t>
            </a:r>
            <a:r>
              <a:rPr sz="900" spc="5" dirty="0">
                <a:latin typeface="Arial"/>
                <a:cs typeface="Arial"/>
              </a:rPr>
              <a:t> </a:t>
            </a:r>
            <a:r>
              <a:rPr sz="900" i="1" dirty="0">
                <a:latin typeface="Arial"/>
                <a:cs typeface="Arial"/>
              </a:rPr>
              <a:t>m</a:t>
            </a:r>
            <a:r>
              <a:rPr sz="1050" baseline="27777" dirty="0">
                <a:latin typeface="Arial"/>
                <a:cs typeface="Arial"/>
              </a:rPr>
              <a:t>th</a:t>
            </a:r>
            <a:r>
              <a:rPr sz="1050" spc="157" baseline="27777" dirty="0">
                <a:latin typeface="Arial"/>
                <a:cs typeface="Arial"/>
              </a:rPr>
              <a:t> </a:t>
            </a:r>
            <a:r>
              <a:rPr sz="900" spc="-20" dirty="0">
                <a:latin typeface="Arial"/>
                <a:cs typeface="Arial"/>
              </a:rPr>
              <a:t>checkpoint</a:t>
            </a:r>
            <a:r>
              <a:rPr sz="900" spc="5" dirty="0">
                <a:latin typeface="Arial"/>
                <a:cs typeface="Arial"/>
              </a:rPr>
              <a:t> </a:t>
            </a:r>
            <a:r>
              <a:rPr sz="900" dirty="0">
                <a:latin typeface="Arial"/>
                <a:cs typeface="Arial"/>
              </a:rPr>
              <a:t>of</a:t>
            </a:r>
            <a:r>
              <a:rPr sz="900" spc="5" dirty="0">
                <a:latin typeface="Arial"/>
                <a:cs typeface="Arial"/>
              </a:rPr>
              <a:t> </a:t>
            </a:r>
            <a:r>
              <a:rPr sz="900" spc="-10" dirty="0">
                <a:latin typeface="Arial"/>
                <a:cs typeface="Arial"/>
              </a:rPr>
              <a:t>process</a:t>
            </a:r>
            <a:r>
              <a:rPr sz="900" spc="5" dirty="0">
                <a:latin typeface="Arial"/>
                <a:cs typeface="Arial"/>
              </a:rPr>
              <a:t> </a:t>
            </a:r>
            <a:r>
              <a:rPr sz="900" i="1" dirty="0">
                <a:latin typeface="Arial"/>
                <a:cs typeface="Arial"/>
              </a:rPr>
              <a:t>P</a:t>
            </a:r>
            <a:r>
              <a:rPr sz="1050" i="1" baseline="-15873" dirty="0">
                <a:latin typeface="Arial"/>
                <a:cs typeface="Arial"/>
              </a:rPr>
              <a:t>i</a:t>
            </a:r>
            <a:r>
              <a:rPr sz="1050" i="1" spc="254" baseline="-15873" dirty="0">
                <a:latin typeface="Arial"/>
                <a:cs typeface="Arial"/>
              </a:rPr>
              <a:t> </a:t>
            </a:r>
            <a:r>
              <a:rPr sz="900" dirty="0">
                <a:latin typeface="Arial"/>
                <a:cs typeface="Arial"/>
              </a:rPr>
              <a:t>and </a:t>
            </a:r>
            <a:r>
              <a:rPr sz="900" i="1" spc="-10" dirty="0">
                <a:latin typeface="Arial"/>
                <a:cs typeface="Arial"/>
              </a:rPr>
              <a:t>INT</a:t>
            </a:r>
            <a:r>
              <a:rPr sz="1050" i="1" spc="-15" baseline="-15873" dirty="0">
                <a:latin typeface="Arial"/>
                <a:cs typeface="Arial"/>
              </a:rPr>
              <a:t>i</a:t>
            </a:r>
            <a:r>
              <a:rPr sz="1050" i="1" spc="-120" baseline="-15873" dirty="0">
                <a:latin typeface="Arial"/>
                <a:cs typeface="Arial"/>
              </a:rPr>
              <a:t> </a:t>
            </a:r>
            <a:r>
              <a:rPr sz="900" dirty="0">
                <a:latin typeface="Arial"/>
                <a:cs typeface="Arial"/>
              </a:rPr>
              <a:t>(</a:t>
            </a:r>
            <a:r>
              <a:rPr sz="900" i="1" dirty="0">
                <a:latin typeface="Arial"/>
                <a:cs typeface="Arial"/>
              </a:rPr>
              <a:t>m</a:t>
            </a:r>
            <a:r>
              <a:rPr sz="900" dirty="0">
                <a:latin typeface="Arial"/>
                <a:cs typeface="Arial"/>
              </a:rPr>
              <a:t>)</a:t>
            </a:r>
            <a:r>
              <a:rPr sz="900" spc="5" dirty="0">
                <a:latin typeface="Arial"/>
                <a:cs typeface="Arial"/>
              </a:rPr>
              <a:t> </a:t>
            </a:r>
            <a:r>
              <a:rPr sz="900" dirty="0">
                <a:latin typeface="Arial"/>
                <a:cs typeface="Arial"/>
              </a:rPr>
              <a:t>the</a:t>
            </a:r>
            <a:r>
              <a:rPr sz="900" spc="5" dirty="0">
                <a:latin typeface="Arial"/>
                <a:cs typeface="Arial"/>
              </a:rPr>
              <a:t> </a:t>
            </a:r>
            <a:r>
              <a:rPr sz="900" spc="-10" dirty="0">
                <a:latin typeface="Arial"/>
                <a:cs typeface="Arial"/>
              </a:rPr>
              <a:t>interval </a:t>
            </a:r>
            <a:r>
              <a:rPr sz="900" dirty="0">
                <a:latin typeface="Arial"/>
                <a:cs typeface="Arial"/>
              </a:rPr>
              <a:t>between</a:t>
            </a:r>
            <a:r>
              <a:rPr sz="900" spc="10" dirty="0">
                <a:latin typeface="Arial"/>
                <a:cs typeface="Arial"/>
              </a:rPr>
              <a:t> </a:t>
            </a:r>
            <a:r>
              <a:rPr sz="900" i="1" spc="-10" dirty="0">
                <a:latin typeface="Arial"/>
                <a:cs typeface="Arial"/>
              </a:rPr>
              <a:t>CP</a:t>
            </a:r>
            <a:r>
              <a:rPr sz="1050" i="1" spc="-15" baseline="-15873" dirty="0">
                <a:latin typeface="Arial"/>
                <a:cs typeface="Arial"/>
              </a:rPr>
              <a:t>i</a:t>
            </a:r>
            <a:r>
              <a:rPr sz="1050" i="1" spc="-120" baseline="-15873" dirty="0">
                <a:latin typeface="Arial"/>
                <a:cs typeface="Arial"/>
              </a:rPr>
              <a:t> </a:t>
            </a:r>
            <a:r>
              <a:rPr sz="900" dirty="0">
                <a:latin typeface="Arial"/>
                <a:cs typeface="Arial"/>
              </a:rPr>
              <a:t>(</a:t>
            </a:r>
            <a:r>
              <a:rPr sz="900" i="1" dirty="0">
                <a:latin typeface="Arial"/>
                <a:cs typeface="Arial"/>
              </a:rPr>
              <a:t>m</a:t>
            </a:r>
            <a:r>
              <a:rPr sz="900" i="1" spc="-100" dirty="0">
                <a:latin typeface="Arial"/>
                <a:cs typeface="Arial"/>
              </a:rPr>
              <a:t> </a:t>
            </a:r>
            <a:r>
              <a:rPr sz="900" i="1" spc="150" dirty="0">
                <a:latin typeface="Menlo"/>
                <a:cs typeface="Menlo"/>
              </a:rPr>
              <a:t>−</a:t>
            </a:r>
            <a:r>
              <a:rPr sz="900" i="1" spc="-415" dirty="0">
                <a:latin typeface="Menlo"/>
                <a:cs typeface="Menlo"/>
              </a:rPr>
              <a:t> </a:t>
            </a:r>
            <a:r>
              <a:rPr sz="900" dirty="0">
                <a:latin typeface="Arial"/>
                <a:cs typeface="Arial"/>
              </a:rPr>
              <a:t>1)</a:t>
            </a:r>
            <a:r>
              <a:rPr sz="900" spc="10" dirty="0">
                <a:latin typeface="Arial"/>
                <a:cs typeface="Arial"/>
              </a:rPr>
              <a:t> </a:t>
            </a:r>
            <a:r>
              <a:rPr sz="900" dirty="0">
                <a:latin typeface="Arial"/>
                <a:cs typeface="Arial"/>
              </a:rPr>
              <a:t>and</a:t>
            </a:r>
            <a:r>
              <a:rPr sz="900" spc="10" dirty="0">
                <a:latin typeface="Arial"/>
                <a:cs typeface="Arial"/>
              </a:rPr>
              <a:t> </a:t>
            </a:r>
            <a:r>
              <a:rPr sz="900" i="1" spc="-10" dirty="0">
                <a:latin typeface="Arial"/>
                <a:cs typeface="Arial"/>
              </a:rPr>
              <a:t>CP</a:t>
            </a:r>
            <a:r>
              <a:rPr sz="1050" i="1" spc="-15" baseline="-15873" dirty="0">
                <a:latin typeface="Arial"/>
                <a:cs typeface="Arial"/>
              </a:rPr>
              <a:t>i</a:t>
            </a:r>
            <a:r>
              <a:rPr sz="1050" i="1" spc="-112" baseline="-15873" dirty="0">
                <a:latin typeface="Arial"/>
                <a:cs typeface="Arial"/>
              </a:rPr>
              <a:t> </a:t>
            </a:r>
            <a:r>
              <a:rPr sz="900" spc="-20" dirty="0">
                <a:latin typeface="Arial"/>
                <a:cs typeface="Arial"/>
              </a:rPr>
              <a:t>(</a:t>
            </a:r>
            <a:r>
              <a:rPr sz="900" i="1" spc="-20" dirty="0">
                <a:latin typeface="Arial"/>
                <a:cs typeface="Arial"/>
              </a:rPr>
              <a:t>m</a:t>
            </a:r>
            <a:r>
              <a:rPr sz="900" spc="-20" dirty="0">
                <a:latin typeface="Arial"/>
                <a:cs typeface="Arial"/>
              </a:rPr>
              <a:t>).</a:t>
            </a:r>
            <a:endParaRPr sz="900">
              <a:latin typeface="Arial"/>
              <a:cs typeface="Arial"/>
            </a:endParaRPr>
          </a:p>
          <a:p>
            <a:pPr marL="537210" indent="-114935">
              <a:lnSpc>
                <a:spcPct val="100000"/>
              </a:lnSpc>
              <a:spcBef>
                <a:spcPts val="525"/>
              </a:spcBef>
              <a:buClr>
                <a:srgbClr val="3333B2"/>
              </a:buClr>
              <a:buFont typeface="Menlo"/>
              <a:buChar char="•"/>
              <a:tabLst>
                <a:tab pos="537845" algn="l"/>
              </a:tabLst>
            </a:pPr>
            <a:r>
              <a:rPr sz="900" dirty="0">
                <a:latin typeface="Arial"/>
                <a:cs typeface="Arial"/>
              </a:rPr>
              <a:t>When</a:t>
            </a:r>
            <a:r>
              <a:rPr sz="900" spc="-10" dirty="0">
                <a:latin typeface="Arial"/>
                <a:cs typeface="Arial"/>
              </a:rPr>
              <a:t> </a:t>
            </a:r>
            <a:r>
              <a:rPr sz="900" dirty="0">
                <a:latin typeface="Arial"/>
                <a:cs typeface="Arial"/>
              </a:rPr>
              <a:t>process</a:t>
            </a:r>
            <a:r>
              <a:rPr sz="900" spc="-10" dirty="0">
                <a:latin typeface="Arial"/>
                <a:cs typeface="Arial"/>
              </a:rPr>
              <a:t> </a:t>
            </a:r>
            <a:r>
              <a:rPr sz="900" i="1" dirty="0">
                <a:latin typeface="Arial"/>
                <a:cs typeface="Arial"/>
              </a:rPr>
              <a:t>P</a:t>
            </a:r>
            <a:r>
              <a:rPr sz="1050" i="1" baseline="-15873" dirty="0">
                <a:latin typeface="Arial"/>
                <a:cs typeface="Arial"/>
              </a:rPr>
              <a:t>i</a:t>
            </a:r>
            <a:r>
              <a:rPr sz="1050" i="1" spc="232" baseline="-15873" dirty="0">
                <a:latin typeface="Arial"/>
                <a:cs typeface="Arial"/>
              </a:rPr>
              <a:t> </a:t>
            </a:r>
            <a:r>
              <a:rPr sz="900" dirty="0">
                <a:latin typeface="Arial"/>
                <a:cs typeface="Arial"/>
              </a:rPr>
              <a:t>sends</a:t>
            </a:r>
            <a:r>
              <a:rPr sz="900" spc="-5" dirty="0">
                <a:latin typeface="Arial"/>
                <a:cs typeface="Arial"/>
              </a:rPr>
              <a:t> </a:t>
            </a:r>
            <a:r>
              <a:rPr sz="900" dirty="0">
                <a:latin typeface="Arial"/>
                <a:cs typeface="Arial"/>
              </a:rPr>
              <a:t>a</a:t>
            </a:r>
            <a:r>
              <a:rPr sz="900" spc="-10" dirty="0">
                <a:latin typeface="Arial"/>
                <a:cs typeface="Arial"/>
              </a:rPr>
              <a:t> </a:t>
            </a:r>
            <a:r>
              <a:rPr sz="900" dirty="0">
                <a:latin typeface="Arial"/>
                <a:cs typeface="Arial"/>
              </a:rPr>
              <a:t>message</a:t>
            </a:r>
            <a:r>
              <a:rPr sz="900" spc="-5" dirty="0">
                <a:latin typeface="Arial"/>
                <a:cs typeface="Arial"/>
              </a:rPr>
              <a:t> </a:t>
            </a:r>
            <a:r>
              <a:rPr sz="900" dirty="0">
                <a:latin typeface="Arial"/>
                <a:cs typeface="Arial"/>
              </a:rPr>
              <a:t>in</a:t>
            </a:r>
            <a:r>
              <a:rPr sz="900" spc="-10" dirty="0">
                <a:latin typeface="Arial"/>
                <a:cs typeface="Arial"/>
              </a:rPr>
              <a:t> </a:t>
            </a:r>
            <a:r>
              <a:rPr sz="900" dirty="0">
                <a:latin typeface="Arial"/>
                <a:cs typeface="Arial"/>
              </a:rPr>
              <a:t>interval</a:t>
            </a:r>
            <a:r>
              <a:rPr sz="900" spc="-10" dirty="0">
                <a:latin typeface="Arial"/>
                <a:cs typeface="Arial"/>
              </a:rPr>
              <a:t> </a:t>
            </a:r>
            <a:r>
              <a:rPr sz="900" i="1" spc="-10" dirty="0">
                <a:latin typeface="Arial"/>
                <a:cs typeface="Arial"/>
              </a:rPr>
              <a:t>INT</a:t>
            </a:r>
            <a:r>
              <a:rPr sz="1050" i="1" spc="-15" baseline="-15873" dirty="0">
                <a:latin typeface="Arial"/>
                <a:cs typeface="Arial"/>
              </a:rPr>
              <a:t>i</a:t>
            </a:r>
            <a:r>
              <a:rPr sz="1050" i="1" spc="-127" baseline="-15873" dirty="0">
                <a:latin typeface="Arial"/>
                <a:cs typeface="Arial"/>
              </a:rPr>
              <a:t> </a:t>
            </a:r>
            <a:r>
              <a:rPr sz="900" dirty="0">
                <a:latin typeface="Arial"/>
                <a:cs typeface="Arial"/>
              </a:rPr>
              <a:t>(</a:t>
            </a:r>
            <a:r>
              <a:rPr sz="900" i="1" dirty="0">
                <a:latin typeface="Arial"/>
                <a:cs typeface="Arial"/>
              </a:rPr>
              <a:t>m</a:t>
            </a:r>
            <a:r>
              <a:rPr sz="900" dirty="0">
                <a:latin typeface="Arial"/>
                <a:cs typeface="Arial"/>
              </a:rPr>
              <a:t>),</a:t>
            </a:r>
            <a:r>
              <a:rPr sz="900" spc="-5" dirty="0">
                <a:latin typeface="Arial"/>
                <a:cs typeface="Arial"/>
              </a:rPr>
              <a:t> </a:t>
            </a:r>
            <a:r>
              <a:rPr sz="900" dirty="0">
                <a:latin typeface="Arial"/>
                <a:cs typeface="Arial"/>
              </a:rPr>
              <a:t>it</a:t>
            </a:r>
            <a:r>
              <a:rPr sz="900" spc="-10" dirty="0">
                <a:latin typeface="Arial"/>
                <a:cs typeface="Arial"/>
              </a:rPr>
              <a:t> piggybacks</a:t>
            </a:r>
            <a:endParaRPr sz="900">
              <a:latin typeface="Arial"/>
              <a:cs typeface="Arial"/>
            </a:endParaRPr>
          </a:p>
          <a:p>
            <a:pPr marL="538480">
              <a:lnSpc>
                <a:spcPct val="100000"/>
              </a:lnSpc>
              <a:spcBef>
                <a:spcPts val="125"/>
              </a:spcBef>
            </a:pPr>
            <a:r>
              <a:rPr sz="900" dirty="0">
                <a:latin typeface="Arial"/>
                <a:cs typeface="Arial"/>
              </a:rPr>
              <a:t>(</a:t>
            </a:r>
            <a:r>
              <a:rPr sz="900" i="1" dirty="0">
                <a:latin typeface="Arial"/>
                <a:cs typeface="Arial"/>
              </a:rPr>
              <a:t>i,</a:t>
            </a:r>
            <a:r>
              <a:rPr sz="900" i="1" spc="-30" dirty="0">
                <a:latin typeface="Arial"/>
                <a:cs typeface="Arial"/>
              </a:rPr>
              <a:t> </a:t>
            </a:r>
            <a:r>
              <a:rPr sz="900" i="1" spc="-35" dirty="0">
                <a:latin typeface="Arial"/>
                <a:cs typeface="Arial"/>
              </a:rPr>
              <a:t>m</a:t>
            </a:r>
            <a:r>
              <a:rPr sz="900" spc="-35" dirty="0">
                <a:latin typeface="Arial"/>
                <a:cs typeface="Arial"/>
              </a:rPr>
              <a:t>)</a:t>
            </a:r>
            <a:endParaRPr sz="900">
              <a:latin typeface="Arial"/>
              <a:cs typeface="Arial"/>
            </a:endParaRPr>
          </a:p>
          <a:p>
            <a:pPr marL="542925" marR="114300" indent="-120650">
              <a:lnSpc>
                <a:spcPct val="111600"/>
              </a:lnSpc>
              <a:spcBef>
                <a:spcPts val="400"/>
              </a:spcBef>
              <a:buClr>
                <a:srgbClr val="3333B2"/>
              </a:buClr>
              <a:buFont typeface="Menlo"/>
              <a:buChar char="•"/>
              <a:tabLst>
                <a:tab pos="537845" algn="l"/>
              </a:tabLst>
            </a:pPr>
            <a:r>
              <a:rPr sz="900" dirty="0">
                <a:latin typeface="Arial"/>
                <a:cs typeface="Arial"/>
              </a:rPr>
              <a:t>When</a:t>
            </a:r>
            <a:r>
              <a:rPr sz="900" spc="-10" dirty="0">
                <a:latin typeface="Arial"/>
                <a:cs typeface="Arial"/>
              </a:rPr>
              <a:t> </a:t>
            </a:r>
            <a:r>
              <a:rPr sz="900" dirty="0">
                <a:latin typeface="Arial"/>
                <a:cs typeface="Arial"/>
              </a:rPr>
              <a:t>process</a:t>
            </a:r>
            <a:r>
              <a:rPr sz="900" spc="-5" dirty="0">
                <a:latin typeface="Arial"/>
                <a:cs typeface="Arial"/>
              </a:rPr>
              <a:t> </a:t>
            </a:r>
            <a:r>
              <a:rPr sz="900" i="1" dirty="0">
                <a:latin typeface="Arial"/>
                <a:cs typeface="Arial"/>
              </a:rPr>
              <a:t>P</a:t>
            </a:r>
            <a:r>
              <a:rPr sz="1050" i="1" baseline="-15873" dirty="0">
                <a:latin typeface="Arial"/>
                <a:cs typeface="Arial"/>
              </a:rPr>
              <a:t>j</a:t>
            </a:r>
            <a:r>
              <a:rPr sz="1050" i="1" spc="240" baseline="-15873" dirty="0">
                <a:latin typeface="Arial"/>
                <a:cs typeface="Arial"/>
              </a:rPr>
              <a:t> </a:t>
            </a:r>
            <a:r>
              <a:rPr sz="900" spc="-10" dirty="0">
                <a:latin typeface="Arial"/>
                <a:cs typeface="Arial"/>
              </a:rPr>
              <a:t>receives </a:t>
            </a:r>
            <a:r>
              <a:rPr sz="900" dirty="0">
                <a:latin typeface="Arial"/>
                <a:cs typeface="Arial"/>
              </a:rPr>
              <a:t>a</a:t>
            </a:r>
            <a:r>
              <a:rPr sz="900" spc="-5" dirty="0">
                <a:latin typeface="Arial"/>
                <a:cs typeface="Arial"/>
              </a:rPr>
              <a:t> </a:t>
            </a:r>
            <a:r>
              <a:rPr sz="900" dirty="0">
                <a:latin typeface="Arial"/>
                <a:cs typeface="Arial"/>
              </a:rPr>
              <a:t>message</a:t>
            </a:r>
            <a:r>
              <a:rPr sz="900" spc="-5" dirty="0">
                <a:latin typeface="Arial"/>
                <a:cs typeface="Arial"/>
              </a:rPr>
              <a:t> </a:t>
            </a:r>
            <a:r>
              <a:rPr sz="900" dirty="0">
                <a:latin typeface="Arial"/>
                <a:cs typeface="Arial"/>
              </a:rPr>
              <a:t>in</a:t>
            </a:r>
            <a:r>
              <a:rPr sz="900" spc="-5" dirty="0">
                <a:latin typeface="Arial"/>
                <a:cs typeface="Arial"/>
              </a:rPr>
              <a:t> </a:t>
            </a:r>
            <a:r>
              <a:rPr sz="900" dirty="0">
                <a:latin typeface="Arial"/>
                <a:cs typeface="Arial"/>
              </a:rPr>
              <a:t>interval</a:t>
            </a:r>
            <a:r>
              <a:rPr sz="900" spc="-5" dirty="0">
                <a:latin typeface="Arial"/>
                <a:cs typeface="Arial"/>
              </a:rPr>
              <a:t> </a:t>
            </a:r>
            <a:r>
              <a:rPr sz="900" i="1" spc="-10" dirty="0">
                <a:latin typeface="Arial"/>
                <a:cs typeface="Arial"/>
              </a:rPr>
              <a:t>INT</a:t>
            </a:r>
            <a:r>
              <a:rPr sz="1050" i="1" spc="-15" baseline="-15873" dirty="0">
                <a:latin typeface="Arial"/>
                <a:cs typeface="Arial"/>
              </a:rPr>
              <a:t>j</a:t>
            </a:r>
            <a:r>
              <a:rPr sz="1050" i="1" spc="-127" baseline="-15873" dirty="0">
                <a:latin typeface="Arial"/>
                <a:cs typeface="Arial"/>
              </a:rPr>
              <a:t> </a:t>
            </a:r>
            <a:r>
              <a:rPr sz="900" dirty="0">
                <a:latin typeface="Arial"/>
                <a:cs typeface="Arial"/>
              </a:rPr>
              <a:t>(</a:t>
            </a:r>
            <a:r>
              <a:rPr sz="900" i="1" dirty="0">
                <a:latin typeface="Arial"/>
                <a:cs typeface="Arial"/>
              </a:rPr>
              <a:t>n</a:t>
            </a:r>
            <a:r>
              <a:rPr sz="900" dirty="0">
                <a:latin typeface="Arial"/>
                <a:cs typeface="Arial"/>
              </a:rPr>
              <a:t>),</a:t>
            </a:r>
            <a:r>
              <a:rPr sz="900" spc="-10" dirty="0">
                <a:latin typeface="Arial"/>
                <a:cs typeface="Arial"/>
              </a:rPr>
              <a:t> </a:t>
            </a:r>
            <a:r>
              <a:rPr sz="900" dirty="0">
                <a:latin typeface="Arial"/>
                <a:cs typeface="Arial"/>
              </a:rPr>
              <a:t>it</a:t>
            </a:r>
            <a:r>
              <a:rPr sz="900" spc="-5" dirty="0">
                <a:latin typeface="Arial"/>
                <a:cs typeface="Arial"/>
              </a:rPr>
              <a:t> </a:t>
            </a:r>
            <a:r>
              <a:rPr sz="900" dirty="0">
                <a:latin typeface="Arial"/>
                <a:cs typeface="Arial"/>
              </a:rPr>
              <a:t>records</a:t>
            </a:r>
            <a:r>
              <a:rPr sz="900" spc="-5" dirty="0">
                <a:latin typeface="Arial"/>
                <a:cs typeface="Arial"/>
              </a:rPr>
              <a:t> </a:t>
            </a:r>
            <a:r>
              <a:rPr sz="900" spc="-25" dirty="0">
                <a:latin typeface="Arial"/>
                <a:cs typeface="Arial"/>
              </a:rPr>
              <a:t>the </a:t>
            </a:r>
            <a:r>
              <a:rPr sz="900" dirty="0">
                <a:latin typeface="Arial"/>
                <a:cs typeface="Arial"/>
              </a:rPr>
              <a:t>dependency</a:t>
            </a:r>
            <a:r>
              <a:rPr sz="900" spc="25" dirty="0">
                <a:latin typeface="Arial"/>
                <a:cs typeface="Arial"/>
              </a:rPr>
              <a:t> </a:t>
            </a:r>
            <a:r>
              <a:rPr sz="900" i="1" spc="-10" dirty="0">
                <a:latin typeface="Arial"/>
                <a:cs typeface="Arial"/>
              </a:rPr>
              <a:t>INT</a:t>
            </a:r>
            <a:r>
              <a:rPr sz="1050" i="1" spc="-15" baseline="-15873" dirty="0">
                <a:latin typeface="Arial"/>
                <a:cs typeface="Arial"/>
              </a:rPr>
              <a:t>i</a:t>
            </a:r>
            <a:r>
              <a:rPr sz="1050" i="1" spc="-112" baseline="-15873" dirty="0">
                <a:latin typeface="Arial"/>
                <a:cs typeface="Arial"/>
              </a:rPr>
              <a:t> </a:t>
            </a:r>
            <a:r>
              <a:rPr sz="900" dirty="0">
                <a:latin typeface="Arial"/>
                <a:cs typeface="Arial"/>
              </a:rPr>
              <a:t>(</a:t>
            </a:r>
            <a:r>
              <a:rPr sz="900" i="1" dirty="0">
                <a:latin typeface="Arial"/>
                <a:cs typeface="Arial"/>
              </a:rPr>
              <a:t>m</a:t>
            </a:r>
            <a:r>
              <a:rPr sz="900" dirty="0">
                <a:latin typeface="Arial"/>
                <a:cs typeface="Arial"/>
              </a:rPr>
              <a:t>)</a:t>
            </a:r>
            <a:r>
              <a:rPr sz="900" spc="25" dirty="0">
                <a:latin typeface="Arial"/>
                <a:cs typeface="Arial"/>
              </a:rPr>
              <a:t> </a:t>
            </a:r>
            <a:r>
              <a:rPr sz="900" i="1" spc="350" dirty="0">
                <a:latin typeface="Menlo"/>
                <a:cs typeface="Menlo"/>
              </a:rPr>
              <a:t>→</a:t>
            </a:r>
            <a:r>
              <a:rPr sz="900" i="1" spc="-265" dirty="0">
                <a:latin typeface="Menlo"/>
                <a:cs typeface="Menlo"/>
              </a:rPr>
              <a:t> </a:t>
            </a:r>
            <a:r>
              <a:rPr sz="900" i="1" spc="-10" dirty="0">
                <a:latin typeface="Arial"/>
                <a:cs typeface="Arial"/>
              </a:rPr>
              <a:t>INT</a:t>
            </a:r>
            <a:r>
              <a:rPr sz="1050" i="1" spc="-15" baseline="-15873" dirty="0">
                <a:latin typeface="Arial"/>
                <a:cs typeface="Arial"/>
              </a:rPr>
              <a:t>j</a:t>
            </a:r>
            <a:r>
              <a:rPr sz="1050" i="1" spc="-104" baseline="-15873" dirty="0">
                <a:latin typeface="Arial"/>
                <a:cs typeface="Arial"/>
              </a:rPr>
              <a:t> </a:t>
            </a:r>
            <a:r>
              <a:rPr sz="900" spc="-20" dirty="0">
                <a:latin typeface="Arial"/>
                <a:cs typeface="Arial"/>
              </a:rPr>
              <a:t>(</a:t>
            </a:r>
            <a:r>
              <a:rPr sz="900" i="1" spc="-20" dirty="0">
                <a:latin typeface="Arial"/>
                <a:cs typeface="Arial"/>
              </a:rPr>
              <a:t>n</a:t>
            </a:r>
            <a:r>
              <a:rPr sz="900" spc="-20" dirty="0">
                <a:latin typeface="Arial"/>
                <a:cs typeface="Arial"/>
              </a:rPr>
              <a:t>).</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42545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Checkpointing</a:t>
            </a:r>
            <a:endParaRPr sz="500">
              <a:latin typeface="Arial"/>
              <a:cs typeface="Arial"/>
            </a:endParaRPr>
          </a:p>
        </p:txBody>
      </p:sp>
    </p:spTree>
  </p:cSld>
  <p:clrMapOvr>
    <a:masterClrMapping/>
  </p:clrMapOvr>
  <p:transition>
    <p:fad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262602" y="-1515"/>
            <a:ext cx="29210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Recovery</a:t>
            </a:r>
            <a:endParaRPr sz="500">
              <a:latin typeface="Arial"/>
              <a:cs typeface="Arial"/>
            </a:endParaRPr>
          </a:p>
        </p:txBody>
      </p:sp>
      <p:sp>
        <p:nvSpPr>
          <p:cNvPr id="5" name="object 5"/>
          <p:cNvSpPr txBox="1"/>
          <p:nvPr/>
        </p:nvSpPr>
        <p:spPr>
          <a:xfrm>
            <a:off x="69900" y="197711"/>
            <a:ext cx="4216400" cy="2225040"/>
          </a:xfrm>
          <a:prstGeom prst="rect">
            <a:avLst/>
          </a:prstGeom>
        </p:spPr>
        <p:txBody>
          <a:bodyPr vert="horz" wrap="square" lIns="0" tIns="12065" rIns="0" bIns="0" rtlCol="0">
            <a:spAutoFit/>
          </a:bodyPr>
          <a:lstStyle/>
          <a:p>
            <a:pPr marL="38100">
              <a:lnSpc>
                <a:spcPct val="100000"/>
              </a:lnSpc>
              <a:spcBef>
                <a:spcPts val="95"/>
              </a:spcBef>
            </a:pPr>
            <a:r>
              <a:rPr sz="1200" dirty="0">
                <a:solidFill>
                  <a:srgbClr val="3333B2"/>
                </a:solidFill>
                <a:latin typeface="Arial"/>
                <a:cs typeface="Arial"/>
              </a:rPr>
              <a:t>Independent</a:t>
            </a:r>
            <a:r>
              <a:rPr sz="1200" spc="-75" dirty="0">
                <a:solidFill>
                  <a:srgbClr val="3333B2"/>
                </a:solidFill>
                <a:latin typeface="Arial"/>
                <a:cs typeface="Arial"/>
              </a:rPr>
              <a:t> </a:t>
            </a:r>
            <a:r>
              <a:rPr sz="1200" spc="-10" dirty="0">
                <a:solidFill>
                  <a:srgbClr val="3333B2"/>
                </a:solidFill>
                <a:latin typeface="Arial"/>
                <a:cs typeface="Arial"/>
              </a:rPr>
              <a:t>checkpointing</a:t>
            </a:r>
            <a:endParaRPr sz="1200">
              <a:latin typeface="Arial"/>
              <a:cs typeface="Arial"/>
            </a:endParaRPr>
          </a:p>
          <a:p>
            <a:pPr marL="289560">
              <a:lnSpc>
                <a:spcPct val="100000"/>
              </a:lnSpc>
              <a:spcBef>
                <a:spcPts val="1055"/>
              </a:spcBef>
            </a:pPr>
            <a:r>
              <a:rPr sz="1000" spc="-10" dirty="0">
                <a:solidFill>
                  <a:srgbClr val="3333B2"/>
                </a:solidFill>
                <a:latin typeface="Arial"/>
                <a:cs typeface="Arial"/>
              </a:rPr>
              <a:t>Essence</a:t>
            </a:r>
            <a:endParaRPr sz="1000">
              <a:latin typeface="Arial"/>
              <a:cs typeface="Arial"/>
            </a:endParaRPr>
          </a:p>
          <a:p>
            <a:pPr marL="289560" marR="150495">
              <a:lnSpc>
                <a:spcPts val="1210"/>
              </a:lnSpc>
              <a:spcBef>
                <a:spcPts val="40"/>
              </a:spcBef>
            </a:pPr>
            <a:r>
              <a:rPr sz="900" dirty="0">
                <a:latin typeface="Arial"/>
                <a:cs typeface="Arial"/>
              </a:rPr>
              <a:t>Each</a:t>
            </a:r>
            <a:r>
              <a:rPr sz="900" spc="-25" dirty="0">
                <a:latin typeface="Arial"/>
                <a:cs typeface="Arial"/>
              </a:rPr>
              <a:t> </a:t>
            </a:r>
            <a:r>
              <a:rPr sz="900" dirty="0">
                <a:latin typeface="Arial"/>
                <a:cs typeface="Arial"/>
              </a:rPr>
              <a:t>process</a:t>
            </a:r>
            <a:r>
              <a:rPr sz="900" spc="-20" dirty="0">
                <a:latin typeface="Arial"/>
                <a:cs typeface="Arial"/>
              </a:rPr>
              <a:t> </a:t>
            </a:r>
            <a:r>
              <a:rPr sz="900" dirty="0">
                <a:latin typeface="Arial"/>
                <a:cs typeface="Arial"/>
              </a:rPr>
              <a:t>independently</a:t>
            </a:r>
            <a:r>
              <a:rPr sz="900" spc="-20" dirty="0">
                <a:latin typeface="Arial"/>
                <a:cs typeface="Arial"/>
              </a:rPr>
              <a:t> </a:t>
            </a:r>
            <a:r>
              <a:rPr sz="900" dirty="0">
                <a:latin typeface="Arial"/>
                <a:cs typeface="Arial"/>
              </a:rPr>
              <a:t>takes</a:t>
            </a:r>
            <a:r>
              <a:rPr sz="900" spc="-20" dirty="0">
                <a:latin typeface="Arial"/>
                <a:cs typeface="Arial"/>
              </a:rPr>
              <a:t> </a:t>
            </a:r>
            <a:r>
              <a:rPr sz="900" spc="-10" dirty="0">
                <a:latin typeface="Arial"/>
                <a:cs typeface="Arial"/>
              </a:rPr>
              <a:t>checkpoints,</a:t>
            </a:r>
            <a:r>
              <a:rPr sz="900" spc="-20" dirty="0">
                <a:latin typeface="Arial"/>
                <a:cs typeface="Arial"/>
              </a:rPr>
              <a:t> </a:t>
            </a:r>
            <a:r>
              <a:rPr sz="900" dirty="0">
                <a:latin typeface="Arial"/>
                <a:cs typeface="Arial"/>
              </a:rPr>
              <a:t>with</a:t>
            </a:r>
            <a:r>
              <a:rPr sz="900" spc="-2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risk</a:t>
            </a:r>
            <a:r>
              <a:rPr sz="900" spc="-20" dirty="0">
                <a:latin typeface="Arial"/>
                <a:cs typeface="Arial"/>
              </a:rPr>
              <a:t> </a:t>
            </a:r>
            <a:r>
              <a:rPr sz="900" dirty="0">
                <a:latin typeface="Arial"/>
                <a:cs typeface="Arial"/>
              </a:rPr>
              <a:t>of</a:t>
            </a:r>
            <a:r>
              <a:rPr sz="900" spc="-20" dirty="0">
                <a:latin typeface="Arial"/>
                <a:cs typeface="Arial"/>
              </a:rPr>
              <a:t> </a:t>
            </a:r>
            <a:r>
              <a:rPr sz="900" dirty="0">
                <a:latin typeface="Arial"/>
                <a:cs typeface="Arial"/>
              </a:rPr>
              <a:t>a</a:t>
            </a:r>
            <a:r>
              <a:rPr sz="900" spc="-20" dirty="0">
                <a:latin typeface="Arial"/>
                <a:cs typeface="Arial"/>
              </a:rPr>
              <a:t> </a:t>
            </a:r>
            <a:r>
              <a:rPr sz="900" spc="-10" dirty="0">
                <a:latin typeface="Arial"/>
                <a:cs typeface="Arial"/>
              </a:rPr>
              <a:t>cascaded </a:t>
            </a:r>
            <a:r>
              <a:rPr sz="900" dirty="0">
                <a:latin typeface="Arial"/>
                <a:cs typeface="Arial"/>
              </a:rPr>
              <a:t>rollback</a:t>
            </a:r>
            <a:r>
              <a:rPr sz="900" spc="-35" dirty="0">
                <a:latin typeface="Arial"/>
                <a:cs typeface="Arial"/>
              </a:rPr>
              <a:t> </a:t>
            </a:r>
            <a:r>
              <a:rPr sz="900" dirty="0">
                <a:latin typeface="Arial"/>
                <a:cs typeface="Arial"/>
              </a:rPr>
              <a:t>to</a:t>
            </a:r>
            <a:r>
              <a:rPr sz="900" spc="-35" dirty="0">
                <a:latin typeface="Arial"/>
                <a:cs typeface="Arial"/>
              </a:rPr>
              <a:t> </a:t>
            </a:r>
            <a:r>
              <a:rPr sz="900" dirty="0">
                <a:latin typeface="Arial"/>
                <a:cs typeface="Arial"/>
              </a:rPr>
              <a:t>system</a:t>
            </a:r>
            <a:r>
              <a:rPr sz="900" spc="-35" dirty="0">
                <a:latin typeface="Arial"/>
                <a:cs typeface="Arial"/>
              </a:rPr>
              <a:t> </a:t>
            </a:r>
            <a:r>
              <a:rPr sz="900" spc="-10" dirty="0">
                <a:latin typeface="Arial"/>
                <a:cs typeface="Arial"/>
              </a:rPr>
              <a:t>startup.</a:t>
            </a:r>
            <a:endParaRPr sz="900">
              <a:latin typeface="Arial"/>
              <a:cs typeface="Arial"/>
            </a:endParaRPr>
          </a:p>
          <a:p>
            <a:pPr marL="542925" marR="30480" indent="-120650">
              <a:lnSpc>
                <a:spcPct val="111600"/>
              </a:lnSpc>
              <a:spcBef>
                <a:spcPts val="330"/>
              </a:spcBef>
              <a:buClr>
                <a:srgbClr val="3333B2"/>
              </a:buClr>
              <a:buFont typeface="Menlo"/>
              <a:buChar char="•"/>
              <a:tabLst>
                <a:tab pos="543560" algn="l"/>
              </a:tabLst>
            </a:pPr>
            <a:r>
              <a:rPr sz="900" dirty="0">
                <a:latin typeface="Arial"/>
                <a:cs typeface="Arial"/>
              </a:rPr>
              <a:t>Let </a:t>
            </a:r>
            <a:r>
              <a:rPr sz="900" i="1" spc="-10" dirty="0">
                <a:latin typeface="Arial"/>
                <a:cs typeface="Arial"/>
              </a:rPr>
              <a:t>CP</a:t>
            </a:r>
            <a:r>
              <a:rPr sz="1050" i="1" spc="-15" baseline="-15873" dirty="0">
                <a:latin typeface="Arial"/>
                <a:cs typeface="Arial"/>
              </a:rPr>
              <a:t>i</a:t>
            </a:r>
            <a:r>
              <a:rPr sz="1050" i="1" spc="-120" baseline="-15873" dirty="0">
                <a:latin typeface="Arial"/>
                <a:cs typeface="Arial"/>
              </a:rPr>
              <a:t> </a:t>
            </a:r>
            <a:r>
              <a:rPr sz="900" dirty="0">
                <a:latin typeface="Arial"/>
                <a:cs typeface="Arial"/>
              </a:rPr>
              <a:t>(</a:t>
            </a:r>
            <a:r>
              <a:rPr sz="900" i="1" dirty="0">
                <a:latin typeface="Arial"/>
                <a:cs typeface="Arial"/>
              </a:rPr>
              <a:t>m</a:t>
            </a:r>
            <a:r>
              <a:rPr sz="900" dirty="0">
                <a:latin typeface="Arial"/>
                <a:cs typeface="Arial"/>
              </a:rPr>
              <a:t>)</a:t>
            </a:r>
            <a:r>
              <a:rPr sz="900" spc="5" dirty="0">
                <a:latin typeface="Arial"/>
                <a:cs typeface="Arial"/>
              </a:rPr>
              <a:t> </a:t>
            </a:r>
            <a:r>
              <a:rPr sz="900" spc="-10" dirty="0">
                <a:latin typeface="Arial"/>
                <a:cs typeface="Arial"/>
              </a:rPr>
              <a:t>denote</a:t>
            </a:r>
            <a:r>
              <a:rPr sz="900" spc="5" dirty="0">
                <a:latin typeface="Arial"/>
                <a:cs typeface="Arial"/>
              </a:rPr>
              <a:t> </a:t>
            </a:r>
            <a:r>
              <a:rPr sz="900" i="1" dirty="0">
                <a:latin typeface="Arial"/>
                <a:cs typeface="Arial"/>
              </a:rPr>
              <a:t>m</a:t>
            </a:r>
            <a:r>
              <a:rPr sz="1050" baseline="27777" dirty="0">
                <a:latin typeface="Arial"/>
                <a:cs typeface="Arial"/>
              </a:rPr>
              <a:t>th</a:t>
            </a:r>
            <a:r>
              <a:rPr sz="1050" spc="157" baseline="27777" dirty="0">
                <a:latin typeface="Arial"/>
                <a:cs typeface="Arial"/>
              </a:rPr>
              <a:t> </a:t>
            </a:r>
            <a:r>
              <a:rPr sz="900" spc="-20" dirty="0">
                <a:latin typeface="Arial"/>
                <a:cs typeface="Arial"/>
              </a:rPr>
              <a:t>checkpoint</a:t>
            </a:r>
            <a:r>
              <a:rPr sz="900" spc="5" dirty="0">
                <a:latin typeface="Arial"/>
                <a:cs typeface="Arial"/>
              </a:rPr>
              <a:t> </a:t>
            </a:r>
            <a:r>
              <a:rPr sz="900" dirty="0">
                <a:latin typeface="Arial"/>
                <a:cs typeface="Arial"/>
              </a:rPr>
              <a:t>of</a:t>
            </a:r>
            <a:r>
              <a:rPr sz="900" spc="5" dirty="0">
                <a:latin typeface="Arial"/>
                <a:cs typeface="Arial"/>
              </a:rPr>
              <a:t> </a:t>
            </a:r>
            <a:r>
              <a:rPr sz="900" spc="-10" dirty="0">
                <a:latin typeface="Arial"/>
                <a:cs typeface="Arial"/>
              </a:rPr>
              <a:t>process</a:t>
            </a:r>
            <a:r>
              <a:rPr sz="900" spc="5" dirty="0">
                <a:latin typeface="Arial"/>
                <a:cs typeface="Arial"/>
              </a:rPr>
              <a:t> </a:t>
            </a:r>
            <a:r>
              <a:rPr sz="900" i="1" dirty="0">
                <a:latin typeface="Arial"/>
                <a:cs typeface="Arial"/>
              </a:rPr>
              <a:t>P</a:t>
            </a:r>
            <a:r>
              <a:rPr sz="1050" i="1" baseline="-15873" dirty="0">
                <a:latin typeface="Arial"/>
                <a:cs typeface="Arial"/>
              </a:rPr>
              <a:t>i</a:t>
            </a:r>
            <a:r>
              <a:rPr sz="1050" i="1" spc="254" baseline="-15873" dirty="0">
                <a:latin typeface="Arial"/>
                <a:cs typeface="Arial"/>
              </a:rPr>
              <a:t> </a:t>
            </a:r>
            <a:r>
              <a:rPr sz="900" dirty="0">
                <a:latin typeface="Arial"/>
                <a:cs typeface="Arial"/>
              </a:rPr>
              <a:t>and </a:t>
            </a:r>
            <a:r>
              <a:rPr sz="900" i="1" spc="-10" dirty="0">
                <a:latin typeface="Arial"/>
                <a:cs typeface="Arial"/>
              </a:rPr>
              <a:t>INT</a:t>
            </a:r>
            <a:r>
              <a:rPr sz="1050" i="1" spc="-15" baseline="-15873" dirty="0">
                <a:latin typeface="Arial"/>
                <a:cs typeface="Arial"/>
              </a:rPr>
              <a:t>i</a:t>
            </a:r>
            <a:r>
              <a:rPr sz="1050" i="1" spc="-120" baseline="-15873" dirty="0">
                <a:latin typeface="Arial"/>
                <a:cs typeface="Arial"/>
              </a:rPr>
              <a:t> </a:t>
            </a:r>
            <a:r>
              <a:rPr sz="900" dirty="0">
                <a:latin typeface="Arial"/>
                <a:cs typeface="Arial"/>
              </a:rPr>
              <a:t>(</a:t>
            </a:r>
            <a:r>
              <a:rPr sz="900" i="1" dirty="0">
                <a:latin typeface="Arial"/>
                <a:cs typeface="Arial"/>
              </a:rPr>
              <a:t>m</a:t>
            </a:r>
            <a:r>
              <a:rPr sz="900" dirty="0">
                <a:latin typeface="Arial"/>
                <a:cs typeface="Arial"/>
              </a:rPr>
              <a:t>)</a:t>
            </a:r>
            <a:r>
              <a:rPr sz="900" spc="5" dirty="0">
                <a:latin typeface="Arial"/>
                <a:cs typeface="Arial"/>
              </a:rPr>
              <a:t> </a:t>
            </a:r>
            <a:r>
              <a:rPr sz="900" dirty="0">
                <a:latin typeface="Arial"/>
                <a:cs typeface="Arial"/>
              </a:rPr>
              <a:t>the</a:t>
            </a:r>
            <a:r>
              <a:rPr sz="900" spc="5" dirty="0">
                <a:latin typeface="Arial"/>
                <a:cs typeface="Arial"/>
              </a:rPr>
              <a:t> </a:t>
            </a:r>
            <a:r>
              <a:rPr sz="900" spc="-10" dirty="0">
                <a:latin typeface="Arial"/>
                <a:cs typeface="Arial"/>
              </a:rPr>
              <a:t>interval </a:t>
            </a:r>
            <a:r>
              <a:rPr sz="900" dirty="0">
                <a:latin typeface="Arial"/>
                <a:cs typeface="Arial"/>
              </a:rPr>
              <a:t>between</a:t>
            </a:r>
            <a:r>
              <a:rPr sz="900" spc="10" dirty="0">
                <a:latin typeface="Arial"/>
                <a:cs typeface="Arial"/>
              </a:rPr>
              <a:t> </a:t>
            </a:r>
            <a:r>
              <a:rPr sz="900" i="1" spc="-10" dirty="0">
                <a:latin typeface="Arial"/>
                <a:cs typeface="Arial"/>
              </a:rPr>
              <a:t>CP</a:t>
            </a:r>
            <a:r>
              <a:rPr sz="1050" i="1" spc="-15" baseline="-15873" dirty="0">
                <a:latin typeface="Arial"/>
                <a:cs typeface="Arial"/>
              </a:rPr>
              <a:t>i</a:t>
            </a:r>
            <a:r>
              <a:rPr sz="1050" i="1" spc="-120" baseline="-15873" dirty="0">
                <a:latin typeface="Arial"/>
                <a:cs typeface="Arial"/>
              </a:rPr>
              <a:t> </a:t>
            </a:r>
            <a:r>
              <a:rPr sz="900" dirty="0">
                <a:latin typeface="Arial"/>
                <a:cs typeface="Arial"/>
              </a:rPr>
              <a:t>(</a:t>
            </a:r>
            <a:r>
              <a:rPr sz="900" i="1" dirty="0">
                <a:latin typeface="Arial"/>
                <a:cs typeface="Arial"/>
              </a:rPr>
              <a:t>m</a:t>
            </a:r>
            <a:r>
              <a:rPr sz="900" i="1" spc="-100" dirty="0">
                <a:latin typeface="Arial"/>
                <a:cs typeface="Arial"/>
              </a:rPr>
              <a:t> </a:t>
            </a:r>
            <a:r>
              <a:rPr sz="900" i="1" spc="150" dirty="0">
                <a:latin typeface="Menlo"/>
                <a:cs typeface="Menlo"/>
              </a:rPr>
              <a:t>−</a:t>
            </a:r>
            <a:r>
              <a:rPr sz="900" i="1" spc="-415" dirty="0">
                <a:latin typeface="Menlo"/>
                <a:cs typeface="Menlo"/>
              </a:rPr>
              <a:t> </a:t>
            </a:r>
            <a:r>
              <a:rPr sz="900" dirty="0">
                <a:latin typeface="Arial"/>
                <a:cs typeface="Arial"/>
              </a:rPr>
              <a:t>1)</a:t>
            </a:r>
            <a:r>
              <a:rPr sz="900" spc="10" dirty="0">
                <a:latin typeface="Arial"/>
                <a:cs typeface="Arial"/>
              </a:rPr>
              <a:t> </a:t>
            </a:r>
            <a:r>
              <a:rPr sz="900" dirty="0">
                <a:latin typeface="Arial"/>
                <a:cs typeface="Arial"/>
              </a:rPr>
              <a:t>and</a:t>
            </a:r>
            <a:r>
              <a:rPr sz="900" spc="10" dirty="0">
                <a:latin typeface="Arial"/>
                <a:cs typeface="Arial"/>
              </a:rPr>
              <a:t> </a:t>
            </a:r>
            <a:r>
              <a:rPr sz="900" i="1" spc="-10" dirty="0">
                <a:latin typeface="Arial"/>
                <a:cs typeface="Arial"/>
              </a:rPr>
              <a:t>CP</a:t>
            </a:r>
            <a:r>
              <a:rPr sz="1050" i="1" spc="-15" baseline="-15873" dirty="0">
                <a:latin typeface="Arial"/>
                <a:cs typeface="Arial"/>
              </a:rPr>
              <a:t>i</a:t>
            </a:r>
            <a:r>
              <a:rPr sz="1050" i="1" spc="-112" baseline="-15873" dirty="0">
                <a:latin typeface="Arial"/>
                <a:cs typeface="Arial"/>
              </a:rPr>
              <a:t> </a:t>
            </a:r>
            <a:r>
              <a:rPr sz="900" spc="-20" dirty="0">
                <a:latin typeface="Arial"/>
                <a:cs typeface="Arial"/>
              </a:rPr>
              <a:t>(</a:t>
            </a:r>
            <a:r>
              <a:rPr sz="900" i="1" spc="-20" dirty="0">
                <a:latin typeface="Arial"/>
                <a:cs typeface="Arial"/>
              </a:rPr>
              <a:t>m</a:t>
            </a:r>
            <a:r>
              <a:rPr sz="900" spc="-20" dirty="0">
                <a:latin typeface="Arial"/>
                <a:cs typeface="Arial"/>
              </a:rPr>
              <a:t>).</a:t>
            </a:r>
            <a:endParaRPr sz="900">
              <a:latin typeface="Arial"/>
              <a:cs typeface="Arial"/>
            </a:endParaRPr>
          </a:p>
          <a:p>
            <a:pPr marL="537210" indent="-114935">
              <a:lnSpc>
                <a:spcPct val="100000"/>
              </a:lnSpc>
              <a:spcBef>
                <a:spcPts val="525"/>
              </a:spcBef>
              <a:buClr>
                <a:srgbClr val="3333B2"/>
              </a:buClr>
              <a:buFont typeface="Menlo"/>
              <a:buChar char="•"/>
              <a:tabLst>
                <a:tab pos="537845" algn="l"/>
              </a:tabLst>
            </a:pPr>
            <a:r>
              <a:rPr sz="900" dirty="0">
                <a:latin typeface="Arial"/>
                <a:cs typeface="Arial"/>
              </a:rPr>
              <a:t>When</a:t>
            </a:r>
            <a:r>
              <a:rPr sz="900" spc="-10" dirty="0">
                <a:latin typeface="Arial"/>
                <a:cs typeface="Arial"/>
              </a:rPr>
              <a:t> </a:t>
            </a:r>
            <a:r>
              <a:rPr sz="900" dirty="0">
                <a:latin typeface="Arial"/>
                <a:cs typeface="Arial"/>
              </a:rPr>
              <a:t>process</a:t>
            </a:r>
            <a:r>
              <a:rPr sz="900" spc="-10" dirty="0">
                <a:latin typeface="Arial"/>
                <a:cs typeface="Arial"/>
              </a:rPr>
              <a:t> </a:t>
            </a:r>
            <a:r>
              <a:rPr sz="900" i="1" dirty="0">
                <a:latin typeface="Arial"/>
                <a:cs typeface="Arial"/>
              </a:rPr>
              <a:t>P</a:t>
            </a:r>
            <a:r>
              <a:rPr sz="1050" i="1" baseline="-15873" dirty="0">
                <a:latin typeface="Arial"/>
                <a:cs typeface="Arial"/>
              </a:rPr>
              <a:t>i</a:t>
            </a:r>
            <a:r>
              <a:rPr sz="1050" i="1" spc="232" baseline="-15873" dirty="0">
                <a:latin typeface="Arial"/>
                <a:cs typeface="Arial"/>
              </a:rPr>
              <a:t> </a:t>
            </a:r>
            <a:r>
              <a:rPr sz="900" dirty="0">
                <a:latin typeface="Arial"/>
                <a:cs typeface="Arial"/>
              </a:rPr>
              <a:t>sends</a:t>
            </a:r>
            <a:r>
              <a:rPr sz="900" spc="-5" dirty="0">
                <a:latin typeface="Arial"/>
                <a:cs typeface="Arial"/>
              </a:rPr>
              <a:t> </a:t>
            </a:r>
            <a:r>
              <a:rPr sz="900" dirty="0">
                <a:latin typeface="Arial"/>
                <a:cs typeface="Arial"/>
              </a:rPr>
              <a:t>a</a:t>
            </a:r>
            <a:r>
              <a:rPr sz="900" spc="-10" dirty="0">
                <a:latin typeface="Arial"/>
                <a:cs typeface="Arial"/>
              </a:rPr>
              <a:t> </a:t>
            </a:r>
            <a:r>
              <a:rPr sz="900" dirty="0">
                <a:latin typeface="Arial"/>
                <a:cs typeface="Arial"/>
              </a:rPr>
              <a:t>message</a:t>
            </a:r>
            <a:r>
              <a:rPr sz="900" spc="-5" dirty="0">
                <a:latin typeface="Arial"/>
                <a:cs typeface="Arial"/>
              </a:rPr>
              <a:t> </a:t>
            </a:r>
            <a:r>
              <a:rPr sz="900" dirty="0">
                <a:latin typeface="Arial"/>
                <a:cs typeface="Arial"/>
              </a:rPr>
              <a:t>in</a:t>
            </a:r>
            <a:r>
              <a:rPr sz="900" spc="-10" dirty="0">
                <a:latin typeface="Arial"/>
                <a:cs typeface="Arial"/>
              </a:rPr>
              <a:t> </a:t>
            </a:r>
            <a:r>
              <a:rPr sz="900" dirty="0">
                <a:latin typeface="Arial"/>
                <a:cs typeface="Arial"/>
              </a:rPr>
              <a:t>interval</a:t>
            </a:r>
            <a:r>
              <a:rPr sz="900" spc="-10" dirty="0">
                <a:latin typeface="Arial"/>
                <a:cs typeface="Arial"/>
              </a:rPr>
              <a:t> </a:t>
            </a:r>
            <a:r>
              <a:rPr sz="900" i="1" spc="-10" dirty="0">
                <a:latin typeface="Arial"/>
                <a:cs typeface="Arial"/>
              </a:rPr>
              <a:t>INT</a:t>
            </a:r>
            <a:r>
              <a:rPr sz="1050" i="1" spc="-15" baseline="-15873" dirty="0">
                <a:latin typeface="Arial"/>
                <a:cs typeface="Arial"/>
              </a:rPr>
              <a:t>i</a:t>
            </a:r>
            <a:r>
              <a:rPr sz="1050" i="1" spc="-127" baseline="-15873" dirty="0">
                <a:latin typeface="Arial"/>
                <a:cs typeface="Arial"/>
              </a:rPr>
              <a:t> </a:t>
            </a:r>
            <a:r>
              <a:rPr sz="900" dirty="0">
                <a:latin typeface="Arial"/>
                <a:cs typeface="Arial"/>
              </a:rPr>
              <a:t>(</a:t>
            </a:r>
            <a:r>
              <a:rPr sz="900" i="1" dirty="0">
                <a:latin typeface="Arial"/>
                <a:cs typeface="Arial"/>
              </a:rPr>
              <a:t>m</a:t>
            </a:r>
            <a:r>
              <a:rPr sz="900" dirty="0">
                <a:latin typeface="Arial"/>
                <a:cs typeface="Arial"/>
              </a:rPr>
              <a:t>),</a:t>
            </a:r>
            <a:r>
              <a:rPr sz="900" spc="-5" dirty="0">
                <a:latin typeface="Arial"/>
                <a:cs typeface="Arial"/>
              </a:rPr>
              <a:t> </a:t>
            </a:r>
            <a:r>
              <a:rPr sz="900" dirty="0">
                <a:latin typeface="Arial"/>
                <a:cs typeface="Arial"/>
              </a:rPr>
              <a:t>it</a:t>
            </a:r>
            <a:r>
              <a:rPr sz="900" spc="-10" dirty="0">
                <a:latin typeface="Arial"/>
                <a:cs typeface="Arial"/>
              </a:rPr>
              <a:t> piggybacks</a:t>
            </a:r>
            <a:endParaRPr sz="900">
              <a:latin typeface="Arial"/>
              <a:cs typeface="Arial"/>
            </a:endParaRPr>
          </a:p>
          <a:p>
            <a:pPr marL="538480">
              <a:lnSpc>
                <a:spcPct val="100000"/>
              </a:lnSpc>
              <a:spcBef>
                <a:spcPts val="125"/>
              </a:spcBef>
            </a:pPr>
            <a:r>
              <a:rPr sz="900" dirty="0">
                <a:latin typeface="Arial"/>
                <a:cs typeface="Arial"/>
              </a:rPr>
              <a:t>(</a:t>
            </a:r>
            <a:r>
              <a:rPr sz="900" i="1" dirty="0">
                <a:latin typeface="Arial"/>
                <a:cs typeface="Arial"/>
              </a:rPr>
              <a:t>i,</a:t>
            </a:r>
            <a:r>
              <a:rPr sz="900" i="1" spc="-30" dirty="0">
                <a:latin typeface="Arial"/>
                <a:cs typeface="Arial"/>
              </a:rPr>
              <a:t> </a:t>
            </a:r>
            <a:r>
              <a:rPr sz="900" i="1" spc="-35" dirty="0">
                <a:latin typeface="Arial"/>
                <a:cs typeface="Arial"/>
              </a:rPr>
              <a:t>m</a:t>
            </a:r>
            <a:r>
              <a:rPr sz="900" spc="-35" dirty="0">
                <a:latin typeface="Arial"/>
                <a:cs typeface="Arial"/>
              </a:rPr>
              <a:t>)</a:t>
            </a:r>
            <a:endParaRPr sz="900">
              <a:latin typeface="Arial"/>
              <a:cs typeface="Arial"/>
            </a:endParaRPr>
          </a:p>
          <a:p>
            <a:pPr marL="542925" marR="114300" indent="-120650">
              <a:lnSpc>
                <a:spcPct val="111600"/>
              </a:lnSpc>
              <a:spcBef>
                <a:spcPts val="400"/>
              </a:spcBef>
              <a:buClr>
                <a:srgbClr val="3333B2"/>
              </a:buClr>
              <a:buFont typeface="Menlo"/>
              <a:buChar char="•"/>
              <a:tabLst>
                <a:tab pos="537845" algn="l"/>
              </a:tabLst>
            </a:pPr>
            <a:r>
              <a:rPr sz="900" dirty="0">
                <a:latin typeface="Arial"/>
                <a:cs typeface="Arial"/>
              </a:rPr>
              <a:t>When</a:t>
            </a:r>
            <a:r>
              <a:rPr sz="900" spc="-10" dirty="0">
                <a:latin typeface="Arial"/>
                <a:cs typeface="Arial"/>
              </a:rPr>
              <a:t> </a:t>
            </a:r>
            <a:r>
              <a:rPr sz="900" dirty="0">
                <a:latin typeface="Arial"/>
                <a:cs typeface="Arial"/>
              </a:rPr>
              <a:t>process</a:t>
            </a:r>
            <a:r>
              <a:rPr sz="900" spc="-5" dirty="0">
                <a:latin typeface="Arial"/>
                <a:cs typeface="Arial"/>
              </a:rPr>
              <a:t> </a:t>
            </a:r>
            <a:r>
              <a:rPr sz="900" i="1" dirty="0">
                <a:latin typeface="Arial"/>
                <a:cs typeface="Arial"/>
              </a:rPr>
              <a:t>P</a:t>
            </a:r>
            <a:r>
              <a:rPr sz="1050" i="1" baseline="-15873" dirty="0">
                <a:latin typeface="Arial"/>
                <a:cs typeface="Arial"/>
              </a:rPr>
              <a:t>j</a:t>
            </a:r>
            <a:r>
              <a:rPr sz="1050" i="1" spc="240" baseline="-15873" dirty="0">
                <a:latin typeface="Arial"/>
                <a:cs typeface="Arial"/>
              </a:rPr>
              <a:t> </a:t>
            </a:r>
            <a:r>
              <a:rPr sz="900" spc="-10" dirty="0">
                <a:latin typeface="Arial"/>
                <a:cs typeface="Arial"/>
              </a:rPr>
              <a:t>receives </a:t>
            </a:r>
            <a:r>
              <a:rPr sz="900" dirty="0">
                <a:latin typeface="Arial"/>
                <a:cs typeface="Arial"/>
              </a:rPr>
              <a:t>a</a:t>
            </a:r>
            <a:r>
              <a:rPr sz="900" spc="-5" dirty="0">
                <a:latin typeface="Arial"/>
                <a:cs typeface="Arial"/>
              </a:rPr>
              <a:t> </a:t>
            </a:r>
            <a:r>
              <a:rPr sz="900" dirty="0">
                <a:latin typeface="Arial"/>
                <a:cs typeface="Arial"/>
              </a:rPr>
              <a:t>message</a:t>
            </a:r>
            <a:r>
              <a:rPr sz="900" spc="-5" dirty="0">
                <a:latin typeface="Arial"/>
                <a:cs typeface="Arial"/>
              </a:rPr>
              <a:t> </a:t>
            </a:r>
            <a:r>
              <a:rPr sz="900" dirty="0">
                <a:latin typeface="Arial"/>
                <a:cs typeface="Arial"/>
              </a:rPr>
              <a:t>in</a:t>
            </a:r>
            <a:r>
              <a:rPr sz="900" spc="-5" dirty="0">
                <a:latin typeface="Arial"/>
                <a:cs typeface="Arial"/>
              </a:rPr>
              <a:t> </a:t>
            </a:r>
            <a:r>
              <a:rPr sz="900" dirty="0">
                <a:latin typeface="Arial"/>
                <a:cs typeface="Arial"/>
              </a:rPr>
              <a:t>interval</a:t>
            </a:r>
            <a:r>
              <a:rPr sz="900" spc="-5" dirty="0">
                <a:latin typeface="Arial"/>
                <a:cs typeface="Arial"/>
              </a:rPr>
              <a:t> </a:t>
            </a:r>
            <a:r>
              <a:rPr sz="900" i="1" spc="-10" dirty="0">
                <a:latin typeface="Arial"/>
                <a:cs typeface="Arial"/>
              </a:rPr>
              <a:t>INT</a:t>
            </a:r>
            <a:r>
              <a:rPr sz="1050" i="1" spc="-15" baseline="-15873" dirty="0">
                <a:latin typeface="Arial"/>
                <a:cs typeface="Arial"/>
              </a:rPr>
              <a:t>j</a:t>
            </a:r>
            <a:r>
              <a:rPr sz="1050" i="1" spc="-127" baseline="-15873" dirty="0">
                <a:latin typeface="Arial"/>
                <a:cs typeface="Arial"/>
              </a:rPr>
              <a:t> </a:t>
            </a:r>
            <a:r>
              <a:rPr sz="900" dirty="0">
                <a:latin typeface="Arial"/>
                <a:cs typeface="Arial"/>
              </a:rPr>
              <a:t>(</a:t>
            </a:r>
            <a:r>
              <a:rPr sz="900" i="1" dirty="0">
                <a:latin typeface="Arial"/>
                <a:cs typeface="Arial"/>
              </a:rPr>
              <a:t>n</a:t>
            </a:r>
            <a:r>
              <a:rPr sz="900" dirty="0">
                <a:latin typeface="Arial"/>
                <a:cs typeface="Arial"/>
              </a:rPr>
              <a:t>),</a:t>
            </a:r>
            <a:r>
              <a:rPr sz="900" spc="-10" dirty="0">
                <a:latin typeface="Arial"/>
                <a:cs typeface="Arial"/>
              </a:rPr>
              <a:t> </a:t>
            </a:r>
            <a:r>
              <a:rPr sz="900" dirty="0">
                <a:latin typeface="Arial"/>
                <a:cs typeface="Arial"/>
              </a:rPr>
              <a:t>it</a:t>
            </a:r>
            <a:r>
              <a:rPr sz="900" spc="-5" dirty="0">
                <a:latin typeface="Arial"/>
                <a:cs typeface="Arial"/>
              </a:rPr>
              <a:t> </a:t>
            </a:r>
            <a:r>
              <a:rPr sz="900" dirty="0">
                <a:latin typeface="Arial"/>
                <a:cs typeface="Arial"/>
              </a:rPr>
              <a:t>records</a:t>
            </a:r>
            <a:r>
              <a:rPr sz="900" spc="-5" dirty="0">
                <a:latin typeface="Arial"/>
                <a:cs typeface="Arial"/>
              </a:rPr>
              <a:t> </a:t>
            </a:r>
            <a:r>
              <a:rPr sz="900" spc="-25" dirty="0">
                <a:latin typeface="Arial"/>
                <a:cs typeface="Arial"/>
              </a:rPr>
              <a:t>the </a:t>
            </a:r>
            <a:r>
              <a:rPr sz="900" dirty="0">
                <a:latin typeface="Arial"/>
                <a:cs typeface="Arial"/>
              </a:rPr>
              <a:t>dependency</a:t>
            </a:r>
            <a:r>
              <a:rPr sz="900" spc="25" dirty="0">
                <a:latin typeface="Arial"/>
                <a:cs typeface="Arial"/>
              </a:rPr>
              <a:t> </a:t>
            </a:r>
            <a:r>
              <a:rPr sz="900" i="1" spc="-10" dirty="0">
                <a:latin typeface="Arial"/>
                <a:cs typeface="Arial"/>
              </a:rPr>
              <a:t>INT</a:t>
            </a:r>
            <a:r>
              <a:rPr sz="1050" i="1" spc="-15" baseline="-15873" dirty="0">
                <a:latin typeface="Arial"/>
                <a:cs typeface="Arial"/>
              </a:rPr>
              <a:t>i</a:t>
            </a:r>
            <a:r>
              <a:rPr sz="1050" i="1" spc="-112" baseline="-15873" dirty="0">
                <a:latin typeface="Arial"/>
                <a:cs typeface="Arial"/>
              </a:rPr>
              <a:t> </a:t>
            </a:r>
            <a:r>
              <a:rPr sz="900" dirty="0">
                <a:latin typeface="Arial"/>
                <a:cs typeface="Arial"/>
              </a:rPr>
              <a:t>(</a:t>
            </a:r>
            <a:r>
              <a:rPr sz="900" i="1" dirty="0">
                <a:latin typeface="Arial"/>
                <a:cs typeface="Arial"/>
              </a:rPr>
              <a:t>m</a:t>
            </a:r>
            <a:r>
              <a:rPr sz="900" dirty="0">
                <a:latin typeface="Arial"/>
                <a:cs typeface="Arial"/>
              </a:rPr>
              <a:t>)</a:t>
            </a:r>
            <a:r>
              <a:rPr sz="900" spc="25" dirty="0">
                <a:latin typeface="Arial"/>
                <a:cs typeface="Arial"/>
              </a:rPr>
              <a:t> </a:t>
            </a:r>
            <a:r>
              <a:rPr sz="900" i="1" spc="350" dirty="0">
                <a:latin typeface="Menlo"/>
                <a:cs typeface="Menlo"/>
              </a:rPr>
              <a:t>→</a:t>
            </a:r>
            <a:r>
              <a:rPr sz="900" i="1" spc="-265" dirty="0">
                <a:latin typeface="Menlo"/>
                <a:cs typeface="Menlo"/>
              </a:rPr>
              <a:t> </a:t>
            </a:r>
            <a:r>
              <a:rPr sz="900" i="1" spc="-10" dirty="0">
                <a:latin typeface="Arial"/>
                <a:cs typeface="Arial"/>
              </a:rPr>
              <a:t>INT</a:t>
            </a:r>
            <a:r>
              <a:rPr sz="1050" i="1" spc="-15" baseline="-15873" dirty="0">
                <a:latin typeface="Arial"/>
                <a:cs typeface="Arial"/>
              </a:rPr>
              <a:t>j</a:t>
            </a:r>
            <a:r>
              <a:rPr sz="1050" i="1" spc="-104" baseline="-15873" dirty="0">
                <a:latin typeface="Arial"/>
                <a:cs typeface="Arial"/>
              </a:rPr>
              <a:t> </a:t>
            </a:r>
            <a:r>
              <a:rPr sz="900" spc="-20" dirty="0">
                <a:latin typeface="Arial"/>
                <a:cs typeface="Arial"/>
              </a:rPr>
              <a:t>(</a:t>
            </a:r>
            <a:r>
              <a:rPr sz="900" i="1" spc="-20" dirty="0">
                <a:latin typeface="Arial"/>
                <a:cs typeface="Arial"/>
              </a:rPr>
              <a:t>n</a:t>
            </a:r>
            <a:r>
              <a:rPr sz="900" spc="-20" dirty="0">
                <a:latin typeface="Arial"/>
                <a:cs typeface="Arial"/>
              </a:rPr>
              <a:t>).</a:t>
            </a:r>
            <a:endParaRPr sz="900">
              <a:latin typeface="Arial"/>
              <a:cs typeface="Arial"/>
            </a:endParaRPr>
          </a:p>
          <a:p>
            <a:pPr marL="542925" marR="212725" indent="-120650">
              <a:lnSpc>
                <a:spcPct val="111600"/>
              </a:lnSpc>
              <a:spcBef>
                <a:spcPts val="395"/>
              </a:spcBef>
              <a:buClr>
                <a:srgbClr val="3333B2"/>
              </a:buClr>
              <a:buFont typeface="Menlo"/>
              <a:buChar char="•"/>
              <a:tabLst>
                <a:tab pos="539750" algn="l"/>
              </a:tabLst>
            </a:pPr>
            <a:r>
              <a:rPr sz="900" dirty="0">
                <a:latin typeface="Arial"/>
                <a:cs typeface="Arial"/>
              </a:rPr>
              <a:t>The</a:t>
            </a:r>
            <a:r>
              <a:rPr sz="900" spc="5" dirty="0">
                <a:latin typeface="Arial"/>
                <a:cs typeface="Arial"/>
              </a:rPr>
              <a:t> </a:t>
            </a:r>
            <a:r>
              <a:rPr sz="900" dirty="0">
                <a:latin typeface="Arial"/>
                <a:cs typeface="Arial"/>
              </a:rPr>
              <a:t>dependency</a:t>
            </a:r>
            <a:r>
              <a:rPr sz="900" spc="5" dirty="0">
                <a:latin typeface="Arial"/>
                <a:cs typeface="Arial"/>
              </a:rPr>
              <a:t> </a:t>
            </a:r>
            <a:r>
              <a:rPr sz="900" i="1" spc="-10" dirty="0">
                <a:latin typeface="Arial"/>
                <a:cs typeface="Arial"/>
              </a:rPr>
              <a:t>INT</a:t>
            </a:r>
            <a:r>
              <a:rPr sz="1050" i="1" spc="-15" baseline="-15873" dirty="0">
                <a:latin typeface="Arial"/>
                <a:cs typeface="Arial"/>
              </a:rPr>
              <a:t>i</a:t>
            </a:r>
            <a:r>
              <a:rPr sz="1050" i="1" spc="-120" baseline="-15873" dirty="0">
                <a:latin typeface="Arial"/>
                <a:cs typeface="Arial"/>
              </a:rPr>
              <a:t> </a:t>
            </a:r>
            <a:r>
              <a:rPr sz="900" dirty="0">
                <a:latin typeface="Arial"/>
                <a:cs typeface="Arial"/>
              </a:rPr>
              <a:t>(</a:t>
            </a:r>
            <a:r>
              <a:rPr sz="900" i="1" dirty="0">
                <a:latin typeface="Arial"/>
                <a:cs typeface="Arial"/>
              </a:rPr>
              <a:t>m</a:t>
            </a:r>
            <a:r>
              <a:rPr sz="900" dirty="0">
                <a:latin typeface="Arial"/>
                <a:cs typeface="Arial"/>
              </a:rPr>
              <a:t>)</a:t>
            </a:r>
            <a:r>
              <a:rPr sz="900" spc="5" dirty="0">
                <a:latin typeface="Arial"/>
                <a:cs typeface="Arial"/>
              </a:rPr>
              <a:t> </a:t>
            </a:r>
            <a:r>
              <a:rPr sz="900" i="1" spc="350" dirty="0">
                <a:latin typeface="Menlo"/>
                <a:cs typeface="Menlo"/>
              </a:rPr>
              <a:t>→</a:t>
            </a:r>
            <a:r>
              <a:rPr sz="900" i="1" spc="-280" dirty="0">
                <a:latin typeface="Menlo"/>
                <a:cs typeface="Menlo"/>
              </a:rPr>
              <a:t> </a:t>
            </a:r>
            <a:r>
              <a:rPr sz="900" i="1" spc="-10" dirty="0">
                <a:latin typeface="Arial"/>
                <a:cs typeface="Arial"/>
              </a:rPr>
              <a:t>INT</a:t>
            </a:r>
            <a:r>
              <a:rPr sz="1050" i="1" spc="-15" baseline="-15873" dirty="0">
                <a:latin typeface="Arial"/>
                <a:cs typeface="Arial"/>
              </a:rPr>
              <a:t>j</a:t>
            </a:r>
            <a:r>
              <a:rPr sz="1050" i="1" spc="-120" baseline="-15873" dirty="0">
                <a:latin typeface="Arial"/>
                <a:cs typeface="Arial"/>
              </a:rPr>
              <a:t> </a:t>
            </a:r>
            <a:r>
              <a:rPr sz="900" dirty="0">
                <a:latin typeface="Arial"/>
                <a:cs typeface="Arial"/>
              </a:rPr>
              <a:t>(</a:t>
            </a:r>
            <a:r>
              <a:rPr sz="900" i="1" dirty="0">
                <a:latin typeface="Arial"/>
                <a:cs typeface="Arial"/>
              </a:rPr>
              <a:t>n</a:t>
            </a:r>
            <a:r>
              <a:rPr sz="900" dirty="0">
                <a:latin typeface="Arial"/>
                <a:cs typeface="Arial"/>
              </a:rPr>
              <a:t>)</a:t>
            </a:r>
            <a:r>
              <a:rPr sz="900" spc="5" dirty="0">
                <a:latin typeface="Arial"/>
                <a:cs typeface="Arial"/>
              </a:rPr>
              <a:t> </a:t>
            </a:r>
            <a:r>
              <a:rPr sz="900" dirty="0">
                <a:latin typeface="Arial"/>
                <a:cs typeface="Arial"/>
              </a:rPr>
              <a:t>is</a:t>
            </a:r>
            <a:r>
              <a:rPr sz="900" spc="5" dirty="0">
                <a:latin typeface="Arial"/>
                <a:cs typeface="Arial"/>
              </a:rPr>
              <a:t> </a:t>
            </a:r>
            <a:r>
              <a:rPr sz="900" spc="-10" dirty="0">
                <a:latin typeface="Arial"/>
                <a:cs typeface="Arial"/>
              </a:rPr>
              <a:t>saved</a:t>
            </a:r>
            <a:r>
              <a:rPr sz="900" spc="10" dirty="0">
                <a:latin typeface="Arial"/>
                <a:cs typeface="Arial"/>
              </a:rPr>
              <a:t> </a:t>
            </a:r>
            <a:r>
              <a:rPr sz="900" dirty="0">
                <a:latin typeface="Arial"/>
                <a:cs typeface="Arial"/>
              </a:rPr>
              <a:t>to</a:t>
            </a:r>
            <a:r>
              <a:rPr sz="900" spc="5" dirty="0">
                <a:latin typeface="Arial"/>
                <a:cs typeface="Arial"/>
              </a:rPr>
              <a:t> </a:t>
            </a:r>
            <a:r>
              <a:rPr sz="900" dirty="0">
                <a:latin typeface="Arial"/>
                <a:cs typeface="Arial"/>
              </a:rPr>
              <a:t>storage</a:t>
            </a:r>
            <a:r>
              <a:rPr sz="900" spc="5" dirty="0">
                <a:latin typeface="Arial"/>
                <a:cs typeface="Arial"/>
              </a:rPr>
              <a:t> </a:t>
            </a:r>
            <a:r>
              <a:rPr sz="900" dirty="0">
                <a:latin typeface="Arial"/>
                <a:cs typeface="Arial"/>
              </a:rPr>
              <a:t>when</a:t>
            </a:r>
            <a:r>
              <a:rPr sz="900" spc="10" dirty="0">
                <a:latin typeface="Arial"/>
                <a:cs typeface="Arial"/>
              </a:rPr>
              <a:t> </a:t>
            </a:r>
            <a:r>
              <a:rPr sz="900" spc="-10" dirty="0">
                <a:latin typeface="Arial"/>
                <a:cs typeface="Arial"/>
              </a:rPr>
              <a:t>taking checkpoint</a:t>
            </a:r>
            <a:r>
              <a:rPr sz="900" spc="30" dirty="0">
                <a:latin typeface="Arial"/>
                <a:cs typeface="Arial"/>
              </a:rPr>
              <a:t> </a:t>
            </a:r>
            <a:r>
              <a:rPr sz="900" i="1" spc="-10" dirty="0">
                <a:latin typeface="Arial"/>
                <a:cs typeface="Arial"/>
              </a:rPr>
              <a:t>CP</a:t>
            </a:r>
            <a:r>
              <a:rPr sz="1050" i="1" spc="-15" baseline="-15873" dirty="0">
                <a:latin typeface="Arial"/>
                <a:cs typeface="Arial"/>
              </a:rPr>
              <a:t>j</a:t>
            </a:r>
            <a:r>
              <a:rPr sz="1050" i="1" spc="-104" baseline="-15873" dirty="0">
                <a:latin typeface="Arial"/>
                <a:cs typeface="Arial"/>
              </a:rPr>
              <a:t> </a:t>
            </a:r>
            <a:r>
              <a:rPr sz="900" spc="-20" dirty="0">
                <a:latin typeface="Arial"/>
                <a:cs typeface="Arial"/>
              </a:rPr>
              <a:t>(</a:t>
            </a:r>
            <a:r>
              <a:rPr sz="900" i="1" spc="-20" dirty="0">
                <a:latin typeface="Arial"/>
                <a:cs typeface="Arial"/>
              </a:rPr>
              <a:t>n</a:t>
            </a:r>
            <a:r>
              <a:rPr sz="900" spc="-20" dirty="0">
                <a:latin typeface="Arial"/>
                <a:cs typeface="Arial"/>
              </a:rPr>
              <a:t>).</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42545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Checkpointing</a:t>
            </a:r>
            <a:endParaRPr sz="500">
              <a:latin typeface="Arial"/>
              <a:cs typeface="Arial"/>
            </a:endParaRPr>
          </a:p>
        </p:txBody>
      </p:sp>
    </p:spTree>
  </p:cSld>
  <p:clrMapOvr>
    <a:masterClrMapping/>
  </p:clrMapOvr>
  <p:transition>
    <p:fad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262602" y="-1515"/>
            <a:ext cx="29210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Recovery</a:t>
            </a:r>
            <a:endParaRPr sz="500">
              <a:latin typeface="Arial"/>
              <a:cs typeface="Arial"/>
            </a:endParaRPr>
          </a:p>
        </p:txBody>
      </p:sp>
      <p:sp>
        <p:nvSpPr>
          <p:cNvPr id="5" name="object 5"/>
          <p:cNvSpPr txBox="1"/>
          <p:nvPr/>
        </p:nvSpPr>
        <p:spPr>
          <a:xfrm>
            <a:off x="57200" y="197711"/>
            <a:ext cx="4241800" cy="2725420"/>
          </a:xfrm>
          <a:prstGeom prst="rect">
            <a:avLst/>
          </a:prstGeom>
        </p:spPr>
        <p:txBody>
          <a:bodyPr vert="horz" wrap="square" lIns="0" tIns="12065" rIns="0" bIns="0" rtlCol="0">
            <a:spAutoFit/>
          </a:bodyPr>
          <a:lstStyle/>
          <a:p>
            <a:pPr marL="50800">
              <a:lnSpc>
                <a:spcPct val="100000"/>
              </a:lnSpc>
              <a:spcBef>
                <a:spcPts val="95"/>
              </a:spcBef>
            </a:pPr>
            <a:r>
              <a:rPr sz="1200" dirty="0">
                <a:solidFill>
                  <a:srgbClr val="3333B2"/>
                </a:solidFill>
                <a:latin typeface="Arial"/>
                <a:cs typeface="Arial"/>
              </a:rPr>
              <a:t>Independent</a:t>
            </a:r>
            <a:r>
              <a:rPr sz="1200" spc="-75" dirty="0">
                <a:solidFill>
                  <a:srgbClr val="3333B2"/>
                </a:solidFill>
                <a:latin typeface="Arial"/>
                <a:cs typeface="Arial"/>
              </a:rPr>
              <a:t> </a:t>
            </a:r>
            <a:r>
              <a:rPr sz="1200" spc="-10" dirty="0">
                <a:solidFill>
                  <a:srgbClr val="3333B2"/>
                </a:solidFill>
                <a:latin typeface="Arial"/>
                <a:cs typeface="Arial"/>
              </a:rPr>
              <a:t>checkpointing</a:t>
            </a:r>
            <a:endParaRPr sz="1200">
              <a:latin typeface="Arial"/>
              <a:cs typeface="Arial"/>
            </a:endParaRPr>
          </a:p>
          <a:p>
            <a:pPr marL="302260">
              <a:lnSpc>
                <a:spcPct val="100000"/>
              </a:lnSpc>
              <a:spcBef>
                <a:spcPts val="1055"/>
              </a:spcBef>
            </a:pPr>
            <a:r>
              <a:rPr sz="1000" spc="-10" dirty="0">
                <a:solidFill>
                  <a:srgbClr val="3333B2"/>
                </a:solidFill>
                <a:latin typeface="Arial"/>
                <a:cs typeface="Arial"/>
              </a:rPr>
              <a:t>Essence</a:t>
            </a:r>
            <a:endParaRPr sz="1000">
              <a:latin typeface="Arial"/>
              <a:cs typeface="Arial"/>
            </a:endParaRPr>
          </a:p>
          <a:p>
            <a:pPr marL="302260" marR="163195">
              <a:lnSpc>
                <a:spcPts val="1210"/>
              </a:lnSpc>
              <a:spcBef>
                <a:spcPts val="40"/>
              </a:spcBef>
            </a:pPr>
            <a:r>
              <a:rPr sz="900" dirty="0">
                <a:latin typeface="Arial"/>
                <a:cs typeface="Arial"/>
              </a:rPr>
              <a:t>Each</a:t>
            </a:r>
            <a:r>
              <a:rPr sz="900" spc="-25" dirty="0">
                <a:latin typeface="Arial"/>
                <a:cs typeface="Arial"/>
              </a:rPr>
              <a:t> </a:t>
            </a:r>
            <a:r>
              <a:rPr sz="900" dirty="0">
                <a:latin typeface="Arial"/>
                <a:cs typeface="Arial"/>
              </a:rPr>
              <a:t>process</a:t>
            </a:r>
            <a:r>
              <a:rPr sz="900" spc="-20" dirty="0">
                <a:latin typeface="Arial"/>
                <a:cs typeface="Arial"/>
              </a:rPr>
              <a:t> </a:t>
            </a:r>
            <a:r>
              <a:rPr sz="900" dirty="0">
                <a:latin typeface="Arial"/>
                <a:cs typeface="Arial"/>
              </a:rPr>
              <a:t>independently</a:t>
            </a:r>
            <a:r>
              <a:rPr sz="900" spc="-20" dirty="0">
                <a:latin typeface="Arial"/>
                <a:cs typeface="Arial"/>
              </a:rPr>
              <a:t> </a:t>
            </a:r>
            <a:r>
              <a:rPr sz="900" dirty="0">
                <a:latin typeface="Arial"/>
                <a:cs typeface="Arial"/>
              </a:rPr>
              <a:t>takes</a:t>
            </a:r>
            <a:r>
              <a:rPr sz="900" spc="-20" dirty="0">
                <a:latin typeface="Arial"/>
                <a:cs typeface="Arial"/>
              </a:rPr>
              <a:t> </a:t>
            </a:r>
            <a:r>
              <a:rPr sz="900" spc="-10" dirty="0">
                <a:latin typeface="Arial"/>
                <a:cs typeface="Arial"/>
              </a:rPr>
              <a:t>checkpoints,</a:t>
            </a:r>
            <a:r>
              <a:rPr sz="900" spc="-20" dirty="0">
                <a:latin typeface="Arial"/>
                <a:cs typeface="Arial"/>
              </a:rPr>
              <a:t> </a:t>
            </a:r>
            <a:r>
              <a:rPr sz="900" dirty="0">
                <a:latin typeface="Arial"/>
                <a:cs typeface="Arial"/>
              </a:rPr>
              <a:t>with</a:t>
            </a:r>
            <a:r>
              <a:rPr sz="900" spc="-2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risk</a:t>
            </a:r>
            <a:r>
              <a:rPr sz="900" spc="-20" dirty="0">
                <a:latin typeface="Arial"/>
                <a:cs typeface="Arial"/>
              </a:rPr>
              <a:t> </a:t>
            </a:r>
            <a:r>
              <a:rPr sz="900" dirty="0">
                <a:latin typeface="Arial"/>
                <a:cs typeface="Arial"/>
              </a:rPr>
              <a:t>of</a:t>
            </a:r>
            <a:r>
              <a:rPr sz="900" spc="-20" dirty="0">
                <a:latin typeface="Arial"/>
                <a:cs typeface="Arial"/>
              </a:rPr>
              <a:t> </a:t>
            </a:r>
            <a:r>
              <a:rPr sz="900" dirty="0">
                <a:latin typeface="Arial"/>
                <a:cs typeface="Arial"/>
              </a:rPr>
              <a:t>a</a:t>
            </a:r>
            <a:r>
              <a:rPr sz="900" spc="-20" dirty="0">
                <a:latin typeface="Arial"/>
                <a:cs typeface="Arial"/>
              </a:rPr>
              <a:t> </a:t>
            </a:r>
            <a:r>
              <a:rPr sz="900" spc="-10" dirty="0">
                <a:latin typeface="Arial"/>
                <a:cs typeface="Arial"/>
              </a:rPr>
              <a:t>cascaded </a:t>
            </a:r>
            <a:r>
              <a:rPr sz="900" dirty="0">
                <a:latin typeface="Arial"/>
                <a:cs typeface="Arial"/>
              </a:rPr>
              <a:t>rollback</a:t>
            </a:r>
            <a:r>
              <a:rPr sz="900" spc="-35" dirty="0">
                <a:latin typeface="Arial"/>
                <a:cs typeface="Arial"/>
              </a:rPr>
              <a:t> </a:t>
            </a:r>
            <a:r>
              <a:rPr sz="900" dirty="0">
                <a:latin typeface="Arial"/>
                <a:cs typeface="Arial"/>
              </a:rPr>
              <a:t>to</a:t>
            </a:r>
            <a:r>
              <a:rPr sz="900" spc="-35" dirty="0">
                <a:latin typeface="Arial"/>
                <a:cs typeface="Arial"/>
              </a:rPr>
              <a:t> </a:t>
            </a:r>
            <a:r>
              <a:rPr sz="900" dirty="0">
                <a:latin typeface="Arial"/>
                <a:cs typeface="Arial"/>
              </a:rPr>
              <a:t>system</a:t>
            </a:r>
            <a:r>
              <a:rPr sz="900" spc="-35" dirty="0">
                <a:latin typeface="Arial"/>
                <a:cs typeface="Arial"/>
              </a:rPr>
              <a:t> </a:t>
            </a:r>
            <a:r>
              <a:rPr sz="900" spc="-10" dirty="0">
                <a:latin typeface="Arial"/>
                <a:cs typeface="Arial"/>
              </a:rPr>
              <a:t>startup.</a:t>
            </a:r>
            <a:endParaRPr sz="900">
              <a:latin typeface="Arial"/>
              <a:cs typeface="Arial"/>
            </a:endParaRPr>
          </a:p>
          <a:p>
            <a:pPr marL="555625" marR="43180" indent="-120650">
              <a:lnSpc>
                <a:spcPct val="111600"/>
              </a:lnSpc>
              <a:spcBef>
                <a:spcPts val="330"/>
              </a:spcBef>
              <a:buClr>
                <a:srgbClr val="3333B2"/>
              </a:buClr>
              <a:buFont typeface="Menlo"/>
              <a:buChar char="•"/>
              <a:tabLst>
                <a:tab pos="556260" algn="l"/>
              </a:tabLst>
            </a:pPr>
            <a:r>
              <a:rPr sz="900" dirty="0">
                <a:latin typeface="Arial"/>
                <a:cs typeface="Arial"/>
              </a:rPr>
              <a:t>Let </a:t>
            </a:r>
            <a:r>
              <a:rPr sz="900" i="1" spc="-10" dirty="0">
                <a:latin typeface="Arial"/>
                <a:cs typeface="Arial"/>
              </a:rPr>
              <a:t>CP</a:t>
            </a:r>
            <a:r>
              <a:rPr sz="1050" i="1" spc="-15" baseline="-15873" dirty="0">
                <a:latin typeface="Arial"/>
                <a:cs typeface="Arial"/>
              </a:rPr>
              <a:t>i</a:t>
            </a:r>
            <a:r>
              <a:rPr sz="1050" i="1" spc="-120" baseline="-15873" dirty="0">
                <a:latin typeface="Arial"/>
                <a:cs typeface="Arial"/>
              </a:rPr>
              <a:t> </a:t>
            </a:r>
            <a:r>
              <a:rPr sz="900" dirty="0">
                <a:latin typeface="Arial"/>
                <a:cs typeface="Arial"/>
              </a:rPr>
              <a:t>(</a:t>
            </a:r>
            <a:r>
              <a:rPr sz="900" i="1" dirty="0">
                <a:latin typeface="Arial"/>
                <a:cs typeface="Arial"/>
              </a:rPr>
              <a:t>m</a:t>
            </a:r>
            <a:r>
              <a:rPr sz="900" dirty="0">
                <a:latin typeface="Arial"/>
                <a:cs typeface="Arial"/>
              </a:rPr>
              <a:t>)</a:t>
            </a:r>
            <a:r>
              <a:rPr sz="900" spc="5" dirty="0">
                <a:latin typeface="Arial"/>
                <a:cs typeface="Arial"/>
              </a:rPr>
              <a:t> </a:t>
            </a:r>
            <a:r>
              <a:rPr sz="900" spc="-10" dirty="0">
                <a:latin typeface="Arial"/>
                <a:cs typeface="Arial"/>
              </a:rPr>
              <a:t>denote</a:t>
            </a:r>
            <a:r>
              <a:rPr sz="900" spc="5" dirty="0">
                <a:latin typeface="Arial"/>
                <a:cs typeface="Arial"/>
              </a:rPr>
              <a:t> </a:t>
            </a:r>
            <a:r>
              <a:rPr sz="900" i="1" dirty="0">
                <a:latin typeface="Arial"/>
                <a:cs typeface="Arial"/>
              </a:rPr>
              <a:t>m</a:t>
            </a:r>
            <a:r>
              <a:rPr sz="1050" baseline="27777" dirty="0">
                <a:latin typeface="Arial"/>
                <a:cs typeface="Arial"/>
              </a:rPr>
              <a:t>th</a:t>
            </a:r>
            <a:r>
              <a:rPr sz="1050" spc="157" baseline="27777" dirty="0">
                <a:latin typeface="Arial"/>
                <a:cs typeface="Arial"/>
              </a:rPr>
              <a:t> </a:t>
            </a:r>
            <a:r>
              <a:rPr sz="900" spc="-20" dirty="0">
                <a:latin typeface="Arial"/>
                <a:cs typeface="Arial"/>
              </a:rPr>
              <a:t>checkpoint</a:t>
            </a:r>
            <a:r>
              <a:rPr sz="900" spc="5" dirty="0">
                <a:latin typeface="Arial"/>
                <a:cs typeface="Arial"/>
              </a:rPr>
              <a:t> </a:t>
            </a:r>
            <a:r>
              <a:rPr sz="900" dirty="0">
                <a:latin typeface="Arial"/>
                <a:cs typeface="Arial"/>
              </a:rPr>
              <a:t>of</a:t>
            </a:r>
            <a:r>
              <a:rPr sz="900" spc="5" dirty="0">
                <a:latin typeface="Arial"/>
                <a:cs typeface="Arial"/>
              </a:rPr>
              <a:t> </a:t>
            </a:r>
            <a:r>
              <a:rPr sz="900" spc="-10" dirty="0">
                <a:latin typeface="Arial"/>
                <a:cs typeface="Arial"/>
              </a:rPr>
              <a:t>process</a:t>
            </a:r>
            <a:r>
              <a:rPr sz="900" spc="5" dirty="0">
                <a:latin typeface="Arial"/>
                <a:cs typeface="Arial"/>
              </a:rPr>
              <a:t> </a:t>
            </a:r>
            <a:r>
              <a:rPr sz="900" i="1" dirty="0">
                <a:latin typeface="Arial"/>
                <a:cs typeface="Arial"/>
              </a:rPr>
              <a:t>P</a:t>
            </a:r>
            <a:r>
              <a:rPr sz="1050" i="1" baseline="-15873" dirty="0">
                <a:latin typeface="Arial"/>
                <a:cs typeface="Arial"/>
              </a:rPr>
              <a:t>i</a:t>
            </a:r>
            <a:r>
              <a:rPr sz="1050" i="1" spc="254" baseline="-15873" dirty="0">
                <a:latin typeface="Arial"/>
                <a:cs typeface="Arial"/>
              </a:rPr>
              <a:t> </a:t>
            </a:r>
            <a:r>
              <a:rPr sz="900" dirty="0">
                <a:latin typeface="Arial"/>
                <a:cs typeface="Arial"/>
              </a:rPr>
              <a:t>and </a:t>
            </a:r>
            <a:r>
              <a:rPr sz="900" i="1" spc="-10" dirty="0">
                <a:latin typeface="Arial"/>
                <a:cs typeface="Arial"/>
              </a:rPr>
              <a:t>INT</a:t>
            </a:r>
            <a:r>
              <a:rPr sz="1050" i="1" spc="-15" baseline="-15873" dirty="0">
                <a:latin typeface="Arial"/>
                <a:cs typeface="Arial"/>
              </a:rPr>
              <a:t>i</a:t>
            </a:r>
            <a:r>
              <a:rPr sz="1050" i="1" spc="-120" baseline="-15873" dirty="0">
                <a:latin typeface="Arial"/>
                <a:cs typeface="Arial"/>
              </a:rPr>
              <a:t> </a:t>
            </a:r>
            <a:r>
              <a:rPr sz="900" dirty="0">
                <a:latin typeface="Arial"/>
                <a:cs typeface="Arial"/>
              </a:rPr>
              <a:t>(</a:t>
            </a:r>
            <a:r>
              <a:rPr sz="900" i="1" dirty="0">
                <a:latin typeface="Arial"/>
                <a:cs typeface="Arial"/>
              </a:rPr>
              <a:t>m</a:t>
            </a:r>
            <a:r>
              <a:rPr sz="900" dirty="0">
                <a:latin typeface="Arial"/>
                <a:cs typeface="Arial"/>
              </a:rPr>
              <a:t>)</a:t>
            </a:r>
            <a:r>
              <a:rPr sz="900" spc="5" dirty="0">
                <a:latin typeface="Arial"/>
                <a:cs typeface="Arial"/>
              </a:rPr>
              <a:t> </a:t>
            </a:r>
            <a:r>
              <a:rPr sz="900" dirty="0">
                <a:latin typeface="Arial"/>
                <a:cs typeface="Arial"/>
              </a:rPr>
              <a:t>the</a:t>
            </a:r>
            <a:r>
              <a:rPr sz="900" spc="5" dirty="0">
                <a:latin typeface="Arial"/>
                <a:cs typeface="Arial"/>
              </a:rPr>
              <a:t> </a:t>
            </a:r>
            <a:r>
              <a:rPr sz="900" spc="-10" dirty="0">
                <a:latin typeface="Arial"/>
                <a:cs typeface="Arial"/>
              </a:rPr>
              <a:t>interval </a:t>
            </a:r>
            <a:r>
              <a:rPr sz="900" dirty="0">
                <a:latin typeface="Arial"/>
                <a:cs typeface="Arial"/>
              </a:rPr>
              <a:t>between</a:t>
            </a:r>
            <a:r>
              <a:rPr sz="900" spc="10" dirty="0">
                <a:latin typeface="Arial"/>
                <a:cs typeface="Arial"/>
              </a:rPr>
              <a:t> </a:t>
            </a:r>
            <a:r>
              <a:rPr sz="900" i="1" spc="-10" dirty="0">
                <a:latin typeface="Arial"/>
                <a:cs typeface="Arial"/>
              </a:rPr>
              <a:t>CP</a:t>
            </a:r>
            <a:r>
              <a:rPr sz="1050" i="1" spc="-15" baseline="-15873" dirty="0">
                <a:latin typeface="Arial"/>
                <a:cs typeface="Arial"/>
              </a:rPr>
              <a:t>i</a:t>
            </a:r>
            <a:r>
              <a:rPr sz="1050" i="1" spc="-120" baseline="-15873" dirty="0">
                <a:latin typeface="Arial"/>
                <a:cs typeface="Arial"/>
              </a:rPr>
              <a:t> </a:t>
            </a:r>
            <a:r>
              <a:rPr sz="900" dirty="0">
                <a:latin typeface="Arial"/>
                <a:cs typeface="Arial"/>
              </a:rPr>
              <a:t>(</a:t>
            </a:r>
            <a:r>
              <a:rPr sz="900" i="1" dirty="0">
                <a:latin typeface="Arial"/>
                <a:cs typeface="Arial"/>
              </a:rPr>
              <a:t>m</a:t>
            </a:r>
            <a:r>
              <a:rPr sz="900" i="1" spc="-100" dirty="0">
                <a:latin typeface="Arial"/>
                <a:cs typeface="Arial"/>
              </a:rPr>
              <a:t> </a:t>
            </a:r>
            <a:r>
              <a:rPr sz="900" i="1" spc="150" dirty="0">
                <a:latin typeface="Menlo"/>
                <a:cs typeface="Menlo"/>
              </a:rPr>
              <a:t>−</a:t>
            </a:r>
            <a:r>
              <a:rPr sz="900" i="1" spc="-415" dirty="0">
                <a:latin typeface="Menlo"/>
                <a:cs typeface="Menlo"/>
              </a:rPr>
              <a:t> </a:t>
            </a:r>
            <a:r>
              <a:rPr sz="900" dirty="0">
                <a:latin typeface="Arial"/>
                <a:cs typeface="Arial"/>
              </a:rPr>
              <a:t>1)</a:t>
            </a:r>
            <a:r>
              <a:rPr sz="900" spc="10" dirty="0">
                <a:latin typeface="Arial"/>
                <a:cs typeface="Arial"/>
              </a:rPr>
              <a:t> </a:t>
            </a:r>
            <a:r>
              <a:rPr sz="900" dirty="0">
                <a:latin typeface="Arial"/>
                <a:cs typeface="Arial"/>
              </a:rPr>
              <a:t>and</a:t>
            </a:r>
            <a:r>
              <a:rPr sz="900" spc="10" dirty="0">
                <a:latin typeface="Arial"/>
                <a:cs typeface="Arial"/>
              </a:rPr>
              <a:t> </a:t>
            </a:r>
            <a:r>
              <a:rPr sz="900" i="1" spc="-10" dirty="0">
                <a:latin typeface="Arial"/>
                <a:cs typeface="Arial"/>
              </a:rPr>
              <a:t>CP</a:t>
            </a:r>
            <a:r>
              <a:rPr sz="1050" i="1" spc="-15" baseline="-15873" dirty="0">
                <a:latin typeface="Arial"/>
                <a:cs typeface="Arial"/>
              </a:rPr>
              <a:t>i</a:t>
            </a:r>
            <a:r>
              <a:rPr sz="1050" i="1" spc="-112" baseline="-15873" dirty="0">
                <a:latin typeface="Arial"/>
                <a:cs typeface="Arial"/>
              </a:rPr>
              <a:t> </a:t>
            </a:r>
            <a:r>
              <a:rPr sz="900" spc="-20" dirty="0">
                <a:latin typeface="Arial"/>
                <a:cs typeface="Arial"/>
              </a:rPr>
              <a:t>(</a:t>
            </a:r>
            <a:r>
              <a:rPr sz="900" i="1" spc="-20" dirty="0">
                <a:latin typeface="Arial"/>
                <a:cs typeface="Arial"/>
              </a:rPr>
              <a:t>m</a:t>
            </a:r>
            <a:r>
              <a:rPr sz="900" spc="-20" dirty="0">
                <a:latin typeface="Arial"/>
                <a:cs typeface="Arial"/>
              </a:rPr>
              <a:t>).</a:t>
            </a:r>
            <a:endParaRPr sz="900">
              <a:latin typeface="Arial"/>
              <a:cs typeface="Arial"/>
            </a:endParaRPr>
          </a:p>
          <a:p>
            <a:pPr marL="549910" indent="-114935">
              <a:lnSpc>
                <a:spcPct val="100000"/>
              </a:lnSpc>
              <a:spcBef>
                <a:spcPts val="525"/>
              </a:spcBef>
              <a:buClr>
                <a:srgbClr val="3333B2"/>
              </a:buClr>
              <a:buFont typeface="Menlo"/>
              <a:buChar char="•"/>
              <a:tabLst>
                <a:tab pos="550545" algn="l"/>
              </a:tabLst>
            </a:pPr>
            <a:r>
              <a:rPr sz="900" dirty="0">
                <a:latin typeface="Arial"/>
                <a:cs typeface="Arial"/>
              </a:rPr>
              <a:t>When</a:t>
            </a:r>
            <a:r>
              <a:rPr sz="900" spc="-10" dirty="0">
                <a:latin typeface="Arial"/>
                <a:cs typeface="Arial"/>
              </a:rPr>
              <a:t> </a:t>
            </a:r>
            <a:r>
              <a:rPr sz="900" dirty="0">
                <a:latin typeface="Arial"/>
                <a:cs typeface="Arial"/>
              </a:rPr>
              <a:t>process</a:t>
            </a:r>
            <a:r>
              <a:rPr sz="900" spc="-10" dirty="0">
                <a:latin typeface="Arial"/>
                <a:cs typeface="Arial"/>
              </a:rPr>
              <a:t> </a:t>
            </a:r>
            <a:r>
              <a:rPr sz="900" i="1" dirty="0">
                <a:latin typeface="Arial"/>
                <a:cs typeface="Arial"/>
              </a:rPr>
              <a:t>P</a:t>
            </a:r>
            <a:r>
              <a:rPr sz="1050" i="1" baseline="-15873" dirty="0">
                <a:latin typeface="Arial"/>
                <a:cs typeface="Arial"/>
              </a:rPr>
              <a:t>i</a:t>
            </a:r>
            <a:r>
              <a:rPr sz="1050" i="1" spc="232" baseline="-15873" dirty="0">
                <a:latin typeface="Arial"/>
                <a:cs typeface="Arial"/>
              </a:rPr>
              <a:t> </a:t>
            </a:r>
            <a:r>
              <a:rPr sz="900" dirty="0">
                <a:latin typeface="Arial"/>
                <a:cs typeface="Arial"/>
              </a:rPr>
              <a:t>sends</a:t>
            </a:r>
            <a:r>
              <a:rPr sz="900" spc="-5" dirty="0">
                <a:latin typeface="Arial"/>
                <a:cs typeface="Arial"/>
              </a:rPr>
              <a:t> </a:t>
            </a:r>
            <a:r>
              <a:rPr sz="900" dirty="0">
                <a:latin typeface="Arial"/>
                <a:cs typeface="Arial"/>
              </a:rPr>
              <a:t>a</a:t>
            </a:r>
            <a:r>
              <a:rPr sz="900" spc="-10" dirty="0">
                <a:latin typeface="Arial"/>
                <a:cs typeface="Arial"/>
              </a:rPr>
              <a:t> </a:t>
            </a:r>
            <a:r>
              <a:rPr sz="900" dirty="0">
                <a:latin typeface="Arial"/>
                <a:cs typeface="Arial"/>
              </a:rPr>
              <a:t>message</a:t>
            </a:r>
            <a:r>
              <a:rPr sz="900" spc="-5" dirty="0">
                <a:latin typeface="Arial"/>
                <a:cs typeface="Arial"/>
              </a:rPr>
              <a:t> </a:t>
            </a:r>
            <a:r>
              <a:rPr sz="900" dirty="0">
                <a:latin typeface="Arial"/>
                <a:cs typeface="Arial"/>
              </a:rPr>
              <a:t>in</a:t>
            </a:r>
            <a:r>
              <a:rPr sz="900" spc="-10" dirty="0">
                <a:latin typeface="Arial"/>
                <a:cs typeface="Arial"/>
              </a:rPr>
              <a:t> </a:t>
            </a:r>
            <a:r>
              <a:rPr sz="900" dirty="0">
                <a:latin typeface="Arial"/>
                <a:cs typeface="Arial"/>
              </a:rPr>
              <a:t>interval</a:t>
            </a:r>
            <a:r>
              <a:rPr sz="900" spc="-10" dirty="0">
                <a:latin typeface="Arial"/>
                <a:cs typeface="Arial"/>
              </a:rPr>
              <a:t> </a:t>
            </a:r>
            <a:r>
              <a:rPr sz="900" i="1" spc="-10" dirty="0">
                <a:latin typeface="Arial"/>
                <a:cs typeface="Arial"/>
              </a:rPr>
              <a:t>INT</a:t>
            </a:r>
            <a:r>
              <a:rPr sz="1050" i="1" spc="-15" baseline="-15873" dirty="0">
                <a:latin typeface="Arial"/>
                <a:cs typeface="Arial"/>
              </a:rPr>
              <a:t>i</a:t>
            </a:r>
            <a:r>
              <a:rPr sz="1050" i="1" spc="-127" baseline="-15873" dirty="0">
                <a:latin typeface="Arial"/>
                <a:cs typeface="Arial"/>
              </a:rPr>
              <a:t> </a:t>
            </a:r>
            <a:r>
              <a:rPr sz="900" dirty="0">
                <a:latin typeface="Arial"/>
                <a:cs typeface="Arial"/>
              </a:rPr>
              <a:t>(</a:t>
            </a:r>
            <a:r>
              <a:rPr sz="900" i="1" dirty="0">
                <a:latin typeface="Arial"/>
                <a:cs typeface="Arial"/>
              </a:rPr>
              <a:t>m</a:t>
            </a:r>
            <a:r>
              <a:rPr sz="900" dirty="0">
                <a:latin typeface="Arial"/>
                <a:cs typeface="Arial"/>
              </a:rPr>
              <a:t>),</a:t>
            </a:r>
            <a:r>
              <a:rPr sz="900" spc="-5" dirty="0">
                <a:latin typeface="Arial"/>
                <a:cs typeface="Arial"/>
              </a:rPr>
              <a:t> </a:t>
            </a:r>
            <a:r>
              <a:rPr sz="900" dirty="0">
                <a:latin typeface="Arial"/>
                <a:cs typeface="Arial"/>
              </a:rPr>
              <a:t>it</a:t>
            </a:r>
            <a:r>
              <a:rPr sz="900" spc="-10" dirty="0">
                <a:latin typeface="Arial"/>
                <a:cs typeface="Arial"/>
              </a:rPr>
              <a:t> piggybacks</a:t>
            </a:r>
            <a:endParaRPr sz="900">
              <a:latin typeface="Arial"/>
              <a:cs typeface="Arial"/>
            </a:endParaRPr>
          </a:p>
          <a:p>
            <a:pPr marL="551180">
              <a:lnSpc>
                <a:spcPct val="100000"/>
              </a:lnSpc>
              <a:spcBef>
                <a:spcPts val="125"/>
              </a:spcBef>
            </a:pPr>
            <a:r>
              <a:rPr sz="900" dirty="0">
                <a:latin typeface="Arial"/>
                <a:cs typeface="Arial"/>
              </a:rPr>
              <a:t>(</a:t>
            </a:r>
            <a:r>
              <a:rPr sz="900" i="1" dirty="0">
                <a:latin typeface="Arial"/>
                <a:cs typeface="Arial"/>
              </a:rPr>
              <a:t>i,</a:t>
            </a:r>
            <a:r>
              <a:rPr sz="900" i="1" spc="-30" dirty="0">
                <a:latin typeface="Arial"/>
                <a:cs typeface="Arial"/>
              </a:rPr>
              <a:t> </a:t>
            </a:r>
            <a:r>
              <a:rPr sz="900" i="1" spc="-35" dirty="0">
                <a:latin typeface="Arial"/>
                <a:cs typeface="Arial"/>
              </a:rPr>
              <a:t>m</a:t>
            </a:r>
            <a:r>
              <a:rPr sz="900" spc="-35" dirty="0">
                <a:latin typeface="Arial"/>
                <a:cs typeface="Arial"/>
              </a:rPr>
              <a:t>)</a:t>
            </a:r>
            <a:endParaRPr sz="900">
              <a:latin typeface="Arial"/>
              <a:cs typeface="Arial"/>
            </a:endParaRPr>
          </a:p>
          <a:p>
            <a:pPr marL="555625" marR="127000" indent="-120650">
              <a:lnSpc>
                <a:spcPct val="111600"/>
              </a:lnSpc>
              <a:spcBef>
                <a:spcPts val="400"/>
              </a:spcBef>
              <a:buClr>
                <a:srgbClr val="3333B2"/>
              </a:buClr>
              <a:buFont typeface="Menlo"/>
              <a:buChar char="•"/>
              <a:tabLst>
                <a:tab pos="550545" algn="l"/>
              </a:tabLst>
            </a:pPr>
            <a:r>
              <a:rPr sz="900" dirty="0">
                <a:latin typeface="Arial"/>
                <a:cs typeface="Arial"/>
              </a:rPr>
              <a:t>When</a:t>
            </a:r>
            <a:r>
              <a:rPr sz="900" spc="-10" dirty="0">
                <a:latin typeface="Arial"/>
                <a:cs typeface="Arial"/>
              </a:rPr>
              <a:t> </a:t>
            </a:r>
            <a:r>
              <a:rPr sz="900" dirty="0">
                <a:latin typeface="Arial"/>
                <a:cs typeface="Arial"/>
              </a:rPr>
              <a:t>process</a:t>
            </a:r>
            <a:r>
              <a:rPr sz="900" spc="-5" dirty="0">
                <a:latin typeface="Arial"/>
                <a:cs typeface="Arial"/>
              </a:rPr>
              <a:t> </a:t>
            </a:r>
            <a:r>
              <a:rPr sz="900" i="1" dirty="0">
                <a:latin typeface="Arial"/>
                <a:cs typeface="Arial"/>
              </a:rPr>
              <a:t>P</a:t>
            </a:r>
            <a:r>
              <a:rPr sz="1050" i="1" baseline="-15873" dirty="0">
                <a:latin typeface="Arial"/>
                <a:cs typeface="Arial"/>
              </a:rPr>
              <a:t>j</a:t>
            </a:r>
            <a:r>
              <a:rPr sz="1050" i="1" spc="240" baseline="-15873" dirty="0">
                <a:latin typeface="Arial"/>
                <a:cs typeface="Arial"/>
              </a:rPr>
              <a:t> </a:t>
            </a:r>
            <a:r>
              <a:rPr sz="900" spc="-10" dirty="0">
                <a:latin typeface="Arial"/>
                <a:cs typeface="Arial"/>
              </a:rPr>
              <a:t>receives </a:t>
            </a:r>
            <a:r>
              <a:rPr sz="900" dirty="0">
                <a:latin typeface="Arial"/>
                <a:cs typeface="Arial"/>
              </a:rPr>
              <a:t>a</a:t>
            </a:r>
            <a:r>
              <a:rPr sz="900" spc="-5" dirty="0">
                <a:latin typeface="Arial"/>
                <a:cs typeface="Arial"/>
              </a:rPr>
              <a:t> </a:t>
            </a:r>
            <a:r>
              <a:rPr sz="900" dirty="0">
                <a:latin typeface="Arial"/>
                <a:cs typeface="Arial"/>
              </a:rPr>
              <a:t>message</a:t>
            </a:r>
            <a:r>
              <a:rPr sz="900" spc="-5" dirty="0">
                <a:latin typeface="Arial"/>
                <a:cs typeface="Arial"/>
              </a:rPr>
              <a:t> </a:t>
            </a:r>
            <a:r>
              <a:rPr sz="900" dirty="0">
                <a:latin typeface="Arial"/>
                <a:cs typeface="Arial"/>
              </a:rPr>
              <a:t>in</a:t>
            </a:r>
            <a:r>
              <a:rPr sz="900" spc="-5" dirty="0">
                <a:latin typeface="Arial"/>
                <a:cs typeface="Arial"/>
              </a:rPr>
              <a:t> </a:t>
            </a:r>
            <a:r>
              <a:rPr sz="900" dirty="0">
                <a:latin typeface="Arial"/>
                <a:cs typeface="Arial"/>
              </a:rPr>
              <a:t>interval</a:t>
            </a:r>
            <a:r>
              <a:rPr sz="900" spc="-5" dirty="0">
                <a:latin typeface="Arial"/>
                <a:cs typeface="Arial"/>
              </a:rPr>
              <a:t> </a:t>
            </a:r>
            <a:r>
              <a:rPr sz="900" i="1" spc="-10" dirty="0">
                <a:latin typeface="Arial"/>
                <a:cs typeface="Arial"/>
              </a:rPr>
              <a:t>INT</a:t>
            </a:r>
            <a:r>
              <a:rPr sz="1050" i="1" spc="-15" baseline="-15873" dirty="0">
                <a:latin typeface="Arial"/>
                <a:cs typeface="Arial"/>
              </a:rPr>
              <a:t>j</a:t>
            </a:r>
            <a:r>
              <a:rPr sz="1050" i="1" spc="-127" baseline="-15873" dirty="0">
                <a:latin typeface="Arial"/>
                <a:cs typeface="Arial"/>
              </a:rPr>
              <a:t> </a:t>
            </a:r>
            <a:r>
              <a:rPr sz="900" dirty="0">
                <a:latin typeface="Arial"/>
                <a:cs typeface="Arial"/>
              </a:rPr>
              <a:t>(</a:t>
            </a:r>
            <a:r>
              <a:rPr sz="900" i="1" dirty="0">
                <a:latin typeface="Arial"/>
                <a:cs typeface="Arial"/>
              </a:rPr>
              <a:t>n</a:t>
            </a:r>
            <a:r>
              <a:rPr sz="900" dirty="0">
                <a:latin typeface="Arial"/>
                <a:cs typeface="Arial"/>
              </a:rPr>
              <a:t>),</a:t>
            </a:r>
            <a:r>
              <a:rPr sz="900" spc="-10" dirty="0">
                <a:latin typeface="Arial"/>
                <a:cs typeface="Arial"/>
              </a:rPr>
              <a:t> </a:t>
            </a:r>
            <a:r>
              <a:rPr sz="900" dirty="0">
                <a:latin typeface="Arial"/>
                <a:cs typeface="Arial"/>
              </a:rPr>
              <a:t>it</a:t>
            </a:r>
            <a:r>
              <a:rPr sz="900" spc="-5" dirty="0">
                <a:latin typeface="Arial"/>
                <a:cs typeface="Arial"/>
              </a:rPr>
              <a:t> </a:t>
            </a:r>
            <a:r>
              <a:rPr sz="900" dirty="0">
                <a:latin typeface="Arial"/>
                <a:cs typeface="Arial"/>
              </a:rPr>
              <a:t>records</a:t>
            </a:r>
            <a:r>
              <a:rPr sz="900" spc="-5" dirty="0">
                <a:latin typeface="Arial"/>
                <a:cs typeface="Arial"/>
              </a:rPr>
              <a:t> </a:t>
            </a:r>
            <a:r>
              <a:rPr sz="900" spc="-25" dirty="0">
                <a:latin typeface="Arial"/>
                <a:cs typeface="Arial"/>
              </a:rPr>
              <a:t>the </a:t>
            </a:r>
            <a:r>
              <a:rPr sz="900" dirty="0">
                <a:latin typeface="Arial"/>
                <a:cs typeface="Arial"/>
              </a:rPr>
              <a:t>dependency</a:t>
            </a:r>
            <a:r>
              <a:rPr sz="900" spc="25" dirty="0">
                <a:latin typeface="Arial"/>
                <a:cs typeface="Arial"/>
              </a:rPr>
              <a:t> </a:t>
            </a:r>
            <a:r>
              <a:rPr sz="900" i="1" spc="-10" dirty="0">
                <a:latin typeface="Arial"/>
                <a:cs typeface="Arial"/>
              </a:rPr>
              <a:t>INT</a:t>
            </a:r>
            <a:r>
              <a:rPr sz="1050" i="1" spc="-15" baseline="-15873" dirty="0">
                <a:latin typeface="Arial"/>
                <a:cs typeface="Arial"/>
              </a:rPr>
              <a:t>i</a:t>
            </a:r>
            <a:r>
              <a:rPr sz="1050" i="1" spc="-112" baseline="-15873" dirty="0">
                <a:latin typeface="Arial"/>
                <a:cs typeface="Arial"/>
              </a:rPr>
              <a:t> </a:t>
            </a:r>
            <a:r>
              <a:rPr sz="900" dirty="0">
                <a:latin typeface="Arial"/>
                <a:cs typeface="Arial"/>
              </a:rPr>
              <a:t>(</a:t>
            </a:r>
            <a:r>
              <a:rPr sz="900" i="1" dirty="0">
                <a:latin typeface="Arial"/>
                <a:cs typeface="Arial"/>
              </a:rPr>
              <a:t>m</a:t>
            </a:r>
            <a:r>
              <a:rPr sz="900" dirty="0">
                <a:latin typeface="Arial"/>
                <a:cs typeface="Arial"/>
              </a:rPr>
              <a:t>)</a:t>
            </a:r>
            <a:r>
              <a:rPr sz="900" spc="25" dirty="0">
                <a:latin typeface="Arial"/>
                <a:cs typeface="Arial"/>
              </a:rPr>
              <a:t> </a:t>
            </a:r>
            <a:r>
              <a:rPr sz="900" i="1" spc="350" dirty="0">
                <a:latin typeface="Menlo"/>
                <a:cs typeface="Menlo"/>
              </a:rPr>
              <a:t>→</a:t>
            </a:r>
            <a:r>
              <a:rPr sz="900" i="1" spc="-265" dirty="0">
                <a:latin typeface="Menlo"/>
                <a:cs typeface="Menlo"/>
              </a:rPr>
              <a:t> </a:t>
            </a:r>
            <a:r>
              <a:rPr sz="900" i="1" spc="-10" dirty="0">
                <a:latin typeface="Arial"/>
                <a:cs typeface="Arial"/>
              </a:rPr>
              <a:t>INT</a:t>
            </a:r>
            <a:r>
              <a:rPr sz="1050" i="1" spc="-15" baseline="-15873" dirty="0">
                <a:latin typeface="Arial"/>
                <a:cs typeface="Arial"/>
              </a:rPr>
              <a:t>j</a:t>
            </a:r>
            <a:r>
              <a:rPr sz="1050" i="1" spc="-104" baseline="-15873" dirty="0">
                <a:latin typeface="Arial"/>
                <a:cs typeface="Arial"/>
              </a:rPr>
              <a:t> </a:t>
            </a:r>
            <a:r>
              <a:rPr sz="900" spc="-20" dirty="0">
                <a:latin typeface="Arial"/>
                <a:cs typeface="Arial"/>
              </a:rPr>
              <a:t>(</a:t>
            </a:r>
            <a:r>
              <a:rPr sz="900" i="1" spc="-20" dirty="0">
                <a:latin typeface="Arial"/>
                <a:cs typeface="Arial"/>
              </a:rPr>
              <a:t>n</a:t>
            </a:r>
            <a:r>
              <a:rPr sz="900" spc="-20" dirty="0">
                <a:latin typeface="Arial"/>
                <a:cs typeface="Arial"/>
              </a:rPr>
              <a:t>).</a:t>
            </a:r>
            <a:endParaRPr sz="900">
              <a:latin typeface="Arial"/>
              <a:cs typeface="Arial"/>
            </a:endParaRPr>
          </a:p>
          <a:p>
            <a:pPr marL="555625" marR="225425" indent="-120650">
              <a:lnSpc>
                <a:spcPct val="111600"/>
              </a:lnSpc>
              <a:spcBef>
                <a:spcPts val="395"/>
              </a:spcBef>
              <a:buClr>
                <a:srgbClr val="3333B2"/>
              </a:buClr>
              <a:buFont typeface="Menlo"/>
              <a:buChar char="•"/>
              <a:tabLst>
                <a:tab pos="552450" algn="l"/>
              </a:tabLst>
            </a:pPr>
            <a:r>
              <a:rPr sz="900" dirty="0">
                <a:latin typeface="Arial"/>
                <a:cs typeface="Arial"/>
              </a:rPr>
              <a:t>The</a:t>
            </a:r>
            <a:r>
              <a:rPr sz="900" spc="5" dirty="0">
                <a:latin typeface="Arial"/>
                <a:cs typeface="Arial"/>
              </a:rPr>
              <a:t> </a:t>
            </a:r>
            <a:r>
              <a:rPr sz="900" dirty="0">
                <a:latin typeface="Arial"/>
                <a:cs typeface="Arial"/>
              </a:rPr>
              <a:t>dependency</a:t>
            </a:r>
            <a:r>
              <a:rPr sz="900" spc="5" dirty="0">
                <a:latin typeface="Arial"/>
                <a:cs typeface="Arial"/>
              </a:rPr>
              <a:t> </a:t>
            </a:r>
            <a:r>
              <a:rPr sz="900" i="1" spc="-10" dirty="0">
                <a:latin typeface="Arial"/>
                <a:cs typeface="Arial"/>
              </a:rPr>
              <a:t>INT</a:t>
            </a:r>
            <a:r>
              <a:rPr sz="1050" i="1" spc="-15" baseline="-15873" dirty="0">
                <a:latin typeface="Arial"/>
                <a:cs typeface="Arial"/>
              </a:rPr>
              <a:t>i</a:t>
            </a:r>
            <a:r>
              <a:rPr sz="1050" i="1" spc="-120" baseline="-15873" dirty="0">
                <a:latin typeface="Arial"/>
                <a:cs typeface="Arial"/>
              </a:rPr>
              <a:t> </a:t>
            </a:r>
            <a:r>
              <a:rPr sz="900" dirty="0">
                <a:latin typeface="Arial"/>
                <a:cs typeface="Arial"/>
              </a:rPr>
              <a:t>(</a:t>
            </a:r>
            <a:r>
              <a:rPr sz="900" i="1" dirty="0">
                <a:latin typeface="Arial"/>
                <a:cs typeface="Arial"/>
              </a:rPr>
              <a:t>m</a:t>
            </a:r>
            <a:r>
              <a:rPr sz="900" dirty="0">
                <a:latin typeface="Arial"/>
                <a:cs typeface="Arial"/>
              </a:rPr>
              <a:t>)</a:t>
            </a:r>
            <a:r>
              <a:rPr sz="900" spc="5" dirty="0">
                <a:latin typeface="Arial"/>
                <a:cs typeface="Arial"/>
              </a:rPr>
              <a:t> </a:t>
            </a:r>
            <a:r>
              <a:rPr sz="900" i="1" spc="350" dirty="0">
                <a:latin typeface="Menlo"/>
                <a:cs typeface="Menlo"/>
              </a:rPr>
              <a:t>→</a:t>
            </a:r>
            <a:r>
              <a:rPr sz="900" i="1" spc="-280" dirty="0">
                <a:latin typeface="Menlo"/>
                <a:cs typeface="Menlo"/>
              </a:rPr>
              <a:t> </a:t>
            </a:r>
            <a:r>
              <a:rPr sz="900" i="1" spc="-10" dirty="0">
                <a:latin typeface="Arial"/>
                <a:cs typeface="Arial"/>
              </a:rPr>
              <a:t>INT</a:t>
            </a:r>
            <a:r>
              <a:rPr sz="1050" i="1" spc="-15" baseline="-15873" dirty="0">
                <a:latin typeface="Arial"/>
                <a:cs typeface="Arial"/>
              </a:rPr>
              <a:t>j</a:t>
            </a:r>
            <a:r>
              <a:rPr sz="1050" i="1" spc="-120" baseline="-15873" dirty="0">
                <a:latin typeface="Arial"/>
                <a:cs typeface="Arial"/>
              </a:rPr>
              <a:t> </a:t>
            </a:r>
            <a:r>
              <a:rPr sz="900" dirty="0">
                <a:latin typeface="Arial"/>
                <a:cs typeface="Arial"/>
              </a:rPr>
              <a:t>(</a:t>
            </a:r>
            <a:r>
              <a:rPr sz="900" i="1" dirty="0">
                <a:latin typeface="Arial"/>
                <a:cs typeface="Arial"/>
              </a:rPr>
              <a:t>n</a:t>
            </a:r>
            <a:r>
              <a:rPr sz="900" dirty="0">
                <a:latin typeface="Arial"/>
                <a:cs typeface="Arial"/>
              </a:rPr>
              <a:t>)</a:t>
            </a:r>
            <a:r>
              <a:rPr sz="900" spc="5" dirty="0">
                <a:latin typeface="Arial"/>
                <a:cs typeface="Arial"/>
              </a:rPr>
              <a:t> </a:t>
            </a:r>
            <a:r>
              <a:rPr sz="900" dirty="0">
                <a:latin typeface="Arial"/>
                <a:cs typeface="Arial"/>
              </a:rPr>
              <a:t>is</a:t>
            </a:r>
            <a:r>
              <a:rPr sz="900" spc="5" dirty="0">
                <a:latin typeface="Arial"/>
                <a:cs typeface="Arial"/>
              </a:rPr>
              <a:t> </a:t>
            </a:r>
            <a:r>
              <a:rPr sz="900" spc="-10" dirty="0">
                <a:latin typeface="Arial"/>
                <a:cs typeface="Arial"/>
              </a:rPr>
              <a:t>saved</a:t>
            </a:r>
            <a:r>
              <a:rPr sz="900" spc="10" dirty="0">
                <a:latin typeface="Arial"/>
                <a:cs typeface="Arial"/>
              </a:rPr>
              <a:t> </a:t>
            </a:r>
            <a:r>
              <a:rPr sz="900" dirty="0">
                <a:latin typeface="Arial"/>
                <a:cs typeface="Arial"/>
              </a:rPr>
              <a:t>to</a:t>
            </a:r>
            <a:r>
              <a:rPr sz="900" spc="5" dirty="0">
                <a:latin typeface="Arial"/>
                <a:cs typeface="Arial"/>
              </a:rPr>
              <a:t> </a:t>
            </a:r>
            <a:r>
              <a:rPr sz="900" dirty="0">
                <a:latin typeface="Arial"/>
                <a:cs typeface="Arial"/>
              </a:rPr>
              <a:t>storage</a:t>
            </a:r>
            <a:r>
              <a:rPr sz="900" spc="5" dirty="0">
                <a:latin typeface="Arial"/>
                <a:cs typeface="Arial"/>
              </a:rPr>
              <a:t> </a:t>
            </a:r>
            <a:r>
              <a:rPr sz="900" dirty="0">
                <a:latin typeface="Arial"/>
                <a:cs typeface="Arial"/>
              </a:rPr>
              <a:t>when</a:t>
            </a:r>
            <a:r>
              <a:rPr sz="900" spc="10" dirty="0">
                <a:latin typeface="Arial"/>
                <a:cs typeface="Arial"/>
              </a:rPr>
              <a:t> </a:t>
            </a:r>
            <a:r>
              <a:rPr sz="900" spc="-10" dirty="0">
                <a:latin typeface="Arial"/>
                <a:cs typeface="Arial"/>
              </a:rPr>
              <a:t>taking checkpoint</a:t>
            </a:r>
            <a:r>
              <a:rPr sz="900" spc="30" dirty="0">
                <a:latin typeface="Arial"/>
                <a:cs typeface="Arial"/>
              </a:rPr>
              <a:t> </a:t>
            </a:r>
            <a:r>
              <a:rPr sz="900" i="1" spc="-10" dirty="0">
                <a:latin typeface="Arial"/>
                <a:cs typeface="Arial"/>
              </a:rPr>
              <a:t>CP</a:t>
            </a:r>
            <a:r>
              <a:rPr sz="1050" i="1" spc="-15" baseline="-15873" dirty="0">
                <a:latin typeface="Arial"/>
                <a:cs typeface="Arial"/>
              </a:rPr>
              <a:t>j</a:t>
            </a:r>
            <a:r>
              <a:rPr sz="1050" i="1" spc="-104" baseline="-15873" dirty="0">
                <a:latin typeface="Arial"/>
                <a:cs typeface="Arial"/>
              </a:rPr>
              <a:t> </a:t>
            </a:r>
            <a:r>
              <a:rPr sz="900" spc="-20" dirty="0">
                <a:latin typeface="Arial"/>
                <a:cs typeface="Arial"/>
              </a:rPr>
              <a:t>(</a:t>
            </a:r>
            <a:r>
              <a:rPr sz="900" i="1" spc="-20" dirty="0">
                <a:latin typeface="Arial"/>
                <a:cs typeface="Arial"/>
              </a:rPr>
              <a:t>n</a:t>
            </a:r>
            <a:r>
              <a:rPr sz="900" spc="-20" dirty="0">
                <a:latin typeface="Arial"/>
                <a:cs typeface="Arial"/>
              </a:rPr>
              <a:t>).</a:t>
            </a:r>
            <a:endParaRPr sz="900">
              <a:latin typeface="Arial"/>
              <a:cs typeface="Arial"/>
            </a:endParaRPr>
          </a:p>
          <a:p>
            <a:pPr>
              <a:lnSpc>
                <a:spcPct val="100000"/>
              </a:lnSpc>
            </a:pPr>
            <a:endParaRPr sz="1350">
              <a:latin typeface="Arial"/>
              <a:cs typeface="Arial"/>
            </a:endParaRPr>
          </a:p>
          <a:p>
            <a:pPr marL="302260">
              <a:lnSpc>
                <a:spcPct val="100000"/>
              </a:lnSpc>
            </a:pPr>
            <a:r>
              <a:rPr sz="1000" spc="-10" dirty="0">
                <a:solidFill>
                  <a:srgbClr val="3333B2"/>
                </a:solidFill>
                <a:latin typeface="Arial"/>
                <a:cs typeface="Arial"/>
              </a:rPr>
              <a:t>Observation</a:t>
            </a:r>
            <a:endParaRPr sz="1000">
              <a:latin typeface="Arial"/>
              <a:cs typeface="Arial"/>
            </a:endParaRPr>
          </a:p>
          <a:p>
            <a:pPr marL="302260">
              <a:lnSpc>
                <a:spcPct val="100000"/>
              </a:lnSpc>
              <a:spcBef>
                <a:spcPts val="105"/>
              </a:spcBef>
            </a:pPr>
            <a:r>
              <a:rPr sz="900" dirty="0">
                <a:latin typeface="Arial"/>
                <a:cs typeface="Arial"/>
              </a:rPr>
              <a:t>If</a:t>
            </a:r>
            <a:r>
              <a:rPr sz="900" spc="-15" dirty="0">
                <a:latin typeface="Arial"/>
                <a:cs typeface="Arial"/>
              </a:rPr>
              <a:t> </a:t>
            </a:r>
            <a:r>
              <a:rPr sz="900" dirty="0">
                <a:latin typeface="Arial"/>
                <a:cs typeface="Arial"/>
              </a:rPr>
              <a:t>process</a:t>
            </a:r>
            <a:r>
              <a:rPr sz="900" spc="-5" dirty="0">
                <a:latin typeface="Arial"/>
                <a:cs typeface="Arial"/>
              </a:rPr>
              <a:t> </a:t>
            </a:r>
            <a:r>
              <a:rPr sz="900" i="1" dirty="0">
                <a:latin typeface="Arial"/>
                <a:cs typeface="Arial"/>
              </a:rPr>
              <a:t>P</a:t>
            </a:r>
            <a:r>
              <a:rPr sz="1050" i="1" baseline="-15873" dirty="0">
                <a:latin typeface="Arial"/>
                <a:cs typeface="Arial"/>
              </a:rPr>
              <a:t>i</a:t>
            </a:r>
            <a:r>
              <a:rPr sz="1050" i="1" spc="240" baseline="-15873" dirty="0">
                <a:latin typeface="Arial"/>
                <a:cs typeface="Arial"/>
              </a:rPr>
              <a:t> </a:t>
            </a:r>
            <a:r>
              <a:rPr sz="900" dirty="0">
                <a:latin typeface="Arial"/>
                <a:cs typeface="Arial"/>
              </a:rPr>
              <a:t>rolls</a:t>
            </a:r>
            <a:r>
              <a:rPr sz="900" spc="-10" dirty="0">
                <a:latin typeface="Arial"/>
                <a:cs typeface="Arial"/>
              </a:rPr>
              <a:t> </a:t>
            </a:r>
            <a:r>
              <a:rPr sz="900" dirty="0">
                <a:latin typeface="Arial"/>
                <a:cs typeface="Arial"/>
              </a:rPr>
              <a:t>back</a:t>
            </a:r>
            <a:r>
              <a:rPr sz="900" spc="-5" dirty="0">
                <a:latin typeface="Arial"/>
                <a:cs typeface="Arial"/>
              </a:rPr>
              <a:t> </a:t>
            </a:r>
            <a:r>
              <a:rPr sz="900" dirty="0">
                <a:latin typeface="Arial"/>
                <a:cs typeface="Arial"/>
              </a:rPr>
              <a:t>to</a:t>
            </a:r>
            <a:r>
              <a:rPr sz="900" spc="-5" dirty="0">
                <a:latin typeface="Arial"/>
                <a:cs typeface="Arial"/>
              </a:rPr>
              <a:t> </a:t>
            </a:r>
            <a:r>
              <a:rPr sz="900" i="1" spc="-10" dirty="0">
                <a:latin typeface="Arial"/>
                <a:cs typeface="Arial"/>
              </a:rPr>
              <a:t>CP</a:t>
            </a:r>
            <a:r>
              <a:rPr sz="1050" i="1" spc="-15" baseline="-15873" dirty="0">
                <a:latin typeface="Arial"/>
                <a:cs typeface="Arial"/>
              </a:rPr>
              <a:t>i</a:t>
            </a:r>
            <a:r>
              <a:rPr sz="1050" i="1" spc="-127" baseline="-15873" dirty="0">
                <a:latin typeface="Arial"/>
                <a:cs typeface="Arial"/>
              </a:rPr>
              <a:t> </a:t>
            </a:r>
            <a:r>
              <a:rPr sz="900" dirty="0">
                <a:latin typeface="Arial"/>
                <a:cs typeface="Arial"/>
              </a:rPr>
              <a:t>(</a:t>
            </a:r>
            <a:r>
              <a:rPr sz="900" i="1" dirty="0">
                <a:latin typeface="Arial"/>
                <a:cs typeface="Arial"/>
              </a:rPr>
              <a:t>m</a:t>
            </a:r>
            <a:r>
              <a:rPr sz="900" i="1" spc="-110" dirty="0">
                <a:latin typeface="Arial"/>
                <a:cs typeface="Arial"/>
              </a:rPr>
              <a:t> </a:t>
            </a:r>
            <a:r>
              <a:rPr sz="900" i="1" spc="150" dirty="0">
                <a:latin typeface="Menlo"/>
                <a:cs typeface="Menlo"/>
              </a:rPr>
              <a:t>−</a:t>
            </a:r>
            <a:r>
              <a:rPr sz="900" i="1" spc="-420" dirty="0">
                <a:latin typeface="Menlo"/>
                <a:cs typeface="Menlo"/>
              </a:rPr>
              <a:t> </a:t>
            </a:r>
            <a:r>
              <a:rPr sz="900" dirty="0">
                <a:latin typeface="Arial"/>
                <a:cs typeface="Arial"/>
              </a:rPr>
              <a:t>1),</a:t>
            </a:r>
            <a:r>
              <a:rPr sz="900" spc="-5" dirty="0">
                <a:latin typeface="Arial"/>
                <a:cs typeface="Arial"/>
              </a:rPr>
              <a:t> </a:t>
            </a:r>
            <a:r>
              <a:rPr sz="900" i="1" dirty="0">
                <a:latin typeface="Arial"/>
                <a:cs typeface="Arial"/>
              </a:rPr>
              <a:t>P</a:t>
            </a:r>
            <a:r>
              <a:rPr sz="1050" i="1" baseline="-15873" dirty="0">
                <a:latin typeface="Arial"/>
                <a:cs typeface="Arial"/>
              </a:rPr>
              <a:t>j</a:t>
            </a:r>
            <a:r>
              <a:rPr sz="1050" i="1" spc="232" baseline="-15873" dirty="0">
                <a:latin typeface="Arial"/>
                <a:cs typeface="Arial"/>
              </a:rPr>
              <a:t> </a:t>
            </a:r>
            <a:r>
              <a:rPr sz="900" dirty="0">
                <a:latin typeface="Arial"/>
                <a:cs typeface="Arial"/>
              </a:rPr>
              <a:t>must</a:t>
            </a:r>
            <a:r>
              <a:rPr sz="900" spc="-5" dirty="0">
                <a:latin typeface="Arial"/>
                <a:cs typeface="Arial"/>
              </a:rPr>
              <a:t> </a:t>
            </a:r>
            <a:r>
              <a:rPr sz="900" dirty="0">
                <a:latin typeface="Arial"/>
                <a:cs typeface="Arial"/>
              </a:rPr>
              <a:t>roll</a:t>
            </a:r>
            <a:r>
              <a:rPr sz="900" spc="-5" dirty="0">
                <a:latin typeface="Arial"/>
                <a:cs typeface="Arial"/>
              </a:rPr>
              <a:t> </a:t>
            </a:r>
            <a:r>
              <a:rPr sz="900" dirty="0">
                <a:latin typeface="Arial"/>
                <a:cs typeface="Arial"/>
              </a:rPr>
              <a:t>back</a:t>
            </a:r>
            <a:r>
              <a:rPr sz="900" spc="-10" dirty="0">
                <a:latin typeface="Arial"/>
                <a:cs typeface="Arial"/>
              </a:rPr>
              <a:t> </a:t>
            </a:r>
            <a:r>
              <a:rPr sz="900" dirty="0">
                <a:latin typeface="Arial"/>
                <a:cs typeface="Arial"/>
              </a:rPr>
              <a:t>to</a:t>
            </a:r>
            <a:r>
              <a:rPr sz="900" spc="-5" dirty="0">
                <a:latin typeface="Arial"/>
                <a:cs typeface="Arial"/>
              </a:rPr>
              <a:t> </a:t>
            </a:r>
            <a:r>
              <a:rPr sz="900" i="1" spc="-10" dirty="0">
                <a:latin typeface="Arial"/>
                <a:cs typeface="Arial"/>
              </a:rPr>
              <a:t>CP</a:t>
            </a:r>
            <a:r>
              <a:rPr sz="1050" i="1" spc="-15" baseline="-15873" dirty="0">
                <a:latin typeface="Arial"/>
                <a:cs typeface="Arial"/>
              </a:rPr>
              <a:t>j</a:t>
            </a:r>
            <a:r>
              <a:rPr sz="1050" i="1" spc="-127" baseline="-15873" dirty="0">
                <a:latin typeface="Arial"/>
                <a:cs typeface="Arial"/>
              </a:rPr>
              <a:t> </a:t>
            </a:r>
            <a:r>
              <a:rPr sz="900" dirty="0">
                <a:latin typeface="Arial"/>
                <a:cs typeface="Arial"/>
              </a:rPr>
              <a:t>(</a:t>
            </a:r>
            <a:r>
              <a:rPr sz="900" i="1" dirty="0">
                <a:latin typeface="Arial"/>
                <a:cs typeface="Arial"/>
              </a:rPr>
              <a:t>n</a:t>
            </a:r>
            <a:r>
              <a:rPr sz="900" i="1" spc="-114" dirty="0">
                <a:latin typeface="Arial"/>
                <a:cs typeface="Arial"/>
              </a:rPr>
              <a:t> </a:t>
            </a:r>
            <a:r>
              <a:rPr sz="900" i="1" spc="150" dirty="0">
                <a:latin typeface="Menlo"/>
                <a:cs typeface="Menlo"/>
              </a:rPr>
              <a:t>−</a:t>
            </a:r>
            <a:r>
              <a:rPr sz="900" i="1" spc="-420" dirty="0">
                <a:latin typeface="Menlo"/>
                <a:cs typeface="Menlo"/>
              </a:rPr>
              <a:t> </a:t>
            </a:r>
            <a:r>
              <a:rPr sz="900" spc="-25" dirty="0">
                <a:latin typeface="Arial"/>
                <a:cs typeface="Arial"/>
              </a:rPr>
              <a:t>1).</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42545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Checkpointing</a:t>
            </a:r>
            <a:endParaRPr sz="500">
              <a:latin typeface="Arial"/>
              <a:cs typeface="Arial"/>
            </a:endParaRPr>
          </a:p>
        </p:txBody>
      </p:sp>
    </p:spTree>
  </p:cSld>
  <p:clrMapOvr>
    <a:masterClrMapping/>
  </p:clrMapOvr>
  <p:transition>
    <p:fad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262602" y="-1515"/>
            <a:ext cx="29210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Recovery</a:t>
            </a:r>
            <a:endParaRPr sz="500">
              <a:latin typeface="Arial"/>
              <a:cs typeface="Arial"/>
            </a:endParaRPr>
          </a:p>
        </p:txBody>
      </p:sp>
      <p:sp>
        <p:nvSpPr>
          <p:cNvPr id="5" name="object 5"/>
          <p:cNvSpPr txBox="1"/>
          <p:nvPr/>
        </p:nvSpPr>
        <p:spPr>
          <a:xfrm>
            <a:off x="57200" y="197711"/>
            <a:ext cx="4249420" cy="2656205"/>
          </a:xfrm>
          <a:prstGeom prst="rect">
            <a:avLst/>
          </a:prstGeom>
        </p:spPr>
        <p:txBody>
          <a:bodyPr vert="horz" wrap="square" lIns="0" tIns="12065" rIns="0" bIns="0" rtlCol="0">
            <a:spAutoFit/>
          </a:bodyPr>
          <a:lstStyle/>
          <a:p>
            <a:pPr marL="50800">
              <a:lnSpc>
                <a:spcPct val="100000"/>
              </a:lnSpc>
              <a:spcBef>
                <a:spcPts val="95"/>
              </a:spcBef>
            </a:pPr>
            <a:r>
              <a:rPr sz="1200" dirty="0">
                <a:solidFill>
                  <a:srgbClr val="3333B2"/>
                </a:solidFill>
                <a:latin typeface="Arial"/>
                <a:cs typeface="Arial"/>
              </a:rPr>
              <a:t>Message</a:t>
            </a:r>
            <a:r>
              <a:rPr sz="1200" spc="-55" dirty="0">
                <a:solidFill>
                  <a:srgbClr val="3333B2"/>
                </a:solidFill>
                <a:latin typeface="Arial"/>
                <a:cs typeface="Arial"/>
              </a:rPr>
              <a:t> </a:t>
            </a:r>
            <a:r>
              <a:rPr sz="1200" spc="-10" dirty="0">
                <a:solidFill>
                  <a:srgbClr val="3333B2"/>
                </a:solidFill>
                <a:latin typeface="Arial"/>
                <a:cs typeface="Arial"/>
              </a:rPr>
              <a:t>logging</a:t>
            </a:r>
            <a:endParaRPr sz="1200">
              <a:latin typeface="Arial"/>
              <a:cs typeface="Arial"/>
            </a:endParaRPr>
          </a:p>
          <a:p>
            <a:pPr marL="298450">
              <a:lnSpc>
                <a:spcPct val="100000"/>
              </a:lnSpc>
              <a:spcBef>
                <a:spcPts val="1055"/>
              </a:spcBef>
            </a:pPr>
            <a:r>
              <a:rPr sz="1000" spc="-10" dirty="0">
                <a:solidFill>
                  <a:srgbClr val="C80000"/>
                </a:solidFill>
                <a:latin typeface="Arial"/>
                <a:cs typeface="Arial"/>
              </a:rPr>
              <a:t>Alternative</a:t>
            </a:r>
            <a:endParaRPr sz="1000">
              <a:latin typeface="Arial"/>
              <a:cs typeface="Arial"/>
            </a:endParaRPr>
          </a:p>
          <a:p>
            <a:pPr marL="302260" marR="43180">
              <a:lnSpc>
                <a:spcPts val="1210"/>
              </a:lnSpc>
              <a:spcBef>
                <a:spcPts val="40"/>
              </a:spcBef>
            </a:pPr>
            <a:r>
              <a:rPr sz="900" spc="-10" dirty="0">
                <a:latin typeface="Arial"/>
                <a:cs typeface="Arial"/>
              </a:rPr>
              <a:t>Instead</a:t>
            </a:r>
            <a:r>
              <a:rPr sz="900" spc="-30" dirty="0">
                <a:latin typeface="Arial"/>
                <a:cs typeface="Arial"/>
              </a:rPr>
              <a:t> </a:t>
            </a:r>
            <a:r>
              <a:rPr sz="900" dirty="0">
                <a:latin typeface="Arial"/>
                <a:cs typeface="Arial"/>
              </a:rPr>
              <a:t>of</a:t>
            </a:r>
            <a:r>
              <a:rPr sz="900" spc="-25" dirty="0">
                <a:latin typeface="Arial"/>
                <a:cs typeface="Arial"/>
              </a:rPr>
              <a:t> </a:t>
            </a:r>
            <a:r>
              <a:rPr sz="900" spc="-10" dirty="0">
                <a:latin typeface="Arial"/>
                <a:cs typeface="Arial"/>
              </a:rPr>
              <a:t>taking</a:t>
            </a:r>
            <a:r>
              <a:rPr sz="900" spc="-25" dirty="0">
                <a:latin typeface="Arial"/>
                <a:cs typeface="Arial"/>
              </a:rPr>
              <a:t> </a:t>
            </a:r>
            <a:r>
              <a:rPr sz="900" dirty="0">
                <a:latin typeface="Arial"/>
                <a:cs typeface="Arial"/>
              </a:rPr>
              <a:t>an</a:t>
            </a:r>
            <a:r>
              <a:rPr sz="900" spc="-30" dirty="0">
                <a:latin typeface="Arial"/>
                <a:cs typeface="Arial"/>
              </a:rPr>
              <a:t> </a:t>
            </a:r>
            <a:r>
              <a:rPr sz="900" spc="-20" dirty="0">
                <a:latin typeface="Arial"/>
                <a:cs typeface="Arial"/>
              </a:rPr>
              <a:t>(expensive)</a:t>
            </a:r>
            <a:r>
              <a:rPr sz="900" spc="-25" dirty="0">
                <a:latin typeface="Arial"/>
                <a:cs typeface="Arial"/>
              </a:rPr>
              <a:t> </a:t>
            </a:r>
            <a:r>
              <a:rPr sz="900" spc="-10" dirty="0">
                <a:latin typeface="Arial"/>
                <a:cs typeface="Arial"/>
              </a:rPr>
              <a:t>checkpoint,</a:t>
            </a:r>
            <a:r>
              <a:rPr sz="900" spc="-25" dirty="0">
                <a:latin typeface="Arial"/>
                <a:cs typeface="Arial"/>
              </a:rPr>
              <a:t> </a:t>
            </a:r>
            <a:r>
              <a:rPr sz="900" dirty="0">
                <a:latin typeface="Arial"/>
                <a:cs typeface="Arial"/>
              </a:rPr>
              <a:t>try</a:t>
            </a:r>
            <a:r>
              <a:rPr sz="900" spc="-25" dirty="0">
                <a:latin typeface="Arial"/>
                <a:cs typeface="Arial"/>
              </a:rPr>
              <a:t> </a:t>
            </a:r>
            <a:r>
              <a:rPr sz="900" dirty="0">
                <a:latin typeface="Arial"/>
                <a:cs typeface="Arial"/>
              </a:rPr>
              <a:t>to</a:t>
            </a:r>
            <a:r>
              <a:rPr sz="900" spc="-30" dirty="0">
                <a:latin typeface="Arial"/>
                <a:cs typeface="Arial"/>
              </a:rPr>
              <a:t> </a:t>
            </a:r>
            <a:r>
              <a:rPr sz="900" spc="-10" dirty="0">
                <a:solidFill>
                  <a:srgbClr val="3333B2"/>
                </a:solidFill>
                <a:latin typeface="Arial"/>
                <a:cs typeface="Arial"/>
              </a:rPr>
              <a:t>replay</a:t>
            </a:r>
            <a:r>
              <a:rPr sz="900" spc="-25" dirty="0">
                <a:solidFill>
                  <a:srgbClr val="3333B2"/>
                </a:solidFill>
                <a:latin typeface="Arial"/>
                <a:cs typeface="Arial"/>
              </a:rPr>
              <a:t> </a:t>
            </a:r>
            <a:r>
              <a:rPr sz="900" spc="-10" dirty="0">
                <a:latin typeface="Arial"/>
                <a:cs typeface="Arial"/>
              </a:rPr>
              <a:t>your</a:t>
            </a:r>
            <a:r>
              <a:rPr sz="900" spc="-25" dirty="0">
                <a:latin typeface="Arial"/>
                <a:cs typeface="Arial"/>
              </a:rPr>
              <a:t> </a:t>
            </a:r>
            <a:r>
              <a:rPr sz="900" spc="-10" dirty="0">
                <a:latin typeface="Arial"/>
                <a:cs typeface="Arial"/>
              </a:rPr>
              <a:t>(communication) </a:t>
            </a:r>
            <a:r>
              <a:rPr sz="900" dirty="0">
                <a:latin typeface="Arial"/>
                <a:cs typeface="Arial"/>
              </a:rPr>
              <a:t>behavior</a:t>
            </a:r>
            <a:r>
              <a:rPr sz="900" spc="-35" dirty="0">
                <a:latin typeface="Arial"/>
                <a:cs typeface="Arial"/>
              </a:rPr>
              <a:t> </a:t>
            </a:r>
            <a:r>
              <a:rPr sz="900" dirty="0">
                <a:latin typeface="Arial"/>
                <a:cs typeface="Arial"/>
              </a:rPr>
              <a:t>from</a:t>
            </a:r>
            <a:r>
              <a:rPr sz="900" spc="-20"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most</a:t>
            </a:r>
            <a:r>
              <a:rPr sz="900" spc="-20" dirty="0">
                <a:latin typeface="Arial"/>
                <a:cs typeface="Arial"/>
              </a:rPr>
              <a:t> </a:t>
            </a:r>
            <a:r>
              <a:rPr sz="900" dirty="0">
                <a:latin typeface="Arial"/>
                <a:cs typeface="Arial"/>
              </a:rPr>
              <a:t>recent</a:t>
            </a:r>
            <a:r>
              <a:rPr sz="900" spc="-20" dirty="0">
                <a:latin typeface="Arial"/>
                <a:cs typeface="Arial"/>
              </a:rPr>
              <a:t> </a:t>
            </a:r>
            <a:r>
              <a:rPr sz="900" spc="-10" dirty="0">
                <a:latin typeface="Arial"/>
                <a:cs typeface="Arial"/>
              </a:rPr>
              <a:t>checkpoint</a:t>
            </a:r>
            <a:r>
              <a:rPr sz="900" spc="-20" dirty="0">
                <a:latin typeface="Arial"/>
                <a:cs typeface="Arial"/>
              </a:rPr>
              <a:t> </a:t>
            </a:r>
            <a:r>
              <a:rPr sz="900" i="1" spc="350" dirty="0">
                <a:latin typeface="Menlo"/>
                <a:cs typeface="Menlo"/>
              </a:rPr>
              <a:t>⇒</a:t>
            </a:r>
            <a:r>
              <a:rPr sz="900" i="1" spc="-295" dirty="0">
                <a:latin typeface="Menlo"/>
                <a:cs typeface="Menlo"/>
              </a:rPr>
              <a:t> </a:t>
            </a:r>
            <a:r>
              <a:rPr sz="900" dirty="0">
                <a:latin typeface="Arial"/>
                <a:cs typeface="Arial"/>
              </a:rPr>
              <a:t>store</a:t>
            </a:r>
            <a:r>
              <a:rPr sz="900" spc="-20" dirty="0">
                <a:latin typeface="Arial"/>
                <a:cs typeface="Arial"/>
              </a:rPr>
              <a:t> </a:t>
            </a:r>
            <a:r>
              <a:rPr sz="900" dirty="0">
                <a:latin typeface="Arial"/>
                <a:cs typeface="Arial"/>
              </a:rPr>
              <a:t>messages</a:t>
            </a:r>
            <a:r>
              <a:rPr sz="900" spc="-20" dirty="0">
                <a:latin typeface="Arial"/>
                <a:cs typeface="Arial"/>
              </a:rPr>
              <a:t> </a:t>
            </a:r>
            <a:r>
              <a:rPr sz="900" dirty="0">
                <a:latin typeface="Arial"/>
                <a:cs typeface="Arial"/>
              </a:rPr>
              <a:t>in</a:t>
            </a:r>
            <a:r>
              <a:rPr sz="900" spc="-20" dirty="0">
                <a:latin typeface="Arial"/>
                <a:cs typeface="Arial"/>
              </a:rPr>
              <a:t> </a:t>
            </a:r>
            <a:r>
              <a:rPr sz="900" dirty="0">
                <a:latin typeface="Arial"/>
                <a:cs typeface="Arial"/>
              </a:rPr>
              <a:t>a</a:t>
            </a:r>
            <a:r>
              <a:rPr sz="900" spc="-20" dirty="0">
                <a:latin typeface="Arial"/>
                <a:cs typeface="Arial"/>
              </a:rPr>
              <a:t> log.</a:t>
            </a:r>
            <a:endParaRPr sz="900">
              <a:latin typeface="Arial"/>
              <a:cs typeface="Arial"/>
            </a:endParaRPr>
          </a:p>
          <a:p>
            <a:pPr marL="298450">
              <a:lnSpc>
                <a:spcPct val="100000"/>
              </a:lnSpc>
              <a:spcBef>
                <a:spcPts val="745"/>
              </a:spcBef>
            </a:pPr>
            <a:r>
              <a:rPr sz="1000" spc="-10" dirty="0">
                <a:solidFill>
                  <a:srgbClr val="3333B2"/>
                </a:solidFill>
                <a:latin typeface="Arial"/>
                <a:cs typeface="Arial"/>
              </a:rPr>
              <a:t>Assumption</a:t>
            </a:r>
            <a:endParaRPr sz="1000">
              <a:latin typeface="Arial"/>
              <a:cs typeface="Arial"/>
            </a:endParaRPr>
          </a:p>
          <a:p>
            <a:pPr marL="297180">
              <a:lnSpc>
                <a:spcPct val="100000"/>
              </a:lnSpc>
              <a:spcBef>
                <a:spcPts val="295"/>
              </a:spcBef>
            </a:pPr>
            <a:r>
              <a:rPr sz="900" dirty="0">
                <a:latin typeface="Arial"/>
                <a:cs typeface="Arial"/>
              </a:rPr>
              <a:t>We</a:t>
            </a:r>
            <a:r>
              <a:rPr sz="900" spc="-20" dirty="0">
                <a:latin typeface="Arial"/>
                <a:cs typeface="Arial"/>
              </a:rPr>
              <a:t> </a:t>
            </a:r>
            <a:r>
              <a:rPr sz="900" dirty="0">
                <a:latin typeface="Arial"/>
                <a:cs typeface="Arial"/>
              </a:rPr>
              <a:t>assume</a:t>
            </a:r>
            <a:r>
              <a:rPr sz="900" spc="-20" dirty="0">
                <a:latin typeface="Arial"/>
                <a:cs typeface="Arial"/>
              </a:rPr>
              <a:t> </a:t>
            </a:r>
            <a:r>
              <a:rPr sz="900" dirty="0">
                <a:latin typeface="Arial"/>
                <a:cs typeface="Arial"/>
              </a:rPr>
              <a:t>a</a:t>
            </a:r>
            <a:r>
              <a:rPr sz="900" spc="-20" dirty="0">
                <a:latin typeface="Arial"/>
                <a:cs typeface="Arial"/>
              </a:rPr>
              <a:t> </a:t>
            </a:r>
            <a:r>
              <a:rPr sz="900" spc="-10" dirty="0">
                <a:solidFill>
                  <a:srgbClr val="C80000"/>
                </a:solidFill>
                <a:latin typeface="Arial"/>
                <a:cs typeface="Arial"/>
              </a:rPr>
              <a:t>piecewise</a:t>
            </a:r>
            <a:r>
              <a:rPr sz="900" spc="-20" dirty="0">
                <a:solidFill>
                  <a:srgbClr val="C80000"/>
                </a:solidFill>
                <a:latin typeface="Arial"/>
                <a:cs typeface="Arial"/>
              </a:rPr>
              <a:t> </a:t>
            </a:r>
            <a:r>
              <a:rPr sz="900" dirty="0">
                <a:solidFill>
                  <a:srgbClr val="C80000"/>
                </a:solidFill>
                <a:latin typeface="Arial"/>
                <a:cs typeface="Arial"/>
              </a:rPr>
              <a:t>deterministic</a:t>
            </a:r>
            <a:r>
              <a:rPr sz="900" spc="-20" dirty="0">
                <a:solidFill>
                  <a:srgbClr val="C80000"/>
                </a:solidFill>
                <a:latin typeface="Arial"/>
                <a:cs typeface="Arial"/>
              </a:rPr>
              <a:t> </a:t>
            </a:r>
            <a:r>
              <a:rPr sz="900" spc="-10" dirty="0">
                <a:latin typeface="Arial"/>
                <a:cs typeface="Arial"/>
              </a:rPr>
              <a:t>execution</a:t>
            </a:r>
            <a:r>
              <a:rPr sz="900" spc="-20" dirty="0">
                <a:latin typeface="Arial"/>
                <a:cs typeface="Arial"/>
              </a:rPr>
              <a:t> </a:t>
            </a:r>
            <a:r>
              <a:rPr sz="900" spc="-10" dirty="0">
                <a:latin typeface="Arial"/>
                <a:cs typeface="Arial"/>
              </a:rPr>
              <a:t>model:</a:t>
            </a:r>
            <a:endParaRPr sz="900">
              <a:latin typeface="Arial"/>
              <a:cs typeface="Arial"/>
            </a:endParaRPr>
          </a:p>
          <a:p>
            <a:pPr marL="555625" marR="52069" indent="-120650">
              <a:lnSpc>
                <a:spcPct val="111600"/>
              </a:lnSpc>
              <a:spcBef>
                <a:spcPts val="400"/>
              </a:spcBef>
              <a:buClr>
                <a:srgbClr val="3333B2"/>
              </a:buClr>
              <a:buFont typeface="Menlo"/>
              <a:buChar char="•"/>
              <a:tabLst>
                <a:tab pos="552450" algn="l"/>
              </a:tabLst>
            </a:pPr>
            <a:r>
              <a:rPr sz="900" dirty="0">
                <a:latin typeface="Arial"/>
                <a:cs typeface="Arial"/>
              </a:rPr>
              <a:t>The</a:t>
            </a:r>
            <a:r>
              <a:rPr sz="900" spc="-25" dirty="0">
                <a:latin typeface="Arial"/>
                <a:cs typeface="Arial"/>
              </a:rPr>
              <a:t> </a:t>
            </a:r>
            <a:r>
              <a:rPr sz="900" spc="-10" dirty="0">
                <a:latin typeface="Arial"/>
                <a:cs typeface="Arial"/>
              </a:rPr>
              <a:t>execution</a:t>
            </a:r>
            <a:r>
              <a:rPr sz="900" spc="-20"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each</a:t>
            </a:r>
            <a:r>
              <a:rPr sz="900" spc="-20" dirty="0">
                <a:latin typeface="Arial"/>
                <a:cs typeface="Arial"/>
              </a:rPr>
              <a:t> </a:t>
            </a:r>
            <a:r>
              <a:rPr sz="900" spc="-10" dirty="0">
                <a:latin typeface="Arial"/>
                <a:cs typeface="Arial"/>
              </a:rPr>
              <a:t>process</a:t>
            </a:r>
            <a:r>
              <a:rPr sz="900" spc="-25" dirty="0">
                <a:latin typeface="Arial"/>
                <a:cs typeface="Arial"/>
              </a:rPr>
              <a:t> </a:t>
            </a:r>
            <a:r>
              <a:rPr sz="900" dirty="0">
                <a:latin typeface="Arial"/>
                <a:cs typeface="Arial"/>
              </a:rPr>
              <a:t>can</a:t>
            </a:r>
            <a:r>
              <a:rPr sz="900" spc="-20" dirty="0">
                <a:latin typeface="Arial"/>
                <a:cs typeface="Arial"/>
              </a:rPr>
              <a:t> </a:t>
            </a:r>
            <a:r>
              <a:rPr sz="900" dirty="0">
                <a:latin typeface="Arial"/>
                <a:cs typeface="Arial"/>
              </a:rPr>
              <a:t>be</a:t>
            </a:r>
            <a:r>
              <a:rPr sz="900" spc="-20" dirty="0">
                <a:latin typeface="Arial"/>
                <a:cs typeface="Arial"/>
              </a:rPr>
              <a:t> </a:t>
            </a:r>
            <a:r>
              <a:rPr sz="900" spc="-10" dirty="0">
                <a:latin typeface="Arial"/>
                <a:cs typeface="Arial"/>
              </a:rPr>
              <a:t>considered</a:t>
            </a:r>
            <a:r>
              <a:rPr sz="900" spc="-25" dirty="0">
                <a:latin typeface="Arial"/>
                <a:cs typeface="Arial"/>
              </a:rPr>
              <a:t> </a:t>
            </a:r>
            <a:r>
              <a:rPr sz="900" dirty="0">
                <a:latin typeface="Arial"/>
                <a:cs typeface="Arial"/>
              </a:rPr>
              <a:t>as</a:t>
            </a:r>
            <a:r>
              <a:rPr sz="900" spc="-20"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sequence</a:t>
            </a:r>
            <a:r>
              <a:rPr sz="900" spc="-20" dirty="0">
                <a:latin typeface="Arial"/>
                <a:cs typeface="Arial"/>
              </a:rPr>
              <a:t> </a:t>
            </a:r>
            <a:r>
              <a:rPr sz="900" dirty="0">
                <a:latin typeface="Arial"/>
                <a:cs typeface="Arial"/>
              </a:rPr>
              <a:t>of</a:t>
            </a:r>
            <a:r>
              <a:rPr sz="900" spc="-20" dirty="0">
                <a:latin typeface="Arial"/>
                <a:cs typeface="Arial"/>
              </a:rPr>
              <a:t> </a:t>
            </a:r>
            <a:r>
              <a:rPr sz="900" spc="-10" dirty="0">
                <a:latin typeface="Arial"/>
                <a:cs typeface="Arial"/>
              </a:rPr>
              <a:t>state intervals</a:t>
            </a:r>
            <a:endParaRPr sz="900">
              <a:latin typeface="Arial"/>
              <a:cs typeface="Arial"/>
            </a:endParaRPr>
          </a:p>
          <a:p>
            <a:pPr marL="555625" marR="153670" indent="-120650">
              <a:lnSpc>
                <a:spcPct val="111600"/>
              </a:lnSpc>
              <a:buClr>
                <a:srgbClr val="3333B2"/>
              </a:buClr>
              <a:buFont typeface="Menlo"/>
              <a:buChar char="•"/>
              <a:tabLst>
                <a:tab pos="556260" algn="l"/>
              </a:tabLst>
            </a:pPr>
            <a:r>
              <a:rPr sz="900" dirty="0">
                <a:latin typeface="Arial"/>
                <a:cs typeface="Arial"/>
              </a:rPr>
              <a:t>Each</a:t>
            </a:r>
            <a:r>
              <a:rPr sz="900" spc="-30" dirty="0">
                <a:latin typeface="Arial"/>
                <a:cs typeface="Arial"/>
              </a:rPr>
              <a:t> </a:t>
            </a:r>
            <a:r>
              <a:rPr sz="900" dirty="0">
                <a:latin typeface="Arial"/>
                <a:cs typeface="Arial"/>
              </a:rPr>
              <a:t>state</a:t>
            </a:r>
            <a:r>
              <a:rPr sz="900" spc="-25" dirty="0">
                <a:latin typeface="Arial"/>
                <a:cs typeface="Arial"/>
              </a:rPr>
              <a:t> </a:t>
            </a:r>
            <a:r>
              <a:rPr sz="900" dirty="0">
                <a:latin typeface="Arial"/>
                <a:cs typeface="Arial"/>
              </a:rPr>
              <a:t>interval</a:t>
            </a:r>
            <a:r>
              <a:rPr sz="900" spc="-25" dirty="0">
                <a:latin typeface="Arial"/>
                <a:cs typeface="Arial"/>
              </a:rPr>
              <a:t> </a:t>
            </a:r>
            <a:r>
              <a:rPr sz="900" dirty="0">
                <a:latin typeface="Arial"/>
                <a:cs typeface="Arial"/>
              </a:rPr>
              <a:t>starts</a:t>
            </a:r>
            <a:r>
              <a:rPr sz="900" spc="-25" dirty="0">
                <a:latin typeface="Arial"/>
                <a:cs typeface="Arial"/>
              </a:rPr>
              <a:t> </a:t>
            </a:r>
            <a:r>
              <a:rPr sz="900" dirty="0">
                <a:latin typeface="Arial"/>
                <a:cs typeface="Arial"/>
              </a:rPr>
              <a:t>with</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nondeterministic</a:t>
            </a:r>
            <a:r>
              <a:rPr sz="900" spc="-25" dirty="0">
                <a:latin typeface="Arial"/>
                <a:cs typeface="Arial"/>
              </a:rPr>
              <a:t> </a:t>
            </a:r>
            <a:r>
              <a:rPr sz="900" spc="-10" dirty="0">
                <a:latin typeface="Arial"/>
                <a:cs typeface="Arial"/>
              </a:rPr>
              <a:t>event</a:t>
            </a:r>
            <a:r>
              <a:rPr sz="900" spc="-25" dirty="0">
                <a:latin typeface="Arial"/>
                <a:cs typeface="Arial"/>
              </a:rPr>
              <a:t> </a:t>
            </a:r>
            <a:r>
              <a:rPr sz="900" dirty="0">
                <a:latin typeface="Arial"/>
                <a:cs typeface="Arial"/>
              </a:rPr>
              <a:t>(e.g.,</a:t>
            </a:r>
            <a:r>
              <a:rPr sz="900" spc="-30" dirty="0">
                <a:latin typeface="Arial"/>
                <a:cs typeface="Arial"/>
              </a:rPr>
              <a:t> </a:t>
            </a:r>
            <a:r>
              <a:rPr sz="900" spc="-10" dirty="0">
                <a:latin typeface="Arial"/>
                <a:cs typeface="Arial"/>
              </a:rPr>
              <a:t>message receipt)</a:t>
            </a:r>
            <a:endParaRPr sz="900">
              <a:latin typeface="Arial"/>
              <a:cs typeface="Arial"/>
            </a:endParaRPr>
          </a:p>
          <a:p>
            <a:pPr marL="555625" indent="-120650">
              <a:lnSpc>
                <a:spcPct val="100000"/>
              </a:lnSpc>
              <a:spcBef>
                <a:spcPts val="125"/>
              </a:spcBef>
              <a:buClr>
                <a:srgbClr val="3333B2"/>
              </a:buClr>
              <a:buFont typeface="Menlo"/>
              <a:buChar char="•"/>
              <a:tabLst>
                <a:tab pos="556260" algn="l"/>
              </a:tabLst>
            </a:pPr>
            <a:r>
              <a:rPr sz="900" spc="-10" dirty="0">
                <a:latin typeface="Arial"/>
                <a:cs typeface="Arial"/>
              </a:rPr>
              <a:t>Execution</a:t>
            </a:r>
            <a:r>
              <a:rPr sz="900" spc="-15" dirty="0">
                <a:latin typeface="Arial"/>
                <a:cs typeface="Arial"/>
              </a:rPr>
              <a:t> </a:t>
            </a:r>
            <a:r>
              <a:rPr sz="900" dirty="0">
                <a:latin typeface="Arial"/>
                <a:cs typeface="Arial"/>
              </a:rPr>
              <a:t>in</a:t>
            </a:r>
            <a:r>
              <a:rPr sz="900" spc="-15" dirty="0">
                <a:latin typeface="Arial"/>
                <a:cs typeface="Arial"/>
              </a:rPr>
              <a:t> </a:t>
            </a:r>
            <a:r>
              <a:rPr sz="900" dirty="0">
                <a:latin typeface="Arial"/>
                <a:cs typeface="Arial"/>
              </a:rPr>
              <a:t>a</a:t>
            </a:r>
            <a:r>
              <a:rPr sz="900" spc="-10" dirty="0">
                <a:latin typeface="Arial"/>
                <a:cs typeface="Arial"/>
              </a:rPr>
              <a:t> </a:t>
            </a:r>
            <a:r>
              <a:rPr sz="900" dirty="0">
                <a:latin typeface="Arial"/>
                <a:cs typeface="Arial"/>
              </a:rPr>
              <a:t>state</a:t>
            </a:r>
            <a:r>
              <a:rPr sz="900" spc="-15" dirty="0">
                <a:latin typeface="Arial"/>
                <a:cs typeface="Arial"/>
              </a:rPr>
              <a:t> </a:t>
            </a:r>
            <a:r>
              <a:rPr sz="900" dirty="0">
                <a:latin typeface="Arial"/>
                <a:cs typeface="Arial"/>
              </a:rPr>
              <a:t>interval</a:t>
            </a:r>
            <a:r>
              <a:rPr sz="900" spc="-10" dirty="0">
                <a:latin typeface="Arial"/>
                <a:cs typeface="Arial"/>
              </a:rPr>
              <a:t> </a:t>
            </a:r>
            <a:r>
              <a:rPr sz="900" dirty="0">
                <a:latin typeface="Arial"/>
                <a:cs typeface="Arial"/>
              </a:rPr>
              <a:t>is</a:t>
            </a:r>
            <a:r>
              <a:rPr sz="900" spc="-15" dirty="0">
                <a:latin typeface="Arial"/>
                <a:cs typeface="Arial"/>
              </a:rPr>
              <a:t> </a:t>
            </a:r>
            <a:r>
              <a:rPr sz="900" spc="-10" dirty="0">
                <a:latin typeface="Arial"/>
                <a:cs typeface="Arial"/>
              </a:rPr>
              <a:t>deterministic</a:t>
            </a:r>
            <a:endParaRPr sz="900">
              <a:latin typeface="Arial"/>
              <a:cs typeface="Arial"/>
            </a:endParaRPr>
          </a:p>
          <a:p>
            <a:pPr>
              <a:lnSpc>
                <a:spcPct val="100000"/>
              </a:lnSpc>
              <a:spcBef>
                <a:spcPts val="15"/>
              </a:spcBef>
            </a:pPr>
            <a:endParaRPr sz="1050">
              <a:latin typeface="Arial"/>
              <a:cs typeface="Arial"/>
            </a:endParaRPr>
          </a:p>
          <a:p>
            <a:pPr marL="302260">
              <a:lnSpc>
                <a:spcPct val="100000"/>
              </a:lnSpc>
            </a:pPr>
            <a:r>
              <a:rPr sz="1000" spc="-10" dirty="0">
                <a:solidFill>
                  <a:srgbClr val="C80000"/>
                </a:solidFill>
                <a:latin typeface="Arial"/>
                <a:cs typeface="Arial"/>
              </a:rPr>
              <a:t>Conclusion</a:t>
            </a:r>
            <a:endParaRPr sz="1000">
              <a:latin typeface="Arial"/>
              <a:cs typeface="Arial"/>
            </a:endParaRPr>
          </a:p>
          <a:p>
            <a:pPr marL="302260" marR="358140">
              <a:lnSpc>
                <a:spcPts val="1210"/>
              </a:lnSpc>
              <a:spcBef>
                <a:spcPts val="40"/>
              </a:spcBef>
            </a:pPr>
            <a:r>
              <a:rPr sz="900" dirty="0">
                <a:latin typeface="Arial"/>
                <a:cs typeface="Arial"/>
              </a:rPr>
              <a:t>If</a:t>
            </a:r>
            <a:r>
              <a:rPr sz="900" spc="-30" dirty="0">
                <a:latin typeface="Arial"/>
                <a:cs typeface="Arial"/>
              </a:rPr>
              <a:t> </a:t>
            </a:r>
            <a:r>
              <a:rPr sz="900" dirty="0">
                <a:latin typeface="Arial"/>
                <a:cs typeface="Arial"/>
              </a:rPr>
              <a:t>we</a:t>
            </a:r>
            <a:r>
              <a:rPr sz="900" spc="-30" dirty="0">
                <a:latin typeface="Arial"/>
                <a:cs typeface="Arial"/>
              </a:rPr>
              <a:t> </a:t>
            </a:r>
            <a:r>
              <a:rPr sz="900" dirty="0">
                <a:latin typeface="Arial"/>
                <a:cs typeface="Arial"/>
              </a:rPr>
              <a:t>record</a:t>
            </a:r>
            <a:r>
              <a:rPr sz="900" spc="-30" dirty="0">
                <a:latin typeface="Arial"/>
                <a:cs typeface="Arial"/>
              </a:rPr>
              <a:t> </a:t>
            </a:r>
            <a:r>
              <a:rPr sz="900" dirty="0">
                <a:latin typeface="Arial"/>
                <a:cs typeface="Arial"/>
              </a:rPr>
              <a:t>nondeterministic</a:t>
            </a:r>
            <a:r>
              <a:rPr sz="900" spc="-30" dirty="0">
                <a:latin typeface="Arial"/>
                <a:cs typeface="Arial"/>
              </a:rPr>
              <a:t> </a:t>
            </a:r>
            <a:r>
              <a:rPr sz="900" spc="-10" dirty="0">
                <a:latin typeface="Arial"/>
                <a:cs typeface="Arial"/>
              </a:rPr>
              <a:t>events</a:t>
            </a:r>
            <a:r>
              <a:rPr sz="900" spc="-30"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replay</a:t>
            </a:r>
            <a:r>
              <a:rPr sz="900" spc="-30" dirty="0">
                <a:latin typeface="Arial"/>
                <a:cs typeface="Arial"/>
              </a:rPr>
              <a:t> </a:t>
            </a:r>
            <a:r>
              <a:rPr sz="900" dirty="0">
                <a:latin typeface="Arial"/>
                <a:cs typeface="Arial"/>
              </a:rPr>
              <a:t>them</a:t>
            </a:r>
            <a:r>
              <a:rPr sz="900" spc="-30" dirty="0">
                <a:latin typeface="Arial"/>
                <a:cs typeface="Arial"/>
              </a:rPr>
              <a:t> </a:t>
            </a:r>
            <a:r>
              <a:rPr sz="900" dirty="0">
                <a:latin typeface="Arial"/>
                <a:cs typeface="Arial"/>
              </a:rPr>
              <a:t>later),</a:t>
            </a:r>
            <a:r>
              <a:rPr sz="900" spc="-30" dirty="0">
                <a:latin typeface="Arial"/>
                <a:cs typeface="Arial"/>
              </a:rPr>
              <a:t> </a:t>
            </a:r>
            <a:r>
              <a:rPr sz="900" dirty="0">
                <a:latin typeface="Arial"/>
                <a:cs typeface="Arial"/>
              </a:rPr>
              <a:t>we</a:t>
            </a:r>
            <a:r>
              <a:rPr sz="900" spc="-30" dirty="0">
                <a:latin typeface="Arial"/>
                <a:cs typeface="Arial"/>
              </a:rPr>
              <a:t> </a:t>
            </a:r>
            <a:r>
              <a:rPr sz="900" dirty="0">
                <a:latin typeface="Arial"/>
                <a:cs typeface="Arial"/>
              </a:rPr>
              <a:t>obtain</a:t>
            </a:r>
            <a:r>
              <a:rPr sz="900" spc="-30" dirty="0">
                <a:latin typeface="Arial"/>
                <a:cs typeface="Arial"/>
              </a:rPr>
              <a:t> </a:t>
            </a:r>
            <a:r>
              <a:rPr sz="900" spc="-50" dirty="0">
                <a:latin typeface="Arial"/>
                <a:cs typeface="Arial"/>
              </a:rPr>
              <a:t>a</a:t>
            </a:r>
            <a:r>
              <a:rPr sz="900" dirty="0">
                <a:latin typeface="Arial"/>
                <a:cs typeface="Arial"/>
              </a:rPr>
              <a:t> deterministic</a:t>
            </a:r>
            <a:r>
              <a:rPr sz="900" spc="-25" dirty="0">
                <a:latin typeface="Arial"/>
                <a:cs typeface="Arial"/>
              </a:rPr>
              <a:t> </a:t>
            </a:r>
            <a:r>
              <a:rPr sz="900" spc="-10" dirty="0">
                <a:latin typeface="Arial"/>
                <a:cs typeface="Arial"/>
              </a:rPr>
              <a:t>execution</a:t>
            </a:r>
            <a:r>
              <a:rPr sz="900" spc="-25" dirty="0">
                <a:latin typeface="Arial"/>
                <a:cs typeface="Arial"/>
              </a:rPr>
              <a:t> </a:t>
            </a:r>
            <a:r>
              <a:rPr sz="900" dirty="0">
                <a:latin typeface="Arial"/>
                <a:cs typeface="Arial"/>
              </a:rPr>
              <a:t>model</a:t>
            </a:r>
            <a:r>
              <a:rPr sz="900" spc="-20"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will</a:t>
            </a:r>
            <a:r>
              <a:rPr sz="900" spc="-20" dirty="0">
                <a:latin typeface="Arial"/>
                <a:cs typeface="Arial"/>
              </a:rPr>
              <a:t> </a:t>
            </a:r>
            <a:r>
              <a:rPr sz="900" dirty="0">
                <a:latin typeface="Arial"/>
                <a:cs typeface="Arial"/>
              </a:rPr>
              <a:t>allow</a:t>
            </a:r>
            <a:r>
              <a:rPr sz="900" spc="-25" dirty="0">
                <a:latin typeface="Arial"/>
                <a:cs typeface="Arial"/>
              </a:rPr>
              <a:t> </a:t>
            </a:r>
            <a:r>
              <a:rPr sz="900" dirty="0">
                <a:latin typeface="Arial"/>
                <a:cs typeface="Arial"/>
              </a:rPr>
              <a:t>us</a:t>
            </a:r>
            <a:r>
              <a:rPr sz="900" spc="-2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do</a:t>
            </a:r>
            <a:r>
              <a:rPr sz="900" spc="-2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complete</a:t>
            </a:r>
            <a:r>
              <a:rPr sz="900" spc="-25" dirty="0">
                <a:latin typeface="Arial"/>
                <a:cs typeface="Arial"/>
              </a:rPr>
              <a:t> </a:t>
            </a:r>
            <a:r>
              <a:rPr sz="900" spc="-10" dirty="0">
                <a:latin typeface="Arial"/>
                <a:cs typeface="Arial"/>
              </a:rPr>
              <a:t>replay.</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50419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Message</a:t>
            </a:r>
            <a:r>
              <a:rPr sz="500" spc="-30" dirty="0">
                <a:latin typeface="Arial"/>
                <a:cs typeface="Arial"/>
                <a:hlinkClick r:id="rId4" action="ppaction://hlinksldjump"/>
              </a:rPr>
              <a:t> </a:t>
            </a:r>
            <a:r>
              <a:rPr sz="500" spc="-10" dirty="0">
                <a:latin typeface="Arial"/>
                <a:cs typeface="Arial"/>
                <a:hlinkClick r:id="rId4" action="ppaction://hlinksldjump"/>
              </a:rPr>
              <a:t>logging</a:t>
            </a:r>
            <a:endParaRPr sz="500">
              <a:latin typeface="Arial"/>
              <a:cs typeface="Arial"/>
            </a:endParaRPr>
          </a:p>
        </p:txBody>
      </p:sp>
    </p:spTree>
  </p:cSld>
  <p:clrMapOvr>
    <a:masterClrMapping/>
  </p:clrMapOvr>
  <p:transition>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262602" y="-1515"/>
            <a:ext cx="29210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Recovery</a:t>
            </a:r>
            <a:endParaRPr sz="500">
              <a:latin typeface="Arial"/>
              <a:cs typeface="Arial"/>
            </a:endParaRPr>
          </a:p>
        </p:txBody>
      </p:sp>
      <p:sp>
        <p:nvSpPr>
          <p:cNvPr id="5" name="object 5"/>
          <p:cNvSpPr txBox="1"/>
          <p:nvPr/>
        </p:nvSpPr>
        <p:spPr>
          <a:xfrm>
            <a:off x="69900" y="197711"/>
            <a:ext cx="3918585" cy="1334135"/>
          </a:xfrm>
          <a:prstGeom prst="rect">
            <a:avLst/>
          </a:prstGeom>
        </p:spPr>
        <p:txBody>
          <a:bodyPr vert="horz" wrap="square" lIns="0" tIns="12065" rIns="0" bIns="0" rtlCol="0">
            <a:spAutoFit/>
          </a:bodyPr>
          <a:lstStyle/>
          <a:p>
            <a:pPr marL="38100">
              <a:lnSpc>
                <a:spcPct val="100000"/>
              </a:lnSpc>
              <a:spcBef>
                <a:spcPts val="95"/>
              </a:spcBef>
            </a:pPr>
            <a:r>
              <a:rPr sz="1200" dirty="0">
                <a:solidFill>
                  <a:srgbClr val="3333B2"/>
                </a:solidFill>
                <a:latin typeface="Arial"/>
                <a:cs typeface="Arial"/>
              </a:rPr>
              <a:t>Message</a:t>
            </a:r>
            <a:r>
              <a:rPr sz="1200" spc="-45" dirty="0">
                <a:solidFill>
                  <a:srgbClr val="3333B2"/>
                </a:solidFill>
                <a:latin typeface="Arial"/>
                <a:cs typeface="Arial"/>
              </a:rPr>
              <a:t> </a:t>
            </a:r>
            <a:r>
              <a:rPr sz="1200" dirty="0">
                <a:solidFill>
                  <a:srgbClr val="3333B2"/>
                </a:solidFill>
                <a:latin typeface="Arial"/>
                <a:cs typeface="Arial"/>
              </a:rPr>
              <a:t>logging</a:t>
            </a:r>
            <a:r>
              <a:rPr sz="1200" spc="-40" dirty="0">
                <a:solidFill>
                  <a:srgbClr val="3333B2"/>
                </a:solidFill>
                <a:latin typeface="Arial"/>
                <a:cs typeface="Arial"/>
              </a:rPr>
              <a:t> </a:t>
            </a:r>
            <a:r>
              <a:rPr sz="1200" dirty="0">
                <a:solidFill>
                  <a:srgbClr val="3333B2"/>
                </a:solidFill>
                <a:latin typeface="Arial"/>
                <a:cs typeface="Arial"/>
              </a:rPr>
              <a:t>and</a:t>
            </a:r>
            <a:r>
              <a:rPr sz="1200" spc="-40" dirty="0">
                <a:solidFill>
                  <a:srgbClr val="3333B2"/>
                </a:solidFill>
                <a:latin typeface="Arial"/>
                <a:cs typeface="Arial"/>
              </a:rPr>
              <a:t> </a:t>
            </a:r>
            <a:r>
              <a:rPr sz="1200" spc="-10" dirty="0">
                <a:solidFill>
                  <a:srgbClr val="3333B2"/>
                </a:solidFill>
                <a:latin typeface="Arial"/>
                <a:cs typeface="Arial"/>
              </a:rPr>
              <a:t>consistency</a:t>
            </a:r>
            <a:endParaRPr sz="1200">
              <a:latin typeface="Arial"/>
              <a:cs typeface="Arial"/>
            </a:endParaRPr>
          </a:p>
          <a:p>
            <a:pPr marL="283845">
              <a:lnSpc>
                <a:spcPct val="100000"/>
              </a:lnSpc>
              <a:spcBef>
                <a:spcPts val="1055"/>
              </a:spcBef>
            </a:pPr>
            <a:r>
              <a:rPr sz="1000" dirty="0">
                <a:solidFill>
                  <a:srgbClr val="3333B2"/>
                </a:solidFill>
                <a:latin typeface="Arial"/>
                <a:cs typeface="Arial"/>
              </a:rPr>
              <a:t>When</a:t>
            </a:r>
            <a:r>
              <a:rPr sz="1000" spc="-35" dirty="0">
                <a:solidFill>
                  <a:srgbClr val="3333B2"/>
                </a:solidFill>
                <a:latin typeface="Arial"/>
                <a:cs typeface="Arial"/>
              </a:rPr>
              <a:t> </a:t>
            </a:r>
            <a:r>
              <a:rPr sz="1000" dirty="0">
                <a:solidFill>
                  <a:srgbClr val="3333B2"/>
                </a:solidFill>
                <a:latin typeface="Arial"/>
                <a:cs typeface="Arial"/>
              </a:rPr>
              <a:t>should</a:t>
            </a:r>
            <a:r>
              <a:rPr sz="1000" spc="-30" dirty="0">
                <a:solidFill>
                  <a:srgbClr val="3333B2"/>
                </a:solidFill>
                <a:latin typeface="Arial"/>
                <a:cs typeface="Arial"/>
              </a:rPr>
              <a:t> </a:t>
            </a:r>
            <a:r>
              <a:rPr sz="1000" dirty="0">
                <a:solidFill>
                  <a:srgbClr val="3333B2"/>
                </a:solidFill>
                <a:latin typeface="Arial"/>
                <a:cs typeface="Arial"/>
              </a:rPr>
              <a:t>we</a:t>
            </a:r>
            <a:r>
              <a:rPr sz="1000" spc="-30" dirty="0">
                <a:solidFill>
                  <a:srgbClr val="3333B2"/>
                </a:solidFill>
                <a:latin typeface="Arial"/>
                <a:cs typeface="Arial"/>
              </a:rPr>
              <a:t> </a:t>
            </a:r>
            <a:r>
              <a:rPr sz="1000" dirty="0">
                <a:solidFill>
                  <a:srgbClr val="3333B2"/>
                </a:solidFill>
                <a:latin typeface="Arial"/>
                <a:cs typeface="Arial"/>
              </a:rPr>
              <a:t>actually</a:t>
            </a:r>
            <a:r>
              <a:rPr sz="1000" spc="-30" dirty="0">
                <a:solidFill>
                  <a:srgbClr val="3333B2"/>
                </a:solidFill>
                <a:latin typeface="Arial"/>
                <a:cs typeface="Arial"/>
              </a:rPr>
              <a:t> </a:t>
            </a:r>
            <a:r>
              <a:rPr sz="1000" dirty="0">
                <a:solidFill>
                  <a:srgbClr val="3333B2"/>
                </a:solidFill>
                <a:latin typeface="Arial"/>
                <a:cs typeface="Arial"/>
              </a:rPr>
              <a:t>log</a:t>
            </a:r>
            <a:r>
              <a:rPr sz="1000" spc="-30" dirty="0">
                <a:solidFill>
                  <a:srgbClr val="3333B2"/>
                </a:solidFill>
                <a:latin typeface="Arial"/>
                <a:cs typeface="Arial"/>
              </a:rPr>
              <a:t> </a:t>
            </a:r>
            <a:r>
              <a:rPr sz="1000" spc="-10" dirty="0">
                <a:solidFill>
                  <a:srgbClr val="3333B2"/>
                </a:solidFill>
                <a:latin typeface="Arial"/>
                <a:cs typeface="Arial"/>
              </a:rPr>
              <a:t>messages?</a:t>
            </a:r>
            <a:endParaRPr sz="1000">
              <a:latin typeface="Arial"/>
              <a:cs typeface="Arial"/>
            </a:endParaRPr>
          </a:p>
          <a:p>
            <a:pPr marL="285750">
              <a:lnSpc>
                <a:spcPct val="100000"/>
              </a:lnSpc>
              <a:spcBef>
                <a:spcPts val="310"/>
              </a:spcBef>
            </a:pPr>
            <a:r>
              <a:rPr sz="900" spc="-10" dirty="0">
                <a:latin typeface="Arial"/>
                <a:cs typeface="Arial"/>
              </a:rPr>
              <a:t>Avoid</a:t>
            </a:r>
            <a:r>
              <a:rPr sz="900" spc="-30" dirty="0">
                <a:latin typeface="Arial"/>
                <a:cs typeface="Arial"/>
              </a:rPr>
              <a:t> </a:t>
            </a:r>
            <a:r>
              <a:rPr sz="900" dirty="0">
                <a:solidFill>
                  <a:srgbClr val="C80000"/>
                </a:solidFill>
                <a:latin typeface="Arial"/>
                <a:cs typeface="Arial"/>
              </a:rPr>
              <a:t>orphan</a:t>
            </a:r>
            <a:r>
              <a:rPr sz="900" spc="-25" dirty="0">
                <a:solidFill>
                  <a:srgbClr val="C80000"/>
                </a:solidFill>
                <a:latin typeface="Arial"/>
                <a:cs typeface="Arial"/>
              </a:rPr>
              <a:t> </a:t>
            </a:r>
            <a:r>
              <a:rPr sz="900" spc="-10" dirty="0">
                <a:solidFill>
                  <a:srgbClr val="C80000"/>
                </a:solidFill>
                <a:latin typeface="Arial"/>
                <a:cs typeface="Arial"/>
              </a:rPr>
              <a:t>processes</a:t>
            </a:r>
            <a:r>
              <a:rPr sz="900" spc="-10" dirty="0">
                <a:latin typeface="Arial"/>
                <a:cs typeface="Arial"/>
              </a:rPr>
              <a:t>:</a:t>
            </a:r>
            <a:endParaRPr sz="900">
              <a:latin typeface="Arial"/>
              <a:cs typeface="Arial"/>
            </a:endParaRPr>
          </a:p>
          <a:p>
            <a:pPr marL="542925" indent="-120650">
              <a:lnSpc>
                <a:spcPct val="100000"/>
              </a:lnSpc>
              <a:spcBef>
                <a:spcPts val="525"/>
              </a:spcBef>
              <a:buClr>
                <a:srgbClr val="3333B2"/>
              </a:buClr>
              <a:buFont typeface="Menlo"/>
              <a:buChar char="•"/>
              <a:tabLst>
                <a:tab pos="543560" algn="l"/>
              </a:tabLst>
            </a:pPr>
            <a:r>
              <a:rPr sz="900" dirty="0">
                <a:latin typeface="Arial"/>
                <a:cs typeface="Arial"/>
              </a:rPr>
              <a:t>Process</a:t>
            </a:r>
            <a:r>
              <a:rPr sz="900" spc="-15" dirty="0">
                <a:latin typeface="Arial"/>
                <a:cs typeface="Arial"/>
              </a:rPr>
              <a:t> </a:t>
            </a:r>
            <a:r>
              <a:rPr sz="900" i="1" dirty="0">
                <a:latin typeface="Arial"/>
                <a:cs typeface="Arial"/>
              </a:rPr>
              <a:t>Q</a:t>
            </a:r>
            <a:r>
              <a:rPr sz="900" i="1" spc="25" dirty="0">
                <a:latin typeface="Arial"/>
                <a:cs typeface="Arial"/>
              </a:rPr>
              <a:t> </a:t>
            </a:r>
            <a:r>
              <a:rPr sz="900" dirty="0">
                <a:latin typeface="Arial"/>
                <a:cs typeface="Arial"/>
              </a:rPr>
              <a:t>has</a:t>
            </a:r>
            <a:r>
              <a:rPr sz="900" spc="-15" dirty="0">
                <a:latin typeface="Arial"/>
                <a:cs typeface="Arial"/>
              </a:rPr>
              <a:t> </a:t>
            </a:r>
            <a:r>
              <a:rPr sz="900" dirty="0">
                <a:latin typeface="Arial"/>
                <a:cs typeface="Arial"/>
              </a:rPr>
              <a:t>just</a:t>
            </a:r>
            <a:r>
              <a:rPr sz="900" spc="-15" dirty="0">
                <a:latin typeface="Arial"/>
                <a:cs typeface="Arial"/>
              </a:rPr>
              <a:t> </a:t>
            </a:r>
            <a:r>
              <a:rPr sz="900" spc="-10" dirty="0">
                <a:latin typeface="Arial"/>
                <a:cs typeface="Arial"/>
              </a:rPr>
              <a:t>received</a:t>
            </a:r>
            <a:r>
              <a:rPr sz="900" spc="-15" dirty="0">
                <a:latin typeface="Arial"/>
                <a:cs typeface="Arial"/>
              </a:rPr>
              <a:t> </a:t>
            </a:r>
            <a:r>
              <a:rPr sz="900" dirty="0">
                <a:latin typeface="Arial"/>
                <a:cs typeface="Arial"/>
              </a:rPr>
              <a:t>and</a:t>
            </a:r>
            <a:r>
              <a:rPr sz="900" spc="-15" dirty="0">
                <a:latin typeface="Arial"/>
                <a:cs typeface="Arial"/>
              </a:rPr>
              <a:t> </a:t>
            </a:r>
            <a:r>
              <a:rPr sz="900" spc="-10" dirty="0">
                <a:latin typeface="Arial"/>
                <a:cs typeface="Arial"/>
              </a:rPr>
              <a:t>delivered </a:t>
            </a:r>
            <a:r>
              <a:rPr sz="900" dirty="0">
                <a:latin typeface="Arial"/>
                <a:cs typeface="Arial"/>
              </a:rPr>
              <a:t>messages</a:t>
            </a:r>
            <a:r>
              <a:rPr sz="900" spc="-15" dirty="0">
                <a:latin typeface="Arial"/>
                <a:cs typeface="Arial"/>
              </a:rPr>
              <a:t> </a:t>
            </a:r>
            <a:r>
              <a:rPr sz="900" i="1" dirty="0">
                <a:latin typeface="Arial"/>
                <a:cs typeface="Arial"/>
              </a:rPr>
              <a:t>m</a:t>
            </a:r>
            <a:r>
              <a:rPr sz="1050" i="1" baseline="-15873" dirty="0">
                <a:latin typeface="Arial"/>
                <a:cs typeface="Arial"/>
              </a:rPr>
              <a:t>1</a:t>
            </a:r>
            <a:r>
              <a:rPr sz="1050" i="1" spc="127" baseline="-15873" dirty="0">
                <a:latin typeface="Arial"/>
                <a:cs typeface="Arial"/>
              </a:rPr>
              <a:t> </a:t>
            </a:r>
            <a:r>
              <a:rPr sz="900" dirty="0">
                <a:latin typeface="Arial"/>
                <a:cs typeface="Arial"/>
              </a:rPr>
              <a:t>and</a:t>
            </a:r>
            <a:r>
              <a:rPr sz="900" spc="-15" dirty="0">
                <a:latin typeface="Arial"/>
                <a:cs typeface="Arial"/>
              </a:rPr>
              <a:t> </a:t>
            </a:r>
            <a:r>
              <a:rPr sz="900" i="1" spc="-25" dirty="0">
                <a:latin typeface="Arial"/>
                <a:cs typeface="Arial"/>
              </a:rPr>
              <a:t>m</a:t>
            </a:r>
            <a:r>
              <a:rPr sz="1050" i="1" spc="-37" baseline="-15873" dirty="0">
                <a:latin typeface="Arial"/>
                <a:cs typeface="Arial"/>
              </a:rPr>
              <a:t>2</a:t>
            </a:r>
            <a:endParaRPr sz="1050" baseline="-15873">
              <a:latin typeface="Arial"/>
              <a:cs typeface="Arial"/>
            </a:endParaRPr>
          </a:p>
          <a:p>
            <a:pPr marL="539115" indent="-116839">
              <a:lnSpc>
                <a:spcPct val="100000"/>
              </a:lnSpc>
              <a:spcBef>
                <a:spcPts val="125"/>
              </a:spcBef>
              <a:buClr>
                <a:srgbClr val="3333B2"/>
              </a:buClr>
              <a:buFont typeface="Menlo"/>
              <a:buChar char="•"/>
              <a:tabLst>
                <a:tab pos="539750" algn="l"/>
              </a:tabLst>
            </a:pPr>
            <a:r>
              <a:rPr sz="900" dirty="0">
                <a:latin typeface="Arial"/>
                <a:cs typeface="Arial"/>
              </a:rPr>
              <a:t>Assume</a:t>
            </a:r>
            <a:r>
              <a:rPr sz="900" spc="-25" dirty="0">
                <a:latin typeface="Arial"/>
                <a:cs typeface="Arial"/>
              </a:rPr>
              <a:t> </a:t>
            </a:r>
            <a:r>
              <a:rPr sz="900" dirty="0">
                <a:latin typeface="Arial"/>
                <a:cs typeface="Arial"/>
              </a:rPr>
              <a:t>that</a:t>
            </a:r>
            <a:r>
              <a:rPr sz="900" spc="-20" dirty="0">
                <a:latin typeface="Arial"/>
                <a:cs typeface="Arial"/>
              </a:rPr>
              <a:t> </a:t>
            </a:r>
            <a:r>
              <a:rPr sz="900" i="1" dirty="0">
                <a:latin typeface="Arial"/>
                <a:cs typeface="Arial"/>
              </a:rPr>
              <a:t>m</a:t>
            </a:r>
            <a:r>
              <a:rPr sz="1050" i="1" baseline="-15873" dirty="0">
                <a:latin typeface="Arial"/>
                <a:cs typeface="Arial"/>
              </a:rPr>
              <a:t>2</a:t>
            </a:r>
            <a:r>
              <a:rPr sz="1050" i="1" spc="172" baseline="-15873" dirty="0">
                <a:latin typeface="Arial"/>
                <a:cs typeface="Arial"/>
              </a:rPr>
              <a:t> </a:t>
            </a:r>
            <a:r>
              <a:rPr sz="900" dirty="0">
                <a:latin typeface="Arial"/>
                <a:cs typeface="Arial"/>
              </a:rPr>
              <a:t>is</a:t>
            </a:r>
            <a:r>
              <a:rPr sz="900" spc="-25" dirty="0">
                <a:latin typeface="Arial"/>
                <a:cs typeface="Arial"/>
              </a:rPr>
              <a:t> </a:t>
            </a:r>
            <a:r>
              <a:rPr sz="900" spc="-10" dirty="0">
                <a:latin typeface="Arial"/>
                <a:cs typeface="Arial"/>
              </a:rPr>
              <a:t>never</a:t>
            </a:r>
            <a:r>
              <a:rPr sz="900" spc="-20" dirty="0">
                <a:latin typeface="Arial"/>
                <a:cs typeface="Arial"/>
              </a:rPr>
              <a:t> </a:t>
            </a:r>
            <a:r>
              <a:rPr sz="900" spc="-10" dirty="0">
                <a:latin typeface="Arial"/>
                <a:cs typeface="Arial"/>
              </a:rPr>
              <a:t>logged.</a:t>
            </a:r>
            <a:endParaRPr sz="900">
              <a:latin typeface="Arial"/>
              <a:cs typeface="Arial"/>
            </a:endParaRPr>
          </a:p>
          <a:p>
            <a:pPr marL="539115" indent="-116839">
              <a:lnSpc>
                <a:spcPct val="100000"/>
              </a:lnSpc>
              <a:spcBef>
                <a:spcPts val="125"/>
              </a:spcBef>
              <a:buClr>
                <a:srgbClr val="3333B2"/>
              </a:buClr>
              <a:buFont typeface="Menlo"/>
              <a:buChar char="•"/>
              <a:tabLst>
                <a:tab pos="539750" algn="l"/>
              </a:tabLst>
            </a:pPr>
            <a:r>
              <a:rPr sz="900" dirty="0">
                <a:latin typeface="Arial"/>
                <a:cs typeface="Arial"/>
              </a:rPr>
              <a:t>After</a:t>
            </a:r>
            <a:r>
              <a:rPr sz="900" spc="-30" dirty="0">
                <a:latin typeface="Arial"/>
                <a:cs typeface="Arial"/>
              </a:rPr>
              <a:t> </a:t>
            </a:r>
            <a:r>
              <a:rPr sz="900" dirty="0">
                <a:latin typeface="Arial"/>
                <a:cs typeface="Arial"/>
              </a:rPr>
              <a:t>delivering</a:t>
            </a:r>
            <a:r>
              <a:rPr sz="900" spc="-25" dirty="0">
                <a:latin typeface="Arial"/>
                <a:cs typeface="Arial"/>
              </a:rPr>
              <a:t> </a:t>
            </a:r>
            <a:r>
              <a:rPr sz="900" i="1" dirty="0">
                <a:latin typeface="Arial"/>
                <a:cs typeface="Arial"/>
              </a:rPr>
              <a:t>m</a:t>
            </a:r>
            <a:r>
              <a:rPr sz="1050" i="1" baseline="-15873" dirty="0">
                <a:latin typeface="Arial"/>
                <a:cs typeface="Arial"/>
              </a:rPr>
              <a:t>1</a:t>
            </a:r>
            <a:r>
              <a:rPr sz="1050" i="1" spc="120" baseline="-15873" dirty="0">
                <a:latin typeface="Arial"/>
                <a:cs typeface="Arial"/>
              </a:rPr>
              <a:t> </a:t>
            </a:r>
            <a:r>
              <a:rPr sz="900" dirty="0">
                <a:latin typeface="Arial"/>
                <a:cs typeface="Arial"/>
              </a:rPr>
              <a:t>and</a:t>
            </a:r>
            <a:r>
              <a:rPr sz="900" spc="-20" dirty="0">
                <a:latin typeface="Arial"/>
                <a:cs typeface="Arial"/>
              </a:rPr>
              <a:t> </a:t>
            </a:r>
            <a:r>
              <a:rPr sz="900" i="1" spc="-10" dirty="0">
                <a:latin typeface="Arial"/>
                <a:cs typeface="Arial"/>
              </a:rPr>
              <a:t>m</a:t>
            </a:r>
            <a:r>
              <a:rPr sz="1050" i="1" spc="-15" baseline="-15873" dirty="0">
                <a:latin typeface="Arial"/>
                <a:cs typeface="Arial"/>
              </a:rPr>
              <a:t>2</a:t>
            </a:r>
            <a:r>
              <a:rPr sz="1050" i="1" spc="-157" baseline="-15873" dirty="0">
                <a:latin typeface="Arial"/>
                <a:cs typeface="Arial"/>
              </a:rPr>
              <a:t> </a:t>
            </a:r>
            <a:r>
              <a:rPr sz="900" dirty="0">
                <a:latin typeface="Arial"/>
                <a:cs typeface="Arial"/>
              </a:rPr>
              <a:t>,</a:t>
            </a:r>
            <a:r>
              <a:rPr sz="900" spc="-25" dirty="0">
                <a:latin typeface="Arial"/>
                <a:cs typeface="Arial"/>
              </a:rPr>
              <a:t> </a:t>
            </a:r>
            <a:r>
              <a:rPr sz="900" i="1" dirty="0">
                <a:latin typeface="Arial"/>
                <a:cs typeface="Arial"/>
              </a:rPr>
              <a:t>Q</a:t>
            </a:r>
            <a:r>
              <a:rPr sz="900" i="1" spc="20" dirty="0">
                <a:latin typeface="Arial"/>
                <a:cs typeface="Arial"/>
              </a:rPr>
              <a:t> </a:t>
            </a:r>
            <a:r>
              <a:rPr sz="900" dirty="0">
                <a:latin typeface="Arial"/>
                <a:cs typeface="Arial"/>
              </a:rPr>
              <a:t>sends</a:t>
            </a:r>
            <a:r>
              <a:rPr sz="900" spc="-25" dirty="0">
                <a:latin typeface="Arial"/>
                <a:cs typeface="Arial"/>
              </a:rPr>
              <a:t> </a:t>
            </a:r>
            <a:r>
              <a:rPr sz="900" dirty="0">
                <a:latin typeface="Arial"/>
                <a:cs typeface="Arial"/>
              </a:rPr>
              <a:t>message</a:t>
            </a:r>
            <a:r>
              <a:rPr sz="900" spc="-20" dirty="0">
                <a:latin typeface="Arial"/>
                <a:cs typeface="Arial"/>
              </a:rPr>
              <a:t> </a:t>
            </a:r>
            <a:r>
              <a:rPr sz="900" i="1" dirty="0">
                <a:latin typeface="Arial"/>
                <a:cs typeface="Arial"/>
              </a:rPr>
              <a:t>m</a:t>
            </a:r>
            <a:r>
              <a:rPr sz="1050" i="1" baseline="-15873" dirty="0">
                <a:latin typeface="Arial"/>
                <a:cs typeface="Arial"/>
              </a:rPr>
              <a:t>3</a:t>
            </a:r>
            <a:r>
              <a:rPr sz="1050" i="1" spc="165" baseline="-15873"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process</a:t>
            </a:r>
            <a:r>
              <a:rPr sz="900" spc="-25" dirty="0">
                <a:latin typeface="Arial"/>
                <a:cs typeface="Arial"/>
              </a:rPr>
              <a:t> </a:t>
            </a:r>
            <a:r>
              <a:rPr sz="900" i="1" spc="-50" dirty="0">
                <a:latin typeface="Arial"/>
                <a:cs typeface="Arial"/>
              </a:rPr>
              <a:t>R</a:t>
            </a:r>
            <a:endParaRPr sz="900">
              <a:latin typeface="Arial"/>
              <a:cs typeface="Arial"/>
            </a:endParaRPr>
          </a:p>
          <a:p>
            <a:pPr marL="542925" indent="-120650">
              <a:lnSpc>
                <a:spcPct val="100000"/>
              </a:lnSpc>
              <a:spcBef>
                <a:spcPts val="125"/>
              </a:spcBef>
              <a:buClr>
                <a:srgbClr val="3333B2"/>
              </a:buClr>
              <a:buFont typeface="Menlo"/>
              <a:buChar char="•"/>
              <a:tabLst>
                <a:tab pos="543560" algn="l"/>
              </a:tabLst>
            </a:pPr>
            <a:r>
              <a:rPr sz="900" dirty="0">
                <a:latin typeface="Arial"/>
                <a:cs typeface="Arial"/>
              </a:rPr>
              <a:t>Process</a:t>
            </a:r>
            <a:r>
              <a:rPr sz="900" spc="-30" dirty="0">
                <a:latin typeface="Arial"/>
                <a:cs typeface="Arial"/>
              </a:rPr>
              <a:t> </a:t>
            </a:r>
            <a:r>
              <a:rPr sz="900" i="1" dirty="0">
                <a:latin typeface="Arial"/>
                <a:cs typeface="Arial"/>
              </a:rPr>
              <a:t>R</a:t>
            </a:r>
            <a:r>
              <a:rPr sz="900" i="1" spc="25" dirty="0">
                <a:latin typeface="Arial"/>
                <a:cs typeface="Arial"/>
              </a:rPr>
              <a:t> </a:t>
            </a:r>
            <a:r>
              <a:rPr sz="900" spc="-10" dirty="0">
                <a:latin typeface="Arial"/>
                <a:cs typeface="Arial"/>
              </a:rPr>
              <a:t>receives</a:t>
            </a:r>
            <a:r>
              <a:rPr sz="900" spc="-20" dirty="0">
                <a:latin typeface="Arial"/>
                <a:cs typeface="Arial"/>
              </a:rPr>
              <a:t> </a:t>
            </a:r>
            <a:r>
              <a:rPr sz="900" dirty="0">
                <a:latin typeface="Arial"/>
                <a:cs typeface="Arial"/>
              </a:rPr>
              <a:t>and</a:t>
            </a:r>
            <a:r>
              <a:rPr sz="900" spc="-20" dirty="0">
                <a:latin typeface="Arial"/>
                <a:cs typeface="Arial"/>
              </a:rPr>
              <a:t> </a:t>
            </a:r>
            <a:r>
              <a:rPr sz="900" dirty="0">
                <a:latin typeface="Arial"/>
                <a:cs typeface="Arial"/>
              </a:rPr>
              <a:t>subsequently</a:t>
            </a:r>
            <a:r>
              <a:rPr sz="900" spc="-20" dirty="0">
                <a:latin typeface="Arial"/>
                <a:cs typeface="Arial"/>
              </a:rPr>
              <a:t> </a:t>
            </a:r>
            <a:r>
              <a:rPr sz="900" dirty="0">
                <a:latin typeface="Arial"/>
                <a:cs typeface="Arial"/>
              </a:rPr>
              <a:t>delivers</a:t>
            </a:r>
            <a:r>
              <a:rPr sz="900" spc="-20" dirty="0">
                <a:latin typeface="Arial"/>
                <a:cs typeface="Arial"/>
              </a:rPr>
              <a:t> </a:t>
            </a:r>
            <a:r>
              <a:rPr sz="900" i="1" spc="-10" dirty="0">
                <a:latin typeface="Arial"/>
                <a:cs typeface="Arial"/>
              </a:rPr>
              <a:t>m</a:t>
            </a:r>
            <a:r>
              <a:rPr sz="1050" i="1" spc="-15" baseline="-15873" dirty="0">
                <a:latin typeface="Arial"/>
                <a:cs typeface="Arial"/>
              </a:rPr>
              <a:t>3</a:t>
            </a:r>
            <a:r>
              <a:rPr sz="1050" i="1" spc="-165" baseline="-15873" dirty="0">
                <a:latin typeface="Arial"/>
                <a:cs typeface="Arial"/>
              </a:rPr>
              <a:t> </a:t>
            </a:r>
            <a:r>
              <a:rPr sz="900" dirty="0">
                <a:latin typeface="Arial"/>
                <a:cs typeface="Arial"/>
              </a:rPr>
              <a:t>:</a:t>
            </a:r>
            <a:r>
              <a:rPr sz="900" spc="35" dirty="0">
                <a:latin typeface="Arial"/>
                <a:cs typeface="Arial"/>
              </a:rPr>
              <a:t> </a:t>
            </a:r>
            <a:r>
              <a:rPr sz="900" dirty="0">
                <a:latin typeface="Arial"/>
                <a:cs typeface="Arial"/>
              </a:rPr>
              <a:t>it</a:t>
            </a:r>
            <a:r>
              <a:rPr sz="900" spc="-20"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an</a:t>
            </a:r>
            <a:r>
              <a:rPr sz="900" spc="-20" dirty="0">
                <a:latin typeface="Arial"/>
                <a:cs typeface="Arial"/>
              </a:rPr>
              <a:t> </a:t>
            </a:r>
            <a:r>
              <a:rPr sz="900" spc="-10" dirty="0">
                <a:latin typeface="Arial"/>
                <a:cs typeface="Arial"/>
              </a:rPr>
              <a:t>orphan.</a:t>
            </a:r>
            <a:endParaRPr sz="900">
              <a:latin typeface="Arial"/>
              <a:cs typeface="Arial"/>
            </a:endParaRPr>
          </a:p>
        </p:txBody>
      </p:sp>
      <p:pic>
        <p:nvPicPr>
          <p:cNvPr id="6" name="object 6"/>
          <p:cNvPicPr/>
          <p:nvPr/>
        </p:nvPicPr>
        <p:blipFill>
          <a:blip r:embed="rId4" cstate="print"/>
          <a:stretch>
            <a:fillRect/>
          </a:stretch>
        </p:blipFill>
        <p:spPr>
          <a:xfrm>
            <a:off x="806588" y="1715515"/>
            <a:ext cx="2996096" cy="1125309"/>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50419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Message</a:t>
            </a:r>
            <a:r>
              <a:rPr sz="500" spc="-30" dirty="0">
                <a:latin typeface="Arial"/>
                <a:cs typeface="Arial"/>
                <a:hlinkClick r:id="rId5" action="ppaction://hlinksldjump"/>
              </a:rPr>
              <a:t> </a:t>
            </a:r>
            <a:r>
              <a:rPr sz="500" spc="-10" dirty="0">
                <a:latin typeface="Arial"/>
                <a:cs typeface="Arial"/>
                <a:hlinkClick r:id="rId5" action="ppaction://hlinksldjump"/>
              </a:rPr>
              <a:t>logging</a:t>
            </a:r>
            <a:endParaRPr sz="500">
              <a:latin typeface="Arial"/>
              <a:cs typeface="Arial"/>
            </a:endParaRPr>
          </a:p>
        </p:txBody>
      </p:sp>
    </p:spTree>
  </p:cSld>
  <p:clrMapOvr>
    <a:masterClrMapping/>
  </p:clrMapOvr>
  <p:transition>
    <p:fade/>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262602" y="-1515"/>
            <a:ext cx="29210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Recovery</a:t>
            </a:r>
            <a:endParaRPr sz="500">
              <a:latin typeface="Arial"/>
              <a:cs typeface="Arial"/>
            </a:endParaRPr>
          </a:p>
        </p:txBody>
      </p:sp>
      <p:sp>
        <p:nvSpPr>
          <p:cNvPr id="5" name="object 5"/>
          <p:cNvSpPr txBox="1"/>
          <p:nvPr/>
        </p:nvSpPr>
        <p:spPr>
          <a:xfrm>
            <a:off x="44500" y="197711"/>
            <a:ext cx="4283075" cy="2195830"/>
          </a:xfrm>
          <a:prstGeom prst="rect">
            <a:avLst/>
          </a:prstGeom>
        </p:spPr>
        <p:txBody>
          <a:bodyPr vert="horz" wrap="square" lIns="0" tIns="12065" rIns="0" bIns="0" rtlCol="0">
            <a:spAutoFit/>
          </a:bodyPr>
          <a:lstStyle/>
          <a:p>
            <a:pPr marL="63500">
              <a:lnSpc>
                <a:spcPct val="100000"/>
              </a:lnSpc>
              <a:spcBef>
                <a:spcPts val="95"/>
              </a:spcBef>
            </a:pPr>
            <a:r>
              <a:rPr sz="1200" spc="-10" dirty="0">
                <a:solidFill>
                  <a:srgbClr val="3333B2"/>
                </a:solidFill>
                <a:latin typeface="Arial"/>
                <a:cs typeface="Arial"/>
              </a:rPr>
              <a:t>Message-</a:t>
            </a:r>
            <a:r>
              <a:rPr sz="1200" dirty="0">
                <a:solidFill>
                  <a:srgbClr val="3333B2"/>
                </a:solidFill>
                <a:latin typeface="Arial"/>
                <a:cs typeface="Arial"/>
              </a:rPr>
              <a:t>logging</a:t>
            </a:r>
            <a:r>
              <a:rPr sz="1200" spc="-20" dirty="0">
                <a:solidFill>
                  <a:srgbClr val="3333B2"/>
                </a:solidFill>
                <a:latin typeface="Arial"/>
                <a:cs typeface="Arial"/>
              </a:rPr>
              <a:t> </a:t>
            </a:r>
            <a:r>
              <a:rPr sz="1200" spc="-10" dirty="0">
                <a:solidFill>
                  <a:srgbClr val="3333B2"/>
                </a:solidFill>
                <a:latin typeface="Arial"/>
                <a:cs typeface="Arial"/>
              </a:rPr>
              <a:t>schemes</a:t>
            </a:r>
            <a:endParaRPr sz="1200">
              <a:latin typeface="Arial"/>
              <a:cs typeface="Arial"/>
            </a:endParaRPr>
          </a:p>
          <a:p>
            <a:pPr marL="314960">
              <a:lnSpc>
                <a:spcPct val="100000"/>
              </a:lnSpc>
              <a:spcBef>
                <a:spcPts val="1055"/>
              </a:spcBef>
            </a:pPr>
            <a:r>
              <a:rPr sz="1000" spc="-10" dirty="0">
                <a:solidFill>
                  <a:srgbClr val="3333B2"/>
                </a:solidFill>
                <a:latin typeface="Arial"/>
                <a:cs typeface="Arial"/>
              </a:rPr>
              <a:t>Notations</a:t>
            </a:r>
            <a:endParaRPr sz="1000">
              <a:latin typeface="Arial"/>
              <a:cs typeface="Arial"/>
            </a:endParaRPr>
          </a:p>
          <a:p>
            <a:pPr marL="568325" marR="55880" indent="-120650">
              <a:lnSpc>
                <a:spcPct val="111600"/>
              </a:lnSpc>
              <a:spcBef>
                <a:spcPts val="380"/>
              </a:spcBef>
              <a:buClr>
                <a:srgbClr val="3333B2"/>
              </a:buClr>
              <a:buFont typeface="Menlo"/>
              <a:buChar char="•"/>
              <a:tabLst>
                <a:tab pos="568960" algn="l"/>
              </a:tabLst>
            </a:pPr>
            <a:r>
              <a:rPr sz="900" b="1" dirty="0">
                <a:latin typeface="Arial"/>
                <a:cs typeface="Arial"/>
              </a:rPr>
              <a:t>DEP</a:t>
            </a:r>
            <a:r>
              <a:rPr sz="900" dirty="0">
                <a:latin typeface="Arial"/>
                <a:cs typeface="Arial"/>
              </a:rPr>
              <a:t>(</a:t>
            </a:r>
            <a:r>
              <a:rPr sz="900" i="1" dirty="0">
                <a:latin typeface="Arial"/>
                <a:cs typeface="Arial"/>
              </a:rPr>
              <a:t>m</a:t>
            </a:r>
            <a:r>
              <a:rPr sz="900" dirty="0">
                <a:latin typeface="Arial"/>
                <a:cs typeface="Arial"/>
              </a:rPr>
              <a:t>):</a:t>
            </a:r>
            <a:r>
              <a:rPr sz="900" spc="5" dirty="0">
                <a:latin typeface="Arial"/>
                <a:cs typeface="Arial"/>
              </a:rPr>
              <a:t> </a:t>
            </a:r>
            <a:r>
              <a:rPr sz="900" dirty="0">
                <a:latin typeface="Arial"/>
                <a:cs typeface="Arial"/>
              </a:rPr>
              <a:t>processes</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which</a:t>
            </a:r>
            <a:r>
              <a:rPr sz="900" spc="-25" dirty="0">
                <a:latin typeface="Arial"/>
                <a:cs typeface="Arial"/>
              </a:rPr>
              <a:t> </a:t>
            </a:r>
            <a:r>
              <a:rPr sz="900" i="1" dirty="0">
                <a:latin typeface="Arial"/>
                <a:cs typeface="Arial"/>
              </a:rPr>
              <a:t>m</a:t>
            </a:r>
            <a:r>
              <a:rPr sz="900" i="1" spc="-5" dirty="0">
                <a:latin typeface="Arial"/>
                <a:cs typeface="Arial"/>
              </a:rPr>
              <a:t> </a:t>
            </a:r>
            <a:r>
              <a:rPr sz="900" dirty="0">
                <a:latin typeface="Arial"/>
                <a:cs typeface="Arial"/>
              </a:rPr>
              <a:t>has</a:t>
            </a:r>
            <a:r>
              <a:rPr sz="900" spc="-25" dirty="0">
                <a:latin typeface="Arial"/>
                <a:cs typeface="Arial"/>
              </a:rPr>
              <a:t> </a:t>
            </a:r>
            <a:r>
              <a:rPr sz="900" dirty="0">
                <a:latin typeface="Arial"/>
                <a:cs typeface="Arial"/>
              </a:rPr>
              <a:t>been</a:t>
            </a:r>
            <a:r>
              <a:rPr sz="900" spc="-25" dirty="0">
                <a:latin typeface="Arial"/>
                <a:cs typeface="Arial"/>
              </a:rPr>
              <a:t> </a:t>
            </a:r>
            <a:r>
              <a:rPr sz="900" dirty="0">
                <a:latin typeface="Arial"/>
                <a:cs typeface="Arial"/>
              </a:rPr>
              <a:t>delivered.</a:t>
            </a:r>
            <a:r>
              <a:rPr sz="900" spc="30" dirty="0">
                <a:latin typeface="Arial"/>
                <a:cs typeface="Arial"/>
              </a:rPr>
              <a:t> </a:t>
            </a:r>
            <a:r>
              <a:rPr sz="900" dirty="0">
                <a:latin typeface="Arial"/>
                <a:cs typeface="Arial"/>
              </a:rPr>
              <a:t>If</a:t>
            </a:r>
            <a:r>
              <a:rPr sz="900" spc="-25" dirty="0">
                <a:latin typeface="Arial"/>
                <a:cs typeface="Arial"/>
              </a:rPr>
              <a:t> </a:t>
            </a:r>
            <a:r>
              <a:rPr sz="900" dirty="0">
                <a:latin typeface="Arial"/>
                <a:cs typeface="Arial"/>
              </a:rPr>
              <a:t>message</a:t>
            </a:r>
            <a:r>
              <a:rPr sz="900" spc="-25" dirty="0">
                <a:latin typeface="Arial"/>
                <a:cs typeface="Arial"/>
              </a:rPr>
              <a:t> </a:t>
            </a:r>
            <a:r>
              <a:rPr sz="900" i="1" spc="-40" dirty="0">
                <a:latin typeface="Arial"/>
                <a:cs typeface="Arial"/>
              </a:rPr>
              <a:t>m</a:t>
            </a:r>
            <a:r>
              <a:rPr sz="1050" i="1" spc="-60" baseline="27777" dirty="0">
                <a:latin typeface="Menlo"/>
                <a:cs typeface="Menlo"/>
              </a:rPr>
              <a:t>∗</a:t>
            </a:r>
            <a:r>
              <a:rPr sz="1050" i="1" spc="-187" baseline="27777" dirty="0">
                <a:latin typeface="Menlo"/>
                <a:cs typeface="Menlo"/>
              </a:rPr>
              <a:t> </a:t>
            </a:r>
            <a:r>
              <a:rPr sz="900" spc="-25" dirty="0">
                <a:latin typeface="Arial"/>
                <a:cs typeface="Arial"/>
              </a:rPr>
              <a:t>is </a:t>
            </a:r>
            <a:r>
              <a:rPr sz="900" spc="-10" dirty="0">
                <a:latin typeface="Arial"/>
                <a:cs typeface="Arial"/>
              </a:rPr>
              <a:t>causally</a:t>
            </a:r>
            <a:r>
              <a:rPr sz="900" spc="-55" dirty="0">
                <a:latin typeface="Arial"/>
                <a:cs typeface="Arial"/>
              </a:rPr>
              <a:t> </a:t>
            </a:r>
            <a:r>
              <a:rPr sz="900" spc="-10" dirty="0">
                <a:latin typeface="Arial"/>
                <a:cs typeface="Arial"/>
              </a:rPr>
              <a:t>dependent</a:t>
            </a:r>
            <a:r>
              <a:rPr sz="900" spc="-35" dirty="0">
                <a:latin typeface="Arial"/>
                <a:cs typeface="Arial"/>
              </a:rPr>
              <a:t> </a:t>
            </a:r>
            <a:r>
              <a:rPr sz="900" dirty="0">
                <a:latin typeface="Arial"/>
                <a:cs typeface="Arial"/>
              </a:rPr>
              <a:t>on</a:t>
            </a:r>
            <a:r>
              <a:rPr sz="900" spc="-30" dirty="0">
                <a:latin typeface="Arial"/>
                <a:cs typeface="Arial"/>
              </a:rPr>
              <a:t> </a:t>
            </a:r>
            <a:r>
              <a:rPr sz="900" dirty="0">
                <a:latin typeface="Arial"/>
                <a:cs typeface="Arial"/>
              </a:rPr>
              <a:t>the</a:t>
            </a:r>
            <a:r>
              <a:rPr sz="900" spc="-30" dirty="0">
                <a:latin typeface="Arial"/>
                <a:cs typeface="Arial"/>
              </a:rPr>
              <a:t> </a:t>
            </a:r>
            <a:r>
              <a:rPr sz="900" spc="-10" dirty="0">
                <a:latin typeface="Arial"/>
                <a:cs typeface="Arial"/>
              </a:rPr>
              <a:t>delivery</a:t>
            </a:r>
            <a:r>
              <a:rPr sz="900" spc="-30" dirty="0">
                <a:latin typeface="Arial"/>
                <a:cs typeface="Arial"/>
              </a:rPr>
              <a:t> </a:t>
            </a:r>
            <a:r>
              <a:rPr sz="900" dirty="0">
                <a:latin typeface="Arial"/>
                <a:cs typeface="Arial"/>
              </a:rPr>
              <a:t>of</a:t>
            </a:r>
            <a:r>
              <a:rPr sz="900" spc="-30" dirty="0">
                <a:latin typeface="Arial"/>
                <a:cs typeface="Arial"/>
              </a:rPr>
              <a:t> </a:t>
            </a:r>
            <a:r>
              <a:rPr sz="900" i="1" dirty="0">
                <a:latin typeface="Arial"/>
                <a:cs typeface="Arial"/>
              </a:rPr>
              <a:t>m</a:t>
            </a:r>
            <a:r>
              <a:rPr sz="900" dirty="0">
                <a:latin typeface="Arial"/>
                <a:cs typeface="Arial"/>
              </a:rPr>
              <a:t>,</a:t>
            </a:r>
            <a:r>
              <a:rPr sz="900" spc="-30" dirty="0">
                <a:latin typeface="Arial"/>
                <a:cs typeface="Arial"/>
              </a:rPr>
              <a:t> </a:t>
            </a:r>
            <a:r>
              <a:rPr sz="900" dirty="0">
                <a:latin typeface="Arial"/>
                <a:cs typeface="Arial"/>
              </a:rPr>
              <a:t>and</a:t>
            </a:r>
            <a:r>
              <a:rPr sz="900" spc="-30" dirty="0">
                <a:latin typeface="Arial"/>
                <a:cs typeface="Arial"/>
              </a:rPr>
              <a:t> </a:t>
            </a:r>
            <a:r>
              <a:rPr sz="900" i="1" spc="-40" dirty="0">
                <a:latin typeface="Arial"/>
                <a:cs typeface="Arial"/>
              </a:rPr>
              <a:t>m</a:t>
            </a:r>
            <a:r>
              <a:rPr sz="1050" i="1" spc="-60" baseline="27777" dirty="0">
                <a:latin typeface="Menlo"/>
                <a:cs typeface="Menlo"/>
              </a:rPr>
              <a:t>∗</a:t>
            </a:r>
            <a:r>
              <a:rPr sz="1050" i="1" spc="-195" baseline="27777" dirty="0">
                <a:latin typeface="Menlo"/>
                <a:cs typeface="Menlo"/>
              </a:rPr>
              <a:t> </a:t>
            </a:r>
            <a:r>
              <a:rPr sz="900" dirty="0">
                <a:latin typeface="Arial"/>
                <a:cs typeface="Arial"/>
              </a:rPr>
              <a:t>has</a:t>
            </a:r>
            <a:r>
              <a:rPr sz="900" spc="-30" dirty="0">
                <a:latin typeface="Arial"/>
                <a:cs typeface="Arial"/>
              </a:rPr>
              <a:t> </a:t>
            </a:r>
            <a:r>
              <a:rPr sz="900" spc="-10" dirty="0">
                <a:latin typeface="Arial"/>
                <a:cs typeface="Arial"/>
              </a:rPr>
              <a:t>been</a:t>
            </a:r>
            <a:r>
              <a:rPr sz="900" spc="-30" dirty="0">
                <a:latin typeface="Arial"/>
                <a:cs typeface="Arial"/>
              </a:rPr>
              <a:t> </a:t>
            </a:r>
            <a:r>
              <a:rPr sz="900" spc="-10" dirty="0">
                <a:latin typeface="Arial"/>
                <a:cs typeface="Arial"/>
              </a:rPr>
              <a:t>delivered</a:t>
            </a:r>
            <a:r>
              <a:rPr sz="900" spc="-30" dirty="0">
                <a:latin typeface="Arial"/>
                <a:cs typeface="Arial"/>
              </a:rPr>
              <a:t> </a:t>
            </a:r>
            <a:r>
              <a:rPr sz="900" dirty="0">
                <a:latin typeface="Arial"/>
                <a:cs typeface="Arial"/>
              </a:rPr>
              <a:t>to</a:t>
            </a:r>
            <a:r>
              <a:rPr sz="900" spc="-30" dirty="0">
                <a:latin typeface="Arial"/>
                <a:cs typeface="Arial"/>
              </a:rPr>
              <a:t> </a:t>
            </a:r>
            <a:r>
              <a:rPr sz="900" i="1" spc="-25" dirty="0">
                <a:latin typeface="Arial"/>
                <a:cs typeface="Arial"/>
              </a:rPr>
              <a:t>Q</a:t>
            </a:r>
            <a:r>
              <a:rPr sz="900" spc="-25" dirty="0">
                <a:latin typeface="Arial"/>
                <a:cs typeface="Arial"/>
              </a:rPr>
              <a:t>, </a:t>
            </a:r>
            <a:r>
              <a:rPr sz="900" dirty="0">
                <a:latin typeface="Arial"/>
                <a:cs typeface="Arial"/>
              </a:rPr>
              <a:t>then</a:t>
            </a:r>
            <a:r>
              <a:rPr sz="900" spc="-20" dirty="0">
                <a:latin typeface="Arial"/>
                <a:cs typeface="Arial"/>
              </a:rPr>
              <a:t> </a:t>
            </a:r>
            <a:r>
              <a:rPr sz="900" i="1" dirty="0">
                <a:latin typeface="Arial"/>
                <a:cs typeface="Arial"/>
              </a:rPr>
              <a:t>Q</a:t>
            </a:r>
            <a:r>
              <a:rPr sz="900" i="1" spc="-20" dirty="0">
                <a:latin typeface="Arial"/>
                <a:cs typeface="Arial"/>
              </a:rPr>
              <a:t> </a:t>
            </a:r>
            <a:r>
              <a:rPr sz="900" i="1" spc="50" dirty="0">
                <a:latin typeface="Menlo"/>
                <a:cs typeface="Menlo"/>
              </a:rPr>
              <a:t>∈</a:t>
            </a:r>
            <a:r>
              <a:rPr sz="900" i="1" spc="-345" dirty="0">
                <a:latin typeface="Menlo"/>
                <a:cs typeface="Menlo"/>
              </a:rPr>
              <a:t> </a:t>
            </a:r>
            <a:r>
              <a:rPr sz="900" b="1" spc="-10" dirty="0">
                <a:latin typeface="Arial"/>
                <a:cs typeface="Arial"/>
              </a:rPr>
              <a:t>DEP</a:t>
            </a:r>
            <a:r>
              <a:rPr sz="900" spc="-10" dirty="0">
                <a:latin typeface="Arial"/>
                <a:cs typeface="Arial"/>
              </a:rPr>
              <a:t>(</a:t>
            </a:r>
            <a:r>
              <a:rPr sz="900" i="1" spc="-10" dirty="0">
                <a:latin typeface="Arial"/>
                <a:cs typeface="Arial"/>
              </a:rPr>
              <a:t>m</a:t>
            </a:r>
            <a:r>
              <a:rPr sz="900" spc="-10" dirty="0">
                <a:latin typeface="Arial"/>
                <a:cs typeface="Arial"/>
              </a:rPr>
              <a:t>).</a:t>
            </a:r>
            <a:endParaRPr sz="900">
              <a:latin typeface="Arial"/>
              <a:cs typeface="Arial"/>
            </a:endParaRPr>
          </a:p>
          <a:p>
            <a:pPr marL="568325" marR="177165" indent="-120650">
              <a:lnSpc>
                <a:spcPct val="111600"/>
              </a:lnSpc>
              <a:spcBef>
                <a:spcPts val="400"/>
              </a:spcBef>
              <a:buClr>
                <a:srgbClr val="3333B2"/>
              </a:buClr>
              <a:buFont typeface="Menlo"/>
              <a:buChar char="•"/>
              <a:tabLst>
                <a:tab pos="568960" algn="l"/>
              </a:tabLst>
            </a:pPr>
            <a:r>
              <a:rPr sz="900" b="1" dirty="0">
                <a:latin typeface="Arial"/>
                <a:cs typeface="Arial"/>
              </a:rPr>
              <a:t>COPY</a:t>
            </a:r>
            <a:r>
              <a:rPr sz="900" dirty="0">
                <a:latin typeface="Arial"/>
                <a:cs typeface="Arial"/>
              </a:rPr>
              <a:t>(</a:t>
            </a:r>
            <a:r>
              <a:rPr sz="900" i="1" dirty="0">
                <a:latin typeface="Arial"/>
                <a:cs typeface="Arial"/>
              </a:rPr>
              <a:t>m</a:t>
            </a:r>
            <a:r>
              <a:rPr sz="900" dirty="0">
                <a:latin typeface="Arial"/>
                <a:cs typeface="Arial"/>
              </a:rPr>
              <a:t>):</a:t>
            </a:r>
            <a:r>
              <a:rPr sz="900" spc="25" dirty="0">
                <a:latin typeface="Arial"/>
                <a:cs typeface="Arial"/>
              </a:rPr>
              <a:t> </a:t>
            </a:r>
            <a:r>
              <a:rPr sz="900" dirty="0">
                <a:latin typeface="Arial"/>
                <a:cs typeface="Arial"/>
              </a:rPr>
              <a:t>processes</a:t>
            </a:r>
            <a:r>
              <a:rPr sz="900" spc="-30" dirty="0">
                <a:latin typeface="Arial"/>
                <a:cs typeface="Arial"/>
              </a:rPr>
              <a:t> </a:t>
            </a:r>
            <a:r>
              <a:rPr sz="900" dirty="0">
                <a:latin typeface="Arial"/>
                <a:cs typeface="Arial"/>
              </a:rPr>
              <a:t>that</a:t>
            </a:r>
            <a:r>
              <a:rPr sz="900" spc="-25" dirty="0">
                <a:latin typeface="Arial"/>
                <a:cs typeface="Arial"/>
              </a:rPr>
              <a:t> </a:t>
            </a:r>
            <a:r>
              <a:rPr sz="900" spc="-10" dirty="0">
                <a:latin typeface="Arial"/>
                <a:cs typeface="Arial"/>
              </a:rPr>
              <a:t>have</a:t>
            </a:r>
            <a:r>
              <a:rPr sz="900" spc="-3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copy</a:t>
            </a:r>
            <a:r>
              <a:rPr sz="900" spc="-30" dirty="0">
                <a:latin typeface="Arial"/>
                <a:cs typeface="Arial"/>
              </a:rPr>
              <a:t> </a:t>
            </a:r>
            <a:r>
              <a:rPr sz="900" dirty="0">
                <a:latin typeface="Arial"/>
                <a:cs typeface="Arial"/>
              </a:rPr>
              <a:t>of</a:t>
            </a:r>
            <a:r>
              <a:rPr sz="900" spc="-25" dirty="0">
                <a:latin typeface="Arial"/>
                <a:cs typeface="Arial"/>
              </a:rPr>
              <a:t> </a:t>
            </a:r>
            <a:r>
              <a:rPr sz="900" i="1" dirty="0">
                <a:latin typeface="Arial"/>
                <a:cs typeface="Arial"/>
              </a:rPr>
              <a:t>m</a:t>
            </a:r>
            <a:r>
              <a:rPr sz="900" dirty="0">
                <a:latin typeface="Arial"/>
                <a:cs typeface="Arial"/>
              </a:rPr>
              <a:t>,</a:t>
            </a:r>
            <a:r>
              <a:rPr sz="900" spc="-30" dirty="0">
                <a:latin typeface="Arial"/>
                <a:cs typeface="Arial"/>
              </a:rPr>
              <a:t> </a:t>
            </a:r>
            <a:r>
              <a:rPr sz="900" dirty="0">
                <a:latin typeface="Arial"/>
                <a:cs typeface="Arial"/>
              </a:rPr>
              <a:t>but</a:t>
            </a:r>
            <a:r>
              <a:rPr sz="900" spc="-25" dirty="0">
                <a:latin typeface="Arial"/>
                <a:cs typeface="Arial"/>
              </a:rPr>
              <a:t> </a:t>
            </a:r>
            <a:r>
              <a:rPr sz="900" spc="-10" dirty="0">
                <a:latin typeface="Arial"/>
                <a:cs typeface="Arial"/>
              </a:rPr>
              <a:t>have</a:t>
            </a:r>
            <a:r>
              <a:rPr sz="900" spc="-30" dirty="0">
                <a:latin typeface="Arial"/>
                <a:cs typeface="Arial"/>
              </a:rPr>
              <a:t> </a:t>
            </a:r>
            <a:r>
              <a:rPr sz="900" dirty="0">
                <a:latin typeface="Arial"/>
                <a:cs typeface="Arial"/>
              </a:rPr>
              <a:t>not</a:t>
            </a:r>
            <a:r>
              <a:rPr sz="900" spc="-25" dirty="0">
                <a:latin typeface="Arial"/>
                <a:cs typeface="Arial"/>
              </a:rPr>
              <a:t> </a:t>
            </a:r>
            <a:r>
              <a:rPr sz="900" dirty="0">
                <a:latin typeface="Arial"/>
                <a:cs typeface="Arial"/>
              </a:rPr>
              <a:t>(yet)</a:t>
            </a:r>
            <a:r>
              <a:rPr sz="900" spc="-30" dirty="0">
                <a:latin typeface="Arial"/>
                <a:cs typeface="Arial"/>
              </a:rPr>
              <a:t> </a:t>
            </a:r>
            <a:r>
              <a:rPr sz="900" spc="-10" dirty="0">
                <a:latin typeface="Arial"/>
                <a:cs typeface="Arial"/>
              </a:rPr>
              <a:t>reliably </a:t>
            </a:r>
            <a:r>
              <a:rPr sz="900" dirty="0">
                <a:latin typeface="Arial"/>
                <a:cs typeface="Arial"/>
              </a:rPr>
              <a:t>stored</a:t>
            </a:r>
            <a:r>
              <a:rPr sz="900" spc="-40" dirty="0">
                <a:latin typeface="Arial"/>
                <a:cs typeface="Arial"/>
              </a:rPr>
              <a:t> </a:t>
            </a:r>
            <a:r>
              <a:rPr sz="900" spc="-25" dirty="0">
                <a:latin typeface="Arial"/>
                <a:cs typeface="Arial"/>
              </a:rPr>
              <a:t>it.</a:t>
            </a:r>
            <a:endParaRPr sz="900">
              <a:latin typeface="Arial"/>
              <a:cs typeface="Arial"/>
            </a:endParaRPr>
          </a:p>
          <a:p>
            <a:pPr marL="568325" indent="-120650">
              <a:lnSpc>
                <a:spcPct val="100000"/>
              </a:lnSpc>
              <a:spcBef>
                <a:spcPts val="520"/>
              </a:spcBef>
              <a:buClr>
                <a:srgbClr val="3333B2"/>
              </a:buClr>
              <a:buFont typeface="Menlo"/>
              <a:buChar char="•"/>
              <a:tabLst>
                <a:tab pos="568960" algn="l"/>
              </a:tabLst>
            </a:pPr>
            <a:r>
              <a:rPr sz="900" b="1" dirty="0">
                <a:latin typeface="Arial"/>
                <a:cs typeface="Arial"/>
              </a:rPr>
              <a:t>FAIL</a:t>
            </a:r>
            <a:r>
              <a:rPr sz="900" dirty="0">
                <a:latin typeface="Arial"/>
                <a:cs typeface="Arial"/>
              </a:rPr>
              <a:t>:</a:t>
            </a:r>
            <a:r>
              <a:rPr sz="900" spc="5" dirty="0">
                <a:latin typeface="Arial"/>
                <a:cs typeface="Arial"/>
              </a:rPr>
              <a:t> </a:t>
            </a:r>
            <a:r>
              <a:rPr sz="900" dirty="0">
                <a:latin typeface="Arial"/>
                <a:cs typeface="Arial"/>
              </a:rPr>
              <a:t>the</a:t>
            </a:r>
            <a:r>
              <a:rPr sz="900" spc="-40" dirty="0">
                <a:latin typeface="Arial"/>
                <a:cs typeface="Arial"/>
              </a:rPr>
              <a:t> </a:t>
            </a:r>
            <a:r>
              <a:rPr sz="900" dirty="0">
                <a:latin typeface="Arial"/>
                <a:cs typeface="Arial"/>
              </a:rPr>
              <a:t>collection</a:t>
            </a:r>
            <a:r>
              <a:rPr sz="900" spc="-45" dirty="0">
                <a:latin typeface="Arial"/>
                <a:cs typeface="Arial"/>
              </a:rPr>
              <a:t> </a:t>
            </a:r>
            <a:r>
              <a:rPr sz="900" dirty="0">
                <a:latin typeface="Arial"/>
                <a:cs typeface="Arial"/>
              </a:rPr>
              <a:t>of</a:t>
            </a:r>
            <a:r>
              <a:rPr sz="900" spc="-40" dirty="0">
                <a:latin typeface="Arial"/>
                <a:cs typeface="Arial"/>
              </a:rPr>
              <a:t> </a:t>
            </a:r>
            <a:r>
              <a:rPr sz="900" dirty="0">
                <a:latin typeface="Arial"/>
                <a:cs typeface="Arial"/>
              </a:rPr>
              <a:t>crashed</a:t>
            </a:r>
            <a:r>
              <a:rPr sz="900" spc="-45" dirty="0">
                <a:latin typeface="Arial"/>
                <a:cs typeface="Arial"/>
              </a:rPr>
              <a:t> </a:t>
            </a:r>
            <a:r>
              <a:rPr sz="900" spc="-10" dirty="0">
                <a:latin typeface="Arial"/>
                <a:cs typeface="Arial"/>
              </a:rPr>
              <a:t>processes.</a:t>
            </a:r>
            <a:endParaRPr sz="900">
              <a:latin typeface="Arial"/>
              <a:cs typeface="Arial"/>
            </a:endParaRPr>
          </a:p>
          <a:p>
            <a:pPr>
              <a:lnSpc>
                <a:spcPct val="100000"/>
              </a:lnSpc>
              <a:spcBef>
                <a:spcPts val="20"/>
              </a:spcBef>
            </a:pPr>
            <a:endParaRPr sz="1200">
              <a:latin typeface="Arial"/>
              <a:cs typeface="Arial"/>
            </a:endParaRPr>
          </a:p>
          <a:p>
            <a:pPr marL="314960">
              <a:lnSpc>
                <a:spcPct val="100000"/>
              </a:lnSpc>
            </a:pPr>
            <a:r>
              <a:rPr sz="1000" spc="-10" dirty="0">
                <a:solidFill>
                  <a:srgbClr val="C80000"/>
                </a:solidFill>
                <a:latin typeface="Arial"/>
                <a:cs typeface="Arial"/>
              </a:rPr>
              <a:t>Characterization</a:t>
            </a:r>
            <a:endParaRPr sz="1000">
              <a:latin typeface="Arial"/>
              <a:cs typeface="Arial"/>
            </a:endParaRPr>
          </a:p>
          <a:p>
            <a:pPr>
              <a:lnSpc>
                <a:spcPct val="100000"/>
              </a:lnSpc>
              <a:spcBef>
                <a:spcPts val="45"/>
              </a:spcBef>
            </a:pPr>
            <a:endParaRPr sz="1100">
              <a:latin typeface="Arial"/>
              <a:cs typeface="Arial"/>
            </a:endParaRPr>
          </a:p>
          <a:p>
            <a:pPr marL="235585" algn="ctr">
              <a:lnSpc>
                <a:spcPct val="100000"/>
              </a:lnSpc>
            </a:pPr>
            <a:r>
              <a:rPr sz="900" i="1" dirty="0">
                <a:latin typeface="Arial"/>
                <a:cs typeface="Arial"/>
              </a:rPr>
              <a:t>Q</a:t>
            </a:r>
            <a:r>
              <a:rPr sz="900" i="1" spc="45" dirty="0">
                <a:latin typeface="Arial"/>
                <a:cs typeface="Arial"/>
              </a:rPr>
              <a:t> </a:t>
            </a:r>
            <a:r>
              <a:rPr sz="900" dirty="0">
                <a:latin typeface="Arial"/>
                <a:cs typeface="Arial"/>
              </a:rPr>
              <a:t>is </a:t>
            </a:r>
            <a:r>
              <a:rPr sz="900" spc="-10" dirty="0">
                <a:latin typeface="Arial"/>
                <a:cs typeface="Arial"/>
              </a:rPr>
              <a:t>orphaned</a:t>
            </a:r>
            <a:r>
              <a:rPr sz="900" spc="-50" dirty="0">
                <a:latin typeface="Arial"/>
                <a:cs typeface="Arial"/>
              </a:rPr>
              <a:t> </a:t>
            </a:r>
            <a:r>
              <a:rPr sz="900" i="1" spc="350" dirty="0">
                <a:latin typeface="Menlo"/>
                <a:cs typeface="Menlo"/>
              </a:rPr>
              <a:t>⇔</a:t>
            </a:r>
            <a:r>
              <a:rPr sz="900" i="1" spc="-335" dirty="0">
                <a:latin typeface="Menlo"/>
                <a:cs typeface="Menlo"/>
              </a:rPr>
              <a:t> </a:t>
            </a:r>
            <a:r>
              <a:rPr sz="900" i="1" spc="-30" dirty="0">
                <a:latin typeface="Menlo"/>
                <a:cs typeface="Menlo"/>
              </a:rPr>
              <a:t>∃</a:t>
            </a:r>
            <a:r>
              <a:rPr sz="900" i="1" spc="-30" dirty="0">
                <a:latin typeface="Arial"/>
                <a:cs typeface="Arial"/>
              </a:rPr>
              <a:t>m </a:t>
            </a:r>
            <a:r>
              <a:rPr sz="900" dirty="0">
                <a:latin typeface="Arial"/>
                <a:cs typeface="Arial"/>
              </a:rPr>
              <a:t>:</a:t>
            </a:r>
            <a:r>
              <a:rPr sz="900" spc="-50" dirty="0">
                <a:latin typeface="Arial"/>
                <a:cs typeface="Arial"/>
              </a:rPr>
              <a:t> </a:t>
            </a:r>
            <a:r>
              <a:rPr sz="900" i="1" dirty="0">
                <a:latin typeface="Arial"/>
                <a:cs typeface="Arial"/>
              </a:rPr>
              <a:t>Q</a:t>
            </a:r>
            <a:r>
              <a:rPr sz="900" i="1" spc="-5" dirty="0">
                <a:latin typeface="Arial"/>
                <a:cs typeface="Arial"/>
              </a:rPr>
              <a:t> </a:t>
            </a:r>
            <a:r>
              <a:rPr sz="900" i="1" spc="50" dirty="0">
                <a:latin typeface="Menlo"/>
                <a:cs typeface="Menlo"/>
              </a:rPr>
              <a:t>∈</a:t>
            </a:r>
            <a:r>
              <a:rPr sz="900" i="1" spc="-340" dirty="0">
                <a:latin typeface="Menlo"/>
                <a:cs typeface="Menlo"/>
              </a:rPr>
              <a:t> </a:t>
            </a:r>
            <a:r>
              <a:rPr sz="900" b="1" dirty="0">
                <a:latin typeface="Arial"/>
                <a:cs typeface="Arial"/>
              </a:rPr>
              <a:t>DEP</a:t>
            </a:r>
            <a:r>
              <a:rPr sz="900" dirty="0">
                <a:latin typeface="Arial"/>
                <a:cs typeface="Arial"/>
              </a:rPr>
              <a:t>(</a:t>
            </a:r>
            <a:r>
              <a:rPr sz="900" i="1" dirty="0">
                <a:latin typeface="Arial"/>
                <a:cs typeface="Arial"/>
              </a:rPr>
              <a:t>m</a:t>
            </a:r>
            <a:r>
              <a:rPr sz="900" dirty="0">
                <a:latin typeface="Arial"/>
                <a:cs typeface="Arial"/>
              </a:rPr>
              <a:t>)</a:t>
            </a:r>
            <a:r>
              <a:rPr sz="900" spc="5" dirty="0">
                <a:latin typeface="Arial"/>
                <a:cs typeface="Arial"/>
              </a:rPr>
              <a:t> </a:t>
            </a:r>
            <a:r>
              <a:rPr sz="900" dirty="0">
                <a:latin typeface="Arial"/>
                <a:cs typeface="Arial"/>
              </a:rPr>
              <a:t>and </a:t>
            </a:r>
            <a:r>
              <a:rPr sz="900" b="1" spc="-10" dirty="0">
                <a:latin typeface="Arial"/>
                <a:cs typeface="Arial"/>
              </a:rPr>
              <a:t>COPY</a:t>
            </a:r>
            <a:r>
              <a:rPr sz="900" spc="-10" dirty="0">
                <a:latin typeface="Arial"/>
                <a:cs typeface="Arial"/>
              </a:rPr>
              <a:t>(</a:t>
            </a:r>
            <a:r>
              <a:rPr sz="900" i="1" spc="-10" dirty="0">
                <a:latin typeface="Arial"/>
                <a:cs typeface="Arial"/>
              </a:rPr>
              <a:t>m</a:t>
            </a:r>
            <a:r>
              <a:rPr sz="900" spc="-10" dirty="0">
                <a:latin typeface="Arial"/>
                <a:cs typeface="Arial"/>
              </a:rPr>
              <a:t>)</a:t>
            </a:r>
            <a:r>
              <a:rPr sz="900" spc="-50" dirty="0">
                <a:latin typeface="Arial"/>
                <a:cs typeface="Arial"/>
              </a:rPr>
              <a:t> </a:t>
            </a:r>
            <a:r>
              <a:rPr sz="900" i="1" spc="150" dirty="0">
                <a:latin typeface="Menlo"/>
                <a:cs typeface="Menlo"/>
              </a:rPr>
              <a:t>⊆</a:t>
            </a:r>
            <a:r>
              <a:rPr sz="900" i="1" spc="-340" dirty="0">
                <a:latin typeface="Menlo"/>
                <a:cs typeface="Menlo"/>
              </a:rPr>
              <a:t> </a:t>
            </a:r>
            <a:r>
              <a:rPr sz="900" b="1" spc="-20" dirty="0">
                <a:latin typeface="Arial"/>
                <a:cs typeface="Arial"/>
              </a:rPr>
              <a:t>FAIL</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50419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Message</a:t>
            </a:r>
            <a:r>
              <a:rPr sz="500" spc="-30" dirty="0">
                <a:latin typeface="Arial"/>
                <a:cs typeface="Arial"/>
                <a:hlinkClick r:id="rId4" action="ppaction://hlinksldjump"/>
              </a:rPr>
              <a:t> </a:t>
            </a:r>
            <a:r>
              <a:rPr sz="500" spc="-10" dirty="0">
                <a:latin typeface="Arial"/>
                <a:cs typeface="Arial"/>
                <a:hlinkClick r:id="rId4" action="ppaction://hlinksldjump"/>
              </a:rPr>
              <a:t>logging</a:t>
            </a:r>
            <a:endParaRPr sz="500">
              <a:latin typeface="Arial"/>
              <a:cs typeface="Arial"/>
            </a:endParaRPr>
          </a:p>
        </p:txBody>
      </p:sp>
    </p:spTree>
  </p:cSld>
  <p:clrMapOvr>
    <a:masterClrMapping/>
  </p:clrMapOvr>
  <p:transition>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3" action="ppaction://hlinksldjump"/>
              </a:rPr>
              <a:t>Fault</a:t>
            </a:r>
            <a:r>
              <a:rPr sz="500" spc="5" dirty="0">
                <a:latin typeface="Arial"/>
                <a:cs typeface="Arial"/>
                <a:hlinkClick r:id="rId3" action="ppaction://hlinksldjump"/>
              </a:rPr>
              <a:t> </a:t>
            </a:r>
            <a:r>
              <a:rPr sz="500" spc="-10" dirty="0">
                <a:latin typeface="Arial"/>
                <a:cs typeface="Arial"/>
                <a:hlinkClick r:id="rId3"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262602" y="-1515"/>
            <a:ext cx="29210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4" action="ppaction://hlinksldjump"/>
              </a:rPr>
              <a:t>Recovery</a:t>
            </a:r>
            <a:endParaRPr sz="500">
              <a:latin typeface="Arial"/>
              <a:cs typeface="Arial"/>
            </a:endParaRPr>
          </a:p>
        </p:txBody>
      </p:sp>
      <p:sp>
        <p:nvSpPr>
          <p:cNvPr id="5" name="object 5"/>
          <p:cNvSpPr txBox="1"/>
          <p:nvPr/>
        </p:nvSpPr>
        <p:spPr>
          <a:xfrm>
            <a:off x="95300" y="197711"/>
            <a:ext cx="4181475" cy="1405890"/>
          </a:xfrm>
          <a:prstGeom prst="rect">
            <a:avLst/>
          </a:prstGeom>
        </p:spPr>
        <p:txBody>
          <a:bodyPr vert="horz" wrap="square" lIns="0" tIns="12065" rIns="0" bIns="0" rtlCol="0">
            <a:spAutoFit/>
          </a:bodyPr>
          <a:lstStyle/>
          <a:p>
            <a:pPr marL="12700">
              <a:lnSpc>
                <a:spcPct val="100000"/>
              </a:lnSpc>
              <a:spcBef>
                <a:spcPts val="95"/>
              </a:spcBef>
            </a:pPr>
            <a:r>
              <a:rPr sz="1200" spc="-10" dirty="0">
                <a:solidFill>
                  <a:srgbClr val="3333B2"/>
                </a:solidFill>
                <a:latin typeface="Arial"/>
                <a:cs typeface="Arial"/>
              </a:rPr>
              <a:t>Message-</a:t>
            </a:r>
            <a:r>
              <a:rPr sz="1200" dirty="0">
                <a:solidFill>
                  <a:srgbClr val="3333B2"/>
                </a:solidFill>
                <a:latin typeface="Arial"/>
                <a:cs typeface="Arial"/>
              </a:rPr>
              <a:t>logging</a:t>
            </a:r>
            <a:r>
              <a:rPr sz="1200" spc="-20" dirty="0">
                <a:solidFill>
                  <a:srgbClr val="3333B2"/>
                </a:solidFill>
                <a:latin typeface="Arial"/>
                <a:cs typeface="Arial"/>
              </a:rPr>
              <a:t> </a:t>
            </a:r>
            <a:r>
              <a:rPr sz="1200" spc="-10" dirty="0">
                <a:solidFill>
                  <a:srgbClr val="3333B2"/>
                </a:solidFill>
                <a:latin typeface="Arial"/>
                <a:cs typeface="Arial"/>
              </a:rPr>
              <a:t>schemes</a:t>
            </a:r>
            <a:endParaRPr sz="1200">
              <a:latin typeface="Arial"/>
              <a:cs typeface="Arial"/>
            </a:endParaRPr>
          </a:p>
          <a:p>
            <a:pPr marL="264160">
              <a:lnSpc>
                <a:spcPct val="100000"/>
              </a:lnSpc>
              <a:spcBef>
                <a:spcPts val="1055"/>
              </a:spcBef>
            </a:pPr>
            <a:r>
              <a:rPr sz="1000" spc="-10" dirty="0">
                <a:solidFill>
                  <a:srgbClr val="3333B2"/>
                </a:solidFill>
                <a:latin typeface="Arial"/>
                <a:cs typeface="Arial"/>
              </a:rPr>
              <a:t>Pessimistic</a:t>
            </a:r>
            <a:r>
              <a:rPr sz="1000" spc="-5" dirty="0">
                <a:solidFill>
                  <a:srgbClr val="3333B2"/>
                </a:solidFill>
                <a:latin typeface="Arial"/>
                <a:cs typeface="Arial"/>
              </a:rPr>
              <a:t> </a:t>
            </a:r>
            <a:r>
              <a:rPr sz="1000" spc="-10" dirty="0">
                <a:solidFill>
                  <a:srgbClr val="3333B2"/>
                </a:solidFill>
                <a:latin typeface="Arial"/>
                <a:cs typeface="Arial"/>
              </a:rPr>
              <a:t>protocol</a:t>
            </a:r>
            <a:endParaRPr sz="1000">
              <a:latin typeface="Arial"/>
              <a:cs typeface="Arial"/>
            </a:endParaRPr>
          </a:p>
          <a:p>
            <a:pPr marL="264160" marR="5080">
              <a:lnSpc>
                <a:spcPct val="111600"/>
              </a:lnSpc>
              <a:spcBef>
                <a:spcPts val="170"/>
              </a:spcBef>
            </a:pPr>
            <a:r>
              <a:rPr sz="900" spc="-10" dirty="0">
                <a:latin typeface="Arial"/>
                <a:cs typeface="Arial"/>
              </a:rPr>
              <a:t>For</a:t>
            </a:r>
            <a:r>
              <a:rPr sz="900" spc="-45" dirty="0">
                <a:latin typeface="Arial"/>
                <a:cs typeface="Arial"/>
              </a:rPr>
              <a:t> </a:t>
            </a:r>
            <a:r>
              <a:rPr sz="900" spc="-10" dirty="0">
                <a:latin typeface="Arial"/>
                <a:cs typeface="Arial"/>
              </a:rPr>
              <a:t>each</a:t>
            </a:r>
            <a:r>
              <a:rPr sz="900" spc="-30" dirty="0">
                <a:latin typeface="Arial"/>
                <a:cs typeface="Arial"/>
              </a:rPr>
              <a:t> </a:t>
            </a:r>
            <a:r>
              <a:rPr sz="900" spc="-10" dirty="0">
                <a:solidFill>
                  <a:srgbClr val="3333B2"/>
                </a:solidFill>
                <a:latin typeface="Arial"/>
                <a:cs typeface="Arial"/>
              </a:rPr>
              <a:t>nonstable</a:t>
            </a:r>
            <a:r>
              <a:rPr sz="900" spc="-35" dirty="0">
                <a:solidFill>
                  <a:srgbClr val="3333B2"/>
                </a:solidFill>
                <a:latin typeface="Arial"/>
                <a:cs typeface="Arial"/>
              </a:rPr>
              <a:t> </a:t>
            </a:r>
            <a:r>
              <a:rPr sz="900" spc="-10" dirty="0">
                <a:latin typeface="Arial"/>
                <a:cs typeface="Arial"/>
              </a:rPr>
              <a:t>message</a:t>
            </a:r>
            <a:r>
              <a:rPr sz="900" spc="-30" dirty="0">
                <a:latin typeface="Arial"/>
                <a:cs typeface="Arial"/>
              </a:rPr>
              <a:t> </a:t>
            </a:r>
            <a:r>
              <a:rPr sz="900" i="1" dirty="0">
                <a:latin typeface="Arial"/>
                <a:cs typeface="Arial"/>
              </a:rPr>
              <a:t>m</a:t>
            </a:r>
            <a:r>
              <a:rPr sz="900" dirty="0">
                <a:latin typeface="Arial"/>
                <a:cs typeface="Arial"/>
              </a:rPr>
              <a:t>,</a:t>
            </a:r>
            <a:r>
              <a:rPr sz="900" spc="-35" dirty="0">
                <a:latin typeface="Arial"/>
                <a:cs typeface="Arial"/>
              </a:rPr>
              <a:t> </a:t>
            </a:r>
            <a:r>
              <a:rPr sz="900" spc="-10" dirty="0">
                <a:latin typeface="Arial"/>
                <a:cs typeface="Arial"/>
              </a:rPr>
              <a:t>there</a:t>
            </a:r>
            <a:r>
              <a:rPr sz="900" spc="-30" dirty="0">
                <a:latin typeface="Arial"/>
                <a:cs typeface="Arial"/>
              </a:rPr>
              <a:t> </a:t>
            </a:r>
            <a:r>
              <a:rPr sz="900" dirty="0">
                <a:latin typeface="Arial"/>
                <a:cs typeface="Arial"/>
              </a:rPr>
              <a:t>is</a:t>
            </a:r>
            <a:r>
              <a:rPr sz="900" spc="-35" dirty="0">
                <a:latin typeface="Arial"/>
                <a:cs typeface="Arial"/>
              </a:rPr>
              <a:t> </a:t>
            </a:r>
            <a:r>
              <a:rPr sz="900" dirty="0">
                <a:latin typeface="Arial"/>
                <a:cs typeface="Arial"/>
              </a:rPr>
              <a:t>at</a:t>
            </a:r>
            <a:r>
              <a:rPr sz="900" spc="-30" dirty="0">
                <a:latin typeface="Arial"/>
                <a:cs typeface="Arial"/>
              </a:rPr>
              <a:t> </a:t>
            </a:r>
            <a:r>
              <a:rPr sz="900" spc="-10" dirty="0">
                <a:latin typeface="Arial"/>
                <a:cs typeface="Arial"/>
              </a:rPr>
              <a:t>most</a:t>
            </a:r>
            <a:r>
              <a:rPr sz="900" spc="-35" dirty="0">
                <a:latin typeface="Arial"/>
                <a:cs typeface="Arial"/>
              </a:rPr>
              <a:t> </a:t>
            </a:r>
            <a:r>
              <a:rPr sz="900" dirty="0">
                <a:latin typeface="Arial"/>
                <a:cs typeface="Arial"/>
              </a:rPr>
              <a:t>one</a:t>
            </a:r>
            <a:r>
              <a:rPr sz="900" spc="-30" dirty="0">
                <a:latin typeface="Arial"/>
                <a:cs typeface="Arial"/>
              </a:rPr>
              <a:t> </a:t>
            </a:r>
            <a:r>
              <a:rPr sz="900" spc="-10" dirty="0">
                <a:latin typeface="Arial"/>
                <a:cs typeface="Arial"/>
              </a:rPr>
              <a:t>process</a:t>
            </a:r>
            <a:r>
              <a:rPr sz="900" spc="-35" dirty="0">
                <a:latin typeface="Arial"/>
                <a:cs typeface="Arial"/>
              </a:rPr>
              <a:t> </a:t>
            </a:r>
            <a:r>
              <a:rPr sz="900" spc="-10" dirty="0">
                <a:latin typeface="Arial"/>
                <a:cs typeface="Arial"/>
              </a:rPr>
              <a:t>dependent</a:t>
            </a:r>
            <a:r>
              <a:rPr sz="900" spc="-30" dirty="0">
                <a:latin typeface="Arial"/>
                <a:cs typeface="Arial"/>
              </a:rPr>
              <a:t> </a:t>
            </a:r>
            <a:r>
              <a:rPr sz="900" dirty="0">
                <a:latin typeface="Arial"/>
                <a:cs typeface="Arial"/>
              </a:rPr>
              <a:t>on</a:t>
            </a:r>
            <a:r>
              <a:rPr sz="900" spc="-30" dirty="0">
                <a:latin typeface="Arial"/>
                <a:cs typeface="Arial"/>
              </a:rPr>
              <a:t> </a:t>
            </a:r>
            <a:r>
              <a:rPr sz="900" i="1" spc="-25" dirty="0">
                <a:latin typeface="Arial"/>
                <a:cs typeface="Arial"/>
              </a:rPr>
              <a:t>m</a:t>
            </a:r>
            <a:r>
              <a:rPr sz="900" spc="-25" dirty="0">
                <a:latin typeface="Arial"/>
                <a:cs typeface="Arial"/>
              </a:rPr>
              <a:t>, </a:t>
            </a:r>
            <a:r>
              <a:rPr sz="900" dirty="0">
                <a:latin typeface="Arial"/>
                <a:cs typeface="Arial"/>
              </a:rPr>
              <a:t>that</a:t>
            </a:r>
            <a:r>
              <a:rPr sz="900" spc="5" dirty="0">
                <a:latin typeface="Arial"/>
                <a:cs typeface="Arial"/>
              </a:rPr>
              <a:t> </a:t>
            </a:r>
            <a:r>
              <a:rPr sz="900" dirty="0">
                <a:latin typeface="Arial"/>
                <a:cs typeface="Arial"/>
              </a:rPr>
              <a:t>is</a:t>
            </a:r>
            <a:r>
              <a:rPr sz="900" spc="5" dirty="0">
                <a:latin typeface="Arial"/>
                <a:cs typeface="Arial"/>
              </a:rPr>
              <a:t> </a:t>
            </a:r>
            <a:r>
              <a:rPr sz="900" i="1" spc="-85" dirty="0">
                <a:latin typeface="Menlo"/>
                <a:cs typeface="Menlo"/>
              </a:rPr>
              <a:t>|</a:t>
            </a:r>
            <a:r>
              <a:rPr sz="900" b="1" spc="-85" dirty="0">
                <a:latin typeface="Arial"/>
                <a:cs typeface="Arial"/>
              </a:rPr>
              <a:t>DEP</a:t>
            </a:r>
            <a:r>
              <a:rPr sz="900" spc="-85" dirty="0">
                <a:latin typeface="Arial"/>
                <a:cs typeface="Arial"/>
              </a:rPr>
              <a:t>(</a:t>
            </a:r>
            <a:r>
              <a:rPr sz="900" i="1" spc="-85" dirty="0">
                <a:latin typeface="Arial"/>
                <a:cs typeface="Arial"/>
              </a:rPr>
              <a:t>m</a:t>
            </a:r>
            <a:r>
              <a:rPr sz="900" spc="-85" dirty="0">
                <a:latin typeface="Arial"/>
                <a:cs typeface="Arial"/>
              </a:rPr>
              <a:t>)</a:t>
            </a:r>
            <a:r>
              <a:rPr sz="900" i="1" spc="-85" dirty="0">
                <a:latin typeface="Menlo"/>
                <a:cs typeface="Menlo"/>
              </a:rPr>
              <a:t>|</a:t>
            </a:r>
            <a:r>
              <a:rPr sz="900" i="1" spc="-340" dirty="0">
                <a:latin typeface="Menlo"/>
                <a:cs typeface="Menlo"/>
              </a:rPr>
              <a:t> </a:t>
            </a:r>
            <a:r>
              <a:rPr sz="900" i="1" spc="150" dirty="0">
                <a:latin typeface="Menlo"/>
                <a:cs typeface="Menlo"/>
              </a:rPr>
              <a:t>≤</a:t>
            </a:r>
            <a:r>
              <a:rPr sz="900" i="1" spc="-335" dirty="0">
                <a:latin typeface="Menlo"/>
                <a:cs typeface="Menlo"/>
              </a:rPr>
              <a:t> </a:t>
            </a:r>
            <a:r>
              <a:rPr sz="900" spc="-25" dirty="0">
                <a:latin typeface="Arial"/>
                <a:cs typeface="Arial"/>
              </a:rPr>
              <a:t>1.</a:t>
            </a:r>
            <a:endParaRPr sz="900">
              <a:latin typeface="Arial"/>
              <a:cs typeface="Arial"/>
            </a:endParaRPr>
          </a:p>
          <a:p>
            <a:pPr marL="264160">
              <a:lnSpc>
                <a:spcPct val="100000"/>
              </a:lnSpc>
              <a:spcBef>
                <a:spcPts val="815"/>
              </a:spcBef>
            </a:pPr>
            <a:r>
              <a:rPr sz="1000" spc="-10" dirty="0">
                <a:solidFill>
                  <a:srgbClr val="C80000"/>
                </a:solidFill>
                <a:latin typeface="Arial"/>
                <a:cs typeface="Arial"/>
              </a:rPr>
              <a:t>Consequence</a:t>
            </a:r>
            <a:endParaRPr sz="1000">
              <a:latin typeface="Arial"/>
              <a:cs typeface="Arial"/>
            </a:endParaRPr>
          </a:p>
          <a:p>
            <a:pPr marL="264160" marR="142875" indent="-3810">
              <a:lnSpc>
                <a:spcPct val="111600"/>
              </a:lnSpc>
              <a:spcBef>
                <a:spcPts val="170"/>
              </a:spcBef>
            </a:pPr>
            <a:r>
              <a:rPr sz="900" dirty="0">
                <a:latin typeface="Arial"/>
                <a:cs typeface="Arial"/>
              </a:rPr>
              <a:t>An</a:t>
            </a:r>
            <a:r>
              <a:rPr sz="900" spc="-35" dirty="0">
                <a:latin typeface="Arial"/>
                <a:cs typeface="Arial"/>
              </a:rPr>
              <a:t> </a:t>
            </a:r>
            <a:r>
              <a:rPr sz="900" dirty="0">
                <a:latin typeface="Arial"/>
                <a:cs typeface="Arial"/>
              </a:rPr>
              <a:t>unstable</a:t>
            </a:r>
            <a:r>
              <a:rPr sz="900" spc="-30" dirty="0">
                <a:latin typeface="Arial"/>
                <a:cs typeface="Arial"/>
              </a:rPr>
              <a:t> </a:t>
            </a:r>
            <a:r>
              <a:rPr sz="900" dirty="0">
                <a:latin typeface="Arial"/>
                <a:cs typeface="Arial"/>
              </a:rPr>
              <a:t>message</a:t>
            </a:r>
            <a:r>
              <a:rPr sz="900" spc="-35" dirty="0">
                <a:latin typeface="Arial"/>
                <a:cs typeface="Arial"/>
              </a:rPr>
              <a:t> </a:t>
            </a:r>
            <a:r>
              <a:rPr sz="900" dirty="0">
                <a:latin typeface="Arial"/>
                <a:cs typeface="Arial"/>
              </a:rPr>
              <a:t>in</a:t>
            </a:r>
            <a:r>
              <a:rPr sz="900" spc="-30"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pessimistic</a:t>
            </a:r>
            <a:r>
              <a:rPr sz="900" spc="-35" dirty="0">
                <a:latin typeface="Arial"/>
                <a:cs typeface="Arial"/>
              </a:rPr>
              <a:t> </a:t>
            </a:r>
            <a:r>
              <a:rPr sz="900" dirty="0">
                <a:latin typeface="Arial"/>
                <a:cs typeface="Arial"/>
              </a:rPr>
              <a:t>protocol</a:t>
            </a:r>
            <a:r>
              <a:rPr sz="900" spc="-30" dirty="0">
                <a:latin typeface="Arial"/>
                <a:cs typeface="Arial"/>
              </a:rPr>
              <a:t> </a:t>
            </a:r>
            <a:r>
              <a:rPr sz="900" dirty="0">
                <a:solidFill>
                  <a:srgbClr val="3333B2"/>
                </a:solidFill>
                <a:latin typeface="Arial"/>
                <a:cs typeface="Arial"/>
              </a:rPr>
              <a:t>must</a:t>
            </a:r>
            <a:r>
              <a:rPr sz="900" spc="-30" dirty="0">
                <a:solidFill>
                  <a:srgbClr val="3333B2"/>
                </a:solidFill>
                <a:latin typeface="Arial"/>
                <a:cs typeface="Arial"/>
              </a:rPr>
              <a:t> </a:t>
            </a:r>
            <a:r>
              <a:rPr sz="900" dirty="0">
                <a:latin typeface="Arial"/>
                <a:cs typeface="Arial"/>
              </a:rPr>
              <a:t>be</a:t>
            </a:r>
            <a:r>
              <a:rPr sz="900" spc="-35" dirty="0">
                <a:latin typeface="Arial"/>
                <a:cs typeface="Arial"/>
              </a:rPr>
              <a:t> </a:t>
            </a:r>
            <a:r>
              <a:rPr sz="900" dirty="0">
                <a:latin typeface="Arial"/>
                <a:cs typeface="Arial"/>
              </a:rPr>
              <a:t>made</a:t>
            </a:r>
            <a:r>
              <a:rPr sz="900" spc="-30" dirty="0">
                <a:latin typeface="Arial"/>
                <a:cs typeface="Arial"/>
              </a:rPr>
              <a:t> </a:t>
            </a:r>
            <a:r>
              <a:rPr sz="900" dirty="0">
                <a:latin typeface="Arial"/>
                <a:cs typeface="Arial"/>
              </a:rPr>
              <a:t>stable</a:t>
            </a:r>
            <a:r>
              <a:rPr sz="900" spc="-35" dirty="0">
                <a:latin typeface="Arial"/>
                <a:cs typeface="Arial"/>
              </a:rPr>
              <a:t> </a:t>
            </a:r>
            <a:r>
              <a:rPr sz="900" spc="-10" dirty="0">
                <a:latin typeface="Arial"/>
                <a:cs typeface="Arial"/>
              </a:rPr>
              <a:t>before </a:t>
            </a:r>
            <a:r>
              <a:rPr sz="900" dirty="0">
                <a:latin typeface="Arial"/>
                <a:cs typeface="Arial"/>
              </a:rPr>
              <a:t>sending</a:t>
            </a:r>
            <a:r>
              <a:rPr sz="900" spc="-35" dirty="0">
                <a:latin typeface="Arial"/>
                <a:cs typeface="Arial"/>
              </a:rPr>
              <a:t> </a:t>
            </a:r>
            <a:r>
              <a:rPr sz="900" dirty="0">
                <a:latin typeface="Arial"/>
                <a:cs typeface="Arial"/>
              </a:rPr>
              <a:t>a</a:t>
            </a:r>
            <a:r>
              <a:rPr sz="900" spc="-35" dirty="0">
                <a:latin typeface="Arial"/>
                <a:cs typeface="Arial"/>
              </a:rPr>
              <a:t> </a:t>
            </a:r>
            <a:r>
              <a:rPr sz="900" dirty="0">
                <a:latin typeface="Arial"/>
                <a:cs typeface="Arial"/>
              </a:rPr>
              <a:t>next</a:t>
            </a:r>
            <a:r>
              <a:rPr sz="900" spc="-30" dirty="0">
                <a:latin typeface="Arial"/>
                <a:cs typeface="Arial"/>
              </a:rPr>
              <a:t> </a:t>
            </a:r>
            <a:r>
              <a:rPr sz="900" spc="-10" dirty="0">
                <a:latin typeface="Arial"/>
                <a:cs typeface="Arial"/>
              </a:rPr>
              <a:t>message.</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50419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Message</a:t>
            </a:r>
            <a:r>
              <a:rPr sz="500" spc="-30" dirty="0">
                <a:latin typeface="Arial"/>
                <a:cs typeface="Arial"/>
                <a:hlinkClick r:id="rId5" action="ppaction://hlinksldjump"/>
              </a:rPr>
              <a:t> </a:t>
            </a:r>
            <a:r>
              <a:rPr sz="500" spc="-10" dirty="0">
                <a:latin typeface="Arial"/>
                <a:cs typeface="Arial"/>
                <a:hlinkClick r:id="rId5" action="ppaction://hlinksldjump"/>
              </a:rPr>
              <a:t>logging</a:t>
            </a:r>
            <a:endParaRPr sz="500">
              <a:latin typeface="Arial"/>
              <a:cs typeface="Arial"/>
            </a:endParaRPr>
          </a:p>
        </p:txBody>
      </p:sp>
    </p:spTree>
  </p:cSld>
  <p:clrMapOvr>
    <a:masterClrMapping/>
  </p:clrMapOvr>
  <p:transition>
    <p:fad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4005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Fault</a:t>
            </a:r>
            <a:r>
              <a:rPr sz="500" spc="5" dirty="0">
                <a:latin typeface="Arial"/>
                <a:cs typeface="Arial"/>
                <a:hlinkClick r:id="rId2" action="ppaction://hlinksldjump"/>
              </a:rPr>
              <a:t> </a:t>
            </a:r>
            <a:r>
              <a:rPr sz="500" spc="-10" dirty="0">
                <a:latin typeface="Arial"/>
                <a:cs typeface="Arial"/>
                <a:hlinkClick r:id="rId2" action="ppaction://hlinksldjump"/>
              </a:rPr>
              <a:t>tolerance</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262602" y="-1515"/>
            <a:ext cx="29210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Recovery</a:t>
            </a:r>
            <a:endParaRPr sz="500">
              <a:latin typeface="Arial"/>
              <a:cs typeface="Arial"/>
            </a:endParaRPr>
          </a:p>
        </p:txBody>
      </p:sp>
      <p:sp>
        <p:nvSpPr>
          <p:cNvPr id="5" name="object 5"/>
          <p:cNvSpPr txBox="1"/>
          <p:nvPr/>
        </p:nvSpPr>
        <p:spPr>
          <a:xfrm>
            <a:off x="95300" y="197711"/>
            <a:ext cx="4165600" cy="1405890"/>
          </a:xfrm>
          <a:prstGeom prst="rect">
            <a:avLst/>
          </a:prstGeom>
        </p:spPr>
        <p:txBody>
          <a:bodyPr vert="horz" wrap="square" lIns="0" tIns="12065" rIns="0" bIns="0" rtlCol="0">
            <a:spAutoFit/>
          </a:bodyPr>
          <a:lstStyle/>
          <a:p>
            <a:pPr marL="12700">
              <a:lnSpc>
                <a:spcPct val="100000"/>
              </a:lnSpc>
              <a:spcBef>
                <a:spcPts val="95"/>
              </a:spcBef>
            </a:pPr>
            <a:r>
              <a:rPr sz="1200" spc="-10" dirty="0">
                <a:solidFill>
                  <a:srgbClr val="3333B2"/>
                </a:solidFill>
                <a:latin typeface="Arial"/>
                <a:cs typeface="Arial"/>
              </a:rPr>
              <a:t>Message-</a:t>
            </a:r>
            <a:r>
              <a:rPr sz="1200" dirty="0">
                <a:solidFill>
                  <a:srgbClr val="3333B2"/>
                </a:solidFill>
                <a:latin typeface="Arial"/>
                <a:cs typeface="Arial"/>
              </a:rPr>
              <a:t>logging</a:t>
            </a:r>
            <a:r>
              <a:rPr sz="1200" spc="-20" dirty="0">
                <a:solidFill>
                  <a:srgbClr val="3333B2"/>
                </a:solidFill>
                <a:latin typeface="Arial"/>
                <a:cs typeface="Arial"/>
              </a:rPr>
              <a:t> </a:t>
            </a:r>
            <a:r>
              <a:rPr sz="1200" spc="-10" dirty="0">
                <a:solidFill>
                  <a:srgbClr val="3333B2"/>
                </a:solidFill>
                <a:latin typeface="Arial"/>
                <a:cs typeface="Arial"/>
              </a:rPr>
              <a:t>schemes</a:t>
            </a:r>
            <a:endParaRPr sz="1200">
              <a:latin typeface="Arial"/>
              <a:cs typeface="Arial"/>
            </a:endParaRPr>
          </a:p>
          <a:p>
            <a:pPr marL="264160">
              <a:lnSpc>
                <a:spcPct val="100000"/>
              </a:lnSpc>
              <a:spcBef>
                <a:spcPts val="1055"/>
              </a:spcBef>
            </a:pPr>
            <a:r>
              <a:rPr sz="1000" dirty="0">
                <a:solidFill>
                  <a:srgbClr val="3333B2"/>
                </a:solidFill>
                <a:latin typeface="Arial"/>
                <a:cs typeface="Arial"/>
              </a:rPr>
              <a:t>Optimistic</a:t>
            </a:r>
            <a:r>
              <a:rPr sz="1000" spc="-50" dirty="0">
                <a:solidFill>
                  <a:srgbClr val="3333B2"/>
                </a:solidFill>
                <a:latin typeface="Arial"/>
                <a:cs typeface="Arial"/>
              </a:rPr>
              <a:t> </a:t>
            </a:r>
            <a:r>
              <a:rPr sz="1000" spc="-10" dirty="0">
                <a:solidFill>
                  <a:srgbClr val="3333B2"/>
                </a:solidFill>
                <a:latin typeface="Arial"/>
                <a:cs typeface="Arial"/>
              </a:rPr>
              <a:t>protocol</a:t>
            </a:r>
            <a:endParaRPr sz="1000">
              <a:latin typeface="Arial"/>
              <a:cs typeface="Arial"/>
            </a:endParaRPr>
          </a:p>
          <a:p>
            <a:pPr marL="264160" marR="271780">
              <a:lnSpc>
                <a:spcPct val="111600"/>
              </a:lnSpc>
              <a:spcBef>
                <a:spcPts val="170"/>
              </a:spcBef>
            </a:pPr>
            <a:r>
              <a:rPr sz="900" dirty="0">
                <a:latin typeface="Arial"/>
                <a:cs typeface="Arial"/>
              </a:rPr>
              <a:t>For</a:t>
            </a:r>
            <a:r>
              <a:rPr sz="900" spc="-55" dirty="0">
                <a:latin typeface="Arial"/>
                <a:cs typeface="Arial"/>
              </a:rPr>
              <a:t> </a:t>
            </a:r>
            <a:r>
              <a:rPr sz="900" dirty="0">
                <a:latin typeface="Arial"/>
                <a:cs typeface="Arial"/>
              </a:rPr>
              <a:t>each</a:t>
            </a:r>
            <a:r>
              <a:rPr sz="900" spc="-25" dirty="0">
                <a:latin typeface="Arial"/>
                <a:cs typeface="Arial"/>
              </a:rPr>
              <a:t> </a:t>
            </a:r>
            <a:r>
              <a:rPr sz="900" dirty="0">
                <a:latin typeface="Arial"/>
                <a:cs typeface="Arial"/>
              </a:rPr>
              <a:t>unstable</a:t>
            </a:r>
            <a:r>
              <a:rPr sz="900" spc="-25" dirty="0">
                <a:latin typeface="Arial"/>
                <a:cs typeface="Arial"/>
              </a:rPr>
              <a:t> </a:t>
            </a:r>
            <a:r>
              <a:rPr sz="900" dirty="0">
                <a:latin typeface="Arial"/>
                <a:cs typeface="Arial"/>
              </a:rPr>
              <a:t>message</a:t>
            </a:r>
            <a:r>
              <a:rPr sz="900" spc="-25" dirty="0">
                <a:latin typeface="Arial"/>
                <a:cs typeface="Arial"/>
              </a:rPr>
              <a:t> </a:t>
            </a:r>
            <a:r>
              <a:rPr sz="900" i="1" dirty="0">
                <a:latin typeface="Arial"/>
                <a:cs typeface="Arial"/>
              </a:rPr>
              <a:t>m</a:t>
            </a:r>
            <a:r>
              <a:rPr sz="900" dirty="0">
                <a:latin typeface="Arial"/>
                <a:cs typeface="Arial"/>
              </a:rPr>
              <a:t>,</a:t>
            </a:r>
            <a:r>
              <a:rPr sz="900" spc="-25" dirty="0">
                <a:latin typeface="Arial"/>
                <a:cs typeface="Arial"/>
              </a:rPr>
              <a:t> </a:t>
            </a:r>
            <a:r>
              <a:rPr sz="900" dirty="0">
                <a:latin typeface="Arial"/>
                <a:cs typeface="Arial"/>
              </a:rPr>
              <a:t>we</a:t>
            </a:r>
            <a:r>
              <a:rPr sz="900" spc="-25" dirty="0">
                <a:latin typeface="Arial"/>
                <a:cs typeface="Arial"/>
              </a:rPr>
              <a:t> </a:t>
            </a:r>
            <a:r>
              <a:rPr sz="900" dirty="0">
                <a:latin typeface="Arial"/>
                <a:cs typeface="Arial"/>
              </a:rPr>
              <a:t>ensure</a:t>
            </a:r>
            <a:r>
              <a:rPr sz="900" spc="-20"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if</a:t>
            </a:r>
            <a:r>
              <a:rPr sz="900" spc="-25" dirty="0">
                <a:latin typeface="Arial"/>
                <a:cs typeface="Arial"/>
              </a:rPr>
              <a:t> </a:t>
            </a:r>
            <a:r>
              <a:rPr sz="900" b="1" spc="-10" dirty="0">
                <a:latin typeface="Arial"/>
                <a:cs typeface="Arial"/>
              </a:rPr>
              <a:t>COPY</a:t>
            </a:r>
            <a:r>
              <a:rPr sz="900" spc="-10" dirty="0">
                <a:latin typeface="Arial"/>
                <a:cs typeface="Arial"/>
              </a:rPr>
              <a:t>(</a:t>
            </a:r>
            <a:r>
              <a:rPr sz="900" i="1" spc="-10" dirty="0">
                <a:latin typeface="Arial"/>
                <a:cs typeface="Arial"/>
              </a:rPr>
              <a:t>m</a:t>
            </a:r>
            <a:r>
              <a:rPr sz="900" spc="-10" dirty="0">
                <a:latin typeface="Arial"/>
                <a:cs typeface="Arial"/>
              </a:rPr>
              <a:t>)</a:t>
            </a:r>
            <a:r>
              <a:rPr sz="900" spc="-55" dirty="0">
                <a:latin typeface="Arial"/>
                <a:cs typeface="Arial"/>
              </a:rPr>
              <a:t> </a:t>
            </a:r>
            <a:r>
              <a:rPr sz="900" i="1" spc="150" dirty="0">
                <a:latin typeface="Menlo"/>
                <a:cs typeface="Menlo"/>
              </a:rPr>
              <a:t>⊆</a:t>
            </a:r>
            <a:r>
              <a:rPr sz="900" i="1" spc="-345" dirty="0">
                <a:latin typeface="Menlo"/>
                <a:cs typeface="Menlo"/>
              </a:rPr>
              <a:t> </a:t>
            </a:r>
            <a:r>
              <a:rPr sz="900" b="1" spc="-10" dirty="0">
                <a:latin typeface="Arial"/>
                <a:cs typeface="Arial"/>
              </a:rPr>
              <a:t>FAIL</a:t>
            </a:r>
            <a:r>
              <a:rPr sz="900" spc="-10" dirty="0">
                <a:latin typeface="Arial"/>
                <a:cs typeface="Arial"/>
              </a:rPr>
              <a:t>,</a:t>
            </a:r>
            <a:r>
              <a:rPr sz="900" spc="-25" dirty="0">
                <a:latin typeface="Arial"/>
                <a:cs typeface="Arial"/>
              </a:rPr>
              <a:t> </a:t>
            </a:r>
            <a:r>
              <a:rPr sz="900" spc="-20" dirty="0">
                <a:latin typeface="Arial"/>
                <a:cs typeface="Arial"/>
              </a:rPr>
              <a:t>then </a:t>
            </a:r>
            <a:r>
              <a:rPr sz="900" spc="-10" dirty="0">
                <a:latin typeface="Arial"/>
                <a:cs typeface="Arial"/>
              </a:rPr>
              <a:t>eventually</a:t>
            </a:r>
            <a:r>
              <a:rPr sz="900" dirty="0">
                <a:latin typeface="Arial"/>
                <a:cs typeface="Arial"/>
              </a:rPr>
              <a:t> also</a:t>
            </a:r>
            <a:r>
              <a:rPr sz="900" spc="5" dirty="0">
                <a:latin typeface="Arial"/>
                <a:cs typeface="Arial"/>
              </a:rPr>
              <a:t> </a:t>
            </a:r>
            <a:r>
              <a:rPr sz="900" b="1" spc="-10" dirty="0">
                <a:latin typeface="Arial"/>
                <a:cs typeface="Arial"/>
              </a:rPr>
              <a:t>DEP</a:t>
            </a:r>
            <a:r>
              <a:rPr sz="900" spc="-10" dirty="0">
                <a:latin typeface="Arial"/>
                <a:cs typeface="Arial"/>
              </a:rPr>
              <a:t>(</a:t>
            </a:r>
            <a:r>
              <a:rPr sz="900" i="1" spc="-10" dirty="0">
                <a:latin typeface="Arial"/>
                <a:cs typeface="Arial"/>
              </a:rPr>
              <a:t>m</a:t>
            </a:r>
            <a:r>
              <a:rPr sz="900" spc="-10" dirty="0">
                <a:latin typeface="Arial"/>
                <a:cs typeface="Arial"/>
              </a:rPr>
              <a:t>)</a:t>
            </a:r>
            <a:r>
              <a:rPr sz="900" spc="-50" dirty="0">
                <a:latin typeface="Arial"/>
                <a:cs typeface="Arial"/>
              </a:rPr>
              <a:t> </a:t>
            </a:r>
            <a:r>
              <a:rPr sz="900" i="1" spc="150" dirty="0">
                <a:latin typeface="Menlo"/>
                <a:cs typeface="Menlo"/>
              </a:rPr>
              <a:t>⊆</a:t>
            </a:r>
            <a:r>
              <a:rPr sz="900" i="1" spc="-340" dirty="0">
                <a:latin typeface="Menlo"/>
                <a:cs typeface="Menlo"/>
              </a:rPr>
              <a:t> </a:t>
            </a:r>
            <a:r>
              <a:rPr sz="900" b="1" spc="-20" dirty="0">
                <a:latin typeface="Arial"/>
                <a:cs typeface="Arial"/>
              </a:rPr>
              <a:t>FAIL</a:t>
            </a:r>
            <a:r>
              <a:rPr sz="900" spc="-20" dirty="0">
                <a:latin typeface="Arial"/>
                <a:cs typeface="Arial"/>
              </a:rPr>
              <a:t>.</a:t>
            </a:r>
            <a:endParaRPr sz="900">
              <a:latin typeface="Arial"/>
              <a:cs typeface="Arial"/>
            </a:endParaRPr>
          </a:p>
          <a:p>
            <a:pPr marL="264160">
              <a:lnSpc>
                <a:spcPct val="100000"/>
              </a:lnSpc>
              <a:spcBef>
                <a:spcPts val="815"/>
              </a:spcBef>
            </a:pPr>
            <a:r>
              <a:rPr sz="1000" spc="-10" dirty="0">
                <a:solidFill>
                  <a:srgbClr val="C80000"/>
                </a:solidFill>
                <a:latin typeface="Arial"/>
                <a:cs typeface="Arial"/>
              </a:rPr>
              <a:t>Consequence</a:t>
            </a:r>
            <a:endParaRPr sz="1000">
              <a:latin typeface="Arial"/>
              <a:cs typeface="Arial"/>
            </a:endParaRPr>
          </a:p>
          <a:p>
            <a:pPr marL="260985">
              <a:lnSpc>
                <a:spcPct val="100000"/>
              </a:lnSpc>
              <a:spcBef>
                <a:spcPts val="295"/>
              </a:spcBef>
            </a:pPr>
            <a:r>
              <a:rPr sz="900" spc="-80" dirty="0">
                <a:latin typeface="Arial"/>
                <a:cs typeface="Arial"/>
              </a:rPr>
              <a:t>To</a:t>
            </a:r>
            <a:r>
              <a:rPr sz="900" spc="-10" dirty="0">
                <a:latin typeface="Arial"/>
                <a:cs typeface="Arial"/>
              </a:rPr>
              <a:t> guarantee</a:t>
            </a:r>
            <a:r>
              <a:rPr sz="900" spc="-55" dirty="0">
                <a:latin typeface="Arial"/>
                <a:cs typeface="Arial"/>
              </a:rPr>
              <a:t> </a:t>
            </a:r>
            <a:r>
              <a:rPr sz="900" dirty="0">
                <a:latin typeface="Arial"/>
                <a:cs typeface="Arial"/>
              </a:rPr>
              <a:t>that</a:t>
            </a:r>
            <a:r>
              <a:rPr sz="900" spc="-45" dirty="0">
                <a:latin typeface="Arial"/>
                <a:cs typeface="Arial"/>
              </a:rPr>
              <a:t> </a:t>
            </a:r>
            <a:r>
              <a:rPr sz="900" b="1" spc="-10" dirty="0">
                <a:latin typeface="Arial"/>
                <a:cs typeface="Arial"/>
              </a:rPr>
              <a:t>DEP</a:t>
            </a:r>
            <a:r>
              <a:rPr sz="900" spc="-10" dirty="0">
                <a:latin typeface="Arial"/>
                <a:cs typeface="Arial"/>
              </a:rPr>
              <a:t>(</a:t>
            </a:r>
            <a:r>
              <a:rPr sz="900" i="1" spc="-10" dirty="0">
                <a:latin typeface="Arial"/>
                <a:cs typeface="Arial"/>
              </a:rPr>
              <a:t>m</a:t>
            </a:r>
            <a:r>
              <a:rPr sz="900" spc="-10" dirty="0">
                <a:latin typeface="Arial"/>
                <a:cs typeface="Arial"/>
              </a:rPr>
              <a:t>)</a:t>
            </a:r>
            <a:r>
              <a:rPr sz="900" spc="-60" dirty="0">
                <a:latin typeface="Arial"/>
                <a:cs typeface="Arial"/>
              </a:rPr>
              <a:t> </a:t>
            </a:r>
            <a:r>
              <a:rPr sz="900" i="1" spc="150" dirty="0">
                <a:latin typeface="Menlo"/>
                <a:cs typeface="Menlo"/>
              </a:rPr>
              <a:t>⊆</a:t>
            </a:r>
            <a:r>
              <a:rPr sz="900" i="1" spc="-350" dirty="0">
                <a:latin typeface="Menlo"/>
                <a:cs typeface="Menlo"/>
              </a:rPr>
              <a:t> </a:t>
            </a:r>
            <a:r>
              <a:rPr sz="900" b="1" spc="-20" dirty="0">
                <a:latin typeface="Arial"/>
                <a:cs typeface="Arial"/>
              </a:rPr>
              <a:t>FAIL</a:t>
            </a:r>
            <a:r>
              <a:rPr sz="900" spc="-20" dirty="0">
                <a:latin typeface="Arial"/>
                <a:cs typeface="Arial"/>
              </a:rPr>
              <a:t>,</a:t>
            </a:r>
            <a:r>
              <a:rPr sz="900" spc="-25" dirty="0">
                <a:latin typeface="Arial"/>
                <a:cs typeface="Arial"/>
              </a:rPr>
              <a:t> </a:t>
            </a:r>
            <a:r>
              <a:rPr sz="900" dirty="0">
                <a:latin typeface="Arial"/>
                <a:cs typeface="Arial"/>
              </a:rPr>
              <a:t>we</a:t>
            </a:r>
            <a:r>
              <a:rPr sz="900" spc="-25" dirty="0">
                <a:latin typeface="Arial"/>
                <a:cs typeface="Arial"/>
              </a:rPr>
              <a:t> </a:t>
            </a:r>
            <a:r>
              <a:rPr sz="900" spc="-10" dirty="0">
                <a:latin typeface="Arial"/>
                <a:cs typeface="Arial"/>
              </a:rPr>
              <a:t>generally</a:t>
            </a:r>
            <a:r>
              <a:rPr sz="900" spc="-25" dirty="0">
                <a:latin typeface="Arial"/>
                <a:cs typeface="Arial"/>
              </a:rPr>
              <a:t> </a:t>
            </a:r>
            <a:r>
              <a:rPr sz="900" dirty="0">
                <a:latin typeface="Arial"/>
                <a:cs typeface="Arial"/>
              </a:rPr>
              <a:t>roll</a:t>
            </a:r>
            <a:r>
              <a:rPr sz="900" spc="-30" dirty="0">
                <a:latin typeface="Arial"/>
                <a:cs typeface="Arial"/>
              </a:rPr>
              <a:t> </a:t>
            </a:r>
            <a:r>
              <a:rPr sz="900" spc="-10" dirty="0">
                <a:latin typeface="Arial"/>
                <a:cs typeface="Arial"/>
              </a:rPr>
              <a:t>back</a:t>
            </a:r>
            <a:r>
              <a:rPr sz="900" spc="-25" dirty="0">
                <a:latin typeface="Arial"/>
                <a:cs typeface="Arial"/>
              </a:rPr>
              <a:t> </a:t>
            </a:r>
            <a:r>
              <a:rPr sz="900" spc="-10" dirty="0">
                <a:latin typeface="Arial"/>
                <a:cs typeface="Arial"/>
              </a:rPr>
              <a:t>each</a:t>
            </a:r>
            <a:r>
              <a:rPr sz="900" spc="-25" dirty="0">
                <a:latin typeface="Arial"/>
                <a:cs typeface="Arial"/>
              </a:rPr>
              <a:t> </a:t>
            </a:r>
            <a:r>
              <a:rPr sz="900" spc="-10" dirty="0">
                <a:latin typeface="Arial"/>
                <a:cs typeface="Arial"/>
              </a:rPr>
              <a:t>orphan</a:t>
            </a:r>
            <a:r>
              <a:rPr sz="900" spc="-30" dirty="0">
                <a:latin typeface="Arial"/>
                <a:cs typeface="Arial"/>
              </a:rPr>
              <a:t> </a:t>
            </a:r>
            <a:r>
              <a:rPr sz="900" spc="-10" dirty="0">
                <a:latin typeface="Arial"/>
                <a:cs typeface="Arial"/>
              </a:rPr>
              <a:t>process</a:t>
            </a:r>
            <a:endParaRPr sz="900">
              <a:latin typeface="Arial"/>
              <a:cs typeface="Arial"/>
            </a:endParaRPr>
          </a:p>
          <a:p>
            <a:pPr marL="264160">
              <a:lnSpc>
                <a:spcPct val="100000"/>
              </a:lnSpc>
              <a:spcBef>
                <a:spcPts val="125"/>
              </a:spcBef>
            </a:pPr>
            <a:r>
              <a:rPr sz="900" i="1" dirty="0">
                <a:latin typeface="Arial"/>
                <a:cs typeface="Arial"/>
              </a:rPr>
              <a:t>Q</a:t>
            </a:r>
            <a:r>
              <a:rPr sz="900" i="1" spc="30" dirty="0">
                <a:latin typeface="Arial"/>
                <a:cs typeface="Arial"/>
              </a:rPr>
              <a:t> </a:t>
            </a:r>
            <a:r>
              <a:rPr sz="900" dirty="0">
                <a:latin typeface="Arial"/>
                <a:cs typeface="Arial"/>
              </a:rPr>
              <a:t>until</a:t>
            </a:r>
            <a:r>
              <a:rPr sz="900" spc="-10" dirty="0">
                <a:latin typeface="Arial"/>
                <a:cs typeface="Arial"/>
              </a:rPr>
              <a:t> </a:t>
            </a:r>
            <a:r>
              <a:rPr sz="900" i="1" dirty="0">
                <a:latin typeface="Arial"/>
                <a:cs typeface="Arial"/>
              </a:rPr>
              <a:t>Q</a:t>
            </a:r>
            <a:r>
              <a:rPr sz="900" i="1" spc="-15" dirty="0">
                <a:latin typeface="Arial"/>
                <a:cs typeface="Arial"/>
              </a:rPr>
              <a:t> </a:t>
            </a:r>
            <a:r>
              <a:rPr sz="900" i="1" spc="-250" dirty="0">
                <a:latin typeface="Menlo"/>
                <a:cs typeface="Menlo"/>
              </a:rPr>
              <a:t≯∈</a:t>
            </a:r>
            <a:r>
              <a:rPr sz="900" i="1" spc="-345" dirty="0">
                <a:latin typeface="Menlo"/>
                <a:cs typeface="Menlo"/>
              </a:rPr>
              <a:t> </a:t>
            </a:r>
            <a:r>
              <a:rPr sz="900" b="1" spc="-10" dirty="0">
                <a:latin typeface="Arial"/>
                <a:cs typeface="Arial"/>
              </a:rPr>
              <a:t>DEP</a:t>
            </a:r>
            <a:r>
              <a:rPr sz="900" spc="-10" dirty="0">
                <a:latin typeface="Arial"/>
                <a:cs typeface="Arial"/>
              </a:rPr>
              <a:t>(</a:t>
            </a:r>
            <a:r>
              <a:rPr sz="900" i="1" spc="-10" dirty="0">
                <a:latin typeface="Arial"/>
                <a:cs typeface="Arial"/>
              </a:rPr>
              <a:t>m</a:t>
            </a:r>
            <a:r>
              <a:rPr sz="900" spc="-10" dirty="0">
                <a:latin typeface="Arial"/>
                <a:cs typeface="Arial"/>
              </a:rPr>
              <a:t>).</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50419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Message</a:t>
            </a:r>
            <a:r>
              <a:rPr sz="500" spc="-30" dirty="0">
                <a:latin typeface="Arial"/>
                <a:cs typeface="Arial"/>
                <a:hlinkClick r:id="rId4" action="ppaction://hlinksldjump"/>
              </a:rPr>
              <a:t> </a:t>
            </a:r>
            <a:r>
              <a:rPr sz="500" spc="-10" dirty="0">
                <a:latin typeface="Arial"/>
                <a:cs typeface="Arial"/>
                <a:hlinkClick r:id="rId4" action="ppaction://hlinksldjump"/>
              </a:rPr>
              <a:t>logging</a:t>
            </a:r>
            <a:endParaRPr sz="500">
              <a:latin typeface="Arial"/>
              <a:cs typeface="Arial"/>
            </a:endParaRP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1745</TotalTime>
  <Words>9405</Words>
  <Application>Microsoft Office PowerPoint</Application>
  <PresentationFormat>Custom</PresentationFormat>
  <Paragraphs>1155</Paragraphs>
  <Slides>117</Slides>
  <Notes>16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117</vt:i4>
      </vt:variant>
    </vt:vector>
  </HeadingPairs>
  <TitlesOfParts>
    <vt:vector size="124" baseType="lpstr">
      <vt:lpstr>Aptos</vt:lpstr>
      <vt:lpstr>Arial</vt:lpstr>
      <vt:lpstr>Calibri</vt:lpstr>
      <vt:lpstr>Menlo</vt:lpstr>
      <vt:lpstr>Times New Roman</vt:lpstr>
      <vt:lpstr>Office Theme</vt:lpstr>
      <vt:lpstr>1_Office Theme</vt:lpstr>
      <vt:lpstr>PowerPoint Presentation</vt:lpstr>
      <vt:lpstr>Dependability</vt:lpstr>
      <vt:lpstr>Dependability</vt:lpstr>
      <vt:lpstr>Reliability versus availability</vt:lpstr>
      <vt:lpstr>Reliability versus availability</vt:lpstr>
      <vt:lpstr>PowerPoint Presentation</vt:lpstr>
      <vt:lpstr>PowerPoint Presentation</vt:lpstr>
      <vt:lpstr>PowerPoint Presentation</vt:lpstr>
      <vt:lpstr>Dependability versus security</vt:lpstr>
      <vt:lpstr>Dependability versus security</vt:lpstr>
      <vt:lpstr>Halting failures</vt:lpstr>
      <vt:lpstr>PowerPoint Presentation</vt:lpstr>
      <vt:lpstr>Redundancy for failure masking</vt:lpstr>
      <vt:lpstr>Triple Modular Redundancy (TMR)</vt:lpstr>
      <vt:lpstr>Process resilience</vt:lpstr>
      <vt:lpstr>Groups and failure masking</vt:lpstr>
      <vt:lpstr>Groups and failure masking</vt:lpstr>
      <vt:lpstr>Groups and failure masking</vt:lpstr>
      <vt:lpstr>Consensus</vt:lpstr>
      <vt:lpstr>PowerPoint Presentation</vt:lpstr>
      <vt:lpstr>PowerPoint Presentation</vt:lpstr>
      <vt:lpstr>PowerPoint Presentation</vt:lpstr>
      <vt:lpstr>Raft</vt:lpstr>
      <vt:lpstr>PowerPoint Presentation</vt:lpstr>
      <vt:lpstr>PowerPoint Presentation</vt:lpstr>
      <vt:lpstr>PowerPoint Presentation</vt:lpstr>
      <vt:lpstr>Realistic consensus: Paxos</vt:lpstr>
      <vt:lpstr>Paxos essentials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Failure detection</vt:lpstr>
      <vt:lpstr>Failure detection</vt:lpstr>
      <vt:lpstr>PowerPoint Presentation</vt:lpstr>
      <vt:lpstr>Required number of servers</vt:lpstr>
      <vt:lpstr>Required number of servers</vt:lpstr>
      <vt:lpstr>Required number of servers</vt:lpstr>
      <vt:lpstr>PowerPoint Presentation</vt:lpstr>
      <vt:lpstr>Leader crashes after executing o1</vt:lpstr>
      <vt:lpstr>Leader crashes after executing o1</vt:lpstr>
      <vt:lpstr>PowerPoint Presentation</vt:lpstr>
      <vt:lpstr>Leader crashes after sending ACCEPT(o1,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PBFT: when the primary fails</vt:lpstr>
      <vt:lpstr>Realizing fault tolerance</vt:lpstr>
      <vt:lpstr>PowerPoint Presentation</vt:lpstr>
      <vt:lpstr>Consistency, availability, and partitioning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Reliable RPC: lost reply messages</vt:lpstr>
      <vt:lpstr>Reliable RPC: client crash</vt:lpstr>
      <vt:lpstr>Simple reliable group communication</vt:lpstr>
      <vt:lpstr>Less simple reliable group communication</vt:lpstr>
      <vt:lpstr>Simple reliable group communication</vt:lpstr>
      <vt:lpstr>Simple reliable group communication</vt:lpstr>
      <vt:lpstr>Simple reliable group communication</vt:lpstr>
      <vt:lpstr>Simple reliable group communication</vt:lpstr>
      <vt:lpstr>Simple reliable group communication</vt:lpstr>
      <vt:lpstr>Simple reliable group communication</vt:lpstr>
      <vt:lpstr>Simple reliable group communication</vt:lpstr>
      <vt:lpstr>Simple reliable group communication</vt:lpstr>
      <vt:lpstr>Simple reliable group communication</vt:lpstr>
      <vt:lpstr>Simple reliable group communication</vt:lpstr>
      <vt:lpstr>Distributed commit protocols</vt:lpstr>
      <vt:lpstr>Two-phase commit protocol (2PC)</vt:lpstr>
      <vt:lpstr>PowerPoint Presentation</vt:lpstr>
      <vt:lpstr>PowerPoint Presentation</vt:lpstr>
      <vt:lpstr>PowerPoint Presentation</vt:lpstr>
      <vt:lpstr>PowerPoint Presentation</vt:lpstr>
      <vt:lpstr>PowerPoint Presentation</vt:lpstr>
      <vt:lpstr>2PC – Failing participant</vt:lpstr>
      <vt:lpstr>2PC – Failing participant</vt:lpstr>
      <vt:lpstr>2PC – Failing coordinator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Systems   (4th edition, version 01)</dc:title>
  <cp:lastModifiedBy>FA21-BAF-072 (MUHAMMAD KAWISH  )</cp:lastModifiedBy>
  <cp:revision>61</cp:revision>
  <dcterms:created xsi:type="dcterms:W3CDTF">2023-04-27T06:33:30Z</dcterms:created>
  <dcterms:modified xsi:type="dcterms:W3CDTF">2025-02-04T17:15:52Z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2023-04-27T00:00:00Z</vt:filetime>
  </property>
  <property fmtid="{D5CDD505-2E9C-101B-9397-08002B2CF9AE}" pid="3" name="Creator">
    <vt:lpwstr>LaTeX with Beamer class</vt:lpwstr>
  </property>
  <property fmtid="{D5CDD505-2E9C-101B-9397-08002B2CF9AE}" pid="4" name="LastSaved">
    <vt:filetime>2023-04-27T00:00:00Z</vt:filetime>
  </property>
  <property fmtid="{D5CDD505-2E9C-101B-9397-08002B2CF9AE}" pid="5" name="PTEX.Fullbanner">
    <vt:lpwstr>This is pdfTeX, Version 3.141592653-2.6-1.40.24 (TeX Live 2022) kpathsea version 6.3.4</vt:lpwstr>
  </property>
  <property fmtid="{D5CDD505-2E9C-101B-9397-08002B2CF9AE}" pid="6" name="Producer">
    <vt:lpwstr>pdfTeX-1.40.24</vt:lpwstr>
  </property>
</Properties>
</file>