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61"/>
  </p:notesMasterIdLst>
  <p:sldIdLst>
    <p:sldId id="36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58" d="100"/>
          <a:sy n="158" d="100"/>
        </p:scale>
        <p:origin x="170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04945-83E3-4FAC-98FE-BD661081D2F2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AE248-69A4-4133-9C9C-7F82E18C7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9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Chuck is the intruder, Bob has asked</a:t>
            </a:r>
            <a:r>
              <a:rPr lang="en-US" sz="1800" dirty="0"/>
              <a:t> for R</a:t>
            </a:r>
            <a:r>
              <a:rPr lang="en-US" sz="1050" baseline="0" dirty="0"/>
              <a:t>B</a:t>
            </a:r>
            <a:r>
              <a:rPr lang="en-US" dirty="0"/>
              <a:t> in encrypted form, Chuck created another connection in which he asked for RB and returned the response in previously created connection which leads towards authentication breach (reflection attack).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AE248-69A4-4133-9C9C-7F82E18C7CE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07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control matrix is inefficient due to empty entries in case of not having specific privilege like write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AE248-69A4-4133-9C9C-7F82E18C7CE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7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30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57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248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137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521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342963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104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slide" Target="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slide" Target="slide15.xml"/><Relationship Id="rId4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5.xml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5.xml"/><Relationship Id="rId4" Type="http://schemas.openxmlformats.org/officeDocument/2006/relationships/image" Target="../media/image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2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slide" Target="slide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8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9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4.xml"/><Relationship Id="rId4" Type="http://schemas.openxmlformats.org/officeDocument/2006/relationships/image" Target="../media/image1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7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4.xml"/><Relationship Id="rId4" Type="http://schemas.openxmlformats.org/officeDocument/2006/relationships/image" Target="../media/image21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slide" Target="slid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51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slide" Target="slid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459" y="1196975"/>
            <a:ext cx="28194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CSC334 - Parallel &amp;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Distributed</a:t>
            </a:r>
            <a:r>
              <a:rPr kumimoji="0" sz="1400" b="1" i="0" u="none" strike="noStrike" kern="0" cap="none" spc="1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Computing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59" y="2720975"/>
            <a:ext cx="30480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Mr. Aoun Haider, Ms. Muntaha Amjad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B585-3963-CA43-FDEC-0C7B8A8C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6375"/>
            <a:ext cx="866509" cy="86538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E91E2BF-A6A0-AC80-E93D-ED3E8CF1D086}"/>
              </a:ext>
            </a:extLst>
          </p:cNvPr>
          <p:cNvSpPr txBox="1"/>
          <p:nvPr/>
        </p:nvSpPr>
        <p:spPr>
          <a:xfrm>
            <a:off x="952055" y="1933968"/>
            <a:ext cx="2761804" cy="31162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Chapter 9: Security</a:t>
            </a:r>
            <a:endParaRPr kumimoji="0" sz="1100" b="0" i="1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Dependability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99476"/>
            <a:ext cx="3942079" cy="12096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8575" marR="16256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dependable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 provides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availability,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reliability,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safety,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maintainability, confidentiality,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integrity.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33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refers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disclosed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parties.</a:t>
            </a:r>
            <a:endParaRPr sz="900">
              <a:latin typeface="Arial"/>
              <a:cs typeface="Arial"/>
            </a:endParaRPr>
          </a:p>
          <a:p>
            <a:pPr marL="281940" marR="39052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alterations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an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40" dirty="0">
                <a:latin typeface="Arial"/>
                <a:cs typeface="Arial"/>
              </a:rPr>
              <a:t> way,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accuracy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completeness.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2236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threats,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policies,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mechanisms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Dependability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8147" y="499476"/>
            <a:ext cx="3967479" cy="23031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41275" marR="17526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dependable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 provides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availability,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reliability,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safety,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maintainability, confidentiality,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integrity.</a:t>
            </a:r>
            <a:endParaRPr sz="900">
              <a:latin typeface="Arial"/>
              <a:cs typeface="Arial"/>
            </a:endParaRPr>
          </a:p>
          <a:p>
            <a:pPr marL="294640" marR="30480" indent="-120650">
              <a:lnSpc>
                <a:spcPct val="111600"/>
              </a:lnSpc>
              <a:spcBef>
                <a:spcPts val="33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refers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disclosed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parties.</a:t>
            </a:r>
            <a:endParaRPr sz="900">
              <a:latin typeface="Arial"/>
              <a:cs typeface="Arial"/>
            </a:endParaRPr>
          </a:p>
          <a:p>
            <a:pPr marL="294640" marR="40322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alterations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an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40" dirty="0">
                <a:latin typeface="Arial"/>
                <a:cs typeface="Arial"/>
              </a:rPr>
              <a:t> way,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accuracy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completeness.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Alternative</a:t>
            </a:r>
            <a:endParaRPr sz="10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attempt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threats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94640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95275" algn="l"/>
              </a:tabLst>
            </a:pPr>
            <a:r>
              <a:rPr sz="900" spc="-10" dirty="0">
                <a:latin typeface="Arial"/>
                <a:cs typeface="Arial"/>
              </a:rPr>
              <a:t>Unauthorized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disclosure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confidentiality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4640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95275" algn="l"/>
              </a:tabLst>
            </a:pPr>
            <a:r>
              <a:rPr sz="900" spc="-10" dirty="0">
                <a:latin typeface="Arial"/>
                <a:cs typeface="Arial"/>
              </a:rPr>
              <a:t>Unauthorized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integrity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4640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95275" algn="l"/>
              </a:tabLst>
            </a:pPr>
            <a:r>
              <a:rPr sz="900" spc="-10" dirty="0">
                <a:latin typeface="Arial"/>
                <a:cs typeface="Arial"/>
              </a:rPr>
              <a:t>Unauthorized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denial of use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availability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2236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threats,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policies,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mechanisms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Security</a:t>
            </a:r>
            <a:r>
              <a:rPr spc="-35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448" y="499583"/>
            <a:ext cx="3796665" cy="1096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1778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Encryption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transform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something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attacker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understand,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checked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modificatons.</a:t>
            </a:r>
            <a:endParaRPr sz="900">
              <a:latin typeface="Arial"/>
              <a:cs typeface="Arial"/>
            </a:endParaRPr>
          </a:p>
          <a:p>
            <a:pPr marL="14541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Authentication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verify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claimed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identity.</a:t>
            </a:r>
            <a:endParaRPr sz="900">
              <a:latin typeface="Arial"/>
              <a:cs typeface="Arial"/>
            </a:endParaRPr>
          </a:p>
          <a:p>
            <a:pPr marL="145415" marR="14541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Authorization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authenticated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proper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4541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Monitoring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auditing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(continuously)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2236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threats,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policies,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mechanisms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Security</a:t>
            </a:r>
            <a:r>
              <a:rPr spc="-35" dirty="0"/>
              <a:t> </a:t>
            </a:r>
            <a:r>
              <a:rPr spc="-10" dirty="0"/>
              <a:t>principles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448" y="499583"/>
            <a:ext cx="3808095" cy="191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309245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Fail-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safe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defaults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defaults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already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good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protection. </a:t>
            </a:r>
            <a:r>
              <a:rPr sz="900" spc="-10" dirty="0">
                <a:solidFill>
                  <a:srgbClr val="4C994C"/>
                </a:solidFill>
                <a:latin typeface="Arial"/>
                <a:cs typeface="Arial"/>
              </a:rPr>
              <a:t>Infamous</a:t>
            </a:r>
            <a:r>
              <a:rPr sz="9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default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admin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admin</a:t>
            </a:r>
            <a:r>
              <a:rPr sz="900" spc="-10" dirty="0">
                <a:latin typeface="Arial"/>
                <a:cs typeface="Arial"/>
              </a:rPr>
              <a:t>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devices.</a:t>
            </a:r>
            <a:endParaRPr sz="900">
              <a:latin typeface="Arial"/>
              <a:cs typeface="Arial"/>
            </a:endParaRPr>
          </a:p>
          <a:p>
            <a:pPr marL="145415" marR="31750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Open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design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obscurity: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aspect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review.</a:t>
            </a:r>
            <a:endParaRPr sz="900">
              <a:latin typeface="Arial"/>
              <a:cs typeface="Arial"/>
            </a:endParaRPr>
          </a:p>
          <a:p>
            <a:pPr marL="145415" marR="177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Separation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of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privilege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ensure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critical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aspects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entity.</a:t>
            </a:r>
            <a:endParaRPr sz="900">
              <a:latin typeface="Arial"/>
              <a:cs typeface="Arial"/>
            </a:endParaRPr>
          </a:p>
          <a:p>
            <a:pPr marL="145415" marR="34480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Least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privilege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fewest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possible privileges.</a:t>
            </a:r>
            <a:endParaRPr sz="900">
              <a:latin typeface="Arial"/>
              <a:cs typeface="Arial"/>
            </a:endParaRPr>
          </a:p>
          <a:p>
            <a:pPr marL="145415" marR="58419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Least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common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mechanism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mechanism,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offered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91762" y="-1515"/>
            <a:ext cx="6629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305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Where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implement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745" y="552785"/>
            <a:ext cx="3231331" cy="12071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947" y="1850858"/>
            <a:ext cx="391922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end-to-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end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security, </a:t>
            </a:r>
            <a:r>
              <a:rPr sz="900" spc="-10" dirty="0">
                <a:latin typeface="Arial"/>
                <a:cs typeface="Arial"/>
              </a:rPr>
              <a:t>meaning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implemented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91762" y="-1515"/>
            <a:ext cx="6629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305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Where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implement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mechanisms?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745" y="552785"/>
            <a:ext cx="3231331" cy="12071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947" y="1850858"/>
            <a:ext cx="3941445" cy="10801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2667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end-to-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end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security, </a:t>
            </a:r>
            <a:r>
              <a:rPr sz="900" spc="-10" dirty="0">
                <a:latin typeface="Arial"/>
                <a:cs typeface="Arial"/>
              </a:rPr>
              <a:t>meaning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implemented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Issue: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which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trust?</a:t>
            </a:r>
            <a:endParaRPr sz="1000">
              <a:latin typeface="Arial"/>
              <a:cs typeface="Arial"/>
            </a:endParaRPr>
          </a:p>
          <a:p>
            <a:pPr marL="17780" marR="5080" indent="-3810">
              <a:lnSpc>
                <a:spcPct val="111600"/>
              </a:lnSpc>
              <a:spcBef>
                <a:spcPts val="175"/>
              </a:spcBef>
            </a:pP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Trusted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(distributed) computer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necessary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sufficient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enforce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policy.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privacy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algn="just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Privacy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confidentiality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different.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Privacy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invaded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whereas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breached</a:t>
            </a:r>
            <a:r>
              <a:rPr sz="9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ensuring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confidentiality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enough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privacy.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privacy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928745" cy="1387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15875" algn="just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Privacy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confidentiality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different.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Privacy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invaded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whereas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breached</a:t>
            </a:r>
            <a:r>
              <a:rPr sz="9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ensuring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confidentiality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enough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privacy.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Right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privacy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80"/>
              </a:spcBef>
            </a:pPr>
            <a:r>
              <a:rPr sz="900" spc="-1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right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privacy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about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right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appropriate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personal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information.”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able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stop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revoke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064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privacy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928745" cy="19729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15875" algn="just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Privacy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confidentiality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different.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Privacy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invaded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whereas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breached</a:t>
            </a:r>
            <a:r>
              <a:rPr sz="9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ensuring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confidentiality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enough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privacy.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Right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privacy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80"/>
              </a:spcBef>
            </a:pPr>
            <a:r>
              <a:rPr sz="900" spc="-1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right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privacy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about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right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appropriate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personal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information.”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able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stop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revoke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General</a:t>
            </a:r>
            <a:r>
              <a:rPr sz="10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Data</a:t>
            </a:r>
            <a:r>
              <a:rPr sz="10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Protection</a:t>
            </a:r>
            <a:r>
              <a:rPr sz="10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Regulation</a:t>
            </a:r>
            <a:r>
              <a:rPr sz="10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(GDPR)</a:t>
            </a:r>
            <a:endParaRPr sz="1000">
              <a:latin typeface="Arial"/>
              <a:cs typeface="Arial"/>
            </a:endParaRPr>
          </a:p>
          <a:p>
            <a:pPr marL="15875" marR="100330" indent="-38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GDPR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comprehensive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regulations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aiming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protect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personal data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91762" y="-1515"/>
            <a:ext cx="6629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to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135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GDPR: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Database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perspective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0006" y="451561"/>
          <a:ext cx="4046853" cy="2559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195">
                <a:tc rowSpan="2">
                  <a:txBody>
                    <a:bodyPr/>
                    <a:lstStyle/>
                    <a:p>
                      <a:pPr marL="6451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GDPR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regulation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Impact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database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systems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Attributes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0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Actions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Collect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explicit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purposes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Purpose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Metadata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indexing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store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indefinitely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TTL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Timely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deletion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78105" marR="180975">
                        <a:lnSpc>
                          <a:spcPct val="108400"/>
                        </a:lnSpc>
                        <a:spcBef>
                          <a:spcPts val="1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Inform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customers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about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GDPR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metadata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associated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their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70180">
                        <a:lnSpc>
                          <a:spcPct val="108400"/>
                        </a:lnSpc>
                        <a:spcBef>
                          <a:spcPts val="1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Purpose,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TTL,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Origin,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Sharing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Metadata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indexing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Allow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customers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their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Person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id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Metadata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indexing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Allow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customers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erase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their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TTL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Timely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deletion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objected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reasons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Objections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Metadata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indexing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78105" marR="511809">
                        <a:lnSpc>
                          <a:spcPct val="108400"/>
                        </a:lnSpc>
                        <a:spcBef>
                          <a:spcPts val="1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Allow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customers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withdraw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from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algorithmic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decision-making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362585">
                        <a:lnSpc>
                          <a:spcPct val="108400"/>
                        </a:lnSpc>
                        <a:spcBef>
                          <a:spcPts val="1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Automated decisions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Metadata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indexing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Safeguard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restrict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control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grant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unlimited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control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Audit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operations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personal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Audit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trail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Monitor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log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Implement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appropriate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security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Encryption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Share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audit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trails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affected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systems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Audit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trail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Monitor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log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197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issues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9340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Cryptography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935" y="571435"/>
            <a:ext cx="3294126" cy="15426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204623"/>
            <a:ext cx="3601085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concepts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Plaintext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(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Ciphertext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plaintext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(</a:t>
            </a:r>
            <a:r>
              <a:rPr sz="900" i="1" spc="-25" dirty="0">
                <a:latin typeface="Arial"/>
                <a:cs typeface="Arial"/>
              </a:rPr>
              <a:t>C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Encryption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encryption: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spc="30" dirty="0">
                <a:latin typeface="Arial"/>
                <a:cs typeface="Arial"/>
              </a:rPr>
              <a:t>(</a:t>
            </a:r>
            <a:r>
              <a:rPr sz="900" i="1" spc="30" dirty="0">
                <a:latin typeface="Arial"/>
                <a:cs typeface="Arial"/>
              </a:rPr>
              <a:t>P</a:t>
            </a:r>
            <a:r>
              <a:rPr sz="900" spc="3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Decryption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decryption: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(</a:t>
            </a:r>
            <a:r>
              <a:rPr sz="900" i="1" spc="25" dirty="0">
                <a:latin typeface="Arial"/>
                <a:cs typeface="Arial"/>
              </a:rPr>
              <a:t>C</a:t>
            </a:r>
            <a:r>
              <a:rPr sz="900" spc="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467" y="3346954"/>
            <a:ext cx="2120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Basics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97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Cryptosystems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48974"/>
            <a:ext cx="3989704" cy="25133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25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Symmetric</a:t>
            </a:r>
            <a:r>
              <a:rPr sz="900" spc="2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if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(</a:t>
            </a:r>
            <a:r>
              <a:rPr sz="900" i="1" spc="55" dirty="0">
                <a:latin typeface="Arial"/>
                <a:cs typeface="Arial"/>
              </a:rPr>
              <a:t>P</a:t>
            </a:r>
            <a:r>
              <a:rPr sz="900" spc="55" dirty="0">
                <a:latin typeface="Arial"/>
                <a:cs typeface="Arial"/>
              </a:rPr>
              <a:t>))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then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i="1" spc="-350" dirty="0">
                <a:latin typeface="Menlo"/>
                <a:cs typeface="Menlo"/>
              </a:rPr>
              <a:t>.</a:t>
            </a:r>
            <a:endParaRPr sz="900">
              <a:latin typeface="Menlo"/>
              <a:cs typeface="Menlo"/>
            </a:endParaRPr>
          </a:p>
          <a:p>
            <a:pPr marL="50800">
              <a:lnSpc>
                <a:spcPct val="100000"/>
              </a:lnSpc>
              <a:spcBef>
                <a:spcPts val="520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Asymmetric</a:t>
            </a:r>
            <a:r>
              <a:rPr sz="900" spc="2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if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(</a:t>
            </a:r>
            <a:r>
              <a:rPr sz="900" i="1" spc="55" dirty="0">
                <a:latin typeface="Arial"/>
                <a:cs typeface="Arial"/>
              </a:rPr>
              <a:t>P</a:t>
            </a:r>
            <a:r>
              <a:rPr sz="900" spc="55" dirty="0">
                <a:latin typeface="Arial"/>
                <a:cs typeface="Arial"/>
              </a:rPr>
              <a:t>))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then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i="1" spc="-459" dirty="0">
                <a:latin typeface="Menlo"/>
                <a:cs typeface="Menlo"/>
              </a:rPr>
              <a:t≯</a:t>
            </a:r>
            <a:r>
              <a:rPr sz="900" spc="9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i="1" spc="-350" dirty="0">
                <a:latin typeface="Menlo"/>
                <a:cs typeface="Menlo"/>
              </a:rPr>
              <a:t>.</a:t>
            </a:r>
            <a:endParaRPr sz="900">
              <a:latin typeface="Menlo"/>
              <a:cs typeface="Menlo"/>
            </a:endParaRPr>
          </a:p>
          <a:p>
            <a:pPr marL="709930" marR="43180" indent="-3810">
              <a:lnSpc>
                <a:spcPct val="111600"/>
              </a:lnSpc>
            </a:pP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public-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publicly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known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PK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SK</a:t>
            </a:r>
            <a:endParaRPr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9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PK</a:t>
            </a:r>
            <a:r>
              <a:rPr sz="1050" i="1" baseline="-15873" dirty="0">
                <a:latin typeface="Arial"/>
                <a:cs typeface="Arial"/>
              </a:rPr>
              <a:t>X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SK</a:t>
            </a:r>
            <a:r>
              <a:rPr sz="1050" i="1" baseline="-15873" dirty="0">
                <a:latin typeface="Arial"/>
                <a:cs typeface="Arial"/>
              </a:rPr>
              <a:t>X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key.</a:t>
            </a:r>
            <a:endParaRPr sz="900">
              <a:latin typeface="Arial"/>
              <a:cs typeface="Arial"/>
            </a:endParaRPr>
          </a:p>
          <a:p>
            <a:pPr marR="271780" algn="ctr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Confidential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message</a:t>
            </a:r>
            <a:r>
              <a:rPr sz="900" spc="2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if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kept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private: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PK</a:t>
            </a:r>
            <a:r>
              <a:rPr sz="1050" i="1" spc="-15" baseline="-15873" dirty="0">
                <a:latin typeface="Arial"/>
                <a:cs typeface="Arial"/>
              </a:rPr>
              <a:t>receiver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m</a:t>
            </a:r>
            <a:r>
              <a:rPr sz="900" spc="-20" dirty="0">
                <a:latin typeface="Arial"/>
                <a:cs typeface="Arial"/>
              </a:rPr>
              <a:t>)</a:t>
            </a:r>
            <a:r>
              <a:rPr sz="900" i="1" spc="-20" dirty="0">
                <a:latin typeface="Menlo"/>
                <a:cs typeface="Menlo"/>
              </a:rPr>
              <a:t>.</a:t>
            </a:r>
            <a:endParaRPr sz="900">
              <a:latin typeface="Menlo"/>
              <a:cs typeface="Menlo"/>
            </a:endParaRPr>
          </a:p>
          <a:p>
            <a:pPr marR="306705" algn="ctr">
              <a:lnSpc>
                <a:spcPct val="100000"/>
              </a:lnSpc>
              <a:spcBef>
                <a:spcPts val="525"/>
              </a:spcBef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Authenticated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message</a:t>
            </a:r>
            <a:r>
              <a:rPr sz="900" spc="2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if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authenticated: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SK</a:t>
            </a:r>
            <a:r>
              <a:rPr sz="1050" i="1" spc="-15" baseline="-15873" dirty="0">
                <a:latin typeface="Arial"/>
                <a:cs typeface="Arial"/>
              </a:rPr>
              <a:t>sender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m</a:t>
            </a:r>
            <a:r>
              <a:rPr sz="900" spc="-20" dirty="0">
                <a:latin typeface="Arial"/>
                <a:cs typeface="Arial"/>
              </a:rPr>
              <a:t>)</a:t>
            </a:r>
            <a:r>
              <a:rPr sz="900" i="1" spc="-20" dirty="0">
                <a:latin typeface="Menlo"/>
                <a:cs typeface="Menlo"/>
              </a:rPr>
              <a:t>.</a:t>
            </a:r>
            <a:endParaRPr sz="900">
              <a:latin typeface="Menlo"/>
              <a:cs typeface="Menl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Menlo"/>
              <a:cs typeface="Menlo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Homomorphic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encryption</a:t>
            </a:r>
            <a:endParaRPr sz="1000">
              <a:latin typeface="Arial"/>
              <a:cs typeface="Arial"/>
            </a:endParaRPr>
          </a:p>
          <a:p>
            <a:pPr marL="50800" marR="558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Mathematical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plaintext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corresponding </a:t>
            </a:r>
            <a:r>
              <a:rPr sz="900" dirty="0">
                <a:latin typeface="Arial"/>
                <a:cs typeface="Arial"/>
              </a:rPr>
              <a:t>ciphertext: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y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numbers, </a:t>
            </a:r>
            <a:r>
              <a:rPr sz="900" spc="-20" dirty="0">
                <a:latin typeface="Arial"/>
                <a:cs typeface="Arial"/>
              </a:rPr>
              <a:t>then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4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⋆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4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y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3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⋆</a:t>
            </a:r>
            <a:r>
              <a:rPr sz="900" i="1" dirty="0">
                <a:latin typeface="Arial"/>
                <a:cs typeface="Arial"/>
              </a:rPr>
              <a:t>y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1214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Symmetric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asymmetric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cryptosystems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41800" cy="27894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Hash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functions</a:t>
            </a:r>
            <a:endParaRPr sz="12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Description</a:t>
            </a:r>
            <a:endParaRPr sz="1000" dirty="0">
              <a:latin typeface="Arial"/>
              <a:cs typeface="Arial"/>
            </a:endParaRPr>
          </a:p>
          <a:p>
            <a:pPr marL="289560" marR="448945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arbitrary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length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fixed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length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output:</a:t>
            </a:r>
            <a:endParaRPr sz="900" dirty="0">
              <a:latin typeface="Arial"/>
              <a:cs typeface="Arial"/>
            </a:endParaRPr>
          </a:p>
          <a:p>
            <a:pPr marL="226695" algn="ctr">
              <a:lnSpc>
                <a:spcPct val="100000"/>
              </a:lnSpc>
              <a:spcBef>
                <a:spcPts val="975"/>
              </a:spcBef>
            </a:pP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length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fixed</a:t>
            </a:r>
            <a:r>
              <a:rPr sz="900" i="1" spc="-10" dirty="0">
                <a:latin typeface="Menlo"/>
                <a:cs typeface="Menlo"/>
              </a:rPr>
              <a:t>.</a:t>
            </a:r>
            <a:endParaRPr sz="900" dirty="0">
              <a:latin typeface="Menlo"/>
              <a:cs typeface="Menl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 dirty="0">
              <a:latin typeface="Menlo"/>
              <a:cs typeface="Menlo"/>
            </a:endParaRPr>
          </a:p>
          <a:p>
            <a:pPr marL="289560">
              <a:lnSpc>
                <a:spcPct val="100000"/>
              </a:lnSpc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Example:</a:t>
            </a:r>
            <a:r>
              <a:rPr sz="1000" spc="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digital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signature</a:t>
            </a:r>
            <a:endParaRPr sz="1000" dirty="0">
              <a:latin typeface="Arial"/>
              <a:cs typeface="Arial"/>
            </a:endParaRPr>
          </a:p>
          <a:p>
            <a:pPr marL="289560" marR="295910" indent="-38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private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key; </a:t>
            </a:r>
            <a:r>
              <a:rPr sz="900" dirty="0">
                <a:latin typeface="Arial"/>
                <a:cs typeface="Arial"/>
              </a:rPr>
              <a:t>encrypted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digest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Bob:</a:t>
            </a:r>
            <a:endParaRPr sz="900" dirty="0">
              <a:latin typeface="Arial"/>
              <a:cs typeface="Arial"/>
            </a:endParaRPr>
          </a:p>
          <a:p>
            <a:pPr marL="226695" algn="ctr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latin typeface="Arial"/>
                <a:cs typeface="Arial"/>
              </a:rPr>
              <a:t>Alice: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send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-100" dirty="0">
                <a:latin typeface="Arial"/>
                <a:cs typeface="Arial"/>
              </a:rPr>
              <a:t>[</a:t>
            </a:r>
            <a:r>
              <a:rPr sz="900" i="1" spc="-100" dirty="0">
                <a:latin typeface="Arial"/>
                <a:cs typeface="Arial"/>
              </a:rPr>
              <a:t>m</a:t>
            </a:r>
            <a:r>
              <a:rPr sz="900" i="1" spc="-10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sig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 sig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SK</a:t>
            </a:r>
            <a:r>
              <a:rPr sz="1050" i="1" spc="-15" baseline="-15873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900" spc="-10" dirty="0">
                <a:latin typeface="Arial"/>
                <a:cs typeface="Arial"/>
              </a:rPr>
              <a:t>))</a:t>
            </a:r>
            <a:r>
              <a:rPr sz="900" i="1" spc="-10" dirty="0">
                <a:latin typeface="Menlo"/>
                <a:cs typeface="Menlo"/>
              </a:rPr>
              <a:t>.</a:t>
            </a:r>
            <a:endParaRPr sz="900" dirty="0">
              <a:latin typeface="Menlo"/>
              <a:cs typeface="Menlo"/>
            </a:endParaRPr>
          </a:p>
          <a:p>
            <a:pPr marL="289560" marR="55880">
              <a:lnSpc>
                <a:spcPct val="111600"/>
              </a:lnSpc>
              <a:spcBef>
                <a:spcPts val="850"/>
              </a:spcBef>
            </a:pPr>
            <a:r>
              <a:rPr sz="900" dirty="0">
                <a:latin typeface="Arial"/>
                <a:cs typeface="Arial"/>
              </a:rPr>
              <a:t>Bob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decrypts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Alice’s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public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calculates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 </a:t>
            </a:r>
            <a:r>
              <a:rPr sz="900" dirty="0">
                <a:latin typeface="Arial"/>
                <a:cs typeface="Arial"/>
              </a:rPr>
              <a:t>digest.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Alice:</a:t>
            </a:r>
            <a:endParaRPr sz="900" dirty="0">
              <a:latin typeface="Arial"/>
              <a:cs typeface="Arial"/>
            </a:endParaRPr>
          </a:p>
          <a:p>
            <a:pPr marL="226695" algn="ctr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latin typeface="Arial"/>
                <a:cs typeface="Arial"/>
              </a:rPr>
              <a:t>Bob: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receive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spc="-100" dirty="0">
                <a:latin typeface="Arial"/>
                <a:cs typeface="Arial"/>
              </a:rPr>
              <a:t>[</a:t>
            </a:r>
            <a:r>
              <a:rPr sz="900" i="1" spc="-100" dirty="0">
                <a:latin typeface="Arial"/>
                <a:cs typeface="Arial"/>
              </a:rPr>
              <a:t>m</a:t>
            </a:r>
            <a:r>
              <a:rPr lang="en-US" sz="900" i="1" spc="-100" dirty="0">
                <a:latin typeface="Arial"/>
                <a:cs typeface="Arial"/>
              </a:rPr>
              <a:t> </a:t>
            </a:r>
            <a:r>
              <a:rPr sz="900" i="1" spc="-100" dirty="0">
                <a:latin typeface="Menlo"/>
                <a:cs typeface="Menlo"/>
              </a:rPr>
              <a:t>,</a:t>
            </a:r>
            <a:r>
              <a:rPr lang="en-US" sz="900" i="1" spc="-100" dirty="0">
                <a:latin typeface="Menlo"/>
                <a:cs typeface="Menlo"/>
              </a:rPr>
              <a:t>  </a:t>
            </a:r>
            <a:r>
              <a:rPr sz="900" i="1" spc="-440" dirty="0">
                <a:latin typeface="Menlo"/>
                <a:cs typeface="Menlo"/>
              </a:rPr>
              <a:t> </a:t>
            </a:r>
            <a:r>
              <a:rPr lang="en-US" sz="900" i="1" spc="-440" dirty="0">
                <a:latin typeface="Menlo"/>
                <a:cs typeface="Menlo"/>
              </a:rPr>
              <a:t>                                 </a:t>
            </a:r>
            <a:r>
              <a:rPr sz="900" i="1" dirty="0">
                <a:latin typeface="Arial"/>
                <a:cs typeface="Arial"/>
              </a:rPr>
              <a:t>sig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compute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-120" dirty="0">
                <a:latin typeface="Arial"/>
                <a:cs typeface="Arial"/>
              </a:rPr>
              <a:t>h</a:t>
            </a:r>
            <a:r>
              <a:rPr sz="1050" i="1" spc="-179" baseline="27777" dirty="0">
                <a:latin typeface="Menlo"/>
                <a:cs typeface="Menlo"/>
              </a:rPr>
              <a:t>′</a:t>
            </a:r>
            <a:r>
              <a:rPr lang="en-US" sz="1050" i="1" spc="-179" baseline="27777" dirty="0">
                <a:latin typeface="Menlo"/>
                <a:cs typeface="Menlo"/>
              </a:rPr>
              <a:t>         </a:t>
            </a:r>
            <a:r>
              <a:rPr sz="1050" i="1" spc="-247" baseline="27777" dirty="0">
                <a:latin typeface="Menlo"/>
                <a:cs typeface="Menlo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verify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-120" dirty="0">
                <a:latin typeface="Arial"/>
                <a:cs typeface="Arial"/>
              </a:rPr>
              <a:t>h</a:t>
            </a:r>
            <a:r>
              <a:rPr sz="1050" i="1" spc="-179" baseline="27777" dirty="0">
                <a:latin typeface="Menlo"/>
                <a:cs typeface="Menlo"/>
              </a:rPr>
              <a:t>′</a:t>
            </a:r>
            <a:r>
              <a:rPr lang="en-US" sz="1050" i="1" spc="-179" baseline="27777" dirty="0">
                <a:latin typeface="Menlo"/>
                <a:cs typeface="Menlo"/>
              </a:rPr>
              <a:t>        </a:t>
            </a:r>
            <a:r>
              <a:rPr sz="1050" i="1" spc="-247" baseline="27777" dirty="0">
                <a:latin typeface="Menlo"/>
                <a:cs typeface="Menlo"/>
              </a:rPr>
              <a:t> </a:t>
            </a:r>
            <a:r>
              <a:rPr lang="en-US" sz="1050" i="1" spc="-247" baseline="27777" dirty="0">
                <a:latin typeface="Menlo"/>
                <a:cs typeface="Menlo"/>
              </a:rPr>
              <a:t>                                          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PK</a:t>
            </a:r>
            <a:r>
              <a:rPr sz="1050" i="1" spc="-15" baseline="-15873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sig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i="1" spc="-10" dirty="0">
                <a:latin typeface="Menlo"/>
                <a:cs typeface="Menlo"/>
              </a:rPr>
              <a:t>.</a:t>
            </a:r>
            <a:endParaRPr sz="900" dirty="0">
              <a:latin typeface="Menlo"/>
              <a:cs typeface="Menl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67" y="3346954"/>
            <a:ext cx="4438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Hash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functions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97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Key</a:t>
            </a:r>
            <a:r>
              <a:rPr spc="-7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6045" cy="10814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5875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set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channels?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Diffie-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Hellman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exchange</a:t>
            </a:r>
            <a:endParaRPr sz="1000">
              <a:latin typeface="Arial"/>
              <a:cs typeface="Arial"/>
            </a:endParaRPr>
          </a:p>
          <a:p>
            <a:pPr marL="15875" marR="142875" indent="-381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nonsecret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mathematical properties):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000" y="1706808"/>
            <a:ext cx="2910580" cy="91580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24960" cy="975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DH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exchange: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41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Multiparty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computation</a:t>
            </a:r>
            <a:endParaRPr sz="1000">
              <a:latin typeface="Arial"/>
              <a:cs typeface="Arial"/>
            </a:endParaRPr>
          </a:p>
          <a:p>
            <a:pPr marL="264160" marR="5080" algn="just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protect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private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statistics</a:t>
            </a:r>
            <a:r>
              <a:rPr sz="900" dirty="0">
                <a:latin typeface="Arial"/>
                <a:cs typeface="Arial"/>
              </a:rPr>
              <a:t>?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highest </a:t>
            </a:r>
            <a:r>
              <a:rPr sz="900" dirty="0">
                <a:latin typeface="Arial"/>
                <a:cs typeface="Arial"/>
              </a:rPr>
              <a:t>salary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salaries?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cast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candidate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whom?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75760" cy="16884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DH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exchange: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Multiparty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computation</a:t>
            </a:r>
            <a:endParaRPr sz="1000">
              <a:latin typeface="Arial"/>
              <a:cs typeface="Arial"/>
            </a:endParaRPr>
          </a:p>
          <a:p>
            <a:pPr marL="289560" marR="30480" algn="just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protect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private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statistics</a:t>
            </a:r>
            <a:r>
              <a:rPr sz="900" dirty="0">
                <a:latin typeface="Arial"/>
                <a:cs typeface="Arial"/>
              </a:rPr>
              <a:t>?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highest </a:t>
            </a:r>
            <a:r>
              <a:rPr sz="900" dirty="0">
                <a:latin typeface="Arial"/>
                <a:cs typeface="Arial"/>
              </a:rPr>
              <a:t>salary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salaries?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cast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candidate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whom?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Oblivious</a:t>
            </a:r>
            <a:r>
              <a:rPr sz="1000" spc="-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transfer</a:t>
            </a:r>
            <a:endParaRPr sz="1000">
              <a:latin typeface="Arial"/>
              <a:cs typeface="Arial"/>
            </a:endParaRPr>
          </a:p>
          <a:p>
            <a:pPr marL="289560" marR="116839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60" dirty="0">
                <a:latin typeface="Arial"/>
                <a:cs typeface="Arial"/>
              </a:rPr>
              <a:t>m</a:t>
            </a:r>
            <a:r>
              <a:rPr sz="1050" i="1" spc="-240" baseline="-15873" dirty="0">
                <a:latin typeface="Arial"/>
                <a:cs typeface="Arial"/>
              </a:rPr>
              <a:t>1</a:t>
            </a:r>
            <a:r>
              <a:rPr sz="900" i="1" spc="-160" dirty="0">
                <a:latin typeface="Menlo"/>
                <a:cs typeface="Menlo"/>
              </a:rPr>
              <a:t>,...,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1050" i="1" spc="-15" baseline="-11904" dirty="0">
                <a:latin typeface="Arial"/>
                <a:cs typeface="Arial"/>
              </a:rPr>
              <a:t>n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10" dirty="0">
                <a:latin typeface="Arial"/>
                <a:cs typeface="Arial"/>
              </a:rPr>
              <a:t> allowed)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know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kept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i="1" spc="-459" dirty="0">
                <a:latin typeface="Menlo"/>
                <a:cs typeface="Menlo"/>
              </a:rPr>
              <a:t≯</a:t>
            </a:r>
            <a:r>
              <a:rPr sz="900" spc="9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Bob.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75760" cy="192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DH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exchange: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89560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Multiparty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computation</a:t>
            </a:r>
            <a:endParaRPr sz="1000">
              <a:latin typeface="Arial"/>
              <a:cs typeface="Arial"/>
            </a:endParaRPr>
          </a:p>
          <a:p>
            <a:pPr marL="289560" marR="30480" algn="just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protect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private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statistics</a:t>
            </a:r>
            <a:r>
              <a:rPr sz="900" dirty="0">
                <a:latin typeface="Arial"/>
                <a:cs typeface="Arial"/>
              </a:rPr>
              <a:t>?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highest </a:t>
            </a:r>
            <a:r>
              <a:rPr sz="900" dirty="0">
                <a:latin typeface="Arial"/>
                <a:cs typeface="Arial"/>
              </a:rPr>
              <a:t>salary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salaries?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cast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candidate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whom?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Oblivious</a:t>
            </a:r>
            <a:r>
              <a:rPr sz="1000" spc="-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transfer</a:t>
            </a:r>
            <a:endParaRPr sz="1000">
              <a:latin typeface="Arial"/>
              <a:cs typeface="Arial"/>
            </a:endParaRPr>
          </a:p>
          <a:p>
            <a:pPr marL="289560" marR="116839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60" dirty="0">
                <a:latin typeface="Arial"/>
                <a:cs typeface="Arial"/>
              </a:rPr>
              <a:t>m</a:t>
            </a:r>
            <a:r>
              <a:rPr sz="1050" i="1" spc="-240" baseline="-15873" dirty="0">
                <a:latin typeface="Arial"/>
                <a:cs typeface="Arial"/>
              </a:rPr>
              <a:t>1</a:t>
            </a:r>
            <a:r>
              <a:rPr sz="900" i="1" spc="-160" dirty="0">
                <a:latin typeface="Menlo"/>
                <a:cs typeface="Menlo"/>
              </a:rPr>
              <a:t>,...,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1050" i="1" spc="-15" baseline="-11904" dirty="0">
                <a:latin typeface="Arial"/>
                <a:cs typeface="Arial"/>
              </a:rPr>
              <a:t>n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10" dirty="0">
                <a:latin typeface="Arial"/>
                <a:cs typeface="Arial"/>
              </a:rPr>
              <a:t> allowed)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know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kept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i="1" spc="-459" dirty="0">
                <a:latin typeface="Menlo"/>
                <a:cs typeface="Menlo"/>
              </a:rPr>
              <a:t≯</a:t>
            </a:r>
            <a:r>
              <a:rPr sz="900" spc="9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Bob.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CCF5BA-ABB8-F788-FF25-52D713582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36" y="2035175"/>
            <a:ext cx="4308529" cy="914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643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1-out-of-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2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oblivious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transfer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630" y="564161"/>
            <a:ext cx="2954853" cy="113725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476048-0F27-885E-5FBA-EB94952BC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737" y="1958975"/>
            <a:ext cx="3752850" cy="8567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76395" cy="302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Example,</a:t>
            </a:r>
            <a:r>
              <a:rPr sz="1200" spc="-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continued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89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Preliminaries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spc="-90" dirty="0">
                <a:latin typeface="Arial"/>
                <a:cs typeface="Arial"/>
              </a:rPr>
              <a:t>(</a:t>
            </a:r>
            <a:r>
              <a:rPr sz="900" i="1" spc="-90" dirty="0">
                <a:latin typeface="Arial"/>
                <a:cs typeface="Arial"/>
              </a:rPr>
              <a:t>a</a:t>
            </a:r>
            <a:r>
              <a:rPr sz="900" i="1" spc="-9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Parameter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P</a:t>
            </a:r>
            <a:r>
              <a:rPr sz="900" i="1" spc="-15" baseline="-13888" dirty="0">
                <a:latin typeface="Arial"/>
                <a:cs typeface="Arial"/>
              </a:rPr>
              <a:t>2</a:t>
            </a:r>
            <a:r>
              <a:rPr sz="900" i="1" spc="-127" baseline="-13888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b="1" dirty="0">
                <a:latin typeface="Arial"/>
                <a:cs typeface="Arial"/>
              </a:rPr>
              <a:t>X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b="1" dirty="0">
                <a:latin typeface="Arial"/>
                <a:cs typeface="Arial"/>
              </a:rPr>
              <a:t>Y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X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Y</a:t>
            </a:r>
            <a:r>
              <a:rPr sz="900" b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finite.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Construct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25" dirty="0">
                <a:latin typeface="Menlo"/>
                <a:cs typeface="Menlo"/>
              </a:rPr>
              <a:t>|</a:t>
            </a:r>
            <a:r>
              <a:rPr sz="900" b="1" spc="-125" dirty="0">
                <a:latin typeface="Arial"/>
                <a:cs typeface="Arial"/>
              </a:rPr>
              <a:t>X</a:t>
            </a:r>
            <a:r>
              <a:rPr sz="900" i="1" spc="-125" dirty="0">
                <a:latin typeface="Menlo"/>
                <a:cs typeface="Menlo"/>
              </a:rPr>
              <a:t>|×|</a:t>
            </a:r>
            <a:r>
              <a:rPr sz="900" b="1" spc="-125" dirty="0">
                <a:latin typeface="Arial"/>
                <a:cs typeface="Arial"/>
              </a:rPr>
              <a:t>Y</a:t>
            </a:r>
            <a:r>
              <a:rPr sz="900" i="1" spc="-125" dirty="0">
                <a:latin typeface="Menlo"/>
                <a:cs typeface="Menlo"/>
              </a:rPr>
              <a:t>|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matrix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F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b="1" spc="-60" dirty="0">
                <a:latin typeface="Arial"/>
                <a:cs typeface="Arial"/>
              </a:rPr>
              <a:t>F</a:t>
            </a:r>
            <a:r>
              <a:rPr sz="900" spc="-60" dirty="0">
                <a:latin typeface="Arial"/>
                <a:cs typeface="Arial"/>
              </a:rPr>
              <a:t>[</a:t>
            </a:r>
            <a:r>
              <a:rPr sz="900" i="1" spc="-60" dirty="0">
                <a:latin typeface="Arial"/>
                <a:cs typeface="Arial"/>
              </a:rPr>
              <a:t>i</a:t>
            </a:r>
            <a:r>
              <a:rPr sz="900" i="1" spc="-6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</a:t>
            </a:r>
            <a:r>
              <a:rPr sz="900" i="1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,</a:t>
            </a:r>
            <a:r>
              <a:rPr sz="900" i="1" spc="-44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y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pair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,</a:t>
            </a:r>
            <a:r>
              <a:rPr sz="900" i="1" spc="-44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y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35" dirty="0">
                <a:latin typeface="Menlo"/>
                <a:cs typeface="Menlo"/>
              </a:rPr>
              <a:t> </a:t>
            </a:r>
            <a:r>
              <a:rPr sz="900" b="1" spc="-10" dirty="0">
                <a:latin typeface="Arial"/>
                <a:cs typeface="Arial"/>
              </a:rPr>
              <a:t>X</a:t>
            </a:r>
            <a:r>
              <a:rPr sz="900" b="1" spc="-1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×</a:t>
            </a:r>
            <a:r>
              <a:rPr sz="900" i="1" spc="-415" dirty="0">
                <a:latin typeface="Menlo"/>
                <a:cs typeface="Menlo"/>
              </a:rPr>
              <a:t> </a:t>
            </a:r>
            <a:r>
              <a:rPr sz="900" b="1" spc="-25" dirty="0">
                <a:latin typeface="Arial"/>
                <a:cs typeface="Arial"/>
              </a:rPr>
              <a:t>Y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B2"/>
              </a:buClr>
              <a:buFont typeface="Menlo"/>
              <a:buChar char="•"/>
            </a:pPr>
            <a:endParaRPr sz="11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9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10" dirty="0">
                <a:latin typeface="Menlo"/>
                <a:cs typeface="Menlo"/>
              </a:rPr>
              <a:t>|</a:t>
            </a:r>
            <a:r>
              <a:rPr sz="900" b="1" spc="-210" dirty="0">
                <a:latin typeface="Arial"/>
                <a:cs typeface="Arial"/>
              </a:rPr>
              <a:t>X</a:t>
            </a:r>
            <a:r>
              <a:rPr sz="900" i="1" spc="-210" dirty="0">
                <a:latin typeface="Menlo"/>
                <a:cs typeface="Menlo"/>
              </a:rPr>
              <a:t>|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210" dirty="0">
                <a:latin typeface="Menlo"/>
                <a:cs typeface="Menlo"/>
              </a:rPr>
              <a:t>|</a:t>
            </a:r>
            <a:r>
              <a:rPr sz="900" b="1" spc="-210" dirty="0">
                <a:latin typeface="Arial"/>
                <a:cs typeface="Arial"/>
              </a:rPr>
              <a:t>Y</a:t>
            </a:r>
            <a:r>
              <a:rPr sz="900" i="1" spc="-210" dirty="0">
                <a:latin typeface="Menlo"/>
                <a:cs typeface="Menlo"/>
              </a:rPr>
              <a:t>|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pairs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Construct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b="1" spc="-55" dirty="0">
                <a:latin typeface="Arial"/>
                <a:cs typeface="Arial"/>
              </a:rPr>
              <a:t>F</a:t>
            </a:r>
            <a:r>
              <a:rPr sz="1050" i="1" spc="-82" baseline="27777" dirty="0">
                <a:latin typeface="Menlo"/>
                <a:cs typeface="Menlo"/>
              </a:rPr>
              <a:t>∗</a:t>
            </a:r>
            <a:r>
              <a:rPr sz="900" spc="-55" dirty="0">
                <a:latin typeface="Arial"/>
                <a:cs typeface="Arial"/>
              </a:rPr>
              <a:t>[</a:t>
            </a:r>
            <a:r>
              <a:rPr sz="900" i="1" spc="-55" dirty="0">
                <a:latin typeface="Arial"/>
                <a:cs typeface="Arial"/>
              </a:rPr>
              <a:t>i</a:t>
            </a:r>
            <a:r>
              <a:rPr sz="900" i="1" spc="-55" dirty="0">
                <a:latin typeface="Menlo"/>
                <a:cs typeface="Menlo"/>
              </a:rPr>
              <a:t>,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,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))).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permutes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F</a:t>
            </a:r>
            <a:r>
              <a:rPr sz="1050" i="1" spc="-75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1050" i="1" spc="-37" baseline="-15873" dirty="0">
                <a:latin typeface="Arial"/>
                <a:cs typeface="Arial"/>
              </a:rPr>
              <a:t>2</a:t>
            </a:r>
            <a:endParaRPr sz="1050" baseline="-15873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2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1-out-of-</a:t>
            </a:r>
            <a:r>
              <a:rPr sz="900" i="1" spc="-210" dirty="0">
                <a:latin typeface="Menlo"/>
                <a:cs typeface="Menlo"/>
              </a:rPr>
              <a:t>|</a:t>
            </a:r>
            <a:r>
              <a:rPr sz="900" b="1" spc="-210" dirty="0">
                <a:latin typeface="Arial"/>
                <a:cs typeface="Arial"/>
              </a:rPr>
              <a:t>Y</a:t>
            </a:r>
            <a:r>
              <a:rPr sz="900" i="1" spc="-210" dirty="0">
                <a:latin typeface="Menlo"/>
                <a:cs typeface="Menlo"/>
              </a:rPr>
              <a:t>|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oblivious</a:t>
            </a:r>
            <a:r>
              <a:rPr sz="900" spc="-10" dirty="0">
                <a:latin typeface="Arial"/>
                <a:cs typeface="Arial"/>
              </a:rPr>
              <a:t> transfer.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y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construct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K</a:t>
            </a:r>
            <a:r>
              <a:rPr sz="1050" i="1" spc="-37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decrypts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b="1" spc="-55" dirty="0">
                <a:latin typeface="Arial"/>
                <a:cs typeface="Arial"/>
              </a:rPr>
              <a:t>F</a:t>
            </a:r>
            <a:r>
              <a:rPr sz="1050" i="1" spc="-82" baseline="27777" dirty="0">
                <a:latin typeface="Menlo"/>
                <a:cs typeface="Menlo"/>
              </a:rPr>
              <a:t>∗</a:t>
            </a:r>
            <a:r>
              <a:rPr sz="900" spc="-55" dirty="0">
                <a:latin typeface="Arial"/>
                <a:cs typeface="Arial"/>
              </a:rPr>
              <a:t>[</a:t>
            </a:r>
            <a:r>
              <a:rPr sz="900" i="1" spc="-55" dirty="0">
                <a:latin typeface="Arial"/>
                <a:cs typeface="Arial"/>
              </a:rPr>
              <a:t>i</a:t>
            </a:r>
            <a:r>
              <a:rPr sz="900" i="1" spc="-55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spc="-90" dirty="0">
                <a:latin typeface="Arial"/>
                <a:cs typeface="Arial"/>
              </a:rPr>
              <a:t>(</a:t>
            </a:r>
            <a:r>
              <a:rPr sz="900" i="1" spc="-90" dirty="0">
                <a:latin typeface="Arial"/>
                <a:cs typeface="Arial"/>
              </a:rPr>
              <a:t>a</a:t>
            </a:r>
            <a:r>
              <a:rPr sz="900" i="1" spc="-9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5488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needed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keys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Symmetric-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34" y="795187"/>
            <a:ext cx="3096782" cy="12079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149791"/>
            <a:ext cx="378460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secure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channel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communicating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50690" y="-1515"/>
            <a:ext cx="4038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Cryptography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5488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needed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keys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Public-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34" y="792696"/>
            <a:ext cx="3096782" cy="12378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234030"/>
            <a:ext cx="3873500" cy="8026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channel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key,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authentic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signed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certification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authority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authority,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otherwise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signature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well.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5175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Key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876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Authentication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21386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spc="-20" dirty="0">
                <a:latin typeface="Arial"/>
                <a:cs typeface="Arial"/>
              </a:rPr>
              <a:t>Verifying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claimed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person,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software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device,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Means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authentication</a:t>
            </a:r>
            <a:endParaRPr sz="1000">
              <a:latin typeface="Arial"/>
              <a:cs typeface="Arial"/>
            </a:endParaRPr>
          </a:p>
          <a:p>
            <a:pPr marL="269240" marR="380365" indent="-1587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Based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knows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password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personal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identification</a:t>
            </a:r>
            <a:r>
              <a:rPr sz="900" spc="-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number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9240" marR="59055" indent="-1587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has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card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cell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phone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software token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9240" marR="90170" indent="-1587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biometrics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fingerprint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facial</a:t>
            </a:r>
            <a:r>
              <a:rPr sz="900" spc="-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characteristics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9240" marR="243840" indent="-158750">
              <a:lnSpc>
                <a:spcPct val="111600"/>
              </a:lnSpc>
              <a:spcBef>
                <a:spcPts val="295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does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biometrics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voice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patterns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typing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patterns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8382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Introduction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to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8876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Authentication</a:t>
            </a:r>
            <a:r>
              <a:rPr spc="-35" dirty="0"/>
              <a:t> </a:t>
            </a:r>
            <a:r>
              <a:rPr dirty="0"/>
              <a:t>versus</a:t>
            </a:r>
            <a:r>
              <a:rPr spc="-40" dirty="0"/>
              <a:t> </a:t>
            </a:r>
            <a:r>
              <a:rPr dirty="0"/>
              <a:t>message</a:t>
            </a:r>
            <a:r>
              <a:rPr spc="-35" dirty="0"/>
              <a:t> </a:t>
            </a:r>
            <a:r>
              <a:rPr spc="-10" dirty="0"/>
              <a:t>integrity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99476"/>
            <a:ext cx="3941445" cy="1363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Authentication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integrity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vice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versa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meaningles:</a:t>
            </a:r>
            <a:endParaRPr sz="900">
              <a:latin typeface="Arial"/>
              <a:cs typeface="Arial"/>
            </a:endParaRPr>
          </a:p>
          <a:p>
            <a:pPr marL="281940" marR="685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authentication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integrity.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but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useful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modified?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integrity,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authentication.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happy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unmodified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$1,000,000?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748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shared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4401" y="532964"/>
            <a:ext cx="1739264" cy="11097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702706"/>
            <a:ext cx="3957320" cy="152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Steps</a:t>
            </a:r>
            <a:endParaRPr sz="1000">
              <a:latin typeface="Arial"/>
              <a:cs typeface="Arial"/>
            </a:endParaRPr>
          </a:p>
          <a:p>
            <a:pPr marL="287020" indent="-15494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announces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Bob.</a:t>
            </a:r>
            <a:endParaRPr sz="900">
              <a:latin typeface="Arial"/>
              <a:cs typeface="Arial"/>
            </a:endParaRPr>
          </a:p>
          <a:p>
            <a:pPr marL="290830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Bob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nonce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marR="30480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70" dirty="0">
                <a:latin typeface="Arial"/>
                <a:cs typeface="Arial"/>
              </a:rPr>
              <a:t>K</a:t>
            </a:r>
            <a:r>
              <a:rPr sz="1050" i="1" spc="-104" baseline="-15873" dirty="0">
                <a:latin typeface="Arial"/>
                <a:cs typeface="Arial"/>
              </a:rPr>
              <a:t>A</a:t>
            </a:r>
            <a:r>
              <a:rPr sz="1050" i="1" spc="-104" baseline="-15873" dirty="0">
                <a:latin typeface="Menlo"/>
                <a:cs typeface="Menlo"/>
              </a:rPr>
              <a:t>,</a:t>
            </a:r>
            <a:r>
              <a:rPr sz="1050" i="1" spc="-104" baseline="-15873" dirty="0">
                <a:latin typeface="Arial"/>
                <a:cs typeface="Arial"/>
              </a:rPr>
              <a:t>B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she </a:t>
            </a:r>
            <a:r>
              <a:rPr sz="900" dirty="0">
                <a:latin typeface="Arial"/>
                <a:cs typeface="Arial"/>
              </a:rPr>
              <a:t>owns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-40" dirty="0">
                <a:latin typeface="Arial"/>
                <a:cs typeface="Arial"/>
              </a:rPr>
              <a:t>K</a:t>
            </a:r>
            <a:r>
              <a:rPr sz="1050" i="1" spc="-60" baseline="-15873" dirty="0">
                <a:latin typeface="Arial"/>
                <a:cs typeface="Arial"/>
              </a:rPr>
              <a:t>A</a:t>
            </a:r>
            <a:r>
              <a:rPr sz="1050" i="1" spc="-60" baseline="-15873" dirty="0">
                <a:latin typeface="Menlo"/>
                <a:cs typeface="Menlo"/>
              </a:rPr>
              <a:t>,</a:t>
            </a:r>
            <a:r>
              <a:rPr sz="1050" i="1" spc="-60" baseline="-15873" dirty="0">
                <a:latin typeface="Arial"/>
                <a:cs typeface="Arial"/>
              </a:rPr>
              <a:t>B</a:t>
            </a:r>
            <a:r>
              <a:rPr sz="1050" i="1" spc="142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Bob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knows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he’s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talking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Alice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7020" indent="-15494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Bob.</a:t>
            </a:r>
            <a:endParaRPr sz="900">
              <a:latin typeface="Arial"/>
              <a:cs typeface="Arial"/>
            </a:endParaRPr>
          </a:p>
          <a:p>
            <a:pPr marL="290830" marR="181610" indent="-1587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Bob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Alice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knows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she’s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talking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Bob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52245" cy="80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About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optimizations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Arial"/>
              <a:cs typeface="Arial"/>
            </a:endParaRPr>
          </a:p>
          <a:p>
            <a:pPr marL="340360" marR="5080">
              <a:lnSpc>
                <a:spcPct val="111600"/>
              </a:lnSpc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Let’s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reduce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num-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ber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9399" y="669468"/>
            <a:ext cx="1739264" cy="108105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52245" cy="80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About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optimizations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Arial"/>
              <a:cs typeface="Arial"/>
            </a:endParaRPr>
          </a:p>
          <a:p>
            <a:pPr marL="340360" marR="5080">
              <a:lnSpc>
                <a:spcPct val="111600"/>
              </a:lnSpc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Let’s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reduce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num-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ber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9399" y="669468"/>
            <a:ext cx="1739264" cy="10810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3214" y="1965023"/>
            <a:ext cx="1124585" cy="465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00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We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just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broke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pro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tocol</a:t>
            </a:r>
            <a:r>
              <a:rPr lang="en-US" sz="900" spc="-10" dirty="0">
                <a:solidFill>
                  <a:srgbClr val="C80000"/>
                </a:solidFill>
                <a:latin typeface="Arial"/>
                <a:cs typeface="Arial"/>
              </a:rPr>
              <a:t>, can lead to </a:t>
            </a:r>
            <a:r>
              <a:rPr lang="en-US" sz="900" b="1" i="1" spc="-10" dirty="0">
                <a:solidFill>
                  <a:srgbClr val="C80000"/>
                </a:solidFill>
                <a:latin typeface="Arial"/>
                <a:cs typeface="Arial"/>
              </a:rPr>
              <a:t>reflection attack</a:t>
            </a:r>
            <a:endParaRPr sz="900" b="1" i="1" dirty="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9399" y="1952650"/>
            <a:ext cx="2445294" cy="109668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7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336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Center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547" y="557822"/>
            <a:ext cx="2545859" cy="10810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1734854"/>
            <a:ext cx="3288665" cy="750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KDC.</a:t>
            </a:r>
            <a:endParaRPr sz="900">
              <a:latin typeface="Arial"/>
              <a:cs typeface="Arial"/>
            </a:endParaRPr>
          </a:p>
          <a:p>
            <a:pPr marL="261620" indent="-15494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KDC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Bob</a:t>
            </a:r>
            <a:endParaRPr sz="900">
              <a:latin typeface="Arial"/>
              <a:cs typeface="Arial"/>
            </a:endParaRPr>
          </a:p>
          <a:p>
            <a:pPr marL="261620" indent="-15494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KDC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fresh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key,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Bob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336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Center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547" y="557822"/>
            <a:ext cx="2545859" cy="10810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1734854"/>
            <a:ext cx="3655060" cy="9544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ticket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practically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better:</a:t>
            </a:r>
            <a:endParaRPr sz="900">
              <a:latin typeface="Arial"/>
              <a:cs typeface="Arial"/>
            </a:endParaRPr>
          </a:p>
          <a:p>
            <a:pPr marL="261620" indent="-15494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KDC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Bob</a:t>
            </a:r>
            <a:endParaRPr sz="900">
              <a:latin typeface="Arial"/>
              <a:cs typeface="Arial"/>
            </a:endParaRPr>
          </a:p>
          <a:p>
            <a:pPr marL="261620" indent="-15494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KDC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fresh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key,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Bob</a:t>
            </a:r>
            <a:endParaRPr sz="900">
              <a:latin typeface="Arial"/>
              <a:cs typeface="Arial"/>
            </a:endParaRPr>
          </a:p>
          <a:p>
            <a:pPr marL="261620" indent="-15494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3209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Needham-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Schroeder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9701" y="552785"/>
            <a:ext cx="2888595" cy="10891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1704649"/>
            <a:ext cx="3790315" cy="11309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request-</a:t>
            </a:r>
            <a:r>
              <a:rPr sz="900" dirty="0">
                <a:latin typeface="Arial"/>
                <a:cs typeface="Arial"/>
              </a:rPr>
              <a:t>response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received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response,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Mitigates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replay attacks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General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nonces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combination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request-</a:t>
            </a:r>
            <a:r>
              <a:rPr sz="900" dirty="0">
                <a:latin typeface="Arial"/>
                <a:cs typeface="Arial"/>
              </a:rPr>
              <a:t>response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2818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Mitigate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against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reuse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keys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9520" y="561574"/>
            <a:ext cx="2890342" cy="15195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110767"/>
            <a:ext cx="3516629" cy="8572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Some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B1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#2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#5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1050" i="1" baseline="-15873" dirty="0">
                <a:latin typeface="Arial"/>
                <a:cs typeface="Arial"/>
              </a:rPr>
              <a:t>A2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#6,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1050" i="1" spc="-30" baseline="-15873" dirty="0">
                <a:latin typeface="Arial"/>
                <a:cs typeface="Arial"/>
              </a:rPr>
              <a:t>A</a:t>
            </a:r>
            <a:r>
              <a:rPr sz="1050" i="1" spc="-30" baseline="-15873" dirty="0">
                <a:latin typeface="Menlo"/>
                <a:cs typeface="Menlo"/>
              </a:rPr>
              <a:t>,</a:t>
            </a:r>
            <a:r>
              <a:rPr sz="1050" i="1" spc="-30" baseline="-15873" dirty="0">
                <a:latin typeface="Arial"/>
                <a:cs typeface="Arial"/>
              </a:rPr>
              <a:t>B</a:t>
            </a:r>
            <a:endParaRPr sz="1050" baseline="-15873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And,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likewise,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#6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modifying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1050" i="1" spc="-15" baseline="-15873" dirty="0">
                <a:latin typeface="Arial"/>
                <a:cs typeface="Arial"/>
              </a:rPr>
              <a:t>B2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976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public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keys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4401" y="556553"/>
            <a:ext cx="1739264" cy="7238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391747"/>
            <a:ext cx="3966210" cy="144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Steps</a:t>
            </a:r>
            <a:endParaRPr sz="1000">
              <a:latin typeface="Arial"/>
              <a:cs typeface="Arial"/>
            </a:endParaRPr>
          </a:p>
          <a:p>
            <a:pPr marL="290830" marR="33020" indent="-1587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1050" i="1" baseline="-15873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encrypting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Bob’s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key.</a:t>
            </a:r>
            <a:endParaRPr sz="900">
              <a:latin typeface="Arial"/>
              <a:cs typeface="Arial"/>
            </a:endParaRPr>
          </a:p>
          <a:p>
            <a:pPr marL="290830" marR="30480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Bob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shared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session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70" dirty="0">
                <a:latin typeface="Arial"/>
                <a:cs typeface="Arial"/>
              </a:rPr>
              <a:t>K</a:t>
            </a:r>
            <a:r>
              <a:rPr sz="1050" i="1" spc="-104" baseline="-15873" dirty="0">
                <a:latin typeface="Arial"/>
                <a:cs typeface="Arial"/>
              </a:rPr>
              <a:t>A</a:t>
            </a:r>
            <a:r>
              <a:rPr sz="1050" i="1" spc="-104" baseline="-15873" dirty="0">
                <a:latin typeface="Menlo"/>
                <a:cs typeface="Menlo"/>
              </a:rPr>
              <a:t>,</a:t>
            </a:r>
            <a:r>
              <a:rPr sz="1050" i="1" spc="-104" baseline="-15873" dirty="0">
                <a:latin typeface="Arial"/>
                <a:cs typeface="Arial"/>
              </a:rPr>
              <a:t>B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proves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owner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PK</a:t>
            </a:r>
            <a:r>
              <a:rPr sz="1050" i="1" baseline="-15873" dirty="0">
                <a:latin typeface="Arial"/>
                <a:cs typeface="Arial"/>
              </a:rPr>
              <a:t>B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decrypting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1050" i="1" baseline="-15873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challenges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PK</a:t>
            </a:r>
            <a:r>
              <a:rPr sz="1050" i="1" spc="-30" baseline="-15873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marR="55244" indent="-158750">
              <a:lnSpc>
                <a:spcPct val="120700"/>
              </a:lnSpc>
              <a:spcBef>
                <a:spcPts val="305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decrypts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proves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Bob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Alice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then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Bob’s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session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key </a:t>
            </a:r>
            <a:r>
              <a:rPr sz="1350" i="1" spc="-104" baseline="12345" dirty="0">
                <a:latin typeface="Arial"/>
                <a:cs typeface="Arial"/>
              </a:rPr>
              <a:t>K</a:t>
            </a:r>
            <a:r>
              <a:rPr sz="700" i="1" spc="-70" dirty="0">
                <a:latin typeface="Arial"/>
                <a:cs typeface="Arial"/>
              </a:rPr>
              <a:t>A</a:t>
            </a:r>
            <a:r>
              <a:rPr sz="700" i="1" spc="-70" dirty="0">
                <a:latin typeface="Menlo"/>
                <a:cs typeface="Menlo"/>
              </a:rPr>
              <a:t>,</a:t>
            </a:r>
            <a:r>
              <a:rPr sz="700" i="1" spc="-70" dirty="0">
                <a:latin typeface="Arial"/>
                <a:cs typeface="Arial"/>
              </a:rPr>
              <a:t>B</a:t>
            </a:r>
            <a:r>
              <a:rPr sz="700" i="1" spc="-95" dirty="0">
                <a:latin typeface="Arial"/>
                <a:cs typeface="Arial"/>
              </a:rPr>
              <a:t> </a:t>
            </a:r>
            <a:r>
              <a:rPr sz="1350" spc="-75" baseline="12345" dirty="0">
                <a:latin typeface="Arial"/>
                <a:cs typeface="Arial"/>
              </a:rPr>
              <a:t>.</a:t>
            </a:r>
            <a:endParaRPr sz="1350" baseline="12345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221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Practical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Kerberos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051" y="515802"/>
            <a:ext cx="3262949" cy="12282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710704"/>
            <a:ext cx="3964304" cy="15201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  <a:spcBef>
                <a:spcPts val="50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1,2</a:t>
            </a:r>
            <a:r>
              <a:rPr sz="900" spc="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name.</a:t>
            </a:r>
            <a:endParaRPr sz="900">
              <a:latin typeface="Arial"/>
              <a:cs typeface="Arial"/>
            </a:endParaRPr>
          </a:p>
          <a:p>
            <a:pPr marL="290830" marR="83820" indent="-127000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3</a:t>
            </a:r>
            <a:r>
              <a:rPr sz="900" spc="2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Authentication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Service</a:t>
            </a:r>
            <a:r>
              <a:rPr sz="900" spc="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ticket</a:t>
            </a:r>
            <a:r>
              <a:rPr sz="900" spc="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latin typeface="Arial"/>
                <a:cs typeface="Arial"/>
              </a:rPr>
              <a:t>K</a:t>
            </a:r>
            <a:r>
              <a:rPr sz="1050" i="1" spc="-60" baseline="-15873" dirty="0">
                <a:latin typeface="Arial"/>
                <a:cs typeface="Arial"/>
              </a:rPr>
              <a:t>AS</a:t>
            </a:r>
            <a:r>
              <a:rPr sz="1050" i="1" spc="-60" baseline="-15873" dirty="0">
                <a:latin typeface="Menlo"/>
                <a:cs typeface="Menlo"/>
              </a:rPr>
              <a:t>,</a:t>
            </a:r>
            <a:r>
              <a:rPr sz="1050" i="1" spc="-60" baseline="-15873" dirty="0">
                <a:latin typeface="Arial"/>
                <a:cs typeface="Arial"/>
              </a:rPr>
              <a:t>TGS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900" spc="-90" dirty="0">
                <a:latin typeface="Arial"/>
                <a:cs typeface="Arial"/>
              </a:rPr>
              <a:t>(</a:t>
            </a:r>
            <a:r>
              <a:rPr sz="900" i="1" spc="-90" dirty="0">
                <a:latin typeface="Arial"/>
                <a:cs typeface="Arial"/>
              </a:rPr>
              <a:t>A</a:t>
            </a:r>
            <a:r>
              <a:rPr sz="900" i="1" spc="-9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K</a:t>
            </a:r>
            <a:r>
              <a:rPr sz="1050" i="1" spc="-75" baseline="-15873" dirty="0">
                <a:latin typeface="Arial"/>
                <a:cs typeface="Arial"/>
              </a:rPr>
              <a:t>A</a:t>
            </a:r>
            <a:r>
              <a:rPr sz="1050" i="1" spc="-75" baseline="-15873" dirty="0">
                <a:latin typeface="Menlo"/>
                <a:cs typeface="Menlo"/>
              </a:rPr>
              <a:t>,</a:t>
            </a:r>
            <a:r>
              <a:rPr sz="1050" i="1" spc="-75" baseline="-15873" dirty="0">
                <a:latin typeface="Arial"/>
                <a:cs typeface="Arial"/>
              </a:rPr>
              <a:t>TGS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 </a:t>
            </a:r>
            <a:r>
              <a:rPr sz="900" spc="-25" dirty="0">
                <a:latin typeface="Arial"/>
                <a:cs typeface="Arial"/>
              </a:rPr>
              <a:t>she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Ticket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Granting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Service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marR="30480" indent="-221615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4,5</a:t>
            </a:r>
            <a:r>
              <a:rPr sz="9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decrypt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password.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She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logged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way,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single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sign-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on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  <a:spcBef>
                <a:spcPts val="52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6,7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Bob,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TGS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session</a:t>
            </a:r>
            <a:r>
              <a:rPr sz="900" spc="-20" dirty="0">
                <a:latin typeface="Arial"/>
                <a:cs typeface="Arial"/>
              </a:rPr>
              <a:t> key.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687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Transport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757" y="562901"/>
            <a:ext cx="3172419" cy="2003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0148" y="2670419"/>
            <a:ext cx="3528695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080" indent="-117475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33350" algn="l"/>
              </a:tabLst>
            </a:pP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settings,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group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(e.g.,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g</a:t>
            </a:r>
            <a:r>
              <a:rPr sz="900" spc="-25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0141" y="-1515"/>
            <a:ext cx="424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Authentication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687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Transport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757" y="562901"/>
            <a:ext cx="3172419" cy="2003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686857"/>
            <a:ext cx="26003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305" indent="-116839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nonce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1050" i="1" spc="-15" baseline="-15873" dirty="0">
                <a:latin typeface="Arial"/>
                <a:cs typeface="Arial"/>
              </a:rPr>
              <a:t>C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R</a:t>
            </a:r>
            <a:r>
              <a:rPr sz="1050" i="1" spc="-37" baseline="-15873" dirty="0">
                <a:latin typeface="Arial"/>
                <a:cs typeface="Arial"/>
              </a:rPr>
              <a:t>S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0148" y="2903210"/>
            <a:ext cx="8255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0"/>
              </a:lnSpc>
            </a:pPr>
            <a:r>
              <a:rPr sz="900" i="1" spc="-95" dirty="0">
                <a:solidFill>
                  <a:srgbClr val="3333B2"/>
                </a:solidFill>
                <a:latin typeface="Menlo"/>
                <a:cs typeface="Menlo"/>
              </a:rPr>
              <a:t>•</a:t>
            </a:r>
            <a:endParaRPr sz="900">
              <a:latin typeface="Menlo"/>
              <a:cs typeface="Menl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354" y="2895905"/>
            <a:ext cx="3335654" cy="182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i="1" spc="-30" dirty="0">
                <a:latin typeface="Arial"/>
                <a:cs typeface="Arial"/>
              </a:rPr>
              <a:t>H</a:t>
            </a:r>
            <a:r>
              <a:rPr sz="900" spc="-30" dirty="0">
                <a:latin typeface="Arial"/>
                <a:cs typeface="Arial"/>
              </a:rPr>
              <a:t>(</a:t>
            </a:r>
            <a:r>
              <a:rPr sz="900" i="1" spc="-30" dirty="0">
                <a:latin typeface="Arial"/>
                <a:cs typeface="Arial"/>
              </a:rPr>
              <a:t>m</a:t>
            </a:r>
            <a:r>
              <a:rPr sz="1050" i="1" spc="-44" baseline="-15873" dirty="0">
                <a:latin typeface="Arial"/>
                <a:cs typeface="Arial"/>
              </a:rPr>
              <a:t>1</a:t>
            </a:r>
            <a:r>
              <a:rPr sz="900" i="1" spc="-30" dirty="0">
                <a:latin typeface="Menlo"/>
                <a:cs typeface="Menlo"/>
              </a:rPr>
              <a:t>|</a:t>
            </a:r>
            <a:r>
              <a:rPr sz="900" i="1" spc="-30" dirty="0">
                <a:latin typeface="Arial"/>
                <a:cs typeface="Arial"/>
              </a:rPr>
              <a:t>m</a:t>
            </a:r>
            <a:r>
              <a:rPr sz="1050" i="1" spc="-44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concatenation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2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m</a:t>
            </a:r>
            <a:r>
              <a:rPr sz="1050" i="1" spc="-52" baseline="-15873" dirty="0">
                <a:latin typeface="Arial"/>
                <a:cs typeface="Arial"/>
              </a:rPr>
              <a:t>2</a:t>
            </a:r>
            <a:endParaRPr sz="1050" baseline="-1587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67" y="3349927"/>
            <a:ext cx="6991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Authentication</a:t>
            </a:r>
            <a:r>
              <a:rPr sz="500" spc="8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trust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503848"/>
            <a:ext cx="3968115" cy="27171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55"/>
              </a:spcBef>
            </a:pPr>
            <a:r>
              <a:rPr sz="900" i="1" spc="-25" dirty="0">
                <a:latin typeface="Arial"/>
                <a:cs typeface="Arial"/>
              </a:rPr>
              <a:t>Trust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assurance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entity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holds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another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will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perform</a:t>
            </a:r>
            <a:endParaRPr sz="90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particular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actions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according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specific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expectation.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Important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Expectations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explicit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talk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trust?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Byzantine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fault-</a:t>
            </a:r>
            <a:r>
              <a:rPr sz="900" dirty="0">
                <a:latin typeface="Arial"/>
                <a:cs typeface="Arial"/>
              </a:rPr>
              <a:t>tolerant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L="556895" marR="230504" lvl="1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55753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Specificiation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tolerate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-114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spc="-20" dirty="0">
                <a:latin typeface="Arial"/>
                <a:cs typeface="Arial"/>
              </a:rPr>
              <a:t>1)</a:t>
            </a:r>
            <a:r>
              <a:rPr sz="900" i="1" spc="-20" dirty="0">
                <a:latin typeface="Menlo"/>
                <a:cs typeface="Menlo"/>
              </a:rPr>
              <a:t>/</a:t>
            </a:r>
            <a:r>
              <a:rPr sz="900" spc="-20" dirty="0">
                <a:latin typeface="Arial"/>
                <a:cs typeface="Arial"/>
              </a:rPr>
              <a:t>3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rogue.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753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Realisation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PBFT.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753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Consequence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off.</a:t>
            </a:r>
            <a:endParaRPr sz="900">
              <a:latin typeface="Arial"/>
              <a:cs typeface="Arial"/>
            </a:endParaRPr>
          </a:p>
          <a:p>
            <a:pPr marL="556895" marR="639445" lvl="1" indent="-120650">
              <a:lnSpc>
                <a:spcPct val="111600"/>
              </a:lnSpc>
              <a:buFont typeface="Menlo"/>
              <a:buChar char="•"/>
              <a:tabLst>
                <a:tab pos="55753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Consequence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it’s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it’s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meeting specifications.</a:t>
            </a:r>
            <a:endParaRPr sz="900">
              <a:latin typeface="Arial"/>
              <a:cs typeface="Arial"/>
            </a:endParaRPr>
          </a:p>
          <a:p>
            <a:pPr marL="299720" marR="137795" indent="-116839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3041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specifications,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doubt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reliability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something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than </a:t>
            </a:r>
            <a:r>
              <a:rPr sz="900" dirty="0">
                <a:latin typeface="Arial"/>
                <a:cs typeface="Arial"/>
              </a:rPr>
              <a:t>(dis)trusting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10560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face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Byzantine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failures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Sybil</a:t>
            </a:r>
            <a:r>
              <a:rPr spc="-35" dirty="0"/>
              <a:t> </a:t>
            </a:r>
            <a:r>
              <a:rPr spc="-10" dirty="0"/>
              <a:t>attack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633470" cy="107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Essence: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Just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create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multiple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identities,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owned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peer-to-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10" dirty="0">
                <a:latin typeface="Arial"/>
                <a:cs typeface="Arial"/>
              </a:rPr>
              <a:t> network:</a:t>
            </a:r>
            <a:endParaRPr sz="900">
              <a:latin typeface="Arial"/>
              <a:cs typeface="Arial"/>
            </a:endParaRPr>
          </a:p>
          <a:p>
            <a:pPr marL="164465">
              <a:lnSpc>
                <a:spcPts val="780"/>
              </a:lnSpc>
              <a:spcBef>
                <a:spcPts val="83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H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set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of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honest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nodes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4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set</a:t>
            </a:r>
            <a:r>
              <a:rPr sz="700" b="1" spc="9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of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Sybil </a:t>
            </a:r>
            <a:r>
              <a:rPr sz="700" spc="-20" dirty="0">
                <a:latin typeface="Times New Roman"/>
                <a:cs typeface="Times New Roman"/>
              </a:rPr>
              <a:t>nodes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43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A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7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Attacker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node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220" dirty="0">
                <a:latin typeface="Times New Roman"/>
                <a:cs typeface="Times New Roman"/>
              </a:rPr>
              <a:t>  </a:t>
            </a:r>
            <a:r>
              <a:rPr sz="700" spc="65" dirty="0">
                <a:latin typeface="Times New Roman"/>
                <a:cs typeface="Times New Roman"/>
              </a:rPr>
              <a:t>d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minimal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fraction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of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Sybil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nodes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needed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13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an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attack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16446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245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14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061" y="1545490"/>
            <a:ext cx="833119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A.createNode()</a:t>
            </a:r>
            <a:r>
              <a:rPr sz="700" spc="55" dirty="0">
                <a:latin typeface="Times New Roman"/>
                <a:cs typeface="Times New Roman"/>
              </a:rPr>
              <a:t> S.add(s)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0158" y="1545490"/>
            <a:ext cx="96710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Sybil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add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it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set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" dirty="0">
                <a:solidFill>
                  <a:srgbClr val="009600"/>
                </a:solidFill>
                <a:latin typeface="Times New Roman"/>
                <a:cs typeface="Times New Roman"/>
              </a:rPr>
              <a:t>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8513" y="1555613"/>
            <a:ext cx="1016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3061" y="1818782"/>
            <a:ext cx="92011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spc="65" dirty="0">
                <a:latin typeface="Times New Roman"/>
                <a:cs typeface="Times New Roman"/>
              </a:rPr>
              <a:t>h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random.choice(H)</a:t>
            </a:r>
            <a:r>
              <a:rPr sz="700" spc="35" dirty="0">
                <a:latin typeface="Times New Roman"/>
                <a:cs typeface="Times New Roman"/>
              </a:rPr>
              <a:t> s.connectTo(h)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0158" y="1818782"/>
            <a:ext cx="149606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pick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arbitrary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honest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sybil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" dirty="0">
                <a:solidFill>
                  <a:srgbClr val="009600"/>
                </a:solidFill>
                <a:latin typeface="Times New Roman"/>
                <a:cs typeface="Times New Roman"/>
              </a:rPr>
              <a:t>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575" y="2092073"/>
            <a:ext cx="234124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65" dirty="0">
                <a:latin typeface="Times New Roman"/>
                <a:cs typeface="Times New Roman"/>
              </a:rPr>
              <a:t>(S)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/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dirty="0">
                <a:latin typeface="Times New Roman"/>
                <a:cs typeface="Times New Roman"/>
              </a:rPr>
              <a:t>(H)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&gt;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spc="110" dirty="0">
                <a:latin typeface="Times New Roman"/>
                <a:cs typeface="Times New Roman"/>
              </a:rPr>
              <a:t>d:</a:t>
            </a:r>
            <a:r>
              <a:rPr sz="700" spc="215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enough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sybil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nodes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for...</a:t>
            </a:r>
            <a:endParaRPr sz="700">
              <a:latin typeface="Times New Roman"/>
              <a:cs typeface="Times New Roman"/>
            </a:endParaRPr>
          </a:p>
          <a:p>
            <a:pPr marL="191135">
              <a:lnSpc>
                <a:spcPts val="780"/>
              </a:lnSpc>
              <a:tabLst>
                <a:tab pos="1120775" algn="l"/>
              </a:tabLst>
            </a:pPr>
            <a:r>
              <a:rPr sz="700" spc="60" dirty="0">
                <a:latin typeface="Times New Roman"/>
                <a:cs typeface="Times New Roman"/>
              </a:rPr>
              <a:t>A.attack()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...an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attack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Sybil</a:t>
            </a:r>
            <a:r>
              <a:rPr spc="-35" dirty="0"/>
              <a:t> </a:t>
            </a:r>
            <a:r>
              <a:rPr spc="-10" dirty="0"/>
              <a:t>attack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633470" cy="107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Essence: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Just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create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multiple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identities,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owned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entity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peer-to-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10" dirty="0">
                <a:latin typeface="Arial"/>
                <a:cs typeface="Arial"/>
              </a:rPr>
              <a:t> network:</a:t>
            </a:r>
            <a:endParaRPr sz="900">
              <a:latin typeface="Arial"/>
              <a:cs typeface="Arial"/>
            </a:endParaRPr>
          </a:p>
          <a:p>
            <a:pPr marL="164465">
              <a:lnSpc>
                <a:spcPts val="780"/>
              </a:lnSpc>
              <a:spcBef>
                <a:spcPts val="83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H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set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of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honest</a:t>
            </a:r>
            <a:r>
              <a:rPr sz="700" spc="55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nodes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4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set</a:t>
            </a:r>
            <a:r>
              <a:rPr sz="700" b="1" spc="9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of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Sybil </a:t>
            </a:r>
            <a:r>
              <a:rPr sz="700" spc="-20" dirty="0">
                <a:latin typeface="Times New Roman"/>
                <a:cs typeface="Times New Roman"/>
              </a:rPr>
              <a:t>nodes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43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A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7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Attacker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node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220" dirty="0">
                <a:latin typeface="Times New Roman"/>
                <a:cs typeface="Times New Roman"/>
              </a:rPr>
              <a:t>  </a:t>
            </a:r>
            <a:r>
              <a:rPr sz="700" spc="65" dirty="0">
                <a:latin typeface="Times New Roman"/>
                <a:cs typeface="Times New Roman"/>
              </a:rPr>
              <a:t>d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minimal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fraction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of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Sybil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nodes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needed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13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an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attack</a:t>
            </a:r>
            <a:endParaRPr sz="700">
              <a:latin typeface="Times New Roman"/>
              <a:cs typeface="Times New Roman"/>
            </a:endParaRPr>
          </a:p>
          <a:p>
            <a:pPr marL="164465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16446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245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14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061" y="1545490"/>
            <a:ext cx="833119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A.createNode()</a:t>
            </a:r>
            <a:r>
              <a:rPr sz="700" spc="55" dirty="0">
                <a:latin typeface="Times New Roman"/>
                <a:cs typeface="Times New Roman"/>
              </a:rPr>
              <a:t> S.add(s)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0158" y="1545490"/>
            <a:ext cx="96710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Sybil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add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it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set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" dirty="0">
                <a:solidFill>
                  <a:srgbClr val="009600"/>
                </a:solidFill>
                <a:latin typeface="Times New Roman"/>
                <a:cs typeface="Times New Roman"/>
              </a:rPr>
              <a:t>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8513" y="1555613"/>
            <a:ext cx="1016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3061" y="1818782"/>
            <a:ext cx="92011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spc="65" dirty="0">
                <a:latin typeface="Times New Roman"/>
                <a:cs typeface="Times New Roman"/>
              </a:rPr>
              <a:t>h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random.choice(H)</a:t>
            </a:r>
            <a:r>
              <a:rPr sz="700" spc="35" dirty="0">
                <a:latin typeface="Times New Roman"/>
                <a:cs typeface="Times New Roman"/>
              </a:rPr>
              <a:t> s.connectTo(h)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0158" y="1818782"/>
            <a:ext cx="149606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pick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arbitrary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honest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sybil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" dirty="0">
                <a:solidFill>
                  <a:srgbClr val="009600"/>
                </a:solidFill>
                <a:latin typeface="Times New Roman"/>
                <a:cs typeface="Times New Roman"/>
              </a:rPr>
              <a:t>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575" y="2092073"/>
            <a:ext cx="234124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65" dirty="0">
                <a:latin typeface="Times New Roman"/>
                <a:cs typeface="Times New Roman"/>
              </a:rPr>
              <a:t>(S)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/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dirty="0">
                <a:latin typeface="Times New Roman"/>
                <a:cs typeface="Times New Roman"/>
              </a:rPr>
              <a:t>(H)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&gt;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spc="110" dirty="0">
                <a:latin typeface="Times New Roman"/>
                <a:cs typeface="Times New Roman"/>
              </a:rPr>
              <a:t>d:</a:t>
            </a:r>
            <a:r>
              <a:rPr sz="700" spc="215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enough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sybil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nodes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for...</a:t>
            </a:r>
            <a:endParaRPr sz="700">
              <a:latin typeface="Times New Roman"/>
              <a:cs typeface="Times New Roman"/>
            </a:endParaRPr>
          </a:p>
          <a:p>
            <a:pPr marL="191135">
              <a:lnSpc>
                <a:spcPts val="780"/>
              </a:lnSpc>
              <a:tabLst>
                <a:tab pos="1120775" algn="l"/>
              </a:tabLst>
            </a:pPr>
            <a:r>
              <a:rPr sz="700" spc="60" dirty="0">
                <a:latin typeface="Times New Roman"/>
                <a:cs typeface="Times New Roman"/>
              </a:rPr>
              <a:t>A.attack()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...an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attack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4748" y="2345122"/>
            <a:ext cx="3751579" cy="73914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6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Web-</a:t>
            </a:r>
            <a:r>
              <a:rPr sz="900" spc="-10" dirty="0">
                <a:latin typeface="Arial"/>
                <a:cs typeface="Arial"/>
              </a:rPr>
              <a:t>of-trust:</a:t>
            </a:r>
            <a:endParaRPr sz="900">
              <a:latin typeface="Arial"/>
              <a:cs typeface="Arial"/>
            </a:endParaRPr>
          </a:p>
          <a:p>
            <a:pPr marL="410845" lvl="1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411480" algn="l"/>
              </a:tabLst>
            </a:pPr>
            <a:r>
              <a:rPr sz="900" dirty="0">
                <a:latin typeface="Arial"/>
                <a:cs typeface="Arial"/>
              </a:rPr>
              <a:t>Endorse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out-of-</a:t>
            </a:r>
            <a:r>
              <a:rPr sz="900" dirty="0">
                <a:latin typeface="Arial"/>
                <a:cs typeface="Arial"/>
              </a:rPr>
              <a:t>band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check.</a:t>
            </a:r>
            <a:endParaRPr sz="900">
              <a:latin typeface="Arial"/>
              <a:cs typeface="Arial"/>
            </a:endParaRPr>
          </a:p>
          <a:p>
            <a:pPr marL="410845" lvl="1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411480" algn="l"/>
              </a:tabLst>
            </a:pPr>
            <a:r>
              <a:rPr sz="900" i="1" dirty="0">
                <a:latin typeface="Arial"/>
                <a:cs typeface="Arial"/>
              </a:rPr>
              <a:t>Bob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checks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&gt;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endorsed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Alice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key.</a:t>
            </a:r>
            <a:endParaRPr sz="900">
              <a:latin typeface="Arial"/>
              <a:cs typeface="Arial"/>
            </a:endParaRPr>
          </a:p>
          <a:p>
            <a:pPr marL="410845" lvl="1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411480" algn="l"/>
              </a:tabLst>
            </a:pPr>
            <a:r>
              <a:rPr sz="900" i="1" dirty="0">
                <a:latin typeface="Arial"/>
                <a:cs typeface="Arial"/>
              </a:rPr>
              <a:t>Alice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&gt;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identities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Eclipse</a:t>
            </a:r>
            <a:r>
              <a:rPr spc="-45" dirty="0"/>
              <a:t> </a:t>
            </a:r>
            <a:r>
              <a:rPr spc="-10" dirty="0"/>
              <a:t>attack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71706"/>
            <a:ext cx="3808095" cy="7023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Essence: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Try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isolate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hub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attack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gossip-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case,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peers,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colluding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colluders.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702" y="1303152"/>
            <a:ext cx="2480508" cy="11751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3547" y="2633822"/>
            <a:ext cx="2123440" cy="56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Affected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colluders.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General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 </a:t>
            </a: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certification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authority.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Preventing</a:t>
            </a:r>
            <a:r>
              <a:rPr spc="-30" dirty="0"/>
              <a:t> </a:t>
            </a:r>
            <a:r>
              <a:rPr dirty="0"/>
              <a:t>Sybil</a:t>
            </a:r>
            <a:r>
              <a:rPr spc="-30" dirty="0"/>
              <a:t> </a:t>
            </a:r>
            <a:r>
              <a:rPr dirty="0"/>
              <a:t>attacks:</a:t>
            </a:r>
            <a:r>
              <a:rPr spc="4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0520"/>
            <a:ext cx="386397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Essence: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creating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identity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comes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cost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permissionless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blockchains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78130" marR="4953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Proof-of-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Work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validators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race.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approach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considerable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computational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resources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Proof-of-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Stake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Pick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owns.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approach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risking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loss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tokens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Preventing</a:t>
            </a:r>
            <a:r>
              <a:rPr spc="-30" dirty="0"/>
              <a:t> </a:t>
            </a:r>
            <a:r>
              <a:rPr dirty="0"/>
              <a:t>Sybil</a:t>
            </a:r>
            <a:r>
              <a:rPr spc="-30" dirty="0"/>
              <a:t> </a:t>
            </a:r>
            <a:r>
              <a:rPr dirty="0"/>
              <a:t>attacks:</a:t>
            </a:r>
            <a:r>
              <a:rPr spc="50" dirty="0"/>
              <a:t> </a:t>
            </a:r>
            <a:r>
              <a:rPr spc="-10" dirty="0"/>
              <a:t>Decentralized</a:t>
            </a:r>
            <a:r>
              <a:rPr spc="-30" dirty="0"/>
              <a:t> </a:t>
            </a:r>
            <a:r>
              <a:rPr spc="-10" dirty="0"/>
              <a:t>accounting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728" y="514774"/>
            <a:ext cx="3968750" cy="2147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simple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95275" marR="304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29591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choice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choice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900" spc="-10" dirty="0">
                <a:latin typeface="Arial"/>
                <a:cs typeface="Arial"/>
              </a:rPr>
              <a:t>)).</a:t>
            </a:r>
            <a:endParaRPr sz="900">
              <a:latin typeface="Arial"/>
              <a:cs typeface="Arial"/>
            </a:endParaRPr>
          </a:p>
          <a:p>
            <a:pPr marL="295275" marR="43053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95910" algn="l"/>
              </a:tabLst>
            </a:pPr>
            <a:r>
              <a:rPr sz="900" dirty="0">
                <a:latin typeface="Arial"/>
                <a:cs typeface="Arial"/>
              </a:rPr>
              <a:t>Selecting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choice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its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reputation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295275" marR="107314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591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subjective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view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reputations.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course,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knows </a:t>
            </a:r>
            <a:r>
              <a:rPr sz="900" dirty="0">
                <a:latin typeface="Arial"/>
                <a:cs typeface="Arial"/>
              </a:rPr>
              <a:t>precisely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5275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591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capacity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cap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Q</a:t>
            </a:r>
            <a:r>
              <a:rPr sz="900" spc="-10" dirty="0"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  <a:p>
            <a:pPr marL="1091565">
              <a:lnSpc>
                <a:spcPct val="100000"/>
              </a:lnSpc>
              <a:spcBef>
                <a:spcPts val="969"/>
              </a:spcBef>
            </a:pPr>
            <a:r>
              <a:rPr sz="900" i="1" dirty="0">
                <a:latin typeface="Arial"/>
                <a:cs typeface="Arial"/>
              </a:rPr>
              <a:t>cap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max</a:t>
            </a:r>
            <a:r>
              <a:rPr sz="900" i="1" spc="-45" dirty="0">
                <a:latin typeface="Menlo"/>
                <a:cs typeface="Menlo"/>
              </a:rPr>
              <a:t>{</a:t>
            </a:r>
            <a:r>
              <a:rPr sz="900" i="1" spc="-45" dirty="0">
                <a:latin typeface="Arial"/>
                <a:cs typeface="Arial"/>
              </a:rPr>
              <a:t>MF</a:t>
            </a:r>
            <a:r>
              <a:rPr sz="900" i="1" spc="-114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(</a:t>
            </a:r>
            <a:r>
              <a:rPr sz="900" i="1" spc="-75" dirty="0">
                <a:latin typeface="Arial"/>
                <a:cs typeface="Arial"/>
              </a:rPr>
              <a:t>Q</a:t>
            </a:r>
            <a:r>
              <a:rPr sz="900" i="1" spc="-75" dirty="0">
                <a:latin typeface="Menlo"/>
                <a:cs typeface="Menlo"/>
              </a:rPr>
              <a:t>,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55" dirty="0">
                <a:latin typeface="Arial"/>
                <a:cs typeface="Arial"/>
              </a:rPr>
              <a:t>P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MF</a:t>
            </a:r>
            <a:r>
              <a:rPr sz="900" i="1" spc="-114" dirty="0"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(</a:t>
            </a:r>
            <a:r>
              <a:rPr sz="900" i="1" spc="-70" dirty="0">
                <a:latin typeface="Arial"/>
                <a:cs typeface="Arial"/>
              </a:rPr>
              <a:t>P</a:t>
            </a:r>
            <a:r>
              <a:rPr sz="900" i="1" spc="-70" dirty="0">
                <a:latin typeface="Menlo"/>
                <a:cs typeface="Menlo"/>
              </a:rPr>
              <a:t>,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75" dirty="0">
                <a:latin typeface="Arial"/>
                <a:cs typeface="Arial"/>
              </a:rPr>
              <a:t>Q</a:t>
            </a:r>
            <a:r>
              <a:rPr sz="900" spc="-75" dirty="0">
                <a:latin typeface="Arial"/>
                <a:cs typeface="Arial"/>
              </a:rPr>
              <a:t>)</a:t>
            </a:r>
            <a:r>
              <a:rPr sz="900" i="1" spc="-75" dirty="0">
                <a:latin typeface="Menlo"/>
                <a:cs typeface="Menlo"/>
              </a:rPr>
              <a:t>,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spc="-25" dirty="0">
                <a:latin typeface="Arial"/>
                <a:cs typeface="Arial"/>
              </a:rPr>
              <a:t>0</a:t>
            </a:r>
            <a:r>
              <a:rPr sz="900" i="1" spc="-25" dirty="0">
                <a:latin typeface="Menlo"/>
                <a:cs typeface="Menlo"/>
              </a:rPr>
              <a:t>}</a:t>
            </a:r>
            <a:endParaRPr sz="900">
              <a:latin typeface="Menlo"/>
              <a:cs typeface="Menlo"/>
            </a:endParaRPr>
          </a:p>
          <a:p>
            <a:pPr marL="295275" marR="55880" indent="-4445">
              <a:lnSpc>
                <a:spcPct val="111600"/>
              </a:lnSpc>
              <a:spcBef>
                <a:spcPts val="85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MF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(</a:t>
            </a:r>
            <a:r>
              <a:rPr sz="900" i="1" spc="-70" dirty="0">
                <a:latin typeface="Arial"/>
                <a:cs typeface="Arial"/>
              </a:rPr>
              <a:t>P</a:t>
            </a:r>
            <a:r>
              <a:rPr sz="900" i="1" spc="-7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amount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could</a:t>
            </a:r>
            <a:r>
              <a:rPr sz="900" spc="-10" dirty="0">
                <a:latin typeface="Arial"/>
                <a:cs typeface="Arial"/>
              </a:rPr>
              <a:t> have contributed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including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Preventing</a:t>
            </a:r>
            <a:r>
              <a:rPr spc="-30" dirty="0"/>
              <a:t> </a:t>
            </a:r>
            <a:r>
              <a:rPr dirty="0"/>
              <a:t>Sybil</a:t>
            </a:r>
            <a:r>
              <a:rPr spc="-30" dirty="0"/>
              <a:t> </a:t>
            </a:r>
            <a:r>
              <a:rPr dirty="0"/>
              <a:t>attacks:</a:t>
            </a:r>
            <a:r>
              <a:rPr spc="50" dirty="0"/>
              <a:t> </a:t>
            </a:r>
            <a:r>
              <a:rPr spc="-10" dirty="0"/>
              <a:t>Decentralized</a:t>
            </a:r>
            <a:r>
              <a:rPr spc="-30" dirty="0"/>
              <a:t> </a:t>
            </a:r>
            <a:r>
              <a:rPr spc="-10" dirty="0"/>
              <a:t>accounting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9540" cy="9124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Essence:</a:t>
            </a:r>
            <a:r>
              <a:rPr sz="10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Keep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track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work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each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other</a:t>
            </a:r>
            <a:endParaRPr sz="1000">
              <a:latin typeface="Arial"/>
              <a:cs typeface="Arial"/>
            </a:endParaRPr>
          </a:p>
          <a:p>
            <a:pPr marL="274955" marR="17780" indent="-117475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spc="-2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directly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work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processed </a:t>
            </a:r>
            <a:r>
              <a:rPr sz="900" dirty="0">
                <a:latin typeface="Arial"/>
                <a:cs typeface="Arial"/>
              </a:rPr>
              <a:t>7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contributed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R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4320" marR="286385" indent="-116205">
              <a:lnSpc>
                <a:spcPct val="111600"/>
              </a:lnSpc>
              <a:spcBef>
                <a:spcPts val="395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Reasoning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5" dirty="0">
                <a:latin typeface="Arial"/>
                <a:cs typeface="Arial"/>
              </a:rPr>
              <a:t> not </a:t>
            </a:r>
            <a:r>
              <a:rPr sz="900" dirty="0">
                <a:latin typeface="Arial"/>
                <a:cs typeface="Arial"/>
              </a:rPr>
              <a:t>worked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66184" y="-1515"/>
            <a:ext cx="7886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582035" cy="960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Preventing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Sybil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attacks:</a:t>
            </a:r>
            <a:r>
              <a:rPr sz="12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accounting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How</a:t>
            </a:r>
            <a:r>
              <a:rPr sz="1000" spc="-4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Sybil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attacks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are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prevented</a:t>
            </a:r>
            <a:endParaRPr sz="1000">
              <a:latin typeface="Arial"/>
              <a:cs typeface="Arial"/>
            </a:endParaRPr>
          </a:p>
          <a:p>
            <a:pPr marL="120014" marR="68580" indent="-120650" algn="r">
              <a:lnSpc>
                <a:spcPts val="795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120650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3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choice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Sybil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spc="-165" dirty="0">
                <a:latin typeface="Arial"/>
                <a:cs typeface="Arial"/>
              </a:rPr>
              <a:t>Q</a:t>
            </a:r>
            <a:r>
              <a:rPr sz="1050" i="1" spc="-247" baseline="27777" dirty="0">
                <a:latin typeface="Menlo"/>
                <a:cs typeface="Menlo"/>
              </a:rPr>
              <a:t>∗</a:t>
            </a:r>
            <a:r>
              <a:rPr sz="900" i="1" spc="-165" dirty="0">
                <a:latin typeface="Menlo"/>
                <a:cs typeface="Menlo"/>
              </a:rPr>
              <a:t>,...,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Q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endParaRPr sz="1050" baseline="27777">
              <a:latin typeface="Menlo"/>
              <a:cs typeface="Menlo"/>
            </a:endParaRPr>
          </a:p>
          <a:p>
            <a:pPr marR="68580" algn="r">
              <a:lnSpc>
                <a:spcPts val="555"/>
              </a:lnSpc>
              <a:tabLst>
                <a:tab pos="365125" algn="l"/>
                <a:tab pos="810260" algn="l"/>
              </a:tabLst>
            </a:pPr>
            <a:r>
              <a:rPr sz="700" i="1" spc="-50" dirty="0">
                <a:latin typeface="Arial"/>
                <a:cs typeface="Arial"/>
              </a:rPr>
              <a:t>1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1050" i="1" spc="-75" baseline="7936" dirty="0">
                <a:latin typeface="Arial"/>
                <a:cs typeface="Arial"/>
              </a:rPr>
              <a:t>n</a:t>
            </a:r>
            <a:r>
              <a:rPr sz="1050" i="1" baseline="7936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  <a:p>
            <a:pPr marL="542925" indent="-120650">
              <a:lnSpc>
                <a:spcPts val="800"/>
              </a:lnSpc>
              <a:spcBef>
                <a:spcPts val="254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Q</a:t>
            </a:r>
            <a:r>
              <a:rPr sz="1050" i="1" spc="-44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Q</a:t>
            </a:r>
            <a:r>
              <a:rPr sz="1050" i="1" spc="-44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increase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cap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Q</a:t>
            </a:r>
            <a:r>
              <a:rPr sz="1050" i="1" spc="-15" baseline="27777" dirty="0">
                <a:latin typeface="Menlo"/>
                <a:cs typeface="Menlo"/>
              </a:rPr>
              <a:t>∗</a:t>
            </a:r>
            <a:r>
              <a:rPr sz="900" spc="-10" dirty="0"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  <a:p>
            <a:pPr marL="1252855">
              <a:lnSpc>
                <a:spcPts val="560"/>
              </a:lnSpc>
              <a:tabLst>
                <a:tab pos="1590040" algn="l"/>
                <a:tab pos="2587625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j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772" y="1163378"/>
            <a:ext cx="2388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64C26"/>
                </a:solidFill>
                <a:latin typeface="Arial"/>
                <a:cs typeface="Arial"/>
              </a:rPr>
              <a:t>1.</a:t>
            </a:r>
            <a:r>
              <a:rPr sz="900" spc="185" dirty="0">
                <a:solidFill>
                  <a:srgbClr val="264C26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Q</a:t>
            </a:r>
            <a:r>
              <a:rPr sz="1050" i="1" spc="-44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354" y="1229565"/>
            <a:ext cx="3669665" cy="759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>
              <a:lnSpc>
                <a:spcPts val="76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  <a:p>
            <a:pPr marL="107314" algn="just">
              <a:lnSpc>
                <a:spcPts val="1000"/>
              </a:lnSpc>
            </a:pPr>
            <a:r>
              <a:rPr sz="900" dirty="0">
                <a:solidFill>
                  <a:srgbClr val="264C26"/>
                </a:solidFill>
                <a:latin typeface="Arial"/>
                <a:cs typeface="Arial"/>
              </a:rPr>
              <a:t>2.</a:t>
            </a:r>
            <a:r>
              <a:rPr sz="900" spc="204" dirty="0">
                <a:solidFill>
                  <a:srgbClr val="264C26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words: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successfully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honest </a:t>
            </a:r>
            <a:r>
              <a:rPr sz="900" dirty="0">
                <a:latin typeface="Arial"/>
                <a:cs typeface="Arial"/>
              </a:rPr>
              <a:t>nodes.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Also,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honest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total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capacity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Tcap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Q</a:t>
            </a:r>
            <a:r>
              <a:rPr sz="900" spc="-10" dirty="0">
                <a:latin typeface="Arial"/>
                <a:cs typeface="Arial"/>
              </a:rPr>
              <a:t>)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Sybils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must</a:t>
            </a:r>
            <a:r>
              <a:rPr sz="900" spc="-20" dirty="0">
                <a:latin typeface="Arial"/>
                <a:cs typeface="Arial"/>
              </a:rPr>
              <a:t> grow, with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4777" y="2056564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31719" y="2127142"/>
            <a:ext cx="142875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Times New Roman"/>
                <a:cs typeface="Times New Roman"/>
              </a:rPr>
              <a:t>∑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2344" y="2303211"/>
            <a:ext cx="201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=0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16948" y="2136904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75" dirty="0">
                <a:latin typeface="Menlo"/>
                <a:cs typeface="Menlo"/>
              </a:rPr>
              <a:t>∗</a:t>
            </a:r>
            <a:endParaRPr sz="700">
              <a:latin typeface="Menlo"/>
              <a:cs typeface="Menl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1424" y="2219111"/>
            <a:ext cx="698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9236" y="2152937"/>
            <a:ext cx="1223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3590" algn="l"/>
              </a:tabLst>
            </a:pPr>
            <a:r>
              <a:rPr sz="900" i="1" dirty="0">
                <a:latin typeface="Arial"/>
                <a:cs typeface="Arial"/>
              </a:rPr>
              <a:t>Tcap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135" dirty="0">
                <a:latin typeface="Arial"/>
                <a:cs typeface="Arial"/>
              </a:rPr>
              <a:t>=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cap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27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6175" y="2587830"/>
            <a:ext cx="7131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0085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4748" y="2521656"/>
            <a:ext cx="37560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305" indent="-116839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Q</a:t>
            </a:r>
            <a:r>
              <a:rPr sz="1050" i="1" spc="-44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MF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(</a:t>
            </a:r>
            <a:r>
              <a:rPr sz="900" i="1" spc="-70" dirty="0">
                <a:latin typeface="Arial"/>
                <a:cs typeface="Arial"/>
              </a:rPr>
              <a:t>P</a:t>
            </a:r>
            <a:r>
              <a:rPr sz="900" i="1" spc="-7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increases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</a:t>
            </a:r>
            <a:endParaRPr sz="900">
              <a:latin typeface="Menlo"/>
              <a:cs typeface="Menl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954" y="2674754"/>
            <a:ext cx="24638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cap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drops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unit, 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Tcap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Q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4748" y="2716621"/>
            <a:ext cx="3134360" cy="3244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8790">
              <a:lnSpc>
                <a:spcPct val="100000"/>
              </a:lnSpc>
              <a:spcBef>
                <a:spcPts val="28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  <a:p>
            <a:pPr marL="154305" indent="-116839">
              <a:lnSpc>
                <a:spcPct val="100000"/>
              </a:lnSpc>
              <a:spcBef>
                <a:spcPts val="24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As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Tcap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drops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 0,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look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 other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9" name="object 1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identity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4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Trust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Trusting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system:</a:t>
            </a:r>
            <a:r>
              <a:rPr spc="50" dirty="0"/>
              <a:t> </a:t>
            </a:r>
            <a:r>
              <a:rPr spc="-10" dirty="0"/>
              <a:t>Blockchains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89572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been </a:t>
            </a:r>
            <a:r>
              <a:rPr sz="900" dirty="0">
                <a:latin typeface="Arial"/>
                <a:cs typeface="Arial"/>
              </a:rPr>
              <a:t>tampered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assurance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unnoticed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(recall: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append-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structure).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0303" y="1252339"/>
            <a:ext cx="3607551" cy="10201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7804" y="2358325"/>
            <a:ext cx="396875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8100" marR="3048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Any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r>
              <a:rPr sz="1050" i="1" spc="-75" baseline="-15873" dirty="0">
                <a:latin typeface="Arial"/>
                <a:cs typeface="Arial"/>
              </a:rPr>
              <a:t>k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0" dirty="0">
                <a:latin typeface="Arial"/>
                <a:cs typeface="Arial"/>
              </a:rPr>
              <a:t> affect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10" dirty="0">
                <a:latin typeface="Arial"/>
                <a:cs typeface="Arial"/>
              </a:rPr>
              <a:t> value,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90" dirty="0">
                <a:latin typeface="Arial"/>
                <a:cs typeface="Arial"/>
              </a:rPr>
              <a:t>B</a:t>
            </a:r>
            <a:r>
              <a:rPr sz="1050" i="1" spc="-135" baseline="-15873" dirty="0">
                <a:latin typeface="Arial"/>
                <a:cs typeface="Arial"/>
              </a:rPr>
              <a:t>k</a:t>
            </a:r>
            <a:r>
              <a:rPr sz="1050" i="1" spc="67" baseline="-15873" dirty="0">
                <a:latin typeface="Arial"/>
                <a:cs typeface="Arial"/>
              </a:rPr>
              <a:t> </a:t>
            </a:r>
            <a:r>
              <a:rPr sz="1050" spc="97" baseline="-15873" dirty="0">
                <a:latin typeface="Arial"/>
                <a:cs typeface="Arial"/>
              </a:rPr>
              <a:t>+</a:t>
            </a:r>
            <a:r>
              <a:rPr sz="1050" i="1" spc="97" baseline="-15873" dirty="0">
                <a:latin typeface="Arial"/>
                <a:cs typeface="Arial"/>
              </a:rPr>
              <a:t>1</a:t>
            </a:r>
            <a:r>
              <a:rPr sz="900" spc="65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which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 be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changed, 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turn </a:t>
            </a:r>
            <a:r>
              <a:rPr sz="900" spc="-10" dirty="0">
                <a:latin typeface="Arial"/>
                <a:cs typeface="Arial"/>
              </a:rPr>
              <a:t>affecting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 hash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 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95" dirty="0">
                <a:latin typeface="Arial"/>
                <a:cs typeface="Arial"/>
              </a:rPr>
              <a:t>B</a:t>
            </a:r>
            <a:r>
              <a:rPr sz="1050" i="1" spc="-142" baseline="-15873" dirty="0">
                <a:latin typeface="Arial"/>
                <a:cs typeface="Arial"/>
              </a:rPr>
              <a:t>k</a:t>
            </a:r>
            <a:r>
              <a:rPr sz="1050" i="1" spc="67" baseline="-15873" dirty="0">
                <a:latin typeface="Arial"/>
                <a:cs typeface="Arial"/>
              </a:rPr>
              <a:t> </a:t>
            </a:r>
            <a:r>
              <a:rPr sz="1050" spc="67" baseline="-15873" dirty="0">
                <a:latin typeface="Arial"/>
                <a:cs typeface="Arial"/>
              </a:rPr>
              <a:t>+</a:t>
            </a:r>
            <a:r>
              <a:rPr sz="1050" i="1" spc="67" baseline="-15873" dirty="0">
                <a:latin typeface="Arial"/>
                <a:cs typeface="Arial"/>
              </a:rPr>
              <a:t>2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,</a:t>
            </a:r>
            <a:r>
              <a:rPr sz="900" dirty="0">
                <a:latin typeface="Arial"/>
                <a:cs typeface="Arial"/>
              </a:rPr>
              <a:t> 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467" y="3346954"/>
            <a:ext cx="51815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Trusting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Access</a:t>
            </a:r>
            <a:r>
              <a:rPr spc="-50" dirty="0"/>
              <a:t> </a:t>
            </a:r>
            <a:r>
              <a:rPr dirty="0"/>
              <a:t>control:</a:t>
            </a:r>
            <a:r>
              <a:rPr spc="25" dirty="0"/>
              <a:t> </a:t>
            </a:r>
            <a:r>
              <a:rPr dirty="0"/>
              <a:t>General</a:t>
            </a:r>
            <a:r>
              <a:rPr spc="-50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307"/>
            <a:ext cx="3938904" cy="343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Authorization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Making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authenticated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9266" y="951349"/>
            <a:ext cx="2277045" cy="5050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3763" y="1548636"/>
            <a:ext cx="38360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monitor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tamperproof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implemented </a:t>
            </a:r>
            <a:r>
              <a:rPr sz="900" dirty="0">
                <a:latin typeface="Arial"/>
                <a:cs typeface="Arial"/>
              </a:rPr>
              <a:t>under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359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issues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access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control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0875" y="-1515"/>
            <a:ext cx="393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7092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Protection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213" y="564152"/>
            <a:ext cx="1778477" cy="10750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7327" y="567418"/>
            <a:ext cx="1408207" cy="9300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9599" y="1689717"/>
            <a:ext cx="13995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...against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invalid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9625" y="1689717"/>
            <a:ext cx="15640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...against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unauthorized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access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8764" y="2033410"/>
            <a:ext cx="1442128" cy="9247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91183" y="3007443"/>
            <a:ext cx="1626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...against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unauthorized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invokers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9359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issues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access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control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Access</a:t>
            </a:r>
            <a:r>
              <a:rPr spc="-45" dirty="0"/>
              <a:t> </a:t>
            </a:r>
            <a:r>
              <a:rPr dirty="0"/>
              <a:t>control</a:t>
            </a:r>
            <a:r>
              <a:rPr spc="-40" dirty="0"/>
              <a:t> </a:t>
            </a:r>
            <a:r>
              <a:rPr spc="-10" dirty="0"/>
              <a:t>policies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125" y="499583"/>
            <a:ext cx="3818254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193675" indent="-1587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AutoNum type="arabicPeriod"/>
              <a:tabLst>
                <a:tab pos="1714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Mandatory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administration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defines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gets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what.</a:t>
            </a:r>
            <a:endParaRPr sz="900">
              <a:latin typeface="Arial"/>
              <a:cs typeface="Arial"/>
            </a:endParaRPr>
          </a:p>
          <a:p>
            <a:pPr marL="170815" marR="5080" indent="-1587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1714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Discretionary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owner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access </a:t>
            </a:r>
            <a:r>
              <a:rPr sz="900" dirty="0">
                <a:latin typeface="Arial"/>
                <a:cs typeface="Arial"/>
              </a:rPr>
              <a:t>rights,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object.</a:t>
            </a:r>
            <a:endParaRPr sz="900">
              <a:latin typeface="Arial"/>
              <a:cs typeface="Arial"/>
            </a:endParaRPr>
          </a:p>
          <a:p>
            <a:pPr marL="170815" marR="226695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1714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Role-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their identity,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166370" marR="135890" indent="-15430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1714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Attribute-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objects</a:t>
            </a:r>
            <a:r>
              <a:rPr sz="900" spc="-20" dirty="0">
                <a:latin typeface="Arial"/>
                <a:cs typeface="Arial"/>
              </a:rPr>
              <a:t> they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rule.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359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General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issues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access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control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Access</a:t>
            </a:r>
            <a:r>
              <a:rPr spc="-45" dirty="0"/>
              <a:t> </a:t>
            </a:r>
            <a:r>
              <a:rPr dirty="0"/>
              <a:t>control</a:t>
            </a:r>
            <a:r>
              <a:rPr spc="-40" dirty="0"/>
              <a:t> </a:t>
            </a:r>
            <a:r>
              <a:rPr spc="-10" dirty="0"/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71706"/>
            <a:ext cx="394017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Theory</a:t>
            </a:r>
            <a:endParaRPr sz="1000" dirty="0">
              <a:latin typeface="Arial"/>
              <a:cs typeface="Arial"/>
            </a:endParaRPr>
          </a:p>
          <a:p>
            <a:pPr marL="12700" marR="5080" indent="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Construct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matrix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60" dirty="0">
                <a:latin typeface="Arial"/>
                <a:cs typeface="Arial"/>
              </a:rPr>
              <a:t>M</a:t>
            </a:r>
            <a:r>
              <a:rPr lang="en-US" sz="900" i="1" spc="-6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[</a:t>
            </a:r>
            <a:r>
              <a:rPr sz="900" i="1" spc="-60" dirty="0">
                <a:latin typeface="Arial"/>
                <a:cs typeface="Arial"/>
              </a:rPr>
              <a:t>s</a:t>
            </a:r>
            <a:r>
              <a:rPr sz="900" i="1" spc="-6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o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describes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subject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has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Impractical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lists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capabilities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387" y="1096049"/>
            <a:ext cx="2933349" cy="8431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35696" y="1979633"/>
            <a:ext cx="9366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list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3589" y="2158812"/>
            <a:ext cx="2934614" cy="8449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97062" y="3050535"/>
            <a:ext cx="6140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Capabilities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359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General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issues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access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control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97711"/>
            <a:ext cx="30727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Special</a:t>
            </a:r>
            <a:r>
              <a:rPr spc="-30" dirty="0"/>
              <a:t> </a:t>
            </a:r>
            <a:r>
              <a:rPr dirty="0"/>
              <a:t>case:</a:t>
            </a:r>
            <a:r>
              <a:rPr spc="45" dirty="0"/>
              <a:t> </a:t>
            </a:r>
            <a:r>
              <a:rPr spc="-10" dirty="0"/>
              <a:t>Attribute-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Access</a:t>
            </a:r>
            <a:r>
              <a:rPr spc="-3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398364"/>
            <a:ext cx="3954779" cy="24726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attributes:</a:t>
            </a:r>
            <a:endParaRPr sz="900">
              <a:latin typeface="Arial"/>
              <a:cs typeface="Arial"/>
            </a:endParaRPr>
          </a:p>
          <a:p>
            <a:pPr marL="278130" marR="3302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User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birth,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address, department,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qualifiers obtained,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contract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status,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etc.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 </a:t>
            </a:r>
            <a:r>
              <a:rPr sz="900" dirty="0">
                <a:latin typeface="Arial"/>
                <a:cs typeface="Arial"/>
              </a:rPr>
              <a:t>role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teacher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student).</a:t>
            </a:r>
            <a:endParaRPr sz="900">
              <a:latin typeface="Arial"/>
              <a:cs typeface="Arial"/>
            </a:endParaRPr>
          </a:p>
          <a:p>
            <a:pPr marL="278130" marR="4064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Object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anything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–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creator,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last-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number,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content.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Environmental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describe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e.g., </a:t>
            </a:r>
            <a:r>
              <a:rPr sz="900" dirty="0">
                <a:latin typeface="Arial"/>
                <a:cs typeface="Arial"/>
              </a:rPr>
              <a:t>date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workload,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maintenance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status,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storage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properties, available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etc.</a:t>
            </a:r>
            <a:endParaRPr sz="900">
              <a:latin typeface="Arial"/>
              <a:cs typeface="Arial"/>
            </a:endParaRPr>
          </a:p>
          <a:p>
            <a:pPr marL="278130" marR="3365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Connection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session,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IP </a:t>
            </a:r>
            <a:r>
              <a:rPr sz="900" dirty="0">
                <a:latin typeface="Arial"/>
                <a:cs typeface="Arial"/>
              </a:rPr>
              <a:t>address,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session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duration,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bandwidth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estimates, </a:t>
            </a:r>
            <a:r>
              <a:rPr sz="900" dirty="0">
                <a:latin typeface="Arial"/>
                <a:cs typeface="Arial"/>
              </a:rPr>
              <a:t>type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strength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used.</a:t>
            </a:r>
            <a:endParaRPr sz="900">
              <a:latin typeface="Arial"/>
              <a:cs typeface="Arial"/>
            </a:endParaRPr>
          </a:p>
          <a:p>
            <a:pPr marL="278130" marR="13843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Administrative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attributes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reflect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policies,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security </a:t>
            </a:r>
            <a:r>
              <a:rPr sz="900" dirty="0">
                <a:latin typeface="Arial"/>
                <a:cs typeface="Arial"/>
              </a:rPr>
              <a:t>settings,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regulations,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maximum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session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durations.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763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Attribute-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access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control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Policy</a:t>
            </a:r>
            <a:r>
              <a:rPr spc="-35" dirty="0"/>
              <a:t> </a:t>
            </a:r>
            <a:r>
              <a:rPr spc="-10" dirty="0"/>
              <a:t>Machine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474165"/>
            <a:ext cx="3943350" cy="27787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9209" marR="177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atrribute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i="1" spc="-1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pairs,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users</a:t>
            </a:r>
            <a:r>
              <a:rPr sz="900" spc="-10" dirty="0">
                <a:latin typeface="Arial"/>
                <a:cs typeface="Arial"/>
              </a:rPr>
              <a:t>,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applications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objects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formulate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control rules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control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rules</a:t>
            </a:r>
            <a:endParaRPr sz="1000">
              <a:latin typeface="Arial"/>
              <a:cs typeface="Arial"/>
            </a:endParaRPr>
          </a:p>
          <a:p>
            <a:pPr marL="278765" marR="170180" indent="-116839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Assignment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ua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oa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ua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52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ua</a:t>
            </a:r>
            <a:r>
              <a:rPr sz="1050" i="1" spc="-37" baseline="-15873" dirty="0">
                <a:latin typeface="Arial"/>
                <a:cs typeface="Arial"/>
              </a:rPr>
              <a:t>2</a:t>
            </a:r>
            <a:r>
              <a:rPr sz="1050" i="1" spc="75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(meaning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ua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ua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rules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like </a:t>
            </a:r>
            <a:r>
              <a:rPr sz="900" i="1" spc="-35" dirty="0">
                <a:latin typeface="Arial"/>
                <a:cs typeface="Arial"/>
              </a:rPr>
              <a:t>allowed</a:t>
            </a:r>
            <a:r>
              <a:rPr sz="900" spc="-35" dirty="0">
                <a:latin typeface="Arial"/>
                <a:cs typeface="Arial"/>
              </a:rPr>
              <a:t>(</a:t>
            </a:r>
            <a:r>
              <a:rPr sz="900" i="1" spc="-35" dirty="0">
                <a:latin typeface="Arial"/>
                <a:cs typeface="Arial"/>
              </a:rPr>
              <a:t>ua</a:t>
            </a:r>
            <a:r>
              <a:rPr sz="900" i="1" spc="-35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80" dirty="0">
                <a:latin typeface="Arial"/>
                <a:cs typeface="Arial"/>
              </a:rPr>
              <a:t>ops</a:t>
            </a:r>
            <a:r>
              <a:rPr sz="900" i="1" spc="-8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oa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ua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ops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oa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070" indent="-11620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Prohibition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explicitly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allowed,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as</a:t>
            </a:r>
            <a:r>
              <a:rPr sz="900" spc="1725" dirty="0">
                <a:latin typeface="Arial"/>
                <a:cs typeface="Arial"/>
              </a:rPr>
              <a:t>  </a:t>
            </a:r>
            <a:r>
              <a:rPr sz="900" i="1" spc="-35" dirty="0">
                <a:latin typeface="Arial"/>
                <a:cs typeface="Arial"/>
              </a:rPr>
              <a:t>denied</a:t>
            </a:r>
            <a:r>
              <a:rPr sz="900" spc="-35" dirty="0">
                <a:latin typeface="Arial"/>
                <a:cs typeface="Arial"/>
              </a:rPr>
              <a:t>(</a:t>
            </a:r>
            <a:r>
              <a:rPr sz="900" i="1" spc="-35" dirty="0">
                <a:latin typeface="Arial"/>
                <a:cs typeface="Arial"/>
              </a:rPr>
              <a:t>u</a:t>
            </a:r>
            <a:r>
              <a:rPr sz="900" i="1" spc="-35" dirty="0">
                <a:latin typeface="Menlo"/>
                <a:cs typeface="Menlo"/>
              </a:rPr>
              <a:t>,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i="1" spc="-80" dirty="0">
                <a:latin typeface="Arial"/>
                <a:cs typeface="Arial"/>
              </a:rPr>
              <a:t>ops</a:t>
            </a:r>
            <a:r>
              <a:rPr sz="900" i="1" spc="-80" dirty="0">
                <a:latin typeface="Menlo"/>
                <a:cs typeface="Menlo"/>
              </a:rPr>
              <a:t>,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os</a:t>
            </a:r>
            <a:r>
              <a:rPr sz="900" dirty="0">
                <a:latin typeface="Arial"/>
                <a:cs typeface="Arial"/>
              </a:rPr>
              <a:t>).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Also: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denied</a:t>
            </a:r>
            <a:r>
              <a:rPr sz="900" spc="-35" dirty="0">
                <a:latin typeface="Arial"/>
                <a:cs typeface="Arial"/>
              </a:rPr>
              <a:t>(</a:t>
            </a:r>
            <a:r>
              <a:rPr sz="900" i="1" spc="-35" dirty="0">
                <a:latin typeface="Arial"/>
                <a:cs typeface="Arial"/>
              </a:rPr>
              <a:t>u</a:t>
            </a:r>
            <a:r>
              <a:rPr sz="900" i="1" spc="-35" dirty="0">
                <a:latin typeface="Menlo"/>
                <a:cs typeface="Menlo"/>
              </a:rPr>
              <a:t>,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i="1" spc="-80" dirty="0">
                <a:latin typeface="Arial"/>
                <a:cs typeface="Arial"/>
              </a:rPr>
              <a:t>ops</a:t>
            </a:r>
            <a:r>
              <a:rPr sz="900" i="1" spc="-80" dirty="0">
                <a:latin typeface="Menlo"/>
                <a:cs typeface="Menlo"/>
              </a:rPr>
              <a:t>,</a:t>
            </a:r>
            <a:r>
              <a:rPr sz="900" i="1" spc="-430" dirty="0">
                <a:latin typeface="Menlo"/>
                <a:cs typeface="Menlo"/>
              </a:rPr>
              <a:t> </a:t>
            </a:r>
            <a:r>
              <a:rPr sz="900" i="1" dirty="0">
                <a:latin typeface="Menlo"/>
                <a:cs typeface="Menlo"/>
              </a:rPr>
              <a:t>¬</a:t>
            </a:r>
            <a:r>
              <a:rPr sz="900" i="1" dirty="0">
                <a:latin typeface="Arial"/>
                <a:cs typeface="Arial"/>
              </a:rPr>
              <a:t>os</a:t>
            </a:r>
            <a:r>
              <a:rPr sz="900" dirty="0">
                <a:latin typeface="Arial"/>
                <a:cs typeface="Arial"/>
              </a:rPr>
              <a:t>),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meaning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denial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u</a:t>
            </a:r>
            <a:r>
              <a:rPr sz="900" i="1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os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2575" marR="1905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Obligation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automated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copying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spc="-10" dirty="0">
                <a:latin typeface="Arial"/>
                <a:cs typeface="Arial"/>
              </a:rPr>
              <a:t>information:</a:t>
            </a:r>
            <a:endParaRPr sz="900">
              <a:latin typeface="Arial"/>
              <a:cs typeface="Arial"/>
            </a:endParaRPr>
          </a:p>
          <a:p>
            <a:pPr marL="843280">
              <a:lnSpc>
                <a:spcPct val="100000"/>
              </a:lnSpc>
              <a:spcBef>
                <a:spcPts val="620"/>
              </a:spcBef>
            </a:pPr>
            <a:r>
              <a:rPr sz="1000" spc="-30" dirty="0">
                <a:latin typeface="Times New Roman"/>
                <a:cs typeface="Times New Roman"/>
              </a:rPr>
              <a:t>when</a:t>
            </a:r>
            <a:r>
              <a:rPr sz="1000" spc="-7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315" dirty="0">
                <a:latin typeface="Arial"/>
                <a:cs typeface="Arial"/>
              </a:rPr>
              <a:t> </a:t>
            </a:r>
            <a:r>
              <a:rPr sz="1000" spc="60" dirty="0">
                <a:latin typeface="Times New Roman"/>
                <a:cs typeface="Times New Roman"/>
              </a:rPr>
              <a:t>read</a:t>
            </a:r>
            <a:r>
              <a:rPr sz="900" spc="60" dirty="0">
                <a:latin typeface="Arial"/>
                <a:cs typeface="Arial"/>
              </a:rPr>
              <a:t>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3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fs</a:t>
            </a:r>
            <a:r>
              <a:rPr sz="900" i="1" spc="295" dirty="0">
                <a:latin typeface="Arial"/>
                <a:cs typeface="Arial"/>
              </a:rPr>
              <a:t> </a:t>
            </a:r>
            <a:r>
              <a:rPr sz="1000" spc="90" dirty="0">
                <a:latin typeface="Times New Roman"/>
                <a:cs typeface="Times New Roman"/>
              </a:rPr>
              <a:t>then</a:t>
            </a:r>
            <a:r>
              <a:rPr sz="1000" spc="-70" dirty="0">
                <a:latin typeface="Times New Roman"/>
                <a:cs typeface="Times New Roman"/>
              </a:rPr>
              <a:t> </a:t>
            </a:r>
            <a:r>
              <a:rPr sz="900" i="1" spc="-45" dirty="0">
                <a:latin typeface="Arial"/>
                <a:cs typeface="Arial"/>
              </a:rPr>
              <a:t>denied</a:t>
            </a:r>
            <a:r>
              <a:rPr sz="900" spc="-45" dirty="0">
                <a:latin typeface="Arial"/>
                <a:cs typeface="Arial"/>
              </a:rPr>
              <a:t>(</a:t>
            </a:r>
            <a:r>
              <a:rPr sz="900" i="1" spc="-45" dirty="0">
                <a:latin typeface="Arial"/>
                <a:cs typeface="Arial"/>
              </a:rPr>
              <a:t>u</a:t>
            </a:r>
            <a:r>
              <a:rPr sz="900" i="1" spc="-45" dirty="0">
                <a:latin typeface="Menlo"/>
                <a:cs typeface="Menlo"/>
              </a:rPr>
              <a:t>,{</a:t>
            </a:r>
            <a:r>
              <a:rPr sz="900" i="1" spc="-45" dirty="0">
                <a:latin typeface="Arial"/>
                <a:cs typeface="Arial"/>
              </a:rPr>
              <a:t>write</a:t>
            </a:r>
            <a:r>
              <a:rPr sz="900" i="1" spc="-45" dirty="0">
                <a:latin typeface="Menlo"/>
                <a:cs typeface="Menlo"/>
              </a:rPr>
              <a:t>},</a:t>
            </a:r>
            <a:r>
              <a:rPr sz="900" i="1" spc="-434" dirty="0">
                <a:latin typeface="Menlo"/>
                <a:cs typeface="Menlo"/>
              </a:rPr>
              <a:t> </a:t>
            </a:r>
            <a:r>
              <a:rPr sz="900" i="1" spc="-20" dirty="0">
                <a:latin typeface="Menlo"/>
                <a:cs typeface="Menlo"/>
              </a:rPr>
              <a:t>¬</a:t>
            </a:r>
            <a:r>
              <a:rPr sz="900" i="1" spc="-20" dirty="0">
                <a:latin typeface="Arial"/>
                <a:cs typeface="Arial"/>
              </a:rPr>
              <a:t>fs</a:t>
            </a:r>
            <a:r>
              <a:rPr sz="900" spc="-2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763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Attribute-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access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control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Delegation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350" y="499476"/>
            <a:ext cx="3919854" cy="1361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What’s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issue?</a:t>
            </a:r>
            <a:endParaRPr sz="1000">
              <a:latin typeface="Arial"/>
              <a:cs typeface="Arial"/>
            </a:endParaRPr>
          </a:p>
          <a:p>
            <a:pPr marL="18415" marR="508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e-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mailbox.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She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required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provider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access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Alice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wants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own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client.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behalf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Alice?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How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delegate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Alice’s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rights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mail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client?</a:t>
            </a:r>
            <a:endParaRPr sz="9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74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3970" marR="12700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good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credentials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why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trusted?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security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proxy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28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Delegation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0875" y="-1515"/>
            <a:ext cx="393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proxy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674" y="576584"/>
            <a:ext cx="2472049" cy="5048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429" y="1239075"/>
            <a:ext cx="2620914" cy="85747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1894" y="2148956"/>
            <a:ext cx="3816350" cy="9093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works</a:t>
            </a:r>
            <a:endParaRPr sz="1000">
              <a:latin typeface="Arial"/>
              <a:cs typeface="Arial"/>
            </a:endParaRPr>
          </a:p>
          <a:p>
            <a:pPr marL="287020" indent="-15494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Bob,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together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SK</a:t>
            </a:r>
            <a:r>
              <a:rPr sz="1050" i="1" spc="-15" baseline="-11904" dirty="0">
                <a:latin typeface="Arial"/>
                <a:cs typeface="Arial"/>
              </a:rPr>
              <a:t>proxy</a:t>
            </a:r>
            <a:endParaRPr sz="1050" baseline="-11904">
              <a:latin typeface="Arial"/>
              <a:cs typeface="Arial"/>
            </a:endParaRPr>
          </a:p>
          <a:p>
            <a:pPr marL="285750" indent="-15303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85750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exercise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certificate</a:t>
            </a:r>
            <a:endParaRPr sz="900">
              <a:latin typeface="Arial"/>
              <a:cs typeface="Arial"/>
            </a:endParaRPr>
          </a:p>
          <a:p>
            <a:pPr marL="287020" indent="-15494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5" dirty="0">
                <a:latin typeface="Arial"/>
                <a:cs typeface="Arial"/>
              </a:rPr>
              <a:t> key</a:t>
            </a:r>
            <a:endParaRPr sz="900">
              <a:latin typeface="Arial"/>
              <a:cs typeface="Arial"/>
            </a:endParaRPr>
          </a:p>
          <a:p>
            <a:pPr marL="29083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Bob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delegated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R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328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Delegation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55" dirty="0"/>
              <a:t> </a:t>
            </a:r>
            <a:r>
              <a:rPr dirty="0"/>
              <a:t>Open</a:t>
            </a:r>
            <a:r>
              <a:rPr spc="-20" dirty="0"/>
              <a:t> </a:t>
            </a:r>
            <a:r>
              <a:rPr spc="-10" dirty="0"/>
              <a:t>Authorization</a:t>
            </a:r>
            <a:r>
              <a:rPr spc="-15" dirty="0"/>
              <a:t> </a:t>
            </a:r>
            <a:r>
              <a:rPr spc="-10" dirty="0"/>
              <a:t>(OAuth)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17933"/>
            <a:ext cx="3963670" cy="28562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Four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roles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Resource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owner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typically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 owner,</a:t>
            </a:r>
            <a:endParaRPr sz="900">
              <a:latin typeface="Arial"/>
              <a:cs typeface="Arial"/>
            </a:endParaRPr>
          </a:p>
          <a:p>
            <a:pPr marL="290830" marR="14541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Resource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normally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resource.</a:t>
            </a:r>
            <a:endParaRPr sz="900">
              <a:latin typeface="Arial"/>
              <a:cs typeface="Arial"/>
            </a:endParaRPr>
          </a:p>
          <a:p>
            <a:pPr marL="290830" marR="26733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Authorization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certificates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 </a:t>
            </a:r>
            <a:r>
              <a:rPr sz="900" dirty="0">
                <a:latin typeface="Arial"/>
                <a:cs typeface="Arial"/>
              </a:rPr>
              <a:t>behalf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owner.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2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Initial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steps</a:t>
            </a:r>
            <a:endParaRPr sz="1000">
              <a:latin typeface="Arial"/>
              <a:cs typeface="Arial"/>
            </a:endParaRPr>
          </a:p>
          <a:p>
            <a:pPr marL="290830" marR="292100" indent="-1587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receives</a:t>
            </a:r>
            <a:r>
              <a:rPr sz="900" dirty="0">
                <a:latin typeface="Arial"/>
                <a:cs typeface="Arial"/>
              </a:rPr>
              <a:t> its own </a:t>
            </a:r>
            <a:r>
              <a:rPr sz="900" spc="-10" dirty="0">
                <a:latin typeface="Arial"/>
                <a:cs typeface="Arial"/>
              </a:rPr>
              <a:t>identifier,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cid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7020" indent="-15494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delegate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</a:t>
            </a:r>
            <a:endParaRPr sz="900">
              <a:latin typeface="Menlo"/>
              <a:cs typeface="Menlo"/>
            </a:endParaRPr>
          </a:p>
          <a:p>
            <a:pPr marL="253365" algn="ctr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latin typeface="Arial"/>
                <a:cs typeface="Arial"/>
              </a:rPr>
              <a:t>Client: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send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[</a:t>
            </a:r>
            <a:r>
              <a:rPr sz="900" i="1" spc="-50" dirty="0">
                <a:latin typeface="Arial"/>
                <a:cs typeface="Arial"/>
              </a:rPr>
              <a:t>cid</a:t>
            </a:r>
            <a:r>
              <a:rPr sz="900" i="1" spc="-5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900" i="1" spc="-10" dirty="0">
                <a:latin typeface="Menlo"/>
                <a:cs typeface="Menlo"/>
              </a:rPr>
              <a:t>,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spc="-10" dirty="0">
                <a:latin typeface="Arial"/>
                <a:cs typeface="Arial"/>
              </a:rPr>
              <a:t>)]</a:t>
            </a:r>
            <a:endParaRPr sz="9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  <a:spcBef>
                <a:spcPts val="969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temporary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800" i="1" spc="-50" dirty="0">
                <a:latin typeface="Arial"/>
                <a:cs typeface="Arial"/>
              </a:rPr>
              <a:t>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28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Delegation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Completing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76" y="514774"/>
            <a:ext cx="3919854" cy="1994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Final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steps</a:t>
            </a:r>
            <a:endParaRPr sz="1000">
              <a:latin typeface="Arial"/>
              <a:cs typeface="Arial"/>
            </a:endParaRPr>
          </a:p>
          <a:p>
            <a:pPr marL="265430" indent="-155575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AutoNum type="arabicPeriod" startAt="3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Alice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confirm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delegation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client.</a:t>
            </a:r>
            <a:endParaRPr sz="900">
              <a:latin typeface="Arial"/>
              <a:cs typeface="Arial"/>
            </a:endParaRPr>
          </a:p>
          <a:p>
            <a:pPr marL="268605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 startAt="3"/>
              <a:tabLst>
                <a:tab pos="269240" algn="l"/>
              </a:tabLst>
            </a:pP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temporary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client.</a:t>
            </a:r>
            <a:endParaRPr sz="900">
              <a:latin typeface="Arial"/>
              <a:cs typeface="Arial"/>
            </a:endParaRPr>
          </a:p>
          <a:p>
            <a:pPr marL="268605" indent="-1587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AutoNum type="arabicPeriod" startAt="3"/>
              <a:tabLst>
                <a:tab pos="26924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token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975"/>
              </a:spcBef>
            </a:pPr>
            <a:r>
              <a:rPr sz="900" dirty="0">
                <a:latin typeface="Arial"/>
                <a:cs typeface="Arial"/>
              </a:rPr>
              <a:t>Client: </a:t>
            </a:r>
            <a:r>
              <a:rPr sz="900" i="1" dirty="0">
                <a:latin typeface="Arial"/>
                <a:cs typeface="Arial"/>
              </a:rPr>
              <a:t>sends </a:t>
            </a:r>
            <a:r>
              <a:rPr sz="900" spc="-50" dirty="0">
                <a:latin typeface="Arial"/>
                <a:cs typeface="Arial"/>
              </a:rPr>
              <a:t>[</a:t>
            </a:r>
            <a:r>
              <a:rPr sz="900" i="1" spc="-50" dirty="0">
                <a:latin typeface="Arial"/>
                <a:cs typeface="Arial"/>
              </a:rPr>
              <a:t>cid</a:t>
            </a:r>
            <a:r>
              <a:rPr sz="900" i="1" spc="-50" dirty="0">
                <a:latin typeface="Menlo"/>
                <a:cs typeface="Menlo"/>
              </a:rPr>
              <a:t>,</a:t>
            </a:r>
            <a:r>
              <a:rPr sz="900" i="1" spc="-445" dirty="0">
                <a:latin typeface="Menlo"/>
                <a:cs typeface="Menlo"/>
              </a:rPr>
              <a:t> </a:t>
            </a:r>
            <a:r>
              <a:rPr sz="900" i="1" spc="-105" dirty="0">
                <a:latin typeface="Arial"/>
                <a:cs typeface="Arial"/>
              </a:rPr>
              <a:t>AC</a:t>
            </a:r>
            <a:r>
              <a:rPr sz="900" i="1" spc="-105" dirty="0">
                <a:latin typeface="Menlo"/>
                <a:cs typeface="Menlo"/>
              </a:rPr>
              <a:t>,</a:t>
            </a:r>
            <a:r>
              <a:rPr sz="900" i="1" spc="-440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S</a:t>
            </a:r>
            <a:r>
              <a:rPr sz="900" spc="-25" dirty="0">
                <a:latin typeface="Arial"/>
                <a:cs typeface="Arial"/>
              </a:rPr>
              <a:t>]</a:t>
            </a:r>
            <a:r>
              <a:rPr sz="900" i="1" spc="-25" dirty="0">
                <a:latin typeface="Menlo"/>
                <a:cs typeface="Menlo"/>
              </a:rPr>
              <a:t>.</a:t>
            </a:r>
            <a:endParaRPr sz="900">
              <a:latin typeface="Menlo"/>
              <a:cs typeface="Menlo"/>
            </a:endParaRPr>
          </a:p>
          <a:p>
            <a:pPr marL="269240" marR="5080">
              <a:lnSpc>
                <a:spcPct val="111600"/>
              </a:lnSpc>
              <a:spcBef>
                <a:spcPts val="844"/>
              </a:spcBef>
            </a:pPr>
            <a:r>
              <a:rPr sz="900" spc="-10" dirty="0">
                <a:latin typeface="Arial"/>
                <a:cs typeface="Arial"/>
              </a:rPr>
              <a:t>Sending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authorization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allows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verify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identity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H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S</a:t>
            </a:r>
            <a:r>
              <a:rPr sz="900" spc="-2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5875" marR="147955" indent="-3810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delegate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(2)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28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Delegation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9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Authorization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60" dirty="0"/>
              <a:t> </a:t>
            </a:r>
            <a:r>
              <a:rPr spc="-10" dirty="0"/>
              <a:t>decentralized</a:t>
            </a:r>
            <a:r>
              <a:rPr spc="-20" dirty="0"/>
              <a:t> </a:t>
            </a:r>
            <a:r>
              <a:rPr spc="-10" dirty="0"/>
              <a:t>authorization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650" y="445195"/>
            <a:ext cx="3945254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WAVE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simple)</a:t>
            </a:r>
            <a:endParaRPr sz="1000">
              <a:latin typeface="Arial"/>
              <a:cs typeface="Arial"/>
            </a:endParaRPr>
          </a:p>
          <a:p>
            <a:pPr marL="31115" marR="1778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Essence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delegates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Bob,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delegates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spc="-10" dirty="0">
                <a:latin typeface="Arial"/>
                <a:cs typeface="Arial"/>
              </a:rPr>
              <a:t>Chuck.</a:t>
            </a:r>
            <a:endParaRPr sz="900">
              <a:latin typeface="Arial"/>
              <a:cs typeface="Arial"/>
            </a:endParaRPr>
          </a:p>
          <a:p>
            <a:pPr marL="279400" marR="165735" indent="-116205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exercise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rights,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Alice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Bob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online.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Alice,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Bob,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Chuck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aware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delegation.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467" y="3346954"/>
            <a:ext cx="1156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authorization:</a:t>
            </a:r>
            <a:r>
              <a:rPr sz="500" spc="5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example</a:t>
            </a:r>
            <a:endParaRPr sz="5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2EDBC4-0F0A-7382-3363-8F1469F30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911" y="1654175"/>
            <a:ext cx="4058395" cy="160415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32871" y="-1515"/>
            <a:ext cx="3219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Monitoring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848100" cy="772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Firewalls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anything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nasty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preventing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unwanted </a:t>
            </a:r>
            <a:r>
              <a:rPr sz="900" dirty="0">
                <a:latin typeface="Arial"/>
                <a:cs typeface="Arial"/>
              </a:rPr>
              <a:t>outbound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traffic.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156" y="949210"/>
            <a:ext cx="2919678" cy="12332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192828"/>
            <a:ext cx="3921760" cy="110807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firewalls</a:t>
            </a:r>
            <a:endParaRPr sz="1000">
              <a:latin typeface="Arial"/>
              <a:cs typeface="Arial"/>
            </a:endParaRPr>
          </a:p>
          <a:p>
            <a:pPr marL="290830" marR="30480" indent="-120650">
              <a:lnSpc>
                <a:spcPts val="1210"/>
              </a:lnSpc>
              <a:spcBef>
                <a:spcPts val="3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Packet-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filtering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gateway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filters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packets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source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destination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address.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6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Application-level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gateway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inspects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</a:t>
            </a:r>
            <a:endParaRPr sz="9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outgoing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gateways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filtering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e-mail).</a:t>
            </a:r>
            <a:endParaRPr sz="900">
              <a:latin typeface="Arial"/>
              <a:cs typeface="Arial"/>
            </a:endParaRPr>
          </a:p>
          <a:p>
            <a:pPr marL="290830" marR="1384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Proxy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gateway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filtering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like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 </a:t>
            </a:r>
            <a:r>
              <a:rPr sz="900" spc="-10" dirty="0">
                <a:latin typeface="Arial"/>
                <a:cs typeface="Arial"/>
              </a:rPr>
              <a:t>application-level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gateway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proxies).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467" y="3346954"/>
            <a:ext cx="2730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Firewalls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32871" y="-1515"/>
            <a:ext cx="3219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Monitoring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218940" cy="1509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Intrusion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detection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3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flavors</a:t>
            </a:r>
            <a:endParaRPr sz="1000">
              <a:latin typeface="Arial"/>
              <a:cs typeface="Arial"/>
            </a:endParaRPr>
          </a:p>
          <a:p>
            <a:pPr marL="538480" marR="120650" indent="-116205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Signature-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patterns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network-level </a:t>
            </a:r>
            <a:r>
              <a:rPr sz="900" dirty="0">
                <a:latin typeface="Arial"/>
                <a:cs typeface="Arial"/>
              </a:rPr>
              <a:t>intrusions.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Problematic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packets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attacks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place.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Anomaly-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behavior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subsequently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nontypical,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anomalous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behavior.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heavily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artificial-intelligence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technologies.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620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Intrusion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detection: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basics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255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32871" y="-1515"/>
            <a:ext cx="3219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Monitoring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4340" cy="2166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Intrusion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detection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3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flavors</a:t>
            </a:r>
            <a:endParaRPr sz="1000">
              <a:latin typeface="Arial"/>
              <a:cs typeface="Arial"/>
            </a:endParaRPr>
          </a:p>
          <a:p>
            <a:pPr marL="551180" marR="133350" indent="-116205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Signature-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patterns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network-level </a:t>
            </a:r>
            <a:r>
              <a:rPr sz="900" dirty="0">
                <a:latin typeface="Arial"/>
                <a:cs typeface="Arial"/>
              </a:rPr>
              <a:t>intrusions.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Problematic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packets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attacks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Anomaly-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behavior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subsequently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nontypical,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anomalous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behavior.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heavily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artificial-intelligence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technologies.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sensors</a:t>
            </a:r>
            <a:endParaRPr sz="1000">
              <a:latin typeface="Arial"/>
              <a:cs typeface="Arial"/>
            </a:endParaRPr>
          </a:p>
          <a:p>
            <a:pPr marL="302260" marR="170815">
              <a:lnSpc>
                <a:spcPct val="111600"/>
              </a:lnSpc>
              <a:spcBef>
                <a:spcPts val="180"/>
              </a:spcBef>
            </a:pPr>
            <a:r>
              <a:rPr sz="900" spc="-10" dirty="0">
                <a:latin typeface="Arial"/>
                <a:cs typeface="Arial"/>
              </a:rPr>
              <a:t>Key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true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positives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(FP/TP)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true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negatives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(FN/TN).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Maximize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accuracy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precision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1594" y="2506670"/>
            <a:ext cx="5245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Accuracy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3198" y="2411022"/>
            <a:ext cx="1096252" cy="312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  <a:tabLst>
                <a:tab pos="283845" algn="l"/>
                <a:tab pos="974725" algn="l"/>
              </a:tabLst>
            </a:pPr>
            <a:r>
              <a:rPr sz="9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TP</a:t>
            </a:r>
            <a:r>
              <a:rPr sz="900" i="1" u="sng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900" u="sng" spc="1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+</a:t>
            </a:r>
            <a:r>
              <a:rPr sz="900" u="sng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9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TN</a:t>
            </a:r>
            <a:r>
              <a:rPr sz="9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TP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TN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FP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i="1" spc="-25" dirty="0">
                <a:latin typeface="Arial"/>
                <a:cs typeface="Arial"/>
              </a:rPr>
              <a:t>FN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1594" y="2938406"/>
            <a:ext cx="525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Precision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7658" y="2842758"/>
            <a:ext cx="525780" cy="312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  <a:tabLst>
                <a:tab pos="426084" algn="l"/>
              </a:tabLst>
            </a:pPr>
            <a:r>
              <a:rPr sz="900" u="sng" spc="3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9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TP</a:t>
            </a:r>
            <a:r>
              <a:rPr sz="9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TP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FP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7620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Intrusion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detection: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basics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1657</TotalTime>
  <Words>5147</Words>
  <Application>Microsoft Office PowerPoint</Application>
  <PresentationFormat>Custom</PresentationFormat>
  <Paragraphs>579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Arial</vt:lpstr>
      <vt:lpstr>Calibri</vt:lpstr>
      <vt:lpstr>Menlo</vt:lpstr>
      <vt:lpstr>Times New Roman</vt:lpstr>
      <vt:lpstr>Office Theme</vt:lpstr>
      <vt:lpstr>1_Office Theme</vt:lpstr>
      <vt:lpstr>PowerPoint Presentation</vt:lpstr>
      <vt:lpstr>Dependability</vt:lpstr>
      <vt:lpstr>Dependability</vt:lpstr>
      <vt:lpstr>Security mechanisms</vt:lpstr>
      <vt:lpstr>Security principles</vt:lpstr>
      <vt:lpstr>PowerPoint Presentation</vt:lpstr>
      <vt:lpstr>PowerPoint Presentation</vt:lpstr>
      <vt:lpstr>On privacy</vt:lpstr>
      <vt:lpstr>On privacy</vt:lpstr>
      <vt:lpstr>On privacy</vt:lpstr>
      <vt:lpstr>PowerPoint Presentation</vt:lpstr>
      <vt:lpstr>PowerPoint Presentation</vt:lpstr>
      <vt:lpstr>Cryptosystems</vt:lpstr>
      <vt:lpstr>PowerPoint Presentation</vt:lpstr>
      <vt:lpstr>Key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Authentication</vt:lpstr>
      <vt:lpstr>Authentication versus message integrity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 trust</vt:lpstr>
      <vt:lpstr>Sybil attack</vt:lpstr>
      <vt:lpstr>Sybil attack</vt:lpstr>
      <vt:lpstr>Eclipse attack</vt:lpstr>
      <vt:lpstr>Preventing Sybil attacks: Blockchain solutions</vt:lpstr>
      <vt:lpstr>Preventing Sybil attacks: Decentralized accounting</vt:lpstr>
      <vt:lpstr>Preventing Sybil attacks: Decentralized accounting</vt:lpstr>
      <vt:lpstr>PowerPoint Presentation</vt:lpstr>
      <vt:lpstr>Trusting a system: Blockchains</vt:lpstr>
      <vt:lpstr>Access control: General model</vt:lpstr>
      <vt:lpstr>PowerPoint Presentation</vt:lpstr>
      <vt:lpstr>Access control policies</vt:lpstr>
      <vt:lpstr>Access control matrix</vt:lpstr>
      <vt:lpstr>Special case: Attribute-based Access Control</vt:lpstr>
      <vt:lpstr>Example: the Policy Machine</vt:lpstr>
      <vt:lpstr>Delegation</vt:lpstr>
      <vt:lpstr>PowerPoint Presentation</vt:lpstr>
      <vt:lpstr>Example: Open Authorization (OAuth)</vt:lpstr>
      <vt:lpstr>Completing the process</vt:lpstr>
      <vt:lpstr>Example: decentralized authorization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FA21-BAF-072 (MUHAMMAD KAWISH  )</cp:lastModifiedBy>
  <cp:revision>8</cp:revision>
  <dcterms:created xsi:type="dcterms:W3CDTF">2023-04-27T06:35:34Z</dcterms:created>
  <dcterms:modified xsi:type="dcterms:W3CDTF">2025-02-06T16:01:27Z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