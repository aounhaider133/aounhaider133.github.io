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2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58" d="100"/>
          <a:sy n="158" d="100"/>
        </p:scale>
        <p:origin x="170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99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945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01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2148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28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6126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390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1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1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1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0.xml"/><Relationship Id="rId4" Type="http://schemas.openxmlformats.org/officeDocument/2006/relationships/image" Target="../media/image2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0.xml"/><Relationship Id="rId4" Type="http://schemas.openxmlformats.org/officeDocument/2006/relationships/image" Target="../media/image2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2.xml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4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7.xml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8.xml"/><Relationship Id="rId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8.xml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8.xml"/><Relationship Id="rId4" Type="http://schemas.openxmlformats.org/officeDocument/2006/relationships/image" Target="../media/image29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8.xml"/><Relationship Id="rId4" Type="http://schemas.openxmlformats.org/officeDocument/2006/relationships/image" Target="../media/image29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5.xml"/><Relationship Id="rId4" Type="http://schemas.openxmlformats.org/officeDocument/2006/relationships/image" Target="../media/image3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CSC334 - Parallel &amp;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Distributed</a:t>
            </a:r>
            <a:r>
              <a:rPr kumimoji="0" sz="1400" b="1" i="0" u="none" strike="noStrike" kern="0" cap="none" spc="1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Computing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91E2BF-A6A0-AC80-E93D-ED3E8CF1D086}"/>
              </a:ext>
            </a:extLst>
          </p:cNvPr>
          <p:cNvSpPr txBox="1"/>
          <p:nvPr/>
        </p:nvSpPr>
        <p:spPr>
          <a:xfrm>
            <a:off x="1446463" y="1933968"/>
            <a:ext cx="1943991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Chapter 3: Processes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59885" cy="217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Introduction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build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virtual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processors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software,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processors:</a:t>
            </a:r>
            <a:endParaRPr sz="900">
              <a:latin typeface="Arial"/>
              <a:cs typeface="Arial"/>
            </a:endParaRPr>
          </a:p>
          <a:p>
            <a:pPr marL="1047750" marR="280670" indent="-607695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capability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automatically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instructions.</a:t>
            </a:r>
            <a:endParaRPr sz="900">
              <a:latin typeface="Arial"/>
              <a:cs typeface="Arial"/>
            </a:endParaRPr>
          </a:p>
          <a:p>
            <a:pPr marL="1047750" marR="5080" indent="-455930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of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executed.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implies </a:t>
            </a:r>
            <a:r>
              <a:rPr sz="900" dirty="0">
                <a:latin typeface="Arial"/>
                <a:cs typeface="Arial"/>
              </a:rPr>
              <a:t>stopping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stage.</a:t>
            </a:r>
            <a:endParaRPr sz="900">
              <a:latin typeface="Arial"/>
              <a:cs typeface="Arial"/>
            </a:endParaRPr>
          </a:p>
          <a:p>
            <a:pPr marL="1047750" marR="106680" indent="-506730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executed.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07510" cy="1002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Contexts</a:t>
            </a:r>
            <a:endParaRPr sz="1000">
              <a:latin typeface="Arial"/>
              <a:cs typeface="Arial"/>
            </a:endParaRPr>
          </a:p>
          <a:p>
            <a:pPr marL="539115" marR="30480" indent="-116839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stack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counter).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8305" cy="151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Contexts</a:t>
            </a:r>
            <a:endParaRPr sz="1000">
              <a:latin typeface="Arial"/>
              <a:cs typeface="Arial"/>
            </a:endParaRPr>
          </a:p>
          <a:p>
            <a:pPr marL="539115" marR="41275" indent="-116839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stack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counter).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 context,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8305" cy="2021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Contexts</a:t>
            </a:r>
            <a:endParaRPr sz="1000">
              <a:latin typeface="Arial"/>
              <a:cs typeface="Arial"/>
            </a:endParaRPr>
          </a:p>
          <a:p>
            <a:pPr marL="539115" marR="41275" indent="-116839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stack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counter).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 context,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state).</a:t>
            </a:r>
            <a:endParaRPr sz="900">
              <a:latin typeface="Arial"/>
              <a:cs typeface="Arial"/>
            </a:endParaRPr>
          </a:p>
          <a:p>
            <a:pPr marL="542925" marR="32384" indent="-120650" algn="just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now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MMU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5600" cy="156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517525" marR="6350" indent="-1587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AutoNum type="arabicPeriod"/>
              <a:tabLst>
                <a:tab pos="514350" algn="l"/>
              </a:tabLst>
            </a:pPr>
            <a:r>
              <a:rPr sz="900" spc="-10" dirty="0">
                <a:latin typeface="Arial"/>
                <a:cs typeface="Arial"/>
              </a:rPr>
              <a:t>Threads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switching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entirely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517525" marR="5080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(somewhat)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0" dirty="0">
                <a:latin typeface="Arial"/>
                <a:cs typeface="Arial"/>
              </a:rPr>
              <a:t> involves </a:t>
            </a:r>
            <a:r>
              <a:rPr sz="900" dirty="0">
                <a:latin typeface="Arial"/>
                <a:cs typeface="Arial"/>
              </a:rPr>
              <a:t>getting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loop,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kernel.</a:t>
            </a:r>
            <a:endParaRPr sz="900">
              <a:latin typeface="Arial"/>
              <a:cs typeface="Arial"/>
            </a:endParaRPr>
          </a:p>
          <a:p>
            <a:pPr marL="517525" marR="280670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Creating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destroying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cheaper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spc="-10" dirty="0">
                <a:latin typeface="Arial"/>
                <a:cs typeface="Arial"/>
              </a:rPr>
              <a:t>processes.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endParaRPr sz="12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reasons</a:t>
            </a:r>
            <a:endParaRPr sz="1000">
              <a:latin typeface="Arial"/>
              <a:cs typeface="Arial"/>
            </a:endParaRPr>
          </a:p>
          <a:p>
            <a:pPr marL="542925" marR="30480" indent="-120650" algn="just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543560" algn="l"/>
              </a:tabLst>
            </a:pP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needless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blocking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single-threaded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block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doing </a:t>
            </a:r>
            <a:r>
              <a:rPr sz="900" dirty="0">
                <a:latin typeface="Arial"/>
                <a:cs typeface="Arial"/>
              </a:rPr>
              <a:t>I/O;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multithreaded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CPU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 marL="542925" marR="97155" indent="-120650" algn="just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Exploit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parallelism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multithreaded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scheduled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multiprocessor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multicore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processor.</a:t>
            </a:r>
            <a:endParaRPr sz="900">
              <a:latin typeface="Arial"/>
              <a:cs typeface="Arial"/>
            </a:endParaRPr>
          </a:p>
          <a:p>
            <a:pPr marL="542925" marR="30480" indent="-120650" algn="just">
              <a:lnSpc>
                <a:spcPct val="111600"/>
              </a:lnSpc>
              <a:spcBef>
                <a:spcPts val="395"/>
              </a:spcBef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structure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of </a:t>
            </a:r>
            <a:r>
              <a:rPr sz="900" spc="-10" dirty="0">
                <a:latin typeface="Arial"/>
                <a:cs typeface="Arial"/>
              </a:rPr>
              <a:t>processes,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704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303" y="798895"/>
            <a:ext cx="3527861" cy="14023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7982" y="2273885"/>
            <a:ext cx="3886200" cy="8572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Trade-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offs</a:t>
            </a:r>
            <a:endParaRPr sz="1000">
              <a:latin typeface="Arial"/>
              <a:cs typeface="Arial"/>
            </a:endParaRPr>
          </a:p>
          <a:p>
            <a:pPr marL="291465" indent="-117475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2100" algn="l"/>
              </a:tabLst>
            </a:pPr>
            <a:r>
              <a:rPr sz="900" dirty="0">
                <a:latin typeface="Arial"/>
                <a:cs typeface="Arial"/>
              </a:rPr>
              <a:t>Threads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errors</a:t>
            </a:r>
            <a:endParaRPr sz="900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OS/HW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memory</a:t>
            </a:r>
            <a:endParaRPr sz="900">
              <a:latin typeface="Arial"/>
              <a:cs typeface="Arial"/>
            </a:endParaRPr>
          </a:p>
          <a:p>
            <a:pPr marL="291465" indent="-11747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2100" algn="l"/>
              </a:tabLst>
            </a:pP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faster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013200" cy="125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cost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clock-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interrupt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handler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costs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handler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indirect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costs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costs,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cache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switch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cause: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indirect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966" y="1725295"/>
            <a:ext cx="530398" cy="9031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236" y="1725295"/>
            <a:ext cx="269427" cy="9031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1809" y="1725295"/>
            <a:ext cx="269427" cy="9031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7344" y="2693182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2726" y="2693182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7384" y="2693182"/>
            <a:ext cx="158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1933" y="1855308"/>
            <a:ext cx="1477645" cy="6369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14629" indent="-202565">
              <a:lnSpc>
                <a:spcPct val="100000"/>
              </a:lnSpc>
              <a:spcBef>
                <a:spcPts val="625"/>
              </a:spcBef>
              <a:buClr>
                <a:srgbClr val="3333B2"/>
              </a:buClr>
              <a:buAutoNum type="alphaLcParenBoth"/>
              <a:tabLst>
                <a:tab pos="215265" algn="l"/>
              </a:tabLst>
            </a:pP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</a:t>
            </a:r>
            <a:endParaRPr sz="900">
              <a:latin typeface="Arial"/>
              <a:cs typeface="Arial"/>
            </a:endParaRPr>
          </a:p>
          <a:p>
            <a:pPr marL="214629" indent="-202565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AutoNum type="alphaLcParenBoth"/>
              <a:tabLst>
                <a:tab pos="215265" algn="l"/>
              </a:tabLst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 switch</a:t>
            </a:r>
            <a:endParaRPr sz="900">
              <a:latin typeface="Arial"/>
              <a:cs typeface="Arial"/>
            </a:endParaRPr>
          </a:p>
          <a:p>
            <a:pPr marL="214629" indent="-19621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lphaLcParenBoth"/>
              <a:tabLst>
                <a:tab pos="215265" algn="l"/>
              </a:tabLst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D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94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4974" y="1991364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610" y="1991364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0662" y="1991364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C7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2297" y="1991364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C7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0065" y="605868"/>
            <a:ext cx="4394200" cy="2538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0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multiprocessing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Process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95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time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1050" spc="22" baseline="-7936" dirty="0">
                <a:latin typeface="Times New Roman"/>
                <a:cs typeface="Times New Roman"/>
              </a:rPr>
              <a:t>*</a:t>
            </a:r>
            <a:endParaRPr sz="1050" baseline="-7936">
              <a:latin typeface="Times New Roman"/>
              <a:cs typeface="Times New Roman"/>
            </a:endParaRPr>
          </a:p>
          <a:p>
            <a:pPr marL="755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195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random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2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1050" spc="22" baseline="-7936" dirty="0">
                <a:latin typeface="Times New Roman"/>
                <a:cs typeface="Times New Roman"/>
              </a:rPr>
              <a:t>*</a:t>
            </a:r>
            <a:endParaRPr sz="1050" baseline="-7936">
              <a:latin typeface="Times New Roman"/>
              <a:cs typeface="Times New Roman"/>
            </a:endParaRPr>
          </a:p>
          <a:p>
            <a:pPr marL="755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75565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5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sleeper(name):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61950" algn="l"/>
              </a:tabLst>
            </a:pPr>
            <a:r>
              <a:rPr sz="500" spc="-50" dirty="0">
                <a:latin typeface="Times New Roman"/>
                <a:cs typeface="Times New Roman"/>
              </a:rPr>
              <a:t>6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220" dirty="0">
                <a:latin typeface="Times New Roman"/>
                <a:cs typeface="Times New Roman"/>
              </a:rPr>
              <a:t>t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gmtime()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61950" algn="l"/>
              </a:tabLst>
            </a:pPr>
            <a:r>
              <a:rPr sz="500" spc="-50" dirty="0">
                <a:latin typeface="Times New Roman"/>
                <a:cs typeface="Times New Roman"/>
              </a:rPr>
              <a:t>7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randint(1,20)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60045" algn="l"/>
              </a:tabLst>
            </a:pPr>
            <a:r>
              <a:rPr sz="500" spc="-50" dirty="0">
                <a:latin typeface="Times New Roman"/>
                <a:cs typeface="Times New Roman"/>
              </a:rPr>
              <a:t>8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30" dirty="0">
                <a:latin typeface="Times New Roman"/>
                <a:cs typeface="Times New Roman"/>
              </a:rPr>
              <a:t>txt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(t.tm_min)+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’:’</a:t>
            </a:r>
            <a:r>
              <a:rPr sz="700" spc="55" dirty="0">
                <a:latin typeface="Times New Roman"/>
                <a:cs typeface="Times New Roman"/>
              </a:rPr>
              <a:t>+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(t.tm_sec)+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dirty="0">
                <a:latin typeface="Times New Roman"/>
                <a:cs typeface="Times New Roman"/>
              </a:rPr>
              <a:t>+name+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55" dirty="0">
                <a:solidFill>
                  <a:srgbClr val="C80000"/>
                </a:solidFill>
                <a:latin typeface="Times New Roman"/>
                <a:cs typeface="Times New Roman"/>
              </a:rPr>
              <a:t>is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going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to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sleep</a:t>
            </a:r>
            <a:r>
              <a:rPr sz="700" spc="105" dirty="0">
                <a:solidFill>
                  <a:srgbClr val="C80000"/>
                </a:solidFill>
                <a:latin typeface="Times New Roman"/>
                <a:cs typeface="Times New Roman"/>
              </a:rPr>
              <a:t> for</a:t>
            </a:r>
            <a:r>
              <a:rPr sz="700" spc="114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70" dirty="0">
                <a:latin typeface="Times New Roman"/>
                <a:cs typeface="Times New Roman"/>
              </a:rPr>
              <a:t>+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70" dirty="0">
                <a:latin typeface="Times New Roman"/>
                <a:cs typeface="Times New Roman"/>
              </a:rPr>
              <a:t>(s)+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3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solidFill>
                  <a:srgbClr val="C80000"/>
                </a:solidFill>
                <a:latin typeface="Times New Roman"/>
                <a:cs typeface="Times New Roman"/>
              </a:rPr>
              <a:t>seconds’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59410" algn="l"/>
              </a:tabLst>
            </a:pPr>
            <a:r>
              <a:rPr sz="500" spc="-50" dirty="0">
                <a:latin typeface="Times New Roman"/>
                <a:cs typeface="Times New Roman"/>
              </a:rPr>
              <a:t>9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70" dirty="0">
                <a:latin typeface="Times New Roman"/>
                <a:cs typeface="Times New Roman"/>
              </a:rPr>
              <a:t>(txt)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59410" algn="l"/>
              </a:tabLst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75" dirty="0">
                <a:latin typeface="Times New Roman"/>
                <a:cs typeface="Times New Roman"/>
              </a:rPr>
              <a:t>sleep(s)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220" dirty="0">
                <a:latin typeface="Times New Roman"/>
                <a:cs typeface="Times New Roman"/>
              </a:rPr>
              <a:t>t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gmtime()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0045" algn="l"/>
              </a:tabLst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30" dirty="0">
                <a:latin typeface="Times New Roman"/>
                <a:cs typeface="Times New Roman"/>
              </a:rPr>
              <a:t>txt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(t.tm_min)+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’:’</a:t>
            </a:r>
            <a:r>
              <a:rPr sz="700" spc="55" dirty="0">
                <a:latin typeface="Times New Roman"/>
                <a:cs typeface="Times New Roman"/>
              </a:rPr>
              <a:t>+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(t.tm_sec)+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3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dirty="0">
                <a:latin typeface="Times New Roman"/>
                <a:cs typeface="Times New Roman"/>
              </a:rPr>
              <a:t>+name+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2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has</a:t>
            </a:r>
            <a:r>
              <a:rPr sz="700" spc="8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woken</a:t>
            </a:r>
            <a:r>
              <a:rPr sz="700" spc="9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30" dirty="0">
                <a:solidFill>
                  <a:srgbClr val="C80000"/>
                </a:solidFill>
                <a:latin typeface="Times New Roman"/>
                <a:cs typeface="Times New Roman"/>
              </a:rPr>
              <a:t>up’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  <a:tabLst>
                <a:tab pos="359410" algn="l"/>
              </a:tabLst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70" dirty="0">
                <a:latin typeface="Times New Roman"/>
                <a:cs typeface="Times New Roman"/>
              </a:rPr>
              <a:t>(txt)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560"/>
              </a:lnSpc>
              <a:spcBef>
                <a:spcPts val="75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381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15</a:t>
            </a:r>
            <a:r>
              <a:rPr sz="500" spc="440" dirty="0">
                <a:latin typeface="Times New Roman"/>
                <a:cs typeface="Times New Roman"/>
              </a:rPr>
              <a:t> 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315" dirty="0">
                <a:solidFill>
                  <a:srgbClr val="FF0059"/>
                </a:solid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name</a:t>
            </a:r>
            <a:r>
              <a:rPr sz="700" spc="31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18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4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main</a:t>
            </a:r>
            <a:r>
              <a:rPr sz="700" spc="44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4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45" dirty="0">
                <a:latin typeface="Times New Roman"/>
                <a:cs typeface="Times New Roman"/>
              </a:rPr>
              <a:t>: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p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Process(target=sleeper,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args=(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’eve’</a:t>
            </a:r>
            <a:r>
              <a:rPr sz="700" spc="60" dirty="0">
                <a:latin typeface="Times New Roman"/>
                <a:cs typeface="Times New Roman"/>
              </a:rPr>
              <a:t>,))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q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Process(target=sleeper,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args=(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’bob’</a:t>
            </a:r>
            <a:r>
              <a:rPr sz="700" spc="55" dirty="0">
                <a:latin typeface="Times New Roman"/>
                <a:cs typeface="Times New Roman"/>
              </a:rPr>
              <a:t>,))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14" dirty="0">
                <a:latin typeface="Times New Roman"/>
                <a:cs typeface="Times New Roman"/>
              </a:rPr>
              <a:t>p.start();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q.start()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00" dirty="0">
                <a:latin typeface="Times New Roman"/>
                <a:cs typeface="Times New Roman"/>
              </a:rPr>
              <a:t>p.join(); </a:t>
            </a:r>
            <a:r>
              <a:rPr sz="700" spc="80" dirty="0">
                <a:latin typeface="Times New Roman"/>
                <a:cs typeface="Times New Roman"/>
              </a:rPr>
              <a:t>q.join()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650">
              <a:latin typeface="Times New Roman"/>
              <a:cs typeface="Times New Roman"/>
            </a:endParaRPr>
          </a:p>
          <a:p>
            <a:pPr marL="259079" marR="1416050">
              <a:lnSpc>
                <a:spcPct val="109600"/>
              </a:lnSpc>
            </a:pPr>
            <a:r>
              <a:rPr sz="1000" spc="55" dirty="0">
                <a:latin typeface="Times New Roman"/>
                <a:cs typeface="Times New Roman"/>
              </a:rPr>
              <a:t>40:23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14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40:23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4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40:27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up</a:t>
            </a:r>
            <a:endParaRPr sz="1000">
              <a:latin typeface="Times New Roman"/>
              <a:cs typeface="Times New Roman"/>
            </a:endParaRPr>
          </a:p>
          <a:p>
            <a:pPr marL="259079">
              <a:lnSpc>
                <a:spcPct val="100000"/>
              </a:lnSpc>
              <a:spcBef>
                <a:spcPts val="114"/>
              </a:spcBef>
            </a:pPr>
            <a:r>
              <a:rPr sz="1000" spc="55" dirty="0">
                <a:latin typeface="Times New Roman"/>
                <a:cs typeface="Times New Roman"/>
              </a:rPr>
              <a:t>40:37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up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94205" cy="919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  <a:p>
            <a:pPr marL="150495">
              <a:lnSpc>
                <a:spcPts val="780"/>
              </a:lnSpc>
              <a:spcBef>
                <a:spcPts val="117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0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multiprocessing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Process</a:t>
            </a:r>
            <a:endParaRPr sz="700">
              <a:latin typeface="Times New Roman"/>
              <a:cs typeface="Times New Roman"/>
            </a:endParaRPr>
          </a:p>
          <a:p>
            <a:pPr marL="15049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185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threading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Thread</a:t>
            </a:r>
            <a:endParaRPr sz="700">
              <a:latin typeface="Times New Roman"/>
              <a:cs typeface="Times New Roman"/>
            </a:endParaRPr>
          </a:p>
          <a:p>
            <a:pPr marL="15049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5049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25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shared_x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randint(10,99)</a:t>
            </a:r>
            <a:endParaRPr sz="700">
              <a:latin typeface="Times New Roman"/>
              <a:cs typeface="Times New Roman"/>
            </a:endParaRPr>
          </a:p>
          <a:p>
            <a:pPr marL="150495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5049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sleeping(name):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465" y="1086666"/>
            <a:ext cx="1016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458" y="1126862"/>
            <a:ext cx="4022090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global </a:t>
            </a:r>
            <a:r>
              <a:rPr sz="700" spc="-10" dirty="0">
                <a:latin typeface="Times New Roman"/>
                <a:cs typeface="Times New Roman"/>
              </a:rPr>
              <a:t>shared_x</a:t>
            </a:r>
            <a:endParaRPr sz="700" dirty="0">
              <a:latin typeface="Times New Roman"/>
              <a:cs typeface="Times New Roman"/>
            </a:endParaRPr>
          </a:p>
          <a:p>
            <a:pPr marL="15240">
              <a:lnSpc>
                <a:spcPts val="715"/>
              </a:lnSpc>
            </a:pPr>
            <a:r>
              <a:rPr sz="700" spc="220" dirty="0">
                <a:latin typeface="Times New Roman"/>
                <a:cs typeface="Times New Roman"/>
              </a:rPr>
              <a:t>t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gmtime();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2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randint(1,20)</a:t>
            </a:r>
            <a:endParaRPr sz="700" dirty="0">
              <a:latin typeface="Times New Roman"/>
              <a:cs typeface="Times New Roman"/>
            </a:endParaRPr>
          </a:p>
          <a:p>
            <a:pPr marL="13335">
              <a:lnSpc>
                <a:spcPts val="715"/>
              </a:lnSpc>
            </a:pPr>
            <a:r>
              <a:rPr sz="700" spc="130" dirty="0">
                <a:latin typeface="Times New Roman"/>
                <a:cs typeface="Times New Roman"/>
              </a:rPr>
              <a:t>txt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(t.tm_min)+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’:’</a:t>
            </a:r>
            <a:r>
              <a:rPr sz="700" spc="55" dirty="0">
                <a:latin typeface="Times New Roman"/>
                <a:cs typeface="Times New Roman"/>
              </a:rPr>
              <a:t>+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(t.tm_sec)+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dirty="0">
                <a:latin typeface="Times New Roman"/>
                <a:cs typeface="Times New Roman"/>
              </a:rPr>
              <a:t>+name+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55" dirty="0">
                <a:solidFill>
                  <a:srgbClr val="C80000"/>
                </a:solidFill>
                <a:latin typeface="Times New Roman"/>
                <a:cs typeface="Times New Roman"/>
              </a:rPr>
              <a:t>is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going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to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sleep</a:t>
            </a:r>
            <a:r>
              <a:rPr sz="700" spc="105" dirty="0">
                <a:solidFill>
                  <a:srgbClr val="C80000"/>
                </a:solidFill>
                <a:latin typeface="Times New Roman"/>
                <a:cs typeface="Times New Roman"/>
              </a:rPr>
              <a:t> for</a:t>
            </a:r>
            <a:r>
              <a:rPr sz="700" spc="114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70" dirty="0">
                <a:latin typeface="Times New Roman"/>
                <a:cs typeface="Times New Roman"/>
              </a:rPr>
              <a:t>+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70" dirty="0">
                <a:latin typeface="Times New Roman"/>
                <a:cs typeface="Times New Roman"/>
              </a:rPr>
              <a:t>(s)+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3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solidFill>
                  <a:srgbClr val="C80000"/>
                </a:solidFill>
                <a:latin typeface="Times New Roman"/>
                <a:cs typeface="Times New Roman"/>
              </a:rPr>
              <a:t>seconds’</a:t>
            </a:r>
            <a:endParaRPr sz="700" dirty="0">
              <a:latin typeface="Times New Roman"/>
              <a:cs typeface="Times New Roman"/>
            </a:endParaRPr>
          </a:p>
          <a:p>
            <a:pPr marL="12700" marR="3545840">
              <a:lnSpc>
                <a:spcPts val="720"/>
              </a:lnSpc>
              <a:spcBef>
                <a:spcPts val="65"/>
              </a:spcBef>
            </a:pP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70" dirty="0">
                <a:latin typeface="Times New Roman"/>
                <a:cs typeface="Times New Roman"/>
              </a:rPr>
              <a:t>(txt) </a:t>
            </a:r>
            <a:r>
              <a:rPr sz="700" spc="75" dirty="0">
                <a:latin typeface="Times New Roman"/>
                <a:cs typeface="Times New Roman"/>
              </a:rPr>
              <a:t>sleep(s)</a:t>
            </a:r>
            <a:endParaRPr sz="700" dirty="0">
              <a:latin typeface="Times New Roman"/>
              <a:cs typeface="Times New Roman"/>
            </a:endParaRPr>
          </a:p>
          <a:p>
            <a:pPr marL="15240">
              <a:lnSpc>
                <a:spcPts val="650"/>
              </a:lnSpc>
            </a:pPr>
            <a:r>
              <a:rPr sz="700" spc="220" dirty="0">
                <a:latin typeface="Times New Roman"/>
                <a:cs typeface="Times New Roman"/>
              </a:rPr>
              <a:t>t</a:t>
            </a:r>
            <a:r>
              <a:rPr sz="700" spc="2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2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gmtime();</a:t>
            </a:r>
            <a:r>
              <a:rPr sz="700" spc="20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shared_x</a:t>
            </a:r>
            <a:r>
              <a:rPr sz="700" spc="2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2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shared_x</a:t>
            </a:r>
            <a:r>
              <a:rPr sz="700" spc="2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280" dirty="0">
                <a:latin typeface="Times New Roman"/>
                <a:cs typeface="Times New Roman"/>
              </a:rPr>
              <a:t> </a:t>
            </a:r>
            <a:r>
              <a:rPr sz="700" spc="5" dirty="0">
                <a:latin typeface="Times New Roman"/>
                <a:cs typeface="Times New Roman"/>
              </a:rPr>
              <a:t>1</a:t>
            </a:r>
            <a:endParaRPr sz="700" dirty="0">
              <a:latin typeface="Times New Roman"/>
              <a:cs typeface="Times New Roman"/>
            </a:endParaRPr>
          </a:p>
          <a:p>
            <a:pPr marL="13335">
              <a:lnSpc>
                <a:spcPts val="715"/>
              </a:lnSpc>
            </a:pPr>
            <a:r>
              <a:rPr sz="700" spc="130" dirty="0">
                <a:latin typeface="Times New Roman"/>
                <a:cs typeface="Times New Roman"/>
              </a:rPr>
              <a:t>txt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(t.tm_min)+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’:’</a:t>
            </a:r>
            <a:r>
              <a:rPr sz="700" spc="55" dirty="0">
                <a:latin typeface="Times New Roman"/>
                <a:cs typeface="Times New Roman"/>
              </a:rPr>
              <a:t>+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(t.tm_sec)+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2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dirty="0">
                <a:latin typeface="Times New Roman"/>
                <a:cs typeface="Times New Roman"/>
              </a:rPr>
              <a:t>+name+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has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woken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up,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seeing 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shared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x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being</a:t>
            </a:r>
            <a:r>
              <a:rPr sz="700" spc="8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3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55" dirty="0">
                <a:latin typeface="Times New Roman"/>
                <a:cs typeface="Times New Roman"/>
              </a:rPr>
              <a:t>(txt+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(shared_x)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spc="130" dirty="0">
                <a:latin typeface="Times New Roman"/>
                <a:cs typeface="Times New Roman"/>
              </a:rPr>
              <a:t>)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465" y="1830625"/>
            <a:ext cx="980440" cy="197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60"/>
              </a:lnSpc>
              <a:spcBef>
                <a:spcPts val="95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16</a:t>
            </a:r>
            <a:r>
              <a:rPr sz="500" spc="490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sleeper(name):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458" y="1987514"/>
            <a:ext cx="291782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100" dirty="0">
                <a:latin typeface="Times New Roman"/>
                <a:cs typeface="Times New Roman"/>
              </a:rPr>
              <a:t>sleeplist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b="1" spc="120" dirty="0">
                <a:solidFill>
                  <a:srgbClr val="FF0059"/>
                </a:solidFill>
                <a:latin typeface="Times New Roman"/>
                <a:cs typeface="Times New Roman"/>
              </a:rPr>
              <a:t>list</a:t>
            </a:r>
            <a:r>
              <a:rPr sz="700" spc="120" dirty="0">
                <a:latin typeface="Times New Roman"/>
                <a:cs typeface="Times New Roman"/>
              </a:rPr>
              <a:t>()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dirty="0">
                <a:latin typeface="Times New Roman"/>
                <a:cs typeface="Times New Roman"/>
              </a:rPr>
              <a:t>(name,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’sees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shared</a:t>
            </a:r>
            <a:r>
              <a:rPr sz="700" spc="1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x</a:t>
            </a:r>
            <a:r>
              <a:rPr sz="700" spc="18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being’</a:t>
            </a:r>
            <a:r>
              <a:rPr sz="700" spc="75" dirty="0">
                <a:latin typeface="Times New Roman"/>
                <a:cs typeface="Times New Roman"/>
              </a:rPr>
              <a:t>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shared_x)</a:t>
            </a:r>
            <a:endParaRPr sz="700" dirty="0">
              <a:latin typeface="Times New Roman"/>
              <a:cs typeface="Times New Roman"/>
            </a:endParaRPr>
          </a:p>
          <a:p>
            <a:pPr marL="13970">
              <a:lnSpc>
                <a:spcPts val="715"/>
              </a:lnSpc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i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range</a:t>
            </a:r>
            <a:r>
              <a:rPr sz="700" spc="45" dirty="0">
                <a:latin typeface="Times New Roman"/>
                <a:cs typeface="Times New Roman"/>
              </a:rPr>
              <a:t>(3):</a:t>
            </a:r>
            <a:endParaRPr sz="700" dirty="0">
              <a:latin typeface="Times New Roman"/>
              <a:cs typeface="Times New Roman"/>
            </a:endParaRPr>
          </a:p>
          <a:p>
            <a:pPr marL="189230" marR="5080" indent="-635">
              <a:lnSpc>
                <a:spcPts val="720"/>
              </a:lnSpc>
              <a:spcBef>
                <a:spcPts val="65"/>
              </a:spcBef>
            </a:pPr>
            <a:r>
              <a:rPr sz="700" spc="60" dirty="0">
                <a:latin typeface="Times New Roman"/>
                <a:cs typeface="Times New Roman"/>
              </a:rPr>
              <a:t>subsleeper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Thread(target=sleeping,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args=(name+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9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9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90" dirty="0">
                <a:latin typeface="Times New Roman"/>
                <a:cs typeface="Times New Roman"/>
              </a:rPr>
              <a:t>+</a:t>
            </a:r>
            <a:r>
              <a:rPr sz="700" b="1" spc="90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90" dirty="0">
                <a:latin typeface="Times New Roman"/>
                <a:cs typeface="Times New Roman"/>
              </a:rPr>
              <a:t>(i),)) </a:t>
            </a:r>
            <a:r>
              <a:rPr sz="700" spc="55" dirty="0">
                <a:latin typeface="Times New Roman"/>
                <a:cs typeface="Times New Roman"/>
              </a:rPr>
              <a:t>sleeplist.append(subsleeper)</a:t>
            </a:r>
            <a:endParaRPr sz="700" dirty="0">
              <a:latin typeface="Times New Roman"/>
              <a:cs typeface="Times New Roman"/>
            </a:endParaRPr>
          </a:p>
          <a:p>
            <a:pPr marL="13970">
              <a:lnSpc>
                <a:spcPts val="780"/>
              </a:lnSpc>
              <a:spcBef>
                <a:spcPts val="585"/>
              </a:spcBef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9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sleeplist: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s.start();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sleeplist: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s.join()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dirty="0">
                <a:latin typeface="Times New Roman"/>
                <a:cs typeface="Times New Roman"/>
              </a:rPr>
              <a:t>(name,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’sees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shared</a:t>
            </a:r>
            <a:r>
              <a:rPr sz="700" spc="1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x</a:t>
            </a:r>
            <a:r>
              <a:rPr sz="700" spc="18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being’</a:t>
            </a:r>
            <a:r>
              <a:rPr sz="700" spc="75" dirty="0">
                <a:latin typeface="Times New Roman"/>
                <a:cs typeface="Times New Roman"/>
              </a:rPr>
              <a:t>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shared_x)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465" y="1997637"/>
            <a:ext cx="101600" cy="8458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5" y="2807401"/>
            <a:ext cx="2219960" cy="49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26</a:t>
            </a:r>
            <a:r>
              <a:rPr sz="500" spc="420" dirty="0">
                <a:latin typeface="Times New Roman"/>
                <a:cs typeface="Times New Roman"/>
              </a:rPr>
              <a:t> 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u="sng" spc="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name</a:t>
            </a:r>
            <a:r>
              <a:rPr sz="700" u="sng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-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spc="9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u="sng" spc="175" dirty="0">
                <a:solidFill>
                  <a:srgbClr val="C80000"/>
                </a:solidFill>
                <a:uFill>
                  <a:solidFill>
                    <a:srgbClr val="C7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main</a:t>
            </a:r>
            <a:r>
              <a:rPr sz="700" u="sng" spc="484" dirty="0">
                <a:solidFill>
                  <a:srgbClr val="C80000"/>
                </a:solidFill>
                <a:uFill>
                  <a:solidFill>
                    <a:srgbClr val="C7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00" spc="145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700" spc="145" dirty="0">
                <a:latin typeface="Times New Roman"/>
                <a:cs typeface="Times New Roman"/>
              </a:rPr>
              <a:t>: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  <a:tabLst>
                <a:tab pos="336550" algn="l"/>
              </a:tabLst>
            </a:pPr>
            <a:r>
              <a:rPr sz="500" spc="-25" dirty="0">
                <a:latin typeface="Times New Roman"/>
                <a:cs typeface="Times New Roman"/>
              </a:rPr>
              <a:t>27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p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Process(target=sleeper,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args=(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’eve’</a:t>
            </a:r>
            <a:r>
              <a:rPr sz="700" spc="60" dirty="0">
                <a:latin typeface="Times New Roman"/>
                <a:cs typeface="Times New Roman"/>
              </a:rPr>
              <a:t>,))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  <a:tabLst>
                <a:tab pos="336550" algn="l"/>
              </a:tabLst>
            </a:pPr>
            <a:r>
              <a:rPr sz="500" spc="-25" dirty="0">
                <a:latin typeface="Times New Roman"/>
                <a:cs typeface="Times New Roman"/>
              </a:rPr>
              <a:t>28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q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Process(target=sleeper,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args=(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’bob’</a:t>
            </a:r>
            <a:r>
              <a:rPr sz="700" spc="55" dirty="0">
                <a:latin typeface="Times New Roman"/>
                <a:cs typeface="Times New Roman"/>
              </a:rPr>
              <a:t>,))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  <a:tabLst>
                <a:tab pos="336550" algn="l"/>
              </a:tabLst>
            </a:pPr>
            <a:r>
              <a:rPr sz="500" spc="-25" dirty="0">
                <a:latin typeface="Times New Roman"/>
                <a:cs typeface="Times New Roman"/>
              </a:rPr>
              <a:t>29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14" dirty="0">
                <a:latin typeface="Times New Roman"/>
                <a:cs typeface="Times New Roman"/>
              </a:rPr>
              <a:t>p.start();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q.start()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tabLst>
                <a:tab pos="336550" algn="l"/>
              </a:tabLst>
            </a:pPr>
            <a:r>
              <a:rPr sz="500" spc="-25" dirty="0">
                <a:latin typeface="Times New Roman"/>
                <a:cs typeface="Times New Roman"/>
              </a:rPr>
              <a:t>30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100" dirty="0">
                <a:latin typeface="Times New Roman"/>
                <a:cs typeface="Times New Roman"/>
              </a:rPr>
              <a:t>p.join(); </a:t>
            </a:r>
            <a:r>
              <a:rPr sz="700" spc="80" dirty="0">
                <a:latin typeface="Times New Roman"/>
                <a:cs typeface="Times New Roman"/>
              </a:rPr>
              <a:t>q.join()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38513"/>
            <a:ext cx="3573779" cy="29737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Python</a:t>
            </a:r>
            <a:endParaRPr sz="1200" dirty="0">
              <a:latin typeface="Arial"/>
              <a:cs typeface="Arial"/>
            </a:endParaRPr>
          </a:p>
          <a:p>
            <a:pPr marL="334010">
              <a:lnSpc>
                <a:spcPct val="100000"/>
              </a:lnSpc>
              <a:spcBef>
                <a:spcPts val="385"/>
              </a:spcBef>
            </a:pP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sees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71</a:t>
            </a:r>
            <a:endParaRPr sz="1000" dirty="0">
              <a:latin typeface="Times New Roman"/>
              <a:cs typeface="Times New Roman"/>
            </a:endParaRPr>
          </a:p>
          <a:p>
            <a:pPr marL="334010" marR="389255">
              <a:lnSpc>
                <a:spcPct val="109600"/>
              </a:lnSpc>
            </a:pP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0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sees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84</a:t>
            </a:r>
            <a:endParaRPr sz="1000" dirty="0">
              <a:latin typeface="Times New Roman"/>
              <a:cs typeface="Times New Roman"/>
            </a:endParaRPr>
          </a:p>
          <a:p>
            <a:pPr marL="334010" marR="389255">
              <a:lnSpc>
                <a:spcPct val="109600"/>
              </a:lnSpc>
            </a:pP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1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15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2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3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0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8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1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16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 </a:t>
            </a:r>
            <a:r>
              <a:rPr sz="1000" spc="55" dirty="0">
                <a:latin typeface="Times New Roman"/>
                <a:cs typeface="Times New Roman"/>
              </a:rPr>
              <a:t>53:21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2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10" dirty="0">
                <a:latin typeface="Times New Roman"/>
                <a:cs typeface="Times New Roman"/>
              </a:rPr>
              <a:t>is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going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55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sleep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40" dirty="0">
                <a:latin typeface="Times New Roman"/>
                <a:cs typeface="Times New Roman"/>
              </a:rPr>
              <a:t>for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8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seconds</a:t>
            </a:r>
            <a:endParaRPr sz="1000" dirty="0">
              <a:latin typeface="Times New Roman"/>
              <a:cs typeface="Times New Roman"/>
            </a:endParaRPr>
          </a:p>
          <a:p>
            <a:pPr marL="334010" marR="5080" algn="just">
              <a:lnSpc>
                <a:spcPct val="109600"/>
              </a:lnSpc>
            </a:pPr>
            <a:r>
              <a:rPr sz="1000" spc="55" dirty="0">
                <a:latin typeface="Times New Roman"/>
                <a:cs typeface="Times New Roman"/>
              </a:rPr>
              <a:t>53:24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2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72 </a:t>
            </a:r>
            <a:r>
              <a:rPr sz="1000" spc="55" dirty="0">
                <a:latin typeface="Times New Roman"/>
                <a:cs typeface="Times New Roman"/>
              </a:rPr>
              <a:t>53:29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0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85 </a:t>
            </a:r>
            <a:r>
              <a:rPr sz="1000" spc="55" dirty="0">
                <a:latin typeface="Times New Roman"/>
                <a:cs typeface="Times New Roman"/>
              </a:rPr>
              <a:t>53:29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2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86 </a:t>
            </a:r>
            <a:r>
              <a:rPr sz="1000" spc="55" dirty="0">
                <a:latin typeface="Times New Roman"/>
                <a:cs typeface="Times New Roman"/>
              </a:rPr>
              <a:t>53:36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1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73 </a:t>
            </a:r>
            <a:r>
              <a:rPr sz="1000" spc="55" dirty="0">
                <a:latin typeface="Times New Roman"/>
                <a:cs typeface="Times New Roman"/>
              </a:rPr>
              <a:t>53:37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1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87 </a:t>
            </a:r>
            <a:r>
              <a:rPr sz="1000" dirty="0">
                <a:latin typeface="Times New Roman"/>
                <a:cs typeface="Times New Roman"/>
              </a:rPr>
              <a:t>bob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sees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87</a:t>
            </a:r>
            <a:endParaRPr sz="1000" dirty="0">
              <a:latin typeface="Times New Roman"/>
              <a:cs typeface="Times New Roman"/>
            </a:endParaRPr>
          </a:p>
          <a:p>
            <a:pPr marL="334010" marR="5080" algn="just">
              <a:lnSpc>
                <a:spcPct val="109600"/>
              </a:lnSpc>
            </a:pPr>
            <a:r>
              <a:rPr sz="1000" spc="55" dirty="0">
                <a:latin typeface="Times New Roman"/>
                <a:cs typeface="Times New Roman"/>
              </a:rPr>
              <a:t>53:41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0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has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woken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110" dirty="0">
                <a:latin typeface="Times New Roman"/>
                <a:cs typeface="Times New Roman"/>
              </a:rPr>
              <a:t>up,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seeing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74 </a:t>
            </a:r>
            <a:r>
              <a:rPr sz="1000" spc="65" dirty="0">
                <a:latin typeface="Times New Roman"/>
                <a:cs typeface="Times New Roman"/>
              </a:rPr>
              <a:t>eve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sees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shared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x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being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74</a:t>
            </a:r>
            <a:endParaRPr sz="10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5130" cy="2451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operating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Main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89560" marR="28257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Should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implemented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as </a:t>
            </a:r>
            <a:r>
              <a:rPr sz="900" spc="-10" dirty="0">
                <a:latin typeface="Arial"/>
                <a:cs typeface="Arial"/>
              </a:rPr>
              <a:t>user-level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packages?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User-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solution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within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spc="-10" dirty="0">
                <a:latin typeface="Arial"/>
                <a:cs typeface="Arial"/>
              </a:rPr>
              <a:t>implementations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extremely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efficient.</a:t>
            </a:r>
            <a:endParaRPr sz="900">
              <a:latin typeface="Arial"/>
              <a:cs typeface="Arial"/>
            </a:endParaRPr>
          </a:p>
          <a:p>
            <a:pPr marL="538480" marR="87630" indent="-116205">
              <a:lnSpc>
                <a:spcPct val="111600"/>
              </a:lnSpc>
              <a:spcBef>
                <a:spcPts val="395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behalf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which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thread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resides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entire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blocked.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Threads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external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block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on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per-event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can’t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it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signaling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them?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654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operating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02260" marR="14732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 </a:t>
            </a:r>
            <a:r>
              <a:rPr sz="900" dirty="0">
                <a:latin typeface="Arial"/>
                <a:cs typeface="Arial"/>
              </a:rPr>
              <a:t>package.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calls:</a:t>
            </a:r>
            <a:endParaRPr sz="900">
              <a:latin typeface="Arial"/>
              <a:cs typeface="Arial"/>
            </a:endParaRPr>
          </a:p>
          <a:p>
            <a:pPr marL="555625" marR="348615" indent="-120650">
              <a:lnSpc>
                <a:spcPct val="111600"/>
              </a:lnSpc>
              <a:spcBef>
                <a:spcPts val="33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kernel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schedules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available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 marL="555625" marR="7556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handling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external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catches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events)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schedules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thread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associated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loss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efficiency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because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kernel.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Conclusion</a:t>
            </a:r>
            <a:r>
              <a:rPr sz="10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–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but</a:t>
            </a:r>
            <a:endParaRPr sz="1000">
              <a:latin typeface="Arial"/>
              <a:cs typeface="Arial"/>
            </a:endParaRPr>
          </a:p>
          <a:p>
            <a:pPr marL="302260" marR="104775" indent="-3810">
              <a:lnSpc>
                <a:spcPts val="1210"/>
              </a:lnSpc>
              <a:spcBef>
                <a:spcPts val="35"/>
              </a:spcBef>
            </a:pPr>
            <a:r>
              <a:rPr sz="900" spc="-30" dirty="0">
                <a:latin typeface="Arial"/>
                <a:cs typeface="Arial"/>
              </a:rPr>
              <a:t>Try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user-level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kernel-level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concept,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however, performance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gain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turned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outweigh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increased complexity.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98716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Combining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user-level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kernel-level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Introduce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two-level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approach: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 user-level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781" y="1324733"/>
            <a:ext cx="3079053" cy="13523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34696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combined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8625" cy="87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combined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User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executing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that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user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blocks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8625" cy="1383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combined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User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executing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that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user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blocks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  <a:p>
            <a:pPr marL="542925" marR="1479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schedule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another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having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runnable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user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it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 </a:t>
            </a:r>
            <a:r>
              <a:rPr sz="900" dirty="0">
                <a:latin typeface="Arial"/>
                <a:cs typeface="Arial"/>
              </a:rPr>
              <a:t>runnable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8625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combined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User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executing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that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user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blocks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  <a:p>
            <a:pPr marL="542925" marR="1479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schedule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another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having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runnable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user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it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 </a:t>
            </a:r>
            <a:r>
              <a:rPr sz="900" dirty="0">
                <a:latin typeface="Arial"/>
                <a:cs typeface="Arial"/>
              </a:rPr>
              <a:t>runnable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  <a:p>
            <a:pPr marL="542925" marR="52069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8625" cy="2096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kernel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combined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User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executing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that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user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blocks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  <a:p>
            <a:pPr marL="542925" marR="1479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schedule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another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kernel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having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runnable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user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bound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it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 </a:t>
            </a:r>
            <a:r>
              <a:rPr sz="900" dirty="0">
                <a:latin typeface="Arial"/>
                <a:cs typeface="Arial"/>
              </a:rPr>
              <a:t>runnable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  <a:p>
            <a:pPr marL="542925" marR="52069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thread).</a:t>
            </a:r>
            <a:endParaRPr sz="900">
              <a:latin typeface="Arial"/>
              <a:cs typeface="Arial"/>
            </a:endParaRPr>
          </a:p>
          <a:p>
            <a:pPr marL="542925" marR="52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schedule,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kernel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remain </a:t>
            </a:r>
            <a:r>
              <a:rPr sz="900" dirty="0">
                <a:latin typeface="Arial"/>
                <a:cs typeface="Arial"/>
              </a:rPr>
              <a:t>idle,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(destroyed)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kernel.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96715" cy="247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Multithreaded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Hiding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latencies:</a:t>
            </a:r>
            <a:endParaRPr sz="900">
              <a:latin typeface="Arial"/>
              <a:cs typeface="Arial"/>
            </a:endParaRPr>
          </a:p>
          <a:p>
            <a:pPr marL="555625" marR="10096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HTML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more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files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fetched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file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fetched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separate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thread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(blocking)</a:t>
            </a:r>
            <a:r>
              <a:rPr sz="900" spc="-20" dirty="0">
                <a:latin typeface="Arial"/>
                <a:cs typeface="Arial"/>
              </a:rPr>
              <a:t> HTTP </a:t>
            </a:r>
            <a:r>
              <a:rPr sz="900" spc="-10" dirty="0">
                <a:latin typeface="Arial"/>
                <a:cs typeface="Arial"/>
              </a:rPr>
              <a:t>request.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displays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request-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response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calls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other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machines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(RPC)</a:t>
            </a:r>
            <a:endParaRPr sz="1000">
              <a:latin typeface="Arial"/>
              <a:cs typeface="Arial"/>
            </a:endParaRPr>
          </a:p>
          <a:p>
            <a:pPr marL="555625" marR="246379" indent="-120650">
              <a:lnSpc>
                <a:spcPct val="111600"/>
              </a:lnSpc>
              <a:spcBef>
                <a:spcPts val="56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thread.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returned.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Note: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linear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speed-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832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Threads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31615" cy="822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Multithreaded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clients: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does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help?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Thread-level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parallelism: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TLP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executed simultaneously.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7555" y="1085387"/>
            <a:ext cx="358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TLP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125" dirty="0">
                <a:latin typeface="Arial"/>
                <a:cs typeface="Arial"/>
              </a:rPr>
              <a:t>=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5789" y="958768"/>
            <a:ext cx="221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37" baseline="-24691" dirty="0">
                <a:latin typeface="Times New Roman"/>
                <a:cs typeface="Times New Roman"/>
              </a:rPr>
              <a:t>∑</a:t>
            </a:r>
            <a:r>
              <a:rPr sz="700" i="1" spc="-2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2380" y="1066282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5674" y="1001821"/>
            <a:ext cx="2514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c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3889" y="1183487"/>
            <a:ext cx="438784" cy="0"/>
          </a:xfrm>
          <a:custGeom>
            <a:avLst/>
            <a:gdLst/>
            <a:ahLst/>
            <a:cxnLst/>
            <a:rect l="l" t="t" r="r" b="b"/>
            <a:pathLst>
              <a:path w="438785">
                <a:moveTo>
                  <a:pt x="0" y="0"/>
                </a:moveTo>
                <a:lnTo>
                  <a:pt x="438670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97163" y="1163492"/>
            <a:ext cx="3663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c</a:t>
            </a:r>
            <a:r>
              <a:rPr sz="1050" spc="89" baseline="-15873" dirty="0">
                <a:latin typeface="Arial"/>
                <a:cs typeface="Arial"/>
              </a:rPr>
              <a:t>0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204" y="1334625"/>
            <a:ext cx="38588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maximum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time.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8832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Threads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31615" cy="822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Multithreaded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clients: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does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help?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Thread-level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parallelism: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TLP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executed simultaneously.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7555" y="1085387"/>
            <a:ext cx="358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TLP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125" dirty="0">
                <a:latin typeface="Arial"/>
                <a:cs typeface="Arial"/>
              </a:rPr>
              <a:t>=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5789" y="958768"/>
            <a:ext cx="221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37" baseline="-24691" dirty="0">
                <a:latin typeface="Times New Roman"/>
                <a:cs typeface="Times New Roman"/>
              </a:rPr>
              <a:t>∑</a:t>
            </a:r>
            <a:r>
              <a:rPr sz="700" i="1" spc="-2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2380" y="1066282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5674" y="1001821"/>
            <a:ext cx="2514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c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3889" y="1183487"/>
            <a:ext cx="438784" cy="0"/>
          </a:xfrm>
          <a:custGeom>
            <a:avLst/>
            <a:gdLst/>
            <a:ahLst/>
            <a:cxnLst/>
            <a:rect l="l" t="t" r="r" b="b"/>
            <a:pathLst>
              <a:path w="438785">
                <a:moveTo>
                  <a:pt x="0" y="0"/>
                </a:moveTo>
                <a:lnTo>
                  <a:pt x="438670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97163" y="1163492"/>
            <a:ext cx="3663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c</a:t>
            </a:r>
            <a:r>
              <a:rPr sz="1050" spc="89" baseline="-15873" dirty="0">
                <a:latin typeface="Arial"/>
                <a:cs typeface="Arial"/>
              </a:rPr>
              <a:t>0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204" y="1334625"/>
            <a:ext cx="3858895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maximum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time.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Practical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measurements</a:t>
            </a:r>
            <a:endParaRPr sz="1000">
              <a:latin typeface="Arial"/>
              <a:cs typeface="Arial"/>
            </a:endParaRPr>
          </a:p>
          <a:p>
            <a:pPr marL="16510" marR="42545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TLP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1.5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2.5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primarily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logically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organizing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browsers.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8832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Threads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32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Improve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Starting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cheaper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 marL="555625" marR="55943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single-</a:t>
            </a:r>
            <a:r>
              <a:rPr sz="900" dirty="0">
                <a:latin typeface="Arial"/>
                <a:cs typeface="Arial"/>
              </a:rPr>
              <a:t>threaded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prohibits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scale-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multiprocessor</a:t>
            </a:r>
            <a:r>
              <a:rPr sz="900" spc="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marR="19177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latency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while 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10" dirty="0">
                <a:latin typeface="Arial"/>
                <a:cs typeface="Arial"/>
              </a:rPr>
              <a:t> replied.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Better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structure</a:t>
            </a:r>
            <a:endParaRPr sz="1000">
              <a:latin typeface="Arial"/>
              <a:cs typeface="Arial"/>
            </a:endParaRPr>
          </a:p>
          <a:p>
            <a:pPr marL="555625" marR="236854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Most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I/O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demands.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well-understood blocking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calls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simplifies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Multithreaded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smaller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easier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understand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due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simplified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flow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832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Threads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4513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multithreading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popular:</a:t>
            </a:r>
            <a:r>
              <a:rPr sz="1200" spc="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Dispatcher/worker</a:t>
            </a:r>
            <a:r>
              <a:rPr sz="1000" spc="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364" y="767963"/>
            <a:ext cx="2918948" cy="12846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229680"/>
            <a:ext cx="551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Overview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2962" y="2482634"/>
          <a:ext cx="3417570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Model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Characteristics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Multithreading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Parallelism,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blocking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calls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Single-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threaded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process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parallelism,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blocking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calls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Finite-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machine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Parallelism,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nonblocking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system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calls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8832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Threads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2725420" cy="1478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Virtualization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Virtualization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important: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Hardware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changes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faster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software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portability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migration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Isolation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Principle: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mimicking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interfaces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332" y="2249750"/>
            <a:ext cx="1221912" cy="8453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95075" y="1783422"/>
            <a:ext cx="1221912" cy="132057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11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Principle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30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Mimicking</a:t>
            </a:r>
            <a:r>
              <a:rPr spc="-8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270" cy="1372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interfaces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different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  <a:p>
            <a:pPr marL="278130" marR="232410" indent="-1587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Instruction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architecture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two </a:t>
            </a:r>
            <a:r>
              <a:rPr sz="900" spc="-10" dirty="0">
                <a:latin typeface="Arial"/>
                <a:cs typeface="Arial"/>
              </a:rPr>
              <a:t>subsets:</a:t>
            </a:r>
            <a:endParaRPr sz="900">
              <a:latin typeface="Arial"/>
              <a:cs typeface="Arial"/>
            </a:endParaRPr>
          </a:p>
          <a:p>
            <a:pPr marL="531495" marR="17780" lvl="1" indent="-120650">
              <a:lnSpc>
                <a:spcPct val="111600"/>
              </a:lnSpc>
              <a:spcBef>
                <a:spcPts val="200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10" dirty="0">
                <a:latin typeface="Arial"/>
                <a:cs typeface="Arial"/>
              </a:rPr>
              <a:t>Privileged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executed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operating system.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General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calls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offered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Library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calls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programming interface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(API)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11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Principle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554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Ways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virtualization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737" y="822585"/>
            <a:ext cx="1060002" cy="10084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4019" y="822585"/>
            <a:ext cx="1060002" cy="10084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4301" y="560354"/>
            <a:ext cx="1061267" cy="12707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294" y="1879099"/>
            <a:ext cx="3935729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1562100" algn="l"/>
                <a:tab pos="28352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VM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	(b)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Native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VMM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	(c)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Hosted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VMM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Differences</a:t>
            </a:r>
            <a:endParaRPr sz="1000">
              <a:latin typeface="Arial"/>
              <a:cs typeface="Arial"/>
            </a:endParaRPr>
          </a:p>
          <a:p>
            <a:pPr marL="265430" indent="-20320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AutoNum type="alphaLcParenBoth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Separate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interpreter/emulator,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atop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OS.</a:t>
            </a:r>
            <a:endParaRPr sz="900">
              <a:latin typeface="Arial"/>
              <a:cs typeface="Arial"/>
            </a:endParaRPr>
          </a:p>
          <a:p>
            <a:pPr marL="265430" indent="-20320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AutoNum type="alphaLcParenBoth"/>
              <a:tabLst>
                <a:tab pos="266065" algn="l"/>
              </a:tabLst>
            </a:pPr>
            <a:r>
              <a:rPr sz="900" spc="-10" dirty="0">
                <a:latin typeface="Arial"/>
                <a:cs typeface="Arial"/>
              </a:rPr>
              <a:t>Low-level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bare-</a:t>
            </a:r>
            <a:r>
              <a:rPr sz="900" dirty="0">
                <a:latin typeface="Arial"/>
                <a:cs typeface="Arial"/>
              </a:rPr>
              <a:t>bones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  <a:p>
            <a:pPr marL="265430" indent="-1968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lphaLcParenBoth"/>
              <a:tabLst>
                <a:tab pos="266065" algn="l"/>
              </a:tabLst>
            </a:pPr>
            <a:r>
              <a:rPr sz="900" spc="-10" dirty="0">
                <a:latin typeface="Arial"/>
                <a:cs typeface="Arial"/>
              </a:rPr>
              <a:t>Low-level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delegating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full-</a:t>
            </a:r>
            <a:r>
              <a:rPr sz="900" dirty="0">
                <a:latin typeface="Arial"/>
                <a:cs typeface="Arial"/>
              </a:rPr>
              <a:t>fledged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711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Principle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951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Zooming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into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VMs:</a:t>
            </a:r>
            <a:r>
              <a:rPr sz="12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Refining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230" y="699054"/>
            <a:ext cx="2454271" cy="10869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9194" y="730939"/>
            <a:ext cx="4164329" cy="211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8930" marR="104775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28695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Privileged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instruction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if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trap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operating system</a:t>
            </a:r>
            <a:endParaRPr sz="900">
              <a:latin typeface="Arial"/>
              <a:cs typeface="Arial"/>
            </a:endParaRPr>
          </a:p>
          <a:p>
            <a:pPr marL="2868930" marR="431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8695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Nonpriviliged</a:t>
            </a:r>
            <a:r>
              <a:rPr sz="900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instruction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rest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8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Special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instructions</a:t>
            </a:r>
            <a:endParaRPr sz="1000">
              <a:latin typeface="Arial"/>
              <a:cs typeface="Arial"/>
            </a:endParaRPr>
          </a:p>
          <a:p>
            <a:pPr marL="303530" marR="210185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Control-sensitive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instruction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affect</a:t>
            </a:r>
            <a:r>
              <a:rPr sz="900" spc="-10" dirty="0">
                <a:latin typeface="Arial"/>
                <a:cs typeface="Arial"/>
              </a:rPr>
              <a:t> configuration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10" dirty="0">
                <a:latin typeface="Arial"/>
                <a:cs typeface="Arial"/>
              </a:rPr>
              <a:t> (e.g.,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affecting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relocation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interrupt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table).</a:t>
            </a:r>
            <a:endParaRPr sz="900">
              <a:latin typeface="Arial"/>
              <a:cs typeface="Arial"/>
            </a:endParaRPr>
          </a:p>
          <a:p>
            <a:pPr marL="299720" marR="337185" indent="-116839">
              <a:lnSpc>
                <a:spcPct val="102400"/>
              </a:lnSpc>
              <a:spcBef>
                <a:spcPts val="49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Behavior-sensitive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instruction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determined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1000" spc="-85" dirty="0">
                <a:latin typeface="Times New Roman"/>
                <a:cs typeface="Times New Roman"/>
              </a:rPr>
              <a:t>POPF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interrupt-</a:t>
            </a:r>
            <a:r>
              <a:rPr sz="900" dirty="0">
                <a:latin typeface="Arial"/>
                <a:cs typeface="Arial"/>
              </a:rPr>
              <a:t>enabled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flag,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11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Principle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30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Condition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063" y="471706"/>
            <a:ext cx="3942715" cy="24568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Necessary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condition</a:t>
            </a:r>
            <a:endParaRPr sz="1000">
              <a:latin typeface="Arial"/>
              <a:cs typeface="Arial"/>
            </a:endParaRPr>
          </a:p>
          <a:p>
            <a:pPr marL="28575" marR="177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any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conventional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computer,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virtual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machine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monitor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may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constructed </a:t>
            </a:r>
            <a:r>
              <a:rPr sz="900" i="1" dirty="0">
                <a:latin typeface="Arial"/>
                <a:cs typeface="Arial"/>
              </a:rPr>
              <a:t>if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sensitive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instructions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computer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subset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privileged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instructions.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condition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always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satisfied</a:t>
            </a:r>
            <a:endParaRPr sz="1000">
              <a:latin typeface="Arial"/>
              <a:cs typeface="Arial"/>
            </a:endParaRPr>
          </a:p>
          <a:p>
            <a:pPr marL="28575" marR="141605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sensitive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without </a:t>
            </a:r>
            <a:r>
              <a:rPr sz="900" dirty="0">
                <a:latin typeface="Arial"/>
                <a:cs typeface="Arial"/>
              </a:rPr>
              <a:t>causing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281940" indent="-121285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Emulate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</a:t>
            </a:r>
            <a:endParaRPr sz="900">
              <a:latin typeface="Arial"/>
              <a:cs typeface="Arial"/>
            </a:endParaRPr>
          </a:p>
          <a:p>
            <a:pPr marL="276225" indent="-11557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6860" algn="l"/>
              </a:tabLst>
            </a:pPr>
            <a:r>
              <a:rPr sz="900" dirty="0">
                <a:latin typeface="Arial"/>
                <a:cs typeface="Arial"/>
              </a:rPr>
              <a:t>Wrap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nonprivileged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sensitive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divert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VMM</a:t>
            </a:r>
            <a:endParaRPr sz="900">
              <a:latin typeface="Arial"/>
              <a:cs typeface="Arial"/>
            </a:endParaRPr>
          </a:p>
          <a:p>
            <a:pPr marL="281940" marR="1066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Paravirtualization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guest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either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nonprivileged sensitive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nonsensitive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context).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11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Principle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7600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Containers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1216" y="514263"/>
            <a:ext cx="2005494" cy="163865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181152"/>
            <a:ext cx="3830954" cy="109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60325" indent="-117475" algn="just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Namespaces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given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own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identifiers</a:t>
            </a:r>
            <a:endParaRPr sz="900">
              <a:latin typeface="Arial"/>
              <a:cs typeface="Arial"/>
            </a:endParaRPr>
          </a:p>
          <a:p>
            <a:pPr marL="153670" marR="147320" indent="-116205" algn="just">
              <a:lnSpc>
                <a:spcPct val="105600"/>
              </a:lnSpc>
              <a:spcBef>
                <a:spcPts val="65"/>
              </a:spcBef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file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combine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fashion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195" dirty="0">
                <a:latin typeface="Arial"/>
                <a:cs typeface="Arial"/>
              </a:rPr>
              <a:t> </a:t>
            </a:r>
            <a:r>
              <a:rPr sz="1000" spc="100" dirty="0">
                <a:latin typeface="Times New Roman"/>
                <a:cs typeface="Times New Roman"/>
              </a:rPr>
              <a:t>write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one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container).</a:t>
            </a:r>
            <a:endParaRPr sz="900">
              <a:latin typeface="Arial"/>
              <a:cs typeface="Arial"/>
            </a:endParaRPr>
          </a:p>
          <a:p>
            <a:pPr marL="158115" marR="30480" indent="-120650" algn="just">
              <a:lnSpc>
                <a:spcPct val="111600"/>
              </a:lnSpc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Control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groups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restrictions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spc="-10" dirty="0">
                <a:latin typeface="Arial"/>
                <a:cs typeface="Arial"/>
              </a:rPr>
              <a:t>processes.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314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Containers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30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15" dirty="0"/>
              <a:t> </a:t>
            </a:r>
            <a:r>
              <a:rPr spc="-10" dirty="0"/>
              <a:t>PlanetLab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99476"/>
            <a:ext cx="3919854" cy="150291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 dirty="0">
              <a:latin typeface="Arial"/>
              <a:cs typeface="Arial"/>
            </a:endParaRPr>
          </a:p>
          <a:p>
            <a:pPr marL="14604" marR="5080" indent="254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contribute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machines,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subsequently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share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for </a:t>
            </a:r>
            <a:r>
              <a:rPr sz="900" dirty="0">
                <a:latin typeface="Arial"/>
                <a:cs typeface="Arial"/>
              </a:rPr>
              <a:t>various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experiments.</a:t>
            </a:r>
            <a:endParaRPr sz="900" dirty="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 dirty="0">
              <a:latin typeface="Arial"/>
              <a:cs typeface="Arial"/>
            </a:endParaRPr>
          </a:p>
          <a:p>
            <a:pPr marL="17780" marR="5778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each </a:t>
            </a:r>
            <a:r>
              <a:rPr sz="900" spc="-10" dirty="0">
                <a:latin typeface="Arial"/>
                <a:cs typeface="Arial"/>
              </a:rPr>
              <a:t>other’s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virtualization</a:t>
            </a:r>
            <a:endParaRPr lang="en-US" sz="900" spc="-10" dirty="0">
              <a:solidFill>
                <a:srgbClr val="3333B2"/>
              </a:solidFill>
              <a:latin typeface="Arial"/>
              <a:cs typeface="Arial"/>
            </a:endParaRPr>
          </a:p>
          <a:p>
            <a:pPr marL="17780" marR="57785" indent="-5715">
              <a:lnSpc>
                <a:spcPts val="1210"/>
              </a:lnSpc>
              <a:spcBef>
                <a:spcPts val="35"/>
              </a:spcBef>
            </a:pPr>
            <a:endParaRPr lang="en-US" sz="900" spc="-10" dirty="0">
              <a:solidFill>
                <a:srgbClr val="3333B2"/>
              </a:solidFill>
              <a:latin typeface="Arial"/>
              <a:cs typeface="Arial"/>
            </a:endParaRPr>
          </a:p>
          <a:p>
            <a:pPr marL="17780" marR="57785" indent="-5715">
              <a:lnSpc>
                <a:spcPts val="1210"/>
              </a:lnSpc>
              <a:spcBef>
                <a:spcPts val="35"/>
              </a:spcBef>
            </a:pPr>
            <a:r>
              <a:rPr lang="en-US" sz="900" spc="-10" dirty="0">
                <a:solidFill>
                  <a:schemeClr val="tx1"/>
                </a:solidFill>
                <a:latin typeface="Arial"/>
                <a:cs typeface="Arial"/>
              </a:rPr>
              <a:t>It was developed for researchers to test and deploy their distributed applications.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314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Containers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754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PlanetLab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874" y="555366"/>
            <a:ext cx="2589507" cy="16552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128" y="2304057"/>
            <a:ext cx="393382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Vserver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protected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environment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libraries,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versions,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collection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vservers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distributed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across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multiple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machines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314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Containers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30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PlanetLab</a:t>
            </a:r>
            <a:r>
              <a:rPr spc="-45" dirty="0"/>
              <a:t> </a:t>
            </a:r>
            <a:r>
              <a:rPr dirty="0"/>
              <a:t>Vservers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slices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63048"/>
            <a:ext cx="3963035" cy="137350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0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environment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(cf.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chroot</a:t>
            </a:r>
            <a:r>
              <a:rPr sz="900" spc="4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0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Linux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enhancements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include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adjustment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(e.g.,</a:t>
            </a:r>
            <a:endParaRPr sz="9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25"/>
              </a:spcBef>
            </a:pPr>
            <a:r>
              <a:rPr sz="1000" spc="185" dirty="0">
                <a:latin typeface="Times New Roman"/>
                <a:cs typeface="Times New Roman"/>
              </a:rPr>
              <a:t>init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0).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ts val="1210"/>
              </a:lnSpc>
              <a:spcBef>
                <a:spcPts val="4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spc="-65" dirty="0">
                <a:latin typeface="Arial"/>
                <a:cs typeface="Arial"/>
              </a:rPr>
              <a:t>Two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ID, </a:t>
            </a:r>
            <a:r>
              <a:rPr sz="900" spc="-1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not </a:t>
            </a:r>
            <a:r>
              <a:rPr sz="900" dirty="0">
                <a:latin typeface="Arial"/>
                <a:cs typeface="Arial"/>
              </a:rPr>
              <a:t>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Separation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leads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slices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434" y="1935937"/>
            <a:ext cx="2266956" cy="11750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314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Containers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4482" y="-1515"/>
            <a:ext cx="390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Virtualization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1967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VMs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cloud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cloud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Infrastructure-as-a-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</a:t>
            </a:r>
            <a:r>
              <a:rPr sz="900" spc="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covering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basic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infrastructure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Platform-as-a-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covering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system-level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Software-as-a-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IaaS</a:t>
            </a:r>
            <a:endParaRPr sz="1000">
              <a:latin typeface="Arial"/>
              <a:cs typeface="Arial"/>
            </a:endParaRPr>
          </a:p>
          <a:p>
            <a:pPr marL="298450" marR="17780" indent="317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Instead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renting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cloud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VM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VMM)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customers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 </a:t>
            </a:r>
            <a:r>
              <a:rPr sz="900" dirty="0">
                <a:latin typeface="Arial"/>
                <a:cs typeface="Arial"/>
              </a:rPr>
              <a:t>almost</a:t>
            </a:r>
            <a:r>
              <a:rPr sz="900" spc="-10" dirty="0">
                <a:latin typeface="Arial"/>
                <a:cs typeface="Arial"/>
              </a:rPr>
              <a:t> complete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isolation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 customers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(although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isolation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reached).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5119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Application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virtual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machines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8521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interaction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application-level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middleware-level solutions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714" y="946870"/>
            <a:ext cx="1855637" cy="10633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7533" y="948135"/>
            <a:ext cx="1856902" cy="106335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57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Networked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user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interfaces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1869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X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Window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018" y="803844"/>
            <a:ext cx="3385207" cy="150398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57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Networked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user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interfaces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1869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X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Window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018" y="803844"/>
            <a:ext cx="3385207" cy="15039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128" y="2511372"/>
            <a:ext cx="387096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  <a:p>
            <a:pPr marL="16510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X-</a:t>
            </a:r>
            <a:r>
              <a:rPr sz="900" dirty="0">
                <a:latin typeface="Arial"/>
                <a:cs typeface="Arial"/>
              </a:rPr>
              <a:t>kernel,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server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client’s machine.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57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Networked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user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interfaces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37990" cy="2198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Improving</a:t>
            </a:r>
            <a:r>
              <a:rPr sz="1200" spc="-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Practical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555625" marR="457834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clear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user-interface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commands</a:t>
            </a:r>
            <a:endParaRPr sz="900">
              <a:latin typeface="Arial"/>
              <a:cs typeface="Arial"/>
            </a:endParaRPr>
          </a:p>
          <a:p>
            <a:pPr marL="555625" marR="12763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tightly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synchronous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manner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X</a:t>
            </a:r>
            <a:r>
              <a:rPr sz="900" spc="-10" dirty="0">
                <a:latin typeface="Arial"/>
                <a:cs typeface="Arial"/>
              </a:rPr>
              <a:t> kernel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333B2"/>
              </a:buClr>
              <a:buFont typeface="Menlo"/>
              <a:buChar char="•"/>
            </a:pPr>
            <a:endParaRPr sz="105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Alternative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approaches</a:t>
            </a:r>
            <a:endParaRPr sz="1000">
              <a:latin typeface="Arial"/>
              <a:cs typeface="Arial"/>
            </a:endParaRPr>
          </a:p>
          <a:p>
            <a:pPr marL="551815" marR="43180" indent="-116839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display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pixel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(e.g.,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VNC</a:t>
            </a:r>
            <a:r>
              <a:rPr sz="900" spc="-2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52450" marR="261620" indent="-11747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Provide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display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(dependent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video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drivers),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efficient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display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57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Networked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user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interfaces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Virtual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desktop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development</a:t>
            </a:r>
            <a:endParaRPr sz="1000">
              <a:latin typeface="Arial"/>
              <a:cs typeface="Arial"/>
            </a:endParaRPr>
          </a:p>
          <a:p>
            <a:pPr marL="289560" marR="30480" indent="-5715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question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premise?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Issue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ultimate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Answer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establish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seamless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experience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038" y="1569023"/>
            <a:ext cx="2514142" cy="15175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51736" y="3099188"/>
            <a:ext cx="13042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Google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Chromebook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8108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Virtual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desktop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environment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348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anatomy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browser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316" y="552665"/>
            <a:ext cx="3599362" cy="271957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8108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Virtual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desktop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environment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5805" y="-1515"/>
            <a:ext cx="219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71620" cy="1179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Generally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tailored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00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stubs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RPCs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Location/migration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side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stub: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885" y="1429459"/>
            <a:ext cx="3182008" cy="11493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0148" y="2649591"/>
            <a:ext cx="3681095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Failure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(we’re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trying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mask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failures).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67" y="3346954"/>
            <a:ext cx="13754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side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software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for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distribution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5600" cy="951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2641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260350" marR="5080" algn="just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subsequently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57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3022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298450" marR="43180" algn="just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subsequently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request.</a:t>
            </a:r>
            <a:endParaRPr sz="9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740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endParaRPr sz="1000">
              <a:latin typeface="Arial"/>
              <a:cs typeface="Arial"/>
            </a:endParaRPr>
          </a:p>
          <a:p>
            <a:pPr marL="555625" marR="29972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Iterative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attending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 </a:t>
            </a:r>
            <a:r>
              <a:rPr sz="900" spc="-10" dirty="0">
                <a:latin typeface="Arial"/>
                <a:cs typeface="Arial"/>
              </a:rPr>
              <a:t>request.</a:t>
            </a:r>
            <a:endParaRPr sz="900">
              <a:latin typeface="Arial"/>
              <a:cs typeface="Arial"/>
            </a:endParaRPr>
          </a:p>
          <a:p>
            <a:pPr marL="555625" marR="33718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Concurrent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dispatcher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incoming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thread/process.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16573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norm: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requests,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23469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Contacting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Observation: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most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specific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port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42174" y="794550"/>
          <a:ext cx="2317749" cy="84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3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ftp-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data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File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Transfer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[Default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Data]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ftp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File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Transfer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[Control]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telnet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Telnet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smtp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Simple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Mail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Transfer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www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80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(HTTP)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4" y="1859221"/>
            <a:ext cx="2979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Dynamically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assigning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point: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590" y="2331953"/>
            <a:ext cx="1761433" cy="7104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6869" y="2331953"/>
            <a:ext cx="1891212" cy="67284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5099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Out-of-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band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interrupt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accepting)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0179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Out-of-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band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interrupt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accepting)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request?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separate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port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urgent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thread/process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urgent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Urgent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associated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put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hold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Note: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supports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priority-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scheduling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27195" cy="229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Out-of-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band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431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interrupt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accepting)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request?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separate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port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urgent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thread/process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urgent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Urgent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associated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put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hold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Note: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supports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priority-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scheduling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2: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facilities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transport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Example: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TCP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urgent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connection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Urgent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caught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techniques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70045" cy="1461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Stateless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  <a:p>
            <a:pPr marL="289560" marR="250825">
              <a:lnSpc>
                <a:spcPts val="1210"/>
              </a:lnSpc>
              <a:spcBef>
                <a:spcPts val="40"/>
              </a:spcBef>
            </a:pP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having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request: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3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after access)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invalidate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client’s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95445" cy="247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Stateless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  <a:p>
            <a:pPr marL="302260" marR="263525">
              <a:lnSpc>
                <a:spcPts val="1210"/>
              </a:lnSpc>
              <a:spcBef>
                <a:spcPts val="40"/>
              </a:spcBef>
            </a:pP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having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request: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33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after access)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invalidate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client’s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Consequences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Clients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independent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inconsistencies </a:t>
            </a:r>
            <a:r>
              <a:rPr sz="900" dirty="0">
                <a:latin typeface="Arial"/>
                <a:cs typeface="Arial"/>
              </a:rPr>
              <a:t>due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crashes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reduced</a:t>
            </a:r>
            <a:endParaRPr sz="900">
              <a:latin typeface="Arial"/>
              <a:cs typeface="Arial"/>
            </a:endParaRPr>
          </a:p>
          <a:p>
            <a:pPr marL="555625" marR="9842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Possible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loss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because,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anticipate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(think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prefetching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00" y="197711"/>
            <a:ext cx="4220845" cy="2958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Stateless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  <a:p>
            <a:pPr marL="314960" marR="276225">
              <a:lnSpc>
                <a:spcPts val="1210"/>
              </a:lnSpc>
              <a:spcBef>
                <a:spcPts val="40"/>
              </a:spcBef>
            </a:pP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having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request:</a:t>
            </a:r>
            <a:endParaRPr sz="900">
              <a:latin typeface="Arial"/>
              <a:cs typeface="Arial"/>
            </a:endParaRPr>
          </a:p>
          <a:p>
            <a:pPr marL="568325" marR="55880" indent="-120650">
              <a:lnSpc>
                <a:spcPct val="111600"/>
              </a:lnSpc>
              <a:spcBef>
                <a:spcPts val="330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after access)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invalidate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client’s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Don’t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Consequences</a:t>
            </a:r>
            <a:endParaRPr sz="10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Clients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independent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689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inconsistencies </a:t>
            </a:r>
            <a:r>
              <a:rPr sz="900" dirty="0">
                <a:latin typeface="Arial"/>
                <a:cs typeface="Arial"/>
              </a:rPr>
              <a:t>due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crashes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reduced</a:t>
            </a:r>
            <a:endParaRPr sz="900">
              <a:latin typeface="Arial"/>
              <a:cs typeface="Arial"/>
            </a:endParaRPr>
          </a:p>
          <a:p>
            <a:pPr marL="568325" marR="11112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spc="-10" dirty="0">
                <a:latin typeface="Arial"/>
                <a:cs typeface="Arial"/>
              </a:rPr>
              <a:t>Possible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loss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because,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anticipate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(think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prefetching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blocks)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Does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connection-</a:t>
            </a:r>
            <a:r>
              <a:rPr sz="900" dirty="0">
                <a:latin typeface="Arial"/>
                <a:cs typeface="Arial"/>
              </a:rPr>
              <a:t>oriented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 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stateless </a:t>
            </a:r>
            <a:r>
              <a:rPr sz="900" spc="-10" dirty="0">
                <a:latin typeface="Arial"/>
                <a:cs typeface="Arial"/>
              </a:rPr>
              <a:t>design?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26865" cy="1155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Stateful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Keeps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clients: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Record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prefetching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done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Knows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1955" cy="194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Stateful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Keeps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Record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prefetching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done</a:t>
            </a:r>
            <a:endParaRPr sz="900">
              <a:latin typeface="Arial"/>
              <a:cs typeface="Arial"/>
            </a:endParaRPr>
          </a:p>
          <a:p>
            <a:pPr marL="555625" marR="10287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Knows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177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stateful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extremely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high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reliability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major problem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0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05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114" y="522793"/>
            <a:ext cx="1442960" cy="17204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65147" y="508384"/>
            <a:ext cx="228219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176530" indent="-116205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Activation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policy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take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in:</a:t>
            </a:r>
            <a:endParaRPr sz="900">
              <a:latin typeface="Arial"/>
              <a:cs typeface="Arial"/>
            </a:endParaRPr>
          </a:p>
          <a:p>
            <a:pPr marL="410845" marR="266700" lvl="1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406400" algn="l"/>
              </a:tabLst>
            </a:pP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object?</a:t>
            </a:r>
            <a:endParaRPr sz="900">
              <a:latin typeface="Arial"/>
              <a:cs typeface="Arial"/>
            </a:endParaRPr>
          </a:p>
          <a:p>
            <a:pPr marL="405765" lvl="1" indent="-11557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pos="406400" algn="l"/>
              </a:tabLst>
            </a:pP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use?</a:t>
            </a:r>
            <a:endParaRPr sz="900">
              <a:latin typeface="Arial"/>
              <a:cs typeface="Arial"/>
            </a:endParaRPr>
          </a:p>
          <a:p>
            <a:pPr marL="410845" lvl="1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411480" algn="l"/>
              </a:tabLst>
            </a:pPr>
            <a:r>
              <a:rPr sz="900" spc="-2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any?</a:t>
            </a:r>
            <a:endParaRPr sz="900">
              <a:latin typeface="Arial"/>
              <a:cs typeface="Arial"/>
            </a:endParaRPr>
          </a:p>
          <a:p>
            <a:pPr marL="158115" marR="20955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adapter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implements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 activation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policy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337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Object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051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Ice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runtime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–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605868"/>
            <a:ext cx="143002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190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2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sys,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Ice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Demo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PrinterI(Demo.Printer):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6399" y="1080381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035" y="1080381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>
                <a:moveTo>
                  <a:pt x="0" y="0"/>
                </a:moveTo>
                <a:lnTo>
                  <a:pt x="98398" y="0"/>
                </a:lnTo>
              </a:path>
            </a:pathLst>
          </a:custGeom>
          <a:ln w="4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7791" y="970257"/>
            <a:ext cx="101282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89230" marR="5080" indent="-177165">
              <a:lnSpc>
                <a:spcPts val="720"/>
              </a:lnSpc>
              <a:spcBef>
                <a:spcPts val="220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 </a:t>
            </a:r>
            <a:r>
              <a:rPr sz="700" spc="135" dirty="0">
                <a:latin typeface="Times New Roman"/>
                <a:cs typeface="Times New Roman"/>
              </a:rPr>
              <a:t>init</a:t>
            </a:r>
            <a:r>
              <a:rPr sz="700" spc="44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(self,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140" dirty="0">
                <a:latin typeface="Times New Roman"/>
                <a:cs typeface="Times New Roman"/>
              </a:rPr>
              <a:t>t): </a:t>
            </a:r>
            <a:r>
              <a:rPr sz="700" spc="130" dirty="0">
                <a:latin typeface="Times New Roman"/>
                <a:cs typeface="Times New Roman"/>
              </a:rPr>
              <a:t>self.t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170" dirty="0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465" y="980379"/>
            <a:ext cx="101600" cy="5721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791" y="1243548"/>
            <a:ext cx="176530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printString(self,</a:t>
            </a:r>
            <a:r>
              <a:rPr sz="700" spc="150" dirty="0">
                <a:latin typeface="Times New Roman"/>
                <a:cs typeface="Times New Roman"/>
              </a:rPr>
              <a:t> s,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current=None):</a:t>
            </a:r>
            <a:endParaRPr sz="700">
              <a:latin typeface="Times New Roman"/>
              <a:cs typeface="Times New Roman"/>
            </a:endParaRPr>
          </a:p>
          <a:p>
            <a:pPr marL="188595">
              <a:lnSpc>
                <a:spcPts val="780"/>
              </a:lnSpc>
            </a:pP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95" dirty="0">
                <a:latin typeface="Times New Roman"/>
                <a:cs typeface="Times New Roman"/>
              </a:rPr>
              <a:t>(self.t,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465" y="1502683"/>
            <a:ext cx="4256405" cy="9658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500" dirty="0">
                <a:latin typeface="Times New Roman"/>
                <a:cs typeface="Times New Roman"/>
              </a:rPr>
              <a:t>11</a:t>
            </a:r>
            <a:r>
              <a:rPr sz="500" spc="229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communicator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Ice.initialize(sys.argv)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13</a:t>
            </a:r>
            <a:r>
              <a:rPr sz="500" spc="465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adapter</a:t>
            </a:r>
            <a:r>
              <a:rPr sz="700" spc="3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communicator.createObjectAdapterWithEndpoints(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"SimpleAdapter"</a:t>
            </a:r>
            <a:r>
              <a:rPr sz="700" dirty="0">
                <a:latin typeface="Times New Roman"/>
                <a:cs typeface="Times New Roman"/>
              </a:rPr>
              <a:t>,</a:t>
            </a:r>
            <a:r>
              <a:rPr sz="700" spc="465" dirty="0"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"default</a:t>
            </a:r>
            <a:r>
              <a:rPr sz="700" spc="35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p</a:t>
            </a:r>
            <a:r>
              <a:rPr sz="700" spc="39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11000"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14</a:t>
            </a:r>
            <a:r>
              <a:rPr sz="500" spc="49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object1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PrinterI(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"Object1</a:t>
            </a:r>
            <a:r>
              <a:rPr sz="700" spc="9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says:"</a:t>
            </a:r>
            <a:r>
              <a:rPr sz="700" spc="7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15</a:t>
            </a:r>
            <a:r>
              <a:rPr sz="500" spc="49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object2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PrinterI(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"Object2</a:t>
            </a:r>
            <a:r>
              <a:rPr sz="700" spc="9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says:"</a:t>
            </a:r>
            <a:r>
              <a:rPr sz="700" spc="7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16</a:t>
            </a:r>
            <a:r>
              <a:rPr sz="500" spc="409" dirty="0">
                <a:latin typeface="Times New Roman"/>
                <a:cs typeface="Times New Roman"/>
              </a:rPr>
              <a:t>    </a:t>
            </a:r>
            <a:r>
              <a:rPr sz="700" spc="60" dirty="0">
                <a:latin typeface="Times New Roman"/>
                <a:cs typeface="Times New Roman"/>
              </a:rPr>
              <a:t>adapter.add(object1,</a:t>
            </a:r>
            <a:r>
              <a:rPr sz="700" spc="315" dirty="0">
                <a:latin typeface="Times New Roman"/>
                <a:cs typeface="Times New Roman"/>
              </a:rPr>
              <a:t>  </a:t>
            </a:r>
            <a:r>
              <a:rPr sz="700" spc="-10" dirty="0">
                <a:latin typeface="Times New Roman"/>
                <a:cs typeface="Times New Roman"/>
              </a:rPr>
              <a:t>communicator.stringToIdentity(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"SimplePrinter1"</a:t>
            </a:r>
            <a:r>
              <a:rPr sz="700" spc="-10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17</a:t>
            </a:r>
            <a:r>
              <a:rPr sz="500" spc="409" dirty="0">
                <a:latin typeface="Times New Roman"/>
                <a:cs typeface="Times New Roman"/>
              </a:rPr>
              <a:t>    </a:t>
            </a:r>
            <a:r>
              <a:rPr sz="700" spc="60" dirty="0">
                <a:latin typeface="Times New Roman"/>
                <a:cs typeface="Times New Roman"/>
              </a:rPr>
              <a:t>adapter.add(object2,</a:t>
            </a:r>
            <a:r>
              <a:rPr sz="700" spc="315" dirty="0">
                <a:latin typeface="Times New Roman"/>
                <a:cs typeface="Times New Roman"/>
              </a:rPr>
              <a:t>  </a:t>
            </a:r>
            <a:r>
              <a:rPr sz="700" spc="-10" dirty="0">
                <a:latin typeface="Times New Roman"/>
                <a:cs typeface="Times New Roman"/>
              </a:rPr>
              <a:t>communicator.stringToIdentity(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"SimplePrinter2"</a:t>
            </a:r>
            <a:r>
              <a:rPr sz="700" spc="-10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18</a:t>
            </a:r>
            <a:r>
              <a:rPr sz="500" spc="190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adapter.activate()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75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20</a:t>
            </a:r>
            <a:r>
              <a:rPr sz="500" spc="335" dirty="0">
                <a:latin typeface="Times New Roman"/>
                <a:cs typeface="Times New Roman"/>
              </a:rPr>
              <a:t>  </a:t>
            </a:r>
            <a:r>
              <a:rPr sz="700" spc="-10" dirty="0">
                <a:latin typeface="Times New Roman"/>
                <a:cs typeface="Times New Roman"/>
              </a:rPr>
              <a:t>communicator.waitForShutdown()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4337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Object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371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Ice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runtime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–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465" y="605868"/>
            <a:ext cx="3237230" cy="193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190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2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sys,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Ice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Demo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21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communicator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Ice.initialize(sys.argv)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350" dirty="0">
                <a:latin typeface="Times New Roman"/>
                <a:cs typeface="Times New Roman"/>
              </a:rPr>
              <a:t>   </a:t>
            </a:r>
            <a:r>
              <a:rPr sz="700" dirty="0">
                <a:latin typeface="Times New Roman"/>
                <a:cs typeface="Times New Roman"/>
              </a:rPr>
              <a:t>base1</a:t>
            </a:r>
            <a:r>
              <a:rPr sz="700" spc="17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48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communicator.stringToProxy(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"SimplePrinter1:default</a:t>
            </a:r>
            <a:r>
              <a:rPr sz="700" spc="4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p</a:t>
            </a:r>
            <a:r>
              <a:rPr sz="700" spc="165" dirty="0">
                <a:solidFill>
                  <a:srgbClr val="C80000"/>
                </a:solidFill>
                <a:latin typeface="Times New Roman"/>
                <a:cs typeface="Times New Roman"/>
              </a:rPr>
              <a:t> 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11000"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7</a:t>
            </a:r>
            <a:r>
              <a:rPr sz="500" spc="350" dirty="0">
                <a:latin typeface="Times New Roman"/>
                <a:cs typeface="Times New Roman"/>
              </a:rPr>
              <a:t>   </a:t>
            </a:r>
            <a:r>
              <a:rPr sz="700" dirty="0">
                <a:latin typeface="Times New Roman"/>
                <a:cs typeface="Times New Roman"/>
              </a:rPr>
              <a:t>base2</a:t>
            </a:r>
            <a:r>
              <a:rPr sz="700" spc="17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48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communicator.stringToProxy(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"SimplePrinter2:default</a:t>
            </a:r>
            <a:r>
              <a:rPr sz="700" spc="4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p</a:t>
            </a:r>
            <a:r>
              <a:rPr sz="700" spc="165" dirty="0">
                <a:solidFill>
                  <a:srgbClr val="C80000"/>
                </a:solidFill>
                <a:latin typeface="Times New Roman"/>
                <a:cs typeface="Times New Roman"/>
              </a:rPr>
              <a:t> 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11000"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8</a:t>
            </a:r>
            <a:r>
              <a:rPr sz="500" spc="395" dirty="0">
                <a:latin typeface="Times New Roman"/>
                <a:cs typeface="Times New Roman"/>
              </a:rPr>
              <a:t>  </a:t>
            </a:r>
            <a:r>
              <a:rPr sz="700" spc="80" dirty="0">
                <a:latin typeface="Times New Roman"/>
                <a:cs typeface="Times New Roman"/>
              </a:rPr>
              <a:t>printer1</a:t>
            </a:r>
            <a:r>
              <a:rPr sz="700" spc="3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2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Demo.PrinterPrx.checkedCast(base1)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9</a:t>
            </a:r>
            <a:r>
              <a:rPr sz="500" spc="395" dirty="0">
                <a:latin typeface="Times New Roman"/>
                <a:cs typeface="Times New Roman"/>
              </a:rPr>
              <a:t>  </a:t>
            </a:r>
            <a:r>
              <a:rPr sz="700" spc="80" dirty="0">
                <a:latin typeface="Times New Roman"/>
                <a:cs typeface="Times New Roman"/>
              </a:rPr>
              <a:t>printer2</a:t>
            </a:r>
            <a:r>
              <a:rPr sz="700" spc="3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2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Demo.PrinterPrx.checkedCast(base2)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10</a:t>
            </a:r>
            <a:r>
              <a:rPr sz="500" spc="465" dirty="0">
                <a:latin typeface="Times New Roman"/>
                <a:cs typeface="Times New Roman"/>
              </a:rPr>
              <a:t> 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(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not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printer1)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or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(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not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printer2):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tabLst>
                <a:tab pos="334010" algn="l"/>
              </a:tabLst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raise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RuntimeError(</a:t>
            </a:r>
            <a:r>
              <a:rPr sz="700" spc="45" dirty="0">
                <a:solidFill>
                  <a:srgbClr val="C80000"/>
                </a:solidFill>
                <a:latin typeface="Times New Roman"/>
                <a:cs typeface="Times New Roman"/>
              </a:rPr>
              <a:t>"Invalid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C80000"/>
                </a:solidFill>
                <a:latin typeface="Times New Roman"/>
                <a:cs typeface="Times New Roman"/>
              </a:rPr>
              <a:t>proxy"</a:t>
            </a:r>
            <a:r>
              <a:rPr sz="700" spc="4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13</a:t>
            </a:r>
            <a:r>
              <a:rPr sz="500" spc="215" dirty="0">
                <a:latin typeface="Times New Roman"/>
                <a:cs typeface="Times New Roman"/>
              </a:rPr>
              <a:t>  </a:t>
            </a:r>
            <a:r>
              <a:rPr sz="700" spc="70" dirty="0">
                <a:latin typeface="Times New Roman"/>
                <a:cs typeface="Times New Roman"/>
              </a:rPr>
              <a:t>printer1.printString(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"Hello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World</a:t>
            </a:r>
            <a:r>
              <a:rPr sz="700" spc="12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from</a:t>
            </a:r>
            <a:r>
              <a:rPr sz="700" spc="114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printer1!"</a:t>
            </a:r>
            <a:r>
              <a:rPr sz="700" spc="7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14</a:t>
            </a:r>
            <a:r>
              <a:rPr sz="500" spc="215" dirty="0">
                <a:latin typeface="Times New Roman"/>
                <a:cs typeface="Times New Roman"/>
              </a:rPr>
              <a:t>  </a:t>
            </a:r>
            <a:r>
              <a:rPr sz="700" spc="70" dirty="0">
                <a:latin typeface="Times New Roman"/>
                <a:cs typeface="Times New Roman"/>
              </a:rPr>
              <a:t>printer2.printString(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"Hello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World</a:t>
            </a:r>
            <a:r>
              <a:rPr sz="700" spc="12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from</a:t>
            </a:r>
            <a:r>
              <a:rPr sz="700" spc="114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printer2!"</a:t>
            </a:r>
            <a:r>
              <a:rPr sz="700" spc="7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75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16</a:t>
            </a:r>
            <a:r>
              <a:rPr sz="500" spc="335" dirty="0">
                <a:latin typeface="Times New Roman"/>
                <a:cs typeface="Times New Roman"/>
              </a:rPr>
              <a:t>  </a:t>
            </a:r>
            <a:r>
              <a:rPr sz="700" spc="-10" dirty="0">
                <a:latin typeface="Times New Roman"/>
                <a:cs typeface="Times New Roman"/>
              </a:rPr>
              <a:t>communicator.waitForShutdown()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/>
              <a:cs typeface="Times New Roman"/>
            </a:endParaRPr>
          </a:p>
          <a:p>
            <a:pPr marL="417195" marR="167005" indent="-6350">
              <a:lnSpc>
                <a:spcPct val="100000"/>
              </a:lnSpc>
              <a:tabLst>
                <a:tab pos="1382395" algn="l"/>
              </a:tabLst>
            </a:pPr>
            <a:r>
              <a:rPr sz="1000" i="1" dirty="0">
                <a:latin typeface="Arial"/>
                <a:cs typeface="Arial"/>
              </a:rPr>
              <a:t>Object1</a:t>
            </a:r>
            <a:r>
              <a:rPr sz="1000" i="1" spc="27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says: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55" dirty="0">
                <a:latin typeface="Arial"/>
                <a:cs typeface="Arial"/>
              </a:rPr>
              <a:t>Hello</a:t>
            </a:r>
            <a:r>
              <a:rPr sz="1000" i="1" spc="17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World</a:t>
            </a:r>
            <a:r>
              <a:rPr sz="1000" i="1" spc="18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from</a:t>
            </a:r>
            <a:r>
              <a:rPr sz="1000" i="1" spc="180" dirty="0">
                <a:latin typeface="Arial"/>
                <a:cs typeface="Arial"/>
              </a:rPr>
              <a:t> </a:t>
            </a:r>
            <a:r>
              <a:rPr sz="1000" i="1" spc="85" dirty="0">
                <a:latin typeface="Arial"/>
                <a:cs typeface="Arial"/>
              </a:rPr>
              <a:t>printer1! </a:t>
            </a:r>
            <a:r>
              <a:rPr sz="1000" i="1" dirty="0">
                <a:latin typeface="Arial"/>
                <a:cs typeface="Arial"/>
              </a:rPr>
              <a:t>Object2</a:t>
            </a:r>
            <a:r>
              <a:rPr sz="1000" i="1" spc="27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says: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-235" dirty="0">
                <a:latin typeface="Arial"/>
                <a:cs typeface="Arial"/>
              </a:rPr>
              <a:t> </a:t>
            </a:r>
            <a:r>
              <a:rPr sz="1000" i="1" spc="55" dirty="0">
                <a:latin typeface="Arial"/>
                <a:cs typeface="Arial"/>
              </a:rPr>
              <a:t>Hello</a:t>
            </a:r>
            <a:r>
              <a:rPr sz="1000" i="1" spc="18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World</a:t>
            </a:r>
            <a:r>
              <a:rPr sz="1000" i="1" spc="17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from</a:t>
            </a:r>
            <a:r>
              <a:rPr sz="1000" i="1" spc="180" dirty="0">
                <a:latin typeface="Arial"/>
                <a:cs typeface="Arial"/>
              </a:rPr>
              <a:t> </a:t>
            </a:r>
            <a:r>
              <a:rPr sz="1000" i="1" spc="85" dirty="0">
                <a:latin typeface="Arial"/>
                <a:cs typeface="Arial"/>
              </a:rPr>
              <a:t>printer2!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337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Object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93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Apache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782" y="564153"/>
            <a:ext cx="3362437" cy="216518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9186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Apache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Web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server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51511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tiers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Common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807" y="803957"/>
            <a:ext cx="3468410" cy="15186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763" y="2532492"/>
            <a:ext cx="3792854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Crucial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element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appropriate </a:t>
            </a:r>
            <a:r>
              <a:rPr sz="900" dirty="0">
                <a:latin typeface="Arial"/>
                <a:cs typeface="Arial"/>
              </a:rPr>
              <a:t>server: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dispatching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476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Server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clusters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5600" cy="105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Handling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spc="-1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from/to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cluster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bottleneck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solution:</a:t>
            </a:r>
            <a:r>
              <a:rPr sz="1000" spc="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TCP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handoff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3813" y="1329286"/>
            <a:ext cx="2239094" cy="132184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476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Server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clusters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80840" cy="2682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spread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Internet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0985" marR="5080" indent="317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Spreading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introduce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problems.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circumvented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 provider.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74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dispatching: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important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Common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approach: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DNS:</a:t>
            </a:r>
            <a:endParaRPr sz="900">
              <a:latin typeface="Arial"/>
              <a:cs typeface="Arial"/>
            </a:endParaRPr>
          </a:p>
          <a:p>
            <a:pPr marL="517525" marR="45720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-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part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  <a:p>
            <a:pPr marL="517525" marR="22225" indent="-158750">
              <a:lnSpc>
                <a:spcPct val="111600"/>
              </a:lnSpc>
              <a:spcBef>
                <a:spcPts val="5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DNS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transparency</a:t>
            </a:r>
            <a:endParaRPr sz="1000">
              <a:latin typeface="Arial"/>
              <a:cs typeface="Arial"/>
            </a:endParaRPr>
          </a:p>
          <a:p>
            <a:pPr marL="264160" marR="17145" indent="-3810">
              <a:lnSpc>
                <a:spcPct val="111600"/>
              </a:lnSpc>
              <a:spcBef>
                <a:spcPts val="175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unaware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4476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Server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clusters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714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simplified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Akamai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CDN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883" y="552834"/>
            <a:ext cx="3062371" cy="16615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476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Server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clusters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875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Servers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714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simplified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Akamai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CDN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883" y="552834"/>
            <a:ext cx="3062371" cy="1661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204" y="2290996"/>
            <a:ext cx="3917950" cy="7004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6510" algn="just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sophisticated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data. Much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code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origin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moved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as </a:t>
            </a:r>
            <a:r>
              <a:rPr sz="900" spc="-10" dirty="0">
                <a:latin typeface="Arial"/>
                <a:cs typeface="Arial"/>
              </a:rPr>
              <a:t>well.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476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Server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clusters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1477" y="-1515"/>
            <a:ext cx="453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10990" cy="1461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Reasons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migrate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Load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endParaRPr sz="1000">
              <a:latin typeface="Arial"/>
              <a:cs typeface="Arial"/>
            </a:endParaRPr>
          </a:p>
          <a:p>
            <a:pPr marL="555625" marR="103505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Ensuring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sufficiently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energy)</a:t>
            </a:r>
            <a:endParaRPr sz="900">
              <a:latin typeface="Arial"/>
              <a:cs typeface="Arial"/>
            </a:endParaRPr>
          </a:p>
          <a:p>
            <a:pPr marL="551180" marR="43180" indent="-116205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Minimizing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(think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Flexibility: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moving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needed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4795" y="1769173"/>
            <a:ext cx="2104826" cy="13339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3161253"/>
            <a:ext cx="34074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Avoids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pre-</a:t>
            </a:r>
            <a:r>
              <a:rPr sz="900" dirty="0">
                <a:latin typeface="Arial"/>
                <a:cs typeface="Arial"/>
              </a:rPr>
              <a:t>installing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increases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configuration.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962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Reasons for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migrating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code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601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Reasons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migrate</a:t>
            </a:r>
            <a:r>
              <a:rPr spc="-50" dirty="0"/>
              <a:t> </a:t>
            </a:r>
            <a:r>
              <a:rPr spc="-20"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1706"/>
            <a:ext cx="3916679" cy="8045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Privacy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endParaRPr sz="1000">
              <a:latin typeface="Arial"/>
              <a:cs typeface="Arial"/>
            </a:endParaRPr>
          </a:p>
          <a:p>
            <a:pPr marL="12700" marR="5080" indent="317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whatever </a:t>
            </a:r>
            <a:r>
              <a:rPr sz="900" spc="-10" dirty="0">
                <a:latin typeface="Arial"/>
                <a:cs typeface="Arial"/>
              </a:rPr>
              <a:t>reason </a:t>
            </a:r>
            <a:r>
              <a:rPr sz="900" dirty="0">
                <a:latin typeface="Arial"/>
                <a:cs typeface="Arial"/>
              </a:rPr>
              <a:t>(often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legal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ones).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federated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machine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3016" y="1390506"/>
            <a:ext cx="2667117" cy="157416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962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Reasons for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migrating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code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1477" y="-1515"/>
            <a:ext cx="453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865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Paradigms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mobility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449" y="565682"/>
            <a:ext cx="2786550" cy="266335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505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Models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for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code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1477" y="-1515"/>
            <a:ext cx="453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00" y="197711"/>
            <a:ext cx="4171315" cy="2783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Strong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weak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mobility</a:t>
            </a: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695"/>
              </a:spcBef>
              <a:buFont typeface="Menlo"/>
              <a:buChar char="•"/>
              <a:tabLst>
                <a:tab pos="5689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segment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code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Font typeface="Menlo"/>
              <a:buChar char="•"/>
              <a:tabLst>
                <a:tab pos="5689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segment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Font typeface="Menlo"/>
              <a:buChar char="•"/>
              <a:tabLst>
                <a:tab pos="56896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Execution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10" dirty="0">
                <a:latin typeface="Arial"/>
                <a:cs typeface="Arial"/>
              </a:rPr>
              <a:t> executing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object’s </a:t>
            </a:r>
            <a:r>
              <a:rPr sz="900" spc="-20" dirty="0">
                <a:latin typeface="Arial"/>
                <a:cs typeface="Arial"/>
              </a:rPr>
              <a:t>code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B2"/>
              </a:buClr>
              <a:buFont typeface="Menlo"/>
              <a:buChar char="•"/>
            </a:pPr>
            <a:endParaRPr sz="850">
              <a:latin typeface="Arial"/>
              <a:cs typeface="Arial"/>
            </a:endParaRPr>
          </a:p>
          <a:p>
            <a:pPr marL="314960" marR="380365" indent="-6350">
              <a:lnSpc>
                <a:spcPct val="1096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Weak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mobility:</a:t>
            </a:r>
            <a:r>
              <a:rPr sz="10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Move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segment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reboot execution)</a:t>
            </a:r>
            <a:endParaRPr sz="10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690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spc="-10" dirty="0">
                <a:latin typeface="Arial"/>
                <a:cs typeface="Arial"/>
              </a:rPr>
              <a:t>Relatively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especially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portable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shipping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(push)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fetching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(pull)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Strong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mobility: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Move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component,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including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execution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710"/>
              </a:spcBef>
              <a:buFont typeface="Menlo"/>
              <a:buChar char="•"/>
              <a:tabLst>
                <a:tab pos="5689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Migration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Font typeface="Menlo"/>
              <a:buChar char="•"/>
              <a:tabLst>
                <a:tab pos="5689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Cloning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clone,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505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Models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for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code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601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Migration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heterogeneous</a:t>
            </a:r>
            <a:r>
              <a:rPr spc="1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6494" y="514774"/>
            <a:ext cx="4001770" cy="228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124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3130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target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suitable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execute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migrated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endParaRPr sz="900">
              <a:latin typeface="Arial"/>
              <a:cs typeface="Arial"/>
            </a:endParaRPr>
          </a:p>
          <a:p>
            <a:pPr marL="316230" marR="431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3130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definition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process/thread/processor context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highly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dependent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on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hardware,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operating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runtime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Only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solution:</a:t>
            </a:r>
            <a:r>
              <a:rPr sz="1000" spc="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abstract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machine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implemented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on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different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platforms</a:t>
            </a:r>
            <a:endParaRPr sz="1000">
              <a:latin typeface="Arial"/>
              <a:cs typeface="Arial"/>
            </a:endParaRPr>
          </a:p>
          <a:p>
            <a:pPr marL="3162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Interpreted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languages,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effectively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VM</a:t>
            </a:r>
            <a:endParaRPr sz="900">
              <a:latin typeface="Arial"/>
              <a:cs typeface="Arial"/>
            </a:endParaRPr>
          </a:p>
          <a:p>
            <a:pPr marL="3124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313055" algn="l"/>
              </a:tabLst>
            </a:pPr>
            <a:r>
              <a:rPr sz="900" dirty="0">
                <a:latin typeface="Arial"/>
                <a:cs typeface="Arial"/>
              </a:rPr>
              <a:t>Virtual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monitors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63500" marR="4064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containers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directly</a:t>
            </a:r>
            <a:r>
              <a:rPr sz="900" spc="-10" dirty="0">
                <a:latin typeface="Arial"/>
                <a:cs typeface="Arial"/>
              </a:rPr>
              <a:t> dependent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 operating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their </a:t>
            </a:r>
            <a:r>
              <a:rPr sz="900" dirty="0">
                <a:latin typeface="Arial"/>
                <a:cs typeface="Arial"/>
              </a:rPr>
              <a:t>migration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heterogeneous environments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trivial,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simply </a:t>
            </a:r>
            <a:r>
              <a:rPr sz="900" dirty="0">
                <a:latin typeface="Arial"/>
                <a:cs typeface="Arial"/>
              </a:rPr>
              <a:t>impractical,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migration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407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Migration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heterogeneous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601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Migrating</a:t>
            </a:r>
            <a:r>
              <a:rPr dirty="0"/>
              <a:t> a virtual </a:t>
            </a:r>
            <a:r>
              <a:rPr spc="-10" dirty="0"/>
              <a:t>machine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514774"/>
            <a:ext cx="3917315" cy="142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Migrating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images: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alternatives</a:t>
            </a:r>
            <a:endParaRPr sz="1000">
              <a:latin typeface="Arial"/>
              <a:cs typeface="Arial"/>
            </a:endParaRPr>
          </a:p>
          <a:p>
            <a:pPr marL="265430" marR="8255" indent="-158750" algn="just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spc="-10" dirty="0">
                <a:latin typeface="Arial"/>
                <a:cs typeface="Arial"/>
              </a:rPr>
              <a:t>Pushing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memory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resending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migration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 marL="262890" marR="5080" indent="-155575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Stopping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migrate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new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  <a:p>
            <a:pPr marL="265430" marR="8890" indent="-1587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Letting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needed: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immediately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copy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memory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pages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spc="-10" dirty="0">
                <a:latin typeface="Arial"/>
                <a:cs typeface="Arial"/>
              </a:rPr>
              <a:t>demand.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407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Migration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heterogeneous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1477" y="-1515"/>
            <a:ext cx="453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Code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migration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077970" cy="120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migrating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virtual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machines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4160" marR="508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migration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seconds.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realize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migration,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unavailable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for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seconds.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Measurements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regarding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response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during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VM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migration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984" y="1510987"/>
            <a:ext cx="2130125" cy="13446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407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Migration</a:t>
            </a:r>
            <a:r>
              <a:rPr sz="500" spc="4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in</a:t>
            </a:r>
            <a:r>
              <a:rPr sz="500" spc="4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heterogeneous</a:t>
            </a:r>
            <a:r>
              <a:rPr sz="500" spc="4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</TotalTime>
  <Words>5173</Words>
  <Application>Microsoft Office PowerPoint</Application>
  <PresentationFormat>Custom</PresentationFormat>
  <Paragraphs>719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Menlo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Mimicking interfaces</vt:lpstr>
      <vt:lpstr>PowerPoint Presentation</vt:lpstr>
      <vt:lpstr>PowerPoint Presentation</vt:lpstr>
      <vt:lpstr>Condition for virtualization</vt:lpstr>
      <vt:lpstr>PowerPoint Presentation</vt:lpstr>
      <vt:lpstr>Example: PlanetLab</vt:lpstr>
      <vt:lpstr>PowerPoint Presentation</vt:lpstr>
      <vt:lpstr>PlanetLab Vservers and slices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Reasons to migrate code</vt:lpstr>
      <vt:lpstr>PowerPoint Presentation</vt:lpstr>
      <vt:lpstr>PowerPoint Presentation</vt:lpstr>
      <vt:lpstr>Migration in heterogeneous systems</vt:lpstr>
      <vt:lpstr>Migrating a virtual machine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4</cp:revision>
  <dcterms:created xsi:type="dcterms:W3CDTF">2023-04-27T06:04:42Z</dcterms:created>
  <dcterms:modified xsi:type="dcterms:W3CDTF">2025-01-20T15:04:14Z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