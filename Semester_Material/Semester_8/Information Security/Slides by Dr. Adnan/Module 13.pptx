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  <p:sldMasterId id="2147483674" r:id="rId2"/>
  </p:sldMasterIdLst>
  <p:notesMasterIdLst>
    <p:notesMasterId r:id="rId24"/>
  </p:notesMasterIdLst>
  <p:sldIdLst>
    <p:sldId id="263" r:id="rId3"/>
    <p:sldId id="507" r:id="rId4"/>
    <p:sldId id="520" r:id="rId5"/>
    <p:sldId id="521" r:id="rId6"/>
    <p:sldId id="522" r:id="rId7"/>
    <p:sldId id="523" r:id="rId8"/>
    <p:sldId id="524" r:id="rId9"/>
    <p:sldId id="525" r:id="rId10"/>
    <p:sldId id="527" r:id="rId11"/>
    <p:sldId id="526" r:id="rId12"/>
    <p:sldId id="528" r:id="rId13"/>
    <p:sldId id="529" r:id="rId14"/>
    <p:sldId id="530" r:id="rId15"/>
    <p:sldId id="531" r:id="rId16"/>
    <p:sldId id="534" r:id="rId17"/>
    <p:sldId id="533" r:id="rId18"/>
    <p:sldId id="532" r:id="rId19"/>
    <p:sldId id="535" r:id="rId20"/>
    <p:sldId id="536" r:id="rId21"/>
    <p:sldId id="496" r:id="rId22"/>
    <p:sldId id="260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  <a:srgbClr val="003300"/>
    <a:srgbClr val="959595"/>
    <a:srgbClr val="385D8A"/>
    <a:srgbClr val="C9E4CD"/>
    <a:srgbClr val="0AA1C5"/>
    <a:srgbClr val="54B7DF"/>
    <a:srgbClr val="52B6DE"/>
    <a:srgbClr val="465F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260" autoAdjust="0"/>
    <p:restoredTop sz="87583" autoAdjust="0"/>
  </p:normalViewPr>
  <p:slideViewPr>
    <p:cSldViewPr>
      <p:cViewPr>
        <p:scale>
          <a:sx n="77" d="100"/>
          <a:sy n="77" d="100"/>
        </p:scale>
        <p:origin x="-486" y="-4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94327F-8B66-4593-A96D-4C34C104BA71}" type="datetimeFigureOut">
              <a:rPr lang="en-US" smtClean="0"/>
              <a:t>2/9/2016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1BBE10-DA82-4B89-A9D0-B48EB606E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3850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3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 dirty="0" smtClean="0">
                <a:solidFill>
                  <a:prstClr val="black"/>
                </a:solidFill>
              </a:rPr>
              <a:t>Microsoft </a:t>
            </a:r>
            <a:r>
              <a:rPr lang="en-US" b="1" dirty="0" smtClean="0">
                <a:solidFill>
                  <a:prstClr val="black"/>
                </a:solidFill>
              </a:rPr>
              <a:t>Engineering Excellence</a:t>
            </a:r>
            <a:endParaRPr lang="en-US" dirty="0" smtClean="0">
              <a:solidFill>
                <a:prstClr val="black"/>
              </a:solidFill>
            </a:endParaRPr>
          </a:p>
        </p:txBody>
      </p:sp>
      <p:sp>
        <p:nvSpPr>
          <p:cNvPr id="43011" name="Rectangle 25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 dirty="0" smtClean="0">
                <a:solidFill>
                  <a:prstClr val="black"/>
                </a:solidFill>
              </a:rPr>
              <a:t>Microsoft Confidential</a:t>
            </a:r>
          </a:p>
        </p:txBody>
      </p:sp>
      <p:sp>
        <p:nvSpPr>
          <p:cNvPr id="43012" name="Rectangle 26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5FF76F4-FC11-42FE-9D94-04E3E6D16C06}" type="slidenum">
              <a:rPr lang="en-US" smtClean="0">
                <a:solidFill>
                  <a:prstClr val="black"/>
                </a:solidFill>
              </a:rPr>
              <a:pPr/>
              <a:t>21</a:t>
            </a:fld>
            <a:endParaRPr lang="en-US" dirty="0" smtClean="0">
              <a:solidFill>
                <a:prstClr val="black"/>
              </a:solidFill>
            </a:endParaRPr>
          </a:p>
        </p:txBody>
      </p:sp>
      <p:sp>
        <p:nvSpPr>
          <p:cNvPr id="4301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450850"/>
            <a:ext cx="6096000" cy="3429000"/>
          </a:xfrm>
          <a:ln/>
        </p:spPr>
      </p:sp>
      <p:sp>
        <p:nvSpPr>
          <p:cNvPr id="430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7492" y="4130103"/>
            <a:ext cx="6261652" cy="4603230"/>
          </a:xfrm>
          <a:noFill/>
          <a:ln/>
        </p:spPr>
        <p:txBody>
          <a:bodyPr/>
          <a:lstStyle/>
          <a:p>
            <a:pPr>
              <a:buFontTx/>
              <a:buNone/>
            </a:pPr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7610055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058" y="0"/>
            <a:ext cx="12133943" cy="687977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454400" y="2286001"/>
            <a:ext cx="8240299" cy="1470025"/>
          </a:xfrm>
        </p:spPr>
        <p:txBody>
          <a:bodyPr anchor="t"/>
          <a:lstStyle>
            <a:lvl1pPr algn="r">
              <a:defRPr b="1" cap="small" baseline="0">
                <a:solidFill>
                  <a:srgbClr val="003300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283200" y="4038600"/>
            <a:ext cx="6363371" cy="990600"/>
          </a:xfrm>
        </p:spPr>
        <p:txBody>
          <a:bodyPr>
            <a:normAutofit/>
          </a:bodyPr>
          <a:lstStyle>
            <a:lvl1pPr marL="0" indent="0" algn="r">
              <a:buNone/>
              <a:defRPr sz="2000" b="0">
                <a:solidFill>
                  <a:schemeClr val="tx1"/>
                </a:solidFill>
                <a:latin typeface="Georgia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251"/>
            <a:ext cx="4962157" cy="6858000"/>
          </a:xfrm>
          <a:prstGeom prst="rect">
            <a:avLst/>
          </a:prstGeom>
        </p:spPr>
      </p:pic>
      <p:sp>
        <p:nvSpPr>
          <p:cNvPr id="10" name="Picture Placeholder 9"/>
          <p:cNvSpPr>
            <a:spLocks noGrp="1"/>
          </p:cNvSpPr>
          <p:nvPr>
            <p:ph type="pic" sz="quarter" idx="13" hasCustomPrompt="1"/>
          </p:nvPr>
        </p:nvSpPr>
        <p:spPr>
          <a:xfrm>
            <a:off x="9144000" y="5105400"/>
            <a:ext cx="2438400" cy="990600"/>
          </a:xfrm>
        </p:spPr>
        <p:txBody>
          <a:bodyPr>
            <a:normAutofit/>
          </a:bodyPr>
          <a:lstStyle>
            <a:lvl1pPr marL="0" indent="0" algn="ctr">
              <a:buNone/>
              <a:defRPr sz="2000" baseline="0"/>
            </a:lvl1pPr>
          </a:lstStyle>
          <a:p>
            <a:r>
              <a:rPr lang="en-US" dirty="0" smtClean="0"/>
              <a:t>Company Logo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2743771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058" y="0"/>
            <a:ext cx="12133943" cy="687977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4684632" y="-4705653"/>
            <a:ext cx="2819400" cy="1223070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0" y="3048000"/>
            <a:ext cx="5791200" cy="1362075"/>
          </a:xfrm>
        </p:spPr>
        <p:txBody>
          <a:bodyPr anchor="b" anchorCtr="0">
            <a:normAutofit/>
          </a:bodyPr>
          <a:lstStyle>
            <a:lvl1pPr algn="ctr">
              <a:defRPr sz="3600" b="1" cap="small" baseline="0">
                <a:solidFill>
                  <a:srgbClr val="0AA1C5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2/9/2016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 hasCustomPrompt="1"/>
          </p:nvPr>
        </p:nvSpPr>
        <p:spPr>
          <a:xfrm>
            <a:off x="9042400" y="5334000"/>
            <a:ext cx="2844800" cy="9906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 dirty="0" smtClean="0"/>
              <a:t>Company Logo</a:t>
            </a:r>
            <a:endParaRPr lang="en-US" dirty="0"/>
          </a:p>
        </p:txBody>
      </p:sp>
      <p:sp>
        <p:nvSpPr>
          <p:cNvPr id="3" name="TextBox 2"/>
          <p:cNvSpPr txBox="1"/>
          <p:nvPr userDrawn="1"/>
        </p:nvSpPr>
        <p:spPr>
          <a:xfrm>
            <a:off x="6400800" y="959824"/>
            <a:ext cx="4673600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Lecture No 13</a:t>
            </a:r>
            <a:endParaRPr lang="en-US" sz="32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0526399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00" y="152401"/>
            <a:ext cx="11176000" cy="864207"/>
          </a:xfrm>
          <a:noFill/>
        </p:spPr>
        <p:txBody>
          <a:bodyPr lIns="182880" anchor="ctr" anchorCtr="0">
            <a:normAutofit/>
          </a:bodyPr>
          <a:lstStyle>
            <a:lvl1pPr algn="l">
              <a:defRPr lang="en-US" sz="3600" b="1" dirty="0">
                <a:solidFill>
                  <a:srgbClr val="0AA1C5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800" y="1169009"/>
            <a:ext cx="11176000" cy="5536592"/>
          </a:xfrm>
        </p:spPr>
        <p:txBody>
          <a:bodyPr tIns="91440" rIns="365760" bIns="91440">
            <a:normAutofit/>
          </a:bodyPr>
          <a:lstStyle>
            <a:lvl1pPr marL="457200" indent="-457200" algn="just">
              <a:buFont typeface="Wingdings" panose="05000000000000000000" pitchFamily="2" charset="2"/>
              <a:buChar char="q"/>
              <a:defRPr sz="240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806450" indent="-349250" algn="just">
              <a:buFont typeface="Wingdings" panose="05000000000000000000" pitchFamily="2" charset="2"/>
              <a:buChar char="q"/>
              <a:defRPr sz="200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1263650" indent="-349250" algn="just">
              <a:buFont typeface="Wingdings" panose="05000000000000000000" pitchFamily="2" charset="2"/>
              <a:buChar char="q"/>
              <a:defRPr sz="180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1720850" indent="-349250" algn="just">
              <a:buFont typeface="Wingdings" panose="05000000000000000000" pitchFamily="2" charset="2"/>
              <a:buChar char="q"/>
              <a:defRPr sz="160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2057400" indent="-228600" algn="just">
              <a:buFont typeface="Wingdings" panose="05000000000000000000" pitchFamily="2" charset="2"/>
              <a:buChar char="q"/>
              <a:defRPr sz="140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731520" y="990600"/>
            <a:ext cx="10241280" cy="0"/>
          </a:xfrm>
          <a:prstGeom prst="line">
            <a:avLst/>
          </a:prstGeom>
          <a:ln w="69850">
            <a:solidFill>
              <a:srgbClr val="0AA1C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0"/>
            <a:ext cx="1933127" cy="1280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273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24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2/9/2016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0812403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44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981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981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2/9/2016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4365601"/>
      </p:ext>
    </p:extLst>
  </p:cSld>
  <p:clrMapOvr>
    <a:masterClrMapping/>
  </p:clrMapOvr>
  <p:transition spd="slow">
    <p:wipe dir="d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15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2/9/2016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6869905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2/9/2016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4577532"/>
      </p:ext>
    </p:extLst>
  </p:cSld>
  <p:clrMapOvr>
    <a:masterClrMapping/>
  </p:clrMapOvr>
  <p:transition spd="slow">
    <p:wipe dir="d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2/9/2016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3825837"/>
      </p:ext>
    </p:extLst>
  </p:cSld>
  <p:clrMapOvr>
    <a:masterClrMapping/>
  </p:clrMapOvr>
  <p:transition spd="slow"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274639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16000" y="274639"/>
            <a:ext cx="78232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2/9/2016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7692983"/>
      </p:ext>
    </p:extLst>
  </p:cSld>
  <p:clrMapOvr>
    <a:masterClrMapping/>
  </p:clrMapOvr>
  <p:transition spd="slow"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2/9/2016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3776613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2/9/2016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6212440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ackground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058" y="0"/>
            <a:ext cx="12133943" cy="6879771"/>
          </a:xfrm>
          <a:prstGeom prst="rect">
            <a:avLst/>
          </a:prstGeom>
        </p:spPr>
      </p:pic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1016000" y="6356351"/>
            <a:ext cx="2844800" cy="365125"/>
          </a:xfrm>
        </p:spPr>
        <p:txBody>
          <a:bodyPr/>
          <a:lstStyle/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2/9/2016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470400" y="6356351"/>
            <a:ext cx="3860800" cy="365125"/>
          </a:xfrm>
        </p:spPr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40800" y="6356351"/>
            <a:ext cx="2844800" cy="365125"/>
          </a:xfrm>
        </p:spPr>
        <p:txBody>
          <a:bodyPr/>
          <a:lstStyle/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9427658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058" y="0"/>
            <a:ext cx="12133943" cy="687977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454400" y="2286001"/>
            <a:ext cx="8240299" cy="1470025"/>
          </a:xfrm>
        </p:spPr>
        <p:txBody>
          <a:bodyPr anchor="t">
            <a:normAutofit/>
          </a:bodyPr>
          <a:lstStyle>
            <a:lvl1pPr algn="r">
              <a:defRPr lang="en-US" sz="3600" b="1" kern="1200" cap="small" baseline="0" dirty="0">
                <a:solidFill>
                  <a:srgbClr val="0AA1C5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283200" y="4038600"/>
            <a:ext cx="6363371" cy="990600"/>
          </a:xfrm>
        </p:spPr>
        <p:txBody>
          <a:bodyPr>
            <a:normAutofit/>
          </a:bodyPr>
          <a:lstStyle>
            <a:lvl1pPr marL="0" indent="0" algn="r">
              <a:buNone/>
              <a:defRPr sz="2000" b="0">
                <a:solidFill>
                  <a:schemeClr val="tx1"/>
                </a:solidFill>
                <a:latin typeface="Georgia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251"/>
            <a:ext cx="4962157" cy="6858000"/>
          </a:xfrm>
          <a:prstGeom prst="rect">
            <a:avLst/>
          </a:prstGeom>
        </p:spPr>
      </p:pic>
      <p:sp>
        <p:nvSpPr>
          <p:cNvPr id="10" name="Picture Placeholder 9"/>
          <p:cNvSpPr>
            <a:spLocks noGrp="1"/>
          </p:cNvSpPr>
          <p:nvPr>
            <p:ph type="pic" sz="quarter" idx="13" hasCustomPrompt="1"/>
          </p:nvPr>
        </p:nvSpPr>
        <p:spPr>
          <a:xfrm>
            <a:off x="9144000" y="5105400"/>
            <a:ext cx="2438400" cy="990600"/>
          </a:xfrm>
        </p:spPr>
        <p:txBody>
          <a:bodyPr>
            <a:normAutofit/>
          </a:bodyPr>
          <a:lstStyle>
            <a:lvl1pPr marL="0" indent="0" algn="ctr">
              <a:buNone/>
              <a:defRPr sz="2000" baseline="0"/>
            </a:lvl1pPr>
          </a:lstStyle>
          <a:p>
            <a:r>
              <a:rPr lang="en-US" dirty="0" smtClean="0"/>
              <a:t>Company Logo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2219027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058" y="0"/>
            <a:ext cx="12133943" cy="687977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4684632" y="-4705653"/>
            <a:ext cx="2819400" cy="1223070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0" y="3048000"/>
            <a:ext cx="5791200" cy="1362075"/>
          </a:xfrm>
        </p:spPr>
        <p:txBody>
          <a:bodyPr anchor="b" anchorCtr="0">
            <a:normAutofit/>
          </a:bodyPr>
          <a:lstStyle>
            <a:lvl1pPr algn="l">
              <a:defRPr lang="en-US" sz="3600" b="1" kern="1200" cap="small" baseline="0" dirty="0">
                <a:solidFill>
                  <a:srgbClr val="0AA1C5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2/9/2016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 hasCustomPrompt="1"/>
          </p:nvPr>
        </p:nvSpPr>
        <p:spPr>
          <a:xfrm>
            <a:off x="9042400" y="5334000"/>
            <a:ext cx="2844800" cy="9906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 dirty="0" smtClean="0"/>
              <a:t>Company Logo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1602101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016000" y="269632"/>
            <a:ext cx="10769600" cy="1143000"/>
          </a:xfrm>
        </p:spPr>
        <p:txBody>
          <a:bodyPr anchor="ctr" anchorCtr="0"/>
          <a:lstStyle>
            <a:lvl1pPr algn="l">
              <a:defRPr lang="en-US" dirty="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6000" y="1596413"/>
            <a:ext cx="10769600" cy="4297363"/>
          </a:xfrm>
        </p:spPr>
        <p:txBody>
          <a:bodyPr>
            <a:normAutofit/>
          </a:bodyPr>
          <a:lstStyle>
            <a:lvl1pPr>
              <a:defRPr sz="32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400">
                <a:latin typeface="+mn-lt"/>
              </a:defRPr>
            </a:lvl4pPr>
            <a:lvl5pPr>
              <a:defRPr sz="2400">
                <a:latin typeface="+mn-lt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2/9/2016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40800" y="6356351"/>
            <a:ext cx="2844800" cy="365125"/>
          </a:xfrm>
        </p:spPr>
        <p:txBody>
          <a:bodyPr/>
          <a:lstStyle/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6746078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24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2/9/2016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4032952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44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981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981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2/9/2016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0045137"/>
      </p:ext>
    </p:extLst>
  </p:cSld>
  <p:clrMapOvr>
    <a:masterClrMapping/>
  </p:clrMapOvr>
  <p:transition spd="slow">
    <p:wipe dir="d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15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2/9/2016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0328163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2/9/2016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7435198"/>
      </p:ext>
    </p:extLst>
  </p:cSld>
  <p:clrMapOvr>
    <a:masterClrMapping/>
  </p:clrMapOvr>
  <p:transition spd="slow">
    <p:wipe dir="d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2/9/2016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2681826"/>
      </p:ext>
    </p:extLst>
  </p:cSld>
  <p:clrMapOvr>
    <a:masterClrMapping/>
  </p:clrMapOvr>
  <p:transition spd="slow">
    <p:wipe dir="d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274639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16000" y="274639"/>
            <a:ext cx="78232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2/9/2016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1622838"/>
      </p:ext>
    </p:extLst>
  </p:cSld>
  <p:clrMapOvr>
    <a:masterClrMapping/>
  </p:clrMapOvr>
  <p:transition spd="slow">
    <p:wipe dir="d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2/9/2016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8578478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2/9/2016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7961384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ackground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058" y="0"/>
            <a:ext cx="12133943" cy="6879771"/>
          </a:xfrm>
          <a:prstGeom prst="rect">
            <a:avLst/>
          </a:prstGeom>
        </p:spPr>
      </p:pic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1016000" y="6356351"/>
            <a:ext cx="2844800" cy="365125"/>
          </a:xfrm>
        </p:spPr>
        <p:txBody>
          <a:bodyPr/>
          <a:lstStyle/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2/9/2016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470400" y="6356351"/>
            <a:ext cx="3860800" cy="365125"/>
          </a:xfrm>
        </p:spPr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40800" y="6356351"/>
            <a:ext cx="2844800" cy="365125"/>
          </a:xfrm>
        </p:spPr>
        <p:txBody>
          <a:bodyPr/>
          <a:lstStyle/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2289949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058" y="0"/>
            <a:ext cx="12133943" cy="6879771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16000" y="274638"/>
            <a:ext cx="1076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0" y="1600201"/>
            <a:ext cx="1076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160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2/9/2016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4704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9408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203199" y="-109183"/>
            <a:ext cx="1091609" cy="7083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099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ransition spd="slow">
    <p:wipe dir="d"/>
  </p:transition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spcBef>
          <a:spcPct val="0"/>
        </a:spcBef>
        <a:buNone/>
        <a:defRPr lang="en-US" sz="4400" kern="1200" dirty="0" smtClean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058" y="0"/>
            <a:ext cx="12133943" cy="6879771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16000" y="274638"/>
            <a:ext cx="1076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0" y="1600201"/>
            <a:ext cx="1076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160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2/9/2016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4704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9408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203199" y="-109183"/>
            <a:ext cx="1091609" cy="7083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9623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ransition spd="slow">
    <p:wipe dir="d"/>
  </p:transition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spcBef>
          <a:spcPct val="0"/>
        </a:spcBef>
        <a:buNone/>
        <a:defRPr lang="en-US" sz="4400" kern="1200" dirty="0" smtClean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62200" y="3048001"/>
            <a:ext cx="8077200" cy="1362075"/>
          </a:xfrm>
        </p:spPr>
        <p:txBody>
          <a:bodyPr anchor="ctr">
            <a:normAutofit/>
          </a:bodyPr>
          <a:lstStyle/>
          <a:p>
            <a:r>
              <a:rPr lang="en-US" dirty="0"/>
              <a:t>VIRTUAL PRIVATE NETWORKS</a:t>
            </a:r>
          </a:p>
        </p:txBody>
      </p:sp>
    </p:spTree>
    <p:extLst>
      <p:ext uri="{BB962C8B-B14F-4D97-AF65-F5344CB8AC3E}">
        <p14:creationId xmlns:p14="http://schemas.microsoft.com/office/powerpoint/2010/main" val="754919721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Virtual Private Network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private network is pretty obvious</a:t>
            </a:r>
          </a:p>
          <a:p>
            <a:pPr lvl="1"/>
            <a:r>
              <a:rPr lang="en-US" dirty="0"/>
              <a:t>An Ethernet LAN (or WLAN) running in my building</a:t>
            </a:r>
          </a:p>
          <a:p>
            <a:pPr lvl="1"/>
            <a:r>
              <a:rPr lang="en-US" dirty="0"/>
              <a:t>An optical fiber running between two buildings</a:t>
            </a:r>
          </a:p>
          <a:p>
            <a:r>
              <a:rPr lang="en-US" dirty="0"/>
              <a:t>What is a non-private network?</a:t>
            </a:r>
          </a:p>
          <a:p>
            <a:pPr lvl="1"/>
            <a:r>
              <a:rPr lang="en-US" dirty="0"/>
              <a:t>Someone else’s network, the Internet</a:t>
            </a:r>
          </a:p>
          <a:p>
            <a:endParaRPr lang="en-US" dirty="0"/>
          </a:p>
          <a:p>
            <a:r>
              <a:rPr lang="en-US" dirty="0"/>
              <a:t>What do I do if I have offices in several cities?</a:t>
            </a:r>
          </a:p>
          <a:p>
            <a:pPr lvl="1"/>
            <a:r>
              <a:rPr lang="en-US" dirty="0"/>
              <a:t>And people working from home</a:t>
            </a:r>
          </a:p>
          <a:p>
            <a:pPr lvl="1"/>
            <a:r>
              <a:rPr lang="en-US" dirty="0"/>
              <a:t>And sales people working from who knows where</a:t>
            </a:r>
          </a:p>
          <a:p>
            <a:endParaRPr lang="en-US" dirty="0"/>
          </a:p>
          <a:p>
            <a:r>
              <a:rPr lang="en-US" dirty="0"/>
              <a:t>Can I run my own cables around the world?</a:t>
            </a:r>
          </a:p>
        </p:txBody>
      </p:sp>
    </p:spTree>
    <p:extLst>
      <p:ext uri="{BB962C8B-B14F-4D97-AF65-F5344CB8AC3E}">
        <p14:creationId xmlns:p14="http://schemas.microsoft.com/office/powerpoint/2010/main" val="930698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Virtual Private Network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 virtual  private  network  (VPN)  is  a  secure,  private  connection  through  a public network (or an otherwise insecure environment)</a:t>
            </a:r>
          </a:p>
          <a:p>
            <a:r>
              <a:rPr lang="en-US" dirty="0"/>
              <a:t>Traditionally,  businesses  have  relied  on  private  56-Kbps  or  T-1  leased  lines to connect remote offices together</a:t>
            </a:r>
          </a:p>
          <a:p>
            <a:r>
              <a:rPr lang="en-US" dirty="0"/>
              <a:t>Leased lines are expensive to install and maintain, for small companies, the cost is just too high</a:t>
            </a:r>
          </a:p>
          <a:p>
            <a:r>
              <a:rPr lang="en-US" dirty="0"/>
              <a:t>A   virtual   private   network   combines   the   relative   low-cost   of   using   the Internet with the privacy of a leased line</a:t>
            </a:r>
          </a:p>
          <a:p>
            <a:r>
              <a:rPr lang="en-US" dirty="0"/>
              <a:t>Using  the  Internet  as  a  backbone,  a  VPN  can  securely  and  cost  effectively connect   all   of   a   companies   offices,   telecommuters,   mobile   workers, customers, partners and suppliers</a:t>
            </a:r>
          </a:p>
        </p:txBody>
      </p:sp>
    </p:spTree>
    <p:extLst>
      <p:ext uri="{BB962C8B-B14F-4D97-AF65-F5344CB8AC3E}">
        <p14:creationId xmlns:p14="http://schemas.microsoft.com/office/powerpoint/2010/main" val="18875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Virtual Private Network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It allows you to secure your data as it travels over an insecure network such as the Internet</a:t>
            </a:r>
          </a:p>
          <a:p>
            <a:r>
              <a:rPr lang="en-US" dirty="0"/>
              <a:t>VPN  is  designed  to  allow  a  user  to  access  transparently  the  resources  of  a network</a:t>
            </a:r>
          </a:p>
          <a:p>
            <a:r>
              <a:rPr lang="en-US" dirty="0"/>
              <a:t>As far as	the user is concerned, they will be able to do anything they normally would be able to do, even when they are away from the network</a:t>
            </a:r>
          </a:p>
          <a:p>
            <a:r>
              <a:rPr lang="en-US" dirty="0"/>
              <a:t>Because of this, VPNs are popular with telecommuters and with offices that need to share resources over physically separate locations</a:t>
            </a:r>
          </a:p>
        </p:txBody>
      </p:sp>
    </p:spTree>
    <p:extLst>
      <p:ext uri="{BB962C8B-B14F-4D97-AF65-F5344CB8AC3E}">
        <p14:creationId xmlns:p14="http://schemas.microsoft.com/office/powerpoint/2010/main" val="2081993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Virtual Private Network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To send sensitive organization information across the Internet in such a way as to reduce  the need for leased lines and still maintain the confidentiality of the traffic, how do we separate our traffic from everyone else’s?</a:t>
            </a:r>
          </a:p>
          <a:p>
            <a:endParaRPr lang="en-US" dirty="0"/>
          </a:p>
          <a:p>
            <a:r>
              <a:rPr lang="en-US" dirty="0"/>
              <a:t>The short answer is that we use encryption</a:t>
            </a:r>
          </a:p>
          <a:p>
            <a:r>
              <a:rPr lang="en-US" dirty="0"/>
              <a:t>VPNs have several characteristics:</a:t>
            </a:r>
          </a:p>
          <a:p>
            <a:pPr lvl="1"/>
            <a:r>
              <a:rPr lang="en-US" dirty="0"/>
              <a:t>Traffic is encrypted so as to prevent eavesdropping</a:t>
            </a:r>
          </a:p>
          <a:p>
            <a:pPr lvl="1"/>
            <a:r>
              <a:rPr lang="en-US" dirty="0"/>
              <a:t>The remote site is authenticated</a:t>
            </a:r>
          </a:p>
          <a:p>
            <a:pPr lvl="1"/>
            <a:r>
              <a:rPr lang="en-US" dirty="0"/>
              <a:t>Multiple protocols are supported over the VPN</a:t>
            </a:r>
          </a:p>
          <a:p>
            <a:pPr lvl="1"/>
            <a:r>
              <a:rPr lang="en-US" dirty="0"/>
              <a:t>The connection is point to point</a:t>
            </a:r>
          </a:p>
        </p:txBody>
      </p:sp>
    </p:spTree>
    <p:extLst>
      <p:ext uri="{BB962C8B-B14F-4D97-AF65-F5344CB8AC3E}">
        <p14:creationId xmlns:p14="http://schemas.microsoft.com/office/powerpoint/2010/main" val="3946248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Virtual Private Network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u="sng" dirty="0"/>
              <a:t>User Authentication</a:t>
            </a:r>
          </a:p>
          <a:p>
            <a:pPr lvl="1"/>
            <a:r>
              <a:rPr lang="en-US" dirty="0" smtClean="0"/>
              <a:t>VPN must be able to verify user authentication and allow only authorized users to access the network</a:t>
            </a:r>
            <a:endParaRPr lang="en-US" dirty="0"/>
          </a:p>
          <a:p>
            <a:pPr marL="0" indent="0">
              <a:buNone/>
            </a:pPr>
            <a:r>
              <a:rPr lang="en-US" u="sng" dirty="0"/>
              <a:t>Address Management</a:t>
            </a:r>
          </a:p>
          <a:p>
            <a:pPr lvl="1"/>
            <a:r>
              <a:rPr lang="en-US" dirty="0"/>
              <a:t>Assign  addresses  to  clients  and  ensure  that  private  addresses  are  kept  private  on  the VPN</a:t>
            </a:r>
          </a:p>
          <a:p>
            <a:pPr marL="0" indent="0">
              <a:buNone/>
            </a:pPr>
            <a:r>
              <a:rPr lang="en-US" u="sng" dirty="0"/>
              <a:t>Data Encryption</a:t>
            </a:r>
          </a:p>
          <a:p>
            <a:pPr lvl="1"/>
            <a:r>
              <a:rPr lang="en-US" dirty="0"/>
              <a:t>Encrypt and decrypt the data to ensure that others do not have access to the data</a:t>
            </a:r>
          </a:p>
          <a:p>
            <a:pPr marL="0" indent="0">
              <a:buNone/>
            </a:pPr>
            <a:r>
              <a:rPr lang="en-US" u="sng" dirty="0"/>
              <a:t>Key Management</a:t>
            </a:r>
          </a:p>
          <a:p>
            <a:pPr lvl="1"/>
            <a:r>
              <a:rPr lang="en-US" dirty="0"/>
              <a:t>Keys,  required  for  encryption,  must  be  generated  and  refreshed  for  encryption  at  the</a:t>
            </a:r>
          </a:p>
          <a:p>
            <a:r>
              <a:rPr lang="en-US" dirty="0"/>
              <a:t>server and the client</a:t>
            </a:r>
          </a:p>
          <a:p>
            <a:pPr marL="0" indent="0">
              <a:buNone/>
            </a:pPr>
            <a:r>
              <a:rPr lang="en-US" u="sng" dirty="0"/>
              <a:t>Multi-protocol Support</a:t>
            </a:r>
          </a:p>
          <a:p>
            <a:pPr lvl="1"/>
            <a:r>
              <a:rPr lang="en-US" dirty="0"/>
              <a:t>The  VPN  technology  must  support  commons  protocols  on  the  Internet  such  as  IP,  IPX etc.</a:t>
            </a:r>
          </a:p>
        </p:txBody>
      </p:sp>
    </p:spTree>
    <p:extLst>
      <p:ext uri="{BB962C8B-B14F-4D97-AF65-F5344CB8AC3E}">
        <p14:creationId xmlns:p14="http://schemas.microsoft.com/office/powerpoint/2010/main" val="3705529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Virtual Private Network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 </a:t>
            </a:r>
            <a:r>
              <a:rPr lang="en-US" dirty="0"/>
              <a:t>well-designed VPN can greatly benefit a company</a:t>
            </a:r>
          </a:p>
          <a:p>
            <a:endParaRPr lang="en-US" dirty="0"/>
          </a:p>
          <a:p>
            <a:r>
              <a:rPr lang="en-US" dirty="0"/>
              <a:t>Cost Effective</a:t>
            </a:r>
          </a:p>
          <a:p>
            <a:r>
              <a:rPr lang="en-US" dirty="0"/>
              <a:t>Greater scalability</a:t>
            </a:r>
          </a:p>
          <a:p>
            <a:r>
              <a:rPr lang="en-US" dirty="0"/>
              <a:t>Improve productivity</a:t>
            </a:r>
          </a:p>
          <a:p>
            <a:r>
              <a:rPr lang="en-US" dirty="0"/>
              <a:t>Security</a:t>
            </a:r>
          </a:p>
          <a:p>
            <a:r>
              <a:rPr lang="en-US" dirty="0"/>
              <a:t>Mobility</a:t>
            </a:r>
          </a:p>
        </p:txBody>
      </p:sp>
    </p:spTree>
    <p:extLst>
      <p:ext uri="{BB962C8B-B14F-4D97-AF65-F5344CB8AC3E}">
        <p14:creationId xmlns:p14="http://schemas.microsoft.com/office/powerpoint/2010/main" val="643648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Virtual Private Network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VPN always consists of a point-to-point link known as a tunnel</a:t>
            </a:r>
          </a:p>
          <a:p>
            <a:r>
              <a:rPr lang="en-US" dirty="0"/>
              <a:t>Tunneling is the sending of messages of one protocol inside (that is, as the payload  of)  messages  of  another  protocol,  out  of  their  usual  protocol nesting sequence</a:t>
            </a:r>
          </a:p>
          <a:p>
            <a:r>
              <a:rPr lang="en-US" dirty="0"/>
              <a:t>The  tunnel  itself  occurs  over  the  insecure  network  which  is  usually  an Internet connection</a:t>
            </a:r>
          </a:p>
          <a:p>
            <a:r>
              <a:rPr lang="en-US" dirty="0"/>
              <a:t>A point-to-point link means that it is always between two computers which are referred to as peers</a:t>
            </a:r>
          </a:p>
          <a:p>
            <a:r>
              <a:rPr lang="en-US" dirty="0"/>
              <a:t>Each peer is responsible for encrypting the data before it enters the tunnel and decrypting the data as it leaves the tunnel</a:t>
            </a:r>
          </a:p>
        </p:txBody>
      </p:sp>
    </p:spTree>
    <p:extLst>
      <p:ext uri="{BB962C8B-B14F-4D97-AF65-F5344CB8AC3E}">
        <p14:creationId xmlns:p14="http://schemas.microsoft.com/office/powerpoint/2010/main" val="3550567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Virtual Private Network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object 3"/>
          <p:cNvSpPr/>
          <p:nvPr/>
        </p:nvSpPr>
        <p:spPr>
          <a:xfrm>
            <a:off x="2667000" y="1520952"/>
            <a:ext cx="7296911" cy="49560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61888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Virtual Private Network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To create VPNs three concepts are used</a:t>
            </a:r>
          </a:p>
          <a:p>
            <a:endParaRPr lang="en-US" dirty="0"/>
          </a:p>
          <a:p>
            <a:r>
              <a:rPr lang="en-US" b="1" u="sng" dirty="0"/>
              <a:t>Encapsulation (most important!!)</a:t>
            </a:r>
          </a:p>
          <a:p>
            <a:r>
              <a:rPr lang="en-US" b="1" u="sng" dirty="0"/>
              <a:t>Encryption (Optional but provides confidentiality)</a:t>
            </a:r>
          </a:p>
          <a:p>
            <a:r>
              <a:rPr lang="en-US" b="1" u="sng" dirty="0"/>
              <a:t>Authentication (Optional)</a:t>
            </a:r>
          </a:p>
        </p:txBody>
      </p:sp>
    </p:spTree>
    <p:extLst>
      <p:ext uri="{BB962C8B-B14F-4D97-AF65-F5344CB8AC3E}">
        <p14:creationId xmlns:p14="http://schemas.microsoft.com/office/powerpoint/2010/main" val="3581392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Virtual Private Network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Encapsulation</a:t>
            </a:r>
          </a:p>
          <a:p>
            <a:r>
              <a:rPr lang="en-US" dirty="0"/>
              <a:t>Encapsulation is the process of adding an additional header on top of data link or network layer headers</a:t>
            </a:r>
          </a:p>
          <a:p>
            <a:r>
              <a:rPr lang="en-US" dirty="0"/>
              <a:t>Encapsulation creates tunnels</a:t>
            </a:r>
          </a:p>
          <a:p>
            <a:r>
              <a:rPr lang="en-US" dirty="0" smtClean="0"/>
              <a:t>A tunnel</a:t>
            </a:r>
            <a:r>
              <a:rPr lang="en-US" dirty="0"/>
              <a:t>	</a:t>
            </a:r>
            <a:r>
              <a:rPr lang="en-US" dirty="0" smtClean="0"/>
              <a:t>is a virtual path across a network that delivers packets that are encapsulated (and </a:t>
            </a:r>
            <a:r>
              <a:rPr lang="en-US" dirty="0"/>
              <a:t>possibly encrypted)</a:t>
            </a:r>
          </a:p>
          <a:p>
            <a:r>
              <a:rPr lang="en-US" dirty="0"/>
              <a:t>Encapsulation makes inner header invisible for the public</a:t>
            </a:r>
          </a:p>
          <a:p>
            <a:r>
              <a:rPr lang="en-US" dirty="0"/>
              <a:t>For example, take an IP packet routed over an IPX network</a:t>
            </a:r>
            <a:endParaRPr lang="en-US" b="1" u="sng" dirty="0"/>
          </a:p>
        </p:txBody>
      </p:sp>
    </p:spTree>
    <p:extLst>
      <p:ext uri="{BB962C8B-B14F-4D97-AF65-F5344CB8AC3E}">
        <p14:creationId xmlns:p14="http://schemas.microsoft.com/office/powerpoint/2010/main" val="1472473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Virtual Private Network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smtClean="0"/>
              <a:t>Encryption</a:t>
            </a:r>
            <a:endParaRPr lang="en-US" b="1" dirty="0"/>
          </a:p>
          <a:p>
            <a:r>
              <a:rPr lang="en-US" dirty="0"/>
              <a:t>Encryption provides confidentiality for VPNs</a:t>
            </a:r>
          </a:p>
          <a:p>
            <a:r>
              <a:rPr lang="en-US" dirty="0"/>
              <a:t>You can either encrypt payload or header + payload</a:t>
            </a:r>
          </a:p>
          <a:p>
            <a:r>
              <a:rPr lang="en-US" dirty="0" smtClean="0"/>
              <a:t>Encryption uses an encryption key to scramble the data so it is non- </a:t>
            </a:r>
            <a:r>
              <a:rPr lang="en-US" dirty="0"/>
              <a:t>readable</a:t>
            </a:r>
          </a:p>
          <a:p>
            <a:r>
              <a:rPr lang="en-US" dirty="0"/>
              <a:t>Only  the  intended  users  who  posses  the  correct  key  can  decrypt  and  read</a:t>
            </a:r>
          </a:p>
          <a:p>
            <a:r>
              <a:rPr lang="en-US" dirty="0"/>
              <a:t>data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Authentication</a:t>
            </a:r>
          </a:p>
          <a:p>
            <a:r>
              <a:rPr lang="en-US" dirty="0"/>
              <a:t>Authentication is to allow only authorized users to access the network and use resources</a:t>
            </a:r>
            <a:endParaRPr lang="en-US" b="1" u="sng" dirty="0"/>
          </a:p>
        </p:txBody>
      </p:sp>
    </p:spTree>
    <p:extLst>
      <p:ext uri="{BB962C8B-B14F-4D97-AF65-F5344CB8AC3E}">
        <p14:creationId xmlns:p14="http://schemas.microsoft.com/office/powerpoint/2010/main" val="663560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Virtual Private Network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Types </a:t>
            </a:r>
            <a:r>
              <a:rPr lang="en-US" dirty="0"/>
              <a:t>of VPNs</a:t>
            </a:r>
          </a:p>
          <a:p>
            <a:endParaRPr lang="en-US" dirty="0"/>
          </a:p>
          <a:p>
            <a:r>
              <a:rPr lang="en-US" dirty="0"/>
              <a:t>There are two types of VPN services:</a:t>
            </a:r>
          </a:p>
          <a:p>
            <a:endParaRPr lang="en-US" dirty="0"/>
          </a:p>
          <a:p>
            <a:r>
              <a:rPr lang="en-US" u="sng" dirty="0"/>
              <a:t>Remote Access VPN</a:t>
            </a:r>
          </a:p>
          <a:p>
            <a:pPr lvl="1"/>
            <a:r>
              <a:rPr lang="en-US" dirty="0"/>
              <a:t>Mobile or Home-based users can use VPNs to access the corporate network</a:t>
            </a:r>
          </a:p>
          <a:p>
            <a:r>
              <a:rPr lang="en-US" u="sng" dirty="0"/>
              <a:t>Site to site VPN</a:t>
            </a:r>
          </a:p>
          <a:p>
            <a:pPr lvl="1"/>
            <a:r>
              <a:rPr lang="en-US" dirty="0"/>
              <a:t>VPN connections between fixed but geographically dispersed sites</a:t>
            </a:r>
            <a:endParaRPr lang="en-US" b="1" u="sng" dirty="0"/>
          </a:p>
        </p:txBody>
      </p:sp>
    </p:spTree>
    <p:extLst>
      <p:ext uri="{BB962C8B-B14F-4D97-AF65-F5344CB8AC3E}">
        <p14:creationId xmlns:p14="http://schemas.microsoft.com/office/powerpoint/2010/main" val="1197302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Virtual Private Network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u="sng" dirty="0" smtClean="0"/>
              <a:t>Remote-Access</a:t>
            </a:r>
            <a:endParaRPr lang="en-US" b="1" u="sng" dirty="0"/>
          </a:p>
          <a:p>
            <a:r>
              <a:rPr lang="en-US" dirty="0"/>
              <a:t>Also  called  a  Virtual  Private  Dial-up  Network  (VPDN),  is  a  user-to-LAN connection used by a company that has employees who need to connect to the private network from various remote locations</a:t>
            </a:r>
          </a:p>
          <a:p>
            <a:r>
              <a:rPr lang="en-US" dirty="0"/>
              <a:t>Typically,  a  corporation  that  wishes  to  set  up  a  large  remote-access  VPN provides  some  form  of  Internet  account  to  their  users  using  an  Internet service provider (ISP)</a:t>
            </a:r>
          </a:p>
          <a:p>
            <a:r>
              <a:rPr lang="en-US" dirty="0"/>
              <a:t>The  telecommuters  can  then  reach  the  Internet  via  ISP  and  use  their  VPN client software to access the corporate network</a:t>
            </a:r>
            <a:endParaRPr lang="en-US" b="1" u="sng" dirty="0"/>
          </a:p>
        </p:txBody>
      </p:sp>
    </p:spTree>
    <p:extLst>
      <p:ext uri="{BB962C8B-B14F-4D97-AF65-F5344CB8AC3E}">
        <p14:creationId xmlns:p14="http://schemas.microsoft.com/office/powerpoint/2010/main" val="1726791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Virtual Private Network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u="sng" dirty="0" smtClean="0"/>
              <a:t>Remote-Access</a:t>
            </a:r>
            <a:endParaRPr lang="en-US" b="1" u="sng" dirty="0"/>
          </a:p>
          <a:p>
            <a:r>
              <a:rPr lang="en-US" dirty="0"/>
              <a:t>A good example of a company that needs a remote-access VPN would be a large firm with hundreds of sales people in the field</a:t>
            </a:r>
          </a:p>
          <a:p>
            <a:r>
              <a:rPr lang="en-US" dirty="0"/>
              <a:t>Remote-access   VPNs   permit   secure,   encrypted   connections   between   a company's  private  network  and  remote  users  through  a  third-party  service provider</a:t>
            </a:r>
            <a:endParaRPr lang="en-US" b="1" u="sng" dirty="0"/>
          </a:p>
        </p:txBody>
      </p:sp>
    </p:spTree>
    <p:extLst>
      <p:ext uri="{BB962C8B-B14F-4D97-AF65-F5344CB8AC3E}">
        <p14:creationId xmlns:p14="http://schemas.microsoft.com/office/powerpoint/2010/main" val="2995459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Virtual Private Network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u="sng" dirty="0" smtClean="0"/>
              <a:t>Site-to-Site</a:t>
            </a:r>
            <a:endParaRPr lang="en-US" b="1" u="sng" dirty="0"/>
          </a:p>
          <a:p>
            <a:r>
              <a:rPr lang="en-US" dirty="0"/>
              <a:t>Through  the  use  of  dedicated  equipment  and  large-scale  encryption,  a company can connect multiple fixed sites over a public network such as the Internet</a:t>
            </a:r>
          </a:p>
          <a:p>
            <a:r>
              <a:rPr lang="en-US" dirty="0"/>
              <a:t>Each site needs only a local connection to the same public network, thereby saving money on long private leased-lines</a:t>
            </a:r>
          </a:p>
          <a:p>
            <a:r>
              <a:rPr lang="en-US" dirty="0"/>
              <a:t>Site-to-site VPNs can be further categorized into intranets or extranets</a:t>
            </a:r>
          </a:p>
          <a:p>
            <a:r>
              <a:rPr lang="en-US" dirty="0"/>
              <a:t>A site-to-site VPN built between offices of the same company is said to be an intranet VPN, while a VPN built to connect the company to its partner or customer is referred to as an extranet VPN</a:t>
            </a:r>
            <a:endParaRPr lang="en-US" b="1" u="sng" dirty="0"/>
          </a:p>
        </p:txBody>
      </p:sp>
    </p:spTree>
    <p:extLst>
      <p:ext uri="{BB962C8B-B14F-4D97-AF65-F5344CB8AC3E}">
        <p14:creationId xmlns:p14="http://schemas.microsoft.com/office/powerpoint/2010/main" val="1894533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Virtual Private Network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u="sng" dirty="0" smtClean="0"/>
              <a:t>VPN </a:t>
            </a:r>
            <a:r>
              <a:rPr lang="en-US" u="sng" dirty="0"/>
              <a:t>Protocols</a:t>
            </a:r>
          </a:p>
          <a:p>
            <a:endParaRPr lang="en-US" dirty="0"/>
          </a:p>
          <a:p>
            <a:r>
              <a:rPr lang="en-US" dirty="0"/>
              <a:t>Point-to-Point Tunneling Protocol (PPTP)</a:t>
            </a:r>
          </a:p>
          <a:p>
            <a:r>
              <a:rPr lang="en-US" dirty="0"/>
              <a:t>Layer 2 Tunneling Protocol (L2TP)</a:t>
            </a:r>
          </a:p>
          <a:p>
            <a:r>
              <a:rPr lang="en-US" dirty="0" err="1"/>
              <a:t>IPSec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PPTP and L2TP are used primarily for remote access, while </a:t>
            </a:r>
            <a:r>
              <a:rPr lang="en-US" dirty="0" err="1"/>
              <a:t>IPSec</a:t>
            </a:r>
            <a:r>
              <a:rPr lang="en-US" dirty="0"/>
              <a:t> is used </a:t>
            </a:r>
            <a:r>
              <a:rPr lang="en-US" dirty="0" smtClean="0"/>
              <a:t>for LAN </a:t>
            </a:r>
            <a:r>
              <a:rPr lang="en-US" dirty="0"/>
              <a:t>to LAN tunneling</a:t>
            </a:r>
            <a:endParaRPr lang="en-US" b="1" u="sng" dirty="0"/>
          </a:p>
        </p:txBody>
      </p:sp>
    </p:spTree>
    <p:extLst>
      <p:ext uri="{BB962C8B-B14F-4D97-AF65-F5344CB8AC3E}">
        <p14:creationId xmlns:p14="http://schemas.microsoft.com/office/powerpoint/2010/main" val="300219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Virtual Private Network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u="sng" dirty="0" smtClean="0"/>
              <a:t>IP </a:t>
            </a:r>
            <a:r>
              <a:rPr lang="en-US" u="sng" dirty="0"/>
              <a:t>Layer Security Protocol</a:t>
            </a:r>
          </a:p>
          <a:p>
            <a:r>
              <a:rPr lang="en-US" dirty="0"/>
              <a:t>Integrated directly into protocol stack, used to enhance IP with security</a:t>
            </a:r>
          </a:p>
          <a:p>
            <a:r>
              <a:rPr lang="en-US" dirty="0"/>
              <a:t>Defined as an extension to the network layer</a:t>
            </a:r>
          </a:p>
          <a:p>
            <a:r>
              <a:rPr lang="en-US" dirty="0"/>
              <a:t>Transparent to the above layers and application</a:t>
            </a:r>
          </a:p>
          <a:p>
            <a:endParaRPr lang="en-US" dirty="0"/>
          </a:p>
          <a:p>
            <a:r>
              <a:rPr lang="en-US" dirty="0"/>
              <a:t>Provides</a:t>
            </a:r>
          </a:p>
          <a:p>
            <a:pPr lvl="1"/>
            <a:r>
              <a:rPr lang="en-US" dirty="0"/>
              <a:t>confidentiality</a:t>
            </a:r>
          </a:p>
          <a:p>
            <a:pPr lvl="1"/>
            <a:r>
              <a:rPr lang="en-US" dirty="0"/>
              <a:t>integrity</a:t>
            </a:r>
          </a:p>
          <a:p>
            <a:pPr lvl="1"/>
            <a:r>
              <a:rPr lang="en-US" dirty="0"/>
              <a:t>authenticity</a:t>
            </a:r>
          </a:p>
          <a:p>
            <a:pPr lvl="1"/>
            <a:r>
              <a:rPr lang="en-US" dirty="0"/>
              <a:t>replay protection</a:t>
            </a:r>
          </a:p>
          <a:p>
            <a:pPr lvl="1"/>
            <a:r>
              <a:rPr lang="en-US" dirty="0"/>
              <a:t>DOS protection</a:t>
            </a:r>
            <a:endParaRPr lang="en-US" b="1" u="sng" dirty="0"/>
          </a:p>
        </p:txBody>
      </p:sp>
      <p:sp>
        <p:nvSpPr>
          <p:cNvPr id="4" name="object 4"/>
          <p:cNvSpPr/>
          <p:nvPr/>
        </p:nvSpPr>
        <p:spPr>
          <a:xfrm>
            <a:off x="6781800" y="2971800"/>
            <a:ext cx="4867656" cy="30571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0307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Virtual Private Network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u="sng" dirty="0" smtClean="0"/>
              <a:t>IP </a:t>
            </a:r>
            <a:r>
              <a:rPr lang="en-US" u="sng" dirty="0"/>
              <a:t>Layer Security Protocol</a:t>
            </a:r>
          </a:p>
          <a:p>
            <a:endParaRPr lang="en-US" dirty="0"/>
          </a:p>
          <a:p>
            <a:r>
              <a:rPr lang="en-US" dirty="0"/>
              <a:t>Consists of two protocols:</a:t>
            </a:r>
          </a:p>
          <a:p>
            <a:pPr lvl="1"/>
            <a:r>
              <a:rPr lang="en-US" sz="2400" b="1" dirty="0"/>
              <a:t>Encapsulating Security Payload (ESP)</a:t>
            </a:r>
          </a:p>
          <a:p>
            <a:pPr lvl="1"/>
            <a:r>
              <a:rPr lang="en-US" sz="2400" b="1" dirty="0"/>
              <a:t>Authentication Header (AH)</a:t>
            </a:r>
            <a:endParaRPr lang="en-US" b="1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AH is used for confidentiality, ESP is used for authentication and </a:t>
            </a:r>
            <a:r>
              <a:rPr lang="en-US" dirty="0" smtClean="0"/>
              <a:t>confidentiality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3074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Virtual Private Networks</a:t>
            </a:r>
          </a:p>
          <a:p>
            <a:pPr marL="0" indent="0">
              <a:buNone/>
            </a:pPr>
            <a:r>
              <a:rPr lang="en-US" sz="2000" dirty="0"/>
              <a:t>http://en.wikipedia.org/wiki/Virtual_private_network</a:t>
            </a:r>
          </a:p>
          <a:p>
            <a:endParaRPr lang="en-US" sz="2000" dirty="0"/>
          </a:p>
          <a:p>
            <a:r>
              <a:rPr lang="en-US" sz="2000" dirty="0"/>
              <a:t>Security &amp; Savings with Virtual Private Networks</a:t>
            </a:r>
          </a:p>
          <a:p>
            <a:pPr marL="0" indent="0">
              <a:buNone/>
            </a:pPr>
            <a:r>
              <a:rPr lang="en-US" sz="2000" dirty="0"/>
              <a:t>http://tools.netgear.com/media/whitepapers/VPN_Security.pdf</a:t>
            </a:r>
          </a:p>
          <a:p>
            <a:endParaRPr lang="en-US" sz="2000" dirty="0"/>
          </a:p>
          <a:p>
            <a:r>
              <a:rPr lang="en-US" sz="2000" dirty="0"/>
              <a:t>Why you should start using Virtual Private Networks</a:t>
            </a:r>
          </a:p>
          <a:p>
            <a:pPr marL="0" indent="0">
              <a:buNone/>
            </a:pPr>
            <a:r>
              <a:rPr lang="en-US" sz="2000" dirty="0"/>
              <a:t>http://lifehacker.com/5940565/why-you-should-start-using-a-vpn-and-how-to-choose-the-best-one-for- your-needs</a:t>
            </a:r>
          </a:p>
          <a:p>
            <a:endParaRPr lang="en-US" sz="2000" dirty="0"/>
          </a:p>
          <a:p>
            <a:r>
              <a:rPr lang="en-US" sz="2000" dirty="0"/>
              <a:t>“Network Security: A Beginner’s Guide”, by Eric </a:t>
            </a:r>
            <a:r>
              <a:rPr lang="en-US" sz="2000" dirty="0" err="1"/>
              <a:t>Maiwald</a:t>
            </a:r>
            <a:r>
              <a:rPr lang="en-US" sz="2000" dirty="0"/>
              <a:t>, CISSP (chapter 10)</a:t>
            </a:r>
          </a:p>
        </p:txBody>
      </p:sp>
    </p:spTree>
    <p:extLst>
      <p:ext uri="{BB962C8B-B14F-4D97-AF65-F5344CB8AC3E}">
        <p14:creationId xmlns:p14="http://schemas.microsoft.com/office/powerpoint/2010/main" val="150477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594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solidFill>
                  <a:srgbClr val="0070C0"/>
                </a:solidFill>
              </a:rPr>
              <a:t>THANKS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7804315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c48BxRTjzwKhAarpC8SPOi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GFUQynbDZ7CnnKAa7cx9MM"/>
</p:tagLst>
</file>

<file path=ppt/theme/theme1.xml><?xml version="1.0" encoding="utf-8"?>
<a:theme xmlns:a="http://schemas.openxmlformats.org/drawingml/2006/main" name="Training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Training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3894</TotalTime>
  <Words>1084</Words>
  <Application>Microsoft Office PowerPoint</Application>
  <PresentationFormat>Custom</PresentationFormat>
  <Paragraphs>154</Paragraphs>
  <Slides>21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23" baseType="lpstr">
      <vt:lpstr>Training</vt:lpstr>
      <vt:lpstr>1_Training</vt:lpstr>
      <vt:lpstr>VIRTUAL PRIVATE NETWORKS</vt:lpstr>
      <vt:lpstr>Virtual Private Network</vt:lpstr>
      <vt:lpstr>Virtual Private Network</vt:lpstr>
      <vt:lpstr>Virtual Private Network</vt:lpstr>
      <vt:lpstr>Virtual Private Network</vt:lpstr>
      <vt:lpstr>Virtual Private Network</vt:lpstr>
      <vt:lpstr>Virtual Private Network</vt:lpstr>
      <vt:lpstr>Virtual Private Network</vt:lpstr>
      <vt:lpstr>Virtual Private Network</vt:lpstr>
      <vt:lpstr>Virtual Private Network</vt:lpstr>
      <vt:lpstr>Virtual Private Network</vt:lpstr>
      <vt:lpstr>Virtual Private Network</vt:lpstr>
      <vt:lpstr>Virtual Private Network</vt:lpstr>
      <vt:lpstr>Virtual Private Network</vt:lpstr>
      <vt:lpstr>Virtual Private Network</vt:lpstr>
      <vt:lpstr>Virtual Private Network</vt:lpstr>
      <vt:lpstr>Virtual Private Network</vt:lpstr>
      <vt:lpstr>Virtual Private Network</vt:lpstr>
      <vt:lpstr>Virtual Private Network</vt:lpstr>
      <vt:lpstr>References</vt:lpstr>
      <vt:lpstr>THANKS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Computing</dc:title>
  <dc:creator>Muhammad Sharjeel</dc:creator>
  <cp:lastModifiedBy>Dr. Ahmad</cp:lastModifiedBy>
  <cp:revision>2133</cp:revision>
  <dcterms:created xsi:type="dcterms:W3CDTF">2011-02-16T18:06:57Z</dcterms:created>
  <dcterms:modified xsi:type="dcterms:W3CDTF">2016-02-09T08:46:53Z</dcterms:modified>
</cp:coreProperties>
</file>