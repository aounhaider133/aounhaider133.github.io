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1"/>
  </p:notes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90" r:id="rId17"/>
    <p:sldId id="287" r:id="rId18"/>
    <p:sldId id="291" r:id="rId19"/>
    <p:sldId id="292" r:id="rId20"/>
    <p:sldId id="293" r:id="rId21"/>
    <p:sldId id="288" r:id="rId22"/>
    <p:sldId id="294" r:id="rId23"/>
    <p:sldId id="295" r:id="rId24"/>
    <p:sldId id="296" r:id="rId25"/>
    <p:sldId id="289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278" r:id="rId42"/>
    <p:sldId id="279" r:id="rId43"/>
    <p:sldId id="280" r:id="rId44"/>
    <p:sldId id="281" r:id="rId45"/>
    <p:sldId id="282" r:id="rId46"/>
    <p:sldId id="283" r:id="rId47"/>
    <p:sldId id="284" r:id="rId48"/>
    <p:sldId id="285" r:id="rId49"/>
    <p:sldId id="286" r:id="rId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29" autoAdjust="0"/>
    <p:restoredTop sz="94660"/>
  </p:normalViewPr>
  <p:slideViewPr>
    <p:cSldViewPr>
      <p:cViewPr varScale="1">
        <p:scale>
          <a:sx n="67" d="100"/>
          <a:sy n="67" d="100"/>
        </p:scale>
        <p:origin x="-156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AE78FE-00C9-4A58-BF46-4EDE42E8C1A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22F278-6036-4BEA-8F07-CC54B3F9A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223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726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3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>
                <a:solidFill>
                  <a:prstClr val="black"/>
                </a:solidFill>
              </a:rPr>
              <a:t>Microsoft </a:t>
            </a:r>
            <a:r>
              <a:rPr lang="en-US" b="1" dirty="0" smtClean="0">
                <a:solidFill>
                  <a:prstClr val="black"/>
                </a:solidFill>
              </a:rPr>
              <a:t>Engineering Excellence</a:t>
            </a:r>
            <a:endParaRPr lang="en-US" dirty="0" smtClean="0">
              <a:solidFill>
                <a:prstClr val="black"/>
              </a:solidFill>
            </a:endParaRPr>
          </a:p>
        </p:txBody>
      </p:sp>
      <p:sp>
        <p:nvSpPr>
          <p:cNvPr id="43011" name="Rectangle 25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>
                <a:solidFill>
                  <a:prstClr val="black"/>
                </a:solidFill>
              </a:rPr>
              <a:t>Microsoft Confidential</a:t>
            </a:r>
          </a:p>
        </p:txBody>
      </p:sp>
      <p:sp>
        <p:nvSpPr>
          <p:cNvPr id="43012" name="Rectangle 26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FF76F4-FC11-42FE-9D94-04E3E6D16C06}" type="slidenum">
              <a:rPr lang="en-US" smtClean="0">
                <a:solidFill>
                  <a:prstClr val="black"/>
                </a:solidFill>
              </a:rPr>
              <a:pPr/>
              <a:t>48</a:t>
            </a:fld>
            <a:endParaRPr lang="en-US" dirty="0" smtClean="0">
              <a:solidFill>
                <a:prstClr val="black"/>
              </a:solidFill>
            </a:endParaRPr>
          </a:p>
        </p:txBody>
      </p:sp>
      <p:sp>
        <p:nvSpPr>
          <p:cNvPr id="430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450850"/>
            <a:ext cx="6096000" cy="3429000"/>
          </a:xfrm>
          <a:ln/>
        </p:spPr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492" y="4130103"/>
            <a:ext cx="6261652" cy="4603230"/>
          </a:xfrm>
          <a:noFill/>
          <a:ln/>
        </p:spPr>
        <p:txBody>
          <a:bodyPr/>
          <a:lstStyle/>
          <a:p>
            <a:pPr>
              <a:buFontTx/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761005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90801" y="2286002"/>
            <a:ext cx="6180224" cy="1470025"/>
          </a:xfrm>
        </p:spPr>
        <p:txBody>
          <a:bodyPr anchor="t"/>
          <a:lstStyle>
            <a:lvl1pPr algn="r">
              <a:defRPr b="1" cap="small" baseline="0">
                <a:solidFill>
                  <a:srgbClr val="0033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401" y="4038600"/>
            <a:ext cx="4772528" cy="990600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251"/>
            <a:ext cx="3721618" cy="6858000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5105400"/>
            <a:ext cx="1828800" cy="990600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/>
            </a:lvl1pPr>
          </a:lstStyle>
          <a:p>
            <a:r>
              <a:rPr lang="en-US" dirty="0" smtClean="0"/>
              <a:t>Company 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277189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161049" y="-3176815"/>
            <a:ext cx="2819400" cy="91730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3048000"/>
            <a:ext cx="4343400" cy="1362075"/>
          </a:xfrm>
        </p:spPr>
        <p:txBody>
          <a:bodyPr anchor="b" anchorCtr="0">
            <a:normAutofit/>
          </a:bodyPr>
          <a:lstStyle>
            <a:lvl1pPr algn="ctr">
              <a:defRPr sz="3600" b="1" cap="small" baseline="0">
                <a:solidFill>
                  <a:srgbClr val="0AA1C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781800" y="5334000"/>
            <a:ext cx="2133600" cy="9906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 smtClean="0"/>
              <a:t>Company Logo</a:t>
            </a:r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4800600" y="959825"/>
            <a:ext cx="350520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Module # 2</a:t>
            </a:r>
            <a:endParaRPr lang="en-US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071741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52402"/>
            <a:ext cx="8382000" cy="864207"/>
          </a:xfrm>
          <a:noFill/>
        </p:spPr>
        <p:txBody>
          <a:bodyPr lIns="182880" anchor="ctr" anchorCtr="0">
            <a:normAutofit/>
          </a:bodyPr>
          <a:lstStyle>
            <a:lvl1pPr algn="l">
              <a:defRPr lang="en-US" sz="3600" b="1" dirty="0">
                <a:solidFill>
                  <a:srgbClr val="0AA1C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69009"/>
            <a:ext cx="8382000" cy="5536592"/>
          </a:xfrm>
        </p:spPr>
        <p:txBody>
          <a:bodyPr tIns="91440" rIns="365760" bIns="91440">
            <a:normAutofit/>
          </a:bodyPr>
          <a:lstStyle>
            <a:lvl1pPr marL="457200" indent="-457200" algn="just">
              <a:buFont typeface="Wingdings" panose="05000000000000000000" pitchFamily="2" charset="2"/>
              <a:buChar char="q"/>
              <a:defRPr sz="24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806450" indent="-349250" algn="just">
              <a:buFont typeface="Wingdings" panose="05000000000000000000" pitchFamily="2" charset="2"/>
              <a:buChar char="q"/>
              <a:defRPr sz="20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1263650" indent="-349250" algn="just">
              <a:buFont typeface="Wingdings" panose="05000000000000000000" pitchFamily="2" charset="2"/>
              <a:buChar char="q"/>
              <a:defRPr sz="18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720850" indent="-349250" algn="just">
              <a:buFont typeface="Wingdings" panose="05000000000000000000" pitchFamily="2" charset="2"/>
              <a:buChar char="q"/>
              <a:defRPr sz="16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2057400" indent="-228600" algn="just">
              <a:buFont typeface="Wingdings" panose="05000000000000000000" pitchFamily="2" charset="2"/>
              <a:buChar char="q"/>
              <a:defRPr sz="14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48640" y="990600"/>
            <a:ext cx="7680960" cy="0"/>
          </a:xfrm>
          <a:prstGeom prst="line">
            <a:avLst/>
          </a:prstGeom>
          <a:ln w="69850">
            <a:solidFill>
              <a:srgbClr val="0AA1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1" y="0"/>
            <a:ext cx="1449845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26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9383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36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36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1592812"/>
      </p:ext>
    </p:extLst>
  </p:cSld>
  <p:clrMapOvr>
    <a:masterClrMapping/>
  </p:clrMapOvr>
  <p:transition spd="slow">
    <p:wipe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36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080146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469362"/>
      </p:ext>
    </p:extLst>
  </p:cSld>
  <p:clrMapOvr>
    <a:masterClrMapping/>
  </p:clrMapOvr>
  <p:transition spd="slow">
    <p:wipe dir="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8985139"/>
      </p:ext>
    </p:extLst>
  </p:cSld>
  <p:clrMapOvr>
    <a:masterClrMapping/>
  </p:clrMapOvr>
  <p:transition spd="slow">
    <p:wipe dir="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274640"/>
            <a:ext cx="5867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5099601"/>
      </p:ext>
    </p:extLst>
  </p:cSld>
  <p:clrMapOvr>
    <a:masterClrMapping/>
  </p:clrMapOvr>
  <p:transition spd="slow">
    <p:wipe dir="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1494503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172839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356352"/>
            <a:ext cx="2133600" cy="365125"/>
          </a:xfrm>
        </p:spPr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2800" y="6356352"/>
            <a:ext cx="2895600" cy="365125"/>
          </a:xfrm>
        </p:spPr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6356352"/>
            <a:ext cx="2133600" cy="365125"/>
          </a:xfrm>
        </p:spPr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14849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32292" y="1969862"/>
            <a:ext cx="6180224" cy="1470025"/>
          </a:xfrm>
        </p:spPr>
        <p:txBody>
          <a:bodyPr anchor="t"/>
          <a:lstStyle>
            <a:lvl1pPr algn="r">
              <a:defRPr b="1" cap="small" baseline="0">
                <a:solidFill>
                  <a:srgbClr val="465F46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91000" y="5715000"/>
            <a:ext cx="4772528" cy="990600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251"/>
            <a:ext cx="24574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162550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8077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00202"/>
            <a:ext cx="8077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9/20/2022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28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056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52399" y="-109183"/>
            <a:ext cx="818707" cy="708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8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 spd="slow">
    <p:wipe dir="d"/>
  </p:transition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lang="en-US" sz="4400" kern="120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3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000502" y="1828800"/>
            <a:ext cx="4025601" cy="762000"/>
          </a:xfrm>
        </p:spPr>
        <p:txBody>
          <a:bodyPr>
            <a:normAutofit fontScale="90000"/>
          </a:bodyPr>
          <a:lstStyle/>
          <a:p>
            <a:r>
              <a:rPr lang="en-US" sz="400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CSC432 </a:t>
            </a:r>
            <a:r>
              <a:rPr lang="en-US" sz="4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– </a:t>
            </a:r>
            <a:r>
              <a:rPr lang="en-US" sz="40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Information Security </a:t>
            </a:r>
            <a:endParaRPr lang="en-US" sz="40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715001" y="4419600"/>
            <a:ext cx="2836446" cy="5334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0070C0"/>
                </a:solidFill>
                <a:latin typeface="+mn-lt"/>
              </a:rPr>
              <a:t>Dr. Adnan Ahmad</a:t>
            </a:r>
            <a:endParaRPr lang="en-US" sz="2400" b="1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457" y="1500195"/>
            <a:ext cx="1607344" cy="14192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957" y="304803"/>
            <a:ext cx="1607344" cy="14192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2131406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43" presetClass="path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0.00092 C 0.04036 -0.00092 0.40469 -0.00185 0.52695 -0.00254 C 0.64909 -0.00301 0.79466 0.00232 0.73294 -0.00509 C 0.67591 -0.03379 0.74687 0.03912 0.74687 -0.00023 " pathEditMode="relative" rAng="0" ptsTypes="AAAA">
                                      <p:cBhvr>
                                        <p:cTn id="10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383" y="9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300"/>
                            </p:stCondLst>
                            <p:childTnLst>
                              <p:par>
                                <p:cTn id="2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1650" y="3048004"/>
            <a:ext cx="6057900" cy="1362075"/>
          </a:xfrm>
        </p:spPr>
        <p:txBody>
          <a:bodyPr anchor="ctr">
            <a:normAutofit/>
          </a:bodyPr>
          <a:lstStyle/>
          <a:p>
            <a:r>
              <a:rPr lang="en-US" dirty="0" smtClean="0"/>
              <a:t>Basic </a:t>
            </a:r>
            <a:r>
              <a:rPr lang="en-US" dirty="0"/>
              <a:t>Concepts</a:t>
            </a:r>
          </a:p>
        </p:txBody>
      </p:sp>
    </p:spTree>
    <p:extLst>
      <p:ext uri="{BB962C8B-B14F-4D97-AF65-F5344CB8AC3E}">
        <p14:creationId xmlns:p14="http://schemas.microsoft.com/office/powerpoint/2010/main" val="633316292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Something </a:t>
            </a:r>
            <a:r>
              <a:rPr lang="en-US" dirty="0" smtClean="0"/>
              <a:t>to worry about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/>
              <a:t>Trust</a:t>
            </a:r>
          </a:p>
          <a:p>
            <a:r>
              <a:rPr lang="en-US" dirty="0"/>
              <a:t>An extremely important security concept</a:t>
            </a:r>
          </a:p>
          <a:p>
            <a:pPr lvl="1"/>
            <a:r>
              <a:rPr lang="en-US" dirty="0"/>
              <a:t>You do certain things for those you trust</a:t>
            </a:r>
          </a:p>
          <a:p>
            <a:pPr lvl="1"/>
            <a:r>
              <a:rPr lang="en-US" dirty="0"/>
              <a:t>You don’t do them for those you don’t</a:t>
            </a:r>
          </a:p>
          <a:p>
            <a:r>
              <a:rPr lang="en-US" dirty="0"/>
              <a:t>Seems simple, </a:t>
            </a:r>
            <a:r>
              <a:rPr lang="en-US" dirty="0" smtClean="0"/>
              <a:t>???</a:t>
            </a:r>
          </a:p>
          <a:p>
            <a:endParaRPr lang="en-US" dirty="0"/>
          </a:p>
          <a:p>
            <a:r>
              <a:rPr lang="en-US" dirty="0"/>
              <a:t>Problems </a:t>
            </a:r>
            <a:r>
              <a:rPr lang="en-US" dirty="0" smtClean="0"/>
              <a:t>with trust</a:t>
            </a:r>
            <a:endParaRPr lang="en-US" dirty="0"/>
          </a:p>
          <a:p>
            <a:pPr lvl="1"/>
            <a:r>
              <a:rPr lang="en-US" sz="2400" dirty="0"/>
              <a:t>How do you express trust?</a:t>
            </a:r>
          </a:p>
          <a:p>
            <a:pPr lvl="1"/>
            <a:r>
              <a:rPr lang="en-US" sz="2400" dirty="0"/>
              <a:t>Why do you trust something?</a:t>
            </a:r>
          </a:p>
          <a:p>
            <a:pPr lvl="1"/>
            <a:r>
              <a:rPr lang="en-US" sz="2400" dirty="0"/>
              <a:t>How can you be sure who you’re dealing with?</a:t>
            </a:r>
          </a:p>
          <a:p>
            <a:pPr lvl="1"/>
            <a:r>
              <a:rPr lang="en-US" sz="2400" dirty="0"/>
              <a:t>What if trust is situational?</a:t>
            </a:r>
          </a:p>
          <a:p>
            <a:pPr lvl="1"/>
            <a:r>
              <a:rPr lang="en-US" sz="2400" dirty="0"/>
              <a:t>What if trust changes</a:t>
            </a:r>
            <a:r>
              <a:rPr lang="en-US" sz="2400" dirty="0" smtClean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700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Something </a:t>
            </a:r>
            <a:r>
              <a:rPr lang="en-US" dirty="0" smtClean="0"/>
              <a:t>to worry about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/>
              <a:t>Symmetric Trust</a:t>
            </a:r>
          </a:p>
          <a:p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050" y="2057400"/>
            <a:ext cx="1428750" cy="12001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950432"/>
            <a:ext cx="1447240" cy="12156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89805" y="1872734"/>
            <a:ext cx="176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Alice trusts </a:t>
            </a:r>
            <a:r>
              <a:rPr lang="en-US" dirty="0" smtClean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Bob</a:t>
            </a:r>
            <a:endParaRPr lang="en-US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98203" y="312420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endParaRPr lang="en-US" b="1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3969608" y="2375389"/>
            <a:ext cx="800100" cy="182880"/>
          </a:xfrm>
          <a:prstGeom prst="rightArrow">
            <a:avLst/>
          </a:prstGeom>
          <a:solidFill>
            <a:srgbClr val="C6CF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ight Arrow 13"/>
          <p:cNvSpPr/>
          <p:nvPr/>
        </p:nvSpPr>
        <p:spPr>
          <a:xfrm rot="10800000">
            <a:off x="3969608" y="2887876"/>
            <a:ext cx="800100" cy="182880"/>
          </a:xfrm>
          <a:prstGeom prst="rightArrow">
            <a:avLst/>
          </a:prstGeom>
          <a:solidFill>
            <a:srgbClr val="C6CF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341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Something </a:t>
            </a:r>
            <a:r>
              <a:rPr lang="en-US" dirty="0" smtClean="0"/>
              <a:t>to worry about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/>
              <a:t>Transitive Trust</a:t>
            </a:r>
          </a:p>
          <a:p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050" y="1828800"/>
            <a:ext cx="1428750" cy="12001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0700" y="1832322"/>
            <a:ext cx="1447240" cy="12156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26646" y="2693858"/>
            <a:ext cx="176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Alice trusts Bob</a:t>
            </a:r>
            <a:endParaRPr lang="en-US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82162" y="3368331"/>
            <a:ext cx="1803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Bob trusts Carol</a:t>
            </a:r>
            <a:endParaRPr lang="en-US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133" y="4953000"/>
            <a:ext cx="1981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Carol trusts David</a:t>
            </a:r>
            <a:endParaRPr lang="en-US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181" y="4003303"/>
            <a:ext cx="1447240" cy="1215681"/>
          </a:xfrm>
          <a:prstGeom prst="rect">
            <a:avLst/>
          </a:prstGeom>
        </p:spPr>
      </p:pic>
      <p:sp>
        <p:nvSpPr>
          <p:cNvPr id="12" name="Right Arrow 11"/>
          <p:cNvSpPr/>
          <p:nvPr/>
        </p:nvSpPr>
        <p:spPr>
          <a:xfrm>
            <a:off x="3951073" y="2337434"/>
            <a:ext cx="800100" cy="182880"/>
          </a:xfrm>
          <a:prstGeom prst="rightArrow">
            <a:avLst/>
          </a:prstGeom>
          <a:solidFill>
            <a:srgbClr val="C6CF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ight Arrow 12"/>
          <p:cNvSpPr/>
          <p:nvPr/>
        </p:nvSpPr>
        <p:spPr>
          <a:xfrm rot="5400000">
            <a:off x="6144551" y="3509989"/>
            <a:ext cx="603938" cy="137160"/>
          </a:xfrm>
          <a:prstGeom prst="rightArrow">
            <a:avLst/>
          </a:prstGeom>
          <a:solidFill>
            <a:srgbClr val="C6CF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ight Arrow 13"/>
          <p:cNvSpPr/>
          <p:nvPr/>
        </p:nvSpPr>
        <p:spPr>
          <a:xfrm rot="10800000">
            <a:off x="3906447" y="4644627"/>
            <a:ext cx="800100" cy="182880"/>
          </a:xfrm>
          <a:prstGeom prst="rightArrow">
            <a:avLst/>
          </a:prstGeom>
          <a:solidFill>
            <a:srgbClr val="C6CF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ight Arrow 15"/>
          <p:cNvSpPr/>
          <p:nvPr/>
        </p:nvSpPr>
        <p:spPr>
          <a:xfrm rot="5400000">
            <a:off x="1889965" y="3547403"/>
            <a:ext cx="603938" cy="137160"/>
          </a:xfrm>
          <a:prstGeom prst="rightArrow">
            <a:avLst/>
          </a:prstGeom>
          <a:solidFill>
            <a:srgbClr val="C6CF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00300" y="3368331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endParaRPr lang="en-US" b="1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561" y="4003302"/>
            <a:ext cx="1447240" cy="121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68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Absolute Security vs Absolute Access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It's very important to understand that in security, one simply cannot say ``what's the best firewall?'‘</a:t>
            </a:r>
          </a:p>
          <a:p>
            <a:endParaRPr lang="en-US" dirty="0" smtClean="0"/>
          </a:p>
          <a:p>
            <a:r>
              <a:rPr lang="en-US" dirty="0" smtClean="0"/>
              <a:t>There </a:t>
            </a:r>
            <a:r>
              <a:rPr lang="en-US" dirty="0"/>
              <a:t>are two extremes: </a:t>
            </a:r>
            <a:r>
              <a:rPr lang="en-US" u="sng" dirty="0"/>
              <a:t>absolute security</a:t>
            </a:r>
            <a:r>
              <a:rPr lang="en-US" dirty="0"/>
              <a:t> and </a:t>
            </a:r>
            <a:r>
              <a:rPr lang="en-US" u="sng" dirty="0"/>
              <a:t>absolute access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closest we can get to an </a:t>
            </a:r>
            <a:r>
              <a:rPr lang="en-US" u="sng" dirty="0"/>
              <a:t>absolutely secure</a:t>
            </a:r>
            <a:r>
              <a:rPr lang="en-US" dirty="0"/>
              <a:t> machine is one unplugged from the network, powered off, locked in a safe</a:t>
            </a:r>
          </a:p>
          <a:p>
            <a:r>
              <a:rPr lang="en-US" dirty="0"/>
              <a:t>Unfortunately, it isn't </a:t>
            </a:r>
            <a:r>
              <a:rPr lang="en-US" dirty="0" smtClean="0"/>
              <a:t>useful </a:t>
            </a:r>
            <a:r>
              <a:rPr lang="en-US" dirty="0"/>
              <a:t>in this </a:t>
            </a:r>
            <a:r>
              <a:rPr lang="en-US" dirty="0" smtClean="0"/>
              <a:t>state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126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Absolute Security vs Absolute Access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dirty="0"/>
              <a:t>machine with </a:t>
            </a:r>
            <a:r>
              <a:rPr lang="en-US" u="sng" dirty="0"/>
              <a:t>absolute access</a:t>
            </a:r>
            <a:r>
              <a:rPr lang="en-US" dirty="0"/>
              <a:t> is extremely convenient to use: it's simply there, and will do whatever you tell it, without questions, authorization, passwords, or any other mechanism</a:t>
            </a:r>
          </a:p>
          <a:p>
            <a:r>
              <a:rPr lang="en-US" dirty="0"/>
              <a:t>Unfortunately, this isn't </a:t>
            </a:r>
            <a:r>
              <a:rPr lang="en-US" dirty="0" smtClean="0"/>
              <a:t>practical</a:t>
            </a:r>
            <a:r>
              <a:rPr lang="en-US" dirty="0"/>
              <a:t>, either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internet is a bad neighborhood now, and it isn't long before some bonehead will tell the computer to do something like self-destruct, after which, it isn't </a:t>
            </a:r>
            <a:r>
              <a:rPr lang="en-US" dirty="0" smtClean="0"/>
              <a:t>useful </a:t>
            </a:r>
            <a:r>
              <a:rPr lang="en-US" dirty="0"/>
              <a:t>to you</a:t>
            </a:r>
          </a:p>
        </p:txBody>
      </p:sp>
    </p:spTree>
    <p:extLst>
      <p:ext uri="{BB962C8B-B14F-4D97-AF65-F5344CB8AC3E}">
        <p14:creationId xmlns:p14="http://schemas.microsoft.com/office/powerpoint/2010/main" val="2036639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Security – First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Security thus depends on </a:t>
            </a:r>
            <a:r>
              <a:rPr lang="en-US" u="sng" dirty="0"/>
              <a:t>the policies we define and the decisions we take</a:t>
            </a:r>
          </a:p>
          <a:p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is no different from our daily lives</a:t>
            </a:r>
          </a:p>
          <a:p>
            <a:r>
              <a:rPr lang="en-US" dirty="0"/>
              <a:t>We constantly make decisions about what risks we're willing to accept</a:t>
            </a:r>
          </a:p>
          <a:p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/>
              <a:t>we get in a car and drive to work, there's a certain risk that we're taking</a:t>
            </a:r>
          </a:p>
          <a:p>
            <a:r>
              <a:rPr lang="en-US" dirty="0"/>
              <a:t>It's possible that something completely out of control will cause us to become part of an accident on the highway</a:t>
            </a:r>
          </a:p>
          <a:p>
            <a:r>
              <a:rPr lang="en-US" dirty="0"/>
              <a:t>When we get on an airplane, we're accepting the level of risk involved as the price of convenience</a:t>
            </a:r>
          </a:p>
        </p:txBody>
      </p:sp>
    </p:spTree>
    <p:extLst>
      <p:ext uri="{BB962C8B-B14F-4D97-AF65-F5344CB8AC3E}">
        <p14:creationId xmlns:p14="http://schemas.microsoft.com/office/powerpoint/2010/main" val="2734041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Security – First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However, we have a mental picture of what an acceptable risk is, and won't go beyond that in most circumstances</a:t>
            </a:r>
          </a:p>
          <a:p>
            <a:endParaRPr lang="en-US" dirty="0"/>
          </a:p>
          <a:p>
            <a:r>
              <a:rPr lang="en-US" dirty="0"/>
              <a:t>If I happen to be upstairs at home, and want to leave for work, I'm not going to jump out the window</a:t>
            </a:r>
          </a:p>
          <a:p>
            <a:pPr lvl="1"/>
            <a:r>
              <a:rPr lang="en-US" dirty="0"/>
              <a:t>Yes, it would be more convenient, but the risk of injury outweighs the advantage of </a:t>
            </a:r>
            <a:r>
              <a:rPr lang="en-US" dirty="0" smtClean="0"/>
              <a:t>convenience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062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Security – First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Every </a:t>
            </a:r>
            <a:r>
              <a:rPr lang="en-US" dirty="0"/>
              <a:t>organization needs to decide for itself where between the two extremes of total security and total access they need to be</a:t>
            </a:r>
          </a:p>
          <a:p>
            <a:r>
              <a:rPr lang="en-US" dirty="0"/>
              <a:t>A policy needs to articulate this, and then define how that will be enforced with practices and such</a:t>
            </a:r>
          </a:p>
          <a:p>
            <a:r>
              <a:rPr lang="en-US" dirty="0"/>
              <a:t>Everything that is done in the name of security, then, must enforce that policy uniformly</a:t>
            </a:r>
          </a:p>
        </p:txBody>
      </p:sp>
    </p:spTree>
    <p:extLst>
      <p:ext uri="{BB962C8B-B14F-4D97-AF65-F5344CB8AC3E}">
        <p14:creationId xmlns:p14="http://schemas.microsoft.com/office/powerpoint/2010/main" val="90603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Cost benefit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database that provides salary information to a second system that print checks.</a:t>
            </a:r>
          </a:p>
          <a:p>
            <a:pPr lvl="1"/>
            <a:r>
              <a:rPr lang="en-US" dirty="0" smtClean="0"/>
              <a:t>Huge financial loss</a:t>
            </a:r>
          </a:p>
          <a:p>
            <a:pPr marL="457200" lvl="1" indent="0">
              <a:buNone/>
            </a:pPr>
            <a:r>
              <a:rPr lang="en-US" dirty="0" smtClean="0"/>
              <a:t> </a:t>
            </a:r>
          </a:p>
          <a:p>
            <a:endParaRPr lang="en-US" dirty="0"/>
          </a:p>
          <a:p>
            <a:r>
              <a:rPr lang="en-US" dirty="0" smtClean="0"/>
              <a:t>A company has several branch offices and each downloads the database copy daily. </a:t>
            </a:r>
          </a:p>
          <a:p>
            <a:pPr lvl="1"/>
            <a:r>
              <a:rPr lang="en-US" dirty="0" smtClean="0"/>
              <a:t>The branch office uses the database to recommend the salary, but the main office use the original database for the final calculations. 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Recoverable 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404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Rational Thinking 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Consider a company where 10000 documents are processed per month with </a:t>
            </a:r>
            <a:r>
              <a:rPr lang="en-US" dirty="0"/>
              <a:t>no </a:t>
            </a:r>
            <a:r>
              <a:rPr lang="en-US" dirty="0" smtClean="0"/>
              <a:t>security mechanism. </a:t>
            </a:r>
          </a:p>
          <a:p>
            <a:r>
              <a:rPr lang="en-US" dirty="0" smtClean="0"/>
              <a:t>Security breaches occur </a:t>
            </a:r>
            <a:r>
              <a:rPr lang="en-US" dirty="0"/>
              <a:t>about twice per </a:t>
            </a:r>
            <a:r>
              <a:rPr lang="en-US" dirty="0" smtClean="0"/>
              <a:t>month, and almost 100 documents are compromised per breach. The administrator needs to restart the processing of the breached documents.</a:t>
            </a:r>
          </a:p>
          <a:p>
            <a:r>
              <a:rPr lang="en-US" dirty="0" smtClean="0"/>
              <a:t>Each document’s processing worth </a:t>
            </a:r>
            <a:r>
              <a:rPr lang="en-US" dirty="0"/>
              <a:t>about </a:t>
            </a:r>
            <a:r>
              <a:rPr lang="en-US" dirty="0" smtClean="0"/>
              <a:t>$20, and </a:t>
            </a:r>
            <a:r>
              <a:rPr lang="en-US" dirty="0"/>
              <a:t>the </a:t>
            </a:r>
            <a:r>
              <a:rPr lang="en-US" dirty="0" smtClean="0"/>
              <a:t>documents compromised tend </a:t>
            </a:r>
            <a:r>
              <a:rPr lang="en-US" dirty="0"/>
              <a:t>to be about half </a:t>
            </a:r>
            <a:r>
              <a:rPr lang="en-US" dirty="0" smtClean="0"/>
              <a:t>processed when </a:t>
            </a:r>
            <a:r>
              <a:rPr lang="en-US" dirty="0"/>
              <a:t>they are </a:t>
            </a:r>
            <a:r>
              <a:rPr lang="en-US" dirty="0" smtClean="0"/>
              <a:t>restarted. </a:t>
            </a:r>
          </a:p>
          <a:p>
            <a:r>
              <a:rPr lang="en-US" dirty="0" smtClean="0"/>
              <a:t>If some security mechanism is </a:t>
            </a:r>
            <a:r>
              <a:rPr lang="en-US" dirty="0"/>
              <a:t>installed, it will increase the average </a:t>
            </a:r>
            <a:r>
              <a:rPr lang="en-US" dirty="0" smtClean="0"/>
              <a:t>processing cost about 1% for all the documents. </a:t>
            </a:r>
          </a:p>
          <a:p>
            <a:endParaRPr lang="en-US" dirty="0" smtClean="0"/>
          </a:p>
          <a:p>
            <a:r>
              <a:rPr lang="en-US" dirty="0" smtClean="0"/>
              <a:t>Should the company install security mechanism?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16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Security </a:t>
            </a:r>
            <a:r>
              <a:rPr lang="en-US" u="sng" dirty="0" smtClean="0"/>
              <a:t>Goals (the CIA triad)</a:t>
            </a:r>
            <a:endParaRPr lang="en-US" u="sng" dirty="0"/>
          </a:p>
          <a:p>
            <a:endParaRPr lang="en-US" dirty="0"/>
          </a:p>
          <a:p>
            <a:r>
              <a:rPr lang="en-US" dirty="0"/>
              <a:t>Confidentiality</a:t>
            </a:r>
          </a:p>
          <a:p>
            <a:r>
              <a:rPr lang="en-US" dirty="0"/>
              <a:t>Integrity</a:t>
            </a:r>
          </a:p>
          <a:p>
            <a:r>
              <a:rPr lang="en-US" dirty="0" smtClean="0"/>
              <a:t>Availability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684" y="2057400"/>
            <a:ext cx="3333262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894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Confidentiality</a:t>
            </a:r>
            <a:r>
              <a:rPr lang="en-US" dirty="0"/>
              <a:t>: </a:t>
            </a:r>
            <a:endParaRPr lang="en-US" dirty="0" smtClean="0"/>
          </a:p>
          <a:p>
            <a:pPr lvl="1"/>
            <a:r>
              <a:rPr lang="en-US" dirty="0" smtClean="0"/>
              <a:t>only </a:t>
            </a:r>
            <a:r>
              <a:rPr lang="en-US" dirty="0"/>
              <a:t>sender, intended receiver should “understand” message </a:t>
            </a:r>
            <a:r>
              <a:rPr lang="en-US" dirty="0" smtClean="0"/>
              <a:t>contents</a:t>
            </a:r>
          </a:p>
          <a:p>
            <a:r>
              <a:rPr lang="en-US" dirty="0" smtClean="0"/>
              <a:t>Covers both </a:t>
            </a:r>
            <a:r>
              <a:rPr lang="en-US" dirty="0"/>
              <a:t>data confidentiality and </a:t>
            </a:r>
            <a:r>
              <a:rPr lang="en-US" dirty="0" smtClean="0"/>
              <a:t>privacy</a:t>
            </a:r>
          </a:p>
          <a:p>
            <a:pPr lvl="1"/>
            <a:r>
              <a:rPr lang="en-US" b="1" dirty="0" smtClean="0"/>
              <a:t>Data confidentiality</a:t>
            </a:r>
          </a:p>
          <a:p>
            <a:pPr lvl="1"/>
            <a:r>
              <a:rPr lang="en-US" dirty="0" smtClean="0"/>
              <a:t>Assures </a:t>
            </a:r>
            <a:r>
              <a:rPr lang="en-US" dirty="0"/>
              <a:t>that </a:t>
            </a:r>
            <a:r>
              <a:rPr lang="en-US" dirty="0" smtClean="0"/>
              <a:t>confidential </a:t>
            </a:r>
            <a:r>
              <a:rPr lang="en-US" dirty="0"/>
              <a:t>information </a:t>
            </a:r>
            <a:r>
              <a:rPr lang="en-US" dirty="0" smtClean="0"/>
              <a:t>is not disclosed </a:t>
            </a:r>
            <a:r>
              <a:rPr lang="en-US" dirty="0"/>
              <a:t>to unauthorized individuals.</a:t>
            </a:r>
          </a:p>
          <a:p>
            <a:pPr lvl="1"/>
            <a:r>
              <a:rPr lang="en-US" b="1" dirty="0" smtClean="0"/>
              <a:t>Privacy</a:t>
            </a:r>
          </a:p>
          <a:p>
            <a:pPr lvl="1"/>
            <a:r>
              <a:rPr lang="en-US" dirty="0" smtClean="0"/>
              <a:t>Assures </a:t>
            </a:r>
            <a:r>
              <a:rPr lang="en-US" dirty="0"/>
              <a:t>that individuals control </a:t>
            </a:r>
            <a:r>
              <a:rPr lang="en-US" dirty="0" smtClean="0"/>
              <a:t>the information related </a:t>
            </a:r>
            <a:r>
              <a:rPr lang="en-US" dirty="0"/>
              <a:t>to them </a:t>
            </a:r>
            <a:endParaRPr lang="en-US" dirty="0" smtClean="0"/>
          </a:p>
          <a:p>
            <a:pPr lvl="2"/>
            <a:r>
              <a:rPr lang="en-US" dirty="0" smtClean="0"/>
              <a:t>What may </a:t>
            </a:r>
            <a:r>
              <a:rPr lang="en-US" dirty="0"/>
              <a:t>be collected and </a:t>
            </a:r>
            <a:r>
              <a:rPr lang="en-US" dirty="0" smtClean="0"/>
              <a:t>stored</a:t>
            </a:r>
          </a:p>
          <a:p>
            <a:pPr lvl="2"/>
            <a:r>
              <a:rPr lang="en-US" dirty="0" smtClean="0"/>
              <a:t>by whom</a:t>
            </a:r>
          </a:p>
          <a:p>
            <a:pPr lvl="2"/>
            <a:r>
              <a:rPr lang="en-US" dirty="0" smtClean="0"/>
              <a:t>To whom that </a:t>
            </a:r>
            <a:r>
              <a:rPr lang="en-US" dirty="0"/>
              <a:t>information may be disclosed.</a:t>
            </a:r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624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Confidentiality</a:t>
            </a:r>
            <a:r>
              <a:rPr lang="en-US" dirty="0"/>
              <a:t>: </a:t>
            </a:r>
            <a:endParaRPr lang="en-US" dirty="0" smtClean="0"/>
          </a:p>
          <a:p>
            <a:r>
              <a:rPr lang="en-US" dirty="0"/>
              <a:t>Student grade information is an asset whose </a:t>
            </a:r>
            <a:r>
              <a:rPr lang="en-US" dirty="0" smtClean="0"/>
              <a:t>confidentiality is </a:t>
            </a:r>
            <a:r>
              <a:rPr lang="en-US" dirty="0"/>
              <a:t>considered to be highly important by students. </a:t>
            </a:r>
            <a:endParaRPr lang="en-US" dirty="0" smtClean="0"/>
          </a:p>
          <a:p>
            <a:r>
              <a:rPr lang="en-US" dirty="0" smtClean="0"/>
              <a:t>United States – Family </a:t>
            </a:r>
            <a:r>
              <a:rPr lang="en-US" dirty="0"/>
              <a:t>Educational Rights and </a:t>
            </a:r>
            <a:r>
              <a:rPr lang="en-US" dirty="0" smtClean="0"/>
              <a:t>Privacy Act </a:t>
            </a:r>
            <a:r>
              <a:rPr lang="en-US" dirty="0"/>
              <a:t>(FERPA</a:t>
            </a:r>
            <a:r>
              <a:rPr lang="en-US" dirty="0" smtClean="0"/>
              <a:t>) </a:t>
            </a:r>
          </a:p>
          <a:p>
            <a:pPr lvl="1"/>
            <a:r>
              <a:rPr lang="en-US" dirty="0" smtClean="0"/>
              <a:t>Grade </a:t>
            </a:r>
            <a:r>
              <a:rPr lang="en-US" dirty="0"/>
              <a:t>information </a:t>
            </a:r>
            <a:r>
              <a:rPr lang="en-US" dirty="0" smtClean="0"/>
              <a:t>(high rating)</a:t>
            </a:r>
          </a:p>
          <a:p>
            <a:pPr lvl="2"/>
            <a:r>
              <a:rPr lang="en-US" dirty="0" smtClean="0"/>
              <a:t>Available to </a:t>
            </a:r>
            <a:r>
              <a:rPr lang="en-US" dirty="0"/>
              <a:t>students, </a:t>
            </a:r>
            <a:r>
              <a:rPr lang="en-US" dirty="0" smtClean="0"/>
              <a:t>their parents</a:t>
            </a:r>
            <a:r>
              <a:rPr lang="en-US" dirty="0"/>
              <a:t>, and employees that require the information to do their job. </a:t>
            </a:r>
            <a:endParaRPr lang="en-US" dirty="0" smtClean="0"/>
          </a:p>
          <a:p>
            <a:pPr lvl="1"/>
            <a:r>
              <a:rPr lang="en-US" dirty="0" smtClean="0"/>
              <a:t>Student enrollment information (moderate rating</a:t>
            </a:r>
            <a:r>
              <a:rPr lang="en-US" dirty="0"/>
              <a:t>)</a:t>
            </a:r>
            <a:r>
              <a:rPr lang="en-US" dirty="0" smtClean="0"/>
              <a:t> </a:t>
            </a:r>
          </a:p>
          <a:p>
            <a:pPr lvl="2"/>
            <a:r>
              <a:rPr lang="en-US" dirty="0" smtClean="0"/>
              <a:t>Less likely </a:t>
            </a:r>
            <a:r>
              <a:rPr lang="en-US" dirty="0"/>
              <a:t>to be targeted than grade information, and </a:t>
            </a:r>
            <a:endParaRPr lang="en-US" dirty="0" smtClean="0"/>
          </a:p>
          <a:p>
            <a:pPr lvl="2"/>
            <a:r>
              <a:rPr lang="en-US" dirty="0" smtClean="0"/>
              <a:t>Results in </a:t>
            </a:r>
            <a:r>
              <a:rPr lang="en-US" dirty="0"/>
              <a:t>less damage </a:t>
            </a:r>
            <a:r>
              <a:rPr lang="en-US" dirty="0" smtClean="0"/>
              <a:t>if disclosed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dirty="0" smtClean="0"/>
              <a:t>Directory information (lists </a:t>
            </a:r>
            <a:r>
              <a:rPr lang="en-US" dirty="0"/>
              <a:t>of </a:t>
            </a:r>
            <a:r>
              <a:rPr lang="en-US" dirty="0" smtClean="0"/>
              <a:t>students/faculty) (low rating) </a:t>
            </a:r>
          </a:p>
          <a:p>
            <a:pPr lvl="1"/>
            <a:r>
              <a:rPr lang="en-US" dirty="0" smtClean="0"/>
              <a:t>Typically freely </a:t>
            </a:r>
            <a:r>
              <a:rPr lang="en-US" dirty="0"/>
              <a:t>available to the public and </a:t>
            </a:r>
            <a:r>
              <a:rPr lang="en-US" dirty="0" smtClean="0"/>
              <a:t>published on </a:t>
            </a:r>
            <a:r>
              <a:rPr lang="en-US" dirty="0"/>
              <a:t>a school’s Web site.</a:t>
            </a:r>
          </a:p>
        </p:txBody>
      </p:sp>
    </p:spTree>
    <p:extLst>
      <p:ext uri="{BB962C8B-B14F-4D97-AF65-F5344CB8AC3E}">
        <p14:creationId xmlns:p14="http://schemas.microsoft.com/office/powerpoint/2010/main" val="3548095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Integrity</a:t>
            </a:r>
            <a:r>
              <a:rPr lang="en-US" dirty="0" smtClean="0"/>
              <a:t>: </a:t>
            </a:r>
          </a:p>
          <a:p>
            <a:pPr lvl="1"/>
            <a:r>
              <a:rPr lang="en-US" dirty="0" smtClean="0"/>
              <a:t>Sender, </a:t>
            </a:r>
            <a:r>
              <a:rPr lang="en-US" dirty="0"/>
              <a:t>receiver want to ensure message not altered (in transit, or </a:t>
            </a:r>
            <a:r>
              <a:rPr lang="en-US" dirty="0" smtClean="0"/>
              <a:t>afterwards) without detection, </a:t>
            </a:r>
          </a:p>
          <a:p>
            <a:pPr lvl="1"/>
            <a:r>
              <a:rPr lang="en-US" dirty="0" smtClean="0"/>
              <a:t>and </a:t>
            </a:r>
            <a:r>
              <a:rPr lang="en-US" dirty="0"/>
              <a:t>want to be able to prove that the sender did, in fact, send the </a:t>
            </a:r>
            <a:r>
              <a:rPr lang="en-US" dirty="0" smtClean="0"/>
              <a:t>message</a:t>
            </a:r>
          </a:p>
          <a:p>
            <a:pPr lvl="1"/>
            <a:r>
              <a:rPr lang="en-US" dirty="0"/>
              <a:t>covers both data and </a:t>
            </a:r>
            <a:r>
              <a:rPr lang="en-US" dirty="0" smtClean="0"/>
              <a:t>system integrity</a:t>
            </a:r>
          </a:p>
          <a:p>
            <a:pPr lvl="1"/>
            <a:r>
              <a:rPr lang="en-US" b="1" dirty="0"/>
              <a:t>Data </a:t>
            </a:r>
            <a:r>
              <a:rPr lang="en-US" b="1" dirty="0" smtClean="0"/>
              <a:t>integrity</a:t>
            </a:r>
          </a:p>
          <a:p>
            <a:pPr lvl="1"/>
            <a:r>
              <a:rPr lang="en-US" dirty="0" smtClean="0"/>
              <a:t>Assures </a:t>
            </a:r>
            <a:r>
              <a:rPr lang="en-US" dirty="0"/>
              <a:t>that information and programs are changed only </a:t>
            </a:r>
            <a:r>
              <a:rPr lang="en-US" dirty="0" smtClean="0"/>
              <a:t>in a </a:t>
            </a:r>
            <a:r>
              <a:rPr lang="en-US" dirty="0"/>
              <a:t>specified and authorized manner.</a:t>
            </a:r>
          </a:p>
          <a:p>
            <a:pPr lvl="1"/>
            <a:r>
              <a:rPr lang="en-US" b="1" dirty="0"/>
              <a:t>System </a:t>
            </a:r>
            <a:r>
              <a:rPr lang="en-US" b="1" dirty="0" smtClean="0"/>
              <a:t>integrity</a:t>
            </a:r>
          </a:p>
          <a:p>
            <a:pPr lvl="1"/>
            <a:r>
              <a:rPr lang="en-US" dirty="0" smtClean="0"/>
              <a:t>Assures </a:t>
            </a:r>
            <a:r>
              <a:rPr lang="en-US" dirty="0"/>
              <a:t>that a system performs its intended function in </a:t>
            </a:r>
            <a:r>
              <a:rPr lang="en-US" dirty="0" smtClean="0"/>
              <a:t>an unimpaired (perfect) </a:t>
            </a:r>
            <a:r>
              <a:rPr lang="en-US" dirty="0"/>
              <a:t>manner, </a:t>
            </a:r>
            <a:endParaRPr lang="en-US" dirty="0" smtClean="0"/>
          </a:p>
          <a:p>
            <a:pPr lvl="1"/>
            <a:r>
              <a:rPr lang="en-US" dirty="0" smtClean="0"/>
              <a:t>free </a:t>
            </a:r>
            <a:r>
              <a:rPr lang="en-US" dirty="0"/>
              <a:t>from deliberate or </a:t>
            </a:r>
            <a:r>
              <a:rPr lang="en-US" dirty="0" smtClean="0"/>
              <a:t>unauthorized manipulation of the system.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438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Integrity</a:t>
            </a:r>
            <a:r>
              <a:rPr lang="en-US" dirty="0" smtClean="0"/>
              <a:t>: </a:t>
            </a:r>
          </a:p>
          <a:p>
            <a:r>
              <a:rPr lang="en-US" dirty="0" smtClean="0"/>
              <a:t>Hospital patient’s </a:t>
            </a:r>
            <a:r>
              <a:rPr lang="en-US" dirty="0"/>
              <a:t>allergy information </a:t>
            </a:r>
            <a:r>
              <a:rPr lang="en-US" dirty="0" smtClean="0"/>
              <a:t>database</a:t>
            </a:r>
          </a:p>
          <a:p>
            <a:pPr lvl="1"/>
            <a:r>
              <a:rPr lang="en-US" dirty="0" smtClean="0"/>
              <a:t>High requirement </a:t>
            </a:r>
            <a:r>
              <a:rPr lang="en-US" dirty="0"/>
              <a:t>for integrity. 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doctor should be able to </a:t>
            </a:r>
            <a:r>
              <a:rPr lang="en-US" dirty="0" smtClean="0"/>
              <a:t>trust that </a:t>
            </a:r>
            <a:r>
              <a:rPr lang="en-US" dirty="0"/>
              <a:t>the information is correct and current. </a:t>
            </a:r>
            <a:endParaRPr lang="en-US" dirty="0" smtClean="0"/>
          </a:p>
          <a:p>
            <a:pPr lvl="1"/>
            <a:r>
              <a:rPr lang="en-US" dirty="0"/>
              <a:t>Inaccurate information could result in serious harm or death to a patient and expose the </a:t>
            </a:r>
            <a:r>
              <a:rPr lang="en-US" dirty="0" smtClean="0"/>
              <a:t>hospital/doctor </a:t>
            </a:r>
            <a:r>
              <a:rPr lang="en-US" dirty="0"/>
              <a:t>to massive liability</a:t>
            </a:r>
            <a:r>
              <a:rPr lang="en-US" dirty="0" smtClean="0"/>
              <a:t>.</a:t>
            </a:r>
          </a:p>
          <a:p>
            <a:r>
              <a:rPr lang="en-US" dirty="0" smtClean="0"/>
              <a:t>If an </a:t>
            </a:r>
            <a:r>
              <a:rPr lang="en-US" dirty="0"/>
              <a:t>employee (e.g., </a:t>
            </a:r>
            <a:r>
              <a:rPr lang="en-US" dirty="0" smtClean="0"/>
              <a:t>a nurse</a:t>
            </a:r>
            <a:r>
              <a:rPr lang="en-US" dirty="0"/>
              <a:t>) </a:t>
            </a:r>
            <a:r>
              <a:rPr lang="en-US" dirty="0" smtClean="0"/>
              <a:t>authorized </a:t>
            </a:r>
            <a:r>
              <a:rPr lang="en-US" dirty="0"/>
              <a:t>to </a:t>
            </a:r>
            <a:r>
              <a:rPr lang="en-US" dirty="0" smtClean="0"/>
              <a:t>view/update </a:t>
            </a:r>
            <a:r>
              <a:rPr lang="en-US" dirty="0"/>
              <a:t>this information deliberately </a:t>
            </a:r>
            <a:r>
              <a:rPr lang="en-US" dirty="0" smtClean="0"/>
              <a:t>falsifies the </a:t>
            </a:r>
            <a:r>
              <a:rPr lang="en-US" dirty="0"/>
              <a:t>data to cause harm to the </a:t>
            </a:r>
            <a:r>
              <a:rPr lang="en-US" dirty="0" smtClean="0"/>
              <a:t>hospital/patient/doctor. 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database needs to be restored to </a:t>
            </a:r>
            <a:r>
              <a:rPr lang="en-US" dirty="0" smtClean="0"/>
              <a:t>a trusted </a:t>
            </a:r>
            <a:r>
              <a:rPr lang="en-US" dirty="0"/>
              <a:t>basis </a:t>
            </a:r>
            <a:r>
              <a:rPr lang="en-US" dirty="0" smtClean="0"/>
              <a:t>quickly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should be possible to trace the error back to the </a:t>
            </a:r>
            <a:r>
              <a:rPr lang="en-US" dirty="0" smtClean="0"/>
              <a:t>person responsible</a:t>
            </a:r>
            <a:r>
              <a:rPr lang="en-US" dirty="0"/>
              <a:t>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08974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Integrity</a:t>
            </a:r>
            <a:r>
              <a:rPr lang="en-US" dirty="0" smtClean="0"/>
              <a:t>: </a:t>
            </a:r>
          </a:p>
          <a:p>
            <a:r>
              <a:rPr lang="en-US" dirty="0" smtClean="0"/>
              <a:t>Web </a:t>
            </a:r>
            <a:r>
              <a:rPr lang="en-US" dirty="0"/>
              <a:t>site that offers a forum to registered users to discuss </a:t>
            </a:r>
            <a:r>
              <a:rPr lang="en-US" dirty="0" smtClean="0"/>
              <a:t>some specific topic</a:t>
            </a:r>
            <a:r>
              <a:rPr lang="en-US" dirty="0"/>
              <a:t> </a:t>
            </a:r>
            <a:endParaRPr lang="en-US" dirty="0" smtClean="0"/>
          </a:p>
          <a:p>
            <a:pPr lvl="1"/>
            <a:r>
              <a:rPr lang="en-US" dirty="0" smtClean="0"/>
              <a:t>Moderate level </a:t>
            </a:r>
            <a:r>
              <a:rPr lang="en-US" dirty="0"/>
              <a:t>of </a:t>
            </a:r>
            <a:r>
              <a:rPr lang="en-US" dirty="0" smtClean="0"/>
              <a:t>integrity </a:t>
            </a:r>
          </a:p>
          <a:p>
            <a:pPr lvl="1"/>
            <a:r>
              <a:rPr lang="en-US" dirty="0" smtClean="0"/>
              <a:t>Either </a:t>
            </a:r>
            <a:r>
              <a:rPr lang="en-US" dirty="0"/>
              <a:t>a registered user or a hacker could falsify some entries </a:t>
            </a:r>
            <a:r>
              <a:rPr lang="en-US" dirty="0" smtClean="0"/>
              <a:t>or deface </a:t>
            </a:r>
            <a:r>
              <a:rPr lang="en-US" dirty="0"/>
              <a:t>the Web site. </a:t>
            </a:r>
            <a:endParaRPr lang="en-US" dirty="0" smtClean="0"/>
          </a:p>
          <a:p>
            <a:pPr lvl="1"/>
            <a:r>
              <a:rPr lang="en-US" dirty="0" smtClean="0"/>
              <a:t>If </a:t>
            </a:r>
            <a:r>
              <a:rPr lang="en-US" dirty="0"/>
              <a:t>the forum exists only for the enjoyment of the users, </a:t>
            </a:r>
            <a:endParaRPr lang="en-US" dirty="0" smtClean="0"/>
          </a:p>
          <a:p>
            <a:pPr lvl="1"/>
            <a:r>
              <a:rPr lang="en-US" dirty="0" smtClean="0"/>
              <a:t>brings in little </a:t>
            </a:r>
            <a:r>
              <a:rPr lang="en-US" dirty="0"/>
              <a:t>or no advertising revenue, </a:t>
            </a:r>
            <a:endParaRPr lang="en-US" dirty="0" smtClean="0"/>
          </a:p>
          <a:p>
            <a:pPr lvl="1"/>
            <a:r>
              <a:rPr lang="en-US" dirty="0" smtClean="0"/>
              <a:t>and </a:t>
            </a:r>
            <a:r>
              <a:rPr lang="en-US" dirty="0"/>
              <a:t>is not used for something important such </a:t>
            </a:r>
            <a:r>
              <a:rPr lang="en-US" dirty="0" smtClean="0"/>
              <a:t>as research</a:t>
            </a:r>
            <a:r>
              <a:rPr lang="en-US" dirty="0"/>
              <a:t>, </a:t>
            </a:r>
            <a:endParaRPr lang="en-US" dirty="0" smtClean="0"/>
          </a:p>
          <a:p>
            <a:pPr lvl="1"/>
            <a:r>
              <a:rPr lang="en-US" dirty="0" smtClean="0"/>
              <a:t>then </a:t>
            </a:r>
            <a:r>
              <a:rPr lang="en-US" dirty="0"/>
              <a:t>potential damage is not severe.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Web master may </a:t>
            </a:r>
            <a:r>
              <a:rPr lang="en-US" dirty="0" smtClean="0"/>
              <a:t>experience some </a:t>
            </a:r>
            <a:r>
              <a:rPr lang="en-US" dirty="0"/>
              <a:t>data, financial, and time loss.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25813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Integrity</a:t>
            </a:r>
            <a:r>
              <a:rPr lang="en-US" dirty="0" smtClean="0"/>
              <a:t>: </a:t>
            </a:r>
          </a:p>
          <a:p>
            <a:r>
              <a:rPr lang="en-US" dirty="0" smtClean="0"/>
              <a:t>An anonymous </a:t>
            </a:r>
            <a:r>
              <a:rPr lang="en-US" dirty="0"/>
              <a:t>online </a:t>
            </a:r>
            <a:r>
              <a:rPr lang="en-US" dirty="0" smtClean="0"/>
              <a:t>poll </a:t>
            </a:r>
          </a:p>
          <a:p>
            <a:pPr lvl="1"/>
            <a:r>
              <a:rPr lang="en-US" dirty="0" smtClean="0"/>
              <a:t>Low integrity </a:t>
            </a:r>
            <a:r>
              <a:rPr lang="en-US" dirty="0"/>
              <a:t>requirement</a:t>
            </a:r>
          </a:p>
          <a:p>
            <a:pPr lvl="1"/>
            <a:r>
              <a:rPr lang="en-US" dirty="0" smtClean="0"/>
              <a:t>Many</a:t>
            </a:r>
            <a:r>
              <a:rPr lang="en-US" dirty="0"/>
              <a:t> </a:t>
            </a:r>
            <a:r>
              <a:rPr lang="en-US" dirty="0" smtClean="0"/>
              <a:t>Web </a:t>
            </a:r>
            <a:r>
              <a:rPr lang="en-US" dirty="0"/>
              <a:t>sites, such as news organizations, offer these polls to their users with very </a:t>
            </a:r>
            <a:r>
              <a:rPr lang="en-US" dirty="0" smtClean="0"/>
              <a:t>few safeguards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dirty="0" smtClean="0"/>
              <a:t>However</a:t>
            </a:r>
            <a:r>
              <a:rPr lang="en-US" dirty="0"/>
              <a:t>, the inaccuracy and unscientific nature of such polls is </a:t>
            </a:r>
            <a:r>
              <a:rPr lang="en-US" dirty="0" smtClean="0"/>
              <a:t>well understood</a:t>
            </a:r>
            <a:r>
              <a:rPr lang="en-US" dirty="0"/>
              <a:t>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55481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Availability</a:t>
            </a:r>
            <a:r>
              <a:rPr lang="en-US" dirty="0"/>
              <a:t>: </a:t>
            </a:r>
            <a:endParaRPr lang="en-US" dirty="0" smtClean="0"/>
          </a:p>
          <a:p>
            <a:pPr lvl="1"/>
            <a:r>
              <a:rPr lang="en-US" dirty="0" smtClean="0"/>
              <a:t>Services must </a:t>
            </a:r>
            <a:r>
              <a:rPr lang="en-US" dirty="0"/>
              <a:t>be accessible and available to properly authorized </a:t>
            </a:r>
            <a:r>
              <a:rPr lang="en-US" dirty="0" smtClean="0"/>
              <a:t>users</a:t>
            </a:r>
          </a:p>
          <a:p>
            <a:pPr lvl="1"/>
            <a:r>
              <a:rPr lang="en-US" dirty="0"/>
              <a:t>Ensuring timely and reliable access to and use of information</a:t>
            </a:r>
          </a:p>
        </p:txBody>
      </p:sp>
    </p:spTree>
    <p:extLst>
      <p:ext uri="{BB962C8B-B14F-4D97-AF65-F5344CB8AC3E}">
        <p14:creationId xmlns:p14="http://schemas.microsoft.com/office/powerpoint/2010/main" val="222347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Availability</a:t>
            </a:r>
            <a:r>
              <a:rPr lang="en-US" dirty="0"/>
              <a:t>: </a:t>
            </a:r>
            <a:endParaRPr lang="en-US" dirty="0" smtClean="0"/>
          </a:p>
          <a:p>
            <a:r>
              <a:rPr lang="en-US" dirty="0"/>
              <a:t>The more critical a component or service, the higher is the level </a:t>
            </a:r>
            <a:r>
              <a:rPr lang="en-US" dirty="0" smtClean="0"/>
              <a:t>of availability </a:t>
            </a:r>
            <a:r>
              <a:rPr lang="en-US" dirty="0"/>
              <a:t>required. </a:t>
            </a:r>
            <a:endParaRPr lang="en-US" dirty="0" smtClean="0"/>
          </a:p>
          <a:p>
            <a:pPr lvl="1"/>
            <a:r>
              <a:rPr lang="en-US" dirty="0" smtClean="0"/>
              <a:t>Consider </a:t>
            </a:r>
            <a:r>
              <a:rPr lang="en-US" dirty="0"/>
              <a:t>a system that provides authentication services </a:t>
            </a:r>
            <a:r>
              <a:rPr lang="en-US" dirty="0" smtClean="0"/>
              <a:t>for critical </a:t>
            </a:r>
            <a:r>
              <a:rPr lang="en-US" dirty="0"/>
              <a:t>systems, applications, and devices. </a:t>
            </a:r>
            <a:endParaRPr lang="en-US" dirty="0" smtClean="0"/>
          </a:p>
          <a:p>
            <a:pPr lvl="1"/>
            <a:r>
              <a:rPr lang="en-US" dirty="0" smtClean="0"/>
              <a:t>An </a:t>
            </a:r>
            <a:r>
              <a:rPr lang="en-US" dirty="0"/>
              <a:t>interruption of service results in </a:t>
            </a:r>
            <a:r>
              <a:rPr lang="en-US" dirty="0" smtClean="0"/>
              <a:t>the inability </a:t>
            </a:r>
            <a:r>
              <a:rPr lang="en-US" dirty="0"/>
              <a:t>for customers to access computing resources and staff to </a:t>
            </a:r>
            <a:r>
              <a:rPr lang="en-US" dirty="0" smtClean="0"/>
              <a:t>access the </a:t>
            </a:r>
            <a:r>
              <a:rPr lang="en-US" dirty="0"/>
              <a:t>resources they need to perform critical tasks.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loss of the </a:t>
            </a:r>
            <a:r>
              <a:rPr lang="en-US" dirty="0" smtClean="0"/>
              <a:t>service translates </a:t>
            </a:r>
            <a:r>
              <a:rPr lang="en-US" dirty="0"/>
              <a:t>into a large financial loss in lost employee productivity and </a:t>
            </a:r>
            <a:r>
              <a:rPr lang="en-US" dirty="0" smtClean="0"/>
              <a:t>potential customer </a:t>
            </a:r>
            <a:r>
              <a:rPr lang="en-US" dirty="0"/>
              <a:t>loss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Facebook losses $ 24, 420 per minute, if it goes down.</a:t>
            </a:r>
          </a:p>
        </p:txBody>
      </p:sp>
    </p:spTree>
    <p:extLst>
      <p:ext uri="{BB962C8B-B14F-4D97-AF65-F5344CB8AC3E}">
        <p14:creationId xmlns:p14="http://schemas.microsoft.com/office/powerpoint/2010/main" val="2236945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Availability</a:t>
            </a:r>
            <a:r>
              <a:rPr lang="en-US" dirty="0"/>
              <a:t>: </a:t>
            </a:r>
            <a:endParaRPr lang="en-US" dirty="0" smtClean="0"/>
          </a:p>
          <a:p>
            <a:r>
              <a:rPr lang="en-US" dirty="0" smtClean="0"/>
              <a:t>Public Web </a:t>
            </a:r>
            <a:r>
              <a:rPr lang="en-US" dirty="0"/>
              <a:t>site for a </a:t>
            </a:r>
            <a:r>
              <a:rPr lang="en-US" dirty="0" smtClean="0"/>
              <a:t>university</a:t>
            </a:r>
            <a:endParaRPr lang="en-US" dirty="0"/>
          </a:p>
          <a:p>
            <a:pPr lvl="1"/>
            <a:r>
              <a:rPr lang="en-US" dirty="0"/>
              <a:t>moderate availability requirement</a:t>
            </a:r>
            <a:endParaRPr lang="en-US" dirty="0" smtClean="0"/>
          </a:p>
          <a:p>
            <a:pPr lvl="1"/>
            <a:r>
              <a:rPr lang="en-US" dirty="0" smtClean="0"/>
              <a:t>The Web </a:t>
            </a:r>
            <a:r>
              <a:rPr lang="en-US" dirty="0"/>
              <a:t>site </a:t>
            </a:r>
            <a:r>
              <a:rPr lang="en-US" dirty="0" smtClean="0"/>
              <a:t>provides information </a:t>
            </a:r>
            <a:r>
              <a:rPr lang="en-US" dirty="0"/>
              <a:t>for current and prospective students and donors. </a:t>
            </a:r>
            <a:endParaRPr lang="en-US" dirty="0" smtClean="0"/>
          </a:p>
          <a:p>
            <a:pPr lvl="1"/>
            <a:r>
              <a:rPr lang="en-US" dirty="0" smtClean="0"/>
              <a:t>Such </a:t>
            </a:r>
            <a:r>
              <a:rPr lang="en-US" dirty="0"/>
              <a:t>a site is not </a:t>
            </a:r>
            <a:r>
              <a:rPr lang="en-US" dirty="0" smtClean="0"/>
              <a:t>a critical </a:t>
            </a:r>
            <a:r>
              <a:rPr lang="en-US" dirty="0"/>
              <a:t>component of the university’s information system, but its unavailability </a:t>
            </a:r>
            <a:r>
              <a:rPr lang="en-US" dirty="0" smtClean="0"/>
              <a:t>will cause </a:t>
            </a:r>
            <a:r>
              <a:rPr lang="en-US" dirty="0"/>
              <a:t>some embarrassment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939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Security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Availability</a:t>
            </a:r>
            <a:r>
              <a:rPr lang="en-US" dirty="0"/>
              <a:t>: </a:t>
            </a:r>
            <a:endParaRPr lang="en-US" dirty="0" smtClean="0"/>
          </a:p>
          <a:p>
            <a:r>
              <a:rPr lang="en-US" dirty="0"/>
              <a:t>An online telephone directory lookup application </a:t>
            </a:r>
            <a:endParaRPr lang="en-US" dirty="0" smtClean="0"/>
          </a:p>
          <a:p>
            <a:pPr lvl="1"/>
            <a:r>
              <a:rPr lang="en-US" dirty="0" smtClean="0"/>
              <a:t>low </a:t>
            </a:r>
            <a:r>
              <a:rPr lang="en-US" dirty="0"/>
              <a:t>availability </a:t>
            </a:r>
            <a:r>
              <a:rPr lang="en-US" dirty="0" smtClean="0"/>
              <a:t>requirement</a:t>
            </a:r>
          </a:p>
          <a:p>
            <a:pPr lvl="1"/>
            <a:r>
              <a:rPr lang="en-US" dirty="0" smtClean="0"/>
              <a:t>Although </a:t>
            </a:r>
            <a:r>
              <a:rPr lang="en-US" dirty="0"/>
              <a:t>the temporary loss of the application may </a:t>
            </a:r>
            <a:r>
              <a:rPr lang="en-US" dirty="0" smtClean="0"/>
              <a:t>be an </a:t>
            </a:r>
            <a:r>
              <a:rPr lang="en-US" dirty="0"/>
              <a:t>annoyance, </a:t>
            </a:r>
            <a:endParaRPr lang="en-US" dirty="0" smtClean="0"/>
          </a:p>
          <a:p>
            <a:pPr lvl="1"/>
            <a:r>
              <a:rPr lang="en-US" dirty="0" smtClean="0"/>
              <a:t>there </a:t>
            </a:r>
            <a:r>
              <a:rPr lang="en-US" dirty="0"/>
              <a:t>are other ways to access the information, such as a </a:t>
            </a:r>
            <a:r>
              <a:rPr lang="en-US" dirty="0" smtClean="0"/>
              <a:t>hardcopy directory </a:t>
            </a:r>
            <a:r>
              <a:rPr lang="en-US" dirty="0"/>
              <a:t>or the operator.</a:t>
            </a:r>
          </a:p>
        </p:txBody>
      </p:sp>
    </p:spTree>
    <p:extLst>
      <p:ext uri="{BB962C8B-B14F-4D97-AF65-F5344CB8AC3E}">
        <p14:creationId xmlns:p14="http://schemas.microsoft.com/office/powerpoint/2010/main" val="1784373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additional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Authenticity: </a:t>
            </a:r>
            <a:endParaRPr lang="en-US" b="1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property of being genuine and being able to be verified </a:t>
            </a:r>
            <a:r>
              <a:rPr lang="en-US" dirty="0" smtClean="0"/>
              <a:t>and trusted</a:t>
            </a:r>
            <a:r>
              <a:rPr lang="en-US" dirty="0"/>
              <a:t>; </a:t>
            </a:r>
            <a:endParaRPr lang="en-US" dirty="0" smtClean="0"/>
          </a:p>
          <a:p>
            <a:pPr lvl="1"/>
            <a:r>
              <a:rPr lang="en-US" dirty="0" smtClean="0"/>
              <a:t>Confidence in </a:t>
            </a:r>
            <a:r>
              <a:rPr lang="en-US" dirty="0"/>
              <a:t>the validity of a transmission, a message, or </a:t>
            </a:r>
            <a:r>
              <a:rPr lang="en-US" dirty="0" smtClean="0"/>
              <a:t>message originator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dirty="0" smtClean="0"/>
              <a:t>This </a:t>
            </a:r>
            <a:r>
              <a:rPr lang="en-US" dirty="0"/>
              <a:t>means verifying that users are who they say they are and </a:t>
            </a:r>
            <a:r>
              <a:rPr lang="en-US" dirty="0" smtClean="0"/>
              <a:t>that each </a:t>
            </a:r>
            <a:r>
              <a:rPr lang="en-US" dirty="0"/>
              <a:t>input arriving at the system came from a trusted </a:t>
            </a:r>
            <a:r>
              <a:rPr lang="en-US" dirty="0" smtClean="0"/>
              <a:t>source.</a:t>
            </a:r>
          </a:p>
          <a:p>
            <a:r>
              <a:rPr lang="en-US" b="1" dirty="0"/>
              <a:t>Accountability: </a:t>
            </a:r>
            <a:endParaRPr lang="en-US" b="1" dirty="0" smtClean="0"/>
          </a:p>
          <a:p>
            <a:pPr lvl="1"/>
            <a:r>
              <a:rPr lang="en-US" dirty="0" smtClean="0"/>
              <a:t>Actions of </a:t>
            </a:r>
            <a:r>
              <a:rPr lang="en-US" dirty="0"/>
              <a:t>an entity </a:t>
            </a:r>
            <a:r>
              <a:rPr lang="en-US" dirty="0" smtClean="0"/>
              <a:t>should be </a:t>
            </a:r>
            <a:r>
              <a:rPr lang="en-US" dirty="0"/>
              <a:t>traced uniquely to that entity. </a:t>
            </a:r>
            <a:endParaRPr lang="en-US" dirty="0" smtClean="0"/>
          </a:p>
          <a:p>
            <a:pPr lvl="1"/>
            <a:r>
              <a:rPr lang="en-US" dirty="0" smtClean="0"/>
              <a:t>This </a:t>
            </a:r>
            <a:r>
              <a:rPr lang="en-US" dirty="0"/>
              <a:t>supports </a:t>
            </a:r>
            <a:r>
              <a:rPr lang="en-US" dirty="0" smtClean="0"/>
              <a:t>nonrepudiation, fault </a:t>
            </a:r>
            <a:r>
              <a:rPr lang="en-US" dirty="0"/>
              <a:t>isolation, intrusion detection and prevention, </a:t>
            </a:r>
            <a:r>
              <a:rPr lang="en-US" dirty="0" smtClean="0"/>
              <a:t>and after-action </a:t>
            </a:r>
            <a:r>
              <a:rPr lang="en-US" dirty="0"/>
              <a:t>recovery and legal action. </a:t>
            </a:r>
            <a:endParaRPr lang="en-US" dirty="0" smtClean="0"/>
          </a:p>
          <a:p>
            <a:r>
              <a:rPr lang="en-US" dirty="0" smtClean="0"/>
              <a:t>Secure systems </a:t>
            </a:r>
            <a:r>
              <a:rPr lang="en-US" dirty="0"/>
              <a:t>are </a:t>
            </a:r>
            <a:r>
              <a:rPr lang="en-US" dirty="0" smtClean="0"/>
              <a:t>not yet </a:t>
            </a:r>
            <a:r>
              <a:rPr lang="en-US" dirty="0"/>
              <a:t>an achievable goal, we must be able to trace a security breach </a:t>
            </a:r>
            <a:r>
              <a:rPr lang="en-US" dirty="0" smtClean="0"/>
              <a:t>to a </a:t>
            </a:r>
            <a:r>
              <a:rPr lang="en-US" dirty="0"/>
              <a:t>responsible party. </a:t>
            </a:r>
          </a:p>
        </p:txBody>
      </p:sp>
    </p:spTree>
    <p:extLst>
      <p:ext uri="{BB962C8B-B14F-4D97-AF65-F5344CB8AC3E}">
        <p14:creationId xmlns:p14="http://schemas.microsoft.com/office/powerpoint/2010/main" val="4106188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</a:t>
            </a:r>
            <a:r>
              <a:rPr lang="en-US" dirty="0"/>
              <a:t>Security </a:t>
            </a:r>
            <a:r>
              <a:rPr lang="en-US" dirty="0" smtClean="0"/>
              <a:t>Concepts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Types </a:t>
            </a:r>
            <a:r>
              <a:rPr lang="en-US" u="sng" dirty="0"/>
              <a:t>of Attacks</a:t>
            </a:r>
          </a:p>
          <a:p>
            <a:pPr marL="0" indent="0">
              <a:buNone/>
            </a:pPr>
            <a:r>
              <a:rPr lang="en-US" b="1" dirty="0"/>
              <a:t>Passive Attack</a:t>
            </a:r>
          </a:p>
          <a:p>
            <a:pPr lvl="1"/>
            <a:r>
              <a:rPr lang="en-US" dirty="0"/>
              <a:t>Make use of information, but not affect system resources, e.g.</a:t>
            </a:r>
          </a:p>
          <a:p>
            <a:pPr lvl="2"/>
            <a:r>
              <a:rPr lang="en-US" dirty="0"/>
              <a:t>Release message contents</a:t>
            </a:r>
          </a:p>
          <a:p>
            <a:pPr lvl="2"/>
            <a:r>
              <a:rPr lang="en-US" dirty="0" smtClean="0"/>
              <a:t>Traffic </a:t>
            </a:r>
            <a:r>
              <a:rPr lang="en-US" dirty="0"/>
              <a:t>analysis</a:t>
            </a:r>
          </a:p>
          <a:p>
            <a:pPr lvl="1"/>
            <a:r>
              <a:rPr lang="en-US" u="sng" dirty="0"/>
              <a:t>Relatively hard to detect, but easier to prevent</a:t>
            </a:r>
          </a:p>
          <a:p>
            <a:pPr marL="0" indent="0">
              <a:buNone/>
            </a:pPr>
            <a:r>
              <a:rPr lang="en-US" b="1" dirty="0"/>
              <a:t>Active Attack</a:t>
            </a:r>
          </a:p>
          <a:p>
            <a:pPr lvl="1"/>
            <a:r>
              <a:rPr lang="en-US" dirty="0"/>
              <a:t>Alter system resources or operation, e.g.</a:t>
            </a:r>
          </a:p>
          <a:p>
            <a:pPr lvl="2"/>
            <a:r>
              <a:rPr lang="en-US" dirty="0"/>
              <a:t>Masquerade</a:t>
            </a:r>
          </a:p>
          <a:p>
            <a:pPr lvl="2"/>
            <a:r>
              <a:rPr lang="en-US" dirty="0"/>
              <a:t>Replay</a:t>
            </a:r>
          </a:p>
          <a:p>
            <a:pPr lvl="2"/>
            <a:r>
              <a:rPr lang="en-US" dirty="0" smtClean="0"/>
              <a:t>Modification</a:t>
            </a:r>
            <a:endParaRPr lang="en-US" dirty="0"/>
          </a:p>
          <a:p>
            <a:pPr lvl="2"/>
            <a:r>
              <a:rPr lang="en-US" dirty="0"/>
              <a:t>Denial of service</a:t>
            </a:r>
          </a:p>
          <a:p>
            <a:pPr lvl="1"/>
            <a:r>
              <a:rPr lang="en-US" u="sng" dirty="0"/>
              <a:t>Relatively hard to prevent, but easier to detect</a:t>
            </a:r>
          </a:p>
        </p:txBody>
      </p:sp>
    </p:spTree>
    <p:extLst>
      <p:ext uri="{BB962C8B-B14F-4D97-AF65-F5344CB8AC3E}">
        <p14:creationId xmlns:p14="http://schemas.microsoft.com/office/powerpoint/2010/main" val="1673263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</a:t>
            </a:r>
            <a:r>
              <a:rPr lang="en-US" dirty="0"/>
              <a:t>Security </a:t>
            </a:r>
            <a:r>
              <a:rPr lang="en-US" dirty="0" smtClean="0"/>
              <a:t>Concepts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Release </a:t>
            </a:r>
            <a:r>
              <a:rPr lang="en-US" u="sng" dirty="0"/>
              <a:t>message </a:t>
            </a:r>
            <a:r>
              <a:rPr lang="en-US" u="sng" dirty="0" smtClean="0"/>
              <a:t>contents – Passive Attack</a:t>
            </a:r>
            <a:endParaRPr lang="en-US" u="sng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1981200"/>
            <a:ext cx="57150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86200" y="1985682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prstClr val="black"/>
                </a:solidFill>
              </a:rPr>
              <a:t>E</a:t>
            </a:r>
            <a:endParaRPr lang="en-U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6205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</a:t>
            </a:r>
            <a:r>
              <a:rPr lang="en-US" dirty="0"/>
              <a:t>Security </a:t>
            </a:r>
            <a:r>
              <a:rPr lang="en-US" dirty="0" smtClean="0"/>
              <a:t>Concepts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Traffic analysis – Passive Attack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50" y="2032000"/>
            <a:ext cx="5715000" cy="406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86200" y="1985682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prstClr val="black"/>
                </a:solidFill>
              </a:rPr>
              <a:t>E</a:t>
            </a:r>
            <a:endParaRPr lang="en-U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328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</a:t>
            </a:r>
            <a:r>
              <a:rPr lang="en-US" dirty="0"/>
              <a:t>Security </a:t>
            </a:r>
            <a:r>
              <a:rPr lang="en-US" dirty="0" smtClean="0"/>
              <a:t>Concepts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Masquerade – </a:t>
            </a:r>
            <a:r>
              <a:rPr lang="en-US" u="sng" smtClean="0"/>
              <a:t>Active Attack</a:t>
            </a:r>
            <a:endParaRPr lang="en-US" u="sng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2032000"/>
            <a:ext cx="5715000" cy="406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86200" y="1985682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prstClr val="black"/>
                </a:solidFill>
              </a:rPr>
              <a:t>E</a:t>
            </a:r>
            <a:endParaRPr lang="en-U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0375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</a:t>
            </a:r>
            <a:r>
              <a:rPr lang="en-US" dirty="0"/>
              <a:t>Security </a:t>
            </a:r>
            <a:r>
              <a:rPr lang="en-US" dirty="0" smtClean="0"/>
              <a:t>Concepts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Replay – Active Attack</a:t>
            </a:r>
            <a:endParaRPr lang="en-US" u="sng" dirty="0" smtClean="0"/>
          </a:p>
          <a:p>
            <a:pPr marL="0" indent="0">
              <a:buNone/>
            </a:pPr>
            <a:endParaRPr lang="en-US" u="sng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1981200"/>
            <a:ext cx="5715000" cy="406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86200" y="1985682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prstClr val="black"/>
                </a:solidFill>
              </a:rPr>
              <a:t>E</a:t>
            </a:r>
            <a:endParaRPr lang="en-U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38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</a:t>
            </a:r>
            <a:r>
              <a:rPr lang="en-US" dirty="0"/>
              <a:t>Security </a:t>
            </a:r>
            <a:r>
              <a:rPr lang="en-US" dirty="0" smtClean="0"/>
              <a:t>Concepts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Modification – Active Attack</a:t>
            </a:r>
          </a:p>
          <a:p>
            <a:pPr marL="0" indent="0">
              <a:buNone/>
            </a:pPr>
            <a:endParaRPr lang="en-US" u="sng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1981200"/>
            <a:ext cx="5715000" cy="406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86200" y="1985682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prstClr val="black"/>
                </a:solidFill>
              </a:rPr>
              <a:t>E</a:t>
            </a:r>
            <a:endParaRPr lang="en-U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818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</a:t>
            </a:r>
            <a:r>
              <a:rPr lang="en-US" dirty="0"/>
              <a:t>Security </a:t>
            </a:r>
            <a:r>
              <a:rPr lang="en-US" dirty="0" smtClean="0"/>
              <a:t>Concepts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Denial </a:t>
            </a:r>
            <a:r>
              <a:rPr lang="en-US" u="sng" dirty="0"/>
              <a:t>of service – Active Attack</a:t>
            </a:r>
            <a:endParaRPr lang="en-US" u="sng" dirty="0" smtClean="0"/>
          </a:p>
          <a:p>
            <a:pPr marL="0" indent="0">
              <a:buNone/>
            </a:pPr>
            <a:endParaRPr lang="en-US" u="sng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1981200"/>
            <a:ext cx="5715000" cy="406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86200" y="1985682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prstClr val="black"/>
                </a:solidFill>
              </a:rPr>
              <a:t>E</a:t>
            </a:r>
            <a:endParaRPr lang="en-U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339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Attacks</a:t>
            </a: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446" y="1828800"/>
            <a:ext cx="9187446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1780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 Buffer Overflow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69009"/>
            <a:ext cx="8382000" cy="2336191"/>
          </a:xfrm>
        </p:spPr>
        <p:txBody>
          <a:bodyPr/>
          <a:lstStyle/>
          <a:p>
            <a:r>
              <a:rPr lang="en-US" dirty="0"/>
              <a:t>Buffer: memory used </a:t>
            </a:r>
            <a:r>
              <a:rPr lang="en-US" dirty="0" smtClean="0"/>
              <a:t>to store </a:t>
            </a:r>
            <a:r>
              <a:rPr lang="en-US" dirty="0"/>
              <a:t>user input, has </a:t>
            </a:r>
            <a:r>
              <a:rPr lang="en-US" dirty="0" smtClean="0"/>
              <a:t>fixed maximum </a:t>
            </a:r>
            <a:r>
              <a:rPr lang="en-US" dirty="0"/>
              <a:t>size</a:t>
            </a:r>
          </a:p>
          <a:p>
            <a:r>
              <a:rPr lang="en-US" dirty="0" smtClean="0"/>
              <a:t>Buffer </a:t>
            </a:r>
            <a:r>
              <a:rPr lang="en-US" dirty="0"/>
              <a:t>overflow: when </a:t>
            </a:r>
            <a:r>
              <a:rPr lang="en-US" dirty="0" smtClean="0"/>
              <a:t>user input </a:t>
            </a:r>
            <a:r>
              <a:rPr lang="en-US" dirty="0"/>
              <a:t>exceeds max </a:t>
            </a:r>
            <a:r>
              <a:rPr lang="en-US" dirty="0" smtClean="0"/>
              <a:t>buffer size</a:t>
            </a:r>
            <a:endParaRPr lang="en-US" dirty="0"/>
          </a:p>
          <a:p>
            <a:r>
              <a:rPr lang="en-US" dirty="0" smtClean="0"/>
              <a:t>Extra </a:t>
            </a:r>
            <a:r>
              <a:rPr lang="en-US" dirty="0"/>
              <a:t>input goes </a:t>
            </a:r>
            <a:r>
              <a:rPr lang="en-US" dirty="0" smtClean="0"/>
              <a:t>into memory </a:t>
            </a:r>
            <a:r>
              <a:rPr lang="en-US" dirty="0"/>
              <a:t>locations </a:t>
            </a:r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8350" y="3771900"/>
            <a:ext cx="3143250" cy="293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9418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Example</a:t>
            </a:r>
            <a:endParaRPr lang="en-GB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1447799"/>
            <a:ext cx="9176026" cy="5410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8365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447800"/>
            <a:ext cx="7358932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09600" y="5334000"/>
            <a:ext cx="8382000" cy="1040791"/>
          </a:xfrm>
        </p:spPr>
        <p:txBody>
          <a:bodyPr/>
          <a:lstStyle/>
          <a:p>
            <a:r>
              <a:rPr lang="en-US" dirty="0"/>
              <a:t>Smashing The Stack For Fun And </a:t>
            </a:r>
            <a:r>
              <a:rPr lang="en-US" dirty="0" smtClean="0"/>
              <a:t>Profit</a:t>
            </a:r>
            <a:endParaRPr lang="en-GB" dirty="0" smtClean="0"/>
          </a:p>
          <a:p>
            <a:r>
              <a:rPr lang="en-GB" sz="1600" dirty="0"/>
              <a:t>http://www-inst.eecs.berkeley.edu/~cs161/fa08/papers/stack_smashing.pdf</a:t>
            </a:r>
          </a:p>
        </p:txBody>
      </p:sp>
    </p:spTree>
    <p:extLst>
      <p:ext uri="{BB962C8B-B14F-4D97-AF65-F5344CB8AC3E}">
        <p14:creationId xmlns:p14="http://schemas.microsoft.com/office/powerpoint/2010/main" val="265949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Solution: </a:t>
            </a:r>
            <a:r>
              <a:rPr lang="en-GB" dirty="0" smtClean="0"/>
              <a:t>Defensive </a:t>
            </a:r>
            <a:r>
              <a:rPr lang="en-GB" dirty="0"/>
              <a:t>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Never Trust </a:t>
            </a:r>
            <a:r>
              <a:rPr lang="en-US" dirty="0" smtClean="0"/>
              <a:t>Input</a:t>
            </a:r>
          </a:p>
          <a:p>
            <a:pPr lvl="1"/>
            <a:r>
              <a:rPr lang="en-US" dirty="0" smtClean="0"/>
              <a:t>Always check buffer lengths</a:t>
            </a:r>
            <a:endParaRPr lang="en-US" dirty="0"/>
          </a:p>
          <a:p>
            <a:r>
              <a:rPr lang="en-US" dirty="0" smtClean="0"/>
              <a:t>Prevent </a:t>
            </a:r>
            <a:r>
              <a:rPr lang="en-US" dirty="0"/>
              <a:t>Errors</a:t>
            </a:r>
          </a:p>
          <a:p>
            <a:r>
              <a:rPr lang="en-US" dirty="0" smtClean="0"/>
              <a:t>Fail </a:t>
            </a:r>
            <a:r>
              <a:rPr lang="en-US" dirty="0"/>
              <a:t>Early And Openly</a:t>
            </a:r>
          </a:p>
          <a:p>
            <a:r>
              <a:rPr lang="en-US" dirty="0" smtClean="0"/>
              <a:t>Document Assumptions</a:t>
            </a:r>
            <a:endParaRPr lang="en-US" dirty="0"/>
          </a:p>
          <a:p>
            <a:r>
              <a:rPr lang="en-US" dirty="0" smtClean="0"/>
              <a:t>Prevention Over Documentation</a:t>
            </a:r>
            <a:endParaRPr lang="en-US" dirty="0"/>
          </a:p>
          <a:p>
            <a:r>
              <a:rPr lang="en-US" dirty="0" smtClean="0"/>
              <a:t>Automate </a:t>
            </a:r>
            <a:r>
              <a:rPr lang="en-US" dirty="0"/>
              <a:t>Everything</a:t>
            </a:r>
          </a:p>
          <a:p>
            <a:r>
              <a:rPr lang="en-US" dirty="0" smtClean="0"/>
              <a:t>Simplify </a:t>
            </a:r>
            <a:r>
              <a:rPr lang="en-US" dirty="0"/>
              <a:t>And Clarify</a:t>
            </a:r>
          </a:p>
          <a:p>
            <a:r>
              <a:rPr lang="en-US" dirty="0" smtClean="0"/>
              <a:t>Question Authority</a:t>
            </a:r>
          </a:p>
          <a:p>
            <a:endParaRPr lang="en-US" dirty="0"/>
          </a:p>
          <a:p>
            <a:pPr marL="0" indent="0" algn="r">
              <a:buNone/>
            </a:pPr>
            <a:r>
              <a:rPr lang="en-US" dirty="0" smtClean="0"/>
              <a:t>~ Learn </a:t>
            </a:r>
            <a:r>
              <a:rPr lang="en-US" dirty="0"/>
              <a:t>C The Hard Way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5017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never happens!</a:t>
            </a:r>
            <a:endParaRPr lang="en-GB" dirty="0"/>
          </a:p>
        </p:txBody>
      </p:sp>
      <p:pic>
        <p:nvPicPr>
          <p:cNvPr id="5122" name="Picture 2" descr="http://www.icanbarelydraw.com/comic/wp-content/uploads/2014/04/buffer-overflow-600dp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2128682"/>
            <a:ext cx="9220200" cy="4729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393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Static Analysis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Static Analysis: </a:t>
            </a:r>
            <a:r>
              <a:rPr lang="en-GB" dirty="0" err="1"/>
              <a:t>analyzing</a:t>
            </a:r>
            <a:r>
              <a:rPr lang="en-GB" dirty="0"/>
              <a:t> programs without </a:t>
            </a:r>
            <a:r>
              <a:rPr lang="en-GB" dirty="0" smtClean="0"/>
              <a:t>running them</a:t>
            </a:r>
            <a:endParaRPr lang="en-GB" dirty="0"/>
          </a:p>
          <a:p>
            <a:r>
              <a:rPr lang="en-GB" dirty="0" smtClean="0"/>
              <a:t>Meta-level </a:t>
            </a:r>
            <a:r>
              <a:rPr lang="en-GB" dirty="0"/>
              <a:t>compilation</a:t>
            </a:r>
          </a:p>
          <a:p>
            <a:pPr lvl="1"/>
            <a:r>
              <a:rPr lang="en-GB" dirty="0" smtClean="0"/>
              <a:t>Find </a:t>
            </a:r>
            <a:r>
              <a:rPr lang="en-GB" dirty="0"/>
              <a:t>security, synchronization, and memory bugs</a:t>
            </a:r>
          </a:p>
          <a:p>
            <a:pPr lvl="1"/>
            <a:r>
              <a:rPr lang="en-GB" dirty="0" smtClean="0"/>
              <a:t>Detect </a:t>
            </a:r>
            <a:r>
              <a:rPr lang="en-GB" dirty="0"/>
              <a:t>frequent code patterns/idioms and flag </a:t>
            </a:r>
            <a:r>
              <a:rPr lang="en-GB" dirty="0" smtClean="0"/>
              <a:t>code anomalies </a:t>
            </a:r>
            <a:r>
              <a:rPr lang="en-GB" dirty="0"/>
              <a:t>that don’t fit</a:t>
            </a:r>
          </a:p>
          <a:p>
            <a:r>
              <a:rPr lang="en-GB" dirty="0" smtClean="0"/>
              <a:t>Ex</a:t>
            </a:r>
            <a:r>
              <a:rPr lang="en-GB" dirty="0"/>
              <a:t>: </a:t>
            </a:r>
            <a:r>
              <a:rPr lang="en-GB" dirty="0" err="1"/>
              <a:t>Coverity</a:t>
            </a:r>
            <a:r>
              <a:rPr lang="en-GB" dirty="0"/>
              <a:t>, Fortify, Ounce Labs, </a:t>
            </a:r>
            <a:r>
              <a:rPr lang="en-GB" dirty="0" err="1"/>
              <a:t>Klockwork</a:t>
            </a:r>
            <a:endParaRPr lang="en-GB" dirty="0"/>
          </a:p>
          <a:p>
            <a:pPr lvl="1"/>
            <a:r>
              <a:rPr lang="en-GB" dirty="0" err="1" smtClean="0"/>
              <a:t>Coverity</a:t>
            </a:r>
            <a:r>
              <a:rPr lang="en-GB" dirty="0" smtClean="0"/>
              <a:t> </a:t>
            </a:r>
            <a:r>
              <a:rPr lang="en-GB" dirty="0"/>
              <a:t>found bugs in Linux device drivers</a:t>
            </a:r>
          </a:p>
          <a:p>
            <a:pPr lvl="1"/>
            <a:r>
              <a:rPr lang="en-GB" dirty="0" smtClean="0"/>
              <a:t>Lots </a:t>
            </a:r>
            <a:r>
              <a:rPr lang="en-GB" dirty="0"/>
              <a:t>of tools to look for security bugs in Web code</a:t>
            </a:r>
          </a:p>
        </p:txBody>
      </p:sp>
    </p:spTree>
    <p:extLst>
      <p:ext uri="{BB962C8B-B14F-4D97-AF65-F5344CB8AC3E}">
        <p14:creationId xmlns:p14="http://schemas.microsoft.com/office/powerpoint/2010/main" val="385384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Summary of Buffer overflow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Buffer overflows most common security threat!</a:t>
            </a:r>
          </a:p>
          <a:p>
            <a:pPr lvl="1"/>
            <a:r>
              <a:rPr lang="en-US" dirty="0" smtClean="0"/>
              <a:t>Used </a:t>
            </a:r>
            <a:r>
              <a:rPr lang="en-US" dirty="0"/>
              <a:t>in many worms such as Morris Worm</a:t>
            </a:r>
          </a:p>
          <a:p>
            <a:pPr lvl="1"/>
            <a:r>
              <a:rPr lang="en-US" dirty="0" smtClean="0"/>
              <a:t>Affects </a:t>
            </a:r>
            <a:r>
              <a:rPr lang="en-US" dirty="0"/>
              <a:t>both stacks and heaps</a:t>
            </a:r>
          </a:p>
          <a:p>
            <a:r>
              <a:rPr lang="en-US" dirty="0" smtClean="0"/>
              <a:t>Attacker </a:t>
            </a:r>
            <a:r>
              <a:rPr lang="en-US" dirty="0"/>
              <a:t>can run desired code, hijack </a:t>
            </a:r>
            <a:r>
              <a:rPr lang="en-US" dirty="0" smtClean="0"/>
              <a:t>program execution </a:t>
            </a:r>
            <a:r>
              <a:rPr lang="en-US" dirty="0"/>
              <a:t>and change its behavior</a:t>
            </a:r>
          </a:p>
          <a:p>
            <a:r>
              <a:rPr lang="en-US" dirty="0" smtClean="0"/>
              <a:t>Prevent </a:t>
            </a:r>
            <a:r>
              <a:rPr lang="en-US" dirty="0"/>
              <a:t>by bounds-checking all buffers</a:t>
            </a:r>
          </a:p>
          <a:p>
            <a:pPr lvl="1"/>
            <a:r>
              <a:rPr lang="en-US" dirty="0" smtClean="0"/>
              <a:t>And/or </a:t>
            </a:r>
            <a:r>
              <a:rPr lang="en-US" dirty="0"/>
              <a:t>use </a:t>
            </a:r>
            <a:r>
              <a:rPr lang="en-US" dirty="0" err="1"/>
              <a:t>StackGuard</a:t>
            </a:r>
            <a:r>
              <a:rPr lang="en-US" dirty="0"/>
              <a:t>, Static Analysis…</a:t>
            </a:r>
          </a:p>
          <a:p>
            <a:r>
              <a:rPr lang="en-US" dirty="0" smtClean="0"/>
              <a:t>Type </a:t>
            </a:r>
            <a:r>
              <a:rPr lang="en-US" dirty="0"/>
              <a:t>of Memory Corruption:</a:t>
            </a:r>
          </a:p>
          <a:p>
            <a:pPr lvl="1"/>
            <a:r>
              <a:rPr lang="en-US" dirty="0" smtClean="0"/>
              <a:t>Format </a:t>
            </a:r>
            <a:r>
              <a:rPr lang="en-US" dirty="0"/>
              <a:t>String Vulnerabilities, Integer Overflow, etc</a:t>
            </a:r>
            <a:r>
              <a:rPr lang="en-US" dirty="0" smtClean="0"/>
              <a:t>…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r>
              <a:rPr lang="en-US" dirty="0" smtClean="0"/>
              <a:t>Further Reading</a:t>
            </a:r>
          </a:p>
          <a:p>
            <a:pPr lvl="1"/>
            <a:r>
              <a:rPr lang="en-US" dirty="0"/>
              <a:t>“Low-Level Software Security by Example” by </a:t>
            </a:r>
            <a:r>
              <a:rPr lang="en-US" dirty="0" err="1"/>
              <a:t>Ulfar</a:t>
            </a:r>
            <a:r>
              <a:rPr lang="en-US" dirty="0"/>
              <a:t> </a:t>
            </a:r>
            <a:r>
              <a:rPr lang="en-US" dirty="0" err="1"/>
              <a:t>Erlingsson</a:t>
            </a:r>
            <a:r>
              <a:rPr lang="en-US" dirty="0"/>
              <a:t>, Yves </a:t>
            </a:r>
            <a:r>
              <a:rPr lang="en-US" dirty="0" err="1"/>
              <a:t>Younan</a:t>
            </a:r>
            <a:r>
              <a:rPr lang="en-US" dirty="0"/>
              <a:t>, and Frank </a:t>
            </a:r>
            <a:r>
              <a:rPr lang="en-US" dirty="0" err="1"/>
              <a:t>Piessens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713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</a:t>
            </a:r>
            <a:r>
              <a:rPr lang="en-US" dirty="0"/>
              <a:t>Security </a:t>
            </a:r>
            <a:r>
              <a:rPr lang="en-US" dirty="0" smtClean="0"/>
              <a:t>Concepts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u="sng" dirty="0" smtClean="0"/>
              <a:t>Security </a:t>
            </a:r>
            <a:r>
              <a:rPr lang="en-US" u="sng" dirty="0"/>
              <a:t>Services</a:t>
            </a:r>
          </a:p>
          <a:p>
            <a:r>
              <a:rPr lang="en-US" b="1" dirty="0"/>
              <a:t>Authentication</a:t>
            </a:r>
            <a:r>
              <a:rPr lang="en-US" dirty="0"/>
              <a:t> </a:t>
            </a:r>
            <a:r>
              <a:rPr lang="en-US" dirty="0" smtClean="0"/>
              <a:t>assure </a:t>
            </a:r>
            <a:r>
              <a:rPr lang="en-US" dirty="0"/>
              <a:t>that the communicating entity is the one that it claims to </a:t>
            </a:r>
            <a:r>
              <a:rPr lang="en-US" dirty="0" smtClean="0"/>
              <a:t>be</a:t>
            </a:r>
          </a:p>
          <a:p>
            <a:r>
              <a:rPr lang="en-US" b="1" dirty="0" smtClean="0"/>
              <a:t>Access </a:t>
            </a:r>
            <a:r>
              <a:rPr lang="en-US" b="1" dirty="0"/>
              <a:t>Control</a:t>
            </a:r>
            <a:r>
              <a:rPr lang="en-US" dirty="0"/>
              <a:t> </a:t>
            </a:r>
            <a:r>
              <a:rPr lang="en-US" dirty="0" smtClean="0"/>
              <a:t>prevent unauthorized </a:t>
            </a:r>
            <a:r>
              <a:rPr lang="en-US" dirty="0"/>
              <a:t>use of a </a:t>
            </a:r>
            <a:r>
              <a:rPr lang="en-US" dirty="0" smtClean="0"/>
              <a:t>resource</a:t>
            </a:r>
            <a:endParaRPr lang="en-US" dirty="0"/>
          </a:p>
          <a:p>
            <a:r>
              <a:rPr lang="en-US" b="1" dirty="0"/>
              <a:t>Data </a:t>
            </a:r>
            <a:r>
              <a:rPr lang="en-US" b="1" dirty="0" smtClean="0"/>
              <a:t>Confidentiality</a:t>
            </a:r>
            <a:r>
              <a:rPr lang="en-US" dirty="0" smtClean="0"/>
              <a:t> protect </a:t>
            </a:r>
            <a:r>
              <a:rPr lang="en-US" dirty="0"/>
              <a:t>data from </a:t>
            </a:r>
            <a:r>
              <a:rPr lang="en-US" dirty="0" smtClean="0"/>
              <a:t>unauthorized </a:t>
            </a:r>
            <a:r>
              <a:rPr lang="en-US" dirty="0"/>
              <a:t>disclosure</a:t>
            </a:r>
          </a:p>
          <a:p>
            <a:r>
              <a:rPr lang="en-US" b="1" dirty="0"/>
              <a:t>Data Integrity</a:t>
            </a:r>
            <a:r>
              <a:rPr lang="en-US" dirty="0"/>
              <a:t> </a:t>
            </a:r>
            <a:r>
              <a:rPr lang="en-US" dirty="0" smtClean="0"/>
              <a:t>assure </a:t>
            </a:r>
            <a:r>
              <a:rPr lang="en-US" dirty="0"/>
              <a:t>data received are exactly as sent by </a:t>
            </a:r>
            <a:r>
              <a:rPr lang="en-US" dirty="0" smtClean="0"/>
              <a:t>authorized </a:t>
            </a:r>
            <a:r>
              <a:rPr lang="en-US" dirty="0"/>
              <a:t>entity</a:t>
            </a:r>
          </a:p>
          <a:p>
            <a:r>
              <a:rPr lang="en-US" b="1" dirty="0"/>
              <a:t>Nonrepudiation</a:t>
            </a:r>
            <a:r>
              <a:rPr lang="en-US" dirty="0"/>
              <a:t> </a:t>
            </a:r>
            <a:r>
              <a:rPr lang="en-US" dirty="0" smtClean="0"/>
              <a:t>protect </a:t>
            </a:r>
            <a:r>
              <a:rPr lang="en-US" dirty="0"/>
              <a:t>against denial of one entity involved in communications of having participated in communications</a:t>
            </a:r>
          </a:p>
          <a:p>
            <a:r>
              <a:rPr lang="en-US" b="1" dirty="0"/>
              <a:t>Availability</a:t>
            </a:r>
            <a:r>
              <a:rPr lang="en-US" dirty="0"/>
              <a:t> </a:t>
            </a:r>
            <a:r>
              <a:rPr lang="en-US" dirty="0" smtClean="0"/>
              <a:t>system </a:t>
            </a:r>
            <a:r>
              <a:rPr lang="en-US" dirty="0"/>
              <a:t>is accessible and usable on demand by </a:t>
            </a:r>
            <a:r>
              <a:rPr lang="en-US" dirty="0" smtClean="0"/>
              <a:t>authorized </a:t>
            </a:r>
            <a:r>
              <a:rPr lang="en-US" dirty="0"/>
              <a:t>users according to intended goal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993325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</a:t>
            </a:r>
            <a:r>
              <a:rPr lang="en-US" dirty="0"/>
              <a:t>Security </a:t>
            </a:r>
            <a:r>
              <a:rPr lang="en-US" dirty="0" smtClean="0"/>
              <a:t>Concepts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u="sng" dirty="0" smtClean="0"/>
              <a:t>Alice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b="1" u="sng" dirty="0"/>
              <a:t>Bob</a:t>
            </a:r>
            <a:r>
              <a:rPr lang="en-US" dirty="0"/>
              <a:t> are the two most famous persons in </a:t>
            </a:r>
            <a:r>
              <a:rPr lang="en-US" dirty="0" smtClean="0"/>
              <a:t>network security</a:t>
            </a:r>
            <a:endParaRPr lang="en-US" dirty="0"/>
          </a:p>
          <a:p>
            <a:r>
              <a:rPr lang="en-US" dirty="0"/>
              <a:t>They are used </a:t>
            </a:r>
            <a:r>
              <a:rPr lang="en-US" dirty="0" smtClean="0"/>
              <a:t>everywhere</a:t>
            </a:r>
          </a:p>
          <a:p>
            <a:endParaRPr lang="en-US" u="sng" dirty="0"/>
          </a:p>
          <a:p>
            <a:endParaRPr lang="en-US" u="sng" dirty="0" smtClean="0"/>
          </a:p>
          <a:p>
            <a:endParaRPr lang="en-US" u="sng" dirty="0"/>
          </a:p>
          <a:p>
            <a:endParaRPr lang="en-US" u="sng" dirty="0" smtClean="0"/>
          </a:p>
          <a:p>
            <a:endParaRPr lang="en-US" u="sng" dirty="0"/>
          </a:p>
          <a:p>
            <a:endParaRPr lang="en-US" u="sng" dirty="0" smtClean="0"/>
          </a:p>
          <a:p>
            <a:endParaRPr lang="en-US" u="sng" dirty="0"/>
          </a:p>
          <a:p>
            <a:r>
              <a:rPr lang="en-US" dirty="0"/>
              <a:t>Alice and Bob want to communicate “securely</a:t>
            </a:r>
            <a:r>
              <a:rPr lang="en-US" dirty="0" smtClean="0"/>
              <a:t>”</a:t>
            </a:r>
            <a:endParaRPr lang="en-US" dirty="0"/>
          </a:p>
          <a:p>
            <a:r>
              <a:rPr lang="en-US" dirty="0"/>
              <a:t>Trudy (intruder) may </a:t>
            </a:r>
            <a:r>
              <a:rPr lang="en-US" dirty="0" smtClean="0"/>
              <a:t>interrupt, intercept</a:t>
            </a:r>
            <a:r>
              <a:rPr lang="en-US" dirty="0"/>
              <a:t>, </a:t>
            </a:r>
            <a:r>
              <a:rPr lang="en-US" dirty="0" smtClean="0"/>
              <a:t>modify, fabricate and </a:t>
            </a:r>
            <a:r>
              <a:rPr lang="en-US" dirty="0"/>
              <a:t>so </a:t>
            </a:r>
            <a:r>
              <a:rPr lang="en-US" dirty="0" smtClean="0"/>
              <a:t>on, </a:t>
            </a:r>
            <a:r>
              <a:rPr lang="en-US" dirty="0"/>
              <a:t>to disrupt their </a:t>
            </a:r>
            <a:r>
              <a:rPr lang="en-US" dirty="0" smtClean="0"/>
              <a:t>communications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417" y="2286000"/>
            <a:ext cx="892834" cy="2743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6101" y="2286000"/>
            <a:ext cx="843197" cy="2743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828" y="2286000"/>
            <a:ext cx="699773" cy="275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369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</a:t>
            </a:r>
            <a:r>
              <a:rPr lang="en-US" dirty="0"/>
              <a:t>Security </a:t>
            </a:r>
            <a:r>
              <a:rPr lang="en-US" dirty="0" smtClean="0"/>
              <a:t>Concepts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Who might Alice and Bob be?</a:t>
            </a:r>
          </a:p>
          <a:p>
            <a:endParaRPr lang="en-US" dirty="0" smtClean="0"/>
          </a:p>
          <a:p>
            <a:r>
              <a:rPr lang="en-US" dirty="0" smtClean="0"/>
              <a:t>Well</a:t>
            </a:r>
            <a:r>
              <a:rPr lang="en-US" dirty="0"/>
              <a:t>, real-life Alice(s) and Bob(s)!</a:t>
            </a:r>
          </a:p>
          <a:p>
            <a:r>
              <a:rPr lang="en-US" dirty="0"/>
              <a:t>Web browser/server for electronic transactions (e.g., on-line purchases)</a:t>
            </a:r>
          </a:p>
          <a:p>
            <a:r>
              <a:rPr lang="en-US" dirty="0"/>
              <a:t>On-line banking client/server</a:t>
            </a:r>
          </a:p>
          <a:p>
            <a:r>
              <a:rPr lang="en-US" dirty="0"/>
              <a:t>DNS servers</a:t>
            </a:r>
          </a:p>
          <a:p>
            <a:r>
              <a:rPr lang="en-US" dirty="0"/>
              <a:t>Routers exchanging routing table updates</a:t>
            </a:r>
          </a:p>
          <a:p>
            <a:r>
              <a:rPr lang="en-US" dirty="0"/>
              <a:t>Other examples?</a:t>
            </a:r>
          </a:p>
        </p:txBody>
      </p:sp>
    </p:spTree>
    <p:extLst>
      <p:ext uri="{BB962C8B-B14F-4D97-AF65-F5344CB8AC3E}">
        <p14:creationId xmlns:p14="http://schemas.microsoft.com/office/powerpoint/2010/main" val="325978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</a:t>
            </a:r>
            <a:r>
              <a:rPr lang="en-US" dirty="0"/>
              <a:t>Security </a:t>
            </a:r>
            <a:r>
              <a:rPr lang="en-US" dirty="0" smtClean="0"/>
              <a:t>Concepts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Question: </a:t>
            </a:r>
            <a:r>
              <a:rPr lang="en-US" u="sng" dirty="0"/>
              <a:t>What could Trudy do in this case?</a:t>
            </a:r>
          </a:p>
          <a:p>
            <a:pPr marL="0" indent="0">
              <a:buNone/>
            </a:pPr>
            <a:r>
              <a:rPr lang="en-US" dirty="0" smtClean="0"/>
              <a:t>Answer: </a:t>
            </a:r>
            <a:r>
              <a:rPr lang="en-US" dirty="0"/>
              <a:t>Unfortunately, a lot!</a:t>
            </a:r>
          </a:p>
          <a:p>
            <a:endParaRPr lang="en-US" dirty="0"/>
          </a:p>
          <a:p>
            <a:r>
              <a:rPr lang="en-US" b="1" dirty="0"/>
              <a:t>Interruption</a:t>
            </a:r>
            <a:r>
              <a:rPr lang="en-US" dirty="0"/>
              <a:t>: </a:t>
            </a:r>
            <a:r>
              <a:rPr lang="en-US" dirty="0" smtClean="0"/>
              <a:t>Somehow </a:t>
            </a:r>
            <a:r>
              <a:rPr lang="en-US" dirty="0"/>
              <a:t>disrupt the service being provided by the network to Alice and Bob</a:t>
            </a:r>
          </a:p>
          <a:p>
            <a:r>
              <a:rPr lang="en-US" b="1" dirty="0"/>
              <a:t>Interception</a:t>
            </a:r>
            <a:r>
              <a:rPr lang="en-US" dirty="0"/>
              <a:t>: </a:t>
            </a:r>
            <a:r>
              <a:rPr lang="en-US" dirty="0" smtClean="0"/>
              <a:t>Eavesdrop </a:t>
            </a:r>
            <a:r>
              <a:rPr lang="en-US" dirty="0"/>
              <a:t>on communication meant to be private or confidential</a:t>
            </a:r>
          </a:p>
          <a:p>
            <a:r>
              <a:rPr lang="en-US" b="1" dirty="0"/>
              <a:t>Modification</a:t>
            </a:r>
            <a:r>
              <a:rPr lang="en-US" dirty="0"/>
              <a:t>: </a:t>
            </a:r>
            <a:r>
              <a:rPr lang="en-US" dirty="0" smtClean="0"/>
              <a:t>Tamper </a:t>
            </a:r>
            <a:r>
              <a:rPr lang="en-US" dirty="0"/>
              <a:t>with information or network resources</a:t>
            </a:r>
          </a:p>
          <a:p>
            <a:r>
              <a:rPr lang="en-US" b="1" dirty="0"/>
              <a:t>Fabrication</a:t>
            </a:r>
            <a:r>
              <a:rPr lang="en-US" dirty="0"/>
              <a:t>: </a:t>
            </a:r>
            <a:r>
              <a:rPr lang="en-US" dirty="0" smtClean="0"/>
              <a:t>Counterfeit </a:t>
            </a:r>
            <a:r>
              <a:rPr lang="en-US" dirty="0"/>
              <a:t>information or network resources or services are inserted into the network</a:t>
            </a:r>
          </a:p>
        </p:txBody>
      </p:sp>
    </p:spTree>
    <p:extLst>
      <p:ext uri="{BB962C8B-B14F-4D97-AF65-F5344CB8AC3E}">
        <p14:creationId xmlns:p14="http://schemas.microsoft.com/office/powerpoint/2010/main" val="1989641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</a:t>
            </a:r>
            <a:r>
              <a:rPr lang="en-US" dirty="0"/>
              <a:t>Security </a:t>
            </a:r>
            <a:r>
              <a:rPr lang="en-US" dirty="0" smtClean="0"/>
              <a:t>Concepts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How </a:t>
            </a:r>
            <a:r>
              <a:rPr lang="en-US" u="sng" dirty="0"/>
              <a:t>can we protect ourselves from these attacks</a:t>
            </a:r>
            <a:r>
              <a:rPr lang="en-US" u="sng" dirty="0" smtClean="0"/>
              <a:t>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Interruption attacks:</a:t>
            </a:r>
          </a:p>
          <a:p>
            <a:pPr lvl="1"/>
            <a:r>
              <a:rPr lang="en-US" dirty="0"/>
              <a:t>Firewalls, replication, backups, hardware appliances</a:t>
            </a:r>
          </a:p>
          <a:p>
            <a:r>
              <a:rPr lang="en-US" dirty="0"/>
              <a:t>Interception attacks:</a:t>
            </a:r>
          </a:p>
          <a:p>
            <a:pPr lvl="1"/>
            <a:r>
              <a:rPr lang="en-US" dirty="0"/>
              <a:t>Encryption, traffic padding</a:t>
            </a:r>
          </a:p>
          <a:p>
            <a:r>
              <a:rPr lang="en-US" dirty="0"/>
              <a:t>Modification attacks:</a:t>
            </a:r>
          </a:p>
          <a:p>
            <a:pPr lvl="1"/>
            <a:r>
              <a:rPr lang="en-US" dirty="0"/>
              <a:t>Encryption, traffic padding, backups, messaging techniques (checksums, sequence numbers, digests, authentication codes)</a:t>
            </a:r>
          </a:p>
          <a:p>
            <a:r>
              <a:rPr lang="en-US" dirty="0"/>
              <a:t>Fabrication attacks:</a:t>
            </a:r>
          </a:p>
          <a:p>
            <a:pPr lvl="1"/>
            <a:r>
              <a:rPr lang="en-US" dirty="0"/>
              <a:t>Authentication and authorization, firewalls, digital signatures</a:t>
            </a:r>
          </a:p>
        </p:txBody>
      </p:sp>
    </p:spTree>
    <p:extLst>
      <p:ext uri="{BB962C8B-B14F-4D97-AF65-F5344CB8AC3E}">
        <p14:creationId xmlns:p14="http://schemas.microsoft.com/office/powerpoint/2010/main" val="1027810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</a:t>
            </a:r>
            <a:r>
              <a:rPr lang="en-US" dirty="0"/>
              <a:t>Security </a:t>
            </a:r>
            <a:r>
              <a:rPr lang="en-US" dirty="0" smtClean="0"/>
              <a:t>Concepts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Security</a:t>
            </a:r>
            <a:r>
              <a:rPr lang="en-US" dirty="0" smtClean="0"/>
              <a:t> </a:t>
            </a:r>
            <a:r>
              <a:rPr lang="en-US" dirty="0"/>
              <a:t>is a </a:t>
            </a:r>
            <a:r>
              <a:rPr lang="en-US" dirty="0" smtClean="0"/>
              <a:t>policy, </a:t>
            </a:r>
            <a:r>
              <a:rPr lang="en-US" b="1" dirty="0" smtClean="0"/>
              <a:t>Protection</a:t>
            </a:r>
            <a:r>
              <a:rPr lang="en-US" dirty="0" smtClean="0"/>
              <a:t> </a:t>
            </a:r>
            <a:r>
              <a:rPr lang="en-US" dirty="0"/>
              <a:t>is a mechanism</a:t>
            </a:r>
          </a:p>
          <a:p>
            <a:r>
              <a:rPr lang="en-US" dirty="0"/>
              <a:t>Protection mechanisms implement security policies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 smtClean="0"/>
              <a:t>Vulnerability</a:t>
            </a:r>
            <a:r>
              <a:rPr lang="en-US" dirty="0" smtClean="0"/>
              <a:t> </a:t>
            </a:r>
            <a:r>
              <a:rPr lang="en-US" dirty="0"/>
              <a:t>is a weakness that can allow an attacker to cause problems</a:t>
            </a:r>
          </a:p>
          <a:p>
            <a:r>
              <a:rPr lang="en-US" b="1" dirty="0" smtClean="0"/>
              <a:t>Exploit</a:t>
            </a:r>
            <a:r>
              <a:rPr lang="en-US" dirty="0" smtClean="0"/>
              <a:t> </a:t>
            </a:r>
            <a:r>
              <a:rPr lang="en-US" dirty="0"/>
              <a:t>is an actual incident of taking advantage of a vulnerability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285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</a:t>
            </a:r>
            <a:r>
              <a:rPr lang="en-US" dirty="0"/>
              <a:t>Security </a:t>
            </a:r>
            <a:r>
              <a:rPr lang="en-US" dirty="0" smtClean="0"/>
              <a:t>Concepts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Virus</a:t>
            </a:r>
            <a:r>
              <a:rPr lang="en-US" dirty="0" smtClean="0"/>
              <a:t> is a potentially damaging computer program (code), can spread and damage files. It attaches itself to programs, disks, or memory to propagate itself</a:t>
            </a:r>
          </a:p>
          <a:p>
            <a:r>
              <a:rPr lang="en-US" b="1" dirty="0" smtClean="0"/>
              <a:t>Worm</a:t>
            </a:r>
            <a:r>
              <a:rPr lang="en-US" dirty="0" smtClean="0"/>
              <a:t> </a:t>
            </a:r>
            <a:r>
              <a:rPr lang="en-US" dirty="0"/>
              <a:t>copies itself repeatedly, using up resources and possibly shutting down computer or network</a:t>
            </a:r>
          </a:p>
          <a:p>
            <a:r>
              <a:rPr lang="en-US" b="1" dirty="0" smtClean="0"/>
              <a:t>Trojan </a:t>
            </a:r>
            <a:r>
              <a:rPr lang="en-US" b="1" dirty="0"/>
              <a:t>horse</a:t>
            </a:r>
            <a:r>
              <a:rPr lang="en-US" dirty="0"/>
              <a:t> hides within or looks like legitimate program until triggered, does not replicate itself on other computers</a:t>
            </a:r>
          </a:p>
          <a:p>
            <a:r>
              <a:rPr lang="en-US" b="1" dirty="0" smtClean="0"/>
              <a:t>Spyware</a:t>
            </a:r>
            <a:r>
              <a:rPr lang="en-US" dirty="0" smtClean="0"/>
              <a:t> </a:t>
            </a:r>
            <a:r>
              <a:rPr lang="en-US" dirty="0"/>
              <a:t>is program placed on computer without user’s knowledge, collects personal </a:t>
            </a:r>
            <a:r>
              <a:rPr lang="en-US" dirty="0" smtClean="0"/>
              <a:t>information</a:t>
            </a:r>
          </a:p>
          <a:p>
            <a:r>
              <a:rPr lang="en-US" b="1" dirty="0"/>
              <a:t>Adware</a:t>
            </a:r>
            <a:r>
              <a:rPr lang="en-US" dirty="0"/>
              <a:t> is a program that displays online advertisements</a:t>
            </a:r>
          </a:p>
          <a:p>
            <a:r>
              <a:rPr lang="en-US" b="1" dirty="0"/>
              <a:t>Spam</a:t>
            </a:r>
            <a:r>
              <a:rPr lang="en-US" dirty="0"/>
              <a:t> is unsolicited e-mail message sent to many </a:t>
            </a:r>
            <a:r>
              <a:rPr lang="en-US" dirty="0" smtClean="0"/>
              <a:t>recipients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574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</a:t>
            </a:r>
            <a:r>
              <a:rPr lang="en-US" dirty="0"/>
              <a:t>Security </a:t>
            </a:r>
            <a:r>
              <a:rPr lang="en-US" dirty="0" smtClean="0"/>
              <a:t>Concepts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Hoax </a:t>
            </a:r>
            <a:r>
              <a:rPr lang="en-US" dirty="0" smtClean="0"/>
              <a:t>uses emotion to propagate, e.g., child's last wish</a:t>
            </a:r>
          </a:p>
          <a:p>
            <a:r>
              <a:rPr lang="en-US" b="1" dirty="0" smtClean="0"/>
              <a:t>Trap door</a:t>
            </a:r>
            <a:r>
              <a:rPr lang="en-US" dirty="0" smtClean="0"/>
              <a:t> is an undocumented </a:t>
            </a:r>
            <a:r>
              <a:rPr lang="en-US" dirty="0"/>
              <a:t>entry point for debugging </a:t>
            </a:r>
            <a:r>
              <a:rPr lang="en-US" dirty="0" smtClean="0"/>
              <a:t>purposes</a:t>
            </a:r>
          </a:p>
          <a:p>
            <a:r>
              <a:rPr lang="en-US" b="1" dirty="0"/>
              <a:t>Logic </a:t>
            </a:r>
            <a:r>
              <a:rPr lang="en-US" b="1" dirty="0" smtClean="0"/>
              <a:t>bomb</a:t>
            </a:r>
            <a:r>
              <a:rPr lang="en-US" dirty="0" smtClean="0"/>
              <a:t> are instructions </a:t>
            </a:r>
            <a:r>
              <a:rPr lang="en-US" dirty="0"/>
              <a:t>that trigger on some event in the future</a:t>
            </a:r>
          </a:p>
          <a:p>
            <a:r>
              <a:rPr lang="en-US" b="1" dirty="0" smtClean="0"/>
              <a:t>Zombie</a:t>
            </a:r>
            <a:r>
              <a:rPr lang="en-US" dirty="0" smtClean="0"/>
              <a:t> are malicious </a:t>
            </a:r>
            <a:r>
              <a:rPr lang="en-US" dirty="0"/>
              <a:t>instructions that can be triggered </a:t>
            </a:r>
            <a:r>
              <a:rPr lang="en-US" dirty="0" smtClean="0"/>
              <a:t>remotely</a:t>
            </a:r>
            <a:endParaRPr lang="en-US" dirty="0"/>
          </a:p>
          <a:p>
            <a:r>
              <a:rPr lang="en-US" b="1" dirty="0" smtClean="0"/>
              <a:t>Phishing</a:t>
            </a:r>
            <a:r>
              <a:rPr lang="en-US" dirty="0" smtClean="0"/>
              <a:t> </a:t>
            </a:r>
            <a:r>
              <a:rPr lang="en-US" dirty="0"/>
              <a:t>is a scam in which a perpetrator sends an official looking e-mail that attempts to obtain your personal </a:t>
            </a:r>
            <a:r>
              <a:rPr lang="en-US" dirty="0" smtClean="0"/>
              <a:t>information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9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solidFill>
                  <a:srgbClr val="0070C0"/>
                </a:solidFill>
              </a:rPr>
              <a:t>THANKS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758632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yI2DOt6RzRcU51QxdhNew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AGzTPKJNXuuOK4v20iPS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uhWvCQomImT50qU5y4Zn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c48BxRTjzwKhAarpC8SPOi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FUQynbDZ7CnnKAa7cx9MM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rain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2330</Words>
  <Application>Microsoft Office PowerPoint</Application>
  <PresentationFormat>On-screen Show (4:3)</PresentationFormat>
  <Paragraphs>316</Paragraphs>
  <Slides>48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0" baseType="lpstr">
      <vt:lpstr>Office Theme</vt:lpstr>
      <vt:lpstr>Training</vt:lpstr>
      <vt:lpstr>CSC432 – Information Security </vt:lpstr>
      <vt:lpstr>Basic Concepts</vt:lpstr>
      <vt:lpstr>Something to worry about</vt:lpstr>
      <vt:lpstr>Something to worry about</vt:lpstr>
      <vt:lpstr>Something to worry about</vt:lpstr>
      <vt:lpstr>Absolute Security vs Absolute Access</vt:lpstr>
      <vt:lpstr>Absolute Security vs Absolute Access</vt:lpstr>
      <vt:lpstr>Network Security – First Concepts</vt:lpstr>
      <vt:lpstr>Network Security – First Concepts</vt:lpstr>
      <vt:lpstr>Network Security – First Concepts</vt:lpstr>
      <vt:lpstr>Cost benefit analysis</vt:lpstr>
      <vt:lpstr>Some Rational Thinking !</vt:lpstr>
      <vt:lpstr>Key Security Concepts</vt:lpstr>
      <vt:lpstr>Key Security Concepts</vt:lpstr>
      <vt:lpstr>Key Security Concepts</vt:lpstr>
      <vt:lpstr>Key Security Concepts</vt:lpstr>
      <vt:lpstr>Key Security Concepts</vt:lpstr>
      <vt:lpstr>Key Security Concepts</vt:lpstr>
      <vt:lpstr>Key Security Concepts</vt:lpstr>
      <vt:lpstr>Key Security Concepts</vt:lpstr>
      <vt:lpstr>Key Security Concepts</vt:lpstr>
      <vt:lpstr>Key Security Concepts</vt:lpstr>
      <vt:lpstr>Key Security Concepts</vt:lpstr>
      <vt:lpstr>Some additional concepts</vt:lpstr>
      <vt:lpstr>Key Security Concepts</vt:lpstr>
      <vt:lpstr>Key Security Concepts</vt:lpstr>
      <vt:lpstr>Key Security Concepts</vt:lpstr>
      <vt:lpstr>Key Security Concepts</vt:lpstr>
      <vt:lpstr>Key Security Concepts</vt:lpstr>
      <vt:lpstr>Key Security Concepts</vt:lpstr>
      <vt:lpstr>Key Security Concepts</vt:lpstr>
      <vt:lpstr>Types of Attacks</vt:lpstr>
      <vt:lpstr>Anatomy of a Buffer Overflow</vt:lpstr>
      <vt:lpstr>An Example</vt:lpstr>
      <vt:lpstr>PowerPoint Presentation</vt:lpstr>
      <vt:lpstr>Solution: Defensive Programming</vt:lpstr>
      <vt:lpstr>This never happens!</vt:lpstr>
      <vt:lpstr>Static Analysis Tools</vt:lpstr>
      <vt:lpstr>Summary of Buffer overflow</vt:lpstr>
      <vt:lpstr>Key Security Concepts</vt:lpstr>
      <vt:lpstr>Key Security Concepts</vt:lpstr>
      <vt:lpstr>Key Security Concepts</vt:lpstr>
      <vt:lpstr>Key Security Concepts</vt:lpstr>
      <vt:lpstr>Key Security Concepts</vt:lpstr>
      <vt:lpstr>Key Security Concepts</vt:lpstr>
      <vt:lpstr>Key Security Concepts</vt:lpstr>
      <vt:lpstr>Key Security Concepts</vt:lpstr>
      <vt:lpstr>THANKS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CSC332 – Data Security  and Encryption</dc:title>
  <dc:creator>Dr. Ahmad</dc:creator>
  <cp:lastModifiedBy>Adnan</cp:lastModifiedBy>
  <cp:revision>89</cp:revision>
  <dcterms:created xsi:type="dcterms:W3CDTF">2006-08-16T00:00:00Z</dcterms:created>
  <dcterms:modified xsi:type="dcterms:W3CDTF">2022-09-20T07:55:05Z</dcterms:modified>
</cp:coreProperties>
</file>